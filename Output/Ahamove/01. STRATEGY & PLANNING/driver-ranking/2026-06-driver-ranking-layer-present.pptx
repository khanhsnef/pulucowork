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A5BA0">
              <a:alpha val="25000"/>
            </a:srgbClr>
          </a:solidFill>
          <a:ln w="12700">
            <a:solidFill>
              <a:srgbClr val="1A5BA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828800"/>
            <a:ext cx="2926080" cy="2926080"/>
          </a:xfrm>
          <a:prstGeom prst="ellipse">
            <a:avLst/>
          </a:prstGeom>
          <a:solidFill>
            <a:srgbClr val="1A5BA0">
              <a:alpha val="20000"/>
            </a:srgbClr>
          </a:solidFill>
          <a:ln w="12700">
            <a:solidFill>
              <a:srgbClr val="1A5BA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73152" cy="201168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Ranking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Layer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tài xế Ahamove — từ Mass sang Merit-based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374904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A5BA0">
              <a:alpha val="60000"/>
            </a:srgbClr>
          </a:solidFill>
          <a:ln w="6350">
            <a:solidFill>
              <a:srgbClr val="7AA3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374904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A5BA0">
              <a:alpha val="60000"/>
            </a:srgbClr>
          </a:solidFill>
          <a:ln w="6350">
            <a:solidFill>
              <a:srgbClr val="7AA3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Management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374904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A5BA0">
              <a:alpha val="60000"/>
            </a:srgbClr>
          </a:solidFill>
          <a:ln w="6350">
            <a:solidFill>
              <a:srgbClr val="7AA3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SGN · HAN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Management Team  |  Lê Phương Khanh  |  Q3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chúng ta cần thay đổi?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88920" cy="64008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005840"/>
            <a:ext cx="777240" cy="777240"/>
          </a:xfrm>
          <a:prstGeom prst="ellipse">
            <a:avLst/>
          </a:prstGeom>
          <a:solidFill>
            <a:srgbClr val="FF7F32">
              <a:alpha val="85000"/>
            </a:srgbClr>
          </a:solidFill>
          <a:ln w="12700">
            <a:solidFill>
              <a:srgbClr val="FF7F32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960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không đồng đều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xế chất lượng cao và thấp cùng cạnh tranh đơn như nhau → CPO cao, SLA không ổn định, merchant không hài lòng.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82296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22960"/>
            <a:ext cx="278892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005840"/>
            <a:ext cx="777240" cy="77724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>
                <a:alpha val="8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960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thấp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4231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chạy multi-platform (Grab + Ahamove song song). Không có lý do gắn kết ngoài tiền mặt ngắn hạn → churn cao tầng R1 cốt lõi.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82296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822960"/>
            <a:ext cx="2788920" cy="64008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005840"/>
            <a:ext cx="777240" cy="777240"/>
          </a:xfrm>
          <a:prstGeom prst="ellipse">
            <a:avLst/>
          </a:prstGeom>
          <a:solidFill>
            <a:srgbClr val="0E4174">
              <a:alpha val="85000"/>
            </a:srgbClr>
          </a:solidFill>
          <a:ln w="12700">
            <a:solidFill>
              <a:srgbClr val="0E4174">
                <a:alpha val="8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960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55080" y="1920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Phúc lợi rời rạc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242316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đối tác (Valvoline, Dat Bike, Selex...) phân phối thủ công qua SMS/Noti → tỷ lệ sử dụng cực thấp, lãng phí giá trị đã đàm phán.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8595360" cy="685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F7F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069080"/>
            <a:ext cx="64008" cy="68580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69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Cơ hội: Không có đối thủ nào tại VN đang triển khai loyalty gắn với Driver Tier một cách hệ thống → AhaBenefits có cơ hội là first-mover.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2 hệ thống song hành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3931920" cy="54864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Ranking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💎  R2 🥇  R3 🥈  Unranked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201168" cy="201168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64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7647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KPI mỗi cuối tháng (AR · FR · DCR · Productivity)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58568"/>
            <a:ext cx="201168" cy="201168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40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240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áp dụng từ đầu tháng sau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34056"/>
            <a:ext cx="201168" cy="201168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7157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hiển thị rolling 30 ngày — tài xế tự theo dõi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09544"/>
            <a:ext cx="201168" cy="201168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91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1912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xác định quyền truy cập Layer và AhaBenefits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822960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822960"/>
            <a:ext cx="3931920" cy="54864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914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System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492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L2 · L3 · L4 · L5 · L6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74920" y="1783080"/>
            <a:ext cx="201168" cy="201168"/>
          </a:xfrm>
          <a:prstGeom prst="ellipse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764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176479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đơn hàng theo zone địa lý &amp; mật độ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2258568"/>
            <a:ext cx="201168" cy="201168"/>
          </a:xfrm>
          <a:prstGeom prst="ellipse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2402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2240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cao → zone nhỏ hơn → đơn dày hơn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74920" y="2734056"/>
            <a:ext cx="201168" cy="201168"/>
          </a:xfrm>
          <a:prstGeom prst="ellipse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27157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 (Earning Per Hour) cao hơn cho tài xế chất lượng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74920" y="3209544"/>
            <a:ext cx="201168" cy="201168"/>
          </a:xfrm>
          <a:prstGeom prst="ellipse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4920" y="3191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31912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Cascade: layer mở dần khi layer trước ≥ 80% slot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24528" y="2240280"/>
            <a:ext cx="6858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21031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274320" y="4206240"/>
            <a:ext cx="8595360" cy="621792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AhaBenefits gắn kết 2 hệ thống → Loyalty Ecosystem thay thế cash burn, tạo switching cost bền vững cho tài xế R1/R2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Ranking — Tiêu chí xếp hạng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1828800" cy="402336"/>
          </a:xfrm>
          <a:prstGeom prst="rect">
            <a:avLst/>
          </a:prstGeom>
          <a:solidFill>
            <a:srgbClr val="0E4174"/>
          </a:solidFill>
          <a:ln w="6350">
            <a:solidFill>
              <a:srgbClr val="0A3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804672"/>
            <a:ext cx="1188720" cy="402336"/>
          </a:xfrm>
          <a:prstGeom prst="rect">
            <a:avLst/>
          </a:prstGeom>
          <a:solidFill>
            <a:srgbClr val="0E4174"/>
          </a:solidFill>
          <a:ln w="6350">
            <a:solidFill>
              <a:srgbClr val="0A3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804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(SGN)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804672"/>
            <a:ext cx="1188720" cy="402336"/>
          </a:xfrm>
          <a:prstGeom prst="rect">
            <a:avLst/>
          </a:prstGeom>
          <a:solidFill>
            <a:srgbClr val="0E4174"/>
          </a:solidFill>
          <a:ln w="6350">
            <a:solidFill>
              <a:srgbClr val="0A3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804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(SGN)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804672"/>
            <a:ext cx="1005840" cy="402336"/>
          </a:xfrm>
          <a:prstGeom prst="rect">
            <a:avLst/>
          </a:prstGeom>
          <a:solidFill>
            <a:srgbClr val="0E4174"/>
          </a:solidFill>
          <a:ln w="6350">
            <a:solidFill>
              <a:srgbClr val="0A32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8046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804672"/>
            <a:ext cx="1645920" cy="402336"/>
          </a:xfrm>
          <a:prstGeom prst="rect">
            <a:avLst/>
          </a:prstGeom>
          <a:solidFill>
            <a:srgbClr val="0E4174"/>
          </a:solidFill>
          <a:ln w="6350">
            <a:solidFill>
              <a:srgbClr val="0A3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8046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86600" y="804672"/>
            <a:ext cx="1188720" cy="402336"/>
          </a:xfrm>
          <a:prstGeom prst="rect">
            <a:avLst/>
          </a:prstGeom>
          <a:solidFill>
            <a:srgbClr val="0E4174"/>
          </a:solidFill>
          <a:ln w="6350">
            <a:solidFill>
              <a:srgbClr val="0A32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80467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Thâm niên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207008"/>
            <a:ext cx="182880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207008"/>
            <a:ext cx="64008" cy="530352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207008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💎 Kim Cương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57400" y="1207008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120700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1207008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20700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1207008"/>
            <a:ext cx="1005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1207008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0680" y="1207008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120700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100 stp/tháng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86600" y="1207008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120700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tháng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1773936"/>
            <a:ext cx="1828800" cy="530352"/>
          </a:xfrm>
          <a:prstGeom prst="rect">
            <a:avLst/>
          </a:prstGeom>
          <a:solidFill>
            <a:srgbClr val="FFF7ED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1773936"/>
            <a:ext cx="64008" cy="530352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1773936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🥇 Vàng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057400" y="1773936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57400" y="177393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46120" y="1773936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177393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34840" y="1773936"/>
            <a:ext cx="1005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1773936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40680" y="1773936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177393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 stp/tháng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86600" y="1773936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86600" y="177393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tháng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" y="2340864"/>
            <a:ext cx="1828800" cy="530352"/>
          </a:xfrm>
          <a:prstGeom prst="rect">
            <a:avLst/>
          </a:prstGeom>
          <a:solidFill>
            <a:srgbClr val="F0FDF4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" y="2340864"/>
            <a:ext cx="64008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340864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🥈 Bạc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057400" y="2340864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57400" y="234086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46120" y="2340864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234086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434840" y="2340864"/>
            <a:ext cx="1005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34840" y="2340864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40680" y="2340864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40680" y="234086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≥ 4.7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086600" y="2340864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86600" y="2340864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 tháng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" y="2907792"/>
            <a:ext cx="1828800" cy="530352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" y="2907792"/>
            <a:ext cx="64008" cy="5303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2907792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Unranked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057400" y="2907792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57400" y="290779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xế mới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46120" y="2907792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46120" y="290779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434840" y="2907792"/>
            <a:ext cx="1005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34840" y="2907792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5440680" y="2907792"/>
            <a:ext cx="1645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40680" y="290779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086600" y="2907792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86600" y="290779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tháng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28600" y="3749040"/>
            <a:ext cx="86868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E41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28600" y="3749040"/>
            <a:ext cx="64008" cy="658368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374904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Chu kỳ: Check cuối tháng → áp dụng từ đầu tháng sau.  |  KPI hiển thị mỗi ngày (rolling 30 ngày) — tài xế tự theo dõi tiến độ upgrade.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System — Phân bổ đơn theo chất lượng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965960" y="795528"/>
            <a:ext cx="1645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79552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★ KA/MP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81381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813816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79008" y="81381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trực tiếp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84848" y="81381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KA/MP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90688" y="8138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00200" y="1426464"/>
            <a:ext cx="2377440" cy="50292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14264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Minizone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0" y="1444752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1444752"/>
            <a:ext cx="54864" cy="4572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14447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4km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4848" y="144475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💎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90688" y="14447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65k/h (SGN)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34440" y="2057400"/>
            <a:ext cx="3108960" cy="50292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Mediumzone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075688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2075688"/>
            <a:ext cx="54864" cy="45720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9008" y="20756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4–7km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84848" y="20756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🥇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90688" y="20756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60k/h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2688336"/>
            <a:ext cx="38404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26883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Bigzone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2706624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0" y="2706624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27066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7–11km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84848" y="27066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90688" y="270662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55k/h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3319272"/>
            <a:ext cx="4572000" cy="502920"/>
          </a:xfrm>
          <a:prstGeom prst="rect">
            <a:avLst/>
          </a:prstGeom>
          <a:solidFill>
            <a:srgbClr val="14B8A6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3192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Cityzone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0" y="3337560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69280" y="3337560"/>
            <a:ext cx="54864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79008" y="3337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11km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84848" y="3337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Cascade 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90688" y="3337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55k/h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7160" y="3950208"/>
            <a:ext cx="5303520" cy="502920"/>
          </a:xfrm>
          <a:prstGeom prst="rect">
            <a:avLst/>
          </a:prstGeom>
          <a:solidFill>
            <a:srgbClr val="6B7280">
              <a:alpha val="80000"/>
            </a:srgbClr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" y="39502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 MASS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669280" y="3968496"/>
            <a:ext cx="3246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669280" y="3968496"/>
            <a:ext cx="54864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79008" y="39684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thành phố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84848" y="39684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90688" y="39684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buffer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4654296"/>
            <a:ext cx="8686800" cy="4114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654296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Cascade: Layer tiếp theo mở khi layer trước đạt ≥ 80% slot fill.  Rank cao = zone nhỏ = đơn dày = EPH cao hơn.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AhaBenefits — Loyalty Ecosystem gắn với Tier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743200" cy="54864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005840"/>
            <a:ext cx="731520" cy="731520"/>
          </a:xfrm>
          <a:prstGeom prst="ellipse">
            <a:avLst/>
          </a:prstGeom>
          <a:solidFill>
            <a:srgbClr val="0E4174">
              <a:alpha val="90000"/>
            </a:srgbClr>
          </a:solidFill>
          <a:ln w="12700">
            <a:solidFill>
              <a:srgbClr val="0E4174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9692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AhaPoints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23317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điểm tự động sau mỗi đơn hoàn thành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số nhân theo Layer: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L2 ×1.5  |  L3 ×1.3  |  L4 ×1.1  |  L6 ×1.0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PENDING trong ca → AVAILABLE cuối ca (T+1)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hết hạn cuối mỗi Quý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22960"/>
            <a:ext cx="2743200" cy="54864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005840"/>
            <a:ext cx="731520" cy="731520"/>
          </a:xfrm>
          <a:prstGeom prst="ellipse">
            <a:avLst/>
          </a:prstGeom>
          <a:solidFill>
            <a:srgbClr val="FF7F32">
              <a:alpha val="90000"/>
            </a:srgbClr>
          </a:solidFill>
          <a:ln w="12700">
            <a:solidFill>
              <a:srgbClr val="FF7F32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9692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🛍️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4612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AhaBenefits Store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64408" y="23317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điểm lấy: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Voucher xăng / sạc EV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Bảo dưỡng xe (dầu nhớt, lốp)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F&amp;B partner · Data telecom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CCDC: baga, đồng phục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mở theo Rank: R3 basic → R2 nâng cao → R1 premium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82296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82296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1005840"/>
            <a:ext cx="731520" cy="731520"/>
          </a:xfrm>
          <a:prstGeom prst="ellipse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9692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Entitlements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90488" y="23317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💎: Voucher xăng 50k/tháng + Bảo hiểm tai nạn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🥇: Voucher xăng 30k/tháng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nhập đảm bảo Full-day: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R1: 600k/ngày (SGN) · 650k/ngày (HAN)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R2: 550k/ngày (SGN) · 600k/ngày (HAN)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đăng ký ca &amp; hỗ trợ SLA &lt; 15 phút (R1)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4480560"/>
            <a:ext cx="86868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4480560"/>
            <a:ext cx="64008" cy="50292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4805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First-mover tại VN: Không đối thủ nào đang gắn loyalty points với Driver Tier một cách hệ thống — cơ hội tạo switching cost bền vững.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kỳ vọng (6 tháng sau launch)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005840"/>
            <a:ext cx="731520" cy="73152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>
                <a:alpha val="8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9692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–30%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R1/R2 Churn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~20%/tháng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82296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822960"/>
            <a:ext cx="2011680" cy="64008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1005840"/>
            <a:ext cx="731520" cy="731520"/>
          </a:xfrm>
          <a:prstGeom prst="ellipse">
            <a:avLst/>
          </a:prstGeom>
          <a:solidFill>
            <a:srgbClr val="FF7F32">
              <a:alpha val="85000"/>
            </a:srgbClr>
          </a:solidFill>
          <a:ln w="12700">
            <a:solidFill>
              <a:srgbClr val="FF7F32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9692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🎫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2316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51460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Redemption 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mã đổi thành công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82296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822960"/>
            <a:ext cx="2011680" cy="64008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1005840"/>
            <a:ext cx="731520" cy="731520"/>
          </a:xfrm>
          <a:prstGeom prst="ellipse">
            <a:avLst/>
          </a:prstGeom>
          <a:solidFill>
            <a:srgbClr val="0E4174">
              <a:alpha val="85000"/>
            </a:srgbClr>
          </a:solidFill>
          <a:ln w="12700">
            <a:solidFill>
              <a:srgbClr val="0E4174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9692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1772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&gt;40%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70916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AhaBenefits Tab CTR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active drivers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822960"/>
            <a:ext cx="2011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12280" y="822960"/>
            <a:ext cx="20116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1005840"/>
            <a:ext cx="731520" cy="731520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9692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1228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+2–3pp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903720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Peak Hour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11h–13h &amp; 17h–20h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868680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977640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776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chuyển từ transactional → loyalty ecosystem → giảm phụ thuộc cash incentive dài hạn, tăng sức chống chịu với promo đối thủ.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triển khai — Q3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8046720" cy="4572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188720"/>
            <a:ext cx="365760" cy="365760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2743200" cy="4572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HỆ THỐNG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286000"/>
            <a:ext cx="128016" cy="128016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4028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KPI thresholds SGN + HAN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724912"/>
            <a:ext cx="128016" cy="128016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6791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Build AhaPoints Engine + Layer logic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3163824"/>
            <a:ext cx="128016" cy="128016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181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Build AhaBenefits Store MVP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602736"/>
            <a:ext cx="128016" cy="128016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55701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Partner: Ký kết đối tác voucher catalog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4041648"/>
            <a:ext cx="128016" cy="128016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99592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Ops: Setup Admin Tool DM/CS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" y="4480560"/>
            <a:ext cx="128016" cy="128016"/>
          </a:xfrm>
          <a:prstGeom prst="ellipse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43484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QA: Internal testing toàn hệ thống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1188720"/>
            <a:ext cx="365760" cy="365760"/>
          </a:xfrm>
          <a:prstGeom prst="ellipse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777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8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0" y="169164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 (SGN + HAN)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64992" y="2286000"/>
            <a:ext cx="128016" cy="128016"/>
          </a:xfrm>
          <a:prstGeom prst="ellipse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224028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500 R1 drivers SGN → full SGN → HAN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64992" y="2724912"/>
            <a:ext cx="128016" cy="128016"/>
          </a:xfrm>
          <a:prstGeom prst="ellipse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26791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Go-live: Driver Ranking chính thức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64992" y="3163824"/>
            <a:ext cx="128016" cy="128016"/>
          </a:xfrm>
          <a:prstGeom prst="ellipse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31181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Go-live: Layer System + Cascade logic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64992" y="3602736"/>
            <a:ext cx="128016" cy="128016"/>
          </a:xfrm>
          <a:prstGeom prst="ellipse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47872" y="355701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Comms: App banner + DM community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64992" y="4041648"/>
            <a:ext cx="128016" cy="128016"/>
          </a:xfrm>
          <a:prstGeom prst="ellipse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399592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AR, FR, EPH, churn hàng ngày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23760" y="118872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777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9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26480" y="169164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1691640"/>
            <a:ext cx="2743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AHABENEFITS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91072" y="22860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73952" y="224028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AhaBenefits (points từ tháng 8)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1072" y="272491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26791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AhaBenefits Store — tài xế đổi điểm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91072" y="316382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73952" y="31181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Rank Entitlements: voucher tự động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91072" y="360273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3952" y="355701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giá: Burn rate, redemption, CTR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91072" y="404164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73952" y="399592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mở rộng Q4: tỉnh thành khác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mở &amp; Bước tiếp theo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420624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22960"/>
            <a:ext cx="64008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Câu hỏi mở (cần thống nhất)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3931920" cy="62179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3560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EPH thực tế L2/L3 với S&amp;P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69164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đảm bảo 70k/65k (SGN) — cần đối chiếu EPH P50 thực tế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30552"/>
            <a:ext cx="3931920" cy="62179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488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registration window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4048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 với Product team (time-based slot reveal)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43784"/>
            <a:ext cx="3931920" cy="62179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620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(PTI / PJICO)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11810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Đàm phán điều kiện bảo hiểm tai nạn cho R1 Elite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57016"/>
            <a:ext cx="3931920" cy="62179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7530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bonus multiplier ×1.3/×1.15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83133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scheme chi tiết cùng S&amp;P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82296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822960"/>
            <a:ext cx="420624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822960"/>
            <a:ext cx="64008" cy="3931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822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Bước tiếp theo (tuần tới)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393192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1435608"/>
            <a:ext cx="6858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3560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T7/2026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69164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alignment với Product + S&amp;P + Partnership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2130552"/>
            <a:ext cx="393192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148840"/>
            <a:ext cx="6858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14884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T7/2026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2404872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team finalize KPI thresholds SGN + HAN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2843784"/>
            <a:ext cx="393192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862072"/>
            <a:ext cx="6858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86207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T7/2026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3118104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team khởi động đàm phán đối tác catalog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3557016"/>
            <a:ext cx="3931920" cy="62179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575304"/>
            <a:ext cx="6858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5753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T8/2026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831336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500 R1 SGN → tracking daily metrics AR/FR/EPH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41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5BA0">
              <a:alpha val="20000"/>
            </a:srgbClr>
          </a:solidFill>
          <a:ln w="12700">
            <a:solidFill>
              <a:srgbClr val="1A5BA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A5BA0">
              <a:alpha val="25000"/>
            </a:srgbClr>
          </a:solidFill>
          <a:ln w="12700">
            <a:solidFill>
              <a:srgbClr val="1A5BA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1828800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280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Ranking × AhaBenefits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Mass Fleet → Merit-based Ecosystem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7315200" cy="804672"/>
          </a:xfrm>
          <a:prstGeom prst="rect">
            <a:avLst/>
          </a:prstGeom>
          <a:solidFill>
            <a:srgbClr val="0A3260"/>
          </a:solidFill>
          <a:ln w="12700">
            <a:solidFill>
              <a:srgbClr val="1A5B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51760"/>
            <a:ext cx="64008" cy="804672"/>
          </a:xfrm>
          <a:prstGeom prst="rect">
            <a:avLst/>
          </a:prstGeom>
          <a:solidFill>
            <a:srgbClr val="FF7F32"/>
          </a:solidFill>
          <a:ln w="12700">
            <a:solidFill>
              <a:srgbClr val="FF7F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51760"/>
            <a:ext cx="6995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"Tài xế chất lượng cao xứng đáng được đối xử khác biệt — và họ sẽ ở lại vì điều đó."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74904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1A5BA0">
              <a:alpha val="60000"/>
            </a:srgbClr>
          </a:solidFill>
          <a:ln w="6350">
            <a:solidFill>
              <a:srgbClr val="7AA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49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374904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1A5BA0">
              <a:alpha val="60000"/>
            </a:srgbClr>
          </a:solidFill>
          <a:ln w="6350">
            <a:solidFill>
              <a:srgbClr val="7AA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749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SGN · HAN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374904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1A5BA0">
              <a:alpha val="60000"/>
            </a:srgbClr>
          </a:solidFill>
          <a:ln w="6350">
            <a:solidFill>
              <a:srgbClr val="7AA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749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R1/R2/R3 Tiering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Management Team  |  Lê Phương Khanh  |  Q3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 Ranking &amp; Layer System</dc:title>
  <dc:subject>PptxGenJS Presentation</dc:subject>
  <dc:creator>Lê Phương Khanh — Driver Management</dc:creator>
  <cp:lastModifiedBy>Lê Phương Khanh — Driver Management</cp:lastModifiedBy>
  <cp:revision>1</cp:revision>
  <dcterms:created xsi:type="dcterms:W3CDTF">2026-06-25T09:34:55Z</dcterms:created>
  <dcterms:modified xsi:type="dcterms:W3CDTF">2026-06-25T09:34:55Z</dcterms:modified>
</cp:coreProperties>
</file>