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41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03120"/>
            <a:ext cx="10058400" cy="365760"/>
          </a:xfrm>
          <a:prstGeom prst="rect">
            <a:avLst/>
          </a:prstGeom>
          <a:noFill/>
        </p:spPr>
        <p:txBody>
          <a:bodyPr wrap="none">
            <a:spAutoFit/>
          </a:bodyPr>
          <a:lstStyle/>
          <a:p>
            <a:pPr>
              <a:defRPr sz="1300" b="1">
                <a:solidFill>
                  <a:srgbClr val="FF7F32"/>
                </a:solidFill>
                <a:latin typeface="Arial"/>
              </a:defRPr>
            </a:pPr>
            <a:r>
              <a:t>PHÂN TÍCH CHIẾN LƯỢC VẬN HÀNH ĐỐI TÁC</a:t>
            </a:r>
          </a:p>
        </p:txBody>
      </p:sp>
      <p:sp>
        <p:nvSpPr>
          <p:cNvPr id="4" name="TextBox 3"/>
          <p:cNvSpPr txBox="1"/>
          <p:nvPr/>
        </p:nvSpPr>
        <p:spPr>
          <a:xfrm>
            <a:off x="914400" y="2468880"/>
            <a:ext cx="10332720" cy="1371600"/>
          </a:xfrm>
          <a:prstGeom prst="rect">
            <a:avLst/>
          </a:prstGeom>
          <a:noFill/>
        </p:spPr>
        <p:txBody>
          <a:bodyPr wrap="square">
            <a:spAutoFit/>
          </a:bodyPr>
          <a:lstStyle/>
          <a:p>
            <a:pPr>
              <a:defRPr sz="3800" b="1">
                <a:solidFill>
                  <a:srgbClr val="FFFFFF"/>
                </a:solidFill>
                <a:latin typeface="Arial"/>
              </a:defRPr>
            </a:pPr>
            <a:r>
              <a:t>CƠ CHẾ XẾP HẠNG &amp; PHÚC LỢI ĐẶC QUYỀN</a:t>
            </a:r>
            <a:br/>
            <a:r>
              <a:t>RANK × LAYER × AHABENEFITS V2.0</a:t>
            </a:r>
          </a:p>
        </p:txBody>
      </p:sp>
      <p:sp>
        <p:nvSpPr>
          <p:cNvPr id="5" name="TextBox 4"/>
          <p:cNvSpPr txBox="1"/>
          <p:nvPr/>
        </p:nvSpPr>
        <p:spPr>
          <a:xfrm>
            <a:off x="914400" y="4114800"/>
            <a:ext cx="9144000" cy="914400"/>
          </a:xfrm>
          <a:prstGeom prst="rect">
            <a:avLst/>
          </a:prstGeom>
          <a:noFill/>
        </p:spPr>
        <p:txBody>
          <a:bodyPr wrap="square">
            <a:spAutoFit/>
          </a:bodyPr>
          <a:lstStyle/>
          <a:p>
            <a:pPr>
              <a:defRPr sz="1400">
                <a:solidFill>
                  <a:srgbClr val="BFDBFE"/>
                </a:solidFill>
                <a:latin typeface="Arial"/>
              </a:defRPr>
            </a:pPr>
            <a:r>
              <a:t>Tái cấu trúc hệ thống xếp hạng tài xế dựa trên chất lượng DQS, phân tầng quyền hạn đăng ký ca theo vùng (Layer) và tối ưu hóa P&amp;L bằng cơ chế AhaPoints.</a:t>
            </a:r>
          </a:p>
        </p:txBody>
      </p:sp>
      <p:sp>
        <p:nvSpPr>
          <p:cNvPr id="6" name="TextBox 5"/>
          <p:cNvSpPr txBox="1"/>
          <p:nvPr/>
        </p:nvSpPr>
        <p:spPr>
          <a:xfrm>
            <a:off x="914400" y="5486400"/>
            <a:ext cx="9144000" cy="457200"/>
          </a:xfrm>
          <a:prstGeom prst="rect">
            <a:avLst/>
          </a:prstGeom>
          <a:noFill/>
        </p:spPr>
        <p:txBody>
          <a:bodyPr wrap="none">
            <a:spAutoFit/>
          </a:bodyPr>
          <a:lstStyle/>
          <a:p>
            <a:pPr>
              <a:defRPr sz="1000" b="1">
                <a:solidFill>
                  <a:srgbClr val="FFFFFF"/>
                </a:solidFill>
                <a:latin typeface="Arial"/>
              </a:defRPr>
            </a:pPr>
            <a:r>
              <a:t>AHAMOVE DRIVER MANAGEMENT TEAM | BÁO CÁO CHIẾN LƯỢC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9144000" cy="274320"/>
          </a:xfrm>
          <a:prstGeom prst="rect">
            <a:avLst/>
          </a:prstGeom>
          <a:noFill/>
        </p:spPr>
        <p:txBody>
          <a:bodyPr wrap="square" lIns="0" tIns="0" rIns="0" bIns="0">
            <a:spAutoFit/>
          </a:bodyPr>
          <a:lstStyle/>
          <a:p>
            <a:pPr>
              <a:defRPr sz="1000" b="1">
                <a:solidFill>
                  <a:srgbClr val="FF7F32"/>
                </a:solidFill>
                <a:latin typeface="Arial"/>
              </a:defRPr>
            </a:pPr>
            <a:r>
              <a:t>DRIVERS LIFE-CYCLE STRATEGY</a:t>
            </a:r>
          </a:p>
        </p:txBody>
      </p:sp>
      <p:sp>
        <p:nvSpPr>
          <p:cNvPr id="3" name="TextBox 2"/>
          <p:cNvSpPr txBox="1"/>
          <p:nvPr/>
        </p:nvSpPr>
        <p:spPr>
          <a:xfrm>
            <a:off x="548640" y="640080"/>
            <a:ext cx="10972800" cy="548640"/>
          </a:xfrm>
          <a:prstGeom prst="rect">
            <a:avLst/>
          </a:prstGeom>
          <a:noFill/>
        </p:spPr>
        <p:txBody>
          <a:bodyPr wrap="square" lIns="0" tIns="0" rIns="0" bIns="0">
            <a:spAutoFit/>
          </a:bodyPr>
          <a:lstStyle/>
          <a:p>
            <a:pPr>
              <a:defRPr sz="2400" b="1">
                <a:solidFill>
                  <a:srgbClr val="0E4174"/>
                </a:solidFill>
                <a:latin typeface="Arial"/>
              </a:defRPr>
            </a:pPr>
            <a:r>
              <a:t>Bối Cảnh Vận Hành &amp; Điểm Nghẽn Cốt Lõi</a:t>
            </a:r>
          </a:p>
        </p:txBody>
      </p:sp>
      <p:sp>
        <p:nvSpPr>
          <p:cNvPr id="4" name="Rectangle 3"/>
          <p:cNvSpPr/>
          <p:nvPr/>
        </p:nvSpPr>
        <p:spPr>
          <a:xfrm>
            <a:off x="548640" y="1234440"/>
            <a:ext cx="1371600" cy="36576"/>
          </a:xfrm>
          <a:prstGeom prst="rect">
            <a:avLst/>
          </a:prstGeom>
          <a:solidFill>
            <a:srgbClr val="FF7F32"/>
          </a:solidFill>
          <a:ln>
            <a:solidFill>
              <a:srgbClr val="FF7F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463040"/>
            <a:ext cx="5303520" cy="4114800"/>
          </a:xfrm>
          <a:prstGeom prst="round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45920"/>
            <a:ext cx="4937760" cy="457200"/>
          </a:xfrm>
          <a:prstGeom prst="rect">
            <a:avLst/>
          </a:prstGeom>
          <a:noFill/>
        </p:spPr>
        <p:txBody>
          <a:bodyPr wrap="square">
            <a:spAutoFit/>
          </a:bodyPr>
          <a:lstStyle/>
          <a:p>
            <a:pPr>
              <a:defRPr sz="1800" b="1">
                <a:solidFill>
                  <a:srgbClr val="0E4174"/>
                </a:solidFill>
                <a:latin typeface="Arial"/>
              </a:defRPr>
            </a:pPr>
            <a:r>
              <a:t>🔍 Phân Tích Hiện Trạng (Descriptive)</a:t>
            </a:r>
          </a:p>
        </p:txBody>
      </p:sp>
      <p:sp>
        <p:nvSpPr>
          <p:cNvPr id="7" name="TextBox 6"/>
          <p:cNvSpPr txBox="1"/>
          <p:nvPr/>
        </p:nvSpPr>
        <p:spPr>
          <a:xfrm>
            <a:off x="731520" y="2103120"/>
            <a:ext cx="4937760" cy="3291840"/>
          </a:xfrm>
          <a:prstGeom prst="rect">
            <a:avLst/>
          </a:prstGeom>
          <a:noFill/>
        </p:spPr>
        <p:txBody>
          <a:bodyPr wrap="square" lIns="0" tIns="0" rIns="0" bIns="0">
            <a:spAutoFit/>
          </a:bodyPr>
          <a:lstStyle/>
          <a:p/>
          <a:p>
            <a:pPr>
              <a:spcAft>
                <a:spcPts val="1000"/>
              </a:spcAft>
            </a:pPr>
            <a:r>
              <a:rPr b="1" sz="1200">
                <a:solidFill>
                  <a:srgbClr val="111827"/>
                </a:solidFill>
              </a:rPr>
              <a:t>• Hệ thống Ranking cũ rời rạc:</a:t>
            </a:r>
            <a:r>
              <a:rPr sz="1200">
                <a:solidFill>
                  <a:srgbClr val="4B5563"/>
                </a:solidFill>
              </a:rPr>
              <a:t> Đánh giá tài xế dựa trên các chỉ số AR-FR-Rating độc lập, chưa phản ánh thực chất chất lượng phục vụ.</a:t>
            </a:r>
          </a:p>
          <a:p>
            <a:pPr>
              <a:spcAft>
                <a:spcPts val="1000"/>
              </a:spcAft>
            </a:pPr>
            <a:r>
              <a:rPr b="1" sz="1200">
                <a:solidFill>
                  <a:srgbClr val="111827"/>
                </a:solidFill>
              </a:rPr>
              <a:t>• Thiếu sự phân hoá đặc quyền:</a:t>
            </a:r>
            <a:r>
              <a:rPr sz="1200">
                <a:solidFill>
                  <a:srgbClr val="4B5563"/>
                </a:solidFill>
              </a:rPr>
              <a:t> Tài xế chạy sản lượng cao nhưng chất lượng kém vẫn được giữ rank cao, gây mất động lực phấn đấu.</a:t>
            </a:r>
          </a:p>
          <a:p>
            <a:pPr>
              <a:spcAft>
                <a:spcPts val="1000"/>
              </a:spcAft>
            </a:pPr>
            <a:r>
              <a:rPr b="1" sz="1200">
                <a:solidFill>
                  <a:srgbClr val="111827"/>
                </a:solidFill>
              </a:rPr>
              <a:t>• Phân bổ ca thủ công:</a:t>
            </a:r>
            <a:r>
              <a:rPr sz="1200">
                <a:solidFill>
                  <a:srgbClr val="4B5563"/>
                </a:solidFill>
              </a:rPr>
              <a:t> Cơ chế đăng ký ca chưa tạo được sự ưu tiên rõ nét cho nhóm tài xế nòng cốt có hiệu suất cao nhất.</a:t>
            </a:r>
          </a:p>
          <a:p>
            <a:pPr>
              <a:spcAft>
                <a:spcPts val="1000"/>
              </a:spcAft>
            </a:pPr>
            <a:r>
              <a:rPr b="1" sz="1200">
                <a:solidFill>
                  <a:srgbClr val="111827"/>
                </a:solidFill>
              </a:rPr>
              <a:t>• Áp lực P&amp;L nặng nề:</a:t>
            </a:r>
            <a:r>
              <a:rPr sz="1200">
                <a:solidFill>
                  <a:srgbClr val="4B5563"/>
                </a:solidFill>
              </a:rPr>
              <a:t> Ngân sách hỗ trợ đảm bảo thu nhập (Promo/Incentives) chi trả bằng tiền mặt cố định, tốn kém nhưng hiệu quả điều phối kém.</a:t>
            </a:r>
          </a:p>
        </p:txBody>
      </p:sp>
      <p:sp>
        <p:nvSpPr>
          <p:cNvPr id="8" name="Rounded Rectangle 7"/>
          <p:cNvSpPr/>
          <p:nvPr/>
        </p:nvSpPr>
        <p:spPr>
          <a:xfrm>
            <a:off x="6217920" y="1463040"/>
            <a:ext cx="5303520" cy="4114800"/>
          </a:xfrm>
          <a:prstGeom prst="round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45920"/>
            <a:ext cx="4937760" cy="457200"/>
          </a:xfrm>
          <a:prstGeom prst="rect">
            <a:avLst/>
          </a:prstGeom>
          <a:noFill/>
        </p:spPr>
        <p:txBody>
          <a:bodyPr wrap="square">
            <a:spAutoFit/>
          </a:bodyPr>
          <a:lstStyle/>
          <a:p>
            <a:pPr>
              <a:defRPr sz="1800" b="1">
                <a:solidFill>
                  <a:srgbClr val="FF7F32"/>
                </a:solidFill>
                <a:latin typeface="Arial"/>
              </a:defRPr>
            </a:pPr>
            <a:r>
              <a:t>⚡ Điểm Nghẽn Vận Hành (Diagnostic)</a:t>
            </a:r>
          </a:p>
        </p:txBody>
      </p:sp>
      <p:sp>
        <p:nvSpPr>
          <p:cNvPr id="10" name="TextBox 9"/>
          <p:cNvSpPr txBox="1"/>
          <p:nvPr/>
        </p:nvSpPr>
        <p:spPr>
          <a:xfrm>
            <a:off x="6400800" y="2103120"/>
            <a:ext cx="4937760" cy="3291840"/>
          </a:xfrm>
          <a:prstGeom prst="rect">
            <a:avLst/>
          </a:prstGeom>
          <a:noFill/>
        </p:spPr>
        <p:txBody>
          <a:bodyPr wrap="square" lIns="0" tIns="0" rIns="0" bIns="0">
            <a:spAutoFit/>
          </a:bodyPr>
          <a:lstStyle/>
          <a:p/>
          <a:p>
            <a:pPr>
              <a:spcAft>
                <a:spcPts val="1000"/>
              </a:spcAft>
            </a:pPr>
            <a:r>
              <a:rPr b="1" sz="1200">
                <a:solidFill>
                  <a:srgbClr val="111827"/>
                </a:solidFill>
              </a:rPr>
              <a:t>• Khoảng trống chất lượng dịch vụ:</a:t>
            </a:r>
            <a:r>
              <a:rPr sz="1200">
                <a:solidFill>
                  <a:srgbClr val="4B5563"/>
                </a:solidFill>
              </a:rPr>
              <a:t> Tài xế vi phạm quy chuẩn dịch vụ nhưng vẫn duy trì thăng hạng do thiếu thang điểm chất lượng tích hợp DQS.</a:t>
            </a:r>
          </a:p>
          <a:p>
            <a:pPr>
              <a:spcAft>
                <a:spcPts val="1000"/>
              </a:spcAft>
            </a:pPr>
            <a:r>
              <a:rPr b="1" sz="1200">
                <a:solidFill>
                  <a:srgbClr val="111827"/>
                </a:solidFill>
              </a:rPr>
              <a:t>• Thiếu hụt cung giờ cao điểm (Peak-hour):</a:t>
            </a:r>
            <a:r>
              <a:rPr sz="1200">
                <a:solidFill>
                  <a:srgbClr val="4B5563"/>
                </a:solidFill>
              </a:rPr>
              <a:t> Xảy ra tình trạng hụt tài xế cục bộ tại các Minizone (khu vực bán kính ngắn ≤ 4km) vào các giờ vàng.</a:t>
            </a:r>
          </a:p>
          <a:p>
            <a:pPr>
              <a:spcAft>
                <a:spcPts val="1000"/>
              </a:spcAft>
            </a:pPr>
            <a:r>
              <a:rPr b="1" sz="1200">
                <a:solidFill>
                  <a:srgbClr val="111827"/>
                </a:solidFill>
              </a:rPr>
              <a:t>• Mất cân bằng Cung - Cầu:</a:t>
            </a:r>
            <a:r>
              <a:rPr sz="1200">
                <a:solidFill>
                  <a:srgbClr val="4B5563"/>
                </a:solidFill>
              </a:rPr>
              <a:t> Không có cơ chế tự điều phối để tài xế tự nguyện lấp đầy các ca cần thiết, buộc phải tăng promo để ép tài xế chạy.</a:t>
            </a:r>
          </a:p>
          <a:p>
            <a:pPr>
              <a:spcAft>
                <a:spcPts val="1000"/>
              </a:spcAft>
            </a:pPr>
            <a:r>
              <a:rPr b="1" sz="1200">
                <a:solidFill>
                  <a:srgbClr val="111827"/>
                </a:solidFill>
              </a:rPr>
              <a:t>• Rủi ro gian lận gia tăng:</a:t>
            </a:r>
            <a:r>
              <a:rPr sz="1200">
                <a:solidFill>
                  <a:srgbClr val="4B5563"/>
                </a:solidFill>
              </a:rPr>
              <a:t> Quy trình tính thưởng ca thủ công trên Excel tạo kẽ hở gian lận điểm thưởng và sai sót số liệu vận hành.</a:t>
            </a:r>
          </a:p>
        </p:txBody>
      </p:sp>
      <p:sp>
        <p:nvSpPr>
          <p:cNvPr id="11" name="Rectangle 10"/>
          <p:cNvSpPr/>
          <p:nvPr/>
        </p:nvSpPr>
        <p:spPr>
          <a:xfrm>
            <a:off x="548640" y="5760720"/>
            <a:ext cx="10972800" cy="640080"/>
          </a:xfrm>
          <a:prstGeom prst="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806440"/>
            <a:ext cx="10607040" cy="548640"/>
          </a:xfrm>
          <a:prstGeom prst="rect">
            <a:avLst/>
          </a:prstGeom>
          <a:noFill/>
        </p:spPr>
        <p:txBody>
          <a:bodyPr wrap="square">
            <a:spAutoFit/>
          </a:bodyPr>
          <a:lstStyle/>
          <a:p>
            <a:r>
              <a:rPr b="1" sz="1150">
                <a:solidFill>
                  <a:srgbClr val="0E4174"/>
                </a:solidFill>
              </a:rPr>
              <a:t>📌 Insight cốt lõi: </a:t>
            </a:r>
            <a:r>
              <a:rPr sz="1150">
                <a:solidFill>
                  <a:srgbClr val="1A5A9A"/>
                </a:solidFill>
              </a:rPr>
              <a:t>Để giải quyết triệt để, Ahamove cần tích hợp DQS vào lõi xét hạng, biến 'Ca hoạt động' thành tài nguyên khan hiếm được phân quyền đăng ký sớm theo Rank, và dùng điểm thưởng AhaPoints làm lực kéo tự nhiên.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9144000" cy="274320"/>
          </a:xfrm>
          <a:prstGeom prst="rect">
            <a:avLst/>
          </a:prstGeom>
          <a:noFill/>
        </p:spPr>
        <p:txBody>
          <a:bodyPr wrap="square" lIns="0" tIns="0" rIns="0" bIns="0">
            <a:spAutoFit/>
          </a:bodyPr>
          <a:lstStyle/>
          <a:p>
            <a:pPr>
              <a:defRPr sz="1000" b="1">
                <a:solidFill>
                  <a:srgbClr val="FF7F32"/>
                </a:solidFill>
                <a:latin typeface="Arial"/>
              </a:defRPr>
            </a:pPr>
            <a:r>
              <a:t>DRIVERS LIFE-CYCLE STRATEGY</a:t>
            </a:r>
          </a:p>
        </p:txBody>
      </p:sp>
      <p:sp>
        <p:nvSpPr>
          <p:cNvPr id="3" name="TextBox 2"/>
          <p:cNvSpPr txBox="1"/>
          <p:nvPr/>
        </p:nvSpPr>
        <p:spPr>
          <a:xfrm>
            <a:off x="548640" y="640080"/>
            <a:ext cx="10972800" cy="548640"/>
          </a:xfrm>
          <a:prstGeom prst="rect">
            <a:avLst/>
          </a:prstGeom>
          <a:noFill/>
        </p:spPr>
        <p:txBody>
          <a:bodyPr wrap="square" lIns="0" tIns="0" rIns="0" bIns="0">
            <a:spAutoFit/>
          </a:bodyPr>
          <a:lstStyle/>
          <a:p>
            <a:pPr>
              <a:defRPr sz="2400" b="1">
                <a:solidFill>
                  <a:srgbClr val="0E4174"/>
                </a:solidFill>
                <a:latin typeface="Arial"/>
              </a:defRPr>
            </a:pPr>
            <a:r>
              <a:t>Ma Trận Quy Chuẩn: Rank × Layer × Quyền Lợi Ca</a:t>
            </a:r>
          </a:p>
        </p:txBody>
      </p:sp>
      <p:sp>
        <p:nvSpPr>
          <p:cNvPr id="4" name="Rectangle 3"/>
          <p:cNvSpPr/>
          <p:nvPr/>
        </p:nvSpPr>
        <p:spPr>
          <a:xfrm>
            <a:off x="548640" y="1234440"/>
            <a:ext cx="1371600" cy="36576"/>
          </a:xfrm>
          <a:prstGeom prst="rect">
            <a:avLst/>
          </a:prstGeom>
          <a:solidFill>
            <a:srgbClr val="FF7F32"/>
          </a:solidFill>
          <a:ln>
            <a:solidFill>
              <a:srgbClr val="FF7F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25880"/>
            <a:ext cx="10972800" cy="365760"/>
          </a:xfrm>
          <a:prstGeom prst="rect">
            <a:avLst/>
          </a:prstGeom>
          <a:noFill/>
        </p:spPr>
        <p:txBody>
          <a:bodyPr wrap="square">
            <a:spAutoFit/>
          </a:bodyPr>
          <a:lstStyle/>
          <a:p>
            <a:pPr>
              <a:defRPr sz="1200" i="1">
                <a:solidFill>
                  <a:srgbClr val="4B5563"/>
                </a:solidFill>
              </a:defRPr>
            </a:pPr>
            <a:r>
              <a:t>Quy định điều kiện xét hạng (DQS), phân quyền Layer, khung giờ mở cổng đăng ký ca và hệ sinh thái phúc lợi đặc quyền.</a:t>
            </a:r>
          </a:p>
        </p:txBody>
      </p:sp>
      <p:graphicFrame>
        <p:nvGraphicFramePr>
          <p:cNvPr id="6" name="Table 5"/>
          <p:cNvGraphicFramePr>
            <a:graphicFrameLocks noGrp="1"/>
          </p:cNvGraphicFramePr>
          <p:nvPr/>
        </p:nvGraphicFramePr>
        <p:xfrm>
          <a:off x="548640" y="1737360"/>
          <a:ext cx="10972800" cy="4114800"/>
        </p:xfrm>
        <a:graphic>
          <a:graphicData uri="http://schemas.openxmlformats.org/drawingml/2006/table">
            <a:tbl>
              <a:tblPr firstRow="1" bandRow="1">
                <a:tableStyleId>{5C22544A-7EE6-4342-B048-85BDC9FD1C3A}</a:tableStyleId>
              </a:tblPr>
              <a:tblGrid>
                <a:gridCol w="1645920"/>
                <a:gridCol w="2011680"/>
                <a:gridCol w="1371600"/>
                <a:gridCol w="1188720"/>
                <a:gridCol w="1280160"/>
                <a:gridCol w="1645920"/>
                <a:gridCol w="1828800"/>
              </a:tblGrid>
              <a:tr h="822960">
                <a:tc>
                  <a:txBody>
                    <a:bodyPr/>
                    <a:lstStyle/>
                    <a:p>
                      <a:pPr algn="ctr">
                        <a:defRPr sz="1100" b="1">
                          <a:solidFill>
                            <a:srgbClr val="FFFFFF"/>
                          </a:solidFill>
                          <a:latin typeface="Arial"/>
                        </a:defRPr>
                      </a:pPr>
                      <a:r>
                        <a:t>Rank</a:t>
                      </a:r>
                    </a:p>
                  </a:txBody>
                  <a:tcPr>
                    <a:solidFill>
                      <a:srgbClr val="0E4174"/>
                    </a:solidFill>
                  </a:tcPr>
                </a:tc>
                <a:tc>
                  <a:txBody>
                    <a:bodyPr/>
                    <a:lstStyle/>
                    <a:p>
                      <a:pPr algn="ctr">
                        <a:defRPr sz="1100" b="1">
                          <a:solidFill>
                            <a:srgbClr val="FFFFFF"/>
                          </a:solidFill>
                          <a:latin typeface="Arial"/>
                        </a:defRPr>
                      </a:pPr>
                      <a:r>
                        <a:t>Layer Ưu Tiên</a:t>
                      </a:r>
                    </a:p>
                  </a:txBody>
                  <a:tcPr>
                    <a:solidFill>
                      <a:srgbClr val="0E4174"/>
                    </a:solidFill>
                  </a:tcPr>
                </a:tc>
                <a:tc>
                  <a:txBody>
                    <a:bodyPr/>
                    <a:lstStyle/>
                    <a:p>
                      <a:pPr algn="ctr">
                        <a:defRPr sz="1100" b="1">
                          <a:solidFill>
                            <a:srgbClr val="FFFFFF"/>
                          </a:solidFill>
                          <a:latin typeface="Arial"/>
                        </a:defRPr>
                      </a:pPr>
                      <a:r>
                        <a:t>Mở Đăng Ký Ca</a:t>
                      </a:r>
                    </a:p>
                  </a:txBody>
                  <a:tcPr>
                    <a:solidFill>
                      <a:srgbClr val="0E4174"/>
                    </a:solidFill>
                  </a:tcPr>
                </a:tc>
                <a:tc>
                  <a:txBody>
                    <a:bodyPr/>
                    <a:lstStyle/>
                    <a:p>
                      <a:pPr algn="ctr">
                        <a:defRPr sz="1100" b="1">
                          <a:solidFill>
                            <a:srgbClr val="FFFFFF"/>
                          </a:solidFill>
                          <a:latin typeface="Arial"/>
                        </a:defRPr>
                      </a:pPr>
                      <a:r>
                        <a:t>AhaPoints</a:t>
                      </a:r>
                    </a:p>
                  </a:txBody>
                  <a:tcPr>
                    <a:solidFill>
                      <a:srgbClr val="0E4174"/>
                    </a:solidFill>
                  </a:tcPr>
                </a:tc>
                <a:tc>
                  <a:txBody>
                    <a:bodyPr/>
                    <a:lstStyle/>
                    <a:p>
                      <a:pPr algn="ctr">
                        <a:defRPr sz="1100" b="1">
                          <a:solidFill>
                            <a:srgbClr val="FFFFFF"/>
                          </a:solidFill>
                          <a:latin typeface="Arial"/>
                        </a:defRPr>
                      </a:pPr>
                      <a:r>
                        <a:t>Xăng/EV</a:t>
                      </a:r>
                    </a:p>
                  </a:txBody>
                  <a:tcPr>
                    <a:solidFill>
                      <a:srgbClr val="0E4174"/>
                    </a:solidFill>
                  </a:tcPr>
                </a:tc>
                <a:tc>
                  <a:txBody>
                    <a:bodyPr/>
                    <a:lstStyle/>
                    <a:p>
                      <a:pPr algn="ctr">
                        <a:defRPr sz="1100" b="1">
                          <a:solidFill>
                            <a:srgbClr val="FFFFFF"/>
                          </a:solidFill>
                          <a:latin typeface="Arial"/>
                        </a:defRPr>
                      </a:pPr>
                      <a:r>
                        <a:t>Đội Trưởng</a:t>
                      </a:r>
                    </a:p>
                  </a:txBody>
                  <a:tcPr>
                    <a:solidFill>
                      <a:srgbClr val="0E4174"/>
                    </a:solidFill>
                  </a:tcPr>
                </a:tc>
                <a:tc>
                  <a:txBody>
                    <a:bodyPr/>
                    <a:lstStyle/>
                    <a:p>
                      <a:pPr algn="ctr">
                        <a:defRPr sz="1100" b="1">
                          <a:solidFill>
                            <a:srgbClr val="FFFFFF"/>
                          </a:solidFill>
                          <a:latin typeface="Arial"/>
                        </a:defRPr>
                      </a:pPr>
                      <a:r>
                        <a:t>Đặc Quyền Khác</a:t>
                      </a:r>
                    </a:p>
                  </a:txBody>
                  <a:tcPr>
                    <a:solidFill>
                      <a:srgbClr val="0E4174"/>
                    </a:solidFill>
                  </a:tcPr>
                </a:tc>
              </a:tr>
              <a:tr h="822960">
                <a:tc>
                  <a:txBody>
                    <a:bodyPr/>
                    <a:lstStyle/>
                    <a:p>
                      <a:pPr algn="l">
                        <a:defRPr sz="1050" b="1">
                          <a:solidFill>
                            <a:srgbClr val="111827"/>
                          </a:solidFill>
                          <a:latin typeface="Arial"/>
                        </a:defRPr>
                      </a:pPr>
                      <a:r>
                        <a:t>💎 R1 Elite</a:t>
                      </a:r>
                    </a:p>
                    <a:p>
                      <a:r>
                        <a:t>(Kim Cương | 15%)</a:t>
                      </a:r>
                    </a:p>
                  </a:txBody>
                  <a:tcPr anchor="ctr">
                    <a:solidFill>
                      <a:srgbClr val="FFF7ED"/>
                    </a:solidFill>
                  </a:tcPr>
                </a:tc>
                <a:tc>
                  <a:txBody>
                    <a:bodyPr/>
                    <a:lstStyle/>
                    <a:p>
                      <a:pPr algn="l">
                        <a:defRPr sz="1050">
                          <a:solidFill>
                            <a:srgbClr val="111827"/>
                          </a:solidFill>
                          <a:latin typeface="Arial"/>
                        </a:defRPr>
                      </a:pPr>
                      <a:r>
                        <a:t>L2 Minizone (≤4km)</a:t>
                      </a:r>
                    </a:p>
                    <a:p>
                      <a:r>
                        <a:t>(Cascade sang L3)</a:t>
                      </a:r>
                    </a:p>
                  </a:txBody>
                  <a:tcPr anchor="ctr">
                    <a:solidFill>
                      <a:srgbClr val="FFF7ED"/>
                    </a:solidFill>
                  </a:tcPr>
                </a:tc>
                <a:tc>
                  <a:txBody>
                    <a:bodyPr/>
                    <a:lstStyle/>
                    <a:p>
                      <a:pPr algn="ctr">
                        <a:defRPr sz="1050">
                          <a:solidFill>
                            <a:srgbClr val="111827"/>
                          </a:solidFill>
                          <a:latin typeface="Arial"/>
                        </a:defRPr>
                      </a:pPr>
                      <a:r>
                        <a:t>00:00 - 10:00</a:t>
                      </a:r>
                    </a:p>
                    <a:p>
                      <a:r>
                        <a:t>(Ngày 1)</a:t>
                      </a:r>
                    </a:p>
                  </a:txBody>
                  <a:tcPr anchor="ctr">
                    <a:solidFill>
                      <a:srgbClr val="FFF7ED"/>
                    </a:solidFill>
                  </a:tcPr>
                </a:tc>
                <a:tc>
                  <a:txBody>
                    <a:bodyPr/>
                    <a:lstStyle/>
                    <a:p>
                      <a:pPr algn="ctr">
                        <a:defRPr sz="1050">
                          <a:solidFill>
                            <a:srgbClr val="111827"/>
                          </a:solidFill>
                          <a:latin typeface="Arial"/>
                        </a:defRPr>
                      </a:pPr>
                      <a:r>
                        <a:t>×1.5</a:t>
                      </a:r>
                    </a:p>
                  </a:txBody>
                  <a:tcPr anchor="ctr">
                    <a:solidFill>
                      <a:srgbClr val="FFF7ED"/>
                    </a:solidFill>
                  </a:tcPr>
                </a:tc>
                <a:tc>
                  <a:txBody>
                    <a:bodyPr/>
                    <a:lstStyle/>
                    <a:p>
                      <a:pPr algn="ctr">
                        <a:defRPr sz="1050">
                          <a:solidFill>
                            <a:srgbClr val="111827"/>
                          </a:solidFill>
                          <a:latin typeface="Arial"/>
                        </a:defRPr>
                      </a:pPr>
                      <a:r>
                        <a:t>50k/tháng</a:t>
                      </a:r>
                    </a:p>
                  </a:txBody>
                  <a:tcPr anchor="ctr">
                    <a:solidFill>
                      <a:srgbClr val="FFF7ED"/>
                    </a:solidFill>
                  </a:tcPr>
                </a:tc>
                <a:tc>
                  <a:txBody>
                    <a:bodyPr/>
                    <a:lstStyle/>
                    <a:p>
                      <a:pPr algn="ctr">
                        <a:defRPr sz="1050">
                          <a:solidFill>
                            <a:srgbClr val="111827"/>
                          </a:solidFill>
                          <a:latin typeface="Arial"/>
                        </a:defRPr>
                      </a:pPr>
                      <a:r>
                        <a:t>✅ Trưởng nhóm</a:t>
                      </a:r>
                    </a:p>
                  </a:txBody>
                  <a:tcPr anchor="ctr">
                    <a:solidFill>
                      <a:srgbClr val="FFF7ED"/>
                    </a:solidFill>
                  </a:tcPr>
                </a:tc>
                <a:tc>
                  <a:txBody>
                    <a:bodyPr/>
                    <a:lstStyle/>
                    <a:p>
                      <a:pPr algn="ctr">
                        <a:defRPr sz="1050">
                          <a:solidFill>
                            <a:srgbClr val="111827"/>
                          </a:solidFill>
                          <a:latin typeface="Arial"/>
                        </a:defRPr>
                      </a:pPr>
                      <a:r>
                        <a:t>Bảo hiểm tai nạn,</a:t>
                      </a:r>
                    </a:p>
                    <a:p>
                      <a:r>
                        <a:t>EV Priority Slot 1, Full-day</a:t>
                      </a:r>
                    </a:p>
                  </a:txBody>
                  <a:tcPr anchor="ctr">
                    <a:solidFill>
                      <a:srgbClr val="FFF7ED"/>
                    </a:solidFill>
                  </a:tcPr>
                </a:tc>
              </a:tr>
              <a:tr h="822960">
                <a:tc>
                  <a:txBody>
                    <a:bodyPr/>
                    <a:lstStyle/>
                    <a:p>
                      <a:pPr algn="l">
                        <a:defRPr sz="1050" b="1">
                          <a:solidFill>
                            <a:srgbClr val="111827"/>
                          </a:solidFill>
                          <a:latin typeface="Arial"/>
                        </a:defRPr>
                      </a:pPr>
                      <a:r>
                        <a:t>🥇 R2 Active</a:t>
                      </a:r>
                    </a:p>
                    <a:p>
                      <a:r>
                        <a:t>(Hạng Vàng | 35%)</a:t>
                      </a:r>
                    </a:p>
                  </a:txBody>
                  <a:tcPr anchor="ctr">
                    <a:solidFill>
                      <a:srgbClr val="EFF6FF"/>
                    </a:solidFill>
                  </a:tcPr>
                </a:tc>
                <a:tc>
                  <a:txBody>
                    <a:bodyPr/>
                    <a:lstStyle/>
                    <a:p>
                      <a:pPr algn="l">
                        <a:defRPr sz="1050">
                          <a:solidFill>
                            <a:srgbClr val="111827"/>
                          </a:solidFill>
                          <a:latin typeface="Arial"/>
                        </a:defRPr>
                      </a:pPr>
                      <a:r>
                        <a:t>L3 Mediumzone (≤8km)</a:t>
                      </a:r>
                    </a:p>
                    <a:p>
                      <a:r>
                        <a:t>(Cascade sang L4)</a:t>
                      </a:r>
                    </a:p>
                  </a:txBody>
                  <a:tcPr anchor="ctr">
                    <a:solidFill>
                      <a:srgbClr val="EFF6FF"/>
                    </a:solidFill>
                  </a:tcPr>
                </a:tc>
                <a:tc>
                  <a:txBody>
                    <a:bodyPr/>
                    <a:lstStyle/>
                    <a:p>
                      <a:pPr algn="ctr">
                        <a:defRPr sz="1050">
                          <a:solidFill>
                            <a:srgbClr val="111827"/>
                          </a:solidFill>
                          <a:latin typeface="Arial"/>
                        </a:defRPr>
                      </a:pPr>
                      <a:r>
                        <a:t>10:00 - 14:00</a:t>
                      </a:r>
                    </a:p>
                    <a:p>
                      <a:r>
                        <a:t>(Ngày 1)</a:t>
                      </a:r>
                    </a:p>
                  </a:txBody>
                  <a:tcPr anchor="ctr">
                    <a:solidFill>
                      <a:srgbClr val="EFF6FF"/>
                    </a:solidFill>
                  </a:tcPr>
                </a:tc>
                <a:tc>
                  <a:txBody>
                    <a:bodyPr/>
                    <a:lstStyle/>
                    <a:p>
                      <a:pPr algn="ctr">
                        <a:defRPr sz="1050">
                          <a:solidFill>
                            <a:srgbClr val="111827"/>
                          </a:solidFill>
                          <a:latin typeface="Arial"/>
                        </a:defRPr>
                      </a:pPr>
                      <a:r>
                        <a:t>×1.3</a:t>
                      </a:r>
                    </a:p>
                  </a:txBody>
                  <a:tcPr anchor="ctr">
                    <a:solidFill>
                      <a:srgbClr val="EFF6FF"/>
                    </a:solidFill>
                  </a:tcPr>
                </a:tc>
                <a:tc>
                  <a:txBody>
                    <a:bodyPr/>
                    <a:lstStyle/>
                    <a:p>
                      <a:pPr algn="ctr">
                        <a:defRPr sz="1050">
                          <a:solidFill>
                            <a:srgbClr val="111827"/>
                          </a:solidFill>
                          <a:latin typeface="Arial"/>
                        </a:defRPr>
                      </a:pPr>
                      <a:r>
                        <a:t>30k/tháng</a:t>
                      </a:r>
                    </a:p>
                  </a:txBody>
                  <a:tcPr anchor="ctr">
                    <a:solidFill>
                      <a:srgbClr val="EFF6FF"/>
                    </a:solidFill>
                  </a:tcPr>
                </a:tc>
                <a:tc>
                  <a:txBody>
                    <a:bodyPr/>
                    <a:lstStyle/>
                    <a:p>
                      <a:pPr algn="ctr">
                        <a:defRPr sz="1050">
                          <a:solidFill>
                            <a:srgbClr val="111827"/>
                          </a:solidFill>
                          <a:latin typeface="Arial"/>
                        </a:defRPr>
                      </a:pPr>
                      <a:r>
                        <a:t>✅ Trưởng nhóm</a:t>
                      </a:r>
                    </a:p>
                  </a:txBody>
                  <a:tcPr anchor="ctr">
                    <a:solidFill>
                      <a:srgbClr val="EFF6FF"/>
                    </a:solidFill>
                  </a:tcPr>
                </a:tc>
                <a:tc>
                  <a:txBody>
                    <a:bodyPr/>
                    <a:lstStyle/>
                    <a:p>
                      <a:pPr algn="ctr">
                        <a:defRPr sz="1050">
                          <a:solidFill>
                            <a:srgbClr val="111827"/>
                          </a:solidFill>
                          <a:latin typeface="Arial"/>
                        </a:defRPr>
                      </a:pPr>
                      <a:r>
                        <a:t>Quà sinh nhật,</a:t>
                      </a:r>
                    </a:p>
                    <a:p>
                      <a:r>
                        <a:t>EV Priority Slot 2, Full-day</a:t>
                      </a:r>
                    </a:p>
                  </a:txBody>
                  <a:tcPr anchor="ctr">
                    <a:solidFill>
                      <a:srgbClr val="EFF6FF"/>
                    </a:solidFill>
                  </a:tcPr>
                </a:tc>
              </a:tr>
              <a:tr h="822960">
                <a:tc>
                  <a:txBody>
                    <a:bodyPr/>
                    <a:lstStyle/>
                    <a:p>
                      <a:pPr algn="l">
                        <a:defRPr sz="1050" b="1">
                          <a:solidFill>
                            <a:srgbClr val="111827"/>
                          </a:solidFill>
                          <a:latin typeface="Arial"/>
                        </a:defRPr>
                      </a:pPr>
                      <a:r>
                        <a:t>🥈 R3 Standard</a:t>
                      </a:r>
                    </a:p>
                    <a:p>
                      <a:r>
                        <a:t>(Hạng Bạc | 35%)</a:t>
                      </a:r>
                    </a:p>
                  </a:txBody>
                  <a:tcPr anchor="ctr">
                    <a:solidFill>
                      <a:srgbClr val="F9FAFB"/>
                    </a:solidFill>
                  </a:tcPr>
                </a:tc>
                <a:tc>
                  <a:txBody>
                    <a:bodyPr/>
                    <a:lstStyle/>
                    <a:p>
                      <a:pPr algn="l">
                        <a:defRPr sz="1050">
                          <a:solidFill>
                            <a:srgbClr val="111827"/>
                          </a:solidFill>
                          <a:latin typeface="Arial"/>
                        </a:defRPr>
                      </a:pPr>
                      <a:r>
                        <a:t>L4 Bigzone</a:t>
                      </a:r>
                    </a:p>
                    <a:p>
                      <a:r>
                        <a:t>(Cascade sang L5)</a:t>
                      </a:r>
                    </a:p>
                  </a:txBody>
                  <a:tcPr anchor="ctr">
                    <a:solidFill>
                      <a:srgbClr val="F9FAFB"/>
                    </a:solidFill>
                  </a:tcPr>
                </a:tc>
                <a:tc>
                  <a:txBody>
                    <a:bodyPr/>
                    <a:lstStyle/>
                    <a:p>
                      <a:pPr algn="ctr">
                        <a:defRPr sz="1050">
                          <a:solidFill>
                            <a:srgbClr val="111827"/>
                          </a:solidFill>
                          <a:latin typeface="Arial"/>
                        </a:defRPr>
                      </a:pPr>
                      <a:r>
                        <a:t>Sau 14:00</a:t>
                      </a:r>
                    </a:p>
                    <a:p>
                      <a:r>
                        <a:t>(Ngày 1)</a:t>
                      </a:r>
                    </a:p>
                  </a:txBody>
                  <a:tcPr anchor="ctr">
                    <a:solidFill>
                      <a:srgbClr val="F9FAFB"/>
                    </a:solidFill>
                  </a:tcPr>
                </a:tc>
                <a:tc>
                  <a:txBody>
                    <a:bodyPr/>
                    <a:lstStyle/>
                    <a:p>
                      <a:pPr algn="ctr">
                        <a:defRPr sz="1050">
                          <a:solidFill>
                            <a:srgbClr val="111827"/>
                          </a:solidFill>
                          <a:latin typeface="Arial"/>
                        </a:defRPr>
                      </a:pPr>
                      <a:r>
                        <a:t>×1.1</a:t>
                      </a:r>
                    </a:p>
                  </a:txBody>
                  <a:tcPr anchor="ctr">
                    <a:solidFill>
                      <a:srgbClr val="F9FAFB"/>
                    </a:solidFill>
                  </a:tcPr>
                </a:tc>
                <a:tc>
                  <a:txBody>
                    <a:bodyPr/>
                    <a:lstStyle/>
                    <a:p>
                      <a:pPr algn="ctr">
                        <a:defRPr sz="1050">
                          <a:solidFill>
                            <a:srgbClr val="111827"/>
                          </a:solidFill>
                          <a:latin typeface="Arial"/>
                        </a:defRPr>
                      </a:pPr>
                      <a:r>
                        <a:t>❌ Không</a:t>
                      </a:r>
                    </a:p>
                  </a:txBody>
                  <a:tcPr anchor="ctr">
                    <a:solidFill>
                      <a:srgbClr val="F9FAFB"/>
                    </a:solidFill>
                  </a:tcPr>
                </a:tc>
                <a:tc>
                  <a:txBody>
                    <a:bodyPr/>
                    <a:lstStyle/>
                    <a:p>
                      <a:pPr algn="ctr">
                        <a:defRPr sz="1050">
                          <a:solidFill>
                            <a:srgbClr val="111827"/>
                          </a:solidFill>
                          <a:latin typeface="Arial"/>
                        </a:defRPr>
                      </a:pPr>
                      <a:r>
                        <a:t>✅ Phó nhóm</a:t>
                      </a:r>
                    </a:p>
                  </a:txBody>
                  <a:tcPr anchor="ctr">
                    <a:solidFill>
                      <a:srgbClr val="F9FAFB"/>
                    </a:solidFill>
                  </a:tcPr>
                </a:tc>
                <a:tc>
                  <a:txBody>
                    <a:bodyPr/>
                    <a:lstStyle/>
                    <a:p>
                      <a:pPr algn="ctr">
                        <a:defRPr sz="1050">
                          <a:solidFill>
                            <a:srgbClr val="111827"/>
                          </a:solidFill>
                          <a:latin typeface="Arial"/>
                        </a:defRPr>
                      </a:pPr>
                      <a:r>
                        <a:t>Voucher data 5GB/tháng,</a:t>
                      </a:r>
                    </a:p>
                    <a:p>
                      <a:r>
                        <a:t>Hỗ trợ vá xe lưu động</a:t>
                      </a:r>
                    </a:p>
                  </a:txBody>
                  <a:tcPr anchor="ctr">
                    <a:solidFill>
                      <a:srgbClr val="F9FAFB"/>
                    </a:solidFill>
                  </a:tcPr>
                </a:tc>
              </a:tr>
              <a:tr h="822960">
                <a:tc>
                  <a:txBody>
                    <a:bodyPr/>
                    <a:lstStyle/>
                    <a:p>
                      <a:pPr algn="l">
                        <a:defRPr sz="1050" b="1">
                          <a:solidFill>
                            <a:srgbClr val="4B5563"/>
                          </a:solidFill>
                          <a:latin typeface="Arial"/>
                        </a:defRPr>
                      </a:pPr>
                      <a:r>
                        <a:t>👤 Unranked</a:t>
                      </a:r>
                    </a:p>
                    <a:p>
                      <a:r>
                        <a:t>(Mới / Tự do | 15%)</a:t>
                      </a:r>
                    </a:p>
                  </a:txBody>
                  <a:tcPr anchor="ctr">
                    <a:solidFill>
                      <a:srgbClr val="FFFFFF"/>
                    </a:solidFill>
                  </a:tcPr>
                </a:tc>
                <a:tc>
                  <a:txBody>
                    <a:bodyPr/>
                    <a:lstStyle/>
                    <a:p>
                      <a:pPr algn="l">
                        <a:defRPr sz="1050">
                          <a:solidFill>
                            <a:srgbClr val="4B5563"/>
                          </a:solidFill>
                          <a:latin typeface="Arial"/>
                        </a:defRPr>
                      </a:pPr>
                      <a:r>
                        <a:t>L6 MASS</a:t>
                      </a:r>
                    </a:p>
                    <a:p>
                      <a:r>
                        <a:t>(Không cascade)</a:t>
                      </a:r>
                    </a:p>
                  </a:txBody>
                  <a:tcPr anchor="ctr">
                    <a:solidFill>
                      <a:srgbClr val="FFFFFF"/>
                    </a:solidFill>
                  </a:tcPr>
                </a:tc>
                <a:tc>
                  <a:txBody>
                    <a:bodyPr/>
                    <a:lstStyle/>
                    <a:p>
                      <a:pPr algn="ctr">
                        <a:defRPr sz="1050">
                          <a:solidFill>
                            <a:srgbClr val="4B5563"/>
                          </a:solidFill>
                          <a:latin typeface="Arial"/>
                        </a:defRPr>
                      </a:pPr>
                      <a:r>
                        <a:t>Ngày 2+</a:t>
                      </a:r>
                    </a:p>
                    <a:p>
                      <a:r>
                        <a:t>(Slot thừa)</a:t>
                      </a:r>
                    </a:p>
                  </a:txBody>
                  <a:tcPr anchor="ctr">
                    <a:solidFill>
                      <a:srgbClr val="FFFFFF"/>
                    </a:solidFill>
                  </a:tcPr>
                </a:tc>
                <a:tc>
                  <a:txBody>
                    <a:bodyPr/>
                    <a:lstStyle/>
                    <a:p>
                      <a:pPr algn="ctr">
                        <a:defRPr sz="1050">
                          <a:solidFill>
                            <a:srgbClr val="4B5563"/>
                          </a:solidFill>
                          <a:latin typeface="Arial"/>
                        </a:defRPr>
                      </a:pPr>
                      <a:r>
                        <a:t>×1.0</a:t>
                      </a:r>
                    </a:p>
                  </a:txBody>
                  <a:tcPr anchor="ctr">
                    <a:solidFill>
                      <a:srgbClr val="FFFFFF"/>
                    </a:solidFill>
                  </a:tcPr>
                </a:tc>
                <a:tc>
                  <a:txBody>
                    <a:bodyPr/>
                    <a:lstStyle/>
                    <a:p>
                      <a:pPr algn="ctr">
                        <a:defRPr sz="1050">
                          <a:solidFill>
                            <a:srgbClr val="4B5563"/>
                          </a:solidFill>
                          <a:latin typeface="Arial"/>
                        </a:defRPr>
                      </a:pPr>
                      <a:r>
                        <a:t>❌ Không</a:t>
                      </a:r>
                    </a:p>
                  </a:txBody>
                  <a:tcPr anchor="ctr">
                    <a:solidFill>
                      <a:srgbClr val="FFFFFF"/>
                    </a:solidFill>
                  </a:tcPr>
                </a:tc>
                <a:tc>
                  <a:txBody>
                    <a:bodyPr/>
                    <a:lstStyle/>
                    <a:p>
                      <a:pPr algn="ctr">
                        <a:defRPr sz="1050">
                          <a:solidFill>
                            <a:srgbClr val="4B5563"/>
                          </a:solidFill>
                          <a:latin typeface="Arial"/>
                        </a:defRPr>
                      </a:pPr>
                      <a:r>
                        <a:t>❌ Không</a:t>
                      </a:r>
                    </a:p>
                  </a:txBody>
                  <a:tcPr anchor="ctr">
                    <a:solidFill>
                      <a:srgbClr val="FFFFFF"/>
                    </a:solidFill>
                  </a:tcPr>
                </a:tc>
                <a:tc>
                  <a:txBody>
                    <a:bodyPr/>
                    <a:lstStyle/>
                    <a:p>
                      <a:pPr algn="ctr">
                        <a:defRPr sz="1050">
                          <a:solidFill>
                            <a:srgbClr val="4B5563"/>
                          </a:solidFill>
                          <a:latin typeface="Arial"/>
                        </a:defRPr>
                      </a:pPr>
                      <a:r>
                        <a:t>Tích điểm đổi thưởng cơ bản</a:t>
                      </a:r>
                    </a:p>
                  </a:txBody>
                  <a:tcPr anchor="ctr">
                    <a:solidFill>
                      <a:srgbClr val="FFFFFF"/>
                    </a:solidFill>
                  </a:tcPr>
                </a:tc>
              </a:tr>
            </a:tbl>
          </a:graphicData>
        </a:graphic>
      </p:graphicFrame>
      <p:sp>
        <p:nvSpPr>
          <p:cNvPr id="7" name="TextBox 6"/>
          <p:cNvSpPr txBox="1"/>
          <p:nvPr/>
        </p:nvSpPr>
        <p:spPr>
          <a:xfrm>
            <a:off x="548640" y="5943600"/>
            <a:ext cx="10972800" cy="457200"/>
          </a:xfrm>
          <a:prstGeom prst="rect">
            <a:avLst/>
          </a:prstGeom>
          <a:noFill/>
        </p:spPr>
        <p:txBody>
          <a:bodyPr wrap="none">
            <a:spAutoFit/>
          </a:bodyPr>
          <a:lstStyle/>
          <a:p>
            <a:pPr>
              <a:defRPr sz="1000" b="1">
                <a:solidFill>
                  <a:srgbClr val="EF4444"/>
                </a:solidFill>
              </a:defRPr>
            </a:pPr>
            <a:r>
              <a:t>⚠️ Điều kiện xét Rank định kỳ hàng tháng (DQS - Driver Quality Score): R1 Elite yêu cầu DQS ≥ 80 | R2 &amp; R3 yêu cầu DQS ≥ 75. Năng suất (Productivity) là điều kiện đủ.</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9144000" cy="274320"/>
          </a:xfrm>
          <a:prstGeom prst="rect">
            <a:avLst/>
          </a:prstGeom>
          <a:noFill/>
        </p:spPr>
        <p:txBody>
          <a:bodyPr wrap="square" lIns="0" tIns="0" rIns="0" bIns="0">
            <a:spAutoFit/>
          </a:bodyPr>
          <a:lstStyle/>
          <a:p>
            <a:pPr>
              <a:defRPr sz="1000" b="1">
                <a:solidFill>
                  <a:srgbClr val="FF7F32"/>
                </a:solidFill>
                <a:latin typeface="Arial"/>
              </a:defRPr>
            </a:pPr>
            <a:r>
              <a:t>DRIVERS LIFE-CYCLE STRATEGY</a:t>
            </a:r>
          </a:p>
        </p:txBody>
      </p:sp>
      <p:sp>
        <p:nvSpPr>
          <p:cNvPr id="3" name="TextBox 2"/>
          <p:cNvSpPr txBox="1"/>
          <p:nvPr/>
        </p:nvSpPr>
        <p:spPr>
          <a:xfrm>
            <a:off x="548640" y="640080"/>
            <a:ext cx="10972800" cy="548640"/>
          </a:xfrm>
          <a:prstGeom prst="rect">
            <a:avLst/>
          </a:prstGeom>
          <a:noFill/>
        </p:spPr>
        <p:txBody>
          <a:bodyPr wrap="square" lIns="0" tIns="0" rIns="0" bIns="0">
            <a:spAutoFit/>
          </a:bodyPr>
          <a:lstStyle/>
          <a:p>
            <a:pPr>
              <a:defRPr sz="2400" b="1">
                <a:solidFill>
                  <a:srgbClr val="0E4174"/>
                </a:solidFill>
                <a:latin typeface="Arial"/>
              </a:defRPr>
            </a:pPr>
            <a:r>
              <a:t>Cơ Chế AhaPoints &amp; Kinh Tế Điểm (Points Economy)</a:t>
            </a:r>
          </a:p>
        </p:txBody>
      </p:sp>
      <p:sp>
        <p:nvSpPr>
          <p:cNvPr id="4" name="Rectangle 3"/>
          <p:cNvSpPr/>
          <p:nvPr/>
        </p:nvSpPr>
        <p:spPr>
          <a:xfrm>
            <a:off x="548640" y="1234440"/>
            <a:ext cx="1371600" cy="36576"/>
          </a:xfrm>
          <a:prstGeom prst="rect">
            <a:avLst/>
          </a:prstGeom>
          <a:solidFill>
            <a:srgbClr val="FF7F32"/>
          </a:solidFill>
          <a:ln>
            <a:solidFill>
              <a:srgbClr val="FF7F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463040"/>
            <a:ext cx="5303520" cy="4114800"/>
          </a:xfrm>
          <a:prstGeom prst="round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45920"/>
            <a:ext cx="4937760" cy="3749039"/>
          </a:xfrm>
          <a:prstGeom prst="rect">
            <a:avLst/>
          </a:prstGeom>
          <a:noFill/>
        </p:spPr>
        <p:txBody>
          <a:bodyPr wrap="square" lIns="0" tIns="0" rIns="0" bIns="0">
            <a:spAutoFit/>
          </a:bodyPr>
          <a:lstStyle/>
          <a:p>
            <a:pPr>
              <a:spcAft>
                <a:spcPts val="1200"/>
              </a:spcAft>
              <a:defRPr sz="1800" b="1">
                <a:solidFill>
                  <a:srgbClr val="0E4174"/>
                </a:solidFill>
                <a:latin typeface="Arial"/>
              </a:defRPr>
            </a:pPr>
            <a:r>
              <a:t>🪙 Cơ Chế Tích Điểm (Earn Points)</a:t>
            </a:r>
          </a:p>
          <a:p>
            <a:pPr>
              <a:spcAft>
                <a:spcPts val="800"/>
              </a:spcAft>
              <a:defRPr sz="1100" b="1">
                <a:solidFill>
                  <a:srgbClr val="111827"/>
                </a:solidFill>
                <a:latin typeface="Courier New"/>
              </a:defRPr>
            </a:pPr>
            <a:r>
              <a:t> earned_pts = round( round(trip_GSV ÷ 1.000) × layer_multiplier ) </a:t>
            </a:r>
          </a:p>
          <a:p>
            <a:pPr>
              <a:spcAft>
                <a:spcPts val="1000"/>
              </a:spcAft>
              <a:defRPr sz="1200">
                <a:solidFill>
                  <a:srgbClr val="4B5563"/>
                </a:solidFill>
              </a:defRPr>
            </a:pPr>
            <a:r>
              <a:t>• Ý nghĩa công thức: Tích điểm trực tiếp theo doanh thu chuyến xe (5.000đ thu nhập thực tế = 1 điểm). Điểm số cơ bản được nhân hệ số dựa trên Layer hoạt động thực tế của đơn hàng, không phụ thuộc vào Rank của tài xế.</a:t>
            </a:r>
          </a:p>
          <a:p>
            <a:pPr>
              <a:spcAft>
                <a:spcPts val="800"/>
              </a:spcAft>
            </a:pPr>
            <a:r>
              <a:rPr b="1" sz="1200">
                <a:solidFill>
                  <a:srgbClr val="111827"/>
                </a:solidFill>
              </a:rPr>
              <a:t>• Ngưỡng đổi quà tối thiểu:</a:t>
            </a:r>
            <a:r>
              <a:rPr sz="1200">
                <a:solidFill>
                  <a:srgbClr val="4B5563"/>
                </a:solidFill>
              </a:rPr>
              <a:t> 5.000 pts (tương đương voucher 50.000đ cash). Điểm reset cuối mỗi quý.</a:t>
            </a:r>
          </a:p>
          <a:p>
            <a:pPr>
              <a:spcAft>
                <a:spcPts val="800"/>
              </a:spcAft>
            </a:pPr>
            <a:r>
              <a:rPr b="1" sz="1200">
                <a:solidFill>
                  <a:srgbClr val="111827"/>
                </a:solidFill>
              </a:rPr>
              <a:t>• Đặc quyền xăng &amp; Bảo hiểm:</a:t>
            </a:r>
            <a:r>
              <a:rPr sz="1200">
                <a:solidFill>
                  <a:srgbClr val="4B5563"/>
                </a:solidFill>
              </a:rPr>
              <a:t> R1 Kim Cương được tặng voucher xăng 50k/tháng &amp; đổi điểm lấy bảo hiểm tai nạn tự nguyện (gói 10k/285 pts, gói 30k/857 pts). R2 nhận voucher xăng 30k/tháng.</a:t>
            </a:r>
          </a:p>
          <a:p>
            <a:pPr>
              <a:spcAft>
                <a:spcPts val="800"/>
              </a:spcAft>
            </a:pPr>
            <a:r>
              <a:rPr b="1" sz="1200">
                <a:solidFill>
                  <a:srgbClr val="111827"/>
                </a:solidFill>
              </a:rPr>
              <a:t>• Chế độ kỷ luật và ĐBCL:</a:t>
            </a:r>
            <a:r>
              <a:rPr sz="1200">
                <a:solidFill>
                  <a:srgbClr val="4B5563"/>
                </a:solidFill>
              </a:rPr>
              <a:t> Trừ thẳng -50 pts/lần vi phạm ĐBCL (điểm tối thiểu sàn bằng 0, không âm).</a:t>
            </a:r>
          </a:p>
        </p:txBody>
      </p:sp>
      <p:sp>
        <p:nvSpPr>
          <p:cNvPr id="7" name="Rounded Rectangle 6"/>
          <p:cNvSpPr/>
          <p:nvPr/>
        </p:nvSpPr>
        <p:spPr>
          <a:xfrm>
            <a:off x="6217920" y="1463040"/>
            <a:ext cx="5303520" cy="4114800"/>
          </a:xfrm>
          <a:prstGeom prst="round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45920"/>
            <a:ext cx="4937760" cy="3749039"/>
          </a:xfrm>
          <a:prstGeom prst="rect">
            <a:avLst/>
          </a:prstGeom>
          <a:noFill/>
        </p:spPr>
        <p:txBody>
          <a:bodyPr wrap="square" lIns="0" tIns="0" rIns="0" bIns="0">
            <a:spAutoFit/>
          </a:bodyPr>
          <a:lstStyle/>
          <a:p>
            <a:pPr>
              <a:spcAft>
                <a:spcPts val="1200"/>
              </a:spcAft>
              <a:defRPr sz="1800" b="1">
                <a:solidFill>
                  <a:srgbClr val="FF7F32"/>
                </a:solidFill>
                <a:latin typeface="Arial"/>
              </a:defRPr>
            </a:pPr>
            <a:r>
              <a:t>📈 Dự Phóng Năng Suất Tích Lũy / Tháng</a:t>
            </a:r>
          </a:p>
          <a:p>
            <a:pPr>
              <a:spcAft>
                <a:spcPts val="800"/>
              </a:spcAft>
            </a:pPr>
            <a:r>
              <a:rPr b="1" sz="1150">
                <a:solidFill>
                  <a:srgbClr val="FF7F32"/>
                </a:solidFill>
              </a:rPr>
              <a:t>💎 R1 Elite (Layer L2 - EPH ~70k/h):</a:t>
            </a:r>
            <a:r>
              <a:rPr sz="1150">
                <a:solidFill>
                  <a:srgbClr val="4B5563"/>
                </a:solidFill>
              </a:rPr>
              <a:t> Tích luỹ 420 pts/ca 4h $\rightarrow$ Đạt ~9.240 pts/tháng (chạy 22 ngày/tháng). Quyền lợi vượt trội, dư sức đổi quà.</a:t>
            </a:r>
          </a:p>
          <a:p>
            <a:pPr>
              <a:spcAft>
                <a:spcPts val="800"/>
              </a:spcAft>
            </a:pPr>
            <a:r>
              <a:rPr b="1" sz="1150">
                <a:solidFill>
                  <a:srgbClr val="1A5A9A"/>
                </a:solidFill>
              </a:rPr>
              <a:t>🥇 R2 Active (Layer L3 - EPH ~65k/h):</a:t>
            </a:r>
            <a:r>
              <a:rPr sz="1150">
                <a:solidFill>
                  <a:srgbClr val="4B5563"/>
                </a:solidFill>
              </a:rPr>
              <a:t> Tích luỹ 338 pts/ca 4h $\rightarrow$ Đạt ~7.436 pts/tháng (chạy 22 ngày/tháng).</a:t>
            </a:r>
          </a:p>
          <a:p>
            <a:pPr>
              <a:spcAft>
                <a:spcPts val="800"/>
              </a:spcAft>
            </a:pPr>
            <a:r>
              <a:rPr b="1" sz="1150">
                <a:solidFill>
                  <a:srgbClr val="111827"/>
                </a:solidFill>
              </a:rPr>
              <a:t>🥈 R3 Standard (Layer L4 - EPH ~60k/h):</a:t>
            </a:r>
            <a:r>
              <a:rPr sz="1150">
                <a:solidFill>
                  <a:srgbClr val="4B5563"/>
                </a:solidFill>
              </a:rPr>
              <a:t> Tích luỹ 264 pts/ca 4h $\rightarrow$ Đạt ~5.808 pts/tháng (chạy 22 ngày/tháng).</a:t>
            </a:r>
          </a:p>
          <a:p>
            <a:pPr>
              <a:spcAft>
                <a:spcPts val="800"/>
              </a:spcAft>
            </a:pPr>
            <a:r>
              <a:rPr b="1" sz="1150">
                <a:solidFill>
                  <a:srgbClr val="4B5563"/>
                </a:solidFill>
              </a:rPr>
              <a:t>👤 Unranked (Layer L6 - EPH ~55k/h):</a:t>
            </a:r>
            <a:r>
              <a:rPr sz="1150">
                <a:solidFill>
                  <a:srgbClr val="4B5563"/>
                </a:solidFill>
              </a:rPr>
              <a:t> Tích luỹ 220 pts/ca 4h $\rightarrow$ Đạt tối đa ~4.840 pts/tháng. Không bao giờ đạt ngưỡng đổi quà tối thiểu (5.000 pts).</a:t>
            </a:r>
          </a:p>
          <a:p>
            <a:pPr>
              <a:spcBef>
                <a:spcPts val="1000"/>
              </a:spcBef>
            </a:pPr>
            <a:r>
              <a:rPr b="1" sz="1100">
                <a:solidFill>
                  <a:srgbClr val="10B981"/>
                </a:solidFill>
              </a:rPr>
              <a:t>💡 Tác động điều phối: </a:t>
            </a:r>
            <a:r>
              <a:rPr sz="1100" i="1">
                <a:solidFill>
                  <a:srgbClr val="4B5563"/>
                </a:solidFill>
              </a:rPr>
              <a:t>Cơ chế này tạo lực đẩy thăng hạng tự thân cực mạnh. Tài xế bắt buộc phải cải thiện chất lượng DQS và duy trì hoạt động tích cực để thăng hạng nhằm tiếp cận ca sớm và Layer có hệ số nhân cao (L2, L3).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