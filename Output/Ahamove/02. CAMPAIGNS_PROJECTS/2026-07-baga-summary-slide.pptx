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4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F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5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BAGA PROJECT — 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Demand · Supply · Conversion  |  Jul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960120"/>
            <a:ext cx="1993392" cy="8869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960120"/>
            <a:ext cx="1993392" cy="64008"/>
          </a:xfrm>
          <a:prstGeom prst="rect">
            <a:avLst/>
          </a:prstGeom>
          <a:solidFill>
            <a:srgbClr val="FF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" y="1051560"/>
            <a:ext cx="1901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7F32"/>
                </a:solidFill>
                <a:latin typeface="Calibri"/>
              </a:rPr>
              <a:t>~14%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" y="1435608"/>
            <a:ext cx="1901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293B"/>
                </a:solidFill>
                <a:latin typeface="Calibri"/>
              </a:rPr>
              <a:t>Tỷ trọng Baga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" y="1627632"/>
            <a:ext cx="1901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  <a:latin typeface="Calibri"/>
              </a:rPr>
              <a:t>BIKE &amp; ECO nationwide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960120"/>
            <a:ext cx="1993392" cy="8869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77440" y="960120"/>
            <a:ext cx="1993392" cy="64008"/>
          </a:xfrm>
          <a:prstGeom prst="rect">
            <a:avLst/>
          </a:prstGeom>
          <a:solidFill>
            <a:srgbClr val="0E4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1051560"/>
            <a:ext cx="1901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E4174"/>
                </a:solidFill>
                <a:latin typeface="Calibri"/>
              </a:rPr>
              <a:t>~6.000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1435608"/>
            <a:ext cx="1901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293B"/>
                </a:solidFill>
                <a:latin typeface="Calibri"/>
              </a:rPr>
              <a:t>Requests / ngày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1627632"/>
            <a:ext cx="1901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  <a:latin typeface="Calibri"/>
              </a:rPr>
              <a:t>baga demand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44568" y="960120"/>
            <a:ext cx="1993392" cy="8869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44568" y="960120"/>
            <a:ext cx="199339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1051560"/>
            <a:ext cx="1901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74%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1435608"/>
            <a:ext cx="1901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293B"/>
                </a:solidFill>
                <a:latin typeface="Calibri"/>
              </a:rPr>
              <a:t>Active / Enabled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1627632"/>
            <a:ext cx="1901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  <a:latin typeface="Calibri"/>
              </a:rPr>
              <a:t>SGN &amp; HAN — WoW 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0840" y="960120"/>
            <a:ext cx="1993392" cy="8869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20840" y="960120"/>
            <a:ext cx="1993392" cy="640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59" y="1051560"/>
            <a:ext cx="1901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4748B"/>
                </a:solidFill>
                <a:latin typeface="Calibri"/>
              </a:rPr>
              <a:t>~2% / 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59" y="1435608"/>
            <a:ext cx="1901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293B"/>
                </a:solidFill>
                <a:latin typeface="Calibri"/>
              </a:rPr>
              <a:t>AR / FR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59" y="1627632"/>
            <a:ext cx="1901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  <a:latin typeface="Calibri"/>
              </a:rPr>
              <a:t>Baga vs All (ổn định)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" y="1984248"/>
            <a:ext cx="4187952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01168" y="1984248"/>
            <a:ext cx="4187952" cy="338328"/>
          </a:xfrm>
          <a:prstGeom prst="rect">
            <a:avLst/>
          </a:prstGeom>
          <a:solidFill>
            <a:srgbClr val="0E4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8" y="203911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DEMAND SIGNAL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" y="2368296"/>
            <a:ext cx="39776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182880" indent="-137160">
              <a:spcBef>
                <a:spcPts val="200"/>
              </a:spcBef>
              <a:buChar char="•"/>
              <a:buFont typeface="Arial"/>
              <a:indent/>
            </a:pPr>
            <a:r>
              <a:rPr sz="950">
                <a:solidFill>
                  <a:srgbClr val="1E293B"/>
                </a:solidFill>
                <a:latin typeface="Calibri"/>
              </a:rPr>
              <a:t>Baga ~14% request BIKE &amp; ECO nationwide</a:t>
            </a:r>
          </a:p>
          <a:p>
            <a:pPr algn="l" marL="182880" indent="-137160">
              <a:spcBef>
                <a:spcPts val="200"/>
              </a:spcBef>
              <a:buChar char="•"/>
              <a:buFont typeface="Arial"/>
              <a:indent/>
            </a:pPr>
            <a:r>
              <a:rPr sz="950">
                <a:solidFill>
                  <a:srgbClr val="1E293B"/>
                </a:solidFill>
                <a:latin typeface="Calibri"/>
              </a:rPr>
              <a:t>~6.000 requests/ngày</a:t>
            </a:r>
          </a:p>
          <a:p>
            <a:pPr algn="l" marL="182880" indent="-137160">
              <a:spcBef>
                <a:spcPts val="200"/>
              </a:spcBef>
              <a:buChar char="•"/>
              <a:buFont typeface="Arial"/>
              <a:indent/>
            </a:pPr>
            <a:r>
              <a:rPr sz="950">
                <a:solidFill>
                  <a:srgbClr val="1E293B"/>
                </a:solidFill>
                <a:latin typeface="Calibri"/>
              </a:rPr>
              <a:t>Demand Baga tăng WoW trong khi demand chung giảm → tín hiệu tốt</a:t>
            </a:r>
          </a:p>
          <a:p>
            <a:pPr algn="l" marL="182880" indent="-137160">
              <a:spcBef>
                <a:spcPts val="200"/>
              </a:spcBef>
              <a:buChar char="•"/>
              <a:buFont typeface="Arial"/>
              <a:indent/>
            </a:pPr>
            <a:r>
              <a:rPr sz="950">
                <a:solidFill>
                  <a:srgbClr val="1E293B"/>
                </a:solidFill>
                <a:latin typeface="Calibri"/>
              </a:rPr>
              <a:t>HAN &amp; SGN đều ghi nhận tăng trưởng request theo tuần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1984248"/>
            <a:ext cx="4187952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54880" y="1984248"/>
            <a:ext cx="4187952" cy="338328"/>
          </a:xfrm>
          <a:prstGeom prst="rect">
            <a:avLst/>
          </a:prstGeom>
          <a:solidFill>
            <a:srgbClr val="FF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203911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SUPPLY &amp; QUALITY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2368296"/>
            <a:ext cx="39776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182880" indent="-137160">
              <a:spcBef>
                <a:spcPts val="200"/>
              </a:spcBef>
              <a:buChar char="•"/>
              <a:buFont typeface="Arial"/>
              <a:indent/>
            </a:pPr>
            <a:r>
              <a:rPr sz="950">
                <a:solidFill>
                  <a:srgbClr val="1E293B"/>
                </a:solidFill>
                <a:latin typeface="Calibri"/>
              </a:rPr>
              <a:t>AR gap Baga vs All: ~2% — hẹp và ổn định</a:t>
            </a:r>
          </a:p>
          <a:p>
            <a:pPr algn="l" marL="182880" indent="-137160">
              <a:spcBef>
                <a:spcPts val="200"/>
              </a:spcBef>
              <a:buChar char="•"/>
              <a:buFont typeface="Arial"/>
              <a:indent/>
            </a:pPr>
            <a:r>
              <a:rPr sz="950">
                <a:solidFill>
                  <a:srgbClr val="1E293B"/>
                </a:solidFill>
                <a:latin typeface="Calibri"/>
              </a:rPr>
              <a:t>FR gap Baga vs All: ~4% — chấp nhận được</a:t>
            </a:r>
          </a:p>
          <a:p>
            <a:pPr algn="l" marL="182880" indent="-137160">
              <a:spcBef>
                <a:spcPts val="200"/>
              </a:spcBef>
              <a:buChar char="•"/>
              <a:buFont typeface="Arial"/>
              <a:indent/>
            </a:pPr>
            <a:r>
              <a:rPr sz="950">
                <a:solidFill>
                  <a:srgbClr val="EF4444"/>
                </a:solidFill>
                <a:latin typeface="Calibri"/>
              </a:rPr>
              <a:t>90% hủy sau assign đến từ User (không phải tài xế)</a:t>
            </a:r>
          </a:p>
          <a:p>
            <a:pPr algn="l" marL="182880" indent="-137160">
              <a:spcBef>
                <a:spcPts val="200"/>
              </a:spcBef>
              <a:buChar char="•"/>
              <a:buFont typeface="Arial"/>
              <a:indent/>
            </a:pPr>
            <a:r>
              <a:rPr sz="950">
                <a:solidFill>
                  <a:srgbClr val="1E293B"/>
                </a:solidFill>
                <a:latin typeface="Calibri"/>
              </a:rPr>
              <a:t>Active Baga: SGN ~39% | HAN ~22% total active</a:t>
            </a:r>
          </a:p>
          <a:p>
            <a:pPr algn="l" marL="182880" indent="-137160">
              <a:spcBef>
                <a:spcPts val="200"/>
              </a:spcBef>
              <a:buChar char="•"/>
              <a:buFont typeface="Arial"/>
              <a:indent/>
            </a:pPr>
            <a:r>
              <a:rPr sz="950">
                <a:solidFill>
                  <a:srgbClr val="10B981"/>
                </a:solidFill>
                <a:latin typeface="Calibri"/>
              </a:rPr>
              <a:t>Enabled→Active: SGN 67→74% | HAN 60→74% (WoW ↑)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1168" y="3995928"/>
            <a:ext cx="8741664" cy="84124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402336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E4174"/>
                </a:solidFill>
                <a:latin typeface="Calibri"/>
              </a:rPr>
              <a:t>KEY TAKEAWAY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4206240"/>
            <a:ext cx="8321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Baga demand đang tăng trưởng ngược chiều xu hướng chung — AR/FR gap ổn định, tỷ lệ Active/Enabled cải thiện tuần liên tiếp ở cả SGN &amp; HAN. Cần tiếp tục mở rộng enabled drivers và giảm churn demand từ phía User (chiếm 90% cancel sau assign).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