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Requested (K)</c:v>
                </c:pt>
              </c:strCache>
            </c:strRef>
          </c:tx>
          <c:spPr>
            <a:solidFill>
              <a:srgbClr val="EEF3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EF3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D6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4BB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EE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417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893.6</c:v>
                </c:pt>
                <c:pt idx="1">
                  <c:v>664.6</c:v>
                </c:pt>
                <c:pt idx="2">
                  <c:v>918.4</c:v>
                </c:pt>
                <c:pt idx="3">
                  <c:v>882.9</c:v>
                </c:pt>
                <c:pt idx="4">
                  <c:v>888.8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 (%)</c:v>
                </c:pt>
              </c:strCache>
            </c:strRef>
          </c:tx>
          <c:spPr>
            <a:solidFill>
              <a:srgbClr val="FF7F32"/>
            </a:solidFill>
            <a:ln w="31750" cap="flat">
              <a:solidFill>
                <a:srgbClr val="FF7F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F32"/>
              </a:solidFill>
              <a:ln w="9525" cap="flat">
                <a:solidFill>
                  <a:srgbClr val="FF7F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91.96</c:v>
                </c:pt>
                <c:pt idx="1">
                  <c:v>88.9</c:v>
                </c:pt>
                <c:pt idx="2">
                  <c:v>92.07</c:v>
                </c:pt>
                <c:pt idx="3">
                  <c:v>92.01</c:v>
                </c:pt>
                <c:pt idx="4">
                  <c:v>89.97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 (%)</c:v>
                </c:pt>
              </c:strCache>
            </c:strRef>
          </c:tx>
          <c:spPr>
            <a:solidFill>
              <a:srgbClr val="0E4174"/>
            </a:solidFill>
            <a:ln w="31750" cap="flat">
              <a:solidFill>
                <a:srgbClr val="0E417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174"/>
              </a:solidFill>
              <a:ln w="9525" cap="flat">
                <a:solidFill>
                  <a:srgbClr val="0E41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82.79</c:v>
                </c:pt>
                <c:pt idx="1">
                  <c:v>79.75</c:v>
                </c:pt>
                <c:pt idx="2">
                  <c:v>83.25</c:v>
                </c:pt>
                <c:pt idx="3">
                  <c:v>83.03</c:v>
                </c:pt>
                <c:pt idx="4">
                  <c:v>80.99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</c:v>
                </c:pt>
              </c:strCache>
            </c:strRef>
          </c:tx>
          <c:spPr>
            <a:solidFill>
              <a:srgbClr val="FF7F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84.58</c:v>
                </c:pt>
                <c:pt idx="1">
                  <c:v>80.38</c:v>
                </c:pt>
                <c:pt idx="2">
                  <c:v>82.35</c:v>
                </c:pt>
                <c:pt idx="3">
                  <c:v>82.26</c:v>
                </c:pt>
                <c:pt idx="4">
                  <c:v>81.18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</c:v>
                </c:pt>
              </c:strCache>
            </c:strRef>
          </c:tx>
          <c:spPr>
            <a:solidFill>
              <a:srgbClr val="0E41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79.93</c:v>
                </c:pt>
                <c:pt idx="1">
                  <c:v>74.31</c:v>
                </c:pt>
                <c:pt idx="2">
                  <c:v>81.89</c:v>
                </c:pt>
                <c:pt idx="3">
                  <c:v>80.46</c:v>
                </c:pt>
                <c:pt idx="4">
                  <c:v>77.02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SGN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84.99</c:v>
                </c:pt>
                <c:pt idx="1">
                  <c:v>83.89</c:v>
                </c:pt>
                <c:pt idx="2">
                  <c:v>84.46</c:v>
                </c:pt>
                <c:pt idx="3">
                  <c:v>85.35</c:v>
                </c:pt>
                <c:pt idx="4">
                  <c:v>84.49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</c:v>
                </c:pt>
              </c:strCache>
            </c:strRef>
          </c:tx>
          <c:spPr>
            <a:solidFill>
              <a:srgbClr val="FF7F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42.8</c:v>
                </c:pt>
                <c:pt idx="1">
                  <c:v>34.7</c:v>
                </c:pt>
                <c:pt idx="2">
                  <c:v>41.5</c:v>
                </c:pt>
                <c:pt idx="3">
                  <c:v>41.7</c:v>
                </c:pt>
                <c:pt idx="4">
                  <c:v>41.2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</c:v>
                </c:pt>
              </c:strCache>
            </c:strRef>
          </c:tx>
          <c:spPr>
            <a:solidFill>
              <a:srgbClr val="1D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204</c:v>
                </c:pt>
                <c:pt idx="1">
                  <c:v>127.4</c:v>
                </c:pt>
                <c:pt idx="2">
                  <c:v>205.2</c:v>
                </c:pt>
                <c:pt idx="3">
                  <c:v>202.7</c:v>
                </c:pt>
                <c:pt idx="4">
                  <c:v>199.8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SGN</c:v>
                </c:pt>
              </c:strCache>
            </c:strRef>
          </c:tx>
          <c:spPr>
            <a:solidFill>
              <a:srgbClr val="0E41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292.5</c:v>
                </c:pt>
                <c:pt idx="1">
                  <c:v>213.1</c:v>
                </c:pt>
                <c:pt idx="2">
                  <c:v>291.6</c:v>
                </c:pt>
                <c:pt idx="3">
                  <c:v>287.9</c:v>
                </c:pt>
                <c:pt idx="4">
                  <c:v>282.7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</c:v>
                </c:pt>
              </c:strCache>
            </c:strRef>
          </c:tx>
          <c:spPr>
            <a:solidFill>
              <a:srgbClr val="FF7F32"/>
            </a:solidFill>
            <a:ln w="25400" cap="flat">
              <a:solidFill>
                <a:srgbClr val="FF7F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F32"/>
              </a:solidFill>
              <a:ln w="9525" cap="flat">
                <a:solidFill>
                  <a:srgbClr val="FF7F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54.1</c:v>
                </c:pt>
                <c:pt idx="1">
                  <c:v>56.5</c:v>
                </c:pt>
                <c:pt idx="2">
                  <c:v>57.5</c:v>
                </c:pt>
                <c:pt idx="3">
                  <c:v>54</c:v>
                </c:pt>
                <c:pt idx="4">
                  <c:v>54.4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</c:v>
                </c:pt>
              </c:strCache>
            </c:strRef>
          </c:tx>
          <c:spPr>
            <a:solidFill>
              <a:srgbClr val="0E4174"/>
            </a:solidFill>
            <a:ln w="25400" cap="flat">
              <a:solidFill>
                <a:srgbClr val="0E417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174"/>
              </a:solidFill>
              <a:ln w="9525" cap="flat">
                <a:solidFill>
                  <a:srgbClr val="0E41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82.1</c:v>
                </c:pt>
                <c:pt idx="1">
                  <c:v>81.7</c:v>
                </c:pt>
                <c:pt idx="2">
                  <c:v>82.4</c:v>
                </c:pt>
                <c:pt idx="3">
                  <c:v>81.3</c:v>
                </c:pt>
                <c:pt idx="4">
                  <c:v>82.3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SGN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73.9</c:v>
                </c:pt>
                <c:pt idx="1">
                  <c:v>74.1</c:v>
                </c:pt>
                <c:pt idx="2">
                  <c:v>78.6</c:v>
                </c:pt>
                <c:pt idx="3">
                  <c:v>75.5</c:v>
                </c:pt>
                <c:pt idx="4">
                  <c:v>76.4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NW</c:v>
                </c:pt>
              </c:strCache>
            </c:strRef>
          </c:tx>
          <c:spPr>
            <a:solidFill>
              <a:srgbClr val="888888"/>
            </a:solidFill>
            <a:ln w="25400" cap="flat">
              <a:solidFill>
                <a:srgbClr val="888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75.4</c:v>
                </c:pt>
                <c:pt idx="1">
                  <c:v>75.1</c:v>
                </c:pt>
                <c:pt idx="2">
                  <c:v>78.4</c:v>
                </c:pt>
                <c:pt idx="3">
                  <c:v>76</c:v>
                </c:pt>
                <c:pt idx="4">
                  <c:v>76.9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4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05/04</c:v>
                </c:pt>
              </c:strCache>
            </c:strRef>
          </c:tx>
          <c:spPr>
            <a:solidFill>
              <a:srgbClr val="C7D6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FT</c:v>
                  </c:pt>
                  <c:pt idx="1">
                    <c:v>PT</c:v>
                  </c:pt>
                  <c:pt idx="2">
                    <c:v>NLM</c:v>
                  </c:pt>
                  <c:pt idx="3">
                    <c:v>NIM</c:v>
                  </c:pt>
                  <c:pt idx="4">
                    <c:v>Return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54512</c:v>
                </c:pt>
                <c:pt idx="1">
                  <c:v>49584</c:v>
                </c:pt>
                <c:pt idx="2">
                  <c:v>45596</c:v>
                </c:pt>
                <c:pt idx="3">
                  <c:v>40532</c:v>
                </c:pt>
                <c:pt idx="4">
                  <c:v>44734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05/11</c:v>
                </c:pt>
              </c:strCache>
            </c:strRef>
          </c:tx>
          <c:spPr>
            <a:solidFill>
              <a:srgbClr val="1D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FT</c:v>
                  </c:pt>
                  <c:pt idx="1">
                    <c:v>PT</c:v>
                  </c:pt>
                  <c:pt idx="2">
                    <c:v>NLM</c:v>
                  </c:pt>
                  <c:pt idx="3">
                    <c:v>NIM</c:v>
                  </c:pt>
                  <c:pt idx="4">
                    <c:v>Return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54753</c:v>
                </c:pt>
                <c:pt idx="1">
                  <c:v>49845</c:v>
                </c:pt>
                <c:pt idx="2">
                  <c:v>45926</c:v>
                </c:pt>
                <c:pt idx="3">
                  <c:v>41268</c:v>
                </c:pt>
                <c:pt idx="4">
                  <c:v>45917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05/18</c:v>
                </c:pt>
              </c:strCache>
            </c:strRef>
          </c:tx>
          <c:spPr>
            <a:solidFill>
              <a:srgbClr val="FF7F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FT</c:v>
                  </c:pt>
                  <c:pt idx="1">
                    <c:v>PT</c:v>
                  </c:pt>
                  <c:pt idx="2">
                    <c:v>NLM</c:v>
                  </c:pt>
                  <c:pt idx="3">
                    <c:v>NIM</c:v>
                  </c:pt>
                  <c:pt idx="4">
                    <c:v>Return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57917</c:v>
                </c:pt>
                <c:pt idx="1">
                  <c:v>52717</c:v>
                </c:pt>
                <c:pt idx="2">
                  <c:v>48148</c:v>
                </c:pt>
                <c:pt idx="3">
                  <c:v>43675</c:v>
                </c:pt>
                <c:pt idx="4">
                  <c:v>48253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00"/>
          <c:min val="350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05/04</c:v>
                </c:pt>
              </c:strCache>
            </c:strRef>
          </c:tx>
          <c:spPr>
            <a:solidFill>
              <a:srgbClr val="C7D6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FT</c:v>
                  </c:pt>
                  <c:pt idx="1">
                    <c:v>PT</c:v>
                  </c:pt>
                  <c:pt idx="2">
                    <c:v>NLM</c:v>
                  </c:pt>
                  <c:pt idx="3">
                    <c:v>NIM</c:v>
                  </c:pt>
                  <c:pt idx="4">
                    <c:v>Return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49407</c:v>
                </c:pt>
                <c:pt idx="1">
                  <c:v>46463</c:v>
                </c:pt>
                <c:pt idx="2">
                  <c:v>43588</c:v>
                </c:pt>
                <c:pt idx="3">
                  <c:v>37766</c:v>
                </c:pt>
                <c:pt idx="4">
                  <c:v>42952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05/11</c:v>
                </c:pt>
              </c:strCache>
            </c:strRef>
          </c:tx>
          <c:spPr>
            <a:solidFill>
              <a:srgbClr val="1D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FT</c:v>
                  </c:pt>
                  <c:pt idx="1">
                    <c:v>PT</c:v>
                  </c:pt>
                  <c:pt idx="2">
                    <c:v>NLM</c:v>
                  </c:pt>
                  <c:pt idx="3">
                    <c:v>NIM</c:v>
                  </c:pt>
                  <c:pt idx="4">
                    <c:v>Return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47563</c:v>
                </c:pt>
                <c:pt idx="1">
                  <c:v>44231</c:v>
                </c:pt>
                <c:pt idx="2">
                  <c:v>42852</c:v>
                </c:pt>
                <c:pt idx="3">
                  <c:v>38494</c:v>
                </c:pt>
                <c:pt idx="4">
                  <c:v>40556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05/18</c:v>
                </c:pt>
              </c:strCache>
            </c:strRef>
          </c:tx>
          <c:spPr>
            <a:solidFill>
              <a:srgbClr val="0E41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FT</c:v>
                  </c:pt>
                  <c:pt idx="1">
                    <c:v>PT</c:v>
                  </c:pt>
                  <c:pt idx="2">
                    <c:v>NLM</c:v>
                  </c:pt>
                  <c:pt idx="3">
                    <c:v>NIM</c:v>
                  </c:pt>
                  <c:pt idx="4">
                    <c:v>Return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47510</c:v>
                </c:pt>
                <c:pt idx="1">
                  <c:v>44289</c:v>
                </c:pt>
                <c:pt idx="2">
                  <c:v>43248</c:v>
                </c:pt>
                <c:pt idx="3">
                  <c:v>39222</c:v>
                </c:pt>
                <c:pt idx="4">
                  <c:v>41169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"/>
          <c:min val="300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</c:v>
                </c:pt>
              </c:strCache>
            </c:strRef>
          </c:tx>
          <c:spPr>
            <a:solidFill>
              <a:srgbClr val="FF7F32"/>
            </a:solidFill>
            <a:ln w="31750" cap="flat">
              <a:solidFill>
                <a:srgbClr val="FF7F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F32"/>
              </a:solidFill>
              <a:ln w="9525" cap="flat">
                <a:solidFill>
                  <a:srgbClr val="FF7F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5.8</c:v>
                </c:pt>
                <c:pt idx="1">
                  <c:v>6.1</c:v>
                </c:pt>
                <c:pt idx="2">
                  <c:v>6.1</c:v>
                </c:pt>
                <c:pt idx="3">
                  <c:v>6.1</c:v>
                </c:pt>
                <c:pt idx="4">
                  <c:v>6.3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13.9</c:v>
                </c:pt>
                <c:pt idx="1">
                  <c:v>14</c:v>
                </c:pt>
                <c:pt idx="2">
                  <c:v>13.6</c:v>
                </c:pt>
                <c:pt idx="3">
                  <c:v>12.9</c:v>
                </c:pt>
                <c:pt idx="4">
                  <c:v>13.4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SGN</c:v>
                </c:pt>
              </c:strCache>
            </c:strRef>
          </c:tx>
          <c:spPr>
            <a:solidFill>
              <a:srgbClr val="0E4174"/>
            </a:solidFill>
            <a:ln w="31750" cap="flat">
              <a:solidFill>
                <a:srgbClr val="0E417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174"/>
              </a:solidFill>
              <a:ln w="9525" cap="flat">
                <a:solidFill>
                  <a:srgbClr val="0E41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10.8</c:v>
                </c:pt>
                <c:pt idx="1">
                  <c:v>11.4</c:v>
                </c:pt>
                <c:pt idx="2">
                  <c:v>11.3</c:v>
                </c:pt>
                <c:pt idx="3">
                  <c:v>11.1</c:v>
                </c:pt>
                <c:pt idx="4">
                  <c:v>11.5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NW</c:v>
                </c:pt>
              </c:strCache>
            </c:strRef>
          </c:tx>
          <c:spPr>
            <a:solidFill>
              <a:srgbClr val="888888"/>
            </a:solidFill>
            <a:ln w="31750" cap="flat">
              <a:solidFill>
                <a:srgbClr val="888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04/20</c:v>
                  </c:pt>
                  <c:pt idx="1">
                    <c:v>04/27</c:v>
                  </c:pt>
                  <c:pt idx="2">
                    <c:v>05/04</c:v>
                  </c:pt>
                  <c:pt idx="3">
                    <c:v>05/11</c:v>
                  </c:pt>
                  <c:pt idx="4">
                    <c:v>05/18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11.7</c:v>
                </c:pt>
                <c:pt idx="1">
                  <c:v>11.9</c:v>
                </c:pt>
                <c:pt idx="2">
                  <c:v>11.9</c:v>
                </c:pt>
                <c:pt idx="3">
                  <c:v>11.5</c:v>
                </c:pt>
                <c:pt idx="4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HAN % Chủ Quan</c:v>
                </c:pt>
              </c:strCache>
            </c:strRef>
          </c:tx>
          <c:spPr>
            <a:solidFill>
              <a:srgbClr val="FF7F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16:00-17:00</c:v>
                  </c:pt>
                  <c:pt idx="1">
                    <c:v>17:00-18:00</c:v>
                  </c:pt>
                  <c:pt idx="2">
                    <c:v>18:00-19:00</c:v>
                  </c:pt>
                  <c:pt idx="3">
                    <c:v>19:00-20:00</c:v>
                  </c:pt>
                  <c:pt idx="4">
                    <c:v>20:00-21:00</c:v>
                  </c:pt>
                  <c:pt idx="5">
                    <c:v>21:00-22:00</c:v>
                  </c:pt>
                  <c:pt idx="6">
                    <c:v>22:00-23:00</c:v>
                  </c:pt>
                  <c:pt idx="7">
                    <c:v>23:00-00:00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45.3</c:v>
                </c:pt>
                <c:pt idx="1">
                  <c:v>46.8</c:v>
                </c:pt>
                <c:pt idx="2">
                  <c:v>46.5</c:v>
                </c:pt>
                <c:pt idx="3">
                  <c:v>45.9</c:v>
                </c:pt>
                <c:pt idx="4">
                  <c:v>50.2</c:v>
                </c:pt>
                <c:pt idx="5">
                  <c:v>54.7</c:v>
                </c:pt>
                <c:pt idx="6">
                  <c:v>56.3</c:v>
                </c:pt>
                <c:pt idx="7">
                  <c:v>51.2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SGN % Chủ Quan</c:v>
                </c:pt>
              </c:strCache>
            </c:strRef>
          </c:tx>
          <c:spPr>
            <a:solidFill>
              <a:srgbClr val="0E41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16:00-17:00</c:v>
                  </c:pt>
                  <c:pt idx="1">
                    <c:v>17:00-18:00</c:v>
                  </c:pt>
                  <c:pt idx="2">
                    <c:v>18:00-19:00</c:v>
                  </c:pt>
                  <c:pt idx="3">
                    <c:v>19:00-20:00</c:v>
                  </c:pt>
                  <c:pt idx="4">
                    <c:v>20:00-21:00</c:v>
                  </c:pt>
                  <c:pt idx="5">
                    <c:v>21:00-22:00</c:v>
                  </c:pt>
                  <c:pt idx="6">
                    <c:v>22:00-23:00</c:v>
                  </c:pt>
                  <c:pt idx="7">
                    <c:v>23:00-00:00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33.8</c:v>
                </c:pt>
                <c:pt idx="1">
                  <c:v>35.1</c:v>
                </c:pt>
                <c:pt idx="2">
                  <c:v>36.4</c:v>
                </c:pt>
                <c:pt idx="3">
                  <c:v>37</c:v>
                </c:pt>
                <c:pt idx="4">
                  <c:v>42.5</c:v>
                </c:pt>
                <c:pt idx="5">
                  <c:v>49.9</c:v>
                </c:pt>
                <c:pt idx="6">
                  <c:v>50</c:v>
                </c:pt>
                <c:pt idx="7">
                  <c:v>41.9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Ahamove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87168" y="292608"/>
            <a:ext cx="1371600" cy="36576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87168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MAR-WEEKLY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7F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A2E5A"/>
          </a:solidFill>
          <a:ln w="12700">
            <a:solidFill>
              <a:srgbClr val="0A2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26280"/>
            <a:ext cx="8229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Ops Weekly Review  ·  W20 2026  ·  18/05/2026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 ·  W20 — 12/05 → 18/05/2026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Tuần W20: Cầu ổn định — Cung giảm nhẹ — CR tăng đáng chú 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54864" cy="2743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36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NW vượt 130% Target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12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GDR NEW &amp; MASS vượt Target ở cả 3 vùng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Hour SGN vượt 110% Target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EV SGN đạt 127% Target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38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MiniHub HAN: PPH 110%, Online Rate 120%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98448"/>
            <a:ext cx="54864" cy="2743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LOWLIGHTS / CẦN XỬ LÝ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166420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3208" y="163677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hụt target 95% ở cả 3 khu vực (NW: 82.35%)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13969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211226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hụt 2 main city (HAN 76.9%, SGN 80.2%)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61518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258775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tăng 0.44% WoW — Driver not ready top 4 tuần liên tiếp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09067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306324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EV HAN chỉ đạt 57.6% target (hụt mạnh ở tập NEW)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56616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353872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MiniHub HAN Volume chỉ 71% target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1298448"/>
            <a:ext cx="0" cy="33832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 ·  CẦU &amp; DỊCH VỤ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Performance — AR/FR Trend 5 Tuần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ổn định, FR giảm do Supply Hour giảm &amp; thời tiết HAN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98448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365760" y="1298448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897880" y="1298448"/>
            <a:ext cx="29260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035040" y="1417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W20 vs W19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035040" y="1783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NW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43800" y="1783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+0.67% WoW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35040" y="1993392"/>
            <a:ext cx="265176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35040" y="22311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NW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543800" y="2231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1.8% WoW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2441448"/>
            <a:ext cx="265176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35040" y="26791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NW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543800" y="2679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80.99% (▼2.04%)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2889504"/>
            <a:ext cx="265176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35040" y="31272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NW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54380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89.97% (▼2.04%)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35040" y="3337560"/>
            <a:ext cx="265176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35040" y="35753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HAN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543800" y="3575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77.02% (▼3.44%)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35040" y="3785616"/>
            <a:ext cx="265176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35040" y="4023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SGN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543800" y="4023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84.49% (▼0.86%)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897880" y="4590288"/>
            <a:ext cx="2926080" cy="457200"/>
          </a:xfrm>
          <a:prstGeom prst="rect">
            <a:avLst/>
          </a:prstGeom>
          <a:solidFill>
            <a:srgbClr val="FFF3EC"/>
          </a:solidFill>
          <a:ln w="9525">
            <a:solidFill>
              <a:srgbClr val="FF7F3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89320" y="46085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HAN: thời tiết mưa 3 ngày + nắng gắt cuối tuần → SH FT/PT giảm 5-7%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 ·  CẦU &amp; DỊCH VỤ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 Deep Dive — Theo Khu Vực &amp; Dịch Vụ (W20)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hụt chủ yếu ở 1H, 2H và 4H — HAN giảm mạnh nhất 3.44% WoW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by Region (%)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536192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120640" y="1261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by Dịch Vụ — W20 (05/18)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74920" y="1554480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0" y="1627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1627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80.53%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89320" y="1901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WoW: -2.02%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52360" y="1719072"/>
            <a:ext cx="13716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52360" y="1719072"/>
            <a:ext cx="1104549" cy="1828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80.53%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74920" y="2322576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2395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81.22%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89320" y="2670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WoW: -3.16%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452360" y="2487168"/>
            <a:ext cx="13716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52360" y="2487168"/>
            <a:ext cx="1114014" cy="1828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52360" y="26883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81.22%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074920" y="3090672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12080" y="31638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89320" y="3163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76.54%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989320" y="34381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WoW: -1.85%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452360" y="3255264"/>
            <a:ext cx="13716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52360" y="3255264"/>
            <a:ext cx="1049823" cy="1828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52360" y="3456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76.54%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074920" y="3858768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12080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BULKY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989320" y="3931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93.1%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989320" y="4206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WoW: +0.75%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452360" y="4023360"/>
            <a:ext cx="13716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52360" y="4023360"/>
            <a:ext cx="127696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52360" y="4224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93.1%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 ·  NGUỒN CUNG (SUPPLY CAPACITY)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 Driver &amp; Supply Hour — W20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giảm nhẹ 1.4% NW; Supply Hour giảm 1-2% cả 3 khu vực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659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23,515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293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1.4% WoW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234440"/>
            <a:ext cx="19659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HAN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32888" y="15453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10,595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32888" y="19293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1.69% WoW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62856" y="1234440"/>
            <a:ext cx="19659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SGN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54296" y="15453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11,059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54296" y="19293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1.92% WoW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84264" y="1234440"/>
            <a:ext cx="19659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EXP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75704" y="15453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1,861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75704" y="19293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3.97% WoW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3957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Hour (K) by Region</a:t>
            </a:r>
            <a:endParaRPr lang="en-US" sz="10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20040" y="2670048"/>
          <a:ext cx="4937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5440680" y="1234440"/>
            <a:ext cx="33832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577840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 MTD — May 2026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577840" y="16642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080760" y="16642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77.82%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58000" y="1664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+4.55% MoM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818120" y="1664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-1.52% YoY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77840" y="1993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080760" y="1993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76.73%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858000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+7.36% MoM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818120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-0.98% YoY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577840" y="2322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080760" y="23225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80.17%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858000" y="2322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+2.55% MoM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818120" y="2322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-1.25% YoY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577840" y="2651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080760" y="2651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71.32%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58000" y="2651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-1.42% MoM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818120" y="2651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-5.40% YoY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440680" y="3383280"/>
            <a:ext cx="338328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77840" y="3456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per Driver (giờ/TX)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3749040"/>
          <a:ext cx="3383280" cy="1097280"/>
        </p:xfrm>
        <a:graphic>
          <a:graphicData uri="http://schemas.openxmlformats.org/drawingml/2006/table">
            <a:tbl>
              <a:tblPr/>
              <a:tblGrid>
                <a:gridCol w="676656"/>
                <a:gridCol w="676656"/>
                <a:gridCol w="676656"/>
                <a:gridCol w="676656"/>
                <a:gridCol w="67665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NLM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Return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174"/>
                          </a:solidFill>
                        </a:rPr>
                        <a:t>SGN 05/18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44.2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18.5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21.4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14.4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174"/>
                          </a:solidFill>
                        </a:rPr>
                        <a:t>HAN 05/18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42.7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15.8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15.4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13.2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  ·  NGUỒN CUNG (SUPPLY CAPACITY)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RPH &amp; Utilization Rate — W20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quả cung cải thiện: RPH tăng 2.3%, Utilization tăng 0.92% WoW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65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RPH NW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9293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2.31%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234440"/>
            <a:ext cx="1965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RPH HAN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32888" y="15453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1.93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32888" y="19293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3.97%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62856" y="1234440"/>
            <a:ext cx="1965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RPH SGN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54296" y="15453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296" y="19293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0.80%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84264" y="1234440"/>
            <a:ext cx="1965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RPH EXP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75704" y="15453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75704" y="19293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2.42%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286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Rate (%) — 5 Tuần</a:t>
            </a:r>
            <a:endParaRPr lang="en-US" sz="10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20040" y="256032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5486400" y="1234440"/>
            <a:ext cx="333756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623560" y="1353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by Segment (05/18)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91640"/>
          <a:ext cx="3337560" cy="2560320"/>
        </p:xfrm>
        <a:graphic>
          <a:graphicData uri="http://schemas.openxmlformats.org/drawingml/2006/table">
            <a:tbl>
              <a:tblPr/>
              <a:tblGrid>
                <a:gridCol w="556260"/>
                <a:gridCol w="556260"/>
                <a:gridCol w="556260"/>
                <a:gridCol w="556260"/>
                <a:gridCol w="556260"/>
                <a:gridCol w="55626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NIM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NLM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Return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174"/>
                          </a:solidFill>
                        </a:rPr>
                        <a:t>SGN 05/18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76.3%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79.8%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80.6%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75.5%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76.0%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174"/>
                          </a:solidFill>
                        </a:rPr>
                        <a:t>SGN 05/11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75.3%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79.1%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80.1%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74.8%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73.6%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174"/>
                          </a:solidFill>
                        </a:rPr>
                        <a:t>HAN 05/18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83.9%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81.9%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83.8%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81.3%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81.6%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174"/>
                          </a:solidFill>
                        </a:rPr>
                        <a:t>HAN 05/11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82.7%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81.3%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83.8%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80.2%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80.3%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5486400" y="4343400"/>
            <a:ext cx="3337560" cy="475488"/>
          </a:xfrm>
          <a:prstGeom prst="rect">
            <a:avLst/>
          </a:prstGeom>
          <a:solidFill>
            <a:srgbClr val="EEF3FA"/>
          </a:solidFill>
          <a:ln w="9525">
            <a:solidFill>
              <a:srgbClr val="0E417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77840" y="436168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RPH tăng do request tăng (+0.7%) trong khi supply hour giảm (-1.6%) → cùng lượng tài xế giao nhiều hơn/giờ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  ·  THU NHẬP TÀI XẾ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Earning per Hour (EPH) — W20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 EPH đạt 47.2k/h (+0.9k WoW) — HAN tăng mạnh 2-3k/h tất cả các tập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828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 NW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47,223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293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+0.9k WoW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234440"/>
            <a:ext cx="1828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3533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 HAN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77440" y="15453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52,887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19293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+2.6k WoW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234440"/>
            <a:ext cx="1828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3533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 SGN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43400" y="15453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45,336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43400" y="19293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-0.07k WoW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3317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 — EPH by Segment (đ/h)</a:t>
            </a:r>
            <a:endParaRPr lang="en-US" sz="10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20040" y="2606040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4709160" y="2331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SGN — EPH by Segment (đ/h)</a:t>
            </a:r>
            <a:endParaRPr lang="en-US" sz="105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4663440" y="2606040"/>
          <a:ext cx="4160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6217920" y="1234440"/>
            <a:ext cx="2606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09360" y="12801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tăng mạnh +3.2k → 57.9k
</a:t>
            </a:r>
            <a:pPr indent="0" marL="0">
              <a:buNone/>
            </a:pPr>
            <a:r>
              <a:rPr lang="en-US" sz="100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SGN: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 ổn định, dao động nhẹ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5  ·  CHẤT LƯỢNG TÀI XẾ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Retention Rate — HAN &amp; SGN (May 2026)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 cải thiện mạnh nhưng cả 2 thành phố vẫn hụt Target 80% và YoY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54864" cy="3401568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F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19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9110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76.93%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295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+7.4% MoM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6002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719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Target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94560" y="19110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hụt 80%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2295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-0.74% YoY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3200400" cy="13716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01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7F32"/>
                          </a:solidFill>
                        </a:rPr>
                        <a:t>FT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97.30%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▼ -1.23%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▲ +0.67%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7F32"/>
                          </a:solidFill>
                        </a:rPr>
                        <a:t>PT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75.08%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▲ +8.29%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▲ +0.90%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7F32"/>
                          </a:solidFill>
                        </a:rPr>
                        <a:t>NLM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72.70%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▼ -4.32%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▼ -8.01%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069080"/>
            <a:ext cx="3200400" cy="502920"/>
          </a:xfrm>
          <a:prstGeom prst="rect">
            <a:avLst/>
          </a:prstGeom>
          <a:solidFill>
            <a:srgbClr val="FEF2F2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087368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NLM: RR thấp nhất, gap -8% YoY — cần ưu tiên action giữ chân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434840" y="1234440"/>
            <a:ext cx="0" cy="35661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0" y="1261872"/>
            <a:ext cx="54864" cy="3401568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1261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SGN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09160" y="16002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719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800600" y="19110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80.17%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00600" y="2295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+2.55% MoM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355080" y="1600200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1719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Target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46520" y="19110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đạt 80%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46520" y="2295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-1.25% YoY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606040"/>
          <a:ext cx="3200400" cy="13716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01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4174"/>
                          </a:solidFill>
                        </a:rPr>
                        <a:t>FT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98.43%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+0.3%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+0.7%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4174"/>
                          </a:solidFill>
                        </a:rPr>
                        <a:t>PT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74.86%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+2.2%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-0.5%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4174"/>
                          </a:solidFill>
                        </a:rPr>
                        <a:t>NLM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</a:rPr>
                        <a:t>80.34%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+5.0%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+3.0%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7"/>
          <p:cNvSpPr/>
          <p:nvPr/>
        </p:nvSpPr>
        <p:spPr>
          <a:xfrm>
            <a:off x="4709160" y="4069080"/>
            <a:ext cx="3200400" cy="502920"/>
          </a:xfrm>
          <a:prstGeom prst="rect">
            <a:avLst/>
          </a:prstGeom>
          <a:solidFill>
            <a:srgbClr val="E6F9F3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00600" y="4087368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NLM SGN tháng 5 tốt, vượt 80% MTD — PT cần action do hụt YoY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8001000" y="1600200"/>
            <a:ext cx="822960" cy="914400"/>
          </a:xfrm>
          <a:prstGeom prst="rect">
            <a:avLst/>
          </a:prstGeom>
          <a:solidFill>
            <a:srgbClr val="EEF3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028432" y="1645920"/>
            <a:ext cx="768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72.7%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5  ·  CHẤT LƯỢNG TÀI XẾ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Cancellation Rate — NW Overview (W20)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tăng 0.44% WoW — 2H tăng mạnh nhất; Driver not ready top reason 4 tuần liên tiếp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 CR (Rule PoC) — 5 Tuần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536192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096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by Dịch Vụ (W20)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70832"/>
          <a:ext cx="5029200" cy="658368"/>
        </p:xfrm>
        <a:graphic>
          <a:graphicData uri="http://schemas.openxmlformats.org/drawingml/2006/table">
            <a:tbl>
              <a:tblPr/>
              <a:tblGrid>
                <a:gridCol w="718457"/>
                <a:gridCol w="718457"/>
                <a:gridCol w="718457"/>
                <a:gridCol w="718457"/>
                <a:gridCol w="718457"/>
                <a:gridCol w="718457"/>
                <a:gridCol w="718457"/>
              </a:tblGrid>
              <a:tr h="1316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DV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4H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Bulky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Shopee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TikTok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E4174"/>
                          </a:solidFill>
                        </a:rPr>
                        <a:t>HAN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11.29%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27.83%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11.06%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17.97%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24.45%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21.34%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9CA3AF"/>
                          </a:solidFill>
                        </a:rPr>
                        <a:t>WoW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</a:rPr>
                        <a:t>0.0%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+5.9%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+0.5%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-0.7%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+3.3%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+0.69%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E4174"/>
                          </a:solidFill>
                        </a:rPr>
                        <a:t>SGN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9.64%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16.71%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7.74%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12.06%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21.88%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19.49%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9CA3AF"/>
                          </a:solidFill>
                        </a:rPr>
                        <a:t>WoW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</a:rPr>
                        <a:t>0.0%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-0.5%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-0.5%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CA3AF"/>
                          </a:solidFill>
                        </a:rPr>
                        <a:t>0.0%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-2.0%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-0.1%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532120" y="1261872"/>
            <a:ext cx="32918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66928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Cancel Reasons — SGN (W20)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532120" y="1719072"/>
            <a:ext cx="3291840" cy="41148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23560" y="17465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Driver not ready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772400" y="17465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22,720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623560" y="1920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#1 × 4 tuần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532120" y="2185416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23560" y="2212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Recipient cannot be reached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772400" y="22128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21,224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532120" y="265176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23560" y="26791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Rescheduled delivery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772400" y="2679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14,963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532120" y="3118104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23560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Recipient cancel booking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772400" y="31455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9,528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532120" y="3584448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23560" y="36118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Sender cancel booking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7772400" y="3611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4,787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532120" y="4050792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23560" y="40782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Sender cannot be reached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7772400" y="40782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5  ·  CHẤT LƯỢNG TÀI XẾ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 — "Driver Not Ready" (Survey 50 TX SGN)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Hủy chủ quan tập trung khung giờ chiều tối — Chat AI/tổng đài là bottleneck chính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Hủy Chủ Quan (n=50 TX được call out)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tự gán đơn không phù hợp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837944"/>
            <a:ext cx="292608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37944"/>
            <a:ext cx="790042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8013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0665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AI / Tổng đài hỗ trợ hủy chậm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292608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04288"/>
            <a:ext cx="643738" cy="146304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267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5328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sai lý do để hủy nhanh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70632"/>
            <a:ext cx="292608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70632"/>
            <a:ext cx="49743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734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KNM / thuê bao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36976"/>
            <a:ext cx="292608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36976"/>
            <a:ext cx="351130" cy="14630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200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4655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vị sai / địa chỉ không chính xác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292608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703320"/>
            <a:ext cx="292608" cy="14630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666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cá nhân / thời gian biểu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292608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69664"/>
            <a:ext cx="351130" cy="14630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4133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06240" y="1234440"/>
            <a:ext cx="0" cy="36576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12618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Hủy Chủ Quan theo Giờ</a:t>
            </a:r>
            <a:endParaRPr lang="en-US" sz="10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343400" y="1536192"/>
          <a:ext cx="44805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4343400" y="4279392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43400" y="4279392"/>
            <a:ext cx="54864" cy="566928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53128" y="429768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HAN: 45-56% chủ quan vào chiều tối (vs 37-43% khung khác)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675120" y="4279392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675120" y="4279392"/>
            <a:ext cx="54864" cy="566928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784848" y="429768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SGN: 35-50% chủ quan vào chiều tối (vs 25-33% khung khác)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6  ·  PROJECT KPIs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 Project &amp; MiniHub — W20 vs Target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SGN vượt target; MiniHub HAN cần đẩy volume &amp; chuyển đổi tài xế mới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54864" cy="1874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EV PROJECT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651760" cy="1371600"/>
          </a:xfrm>
          <a:prstGeom prst="rect">
            <a:avLst/>
          </a:prstGeom>
          <a:solidFill>
            <a:srgbClr val="FEF2F2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 80.4% 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627632"/>
            <a:ext cx="2651760" cy="1371600"/>
          </a:xfrm>
          <a:prstGeom prst="rect">
            <a:avLst/>
          </a:prstGeom>
          <a:solidFill>
            <a:srgbClr val="FEF2F2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 57.6% target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627632"/>
            <a:ext cx="2651760" cy="1371600"/>
          </a:xfrm>
          <a:prstGeom prst="rect">
            <a:avLst/>
          </a:prstGeom>
          <a:solidFill>
            <a:srgbClr val="E6F9F3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06640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 126.8% target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154680"/>
            <a:ext cx="54864" cy="173736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MINIHUB PROJECT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93008"/>
          <a:ext cx="8366760" cy="1234440"/>
        </p:xfrm>
        <a:graphic>
          <a:graphicData uri="http://schemas.openxmlformats.org/drawingml/2006/table">
            <a:tbl>
              <a:tblPr/>
              <a:tblGrid>
                <a:gridCol w="1195251"/>
                <a:gridCol w="1195251"/>
                <a:gridCol w="1195251"/>
                <a:gridCol w="1195251"/>
                <a:gridCol w="1195251"/>
                <a:gridCol w="1195251"/>
                <a:gridCol w="1195251"/>
              </a:tblGrid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Target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Target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Target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174"/>
                          </a:solidFill>
                        </a:rPr>
                        <a:t>MiniHub Volume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122,981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90%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38,482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71%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84,499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103%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9F3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174"/>
                          </a:solidFill>
                        </a:rPr>
                        <a:t>MiniHub PPH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3.02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9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3.42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110%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9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2.87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99%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174"/>
                          </a:solidFill>
                        </a:rPr>
                        <a:t>Online 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81.11%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95%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89.14%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120%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9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78.41%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95%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7  ·  CỘNG ĐỒNG TÀI XẾ &amp; NEXT 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Driver's Voices &amp; Engagement — NW (W20)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issues được ghi nhận từ community — 4/5 đã xử lý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6217920" cy="576072"/>
          </a:xfrm>
          <a:prstGeom prst="rect">
            <a:avLst/>
          </a:prstGeom>
          <a:solidFill>
            <a:srgbClr val="E6F9F3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98448"/>
            <a:ext cx="54864" cy="576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71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3533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điều hướng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1581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gán không đúng điều hướng, tổng đài không hủy giúp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23360" y="1444752"/>
            <a:ext cx="242316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444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Đã gửi OE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947672"/>
            <a:ext cx="6217920" cy="576072"/>
          </a:xfrm>
          <a:prstGeom prst="rect">
            <a:avLst/>
          </a:prstGeom>
          <a:solidFill>
            <a:srgbClr val="E6F9F3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47672"/>
            <a:ext cx="54864" cy="576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208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20025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thời gian chờ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" y="22311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post đề xuất giảm từ 15p → 10p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23360" y="2093976"/>
            <a:ext cx="242316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20939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Apply từ 26/5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596896"/>
            <a:ext cx="6217920" cy="576072"/>
          </a:xfrm>
          <a:prstGeom prst="rect">
            <a:avLst/>
          </a:prstGeom>
          <a:solidFill>
            <a:srgbClr val="E6F9F3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96896"/>
            <a:ext cx="54864" cy="576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670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" y="2651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chi tiền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" y="28803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giao dịch 7/5 &amp; 11/5 — TX bức xúc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023360" y="2743200"/>
            <a:ext cx="242316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Tắt Vietinbank → Momo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46120"/>
            <a:ext cx="6217920" cy="576072"/>
          </a:xfrm>
          <a:prstGeom prst="rect">
            <a:avLst/>
          </a:prstGeom>
          <a:solidFill>
            <a:srgbClr val="E6F9F3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46120"/>
            <a:ext cx="54864" cy="576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3192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33009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Cắt thưởng Hoàn TNhập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1248" y="35295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 phản ứng tiêu cực với cắt thưởng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023360" y="3392424"/>
            <a:ext cx="242316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3924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Đã truyền thông CT mới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895344"/>
            <a:ext cx="6217920" cy="576072"/>
          </a:xfrm>
          <a:prstGeom prst="rect">
            <a:avLst/>
          </a:prstGeom>
          <a:solidFill>
            <a:srgbClr val="E6F9F3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895344"/>
            <a:ext cx="54864" cy="576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9684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" y="39502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Thắc mắc EV &amp; CTT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1248" y="4178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 hỏi về chương trình EV &amp; CTT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023360" y="4041648"/>
            <a:ext cx="242316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Seeding + Góc giải đáp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1298448"/>
            <a:ext cx="21488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784848" y="1408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Events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12280" y="17556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Leaderboard Đua top đơn 5 sao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12280" y="2240280"/>
            <a:ext cx="1874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23957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Chương trình tiếp nước xuyên suốt hè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12280" y="2880360"/>
            <a:ext cx="1874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30358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Rewards cho tài xế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12280" y="3520440"/>
            <a:ext cx="1874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12280" y="36758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Góc giải đáp thắc mắc EV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Ahamove MAR-Weekly Delivery W20 2026</dc:title>
  <dc:subject>PptxGenJS Presentation</dc:subject>
  <dc:creator>PptxGenJS</dc:creator>
  <cp:lastModifiedBy>PptxGenJS</cp:lastModifiedBy>
  <cp:revision>1</cp:revision>
  <dcterms:created xsi:type="dcterms:W3CDTF">2026-05-26T02:34:18Z</dcterms:created>
  <dcterms:modified xsi:type="dcterms:W3CDTF">2026-05-26T02:34:18Z</dcterms:modified>
</cp:coreProperties>
</file>