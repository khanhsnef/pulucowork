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Hà Nội (HAN)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Sheet1!$A$2:$A$4</c:f>
              <c:strCache>
                <c:ptCount val="3"/>
                <c:pt idx="0">
                  <c:v>Check-in Rate (%)</c:v>
                </c:pt>
                <c:pt idx="1">
                  <c:v>Online Rate (%)</c:v>
                </c:pt>
                <c:pt idx="2">
                  <c:v>Utilization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94.52</c:v>
                </c:pt>
                <c:pt idx="1">
                  <c:v>88.72</c:v>
                </c:pt>
                <c:pt idx="2">
                  <c:v>88.41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TP. HCM (SGN)</c:v>
                </c:pt>
              </c:strCache>
            </c:strRef>
          </c:tx>
          <c:spPr>
            <a:solidFill>
              <a:srgbClr val="1E293B"/>
            </a:solidFill>
          </c:spPr>
          <c:cat>
            <c:strRef>
              <c:f>Sheet1!$A$2:$A$4</c:f>
              <c:strCache>
                <c:ptCount val="3"/>
                <c:pt idx="0">
                  <c:v>Check-in Rate (%)</c:v>
                </c:pt>
                <c:pt idx="1">
                  <c:v>Online Rate (%)</c:v>
                </c:pt>
                <c:pt idx="2">
                  <c:v>Utilization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88.22</c:v>
                </c:pt>
                <c:pt idx="1">
                  <c:v>91.64</c:v>
                </c:pt>
                <c:pt idx="2">
                  <c:v>52.95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E293B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6B00"/>
                </a:solidFill>
                <a:latin typeface="Segoe UI"/>
              </a:defRPr>
            </a:pPr>
            <a:r>
              <a:t>AHAMOVE OFFICIAL REPORT</a:t>
            </a:r>
          </a:p>
          <a:p>
            <a:pPr>
              <a:spcAft>
                <a:spcPts val="1000"/>
              </a:spcAft>
              <a:defRPr sz="3600" b="1">
                <a:solidFill>
                  <a:srgbClr val="1E293B"/>
                </a:solidFill>
                <a:latin typeface="Segoe UI"/>
              </a:defRPr>
            </a:pPr>
            <a:r>
              <a:t>BÁO CÁO VẬN HÀNH TUẦN — DM NW</a:t>
            </a:r>
          </a:p>
          <a:p>
            <a:pPr>
              <a:spcAft>
                <a:spcPts val="1400"/>
              </a:spcAft>
              <a:defRPr sz="1800">
                <a:solidFill>
                  <a:srgbClr val="64748B"/>
                </a:solidFill>
                <a:latin typeface="Segoe UI"/>
              </a:defRPr>
            </a:pPr>
            <a:r>
              <a:t>Khu Vực Network (Hà Nội &amp; TP. HCM)  •  Tuần Cuối Tháng 8/2026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Segoe UI"/>
              </a:defRPr>
            </a:pPr>
            <a:r>
              <a:t>MINIHUB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"/>
              </a:defRPr>
            </a:pPr>
            <a:r>
              <a:t>Hiệu Suất Vận Hành MiniHub: Hà Nội vs TP. HCM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234440"/>
            <a:ext cx="10698480" cy="502920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200" b="1">
                <a:solidFill>
                  <a:srgbClr val="FF6B00"/>
                </a:solidFill>
                <a:latin typeface="Segoe UI"/>
              </a:defRPr>
            </a:pPr>
            <a:r>
              <a:t>KEY TAKEAWAY:  SGN có quy mô ca gấp 2x HAN nhưng HAN đạt EPH vượt trội 59k-84k đ/giờ; Cần giải quyết gấp 81.8% No-activity tại HAN.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74519"/>
            <a:ext cx="411480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FF6B00"/>
                </a:solidFill>
                <a:latin typeface="Segoe UI"/>
              </a:defRPr>
            </a:pPr>
            <a:r>
              <a:t>ĐÁNH GIÁ VẬN HÀNH trọng tâm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SGN đạt 3,670 ca đăng ký vs HAN 1,851 ca.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Check-in Rate: HAN 94.5% vs SGN 88.2%.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Online Rate: SGN tốt hơn đạt 91.6%.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893/1,091 TX HAN thuộc nhóm No-Activity (81.8%) → Vấn đề cốt lõi cần xử lý.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Balance Ratio In/Out &lt; 1.0x ở cả 2 city.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120640" y="1874519"/>
          <a:ext cx="6309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Ahamove — Driver Management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