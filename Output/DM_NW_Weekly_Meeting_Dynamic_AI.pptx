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Sản lượng (k)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Sheet1!$A$2:$A$6</c:f>
              <c:strCache>
                <c:ptCount val="5"/>
                <c:pt idx="0">
                  <c:v>FT</c:v>
                </c:pt>
                <c:pt idx="1">
                  <c:v>NIM</c:v>
                </c:pt>
                <c:pt idx="2">
                  <c:v>NLM</c:v>
                </c:pt>
                <c:pt idx="3">
                  <c:v>PT</c:v>
                </c:pt>
                <c:pt idx="4">
                  <c:v>Return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103.66</c:v>
                </c:pt>
                <c:pt idx="1">
                  <c:v>35.02</c:v>
                </c:pt>
                <c:pt idx="2">
                  <c:v>26.08</c:v>
                </c:pt>
                <c:pt idx="3">
                  <c:v>196.92</c:v>
                </c:pt>
                <c:pt idx="4">
                  <c:v>27.09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Tỷ lệ hủy (%)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Sheet1!$A$2:$A$6</c:f>
              <c:strCache>
                <c:ptCount val="5"/>
                <c:pt idx="0">
                  <c:v>FT</c:v>
                </c:pt>
                <c:pt idx="1">
                  <c:v>NIM</c:v>
                </c:pt>
                <c:pt idx="2">
                  <c:v>NLM</c:v>
                </c:pt>
                <c:pt idx="3">
                  <c:v>PT</c:v>
                </c:pt>
                <c:pt idx="4">
                  <c:v>Return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10.09</c:v>
                </c:pt>
                <c:pt idx="1">
                  <c:v>13.82</c:v>
                </c:pt>
                <c:pt idx="2">
                  <c:v>14.86</c:v>
                </c:pt>
                <c:pt idx="3">
                  <c:v>15.11</c:v>
                </c:pt>
                <c:pt idx="4">
                  <c:v>18.75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Hà Nội (HAN)</c:v>
                </c:pt>
              </c:strCache>
            </c:strRef>
          </c:tx>
          <c:spPr>
            <a:solidFill>
              <a:srgbClr val="38BDF8"/>
            </a:solidFill>
          </c:spPr>
          <c:cat>
            <c:strRef>
              <c:f>Sheet1!$A$2:$A$4</c:f>
              <c:strCache>
                <c:ptCount val="3"/>
                <c:pt idx="0">
                  <c:v>Check-in Rate (%)</c:v>
                </c:pt>
                <c:pt idx="1">
                  <c:v>Online Rate (%)</c:v>
                </c:pt>
                <c:pt idx="2">
                  <c:v>Utilization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94.52</c:v>
                </c:pt>
                <c:pt idx="1">
                  <c:v>88.72</c:v>
                </c:pt>
                <c:pt idx="2">
                  <c:v>88.41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TP. HCM (SGN)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Check-in Rate (%)</c:v>
                </c:pt>
                <c:pt idx="1">
                  <c:v>Online Rate (%)</c:v>
                </c:pt>
                <c:pt idx="2">
                  <c:v>Utilization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88.22</c:v>
                </c:pt>
                <c:pt idx="1">
                  <c:v>91.64</c:v>
                </c:pt>
                <c:pt idx="2">
                  <c:v>52.95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Thực tế (%)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HAN CTR</c:v>
                </c:pt>
                <c:pt idx="1">
                  <c:v>SGN CTR</c:v>
                </c:pt>
                <c:pt idx="2">
                  <c:v>HAN GDR</c:v>
                </c:pt>
                <c:pt idx="3">
                  <c:v>SGN GDR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74.46</c:v>
                </c:pt>
                <c:pt idx="1">
                  <c:v>80.4</c:v>
                </c:pt>
                <c:pt idx="2">
                  <c:v>93.06</c:v>
                </c:pt>
                <c:pt idx="3">
                  <c:v>96.03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Mục tiêu (Target %)</c:v>
                </c:pt>
              </c:strCache>
            </c:strRef>
          </c:tx>
          <c:spPr>
            <a:solidFill>
              <a:srgbClr val="EF4444"/>
            </a:solidFill>
          </c:spPr>
          <c:cat>
            <c:strRef>
              <c:f>Sheet1!$A$2:$A$5</c:f>
              <c:strCache>
                <c:ptCount val="4"/>
                <c:pt idx="0">
                  <c:v>HAN CTR</c:v>
                </c:pt>
                <c:pt idx="1">
                  <c:v>SGN CTR</c:v>
                </c:pt>
                <c:pt idx="2">
                  <c:v>HAN GDR</c:v>
                </c:pt>
                <c:pt idx="3">
                  <c:v>SGN GDR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130.0</c:v>
                </c:pt>
                <c:pt idx="1">
                  <c:v>130.0</c:v>
                </c:pt>
                <c:pt idx="2">
                  <c:v>100.0</c:v>
                </c:pt>
                <c:pt idx="3">
                  <c:v>110.0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6B00"/>
                </a:solidFill>
                <a:latin typeface="Segoe UI"/>
              </a:defRPr>
            </a:pPr>
            <a:r>
              <a:t>AHAMOVE STRATEGIC MANAGEMENT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DM NW WEEKLY MEETING REPORT</a:t>
            </a:r>
          </a:p>
          <a:p>
            <a:pPr>
              <a:spcAft>
                <a:spcPts val="1400"/>
              </a:spcAft>
              <a:defRPr sz="1800">
                <a:solidFill>
                  <a:srgbClr val="38BDF8"/>
                </a:solidFill>
                <a:latin typeface="Segoe UI"/>
              </a:defRPr>
            </a:pPr>
            <a:r>
              <a:t>Báo Cáo Phân Tích Chiến Lược Vận Hành &amp; Quản Trị Tài Xế (Network HAN &amp; SGN)</a:t>
            </a:r>
          </a:p>
          <a:p>
            <a:pPr>
              <a:defRPr sz="1200">
                <a:solidFill>
                  <a:srgbClr val="A0AEC0"/>
                </a:solidFill>
                <a:latin typeface="Segoe UI"/>
              </a:defRPr>
            </a:pPr>
            <a:r>
              <a:t>Tuần Cuối Tháng 8/2026  •  Dynamic AI Layout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0" cy="4572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Segoe UI"/>
              </a:defRPr>
            </a:pPr>
            <a:r>
              <a:t>EXECUTIVE OVERVIEW  |  AHAMOVE DRIVER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Chỉ Số Trọng Yếu &amp; Hiện Trạng Vận Hành (NW)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1A2B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A0AEC0"/>
                </a:solidFill>
                <a:latin typeface="Segoe UI"/>
              </a:defRPr>
            </a:pPr>
            <a:r>
              <a:t>Compliance True Rate (CTR)</a:t>
            </a:r>
          </a:p>
          <a:p>
            <a:pPr>
              <a:spcAft>
                <a:spcPts val="600"/>
              </a:spcAft>
              <a:defRPr sz="3800" b="1">
                <a:solidFill>
                  <a:srgbClr val="EF4444"/>
                </a:solidFill>
                <a:latin typeface="Segoe UI"/>
              </a:defRPr>
            </a:pPr>
            <a:r>
              <a:t>78.03%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Target: 130% | HAN 74.5%, SGN 80.4%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103120"/>
          </a:xfrm>
          <a:prstGeom prst="roundRect">
            <a:avLst/>
          </a:prstGeom>
          <a:solidFill>
            <a:srgbClr val="1A2B4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A0AEC0"/>
                </a:solidFill>
                <a:latin typeface="Segoe UI"/>
              </a:defRPr>
            </a:pPr>
            <a:r>
              <a:t>Good Driver Rate (GDR)</a:t>
            </a:r>
          </a:p>
          <a:p>
            <a:pPr>
              <a:spcAft>
                <a:spcPts val="600"/>
              </a:spcAft>
              <a:defRPr sz="3800" b="1">
                <a:solidFill>
                  <a:srgbClr val="38BDF8"/>
                </a:solidFill>
                <a:latin typeface="Segoe UI"/>
              </a:defRPr>
            </a:pPr>
            <a:r>
              <a:t>94.64%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Target: 110% | WoW -0.52%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1A2B42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A0AEC0"/>
                </a:solidFill>
                <a:latin typeface="Segoe UI"/>
              </a:defRPr>
            </a:pPr>
            <a:r>
              <a:t>Net Driver Outflow</a:t>
            </a:r>
          </a:p>
          <a:p>
            <a:pPr>
              <a:spcAft>
                <a:spcPts val="600"/>
              </a:spcAft>
              <a:defRPr sz="3800" b="1">
                <a:solidFill>
                  <a:srgbClr val="FF6B00"/>
                </a:solidFill>
                <a:latin typeface="Segoe UI"/>
              </a:defRPr>
            </a:pPr>
            <a:r>
              <a:t>&lt; 1.0x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Balance Ratio: HAN 0.90x, SGN 0.73x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1A2B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A0AEC0"/>
                </a:solidFill>
                <a:latin typeface="Segoe UI"/>
              </a:defRPr>
            </a:pPr>
            <a:r>
              <a:t>MiniHub One-and-Done</a:t>
            </a:r>
          </a:p>
          <a:p>
            <a:pPr>
              <a:spcAft>
                <a:spcPts val="600"/>
              </a:spcAft>
              <a:defRPr sz="3800" b="1">
                <a:solidFill>
                  <a:srgbClr val="EF4444"/>
                </a:solidFill>
                <a:latin typeface="Segoe UI"/>
              </a:defRPr>
            </a:pPr>
            <a:r>
              <a:t>54.1%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124/229 TX chạy 1 ca rồi bỏ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0" cy="4572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Segoe UI"/>
              </a:defRPr>
            </a:pPr>
            <a:r>
              <a:t>ORDER PERFORMANCE  |  AHAMOVE DRIVER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Sản Lượng Đơn Hàng &amp; Tỷ Lệ Hủy Theo Segment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A2B42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FF6B00"/>
                </a:solidFill>
                <a:latin typeface="Segoe UI"/>
              </a:defRPr>
            </a:pPr>
            <a:r>
              <a:t>TỔNG SẢN LƯỢNG: 390.3K ĐƠN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WoW Sản lượng: +9.36% (+33.29K)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Part-Time (PT): Chiếm 196.9K đơn (50.4%)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Full-Time (FT): Chiếm 103.7K đơn (26.6%)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Cancel Rate Toàn Vùng: 13.89%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FT giữ tỷ lệ hủy thấp nhất (10.09%)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Return có tỷ lệ hủy cao nhất (18.75%)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371600"/>
          <a:ext cx="6309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0" cy="4572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Segoe UI"/>
              </a:defRPr>
            </a:pPr>
            <a:r>
              <a:t>DEPOSIT POLICY PROPOSAL  |  AHAMOVE DRIVER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Đề Xuất Duy Trì Số Dư Tối Thiểu 80.000đ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A2B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800"/>
              </a:spcAft>
              <a:defRPr b="1" sz="1600">
                <a:solidFill>
                  <a:srgbClr val="EF4444"/>
                </a:solidFill>
                <a:latin typeface="Segoe UI"/>
              </a:defRPr>
            </a:pPr>
            <a:r>
              <a:t>HIỆN TRẠNG (BEFORE)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Tỷ lệ hoàn thành ký quỹ giảm từ 63% → 36-49%.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Hạ ký quỹ từ 1M → 500k vẫn không hiệu quả.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Nguyên nhân: TX rút sạch tiền trước thứ 5 (ngày thu).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Lệnh tự động trích nộp liên tục báo lỗi do số dư = 0đ.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Workload Ops: Nhắn tin/gọi điện nhắc nộp thủ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B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800"/>
              </a:spcAft>
              <a:defRPr b="1" sz="1600">
                <a:solidFill>
                  <a:srgbClr val="10B981"/>
                </a:solidFill>
                <a:latin typeface="Segoe UI"/>
              </a:defRPr>
            </a:pPr>
            <a:r>
              <a:t>ĐỀ XUẤT MỚI (AFTER)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Quy định: Bắt buộc giữ số dư tối thiểu 80.000đ trong 60 ngày FAT.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Đảm bảo đủ tiền trích 60.000đ/7 ngày tự động.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Tỷ lệ hoàn thành ký quỹ mục tiêu: &gt; 50%.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Tự động hóa 100% – Có ràng buộc hệ thống.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Segoe UI"/>
              </a:defRPr>
            </a:pPr>
            <a:r>
              <a:t>• Tiết kiệm 90% thời gian xử lý thủ công cho 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0" cy="4572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Segoe UI"/>
              </a:defRPr>
            </a:pPr>
            <a:r>
              <a:t>MINIHUB OPERATIONS  |  AHAMOVE DRIVER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Chỉ Số Vận Hành MiniHub: Hà Nội vs TP. HCM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A2B4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38BDF8"/>
                </a:solidFill>
                <a:latin typeface="Segoe UI"/>
              </a:defRPr>
            </a:pPr>
            <a:r>
              <a:t>ĐÁNH GIÁ VẬN HÀNH MINIHUB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SGN vượt trội về quy mô ca đăng ký (3,670 ca vs 1,851 ca tại HAN).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Check-in Rate: HAN đạt 94.5% vs SGN 88.2% (tăng +5.58%).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EPH: HAN áp đảo với 59K-84K đ/h so với SGN 46K-52K đ/h.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81.8% TX HAN thuộc nhóm No-Activity (893/1,091 TX).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371600"/>
          <a:ext cx="6309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0" cy="4572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Segoe UI"/>
              </a:defRPr>
            </a:pPr>
            <a:r>
              <a:t>COMPLIANCE &amp; QUALITY  |  AHAMOVE DRIVER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Chi Tiết CTR (Compliance True) &amp; GDR (Good Driver)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A2B4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 wrap="square"/>
          <a:lstStyle/>
          <a:p>
            <a:pPr algn="ctr">
              <a:spcAft>
                <a:spcPts val="800"/>
              </a:spcAft>
              <a:defRPr b="1" sz="1400">
                <a:solidFill>
                  <a:srgbClr val="F59E0B"/>
                </a:solidFill>
                <a:latin typeface="Segoe UI"/>
              </a:defRPr>
            </a:pPr>
            <a:r>
              <a:t>ĐÁNH GIÁ CHỈ SỐ TUÂN THỦ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CTR Toàn Vùng NW: 78.03% (Target 130%)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CTR HAN: 74.46% | CTR SGN: 80.40%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GDR Toàn Vùng NW: 94.64% (Target 110%)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GDR HAN: 93.06% | GDR SGN: 96.03%</a:t>
            </a:r>
          </a:p>
          <a:p>
            <a:pPr>
              <a:spcAft>
                <a:spcPts val="5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• Nhận xét: Khoảng cách CTR so với Target còn rất xa. Cần áp dụng chế tài Ranking 2026.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20640" y="1371600"/>
          <a:ext cx="6309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548640" cy="4572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Segoe UI"/>
              </a:defRPr>
            </a:pPr>
            <a:r>
              <a:t>EXECUTIVE ROADMAP  |  AHAMOVE DRIVER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Bảng Phân Công Kế Hoạch Hành Động (Action Plan)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1645920"/>
                <a:gridCol w="2011680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 Chiến Lược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Nội Dung Thực Thi &amp; Giải Pháp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Deadline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PIC</a:t>
                      </a:r>
                    </a:p>
                  </a:txBody>
                  <a:tcPr anchor="ctr">
                    <a:solidFill>
                      <a:srgbClr val="FF6B00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Ký Quỹ Tự Động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Khóa số dư tối thiểu 80k/60 ngày kể từ FAT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01/09/2026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Ops / Product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Kích Hoạt Cityzone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Release Auto Check-in &amp; Noti cảnh báo TX 1 ca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Mid-Sep 2026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Product / DM Team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Baga Bulky &amp; EV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Seeding Zalo/Social &amp; QC comms thuê xe Aizen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Trước 11/09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Hoa / Khoa / Vân</a:t>
                      </a:r>
                    </a:p>
                  </a:txBody>
                  <a:tcPr anchor="ctr">
                    <a:solidFill>
                      <a:srgbClr val="1A2B4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Sự Kiện &amp; Ranking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Triển khai Ranking 2026 &amp; Proposal Trung Thu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28/08 - 05/09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Vân / Thúy</a:t>
                      </a:r>
                    </a:p>
                  </a:txBody>
                  <a:tcPr anchor="ctr">
                    <a:solidFill>
                      <a:srgbClr val="14223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2D4461"/>
          </a:solidFill>
          <a:ln>
            <a:solidFill>
              <a:srgbClr val="2D4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  <a:latin typeface="Segoe UI"/>
              </a:defRPr>
            </a:pPr>
            <a:r>
              <a:t>Ahamove — Confidential  •  Driver Management Weekly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6B00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