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Sản lượng (k)</c:v>
                </c:pt>
              </c:strCache>
            </c:strRef>
          </c:tx>
          <c:spPr>
            <a:solidFill>
              <a:srgbClr val="FF6B00"/>
            </a:solidFill>
          </c:spPr>
          <c:cat>
            <c:strRef>
              <c:f>Sheet1!$A$2:$A$6</c:f>
              <c:strCache>
                <c:ptCount val="5"/>
                <c:pt idx="0">
                  <c:v>FT</c:v>
                </c:pt>
                <c:pt idx="1">
                  <c:v>NIM</c:v>
                </c:pt>
                <c:pt idx="2">
                  <c:v>NLM</c:v>
                </c:pt>
                <c:pt idx="3">
                  <c:v>PT</c:v>
                </c:pt>
                <c:pt idx="4">
                  <c:v>Return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103.66</c:v>
                </c:pt>
                <c:pt idx="1">
                  <c:v>35.02</c:v>
                </c:pt>
                <c:pt idx="2">
                  <c:v>26.08</c:v>
                </c:pt>
                <c:pt idx="3">
                  <c:v>196.92</c:v>
                </c:pt>
                <c:pt idx="4">
                  <c:v>27.09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Tỷ lệ hủy (%)</c:v>
                </c:pt>
              </c:strCache>
            </c:strRef>
          </c:tx>
          <c:spPr>
            <a:solidFill>
              <a:srgbClr val="1E293B"/>
            </a:solidFill>
          </c:spPr>
          <c:cat>
            <c:strRef>
              <c:f>Sheet1!$A$2:$A$6</c:f>
              <c:strCache>
                <c:ptCount val="5"/>
                <c:pt idx="0">
                  <c:v>FT</c:v>
                </c:pt>
                <c:pt idx="1">
                  <c:v>NIM</c:v>
                </c:pt>
                <c:pt idx="2">
                  <c:v>NLM</c:v>
                </c:pt>
                <c:pt idx="3">
                  <c:v>PT</c:v>
                </c:pt>
                <c:pt idx="4">
                  <c:v>Return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10.09</c:v>
                </c:pt>
                <c:pt idx="1">
                  <c:v>13.82</c:v>
                </c:pt>
                <c:pt idx="2">
                  <c:v>14.86</c:v>
                </c:pt>
                <c:pt idx="3">
                  <c:v>15.11</c:v>
                </c:pt>
                <c:pt idx="4">
                  <c:v>18.75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1E293B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Hà Nội (HAN)</c:v>
                </c:pt>
              </c:strCache>
            </c:strRef>
          </c:tx>
          <c:spPr>
            <a:solidFill>
              <a:srgbClr val="FF6B00"/>
            </a:solidFill>
          </c:spPr>
          <c:cat>
            <c:strRef>
              <c:f>Sheet1!$A$2:$A$4</c:f>
              <c:strCache>
                <c:ptCount val="3"/>
                <c:pt idx="0">
                  <c:v>Check-in Rate (%)</c:v>
                </c:pt>
                <c:pt idx="1">
                  <c:v>Online Rate (%)</c:v>
                </c:pt>
                <c:pt idx="2">
                  <c:v>Utilization (%)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94.52</c:v>
                </c:pt>
                <c:pt idx="1">
                  <c:v>88.72</c:v>
                </c:pt>
                <c:pt idx="2">
                  <c:v>88.41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TP. HCM (SGN)</c:v>
                </c:pt>
              </c:strCache>
            </c:strRef>
          </c:tx>
          <c:spPr>
            <a:solidFill>
              <a:srgbClr val="1E293B"/>
            </a:solidFill>
          </c:spPr>
          <c:cat>
            <c:strRef>
              <c:f>Sheet1!$A$2:$A$4</c:f>
              <c:strCache>
                <c:ptCount val="3"/>
                <c:pt idx="0">
                  <c:v>Check-in Rate (%)</c:v>
                </c:pt>
                <c:pt idx="1">
                  <c:v>Online Rate (%)</c:v>
                </c:pt>
                <c:pt idx="2">
                  <c:v>Utilization (%)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88.22</c:v>
                </c:pt>
                <c:pt idx="1">
                  <c:v>91.64</c:v>
                </c:pt>
                <c:pt idx="2">
                  <c:v>52.95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1E293B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Thực tế (%)</c:v>
                </c:pt>
              </c:strCache>
            </c:strRef>
          </c:tx>
          <c:spPr>
            <a:solidFill>
              <a:srgbClr val="FF6B00"/>
            </a:solidFill>
          </c:spPr>
          <c:cat>
            <c:strRef>
              <c:f>Sheet1!$A$2:$A$5</c:f>
              <c:strCache>
                <c:ptCount val="4"/>
                <c:pt idx="0">
                  <c:v>HAN CTR</c:v>
                </c:pt>
                <c:pt idx="1">
                  <c:v>SGN CTR</c:v>
                </c:pt>
                <c:pt idx="2">
                  <c:v>HAN GDR</c:v>
                </c:pt>
                <c:pt idx="3">
                  <c:v>SGN GDR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74.46</c:v>
                </c:pt>
                <c:pt idx="1">
                  <c:v>80.4</c:v>
                </c:pt>
                <c:pt idx="2">
                  <c:v>93.06</c:v>
                </c:pt>
                <c:pt idx="3">
                  <c:v>96.03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Mục tiêu (Target %)</c:v>
                </c:pt>
              </c:strCache>
            </c:strRef>
          </c:tx>
          <c:spPr>
            <a:solidFill>
              <a:srgbClr val="EF4444"/>
            </a:solidFill>
          </c:spPr>
          <c:cat>
            <c:strRef>
              <c:f>Sheet1!$A$2:$A$5</c:f>
              <c:strCache>
                <c:ptCount val="4"/>
                <c:pt idx="0">
                  <c:v>HAN CTR</c:v>
                </c:pt>
                <c:pt idx="1">
                  <c:v>SGN CTR</c:v>
                </c:pt>
                <c:pt idx="2">
                  <c:v>HAN GDR</c:v>
                </c:pt>
                <c:pt idx="3">
                  <c:v>SGN GDR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130.0</c:v>
                </c:pt>
                <c:pt idx="1">
                  <c:v>130.0</c:v>
                </c:pt>
                <c:pt idx="2">
                  <c:v>100.0</c:v>
                </c:pt>
                <c:pt idx="3">
                  <c:v>110.0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1E293B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6B00"/>
                </a:solidFill>
                <a:latin typeface="Segoe UI"/>
              </a:defRPr>
            </a:pPr>
            <a:r>
              <a:t>AHAMOVE OFFICIAL REPORT</a:t>
            </a:r>
          </a:p>
          <a:p>
            <a:pPr>
              <a:spcAft>
                <a:spcPts val="1000"/>
              </a:spcAft>
              <a:defRPr sz="3400" b="1">
                <a:solidFill>
                  <a:srgbClr val="1E293B"/>
                </a:solidFill>
                <a:latin typeface="Segoe UI"/>
              </a:defRPr>
            </a:pPr>
            <a:r>
              <a:t>DM NW WEEKLY MEETING REPORT</a:t>
            </a:r>
          </a:p>
          <a:p>
            <a:pPr>
              <a:spcAft>
                <a:spcPts val="1400"/>
              </a:spcAft>
              <a:defRPr sz="1800">
                <a:solidFill>
                  <a:srgbClr val="64748B"/>
                </a:solidFill>
                <a:latin typeface="Segoe UI"/>
              </a:defRPr>
            </a:pPr>
            <a:r>
              <a:t>Báo Cáo Phân Tích Strategist &amp; Vận Hành Quản Trị Tài Xế (Network HAN &amp; SGN)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Tuần Cuối Tháng 8/2026  •  Ahamove Official Design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Ahamove — Driver Management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Segoe UI"/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Segoe UI"/>
              </a:defRPr>
            </a:pPr>
            <a:r>
              <a:t>Chỉ Số Trọng Yếu &amp; Hiện Trạng Vận Hành (NW)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234440"/>
            <a:ext cx="10698480" cy="502920"/>
          </a:xfrm>
          <a:prstGeom prst="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50" b="1">
                <a:solidFill>
                  <a:srgbClr val="FF6B00"/>
                </a:solidFill>
                <a:latin typeface="Segoe UI"/>
              </a:defRPr>
            </a:pPr>
            <a:r>
              <a:t>KEY TAKEAWAY:  CTR toàn vùng đạt 78.03% (Target 130%); Cả 2 city đều suy giảm nguồn cung với Balance Ratio &lt; 1.0x.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874519"/>
            <a:ext cx="5120640" cy="1965960"/>
          </a:xfrm>
          <a:prstGeom prst="rect">
            <a:avLst/>
          </a:prstGeom>
          <a:solidFill>
            <a:srgbClr val="FFF1F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64748B"/>
                </a:solidFill>
                <a:latin typeface="Segoe UI"/>
              </a:defRPr>
            </a:pPr>
            <a:r>
              <a:t>Compliance True Rate (CTR)</a:t>
            </a:r>
          </a:p>
          <a:p>
            <a:pPr>
              <a:spcAft>
                <a:spcPts val="400"/>
              </a:spcAft>
              <a:defRPr sz="3600" b="1">
                <a:solidFill>
                  <a:srgbClr val="EF4444"/>
                </a:solidFill>
                <a:latin typeface="Segoe UI"/>
              </a:defRPr>
            </a:pPr>
            <a:r>
              <a:t>78.03%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Target: 130% | HAN 74.5%, SGN 80.4%</a:t>
            </a:r>
          </a:p>
        </p:txBody>
      </p:sp>
      <p:sp>
        <p:nvSpPr>
          <p:cNvPr id="6" name="Rectangle 5"/>
          <p:cNvSpPr/>
          <p:nvPr/>
        </p:nvSpPr>
        <p:spPr>
          <a:xfrm>
            <a:off x="6153912" y="1874519"/>
            <a:ext cx="5120640" cy="1965960"/>
          </a:xfrm>
          <a:prstGeom prst="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64748B"/>
                </a:solidFill>
                <a:latin typeface="Segoe UI"/>
              </a:defRPr>
            </a:pPr>
            <a:r>
              <a:t>Good Driver Rate (GDR)</a:t>
            </a:r>
          </a:p>
          <a:p>
            <a:pPr>
              <a:spcAft>
                <a:spcPts val="400"/>
              </a:spcAft>
              <a:defRPr sz="3600" b="1">
                <a:solidFill>
                  <a:srgbClr val="FF6B00"/>
                </a:solidFill>
                <a:latin typeface="Segoe UI"/>
              </a:defRPr>
            </a:pPr>
            <a:r>
              <a:t>94.64%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Target: 110% | WoW -0.52%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4069079"/>
            <a:ext cx="5120640" cy="1965960"/>
          </a:xfrm>
          <a:prstGeom prst="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64748B"/>
                </a:solidFill>
                <a:latin typeface="Segoe UI"/>
              </a:defRPr>
            </a:pPr>
            <a:r>
              <a:t>Net Driver Outflow</a:t>
            </a:r>
          </a:p>
          <a:p>
            <a:pPr>
              <a:spcAft>
                <a:spcPts val="400"/>
              </a:spcAft>
              <a:defRPr sz="3600" b="1">
                <a:solidFill>
                  <a:srgbClr val="FF6B00"/>
                </a:solidFill>
                <a:latin typeface="Segoe UI"/>
              </a:defRPr>
            </a:pPr>
            <a:r>
              <a:t>&lt; 1.0x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Balance Ratio: HAN 0.90x, SGN 0.73x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4069079"/>
            <a:ext cx="5120640" cy="1965960"/>
          </a:xfrm>
          <a:prstGeom prst="rect">
            <a:avLst/>
          </a:prstGeom>
          <a:solidFill>
            <a:srgbClr val="FFF1F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64748B"/>
                </a:solidFill>
                <a:latin typeface="Segoe UI"/>
              </a:defRPr>
            </a:pPr>
            <a:r>
              <a:t>MiniHub One-and-Done</a:t>
            </a:r>
          </a:p>
          <a:p>
            <a:pPr>
              <a:spcAft>
                <a:spcPts val="400"/>
              </a:spcAft>
              <a:defRPr sz="3600" b="1">
                <a:solidFill>
                  <a:srgbClr val="EF4444"/>
                </a:solidFill>
                <a:latin typeface="Segoe UI"/>
              </a:defRPr>
            </a:pPr>
            <a:r>
              <a:t>54.1%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124/229 TX chạy 1 ca rồi bỏ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Ahamove — Driver Management |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Segoe UI"/>
              </a:defRPr>
            </a:pPr>
            <a:r>
              <a:t>ORDER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Segoe UI"/>
              </a:defRPr>
            </a:pPr>
            <a:r>
              <a:t>Sản Lượng Đơn Hàng &amp; Tỷ Lệ Hủy Theo Segment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234440"/>
            <a:ext cx="10698480" cy="502920"/>
          </a:xfrm>
          <a:prstGeom prst="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50" b="1">
                <a:solidFill>
                  <a:srgbClr val="FF6B00"/>
                </a:solidFill>
                <a:latin typeface="Segoe UI"/>
              </a:defRPr>
            </a:pPr>
            <a:r>
              <a:t>KEY TAKEAWAY:  Sản lượng toàn vùng đạt 390.3K đơn (+9.36% WoW), PT chiếm 50.4% sản lượng; FT duy trì tỷ lệ hủy thấp nhất (10.09%).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874519"/>
            <a:ext cx="4114800" cy="4297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FF6B00"/>
                </a:solidFill>
                <a:latin typeface="Segoe UI"/>
              </a:defRPr>
            </a:pPr>
            <a:r>
              <a:t>TỔNG SẢN LƯỢNG: 390.3K ĐƠN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WoW Sản lượng: +9.36% (+33.29K)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Part-Time (PT): Chiếm 196.9K đơn (50.4%)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Full-Time (FT): Chiếm 103.7K đơn (26.6%)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Cancel Rate Toàn Vùng: 13.89%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FT giữ tỷ lệ hủy thấp nhất (10.09%)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Return có tỷ lệ hủy cao nhất (18.75%)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120640" y="1874519"/>
          <a:ext cx="6309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Ahamove — Driver Management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Segoe UI"/>
              </a:defRPr>
            </a:pPr>
            <a:r>
              <a:t>CORE 2H &amp;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Segoe UI"/>
              </a:defRPr>
            </a:pPr>
            <a:r>
              <a:t>Đội Core 2H, Plan Ân Xá &amp; Chuyển Đổi High Prod PT ➔ FT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234440"/>
            <a:ext cx="10698480" cy="502920"/>
          </a:xfrm>
          <a:prstGeom prst="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50" b="1">
                <a:solidFill>
                  <a:srgbClr val="FF6B00"/>
                </a:solidFill>
                <a:latin typeface="Segoe UI"/>
              </a:defRPr>
            </a:pPr>
            <a:r>
              <a:t>KEY TAKEAWAY:  Tập trung lực lượng Core 2H/Bulky và kích hoạt tài xế Ân Xá 13.8; Chuyển đổi PT High Prod sang FT để giảm Cancel 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874519"/>
            <a:ext cx="5120640" cy="4297680"/>
          </a:xfrm>
          <a:prstGeom prst="rect">
            <a:avLst/>
          </a:prstGeom>
          <a:solidFill>
            <a:srgbClr val="E8F5E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800"/>
              </a:spcAft>
              <a:defRPr b="1" sz="1400">
                <a:solidFill>
                  <a:srgbClr val="10B981"/>
                </a:solidFill>
                <a:latin typeface="Segoe UI"/>
              </a:defRPr>
            </a:pPr>
            <a:r>
              <a:t>ĐỘI CORE 2H &amp; CHUYÊN BIỆT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Đội Core chuyên chạy đơn 2H, 2H - Cỡ Lớn.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Xây dựng Plan Core 2H đảm bảo SLA giao hàng.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Kế hoạch Active tài xế từ chương trình Ân xá 13.8.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Tập trung phục hồi tài xế bị khóa/ngưng hoạt động có tiềm năng.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1874519"/>
            <a:ext cx="5212080" cy="4297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800"/>
              </a:spcAft>
              <a:defRPr b="1" sz="1400">
                <a:solidFill>
                  <a:srgbClr val="FF6B00"/>
                </a:solidFill>
                <a:latin typeface="Segoe UI"/>
              </a:defRPr>
            </a:pPr>
            <a:r>
              <a:t>PLAN CHUYỂN ĐỔI PT HIGH PROD ➔ FT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Mục tiêu: Chuyển đổi tập Part-Time có năng suất cao sang Full-Time.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Tăng mức độ cam kết và giữ chân tài xế chất lượng.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Tăng tỷ trọng đơn FT giúp kéo giảm Cancel Rate toàn vùng.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Thiết kế chính sách thưởng riêng cho nhóm chuyển đổi.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Ahamove — Driver Management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Segoe UI"/>
              </a:defRPr>
            </a:pPr>
            <a:r>
              <a:t>PROGRAM BAGA BULKY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Segoe UI"/>
              </a:defRPr>
            </a:pPr>
            <a:r>
              <a:t>Kết Quả Triển Khai Baga Bulky Giai Đoạn 1 (15/8 - 30/8)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234440"/>
            <a:ext cx="10698480" cy="502920"/>
          </a:xfrm>
          <a:prstGeom prst="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50" b="1">
                <a:solidFill>
                  <a:srgbClr val="FF6B00"/>
                </a:solidFill>
                <a:latin typeface="Segoe UI"/>
              </a:defRPr>
            </a:pPr>
            <a:r>
              <a:t>KEY TAKEAWAY:  SGN vượt target tài xế đăng ký nhưng tỷ lệ tuân thủ còn thấp (63%); HAN hụt 75% target do truyền thông chưa hiệu quả.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874519"/>
            <a:ext cx="5120640" cy="4297680"/>
          </a:xfrm>
          <a:prstGeom prst="rect">
            <a:avLst/>
          </a:prstGeom>
          <a:solidFill>
            <a:srgbClr val="E8F5E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800"/>
              </a:spcAft>
              <a:defRPr b="1" sz="1400">
                <a:solidFill>
                  <a:srgbClr val="10B981"/>
                </a:solidFill>
                <a:latin typeface="Segoe UI"/>
              </a:defRPr>
            </a:pPr>
            <a:r>
              <a:t>HIGHLIGHTS (THÀNH TỰU SGN)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SGN vượt Target về số lượng tài xế đăng ký &amp; pass điều kiện.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Active, Capacity Bulky và số ngày tick baga đều tăng khi TX tham gia.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Chuẩn bị đẩy lead đăng ký cho Giai đoạn 3 sau Lễ 2/9.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1874519"/>
            <a:ext cx="5212080" cy="4297680"/>
          </a:xfrm>
          <a:prstGeom prst="rect">
            <a:avLst/>
          </a:prstGeom>
          <a:solidFill>
            <a:srgbClr val="FFF1F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800"/>
              </a:spcAft>
              <a:defRPr b="1" sz="1400">
                <a:solidFill>
                  <a:srgbClr val="EF4444"/>
                </a:solidFill>
                <a:latin typeface="Segoe UI"/>
              </a:defRPr>
            </a:pPr>
            <a:r>
              <a:t>LOWLIGHTS &amp; ĐIỂM NGHẼN HAN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HAN hụt nặng: Mới đạt 1/4 target số tài xế join chương trình.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Accept challenge thấp ở cả 2 city: SGN 51%, HAN 34%.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Tỷ lệ tuân thủ baga chưa cao: SGN 63%, HAN 51%.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Action: Seeding qua Zalo/Social &amp; bán Baga trực tiếp tại VP.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Ahamove — Driver Management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Segoe UI"/>
              </a:defRPr>
            </a:pPr>
            <a:r>
              <a:t>NLM DRIVER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Segoe UI"/>
              </a:defRPr>
            </a:pPr>
            <a:r>
              <a:t>Báo Cáo Call-out NLM SGN &amp; Phân Tích Nguyên Nhân Churn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234440"/>
            <a:ext cx="10698480" cy="502920"/>
          </a:xfrm>
          <a:prstGeom prst="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50" b="1">
                <a:solidFill>
                  <a:srgbClr val="FF6B00"/>
                </a:solidFill>
                <a:latin typeface="Segoe UI"/>
              </a:defRPr>
            </a:pPr>
            <a:r>
              <a:t>KEY TAKEAWAY:  685 tài xế NLM SGN chưa quay lại; Đối tượng &gt;40 tuổi coi công việc là thu nhập phụ, dễ bỏ khi vướng app/ký quỹ.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874519"/>
            <a:ext cx="5120640" cy="4297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800"/>
              </a:spcAft>
              <a:defRPr b="1" sz="1400">
                <a:solidFill>
                  <a:srgbClr val="FF6B00"/>
                </a:solidFill>
                <a:latin typeface="Segoe UI"/>
              </a:defRPr>
            </a:pPr>
            <a:r>
              <a:t>TỔNG QUAN NLM SGN (1,954 TX)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Activated: 1,570 tài xế | Pending Uniform: 259 | Total: 1,829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Đã hoạt động: 1,144 | Đã call lần 1: 555 | Call lần 2: 130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685 tài xế chưa quay lại hoạt động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Nguyên nhân chính: Không liên lạc được; Về quê, đi học, bận công việc chính khác.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1874519"/>
            <a:ext cx="5212080" cy="4297680"/>
          </a:xfrm>
          <a:prstGeom prst="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800"/>
              </a:spcAft>
              <a:defRPr b="1" sz="1400">
                <a:solidFill>
                  <a:srgbClr val="FF6B00"/>
                </a:solidFill>
                <a:latin typeface="Segoe UI"/>
              </a:defRPr>
            </a:pPr>
            <a:r>
              <a:t>INSIGHT &amp; HƯỚNG XỬ LÝ NLM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Insight: TX &gt;40 tuổi, chạy bổ sung thu nhập, dễ nản khi vướng app.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Vướng mắc: TK chính còn 3k-6k, ngại ký quỹ, phàn nàn gán đơn/che COD.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Hướng xử lý: Ưu tiên call lại nhóm có thể quay lại; Tặng áo thun/áo mưa nếu chạy lại T8.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Hướng dẫn duy trì 50k nhận đơn; Nhắc khóa app nếu 60 ngày không chạy.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Ahamove — Driver Management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Segoe UI"/>
              </a:defRPr>
            </a:pPr>
            <a:r>
              <a:t>DEPOSIT POLICY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Segoe UI"/>
              </a:defRPr>
            </a:pPr>
            <a:r>
              <a:t>Đề Xuất Duy Trì Số Dư Tối Thiểu 80.000đ Trong 60 Ngày FAT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234440"/>
            <a:ext cx="10698480" cy="502920"/>
          </a:xfrm>
          <a:prstGeom prst="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50" b="1">
                <a:solidFill>
                  <a:srgbClr val="FF6B00"/>
                </a:solidFill>
                <a:latin typeface="Segoe UI"/>
              </a:defRPr>
            </a:pPr>
            <a:r>
              <a:t>KEY TAKEAWAY:  Tỷ lệ nộp ký quỹ giảm từ 63% xuống 36-49% do tài xế rút sạch tiền trước ngày thu; Đề xuất duy trì số dư tối thiểu 80k để đảm bảo tự động trích nộp.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874519"/>
            <a:ext cx="5120640" cy="4297680"/>
          </a:xfrm>
          <a:prstGeom prst="rect">
            <a:avLst/>
          </a:prstGeom>
          <a:solidFill>
            <a:srgbClr val="FFF1F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800"/>
              </a:spcAft>
              <a:defRPr b="1" sz="1400">
                <a:solidFill>
                  <a:srgbClr val="EF4444"/>
                </a:solidFill>
                <a:latin typeface="Segoe UI"/>
              </a:defRPr>
            </a:pPr>
            <a:r>
              <a:t>HIỆN TRẠNG (BEFORE)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Tỷ lệ hoàn thành ký quỹ giảm từ 63% → 36-49%.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Hạ ký quỹ từ 1M → 500k vẫn không hiệu quả.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Nguyên nhân: TX rút sạch tiền trước thứ 5 (ngày thu).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Lệnh tự động trích nộp liên tục báo lỗi do số dư = 0đ.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Workload Ops: Nhắn tin/gọi điện nhắc nộp thủ công.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1874519"/>
            <a:ext cx="5212080" cy="4297680"/>
          </a:xfrm>
          <a:prstGeom prst="rect">
            <a:avLst/>
          </a:prstGeom>
          <a:solidFill>
            <a:srgbClr val="E8F5E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800"/>
              </a:spcAft>
              <a:defRPr b="1" sz="1400">
                <a:solidFill>
                  <a:srgbClr val="10B981"/>
                </a:solidFill>
                <a:latin typeface="Segoe UI"/>
              </a:defRPr>
            </a:pPr>
            <a:r>
              <a:t>ĐỀ XUẤT MỚI (AFTER)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Quy định: Bắt buộc giữ số dư tối thiểu 80.000đ trong 60 ngày FAT.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Đảm bảo đủ tiền trích 60.000đ/7 ngày tự động.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Tỷ lệ hoàn thành ký quỹ mục tiêu: &gt; 50%.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Tự động hóa 100% – Có ràng buộc hệ thống.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Tiết kiệm 90% thời gian xử lý thủ công cho 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Ahamove — Driver Management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Segoe UI"/>
              </a:defRPr>
            </a:pPr>
            <a:r>
              <a:t>MINIHUB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Segoe UI"/>
              </a:defRPr>
            </a:pPr>
            <a:r>
              <a:t>Chỉ Số Vận Hành MiniHub: Hà Nội vs TP. HCM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234440"/>
            <a:ext cx="10698480" cy="502920"/>
          </a:xfrm>
          <a:prstGeom prst="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50" b="1">
                <a:solidFill>
                  <a:srgbClr val="FF6B00"/>
                </a:solidFill>
                <a:latin typeface="Segoe UI"/>
              </a:defRPr>
            </a:pPr>
            <a:r>
              <a:t>KEY TAKEAWAY:  SGN có quy mô ca gấp 2x HAN nhưng HAN đạt EPH vượt trội 59k-84k đ/giờ; Cần giải quyết gấp 81.8% No-activity tại HAN.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874519"/>
            <a:ext cx="4114800" cy="4297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FF6B00"/>
                </a:solidFill>
                <a:latin typeface="Segoe UI"/>
              </a:defRPr>
            </a:pPr>
            <a:r>
              <a:t>ĐÁNH GIÁ VẬN HÀNH MINIHUB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SGN đạt 3,670 ca đăng ký vs HAN 1,851 ca.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Check-in Rate: HAN 94.5% vs SGN 88.2%.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Online Rate: SGN tốt hơn đạt 91.6%.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893/1,091 TX HAN thuộc nhóm No-Activity (81.8%) → Vấn đề cốt lõi cần xử lý.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Balance Ratio In/Out &lt; 1.0x ở cả 2 city.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120640" y="1874519"/>
          <a:ext cx="6309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Ahamove — Driver Management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Segoe UI"/>
              </a:defRPr>
            </a:pPr>
            <a:r>
              <a:t>COMPLIANCE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Segoe UI"/>
              </a:defRPr>
            </a:pPr>
            <a:r>
              <a:t>Chi Tiết CTR (Compliance True) &amp; GDR (Good Driver)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234440"/>
            <a:ext cx="10698480" cy="502920"/>
          </a:xfrm>
          <a:prstGeom prst="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50" b="1">
                <a:solidFill>
                  <a:srgbClr val="FF6B00"/>
                </a:solidFill>
                <a:latin typeface="Segoe UI"/>
              </a:defRPr>
            </a:pPr>
            <a:r>
              <a:t>KEY TAKEAWAY:  CTR toàn vùng NW chỉ đạt 78.03% so với Target 130%; GDR đạt 94.64% so với Target 110%; Cần siết chế tài Ranking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874519"/>
            <a:ext cx="4114800" cy="4297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FF6B00"/>
                </a:solidFill>
                <a:latin typeface="Segoe UI"/>
              </a:defRPr>
            </a:pPr>
            <a:r>
              <a:t>ĐÁNH GIÁ CHỈ SỐ TUÂN THỦ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CTR Toàn Vùng NW: 78.03% (Target 130%)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CTR HAN: 74.46% | CTR SGN: 80.40%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GDR Toàn Vùng NW: 94.64% (Target 110%)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GDR HAN: 93.06% | GDR SGN: 96.03%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Nhận xét: Khoảng cách CTR so với Target còn rất xa. Cần áp dụng chế tài Ranking 2026.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120640" y="1874519"/>
          <a:ext cx="6309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Ahamove — Driver Management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Segoe UI"/>
              </a:defRPr>
            </a:pPr>
            <a:r>
              <a:t>COMMUNICATIONS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Segoe UI"/>
              </a:defRPr>
            </a:pPr>
            <a:r>
              <a:t>Kế Hoạch Hành Động &amp; Phân Công Nhiệm Vụ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234440"/>
            <a:ext cx="10698480" cy="502920"/>
          </a:xfrm>
          <a:prstGeom prst="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50" b="1">
                <a:solidFill>
                  <a:srgbClr val="FF6B00"/>
                </a:solidFill>
                <a:latin typeface="Segoe UI"/>
              </a:defRPr>
            </a:pPr>
            <a:r>
              <a:t>KEY TAKEAWAY:  Ưu tiên khắc phục các điểm chậm tiến độ truyền thông Baga, EV Aizen và triển khai Ranking 2026.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" y="1874519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3474720"/>
                <a:gridCol w="1005840"/>
                <a:gridCol w="1005840"/>
              </a:tblGrid>
              <a:tr h="10744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HẠNG MỤC</a:t>
                      </a:r>
                    </a:p>
                  </a:txBody>
                  <a:tcPr anchor="ctr"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NGUYÊN NHÂN / BỐI CẢNH</a:t>
                      </a:r>
                    </a:p>
                  </a:txBody>
                  <a:tcPr anchor="ctr"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HÀNH ĐỘNG CỤ THỂ</a:t>
                      </a:r>
                    </a:p>
                  </a:txBody>
                  <a:tcPr anchor="ctr"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DEADLINE</a:t>
                      </a:r>
                    </a:p>
                  </a:txBody>
                  <a:tcPr anchor="ctr"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PIC</a:t>
                      </a:r>
                    </a:p>
                  </a:txBody>
                  <a:tcPr anchor="ctr">
                    <a:solidFill>
                      <a:srgbClr val="FF6B00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CT Baga Bulky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Lead HAN &amp; SGN chưa đạt 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Comms thêm social/Zalo &amp; seeding khi TX đăng ký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30/08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Hoa / Khoa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 Aizen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Cần đẩy mạnh thuê xe RTO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Brief comms/design idea &amp; QC lại content với Aizen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05/09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Hoa/Khoa/Vân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Sự kiện Quý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Sắp tới đợt Lễ 2/9 &amp; Trung Thu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Hoàn thành proposal sponsorship &amp; plan sự kiện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28/08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Vân / Thúy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Ahamove — Driver Management |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