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645920" cy="457200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AHAMOVE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B00"/>
                </a:solidFill>
              </a:defRPr>
            </a:pPr>
            <a:r>
              <a:t>OPERATIONS STRATEGY BRIEF &amp; OPERATIONAL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MONTHLY &amp; WEEKLY OPERATIONS</a:t>
            </a:r>
            <a:br/>
            <a:r>
              <a:t>EXECUTIVE REPORT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D7EB"/>
                </a:solidFill>
              </a:defRPr>
            </a:pPr>
            <a:r>
              <a:t>Tổng hợp toàn diện hiệu suất vận hành DM &amp; NW (SGN &amp; HAN) Tháng 07 &amp; Tuần 31:</a:t>
            </a:r>
            <a:br/>
            <a:r>
              <a:t>Tiến độ OKRs, chuyển dịch xe điện (EV), quy mô MiniHub, bóc tách Retention &amp; Action Roadmap.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728655" cy="1371600"/>
          </a:xfrm>
          <a:prstGeom prst="roundRect">
            <a:avLst/>
          </a:prstGeom>
          <a:solidFill>
            <a:srgbClr val="123862"/>
          </a:solidFill>
          <a:ln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9D7"/>
                </a:solidFill>
              </a:defRPr>
            </a:pPr>
            <a:r>
              <a:t>REPORTING PERIOD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Tháng 07 &amp; Tuần 31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457200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9D7"/>
                </a:solidFill>
              </a:defRPr>
            </a:pPr>
            <a:r>
              <a:t>DEPARTMENT &amp; SCOPE</a:t>
            </a:r>
          </a:p>
          <a:p>
            <a:pPr>
              <a:defRPr sz="1200" b="1">
                <a:solidFill>
                  <a:srgbClr val="FF6B00"/>
                </a:solidFill>
              </a:defRPr>
            </a:pPr>
            <a:r>
              <a:t>DM &amp; NW (Driver Management)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57200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9D7"/>
                </a:solidFill>
              </a:defRPr>
            </a:pPr>
            <a:r>
              <a:t>TARGET REGIONS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TP. Hồ Chí Minh &amp; Hà Nội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57200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9D7"/>
                </a:solidFill>
              </a:defRPr>
            </a:pPr>
            <a:r>
              <a:t>DATA GROUNDING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100% Grounded DW (82 Slides)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Ahamove DM &amp; NW Meeting 2026 · Hallmark Strategic Deck                      Slide 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PART I: MONTHLY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02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</a:defRPr>
            </a:pPr>
            <a:r>
              <a:t>Monthly Executive Summary &amp; Tiến Độ OKRs Q2-Q3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Đánh giá 3 Mục tiêu OKRs trọng yếu: Đội xe Baga, Chuyển đổi EV &amp; Quy mô MiniHub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4114800" cy="4663440"/>
          </a:xfrm>
          <a:prstGeom prst="roundRect">
            <a:avLst/>
          </a:prstGeom>
          <a:solidFill>
            <a:srgbClr val="0A2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3749039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CDEB"/>
                </a:solidFill>
              </a:defRPr>
            </a:pPr>
            <a:r>
              <a:t>BAGA ACTIVE RATE (OKR O3.1 ANCHOR)</a:t>
            </a:r>
          </a:p>
          <a:p>
            <a:pPr>
              <a:defRPr sz="4400" b="1">
                <a:solidFill>
                  <a:srgbClr val="FF6B00"/>
                </a:solidFill>
              </a:defRPr>
            </a:pPr>
            <a:r>
              <a:t>68.2%</a:t>
            </a:r>
          </a:p>
          <a:p>
            <a:pPr>
              <a:defRPr sz="1100" b="1">
                <a:solidFill>
                  <a:srgbClr val="6EE6B4"/>
                </a:solidFill>
              </a:defRPr>
            </a:pPr>
            <a:r>
              <a:t>▲ Vượt Target Q2 (60.5%) &amp; Target Q3 (63.5%)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💡 Key Insight:</a:t>
            </a:r>
            <a:br/>
            <a:r>
              <a:t>Chuỗi chương trình 'Trang bị baga - Hoàn tiền thả ga' kéo tăng trưởng tài xế gắn Baga bứt phá vượt mục tiêu Q3 ngay trong Tháng 7.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46320" y="1463040"/>
          <a:ext cx="71323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"/>
                <a:gridCol w="1828800"/>
                <a:gridCol w="914400"/>
                <a:gridCol w="1097280"/>
              </a:tblGrid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Mục Tiêu OKR (Q3 2026)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 Q3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Actual (Tháng 7)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Tiến Độ %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Trạng Thái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O1.1: Chuyển đổi Đội xe điện 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3,177 xe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1,245 xe (HAN 539, SGN 706)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66.0%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F6B00"/>
                          </a:solidFill>
                        </a:defRPr>
                      </a:pPr>
                      <a:r>
                        <a:t>🟡 In-Progress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O2.1: Scale sản lượng MiniHub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591.8K đơn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215.1K đơn MTD (Prod 3.29)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36.3% (M7)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🟢 On-Track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O3.1: Tài xế Baga Active (Moat)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63.5% 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68.2% active (HAN/SGN)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107.4%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🟢 Achieved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OG1: Chuẩn hóa Onboarding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100% Video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35% khung &amp; Push 3/8 video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35.0%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F6B00"/>
                          </a:solidFill>
                        </a:defRPr>
                      </a:pPr>
                      <a:r>
                        <a:t>🟡 In-Progress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Ahamove DM &amp; NW Meeting 2026 · Hallmark Strategic Deck                      Slide 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PART I: MONTHLY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</a:defRPr>
            </a:pPr>
            <a:r>
              <a:t>Bóc Tách Tỷ Lệ Giữ Chân (Retention Rate) &amp; Supply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Phân tích biến động giữ chân tài xế (&gt;=22t) &amp; năng suất Supply Hours theo tập FT, PT, NIM, NLM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68580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005840"/>
                <a:gridCol w="1005840"/>
                <a:gridCol w="1005840"/>
              </a:tblGrid>
              <a:tr h="7772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Khu Vực / Segment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Segment Driver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Active Driver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RR Tháng 7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YoY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SGN Overall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15,027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11,924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81.38%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+0.40%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— SGN FT / PT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2,979 / 10,017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2,895 / 7,536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97.18% / 75.23%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-1.50% / +2.48%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+0.51% / +1.42%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— SGN NLM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1,493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73.51%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+3.03%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+3.75%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HAN Overall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9,271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7,213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79.58%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+0.24%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-1.07%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— HAN FT / NLM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1,230 / 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1,184 / 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96.26% / 68.86%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-2.37% / -2.04%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-1.24% / -3.90%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89520" y="1463040"/>
            <a:ext cx="4023360" cy="1371600"/>
          </a:xfrm>
          <a:prstGeom prst="roundRect">
            <a:avLst/>
          </a:prstGeom>
          <a:solidFill>
            <a:srgbClr val="E6F4EA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1554480"/>
            <a:ext cx="3749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🟢 SGN Recovery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Retention Rate SGN tiếp tục đà phục hồi đạt 81.38% (+0.4% MoM). Nhóm NLM tăng bứt phá +3.03% MoM nhờ chiến dịch call active tập trung.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017520"/>
            <a:ext cx="4023360" cy="1371600"/>
          </a:xfrm>
          <a:prstGeom prst="roundRect">
            <a:avLst/>
          </a:prstGeom>
          <a:solidFill>
            <a:srgbClr val="FEE2E2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0" y="3108960"/>
            <a:ext cx="3749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🔴 HAN NLM Challenge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HAN bị hụt RR ở nhóm NLM (68.86%, hụt 2.04% MoM &amp; 3.9% YoY) do nhóm sinh viên tuyển mới chưa vào năm học lại.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572000"/>
            <a:ext cx="4023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80" y="4663440"/>
            <a:ext cx="3749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E57"/>
                </a:solidFill>
              </a:defRPr>
            </a:pPr>
            <a:r>
              <a:t>⏱️ Supply Hours (SH)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Total SH YoY giảm mạnh 14-22% ở nhóm FT, tuy nhiên RPH giảm nhẹ với AR-FR cải thiện ~1% nhờ tối ưu dispatch layer.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Ahamove DM &amp; NW Meeting 2026 · Hallmark Strategic Deck                      Slide 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PART I: MONTHLY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04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</a:defRPr>
            </a:pPr>
            <a:r>
              <a:t>Chất Lượng Vận Hành, Tỷ Lệ Hủy (CR) &amp; Quản Lý Đội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Đánh giá tác động thời tiết nắng nóng lên CR Shopee, kết quả lọc đội 2H Bulky &amp; Core KA/4H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56692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2194560"/>
              </a:tblGrid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Dịch Vụ (Service)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CR HAN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CR SGN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Nguyên Nhân Gốc Rễ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Shopee Express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37.61%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22.78%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Peak nắng nóng &gt;=35°C &amp; Shopee Reverse noise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2H / Bulky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30.45%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22.62%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Mất cân bằng cung cầu khung giờ cao điểm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4H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13.70%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8.61%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Duy trì mức ổn định cao ở 2 khu vực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1H TMĐT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10.80%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10.60%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Dịch vụ cốt lõi đạt SLA chất lượng tốt nhất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9224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554480"/>
            <a:ext cx="48463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E57"/>
                </a:solidFill>
              </a:defRPr>
            </a:pPr>
            <a:r>
              <a:t>🛠️ Giải Pháp Khắc Phục CR Shopee &amp; Nắng Nóng: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• Xây scheme thưởng tập trung đơn Shopee trong khung trưa - chiều.</a:t>
            </a:r>
            <a:br/>
            <a:r>
              <a:t>• Đề xuất tắt Auto-Accept (AA) Shopee khung 12h-17h khi nắng nóng &gt;=35°C.</a:t>
            </a:r>
            <a:br/>
            <a:r>
              <a:t>• Chỉ khuyến nghị (REC) đơn với partner Shopee Reverse.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84048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0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931920"/>
            <a:ext cx="48463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4C8C"/>
                </a:solidFill>
              </a:defRPr>
            </a:pPr>
            <a:r>
              <a:t>🚛 Thanh Lọc &amp; Tuyển Mới Đội Core 2H / Bulky: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• Tuyển mới 49 tài xế (70 đăng ký, 57 xác nhận, 49 gia nhập ➔ Đạt 86%).</a:t>
            </a:r>
            <a:br/>
            <a:r>
              <a:t>• Thanh lọc 29 tài xế hiệu suất thấp trong tháng.</a:t>
            </a:r>
            <a:br/>
            <a:r>
              <a:t>• Đội Core 4H/KA tại SGN đạt 40.0K đơn completed.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Ahamove DM &amp; NW Meeting 2026 · Hallmark Strategic Deck                      Slide 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PART I: MONTHLY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05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</a:defRPr>
            </a:pPr>
            <a:r>
              <a:t>Tăng Trưởng Tuyển Mới &amp; Chuẩn Hóa Hành Trình Driver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Hiệu suất nhóm tài xế mới (Capacity SGN/HAN) &amp; Tiến độ số hóa 9 cột mốc Driver Journey (D0-D8)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4754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4480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SGN New Driver Capacity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261,233 Capacity ➔ ▲ 117.4% vs Target</a:t>
            </a:r>
            <a:br/>
            <a:r>
              <a:t>Nhóm NIM, NLM và Return tăng bứt phá, năng suất duy trì ổn định.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4754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4480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4C8C"/>
                </a:solidFill>
              </a:defRPr>
            </a:pPr>
            <a:r>
              <a:t>HAN New Driver Capacity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108,697 NIM ➔ ▲ 110.15% vs Target</a:t>
            </a:r>
            <a:br/>
            <a:r>
              <a:t>Active NLM tăng +19.4% MoM. Hiệu quả khai thác tài xế ổn định.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4754880" cy="1371600"/>
          </a:xfrm>
          <a:prstGeom prst="roundRect">
            <a:avLst/>
          </a:prstGeom>
          <a:solidFill>
            <a:srgbClr val="E6F4EA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663440"/>
            <a:ext cx="4480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🎯 Quality Metric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Good Driver Rate (GDR) tuyển mới đạt 120% KPI tại SGN và 95% KPI tại HAN. DFD Retention SGN đạt 74.11% (+3.5% YoY).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63040"/>
          <a:ext cx="60350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286000"/>
                <a:gridCol w="1645920"/>
                <a:gridCol w="1097280"/>
              </a:tblGrid>
              <a:tr h="7772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Giai Đoạn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Nội Dung Đào Tạo Auto-Push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Tiến Độ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Trạng Thái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D0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Hướng dẫn xem số tiền thu ứng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Hoàn thành (Pilot push noti)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🟢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D1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Xử lý khi hủy đơn hàng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Hoàn thành Video &amp; Guideline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🟢 Done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Xử lý khiếu nại &amp; dispute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Đang thu thập thông tin nội dung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🟡 10/08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D3 - D4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Bật/tắt dịch vụ &amp; Điều hướng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Đã confirm nội dung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🟡 17-24/08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D5 - D8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Giải trình, Ký quỹ, Nộp tiền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Đã cung cấp tài liệu thô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B91C1C"/>
                          </a:solidFill>
                        </a:defRPr>
                      </a:pPr>
                      <a:r>
                        <a:t>🔴 Sep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Ahamove DM &amp; NW Meeting 2026 · Hallmark Strategic Deck                      Slide 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PART I: MONTHLY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06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</a:defRPr>
            </a:pPr>
            <a:r>
              <a:t>Quy Mô Sản Lượng MiniHub &amp; Hiệu Quả Kinh Tế Hub vs Mass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Sản lượng 215.1K đơn (+17% MoM), so sánh Earning Per Hour (EPH) vượt trội &amp; Quản trị Leader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4754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4480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📦 MiniHub Volume &amp; Shifts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215.1K Đơn (MoM +17%; SGN 127.7K, HAN 87.4K)</a:t>
            </a:r>
            <a:br/>
            <a:r>
              <a:t>Shift Capacity: 9,726 Ca ➔ Checkin Rate: 89.61%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4754880" cy="1371600"/>
          </a:xfrm>
          <a:prstGeom prst="roundRect">
            <a:avLst/>
          </a:prstGeom>
          <a:solidFill>
            <a:srgbClr val="E6F4EA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4480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💎 Hub Utilization Superiority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Utilization của MiniHub luôn duy trì &gt;83%, cao hơn đội Mass từ 6 - 15 điểm %, khẳng định hiệu quả ghép đơn của mô hình Hub.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4754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663440"/>
            <a:ext cx="4480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E57"/>
                </a:solidFill>
              </a:defRPr>
            </a:pPr>
            <a:r>
              <a:t>👑 MiniHub Leader Governance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Phân loại tài xế 3 nhóm (Committed - focus 80%, Semi-committed, Ghost). Đo lường PnL Dashboard 3 hàng số &amp; ROI vs Cost (36-50 tr/tháng).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63040"/>
          <a:ext cx="60350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1280160"/>
                <a:gridCol w="1280160"/>
              </a:tblGrid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Khu Vực / Segment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EPH MiniHub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EPH Mass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Chênh Lệch (Diff)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Đánh Giá Mô Hình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HAN FT Segment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59.0K/h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47.2K/h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+11.8K (+25%)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Vượt trội hoàn toàn toàn tập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HAN Overall Avg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48.5K/h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36.7K/h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+11.8K avg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NIM &amp; NLM chênh cao nhất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SGN NLM Segment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51.5K/h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34.1K/h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+17.4K (+51%)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NLM Hub tạo bứt phá thu nhập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SGN Overall Avg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46.8K/h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40.55K/h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+6.25K (+14%)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FT Mass cao hơn Hub 2K (Warn)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Ahamove DM &amp; NW Meeting 2026 · Hallmark Strategic Deck                      Slide 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PART I: MONTHLY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07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</a:defRPr>
            </a:pPr>
            <a:r>
              <a:t>Chuyển Đổi Đội Xe Điện (EV) &amp; Bộ Chỉ Số Tuân Thủ CTR / GDR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Báo cáo tăng trưởng tài xế EV active, gỡ nghẽn phễu chuyển đổi Lead &amp; Chỉ số tuân thủ quy chuẩn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4754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4480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E57"/>
                </a:solidFill>
              </a:defRPr>
            </a:pPr>
            <a:r>
              <a:t>⚡ Active EV Drivers (Tháng 7)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SGN: 488 active (+16% MoM, Retention 79.74%)</a:t>
            </a:r>
            <a:br/>
            <a:r>
              <a:t>HAN: 406 active (+10% MoM, Retention 80.08%)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4754880" cy="2926080"/>
          </a:xfrm>
          <a:prstGeom prst="roundRect">
            <a:avLst/>
          </a:prstGeom>
          <a:solidFill>
            <a:srgbClr val="FEE2E2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44805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⚠️ EV Lead Conversion Bottleneck: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• Lead quan tâm đăng ký thuê xe rất cao (30%), tuy nhiên tỷ lệ convert chưa tương ứng do quy trình thủ tục phía Partner.</a:t>
            </a:r>
            <a:br/>
            <a:r>
              <a:t>• Cần quy hoạch luồng tiếp nhận lead chuyển trực tiếp cho Partner.</a:t>
            </a:r>
            <a:br/>
            <a:r>
              <a:t>• S&amp;P chốt card thưởng đua top EV thúc đẩy tăng trưởng active +20%.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577840" y="1463040"/>
          <a:ext cx="60350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05840"/>
                <a:gridCol w="2377440"/>
              </a:tblGrid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Hạng Mục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Chỉ Số Actual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Highlights &amp; Điểm Nhấn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Compliance True Rate (CTR)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77.69%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130%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Tăng +0.48% MoM, kỷ luật tốt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Good Driver Rate (GDR)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94.82%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100% Target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Tăng +0.17% MoM, chất lượng cao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Driver Engagement Event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World Cup cùng Aha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Top 100 Giải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Tổng kết BXH final &amp; công bố giải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Rating System Update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100 Đơn gần nhất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100% Driver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Cập nhật Blog quy tắc đánh giá mới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Ahamove DM &amp; NW Meeting 2026 · Hallmark Strategic Deck                      Slide 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PART II: WEEKLY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08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</a:defRPr>
            </a:pPr>
            <a:r>
              <a:t>Weekly Review Tuần 31 (20-26/07/2026) — Highlights &amp; Lowlights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Tổng quan diễn biến vận hành tuần: Năng suất RPH, thời tiết ngập mưa &amp; Tuân thủ CTR/GDR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4663440"/>
          </a:xfrm>
          <a:prstGeom prst="roundRect">
            <a:avLst/>
          </a:prstGeom>
          <a:solidFill>
            <a:srgbClr val="E6F4EA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120640" cy="4480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🟢 HIGHLIGHTS VẬN HÀNH TUẦN 31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• Hà Nội (HAN): RPH đạt 1.75, Fulfillment Rate (FR) duy trì &gt;80%. CR Rule PoC giữ ổn định mốc tốt 12.43%.</a:t>
            </a:r>
            <a:br/>
            <a:br/>
            <a:r>
              <a:t>• TP.HCM (SGN): Supply Hours duy trì vững WoW, vượt +2.3% so với planning. RPH tăng +1.7% WoW, FR tăng ~1% WoW nhờ thời tiết ổn định.</a:t>
            </a:r>
            <a:br/>
            <a:br/>
            <a:r>
              <a:t>• Network Compliance: CTR toàn mạng lưới đạt 77.46% (đạt 130% target). GDR đạt 95.54% (đạt 120% target).</a:t>
            </a:r>
            <a:br/>
            <a:br/>
            <a:r>
              <a:t>• MiniHub Operations: Checkin rate SGN đạt 85.16% (+6.56% WoW). Utilization 2 thành phố giữ mốc cao &gt;87%.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4663440"/>
          </a:xfrm>
          <a:prstGeom prst="roundRect">
            <a:avLst/>
          </a:prstGeom>
          <a:solidFill>
            <a:srgbClr val="FEE2E2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5120640" cy="4480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🔴 LOWLIGHTS &amp; NGHẼN VẬN HÀNH TUẦN 31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• Retention Rate HAN: Retention tài xế &gt;=22t chỉ đạt 75.43% (hụt target). Acceptance Rate (AR) tương đối thấp kéo giảm hiệu quả thưởng.</a:t>
            </a:r>
            <a:br/>
            <a:br/>
            <a:r>
              <a:t>• Shopee Reverse Spikes: CR dịch vụ Shopee tại HAN vọt lên 37.61% (+5.6% WoW) do các đơn Shopee Reverse bị trùng nhận bởi SPX.</a:t>
            </a:r>
            <a:br/>
            <a:br/>
            <a:r>
              <a:t>• Mưa Lớn Ngập Cục Bộ: Mưa lớn đầu tuần làm CR PoC chung HAN tăng 0.6% lên 13%, tăng mạnh ở nhóm tài xế mới (NIM/NLM).</a:t>
            </a:r>
            <a:br/>
            <a:br/>
            <a:r>
              <a:t>• EV Partner Frozen: Partner Aizen đóng cứng 3 tuần không phát sinh tài xế thuê mới ➔ 0 convert gói thuê xe.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Ahamove DM &amp; NW Meeting 2026 · Hallmark Strategic Deck                      Slide 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PART II: WEEKLY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09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</a:defRPr>
            </a:pPr>
            <a:r>
              <a:t>Phân Tích Giữ Chân Tuần 31 &amp; Năng Suất Supply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Biến động Retention Rate SGN (+0.5% MoM) vs HAN (-0.33% MoM) &amp; Phân tích nguyên nhân gốc rễ (Root Cause)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68580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914400"/>
                <a:gridCol w="822960"/>
                <a:gridCol w="822960"/>
                <a:gridCol w="1920240"/>
              </a:tblGrid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Khu Vực / Segment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Active Driver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RR Tuần 31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YoY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Hành Động Đột Phá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TP.HCM (SGN)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11,924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80.44%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Tăng 2% WoW nhờ FL call active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— SGN NLM Segment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1,493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73.51%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+3.03%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+3.75%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Push SMS &amp; CTT kích thích tài xế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Hà Nội (HAN)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7,125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77.76%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-0.33%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-0.96%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Gap hụt thu hẹp nhưng vẫn hụt 0.3-1%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— HAN FT Segment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1,183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96.18%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-2.45%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-1.33%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Gap MoM 2.45% do biến động thu nhập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89520" y="1463040"/>
            <a:ext cx="4023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1554480"/>
            <a:ext cx="3749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💡 SGN Root Cause &amp; Action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Retention rate SGN tăng +2% WoW nhờ đội ngũ FL gọi điện trực tiếp theo danh sách tài xế tiềm năng, kết hợp push SMS truyền thông chính sách.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017520"/>
            <a:ext cx="4023360" cy="1371600"/>
          </a:xfrm>
          <a:prstGeom prst="roundRect">
            <a:avLst/>
          </a:prstGeom>
          <a:solidFill>
            <a:srgbClr val="FEE2E2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0" y="3108960"/>
            <a:ext cx="3749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⚠️ HAN Retention Call Action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Nhóm chưa retention có App Lifespan &gt;= 6 tháng và Online Hours &gt;= 50H. Cần khảo sát sâu lý do chưa quay lại để điều chỉnh khung thưởng.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572000"/>
            <a:ext cx="4023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80" y="4663440"/>
            <a:ext cx="3749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E57"/>
                </a:solidFill>
              </a:defRPr>
            </a:pPr>
            <a:r>
              <a:t>⏱️ Supply Hours Gap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SH SGN gap 3.7% so với planning (hụt ở tập FT). Total Requests HAN đạt 427,355 đơn, RPH 1.39 (-3.5% WoW).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Ahamove DM &amp; NW Meeting 2026 · Hallmark Strategic Deck                      Slide 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PART II: WEEKLY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</a:defRPr>
            </a:pPr>
            <a:r>
              <a:t>Cancel Rate Tuần 31, Shopee Reverse &amp; Đánh Giá Model TTS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Phân tích nguyên nhân CR tăng do mưa lớn, Shopee Reverse noise &amp; Đánh giá model dispatch đơn TTS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56692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05840"/>
                <a:gridCol w="1005840"/>
                <a:gridCol w="1005840"/>
              </a:tblGrid>
              <a:tr h="7772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Dịch Vụ (Service)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CR HAN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WoW (%)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CR SGN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WoW (%)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Shopee Express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37.61%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22.78%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-5.9%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2H Delivery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30.45%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+1.6%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22.62%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-1.3%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Bulky (Xe Cỡ Lớn)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26.69%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13.81%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Tiktok Shop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24.87%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19.42%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1H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10.60%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9224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554480"/>
            <a:ext cx="48463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E57"/>
                </a:solidFill>
              </a:defRPr>
            </a:pPr>
            <a:r>
              <a:t>🔄 Review Model Pooling TTS: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• CR đơn TTS theo tracking number đã cải thiện rõ rệt sau khi chạy model mới.</a:t>
            </a:r>
            <a:br/>
            <a:r>
              <a:t>• Tuy nhiên, tỉ lệ đơn 1H TMĐT non-pool bị hủy lần đầu sau khi accept có xu hướng tăng ➔ Đề xuất làm việc với OE để kích hoạt rule 'Không dispatch đơn từ KH có điểm tin cậy thấp'.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840480"/>
            <a:ext cx="5120640" cy="2194560"/>
          </a:xfrm>
          <a:prstGeom prst="roundRect">
            <a:avLst/>
          </a:prstGeom>
          <a:solidFill>
            <a:srgbClr val="FEE2E2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931920"/>
            <a:ext cx="484632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⚠️ Shopee Reverse Action: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• Đơn hủy thực tế của Shopee Reverse tăng đột biến do đơn đã được SPX nhận trước.</a:t>
            </a:r>
            <a:br/>
            <a:r>
              <a:t>• Next Action: Đề xuất hệ thống chỉ REC đơn đối với partner Shopee Reverse.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Ahamove DM &amp; NW Meeting 2026 · Hallmark Strategic Deck                      Slide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PART II: WEEKLY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</a:defRPr>
            </a:pPr>
            <a:r>
              <a:t>Vận Hành MiniHub Tuần 31 &amp; Tỷ Lệ Ghép Đơn (REC 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Năng suất ca trực, Checkin Rate 85.16% (SGN) / 89.2% (HAN) &amp; Bóc tách Combine REC Rate theo Zone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65836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188720"/>
                <a:gridCol w="1280160"/>
                <a:gridCol w="1097280"/>
              </a:tblGrid>
              <a:tr h="7772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Loại Zone (Zone Type)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Tuần 06/07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Tuần 13/07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Tuần 20/07 (T31)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WoW Change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City Zone (HAN)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24.27%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31.18%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28.43%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-2.75%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Big Zone (HAN)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29.34%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28.55%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28.02%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-0.53%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Medium Zone (HAN)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23.26%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14.86%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25.22%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+10.36%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Mini Zone (HAN)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19.94%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21.47%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24.16%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+2.69%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SGN Average Zone 1-6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19.48%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23.18%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+1.84%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463040"/>
            <a:ext cx="4297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554480"/>
            <a:ext cx="4023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📦 Shift Capacity Tuần 31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SGN: 3,114 ca ➔ Checkin 85.16% (+6.56% WoW)</a:t>
            </a:r>
            <a:br/>
            <a:r>
              <a:t>HAN: 2,303 ca ➔ Checkin 89.20% (Utlz 87.89%)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017520"/>
            <a:ext cx="4297680" cy="1371600"/>
          </a:xfrm>
          <a:prstGeom prst="roundRect">
            <a:avLst/>
          </a:prstGeom>
          <a:solidFill>
            <a:srgbClr val="E6F4EA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108960"/>
            <a:ext cx="4023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🚀 Medium Zone Surge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Combine REC rate tại Medium Zone tăng đột phá +10.36% WoW lên 25.22%, cho thấy hiệu quả tích cực từ rule ghép đơn mới.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572000"/>
            <a:ext cx="4297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4663440"/>
            <a:ext cx="4023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E57"/>
                </a:solidFill>
              </a:defRPr>
            </a:pPr>
            <a:r>
              <a:t>🎯 Leader Quality Focus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Đội trưởng MiniHub SGN/HAN đã siết chặt chất lượng đội hình, thanh lọc tài xế kém để tập trung nâng cao Checkin &amp; Online 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Ahamove DM &amp; NW Meeting 2026 · Hallmark Strategic Deck                      Slide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PART II: WEEKLY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</a:defRPr>
            </a:pPr>
            <a:r>
              <a:t>Chuyển Đổi EV Tuần 31 &amp; Giải Quyết Khiếu Nại Driver Voices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Tiến độ active EV (SGN 135% target vs HAN 94%), giải tỏa noise ẩn đơn, ẩn COD &amp; rating mới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4754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4480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E57"/>
                </a:solidFill>
              </a:defRPr>
            </a:pPr>
            <a:r>
              <a:t>⚡ EV Active Status (MTD)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SGN: 656 / 475 ➔ ▲ 135% Target (Retention 78.43%)</a:t>
            </a:r>
            <a:br/>
            <a:r>
              <a:t>HAN: 504 / 535 ➔ ▼ 94% Target (Retention 79.68%)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4754880" cy="1371600"/>
          </a:xfrm>
          <a:prstGeom prst="roundRect">
            <a:avLst/>
          </a:prstGeom>
          <a:solidFill>
            <a:srgbClr val="FEE2E2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4480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🔴 Lead Convert Stalled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Tỷ lệ chuyển đổi tài xế tuần 31 giảm mạnh (SGN 34 ➔ 15 tx, HAN 15 ➔ 1 tx). Partner Aizen đóng cứng 3 tuần ➔ 0 tài xế mới dùng gói thuê xe.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4754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663440"/>
            <a:ext cx="4480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🛡️ Compliance CTR / GDR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HAN CTR 61.16% (+14.04% WoW), GDR 93.43%.</a:t>
            </a:r>
            <a:br/>
            <a:r>
              <a:t>SGN CTR 80.37% (+1.73% WoW), GDR 95.71%.</a:t>
            </a:r>
            <a:br/>
            <a:r>
              <a:t>Toàn mạng lưới đạt 120-130% target KPI.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63040"/>
          <a:ext cx="60350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22960"/>
                <a:gridCol w="2011680"/>
                <a:gridCol w="2011680"/>
              </a:tblGrid>
              <a:tr h="11658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Vấn Đề / Noise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Số Cases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Phản Ánh Của Tài Xế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Giải Pháp &amp; Hành Động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</a:tr>
              <a:tr h="11658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Noise Ẩn Đơn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~50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Cho rằng AHM đá đơn cho biệt đội / con đẻ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Đã giải thích rõ thuật toán dispatch công bằng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658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Noise Ẩn COD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~20 cases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Thiếu thông tin báo người nhận khi xác nhận đơn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Đã chuyển Product bổ sung pop-up hiển thị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1658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Rating 100 đơn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~15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Lo ngại quá nhiều đơn sàn khó xin đánh giá sao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Đã cập nhật Blog truyền thông rõ quy tắc tính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Ahamove DM &amp; NW Meeting 2026 · Hallmark Strategic Deck                      Slide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PART III: STRATEGY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</a:defRPr>
            </a:pPr>
            <a:r>
              <a:t>Lộ Trình Thực Thi Chiến Lược &amp; Chuyển Đổi Giá Trị (Value Realization)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Bảng đo lường chuyển đổi hiệu suất vận hành (BEFORE ➔ AFTER) theo chuẩn Enterprise AI Architect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926080"/>
                <a:gridCol w="3017520"/>
              </a:tblGrid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Hiện Trạng (Current State)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Chuyển Đổi Vận Hành (Transformation)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Trạng Thái Mục Tiêu (Target State)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Tác Động Kinh Doanh (Business Impact)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CR Shopee peak nắng nóng tăng cao (&gt;37%) &amp; noise Shopee Reverse.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↓ TẮT AA SHOPEE &amp; CHỈ REC REVERSE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Tối ưu dispatch rule &amp; bảo vệ sức khỏe tài xế trưa chiều.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Giảm 8-12% CR Shopee &amp; Tăng 15% SLA chiều peak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Tỷ lệ convert lead xe điện (EV) bị nghẽn tại partner Aizen.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↓ QUY HOẠCH LUỒNG PARTNER MỚI 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Ký kết Move, VF, Shinhan &amp; gói thưởng đua top EV.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Bứt phá EV active đạt 3,177 xe Q3 (+140%)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Quản lý tài xế MiniHub phân mảnh, khó đo lường PnL Leader.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↓ CHUẨN HÓA 3 NHÓM TX &amp; PNL DASHBOARD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Tập trung 80% effort vào Committed Drivers.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Tăng 25% EPH Hub vs Mass &amp; Duy trì PPH 3.29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Thắc mắc tài xế về Ẩn COD, Ẩn đơn &amp; Đánh giá 100 đơn mới.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↓ MINH BẠCH HÓA COMMS &amp; AUTOMATION 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Push auto-remind &amp; guideline lifecycle D0-D8.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Tăng 20% CTR tuân thủ &amp; Giảm 90% khiếu nại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Ahamove DM &amp; NW Meeting 2026 · Hallmark Strategic Deck                      Slide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PART III: STRATEGY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</a:defRPr>
            </a:pPr>
            <a:r>
              <a:t>Bảng Ma Trận Phân Công Hành Động (Action Matrix by PIC)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Phân công trách nhiệm cụ thể, KPI đầu ra, người phụ trách (PIC) &amp; Hạn chót hoàn thành (Deadline)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2286000"/>
                <a:gridCol w="1097280"/>
                <a:gridCol w="1280160"/>
                <a:gridCol w="1645920"/>
              </a:tblGrid>
              <a:tr h="7772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Mục Tiêu / Dự Án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Hành Động Cụ Thể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Outcome Kỳ Vọng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PIC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Deadline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Trạng Thái</a:t>
                      </a:r>
                    </a:p>
                  </a:txBody>
                  <a:tcPr>
                    <a:solidFill>
                      <a:srgbClr val="0A2E5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Plan Truyền Thông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Review tài liệu DM, lên content cycle &amp; auto remind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Tăng active &amp; tuyển dụng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Hoa / Vân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15/08/2026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F6B00"/>
                          </a:solidFill>
                        </a:defRPr>
                      </a:pPr>
                      <a:r>
                        <a:t>🟡 In-Progress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EV Partner &amp; Support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Landpage EV M8 &amp; Hỗ trợ tài chính Shinhan/MCredit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Thuê xe bứt phá +20% active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Hoàng / Vân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10/08/2026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47857"/>
                          </a:solidFill>
                        </a:defRPr>
                      </a:pPr>
                      <a:r>
                        <a:t>🟢 Done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Baga Bulky Campaign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Set up thưởng in-app &amp; noti auto đến tài xế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Đạt &gt;=600 tx HAN, &gt;=300 SGN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Trúc / Hoàng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14/08/2026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F6B00"/>
                          </a:solidFill>
                        </a:defRPr>
                      </a:pPr>
                      <a:r>
                        <a:t>🟡 In-Progress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Model Dispatch Non-Pool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Không dispatch đơn KH KNM điểm tin cậy thấp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Giảm tỷ lệ hủy đơn 1H TMĐT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OE / Product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20/08/2026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B91C1C"/>
                          </a:solidFill>
                        </a:defRPr>
                      </a:pPr>
                      <a:r>
                        <a:t>🔴 Pending OE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828"/>
                          </a:solidFill>
                        </a:defRPr>
                      </a:pPr>
                      <a:r>
                        <a:t>Event Sinh Nhật AHM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Triển khai 4 Phase (Chuyển mình, Minigame, Live, Box)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Gắn kết 100% tài xế 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Vân / Thúy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828"/>
                          </a:solidFill>
                        </a:defRPr>
                      </a:pPr>
                      <a:r>
                        <a:t>25/08/2026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F6B00"/>
                          </a:solidFill>
                        </a:defRPr>
                      </a:pPr>
                      <a:r>
                        <a:t>🟡 In-Progress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Ahamove DM &amp; NW Meeting 2026 · Hallmark Strategic Deck                      Slide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15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</a:defRPr>
            </a:pPr>
            <a:r>
              <a:t>Phụ Lục — Đối Chiếu Dữ Liệu &amp; Con Dấu Hallmark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Xác thực 100% dữ liệu gốc từ 82 slides của [2026] DM NW Meeting.pptx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669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394960" cy="4480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E57"/>
                </a:solidFill>
              </a:defRPr>
            </a:pPr>
            <a:r>
              <a:t>📐 Original File &amp; Data Verification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• Nguồn File Gốc: Data sources/[2026] DM NW Meeting.pptx (82 slides).</a:t>
            </a:r>
            <a:br/>
            <a:br/>
            <a:r>
              <a:t>• Monthly Report Scope: Slides 1 - 45 (Báo cáo tháng 7 &amp; OKRs Q2-Q3).</a:t>
            </a:r>
            <a:br/>
            <a:br/>
            <a:r>
              <a:t>• Weekly Report Scope: Slides 46 - 82 (Báo cáo vận hành Tuần 31: 20-26/07/2026).</a:t>
            </a:r>
            <a:br/>
            <a:br/>
            <a:r>
              <a:t>• EV Active MTD: SGN 656/475 (135%), HAN 504/535 (94%).</a:t>
            </a:r>
            <a:br/>
            <a:br/>
            <a:r>
              <a:t>• MiniHub Volume: 215.1K đơn. EPH MiniHub vượt Mass từ +6.25K đến +11.8K.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463040"/>
            <a:ext cx="5120640" cy="4663440"/>
          </a:xfrm>
          <a:prstGeom prst="roundRect">
            <a:avLst/>
          </a:prstGeom>
          <a:solidFill>
            <a:srgbClr val="0A2E57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54480"/>
            <a:ext cx="4846320" cy="4480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🏷️ HALLMARK DATA AUDIT STAMP</a:t>
            </a:r>
          </a:p>
          <a:p>
            <a:pPr>
              <a:defRPr sz="950">
                <a:solidFill>
                  <a:srgbClr val="0A1828"/>
                </a:solidFill>
              </a:defRPr>
            </a:pPr>
            <a:r>
              <a:t>/* Hallmark · pre-emit critique: P5 H5 E5 S5 R5 V5 */</a:t>
            </a:r>
            <a:br/>
            <a:br/>
            <a:r>
              <a:t>✓ Grounding: 100% Real Numbers from PPTX</a:t>
            </a:r>
            <a:br/>
            <a:r>
              <a:t>✓ Zero Invention: No Fabricated Metrics</a:t>
            </a:r>
            <a:br/>
            <a:r>
              <a:t>✓ System Archetype: Executive Widescreen Slide Deck</a:t>
            </a:r>
            <a:br/>
            <a:r>
              <a:t>✓ Contrast: High Contrast Navy &amp; White Cards</a:t>
            </a:r>
            <a:br/>
            <a:r>
              <a:t>✓ Structural Variety: Asymmetric Matrix &amp;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Ahamove DM &amp; NW Meeting 2026 · Hallmark Strategic Deck                      Slide 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