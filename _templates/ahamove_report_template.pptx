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hamove_logo_transparent.png"/>
          <p:cNvPicPr>
            <a:picLocks noChangeAspect="1"/>
          </p:cNvPicPr>
          <p:nvPr/>
        </p:nvPicPr>
        <p:blipFill>
          <a:blip r:embed="rId2"/>
          <a:stretch>
            <a:fillRect/>
          </a:stretch>
        </p:blipFill>
        <p:spPr>
          <a:xfrm>
            <a:off x="365760" y="109728"/>
            <a:ext cx="1371600" cy="237744"/>
          </a:xfrm>
          <a:prstGeom prst="rect">
            <a:avLst/>
          </a:prstGeom>
        </p:spPr>
      </p:pic>
      <p:sp>
        <p:nvSpPr>
          <p:cNvPr id="3" name="TextBox 2"/>
          <p:cNvSpPr txBox="1"/>
          <p:nvPr/>
        </p:nvSpPr>
        <p:spPr>
          <a:xfrm>
            <a:off x="365760" y="411480"/>
            <a:ext cx="8961120" cy="731520"/>
          </a:xfrm>
          <a:prstGeom prst="rect">
            <a:avLst/>
          </a:prstGeom>
          <a:noFill/>
        </p:spPr>
        <p:txBody>
          <a:bodyPr wrap="square" lIns="0" tIns="0" rIns="0" bIns="0">
            <a:spAutoFit/>
          </a:bodyPr>
          <a:lstStyle/>
          <a:p>
            <a:r>
              <a:rPr sz="2200" b="1">
                <a:solidFill>
                  <a:srgbClr val="0A1D37"/>
                </a:solidFill>
                <a:latin typeface="Montserrat"/>
              </a:rPr>
              <a:t>SUPPLY PERFORMANCE</a:t>
            </a:r>
            <a:r>
              <a:rPr sz="2200" b="1">
                <a:solidFill>
                  <a:srgbClr val="FF5500"/>
                </a:solidFill>
                <a:latin typeface="Montserrat"/>
              </a:rPr>
              <a:t> Q2.2026</a:t>
            </a:r>
          </a:p>
          <a:p>
            <a:pPr>
              <a:defRPr sz="1050">
                <a:solidFill>
                  <a:srgbClr val="6B7280"/>
                </a:solidFill>
                <a:latin typeface="Arial"/>
              </a:defRPr>
            </a:pPr>
            <a:r>
              <a:t>Strong core. Accelerating new segments. Building engines for sustainable scale.</a:t>
            </a:r>
          </a:p>
        </p:txBody>
      </p:sp>
      <p:sp>
        <p:nvSpPr>
          <p:cNvPr id="4" name="Rounded Rectangle 3"/>
          <p:cNvSpPr/>
          <p:nvPr/>
        </p:nvSpPr>
        <p:spPr>
          <a:xfrm>
            <a:off x="9875520" y="228600"/>
            <a:ext cx="1920240" cy="502920"/>
          </a:xfrm>
          <a:prstGeom prst="roundRect">
            <a:avLst/>
          </a:prstGeom>
          <a:solidFill>
            <a:srgbClr val="0A1D37"/>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0" y="228600"/>
            <a:ext cx="1920240" cy="502920"/>
          </a:xfrm>
          <a:prstGeom prst="rect">
            <a:avLst/>
          </a:prstGeom>
          <a:noFill/>
        </p:spPr>
        <p:txBody>
          <a:bodyPr wrap="square" lIns="36576" rIns="36576" tIns="36576" bIns="36576">
            <a:spAutoFit/>
          </a:bodyPr>
          <a:lstStyle/>
          <a:p>
            <a:pPr algn="ctr">
              <a:defRPr sz="850" b="1">
                <a:solidFill>
                  <a:srgbClr val="FFFFFF"/>
                </a:solidFill>
                <a:latin typeface="Arial"/>
              </a:defRPr>
            </a:pPr>
            <a:r>
              <a:t>Q2.26</a:t>
            </a:r>
            <a:br/>
            <a:r>
              <a:t>SUPPLY PERFORMANCE</a:t>
            </a:r>
          </a:p>
        </p:txBody>
      </p:sp>
      <p:sp>
        <p:nvSpPr>
          <p:cNvPr id="6" name="Rounded Rectangle 5"/>
          <p:cNvSpPr/>
          <p:nvPr/>
        </p:nvSpPr>
        <p:spPr>
          <a:xfrm>
            <a:off x="365760" y="1097280"/>
            <a:ext cx="3383280" cy="47091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097280"/>
            <a:ext cx="3383280" cy="41148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15568"/>
            <a:ext cx="3108960" cy="365760"/>
          </a:xfrm>
          <a:prstGeom prst="rect">
            <a:avLst/>
          </a:prstGeom>
          <a:noFill/>
        </p:spPr>
        <p:txBody>
          <a:bodyPr wrap="square" lIns="18288" rIns="18288" tIns="18288" bIns="18288">
            <a:spAutoFit/>
          </a:bodyPr>
          <a:lstStyle/>
          <a:p>
            <a:pPr algn="l">
              <a:defRPr sz="1100" b="1">
                <a:solidFill>
                  <a:srgbClr val="FFFFFF"/>
                </a:solidFill>
                <a:latin typeface="Arial"/>
              </a:defRPr>
            </a:pPr>
            <a:r>
              <a:t>❶  ACTIVE DRIVER &amp; INCOME</a:t>
            </a:r>
          </a:p>
        </p:txBody>
      </p:sp>
      <p:sp>
        <p:nvSpPr>
          <p:cNvPr id="9" name="TextBox 8"/>
          <p:cNvSpPr txBox="1"/>
          <p:nvPr/>
        </p:nvSpPr>
        <p:spPr>
          <a:xfrm>
            <a:off x="548640" y="1645920"/>
            <a:ext cx="3017520" cy="274320"/>
          </a:xfrm>
          <a:prstGeom prst="rect">
            <a:avLst/>
          </a:prstGeom>
          <a:noFill/>
        </p:spPr>
        <p:txBody>
          <a:bodyPr wrap="square" lIns="18288" rIns="18288" tIns="18288" bIns="18288">
            <a:spAutoFit/>
          </a:bodyPr>
          <a:lstStyle/>
          <a:p>
            <a:pPr algn="l">
              <a:defRPr sz="1100" b="0">
                <a:solidFill>
                  <a:srgbClr val="6B7280"/>
                </a:solidFill>
                <a:latin typeface="Arial"/>
              </a:defRPr>
            </a:pPr>
            <a:r>
              <a:t>Tổng tài xế hoạt động</a:t>
            </a:r>
          </a:p>
        </p:txBody>
      </p:sp>
      <p:sp>
        <p:nvSpPr>
          <p:cNvPr id="10" name="TextBox 9"/>
          <p:cNvSpPr txBox="1"/>
          <p:nvPr/>
        </p:nvSpPr>
        <p:spPr>
          <a:xfrm>
            <a:off x="548640" y="1874519"/>
            <a:ext cx="1828800" cy="457200"/>
          </a:xfrm>
          <a:prstGeom prst="rect">
            <a:avLst/>
          </a:prstGeom>
          <a:noFill/>
        </p:spPr>
        <p:txBody>
          <a:bodyPr wrap="none">
            <a:spAutoFit/>
          </a:bodyPr>
          <a:lstStyle/>
          <a:p>
            <a:r>
              <a:rPr sz="2800" b="1">
                <a:solidFill>
                  <a:srgbClr val="0A1D37"/>
                </a:solidFill>
                <a:latin typeface="Montserrat"/>
              </a:rPr>
              <a:t>45,700</a:t>
            </a:r>
          </a:p>
        </p:txBody>
      </p:sp>
      <p:sp>
        <p:nvSpPr>
          <p:cNvPr id="11" name="TextBox 10"/>
          <p:cNvSpPr txBox="1"/>
          <p:nvPr/>
        </p:nvSpPr>
        <p:spPr>
          <a:xfrm>
            <a:off x="2286000" y="1965960"/>
            <a:ext cx="1280160" cy="365760"/>
          </a:xfrm>
          <a:prstGeom prst="rect">
            <a:avLst/>
          </a:prstGeom>
          <a:noFill/>
        </p:spPr>
        <p:txBody>
          <a:bodyPr wrap="none">
            <a:spAutoFit/>
          </a:bodyPr>
          <a:lstStyle/>
          <a:p>
            <a:r>
              <a:rPr sz="1100" b="1">
                <a:solidFill>
                  <a:srgbClr val="10B981"/>
                </a:solidFill>
                <a:latin typeface="Arial"/>
              </a:rPr>
              <a:t>▲ 8.12%
</a:t>
            </a:r>
            <a:r>
              <a:rPr sz="850">
                <a:solidFill>
                  <a:srgbClr val="6B7280"/>
                </a:solidFill>
                <a:latin typeface="Arial"/>
              </a:rPr>
              <a:t>YoY</a:t>
            </a:r>
          </a:p>
        </p:txBody>
      </p:sp>
      <p:sp>
        <p:nvSpPr>
          <p:cNvPr id="12" name="Rounded Rectangle 11"/>
          <p:cNvSpPr/>
          <p:nvPr/>
        </p:nvSpPr>
        <p:spPr>
          <a:xfrm>
            <a:off x="502920" y="2560320"/>
            <a:ext cx="310896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651760"/>
            <a:ext cx="2926080" cy="274320"/>
          </a:xfrm>
          <a:prstGeom prst="rect">
            <a:avLst/>
          </a:prstGeom>
          <a:noFill/>
        </p:spPr>
        <p:txBody>
          <a:bodyPr wrap="square" lIns="18288" rIns="18288" tIns="18288" bIns="18288">
            <a:spAutoFit/>
          </a:bodyPr>
          <a:lstStyle/>
          <a:p>
            <a:pPr algn="l">
              <a:defRPr sz="850" b="1">
                <a:solidFill>
                  <a:srgbClr val="0A1D37"/>
                </a:solidFill>
                <a:latin typeface="Arial"/>
              </a:defRPr>
            </a:pPr>
            <a:r>
              <a:t>QUY MÔ TÀI XẾ HOẠT ĐỘNG THEO KHU VỰC</a:t>
            </a:r>
          </a:p>
        </p:txBody>
      </p:sp>
      <p:sp>
        <p:nvSpPr>
          <p:cNvPr id="14" name="TextBox 13"/>
          <p:cNvSpPr txBox="1"/>
          <p:nvPr/>
        </p:nvSpPr>
        <p:spPr>
          <a:xfrm>
            <a:off x="594360" y="2971800"/>
            <a:ext cx="457200" cy="274320"/>
          </a:xfrm>
          <a:prstGeom prst="rect">
            <a:avLst/>
          </a:prstGeom>
          <a:noFill/>
        </p:spPr>
        <p:txBody>
          <a:bodyPr wrap="square" lIns="18288" rIns="18288" tIns="18288" bIns="18288">
            <a:spAutoFit/>
          </a:bodyPr>
          <a:lstStyle/>
          <a:p>
            <a:pPr algn="l">
              <a:defRPr sz="1050" b="1">
                <a:solidFill>
                  <a:srgbClr val="111827"/>
                </a:solidFill>
                <a:latin typeface="Arial"/>
              </a:defRPr>
            </a:pPr>
            <a:r>
              <a:t>HAN</a:t>
            </a:r>
          </a:p>
        </p:txBody>
      </p:sp>
      <p:sp>
        <p:nvSpPr>
          <p:cNvPr id="15" name="Rectangle 14"/>
          <p:cNvSpPr/>
          <p:nvPr/>
        </p:nvSpPr>
        <p:spPr>
          <a:xfrm>
            <a:off x="1143000" y="3044952"/>
            <a:ext cx="768096" cy="164592"/>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2926080"/>
            <a:ext cx="1005840" cy="274320"/>
          </a:xfrm>
          <a:prstGeom prst="rect">
            <a:avLst/>
          </a:prstGeom>
          <a:noFill/>
        </p:spPr>
        <p:txBody>
          <a:bodyPr wrap="none">
            <a:spAutoFit/>
          </a:bodyPr>
          <a:lstStyle/>
          <a:p>
            <a:r>
              <a:rPr sz="1000" b="1">
                <a:solidFill>
                  <a:srgbClr val="111827"/>
                </a:solidFill>
                <a:latin typeface="Arial"/>
              </a:rPr>
              <a:t>21,000
</a:t>
            </a:r>
            <a:r>
              <a:rPr sz="750" b="1">
                <a:solidFill>
                  <a:srgbClr val="10B981"/>
                </a:solidFill>
                <a:latin typeface="Arial"/>
              </a:rPr>
              <a:t>▲ 5.12%</a:t>
            </a:r>
          </a:p>
        </p:txBody>
      </p:sp>
      <p:sp>
        <p:nvSpPr>
          <p:cNvPr id="17" name="TextBox 16"/>
          <p:cNvSpPr txBox="1"/>
          <p:nvPr/>
        </p:nvSpPr>
        <p:spPr>
          <a:xfrm>
            <a:off x="594360" y="3429000"/>
            <a:ext cx="457200" cy="274320"/>
          </a:xfrm>
          <a:prstGeom prst="rect">
            <a:avLst/>
          </a:prstGeom>
          <a:noFill/>
        </p:spPr>
        <p:txBody>
          <a:bodyPr wrap="square" lIns="18288" rIns="18288" tIns="18288" bIns="18288">
            <a:spAutoFit/>
          </a:bodyPr>
          <a:lstStyle/>
          <a:p>
            <a:pPr algn="l">
              <a:defRPr sz="1050" b="1">
                <a:solidFill>
                  <a:srgbClr val="111827"/>
                </a:solidFill>
                <a:latin typeface="Arial"/>
              </a:defRPr>
            </a:pPr>
            <a:r>
              <a:t>SGN</a:t>
            </a:r>
          </a:p>
        </p:txBody>
      </p:sp>
      <p:sp>
        <p:nvSpPr>
          <p:cNvPr id="18" name="Rectangle 17"/>
          <p:cNvSpPr/>
          <p:nvPr/>
        </p:nvSpPr>
        <p:spPr>
          <a:xfrm>
            <a:off x="1143000" y="3502152"/>
            <a:ext cx="742492" cy="164592"/>
          </a:xfrm>
          <a:prstGeom prst="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3383280"/>
            <a:ext cx="1005840" cy="274320"/>
          </a:xfrm>
          <a:prstGeom prst="rect">
            <a:avLst/>
          </a:prstGeom>
          <a:noFill/>
        </p:spPr>
        <p:txBody>
          <a:bodyPr wrap="none">
            <a:spAutoFit/>
          </a:bodyPr>
          <a:lstStyle/>
          <a:p>
            <a:r>
              <a:rPr sz="1000" b="1">
                <a:solidFill>
                  <a:srgbClr val="111827"/>
                </a:solidFill>
                <a:latin typeface="Arial"/>
              </a:rPr>
              <a:t>20,400
</a:t>
            </a:r>
            <a:r>
              <a:rPr sz="750" b="1">
                <a:solidFill>
                  <a:srgbClr val="10B981"/>
                </a:solidFill>
                <a:latin typeface="Arial"/>
              </a:rPr>
              <a:t>▲ 8.35%</a:t>
            </a:r>
          </a:p>
        </p:txBody>
      </p:sp>
      <p:sp>
        <p:nvSpPr>
          <p:cNvPr id="20" name="TextBox 19"/>
          <p:cNvSpPr txBox="1"/>
          <p:nvPr/>
        </p:nvSpPr>
        <p:spPr>
          <a:xfrm>
            <a:off x="594360" y="3886200"/>
            <a:ext cx="457200" cy="274320"/>
          </a:xfrm>
          <a:prstGeom prst="rect">
            <a:avLst/>
          </a:prstGeom>
          <a:noFill/>
        </p:spPr>
        <p:txBody>
          <a:bodyPr wrap="square" lIns="18288" rIns="18288" tIns="18288" bIns="18288">
            <a:spAutoFit/>
          </a:bodyPr>
          <a:lstStyle/>
          <a:p>
            <a:pPr algn="l">
              <a:defRPr sz="1050" b="1">
                <a:solidFill>
                  <a:srgbClr val="111827"/>
                </a:solidFill>
                <a:latin typeface="Arial"/>
              </a:defRPr>
            </a:pPr>
            <a:r>
              <a:t>EXP</a:t>
            </a:r>
          </a:p>
        </p:txBody>
      </p:sp>
      <p:sp>
        <p:nvSpPr>
          <p:cNvPr id="21" name="Rectangle 20"/>
          <p:cNvSpPr/>
          <p:nvPr/>
        </p:nvSpPr>
        <p:spPr>
          <a:xfrm>
            <a:off x="1143000" y="3959352"/>
            <a:ext cx="153619" cy="16459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4600" y="3840480"/>
            <a:ext cx="1005840" cy="274320"/>
          </a:xfrm>
          <a:prstGeom prst="rect">
            <a:avLst/>
          </a:prstGeom>
          <a:noFill/>
        </p:spPr>
        <p:txBody>
          <a:bodyPr wrap="none">
            <a:spAutoFit/>
          </a:bodyPr>
          <a:lstStyle/>
          <a:p>
            <a:r>
              <a:rPr sz="1000" b="1">
                <a:solidFill>
                  <a:srgbClr val="111827"/>
                </a:solidFill>
                <a:latin typeface="Arial"/>
              </a:rPr>
              <a:t>4,300
</a:t>
            </a:r>
            <a:r>
              <a:rPr sz="750" b="1">
                <a:solidFill>
                  <a:srgbClr val="10B981"/>
                </a:solidFill>
                <a:latin typeface="Arial"/>
              </a:rPr>
              <a:t>▲ 2.44%</a:t>
            </a:r>
          </a:p>
        </p:txBody>
      </p:sp>
      <p:sp>
        <p:nvSpPr>
          <p:cNvPr id="23" name="Rounded Rectangle 22"/>
          <p:cNvSpPr/>
          <p:nvPr/>
        </p:nvSpPr>
        <p:spPr>
          <a:xfrm>
            <a:off x="502920" y="4663440"/>
            <a:ext cx="3108960" cy="100584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709160"/>
            <a:ext cx="2926080" cy="228600"/>
          </a:xfrm>
          <a:prstGeom prst="rect">
            <a:avLst/>
          </a:prstGeom>
          <a:noFill/>
        </p:spPr>
        <p:txBody>
          <a:bodyPr wrap="square" lIns="18288" rIns="18288" tIns="18288" bIns="18288">
            <a:spAutoFit/>
          </a:bodyPr>
          <a:lstStyle/>
          <a:p>
            <a:pPr algn="l">
              <a:defRPr sz="850" b="0">
                <a:solidFill>
                  <a:srgbClr val="6B7280"/>
                </a:solidFill>
                <a:latin typeface="Arial"/>
              </a:defRPr>
            </a:pPr>
            <a:r>
              <a:t>Thu nhập / giờ tài xế (EPH)</a:t>
            </a:r>
          </a:p>
        </p:txBody>
      </p:sp>
      <p:sp>
        <p:nvSpPr>
          <p:cNvPr id="25" name="TextBox 24"/>
          <p:cNvSpPr txBox="1"/>
          <p:nvPr/>
        </p:nvSpPr>
        <p:spPr>
          <a:xfrm>
            <a:off x="594360" y="4892040"/>
            <a:ext cx="2926080" cy="411480"/>
          </a:xfrm>
          <a:prstGeom prst="rect">
            <a:avLst/>
          </a:prstGeom>
          <a:noFill/>
        </p:spPr>
        <p:txBody>
          <a:bodyPr wrap="none">
            <a:spAutoFit/>
          </a:bodyPr>
          <a:lstStyle/>
          <a:p>
            <a:r>
              <a:rPr sz="2000" b="1">
                <a:solidFill>
                  <a:srgbClr val="10B981"/>
                </a:solidFill>
                <a:latin typeface="Montserrat"/>
              </a:rPr>
              <a:t>45K</a:t>
            </a:r>
            <a:r>
              <a:rPr sz="1000">
                <a:solidFill>
                  <a:srgbClr val="6B7280"/>
                </a:solidFill>
                <a:latin typeface="Arial"/>
              </a:rPr>
              <a:t>/giờ   </a:t>
            </a:r>
            <a:r>
              <a:rPr sz="1050" b="1">
                <a:solidFill>
                  <a:srgbClr val="10B981"/>
                </a:solidFill>
                <a:latin typeface="Arial"/>
              </a:rPr>
              <a:t>▲ 18% YoY</a:t>
            </a:r>
          </a:p>
        </p:txBody>
      </p:sp>
      <p:sp>
        <p:nvSpPr>
          <p:cNvPr id="26" name="TextBox 25"/>
          <p:cNvSpPr txBox="1"/>
          <p:nvPr/>
        </p:nvSpPr>
        <p:spPr>
          <a:xfrm>
            <a:off x="594360" y="5349240"/>
            <a:ext cx="2926080" cy="274320"/>
          </a:xfrm>
          <a:prstGeom prst="rect">
            <a:avLst/>
          </a:prstGeom>
          <a:noFill/>
        </p:spPr>
        <p:txBody>
          <a:bodyPr wrap="square" lIns="18288" rIns="18288" tIns="18288" bIns="18288">
            <a:spAutoFit/>
          </a:bodyPr>
          <a:lstStyle/>
          <a:p>
            <a:pPr algn="l">
              <a:defRPr sz="800" b="1">
                <a:solidFill>
                  <a:srgbClr val="0A1D37"/>
                </a:solidFill>
                <a:latin typeface="Arial"/>
              </a:defRPr>
            </a:pPr>
            <a:r>
              <a:t>Hiệu quả &amp; chất lượng vận hành cải thiện rõ rệt</a:t>
            </a:r>
          </a:p>
        </p:txBody>
      </p:sp>
      <p:sp>
        <p:nvSpPr>
          <p:cNvPr id="27" name="Rounded Rectangle 26"/>
          <p:cNvSpPr/>
          <p:nvPr/>
        </p:nvSpPr>
        <p:spPr>
          <a:xfrm>
            <a:off x="3886200" y="1097280"/>
            <a:ext cx="4389120" cy="47091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86200" y="1097280"/>
            <a:ext cx="4389120" cy="41148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23360" y="1115568"/>
            <a:ext cx="4114800" cy="365760"/>
          </a:xfrm>
          <a:prstGeom prst="rect">
            <a:avLst/>
          </a:prstGeom>
          <a:noFill/>
        </p:spPr>
        <p:txBody>
          <a:bodyPr wrap="square" lIns="18288" rIns="18288" tIns="18288" bIns="18288">
            <a:spAutoFit/>
          </a:bodyPr>
          <a:lstStyle/>
          <a:p>
            <a:pPr algn="l">
              <a:defRPr sz="1100" b="1">
                <a:solidFill>
                  <a:srgbClr val="FFFFFF"/>
                </a:solidFill>
                <a:latin typeface="Arial"/>
              </a:defRPr>
            </a:pPr>
            <a:r>
              <a:t>❷  DEMAND &amp; NĂNG SUẤT: 2 THỊ TRƯỜNG LỚN</a:t>
            </a:r>
          </a:p>
        </p:txBody>
      </p:sp>
      <p:sp>
        <p:nvSpPr>
          <p:cNvPr id="30" name="Rounded Rectangle 29"/>
          <p:cNvSpPr/>
          <p:nvPr/>
        </p:nvSpPr>
        <p:spPr>
          <a:xfrm>
            <a:off x="4023360" y="1645920"/>
            <a:ext cx="2011680" cy="3017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389120" y="1737360"/>
            <a:ext cx="1280160" cy="320040"/>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1755648"/>
            <a:ext cx="1280160" cy="320040"/>
          </a:xfrm>
          <a:prstGeom prst="rect">
            <a:avLst/>
          </a:prstGeom>
          <a:noFill/>
        </p:spPr>
        <p:txBody>
          <a:bodyPr wrap="square" lIns="18288" rIns="18288" tIns="18288" bIns="18288">
            <a:spAutoFit/>
          </a:bodyPr>
          <a:lstStyle/>
          <a:p>
            <a:pPr algn="ctr">
              <a:defRPr sz="1100" b="1">
                <a:solidFill>
                  <a:srgbClr val="FFFFFF"/>
                </a:solidFill>
                <a:latin typeface="Arial"/>
              </a:defRPr>
            </a:pPr>
            <a:r>
              <a:t>HAN</a:t>
            </a:r>
          </a:p>
        </p:txBody>
      </p:sp>
      <p:sp>
        <p:nvSpPr>
          <p:cNvPr id="33" name="TextBox 32"/>
          <p:cNvSpPr txBox="1"/>
          <p:nvPr/>
        </p:nvSpPr>
        <p:spPr>
          <a:xfrm>
            <a:off x="4114800" y="2194560"/>
            <a:ext cx="1828800" cy="502920"/>
          </a:xfrm>
          <a:prstGeom prst="rect">
            <a:avLst/>
          </a:prstGeom>
          <a:noFill/>
        </p:spPr>
        <p:txBody>
          <a:bodyPr wrap="square" lIns="18288" rIns="18288" tIns="18288" bIns="18288">
            <a:spAutoFit/>
          </a:bodyPr>
          <a:lstStyle/>
          <a:p>
            <a:pPr algn="ctr">
              <a:defRPr sz="1050" b="1">
                <a:solidFill>
                  <a:srgbClr val="DC2626"/>
                </a:solidFill>
                <a:latin typeface="Arial"/>
              </a:defRPr>
            </a:pPr>
            <a:r>
              <a:t>▼ 6%</a:t>
            </a:r>
            <a:br/>
            <a:r>
              <a:t>Demand YoY</a:t>
            </a:r>
          </a:p>
        </p:txBody>
      </p:sp>
      <p:sp>
        <p:nvSpPr>
          <p:cNvPr id="34" name="TextBox 33"/>
          <p:cNvSpPr txBox="1"/>
          <p:nvPr/>
        </p:nvSpPr>
        <p:spPr>
          <a:xfrm>
            <a:off x="4114800" y="2743200"/>
            <a:ext cx="1828800" cy="502920"/>
          </a:xfrm>
          <a:prstGeom prst="rect">
            <a:avLst/>
          </a:prstGeom>
          <a:noFill/>
        </p:spPr>
        <p:txBody>
          <a:bodyPr wrap="square" lIns="18288" rIns="18288" tIns="18288" bIns="18288">
            <a:spAutoFit/>
          </a:bodyPr>
          <a:lstStyle/>
          <a:p>
            <a:pPr algn="ctr">
              <a:defRPr sz="1050" b="1">
                <a:solidFill>
                  <a:srgbClr val="DC2626"/>
                </a:solidFill>
                <a:latin typeface="Arial"/>
              </a:defRPr>
            </a:pPr>
            <a:r>
              <a:t>▼ 8%</a:t>
            </a:r>
            <a:br/>
            <a:r>
              <a:t>Năng suất YoY</a:t>
            </a:r>
          </a:p>
        </p:txBody>
      </p:sp>
      <p:sp>
        <p:nvSpPr>
          <p:cNvPr id="35" name="Rounded Rectangle 34"/>
          <p:cNvSpPr/>
          <p:nvPr/>
        </p:nvSpPr>
        <p:spPr>
          <a:xfrm>
            <a:off x="4206240" y="3383280"/>
            <a:ext cx="1645920" cy="7315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0" y="3749039"/>
            <a:ext cx="1097280" cy="36576"/>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26480" y="1645920"/>
            <a:ext cx="2011680" cy="30175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492240" y="1737360"/>
            <a:ext cx="1280160" cy="32004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92240" y="1755648"/>
            <a:ext cx="1280160" cy="320040"/>
          </a:xfrm>
          <a:prstGeom prst="rect">
            <a:avLst/>
          </a:prstGeom>
          <a:noFill/>
        </p:spPr>
        <p:txBody>
          <a:bodyPr wrap="square" lIns="18288" rIns="18288" tIns="18288" bIns="18288">
            <a:spAutoFit/>
          </a:bodyPr>
          <a:lstStyle/>
          <a:p>
            <a:pPr algn="ctr">
              <a:defRPr sz="1100" b="1">
                <a:solidFill>
                  <a:srgbClr val="FFFFFF"/>
                </a:solidFill>
                <a:latin typeface="Arial"/>
              </a:defRPr>
            </a:pPr>
            <a:r>
              <a:t>SGN</a:t>
            </a:r>
          </a:p>
        </p:txBody>
      </p:sp>
      <p:sp>
        <p:nvSpPr>
          <p:cNvPr id="40" name="TextBox 39"/>
          <p:cNvSpPr txBox="1"/>
          <p:nvPr/>
        </p:nvSpPr>
        <p:spPr>
          <a:xfrm>
            <a:off x="6217920" y="2194560"/>
            <a:ext cx="1828800" cy="502920"/>
          </a:xfrm>
          <a:prstGeom prst="rect">
            <a:avLst/>
          </a:prstGeom>
          <a:noFill/>
        </p:spPr>
        <p:txBody>
          <a:bodyPr wrap="square" lIns="18288" rIns="18288" tIns="18288" bIns="18288">
            <a:spAutoFit/>
          </a:bodyPr>
          <a:lstStyle/>
          <a:p>
            <a:pPr algn="ctr">
              <a:defRPr sz="1050" b="1">
                <a:solidFill>
                  <a:srgbClr val="1E40AF"/>
                </a:solidFill>
                <a:latin typeface="Arial"/>
              </a:defRPr>
            </a:pPr>
            <a:r>
              <a:t>▲ 8%</a:t>
            </a:r>
            <a:br/>
            <a:r>
              <a:t>Demand YoY</a:t>
            </a:r>
          </a:p>
        </p:txBody>
      </p:sp>
      <p:sp>
        <p:nvSpPr>
          <p:cNvPr id="41" name="TextBox 40"/>
          <p:cNvSpPr txBox="1"/>
          <p:nvPr/>
        </p:nvSpPr>
        <p:spPr>
          <a:xfrm>
            <a:off x="6217920" y="2743200"/>
            <a:ext cx="1828800" cy="502920"/>
          </a:xfrm>
          <a:prstGeom prst="rect">
            <a:avLst/>
          </a:prstGeom>
          <a:noFill/>
        </p:spPr>
        <p:txBody>
          <a:bodyPr wrap="square" lIns="18288" rIns="18288" tIns="18288" bIns="18288">
            <a:spAutoFit/>
          </a:bodyPr>
          <a:lstStyle/>
          <a:p>
            <a:pPr algn="ctr">
              <a:defRPr sz="1050" b="1">
                <a:solidFill>
                  <a:srgbClr val="1E40AF"/>
                </a:solidFill>
                <a:latin typeface="Arial"/>
              </a:defRPr>
            </a:pPr>
            <a:r>
              <a:t>▲ 8%</a:t>
            </a:r>
            <a:br/>
            <a:r>
              <a:t>Năng suất YoY</a:t>
            </a:r>
          </a:p>
        </p:txBody>
      </p:sp>
      <p:sp>
        <p:nvSpPr>
          <p:cNvPr id="42" name="Rounded Rectangle 41"/>
          <p:cNvSpPr/>
          <p:nvPr/>
        </p:nvSpPr>
        <p:spPr>
          <a:xfrm>
            <a:off x="6309360" y="3383280"/>
            <a:ext cx="1645920" cy="7315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92240" y="3566160"/>
            <a:ext cx="1097280" cy="36576"/>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0" y="4754880"/>
            <a:ext cx="3931920" cy="457200"/>
          </a:xfrm>
          <a:prstGeom prst="rect">
            <a:avLst/>
          </a:prstGeom>
          <a:noFill/>
        </p:spPr>
        <p:txBody>
          <a:bodyPr wrap="square" lIns="18288" rIns="18288" tIns="18288" bIns="18288">
            <a:spAutoFit/>
          </a:bodyPr>
          <a:lstStyle/>
          <a:p>
            <a:pPr algn="l">
              <a:defRPr sz="850" b="1">
                <a:solidFill>
                  <a:srgbClr val="DC2626"/>
                </a:solidFill>
                <a:latin typeface="Arial"/>
              </a:defRPr>
            </a:pPr>
            <a:r>
              <a:t>🎯 Thách thức tại HAN: Demand giảm 6% YoY và năng suất giảm 8% YoY do biến động cung-cầu.</a:t>
            </a:r>
          </a:p>
        </p:txBody>
      </p:sp>
      <p:sp>
        <p:nvSpPr>
          <p:cNvPr id="45" name="TextBox 44"/>
          <p:cNvSpPr txBox="1"/>
          <p:nvPr/>
        </p:nvSpPr>
        <p:spPr>
          <a:xfrm>
            <a:off x="4114800" y="5257800"/>
            <a:ext cx="3931920" cy="457200"/>
          </a:xfrm>
          <a:prstGeom prst="rect">
            <a:avLst/>
          </a:prstGeom>
          <a:noFill/>
        </p:spPr>
        <p:txBody>
          <a:bodyPr wrap="square" lIns="18288" rIns="18288" tIns="18288" bIns="18288">
            <a:spAutoFit/>
          </a:bodyPr>
          <a:lstStyle/>
          <a:p>
            <a:pPr algn="l">
              <a:defRPr sz="850" b="1">
                <a:solidFill>
                  <a:srgbClr val="0A1D37"/>
                </a:solidFill>
                <a:latin typeface="Arial"/>
              </a:defRPr>
            </a:pPr>
            <a:r>
              <a:t>📈 SGN tăng trưởng mạnh: Vận hành tối ưu giúp duy trì đà tăng trưởng đồng đều cả demand &amp; năng suất.</a:t>
            </a:r>
          </a:p>
        </p:txBody>
      </p:sp>
      <p:sp>
        <p:nvSpPr>
          <p:cNvPr id="46" name="Rounded Rectangle 45"/>
          <p:cNvSpPr/>
          <p:nvPr/>
        </p:nvSpPr>
        <p:spPr>
          <a:xfrm>
            <a:off x="8412480" y="1097280"/>
            <a:ext cx="3410712" cy="47091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412480" y="1097280"/>
            <a:ext cx="3410712" cy="411480"/>
          </a:xfrm>
          <a:prstGeom prst="round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49640" y="1115568"/>
            <a:ext cx="3108960" cy="365760"/>
          </a:xfrm>
          <a:prstGeom prst="rect">
            <a:avLst/>
          </a:prstGeom>
          <a:noFill/>
        </p:spPr>
        <p:txBody>
          <a:bodyPr wrap="square" lIns="18288" rIns="18288" tIns="18288" bIns="18288">
            <a:spAutoFit/>
          </a:bodyPr>
          <a:lstStyle/>
          <a:p>
            <a:pPr algn="l">
              <a:defRPr sz="1100" b="1">
                <a:solidFill>
                  <a:srgbClr val="FFFFFF"/>
                </a:solidFill>
                <a:latin typeface="Arial"/>
              </a:defRPr>
            </a:pPr>
            <a:r>
              <a:t>❸  Q2 GROWTH HIGHLIGHTS</a:t>
            </a:r>
          </a:p>
        </p:txBody>
      </p:sp>
      <p:sp>
        <p:nvSpPr>
          <p:cNvPr id="49" name="Rounded Rectangle 48"/>
          <p:cNvSpPr/>
          <p:nvPr/>
        </p:nvSpPr>
        <p:spPr>
          <a:xfrm>
            <a:off x="8549640" y="1645920"/>
            <a:ext cx="3136392" cy="123444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686800" y="1847088"/>
            <a:ext cx="822960" cy="822960"/>
          </a:xfrm>
          <a:prstGeom prst="ellipse">
            <a:avLst/>
          </a:prstGeom>
          <a:solidFill>
            <a:srgbClr val="FFFFFF"/>
          </a:solidFill>
          <a:ln w="1905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86800" y="1965960"/>
            <a:ext cx="822960" cy="548640"/>
          </a:xfrm>
          <a:prstGeom prst="rect">
            <a:avLst/>
          </a:prstGeom>
          <a:noFill/>
        </p:spPr>
        <p:txBody>
          <a:bodyPr wrap="square" lIns="18288" rIns="18288" tIns="18288" bIns="18288">
            <a:spAutoFit/>
          </a:bodyPr>
          <a:lstStyle/>
          <a:p>
            <a:pPr algn="ctr">
              <a:defRPr sz="2400" b="0">
                <a:solidFill>
                  <a:srgbClr val="FF5500"/>
                </a:solidFill>
                <a:latin typeface="Arial"/>
              </a:defRPr>
            </a:pPr>
            <a:r>
              <a:t>🚚</a:t>
            </a:r>
          </a:p>
        </p:txBody>
      </p:sp>
      <p:sp>
        <p:nvSpPr>
          <p:cNvPr id="52" name="TextBox 51"/>
          <p:cNvSpPr txBox="1"/>
          <p:nvPr/>
        </p:nvSpPr>
        <p:spPr>
          <a:xfrm>
            <a:off x="9646920" y="1737360"/>
            <a:ext cx="1920240" cy="1051560"/>
          </a:xfrm>
          <a:prstGeom prst="rect">
            <a:avLst/>
          </a:prstGeom>
          <a:noFill/>
        </p:spPr>
        <p:txBody>
          <a:bodyPr wrap="none">
            <a:spAutoFit/>
          </a:bodyPr>
          <a:lstStyle/>
          <a:p>
            <a:r>
              <a:rPr sz="1100" b="1">
                <a:solidFill>
                  <a:srgbClr val="FF5500"/>
                </a:solidFill>
                <a:latin typeface="Arial"/>
              </a:rPr>
              <a:t>TRUCK
</a:t>
            </a:r>
            <a:r>
              <a:rPr sz="2000" b="1">
                <a:solidFill>
                  <a:srgbClr val="0A1D37"/>
                </a:solidFill>
                <a:latin typeface="Montserrat"/>
              </a:rPr>
              <a:t>1,387 </a:t>
            </a:r>
            <a:r>
              <a:rPr sz="850">
                <a:solidFill>
                  <a:srgbClr val="6B7280"/>
                </a:solidFill>
                <a:latin typeface="Arial"/>
              </a:rPr>
              <a:t>DFD
</a:t>
            </a:r>
            <a:r>
              <a:rPr sz="950" b="1">
                <a:solidFill>
                  <a:srgbClr val="FF5500"/>
                </a:solidFill>
                <a:latin typeface="Arial"/>
              </a:rPr>
              <a:t>▲ 30.2% QoQ</a:t>
            </a:r>
          </a:p>
        </p:txBody>
      </p:sp>
      <p:sp>
        <p:nvSpPr>
          <p:cNvPr id="53" name="Rounded Rectangle 52"/>
          <p:cNvSpPr/>
          <p:nvPr/>
        </p:nvSpPr>
        <p:spPr>
          <a:xfrm>
            <a:off x="8549640" y="3017520"/>
            <a:ext cx="3136392" cy="123444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686800" y="3218688"/>
            <a:ext cx="822960" cy="822960"/>
          </a:xfrm>
          <a:prstGeom prst="ellipse">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0" y="3337560"/>
            <a:ext cx="822960" cy="548640"/>
          </a:xfrm>
          <a:prstGeom prst="rect">
            <a:avLst/>
          </a:prstGeom>
          <a:noFill/>
        </p:spPr>
        <p:txBody>
          <a:bodyPr wrap="square" lIns="18288" rIns="18288" tIns="18288" bIns="18288">
            <a:spAutoFit/>
          </a:bodyPr>
          <a:lstStyle/>
          <a:p>
            <a:pPr algn="ctr">
              <a:defRPr sz="2400" b="0">
                <a:solidFill>
                  <a:srgbClr val="7C3AED"/>
                </a:solidFill>
                <a:latin typeface="Arial"/>
              </a:defRPr>
            </a:pPr>
            <a:r>
              <a:t>📢</a:t>
            </a:r>
          </a:p>
        </p:txBody>
      </p:sp>
      <p:sp>
        <p:nvSpPr>
          <p:cNvPr id="56" name="TextBox 55"/>
          <p:cNvSpPr txBox="1"/>
          <p:nvPr/>
        </p:nvSpPr>
        <p:spPr>
          <a:xfrm>
            <a:off x="9646920" y="3108960"/>
            <a:ext cx="1920240" cy="1051560"/>
          </a:xfrm>
          <a:prstGeom prst="rect">
            <a:avLst/>
          </a:prstGeom>
          <a:noFill/>
        </p:spPr>
        <p:txBody>
          <a:bodyPr wrap="none">
            <a:spAutoFit/>
          </a:bodyPr>
          <a:lstStyle/>
          <a:p>
            <a:r>
              <a:rPr sz="1100" b="1">
                <a:solidFill>
                  <a:srgbClr val="7C3AED"/>
                </a:solidFill>
                <a:latin typeface="Arial"/>
              </a:rPr>
              <a:t>DECAL
</a:t>
            </a:r>
            <a:r>
              <a:rPr sz="2000" b="1">
                <a:solidFill>
                  <a:srgbClr val="0A1D37"/>
                </a:solidFill>
                <a:latin typeface="Montserrat"/>
              </a:rPr>
              <a:t>1,515 </a:t>
            </a:r>
            <a:r>
              <a:rPr sz="850">
                <a:solidFill>
                  <a:srgbClr val="6B7280"/>
                </a:solidFill>
                <a:latin typeface="Arial"/>
              </a:rPr>
              <a:t>Active
</a:t>
            </a:r>
            <a:r>
              <a:rPr sz="950" b="1">
                <a:solidFill>
                  <a:srgbClr val="7C3AED"/>
                </a:solidFill>
                <a:latin typeface="Arial"/>
              </a:rPr>
              <a:t>▲ 138.5% QoQ</a:t>
            </a:r>
          </a:p>
        </p:txBody>
      </p:sp>
      <p:sp>
        <p:nvSpPr>
          <p:cNvPr id="57" name="Rounded Rectangle 56"/>
          <p:cNvSpPr/>
          <p:nvPr/>
        </p:nvSpPr>
        <p:spPr>
          <a:xfrm>
            <a:off x="8549640" y="4389120"/>
            <a:ext cx="3136392" cy="123444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686800" y="4590288"/>
            <a:ext cx="822960" cy="822960"/>
          </a:xfrm>
          <a:prstGeom prst="ellipse">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86800" y="4709160"/>
            <a:ext cx="822960" cy="548640"/>
          </a:xfrm>
          <a:prstGeom prst="rect">
            <a:avLst/>
          </a:prstGeom>
          <a:noFill/>
        </p:spPr>
        <p:txBody>
          <a:bodyPr wrap="square" lIns="18288" rIns="18288" tIns="18288" bIns="18288">
            <a:spAutoFit/>
          </a:bodyPr>
          <a:lstStyle/>
          <a:p>
            <a:pPr algn="ctr">
              <a:defRPr sz="2400" b="0">
                <a:solidFill>
                  <a:srgbClr val="10B981"/>
                </a:solidFill>
                <a:latin typeface="Arial"/>
              </a:defRPr>
            </a:pPr>
            <a:r>
              <a:t>⚡</a:t>
            </a:r>
          </a:p>
        </p:txBody>
      </p:sp>
      <p:sp>
        <p:nvSpPr>
          <p:cNvPr id="60" name="TextBox 59"/>
          <p:cNvSpPr txBox="1"/>
          <p:nvPr/>
        </p:nvSpPr>
        <p:spPr>
          <a:xfrm>
            <a:off x="9646920" y="4480560"/>
            <a:ext cx="1920240" cy="1051560"/>
          </a:xfrm>
          <a:prstGeom prst="rect">
            <a:avLst/>
          </a:prstGeom>
          <a:noFill/>
        </p:spPr>
        <p:txBody>
          <a:bodyPr wrap="none">
            <a:spAutoFit/>
          </a:bodyPr>
          <a:lstStyle/>
          <a:p>
            <a:r>
              <a:rPr sz="1100" b="1">
                <a:solidFill>
                  <a:srgbClr val="10B981"/>
                </a:solidFill>
                <a:latin typeface="Arial"/>
              </a:rPr>
              <a:t>EV
</a:t>
            </a:r>
            <a:r>
              <a:rPr sz="2000" b="1">
                <a:solidFill>
                  <a:srgbClr val="0A1D37"/>
                </a:solidFill>
                <a:latin typeface="Montserrat"/>
              </a:rPr>
              <a:t>600 </a:t>
            </a:r>
            <a:r>
              <a:rPr sz="850">
                <a:solidFill>
                  <a:srgbClr val="6B7280"/>
                </a:solidFill>
                <a:latin typeface="Arial"/>
              </a:rPr>
              <a:t>NEW EV
</a:t>
            </a:r>
            <a:r>
              <a:rPr sz="950" b="1">
                <a:solidFill>
                  <a:srgbClr val="10B981"/>
                </a:solidFill>
                <a:latin typeface="Arial"/>
              </a:rPr>
              <a:t>▲ 3X QoQ</a:t>
            </a:r>
          </a:p>
        </p:txBody>
      </p:sp>
      <p:sp>
        <p:nvSpPr>
          <p:cNvPr id="61" name="Rounded Rectangle 60"/>
          <p:cNvSpPr/>
          <p:nvPr/>
        </p:nvSpPr>
        <p:spPr>
          <a:xfrm>
            <a:off x="365760" y="5989320"/>
            <a:ext cx="11457432" cy="50292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5760" y="5989320"/>
            <a:ext cx="2291486" cy="502920"/>
          </a:xfrm>
          <a:prstGeom prst="rect">
            <a:avLst/>
          </a:prstGeom>
          <a:noFill/>
        </p:spPr>
        <p:txBody>
          <a:bodyPr wrap="none" lIns="18288" rIns="18288" tIns="18288" bIns="18288">
            <a:spAutoFit/>
          </a:bodyPr>
          <a:lstStyle/>
          <a:p>
            <a:pPr algn="ctr"/>
            <a:r>
              <a:rPr sz="1100">
                <a:solidFill>
                  <a:srgbClr val="FF5500"/>
                </a:solidFill>
                <a:latin typeface="Arial"/>
              </a:rPr>
              <a:t>🎯  </a:t>
            </a:r>
            <a:r>
              <a:rPr sz="950" b="1">
                <a:solidFill>
                  <a:srgbClr val="FFFFFF"/>
                </a:solidFill>
                <a:latin typeface="Arial"/>
              </a:rPr>
              <a:t>CORE SUPPLY HEALTHY</a:t>
            </a:r>
          </a:p>
        </p:txBody>
      </p:sp>
      <p:sp>
        <p:nvSpPr>
          <p:cNvPr id="63" name="TextBox 62"/>
          <p:cNvSpPr txBox="1"/>
          <p:nvPr/>
        </p:nvSpPr>
        <p:spPr>
          <a:xfrm>
            <a:off x="2520086" y="5989320"/>
            <a:ext cx="274320" cy="502920"/>
          </a:xfrm>
          <a:prstGeom prst="rect">
            <a:avLst/>
          </a:prstGeom>
          <a:noFill/>
        </p:spPr>
        <p:txBody>
          <a:bodyPr wrap="none">
            <a:spAutoFit/>
          </a:bodyPr>
          <a:lstStyle/>
          <a:p>
            <a:pPr algn="ctr"/>
            <a:r>
              <a:rPr sz="1200">
                <a:solidFill>
                  <a:srgbClr val="FF5500"/>
                </a:solidFill>
                <a:latin typeface="Arial"/>
              </a:rPr>
              <a:t>➔</a:t>
            </a:r>
          </a:p>
        </p:txBody>
      </p:sp>
      <p:sp>
        <p:nvSpPr>
          <p:cNvPr id="64" name="TextBox 63"/>
          <p:cNvSpPr txBox="1"/>
          <p:nvPr/>
        </p:nvSpPr>
        <p:spPr>
          <a:xfrm>
            <a:off x="2657246" y="5989320"/>
            <a:ext cx="2291486" cy="502920"/>
          </a:xfrm>
          <a:prstGeom prst="rect">
            <a:avLst/>
          </a:prstGeom>
          <a:noFill/>
        </p:spPr>
        <p:txBody>
          <a:bodyPr wrap="none" lIns="18288" rIns="18288" tIns="18288" bIns="18288">
            <a:spAutoFit/>
          </a:bodyPr>
          <a:lstStyle/>
          <a:p>
            <a:pPr algn="ctr"/>
            <a:r>
              <a:rPr sz="1100">
                <a:solidFill>
                  <a:srgbClr val="FF5500"/>
                </a:solidFill>
                <a:latin typeface="Arial"/>
              </a:rPr>
              <a:t>👥  </a:t>
            </a:r>
            <a:r>
              <a:rPr sz="950" b="1">
                <a:solidFill>
                  <a:srgbClr val="FFFFFF"/>
                </a:solidFill>
                <a:latin typeface="Arial"/>
              </a:rPr>
              <a:t>NEW SEGMENTS PROVEN</a:t>
            </a:r>
          </a:p>
        </p:txBody>
      </p:sp>
      <p:sp>
        <p:nvSpPr>
          <p:cNvPr id="65" name="TextBox 64"/>
          <p:cNvSpPr txBox="1"/>
          <p:nvPr/>
        </p:nvSpPr>
        <p:spPr>
          <a:xfrm>
            <a:off x="4811572" y="5989320"/>
            <a:ext cx="274320" cy="502920"/>
          </a:xfrm>
          <a:prstGeom prst="rect">
            <a:avLst/>
          </a:prstGeom>
          <a:noFill/>
        </p:spPr>
        <p:txBody>
          <a:bodyPr wrap="none">
            <a:spAutoFit/>
          </a:bodyPr>
          <a:lstStyle/>
          <a:p>
            <a:pPr algn="ctr"/>
            <a:r>
              <a:rPr sz="1200">
                <a:solidFill>
                  <a:srgbClr val="FF5500"/>
                </a:solidFill>
                <a:latin typeface="Arial"/>
              </a:rPr>
              <a:t>➔</a:t>
            </a:r>
          </a:p>
        </p:txBody>
      </p:sp>
      <p:sp>
        <p:nvSpPr>
          <p:cNvPr id="66" name="TextBox 65"/>
          <p:cNvSpPr txBox="1"/>
          <p:nvPr/>
        </p:nvSpPr>
        <p:spPr>
          <a:xfrm>
            <a:off x="4948732" y="5989320"/>
            <a:ext cx="2291486" cy="502920"/>
          </a:xfrm>
          <a:prstGeom prst="rect">
            <a:avLst/>
          </a:prstGeom>
          <a:noFill/>
        </p:spPr>
        <p:txBody>
          <a:bodyPr wrap="none" lIns="18288" rIns="18288" tIns="18288" bIns="18288">
            <a:spAutoFit/>
          </a:bodyPr>
          <a:lstStyle/>
          <a:p>
            <a:pPr algn="ctr"/>
            <a:r>
              <a:rPr sz="1100">
                <a:solidFill>
                  <a:srgbClr val="FF5500"/>
                </a:solidFill>
                <a:latin typeface="Arial"/>
              </a:rPr>
              <a:t>📈  </a:t>
            </a:r>
            <a:r>
              <a:rPr sz="950" b="1">
                <a:solidFill>
                  <a:srgbClr val="FFFFFF"/>
                </a:solidFill>
                <a:latin typeface="Arial"/>
              </a:rPr>
              <a:t>MARKET-SPECIFIC GROWTH</a:t>
            </a:r>
          </a:p>
        </p:txBody>
      </p:sp>
      <p:sp>
        <p:nvSpPr>
          <p:cNvPr id="67" name="TextBox 66"/>
          <p:cNvSpPr txBox="1"/>
          <p:nvPr/>
        </p:nvSpPr>
        <p:spPr>
          <a:xfrm>
            <a:off x="7103059" y="5989320"/>
            <a:ext cx="274320" cy="502920"/>
          </a:xfrm>
          <a:prstGeom prst="rect">
            <a:avLst/>
          </a:prstGeom>
          <a:noFill/>
        </p:spPr>
        <p:txBody>
          <a:bodyPr wrap="none">
            <a:spAutoFit/>
          </a:bodyPr>
          <a:lstStyle/>
          <a:p>
            <a:pPr algn="ctr"/>
            <a:r>
              <a:rPr sz="1200">
                <a:solidFill>
                  <a:srgbClr val="FF5500"/>
                </a:solidFill>
                <a:latin typeface="Arial"/>
              </a:rPr>
              <a:t>➔</a:t>
            </a:r>
          </a:p>
        </p:txBody>
      </p:sp>
      <p:sp>
        <p:nvSpPr>
          <p:cNvPr id="68" name="TextBox 67"/>
          <p:cNvSpPr txBox="1"/>
          <p:nvPr/>
        </p:nvSpPr>
        <p:spPr>
          <a:xfrm>
            <a:off x="7240219" y="5989320"/>
            <a:ext cx="2291486" cy="502920"/>
          </a:xfrm>
          <a:prstGeom prst="rect">
            <a:avLst/>
          </a:prstGeom>
          <a:noFill/>
        </p:spPr>
        <p:txBody>
          <a:bodyPr wrap="none" lIns="18288" rIns="18288" tIns="18288" bIns="18288">
            <a:spAutoFit/>
          </a:bodyPr>
          <a:lstStyle/>
          <a:p>
            <a:pPr algn="ctr"/>
            <a:r>
              <a:rPr sz="1100">
                <a:solidFill>
                  <a:srgbClr val="FF5500"/>
                </a:solidFill>
                <a:latin typeface="Arial"/>
              </a:rPr>
              <a:t>🤖  </a:t>
            </a:r>
            <a:r>
              <a:rPr sz="950" b="1">
                <a:solidFill>
                  <a:srgbClr val="FFFFFF"/>
                </a:solidFill>
                <a:latin typeface="Arial"/>
              </a:rPr>
              <a:t>AI-POWERED SCALE</a:t>
            </a:r>
          </a:p>
        </p:txBody>
      </p:sp>
      <p:sp>
        <p:nvSpPr>
          <p:cNvPr id="69" name="TextBox 68"/>
          <p:cNvSpPr txBox="1"/>
          <p:nvPr/>
        </p:nvSpPr>
        <p:spPr>
          <a:xfrm>
            <a:off x="9394545" y="5989320"/>
            <a:ext cx="274320" cy="502920"/>
          </a:xfrm>
          <a:prstGeom prst="rect">
            <a:avLst/>
          </a:prstGeom>
          <a:noFill/>
        </p:spPr>
        <p:txBody>
          <a:bodyPr wrap="none">
            <a:spAutoFit/>
          </a:bodyPr>
          <a:lstStyle/>
          <a:p>
            <a:pPr algn="ctr"/>
            <a:r>
              <a:rPr sz="1200">
                <a:solidFill>
                  <a:srgbClr val="FF5500"/>
                </a:solidFill>
                <a:latin typeface="Arial"/>
              </a:rPr>
              <a:t>➔</a:t>
            </a:r>
          </a:p>
        </p:txBody>
      </p:sp>
      <p:sp>
        <p:nvSpPr>
          <p:cNvPr id="70" name="TextBox 69"/>
          <p:cNvSpPr txBox="1"/>
          <p:nvPr/>
        </p:nvSpPr>
        <p:spPr>
          <a:xfrm>
            <a:off x="9531705" y="5989320"/>
            <a:ext cx="2291486" cy="502920"/>
          </a:xfrm>
          <a:prstGeom prst="rect">
            <a:avLst/>
          </a:prstGeom>
          <a:noFill/>
        </p:spPr>
        <p:txBody>
          <a:bodyPr wrap="none" lIns="18288" rIns="18288" tIns="18288" bIns="18288">
            <a:spAutoFit/>
          </a:bodyPr>
          <a:lstStyle/>
          <a:p>
            <a:pPr algn="ctr"/>
            <a:r>
              <a:rPr sz="1100">
                <a:solidFill>
                  <a:srgbClr val="FF5500"/>
                </a:solidFill>
                <a:latin typeface="Arial"/>
              </a:rPr>
              <a:t>🏆  </a:t>
            </a:r>
            <a:r>
              <a:rPr sz="950" b="1">
                <a:solidFill>
                  <a:srgbClr val="FFFFFF"/>
                </a:solidFill>
                <a:latin typeface="Arial"/>
              </a:rPr>
              <a:t>WIN THE FUTURE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hamove_logo_transparent.png"/>
          <p:cNvPicPr>
            <a:picLocks noChangeAspect="1"/>
          </p:cNvPicPr>
          <p:nvPr/>
        </p:nvPicPr>
        <p:blipFill>
          <a:blip r:embed="rId2"/>
          <a:stretch>
            <a:fillRect/>
          </a:stretch>
        </p:blipFill>
        <p:spPr>
          <a:xfrm>
            <a:off x="365760" y="109728"/>
            <a:ext cx="1371600" cy="237744"/>
          </a:xfrm>
          <a:prstGeom prst="rect">
            <a:avLst/>
          </a:prstGeom>
        </p:spPr>
      </p:pic>
      <p:sp>
        <p:nvSpPr>
          <p:cNvPr id="3" name="TextBox 2"/>
          <p:cNvSpPr txBox="1"/>
          <p:nvPr/>
        </p:nvSpPr>
        <p:spPr>
          <a:xfrm>
            <a:off x="365760" y="411480"/>
            <a:ext cx="8961120" cy="731520"/>
          </a:xfrm>
          <a:prstGeom prst="rect">
            <a:avLst/>
          </a:prstGeom>
          <a:noFill/>
        </p:spPr>
        <p:txBody>
          <a:bodyPr wrap="square" lIns="0" tIns="0" rIns="0" bIns="0">
            <a:spAutoFit/>
          </a:bodyPr>
          <a:lstStyle/>
          <a:p>
            <a:r>
              <a:rPr sz="2200" b="1">
                <a:solidFill>
                  <a:srgbClr val="0A1D37"/>
                </a:solidFill>
                <a:latin typeface="Montserrat"/>
              </a:rPr>
              <a:t>TRUCK RECRUITMENT: BRANDING ACTIONS</a:t>
            </a:r>
            <a:r>
              <a:rPr sz="2200" b="1">
                <a:solidFill>
                  <a:srgbClr val="FF5500"/>
                </a:solidFill>
                <a:latin typeface="Montserrat"/>
              </a:rPr>
              <a:t> DRIVING ORGANIC GROWTH &amp; COST EFFICIENCY</a:t>
            </a:r>
          </a:p>
          <a:p>
            <a:pPr>
              <a:defRPr sz="1050">
                <a:solidFill>
                  <a:srgbClr val="6B7280"/>
                </a:solidFill>
                <a:latin typeface="Arial"/>
              </a:defRPr>
            </a:pPr>
            <a:r>
              <a:t>Optimizing Digital &amp; Branding to Shift Source Mix and Improve Cost Efficiency</a:t>
            </a:r>
          </a:p>
        </p:txBody>
      </p:sp>
      <p:sp>
        <p:nvSpPr>
          <p:cNvPr id="4" name="Rounded Rectangle 3"/>
          <p:cNvSpPr/>
          <p:nvPr/>
        </p:nvSpPr>
        <p:spPr>
          <a:xfrm>
            <a:off x="9875520" y="228600"/>
            <a:ext cx="1920240" cy="502920"/>
          </a:xfrm>
          <a:prstGeom prst="roundRect">
            <a:avLst/>
          </a:prstGeom>
          <a:solidFill>
            <a:srgbClr val="0A1D37"/>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0" y="228600"/>
            <a:ext cx="1920240" cy="502920"/>
          </a:xfrm>
          <a:prstGeom prst="rect">
            <a:avLst/>
          </a:prstGeom>
          <a:noFill/>
        </p:spPr>
        <p:txBody>
          <a:bodyPr wrap="square" lIns="36576" rIns="36576" tIns="36576" bIns="36576">
            <a:spAutoFit/>
          </a:bodyPr>
          <a:lstStyle/>
          <a:p>
            <a:pPr algn="ctr">
              <a:defRPr sz="850" b="1">
                <a:solidFill>
                  <a:srgbClr val="FFFFFF"/>
                </a:solidFill>
                <a:latin typeface="Arial"/>
              </a:defRPr>
            </a:pPr>
            <a:r>
              <a:t>TRUCK RECRUITMENT</a:t>
            </a:r>
          </a:p>
        </p:txBody>
      </p:sp>
      <p:sp>
        <p:nvSpPr>
          <p:cNvPr id="6" name="Rounded Rectangle 5"/>
          <p:cNvSpPr/>
          <p:nvPr/>
        </p:nvSpPr>
        <p:spPr>
          <a:xfrm>
            <a:off x="365760" y="1097280"/>
            <a:ext cx="3474720" cy="4663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097280"/>
            <a:ext cx="3474720" cy="36576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15568"/>
            <a:ext cx="3200400" cy="320040"/>
          </a:xfrm>
          <a:prstGeom prst="rect">
            <a:avLst/>
          </a:prstGeom>
          <a:noFill/>
        </p:spPr>
        <p:txBody>
          <a:bodyPr wrap="square" lIns="18288" rIns="18288" tIns="18288" bIns="18288">
            <a:spAutoFit/>
          </a:bodyPr>
          <a:lstStyle/>
          <a:p>
            <a:pPr algn="l">
              <a:defRPr sz="1050" b="1">
                <a:solidFill>
                  <a:srgbClr val="FFFFFF"/>
                </a:solidFill>
                <a:latin typeface="Arial"/>
              </a:defRPr>
            </a:pPr>
            <a:r>
              <a:t>1. BEFORE: PHỤ THUỘC SALESFORCE</a:t>
            </a:r>
          </a:p>
        </p:txBody>
      </p:sp>
      <p:sp>
        <p:nvSpPr>
          <p:cNvPr id="9" name="TextBox 8"/>
          <p:cNvSpPr txBox="1"/>
          <p:nvPr/>
        </p:nvSpPr>
        <p:spPr>
          <a:xfrm>
            <a:off x="548640" y="1554480"/>
            <a:ext cx="3108960" cy="228600"/>
          </a:xfrm>
          <a:prstGeom prst="rect">
            <a:avLst/>
          </a:prstGeom>
          <a:noFill/>
        </p:spPr>
        <p:txBody>
          <a:bodyPr wrap="square" lIns="18288" rIns="18288" tIns="18288" bIns="18288">
            <a:spAutoFit/>
          </a:bodyPr>
          <a:lstStyle/>
          <a:p>
            <a:pPr algn="l">
              <a:defRPr sz="950" b="1">
                <a:solidFill>
                  <a:srgbClr val="FF5500"/>
                </a:solidFill>
                <a:latin typeface="Arial"/>
              </a:defRPr>
            </a:pPr>
            <a:r>
              <a:t>📍 SGN - Tỷ trọng nguồn DFD Truck</a:t>
            </a:r>
          </a:p>
        </p:txBody>
      </p:sp>
      <p:sp>
        <p:nvSpPr>
          <p:cNvPr id="10" name="TextBox 9"/>
          <p:cNvSpPr txBox="1"/>
          <p:nvPr/>
        </p:nvSpPr>
        <p:spPr>
          <a:xfrm>
            <a:off x="548640" y="1828800"/>
            <a:ext cx="1371600" cy="548640"/>
          </a:xfrm>
          <a:prstGeom prst="rect">
            <a:avLst/>
          </a:prstGeom>
          <a:noFill/>
        </p:spPr>
        <p:txBody>
          <a:bodyPr wrap="square" lIns="18288" rIns="18288" tIns="18288" bIns="18288">
            <a:spAutoFit/>
          </a:bodyPr>
          <a:lstStyle/>
          <a:p>
            <a:pPr algn="l">
              <a:defRPr sz="800" b="0">
                <a:solidFill>
                  <a:srgbClr val="6B7280"/>
                </a:solidFill>
                <a:latin typeface="Arial"/>
              </a:defRPr>
            </a:pPr>
            <a:r>
              <a:t>T6/2025</a:t>
            </a:r>
            <a:br/>
            <a:r>
              <a:t>Salesforce: 35.5%</a:t>
            </a:r>
            <a:br/>
            <a:r>
              <a:t>Organic: 34.5%</a:t>
            </a:r>
          </a:p>
        </p:txBody>
      </p:sp>
      <p:sp>
        <p:nvSpPr>
          <p:cNvPr id="11" name="TextBox 10"/>
          <p:cNvSpPr txBox="1"/>
          <p:nvPr/>
        </p:nvSpPr>
        <p:spPr>
          <a:xfrm>
            <a:off x="2194560" y="1828800"/>
            <a:ext cx="1371600" cy="548640"/>
          </a:xfrm>
          <a:prstGeom prst="rect">
            <a:avLst/>
          </a:prstGeom>
          <a:noFill/>
        </p:spPr>
        <p:txBody>
          <a:bodyPr wrap="square" lIns="18288" rIns="18288" tIns="18288" bIns="18288">
            <a:spAutoFit/>
          </a:bodyPr>
          <a:lstStyle/>
          <a:p>
            <a:pPr algn="l">
              <a:defRPr sz="800" b="1">
                <a:solidFill>
                  <a:srgbClr val="0A1D37"/>
                </a:solidFill>
                <a:latin typeface="Arial"/>
              </a:defRPr>
            </a:pPr>
            <a:r>
              <a:t>T6/2026</a:t>
            </a:r>
            <a:br/>
            <a:r>
              <a:t>Salesforce: 9.3%</a:t>
            </a:r>
            <a:br/>
            <a:r>
              <a:t>Organic: 57.9%</a:t>
            </a:r>
          </a:p>
        </p:txBody>
      </p:sp>
      <p:sp>
        <p:nvSpPr>
          <p:cNvPr id="12" name="TextBox 11"/>
          <p:cNvSpPr txBox="1"/>
          <p:nvPr/>
        </p:nvSpPr>
        <p:spPr>
          <a:xfrm>
            <a:off x="548640" y="2560320"/>
            <a:ext cx="3108960" cy="228600"/>
          </a:xfrm>
          <a:prstGeom prst="rect">
            <a:avLst/>
          </a:prstGeom>
          <a:noFill/>
        </p:spPr>
        <p:txBody>
          <a:bodyPr wrap="square" lIns="18288" rIns="18288" tIns="18288" bIns="18288">
            <a:spAutoFit/>
          </a:bodyPr>
          <a:lstStyle/>
          <a:p>
            <a:pPr algn="l">
              <a:defRPr sz="950" b="1">
                <a:solidFill>
                  <a:srgbClr val="1E40AF"/>
                </a:solidFill>
                <a:latin typeface="Arial"/>
              </a:defRPr>
            </a:pPr>
            <a:r>
              <a:t>📍 HAN - Tỷ trọng nguồn DFD Truck</a:t>
            </a:r>
          </a:p>
        </p:txBody>
      </p:sp>
      <p:sp>
        <p:nvSpPr>
          <p:cNvPr id="13" name="TextBox 12"/>
          <p:cNvSpPr txBox="1"/>
          <p:nvPr/>
        </p:nvSpPr>
        <p:spPr>
          <a:xfrm>
            <a:off x="548640" y="2834640"/>
            <a:ext cx="1371600" cy="548640"/>
          </a:xfrm>
          <a:prstGeom prst="rect">
            <a:avLst/>
          </a:prstGeom>
          <a:noFill/>
        </p:spPr>
        <p:txBody>
          <a:bodyPr wrap="square" lIns="18288" rIns="18288" tIns="18288" bIns="18288">
            <a:spAutoFit/>
          </a:bodyPr>
          <a:lstStyle/>
          <a:p>
            <a:pPr algn="l">
              <a:defRPr sz="800" b="0">
                <a:solidFill>
                  <a:srgbClr val="6B7280"/>
                </a:solidFill>
                <a:latin typeface="Arial"/>
              </a:defRPr>
            </a:pPr>
            <a:r>
              <a:t>T6/2025</a:t>
            </a:r>
            <a:br/>
            <a:r>
              <a:t>Salesforce: 31.2%</a:t>
            </a:r>
            <a:br/>
            <a:r>
              <a:t>Organic: 29.9%</a:t>
            </a:r>
          </a:p>
        </p:txBody>
      </p:sp>
      <p:sp>
        <p:nvSpPr>
          <p:cNvPr id="14" name="TextBox 13"/>
          <p:cNvSpPr txBox="1"/>
          <p:nvPr/>
        </p:nvSpPr>
        <p:spPr>
          <a:xfrm>
            <a:off x="2194560" y="2834640"/>
            <a:ext cx="1371600" cy="548640"/>
          </a:xfrm>
          <a:prstGeom prst="rect">
            <a:avLst/>
          </a:prstGeom>
          <a:noFill/>
        </p:spPr>
        <p:txBody>
          <a:bodyPr wrap="square" lIns="18288" rIns="18288" tIns="18288" bIns="18288">
            <a:spAutoFit/>
          </a:bodyPr>
          <a:lstStyle/>
          <a:p>
            <a:pPr algn="l">
              <a:defRPr sz="800" b="1">
                <a:solidFill>
                  <a:srgbClr val="0A1D37"/>
                </a:solidFill>
                <a:latin typeface="Arial"/>
              </a:defRPr>
            </a:pPr>
            <a:r>
              <a:t>T6/2026</a:t>
            </a:r>
            <a:br/>
            <a:r>
              <a:t>Salesforce: 2.9%</a:t>
            </a:r>
            <a:br/>
            <a:r>
              <a:t>Organic: 47.5%</a:t>
            </a:r>
          </a:p>
        </p:txBody>
      </p:sp>
      <p:sp>
        <p:nvSpPr>
          <p:cNvPr id="15" name="Rounded Rectangle 14"/>
          <p:cNvSpPr/>
          <p:nvPr/>
        </p:nvSpPr>
        <p:spPr>
          <a:xfrm>
            <a:off x="548640" y="3566160"/>
            <a:ext cx="3108960" cy="109728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57600"/>
            <a:ext cx="2926080" cy="914400"/>
          </a:xfrm>
          <a:prstGeom prst="rect">
            <a:avLst/>
          </a:prstGeom>
          <a:noFill/>
        </p:spPr>
        <p:txBody>
          <a:bodyPr wrap="square" lIns="18288" rIns="18288" tIns="18288" bIns="18288">
            <a:spAutoFit/>
          </a:bodyPr>
          <a:lstStyle/>
          <a:p>
            <a:pPr algn="l">
              <a:defRPr sz="850" b="1">
                <a:solidFill>
                  <a:srgbClr val="0A1D37"/>
                </a:solidFill>
                <a:latin typeface="Arial"/>
              </a:defRPr>
            </a:pPr>
            <a:r>
              <a:t>⚠️ T6/2025: Cả SGN &amp; HAN đều chịu rủi ro phụ thuộc cao vào Salesforce (31-36%), trong khi tỷ lệ tuyển dụng Organic tự nhiên còn quá thấp.</a:t>
            </a:r>
          </a:p>
        </p:txBody>
      </p:sp>
      <p:sp>
        <p:nvSpPr>
          <p:cNvPr id="17" name="Rounded Rectangle 16"/>
          <p:cNvSpPr/>
          <p:nvPr/>
        </p:nvSpPr>
        <p:spPr>
          <a:xfrm>
            <a:off x="4023360" y="1097280"/>
            <a:ext cx="3474720" cy="4663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023360" y="1097280"/>
            <a:ext cx="3474720" cy="36576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1115568"/>
            <a:ext cx="3200400" cy="320040"/>
          </a:xfrm>
          <a:prstGeom prst="rect">
            <a:avLst/>
          </a:prstGeom>
          <a:noFill/>
        </p:spPr>
        <p:txBody>
          <a:bodyPr wrap="square" lIns="18288" rIns="18288" tIns="18288" bIns="18288">
            <a:spAutoFit/>
          </a:bodyPr>
          <a:lstStyle/>
          <a:p>
            <a:pPr algn="l">
              <a:defRPr sz="1050" b="1">
                <a:solidFill>
                  <a:srgbClr val="FFFFFF"/>
                </a:solidFill>
                <a:latin typeface="Arial"/>
              </a:defRPr>
            </a:pPr>
            <a:r>
              <a:t>2. TEAM SUPPLY ĐÃ LÀM GÌ?</a:t>
            </a:r>
          </a:p>
        </p:txBody>
      </p:sp>
      <p:sp>
        <p:nvSpPr>
          <p:cNvPr id="20" name="Rounded Rectangle 19"/>
          <p:cNvSpPr/>
          <p:nvPr/>
        </p:nvSpPr>
        <p:spPr>
          <a:xfrm>
            <a:off x="4160520" y="1600200"/>
            <a:ext cx="3200400" cy="17373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60" y="1691640"/>
            <a:ext cx="3017520" cy="274320"/>
          </a:xfrm>
          <a:prstGeom prst="rect">
            <a:avLst/>
          </a:prstGeom>
          <a:noFill/>
        </p:spPr>
        <p:txBody>
          <a:bodyPr wrap="square" lIns="18288" rIns="18288" tIns="18288" bIns="18288">
            <a:spAutoFit/>
          </a:bodyPr>
          <a:lstStyle/>
          <a:p>
            <a:pPr algn="l">
              <a:defRPr sz="950" b="1">
                <a:solidFill>
                  <a:srgbClr val="FF5500"/>
                </a:solidFill>
                <a:latin typeface="Arial"/>
              </a:defRPr>
            </a:pPr>
            <a:r>
              <a:t>SGN – BUILD DRIVER BRANDING</a:t>
            </a:r>
          </a:p>
        </p:txBody>
      </p:sp>
      <p:sp>
        <p:nvSpPr>
          <p:cNvPr id="22" name="Rounded Rectangle 21"/>
          <p:cNvSpPr/>
          <p:nvPr/>
        </p:nvSpPr>
        <p:spPr>
          <a:xfrm>
            <a:off x="4251960" y="2011680"/>
            <a:ext cx="868680" cy="59436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60" y="2057400"/>
            <a:ext cx="868680" cy="502920"/>
          </a:xfrm>
          <a:prstGeom prst="rect">
            <a:avLst/>
          </a:prstGeom>
          <a:noFill/>
        </p:spPr>
        <p:txBody>
          <a:bodyPr wrap="square" lIns="18288" rIns="18288" tIns="18288" bIns="18288">
            <a:spAutoFit/>
          </a:bodyPr>
          <a:lstStyle/>
          <a:p>
            <a:pPr algn="ctr">
              <a:defRPr sz="800" b="1">
                <a:solidFill>
                  <a:srgbClr val="0A1D37"/>
                </a:solidFill>
                <a:latin typeface="Arial"/>
              </a:defRPr>
            </a:pPr>
            <a:r>
              <a:t>App Decal</a:t>
            </a:r>
          </a:p>
        </p:txBody>
      </p:sp>
      <p:sp>
        <p:nvSpPr>
          <p:cNvPr id="24" name="TextBox 23"/>
          <p:cNvSpPr txBox="1"/>
          <p:nvPr/>
        </p:nvSpPr>
        <p:spPr>
          <a:xfrm>
            <a:off x="5120640" y="2148840"/>
            <a:ext cx="182880" cy="274320"/>
          </a:xfrm>
          <a:prstGeom prst="rect">
            <a:avLst/>
          </a:prstGeom>
          <a:noFill/>
        </p:spPr>
        <p:txBody>
          <a:bodyPr wrap="square" lIns="18288" rIns="18288" tIns="18288" bIns="18288">
            <a:spAutoFit/>
          </a:bodyPr>
          <a:lstStyle/>
          <a:p>
            <a:pPr algn="l">
              <a:defRPr sz="800" b="1">
                <a:solidFill>
                  <a:srgbClr val="FF5500"/>
                </a:solidFill>
                <a:latin typeface="Arial"/>
              </a:defRPr>
            </a:pPr>
            <a:r>
              <a:t>➔</a:t>
            </a:r>
          </a:p>
        </p:txBody>
      </p:sp>
      <p:sp>
        <p:nvSpPr>
          <p:cNvPr id="25" name="Rounded Rectangle 24"/>
          <p:cNvSpPr/>
          <p:nvPr/>
        </p:nvSpPr>
        <p:spPr>
          <a:xfrm>
            <a:off x="5212080" y="2011680"/>
            <a:ext cx="868680" cy="59436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2057400"/>
            <a:ext cx="868680" cy="502920"/>
          </a:xfrm>
          <a:prstGeom prst="rect">
            <a:avLst/>
          </a:prstGeom>
          <a:noFill/>
        </p:spPr>
        <p:txBody>
          <a:bodyPr wrap="square" lIns="18288" rIns="18288" tIns="18288" bIns="18288">
            <a:spAutoFit/>
          </a:bodyPr>
          <a:lstStyle/>
          <a:p>
            <a:pPr algn="ctr">
              <a:defRPr sz="800" b="1">
                <a:solidFill>
                  <a:srgbClr val="0A1D37"/>
                </a:solidFill>
                <a:latin typeface="Arial"/>
              </a:defRPr>
            </a:pPr>
            <a:r>
              <a:t>Force Decal</a:t>
            </a:r>
          </a:p>
        </p:txBody>
      </p:sp>
      <p:sp>
        <p:nvSpPr>
          <p:cNvPr id="27" name="TextBox 26"/>
          <p:cNvSpPr txBox="1"/>
          <p:nvPr/>
        </p:nvSpPr>
        <p:spPr>
          <a:xfrm>
            <a:off x="6080760" y="2148840"/>
            <a:ext cx="182880" cy="274320"/>
          </a:xfrm>
          <a:prstGeom prst="rect">
            <a:avLst/>
          </a:prstGeom>
          <a:noFill/>
        </p:spPr>
        <p:txBody>
          <a:bodyPr wrap="square" lIns="18288" rIns="18288" tIns="18288" bIns="18288">
            <a:spAutoFit/>
          </a:bodyPr>
          <a:lstStyle/>
          <a:p>
            <a:pPr algn="l">
              <a:defRPr sz="800" b="1">
                <a:solidFill>
                  <a:srgbClr val="FF5500"/>
                </a:solidFill>
                <a:latin typeface="Arial"/>
              </a:defRPr>
            </a:pPr>
            <a:r>
              <a:t>➔</a:t>
            </a:r>
          </a:p>
        </p:txBody>
      </p:sp>
      <p:sp>
        <p:nvSpPr>
          <p:cNvPr id="28" name="Rounded Rectangle 27"/>
          <p:cNvSpPr/>
          <p:nvPr/>
        </p:nvSpPr>
        <p:spPr>
          <a:xfrm>
            <a:off x="6172200" y="2011680"/>
            <a:ext cx="868680" cy="59436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2057400"/>
            <a:ext cx="868680" cy="502920"/>
          </a:xfrm>
          <a:prstGeom prst="rect">
            <a:avLst/>
          </a:prstGeom>
          <a:noFill/>
        </p:spPr>
        <p:txBody>
          <a:bodyPr wrap="square" lIns="18288" rIns="18288" tIns="18288" bIns="18288">
            <a:spAutoFit/>
          </a:bodyPr>
          <a:lstStyle/>
          <a:p>
            <a:pPr algn="ctr">
              <a:defRPr sz="800" b="1">
                <a:solidFill>
                  <a:srgbClr val="0A1D37"/>
                </a:solidFill>
                <a:latin typeface="Arial"/>
              </a:defRPr>
            </a:pPr>
            <a:r>
              <a:t>Brand Presence</a:t>
            </a:r>
          </a:p>
        </p:txBody>
      </p:sp>
      <p:sp>
        <p:nvSpPr>
          <p:cNvPr id="30" name="TextBox 29"/>
          <p:cNvSpPr txBox="1"/>
          <p:nvPr/>
        </p:nvSpPr>
        <p:spPr>
          <a:xfrm>
            <a:off x="4251960" y="2697480"/>
            <a:ext cx="3017520" cy="548640"/>
          </a:xfrm>
          <a:prstGeom prst="rect">
            <a:avLst/>
          </a:prstGeom>
          <a:noFill/>
        </p:spPr>
        <p:txBody>
          <a:bodyPr wrap="square" lIns="18288" rIns="18288" tIns="18288" bIns="18288">
            <a:spAutoFit/>
          </a:bodyPr>
          <a:lstStyle/>
          <a:p>
            <a:pPr algn="l">
              <a:defRPr sz="800" b="0">
                <a:solidFill>
                  <a:srgbClr val="6B7280"/>
                </a:solidFill>
                <a:latin typeface="Arial"/>
              </a:defRPr>
            </a:pPr>
            <a:r>
              <a:t>Tập trung truyền thông hình ảnh thực địa thông qua xe tải dán decal của Ahamove.</a:t>
            </a:r>
          </a:p>
        </p:txBody>
      </p:sp>
      <p:sp>
        <p:nvSpPr>
          <p:cNvPr id="31" name="Rounded Rectangle 30"/>
          <p:cNvSpPr/>
          <p:nvPr/>
        </p:nvSpPr>
        <p:spPr>
          <a:xfrm>
            <a:off x="4160520" y="3474720"/>
            <a:ext cx="3200400" cy="2103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51960" y="3566160"/>
            <a:ext cx="3017520" cy="274320"/>
          </a:xfrm>
          <a:prstGeom prst="rect">
            <a:avLst/>
          </a:prstGeom>
          <a:noFill/>
        </p:spPr>
        <p:txBody>
          <a:bodyPr wrap="square" lIns="18288" rIns="18288" tIns="18288" bIns="18288">
            <a:spAutoFit/>
          </a:bodyPr>
          <a:lstStyle/>
          <a:p>
            <a:pPr algn="l">
              <a:defRPr sz="950" b="1">
                <a:solidFill>
                  <a:srgbClr val="10B981"/>
                </a:solidFill>
                <a:latin typeface="Arial"/>
              </a:defRPr>
            </a:pPr>
            <a:r>
              <a:t>HAN – REBUILD ACQUISITION ENGINE</a:t>
            </a:r>
          </a:p>
        </p:txBody>
      </p:sp>
      <p:sp>
        <p:nvSpPr>
          <p:cNvPr id="33" name="Rounded Rectangle 32"/>
          <p:cNvSpPr/>
          <p:nvPr/>
        </p:nvSpPr>
        <p:spPr>
          <a:xfrm>
            <a:off x="4251960" y="3931920"/>
            <a:ext cx="685800" cy="59436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3977639"/>
            <a:ext cx="685800" cy="502920"/>
          </a:xfrm>
          <a:prstGeom prst="rect">
            <a:avLst/>
          </a:prstGeom>
          <a:noFill/>
        </p:spPr>
        <p:txBody>
          <a:bodyPr wrap="square" lIns="18288" rIns="18288" tIns="18288" bIns="18288">
            <a:spAutoFit/>
          </a:bodyPr>
          <a:lstStyle/>
          <a:p>
            <a:pPr algn="ctr">
              <a:defRPr sz="800" b="1">
                <a:solidFill>
                  <a:srgbClr val="0A1D37"/>
                </a:solidFill>
                <a:latin typeface="Arial"/>
              </a:defRPr>
            </a:pPr>
            <a:r>
              <a:t>Decal</a:t>
            </a:r>
          </a:p>
        </p:txBody>
      </p:sp>
      <p:sp>
        <p:nvSpPr>
          <p:cNvPr id="35" name="TextBox 34"/>
          <p:cNvSpPr txBox="1"/>
          <p:nvPr/>
        </p:nvSpPr>
        <p:spPr>
          <a:xfrm>
            <a:off x="4937760" y="4069080"/>
            <a:ext cx="137160" cy="274320"/>
          </a:xfrm>
          <a:prstGeom prst="rect">
            <a:avLst/>
          </a:prstGeom>
          <a:noFill/>
        </p:spPr>
        <p:txBody>
          <a:bodyPr wrap="square" lIns="18288" rIns="18288" tIns="18288" bIns="18288">
            <a:spAutoFit/>
          </a:bodyPr>
          <a:lstStyle/>
          <a:p>
            <a:pPr algn="l">
              <a:defRPr sz="800" b="1">
                <a:solidFill>
                  <a:srgbClr val="10B981"/>
                </a:solidFill>
                <a:latin typeface="Arial"/>
              </a:defRPr>
            </a:pPr>
            <a:r>
              <a:t>➔</a:t>
            </a:r>
          </a:p>
        </p:txBody>
      </p:sp>
      <p:sp>
        <p:nvSpPr>
          <p:cNvPr id="36" name="Rounded Rectangle 35"/>
          <p:cNvSpPr/>
          <p:nvPr/>
        </p:nvSpPr>
        <p:spPr>
          <a:xfrm>
            <a:off x="4983480" y="3931920"/>
            <a:ext cx="685800" cy="59436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83480" y="3977639"/>
            <a:ext cx="685800" cy="502920"/>
          </a:xfrm>
          <a:prstGeom prst="rect">
            <a:avLst/>
          </a:prstGeom>
          <a:noFill/>
        </p:spPr>
        <p:txBody>
          <a:bodyPr wrap="square" lIns="18288" rIns="18288" tIns="18288" bIns="18288">
            <a:spAutoFit/>
          </a:bodyPr>
          <a:lstStyle/>
          <a:p>
            <a:pPr algn="ctr">
              <a:defRPr sz="800" b="1">
                <a:solidFill>
                  <a:srgbClr val="0A1D37"/>
                </a:solidFill>
                <a:latin typeface="Arial"/>
              </a:defRPr>
            </a:pPr>
            <a:r>
              <a:t>Digital</a:t>
            </a:r>
          </a:p>
        </p:txBody>
      </p:sp>
      <p:sp>
        <p:nvSpPr>
          <p:cNvPr id="38" name="TextBox 37"/>
          <p:cNvSpPr txBox="1"/>
          <p:nvPr/>
        </p:nvSpPr>
        <p:spPr>
          <a:xfrm>
            <a:off x="5669280" y="4069080"/>
            <a:ext cx="137160" cy="274320"/>
          </a:xfrm>
          <a:prstGeom prst="rect">
            <a:avLst/>
          </a:prstGeom>
          <a:noFill/>
        </p:spPr>
        <p:txBody>
          <a:bodyPr wrap="square" lIns="18288" rIns="18288" tIns="18288" bIns="18288">
            <a:spAutoFit/>
          </a:bodyPr>
          <a:lstStyle/>
          <a:p>
            <a:pPr algn="l">
              <a:defRPr sz="800" b="1">
                <a:solidFill>
                  <a:srgbClr val="10B981"/>
                </a:solidFill>
                <a:latin typeface="Arial"/>
              </a:defRPr>
            </a:pPr>
            <a:r>
              <a:t>➔</a:t>
            </a:r>
          </a:p>
        </p:txBody>
      </p:sp>
      <p:sp>
        <p:nvSpPr>
          <p:cNvPr id="39" name="Rounded Rectangle 38"/>
          <p:cNvSpPr/>
          <p:nvPr/>
        </p:nvSpPr>
        <p:spPr>
          <a:xfrm>
            <a:off x="5715000" y="3931920"/>
            <a:ext cx="685800" cy="59436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15000" y="3977639"/>
            <a:ext cx="685800" cy="502920"/>
          </a:xfrm>
          <a:prstGeom prst="rect">
            <a:avLst/>
          </a:prstGeom>
          <a:noFill/>
        </p:spPr>
        <p:txBody>
          <a:bodyPr wrap="square" lIns="18288" rIns="18288" tIns="18288" bIns="18288">
            <a:spAutoFit/>
          </a:bodyPr>
          <a:lstStyle/>
          <a:p>
            <a:pPr algn="ctr">
              <a:defRPr sz="800" b="1">
                <a:solidFill>
                  <a:srgbClr val="0A1D37"/>
                </a:solidFill>
                <a:latin typeface="Arial"/>
              </a:defRPr>
            </a:pPr>
            <a:r>
              <a:t>Social</a:t>
            </a:r>
          </a:p>
        </p:txBody>
      </p:sp>
      <p:sp>
        <p:nvSpPr>
          <p:cNvPr id="41" name="TextBox 40"/>
          <p:cNvSpPr txBox="1"/>
          <p:nvPr/>
        </p:nvSpPr>
        <p:spPr>
          <a:xfrm>
            <a:off x="6400800" y="4069080"/>
            <a:ext cx="137160" cy="274320"/>
          </a:xfrm>
          <a:prstGeom prst="rect">
            <a:avLst/>
          </a:prstGeom>
          <a:noFill/>
        </p:spPr>
        <p:txBody>
          <a:bodyPr wrap="square" lIns="18288" rIns="18288" tIns="18288" bIns="18288">
            <a:spAutoFit/>
          </a:bodyPr>
          <a:lstStyle/>
          <a:p>
            <a:pPr algn="l">
              <a:defRPr sz="800" b="1">
                <a:solidFill>
                  <a:srgbClr val="10B981"/>
                </a:solidFill>
                <a:latin typeface="Arial"/>
              </a:defRPr>
            </a:pPr>
            <a:r>
              <a:t>➔</a:t>
            </a:r>
          </a:p>
        </p:txBody>
      </p:sp>
      <p:sp>
        <p:nvSpPr>
          <p:cNvPr id="42" name="Rounded Rectangle 41"/>
          <p:cNvSpPr/>
          <p:nvPr/>
        </p:nvSpPr>
        <p:spPr>
          <a:xfrm>
            <a:off x="6446520" y="3931920"/>
            <a:ext cx="685800" cy="59436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3977639"/>
            <a:ext cx="685800" cy="502920"/>
          </a:xfrm>
          <a:prstGeom prst="rect">
            <a:avLst/>
          </a:prstGeom>
          <a:noFill/>
        </p:spPr>
        <p:txBody>
          <a:bodyPr wrap="square" lIns="18288" rIns="18288" tIns="18288" bIns="18288">
            <a:spAutoFit/>
          </a:bodyPr>
          <a:lstStyle/>
          <a:p>
            <a:pPr algn="ctr">
              <a:defRPr sz="800" b="1">
                <a:solidFill>
                  <a:srgbClr val="0A1D37"/>
                </a:solidFill>
                <a:latin typeface="Arial"/>
              </a:defRPr>
            </a:pPr>
            <a:r>
              <a:t>Community</a:t>
            </a:r>
          </a:p>
        </p:txBody>
      </p:sp>
      <p:sp>
        <p:nvSpPr>
          <p:cNvPr id="44" name="TextBox 43"/>
          <p:cNvSpPr txBox="1"/>
          <p:nvPr/>
        </p:nvSpPr>
        <p:spPr>
          <a:xfrm>
            <a:off x="4251960" y="4663440"/>
            <a:ext cx="3017520" cy="731520"/>
          </a:xfrm>
          <a:prstGeom prst="rect">
            <a:avLst/>
          </a:prstGeom>
          <a:noFill/>
        </p:spPr>
        <p:txBody>
          <a:bodyPr wrap="square" lIns="18288" rIns="18288" tIns="18288" bIns="18288">
            <a:spAutoFit/>
          </a:bodyPr>
          <a:lstStyle/>
          <a:p>
            <a:pPr algn="l">
              <a:defRPr sz="800" b="0">
                <a:solidFill>
                  <a:srgbClr val="6B7280"/>
                </a:solidFill>
                <a:latin typeface="Arial"/>
              </a:defRPr>
            </a:pPr>
            <a:r>
              <a:t>Tái thiết lập hệ thống thu hút tài xế: số hóa phễu đăng ký kết hợp chăm sóc cộng đồng.</a:t>
            </a:r>
          </a:p>
        </p:txBody>
      </p:sp>
      <p:sp>
        <p:nvSpPr>
          <p:cNvPr id="45" name="Rounded Rectangle 44"/>
          <p:cNvSpPr/>
          <p:nvPr/>
        </p:nvSpPr>
        <p:spPr>
          <a:xfrm>
            <a:off x="4251960" y="5257800"/>
            <a:ext cx="3017520" cy="228600"/>
          </a:xfrm>
          <a:prstGeom prst="roundRect">
            <a:avLst/>
          </a:prstGeom>
          <a:solidFill>
            <a:srgbClr val="DCFCE7"/>
          </a:solidFill>
          <a:ln>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43400" y="5276088"/>
            <a:ext cx="2834640" cy="182880"/>
          </a:xfrm>
          <a:prstGeom prst="rect">
            <a:avLst/>
          </a:prstGeom>
          <a:noFill/>
        </p:spPr>
        <p:txBody>
          <a:bodyPr wrap="square" lIns="18288" rIns="18288" tIns="18288" bIns="18288">
            <a:spAutoFit/>
          </a:bodyPr>
          <a:lstStyle/>
          <a:p>
            <a:pPr algn="l">
              <a:defRPr sz="800" b="1">
                <a:solidFill>
                  <a:srgbClr val="0A1D37"/>
                </a:solidFill>
                <a:latin typeface="Arial"/>
              </a:defRPr>
            </a:pPr>
            <a:r>
              <a:t>✅ Tập trung chính: Decal + Digital + Social</a:t>
            </a:r>
          </a:p>
        </p:txBody>
      </p:sp>
      <p:sp>
        <p:nvSpPr>
          <p:cNvPr id="47" name="Rounded Rectangle 46"/>
          <p:cNvSpPr/>
          <p:nvPr/>
        </p:nvSpPr>
        <p:spPr>
          <a:xfrm>
            <a:off x="7680960" y="1097280"/>
            <a:ext cx="4142232" cy="4663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680960" y="1097280"/>
            <a:ext cx="4142232" cy="36576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18120" y="1115568"/>
            <a:ext cx="3840480" cy="320040"/>
          </a:xfrm>
          <a:prstGeom prst="rect">
            <a:avLst/>
          </a:prstGeom>
          <a:noFill/>
        </p:spPr>
        <p:txBody>
          <a:bodyPr wrap="square" lIns="18288" rIns="18288" tIns="18288" bIns="18288">
            <a:spAutoFit/>
          </a:bodyPr>
          <a:lstStyle/>
          <a:p>
            <a:pPr algn="l">
              <a:defRPr sz="1050" b="1">
                <a:solidFill>
                  <a:srgbClr val="FFFFFF"/>
                </a:solidFill>
                <a:latin typeface="Arial"/>
              </a:defRPr>
            </a:pPr>
            <a:r>
              <a:t>3. IMPACT: KẾT QUẢ &amp; HIỆU QUẢ</a:t>
            </a:r>
          </a:p>
        </p:txBody>
      </p:sp>
      <p:sp>
        <p:nvSpPr>
          <p:cNvPr id="50" name="TextBox 49"/>
          <p:cNvSpPr txBox="1"/>
          <p:nvPr/>
        </p:nvSpPr>
        <p:spPr>
          <a:xfrm>
            <a:off x="7863840" y="1554480"/>
            <a:ext cx="3749039" cy="274320"/>
          </a:xfrm>
          <a:prstGeom prst="rect">
            <a:avLst/>
          </a:prstGeom>
          <a:noFill/>
        </p:spPr>
        <p:txBody>
          <a:bodyPr wrap="square" lIns="18288" rIns="18288" tIns="18288" bIns="18288">
            <a:spAutoFit/>
          </a:bodyPr>
          <a:lstStyle/>
          <a:p>
            <a:pPr algn="l">
              <a:defRPr sz="950" b="1">
                <a:solidFill>
                  <a:srgbClr val="10B981"/>
                </a:solidFill>
                <a:latin typeface="Arial"/>
              </a:defRPr>
            </a:pPr>
            <a:r>
              <a:t>🏆 ORGANIC BECOMES #1 ACQUISITION SOURCE</a:t>
            </a:r>
          </a:p>
        </p:txBody>
      </p:sp>
      <p:sp>
        <p:nvSpPr>
          <p:cNvPr id="51" name="TextBox 50"/>
          <p:cNvSpPr txBox="1"/>
          <p:nvPr/>
        </p:nvSpPr>
        <p:spPr>
          <a:xfrm>
            <a:off x="7863840" y="1828800"/>
            <a:ext cx="1828800" cy="1005840"/>
          </a:xfrm>
          <a:prstGeom prst="rect">
            <a:avLst/>
          </a:prstGeom>
          <a:noFill/>
        </p:spPr>
        <p:txBody>
          <a:bodyPr wrap="none">
            <a:spAutoFit/>
          </a:bodyPr>
          <a:lstStyle/>
          <a:p>
            <a:r>
              <a:rPr sz="950" b="1">
                <a:solidFill>
                  <a:srgbClr val="FF5500"/>
                </a:solidFill>
                <a:latin typeface="Arial"/>
              </a:rPr>
              <a:t>SGN - ORGANIC
</a:t>
            </a:r>
            <a:r>
              <a:rPr sz="2000" b="1">
                <a:solidFill>
                  <a:srgbClr val="FF5500"/>
                </a:solidFill>
                <a:latin typeface="Montserrat"/>
              </a:rPr>
              <a:t>57.9%
</a:t>
            </a:r>
            <a:r>
              <a:rPr sz="900" b="1">
                <a:solidFill>
                  <a:srgbClr val="10B981"/>
                </a:solidFill>
                <a:latin typeface="Arial"/>
              </a:rPr>
              <a:t>▲ +23.3pp YoY
</a:t>
            </a:r>
            <a:r>
              <a:rPr sz="800">
                <a:solidFill>
                  <a:srgbClr val="6B7280"/>
                </a:solidFill>
                <a:latin typeface="Arial"/>
              </a:rPr>
              <a:t>Salesforce: 9.3% (▼ -26.2pp)</a:t>
            </a:r>
          </a:p>
        </p:txBody>
      </p:sp>
      <p:sp>
        <p:nvSpPr>
          <p:cNvPr id="52" name="TextBox 51"/>
          <p:cNvSpPr txBox="1"/>
          <p:nvPr/>
        </p:nvSpPr>
        <p:spPr>
          <a:xfrm>
            <a:off x="9784080" y="1828800"/>
            <a:ext cx="1828800" cy="1005840"/>
          </a:xfrm>
          <a:prstGeom prst="rect">
            <a:avLst/>
          </a:prstGeom>
          <a:noFill/>
        </p:spPr>
        <p:txBody>
          <a:bodyPr wrap="none">
            <a:spAutoFit/>
          </a:bodyPr>
          <a:lstStyle/>
          <a:p>
            <a:r>
              <a:rPr sz="950" b="1">
                <a:solidFill>
                  <a:srgbClr val="1E40AF"/>
                </a:solidFill>
                <a:latin typeface="Arial"/>
              </a:rPr>
              <a:t>HAN - ORGANIC
</a:t>
            </a:r>
            <a:r>
              <a:rPr sz="2000" b="1">
                <a:solidFill>
                  <a:srgbClr val="1E40AF"/>
                </a:solidFill>
                <a:latin typeface="Montserrat"/>
              </a:rPr>
              <a:t>47.5%
</a:t>
            </a:r>
            <a:r>
              <a:rPr sz="900" b="1">
                <a:solidFill>
                  <a:srgbClr val="10B981"/>
                </a:solidFill>
                <a:latin typeface="Arial"/>
              </a:rPr>
              <a:t>▲ +17.6pp YoY
</a:t>
            </a:r>
            <a:r>
              <a:rPr sz="800">
                <a:solidFill>
                  <a:srgbClr val="6B7280"/>
                </a:solidFill>
                <a:latin typeface="Arial"/>
              </a:rPr>
              <a:t>Salesforce: 2.9% (▼ -28.3pp)</a:t>
            </a:r>
          </a:p>
        </p:txBody>
      </p:sp>
      <p:sp>
        <p:nvSpPr>
          <p:cNvPr id="53" name="Rounded Rectangle 52"/>
          <p:cNvSpPr/>
          <p:nvPr/>
        </p:nvSpPr>
        <p:spPr>
          <a:xfrm>
            <a:off x="7863840" y="2926080"/>
            <a:ext cx="1828800" cy="14630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9560" y="2971800"/>
            <a:ext cx="1737360" cy="274320"/>
          </a:xfrm>
          <a:prstGeom prst="rect">
            <a:avLst/>
          </a:prstGeom>
          <a:noFill/>
        </p:spPr>
        <p:txBody>
          <a:bodyPr wrap="square" lIns="18288" rIns="18288" tIns="18288" bIns="18288">
            <a:spAutoFit/>
          </a:bodyPr>
          <a:lstStyle/>
          <a:p>
            <a:pPr algn="l">
              <a:defRPr sz="850" b="1">
                <a:solidFill>
                  <a:srgbClr val="0A1D37"/>
                </a:solidFill>
                <a:latin typeface="Arial"/>
              </a:defRPr>
            </a:pPr>
            <a:r>
              <a:t>📍 ĐIỂM NHẤN HAN</a:t>
            </a:r>
          </a:p>
        </p:txBody>
      </p:sp>
      <p:sp>
        <p:nvSpPr>
          <p:cNvPr id="55" name="TextBox 54"/>
          <p:cNvSpPr txBox="1"/>
          <p:nvPr/>
        </p:nvSpPr>
        <p:spPr>
          <a:xfrm>
            <a:off x="7909560" y="3291840"/>
            <a:ext cx="1737360" cy="1005840"/>
          </a:xfrm>
          <a:prstGeom prst="rect">
            <a:avLst/>
          </a:prstGeom>
          <a:noFill/>
        </p:spPr>
        <p:txBody>
          <a:bodyPr wrap="square" lIns="18288" rIns="18288" tIns="18288" bIns="18288">
            <a:spAutoFit/>
          </a:bodyPr>
          <a:lstStyle/>
          <a:p>
            <a:pPr algn="l">
              <a:defRPr sz="800" b="0">
                <a:solidFill>
                  <a:srgbClr val="6B7280"/>
                </a:solidFill>
                <a:latin typeface="Arial"/>
              </a:defRPr>
            </a:pPr>
            <a:r>
              <a:t>2 tháng liên tiếp</a:t>
            </a:r>
            <a:br/>
            <a:r>
              <a:t>VƯỢT TARGET</a:t>
            </a:r>
            <a:br/>
            <a:r>
              <a:t>tuyển dụng Truck.</a:t>
            </a:r>
            <a:br/>
            <a:r>
              <a:t>(Tăng trưởng Organic bền vững)</a:t>
            </a:r>
          </a:p>
        </p:txBody>
      </p:sp>
      <p:sp>
        <p:nvSpPr>
          <p:cNvPr id="56" name="Rounded Rectangle 55"/>
          <p:cNvSpPr/>
          <p:nvPr/>
        </p:nvSpPr>
        <p:spPr>
          <a:xfrm>
            <a:off x="9784080" y="2926080"/>
            <a:ext cx="1828800" cy="146304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2971800"/>
            <a:ext cx="1737360" cy="274320"/>
          </a:xfrm>
          <a:prstGeom prst="rect">
            <a:avLst/>
          </a:prstGeom>
          <a:noFill/>
        </p:spPr>
        <p:txBody>
          <a:bodyPr wrap="square" lIns="18288" rIns="18288" tIns="18288" bIns="18288">
            <a:spAutoFit/>
          </a:bodyPr>
          <a:lstStyle/>
          <a:p>
            <a:pPr algn="l">
              <a:defRPr sz="850" b="1">
                <a:solidFill>
                  <a:srgbClr val="7C3AED"/>
                </a:solidFill>
                <a:latin typeface="Arial"/>
              </a:defRPr>
            </a:pPr>
            <a:r>
              <a:t>💰 CHI PHÍ TUYỂN DỤNG</a:t>
            </a:r>
          </a:p>
        </p:txBody>
      </p:sp>
      <p:sp>
        <p:nvSpPr>
          <p:cNvPr id="58" name="TextBox 57"/>
          <p:cNvSpPr txBox="1"/>
          <p:nvPr/>
        </p:nvSpPr>
        <p:spPr>
          <a:xfrm>
            <a:off x="9829800" y="3246120"/>
            <a:ext cx="1737360" cy="1005840"/>
          </a:xfrm>
          <a:prstGeom prst="rect">
            <a:avLst/>
          </a:prstGeom>
          <a:noFill/>
        </p:spPr>
        <p:txBody>
          <a:bodyPr wrap="square" lIns="18288" rIns="18288" tIns="18288" bIns="18288">
            <a:spAutoFit/>
          </a:bodyPr>
          <a:lstStyle/>
          <a:p>
            <a:pPr algn="l">
              <a:defRPr sz="800" b="1">
                <a:solidFill>
                  <a:srgbClr val="0A1D37"/>
                </a:solidFill>
                <a:latin typeface="Arial"/>
              </a:defRPr>
            </a:pPr>
            <a:r>
              <a:t>CPD Truck HAN = NW</a:t>
            </a:r>
            <a:br/>
            <a:r>
              <a:t>234K VND</a:t>
            </a:r>
            <a:br/>
            <a:r>
              <a:t>▼ -41% YoY</a:t>
            </a:r>
            <a:br/>
            <a:r>
              <a:t>(T6/2025: 397K)</a:t>
            </a:r>
            <a:br/>
            <a:r>
              <a:t>*Rẻ hơn cả xe máy</a:t>
            </a:r>
          </a:p>
        </p:txBody>
      </p:sp>
      <p:sp>
        <p:nvSpPr>
          <p:cNvPr id="59" name="Rounded Rectangle 58"/>
          <p:cNvSpPr/>
          <p:nvPr/>
        </p:nvSpPr>
        <p:spPr>
          <a:xfrm>
            <a:off x="365760" y="5897880"/>
            <a:ext cx="11457432" cy="59436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5897880"/>
            <a:ext cx="548640" cy="594360"/>
          </a:xfrm>
          <a:prstGeom prst="rect">
            <a:avLst/>
          </a:prstGeom>
          <a:noFill/>
        </p:spPr>
        <p:txBody>
          <a:bodyPr wrap="none">
            <a:spAutoFit/>
          </a:bodyPr>
          <a:lstStyle/>
          <a:p>
            <a:pPr algn="ctr"/>
            <a:r>
              <a:rPr sz="2000">
                <a:solidFill>
                  <a:srgbClr val="FF5500"/>
                </a:solidFill>
                <a:latin typeface="Arial"/>
              </a:rPr>
              <a:t>🎯</a:t>
            </a:r>
          </a:p>
        </p:txBody>
      </p:sp>
      <p:sp>
        <p:nvSpPr>
          <p:cNvPr id="61" name="TextBox 60"/>
          <p:cNvSpPr txBox="1"/>
          <p:nvPr/>
        </p:nvSpPr>
        <p:spPr>
          <a:xfrm>
            <a:off x="1097280" y="5916168"/>
            <a:ext cx="10515600" cy="548640"/>
          </a:xfrm>
          <a:prstGeom prst="rect">
            <a:avLst/>
          </a:prstGeom>
          <a:noFill/>
        </p:spPr>
        <p:txBody>
          <a:bodyPr wrap="square">
            <a:spAutoFit/>
          </a:bodyPr>
          <a:lstStyle/>
          <a:p>
            <a:r>
              <a:rPr sz="950" b="1">
                <a:solidFill>
                  <a:srgbClr val="FF5500"/>
                </a:solidFill>
                <a:latin typeface="Arial"/>
              </a:rPr>
              <a:t>CASE STUDY TRUCK CHO THẤY: </a:t>
            </a:r>
            <a:r>
              <a:rPr sz="950" b="0">
                <a:solidFill>
                  <a:srgbClr val="FFFFFF"/>
                </a:solidFill>
                <a:latin typeface="Arial"/>
              </a:rPr>
              <a:t>Chiến dịch branding không chỉ dừng lại ở nhận diện thương hiệu. Khi kết hợp hài hòa giữa Decal di động, tối ưu phễu Digital, và tận dụng mạng xã hội, doanh nghiệp có thể trực tiếp thay đổi cơ cấu nguồn cung tài xế, giảm sự lệ thuộc vào các nguồn trả phí cao (Salesforce), từ đó cải thiện triệt để hiệu quả chi phí (CPD).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hamove_logo_transparent.png"/>
          <p:cNvPicPr>
            <a:picLocks noChangeAspect="1"/>
          </p:cNvPicPr>
          <p:nvPr/>
        </p:nvPicPr>
        <p:blipFill>
          <a:blip r:embed="rId2"/>
          <a:stretch>
            <a:fillRect/>
          </a:stretch>
        </p:blipFill>
        <p:spPr>
          <a:xfrm>
            <a:off x="365760" y="109728"/>
            <a:ext cx="1371600" cy="237744"/>
          </a:xfrm>
          <a:prstGeom prst="rect">
            <a:avLst/>
          </a:prstGeom>
        </p:spPr>
      </p:pic>
      <p:sp>
        <p:nvSpPr>
          <p:cNvPr id="3" name="TextBox 2"/>
          <p:cNvSpPr txBox="1"/>
          <p:nvPr/>
        </p:nvSpPr>
        <p:spPr>
          <a:xfrm>
            <a:off x="365760" y="411480"/>
            <a:ext cx="8961120" cy="731520"/>
          </a:xfrm>
          <a:prstGeom prst="rect">
            <a:avLst/>
          </a:prstGeom>
          <a:noFill/>
        </p:spPr>
        <p:txBody>
          <a:bodyPr wrap="square" lIns="0" tIns="0" rIns="0" bIns="0">
            <a:spAutoFit/>
          </a:bodyPr>
          <a:lstStyle/>
          <a:p>
            <a:r>
              <a:rPr sz="2200" b="1">
                <a:solidFill>
                  <a:srgbClr val="0A1D37"/>
                </a:solidFill>
                <a:latin typeface="Montserrat"/>
              </a:rPr>
              <a:t>EV PROJECT – TĂNG TRƯỞNG MẠNH MẼ,</a:t>
            </a:r>
            <a:r>
              <a:rPr sz="2200" b="1">
                <a:solidFill>
                  <a:srgbClr val="FF5500"/>
                </a:solidFill>
                <a:latin typeface="Montserrat"/>
              </a:rPr>
              <a:t> HƯỚNG TỚI TƯƠNG LAI XANH</a:t>
            </a:r>
          </a:p>
          <a:p>
            <a:pPr>
              <a:defRPr sz="1050">
                <a:solidFill>
                  <a:srgbClr val="6B7280"/>
                </a:solidFill>
                <a:latin typeface="Arial"/>
              </a:defRPr>
            </a:pPr>
            <a:r>
              <a:t>Báo cáo hiệu quả &amp; phát triển phân khúc EV | Vành đai 1</a:t>
            </a:r>
          </a:p>
        </p:txBody>
      </p:sp>
      <p:sp>
        <p:nvSpPr>
          <p:cNvPr id="4" name="Rounded Rectangle 3"/>
          <p:cNvSpPr/>
          <p:nvPr/>
        </p:nvSpPr>
        <p:spPr>
          <a:xfrm>
            <a:off x="9875520" y="228600"/>
            <a:ext cx="1920240" cy="502920"/>
          </a:xfrm>
          <a:prstGeom prst="roundRect">
            <a:avLst/>
          </a:prstGeom>
          <a:solidFill>
            <a:srgbClr val="0A1D37"/>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0" y="228600"/>
            <a:ext cx="1920240" cy="502920"/>
          </a:xfrm>
          <a:prstGeom prst="rect">
            <a:avLst/>
          </a:prstGeom>
          <a:noFill/>
        </p:spPr>
        <p:txBody>
          <a:bodyPr wrap="square" lIns="36576" rIns="36576" tIns="36576" bIns="36576">
            <a:spAutoFit/>
          </a:bodyPr>
          <a:lstStyle/>
          <a:p>
            <a:pPr algn="ctr">
              <a:defRPr sz="850" b="1">
                <a:solidFill>
                  <a:srgbClr val="FFFFFF"/>
                </a:solidFill>
                <a:latin typeface="Arial"/>
              </a:defRPr>
            </a:pPr>
            <a:r>
              <a:t>EV PROJECT</a:t>
            </a:r>
          </a:p>
        </p:txBody>
      </p:sp>
      <p:sp>
        <p:nvSpPr>
          <p:cNvPr id="6" name="Rounded Rectangle 5"/>
          <p:cNvSpPr/>
          <p:nvPr/>
        </p:nvSpPr>
        <p:spPr>
          <a:xfrm>
            <a:off x="365760" y="1097280"/>
            <a:ext cx="2743200" cy="82296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2468880" cy="182880"/>
          </a:xfrm>
          <a:prstGeom prst="rect">
            <a:avLst/>
          </a:prstGeom>
          <a:noFill/>
        </p:spPr>
        <p:txBody>
          <a:bodyPr wrap="square" lIns="18288" rIns="18288" tIns="18288" bIns="18288">
            <a:spAutoFit/>
          </a:bodyPr>
          <a:lstStyle/>
          <a:p>
            <a:pPr algn="l">
              <a:defRPr sz="850" b="1">
                <a:solidFill>
                  <a:srgbClr val="1E40AF"/>
                </a:solidFill>
                <a:latin typeface="Arial"/>
              </a:defRPr>
            </a:pPr>
            <a:r>
              <a:t>EV DRIVERS</a:t>
            </a:r>
          </a:p>
        </p:txBody>
      </p:sp>
      <p:sp>
        <p:nvSpPr>
          <p:cNvPr id="8" name="TextBox 7"/>
          <p:cNvSpPr txBox="1"/>
          <p:nvPr/>
        </p:nvSpPr>
        <p:spPr>
          <a:xfrm>
            <a:off x="502920" y="1298448"/>
            <a:ext cx="2468880" cy="502920"/>
          </a:xfrm>
          <a:prstGeom prst="rect">
            <a:avLst/>
          </a:prstGeom>
          <a:noFill/>
        </p:spPr>
        <p:txBody>
          <a:bodyPr wrap="none">
            <a:spAutoFit/>
          </a:bodyPr>
          <a:lstStyle/>
          <a:p>
            <a:r>
              <a:rPr sz="1600" b="1">
                <a:solidFill>
                  <a:srgbClr val="0A1D37"/>
                </a:solidFill>
                <a:latin typeface="Montserrat"/>
              </a:rPr>
              <a:t>1,120  </a:t>
            </a:r>
            <a:r>
              <a:rPr sz="950" b="1">
                <a:solidFill>
                  <a:srgbClr val="1E40AF"/>
                </a:solidFill>
                <a:latin typeface="Arial"/>
              </a:rPr>
              <a:t>▲ 81% vs T5</a:t>
            </a:r>
          </a:p>
        </p:txBody>
      </p:sp>
      <p:sp>
        <p:nvSpPr>
          <p:cNvPr id="9" name="Rounded Rectangle 8"/>
          <p:cNvSpPr/>
          <p:nvPr/>
        </p:nvSpPr>
        <p:spPr>
          <a:xfrm>
            <a:off x="3236976" y="1097280"/>
            <a:ext cx="2743200" cy="82296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74136" y="1143000"/>
            <a:ext cx="2468880" cy="182880"/>
          </a:xfrm>
          <a:prstGeom prst="rect">
            <a:avLst/>
          </a:prstGeom>
          <a:noFill/>
        </p:spPr>
        <p:txBody>
          <a:bodyPr wrap="square" lIns="18288" rIns="18288" tIns="18288" bIns="18288">
            <a:spAutoFit/>
          </a:bodyPr>
          <a:lstStyle/>
          <a:p>
            <a:pPr algn="l">
              <a:defRPr sz="850" b="1">
                <a:solidFill>
                  <a:srgbClr val="10B981"/>
                </a:solidFill>
                <a:latin typeface="Arial"/>
              </a:defRPr>
            </a:pPr>
            <a:r>
              <a:t>DEMAND VD1</a:t>
            </a:r>
          </a:p>
        </p:txBody>
      </p:sp>
      <p:sp>
        <p:nvSpPr>
          <p:cNvPr id="11" name="TextBox 10"/>
          <p:cNvSpPr txBox="1"/>
          <p:nvPr/>
        </p:nvSpPr>
        <p:spPr>
          <a:xfrm>
            <a:off x="3374136" y="1298448"/>
            <a:ext cx="2468880" cy="502920"/>
          </a:xfrm>
          <a:prstGeom prst="rect">
            <a:avLst/>
          </a:prstGeom>
          <a:noFill/>
        </p:spPr>
        <p:txBody>
          <a:bodyPr wrap="none">
            <a:spAutoFit/>
          </a:bodyPr>
          <a:lstStyle/>
          <a:p>
            <a:r>
              <a:rPr sz="1600" b="1">
                <a:solidFill>
                  <a:srgbClr val="0A1D37"/>
                </a:solidFill>
                <a:latin typeface="Montserrat"/>
              </a:rPr>
              <a:t>6.5%  </a:t>
            </a:r>
            <a:r>
              <a:rPr sz="950" b="1">
                <a:solidFill>
                  <a:srgbClr val="10B981"/>
                </a:solidFill>
                <a:latin typeface="Arial"/>
              </a:rPr>
              <a:t>▲ 100% vs T5</a:t>
            </a:r>
          </a:p>
        </p:txBody>
      </p:sp>
      <p:sp>
        <p:nvSpPr>
          <p:cNvPr id="12" name="Rounded Rectangle 11"/>
          <p:cNvSpPr/>
          <p:nvPr/>
        </p:nvSpPr>
        <p:spPr>
          <a:xfrm>
            <a:off x="6108192" y="1097280"/>
            <a:ext cx="2743200" cy="8229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1143000"/>
            <a:ext cx="2468880" cy="182880"/>
          </a:xfrm>
          <a:prstGeom prst="rect">
            <a:avLst/>
          </a:prstGeom>
          <a:noFill/>
        </p:spPr>
        <p:txBody>
          <a:bodyPr wrap="square" lIns="18288" rIns="18288" tIns="18288" bIns="18288">
            <a:spAutoFit/>
          </a:bodyPr>
          <a:lstStyle/>
          <a:p>
            <a:pPr algn="l">
              <a:defRPr sz="850" b="1">
                <a:solidFill>
                  <a:srgbClr val="7C3AED"/>
                </a:solidFill>
                <a:latin typeface="Arial"/>
              </a:defRPr>
            </a:pPr>
            <a:r>
              <a:t>COMPLETED</a:t>
            </a:r>
          </a:p>
        </p:txBody>
      </p:sp>
      <p:sp>
        <p:nvSpPr>
          <p:cNvPr id="14" name="TextBox 13"/>
          <p:cNvSpPr txBox="1"/>
          <p:nvPr/>
        </p:nvSpPr>
        <p:spPr>
          <a:xfrm>
            <a:off x="6245352" y="1298448"/>
            <a:ext cx="2468880" cy="502920"/>
          </a:xfrm>
          <a:prstGeom prst="rect">
            <a:avLst/>
          </a:prstGeom>
          <a:noFill/>
        </p:spPr>
        <p:txBody>
          <a:bodyPr wrap="none">
            <a:spAutoFit/>
          </a:bodyPr>
          <a:lstStyle/>
          <a:p>
            <a:r>
              <a:rPr sz="1600" b="1">
                <a:solidFill>
                  <a:srgbClr val="0A1D37"/>
                </a:solidFill>
                <a:latin typeface="Montserrat"/>
              </a:rPr>
              <a:t>272,645  </a:t>
            </a:r>
            <a:r>
              <a:rPr sz="950" b="1">
                <a:solidFill>
                  <a:srgbClr val="7C3AED"/>
                </a:solidFill>
                <a:latin typeface="Arial"/>
              </a:rPr>
              <a:t>Đơn hàng trong T6</a:t>
            </a:r>
          </a:p>
        </p:txBody>
      </p:sp>
      <p:sp>
        <p:nvSpPr>
          <p:cNvPr id="15" name="Rounded Rectangle 14"/>
          <p:cNvSpPr/>
          <p:nvPr/>
        </p:nvSpPr>
        <p:spPr>
          <a:xfrm>
            <a:off x="8979408" y="1097280"/>
            <a:ext cx="2743200" cy="82296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1143000"/>
            <a:ext cx="2468880" cy="182880"/>
          </a:xfrm>
          <a:prstGeom prst="rect">
            <a:avLst/>
          </a:prstGeom>
          <a:noFill/>
        </p:spPr>
        <p:txBody>
          <a:bodyPr wrap="square" lIns="18288" rIns="18288" tIns="18288" bIns="18288">
            <a:spAutoFit/>
          </a:bodyPr>
          <a:lstStyle/>
          <a:p>
            <a:pPr algn="l">
              <a:defRPr sz="850" b="1">
                <a:solidFill>
                  <a:srgbClr val="FF5500"/>
                </a:solidFill>
                <a:latin typeface="Arial"/>
              </a:defRPr>
            </a:pPr>
            <a:r>
              <a:t>XANH HÓA</a:t>
            </a:r>
          </a:p>
        </p:txBody>
      </p:sp>
      <p:sp>
        <p:nvSpPr>
          <p:cNvPr id="17" name="TextBox 16"/>
          <p:cNvSpPr txBox="1"/>
          <p:nvPr/>
        </p:nvSpPr>
        <p:spPr>
          <a:xfrm>
            <a:off x="9116568" y="1298448"/>
            <a:ext cx="2468880" cy="502920"/>
          </a:xfrm>
          <a:prstGeom prst="rect">
            <a:avLst/>
          </a:prstGeom>
          <a:noFill/>
        </p:spPr>
        <p:txBody>
          <a:bodyPr wrap="none">
            <a:spAutoFit/>
          </a:bodyPr>
          <a:lstStyle/>
          <a:p>
            <a:r>
              <a:rPr sz="1600" b="1">
                <a:solidFill>
                  <a:srgbClr val="0A1D37"/>
                </a:solidFill>
                <a:latin typeface="Montserrat"/>
              </a:rPr>
              <a:t>CHUYỂN ĐỔI  </a:t>
            </a:r>
            <a:r>
              <a:rPr sz="950" b="1">
                <a:solidFill>
                  <a:srgbClr val="FF5500"/>
                </a:solidFill>
                <a:latin typeface="Arial"/>
              </a:rPr>
              <a:t>Đồng hành cùng Ahamove</a:t>
            </a:r>
          </a:p>
        </p:txBody>
      </p:sp>
      <p:sp>
        <p:nvSpPr>
          <p:cNvPr id="18" name="Rounded Rectangle 17"/>
          <p:cNvSpPr/>
          <p:nvPr/>
        </p:nvSpPr>
        <p:spPr>
          <a:xfrm>
            <a:off x="365760" y="2057400"/>
            <a:ext cx="3474720" cy="19202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5760" y="2057400"/>
            <a:ext cx="3474720" cy="32004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075688"/>
            <a:ext cx="3200400" cy="274320"/>
          </a:xfrm>
          <a:prstGeom prst="rect">
            <a:avLst/>
          </a:prstGeom>
          <a:noFill/>
        </p:spPr>
        <p:txBody>
          <a:bodyPr wrap="square" lIns="18288" rIns="18288" tIns="18288" bIns="18288">
            <a:spAutoFit/>
          </a:bodyPr>
          <a:lstStyle/>
          <a:p>
            <a:pPr algn="l">
              <a:defRPr sz="900" b="1">
                <a:solidFill>
                  <a:srgbClr val="FFFFFF"/>
                </a:solidFill>
                <a:latin typeface="Arial"/>
              </a:defRPr>
            </a:pPr>
            <a:r>
              <a:t>CPD – CHI PHÍ TUYỂN DỤNG EV (VND)</a:t>
            </a:r>
          </a:p>
        </p:txBody>
      </p:sp>
      <p:sp>
        <p:nvSpPr>
          <p:cNvPr id="21" name="TextBox 20"/>
          <p:cNvSpPr txBox="1"/>
          <p:nvPr/>
        </p:nvSpPr>
        <p:spPr>
          <a:xfrm>
            <a:off x="548640" y="2468880"/>
            <a:ext cx="1463040" cy="548640"/>
          </a:xfrm>
          <a:prstGeom prst="rect">
            <a:avLst/>
          </a:prstGeom>
          <a:noFill/>
        </p:spPr>
        <p:txBody>
          <a:bodyPr wrap="square" lIns="18288" rIns="18288" tIns="18288" bIns="18288">
            <a:spAutoFit/>
          </a:bodyPr>
          <a:lstStyle/>
          <a:p>
            <a:pPr algn="l">
              <a:defRPr sz="850" b="1">
                <a:solidFill>
                  <a:srgbClr val="1E40AF"/>
                </a:solidFill>
                <a:latin typeface="Arial"/>
              </a:defRPr>
            </a:pPr>
            <a:r>
              <a:t>TP. HỒ CHÍ MINH</a:t>
            </a:r>
            <a:br/>
            <a:r>
              <a:t>384,803</a:t>
            </a:r>
            <a:br/>
            <a:r>
              <a:t>▼ -28.1% vs T5</a:t>
            </a:r>
          </a:p>
        </p:txBody>
      </p:sp>
      <p:sp>
        <p:nvSpPr>
          <p:cNvPr id="22" name="TextBox 21"/>
          <p:cNvSpPr txBox="1"/>
          <p:nvPr/>
        </p:nvSpPr>
        <p:spPr>
          <a:xfrm>
            <a:off x="2103120" y="2468880"/>
            <a:ext cx="1463040" cy="548640"/>
          </a:xfrm>
          <a:prstGeom prst="rect">
            <a:avLst/>
          </a:prstGeom>
          <a:noFill/>
        </p:spPr>
        <p:txBody>
          <a:bodyPr wrap="square" lIns="18288" rIns="18288" tIns="18288" bIns="18288">
            <a:spAutoFit/>
          </a:bodyPr>
          <a:lstStyle/>
          <a:p>
            <a:pPr algn="l">
              <a:defRPr sz="850" b="1">
                <a:solidFill>
                  <a:srgbClr val="10B981"/>
                </a:solidFill>
                <a:latin typeface="Arial"/>
              </a:defRPr>
            </a:pPr>
            <a:r>
              <a:t>HÀ NỘI</a:t>
            </a:r>
            <a:br/>
            <a:r>
              <a:t>872,042</a:t>
            </a:r>
            <a:br/>
            <a:r>
              <a:t>▼ -52.1% vs T5</a:t>
            </a:r>
          </a:p>
        </p:txBody>
      </p:sp>
      <p:sp>
        <p:nvSpPr>
          <p:cNvPr id="23" name="Rounded Rectangle 22"/>
          <p:cNvSpPr/>
          <p:nvPr/>
        </p:nvSpPr>
        <p:spPr>
          <a:xfrm>
            <a:off x="548640" y="3383280"/>
            <a:ext cx="3108960" cy="365760"/>
          </a:xfrm>
          <a:prstGeom prst="roundRect">
            <a:avLst/>
          </a:prstGeom>
          <a:solidFill>
            <a:srgbClr val="DCFCE7"/>
          </a:solidFill>
          <a:ln>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429000"/>
            <a:ext cx="2926080" cy="274320"/>
          </a:xfrm>
          <a:prstGeom prst="rect">
            <a:avLst/>
          </a:prstGeom>
          <a:noFill/>
        </p:spPr>
        <p:txBody>
          <a:bodyPr wrap="square" lIns="18288" rIns="18288" tIns="18288" bIns="18288">
            <a:spAutoFit/>
          </a:bodyPr>
          <a:lstStyle/>
          <a:p>
            <a:pPr algn="l">
              <a:defRPr sz="850" b="1">
                <a:solidFill>
                  <a:srgbClr val="0A1D37"/>
                </a:solidFill>
                <a:latin typeface="Arial"/>
              </a:defRPr>
            </a:pPr>
            <a:r>
              <a:t>CPD Trung bình 2 thành phố: 628,423 VND</a:t>
            </a:r>
          </a:p>
        </p:txBody>
      </p:sp>
      <p:sp>
        <p:nvSpPr>
          <p:cNvPr id="25" name="Rounded Rectangle 24"/>
          <p:cNvSpPr/>
          <p:nvPr/>
        </p:nvSpPr>
        <p:spPr>
          <a:xfrm>
            <a:off x="3977639" y="2057400"/>
            <a:ext cx="3474720" cy="19202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77639" y="2057400"/>
            <a:ext cx="3474720" cy="32004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0" y="2075688"/>
            <a:ext cx="3200400" cy="274320"/>
          </a:xfrm>
          <a:prstGeom prst="rect">
            <a:avLst/>
          </a:prstGeom>
          <a:noFill/>
        </p:spPr>
        <p:txBody>
          <a:bodyPr wrap="square" lIns="18288" rIns="18288" tIns="18288" bIns="18288">
            <a:spAutoFit/>
          </a:bodyPr>
          <a:lstStyle/>
          <a:p>
            <a:pPr algn="l">
              <a:defRPr sz="900" b="1">
                <a:solidFill>
                  <a:srgbClr val="FFFFFF"/>
                </a:solidFill>
                <a:latin typeface="Arial"/>
              </a:defRPr>
            </a:pPr>
            <a:r>
              <a:t>TỶ TRỌNG NGUỒN TUYỂN DỤNG EV</a:t>
            </a:r>
          </a:p>
        </p:txBody>
      </p:sp>
      <p:sp>
        <p:nvSpPr>
          <p:cNvPr id="28" name="Oval 27"/>
          <p:cNvSpPr/>
          <p:nvPr/>
        </p:nvSpPr>
        <p:spPr>
          <a:xfrm>
            <a:off x="4297680" y="2514600"/>
            <a:ext cx="1005840" cy="1005840"/>
          </a:xfrm>
          <a:prstGeom prst="ellipse">
            <a:avLst/>
          </a:prstGeom>
          <a:solidFill>
            <a:srgbClr val="FFFFFF"/>
          </a:solidFill>
          <a:ln w="508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0" y="2423160"/>
            <a:ext cx="1920240" cy="1280160"/>
          </a:xfrm>
          <a:prstGeom prst="rect">
            <a:avLst/>
          </a:prstGeom>
          <a:noFill/>
        </p:spPr>
        <p:txBody>
          <a:bodyPr wrap="square" lIns="18288" rIns="18288" tIns="18288" bIns="18288">
            <a:spAutoFit/>
          </a:bodyPr>
          <a:lstStyle/>
          <a:p>
            <a:pPr algn="l">
              <a:defRPr sz="800" b="1">
                <a:solidFill>
                  <a:srgbClr val="0A1D37"/>
                </a:solidFill>
                <a:latin typeface="Arial"/>
              </a:defRPr>
            </a:pPr>
            <a:r>
              <a:t>Digital Ads: 46%</a:t>
            </a:r>
            <a:br/>
            <a:r>
              <a:t>Organic: 37%</a:t>
            </a:r>
            <a:br/>
            <a:r>
              <a:t>Referral: 13%</a:t>
            </a:r>
            <a:br/>
            <a:r>
              <a:t>Salesforce: 4%</a:t>
            </a:r>
          </a:p>
        </p:txBody>
      </p:sp>
      <p:sp>
        <p:nvSpPr>
          <p:cNvPr id="30" name="Rounded Rectangle 29"/>
          <p:cNvSpPr/>
          <p:nvPr/>
        </p:nvSpPr>
        <p:spPr>
          <a:xfrm>
            <a:off x="7589520" y="2057400"/>
            <a:ext cx="4233672" cy="19202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0" y="2148840"/>
            <a:ext cx="3840480" cy="274320"/>
          </a:xfrm>
          <a:prstGeom prst="rect">
            <a:avLst/>
          </a:prstGeom>
          <a:noFill/>
        </p:spPr>
        <p:txBody>
          <a:bodyPr wrap="square" lIns="18288" rIns="18288" tIns="18288" bIns="18288">
            <a:spAutoFit/>
          </a:bodyPr>
          <a:lstStyle/>
          <a:p>
            <a:pPr algn="l">
              <a:defRPr sz="1000" b="1">
                <a:solidFill>
                  <a:srgbClr val="FF5500"/>
                </a:solidFill>
                <a:latin typeface="Arial"/>
              </a:defRPr>
            </a:pPr>
            <a:r>
              <a:t>💡 INSIGHT &amp; NHẬN ĐỊNH VẬN HÀNH</a:t>
            </a:r>
          </a:p>
        </p:txBody>
      </p:sp>
      <p:sp>
        <p:nvSpPr>
          <p:cNvPr id="32" name="TextBox 31"/>
          <p:cNvSpPr txBox="1"/>
          <p:nvPr/>
        </p:nvSpPr>
        <p:spPr>
          <a:xfrm>
            <a:off x="7772400" y="2468880"/>
            <a:ext cx="3840480" cy="365760"/>
          </a:xfrm>
          <a:prstGeom prst="rect">
            <a:avLst/>
          </a:prstGeom>
          <a:noFill/>
        </p:spPr>
        <p:txBody>
          <a:bodyPr wrap="square" lIns="18288" rIns="18288" tIns="18288" bIns="18288">
            <a:spAutoFit/>
          </a:bodyPr>
          <a:lstStyle/>
          <a:p>
            <a:pPr algn="l">
              <a:defRPr sz="850" b="0">
                <a:solidFill>
                  <a:srgbClr val="6B7280"/>
                </a:solidFill>
                <a:latin typeface="Arial"/>
              </a:defRPr>
            </a:pPr>
            <a:r>
              <a:t>• Nguồn tuyển dụng EV chủ yếu qua Digital Ads &amp; Livestream vận hành hàng tuần.</a:t>
            </a:r>
          </a:p>
        </p:txBody>
      </p:sp>
      <p:sp>
        <p:nvSpPr>
          <p:cNvPr id="33" name="TextBox 32"/>
          <p:cNvSpPr txBox="1"/>
          <p:nvPr/>
        </p:nvSpPr>
        <p:spPr>
          <a:xfrm>
            <a:off x="7772400" y="2880360"/>
            <a:ext cx="3840480" cy="365760"/>
          </a:xfrm>
          <a:prstGeom prst="rect">
            <a:avLst/>
          </a:prstGeom>
          <a:noFill/>
        </p:spPr>
        <p:txBody>
          <a:bodyPr wrap="square" lIns="18288" rIns="18288" tIns="18288" bIns="18288">
            <a:spAutoFit/>
          </a:bodyPr>
          <a:lstStyle/>
          <a:p>
            <a:pPr algn="l">
              <a:defRPr sz="850" b="0">
                <a:solidFill>
                  <a:srgbClr val="6B7280"/>
                </a:solidFill>
                <a:latin typeface="Arial"/>
              </a:defRPr>
            </a:pPr>
            <a:r>
              <a:t>• Kênh đối tác giới thiệu (Referral) chiếm tỷ trọng tốt nhờ chính sách thưởng hấp dẫn.</a:t>
            </a:r>
          </a:p>
        </p:txBody>
      </p:sp>
      <p:sp>
        <p:nvSpPr>
          <p:cNvPr id="34" name="TextBox 33"/>
          <p:cNvSpPr txBox="1"/>
          <p:nvPr/>
        </p:nvSpPr>
        <p:spPr>
          <a:xfrm>
            <a:off x="7772400" y="3291840"/>
            <a:ext cx="3840480" cy="365760"/>
          </a:xfrm>
          <a:prstGeom prst="rect">
            <a:avLst/>
          </a:prstGeom>
          <a:noFill/>
        </p:spPr>
        <p:txBody>
          <a:bodyPr wrap="square" lIns="18288" rIns="18288" tIns="18288" bIns="18288">
            <a:spAutoFit/>
          </a:bodyPr>
          <a:lstStyle/>
          <a:p>
            <a:pPr algn="l">
              <a:defRPr sz="850" b="0">
                <a:solidFill>
                  <a:srgbClr val="6B7280"/>
                </a:solidFill>
                <a:latin typeface="Arial"/>
              </a:defRPr>
            </a:pPr>
            <a:r>
              <a:t>• Cần kiểm soát chặt chi phí quảng cáo số nhằm tránh lãng phí ngân sách.</a:t>
            </a:r>
          </a:p>
        </p:txBody>
      </p:sp>
      <p:sp>
        <p:nvSpPr>
          <p:cNvPr id="35" name="Rounded Rectangle 34"/>
          <p:cNvSpPr/>
          <p:nvPr/>
        </p:nvSpPr>
        <p:spPr>
          <a:xfrm>
            <a:off x="365760" y="4069080"/>
            <a:ext cx="7086600" cy="17373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114800"/>
            <a:ext cx="6675120" cy="274320"/>
          </a:xfrm>
          <a:prstGeom prst="rect">
            <a:avLst/>
          </a:prstGeom>
          <a:noFill/>
        </p:spPr>
        <p:txBody>
          <a:bodyPr wrap="square" lIns="18288" rIns="18288" tIns="18288" bIns="18288">
            <a:spAutoFit/>
          </a:bodyPr>
          <a:lstStyle/>
          <a:p>
            <a:pPr algn="l">
              <a:defRPr sz="950" b="1">
                <a:solidFill>
                  <a:srgbClr val="1E40AF"/>
                </a:solidFill>
                <a:latin typeface="Arial"/>
              </a:defRPr>
            </a:pPr>
            <a:r>
              <a:t>📈 EV GROWTH &amp; DEMAND COVERAGE</a:t>
            </a:r>
          </a:p>
        </p:txBody>
      </p:sp>
      <p:sp>
        <p:nvSpPr>
          <p:cNvPr id="37" name="Rectangle 36"/>
          <p:cNvSpPr/>
          <p:nvPr/>
        </p:nvSpPr>
        <p:spPr>
          <a:xfrm>
            <a:off x="731520" y="5158108"/>
            <a:ext cx="548640" cy="145411"/>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349240"/>
            <a:ext cx="914400" cy="274320"/>
          </a:xfrm>
          <a:prstGeom prst="rect">
            <a:avLst/>
          </a:prstGeom>
          <a:noFill/>
        </p:spPr>
        <p:txBody>
          <a:bodyPr wrap="square" lIns="18288" rIns="18288" tIns="18288" bIns="18288">
            <a:spAutoFit/>
          </a:bodyPr>
          <a:lstStyle/>
          <a:p>
            <a:pPr algn="ctr">
              <a:defRPr sz="750" b="0">
                <a:solidFill>
                  <a:srgbClr val="6B7280"/>
                </a:solidFill>
                <a:latin typeface="Arial"/>
              </a:defRPr>
            </a:pPr>
            <a:r>
              <a:t>378</a:t>
            </a:r>
            <a:br/>
            <a:r>
              <a:t>Tháng 4</a:t>
            </a:r>
          </a:p>
        </p:txBody>
      </p:sp>
      <p:sp>
        <p:nvSpPr>
          <p:cNvPr id="39" name="Rectangle 38"/>
          <p:cNvSpPr/>
          <p:nvPr/>
        </p:nvSpPr>
        <p:spPr>
          <a:xfrm>
            <a:off x="1783080" y="5066168"/>
            <a:ext cx="548640" cy="237351"/>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00200" y="5349240"/>
            <a:ext cx="914400" cy="274320"/>
          </a:xfrm>
          <a:prstGeom prst="rect">
            <a:avLst/>
          </a:prstGeom>
          <a:noFill/>
        </p:spPr>
        <p:txBody>
          <a:bodyPr wrap="square" lIns="18288" rIns="18288" tIns="18288" bIns="18288">
            <a:spAutoFit/>
          </a:bodyPr>
          <a:lstStyle/>
          <a:p>
            <a:pPr algn="ctr">
              <a:defRPr sz="750" b="0">
                <a:solidFill>
                  <a:srgbClr val="6B7280"/>
                </a:solidFill>
                <a:latin typeface="Arial"/>
              </a:defRPr>
            </a:pPr>
            <a:r>
              <a:t>617</a:t>
            </a:r>
            <a:br/>
            <a:r>
              <a:t>Tháng 5</a:t>
            </a:r>
          </a:p>
        </p:txBody>
      </p:sp>
      <p:sp>
        <p:nvSpPr>
          <p:cNvPr id="41" name="Rectangle 40"/>
          <p:cNvSpPr/>
          <p:nvPr/>
        </p:nvSpPr>
        <p:spPr>
          <a:xfrm>
            <a:off x="2834640" y="4872671"/>
            <a:ext cx="548640" cy="430848"/>
          </a:xfrm>
          <a:prstGeom prst="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51760" y="5349240"/>
            <a:ext cx="914400" cy="274320"/>
          </a:xfrm>
          <a:prstGeom prst="rect">
            <a:avLst/>
          </a:prstGeom>
          <a:noFill/>
        </p:spPr>
        <p:txBody>
          <a:bodyPr wrap="square" lIns="18288" rIns="18288" tIns="18288" bIns="18288">
            <a:spAutoFit/>
          </a:bodyPr>
          <a:lstStyle/>
          <a:p>
            <a:pPr algn="ctr">
              <a:defRPr sz="750" b="0">
                <a:solidFill>
                  <a:srgbClr val="6B7280"/>
                </a:solidFill>
                <a:latin typeface="Arial"/>
              </a:defRPr>
            </a:pPr>
            <a:r>
              <a:t>1120</a:t>
            </a:r>
            <a:br/>
            <a:r>
              <a:t>Tháng 6</a:t>
            </a:r>
          </a:p>
        </p:txBody>
      </p:sp>
      <p:sp>
        <p:nvSpPr>
          <p:cNvPr id="43" name="Rectangle 42"/>
          <p:cNvSpPr/>
          <p:nvPr/>
        </p:nvSpPr>
        <p:spPr>
          <a:xfrm>
            <a:off x="3886200" y="4733799"/>
            <a:ext cx="548640" cy="569720"/>
          </a:xfrm>
          <a:prstGeom prst="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03320" y="5349240"/>
            <a:ext cx="914400" cy="274320"/>
          </a:xfrm>
          <a:prstGeom prst="rect">
            <a:avLst/>
          </a:prstGeom>
          <a:noFill/>
        </p:spPr>
        <p:txBody>
          <a:bodyPr wrap="square" lIns="18288" rIns="18288" tIns="18288" bIns="18288">
            <a:spAutoFit/>
          </a:bodyPr>
          <a:lstStyle/>
          <a:p>
            <a:pPr algn="ctr">
              <a:defRPr sz="750" b="0">
                <a:solidFill>
                  <a:srgbClr val="6B7280"/>
                </a:solidFill>
                <a:latin typeface="Arial"/>
              </a:defRPr>
            </a:pPr>
            <a:r>
              <a:t>1481</a:t>
            </a:r>
            <a:br/>
            <a:r>
              <a:t>Tháng 7 (T)</a:t>
            </a:r>
          </a:p>
        </p:txBody>
      </p:sp>
      <p:sp>
        <p:nvSpPr>
          <p:cNvPr id="45" name="Rectangle 44"/>
          <p:cNvSpPr/>
          <p:nvPr/>
        </p:nvSpPr>
        <p:spPr>
          <a:xfrm>
            <a:off x="4937760" y="4567229"/>
            <a:ext cx="548640" cy="736290"/>
          </a:xfrm>
          <a:prstGeom prst="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54880" y="5349240"/>
            <a:ext cx="914400" cy="274320"/>
          </a:xfrm>
          <a:prstGeom prst="rect">
            <a:avLst/>
          </a:prstGeom>
          <a:noFill/>
        </p:spPr>
        <p:txBody>
          <a:bodyPr wrap="square" lIns="18288" rIns="18288" tIns="18288" bIns="18288">
            <a:spAutoFit/>
          </a:bodyPr>
          <a:lstStyle/>
          <a:p>
            <a:pPr algn="ctr">
              <a:defRPr sz="750" b="0">
                <a:solidFill>
                  <a:srgbClr val="6B7280"/>
                </a:solidFill>
                <a:latin typeface="Arial"/>
              </a:defRPr>
            </a:pPr>
            <a:r>
              <a:t>1914</a:t>
            </a:r>
            <a:br/>
            <a:r>
              <a:t>Tháng 8 (T)</a:t>
            </a:r>
          </a:p>
        </p:txBody>
      </p:sp>
      <p:sp>
        <p:nvSpPr>
          <p:cNvPr id="47" name="Rectangle 46"/>
          <p:cNvSpPr/>
          <p:nvPr/>
        </p:nvSpPr>
        <p:spPr>
          <a:xfrm>
            <a:off x="5989320" y="4389120"/>
            <a:ext cx="548640" cy="914400"/>
          </a:xfrm>
          <a:prstGeom prst="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06440" y="5349240"/>
            <a:ext cx="914400" cy="274320"/>
          </a:xfrm>
          <a:prstGeom prst="rect">
            <a:avLst/>
          </a:prstGeom>
          <a:noFill/>
        </p:spPr>
        <p:txBody>
          <a:bodyPr wrap="square" lIns="18288" rIns="18288" tIns="18288" bIns="18288">
            <a:spAutoFit/>
          </a:bodyPr>
          <a:lstStyle/>
          <a:p>
            <a:pPr algn="ctr">
              <a:defRPr sz="750" b="0">
                <a:solidFill>
                  <a:srgbClr val="6B7280"/>
                </a:solidFill>
                <a:latin typeface="Arial"/>
              </a:defRPr>
            </a:pPr>
            <a:r>
              <a:t>2377</a:t>
            </a:r>
            <a:br/>
            <a:r>
              <a:t>Tháng 9 (T)</a:t>
            </a:r>
          </a:p>
        </p:txBody>
      </p:sp>
      <p:sp>
        <p:nvSpPr>
          <p:cNvPr id="49" name="Rounded Rectangle 48"/>
          <p:cNvSpPr/>
          <p:nvPr/>
        </p:nvSpPr>
        <p:spPr>
          <a:xfrm>
            <a:off x="7589520" y="4069080"/>
            <a:ext cx="4233672" cy="173736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0" y="4114800"/>
            <a:ext cx="3840480" cy="274320"/>
          </a:xfrm>
          <a:prstGeom prst="rect">
            <a:avLst/>
          </a:prstGeom>
          <a:noFill/>
        </p:spPr>
        <p:txBody>
          <a:bodyPr wrap="square" lIns="18288" rIns="18288" tIns="18288" bIns="18288">
            <a:spAutoFit/>
          </a:bodyPr>
          <a:lstStyle/>
          <a:p>
            <a:pPr algn="l">
              <a:defRPr sz="1000" b="1">
                <a:solidFill>
                  <a:srgbClr val="1E40AF"/>
                </a:solidFill>
                <a:latin typeface="Arial"/>
              </a:defRPr>
            </a:pPr>
            <a:r>
              <a:t>🎯 KẾ THOẠCH QUÝ 3 - BỨT PHÁ</a:t>
            </a:r>
          </a:p>
        </p:txBody>
      </p:sp>
      <p:sp>
        <p:nvSpPr>
          <p:cNvPr id="51" name="TextBox 50"/>
          <p:cNvSpPr txBox="1"/>
          <p:nvPr/>
        </p:nvSpPr>
        <p:spPr>
          <a:xfrm>
            <a:off x="7772400" y="4434840"/>
            <a:ext cx="3840480" cy="914400"/>
          </a:xfrm>
          <a:prstGeom prst="rect">
            <a:avLst/>
          </a:prstGeom>
          <a:noFill/>
        </p:spPr>
        <p:txBody>
          <a:bodyPr wrap="square" lIns="18288" rIns="18288" tIns="18288" bIns="18288">
            <a:spAutoFit/>
          </a:bodyPr>
          <a:lstStyle/>
          <a:p>
            <a:pPr algn="l">
              <a:defRPr sz="850" b="1">
                <a:solidFill>
                  <a:srgbClr val="0A1D37"/>
                </a:solidFill>
                <a:latin typeface="Arial"/>
              </a:defRPr>
            </a:pPr>
            <a:r>
              <a:t>• Tiếp tục thúc đẩy dán decal phủ sóng thực địa.</a:t>
            </a:r>
            <a:br/>
            <a:r>
              <a:t>• Kích hoạt gói RENT TO OWN hỗ trợ tối đa tài xế thuê/mua xe điện giá rẻ.</a:t>
            </a:r>
            <a:br/>
            <a:r>
              <a:t>• Mục tiêu Q3: Đạt 2,377 tài xế hoạt động &amp; 13% Demand VD1.</a:t>
            </a:r>
          </a:p>
        </p:txBody>
      </p:sp>
      <p:sp>
        <p:nvSpPr>
          <p:cNvPr id="52" name="Rounded Rectangle 51"/>
          <p:cNvSpPr/>
          <p:nvPr/>
        </p:nvSpPr>
        <p:spPr>
          <a:xfrm>
            <a:off x="365760" y="5897880"/>
            <a:ext cx="11457432"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5961888"/>
            <a:ext cx="3657600" cy="365760"/>
          </a:xfrm>
          <a:prstGeom prst="rect">
            <a:avLst/>
          </a:prstGeom>
          <a:noFill/>
        </p:spPr>
        <p:txBody>
          <a:bodyPr wrap="square" lIns="18288" rIns="18288" tIns="18288" bIns="18288">
            <a:spAutoFit/>
          </a:bodyPr>
          <a:lstStyle/>
          <a:p>
            <a:pPr algn="ctr">
              <a:defRPr sz="950" b="1">
                <a:solidFill>
                  <a:srgbClr val="10B981"/>
                </a:solidFill>
                <a:latin typeface="Arial"/>
              </a:defRPr>
            </a:pPr>
            <a:r>
              <a:t>🌱 XANH HƠN CHO THÀNH PHỐ     </a:t>
            </a:r>
          </a:p>
        </p:txBody>
      </p:sp>
      <p:sp>
        <p:nvSpPr>
          <p:cNvPr id="54" name="TextBox 53"/>
          <p:cNvSpPr txBox="1"/>
          <p:nvPr/>
        </p:nvSpPr>
        <p:spPr>
          <a:xfrm>
            <a:off x="4114799" y="5961888"/>
            <a:ext cx="3657600" cy="365760"/>
          </a:xfrm>
          <a:prstGeom prst="rect">
            <a:avLst/>
          </a:prstGeom>
          <a:noFill/>
        </p:spPr>
        <p:txBody>
          <a:bodyPr wrap="square" lIns="18288" rIns="18288" tIns="18288" bIns="18288">
            <a:spAutoFit/>
          </a:bodyPr>
          <a:lstStyle/>
          <a:p>
            <a:pPr algn="ctr">
              <a:defRPr sz="950" b="1">
                <a:solidFill>
                  <a:srgbClr val="1E40AF"/>
                </a:solidFill>
                <a:latin typeface="Arial"/>
              </a:defRPr>
            </a:pPr>
            <a:r>
              <a:t>💰 TIẾT KIỆM HƠN CHO ĐỐI TÁC     </a:t>
            </a:r>
          </a:p>
        </p:txBody>
      </p:sp>
      <p:sp>
        <p:nvSpPr>
          <p:cNvPr id="55" name="TextBox 54"/>
          <p:cNvSpPr txBox="1"/>
          <p:nvPr/>
        </p:nvSpPr>
        <p:spPr>
          <a:xfrm>
            <a:off x="7863838" y="5961888"/>
            <a:ext cx="3657600" cy="365760"/>
          </a:xfrm>
          <a:prstGeom prst="rect">
            <a:avLst/>
          </a:prstGeom>
          <a:noFill/>
        </p:spPr>
        <p:txBody>
          <a:bodyPr wrap="square" lIns="18288" rIns="18288" tIns="18288" bIns="18288">
            <a:spAutoFit/>
          </a:bodyPr>
          <a:lstStyle/>
          <a:p>
            <a:pPr algn="ctr">
              <a:defRPr sz="950" b="1">
                <a:solidFill>
                  <a:srgbClr val="FF5500"/>
                </a:solidFill>
                <a:latin typeface="Arial"/>
              </a:defRPr>
            </a:pPr>
            <a:r>
              <a:t>🛡️ BỀN VỮNG HƠN CHO TƯƠNG LAI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hamove_logo_transparent.png"/>
          <p:cNvPicPr>
            <a:picLocks noChangeAspect="1"/>
          </p:cNvPicPr>
          <p:nvPr/>
        </p:nvPicPr>
        <p:blipFill>
          <a:blip r:embed="rId2"/>
          <a:stretch>
            <a:fillRect/>
          </a:stretch>
        </p:blipFill>
        <p:spPr>
          <a:xfrm>
            <a:off x="365760" y="109728"/>
            <a:ext cx="1371600" cy="237744"/>
          </a:xfrm>
          <a:prstGeom prst="rect">
            <a:avLst/>
          </a:prstGeom>
        </p:spPr>
      </p:pic>
      <p:sp>
        <p:nvSpPr>
          <p:cNvPr id="3" name="TextBox 2"/>
          <p:cNvSpPr txBox="1"/>
          <p:nvPr/>
        </p:nvSpPr>
        <p:spPr>
          <a:xfrm>
            <a:off x="365760" y="411480"/>
            <a:ext cx="8961120" cy="731520"/>
          </a:xfrm>
          <a:prstGeom prst="rect">
            <a:avLst/>
          </a:prstGeom>
          <a:noFill/>
        </p:spPr>
        <p:txBody>
          <a:bodyPr wrap="square" lIns="0" tIns="0" rIns="0" bIns="0">
            <a:spAutoFit/>
          </a:bodyPr>
          <a:lstStyle/>
          <a:p>
            <a:r>
              <a:rPr sz="2200" b="1">
                <a:solidFill>
                  <a:srgbClr val="0A1D37"/>
                </a:solidFill>
                <a:latin typeface="Montserrat"/>
              </a:rPr>
              <a:t>Nguồn cung Tài xế Baga</a:t>
            </a:r>
            <a:r>
              <a:rPr sz="2200" b="1">
                <a:solidFill>
                  <a:srgbClr val="FF5500"/>
                </a:solidFill>
                <a:latin typeface="Montserrat"/>
              </a:rPr>
              <a:t> theo City</a:t>
            </a:r>
          </a:p>
          <a:p>
            <a:pPr>
              <a:defRPr sz="1050">
                <a:solidFill>
                  <a:srgbClr val="6B7280"/>
                </a:solidFill>
                <a:latin typeface="Arial"/>
              </a:defRPr>
            </a:pPr>
            <a:r>
              <a:t>Active Driver • Enabled Baga • Active Baga | 15/6 – 29/6/2026</a:t>
            </a:r>
          </a:p>
        </p:txBody>
      </p:sp>
      <p:sp>
        <p:nvSpPr>
          <p:cNvPr id="4" name="Rounded Rectangle 3"/>
          <p:cNvSpPr/>
          <p:nvPr/>
        </p:nvSpPr>
        <p:spPr>
          <a:xfrm>
            <a:off x="9875520" y="228600"/>
            <a:ext cx="1920240" cy="502920"/>
          </a:xfrm>
          <a:prstGeom prst="roundRect">
            <a:avLst/>
          </a:prstGeom>
          <a:solidFill>
            <a:srgbClr val="0A1D37"/>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0" y="228600"/>
            <a:ext cx="1920240" cy="502920"/>
          </a:xfrm>
          <a:prstGeom prst="rect">
            <a:avLst/>
          </a:prstGeom>
          <a:noFill/>
        </p:spPr>
        <p:txBody>
          <a:bodyPr wrap="square" lIns="36576" rIns="36576" tIns="36576" bIns="36576">
            <a:spAutoFit/>
          </a:bodyPr>
          <a:lstStyle/>
          <a:p>
            <a:pPr algn="ctr">
              <a:defRPr sz="850" b="1">
                <a:solidFill>
                  <a:srgbClr val="FFFFFF"/>
                </a:solidFill>
                <a:latin typeface="Arial"/>
              </a:defRPr>
            </a:pPr>
            <a:r>
              <a:t>BAGA SUPPLY</a:t>
            </a:r>
          </a:p>
        </p:txBody>
      </p:sp>
      <p:sp>
        <p:nvSpPr>
          <p:cNvPr id="6" name="Rounded Rectangle 5"/>
          <p:cNvSpPr/>
          <p:nvPr/>
        </p:nvSpPr>
        <p:spPr>
          <a:xfrm>
            <a:off x="365760" y="1097280"/>
            <a:ext cx="1371600" cy="4663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097280"/>
            <a:ext cx="1371600" cy="36576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70432"/>
            <a:ext cx="1371600" cy="320040"/>
          </a:xfrm>
          <a:prstGeom prst="rect">
            <a:avLst/>
          </a:prstGeom>
          <a:noFill/>
        </p:spPr>
        <p:txBody>
          <a:bodyPr wrap="square" lIns="18288" rIns="18288" tIns="18288" bIns="18288">
            <a:spAutoFit/>
          </a:bodyPr>
          <a:lstStyle/>
          <a:p>
            <a:pPr algn="ctr">
              <a:defRPr sz="900" b="1">
                <a:solidFill>
                  <a:srgbClr val="FFFFFF"/>
                </a:solidFill>
                <a:latin typeface="Arial"/>
              </a:defRPr>
            </a:pPr>
            <a:r>
              <a:t>TIÊU CHÍ</a:t>
            </a:r>
          </a:p>
        </p:txBody>
      </p:sp>
      <p:sp>
        <p:nvSpPr>
          <p:cNvPr id="9" name="TextBox 8"/>
          <p:cNvSpPr txBox="1"/>
          <p:nvPr/>
        </p:nvSpPr>
        <p:spPr>
          <a:xfrm>
            <a:off x="411480" y="1645920"/>
            <a:ext cx="1280160" cy="731520"/>
          </a:xfrm>
          <a:prstGeom prst="rect">
            <a:avLst/>
          </a:prstGeom>
          <a:noFill/>
        </p:spPr>
        <p:txBody>
          <a:bodyPr wrap="square" lIns="18288" rIns="18288" tIns="18288" bIns="18288">
            <a:spAutoFit/>
          </a:bodyPr>
          <a:lstStyle/>
          <a:p>
            <a:pPr algn="l">
              <a:defRPr sz="900" b="1">
                <a:solidFill>
                  <a:srgbClr val="0A1D37"/>
                </a:solidFill>
                <a:latin typeface="Arial"/>
              </a:defRPr>
            </a:pPr>
            <a:r>
              <a:t>👥 Tổng active</a:t>
            </a:r>
            <a:br/>
            <a:r>
              <a:t>driver</a:t>
            </a:r>
          </a:p>
        </p:txBody>
      </p:sp>
      <p:sp>
        <p:nvSpPr>
          <p:cNvPr id="10" name="TextBox 9"/>
          <p:cNvSpPr txBox="1"/>
          <p:nvPr/>
        </p:nvSpPr>
        <p:spPr>
          <a:xfrm>
            <a:off x="411480" y="2468880"/>
            <a:ext cx="1280160" cy="731520"/>
          </a:xfrm>
          <a:prstGeom prst="rect">
            <a:avLst/>
          </a:prstGeom>
          <a:noFill/>
        </p:spPr>
        <p:txBody>
          <a:bodyPr wrap="square" lIns="18288" rIns="18288" tIns="18288" bIns="18288">
            <a:spAutoFit/>
          </a:bodyPr>
          <a:lstStyle/>
          <a:p>
            <a:pPr algn="l">
              <a:defRPr sz="900" b="1">
                <a:solidFill>
                  <a:srgbClr val="0A1D37"/>
                </a:solidFill>
                <a:latin typeface="Arial"/>
              </a:defRPr>
            </a:pPr>
            <a:r>
              <a:t>🛡️ Enabled baga</a:t>
            </a:r>
          </a:p>
        </p:txBody>
      </p:sp>
      <p:sp>
        <p:nvSpPr>
          <p:cNvPr id="11" name="TextBox 10"/>
          <p:cNvSpPr txBox="1"/>
          <p:nvPr/>
        </p:nvSpPr>
        <p:spPr>
          <a:xfrm>
            <a:off x="411480" y="3291840"/>
            <a:ext cx="1280160" cy="731520"/>
          </a:xfrm>
          <a:prstGeom prst="rect">
            <a:avLst/>
          </a:prstGeom>
          <a:noFill/>
        </p:spPr>
        <p:txBody>
          <a:bodyPr wrap="square" lIns="18288" rIns="18288" tIns="18288" bIns="18288">
            <a:spAutoFit/>
          </a:bodyPr>
          <a:lstStyle/>
          <a:p>
            <a:pPr algn="l">
              <a:defRPr sz="900" b="1">
                <a:solidFill>
                  <a:srgbClr val="0A1D37"/>
                </a:solidFill>
                <a:latin typeface="Arial"/>
              </a:defRPr>
            </a:pPr>
            <a:r>
              <a:t>🏍️ Active baga</a:t>
            </a:r>
          </a:p>
        </p:txBody>
      </p:sp>
      <p:sp>
        <p:nvSpPr>
          <p:cNvPr id="12" name="TextBox 11"/>
          <p:cNvSpPr txBox="1"/>
          <p:nvPr/>
        </p:nvSpPr>
        <p:spPr>
          <a:xfrm>
            <a:off x="411480" y="4114800"/>
            <a:ext cx="1280160" cy="731520"/>
          </a:xfrm>
          <a:prstGeom prst="rect">
            <a:avLst/>
          </a:prstGeom>
          <a:noFill/>
        </p:spPr>
        <p:txBody>
          <a:bodyPr wrap="square" lIns="18288" rIns="18288" tIns="18288" bIns="18288">
            <a:spAutoFit/>
          </a:bodyPr>
          <a:lstStyle/>
          <a:p>
            <a:pPr algn="l">
              <a:defRPr sz="900" b="1">
                <a:solidFill>
                  <a:srgbClr val="0A1D37"/>
                </a:solidFill>
                <a:latin typeface="Arial"/>
              </a:defRPr>
            </a:pPr>
            <a:r>
              <a:t>📈 Xu hướng /</a:t>
            </a:r>
            <a:br/>
            <a:r>
              <a:t>tín hiệu</a:t>
            </a:r>
          </a:p>
        </p:txBody>
      </p:sp>
      <p:sp>
        <p:nvSpPr>
          <p:cNvPr id="13" name="TextBox 12"/>
          <p:cNvSpPr txBox="1"/>
          <p:nvPr/>
        </p:nvSpPr>
        <p:spPr>
          <a:xfrm>
            <a:off x="411480" y="4937760"/>
            <a:ext cx="1280160" cy="731520"/>
          </a:xfrm>
          <a:prstGeom prst="rect">
            <a:avLst/>
          </a:prstGeom>
          <a:noFill/>
        </p:spPr>
        <p:txBody>
          <a:bodyPr wrap="square" lIns="18288" rIns="18288" tIns="18288" bIns="18288">
            <a:spAutoFit/>
          </a:bodyPr>
          <a:lstStyle/>
          <a:p>
            <a:pPr algn="l">
              <a:defRPr sz="900" b="1">
                <a:solidFill>
                  <a:srgbClr val="0A1D37"/>
                </a:solidFill>
                <a:latin typeface="Arial"/>
              </a:defRPr>
            </a:pPr>
            <a:r>
              <a:t>💬 Nhận định /</a:t>
            </a:r>
            <a:br/>
            <a:r>
              <a:t>ghi chú</a:t>
            </a:r>
          </a:p>
        </p:txBody>
      </p:sp>
      <p:sp>
        <p:nvSpPr>
          <p:cNvPr id="14" name="Rounded Rectangle 13"/>
          <p:cNvSpPr/>
          <p:nvPr/>
        </p:nvSpPr>
        <p:spPr>
          <a:xfrm>
            <a:off x="1828800" y="1097280"/>
            <a:ext cx="2011680" cy="46634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828800" y="1097280"/>
            <a:ext cx="2011680" cy="36576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1170432"/>
            <a:ext cx="2011680" cy="320040"/>
          </a:xfrm>
          <a:prstGeom prst="rect">
            <a:avLst/>
          </a:prstGeom>
          <a:noFill/>
        </p:spPr>
        <p:txBody>
          <a:bodyPr wrap="square" lIns="18288" rIns="18288" tIns="18288" bIns="18288">
            <a:spAutoFit/>
          </a:bodyPr>
          <a:lstStyle/>
          <a:p>
            <a:pPr algn="ctr">
              <a:defRPr sz="900" b="1">
                <a:solidFill>
                  <a:srgbClr val="FFFFFF"/>
                </a:solidFill>
                <a:latin typeface="Arial"/>
              </a:defRPr>
            </a:pPr>
            <a:r>
              <a:t>SGN – Active Driver Baga</a:t>
            </a:r>
          </a:p>
        </p:txBody>
      </p:sp>
      <p:sp>
        <p:nvSpPr>
          <p:cNvPr id="17" name="TextBox 16"/>
          <p:cNvSpPr txBox="1"/>
          <p:nvPr/>
        </p:nvSpPr>
        <p:spPr>
          <a:xfrm>
            <a:off x="1920240" y="1508760"/>
            <a:ext cx="1828800" cy="320040"/>
          </a:xfrm>
          <a:prstGeom prst="rect">
            <a:avLst/>
          </a:prstGeom>
          <a:noFill/>
        </p:spPr>
        <p:txBody>
          <a:bodyPr wrap="square" lIns="18288" rIns="18288" tIns="18288" bIns="18288">
            <a:spAutoFit/>
          </a:bodyPr>
          <a:lstStyle/>
          <a:p>
            <a:pPr algn="ctr">
              <a:defRPr sz="850" b="1">
                <a:solidFill>
                  <a:srgbClr val="10B981"/>
                </a:solidFill>
                <a:latin typeface="Arial"/>
              </a:defRPr>
            </a:pPr>
            <a:r>
              <a:t>↑ 35% ➔ 39% YoY</a:t>
            </a:r>
          </a:p>
        </p:txBody>
      </p:sp>
      <p:sp>
        <p:nvSpPr>
          <p:cNvPr id="18" name="Rectangle 17"/>
          <p:cNvSpPr/>
          <p:nvPr/>
        </p:nvSpPr>
        <p:spPr>
          <a:xfrm>
            <a:off x="1965960" y="2194560"/>
            <a:ext cx="137160" cy="548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12264" y="2331720"/>
            <a:ext cx="13716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58568" y="2468880"/>
            <a:ext cx="137160" cy="274320"/>
          </a:xfrm>
          <a:prstGeom prst="rect">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0" y="2194560"/>
            <a:ext cx="137160" cy="548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06624" y="2331720"/>
            <a:ext cx="13716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52928" y="2468880"/>
            <a:ext cx="137160" cy="274320"/>
          </a:xfrm>
          <a:prstGeom prst="rect">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54680" y="2194560"/>
            <a:ext cx="137160" cy="548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00984" y="2331720"/>
            <a:ext cx="13716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47288" y="2468880"/>
            <a:ext cx="137160" cy="274320"/>
          </a:xfrm>
          <a:prstGeom prst="rect">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0240" y="2926080"/>
            <a:ext cx="1828800" cy="731520"/>
          </a:xfrm>
          <a:prstGeom prst="rect">
            <a:avLst/>
          </a:prstGeom>
          <a:noFill/>
        </p:spPr>
        <p:txBody>
          <a:bodyPr wrap="square" lIns="18288" rIns="18288" tIns="18288" bIns="18288">
            <a:spAutoFit/>
          </a:bodyPr>
          <a:lstStyle/>
          <a:p>
            <a:pPr algn="l">
              <a:defRPr sz="850" b="0">
                <a:solidFill>
                  <a:srgbClr val="6B7280"/>
                </a:solidFill>
                <a:latin typeface="Arial"/>
              </a:defRPr>
            </a:pPr>
            <a:r>
              <a:t>SGN duy trì tỷ lệ enabled ổn định, active tăng đều qua các tuần.</a:t>
            </a:r>
          </a:p>
        </p:txBody>
      </p:sp>
      <p:sp>
        <p:nvSpPr>
          <p:cNvPr id="28" name="Rounded Rectangle 27"/>
          <p:cNvSpPr/>
          <p:nvPr/>
        </p:nvSpPr>
        <p:spPr>
          <a:xfrm>
            <a:off x="1920240" y="3840480"/>
            <a:ext cx="1828800" cy="914400"/>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65960" y="3886200"/>
            <a:ext cx="1737360" cy="822960"/>
          </a:xfrm>
          <a:prstGeom prst="rect">
            <a:avLst/>
          </a:prstGeom>
          <a:noFill/>
        </p:spPr>
        <p:txBody>
          <a:bodyPr wrap="square" lIns="18288" rIns="18288" tIns="18288" bIns="18288">
            <a:spAutoFit/>
          </a:bodyPr>
          <a:lstStyle/>
          <a:p>
            <a:pPr algn="l">
              <a:defRPr sz="850" b="1">
                <a:solidFill>
                  <a:srgbClr val="1E40AF"/>
                </a:solidFill>
                <a:latin typeface="Arial"/>
              </a:defRPr>
            </a:pPr>
            <a:r>
              <a:t>Tổng Active:</a:t>
            </a:r>
            <a:br/>
            <a:r>
              <a:t>11,176</a:t>
            </a:r>
            <a:br/>
            <a:r>
              <a:t>(Enabled: 5,876)</a:t>
            </a:r>
          </a:p>
        </p:txBody>
      </p:sp>
      <p:sp>
        <p:nvSpPr>
          <p:cNvPr id="30" name="Rounded Rectangle 29"/>
          <p:cNvSpPr/>
          <p:nvPr/>
        </p:nvSpPr>
        <p:spPr>
          <a:xfrm>
            <a:off x="3931920" y="1097280"/>
            <a:ext cx="2011680" cy="46634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931920" y="1097280"/>
            <a:ext cx="2011680" cy="365760"/>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0" y="1170432"/>
            <a:ext cx="2011680" cy="320040"/>
          </a:xfrm>
          <a:prstGeom prst="rect">
            <a:avLst/>
          </a:prstGeom>
          <a:noFill/>
        </p:spPr>
        <p:txBody>
          <a:bodyPr wrap="square" lIns="18288" rIns="18288" tIns="18288" bIns="18288">
            <a:spAutoFit/>
          </a:bodyPr>
          <a:lstStyle/>
          <a:p>
            <a:pPr algn="ctr">
              <a:defRPr sz="900" b="1">
                <a:solidFill>
                  <a:srgbClr val="FFFFFF"/>
                </a:solidFill>
                <a:latin typeface="Arial"/>
              </a:defRPr>
            </a:pPr>
            <a:r>
              <a:t>HAN – Active Driver Baga</a:t>
            </a:r>
          </a:p>
        </p:txBody>
      </p:sp>
      <p:sp>
        <p:nvSpPr>
          <p:cNvPr id="33" name="TextBox 32"/>
          <p:cNvSpPr txBox="1"/>
          <p:nvPr/>
        </p:nvSpPr>
        <p:spPr>
          <a:xfrm>
            <a:off x="4023360" y="1508760"/>
            <a:ext cx="1828800" cy="320040"/>
          </a:xfrm>
          <a:prstGeom prst="rect">
            <a:avLst/>
          </a:prstGeom>
          <a:noFill/>
        </p:spPr>
        <p:txBody>
          <a:bodyPr wrap="square" lIns="18288" rIns="18288" tIns="18288" bIns="18288">
            <a:spAutoFit/>
          </a:bodyPr>
          <a:lstStyle/>
          <a:p>
            <a:pPr algn="ctr">
              <a:defRPr sz="850" b="1">
                <a:solidFill>
                  <a:srgbClr val="10B981"/>
                </a:solidFill>
                <a:latin typeface="Arial"/>
              </a:defRPr>
            </a:pPr>
            <a:r>
              <a:t>↑ 20.6% ➔ 22.1% YoY</a:t>
            </a:r>
          </a:p>
        </p:txBody>
      </p:sp>
      <p:sp>
        <p:nvSpPr>
          <p:cNvPr id="34" name="Rectangle 33"/>
          <p:cNvSpPr/>
          <p:nvPr/>
        </p:nvSpPr>
        <p:spPr>
          <a:xfrm>
            <a:off x="4069080" y="2240280"/>
            <a:ext cx="13716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15384" y="2423160"/>
            <a:ext cx="137160" cy="3200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61688" y="2560320"/>
            <a:ext cx="137160" cy="182880"/>
          </a:xfrm>
          <a:prstGeom prst="rect">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63440" y="2240280"/>
            <a:ext cx="13716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09744" y="2423160"/>
            <a:ext cx="137160" cy="3200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956048" y="2560320"/>
            <a:ext cx="137160" cy="182880"/>
          </a:xfrm>
          <a:prstGeom prst="rect">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257800" y="2240280"/>
            <a:ext cx="137160" cy="5029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04104" y="2423160"/>
            <a:ext cx="137160" cy="3200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50408" y="2560320"/>
            <a:ext cx="137160" cy="182880"/>
          </a:xfrm>
          <a:prstGeom prst="rect">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2926080"/>
            <a:ext cx="1828800" cy="731520"/>
          </a:xfrm>
          <a:prstGeom prst="rect">
            <a:avLst/>
          </a:prstGeom>
          <a:noFill/>
        </p:spPr>
        <p:txBody>
          <a:bodyPr wrap="square" lIns="18288" rIns="18288" tIns="18288" bIns="18288">
            <a:spAutoFit/>
          </a:bodyPr>
          <a:lstStyle/>
          <a:p>
            <a:pPr algn="l">
              <a:defRPr sz="850" b="0">
                <a:solidFill>
                  <a:srgbClr val="6B7280"/>
                </a:solidFill>
                <a:latin typeface="Arial"/>
              </a:defRPr>
            </a:pPr>
            <a:r>
              <a:t>HAN tỷ lệ enabled thấp hơn SGN, nhưng active baga tăng nhẹ dần.</a:t>
            </a:r>
          </a:p>
        </p:txBody>
      </p:sp>
      <p:sp>
        <p:nvSpPr>
          <p:cNvPr id="44" name="Rounded Rectangle 43"/>
          <p:cNvSpPr/>
          <p:nvPr/>
        </p:nvSpPr>
        <p:spPr>
          <a:xfrm>
            <a:off x="4023360" y="3840480"/>
            <a:ext cx="1828800" cy="914400"/>
          </a:xfrm>
          <a:prstGeom prst="roundRect">
            <a:avLst/>
          </a:prstGeom>
          <a:solidFill>
            <a:srgbClr val="FEF2F2"/>
          </a:solidFill>
          <a:ln>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69080" y="3886200"/>
            <a:ext cx="1737360" cy="822960"/>
          </a:xfrm>
          <a:prstGeom prst="rect">
            <a:avLst/>
          </a:prstGeom>
          <a:noFill/>
        </p:spPr>
        <p:txBody>
          <a:bodyPr wrap="square" lIns="18288" rIns="18288" tIns="18288" bIns="18288">
            <a:spAutoFit/>
          </a:bodyPr>
          <a:lstStyle/>
          <a:p>
            <a:pPr algn="l">
              <a:defRPr sz="850" b="1">
                <a:solidFill>
                  <a:srgbClr val="DC2626"/>
                </a:solidFill>
                <a:latin typeface="Arial"/>
              </a:defRPr>
            </a:pPr>
            <a:r>
              <a:t>Tổng Active:</a:t>
            </a:r>
            <a:br/>
            <a:r>
              <a:t>9,563</a:t>
            </a:r>
            <a:br/>
            <a:r>
              <a:t>(Enabled: 2,826)</a:t>
            </a:r>
          </a:p>
        </p:txBody>
      </p:sp>
      <p:sp>
        <p:nvSpPr>
          <p:cNvPr id="46" name="Rounded Rectangle 45"/>
          <p:cNvSpPr/>
          <p:nvPr/>
        </p:nvSpPr>
        <p:spPr>
          <a:xfrm>
            <a:off x="6035040" y="1097280"/>
            <a:ext cx="1463040" cy="46634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035040" y="1097280"/>
            <a:ext cx="1463040" cy="36576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40" y="1170432"/>
            <a:ext cx="1463040" cy="320040"/>
          </a:xfrm>
          <a:prstGeom prst="rect">
            <a:avLst/>
          </a:prstGeom>
          <a:noFill/>
        </p:spPr>
        <p:txBody>
          <a:bodyPr wrap="square" lIns="18288" rIns="18288" tIns="18288" bIns="18288">
            <a:spAutoFit/>
          </a:bodyPr>
          <a:lstStyle/>
          <a:p>
            <a:pPr algn="ctr">
              <a:defRPr sz="900" b="1">
                <a:solidFill>
                  <a:srgbClr val="FFFFFF"/>
                </a:solidFill>
                <a:latin typeface="Arial"/>
              </a:defRPr>
            </a:pPr>
            <a:r>
              <a:t>Enabled Baga</a:t>
            </a:r>
          </a:p>
        </p:txBody>
      </p:sp>
      <p:sp>
        <p:nvSpPr>
          <p:cNvPr id="49" name="TextBox 48"/>
          <p:cNvSpPr txBox="1"/>
          <p:nvPr/>
        </p:nvSpPr>
        <p:spPr>
          <a:xfrm>
            <a:off x="6126480" y="1645920"/>
            <a:ext cx="1280160" cy="228600"/>
          </a:xfrm>
          <a:prstGeom prst="rect">
            <a:avLst/>
          </a:prstGeom>
          <a:noFill/>
        </p:spPr>
        <p:txBody>
          <a:bodyPr wrap="square" lIns="18288" rIns="18288" tIns="18288" bIns="18288">
            <a:spAutoFit/>
          </a:bodyPr>
          <a:lstStyle/>
          <a:p>
            <a:pPr algn="ctr">
              <a:defRPr sz="950" b="1">
                <a:solidFill>
                  <a:srgbClr val="6B7280"/>
                </a:solidFill>
                <a:latin typeface="Arial"/>
              </a:defRPr>
            </a:pPr>
            <a:r>
              <a:t>SGN</a:t>
            </a:r>
          </a:p>
        </p:txBody>
      </p:sp>
      <p:sp>
        <p:nvSpPr>
          <p:cNvPr id="50" name="TextBox 49"/>
          <p:cNvSpPr txBox="1"/>
          <p:nvPr/>
        </p:nvSpPr>
        <p:spPr>
          <a:xfrm>
            <a:off x="6126480" y="1874520"/>
            <a:ext cx="1280160" cy="411480"/>
          </a:xfrm>
          <a:prstGeom prst="rect">
            <a:avLst/>
          </a:prstGeom>
          <a:noFill/>
        </p:spPr>
        <p:txBody>
          <a:bodyPr wrap="square" lIns="18288" rIns="18288" tIns="18288" bIns="18288">
            <a:spAutoFit/>
          </a:bodyPr>
          <a:lstStyle/>
          <a:p>
            <a:pPr algn="ctr">
              <a:defRPr sz="1600" b="1">
                <a:solidFill>
                  <a:srgbClr val="1E40AF"/>
                </a:solidFill>
                <a:latin typeface="Arial"/>
              </a:defRPr>
            </a:pPr>
            <a:r>
              <a:t>52.6%</a:t>
            </a:r>
          </a:p>
        </p:txBody>
      </p:sp>
      <p:sp>
        <p:nvSpPr>
          <p:cNvPr id="51" name="TextBox 50"/>
          <p:cNvSpPr txBox="1"/>
          <p:nvPr/>
        </p:nvSpPr>
        <p:spPr>
          <a:xfrm>
            <a:off x="6126480" y="2286000"/>
            <a:ext cx="1280160" cy="228600"/>
          </a:xfrm>
          <a:prstGeom prst="rect">
            <a:avLst/>
          </a:prstGeom>
          <a:noFill/>
        </p:spPr>
        <p:txBody>
          <a:bodyPr wrap="square" lIns="18288" rIns="18288" tIns="18288" bIns="18288">
            <a:spAutoFit/>
          </a:bodyPr>
          <a:lstStyle/>
          <a:p>
            <a:pPr algn="ctr">
              <a:defRPr sz="800" b="0">
                <a:solidFill>
                  <a:srgbClr val="6B7280"/>
                </a:solidFill>
                <a:latin typeface="Arial"/>
              </a:defRPr>
            </a:pPr>
            <a:r>
              <a:t>total active</a:t>
            </a:r>
          </a:p>
        </p:txBody>
      </p:sp>
      <p:sp>
        <p:nvSpPr>
          <p:cNvPr id="52" name="Rectangle 51"/>
          <p:cNvSpPr/>
          <p:nvPr/>
        </p:nvSpPr>
        <p:spPr>
          <a:xfrm>
            <a:off x="6217920" y="2651760"/>
            <a:ext cx="109728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26480" y="2834640"/>
            <a:ext cx="1280160" cy="228600"/>
          </a:xfrm>
          <a:prstGeom prst="rect">
            <a:avLst/>
          </a:prstGeom>
          <a:noFill/>
        </p:spPr>
        <p:txBody>
          <a:bodyPr wrap="square" lIns="18288" rIns="18288" tIns="18288" bIns="18288">
            <a:spAutoFit/>
          </a:bodyPr>
          <a:lstStyle/>
          <a:p>
            <a:pPr algn="ctr">
              <a:defRPr sz="950" b="1">
                <a:solidFill>
                  <a:srgbClr val="6B7280"/>
                </a:solidFill>
                <a:latin typeface="Arial"/>
              </a:defRPr>
            </a:pPr>
            <a:r>
              <a:t>HAN</a:t>
            </a:r>
          </a:p>
        </p:txBody>
      </p:sp>
      <p:sp>
        <p:nvSpPr>
          <p:cNvPr id="54" name="TextBox 53"/>
          <p:cNvSpPr txBox="1"/>
          <p:nvPr/>
        </p:nvSpPr>
        <p:spPr>
          <a:xfrm>
            <a:off x="6126480" y="3063240"/>
            <a:ext cx="1280160" cy="411480"/>
          </a:xfrm>
          <a:prstGeom prst="rect">
            <a:avLst/>
          </a:prstGeom>
          <a:noFill/>
        </p:spPr>
        <p:txBody>
          <a:bodyPr wrap="square" lIns="18288" rIns="18288" tIns="18288" bIns="18288">
            <a:spAutoFit/>
          </a:bodyPr>
          <a:lstStyle/>
          <a:p>
            <a:pPr algn="ctr">
              <a:defRPr sz="1600" b="1">
                <a:solidFill>
                  <a:srgbClr val="DC2626"/>
                </a:solidFill>
                <a:latin typeface="Arial"/>
              </a:defRPr>
            </a:pPr>
            <a:r>
              <a:t>29.6%</a:t>
            </a:r>
          </a:p>
        </p:txBody>
      </p:sp>
      <p:sp>
        <p:nvSpPr>
          <p:cNvPr id="55" name="TextBox 54"/>
          <p:cNvSpPr txBox="1"/>
          <p:nvPr/>
        </p:nvSpPr>
        <p:spPr>
          <a:xfrm>
            <a:off x="6126480" y="3474720"/>
            <a:ext cx="1280160" cy="228600"/>
          </a:xfrm>
          <a:prstGeom prst="rect">
            <a:avLst/>
          </a:prstGeom>
          <a:noFill/>
        </p:spPr>
        <p:txBody>
          <a:bodyPr wrap="square" lIns="18288" rIns="18288" tIns="18288" bIns="18288">
            <a:spAutoFit/>
          </a:bodyPr>
          <a:lstStyle/>
          <a:p>
            <a:pPr algn="ctr">
              <a:defRPr sz="800" b="0">
                <a:solidFill>
                  <a:srgbClr val="6B7280"/>
                </a:solidFill>
                <a:latin typeface="Arial"/>
              </a:defRPr>
            </a:pPr>
            <a:r>
              <a:t>total active</a:t>
            </a:r>
          </a:p>
        </p:txBody>
      </p:sp>
      <p:sp>
        <p:nvSpPr>
          <p:cNvPr id="56" name="Rounded Rectangle 55"/>
          <p:cNvSpPr/>
          <p:nvPr/>
        </p:nvSpPr>
        <p:spPr>
          <a:xfrm>
            <a:off x="6126480" y="3840480"/>
            <a:ext cx="1280160" cy="1828800"/>
          </a:xfrm>
          <a:prstGeom prst="roundRect">
            <a:avLst/>
          </a:prstGeom>
          <a:solidFill>
            <a:srgbClr val="DCFCE7"/>
          </a:solidFill>
          <a:ln>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72200" y="3886200"/>
            <a:ext cx="1188720" cy="1737360"/>
          </a:xfrm>
          <a:prstGeom prst="rect">
            <a:avLst/>
          </a:prstGeom>
          <a:noFill/>
        </p:spPr>
        <p:txBody>
          <a:bodyPr wrap="square" lIns="18288" rIns="18288" tIns="18288" bIns="18288">
            <a:spAutoFit/>
          </a:bodyPr>
          <a:lstStyle/>
          <a:p>
            <a:pPr algn="l">
              <a:defRPr sz="800" b="1">
                <a:solidFill>
                  <a:srgbClr val="0A1D37"/>
                </a:solidFill>
                <a:latin typeface="Arial"/>
              </a:defRPr>
            </a:pPr>
            <a:r>
              <a:t>✅ Tỷ lệ tài xế enabled baga trên tổng active ổn định, SGN cao gấp đôi HAN - tiềm năng mở rộng HAN còn lớn.</a:t>
            </a:r>
          </a:p>
        </p:txBody>
      </p:sp>
      <p:sp>
        <p:nvSpPr>
          <p:cNvPr id="58" name="Rounded Rectangle 57"/>
          <p:cNvSpPr/>
          <p:nvPr/>
        </p:nvSpPr>
        <p:spPr>
          <a:xfrm>
            <a:off x="7589520" y="1097280"/>
            <a:ext cx="1463040" cy="46634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589520" y="1097280"/>
            <a:ext cx="1463040" cy="365760"/>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89520" y="1170432"/>
            <a:ext cx="1463040" cy="320040"/>
          </a:xfrm>
          <a:prstGeom prst="rect">
            <a:avLst/>
          </a:prstGeom>
          <a:noFill/>
        </p:spPr>
        <p:txBody>
          <a:bodyPr wrap="square" lIns="18288" rIns="18288" tIns="18288" bIns="18288">
            <a:spAutoFit/>
          </a:bodyPr>
          <a:lstStyle/>
          <a:p>
            <a:pPr algn="ctr">
              <a:defRPr sz="900" b="1">
                <a:solidFill>
                  <a:srgbClr val="FFFFFF"/>
                </a:solidFill>
                <a:latin typeface="Arial"/>
              </a:defRPr>
            </a:pPr>
            <a:r>
              <a:t>Conversion</a:t>
            </a:r>
          </a:p>
        </p:txBody>
      </p:sp>
      <p:sp>
        <p:nvSpPr>
          <p:cNvPr id="61" name="TextBox 60"/>
          <p:cNvSpPr txBox="1"/>
          <p:nvPr/>
        </p:nvSpPr>
        <p:spPr>
          <a:xfrm>
            <a:off x="7635240" y="1600200"/>
            <a:ext cx="1371600" cy="320040"/>
          </a:xfrm>
          <a:prstGeom prst="rect">
            <a:avLst/>
          </a:prstGeom>
          <a:noFill/>
        </p:spPr>
        <p:txBody>
          <a:bodyPr wrap="square" lIns="18288" rIns="18288" tIns="18288" bIns="18288">
            <a:spAutoFit/>
          </a:bodyPr>
          <a:lstStyle/>
          <a:p>
            <a:pPr algn="ctr">
              <a:defRPr sz="950" b="1">
                <a:solidFill>
                  <a:srgbClr val="1E40AF"/>
                </a:solidFill>
                <a:latin typeface="Arial"/>
              </a:defRPr>
            </a:pPr>
            <a:r>
              <a:t>SGN: 74.7%</a:t>
            </a:r>
          </a:p>
        </p:txBody>
      </p:sp>
      <p:sp>
        <p:nvSpPr>
          <p:cNvPr id="62" name="Rectangle 61"/>
          <p:cNvSpPr/>
          <p:nvPr/>
        </p:nvSpPr>
        <p:spPr>
          <a:xfrm>
            <a:off x="7726680" y="1965960"/>
            <a:ext cx="1188720" cy="9144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726680" y="1965960"/>
            <a:ext cx="887973"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35240" y="2286000"/>
            <a:ext cx="1371600" cy="320040"/>
          </a:xfrm>
          <a:prstGeom prst="rect">
            <a:avLst/>
          </a:prstGeom>
          <a:noFill/>
        </p:spPr>
        <p:txBody>
          <a:bodyPr wrap="square" lIns="18288" rIns="18288" tIns="18288" bIns="18288">
            <a:spAutoFit/>
          </a:bodyPr>
          <a:lstStyle/>
          <a:p>
            <a:pPr algn="ctr">
              <a:defRPr sz="950" b="1">
                <a:solidFill>
                  <a:srgbClr val="DC2626"/>
                </a:solidFill>
                <a:latin typeface="Arial"/>
              </a:defRPr>
            </a:pPr>
            <a:r>
              <a:t>HAN: 74.8%</a:t>
            </a:r>
          </a:p>
        </p:txBody>
      </p:sp>
      <p:sp>
        <p:nvSpPr>
          <p:cNvPr id="65" name="Rectangle 64"/>
          <p:cNvSpPr/>
          <p:nvPr/>
        </p:nvSpPr>
        <p:spPr>
          <a:xfrm>
            <a:off x="7726680" y="2651760"/>
            <a:ext cx="1188720" cy="9144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726680" y="2651760"/>
            <a:ext cx="889162" cy="91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680960" y="3108960"/>
            <a:ext cx="1280160" cy="2560320"/>
          </a:xfrm>
          <a:prstGeom prst="roundRect">
            <a:avLst/>
          </a:prstGeom>
          <a:solidFill>
            <a:srgbClr val="FFF0E6"/>
          </a:solidFill>
          <a:ln>
            <a:solidFill>
              <a:srgbClr val="FFF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26680" y="3154680"/>
            <a:ext cx="1188720" cy="2468880"/>
          </a:xfrm>
          <a:prstGeom prst="rect">
            <a:avLst/>
          </a:prstGeom>
          <a:noFill/>
        </p:spPr>
        <p:txBody>
          <a:bodyPr wrap="square" lIns="18288" rIns="18288" tIns="18288" bIns="18288">
            <a:spAutoFit/>
          </a:bodyPr>
          <a:lstStyle/>
          <a:p>
            <a:pPr algn="l">
              <a:defRPr sz="800" b="1">
                <a:solidFill>
                  <a:srgbClr val="0A1D37"/>
                </a:solidFill>
                <a:latin typeface="Arial"/>
              </a:defRPr>
            </a:pPr>
            <a:r>
              <a:t>🎯 Tầm quan trọng:</a:t>
            </a:r>
            <a:br/>
            <a:r>
              <a:t>~25% tài xế enabled chưa nhận đơn baga - tương đương ~2,190 tài xế có thể kích hoạt tăng tải ngay mà không cần tuyển thêm.</a:t>
            </a:r>
          </a:p>
        </p:txBody>
      </p:sp>
      <p:sp>
        <p:nvSpPr>
          <p:cNvPr id="69" name="Rounded Rectangle 68"/>
          <p:cNvSpPr/>
          <p:nvPr/>
        </p:nvSpPr>
        <p:spPr>
          <a:xfrm>
            <a:off x="9144000" y="1097280"/>
            <a:ext cx="2651760" cy="466344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144000" y="1097280"/>
            <a:ext cx="2651760" cy="365760"/>
          </a:xfrm>
          <a:prstGeom prst="round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0" y="1170432"/>
            <a:ext cx="2651760" cy="320040"/>
          </a:xfrm>
          <a:prstGeom prst="rect">
            <a:avLst/>
          </a:prstGeom>
          <a:noFill/>
        </p:spPr>
        <p:txBody>
          <a:bodyPr wrap="square" lIns="18288" rIns="18288" tIns="18288" bIns="18288">
            <a:spAutoFit/>
          </a:bodyPr>
          <a:lstStyle/>
          <a:p>
            <a:pPr algn="ctr">
              <a:defRPr sz="900" b="1">
                <a:solidFill>
                  <a:srgbClr val="FFFFFF"/>
                </a:solidFill>
                <a:latin typeface="Arial"/>
              </a:defRPr>
            </a:pPr>
            <a:r>
              <a:t>Hướng hành động</a:t>
            </a:r>
          </a:p>
        </p:txBody>
      </p:sp>
      <p:sp>
        <p:nvSpPr>
          <p:cNvPr id="72" name="Oval 71"/>
          <p:cNvSpPr/>
          <p:nvPr/>
        </p:nvSpPr>
        <p:spPr>
          <a:xfrm>
            <a:off x="9326880" y="1645920"/>
            <a:ext cx="320040" cy="320040"/>
          </a:xfrm>
          <a:prstGeom prst="ellipse">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26880" y="1673352"/>
            <a:ext cx="320040" cy="274320"/>
          </a:xfrm>
          <a:prstGeom prst="rect">
            <a:avLst/>
          </a:prstGeom>
          <a:noFill/>
        </p:spPr>
        <p:txBody>
          <a:bodyPr wrap="square" lIns="18288" rIns="18288" tIns="18288" bIns="18288">
            <a:spAutoFit/>
          </a:bodyPr>
          <a:lstStyle/>
          <a:p>
            <a:pPr algn="ctr">
              <a:defRPr sz="950" b="1">
                <a:solidFill>
                  <a:srgbClr val="FFFFFF"/>
                </a:solidFill>
                <a:latin typeface="Arial"/>
              </a:defRPr>
            </a:pPr>
            <a:r>
              <a:t>01</a:t>
            </a:r>
          </a:p>
        </p:txBody>
      </p:sp>
      <p:sp>
        <p:nvSpPr>
          <p:cNvPr id="74" name="TextBox 73"/>
          <p:cNvSpPr txBox="1"/>
          <p:nvPr/>
        </p:nvSpPr>
        <p:spPr>
          <a:xfrm>
            <a:off x="9738360" y="1600200"/>
            <a:ext cx="1920240" cy="1280160"/>
          </a:xfrm>
          <a:prstGeom prst="rect">
            <a:avLst/>
          </a:prstGeom>
          <a:noFill/>
        </p:spPr>
        <p:txBody>
          <a:bodyPr wrap="square" lIns="18288" rIns="18288" tIns="18288" bIns="18288">
            <a:spAutoFit/>
          </a:bodyPr>
          <a:lstStyle/>
          <a:p>
            <a:pPr algn="l">
              <a:defRPr sz="850" b="1">
                <a:solidFill>
                  <a:srgbClr val="0A1D37"/>
                </a:solidFill>
                <a:latin typeface="Arial"/>
              </a:defRPr>
            </a:pPr>
            <a:r>
              <a:t>Push đơn baga cho ~2,190 tài xế enabled nhưng chưa active – chiến dịch app notification / incentive thử nghiệm.</a:t>
            </a:r>
          </a:p>
        </p:txBody>
      </p:sp>
      <p:sp>
        <p:nvSpPr>
          <p:cNvPr id="75" name="Oval 74"/>
          <p:cNvSpPr/>
          <p:nvPr/>
        </p:nvSpPr>
        <p:spPr>
          <a:xfrm>
            <a:off x="9326880" y="3017520"/>
            <a:ext cx="320040" cy="320040"/>
          </a:xfrm>
          <a:prstGeom prst="ellipse">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26880" y="3044952"/>
            <a:ext cx="320040" cy="274320"/>
          </a:xfrm>
          <a:prstGeom prst="rect">
            <a:avLst/>
          </a:prstGeom>
          <a:noFill/>
        </p:spPr>
        <p:txBody>
          <a:bodyPr wrap="square" lIns="18288" rIns="18288" tIns="18288" bIns="18288">
            <a:spAutoFit/>
          </a:bodyPr>
          <a:lstStyle/>
          <a:p>
            <a:pPr algn="ctr">
              <a:defRPr sz="950" b="1">
                <a:solidFill>
                  <a:srgbClr val="FFFFFF"/>
                </a:solidFill>
                <a:latin typeface="Arial"/>
              </a:defRPr>
            </a:pPr>
            <a:r>
              <a:t>02</a:t>
            </a:r>
          </a:p>
        </p:txBody>
      </p:sp>
      <p:sp>
        <p:nvSpPr>
          <p:cNvPr id="77" name="TextBox 76"/>
          <p:cNvSpPr txBox="1"/>
          <p:nvPr/>
        </p:nvSpPr>
        <p:spPr>
          <a:xfrm>
            <a:off x="9738360" y="2971800"/>
            <a:ext cx="1920240" cy="1280160"/>
          </a:xfrm>
          <a:prstGeom prst="rect">
            <a:avLst/>
          </a:prstGeom>
          <a:noFill/>
        </p:spPr>
        <p:txBody>
          <a:bodyPr wrap="square" lIns="18288" rIns="18288" tIns="18288" bIns="18288">
            <a:spAutoFit/>
          </a:bodyPr>
          <a:lstStyle/>
          <a:p>
            <a:pPr algn="l">
              <a:defRPr sz="850" b="1">
                <a:solidFill>
                  <a:srgbClr val="0A1D37"/>
                </a:solidFill>
                <a:latin typeface="Arial"/>
              </a:defRPr>
            </a:pPr>
            <a:r>
              <a:t>Mở rộng enabled HAN: tỷ lệ 29.6% vs SGN 52.6% – còn dư địa lớn để tăng pool cung thực địa.</a:t>
            </a:r>
          </a:p>
        </p:txBody>
      </p:sp>
      <p:sp>
        <p:nvSpPr>
          <p:cNvPr id="78" name="Oval 77"/>
          <p:cNvSpPr/>
          <p:nvPr/>
        </p:nvSpPr>
        <p:spPr>
          <a:xfrm>
            <a:off x="9326880" y="4389120"/>
            <a:ext cx="320040" cy="320040"/>
          </a:xfrm>
          <a:prstGeom prst="ellipse">
            <a:avLst/>
          </a:prstGeom>
          <a:solidFill>
            <a:srgbClr val="FF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326880" y="4416552"/>
            <a:ext cx="320040" cy="274320"/>
          </a:xfrm>
          <a:prstGeom prst="rect">
            <a:avLst/>
          </a:prstGeom>
          <a:noFill/>
        </p:spPr>
        <p:txBody>
          <a:bodyPr wrap="square" lIns="18288" rIns="18288" tIns="18288" bIns="18288">
            <a:spAutoFit/>
          </a:bodyPr>
          <a:lstStyle/>
          <a:p>
            <a:pPr algn="ctr">
              <a:defRPr sz="950" b="1">
                <a:solidFill>
                  <a:srgbClr val="FFFFFF"/>
                </a:solidFill>
                <a:latin typeface="Arial"/>
              </a:defRPr>
            </a:pPr>
            <a:r>
              <a:t>03</a:t>
            </a:r>
          </a:p>
        </p:txBody>
      </p:sp>
      <p:sp>
        <p:nvSpPr>
          <p:cNvPr id="80" name="TextBox 79"/>
          <p:cNvSpPr txBox="1"/>
          <p:nvPr/>
        </p:nvSpPr>
        <p:spPr>
          <a:xfrm>
            <a:off x="9738360" y="4343400"/>
            <a:ext cx="1920240" cy="1280160"/>
          </a:xfrm>
          <a:prstGeom prst="rect">
            <a:avLst/>
          </a:prstGeom>
          <a:noFill/>
        </p:spPr>
        <p:txBody>
          <a:bodyPr wrap="square" lIns="18288" rIns="18288" tIns="18288" bIns="18288">
            <a:spAutoFit/>
          </a:bodyPr>
          <a:lstStyle/>
          <a:p>
            <a:pPr algn="l">
              <a:defRPr sz="850" b="1">
                <a:solidFill>
                  <a:srgbClr val="0A1D37"/>
                </a:solidFill>
                <a:latin typeface="Arial"/>
              </a:defRPr>
            </a:pPr>
            <a:r>
              <a:t>Theo dõi sát conversion enabled➔active hàng tuần, mục tiêu target đạt 80%+ trong Quý 3.</a:t>
            </a:r>
          </a:p>
        </p:txBody>
      </p:sp>
      <p:sp>
        <p:nvSpPr>
          <p:cNvPr id="81" name="Rounded Rectangle 80"/>
          <p:cNvSpPr/>
          <p:nvPr/>
        </p:nvSpPr>
        <p:spPr>
          <a:xfrm>
            <a:off x="365760" y="5989320"/>
            <a:ext cx="11457432"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7200" y="6053328"/>
            <a:ext cx="4572000" cy="365760"/>
          </a:xfrm>
          <a:prstGeom prst="rect">
            <a:avLst/>
          </a:prstGeom>
          <a:noFill/>
        </p:spPr>
        <p:txBody>
          <a:bodyPr wrap="square" lIns="18288" rIns="18288" tIns="18288" bIns="18288">
            <a:spAutoFit/>
          </a:bodyPr>
          <a:lstStyle/>
          <a:p>
            <a:pPr algn="l">
              <a:defRPr sz="950" b="1">
                <a:solidFill>
                  <a:srgbClr val="FF5500"/>
                </a:solidFill>
                <a:latin typeface="Arial"/>
              </a:defRPr>
            </a:pPr>
            <a:r>
              <a:t>Ahamove | Deliver Smarter</a:t>
            </a:r>
          </a:p>
        </p:txBody>
      </p:sp>
      <p:sp>
        <p:nvSpPr>
          <p:cNvPr id="83" name="TextBox 82"/>
          <p:cNvSpPr txBox="1"/>
          <p:nvPr/>
        </p:nvSpPr>
        <p:spPr>
          <a:xfrm>
            <a:off x="7223760" y="6053328"/>
            <a:ext cx="4572000" cy="365760"/>
          </a:xfrm>
          <a:prstGeom prst="rect">
            <a:avLst/>
          </a:prstGeom>
          <a:noFill/>
        </p:spPr>
        <p:txBody>
          <a:bodyPr wrap="square" lIns="18288" rIns="18288" tIns="18288" bIns="18288">
            <a:spAutoFit/>
          </a:bodyPr>
          <a:lstStyle/>
          <a:p>
            <a:pPr algn="r">
              <a:defRPr sz="950" b="0">
                <a:solidFill>
                  <a:srgbClr val="6B7280"/>
                </a:solidFill>
                <a:latin typeface="Arial"/>
              </a:defRPr>
            </a:pPr>
            <a:r>
              <a:t>Driver Management • Baga Supply Review • Jun-Jul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hamove_logo_transparent.png"/>
          <p:cNvPicPr>
            <a:picLocks noChangeAspect="1"/>
          </p:cNvPicPr>
          <p:nvPr/>
        </p:nvPicPr>
        <p:blipFill>
          <a:blip r:embed="rId2"/>
          <a:stretch>
            <a:fillRect/>
          </a:stretch>
        </p:blipFill>
        <p:spPr>
          <a:xfrm>
            <a:off x="365760" y="109728"/>
            <a:ext cx="1371600" cy="237744"/>
          </a:xfrm>
          <a:prstGeom prst="rect">
            <a:avLst/>
          </a:prstGeom>
        </p:spPr>
      </p:pic>
      <p:sp>
        <p:nvSpPr>
          <p:cNvPr id="3" name="TextBox 2"/>
          <p:cNvSpPr txBox="1"/>
          <p:nvPr/>
        </p:nvSpPr>
        <p:spPr>
          <a:xfrm>
            <a:off x="365760" y="411480"/>
            <a:ext cx="8961120" cy="731520"/>
          </a:xfrm>
          <a:prstGeom prst="rect">
            <a:avLst/>
          </a:prstGeom>
          <a:noFill/>
        </p:spPr>
        <p:txBody>
          <a:bodyPr wrap="square" lIns="0" tIns="0" rIns="0" bIns="0">
            <a:spAutoFit/>
          </a:bodyPr>
          <a:lstStyle/>
          <a:p>
            <a:r>
              <a:rPr sz="2200" b="1">
                <a:solidFill>
                  <a:srgbClr val="0A1D37"/>
                </a:solidFill>
                <a:latin typeface="Montserrat"/>
              </a:rPr>
              <a:t>DRIVER RANKING v2.0 MODEL</a:t>
            </a:r>
          </a:p>
          <a:p>
            <a:pPr>
              <a:defRPr sz="1050">
                <a:solidFill>
                  <a:srgbClr val="6B7280"/>
                </a:solidFill>
                <a:latin typeface="Arial"/>
              </a:defRPr>
            </a:pPr>
            <a:r>
              <a:t>Mô hình xếp hạng tài xế để tối ưu chất lượng, năng suất và quyền ưu tiên mở cổng nhận đơn.</a:t>
            </a:r>
          </a:p>
        </p:txBody>
      </p:sp>
      <p:sp>
        <p:nvSpPr>
          <p:cNvPr id="4" name="Rounded Rectangle 3"/>
          <p:cNvSpPr/>
          <p:nvPr/>
        </p:nvSpPr>
        <p:spPr>
          <a:xfrm>
            <a:off x="9875520" y="228600"/>
            <a:ext cx="1920240" cy="502920"/>
          </a:xfrm>
          <a:prstGeom prst="roundRect">
            <a:avLst/>
          </a:prstGeom>
          <a:solidFill>
            <a:srgbClr val="0A1D37"/>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0" y="228600"/>
            <a:ext cx="1920240" cy="502920"/>
          </a:xfrm>
          <a:prstGeom prst="rect">
            <a:avLst/>
          </a:prstGeom>
          <a:noFill/>
        </p:spPr>
        <p:txBody>
          <a:bodyPr wrap="square" lIns="36576" rIns="36576" tIns="36576" bIns="36576">
            <a:spAutoFit/>
          </a:bodyPr>
          <a:lstStyle/>
          <a:p>
            <a:pPr algn="ctr">
              <a:defRPr sz="850" b="1">
                <a:solidFill>
                  <a:srgbClr val="FFFFFF"/>
                </a:solidFill>
                <a:latin typeface="Arial"/>
              </a:defRPr>
            </a:pPr>
            <a:r>
              <a:t>DRIVER RANKING</a:t>
            </a:r>
          </a:p>
        </p:txBody>
      </p:sp>
      <p:sp>
        <p:nvSpPr>
          <p:cNvPr id="6" name="Rounded Rectangle 5"/>
          <p:cNvSpPr/>
          <p:nvPr/>
        </p:nvSpPr>
        <p:spPr>
          <a:xfrm>
            <a:off x="548640" y="1188720"/>
            <a:ext cx="2103120" cy="50292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98448"/>
            <a:ext cx="1920240" cy="365760"/>
          </a:xfrm>
          <a:prstGeom prst="rect">
            <a:avLst/>
          </a:prstGeom>
          <a:noFill/>
        </p:spPr>
        <p:txBody>
          <a:bodyPr wrap="square" lIns="18288" rIns="18288" tIns="18288" bIns="18288">
            <a:spAutoFit/>
          </a:bodyPr>
          <a:lstStyle/>
          <a:p>
            <a:pPr algn="ctr">
              <a:defRPr sz="1050" b="1">
                <a:solidFill>
                  <a:srgbClr val="FFFFFF"/>
                </a:solidFill>
                <a:latin typeface="Arial"/>
              </a:defRPr>
            </a:pPr>
            <a:r>
              <a:t>TIÊU CHÍ</a:t>
            </a:r>
          </a:p>
        </p:txBody>
      </p:sp>
      <p:sp>
        <p:nvSpPr>
          <p:cNvPr id="8" name="Rounded Rectangle 7"/>
          <p:cNvSpPr/>
          <p:nvPr/>
        </p:nvSpPr>
        <p:spPr>
          <a:xfrm>
            <a:off x="548640" y="1691640"/>
            <a:ext cx="210312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01368"/>
            <a:ext cx="1920240" cy="365760"/>
          </a:xfrm>
          <a:prstGeom prst="rect">
            <a:avLst/>
          </a:prstGeom>
          <a:noFill/>
        </p:spPr>
        <p:txBody>
          <a:bodyPr wrap="square" lIns="18288" rIns="18288" tIns="18288" bIns="18288">
            <a:spAutoFit/>
          </a:bodyPr>
          <a:lstStyle/>
          <a:p>
            <a:pPr algn="l">
              <a:defRPr sz="950" b="1">
                <a:solidFill>
                  <a:srgbClr val="0A1D37"/>
                </a:solidFill>
                <a:latin typeface="Arial"/>
              </a:defRPr>
            </a:pPr>
            <a:r>
              <a:t>DQS ngưỡng</a:t>
            </a:r>
          </a:p>
        </p:txBody>
      </p:sp>
      <p:sp>
        <p:nvSpPr>
          <p:cNvPr id="10" name="Rounded Rectangle 9"/>
          <p:cNvSpPr/>
          <p:nvPr/>
        </p:nvSpPr>
        <p:spPr>
          <a:xfrm>
            <a:off x="548640" y="2194560"/>
            <a:ext cx="210312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04288"/>
            <a:ext cx="1920240" cy="365760"/>
          </a:xfrm>
          <a:prstGeom prst="rect">
            <a:avLst/>
          </a:prstGeom>
          <a:noFill/>
        </p:spPr>
        <p:txBody>
          <a:bodyPr wrap="square" lIns="18288" rIns="18288" tIns="18288" bIns="18288">
            <a:spAutoFit/>
          </a:bodyPr>
          <a:lstStyle/>
          <a:p>
            <a:pPr algn="l">
              <a:defRPr sz="950" b="1">
                <a:solidFill>
                  <a:srgbClr val="0A1D37"/>
                </a:solidFill>
                <a:latin typeface="Arial"/>
              </a:defRPr>
            </a:pPr>
            <a:r>
              <a:t>Năng suất (đơn/tháng)</a:t>
            </a:r>
          </a:p>
        </p:txBody>
      </p:sp>
      <p:sp>
        <p:nvSpPr>
          <p:cNvPr id="12" name="Rounded Rectangle 11"/>
          <p:cNvSpPr/>
          <p:nvPr/>
        </p:nvSpPr>
        <p:spPr>
          <a:xfrm>
            <a:off x="548640" y="2697480"/>
            <a:ext cx="210312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07208"/>
            <a:ext cx="1920240" cy="365760"/>
          </a:xfrm>
          <a:prstGeom prst="rect">
            <a:avLst/>
          </a:prstGeom>
          <a:noFill/>
        </p:spPr>
        <p:txBody>
          <a:bodyPr wrap="square" lIns="18288" rIns="18288" tIns="18288" bIns="18288">
            <a:spAutoFit/>
          </a:bodyPr>
          <a:lstStyle/>
          <a:p>
            <a:pPr algn="l">
              <a:defRPr sz="950" b="1">
                <a:solidFill>
                  <a:srgbClr val="0A1D37"/>
                </a:solidFill>
                <a:latin typeface="Arial"/>
              </a:defRPr>
            </a:pPr>
            <a:r>
              <a:t>Ưu tiên mở cổng</a:t>
            </a:r>
          </a:p>
        </p:txBody>
      </p:sp>
      <p:sp>
        <p:nvSpPr>
          <p:cNvPr id="14" name="Rounded Rectangle 13"/>
          <p:cNvSpPr/>
          <p:nvPr/>
        </p:nvSpPr>
        <p:spPr>
          <a:xfrm>
            <a:off x="548640" y="3200400"/>
            <a:ext cx="210312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10128"/>
            <a:ext cx="1920240" cy="365760"/>
          </a:xfrm>
          <a:prstGeom prst="rect">
            <a:avLst/>
          </a:prstGeom>
          <a:noFill/>
        </p:spPr>
        <p:txBody>
          <a:bodyPr wrap="square" lIns="18288" rIns="18288" tIns="18288" bIns="18288">
            <a:spAutoFit/>
          </a:bodyPr>
          <a:lstStyle/>
          <a:p>
            <a:pPr algn="l">
              <a:defRPr sz="950" b="1">
                <a:solidFill>
                  <a:srgbClr val="0A1D37"/>
                </a:solidFill>
                <a:latin typeface="Arial"/>
              </a:defRPr>
            </a:pPr>
            <a:r>
              <a:t>Benefit level</a:t>
            </a:r>
          </a:p>
        </p:txBody>
      </p:sp>
      <p:sp>
        <p:nvSpPr>
          <p:cNvPr id="16" name="Rounded Rectangle 15"/>
          <p:cNvSpPr/>
          <p:nvPr/>
        </p:nvSpPr>
        <p:spPr>
          <a:xfrm>
            <a:off x="548640" y="3703320"/>
            <a:ext cx="210312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13048"/>
            <a:ext cx="1920240" cy="365760"/>
          </a:xfrm>
          <a:prstGeom prst="rect">
            <a:avLst/>
          </a:prstGeom>
          <a:noFill/>
        </p:spPr>
        <p:txBody>
          <a:bodyPr wrap="square" lIns="18288" rIns="18288" tIns="18288" bIns="18288">
            <a:spAutoFit/>
          </a:bodyPr>
          <a:lstStyle/>
          <a:p>
            <a:pPr algn="l">
              <a:defRPr sz="950" b="1">
                <a:solidFill>
                  <a:srgbClr val="0A1D37"/>
                </a:solidFill>
                <a:latin typeface="Arial"/>
              </a:defRPr>
            </a:pPr>
            <a:r>
              <a:t>AhaPoints / Hệ số</a:t>
            </a:r>
          </a:p>
        </p:txBody>
      </p:sp>
      <p:sp>
        <p:nvSpPr>
          <p:cNvPr id="18" name="Rounded Rectangle 17"/>
          <p:cNvSpPr/>
          <p:nvPr/>
        </p:nvSpPr>
        <p:spPr>
          <a:xfrm>
            <a:off x="548640" y="4206240"/>
            <a:ext cx="210312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15968"/>
            <a:ext cx="1920240" cy="365760"/>
          </a:xfrm>
          <a:prstGeom prst="rect">
            <a:avLst/>
          </a:prstGeom>
          <a:noFill/>
        </p:spPr>
        <p:txBody>
          <a:bodyPr wrap="square" lIns="18288" rIns="18288" tIns="18288" bIns="18288">
            <a:spAutoFit/>
          </a:bodyPr>
          <a:lstStyle/>
          <a:p>
            <a:pPr algn="l">
              <a:defRPr sz="950" b="1">
                <a:solidFill>
                  <a:srgbClr val="0A1D37"/>
                </a:solidFill>
                <a:latin typeface="Arial"/>
              </a:defRPr>
            </a:pPr>
            <a:r>
              <a:t>AhaBenefits</a:t>
            </a:r>
          </a:p>
        </p:txBody>
      </p:sp>
      <p:sp>
        <p:nvSpPr>
          <p:cNvPr id="20" name="Rounded Rectangle 19"/>
          <p:cNvSpPr/>
          <p:nvPr/>
        </p:nvSpPr>
        <p:spPr>
          <a:xfrm>
            <a:off x="2651760" y="1188720"/>
            <a:ext cx="2240280" cy="50292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1234440"/>
            <a:ext cx="2240280" cy="411480"/>
          </a:xfrm>
          <a:prstGeom prst="rect">
            <a:avLst/>
          </a:prstGeom>
          <a:noFill/>
        </p:spPr>
        <p:txBody>
          <a:bodyPr wrap="square" lIns="18288" rIns="18288" tIns="18288" bIns="18288">
            <a:spAutoFit/>
          </a:bodyPr>
          <a:lstStyle/>
          <a:p>
            <a:pPr algn="ctr">
              <a:defRPr sz="950" b="1">
                <a:solidFill>
                  <a:srgbClr val="FFFFFF"/>
                </a:solidFill>
                <a:latin typeface="Arial"/>
              </a:defRPr>
            </a:pPr>
            <a:r>
              <a:t>R1 Elite</a:t>
            </a:r>
            <a:br/>
            <a:r>
              <a:t>Kim Cương</a:t>
            </a:r>
          </a:p>
        </p:txBody>
      </p:sp>
      <p:sp>
        <p:nvSpPr>
          <p:cNvPr id="22" name="Rounded Rectangle 21"/>
          <p:cNvSpPr/>
          <p:nvPr/>
        </p:nvSpPr>
        <p:spPr>
          <a:xfrm>
            <a:off x="2651760" y="1691640"/>
            <a:ext cx="2240280" cy="502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0" y="18013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 80</a:t>
            </a:r>
          </a:p>
        </p:txBody>
      </p:sp>
      <p:sp>
        <p:nvSpPr>
          <p:cNvPr id="24" name="Rounded Rectangle 23"/>
          <p:cNvSpPr/>
          <p:nvPr/>
        </p:nvSpPr>
        <p:spPr>
          <a:xfrm>
            <a:off x="2651760" y="2194560"/>
            <a:ext cx="2240280" cy="502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51760" y="230428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 280 stp/tháng</a:t>
            </a:r>
          </a:p>
        </p:txBody>
      </p:sp>
      <p:sp>
        <p:nvSpPr>
          <p:cNvPr id="26" name="Rounded Rectangle 25"/>
          <p:cNvSpPr/>
          <p:nvPr/>
        </p:nvSpPr>
        <p:spPr>
          <a:xfrm>
            <a:off x="2651760" y="2697480"/>
            <a:ext cx="2240280" cy="502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51760" y="280720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00:00 – 12:00</a:t>
            </a:r>
            <a:br/>
            <a:r>
              <a:t>Tất cả L2–L6</a:t>
            </a:r>
          </a:p>
        </p:txBody>
      </p:sp>
      <p:sp>
        <p:nvSpPr>
          <p:cNvPr id="28" name="Rounded Rectangle 27"/>
          <p:cNvSpPr/>
          <p:nvPr/>
        </p:nvSpPr>
        <p:spPr>
          <a:xfrm>
            <a:off x="2651760" y="3200400"/>
            <a:ext cx="2240280" cy="502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51760" y="331012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VIP / Ưu tiên cao nhất</a:t>
            </a:r>
          </a:p>
        </p:txBody>
      </p:sp>
      <p:sp>
        <p:nvSpPr>
          <p:cNvPr id="30" name="Rounded Rectangle 29"/>
          <p:cNvSpPr/>
          <p:nvPr/>
        </p:nvSpPr>
        <p:spPr>
          <a:xfrm>
            <a:off x="2651760" y="3703320"/>
            <a:ext cx="2240280" cy="502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51760" y="381304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x 1.5</a:t>
            </a:r>
          </a:p>
        </p:txBody>
      </p:sp>
      <p:sp>
        <p:nvSpPr>
          <p:cNvPr id="32" name="Rounded Rectangle 31"/>
          <p:cNvSpPr/>
          <p:nvPr/>
        </p:nvSpPr>
        <p:spPr>
          <a:xfrm>
            <a:off x="2651760" y="4206240"/>
            <a:ext cx="2240280" cy="502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43159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Category Vàng</a:t>
            </a:r>
          </a:p>
        </p:txBody>
      </p:sp>
      <p:sp>
        <p:nvSpPr>
          <p:cNvPr id="34" name="Rounded Rectangle 33"/>
          <p:cNvSpPr/>
          <p:nvPr/>
        </p:nvSpPr>
        <p:spPr>
          <a:xfrm>
            <a:off x="4892040" y="1188720"/>
            <a:ext cx="2240280" cy="502920"/>
          </a:xfrm>
          <a:prstGeom prst="roundRect">
            <a:avLst/>
          </a:prstGeom>
          <a:solidFill>
            <a:srgbClr val="FF5500"/>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1234440"/>
            <a:ext cx="2240280" cy="411480"/>
          </a:xfrm>
          <a:prstGeom prst="rect">
            <a:avLst/>
          </a:prstGeom>
          <a:noFill/>
        </p:spPr>
        <p:txBody>
          <a:bodyPr wrap="square" lIns="18288" rIns="18288" tIns="18288" bIns="18288">
            <a:spAutoFit/>
          </a:bodyPr>
          <a:lstStyle/>
          <a:p>
            <a:pPr algn="ctr">
              <a:defRPr sz="950" b="1">
                <a:solidFill>
                  <a:srgbClr val="FFFFFF"/>
                </a:solidFill>
                <a:latin typeface="Arial"/>
              </a:defRPr>
            </a:pPr>
            <a:r>
              <a:t>R2 Active</a:t>
            </a:r>
            <a:br/>
            <a:r>
              <a:t>Vàng</a:t>
            </a:r>
          </a:p>
        </p:txBody>
      </p:sp>
      <p:sp>
        <p:nvSpPr>
          <p:cNvPr id="36" name="Rounded Rectangle 35"/>
          <p:cNvSpPr/>
          <p:nvPr/>
        </p:nvSpPr>
        <p:spPr>
          <a:xfrm>
            <a:off x="4892040" y="1691640"/>
            <a:ext cx="2240280" cy="50292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92040" y="18013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 75</a:t>
            </a:r>
          </a:p>
        </p:txBody>
      </p:sp>
      <p:sp>
        <p:nvSpPr>
          <p:cNvPr id="38" name="Rounded Rectangle 37"/>
          <p:cNvSpPr/>
          <p:nvPr/>
        </p:nvSpPr>
        <p:spPr>
          <a:xfrm>
            <a:off x="4892040" y="2194560"/>
            <a:ext cx="2240280" cy="50292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92040" y="230428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 210 stp/tháng</a:t>
            </a:r>
          </a:p>
        </p:txBody>
      </p:sp>
      <p:sp>
        <p:nvSpPr>
          <p:cNvPr id="40" name="Rounded Rectangle 39"/>
          <p:cNvSpPr/>
          <p:nvPr/>
        </p:nvSpPr>
        <p:spPr>
          <a:xfrm>
            <a:off x="4892040" y="2697480"/>
            <a:ext cx="2240280" cy="50292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280720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12:00 – 18:00</a:t>
            </a:r>
            <a:br/>
            <a:r>
              <a:t>Tất cả L2–L6</a:t>
            </a:r>
          </a:p>
        </p:txBody>
      </p:sp>
      <p:sp>
        <p:nvSpPr>
          <p:cNvPr id="42" name="Rounded Rectangle 41"/>
          <p:cNvSpPr/>
          <p:nvPr/>
        </p:nvSpPr>
        <p:spPr>
          <a:xfrm>
            <a:off x="4892040" y="3200400"/>
            <a:ext cx="2240280" cy="50292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92040" y="331012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Vé mời / Trợ giá</a:t>
            </a:r>
          </a:p>
        </p:txBody>
      </p:sp>
      <p:sp>
        <p:nvSpPr>
          <p:cNvPr id="44" name="Rounded Rectangle 43"/>
          <p:cNvSpPr/>
          <p:nvPr/>
        </p:nvSpPr>
        <p:spPr>
          <a:xfrm>
            <a:off x="4892040" y="3703320"/>
            <a:ext cx="2240280" cy="50292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2040" y="381304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x 1.3</a:t>
            </a:r>
          </a:p>
        </p:txBody>
      </p:sp>
      <p:sp>
        <p:nvSpPr>
          <p:cNvPr id="46" name="Rounded Rectangle 45"/>
          <p:cNvSpPr/>
          <p:nvPr/>
        </p:nvSpPr>
        <p:spPr>
          <a:xfrm>
            <a:off x="4892040" y="4206240"/>
            <a:ext cx="2240280" cy="502920"/>
          </a:xfrm>
          <a:prstGeom prst="roundRect">
            <a:avLst/>
          </a:prstGeom>
          <a:solidFill>
            <a:srgbClr val="FFF0E6"/>
          </a:solidFill>
          <a:ln w="1270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2040" y="43159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Category Bạc</a:t>
            </a:r>
          </a:p>
        </p:txBody>
      </p:sp>
      <p:sp>
        <p:nvSpPr>
          <p:cNvPr id="48" name="Rounded Rectangle 47"/>
          <p:cNvSpPr/>
          <p:nvPr/>
        </p:nvSpPr>
        <p:spPr>
          <a:xfrm>
            <a:off x="7132320" y="1188720"/>
            <a:ext cx="2240280" cy="5029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32320" y="1234440"/>
            <a:ext cx="2240280" cy="411480"/>
          </a:xfrm>
          <a:prstGeom prst="rect">
            <a:avLst/>
          </a:prstGeom>
          <a:noFill/>
        </p:spPr>
        <p:txBody>
          <a:bodyPr wrap="square" lIns="18288" rIns="18288" tIns="18288" bIns="18288">
            <a:spAutoFit/>
          </a:bodyPr>
          <a:lstStyle/>
          <a:p>
            <a:pPr algn="ctr">
              <a:defRPr sz="950" b="1">
                <a:solidFill>
                  <a:srgbClr val="FFFFFF"/>
                </a:solidFill>
                <a:latin typeface="Arial"/>
              </a:defRPr>
            </a:pPr>
            <a:r>
              <a:t>R3 Standard</a:t>
            </a:r>
            <a:br/>
            <a:r>
              <a:t>Bạc</a:t>
            </a:r>
          </a:p>
        </p:txBody>
      </p:sp>
      <p:sp>
        <p:nvSpPr>
          <p:cNvPr id="50" name="Rounded Rectangle 49"/>
          <p:cNvSpPr/>
          <p:nvPr/>
        </p:nvSpPr>
        <p:spPr>
          <a:xfrm>
            <a:off x="7132320" y="1691640"/>
            <a:ext cx="2240280" cy="50292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32320" y="18013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 75</a:t>
            </a:r>
          </a:p>
        </p:txBody>
      </p:sp>
      <p:sp>
        <p:nvSpPr>
          <p:cNvPr id="52" name="Rounded Rectangle 51"/>
          <p:cNvSpPr/>
          <p:nvPr/>
        </p:nvSpPr>
        <p:spPr>
          <a:xfrm>
            <a:off x="7132320" y="2194560"/>
            <a:ext cx="2240280" cy="50292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0" y="230428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 70 stp/tháng</a:t>
            </a:r>
          </a:p>
        </p:txBody>
      </p:sp>
      <p:sp>
        <p:nvSpPr>
          <p:cNvPr id="54" name="Rounded Rectangle 53"/>
          <p:cNvSpPr/>
          <p:nvPr/>
        </p:nvSpPr>
        <p:spPr>
          <a:xfrm>
            <a:off x="7132320" y="2697480"/>
            <a:ext cx="2240280" cy="50292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32320" y="280720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18:00 – 24:00</a:t>
            </a:r>
            <a:br/>
            <a:r>
              <a:t>Tất cả L2–L6</a:t>
            </a:r>
          </a:p>
        </p:txBody>
      </p:sp>
      <p:sp>
        <p:nvSpPr>
          <p:cNvPr id="56" name="Rounded Rectangle 55"/>
          <p:cNvSpPr/>
          <p:nvPr/>
        </p:nvSpPr>
        <p:spPr>
          <a:xfrm>
            <a:off x="7132320" y="3200400"/>
            <a:ext cx="2240280" cy="50292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32320" y="331012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Theo số lượng / Đổi điểm</a:t>
            </a:r>
          </a:p>
        </p:txBody>
      </p:sp>
      <p:sp>
        <p:nvSpPr>
          <p:cNvPr id="58" name="Rounded Rectangle 57"/>
          <p:cNvSpPr/>
          <p:nvPr/>
        </p:nvSpPr>
        <p:spPr>
          <a:xfrm>
            <a:off x="7132320" y="3703320"/>
            <a:ext cx="2240280" cy="50292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32320" y="381304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x 1.1</a:t>
            </a:r>
          </a:p>
        </p:txBody>
      </p:sp>
      <p:sp>
        <p:nvSpPr>
          <p:cNvPr id="60" name="Rounded Rectangle 59"/>
          <p:cNvSpPr/>
          <p:nvPr/>
        </p:nvSpPr>
        <p:spPr>
          <a:xfrm>
            <a:off x="7132320" y="4206240"/>
            <a:ext cx="2240280" cy="502920"/>
          </a:xfrm>
          <a:prstGeom prst="roundRect">
            <a:avLst/>
          </a:prstGeom>
          <a:solidFill>
            <a:srgbClr val="DCFCE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32320" y="43159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Category Đồng</a:t>
            </a:r>
          </a:p>
        </p:txBody>
      </p:sp>
      <p:sp>
        <p:nvSpPr>
          <p:cNvPr id="62" name="Rounded Rectangle 61"/>
          <p:cNvSpPr/>
          <p:nvPr/>
        </p:nvSpPr>
        <p:spPr>
          <a:xfrm>
            <a:off x="9372600" y="1188720"/>
            <a:ext cx="2240280" cy="502920"/>
          </a:xfrm>
          <a:prstGeom prst="roundRect">
            <a:avLst/>
          </a:prstGeom>
          <a:solidFill>
            <a:srgbClr val="E5E7E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72600" y="1234440"/>
            <a:ext cx="2240280" cy="411480"/>
          </a:xfrm>
          <a:prstGeom prst="rect">
            <a:avLst/>
          </a:prstGeom>
          <a:noFill/>
        </p:spPr>
        <p:txBody>
          <a:bodyPr wrap="square" lIns="18288" rIns="18288" tIns="18288" bIns="18288">
            <a:spAutoFit/>
          </a:bodyPr>
          <a:lstStyle/>
          <a:p>
            <a:pPr algn="ctr">
              <a:defRPr sz="950" b="1">
                <a:solidFill>
                  <a:srgbClr val="FFFFFF"/>
                </a:solidFill>
                <a:latin typeface="Arial"/>
              </a:defRPr>
            </a:pPr>
            <a:r>
              <a:t>Unranked</a:t>
            </a:r>
            <a:br/>
            <a:r>
              <a:t>Chưa đủ điều kiện</a:t>
            </a:r>
          </a:p>
        </p:txBody>
      </p:sp>
      <p:sp>
        <p:nvSpPr>
          <p:cNvPr id="64" name="Rounded Rectangle 63"/>
          <p:cNvSpPr/>
          <p:nvPr/>
        </p:nvSpPr>
        <p:spPr>
          <a:xfrm>
            <a:off x="9372600" y="1691640"/>
            <a:ext cx="224028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18013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&lt; 75 / dưới chuẩn</a:t>
            </a:r>
          </a:p>
        </p:txBody>
      </p:sp>
      <p:sp>
        <p:nvSpPr>
          <p:cNvPr id="66" name="Rounded Rectangle 65"/>
          <p:cNvSpPr/>
          <p:nvPr/>
        </p:nvSpPr>
        <p:spPr>
          <a:xfrm>
            <a:off x="9372600" y="2194560"/>
            <a:ext cx="224028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72600" y="230428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a:t>
            </a:r>
          </a:p>
        </p:txBody>
      </p:sp>
      <p:sp>
        <p:nvSpPr>
          <p:cNvPr id="68" name="Rounded Rectangle 67"/>
          <p:cNvSpPr/>
          <p:nvPr/>
        </p:nvSpPr>
        <p:spPr>
          <a:xfrm>
            <a:off x="9372600" y="2697480"/>
            <a:ext cx="224028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72600" y="280720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Ngày 2+</a:t>
            </a:r>
            <a:br/>
            <a:r>
              <a:t>L5–L6 / slot trống</a:t>
            </a:r>
          </a:p>
        </p:txBody>
      </p:sp>
      <p:sp>
        <p:nvSpPr>
          <p:cNvPr id="70" name="Rounded Rectangle 69"/>
          <p:cNvSpPr/>
          <p:nvPr/>
        </p:nvSpPr>
        <p:spPr>
          <a:xfrm>
            <a:off x="9372600" y="3200400"/>
            <a:ext cx="224028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72600" y="331012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Cơ bản</a:t>
            </a:r>
          </a:p>
        </p:txBody>
      </p:sp>
      <p:sp>
        <p:nvSpPr>
          <p:cNvPr id="72" name="Rounded Rectangle 71"/>
          <p:cNvSpPr/>
          <p:nvPr/>
        </p:nvSpPr>
        <p:spPr>
          <a:xfrm>
            <a:off x="9372600" y="3703320"/>
            <a:ext cx="224028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381304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x 1.0</a:t>
            </a:r>
          </a:p>
        </p:txBody>
      </p:sp>
      <p:sp>
        <p:nvSpPr>
          <p:cNvPr id="74" name="Rounded Rectangle 73"/>
          <p:cNvSpPr/>
          <p:nvPr/>
        </p:nvSpPr>
        <p:spPr>
          <a:xfrm>
            <a:off x="9372600" y="4206240"/>
            <a:ext cx="2240280" cy="50292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372600" y="4315968"/>
            <a:ext cx="2240280" cy="365760"/>
          </a:xfrm>
          <a:prstGeom prst="rect">
            <a:avLst/>
          </a:prstGeom>
          <a:noFill/>
        </p:spPr>
        <p:txBody>
          <a:bodyPr wrap="square" lIns="18288" rIns="18288" tIns="18288" bIns="18288">
            <a:spAutoFit/>
          </a:bodyPr>
          <a:lstStyle/>
          <a:p>
            <a:pPr algn="ctr">
              <a:defRPr sz="900" b="1">
                <a:solidFill>
                  <a:srgbClr val="0A1D37"/>
                </a:solidFill>
                <a:latin typeface="Arial"/>
              </a:defRPr>
            </a:pPr>
            <a:r>
              <a:t>Category Mass</a:t>
            </a:r>
          </a:p>
        </p:txBody>
      </p:sp>
      <p:sp>
        <p:nvSpPr>
          <p:cNvPr id="76" name="Rounded Rectangle 75"/>
          <p:cNvSpPr/>
          <p:nvPr/>
        </p:nvSpPr>
        <p:spPr>
          <a:xfrm>
            <a:off x="365760" y="5897880"/>
            <a:ext cx="11457432" cy="594360"/>
          </a:xfrm>
          <a:prstGeom prst="roundRect">
            <a:avLst/>
          </a:prstGeom>
          <a:solidFill>
            <a:srgbClr val="0A1D37"/>
          </a:solidFill>
          <a:ln>
            <a:solidFill>
              <a:srgbClr val="0A1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5897880"/>
            <a:ext cx="548640" cy="594360"/>
          </a:xfrm>
          <a:prstGeom prst="rect">
            <a:avLst/>
          </a:prstGeom>
          <a:noFill/>
        </p:spPr>
        <p:txBody>
          <a:bodyPr wrap="none">
            <a:spAutoFit/>
          </a:bodyPr>
          <a:lstStyle/>
          <a:p>
            <a:pPr algn="ctr"/>
            <a:r>
              <a:rPr sz="2000">
                <a:solidFill>
                  <a:srgbClr val="FF5500"/>
                </a:solidFill>
                <a:latin typeface="Arial"/>
              </a:rPr>
              <a:t>🎯</a:t>
            </a:r>
          </a:p>
        </p:txBody>
      </p:sp>
      <p:sp>
        <p:nvSpPr>
          <p:cNvPr id="78" name="TextBox 77"/>
          <p:cNvSpPr txBox="1"/>
          <p:nvPr/>
        </p:nvSpPr>
        <p:spPr>
          <a:xfrm>
            <a:off x="1097280" y="5916168"/>
            <a:ext cx="10515600" cy="548640"/>
          </a:xfrm>
          <a:prstGeom prst="rect">
            <a:avLst/>
          </a:prstGeom>
          <a:noFill/>
        </p:spPr>
        <p:txBody>
          <a:bodyPr wrap="square">
            <a:spAutoFit/>
          </a:bodyPr>
          <a:lstStyle/>
          <a:p>
            <a:r>
              <a:rPr sz="950" b="1">
                <a:solidFill>
                  <a:srgbClr val="FF5500"/>
                </a:solidFill>
                <a:latin typeface="Arial"/>
              </a:rPr>
              <a:t>📌 HƯỚNG DẪN VẬN HÀNH RANKING v2.0: </a:t>
            </a:r>
            <a:r>
              <a:rPr sz="950" b="0">
                <a:solidFill>
                  <a:srgbClr val="FFFFFF"/>
                </a:solidFill>
                <a:latin typeface="Arial"/>
              </a:rPr>
              <a:t>Hệ thống xếp hạng mới áp dụng chặt chẽ điểm chất lượng DQS nhằm đồng bộ chất lượng tài xế, đánh giá toàn diện dựa trên phản hồi khách hàng và tỷ lệ hoàn thành thay vì chỉ đếm số lượng cước đơn thuần. Việc xét duyệt diễn ra hoàn toàn tự động hàng tuần từ cao xuống thấp (R1 ➔ R2 ➔ R3). Ưu tiên mở cổng FCFS theo rank.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