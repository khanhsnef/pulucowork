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Helvetica Neue" panose="02000503000000020004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56">
          <p15:clr>
            <a:srgbClr val="747775"/>
          </p15:clr>
        </p15:guide>
        <p15:guide id="2" orient="horz" pos="296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hanh Lê Phương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6E03F7-A7B3-402D-A52F-665CEB5CA1F2}">
  <a:tblStyle styleId="{1B6E03F7-A7B3-402D-A52F-665CEB5CA1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471C74E-E5A4-4367-B5E4-7593F58257C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256"/>
        <p:guide orient="horz" pos="29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commentAuthors" Target="commentAuthor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6b1401dff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f6b1401dff_14_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f6b1401dff_14_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6b1401dff_14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f6b1401dff_14_16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f6b1401dff_14_16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6b1401dff_14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3f6b1401dff_14_4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f6b1401dff_14_4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6b1401dff_14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3f6b1401dff_14_57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f6b1401dff_14_57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6b1401dff_14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g3f6b1401dff_14_12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f6b1401dff_14_12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6b1401dff_14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g3f6b1401dff_14_188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3f6b1401dff_14_188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6b1401dff_14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g3f6b1401dff_14_25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g3f6b1401dff_14_25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6b1401dff_14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g3f6b1401dff_14_318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g3f6b1401dff_14_318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6b1401dff_14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9" name="Google Shape;489;g3f6b1401dff_14_36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g3f6b1401dff_14_36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6b1401dff_14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8" name="Google Shape;508;g3f6b1401dff_14_381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g3f6b1401dff_14_381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f6b1401dff_14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2" name="Google Shape;572;g3f6b1401dff_14_444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g3f6b1401dff_14_444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0"/>
          <p:cNvSpPr/>
          <p:nvPr/>
        </p:nvSpPr>
        <p:spPr>
          <a:xfrm>
            <a:off x="0" y="0"/>
            <a:ext cx="9141714" cy="82296"/>
          </a:xfrm>
          <a:prstGeom prst="roundRect">
            <a:avLst>
              <a:gd name="adj" fmla="val 16667"/>
            </a:avLst>
          </a:prstGeom>
          <a:solidFill>
            <a:srgbClr val="FF7F3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30"/>
          <p:cNvSpPr/>
          <p:nvPr/>
        </p:nvSpPr>
        <p:spPr>
          <a:xfrm>
            <a:off x="6377940" y="377190"/>
            <a:ext cx="1783080" cy="1783080"/>
          </a:xfrm>
          <a:prstGeom prst="ellipse">
            <a:avLst/>
          </a:prstGeom>
          <a:solidFill>
            <a:srgbClr val="FF7F32">
              <a:alpha val="14902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Google Shape;124;p30"/>
          <p:cNvSpPr/>
          <p:nvPr/>
        </p:nvSpPr>
        <p:spPr>
          <a:xfrm>
            <a:off x="7132320" y="788670"/>
            <a:ext cx="1165860" cy="1165860"/>
          </a:xfrm>
          <a:prstGeom prst="ellipse">
            <a:avLst/>
          </a:prstGeom>
          <a:solidFill>
            <a:srgbClr val="FF7F32">
              <a:alpha val="40000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p30"/>
          <p:cNvSpPr/>
          <p:nvPr/>
        </p:nvSpPr>
        <p:spPr>
          <a:xfrm>
            <a:off x="7475220" y="1714500"/>
            <a:ext cx="1097280" cy="411480"/>
          </a:xfrm>
          <a:prstGeom prst="roundRect">
            <a:avLst>
              <a:gd name="adj" fmla="val 2500"/>
            </a:avLst>
          </a:prstGeom>
          <a:solidFill>
            <a:srgbClr val="FF7F32">
              <a:alpha val="70196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p30"/>
          <p:cNvSpPr/>
          <p:nvPr/>
        </p:nvSpPr>
        <p:spPr>
          <a:xfrm>
            <a:off x="8023860" y="514350"/>
            <a:ext cx="617220" cy="617220"/>
          </a:xfrm>
          <a:prstGeom prst="ellipse">
            <a:avLst/>
          </a:prstGeom>
          <a:solidFill>
            <a:srgbClr val="FF7F3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p30"/>
          <p:cNvSpPr/>
          <p:nvPr/>
        </p:nvSpPr>
        <p:spPr>
          <a:xfrm>
            <a:off x="548640" y="1577340"/>
            <a:ext cx="8044434" cy="685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3000"/>
              <a:buFont typeface="Helvetica Neue"/>
              <a:buNone/>
              <a:defRPr sz="2800" b="1">
                <a:solidFill>
                  <a:srgbClr val="0F172A"/>
                </a:solidFill>
                <a:latin typeface="Helvetica Neue"/>
              </a:defRPr>
            </a:pPr>
            <a:r>
              <a:t>WEEKLY REPORT - W33 (03-09/8/2026)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0"/>
          <p:cNvSpPr/>
          <p:nvPr/>
        </p:nvSpPr>
        <p:spPr>
          <a:xfrm>
            <a:off x="548640" y="2228850"/>
            <a:ext cx="8044434" cy="34290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Helvetica Neue"/>
              <a:buNone/>
              <a:defRPr sz="1500" b="0">
                <a:solidFill>
                  <a:srgbClr val="334155"/>
                </a:solidFill>
                <a:latin typeface="Helvetica Neue"/>
              </a:defRPr>
            </a:pPr>
            <a:r>
              <a:t>Driver Management | Khu vực: SGN &amp; HAN</a:t>
            </a:r>
            <a:endParaRPr sz="11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0"/>
          <p:cNvSpPr/>
          <p:nvPr/>
        </p:nvSpPr>
        <p:spPr>
          <a:xfrm>
            <a:off x="548640" y="2640330"/>
            <a:ext cx="754380" cy="3429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30"/>
          <p:cNvSpPr/>
          <p:nvPr/>
        </p:nvSpPr>
        <p:spPr>
          <a:xfrm>
            <a:off x="548640" y="2777490"/>
            <a:ext cx="7406640" cy="34290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F99"/>
              </a:buClr>
              <a:buSzPts val="900"/>
              <a:buFont typeface="Helvetica Neue"/>
              <a:buNone/>
            </a:pPr>
            <a:r>
              <a:rPr lang="en" sz="900" b="0" i="0" u="none" strike="noStrike" cap="none">
                <a:solidFill>
                  <a:srgbClr val="8A8F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Core deck — theme màu Ahamove, thiết kế tối giản: card viền mỏng, tiêu đề nhận định, icon minh hoạ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548640" y="3257550"/>
            <a:ext cx="5829300" cy="96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F99"/>
              </a:buClr>
              <a:buSzPts val="800"/>
              <a:buFont typeface="Helvetica Neue"/>
              <a:buNone/>
            </a:pPr>
            <a:r>
              <a:rPr lang="en" sz="800" b="0" i="0" u="none" strike="noStrike" cap="none">
                <a:solidFill>
                  <a:srgbClr val="8A8F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câu hỏi sẽ được trả lời trong báo cáo này: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F99"/>
              </a:buClr>
              <a:buSzPts val="800"/>
              <a:buFont typeface="Helvetica Neue"/>
              <a:buNone/>
            </a:pPr>
            <a:r>
              <a:rPr lang="en" sz="800" b="0" i="0" u="none" strike="noStrike" cap="none">
                <a:solidFill>
                  <a:srgbClr val="8A8F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Vì sao FT active HAN giảm dù retention cải thiện?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F99"/>
              </a:buClr>
              <a:buSzPts val="800"/>
              <a:buFont typeface="Helvetica Neue"/>
              <a:buNone/>
            </a:pPr>
            <a:r>
              <a:rPr lang="en" sz="800" b="0" i="0" u="none" strike="noStrike" cap="none">
                <a:solidFill>
                  <a:srgbClr val="8A8F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MiniHub có đáng scale tiếp không?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F99"/>
              </a:buClr>
              <a:buSzPts val="800"/>
              <a:buFont typeface="Helvetica Neue"/>
              <a:buNone/>
            </a:pPr>
            <a:r>
              <a:rPr lang="en" sz="800" b="0" i="0" u="none" strike="noStrike" cap="none">
                <a:solidFill>
                  <a:srgbClr val="8A8F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Ngân sách EV tháng 8 nên ưu tiên gì?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0"/>
          <p:cNvSpPr/>
          <p:nvPr/>
        </p:nvSpPr>
        <p:spPr>
          <a:xfrm>
            <a:off x="548640" y="4697730"/>
            <a:ext cx="5486400" cy="27432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F99"/>
              </a:buClr>
              <a:buSzPts val="800"/>
              <a:buFont typeface="Helvetica Neue"/>
              <a:buNone/>
              <a:defRPr sz="11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Chủ trì report: Trang + Khánh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/>
          <p:nvPr/>
        </p:nvSpPr>
        <p:spPr>
          <a:xfrm>
            <a:off x="411480" y="96012"/>
            <a:ext cx="5486400" cy="16459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700"/>
              <a:buFont typeface="Helvetica Neue"/>
              <a:buNone/>
              <a:defRPr sz="1300" b="1">
                <a:solidFill>
                  <a:srgbClr val="FF6600"/>
                </a:solidFill>
                <a:latin typeface="Helvetica Neue"/>
              </a:defRPr>
            </a:pPr>
            <a:r>
              <a:t>TỔNG KẾT TUẦN W33 · 3 CÂU HỎI MỞ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1"/>
          <p:cNvSpPr/>
          <p:nvPr/>
        </p:nvSpPr>
        <p:spPr>
          <a:xfrm>
            <a:off x="5829300" y="96012"/>
            <a:ext cx="2900934" cy="16459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Helvetica Neue"/>
              <a:buNone/>
            </a:pPr>
            <a:r>
              <a:rPr lang="en" sz="700" b="0" i="1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Ahamove  ·  Driver Management  ·  </a:t>
            </a:r>
            <a:r>
              <a:rPr lang="en" sz="700" i="1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Weekly Report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1"/>
          <p:cNvSpPr/>
          <p:nvPr/>
        </p:nvSpPr>
        <p:spPr>
          <a:xfrm>
            <a:off x="411480" y="288036"/>
            <a:ext cx="8318754" cy="44577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Helvetica Neue"/>
              <a:buNone/>
              <a:defRPr sz="1800" b="1">
                <a:solidFill>
                  <a:srgbClr val="0F172A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Nhìn lại Campaign 8.8 &amp; các điểm nóng vận hành tuần 03-09/8/2026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1"/>
          <p:cNvSpPr/>
          <p:nvPr/>
        </p:nvSpPr>
        <p:spPr>
          <a:xfrm>
            <a:off x="411480" y="754380"/>
            <a:ext cx="754380" cy="2743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31"/>
          <p:cNvSpPr/>
          <p:nvPr/>
        </p:nvSpPr>
        <p:spPr>
          <a:xfrm>
            <a:off x="411480" y="850392"/>
            <a:ext cx="34290" cy="384048"/>
          </a:xfrm>
          <a:prstGeom prst="roundRect">
            <a:avLst>
              <a:gd name="adj" fmla="val 2500"/>
            </a:avLst>
          </a:prstGeom>
          <a:solidFill>
            <a:srgbClr val="FF7F32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31"/>
          <p:cNvSpPr/>
          <p:nvPr/>
        </p:nvSpPr>
        <p:spPr>
          <a:xfrm>
            <a:off x="445770" y="850392"/>
            <a:ext cx="8284464" cy="3840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31"/>
          <p:cNvSpPr/>
          <p:nvPr/>
        </p:nvSpPr>
        <p:spPr>
          <a:xfrm>
            <a:off x="582930" y="850392"/>
            <a:ext cx="7955280" cy="3840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800"/>
              <a:buFont typeface="Helvetica Neue"/>
              <a:buNone/>
              <a:defRPr sz="11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Key Takeaway  Campaign 8.8 ghi nhận Prod tăng (8.95-10.16 stp), nhưng Active hụt 676-700 tx ở cả 2 TP. MiniHub siết chất lượng (Online 88.8%), phễu EV tắc ở telesales.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1"/>
          <p:cNvSpPr/>
          <p:nvPr/>
        </p:nvSpPr>
        <p:spPr>
          <a:xfrm>
            <a:off x="411480" y="1405890"/>
            <a:ext cx="4011930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p31"/>
          <p:cNvSpPr/>
          <p:nvPr/>
        </p:nvSpPr>
        <p:spPr>
          <a:xfrm>
            <a:off x="411480" y="1447038"/>
            <a:ext cx="4011930" cy="191338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31"/>
          <p:cNvSpPr/>
          <p:nvPr/>
        </p:nvSpPr>
        <p:spPr>
          <a:xfrm>
            <a:off x="582930" y="1543050"/>
            <a:ext cx="3669030" cy="24003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Helvetica Neue"/>
              <a:buNone/>
            </a:pPr>
            <a:r>
              <a:rPr lang="en" sz="1000" b="1" i="0" u="none" strike="noStrike" cap="none">
                <a:solidFill>
                  <a:srgbClr val="0596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HIGHLIGHTS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1"/>
          <p:cNvSpPr/>
          <p:nvPr/>
        </p:nvSpPr>
        <p:spPr>
          <a:xfrm>
            <a:off x="582930" y="1803654"/>
            <a:ext cx="3669030" cy="140589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HAN Active 5,126 tx (-11.6% vs 7.7), Prod 8.95 (+0.22). SGN Active 6,917 tx (-9.1% vs 7.7), Prod 10.16 (+0.5). FR sụt giảm do mưa lớn tại cả 2 TP.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1"/>
          <p:cNvSpPr/>
          <p:nvPr/>
        </p:nvSpPr>
        <p:spPr>
          <a:xfrm>
            <a:off x="4697730" y="1405890"/>
            <a:ext cx="4011930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p31"/>
          <p:cNvSpPr/>
          <p:nvPr/>
        </p:nvSpPr>
        <p:spPr>
          <a:xfrm>
            <a:off x="4697730" y="1447038"/>
            <a:ext cx="4011930" cy="191338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p31"/>
          <p:cNvSpPr/>
          <p:nvPr/>
        </p:nvSpPr>
        <p:spPr>
          <a:xfrm>
            <a:off x="4869180" y="1543050"/>
            <a:ext cx="3669030" cy="24003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Helvetica Neue"/>
              <a:buNone/>
            </a:pPr>
            <a:r>
              <a:rPr lang="en" sz="1000" b="1" i="0" u="none" strike="noStrike" cap="none">
                <a:solidFill>
                  <a:srgbClr val="DC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LOWLIGHTS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1"/>
          <p:cNvSpPr/>
          <p:nvPr/>
        </p:nvSpPr>
        <p:spPr>
          <a:xfrm>
            <a:off x="4869180" y="1803654"/>
            <a:ext cx="3669030" cy="140589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MiniHub Online 88.8%, Checkin 90.3%, nhưng Active hụt 7.5% WoW do siết lọc tx kém. Lead EV tắc ở Telesales (304 tx lỡ, 0 convert Aizen 3 tuần).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1"/>
          <p:cNvSpPr/>
          <p:nvPr/>
        </p:nvSpPr>
        <p:spPr>
          <a:xfrm>
            <a:off x="502920" y="3584448"/>
            <a:ext cx="7772400" cy="118872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18288" rIns="54864" bIns="18288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F99"/>
              </a:buClr>
              <a:buSzPts val="800"/>
              <a:buFont typeface="Helvetica Neue"/>
              <a:buNone/>
              <a:defRPr sz="950" b="1">
                <a:solidFill>
                  <a:srgbClr val="FF6600"/>
                </a:solidFill>
                <a:latin typeface="Helvetica Neue"/>
              </a:defRPr>
            </a:pPr>
            <a:r>
              <a:t>3 CÂU HỎI BÁO CÁO NÀY SẼ TRẢ LỜI (XEM LẠI Ở SLIDE CUỐI)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50">
                <a:solidFill>
                  <a:srgbClr val="0F172A"/>
                </a:solidFill>
                <a:latin typeface="Helvetica Neue"/>
              </a:defRPr>
            </a:pPr>
            <a:r>
              <a:t>1. Active Campaign 8.8 giảm do đâu? → Hụt tx sinh viên chưa quay lại &amp; chủ động siết lọc tx kém.</a:t>
            </a:r>
          </a:p>
          <a:p>
            <a:pPr>
              <a:defRPr sz="850">
                <a:solidFill>
                  <a:srgbClr val="0F172A"/>
                </a:solidFill>
                <a:latin typeface="Helvetica Neue"/>
              </a:defRPr>
            </a:pPr>
            <a:r>
              <a:t>2. MiniHub có đáng scale tiếp không? → Giữ chuẩn chất lượng (Online 88.8%), tối ưu PnL Leader trước khi mở rộng.</a:t>
            </a:r>
          </a:p>
          <a:p>
            <a:pPr>
              <a:defRPr sz="850">
                <a:solidFill>
                  <a:srgbClr val="0F172A"/>
                </a:solidFill>
                <a:latin typeface="Helvetica Neue"/>
              </a:defRPr>
            </a:pPr>
            <a:r>
              <a:t>3. Lead EV tắc ở Telesales xử lý ra sao? → Phân luồng telesales end-to-end (gọi 304 lead lỡ) &amp; chốt CTT đua top M8.</a:t>
            </a:r>
          </a:p>
        </p:txBody>
      </p:sp>
      <p:cxnSp>
        <p:nvCxnSpPr>
          <p:cNvPr id="157" name="Google Shape;157;p31"/>
          <p:cNvCxnSpPr/>
          <p:nvPr/>
        </p:nvCxnSpPr>
        <p:spPr>
          <a:xfrm>
            <a:off x="411480" y="4882896"/>
            <a:ext cx="8318754" cy="0"/>
          </a:xfrm>
          <a:prstGeom prst="straightConnector1">
            <a:avLst/>
          </a:prstGeom>
          <a:noFill/>
          <a:ln w="15875" cap="flat" cmpd="sng">
            <a:solidFill>
              <a:srgbClr val="FF7F3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" name="Google Shape;158;p31"/>
          <p:cNvSpPr/>
          <p:nvPr/>
        </p:nvSpPr>
        <p:spPr>
          <a:xfrm>
            <a:off x="411480" y="4924044"/>
            <a:ext cx="5486400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 Weekly Report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1"/>
          <p:cNvSpPr/>
          <p:nvPr/>
        </p:nvSpPr>
        <p:spPr>
          <a:xfrm>
            <a:off x="8366760" y="4924044"/>
            <a:ext cx="363474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/>
          <p:nvPr/>
        </p:nvSpPr>
        <p:spPr>
          <a:xfrm>
            <a:off x="411480" y="96012"/>
            <a:ext cx="5486400" cy="16459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700"/>
              <a:buFont typeface="Helvetica Neue"/>
              <a:buNone/>
              <a:defRPr sz="1300" b="1">
                <a:solidFill>
                  <a:srgbClr val="FF6600"/>
                </a:solidFill>
                <a:latin typeface="Helvetica Neue"/>
              </a:defRPr>
            </a:pPr>
            <a:r>
              <a:t>OKR SCORECARD · QUÝ 3 (TUẦN 33)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5829300" y="96012"/>
            <a:ext cx="2900934" cy="16459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Helvetica Neue"/>
              <a:buNone/>
            </a:pPr>
            <a:r>
              <a:rPr lang="en" sz="700" i="1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Ahamove  ·  Driver Management  ·  Weekly Report</a:t>
            </a:r>
            <a:endParaRPr sz="700" i="1">
              <a:solidFill>
                <a:srgbClr val="64748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411480" y="288036"/>
            <a:ext cx="8318754" cy="44577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Helvetica Neue"/>
              <a:buNone/>
              <a:defRPr sz="1800" b="1">
                <a:solidFill>
                  <a:srgbClr val="0F172A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Bảng tổng hợp tiến độ 6 Objective chiến lược tính đến tuần 03-09/08/2026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2"/>
          <p:cNvSpPr/>
          <p:nvPr/>
        </p:nvSpPr>
        <p:spPr>
          <a:xfrm>
            <a:off x="411480" y="754380"/>
            <a:ext cx="754380" cy="2743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p32"/>
          <p:cNvSpPr/>
          <p:nvPr/>
        </p:nvSpPr>
        <p:spPr>
          <a:xfrm>
            <a:off x="411480" y="850392"/>
            <a:ext cx="34290" cy="384048"/>
          </a:xfrm>
          <a:prstGeom prst="roundRect">
            <a:avLst>
              <a:gd name="adj" fmla="val 2500"/>
            </a:avLst>
          </a:prstGeom>
          <a:solidFill>
            <a:srgbClr val="FF7F3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p32"/>
          <p:cNvSpPr/>
          <p:nvPr/>
        </p:nvSpPr>
        <p:spPr>
          <a:xfrm>
            <a:off x="445770" y="850392"/>
            <a:ext cx="8284464" cy="3840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p32"/>
          <p:cNvSpPr/>
          <p:nvPr/>
        </p:nvSpPr>
        <p:spPr>
          <a:xfrm>
            <a:off x="582930" y="850392"/>
            <a:ext cx="7955280" cy="3840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800"/>
              <a:buFont typeface="Helvetica Neue"/>
              <a:buNone/>
              <a:defRPr sz="11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Key Takeaway  Củng cố mô hình vận hành nòng cốt; tập trung tháo gỡ phễu EV và nâng cao chỉ số tuân thủ CTR/GDR.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2" name="Google Shape;172;p32"/>
          <p:cNvGraphicFramePr/>
          <p:nvPr/>
        </p:nvGraphicFramePr>
        <p:xfrm>
          <a:off x="411480" y="1337310"/>
          <a:ext cx="8318700" cy="3029970"/>
        </p:xfrm>
        <a:graphic>
          <a:graphicData uri="http://schemas.openxmlformats.org/drawingml/2006/table">
            <a:tbl>
              <a:tblPr>
                <a:noFill/>
                <a:tableStyleId>{1B6E03F7-A7B3-402D-A52F-665CEB5CA1F2}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Objective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Tiến độ nổi bật </a:t>
                      </a:r>
                      <a:r>
                        <a:rPr lang="en" sz="1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tuần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RAG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Ghi chú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50"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Củng cố Driver Moat (Baga, FT, DQS)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Baga active 68.2% (gần target Q3 63.5%). FT active hụt 3-9% target CP 8.8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  <a:latin typeface="Helvetica Neue"/>
                        </a:defRPr>
                      </a:pPr>
                      <a:r>
                        <a:t>VÀNG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Baga tiến triển tốt, FT active hụt do thiếu tx sinh viên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50"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Bứt phá chuyển đổi EV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Active SGN 135% target, HAN 94%. Tuy nhiên lead Aizen đóng cứng 3 tuần (0 convert)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  <a:latin typeface="Helvetica Neue"/>
                        </a:defRPr>
                      </a:pPr>
                      <a:r>
                        <a:t>ĐỎ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Tài xế hụt chuyển đổi từ landing page (chỉ 25% convert)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150"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Scale MiniHub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Online rate 88.8%, Checkin 90.3%. Siết chất lượng lọc 7.5% tx kém hiệu suất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  <a:latin typeface="Helvetica Neue"/>
                        </a:defRPr>
                      </a:pPr>
                      <a:r>
                        <a:t>VÀNG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Vận hành ổn định nhưng quy mô active chững lại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150"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Ứng dụng AI &amp; Automation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Hoàn thành video guide D0 &amp; D1 (hủy đơn) trên noti, chuẩn bị kịch bản D2/D3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Helvetica Neue"/>
                        </a:defRPr>
                      </a:pPr>
                      <a:r>
                        <a:t>XANH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Dự án duy nhất duy trì RAG Xanh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150"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Đối tác &amp; Benefit tài xế (DE)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Done review Dat Bike, ưu đãi Tailg/GÁ. CHL kéo RR M8 kích hoạt 310 tx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  <a:latin typeface="Helvetica Neue"/>
                        </a:defRPr>
                      </a:pPr>
                      <a:r>
                        <a:t>VÀNG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RR MTD vẫn hụt 0.3-1.0% MoM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50"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Ops Growth (CTR/GDR &amp; CR)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NW CTR 78.49% (target 130%), GDR 96.53%. CR PoC HAN 13.59% (↑0.58% WoW)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  <a:latin typeface="Helvetica Neue"/>
                        </a:defRPr>
                      </a:pPr>
                      <a:r>
                        <a:t>ĐỎ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CR tăng cao ở Shopee Reverse (37.61%) và 2H (30.45%)</a:t>
                      </a:r>
                    </a:p>
                  </a:txBody>
                  <a:tcPr marL="47625" marR="47625" marT="28575" marB="28575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73" name="Google Shape;173;p32"/>
          <p:cNvCxnSpPr/>
          <p:nvPr/>
        </p:nvCxnSpPr>
        <p:spPr>
          <a:xfrm>
            <a:off x="411480" y="4882896"/>
            <a:ext cx="8318754" cy="0"/>
          </a:xfrm>
          <a:prstGeom prst="straightConnector1">
            <a:avLst/>
          </a:prstGeom>
          <a:noFill/>
          <a:ln w="15875" cap="flat" cmpd="sng">
            <a:solidFill>
              <a:srgbClr val="FF7F3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4" name="Google Shape;174;p32"/>
          <p:cNvSpPr/>
          <p:nvPr/>
        </p:nvSpPr>
        <p:spPr>
          <a:xfrm>
            <a:off x="411480" y="4924044"/>
            <a:ext cx="5486400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 Weekly Report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2"/>
          <p:cNvSpPr/>
          <p:nvPr/>
        </p:nvSpPr>
        <p:spPr>
          <a:xfrm>
            <a:off x="8366760" y="4924044"/>
            <a:ext cx="363474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/>
          <p:nvPr/>
        </p:nvSpPr>
        <p:spPr>
          <a:xfrm>
            <a:off x="5829300" y="55301"/>
            <a:ext cx="2901000" cy="1509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Helvetica Neue"/>
              <a:buNone/>
            </a:pPr>
            <a:r>
              <a:rPr lang="en" sz="1300" i="1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Ahamove  ·  Driver Management  ·  Weekly Report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3"/>
          <p:cNvSpPr/>
          <p:nvPr/>
        </p:nvSpPr>
        <p:spPr>
          <a:xfrm>
            <a:off x="411475" y="274323"/>
            <a:ext cx="2038500" cy="188700"/>
          </a:xfrm>
          <a:prstGeom prst="roundRect">
            <a:avLst>
              <a:gd name="adj" fmla="val 2500"/>
            </a:avLst>
          </a:prstGeom>
          <a:solidFill>
            <a:srgbClr val="FF6600"/>
          </a:solidFill>
          <a:ln w="12700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" name="Google Shape;183;p33"/>
          <p:cNvSpPr/>
          <p:nvPr/>
        </p:nvSpPr>
        <p:spPr>
          <a:xfrm>
            <a:off x="411480" y="240030"/>
            <a:ext cx="2038541" cy="34290"/>
          </a:xfrm>
          <a:prstGeom prst="roundRect">
            <a:avLst>
              <a:gd name="adj" fmla="val 2500"/>
            </a:avLst>
          </a:prstGeom>
          <a:solidFill>
            <a:srgbClr val="FF6600"/>
          </a:solidFill>
          <a:ln w="12700">
            <a:solidFill>
              <a:srgbClr val="FF6600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p33"/>
          <p:cNvSpPr/>
          <p:nvPr/>
        </p:nvSpPr>
        <p:spPr>
          <a:xfrm>
            <a:off x="411475" y="274323"/>
            <a:ext cx="2038500" cy="188700"/>
          </a:xfrm>
          <a:prstGeom prst="roundRect">
            <a:avLst>
              <a:gd name="adj" fmla="val 2500"/>
            </a:avLst>
          </a:prstGeom>
          <a:solidFill>
            <a:srgbClr val="FF6600"/>
          </a:solidFill>
          <a:ln w="12700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MiniHub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3"/>
          <p:cNvSpPr/>
          <p:nvPr/>
        </p:nvSpPr>
        <p:spPr>
          <a:xfrm>
            <a:off x="2504882" y="274323"/>
            <a:ext cx="2038500" cy="1887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p33"/>
          <p:cNvSpPr/>
          <p:nvPr/>
        </p:nvSpPr>
        <p:spPr>
          <a:xfrm>
            <a:off x="2504882" y="274323"/>
            <a:ext cx="2038500" cy="1887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Helvetica Neue"/>
              <a:buNone/>
            </a:pPr>
            <a:r>
              <a:rPr lang="en" sz="13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3"/>
          <p:cNvSpPr/>
          <p:nvPr/>
        </p:nvSpPr>
        <p:spPr>
          <a:xfrm>
            <a:off x="4598290" y="274323"/>
            <a:ext cx="2038500" cy="1887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8" name="Google Shape;188;p33"/>
          <p:cNvSpPr/>
          <p:nvPr/>
        </p:nvSpPr>
        <p:spPr>
          <a:xfrm>
            <a:off x="4598290" y="274323"/>
            <a:ext cx="2038500" cy="1887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Helvetica Neue"/>
              <a:buNone/>
            </a:pPr>
            <a:r>
              <a:rPr lang="en" sz="13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Baga Bulky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3"/>
          <p:cNvSpPr/>
          <p:nvPr/>
        </p:nvSpPr>
        <p:spPr>
          <a:xfrm>
            <a:off x="6691697" y="274323"/>
            <a:ext cx="2038500" cy="1887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p33"/>
          <p:cNvSpPr/>
          <p:nvPr/>
        </p:nvSpPr>
        <p:spPr>
          <a:xfrm>
            <a:off x="6691697" y="274323"/>
            <a:ext cx="2038500" cy="1887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Helvetica Neue"/>
              <a:buNone/>
            </a:pPr>
            <a:r>
              <a:rPr lang="en" sz="13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Driver Journey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3"/>
          <p:cNvSpPr/>
          <p:nvPr/>
        </p:nvSpPr>
        <p:spPr>
          <a:xfrm>
            <a:off x="411480" y="685800"/>
            <a:ext cx="377190" cy="377190"/>
          </a:xfrm>
          <a:prstGeom prst="roundRect">
            <a:avLst>
              <a:gd name="adj" fmla="val 2000"/>
            </a:avLst>
          </a:prstGeom>
          <a:solidFill>
            <a:srgbClr val="DC2626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33"/>
          <p:cNvSpPr/>
          <p:nvPr/>
        </p:nvSpPr>
        <p:spPr>
          <a:xfrm>
            <a:off x="411480" y="685800"/>
            <a:ext cx="377190" cy="37719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Helvetica Neue"/>
              <a:buNone/>
            </a:pPr>
            <a:r>
              <a:rPr lang="en" sz="10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3"/>
          <p:cNvSpPr/>
          <p:nvPr/>
        </p:nvSpPr>
        <p:spPr>
          <a:xfrm>
            <a:off x="891550" y="685800"/>
            <a:ext cx="6583800" cy="377100"/>
          </a:xfrm>
          <a:prstGeom prst="roundRect">
            <a:avLst>
              <a:gd name="adj" fmla="val 1967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Helvetica Neue"/>
              <a:buNone/>
              <a:defRPr sz="1800" b="1">
                <a:solidFill>
                  <a:srgbClr val="0F172A"/>
                </a:solidFill>
                <a:latin typeface="Helvetica Neue"/>
              </a:defRPr>
            </a:pPr>
            <a:r>
              <a:t>MiniHub: chất lượng vận hành nâng cao, chủ động siết lọc lực lượng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3"/>
          <p:cNvSpPr/>
          <p:nvPr/>
        </p:nvSpPr>
        <p:spPr>
          <a:xfrm>
            <a:off x="7749540" y="788670"/>
            <a:ext cx="109728" cy="109728"/>
          </a:xfrm>
          <a:prstGeom prst="roundRect">
            <a:avLst>
              <a:gd name="adj" fmla="val 2500"/>
            </a:avLst>
          </a:prstGeom>
          <a:solidFill>
            <a:srgbClr val="DC2626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p33"/>
          <p:cNvSpPr/>
          <p:nvPr/>
        </p:nvSpPr>
        <p:spPr>
          <a:xfrm>
            <a:off x="7900416" y="747522"/>
            <a:ext cx="685800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200" b="1">
                <a:solidFill>
                  <a:srgbClr val="D97706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VÀNG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3"/>
          <p:cNvSpPr/>
          <p:nvPr/>
        </p:nvSpPr>
        <p:spPr>
          <a:xfrm>
            <a:off x="411480" y="1179576"/>
            <a:ext cx="754380" cy="2743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p33"/>
          <p:cNvSpPr/>
          <p:nvPr/>
        </p:nvSpPr>
        <p:spPr>
          <a:xfrm>
            <a:off x="411480" y="1337310"/>
            <a:ext cx="2263140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p33"/>
          <p:cNvSpPr/>
          <p:nvPr/>
        </p:nvSpPr>
        <p:spPr>
          <a:xfrm>
            <a:off x="411480" y="1378458"/>
            <a:ext cx="2263140" cy="102184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9" name="Google Shape;199;p33"/>
          <p:cNvSpPr/>
          <p:nvPr/>
        </p:nvSpPr>
        <p:spPr>
          <a:xfrm>
            <a:off x="512064" y="1389888"/>
            <a:ext cx="1611630" cy="32004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73152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Helvetica Neue"/>
              <a:buNone/>
              <a:defRPr sz="2200" b="1">
                <a:solidFill>
                  <a:srgbClr val="0F172A"/>
                </a:solidFill>
                <a:latin typeface="Helvetica Neue"/>
              </a:defRPr>
            </a:pPr>
            <a:r>
              <a:t>88.8%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3"/>
          <p:cNvSpPr/>
          <p:nvPr/>
        </p:nvSpPr>
        <p:spPr>
          <a:xfrm>
            <a:off x="512064" y="1719072"/>
            <a:ext cx="1611630" cy="29260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9144" rIns="54864" bIns="9144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  <a:defRPr sz="750" b="0">
                <a:solidFill>
                  <a:srgbClr val="334155"/>
                </a:solidFill>
                <a:latin typeface="Helvetica Neue"/>
              </a:defRPr>
            </a:pPr>
            <a:r>
              <a:t>Online rate 88.8% (Checkin 90.3%)</a:t>
            </a:r>
            <a:br/>
            <a:r>
              <a:t>EPH 48.5K - 59.6K/h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3"/>
          <p:cNvSpPr/>
          <p:nvPr/>
        </p:nvSpPr>
        <p:spPr>
          <a:xfrm>
            <a:off x="2297430" y="1474470"/>
            <a:ext cx="342900" cy="144018"/>
          </a:xfrm>
          <a:prstGeom prst="triangle">
            <a:avLst>
              <a:gd name="adj" fmla="val 50000"/>
            </a:avLst>
          </a:prstGeom>
          <a:solidFill>
            <a:srgbClr val="D9631A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p33"/>
          <p:cNvSpPr/>
          <p:nvPr/>
        </p:nvSpPr>
        <p:spPr>
          <a:xfrm>
            <a:off x="2324862" y="1611630"/>
            <a:ext cx="288036" cy="188595"/>
          </a:xfrm>
          <a:prstGeom prst="roundRect">
            <a:avLst>
              <a:gd name="adj" fmla="val 2500"/>
            </a:avLst>
          </a:prstGeom>
          <a:solidFill>
            <a:srgbClr val="D9631A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33"/>
          <p:cNvSpPr/>
          <p:nvPr/>
        </p:nvSpPr>
        <p:spPr>
          <a:xfrm>
            <a:off x="2434590" y="1697355"/>
            <a:ext cx="68580" cy="10287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p33"/>
          <p:cNvSpPr/>
          <p:nvPr/>
        </p:nvSpPr>
        <p:spPr>
          <a:xfrm>
            <a:off x="530352" y="2048256"/>
            <a:ext cx="2057400" cy="12344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  <a:defRPr sz="950" b="1">
                <a:solidFill>
                  <a:srgbClr val="FF6600"/>
                </a:solidFill>
                <a:latin typeface="Helvetica Neue"/>
              </a:defRPr>
            </a:pPr>
            <a:r>
              <a:t>MỤC TIÊU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3"/>
          <p:cNvSpPr/>
          <p:nvPr/>
        </p:nvSpPr>
        <p:spPr>
          <a:xfrm>
            <a:off x="530352" y="2157984"/>
            <a:ext cx="2057400" cy="29260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42E"/>
              </a:buClr>
              <a:buSzPts val="800"/>
              <a:buFont typeface="Helvetica Neue"/>
              <a:buNone/>
              <a:defRPr sz="800" b="1">
                <a:solidFill>
                  <a:srgbClr val="334155"/>
                </a:solidFill>
                <a:latin typeface="Helvetica Neue"/>
              </a:defRPr>
            </a:pPr>
            <a:r>
              <a:t>Ổn định khung giờ &amp; tối ưu PnL Leader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3"/>
          <p:cNvSpPr/>
          <p:nvPr/>
        </p:nvSpPr>
        <p:spPr>
          <a:xfrm>
            <a:off x="411480" y="2503170"/>
            <a:ext cx="2263140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9" name="Google Shape;209;p33"/>
          <p:cNvSpPr/>
          <p:nvPr/>
        </p:nvSpPr>
        <p:spPr>
          <a:xfrm>
            <a:off x="411480" y="2544318"/>
            <a:ext cx="2263140" cy="20848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" name="Google Shape;210;p33"/>
          <p:cNvSpPr/>
          <p:nvPr/>
        </p:nvSpPr>
        <p:spPr>
          <a:xfrm>
            <a:off x="548640" y="2606040"/>
            <a:ext cx="198882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</a:pPr>
            <a:r>
              <a:rPr lang="en" sz="7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TRƯỚC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3"/>
          <p:cNvSpPr/>
          <p:nvPr/>
        </p:nvSpPr>
        <p:spPr>
          <a:xfrm>
            <a:off x="548640" y="2791206"/>
            <a:ext cx="1988820" cy="685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  <a:defRPr sz="9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Coverage phân mảnh, tài xế bỏ ca nhiều, Rec rate ghép đơn dưới 20%.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3"/>
          <p:cNvSpPr/>
          <p:nvPr/>
        </p:nvSpPr>
        <p:spPr>
          <a:xfrm>
            <a:off x="548640" y="3463290"/>
            <a:ext cx="198882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7F32"/>
              </a:buClr>
              <a:buSzPts val="1100"/>
              <a:buFont typeface="Helvetica Neue"/>
              <a:buNone/>
            </a:pPr>
            <a:r>
              <a:rPr lang="en" sz="1100" b="1" i="0" u="none" strike="noStrike" cap="none">
                <a:solidFill>
                  <a:srgbClr val="FF7F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3"/>
          <p:cNvSpPr/>
          <p:nvPr/>
        </p:nvSpPr>
        <p:spPr>
          <a:xfrm>
            <a:off x="548640" y="3655314"/>
            <a:ext cx="198882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</a:pPr>
            <a:r>
              <a:rPr lang="en" sz="7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SAU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3"/>
          <p:cNvSpPr/>
          <p:nvPr/>
        </p:nvSpPr>
        <p:spPr>
          <a:xfrm>
            <a:off x="548640" y="3840480"/>
            <a:ext cx="1988820" cy="685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  <a:defRPr sz="9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Coverage HAN 15.53%, SGN 22.11%. Rec rate tăng lên 23.9% (HAN) và 23.6% (SGN).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3"/>
          <p:cNvSpPr/>
          <p:nvPr/>
        </p:nvSpPr>
        <p:spPr>
          <a:xfrm>
            <a:off x="2846070" y="9144000"/>
            <a:ext cx="2894076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" name="Google Shape;216;p33"/>
          <p:cNvSpPr/>
          <p:nvPr/>
        </p:nvSpPr>
        <p:spPr>
          <a:xfrm>
            <a:off x="2846070" y="9144000"/>
            <a:ext cx="2894076" cy="157048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33"/>
          <p:cNvSpPr/>
          <p:nvPr/>
        </p:nvSpPr>
        <p:spPr>
          <a:xfrm>
            <a:off x="2969514" y="1488186"/>
            <a:ext cx="233172" cy="233172"/>
          </a:xfrm>
          <a:prstGeom prst="roundRect">
            <a:avLst>
              <a:gd name="adj" fmla="val 2500"/>
            </a:avLst>
          </a:prstGeom>
          <a:solidFill>
            <a:srgbClr val="6B6B6B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8" name="Google Shape;218;p33"/>
          <p:cNvSpPr/>
          <p:nvPr/>
        </p:nvSpPr>
        <p:spPr>
          <a:xfrm>
            <a:off x="2969514" y="1488186"/>
            <a:ext cx="233172" cy="23317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3"/>
          <p:cNvSpPr/>
          <p:nvPr/>
        </p:nvSpPr>
        <p:spPr>
          <a:xfrm>
            <a:off x="3273552" y="1444752"/>
            <a:ext cx="2345436" cy="219456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r>
              <a:rPr b="1" sz="1100">
                <a:solidFill/>
                <a:latin typeface="Helvetica Neue"/>
              </a:rPr>
              <a:t>ĐÃ LÀM GÌ (W33)</a:t>
            </a:r>
          </a:p>
        </p:txBody>
      </p:sp>
      <p:sp>
        <p:nvSpPr>
          <p:cNvPr id="220" name="Google Shape;220;p33"/>
          <p:cNvSpPr/>
          <p:nvPr/>
        </p:nvSpPr>
        <p:spPr>
          <a:xfrm>
            <a:off x="2999232" y="1664208"/>
            <a:ext cx="2592324" cy="777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7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Siết lọc chất lượng tài xế kém (-7.6% active), tăng Online rate +3.5% WoW tại SGN và +1.9% tại HAN. Tăng tỷ lệ ghép đơn Rec.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3"/>
          <p:cNvSpPr/>
          <p:nvPr/>
        </p:nvSpPr>
        <p:spPr>
          <a:xfrm>
            <a:off x="5849874" y="1337310"/>
            <a:ext cx="2894076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Google Shape;222;p33"/>
          <p:cNvSpPr/>
          <p:nvPr/>
        </p:nvSpPr>
        <p:spPr>
          <a:xfrm>
            <a:off x="5849874" y="1378458"/>
            <a:ext cx="2894076" cy="157048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" name="Google Shape;223;p33"/>
          <p:cNvSpPr/>
          <p:nvPr/>
        </p:nvSpPr>
        <p:spPr>
          <a:xfrm>
            <a:off x="5973318" y="1488186"/>
            <a:ext cx="233172" cy="233172"/>
          </a:xfrm>
          <a:prstGeom prst="roundRect">
            <a:avLst>
              <a:gd name="adj" fmla="val 2500"/>
            </a:avLst>
          </a:prstGeom>
          <a:solidFill>
            <a:srgbClr val="DC2626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Google Shape;224;p33"/>
          <p:cNvSpPr/>
          <p:nvPr/>
        </p:nvSpPr>
        <p:spPr>
          <a:xfrm>
            <a:off x="5973318" y="1488186"/>
            <a:ext cx="233172" cy="23317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!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3"/>
          <p:cNvSpPr/>
          <p:nvPr/>
        </p:nvSpPr>
        <p:spPr>
          <a:xfrm>
            <a:off x="6275070" y="1444752"/>
            <a:ext cx="2345436" cy="219456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DC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TÁC ĐỘNG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3"/>
          <p:cNvSpPr/>
          <p:nvPr/>
        </p:nvSpPr>
        <p:spPr>
          <a:xfrm>
            <a:off x="6000750" y="1783080"/>
            <a:ext cx="2592324" cy="960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9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Vận hành ổn định hơn, Earning/hour duy trì tốt (59.6K HAN / 48.5K SGN). PPH đạt 3.23-3.38. Tỷ lệ Active/Registered đạt 84-93%.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3"/>
          <p:cNvSpPr/>
          <p:nvPr/>
        </p:nvSpPr>
        <p:spPr>
          <a:xfrm>
            <a:off x="2846070" y="3051810"/>
            <a:ext cx="2894076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8" name="Google Shape;228;p33"/>
          <p:cNvSpPr/>
          <p:nvPr/>
        </p:nvSpPr>
        <p:spPr>
          <a:xfrm>
            <a:off x="2846070" y="3092958"/>
            <a:ext cx="2894076" cy="157048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9" name="Google Shape;229;p33"/>
          <p:cNvSpPr/>
          <p:nvPr/>
        </p:nvSpPr>
        <p:spPr>
          <a:xfrm>
            <a:off x="2969514" y="3202686"/>
            <a:ext cx="233172" cy="233172"/>
          </a:xfrm>
          <a:prstGeom prst="roundRect">
            <a:avLst>
              <a:gd name="adj" fmla="val 2500"/>
            </a:avLst>
          </a:prstGeom>
          <a:solidFill>
            <a:srgbClr val="FF7F32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0" name="Google Shape;230;p33"/>
          <p:cNvSpPr/>
          <p:nvPr/>
        </p:nvSpPr>
        <p:spPr>
          <a:xfrm>
            <a:off x="2969514" y="3202686"/>
            <a:ext cx="233172" cy="23317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3"/>
          <p:cNvSpPr/>
          <p:nvPr/>
        </p:nvSpPr>
        <p:spPr>
          <a:xfrm>
            <a:off x="3271266" y="3216402"/>
            <a:ext cx="2345436" cy="219456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BƯỚC TIẾP THEO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3"/>
          <p:cNvSpPr/>
          <p:nvPr/>
        </p:nvSpPr>
        <p:spPr>
          <a:xfrm>
            <a:off x="2996946" y="3545586"/>
            <a:ext cx="2592324" cy="99441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9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Tối ưu luồng NIM Onboard CityZone, retrain tài xế gán đơn ngược hướng, chuẩn hóa chính sách thưởng mới.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3"/>
          <p:cNvSpPr/>
          <p:nvPr/>
        </p:nvSpPr>
        <p:spPr>
          <a:xfrm>
            <a:off x="5849874" y="3051810"/>
            <a:ext cx="2894076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4" name="Google Shape;234;p33"/>
          <p:cNvSpPr/>
          <p:nvPr/>
        </p:nvSpPr>
        <p:spPr>
          <a:xfrm>
            <a:off x="5849861" y="3089533"/>
            <a:ext cx="2894100" cy="15705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5" name="Google Shape;235;p33"/>
          <p:cNvSpPr/>
          <p:nvPr/>
        </p:nvSpPr>
        <p:spPr>
          <a:xfrm>
            <a:off x="5973318" y="3202686"/>
            <a:ext cx="233172" cy="2331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6" name="Google Shape;236;p33"/>
          <p:cNvSpPr/>
          <p:nvPr/>
        </p:nvSpPr>
        <p:spPr>
          <a:xfrm>
            <a:off x="5973318" y="3202686"/>
            <a:ext cx="233172" cy="23317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◆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3"/>
          <p:cNvSpPr/>
          <p:nvPr/>
        </p:nvSpPr>
        <p:spPr>
          <a:xfrm>
            <a:off x="6275070" y="3216402"/>
            <a:ext cx="2345436" cy="219456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CẦN SUPPORT TỪ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3"/>
          <p:cNvSpPr/>
          <p:nvPr/>
        </p:nvSpPr>
        <p:spPr>
          <a:xfrm>
            <a:off x="6000750" y="3545586"/>
            <a:ext cx="2592324" cy="99441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9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DE/GR (luồng onboard CityZone), BI (mô hình tài chính PnL MiniHub Leader).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33"/>
          <p:cNvCxnSpPr/>
          <p:nvPr/>
        </p:nvCxnSpPr>
        <p:spPr>
          <a:xfrm>
            <a:off x="411480" y="4882896"/>
            <a:ext cx="8318754" cy="0"/>
          </a:xfrm>
          <a:prstGeom prst="straightConnector1">
            <a:avLst/>
          </a:prstGeom>
          <a:noFill/>
          <a:ln w="15875" cap="flat" cmpd="sng">
            <a:solidFill>
              <a:srgbClr val="FF7F3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0" name="Google Shape;240;p33"/>
          <p:cNvSpPr/>
          <p:nvPr/>
        </p:nvSpPr>
        <p:spPr>
          <a:xfrm>
            <a:off x="411480" y="4924044"/>
            <a:ext cx="5486400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 Weekly Report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3"/>
          <p:cNvSpPr/>
          <p:nvPr/>
        </p:nvSpPr>
        <p:spPr>
          <a:xfrm>
            <a:off x="8366760" y="4924044"/>
            <a:ext cx="363474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"/>
          <p:cNvSpPr/>
          <p:nvPr/>
        </p:nvSpPr>
        <p:spPr>
          <a:xfrm>
            <a:off x="411475" y="274325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8" name="Google Shape;248;p34"/>
          <p:cNvSpPr/>
          <p:nvPr/>
        </p:nvSpPr>
        <p:spPr>
          <a:xfrm>
            <a:off x="411475" y="274325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Helvetica Neue"/>
              <a:buNone/>
            </a:pPr>
            <a:r>
              <a:rPr lang="en" sz="13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MiniHub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4"/>
          <p:cNvSpPr/>
          <p:nvPr/>
        </p:nvSpPr>
        <p:spPr>
          <a:xfrm>
            <a:off x="2504883" y="274325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0" name="Google Shape;250;p34"/>
          <p:cNvSpPr/>
          <p:nvPr/>
        </p:nvSpPr>
        <p:spPr>
          <a:xfrm>
            <a:off x="2504885" y="240030"/>
            <a:ext cx="2038500" cy="342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1" name="Google Shape;251;p34"/>
          <p:cNvSpPr/>
          <p:nvPr/>
        </p:nvSpPr>
        <p:spPr>
          <a:xfrm>
            <a:off x="2504883" y="274325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</a:pPr>
            <a:r>
              <a:rPr lang="en" sz="13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4"/>
          <p:cNvSpPr/>
          <p:nvPr/>
        </p:nvSpPr>
        <p:spPr>
          <a:xfrm>
            <a:off x="4598291" y="274325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3" name="Google Shape;253;p34"/>
          <p:cNvSpPr/>
          <p:nvPr/>
        </p:nvSpPr>
        <p:spPr>
          <a:xfrm>
            <a:off x="4598291" y="274325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Helvetica Neue"/>
              <a:buNone/>
            </a:pPr>
            <a:r>
              <a:rPr lang="en" sz="13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Baga Bulky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4"/>
          <p:cNvSpPr/>
          <p:nvPr/>
        </p:nvSpPr>
        <p:spPr>
          <a:xfrm>
            <a:off x="6691699" y="274325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5" name="Google Shape;255;p34"/>
          <p:cNvSpPr/>
          <p:nvPr/>
        </p:nvSpPr>
        <p:spPr>
          <a:xfrm>
            <a:off x="6691699" y="274325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Helvetica Neue"/>
              <a:buNone/>
            </a:pPr>
            <a:r>
              <a:rPr lang="en" sz="13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Driver Journey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4"/>
          <p:cNvSpPr/>
          <p:nvPr/>
        </p:nvSpPr>
        <p:spPr>
          <a:xfrm>
            <a:off x="411480" y="685800"/>
            <a:ext cx="377190" cy="377190"/>
          </a:xfrm>
          <a:prstGeom prst="roundRect">
            <a:avLst>
              <a:gd name="adj" fmla="val 16667"/>
            </a:avLst>
          </a:prstGeom>
          <a:solidFill>
            <a:srgbClr val="C77700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7" name="Google Shape;257;p34"/>
          <p:cNvSpPr/>
          <p:nvPr/>
        </p:nvSpPr>
        <p:spPr>
          <a:xfrm>
            <a:off x="411480" y="685800"/>
            <a:ext cx="377190" cy="37719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Helvetica Neue"/>
              <a:buNone/>
            </a:pPr>
            <a:r>
              <a:rPr lang="en" sz="10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4"/>
          <p:cNvSpPr/>
          <p:nvPr/>
        </p:nvSpPr>
        <p:spPr>
          <a:xfrm>
            <a:off x="891550" y="685802"/>
            <a:ext cx="6583800" cy="377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Helvetica Neue"/>
              <a:buNone/>
              <a:defRPr sz="1800" b="1">
                <a:solidFill>
                  <a:srgbClr val="0F172A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EV: Active MTD đạt kế hoạch, nhưng phễu Telesales Lead đang rò rỉ</a:t>
            </a:r>
            <a:endParaRPr sz="1300" b="1">
              <a:solidFill>
                <a:srgbClr val="0F172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9" name="Google Shape;259;p34"/>
          <p:cNvSpPr/>
          <p:nvPr/>
        </p:nvSpPr>
        <p:spPr>
          <a:xfrm>
            <a:off x="7749540" y="788670"/>
            <a:ext cx="109728" cy="109728"/>
          </a:xfrm>
          <a:prstGeom prst="roundRect">
            <a:avLst>
              <a:gd name="adj" fmla="val 2500"/>
            </a:avLst>
          </a:prstGeom>
          <a:solidFill>
            <a:srgbClr val="C77700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0" name="Google Shape;260;p34"/>
          <p:cNvSpPr/>
          <p:nvPr/>
        </p:nvSpPr>
        <p:spPr>
          <a:xfrm>
            <a:off x="7900416" y="747522"/>
            <a:ext cx="685800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200" b="1">
                <a:solidFill>
                  <a:srgbClr val="DC2626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ĐỎ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4"/>
          <p:cNvSpPr/>
          <p:nvPr/>
        </p:nvSpPr>
        <p:spPr>
          <a:xfrm>
            <a:off x="411480" y="1179576"/>
            <a:ext cx="754380" cy="2743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2" name="Google Shape;262;p34"/>
          <p:cNvSpPr/>
          <p:nvPr/>
        </p:nvSpPr>
        <p:spPr>
          <a:xfrm>
            <a:off x="411480" y="1337310"/>
            <a:ext cx="2263140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p34"/>
          <p:cNvSpPr/>
          <p:nvPr/>
        </p:nvSpPr>
        <p:spPr>
          <a:xfrm>
            <a:off x="411480" y="1378458"/>
            <a:ext cx="2263140" cy="102184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4" name="Google Shape;264;p34"/>
          <p:cNvSpPr/>
          <p:nvPr/>
        </p:nvSpPr>
        <p:spPr>
          <a:xfrm>
            <a:off x="514350" y="1371600"/>
            <a:ext cx="1611630" cy="36576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Helvetica Neue"/>
              <a:buNone/>
              <a:defRPr sz="2400" b="1">
                <a:solidFill>
                  <a:srgbClr val="0F172A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25%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4"/>
          <p:cNvSpPr/>
          <p:nvPr/>
        </p:nvSpPr>
        <p:spPr>
          <a:xfrm>
            <a:off x="512064" y="1389888"/>
            <a:ext cx="1611630" cy="32004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9144" rIns="54864" bIns="9144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  <a:defRPr sz="8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165/660 tx convert sang EV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304 lead lỡ, 0 convert Aizen</a:t>
            </a:r>
          </a:p>
        </p:txBody>
      </p:sp>
      <p:sp>
        <p:nvSpPr>
          <p:cNvPr id="266" name="Google Shape;266;p34"/>
          <p:cNvSpPr/>
          <p:nvPr/>
        </p:nvSpPr>
        <p:spPr>
          <a:xfrm>
            <a:off x="512064" y="1719072"/>
            <a:ext cx="267462" cy="292608"/>
          </a:xfrm>
          <a:prstGeom prst="roundRect">
            <a:avLst>
              <a:gd name="adj" fmla="val 2500"/>
            </a:avLst>
          </a:prstGeom>
          <a:solidFill>
            <a:srgbClr val="D9631A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750"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7" name="Google Shape;267;p34"/>
          <p:cNvSpPr/>
          <p:nvPr/>
        </p:nvSpPr>
        <p:spPr>
          <a:xfrm>
            <a:off x="2564892" y="1597914"/>
            <a:ext cx="41148" cy="96012"/>
          </a:xfrm>
          <a:prstGeom prst="roundRect">
            <a:avLst>
              <a:gd name="adj" fmla="val 2500"/>
            </a:avLst>
          </a:prstGeom>
          <a:solidFill>
            <a:srgbClr val="D9631A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8" name="Google Shape;268;p34"/>
          <p:cNvSpPr/>
          <p:nvPr/>
        </p:nvSpPr>
        <p:spPr>
          <a:xfrm>
            <a:off x="2359152" y="1577340"/>
            <a:ext cx="27432" cy="137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9" name="Google Shape;269;p34"/>
          <p:cNvSpPr/>
          <p:nvPr/>
        </p:nvSpPr>
        <p:spPr>
          <a:xfrm>
            <a:off x="2420874" y="1577340"/>
            <a:ext cx="27432" cy="137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34"/>
          <p:cNvSpPr/>
          <p:nvPr/>
        </p:nvSpPr>
        <p:spPr>
          <a:xfrm>
            <a:off x="411480" y="9144000"/>
            <a:ext cx="2263140" cy="260604"/>
          </a:xfrm>
          <a:prstGeom prst="roundRect">
            <a:avLst>
              <a:gd name="adj" fmla="val 2500"/>
            </a:avLst>
          </a:prstGeom>
          <a:noFill/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1" name="Google Shape;271;p34"/>
          <p:cNvSpPr/>
          <p:nvPr/>
        </p:nvSpPr>
        <p:spPr>
          <a:xfrm>
            <a:off x="411480" y="9144000"/>
            <a:ext cx="34290" cy="26060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2" name="Google Shape;272;p34"/>
          <p:cNvSpPr/>
          <p:nvPr/>
        </p:nvSpPr>
        <p:spPr>
          <a:xfrm>
            <a:off x="530352" y="2048256"/>
            <a:ext cx="2057400" cy="12344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MỤC TIÊU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4"/>
          <p:cNvSpPr/>
          <p:nvPr/>
        </p:nvSpPr>
        <p:spPr>
          <a:xfrm>
            <a:off x="530352" y="2157984"/>
            <a:ext cx="2057400" cy="29260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7700"/>
              </a:buClr>
              <a:buSzPts val="800"/>
              <a:buFont typeface="Helvetica Neue"/>
              <a:buNone/>
              <a:defRPr sz="800" b="1">
                <a:solidFill>
                  <a:srgbClr val="FF6600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Thông phễu telesales &amp; chốt CTT M8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4"/>
          <p:cNvSpPr/>
          <p:nvPr/>
        </p:nvSpPr>
        <p:spPr>
          <a:xfrm>
            <a:off x="411480" y="2503170"/>
            <a:ext cx="2263140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5" name="Google Shape;275;p34"/>
          <p:cNvSpPr/>
          <p:nvPr/>
        </p:nvSpPr>
        <p:spPr>
          <a:xfrm>
            <a:off x="411480" y="2544318"/>
            <a:ext cx="2263140" cy="20848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6" name="Google Shape;276;p34"/>
          <p:cNvSpPr/>
          <p:nvPr/>
        </p:nvSpPr>
        <p:spPr>
          <a:xfrm>
            <a:off x="548640" y="2606040"/>
            <a:ext cx="198882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</a:pPr>
            <a:r>
              <a:rPr lang="en" sz="7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TRƯỚC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4"/>
          <p:cNvSpPr/>
          <p:nvPr/>
        </p:nvSpPr>
        <p:spPr>
          <a:xfrm>
            <a:off x="548640" y="2791206"/>
            <a:ext cx="1988820" cy="685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  <a:defRPr sz="9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Xử lý lead thủ công, chưa có quy trình gọi lại và theo dõi nguồn landing page.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4"/>
          <p:cNvSpPr/>
          <p:nvPr/>
        </p:nvSpPr>
        <p:spPr>
          <a:xfrm>
            <a:off x="548640" y="3463290"/>
            <a:ext cx="198882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7F32"/>
              </a:buClr>
              <a:buSzPts val="1100"/>
              <a:buFont typeface="Helvetica Neue"/>
              <a:buNone/>
            </a:pPr>
            <a:r>
              <a:rPr lang="en" sz="1100" b="1" i="0" u="none" strike="noStrike" cap="none">
                <a:solidFill>
                  <a:srgbClr val="FF7F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4"/>
          <p:cNvSpPr/>
          <p:nvPr/>
        </p:nvSpPr>
        <p:spPr>
          <a:xfrm>
            <a:off x="548640" y="3655314"/>
            <a:ext cx="198882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</a:pPr>
            <a:r>
              <a:rPr lang="en" sz="7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SAU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4"/>
          <p:cNvSpPr/>
          <p:nvPr/>
        </p:nvSpPr>
        <p:spPr>
          <a:xfrm>
            <a:off x="548640" y="3840480"/>
            <a:ext cx="1988820" cy="685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  <a:defRPr sz="9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Phân tích phễu 1,293 distinct drivers: 964 liên hệ, 660 tư vấn, nhưng chỉ 165 thành EV.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4"/>
          <p:cNvSpPr/>
          <p:nvPr/>
        </p:nvSpPr>
        <p:spPr>
          <a:xfrm>
            <a:off x="2846070" y="9144000"/>
            <a:ext cx="2894076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2" name="Google Shape;282;p34"/>
          <p:cNvSpPr/>
          <p:nvPr/>
        </p:nvSpPr>
        <p:spPr>
          <a:xfrm>
            <a:off x="2846070" y="9144000"/>
            <a:ext cx="2894076" cy="157048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3" name="Google Shape;283;p34"/>
          <p:cNvSpPr/>
          <p:nvPr/>
        </p:nvSpPr>
        <p:spPr>
          <a:xfrm>
            <a:off x="2969514" y="1488186"/>
            <a:ext cx="233172" cy="233172"/>
          </a:xfrm>
          <a:prstGeom prst="roundRect">
            <a:avLst>
              <a:gd name="adj" fmla="val 2500"/>
            </a:avLst>
          </a:prstGeom>
          <a:solidFill>
            <a:srgbClr val="6B6B6B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4" name="Google Shape;284;p34"/>
          <p:cNvSpPr/>
          <p:nvPr/>
        </p:nvSpPr>
        <p:spPr>
          <a:xfrm>
            <a:off x="2969514" y="1488186"/>
            <a:ext cx="233172" cy="23317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4"/>
          <p:cNvSpPr/>
          <p:nvPr/>
        </p:nvSpPr>
        <p:spPr>
          <a:xfrm>
            <a:off x="3273552" y="1444752"/>
            <a:ext cx="2345436" cy="219456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r>
              <a:rPr b="1" sz="1100">
                <a:solidFill/>
                <a:latin typeface="Helvetica Neue"/>
              </a:rPr>
              <a:t>ĐÃ LÀM GÌ (W33)</a:t>
            </a:r>
          </a:p>
        </p:txBody>
      </p:sp>
      <p:sp>
        <p:nvSpPr>
          <p:cNvPr id="286" name="Google Shape;286;p34"/>
          <p:cNvSpPr/>
          <p:nvPr/>
        </p:nvSpPr>
        <p:spPr>
          <a:xfrm>
            <a:off x="2999232" y="1664208"/>
            <a:ext cx="2592324" cy="777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9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Phân tích chi tiết phễu lead landing page, ghi nhận 304 tài xế không nghe máy; ghi nhận 3 tuần liên tiếp 0 convert gói Aizen.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5849874" y="1337310"/>
            <a:ext cx="2894076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8" name="Google Shape;288;p34"/>
          <p:cNvSpPr/>
          <p:nvPr/>
        </p:nvSpPr>
        <p:spPr>
          <a:xfrm>
            <a:off x="5849874" y="1378458"/>
            <a:ext cx="2894076" cy="157048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9" name="Google Shape;289;p34"/>
          <p:cNvSpPr/>
          <p:nvPr/>
        </p:nvSpPr>
        <p:spPr>
          <a:xfrm>
            <a:off x="5973318" y="1488186"/>
            <a:ext cx="233172" cy="233172"/>
          </a:xfrm>
          <a:prstGeom prst="roundRect">
            <a:avLst>
              <a:gd name="adj" fmla="val 2500"/>
            </a:avLst>
          </a:prstGeom>
          <a:solidFill>
            <a:srgbClr val="C77700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0" name="Google Shape;290;p34"/>
          <p:cNvSpPr/>
          <p:nvPr/>
        </p:nvSpPr>
        <p:spPr>
          <a:xfrm>
            <a:off x="5973318" y="1488186"/>
            <a:ext cx="233172" cy="23317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!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4"/>
          <p:cNvSpPr/>
          <p:nvPr/>
        </p:nvSpPr>
        <p:spPr>
          <a:xfrm>
            <a:off x="6275070" y="1444752"/>
            <a:ext cx="2345436" cy="219456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DC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TÁC ĐỘNG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4"/>
          <p:cNvSpPr/>
          <p:nvPr/>
        </p:nvSpPr>
        <p:spPr>
          <a:xfrm>
            <a:off x="6000750" y="1783080"/>
            <a:ext cx="2592324" cy="960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9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Số tài xế chuyển đổi mới theo tuần giảm mạnh (SGN 34 -&gt; 0, HAN 15 -&gt; 0). Phễu rò rỉ lớn ở khâu tiếp xúc &amp; tư vấn ban đầu.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2846070" y="3051810"/>
            <a:ext cx="2894076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2846070" y="3092958"/>
            <a:ext cx="2894076" cy="157048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5" name="Google Shape;295;p34"/>
          <p:cNvSpPr/>
          <p:nvPr/>
        </p:nvSpPr>
        <p:spPr>
          <a:xfrm>
            <a:off x="2969514" y="3202686"/>
            <a:ext cx="233172" cy="233172"/>
          </a:xfrm>
          <a:prstGeom prst="roundRect">
            <a:avLst>
              <a:gd name="adj" fmla="val 2500"/>
            </a:avLst>
          </a:prstGeom>
          <a:solidFill>
            <a:srgbClr val="FF7F32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6" name="Google Shape;296;p34"/>
          <p:cNvSpPr/>
          <p:nvPr/>
        </p:nvSpPr>
        <p:spPr>
          <a:xfrm>
            <a:off x="2969514" y="3202686"/>
            <a:ext cx="233172" cy="23317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3271266" y="3216402"/>
            <a:ext cx="2345436" cy="219456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BƯỚC TIẾP THEO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4"/>
          <p:cNvSpPr/>
          <p:nvPr/>
        </p:nvSpPr>
        <p:spPr>
          <a:xfrm>
            <a:off x="2996946" y="3545586"/>
            <a:ext cx="2592324" cy="99441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950" b="0">
                <a:solidFill>
                  <a:srgbClr val="334155"/>
                </a:solidFill>
                <a:latin typeface="Helvetica Neue"/>
              </a:defRPr>
            </a:pPr>
            <a:r>
              <a:t>Quy hoạch lại luồng tiếp nhận &amp; telesales end-to-end; tung CTT đua top thuê xe tháng 8 (chốt trước 14/8).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4"/>
          <p:cNvSpPr/>
          <p:nvPr/>
        </p:nvSpPr>
        <p:spPr>
          <a:xfrm>
            <a:off x="5849874" y="3051810"/>
            <a:ext cx="2894076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0" name="Google Shape;300;p34"/>
          <p:cNvSpPr/>
          <p:nvPr/>
        </p:nvSpPr>
        <p:spPr>
          <a:xfrm>
            <a:off x="5849874" y="3092958"/>
            <a:ext cx="2894076" cy="157048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1" name="Google Shape;301;p34"/>
          <p:cNvSpPr/>
          <p:nvPr/>
        </p:nvSpPr>
        <p:spPr>
          <a:xfrm>
            <a:off x="5973318" y="3202686"/>
            <a:ext cx="233172" cy="2331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2" name="Google Shape;302;p34"/>
          <p:cNvSpPr/>
          <p:nvPr/>
        </p:nvSpPr>
        <p:spPr>
          <a:xfrm>
            <a:off x="5973318" y="3202686"/>
            <a:ext cx="233172" cy="23317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◆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4"/>
          <p:cNvSpPr/>
          <p:nvPr/>
        </p:nvSpPr>
        <p:spPr>
          <a:xfrm>
            <a:off x="6275070" y="3216402"/>
            <a:ext cx="2345436" cy="219456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CẦN SUPPORT TỪ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4"/>
          <p:cNvSpPr/>
          <p:nvPr/>
        </p:nvSpPr>
        <p:spPr>
          <a:xfrm>
            <a:off x="6000750" y="3545586"/>
            <a:ext cx="2592324" cy="99441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9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S&amp;P (duyệt ngân sách CTT đua top), Customer Care/Telesales (gọi lại 304 lead lỡ).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34"/>
          <p:cNvCxnSpPr/>
          <p:nvPr/>
        </p:nvCxnSpPr>
        <p:spPr>
          <a:xfrm>
            <a:off x="411480" y="4882896"/>
            <a:ext cx="8318754" cy="0"/>
          </a:xfrm>
          <a:prstGeom prst="straightConnector1">
            <a:avLst/>
          </a:prstGeom>
          <a:noFill/>
          <a:ln w="15875" cap="flat" cmpd="sng">
            <a:solidFill>
              <a:srgbClr val="FF7F3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6" name="Google Shape;306;p34"/>
          <p:cNvSpPr/>
          <p:nvPr/>
        </p:nvSpPr>
        <p:spPr>
          <a:xfrm>
            <a:off x="411480" y="4924044"/>
            <a:ext cx="5486400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 Weekly Report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4"/>
          <p:cNvSpPr/>
          <p:nvPr/>
        </p:nvSpPr>
        <p:spPr>
          <a:xfrm>
            <a:off x="8366760" y="4924044"/>
            <a:ext cx="363474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4"/>
          <p:cNvSpPr/>
          <p:nvPr/>
        </p:nvSpPr>
        <p:spPr>
          <a:xfrm>
            <a:off x="5829300" y="55301"/>
            <a:ext cx="2901000" cy="1509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Helvetica Neue"/>
              <a:buNone/>
            </a:pPr>
            <a:r>
              <a:rPr lang="en" sz="1300" i="1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Ahamove  ·  Driver Management  ·  Weekly Report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5"/>
          <p:cNvSpPr/>
          <p:nvPr/>
        </p:nvSpPr>
        <p:spPr>
          <a:xfrm>
            <a:off x="5829300" y="54042"/>
            <a:ext cx="2901000" cy="150900"/>
          </a:xfrm>
          <a:prstGeom prst="roundRect">
            <a:avLst>
              <a:gd name="adj" fmla="val 2500"/>
            </a:avLst>
          </a:prstGeom>
          <a:solidFill>
            <a:srgbClr val="FF6600"/>
          </a:solidFill>
          <a:ln w="12700">
            <a:solidFill>
              <a:srgbClr val="FF6600"/>
            </a:solidFill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Helvetica Neue"/>
              <a:buNone/>
            </a:pPr>
            <a:r>
              <a:rPr lang="en" sz="1300" i="1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Ahamove  ·  Driver Management  ·  Weekly Report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5"/>
          <p:cNvSpPr/>
          <p:nvPr/>
        </p:nvSpPr>
        <p:spPr>
          <a:xfrm>
            <a:off x="411475" y="274324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6" name="Google Shape;316;p35"/>
          <p:cNvSpPr/>
          <p:nvPr/>
        </p:nvSpPr>
        <p:spPr>
          <a:xfrm>
            <a:off x="411475" y="274324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Helvetica Neue"/>
              <a:buNone/>
            </a:pPr>
            <a:r>
              <a:rPr lang="en" sz="13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MiniHub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5"/>
          <p:cNvSpPr/>
          <p:nvPr/>
        </p:nvSpPr>
        <p:spPr>
          <a:xfrm>
            <a:off x="2504882" y="274324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8" name="Google Shape;318;p35"/>
          <p:cNvSpPr/>
          <p:nvPr/>
        </p:nvSpPr>
        <p:spPr>
          <a:xfrm>
            <a:off x="2504882" y="274324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Helvetica Neue"/>
              <a:buNone/>
            </a:pPr>
            <a:r>
              <a:rPr lang="en" sz="13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5"/>
          <p:cNvSpPr/>
          <p:nvPr/>
        </p:nvSpPr>
        <p:spPr>
          <a:xfrm>
            <a:off x="4598290" y="274324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0" name="Google Shape;320;p35"/>
          <p:cNvSpPr/>
          <p:nvPr/>
        </p:nvSpPr>
        <p:spPr>
          <a:xfrm>
            <a:off x="4598289" y="240030"/>
            <a:ext cx="2038500" cy="342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1" name="Google Shape;321;p35"/>
          <p:cNvSpPr/>
          <p:nvPr/>
        </p:nvSpPr>
        <p:spPr>
          <a:xfrm>
            <a:off x="4598290" y="274324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</a:pPr>
            <a:r>
              <a:rPr lang="en" sz="13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Baga Bulky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5"/>
          <p:cNvSpPr/>
          <p:nvPr/>
        </p:nvSpPr>
        <p:spPr>
          <a:xfrm>
            <a:off x="6691697" y="274324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F6600"/>
          </a:solidFill>
          <a:ln w="12700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3" name="Google Shape;323;p35"/>
          <p:cNvSpPr/>
          <p:nvPr/>
        </p:nvSpPr>
        <p:spPr>
          <a:xfrm>
            <a:off x="6691697" y="274324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F6600"/>
          </a:solidFill>
          <a:ln w="12700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Helvetica Neue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Driver Journey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5"/>
          <p:cNvSpPr/>
          <p:nvPr/>
        </p:nvSpPr>
        <p:spPr>
          <a:xfrm>
            <a:off x="411480" y="685800"/>
            <a:ext cx="377190" cy="377190"/>
          </a:xfrm>
          <a:prstGeom prst="roundRect">
            <a:avLst>
              <a:gd name="adj" fmla="val 16667"/>
            </a:avLst>
          </a:prstGeom>
          <a:solidFill>
            <a:srgbClr val="C77700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5" name="Google Shape;325;p35"/>
          <p:cNvSpPr/>
          <p:nvPr/>
        </p:nvSpPr>
        <p:spPr>
          <a:xfrm>
            <a:off x="411480" y="685800"/>
            <a:ext cx="377190" cy="37719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Helvetica Neue"/>
              <a:buNone/>
            </a:pPr>
            <a:r>
              <a:rPr lang="en" sz="10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BB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5"/>
          <p:cNvSpPr/>
          <p:nvPr/>
        </p:nvSpPr>
        <p:spPr>
          <a:xfrm>
            <a:off x="891550" y="685802"/>
            <a:ext cx="6583800" cy="377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Helvetica Neue"/>
              <a:buNone/>
              <a:defRPr sz="1800" b="1">
                <a:solidFill>
                  <a:srgbClr val="0F172A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Baga Bulky: hoàn thành lọc đội Core 2H, chuẩn bị tung CTT tháng 8</a:t>
            </a:r>
            <a:endParaRPr sz="1300" b="1">
              <a:solidFill>
                <a:srgbClr val="0F172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7" name="Google Shape;327;p35"/>
          <p:cNvSpPr/>
          <p:nvPr/>
        </p:nvSpPr>
        <p:spPr>
          <a:xfrm>
            <a:off x="7749540" y="788670"/>
            <a:ext cx="109728" cy="109728"/>
          </a:xfrm>
          <a:prstGeom prst="roundRect">
            <a:avLst>
              <a:gd name="adj" fmla="val 2500"/>
            </a:avLst>
          </a:prstGeom>
          <a:solidFill>
            <a:srgbClr val="C77700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8" name="Google Shape;328;p35"/>
          <p:cNvSpPr/>
          <p:nvPr/>
        </p:nvSpPr>
        <p:spPr>
          <a:xfrm>
            <a:off x="7900416" y="747522"/>
            <a:ext cx="685800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5"/>
          <p:cNvSpPr/>
          <p:nvPr/>
        </p:nvSpPr>
        <p:spPr>
          <a:xfrm>
            <a:off x="411480" y="1179576"/>
            <a:ext cx="754380" cy="2743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0" name="Google Shape;330;p35"/>
          <p:cNvSpPr/>
          <p:nvPr/>
        </p:nvSpPr>
        <p:spPr>
          <a:xfrm>
            <a:off x="411480" y="1337310"/>
            <a:ext cx="2263140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1" name="Google Shape;331;p35"/>
          <p:cNvSpPr/>
          <p:nvPr/>
        </p:nvSpPr>
        <p:spPr>
          <a:xfrm>
            <a:off x="411480" y="1378458"/>
            <a:ext cx="2263140" cy="102184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2" name="Google Shape;332;p35"/>
          <p:cNvSpPr/>
          <p:nvPr/>
        </p:nvSpPr>
        <p:spPr>
          <a:xfrm>
            <a:off x="512064" y="1389888"/>
            <a:ext cx="1611630" cy="32004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Helvetica Neue"/>
              <a:buNone/>
            </a:pPr>
            <a:r>
              <a:rPr lang="en" sz="1800" b="1" i="0" u="none" strike="noStrike" cap="none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68.2%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5"/>
          <p:cNvSpPr/>
          <p:nvPr/>
        </p:nvSpPr>
        <p:spPr>
          <a:xfrm>
            <a:off x="512064" y="1719072"/>
            <a:ext cx="1611630" cy="29260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9144" rIns="54864" bIns="9144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  <a:defRPr sz="7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Đạt 50% KR Q3 (target 63.5%)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75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57 tx gia nhập Core 2H</a:t>
            </a:r>
          </a:p>
        </p:txBody>
      </p:sp>
      <p:sp>
        <p:nvSpPr>
          <p:cNvPr id="334" name="Google Shape;334;p35"/>
          <p:cNvSpPr/>
          <p:nvPr/>
        </p:nvSpPr>
        <p:spPr>
          <a:xfrm>
            <a:off x="2318004" y="1584198"/>
            <a:ext cx="301752" cy="212598"/>
          </a:xfrm>
          <a:prstGeom prst="roundRect">
            <a:avLst>
              <a:gd name="adj" fmla="val 2500"/>
            </a:avLst>
          </a:prstGeom>
          <a:solidFill>
            <a:srgbClr val="D9631A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5" name="Google Shape;335;p35"/>
          <p:cNvSpPr/>
          <p:nvPr/>
        </p:nvSpPr>
        <p:spPr>
          <a:xfrm>
            <a:off x="2393442" y="1491615"/>
            <a:ext cx="150876" cy="109728"/>
          </a:xfrm>
          <a:prstGeom prst="roundRect">
            <a:avLst>
              <a:gd name="adj" fmla="val 2500"/>
            </a:avLst>
          </a:prstGeom>
          <a:noFill/>
          <a:ln w="25400" cap="flat" cmpd="sng">
            <a:solidFill>
              <a:srgbClr val="D963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6" name="Google Shape;336;p35"/>
          <p:cNvSpPr/>
          <p:nvPr/>
        </p:nvSpPr>
        <p:spPr>
          <a:xfrm>
            <a:off x="411480" y="2002536"/>
            <a:ext cx="2263140" cy="26060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7" name="Google Shape;337;p35"/>
          <p:cNvSpPr/>
          <p:nvPr/>
        </p:nvSpPr>
        <p:spPr>
          <a:xfrm>
            <a:off x="411480" y="9144000"/>
            <a:ext cx="34290" cy="26060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8" name="Google Shape;338;p35"/>
          <p:cNvSpPr/>
          <p:nvPr/>
        </p:nvSpPr>
        <p:spPr>
          <a:xfrm>
            <a:off x="534924" y="9144000"/>
            <a:ext cx="2057400" cy="12344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MỤC TIÊU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5"/>
          <p:cNvSpPr/>
          <p:nvPr/>
        </p:nvSpPr>
        <p:spPr>
          <a:xfrm>
            <a:off x="530352" y="2048256"/>
            <a:ext cx="2057400" cy="32004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7700"/>
              </a:buClr>
              <a:buSzPts val="800"/>
              <a:buFont typeface="Helvetica Neue"/>
              <a:buNone/>
              <a:defRPr sz="850" b="1">
                <a:solidFill>
                  <a:srgbClr val="FF6600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Chốt PA setup thưởng &amp; noti trước 10/8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5"/>
          <p:cNvSpPr/>
          <p:nvPr/>
        </p:nvSpPr>
        <p:spPr>
          <a:xfrm>
            <a:off x="530352" y="2157984"/>
            <a:ext cx="2263140" cy="29260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800"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1" name="Google Shape;341;p35"/>
          <p:cNvSpPr/>
          <p:nvPr/>
        </p:nvSpPr>
        <p:spPr>
          <a:xfrm>
            <a:off x="411480" y="2544318"/>
            <a:ext cx="2263140" cy="20848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2" name="Google Shape;342;p35"/>
          <p:cNvSpPr/>
          <p:nvPr/>
        </p:nvSpPr>
        <p:spPr>
          <a:xfrm>
            <a:off x="548640" y="2606040"/>
            <a:ext cx="198882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</a:pPr>
            <a:r>
              <a:rPr lang="en" sz="7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TRƯỚC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5"/>
          <p:cNvSpPr/>
          <p:nvPr/>
        </p:nvSpPr>
        <p:spPr>
          <a:xfrm>
            <a:off x="548640" y="2791206"/>
            <a:ext cx="1988820" cy="685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  <a:defRPr sz="9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Chưa có CTT chuyên biệt, thiếu tài xế baga chạy đơn lớn, AR hụt chiều.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5"/>
          <p:cNvSpPr/>
          <p:nvPr/>
        </p:nvSpPr>
        <p:spPr>
          <a:xfrm>
            <a:off x="548640" y="3463290"/>
            <a:ext cx="198882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7F32"/>
              </a:buClr>
              <a:buSzPts val="1100"/>
              <a:buFont typeface="Helvetica Neue"/>
              <a:buNone/>
            </a:pPr>
            <a:r>
              <a:rPr lang="en" sz="1100" b="1" i="0" u="none" strike="noStrike" cap="none">
                <a:solidFill>
                  <a:srgbClr val="FF7F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5"/>
          <p:cNvSpPr/>
          <p:nvPr/>
        </p:nvSpPr>
        <p:spPr>
          <a:xfrm>
            <a:off x="548640" y="3655314"/>
            <a:ext cx="198882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</a:pPr>
            <a:r>
              <a:rPr lang="en" sz="7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SAU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5"/>
          <p:cNvSpPr/>
          <p:nvPr/>
        </p:nvSpPr>
        <p:spPr>
          <a:xfrm>
            <a:off x="548640" y="3840480"/>
            <a:ext cx="1988820" cy="685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  <a:defRPr sz="9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Xây dựng plan CTT 3 giai đoạn (15/8 - 30/9), lọc và bổ sung 57 tài xế Core 2H.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5"/>
          <p:cNvSpPr/>
          <p:nvPr/>
        </p:nvSpPr>
        <p:spPr>
          <a:xfrm>
            <a:off x="2846070" y="1337310"/>
            <a:ext cx="2894076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8" name="Google Shape;348;p35"/>
          <p:cNvSpPr/>
          <p:nvPr/>
        </p:nvSpPr>
        <p:spPr>
          <a:xfrm>
            <a:off x="2846070" y="9144000"/>
            <a:ext cx="2894076" cy="157048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9" name="Google Shape;349;p35"/>
          <p:cNvSpPr/>
          <p:nvPr/>
        </p:nvSpPr>
        <p:spPr>
          <a:xfrm>
            <a:off x="2969514" y="9144000"/>
            <a:ext cx="233172" cy="233172"/>
          </a:xfrm>
          <a:prstGeom prst="roundRect">
            <a:avLst>
              <a:gd name="adj" fmla="val 2500"/>
            </a:avLst>
          </a:prstGeom>
          <a:solidFill>
            <a:srgbClr val="6B6B6B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0" name="Google Shape;350;p35"/>
          <p:cNvSpPr/>
          <p:nvPr/>
        </p:nvSpPr>
        <p:spPr>
          <a:xfrm>
            <a:off x="2969514" y="1488186"/>
            <a:ext cx="233172" cy="23317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5"/>
          <p:cNvSpPr/>
          <p:nvPr/>
        </p:nvSpPr>
        <p:spPr>
          <a:xfrm>
            <a:off x="3271266" y="1444752"/>
            <a:ext cx="2345436" cy="219456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r>
              <a:rPr b="1" sz="1100">
                <a:solidFill/>
                <a:latin typeface="Helvetica Neue"/>
              </a:rPr>
              <a:t>ĐÃ LÀM GÌ (W33)</a:t>
            </a:r>
          </a:p>
        </p:txBody>
      </p:sp>
      <p:sp>
        <p:nvSpPr>
          <p:cNvPr id="352" name="Google Shape;352;p35"/>
          <p:cNvSpPr/>
          <p:nvPr/>
        </p:nvSpPr>
        <p:spPr>
          <a:xfrm>
            <a:off x="3273552" y="1444752"/>
            <a:ext cx="2592324" cy="960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9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Thanh lọc 29 tx kém hiệu suất, tuyển mới 82 tx (71 xác nhận, 57 chính thức gia nhập = 80%). AR bulky giữ mức 89-93%.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5"/>
          <p:cNvSpPr/>
          <p:nvPr/>
        </p:nvSpPr>
        <p:spPr>
          <a:xfrm>
            <a:off x="2999232" y="1664208"/>
            <a:ext cx="2894076" cy="77724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4" name="Google Shape;354;p35"/>
          <p:cNvSpPr/>
          <p:nvPr/>
        </p:nvSpPr>
        <p:spPr>
          <a:xfrm>
            <a:off x="5849874" y="1378458"/>
            <a:ext cx="2894076" cy="157048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5" name="Google Shape;355;p35"/>
          <p:cNvSpPr/>
          <p:nvPr/>
        </p:nvSpPr>
        <p:spPr>
          <a:xfrm>
            <a:off x="5973318" y="1488186"/>
            <a:ext cx="233172" cy="233172"/>
          </a:xfrm>
          <a:prstGeom prst="roundRect">
            <a:avLst>
              <a:gd name="adj" fmla="val 2500"/>
            </a:avLst>
          </a:prstGeom>
          <a:solidFill>
            <a:srgbClr val="C77700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6" name="Google Shape;356;p35"/>
          <p:cNvSpPr/>
          <p:nvPr/>
        </p:nvSpPr>
        <p:spPr>
          <a:xfrm>
            <a:off x="5973318" y="1488186"/>
            <a:ext cx="233172" cy="23317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!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5"/>
          <p:cNvSpPr/>
          <p:nvPr/>
        </p:nvSpPr>
        <p:spPr>
          <a:xfrm>
            <a:off x="6275070" y="1444752"/>
            <a:ext cx="2345436" cy="219456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DC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TÁC ĐỘNG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5"/>
          <p:cNvSpPr/>
          <p:nvPr/>
        </p:nvSpPr>
        <p:spPr>
          <a:xfrm>
            <a:off x="6000750" y="1783080"/>
            <a:ext cx="2592324" cy="960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9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Tăng số lượng tài xế nòng cốt chạy đơn 2H/Bulky; chuẩn bị nguồn lực cho mùa cao điểm nhu cầu cồng kềnh tăng.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5"/>
          <p:cNvSpPr/>
          <p:nvPr/>
        </p:nvSpPr>
        <p:spPr>
          <a:xfrm>
            <a:off x="2846070" y="3051810"/>
            <a:ext cx="2894076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0" name="Google Shape;360;p35"/>
          <p:cNvSpPr/>
          <p:nvPr/>
        </p:nvSpPr>
        <p:spPr>
          <a:xfrm>
            <a:off x="2846070" y="3092958"/>
            <a:ext cx="2894076" cy="157048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2969514" y="3202686"/>
            <a:ext cx="233172" cy="233172"/>
          </a:xfrm>
          <a:prstGeom prst="roundRect">
            <a:avLst>
              <a:gd name="adj" fmla="val 2500"/>
            </a:avLst>
          </a:prstGeom>
          <a:solidFill>
            <a:srgbClr val="FF7F32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2" name="Google Shape;362;p35"/>
          <p:cNvSpPr/>
          <p:nvPr/>
        </p:nvSpPr>
        <p:spPr>
          <a:xfrm>
            <a:off x="2969514" y="3202686"/>
            <a:ext cx="233172" cy="23317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5"/>
          <p:cNvSpPr/>
          <p:nvPr/>
        </p:nvSpPr>
        <p:spPr>
          <a:xfrm>
            <a:off x="3271266" y="3216402"/>
            <a:ext cx="2345436" cy="219456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BƯỚC TIẾP THEO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5"/>
          <p:cNvSpPr/>
          <p:nvPr/>
        </p:nvSpPr>
        <p:spPr>
          <a:xfrm>
            <a:off x="2996946" y="3545586"/>
            <a:ext cx="2592324" cy="99441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9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PA setup chương trình thưởng + flow auto noti in-app (đến 10/8); mở đăng ký &amp; truyền thông tài xế mới (1-14/8).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5"/>
          <p:cNvSpPr/>
          <p:nvPr/>
        </p:nvSpPr>
        <p:spPr>
          <a:xfrm>
            <a:off x="5849874" y="3051810"/>
            <a:ext cx="2894076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6" name="Google Shape;366;p35"/>
          <p:cNvSpPr/>
          <p:nvPr/>
        </p:nvSpPr>
        <p:spPr>
          <a:xfrm>
            <a:off x="5849874" y="3092958"/>
            <a:ext cx="2894076" cy="157048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7" name="Google Shape;367;p35"/>
          <p:cNvSpPr/>
          <p:nvPr/>
        </p:nvSpPr>
        <p:spPr>
          <a:xfrm>
            <a:off x="5973318" y="3202686"/>
            <a:ext cx="233172" cy="2331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8" name="Google Shape;368;p35"/>
          <p:cNvSpPr/>
          <p:nvPr/>
        </p:nvSpPr>
        <p:spPr>
          <a:xfrm>
            <a:off x="5973318" y="3202686"/>
            <a:ext cx="233172" cy="23317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◆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5"/>
          <p:cNvSpPr/>
          <p:nvPr/>
        </p:nvSpPr>
        <p:spPr>
          <a:xfrm>
            <a:off x="6275070" y="3216402"/>
            <a:ext cx="2345436" cy="219456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CẦN SUPPORT TỪ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5"/>
          <p:cNvSpPr/>
          <p:nvPr/>
        </p:nvSpPr>
        <p:spPr>
          <a:xfrm>
            <a:off x="6000750" y="3545586"/>
            <a:ext cx="2592324" cy="99441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9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DS (Branding &amp; truyền thông chuỗi thưởng), PA (setup thưởng in-app).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1" name="Google Shape;371;p35"/>
          <p:cNvCxnSpPr/>
          <p:nvPr/>
        </p:nvCxnSpPr>
        <p:spPr>
          <a:xfrm>
            <a:off x="411480" y="4882896"/>
            <a:ext cx="8318754" cy="0"/>
          </a:xfrm>
          <a:prstGeom prst="straightConnector1">
            <a:avLst/>
          </a:prstGeom>
          <a:noFill/>
          <a:ln w="15875" cap="flat" cmpd="sng">
            <a:solidFill>
              <a:srgbClr val="FF7F3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2" name="Google Shape;372;p35"/>
          <p:cNvSpPr/>
          <p:nvPr/>
        </p:nvSpPr>
        <p:spPr>
          <a:xfrm>
            <a:off x="411480" y="4924044"/>
            <a:ext cx="5486400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 Weekly Report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5"/>
          <p:cNvSpPr/>
          <p:nvPr/>
        </p:nvSpPr>
        <p:spPr>
          <a:xfrm>
            <a:off x="8366760" y="4924044"/>
            <a:ext cx="363474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6"/>
          <p:cNvSpPr/>
          <p:nvPr/>
        </p:nvSpPr>
        <p:spPr>
          <a:xfrm>
            <a:off x="411475" y="274324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0" name="Google Shape;380;p36"/>
          <p:cNvSpPr/>
          <p:nvPr/>
        </p:nvSpPr>
        <p:spPr>
          <a:xfrm>
            <a:off x="411475" y="274324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Helvetica Neue"/>
              <a:buNone/>
            </a:pPr>
            <a:r>
              <a:rPr lang="en" sz="13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MiniHub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6"/>
          <p:cNvSpPr/>
          <p:nvPr/>
        </p:nvSpPr>
        <p:spPr>
          <a:xfrm>
            <a:off x="2504882" y="274324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2" name="Google Shape;382;p36"/>
          <p:cNvSpPr/>
          <p:nvPr/>
        </p:nvSpPr>
        <p:spPr>
          <a:xfrm>
            <a:off x="2504882" y="274324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Helvetica Neue"/>
              <a:buNone/>
            </a:pPr>
            <a:r>
              <a:rPr lang="en" sz="13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6"/>
          <p:cNvSpPr/>
          <p:nvPr/>
        </p:nvSpPr>
        <p:spPr>
          <a:xfrm>
            <a:off x="4598290" y="274324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4" name="Google Shape;384;p36"/>
          <p:cNvSpPr/>
          <p:nvPr/>
        </p:nvSpPr>
        <p:spPr>
          <a:xfrm>
            <a:off x="4598290" y="274324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Helvetica Neue"/>
              <a:buNone/>
            </a:pPr>
            <a:r>
              <a:rPr lang="en" sz="13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Baga Bulky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6"/>
          <p:cNvSpPr/>
          <p:nvPr/>
        </p:nvSpPr>
        <p:spPr>
          <a:xfrm>
            <a:off x="6691697" y="274324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6" name="Google Shape;386;p36"/>
          <p:cNvSpPr/>
          <p:nvPr/>
        </p:nvSpPr>
        <p:spPr>
          <a:xfrm>
            <a:off x="6691694" y="240030"/>
            <a:ext cx="2038500" cy="342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7" name="Google Shape;387;p36"/>
          <p:cNvSpPr/>
          <p:nvPr/>
        </p:nvSpPr>
        <p:spPr>
          <a:xfrm>
            <a:off x="6691697" y="274324"/>
            <a:ext cx="2038500" cy="1920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Helvetica Neue"/>
              <a:buNone/>
            </a:pPr>
            <a:r>
              <a:rPr lang="en" sz="13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Driver Journey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6"/>
          <p:cNvSpPr/>
          <p:nvPr/>
        </p:nvSpPr>
        <p:spPr>
          <a:xfrm>
            <a:off x="411480" y="685800"/>
            <a:ext cx="377190" cy="377190"/>
          </a:xfrm>
          <a:prstGeom prst="roundRect">
            <a:avLst>
              <a:gd name="adj" fmla="val 16667"/>
            </a:avLst>
          </a:prstGeom>
          <a:solidFill>
            <a:srgbClr val="1B8A5A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9" name="Google Shape;389;p36"/>
          <p:cNvSpPr/>
          <p:nvPr/>
        </p:nvSpPr>
        <p:spPr>
          <a:xfrm>
            <a:off x="411480" y="685800"/>
            <a:ext cx="377190" cy="37719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Helvetica Neue"/>
              <a:buNone/>
            </a:pPr>
            <a:r>
              <a:rPr lang="en" sz="10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DJ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6"/>
          <p:cNvSpPr/>
          <p:nvPr/>
        </p:nvSpPr>
        <p:spPr>
          <a:xfrm>
            <a:off x="891550" y="685799"/>
            <a:ext cx="6583800" cy="377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Helvetica Neue"/>
              <a:buNone/>
              <a:defRPr sz="1800" b="1">
                <a:solidFill>
                  <a:srgbClr val="0F172A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Driver Journey: Onboarding phân tầng thành công, tiếp tục mở rộng D2-D3</a:t>
            </a:r>
            <a:endParaRPr sz="1300" b="1">
              <a:solidFill>
                <a:srgbClr val="0F172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1" name="Google Shape;391;p36"/>
          <p:cNvSpPr/>
          <p:nvPr/>
        </p:nvSpPr>
        <p:spPr>
          <a:xfrm>
            <a:off x="7749540" y="788670"/>
            <a:ext cx="109728" cy="109728"/>
          </a:xfrm>
          <a:prstGeom prst="roundRect">
            <a:avLst>
              <a:gd name="adj" fmla="val 2500"/>
            </a:avLst>
          </a:prstGeom>
          <a:solidFill>
            <a:srgbClr val="1B8A5A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2" name="Google Shape;392;p36"/>
          <p:cNvSpPr/>
          <p:nvPr/>
        </p:nvSpPr>
        <p:spPr>
          <a:xfrm>
            <a:off x="7900416" y="747522"/>
            <a:ext cx="685800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XANH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6"/>
          <p:cNvSpPr/>
          <p:nvPr/>
        </p:nvSpPr>
        <p:spPr>
          <a:xfrm>
            <a:off x="411480" y="1179576"/>
            <a:ext cx="754380" cy="2743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4" name="Google Shape;394;p36"/>
          <p:cNvSpPr/>
          <p:nvPr/>
        </p:nvSpPr>
        <p:spPr>
          <a:xfrm>
            <a:off x="411480" y="1337310"/>
            <a:ext cx="2263140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5" name="Google Shape;395;p36"/>
          <p:cNvSpPr/>
          <p:nvPr/>
        </p:nvSpPr>
        <p:spPr>
          <a:xfrm>
            <a:off x="411480" y="1378458"/>
            <a:ext cx="2263140" cy="102184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6" name="Google Shape;396;p36"/>
          <p:cNvSpPr/>
          <p:nvPr/>
        </p:nvSpPr>
        <p:spPr>
          <a:xfrm>
            <a:off x="514350" y="1371600"/>
            <a:ext cx="1611630" cy="36576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Helvetica Neue"/>
              <a:buNone/>
              <a:defRPr sz="2400" b="1">
                <a:solidFill>
                  <a:srgbClr val="0F172A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D0-D1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6"/>
          <p:cNvSpPr/>
          <p:nvPr/>
        </p:nvSpPr>
        <p:spPr>
          <a:xfrm>
            <a:off x="512064" y="1389888"/>
            <a:ext cx="1611630" cy="32004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9144" rIns="54864" bIns="9144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  <a:defRPr sz="8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D0 (tiền thu ứng) &amp; D1 (hủy đơn)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0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DFD Retention SGN 73.1%</a:t>
            </a:r>
          </a:p>
        </p:txBody>
      </p:sp>
      <p:sp>
        <p:nvSpPr>
          <p:cNvPr id="398" name="Google Shape;398;p36"/>
          <p:cNvSpPr/>
          <p:nvPr/>
        </p:nvSpPr>
        <p:spPr>
          <a:xfrm>
            <a:off x="512064" y="1719072"/>
            <a:ext cx="281178" cy="292608"/>
          </a:xfrm>
          <a:prstGeom prst="roundRect">
            <a:avLst>
              <a:gd name="adj" fmla="val 2500"/>
            </a:avLst>
          </a:prstGeom>
          <a:solidFill>
            <a:srgbClr val="D9631A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750"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9" name="Google Shape;399;p36"/>
          <p:cNvSpPr/>
          <p:nvPr/>
        </p:nvSpPr>
        <p:spPr>
          <a:xfrm>
            <a:off x="2345436" y="1549908"/>
            <a:ext cx="185166" cy="20574"/>
          </a:xfrm>
          <a:prstGeom prst="roundRect">
            <a:avLst>
              <a:gd name="adj" fmla="val 2500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0" name="Google Shape;400;p36"/>
          <p:cNvSpPr/>
          <p:nvPr/>
        </p:nvSpPr>
        <p:spPr>
          <a:xfrm>
            <a:off x="2345436" y="1628775"/>
            <a:ext cx="185166" cy="20574"/>
          </a:xfrm>
          <a:prstGeom prst="roundRect">
            <a:avLst>
              <a:gd name="adj" fmla="val 2500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1" name="Google Shape;401;p36"/>
          <p:cNvSpPr/>
          <p:nvPr/>
        </p:nvSpPr>
        <p:spPr>
          <a:xfrm>
            <a:off x="2345436" y="1707642"/>
            <a:ext cx="185166" cy="20574"/>
          </a:xfrm>
          <a:prstGeom prst="roundRect">
            <a:avLst>
              <a:gd name="adj" fmla="val 2500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2" name="Google Shape;402;p36"/>
          <p:cNvSpPr/>
          <p:nvPr/>
        </p:nvSpPr>
        <p:spPr>
          <a:xfrm>
            <a:off x="411480" y="9144000"/>
            <a:ext cx="2263140" cy="260604"/>
          </a:xfrm>
          <a:prstGeom prst="roundRect">
            <a:avLst>
              <a:gd name="adj" fmla="val 2500"/>
            </a:avLst>
          </a:prstGeom>
          <a:noFill/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3" name="Google Shape;403;p36"/>
          <p:cNvSpPr/>
          <p:nvPr/>
        </p:nvSpPr>
        <p:spPr>
          <a:xfrm>
            <a:off x="411480" y="9144000"/>
            <a:ext cx="34290" cy="26060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4" name="Google Shape;404;p36"/>
          <p:cNvSpPr/>
          <p:nvPr/>
        </p:nvSpPr>
        <p:spPr>
          <a:xfrm>
            <a:off x="530352" y="2048256"/>
            <a:ext cx="2057400" cy="12344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MỤC TIÊU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6"/>
          <p:cNvSpPr/>
          <p:nvPr/>
        </p:nvSpPr>
        <p:spPr>
          <a:xfrm>
            <a:off x="530352" y="2157984"/>
            <a:ext cx="2057400" cy="29260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8A5A"/>
              </a:buClr>
              <a:buSzPts val="800"/>
              <a:buFont typeface="Helvetica Neue"/>
              <a:buNone/>
              <a:defRPr sz="800" b="1">
                <a:solidFill>
                  <a:srgbClr val="FF6600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Hoàn thành video D2-D3 trong tháng 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6"/>
          <p:cNvSpPr/>
          <p:nvPr/>
        </p:nvSpPr>
        <p:spPr>
          <a:xfrm>
            <a:off x="411480" y="2503170"/>
            <a:ext cx="2263140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7" name="Google Shape;407;p36"/>
          <p:cNvSpPr/>
          <p:nvPr/>
        </p:nvSpPr>
        <p:spPr>
          <a:xfrm>
            <a:off x="411480" y="2544318"/>
            <a:ext cx="2263140" cy="20848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8" name="Google Shape;408;p36"/>
          <p:cNvSpPr/>
          <p:nvPr/>
        </p:nvSpPr>
        <p:spPr>
          <a:xfrm>
            <a:off x="548640" y="2606040"/>
            <a:ext cx="198882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</a:pPr>
            <a:r>
              <a:rPr lang="en" sz="7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TRƯỚC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6"/>
          <p:cNvSpPr/>
          <p:nvPr/>
        </p:nvSpPr>
        <p:spPr>
          <a:xfrm>
            <a:off x="548640" y="2791206"/>
            <a:ext cx="1988820" cy="685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  <a:defRPr sz="9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Dồn thông tin 1 lần khi onboarding -&gt; Tài xế dễ quên, phát sinh lỗi thao tác.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6"/>
          <p:cNvSpPr/>
          <p:nvPr/>
        </p:nvSpPr>
        <p:spPr>
          <a:xfrm>
            <a:off x="548640" y="3463290"/>
            <a:ext cx="198882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7F32"/>
              </a:buClr>
              <a:buSzPts val="1100"/>
              <a:buFont typeface="Helvetica Neue"/>
              <a:buNone/>
            </a:pPr>
            <a:r>
              <a:rPr lang="en" sz="1100" b="1" i="0" u="none" strike="noStrike" cap="none">
                <a:solidFill>
                  <a:srgbClr val="FF7F3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6"/>
          <p:cNvSpPr/>
          <p:nvPr/>
        </p:nvSpPr>
        <p:spPr>
          <a:xfrm>
            <a:off x="548640" y="3655314"/>
            <a:ext cx="198882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</a:pPr>
            <a:r>
              <a:rPr lang="en" sz="7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SAU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6"/>
          <p:cNvSpPr/>
          <p:nvPr/>
        </p:nvSpPr>
        <p:spPr>
          <a:xfrm>
            <a:off x="548640" y="3840480"/>
            <a:ext cx="1988820" cy="685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  <a:defRPr sz="9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Chia vòng đời D0-D8, mỗi giai đoạn push 1 nội dung đúng lúc. D0 &amp; D1 đã hoàn thành.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6"/>
          <p:cNvSpPr/>
          <p:nvPr/>
        </p:nvSpPr>
        <p:spPr>
          <a:xfrm>
            <a:off x="2846070" y="9144000"/>
            <a:ext cx="2894076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4" name="Google Shape;414;p36"/>
          <p:cNvSpPr/>
          <p:nvPr/>
        </p:nvSpPr>
        <p:spPr>
          <a:xfrm>
            <a:off x="2846070" y="9144000"/>
            <a:ext cx="2894076" cy="157048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5" name="Google Shape;415;p36"/>
          <p:cNvSpPr/>
          <p:nvPr/>
        </p:nvSpPr>
        <p:spPr>
          <a:xfrm>
            <a:off x="2969514" y="1488186"/>
            <a:ext cx="233172" cy="233172"/>
          </a:xfrm>
          <a:prstGeom prst="roundRect">
            <a:avLst>
              <a:gd name="adj" fmla="val 2500"/>
            </a:avLst>
          </a:prstGeom>
          <a:solidFill>
            <a:srgbClr val="6B6B6B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6" name="Google Shape;416;p36"/>
          <p:cNvSpPr/>
          <p:nvPr/>
        </p:nvSpPr>
        <p:spPr>
          <a:xfrm>
            <a:off x="2969514" y="1488186"/>
            <a:ext cx="233172" cy="23317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6"/>
          <p:cNvSpPr/>
          <p:nvPr/>
        </p:nvSpPr>
        <p:spPr>
          <a:xfrm>
            <a:off x="3273552" y="1444752"/>
            <a:ext cx="2345436" cy="219456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r>
              <a:rPr b="1" sz="1100">
                <a:solidFill/>
                <a:latin typeface="Helvetica Neue"/>
              </a:rPr>
              <a:t>ĐÃ LÀM GÌ (W33)</a:t>
            </a:r>
          </a:p>
        </p:txBody>
      </p:sp>
      <p:sp>
        <p:nvSpPr>
          <p:cNvPr id="418" name="Google Shape;418;p36"/>
          <p:cNvSpPr/>
          <p:nvPr/>
        </p:nvSpPr>
        <p:spPr>
          <a:xfrm>
            <a:off x="2999232" y="1664208"/>
            <a:ext cx="2592324" cy="777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9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Sản xuất xong video D0 (tiền thu ứng) &amp; D1 (hủy đơn), push trial noti; confirm kịch bản D2 (khiếu nại) &amp; D3 (bật/tắt gán đơn).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6"/>
          <p:cNvSpPr/>
          <p:nvPr/>
        </p:nvSpPr>
        <p:spPr>
          <a:xfrm>
            <a:off x="5849874" y="1337310"/>
            <a:ext cx="2894076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0" name="Google Shape;420;p36"/>
          <p:cNvSpPr/>
          <p:nvPr/>
        </p:nvSpPr>
        <p:spPr>
          <a:xfrm>
            <a:off x="5849874" y="1378458"/>
            <a:ext cx="2894076" cy="157048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1" name="Google Shape;421;p36"/>
          <p:cNvSpPr/>
          <p:nvPr/>
        </p:nvSpPr>
        <p:spPr>
          <a:xfrm>
            <a:off x="5973318" y="1488186"/>
            <a:ext cx="233172" cy="233172"/>
          </a:xfrm>
          <a:prstGeom prst="roundRect">
            <a:avLst>
              <a:gd name="adj" fmla="val 2500"/>
            </a:avLst>
          </a:prstGeom>
          <a:solidFill>
            <a:srgbClr val="1B8A5A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5973318" y="1488186"/>
            <a:ext cx="233172" cy="23317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!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6"/>
          <p:cNvSpPr/>
          <p:nvPr/>
        </p:nvSpPr>
        <p:spPr>
          <a:xfrm>
            <a:off x="6275070" y="1444752"/>
            <a:ext cx="2345436" cy="219456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DC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TÁC ĐỘNG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6"/>
          <p:cNvSpPr/>
          <p:nvPr/>
        </p:nvSpPr>
        <p:spPr>
          <a:xfrm>
            <a:off x="6000750" y="1783080"/>
            <a:ext cx="2592324" cy="960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9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Dự án duy nhất đạt RAG Xanh. Giảm nhận thức tải cho tài xế mới; DFD Retention SGN đạt 73.1% (+2.5% YoY).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6"/>
          <p:cNvSpPr/>
          <p:nvPr/>
        </p:nvSpPr>
        <p:spPr>
          <a:xfrm>
            <a:off x="2846070" y="3051810"/>
            <a:ext cx="2894076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2846070" y="3092958"/>
            <a:ext cx="2894076" cy="157048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7" name="Google Shape;427;p36"/>
          <p:cNvSpPr/>
          <p:nvPr/>
        </p:nvSpPr>
        <p:spPr>
          <a:xfrm>
            <a:off x="2969514" y="3202686"/>
            <a:ext cx="233172" cy="233172"/>
          </a:xfrm>
          <a:prstGeom prst="roundRect">
            <a:avLst>
              <a:gd name="adj" fmla="val 2500"/>
            </a:avLst>
          </a:prstGeom>
          <a:solidFill>
            <a:srgbClr val="FF7F32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8" name="Google Shape;428;p36"/>
          <p:cNvSpPr/>
          <p:nvPr/>
        </p:nvSpPr>
        <p:spPr>
          <a:xfrm>
            <a:off x="2969514" y="3202686"/>
            <a:ext cx="233172" cy="23317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6"/>
          <p:cNvSpPr/>
          <p:nvPr/>
        </p:nvSpPr>
        <p:spPr>
          <a:xfrm>
            <a:off x="3271266" y="3216402"/>
            <a:ext cx="2345436" cy="219456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BƯỚC TIẾP THEO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2996946" y="3545586"/>
            <a:ext cx="2592324" cy="99441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9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Review lượt xem video D0 sau 1 tuần; hoàn thành sản xuất video D2/D3; trích xuất danh sách tài xế theo từng giai đoạn.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6"/>
          <p:cNvSpPr/>
          <p:nvPr/>
        </p:nvSpPr>
        <p:spPr>
          <a:xfrm>
            <a:off x="5849874" y="3051810"/>
            <a:ext cx="2894076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2" name="Google Shape;432;p36"/>
          <p:cNvSpPr/>
          <p:nvPr/>
        </p:nvSpPr>
        <p:spPr>
          <a:xfrm>
            <a:off x="5849874" y="3092958"/>
            <a:ext cx="2894076" cy="157048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3" name="Google Shape;433;p36"/>
          <p:cNvSpPr/>
          <p:nvPr/>
        </p:nvSpPr>
        <p:spPr>
          <a:xfrm>
            <a:off x="5973318" y="3202686"/>
            <a:ext cx="233172" cy="2331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4" name="Google Shape;434;p36"/>
          <p:cNvSpPr/>
          <p:nvPr/>
        </p:nvSpPr>
        <p:spPr>
          <a:xfrm>
            <a:off x="5973318" y="3202686"/>
            <a:ext cx="233172" cy="23317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◆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6"/>
          <p:cNvSpPr/>
          <p:nvPr/>
        </p:nvSpPr>
        <p:spPr>
          <a:xfrm>
            <a:off x="6275070" y="3216402"/>
            <a:ext cx="2345436" cy="219456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CẦN SUPPORT TỪ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6"/>
          <p:cNvSpPr/>
          <p:nvPr/>
        </p:nvSpPr>
        <p:spPr>
          <a:xfrm>
            <a:off x="6000750" y="3545586"/>
            <a:ext cx="2592324" cy="99441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9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SP (xây dựng card tự động phân loại danh sách tài xế theo giai đoạn D0-D8).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" name="Google Shape;437;p36"/>
          <p:cNvCxnSpPr/>
          <p:nvPr/>
        </p:nvCxnSpPr>
        <p:spPr>
          <a:xfrm>
            <a:off x="411480" y="4882896"/>
            <a:ext cx="8318754" cy="0"/>
          </a:xfrm>
          <a:prstGeom prst="straightConnector1">
            <a:avLst/>
          </a:prstGeom>
          <a:noFill/>
          <a:ln w="15875" cap="flat" cmpd="sng">
            <a:solidFill>
              <a:srgbClr val="FF7F3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8" name="Google Shape;438;p36"/>
          <p:cNvSpPr/>
          <p:nvPr/>
        </p:nvSpPr>
        <p:spPr>
          <a:xfrm>
            <a:off x="411480" y="4924044"/>
            <a:ext cx="5486400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 Weekly Report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6"/>
          <p:cNvSpPr/>
          <p:nvPr/>
        </p:nvSpPr>
        <p:spPr>
          <a:xfrm>
            <a:off x="8366760" y="4924044"/>
            <a:ext cx="363474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6"/>
          <p:cNvSpPr/>
          <p:nvPr/>
        </p:nvSpPr>
        <p:spPr>
          <a:xfrm>
            <a:off x="5829300" y="55301"/>
            <a:ext cx="2901000" cy="15090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Helvetica Neue"/>
              <a:buNone/>
            </a:pPr>
            <a:r>
              <a:rPr lang="en" sz="1300" i="1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Ahamove  ·  Driver Management  ·  Weekly Report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7"/>
          <p:cNvSpPr/>
          <p:nvPr/>
        </p:nvSpPr>
        <p:spPr>
          <a:xfrm>
            <a:off x="411480" y="96012"/>
            <a:ext cx="5486400" cy="16459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700"/>
              <a:buFont typeface="Helvetica Neue"/>
              <a:buNone/>
              <a:defRPr sz="1300" b="1">
                <a:solidFill>
                  <a:srgbClr val="FF6600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SO SÁNH 2 MÔ HÌNH VẬN HÀNH · W33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7"/>
          <p:cNvSpPr/>
          <p:nvPr/>
        </p:nvSpPr>
        <p:spPr>
          <a:xfrm>
            <a:off x="5829300" y="96012"/>
            <a:ext cx="2900934" cy="16459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Helvetica Neue"/>
              <a:buNone/>
            </a:pPr>
            <a:r>
              <a:rPr lang="en" sz="700" i="1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Ahamove  ·  Driver Management  ·  Weekly Report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7"/>
          <p:cNvSpPr/>
          <p:nvPr/>
        </p:nvSpPr>
        <p:spPr>
          <a:xfrm>
            <a:off x="411480" y="288036"/>
            <a:ext cx="8318754" cy="44577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Helvetica Neue"/>
              <a:buNone/>
              <a:defRPr sz="1800" b="1">
                <a:solidFill>
                  <a:srgbClr val="0F172A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MiniHub cần siết lọc &amp; tối ưu PnL; Driver Journey đã sẵn sàng nhân rộng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7"/>
          <p:cNvSpPr/>
          <p:nvPr/>
        </p:nvSpPr>
        <p:spPr>
          <a:xfrm>
            <a:off x="411480" y="754380"/>
            <a:ext cx="754380" cy="2743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0" name="Google Shape;450;p37"/>
          <p:cNvSpPr/>
          <p:nvPr/>
        </p:nvSpPr>
        <p:spPr>
          <a:xfrm>
            <a:off x="411480" y="850392"/>
            <a:ext cx="34290" cy="384048"/>
          </a:xfrm>
          <a:prstGeom prst="roundRect">
            <a:avLst>
              <a:gd name="adj" fmla="val 2500"/>
            </a:avLst>
          </a:prstGeom>
          <a:solidFill>
            <a:srgbClr val="FF7F3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1" name="Google Shape;451;p37"/>
          <p:cNvSpPr/>
          <p:nvPr/>
        </p:nvSpPr>
        <p:spPr>
          <a:xfrm>
            <a:off x="445770" y="850392"/>
            <a:ext cx="8284464" cy="3840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2" name="Google Shape;452;p37"/>
          <p:cNvSpPr/>
          <p:nvPr/>
        </p:nvSpPr>
        <p:spPr>
          <a:xfrm>
            <a:off x="582930" y="850392"/>
            <a:ext cx="7955280" cy="3840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800"/>
              <a:buFont typeface="Helvetica Neue"/>
              <a:buNone/>
              <a:defRPr sz="11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Key Takeaway  MiniHub cần tập trung tối ưu hiệu quả tài chính trước khi mở rộng; Driver Journey đã chứng minh tính đúng đắn và chuẩn bị nhân rộng sang Baga &amp; EV.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7"/>
          <p:cNvSpPr/>
          <p:nvPr/>
        </p:nvSpPr>
        <p:spPr>
          <a:xfrm>
            <a:off x="408053" y="1487425"/>
            <a:ext cx="48000" cy="2511600"/>
          </a:xfrm>
          <a:prstGeom prst="roundRect">
            <a:avLst>
              <a:gd name="adj" fmla="val 2500"/>
            </a:avLst>
          </a:prstGeom>
          <a:solidFill>
            <a:srgbClr val="DC262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4" name="Google Shape;454;p37"/>
          <p:cNvSpPr/>
          <p:nvPr/>
        </p:nvSpPr>
        <p:spPr>
          <a:xfrm>
            <a:off x="452628" y="1405890"/>
            <a:ext cx="3970782" cy="26746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5" name="Google Shape;455;p37"/>
          <p:cNvSpPr/>
          <p:nvPr/>
        </p:nvSpPr>
        <p:spPr>
          <a:xfrm>
            <a:off x="617220" y="1543050"/>
            <a:ext cx="3600450" cy="27432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42E"/>
              </a:buClr>
              <a:buSzPts val="1400"/>
              <a:buFont typeface="Helvetica Neue"/>
              <a:buNone/>
            </a:pPr>
            <a:r>
              <a:rPr lang="en" sz="1400" b="1" i="0" u="none" strike="noStrike" cap="none">
                <a:solidFill>
                  <a:srgbClr val="E5342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MiniHub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7"/>
          <p:cNvSpPr/>
          <p:nvPr/>
        </p:nvSpPr>
        <p:spPr>
          <a:xfrm>
            <a:off x="617220" y="1831086"/>
            <a:ext cx="3600450" cy="24003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1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Vận hành ổn định nhưng cần siết tiêu chuẩn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7" name="Google Shape;457;p37"/>
          <p:cNvCxnSpPr/>
          <p:nvPr/>
        </p:nvCxnSpPr>
        <p:spPr>
          <a:xfrm>
            <a:off x="617220" y="2125980"/>
            <a:ext cx="3394710" cy="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458" name="Google Shape;458;p37"/>
          <p:cNvSpPr/>
          <p:nvPr/>
        </p:nvSpPr>
        <p:spPr>
          <a:xfrm>
            <a:off x="617220" y="2311146"/>
            <a:ext cx="48006" cy="48006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9" name="Google Shape;459;p37"/>
          <p:cNvSpPr/>
          <p:nvPr/>
        </p:nvSpPr>
        <p:spPr>
          <a:xfrm>
            <a:off x="740664" y="2263140"/>
            <a:ext cx="3394710" cy="41148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Online rate 88.8%, Rec rate tăng ~23.8%, nhưng Active giảm 7.6% do lọc tx kém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7"/>
          <p:cNvSpPr/>
          <p:nvPr/>
        </p:nvSpPr>
        <p:spPr>
          <a:xfrm>
            <a:off x="617220" y="2777490"/>
            <a:ext cx="48006" cy="48006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1" name="Google Shape;461;p37"/>
          <p:cNvSpPr/>
          <p:nvPr/>
        </p:nvSpPr>
        <p:spPr>
          <a:xfrm>
            <a:off x="740664" y="2729484"/>
            <a:ext cx="3394710" cy="41148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Chi phí Leader &amp; PnL cần thẩm định kỹ trước khi mở rộng thêm zone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7"/>
          <p:cNvSpPr/>
          <p:nvPr/>
        </p:nvSpPr>
        <p:spPr>
          <a:xfrm>
            <a:off x="617220" y="3243834"/>
            <a:ext cx="48006" cy="48006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3" name="Google Shape;463;p37"/>
          <p:cNvSpPr/>
          <p:nvPr/>
        </p:nvSpPr>
        <p:spPr>
          <a:xfrm>
            <a:off x="740664" y="3195828"/>
            <a:ext cx="3394710" cy="41148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00" b="1">
                <a:solidFill>
                  <a:srgbClr val="DC2626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Chế độ: REVIEW — Siết chất lượng đội ngũ, chưa vội mở rộng điểm mới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7"/>
          <p:cNvSpPr/>
          <p:nvPr/>
        </p:nvSpPr>
        <p:spPr>
          <a:xfrm>
            <a:off x="617220" y="3703320"/>
            <a:ext cx="3600450" cy="26060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5" name="Google Shape;465;p37"/>
          <p:cNvSpPr/>
          <p:nvPr/>
        </p:nvSpPr>
        <p:spPr>
          <a:xfrm>
            <a:off x="617220" y="3703320"/>
            <a:ext cx="34290" cy="260604"/>
          </a:xfrm>
          <a:prstGeom prst="roundRect">
            <a:avLst>
              <a:gd name="adj" fmla="val 2500"/>
            </a:avLst>
          </a:prstGeom>
          <a:solidFill>
            <a:srgbClr val="DC262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6" name="Google Shape;466;p37"/>
          <p:cNvSpPr/>
          <p:nvPr/>
        </p:nvSpPr>
        <p:spPr>
          <a:xfrm>
            <a:off x="740664" y="3717036"/>
            <a:ext cx="3394710" cy="12344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CHẾ ĐỘ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7"/>
          <p:cNvSpPr/>
          <p:nvPr/>
        </p:nvSpPr>
        <p:spPr>
          <a:xfrm>
            <a:off x="740664" y="3826764"/>
            <a:ext cx="3394710" cy="13716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42E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E5342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 — tạm dừng đánh giá trước khi mở rộng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7"/>
          <p:cNvSpPr/>
          <p:nvPr/>
        </p:nvSpPr>
        <p:spPr>
          <a:xfrm>
            <a:off x="4694291" y="1487425"/>
            <a:ext cx="48000" cy="2511600"/>
          </a:xfrm>
          <a:prstGeom prst="roundRect">
            <a:avLst>
              <a:gd name="adj" fmla="val 2500"/>
            </a:avLst>
          </a:prstGeom>
          <a:solidFill>
            <a:srgbClr val="1B8A5A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9" name="Google Shape;469;p37"/>
          <p:cNvSpPr/>
          <p:nvPr/>
        </p:nvSpPr>
        <p:spPr>
          <a:xfrm>
            <a:off x="4738878" y="1405890"/>
            <a:ext cx="3970782" cy="26746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0" name="Google Shape;470;p37"/>
          <p:cNvSpPr/>
          <p:nvPr/>
        </p:nvSpPr>
        <p:spPr>
          <a:xfrm>
            <a:off x="4903470" y="1543050"/>
            <a:ext cx="3600450" cy="27432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8A5A"/>
              </a:buClr>
              <a:buSzPts val="1400"/>
              <a:buFont typeface="Helvetica Neue"/>
              <a:buNone/>
            </a:pPr>
            <a:r>
              <a:rPr lang="en" sz="1400" b="1" i="0" u="none" strike="noStrike" cap="none">
                <a:solidFill>
                  <a:srgbClr val="1B8A5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Driver Journey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7"/>
          <p:cNvSpPr/>
          <p:nvPr/>
        </p:nvSpPr>
        <p:spPr>
          <a:xfrm>
            <a:off x="4903470" y="1831086"/>
            <a:ext cx="3600450" cy="24003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1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Mô hình chuẩn hóa onboarding thành công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2" name="Google Shape;472;p37"/>
          <p:cNvCxnSpPr/>
          <p:nvPr/>
        </p:nvCxnSpPr>
        <p:spPr>
          <a:xfrm>
            <a:off x="4903470" y="2125980"/>
            <a:ext cx="3394710" cy="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473" name="Google Shape;473;p37"/>
          <p:cNvSpPr/>
          <p:nvPr/>
        </p:nvSpPr>
        <p:spPr>
          <a:xfrm>
            <a:off x="4903470" y="2311146"/>
            <a:ext cx="48006" cy="48006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4" name="Google Shape;474;p37"/>
          <p:cNvSpPr/>
          <p:nvPr/>
        </p:nvSpPr>
        <p:spPr>
          <a:xfrm>
            <a:off x="5026914" y="2263140"/>
            <a:ext cx="3394710" cy="41148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Hoàn thành D0/D1 đúng tiến độ, là dự án duy nhất đạt RAG Xanh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7"/>
          <p:cNvSpPr/>
          <p:nvPr/>
        </p:nvSpPr>
        <p:spPr>
          <a:xfrm>
            <a:off x="4903470" y="2777490"/>
            <a:ext cx="48006" cy="48006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6" name="Google Shape;476;p37"/>
          <p:cNvSpPr/>
          <p:nvPr/>
        </p:nvSpPr>
        <p:spPr>
          <a:xfrm>
            <a:off x="5026914" y="2729484"/>
            <a:ext cx="3394710" cy="41148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Dễ dàng nhân rộng cách tiếp cận 'đúng lúc, đúng nội dung' sang các dự án khác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7"/>
          <p:cNvSpPr/>
          <p:nvPr/>
        </p:nvSpPr>
        <p:spPr>
          <a:xfrm>
            <a:off x="4903470" y="3243834"/>
            <a:ext cx="48006" cy="48006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8" name="Google Shape;478;p37"/>
          <p:cNvSpPr/>
          <p:nvPr/>
        </p:nvSpPr>
        <p:spPr>
          <a:xfrm>
            <a:off x="5026914" y="3195828"/>
            <a:ext cx="3394710" cy="41148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00" b="1">
                <a:solidFill>
                  <a:srgbClr val="059669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Chế độ: SCALE — Hoàn thiện D2-D8 và áp dụng cho truyền thông Baga &amp; EV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7"/>
          <p:cNvSpPr/>
          <p:nvPr/>
        </p:nvSpPr>
        <p:spPr>
          <a:xfrm>
            <a:off x="4903470" y="3703320"/>
            <a:ext cx="3600450" cy="26060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0" name="Google Shape;480;p37"/>
          <p:cNvSpPr/>
          <p:nvPr/>
        </p:nvSpPr>
        <p:spPr>
          <a:xfrm>
            <a:off x="4903470" y="3703320"/>
            <a:ext cx="34290" cy="260604"/>
          </a:xfrm>
          <a:prstGeom prst="roundRect">
            <a:avLst>
              <a:gd name="adj" fmla="val 2500"/>
            </a:avLst>
          </a:prstGeom>
          <a:solidFill>
            <a:srgbClr val="1B8A5A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1" name="Google Shape;481;p37"/>
          <p:cNvSpPr/>
          <p:nvPr/>
        </p:nvSpPr>
        <p:spPr>
          <a:xfrm>
            <a:off x="5026914" y="3717036"/>
            <a:ext cx="3394710" cy="12344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CHẾ ĐỘ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7"/>
          <p:cNvSpPr/>
          <p:nvPr/>
        </p:nvSpPr>
        <p:spPr>
          <a:xfrm>
            <a:off x="5026914" y="3826764"/>
            <a:ext cx="3394710" cy="13716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8A5A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1B8A5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SCALE — nhân rộng cách làm sang dự án khác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7"/>
          <p:cNvSpPr/>
          <p:nvPr/>
        </p:nvSpPr>
        <p:spPr>
          <a:xfrm>
            <a:off x="411480" y="4217670"/>
            <a:ext cx="8318754" cy="41148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631A"/>
              </a:buClr>
              <a:buSzPts val="800"/>
              <a:buFont typeface="Helvetica Neue"/>
              <a:buNone/>
              <a:defRPr sz="1050" b="0">
                <a:solidFill>
                  <a:srgbClr val="334155"/>
                </a:solidFill>
                <a:latin typeface="Helvetica Neue"/>
              </a:defRPr>
            </a:pPr>
            <a:r>
              <a:t>Bài học chuyển giao:  cách tiếp cận 'đúng nội dung, đúng giai đoạn' của Driver Journey áp dụng trực tiếp cho chuỗi CTT Baga Bulky và truyền thông onboarding tài xế EV.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4" name="Google Shape;484;p37"/>
          <p:cNvCxnSpPr/>
          <p:nvPr/>
        </p:nvCxnSpPr>
        <p:spPr>
          <a:xfrm>
            <a:off x="411480" y="4882896"/>
            <a:ext cx="8318754" cy="0"/>
          </a:xfrm>
          <a:prstGeom prst="straightConnector1">
            <a:avLst/>
          </a:prstGeom>
          <a:noFill/>
          <a:ln w="15875" cap="flat" cmpd="sng">
            <a:solidFill>
              <a:srgbClr val="FF7F3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5" name="Google Shape;485;p37"/>
          <p:cNvSpPr/>
          <p:nvPr/>
        </p:nvSpPr>
        <p:spPr>
          <a:xfrm>
            <a:off x="411480" y="4924044"/>
            <a:ext cx="5486400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 Weekly Report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7"/>
          <p:cNvSpPr/>
          <p:nvPr/>
        </p:nvSpPr>
        <p:spPr>
          <a:xfrm>
            <a:off x="8366760" y="4924044"/>
            <a:ext cx="363474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8"/>
          <p:cNvSpPr/>
          <p:nvPr/>
        </p:nvSpPr>
        <p:spPr>
          <a:xfrm>
            <a:off x="411480" y="96012"/>
            <a:ext cx="5486400" cy="16459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700"/>
              <a:buFont typeface="Helvetica Neue"/>
              <a:buNone/>
              <a:defRPr sz="1300" b="1">
                <a:solidFill>
                  <a:srgbClr val="FF6600"/>
                </a:solidFill>
                <a:latin typeface="Helvetica Neue"/>
              </a:defRPr>
            </a:pPr>
            <a:r>
              <a:t>RISK &amp; ACTION · TỔNG HỢP W33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8"/>
          <p:cNvSpPr/>
          <p:nvPr/>
        </p:nvSpPr>
        <p:spPr>
          <a:xfrm>
            <a:off x="5829300" y="96012"/>
            <a:ext cx="2900934" cy="16459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Helvetica Neue"/>
              <a:buNone/>
            </a:pPr>
            <a:r>
              <a:rPr lang="en" sz="700" i="1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Ahamove  ·  Driver Management  ·  Weekly Report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8"/>
          <p:cNvSpPr/>
          <p:nvPr/>
        </p:nvSpPr>
        <p:spPr>
          <a:xfrm>
            <a:off x="411480" y="288036"/>
            <a:ext cx="8318754" cy="44577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Helvetica Neue"/>
              <a:buNone/>
              <a:defRPr sz="1800" b="1">
                <a:solidFill>
                  <a:srgbClr val="0F172A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6 rủi ro vận hành trọng yếu &amp; hành động khắc phục cụ thể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8"/>
          <p:cNvSpPr/>
          <p:nvPr/>
        </p:nvSpPr>
        <p:spPr>
          <a:xfrm>
            <a:off x="411480" y="754380"/>
            <a:ext cx="754380" cy="2743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6" name="Google Shape;496;p38"/>
          <p:cNvSpPr/>
          <p:nvPr/>
        </p:nvSpPr>
        <p:spPr>
          <a:xfrm>
            <a:off x="411480" y="850392"/>
            <a:ext cx="34290" cy="384048"/>
          </a:xfrm>
          <a:prstGeom prst="roundRect">
            <a:avLst>
              <a:gd name="adj" fmla="val 2500"/>
            </a:avLst>
          </a:prstGeom>
          <a:solidFill>
            <a:srgbClr val="FF7F3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7" name="Google Shape;497;p38"/>
          <p:cNvSpPr/>
          <p:nvPr/>
        </p:nvSpPr>
        <p:spPr>
          <a:xfrm>
            <a:off x="445770" y="850392"/>
            <a:ext cx="8284464" cy="3840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8" name="Google Shape;498;p38"/>
          <p:cNvSpPr/>
          <p:nvPr/>
        </p:nvSpPr>
        <p:spPr>
          <a:xfrm>
            <a:off x="582930" y="850392"/>
            <a:ext cx="7955280" cy="3840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800"/>
              <a:buFont typeface="Helvetica Neue"/>
              <a:buNone/>
              <a:defRPr sz="110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Key Takeaway  Tập trung giải tỏa điểm nghẽn CR Shopee Reverse, thông phễu Telesales EV và hoàn tất đợt hoàn tiền đồng phục sai.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9" name="Google Shape;499;p38"/>
          <p:cNvGraphicFramePr/>
          <p:nvPr/>
        </p:nvGraphicFramePr>
        <p:xfrm>
          <a:off x="411480" y="13373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{1B6E03F7-A7B3-402D-A52F-665CEB5CA1F2}</a:tableStyleId>
              </a:tblPr>
              <a:tblGrid>
                <a:gridCol w="29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5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Rủi ro / Issue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Khả năng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Tác động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Owner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Helvetica Neue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Trạng thái</a:t>
                      </a: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675"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CR Shopee Reverse &amp; 2H cao (Spe_reverse 37.61%, 2H 30.45%)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Cao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Cao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OE / Hub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Chỉ REC đơn với partner Spe_reverse; lọc noise đơn SPX đã nhận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75"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Phễu Lead EV rò rỉ: 304/1.29K lead lỡ, 0 convert Aizen 3 tuần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Cao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Cao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EV Team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Tái quy hoạch luồng telesales, chốt CTT đua top M8 trước 14/8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675"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Active Campaign 8.8 hụt 676-700 tx ở cả 2 TP vs CP 7.7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Trung bình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Cao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Driver Perf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Đẩy CTT kéo Retention M8 đợt 2, telesales gọi tx sinh viên quay lại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675"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Baga Bulky hụt AR vào khung giờ chiều (đơn bị dồn)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Trung bình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Trung bình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DM / Bulky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Bổ sung 40 tx Core Bulky tuần W34; chốt PA setup thưởng in-app trước 10/8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675"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Phản ứng tiêu cực của tài xế Bike NW về rule thời gian giao hàng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Cao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Trung bình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Comms / GR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Điều chỉnh bài đăng blog &amp; comms, giải thích cơ chế giảm áp lực tài xế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675"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Lỗi hệ thống truy thu đồng phục sai cho ~20 tx (ngày 6/8)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Thấp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Thấp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QM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Helvetica Neue"/>
                        </a:defRPr>
                      </a:pPr>
                      <a:r>
                        <a:t>QM check case-by-case hoàn tiền; gửi noti hướng dẫn tx gửi mail hoàn tiền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2E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0" name="Google Shape;500;p38"/>
          <p:cNvSpPr/>
          <p:nvPr/>
        </p:nvSpPr>
        <p:spPr>
          <a:xfrm>
            <a:off x="411480" y="4320540"/>
            <a:ext cx="8318754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1" name="Google Shape;501;p38"/>
          <p:cNvSpPr/>
          <p:nvPr/>
        </p:nvSpPr>
        <p:spPr>
          <a:xfrm>
            <a:off x="411480" y="4361688"/>
            <a:ext cx="8318754" cy="40462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2" name="Google Shape;502;p38"/>
          <p:cNvSpPr/>
          <p:nvPr/>
        </p:nvSpPr>
        <p:spPr>
          <a:xfrm>
            <a:off x="582930" y="4395978"/>
            <a:ext cx="7955280" cy="30861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Gap còn thiếu:  </a:t>
            </a:r>
            <a:r>
              <a:rPr lang="en" sz="8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Chưa có benchmark so với đối thủ ngành (Grab, Be...) cho các chỉ số retention/FT growth — đề xuất bổ sung ở kỳ báo cáo sau.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3" name="Google Shape;503;p38"/>
          <p:cNvCxnSpPr/>
          <p:nvPr/>
        </p:nvCxnSpPr>
        <p:spPr>
          <a:xfrm>
            <a:off x="411480" y="4882896"/>
            <a:ext cx="8318754" cy="0"/>
          </a:xfrm>
          <a:prstGeom prst="straightConnector1">
            <a:avLst/>
          </a:prstGeom>
          <a:noFill/>
          <a:ln w="15875" cap="flat" cmpd="sng">
            <a:solidFill>
              <a:srgbClr val="FF7F3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4" name="Google Shape;504;p38"/>
          <p:cNvSpPr/>
          <p:nvPr/>
        </p:nvSpPr>
        <p:spPr>
          <a:xfrm>
            <a:off x="411480" y="4924044"/>
            <a:ext cx="5486400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 Weekly Report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8"/>
          <p:cNvSpPr/>
          <p:nvPr/>
        </p:nvSpPr>
        <p:spPr>
          <a:xfrm>
            <a:off x="8366760" y="4924044"/>
            <a:ext cx="363474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9"/>
          <p:cNvSpPr/>
          <p:nvPr/>
        </p:nvSpPr>
        <p:spPr>
          <a:xfrm>
            <a:off x="411480" y="96012"/>
            <a:ext cx="5486400" cy="16459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700"/>
              <a:buFont typeface="Helvetica Neue"/>
              <a:buNone/>
              <a:defRPr sz="1300" b="1">
                <a:solidFill>
                  <a:srgbClr val="FF6600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QUYẾT ĐỊNH · TUẦN 34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9"/>
          <p:cNvSpPr/>
          <p:nvPr/>
        </p:nvSpPr>
        <p:spPr>
          <a:xfrm>
            <a:off x="5829300" y="96012"/>
            <a:ext cx="2900934" cy="16459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Helvetica Neue"/>
              <a:buNone/>
            </a:pPr>
            <a:r>
              <a:rPr lang="en" sz="700" i="1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Ahamove  ·  Driver Management  ·  Weekly Report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9"/>
          <p:cNvSpPr/>
          <p:nvPr/>
        </p:nvSpPr>
        <p:spPr>
          <a:xfrm>
            <a:off x="411480" y="288036"/>
            <a:ext cx="8318754" cy="44577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Helvetica Neue"/>
              <a:buNone/>
              <a:defRPr sz="1800" b="1">
                <a:solidFill>
                  <a:srgbClr val="0F172A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3 quyết định vận hành trọng tâm cần phê duyệt ngay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9"/>
          <p:cNvSpPr/>
          <p:nvPr/>
        </p:nvSpPr>
        <p:spPr>
          <a:xfrm>
            <a:off x="411480" y="754380"/>
            <a:ext cx="754380" cy="2743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5" name="Google Shape;515;p39"/>
          <p:cNvSpPr/>
          <p:nvPr/>
        </p:nvSpPr>
        <p:spPr>
          <a:xfrm>
            <a:off x="411480" y="850392"/>
            <a:ext cx="34290" cy="384048"/>
          </a:xfrm>
          <a:prstGeom prst="roundRect">
            <a:avLst>
              <a:gd name="adj" fmla="val 2500"/>
            </a:avLst>
          </a:prstGeom>
          <a:solidFill>
            <a:srgbClr val="FF7F32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6" name="Google Shape;516;p39"/>
          <p:cNvSpPr/>
          <p:nvPr/>
        </p:nvSpPr>
        <p:spPr>
          <a:xfrm>
            <a:off x="445770" y="850392"/>
            <a:ext cx="8284464" cy="3840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7" name="Google Shape;517;p39"/>
          <p:cNvSpPr/>
          <p:nvPr/>
        </p:nvSpPr>
        <p:spPr>
          <a:xfrm>
            <a:off x="582930" y="850392"/>
            <a:ext cx="7955280" cy="3840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800"/>
              <a:buFont typeface="Helvetica Neue"/>
              <a:buNone/>
              <a:defRPr sz="1100" b="0">
                <a:solidFill>
                  <a:srgbClr val="334155"/>
                </a:solidFill>
                <a:latin typeface="Helvetica Neue"/>
              </a:defRPr>
            </a:pPr>
            <a:r>
              <a:t>Key Takeaway  Cả 3 quyết định đều trực tiếp giải quyết điểm nghẽn chuyển đổi EV, chất lượng MiniHub và trải nghiệm tài xế NW.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9"/>
          <p:cNvSpPr/>
          <p:nvPr/>
        </p:nvSpPr>
        <p:spPr>
          <a:xfrm>
            <a:off x="411480" y="1303020"/>
            <a:ext cx="8318754" cy="20574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0" i="1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Vấn đề  +  Rủi ro nếu không quyết  =  Quyết định cần chốt ngay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9"/>
          <p:cNvSpPr/>
          <p:nvPr/>
        </p:nvSpPr>
        <p:spPr>
          <a:xfrm>
            <a:off x="96012" y="1940814"/>
            <a:ext cx="233172" cy="233172"/>
          </a:xfrm>
          <a:prstGeom prst="ellipse">
            <a:avLst/>
          </a:prstGeom>
          <a:solidFill>
            <a:srgbClr val="FF7F32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0" name="Google Shape;520;p39"/>
          <p:cNvSpPr/>
          <p:nvPr/>
        </p:nvSpPr>
        <p:spPr>
          <a:xfrm>
            <a:off x="96012" y="1940814"/>
            <a:ext cx="233172" cy="23317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9"/>
          <p:cNvSpPr/>
          <p:nvPr/>
        </p:nvSpPr>
        <p:spPr>
          <a:xfrm>
            <a:off x="411480" y="1577340"/>
            <a:ext cx="2434590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2" name="Google Shape;522;p39"/>
          <p:cNvSpPr/>
          <p:nvPr/>
        </p:nvSpPr>
        <p:spPr>
          <a:xfrm>
            <a:off x="411480" y="1618488"/>
            <a:ext cx="2434590" cy="9189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3" name="Google Shape;523;p39"/>
          <p:cNvSpPr/>
          <p:nvPr/>
        </p:nvSpPr>
        <p:spPr>
          <a:xfrm>
            <a:off x="548640" y="1673352"/>
            <a:ext cx="216027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</a:pPr>
            <a:r>
              <a:rPr lang="en" sz="7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VẤN ĐỀ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9"/>
          <p:cNvSpPr/>
          <p:nvPr/>
        </p:nvSpPr>
        <p:spPr>
          <a:xfrm>
            <a:off x="548640" y="1865376"/>
            <a:ext cx="2160270" cy="58293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304 lead EV không nghe máy, 0 convert Aizen 3 tuần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9"/>
          <p:cNvSpPr/>
          <p:nvPr/>
        </p:nvSpPr>
        <p:spPr>
          <a:xfrm>
            <a:off x="2948945" y="1906524"/>
            <a:ext cx="219600" cy="30180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Helvetica Neue"/>
              <a:buNone/>
            </a:pPr>
            <a:r>
              <a:rPr lang="en" sz="15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9"/>
          <p:cNvSpPr/>
          <p:nvPr/>
        </p:nvSpPr>
        <p:spPr>
          <a:xfrm>
            <a:off x="3271266" y="1577340"/>
            <a:ext cx="2434590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7" name="Google Shape;527;p39"/>
          <p:cNvSpPr/>
          <p:nvPr/>
        </p:nvSpPr>
        <p:spPr>
          <a:xfrm>
            <a:off x="3271266" y="1618488"/>
            <a:ext cx="2434590" cy="9189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8" name="Google Shape;528;p39"/>
          <p:cNvSpPr/>
          <p:nvPr/>
        </p:nvSpPr>
        <p:spPr>
          <a:xfrm>
            <a:off x="3408426" y="1673352"/>
            <a:ext cx="216027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42E"/>
              </a:buClr>
              <a:buSzPts val="700"/>
              <a:buFont typeface="Helvetica Neue"/>
              <a:buNone/>
            </a:pPr>
            <a:r>
              <a:rPr lang="en" sz="700" b="1" i="0" u="none" strike="noStrike" cap="none">
                <a:solidFill>
                  <a:srgbClr val="E5342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RỦI RO NẾU KHÔNG QUYẾT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9"/>
          <p:cNvSpPr/>
          <p:nvPr/>
        </p:nvSpPr>
        <p:spPr>
          <a:xfrm>
            <a:off x="3408426" y="1865376"/>
            <a:ext cx="2160270" cy="58293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Mất cơ hội tăng trưởng xe điện mùa cao điểm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9"/>
          <p:cNvSpPr/>
          <p:nvPr/>
        </p:nvSpPr>
        <p:spPr>
          <a:xfrm>
            <a:off x="5808731" y="1906524"/>
            <a:ext cx="219600" cy="30180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Helvetica Neue"/>
              <a:buNone/>
            </a:pPr>
            <a:r>
              <a:rPr lang="en" sz="15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9"/>
          <p:cNvSpPr/>
          <p:nvPr/>
        </p:nvSpPr>
        <p:spPr>
          <a:xfrm>
            <a:off x="6131052" y="1577340"/>
            <a:ext cx="2434590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2" name="Google Shape;532;p39"/>
          <p:cNvSpPr/>
          <p:nvPr/>
        </p:nvSpPr>
        <p:spPr>
          <a:xfrm>
            <a:off x="6131052" y="1618488"/>
            <a:ext cx="2434590" cy="9189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3" name="Google Shape;533;p39"/>
          <p:cNvSpPr/>
          <p:nvPr/>
        </p:nvSpPr>
        <p:spPr>
          <a:xfrm>
            <a:off x="6268212" y="1673352"/>
            <a:ext cx="216027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F99"/>
              </a:buClr>
              <a:buSzPts val="700"/>
              <a:buFont typeface="Helvetica Neue"/>
              <a:buNone/>
            </a:pPr>
            <a:r>
              <a:rPr lang="en" sz="700" b="1" i="0" u="none" strike="noStrike" cap="none">
                <a:solidFill>
                  <a:srgbClr val="8A8F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QUYẾT ĐỊNH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9"/>
          <p:cNvSpPr/>
          <p:nvPr/>
        </p:nvSpPr>
        <p:spPr>
          <a:xfrm>
            <a:off x="6268212" y="1865376"/>
            <a:ext cx="2160270" cy="58293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50" b="1">
                <a:solidFill>
                  <a:srgbClr val="0F172A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Duyệt tái quy hoạch luồng Telesales &amp; CTT đua top M8 trong tuần này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9"/>
          <p:cNvSpPr/>
          <p:nvPr/>
        </p:nvSpPr>
        <p:spPr>
          <a:xfrm>
            <a:off x="96012" y="3003804"/>
            <a:ext cx="233172" cy="233172"/>
          </a:xfrm>
          <a:prstGeom prst="ellipse">
            <a:avLst/>
          </a:prstGeom>
          <a:solidFill>
            <a:srgbClr val="FF7F32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6" name="Google Shape;536;p39"/>
          <p:cNvSpPr/>
          <p:nvPr/>
        </p:nvSpPr>
        <p:spPr>
          <a:xfrm>
            <a:off x="96012" y="3003804"/>
            <a:ext cx="233172" cy="23317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9"/>
          <p:cNvSpPr/>
          <p:nvPr/>
        </p:nvSpPr>
        <p:spPr>
          <a:xfrm>
            <a:off x="411480" y="2640330"/>
            <a:ext cx="2434590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8" name="Google Shape;538;p39"/>
          <p:cNvSpPr/>
          <p:nvPr/>
        </p:nvSpPr>
        <p:spPr>
          <a:xfrm>
            <a:off x="411480" y="2681478"/>
            <a:ext cx="2434590" cy="9189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9" name="Google Shape;539;p39"/>
          <p:cNvSpPr/>
          <p:nvPr/>
        </p:nvSpPr>
        <p:spPr>
          <a:xfrm>
            <a:off x="548640" y="2736342"/>
            <a:ext cx="216027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</a:pPr>
            <a:r>
              <a:rPr lang="en" sz="7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VẤN ĐỀ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9"/>
          <p:cNvSpPr/>
          <p:nvPr/>
        </p:nvSpPr>
        <p:spPr>
          <a:xfrm>
            <a:off x="548640" y="2928366"/>
            <a:ext cx="2160270" cy="58293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Active MiniHub giảm do lọc tx kém, PnL Leader chưa tối ưu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9"/>
          <p:cNvSpPr/>
          <p:nvPr/>
        </p:nvSpPr>
        <p:spPr>
          <a:xfrm>
            <a:off x="2948945" y="2969514"/>
            <a:ext cx="219600" cy="30180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Helvetica Neue"/>
              <a:buNone/>
            </a:pPr>
            <a:r>
              <a:rPr lang="en" sz="15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9"/>
          <p:cNvSpPr/>
          <p:nvPr/>
        </p:nvSpPr>
        <p:spPr>
          <a:xfrm>
            <a:off x="3271266" y="2640330"/>
            <a:ext cx="2434590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3" name="Google Shape;543;p39"/>
          <p:cNvSpPr/>
          <p:nvPr/>
        </p:nvSpPr>
        <p:spPr>
          <a:xfrm>
            <a:off x="3271266" y="2681478"/>
            <a:ext cx="2434590" cy="9189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4" name="Google Shape;544;p39"/>
          <p:cNvSpPr/>
          <p:nvPr/>
        </p:nvSpPr>
        <p:spPr>
          <a:xfrm>
            <a:off x="3408426" y="2736342"/>
            <a:ext cx="216027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42E"/>
              </a:buClr>
              <a:buSzPts val="700"/>
              <a:buFont typeface="Helvetica Neue"/>
              <a:buNone/>
            </a:pPr>
            <a:r>
              <a:rPr lang="en" sz="700" b="1" i="0" u="none" strike="noStrike" cap="none">
                <a:solidFill>
                  <a:srgbClr val="E5342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RỦI RO NẾU KHÔNG QUYẾT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9"/>
          <p:cNvSpPr/>
          <p:nvPr/>
        </p:nvSpPr>
        <p:spPr>
          <a:xfrm>
            <a:off x="3408426" y="2928366"/>
            <a:ext cx="2160270" cy="58293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Lãng phí ngân sách thưởng nếu duy trì tx kém hiệu suất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9"/>
          <p:cNvSpPr/>
          <p:nvPr/>
        </p:nvSpPr>
        <p:spPr>
          <a:xfrm>
            <a:off x="5808731" y="2969514"/>
            <a:ext cx="219600" cy="30180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Helvetica Neue"/>
              <a:buNone/>
            </a:pPr>
            <a:r>
              <a:rPr lang="en" sz="15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9"/>
          <p:cNvSpPr/>
          <p:nvPr/>
        </p:nvSpPr>
        <p:spPr>
          <a:xfrm>
            <a:off x="6131052" y="2640330"/>
            <a:ext cx="2434590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8" name="Google Shape;548;p39"/>
          <p:cNvSpPr/>
          <p:nvPr/>
        </p:nvSpPr>
        <p:spPr>
          <a:xfrm>
            <a:off x="6131052" y="2681478"/>
            <a:ext cx="2434590" cy="9189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9" name="Google Shape;549;p39"/>
          <p:cNvSpPr/>
          <p:nvPr/>
        </p:nvSpPr>
        <p:spPr>
          <a:xfrm>
            <a:off x="6268212" y="2736342"/>
            <a:ext cx="216027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F99"/>
              </a:buClr>
              <a:buSzPts val="700"/>
              <a:buFont typeface="Helvetica Neue"/>
              <a:buNone/>
            </a:pPr>
            <a:r>
              <a:rPr lang="en" sz="700" b="1" i="0" u="none" strike="noStrike" cap="none">
                <a:solidFill>
                  <a:srgbClr val="8A8F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QUYẾT ĐỊNH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9"/>
          <p:cNvSpPr/>
          <p:nvPr/>
        </p:nvSpPr>
        <p:spPr>
          <a:xfrm>
            <a:off x="6268212" y="2928366"/>
            <a:ext cx="2160270" cy="58293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50" b="1">
                <a:solidFill>
                  <a:srgbClr val="0F172A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Chuẩn hóa bộ tiêu chuẩn MiniHub Leader &amp; quy trình NIM Onboard CityZone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9"/>
          <p:cNvSpPr/>
          <p:nvPr/>
        </p:nvSpPr>
        <p:spPr>
          <a:xfrm>
            <a:off x="96012" y="4066794"/>
            <a:ext cx="233172" cy="233172"/>
          </a:xfrm>
          <a:prstGeom prst="ellipse">
            <a:avLst/>
          </a:prstGeom>
          <a:solidFill>
            <a:srgbClr val="FF7F32"/>
          </a:solidFill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2" name="Google Shape;552;p39"/>
          <p:cNvSpPr/>
          <p:nvPr/>
        </p:nvSpPr>
        <p:spPr>
          <a:xfrm>
            <a:off x="96012" y="4066794"/>
            <a:ext cx="233172" cy="23317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9"/>
          <p:cNvSpPr/>
          <p:nvPr/>
        </p:nvSpPr>
        <p:spPr>
          <a:xfrm>
            <a:off x="411480" y="3703320"/>
            <a:ext cx="2434590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4" name="Google Shape;554;p39"/>
          <p:cNvSpPr/>
          <p:nvPr/>
        </p:nvSpPr>
        <p:spPr>
          <a:xfrm>
            <a:off x="411480" y="3744468"/>
            <a:ext cx="2434590" cy="9189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5" name="Google Shape;555;p39"/>
          <p:cNvSpPr/>
          <p:nvPr/>
        </p:nvSpPr>
        <p:spPr>
          <a:xfrm>
            <a:off x="548640" y="3799332"/>
            <a:ext cx="216027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Helvetica Neue"/>
              <a:buNone/>
            </a:pPr>
            <a:r>
              <a:rPr lang="en" sz="7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VẤN ĐỀ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9"/>
          <p:cNvSpPr/>
          <p:nvPr/>
        </p:nvSpPr>
        <p:spPr>
          <a:xfrm>
            <a:off x="548640" y="3991356"/>
            <a:ext cx="2160270" cy="58293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Truy thu đồng phục sai ~20 cases gây bức xúc cộng đồng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9"/>
          <p:cNvSpPr/>
          <p:nvPr/>
        </p:nvSpPr>
        <p:spPr>
          <a:xfrm>
            <a:off x="2948945" y="4032504"/>
            <a:ext cx="219600" cy="30180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Helvetica Neue"/>
              <a:buNone/>
            </a:pPr>
            <a:r>
              <a:rPr lang="en" sz="15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9"/>
          <p:cNvSpPr/>
          <p:nvPr/>
        </p:nvSpPr>
        <p:spPr>
          <a:xfrm>
            <a:off x="3271266" y="3703320"/>
            <a:ext cx="2434590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9" name="Google Shape;559;p39"/>
          <p:cNvSpPr/>
          <p:nvPr/>
        </p:nvSpPr>
        <p:spPr>
          <a:xfrm>
            <a:off x="3271266" y="3744468"/>
            <a:ext cx="2434590" cy="9189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0" name="Google Shape;560;p39"/>
          <p:cNvSpPr/>
          <p:nvPr/>
        </p:nvSpPr>
        <p:spPr>
          <a:xfrm>
            <a:off x="3408426" y="3799332"/>
            <a:ext cx="216027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42E"/>
              </a:buClr>
              <a:buSzPts val="700"/>
              <a:buFont typeface="Helvetica Neue"/>
              <a:buNone/>
            </a:pPr>
            <a:r>
              <a:rPr lang="en" sz="700" b="1" i="0" u="none" strike="noStrike" cap="none">
                <a:solidFill>
                  <a:srgbClr val="E5342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RỦI RO NẾU KHÔNG QUYẾT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9"/>
          <p:cNvSpPr/>
          <p:nvPr/>
        </p:nvSpPr>
        <p:spPr>
          <a:xfrm>
            <a:off x="3408426" y="3991356"/>
            <a:ext cx="2160270" cy="58293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Tạo dư luận tiêu cực và giảm niềm tin của tài xế NW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9"/>
          <p:cNvSpPr/>
          <p:nvPr/>
        </p:nvSpPr>
        <p:spPr>
          <a:xfrm>
            <a:off x="5808731" y="4032504"/>
            <a:ext cx="219600" cy="30180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Helvetica Neue"/>
              <a:buNone/>
            </a:pPr>
            <a:r>
              <a:rPr lang="en" sz="15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9"/>
          <p:cNvSpPr/>
          <p:nvPr/>
        </p:nvSpPr>
        <p:spPr>
          <a:xfrm>
            <a:off x="6131052" y="3703320"/>
            <a:ext cx="2434590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4" name="Google Shape;564;p39"/>
          <p:cNvSpPr/>
          <p:nvPr/>
        </p:nvSpPr>
        <p:spPr>
          <a:xfrm>
            <a:off x="6131052" y="3744468"/>
            <a:ext cx="2434590" cy="9189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5" name="Google Shape;565;p39"/>
          <p:cNvSpPr/>
          <p:nvPr/>
        </p:nvSpPr>
        <p:spPr>
          <a:xfrm>
            <a:off x="6268212" y="3799332"/>
            <a:ext cx="2160270" cy="17145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F99"/>
              </a:buClr>
              <a:buSzPts val="700"/>
              <a:buFont typeface="Helvetica Neue"/>
              <a:buNone/>
            </a:pPr>
            <a:r>
              <a:rPr lang="en" sz="700" b="1" i="0" u="none" strike="noStrike" cap="none">
                <a:solidFill>
                  <a:srgbClr val="8A8F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QUYẾT ĐỊNH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9"/>
          <p:cNvSpPr/>
          <p:nvPr/>
        </p:nvSpPr>
        <p:spPr>
          <a:xfrm>
            <a:off x="6268212" y="3991356"/>
            <a:ext cx="2160270" cy="58293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50" b="1">
                <a:solidFill>
                  <a:srgbClr val="0F172A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Thẩm định &amp; duyệt hoàn tiền ngay cho các cases xác nhận mặc đủ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7" name="Google Shape;567;p39"/>
          <p:cNvCxnSpPr/>
          <p:nvPr/>
        </p:nvCxnSpPr>
        <p:spPr>
          <a:xfrm>
            <a:off x="411480" y="4882896"/>
            <a:ext cx="8318754" cy="0"/>
          </a:xfrm>
          <a:prstGeom prst="straightConnector1">
            <a:avLst/>
          </a:prstGeom>
          <a:noFill/>
          <a:ln w="15875" cap="flat" cmpd="sng">
            <a:solidFill>
              <a:srgbClr val="FF7F3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8" name="Google Shape;568;p39"/>
          <p:cNvSpPr/>
          <p:nvPr/>
        </p:nvSpPr>
        <p:spPr>
          <a:xfrm>
            <a:off x="411480" y="4924044"/>
            <a:ext cx="5486400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 Weekly Report</a:t>
            </a:r>
            <a:endParaRPr sz="600">
              <a:solidFill>
                <a:srgbClr val="33415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9" name="Google Shape;569;p39"/>
          <p:cNvSpPr/>
          <p:nvPr/>
        </p:nvSpPr>
        <p:spPr>
          <a:xfrm>
            <a:off x="8366760" y="4924044"/>
            <a:ext cx="363474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0"/>
          <p:cNvSpPr/>
          <p:nvPr/>
        </p:nvSpPr>
        <p:spPr>
          <a:xfrm>
            <a:off x="411480" y="96012"/>
            <a:ext cx="5486400" cy="16459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700"/>
              <a:buFont typeface="Helvetica Neue"/>
              <a:buNone/>
              <a:defRPr sz="1300" b="1">
                <a:solidFill>
                  <a:srgbClr val="FF6600"/>
                </a:solidFill>
                <a:latin typeface="Helvetica Neue"/>
              </a:defRPr>
            </a:pPr>
            <a:r>
              <a:t>TỔNG KẾT · BOOKEND W33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0"/>
          <p:cNvSpPr/>
          <p:nvPr/>
        </p:nvSpPr>
        <p:spPr>
          <a:xfrm>
            <a:off x="5829300" y="96012"/>
            <a:ext cx="2900934" cy="16459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Helvetica Neue"/>
              <a:buNone/>
            </a:pPr>
            <a:r>
              <a:rPr lang="en" sz="700" i="1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Ahamove  ·  Driver Management  ·  Weekly Report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0"/>
          <p:cNvSpPr/>
          <p:nvPr/>
        </p:nvSpPr>
        <p:spPr>
          <a:xfrm>
            <a:off x="411480" y="288036"/>
            <a:ext cx="8318754" cy="44577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Helvetica Neue"/>
              <a:buNone/>
              <a:defRPr sz="1800" b="1">
                <a:solidFill>
                  <a:srgbClr val="0F172A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Tổng kết &amp; câu trả lời cho 3 vấn đề trọng tâm đầu báo cáo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0"/>
          <p:cNvSpPr/>
          <p:nvPr/>
        </p:nvSpPr>
        <p:spPr>
          <a:xfrm>
            <a:off x="411480" y="754380"/>
            <a:ext cx="754380" cy="27432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9" name="Google Shape;579;p40"/>
          <p:cNvSpPr/>
          <p:nvPr/>
        </p:nvSpPr>
        <p:spPr>
          <a:xfrm>
            <a:off x="788670" y="1200150"/>
            <a:ext cx="7955280" cy="24003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Helvetica Neue"/>
              <a:buNone/>
              <a:defRPr sz="1200" b="1">
                <a:solidFill>
                  <a:srgbClr val="0F172A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1. Active Campaign 8.8 giảm do đâu?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0"/>
          <p:cNvSpPr/>
          <p:nvPr/>
        </p:nvSpPr>
        <p:spPr>
          <a:xfrm>
            <a:off x="788670" y="1447038"/>
            <a:ext cx="7955280" cy="34290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Hụt lực lượng sinh viên chưa nhập học và chủ động siết lọc tx kém; tuy nhiên Prod &amp; Thu nhập/giờ đều tăng vượt target.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0"/>
          <p:cNvSpPr/>
          <p:nvPr/>
        </p:nvSpPr>
        <p:spPr>
          <a:xfrm>
            <a:off x="788670" y="1885950"/>
            <a:ext cx="7955280" cy="24003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Helvetica Neue"/>
              <a:buNone/>
              <a:defRPr sz="1200" b="1">
                <a:solidFill>
                  <a:srgbClr val="0F172A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2. MiniHub &amp; Baga Bulky tiến triển thế nào?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0"/>
          <p:cNvSpPr/>
          <p:nvPr/>
        </p:nvSpPr>
        <p:spPr>
          <a:xfrm>
            <a:off x="788670" y="2132838"/>
            <a:ext cx="7955280" cy="34290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MiniHub nâng chất lượng vận hành (Online 88.8%), Baga Bulky hoàn tất lọc 57 tx Core 2H sẵn sàng tung CTT 15/8.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0"/>
          <p:cNvSpPr/>
          <p:nvPr/>
        </p:nvSpPr>
        <p:spPr>
          <a:xfrm>
            <a:off x="411480" y="2578608"/>
            <a:ext cx="219600" cy="219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4" name="Google Shape;584;p40"/>
          <p:cNvSpPr/>
          <p:nvPr/>
        </p:nvSpPr>
        <p:spPr>
          <a:xfrm>
            <a:off x="411405" y="2578608"/>
            <a:ext cx="219600" cy="21960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40"/>
          <p:cNvSpPr/>
          <p:nvPr/>
        </p:nvSpPr>
        <p:spPr>
          <a:xfrm>
            <a:off x="788670" y="2571750"/>
            <a:ext cx="7955280" cy="24003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Helvetica Neue"/>
              <a:buNone/>
              <a:defRPr sz="1200" b="1">
                <a:solidFill>
                  <a:srgbClr val="0F172A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3. Ngân sách EV &amp; Ưu tiên W34 là gì?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40"/>
          <p:cNvSpPr/>
          <p:nvPr/>
        </p:nvSpPr>
        <p:spPr>
          <a:xfrm>
            <a:off x="788670" y="2818638"/>
            <a:ext cx="7955280" cy="34290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  <a:defRPr sz="1050" b="0">
                <a:solidFill>
                  <a:srgbClr val="334155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Tập trung khai thông phễu Telesales EV (gọi lại 304 lead) và duyệt CTT đua top thuê xe M8 trước 14/8.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40"/>
          <p:cNvSpPr/>
          <p:nvPr/>
        </p:nvSpPr>
        <p:spPr>
          <a:xfrm>
            <a:off x="411480" y="3360420"/>
            <a:ext cx="8318754" cy="41148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8" name="Google Shape;588;p40"/>
          <p:cNvSpPr/>
          <p:nvPr/>
        </p:nvSpPr>
        <p:spPr>
          <a:xfrm>
            <a:off x="411480" y="3401568"/>
            <a:ext cx="8318754" cy="713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9" name="Google Shape;589;p40"/>
          <p:cNvSpPr/>
          <p:nvPr/>
        </p:nvSpPr>
        <p:spPr>
          <a:xfrm>
            <a:off x="411475" y="3401700"/>
            <a:ext cx="8318700" cy="7131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Helvetica Neue"/>
              <a:buNone/>
              <a:defRPr sz="1200" b="1">
                <a:solidFill>
                  <a:srgbClr val="FF6600"/>
                </a:solidFill>
                <a:latin typeface="Helvetica Neue"/>
              </a:defRPr>
            </a:pPr>
            <a:r>
              <a:rPr>
                <a:solidFill/>
                <a:latin typeface="Helvetica Neue"/>
              </a:rPr>
              <a:t>Tháng 8: Tối ưu hiệu suất chuyển đổi, đẩy tốc độ scale mà không đánh đổi chất lượng vận hành.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0" name="Google Shape;590;p40"/>
          <p:cNvCxnSpPr/>
          <p:nvPr/>
        </p:nvCxnSpPr>
        <p:spPr>
          <a:xfrm>
            <a:off x="411480" y="4882896"/>
            <a:ext cx="8318754" cy="0"/>
          </a:xfrm>
          <a:prstGeom prst="straightConnector1">
            <a:avLst/>
          </a:prstGeom>
          <a:noFill/>
          <a:ln w="15875" cap="flat" cmpd="sng">
            <a:solidFill>
              <a:srgbClr val="FF7F3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1" name="Google Shape;591;p40"/>
          <p:cNvSpPr/>
          <p:nvPr/>
        </p:nvSpPr>
        <p:spPr>
          <a:xfrm>
            <a:off x="411480" y="4924044"/>
            <a:ext cx="5486400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 Weekly Report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40"/>
          <p:cNvSpPr/>
          <p:nvPr/>
        </p:nvSpPr>
        <p:spPr>
          <a:xfrm>
            <a:off x="8366760" y="4924044"/>
            <a:ext cx="363474" cy="192024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00"/>
              <a:buFont typeface="Helvetica Neue"/>
              <a:buNone/>
            </a:pPr>
            <a:r>
              <a:rPr lang="en" sz="600" b="0" i="0" u="none" strike="noStrike" cap="none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0"/>
          <p:cNvSpPr/>
          <p:nvPr/>
        </p:nvSpPr>
        <p:spPr>
          <a:xfrm>
            <a:off x="411480" y="1203483"/>
            <a:ext cx="219600" cy="219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4" name="Google Shape;594;p40"/>
          <p:cNvSpPr/>
          <p:nvPr/>
        </p:nvSpPr>
        <p:spPr>
          <a:xfrm>
            <a:off x="411405" y="1203483"/>
            <a:ext cx="219600" cy="21960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0"/>
          <p:cNvSpPr/>
          <p:nvPr/>
        </p:nvSpPr>
        <p:spPr>
          <a:xfrm>
            <a:off x="411480" y="1892746"/>
            <a:ext cx="219600" cy="219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64" tIns="36576" rIns="54864" bIns="36576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6" name="Google Shape;596;p40"/>
          <p:cNvSpPr/>
          <p:nvPr/>
        </p:nvSpPr>
        <p:spPr>
          <a:xfrm>
            <a:off x="411405" y="1892746"/>
            <a:ext cx="219600" cy="219600"/>
          </a:xfrm>
          <a:prstGeom prst="roundRect">
            <a:avLst>
              <a:gd name="adj" fmla="val 2500"/>
            </a:avLst>
          </a:prstGeom>
          <a:noFill/>
          <a:ln>
            <a:noFill/>
          </a:ln>
        </p:spPr>
        <p:txBody>
          <a:bodyPr spcFirstLastPara="1" wrap="square" lIns="54864" tIns="36576" rIns="54864" bIns="36576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Helvetica Neue"/>
              <a:buNone/>
            </a:pPr>
            <a:r>
              <a:rPr lang="en" sz="8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2701</Words>
  <Application>Microsoft Macintosh PowerPoint</Application>
  <PresentationFormat>On-screen Show (16:9)</PresentationFormat>
  <Paragraphs>305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Arial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sNef</cp:lastModifiedBy>
  <cp:revision>1</cp:revision>
  <dcterms:modified xsi:type="dcterms:W3CDTF">2026-08-10T04:16:16Z</dcterms:modified>
</cp:coreProperties>
</file>