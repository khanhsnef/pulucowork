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Lexend SemiBold"/>
      <p:regular r:id="rId45"/>
      <p:bold r:id="rId46"/>
    </p:embeddedFont>
    <p:embeddedFont>
      <p:font typeface="Roboto"/>
      <p:regular r:id="rId47"/>
      <p:bold r:id="rId48"/>
      <p:italic r:id="rId49"/>
      <p:boldItalic r:id="rId50"/>
    </p:embeddedFont>
    <p:embeddedFont>
      <p:font typeface="Nunito"/>
      <p:regular r:id="rId51"/>
      <p:bold r:id="rId52"/>
      <p:italic r:id="rId53"/>
      <p:boldItalic r:id="rId54"/>
    </p:embeddedFont>
    <p:embeddedFont>
      <p:font typeface="Plus Jakarta Sans"/>
      <p:regular r:id="rId55"/>
      <p:bold r:id="rId56"/>
      <p:italic r:id="rId57"/>
      <p:boldItalic r:id="rId58"/>
    </p:embeddedFont>
    <p:embeddedFont>
      <p:font typeface="Lexend"/>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A9007E-4112-45BC-9D73-1BCF8FDB95CB}">
  <a:tblStyle styleId="{84A9007E-4112-45BC-9D73-1BCF8FDB95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8C11DD4-BB49-442A-9D9A-3CC21BB0483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A309A38-FEAF-4256-BD77-F8EC82423C62}" styleName="Table_2">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LexendSemiBold-bold.fntdata"/><Relationship Id="rId45" Type="http://schemas.openxmlformats.org/officeDocument/2006/relationships/font" Target="fonts/Lexend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Lexend-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regular.fntdata"/><Relationship Id="rId50" Type="http://schemas.openxmlformats.org/officeDocument/2006/relationships/font" Target="fonts/Roboto-boldItalic.fntdata"/><Relationship Id="rId53" Type="http://schemas.openxmlformats.org/officeDocument/2006/relationships/font" Target="fonts/Nunito-italic.fntdata"/><Relationship Id="rId52" Type="http://schemas.openxmlformats.org/officeDocument/2006/relationships/font" Target="fonts/Nunito-bold.fntdata"/><Relationship Id="rId11" Type="http://schemas.openxmlformats.org/officeDocument/2006/relationships/slide" Target="slides/slide5.xml"/><Relationship Id="rId55" Type="http://schemas.openxmlformats.org/officeDocument/2006/relationships/font" Target="fonts/PlusJakartaSans-regular.fntdata"/><Relationship Id="rId10" Type="http://schemas.openxmlformats.org/officeDocument/2006/relationships/slide" Target="slides/slide4.xml"/><Relationship Id="rId54" Type="http://schemas.openxmlformats.org/officeDocument/2006/relationships/font" Target="fonts/Nunito-boldItalic.fntdata"/><Relationship Id="rId13" Type="http://schemas.openxmlformats.org/officeDocument/2006/relationships/slide" Target="slides/slide7.xml"/><Relationship Id="rId57" Type="http://schemas.openxmlformats.org/officeDocument/2006/relationships/font" Target="fonts/PlusJakartaSans-italic.fntdata"/><Relationship Id="rId12" Type="http://schemas.openxmlformats.org/officeDocument/2006/relationships/slide" Target="slides/slide6.xml"/><Relationship Id="rId56" Type="http://schemas.openxmlformats.org/officeDocument/2006/relationships/font" Target="fonts/PlusJakartaSans-bold.fntdata"/><Relationship Id="rId15" Type="http://schemas.openxmlformats.org/officeDocument/2006/relationships/slide" Target="slides/slide9.xml"/><Relationship Id="rId59" Type="http://schemas.openxmlformats.org/officeDocument/2006/relationships/font" Target="fonts/Lexend-regular.fntdata"/><Relationship Id="rId14" Type="http://schemas.openxmlformats.org/officeDocument/2006/relationships/slide" Target="slides/slide8.xml"/><Relationship Id="rId58" Type="http://schemas.openxmlformats.org/officeDocument/2006/relationships/font" Target="fonts/PlusJakarta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409bf483c81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53" name="Google Shape;53;g409bf483c81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54" name="Google Shape;54;g409bf483c81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409bf483c81_0_1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66" name="Google Shape;66;g409bf483c81_0_1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184150" lvl="0" marL="215900" rtl="0" algn="just">
              <a:lnSpc>
                <a:spcPct val="200000"/>
              </a:lnSpc>
              <a:spcBef>
                <a:spcPts val="0"/>
              </a:spcBef>
              <a:spcAft>
                <a:spcPts val="0"/>
              </a:spcAft>
              <a:buClr>
                <a:srgbClr val="434343"/>
              </a:buClr>
              <a:buSzPts val="500"/>
              <a:buFont typeface="Nunito"/>
              <a:buChar char="-"/>
            </a:pPr>
            <a:r>
              <a:rPr lang="en" sz="500">
                <a:solidFill>
                  <a:srgbClr val="434343"/>
                </a:solidFill>
                <a:latin typeface="Nunito"/>
                <a:ea typeface="Nunito"/>
                <a:cs typeface="Nunito"/>
                <a:sym typeface="Nunito"/>
              </a:rPr>
              <a:t>FR tăng 2.9% YoY, tăng 3.3% ở HAN, 1.4% ở SGN. Supply hour SGN tăng 3.51% YoY (Demand HAN giảm 20% dẫn đến Supply hour cũng giảm ~14.8%, ngược lại SGN demand tăng 7.4% nên SH có tăng 3.51%)</a:t>
            </a:r>
            <a:endParaRPr sz="500">
              <a:solidFill>
                <a:srgbClr val="434343"/>
              </a:solidFill>
              <a:latin typeface="Nunito"/>
              <a:ea typeface="Nunito"/>
              <a:cs typeface="Nunito"/>
              <a:sym typeface="Nunito"/>
            </a:endParaRPr>
          </a:p>
          <a:p>
            <a:pPr indent="-184150" lvl="0" marL="215900" rtl="0" algn="just">
              <a:lnSpc>
                <a:spcPct val="200000"/>
              </a:lnSpc>
              <a:spcBef>
                <a:spcPts val="0"/>
              </a:spcBef>
              <a:spcAft>
                <a:spcPts val="0"/>
              </a:spcAft>
              <a:buClr>
                <a:srgbClr val="434343"/>
              </a:buClr>
              <a:buSzPts val="500"/>
              <a:buFont typeface="Nunito"/>
              <a:buChar char="-"/>
            </a:pPr>
            <a:r>
              <a:rPr lang="en" sz="500">
                <a:solidFill>
                  <a:srgbClr val="434343"/>
                </a:solidFill>
                <a:latin typeface="Nunito"/>
                <a:ea typeface="Nunito"/>
                <a:cs typeface="Nunito"/>
                <a:sym typeface="Nunito"/>
              </a:rPr>
              <a:t>Active cả hai City đều tăng, chủ yếu tại SGN tăng 12%, tăng ở tất cả các nhóm, đặc biệt NIM tăng mạnh 82%. </a:t>
            </a:r>
            <a:endParaRPr sz="500">
              <a:solidFill>
                <a:srgbClr val="434343"/>
              </a:solidFill>
              <a:latin typeface="Nunito"/>
              <a:ea typeface="Nunito"/>
              <a:cs typeface="Nunito"/>
              <a:sym typeface="Nunito"/>
            </a:endParaRPr>
          </a:p>
          <a:p>
            <a:pPr indent="0" lvl="0" marL="0" rtl="0" algn="just">
              <a:lnSpc>
                <a:spcPct val="200000"/>
              </a:lnSpc>
              <a:spcBef>
                <a:spcPts val="0"/>
              </a:spcBef>
              <a:spcAft>
                <a:spcPts val="0"/>
              </a:spcAft>
              <a:buNone/>
            </a:pPr>
            <a:r>
              <a:rPr lang="en" sz="500">
                <a:solidFill>
                  <a:srgbClr val="434343"/>
                </a:solidFill>
                <a:latin typeface="Nunito"/>
                <a:ea typeface="Nunito"/>
                <a:cs typeface="Nunito"/>
                <a:sym typeface="Nunito"/>
              </a:rPr>
              <a:t>Low:</a:t>
            </a:r>
            <a:endParaRPr sz="500">
              <a:solidFill>
                <a:srgbClr val="434343"/>
              </a:solidFill>
              <a:latin typeface="Nunito"/>
              <a:ea typeface="Nunito"/>
              <a:cs typeface="Nunito"/>
              <a:sym typeface="Nunito"/>
            </a:endParaRPr>
          </a:p>
          <a:p>
            <a:pPr indent="-171450" lvl="0" marL="279400" rtl="0" algn="just">
              <a:lnSpc>
                <a:spcPct val="200000"/>
              </a:lnSpc>
              <a:spcBef>
                <a:spcPts val="0"/>
              </a:spcBef>
              <a:spcAft>
                <a:spcPts val="0"/>
              </a:spcAft>
              <a:buClr>
                <a:srgbClr val="434343"/>
              </a:buClr>
              <a:buSzPts val="500"/>
              <a:buFont typeface="Nunito"/>
              <a:buChar char="-"/>
            </a:pPr>
            <a:r>
              <a:rPr lang="en" sz="500">
                <a:solidFill>
                  <a:srgbClr val="434343"/>
                </a:solidFill>
                <a:latin typeface="Nunito"/>
                <a:ea typeface="Nunito"/>
                <a:cs typeface="Nunito"/>
                <a:sym typeface="Nunito"/>
              </a:rPr>
              <a:t>Đối với HAN số lượng Tài xế FT giảm mạnh ~30% so với YoY, tuy nhiên Prod có cải thiện ~13.2%, </a:t>
            </a:r>
            <a:endParaRPr sz="500">
              <a:solidFill>
                <a:srgbClr val="434343"/>
              </a:solidFill>
              <a:latin typeface="Nunito"/>
              <a:ea typeface="Nunito"/>
              <a:cs typeface="Nunito"/>
              <a:sym typeface="Nunito"/>
            </a:endParaRPr>
          </a:p>
        </p:txBody>
      </p:sp>
      <p:sp>
        <p:nvSpPr>
          <p:cNvPr id="67" name="Google Shape;67;g409bf483c81_0_1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409bf483c81_0_2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79" name="Google Shape;79;g409bf483c81_0_2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80" name="Google Shape;80;g409bf483c81_0_2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409bf483c81_0_3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89" name="Google Shape;89;g409bf483c81_0_3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Nhận định nhanh về chỉ số DFD retention của Ops GR</a:t>
            </a:r>
            <a:endParaRPr/>
          </a:p>
          <a:p>
            <a:pPr indent="0" lvl="0" marL="0" rtl="0" algn="l">
              <a:spcBef>
                <a:spcPts val="0"/>
              </a:spcBef>
              <a:spcAft>
                <a:spcPts val="0"/>
              </a:spcAft>
              <a:buNone/>
            </a:pPr>
            <a:r>
              <a:rPr lang="en"/>
              <a:t>Ngoài DFD retention, team đang thấy chỉ số nào được cải thiện rõ rệt thì có thể đưa vào phần highlight này</a:t>
            </a:r>
            <a:endParaRPr/>
          </a:p>
          <a:p>
            <a:pPr indent="0" lvl="0" marL="0" rtl="0" algn="l">
              <a:spcBef>
                <a:spcPts val="0"/>
              </a:spcBef>
              <a:spcAft>
                <a:spcPts val="0"/>
              </a:spcAft>
              <a:buNone/>
            </a:pPr>
            <a:r>
              <a:t/>
            </a:r>
            <a:endParaRPr/>
          </a:p>
        </p:txBody>
      </p:sp>
      <p:sp>
        <p:nvSpPr>
          <p:cNvPr id="90" name="Google Shape;90;g409bf483c81_0_3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409bf483c81_0_4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00" name="Google Shape;100;g409bf483c81_0_4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01" name="Google Shape;101;g409bf483c81_0_4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409bf483c81_0_51: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09" name="Google Shape;109;g409bf483c81_0_5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10" name="Google Shape;110;g409bf483c81_0_5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09bf483c81_0_6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27" name="Google Shape;127;g409bf483c81_0_6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Card: </a:t>
            </a:r>
            <a:endParaRPr/>
          </a:p>
        </p:txBody>
      </p:sp>
      <p:sp>
        <p:nvSpPr>
          <p:cNvPr id="128" name="Google Shape;128;g409bf483c81_0_6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409bf483c81_0_10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62" name="Google Shape;162;g409bf483c81_0_10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63" name="Google Shape;163;g409bf483c81_0_10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409bf483c81_0_11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80" name="Google Shape;180;g409bf483c81_0_11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81" name="Google Shape;181;g409bf483c81_0_11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409bf483c81_0_13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95" name="Google Shape;195;g409bf483c81_0_13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96" name="Google Shape;196;g409bf483c81_0_13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409bf483c81_0_14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05" name="Google Shape;205;g409bf483c81_0_14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206" name="Google Shape;206;g409bf483c81_0_14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409bf483c81_0_17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38" name="Google Shape;238;g409bf483c81_0_17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239" name="Google Shape;239;g409bf483c81_0_17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409bf483c81_0_18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49" name="Google Shape;249;g409bf483c81_0_18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250" name="Google Shape;250;g409bf483c81_0_18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409bf483c81_0_19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63" name="Google Shape;263;g409bf483c81_0_197: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264" name="Google Shape;264;g409bf483c81_0_197: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409bf483c81_0_20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75" name="Google Shape;275;g409bf483c81_0_20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276" name="Google Shape;276;g409bf483c81_0_20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409bf483c81_0_25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20" name="Google Shape;320;g409bf483c81_0_25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321" name="Google Shape;321;g409bf483c81_0_25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409bf483c81_0_26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32" name="Google Shape;332;g409bf483c81_0_26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333" name="Google Shape;333;g409bf483c81_0_26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409bf483c81_0_30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g409bf483c81_0_304:notes"/>
          <p:cNvSpPr txBox="1"/>
          <p:nvPr>
            <p:ph idx="1" type="body"/>
          </p:nvPr>
        </p:nvSpPr>
        <p:spPr>
          <a:xfrm>
            <a:off x="0" y="0"/>
            <a:ext cx="3000000" cy="30000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lang="en" sz="1400"/>
              <a:t>Slide đánh giá — ô "Đánh giá" ở đầu trang và phần lớn bảng còn trống để điền.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Ô Đánh giá: 2 câu về tình hình vận hành chung của Minihub + EV, có điểm gì nổi bật. Bấm vào vùng cam là gõ được.</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Hai dòng đã có nội dung:</a:t>
            </a:r>
            <a:endParaRPr sz="1400"/>
          </a:p>
          <a:p>
            <a:pPr indent="0" lvl="0" marL="0" rtl="0" algn="l">
              <a:spcBef>
                <a:spcPts val="0"/>
              </a:spcBef>
              <a:spcAft>
                <a:spcPts val="0"/>
              </a:spcAft>
              <a:buNone/>
            </a:pPr>
            <a:r>
              <a:rPr lang="en" sz="1400"/>
              <a:t>- Triển khai chế tài Hub: mục tiêu tỉ lệ vi phạm dưới 20% và giữ capacity Hub theo tiến độ. Thực tế hiện còn pilot, 14/9 mới chính thức áp dụng. Lesson learned: tỉ lệ vi phạm cao và chuyển dịch nhanh từ L1 lên L4 — tức là mức độ vi phạm leo thang nhanh chứ không dừng ở cảnh cáo.</a:t>
            </a:r>
            <a:endParaRPr sz="1400"/>
          </a:p>
          <a:p>
            <a:pPr indent="0" lvl="0" marL="0" rtl="0" algn="l">
              <a:spcBef>
                <a:spcPts val="0"/>
              </a:spcBef>
              <a:spcAft>
                <a:spcPts val="0"/>
              </a:spcAft>
              <a:buNone/>
            </a:pPr>
            <a:r>
              <a:rPr lang="en" sz="1400"/>
              <a:t>- Convert core Tia Chớp sang Hub: convert được 48%, tức 32 trên 68 TX, ngay trong tuần đầu; đồng thời giữ được performance KA và tăng coverage KA MiniHub. Lesson learned quan trọng: Minizone chưa đủ phủ rộng trước khi Tia Chớp hoạt động ở Q2 nên TX chọn hoạt động Mass — cần theo dõi tiếp phía Project cho việc mở rộng Minizone ở các khu vực còn trống. Mặt được là tối ưu thời gian quản lý đội nhóm của DM.</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Bốn dòng còn trống cần điền: Cityzone (thuộc Minihub), và ba dòng EV là Đua top EV, Policy Old retention, Call EV churn/return.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Bảng là bảng PowerPoint gốc: bấm vào ô là gõ được, Tab để sang ô kế tiếp. Ô nhiều ý thì mỗi ý một dòng, gõ Enter để xuống dòng.</a:t>
            </a:r>
            <a:endParaRPr sz="1400"/>
          </a:p>
          <a:p>
            <a:pPr indent="0" lvl="0" marL="0" rtl="0" algn="l">
              <a:spcBef>
                <a:spcPts val="0"/>
              </a:spcBef>
              <a:spcAft>
                <a:spcPts val="0"/>
              </a:spcAft>
              <a:buNone/>
            </a:pPr>
            <a:r>
              <a:t/>
            </a:r>
            <a:endParaRPr sz="1400"/>
          </a:p>
        </p:txBody>
      </p:sp>
      <p:sp>
        <p:nvSpPr>
          <p:cNvPr id="375" name="Google Shape;375;g409bf483c81_0_304:notes"/>
          <p:cNvSpPr txBox="1"/>
          <p:nvPr>
            <p:ph idx="12" type="sldNum"/>
          </p:nvPr>
        </p:nvSpPr>
        <p:spPr>
          <a:xfrm>
            <a:off x="0" y="0"/>
            <a:ext cx="3000000" cy="3000000"/>
          </a:xfrm>
          <a:prstGeom prst="rect">
            <a:avLst/>
          </a:prstGeom>
          <a:noFill/>
          <a:ln>
            <a:noFill/>
          </a:ln>
        </p:spPr>
        <p:txBody>
          <a:bodyPr anchorCtr="0" anchor="ctr" bIns="93125" lIns="93125" spcFirstLastPara="1" rIns="93125" wrap="square" tIns="931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409bf483c81_0_31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g409bf483c81_0_315:notes"/>
          <p:cNvSpPr txBox="1"/>
          <p:nvPr>
            <p:ph idx="1" type="body"/>
          </p:nvPr>
        </p:nvSpPr>
        <p:spPr>
          <a:xfrm>
            <a:off x="0" y="0"/>
            <a:ext cx="3000000" cy="30000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lang="en" sz="1100"/>
              <a:t>Số liệu active ở slide này theo định nghĩa mới "SUM of active" (bản cập nhật file nguồn 07/09/2026 10:53), khác với bản trước.</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Câu chuyện chính không phải "HAN giảm" mà là "HAN gãy đột ngột". Suốt T7 đường HAN đi ngang trong khoảng hẹp 249–261. Sang T8 mới rơi liên tục ba tuần cuối: 251, rồi 222, rồi 209, rồi 203. Từ đỉnh 27/07 (261) xuống 24/08 (203) là −22.2%; riêng trong T8 mất −19.1%. Hình dạng này nói rằng có một sự kiện hoặc thay đổi rơi vào đầu T8, không phải xu hướng trượt dần — nên hướng điều tra là "chuyện gì xảy ra quanh tuần 10/08", không phải "vì sao supply yếu dần".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Trung bình 4 tuần: HAN giảm từ 256.0 xuống 221.3, tức −13.6%. Nhưng con số này coi hai ô trống của Z2-BD bằng 0. Nếu bù bằng mức trung bình các tuần có số thì HAN chỉ giảm −12.0%. Dòng like-for-like loại hẳn Z2-BD và Z578 khỏi cả hai kỳ, cho −15.8% — đây là con số sạch nhất. Nói với người nghe là mức giảm thật nằm trong khoảng −12% đến −15.8%, đừng chốt một con số.</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HCM tăng 9.0%, từ 348.5 lên 380.0, và tăng rộng khắp: 5 trên 6 zone đều tăng, dẫn đầu là ZONE_6 +20.5%. Đỉnh ở tuần 17/08 (392) rồi hạ nhẹ về 387 ở 24/08 — chưa đủ để kết luận, cần bổ sung tuần 31/08.</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Lưu ý bắt buộc nếu bị hỏi: active drivers/tuần ở đây là tổng theo zone nên có double-count tài xế chạy nhiều zone (HAN T8: tổng theo zone 366 so với 353 ở bảng retention cấp thành phố). Dùng để đọc xu hướng, không phải headcount tuyệt đối.</a:t>
            </a:r>
            <a:endParaRPr sz="1100"/>
          </a:p>
          <a:p>
            <a:pPr indent="0" lvl="0" marL="0" rtl="0" algn="l">
              <a:spcBef>
                <a:spcPts val="0"/>
              </a:spcBef>
              <a:spcAft>
                <a:spcPts val="0"/>
              </a:spcAft>
              <a:buNone/>
            </a:pPr>
            <a:r>
              <a:t/>
            </a:r>
            <a:endParaRPr sz="1100"/>
          </a:p>
        </p:txBody>
      </p:sp>
      <p:sp>
        <p:nvSpPr>
          <p:cNvPr id="387" name="Google Shape;387;g409bf483c81_0_315:notes"/>
          <p:cNvSpPr txBox="1"/>
          <p:nvPr>
            <p:ph idx="12" type="sldNum"/>
          </p:nvPr>
        </p:nvSpPr>
        <p:spPr>
          <a:xfrm>
            <a:off x="0" y="0"/>
            <a:ext cx="3000000" cy="3000000"/>
          </a:xfrm>
          <a:prstGeom prst="rect">
            <a:avLst/>
          </a:prstGeom>
          <a:noFill/>
          <a:ln>
            <a:noFill/>
          </a:ln>
        </p:spPr>
        <p:txBody>
          <a:bodyPr anchorCtr="0" anchor="ctr" bIns="93125" lIns="93125" spcFirstLastPara="1" rIns="93125" wrap="square" tIns="931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409bf483c81_0_42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g409bf483c81_0_425:notes"/>
          <p:cNvSpPr txBox="1"/>
          <p:nvPr>
            <p:ph idx="1" type="body"/>
          </p:nvPr>
        </p:nvSpPr>
        <p:spPr>
          <a:xfrm>
            <a:off x="0" y="0"/>
            <a:ext cx="3000000" cy="30000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lang="en" sz="700"/>
              <a:t>Số coverage ở slide này lấy từ bảng HAN / SGN theo tuần (bản cập nhật 07/09/2026), KHÔNG phải bảng "coverage TB/zone" trong file md. Hai nguồn cho hai thang số khác hẳn nhau — bảng cũ để HAN ở 27–33%, bảng mới để HAN ở 13–16%. Phải thống nhất một nguồn trước khi đưa ra ngoài.</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Câu chuyện đảo ngược so với bản trước. Trước đây HAN cao hơn HCM và hai đường đang hội tụ. Theo số mới, HAN thấp hơn SGN suốt cả 8 tuần và khoảng cách đang nới rộng.</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HAN: trung bình 4 tuần giảm từ 15.49% xuống 14.38%, mất 1.12 điểm phần trăm, tương đương −7.2%. Theo tuần thì đỉnh 16.00% ở 20/07 rồi giảm liên tục trong T8: 15.33 → 14.44 → 14.37 → 13.36. Riêng trong T8 mất 12.8%, và 13.36% ở tuần 24/08 là đáy mới của cả kỳ.</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SGN: tăng từ 24.18% lên 25.37%, cộng 1.20 pp, tức +5.0%. Đối chiếu với slide 1: active SGN tăng 9.0% nhưng coverage chỉ tăng 5.0% — vẫn đúng nhận định "thêm người không thành thêm độ phủ theo tỷ lệ", chỉ là mức độ nhẹ hơn.</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Điểm mạnh nhất để nói: khoảng cách SGN − HAN nới từ 6.95 pp (06/07) lên 11.81 pp (24/08). Coverage của HAN giờ chỉ còn khoảng 53% mức của SGN. Đây không còn là chuyện HAN mất lợi thế, mà là HAN đang tụt lại xa hơn.</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Bảng zone phía dưới vẫn giữ nguyên số từ file md (Z5-TX 33.83% → 22.25%, v.v.) vì file md chưa cập nhật khối này. Lưu ý khi bị hỏi: các số zone đó nằm trên thang khác, không cộng/trung bình ra được con số 14.38% ở trên. Chú ý cột Active của Z2-BD: từ 6 xuống ô trống — đây là cờ đỏ dữ liệu ở slide 3.</a:t>
            </a:r>
            <a:endParaRPr sz="700"/>
          </a:p>
          <a:p>
            <a:pPr indent="0" lvl="0" marL="0" rtl="0" algn="l">
              <a:spcBef>
                <a:spcPts val="0"/>
              </a:spcBef>
              <a:spcAft>
                <a:spcPts val="0"/>
              </a:spcAft>
              <a:buNone/>
            </a:pPr>
            <a:r>
              <a:t/>
            </a:r>
            <a:endParaRPr sz="700"/>
          </a:p>
        </p:txBody>
      </p:sp>
      <p:sp>
        <p:nvSpPr>
          <p:cNvPr id="498" name="Google Shape;498;g409bf483c81_0_425:notes"/>
          <p:cNvSpPr txBox="1"/>
          <p:nvPr>
            <p:ph idx="12" type="sldNum"/>
          </p:nvPr>
        </p:nvSpPr>
        <p:spPr>
          <a:xfrm>
            <a:off x="0" y="0"/>
            <a:ext cx="3000000" cy="3000000"/>
          </a:xfrm>
          <a:prstGeom prst="rect">
            <a:avLst/>
          </a:prstGeom>
          <a:noFill/>
          <a:ln>
            <a:noFill/>
          </a:ln>
        </p:spPr>
        <p:txBody>
          <a:bodyPr anchorCtr="0" anchor="ctr" bIns="93125" lIns="93125" spcFirstLastPara="1" rIns="93125" wrap="square" tIns="931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409bf483c81_0_57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g409bf483c81_0_578:notes"/>
          <p:cNvSpPr txBox="1"/>
          <p:nvPr>
            <p:ph idx="1" type="body"/>
          </p:nvPr>
        </p:nvSpPr>
        <p:spPr>
          <a:xfrm>
            <a:off x="0" y="0"/>
            <a:ext cx="3000000" cy="30000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t/>
            </a:r>
            <a:endParaRPr sz="500"/>
          </a:p>
        </p:txBody>
      </p:sp>
      <p:sp>
        <p:nvSpPr>
          <p:cNvPr id="652" name="Google Shape;652;g409bf483c81_0_578:notes"/>
          <p:cNvSpPr txBox="1"/>
          <p:nvPr>
            <p:ph idx="12" type="sldNum"/>
          </p:nvPr>
        </p:nvSpPr>
        <p:spPr>
          <a:xfrm>
            <a:off x="0" y="0"/>
            <a:ext cx="3000000" cy="3000000"/>
          </a:xfrm>
          <a:prstGeom prst="rect">
            <a:avLst/>
          </a:prstGeom>
          <a:noFill/>
          <a:ln>
            <a:noFill/>
          </a:ln>
        </p:spPr>
        <p:txBody>
          <a:bodyPr anchorCtr="0" anchor="ctr" bIns="93125" lIns="93125" spcFirstLastPara="1" rIns="93125" wrap="square" tIns="931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409bf483c81_0_74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1" name="Google Shape;821;g409bf483c81_0_747:notes"/>
          <p:cNvSpPr txBox="1"/>
          <p:nvPr>
            <p:ph idx="1" type="body"/>
          </p:nvPr>
        </p:nvSpPr>
        <p:spPr>
          <a:xfrm>
            <a:off x="0" y="0"/>
            <a:ext cx="3000000" cy="30000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t/>
            </a:r>
            <a:endParaRPr/>
          </a:p>
        </p:txBody>
      </p:sp>
      <p:sp>
        <p:nvSpPr>
          <p:cNvPr id="822" name="Google Shape;822;g409bf483c81_0_747:notes"/>
          <p:cNvSpPr txBox="1"/>
          <p:nvPr>
            <p:ph idx="12" type="sldNum"/>
          </p:nvPr>
        </p:nvSpPr>
        <p:spPr>
          <a:xfrm>
            <a:off x="0" y="0"/>
            <a:ext cx="3000000" cy="3000000"/>
          </a:xfrm>
          <a:prstGeom prst="rect">
            <a:avLst/>
          </a:prstGeom>
          <a:noFill/>
          <a:ln>
            <a:noFill/>
          </a:ln>
        </p:spPr>
        <p:txBody>
          <a:bodyPr anchorCtr="0" anchor="ctr" bIns="93125" lIns="93125" spcFirstLastPara="1" rIns="93125" wrap="square" tIns="931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409bf483c81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409bf483c81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409bf483c81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409bf483c81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409bf483c81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409bf483c81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409bf483c81_0_1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409bf483c81_0_1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409bf483c81_0_1236:notes"/>
          <p:cNvSpPr txBox="1"/>
          <p:nvPr>
            <p:ph idx="1" type="body"/>
          </p:nvPr>
        </p:nvSpPr>
        <p:spPr>
          <a:xfrm>
            <a:off x="685800" y="4343400"/>
            <a:ext cx="5486400" cy="4114800"/>
          </a:xfrm>
          <a:prstGeom prst="rect">
            <a:avLst/>
          </a:prstGeom>
        </p:spPr>
        <p:txBody>
          <a:bodyPr anchorCtr="0" anchor="t" bIns="93125" lIns="93125" spcFirstLastPara="1" rIns="93125" wrap="square" tIns="93125">
            <a:noAutofit/>
          </a:bodyPr>
          <a:lstStyle/>
          <a:p>
            <a:pPr indent="0" lvl="0" marL="0" rtl="0" algn="l">
              <a:spcBef>
                <a:spcPts val="0"/>
              </a:spcBef>
              <a:spcAft>
                <a:spcPts val="0"/>
              </a:spcAft>
              <a:buNone/>
            </a:pPr>
            <a:r>
              <a:t/>
            </a:r>
            <a:endParaRPr/>
          </a:p>
        </p:txBody>
      </p:sp>
      <p:sp>
        <p:nvSpPr>
          <p:cNvPr id="1315" name="Google Shape;1315;g409bf483c81_0_1236:notes"/>
          <p:cNvSpPr/>
          <p:nvPr>
            <p:ph idx="2" type="sldImg"/>
          </p:nvPr>
        </p:nvSpPr>
        <p:spPr>
          <a:xfrm>
            <a:off x="857419" y="685800"/>
            <a:ext cx="342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409bf483c81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g409bf483c81_0_140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g409bf483c81_0_1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HƠn 100 lead của aizen đang pending do đang đợi xe </a:t>
            </a:r>
            <a:endParaRPr/>
          </a:p>
        </p:txBody>
      </p:sp>
      <p:sp>
        <p:nvSpPr>
          <p:cNvPr id="1587" name="Google Shape;1587;g409bf483c81_0_150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409bf483c81_0_1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g409bf483c81_0_1618: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409bf483c81_0_171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6" name="Google Shape;1796;g409bf483c81_0_1713:notes"/>
          <p:cNvSpPr txBox="1"/>
          <p:nvPr>
            <p:ph idx="1" type="body"/>
          </p:nvPr>
        </p:nvSpPr>
        <p:spPr>
          <a:xfrm>
            <a:off x="0" y="0"/>
            <a:ext cx="3000000" cy="30000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lang="en" sz="1400"/>
              <a:t>Slide kế hoạch — phần lớn ô còn trống để điền trực tiếp trong PowerPoint.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Bốn OKR tuần: EV active 50%, Scale Minihub 80%, Online rate 95%, Cityzone 65%. Hai chỉ số cần nói khi trình bày là Online rate gần chạm đích (95%) và EV active mới đi được nửa đường (50%) — đó là khoảng cách lớn nhất so với kế hoạch.</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Bảng kế hoạch chia ba topic: Minihub (5 dòng), Cityzone (2 dòng), EV old convert (1 dòng). Các mốc đã có: chế tài Hub 14/9, Lifecycle Communication 16/9, pilot cityzone SGN 10/9, follow-up cityzone HAN 07/9.</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Những ô còn trống cần bổ sung trước khi trình:</a:t>
            </a:r>
            <a:endParaRPr sz="1400"/>
          </a:p>
          <a:p>
            <a:pPr indent="0" lvl="0" marL="0" rtl="0" algn="l">
              <a:spcBef>
                <a:spcPts val="0"/>
              </a:spcBef>
              <a:spcAft>
                <a:spcPts val="0"/>
              </a:spcAft>
              <a:buNone/>
            </a:pPr>
            <a:r>
              <a:rPr lang="en" sz="1400"/>
              <a:t>- Minihub "Tăng active Hub": mục tiêu và timeline</a:t>
            </a:r>
            <a:endParaRPr sz="1400"/>
          </a:p>
          <a:p>
            <a:pPr indent="0" lvl="0" marL="0" rtl="0" algn="l">
              <a:spcBef>
                <a:spcPts val="0"/>
              </a:spcBef>
              <a:spcAft>
                <a:spcPts val="0"/>
              </a:spcAft>
              <a:buNone/>
            </a:pPr>
            <a:r>
              <a:rPr lang="en" sz="1400"/>
              <a:t>- Minihub "Retention": mục tiêu, timeline, PIC</a:t>
            </a:r>
            <a:endParaRPr sz="1400"/>
          </a:p>
          <a:p>
            <a:pPr indent="0" lvl="0" marL="0" rtl="0" algn="l">
              <a:spcBef>
                <a:spcPts val="0"/>
              </a:spcBef>
              <a:spcAft>
                <a:spcPts val="0"/>
              </a:spcAft>
              <a:buNone/>
            </a:pPr>
            <a:r>
              <a:rPr lang="en" sz="1400"/>
              <a:t>- Dòng "Online đạt 90% ở cả 2 city": chưa có tên task và timeline</a:t>
            </a:r>
            <a:endParaRPr sz="1400"/>
          </a:p>
          <a:p>
            <a:pPr indent="0" lvl="0" marL="0" rtl="0" algn="l">
              <a:spcBef>
                <a:spcPts val="0"/>
              </a:spcBef>
              <a:spcAft>
                <a:spcPts val="0"/>
              </a:spcAft>
              <a:buNone/>
            </a:pPr>
            <a:r>
              <a:rPr lang="en" sz="1400"/>
              <a:t>- EV old convert: task, timeline, PIC — hiện chỉ có mục tiêu "Chuyển đổi"</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Bảng là bảng PowerPoint gốc: bấm vào ô là gõ được, Tab để sang ô kế tiếp, Enter trong ô để xuống dòng. Muốn thêm dòng thì đặt con trỏ ở dòng cuối rồi Tab.</a:t>
            </a:r>
            <a:endParaRPr sz="1400"/>
          </a:p>
          <a:p>
            <a:pPr indent="0" lvl="0" marL="0" rtl="0" algn="l">
              <a:spcBef>
                <a:spcPts val="0"/>
              </a:spcBef>
              <a:spcAft>
                <a:spcPts val="0"/>
              </a:spcAft>
              <a:buNone/>
            </a:pPr>
            <a:r>
              <a:t/>
            </a:r>
            <a:endParaRPr sz="1400"/>
          </a:p>
        </p:txBody>
      </p:sp>
      <p:sp>
        <p:nvSpPr>
          <p:cNvPr id="1797" name="Google Shape;1797;g409bf483c81_0_1713:notes"/>
          <p:cNvSpPr txBox="1"/>
          <p:nvPr>
            <p:ph idx="12" type="sldNum"/>
          </p:nvPr>
        </p:nvSpPr>
        <p:spPr>
          <a:xfrm>
            <a:off x="0" y="0"/>
            <a:ext cx="3000000" cy="3000000"/>
          </a:xfrm>
          <a:prstGeom prst="rect">
            <a:avLst/>
          </a:prstGeom>
          <a:noFill/>
          <a:ln>
            <a:noFill/>
          </a:ln>
        </p:spPr>
        <p:txBody>
          <a:bodyPr anchorCtr="0" anchor="ctr" bIns="93125" lIns="93125" spcFirstLastPara="1" rIns="93125" wrap="square" tIns="931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g409bf483c81_0_174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828" name="Google Shape;1828;g409bf483c81_0_174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829" name="Google Shape;1829;g409bf483c81_0_174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409bf483c81_0_1754:notes"/>
          <p:cNvSpPr/>
          <p:nvPr>
            <p:ph idx="2" type="sldImg"/>
          </p:nvPr>
        </p:nvSpPr>
        <p:spPr>
          <a:xfrm>
            <a:off x="685800" y="857250"/>
            <a:ext cx="5486400" cy="2314800"/>
          </a:xfrm>
          <a:custGeom>
            <a:rect b="b" l="l" r="r" t="t"/>
            <a:pathLst>
              <a:path extrusionOk="0" h="120000" w="120000">
                <a:moveTo>
                  <a:pt x="0" y="0"/>
                </a:moveTo>
                <a:lnTo>
                  <a:pt x="120000" y="0"/>
                </a:lnTo>
                <a:lnTo>
                  <a:pt x="120000" y="120000"/>
                </a:lnTo>
                <a:lnTo>
                  <a:pt x="0" y="120000"/>
                </a:lnTo>
                <a:close/>
              </a:path>
            </a:pathLst>
          </a:custGeom>
          <a:noFill/>
          <a:ln cap="flat" cmpd="sng" w="11650">
            <a:solidFill>
              <a:srgbClr val="000000"/>
            </a:solidFill>
            <a:prstDash val="solid"/>
            <a:round/>
            <a:headEnd len="sm" w="sm" type="none"/>
            <a:tailEnd len="sm" w="sm" type="none"/>
          </a:ln>
        </p:spPr>
      </p:sp>
      <p:sp>
        <p:nvSpPr>
          <p:cNvPr id="1839" name="Google Shape;1839;g409bf483c81_0_1754:notes"/>
          <p:cNvSpPr txBox="1"/>
          <p:nvPr>
            <p:ph idx="1" type="body"/>
          </p:nvPr>
        </p:nvSpPr>
        <p:spPr>
          <a:xfrm>
            <a:off x="685800" y="3300413"/>
            <a:ext cx="5486400" cy="2700600"/>
          </a:xfrm>
          <a:prstGeom prst="rect">
            <a:avLst/>
          </a:prstGeom>
          <a:noFill/>
          <a:ln>
            <a:noFill/>
          </a:ln>
        </p:spPr>
        <p:txBody>
          <a:bodyPr anchorCtr="0" anchor="t" bIns="41900" lIns="83825" spcFirstLastPara="1" rIns="83825" wrap="square" tIns="41900">
            <a:noAutofit/>
          </a:bodyPr>
          <a:lstStyle/>
          <a:p>
            <a:pPr indent="0" lvl="0" marL="0" rtl="0" algn="l">
              <a:spcBef>
                <a:spcPts val="0"/>
              </a:spcBef>
              <a:spcAft>
                <a:spcPts val="0"/>
              </a:spcAft>
              <a:buNone/>
            </a:pPr>
            <a:r>
              <a:t/>
            </a:r>
            <a:endParaRPr/>
          </a:p>
        </p:txBody>
      </p:sp>
      <p:sp>
        <p:nvSpPr>
          <p:cNvPr id="1840" name="Google Shape;1840;g409bf483c81_0_1754:notes"/>
          <p:cNvSpPr txBox="1"/>
          <p:nvPr>
            <p:ph idx="12" type="sldNum"/>
          </p:nvPr>
        </p:nvSpPr>
        <p:spPr>
          <a:xfrm>
            <a:off x="3884613" y="6513910"/>
            <a:ext cx="2971800" cy="344100"/>
          </a:xfrm>
          <a:prstGeom prst="rect">
            <a:avLst/>
          </a:prstGeom>
          <a:noFill/>
          <a:ln>
            <a:noFill/>
          </a:ln>
        </p:spPr>
        <p:txBody>
          <a:bodyPr anchorCtr="0" anchor="b" bIns="41900" lIns="83825" spcFirstLastPara="1" rIns="83825" wrap="square" tIns="4190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g409bf483c81_0_1768:notes"/>
          <p:cNvSpPr/>
          <p:nvPr>
            <p:ph idx="2" type="sldImg"/>
          </p:nvPr>
        </p:nvSpPr>
        <p:spPr>
          <a:xfrm>
            <a:off x="685800" y="857250"/>
            <a:ext cx="5486400" cy="2314800"/>
          </a:xfrm>
          <a:custGeom>
            <a:rect b="b" l="l" r="r" t="t"/>
            <a:pathLst>
              <a:path extrusionOk="0" h="120000" w="120000">
                <a:moveTo>
                  <a:pt x="0" y="0"/>
                </a:moveTo>
                <a:lnTo>
                  <a:pt x="120000" y="0"/>
                </a:lnTo>
                <a:lnTo>
                  <a:pt x="120000" y="120000"/>
                </a:lnTo>
                <a:lnTo>
                  <a:pt x="0" y="120000"/>
                </a:lnTo>
                <a:close/>
              </a:path>
            </a:pathLst>
          </a:custGeom>
          <a:noFill/>
          <a:ln cap="flat" cmpd="sng" w="11650">
            <a:solidFill>
              <a:srgbClr val="000000"/>
            </a:solidFill>
            <a:prstDash val="solid"/>
            <a:round/>
            <a:headEnd len="sm" w="sm" type="none"/>
            <a:tailEnd len="sm" w="sm" type="none"/>
          </a:ln>
        </p:spPr>
      </p:sp>
      <p:sp>
        <p:nvSpPr>
          <p:cNvPr id="1854" name="Google Shape;1854;g409bf483c81_0_1768:notes"/>
          <p:cNvSpPr txBox="1"/>
          <p:nvPr>
            <p:ph idx="1" type="body"/>
          </p:nvPr>
        </p:nvSpPr>
        <p:spPr>
          <a:xfrm>
            <a:off x="685800" y="3300413"/>
            <a:ext cx="5486400" cy="2700600"/>
          </a:xfrm>
          <a:prstGeom prst="rect">
            <a:avLst/>
          </a:prstGeom>
          <a:noFill/>
          <a:ln>
            <a:noFill/>
          </a:ln>
        </p:spPr>
        <p:txBody>
          <a:bodyPr anchorCtr="0" anchor="t" bIns="41900" lIns="83825" spcFirstLastPara="1" rIns="83825" wrap="square" tIns="41900">
            <a:noAutofit/>
          </a:bodyPr>
          <a:lstStyle/>
          <a:p>
            <a:pPr indent="0" lvl="0" marL="0" rtl="0" algn="l">
              <a:spcBef>
                <a:spcPts val="0"/>
              </a:spcBef>
              <a:spcAft>
                <a:spcPts val="0"/>
              </a:spcAft>
              <a:buNone/>
            </a:pPr>
            <a:r>
              <a:t/>
            </a:r>
            <a:endParaRPr/>
          </a:p>
        </p:txBody>
      </p:sp>
      <p:sp>
        <p:nvSpPr>
          <p:cNvPr id="1855" name="Google Shape;1855;g409bf483c81_0_1768:notes"/>
          <p:cNvSpPr txBox="1"/>
          <p:nvPr>
            <p:ph idx="12" type="sldNum"/>
          </p:nvPr>
        </p:nvSpPr>
        <p:spPr>
          <a:xfrm>
            <a:off x="3884613" y="6513910"/>
            <a:ext cx="2971800" cy="344100"/>
          </a:xfrm>
          <a:prstGeom prst="rect">
            <a:avLst/>
          </a:prstGeom>
          <a:noFill/>
          <a:ln>
            <a:noFill/>
          </a:ln>
        </p:spPr>
        <p:txBody>
          <a:bodyPr anchorCtr="0" anchor="b" bIns="41900" lIns="83825" spcFirstLastPara="1" rIns="83825" wrap="square" tIns="4190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409bf483c81_0_178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950">
            <a:solidFill>
              <a:srgbClr val="000000"/>
            </a:solidFill>
            <a:prstDash val="solid"/>
            <a:round/>
            <a:headEnd len="sm" w="sm" type="none"/>
            <a:tailEnd len="sm" w="sm" type="none"/>
          </a:ln>
        </p:spPr>
      </p:sp>
      <p:sp>
        <p:nvSpPr>
          <p:cNvPr id="1869" name="Google Shape;1869;g409bf483c81_0_1782:notes"/>
          <p:cNvSpPr txBox="1"/>
          <p:nvPr>
            <p:ph idx="1" type="body"/>
          </p:nvPr>
        </p:nvSpPr>
        <p:spPr>
          <a:xfrm>
            <a:off x="685800" y="3300413"/>
            <a:ext cx="5486400" cy="27006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t/>
            </a:r>
            <a:endParaRPr/>
          </a:p>
        </p:txBody>
      </p:sp>
      <p:sp>
        <p:nvSpPr>
          <p:cNvPr id="1870" name="Google Shape;1870;g409bf483c81_0_1782:notes"/>
          <p:cNvSpPr txBox="1"/>
          <p:nvPr>
            <p:ph idx="12" type="sldNum"/>
          </p:nvPr>
        </p:nvSpPr>
        <p:spPr>
          <a:xfrm>
            <a:off x="3884613" y="6513910"/>
            <a:ext cx="2971800" cy="344100"/>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g409bf483c81_0_18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950">
            <a:solidFill>
              <a:srgbClr val="000000"/>
            </a:solidFill>
            <a:prstDash val="solid"/>
            <a:round/>
            <a:headEnd len="sm" w="sm" type="none"/>
            <a:tailEnd len="sm" w="sm" type="none"/>
          </a:ln>
        </p:spPr>
      </p:sp>
      <p:sp>
        <p:nvSpPr>
          <p:cNvPr id="1901" name="Google Shape;1901;g409bf483c81_0_1813:notes"/>
          <p:cNvSpPr txBox="1"/>
          <p:nvPr>
            <p:ph idx="1" type="body"/>
          </p:nvPr>
        </p:nvSpPr>
        <p:spPr>
          <a:xfrm>
            <a:off x="685800" y="3300413"/>
            <a:ext cx="5486400" cy="27006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t/>
            </a:r>
            <a:endParaRPr/>
          </a:p>
        </p:txBody>
      </p:sp>
      <p:sp>
        <p:nvSpPr>
          <p:cNvPr id="1902" name="Google Shape;1902;g409bf483c81_0_1813:notes"/>
          <p:cNvSpPr txBox="1"/>
          <p:nvPr>
            <p:ph idx="12" type="sldNum"/>
          </p:nvPr>
        </p:nvSpPr>
        <p:spPr>
          <a:xfrm>
            <a:off x="3884613" y="6513910"/>
            <a:ext cx="2971800" cy="344100"/>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g409bf483c81_0_184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950">
            <a:solidFill>
              <a:srgbClr val="000000"/>
            </a:solidFill>
            <a:prstDash val="solid"/>
            <a:round/>
            <a:headEnd len="sm" w="sm" type="none"/>
            <a:tailEnd len="sm" w="sm" type="none"/>
          </a:ln>
        </p:spPr>
      </p:sp>
      <p:sp>
        <p:nvSpPr>
          <p:cNvPr id="1932" name="Google Shape;1932;g409bf483c81_0_1843:notes"/>
          <p:cNvSpPr txBox="1"/>
          <p:nvPr>
            <p:ph idx="1" type="body"/>
          </p:nvPr>
        </p:nvSpPr>
        <p:spPr>
          <a:xfrm>
            <a:off x="685800" y="3300413"/>
            <a:ext cx="5486400" cy="27006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t/>
            </a:r>
            <a:endParaRPr/>
          </a:p>
        </p:txBody>
      </p:sp>
      <p:sp>
        <p:nvSpPr>
          <p:cNvPr id="1933" name="Google Shape;1933;g409bf483c81_0_1843:notes"/>
          <p:cNvSpPr txBox="1"/>
          <p:nvPr>
            <p:ph idx="12" type="sldNum"/>
          </p:nvPr>
        </p:nvSpPr>
        <p:spPr>
          <a:xfrm>
            <a:off x="3884613" y="6513910"/>
            <a:ext cx="2971800" cy="344100"/>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6" name="Shape 1996"/>
        <p:cNvGrpSpPr/>
        <p:nvPr/>
      </p:nvGrpSpPr>
      <p:grpSpPr>
        <a:xfrm>
          <a:off x="0" y="0"/>
          <a:ext cx="0" cy="0"/>
          <a:chOff x="0" y="0"/>
          <a:chExt cx="0" cy="0"/>
        </a:xfrm>
      </p:grpSpPr>
      <p:sp>
        <p:nvSpPr>
          <p:cNvPr id="1997" name="Google Shape;1997;g409bf483c81_0_190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998" name="Google Shape;1998;g409bf483c81_0_190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999" name="Google Shape;1999;g409bf483c81_0_190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greensm.com/vn-vi/news/chinh-sach-dam-bao-thu-nhap-cho-green-bike-platform" TargetMode="External"/><Relationship Id="rId4" Type="http://schemas.openxmlformats.org/officeDocument/2006/relationships/hyperlink" Target="https://www.grab.com/vn/en/blog/driver/doitacmoi-2banh-2026/" TargetMode="External"/><Relationship Id="rId5" Type="http://schemas.openxmlformats.org/officeDocument/2006/relationships/hyperlink" Target="https://be.com.vn/be-rider-blog/bebike-tong-hop-chuong-trinh-thuong-danh-cho-bac-tai-moi-2/" TargetMode="External"/><Relationship Id="rId6" Type="http://schemas.openxmlformats.org/officeDocument/2006/relationships/hyperlink" Target="https://driver.shopeefood.vn/tin-tuc/thang-09-2026-tp-hcm-ha-noi-xe-moi-ra-xe-thu-nhap-ron-ra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bi.ahamove.com/question/72806" TargetMode="External"/><Relationship Id="rId4" Type="http://schemas.openxmlformats.org/officeDocument/2006/relationships/hyperlink" Target="https://app.notion.com/p/qmpedia/Task-PT-FT-PT-FT-v-FT-PT-FT-3bb82b0d67e080078a99dffb4dddc90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hyperlink" Target="https://app.notion.com/p/MINIHUB-LEADER-SOP-3600c945650680858cc1f048b35e637e?__dm_a=1" TargetMode="External"/><Relationship Id="rId4" Type="http://schemas.openxmlformats.org/officeDocument/2006/relationships/hyperlink" Target="https://app.notion.com/p/qmpedia/Minihub-Leader-Model-Review-3be82b0d67e08005b723da598ed54aef" TargetMode="External"/><Relationship Id="rId5" Type="http://schemas.openxmlformats.org/officeDocument/2006/relationships/hyperlink" Target="https://docs.google.com/document/d/19rIMls9brUrBJUrhfTS1R3Nb9Qh3-JNXCARZTc3mTuE/edit?tab=t.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4"/>
          <p:cNvSpPr/>
          <p:nvPr/>
        </p:nvSpPr>
        <p:spPr>
          <a:xfrm>
            <a:off x="0" y="0"/>
            <a:ext cx="9144000" cy="5143500"/>
          </a:xfrm>
          <a:prstGeom prst="rect">
            <a:avLst/>
          </a:prstGeom>
          <a:gradFill>
            <a:gsLst>
              <a:gs pos="0">
                <a:srgbClr val="FFFFFF"/>
              </a:gs>
              <a:gs pos="100000">
                <a:srgbClr val="E4F2FF"/>
              </a:gs>
            </a:gsLst>
            <a:lin ang="5400012" scaled="0"/>
          </a:gra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 name="Google Shape;57;p14"/>
          <p:cNvSpPr/>
          <p:nvPr/>
        </p:nvSpPr>
        <p:spPr>
          <a:xfrm>
            <a:off x="7282362" y="-309941"/>
            <a:ext cx="2169600" cy="2169600"/>
          </a:xfrm>
          <a:prstGeom prst="ellipse">
            <a:avLst/>
          </a:prstGeom>
          <a:solidFill>
            <a:schemeClr val="accent2"/>
          </a:solidFill>
          <a:ln>
            <a:noFill/>
          </a:ln>
        </p:spPr>
        <p:txBody>
          <a:bodyPr anchorCtr="0" anchor="ctr" bIns="37200" lIns="37200" spcFirstLastPara="1" rIns="37200" wrap="square" tIns="37200">
            <a:noAutofit/>
          </a:bodyPr>
          <a:lstStyle/>
          <a:p>
            <a:pPr indent="0" lvl="0" marL="0" rtl="0" algn="l">
              <a:spcBef>
                <a:spcPts val="0"/>
              </a:spcBef>
              <a:spcAft>
                <a:spcPts val="0"/>
              </a:spcAft>
              <a:buNone/>
            </a:pPr>
            <a:r>
              <a:t/>
            </a:r>
            <a:endParaRPr sz="600"/>
          </a:p>
        </p:txBody>
      </p:sp>
      <p:sp>
        <p:nvSpPr>
          <p:cNvPr id="58" name="Google Shape;58;p14"/>
          <p:cNvSpPr/>
          <p:nvPr/>
        </p:nvSpPr>
        <p:spPr>
          <a:xfrm>
            <a:off x="6691050" y="-448625"/>
            <a:ext cx="1627200" cy="1627200"/>
          </a:xfrm>
          <a:prstGeom prst="ellipse">
            <a:avLst/>
          </a:prstGeom>
          <a:solidFill>
            <a:srgbClr val="3D85C6"/>
          </a:solidFill>
          <a:ln>
            <a:noFill/>
          </a:ln>
        </p:spPr>
        <p:txBody>
          <a:bodyPr anchorCtr="0" anchor="ctr" bIns="37200" lIns="37200" spcFirstLastPara="1" rIns="37200" wrap="square" tIns="37200">
            <a:noAutofit/>
          </a:bodyPr>
          <a:lstStyle/>
          <a:p>
            <a:pPr indent="0" lvl="0" marL="0" rtl="0" algn="l">
              <a:spcBef>
                <a:spcPts val="0"/>
              </a:spcBef>
              <a:spcAft>
                <a:spcPts val="0"/>
              </a:spcAft>
              <a:buNone/>
            </a:pPr>
            <a:r>
              <a:t/>
            </a:r>
            <a:endParaRPr sz="600">
              <a:highlight>
                <a:srgbClr val="3C78D8"/>
              </a:highlight>
            </a:endParaRPr>
          </a:p>
        </p:txBody>
      </p:sp>
      <p:sp>
        <p:nvSpPr>
          <p:cNvPr id="59" name="Google Shape;59;p14"/>
          <p:cNvSpPr/>
          <p:nvPr/>
        </p:nvSpPr>
        <p:spPr>
          <a:xfrm>
            <a:off x="651700" y="733425"/>
            <a:ext cx="4009500" cy="278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E4174"/>
              </a:buClr>
              <a:buSzPts val="1100"/>
              <a:buFont typeface="Plus Jakarta Sans"/>
              <a:buNone/>
            </a:pPr>
            <a:r>
              <a:rPr b="1" i="0" lang="en" sz="1300" u="none" cap="none" strike="noStrike">
                <a:solidFill>
                  <a:schemeClr val="dk1"/>
                </a:solidFill>
                <a:latin typeface="Times New Roman"/>
                <a:ea typeface="Times New Roman"/>
                <a:cs typeface="Times New Roman"/>
                <a:sym typeface="Times New Roman"/>
              </a:rPr>
              <a:t>DRIVER MANAGEMENT · KHU VỰC: SGN &amp; HAN</a:t>
            </a:r>
            <a:endParaRPr i="0" sz="1300" u="none" cap="none" strike="noStrike">
              <a:solidFill>
                <a:schemeClr val="dk1"/>
              </a:solidFill>
              <a:latin typeface="Times New Roman"/>
              <a:ea typeface="Times New Roman"/>
              <a:cs typeface="Times New Roman"/>
              <a:sym typeface="Times New Roman"/>
            </a:endParaRPr>
          </a:p>
        </p:txBody>
      </p:sp>
      <p:sp>
        <p:nvSpPr>
          <p:cNvPr id="60" name="Google Shape;60;p14"/>
          <p:cNvSpPr/>
          <p:nvPr/>
        </p:nvSpPr>
        <p:spPr>
          <a:xfrm>
            <a:off x="651700" y="1213456"/>
            <a:ext cx="5973300" cy="405300"/>
          </a:xfrm>
          <a:prstGeom prst="rect">
            <a:avLst/>
          </a:prstGeom>
          <a:noFill/>
          <a:ln>
            <a:noFill/>
          </a:ln>
        </p:spPr>
        <p:txBody>
          <a:bodyPr anchorCtr="0" anchor="t" bIns="12700" lIns="12700" spcFirstLastPara="1" rIns="12700" wrap="square" tIns="12700">
            <a:noAutofit/>
          </a:bodyPr>
          <a:lstStyle/>
          <a:p>
            <a:pPr indent="0" lvl="0" marL="0" marR="0" rtl="0" algn="l">
              <a:lnSpc>
                <a:spcPct val="84000"/>
              </a:lnSpc>
              <a:spcBef>
                <a:spcPts val="0"/>
              </a:spcBef>
              <a:spcAft>
                <a:spcPts val="0"/>
              </a:spcAft>
              <a:buClr>
                <a:srgbClr val="012749"/>
              </a:buClr>
              <a:buSzPts val="3500"/>
              <a:buFont typeface="Plus Jakarta Sans"/>
              <a:buNone/>
            </a:pPr>
            <a:r>
              <a:rPr b="1" i="0" lang="en" sz="3500" u="none" cap="none" strike="noStrike">
                <a:solidFill>
                  <a:srgbClr val="012749"/>
                </a:solidFill>
                <a:latin typeface="Times New Roman"/>
                <a:ea typeface="Times New Roman"/>
                <a:cs typeface="Times New Roman"/>
                <a:sym typeface="Times New Roman"/>
              </a:rPr>
              <a:t>BÁO CÁO THÁNG </a:t>
            </a:r>
            <a:r>
              <a:rPr b="1" lang="en" sz="3500">
                <a:solidFill>
                  <a:schemeClr val="accent2"/>
                </a:solidFill>
                <a:latin typeface="Times New Roman"/>
                <a:ea typeface="Times New Roman"/>
                <a:cs typeface="Times New Roman"/>
                <a:sym typeface="Times New Roman"/>
              </a:rPr>
              <a:t>8</a:t>
            </a:r>
            <a:r>
              <a:rPr b="1" i="0" lang="en" sz="3500" u="none" cap="none" strike="noStrike">
                <a:solidFill>
                  <a:schemeClr val="accent2"/>
                </a:solidFill>
                <a:latin typeface="Times New Roman"/>
                <a:ea typeface="Times New Roman"/>
                <a:cs typeface="Times New Roman"/>
                <a:sym typeface="Times New Roman"/>
              </a:rPr>
              <a:t>/ 2026</a:t>
            </a:r>
            <a:endParaRPr i="0" sz="3500" u="none" cap="none" strike="noStrike">
              <a:solidFill>
                <a:schemeClr val="accent2"/>
              </a:solidFill>
              <a:latin typeface="Times New Roman"/>
              <a:ea typeface="Times New Roman"/>
              <a:cs typeface="Times New Roman"/>
              <a:sym typeface="Times New Roman"/>
            </a:endParaRPr>
          </a:p>
        </p:txBody>
      </p:sp>
      <p:sp>
        <p:nvSpPr>
          <p:cNvPr id="61" name="Google Shape;61;p14"/>
          <p:cNvSpPr/>
          <p:nvPr/>
        </p:nvSpPr>
        <p:spPr>
          <a:xfrm>
            <a:off x="651700" y="2016775"/>
            <a:ext cx="6863100" cy="2654100"/>
          </a:xfrm>
          <a:prstGeom prst="roundRect">
            <a:avLst>
              <a:gd fmla="val 7512" name="adj"/>
            </a:avLst>
          </a:prstGeom>
          <a:solidFill>
            <a:srgbClr val="1C4587"/>
          </a:solidFill>
          <a:ln cap="flat" cmpd="sng" w="4775">
            <a:solidFill>
              <a:srgbClr val="DDE1E6"/>
            </a:solidFill>
            <a:prstDash val="solid"/>
            <a:round/>
            <a:headEnd len="sm" w="sm" type="none"/>
            <a:tailEnd len="sm" w="sm" type="none"/>
          </a:ln>
          <a:effectLst>
            <a:outerShdw blurRad="38100" rotWithShape="0" algn="bl" dir="5400000" dist="19050">
              <a:srgbClr val="000000">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 name="Google Shape;62;p14"/>
          <p:cNvSpPr/>
          <p:nvPr/>
        </p:nvSpPr>
        <p:spPr>
          <a:xfrm>
            <a:off x="833938" y="2373325"/>
            <a:ext cx="6605700" cy="2169600"/>
          </a:xfrm>
          <a:prstGeom prst="rect">
            <a:avLst/>
          </a:prstGeom>
          <a:noFill/>
          <a:ln>
            <a:noFill/>
          </a:ln>
        </p:spPr>
        <p:txBody>
          <a:bodyPr anchorCtr="0" anchor="t" bIns="12700" lIns="12700" spcFirstLastPara="1" rIns="12700" wrap="square" tIns="12700">
            <a:noAutofit/>
          </a:bodyPr>
          <a:lstStyle/>
          <a:p>
            <a:pPr indent="-203200" lvl="0" marL="228600" marR="0" rtl="0" algn="l">
              <a:lnSpc>
                <a:spcPct val="150000"/>
              </a:lnSpc>
              <a:spcBef>
                <a:spcPts val="0"/>
              </a:spcBef>
              <a:spcAft>
                <a:spcPts val="0"/>
              </a:spcAft>
              <a:buClr>
                <a:schemeClr val="lt1"/>
              </a:buClr>
              <a:buSzPts val="1400"/>
              <a:buFont typeface="Times New Roman"/>
              <a:buAutoNum type="arabicPeriod"/>
            </a:pPr>
            <a:r>
              <a:rPr b="1" lang="en" sz="1400">
                <a:solidFill>
                  <a:schemeClr val="lt1"/>
                </a:solidFill>
                <a:latin typeface="Times New Roman"/>
                <a:ea typeface="Times New Roman"/>
                <a:cs typeface="Times New Roman"/>
                <a:sym typeface="Times New Roman"/>
              </a:rPr>
              <a:t>Tình hình vận hành chung tháng 8</a:t>
            </a:r>
            <a:endParaRPr b="1" sz="1400">
              <a:solidFill>
                <a:schemeClr val="lt1"/>
              </a:solidFill>
              <a:latin typeface="Times New Roman"/>
              <a:ea typeface="Times New Roman"/>
              <a:cs typeface="Times New Roman"/>
              <a:sym typeface="Times New Roman"/>
            </a:endParaRPr>
          </a:p>
          <a:p>
            <a:pPr indent="-203200" lvl="0" marL="228600" marR="0" rtl="0" algn="l">
              <a:lnSpc>
                <a:spcPct val="150000"/>
              </a:lnSpc>
              <a:spcBef>
                <a:spcPts val="0"/>
              </a:spcBef>
              <a:spcAft>
                <a:spcPts val="0"/>
              </a:spcAft>
              <a:buClr>
                <a:schemeClr val="lt1"/>
              </a:buClr>
              <a:buSzPts val="1400"/>
              <a:buFont typeface="Times New Roman"/>
              <a:buAutoNum type="arabicPeriod"/>
            </a:pPr>
            <a:r>
              <a:rPr b="1" lang="en" sz="1400">
                <a:solidFill>
                  <a:schemeClr val="lt1"/>
                </a:solidFill>
                <a:latin typeface="Times New Roman"/>
                <a:ea typeface="Times New Roman"/>
                <a:cs typeface="Times New Roman"/>
                <a:sym typeface="Times New Roman"/>
              </a:rPr>
              <a:t>Sub Ops Growth</a:t>
            </a:r>
            <a:endParaRPr b="1" sz="1400">
              <a:solidFill>
                <a:schemeClr val="lt1"/>
              </a:solidFill>
              <a:latin typeface="Times New Roman"/>
              <a:ea typeface="Times New Roman"/>
              <a:cs typeface="Times New Roman"/>
              <a:sym typeface="Times New Roman"/>
            </a:endParaRPr>
          </a:p>
          <a:p>
            <a:pPr indent="-203200" lvl="0" marL="228600" marR="0" rtl="0" algn="l">
              <a:lnSpc>
                <a:spcPct val="150000"/>
              </a:lnSpc>
              <a:spcBef>
                <a:spcPts val="0"/>
              </a:spcBef>
              <a:spcAft>
                <a:spcPts val="0"/>
              </a:spcAft>
              <a:buClr>
                <a:schemeClr val="lt1"/>
              </a:buClr>
              <a:buSzPts val="1400"/>
              <a:buFont typeface="Times New Roman"/>
              <a:buAutoNum type="arabicPeriod"/>
            </a:pPr>
            <a:r>
              <a:rPr b="1" lang="en" sz="1400">
                <a:solidFill>
                  <a:schemeClr val="lt1"/>
                </a:solidFill>
                <a:latin typeface="Times New Roman"/>
                <a:ea typeface="Times New Roman"/>
                <a:cs typeface="Times New Roman"/>
                <a:sym typeface="Times New Roman"/>
              </a:rPr>
              <a:t>Sub DM</a:t>
            </a:r>
            <a:endParaRPr b="1" sz="1400">
              <a:solidFill>
                <a:schemeClr val="lt1"/>
              </a:solidFill>
              <a:latin typeface="Times New Roman"/>
              <a:ea typeface="Times New Roman"/>
              <a:cs typeface="Times New Roman"/>
              <a:sym typeface="Times New Roman"/>
            </a:endParaRPr>
          </a:p>
          <a:p>
            <a:pPr indent="-203200" lvl="0" marL="228600" marR="0" rtl="0" algn="l">
              <a:lnSpc>
                <a:spcPct val="150000"/>
              </a:lnSpc>
              <a:spcBef>
                <a:spcPts val="0"/>
              </a:spcBef>
              <a:spcAft>
                <a:spcPts val="0"/>
              </a:spcAft>
              <a:buClr>
                <a:schemeClr val="lt1"/>
              </a:buClr>
              <a:buSzPts val="1400"/>
              <a:buFont typeface="Times New Roman"/>
              <a:buAutoNum type="arabicPeriod"/>
            </a:pPr>
            <a:r>
              <a:rPr b="1" lang="en" sz="1400">
                <a:solidFill>
                  <a:schemeClr val="lt1"/>
                </a:solidFill>
                <a:latin typeface="Times New Roman"/>
                <a:ea typeface="Times New Roman"/>
                <a:cs typeface="Times New Roman"/>
                <a:sym typeface="Times New Roman"/>
              </a:rPr>
              <a:t>Sub DE</a:t>
            </a:r>
            <a:endParaRPr b="1" sz="1400">
              <a:solidFill>
                <a:schemeClr val="lt1"/>
              </a:solidFill>
              <a:latin typeface="Times New Roman"/>
              <a:ea typeface="Times New Roman"/>
              <a:cs typeface="Times New Roman"/>
              <a:sym typeface="Times New Roman"/>
            </a:endParaRPr>
          </a:p>
          <a:p>
            <a:pPr indent="-203200" lvl="0" marL="228600" marR="0" rtl="0" algn="l">
              <a:lnSpc>
                <a:spcPct val="150000"/>
              </a:lnSpc>
              <a:spcBef>
                <a:spcPts val="0"/>
              </a:spcBef>
              <a:spcAft>
                <a:spcPts val="0"/>
              </a:spcAft>
              <a:buClr>
                <a:schemeClr val="lt1"/>
              </a:buClr>
              <a:buSzPts val="1400"/>
              <a:buFont typeface="Times New Roman"/>
              <a:buAutoNum type="arabicPeriod"/>
            </a:pPr>
            <a:r>
              <a:rPr b="1" lang="en" sz="1400">
                <a:solidFill>
                  <a:schemeClr val="lt1"/>
                </a:solidFill>
                <a:latin typeface="Times New Roman"/>
                <a:ea typeface="Times New Roman"/>
                <a:cs typeface="Times New Roman"/>
                <a:sym typeface="Times New Roman"/>
              </a:rPr>
              <a:t>Project Minihub + EV</a:t>
            </a:r>
            <a:endParaRPr b="1" sz="1400">
              <a:solidFill>
                <a:schemeClr val="lt1"/>
              </a:solidFill>
              <a:latin typeface="Times New Roman"/>
              <a:ea typeface="Times New Roman"/>
              <a:cs typeface="Times New Roman"/>
              <a:sym typeface="Times New Roman"/>
            </a:endParaRPr>
          </a:p>
          <a:p>
            <a:pPr indent="-203200" lvl="0" marL="228600" marR="0" rtl="0" algn="l">
              <a:lnSpc>
                <a:spcPct val="150000"/>
              </a:lnSpc>
              <a:spcBef>
                <a:spcPts val="0"/>
              </a:spcBef>
              <a:spcAft>
                <a:spcPts val="0"/>
              </a:spcAft>
              <a:buClr>
                <a:schemeClr val="lt1"/>
              </a:buClr>
              <a:buSzPts val="1400"/>
              <a:buFont typeface="Times New Roman"/>
              <a:buAutoNum type="arabicPeriod"/>
            </a:pPr>
            <a:r>
              <a:rPr b="1" lang="en" sz="1400">
                <a:solidFill>
                  <a:schemeClr val="lt1"/>
                </a:solidFill>
                <a:latin typeface="Times New Roman"/>
                <a:ea typeface="Times New Roman"/>
                <a:cs typeface="Times New Roman"/>
                <a:sym typeface="Times New Roman"/>
              </a:rPr>
              <a:t>Innovation project (Project Minihub Leader &amp; Em Hà Assistant)</a:t>
            </a:r>
            <a:endParaRPr b="1" sz="1400">
              <a:solidFill>
                <a:schemeClr val="lt1"/>
              </a:solidFill>
              <a:latin typeface="Times New Roman"/>
              <a:ea typeface="Times New Roman"/>
              <a:cs typeface="Times New Roman"/>
              <a:sym typeface="Times New Roman"/>
            </a:endParaRPr>
          </a:p>
        </p:txBody>
      </p:sp>
      <p:pic>
        <p:nvPicPr>
          <p:cNvPr id="63" name="Google Shape;63;p14"/>
          <p:cNvPicPr preferRelativeResize="0"/>
          <p:nvPr/>
        </p:nvPicPr>
        <p:blipFill>
          <a:blip r:embed="rId3">
            <a:alphaModFix/>
          </a:blip>
          <a:stretch>
            <a:fillRect/>
          </a:stretch>
        </p:blipFill>
        <p:spPr>
          <a:xfrm>
            <a:off x="7526063" y="3766145"/>
            <a:ext cx="1627200" cy="13773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15"/>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900">
                <a:solidFill>
                  <a:schemeClr val="dk1"/>
                </a:solidFill>
                <a:latin typeface="Times New Roman"/>
                <a:ea typeface="Times New Roman"/>
                <a:cs typeface="Times New Roman"/>
                <a:sym typeface="Times New Roman"/>
              </a:rPr>
              <a:t>Overview</a:t>
            </a:r>
            <a:r>
              <a:rPr lang="en" sz="900">
                <a:latin typeface="Times New Roman"/>
                <a:ea typeface="Times New Roman"/>
                <a:cs typeface="Times New Roman"/>
                <a:sym typeface="Times New Roman"/>
              </a:rPr>
              <a:t> | </a:t>
            </a:r>
            <a:r>
              <a:rPr lang="en" sz="900">
                <a:solidFill>
                  <a:srgbClr val="999999"/>
                </a:solidFill>
                <a:latin typeface="Times New Roman"/>
                <a:ea typeface="Times New Roman"/>
                <a:cs typeface="Times New Roman"/>
                <a:sym typeface="Times New Roman"/>
              </a:rPr>
              <a:t>Ops Growth | DM | DE | Minihub + EV | Innovation Project</a:t>
            </a:r>
            <a:endParaRPr sz="900">
              <a:solidFill>
                <a:srgbClr val="999999"/>
              </a:solidFill>
              <a:latin typeface="Times New Roman"/>
              <a:ea typeface="Times New Roman"/>
              <a:cs typeface="Times New Roman"/>
              <a:sym typeface="Times New Roman"/>
            </a:endParaRPr>
          </a:p>
        </p:txBody>
      </p:sp>
      <p:sp>
        <p:nvSpPr>
          <p:cNvPr id="70" name="Google Shape;70;p15"/>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graphicFrame>
        <p:nvGraphicFramePr>
          <p:cNvPr id="71" name="Google Shape;71;p15"/>
          <p:cNvGraphicFramePr/>
          <p:nvPr/>
        </p:nvGraphicFramePr>
        <p:xfrm>
          <a:off x="162925" y="1461813"/>
          <a:ext cx="3000000" cy="3000000"/>
        </p:xfrm>
        <a:graphic>
          <a:graphicData uri="http://schemas.openxmlformats.org/drawingml/2006/table">
            <a:tbl>
              <a:tblPr>
                <a:noFill/>
                <a:tableStyleId>{84A9007E-4112-45BC-9D73-1BCF8FDB95CB}</a:tableStyleId>
              </a:tblPr>
              <a:tblGrid>
                <a:gridCol w="1260350"/>
                <a:gridCol w="7550325"/>
              </a:tblGrid>
              <a:tr h="394325">
                <a:tc>
                  <a:txBody>
                    <a:bodyPr/>
                    <a:lstStyle/>
                    <a:p>
                      <a:pPr indent="0" lvl="0" marL="0" rtl="0" algn="l">
                        <a:spcBef>
                          <a:spcPts val="0"/>
                        </a:spcBef>
                        <a:spcAft>
                          <a:spcPts val="0"/>
                        </a:spcAft>
                        <a:buNone/>
                      </a:pPr>
                      <a:r>
                        <a:rPr b="1" lang="en" sz="1000">
                          <a:latin typeface="Lexend"/>
                          <a:ea typeface="Lexend"/>
                          <a:cs typeface="Lexend"/>
                          <a:sym typeface="Lexend"/>
                        </a:rPr>
                        <a:t>Sub Ops Growth</a:t>
                      </a:r>
                      <a:endParaRPr b="1" sz="1000">
                        <a:latin typeface="Lexend"/>
                        <a:ea typeface="Lexend"/>
                        <a:cs typeface="Lexend"/>
                        <a:sym typeface="Lexend"/>
                      </a:endParaRPr>
                    </a:p>
                  </a:txBody>
                  <a:tcPr marT="45725" marB="45725" marR="45725" marL="45725" anchor="ctr">
                    <a:lnL cap="flat" cmpd="sng" w="14300">
                      <a:solidFill>
                        <a:schemeClr val="dk1"/>
                      </a:solidFill>
                      <a:prstDash val="solid"/>
                      <a:round/>
                      <a:headEnd len="sm" w="sm" type="none"/>
                      <a:tailEnd len="sm" w="sm" type="none"/>
                    </a:lnL>
                    <a:lnR cap="flat" cmpd="sng" w="14300">
                      <a:solidFill>
                        <a:srgbClr val="757D86"/>
                      </a:solidFill>
                      <a:prstDash val="solid"/>
                      <a:round/>
                      <a:headEnd len="sm" w="sm" type="none"/>
                      <a:tailEnd len="sm" w="sm" type="none"/>
                    </a:lnR>
                    <a:lnT cap="flat" cmpd="sng" w="14300">
                      <a:solidFill>
                        <a:schemeClr val="dk1"/>
                      </a:solidFill>
                      <a:prstDash val="solid"/>
                      <a:round/>
                      <a:headEnd len="sm" w="sm" type="none"/>
                      <a:tailEnd len="sm" w="sm" type="none"/>
                    </a:lnT>
                    <a:lnB cap="flat" cmpd="sng" w="14300">
                      <a:solidFill>
                        <a:srgbClr val="757D86"/>
                      </a:solidFill>
                      <a:prstDash val="solid"/>
                      <a:round/>
                      <a:headEnd len="sm" w="sm" type="none"/>
                      <a:tailEnd len="sm" w="sm" type="none"/>
                    </a:lnB>
                  </a:tcPr>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Hoàn thành nghiên cứu chính sách cho newbie từ các đối thủ</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Đề xuất luồng thu ký quỹ mới</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Tỷ lệ DFD retention giảm YoY tuy nhiên số tuyệt đối tăng 34% YoY.</a:t>
                      </a:r>
                      <a:endParaRPr sz="1000">
                        <a:latin typeface="Lexend"/>
                        <a:ea typeface="Lexend"/>
                        <a:cs typeface="Lexend"/>
                        <a:sym typeface="Lexend"/>
                      </a:endParaRPr>
                    </a:p>
                  </a:txBody>
                  <a:tcPr marT="45725" marB="45725" marR="45725" marL="45725" anchor="ctr">
                    <a:lnL cap="flat" cmpd="sng" w="14300">
                      <a:solidFill>
                        <a:srgbClr val="757D86"/>
                      </a:solidFill>
                      <a:prstDash val="solid"/>
                      <a:round/>
                      <a:headEnd len="sm" w="sm" type="none"/>
                      <a:tailEnd len="sm" w="sm" type="none"/>
                    </a:lnL>
                    <a:lnR cap="flat" cmpd="sng" w="14300">
                      <a:solidFill>
                        <a:schemeClr val="dk1"/>
                      </a:solidFill>
                      <a:prstDash val="solid"/>
                      <a:round/>
                      <a:headEnd len="sm" w="sm" type="none"/>
                      <a:tailEnd len="sm" w="sm" type="none"/>
                    </a:lnR>
                    <a:lnT cap="flat" cmpd="sng" w="14300">
                      <a:solidFill>
                        <a:schemeClr val="dk1"/>
                      </a:solidFill>
                      <a:prstDash val="solid"/>
                      <a:round/>
                      <a:headEnd len="sm" w="sm" type="none"/>
                      <a:tailEnd len="sm" w="sm" type="none"/>
                    </a:lnT>
                    <a:lnB cap="flat" cmpd="sng" w="14300">
                      <a:solidFill>
                        <a:srgbClr val="757D86"/>
                      </a:solidFill>
                      <a:prstDash val="solid"/>
                      <a:round/>
                      <a:headEnd len="sm" w="sm" type="none"/>
                      <a:tailEnd len="sm" w="sm" type="none"/>
                    </a:lnB>
                  </a:tcPr>
                </a:tc>
              </a:tr>
              <a:tr h="394325">
                <a:tc>
                  <a:txBody>
                    <a:bodyPr/>
                    <a:lstStyle/>
                    <a:p>
                      <a:pPr indent="0" lvl="0" marL="0" rtl="0" algn="l">
                        <a:spcBef>
                          <a:spcPts val="0"/>
                        </a:spcBef>
                        <a:spcAft>
                          <a:spcPts val="0"/>
                        </a:spcAft>
                        <a:buNone/>
                      </a:pPr>
                      <a:r>
                        <a:rPr b="1" lang="en" sz="1000">
                          <a:latin typeface="Lexend"/>
                          <a:ea typeface="Lexend"/>
                          <a:cs typeface="Lexend"/>
                          <a:sym typeface="Lexend"/>
                        </a:rPr>
                        <a:t>Sub DM</a:t>
                      </a:r>
                      <a:endParaRPr b="1" sz="1000">
                        <a:latin typeface="Lexend"/>
                        <a:ea typeface="Lexend"/>
                        <a:cs typeface="Lexend"/>
                        <a:sym typeface="Lexend"/>
                      </a:endParaRPr>
                    </a:p>
                  </a:txBody>
                  <a:tcPr marT="45725" marB="45725" marR="45725" marL="45725" anchor="ctr">
                    <a:lnL cap="flat" cmpd="sng" w="14300">
                      <a:solidFill>
                        <a:schemeClr val="dk1"/>
                      </a:solidFill>
                      <a:prstDash val="solid"/>
                      <a:round/>
                      <a:headEnd len="sm" w="sm" type="none"/>
                      <a:tailEnd len="sm" w="sm" type="none"/>
                    </a:lnL>
                    <a:lnR cap="flat" cmpd="sng" w="14300">
                      <a:solidFill>
                        <a:srgbClr val="757D86"/>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c>
                  <a:txBody>
                    <a:bodyPr/>
                    <a:lstStyle/>
                    <a:p>
                      <a:pPr indent="-177800" lvl="0" marL="228600" rtl="0" algn="l">
                        <a:spcBef>
                          <a:spcPts val="0"/>
                        </a:spcBef>
                        <a:spcAft>
                          <a:spcPts val="0"/>
                        </a:spcAft>
                        <a:buSzPts val="1000"/>
                        <a:buFont typeface="Lexend"/>
                        <a:buChar char="-"/>
                      </a:pPr>
                      <a:r>
                        <a:rPr b="1" lang="en" sz="1000">
                          <a:latin typeface="Lexend"/>
                          <a:ea typeface="Lexend"/>
                          <a:cs typeface="Lexend"/>
                          <a:sym typeface="Lexend"/>
                        </a:rPr>
                        <a:t>Baga</a:t>
                      </a:r>
                      <a:r>
                        <a:rPr lang="en" sz="1000">
                          <a:latin typeface="Lexend"/>
                          <a:ea typeface="Lexend"/>
                          <a:cs typeface="Lexend"/>
                          <a:sym typeface="Lexend"/>
                        </a:rPr>
                        <a:t>: Cả về active, capacity bulky và số ngày tick baga đều tăng khi tài xế tham gia ctt baga</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b="1" lang="en" sz="1000">
                          <a:latin typeface="Lexend"/>
                          <a:ea typeface="Lexend"/>
                          <a:cs typeface="Lexend"/>
                          <a:sym typeface="Lexend"/>
                        </a:rPr>
                        <a:t>Bulky</a:t>
                      </a:r>
                      <a:r>
                        <a:rPr lang="en" sz="1000">
                          <a:latin typeface="Lexend"/>
                          <a:ea typeface="Lexend"/>
                          <a:cs typeface="Lexend"/>
                          <a:sym typeface="Lexend"/>
                        </a:rPr>
                        <a:t> : Đội Core: hiện tại 65 tài xế, 32 tài xế rời đội, prod bulky ~ 5.2 stp/day, coverage ~ 14% </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b="1" lang="en" sz="1000">
                          <a:latin typeface="Lexend"/>
                          <a:ea typeface="Lexend"/>
                          <a:cs typeface="Lexend"/>
                          <a:sym typeface="Lexend"/>
                        </a:rPr>
                        <a:t>FT</a:t>
                      </a:r>
                      <a:r>
                        <a:rPr lang="en" sz="1000">
                          <a:latin typeface="Lexend"/>
                          <a:ea typeface="Lexend"/>
                          <a:cs typeface="Lexend"/>
                          <a:sym typeface="Lexend"/>
                        </a:rPr>
                        <a:t> tăng trưởng tại SGN, tuy nhiên giảm mạnh ở HAN YoY do lượng supply hour giảm, demand giảm.</a:t>
                      </a:r>
                      <a:endParaRPr sz="1000">
                        <a:latin typeface="Lexend"/>
                        <a:ea typeface="Lexend"/>
                        <a:cs typeface="Lexend"/>
                        <a:sym typeface="Lexend"/>
                      </a:endParaRPr>
                    </a:p>
                  </a:txBody>
                  <a:tcPr marT="45725" marB="45725" marR="45725" marL="45725" anchor="ctr">
                    <a:lnL cap="flat" cmpd="sng" w="14300">
                      <a:solidFill>
                        <a:srgbClr val="757D86"/>
                      </a:solidFill>
                      <a:prstDash val="solid"/>
                      <a:round/>
                      <a:headEnd len="sm" w="sm" type="none"/>
                      <a:tailEnd len="sm" w="sm" type="none"/>
                    </a:lnL>
                    <a:lnR cap="flat" cmpd="sng" w="14300">
                      <a:solidFill>
                        <a:schemeClr val="dk1"/>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r>
              <a:tr h="320025">
                <a:tc>
                  <a:txBody>
                    <a:bodyPr/>
                    <a:lstStyle/>
                    <a:p>
                      <a:pPr indent="0" lvl="0" marL="0" rtl="0" algn="l">
                        <a:spcBef>
                          <a:spcPts val="0"/>
                        </a:spcBef>
                        <a:spcAft>
                          <a:spcPts val="0"/>
                        </a:spcAft>
                        <a:buNone/>
                      </a:pPr>
                      <a:r>
                        <a:rPr b="1" lang="en" sz="1000">
                          <a:latin typeface="Lexend"/>
                          <a:ea typeface="Lexend"/>
                          <a:cs typeface="Lexend"/>
                          <a:sym typeface="Lexend"/>
                        </a:rPr>
                        <a:t>Sub DE</a:t>
                      </a:r>
                      <a:endParaRPr b="1" sz="1000">
                        <a:latin typeface="Lexend"/>
                        <a:ea typeface="Lexend"/>
                        <a:cs typeface="Lexend"/>
                        <a:sym typeface="Lexend"/>
                      </a:endParaRPr>
                    </a:p>
                  </a:txBody>
                  <a:tcPr marT="45725" marB="45725" marR="45725" marL="45725" anchor="ctr">
                    <a:lnL cap="flat" cmpd="sng" w="14300">
                      <a:solidFill>
                        <a:schemeClr val="dk1"/>
                      </a:solidFill>
                      <a:prstDash val="solid"/>
                      <a:round/>
                      <a:headEnd len="sm" w="sm" type="none"/>
                      <a:tailEnd len="sm" w="sm" type="none"/>
                    </a:lnL>
                    <a:lnR cap="flat" cmpd="sng" w="14300">
                      <a:solidFill>
                        <a:srgbClr val="757D86"/>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c>
                  <a:txBody>
                    <a:bodyPr/>
                    <a:lstStyle/>
                    <a:p>
                      <a:pPr indent="-177800" lvl="0" marL="228600" marR="0" rtl="0" algn="l">
                        <a:lnSpc>
                          <a:spcPct val="100000"/>
                        </a:lnSpc>
                        <a:spcBef>
                          <a:spcPts val="0"/>
                        </a:spcBef>
                        <a:spcAft>
                          <a:spcPts val="0"/>
                        </a:spcAft>
                        <a:buSzPts val="1000"/>
                        <a:buFont typeface="Lexend"/>
                        <a:buChar char="-"/>
                      </a:pPr>
                      <a:r>
                        <a:rPr lang="en" sz="1000">
                          <a:latin typeface="Lexend"/>
                          <a:ea typeface="Lexend"/>
                          <a:cs typeface="Lexend"/>
                          <a:sym typeface="Lexend"/>
                        </a:rPr>
                        <a:t>Chủ yếu chốt deal category tài chính và proposal ahabenefit</a:t>
                      </a:r>
                      <a:endParaRPr sz="1000">
                        <a:latin typeface="Lexend"/>
                        <a:ea typeface="Lexend"/>
                        <a:cs typeface="Lexend"/>
                        <a:sym typeface="Lexend"/>
                      </a:endParaRPr>
                    </a:p>
                    <a:p>
                      <a:pPr indent="-177800" lvl="0" marL="228600" marR="0" rtl="0" algn="l">
                        <a:lnSpc>
                          <a:spcPct val="100000"/>
                        </a:lnSpc>
                        <a:spcBef>
                          <a:spcPts val="0"/>
                        </a:spcBef>
                        <a:spcAft>
                          <a:spcPts val="0"/>
                        </a:spcAft>
                        <a:buSzPts val="1000"/>
                        <a:buFont typeface="Lexend"/>
                        <a:buChar char="-"/>
                      </a:pPr>
                      <a:r>
                        <a:rPr lang="en" sz="1000">
                          <a:latin typeface="Lexend"/>
                          <a:ea typeface="Lexend"/>
                          <a:cs typeface="Lexend"/>
                          <a:sym typeface="Lexend"/>
                        </a:rPr>
                        <a:t>Partnership: (Shinhan bank, Global care, Aizen HCM…)</a:t>
                      </a:r>
                      <a:endParaRPr sz="1000">
                        <a:latin typeface="Lexend"/>
                        <a:ea typeface="Lexend"/>
                        <a:cs typeface="Lexend"/>
                        <a:sym typeface="Lexend"/>
                      </a:endParaRPr>
                    </a:p>
                  </a:txBody>
                  <a:tcPr marT="45725" marB="45725" marR="45725" marL="45725" anchor="ctr">
                    <a:lnL cap="flat" cmpd="sng" w="14300">
                      <a:solidFill>
                        <a:srgbClr val="757D86"/>
                      </a:solidFill>
                      <a:prstDash val="solid"/>
                      <a:round/>
                      <a:headEnd len="sm" w="sm" type="none"/>
                      <a:tailEnd len="sm" w="sm" type="none"/>
                    </a:lnL>
                    <a:lnR cap="flat" cmpd="sng" w="14300">
                      <a:solidFill>
                        <a:schemeClr val="dk1"/>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r>
              <a:tr h="503875">
                <a:tc>
                  <a:txBody>
                    <a:bodyPr/>
                    <a:lstStyle/>
                    <a:p>
                      <a:pPr indent="-177800" lvl="0" marL="228600" rtl="0" algn="l">
                        <a:spcBef>
                          <a:spcPts val="0"/>
                        </a:spcBef>
                        <a:spcAft>
                          <a:spcPts val="0"/>
                        </a:spcAft>
                        <a:buSzPts val="1000"/>
                        <a:buFont typeface="Lexend"/>
                        <a:buChar char="-"/>
                      </a:pPr>
                      <a:r>
                        <a:rPr b="1" lang="en" sz="1000">
                          <a:latin typeface="Lexend"/>
                          <a:ea typeface="Lexend"/>
                          <a:cs typeface="Lexend"/>
                          <a:sym typeface="Lexend"/>
                        </a:rPr>
                        <a:t>Minihub</a:t>
                      </a:r>
                      <a:endParaRPr b="1" sz="1000">
                        <a:latin typeface="Lexend"/>
                        <a:ea typeface="Lexend"/>
                        <a:cs typeface="Lexend"/>
                        <a:sym typeface="Lexend"/>
                      </a:endParaRPr>
                    </a:p>
                    <a:p>
                      <a:pPr indent="-177800" lvl="0" marL="228600" rtl="0" algn="l">
                        <a:spcBef>
                          <a:spcPts val="0"/>
                        </a:spcBef>
                        <a:spcAft>
                          <a:spcPts val="0"/>
                        </a:spcAft>
                        <a:buSzPts val="1000"/>
                        <a:buFont typeface="Lexend"/>
                        <a:buChar char="-"/>
                      </a:pPr>
                      <a:r>
                        <a:rPr b="1" lang="en" sz="1000">
                          <a:latin typeface="Lexend"/>
                          <a:ea typeface="Lexend"/>
                          <a:cs typeface="Lexend"/>
                          <a:sym typeface="Lexend"/>
                        </a:rPr>
                        <a:t>EV </a:t>
                      </a:r>
                      <a:endParaRPr b="1" sz="1000">
                        <a:latin typeface="Lexend"/>
                        <a:ea typeface="Lexend"/>
                        <a:cs typeface="Lexend"/>
                        <a:sym typeface="Lexend"/>
                      </a:endParaRPr>
                    </a:p>
                    <a:p>
                      <a:pPr indent="0" lvl="0" marL="0" rtl="0" algn="l">
                        <a:spcBef>
                          <a:spcPts val="0"/>
                        </a:spcBef>
                        <a:spcAft>
                          <a:spcPts val="0"/>
                        </a:spcAft>
                        <a:buNone/>
                      </a:pPr>
                      <a:r>
                        <a:rPr b="1" lang="en" sz="1000">
                          <a:latin typeface="Lexend"/>
                          <a:ea typeface="Lexend"/>
                          <a:cs typeface="Lexend"/>
                          <a:sym typeface="Lexend"/>
                        </a:rPr>
                        <a:t>(Old convert &amp; Old retention)</a:t>
                      </a:r>
                      <a:endParaRPr b="1" sz="1000">
                        <a:latin typeface="Lexend"/>
                        <a:ea typeface="Lexend"/>
                        <a:cs typeface="Lexend"/>
                        <a:sym typeface="Lexend"/>
                      </a:endParaRPr>
                    </a:p>
                  </a:txBody>
                  <a:tcPr marT="45725" marB="45725" marR="45725" marL="45725" anchor="ctr">
                    <a:lnL cap="flat" cmpd="sng" w="14300">
                      <a:solidFill>
                        <a:schemeClr val="dk1"/>
                      </a:solidFill>
                      <a:prstDash val="solid"/>
                      <a:round/>
                      <a:headEnd len="sm" w="sm" type="none"/>
                      <a:tailEnd len="sm" w="sm" type="none"/>
                    </a:lnL>
                    <a:lnR cap="flat" cmpd="sng" w="14300">
                      <a:solidFill>
                        <a:srgbClr val="757D86"/>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c>
                  <a:txBody>
                    <a:bodyPr/>
                    <a:lstStyle/>
                    <a:p>
                      <a:pPr indent="-177800" lvl="0" marL="228600" rtl="0" algn="l">
                        <a:spcBef>
                          <a:spcPts val="0"/>
                        </a:spcBef>
                        <a:spcAft>
                          <a:spcPts val="0"/>
                        </a:spcAft>
                        <a:buSzPts val="1000"/>
                        <a:buFont typeface="Lexend"/>
                        <a:buChar char="-"/>
                      </a:pPr>
                      <a:r>
                        <a:rPr b="1" lang="en" sz="1000">
                          <a:latin typeface="Lexend"/>
                          <a:ea typeface="Lexend"/>
                          <a:cs typeface="Lexend"/>
                          <a:sym typeface="Lexend"/>
                        </a:rPr>
                        <a:t>MiniHub</a:t>
                      </a:r>
                      <a:r>
                        <a:rPr lang="en" sz="1000">
                          <a:latin typeface="Lexend"/>
                          <a:ea typeface="Lexend"/>
                          <a:cs typeface="Lexend"/>
                          <a:sym typeface="Lexend"/>
                        </a:rPr>
                        <a:t>: Sản lượng và hiệu suất đang tốt lên, nhưng Active Driver và Coverage vẫn là điểm cần cải thiện, đặc biệt ở HAN</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b="1" lang="en" sz="1000">
                          <a:latin typeface="Lexend"/>
                          <a:ea typeface="Lexend"/>
                          <a:cs typeface="Lexend"/>
                          <a:sym typeface="Lexend"/>
                        </a:rPr>
                        <a:t>EV</a:t>
                      </a:r>
                      <a:r>
                        <a:rPr lang="en" sz="1000">
                          <a:latin typeface="Lexend"/>
                          <a:ea typeface="Lexend"/>
                          <a:cs typeface="Lexend"/>
                          <a:sym typeface="Lexend"/>
                        </a:rPr>
                        <a:t>: EV tăng cả nhu cầu lẫn Active, nhưng phần lớn tài xế vẫn chạy part-time nên nguồn cung chưa tăng tương ứng</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Chuyển đổi EV gặp nhiều khó khăn (đánh giá tổng quan chương trình đua top EV )</a:t>
                      </a:r>
                      <a:endParaRPr sz="1000">
                        <a:latin typeface="Lexend"/>
                        <a:ea typeface="Lexend"/>
                        <a:cs typeface="Lexend"/>
                        <a:sym typeface="Lexend"/>
                      </a:endParaRPr>
                    </a:p>
                  </a:txBody>
                  <a:tcPr marT="45725" marB="45725" marR="45725" marL="45725" anchor="ctr">
                    <a:lnL cap="flat" cmpd="sng" w="14300">
                      <a:solidFill>
                        <a:srgbClr val="757D86"/>
                      </a:solidFill>
                      <a:prstDash val="solid"/>
                      <a:round/>
                      <a:headEnd len="sm" w="sm" type="none"/>
                      <a:tailEnd len="sm" w="sm" type="none"/>
                    </a:lnL>
                    <a:lnR cap="flat" cmpd="sng" w="14300">
                      <a:solidFill>
                        <a:schemeClr val="dk1"/>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r>
              <a:tr h="381725">
                <a:tc>
                  <a:txBody>
                    <a:bodyPr/>
                    <a:lstStyle/>
                    <a:p>
                      <a:pPr indent="0" lvl="0" marL="0" rtl="0" algn="l">
                        <a:spcBef>
                          <a:spcPts val="0"/>
                        </a:spcBef>
                        <a:spcAft>
                          <a:spcPts val="0"/>
                        </a:spcAft>
                        <a:buNone/>
                      </a:pPr>
                      <a:r>
                        <a:rPr b="1" lang="en" sz="1000">
                          <a:latin typeface="Lexend"/>
                          <a:ea typeface="Lexend"/>
                          <a:cs typeface="Lexend"/>
                          <a:sym typeface="Lexend"/>
                        </a:rPr>
                        <a:t>Minihub Leader</a:t>
                      </a:r>
                      <a:endParaRPr b="1" sz="1000">
                        <a:latin typeface="Lexend"/>
                        <a:ea typeface="Lexend"/>
                        <a:cs typeface="Lexend"/>
                        <a:sym typeface="Lexend"/>
                      </a:endParaRPr>
                    </a:p>
                  </a:txBody>
                  <a:tcPr marT="45725" marB="45725" marR="45725" marL="45725" anchor="ctr">
                    <a:lnL cap="flat" cmpd="sng" w="14300">
                      <a:solidFill>
                        <a:schemeClr val="dk1"/>
                      </a:solidFill>
                      <a:prstDash val="solid"/>
                      <a:round/>
                      <a:headEnd len="sm" w="sm" type="none"/>
                      <a:tailEnd len="sm" w="sm" type="none"/>
                    </a:lnL>
                    <a:lnR cap="flat" cmpd="sng" w="14300">
                      <a:solidFill>
                        <a:srgbClr val="757D86"/>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c>
                  <a:txBody>
                    <a:bodyPr/>
                    <a:lstStyle/>
                    <a:p>
                      <a:pPr indent="-177800" lvl="0" marL="228600" marR="0" rtl="0" algn="l">
                        <a:lnSpc>
                          <a:spcPct val="100000"/>
                        </a:lnSpc>
                        <a:spcBef>
                          <a:spcPts val="0"/>
                        </a:spcBef>
                        <a:spcAft>
                          <a:spcPts val="0"/>
                        </a:spcAft>
                        <a:buSzPts val="1000"/>
                        <a:buFont typeface="Lexend"/>
                        <a:buChar char="-"/>
                      </a:pPr>
                      <a:r>
                        <a:rPr lang="en" sz="1000">
                          <a:latin typeface="Lexend"/>
                          <a:ea typeface="Lexend"/>
                          <a:cs typeface="Lexend"/>
                          <a:sym typeface="Lexend"/>
                        </a:rPr>
                        <a:t>Đóng gói mô hình</a:t>
                      </a:r>
                      <a:endParaRPr sz="1000">
                        <a:latin typeface="Lexend"/>
                        <a:ea typeface="Lexend"/>
                        <a:cs typeface="Lexend"/>
                        <a:sym typeface="Lexend"/>
                      </a:endParaRPr>
                    </a:p>
                    <a:p>
                      <a:pPr indent="-177800" lvl="0" marL="228600" marR="0" rtl="0" algn="l">
                        <a:lnSpc>
                          <a:spcPct val="100000"/>
                        </a:lnSpc>
                        <a:spcBef>
                          <a:spcPts val="0"/>
                        </a:spcBef>
                        <a:spcAft>
                          <a:spcPts val="0"/>
                        </a:spcAft>
                        <a:buSzPts val="1000"/>
                        <a:buFont typeface="Lexend"/>
                        <a:buChar char="-"/>
                      </a:pPr>
                      <a:r>
                        <a:rPr lang="en" sz="1000">
                          <a:latin typeface="Lexend"/>
                          <a:ea typeface="Lexend"/>
                          <a:cs typeface="Lexend"/>
                          <a:sym typeface="Lexend"/>
                        </a:rPr>
                        <a:t>Triển khai phase 2 tối ưu ROI</a:t>
                      </a:r>
                      <a:endParaRPr sz="1000">
                        <a:latin typeface="Lexend"/>
                        <a:ea typeface="Lexend"/>
                        <a:cs typeface="Lexend"/>
                        <a:sym typeface="Lexend"/>
                      </a:endParaRPr>
                    </a:p>
                  </a:txBody>
                  <a:tcPr marT="45725" marB="45725" marR="45725" marL="45725" anchor="ctr">
                    <a:lnL cap="flat" cmpd="sng" w="14300">
                      <a:solidFill>
                        <a:srgbClr val="757D86"/>
                      </a:solidFill>
                      <a:prstDash val="solid"/>
                      <a:round/>
                      <a:headEnd len="sm" w="sm" type="none"/>
                      <a:tailEnd len="sm" w="sm" type="none"/>
                    </a:lnL>
                    <a:lnR cap="flat" cmpd="sng" w="14300">
                      <a:solidFill>
                        <a:schemeClr val="dk1"/>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rgbClr val="757D86"/>
                      </a:solidFill>
                      <a:prstDash val="solid"/>
                      <a:round/>
                      <a:headEnd len="sm" w="sm" type="none"/>
                      <a:tailEnd len="sm" w="sm" type="none"/>
                    </a:lnB>
                  </a:tcPr>
                </a:tc>
              </a:tr>
              <a:tr h="100000">
                <a:tc>
                  <a:txBody>
                    <a:bodyPr/>
                    <a:lstStyle/>
                    <a:p>
                      <a:pPr indent="0" lvl="0" marL="0" rtl="0" algn="l">
                        <a:spcBef>
                          <a:spcPts val="0"/>
                        </a:spcBef>
                        <a:spcAft>
                          <a:spcPts val="0"/>
                        </a:spcAft>
                        <a:buNone/>
                      </a:pPr>
                      <a:r>
                        <a:rPr b="1" lang="en" sz="1000">
                          <a:latin typeface="Lexend"/>
                          <a:ea typeface="Lexend"/>
                          <a:cs typeface="Lexend"/>
                          <a:sym typeface="Lexend"/>
                        </a:rPr>
                        <a:t>AI  Native chat</a:t>
                      </a:r>
                      <a:endParaRPr b="1" sz="1000">
                        <a:latin typeface="Lexend"/>
                        <a:ea typeface="Lexend"/>
                        <a:cs typeface="Lexend"/>
                        <a:sym typeface="Lexend"/>
                      </a:endParaRPr>
                    </a:p>
                  </a:txBody>
                  <a:tcPr marT="45725" marB="45725" marR="45725" marL="45725" anchor="ctr">
                    <a:lnL cap="flat" cmpd="sng" w="14300">
                      <a:solidFill>
                        <a:schemeClr val="dk1"/>
                      </a:solidFill>
                      <a:prstDash val="solid"/>
                      <a:round/>
                      <a:headEnd len="sm" w="sm" type="none"/>
                      <a:tailEnd len="sm" w="sm" type="none"/>
                    </a:lnL>
                    <a:lnR cap="flat" cmpd="sng" w="14300">
                      <a:solidFill>
                        <a:srgbClr val="757D86"/>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chemeClr val="dk1"/>
                      </a:solidFill>
                      <a:prstDash val="solid"/>
                      <a:round/>
                      <a:headEnd len="sm" w="sm" type="none"/>
                      <a:tailEnd len="sm" w="sm" type="none"/>
                    </a:lnB>
                  </a:tcPr>
                </a:tc>
                <a:tc>
                  <a:txBody>
                    <a:bodyPr/>
                    <a:lstStyle/>
                    <a:p>
                      <a:pPr indent="-177800" lvl="0" marL="228600" marR="0" rtl="0" algn="l">
                        <a:lnSpc>
                          <a:spcPct val="100000"/>
                        </a:lnSpc>
                        <a:spcBef>
                          <a:spcPts val="0"/>
                        </a:spcBef>
                        <a:spcAft>
                          <a:spcPts val="0"/>
                        </a:spcAft>
                        <a:buSzPts val="1000"/>
                        <a:buFont typeface="Lexend"/>
                        <a:buChar char="-"/>
                      </a:pPr>
                      <a:r>
                        <a:rPr lang="en" sz="1000">
                          <a:latin typeface="Lexend"/>
                          <a:ea typeface="Lexend"/>
                          <a:cs typeface="Lexend"/>
                          <a:sym typeface="Lexend"/>
                        </a:rPr>
                        <a:t>Kick off meeting to get alignment with Tech team</a:t>
                      </a:r>
                      <a:endParaRPr sz="1000">
                        <a:latin typeface="Lexend"/>
                        <a:ea typeface="Lexend"/>
                        <a:cs typeface="Lexend"/>
                        <a:sym typeface="Lexend"/>
                      </a:endParaRPr>
                    </a:p>
                  </a:txBody>
                  <a:tcPr marT="45725" marB="45725" marR="45725" marL="45725" anchor="ctr">
                    <a:lnL cap="flat" cmpd="sng" w="14300">
                      <a:solidFill>
                        <a:srgbClr val="757D86"/>
                      </a:solidFill>
                      <a:prstDash val="solid"/>
                      <a:round/>
                      <a:headEnd len="sm" w="sm" type="none"/>
                      <a:tailEnd len="sm" w="sm" type="none"/>
                    </a:lnL>
                    <a:lnR cap="flat" cmpd="sng" w="14300">
                      <a:solidFill>
                        <a:schemeClr val="dk1"/>
                      </a:solidFill>
                      <a:prstDash val="solid"/>
                      <a:round/>
                      <a:headEnd len="sm" w="sm" type="none"/>
                      <a:tailEnd len="sm" w="sm" type="none"/>
                    </a:lnR>
                    <a:lnT cap="flat" cmpd="sng" w="14300">
                      <a:solidFill>
                        <a:srgbClr val="757D86"/>
                      </a:solidFill>
                      <a:prstDash val="solid"/>
                      <a:round/>
                      <a:headEnd len="sm" w="sm" type="none"/>
                      <a:tailEnd len="sm" w="sm" type="none"/>
                    </a:lnT>
                    <a:lnB cap="flat" cmpd="sng" w="14300">
                      <a:solidFill>
                        <a:schemeClr val="dk1"/>
                      </a:solidFill>
                      <a:prstDash val="solid"/>
                      <a:round/>
                      <a:headEnd len="sm" w="sm" type="none"/>
                      <a:tailEnd len="sm" w="sm" type="none"/>
                    </a:lnB>
                  </a:tcPr>
                </a:tc>
              </a:tr>
            </a:tbl>
          </a:graphicData>
        </a:graphic>
      </p:graphicFrame>
      <p:cxnSp>
        <p:nvCxnSpPr>
          <p:cNvPr id="72" name="Google Shape;72;p15"/>
          <p:cNvCxnSpPr/>
          <p:nvPr/>
        </p:nvCxnSpPr>
        <p:spPr>
          <a:xfrm>
            <a:off x="62663" y="1104900"/>
            <a:ext cx="8883300" cy="0"/>
          </a:xfrm>
          <a:prstGeom prst="straightConnector1">
            <a:avLst/>
          </a:prstGeom>
          <a:noFill/>
          <a:ln cap="flat" cmpd="sng" w="19050">
            <a:solidFill>
              <a:srgbClr val="1155CC"/>
            </a:solidFill>
            <a:prstDash val="solid"/>
            <a:round/>
            <a:headEnd len="med" w="med" type="none"/>
            <a:tailEnd len="med" w="med" type="none"/>
          </a:ln>
        </p:spPr>
      </p:cxnSp>
      <p:pic>
        <p:nvPicPr>
          <p:cNvPr id="73" name="Google Shape;73;p15"/>
          <p:cNvPicPr preferRelativeResize="0"/>
          <p:nvPr/>
        </p:nvPicPr>
        <p:blipFill>
          <a:blip r:embed="rId3">
            <a:alphaModFix/>
          </a:blip>
          <a:stretch>
            <a:fillRect/>
          </a:stretch>
        </p:blipFill>
        <p:spPr>
          <a:xfrm>
            <a:off x="7756863" y="3802488"/>
            <a:ext cx="1341012" cy="1341012"/>
          </a:xfrm>
          <a:prstGeom prst="rect">
            <a:avLst/>
          </a:prstGeom>
          <a:noFill/>
          <a:ln>
            <a:noFill/>
          </a:ln>
        </p:spPr>
      </p:pic>
      <p:sp>
        <p:nvSpPr>
          <p:cNvPr id="74" name="Google Shape;74;p15"/>
          <p:cNvSpPr/>
          <p:nvPr/>
        </p:nvSpPr>
        <p:spPr>
          <a:xfrm>
            <a:off x="162925" y="227600"/>
            <a:ext cx="8844300" cy="801900"/>
          </a:xfrm>
          <a:prstGeom prst="roundRect">
            <a:avLst>
              <a:gd fmla="val 11905" name="adj"/>
            </a:avLst>
          </a:prstGeom>
          <a:solidFill>
            <a:srgbClr val="FFF3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75" name="Google Shape;75;p15"/>
          <p:cNvSpPr/>
          <p:nvPr/>
        </p:nvSpPr>
        <p:spPr>
          <a:xfrm>
            <a:off x="204075" y="390500"/>
            <a:ext cx="9123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900"/>
              <a:buFont typeface="Plus Jakarta Sans"/>
              <a:buNone/>
            </a:pPr>
            <a:r>
              <a:rPr b="1" i="0" lang="en" sz="900" u="none" cap="none" strike="noStrike">
                <a:solidFill>
                  <a:srgbClr val="F55F00"/>
                </a:solidFill>
                <a:latin typeface="Lexend"/>
                <a:ea typeface="Lexend"/>
                <a:cs typeface="Lexend"/>
                <a:sym typeface="Lexend"/>
              </a:rPr>
              <a:t>KEY TAKEAWAY:</a:t>
            </a:r>
            <a:endParaRPr i="0" sz="900" u="none" cap="none" strike="noStrike">
              <a:solidFill>
                <a:schemeClr val="dk1"/>
              </a:solidFill>
              <a:latin typeface="Lexend"/>
              <a:ea typeface="Lexend"/>
              <a:cs typeface="Lexend"/>
              <a:sym typeface="Lexend"/>
            </a:endParaRPr>
          </a:p>
        </p:txBody>
      </p:sp>
      <p:sp>
        <p:nvSpPr>
          <p:cNvPr id="76" name="Google Shape;76;p15"/>
          <p:cNvSpPr/>
          <p:nvPr/>
        </p:nvSpPr>
        <p:spPr>
          <a:xfrm>
            <a:off x="1116225" y="272300"/>
            <a:ext cx="7890900" cy="712800"/>
          </a:xfrm>
          <a:prstGeom prst="rect">
            <a:avLst/>
          </a:prstGeom>
          <a:noFill/>
          <a:ln>
            <a:noFill/>
          </a:ln>
        </p:spPr>
        <p:txBody>
          <a:bodyPr anchorCtr="0" anchor="t" bIns="0" lIns="0" spcFirstLastPara="1" rIns="0" wrap="square" tIns="0">
            <a:noAutofit/>
          </a:bodyPr>
          <a:lstStyle/>
          <a:p>
            <a:pPr indent="-171450" lvl="0" marL="228600" marR="0" rtl="0" algn="l">
              <a:spcBef>
                <a:spcPts val="0"/>
              </a:spcBef>
              <a:spcAft>
                <a:spcPts val="0"/>
              </a:spcAft>
              <a:buClr>
                <a:srgbClr val="4C5158"/>
              </a:buClr>
              <a:buSzPts val="900"/>
              <a:buFont typeface="Roboto"/>
              <a:buChar char="●"/>
            </a:pPr>
            <a:r>
              <a:rPr b="1" lang="en" sz="900">
                <a:solidFill>
                  <a:srgbClr val="4C5158"/>
                </a:solidFill>
                <a:latin typeface="Lexend"/>
                <a:ea typeface="Lexend"/>
                <a:cs typeface="Lexend"/>
                <a:sym typeface="Lexend"/>
              </a:rPr>
              <a:t>FR tăng 2.9% YoY,</a:t>
            </a:r>
            <a:r>
              <a:rPr lang="en" sz="900">
                <a:solidFill>
                  <a:srgbClr val="4C5158"/>
                </a:solidFill>
                <a:latin typeface="Lexend"/>
                <a:ea typeface="Lexend"/>
                <a:cs typeface="Lexend"/>
                <a:sym typeface="Lexend"/>
              </a:rPr>
              <a:t> tăng 3.3% ở HAN, 1.4% ở SGN. </a:t>
            </a:r>
            <a:endParaRPr sz="900">
              <a:solidFill>
                <a:srgbClr val="4C5158"/>
              </a:solidFill>
              <a:latin typeface="Lexend"/>
              <a:ea typeface="Lexend"/>
              <a:cs typeface="Lexend"/>
              <a:sym typeface="Lexend"/>
            </a:endParaRPr>
          </a:p>
          <a:p>
            <a:pPr indent="-171450" lvl="0" marL="228600" marR="0" rtl="0" algn="l">
              <a:spcBef>
                <a:spcPts val="0"/>
              </a:spcBef>
              <a:spcAft>
                <a:spcPts val="0"/>
              </a:spcAft>
              <a:buClr>
                <a:srgbClr val="4C5158"/>
              </a:buClr>
              <a:buSzPts val="900"/>
              <a:buFont typeface="Lexend"/>
              <a:buChar char="●"/>
            </a:pPr>
            <a:r>
              <a:rPr b="1" lang="en" sz="900">
                <a:solidFill>
                  <a:srgbClr val="4C5158"/>
                </a:solidFill>
                <a:latin typeface="Lexend"/>
                <a:ea typeface="Lexend"/>
                <a:cs typeface="Lexend"/>
                <a:sym typeface="Lexend"/>
              </a:rPr>
              <a:t>Supply hour </a:t>
            </a:r>
            <a:r>
              <a:rPr lang="en" sz="900">
                <a:solidFill>
                  <a:srgbClr val="4C5158"/>
                </a:solidFill>
                <a:latin typeface="Lexend"/>
                <a:ea typeface="Lexend"/>
                <a:cs typeface="Lexend"/>
                <a:sym typeface="Lexend"/>
              </a:rPr>
              <a:t>SGN tăng 3.51% YoY (Demand HAN giảm 20% dẫn đến Supply hour cũng giảm ~14.8%, ngược lại SGN demand tăng 7.4% nên SH có tăng 3.51%)</a:t>
            </a:r>
            <a:endParaRPr sz="900">
              <a:solidFill>
                <a:srgbClr val="4C5158"/>
              </a:solidFill>
              <a:latin typeface="Lexend"/>
              <a:ea typeface="Lexend"/>
              <a:cs typeface="Lexend"/>
              <a:sym typeface="Lexend"/>
            </a:endParaRPr>
          </a:p>
          <a:p>
            <a:pPr indent="-171450" lvl="0" marL="228600" marR="0" rtl="0" algn="l">
              <a:spcBef>
                <a:spcPts val="0"/>
              </a:spcBef>
              <a:spcAft>
                <a:spcPts val="0"/>
              </a:spcAft>
              <a:buClr>
                <a:srgbClr val="4C5158"/>
              </a:buClr>
              <a:buSzPts val="900"/>
              <a:buFont typeface="Roboto"/>
              <a:buChar char="●"/>
            </a:pPr>
            <a:r>
              <a:rPr b="1" lang="en" sz="900">
                <a:solidFill>
                  <a:srgbClr val="4C5158"/>
                </a:solidFill>
                <a:latin typeface="Lexend"/>
                <a:ea typeface="Lexend"/>
                <a:cs typeface="Lexend"/>
                <a:sym typeface="Lexend"/>
              </a:rPr>
              <a:t>Active cả hai City đều tăng</a:t>
            </a:r>
            <a:r>
              <a:rPr lang="en" sz="900">
                <a:solidFill>
                  <a:srgbClr val="4C5158"/>
                </a:solidFill>
                <a:latin typeface="Lexend"/>
                <a:ea typeface="Lexend"/>
                <a:cs typeface="Lexend"/>
                <a:sym typeface="Lexend"/>
              </a:rPr>
              <a:t>, chủ yếu tại SGN tăng 12%, tăng ở tất cả các nhóm, đặc biệt NIM tăng mạnh 82%. </a:t>
            </a:r>
            <a:endParaRPr sz="900">
              <a:solidFill>
                <a:srgbClr val="4C5158"/>
              </a:solidFill>
              <a:latin typeface="Lexend"/>
              <a:ea typeface="Lexend"/>
              <a:cs typeface="Lexend"/>
              <a:sym typeface="Lexend"/>
            </a:endParaRPr>
          </a:p>
          <a:p>
            <a:pPr indent="-171450" lvl="0" marL="228600" marR="0" rtl="0" algn="l">
              <a:spcBef>
                <a:spcPts val="0"/>
              </a:spcBef>
              <a:spcAft>
                <a:spcPts val="0"/>
              </a:spcAft>
              <a:buClr>
                <a:srgbClr val="4C5158"/>
              </a:buClr>
              <a:buSzPts val="900"/>
              <a:buFont typeface="Lexend"/>
              <a:buChar char="●"/>
            </a:pPr>
            <a:r>
              <a:rPr lang="en" sz="900">
                <a:solidFill>
                  <a:srgbClr val="4C5158"/>
                </a:solidFill>
                <a:latin typeface="Lexend"/>
                <a:ea typeface="Lexend"/>
                <a:cs typeface="Lexend"/>
                <a:sym typeface="Lexend"/>
              </a:rPr>
              <a:t>Đối với HAN số lượng Tài xế FT giảm mạnh ~30% so với YoY, tuy nhiên Prod có cải thiện ~13.2%</a:t>
            </a:r>
            <a:endParaRPr sz="900">
              <a:solidFill>
                <a:srgbClr val="4C5158"/>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6"/>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Ops Growth </a:t>
            </a:r>
            <a:r>
              <a:rPr lang="en" sz="900">
                <a:solidFill>
                  <a:srgbClr val="999999"/>
                </a:solidFill>
                <a:latin typeface="Times New Roman"/>
                <a:ea typeface="Times New Roman"/>
                <a:cs typeface="Times New Roman"/>
                <a:sym typeface="Times New Roman"/>
              </a:rPr>
              <a:t>| DM | DE | Minihub + EV | Innovation Project</a:t>
            </a:r>
            <a:endParaRPr sz="900">
              <a:solidFill>
                <a:srgbClr val="999999"/>
              </a:solidFill>
              <a:latin typeface="Times New Roman"/>
              <a:ea typeface="Times New Roman"/>
              <a:cs typeface="Times New Roman"/>
              <a:sym typeface="Times New Roman"/>
            </a:endParaRPr>
          </a:p>
        </p:txBody>
      </p:sp>
      <p:sp>
        <p:nvSpPr>
          <p:cNvPr id="83" name="Google Shape;83;p16"/>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sp>
        <p:nvSpPr>
          <p:cNvPr id="84" name="Google Shape;84;p16"/>
          <p:cNvSpPr txBox="1"/>
          <p:nvPr/>
        </p:nvSpPr>
        <p:spPr>
          <a:xfrm>
            <a:off x="87725" y="75200"/>
            <a:ext cx="7063200" cy="801900"/>
          </a:xfrm>
          <a:prstGeom prst="rect">
            <a:avLst/>
          </a:prstGeom>
          <a:no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None/>
            </a:pPr>
            <a:r>
              <a:rPr b="1" lang="en" sz="1500">
                <a:solidFill>
                  <a:srgbClr val="00467F"/>
                </a:solidFill>
                <a:latin typeface="Lexend"/>
                <a:ea typeface="Lexend"/>
                <a:cs typeface="Lexend"/>
                <a:sym typeface="Lexend"/>
              </a:rPr>
              <a:t>Vận hành chung của Ops Growth</a:t>
            </a:r>
            <a:endParaRPr sz="1000">
              <a:solidFill>
                <a:schemeClr val="dk1"/>
              </a:solidFill>
              <a:latin typeface="Lexend"/>
              <a:ea typeface="Lexend"/>
              <a:cs typeface="Lexend"/>
              <a:sym typeface="Lexend"/>
            </a:endParaRPr>
          </a:p>
          <a:p>
            <a:pPr indent="-177800" lvl="0" marL="228600" marR="0" rtl="0" algn="l">
              <a:lnSpc>
                <a:spcPct val="100000"/>
              </a:lnSpc>
              <a:spcBef>
                <a:spcPts val="0"/>
              </a:spcBef>
              <a:spcAft>
                <a:spcPts val="0"/>
              </a:spcAft>
              <a:buClr>
                <a:schemeClr val="dk1"/>
              </a:buClr>
              <a:buSzPts val="1000"/>
              <a:buFont typeface="Lexend"/>
              <a:buChar char="●"/>
            </a:pPr>
            <a:r>
              <a:rPr lang="en" sz="1000">
                <a:solidFill>
                  <a:schemeClr val="dk1"/>
                </a:solidFill>
                <a:latin typeface="Lexend"/>
                <a:ea typeface="Lexend"/>
                <a:cs typeface="Lexend"/>
                <a:sym typeface="Lexend"/>
              </a:rPr>
              <a:t>Triển khai lộ trình training onboarding - truyền thông đến tài xế</a:t>
            </a:r>
            <a:endParaRPr sz="1000">
              <a:solidFill>
                <a:schemeClr val="dk1"/>
              </a:solidFill>
              <a:latin typeface="Lexend"/>
              <a:ea typeface="Lexend"/>
              <a:cs typeface="Lexend"/>
              <a:sym typeface="Lexend"/>
            </a:endParaRPr>
          </a:p>
          <a:p>
            <a:pPr indent="-177800" lvl="0" marL="228600" rtl="0" algn="l">
              <a:spcBef>
                <a:spcPts val="0"/>
              </a:spcBef>
              <a:spcAft>
                <a:spcPts val="0"/>
              </a:spcAft>
              <a:buClr>
                <a:schemeClr val="dk1"/>
              </a:buClr>
              <a:buSzPts val="1000"/>
              <a:buFont typeface="Lexend"/>
              <a:buChar char="●"/>
            </a:pPr>
            <a:r>
              <a:rPr lang="en" sz="1000">
                <a:solidFill>
                  <a:schemeClr val="dk1"/>
                </a:solidFill>
                <a:latin typeface="Lexend"/>
                <a:ea typeface="Lexend"/>
                <a:cs typeface="Lexend"/>
                <a:sym typeface="Lexend"/>
              </a:rPr>
              <a:t>Xây dựng Cohort theo mốc ngắn ngày</a:t>
            </a:r>
            <a:endParaRPr sz="1000">
              <a:solidFill>
                <a:schemeClr val="dk1"/>
              </a:solidFill>
              <a:latin typeface="Lexend"/>
              <a:ea typeface="Lexend"/>
              <a:cs typeface="Lexend"/>
              <a:sym typeface="Lexend"/>
            </a:endParaRPr>
          </a:p>
          <a:p>
            <a:pPr indent="-177800" lvl="0" marL="228600" marR="0" rtl="0" algn="l">
              <a:lnSpc>
                <a:spcPct val="100000"/>
              </a:lnSpc>
              <a:spcBef>
                <a:spcPts val="0"/>
              </a:spcBef>
              <a:spcAft>
                <a:spcPts val="0"/>
              </a:spcAft>
              <a:buClr>
                <a:schemeClr val="dk1"/>
              </a:buClr>
              <a:buSzPts val="1000"/>
              <a:buFont typeface="Lexend"/>
              <a:buChar char="●"/>
            </a:pPr>
            <a:r>
              <a:rPr lang="en" sz="1000">
                <a:solidFill>
                  <a:schemeClr val="dk1"/>
                </a:solidFill>
                <a:latin typeface="Lexend"/>
                <a:ea typeface="Lexend"/>
                <a:cs typeface="Lexend"/>
                <a:sym typeface="Lexend"/>
              </a:rPr>
              <a:t>Thay đổi cơ chế ký quỹ</a:t>
            </a:r>
            <a:endParaRPr sz="1000">
              <a:solidFill>
                <a:schemeClr val="dk1"/>
              </a:solidFill>
              <a:latin typeface="Lexend"/>
              <a:ea typeface="Lexend"/>
              <a:cs typeface="Lexend"/>
              <a:sym typeface="Lexend"/>
            </a:endParaRPr>
          </a:p>
        </p:txBody>
      </p:sp>
      <p:cxnSp>
        <p:nvCxnSpPr>
          <p:cNvPr id="85" name="Google Shape;85;p16"/>
          <p:cNvCxnSpPr/>
          <p:nvPr/>
        </p:nvCxnSpPr>
        <p:spPr>
          <a:xfrm>
            <a:off x="62663" y="876300"/>
            <a:ext cx="8287200" cy="13800"/>
          </a:xfrm>
          <a:prstGeom prst="straightConnector1">
            <a:avLst/>
          </a:prstGeom>
          <a:noFill/>
          <a:ln cap="flat" cmpd="sng" w="19050">
            <a:solidFill>
              <a:srgbClr val="1155CC"/>
            </a:solidFill>
            <a:prstDash val="solid"/>
            <a:round/>
            <a:headEnd len="med" w="med" type="none"/>
            <a:tailEnd len="med" w="med" type="none"/>
          </a:ln>
        </p:spPr>
      </p:cxnSp>
      <p:graphicFrame>
        <p:nvGraphicFramePr>
          <p:cNvPr id="86" name="Google Shape;86;p16"/>
          <p:cNvGraphicFramePr/>
          <p:nvPr/>
        </p:nvGraphicFramePr>
        <p:xfrm>
          <a:off x="229375" y="984296"/>
          <a:ext cx="3000000" cy="3000000"/>
        </p:xfrm>
        <a:graphic>
          <a:graphicData uri="http://schemas.openxmlformats.org/drawingml/2006/table">
            <a:tbl>
              <a:tblPr>
                <a:noFill/>
                <a:tableStyleId>{84A9007E-4112-45BC-9D73-1BCF8FDB95CB}</a:tableStyleId>
              </a:tblPr>
              <a:tblGrid>
                <a:gridCol w="1506225"/>
                <a:gridCol w="2140675"/>
                <a:gridCol w="2715125"/>
                <a:gridCol w="2472575"/>
              </a:tblGrid>
              <a:tr h="267275">
                <a:tc>
                  <a:txBody>
                    <a:bodyPr/>
                    <a:lstStyle/>
                    <a:p>
                      <a:pPr indent="0" lvl="0" marL="0" rtl="0" algn="ctr">
                        <a:spcBef>
                          <a:spcPts val="0"/>
                        </a:spcBef>
                        <a:spcAft>
                          <a:spcPts val="0"/>
                        </a:spcAft>
                        <a:buNone/>
                      </a:pPr>
                      <a:r>
                        <a:rPr b="1" lang="en" sz="1000">
                          <a:latin typeface="Lexend"/>
                          <a:ea typeface="Lexend"/>
                          <a:cs typeface="Lexend"/>
                          <a:sym typeface="Lexend"/>
                        </a:rPr>
                        <a:t>Task đã triển khai</a:t>
                      </a:r>
                      <a:endParaRPr b="1" sz="1000">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latin typeface="Lexend"/>
                          <a:ea typeface="Lexend"/>
                          <a:cs typeface="Lexend"/>
                          <a:sym typeface="Lexend"/>
                        </a:rPr>
                        <a:t>Mục tiêu</a:t>
                      </a:r>
                      <a:endParaRPr b="1" sz="1000">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latin typeface="Lexend"/>
                          <a:ea typeface="Lexend"/>
                          <a:cs typeface="Lexend"/>
                          <a:sym typeface="Lexend"/>
                        </a:rPr>
                        <a:t>Kết quả thực tế</a:t>
                      </a:r>
                      <a:endParaRPr b="1" sz="1000">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latin typeface="Lexend"/>
                          <a:ea typeface="Lexend"/>
                          <a:cs typeface="Lexend"/>
                          <a:sym typeface="Lexend"/>
                        </a:rPr>
                        <a:t>Lesson learned</a:t>
                      </a:r>
                      <a:endParaRPr b="1" sz="1000">
                        <a:latin typeface="Lexend"/>
                        <a:ea typeface="Lexend"/>
                        <a:cs typeface="Lexend"/>
                        <a:sym typeface="Lexend"/>
                      </a:endParaRPr>
                    </a:p>
                  </a:txBody>
                  <a:tcPr marT="45725" marB="45725" marR="45725" marL="45725">
                    <a:solidFill>
                      <a:srgbClr val="FF7F32"/>
                    </a:solidFill>
                  </a:tcPr>
                </a:tc>
              </a:tr>
              <a:tr h="698825">
                <a:tc>
                  <a:txBody>
                    <a:bodyPr/>
                    <a:lstStyle/>
                    <a:p>
                      <a:pPr indent="0" lvl="0" marL="0" rtl="0" algn="l">
                        <a:spcBef>
                          <a:spcPts val="0"/>
                        </a:spcBef>
                        <a:spcAft>
                          <a:spcPts val="0"/>
                        </a:spcAft>
                        <a:buNone/>
                      </a:pPr>
                      <a:r>
                        <a:rPr lang="en" sz="1000">
                          <a:latin typeface="Lexend"/>
                          <a:ea typeface="Lexend"/>
                          <a:cs typeface="Lexend"/>
                          <a:sym typeface="Lexend"/>
                        </a:rPr>
                        <a:t>Chuẩn hóa Newbie Onboarding</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Tạo ra lộ trình hướng dẫn </a:t>
                      </a:r>
                      <a:r>
                        <a:rPr lang="en" sz="1000">
                          <a:solidFill>
                            <a:schemeClr val="dk1"/>
                          </a:solidFill>
                          <a:latin typeface="Lexend"/>
                          <a:ea typeface="Lexend"/>
                          <a:cs typeface="Lexend"/>
                          <a:sym typeface="Lexend"/>
                        </a:rPr>
                        <a:t>thiết thực</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en" sz="1000">
                          <a:solidFill>
                            <a:schemeClr val="dk1"/>
                          </a:solidFill>
                          <a:latin typeface="Lexend"/>
                          <a:ea typeface="Lexend"/>
                          <a:cs typeface="Lexend"/>
                          <a:sym typeface="Lexend"/>
                        </a:rPr>
                        <a:t>Giúp giảm nguy cơ vi phạm quy định</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en" sz="1000">
                          <a:solidFill>
                            <a:schemeClr val="dk1"/>
                          </a:solidFill>
                          <a:latin typeface="Lexend"/>
                          <a:ea typeface="Lexend"/>
                          <a:cs typeface="Lexend"/>
                          <a:sym typeface="Lexend"/>
                        </a:rPr>
                        <a:t>100% tài xế mới có thể tiếp cận</a:t>
                      </a:r>
                      <a:endParaRPr sz="1000">
                        <a:solidFill>
                          <a:schemeClr val="dk1"/>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Cách truyền thông đến tài xế chưa hiệu hiệu quả</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T8 chỉ tiếp cận được ~ 25.7% DFD</a:t>
                      </a:r>
                      <a:endParaRPr sz="1000">
                        <a:latin typeface="Lexend"/>
                        <a:ea typeface="Lexend"/>
                        <a:cs typeface="Lexend"/>
                        <a:sym typeface="Lexend"/>
                      </a:endParaRPr>
                    </a:p>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Nội dung đã đầy đủ và được phân phối đa kênh, tuy nhiên tỷ lệ TX xem còn thấp. Cần chuyển đổi nội dung thành khóa đào tạo và kết hợp vào CTT để tiếp cận tx tốt hơn.</a:t>
                      </a:r>
                      <a:endParaRPr sz="1000">
                        <a:latin typeface="Lexend"/>
                        <a:ea typeface="Lexend"/>
                        <a:cs typeface="Lexend"/>
                        <a:sym typeface="Lexend"/>
                      </a:endParaRPr>
                    </a:p>
                  </a:txBody>
                  <a:tcPr marT="45725" marB="45725" marR="45725" marL="45725"/>
                </a:tc>
              </a:tr>
              <a:tr h="867250">
                <a:tc>
                  <a:txBody>
                    <a:bodyPr/>
                    <a:lstStyle/>
                    <a:p>
                      <a:pPr indent="0" lvl="0" marL="0" rtl="0" algn="l">
                        <a:spcBef>
                          <a:spcPts val="0"/>
                        </a:spcBef>
                        <a:spcAft>
                          <a:spcPts val="0"/>
                        </a:spcAft>
                        <a:buNone/>
                      </a:pPr>
                      <a:r>
                        <a:rPr lang="en" sz="1000">
                          <a:latin typeface="Lexend"/>
                          <a:ea typeface="Lexend"/>
                          <a:cs typeface="Lexend"/>
                          <a:sym typeface="Lexend"/>
                        </a:rPr>
                        <a:t>Xây dựng Cohort để cải thiện chỉ số Retention theo từng mốc ngấn</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Xác định chính xác mốc tài xế rời bỏ (D3, D7, D14... D60) để can thiệp đúng thời điểm, thay vì chỉ nhìn active rate tổng theo tháng </a:t>
                      </a:r>
                      <a:endParaRPr sz="1000">
                        <a:latin typeface="Lexend"/>
                        <a:ea typeface="Lexend"/>
                        <a:cs typeface="Lexend"/>
                        <a:sym typeface="Lexend"/>
                      </a:endParaRPr>
                    </a:p>
                  </a:txBody>
                  <a:tcPr marT="45725" marB="45725" marR="45725" marL="45725"/>
                </a:tc>
                <a:tc rowSpan="2">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DFD Retention tại các mốc đều ghi nhận xu hướng giảm dần từ T8/2025 đến hết nửa đầu 2026, trong đó mức suy giảm rõ nhất tại D7: 78% (T8/2025) → 67–71% (đầu 2026), giảm ~8–11%. D14: 75–77% → 59–68%, giảm ~9–16%</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Trước D7: Vấn đề giống nhau giữa các TX – Các vấn đề kỹ thuật và kĩ năng </a:t>
                      </a:r>
                      <a:r>
                        <a:rPr i="1" lang="en" sz="1000">
                          <a:latin typeface="Lexend"/>
                          <a:ea typeface="Lexend"/>
                          <a:cs typeface="Lexend"/>
                          <a:sym typeface="Lexend"/>
                        </a:rPr>
                        <a:t>(vận hành app, các kiến thức cơ bản, chính sách, kinh nghiệm chạy đơn,  …)</a:t>
                      </a:r>
                      <a:endParaRPr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Thiếu chính sách giữ chân, trong khi các chế tài mới liên tục gia tăng → tạo áp lực lên tài xế và ảnh hưởng đến khả năng duy trì hoạt động. </a:t>
                      </a:r>
                      <a:endParaRPr sz="1000">
                        <a:latin typeface="Lexend"/>
                        <a:ea typeface="Lexend"/>
                        <a:cs typeface="Lexend"/>
                        <a:sym typeface="Lexend"/>
                      </a:endParaRPr>
                    </a:p>
                  </a:txBody>
                  <a:tcPr marT="45725" marB="45725" marR="45725" marL="45725"/>
                </a:tc>
              </a:tr>
              <a:tr h="867250">
                <a:tc>
                  <a:txBody>
                    <a:bodyPr/>
                    <a:lstStyle/>
                    <a:p>
                      <a:pPr indent="0" lvl="0" marL="0" rtl="0" algn="l">
                        <a:spcBef>
                          <a:spcPts val="0"/>
                        </a:spcBef>
                        <a:spcAft>
                          <a:spcPts val="0"/>
                        </a:spcAft>
                        <a:buNone/>
                      </a:pPr>
                      <a:r>
                        <a:rPr lang="en" sz="1000">
                          <a:latin typeface="Lexend"/>
                          <a:ea typeface="Lexend"/>
                          <a:cs typeface="Lexend"/>
                          <a:sym typeface="Lexend"/>
                        </a:rPr>
                        <a:t>Nghiên cứu hành vi &amp; nguyên nhân Churn, đề xuất hỗ trợ giảm TX rời bỏ</a:t>
                      </a:r>
                      <a:endParaRPr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Xác định nguyên nhân rời bỏ, rào cản của TX, mong muốn hỗ trợ để đưa ra phương án khắc phục và cải thiện chỉ số </a:t>
                      </a:r>
                      <a:endParaRPr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c vMerge="1"/>
                <a:tc>
                  <a:txBody>
                    <a:bodyPr/>
                    <a:lstStyle/>
                    <a:p>
                      <a:pPr indent="0" lvl="0" marL="0" rtl="0" algn="l">
                        <a:spcBef>
                          <a:spcPts val="0"/>
                        </a:spcBef>
                        <a:spcAft>
                          <a:spcPts val="0"/>
                        </a:spcAft>
                        <a:buNone/>
                      </a:pPr>
                      <a:r>
                        <a:rPr lang="en" sz="1000">
                          <a:latin typeface="Lexend"/>
                          <a:ea typeface="Lexend"/>
                          <a:cs typeface="Lexend"/>
                          <a:sym typeface="Lexend"/>
                        </a:rPr>
                        <a:t>Sau D7, cần phân loại TX để tìm hiểu mong đợi thực sự của từng nhóm khi vận hành: Doanh thu, Định hướng, Hỗ trợ chi phí, … cũng như xây dựng hỗ trợ cho từng nhóm </a:t>
                      </a:r>
                      <a:endParaRPr sz="1000">
                        <a:latin typeface="Lexend"/>
                        <a:ea typeface="Lexend"/>
                        <a:cs typeface="Lexend"/>
                        <a:sym typeface="Lexend"/>
                      </a:endParaRPr>
                    </a:p>
                  </a:txBody>
                  <a:tcPr marT="45725" marB="45725" marR="45725" marL="45725"/>
                </a:tc>
              </a:tr>
              <a:tr h="935500">
                <a:tc>
                  <a:txBody>
                    <a:bodyPr/>
                    <a:lstStyle/>
                    <a:p>
                      <a:pPr indent="0" lvl="0" marL="0" rtl="0" algn="l">
                        <a:spcBef>
                          <a:spcPts val="0"/>
                        </a:spcBef>
                        <a:spcAft>
                          <a:spcPts val="0"/>
                        </a:spcAft>
                        <a:buNone/>
                      </a:pPr>
                      <a:r>
                        <a:rPr lang="en" sz="1000">
                          <a:latin typeface="Lexend"/>
                          <a:ea typeface="Lexend"/>
                          <a:cs typeface="Lexend"/>
                          <a:sym typeface="Lexend"/>
                        </a:rPr>
                        <a:t>Thay đổi luồng tự động ký quỹ (dự kiến áp dụng mới từ giữa tháng 9)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Tăng số lần tự động trích nạp và tiếp tục truy thu đến khi TX hoàn thành đủ số tiền tại từng mốc ký quỹ, thay vì giới hạn số lần thử – Done request, luồng mới ở slide tiếp theo</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Kết quả kỳ vọng tỷ lệ hoàn thành ký quỹ sẽ tăng thêm 10% (40% -&gt; 50% ) theo trung bình 3 tháng gần nhất (T3–T5/2026: 39–44%)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7"/>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Ops Growth </a:t>
            </a:r>
            <a:r>
              <a:rPr lang="en" sz="900">
                <a:solidFill>
                  <a:srgbClr val="999999"/>
                </a:solidFill>
                <a:latin typeface="Times New Roman"/>
                <a:ea typeface="Times New Roman"/>
                <a:cs typeface="Times New Roman"/>
                <a:sym typeface="Times New Roman"/>
              </a:rPr>
              <a:t>| DM | DE | Minihub + EV | Innovation Project</a:t>
            </a:r>
            <a:endParaRPr sz="900">
              <a:solidFill>
                <a:srgbClr val="999999"/>
              </a:solidFill>
              <a:latin typeface="Times New Roman"/>
              <a:ea typeface="Times New Roman"/>
              <a:cs typeface="Times New Roman"/>
              <a:sym typeface="Times New Roman"/>
            </a:endParaRPr>
          </a:p>
        </p:txBody>
      </p:sp>
      <p:sp>
        <p:nvSpPr>
          <p:cNvPr id="93" name="Google Shape;93;p17"/>
          <p:cNvSpPr txBox="1"/>
          <p:nvPr/>
        </p:nvSpPr>
        <p:spPr>
          <a:xfrm>
            <a:off x="87725" y="75200"/>
            <a:ext cx="8262300" cy="6522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DFD Retention: </a:t>
            </a:r>
            <a:r>
              <a:rPr lang="en" sz="1000">
                <a:solidFill>
                  <a:schemeClr val="dk1"/>
                </a:solidFill>
                <a:latin typeface="Lexend"/>
                <a:ea typeface="Lexend"/>
                <a:cs typeface="Lexend"/>
                <a:sym typeface="Lexend"/>
              </a:rPr>
              <a:t>Nhìn chung, chỉ số retention của các tháng 4 – 8/ 2026 đang có xu hướng giảm so với cùng kỳ 2025, đặc biệt là ở HAN dù đã có thêm các phương pháp hỗ trợ cho TX từ đầu Q3. Cần có hướng cải thiện và tăng hiệu quả.</a:t>
            </a:r>
            <a:endParaRPr sz="1000">
              <a:solidFill>
                <a:schemeClr val="dk1"/>
              </a:solidFill>
              <a:latin typeface="Lexend"/>
              <a:ea typeface="Lexend"/>
              <a:cs typeface="Lexend"/>
              <a:sym typeface="Lexend"/>
            </a:endParaRPr>
          </a:p>
        </p:txBody>
      </p:sp>
      <p:cxnSp>
        <p:nvCxnSpPr>
          <p:cNvPr id="94" name="Google Shape;94;p17"/>
          <p:cNvCxnSpPr/>
          <p:nvPr/>
        </p:nvCxnSpPr>
        <p:spPr>
          <a:xfrm>
            <a:off x="62663" y="609600"/>
            <a:ext cx="7168800" cy="0"/>
          </a:xfrm>
          <a:prstGeom prst="straightConnector1">
            <a:avLst/>
          </a:prstGeom>
          <a:noFill/>
          <a:ln cap="flat" cmpd="sng" w="19050">
            <a:solidFill>
              <a:srgbClr val="1155CC"/>
            </a:solidFill>
            <a:prstDash val="solid"/>
            <a:round/>
            <a:headEnd len="med" w="med" type="none"/>
            <a:tailEnd len="med" w="med" type="none"/>
          </a:ln>
        </p:spPr>
      </p:cxnSp>
      <p:pic>
        <p:nvPicPr>
          <p:cNvPr id="95" name="Google Shape;95;p17" title="Chart"/>
          <p:cNvPicPr preferRelativeResize="0"/>
          <p:nvPr/>
        </p:nvPicPr>
        <p:blipFill>
          <a:blip r:embed="rId3">
            <a:alphaModFix/>
          </a:blip>
          <a:stretch>
            <a:fillRect/>
          </a:stretch>
        </p:blipFill>
        <p:spPr>
          <a:xfrm>
            <a:off x="1443189" y="872942"/>
            <a:ext cx="3036042" cy="1922146"/>
          </a:xfrm>
          <a:prstGeom prst="rect">
            <a:avLst/>
          </a:prstGeom>
          <a:noFill/>
          <a:ln>
            <a:noFill/>
          </a:ln>
        </p:spPr>
      </p:pic>
      <p:pic>
        <p:nvPicPr>
          <p:cNvPr id="96" name="Google Shape;96;p17" title="Chart"/>
          <p:cNvPicPr preferRelativeResize="0"/>
          <p:nvPr/>
        </p:nvPicPr>
        <p:blipFill>
          <a:blip r:embed="rId4">
            <a:alphaModFix/>
          </a:blip>
          <a:stretch>
            <a:fillRect/>
          </a:stretch>
        </p:blipFill>
        <p:spPr>
          <a:xfrm>
            <a:off x="4543788" y="877742"/>
            <a:ext cx="3157025" cy="1912538"/>
          </a:xfrm>
          <a:prstGeom prst="rect">
            <a:avLst/>
          </a:prstGeom>
          <a:noFill/>
          <a:ln>
            <a:noFill/>
          </a:ln>
        </p:spPr>
      </p:pic>
      <p:sp>
        <p:nvSpPr>
          <p:cNvPr id="97" name="Google Shape;97;p17"/>
          <p:cNvSpPr txBox="1"/>
          <p:nvPr/>
        </p:nvSpPr>
        <p:spPr>
          <a:xfrm>
            <a:off x="140763" y="3063306"/>
            <a:ext cx="8662500" cy="1401300"/>
          </a:xfrm>
          <a:prstGeom prst="rect">
            <a:avLst/>
          </a:prstGeom>
          <a:solidFill>
            <a:srgbClr val="F3F3F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Insights:</a:t>
            </a:r>
            <a:endParaRPr b="1" sz="1000">
              <a:solidFill>
                <a:schemeClr val="dk1"/>
              </a:solidFill>
              <a:latin typeface="Lexend"/>
              <a:ea typeface="Lexend"/>
              <a:cs typeface="Lexend"/>
              <a:sym typeface="Lexend"/>
            </a:endParaRPr>
          </a:p>
          <a:p>
            <a:pPr indent="0" lvl="0" marL="0" rtl="0" algn="l">
              <a:spcBef>
                <a:spcPts val="0"/>
              </a:spcBef>
              <a:spcAft>
                <a:spcPts val="0"/>
              </a:spcAft>
              <a:buNone/>
            </a:pPr>
            <a:r>
              <a:t/>
            </a:r>
            <a:endParaRPr b="1" sz="1000">
              <a:solidFill>
                <a:schemeClr val="dk1"/>
              </a:solidFill>
              <a:latin typeface="Lexend"/>
              <a:ea typeface="Lexend"/>
              <a:cs typeface="Lexend"/>
              <a:sym typeface="Lexend"/>
            </a:endParaRPr>
          </a:p>
          <a:p>
            <a:pPr indent="0" lvl="0" marL="0" rtl="0" algn="l">
              <a:spcBef>
                <a:spcPts val="0"/>
              </a:spcBef>
              <a:spcAft>
                <a:spcPts val="0"/>
              </a:spcAft>
              <a:buNone/>
            </a:pPr>
            <a:r>
              <a:rPr b="1" lang="en" sz="1000">
                <a:solidFill>
                  <a:schemeClr val="dk1"/>
                </a:solidFill>
                <a:latin typeface="Lexend"/>
                <a:ea typeface="Lexend"/>
                <a:cs typeface="Lexend"/>
                <a:sym typeface="Lexend"/>
              </a:rPr>
              <a:t>[SGN] DFD Retention: </a:t>
            </a:r>
            <a:r>
              <a:rPr lang="en" sz="1000">
                <a:solidFill>
                  <a:schemeClr val="dk1"/>
                </a:solidFill>
                <a:latin typeface="Lexend"/>
                <a:ea typeface="Lexend"/>
                <a:cs typeface="Lexend"/>
                <a:sym typeface="Lexend"/>
              </a:rPr>
              <a:t>Xu hướng tương đối ổn định và bám sát cùng kỳ năm ngoái (xoay quanh 70% – 77%). Tháng 5-6 có sự cải thiện nhẹ so với năm ngoái, nhưng đến tháng 7-8 có xu hướng giảm nhẹ (xuống 70% vào tháng 8, thấp hơn cùng kỳ 74%).</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en" sz="1000">
                <a:solidFill>
                  <a:schemeClr val="dk1"/>
                </a:solidFill>
                <a:latin typeface="Lexend"/>
                <a:ea typeface="Lexend"/>
                <a:cs typeface="Lexend"/>
                <a:sym typeface="Lexend"/>
              </a:rPr>
              <a:t>[HAN] DFD Retention: </a:t>
            </a:r>
            <a:r>
              <a:rPr lang="en" sz="1000">
                <a:solidFill>
                  <a:schemeClr val="dk1"/>
                </a:solidFill>
                <a:latin typeface="Lexend"/>
                <a:ea typeface="Lexend"/>
                <a:cs typeface="Lexend"/>
                <a:sym typeface="Lexend"/>
              </a:rPr>
              <a:t>Tỷ lệ giữ chân thấp hơn so với cùng kỳ năm ngoái ở tất cả các tháng. Biên độ chênh lệch khá lớn (thấp hơn từ 1% đến 8%), cho thấy hiệu quả giữ chân tại thị trường Hà Nội đang có dấu hiệu sụt giảm rõ rệt.</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en" sz="1000">
                <a:solidFill>
                  <a:schemeClr val="dk1"/>
                </a:solidFill>
                <a:latin typeface="Lexend"/>
                <a:ea typeface="Lexend"/>
                <a:cs typeface="Lexend"/>
                <a:sym typeface="Lexend"/>
              </a:rPr>
              <a:t>→ </a:t>
            </a:r>
            <a:r>
              <a:rPr b="1" lang="en" sz="1000">
                <a:solidFill>
                  <a:schemeClr val="dk1"/>
                </a:solidFill>
                <a:latin typeface="Lexend"/>
                <a:ea typeface="Lexend"/>
                <a:cs typeface="Lexend"/>
                <a:sym typeface="Lexend"/>
              </a:rPr>
              <a:t>Chưa đo lường được hiệu quả </a:t>
            </a:r>
            <a:r>
              <a:rPr lang="en" sz="1000">
                <a:solidFill>
                  <a:schemeClr val="dk1"/>
                </a:solidFill>
                <a:latin typeface="Lexend"/>
                <a:ea typeface="Lexend"/>
                <a:cs typeface="Lexend"/>
                <a:sym typeface="Lexend"/>
              </a:rPr>
              <a:t>của bộ chuẩn hóa Guideline Newbook sau 1 thời gian triển khai và đi vào hoạt động. TX cần những touchpoint rõ ràng và mạnh mẽ hơn thay vì truyền thông mass thông qua App (Noti, PN, …) </a:t>
            </a:r>
            <a:endParaRPr sz="10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8"/>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sp>
        <p:nvSpPr>
          <p:cNvPr id="104" name="Google Shape;104;p18"/>
          <p:cNvSpPr txBox="1"/>
          <p:nvPr/>
        </p:nvSpPr>
        <p:spPr>
          <a:xfrm>
            <a:off x="137025" y="9475"/>
            <a:ext cx="9006900" cy="4170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Chính sách TX Mới | </a:t>
            </a:r>
            <a:r>
              <a:rPr lang="en" sz="1000">
                <a:solidFill>
                  <a:schemeClr val="dk1"/>
                </a:solidFill>
                <a:latin typeface="Lexend"/>
                <a:ea typeface="Lexend"/>
                <a:cs typeface="Lexend"/>
                <a:sym typeface="Lexend"/>
              </a:rPr>
              <a:t>Market research &amp; Action plan </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en" sz="1000">
                <a:solidFill>
                  <a:schemeClr val="dk1"/>
                </a:solidFill>
                <a:latin typeface="Lexend"/>
                <a:ea typeface="Lexend"/>
                <a:cs typeface="Lexend"/>
                <a:sym typeface="Lexend"/>
              </a:rPr>
              <a:t>Hiện tại, chỉ có Ahamove không triển khai CTT cho TX mới, đặc biệt là TX chạy CitiZone  → Đề xuất CTT cho TX mới: Áp dụng cho TX đăng ký CitiZone trong T9</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b="1" sz="1000">
              <a:solidFill>
                <a:schemeClr val="dk1"/>
              </a:solidFill>
              <a:latin typeface="Lexend"/>
              <a:ea typeface="Lexend"/>
              <a:cs typeface="Lexend"/>
              <a:sym typeface="Lexend"/>
            </a:endParaRPr>
          </a:p>
        </p:txBody>
      </p:sp>
      <p:cxnSp>
        <p:nvCxnSpPr>
          <p:cNvPr id="105" name="Google Shape;105;p18"/>
          <p:cNvCxnSpPr/>
          <p:nvPr/>
        </p:nvCxnSpPr>
        <p:spPr>
          <a:xfrm>
            <a:off x="-12" y="578775"/>
            <a:ext cx="7168800" cy="0"/>
          </a:xfrm>
          <a:prstGeom prst="straightConnector1">
            <a:avLst/>
          </a:prstGeom>
          <a:noFill/>
          <a:ln cap="flat" cmpd="sng" w="19050">
            <a:solidFill>
              <a:srgbClr val="1155CC"/>
            </a:solidFill>
            <a:prstDash val="solid"/>
            <a:round/>
            <a:headEnd len="med" w="med" type="none"/>
            <a:tailEnd len="med" w="med" type="none"/>
          </a:ln>
        </p:spPr>
      </p:cxnSp>
      <p:graphicFrame>
        <p:nvGraphicFramePr>
          <p:cNvPr id="106" name="Google Shape;106;p18"/>
          <p:cNvGraphicFramePr/>
          <p:nvPr/>
        </p:nvGraphicFramePr>
        <p:xfrm>
          <a:off x="162731" y="642819"/>
          <a:ext cx="3000000" cy="3000000"/>
        </p:xfrm>
        <a:graphic>
          <a:graphicData uri="http://schemas.openxmlformats.org/drawingml/2006/table">
            <a:tbl>
              <a:tblPr>
                <a:noFill/>
                <a:tableStyleId>{38C11DD4-BB49-442A-9D9A-3CC21BB04833}</a:tableStyleId>
              </a:tblPr>
              <a:tblGrid>
                <a:gridCol w="617275"/>
                <a:gridCol w="931850"/>
                <a:gridCol w="1550800"/>
                <a:gridCol w="1550800"/>
                <a:gridCol w="1550800"/>
                <a:gridCol w="1550800"/>
                <a:gridCol w="918700"/>
              </a:tblGrid>
              <a:tr h="263900">
                <a:tc>
                  <a:txBody>
                    <a:bodyPr/>
                    <a:lstStyle/>
                    <a:p>
                      <a:pPr indent="0" lvl="0" marL="0" rtl="0" algn="ctr">
                        <a:lnSpc>
                          <a:spcPct val="115000"/>
                        </a:lnSpc>
                        <a:spcBef>
                          <a:spcPts val="0"/>
                        </a:spcBef>
                        <a:spcAft>
                          <a:spcPts val="0"/>
                        </a:spcAft>
                        <a:buNone/>
                      </a:pPr>
                      <a:r>
                        <a:rPr b="1" lang="en" sz="800">
                          <a:solidFill>
                            <a:srgbClr val="FFFFFF"/>
                          </a:solidFill>
                          <a:latin typeface="Times New Roman"/>
                          <a:ea typeface="Times New Roman"/>
                          <a:cs typeface="Times New Roman"/>
                          <a:sym typeface="Times New Roman"/>
                        </a:rPr>
                        <a:t>Nhóm tiêu chí</a:t>
                      </a:r>
                      <a:endParaRPr b="1" sz="800">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BFBFB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1F3864"/>
                    </a:solidFill>
                  </a:tcPr>
                </a:tc>
                <a:tc>
                  <a:txBody>
                    <a:bodyPr/>
                    <a:lstStyle/>
                    <a:p>
                      <a:pPr indent="0" lvl="0" marL="0" rtl="0" algn="ctr">
                        <a:lnSpc>
                          <a:spcPct val="115000"/>
                        </a:lnSpc>
                        <a:spcBef>
                          <a:spcPts val="0"/>
                        </a:spcBef>
                        <a:spcAft>
                          <a:spcPts val="0"/>
                        </a:spcAft>
                        <a:buNone/>
                      </a:pPr>
                      <a:r>
                        <a:rPr b="1" lang="en" sz="800">
                          <a:solidFill>
                            <a:srgbClr val="FFFFFF"/>
                          </a:solidFill>
                          <a:latin typeface="Times New Roman"/>
                          <a:ea typeface="Times New Roman"/>
                          <a:cs typeface="Times New Roman"/>
                          <a:sym typeface="Times New Roman"/>
                        </a:rPr>
                        <a:t>Tiêu chí</a:t>
                      </a:r>
                      <a:endParaRPr b="1" sz="800">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1F3864"/>
                    </a:solidFill>
                  </a:tcPr>
                </a:tc>
                <a:tc>
                  <a:txBody>
                    <a:bodyPr/>
                    <a:lstStyle/>
                    <a:p>
                      <a:pPr indent="0" lvl="0" marL="0" rtl="0" algn="ctr">
                        <a:lnSpc>
                          <a:spcPct val="115000"/>
                        </a:lnSpc>
                        <a:spcBef>
                          <a:spcPts val="0"/>
                        </a:spcBef>
                        <a:spcAft>
                          <a:spcPts val="0"/>
                        </a:spcAft>
                        <a:buNone/>
                      </a:pPr>
                      <a:r>
                        <a:rPr b="1" lang="en" sz="800" u="sng">
                          <a:solidFill>
                            <a:srgbClr val="FFFFFF"/>
                          </a:solidFill>
                          <a:latin typeface="Times New Roman"/>
                          <a:ea typeface="Times New Roman"/>
                          <a:cs typeface="Times New Roman"/>
                          <a:sym typeface="Times New Roman"/>
                          <a:hlinkClick r:id="rId3">
                            <a:extLst>
                              <a:ext uri="{A12FA001-AC4F-418D-AE19-62706E023703}">
                                <ahyp:hlinkClr val="tx"/>
                              </a:ext>
                            </a:extLst>
                          </a:hlinkClick>
                        </a:rPr>
                        <a:t>Xanh SM (Bike Platform)</a:t>
                      </a:r>
                      <a:endParaRPr b="1" sz="800">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1F3864"/>
                    </a:solidFill>
                  </a:tcPr>
                </a:tc>
                <a:tc>
                  <a:txBody>
                    <a:bodyPr/>
                    <a:lstStyle/>
                    <a:p>
                      <a:pPr indent="0" lvl="0" marL="0" rtl="0" algn="ctr">
                        <a:lnSpc>
                          <a:spcPct val="115000"/>
                        </a:lnSpc>
                        <a:spcBef>
                          <a:spcPts val="0"/>
                        </a:spcBef>
                        <a:spcAft>
                          <a:spcPts val="0"/>
                        </a:spcAft>
                        <a:buNone/>
                      </a:pPr>
                      <a:r>
                        <a:rPr b="1" lang="en" sz="800" u="sng">
                          <a:solidFill>
                            <a:srgbClr val="FFFFFF"/>
                          </a:solidFill>
                          <a:latin typeface="Times New Roman"/>
                          <a:ea typeface="Times New Roman"/>
                          <a:cs typeface="Times New Roman"/>
                          <a:sym typeface="Times New Roman"/>
                          <a:hlinkClick r:id="rId4">
                            <a:extLst>
                              <a:ext uri="{A12FA001-AC4F-418D-AE19-62706E023703}">
                                <ahyp:hlinkClr val="tx"/>
                              </a:ext>
                            </a:extLst>
                          </a:hlinkClick>
                        </a:rPr>
                        <a:t>Grab (2 bánh)</a:t>
                      </a:r>
                      <a:endParaRPr b="1" sz="800" u="sng">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1F3864"/>
                    </a:solidFill>
                  </a:tcPr>
                </a:tc>
                <a:tc>
                  <a:txBody>
                    <a:bodyPr/>
                    <a:lstStyle/>
                    <a:p>
                      <a:pPr indent="0" lvl="0" marL="0" rtl="0" algn="ctr">
                        <a:lnSpc>
                          <a:spcPct val="115000"/>
                        </a:lnSpc>
                        <a:spcBef>
                          <a:spcPts val="0"/>
                        </a:spcBef>
                        <a:spcAft>
                          <a:spcPts val="0"/>
                        </a:spcAft>
                        <a:buNone/>
                      </a:pPr>
                      <a:r>
                        <a:rPr b="1" lang="en" sz="800" u="sng">
                          <a:solidFill>
                            <a:srgbClr val="FFFFFF"/>
                          </a:solidFill>
                          <a:latin typeface="Times New Roman"/>
                          <a:ea typeface="Times New Roman"/>
                          <a:cs typeface="Times New Roman"/>
                          <a:sym typeface="Times New Roman"/>
                          <a:hlinkClick r:id="rId5">
                            <a:extLst>
                              <a:ext uri="{A12FA001-AC4F-418D-AE19-62706E023703}">
                                <ahyp:hlinkClr val="tx"/>
                              </a:ext>
                            </a:extLst>
                          </a:hlinkClick>
                        </a:rPr>
                        <a:t>be (2 bánh)</a:t>
                      </a:r>
                      <a:endParaRPr b="1" sz="800" u="sng">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1F3864"/>
                    </a:solidFill>
                  </a:tcPr>
                </a:tc>
                <a:tc>
                  <a:txBody>
                    <a:bodyPr/>
                    <a:lstStyle/>
                    <a:p>
                      <a:pPr indent="0" lvl="0" marL="0" rtl="0" algn="ctr">
                        <a:lnSpc>
                          <a:spcPct val="115000"/>
                        </a:lnSpc>
                        <a:spcBef>
                          <a:spcPts val="0"/>
                        </a:spcBef>
                        <a:spcAft>
                          <a:spcPts val="0"/>
                        </a:spcAft>
                        <a:buNone/>
                      </a:pPr>
                      <a:r>
                        <a:rPr b="1" lang="en" sz="800" u="sng">
                          <a:solidFill>
                            <a:srgbClr val="FFFFFF"/>
                          </a:solidFill>
                          <a:latin typeface="Times New Roman"/>
                          <a:ea typeface="Times New Roman"/>
                          <a:cs typeface="Times New Roman"/>
                          <a:sym typeface="Times New Roman"/>
                          <a:hlinkClick r:id="rId6">
                            <a:extLst>
                              <a:ext uri="{A12FA001-AC4F-418D-AE19-62706E023703}">
                                <ahyp:hlinkClr val="tx"/>
                              </a:ext>
                            </a:extLst>
                          </a:hlinkClick>
                        </a:rPr>
                        <a:t>ShopeeFood</a:t>
                      </a:r>
                      <a:endParaRPr b="1" sz="800" u="sng">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1F3864"/>
                    </a:solidFill>
                  </a:tcPr>
                </a:tc>
                <a:tc>
                  <a:txBody>
                    <a:bodyPr/>
                    <a:lstStyle/>
                    <a:p>
                      <a:pPr indent="0" lvl="0" marL="0" rtl="0" algn="ctr">
                        <a:lnSpc>
                          <a:spcPct val="115000"/>
                        </a:lnSpc>
                        <a:spcBef>
                          <a:spcPts val="0"/>
                        </a:spcBef>
                        <a:spcAft>
                          <a:spcPts val="0"/>
                        </a:spcAft>
                        <a:buNone/>
                      </a:pPr>
                      <a:r>
                        <a:rPr b="1" lang="en" sz="800">
                          <a:solidFill>
                            <a:srgbClr val="FFFFFF"/>
                          </a:solidFill>
                          <a:latin typeface="Times New Roman"/>
                          <a:ea typeface="Times New Roman"/>
                          <a:cs typeface="Times New Roman"/>
                          <a:sym typeface="Times New Roman"/>
                        </a:rPr>
                        <a:t>Ahamove</a:t>
                      </a:r>
                      <a:endParaRPr b="1" sz="800">
                        <a:solidFill>
                          <a:srgbClr val="FFFFFF"/>
                        </a:solidFill>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BFBFBF"/>
                      </a:solidFill>
                      <a:prstDash val="solid"/>
                      <a:round/>
                      <a:headEnd len="sm" w="sm" type="none"/>
                      <a:tailEnd len="sm" w="sm" type="none"/>
                    </a:lnT>
                    <a:lnB cap="flat" cmpd="sng" w="3525">
                      <a:solidFill>
                        <a:srgbClr val="EFEFEF"/>
                      </a:solidFill>
                      <a:prstDash val="solid"/>
                      <a:round/>
                      <a:headEnd len="sm" w="sm" type="none"/>
                      <a:tailEnd len="sm" w="sm" type="none"/>
                    </a:lnB>
                    <a:solidFill>
                      <a:srgbClr val="B91C1C"/>
                    </a:solidFill>
                  </a:tcPr>
                </a:tc>
              </a:tr>
              <a:tr h="448000">
                <a:tc rowSpan="3">
                  <a:txBody>
                    <a:bodyPr/>
                    <a:lstStyle/>
                    <a:p>
                      <a:pPr indent="0" lvl="0" marL="0" rtl="0" algn="l">
                        <a:lnSpc>
                          <a:spcPct val="115000"/>
                        </a:lnSpc>
                        <a:spcBef>
                          <a:spcPts val="0"/>
                        </a:spcBef>
                        <a:spcAft>
                          <a:spcPts val="0"/>
                        </a:spcAft>
                        <a:buNone/>
                      </a:pPr>
                      <a:r>
                        <a:rPr b="1" lang="en" sz="800">
                          <a:latin typeface="Times New Roman"/>
                          <a:ea typeface="Times New Roman"/>
                          <a:cs typeface="Times New Roman"/>
                          <a:sym typeface="Times New Roman"/>
                        </a:rPr>
                        <a:t>Thưởng/ Đảm bảo thu nhập </a:t>
                      </a:r>
                      <a:endParaRPr b="1" sz="800">
                        <a:latin typeface="Times New Roman"/>
                        <a:ea typeface="Times New Roman"/>
                        <a:cs typeface="Times New Roman"/>
                        <a:sym typeface="Times New Roman"/>
                      </a:endParaRPr>
                    </a:p>
                  </a:txBody>
                  <a:tcPr marT="45725" marB="45725" marR="14300" marL="14300" anchor="ctr">
                    <a:lnL cap="flat" cmpd="sng" w="3525">
                      <a:solidFill>
                        <a:srgbClr val="BFBFB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EDF2F9"/>
                    </a:solidFill>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Đảm bảo thu nhập theo mốc tuần</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EDF2F9"/>
                    </a:solidFill>
                  </a:tcPr>
                </a:tc>
                <a:tc>
                  <a:txBody>
                    <a:bodyPr/>
                    <a:lstStyle/>
                    <a:p>
                      <a:pPr indent="0" lvl="0" marL="0" rtl="0" algn="l">
                        <a:lnSpc>
                          <a:spcPct val="115000"/>
                        </a:lnSpc>
                        <a:spcBef>
                          <a:spcPts val="0"/>
                        </a:spcBef>
                        <a:spcAft>
                          <a:spcPts val="0"/>
                        </a:spcAft>
                        <a:buNone/>
                      </a:pPr>
                      <a:r>
                        <a:rPr b="1" lang="en" sz="800">
                          <a:latin typeface="Times New Roman"/>
                          <a:ea typeface="Times New Roman"/>
                          <a:cs typeface="Times New Roman"/>
                          <a:sym typeface="Times New Roman"/>
                        </a:rPr>
                        <a:t>600.000đ/ngày (full-time) hoặc 360.000đ/ngày (part-time) trong 3 tháng đầu</a:t>
                      </a:r>
                      <a:r>
                        <a:rPr lang="en" sz="800">
                          <a:latin typeface="Times New Roman"/>
                          <a:ea typeface="Times New Roman"/>
                          <a:cs typeface="Times New Roman"/>
                          <a:sym typeface="Times New Roman"/>
                        </a:rPr>
                        <a:t>, tại HN và HCM kèm điều kiện về chỉ số hoạt động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FFF2CC"/>
                    </a:solidFill>
                  </a:tcPr>
                </a:tc>
              </a:tr>
              <a:tr h="256775">
                <a:tc vMerge="1"/>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Đảm bảo số cuốc/đơn</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EDF2F9"/>
                    </a:solidFill>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Cam kết phát tới </a:t>
                      </a:r>
                      <a:r>
                        <a:rPr b="1" lang="en" sz="800">
                          <a:latin typeface="Times New Roman"/>
                          <a:ea typeface="Times New Roman"/>
                          <a:cs typeface="Times New Roman"/>
                          <a:sym typeface="Times New Roman"/>
                        </a:rPr>
                        <a:t>17 cuốc/ngày</a:t>
                      </a:r>
                      <a:endParaRPr b="1"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FFF2CC"/>
                    </a:solidFill>
                  </a:tcPr>
                </a:tc>
              </a:tr>
              <a:tr h="543600">
                <a:tc vMerge="1"/>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Bù khi hệ thống không phát đủ</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EDF2F9"/>
                    </a:solidFill>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 đạt 15 cuốc/ngày:</a:t>
                      </a:r>
                      <a:r>
                        <a:rPr b="1" lang="en" sz="800">
                          <a:latin typeface="Times New Roman"/>
                          <a:ea typeface="Times New Roman"/>
                          <a:cs typeface="Times New Roman"/>
                          <a:sym typeface="Times New Roman"/>
                        </a:rPr>
                        <a:t> bù 36.000đ/cuốc thiếu</a:t>
                      </a:r>
                      <a:endParaRPr b="1"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Đạt 15 cuốc/ngày: </a:t>
                      </a:r>
                      <a:r>
                        <a:rPr b="1" lang="en" sz="800">
                          <a:latin typeface="Times New Roman"/>
                          <a:ea typeface="Times New Roman"/>
                          <a:cs typeface="Times New Roman"/>
                          <a:sym typeface="Times New Roman"/>
                        </a:rPr>
                        <a:t>doanh thu &lt;600.000đ thì bù cho đủ</a:t>
                      </a:r>
                      <a:r>
                        <a:rPr lang="en" sz="800">
                          <a:latin typeface="Times New Roman"/>
                          <a:ea typeface="Times New Roman"/>
                          <a:cs typeface="Times New Roman"/>
                          <a:sym typeface="Times New Roman"/>
                        </a:rPr>
                        <a:t>; </a:t>
                      </a:r>
                      <a:r>
                        <a:rPr b="1" lang="en" sz="800">
                          <a:latin typeface="Times New Roman"/>
                          <a:ea typeface="Times New Roman"/>
                          <a:cs typeface="Times New Roman"/>
                          <a:sym typeface="Times New Roman"/>
                        </a:rPr>
                        <a:t>≥600.000đ thì hỗ trợ thêm 72.000đ</a:t>
                      </a:r>
                      <a:endParaRPr b="1"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FFF2CC"/>
                    </a:solidFill>
                  </a:tcPr>
                </a:tc>
              </a:tr>
              <a:tr h="639200">
                <a:tc rowSpan="3">
                  <a:txBody>
                    <a:bodyPr/>
                    <a:lstStyle/>
                    <a:p>
                      <a:pPr indent="0" lvl="0" marL="0" rtl="0" algn="l">
                        <a:lnSpc>
                          <a:spcPct val="115000"/>
                        </a:lnSpc>
                        <a:spcBef>
                          <a:spcPts val="0"/>
                        </a:spcBef>
                        <a:spcAft>
                          <a:spcPts val="0"/>
                        </a:spcAft>
                        <a:buNone/>
                      </a:pPr>
                      <a:r>
                        <a:rPr b="1" lang="en" sz="800">
                          <a:latin typeface="Times New Roman"/>
                          <a:ea typeface="Times New Roman"/>
                          <a:cs typeface="Times New Roman"/>
                          <a:sym typeface="Times New Roman"/>
                        </a:rPr>
                        <a:t>Thưởng gia nhập</a:t>
                      </a:r>
                      <a:endParaRPr b="1" sz="800">
                        <a:latin typeface="Times New Roman"/>
                        <a:ea typeface="Times New Roman"/>
                        <a:cs typeface="Times New Roman"/>
                        <a:sym typeface="Times New Roman"/>
                      </a:endParaRPr>
                    </a:p>
                  </a:txBody>
                  <a:tcPr marT="45725" marB="45725" marR="14300" marL="14300" anchor="ctr">
                    <a:lnL cap="flat" cmpd="sng" w="3525">
                      <a:solidFill>
                        <a:srgbClr val="BFBFB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solidFill>
                      <a:srgbClr val="EDF2F9"/>
                    </a:solidFill>
                  </a:tcPr>
                </a:tc>
                <a:tc rowSpan="2">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Thưởng tiền mặt cho tài xế mới &amp; các mốc thưởng </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EDF2F9"/>
                    </a:solidFill>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Thưởng nóng lên đến 500.000đ, cộng thẳng vào ví (hoàn thành tối thiểu 350-450 cuốc/ tháng)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HN: 500k/700k/1M</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NW: TX ≤ 23t 150k/300k</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HCM: 150k</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Xe máy điện: 500k/800k/1M</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Áp dụng cho HN và HCM, cập nhật theo tháng</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Xe xăng: 80k/130K cho 40/60 chuyến</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Xe điện: 125k/150k/200k/300k cho 55/65/75/85 chuyến xe/tuần</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HCM: 50.000đ. HN: 150.000đ (HUB Ship) hoặc 50.000đ (HUB Food / Tự do)</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FFF2CC"/>
                    </a:solidFill>
                  </a:tcPr>
                </a:tc>
              </a:tr>
              <a:tr h="543600">
                <a:tc vMerge="1"/>
                <a:tc vMerge="1"/>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15 cuốc/ngày + tối thiểu 1 khung giờ cao điểm (6h-8h59 hoặc 16h-18h59)</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HN: 250/350/450 chuyến xe</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NW: TX ≤ 23t 80/200 chuyến xe</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HCM: 100 chuyến</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Xe máy điện: 250/350/450 chuyến xe</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Tỷ lệ hoàn thành chuyến ≥85%, tính cho toàn chu kỳ thưởng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5 đơn trong 3 ngày đầu kể từ khi hoàn tất thủ tục</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EFEFEF"/>
                      </a:solidFill>
                      <a:prstDash val="solid"/>
                      <a:round/>
                      <a:headEnd len="sm" w="sm" type="none"/>
                      <a:tailEnd len="sm" w="sm" type="none"/>
                    </a:lnB>
                    <a:solidFill>
                      <a:srgbClr val="FFF2CC"/>
                    </a:solidFill>
                  </a:tcPr>
                </a:tc>
              </a:tr>
              <a:tr h="448000">
                <a:tc vMerge="1"/>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Thưởng khác &amp; thưởng nhóm đặc biệt</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solidFill>
                      <a:srgbClr val="EDF2F9"/>
                    </a:solidFill>
                  </a:tcPr>
                </a:tc>
                <a:tc>
                  <a:txBody>
                    <a:bodyPr/>
                    <a:lstStyle/>
                    <a:p>
                      <a:pPr indent="0" lvl="0" marL="0" rtl="0" algn="l">
                        <a:lnSpc>
                          <a:spcPct val="115000"/>
                        </a:lnSpc>
                        <a:spcBef>
                          <a:spcPts val="0"/>
                        </a:spcBef>
                        <a:spcAft>
                          <a:spcPts val="0"/>
                        </a:spcAft>
                        <a:buNone/>
                      </a:pPr>
                      <a:r>
                        <a:rPr b="1" lang="en" sz="800">
                          <a:latin typeface="Times New Roman"/>
                          <a:ea typeface="Times New Roman"/>
                          <a:cs typeface="Times New Roman"/>
                          <a:sym typeface="Times New Roman"/>
                        </a:rPr>
                        <a:t>Miễn phí đồng phục hoặc miễn phí sạc/đổi pin</a:t>
                      </a:r>
                      <a:r>
                        <a:rPr lang="en" sz="800">
                          <a:latin typeface="Times New Roman"/>
                          <a:ea typeface="Times New Roman"/>
                          <a:cs typeface="Times New Roman"/>
                          <a:sym typeface="Times New Roman"/>
                        </a:rPr>
                        <a:t> cho TX mới đủ đơn và chỉ số hoạt động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Chương trình riêng cho Đối tác Nữ</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Thưởng: 500k/1M, Yêu cầu: 100/200 chuyến xe</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HN: tặng 2 mũ cho TX mới</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EFEFE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Times New Roman"/>
                          <a:ea typeface="Times New Roman"/>
                          <a:cs typeface="Times New Roman"/>
                          <a:sym typeface="Times New Roman"/>
                        </a:rPr>
                        <a:t>KHÔNG</a:t>
                      </a:r>
                      <a:endParaRPr sz="800">
                        <a:latin typeface="Times New Roman"/>
                        <a:ea typeface="Times New Roman"/>
                        <a:cs typeface="Times New Roman"/>
                        <a:sym typeface="Times New Roman"/>
                      </a:endParaRPr>
                    </a:p>
                  </a:txBody>
                  <a:tcPr marT="45725" marB="45725" marR="14300" marL="14300" anchor="ctr">
                    <a:lnL cap="flat" cmpd="sng" w="3525">
                      <a:solidFill>
                        <a:srgbClr val="EFEFEF"/>
                      </a:solidFill>
                      <a:prstDash val="solid"/>
                      <a:round/>
                      <a:headEnd len="sm" w="sm" type="none"/>
                      <a:tailEnd len="sm" w="sm" type="none"/>
                    </a:lnL>
                    <a:lnR cap="flat" cmpd="sng" w="3525">
                      <a:solidFill>
                        <a:srgbClr val="BFBFBF"/>
                      </a:solidFill>
                      <a:prstDash val="solid"/>
                      <a:round/>
                      <a:headEnd len="sm" w="sm" type="none"/>
                      <a:tailEnd len="sm" w="sm" type="none"/>
                    </a:lnR>
                    <a:lnT cap="flat" cmpd="sng" w="3525">
                      <a:solidFill>
                        <a:srgbClr val="EFEFEF"/>
                      </a:solidFill>
                      <a:prstDash val="solid"/>
                      <a:round/>
                      <a:headEnd len="sm" w="sm" type="none"/>
                      <a:tailEnd len="sm" w="sm" type="none"/>
                    </a:lnT>
                    <a:lnB cap="flat" cmpd="sng" w="3525">
                      <a:solidFill>
                        <a:srgbClr val="BFBFBF"/>
                      </a:solidFill>
                      <a:prstDash val="solid"/>
                      <a:round/>
                      <a:headEnd len="sm" w="sm" type="none"/>
                      <a:tailEnd len="sm" w="sm" type="none"/>
                    </a:lnB>
                    <a:solidFill>
                      <a:srgbClr val="FFF2C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graphicFrame>
        <p:nvGraphicFramePr>
          <p:cNvPr id="112" name="Google Shape;112;p19"/>
          <p:cNvGraphicFramePr/>
          <p:nvPr/>
        </p:nvGraphicFramePr>
        <p:xfrm>
          <a:off x="353013" y="383811"/>
          <a:ext cx="3000000" cy="3000000"/>
        </p:xfrm>
        <a:graphic>
          <a:graphicData uri="http://schemas.openxmlformats.org/drawingml/2006/table">
            <a:tbl>
              <a:tblPr>
                <a:noFill/>
                <a:tableStyleId>{84A9007E-4112-45BC-9D73-1BCF8FDB95CB}</a:tableStyleId>
              </a:tblPr>
              <a:tblGrid>
                <a:gridCol w="2155150"/>
                <a:gridCol w="2302350"/>
                <a:gridCol w="1056725"/>
                <a:gridCol w="3106375"/>
              </a:tblGrid>
              <a:tr h="262800">
                <a:tc>
                  <a:txBody>
                    <a:bodyPr/>
                    <a:lstStyle/>
                    <a:p>
                      <a:pPr indent="0" lvl="0" marL="0" rtl="0" algn="ctr">
                        <a:spcBef>
                          <a:spcPts val="0"/>
                        </a:spcBef>
                        <a:spcAft>
                          <a:spcPts val="0"/>
                        </a:spcAft>
                        <a:buNone/>
                      </a:pPr>
                      <a:r>
                        <a:rPr b="1" lang="en" sz="1000">
                          <a:latin typeface="Lexend"/>
                          <a:ea typeface="Lexend"/>
                          <a:cs typeface="Lexend"/>
                          <a:sym typeface="Lexend"/>
                        </a:rPr>
                        <a:t>Tasks</a:t>
                      </a:r>
                      <a:endParaRPr b="1" sz="1000">
                        <a:latin typeface="Lexend"/>
                        <a:ea typeface="Lexend"/>
                        <a:cs typeface="Lexend"/>
                        <a:sym typeface="Lexend"/>
                      </a:endParaRPr>
                    </a:p>
                  </a:txBody>
                  <a:tcPr marT="45725" marB="45725" marR="45725" marL="45725"/>
                </a:tc>
                <a:tc>
                  <a:txBody>
                    <a:bodyPr/>
                    <a:lstStyle/>
                    <a:p>
                      <a:pPr indent="0" lvl="0" marL="0" marR="0" rtl="0" algn="ctr">
                        <a:lnSpc>
                          <a:spcPct val="100000"/>
                        </a:lnSpc>
                        <a:spcBef>
                          <a:spcPts val="0"/>
                        </a:spcBef>
                        <a:spcAft>
                          <a:spcPts val="0"/>
                        </a:spcAft>
                        <a:buNone/>
                      </a:pPr>
                      <a:r>
                        <a:rPr b="1" lang="en" sz="1000">
                          <a:latin typeface="Lexend"/>
                          <a:ea typeface="Lexend"/>
                          <a:cs typeface="Lexend"/>
                          <a:sym typeface="Lexend"/>
                        </a:rPr>
                        <a:t>Mục tiêu</a:t>
                      </a:r>
                      <a:endParaRPr b="1" sz="1000">
                        <a:latin typeface="Lexend"/>
                        <a:ea typeface="Lexend"/>
                        <a:cs typeface="Lexend"/>
                        <a:sym typeface="Lexend"/>
                      </a:endParaRPr>
                    </a:p>
                  </a:txBody>
                  <a:tcPr marT="45725" marB="45725" marR="45725" marL="45725"/>
                </a:tc>
                <a:tc>
                  <a:txBody>
                    <a:bodyPr/>
                    <a:lstStyle/>
                    <a:p>
                      <a:pPr indent="0" lvl="0" marL="0" marR="0" rtl="0" algn="ctr">
                        <a:lnSpc>
                          <a:spcPct val="100000"/>
                        </a:lnSpc>
                        <a:spcBef>
                          <a:spcPts val="0"/>
                        </a:spcBef>
                        <a:spcAft>
                          <a:spcPts val="0"/>
                        </a:spcAft>
                        <a:buNone/>
                      </a:pPr>
                      <a:r>
                        <a:rPr b="1" lang="en" sz="1000">
                          <a:latin typeface="Lexend"/>
                          <a:ea typeface="Lexend"/>
                          <a:cs typeface="Lexend"/>
                          <a:sym typeface="Lexend"/>
                        </a:rPr>
                        <a:t>Tiến độ</a:t>
                      </a:r>
                      <a:endParaRPr b="1"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b="1" lang="en" sz="1000">
                          <a:latin typeface="Lexend"/>
                          <a:ea typeface="Lexend"/>
                          <a:cs typeface="Lexend"/>
                          <a:sym typeface="Lexend"/>
                        </a:rPr>
                        <a:t>Kết quả tháng</a:t>
                      </a:r>
                      <a:endParaRPr b="1" sz="1000">
                        <a:latin typeface="Lexend"/>
                        <a:ea typeface="Lexend"/>
                        <a:cs typeface="Lexend"/>
                        <a:sym typeface="Lexend"/>
                      </a:endParaRPr>
                    </a:p>
                  </a:txBody>
                  <a:tcPr marT="45725" marB="45725" marR="45725" marL="45725"/>
                </a:tc>
              </a:tr>
              <a:tr h="499725">
                <a:tc>
                  <a:txBody>
                    <a:bodyPr/>
                    <a:lstStyle/>
                    <a:p>
                      <a:pPr indent="0" lvl="0" marL="0" rtl="0" algn="l">
                        <a:lnSpc>
                          <a:spcPct val="100000"/>
                        </a:lnSpc>
                        <a:spcBef>
                          <a:spcPts val="0"/>
                        </a:spcBef>
                        <a:spcAft>
                          <a:spcPts val="0"/>
                        </a:spcAft>
                        <a:buNone/>
                      </a:pPr>
                      <a:r>
                        <a:rPr lang="en" sz="1000">
                          <a:solidFill>
                            <a:srgbClr val="333333"/>
                          </a:solidFill>
                          <a:latin typeface="Lexend"/>
                          <a:ea typeface="Lexend"/>
                          <a:cs typeface="Lexend"/>
                          <a:sym typeface="Lexend"/>
                        </a:rPr>
                        <a:t>Chuẩn hóa Newbie Onboarding</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Chuẩn hóa Guideline Book &amp; Video</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Phân loại theo Service Added</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Phân loại theo Driver Lifecycle</a:t>
                      </a:r>
                      <a:endParaRPr sz="1000">
                        <a:solidFill>
                          <a:srgbClr val="333333"/>
                        </a:solidFill>
                        <a:latin typeface="Lexend"/>
                        <a:ea typeface="Lexend"/>
                        <a:cs typeface="Lexend"/>
                        <a:sym typeface="Lexend"/>
                      </a:endParaRPr>
                    </a:p>
                  </a:txBody>
                  <a:tcPr marT="45725" marB="45725" marR="45725" marL="45725"/>
                </a:tc>
                <a:tc>
                  <a:txBody>
                    <a:bodyPr/>
                    <a:lstStyle/>
                    <a:p>
                      <a:pPr indent="0" lvl="0" marL="0" rtl="0" algn="l">
                        <a:lnSpc>
                          <a:spcPct val="126315"/>
                        </a:lnSpc>
                        <a:spcBef>
                          <a:spcPts val="0"/>
                        </a:spcBef>
                        <a:spcAft>
                          <a:spcPts val="0"/>
                        </a:spcAft>
                        <a:buNone/>
                      </a:pPr>
                      <a:r>
                        <a:rPr lang="en" sz="1000">
                          <a:solidFill>
                            <a:srgbClr val="333333"/>
                          </a:solidFill>
                          <a:latin typeface="Lexend"/>
                          <a:ea typeface="Lexend"/>
                          <a:cs typeface="Lexend"/>
                          <a:sym typeface="Lexend"/>
                        </a:rPr>
                        <a:t>🎯  Hoàn thành guideline &amp; video 100%</a:t>
                      </a:r>
                      <a:endParaRPr sz="1000">
                        <a:solidFill>
                          <a:srgbClr val="333333"/>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88900" lvl="0" marL="177800" rtl="0" algn="l">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Hoàn thành 5/8 video và push đến tài xế  theo Driver Lifecycle.</a:t>
                      </a:r>
                      <a:endParaRPr sz="1000">
                        <a:solidFill>
                          <a:srgbClr val="333333"/>
                        </a:solidFill>
                        <a:latin typeface="Lexend"/>
                        <a:ea typeface="Lexend"/>
                        <a:cs typeface="Lexend"/>
                        <a:sym typeface="Lexend"/>
                      </a:endParaRPr>
                    </a:p>
                    <a:p>
                      <a:pPr indent="-88900" lvl="0" marL="177800" rtl="0" algn="l">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Tự động hóa luồng noti in app theo đúng lộ trình training</a:t>
                      </a:r>
                      <a:endParaRPr sz="1000">
                        <a:solidFill>
                          <a:srgbClr val="333333"/>
                        </a:solidFill>
                        <a:latin typeface="Lexend"/>
                        <a:ea typeface="Lexend"/>
                        <a:cs typeface="Lexend"/>
                        <a:sym typeface="Lexend"/>
                      </a:endParaRPr>
                    </a:p>
                    <a:p>
                      <a:pPr indent="-88900" lvl="0" marL="177800" rtl="0" algn="l">
                        <a:lnSpc>
                          <a:spcPct val="141176"/>
                        </a:lnSpc>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Lập kế hoạch xây dựng khóa học trực tuyến</a:t>
                      </a:r>
                      <a:endParaRPr sz="1000">
                        <a:latin typeface="Lexend"/>
                        <a:ea typeface="Lexend"/>
                        <a:cs typeface="Lexend"/>
                        <a:sym typeface="Lexend"/>
                      </a:endParaRPr>
                    </a:p>
                  </a:txBody>
                  <a:tcPr marT="45725" marB="45725" marR="45725" marL="45725"/>
                </a:tc>
              </a:tr>
              <a:tr h="499725">
                <a:tc>
                  <a:txBody>
                    <a:bodyPr/>
                    <a:lstStyle/>
                    <a:p>
                      <a:pPr indent="0" lvl="0" marL="0" rtl="0" algn="l">
                        <a:lnSpc>
                          <a:spcPct val="100000"/>
                        </a:lnSpc>
                        <a:spcBef>
                          <a:spcPts val="0"/>
                        </a:spcBef>
                        <a:spcAft>
                          <a:spcPts val="0"/>
                        </a:spcAft>
                        <a:buNone/>
                      </a:pPr>
                      <a:r>
                        <a:rPr lang="en" sz="1000">
                          <a:solidFill>
                            <a:srgbClr val="333333"/>
                          </a:solidFill>
                          <a:latin typeface="Lexend"/>
                          <a:ea typeface="Lexend"/>
                          <a:cs typeface="Lexend"/>
                          <a:sym typeface="Lexend"/>
                        </a:rPr>
                        <a:t>Cải thiện Retention</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Theo dõi Retention sau 14D</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Theo dõi Retention sau 30D</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Theo dõi Retention sau 60D</a:t>
                      </a:r>
                      <a:endParaRPr sz="1000">
                        <a:solidFill>
                          <a:srgbClr val="333333"/>
                        </a:solidFill>
                        <a:latin typeface="Lexend"/>
                        <a:ea typeface="Lexend"/>
                        <a:cs typeface="Lexend"/>
                        <a:sym typeface="Lexend"/>
                      </a:endParaRPr>
                    </a:p>
                  </a:txBody>
                  <a:tcPr marT="45725" marB="45725" marR="45725" marL="45725"/>
                </a:tc>
                <a:tc>
                  <a:txBody>
                    <a:bodyPr/>
                    <a:lstStyle/>
                    <a:p>
                      <a:pPr indent="0" lvl="0" marL="0" rtl="0" algn="l">
                        <a:lnSpc>
                          <a:spcPct val="126315"/>
                        </a:lnSpc>
                        <a:spcBef>
                          <a:spcPts val="0"/>
                        </a:spcBef>
                        <a:spcAft>
                          <a:spcPts val="0"/>
                        </a:spcAft>
                        <a:buNone/>
                      </a:pPr>
                      <a:r>
                        <a:rPr lang="en" sz="1000">
                          <a:solidFill>
                            <a:srgbClr val="333333"/>
                          </a:solidFill>
                          <a:latin typeface="Lexend"/>
                          <a:ea typeface="Lexend"/>
                          <a:cs typeface="Lexend"/>
                          <a:sym typeface="Lexend"/>
                        </a:rPr>
                        <a:t>🎯  Retention 14D/30D/60D đạt mục tiêu từng giai đoạn</a:t>
                      </a:r>
                      <a:endParaRPr sz="1000">
                        <a:solidFill>
                          <a:srgbClr val="333333"/>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88900" lvl="0" marL="177800" marR="0" rtl="0" algn="l">
                        <a:lnSpc>
                          <a:spcPct val="100000"/>
                        </a:lnSpc>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Hoàn thành bảng cohort theo dõi retention theo từng mốc ngắn 3D/7D/14D…</a:t>
                      </a:r>
                      <a:endParaRPr sz="1000">
                        <a:solidFill>
                          <a:srgbClr val="333333"/>
                        </a:solidFill>
                        <a:latin typeface="Lexend"/>
                        <a:ea typeface="Lexend"/>
                        <a:cs typeface="Lexend"/>
                        <a:sym typeface="Lexend"/>
                      </a:endParaRPr>
                    </a:p>
                    <a:p>
                      <a:pPr indent="-88900" lvl="0" marL="177800" marR="0" rtl="0" algn="l">
                        <a:lnSpc>
                          <a:spcPct val="100000"/>
                        </a:lnSpc>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Research chính sách thưởng tài xế mới của các đối thủ: Xanh, Grad, Be, Shoppe Food.</a:t>
                      </a:r>
                      <a:endParaRPr sz="1000">
                        <a:solidFill>
                          <a:srgbClr val="333333"/>
                        </a:solidFill>
                        <a:latin typeface="Lexend"/>
                        <a:ea typeface="Lexend"/>
                        <a:cs typeface="Lexend"/>
                        <a:sym typeface="Lexend"/>
                      </a:endParaRPr>
                    </a:p>
                  </a:txBody>
                  <a:tcPr marT="45725" marB="45725" marR="45725" marL="45725"/>
                </a:tc>
              </a:tr>
              <a:tr h="378575">
                <a:tc>
                  <a:txBody>
                    <a:bodyPr/>
                    <a:lstStyle/>
                    <a:p>
                      <a:pPr indent="0" lvl="0" marL="0" rtl="0" algn="l">
                        <a:lnSpc>
                          <a:spcPct val="100000"/>
                        </a:lnSpc>
                        <a:spcBef>
                          <a:spcPts val="0"/>
                        </a:spcBef>
                        <a:spcAft>
                          <a:spcPts val="0"/>
                        </a:spcAft>
                        <a:buNone/>
                      </a:pPr>
                      <a:r>
                        <a:rPr lang="en" sz="1000">
                          <a:solidFill>
                            <a:srgbClr val="333333"/>
                          </a:solidFill>
                          <a:latin typeface="Lexend"/>
                          <a:ea typeface="Lexend"/>
                          <a:cs typeface="Lexend"/>
                          <a:sym typeface="Lexend"/>
                        </a:rPr>
                        <a:t>Phân loại Driver</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Phân loại Full-time / Part-time</a:t>
                      </a:r>
                      <a:endParaRPr sz="1000">
                        <a:solidFill>
                          <a:srgbClr val="333333"/>
                        </a:solidFill>
                        <a:latin typeface="Lexend"/>
                        <a:ea typeface="Lexend"/>
                        <a:cs typeface="Lexend"/>
                        <a:sym typeface="Lexend"/>
                      </a:endParaRPr>
                    </a:p>
                    <a:p>
                      <a:pPr indent="-177800" lvl="0" marL="177800" rtl="0" algn="l">
                        <a:lnSpc>
                          <a:spcPct val="100000"/>
                        </a:lnSpc>
                        <a:spcBef>
                          <a:spcPts val="0"/>
                        </a:spcBef>
                        <a:spcAft>
                          <a:spcPts val="0"/>
                        </a:spcAft>
                        <a:buClr>
                          <a:srgbClr val="5B6472"/>
                        </a:buClr>
                        <a:buSzPts val="400"/>
                        <a:buFont typeface="Lexend"/>
                        <a:buChar char="•"/>
                      </a:pPr>
                      <a:r>
                        <a:rPr lang="en" sz="1000">
                          <a:solidFill>
                            <a:srgbClr val="333333"/>
                          </a:solidFill>
                          <a:latin typeface="Lexend"/>
                          <a:ea typeface="Lexend"/>
                          <a:cs typeface="Lexend"/>
                          <a:sym typeface="Lexend"/>
                        </a:rPr>
                        <a:t>Xác định FT Potential</a:t>
                      </a:r>
                      <a:endParaRPr sz="1000">
                        <a:solidFill>
                          <a:srgbClr val="333333"/>
                        </a:solidFill>
                        <a:latin typeface="Lexend"/>
                        <a:ea typeface="Lexend"/>
                        <a:cs typeface="Lexend"/>
                        <a:sym typeface="Lexend"/>
                      </a:endParaRPr>
                    </a:p>
                  </a:txBody>
                  <a:tcPr marT="45725" marB="45725" marR="45725" marL="45725"/>
                </a:tc>
                <a:tc>
                  <a:txBody>
                    <a:bodyPr/>
                    <a:lstStyle/>
                    <a:p>
                      <a:pPr indent="0" lvl="0" marL="0" rtl="0" algn="l">
                        <a:lnSpc>
                          <a:spcPct val="126315"/>
                        </a:lnSpc>
                        <a:spcBef>
                          <a:spcPts val="0"/>
                        </a:spcBef>
                        <a:spcAft>
                          <a:spcPts val="0"/>
                        </a:spcAft>
                        <a:buNone/>
                      </a:pPr>
                      <a:r>
                        <a:rPr lang="en" sz="1000">
                          <a:solidFill>
                            <a:srgbClr val="333333"/>
                          </a:solidFill>
                          <a:latin typeface="Lexend"/>
                          <a:ea typeface="Lexend"/>
                          <a:cs typeface="Lexend"/>
                          <a:sym typeface="Lexend"/>
                        </a:rPr>
                        <a:t>🎯  Phân loại chính xác FT, PT và xác định FT Potential</a:t>
                      </a:r>
                      <a:endParaRPr sz="1000">
                        <a:solidFill>
                          <a:srgbClr val="333333"/>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88900" lvl="0" marL="177800" marR="0" rtl="0" algn="l">
                        <a:lnSpc>
                          <a:spcPct val="100000"/>
                        </a:lnSpc>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Align với Lượng về logic phân loại.</a:t>
                      </a:r>
                      <a:endParaRPr sz="1000">
                        <a:solidFill>
                          <a:srgbClr val="333333"/>
                        </a:solidFill>
                        <a:latin typeface="Lexend"/>
                        <a:ea typeface="Lexend"/>
                        <a:cs typeface="Lexend"/>
                        <a:sym typeface="Lexend"/>
                      </a:endParaRPr>
                    </a:p>
                    <a:p>
                      <a:pPr indent="-88900" lvl="0" marL="177800" marR="0" rtl="0" algn="l">
                        <a:lnSpc>
                          <a:spcPct val="100000"/>
                        </a:lnSpc>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Đặt mục tiêu cải thiện tỷ lệ tài xế NEW lên FT  ở SGN 19%, HAN 15% vào T10</a:t>
                      </a:r>
                      <a:endParaRPr sz="1000">
                        <a:solidFill>
                          <a:srgbClr val="333333"/>
                        </a:solidFill>
                        <a:latin typeface="Lexend"/>
                        <a:ea typeface="Lexend"/>
                        <a:cs typeface="Lexend"/>
                        <a:sym typeface="Lexend"/>
                      </a:endParaRPr>
                    </a:p>
                    <a:p>
                      <a:pPr indent="-88900" lvl="0" marL="177800" marR="0" rtl="0" algn="l">
                        <a:lnSpc>
                          <a:spcPct val="100000"/>
                        </a:lnSpc>
                        <a:spcBef>
                          <a:spcPts val="0"/>
                        </a:spcBef>
                        <a:spcAft>
                          <a:spcPts val="0"/>
                        </a:spcAft>
                        <a:buClr>
                          <a:srgbClr val="333333"/>
                        </a:buClr>
                        <a:buSzPts val="400"/>
                        <a:buFont typeface="Lexend"/>
                        <a:buChar char="✅"/>
                      </a:pPr>
                      <a:r>
                        <a:rPr lang="en" sz="1000">
                          <a:solidFill>
                            <a:srgbClr val="333333"/>
                          </a:solidFill>
                          <a:latin typeface="Lexend"/>
                          <a:ea typeface="Lexend"/>
                          <a:cs typeface="Lexend"/>
                          <a:sym typeface="Lexend"/>
                        </a:rPr>
                        <a:t>Phân loại tx tiệm cận FT tìm kiếm action</a:t>
                      </a:r>
                      <a:endParaRPr sz="1000">
                        <a:solidFill>
                          <a:srgbClr val="333333"/>
                        </a:solidFill>
                        <a:latin typeface="Lexend"/>
                        <a:ea typeface="Lexend"/>
                        <a:cs typeface="Lexend"/>
                        <a:sym typeface="Lexend"/>
                      </a:endParaRPr>
                    </a:p>
                  </a:txBody>
                  <a:tcPr marT="45725" marB="45725" marR="45725" marL="45725"/>
                </a:tc>
              </a:tr>
            </a:tbl>
          </a:graphicData>
        </a:graphic>
      </p:graphicFrame>
      <p:sp>
        <p:nvSpPr>
          <p:cNvPr id="113" name="Google Shape;113;p19"/>
          <p:cNvSpPr txBox="1"/>
          <p:nvPr/>
        </p:nvSpPr>
        <p:spPr>
          <a:xfrm>
            <a:off x="340488" y="87437"/>
            <a:ext cx="4737600" cy="2583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u="sng">
                <a:solidFill>
                  <a:srgbClr val="00467F"/>
                </a:solidFill>
                <a:latin typeface="Lexend"/>
                <a:ea typeface="Lexend"/>
                <a:cs typeface="Lexend"/>
                <a:sym typeface="Lexend"/>
              </a:rPr>
              <a:t>Đánh giá tiến độ OKRs hiện tại</a:t>
            </a:r>
            <a:endParaRPr b="1" sz="1000" u="sng">
              <a:solidFill>
                <a:srgbClr val="00467F"/>
              </a:solidFill>
              <a:latin typeface="Lexend"/>
              <a:ea typeface="Lexend"/>
              <a:cs typeface="Lexend"/>
              <a:sym typeface="Lexend"/>
            </a:endParaRPr>
          </a:p>
        </p:txBody>
      </p:sp>
      <p:graphicFrame>
        <p:nvGraphicFramePr>
          <p:cNvPr id="114" name="Google Shape;114;p19"/>
          <p:cNvGraphicFramePr/>
          <p:nvPr/>
        </p:nvGraphicFramePr>
        <p:xfrm>
          <a:off x="365544" y="3183805"/>
          <a:ext cx="3000000" cy="3000000"/>
        </p:xfrm>
        <a:graphic>
          <a:graphicData uri="http://schemas.openxmlformats.org/drawingml/2006/table">
            <a:tbl>
              <a:tblPr>
                <a:noFill/>
                <a:tableStyleId>{84A9007E-4112-45BC-9D73-1BCF8FDB95CB}</a:tableStyleId>
              </a:tblPr>
              <a:tblGrid>
                <a:gridCol w="2873525"/>
                <a:gridCol w="2873525"/>
                <a:gridCol w="2873525"/>
              </a:tblGrid>
              <a:tr h="190500">
                <a:tc>
                  <a:txBody>
                    <a:bodyPr/>
                    <a:lstStyle/>
                    <a:p>
                      <a:pPr indent="0" lvl="0" marL="0" rtl="0" algn="ctr">
                        <a:spcBef>
                          <a:spcPts val="0"/>
                        </a:spcBef>
                        <a:spcAft>
                          <a:spcPts val="0"/>
                        </a:spcAft>
                        <a:buNone/>
                      </a:pPr>
                      <a:r>
                        <a:rPr b="1" lang="en" sz="1000">
                          <a:latin typeface="Lexend"/>
                          <a:ea typeface="Lexend"/>
                          <a:cs typeface="Lexend"/>
                          <a:sym typeface="Lexend"/>
                        </a:rPr>
                        <a:t>Tasks</a:t>
                      </a:r>
                      <a:endParaRPr b="1" sz="1000">
                        <a:latin typeface="Lexend"/>
                        <a:ea typeface="Lexend"/>
                        <a:cs typeface="Lexend"/>
                        <a:sym typeface="Lexend"/>
                      </a:endParaRPr>
                    </a:p>
                  </a:txBody>
                  <a:tcPr marT="45725" marB="45725" marR="45725" marL="45725">
                    <a:lnR cap="flat" cmpd="sng" w="477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None/>
                      </a:pPr>
                      <a:r>
                        <a:rPr b="1" lang="en" sz="1000">
                          <a:latin typeface="Lexend"/>
                          <a:ea typeface="Lexend"/>
                          <a:cs typeface="Lexend"/>
                          <a:sym typeface="Lexend"/>
                        </a:rPr>
                        <a:t>Mục tiêu</a:t>
                      </a:r>
                      <a:endParaRPr b="1"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000">
                          <a:latin typeface="Lexend"/>
                          <a:ea typeface="Lexend"/>
                          <a:cs typeface="Lexend"/>
                          <a:sym typeface="Lexend"/>
                        </a:rPr>
                        <a:t>Timeline</a:t>
                      </a:r>
                      <a:endParaRPr b="1"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r>
              <a:tr h="190500">
                <a:tc>
                  <a:txBody>
                    <a:bodyPr/>
                    <a:lstStyle/>
                    <a:p>
                      <a:pPr indent="0" lvl="0" marL="0" rtl="0" algn="l">
                        <a:spcBef>
                          <a:spcPts val="0"/>
                        </a:spcBef>
                        <a:spcAft>
                          <a:spcPts val="0"/>
                        </a:spcAft>
                        <a:buNone/>
                      </a:pPr>
                      <a:r>
                        <a:rPr lang="en" sz="1000">
                          <a:latin typeface="Lexend"/>
                          <a:ea typeface="Lexend"/>
                          <a:cs typeface="Lexend"/>
                          <a:sym typeface="Lexend"/>
                        </a:rPr>
                        <a:t>Triển khai chính sách mới dành cho tài xế NEW</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Giữ chân tài xế hoạt động trong 30 ngày đầu</a:t>
                      </a:r>
                      <a:endParaRPr sz="1000">
                        <a:latin typeface="Lexend"/>
                        <a:ea typeface="Lexend"/>
                        <a:cs typeface="Lexend"/>
                        <a:sym typeface="Lexend"/>
                      </a:endParaRPr>
                    </a:p>
                  </a:txBody>
                  <a:tcPr marT="45725" marB="45725" marR="45725" marL="45725">
                    <a:lnT cap="flat" cmpd="sng" w="477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000">
                          <a:latin typeface="Lexend"/>
                          <a:ea typeface="Lexend"/>
                          <a:cs typeface="Lexend"/>
                          <a:sym typeface="Lexend"/>
                        </a:rPr>
                        <a:t>Trong tháng 9</a:t>
                      </a:r>
                      <a:endParaRPr sz="1000">
                        <a:latin typeface="Lexend"/>
                        <a:ea typeface="Lexend"/>
                        <a:cs typeface="Lexend"/>
                        <a:sym typeface="Lexend"/>
                      </a:endParaRPr>
                    </a:p>
                  </a:txBody>
                  <a:tcPr marT="45725" marB="45725" marR="45725" marL="45725">
                    <a:lnT cap="flat" cmpd="sng" w="4775">
                      <a:solidFill>
                        <a:srgbClr val="9E9E9E"/>
                      </a:solidFill>
                      <a:prstDash val="solid"/>
                      <a:round/>
                      <a:headEnd len="sm" w="sm" type="none"/>
                      <a:tailEnd len="sm" w="sm" type="none"/>
                    </a:lnT>
                  </a:tcPr>
                </a:tc>
              </a:tr>
              <a:tr h="190500">
                <a:tc>
                  <a:txBody>
                    <a:bodyPr/>
                    <a:lstStyle/>
                    <a:p>
                      <a:pPr indent="0" lvl="0" marL="0" rtl="0" algn="l">
                        <a:lnSpc>
                          <a:spcPct val="126315"/>
                        </a:lnSpc>
                        <a:spcBef>
                          <a:spcPts val="0"/>
                        </a:spcBef>
                        <a:spcAft>
                          <a:spcPts val="0"/>
                        </a:spcAft>
                        <a:buNone/>
                      </a:pPr>
                      <a:r>
                        <a:rPr lang="en" sz="1000">
                          <a:latin typeface="Lexend"/>
                          <a:ea typeface="Lexend"/>
                          <a:cs typeface="Lexend"/>
                          <a:sym typeface="Lexend"/>
                        </a:rPr>
                        <a:t>Đưa lộ trình hướng dẫn thành khóa học trực tuyến</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Tăng tỷ lệ tiếp cận nội dung onboarding (hiện chỉ ~25.7% DFD)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Trong 2 tháng, dự kiến hoàn thành trong T10</a:t>
                      </a:r>
                      <a:endParaRPr sz="1000">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None/>
                      </a:pPr>
                      <a:r>
                        <a:rPr lang="en" sz="1000">
                          <a:latin typeface="Lexend"/>
                          <a:ea typeface="Lexend"/>
                          <a:cs typeface="Lexend"/>
                          <a:sym typeface="Lexend"/>
                        </a:rPr>
                        <a:t>Dựa vào cohort về Retention để xác định thời điểm cần hỗ trợ</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Can thiệp đúng lúc tại các mốc rủi ro (D7, D14) để duy trì hoạt động</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Trong tháng 9</a:t>
                      </a:r>
                      <a:endParaRPr sz="1000">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None/>
                      </a:pPr>
                      <a:r>
                        <a:rPr lang="en" sz="1000">
                          <a:latin typeface="Lexend"/>
                          <a:ea typeface="Lexend"/>
                          <a:cs typeface="Lexend"/>
                          <a:sym typeface="Lexend"/>
                        </a:rPr>
                        <a:t>Truyền thông khuyến khích tài xế tham gia zone/hub</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Gia tăng thu nhập giúp giữ chân tốt hơn</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Trong tháng 9</a:t>
                      </a:r>
                      <a:endParaRPr sz="1000">
                        <a:latin typeface="Lexend"/>
                        <a:ea typeface="Lexend"/>
                        <a:cs typeface="Lexend"/>
                        <a:sym typeface="Lexend"/>
                      </a:endParaRPr>
                    </a:p>
                  </a:txBody>
                  <a:tcPr marT="45725" marB="45725" marR="45725" marL="45725"/>
                </a:tc>
              </a:tr>
            </a:tbl>
          </a:graphicData>
        </a:graphic>
      </p:graphicFrame>
      <p:sp>
        <p:nvSpPr>
          <p:cNvPr id="115" name="Google Shape;115;p19"/>
          <p:cNvSpPr txBox="1"/>
          <p:nvPr/>
        </p:nvSpPr>
        <p:spPr>
          <a:xfrm>
            <a:off x="340481" y="2908951"/>
            <a:ext cx="4737600" cy="2583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u="sng">
                <a:solidFill>
                  <a:srgbClr val="00467F"/>
                </a:solidFill>
                <a:latin typeface="Lexend"/>
                <a:ea typeface="Lexend"/>
                <a:cs typeface="Lexend"/>
                <a:sym typeface="Lexend"/>
              </a:rPr>
              <a:t>Các tasks khác trong Tháng 9</a:t>
            </a:r>
            <a:endParaRPr b="1" sz="1000" u="sng">
              <a:solidFill>
                <a:srgbClr val="00467F"/>
              </a:solidFill>
              <a:latin typeface="Lexend"/>
              <a:ea typeface="Lexend"/>
              <a:cs typeface="Lexend"/>
              <a:sym typeface="Lexend"/>
            </a:endParaRPr>
          </a:p>
        </p:txBody>
      </p:sp>
      <p:sp>
        <p:nvSpPr>
          <p:cNvPr id="116" name="Google Shape;116;p19"/>
          <p:cNvSpPr/>
          <p:nvPr/>
        </p:nvSpPr>
        <p:spPr>
          <a:xfrm>
            <a:off x="4917240" y="852516"/>
            <a:ext cx="8271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A3D"/>
              </a:buClr>
              <a:buSzPts val="1900"/>
              <a:buFont typeface="Calibri"/>
              <a:buNone/>
            </a:pPr>
            <a:r>
              <a:rPr b="1" lang="en" sz="1900">
                <a:solidFill>
                  <a:srgbClr val="FF8A3D"/>
                </a:solidFill>
                <a:latin typeface="Calibri"/>
                <a:ea typeface="Calibri"/>
                <a:cs typeface="Calibri"/>
                <a:sym typeface="Calibri"/>
              </a:rPr>
              <a:t>62</a:t>
            </a:r>
            <a:r>
              <a:rPr b="1" i="0" lang="en" sz="1900" u="none" cap="none" strike="noStrike">
                <a:solidFill>
                  <a:srgbClr val="FF8A3D"/>
                </a:solidFill>
                <a:latin typeface="Calibri"/>
                <a:ea typeface="Calibri"/>
                <a:cs typeface="Calibri"/>
                <a:sym typeface="Calibri"/>
              </a:rPr>
              <a:t>%</a:t>
            </a:r>
            <a:endParaRPr b="0" i="0" sz="1900" u="none" cap="none" strike="noStrike">
              <a:solidFill>
                <a:srgbClr val="000000"/>
              </a:solidFill>
              <a:latin typeface="Calibri"/>
              <a:ea typeface="Calibri"/>
              <a:cs typeface="Calibri"/>
              <a:sym typeface="Calibri"/>
            </a:endParaRPr>
          </a:p>
        </p:txBody>
      </p:sp>
      <p:sp>
        <p:nvSpPr>
          <p:cNvPr id="117" name="Google Shape;117;p19"/>
          <p:cNvSpPr/>
          <p:nvPr/>
        </p:nvSpPr>
        <p:spPr>
          <a:xfrm>
            <a:off x="4917240" y="1144559"/>
            <a:ext cx="775500" cy="63900"/>
          </a:xfrm>
          <a:prstGeom prst="roundRect">
            <a:avLst>
              <a:gd fmla="val 50000" name="adj"/>
            </a:avLst>
          </a:prstGeom>
          <a:solidFill>
            <a:srgbClr val="E6E9EF"/>
          </a:solidFill>
          <a:ln>
            <a:noFill/>
          </a:ln>
        </p:spPr>
        <p:txBody>
          <a:bodyPr anchorCtr="0" anchor="ctr" bIns="87850" lIns="87850" spcFirstLastPara="1" rIns="87850" wrap="square" tIns="87850">
            <a:noAutofit/>
          </a:bodyPr>
          <a:lstStyle/>
          <a:p>
            <a:pPr indent="0" lvl="0" marL="0" rtl="0" algn="l">
              <a:spcBef>
                <a:spcPts val="0"/>
              </a:spcBef>
              <a:spcAft>
                <a:spcPts val="0"/>
              </a:spcAft>
              <a:buNone/>
            </a:pPr>
            <a:r>
              <a:t/>
            </a:r>
            <a:endParaRPr/>
          </a:p>
        </p:txBody>
      </p:sp>
      <p:sp>
        <p:nvSpPr>
          <p:cNvPr id="118" name="Google Shape;118;p19"/>
          <p:cNvSpPr/>
          <p:nvPr/>
        </p:nvSpPr>
        <p:spPr>
          <a:xfrm>
            <a:off x="4917244" y="1144571"/>
            <a:ext cx="479100" cy="70500"/>
          </a:xfrm>
          <a:prstGeom prst="roundRect">
            <a:avLst>
              <a:gd fmla="val 50000" name="adj"/>
            </a:avLst>
          </a:prstGeom>
          <a:solidFill>
            <a:srgbClr val="FF8A3D"/>
          </a:solidFill>
          <a:ln>
            <a:noFill/>
          </a:ln>
        </p:spPr>
        <p:txBody>
          <a:bodyPr anchorCtr="0" anchor="ctr" bIns="87850" lIns="87850" spcFirstLastPara="1" rIns="87850" wrap="square" tIns="87850">
            <a:noAutofit/>
          </a:bodyPr>
          <a:lstStyle/>
          <a:p>
            <a:pPr indent="0" lvl="0" marL="0" rtl="0" algn="l">
              <a:spcBef>
                <a:spcPts val="0"/>
              </a:spcBef>
              <a:spcAft>
                <a:spcPts val="0"/>
              </a:spcAft>
              <a:buNone/>
            </a:pPr>
            <a:r>
              <a:t/>
            </a:r>
            <a:endParaRPr sz="1300"/>
          </a:p>
        </p:txBody>
      </p:sp>
      <p:sp>
        <p:nvSpPr>
          <p:cNvPr id="119" name="Google Shape;119;p19"/>
          <p:cNvSpPr/>
          <p:nvPr/>
        </p:nvSpPr>
        <p:spPr>
          <a:xfrm>
            <a:off x="4917236" y="1677187"/>
            <a:ext cx="8271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A3D"/>
              </a:buClr>
              <a:buSzPts val="1900"/>
              <a:buFont typeface="Calibri"/>
              <a:buNone/>
            </a:pPr>
            <a:r>
              <a:rPr b="1" lang="en" sz="1900">
                <a:solidFill>
                  <a:srgbClr val="FF8A3D"/>
                </a:solidFill>
                <a:latin typeface="Calibri"/>
                <a:ea typeface="Calibri"/>
                <a:cs typeface="Calibri"/>
                <a:sym typeface="Calibri"/>
              </a:rPr>
              <a:t>50</a:t>
            </a:r>
            <a:r>
              <a:rPr b="1" i="0" lang="en" sz="1900" u="none" cap="none" strike="noStrike">
                <a:solidFill>
                  <a:srgbClr val="FF8A3D"/>
                </a:solidFill>
                <a:latin typeface="Calibri"/>
                <a:ea typeface="Calibri"/>
                <a:cs typeface="Calibri"/>
                <a:sym typeface="Calibri"/>
              </a:rPr>
              <a:t>%</a:t>
            </a:r>
            <a:endParaRPr b="0" i="0" sz="1900" u="none" cap="none" strike="noStrike">
              <a:solidFill>
                <a:srgbClr val="000000"/>
              </a:solidFill>
              <a:latin typeface="Calibri"/>
              <a:ea typeface="Calibri"/>
              <a:cs typeface="Calibri"/>
              <a:sym typeface="Calibri"/>
            </a:endParaRPr>
          </a:p>
        </p:txBody>
      </p:sp>
      <p:sp>
        <p:nvSpPr>
          <p:cNvPr id="120" name="Google Shape;120;p19"/>
          <p:cNvSpPr/>
          <p:nvPr/>
        </p:nvSpPr>
        <p:spPr>
          <a:xfrm>
            <a:off x="4917236" y="1969215"/>
            <a:ext cx="775500" cy="63600"/>
          </a:xfrm>
          <a:prstGeom prst="roundRect">
            <a:avLst>
              <a:gd fmla="val 50000" name="adj"/>
            </a:avLst>
          </a:prstGeom>
          <a:solidFill>
            <a:srgbClr val="E6E9EF"/>
          </a:solidFill>
          <a:ln>
            <a:noFill/>
          </a:ln>
        </p:spPr>
        <p:txBody>
          <a:bodyPr anchorCtr="0" anchor="ctr" bIns="87850" lIns="87850" spcFirstLastPara="1" rIns="87850" wrap="square" tIns="87850">
            <a:noAutofit/>
          </a:bodyPr>
          <a:lstStyle/>
          <a:p>
            <a:pPr indent="0" lvl="0" marL="0" rtl="0" algn="l">
              <a:spcBef>
                <a:spcPts val="0"/>
              </a:spcBef>
              <a:spcAft>
                <a:spcPts val="0"/>
              </a:spcAft>
              <a:buNone/>
            </a:pPr>
            <a:r>
              <a:t/>
            </a:r>
            <a:endParaRPr sz="1300"/>
          </a:p>
        </p:txBody>
      </p:sp>
      <p:sp>
        <p:nvSpPr>
          <p:cNvPr id="121" name="Google Shape;121;p19"/>
          <p:cNvSpPr/>
          <p:nvPr/>
        </p:nvSpPr>
        <p:spPr>
          <a:xfrm>
            <a:off x="4917169" y="1969217"/>
            <a:ext cx="397800" cy="63600"/>
          </a:xfrm>
          <a:prstGeom prst="roundRect">
            <a:avLst>
              <a:gd fmla="val 50000" name="adj"/>
            </a:avLst>
          </a:prstGeom>
          <a:solidFill>
            <a:srgbClr val="FF8A3D"/>
          </a:solidFill>
          <a:ln>
            <a:noFill/>
          </a:ln>
        </p:spPr>
        <p:txBody>
          <a:bodyPr anchorCtr="0" anchor="ctr" bIns="87850" lIns="87850" spcFirstLastPara="1" rIns="87850" wrap="square" tIns="87850">
            <a:noAutofit/>
          </a:bodyPr>
          <a:lstStyle/>
          <a:p>
            <a:pPr indent="0" lvl="0" marL="0" rtl="0" algn="l">
              <a:spcBef>
                <a:spcPts val="0"/>
              </a:spcBef>
              <a:spcAft>
                <a:spcPts val="0"/>
              </a:spcAft>
              <a:buNone/>
            </a:pPr>
            <a:r>
              <a:t/>
            </a:r>
            <a:endParaRPr sz="1300"/>
          </a:p>
        </p:txBody>
      </p:sp>
      <p:sp>
        <p:nvSpPr>
          <p:cNvPr id="122" name="Google Shape;122;p19"/>
          <p:cNvSpPr/>
          <p:nvPr/>
        </p:nvSpPr>
        <p:spPr>
          <a:xfrm>
            <a:off x="4917269" y="2425688"/>
            <a:ext cx="8271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A3D"/>
              </a:buClr>
              <a:buSzPts val="1900"/>
              <a:buFont typeface="Calibri"/>
              <a:buNone/>
            </a:pPr>
            <a:r>
              <a:rPr b="1" lang="en" sz="1900">
                <a:solidFill>
                  <a:srgbClr val="FF8A3D"/>
                </a:solidFill>
                <a:latin typeface="Calibri"/>
                <a:ea typeface="Calibri"/>
                <a:cs typeface="Calibri"/>
                <a:sym typeface="Calibri"/>
              </a:rPr>
              <a:t>50</a:t>
            </a:r>
            <a:r>
              <a:rPr b="1" i="0" lang="en" sz="1900" u="none" cap="none" strike="noStrike">
                <a:solidFill>
                  <a:srgbClr val="FF8A3D"/>
                </a:solidFill>
                <a:latin typeface="Calibri"/>
                <a:ea typeface="Calibri"/>
                <a:cs typeface="Calibri"/>
                <a:sym typeface="Calibri"/>
              </a:rPr>
              <a:t>%</a:t>
            </a:r>
            <a:endParaRPr b="0" i="0" sz="1900" u="none" cap="none" strike="noStrike">
              <a:solidFill>
                <a:srgbClr val="000000"/>
              </a:solidFill>
              <a:latin typeface="Calibri"/>
              <a:ea typeface="Calibri"/>
              <a:cs typeface="Calibri"/>
              <a:sym typeface="Calibri"/>
            </a:endParaRPr>
          </a:p>
        </p:txBody>
      </p:sp>
      <p:sp>
        <p:nvSpPr>
          <p:cNvPr id="123" name="Google Shape;123;p19"/>
          <p:cNvSpPr/>
          <p:nvPr/>
        </p:nvSpPr>
        <p:spPr>
          <a:xfrm>
            <a:off x="4917269" y="2717752"/>
            <a:ext cx="775500" cy="63600"/>
          </a:xfrm>
          <a:prstGeom prst="roundRect">
            <a:avLst>
              <a:gd fmla="val 50000" name="adj"/>
            </a:avLst>
          </a:prstGeom>
          <a:solidFill>
            <a:srgbClr val="E6E9EF"/>
          </a:solidFill>
          <a:ln>
            <a:noFill/>
          </a:ln>
        </p:spPr>
        <p:txBody>
          <a:bodyPr anchorCtr="0" anchor="ctr" bIns="87850" lIns="87850" spcFirstLastPara="1" rIns="87850" wrap="square" tIns="87850">
            <a:noAutofit/>
          </a:bodyPr>
          <a:lstStyle/>
          <a:p>
            <a:pPr indent="0" lvl="0" marL="0" rtl="0" algn="l">
              <a:spcBef>
                <a:spcPts val="0"/>
              </a:spcBef>
              <a:spcAft>
                <a:spcPts val="0"/>
              </a:spcAft>
              <a:buNone/>
            </a:pPr>
            <a:r>
              <a:t/>
            </a:r>
            <a:endParaRPr/>
          </a:p>
        </p:txBody>
      </p:sp>
      <p:sp>
        <p:nvSpPr>
          <p:cNvPr id="124" name="Google Shape;124;p19"/>
          <p:cNvSpPr/>
          <p:nvPr/>
        </p:nvSpPr>
        <p:spPr>
          <a:xfrm>
            <a:off x="4917201" y="2717754"/>
            <a:ext cx="397500" cy="63600"/>
          </a:xfrm>
          <a:prstGeom prst="roundRect">
            <a:avLst>
              <a:gd fmla="val 50000" name="adj"/>
            </a:avLst>
          </a:prstGeom>
          <a:solidFill>
            <a:srgbClr val="FF8A3D"/>
          </a:solidFill>
          <a:ln>
            <a:noFill/>
          </a:ln>
        </p:spPr>
        <p:txBody>
          <a:bodyPr anchorCtr="0" anchor="ctr" bIns="87850" lIns="87850" spcFirstLastPara="1" rIns="87850" wrap="square" tIns="87850">
            <a:noAutofit/>
          </a:bodyPr>
          <a:lstStyle/>
          <a:p>
            <a:pPr indent="0" lvl="0" marL="0" rtl="0" algn="l">
              <a:spcBef>
                <a:spcPts val="0"/>
              </a:spcBef>
              <a:spcAft>
                <a:spcPts val="0"/>
              </a:spcAft>
              <a:buNone/>
            </a:pPr>
            <a:r>
              <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0"/>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lang="en" sz="900">
                <a:solidFill>
                  <a:srgbClr val="9E9E9E"/>
                </a:solidFill>
                <a:latin typeface="Times New Roman"/>
                <a:ea typeface="Times New Roman"/>
                <a:cs typeface="Times New Roman"/>
                <a:sym typeface="Times New Roman"/>
              </a:rPr>
              <a:t>Ops Growth</a:t>
            </a:r>
            <a:r>
              <a:rPr b="1" lang="en" sz="900">
                <a:solidFill>
                  <a:schemeClr val="dk1"/>
                </a:solidFill>
                <a:latin typeface="Times New Roman"/>
                <a:ea typeface="Times New Roman"/>
                <a:cs typeface="Times New Roman"/>
                <a:sym typeface="Times New Roman"/>
              </a:rPr>
              <a:t> </a:t>
            </a:r>
            <a:r>
              <a:rPr lang="en" sz="900">
                <a:solidFill>
                  <a:srgbClr val="999999"/>
                </a:solidFill>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DM</a:t>
            </a:r>
            <a:r>
              <a:rPr lang="en" sz="900">
                <a:solidFill>
                  <a:srgbClr val="999999"/>
                </a:solidFill>
                <a:latin typeface="Times New Roman"/>
                <a:ea typeface="Times New Roman"/>
                <a:cs typeface="Times New Roman"/>
                <a:sym typeface="Times New Roman"/>
              </a:rPr>
              <a:t> | DE | Minihub + EV | Innovation Project</a:t>
            </a:r>
            <a:endParaRPr sz="900">
              <a:solidFill>
                <a:srgbClr val="999999"/>
              </a:solidFill>
              <a:latin typeface="Times New Roman"/>
              <a:ea typeface="Times New Roman"/>
              <a:cs typeface="Times New Roman"/>
              <a:sym typeface="Times New Roman"/>
            </a:endParaRPr>
          </a:p>
        </p:txBody>
      </p:sp>
      <p:sp>
        <p:nvSpPr>
          <p:cNvPr id="131" name="Google Shape;131;p20"/>
          <p:cNvSpPr txBox="1"/>
          <p:nvPr/>
        </p:nvSpPr>
        <p:spPr>
          <a:xfrm>
            <a:off x="87725" y="59400"/>
            <a:ext cx="8179200" cy="939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Retention của nhóm txe &gt; 22y tại HAN &amp; </a:t>
            </a:r>
            <a:r>
              <a:rPr b="1" lang="en" sz="1000">
                <a:solidFill>
                  <a:schemeClr val="dk1"/>
                </a:solidFill>
                <a:latin typeface="Lexend"/>
                <a:ea typeface="Lexend"/>
                <a:cs typeface="Lexend"/>
                <a:sym typeface="Lexend"/>
              </a:rPr>
              <a:t>HCM</a:t>
            </a:r>
            <a:endParaRPr b="1" sz="1000">
              <a:solidFill>
                <a:schemeClr val="dk1"/>
              </a:solidFill>
              <a:latin typeface="Lexend"/>
              <a:ea typeface="Lexend"/>
              <a:cs typeface="Lexend"/>
              <a:sym typeface="Lexend"/>
            </a:endParaRPr>
          </a:p>
          <a:p>
            <a:pPr indent="-177800" lvl="0" marL="228600" rtl="0" algn="l">
              <a:spcBef>
                <a:spcPts val="0"/>
              </a:spcBef>
              <a:spcAft>
                <a:spcPts val="0"/>
              </a:spcAft>
              <a:buClr>
                <a:schemeClr val="dk1"/>
              </a:buClr>
              <a:buSzPts val="1000"/>
              <a:buFont typeface="Times New Roman"/>
              <a:buAutoNum type="arabicPeriod"/>
            </a:pPr>
            <a:r>
              <a:rPr b="1" lang="en" sz="1000">
                <a:solidFill>
                  <a:schemeClr val="dk1"/>
                </a:solidFill>
                <a:latin typeface="Lexend"/>
                <a:ea typeface="Lexend"/>
                <a:cs typeface="Lexend"/>
                <a:sym typeface="Lexend"/>
              </a:rPr>
              <a:t>HAN:</a:t>
            </a:r>
            <a:r>
              <a:rPr lang="en" sz="1000">
                <a:solidFill>
                  <a:schemeClr val="dk1"/>
                </a:solidFill>
                <a:latin typeface="Lexend"/>
                <a:ea typeface="Lexend"/>
                <a:cs typeface="Lexend"/>
                <a:sym typeface="Lexend"/>
              </a:rPr>
              <a:t> Mức RR MoM &amp; YoY cải thiện,  do chạy CTT ân xá có 442 tx trong tập ân xá active trong M8, thêm vào đó có nhiều CTT vào cuối tháng để kéo active (Thời tiết, hoạt động trước lễ,vv….) tuy nhiên nhóm FT vẫn đang giảm nhiều so YoY</a:t>
            </a:r>
            <a:r>
              <a:rPr b="1" lang="en" sz="1000">
                <a:solidFill>
                  <a:schemeClr val="dk1"/>
                </a:solidFill>
                <a:latin typeface="Lexend"/>
                <a:ea typeface="Lexend"/>
                <a:cs typeface="Lexend"/>
                <a:sym typeface="Lexend"/>
              </a:rPr>
              <a:t> </a:t>
            </a:r>
            <a:r>
              <a:rPr b="1" lang="en" sz="1000">
                <a:solidFill>
                  <a:srgbClr val="B91C1C"/>
                </a:solidFill>
                <a:latin typeface="Lexend"/>
                <a:ea typeface="Lexend"/>
                <a:cs typeface="Lexend"/>
                <a:sym typeface="Lexend"/>
              </a:rPr>
              <a:t>~ 1.3%</a:t>
            </a:r>
            <a:endParaRPr b="1" sz="1000">
              <a:solidFill>
                <a:srgbClr val="B91C1C"/>
              </a:solidFill>
              <a:latin typeface="Lexend"/>
              <a:ea typeface="Lexend"/>
              <a:cs typeface="Lexend"/>
              <a:sym typeface="Lexend"/>
            </a:endParaRPr>
          </a:p>
          <a:p>
            <a:pPr indent="-177800" lvl="0" marL="228600" rtl="0" algn="l">
              <a:spcBef>
                <a:spcPts val="0"/>
              </a:spcBef>
              <a:spcAft>
                <a:spcPts val="0"/>
              </a:spcAft>
              <a:buClr>
                <a:schemeClr val="dk1"/>
              </a:buClr>
              <a:buSzPts val="1000"/>
              <a:buFont typeface="Times New Roman"/>
              <a:buAutoNum type="arabicPeriod"/>
            </a:pPr>
            <a:r>
              <a:rPr b="1" lang="en" sz="1000">
                <a:solidFill>
                  <a:schemeClr val="dk1"/>
                </a:solidFill>
                <a:latin typeface="Lexend"/>
                <a:ea typeface="Lexend"/>
                <a:cs typeface="Lexend"/>
                <a:sym typeface="Lexend"/>
              </a:rPr>
              <a:t>SGN: </a:t>
            </a:r>
            <a:r>
              <a:rPr lang="en" sz="1000">
                <a:solidFill>
                  <a:schemeClr val="dk1"/>
                </a:solidFill>
                <a:latin typeface="Lexend"/>
                <a:ea typeface="Lexend"/>
                <a:cs typeface="Lexend"/>
                <a:sym typeface="Lexend"/>
              </a:rPr>
              <a:t>RR giảm cả về MoM, YoY. Chủ yếu hụt mạnh ở nhóm NLM (chất lượng tài xế đầu vào chưa được đảm bảo, work với Ops GR take care các tài xế ở giai đoạn D60)</a:t>
            </a:r>
            <a:endParaRPr sz="1000">
              <a:solidFill>
                <a:schemeClr val="dk1"/>
              </a:solidFill>
              <a:latin typeface="Lexend"/>
              <a:ea typeface="Lexend"/>
              <a:cs typeface="Lexend"/>
              <a:sym typeface="Lexend"/>
            </a:endParaRPr>
          </a:p>
        </p:txBody>
      </p:sp>
      <p:cxnSp>
        <p:nvCxnSpPr>
          <p:cNvPr id="132" name="Google Shape;132;p20"/>
          <p:cNvCxnSpPr/>
          <p:nvPr/>
        </p:nvCxnSpPr>
        <p:spPr>
          <a:xfrm>
            <a:off x="62663" y="1109842"/>
            <a:ext cx="8151300" cy="0"/>
          </a:xfrm>
          <a:prstGeom prst="straightConnector1">
            <a:avLst/>
          </a:prstGeom>
          <a:noFill/>
          <a:ln cap="flat" cmpd="sng" w="19050">
            <a:solidFill>
              <a:srgbClr val="1155CC"/>
            </a:solidFill>
            <a:prstDash val="solid"/>
            <a:round/>
            <a:headEnd len="med" w="med" type="none"/>
            <a:tailEnd len="med" w="med" type="none"/>
          </a:ln>
        </p:spPr>
      </p:cxnSp>
      <p:sp>
        <p:nvSpPr>
          <p:cNvPr id="133" name="Google Shape;133;p20"/>
          <p:cNvSpPr txBox="1"/>
          <p:nvPr/>
        </p:nvSpPr>
        <p:spPr>
          <a:xfrm>
            <a:off x="62648" y="1190750"/>
            <a:ext cx="523800" cy="2616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 sz="1100">
                <a:solidFill>
                  <a:srgbClr val="F56C1F"/>
                </a:solidFill>
                <a:latin typeface="Lexend"/>
                <a:ea typeface="Lexend"/>
                <a:cs typeface="Lexend"/>
                <a:sym typeface="Lexend"/>
              </a:rPr>
              <a:t>HAN</a:t>
            </a:r>
            <a:endParaRPr sz="1100"/>
          </a:p>
        </p:txBody>
      </p:sp>
      <p:sp>
        <p:nvSpPr>
          <p:cNvPr id="134" name="Google Shape;134;p20"/>
          <p:cNvSpPr txBox="1"/>
          <p:nvPr/>
        </p:nvSpPr>
        <p:spPr>
          <a:xfrm>
            <a:off x="4669719" y="1190761"/>
            <a:ext cx="402300" cy="2616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 sz="1100">
                <a:solidFill>
                  <a:srgbClr val="F56C1F"/>
                </a:solidFill>
                <a:latin typeface="Lexend"/>
                <a:ea typeface="Lexend"/>
                <a:cs typeface="Lexend"/>
                <a:sym typeface="Lexend"/>
              </a:rPr>
              <a:t>SGN</a:t>
            </a:r>
            <a:endParaRPr sz="1100"/>
          </a:p>
        </p:txBody>
      </p:sp>
      <p:pic>
        <p:nvPicPr>
          <p:cNvPr id="135" name="Google Shape;135;p20" title="Chart"/>
          <p:cNvPicPr preferRelativeResize="0"/>
          <p:nvPr/>
        </p:nvPicPr>
        <p:blipFill rotWithShape="1">
          <a:blip r:embed="rId3">
            <a:alphaModFix/>
          </a:blip>
          <a:srcRect b="0" l="10928" r="6029" t="12419"/>
          <a:stretch/>
        </p:blipFill>
        <p:spPr>
          <a:xfrm>
            <a:off x="4800150" y="1739408"/>
            <a:ext cx="4173450" cy="1851988"/>
          </a:xfrm>
          <a:prstGeom prst="rect">
            <a:avLst/>
          </a:prstGeom>
          <a:noFill/>
          <a:ln>
            <a:noFill/>
          </a:ln>
        </p:spPr>
      </p:pic>
      <p:grpSp>
        <p:nvGrpSpPr>
          <p:cNvPr id="136" name="Google Shape;136;p20"/>
          <p:cNvGrpSpPr/>
          <p:nvPr/>
        </p:nvGrpSpPr>
        <p:grpSpPr>
          <a:xfrm>
            <a:off x="6245975" y="1389116"/>
            <a:ext cx="2151150" cy="253958"/>
            <a:chOff x="12250175" y="2350575"/>
            <a:chExt cx="4302300" cy="527321"/>
          </a:xfrm>
        </p:grpSpPr>
        <p:cxnSp>
          <p:nvCxnSpPr>
            <p:cNvPr id="137" name="Google Shape;137;p20"/>
            <p:cNvCxnSpPr/>
            <p:nvPr/>
          </p:nvCxnSpPr>
          <p:spPr>
            <a:xfrm>
              <a:off x="16552475" y="2361296"/>
              <a:ext cx="0" cy="516600"/>
            </a:xfrm>
            <a:prstGeom prst="straightConnector1">
              <a:avLst/>
            </a:prstGeom>
            <a:noFill/>
            <a:ln cap="flat" cmpd="sng" w="14300">
              <a:solidFill>
                <a:srgbClr val="F1C232"/>
              </a:solidFill>
              <a:prstDash val="solid"/>
              <a:round/>
              <a:headEnd len="med" w="med" type="none"/>
              <a:tailEnd len="med" w="med" type="stealth"/>
            </a:ln>
          </p:spPr>
        </p:cxnSp>
        <p:cxnSp>
          <p:nvCxnSpPr>
            <p:cNvPr id="138" name="Google Shape;138;p20"/>
            <p:cNvCxnSpPr/>
            <p:nvPr/>
          </p:nvCxnSpPr>
          <p:spPr>
            <a:xfrm>
              <a:off x="12250175" y="2350575"/>
              <a:ext cx="0" cy="495000"/>
            </a:xfrm>
            <a:prstGeom prst="straightConnector1">
              <a:avLst/>
            </a:prstGeom>
            <a:noFill/>
            <a:ln cap="flat" cmpd="sng" w="14300">
              <a:solidFill>
                <a:srgbClr val="F1C232"/>
              </a:solidFill>
              <a:prstDash val="solid"/>
              <a:round/>
              <a:headEnd len="med" w="med" type="none"/>
              <a:tailEnd len="med" w="med" type="none"/>
            </a:ln>
          </p:spPr>
        </p:cxnSp>
        <p:cxnSp>
          <p:nvCxnSpPr>
            <p:cNvPr id="139" name="Google Shape;139;p20"/>
            <p:cNvCxnSpPr/>
            <p:nvPr/>
          </p:nvCxnSpPr>
          <p:spPr>
            <a:xfrm>
              <a:off x="12250175" y="2359525"/>
              <a:ext cx="4302300" cy="0"/>
            </a:xfrm>
            <a:prstGeom prst="straightConnector1">
              <a:avLst/>
            </a:prstGeom>
            <a:noFill/>
            <a:ln cap="flat" cmpd="sng" w="14300">
              <a:solidFill>
                <a:srgbClr val="F1C232"/>
              </a:solidFill>
              <a:prstDash val="solid"/>
              <a:round/>
              <a:headEnd len="med" w="med" type="none"/>
              <a:tailEnd len="med" w="med" type="none"/>
            </a:ln>
          </p:spPr>
        </p:cxnSp>
      </p:grpSp>
      <p:grpSp>
        <p:nvGrpSpPr>
          <p:cNvPr id="140" name="Google Shape;140;p20"/>
          <p:cNvGrpSpPr/>
          <p:nvPr/>
        </p:nvGrpSpPr>
        <p:grpSpPr>
          <a:xfrm>
            <a:off x="7361888" y="1578643"/>
            <a:ext cx="1035133" cy="148915"/>
            <a:chOff x="12250175" y="2350575"/>
            <a:chExt cx="4302300" cy="527321"/>
          </a:xfrm>
        </p:grpSpPr>
        <p:cxnSp>
          <p:nvCxnSpPr>
            <p:cNvPr id="141" name="Google Shape;141;p20"/>
            <p:cNvCxnSpPr/>
            <p:nvPr/>
          </p:nvCxnSpPr>
          <p:spPr>
            <a:xfrm>
              <a:off x="16552475" y="2361296"/>
              <a:ext cx="0" cy="516600"/>
            </a:xfrm>
            <a:prstGeom prst="straightConnector1">
              <a:avLst/>
            </a:prstGeom>
            <a:noFill/>
            <a:ln cap="flat" cmpd="sng" w="14300">
              <a:solidFill>
                <a:srgbClr val="B91C1C"/>
              </a:solidFill>
              <a:prstDash val="solid"/>
              <a:round/>
              <a:headEnd len="med" w="med" type="none"/>
              <a:tailEnd len="med" w="med" type="stealth"/>
            </a:ln>
          </p:spPr>
        </p:cxnSp>
        <p:cxnSp>
          <p:nvCxnSpPr>
            <p:cNvPr id="142" name="Google Shape;142;p20"/>
            <p:cNvCxnSpPr/>
            <p:nvPr/>
          </p:nvCxnSpPr>
          <p:spPr>
            <a:xfrm>
              <a:off x="12250175" y="2350575"/>
              <a:ext cx="0" cy="495000"/>
            </a:xfrm>
            <a:prstGeom prst="straightConnector1">
              <a:avLst/>
            </a:prstGeom>
            <a:noFill/>
            <a:ln cap="flat" cmpd="sng" w="14300">
              <a:solidFill>
                <a:srgbClr val="B91C1C"/>
              </a:solidFill>
              <a:prstDash val="solid"/>
              <a:round/>
              <a:headEnd len="med" w="med" type="none"/>
              <a:tailEnd len="med" w="med" type="none"/>
            </a:ln>
          </p:spPr>
        </p:cxnSp>
        <p:cxnSp>
          <p:nvCxnSpPr>
            <p:cNvPr id="143" name="Google Shape;143;p20"/>
            <p:cNvCxnSpPr/>
            <p:nvPr/>
          </p:nvCxnSpPr>
          <p:spPr>
            <a:xfrm>
              <a:off x="12250175" y="2359525"/>
              <a:ext cx="4302300" cy="0"/>
            </a:xfrm>
            <a:prstGeom prst="straightConnector1">
              <a:avLst/>
            </a:prstGeom>
            <a:noFill/>
            <a:ln cap="flat" cmpd="sng" w="14300">
              <a:solidFill>
                <a:srgbClr val="B91C1C"/>
              </a:solidFill>
              <a:prstDash val="solid"/>
              <a:round/>
              <a:headEnd len="med" w="med" type="none"/>
              <a:tailEnd len="med" w="med" type="none"/>
            </a:ln>
          </p:spPr>
        </p:cxnSp>
      </p:grpSp>
      <p:sp>
        <p:nvSpPr>
          <p:cNvPr id="144" name="Google Shape;144;p20"/>
          <p:cNvSpPr txBox="1"/>
          <p:nvPr/>
        </p:nvSpPr>
        <p:spPr>
          <a:xfrm>
            <a:off x="6809313" y="1181371"/>
            <a:ext cx="877500" cy="207900"/>
          </a:xfrm>
          <a:prstGeom prst="rect">
            <a:avLst/>
          </a:prstGeom>
          <a:no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b="1" lang="en" sz="800">
                <a:solidFill>
                  <a:srgbClr val="FF0000"/>
                </a:solidFill>
                <a:latin typeface="Lexend"/>
                <a:ea typeface="Lexend"/>
                <a:cs typeface="Lexend"/>
                <a:sym typeface="Lexend"/>
              </a:rPr>
              <a:t>-1.3% YoY</a:t>
            </a:r>
            <a:endParaRPr b="1" sz="800">
              <a:solidFill>
                <a:srgbClr val="FF0000"/>
              </a:solidFill>
              <a:latin typeface="Lexend"/>
              <a:ea typeface="Lexend"/>
              <a:cs typeface="Lexend"/>
              <a:sym typeface="Lexend"/>
            </a:endParaRPr>
          </a:p>
        </p:txBody>
      </p:sp>
      <p:sp>
        <p:nvSpPr>
          <p:cNvPr id="145" name="Google Shape;145;p20"/>
          <p:cNvSpPr txBox="1"/>
          <p:nvPr/>
        </p:nvSpPr>
        <p:spPr>
          <a:xfrm>
            <a:off x="7515688" y="1412221"/>
            <a:ext cx="720900" cy="207900"/>
          </a:xfrm>
          <a:prstGeom prst="rect">
            <a:avLst/>
          </a:prstGeom>
          <a:no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b="1" lang="en" sz="800">
                <a:solidFill>
                  <a:srgbClr val="FF0000"/>
                </a:solidFill>
                <a:latin typeface="Lexend"/>
                <a:ea typeface="Lexend"/>
                <a:cs typeface="Lexend"/>
                <a:sym typeface="Lexend"/>
              </a:rPr>
              <a:t>-1.9% MoM</a:t>
            </a:r>
            <a:endParaRPr b="1" sz="800">
              <a:solidFill>
                <a:srgbClr val="FF0000"/>
              </a:solidFill>
              <a:latin typeface="Lexend"/>
              <a:ea typeface="Lexend"/>
              <a:cs typeface="Lexend"/>
              <a:sym typeface="Lexend"/>
            </a:endParaRPr>
          </a:p>
        </p:txBody>
      </p:sp>
      <p:pic>
        <p:nvPicPr>
          <p:cNvPr id="146" name="Google Shape;146;p20" title="Chart"/>
          <p:cNvPicPr preferRelativeResize="0"/>
          <p:nvPr/>
        </p:nvPicPr>
        <p:blipFill rotWithShape="1">
          <a:blip r:embed="rId4">
            <a:alphaModFix/>
          </a:blip>
          <a:srcRect b="0" l="9713" r="6696" t="10088"/>
          <a:stretch/>
        </p:blipFill>
        <p:spPr>
          <a:xfrm>
            <a:off x="87724" y="1642388"/>
            <a:ext cx="4277215" cy="1851988"/>
          </a:xfrm>
          <a:prstGeom prst="rect">
            <a:avLst/>
          </a:prstGeom>
          <a:noFill/>
          <a:ln>
            <a:noFill/>
          </a:ln>
        </p:spPr>
      </p:pic>
      <p:grpSp>
        <p:nvGrpSpPr>
          <p:cNvPr id="147" name="Google Shape;147;p20"/>
          <p:cNvGrpSpPr/>
          <p:nvPr/>
        </p:nvGrpSpPr>
        <p:grpSpPr>
          <a:xfrm>
            <a:off x="1669162" y="1388472"/>
            <a:ext cx="2268173" cy="253958"/>
            <a:chOff x="12250175" y="2350575"/>
            <a:chExt cx="4302300" cy="527321"/>
          </a:xfrm>
        </p:grpSpPr>
        <p:cxnSp>
          <p:nvCxnSpPr>
            <p:cNvPr id="148" name="Google Shape;148;p20"/>
            <p:cNvCxnSpPr/>
            <p:nvPr/>
          </p:nvCxnSpPr>
          <p:spPr>
            <a:xfrm>
              <a:off x="16552475" y="2361296"/>
              <a:ext cx="0" cy="516600"/>
            </a:xfrm>
            <a:prstGeom prst="straightConnector1">
              <a:avLst/>
            </a:prstGeom>
            <a:noFill/>
            <a:ln cap="flat" cmpd="sng" w="14300">
              <a:solidFill>
                <a:srgbClr val="F1C232"/>
              </a:solidFill>
              <a:prstDash val="solid"/>
              <a:round/>
              <a:headEnd len="med" w="med" type="none"/>
              <a:tailEnd len="med" w="med" type="stealth"/>
            </a:ln>
          </p:spPr>
        </p:cxnSp>
        <p:cxnSp>
          <p:nvCxnSpPr>
            <p:cNvPr id="149" name="Google Shape;149;p20"/>
            <p:cNvCxnSpPr/>
            <p:nvPr/>
          </p:nvCxnSpPr>
          <p:spPr>
            <a:xfrm>
              <a:off x="12250175" y="2350575"/>
              <a:ext cx="0" cy="495000"/>
            </a:xfrm>
            <a:prstGeom prst="straightConnector1">
              <a:avLst/>
            </a:prstGeom>
            <a:noFill/>
            <a:ln cap="flat" cmpd="sng" w="14300">
              <a:solidFill>
                <a:srgbClr val="F1C232"/>
              </a:solidFill>
              <a:prstDash val="solid"/>
              <a:round/>
              <a:headEnd len="med" w="med" type="none"/>
              <a:tailEnd len="med" w="med" type="none"/>
            </a:ln>
          </p:spPr>
        </p:cxnSp>
        <p:cxnSp>
          <p:nvCxnSpPr>
            <p:cNvPr id="150" name="Google Shape;150;p20"/>
            <p:cNvCxnSpPr/>
            <p:nvPr/>
          </p:nvCxnSpPr>
          <p:spPr>
            <a:xfrm>
              <a:off x="12250175" y="2359525"/>
              <a:ext cx="4302300" cy="0"/>
            </a:xfrm>
            <a:prstGeom prst="straightConnector1">
              <a:avLst/>
            </a:prstGeom>
            <a:noFill/>
            <a:ln cap="flat" cmpd="sng" w="14300">
              <a:solidFill>
                <a:srgbClr val="F1C232"/>
              </a:solidFill>
              <a:prstDash val="solid"/>
              <a:round/>
              <a:headEnd len="med" w="med" type="none"/>
              <a:tailEnd len="med" w="med" type="none"/>
            </a:ln>
          </p:spPr>
        </p:cxnSp>
      </p:grpSp>
      <p:grpSp>
        <p:nvGrpSpPr>
          <p:cNvPr id="151" name="Google Shape;151;p20"/>
          <p:cNvGrpSpPr/>
          <p:nvPr/>
        </p:nvGrpSpPr>
        <p:grpSpPr>
          <a:xfrm>
            <a:off x="2767188" y="1577962"/>
            <a:ext cx="1170656" cy="148915"/>
            <a:chOff x="12250175" y="2350575"/>
            <a:chExt cx="4302300" cy="527321"/>
          </a:xfrm>
        </p:grpSpPr>
        <p:cxnSp>
          <p:nvCxnSpPr>
            <p:cNvPr id="152" name="Google Shape;152;p20"/>
            <p:cNvCxnSpPr/>
            <p:nvPr/>
          </p:nvCxnSpPr>
          <p:spPr>
            <a:xfrm>
              <a:off x="16552475" y="2361296"/>
              <a:ext cx="0" cy="516600"/>
            </a:xfrm>
            <a:prstGeom prst="straightConnector1">
              <a:avLst/>
            </a:prstGeom>
            <a:noFill/>
            <a:ln cap="flat" cmpd="sng" w="14300">
              <a:solidFill>
                <a:srgbClr val="B91C1C"/>
              </a:solidFill>
              <a:prstDash val="solid"/>
              <a:round/>
              <a:headEnd len="med" w="med" type="none"/>
              <a:tailEnd len="med" w="med" type="stealth"/>
            </a:ln>
          </p:spPr>
        </p:cxnSp>
        <p:cxnSp>
          <p:nvCxnSpPr>
            <p:cNvPr id="153" name="Google Shape;153;p20"/>
            <p:cNvCxnSpPr/>
            <p:nvPr/>
          </p:nvCxnSpPr>
          <p:spPr>
            <a:xfrm>
              <a:off x="12250175" y="2350575"/>
              <a:ext cx="0" cy="495000"/>
            </a:xfrm>
            <a:prstGeom prst="straightConnector1">
              <a:avLst/>
            </a:prstGeom>
            <a:noFill/>
            <a:ln cap="flat" cmpd="sng" w="14300">
              <a:solidFill>
                <a:srgbClr val="B91C1C"/>
              </a:solidFill>
              <a:prstDash val="solid"/>
              <a:round/>
              <a:headEnd len="med" w="med" type="none"/>
              <a:tailEnd len="med" w="med" type="none"/>
            </a:ln>
          </p:spPr>
        </p:cxnSp>
        <p:cxnSp>
          <p:nvCxnSpPr>
            <p:cNvPr id="154" name="Google Shape;154;p20"/>
            <p:cNvCxnSpPr/>
            <p:nvPr/>
          </p:nvCxnSpPr>
          <p:spPr>
            <a:xfrm>
              <a:off x="12250175" y="2359525"/>
              <a:ext cx="4302300" cy="0"/>
            </a:xfrm>
            <a:prstGeom prst="straightConnector1">
              <a:avLst/>
            </a:prstGeom>
            <a:noFill/>
            <a:ln cap="flat" cmpd="sng" w="14300">
              <a:solidFill>
                <a:srgbClr val="B91C1C"/>
              </a:solidFill>
              <a:prstDash val="solid"/>
              <a:round/>
              <a:headEnd len="med" w="med" type="none"/>
              <a:tailEnd len="med" w="med" type="none"/>
            </a:ln>
          </p:spPr>
        </p:cxnSp>
      </p:grpSp>
      <p:sp>
        <p:nvSpPr>
          <p:cNvPr id="155" name="Google Shape;155;p20"/>
          <p:cNvSpPr txBox="1"/>
          <p:nvPr/>
        </p:nvSpPr>
        <p:spPr>
          <a:xfrm>
            <a:off x="2349391" y="1180688"/>
            <a:ext cx="877500" cy="207900"/>
          </a:xfrm>
          <a:prstGeom prst="rect">
            <a:avLst/>
          </a:prstGeom>
          <a:no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b="1" lang="en" sz="800">
                <a:solidFill>
                  <a:srgbClr val="008000"/>
                </a:solidFill>
                <a:latin typeface="Lexend"/>
                <a:ea typeface="Lexend"/>
                <a:cs typeface="Lexend"/>
                <a:sym typeface="Lexend"/>
              </a:rPr>
              <a:t>+0.83% YoY</a:t>
            </a:r>
            <a:endParaRPr b="1" sz="800">
              <a:solidFill>
                <a:srgbClr val="008000"/>
              </a:solidFill>
              <a:latin typeface="Lexend"/>
              <a:ea typeface="Lexend"/>
              <a:cs typeface="Lexend"/>
              <a:sym typeface="Lexend"/>
            </a:endParaRPr>
          </a:p>
        </p:txBody>
      </p:sp>
      <p:sp>
        <p:nvSpPr>
          <p:cNvPr id="156" name="Google Shape;156;p20"/>
          <p:cNvSpPr txBox="1"/>
          <p:nvPr/>
        </p:nvSpPr>
        <p:spPr>
          <a:xfrm>
            <a:off x="3055766" y="1411538"/>
            <a:ext cx="720900" cy="207900"/>
          </a:xfrm>
          <a:prstGeom prst="rect">
            <a:avLst/>
          </a:prstGeom>
          <a:no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b="1" lang="en" sz="800">
                <a:solidFill>
                  <a:srgbClr val="008000"/>
                </a:solidFill>
                <a:latin typeface="Lexend"/>
                <a:ea typeface="Lexend"/>
                <a:cs typeface="Lexend"/>
                <a:sym typeface="Lexend"/>
              </a:rPr>
              <a:t>+0.05% MoM</a:t>
            </a:r>
            <a:endParaRPr b="1" sz="800">
              <a:solidFill>
                <a:srgbClr val="008000"/>
              </a:solidFill>
              <a:latin typeface="Lexend"/>
              <a:ea typeface="Lexend"/>
              <a:cs typeface="Lexend"/>
              <a:sym typeface="Lexend"/>
            </a:endParaRPr>
          </a:p>
        </p:txBody>
      </p:sp>
      <p:pic>
        <p:nvPicPr>
          <p:cNvPr id="157" name="Google Shape;157;p20"/>
          <p:cNvPicPr preferRelativeResize="0"/>
          <p:nvPr/>
        </p:nvPicPr>
        <p:blipFill rotWithShape="1">
          <a:blip r:embed="rId5">
            <a:alphaModFix/>
          </a:blip>
          <a:srcRect b="14229" l="2269" r="2001" t="12799"/>
          <a:stretch/>
        </p:blipFill>
        <p:spPr>
          <a:xfrm>
            <a:off x="138938" y="3831594"/>
            <a:ext cx="4647925" cy="939588"/>
          </a:xfrm>
          <a:prstGeom prst="rect">
            <a:avLst/>
          </a:prstGeom>
          <a:noFill/>
          <a:ln cap="flat" cmpd="sng" w="4775">
            <a:solidFill>
              <a:schemeClr val="dk1"/>
            </a:solidFill>
            <a:prstDash val="solid"/>
            <a:round/>
            <a:headEnd len="sm" w="sm" type="none"/>
            <a:tailEnd len="sm" w="sm" type="none"/>
          </a:ln>
        </p:spPr>
      </p:pic>
      <p:sp>
        <p:nvSpPr>
          <p:cNvPr id="158" name="Google Shape;158;p20"/>
          <p:cNvSpPr txBox="1"/>
          <p:nvPr/>
        </p:nvSpPr>
        <p:spPr>
          <a:xfrm>
            <a:off x="138937" y="3555063"/>
            <a:ext cx="4647900" cy="2616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 sz="1100">
                <a:solidFill>
                  <a:srgbClr val="F56C1F"/>
                </a:solidFill>
                <a:latin typeface="Lexend"/>
                <a:ea typeface="Lexend"/>
                <a:cs typeface="Lexend"/>
                <a:sym typeface="Lexend"/>
              </a:rPr>
              <a:t>Challenge Retention (1/8 - 6/8)</a:t>
            </a:r>
            <a:endParaRPr sz="1100"/>
          </a:p>
        </p:txBody>
      </p:sp>
      <p:sp>
        <p:nvSpPr>
          <p:cNvPr id="159" name="Google Shape;159;p20"/>
          <p:cNvSpPr/>
          <p:nvPr/>
        </p:nvSpPr>
        <p:spPr>
          <a:xfrm>
            <a:off x="4972525" y="3591400"/>
            <a:ext cx="4087800" cy="1500900"/>
          </a:xfrm>
          <a:prstGeom prst="roundRect">
            <a:avLst>
              <a:gd fmla="val 9859" name="adj"/>
            </a:avLst>
          </a:prstGeom>
          <a:solidFill>
            <a:srgbClr val="F1F1F1"/>
          </a:solidFill>
          <a:ln cap="flat" cmpd="sng" w="4775">
            <a:solidFill>
              <a:schemeClr val="dk2"/>
            </a:solidFill>
            <a:prstDash val="solid"/>
            <a:round/>
            <a:headEnd len="sm" w="sm" type="none"/>
            <a:tailEnd len="sm" w="sm" type="none"/>
          </a:ln>
        </p:spPr>
        <p:txBody>
          <a:bodyPr anchorCtr="0" anchor="t" bIns="45725" lIns="45725" spcFirstLastPara="1" rIns="45725" wrap="square" tIns="45725">
            <a:noAutofit/>
          </a:bodyPr>
          <a:lstStyle/>
          <a:p>
            <a:pPr indent="0" lvl="0" marL="0" rtl="0" algn="l">
              <a:spcBef>
                <a:spcPts val="0"/>
              </a:spcBef>
              <a:spcAft>
                <a:spcPts val="0"/>
              </a:spcAft>
              <a:buNone/>
            </a:pPr>
            <a:r>
              <a:rPr b="1" lang="en" sz="800">
                <a:latin typeface="Lexend"/>
                <a:ea typeface="Lexend"/>
                <a:cs typeface="Lexend"/>
                <a:sym typeface="Lexend"/>
              </a:rPr>
              <a:t>Next action:</a:t>
            </a:r>
            <a:endParaRPr b="1" sz="800">
              <a:latin typeface="Lexend"/>
              <a:ea typeface="Lexend"/>
              <a:cs typeface="Lexend"/>
              <a:sym typeface="Lexend"/>
            </a:endParaRPr>
          </a:p>
          <a:p>
            <a:pPr indent="0" lvl="0" marL="0" rtl="0" algn="l">
              <a:spcBef>
                <a:spcPts val="0"/>
              </a:spcBef>
              <a:spcAft>
                <a:spcPts val="0"/>
              </a:spcAft>
              <a:buNone/>
            </a:pPr>
            <a:r>
              <a:rPr b="1" lang="en" sz="800">
                <a:latin typeface="Lexend"/>
                <a:ea typeface="Lexend"/>
                <a:cs typeface="Lexend"/>
                <a:sym typeface="Lexend"/>
              </a:rPr>
              <a:t>HAN: </a:t>
            </a:r>
            <a:r>
              <a:rPr lang="en" sz="800">
                <a:latin typeface="Lexend"/>
                <a:ea typeface="Lexend"/>
                <a:cs typeface="Lexend"/>
                <a:sym typeface="Lexend"/>
              </a:rPr>
              <a:t>Gia hạn thời gian ân xá đối với các tài xế đã re-active -&gt; Tiến hành thúc đẩy tài xế hoàn thành ký quỹ để mở full dịch vụ.</a:t>
            </a:r>
            <a:endParaRPr sz="800">
              <a:latin typeface="Lexend"/>
              <a:ea typeface="Lexend"/>
              <a:cs typeface="Lexend"/>
              <a:sym typeface="Lexend"/>
            </a:endParaRPr>
          </a:p>
          <a:p>
            <a:pPr indent="0" lvl="0" marL="0" rtl="0" algn="l">
              <a:spcBef>
                <a:spcPts val="0"/>
              </a:spcBef>
              <a:spcAft>
                <a:spcPts val="0"/>
              </a:spcAft>
              <a:buNone/>
            </a:pPr>
            <a:r>
              <a:t/>
            </a:r>
            <a:endParaRPr sz="800">
              <a:latin typeface="Lexend"/>
              <a:ea typeface="Lexend"/>
              <a:cs typeface="Lexend"/>
              <a:sym typeface="Lexend"/>
            </a:endParaRPr>
          </a:p>
          <a:p>
            <a:pPr indent="0" lvl="0" marL="0" rtl="0" algn="l">
              <a:spcBef>
                <a:spcPts val="0"/>
              </a:spcBef>
              <a:spcAft>
                <a:spcPts val="0"/>
              </a:spcAft>
              <a:buNone/>
            </a:pPr>
            <a:r>
              <a:rPr b="1" lang="en" sz="800">
                <a:latin typeface="Lexend"/>
                <a:ea typeface="Lexend"/>
                <a:cs typeface="Lexend"/>
                <a:sym typeface="Lexend"/>
              </a:rPr>
              <a:t>SGN: </a:t>
            </a:r>
            <a:endParaRPr b="1" sz="800">
              <a:latin typeface="Lexend"/>
              <a:ea typeface="Lexend"/>
              <a:cs typeface="Lexend"/>
              <a:sym typeface="Lexend"/>
            </a:endParaRPr>
          </a:p>
          <a:p>
            <a:pPr indent="-165100" lvl="0" marL="228600" rtl="0" algn="l">
              <a:spcBef>
                <a:spcPts val="0"/>
              </a:spcBef>
              <a:spcAft>
                <a:spcPts val="0"/>
              </a:spcAft>
              <a:buSzPts val="800"/>
              <a:buFont typeface="Lexend"/>
              <a:buChar char="+"/>
            </a:pPr>
            <a:r>
              <a:rPr lang="en" sz="800">
                <a:latin typeface="Lexend"/>
                <a:ea typeface="Lexend"/>
                <a:cs typeface="Lexend"/>
                <a:sym typeface="Lexend"/>
              </a:rPr>
              <a:t>Mở phễu ân xá add dịch vụ 1H cho nhóm tài xế bị remove dịch vụ (có active M7, M8) nhằm tăng active CP &amp; kéo RR</a:t>
            </a:r>
            <a:endParaRPr sz="800">
              <a:latin typeface="Lexend"/>
              <a:ea typeface="Lexend"/>
              <a:cs typeface="Lexend"/>
              <a:sym typeface="Lexend"/>
            </a:endParaRPr>
          </a:p>
          <a:p>
            <a:pPr indent="-165100" lvl="0" marL="228600" rtl="0" algn="l">
              <a:spcBef>
                <a:spcPts val="0"/>
              </a:spcBef>
              <a:spcAft>
                <a:spcPts val="0"/>
              </a:spcAft>
              <a:buSzPts val="800"/>
              <a:buFont typeface="Lexend"/>
              <a:buChar char="+"/>
            </a:pPr>
            <a:r>
              <a:rPr lang="en" sz="800">
                <a:latin typeface="Lexend"/>
                <a:ea typeface="Lexend"/>
                <a:cs typeface="Lexend"/>
                <a:sym typeface="Lexend"/>
              </a:rPr>
              <a:t>Mở lại project call push reactive (focus theo ranking SC/CN)</a:t>
            </a:r>
            <a:endParaRPr sz="800">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21"/>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lang="en" sz="900">
                <a:solidFill>
                  <a:srgbClr val="9E9E9E"/>
                </a:solidFill>
                <a:latin typeface="Times New Roman"/>
                <a:ea typeface="Times New Roman"/>
                <a:cs typeface="Times New Roman"/>
                <a:sym typeface="Times New Roman"/>
              </a:rPr>
              <a:t>Ops Growth</a:t>
            </a:r>
            <a:r>
              <a:rPr b="1" lang="en" sz="900">
                <a:solidFill>
                  <a:schemeClr val="dk1"/>
                </a:solidFill>
                <a:latin typeface="Times New Roman"/>
                <a:ea typeface="Times New Roman"/>
                <a:cs typeface="Times New Roman"/>
                <a:sym typeface="Times New Roman"/>
              </a:rPr>
              <a:t> </a:t>
            </a:r>
            <a:r>
              <a:rPr lang="en" sz="900">
                <a:solidFill>
                  <a:srgbClr val="999999"/>
                </a:solidFill>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DM</a:t>
            </a:r>
            <a:r>
              <a:rPr lang="en" sz="900">
                <a:solidFill>
                  <a:srgbClr val="999999"/>
                </a:solidFill>
                <a:latin typeface="Times New Roman"/>
                <a:ea typeface="Times New Roman"/>
                <a:cs typeface="Times New Roman"/>
                <a:sym typeface="Times New Roman"/>
              </a:rPr>
              <a:t> | DE | Minihub + EV | Innovation Project</a:t>
            </a:r>
            <a:endParaRPr sz="900">
              <a:solidFill>
                <a:srgbClr val="999999"/>
              </a:solidFill>
              <a:latin typeface="Times New Roman"/>
              <a:ea typeface="Times New Roman"/>
              <a:cs typeface="Times New Roman"/>
              <a:sym typeface="Times New Roman"/>
            </a:endParaRPr>
          </a:p>
        </p:txBody>
      </p:sp>
      <p:sp>
        <p:nvSpPr>
          <p:cNvPr id="166" name="Google Shape;166;p21"/>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sp>
        <p:nvSpPr>
          <p:cNvPr id="167" name="Google Shape;167;p21"/>
          <p:cNvSpPr txBox="1"/>
          <p:nvPr/>
        </p:nvSpPr>
        <p:spPr>
          <a:xfrm>
            <a:off x="0" y="59400"/>
            <a:ext cx="8406900" cy="6789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PROJECT BAGA BULKY</a:t>
            </a:r>
            <a:endParaRPr b="1" sz="1000">
              <a:latin typeface="Lexend"/>
              <a:ea typeface="Lexend"/>
              <a:cs typeface="Lexend"/>
              <a:sym typeface="Lexend"/>
            </a:endParaRPr>
          </a:p>
          <a:p>
            <a:pPr indent="-177800" lvl="0" marL="228600" rtl="0" algn="l">
              <a:spcBef>
                <a:spcPts val="0"/>
              </a:spcBef>
              <a:spcAft>
                <a:spcPts val="0"/>
              </a:spcAft>
              <a:buSzPts val="1000"/>
              <a:buFont typeface="Times New Roman"/>
              <a:buChar char="-"/>
            </a:pPr>
            <a:r>
              <a:rPr b="1" lang="en" sz="1000">
                <a:latin typeface="Lexend"/>
                <a:ea typeface="Lexend"/>
                <a:cs typeface="Lexend"/>
                <a:sym typeface="Lexend"/>
              </a:rPr>
              <a:t>Tỉ lệ tài xế tick baga/bulky đạt 68% (đạt 108% target đề ra)</a:t>
            </a:r>
            <a:r>
              <a:rPr lang="en" sz="1000">
                <a:latin typeface="Lexend"/>
                <a:ea typeface="Lexend"/>
                <a:cs typeface="Lexend"/>
                <a:sym typeface="Lexend"/>
              </a:rPr>
              <a:t>, hiện đã hoàn thành được 70% task liên quan đến đến OKR (còn GĐ 3 &amp; đánh giá hiệu quả)</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Số lượng tài xế tham gia chương trình theo từng giai đoạn ở HAN đang rất thấp (GĐ 1 đạt 70%, GĐ 2 chỉ đạt 30%). Vì thế, team đang đánh giá ctt không tác động được đến tài xế HAN </a:t>
            </a:r>
            <a:endParaRPr sz="1000">
              <a:latin typeface="Lexend"/>
              <a:ea typeface="Lexend"/>
              <a:cs typeface="Lexend"/>
              <a:sym typeface="Lexend"/>
            </a:endParaRPr>
          </a:p>
        </p:txBody>
      </p:sp>
      <p:cxnSp>
        <p:nvCxnSpPr>
          <p:cNvPr id="168" name="Google Shape;168;p21"/>
          <p:cNvCxnSpPr/>
          <p:nvPr/>
        </p:nvCxnSpPr>
        <p:spPr>
          <a:xfrm flipH="1" rot="10800000">
            <a:off x="87725" y="942250"/>
            <a:ext cx="8903700" cy="12000"/>
          </a:xfrm>
          <a:prstGeom prst="straightConnector1">
            <a:avLst/>
          </a:prstGeom>
          <a:noFill/>
          <a:ln cap="flat" cmpd="sng" w="19050">
            <a:solidFill>
              <a:srgbClr val="1155CC"/>
            </a:solidFill>
            <a:prstDash val="solid"/>
            <a:round/>
            <a:headEnd len="med" w="med" type="none"/>
            <a:tailEnd len="med" w="med" type="none"/>
          </a:ln>
        </p:spPr>
      </p:cxnSp>
      <p:pic>
        <p:nvPicPr>
          <p:cNvPr id="169" name="Google Shape;169;p21"/>
          <p:cNvPicPr preferRelativeResize="0"/>
          <p:nvPr/>
        </p:nvPicPr>
        <p:blipFill>
          <a:blip r:embed="rId3">
            <a:alphaModFix/>
          </a:blip>
          <a:stretch>
            <a:fillRect/>
          </a:stretch>
        </p:blipFill>
        <p:spPr>
          <a:xfrm>
            <a:off x="8406712" y="44100"/>
            <a:ext cx="737288" cy="737288"/>
          </a:xfrm>
          <a:prstGeom prst="rect">
            <a:avLst/>
          </a:prstGeom>
          <a:noFill/>
          <a:ln>
            <a:noFill/>
          </a:ln>
        </p:spPr>
      </p:pic>
      <p:sp>
        <p:nvSpPr>
          <p:cNvPr id="170" name="Google Shape;170;p21"/>
          <p:cNvSpPr txBox="1"/>
          <p:nvPr/>
        </p:nvSpPr>
        <p:spPr>
          <a:xfrm>
            <a:off x="4988138" y="347812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graphicFrame>
        <p:nvGraphicFramePr>
          <p:cNvPr id="171" name="Google Shape;171;p21"/>
          <p:cNvGraphicFramePr/>
          <p:nvPr/>
        </p:nvGraphicFramePr>
        <p:xfrm>
          <a:off x="62663" y="2981823"/>
          <a:ext cx="3000000" cy="3000000"/>
        </p:xfrm>
        <a:graphic>
          <a:graphicData uri="http://schemas.openxmlformats.org/drawingml/2006/table">
            <a:tbl>
              <a:tblPr>
                <a:noFill/>
                <a:tableStyleId>{84A9007E-4112-45BC-9D73-1BCF8FDB95CB}</a:tableStyleId>
              </a:tblPr>
              <a:tblGrid>
                <a:gridCol w="1730475"/>
                <a:gridCol w="2684925"/>
                <a:gridCol w="2778475"/>
                <a:gridCol w="1842900"/>
              </a:tblGrid>
              <a:tr h="199950">
                <a:tc>
                  <a:txBody>
                    <a:bodyPr/>
                    <a:lstStyle/>
                    <a:p>
                      <a:pPr indent="0" lvl="0" marL="0" rtl="0" algn="ctr">
                        <a:spcBef>
                          <a:spcPts val="0"/>
                        </a:spcBef>
                        <a:spcAft>
                          <a:spcPts val="0"/>
                        </a:spcAft>
                        <a:buNone/>
                      </a:pPr>
                      <a:r>
                        <a:rPr b="1" lang="en" sz="800">
                          <a:latin typeface="Lexend"/>
                          <a:ea typeface="Lexend"/>
                          <a:cs typeface="Lexend"/>
                          <a:sym typeface="Lexend"/>
                        </a:rPr>
                        <a:t>Tasks</a:t>
                      </a:r>
                      <a:endParaRPr b="1" sz="8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800">
                          <a:latin typeface="Lexend"/>
                          <a:ea typeface="Lexend"/>
                          <a:cs typeface="Lexend"/>
                          <a:sym typeface="Lexend"/>
                        </a:rPr>
                        <a:t>Chi tiết</a:t>
                      </a:r>
                      <a:endParaRPr b="1" sz="8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800">
                          <a:latin typeface="Lexend"/>
                          <a:ea typeface="Lexend"/>
                          <a:cs typeface="Lexend"/>
                          <a:sym typeface="Lexend"/>
                        </a:rPr>
                        <a:t>Mục tiêu</a:t>
                      </a:r>
                      <a:endParaRPr b="1" sz="8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800">
                          <a:latin typeface="Lexend"/>
                          <a:ea typeface="Lexend"/>
                          <a:cs typeface="Lexend"/>
                          <a:sym typeface="Lexend"/>
                        </a:rPr>
                        <a:t>Next Action</a:t>
                      </a:r>
                      <a:endParaRPr b="1" sz="800">
                        <a:latin typeface="Lexend"/>
                        <a:ea typeface="Lexend"/>
                        <a:cs typeface="Lexend"/>
                        <a:sym typeface="Lexend"/>
                      </a:endParaRPr>
                    </a:p>
                  </a:txBody>
                  <a:tcPr marT="45725" marB="45725" marR="45725" marL="45725">
                    <a:solidFill>
                      <a:srgbClr val="FF751F"/>
                    </a:solidFill>
                  </a:tcPr>
                </a:tc>
              </a:tr>
              <a:tr h="199950">
                <a:tc>
                  <a:txBody>
                    <a:bodyPr/>
                    <a:lstStyle/>
                    <a:p>
                      <a:pPr indent="0" lvl="0" marL="0" rtl="0" algn="l">
                        <a:spcBef>
                          <a:spcPts val="0"/>
                        </a:spcBef>
                        <a:spcAft>
                          <a:spcPts val="0"/>
                        </a:spcAft>
                        <a:buNone/>
                      </a:pPr>
                      <a:r>
                        <a:rPr lang="en" sz="800">
                          <a:latin typeface="Lexend"/>
                          <a:ea typeface="Lexend"/>
                          <a:cs typeface="Lexend"/>
                          <a:sym typeface="Lexend"/>
                        </a:rPr>
                        <a:t>Đảm bảo số lượng tài xế tham gia ctt GĐ 2, GĐ 3</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Tác động nhóm tài xế chưa có trang bị baga sẽ chủ động mua baga &amp;  tích baga khi hoạt động</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800">
                          <a:latin typeface="Lexend"/>
                          <a:ea typeface="Lexend"/>
                          <a:cs typeface="Lexend"/>
                          <a:sym typeface="Lexend"/>
                        </a:rPr>
                        <a:t>Target</a:t>
                      </a:r>
                      <a:r>
                        <a:rPr lang="en" sz="800">
                          <a:latin typeface="Lexend"/>
                          <a:ea typeface="Lexend"/>
                          <a:cs typeface="Lexend"/>
                          <a:sym typeface="Lexend"/>
                        </a:rPr>
                        <a:t>:</a:t>
                      </a:r>
                      <a:endParaRPr sz="800">
                        <a:latin typeface="Lexend"/>
                        <a:ea typeface="Lexend"/>
                        <a:cs typeface="Lexend"/>
                        <a:sym typeface="Lexend"/>
                      </a:endParaRPr>
                    </a:p>
                    <a:p>
                      <a:pPr indent="0" lvl="0" marL="0" rtl="0" algn="l">
                        <a:spcBef>
                          <a:spcPts val="0"/>
                        </a:spcBef>
                        <a:spcAft>
                          <a:spcPts val="0"/>
                        </a:spcAft>
                        <a:buNone/>
                      </a:pPr>
                      <a:r>
                        <a:rPr lang="en" sz="800">
                          <a:latin typeface="Lexend"/>
                          <a:ea typeface="Lexend"/>
                          <a:cs typeface="Lexend"/>
                          <a:sym typeface="Lexend"/>
                        </a:rPr>
                        <a:t>- Tăng tối thiểu 1 - 2% tỉ lệ tài xế tick baga/cồng kềnh khi hoạt động so với M8 tại 2 mainctiy</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800">
                        <a:latin typeface="Lexend"/>
                        <a:ea typeface="Lexend"/>
                        <a:cs typeface="Lexend"/>
                        <a:sym typeface="Lexend"/>
                      </a:endParaRPr>
                    </a:p>
                  </a:txBody>
                  <a:tcPr marT="45725" marB="45725" marR="45725" marL="45725"/>
                </a:tc>
              </a:tr>
              <a:tr h="199950">
                <a:tc>
                  <a:txBody>
                    <a:bodyPr/>
                    <a:lstStyle/>
                    <a:p>
                      <a:pPr indent="0" lvl="0" marL="0" rtl="0" algn="l">
                        <a:spcBef>
                          <a:spcPts val="0"/>
                        </a:spcBef>
                        <a:spcAft>
                          <a:spcPts val="0"/>
                        </a:spcAft>
                        <a:buClr>
                          <a:schemeClr val="dk1"/>
                        </a:buClr>
                        <a:buSzPts val="600"/>
                        <a:buFont typeface="Arial"/>
                        <a:buNone/>
                      </a:pPr>
                      <a:r>
                        <a:rPr lang="en" sz="800">
                          <a:solidFill>
                            <a:schemeClr val="dk1"/>
                          </a:solidFill>
                          <a:latin typeface="Lexend"/>
                          <a:ea typeface="Lexend"/>
                          <a:cs typeface="Lexend"/>
                          <a:sym typeface="Lexend"/>
                        </a:rPr>
                        <a:t>Tiến hành remind nhóm tài xế xác thực baga sai quy định</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Call out thành công cho nhóm tài xế xác thực baga sai quy định, nhằm nhắc nhở &amp; khuyến khích tài xế tick baga hoạt động</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800">
                          <a:latin typeface="Lexend"/>
                          <a:ea typeface="Lexend"/>
                          <a:cs typeface="Lexend"/>
                          <a:sym typeface="Lexend"/>
                        </a:rPr>
                        <a:t>Target</a:t>
                      </a:r>
                      <a:r>
                        <a:rPr lang="en" sz="800">
                          <a:latin typeface="Lexend"/>
                          <a:ea typeface="Lexend"/>
                          <a:cs typeface="Lexend"/>
                          <a:sym typeface="Lexend"/>
                        </a:rPr>
                        <a:t>:</a:t>
                      </a:r>
                      <a:br>
                        <a:rPr lang="en" sz="800">
                          <a:latin typeface="Lexend"/>
                          <a:ea typeface="Lexend"/>
                          <a:cs typeface="Lexend"/>
                          <a:sym typeface="Lexend"/>
                        </a:rPr>
                      </a:br>
                      <a:r>
                        <a:rPr lang="en" sz="800">
                          <a:latin typeface="Lexend"/>
                          <a:ea typeface="Lexend"/>
                          <a:cs typeface="Lexend"/>
                          <a:sym typeface="Lexend"/>
                        </a:rPr>
                        <a:t>- HAN: &gt;= 70% tỉ luận tuân thủ</a:t>
                      </a:r>
                      <a:br>
                        <a:rPr lang="en" sz="800">
                          <a:latin typeface="Lexend"/>
                          <a:ea typeface="Lexend"/>
                          <a:cs typeface="Lexend"/>
                          <a:sym typeface="Lexend"/>
                        </a:rPr>
                      </a:br>
                      <a:r>
                        <a:rPr lang="en" sz="800">
                          <a:latin typeface="Lexend"/>
                          <a:ea typeface="Lexend"/>
                          <a:cs typeface="Lexend"/>
                          <a:sym typeface="Lexend"/>
                        </a:rPr>
                        <a:t>- SGN: &gt;= 80% tỉ lệ tuân thủ</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Chuẩn bị lead call out trong tuần 7/9/2026 và sắp xếp FL call</a:t>
                      </a:r>
                      <a:endParaRPr sz="800">
                        <a:latin typeface="Lexend"/>
                        <a:ea typeface="Lexend"/>
                        <a:cs typeface="Lexend"/>
                        <a:sym typeface="Lexend"/>
                      </a:endParaRPr>
                    </a:p>
                  </a:txBody>
                  <a:tcPr marT="45725" marB="45725" marR="45725" marL="45725"/>
                </a:tc>
              </a:tr>
              <a:tr h="199950">
                <a:tc>
                  <a:txBody>
                    <a:bodyPr/>
                    <a:lstStyle/>
                    <a:p>
                      <a:pPr indent="0" lvl="0" marL="0" rtl="0" algn="l">
                        <a:spcBef>
                          <a:spcPts val="0"/>
                        </a:spcBef>
                        <a:spcAft>
                          <a:spcPts val="0"/>
                        </a:spcAft>
                        <a:buClr>
                          <a:schemeClr val="dk1"/>
                        </a:buClr>
                        <a:buSzPts val="600"/>
                        <a:buFont typeface="Arial"/>
                        <a:buNone/>
                      </a:pPr>
                      <a:r>
                        <a:rPr lang="en" sz="800">
                          <a:solidFill>
                            <a:schemeClr val="dk1"/>
                          </a:solidFill>
                          <a:latin typeface="Lexend"/>
                          <a:ea typeface="Lexend"/>
                          <a:cs typeface="Lexend"/>
                          <a:sym typeface="Lexend"/>
                        </a:rPr>
                        <a:t>Triển khai tiếp GĐ 3</a:t>
                      </a:r>
                      <a:endParaRPr sz="800">
                        <a:solidFill>
                          <a:schemeClr val="dk1"/>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Đạt số lượng tài xế submit form -&gt; add thưởng</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800">
                          <a:latin typeface="Lexend"/>
                          <a:ea typeface="Lexend"/>
                          <a:cs typeface="Lexend"/>
                          <a:sym typeface="Lexend"/>
                        </a:rPr>
                        <a:t>Target</a:t>
                      </a:r>
                      <a:r>
                        <a:rPr lang="en" sz="800">
                          <a:latin typeface="Lexend"/>
                          <a:ea typeface="Lexend"/>
                          <a:cs typeface="Lexend"/>
                          <a:sym typeface="Lexend"/>
                        </a:rPr>
                        <a:t>: HAN - 200, SGN - 200</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Work với DS đẩy mạnh truyền thôn</a:t>
                      </a:r>
                      <a:endParaRPr sz="800">
                        <a:latin typeface="Lexend"/>
                        <a:ea typeface="Lexend"/>
                        <a:cs typeface="Lexend"/>
                        <a:sym typeface="Lexend"/>
                      </a:endParaRPr>
                    </a:p>
                  </a:txBody>
                  <a:tcPr marT="45725" marB="45725" marR="45725" marL="45725"/>
                </a:tc>
              </a:tr>
              <a:tr h="199950">
                <a:tc>
                  <a:txBody>
                    <a:bodyPr/>
                    <a:lstStyle/>
                    <a:p>
                      <a:pPr indent="0" lvl="0" marL="0" rtl="0" algn="l">
                        <a:spcBef>
                          <a:spcPts val="0"/>
                        </a:spcBef>
                        <a:spcAft>
                          <a:spcPts val="0"/>
                        </a:spcAft>
                        <a:buNone/>
                      </a:pPr>
                      <a:r>
                        <a:rPr lang="en" sz="800">
                          <a:solidFill>
                            <a:schemeClr val="dk1"/>
                          </a:solidFill>
                          <a:latin typeface="Lexend"/>
                          <a:ea typeface="Lexend"/>
                          <a:cs typeface="Lexend"/>
                          <a:sym typeface="Lexend"/>
                        </a:rPr>
                        <a:t>Review mức độ hiệu quả &amp; request chạy tiếp cho Q4 (có thể thay đổi concept)</a:t>
                      </a:r>
                      <a:endParaRPr sz="800">
                        <a:solidFill>
                          <a:schemeClr val="dk1"/>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 Document review lại toàn bộ performance từ chương trình, tác động đến tài xế sau 2 tháng chạy</a:t>
                      </a:r>
                      <a:endParaRPr sz="800">
                        <a:latin typeface="Lexend"/>
                        <a:ea typeface="Lexend"/>
                        <a:cs typeface="Lexend"/>
                        <a:sym typeface="Lexend"/>
                      </a:endParaRPr>
                    </a:p>
                    <a:p>
                      <a:pPr indent="0" lvl="0" marL="0" rtl="0" algn="l">
                        <a:spcBef>
                          <a:spcPts val="0"/>
                        </a:spcBef>
                        <a:spcAft>
                          <a:spcPts val="0"/>
                        </a:spcAft>
                        <a:buNone/>
                      </a:pPr>
                      <a:r>
                        <a:rPr lang="en" sz="800">
                          <a:latin typeface="Lexend"/>
                          <a:ea typeface="Lexend"/>
                          <a:cs typeface="Lexend"/>
                          <a:sym typeface="Lexend"/>
                        </a:rPr>
                        <a:t>- Request policy + quy trình 1Office xin cost chạy tiếp cho Q4/2026</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800">
                          <a:latin typeface="Lexend"/>
                          <a:ea typeface="Lexend"/>
                          <a:cs typeface="Lexend"/>
                          <a:sym typeface="Lexend"/>
                        </a:rPr>
                        <a:t>Target:</a:t>
                      </a:r>
                      <a:endParaRPr b="1" sz="800">
                        <a:latin typeface="Lexend"/>
                        <a:ea typeface="Lexend"/>
                        <a:cs typeface="Lexend"/>
                        <a:sym typeface="Lexend"/>
                      </a:endParaRPr>
                    </a:p>
                    <a:p>
                      <a:pPr indent="0" lvl="0" marL="0" rtl="0" algn="l">
                        <a:spcBef>
                          <a:spcPts val="0"/>
                        </a:spcBef>
                        <a:spcAft>
                          <a:spcPts val="0"/>
                        </a:spcAft>
                        <a:buNone/>
                      </a:pPr>
                      <a:r>
                        <a:rPr lang="en" sz="800">
                          <a:latin typeface="Lexend"/>
                          <a:ea typeface="Lexend"/>
                          <a:cs typeface="Lexend"/>
                          <a:sym typeface="Lexend"/>
                        </a:rPr>
                        <a:t>- Tăng trưởng tỉ lệ tick baga/bulky khi hoạt động của tài xế NW lên &gt;= 68% trong quý 3 &amp; &gt;= 73% trong Q4</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 Chuẩn bị data report</a:t>
                      </a:r>
                      <a:endParaRPr sz="800">
                        <a:latin typeface="Lexend"/>
                        <a:ea typeface="Lexend"/>
                        <a:cs typeface="Lexend"/>
                        <a:sym typeface="Lexend"/>
                      </a:endParaRPr>
                    </a:p>
                    <a:p>
                      <a:pPr indent="0" lvl="0" marL="0" rtl="0" algn="l">
                        <a:spcBef>
                          <a:spcPts val="0"/>
                        </a:spcBef>
                        <a:spcAft>
                          <a:spcPts val="0"/>
                        </a:spcAft>
                        <a:buNone/>
                      </a:pPr>
                      <a:r>
                        <a:rPr lang="en" sz="800">
                          <a:latin typeface="Lexend"/>
                          <a:ea typeface="Lexend"/>
                          <a:cs typeface="Lexend"/>
                          <a:sym typeface="Lexend"/>
                        </a:rPr>
                        <a:t>- Quy trình 1Office duyệt cost chạy Q4</a:t>
                      </a:r>
                      <a:endParaRPr sz="800">
                        <a:latin typeface="Lexend"/>
                        <a:ea typeface="Lexend"/>
                        <a:cs typeface="Lexend"/>
                        <a:sym typeface="Lexend"/>
                      </a:endParaRPr>
                    </a:p>
                  </a:txBody>
                  <a:tcPr marT="45725" marB="45725" marR="45725" marL="45725"/>
                </a:tc>
              </a:tr>
            </a:tbl>
          </a:graphicData>
        </a:graphic>
      </p:graphicFrame>
      <p:sp>
        <p:nvSpPr>
          <p:cNvPr id="172" name="Google Shape;172;p21"/>
          <p:cNvSpPr/>
          <p:nvPr/>
        </p:nvSpPr>
        <p:spPr>
          <a:xfrm>
            <a:off x="547773" y="1017792"/>
            <a:ext cx="1371900" cy="223800"/>
          </a:xfrm>
          <a:prstGeom prst="rect">
            <a:avLst/>
          </a:prstGeom>
          <a:noFill/>
          <a:ln cap="flat" cmpd="sng" w="9525">
            <a:solidFill>
              <a:srgbClr val="D12B2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0E4174"/>
              </a:buClr>
              <a:buSzPts val="1000"/>
              <a:buFont typeface="Calibri"/>
              <a:buNone/>
            </a:pPr>
            <a:r>
              <a:rPr b="1" lang="en" sz="1000">
                <a:solidFill>
                  <a:srgbClr val="0E4174"/>
                </a:solidFill>
                <a:latin typeface="Times New Roman"/>
                <a:ea typeface="Times New Roman"/>
                <a:cs typeface="Times New Roman"/>
                <a:sym typeface="Times New Roman"/>
              </a:rPr>
              <a:t> GĐ 1 (15/8 - 30/8)</a:t>
            </a:r>
            <a:endParaRPr b="1" i="0" sz="1000" u="none" cap="none" strike="noStrike">
              <a:solidFill>
                <a:srgbClr val="000000"/>
              </a:solidFill>
              <a:latin typeface="Times New Roman"/>
              <a:ea typeface="Times New Roman"/>
              <a:cs typeface="Times New Roman"/>
              <a:sym typeface="Times New Roman"/>
            </a:endParaRPr>
          </a:p>
        </p:txBody>
      </p:sp>
      <p:pic>
        <p:nvPicPr>
          <p:cNvPr id="173" name="Google Shape;173;p21" title="Chart"/>
          <p:cNvPicPr preferRelativeResize="0"/>
          <p:nvPr/>
        </p:nvPicPr>
        <p:blipFill rotWithShape="1">
          <a:blip r:embed="rId4">
            <a:alphaModFix/>
          </a:blip>
          <a:srcRect b="5186" l="12395" r="9253" t="0"/>
          <a:stretch/>
        </p:blipFill>
        <p:spPr>
          <a:xfrm>
            <a:off x="145288" y="1190788"/>
            <a:ext cx="2924225" cy="1726812"/>
          </a:xfrm>
          <a:prstGeom prst="rect">
            <a:avLst/>
          </a:prstGeom>
          <a:noFill/>
          <a:ln>
            <a:noFill/>
          </a:ln>
        </p:spPr>
      </p:pic>
      <p:pic>
        <p:nvPicPr>
          <p:cNvPr id="174" name="Google Shape;174;p21" title="Chart"/>
          <p:cNvPicPr preferRelativeResize="0"/>
          <p:nvPr/>
        </p:nvPicPr>
        <p:blipFill rotWithShape="1">
          <a:blip r:embed="rId5">
            <a:alphaModFix/>
          </a:blip>
          <a:srcRect b="5186" l="11996" r="9653" t="0"/>
          <a:stretch/>
        </p:blipFill>
        <p:spPr>
          <a:xfrm>
            <a:off x="3242844" y="1200381"/>
            <a:ext cx="2924225" cy="1726812"/>
          </a:xfrm>
          <a:prstGeom prst="rect">
            <a:avLst/>
          </a:prstGeom>
          <a:noFill/>
          <a:ln>
            <a:noFill/>
          </a:ln>
        </p:spPr>
      </p:pic>
      <p:sp>
        <p:nvSpPr>
          <p:cNvPr id="175" name="Google Shape;175;p21"/>
          <p:cNvSpPr/>
          <p:nvPr/>
        </p:nvSpPr>
        <p:spPr>
          <a:xfrm>
            <a:off x="87724" y="1052541"/>
            <a:ext cx="459900" cy="22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4174"/>
              </a:buClr>
              <a:buSzPts val="1000"/>
              <a:buFont typeface="Calibri"/>
              <a:buNone/>
            </a:pPr>
            <a:r>
              <a:rPr b="1" lang="en" sz="1000">
                <a:solidFill>
                  <a:srgbClr val="FF7500"/>
                </a:solidFill>
                <a:latin typeface="Times New Roman"/>
                <a:ea typeface="Times New Roman"/>
                <a:cs typeface="Times New Roman"/>
                <a:sym typeface="Times New Roman"/>
              </a:rPr>
              <a:t>HAN</a:t>
            </a:r>
            <a:endParaRPr b="1" i="0" sz="1000" u="none" cap="none" strike="noStrike">
              <a:solidFill>
                <a:srgbClr val="FF7500"/>
              </a:solidFill>
              <a:latin typeface="Times New Roman"/>
              <a:ea typeface="Times New Roman"/>
              <a:cs typeface="Times New Roman"/>
              <a:sym typeface="Times New Roman"/>
            </a:endParaRPr>
          </a:p>
        </p:txBody>
      </p:sp>
      <p:sp>
        <p:nvSpPr>
          <p:cNvPr id="176" name="Google Shape;176;p21"/>
          <p:cNvSpPr/>
          <p:nvPr/>
        </p:nvSpPr>
        <p:spPr>
          <a:xfrm>
            <a:off x="3389226" y="1052541"/>
            <a:ext cx="459900" cy="22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4174"/>
              </a:buClr>
              <a:buSzPts val="1000"/>
              <a:buFont typeface="Calibri"/>
              <a:buNone/>
            </a:pPr>
            <a:r>
              <a:rPr b="1" lang="en" sz="1000">
                <a:solidFill>
                  <a:srgbClr val="FF7500"/>
                </a:solidFill>
                <a:latin typeface="Times New Roman"/>
                <a:ea typeface="Times New Roman"/>
                <a:cs typeface="Times New Roman"/>
                <a:sym typeface="Times New Roman"/>
              </a:rPr>
              <a:t>SGN</a:t>
            </a:r>
            <a:endParaRPr b="1" i="0" sz="1000" u="none" cap="none" strike="noStrike">
              <a:solidFill>
                <a:srgbClr val="FF7500"/>
              </a:solidFill>
              <a:latin typeface="Times New Roman"/>
              <a:ea typeface="Times New Roman"/>
              <a:cs typeface="Times New Roman"/>
              <a:sym typeface="Times New Roman"/>
            </a:endParaRPr>
          </a:p>
        </p:txBody>
      </p:sp>
      <p:sp>
        <p:nvSpPr>
          <p:cNvPr id="177" name="Google Shape;177;p21"/>
          <p:cNvSpPr/>
          <p:nvPr/>
        </p:nvSpPr>
        <p:spPr>
          <a:xfrm>
            <a:off x="6340400" y="1011113"/>
            <a:ext cx="2710500" cy="1872600"/>
          </a:xfrm>
          <a:prstGeom prst="roundRect">
            <a:avLst>
              <a:gd fmla="val 9859" name="adj"/>
            </a:avLst>
          </a:prstGeom>
          <a:solidFill>
            <a:srgbClr val="F1F1F1"/>
          </a:solidFill>
          <a:ln cap="flat" cmpd="sng" w="4775">
            <a:solidFill>
              <a:schemeClr val="dk2"/>
            </a:solidFill>
            <a:prstDash val="solid"/>
            <a:round/>
            <a:headEnd len="sm" w="sm" type="none"/>
            <a:tailEnd len="sm" w="sm" type="none"/>
          </a:ln>
        </p:spPr>
        <p:txBody>
          <a:bodyPr anchorCtr="0" anchor="t" bIns="45725" lIns="45725" spcFirstLastPara="1" rIns="45725" wrap="square" tIns="45725">
            <a:noAutofit/>
          </a:bodyPr>
          <a:lstStyle/>
          <a:p>
            <a:pPr indent="0" lvl="0" marL="0" rtl="0" algn="l">
              <a:spcBef>
                <a:spcPts val="0"/>
              </a:spcBef>
              <a:spcAft>
                <a:spcPts val="0"/>
              </a:spcAft>
              <a:buClr>
                <a:srgbClr val="1B2A4A"/>
              </a:buClr>
              <a:buSzPts val="400"/>
              <a:buFont typeface="Cambria"/>
              <a:buNone/>
            </a:pPr>
            <a:r>
              <a:rPr b="1" lang="en" sz="1000">
                <a:solidFill>
                  <a:srgbClr val="1B2A4A"/>
                </a:solidFill>
                <a:latin typeface="Times New Roman"/>
                <a:ea typeface="Times New Roman"/>
                <a:cs typeface="Times New Roman"/>
                <a:sym typeface="Times New Roman"/>
              </a:rPr>
              <a:t>- Highlight</a:t>
            </a:r>
            <a:endParaRPr b="1" sz="1000">
              <a:solidFill>
                <a:srgbClr val="1B2A4A"/>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600"/>
              <a:buFont typeface="Arial"/>
              <a:buNone/>
            </a:pPr>
            <a:r>
              <a:rPr lang="en" sz="1000">
                <a:solidFill>
                  <a:srgbClr val="1B2A4A"/>
                </a:solidFill>
                <a:latin typeface="Times New Roman"/>
                <a:ea typeface="Times New Roman"/>
                <a:cs typeface="Times New Roman"/>
                <a:sym typeface="Times New Roman"/>
              </a:rPr>
              <a:t>+ Cả về active, capacity bulky và số ngày tick baga đều tăng khi tài xế tham gia ctt baga</a:t>
            </a:r>
            <a:endParaRPr sz="1000">
              <a:solidFill>
                <a:srgbClr val="1B2A4A"/>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600"/>
              <a:buFont typeface="Arial"/>
              <a:buNone/>
            </a:pPr>
            <a:r>
              <a:rPr lang="en" sz="1000">
                <a:solidFill>
                  <a:srgbClr val="1B2A4A"/>
                </a:solidFill>
                <a:latin typeface="Times New Roman"/>
                <a:ea typeface="Times New Roman"/>
                <a:cs typeface="Times New Roman"/>
                <a:sym typeface="Times New Roman"/>
              </a:rPr>
              <a:t>+ SGN vượt target về số lượng tài xế tham gia chương trình, HAN hụt nhẹ khoảng 20 tài xế accept chl</a:t>
            </a:r>
            <a:endParaRPr sz="1000">
              <a:solidFill>
                <a:srgbClr val="1B2A4A"/>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600"/>
              <a:buFont typeface="Arial"/>
              <a:buNone/>
            </a:pPr>
            <a:r>
              <a:t/>
            </a:r>
            <a:endParaRPr sz="1000">
              <a:solidFill>
                <a:srgbClr val="1B2A4A"/>
              </a:solidFill>
              <a:latin typeface="Times New Roman"/>
              <a:ea typeface="Times New Roman"/>
              <a:cs typeface="Times New Roman"/>
              <a:sym typeface="Times New Roman"/>
            </a:endParaRPr>
          </a:p>
          <a:p>
            <a:pPr indent="0" lvl="0" marL="0" rtl="0" algn="l">
              <a:spcBef>
                <a:spcPts val="0"/>
              </a:spcBef>
              <a:spcAft>
                <a:spcPts val="0"/>
              </a:spcAft>
              <a:buClr>
                <a:srgbClr val="1B2A4A"/>
              </a:buClr>
              <a:buSzPts val="400"/>
              <a:buFont typeface="Cambria"/>
              <a:buNone/>
            </a:pPr>
            <a:r>
              <a:rPr b="1" lang="en" sz="1000">
                <a:solidFill>
                  <a:srgbClr val="1B2A4A"/>
                </a:solidFill>
                <a:latin typeface="Times New Roman"/>
                <a:ea typeface="Times New Roman"/>
                <a:cs typeface="Times New Roman"/>
                <a:sym typeface="Times New Roman"/>
              </a:rPr>
              <a:t>- Lowlight</a:t>
            </a:r>
            <a:endParaRPr b="1" sz="1000">
              <a:solidFill>
                <a:srgbClr val="1B2A4A"/>
              </a:solidFill>
              <a:latin typeface="Times New Roman"/>
              <a:ea typeface="Times New Roman"/>
              <a:cs typeface="Times New Roman"/>
              <a:sym typeface="Times New Roman"/>
            </a:endParaRPr>
          </a:p>
          <a:p>
            <a:pPr indent="0" lvl="0" marL="0" rtl="0" algn="l">
              <a:spcBef>
                <a:spcPts val="0"/>
              </a:spcBef>
              <a:spcAft>
                <a:spcPts val="0"/>
              </a:spcAft>
              <a:buClr>
                <a:srgbClr val="1B2A4A"/>
              </a:buClr>
              <a:buSzPts val="400"/>
              <a:buFont typeface="Cambria"/>
              <a:buNone/>
            </a:pPr>
            <a:r>
              <a:rPr lang="en" sz="1000">
                <a:solidFill>
                  <a:srgbClr val="1B2A4A"/>
                </a:solidFill>
                <a:latin typeface="Times New Roman"/>
                <a:ea typeface="Times New Roman"/>
                <a:cs typeface="Times New Roman"/>
                <a:sym typeface="Times New Roman"/>
              </a:rPr>
              <a:t>+ Tỉ lệ tuân thủ baga còn thấp (view từ ngày 17/8 - 22/8): SGN đạt 63%, HAN đạt 51% </a:t>
            </a:r>
            <a:endParaRPr sz="1000">
              <a:solidFill>
                <a:srgbClr val="1B2A4A"/>
              </a:solidFill>
              <a:latin typeface="Times New Roman"/>
              <a:ea typeface="Times New Roman"/>
              <a:cs typeface="Times New Roman"/>
              <a:sym typeface="Times New Roman"/>
            </a:endParaRPr>
          </a:p>
          <a:p>
            <a:pPr indent="0" lvl="0" marL="0" rtl="0" algn="l">
              <a:spcBef>
                <a:spcPts val="0"/>
              </a:spcBef>
              <a:spcAft>
                <a:spcPts val="0"/>
              </a:spcAft>
              <a:buNone/>
            </a:pPr>
            <a:r>
              <a:t/>
            </a:r>
            <a:endParaRPr b="1" sz="10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2"/>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lang="en" sz="900">
                <a:solidFill>
                  <a:srgbClr val="9E9E9E"/>
                </a:solidFill>
                <a:latin typeface="Times New Roman"/>
                <a:ea typeface="Times New Roman"/>
                <a:cs typeface="Times New Roman"/>
                <a:sym typeface="Times New Roman"/>
              </a:rPr>
              <a:t>Ops Growth</a:t>
            </a:r>
            <a:r>
              <a:rPr b="1" lang="en" sz="900">
                <a:solidFill>
                  <a:schemeClr val="dk1"/>
                </a:solidFill>
                <a:latin typeface="Times New Roman"/>
                <a:ea typeface="Times New Roman"/>
                <a:cs typeface="Times New Roman"/>
                <a:sym typeface="Times New Roman"/>
              </a:rPr>
              <a:t> </a:t>
            </a:r>
            <a:r>
              <a:rPr lang="en" sz="900">
                <a:solidFill>
                  <a:srgbClr val="999999"/>
                </a:solidFill>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DM</a:t>
            </a:r>
            <a:r>
              <a:rPr lang="en" sz="900">
                <a:solidFill>
                  <a:srgbClr val="999999"/>
                </a:solidFill>
                <a:latin typeface="Times New Roman"/>
                <a:ea typeface="Times New Roman"/>
                <a:cs typeface="Times New Roman"/>
                <a:sym typeface="Times New Roman"/>
              </a:rPr>
              <a:t> | DE | Minihub + EV | Innovation Project</a:t>
            </a:r>
            <a:endParaRPr sz="900">
              <a:solidFill>
                <a:srgbClr val="999999"/>
              </a:solidFill>
              <a:latin typeface="Times New Roman"/>
              <a:ea typeface="Times New Roman"/>
              <a:cs typeface="Times New Roman"/>
              <a:sym typeface="Times New Roman"/>
            </a:endParaRPr>
          </a:p>
        </p:txBody>
      </p:sp>
      <p:sp>
        <p:nvSpPr>
          <p:cNvPr id="184" name="Google Shape;184;p22"/>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cxnSp>
        <p:nvCxnSpPr>
          <p:cNvPr id="185" name="Google Shape;185;p22"/>
          <p:cNvCxnSpPr/>
          <p:nvPr/>
        </p:nvCxnSpPr>
        <p:spPr>
          <a:xfrm>
            <a:off x="75150" y="690973"/>
            <a:ext cx="8993700" cy="15000"/>
          </a:xfrm>
          <a:prstGeom prst="straightConnector1">
            <a:avLst/>
          </a:prstGeom>
          <a:noFill/>
          <a:ln cap="flat" cmpd="sng" w="19050">
            <a:solidFill>
              <a:srgbClr val="1155CC"/>
            </a:solidFill>
            <a:prstDash val="solid"/>
            <a:round/>
            <a:headEnd len="med" w="med" type="none"/>
            <a:tailEnd len="med" w="med" type="none"/>
          </a:ln>
        </p:spPr>
      </p:cxnSp>
      <p:graphicFrame>
        <p:nvGraphicFramePr>
          <p:cNvPr id="186" name="Google Shape;186;p22"/>
          <p:cNvGraphicFramePr/>
          <p:nvPr/>
        </p:nvGraphicFramePr>
        <p:xfrm>
          <a:off x="75150" y="2997373"/>
          <a:ext cx="3000000" cy="3000000"/>
        </p:xfrm>
        <a:graphic>
          <a:graphicData uri="http://schemas.openxmlformats.org/drawingml/2006/table">
            <a:tbl>
              <a:tblPr>
                <a:noFill/>
                <a:tableStyleId>{84A9007E-4112-45BC-9D73-1BCF8FDB95CB}</a:tableStyleId>
              </a:tblPr>
              <a:tblGrid>
                <a:gridCol w="1730475"/>
                <a:gridCol w="2028525"/>
                <a:gridCol w="2580000"/>
                <a:gridCol w="2697800"/>
              </a:tblGrid>
              <a:tr h="199950">
                <a:tc>
                  <a:txBody>
                    <a:bodyPr/>
                    <a:lstStyle/>
                    <a:p>
                      <a:pPr indent="0" lvl="0" marL="0" rtl="0" algn="ctr">
                        <a:spcBef>
                          <a:spcPts val="0"/>
                        </a:spcBef>
                        <a:spcAft>
                          <a:spcPts val="0"/>
                        </a:spcAft>
                        <a:buNone/>
                      </a:pPr>
                      <a:r>
                        <a:rPr b="1" lang="en" sz="1000">
                          <a:solidFill>
                            <a:schemeClr val="dk1"/>
                          </a:solidFill>
                          <a:latin typeface="Lexend"/>
                          <a:ea typeface="Lexend"/>
                          <a:cs typeface="Lexend"/>
                          <a:sym typeface="Lexend"/>
                        </a:rPr>
                        <a:t>Tasks</a:t>
                      </a:r>
                      <a:endParaRPr b="1" sz="1000">
                        <a:solidFill>
                          <a:schemeClr val="dk1"/>
                        </a:solidFill>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solidFill>
                            <a:schemeClr val="dk1"/>
                          </a:solidFill>
                          <a:latin typeface="Lexend"/>
                          <a:ea typeface="Lexend"/>
                          <a:cs typeface="Lexend"/>
                          <a:sym typeface="Lexend"/>
                        </a:rPr>
                        <a:t>Mục tiêu</a:t>
                      </a:r>
                      <a:endParaRPr b="1" sz="1000">
                        <a:solidFill>
                          <a:schemeClr val="dk1"/>
                        </a:solidFill>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solidFill>
                            <a:schemeClr val="dk1"/>
                          </a:solidFill>
                          <a:latin typeface="Lexend"/>
                          <a:ea typeface="Lexend"/>
                          <a:cs typeface="Lexend"/>
                          <a:sym typeface="Lexend"/>
                        </a:rPr>
                        <a:t>Kết quả/ Đánh giá tác động</a:t>
                      </a:r>
                      <a:endParaRPr b="1" sz="1000">
                        <a:solidFill>
                          <a:schemeClr val="dk1"/>
                        </a:solidFill>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solidFill>
                            <a:schemeClr val="dk1"/>
                          </a:solidFill>
                          <a:latin typeface="Lexend"/>
                          <a:ea typeface="Lexend"/>
                          <a:cs typeface="Lexend"/>
                          <a:sym typeface="Lexend"/>
                        </a:rPr>
                        <a:t>Next Action</a:t>
                      </a:r>
                      <a:endParaRPr b="1" sz="1000">
                        <a:solidFill>
                          <a:schemeClr val="dk1"/>
                        </a:solidFill>
                        <a:latin typeface="Lexend"/>
                        <a:ea typeface="Lexend"/>
                        <a:cs typeface="Lexend"/>
                        <a:sym typeface="Lexend"/>
                      </a:endParaRPr>
                    </a:p>
                  </a:txBody>
                  <a:tcPr marT="45725" marB="45725" marR="45725" marL="45725">
                    <a:solidFill>
                      <a:srgbClr val="FF7F32"/>
                    </a:solidFill>
                  </a:tcPr>
                </a:tc>
              </a:tr>
              <a:tr h="199950">
                <a:tc>
                  <a:txBody>
                    <a:bodyPr/>
                    <a:lstStyle/>
                    <a:p>
                      <a:pPr indent="0" lvl="0" marL="0" rtl="0" algn="l">
                        <a:spcBef>
                          <a:spcPts val="0"/>
                        </a:spcBef>
                        <a:spcAft>
                          <a:spcPts val="0"/>
                        </a:spcAft>
                        <a:buNone/>
                      </a:pPr>
                      <a:r>
                        <a:rPr lang="en" sz="1000">
                          <a:latin typeface="Lexend"/>
                          <a:ea typeface="Lexend"/>
                          <a:cs typeface="Lexend"/>
                          <a:sym typeface="Lexend"/>
                        </a:rPr>
                        <a:t>Xây dựng chế tài cho đội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Hoàn thành nội dùng và chế tài, và tài liệu về đội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Đã hoàn thành/ Cần đánh giá trong thời gian dài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Nhắc nhở / cảnh báo các thành viên trong đội</a:t>
                      </a:r>
                      <a:endParaRPr sz="1000">
                        <a:latin typeface="Lexend"/>
                        <a:ea typeface="Lexend"/>
                        <a:cs typeface="Lexend"/>
                        <a:sym typeface="Lexend"/>
                      </a:endParaRPr>
                    </a:p>
                  </a:txBody>
                  <a:tcPr marT="45725" marB="45725" marR="45725" marL="45725"/>
                </a:tc>
              </a:tr>
              <a:tr h="199950">
                <a:tc>
                  <a:txBody>
                    <a:bodyPr/>
                    <a:lstStyle/>
                    <a:p>
                      <a:pPr indent="0" lvl="0" marL="0" rtl="0" algn="l">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Đề xuất cơ chế thưởng?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Cơ chế thưởng tháng 9</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Có đến 7 tài xế hoàn thành CTT nhiều hơn tất cả các tuần trong tháng 8.</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Nhắc nhở tài xế trong đội tham gia CTT, active đặc biệt vào C.P</a:t>
                      </a:r>
                      <a:endParaRPr sz="1000">
                        <a:latin typeface="Lexend"/>
                        <a:ea typeface="Lexend"/>
                        <a:cs typeface="Lexend"/>
                        <a:sym typeface="Lexend"/>
                      </a:endParaRPr>
                    </a:p>
                  </a:txBody>
                  <a:tcPr marT="45725" marB="45725" marR="45725" marL="45725"/>
                </a:tc>
              </a:tr>
              <a:tr h="199950">
                <a:tc>
                  <a:txBody>
                    <a:bodyPr/>
                    <a:lstStyle/>
                    <a:p>
                      <a:pPr indent="0" lvl="0" marL="0" rtl="0" algn="l">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Tag Whitelist COD_ balance</a:t>
                      </a:r>
                      <a:endParaRPr sz="1000">
                        <a:solidFill>
                          <a:schemeClr val="dk1"/>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Cải thiện Prod của thành viên trong đội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3/7 thành viên Prod ~ 3 stp -&gt; 6 stp/ day</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Đăng ký bổ sung 5 thành viên trong đội</a:t>
                      </a:r>
                      <a:endParaRPr sz="1000">
                        <a:latin typeface="Lexend"/>
                        <a:ea typeface="Lexend"/>
                        <a:cs typeface="Lexend"/>
                        <a:sym typeface="Lexend"/>
                      </a:endParaRPr>
                    </a:p>
                  </a:txBody>
                  <a:tcPr marT="45725" marB="45725" marR="45725" marL="45725"/>
                </a:tc>
              </a:tr>
              <a:tr h="199950">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Tuyển dụng thanh viên cho đội</a:t>
                      </a:r>
                      <a:endParaRPr sz="1000">
                        <a:solidFill>
                          <a:schemeClr val="dk1"/>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100 tài xế trong tháng 9 (+35 tài xế)</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3 tài xế - Active chung bulky giảm nhiều</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Noti tuyển Mass + Kết hợp với CTT Baga</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Request livestream hướng dẫn, lưu ý chạy đơn bulky</a:t>
                      </a:r>
                      <a:endParaRPr sz="1000">
                        <a:latin typeface="Lexend"/>
                        <a:ea typeface="Lexend"/>
                        <a:cs typeface="Lexend"/>
                        <a:sym typeface="Lexend"/>
                      </a:endParaRPr>
                    </a:p>
                  </a:txBody>
                  <a:tcPr marT="45725" marB="45725" marR="45725" marL="45725"/>
                </a:tc>
              </a:tr>
            </a:tbl>
          </a:graphicData>
        </a:graphic>
      </p:graphicFrame>
      <p:pic>
        <p:nvPicPr>
          <p:cNvPr id="187" name="Google Shape;187;p22"/>
          <p:cNvPicPr preferRelativeResize="0"/>
          <p:nvPr/>
        </p:nvPicPr>
        <p:blipFill>
          <a:blip r:embed="rId3">
            <a:alphaModFix/>
          </a:blip>
          <a:stretch>
            <a:fillRect/>
          </a:stretch>
        </p:blipFill>
        <p:spPr>
          <a:xfrm>
            <a:off x="4058813" y="1714463"/>
            <a:ext cx="395813" cy="200100"/>
          </a:xfrm>
          <a:prstGeom prst="rect">
            <a:avLst/>
          </a:prstGeom>
          <a:noFill/>
          <a:ln>
            <a:noFill/>
          </a:ln>
        </p:spPr>
      </p:pic>
      <p:pic>
        <p:nvPicPr>
          <p:cNvPr id="188" name="Google Shape;188;p22"/>
          <p:cNvPicPr preferRelativeResize="0"/>
          <p:nvPr/>
        </p:nvPicPr>
        <p:blipFill>
          <a:blip r:embed="rId3">
            <a:alphaModFix/>
          </a:blip>
          <a:stretch>
            <a:fillRect/>
          </a:stretch>
        </p:blipFill>
        <p:spPr>
          <a:xfrm>
            <a:off x="5266013" y="1714463"/>
            <a:ext cx="284462" cy="200100"/>
          </a:xfrm>
          <a:prstGeom prst="rect">
            <a:avLst/>
          </a:prstGeom>
          <a:noFill/>
          <a:ln>
            <a:noFill/>
          </a:ln>
        </p:spPr>
      </p:pic>
      <p:pic>
        <p:nvPicPr>
          <p:cNvPr id="189" name="Google Shape;189;p22"/>
          <p:cNvPicPr preferRelativeResize="0"/>
          <p:nvPr/>
        </p:nvPicPr>
        <p:blipFill rotWithShape="1">
          <a:blip r:embed="rId4">
            <a:alphaModFix/>
          </a:blip>
          <a:srcRect b="53459" l="0" r="0" t="10748"/>
          <a:stretch/>
        </p:blipFill>
        <p:spPr>
          <a:xfrm>
            <a:off x="2005163" y="758877"/>
            <a:ext cx="5133674" cy="2185597"/>
          </a:xfrm>
          <a:prstGeom prst="rect">
            <a:avLst/>
          </a:prstGeom>
          <a:noFill/>
          <a:ln>
            <a:noFill/>
          </a:ln>
        </p:spPr>
      </p:pic>
      <p:pic>
        <p:nvPicPr>
          <p:cNvPr id="190" name="Google Shape;190;p22"/>
          <p:cNvPicPr preferRelativeResize="0"/>
          <p:nvPr/>
        </p:nvPicPr>
        <p:blipFill>
          <a:blip r:embed="rId5">
            <a:alphaModFix/>
          </a:blip>
          <a:stretch>
            <a:fillRect/>
          </a:stretch>
        </p:blipFill>
        <p:spPr>
          <a:xfrm>
            <a:off x="4089690" y="1718963"/>
            <a:ext cx="363388" cy="190500"/>
          </a:xfrm>
          <a:prstGeom prst="rect">
            <a:avLst/>
          </a:prstGeom>
          <a:noFill/>
          <a:ln>
            <a:noFill/>
          </a:ln>
        </p:spPr>
      </p:pic>
      <p:pic>
        <p:nvPicPr>
          <p:cNvPr id="191" name="Google Shape;191;p22"/>
          <p:cNvPicPr preferRelativeResize="0"/>
          <p:nvPr/>
        </p:nvPicPr>
        <p:blipFill>
          <a:blip r:embed="rId5">
            <a:alphaModFix/>
          </a:blip>
          <a:stretch>
            <a:fillRect/>
          </a:stretch>
        </p:blipFill>
        <p:spPr>
          <a:xfrm>
            <a:off x="5280703" y="1726652"/>
            <a:ext cx="363388" cy="190500"/>
          </a:xfrm>
          <a:prstGeom prst="rect">
            <a:avLst/>
          </a:prstGeom>
          <a:noFill/>
          <a:ln>
            <a:noFill/>
          </a:ln>
        </p:spPr>
      </p:pic>
      <p:sp>
        <p:nvSpPr>
          <p:cNvPr id="192" name="Google Shape;192;p22"/>
          <p:cNvSpPr txBox="1"/>
          <p:nvPr/>
        </p:nvSpPr>
        <p:spPr>
          <a:xfrm>
            <a:off x="87725" y="-9450"/>
            <a:ext cx="8825100" cy="6273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CORE 2H/BULKY</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Dừng hỗ trợ hủy đơn, siết thời gian giao hàng, xử lý các tài khoản vi phạm -&gt; Active của đội giảm mạnh vào cuối tháng</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CTT chưa đủ hấp dẫn để duy trì tài xế hoạt động khi thời tiết xấu</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Tuyển dụng đội khó dần vào giai đoạn cuối tháng khi các tài xế Potential Bulky ở HAN còn thấp</a:t>
            </a:r>
            <a:endParaRPr sz="10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23"/>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cxnSp>
        <p:nvCxnSpPr>
          <p:cNvPr id="199" name="Google Shape;199;p23"/>
          <p:cNvCxnSpPr/>
          <p:nvPr/>
        </p:nvCxnSpPr>
        <p:spPr>
          <a:xfrm>
            <a:off x="59025" y="1906089"/>
            <a:ext cx="9026100" cy="0"/>
          </a:xfrm>
          <a:prstGeom prst="straightConnector1">
            <a:avLst/>
          </a:prstGeom>
          <a:noFill/>
          <a:ln cap="flat" cmpd="sng" w="19050">
            <a:solidFill>
              <a:srgbClr val="1155CC"/>
            </a:solidFill>
            <a:prstDash val="solid"/>
            <a:round/>
            <a:headEnd len="med" w="med" type="none"/>
            <a:tailEnd len="med" w="med" type="none"/>
          </a:ln>
        </p:spPr>
      </p:cxnSp>
      <p:graphicFrame>
        <p:nvGraphicFramePr>
          <p:cNvPr id="200" name="Google Shape;200;p23"/>
          <p:cNvGraphicFramePr/>
          <p:nvPr/>
        </p:nvGraphicFramePr>
        <p:xfrm>
          <a:off x="150388" y="2014900"/>
          <a:ext cx="3000000" cy="3000000"/>
        </p:xfrm>
        <a:graphic>
          <a:graphicData uri="http://schemas.openxmlformats.org/drawingml/2006/table">
            <a:tbl>
              <a:tblPr>
                <a:noFill/>
                <a:tableStyleId>{84A9007E-4112-45BC-9D73-1BCF8FDB95CB}</a:tableStyleId>
              </a:tblPr>
              <a:tblGrid>
                <a:gridCol w="1836750"/>
                <a:gridCol w="2336525"/>
                <a:gridCol w="1790650"/>
                <a:gridCol w="2859300"/>
              </a:tblGrid>
              <a:tr h="190500">
                <a:tc>
                  <a:txBody>
                    <a:bodyPr/>
                    <a:lstStyle/>
                    <a:p>
                      <a:pPr indent="0" lvl="0" marL="0" rtl="0" algn="ctr">
                        <a:spcBef>
                          <a:spcPts val="0"/>
                        </a:spcBef>
                        <a:spcAft>
                          <a:spcPts val="0"/>
                        </a:spcAft>
                        <a:buNone/>
                      </a:pPr>
                      <a:r>
                        <a:rPr b="1" lang="en" sz="1000">
                          <a:solidFill>
                            <a:srgbClr val="374151"/>
                          </a:solidFill>
                          <a:latin typeface="Lexend"/>
                          <a:ea typeface="Lexend"/>
                          <a:cs typeface="Lexend"/>
                          <a:sym typeface="Lexend"/>
                        </a:rPr>
                        <a:t>Task đã triển khai</a:t>
                      </a:r>
                      <a:endParaRPr b="1" sz="1000">
                        <a:solidFill>
                          <a:srgbClr val="374151"/>
                        </a:solidFill>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solidFill>
                            <a:srgbClr val="374151"/>
                          </a:solidFill>
                          <a:latin typeface="Lexend"/>
                          <a:ea typeface="Lexend"/>
                          <a:cs typeface="Lexend"/>
                          <a:sym typeface="Lexend"/>
                        </a:rPr>
                        <a:t>Mục tiêu</a:t>
                      </a:r>
                      <a:endParaRPr b="1" sz="1000">
                        <a:solidFill>
                          <a:srgbClr val="374151"/>
                        </a:solidFill>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solidFill>
                            <a:srgbClr val="374151"/>
                          </a:solidFill>
                          <a:latin typeface="Lexend"/>
                          <a:ea typeface="Lexend"/>
                          <a:cs typeface="Lexend"/>
                          <a:sym typeface="Lexend"/>
                        </a:rPr>
                        <a:t>Kết quả thực tế</a:t>
                      </a:r>
                      <a:endParaRPr b="1" sz="1000">
                        <a:solidFill>
                          <a:srgbClr val="374151"/>
                        </a:solidFill>
                        <a:latin typeface="Lexend"/>
                        <a:ea typeface="Lexend"/>
                        <a:cs typeface="Lexend"/>
                        <a:sym typeface="Lexend"/>
                      </a:endParaRPr>
                    </a:p>
                  </a:txBody>
                  <a:tcPr marT="45725" marB="45725" marR="45725" marL="45725">
                    <a:solidFill>
                      <a:srgbClr val="FF7F32"/>
                    </a:solidFill>
                  </a:tcPr>
                </a:tc>
                <a:tc>
                  <a:txBody>
                    <a:bodyPr/>
                    <a:lstStyle/>
                    <a:p>
                      <a:pPr indent="0" lvl="0" marL="0" rtl="0" algn="ctr">
                        <a:spcBef>
                          <a:spcPts val="0"/>
                        </a:spcBef>
                        <a:spcAft>
                          <a:spcPts val="0"/>
                        </a:spcAft>
                        <a:buNone/>
                      </a:pPr>
                      <a:r>
                        <a:rPr b="1" lang="en" sz="1000">
                          <a:solidFill>
                            <a:srgbClr val="374151"/>
                          </a:solidFill>
                          <a:latin typeface="Lexend"/>
                          <a:ea typeface="Lexend"/>
                          <a:cs typeface="Lexend"/>
                          <a:sym typeface="Lexend"/>
                        </a:rPr>
                        <a:t>Lesson learned</a:t>
                      </a:r>
                      <a:endParaRPr b="1" sz="1000">
                        <a:solidFill>
                          <a:srgbClr val="374151"/>
                        </a:solidFill>
                        <a:latin typeface="Lexend"/>
                        <a:ea typeface="Lexend"/>
                        <a:cs typeface="Lexend"/>
                        <a:sym typeface="Lexend"/>
                      </a:endParaRPr>
                    </a:p>
                  </a:txBody>
                  <a:tcPr marT="45725" marB="45725" marR="45725" marL="45725">
                    <a:solidFill>
                      <a:srgbClr val="FF7F32"/>
                    </a:solidFill>
                  </a:tcPr>
                </a:tc>
              </a:tr>
              <a:tr h="861125">
                <a:tc>
                  <a:txBody>
                    <a:bodyPr/>
                    <a:lstStyle/>
                    <a:p>
                      <a:pPr indent="0" lvl="0" marL="0" rtl="0" algn="l">
                        <a:spcBef>
                          <a:spcPts val="0"/>
                        </a:spcBef>
                        <a:spcAft>
                          <a:spcPts val="0"/>
                        </a:spcAft>
                        <a:buNone/>
                      </a:pPr>
                      <a:r>
                        <a:rPr lang="en" sz="1000">
                          <a:latin typeface="Lexend"/>
                          <a:ea typeface="Lexend"/>
                          <a:cs typeface="Lexend"/>
                          <a:sym typeface="Lexend"/>
                        </a:rPr>
                        <a:t>Chương trình Ân xá</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15% tài xế trong nhóm active trở lại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1000">
                          <a:solidFill>
                            <a:srgbClr val="073763"/>
                          </a:solidFill>
                          <a:latin typeface="Lexend"/>
                          <a:ea typeface="Lexend"/>
                          <a:cs typeface="Lexend"/>
                          <a:sym typeface="Lexend"/>
                        </a:rPr>
                        <a:t>19%</a:t>
                      </a:r>
                      <a:r>
                        <a:rPr lang="en" sz="1000">
                          <a:latin typeface="Lexend"/>
                          <a:ea typeface="Lexend"/>
                          <a:cs typeface="Lexend"/>
                          <a:sym typeface="Lexend"/>
                        </a:rPr>
                        <a:t> tài xế trong nhóm active (722 tài xế ~ +4% target)</a:t>
                      </a:r>
                      <a:endParaRPr b="1" sz="1000">
                        <a:solidFill>
                          <a:srgbClr val="0B5394"/>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Chương trình đem lại hiệu quả đạt kỳ vọng tuy nhiên vẫn còn nhiều tài xế chỉ active trở lại nhưng không hoàn thành đủ ký quỹ, chưa theo sát và tác động mạnh đến nhóm tài xế này. </a:t>
                      </a:r>
                      <a:endParaRPr sz="1000">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Tag Whitelist COD_ balance</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(COD_ balance &lt;3M) &lt;15%</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35%</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Tài xế nghỉ lễ nhiều, 3/7 tài xế đều tăng năng suất đơn bulky từ 2 - 4 stp, tuy nhiên cần nghĩ cách để đẩy active nhóm năng suất thấp này.</a:t>
                      </a:r>
                      <a:endParaRPr sz="1000">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None/>
                      </a:pPr>
                      <a:r>
                        <a:rPr lang="en" sz="1000">
                          <a:latin typeface="Lexend"/>
                          <a:ea typeface="Lexend"/>
                          <a:cs typeface="Lexend"/>
                          <a:sym typeface="Lexend"/>
                        </a:rPr>
                        <a:t>Chính thức áp dụng new ranking dành cho tài xế trong M9/2026</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Triển khai new ranking, đồng nhất bộ tiêu chí với DQS để tài xế dễ theo dõi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Đã xếp hạng thành công &amp; chỉnh sửa UI/UX in app</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Tuy nhiên:</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Thời điểm chốt triển khai đến ngày chốt xếp hạng quá gấp -&gt; không kịp order flow push noti cho tài xế</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Phần hiển thị tiêu chí còn chưa được chỉnh sửa (bị lỗi 2 ngày trong lễ) -&gt; tx thắc mắc nhưng đã fix lỗi sau lễ</a:t>
                      </a:r>
                      <a:endParaRPr sz="1000">
                        <a:latin typeface="Lexend"/>
                        <a:ea typeface="Lexend"/>
                        <a:cs typeface="Lexend"/>
                        <a:sym typeface="Lexend"/>
                      </a:endParaRPr>
                    </a:p>
                  </a:txBody>
                  <a:tcPr marT="45725" marB="45725" marR="45725" marL="45725"/>
                </a:tc>
              </a:tr>
            </a:tbl>
          </a:graphicData>
        </a:graphic>
      </p:graphicFrame>
      <p:sp>
        <p:nvSpPr>
          <p:cNvPr id="201" name="Google Shape;201;p23"/>
          <p:cNvSpPr txBox="1"/>
          <p:nvPr/>
        </p:nvSpPr>
        <p:spPr>
          <a:xfrm>
            <a:off x="87725" y="249900"/>
            <a:ext cx="8886000" cy="1776000"/>
          </a:xfrm>
          <a:prstGeom prst="rect">
            <a:avLst/>
          </a:prstGeom>
          <a:noFill/>
          <a:ln>
            <a:noFill/>
          </a:ln>
        </p:spPr>
        <p:txBody>
          <a:bodyPr anchorCtr="0" anchor="t" bIns="45725" lIns="45725" spcFirstLastPara="1" rIns="45725" wrap="square" tIns="45725">
            <a:noAutofit/>
          </a:bodyPr>
          <a:lstStyle/>
          <a:p>
            <a:pPr indent="-177800" lvl="0" marL="228600" rtl="0" algn="l">
              <a:spcBef>
                <a:spcPts val="0"/>
              </a:spcBef>
              <a:spcAft>
                <a:spcPts val="0"/>
              </a:spcAft>
              <a:buSzPts val="1000"/>
              <a:buFont typeface="Lexend"/>
              <a:buChar char="●"/>
            </a:pPr>
            <a:r>
              <a:rPr b="1" lang="en" sz="1000">
                <a:latin typeface="Lexend"/>
                <a:ea typeface="Lexend"/>
                <a:cs typeface="Lexend"/>
                <a:sym typeface="Lexend"/>
              </a:rPr>
              <a:t>HAN:</a:t>
            </a:r>
            <a:endParaRPr b="1" sz="1000">
              <a:latin typeface="Lexend"/>
              <a:ea typeface="Lexend"/>
              <a:cs typeface="Lexend"/>
              <a:sym typeface="Lexend"/>
            </a:endParaRPr>
          </a:p>
          <a:p>
            <a:pPr indent="0" lvl="0" marL="0" rtl="0" algn="l">
              <a:spcBef>
                <a:spcPts val="0"/>
              </a:spcBef>
              <a:spcAft>
                <a:spcPts val="0"/>
              </a:spcAft>
              <a:buNone/>
            </a:pPr>
            <a:r>
              <a:rPr b="1" lang="en" sz="1000">
                <a:latin typeface="Lexend"/>
                <a:ea typeface="Lexend"/>
                <a:cs typeface="Lexend"/>
                <a:sym typeface="Lexend"/>
              </a:rPr>
              <a:t>+ FR ~</a:t>
            </a:r>
            <a:r>
              <a:rPr b="1" lang="en" sz="1000">
                <a:solidFill>
                  <a:srgbClr val="B91C1C"/>
                </a:solidFill>
                <a:latin typeface="Lexend"/>
                <a:ea typeface="Lexend"/>
                <a:cs typeface="Lexend"/>
                <a:sym typeface="Lexend"/>
              </a:rPr>
              <a:t> 74.23 % </a:t>
            </a:r>
            <a:r>
              <a:rPr b="1" lang="en" sz="1000">
                <a:solidFill>
                  <a:schemeClr val="dk1"/>
                </a:solidFill>
                <a:latin typeface="Lexend"/>
                <a:ea typeface="Lexend"/>
                <a:cs typeface="Lexend"/>
                <a:sym typeface="Lexend"/>
              </a:rPr>
              <a:t>(giảm </a:t>
            </a:r>
            <a:r>
              <a:rPr b="1" lang="en" sz="1000">
                <a:solidFill>
                  <a:srgbClr val="B91C1C"/>
                </a:solidFill>
                <a:latin typeface="Lexend"/>
                <a:ea typeface="Lexend"/>
                <a:cs typeface="Lexend"/>
                <a:sym typeface="Lexend"/>
              </a:rPr>
              <a:t>5% </a:t>
            </a:r>
            <a:r>
              <a:rPr b="1" lang="en" sz="1000">
                <a:solidFill>
                  <a:schemeClr val="dk1"/>
                </a:solidFill>
                <a:latin typeface="Lexend"/>
                <a:ea typeface="Lexend"/>
                <a:cs typeface="Lexend"/>
                <a:sym typeface="Lexend"/>
              </a:rPr>
              <a:t>MoM</a:t>
            </a:r>
            <a:r>
              <a:rPr b="1" lang="en" sz="1000">
                <a:solidFill>
                  <a:srgbClr val="B91C1C"/>
                </a:solidFill>
                <a:latin typeface="Lexend"/>
                <a:ea typeface="Lexend"/>
                <a:cs typeface="Lexend"/>
                <a:sym typeface="Lexend"/>
              </a:rPr>
              <a:t>, </a:t>
            </a:r>
            <a:r>
              <a:rPr b="1" lang="en" sz="1000">
                <a:solidFill>
                  <a:schemeClr val="dk1"/>
                </a:solidFill>
                <a:latin typeface="Lexend"/>
                <a:ea typeface="Lexend"/>
                <a:cs typeface="Lexend"/>
                <a:sym typeface="Lexend"/>
              </a:rPr>
              <a:t>tăng </a:t>
            </a:r>
            <a:r>
              <a:rPr b="1" lang="en" sz="1000">
                <a:solidFill>
                  <a:schemeClr val="accent1"/>
                </a:solidFill>
                <a:latin typeface="Lexend"/>
                <a:ea typeface="Lexend"/>
                <a:cs typeface="Lexend"/>
                <a:sym typeface="Lexend"/>
              </a:rPr>
              <a:t>4.1%</a:t>
            </a:r>
            <a:r>
              <a:rPr b="1" lang="en" sz="1000">
                <a:solidFill>
                  <a:schemeClr val="dk1"/>
                </a:solidFill>
                <a:latin typeface="Lexend"/>
                <a:ea typeface="Lexend"/>
                <a:cs typeface="Lexend"/>
                <a:sym typeface="Lexend"/>
              </a:rPr>
              <a:t> YoY)</a:t>
            </a:r>
            <a:r>
              <a:rPr lang="en" sz="1000">
                <a:solidFill>
                  <a:schemeClr val="dk1"/>
                </a:solidFill>
                <a:latin typeface="Lexend"/>
                <a:ea typeface="Lexend"/>
                <a:cs typeface="Lexend"/>
                <a:sym typeface="Lexend"/>
              </a:rPr>
              <a:t>,  trong đó ảnh hưởng mạnh đến chỉ số đến từ các đơn Bulky (Lượng đơn tăng mạnh, thời tiết xấu, siết thời gian giao hàng, vv,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en" sz="1000">
                <a:solidFill>
                  <a:schemeClr val="dk1"/>
                </a:solidFill>
                <a:latin typeface="Lexend"/>
                <a:ea typeface="Lexend"/>
                <a:cs typeface="Lexend"/>
                <a:sym typeface="Lexend"/>
              </a:rPr>
              <a:t>+ Retention ~</a:t>
            </a:r>
            <a:r>
              <a:rPr b="1" lang="en" sz="1000">
                <a:solidFill>
                  <a:srgbClr val="073763"/>
                </a:solidFill>
                <a:latin typeface="Lexend"/>
                <a:ea typeface="Lexend"/>
                <a:cs typeface="Lexend"/>
                <a:sym typeface="Lexend"/>
              </a:rPr>
              <a:t> 78.86%</a:t>
            </a:r>
            <a:r>
              <a:rPr b="1" lang="en" sz="1000">
                <a:solidFill>
                  <a:schemeClr val="dk2"/>
                </a:solidFill>
                <a:latin typeface="Lexend"/>
                <a:ea typeface="Lexend"/>
                <a:cs typeface="Lexend"/>
                <a:sym typeface="Lexend"/>
              </a:rPr>
              <a:t> </a:t>
            </a:r>
            <a:r>
              <a:rPr b="1" lang="en" sz="1000">
                <a:solidFill>
                  <a:schemeClr val="dk1"/>
                </a:solidFill>
                <a:latin typeface="Lexend"/>
                <a:ea typeface="Lexend"/>
                <a:cs typeface="Lexend"/>
                <a:sym typeface="Lexend"/>
              </a:rPr>
              <a:t>(</a:t>
            </a:r>
            <a:r>
              <a:rPr b="1" lang="en" sz="1000">
                <a:solidFill>
                  <a:srgbClr val="073763"/>
                </a:solidFill>
                <a:latin typeface="Lexend"/>
                <a:ea typeface="Lexend"/>
                <a:cs typeface="Lexend"/>
                <a:sym typeface="Lexend"/>
              </a:rPr>
              <a:t>+0.8%</a:t>
            </a:r>
            <a:r>
              <a:rPr b="1" lang="en" sz="1000">
                <a:solidFill>
                  <a:schemeClr val="dk1"/>
                </a:solidFill>
                <a:latin typeface="Lexend"/>
                <a:ea typeface="Lexend"/>
                <a:cs typeface="Lexend"/>
                <a:sym typeface="Lexend"/>
              </a:rPr>
              <a:t> YoY, </a:t>
            </a:r>
            <a:r>
              <a:rPr b="1" lang="en" sz="1000">
                <a:solidFill>
                  <a:srgbClr val="1C4587"/>
                </a:solidFill>
                <a:latin typeface="Lexend"/>
                <a:ea typeface="Lexend"/>
                <a:cs typeface="Lexend"/>
                <a:sym typeface="Lexend"/>
              </a:rPr>
              <a:t>+0.05 </a:t>
            </a:r>
            <a:r>
              <a:rPr b="1" lang="en" sz="1000">
                <a:solidFill>
                  <a:schemeClr val="dk1"/>
                </a:solidFill>
                <a:latin typeface="Lexend"/>
                <a:ea typeface="Lexend"/>
                <a:cs typeface="Lexend"/>
                <a:sym typeface="Lexend"/>
              </a:rPr>
              <a:t>MoM ),</a:t>
            </a:r>
            <a:r>
              <a:rPr lang="en" sz="1000">
                <a:solidFill>
                  <a:schemeClr val="dk1"/>
                </a:solidFill>
                <a:latin typeface="Lexend"/>
                <a:ea typeface="Lexend"/>
                <a:cs typeface="Lexend"/>
                <a:sym typeface="Lexend"/>
              </a:rPr>
              <a:t> thời tiết tốt hơn so với cùng kỳ, nhiều chương trình thưởng kéo active vào cuối tháng, triển khai Chương trình ân xá kéo Retention lên , tuy nhiên Active, tuy nhiên nhóm FT đang có sự giảm mạnh               </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177800" lvl="0" marL="228600" rtl="0" algn="l">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SGN:</a:t>
            </a:r>
            <a:endParaRPr b="1" sz="1000">
              <a:solidFill>
                <a:schemeClr val="dk1"/>
              </a:solidFill>
              <a:latin typeface="Lexend"/>
              <a:ea typeface="Lexend"/>
              <a:cs typeface="Lexend"/>
              <a:sym typeface="Lexend"/>
            </a:endParaRPr>
          </a:p>
          <a:p>
            <a:pPr indent="0" lvl="0" marL="0" rtl="0" algn="l">
              <a:spcBef>
                <a:spcPts val="0"/>
              </a:spcBef>
              <a:spcAft>
                <a:spcPts val="0"/>
              </a:spcAft>
              <a:buNone/>
            </a:pPr>
            <a:r>
              <a:rPr b="1" lang="en" sz="1000">
                <a:solidFill>
                  <a:schemeClr val="dk1"/>
                </a:solidFill>
                <a:latin typeface="Lexend"/>
                <a:ea typeface="Lexend"/>
                <a:cs typeface="Lexend"/>
                <a:sym typeface="Lexend"/>
              </a:rPr>
              <a:t>+ FR 86.6% (giảm </a:t>
            </a:r>
            <a:r>
              <a:rPr b="1" lang="en" sz="1000">
                <a:solidFill>
                  <a:srgbClr val="FF0000"/>
                </a:solidFill>
                <a:latin typeface="Lexend"/>
                <a:ea typeface="Lexend"/>
                <a:cs typeface="Lexend"/>
                <a:sym typeface="Lexend"/>
              </a:rPr>
              <a:t>0.6%</a:t>
            </a:r>
            <a:r>
              <a:rPr b="1" lang="en" sz="1000">
                <a:solidFill>
                  <a:schemeClr val="dk1"/>
                </a:solidFill>
                <a:latin typeface="Lexend"/>
                <a:ea typeface="Lexend"/>
                <a:cs typeface="Lexend"/>
                <a:sym typeface="Lexend"/>
              </a:rPr>
              <a:t> MoM, tăng </a:t>
            </a:r>
            <a:r>
              <a:rPr b="1" lang="en" sz="1000">
                <a:solidFill>
                  <a:srgbClr val="0000FF"/>
                </a:solidFill>
                <a:latin typeface="Lexend"/>
                <a:ea typeface="Lexend"/>
                <a:cs typeface="Lexend"/>
                <a:sym typeface="Lexend"/>
              </a:rPr>
              <a:t>1.6%</a:t>
            </a:r>
            <a:r>
              <a:rPr b="1" lang="en" sz="1000">
                <a:solidFill>
                  <a:schemeClr val="dk1"/>
                </a:solidFill>
                <a:latin typeface="Lexend"/>
                <a:ea typeface="Lexend"/>
                <a:cs typeface="Lexend"/>
                <a:sym typeface="Lexend"/>
              </a:rPr>
              <a:t> YoY),</a:t>
            </a:r>
            <a:r>
              <a:rPr lang="en" sz="1000">
                <a:solidFill>
                  <a:schemeClr val="dk1"/>
                </a:solidFill>
                <a:latin typeface="Lexend"/>
                <a:ea typeface="Lexend"/>
                <a:cs typeface="Lexend"/>
                <a:sym typeface="Lexend"/>
              </a:rPr>
              <a:t> do ảnh hưởng một số ngày có thời tiết xấu &amp; lễ</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en" sz="1000">
                <a:solidFill>
                  <a:schemeClr val="dk1"/>
                </a:solidFill>
                <a:latin typeface="Lexend"/>
                <a:ea typeface="Lexend"/>
                <a:cs typeface="Lexend"/>
                <a:sym typeface="Lexend"/>
              </a:rPr>
              <a:t>+ </a:t>
            </a:r>
            <a:r>
              <a:rPr b="1" lang="en" sz="1000">
                <a:solidFill>
                  <a:schemeClr val="dk1"/>
                </a:solidFill>
                <a:latin typeface="Lexend"/>
                <a:ea typeface="Lexend"/>
                <a:cs typeface="Lexend"/>
                <a:sym typeface="Lexend"/>
              </a:rPr>
              <a:t>FT giảm 200tx MoM, tăng nhẹ 60tx YoY </a:t>
            </a:r>
            <a:r>
              <a:rPr lang="en" sz="1000">
                <a:solidFill>
                  <a:schemeClr val="dk1"/>
                </a:solidFill>
                <a:latin typeface="Lexend"/>
                <a:ea typeface="Lexend"/>
                <a:cs typeface="Lexend"/>
                <a:sym typeface="Lexend"/>
              </a:rPr>
              <a:t>(Mặc dù SL FT M8/2026 tăng so với M8/2025, nhưng tỉ lệ tx FT/total active M8/2025 hơn 2% so với hiện tại -&gt; Vì thế có thể nói là SL tx FT M8/2026 đang có sự suy giảm đáng kể)</a:t>
            </a:r>
            <a:endParaRPr sz="1000">
              <a:solidFill>
                <a:schemeClr val="dk1"/>
              </a:solidFill>
              <a:latin typeface="Lexend"/>
              <a:ea typeface="Lexend"/>
              <a:cs typeface="Lexend"/>
              <a:sym typeface="Lexend"/>
            </a:endParaRPr>
          </a:p>
        </p:txBody>
      </p:sp>
      <p:sp>
        <p:nvSpPr>
          <p:cNvPr id="202" name="Google Shape;202;p23"/>
          <p:cNvSpPr/>
          <p:nvPr/>
        </p:nvSpPr>
        <p:spPr>
          <a:xfrm>
            <a:off x="87722" y="44096"/>
            <a:ext cx="3657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4174"/>
              </a:buClr>
              <a:buSzPts val="1100"/>
              <a:buFont typeface="Calibri"/>
              <a:buNone/>
            </a:pPr>
            <a:r>
              <a:rPr b="1" lang="en" sz="1400">
                <a:solidFill>
                  <a:srgbClr val="0E4174"/>
                </a:solidFill>
                <a:latin typeface="Lexend"/>
                <a:ea typeface="Lexend"/>
                <a:cs typeface="Lexend"/>
                <a:sym typeface="Lexend"/>
              </a:rPr>
              <a:t>Overview </a:t>
            </a:r>
            <a:endParaRPr i="0" sz="1400" u="none" cap="none" strike="noStrike">
              <a:solidFill>
                <a:srgbClr val="F56C1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24"/>
          <p:cNvSpPr/>
          <p:nvPr/>
        </p:nvSpPr>
        <p:spPr>
          <a:xfrm>
            <a:off x="174801" y="59178"/>
            <a:ext cx="304800" cy="304800"/>
          </a:xfrm>
          <a:prstGeom prst="roundRect">
            <a:avLst>
              <a:gd fmla="val 21875" name="adj"/>
            </a:avLst>
          </a:prstGeom>
          <a:solidFill>
            <a:srgbClr val="FF7F32"/>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9" name="Google Shape;209;p24"/>
          <p:cNvSpPr/>
          <p:nvPr/>
        </p:nvSpPr>
        <p:spPr>
          <a:xfrm>
            <a:off x="155751" y="59178"/>
            <a:ext cx="342900" cy="3240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1000"/>
              <a:buFont typeface="Plus Jakarta Sans"/>
              <a:buNone/>
            </a:pPr>
            <a:r>
              <a:rPr b="1" lang="en" sz="1000">
                <a:solidFill>
                  <a:srgbClr val="FFFFFF"/>
                </a:solidFill>
                <a:latin typeface="Plus Jakarta Sans"/>
                <a:ea typeface="Plus Jakarta Sans"/>
                <a:cs typeface="Plus Jakarta Sans"/>
                <a:sym typeface="Plus Jakarta Sans"/>
              </a:rPr>
              <a:t>DR</a:t>
            </a:r>
            <a:endParaRPr b="0" i="0" sz="1000" u="none" cap="none" strike="noStrike">
              <a:solidFill>
                <a:schemeClr val="dk1"/>
              </a:solidFill>
              <a:latin typeface="Calibri"/>
              <a:ea typeface="Calibri"/>
              <a:cs typeface="Calibri"/>
              <a:sym typeface="Calibri"/>
            </a:endParaRPr>
          </a:p>
        </p:txBody>
      </p:sp>
      <p:sp>
        <p:nvSpPr>
          <p:cNvPr id="210" name="Google Shape;210;p24"/>
          <p:cNvSpPr/>
          <p:nvPr/>
        </p:nvSpPr>
        <p:spPr>
          <a:xfrm>
            <a:off x="574851" y="132368"/>
            <a:ext cx="5088300" cy="205200"/>
          </a:xfrm>
          <a:prstGeom prst="rect">
            <a:avLst/>
          </a:prstGeom>
          <a:noFill/>
          <a:ln>
            <a:noFill/>
          </a:ln>
        </p:spPr>
        <p:txBody>
          <a:bodyPr anchorCtr="0" anchor="t" bIns="12700" lIns="12700" spcFirstLastPara="1" rIns="12700" wrap="square" tIns="12700">
            <a:noAutofit/>
          </a:bodyPr>
          <a:lstStyle/>
          <a:p>
            <a:pPr indent="0" lvl="0" marL="0" marR="0" rtl="0" algn="l">
              <a:lnSpc>
                <a:spcPct val="90930"/>
              </a:lnSpc>
              <a:spcBef>
                <a:spcPts val="0"/>
              </a:spcBef>
              <a:spcAft>
                <a:spcPts val="0"/>
              </a:spcAft>
              <a:buClr>
                <a:srgbClr val="121619"/>
              </a:buClr>
              <a:buSzPts val="1300"/>
              <a:buFont typeface="Plus Jakarta Sans"/>
              <a:buNone/>
            </a:pPr>
            <a:r>
              <a:rPr b="1" lang="en" sz="1000">
                <a:solidFill>
                  <a:srgbClr val="121619"/>
                </a:solidFill>
                <a:latin typeface="Lexend"/>
                <a:ea typeface="Lexend"/>
                <a:cs typeface="Lexend"/>
                <a:sym typeface="Lexend"/>
              </a:rPr>
              <a:t>Driver Ranking</a:t>
            </a:r>
            <a:r>
              <a:rPr b="1" i="0" lang="en" sz="1000" u="none" cap="none" strike="noStrike">
                <a:solidFill>
                  <a:srgbClr val="121619"/>
                </a:solidFill>
                <a:latin typeface="Lexend"/>
                <a:ea typeface="Lexend"/>
                <a:cs typeface="Lexend"/>
                <a:sym typeface="Lexend"/>
              </a:rPr>
              <a:t>: </a:t>
            </a:r>
            <a:endParaRPr i="0" sz="1000" u="none" cap="none" strike="noStrike">
              <a:solidFill>
                <a:schemeClr val="dk1"/>
              </a:solidFill>
              <a:latin typeface="Lexend"/>
              <a:ea typeface="Lexend"/>
              <a:cs typeface="Lexend"/>
              <a:sym typeface="Lexend"/>
            </a:endParaRPr>
          </a:p>
        </p:txBody>
      </p:sp>
      <p:sp>
        <p:nvSpPr>
          <p:cNvPr id="211" name="Google Shape;211;p24"/>
          <p:cNvSpPr/>
          <p:nvPr/>
        </p:nvSpPr>
        <p:spPr>
          <a:xfrm>
            <a:off x="85125" y="1824191"/>
            <a:ext cx="4329000" cy="533400"/>
          </a:xfrm>
          <a:prstGeom prst="roundRect">
            <a:avLst>
              <a:gd fmla="val 11429" name="adj"/>
            </a:avLst>
          </a:prstGeom>
          <a:solidFill>
            <a:srgbClr val="F5F7FA"/>
          </a:solidFill>
          <a:ln>
            <a:noFill/>
          </a:ln>
        </p:spPr>
        <p:txBody>
          <a:bodyPr anchorCtr="0" anchor="ctr" bIns="48775" lIns="48775" spcFirstLastPara="1" rIns="48775" wrap="square" tIns="48775">
            <a:noAutofit/>
          </a:bodyPr>
          <a:lstStyle/>
          <a:p>
            <a:pPr indent="0" lvl="0" marL="0" rtl="0" algn="l">
              <a:spcBef>
                <a:spcPts val="0"/>
              </a:spcBef>
              <a:spcAft>
                <a:spcPts val="0"/>
              </a:spcAft>
              <a:buNone/>
            </a:pPr>
            <a:r>
              <a:t/>
            </a:r>
            <a:endParaRPr/>
          </a:p>
        </p:txBody>
      </p:sp>
      <p:sp>
        <p:nvSpPr>
          <p:cNvPr id="212" name="Google Shape;212;p24"/>
          <p:cNvSpPr/>
          <p:nvPr/>
        </p:nvSpPr>
        <p:spPr>
          <a:xfrm>
            <a:off x="176564" y="1865453"/>
            <a:ext cx="4560900" cy="147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757D86"/>
              </a:buClr>
              <a:buSzPts val="853"/>
              <a:buFont typeface="Plus Jakarta Sans"/>
              <a:buNone/>
            </a:pPr>
            <a:r>
              <a:rPr b="1" i="0" lang="en" sz="800" u="none" cap="none" strike="noStrike">
                <a:solidFill>
                  <a:srgbClr val="757D86"/>
                </a:solidFill>
                <a:latin typeface="Lexend"/>
                <a:ea typeface="Lexend"/>
                <a:cs typeface="Lexend"/>
                <a:sym typeface="Lexend"/>
              </a:rPr>
              <a:t>TRƯỚC</a:t>
            </a:r>
            <a:endParaRPr i="0" sz="800" u="none" cap="none" strike="noStrike">
              <a:solidFill>
                <a:schemeClr val="dk1"/>
              </a:solidFill>
              <a:latin typeface="Lexend"/>
              <a:ea typeface="Lexend"/>
              <a:cs typeface="Lexend"/>
              <a:sym typeface="Lexend"/>
            </a:endParaRPr>
          </a:p>
        </p:txBody>
      </p:sp>
      <p:sp>
        <p:nvSpPr>
          <p:cNvPr id="213" name="Google Shape;213;p24"/>
          <p:cNvSpPr/>
          <p:nvPr/>
        </p:nvSpPr>
        <p:spPr>
          <a:xfrm>
            <a:off x="176564" y="2078702"/>
            <a:ext cx="4270800" cy="264600"/>
          </a:xfrm>
          <a:prstGeom prst="rect">
            <a:avLst/>
          </a:prstGeom>
          <a:noFill/>
          <a:ln>
            <a:noFill/>
          </a:ln>
        </p:spPr>
        <p:txBody>
          <a:bodyPr anchorCtr="0" anchor="t" bIns="13550" lIns="13550" spcFirstLastPara="1" rIns="13550" wrap="square" tIns="13550">
            <a:noAutofit/>
          </a:bodyPr>
          <a:lstStyle/>
          <a:p>
            <a:pPr indent="0" lvl="0" marL="0" rtl="0" algn="l">
              <a:lnSpc>
                <a:spcPct val="115000"/>
              </a:lnSpc>
              <a:spcBef>
                <a:spcPts val="0"/>
              </a:spcBef>
              <a:spcAft>
                <a:spcPts val="213"/>
              </a:spcAft>
              <a:buClr>
                <a:schemeClr val="dk1"/>
              </a:buClr>
              <a:buSzPts val="640"/>
              <a:buFont typeface="Arial"/>
              <a:buNone/>
            </a:pPr>
            <a:r>
              <a:rPr i="1" lang="en" sz="800">
                <a:solidFill>
                  <a:schemeClr val="dk1"/>
                </a:solidFill>
                <a:latin typeface="Lexend"/>
                <a:ea typeface="Lexend"/>
                <a:cs typeface="Lexend"/>
                <a:sym typeface="Lexend"/>
              </a:rPr>
              <a:t>DQS trung bình HAN (76.39) thấp hơn SGN (81.90), tiêu chuẩn DQS&gt;=80 ở Tier 1 đối với HAN là thử thách khá lớn (GAP +279). Đề xuất xây dựng chính sách riêng cho HAN trong đợt Pilot test 15.9 và roll out vào Tháng 10.</a:t>
            </a:r>
            <a:endParaRPr i="0" sz="800" u="none" cap="none" strike="noStrike">
              <a:solidFill>
                <a:schemeClr val="dk1"/>
              </a:solidFill>
              <a:latin typeface="Lexend"/>
              <a:ea typeface="Lexend"/>
              <a:cs typeface="Lexend"/>
              <a:sym typeface="Lexend"/>
            </a:endParaRPr>
          </a:p>
        </p:txBody>
      </p:sp>
      <p:sp>
        <p:nvSpPr>
          <p:cNvPr id="214" name="Google Shape;214;p24"/>
          <p:cNvSpPr/>
          <p:nvPr/>
        </p:nvSpPr>
        <p:spPr>
          <a:xfrm>
            <a:off x="4485398" y="2075650"/>
            <a:ext cx="180900" cy="2031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FF7F32"/>
              </a:buClr>
              <a:buSzPts val="1173"/>
              <a:buFont typeface="Roboto"/>
              <a:buNone/>
            </a:pPr>
            <a:r>
              <a:rPr b="0" i="0" lang="en" sz="1173" u="none" cap="none" strike="noStrike">
                <a:solidFill>
                  <a:srgbClr val="FF7F32"/>
                </a:solidFill>
                <a:latin typeface="Roboto"/>
                <a:ea typeface="Roboto"/>
                <a:cs typeface="Roboto"/>
                <a:sym typeface="Roboto"/>
              </a:rPr>
              <a:t>→</a:t>
            </a:r>
            <a:endParaRPr b="0" i="0" sz="1173" u="none" cap="none" strike="noStrike">
              <a:solidFill>
                <a:schemeClr val="dk1"/>
              </a:solidFill>
              <a:latin typeface="Calibri"/>
              <a:ea typeface="Calibri"/>
              <a:cs typeface="Calibri"/>
              <a:sym typeface="Calibri"/>
            </a:endParaRPr>
          </a:p>
        </p:txBody>
      </p:sp>
      <p:sp>
        <p:nvSpPr>
          <p:cNvPr id="215" name="Google Shape;215;p24"/>
          <p:cNvSpPr/>
          <p:nvPr/>
        </p:nvSpPr>
        <p:spPr>
          <a:xfrm>
            <a:off x="4696613" y="1900391"/>
            <a:ext cx="4329000" cy="533400"/>
          </a:xfrm>
          <a:prstGeom prst="roundRect">
            <a:avLst>
              <a:gd fmla="val 11429" name="adj"/>
            </a:avLst>
          </a:prstGeom>
          <a:solidFill>
            <a:srgbClr val="E8F5EC"/>
          </a:solidFill>
          <a:ln>
            <a:noFill/>
          </a:ln>
        </p:spPr>
        <p:txBody>
          <a:bodyPr anchorCtr="0" anchor="ctr" bIns="48775" lIns="48775" spcFirstLastPara="1" rIns="48775" wrap="square" tIns="48775">
            <a:noAutofit/>
          </a:bodyPr>
          <a:lstStyle/>
          <a:p>
            <a:pPr indent="0" lvl="0" marL="0" rtl="0" algn="l">
              <a:spcBef>
                <a:spcPts val="0"/>
              </a:spcBef>
              <a:spcAft>
                <a:spcPts val="0"/>
              </a:spcAft>
              <a:buNone/>
            </a:pPr>
            <a:r>
              <a:t/>
            </a:r>
            <a:endParaRPr/>
          </a:p>
        </p:txBody>
      </p:sp>
      <p:sp>
        <p:nvSpPr>
          <p:cNvPr id="216" name="Google Shape;216;p24"/>
          <p:cNvSpPr/>
          <p:nvPr/>
        </p:nvSpPr>
        <p:spPr>
          <a:xfrm>
            <a:off x="4788057" y="1941648"/>
            <a:ext cx="4237800" cy="147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167C3F"/>
              </a:buClr>
              <a:buSzPts val="853"/>
              <a:buFont typeface="Plus Jakarta Sans"/>
              <a:buNone/>
            </a:pPr>
            <a:r>
              <a:rPr b="1" i="0" lang="en" sz="800" u="none" cap="none" strike="noStrike">
                <a:solidFill>
                  <a:srgbClr val="167C3F"/>
                </a:solidFill>
                <a:latin typeface="Lexend"/>
                <a:ea typeface="Lexend"/>
                <a:cs typeface="Lexend"/>
                <a:sym typeface="Lexend"/>
              </a:rPr>
              <a:t>SAU</a:t>
            </a:r>
            <a:endParaRPr i="0" sz="800" u="none" cap="none" strike="noStrike">
              <a:solidFill>
                <a:schemeClr val="dk1"/>
              </a:solidFill>
              <a:latin typeface="Lexend"/>
              <a:ea typeface="Lexend"/>
              <a:cs typeface="Lexend"/>
              <a:sym typeface="Lexend"/>
            </a:endParaRPr>
          </a:p>
        </p:txBody>
      </p:sp>
      <p:sp>
        <p:nvSpPr>
          <p:cNvPr id="217" name="Google Shape;217;p24"/>
          <p:cNvSpPr/>
          <p:nvPr/>
        </p:nvSpPr>
        <p:spPr>
          <a:xfrm>
            <a:off x="4788050" y="2118826"/>
            <a:ext cx="4270800" cy="4602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121619"/>
              </a:buClr>
              <a:buSzPts val="853"/>
              <a:buFont typeface="Roboto"/>
              <a:buNone/>
            </a:pPr>
            <a:r>
              <a:rPr b="1" i="0" lang="en" sz="800" u="none" cap="none" strike="noStrike">
                <a:solidFill>
                  <a:srgbClr val="4C5158"/>
                </a:solidFill>
                <a:latin typeface="Lexend"/>
                <a:ea typeface="Lexend"/>
                <a:cs typeface="Lexend"/>
                <a:sym typeface="Lexend"/>
              </a:rPr>
              <a:t>Đề xuất tháng </a:t>
            </a:r>
            <a:r>
              <a:rPr b="1" lang="en" sz="800">
                <a:solidFill>
                  <a:srgbClr val="4C5158"/>
                </a:solidFill>
                <a:latin typeface="Lexend"/>
                <a:ea typeface="Lexend"/>
                <a:cs typeface="Lexend"/>
                <a:sym typeface="Lexend"/>
              </a:rPr>
              <a:t>9</a:t>
            </a:r>
            <a:r>
              <a:rPr b="1" i="0" lang="en" sz="800" u="none" cap="none" strike="noStrike">
                <a:solidFill>
                  <a:srgbClr val="4C5158"/>
                </a:solidFill>
                <a:latin typeface="Lexend"/>
                <a:ea typeface="Lexend"/>
                <a:cs typeface="Lexend"/>
                <a:sym typeface="Lexend"/>
              </a:rPr>
              <a:t>: </a:t>
            </a:r>
            <a:r>
              <a:rPr lang="en" sz="800">
                <a:solidFill>
                  <a:srgbClr val="4C5158"/>
                </a:solidFill>
                <a:latin typeface="Lexend"/>
                <a:ea typeface="Lexend"/>
                <a:cs typeface="Lexend"/>
                <a:sym typeface="Lexend"/>
              </a:rPr>
              <a:t>Đề xuất xây dựng bộ chỉ số riêng cho HAN trong đợt Pilot test 15.9 và roll out vào Tháng 10. Áp dụng Ranking custom cho expansion.</a:t>
            </a:r>
            <a:endParaRPr i="0" sz="800" u="none" cap="none" strike="noStrike">
              <a:solidFill>
                <a:srgbClr val="4C5158"/>
              </a:solidFill>
              <a:latin typeface="Lexend"/>
              <a:ea typeface="Lexend"/>
              <a:cs typeface="Lexend"/>
              <a:sym typeface="Lexend"/>
            </a:endParaRPr>
          </a:p>
        </p:txBody>
      </p:sp>
      <p:sp>
        <p:nvSpPr>
          <p:cNvPr id="218" name="Google Shape;218;p24"/>
          <p:cNvSpPr/>
          <p:nvPr/>
        </p:nvSpPr>
        <p:spPr>
          <a:xfrm>
            <a:off x="85125" y="2581101"/>
            <a:ext cx="2666100" cy="1617900"/>
          </a:xfrm>
          <a:prstGeom prst="roundRect">
            <a:avLst>
              <a:gd fmla="val 2286" name="adj"/>
            </a:avLst>
          </a:prstGeom>
          <a:solidFill>
            <a:srgbClr val="FFFFFF"/>
          </a:solidFill>
          <a:ln cap="flat" cmpd="sng" w="5100">
            <a:solidFill>
              <a:srgbClr val="DDE1E6"/>
            </a:solidFill>
            <a:prstDash val="solid"/>
            <a:round/>
            <a:headEnd len="sm" w="sm" type="none"/>
            <a:tailEnd len="sm" w="sm" type="none"/>
          </a:ln>
        </p:spPr>
        <p:txBody>
          <a:bodyPr anchorCtr="0" anchor="ctr" bIns="48775" lIns="48775" spcFirstLastPara="1" rIns="48775" wrap="square" tIns="48775">
            <a:noAutofit/>
          </a:bodyPr>
          <a:lstStyle/>
          <a:p>
            <a:pPr indent="0" lvl="0" marL="0" rtl="0" algn="l">
              <a:spcBef>
                <a:spcPts val="0"/>
              </a:spcBef>
              <a:spcAft>
                <a:spcPts val="0"/>
              </a:spcAft>
              <a:buNone/>
            </a:pPr>
            <a:r>
              <a:t/>
            </a:r>
            <a:endParaRPr sz="1300">
              <a:latin typeface="Lexend"/>
              <a:ea typeface="Lexend"/>
              <a:cs typeface="Lexend"/>
              <a:sym typeface="Lexend"/>
            </a:endParaRPr>
          </a:p>
        </p:txBody>
      </p:sp>
      <p:sp>
        <p:nvSpPr>
          <p:cNvPr id="219" name="Google Shape;219;p24"/>
          <p:cNvSpPr/>
          <p:nvPr/>
        </p:nvSpPr>
        <p:spPr>
          <a:xfrm>
            <a:off x="181644" y="2591264"/>
            <a:ext cx="2720400" cy="147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012749"/>
              </a:buClr>
              <a:buSzPts val="853"/>
              <a:buFont typeface="Plus Jakarta Sans"/>
              <a:buNone/>
            </a:pPr>
            <a:r>
              <a:rPr b="1" i="0" lang="en" sz="967" u="none" cap="none" strike="noStrike">
                <a:solidFill>
                  <a:srgbClr val="012749"/>
                </a:solidFill>
                <a:latin typeface="Lexend"/>
                <a:ea typeface="Lexend"/>
                <a:cs typeface="Lexend"/>
                <a:sym typeface="Lexend"/>
              </a:rPr>
              <a:t>ĐÃ LÀM GÌ (T</a:t>
            </a:r>
            <a:r>
              <a:rPr b="1" lang="en" sz="967">
                <a:solidFill>
                  <a:srgbClr val="012749"/>
                </a:solidFill>
                <a:latin typeface="Lexend"/>
                <a:ea typeface="Lexend"/>
                <a:cs typeface="Lexend"/>
                <a:sym typeface="Lexend"/>
              </a:rPr>
              <a:t>8</a:t>
            </a:r>
            <a:r>
              <a:rPr b="1" i="0" lang="en" sz="967" u="none" cap="none" strike="noStrike">
                <a:solidFill>
                  <a:srgbClr val="012749"/>
                </a:solidFill>
                <a:latin typeface="Lexend"/>
                <a:ea typeface="Lexend"/>
                <a:cs typeface="Lexend"/>
                <a:sym typeface="Lexend"/>
              </a:rPr>
              <a:t>)</a:t>
            </a:r>
            <a:endParaRPr i="0" sz="967" u="none" cap="none" strike="noStrike">
              <a:solidFill>
                <a:schemeClr val="dk1"/>
              </a:solidFill>
              <a:latin typeface="Lexend"/>
              <a:ea typeface="Lexend"/>
              <a:cs typeface="Lexend"/>
              <a:sym typeface="Lexend"/>
            </a:endParaRPr>
          </a:p>
        </p:txBody>
      </p:sp>
      <p:sp>
        <p:nvSpPr>
          <p:cNvPr id="220" name="Google Shape;220;p24"/>
          <p:cNvSpPr/>
          <p:nvPr/>
        </p:nvSpPr>
        <p:spPr>
          <a:xfrm>
            <a:off x="181644" y="2748742"/>
            <a:ext cx="2547300" cy="264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4C5158"/>
              </a:buClr>
              <a:buSzPts val="853"/>
              <a:buFont typeface="Roboto"/>
              <a:buNone/>
            </a:pPr>
            <a:r>
              <a:rPr i="0" lang="en" sz="860" u="none" cap="none" strike="noStrike">
                <a:solidFill>
                  <a:schemeClr val="dk1"/>
                </a:solidFill>
                <a:latin typeface="Lexend"/>
                <a:ea typeface="Lexend"/>
                <a:cs typeface="Lexend"/>
                <a:sym typeface="Lexend"/>
              </a:rPr>
              <a:t>Triển khai </a:t>
            </a:r>
            <a:r>
              <a:rPr lang="en" sz="860">
                <a:solidFill>
                  <a:schemeClr val="dk1"/>
                </a:solidFill>
                <a:latin typeface="Lexend"/>
                <a:ea typeface="Lexend"/>
                <a:cs typeface="Lexend"/>
                <a:sym typeface="Lexend"/>
              </a:rPr>
              <a:t>hệ thống Ranking mới áp dụng DQS và Stoppoint.</a:t>
            </a:r>
            <a:endParaRPr i="0" sz="860" u="none" cap="none" strike="noStrike">
              <a:solidFill>
                <a:schemeClr val="dk1"/>
              </a:solidFill>
              <a:latin typeface="Lexend"/>
              <a:ea typeface="Lexend"/>
              <a:cs typeface="Lexend"/>
              <a:sym typeface="Lexend"/>
            </a:endParaRPr>
          </a:p>
        </p:txBody>
      </p:sp>
      <p:sp>
        <p:nvSpPr>
          <p:cNvPr id="221" name="Google Shape;221;p24"/>
          <p:cNvSpPr/>
          <p:nvPr/>
        </p:nvSpPr>
        <p:spPr>
          <a:xfrm>
            <a:off x="2822425" y="2543301"/>
            <a:ext cx="3466200" cy="1617900"/>
          </a:xfrm>
          <a:prstGeom prst="roundRect">
            <a:avLst>
              <a:gd fmla="val 2050" name="adj"/>
            </a:avLst>
          </a:prstGeom>
          <a:solidFill>
            <a:srgbClr val="FFFFFF"/>
          </a:solidFill>
          <a:ln cap="flat" cmpd="sng" w="5100">
            <a:solidFill>
              <a:srgbClr val="DDE1E6"/>
            </a:solidFill>
            <a:prstDash val="solid"/>
            <a:round/>
            <a:headEnd len="sm" w="sm" type="none"/>
            <a:tailEnd len="sm" w="sm" type="none"/>
          </a:ln>
        </p:spPr>
        <p:txBody>
          <a:bodyPr anchorCtr="0" anchor="ctr" bIns="48775" lIns="48775" spcFirstLastPara="1" rIns="48775" wrap="square" tIns="48775">
            <a:noAutofit/>
          </a:bodyPr>
          <a:lstStyle/>
          <a:p>
            <a:pPr indent="0" lvl="0" marL="0" rtl="0" algn="l">
              <a:spcBef>
                <a:spcPts val="0"/>
              </a:spcBef>
              <a:spcAft>
                <a:spcPts val="0"/>
              </a:spcAft>
              <a:buNone/>
            </a:pPr>
            <a:r>
              <a:t/>
            </a:r>
            <a:endParaRPr sz="860">
              <a:latin typeface="Lexend"/>
              <a:ea typeface="Lexend"/>
              <a:cs typeface="Lexend"/>
              <a:sym typeface="Lexend"/>
            </a:endParaRPr>
          </a:p>
        </p:txBody>
      </p:sp>
      <p:sp>
        <p:nvSpPr>
          <p:cNvPr id="222" name="Google Shape;222;p24"/>
          <p:cNvSpPr/>
          <p:nvPr/>
        </p:nvSpPr>
        <p:spPr>
          <a:xfrm>
            <a:off x="2918947" y="2591264"/>
            <a:ext cx="3600300" cy="147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F55F00"/>
              </a:buClr>
              <a:buSzPts val="853"/>
              <a:buFont typeface="Plus Jakarta Sans"/>
              <a:buNone/>
            </a:pPr>
            <a:r>
              <a:rPr b="1" i="0" lang="en" sz="967" u="none" cap="none" strike="noStrike">
                <a:solidFill>
                  <a:srgbClr val="F55F00"/>
                </a:solidFill>
                <a:latin typeface="Lexend"/>
                <a:ea typeface="Lexend"/>
                <a:cs typeface="Lexend"/>
                <a:sym typeface="Lexend"/>
              </a:rPr>
              <a:t>TÁC ĐỘNG</a:t>
            </a:r>
            <a:endParaRPr i="0" sz="967" u="none" cap="none" strike="noStrike">
              <a:solidFill>
                <a:schemeClr val="dk1"/>
              </a:solidFill>
              <a:latin typeface="Lexend"/>
              <a:ea typeface="Lexend"/>
              <a:cs typeface="Lexend"/>
              <a:sym typeface="Lexend"/>
            </a:endParaRPr>
          </a:p>
        </p:txBody>
      </p:sp>
      <p:sp>
        <p:nvSpPr>
          <p:cNvPr id="223" name="Google Shape;223;p24"/>
          <p:cNvSpPr/>
          <p:nvPr/>
        </p:nvSpPr>
        <p:spPr>
          <a:xfrm>
            <a:off x="2918940" y="2748738"/>
            <a:ext cx="3371400" cy="4602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4C5158"/>
              </a:buClr>
              <a:buSzPts val="853"/>
              <a:buFont typeface="Roboto"/>
              <a:buNone/>
            </a:pPr>
            <a:r>
              <a:rPr lang="en" sz="860">
                <a:solidFill>
                  <a:schemeClr val="dk1"/>
                </a:solidFill>
                <a:latin typeface="Lexend"/>
                <a:ea typeface="Lexend"/>
                <a:cs typeface="Lexend"/>
                <a:sym typeface="Lexend"/>
              </a:rPr>
              <a:t>Tỷ lệ </a:t>
            </a:r>
            <a:r>
              <a:rPr b="1" lang="en" sz="860">
                <a:solidFill>
                  <a:schemeClr val="dk1"/>
                </a:solidFill>
                <a:latin typeface="Lexend"/>
                <a:ea typeface="Lexend"/>
                <a:cs typeface="Lexend"/>
                <a:sym typeface="Lexend"/>
              </a:rPr>
              <a:t>Unrank/Amateur giảm từ 69.0% -&gt; 42.0% tại SGN</a:t>
            </a:r>
            <a:r>
              <a:rPr lang="en" sz="860">
                <a:solidFill>
                  <a:schemeClr val="dk1"/>
                </a:solidFill>
                <a:latin typeface="Lexend"/>
                <a:ea typeface="Lexend"/>
                <a:cs typeface="Lexend"/>
                <a:sym typeface="Lexend"/>
              </a:rPr>
              <a:t> </a:t>
            </a:r>
            <a:r>
              <a:rPr i="1" lang="en" sz="860">
                <a:solidFill>
                  <a:schemeClr val="dk1"/>
                </a:solidFill>
                <a:latin typeface="Lexend"/>
                <a:ea typeface="Lexend"/>
                <a:cs typeface="Lexend"/>
                <a:sym typeface="Lexend"/>
              </a:rPr>
              <a:t>(giảm 27%)</a:t>
            </a:r>
            <a:r>
              <a:rPr lang="en" sz="860">
                <a:solidFill>
                  <a:schemeClr val="dk1"/>
                </a:solidFill>
                <a:latin typeface="Lexend"/>
                <a:ea typeface="Lexend"/>
                <a:cs typeface="Lexend"/>
                <a:sym typeface="Lexend"/>
              </a:rPr>
              <a:t> và từ </a:t>
            </a:r>
            <a:r>
              <a:rPr b="1" lang="en" sz="860">
                <a:solidFill>
                  <a:schemeClr val="dk1"/>
                </a:solidFill>
                <a:latin typeface="Lexend"/>
                <a:ea typeface="Lexend"/>
                <a:cs typeface="Lexend"/>
                <a:sym typeface="Lexend"/>
              </a:rPr>
              <a:t>85.2% -&gt; 60.2% tại HAN </a:t>
            </a:r>
            <a:r>
              <a:rPr i="1" lang="en" sz="860">
                <a:solidFill>
                  <a:schemeClr val="dk1"/>
                </a:solidFill>
                <a:latin typeface="Lexend"/>
                <a:ea typeface="Lexend"/>
                <a:cs typeface="Lexend"/>
                <a:sym typeface="Lexend"/>
              </a:rPr>
              <a:t>(giảm 25%),</a:t>
            </a:r>
            <a:r>
              <a:rPr lang="en" sz="860">
                <a:solidFill>
                  <a:schemeClr val="dk1"/>
                </a:solidFill>
                <a:latin typeface="Lexend"/>
                <a:ea typeface="Lexend"/>
                <a:cs typeface="Lexend"/>
                <a:sym typeface="Lexend"/>
              </a:rPr>
              <a:t> khơi thông +5,639 tài xế chất lượng tốt bị bỏ sót trước đây.</a:t>
            </a:r>
            <a:endParaRPr i="0" sz="860" u="none" cap="none" strike="noStrike">
              <a:solidFill>
                <a:schemeClr val="dk1"/>
              </a:solidFill>
              <a:latin typeface="Lexend"/>
              <a:ea typeface="Lexend"/>
              <a:cs typeface="Lexend"/>
              <a:sym typeface="Lexend"/>
            </a:endParaRPr>
          </a:p>
        </p:txBody>
      </p:sp>
      <p:sp>
        <p:nvSpPr>
          <p:cNvPr id="224" name="Google Shape;224;p24"/>
          <p:cNvSpPr/>
          <p:nvPr/>
        </p:nvSpPr>
        <p:spPr>
          <a:xfrm>
            <a:off x="2918937" y="3231201"/>
            <a:ext cx="3371400" cy="3612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757D86"/>
              </a:buClr>
              <a:buSzPts val="853"/>
              <a:buFont typeface="Roboto"/>
              <a:buNone/>
            </a:pPr>
            <a:r>
              <a:rPr i="1" lang="en" sz="753">
                <a:solidFill>
                  <a:schemeClr val="dk1"/>
                </a:solidFill>
                <a:latin typeface="Lexend"/>
                <a:ea typeface="Lexend"/>
                <a:cs typeface="Lexend"/>
                <a:sym typeface="Lexend"/>
              </a:rPr>
              <a:t>Tác động: Giúp giải phóng +5,639 tài xế chất lượng cao bị bỏ sót trước đây đang là unranked vào các nhóm Tier 1, Tier 2 và Tier 3. </a:t>
            </a:r>
            <a:endParaRPr i="1" sz="753">
              <a:solidFill>
                <a:schemeClr val="dk1"/>
              </a:solidFill>
              <a:latin typeface="Lexend"/>
              <a:ea typeface="Lexend"/>
              <a:cs typeface="Lexend"/>
              <a:sym typeface="Lexend"/>
            </a:endParaRPr>
          </a:p>
          <a:p>
            <a:pPr indent="0" lvl="0" marL="0" marR="0" rtl="0" algn="l">
              <a:spcBef>
                <a:spcPts val="0"/>
              </a:spcBef>
              <a:spcAft>
                <a:spcPts val="0"/>
              </a:spcAft>
              <a:buClr>
                <a:srgbClr val="757D86"/>
              </a:buClr>
              <a:buSzPts val="853"/>
              <a:buFont typeface="Roboto"/>
              <a:buNone/>
            </a:pPr>
            <a:r>
              <a:rPr i="1" lang="en" sz="753">
                <a:solidFill>
                  <a:schemeClr val="dk1"/>
                </a:solidFill>
                <a:latin typeface="Lexend"/>
                <a:ea typeface="Lexend"/>
                <a:cs typeface="Lexend"/>
                <a:sym typeface="Lexend"/>
              </a:rPr>
              <a:t>=&gt; Tăng khả năng gắn kết, ghi nhận thành quả &amp; giữ chân tài xế ở nền tảng.</a:t>
            </a:r>
            <a:endParaRPr i="0" sz="753" u="none" cap="none" strike="noStrike">
              <a:solidFill>
                <a:schemeClr val="dk1"/>
              </a:solidFill>
              <a:latin typeface="Lexend"/>
              <a:ea typeface="Lexend"/>
              <a:cs typeface="Lexend"/>
              <a:sym typeface="Lexend"/>
            </a:endParaRPr>
          </a:p>
        </p:txBody>
      </p:sp>
      <p:sp>
        <p:nvSpPr>
          <p:cNvPr id="225" name="Google Shape;225;p24"/>
          <p:cNvSpPr/>
          <p:nvPr/>
        </p:nvSpPr>
        <p:spPr>
          <a:xfrm>
            <a:off x="6359600" y="2543301"/>
            <a:ext cx="2666100" cy="1617900"/>
          </a:xfrm>
          <a:prstGeom prst="roundRect">
            <a:avLst>
              <a:gd fmla="val 2286" name="adj"/>
            </a:avLst>
          </a:prstGeom>
          <a:solidFill>
            <a:srgbClr val="FFFFFF"/>
          </a:solidFill>
          <a:ln cap="flat" cmpd="sng" w="5100">
            <a:solidFill>
              <a:srgbClr val="DDE1E6"/>
            </a:solidFill>
            <a:prstDash val="solid"/>
            <a:round/>
            <a:headEnd len="sm" w="sm" type="none"/>
            <a:tailEnd len="sm" w="sm" type="none"/>
          </a:ln>
        </p:spPr>
        <p:txBody>
          <a:bodyPr anchorCtr="0" anchor="ctr" bIns="48775" lIns="48775" spcFirstLastPara="1" rIns="48775" wrap="square" tIns="48775">
            <a:noAutofit/>
          </a:bodyPr>
          <a:lstStyle/>
          <a:p>
            <a:pPr indent="0" lvl="0" marL="0" rtl="0" algn="l">
              <a:spcBef>
                <a:spcPts val="0"/>
              </a:spcBef>
              <a:spcAft>
                <a:spcPts val="0"/>
              </a:spcAft>
              <a:buNone/>
            </a:pPr>
            <a:r>
              <a:t/>
            </a:r>
            <a:endParaRPr sz="1300">
              <a:latin typeface="Lexend"/>
              <a:ea typeface="Lexend"/>
              <a:cs typeface="Lexend"/>
              <a:sym typeface="Lexend"/>
            </a:endParaRPr>
          </a:p>
        </p:txBody>
      </p:sp>
      <p:sp>
        <p:nvSpPr>
          <p:cNvPr id="226" name="Google Shape;226;p24"/>
          <p:cNvSpPr/>
          <p:nvPr/>
        </p:nvSpPr>
        <p:spPr>
          <a:xfrm>
            <a:off x="6456096" y="2591268"/>
            <a:ext cx="2578200" cy="147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167C3F"/>
              </a:buClr>
              <a:buSzPts val="853"/>
              <a:buFont typeface="Plus Jakarta Sans"/>
              <a:buNone/>
            </a:pPr>
            <a:r>
              <a:rPr b="1" i="0" lang="en" sz="967" u="none" cap="none" strike="noStrike">
                <a:solidFill>
                  <a:srgbClr val="167C3F"/>
                </a:solidFill>
                <a:latin typeface="Lexend"/>
                <a:ea typeface="Lexend"/>
                <a:cs typeface="Lexend"/>
                <a:sym typeface="Lexend"/>
              </a:rPr>
              <a:t>BƯỚC TIẾP THEO</a:t>
            </a:r>
            <a:endParaRPr i="0" sz="967" u="none" cap="none" strike="noStrike">
              <a:solidFill>
                <a:schemeClr val="dk1"/>
              </a:solidFill>
              <a:latin typeface="Lexend"/>
              <a:ea typeface="Lexend"/>
              <a:cs typeface="Lexend"/>
              <a:sym typeface="Lexend"/>
            </a:endParaRPr>
          </a:p>
        </p:txBody>
      </p:sp>
      <p:sp>
        <p:nvSpPr>
          <p:cNvPr id="227" name="Google Shape;227;p24"/>
          <p:cNvSpPr/>
          <p:nvPr/>
        </p:nvSpPr>
        <p:spPr>
          <a:xfrm>
            <a:off x="6456109" y="2748740"/>
            <a:ext cx="2547300" cy="325200"/>
          </a:xfrm>
          <a:prstGeom prst="rect">
            <a:avLst/>
          </a:prstGeom>
          <a:noFill/>
          <a:ln>
            <a:noFill/>
          </a:ln>
        </p:spPr>
        <p:txBody>
          <a:bodyPr anchorCtr="0" anchor="t" bIns="13550" lIns="13550" spcFirstLastPara="1" rIns="13550" wrap="square" tIns="13550">
            <a:noAutofit/>
          </a:bodyPr>
          <a:lstStyle/>
          <a:p>
            <a:pPr indent="-173142" lvl="0" marL="243837" marR="0" rtl="0" algn="l">
              <a:spcBef>
                <a:spcPts val="0"/>
              </a:spcBef>
              <a:spcAft>
                <a:spcPts val="0"/>
              </a:spcAft>
              <a:buClr>
                <a:schemeClr val="dk1"/>
              </a:buClr>
              <a:buSzPts val="807"/>
              <a:buFont typeface="Lexend"/>
              <a:buChar char="●"/>
            </a:pPr>
            <a:r>
              <a:rPr lang="en" sz="807">
                <a:solidFill>
                  <a:schemeClr val="dk1"/>
                </a:solidFill>
                <a:latin typeface="Lexend"/>
                <a:ea typeface="Lexend"/>
                <a:cs typeface="Lexend"/>
                <a:sym typeface="Lexend"/>
              </a:rPr>
              <a:t>Xây dựng cơ chế custom bộ metrics xét hạng theo City &amp; áp dụng riêng cho HAN - Expansion</a:t>
            </a:r>
            <a:endParaRPr sz="807">
              <a:solidFill>
                <a:schemeClr val="dk1"/>
              </a:solidFill>
              <a:latin typeface="Lexend"/>
              <a:ea typeface="Lexend"/>
              <a:cs typeface="Lexend"/>
              <a:sym typeface="Lexend"/>
            </a:endParaRPr>
          </a:p>
          <a:p>
            <a:pPr indent="0" lvl="0" marL="0" marR="0" rtl="0" algn="l">
              <a:spcBef>
                <a:spcPts val="0"/>
              </a:spcBef>
              <a:spcAft>
                <a:spcPts val="0"/>
              </a:spcAft>
              <a:buClr>
                <a:srgbClr val="4C5158"/>
              </a:buClr>
              <a:buSzPts val="853"/>
              <a:buFont typeface="Roboto"/>
              <a:buNone/>
            </a:pPr>
            <a:r>
              <a:t/>
            </a:r>
            <a:endParaRPr sz="807">
              <a:solidFill>
                <a:schemeClr val="dk1"/>
              </a:solidFill>
              <a:latin typeface="Lexend"/>
              <a:ea typeface="Lexend"/>
              <a:cs typeface="Lexend"/>
              <a:sym typeface="Lexend"/>
            </a:endParaRPr>
          </a:p>
        </p:txBody>
      </p:sp>
      <p:sp>
        <p:nvSpPr>
          <p:cNvPr id="228" name="Google Shape;228;p24"/>
          <p:cNvSpPr/>
          <p:nvPr/>
        </p:nvSpPr>
        <p:spPr>
          <a:xfrm>
            <a:off x="85125" y="4229394"/>
            <a:ext cx="8940600" cy="688500"/>
          </a:xfrm>
          <a:prstGeom prst="roundRect">
            <a:avLst>
              <a:gd fmla="val 22222" name="adj"/>
            </a:avLst>
          </a:prstGeom>
          <a:solidFill>
            <a:srgbClr val="F5F7FA"/>
          </a:solidFill>
          <a:ln>
            <a:noFill/>
          </a:ln>
        </p:spPr>
        <p:txBody>
          <a:bodyPr anchorCtr="0" anchor="ctr" bIns="48775" lIns="48775" spcFirstLastPara="1" rIns="48775" wrap="square" tIns="48775">
            <a:noAutofit/>
          </a:bodyPr>
          <a:lstStyle/>
          <a:p>
            <a:pPr indent="0" lvl="0" marL="0" rtl="0" algn="l">
              <a:spcBef>
                <a:spcPts val="0"/>
              </a:spcBef>
              <a:spcAft>
                <a:spcPts val="0"/>
              </a:spcAft>
              <a:buNone/>
            </a:pPr>
            <a:r>
              <a:t/>
            </a:r>
            <a:endParaRPr sz="1300">
              <a:latin typeface="Lexend"/>
              <a:ea typeface="Lexend"/>
              <a:cs typeface="Lexend"/>
              <a:sym typeface="Lexend"/>
            </a:endParaRPr>
          </a:p>
        </p:txBody>
      </p:sp>
      <p:sp>
        <p:nvSpPr>
          <p:cNvPr id="229" name="Google Shape;229;p24"/>
          <p:cNvSpPr/>
          <p:nvPr/>
        </p:nvSpPr>
        <p:spPr>
          <a:xfrm>
            <a:off x="1373194" y="4282740"/>
            <a:ext cx="7632300" cy="533400"/>
          </a:xfrm>
          <a:prstGeom prst="rect">
            <a:avLst/>
          </a:prstGeom>
          <a:noFill/>
          <a:ln>
            <a:noFill/>
          </a:ln>
        </p:spPr>
        <p:txBody>
          <a:bodyPr anchorCtr="0" anchor="t" bIns="13550" lIns="13550" spcFirstLastPara="1" rIns="13550" wrap="square" tIns="13550">
            <a:noAutofit/>
          </a:bodyPr>
          <a:lstStyle/>
          <a:p>
            <a:pPr indent="-176528" lvl="0" marL="243837" marR="0" rtl="0" algn="l">
              <a:spcBef>
                <a:spcPts val="0"/>
              </a:spcBef>
              <a:spcAft>
                <a:spcPts val="0"/>
              </a:spcAft>
              <a:buClr>
                <a:srgbClr val="4C5158"/>
              </a:buClr>
              <a:buSzPts val="860"/>
              <a:buFont typeface="Lexend"/>
              <a:buChar char="●"/>
            </a:pPr>
            <a:r>
              <a:rPr lang="en" sz="860">
                <a:solidFill>
                  <a:srgbClr val="4C5158"/>
                </a:solidFill>
                <a:latin typeface="Lexend"/>
                <a:ea typeface="Lexend"/>
                <a:cs typeface="Lexend"/>
                <a:sym typeface="Lexend"/>
              </a:rPr>
              <a:t>Project MiniHub</a:t>
            </a:r>
            <a:r>
              <a:rPr i="0" lang="en" sz="860" u="none" cap="none" strike="noStrike">
                <a:solidFill>
                  <a:srgbClr val="4C5158"/>
                </a:solidFill>
                <a:latin typeface="Lexend"/>
                <a:ea typeface="Lexend"/>
                <a:cs typeface="Lexend"/>
                <a:sym typeface="Lexend"/>
              </a:rPr>
              <a:t> (</a:t>
            </a:r>
            <a:r>
              <a:rPr lang="en" sz="860">
                <a:solidFill>
                  <a:srgbClr val="4C5158"/>
                </a:solidFill>
                <a:latin typeface="Lexend"/>
                <a:ea typeface="Lexend"/>
                <a:cs typeface="Lexend"/>
                <a:sym typeface="Lexend"/>
              </a:rPr>
              <a:t>Hỗ trợ phát triển tính năng ưu tiên đăng ký sớm cho từng tập Tài xế hạng cao</a:t>
            </a:r>
            <a:r>
              <a:rPr i="0" lang="en" sz="860" u="none" cap="none" strike="noStrike">
                <a:solidFill>
                  <a:srgbClr val="4C5158"/>
                </a:solidFill>
                <a:latin typeface="Lexend"/>
                <a:ea typeface="Lexend"/>
                <a:cs typeface="Lexend"/>
                <a:sym typeface="Lexend"/>
              </a:rPr>
              <a:t>)</a:t>
            </a:r>
            <a:endParaRPr i="0" sz="860" u="none" cap="none" strike="noStrike">
              <a:solidFill>
                <a:srgbClr val="4C5158"/>
              </a:solidFill>
              <a:latin typeface="Lexend"/>
              <a:ea typeface="Lexend"/>
              <a:cs typeface="Lexend"/>
              <a:sym typeface="Lexend"/>
            </a:endParaRPr>
          </a:p>
          <a:p>
            <a:pPr indent="-176528" lvl="0" marL="243837" marR="0" rtl="0" algn="l">
              <a:spcBef>
                <a:spcPts val="0"/>
              </a:spcBef>
              <a:spcAft>
                <a:spcPts val="0"/>
              </a:spcAft>
              <a:buClr>
                <a:srgbClr val="4C5158"/>
              </a:buClr>
              <a:buSzPts val="860"/>
              <a:buFont typeface="Lexend"/>
              <a:buChar char="●"/>
            </a:pPr>
            <a:r>
              <a:rPr lang="en" sz="860">
                <a:solidFill>
                  <a:srgbClr val="4C5158"/>
                </a:solidFill>
                <a:latin typeface="Lexend"/>
                <a:ea typeface="Lexend"/>
                <a:cs typeface="Lexend"/>
                <a:sym typeface="Lexend"/>
              </a:rPr>
              <a:t>DE (Phát triển đa dạng hệ thống ưu đãi áp dụng cho Đối tác Tài xế)</a:t>
            </a:r>
            <a:endParaRPr sz="860">
              <a:solidFill>
                <a:srgbClr val="4C5158"/>
              </a:solidFill>
              <a:latin typeface="Lexend"/>
              <a:ea typeface="Lexend"/>
              <a:cs typeface="Lexend"/>
              <a:sym typeface="Lexend"/>
            </a:endParaRPr>
          </a:p>
          <a:p>
            <a:pPr indent="-176528" lvl="0" marL="243837" marR="0" rtl="0" algn="l">
              <a:spcBef>
                <a:spcPts val="0"/>
              </a:spcBef>
              <a:spcAft>
                <a:spcPts val="0"/>
              </a:spcAft>
              <a:buClr>
                <a:srgbClr val="4C5158"/>
              </a:buClr>
              <a:buSzPts val="860"/>
              <a:buFont typeface="Lexend"/>
              <a:buChar char="●"/>
            </a:pPr>
            <a:r>
              <a:rPr lang="en" sz="860">
                <a:solidFill>
                  <a:srgbClr val="4C5158"/>
                </a:solidFill>
                <a:latin typeface="Lexend"/>
                <a:ea typeface="Lexend"/>
                <a:cs typeface="Lexend"/>
                <a:sym typeface="Lexend"/>
              </a:rPr>
              <a:t>PA (Review &amp; áp dụng chính sách thưởng cho từng hạng)</a:t>
            </a:r>
            <a:endParaRPr sz="860">
              <a:solidFill>
                <a:srgbClr val="4C5158"/>
              </a:solidFill>
              <a:latin typeface="Lexend"/>
              <a:ea typeface="Lexend"/>
              <a:cs typeface="Lexend"/>
              <a:sym typeface="Lexend"/>
            </a:endParaRPr>
          </a:p>
          <a:p>
            <a:pPr indent="-176528" lvl="0" marL="243837" marR="0" rtl="0" algn="l">
              <a:spcBef>
                <a:spcPts val="0"/>
              </a:spcBef>
              <a:spcAft>
                <a:spcPts val="0"/>
              </a:spcAft>
              <a:buClr>
                <a:srgbClr val="4C5158"/>
              </a:buClr>
              <a:buSzPts val="860"/>
              <a:buFont typeface="Lexend"/>
              <a:buChar char="●"/>
            </a:pPr>
            <a:r>
              <a:rPr lang="en" sz="860">
                <a:solidFill>
                  <a:srgbClr val="4C5158"/>
                </a:solidFill>
                <a:latin typeface="Lexend"/>
                <a:ea typeface="Lexend"/>
                <a:cs typeface="Lexend"/>
                <a:sym typeface="Lexend"/>
              </a:rPr>
              <a:t>Product (Xây dựng cơ chế custom tiêu chuẩn xét hạng theo City, Cơ chế nhân điểm hệ số khi hoạt động trong zone - Điểm AhaPoint)</a:t>
            </a:r>
            <a:endParaRPr sz="860">
              <a:solidFill>
                <a:srgbClr val="4C5158"/>
              </a:solidFill>
              <a:latin typeface="Lexend"/>
              <a:ea typeface="Lexend"/>
              <a:cs typeface="Lexend"/>
              <a:sym typeface="Lexend"/>
            </a:endParaRPr>
          </a:p>
        </p:txBody>
      </p:sp>
      <p:sp>
        <p:nvSpPr>
          <p:cNvPr id="230" name="Google Shape;230;p24"/>
          <p:cNvSpPr/>
          <p:nvPr/>
        </p:nvSpPr>
        <p:spPr>
          <a:xfrm>
            <a:off x="186724" y="4467151"/>
            <a:ext cx="1186500" cy="147600"/>
          </a:xfrm>
          <a:prstGeom prst="rect">
            <a:avLst/>
          </a:prstGeom>
          <a:noFill/>
          <a:ln>
            <a:noFill/>
          </a:ln>
        </p:spPr>
        <p:txBody>
          <a:bodyPr anchorCtr="0" anchor="t" bIns="13550" lIns="13550" spcFirstLastPara="1" rIns="13550" wrap="square" tIns="13550">
            <a:noAutofit/>
          </a:bodyPr>
          <a:lstStyle/>
          <a:p>
            <a:pPr indent="0" lvl="0" marL="0" marR="0" rtl="0" algn="l">
              <a:spcBef>
                <a:spcPts val="0"/>
              </a:spcBef>
              <a:spcAft>
                <a:spcPts val="0"/>
              </a:spcAft>
              <a:buClr>
                <a:srgbClr val="121619"/>
              </a:buClr>
              <a:buSzPts val="853"/>
              <a:buFont typeface="Plus Jakarta Sans"/>
              <a:buNone/>
            </a:pPr>
            <a:r>
              <a:rPr b="1" i="0" lang="en" sz="860" u="none" cap="none" strike="noStrike">
                <a:solidFill>
                  <a:srgbClr val="121619"/>
                </a:solidFill>
                <a:latin typeface="Lexend"/>
                <a:ea typeface="Lexend"/>
                <a:cs typeface="Lexend"/>
                <a:sym typeface="Lexend"/>
              </a:rPr>
              <a:t>CẦN SUPPORT:</a:t>
            </a:r>
            <a:endParaRPr i="0" sz="860" u="none" cap="none" strike="noStrike">
              <a:solidFill>
                <a:schemeClr val="dk1"/>
              </a:solidFill>
              <a:latin typeface="Lexend"/>
              <a:ea typeface="Lexend"/>
              <a:cs typeface="Lexend"/>
              <a:sym typeface="Lexend"/>
            </a:endParaRPr>
          </a:p>
        </p:txBody>
      </p:sp>
      <p:sp>
        <p:nvSpPr>
          <p:cNvPr id="231" name="Google Shape;231;p24"/>
          <p:cNvSpPr/>
          <p:nvPr/>
        </p:nvSpPr>
        <p:spPr>
          <a:xfrm>
            <a:off x="6458084" y="3169001"/>
            <a:ext cx="2547300" cy="325200"/>
          </a:xfrm>
          <a:prstGeom prst="rect">
            <a:avLst/>
          </a:prstGeom>
          <a:noFill/>
          <a:ln>
            <a:noFill/>
          </a:ln>
        </p:spPr>
        <p:txBody>
          <a:bodyPr anchorCtr="0" anchor="t" bIns="13550" lIns="13550" spcFirstLastPara="1" rIns="13550" wrap="square" tIns="13550">
            <a:noAutofit/>
          </a:bodyPr>
          <a:lstStyle/>
          <a:p>
            <a:pPr indent="-173142" lvl="0" marL="243837" marR="0" rtl="0" algn="l">
              <a:spcBef>
                <a:spcPts val="0"/>
              </a:spcBef>
              <a:spcAft>
                <a:spcPts val="0"/>
              </a:spcAft>
              <a:buClr>
                <a:schemeClr val="dk1"/>
              </a:buClr>
              <a:buSzPts val="807"/>
              <a:buFont typeface="Lexend"/>
              <a:buChar char="●"/>
            </a:pPr>
            <a:r>
              <a:rPr lang="en" sz="807">
                <a:solidFill>
                  <a:schemeClr val="dk1"/>
                </a:solidFill>
                <a:latin typeface="Lexend"/>
                <a:ea typeface="Lexend"/>
                <a:cs typeface="Lexend"/>
                <a:sym typeface="Lexend"/>
              </a:rPr>
              <a:t>Xây dựng cơ chế ưu tiên đăng ký sớm MiniHub</a:t>
            </a:r>
            <a:endParaRPr sz="807">
              <a:solidFill>
                <a:schemeClr val="dk1"/>
              </a:solidFill>
              <a:latin typeface="Lexend"/>
              <a:ea typeface="Lexend"/>
              <a:cs typeface="Lexend"/>
              <a:sym typeface="Lexend"/>
            </a:endParaRPr>
          </a:p>
          <a:p>
            <a:pPr indent="0" lvl="0" marL="0" marR="0" rtl="0" algn="l">
              <a:spcBef>
                <a:spcPts val="0"/>
              </a:spcBef>
              <a:spcAft>
                <a:spcPts val="0"/>
              </a:spcAft>
              <a:buClr>
                <a:srgbClr val="4C5158"/>
              </a:buClr>
              <a:buSzPts val="853"/>
              <a:buFont typeface="Roboto"/>
              <a:buNone/>
            </a:pPr>
            <a:r>
              <a:t/>
            </a:r>
            <a:endParaRPr sz="807">
              <a:solidFill>
                <a:schemeClr val="dk1"/>
              </a:solidFill>
              <a:latin typeface="Lexend"/>
              <a:ea typeface="Lexend"/>
              <a:cs typeface="Lexend"/>
              <a:sym typeface="Lexend"/>
            </a:endParaRPr>
          </a:p>
        </p:txBody>
      </p:sp>
      <p:sp>
        <p:nvSpPr>
          <p:cNvPr id="232" name="Google Shape;232;p24"/>
          <p:cNvSpPr/>
          <p:nvPr/>
        </p:nvSpPr>
        <p:spPr>
          <a:xfrm>
            <a:off x="6458027" y="3494191"/>
            <a:ext cx="2547300" cy="279000"/>
          </a:xfrm>
          <a:prstGeom prst="rect">
            <a:avLst/>
          </a:prstGeom>
          <a:noFill/>
          <a:ln>
            <a:noFill/>
          </a:ln>
        </p:spPr>
        <p:txBody>
          <a:bodyPr anchorCtr="0" anchor="t" bIns="13550" lIns="13550" spcFirstLastPara="1" rIns="13550" wrap="square" tIns="13550">
            <a:noAutofit/>
          </a:bodyPr>
          <a:lstStyle/>
          <a:p>
            <a:pPr indent="-173142" lvl="0" marL="243837" marR="0" rtl="0" algn="l">
              <a:spcBef>
                <a:spcPts val="0"/>
              </a:spcBef>
              <a:spcAft>
                <a:spcPts val="0"/>
              </a:spcAft>
              <a:buClr>
                <a:schemeClr val="dk1"/>
              </a:buClr>
              <a:buSzPts val="807"/>
              <a:buFont typeface="Lexend"/>
              <a:buChar char="●"/>
            </a:pPr>
            <a:r>
              <a:rPr lang="en" sz="807">
                <a:solidFill>
                  <a:schemeClr val="dk1"/>
                </a:solidFill>
                <a:latin typeface="Lexend"/>
                <a:ea typeface="Lexend"/>
                <a:cs typeface="Lexend"/>
                <a:sym typeface="Lexend"/>
              </a:rPr>
              <a:t>Phát triển bộ Quyền lợi cho từng hạng (gồm bộ Ưu đãi, Chương trình Bảo Hiểm, CTT,...)</a:t>
            </a:r>
            <a:endParaRPr sz="807">
              <a:solidFill>
                <a:schemeClr val="dk1"/>
              </a:solidFill>
              <a:latin typeface="Lexend"/>
              <a:ea typeface="Lexend"/>
              <a:cs typeface="Lexend"/>
              <a:sym typeface="Lexend"/>
            </a:endParaRPr>
          </a:p>
          <a:p>
            <a:pPr indent="0" lvl="0" marL="0" marR="0" rtl="0" algn="l">
              <a:spcBef>
                <a:spcPts val="0"/>
              </a:spcBef>
              <a:spcAft>
                <a:spcPts val="0"/>
              </a:spcAft>
              <a:buClr>
                <a:srgbClr val="4C5158"/>
              </a:buClr>
              <a:buSzPts val="853"/>
              <a:buFont typeface="Roboto"/>
              <a:buNone/>
            </a:pPr>
            <a:r>
              <a:t/>
            </a:r>
            <a:endParaRPr sz="807">
              <a:solidFill>
                <a:schemeClr val="dk1"/>
              </a:solidFill>
              <a:latin typeface="Lexend"/>
              <a:ea typeface="Lexend"/>
              <a:cs typeface="Lexend"/>
              <a:sym typeface="Lexend"/>
            </a:endParaRPr>
          </a:p>
        </p:txBody>
      </p:sp>
      <p:sp>
        <p:nvSpPr>
          <p:cNvPr id="233" name="Google Shape;233;p24"/>
          <p:cNvSpPr/>
          <p:nvPr/>
        </p:nvSpPr>
        <p:spPr>
          <a:xfrm>
            <a:off x="178250" y="445200"/>
            <a:ext cx="8847600" cy="113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55F00"/>
              </a:buClr>
              <a:buSzPts val="960"/>
              <a:buFont typeface="Plus Jakarta Sans"/>
              <a:buNone/>
            </a:pPr>
            <a:r>
              <a:rPr b="1" lang="en" sz="960">
                <a:solidFill>
                  <a:srgbClr val="F55F00"/>
                </a:solidFill>
                <a:latin typeface="Lexend"/>
                <a:ea typeface="Lexend"/>
                <a:cs typeface="Lexend"/>
                <a:sym typeface="Lexend"/>
              </a:rPr>
              <a:t>KEY TAKEAWAY:</a:t>
            </a:r>
            <a:r>
              <a:rPr lang="en" sz="960">
                <a:solidFill>
                  <a:schemeClr val="dk1"/>
                </a:solidFill>
                <a:latin typeface="Lexend"/>
                <a:ea typeface="Lexend"/>
                <a:cs typeface="Lexend"/>
                <a:sym typeface="Lexend"/>
              </a:rPr>
              <a:t> </a:t>
            </a:r>
            <a:r>
              <a:rPr lang="en" sz="960">
                <a:solidFill>
                  <a:srgbClr val="4C5158"/>
                </a:solidFill>
                <a:latin typeface="Lexend"/>
                <a:ea typeface="Lexend"/>
                <a:cs typeface="Lexend"/>
                <a:sym typeface="Lexend"/>
              </a:rPr>
              <a:t>Hệ thống Ranking mới được triển khai, giải phóng được hơn 5k6 Tài xế Unranked trước đây được ghi nhận và xét hạng. Tuy nhiên </a:t>
            </a:r>
            <a:r>
              <a:rPr b="1" lang="en" sz="960">
                <a:solidFill>
                  <a:srgbClr val="4C5158"/>
                </a:solidFill>
                <a:latin typeface="Lexend"/>
                <a:ea typeface="Lexend"/>
                <a:cs typeface="Lexend"/>
                <a:sym typeface="Lexend"/>
              </a:rPr>
              <a:t>Bộ quyền lợi chưa có sự thay đổi lớn</a:t>
            </a:r>
            <a:r>
              <a:rPr lang="en" sz="960">
                <a:solidFill>
                  <a:srgbClr val="4C5158"/>
                </a:solidFill>
                <a:latin typeface="Lexend"/>
                <a:ea typeface="Lexend"/>
                <a:cs typeface="Lexend"/>
                <a:sym typeface="Lexend"/>
              </a:rPr>
              <a:t>, mặt bằng điểm </a:t>
            </a:r>
            <a:r>
              <a:rPr b="1" lang="en" sz="960">
                <a:solidFill>
                  <a:srgbClr val="4C5158"/>
                </a:solidFill>
                <a:latin typeface="Lexend"/>
                <a:ea typeface="Lexend"/>
                <a:cs typeface="Lexend"/>
                <a:sym typeface="Lexend"/>
              </a:rPr>
              <a:t>DQS chung giữa các city có sự chênh lệch lớn dẫn đến số lượng Tài xế được xếp hạng chưa cân đối</a:t>
            </a:r>
            <a:r>
              <a:rPr lang="en" sz="960">
                <a:solidFill>
                  <a:srgbClr val="4C5158"/>
                </a:solidFill>
                <a:latin typeface="Lexend"/>
                <a:ea typeface="Lexend"/>
                <a:cs typeface="Lexend"/>
                <a:sym typeface="Lexend"/>
              </a:rPr>
              <a:t>.</a:t>
            </a:r>
            <a:endParaRPr sz="960">
              <a:solidFill>
                <a:srgbClr val="4C5158"/>
              </a:solidFill>
              <a:latin typeface="Lexend"/>
              <a:ea typeface="Lexend"/>
              <a:cs typeface="Lexend"/>
              <a:sym typeface="Lexend"/>
            </a:endParaRPr>
          </a:p>
          <a:p>
            <a:pPr indent="0" lvl="0" marL="0" rtl="0" algn="l">
              <a:spcBef>
                <a:spcPts val="0"/>
              </a:spcBef>
              <a:spcAft>
                <a:spcPts val="0"/>
              </a:spcAft>
              <a:buClr>
                <a:srgbClr val="F55F00"/>
              </a:buClr>
              <a:buSzPts val="960"/>
              <a:buFont typeface="Plus Jakarta Sans"/>
              <a:buNone/>
            </a:pPr>
            <a:r>
              <a:t/>
            </a:r>
            <a:endParaRPr sz="960">
              <a:solidFill>
                <a:srgbClr val="4C5158"/>
              </a:solidFill>
              <a:latin typeface="Lexend"/>
              <a:ea typeface="Lexend"/>
              <a:cs typeface="Lexend"/>
              <a:sym typeface="Lexend"/>
            </a:endParaRPr>
          </a:p>
          <a:p>
            <a:pPr indent="0" lvl="0" marL="0" rtl="0" algn="l">
              <a:spcBef>
                <a:spcPts val="0"/>
              </a:spcBef>
              <a:spcAft>
                <a:spcPts val="0"/>
              </a:spcAft>
              <a:buClr>
                <a:srgbClr val="F55F00"/>
              </a:buClr>
              <a:buSzPts val="853"/>
              <a:buFont typeface="Plus Jakarta Sans"/>
              <a:buNone/>
            </a:pPr>
            <a:r>
              <a:rPr b="1" lang="en" sz="960">
                <a:solidFill>
                  <a:srgbClr val="F55F00"/>
                </a:solidFill>
                <a:latin typeface="Lexend"/>
                <a:ea typeface="Lexend"/>
                <a:cs typeface="Lexend"/>
                <a:sym typeface="Lexend"/>
              </a:rPr>
              <a:t>MỤC TIÊU: </a:t>
            </a:r>
            <a:r>
              <a:rPr lang="en" sz="960">
                <a:solidFill>
                  <a:srgbClr val="4C5158"/>
                </a:solidFill>
                <a:latin typeface="Lexend"/>
                <a:ea typeface="Lexend"/>
                <a:cs typeface="Lexend"/>
                <a:sym typeface="Lexend"/>
              </a:rPr>
              <a:t>Chuyển đổi từ hệ thống Ranking cũ (dựa trên các chỉ số rời rạc AR, FR, Rating gây dồn 69% - 85% tài xế vào nhóm Unranked) sang Hệ thống DQS &amp; stoppoint.</a:t>
            </a:r>
            <a:endParaRPr sz="960">
              <a:solidFill>
                <a:srgbClr val="4C5158"/>
              </a:solidFill>
              <a:latin typeface="Lexend"/>
              <a:ea typeface="Lexend"/>
              <a:cs typeface="Lexend"/>
              <a:sym typeface="Lexend"/>
            </a:endParaRPr>
          </a:p>
          <a:p>
            <a:pPr indent="0" lvl="0" marL="0" rtl="0" algn="l">
              <a:spcBef>
                <a:spcPts val="0"/>
              </a:spcBef>
              <a:spcAft>
                <a:spcPts val="0"/>
              </a:spcAft>
              <a:buClr>
                <a:srgbClr val="F55F00"/>
              </a:buClr>
              <a:buSzPts val="853"/>
              <a:buFont typeface="Plus Jakarta Sans"/>
              <a:buNone/>
            </a:pPr>
            <a:r>
              <a:t/>
            </a:r>
            <a:endParaRPr sz="960">
              <a:solidFill>
                <a:srgbClr val="4C5158"/>
              </a:solidFill>
              <a:latin typeface="Lexend"/>
              <a:ea typeface="Lexend"/>
              <a:cs typeface="Lexend"/>
              <a:sym typeface="Lexend"/>
            </a:endParaRPr>
          </a:p>
          <a:p>
            <a:pPr indent="0" lvl="0" marL="0" rtl="0" algn="l">
              <a:spcBef>
                <a:spcPts val="0"/>
              </a:spcBef>
              <a:spcAft>
                <a:spcPts val="0"/>
              </a:spcAft>
              <a:buClr>
                <a:srgbClr val="F55F00"/>
              </a:buClr>
              <a:buSzPts val="853"/>
              <a:buFont typeface="Plus Jakarta Sans"/>
              <a:buNone/>
            </a:pPr>
            <a:r>
              <a:rPr b="1" lang="en" sz="960">
                <a:solidFill>
                  <a:srgbClr val="F55F00"/>
                </a:solidFill>
                <a:latin typeface="Lexend"/>
                <a:ea typeface="Lexend"/>
                <a:cs typeface="Lexend"/>
                <a:sym typeface="Lexend"/>
              </a:rPr>
              <a:t>MỤC TIÊU TIẾP THEO:</a:t>
            </a:r>
            <a:r>
              <a:rPr lang="en" sz="960">
                <a:solidFill>
                  <a:srgbClr val="4C5158"/>
                </a:solidFill>
                <a:latin typeface="Lexend"/>
                <a:ea typeface="Lexend"/>
                <a:cs typeface="Lexend"/>
                <a:sym typeface="Lexend"/>
              </a:rPr>
              <a:t> Xây dựng Quyền lợi từng hạng rõ ràng, gia tăng quyền lợi kết hợp với Driver Layer nhằm tăng khả năng hoạt động với mô hình MiniHub.</a:t>
            </a:r>
            <a:endParaRPr sz="960">
              <a:solidFill>
                <a:srgbClr val="4C5158"/>
              </a:solidFill>
              <a:latin typeface="Lexend"/>
              <a:ea typeface="Lexend"/>
              <a:cs typeface="Lexend"/>
              <a:sym typeface="Lexend"/>
            </a:endParaRPr>
          </a:p>
          <a:p>
            <a:pPr indent="0" lvl="0" marL="0" rtl="0" algn="l">
              <a:spcBef>
                <a:spcPts val="0"/>
              </a:spcBef>
              <a:spcAft>
                <a:spcPts val="0"/>
              </a:spcAft>
              <a:buClr>
                <a:srgbClr val="F55F00"/>
              </a:buClr>
              <a:buSzPts val="853"/>
              <a:buFont typeface="Plus Jakarta Sans"/>
              <a:buNone/>
            </a:pPr>
            <a:r>
              <a:t/>
            </a:r>
            <a:endParaRPr sz="960">
              <a:solidFill>
                <a:srgbClr val="4C5158"/>
              </a:solidFill>
              <a:latin typeface="Lexend"/>
              <a:ea typeface="Lexend"/>
              <a:cs typeface="Lexend"/>
              <a:sym typeface="Lexend"/>
            </a:endParaRPr>
          </a:p>
          <a:p>
            <a:pPr indent="0" lvl="0" marL="0" rtl="0" algn="l">
              <a:spcBef>
                <a:spcPts val="0"/>
              </a:spcBef>
              <a:spcAft>
                <a:spcPts val="0"/>
              </a:spcAft>
              <a:buClr>
                <a:srgbClr val="F55F00"/>
              </a:buClr>
              <a:buSzPts val="960"/>
              <a:buFont typeface="Plus Jakarta Sans"/>
              <a:buNone/>
            </a:pPr>
            <a:r>
              <a:t/>
            </a:r>
            <a:endParaRPr sz="960">
              <a:solidFill>
                <a:srgbClr val="4C5158"/>
              </a:solidFill>
              <a:latin typeface="Lexend"/>
              <a:ea typeface="Lexend"/>
              <a:cs typeface="Lexend"/>
              <a:sym typeface="Lexend"/>
            </a:endParaRPr>
          </a:p>
        </p:txBody>
      </p:sp>
      <p:sp>
        <p:nvSpPr>
          <p:cNvPr id="234" name="Google Shape;234;p24"/>
          <p:cNvSpPr/>
          <p:nvPr/>
        </p:nvSpPr>
        <p:spPr>
          <a:xfrm>
            <a:off x="6457709" y="3797655"/>
            <a:ext cx="2547300" cy="325200"/>
          </a:xfrm>
          <a:prstGeom prst="rect">
            <a:avLst/>
          </a:prstGeom>
          <a:noFill/>
          <a:ln>
            <a:noFill/>
          </a:ln>
        </p:spPr>
        <p:txBody>
          <a:bodyPr anchorCtr="0" anchor="t" bIns="13550" lIns="13550" spcFirstLastPara="1" rIns="13550" wrap="square" tIns="13550">
            <a:noAutofit/>
          </a:bodyPr>
          <a:lstStyle/>
          <a:p>
            <a:pPr indent="-173142" lvl="0" marL="243837" marR="0" rtl="0" algn="l">
              <a:spcBef>
                <a:spcPts val="0"/>
              </a:spcBef>
              <a:spcAft>
                <a:spcPts val="0"/>
              </a:spcAft>
              <a:buClr>
                <a:srgbClr val="4C5158"/>
              </a:buClr>
              <a:buSzPts val="807"/>
              <a:buFont typeface="Lexend"/>
              <a:buChar char="●"/>
            </a:pPr>
            <a:r>
              <a:rPr lang="en" sz="807">
                <a:solidFill>
                  <a:srgbClr val="4C5158"/>
                </a:solidFill>
                <a:latin typeface="Lexend"/>
                <a:ea typeface="Lexend"/>
                <a:cs typeface="Lexend"/>
                <a:sym typeface="Lexend"/>
              </a:rPr>
              <a:t>Hoàn tất cơ chế multiplier point của từng hạng khi hoạt động trong zone </a:t>
            </a:r>
            <a:r>
              <a:rPr i="1" lang="en" sz="807">
                <a:solidFill>
                  <a:srgbClr val="4C5158"/>
                </a:solidFill>
                <a:latin typeface="Lexend"/>
                <a:ea typeface="Lexend"/>
                <a:cs typeface="Lexend"/>
                <a:sym typeface="Lexend"/>
              </a:rPr>
              <a:t>(quyền lợi của Tier)</a:t>
            </a:r>
            <a:r>
              <a:rPr lang="en" sz="807">
                <a:solidFill>
                  <a:srgbClr val="4C5158"/>
                </a:solidFill>
                <a:latin typeface="Lexend"/>
                <a:ea typeface="Lexend"/>
                <a:cs typeface="Lexend"/>
                <a:sym typeface="Lexend"/>
              </a:rPr>
              <a:t>.</a:t>
            </a:r>
            <a:endParaRPr sz="807">
              <a:solidFill>
                <a:srgbClr val="4C5158"/>
              </a:solidFill>
              <a:latin typeface="Lexend"/>
              <a:ea typeface="Lexend"/>
              <a:cs typeface="Lexend"/>
              <a:sym typeface="Lexend"/>
            </a:endParaRPr>
          </a:p>
          <a:p>
            <a:pPr indent="0" lvl="0" marL="0" marR="0" rtl="0" algn="l">
              <a:spcBef>
                <a:spcPts val="0"/>
              </a:spcBef>
              <a:spcAft>
                <a:spcPts val="0"/>
              </a:spcAft>
              <a:buClr>
                <a:srgbClr val="4C5158"/>
              </a:buClr>
              <a:buSzPts val="853"/>
              <a:buFont typeface="Roboto"/>
              <a:buNone/>
            </a:pPr>
            <a:r>
              <a:t/>
            </a:r>
            <a:endParaRPr sz="807">
              <a:solidFill>
                <a:srgbClr val="4C5158"/>
              </a:solidFill>
              <a:latin typeface="Lexend"/>
              <a:ea typeface="Lexend"/>
              <a:cs typeface="Lexend"/>
              <a:sym typeface="Lexend"/>
            </a:endParaRPr>
          </a:p>
        </p:txBody>
      </p:sp>
      <p:sp>
        <p:nvSpPr>
          <p:cNvPr id="235" name="Google Shape;235;p24"/>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lang="en" sz="900">
                <a:solidFill>
                  <a:srgbClr val="9E9E9E"/>
                </a:solidFill>
                <a:latin typeface="Times New Roman"/>
                <a:ea typeface="Times New Roman"/>
                <a:cs typeface="Times New Roman"/>
                <a:sym typeface="Times New Roman"/>
              </a:rPr>
              <a:t>Ops Growth</a:t>
            </a:r>
            <a:r>
              <a:rPr b="1" lang="en" sz="900">
                <a:solidFill>
                  <a:schemeClr val="dk1"/>
                </a:solidFill>
                <a:latin typeface="Times New Roman"/>
                <a:ea typeface="Times New Roman"/>
                <a:cs typeface="Times New Roman"/>
                <a:sym typeface="Times New Roman"/>
              </a:rPr>
              <a:t> </a:t>
            </a:r>
            <a:r>
              <a:rPr lang="en" sz="900">
                <a:solidFill>
                  <a:srgbClr val="999999"/>
                </a:solidFill>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DM</a:t>
            </a:r>
            <a:r>
              <a:rPr lang="en" sz="900">
                <a:solidFill>
                  <a:srgbClr val="999999"/>
                </a:solidFill>
                <a:latin typeface="Times New Roman"/>
                <a:ea typeface="Times New Roman"/>
                <a:cs typeface="Times New Roman"/>
                <a:sym typeface="Times New Roman"/>
              </a:rPr>
              <a:t> | DE | Minihub + EV | Innovation Project</a:t>
            </a:r>
            <a:endParaRPr sz="900">
              <a:solidFill>
                <a:srgbClr val="999999"/>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25"/>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graphicFrame>
        <p:nvGraphicFramePr>
          <p:cNvPr id="242" name="Google Shape;242;p25"/>
          <p:cNvGraphicFramePr/>
          <p:nvPr/>
        </p:nvGraphicFramePr>
        <p:xfrm>
          <a:off x="209550" y="2784250"/>
          <a:ext cx="3000000" cy="3000000"/>
        </p:xfrm>
        <a:graphic>
          <a:graphicData uri="http://schemas.openxmlformats.org/drawingml/2006/table">
            <a:tbl>
              <a:tblPr>
                <a:noFill/>
                <a:tableStyleId>{84A9007E-4112-45BC-9D73-1BCF8FDB95CB}</a:tableStyleId>
              </a:tblPr>
              <a:tblGrid>
                <a:gridCol w="1135875"/>
                <a:gridCol w="1926600"/>
                <a:gridCol w="2554800"/>
                <a:gridCol w="1999700"/>
                <a:gridCol w="988125"/>
              </a:tblGrid>
              <a:tr h="111525">
                <a:tc>
                  <a:txBody>
                    <a:bodyPr/>
                    <a:lstStyle/>
                    <a:p>
                      <a:pPr indent="0" lvl="0" marL="0" rtl="0" algn="ctr">
                        <a:spcBef>
                          <a:spcPts val="0"/>
                        </a:spcBef>
                        <a:spcAft>
                          <a:spcPts val="0"/>
                        </a:spcAft>
                        <a:buNone/>
                      </a:pPr>
                      <a:r>
                        <a:rPr b="1" lang="en" sz="1000">
                          <a:latin typeface="Lexend"/>
                          <a:ea typeface="Lexend"/>
                          <a:cs typeface="Lexend"/>
                          <a:sym typeface="Lexend"/>
                        </a:rPr>
                        <a:t>Topic</a:t>
                      </a:r>
                      <a:endParaRPr b="1" sz="10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latin typeface="Lexend"/>
                          <a:ea typeface="Lexend"/>
                          <a:cs typeface="Lexend"/>
                          <a:sym typeface="Lexend"/>
                        </a:rPr>
                        <a:t>Tasks</a:t>
                      </a:r>
                      <a:endParaRPr b="1" sz="10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latin typeface="Lexend"/>
                          <a:ea typeface="Lexend"/>
                          <a:cs typeface="Lexend"/>
                          <a:sym typeface="Lexend"/>
                        </a:rPr>
                        <a:t>Mục tiêu</a:t>
                      </a:r>
                      <a:endParaRPr b="1" sz="10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latin typeface="Lexend"/>
                          <a:ea typeface="Lexend"/>
                          <a:cs typeface="Lexend"/>
                          <a:sym typeface="Lexend"/>
                        </a:rPr>
                        <a:t>Timeline</a:t>
                      </a:r>
                      <a:endParaRPr b="1" sz="1000">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latin typeface="Lexend"/>
                          <a:ea typeface="Lexend"/>
                          <a:cs typeface="Lexend"/>
                          <a:sym typeface="Lexend"/>
                        </a:rPr>
                        <a:t>PIC</a:t>
                      </a:r>
                      <a:endParaRPr b="1" sz="1000">
                        <a:latin typeface="Lexend"/>
                        <a:ea typeface="Lexend"/>
                        <a:cs typeface="Lexend"/>
                        <a:sym typeface="Lexend"/>
                      </a:endParaRPr>
                    </a:p>
                  </a:txBody>
                  <a:tcPr marT="45725" marB="45725" marR="45725" marL="45725">
                    <a:solidFill>
                      <a:srgbClr val="FF751F"/>
                    </a:solidFill>
                  </a:tcPr>
                </a:tc>
              </a:tr>
              <a:tr h="243825">
                <a:tc rowSpan="2">
                  <a:txBody>
                    <a:bodyPr/>
                    <a:lstStyle/>
                    <a:p>
                      <a:pPr indent="0" lvl="0" marL="0" rtl="0" algn="ctr">
                        <a:spcBef>
                          <a:spcPts val="0"/>
                        </a:spcBef>
                        <a:spcAft>
                          <a:spcPts val="0"/>
                        </a:spcAft>
                        <a:buNone/>
                      </a:pPr>
                      <a:r>
                        <a:rPr b="1" lang="en" sz="1000">
                          <a:latin typeface="Lexend"/>
                          <a:ea typeface="Lexend"/>
                          <a:cs typeface="Lexend"/>
                          <a:sym typeface="Lexend"/>
                        </a:rPr>
                        <a:t>Full time</a:t>
                      </a:r>
                      <a:endParaRPr b="1" sz="1000">
                        <a:latin typeface="Lexend"/>
                        <a:ea typeface="Lexend"/>
                        <a:cs typeface="Lexend"/>
                        <a:sym typeface="Lexend"/>
                      </a:endParaRPr>
                    </a:p>
                  </a:txBody>
                  <a:tcPr marT="45725" marB="45725" marR="45725" marL="45725" anchor="ctr"/>
                </a:tc>
                <a:tc>
                  <a:txBody>
                    <a:bodyPr/>
                    <a:lstStyle/>
                    <a:p>
                      <a:pPr indent="0" lvl="0" marL="0" rtl="0" algn="ctr">
                        <a:spcBef>
                          <a:spcPts val="0"/>
                        </a:spcBef>
                        <a:spcAft>
                          <a:spcPts val="0"/>
                        </a:spcAft>
                        <a:buNone/>
                      </a:pPr>
                      <a:r>
                        <a:rPr lang="en" sz="1000">
                          <a:solidFill>
                            <a:schemeClr val="dk1"/>
                          </a:solidFill>
                          <a:latin typeface="Lexend"/>
                          <a:ea typeface="Lexend"/>
                          <a:cs typeface="Lexend"/>
                          <a:sym typeface="Lexend"/>
                        </a:rPr>
                        <a:t>Policy Chuyển đổi NLM-&gt;FT</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Convert Rate: 15%</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Theo GR</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OPs Gr</a:t>
                      </a:r>
                      <a:endParaRPr sz="1000">
                        <a:latin typeface="Lexend"/>
                        <a:ea typeface="Lexend"/>
                        <a:cs typeface="Lexend"/>
                        <a:sym typeface="Lexend"/>
                      </a:endParaRPr>
                    </a:p>
                  </a:txBody>
                  <a:tcPr marT="45725" marB="45725" marR="45725" marL="45725"/>
                </a:tc>
              </a:tr>
              <a:tr h="243825">
                <a:tc vMerge="1"/>
                <a:tc>
                  <a:txBody>
                    <a:bodyPr/>
                    <a:lstStyle/>
                    <a:p>
                      <a:pPr indent="0" lvl="0" marL="0" rtl="0" algn="ctr">
                        <a:spcBef>
                          <a:spcPts val="0"/>
                        </a:spcBef>
                        <a:spcAft>
                          <a:spcPts val="0"/>
                        </a:spcAft>
                        <a:buNone/>
                      </a:pPr>
                      <a:r>
                        <a:rPr lang="en" sz="1000">
                          <a:latin typeface="Lexend"/>
                          <a:ea typeface="Lexend"/>
                          <a:cs typeface="Lexend"/>
                          <a:sym typeface="Lexend"/>
                        </a:rPr>
                        <a:t>A/B Policy Chuyển đổi PT-&gt;FT</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 Convert PT-&gt;FT 6%</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15/9 A/B</a:t>
                      </a:r>
                      <a:endParaRPr sz="1000">
                        <a:latin typeface="Lexend"/>
                        <a:ea typeface="Lexend"/>
                        <a:cs typeface="Lexend"/>
                        <a:sym typeface="Lexend"/>
                      </a:endParaRPr>
                    </a:p>
                    <a:p>
                      <a:pPr indent="0" lvl="0" marL="0" rtl="0" algn="ctr">
                        <a:spcBef>
                          <a:spcPts val="0"/>
                        </a:spcBef>
                        <a:spcAft>
                          <a:spcPts val="0"/>
                        </a:spcAft>
                        <a:buNone/>
                      </a:pPr>
                      <a:r>
                        <a:rPr lang="en" sz="1000">
                          <a:latin typeface="Lexend"/>
                          <a:ea typeface="Lexend"/>
                          <a:cs typeface="Lexend"/>
                          <a:sym typeface="Lexend"/>
                        </a:rPr>
                        <a:t>31/9 Đánh giá</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Hoàng</a:t>
                      </a:r>
                      <a:endParaRPr sz="1000">
                        <a:latin typeface="Lexend"/>
                        <a:ea typeface="Lexend"/>
                        <a:cs typeface="Lexend"/>
                        <a:sym typeface="Lexend"/>
                      </a:endParaRPr>
                    </a:p>
                  </a:txBody>
                  <a:tcPr marT="45725" marB="45725" marR="45725" marL="45725"/>
                </a:tc>
              </a:tr>
              <a:tr h="190500">
                <a:tc>
                  <a:txBody>
                    <a:bodyPr/>
                    <a:lstStyle/>
                    <a:p>
                      <a:pPr indent="0" lvl="0" marL="0" rtl="0" algn="ctr">
                        <a:spcBef>
                          <a:spcPts val="0"/>
                        </a:spcBef>
                        <a:spcAft>
                          <a:spcPts val="0"/>
                        </a:spcAft>
                        <a:buNone/>
                      </a:pPr>
                      <a:r>
                        <a:rPr b="1" lang="en" sz="1000">
                          <a:latin typeface="Lexend"/>
                          <a:ea typeface="Lexend"/>
                          <a:cs typeface="Lexend"/>
                          <a:sym typeface="Lexend"/>
                        </a:rPr>
                        <a:t>Baga</a:t>
                      </a:r>
                      <a:endParaRPr b="1"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Slide baga</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Đảm bảo tỉ lệ tick baga_bulky/active đạt 69% trên total active</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1/9 - 14/9 &amp; 15/9 - 30/9 hoàn thành 2 GĐ thưởng baga</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Tiên</a:t>
                      </a:r>
                      <a:endParaRPr sz="1000">
                        <a:latin typeface="Lexend"/>
                        <a:ea typeface="Lexend"/>
                        <a:cs typeface="Lexend"/>
                        <a:sym typeface="Lexend"/>
                      </a:endParaRPr>
                    </a:p>
                  </a:txBody>
                  <a:tcPr marT="45725" marB="45725" marR="45725" marL="45725"/>
                </a:tc>
              </a:tr>
              <a:tr h="190500">
                <a:tc>
                  <a:txBody>
                    <a:bodyPr/>
                    <a:lstStyle/>
                    <a:p>
                      <a:pPr indent="0" lvl="0" marL="0" rtl="0" algn="ctr">
                        <a:spcBef>
                          <a:spcPts val="0"/>
                        </a:spcBef>
                        <a:spcAft>
                          <a:spcPts val="0"/>
                        </a:spcAft>
                        <a:buNone/>
                      </a:pPr>
                      <a:r>
                        <a:rPr b="1" lang="en" sz="1000">
                          <a:latin typeface="Lexend"/>
                          <a:ea typeface="Lexend"/>
                          <a:cs typeface="Lexend"/>
                          <a:sym typeface="Lexend"/>
                        </a:rPr>
                        <a:t>Bulky</a:t>
                      </a:r>
                      <a:endParaRPr b="1" sz="1000">
                        <a:latin typeface="Lexend"/>
                        <a:ea typeface="Lexend"/>
                        <a:cs typeface="Lexend"/>
                        <a:sym typeface="Lexend"/>
                      </a:endParaRPr>
                    </a:p>
                  </a:txBody>
                  <a:tcPr marT="45725" marB="45725" marR="45725" marL="45725" anchor="ctr"/>
                </a:tc>
                <a:tc>
                  <a:txBody>
                    <a:bodyPr/>
                    <a:lstStyle/>
                    <a:p>
                      <a:pPr indent="0" lvl="0" marL="0" rtl="0" algn="ctr">
                        <a:spcBef>
                          <a:spcPts val="0"/>
                        </a:spcBef>
                        <a:spcAft>
                          <a:spcPts val="0"/>
                        </a:spcAft>
                        <a:buNone/>
                      </a:pPr>
                      <a:r>
                        <a:rPr lang="en" sz="1000">
                          <a:latin typeface="Lexend"/>
                          <a:ea typeface="Lexend"/>
                          <a:cs typeface="Lexend"/>
                          <a:sym typeface="Lexend"/>
                        </a:rPr>
                        <a:t>Slide bulky</a:t>
                      </a:r>
                      <a:endParaRPr sz="1000">
                        <a:latin typeface="Lexend"/>
                        <a:ea typeface="Lexend"/>
                        <a:cs typeface="Lexend"/>
                        <a:sym typeface="Lexend"/>
                      </a:endParaRPr>
                    </a:p>
                  </a:txBody>
                  <a:tcPr marT="45725" marB="45725" marR="45725" marL="45725" anchor="ctr"/>
                </a:tc>
                <a:tc>
                  <a:txBody>
                    <a:bodyPr/>
                    <a:lstStyle/>
                    <a:p>
                      <a:pPr indent="0" lvl="0" marL="0" rtl="0" algn="ctr">
                        <a:spcBef>
                          <a:spcPts val="0"/>
                        </a:spcBef>
                        <a:spcAft>
                          <a:spcPts val="0"/>
                        </a:spcAft>
                        <a:buNone/>
                      </a:pPr>
                      <a:r>
                        <a:rPr lang="en" sz="1000">
                          <a:latin typeface="Lexend"/>
                          <a:ea typeface="Lexend"/>
                          <a:cs typeface="Lexend"/>
                          <a:sym typeface="Lexend"/>
                        </a:rPr>
                        <a:t>100% tài xế đội</a:t>
                      </a:r>
                      <a:endParaRPr sz="1000">
                        <a:latin typeface="Lexend"/>
                        <a:ea typeface="Lexend"/>
                        <a:cs typeface="Lexend"/>
                        <a:sym typeface="Lexend"/>
                      </a:endParaRPr>
                    </a:p>
                    <a:p>
                      <a:pPr indent="0" lvl="0" marL="0" rtl="0" algn="ctr">
                        <a:spcBef>
                          <a:spcPts val="0"/>
                        </a:spcBef>
                        <a:spcAft>
                          <a:spcPts val="0"/>
                        </a:spcAft>
                        <a:buNone/>
                      </a:pPr>
                      <a:r>
                        <a:rPr lang="en" sz="1000">
                          <a:latin typeface="Lexend"/>
                          <a:ea typeface="Lexend"/>
                          <a:cs typeface="Lexend"/>
                          <a:sym typeface="Lexend"/>
                        </a:rPr>
                        <a:t>Coverage ~ 25%</a:t>
                      </a:r>
                      <a:endParaRPr sz="1000">
                        <a:latin typeface="Lexend"/>
                        <a:ea typeface="Lexend"/>
                        <a:cs typeface="Lexend"/>
                        <a:sym typeface="Lexend"/>
                      </a:endParaRPr>
                    </a:p>
                    <a:p>
                      <a:pPr indent="0" lvl="0" marL="0" rtl="0" algn="ctr">
                        <a:spcBef>
                          <a:spcPts val="0"/>
                        </a:spcBef>
                        <a:spcAft>
                          <a:spcPts val="0"/>
                        </a:spcAft>
                        <a:buNone/>
                      </a:pPr>
                      <a:r>
                        <a:rPr lang="en" sz="1000">
                          <a:latin typeface="Lexend"/>
                          <a:ea typeface="Lexend"/>
                          <a:cs typeface="Lexend"/>
                          <a:sym typeface="Lexend"/>
                        </a:rPr>
                        <a:t>(Cod_Balance &lt;3M) &lt; 15%</a:t>
                      </a:r>
                      <a:endParaRPr sz="1000">
                        <a:latin typeface="Lexend"/>
                        <a:ea typeface="Lexend"/>
                        <a:cs typeface="Lexend"/>
                        <a:sym typeface="Lexend"/>
                      </a:endParaRPr>
                    </a:p>
                  </a:txBody>
                  <a:tcPr marT="45725" marB="45725" marR="45725" marL="45725" anchor="ctr"/>
                </a:tc>
                <a:tc>
                  <a:txBody>
                    <a:bodyPr/>
                    <a:lstStyle/>
                    <a:p>
                      <a:pPr indent="0" lvl="0" marL="0" rtl="0" algn="ctr">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31.9</a:t>
                      </a:r>
                      <a:endParaRPr sz="1000">
                        <a:latin typeface="Lexend"/>
                        <a:ea typeface="Lexend"/>
                        <a:cs typeface="Lexend"/>
                        <a:sym typeface="Lexend"/>
                      </a:endParaRPr>
                    </a:p>
                  </a:txBody>
                  <a:tcPr marT="45725" marB="45725" marR="45725" marL="45725" anchor="ctr"/>
                </a:tc>
                <a:tc>
                  <a:txBody>
                    <a:bodyPr/>
                    <a:lstStyle/>
                    <a:p>
                      <a:pPr indent="0" lvl="0" marL="0" rtl="0" algn="ctr">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Hoàng</a:t>
                      </a:r>
                      <a:endParaRPr sz="1000">
                        <a:latin typeface="Lexend"/>
                        <a:ea typeface="Lexend"/>
                        <a:cs typeface="Lexend"/>
                        <a:sym typeface="Lexend"/>
                      </a:endParaRPr>
                    </a:p>
                  </a:txBody>
                  <a:tcPr marT="45725" marB="45725" marR="45725" marL="45725" anchor="ctr"/>
                </a:tc>
              </a:tr>
            </a:tbl>
          </a:graphicData>
        </a:graphic>
      </p:graphicFrame>
      <p:sp>
        <p:nvSpPr>
          <p:cNvPr id="243" name="Google Shape;243;p25"/>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9E9E9E"/>
                </a:solidFill>
                <a:latin typeface="Times New Roman"/>
                <a:ea typeface="Times New Roman"/>
                <a:cs typeface="Times New Roman"/>
                <a:sym typeface="Times New Roman"/>
              </a:rPr>
              <a:t>Overview |</a:t>
            </a:r>
            <a:r>
              <a:rPr lang="en" sz="900">
                <a:latin typeface="Times New Roman"/>
                <a:ea typeface="Times New Roman"/>
                <a:cs typeface="Times New Roman"/>
                <a:sym typeface="Times New Roman"/>
              </a:rPr>
              <a:t> </a:t>
            </a:r>
            <a:r>
              <a:rPr lang="en" sz="900">
                <a:solidFill>
                  <a:srgbClr val="9E9E9E"/>
                </a:solidFill>
                <a:latin typeface="Times New Roman"/>
                <a:ea typeface="Times New Roman"/>
                <a:cs typeface="Times New Roman"/>
                <a:sym typeface="Times New Roman"/>
              </a:rPr>
              <a:t>Ops Growth</a:t>
            </a:r>
            <a:r>
              <a:rPr b="1" lang="en" sz="900">
                <a:solidFill>
                  <a:schemeClr val="dk1"/>
                </a:solidFill>
                <a:latin typeface="Times New Roman"/>
                <a:ea typeface="Times New Roman"/>
                <a:cs typeface="Times New Roman"/>
                <a:sym typeface="Times New Roman"/>
              </a:rPr>
              <a:t> </a:t>
            </a:r>
            <a:r>
              <a:rPr lang="en" sz="900">
                <a:solidFill>
                  <a:srgbClr val="999999"/>
                </a:solidFill>
                <a:latin typeface="Times New Roman"/>
                <a:ea typeface="Times New Roman"/>
                <a:cs typeface="Times New Roman"/>
                <a:sym typeface="Times New Roman"/>
              </a:rPr>
              <a:t>| </a:t>
            </a:r>
            <a:r>
              <a:rPr b="1" lang="en" sz="900">
                <a:solidFill>
                  <a:schemeClr val="dk1"/>
                </a:solidFill>
                <a:latin typeface="Times New Roman"/>
                <a:ea typeface="Times New Roman"/>
                <a:cs typeface="Times New Roman"/>
                <a:sym typeface="Times New Roman"/>
              </a:rPr>
              <a:t>DM</a:t>
            </a:r>
            <a:r>
              <a:rPr lang="en" sz="900">
                <a:solidFill>
                  <a:srgbClr val="999999"/>
                </a:solidFill>
                <a:latin typeface="Times New Roman"/>
                <a:ea typeface="Times New Roman"/>
                <a:cs typeface="Times New Roman"/>
                <a:sym typeface="Times New Roman"/>
              </a:rPr>
              <a:t> | DE | Minihub + EV | Innovation Project</a:t>
            </a:r>
            <a:endParaRPr sz="900">
              <a:solidFill>
                <a:srgbClr val="999999"/>
              </a:solidFill>
              <a:latin typeface="Times New Roman"/>
              <a:ea typeface="Times New Roman"/>
              <a:cs typeface="Times New Roman"/>
              <a:sym typeface="Times New Roman"/>
            </a:endParaRPr>
          </a:p>
        </p:txBody>
      </p:sp>
      <p:graphicFrame>
        <p:nvGraphicFramePr>
          <p:cNvPr id="244" name="Google Shape;244;p25"/>
          <p:cNvGraphicFramePr/>
          <p:nvPr/>
        </p:nvGraphicFramePr>
        <p:xfrm>
          <a:off x="209549" y="327605"/>
          <a:ext cx="3000000" cy="3000000"/>
        </p:xfrm>
        <a:graphic>
          <a:graphicData uri="http://schemas.openxmlformats.org/drawingml/2006/table">
            <a:tbl>
              <a:tblPr>
                <a:noFill/>
                <a:tableStyleId>{38C11DD4-BB49-442A-9D9A-3CC21BB04833}</a:tableStyleId>
              </a:tblPr>
              <a:tblGrid>
                <a:gridCol w="353050"/>
                <a:gridCol w="3377300"/>
                <a:gridCol w="1142750"/>
                <a:gridCol w="744175"/>
                <a:gridCol w="2178275"/>
                <a:gridCol w="809550"/>
              </a:tblGrid>
              <a:tr h="251300">
                <a:tc gridSpan="2">
                  <a:txBody>
                    <a:bodyPr/>
                    <a:lstStyle/>
                    <a:p>
                      <a:pPr indent="0" lvl="0" marL="0" rtl="0" algn="ctr">
                        <a:lnSpc>
                          <a:spcPct val="115000"/>
                        </a:lnSpc>
                        <a:spcBef>
                          <a:spcPts val="0"/>
                        </a:spcBef>
                        <a:spcAft>
                          <a:spcPts val="0"/>
                        </a:spcAft>
                        <a:buNone/>
                      </a:pPr>
                      <a:r>
                        <a:rPr b="1" lang="en" sz="800">
                          <a:solidFill>
                            <a:srgbClr val="FFFFFF"/>
                          </a:solidFill>
                          <a:latin typeface="Lexend"/>
                          <a:ea typeface="Lexend"/>
                          <a:cs typeface="Lexend"/>
                          <a:sym typeface="Lexend"/>
                        </a:rPr>
                        <a:t>OKRs</a:t>
                      </a:r>
                      <a:endParaRPr b="1" sz="8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hMerge="1"/>
                <a:tc>
                  <a:txBody>
                    <a:bodyPr/>
                    <a:lstStyle/>
                    <a:p>
                      <a:pPr indent="0" lvl="0" marL="0" rtl="0" algn="ctr">
                        <a:lnSpc>
                          <a:spcPct val="115000"/>
                        </a:lnSpc>
                        <a:spcBef>
                          <a:spcPts val="0"/>
                        </a:spcBef>
                        <a:spcAft>
                          <a:spcPts val="0"/>
                        </a:spcAft>
                        <a:buNone/>
                      </a:pPr>
                      <a:r>
                        <a:rPr b="1" lang="en" sz="800">
                          <a:solidFill>
                            <a:srgbClr val="FFFFFF"/>
                          </a:solidFill>
                          <a:latin typeface="Lexend"/>
                          <a:ea typeface="Lexend"/>
                          <a:cs typeface="Lexend"/>
                          <a:sym typeface="Lexend"/>
                        </a:rPr>
                        <a:t>Target</a:t>
                      </a:r>
                      <a:endParaRPr b="1" sz="8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 sz="800">
                          <a:solidFill>
                            <a:srgbClr val="FFFFFF"/>
                          </a:solidFill>
                          <a:latin typeface="Lexend"/>
                          <a:ea typeface="Lexend"/>
                          <a:cs typeface="Lexend"/>
                          <a:sym typeface="Lexend"/>
                        </a:rPr>
                        <a:t>Status</a:t>
                      </a:r>
                      <a:endParaRPr b="1" sz="8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 sz="800">
                          <a:solidFill>
                            <a:srgbClr val="FFFFFF"/>
                          </a:solidFill>
                          <a:latin typeface="Lexend"/>
                          <a:ea typeface="Lexend"/>
                          <a:cs typeface="Lexend"/>
                          <a:sym typeface="Lexend"/>
                        </a:rPr>
                        <a:t>Actual</a:t>
                      </a:r>
                      <a:endParaRPr b="1" sz="8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 sz="800">
                          <a:solidFill>
                            <a:srgbClr val="FFFFFF"/>
                          </a:solidFill>
                          <a:latin typeface="Lexend"/>
                          <a:ea typeface="Lexend"/>
                          <a:cs typeface="Lexend"/>
                          <a:sym typeface="Lexend"/>
                        </a:rPr>
                        <a:t>Achieve</a:t>
                      </a:r>
                      <a:endParaRPr b="1" sz="8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r>
              <a:tr h="273825">
                <a:tc gridSpan="6">
                  <a:txBody>
                    <a:bodyPr/>
                    <a:lstStyle/>
                    <a:p>
                      <a:pPr indent="0" lvl="0" marL="0" rtl="0" algn="ctr">
                        <a:spcBef>
                          <a:spcPts val="0"/>
                        </a:spcBef>
                        <a:spcAft>
                          <a:spcPts val="0"/>
                        </a:spcAft>
                        <a:buNone/>
                      </a:pPr>
                      <a:r>
                        <a:rPr b="1" lang="en" sz="900">
                          <a:latin typeface="Lexend"/>
                          <a:ea typeface="Lexend"/>
                          <a:cs typeface="Lexend"/>
                          <a:sym typeface="Lexend"/>
                        </a:rPr>
                        <a:t>KR3: </a:t>
                      </a:r>
                      <a:r>
                        <a:rPr b="1" lang="en" sz="900">
                          <a:solidFill>
                            <a:srgbClr val="212529"/>
                          </a:solidFill>
                          <a:latin typeface="Lexend"/>
                          <a:ea typeface="Lexend"/>
                          <a:cs typeface="Lexend"/>
                          <a:sym typeface="Lexend"/>
                        </a:rPr>
                        <a:t>Tăng số tuyệt đối tài xế Fulltime (FT) active +10% QoQ (</a:t>
                      </a:r>
                      <a:r>
                        <a:rPr b="1" lang="en" sz="900" u="sng">
                          <a:solidFill>
                            <a:srgbClr val="0097A7"/>
                          </a:solidFill>
                          <a:latin typeface="Lexend"/>
                          <a:ea typeface="Lexend"/>
                          <a:cs typeface="Lexend"/>
                          <a:sym typeface="Lexend"/>
                          <a:hlinkClick r:id="rId3">
                            <a:extLst>
                              <a:ext uri="{A12FA001-AC4F-418D-AE19-62706E023703}">
                                <ahyp:hlinkClr val="tx"/>
                              </a:ext>
                            </a:extLst>
                          </a:hlinkClick>
                        </a:rPr>
                        <a:t>card</a:t>
                      </a:r>
                      <a:r>
                        <a:rPr b="1" lang="en" sz="900">
                          <a:solidFill>
                            <a:srgbClr val="212529"/>
                          </a:solidFill>
                          <a:latin typeface="Lexend"/>
                          <a:ea typeface="Lexend"/>
                          <a:cs typeface="Lexend"/>
                          <a:sym typeface="Lexend"/>
                        </a:rPr>
                        <a:t>)</a:t>
                      </a:r>
                      <a:endParaRPr b="1"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EEEEEE"/>
                    </a:solidFill>
                  </a:tcPr>
                </a:tc>
                <a:tc hMerge="1"/>
                <a:tc hMerge="1"/>
                <a:tc hMerge="1"/>
                <a:tc hMerge="1"/>
                <a:tc hMerge="1"/>
              </a:tr>
              <a:tr h="432600">
                <a:tc>
                  <a:txBody>
                    <a:bodyPr/>
                    <a:lstStyle/>
                    <a:p>
                      <a:pPr indent="0" lvl="0" marL="0" rtl="0" algn="l">
                        <a:spcBef>
                          <a:spcPts val="0"/>
                        </a:spcBef>
                        <a:spcAft>
                          <a:spcPts val="0"/>
                        </a:spcAft>
                        <a:buNone/>
                      </a:pPr>
                      <a:r>
                        <a:rPr lang="en" sz="900">
                          <a:latin typeface="Lexend"/>
                          <a:ea typeface="Lexend"/>
                          <a:cs typeface="Lexend"/>
                          <a:sym typeface="Lexend"/>
                        </a:rPr>
                        <a:t>3.1</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latin typeface="Lexend"/>
                          <a:ea typeface="Lexend"/>
                          <a:cs typeface="Lexend"/>
                          <a:sym typeface="Lexend"/>
                        </a:rPr>
                        <a:t>Aligned target tuyển dụng + Pilot thành công số lượng tx FT/tháng với GR (số % tài xế &gt; 23y đầu vào hàng tháng) cho HAN &amp; HCM</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latin typeface="Lexend"/>
                          <a:ea typeface="Lexend"/>
                          <a:cs typeface="Lexend"/>
                          <a:sym typeface="Lexend"/>
                        </a:rPr>
                        <a:t>Convert TX FT từ New đạt 100TX</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rgbClr val="000000"/>
                          </a:solidFill>
                          <a:latin typeface="Lexend"/>
                          <a:ea typeface="Lexend"/>
                          <a:cs typeface="Lexend"/>
                          <a:sym typeface="Lexend"/>
                        </a:rPr>
                        <a:t>In process</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00000"/>
                          </a:solidFill>
                          <a:latin typeface="Lexend"/>
                          <a:ea typeface="Lexend"/>
                          <a:cs typeface="Lexend"/>
                          <a:sym typeface="Lexend"/>
                        </a:rPr>
                        <a:t>- Done Phân tích + align action với Ops Gr</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600"/>
                        <a:buFont typeface="Arial"/>
                        <a:buNone/>
                      </a:pPr>
                      <a:r>
                        <a:rPr b="1" lang="en" sz="900">
                          <a:solidFill>
                            <a:srgbClr val="000000"/>
                          </a:solidFill>
                          <a:latin typeface="Lexend"/>
                          <a:ea typeface="Lexend"/>
                          <a:cs typeface="Lexend"/>
                          <a:sym typeface="Lexend"/>
                        </a:rPr>
                        <a:t>50%</a:t>
                      </a:r>
                      <a:endParaRPr b="1" sz="900">
                        <a:solidFill>
                          <a:srgbClr val="212529"/>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r>
              <a:tr h="604650">
                <a:tc>
                  <a:txBody>
                    <a:bodyPr/>
                    <a:lstStyle/>
                    <a:p>
                      <a:pPr indent="0" lvl="0" marL="0" rtl="0" algn="l">
                        <a:spcBef>
                          <a:spcPts val="0"/>
                        </a:spcBef>
                        <a:spcAft>
                          <a:spcPts val="0"/>
                        </a:spcAft>
                        <a:buNone/>
                      </a:pPr>
                      <a:r>
                        <a:rPr lang="en" sz="900">
                          <a:latin typeface="Lexend"/>
                          <a:ea typeface="Lexend"/>
                          <a:cs typeface="Lexend"/>
                          <a:sym typeface="Lexend"/>
                        </a:rPr>
                        <a:t>3.2</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latin typeface="Lexend"/>
                          <a:ea typeface="Lexend"/>
                          <a:cs typeface="Lexend"/>
                          <a:sym typeface="Lexend"/>
                        </a:rPr>
                        <a:t>Triển khai 2 chính sách mới dành cho tài xế FT nhằm giữ remain</a:t>
                      </a:r>
                      <a:endParaRPr sz="900">
                        <a:latin typeface="Lexend"/>
                        <a:ea typeface="Lexend"/>
                        <a:cs typeface="Lexend"/>
                        <a:sym typeface="Lexend"/>
                      </a:endParaRPr>
                    </a:p>
                    <a:p>
                      <a:pPr indent="0" lvl="0" marL="0" rtl="0" algn="l">
                        <a:spcBef>
                          <a:spcPts val="0"/>
                        </a:spcBef>
                        <a:spcAft>
                          <a:spcPts val="0"/>
                        </a:spcAft>
                        <a:buNone/>
                      </a:pPr>
                      <a:r>
                        <a:rPr lang="en" sz="900">
                          <a:latin typeface="Lexend"/>
                          <a:ea typeface="Lexend"/>
                          <a:cs typeface="Lexend"/>
                          <a:sym typeface="Lexend"/>
                        </a:rPr>
                        <a:t>+ Review &amp; update lại ctt tuần focus vào FT</a:t>
                      </a:r>
                      <a:endParaRPr sz="900">
                        <a:latin typeface="Lexend"/>
                        <a:ea typeface="Lexend"/>
                        <a:cs typeface="Lexend"/>
                        <a:sym typeface="Lexend"/>
                      </a:endParaRPr>
                    </a:p>
                    <a:p>
                      <a:pPr indent="0" lvl="0" marL="0" rtl="0" algn="l">
                        <a:spcBef>
                          <a:spcPts val="0"/>
                        </a:spcBef>
                        <a:spcAft>
                          <a:spcPts val="0"/>
                        </a:spcAft>
                        <a:buNone/>
                      </a:pPr>
                      <a:r>
                        <a:rPr lang="en" sz="900">
                          <a:latin typeface="Lexend"/>
                          <a:ea typeface="Lexend"/>
                          <a:cs typeface="Lexend"/>
                          <a:sym typeface="Lexend"/>
                        </a:rPr>
                        <a:t>+ Kết hợp với bộ ranking mới &amp; Ahabenefit từ DE để giữ chân/convert tx FT</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latin typeface="Lexend"/>
                          <a:ea typeface="Lexend"/>
                          <a:cs typeface="Lexend"/>
                          <a:sym typeface="Lexend"/>
                        </a:rPr>
                        <a:t>2 chính sách</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rgbClr val="000000"/>
                          </a:solidFill>
                          <a:latin typeface="Lexend"/>
                          <a:ea typeface="Lexend"/>
                          <a:cs typeface="Lexend"/>
                          <a:sym typeface="Lexend"/>
                        </a:rPr>
                        <a:t>In process</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00000"/>
                          </a:solidFill>
                          <a:latin typeface="Lexend"/>
                          <a:ea typeface="Lexend"/>
                          <a:cs typeface="Lexend"/>
                          <a:sym typeface="Lexend"/>
                        </a:rPr>
                        <a:t>- In process PA CTT tuần</a:t>
                      </a:r>
                      <a:br>
                        <a:rPr lang="en" sz="900">
                          <a:solidFill>
                            <a:srgbClr val="000000"/>
                          </a:solidFill>
                          <a:latin typeface="Lexend"/>
                          <a:ea typeface="Lexend"/>
                          <a:cs typeface="Lexend"/>
                          <a:sym typeface="Lexend"/>
                        </a:rPr>
                      </a:br>
                      <a:r>
                        <a:rPr lang="en" sz="900">
                          <a:solidFill>
                            <a:srgbClr val="000000"/>
                          </a:solidFill>
                          <a:latin typeface="Lexend"/>
                          <a:ea typeface="Lexend"/>
                          <a:cs typeface="Lexend"/>
                          <a:sym typeface="Lexend"/>
                        </a:rPr>
                        <a:t>- Done merge policy</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 sz="900">
                          <a:solidFill>
                            <a:srgbClr val="212529"/>
                          </a:solidFill>
                          <a:latin typeface="Lexend"/>
                          <a:ea typeface="Lexend"/>
                          <a:cs typeface="Lexend"/>
                          <a:sym typeface="Lexend"/>
                        </a:rPr>
                        <a:t>50%</a:t>
                      </a:r>
                      <a:endParaRPr b="1" sz="900">
                        <a:solidFill>
                          <a:srgbClr val="212529"/>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r>
              <a:tr h="348875">
                <a:tc>
                  <a:txBody>
                    <a:bodyPr/>
                    <a:lstStyle/>
                    <a:p>
                      <a:pPr indent="0" lvl="0" marL="0" rtl="0" algn="l">
                        <a:spcBef>
                          <a:spcPts val="0"/>
                        </a:spcBef>
                        <a:spcAft>
                          <a:spcPts val="0"/>
                        </a:spcAft>
                        <a:buNone/>
                      </a:pPr>
                      <a:r>
                        <a:rPr lang="en" sz="900">
                          <a:latin typeface="Lexend"/>
                          <a:ea typeface="Lexend"/>
                          <a:cs typeface="Lexend"/>
                          <a:sym typeface="Lexend"/>
                        </a:rPr>
                        <a:t>3.3</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latin typeface="Lexend"/>
                          <a:ea typeface="Lexend"/>
                          <a:cs typeface="Lexend"/>
                          <a:sym typeface="Lexend"/>
                        </a:rPr>
                        <a:t>Gia tăng số lượng tx PT to FT mỗi tháng (</a:t>
                      </a:r>
                      <a:r>
                        <a:rPr lang="en" sz="900" u="sng">
                          <a:solidFill>
                            <a:srgbClr val="0097A7"/>
                          </a:solidFill>
                          <a:latin typeface="Lexend"/>
                          <a:ea typeface="Lexend"/>
                          <a:cs typeface="Lexend"/>
                          <a:sym typeface="Lexend"/>
                          <a:hlinkClick r:id="rId4">
                            <a:extLst>
                              <a:ext uri="{A12FA001-AC4F-418D-AE19-62706E023703}">
                                <ahyp:hlinkClr val="tx"/>
                              </a:ext>
                            </a:extLst>
                          </a:hlinkClick>
                        </a:rPr>
                        <a:t>PT-FT</a:t>
                      </a:r>
                      <a:r>
                        <a:rPr lang="en" sz="900">
                          <a:latin typeface="Lexend"/>
                          <a:ea typeface="Lexend"/>
                          <a:cs typeface="Lexend"/>
                          <a:sym typeface="Lexend"/>
                        </a:rPr>
                        <a:t>)</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latin typeface="Lexend"/>
                          <a:ea typeface="Lexend"/>
                          <a:cs typeface="Lexend"/>
                          <a:sym typeface="Lexend"/>
                        </a:rPr>
                        <a:t>5% tài xế PT to FT</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600"/>
                        <a:buFont typeface="Arial"/>
                        <a:buNone/>
                      </a:pPr>
                      <a:r>
                        <a:rPr lang="en" sz="900">
                          <a:solidFill>
                            <a:srgbClr val="000000"/>
                          </a:solidFill>
                          <a:latin typeface="Lexend"/>
                          <a:ea typeface="Lexend"/>
                          <a:cs typeface="Lexend"/>
                          <a:sym typeface="Lexend"/>
                        </a:rPr>
                        <a:t>In process</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rgbClr val="000000"/>
                          </a:solidFill>
                          <a:latin typeface="Lexend"/>
                          <a:ea typeface="Lexend"/>
                          <a:cs typeface="Lexend"/>
                          <a:sym typeface="Lexend"/>
                        </a:rPr>
                        <a:t>Done chân dung tài xế M9: Order ctt testing cho nhóm PT -&gt; FT potential (HAN)</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 sz="900">
                          <a:solidFill>
                            <a:srgbClr val="212529"/>
                          </a:solidFill>
                          <a:latin typeface="Lexend"/>
                          <a:ea typeface="Lexend"/>
                          <a:cs typeface="Lexend"/>
                          <a:sym typeface="Lexend"/>
                        </a:rPr>
                        <a:t>30%</a:t>
                      </a:r>
                      <a:endParaRPr b="1" sz="900">
                        <a:solidFill>
                          <a:srgbClr val="212529"/>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r>
            </a:tbl>
          </a:graphicData>
        </a:graphic>
      </p:graphicFrame>
      <p:sp>
        <p:nvSpPr>
          <p:cNvPr id="245" name="Google Shape;245;p25"/>
          <p:cNvSpPr/>
          <p:nvPr/>
        </p:nvSpPr>
        <p:spPr>
          <a:xfrm>
            <a:off x="209555" y="2451752"/>
            <a:ext cx="8229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lang="en" sz="1100">
                <a:solidFill>
                  <a:srgbClr val="FF6B35"/>
                </a:solidFill>
                <a:latin typeface="Lexend"/>
                <a:ea typeface="Lexend"/>
                <a:cs typeface="Lexend"/>
                <a:sym typeface="Lexend"/>
              </a:rPr>
              <a:t>NEXT ACTION T9</a:t>
            </a:r>
            <a:endParaRPr b="0" i="0" sz="1100" u="none" cap="none" strike="noStrike">
              <a:solidFill>
                <a:schemeClr val="dk1"/>
              </a:solidFill>
              <a:latin typeface="Calibri"/>
              <a:ea typeface="Calibri"/>
              <a:cs typeface="Calibri"/>
              <a:sym typeface="Calibri"/>
            </a:endParaRPr>
          </a:p>
        </p:txBody>
      </p:sp>
      <p:sp>
        <p:nvSpPr>
          <p:cNvPr id="246" name="Google Shape;246;p25"/>
          <p:cNvSpPr/>
          <p:nvPr/>
        </p:nvSpPr>
        <p:spPr>
          <a:xfrm>
            <a:off x="209555" y="21952"/>
            <a:ext cx="8229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lang="en" sz="1100">
                <a:solidFill>
                  <a:srgbClr val="FF6B35"/>
                </a:solidFill>
                <a:latin typeface="Lexend"/>
                <a:ea typeface="Lexend"/>
                <a:cs typeface="Lexend"/>
                <a:sym typeface="Lexend"/>
              </a:rPr>
              <a:t>OKRs DM OVERVIEW</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txBox="1"/>
          <p:nvPr/>
        </p:nvSpPr>
        <p:spPr>
          <a:xfrm>
            <a:off x="5000625" y="3734181"/>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graphicFrame>
        <p:nvGraphicFramePr>
          <p:cNvPr id="253" name="Google Shape;253;p26"/>
          <p:cNvGraphicFramePr/>
          <p:nvPr/>
        </p:nvGraphicFramePr>
        <p:xfrm>
          <a:off x="189363" y="1231434"/>
          <a:ext cx="3000000" cy="3000000"/>
        </p:xfrm>
        <a:graphic>
          <a:graphicData uri="http://schemas.openxmlformats.org/drawingml/2006/table">
            <a:tbl>
              <a:tblPr>
                <a:noFill/>
                <a:tableStyleId>{84A9007E-4112-45BC-9D73-1BCF8FDB95CB}</a:tableStyleId>
              </a:tblPr>
              <a:tblGrid>
                <a:gridCol w="903125"/>
                <a:gridCol w="4544975"/>
                <a:gridCol w="2476425"/>
                <a:gridCol w="813950"/>
              </a:tblGrid>
              <a:tr h="304975">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Hạng mục</a:t>
                      </a:r>
                      <a:endParaRPr b="1" sz="1000">
                        <a:solidFill>
                          <a:srgbClr val="FFFFFF"/>
                        </a:solidFill>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Task đã triển khai</a:t>
                      </a:r>
                      <a:endParaRPr b="1" sz="1000">
                        <a:solidFill>
                          <a:srgbClr val="FFFFFF"/>
                        </a:solidFill>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Kết quả thực tế</a:t>
                      </a:r>
                      <a:endParaRPr b="1" sz="1000">
                        <a:solidFill>
                          <a:srgbClr val="FFFFFF"/>
                        </a:solidFill>
                        <a:latin typeface="Lexend"/>
                        <a:ea typeface="Lexend"/>
                        <a:cs typeface="Lexend"/>
                        <a:sym typeface="Lexend"/>
                      </a:endParaRPr>
                    </a:p>
                  </a:txBody>
                  <a:tcPr marT="45725" marB="45725" marR="45725" marL="45725">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Tiến độ </a:t>
                      </a:r>
                      <a:endParaRPr b="1" sz="1000">
                        <a:solidFill>
                          <a:srgbClr val="FFFFFF"/>
                        </a:solidFill>
                        <a:latin typeface="Lexend"/>
                        <a:ea typeface="Lexend"/>
                        <a:cs typeface="Lexend"/>
                        <a:sym typeface="Lexend"/>
                      </a:endParaRPr>
                    </a:p>
                  </a:txBody>
                  <a:tcPr marT="45725" marB="45725" marR="45725" marL="45725">
                    <a:solidFill>
                      <a:srgbClr val="FF751F"/>
                    </a:solidFill>
                  </a:tcPr>
                </a:tc>
              </a:tr>
              <a:tr h="570550">
                <a:tc>
                  <a:txBody>
                    <a:bodyPr/>
                    <a:lstStyle/>
                    <a:p>
                      <a:pPr indent="0" lvl="0" marL="0" rtl="0" algn="l">
                        <a:spcBef>
                          <a:spcPts val="0"/>
                        </a:spcBef>
                        <a:spcAft>
                          <a:spcPts val="0"/>
                        </a:spcAft>
                        <a:buNone/>
                      </a:pPr>
                      <a:r>
                        <a:rPr lang="en" sz="1000">
                          <a:latin typeface="Lexend"/>
                          <a:ea typeface="Lexend"/>
                          <a:cs typeface="Lexend"/>
                          <a:sym typeface="Lexend"/>
                        </a:rPr>
                        <a:t>EV</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Update giao diện Landing Page EV</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Push mạnh CT đường đua xe điện + các policy thưởng mới trong M8</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CT mua/ thuê EV từ các partner (Dat Bike, Selex, Aizen)</a:t>
                      </a:r>
                      <a:endParaRPr sz="1000">
                        <a:latin typeface="Lexend"/>
                        <a:ea typeface="Lexend"/>
                        <a:cs typeface="Lexend"/>
                        <a:sym typeface="Lexend"/>
                      </a:endParaRPr>
                    </a:p>
                  </a:txBody>
                  <a:tcPr marT="45725" marB="45725" marR="45725" marL="45725"/>
                </a:tc>
                <a:tc>
                  <a:txBody>
                    <a:bodyPr/>
                    <a:lstStyle/>
                    <a:p>
                      <a:pPr indent="0" lvl="0" marL="0" marR="0" rtl="0" algn="l">
                        <a:lnSpc>
                          <a:spcPct val="115000"/>
                        </a:lnSpc>
                        <a:spcBef>
                          <a:spcPts val="0"/>
                        </a:spcBef>
                        <a:spcAft>
                          <a:spcPts val="0"/>
                        </a:spcAft>
                        <a:buNone/>
                      </a:pPr>
                      <a:r>
                        <a:rPr b="1" lang="en" sz="1100">
                          <a:solidFill>
                            <a:srgbClr val="F96D01"/>
                          </a:solidFill>
                          <a:latin typeface="Lexend"/>
                          <a:ea typeface="Lexend"/>
                          <a:cs typeface="Lexend"/>
                          <a:sym typeface="Lexend"/>
                        </a:rPr>
                        <a:t>206,568 </a:t>
                      </a:r>
                      <a:r>
                        <a:rPr b="1" lang="en" sz="1000">
                          <a:solidFill>
                            <a:srgbClr val="0B5394"/>
                          </a:solidFill>
                          <a:latin typeface="Lexend"/>
                          <a:ea typeface="Lexend"/>
                          <a:cs typeface="Lexend"/>
                          <a:sym typeface="Lexend"/>
                        </a:rPr>
                        <a:t>lượt view trên ldp</a:t>
                      </a:r>
                      <a:endParaRPr b="1" sz="1100">
                        <a:solidFill>
                          <a:srgbClr val="F96D01"/>
                        </a:solidFill>
                        <a:latin typeface="Lexend"/>
                        <a:ea typeface="Lexend"/>
                        <a:cs typeface="Lexend"/>
                        <a:sym typeface="Lexend"/>
                      </a:endParaRPr>
                    </a:p>
                    <a:p>
                      <a:pPr indent="0" lvl="0" marL="0" marR="0" rtl="0" algn="l">
                        <a:lnSpc>
                          <a:spcPct val="115000"/>
                        </a:lnSpc>
                        <a:spcBef>
                          <a:spcPts val="0"/>
                        </a:spcBef>
                        <a:spcAft>
                          <a:spcPts val="0"/>
                        </a:spcAft>
                        <a:buNone/>
                      </a:pPr>
                      <a:r>
                        <a:rPr b="1" lang="en" sz="1100">
                          <a:solidFill>
                            <a:srgbClr val="F96D01"/>
                          </a:solidFill>
                          <a:latin typeface="Lexend"/>
                          <a:ea typeface="Lexend"/>
                          <a:cs typeface="Lexend"/>
                          <a:sym typeface="Lexend"/>
                        </a:rPr>
                        <a:t>80+ </a:t>
                      </a:r>
                      <a:r>
                        <a:rPr b="1" lang="en" sz="1000">
                          <a:solidFill>
                            <a:srgbClr val="0B5394"/>
                          </a:solidFill>
                          <a:latin typeface="Lexend"/>
                          <a:ea typeface="Lexend"/>
                          <a:cs typeface="Lexend"/>
                          <a:sym typeface="Lexend"/>
                        </a:rPr>
                        <a:t>bài viết inapp + các nhóm social</a:t>
                      </a:r>
                      <a:endParaRPr b="1" sz="1000">
                        <a:solidFill>
                          <a:srgbClr val="0B5394"/>
                        </a:solidFill>
                        <a:latin typeface="Lexend"/>
                        <a:ea typeface="Lexend"/>
                        <a:cs typeface="Lexend"/>
                        <a:sym typeface="Lexend"/>
                      </a:endParaRPr>
                    </a:p>
                    <a:p>
                      <a:pPr indent="0" lvl="0" marL="0" marR="0" rtl="0" algn="l">
                        <a:lnSpc>
                          <a:spcPct val="115000"/>
                        </a:lnSpc>
                        <a:spcBef>
                          <a:spcPts val="0"/>
                        </a:spcBef>
                        <a:spcAft>
                          <a:spcPts val="0"/>
                        </a:spcAft>
                        <a:buNone/>
                      </a:pPr>
                      <a:r>
                        <a:rPr b="1" lang="en" sz="1000">
                          <a:solidFill>
                            <a:srgbClr val="FF751F"/>
                          </a:solidFill>
                          <a:latin typeface="Lexend"/>
                          <a:ea typeface="Lexend"/>
                          <a:cs typeface="Lexend"/>
                          <a:sym typeface="Lexend"/>
                        </a:rPr>
                        <a:t>1,288</a:t>
                      </a:r>
                      <a:r>
                        <a:rPr b="1" lang="en" sz="1000">
                          <a:solidFill>
                            <a:srgbClr val="0B5394"/>
                          </a:solidFill>
                          <a:latin typeface="Lexend"/>
                          <a:ea typeface="Lexend"/>
                          <a:cs typeface="Lexend"/>
                          <a:sym typeface="Lexend"/>
                        </a:rPr>
                        <a:t> tx EV mới trong M8</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On track</a:t>
                      </a:r>
                      <a:endParaRPr sz="1000">
                        <a:solidFill>
                          <a:schemeClr val="dk1"/>
                        </a:solidFill>
                        <a:latin typeface="Lexend"/>
                        <a:ea typeface="Lexend"/>
                        <a:cs typeface="Lexend"/>
                        <a:sym typeface="Lexend"/>
                      </a:endParaRPr>
                    </a:p>
                  </a:txBody>
                  <a:tcPr marT="45725" marB="45725" marR="45725" marL="45725"/>
                </a:tc>
              </a:tr>
              <a:tr h="72375">
                <a:tc>
                  <a:txBody>
                    <a:bodyPr/>
                    <a:lstStyle/>
                    <a:p>
                      <a:pPr indent="0" lvl="0" marL="0" rtl="0" algn="l">
                        <a:spcBef>
                          <a:spcPts val="0"/>
                        </a:spcBef>
                        <a:spcAft>
                          <a:spcPts val="0"/>
                        </a:spcAft>
                        <a:buNone/>
                      </a:pPr>
                      <a:r>
                        <a:rPr lang="en" sz="1000">
                          <a:latin typeface="Lexend"/>
                          <a:ea typeface="Lexend"/>
                          <a:cs typeface="Lexend"/>
                          <a:sym typeface="Lexend"/>
                        </a:rPr>
                        <a:t>Minihub</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Truyền thông đăng ký 3 lần/tuần all channels (pop-up, noti, fb)</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Đăng bài seeding hàng tuần</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1000">
                          <a:solidFill>
                            <a:srgbClr val="FF751F"/>
                          </a:solidFill>
                          <a:latin typeface="Lexend"/>
                          <a:ea typeface="Lexend"/>
                          <a:cs typeface="Lexend"/>
                          <a:sym typeface="Lexend"/>
                        </a:rPr>
                        <a:t>160</a:t>
                      </a:r>
                      <a:r>
                        <a:rPr lang="en" sz="1000">
                          <a:latin typeface="Lexend"/>
                          <a:ea typeface="Lexend"/>
                          <a:cs typeface="Lexend"/>
                          <a:sym typeface="Lexend"/>
                        </a:rPr>
                        <a:t> tx đăng ký trong M8</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On track</a:t>
                      </a:r>
                      <a:endParaRPr sz="1000">
                        <a:solidFill>
                          <a:schemeClr val="dk1"/>
                        </a:solidFill>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None/>
                      </a:pPr>
                      <a:r>
                        <a:rPr lang="en" sz="1000">
                          <a:latin typeface="Lexend"/>
                          <a:ea typeface="Lexend"/>
                          <a:cs typeface="Lexend"/>
                          <a:sym typeface="Lexend"/>
                        </a:rPr>
                        <a:t>Other</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[DM] CT hoàn tiền baga/ </a:t>
                      </a:r>
                      <a:r>
                        <a:rPr lang="en" sz="1000">
                          <a:solidFill>
                            <a:schemeClr val="dk1"/>
                          </a:solidFill>
                          <a:latin typeface="Lexend"/>
                          <a:ea typeface="Lexend"/>
                          <a:cs typeface="Lexend"/>
                          <a:sym typeface="Lexend"/>
                        </a:rPr>
                        <a:t>CT Ranking 2026</a:t>
                      </a:r>
                      <a:r>
                        <a:rPr lang="en" sz="1000">
                          <a:latin typeface="Lexend"/>
                          <a:ea typeface="Lexend"/>
                          <a:cs typeface="Lexend"/>
                          <a:sym typeface="Lexend"/>
                        </a:rPr>
                        <a:t> </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[QM] Update rule leadtime giao hàng</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[GR] Bán baga tại VP</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[WH] Cập nhật Kho mới tại SGN</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1000">
                          <a:solidFill>
                            <a:srgbClr val="FF751F"/>
                          </a:solidFill>
                          <a:latin typeface="Lexend"/>
                          <a:ea typeface="Lexend"/>
                          <a:cs typeface="Lexend"/>
                          <a:sym typeface="Lexend"/>
                        </a:rPr>
                        <a:t>100% </a:t>
                      </a:r>
                      <a:r>
                        <a:rPr lang="en" sz="1000">
                          <a:latin typeface="Lexend"/>
                          <a:ea typeface="Lexend"/>
                          <a:cs typeface="Lexend"/>
                          <a:sym typeface="Lexend"/>
                        </a:rPr>
                        <a:t>task được hoàn thành đúng leadtime và yêu cầu từ Requester</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On track</a:t>
                      </a:r>
                      <a:endParaRPr sz="1000">
                        <a:solidFill>
                          <a:schemeClr val="dk1"/>
                        </a:solidFill>
                        <a:latin typeface="Lexend"/>
                        <a:ea typeface="Lexend"/>
                        <a:cs typeface="Lexend"/>
                        <a:sym typeface="Lexend"/>
                      </a:endParaRPr>
                    </a:p>
                  </a:txBody>
                  <a:tcPr marT="45725" marB="45725" marR="45725" marL="45725"/>
                </a:tc>
              </a:tr>
            </a:tbl>
          </a:graphicData>
        </a:graphic>
      </p:graphicFrame>
      <p:pic>
        <p:nvPicPr>
          <p:cNvPr id="254" name="Google Shape;254;p26"/>
          <p:cNvPicPr preferRelativeResize="0"/>
          <p:nvPr/>
        </p:nvPicPr>
        <p:blipFill>
          <a:blip r:embed="rId3">
            <a:alphaModFix/>
          </a:blip>
          <a:stretch>
            <a:fillRect/>
          </a:stretch>
        </p:blipFill>
        <p:spPr>
          <a:xfrm>
            <a:off x="8376860" y="92185"/>
            <a:ext cx="691063" cy="691063"/>
          </a:xfrm>
          <a:prstGeom prst="rect">
            <a:avLst/>
          </a:prstGeom>
          <a:noFill/>
          <a:ln>
            <a:noFill/>
          </a:ln>
        </p:spPr>
      </p:pic>
      <p:sp>
        <p:nvSpPr>
          <p:cNvPr id="255" name="Google Shape;255;p26"/>
          <p:cNvSpPr/>
          <p:nvPr/>
        </p:nvSpPr>
        <p:spPr>
          <a:xfrm>
            <a:off x="189381" y="875088"/>
            <a:ext cx="3121800" cy="307800"/>
          </a:xfrm>
          <a:prstGeom prst="roundRect">
            <a:avLst>
              <a:gd fmla="val 16667" name="adj"/>
            </a:avLst>
          </a:prstGeom>
          <a:solidFill>
            <a:schemeClr val="lt1"/>
          </a:solidFill>
          <a:ln>
            <a:noFill/>
          </a:ln>
        </p:spPr>
        <p:txBody>
          <a:bodyPr anchorCtr="0" anchor="ctr" bIns="45725" lIns="45725" spcFirstLastPara="1" rIns="45725" wrap="square" tIns="45725">
            <a:noAutofit/>
          </a:bodyPr>
          <a:lstStyle/>
          <a:p>
            <a:pPr indent="0" lvl="0" marL="0" rtl="0" algn="just">
              <a:lnSpc>
                <a:spcPct val="115000"/>
              </a:lnSpc>
              <a:spcBef>
                <a:spcPts val="0"/>
              </a:spcBef>
              <a:spcAft>
                <a:spcPts val="0"/>
              </a:spcAft>
              <a:buNone/>
            </a:pPr>
            <a:r>
              <a:rPr b="1" lang="en" sz="1100">
                <a:solidFill>
                  <a:schemeClr val="dk1"/>
                </a:solidFill>
                <a:latin typeface="Lexend"/>
                <a:ea typeface="Lexend"/>
                <a:cs typeface="Lexend"/>
                <a:sym typeface="Lexend"/>
              </a:rPr>
              <a:t>Highlights Communication</a:t>
            </a:r>
            <a:endParaRPr b="1" sz="1200">
              <a:solidFill>
                <a:schemeClr val="dk1"/>
              </a:solidFill>
              <a:latin typeface="Lexend"/>
              <a:ea typeface="Lexend"/>
              <a:cs typeface="Lexend"/>
              <a:sym typeface="Lexend"/>
            </a:endParaRPr>
          </a:p>
        </p:txBody>
      </p:sp>
      <p:sp>
        <p:nvSpPr>
          <p:cNvPr id="256" name="Google Shape;256;p26"/>
          <p:cNvSpPr/>
          <p:nvPr/>
        </p:nvSpPr>
        <p:spPr>
          <a:xfrm>
            <a:off x="189379" y="3314783"/>
            <a:ext cx="3252600" cy="228600"/>
          </a:xfrm>
          <a:prstGeom prst="roundRect">
            <a:avLst>
              <a:gd fmla="val 16667" name="adj"/>
            </a:avLst>
          </a:prstGeom>
          <a:solidFill>
            <a:schemeClr val="lt1"/>
          </a:solidFill>
          <a:ln>
            <a:noFill/>
          </a:ln>
        </p:spPr>
        <p:txBody>
          <a:bodyPr anchorCtr="0" anchor="ctr" bIns="45725" lIns="45725" spcFirstLastPara="1" rIns="45725" wrap="square" tIns="45725">
            <a:noAutofit/>
          </a:bodyPr>
          <a:lstStyle/>
          <a:p>
            <a:pPr indent="0" lvl="0" marL="0" rtl="0" algn="just">
              <a:lnSpc>
                <a:spcPct val="115000"/>
              </a:lnSpc>
              <a:spcBef>
                <a:spcPts val="0"/>
              </a:spcBef>
              <a:spcAft>
                <a:spcPts val="0"/>
              </a:spcAft>
              <a:buNone/>
            </a:pPr>
            <a:r>
              <a:rPr b="1" lang="en" sz="1100">
                <a:solidFill>
                  <a:schemeClr val="dk1"/>
                </a:solidFill>
                <a:latin typeface="Lexend"/>
                <a:ea typeface="Lexend"/>
                <a:cs typeface="Lexend"/>
                <a:sym typeface="Lexend"/>
              </a:rPr>
              <a:t>Highlights Engagement activities</a:t>
            </a:r>
            <a:endParaRPr b="1" sz="1200">
              <a:solidFill>
                <a:schemeClr val="dk1"/>
              </a:solidFill>
              <a:latin typeface="Lexend"/>
              <a:ea typeface="Lexend"/>
              <a:cs typeface="Lexend"/>
              <a:sym typeface="Lexend"/>
            </a:endParaRPr>
          </a:p>
        </p:txBody>
      </p:sp>
      <p:graphicFrame>
        <p:nvGraphicFramePr>
          <p:cNvPr id="257" name="Google Shape;257;p26"/>
          <p:cNvGraphicFramePr/>
          <p:nvPr/>
        </p:nvGraphicFramePr>
        <p:xfrm>
          <a:off x="189363" y="3588383"/>
          <a:ext cx="3000000" cy="3000000"/>
        </p:xfrm>
        <a:graphic>
          <a:graphicData uri="http://schemas.openxmlformats.org/drawingml/2006/table">
            <a:tbl>
              <a:tblPr>
                <a:noFill/>
                <a:tableStyleId>{84A9007E-4112-45BC-9D73-1BCF8FDB95CB}</a:tableStyleId>
              </a:tblPr>
              <a:tblGrid>
                <a:gridCol w="1319350"/>
                <a:gridCol w="3640425"/>
                <a:gridCol w="2964750"/>
                <a:gridCol w="813950"/>
              </a:tblGrid>
              <a:tr h="221550">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Hạng mục</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Task đã triển khai</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Kết quả thực tế</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Tiến độ</a:t>
                      </a:r>
                      <a:endParaRPr b="1" sz="1000">
                        <a:solidFill>
                          <a:srgbClr val="FFFFFF"/>
                        </a:solidFill>
                        <a:latin typeface="Lexend"/>
                        <a:ea typeface="Lexend"/>
                        <a:cs typeface="Lexend"/>
                        <a:sym typeface="Lexend"/>
                      </a:endParaRPr>
                    </a:p>
                  </a:txBody>
                  <a:tcPr marT="45725" marB="45725" marR="45725" marL="45725">
                    <a:solidFill>
                      <a:srgbClr val="0E4174"/>
                    </a:solidFill>
                  </a:tcPr>
                </a:tc>
              </a:tr>
              <a:tr h="225450">
                <a:tc rowSpan="3">
                  <a:txBody>
                    <a:bodyPr/>
                    <a:lstStyle/>
                    <a:p>
                      <a:pPr indent="0" lvl="0" marL="0" rtl="0" algn="l">
                        <a:spcBef>
                          <a:spcPts val="0"/>
                        </a:spcBef>
                        <a:spcAft>
                          <a:spcPts val="0"/>
                        </a:spcAft>
                        <a:buNone/>
                      </a:pPr>
                      <a:r>
                        <a:rPr lang="en" sz="1000">
                          <a:latin typeface="Lexend"/>
                          <a:ea typeface="Lexend"/>
                          <a:cs typeface="Lexend"/>
                          <a:sym typeface="Lexend"/>
                        </a:rPr>
                        <a:t>Sinh nhật AHM 11th</a:t>
                      </a:r>
                      <a:endParaRPr sz="1000">
                        <a:latin typeface="Lexend"/>
                        <a:ea typeface="Lexend"/>
                        <a:cs typeface="Lexend"/>
                        <a:sym typeface="Lexend"/>
                      </a:endParaRPr>
                    </a:p>
                  </a:txBody>
                  <a:tcPr marT="45725" marB="45725" marR="45725" marL="45725" anchor="ctr"/>
                </a:tc>
                <a:tc>
                  <a:txBody>
                    <a:bodyPr/>
                    <a:lstStyle/>
                    <a:p>
                      <a:pPr indent="0" lvl="0" marL="0" rtl="0" algn="l">
                        <a:spcBef>
                          <a:spcPts val="0"/>
                        </a:spcBef>
                        <a:spcAft>
                          <a:spcPts val="0"/>
                        </a:spcAft>
                        <a:buNone/>
                      </a:pPr>
                      <a:r>
                        <a:rPr lang="en" sz="1000">
                          <a:latin typeface="Lexend"/>
                          <a:ea typeface="Lexend"/>
                          <a:cs typeface="Lexend"/>
                          <a:sym typeface="Lexend"/>
                        </a:rPr>
                        <a:t>Thử thách sinh nhật: AHA CHUYỂN MÌNH - XẾ RINH QUÀ ĐỈNH</a:t>
                      </a:r>
                      <a:endParaRPr sz="1000">
                        <a:latin typeface="Lexend"/>
                        <a:ea typeface="Lexend"/>
                        <a:cs typeface="Lexend"/>
                        <a:sym typeface="Lexend"/>
                      </a:endParaRPr>
                    </a:p>
                  </a:txBody>
                  <a:tcPr marT="45725" marB="45725" marR="45725" marL="45725"/>
                </a:tc>
                <a:tc>
                  <a:txBody>
                    <a:bodyPr/>
                    <a:lstStyle/>
                    <a:p>
                      <a:pPr indent="0" lvl="0" marL="0" marR="0" rtl="0" algn="l">
                        <a:lnSpc>
                          <a:spcPct val="115000"/>
                        </a:lnSpc>
                        <a:spcBef>
                          <a:spcPts val="0"/>
                        </a:spcBef>
                        <a:spcAft>
                          <a:spcPts val="0"/>
                        </a:spcAft>
                        <a:buNone/>
                      </a:pPr>
                      <a:r>
                        <a:rPr b="1" lang="en" sz="1100">
                          <a:solidFill>
                            <a:srgbClr val="F96D01"/>
                          </a:solidFill>
                          <a:latin typeface="Lexend"/>
                          <a:ea typeface="Lexend"/>
                          <a:cs typeface="Lexend"/>
                          <a:sym typeface="Lexend"/>
                        </a:rPr>
                        <a:t>100% </a:t>
                      </a:r>
                      <a:r>
                        <a:rPr b="1" lang="en" sz="1000">
                          <a:solidFill>
                            <a:srgbClr val="0B5394"/>
                          </a:solidFill>
                          <a:latin typeface="Lexend"/>
                          <a:ea typeface="Lexend"/>
                          <a:cs typeface="Lexend"/>
                          <a:sym typeface="Lexend"/>
                        </a:rPr>
                        <a:t>TX đạt thưởng</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On track</a:t>
                      </a:r>
                      <a:endParaRPr sz="1000">
                        <a:latin typeface="Lexend"/>
                        <a:ea typeface="Lexend"/>
                        <a:cs typeface="Lexend"/>
                        <a:sym typeface="Lexend"/>
                      </a:endParaRPr>
                    </a:p>
                  </a:txBody>
                  <a:tcPr marT="45725" marB="45725" marR="45725" marL="45725"/>
                </a:tc>
              </a:tr>
              <a:tr h="505550">
                <a:tc vMerge="1"/>
                <a:tc>
                  <a:txBody>
                    <a:bodyPr/>
                    <a:lstStyle/>
                    <a:p>
                      <a:pPr indent="0" lvl="0" marL="0" rtl="0" algn="l">
                        <a:spcBef>
                          <a:spcPts val="0"/>
                        </a:spcBef>
                        <a:spcAft>
                          <a:spcPts val="0"/>
                        </a:spcAft>
                        <a:buNone/>
                      </a:pPr>
                      <a:r>
                        <a:rPr lang="en" sz="1000">
                          <a:latin typeface="Lexend"/>
                          <a:ea typeface="Lexend"/>
                          <a:cs typeface="Lexend"/>
                          <a:sym typeface="Lexend"/>
                        </a:rPr>
                        <a:t>Minigame online: CHUYỂN Ý TƯỞNG - GHÉP TƯƠNG LAI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b="1" lang="en" sz="1000">
                          <a:solidFill>
                            <a:srgbClr val="0B5394"/>
                          </a:solidFill>
                          <a:latin typeface="Lexend"/>
                          <a:ea typeface="Lexend"/>
                          <a:cs typeface="Lexend"/>
                          <a:sym typeface="Lexend"/>
                        </a:rPr>
                        <a:t>- </a:t>
                      </a:r>
                      <a:r>
                        <a:rPr b="1" lang="en" sz="1100">
                          <a:solidFill>
                            <a:srgbClr val="F96D01"/>
                          </a:solidFill>
                          <a:latin typeface="Lexend"/>
                          <a:ea typeface="Lexend"/>
                          <a:cs typeface="Lexend"/>
                          <a:sym typeface="Lexend"/>
                        </a:rPr>
                        <a:t>43</a:t>
                      </a:r>
                      <a:r>
                        <a:rPr b="1" lang="en" sz="1000">
                          <a:solidFill>
                            <a:srgbClr val="F96D01"/>
                          </a:solidFill>
                          <a:latin typeface="Lexend"/>
                          <a:ea typeface="Lexend"/>
                          <a:cs typeface="Lexend"/>
                          <a:sym typeface="Lexend"/>
                        </a:rPr>
                        <a:t> </a:t>
                      </a:r>
                      <a:r>
                        <a:rPr b="1" lang="en" sz="1000">
                          <a:solidFill>
                            <a:srgbClr val="0B5394"/>
                          </a:solidFill>
                          <a:latin typeface="Lexend"/>
                          <a:ea typeface="Lexend"/>
                          <a:cs typeface="Lexend"/>
                          <a:sym typeface="Lexend"/>
                        </a:rPr>
                        <a:t>bài post</a:t>
                      </a:r>
                      <a:r>
                        <a:rPr lang="en" sz="1000">
                          <a:solidFill>
                            <a:srgbClr val="0B5394"/>
                          </a:solidFill>
                          <a:latin typeface="Lexend"/>
                          <a:ea typeface="Lexend"/>
                          <a:cs typeface="Lexend"/>
                          <a:sym typeface="Lexend"/>
                        </a:rPr>
                        <a:t> trên các nhóm cộng đồng</a:t>
                      </a:r>
                      <a:endParaRPr sz="1000">
                        <a:solidFill>
                          <a:srgbClr val="0B5394"/>
                        </a:solidFill>
                        <a:latin typeface="Lexend"/>
                        <a:ea typeface="Lexend"/>
                        <a:cs typeface="Lexend"/>
                        <a:sym typeface="Lexend"/>
                      </a:endParaRPr>
                    </a:p>
                    <a:p>
                      <a:pPr indent="0" lvl="0" marL="0" rtl="0" algn="l">
                        <a:spcBef>
                          <a:spcPts val="0"/>
                        </a:spcBef>
                        <a:spcAft>
                          <a:spcPts val="0"/>
                        </a:spcAft>
                        <a:buNone/>
                      </a:pPr>
                      <a:r>
                        <a:rPr lang="en" sz="1000">
                          <a:solidFill>
                            <a:srgbClr val="0B5394"/>
                          </a:solidFill>
                          <a:latin typeface="Lexend"/>
                          <a:ea typeface="Lexend"/>
                          <a:cs typeface="Lexend"/>
                          <a:sym typeface="Lexend"/>
                        </a:rPr>
                        <a:t>- Bài viết yêu thích nhất: </a:t>
                      </a:r>
                      <a:endParaRPr sz="1000">
                        <a:solidFill>
                          <a:srgbClr val="0B5394"/>
                        </a:solidFill>
                        <a:latin typeface="Lexend"/>
                        <a:ea typeface="Lexend"/>
                        <a:cs typeface="Lexend"/>
                        <a:sym typeface="Lexend"/>
                      </a:endParaRPr>
                    </a:p>
                    <a:p>
                      <a:pPr indent="0" lvl="0" marL="0" rtl="0" algn="l">
                        <a:spcBef>
                          <a:spcPts val="0"/>
                        </a:spcBef>
                        <a:spcAft>
                          <a:spcPts val="0"/>
                        </a:spcAft>
                        <a:buNone/>
                      </a:pPr>
                      <a:r>
                        <a:rPr b="1" lang="en" sz="1100">
                          <a:solidFill>
                            <a:srgbClr val="F96D01"/>
                          </a:solidFill>
                          <a:latin typeface="Lexend"/>
                          <a:ea typeface="Lexend"/>
                          <a:cs typeface="Lexend"/>
                          <a:sym typeface="Lexend"/>
                        </a:rPr>
                        <a:t>145</a:t>
                      </a:r>
                      <a:r>
                        <a:rPr b="1" lang="en" sz="1000">
                          <a:solidFill>
                            <a:srgbClr val="0B5394"/>
                          </a:solidFill>
                          <a:latin typeface="Lexend"/>
                          <a:ea typeface="Lexend"/>
                          <a:cs typeface="Lexend"/>
                          <a:sym typeface="Lexend"/>
                        </a:rPr>
                        <a:t> </a:t>
                      </a:r>
                      <a:r>
                        <a:rPr lang="en" sz="1000">
                          <a:solidFill>
                            <a:srgbClr val="0B5394"/>
                          </a:solidFill>
                          <a:latin typeface="Lexend"/>
                          <a:ea typeface="Lexend"/>
                          <a:cs typeface="Lexend"/>
                          <a:sym typeface="Lexend"/>
                        </a:rPr>
                        <a:t>tương tác     </a:t>
                      </a:r>
                      <a:r>
                        <a:rPr b="1" lang="en" sz="1100">
                          <a:solidFill>
                            <a:srgbClr val="F96D01"/>
                          </a:solidFill>
                          <a:latin typeface="Lexend"/>
                          <a:ea typeface="Lexend"/>
                          <a:cs typeface="Lexend"/>
                          <a:sym typeface="Lexend"/>
                        </a:rPr>
                        <a:t>1.950</a:t>
                      </a:r>
                      <a:r>
                        <a:rPr lang="en" sz="1000">
                          <a:solidFill>
                            <a:srgbClr val="0B5394"/>
                          </a:solidFill>
                          <a:latin typeface="Lexend"/>
                          <a:ea typeface="Lexend"/>
                          <a:cs typeface="Lexend"/>
                          <a:sym typeface="Lexend"/>
                        </a:rPr>
                        <a:t> tiếp cận</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Lexend"/>
                          <a:ea typeface="Lexend"/>
                          <a:cs typeface="Lexend"/>
                          <a:sym typeface="Lexend"/>
                        </a:rPr>
                        <a:t>On track</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r>
              <a:tr h="225450">
                <a:tc vMerge="1"/>
                <a:tc>
                  <a:txBody>
                    <a:bodyPr/>
                    <a:lstStyle/>
                    <a:p>
                      <a:pPr indent="0" lvl="0" marL="0" rtl="0" algn="l">
                        <a:spcBef>
                          <a:spcPts val="0"/>
                        </a:spcBef>
                        <a:spcAft>
                          <a:spcPts val="0"/>
                        </a:spcAft>
                        <a:buNone/>
                      </a:pPr>
                      <a:r>
                        <a:rPr lang="en" sz="1000">
                          <a:latin typeface="Lexend"/>
                          <a:ea typeface="Lexend"/>
                          <a:cs typeface="Lexend"/>
                          <a:sym typeface="Lexend"/>
                        </a:rPr>
                        <a:t>Livestream: TỔNG KẾT CHUỖI HOẠT ĐỘNG</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Clr>
                          <a:schemeClr val="dk1"/>
                        </a:buClr>
                        <a:buSzPts val="600"/>
                        <a:buFont typeface="Arial"/>
                        <a:buNone/>
                      </a:pPr>
                      <a:r>
                        <a:rPr b="1" lang="en" sz="1100">
                          <a:solidFill>
                            <a:srgbClr val="FF751F"/>
                          </a:solidFill>
                          <a:latin typeface="Lexend"/>
                          <a:ea typeface="Lexend"/>
                          <a:cs typeface="Lexend"/>
                          <a:sym typeface="Lexend"/>
                        </a:rPr>
                        <a:t>&gt;3.557</a:t>
                      </a:r>
                      <a:r>
                        <a:rPr b="1" lang="en" sz="1100">
                          <a:solidFill>
                            <a:srgbClr val="0E4174"/>
                          </a:solidFill>
                          <a:latin typeface="Lexend"/>
                          <a:ea typeface="Lexend"/>
                          <a:cs typeface="Lexend"/>
                          <a:sym typeface="Lexend"/>
                        </a:rPr>
                        <a:t> </a:t>
                      </a:r>
                      <a:r>
                        <a:rPr b="1" lang="en" sz="1000">
                          <a:solidFill>
                            <a:srgbClr val="0E4174"/>
                          </a:solidFill>
                          <a:latin typeface="Lexend"/>
                          <a:ea typeface="Lexend"/>
                          <a:cs typeface="Lexend"/>
                          <a:sym typeface="Lexend"/>
                        </a:rPr>
                        <a:t>lượt xem        </a:t>
                      </a:r>
                      <a:r>
                        <a:rPr b="1" lang="en" sz="1100">
                          <a:solidFill>
                            <a:srgbClr val="FF751F"/>
                          </a:solidFill>
                          <a:latin typeface="Lexend"/>
                          <a:ea typeface="Lexend"/>
                          <a:cs typeface="Lexend"/>
                          <a:sym typeface="Lexend"/>
                        </a:rPr>
                        <a:t>14.522</a:t>
                      </a:r>
                      <a:r>
                        <a:rPr lang="en" sz="1000">
                          <a:solidFill>
                            <a:srgbClr val="0E4174"/>
                          </a:solidFill>
                          <a:latin typeface="Lexend"/>
                          <a:ea typeface="Lexend"/>
                          <a:cs typeface="Lexend"/>
                          <a:sym typeface="Lexend"/>
                        </a:rPr>
                        <a:t> </a:t>
                      </a:r>
                      <a:r>
                        <a:rPr b="1" lang="en" sz="1000">
                          <a:solidFill>
                            <a:srgbClr val="0E4174"/>
                          </a:solidFill>
                          <a:latin typeface="Lexend"/>
                          <a:ea typeface="Lexend"/>
                          <a:cs typeface="Lexend"/>
                          <a:sym typeface="Lexend"/>
                        </a:rPr>
                        <a:t>tương tác</a:t>
                      </a:r>
                      <a:endParaRPr sz="1000">
                        <a:solidFill>
                          <a:srgbClr val="0E4174"/>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On track</a:t>
                      </a:r>
                      <a:endParaRPr sz="1000">
                        <a:latin typeface="Lexend"/>
                        <a:ea typeface="Lexend"/>
                        <a:cs typeface="Lexend"/>
                        <a:sym typeface="Lexend"/>
                      </a:endParaRPr>
                    </a:p>
                  </a:txBody>
                  <a:tcPr marT="45725" marB="45725" marR="45725" marL="45725"/>
                </a:tc>
              </a:tr>
            </a:tbl>
          </a:graphicData>
        </a:graphic>
      </p:graphicFrame>
      <p:sp>
        <p:nvSpPr>
          <p:cNvPr id="258" name="Google Shape;258;p26"/>
          <p:cNvSpPr txBox="1"/>
          <p:nvPr/>
        </p:nvSpPr>
        <p:spPr>
          <a:xfrm>
            <a:off x="344063" y="69624"/>
            <a:ext cx="7999500" cy="691200"/>
          </a:xfrm>
          <a:prstGeom prst="rect">
            <a:avLst/>
          </a:prstGeom>
          <a:noFill/>
          <a:ln>
            <a:noFill/>
          </a:ln>
        </p:spPr>
        <p:txBody>
          <a:bodyPr anchorCtr="0" anchor="t" bIns="39925" lIns="39925" spcFirstLastPara="1" rIns="39925" wrap="square" tIns="39925">
            <a:noAutofit/>
          </a:bodyPr>
          <a:lstStyle/>
          <a:p>
            <a:pPr indent="0" lvl="0" marL="0" rtl="0" algn="just">
              <a:lnSpc>
                <a:spcPct val="115000"/>
              </a:lnSpc>
              <a:spcBef>
                <a:spcPts val="0"/>
              </a:spcBef>
              <a:spcAft>
                <a:spcPts val="0"/>
              </a:spcAft>
              <a:buNone/>
            </a:pPr>
            <a:r>
              <a:rPr b="1" lang="en" sz="1200">
                <a:solidFill>
                  <a:srgbClr val="0E4174"/>
                </a:solidFill>
                <a:latin typeface="Lexend"/>
                <a:ea typeface="Lexend"/>
                <a:cs typeface="Lexend"/>
                <a:sym typeface="Lexend"/>
              </a:rPr>
              <a:t>DE OVERVIEW: </a:t>
            </a:r>
            <a:endParaRPr b="1" sz="1200">
              <a:solidFill>
                <a:srgbClr val="0E4174"/>
              </a:solidFill>
              <a:latin typeface="Lexend"/>
              <a:ea typeface="Lexend"/>
              <a:cs typeface="Lexend"/>
              <a:sym typeface="Lexend"/>
            </a:endParaRPr>
          </a:p>
          <a:p>
            <a:pPr indent="0" lvl="0" marL="0" rtl="0" algn="just">
              <a:lnSpc>
                <a:spcPct val="115000"/>
              </a:lnSpc>
              <a:spcBef>
                <a:spcPts val="0"/>
              </a:spcBef>
              <a:spcAft>
                <a:spcPts val="0"/>
              </a:spcAft>
              <a:buNone/>
            </a:pPr>
            <a:r>
              <a:rPr lang="en" sz="1200">
                <a:solidFill>
                  <a:srgbClr val="0E4174"/>
                </a:solidFill>
                <a:latin typeface="Lexend"/>
                <a:ea typeface="Lexend"/>
                <a:cs typeface="Lexend"/>
                <a:sym typeface="Lexend"/>
              </a:rPr>
              <a:t>Vận hành chuỗi hoạt động sự kiện Sinh nhật Ahamove 11 tuổi và Phủ sóng truyền thông hoạt động thúc đẩy chuyển đổi xe điện </a:t>
            </a:r>
            <a:r>
              <a:rPr i="1" lang="en" sz="1200">
                <a:solidFill>
                  <a:srgbClr val="0E4174"/>
                </a:solidFill>
                <a:latin typeface="Lexend"/>
                <a:ea typeface="Lexend"/>
                <a:cs typeface="Lexend"/>
                <a:sym typeface="Lexend"/>
              </a:rPr>
              <a:t>(đường đua xe điện, AHA Creator, Update policy)</a:t>
            </a:r>
            <a:endParaRPr sz="1200">
              <a:solidFill>
                <a:srgbClr val="0E4174"/>
              </a:solidFill>
              <a:latin typeface="Lexend"/>
              <a:ea typeface="Lexend"/>
              <a:cs typeface="Lexend"/>
              <a:sym typeface="Lexend"/>
            </a:endParaRPr>
          </a:p>
        </p:txBody>
      </p:sp>
      <p:sp>
        <p:nvSpPr>
          <p:cNvPr id="259" name="Google Shape;259;p26"/>
          <p:cNvSpPr/>
          <p:nvPr/>
        </p:nvSpPr>
        <p:spPr>
          <a:xfrm>
            <a:off x="187125" y="130524"/>
            <a:ext cx="97200" cy="555600"/>
          </a:xfrm>
          <a:prstGeom prst="rect">
            <a:avLst/>
          </a:prstGeom>
          <a:solidFill>
            <a:srgbClr val="FF751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cxnSp>
        <p:nvCxnSpPr>
          <p:cNvPr id="260" name="Google Shape;260;p26"/>
          <p:cNvCxnSpPr/>
          <p:nvPr/>
        </p:nvCxnSpPr>
        <p:spPr>
          <a:xfrm>
            <a:off x="188521" y="811891"/>
            <a:ext cx="8161200" cy="0"/>
          </a:xfrm>
          <a:prstGeom prst="straightConnector1">
            <a:avLst/>
          </a:prstGeom>
          <a:noFill/>
          <a:ln cap="flat" cmpd="sng" w="9525">
            <a:solidFill>
              <a:srgbClr val="C8C8C8"/>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27"/>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sp>
        <p:nvSpPr>
          <p:cNvPr id="267" name="Google Shape;267;p27"/>
          <p:cNvSpPr txBox="1"/>
          <p:nvPr/>
        </p:nvSpPr>
        <p:spPr>
          <a:xfrm>
            <a:off x="9952875" y="228125"/>
            <a:ext cx="7063200" cy="8019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Đánh giá tổng quan về tốc độ mở mới/deal với partnership</a:t>
            </a:r>
            <a:endParaRPr sz="1000">
              <a:latin typeface="Times New Roman"/>
              <a:ea typeface="Times New Roman"/>
              <a:cs typeface="Times New Roman"/>
              <a:sym typeface="Times New Roman"/>
            </a:endParaRPr>
          </a:p>
        </p:txBody>
      </p:sp>
      <p:pic>
        <p:nvPicPr>
          <p:cNvPr id="268" name="Google Shape;268;p27"/>
          <p:cNvPicPr preferRelativeResize="0"/>
          <p:nvPr/>
        </p:nvPicPr>
        <p:blipFill>
          <a:blip r:embed="rId3">
            <a:alphaModFix/>
          </a:blip>
          <a:stretch>
            <a:fillRect/>
          </a:stretch>
        </p:blipFill>
        <p:spPr>
          <a:xfrm>
            <a:off x="8454521" y="4800"/>
            <a:ext cx="689478" cy="689451"/>
          </a:xfrm>
          <a:prstGeom prst="rect">
            <a:avLst/>
          </a:prstGeom>
          <a:noFill/>
          <a:ln>
            <a:noFill/>
          </a:ln>
        </p:spPr>
      </p:pic>
      <p:graphicFrame>
        <p:nvGraphicFramePr>
          <p:cNvPr id="269" name="Google Shape;269;p27"/>
          <p:cNvGraphicFramePr/>
          <p:nvPr/>
        </p:nvGraphicFramePr>
        <p:xfrm>
          <a:off x="139627" y="694253"/>
          <a:ext cx="3000000" cy="3000000"/>
        </p:xfrm>
        <a:graphic>
          <a:graphicData uri="http://schemas.openxmlformats.org/drawingml/2006/table">
            <a:tbl>
              <a:tblPr>
                <a:noFill/>
                <a:tableStyleId>{84A9007E-4112-45BC-9D73-1BCF8FDB95CB}</a:tableStyleId>
              </a:tblPr>
              <a:tblGrid>
                <a:gridCol w="554225"/>
                <a:gridCol w="1163525"/>
                <a:gridCol w="4533625"/>
                <a:gridCol w="1540575"/>
                <a:gridCol w="1042050"/>
              </a:tblGrid>
              <a:tr h="190500">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a:t>
                      </a:r>
                      <a:endParaRPr b="1" sz="1000">
                        <a:solidFill>
                          <a:srgbClr val="FFFFFF"/>
                        </a:solidFill>
                        <a:latin typeface="Lexend"/>
                        <a:ea typeface="Lexend"/>
                        <a:cs typeface="Lexend"/>
                        <a:sym typeface="Lexend"/>
                      </a:endParaRPr>
                    </a:p>
                  </a:txBody>
                  <a:tcPr marT="45725" marB="45725" marR="45725" marL="45725" anchor="ctr">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Deal</a:t>
                      </a:r>
                      <a:endParaRPr b="1" sz="1000">
                        <a:solidFill>
                          <a:srgbClr val="FFFFFF"/>
                        </a:solidFill>
                        <a:latin typeface="Lexend"/>
                        <a:ea typeface="Lexend"/>
                        <a:cs typeface="Lexend"/>
                        <a:sym typeface="Lexend"/>
                      </a:endParaRPr>
                    </a:p>
                  </a:txBody>
                  <a:tcPr marT="45725" marB="45725" marR="45725" marL="45725" anchor="ctr">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Tiến độ hiện tại</a:t>
                      </a:r>
                      <a:endParaRPr b="1" sz="1000">
                        <a:solidFill>
                          <a:srgbClr val="FFFFFF"/>
                        </a:solidFill>
                        <a:latin typeface="Lexend"/>
                        <a:ea typeface="Lexend"/>
                        <a:cs typeface="Lexend"/>
                        <a:sym typeface="Lexend"/>
                      </a:endParaRPr>
                    </a:p>
                  </a:txBody>
                  <a:tcPr marT="45725" marB="45725" marR="45725" marL="45725" anchor="ctr">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Khó khăn </a:t>
                      </a:r>
                      <a:endParaRPr b="1" sz="1000">
                        <a:solidFill>
                          <a:srgbClr val="FFFFFF"/>
                        </a:solidFill>
                        <a:latin typeface="Lexend"/>
                        <a:ea typeface="Lexend"/>
                        <a:cs typeface="Lexend"/>
                        <a:sym typeface="Lexend"/>
                      </a:endParaRPr>
                    </a:p>
                    <a:p>
                      <a:pPr indent="0" lvl="0" marL="0" rtl="0" algn="ctr">
                        <a:spcBef>
                          <a:spcPts val="0"/>
                        </a:spcBef>
                        <a:spcAft>
                          <a:spcPts val="0"/>
                        </a:spcAft>
                        <a:buNone/>
                      </a:pPr>
                      <a:r>
                        <a:rPr b="1" lang="en" sz="1000">
                          <a:solidFill>
                            <a:srgbClr val="FFFFFF"/>
                          </a:solidFill>
                          <a:latin typeface="Lexend"/>
                          <a:ea typeface="Lexend"/>
                          <a:cs typeface="Lexend"/>
                          <a:sym typeface="Lexend"/>
                        </a:rPr>
                        <a:t>gặp phải</a:t>
                      </a:r>
                      <a:endParaRPr b="1" sz="1000">
                        <a:solidFill>
                          <a:srgbClr val="FFFFFF"/>
                        </a:solidFill>
                        <a:latin typeface="Lexend"/>
                        <a:ea typeface="Lexend"/>
                        <a:cs typeface="Lexend"/>
                        <a:sym typeface="Lexend"/>
                      </a:endParaRPr>
                    </a:p>
                  </a:txBody>
                  <a:tcPr marT="45725" marB="45725" marR="45725" marL="45725" anchor="ctr">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Cần hỗ trợ </a:t>
                      </a:r>
                      <a:endParaRPr b="1" sz="1000">
                        <a:solidFill>
                          <a:srgbClr val="FFFFFF"/>
                        </a:solidFill>
                        <a:latin typeface="Lexend"/>
                        <a:ea typeface="Lexend"/>
                        <a:cs typeface="Lexend"/>
                        <a:sym typeface="Lexend"/>
                      </a:endParaRPr>
                    </a:p>
                  </a:txBody>
                  <a:tcPr marT="45725" marB="45725" marR="45725" marL="45725" anchor="ctr">
                    <a:solidFill>
                      <a:srgbClr val="FF751F"/>
                    </a:solidFill>
                  </a:tcPr>
                </a:tc>
              </a:tr>
              <a:tr h="190500">
                <a:tc rowSpan="8">
                  <a:txBody>
                    <a:bodyPr/>
                    <a:lstStyle/>
                    <a:p>
                      <a:pPr indent="0" lvl="0" marL="0" rtl="0" algn="l">
                        <a:spcBef>
                          <a:spcPts val="0"/>
                        </a:spcBef>
                        <a:spcAft>
                          <a:spcPts val="0"/>
                        </a:spcAft>
                        <a:buNone/>
                      </a:pPr>
                      <a:r>
                        <a:rPr b="1" lang="en" sz="1000">
                          <a:latin typeface="Lexend"/>
                          <a:ea typeface="Lexend"/>
                          <a:cs typeface="Lexend"/>
                          <a:sym typeface="Lexend"/>
                        </a:rPr>
                        <a:t>EV</a:t>
                      </a:r>
                      <a:endParaRPr b="1" sz="1000">
                        <a:latin typeface="Lexend"/>
                        <a:ea typeface="Lexend"/>
                        <a:cs typeface="Lexend"/>
                        <a:sym typeface="Lexend"/>
                      </a:endParaRPr>
                    </a:p>
                  </a:txBody>
                  <a:tcPr marT="45725" marB="45725" marR="45725" marL="45725" anchor="ctr">
                    <a:solidFill>
                      <a:srgbClr val="F1F1F1"/>
                    </a:solidFill>
                  </a:tcPr>
                </a:tc>
                <a:tc>
                  <a:txBody>
                    <a:bodyPr/>
                    <a:lstStyle/>
                    <a:p>
                      <a:pPr indent="0" lvl="0" marL="0" rtl="0" algn="l">
                        <a:spcBef>
                          <a:spcPts val="0"/>
                        </a:spcBef>
                        <a:spcAft>
                          <a:spcPts val="0"/>
                        </a:spcAft>
                        <a:buNone/>
                      </a:pPr>
                      <a:r>
                        <a:rPr b="1" lang="en" sz="1000">
                          <a:latin typeface="Lexend"/>
                          <a:ea typeface="Lexend"/>
                          <a:cs typeface="Lexend"/>
                          <a:sym typeface="Lexend"/>
                        </a:rPr>
                        <a:t>Shinhan bank + VF</a:t>
                      </a:r>
                      <a:endParaRPr b="1"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Lên code 114 showroom VF NW</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-&gt; Ký NDA với Vinfast &amp; SVFC</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Partner review hợp đồng khá lâu</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solidFill>
                      <a:srgbClr val="F1F1F1"/>
                    </a:solidFill>
                  </a:tcPr>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Home credit</a:t>
                      </a:r>
                      <a:endParaRPr b="1"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Thống nhất thông tin chương trình</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GASY + Tailg</a:t>
                      </a:r>
                      <a:endParaRPr b="1"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Ưu đãi 2 triệu mua xe điện Tailg qua đại lý GASY</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Chưa có deal từ nhà máy Tailg</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Đàm phán trực tiếp với nhà máy</a:t>
                      </a:r>
                      <a:endParaRPr sz="1000">
                        <a:latin typeface="Lexend"/>
                        <a:ea typeface="Lexend"/>
                        <a:cs typeface="Lexend"/>
                        <a:sym typeface="Lexend"/>
                      </a:endParaRPr>
                    </a:p>
                  </a:txBody>
                  <a:tcPr marT="45725" marB="45725" marR="45725" marL="45725">
                    <a:solidFill>
                      <a:srgbClr val="F1F1F1"/>
                    </a:solidFill>
                  </a:tcPr>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Move</a:t>
                      </a:r>
                      <a:endParaRPr b="1"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Thống nhất thông tin hợp tác</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Nam Anh + Vạn Xuân</a:t>
                      </a:r>
                      <a:endParaRPr b="1"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 Adapt working file chung</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AHM gửi HĐ cho đối tác review</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Partner truyền thống nên khá lowtech</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solidFill>
                      <a:srgbClr val="F1F1F1"/>
                    </a:solidFill>
                  </a:tcPr>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Dat Bike</a:t>
                      </a:r>
                      <a:endParaRPr b="1"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Mượn 5 xe từ 15/9 - 31/10</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Selex</a:t>
                      </a:r>
                      <a:endParaRPr b="1"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 Hoàn thành giao 5 xe cho KOC NW -&gt; Gia hạn mượn xe đến 11/9</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solidFill>
                      <a:srgbClr val="F1F1F1"/>
                    </a:solidFill>
                  </a:tcPr>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Global Care</a:t>
                      </a:r>
                      <a:endParaRPr b="1"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 Gói bảo hiểm tai nạn tích lũy PVI (100đ/chuyến)</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-&gt; Timeline triển khai + proposal về BHXH tự nguyện</a:t>
                      </a:r>
                      <a:endParaRPr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B cap="flat" cmpd="sng" w="4775">
                      <a:solidFill>
                        <a:srgbClr val="9E9E9E"/>
                      </a:solidFill>
                      <a:prstDash val="solid"/>
                      <a:round/>
                      <a:headEnd len="sm" w="sm" type="none"/>
                      <a:tailEnd len="sm" w="sm" type="none"/>
                    </a:lnB>
                  </a:tcPr>
                </a:tc>
              </a:tr>
              <a:tr h="190500">
                <a:tc rowSpan="4">
                  <a:txBody>
                    <a:bodyPr/>
                    <a:lstStyle/>
                    <a:p>
                      <a:pPr indent="0" lvl="0" marL="0" rtl="0" algn="l">
                        <a:spcBef>
                          <a:spcPts val="0"/>
                        </a:spcBef>
                        <a:spcAft>
                          <a:spcPts val="0"/>
                        </a:spcAft>
                        <a:buNone/>
                      </a:pPr>
                      <a:r>
                        <a:rPr b="1" lang="en" sz="1000">
                          <a:latin typeface="Lexend"/>
                          <a:ea typeface="Lexend"/>
                          <a:cs typeface="Lexend"/>
                          <a:sym typeface="Lexend"/>
                        </a:rPr>
                        <a:t>AHA Benefit</a:t>
                      </a:r>
                      <a:endParaRPr b="1" sz="1000">
                        <a:latin typeface="Lexend"/>
                        <a:ea typeface="Lexend"/>
                        <a:cs typeface="Lexend"/>
                        <a:sym typeface="Lexend"/>
                      </a:endParaRPr>
                    </a:p>
                  </a:txBody>
                  <a:tcPr marT="45725" marB="45725" marR="45725" marL="45725" anchor="ctr">
                    <a:lnR cap="flat" cmpd="sng" w="47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 sz="1000">
                          <a:latin typeface="Lexend"/>
                          <a:ea typeface="Lexend"/>
                          <a:cs typeface="Lexend"/>
                          <a:sym typeface="Lexend"/>
                        </a:rPr>
                        <a:t>Valvoline</a:t>
                      </a:r>
                      <a:endParaRPr b="1"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Voucher thay nhớt 50k</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System tracking code</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GASY</a:t>
                      </a:r>
                      <a:endParaRPr b="1"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Đã gửi đề xuất ưu đãi thay dầu, bảo dưỡng xe xăng » AHM phân bổ tier phù hợp</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r>
              <a:tr h="213600">
                <a:tc vMerge="1"/>
                <a:tc>
                  <a:txBody>
                    <a:bodyPr/>
                    <a:lstStyle/>
                    <a:p>
                      <a:pPr indent="0" lvl="0" marL="0" rtl="0" algn="l">
                        <a:spcBef>
                          <a:spcPts val="0"/>
                        </a:spcBef>
                        <a:spcAft>
                          <a:spcPts val="0"/>
                        </a:spcAft>
                        <a:buNone/>
                      </a:pPr>
                      <a:r>
                        <a:rPr b="1" lang="en" sz="1000">
                          <a:latin typeface="Lexend"/>
                          <a:ea typeface="Lexend"/>
                          <a:cs typeface="Lexend"/>
                          <a:sym typeface="Lexend"/>
                        </a:rPr>
                        <a:t>M150</a:t>
                      </a:r>
                      <a:endParaRPr b="1"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c>
                  <a:txBody>
                    <a:bodyPr/>
                    <a:lstStyle/>
                    <a:p>
                      <a:pPr indent="0" lvl="0" marL="0" rtl="0" algn="l">
                        <a:spcBef>
                          <a:spcPts val="0"/>
                        </a:spcBef>
                        <a:spcAft>
                          <a:spcPts val="0"/>
                        </a:spcAft>
                        <a:buNone/>
                      </a:pPr>
                      <a:r>
                        <a:rPr lang="en" sz="1000">
                          <a:latin typeface="Lexend"/>
                          <a:ea typeface="Lexend"/>
                          <a:cs typeface="Lexend"/>
                          <a:sym typeface="Lexend"/>
                        </a:rPr>
                        <a:t>1.500 lon nước (SGN, DNI, BDI)</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solidFill>
                      <a:srgbClr val="F1F1F1"/>
                    </a:solidFill>
                  </a:tcPr>
                </a:tc>
              </a:tr>
              <a:tr h="190500">
                <a:tc vMerge="1"/>
                <a:tc>
                  <a:txBody>
                    <a:bodyPr/>
                    <a:lstStyle/>
                    <a:p>
                      <a:pPr indent="0" lvl="0" marL="0" rtl="0" algn="l">
                        <a:spcBef>
                          <a:spcPts val="0"/>
                        </a:spcBef>
                        <a:spcAft>
                          <a:spcPts val="0"/>
                        </a:spcAft>
                        <a:buNone/>
                      </a:pPr>
                      <a:r>
                        <a:rPr b="1" lang="en" sz="1000">
                          <a:latin typeface="Lexend"/>
                          <a:ea typeface="Lexend"/>
                          <a:cs typeface="Lexend"/>
                          <a:sym typeface="Lexend"/>
                        </a:rPr>
                        <a:t>VNPT</a:t>
                      </a:r>
                      <a:endParaRPr b="1"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exend"/>
                          <a:ea typeface="Lexend"/>
                          <a:cs typeface="Lexend"/>
                          <a:sym typeface="Lexend"/>
                        </a:rPr>
                        <a:t>Gói data ưu đãi, dịch vụ cáp/internet, FREE sim 6G dùng thử (sắp ra mắt)</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9E9E9E"/>
                      </a:solidFill>
                      <a:prstDash val="solid"/>
                      <a:round/>
                      <a:headEnd len="sm" w="sm" type="none"/>
                      <a:tailEnd len="sm" w="sm" type="none"/>
                    </a:lnT>
                    <a:lnB cap="flat" cmpd="sng" w="4775">
                      <a:solidFill>
                        <a:srgbClr val="9E9E9E"/>
                      </a:solidFill>
                      <a:prstDash val="solid"/>
                      <a:round/>
                      <a:headEnd len="sm" w="sm" type="none"/>
                      <a:tailEnd len="sm" w="sm" type="none"/>
                    </a:lnB>
                  </a:tcPr>
                </a:tc>
              </a:tr>
            </a:tbl>
          </a:graphicData>
        </a:graphic>
      </p:graphicFrame>
      <p:cxnSp>
        <p:nvCxnSpPr>
          <p:cNvPr id="270" name="Google Shape;270;p27"/>
          <p:cNvCxnSpPr/>
          <p:nvPr/>
        </p:nvCxnSpPr>
        <p:spPr>
          <a:xfrm>
            <a:off x="131825" y="596444"/>
            <a:ext cx="8161200" cy="0"/>
          </a:xfrm>
          <a:prstGeom prst="straightConnector1">
            <a:avLst/>
          </a:prstGeom>
          <a:noFill/>
          <a:ln cap="flat" cmpd="sng" w="9525">
            <a:solidFill>
              <a:srgbClr val="C8C8C8"/>
            </a:solidFill>
            <a:prstDash val="solid"/>
            <a:round/>
            <a:headEnd len="med" w="med" type="none"/>
            <a:tailEnd len="med" w="med" type="none"/>
          </a:ln>
        </p:spPr>
      </p:cxnSp>
      <p:sp>
        <p:nvSpPr>
          <p:cNvPr id="271" name="Google Shape;271;p27"/>
          <p:cNvSpPr txBox="1"/>
          <p:nvPr/>
        </p:nvSpPr>
        <p:spPr>
          <a:xfrm>
            <a:off x="266925" y="91499"/>
            <a:ext cx="8088600" cy="424800"/>
          </a:xfrm>
          <a:prstGeom prst="rect">
            <a:avLst/>
          </a:prstGeom>
          <a:noFill/>
          <a:ln>
            <a:noFill/>
          </a:ln>
        </p:spPr>
        <p:txBody>
          <a:bodyPr anchorCtr="0" anchor="t" bIns="39925" lIns="39925" spcFirstLastPara="1" rIns="39925" wrap="square" tIns="39925">
            <a:noAutofit/>
          </a:bodyPr>
          <a:lstStyle/>
          <a:p>
            <a:pPr indent="0" lvl="0" marL="0" rtl="0" algn="just">
              <a:lnSpc>
                <a:spcPct val="115000"/>
              </a:lnSpc>
              <a:spcBef>
                <a:spcPts val="0"/>
              </a:spcBef>
              <a:spcAft>
                <a:spcPts val="0"/>
              </a:spcAft>
              <a:buNone/>
            </a:pPr>
            <a:r>
              <a:rPr b="1" lang="en" sz="1200">
                <a:solidFill>
                  <a:srgbClr val="0E4174"/>
                </a:solidFill>
                <a:latin typeface="Lexend"/>
                <a:ea typeface="Lexend"/>
                <a:cs typeface="Lexend"/>
                <a:sym typeface="Lexend"/>
              </a:rPr>
              <a:t>PARTNER: </a:t>
            </a:r>
            <a:endParaRPr b="1" sz="1200">
              <a:solidFill>
                <a:srgbClr val="0E4174"/>
              </a:solidFill>
              <a:latin typeface="Lexend"/>
              <a:ea typeface="Lexend"/>
              <a:cs typeface="Lexend"/>
              <a:sym typeface="Lexend"/>
            </a:endParaRPr>
          </a:p>
          <a:p>
            <a:pPr indent="0" lvl="0" marL="0" rtl="0" algn="just">
              <a:lnSpc>
                <a:spcPct val="115000"/>
              </a:lnSpc>
              <a:spcBef>
                <a:spcPts val="0"/>
              </a:spcBef>
              <a:spcAft>
                <a:spcPts val="0"/>
              </a:spcAft>
              <a:buClr>
                <a:schemeClr val="dk1"/>
              </a:buClr>
              <a:buSzPts val="600"/>
              <a:buFont typeface="Arial"/>
              <a:buNone/>
            </a:pPr>
            <a:r>
              <a:rPr lang="en" sz="1200">
                <a:solidFill>
                  <a:srgbClr val="0E4174"/>
                </a:solidFill>
                <a:latin typeface="Lexend"/>
                <a:ea typeface="Lexend"/>
                <a:cs typeface="Lexend"/>
                <a:sym typeface="Lexend"/>
              </a:rPr>
              <a:t>Chủ yếu chốt deal cate tài chính và proposal aha benefit, tuy nhiên tốc độ xử lý ppw còn hạn chế</a:t>
            </a:r>
            <a:endParaRPr b="1" sz="1500">
              <a:solidFill>
                <a:srgbClr val="0E4174"/>
              </a:solidFill>
              <a:latin typeface="Times New Roman"/>
              <a:ea typeface="Times New Roman"/>
              <a:cs typeface="Times New Roman"/>
              <a:sym typeface="Times New Roman"/>
            </a:endParaRPr>
          </a:p>
        </p:txBody>
      </p:sp>
      <p:sp>
        <p:nvSpPr>
          <p:cNvPr id="272" name="Google Shape;272;p27"/>
          <p:cNvSpPr/>
          <p:nvPr/>
        </p:nvSpPr>
        <p:spPr>
          <a:xfrm>
            <a:off x="131825" y="103725"/>
            <a:ext cx="84600" cy="424800"/>
          </a:xfrm>
          <a:prstGeom prst="rect">
            <a:avLst/>
          </a:prstGeom>
          <a:solidFill>
            <a:srgbClr val="FF751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77" name="Shape 277"/>
        <p:cNvGrpSpPr/>
        <p:nvPr/>
      </p:nvGrpSpPr>
      <p:grpSpPr>
        <a:xfrm>
          <a:off x="0" y="0"/>
          <a:ext cx="0" cy="0"/>
          <a:chOff x="0" y="0"/>
          <a:chExt cx="0" cy="0"/>
        </a:xfrm>
      </p:grpSpPr>
      <p:sp>
        <p:nvSpPr>
          <p:cNvPr id="278" name="Google Shape;278;p28"/>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sp>
        <p:nvSpPr>
          <p:cNvPr id="279" name="Google Shape;279;p28"/>
          <p:cNvSpPr txBox="1"/>
          <p:nvPr/>
        </p:nvSpPr>
        <p:spPr>
          <a:xfrm>
            <a:off x="9489425" y="-87912"/>
            <a:ext cx="7063200" cy="927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Các tasks quan trọng sẽ triển khai trong tháng 9 kèm PIC của sub DE →  để hoàn thiện các mục tiêu quan trọng &amp; follow được OKRs</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Bổ sung ngắn gọn tiến độ OKRs vào slide này, để dưới dạng bar progress</a:t>
            </a:r>
            <a:endParaRPr sz="1000">
              <a:latin typeface="Times New Roman"/>
              <a:ea typeface="Times New Roman"/>
              <a:cs typeface="Times New Roman"/>
              <a:sym typeface="Times New Roman"/>
            </a:endParaRPr>
          </a:p>
        </p:txBody>
      </p:sp>
      <p:graphicFrame>
        <p:nvGraphicFramePr>
          <p:cNvPr id="280" name="Google Shape;280;p28"/>
          <p:cNvGraphicFramePr/>
          <p:nvPr/>
        </p:nvGraphicFramePr>
        <p:xfrm>
          <a:off x="166875" y="2724388"/>
          <a:ext cx="3000000" cy="3000000"/>
        </p:xfrm>
        <a:graphic>
          <a:graphicData uri="http://schemas.openxmlformats.org/drawingml/2006/table">
            <a:tbl>
              <a:tblPr>
                <a:noFill/>
                <a:tableStyleId>{84A9007E-4112-45BC-9D73-1BCF8FDB95CB}</a:tableStyleId>
              </a:tblPr>
              <a:tblGrid>
                <a:gridCol w="1015650"/>
                <a:gridCol w="2757725"/>
                <a:gridCol w="3421075"/>
                <a:gridCol w="917650"/>
                <a:gridCol w="788800"/>
              </a:tblGrid>
              <a:tr h="246725">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Topic</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Tasks</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Mục tiêu</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Timeline</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PIC</a:t>
                      </a:r>
                      <a:endParaRPr b="1" sz="1000">
                        <a:solidFill>
                          <a:srgbClr val="FFFFFF"/>
                        </a:solidFill>
                        <a:latin typeface="Lexend"/>
                        <a:ea typeface="Lexend"/>
                        <a:cs typeface="Lexend"/>
                        <a:sym typeface="Lexend"/>
                      </a:endParaRPr>
                    </a:p>
                  </a:txBody>
                  <a:tcPr marT="45725" marB="45725" marR="45725" marL="45725">
                    <a:solidFill>
                      <a:srgbClr val="0E4174"/>
                    </a:solidFill>
                  </a:tcPr>
                </a:tc>
              </a:tr>
              <a:tr h="662100">
                <a:tc>
                  <a:txBody>
                    <a:bodyPr/>
                    <a:lstStyle/>
                    <a:p>
                      <a:pPr indent="0" lvl="0" marL="0" rtl="0" algn="ctr">
                        <a:spcBef>
                          <a:spcPts val="0"/>
                        </a:spcBef>
                        <a:spcAft>
                          <a:spcPts val="0"/>
                        </a:spcAft>
                        <a:buNone/>
                      </a:pPr>
                      <a:r>
                        <a:rPr lang="en" sz="1000">
                          <a:latin typeface="Lexend"/>
                          <a:ea typeface="Lexend"/>
                          <a:cs typeface="Lexend"/>
                          <a:sym typeface="Lexend"/>
                        </a:rPr>
                        <a:t>AHA Benefit</a:t>
                      </a:r>
                      <a:endParaRPr sz="1000">
                        <a:latin typeface="Lexend"/>
                        <a:ea typeface="Lexend"/>
                        <a:cs typeface="Lexend"/>
                        <a:sym typeface="Lexend"/>
                      </a:endParaRPr>
                    </a:p>
                  </a:txBody>
                  <a:tcPr marT="45725" marB="45725" marR="45725" marL="45725" anchor="ctr"/>
                </a:tc>
                <a:tc>
                  <a:txBody>
                    <a:bodyPr/>
                    <a:lstStyle/>
                    <a:p>
                      <a:pPr indent="0" lvl="0" marL="0" rtl="0" algn="l">
                        <a:spcBef>
                          <a:spcPts val="0"/>
                        </a:spcBef>
                        <a:spcAft>
                          <a:spcPts val="0"/>
                        </a:spcAft>
                        <a:buNone/>
                      </a:pPr>
                      <a:r>
                        <a:rPr lang="en" sz="1000">
                          <a:latin typeface="Lexend"/>
                          <a:ea typeface="Lexend"/>
                          <a:cs typeface="Lexend"/>
                          <a:sym typeface="Lexend"/>
                        </a:rPr>
                        <a:t>- Ưu tiên trao đổi với các partner có deal FREE trước</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Check và liên hệ các cate partner team SMEs</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Plan triển khai Bảo hiểm tai nạn tích lũy</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Xây dựng bộ Benefit với:</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&gt;3 categories</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Phân tầng benefits phù hợp với ranking txe</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30/9</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Vân/Thúy/Khoa</a:t>
                      </a:r>
                      <a:endParaRPr sz="1000">
                        <a:latin typeface="Lexend"/>
                        <a:ea typeface="Lexend"/>
                        <a:cs typeface="Lexend"/>
                        <a:sym typeface="Lexend"/>
                      </a:endParaRPr>
                    </a:p>
                  </a:txBody>
                  <a:tcPr marT="45725" marB="45725" marR="45725" marL="45725"/>
                </a:tc>
              </a:tr>
              <a:tr h="486975">
                <a:tc>
                  <a:txBody>
                    <a:bodyPr/>
                    <a:lstStyle/>
                    <a:p>
                      <a:pPr indent="0" lvl="0" marL="0" rtl="0" algn="ctr">
                        <a:spcBef>
                          <a:spcPts val="0"/>
                        </a:spcBef>
                        <a:spcAft>
                          <a:spcPts val="0"/>
                        </a:spcAft>
                        <a:buNone/>
                      </a:pPr>
                      <a:r>
                        <a:rPr lang="en" sz="1000">
                          <a:latin typeface="Lexend"/>
                          <a:ea typeface="Lexend"/>
                          <a:cs typeface="Lexend"/>
                          <a:sym typeface="Lexend"/>
                        </a:rPr>
                        <a:t>App event</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Trao đổi với team Prod để build các event mong muốn</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Follow timeline triển khai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Xây dựng bộ chỉ số đo lường truyền thông</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Phân tích điểm chạm của txe trên app</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30/9</a:t>
                      </a:r>
                      <a:endParaRPr sz="1000">
                        <a:solidFill>
                          <a:schemeClr val="dk1"/>
                        </a:solidFill>
                        <a:latin typeface="Lexend"/>
                        <a:ea typeface="Lexend"/>
                        <a:cs typeface="Lexend"/>
                        <a:sym typeface="Lexend"/>
                      </a:endParaRPr>
                    </a:p>
                    <a:p>
                      <a:pPr indent="0" lvl="0" marL="0" rtl="0" algn="ctr">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Khoa/Hoa</a:t>
                      </a:r>
                      <a:endParaRPr sz="1000">
                        <a:latin typeface="Lexend"/>
                        <a:ea typeface="Lexend"/>
                        <a:cs typeface="Lexend"/>
                        <a:sym typeface="Lexend"/>
                      </a:endParaRPr>
                    </a:p>
                  </a:txBody>
                  <a:tcPr marT="45725" marB="45725" marR="45725" marL="45725"/>
                </a:tc>
              </a:tr>
              <a:tr h="574700">
                <a:tc>
                  <a:txBody>
                    <a:bodyPr/>
                    <a:lstStyle/>
                    <a:p>
                      <a:pPr indent="0" lvl="0" marL="0" rtl="0" algn="ctr">
                        <a:spcBef>
                          <a:spcPts val="0"/>
                        </a:spcBef>
                        <a:spcAft>
                          <a:spcPts val="0"/>
                        </a:spcAft>
                        <a:buNone/>
                      </a:pPr>
                      <a:r>
                        <a:rPr lang="en" sz="1000">
                          <a:latin typeface="Lexend"/>
                          <a:ea typeface="Lexend"/>
                          <a:cs typeface="Lexend"/>
                          <a:sym typeface="Lexend"/>
                        </a:rPr>
                        <a:t>Event</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Hoạt động Trung thu và Đại hội vinh danh tài xế</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Triển khai hoạt động Trung thu online</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Hoàn thiện proposal &amp; bidding nhà tài trợ sk Đại hội vinh danh tài xế</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30/9</a:t>
                      </a:r>
                      <a:endParaRPr sz="1000">
                        <a:solidFill>
                          <a:schemeClr val="dk1"/>
                        </a:solidFill>
                        <a:latin typeface="Lexend"/>
                        <a:ea typeface="Lexend"/>
                        <a:cs typeface="Lexend"/>
                        <a:sym typeface="Lexend"/>
                      </a:endParaRPr>
                    </a:p>
                    <a:p>
                      <a:pPr indent="0" lvl="0" marL="0" rtl="0" algn="ctr">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Vân/Thúy</a:t>
                      </a:r>
                      <a:endParaRPr sz="1000">
                        <a:latin typeface="Lexend"/>
                        <a:ea typeface="Lexend"/>
                        <a:cs typeface="Lexend"/>
                        <a:sym typeface="Lexend"/>
                      </a:endParaRPr>
                    </a:p>
                  </a:txBody>
                  <a:tcPr marT="45725" marB="45725" marR="45725" marL="45725"/>
                </a:tc>
              </a:tr>
            </a:tbl>
          </a:graphicData>
        </a:graphic>
      </p:graphicFrame>
      <p:sp>
        <p:nvSpPr>
          <p:cNvPr id="281" name="Google Shape;281;p28"/>
          <p:cNvSpPr txBox="1"/>
          <p:nvPr/>
        </p:nvSpPr>
        <p:spPr>
          <a:xfrm>
            <a:off x="9713013" y="445988"/>
            <a:ext cx="7294200" cy="14934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Đánh giá tiến độ OKRs hiện tại (dạng bar progress như này)</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700"/>
          </a:p>
          <a:p>
            <a:pPr indent="0" lvl="0" marL="0" rtl="0" algn="l">
              <a:spcBef>
                <a:spcPts val="0"/>
              </a:spcBef>
              <a:spcAft>
                <a:spcPts val="0"/>
              </a:spcAft>
              <a:buNone/>
            </a:pPr>
            <a:r>
              <a:t/>
            </a:r>
            <a:endParaRPr sz="700"/>
          </a:p>
        </p:txBody>
      </p:sp>
      <p:pic>
        <p:nvPicPr>
          <p:cNvPr id="282" name="Google Shape;282;p28"/>
          <p:cNvPicPr preferRelativeResize="0"/>
          <p:nvPr/>
        </p:nvPicPr>
        <p:blipFill>
          <a:blip r:embed="rId3">
            <a:alphaModFix/>
          </a:blip>
          <a:stretch>
            <a:fillRect/>
          </a:stretch>
        </p:blipFill>
        <p:spPr>
          <a:xfrm>
            <a:off x="9725550" y="761594"/>
            <a:ext cx="1233687" cy="1233687"/>
          </a:xfrm>
          <a:prstGeom prst="rect">
            <a:avLst/>
          </a:prstGeom>
          <a:noFill/>
          <a:ln>
            <a:noFill/>
          </a:ln>
        </p:spPr>
      </p:pic>
      <p:sp>
        <p:nvSpPr>
          <p:cNvPr id="283" name="Google Shape;283;p28"/>
          <p:cNvSpPr txBox="1"/>
          <p:nvPr/>
        </p:nvSpPr>
        <p:spPr>
          <a:xfrm>
            <a:off x="9370838" y="2158388"/>
            <a:ext cx="4737600" cy="2583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Next actions triển khai T9 (ví dụ theo format bảng dưới đây)</a:t>
            </a:r>
            <a:endParaRPr sz="1000">
              <a:latin typeface="Times New Roman"/>
              <a:ea typeface="Times New Roman"/>
              <a:cs typeface="Times New Roman"/>
              <a:sym typeface="Times New Roman"/>
            </a:endParaRPr>
          </a:p>
        </p:txBody>
      </p:sp>
      <p:pic>
        <p:nvPicPr>
          <p:cNvPr id="284" name="Google Shape;284;p28"/>
          <p:cNvPicPr preferRelativeResize="0"/>
          <p:nvPr/>
        </p:nvPicPr>
        <p:blipFill>
          <a:blip r:embed="rId4">
            <a:alphaModFix/>
          </a:blip>
          <a:stretch>
            <a:fillRect/>
          </a:stretch>
        </p:blipFill>
        <p:spPr>
          <a:xfrm>
            <a:off x="7681713" y="76200"/>
            <a:ext cx="1386088" cy="1386088"/>
          </a:xfrm>
          <a:prstGeom prst="rect">
            <a:avLst/>
          </a:prstGeom>
          <a:noFill/>
          <a:ln>
            <a:noFill/>
          </a:ln>
        </p:spPr>
      </p:pic>
      <p:sp>
        <p:nvSpPr>
          <p:cNvPr id="285" name="Google Shape;285;p28"/>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757D86"/>
                </a:solidFill>
                <a:latin typeface="Times New Roman"/>
                <a:ea typeface="Times New Roman"/>
                <a:cs typeface="Times New Roman"/>
                <a:sym typeface="Times New Roman"/>
              </a:rPr>
              <a:t>Overview | Ops Growth | DM | </a:t>
            </a:r>
            <a:r>
              <a:rPr b="1" lang="en" sz="900">
                <a:solidFill>
                  <a:schemeClr val="dk1"/>
                </a:solidFill>
                <a:latin typeface="Times New Roman"/>
                <a:ea typeface="Times New Roman"/>
                <a:cs typeface="Times New Roman"/>
                <a:sym typeface="Times New Roman"/>
              </a:rPr>
              <a:t>DE</a:t>
            </a:r>
            <a:r>
              <a:rPr lang="en" sz="900">
                <a:solidFill>
                  <a:srgbClr val="757D86"/>
                </a:solidFill>
                <a:latin typeface="Times New Roman"/>
                <a:ea typeface="Times New Roman"/>
                <a:cs typeface="Times New Roman"/>
                <a:sym typeface="Times New Roman"/>
              </a:rPr>
              <a:t> | Minihub + EV | Innovation Project</a:t>
            </a:r>
            <a:endParaRPr sz="900">
              <a:solidFill>
                <a:srgbClr val="757D86"/>
              </a:solidFill>
              <a:latin typeface="Times New Roman"/>
              <a:ea typeface="Times New Roman"/>
              <a:cs typeface="Times New Roman"/>
              <a:sym typeface="Times New Roman"/>
            </a:endParaRPr>
          </a:p>
        </p:txBody>
      </p:sp>
      <p:sp>
        <p:nvSpPr>
          <p:cNvPr id="286" name="Google Shape;286;p28"/>
          <p:cNvSpPr/>
          <p:nvPr/>
        </p:nvSpPr>
        <p:spPr>
          <a:xfrm>
            <a:off x="155016" y="2460813"/>
            <a:ext cx="3657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4174"/>
              </a:buClr>
              <a:buSzPts val="1100"/>
              <a:buFont typeface="Calibri"/>
              <a:buNone/>
            </a:pPr>
            <a:r>
              <a:rPr b="1" lang="en" sz="1200">
                <a:solidFill>
                  <a:srgbClr val="0E4174"/>
                </a:solidFill>
                <a:latin typeface="Lexend"/>
                <a:ea typeface="Lexend"/>
                <a:cs typeface="Lexend"/>
                <a:sym typeface="Lexend"/>
              </a:rPr>
              <a:t>Next </a:t>
            </a:r>
            <a:r>
              <a:rPr b="1" i="0" lang="en" sz="1200" u="none" cap="none" strike="noStrike">
                <a:solidFill>
                  <a:srgbClr val="0E4174"/>
                </a:solidFill>
                <a:latin typeface="Lexend"/>
                <a:ea typeface="Lexend"/>
                <a:cs typeface="Lexend"/>
                <a:sym typeface="Lexend"/>
              </a:rPr>
              <a:t>Action</a:t>
            </a:r>
            <a:endParaRPr b="1" i="0" sz="1200" u="none" cap="none" strike="noStrike">
              <a:solidFill>
                <a:srgbClr val="000000"/>
              </a:solidFill>
              <a:latin typeface="Lexend"/>
              <a:ea typeface="Lexend"/>
              <a:cs typeface="Lexend"/>
              <a:sym typeface="Lexend"/>
            </a:endParaRPr>
          </a:p>
        </p:txBody>
      </p:sp>
      <p:sp>
        <p:nvSpPr>
          <p:cNvPr id="287" name="Google Shape;287;p28"/>
          <p:cNvSpPr/>
          <p:nvPr/>
        </p:nvSpPr>
        <p:spPr>
          <a:xfrm>
            <a:off x="212942" y="436499"/>
            <a:ext cx="5427600" cy="6318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288" name="Google Shape;288;p28"/>
          <p:cNvSpPr txBox="1"/>
          <p:nvPr/>
        </p:nvSpPr>
        <p:spPr>
          <a:xfrm>
            <a:off x="350422" y="487800"/>
            <a:ext cx="7332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500"/>
              <a:buFont typeface="Calibri"/>
              <a:buNone/>
            </a:pPr>
            <a:r>
              <a:rPr b="1" i="0" lang="en" sz="1000" u="none" cap="none" strike="noStrike">
                <a:solidFill>
                  <a:srgbClr val="1F4E78"/>
                </a:solidFill>
                <a:latin typeface="Lexend"/>
                <a:ea typeface="Lexend"/>
                <a:cs typeface="Lexend"/>
                <a:sym typeface="Lexend"/>
              </a:rPr>
              <a:t>KR 1.1</a:t>
            </a:r>
            <a:endParaRPr i="0" sz="1000" u="none" cap="none" strike="noStrike">
              <a:solidFill>
                <a:srgbClr val="000000"/>
              </a:solidFill>
              <a:latin typeface="Lexend"/>
              <a:ea typeface="Lexend"/>
              <a:cs typeface="Lexend"/>
              <a:sym typeface="Lexend"/>
            </a:endParaRPr>
          </a:p>
        </p:txBody>
      </p:sp>
      <p:sp>
        <p:nvSpPr>
          <p:cNvPr id="289" name="Google Shape;289;p28"/>
          <p:cNvSpPr txBox="1"/>
          <p:nvPr/>
        </p:nvSpPr>
        <p:spPr>
          <a:xfrm>
            <a:off x="825734" y="487801"/>
            <a:ext cx="29184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500"/>
              <a:buFont typeface="Calibri"/>
              <a:buNone/>
            </a:pPr>
            <a:r>
              <a:rPr b="1" i="0" lang="en" sz="1000" u="none" cap="none" strike="noStrike">
                <a:solidFill>
                  <a:srgbClr val="333333"/>
                </a:solidFill>
                <a:latin typeface="Lexend"/>
                <a:ea typeface="Lexend"/>
                <a:cs typeface="Lexend"/>
                <a:sym typeface="Lexend"/>
              </a:rPr>
              <a:t>Khai thác partner mới (Fleet/EV/Finance)</a:t>
            </a:r>
            <a:endParaRPr i="0" sz="1000" u="none" cap="none" strike="noStrike">
              <a:solidFill>
                <a:srgbClr val="000000"/>
              </a:solidFill>
              <a:latin typeface="Lexend"/>
              <a:ea typeface="Lexend"/>
              <a:cs typeface="Lexend"/>
              <a:sym typeface="Lexend"/>
            </a:endParaRPr>
          </a:p>
        </p:txBody>
      </p:sp>
      <p:sp>
        <p:nvSpPr>
          <p:cNvPr id="290" name="Google Shape;290;p28"/>
          <p:cNvSpPr/>
          <p:nvPr/>
        </p:nvSpPr>
        <p:spPr>
          <a:xfrm>
            <a:off x="4677613" y="487801"/>
            <a:ext cx="788100" cy="160500"/>
          </a:xfrm>
          <a:prstGeom prst="rect">
            <a:avLst/>
          </a:prstGeom>
          <a:solidFill>
            <a:srgbClr val="FFC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291" name="Google Shape;291;p28"/>
          <p:cNvSpPr txBox="1"/>
          <p:nvPr/>
        </p:nvSpPr>
        <p:spPr>
          <a:xfrm>
            <a:off x="4677613" y="487801"/>
            <a:ext cx="788100" cy="160500"/>
          </a:xfrm>
          <a:prstGeom prst="rect">
            <a:avLst/>
          </a:prstGeom>
          <a:solidFill>
            <a:srgbClr val="FF751F"/>
          </a:solid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FFFF"/>
              </a:buClr>
              <a:buSzPts val="500"/>
              <a:buFont typeface="Calibri"/>
              <a:buNone/>
            </a:pPr>
            <a:r>
              <a:rPr b="1" i="0" lang="en" sz="1000" u="none" cap="none" strike="noStrike">
                <a:solidFill>
                  <a:srgbClr val="FFFFFF"/>
                </a:solidFill>
                <a:latin typeface="Lexend"/>
                <a:ea typeface="Lexend"/>
                <a:cs typeface="Lexend"/>
                <a:sym typeface="Lexend"/>
              </a:rPr>
              <a:t>In process</a:t>
            </a:r>
            <a:endParaRPr i="0" sz="1000" u="none" cap="none" strike="noStrike">
              <a:solidFill>
                <a:srgbClr val="000000"/>
              </a:solidFill>
              <a:latin typeface="Lexend"/>
              <a:ea typeface="Lexend"/>
              <a:cs typeface="Lexend"/>
              <a:sym typeface="Lexend"/>
            </a:endParaRPr>
          </a:p>
        </p:txBody>
      </p:sp>
      <p:sp>
        <p:nvSpPr>
          <p:cNvPr id="292" name="Google Shape;292;p28"/>
          <p:cNvSpPr txBox="1"/>
          <p:nvPr/>
        </p:nvSpPr>
        <p:spPr>
          <a:xfrm>
            <a:off x="350422" y="680183"/>
            <a:ext cx="7794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666666"/>
              </a:buClr>
              <a:buSzPts val="400"/>
              <a:buFont typeface="Calibri"/>
              <a:buNone/>
            </a:pPr>
            <a:r>
              <a:rPr b="1" i="0" lang="en" sz="1000" u="none" cap="none" strike="noStrike">
                <a:solidFill>
                  <a:srgbClr val="666666"/>
                </a:solidFill>
                <a:latin typeface="Lexend"/>
                <a:ea typeface="Lexend"/>
                <a:cs typeface="Lexend"/>
                <a:sym typeface="Lexend"/>
              </a:rPr>
              <a:t>Mục tiêu:</a:t>
            </a:r>
            <a:endParaRPr i="0" sz="1000" u="none" cap="none" strike="noStrike">
              <a:solidFill>
                <a:srgbClr val="000000"/>
              </a:solidFill>
              <a:latin typeface="Lexend"/>
              <a:ea typeface="Lexend"/>
              <a:cs typeface="Lexend"/>
              <a:sym typeface="Lexend"/>
            </a:endParaRPr>
          </a:p>
        </p:txBody>
      </p:sp>
      <p:sp>
        <p:nvSpPr>
          <p:cNvPr id="293" name="Google Shape;293;p28"/>
          <p:cNvSpPr txBox="1"/>
          <p:nvPr/>
        </p:nvSpPr>
        <p:spPr>
          <a:xfrm>
            <a:off x="902274" y="680184"/>
            <a:ext cx="36186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400"/>
              <a:buFont typeface="Calibri"/>
              <a:buNone/>
            </a:pPr>
            <a:r>
              <a:rPr i="0" lang="en" sz="1000" u="none" cap="none" strike="noStrike">
                <a:solidFill>
                  <a:srgbClr val="333333"/>
                </a:solidFill>
                <a:latin typeface="Lexend"/>
                <a:ea typeface="Lexend"/>
                <a:cs typeface="Lexend"/>
                <a:sym typeface="Lexend"/>
              </a:rPr>
              <a:t>Ký kết tối thiểu 3 partner mới đủ 3 nhóm</a:t>
            </a:r>
            <a:endParaRPr i="0" sz="1000" u="none" cap="none" strike="noStrike">
              <a:solidFill>
                <a:srgbClr val="000000"/>
              </a:solidFill>
              <a:latin typeface="Lexend"/>
              <a:ea typeface="Lexend"/>
              <a:cs typeface="Lexend"/>
              <a:sym typeface="Lexend"/>
            </a:endParaRPr>
          </a:p>
        </p:txBody>
      </p:sp>
      <p:sp>
        <p:nvSpPr>
          <p:cNvPr id="294" name="Google Shape;294;p28"/>
          <p:cNvSpPr txBox="1"/>
          <p:nvPr/>
        </p:nvSpPr>
        <p:spPr>
          <a:xfrm>
            <a:off x="4677613" y="680184"/>
            <a:ext cx="788100" cy="1284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C000"/>
              </a:buClr>
              <a:buSzPts val="500"/>
              <a:buFont typeface="Calibri"/>
              <a:buNone/>
            </a:pPr>
            <a:r>
              <a:rPr b="1" i="0" lang="en" sz="1000" u="none" cap="none" strike="noStrike">
                <a:solidFill>
                  <a:srgbClr val="FF6B35"/>
                </a:solidFill>
                <a:latin typeface="Lexend"/>
                <a:ea typeface="Lexend"/>
                <a:cs typeface="Lexend"/>
                <a:sym typeface="Lexend"/>
              </a:rPr>
              <a:t>6</a:t>
            </a:r>
            <a:r>
              <a:rPr b="1" lang="en" sz="1000">
                <a:solidFill>
                  <a:srgbClr val="FF6B35"/>
                </a:solidFill>
                <a:latin typeface="Lexend"/>
                <a:ea typeface="Lexend"/>
                <a:cs typeface="Lexend"/>
                <a:sym typeface="Lexend"/>
              </a:rPr>
              <a:t>0</a:t>
            </a:r>
            <a:r>
              <a:rPr b="1" i="0" lang="en" sz="1000" u="none" cap="none" strike="noStrike">
                <a:solidFill>
                  <a:srgbClr val="FF6B35"/>
                </a:solidFill>
                <a:latin typeface="Lexend"/>
                <a:ea typeface="Lexend"/>
                <a:cs typeface="Lexend"/>
                <a:sym typeface="Lexend"/>
              </a:rPr>
              <a:t>%</a:t>
            </a:r>
            <a:endParaRPr i="0" sz="1000" u="none" cap="none" strike="noStrike">
              <a:solidFill>
                <a:srgbClr val="FF6B35"/>
              </a:solidFill>
              <a:latin typeface="Lexend"/>
              <a:ea typeface="Lexend"/>
              <a:cs typeface="Lexend"/>
              <a:sym typeface="Lexend"/>
            </a:endParaRPr>
          </a:p>
        </p:txBody>
      </p:sp>
      <p:sp>
        <p:nvSpPr>
          <p:cNvPr id="295" name="Google Shape;295;p28"/>
          <p:cNvSpPr/>
          <p:nvPr/>
        </p:nvSpPr>
        <p:spPr>
          <a:xfrm>
            <a:off x="300478" y="853328"/>
            <a:ext cx="4960500" cy="771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296" name="Google Shape;296;p28"/>
          <p:cNvSpPr/>
          <p:nvPr/>
        </p:nvSpPr>
        <p:spPr>
          <a:xfrm>
            <a:off x="300478" y="853328"/>
            <a:ext cx="3224400" cy="77100"/>
          </a:xfrm>
          <a:prstGeom prst="rect">
            <a:avLst/>
          </a:prstGeom>
          <a:solidFill>
            <a:srgbClr val="FF751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297" name="Google Shape;297;p28"/>
          <p:cNvSpPr/>
          <p:nvPr/>
        </p:nvSpPr>
        <p:spPr>
          <a:xfrm>
            <a:off x="212942" y="1128373"/>
            <a:ext cx="5427600" cy="6318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298" name="Google Shape;298;p28"/>
          <p:cNvSpPr txBox="1"/>
          <p:nvPr/>
        </p:nvSpPr>
        <p:spPr>
          <a:xfrm>
            <a:off x="350422" y="1179678"/>
            <a:ext cx="7332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500"/>
              <a:buFont typeface="Calibri"/>
              <a:buNone/>
            </a:pPr>
            <a:r>
              <a:rPr b="1" i="0" lang="en" sz="1000" u="none" cap="none" strike="noStrike">
                <a:solidFill>
                  <a:srgbClr val="1F4E78"/>
                </a:solidFill>
                <a:latin typeface="Lexend"/>
                <a:ea typeface="Lexend"/>
                <a:cs typeface="Lexend"/>
                <a:sym typeface="Lexend"/>
              </a:rPr>
              <a:t>KR 2.1</a:t>
            </a:r>
            <a:endParaRPr i="0" sz="1000" u="none" cap="none" strike="noStrike">
              <a:solidFill>
                <a:srgbClr val="000000"/>
              </a:solidFill>
              <a:latin typeface="Lexend"/>
              <a:ea typeface="Lexend"/>
              <a:cs typeface="Lexend"/>
              <a:sym typeface="Lexend"/>
            </a:endParaRPr>
          </a:p>
        </p:txBody>
      </p:sp>
      <p:sp>
        <p:nvSpPr>
          <p:cNvPr id="299" name="Google Shape;299;p28"/>
          <p:cNvSpPr txBox="1"/>
          <p:nvPr/>
        </p:nvSpPr>
        <p:spPr>
          <a:xfrm>
            <a:off x="825734" y="1179681"/>
            <a:ext cx="29184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500"/>
              <a:buFont typeface="Calibri"/>
              <a:buNone/>
            </a:pPr>
            <a:r>
              <a:rPr b="1" i="0" lang="en" sz="1000" u="none" cap="none" strike="noStrike">
                <a:solidFill>
                  <a:srgbClr val="333333"/>
                </a:solidFill>
                <a:latin typeface="Lexend"/>
                <a:ea typeface="Lexend"/>
                <a:cs typeface="Lexend"/>
                <a:sym typeface="Lexend"/>
              </a:rPr>
              <a:t>Tăng tỷ lệ redeem Ahabenefit</a:t>
            </a:r>
            <a:endParaRPr i="0" sz="1000" u="none" cap="none" strike="noStrike">
              <a:solidFill>
                <a:srgbClr val="000000"/>
              </a:solidFill>
              <a:latin typeface="Lexend"/>
              <a:ea typeface="Lexend"/>
              <a:cs typeface="Lexend"/>
              <a:sym typeface="Lexend"/>
            </a:endParaRPr>
          </a:p>
        </p:txBody>
      </p:sp>
      <p:sp>
        <p:nvSpPr>
          <p:cNvPr id="300" name="Google Shape;300;p28"/>
          <p:cNvSpPr/>
          <p:nvPr/>
        </p:nvSpPr>
        <p:spPr>
          <a:xfrm>
            <a:off x="4677613" y="1179681"/>
            <a:ext cx="788100" cy="160500"/>
          </a:xfrm>
          <a:prstGeom prst="rect">
            <a:avLst/>
          </a:prstGeom>
          <a:solidFill>
            <a:srgbClr val="C5504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01" name="Google Shape;301;p28"/>
          <p:cNvSpPr txBox="1"/>
          <p:nvPr/>
        </p:nvSpPr>
        <p:spPr>
          <a:xfrm>
            <a:off x="4677613" y="1179681"/>
            <a:ext cx="788100" cy="1605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FFFF"/>
              </a:buClr>
              <a:buSzPts val="500"/>
              <a:buFont typeface="Calibri"/>
              <a:buNone/>
            </a:pPr>
            <a:r>
              <a:rPr b="1" i="0" lang="en" sz="1000" u="none" cap="none" strike="noStrike">
                <a:solidFill>
                  <a:srgbClr val="FFFFFF"/>
                </a:solidFill>
                <a:latin typeface="Lexend"/>
                <a:ea typeface="Lexend"/>
                <a:cs typeface="Lexend"/>
                <a:sym typeface="Lexend"/>
              </a:rPr>
              <a:t>Not yet</a:t>
            </a:r>
            <a:endParaRPr i="0" sz="1000" u="none" cap="none" strike="noStrike">
              <a:solidFill>
                <a:srgbClr val="000000"/>
              </a:solidFill>
              <a:latin typeface="Lexend"/>
              <a:ea typeface="Lexend"/>
              <a:cs typeface="Lexend"/>
              <a:sym typeface="Lexend"/>
            </a:endParaRPr>
          </a:p>
        </p:txBody>
      </p:sp>
      <p:sp>
        <p:nvSpPr>
          <p:cNvPr id="302" name="Google Shape;302;p28"/>
          <p:cNvSpPr txBox="1"/>
          <p:nvPr/>
        </p:nvSpPr>
        <p:spPr>
          <a:xfrm>
            <a:off x="350422" y="1372060"/>
            <a:ext cx="7794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666666"/>
              </a:buClr>
              <a:buSzPts val="400"/>
              <a:buFont typeface="Calibri"/>
              <a:buNone/>
            </a:pPr>
            <a:r>
              <a:rPr b="1" i="0" lang="en" sz="1000" u="none" cap="none" strike="noStrike">
                <a:solidFill>
                  <a:srgbClr val="666666"/>
                </a:solidFill>
                <a:latin typeface="Lexend"/>
                <a:ea typeface="Lexend"/>
                <a:cs typeface="Lexend"/>
                <a:sym typeface="Lexend"/>
              </a:rPr>
              <a:t>Mục tiêu:</a:t>
            </a:r>
            <a:endParaRPr i="0" sz="1000" u="none" cap="none" strike="noStrike">
              <a:solidFill>
                <a:srgbClr val="000000"/>
              </a:solidFill>
              <a:latin typeface="Lexend"/>
              <a:ea typeface="Lexend"/>
              <a:cs typeface="Lexend"/>
              <a:sym typeface="Lexend"/>
            </a:endParaRPr>
          </a:p>
        </p:txBody>
      </p:sp>
      <p:sp>
        <p:nvSpPr>
          <p:cNvPr id="303" name="Google Shape;303;p28"/>
          <p:cNvSpPr txBox="1"/>
          <p:nvPr/>
        </p:nvSpPr>
        <p:spPr>
          <a:xfrm>
            <a:off x="902274" y="1372063"/>
            <a:ext cx="36186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400"/>
              <a:buFont typeface="Calibri"/>
              <a:buNone/>
            </a:pPr>
            <a:r>
              <a:rPr i="0" lang="en" sz="1000" u="none" cap="none" strike="noStrike">
                <a:solidFill>
                  <a:srgbClr val="333333"/>
                </a:solidFill>
                <a:latin typeface="Lexend"/>
                <a:ea typeface="Lexend"/>
                <a:cs typeface="Lexend"/>
                <a:sym typeface="Lexend"/>
              </a:rPr>
              <a:t>Tăng +10% QoQ, thúc đẩy convert PT→FT</a:t>
            </a:r>
            <a:endParaRPr i="0" sz="1000" u="none" cap="none" strike="noStrike">
              <a:solidFill>
                <a:srgbClr val="000000"/>
              </a:solidFill>
              <a:latin typeface="Lexend"/>
              <a:ea typeface="Lexend"/>
              <a:cs typeface="Lexend"/>
              <a:sym typeface="Lexend"/>
            </a:endParaRPr>
          </a:p>
        </p:txBody>
      </p:sp>
      <p:sp>
        <p:nvSpPr>
          <p:cNvPr id="304" name="Google Shape;304;p28"/>
          <p:cNvSpPr txBox="1"/>
          <p:nvPr/>
        </p:nvSpPr>
        <p:spPr>
          <a:xfrm>
            <a:off x="4677613" y="1372063"/>
            <a:ext cx="788100" cy="1284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C5504B"/>
              </a:buClr>
              <a:buSzPts val="500"/>
              <a:buFont typeface="Calibri"/>
              <a:buNone/>
            </a:pPr>
            <a:r>
              <a:rPr b="1" i="0" lang="en" sz="1000" u="none" cap="none" strike="noStrike">
                <a:solidFill>
                  <a:srgbClr val="C5504B"/>
                </a:solidFill>
                <a:latin typeface="Lexend"/>
                <a:ea typeface="Lexend"/>
                <a:cs typeface="Lexend"/>
                <a:sym typeface="Lexend"/>
              </a:rPr>
              <a:t>5%</a:t>
            </a:r>
            <a:endParaRPr i="0" sz="1000" u="none" cap="none" strike="noStrike">
              <a:solidFill>
                <a:srgbClr val="000000"/>
              </a:solidFill>
              <a:latin typeface="Lexend"/>
              <a:ea typeface="Lexend"/>
              <a:cs typeface="Lexend"/>
              <a:sym typeface="Lexend"/>
            </a:endParaRPr>
          </a:p>
        </p:txBody>
      </p:sp>
      <p:sp>
        <p:nvSpPr>
          <p:cNvPr id="305" name="Google Shape;305;p28"/>
          <p:cNvSpPr/>
          <p:nvPr/>
        </p:nvSpPr>
        <p:spPr>
          <a:xfrm>
            <a:off x="300478" y="1545208"/>
            <a:ext cx="4960500" cy="771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06" name="Google Shape;306;p28"/>
          <p:cNvSpPr/>
          <p:nvPr/>
        </p:nvSpPr>
        <p:spPr>
          <a:xfrm>
            <a:off x="296882" y="1545203"/>
            <a:ext cx="389700" cy="77100"/>
          </a:xfrm>
          <a:prstGeom prst="rect">
            <a:avLst/>
          </a:prstGeom>
          <a:solidFill>
            <a:srgbClr val="C5504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07" name="Google Shape;307;p28"/>
          <p:cNvSpPr/>
          <p:nvPr/>
        </p:nvSpPr>
        <p:spPr>
          <a:xfrm>
            <a:off x="212942" y="1820261"/>
            <a:ext cx="5427600" cy="6318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08" name="Google Shape;308;p28"/>
          <p:cNvSpPr txBox="1"/>
          <p:nvPr/>
        </p:nvSpPr>
        <p:spPr>
          <a:xfrm>
            <a:off x="350422" y="1871555"/>
            <a:ext cx="7332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500"/>
              <a:buFont typeface="Calibri"/>
              <a:buNone/>
            </a:pPr>
            <a:r>
              <a:rPr b="1" i="0" lang="en" sz="1000" u="none" cap="none" strike="noStrike">
                <a:solidFill>
                  <a:srgbClr val="1F4E78"/>
                </a:solidFill>
                <a:latin typeface="Lexend"/>
                <a:ea typeface="Lexend"/>
                <a:cs typeface="Lexend"/>
                <a:sym typeface="Lexend"/>
              </a:rPr>
              <a:t>KR 2.2</a:t>
            </a:r>
            <a:endParaRPr i="0" sz="1000" u="none" cap="none" strike="noStrike">
              <a:solidFill>
                <a:srgbClr val="000000"/>
              </a:solidFill>
              <a:latin typeface="Lexend"/>
              <a:ea typeface="Lexend"/>
              <a:cs typeface="Lexend"/>
              <a:sym typeface="Lexend"/>
            </a:endParaRPr>
          </a:p>
        </p:txBody>
      </p:sp>
      <p:sp>
        <p:nvSpPr>
          <p:cNvPr id="309" name="Google Shape;309;p28"/>
          <p:cNvSpPr txBox="1"/>
          <p:nvPr/>
        </p:nvSpPr>
        <p:spPr>
          <a:xfrm>
            <a:off x="825734" y="1871560"/>
            <a:ext cx="29184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500"/>
              <a:buFont typeface="Calibri"/>
              <a:buNone/>
            </a:pPr>
            <a:r>
              <a:rPr b="1" i="0" lang="en" sz="1000" u="none" cap="none" strike="noStrike">
                <a:solidFill>
                  <a:srgbClr val="333333"/>
                </a:solidFill>
                <a:latin typeface="Lexend"/>
                <a:ea typeface="Lexend"/>
                <a:cs typeface="Lexend"/>
                <a:sym typeface="Lexend"/>
              </a:rPr>
              <a:t>Design package Ahabenefit FT/PT</a:t>
            </a:r>
            <a:endParaRPr i="0" sz="1000" u="none" cap="none" strike="noStrike">
              <a:solidFill>
                <a:srgbClr val="000000"/>
              </a:solidFill>
              <a:latin typeface="Lexend"/>
              <a:ea typeface="Lexend"/>
              <a:cs typeface="Lexend"/>
              <a:sym typeface="Lexend"/>
            </a:endParaRPr>
          </a:p>
        </p:txBody>
      </p:sp>
      <p:sp>
        <p:nvSpPr>
          <p:cNvPr id="310" name="Google Shape;310;p28"/>
          <p:cNvSpPr/>
          <p:nvPr/>
        </p:nvSpPr>
        <p:spPr>
          <a:xfrm>
            <a:off x="4677613" y="1871560"/>
            <a:ext cx="788100" cy="160500"/>
          </a:xfrm>
          <a:prstGeom prst="rect">
            <a:avLst/>
          </a:prstGeom>
          <a:solidFill>
            <a:srgbClr val="FFC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11" name="Google Shape;311;p28"/>
          <p:cNvSpPr txBox="1"/>
          <p:nvPr/>
        </p:nvSpPr>
        <p:spPr>
          <a:xfrm>
            <a:off x="4677613" y="1871560"/>
            <a:ext cx="788100" cy="160500"/>
          </a:xfrm>
          <a:prstGeom prst="rect">
            <a:avLst/>
          </a:prstGeom>
          <a:solidFill>
            <a:srgbClr val="FF6B35"/>
          </a:solid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FFFF"/>
              </a:buClr>
              <a:buSzPts val="500"/>
              <a:buFont typeface="Calibri"/>
              <a:buNone/>
            </a:pPr>
            <a:r>
              <a:rPr b="1" i="0" lang="en" sz="1000" u="none" cap="none" strike="noStrike">
                <a:solidFill>
                  <a:srgbClr val="FFFFFF"/>
                </a:solidFill>
                <a:latin typeface="Lexend"/>
                <a:ea typeface="Lexend"/>
                <a:cs typeface="Lexend"/>
                <a:sym typeface="Lexend"/>
              </a:rPr>
              <a:t>In process</a:t>
            </a:r>
            <a:endParaRPr i="0" sz="1000" u="none" cap="none" strike="noStrike">
              <a:solidFill>
                <a:srgbClr val="000000"/>
              </a:solidFill>
              <a:latin typeface="Lexend"/>
              <a:ea typeface="Lexend"/>
              <a:cs typeface="Lexend"/>
              <a:sym typeface="Lexend"/>
            </a:endParaRPr>
          </a:p>
        </p:txBody>
      </p:sp>
      <p:sp>
        <p:nvSpPr>
          <p:cNvPr id="312" name="Google Shape;312;p28"/>
          <p:cNvSpPr txBox="1"/>
          <p:nvPr/>
        </p:nvSpPr>
        <p:spPr>
          <a:xfrm>
            <a:off x="350422" y="2063937"/>
            <a:ext cx="7794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666666"/>
              </a:buClr>
              <a:buSzPts val="400"/>
              <a:buFont typeface="Calibri"/>
              <a:buNone/>
            </a:pPr>
            <a:r>
              <a:rPr b="1" i="0" lang="en" sz="1000" u="none" cap="none" strike="noStrike">
                <a:solidFill>
                  <a:srgbClr val="666666"/>
                </a:solidFill>
                <a:latin typeface="Lexend"/>
                <a:ea typeface="Lexend"/>
                <a:cs typeface="Lexend"/>
                <a:sym typeface="Lexend"/>
              </a:rPr>
              <a:t>Mục tiêu:</a:t>
            </a:r>
            <a:endParaRPr i="0" sz="1000" u="none" cap="none" strike="noStrike">
              <a:solidFill>
                <a:srgbClr val="000000"/>
              </a:solidFill>
              <a:latin typeface="Lexend"/>
              <a:ea typeface="Lexend"/>
              <a:cs typeface="Lexend"/>
              <a:sym typeface="Lexend"/>
            </a:endParaRPr>
          </a:p>
        </p:txBody>
      </p:sp>
      <p:sp>
        <p:nvSpPr>
          <p:cNvPr id="313" name="Google Shape;313;p28"/>
          <p:cNvSpPr txBox="1"/>
          <p:nvPr/>
        </p:nvSpPr>
        <p:spPr>
          <a:xfrm>
            <a:off x="902274" y="2063943"/>
            <a:ext cx="36186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400"/>
              <a:buFont typeface="Calibri"/>
              <a:buNone/>
            </a:pPr>
            <a:r>
              <a:rPr i="0" lang="en" sz="1000" u="none" cap="none" strike="noStrike">
                <a:solidFill>
                  <a:srgbClr val="333333"/>
                </a:solidFill>
                <a:latin typeface="Lexend"/>
                <a:ea typeface="Lexend"/>
                <a:cs typeface="Lexend"/>
                <a:sym typeface="Lexend"/>
              </a:rPr>
              <a:t>Phân tầng quyền lợi theo nhóm tài xế</a:t>
            </a:r>
            <a:endParaRPr i="0" sz="1000" u="none" cap="none" strike="noStrike">
              <a:solidFill>
                <a:srgbClr val="000000"/>
              </a:solidFill>
              <a:latin typeface="Lexend"/>
              <a:ea typeface="Lexend"/>
              <a:cs typeface="Lexend"/>
              <a:sym typeface="Lexend"/>
            </a:endParaRPr>
          </a:p>
        </p:txBody>
      </p:sp>
      <p:sp>
        <p:nvSpPr>
          <p:cNvPr id="314" name="Google Shape;314;p28"/>
          <p:cNvSpPr txBox="1"/>
          <p:nvPr/>
        </p:nvSpPr>
        <p:spPr>
          <a:xfrm>
            <a:off x="4677613" y="2063943"/>
            <a:ext cx="788100" cy="1284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C000"/>
              </a:buClr>
              <a:buSzPts val="500"/>
              <a:buFont typeface="Calibri"/>
              <a:buNone/>
            </a:pPr>
            <a:r>
              <a:rPr b="1" lang="en" sz="1000">
                <a:solidFill>
                  <a:srgbClr val="FF6B35"/>
                </a:solidFill>
                <a:latin typeface="Lexend"/>
                <a:ea typeface="Lexend"/>
                <a:cs typeface="Lexend"/>
                <a:sym typeface="Lexend"/>
              </a:rPr>
              <a:t>4</a:t>
            </a:r>
            <a:r>
              <a:rPr b="1" i="0" lang="en" sz="1000" u="none" cap="none" strike="noStrike">
                <a:solidFill>
                  <a:srgbClr val="FF6B35"/>
                </a:solidFill>
                <a:latin typeface="Lexend"/>
                <a:ea typeface="Lexend"/>
                <a:cs typeface="Lexend"/>
                <a:sym typeface="Lexend"/>
              </a:rPr>
              <a:t>0%</a:t>
            </a:r>
            <a:endParaRPr i="0" sz="1000" u="none" cap="none" strike="noStrike">
              <a:solidFill>
                <a:srgbClr val="FF6B35"/>
              </a:solidFill>
              <a:latin typeface="Lexend"/>
              <a:ea typeface="Lexend"/>
              <a:cs typeface="Lexend"/>
              <a:sym typeface="Lexend"/>
            </a:endParaRPr>
          </a:p>
        </p:txBody>
      </p:sp>
      <p:sp>
        <p:nvSpPr>
          <p:cNvPr id="315" name="Google Shape;315;p28"/>
          <p:cNvSpPr/>
          <p:nvPr/>
        </p:nvSpPr>
        <p:spPr>
          <a:xfrm>
            <a:off x="300478" y="2237088"/>
            <a:ext cx="4960500" cy="771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16" name="Google Shape;316;p28"/>
          <p:cNvSpPr/>
          <p:nvPr/>
        </p:nvSpPr>
        <p:spPr>
          <a:xfrm>
            <a:off x="300475" y="2237088"/>
            <a:ext cx="1840800" cy="77100"/>
          </a:xfrm>
          <a:prstGeom prst="rect">
            <a:avLst/>
          </a:prstGeom>
          <a:solidFill>
            <a:srgbClr val="FF6D0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17" name="Google Shape;317;p28"/>
          <p:cNvSpPr txBox="1"/>
          <p:nvPr/>
        </p:nvSpPr>
        <p:spPr>
          <a:xfrm>
            <a:off x="166864" y="137160"/>
            <a:ext cx="4114800" cy="2058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1400"/>
              <a:buFont typeface="Calibri"/>
              <a:buNone/>
            </a:pPr>
            <a:r>
              <a:rPr b="1" i="0" lang="en" sz="1400" u="none" cap="none" strike="noStrike">
                <a:solidFill>
                  <a:srgbClr val="1F4E78"/>
                </a:solidFill>
                <a:latin typeface="Lexend"/>
                <a:ea typeface="Lexend"/>
                <a:cs typeface="Lexend"/>
                <a:sym typeface="Lexend"/>
              </a:rPr>
              <a:t>OKR Tracking — Tháng 8</a:t>
            </a:r>
            <a:endParaRPr i="0" sz="1400" u="none" cap="none" strike="noStrike">
              <a:solidFill>
                <a:srgbClr val="000000"/>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29"/>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pic>
        <p:nvPicPr>
          <p:cNvPr id="324" name="Google Shape;324;p29"/>
          <p:cNvPicPr preferRelativeResize="0"/>
          <p:nvPr/>
        </p:nvPicPr>
        <p:blipFill>
          <a:blip r:embed="rId3">
            <a:alphaModFix/>
          </a:blip>
          <a:stretch>
            <a:fillRect/>
          </a:stretch>
        </p:blipFill>
        <p:spPr>
          <a:xfrm>
            <a:off x="8332814" y="86074"/>
            <a:ext cx="694301" cy="694301"/>
          </a:xfrm>
          <a:prstGeom prst="rect">
            <a:avLst/>
          </a:prstGeom>
          <a:noFill/>
          <a:ln>
            <a:noFill/>
          </a:ln>
        </p:spPr>
      </p:pic>
      <p:sp>
        <p:nvSpPr>
          <p:cNvPr id="325" name="Google Shape;325;p29"/>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757D86"/>
                </a:solidFill>
                <a:latin typeface="Times New Roman"/>
                <a:ea typeface="Times New Roman"/>
                <a:cs typeface="Times New Roman"/>
                <a:sym typeface="Times New Roman"/>
              </a:rPr>
              <a:t>Overview | Ops Growth | DM | </a:t>
            </a:r>
            <a:r>
              <a:rPr b="1" lang="en" sz="900">
                <a:solidFill>
                  <a:schemeClr val="dk1"/>
                </a:solidFill>
                <a:latin typeface="Times New Roman"/>
                <a:ea typeface="Times New Roman"/>
                <a:cs typeface="Times New Roman"/>
                <a:sym typeface="Times New Roman"/>
              </a:rPr>
              <a:t>DE</a:t>
            </a:r>
            <a:r>
              <a:rPr lang="en" sz="900">
                <a:solidFill>
                  <a:srgbClr val="757D86"/>
                </a:solidFill>
                <a:latin typeface="Times New Roman"/>
                <a:ea typeface="Times New Roman"/>
                <a:cs typeface="Times New Roman"/>
                <a:sym typeface="Times New Roman"/>
              </a:rPr>
              <a:t> | Minihub + EV | Innovation Project</a:t>
            </a:r>
            <a:endParaRPr sz="900">
              <a:solidFill>
                <a:srgbClr val="757D86"/>
              </a:solidFill>
              <a:latin typeface="Times New Roman"/>
              <a:ea typeface="Times New Roman"/>
              <a:cs typeface="Times New Roman"/>
              <a:sym typeface="Times New Roman"/>
            </a:endParaRPr>
          </a:p>
        </p:txBody>
      </p:sp>
      <p:graphicFrame>
        <p:nvGraphicFramePr>
          <p:cNvPr id="326" name="Google Shape;326;p29"/>
          <p:cNvGraphicFramePr/>
          <p:nvPr/>
        </p:nvGraphicFramePr>
        <p:xfrm>
          <a:off x="188031" y="942608"/>
          <a:ext cx="3000000" cy="3000000"/>
        </p:xfrm>
        <a:graphic>
          <a:graphicData uri="http://schemas.openxmlformats.org/drawingml/2006/table">
            <a:tbl>
              <a:tblPr>
                <a:noFill/>
                <a:tableStyleId>{84A9007E-4112-45BC-9D73-1BCF8FDB95CB}</a:tableStyleId>
              </a:tblPr>
              <a:tblGrid>
                <a:gridCol w="975725"/>
                <a:gridCol w="2849900"/>
                <a:gridCol w="2384425"/>
                <a:gridCol w="2387525"/>
              </a:tblGrid>
              <a:tr h="270425">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Tần suất</a:t>
                      </a:r>
                      <a:endParaRPr b="1" sz="1000">
                        <a:solidFill>
                          <a:srgbClr val="FFFFFF"/>
                        </a:solidFill>
                        <a:latin typeface="Lexend"/>
                        <a:ea typeface="Lexend"/>
                        <a:cs typeface="Lexend"/>
                        <a:sym typeface="Lexend"/>
                      </a:endParaRPr>
                    </a:p>
                  </a:txBody>
                  <a:tcPr marT="45725" marB="45725" marR="45725" marL="45725" anchor="ctr">
                    <a:lnL cap="flat" cmpd="sng" w="4775">
                      <a:solidFill>
                        <a:srgbClr val="00467F"/>
                      </a:solidFill>
                      <a:prstDash val="solid"/>
                      <a:round/>
                      <a:headEnd len="sm" w="sm" type="none"/>
                      <a:tailEnd len="sm" w="sm" type="none"/>
                    </a:lnL>
                    <a:lnR cap="flat" cmpd="sng" w="4775">
                      <a:solidFill>
                        <a:srgbClr val="00467F"/>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Cao</a:t>
                      </a:r>
                      <a:endParaRPr b="1" sz="1000">
                        <a:solidFill>
                          <a:srgbClr val="FFFFFF"/>
                        </a:solidFill>
                        <a:latin typeface="Lexend"/>
                        <a:ea typeface="Lexend"/>
                        <a:cs typeface="Lexend"/>
                        <a:sym typeface="Lexend"/>
                      </a:endParaRPr>
                    </a:p>
                  </a:txBody>
                  <a:tcPr marT="45725" marB="45725" marR="45725" marL="45725" anchor="ctr">
                    <a:lnL cap="flat" cmpd="sng" w="4775">
                      <a:solidFill>
                        <a:srgbClr val="00467F"/>
                      </a:solidFill>
                      <a:prstDash val="solid"/>
                      <a:round/>
                      <a:headEnd len="sm" w="sm" type="none"/>
                      <a:tailEnd len="sm" w="sm" type="none"/>
                    </a:lnL>
                    <a:lnR cap="flat" cmpd="sng" w="4775">
                      <a:solidFill>
                        <a:srgbClr val="00467F"/>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Trung bình</a:t>
                      </a:r>
                      <a:endParaRPr b="1" sz="1000">
                        <a:solidFill>
                          <a:srgbClr val="FFFFFF"/>
                        </a:solidFill>
                        <a:latin typeface="Lexend"/>
                        <a:ea typeface="Lexend"/>
                        <a:cs typeface="Lexend"/>
                        <a:sym typeface="Lexend"/>
                      </a:endParaRPr>
                    </a:p>
                  </a:txBody>
                  <a:tcPr marT="45725" marB="45725" marR="45725" marL="45725" anchor="ctr">
                    <a:lnL cap="flat" cmpd="sng" w="4775">
                      <a:solidFill>
                        <a:srgbClr val="00467F"/>
                      </a:solidFill>
                      <a:prstDash val="solid"/>
                      <a:round/>
                      <a:headEnd len="sm" w="sm" type="none"/>
                      <a:tailEnd len="sm" w="sm" type="none"/>
                    </a:lnL>
                    <a:lnR cap="flat" cmpd="sng" w="4775">
                      <a:solidFill>
                        <a:srgbClr val="00467F"/>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solidFill>
                      <a:srgbClr val="FF751F"/>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Thấp</a:t>
                      </a:r>
                      <a:endParaRPr b="1" sz="1000">
                        <a:solidFill>
                          <a:srgbClr val="FFFFFF"/>
                        </a:solidFill>
                        <a:latin typeface="Lexend"/>
                        <a:ea typeface="Lexend"/>
                        <a:cs typeface="Lexend"/>
                        <a:sym typeface="Lexend"/>
                      </a:endParaRPr>
                    </a:p>
                  </a:txBody>
                  <a:tcPr marT="45725" marB="45725" marR="45725" marL="45725" anchor="ctr">
                    <a:lnL cap="flat" cmpd="sng" w="4775">
                      <a:solidFill>
                        <a:srgbClr val="00467F"/>
                      </a:solidFill>
                      <a:prstDash val="solid"/>
                      <a:round/>
                      <a:headEnd len="sm" w="sm" type="none"/>
                      <a:tailEnd len="sm" w="sm" type="none"/>
                    </a:lnL>
                    <a:lnR cap="flat" cmpd="sng" w="4775">
                      <a:solidFill>
                        <a:srgbClr val="00467F"/>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solidFill>
                      <a:srgbClr val="FF751F"/>
                    </a:solidFill>
                  </a:tcPr>
                </a:tc>
              </a:tr>
              <a:tr h="1477900">
                <a:tc>
                  <a:txBody>
                    <a:bodyPr/>
                    <a:lstStyle/>
                    <a:p>
                      <a:pPr indent="0" lvl="0" marL="0" rtl="0" algn="ctr">
                        <a:spcBef>
                          <a:spcPts val="0"/>
                        </a:spcBef>
                        <a:spcAft>
                          <a:spcPts val="0"/>
                        </a:spcAft>
                        <a:buNone/>
                      </a:pPr>
                      <a:r>
                        <a:rPr b="1" lang="en" sz="1000">
                          <a:solidFill>
                            <a:schemeClr val="dk1"/>
                          </a:solidFill>
                          <a:latin typeface="Lexend"/>
                          <a:ea typeface="Lexend"/>
                          <a:cs typeface="Lexend"/>
                          <a:sym typeface="Lexend"/>
                        </a:rPr>
                        <a:t>Đã tiếp nhận</a:t>
                      </a:r>
                      <a:endParaRPr b="1" sz="1000">
                        <a:solidFill>
                          <a:schemeClr val="dk1"/>
                        </a:solidFill>
                        <a:latin typeface="Lexend"/>
                        <a:ea typeface="Lexend"/>
                        <a:cs typeface="Lexend"/>
                        <a:sym typeface="Lexend"/>
                      </a:endParaRPr>
                    </a:p>
                  </a:txBody>
                  <a:tcPr marT="45725" marB="45725" marR="45725" marL="45725" anchor="ctr">
                    <a:lnL cap="flat" cmpd="sng" w="4775">
                      <a:solidFill>
                        <a:srgbClr val="9E9E9E"/>
                      </a:solidFill>
                      <a:prstDash val="solid"/>
                      <a:round/>
                      <a:headEnd len="sm" w="sm" type="none"/>
                      <a:tailEnd len="sm" w="sm" type="none"/>
                    </a:lnL>
                    <a:lnR cap="flat" cmpd="sng" w="4775">
                      <a:solidFill>
                        <a:srgbClr val="00467F"/>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solidFill>
                      <a:srgbClr val="E2E8F0"/>
                    </a:solidFill>
                  </a:tcPr>
                </a:tc>
                <a:tc>
                  <a:txBody>
                    <a:bodyPr/>
                    <a:lstStyle/>
                    <a:p>
                      <a:pPr indent="-88900" lvl="0" marL="203200" marR="139700" rtl="0" algn="just">
                        <a:lnSpc>
                          <a:spcPct val="115000"/>
                        </a:lnSpc>
                        <a:spcBef>
                          <a:spcPts val="0"/>
                        </a:spcBef>
                        <a:spcAft>
                          <a:spcPts val="0"/>
                        </a:spcAft>
                        <a:buClr>
                          <a:schemeClr val="dk1"/>
                        </a:buClr>
                        <a:buSzPts val="1000"/>
                        <a:buFont typeface="Lexend"/>
                        <a:buChar char="●"/>
                      </a:pPr>
                      <a:r>
                        <a:rPr lang="en" sz="1000">
                          <a:solidFill>
                            <a:schemeClr val="dk1"/>
                          </a:solidFill>
                          <a:latin typeface="Lexend"/>
                          <a:ea typeface="Lexend"/>
                          <a:cs typeface="Lexend"/>
                          <a:sym typeface="Lexend"/>
                        </a:rPr>
                        <a:t>Từ ngày 17/8, </a:t>
                      </a:r>
                      <a:r>
                        <a:rPr b="1" lang="en" sz="1000">
                          <a:solidFill>
                            <a:schemeClr val="dk1"/>
                          </a:solidFill>
                          <a:latin typeface="Lexend"/>
                          <a:ea typeface="Lexend"/>
                          <a:cs typeface="Lexend"/>
                          <a:sym typeface="Lexend"/>
                        </a:rPr>
                        <a:t>update luồng sanction not_update</a:t>
                      </a:r>
                      <a:r>
                        <a:rPr lang="en" sz="1000">
                          <a:solidFill>
                            <a:schemeClr val="dk1"/>
                          </a:solidFill>
                          <a:latin typeface="Lexend"/>
                          <a:ea typeface="Lexend"/>
                          <a:cs typeface="Lexend"/>
                          <a:sym typeface="Lexend"/>
                        </a:rPr>
                        <a:t>, rất nhiều tài xế bị khóa tài khoản do kill app bỏ trôi đơn hàng</a:t>
                      </a:r>
                      <a:endParaRPr sz="1000">
                        <a:solidFill>
                          <a:schemeClr val="dk1"/>
                        </a:solidFill>
                        <a:latin typeface="Lexend"/>
                        <a:ea typeface="Lexend"/>
                        <a:cs typeface="Lexend"/>
                        <a:sym typeface="Lexend"/>
                      </a:endParaRPr>
                    </a:p>
                    <a:p>
                      <a:pPr indent="-88900" lvl="0" marL="203200" marR="139700" rtl="0" algn="just">
                        <a:lnSpc>
                          <a:spcPct val="115000"/>
                        </a:lnSpc>
                        <a:spcBef>
                          <a:spcPts val="0"/>
                        </a:spcBef>
                        <a:spcAft>
                          <a:spcPts val="0"/>
                        </a:spcAft>
                        <a:buClr>
                          <a:schemeClr val="dk1"/>
                        </a:buClr>
                        <a:buSzPts val="1000"/>
                        <a:buFont typeface="Lexend"/>
                        <a:buChar char="●"/>
                      </a:pPr>
                      <a:r>
                        <a:rPr lang="en" sz="1000">
                          <a:solidFill>
                            <a:schemeClr val="dk1"/>
                          </a:solidFill>
                          <a:latin typeface="Lexend"/>
                          <a:ea typeface="Lexend"/>
                          <a:cs typeface="Lexend"/>
                          <a:sym typeface="Lexend"/>
                        </a:rPr>
                        <a:t>Từ ngày 25/8, áp dụng </a:t>
                      </a:r>
                      <a:r>
                        <a:rPr b="1" lang="en" sz="1000">
                          <a:solidFill>
                            <a:schemeClr val="dk1"/>
                          </a:solidFill>
                          <a:latin typeface="Lexend"/>
                          <a:ea typeface="Lexend"/>
                          <a:cs typeface="Lexend"/>
                          <a:sym typeface="Lexend"/>
                        </a:rPr>
                        <a:t>chế tài khóa tài khoản khi treo đơn &gt;5h</a:t>
                      </a:r>
                      <a:r>
                        <a:rPr lang="en" sz="1000">
                          <a:solidFill>
                            <a:schemeClr val="dk1"/>
                          </a:solidFill>
                          <a:latin typeface="Lexend"/>
                          <a:ea typeface="Lexend"/>
                          <a:cs typeface="Lexend"/>
                          <a:sym typeface="Lexend"/>
                        </a:rPr>
                        <a:t>, nhiều tài xế bị khóa tk, chat với tổng đài không được mở khóa</a:t>
                      </a:r>
                      <a:endParaRPr sz="1000">
                        <a:solidFill>
                          <a:schemeClr val="dk1"/>
                        </a:solidFill>
                        <a:latin typeface="Lexend"/>
                        <a:ea typeface="Lexend"/>
                        <a:cs typeface="Lexend"/>
                        <a:sym typeface="Lexend"/>
                      </a:endParaRPr>
                    </a:p>
                  </a:txBody>
                  <a:tcPr marT="45725" marB="45725" marR="45725" marL="45725">
                    <a:lnL cap="flat" cmpd="sng" w="4775">
                      <a:solidFill>
                        <a:srgbClr val="00467F"/>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tcPr>
                </a:tc>
                <a:tc>
                  <a:txBody>
                    <a:bodyPr/>
                    <a:lstStyle/>
                    <a:p>
                      <a:pPr indent="-88900" lvl="0" marL="2032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Tự động bật dịch vụ 2h-4h cho nhóm tài xế:</a:t>
                      </a:r>
                      <a:r>
                        <a:rPr lang="en" sz="1000">
                          <a:solidFill>
                            <a:schemeClr val="dk1"/>
                          </a:solidFill>
                          <a:latin typeface="Lexend"/>
                          <a:ea typeface="Lexend"/>
                          <a:cs typeface="Lexend"/>
                          <a:sym typeface="Lexend"/>
                        </a:rPr>
                        <a:t> Tài xế khá gay gắt, liên hệ tổng đài thắc mắc, bức xúc đăng bài trên các hội nhóm</a:t>
                      </a:r>
                      <a:endParaRPr sz="1000">
                        <a:solidFill>
                          <a:schemeClr val="dk1"/>
                        </a:solidFill>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tcPr>
                </a:tc>
                <a:tc>
                  <a:txBody>
                    <a:bodyPr/>
                    <a:lstStyle/>
                    <a:p>
                      <a:pPr indent="-101600" lvl="0" marL="1778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suspend REC</a:t>
                      </a:r>
                      <a:r>
                        <a:rPr lang="en" sz="1000">
                          <a:solidFill>
                            <a:schemeClr val="dk1"/>
                          </a:solidFill>
                          <a:latin typeface="Lexend"/>
                          <a:ea typeface="Lexend"/>
                          <a:cs typeface="Lexend"/>
                          <a:sym typeface="Lexend"/>
                        </a:rPr>
                        <a:t>, đã hoàn thành số đơn theo yêu cầu nhưng vẫn bị khóa</a:t>
                      </a:r>
                      <a:endParaRPr sz="1000">
                        <a:solidFill>
                          <a:schemeClr val="dk1"/>
                        </a:solidFill>
                        <a:latin typeface="Lexend"/>
                        <a:ea typeface="Lexend"/>
                        <a:cs typeface="Lexend"/>
                        <a:sym typeface="Lexend"/>
                      </a:endParaRPr>
                    </a:p>
                    <a:p>
                      <a:pPr indent="-101600" lvl="0" marL="1778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thanh toán COD</a:t>
                      </a:r>
                      <a:r>
                        <a:rPr lang="en" sz="1000">
                          <a:solidFill>
                            <a:schemeClr val="dk1"/>
                          </a:solidFill>
                          <a:latin typeface="Lexend"/>
                          <a:ea typeface="Lexend"/>
                          <a:cs typeface="Lexend"/>
                          <a:sym typeface="Lexend"/>
                        </a:rPr>
                        <a:t> chưa được ghi nhận</a:t>
                      </a:r>
                      <a:endParaRPr sz="1000">
                        <a:solidFill>
                          <a:schemeClr val="dk1"/>
                        </a:solidFill>
                        <a:latin typeface="Lexend"/>
                        <a:ea typeface="Lexend"/>
                        <a:cs typeface="Lexend"/>
                        <a:sym typeface="Lexend"/>
                      </a:endParaRPr>
                    </a:p>
                    <a:p>
                      <a:pPr indent="-101600" lvl="0" marL="1778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không xác thực</a:t>
                      </a:r>
                      <a:r>
                        <a:rPr lang="en" sz="1000">
                          <a:solidFill>
                            <a:schemeClr val="dk1"/>
                          </a:solidFill>
                          <a:latin typeface="Lexend"/>
                          <a:ea typeface="Lexend"/>
                          <a:cs typeface="Lexend"/>
                          <a:sym typeface="Lexend"/>
                        </a:rPr>
                        <a:t> được đồng phục, chụp POD</a:t>
                      </a:r>
                      <a:endParaRPr sz="1000">
                        <a:solidFill>
                          <a:schemeClr val="dk1"/>
                        </a:solidFill>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00467F"/>
                      </a:solidFill>
                      <a:prstDash val="solid"/>
                      <a:round/>
                      <a:headEnd len="sm" w="sm" type="none"/>
                      <a:tailEnd len="sm" w="sm" type="none"/>
                    </a:lnB>
                  </a:tcPr>
                </a:tc>
              </a:tr>
              <a:tr h="1880375">
                <a:tc>
                  <a:txBody>
                    <a:bodyPr/>
                    <a:lstStyle/>
                    <a:p>
                      <a:pPr indent="0" lvl="0" marL="0" marR="0" rtl="0" algn="ctr">
                        <a:spcBef>
                          <a:spcPts val="0"/>
                        </a:spcBef>
                        <a:spcAft>
                          <a:spcPts val="0"/>
                        </a:spcAft>
                        <a:buNone/>
                      </a:pPr>
                      <a:r>
                        <a:rPr b="1" lang="en" sz="1000">
                          <a:solidFill>
                            <a:schemeClr val="dk1"/>
                          </a:solidFill>
                          <a:latin typeface="Lexend"/>
                          <a:ea typeface="Lexend"/>
                          <a:cs typeface="Lexend"/>
                          <a:sym typeface="Lexend"/>
                        </a:rPr>
                        <a:t>Đã xử lý</a:t>
                      </a:r>
                      <a:endParaRPr b="1" sz="1000">
                        <a:solidFill>
                          <a:schemeClr val="dk1"/>
                        </a:solidFill>
                        <a:latin typeface="Lexend"/>
                        <a:ea typeface="Lexend"/>
                        <a:cs typeface="Lexend"/>
                        <a:sym typeface="Lexend"/>
                      </a:endParaRPr>
                    </a:p>
                  </a:txBody>
                  <a:tcPr marT="45725" marB="45725" marR="45725" marL="45725" anchor="ctr">
                    <a:lnL cap="flat" cmpd="sng" w="4775">
                      <a:solidFill>
                        <a:srgbClr val="9E9E9E"/>
                      </a:solidFill>
                      <a:prstDash val="solid"/>
                      <a:round/>
                      <a:headEnd len="sm" w="sm" type="none"/>
                      <a:tailEnd len="sm" w="sm" type="none"/>
                    </a:lnL>
                    <a:lnR cap="flat" cmpd="sng" w="4775">
                      <a:solidFill>
                        <a:srgbClr val="00467F"/>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9E9E9E"/>
                      </a:solidFill>
                      <a:prstDash val="solid"/>
                      <a:round/>
                      <a:headEnd len="sm" w="sm" type="none"/>
                      <a:tailEnd len="sm" w="sm" type="none"/>
                    </a:lnB>
                    <a:solidFill>
                      <a:srgbClr val="E2E8F0"/>
                    </a:solidFill>
                  </a:tcPr>
                </a:tc>
                <a:tc>
                  <a:txBody>
                    <a:bodyPr/>
                    <a:lstStyle/>
                    <a:p>
                      <a:pPr indent="-88900" lvl="0" marL="203200" marR="1651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Tài xế phản ứng tiêu cực về rule thời gian giao hàng mới: </a:t>
                      </a:r>
                      <a:r>
                        <a:rPr lang="en" sz="1000">
                          <a:solidFill>
                            <a:schemeClr val="dk1"/>
                          </a:solidFill>
                          <a:latin typeface="Lexend"/>
                          <a:ea typeface="Lexend"/>
                          <a:cs typeface="Lexend"/>
                          <a:sym typeface="Lexend"/>
                        </a:rPr>
                        <a:t>Tx cho rằng time chờ khách soạn hàng, kẹt xe cũng bị tính vào leadtime và chế tài là không hợp lý, react tiêu cực trên social + đòi đình công </a:t>
                      </a:r>
                      <a:endParaRPr sz="1000">
                        <a:solidFill>
                          <a:schemeClr val="dk1"/>
                        </a:solidFill>
                        <a:latin typeface="Lexend"/>
                        <a:ea typeface="Lexend"/>
                        <a:cs typeface="Lexend"/>
                        <a:sym typeface="Lexend"/>
                      </a:endParaRPr>
                    </a:p>
                    <a:p>
                      <a:pPr indent="-25400" lvl="0" marL="203200" marR="165100" rtl="0" algn="just">
                        <a:lnSpc>
                          <a:spcPct val="115000"/>
                        </a:lnSpc>
                        <a:spcBef>
                          <a:spcPts val="0"/>
                        </a:spcBef>
                        <a:spcAft>
                          <a:spcPts val="0"/>
                        </a:spcAft>
                        <a:buNone/>
                      </a:pPr>
                      <a:r>
                        <a:rPr lang="en" sz="1000">
                          <a:solidFill>
                            <a:srgbClr val="0E4174"/>
                          </a:solidFill>
                          <a:latin typeface="Lexend"/>
                          <a:ea typeface="Lexend"/>
                          <a:cs typeface="Lexend"/>
                          <a:sym typeface="Lexend"/>
                        </a:rPr>
                        <a:t>➡️ Đã tạm thời bỏ cảnh báo thời gian lấy/giao trên đơn hàng</a:t>
                      </a:r>
                      <a:endParaRPr sz="1000">
                        <a:solidFill>
                          <a:srgbClr val="0E4174"/>
                        </a:solidFill>
                        <a:latin typeface="Lexend"/>
                        <a:ea typeface="Lexend"/>
                        <a:cs typeface="Lexend"/>
                        <a:sym typeface="Lexend"/>
                      </a:endParaRPr>
                    </a:p>
                  </a:txBody>
                  <a:tcPr marT="45725" marB="45725" marR="45725" marL="45725">
                    <a:lnL cap="flat" cmpd="sng" w="4775">
                      <a:solidFill>
                        <a:srgbClr val="00467F"/>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88900" lvl="0" marL="2032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định vị</a:t>
                      </a:r>
                      <a:r>
                        <a:rPr lang="en" sz="1000">
                          <a:solidFill>
                            <a:schemeClr val="dk1"/>
                          </a:solidFill>
                          <a:latin typeface="Lexend"/>
                          <a:ea typeface="Lexend"/>
                          <a:cs typeface="Lexend"/>
                          <a:sym typeface="Lexend"/>
                        </a:rPr>
                        <a:t>, REC đơn cách xa vị trí của tài xế</a:t>
                      </a:r>
                      <a:endParaRPr sz="1000">
                        <a:solidFill>
                          <a:schemeClr val="dk1"/>
                        </a:solidFill>
                        <a:latin typeface="Lexend"/>
                        <a:ea typeface="Lexend"/>
                        <a:cs typeface="Lexend"/>
                        <a:sym typeface="Lexend"/>
                      </a:endParaRPr>
                    </a:p>
                    <a:p>
                      <a:pPr indent="-88900" lvl="0" marL="2032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Tài xế bị truy thu đồng phục sai</a:t>
                      </a:r>
                      <a:r>
                        <a:rPr lang="en" sz="1000">
                          <a:solidFill>
                            <a:schemeClr val="dk1"/>
                          </a:solidFill>
                          <a:latin typeface="Lexend"/>
                          <a:ea typeface="Lexend"/>
                          <a:cs typeface="Lexend"/>
                          <a:sym typeface="Lexend"/>
                        </a:rPr>
                        <a:t>: Bị truy thu mặc dù đã mặc đầy đủ, xảy ra với luồng xác thực ngày 6/8</a:t>
                      </a:r>
                      <a:endParaRPr sz="1000">
                        <a:solidFill>
                          <a:schemeClr val="dk1"/>
                        </a:solidFill>
                        <a:latin typeface="Lexend"/>
                        <a:ea typeface="Lexend"/>
                        <a:cs typeface="Lexend"/>
                        <a:sym typeface="Lexend"/>
                      </a:endParaRPr>
                    </a:p>
                    <a:p>
                      <a:pPr indent="-88900" lvl="0" marL="2032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luồng chi tiền/rút tiền</a:t>
                      </a:r>
                      <a:r>
                        <a:rPr lang="en" sz="1000">
                          <a:solidFill>
                            <a:schemeClr val="dk1"/>
                          </a:solidFill>
                          <a:latin typeface="Lexend"/>
                          <a:ea typeface="Lexend"/>
                          <a:cs typeface="Lexend"/>
                          <a:sym typeface="Lexend"/>
                        </a:rPr>
                        <a:t> 3 lần trong tháng: 20/8, 27/8 và 31/8 </a:t>
                      </a:r>
                      <a:endParaRPr sz="1000">
                        <a:solidFill>
                          <a:schemeClr val="dk1"/>
                        </a:solidFill>
                        <a:latin typeface="Lexend"/>
                        <a:ea typeface="Lexend"/>
                        <a:cs typeface="Lexend"/>
                        <a:sym typeface="Lexend"/>
                      </a:endParaRPr>
                    </a:p>
                    <a:p>
                      <a:pPr indent="0" lvl="0" marL="203200" marR="88900" rtl="0" algn="just">
                        <a:lnSpc>
                          <a:spcPct val="115000"/>
                        </a:lnSpc>
                        <a:spcBef>
                          <a:spcPts val="0"/>
                        </a:spcBef>
                        <a:spcAft>
                          <a:spcPts val="0"/>
                        </a:spcAft>
                        <a:buNone/>
                      </a:pPr>
                      <a:r>
                        <a:rPr lang="en" sz="1000">
                          <a:solidFill>
                            <a:schemeClr val="dk1"/>
                          </a:solidFill>
                          <a:latin typeface="Lexend"/>
                          <a:ea typeface="Lexend"/>
                          <a:cs typeface="Lexend"/>
                          <a:sym typeface="Lexend"/>
                        </a:rPr>
                        <a:t>➡️</a:t>
                      </a:r>
                      <a:r>
                        <a:rPr lang="en" sz="1000">
                          <a:solidFill>
                            <a:srgbClr val="0E4174"/>
                          </a:solidFill>
                          <a:latin typeface="Lexend"/>
                          <a:ea typeface="Lexend"/>
                          <a:cs typeface="Lexend"/>
                          <a:sym typeface="Lexend"/>
                        </a:rPr>
                        <a:t> Team đã noti timeline mới/ mở Momo để hỗ trợ rút tiền</a:t>
                      </a:r>
                      <a:endParaRPr sz="1000">
                        <a:solidFill>
                          <a:srgbClr val="0E4174"/>
                        </a:solidFill>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9E9E9E"/>
                      </a:solidFill>
                      <a:prstDash val="solid"/>
                      <a:round/>
                      <a:headEnd len="sm" w="sm" type="none"/>
                      <a:tailEnd len="sm" w="sm" type="none"/>
                    </a:lnB>
                  </a:tcPr>
                </a:tc>
                <a:tc>
                  <a:txBody>
                    <a:bodyPr/>
                    <a:lstStyle/>
                    <a:p>
                      <a:pPr indent="-101600" lvl="0" marL="1778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thưởng xe điện</a:t>
                      </a:r>
                      <a:r>
                        <a:rPr lang="en" sz="1000">
                          <a:solidFill>
                            <a:schemeClr val="dk1"/>
                          </a:solidFill>
                          <a:latin typeface="Lexend"/>
                          <a:ea typeface="Lexend"/>
                          <a:cs typeface="Lexend"/>
                          <a:sym typeface="Lexend"/>
                        </a:rPr>
                        <a:t>, tài xế bấm vào thưởng bị trắng thông tin</a:t>
                      </a:r>
                      <a:endParaRPr sz="1000">
                        <a:solidFill>
                          <a:schemeClr val="dk1"/>
                        </a:solidFill>
                        <a:latin typeface="Lexend"/>
                        <a:ea typeface="Lexend"/>
                        <a:cs typeface="Lexend"/>
                        <a:sym typeface="Lexend"/>
                      </a:endParaRPr>
                    </a:p>
                    <a:p>
                      <a:pPr indent="-101600" lvl="0" marL="1778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Lỗi CTT baga,</a:t>
                      </a:r>
                      <a:r>
                        <a:rPr lang="en" sz="1000">
                          <a:solidFill>
                            <a:schemeClr val="dk1"/>
                          </a:solidFill>
                          <a:latin typeface="Lexend"/>
                          <a:ea typeface="Lexend"/>
                          <a:cs typeface="Lexend"/>
                          <a:sym typeface="Lexend"/>
                        </a:rPr>
                        <a:t> tài xế có chạy đơn đủ điều kiện nhưng không được tính</a:t>
                      </a:r>
                      <a:endParaRPr sz="1000">
                        <a:solidFill>
                          <a:schemeClr val="dk1"/>
                        </a:solidFill>
                        <a:latin typeface="Lexend"/>
                        <a:ea typeface="Lexend"/>
                        <a:cs typeface="Lexend"/>
                        <a:sym typeface="Lexend"/>
                      </a:endParaRPr>
                    </a:p>
                    <a:p>
                      <a:pPr indent="-101600" lvl="0" marL="177800" marR="88900" rtl="0" algn="just">
                        <a:lnSpc>
                          <a:spcPct val="115000"/>
                        </a:lnSpc>
                        <a:spcBef>
                          <a:spcPts val="0"/>
                        </a:spcBef>
                        <a:spcAft>
                          <a:spcPts val="0"/>
                        </a:spcAft>
                        <a:buClr>
                          <a:schemeClr val="dk1"/>
                        </a:buClr>
                        <a:buSzPts val="1000"/>
                        <a:buFont typeface="Lexend"/>
                        <a:buChar char="●"/>
                      </a:pPr>
                      <a:r>
                        <a:rPr b="1" lang="en" sz="1000">
                          <a:solidFill>
                            <a:schemeClr val="dk1"/>
                          </a:solidFill>
                          <a:latin typeface="Lexend"/>
                          <a:ea typeface="Lexend"/>
                          <a:cs typeface="Lexend"/>
                          <a:sym typeface="Lexend"/>
                        </a:rPr>
                        <a:t>Sđt người nhận bị ẩn</a:t>
                      </a:r>
                      <a:r>
                        <a:rPr lang="en" sz="1000">
                          <a:solidFill>
                            <a:schemeClr val="dk1"/>
                          </a:solidFill>
                          <a:latin typeface="Lexend"/>
                          <a:ea typeface="Lexend"/>
                          <a:cs typeface="Lexend"/>
                          <a:sym typeface="Lexend"/>
                        </a:rPr>
                        <a:t> đối với đơn hàng GHN Bulky</a:t>
                      </a:r>
                      <a:endParaRPr sz="1000">
                        <a:solidFill>
                          <a:schemeClr val="dk1"/>
                        </a:solidFill>
                        <a:latin typeface="Lexend"/>
                        <a:ea typeface="Lexend"/>
                        <a:cs typeface="Lexend"/>
                        <a:sym typeface="Lexend"/>
                      </a:endParaRPr>
                    </a:p>
                    <a:p>
                      <a:pPr indent="-101600" lvl="0" marL="177800" marR="88900" rtl="0" algn="just">
                        <a:lnSpc>
                          <a:spcPct val="115000"/>
                        </a:lnSpc>
                        <a:spcBef>
                          <a:spcPts val="0"/>
                        </a:spcBef>
                        <a:spcAft>
                          <a:spcPts val="0"/>
                        </a:spcAft>
                        <a:buClr>
                          <a:schemeClr val="dk1"/>
                        </a:buClr>
                        <a:buSzPts val="1000"/>
                        <a:buFont typeface="Lexend"/>
                        <a:buChar char="●"/>
                      </a:pPr>
                      <a:r>
                        <a:rPr lang="en" sz="1000">
                          <a:solidFill>
                            <a:schemeClr val="dk1"/>
                          </a:solidFill>
                          <a:latin typeface="Lexend"/>
                          <a:ea typeface="Lexend"/>
                          <a:cs typeface="Lexend"/>
                          <a:sym typeface="Lexend"/>
                        </a:rPr>
                        <a:t>Ngày 14/8 xảy ra tình trạng </a:t>
                      </a:r>
                      <a:r>
                        <a:rPr b="1" lang="en" sz="1000">
                          <a:solidFill>
                            <a:schemeClr val="dk1"/>
                          </a:solidFill>
                          <a:latin typeface="Lexend"/>
                          <a:ea typeface="Lexend"/>
                          <a:cs typeface="Lexend"/>
                          <a:sym typeface="Lexend"/>
                        </a:rPr>
                        <a:t>tài xế không login được vào app</a:t>
                      </a:r>
                      <a:endParaRPr sz="1000">
                        <a:solidFill>
                          <a:schemeClr val="dk1"/>
                        </a:solidFill>
                        <a:latin typeface="Lexend"/>
                        <a:ea typeface="Lexend"/>
                        <a:cs typeface="Lexend"/>
                        <a:sym typeface="Lexend"/>
                      </a:endParaRPr>
                    </a:p>
                  </a:txBody>
                  <a:tcPr marT="45725" marB="45725" marR="45725" marL="45725">
                    <a:lnL cap="flat" cmpd="sng" w="4775">
                      <a:solidFill>
                        <a:srgbClr val="9E9E9E"/>
                      </a:solidFill>
                      <a:prstDash val="solid"/>
                      <a:round/>
                      <a:headEnd len="sm" w="sm" type="none"/>
                      <a:tailEnd len="sm" w="sm" type="none"/>
                    </a:lnL>
                    <a:lnR cap="flat" cmpd="sng" w="4775">
                      <a:solidFill>
                        <a:srgbClr val="9E9E9E"/>
                      </a:solidFill>
                      <a:prstDash val="solid"/>
                      <a:round/>
                      <a:headEnd len="sm" w="sm" type="none"/>
                      <a:tailEnd len="sm" w="sm" type="none"/>
                    </a:lnR>
                    <a:lnT cap="flat" cmpd="sng" w="4775">
                      <a:solidFill>
                        <a:srgbClr val="00467F"/>
                      </a:solidFill>
                      <a:prstDash val="solid"/>
                      <a:round/>
                      <a:headEnd len="sm" w="sm" type="none"/>
                      <a:tailEnd len="sm" w="sm" type="none"/>
                    </a:lnT>
                    <a:lnB cap="flat" cmpd="sng" w="4775">
                      <a:solidFill>
                        <a:srgbClr val="9E9E9E"/>
                      </a:solidFill>
                      <a:prstDash val="solid"/>
                      <a:round/>
                      <a:headEnd len="sm" w="sm" type="none"/>
                      <a:tailEnd len="sm" w="sm" type="none"/>
                    </a:lnB>
                  </a:tcPr>
                </a:tc>
              </a:tr>
            </a:tbl>
          </a:graphicData>
        </a:graphic>
      </p:graphicFrame>
      <p:cxnSp>
        <p:nvCxnSpPr>
          <p:cNvPr id="327" name="Google Shape;327;p29"/>
          <p:cNvCxnSpPr/>
          <p:nvPr/>
        </p:nvCxnSpPr>
        <p:spPr>
          <a:xfrm>
            <a:off x="181957" y="712805"/>
            <a:ext cx="8039700" cy="0"/>
          </a:xfrm>
          <a:prstGeom prst="straightConnector1">
            <a:avLst/>
          </a:prstGeom>
          <a:noFill/>
          <a:ln cap="flat" cmpd="sng" w="9525">
            <a:solidFill>
              <a:srgbClr val="C8C8C8"/>
            </a:solidFill>
            <a:prstDash val="solid"/>
            <a:round/>
            <a:headEnd len="med" w="med" type="none"/>
            <a:tailEnd len="med" w="med" type="none"/>
          </a:ln>
        </p:spPr>
      </p:cxnSp>
      <p:sp>
        <p:nvSpPr>
          <p:cNvPr id="328" name="Google Shape;328;p29"/>
          <p:cNvSpPr txBox="1"/>
          <p:nvPr/>
        </p:nvSpPr>
        <p:spPr>
          <a:xfrm>
            <a:off x="317057" y="114328"/>
            <a:ext cx="8088600" cy="519900"/>
          </a:xfrm>
          <a:prstGeom prst="rect">
            <a:avLst/>
          </a:prstGeom>
          <a:noFill/>
          <a:ln>
            <a:noFill/>
          </a:ln>
        </p:spPr>
        <p:txBody>
          <a:bodyPr anchorCtr="0" anchor="t" bIns="39925" lIns="39925" spcFirstLastPara="1" rIns="39925" wrap="square" tIns="39925">
            <a:noAutofit/>
          </a:bodyPr>
          <a:lstStyle/>
          <a:p>
            <a:pPr indent="0" lvl="0" marL="0" rtl="0" algn="l">
              <a:lnSpc>
                <a:spcPct val="115000"/>
              </a:lnSpc>
              <a:spcBef>
                <a:spcPts val="0"/>
              </a:spcBef>
              <a:spcAft>
                <a:spcPts val="0"/>
              </a:spcAft>
              <a:buNone/>
            </a:pPr>
            <a:r>
              <a:rPr b="1" lang="en" sz="1200">
                <a:solidFill>
                  <a:srgbClr val="0E4174"/>
                </a:solidFill>
                <a:latin typeface="Lexend"/>
                <a:ea typeface="Lexend"/>
                <a:cs typeface="Lexend"/>
                <a:sym typeface="Lexend"/>
              </a:rPr>
              <a:t>DRIVER’S VOICE: </a:t>
            </a:r>
            <a:endParaRPr b="1" sz="1200">
              <a:solidFill>
                <a:srgbClr val="0E4174"/>
              </a:solidFill>
              <a:latin typeface="Lexend"/>
              <a:ea typeface="Lexend"/>
              <a:cs typeface="Lexend"/>
              <a:sym typeface="Lexend"/>
            </a:endParaRPr>
          </a:p>
          <a:p>
            <a:pPr indent="0" lvl="0" marL="0" rtl="0" algn="l">
              <a:lnSpc>
                <a:spcPct val="115000"/>
              </a:lnSpc>
              <a:spcBef>
                <a:spcPts val="0"/>
              </a:spcBef>
              <a:spcAft>
                <a:spcPts val="0"/>
              </a:spcAft>
              <a:buNone/>
            </a:pPr>
            <a:r>
              <a:rPr lang="en" sz="1200">
                <a:solidFill>
                  <a:srgbClr val="0E4174"/>
                </a:solidFill>
                <a:latin typeface="Lexend"/>
                <a:ea typeface="Lexend"/>
                <a:cs typeface="Lexend"/>
                <a:sym typeface="Lexend"/>
              </a:rPr>
              <a:t>Làn sóng bức xúc leo thang do các chế tài vận hành mới và sự cố kỹ thuật hệ thống  </a:t>
            </a:r>
            <a:endParaRPr sz="1200">
              <a:solidFill>
                <a:srgbClr val="00467F"/>
              </a:solidFill>
              <a:latin typeface="Lexend"/>
              <a:ea typeface="Lexend"/>
              <a:cs typeface="Lexend"/>
              <a:sym typeface="Lexend"/>
            </a:endParaRPr>
          </a:p>
        </p:txBody>
      </p:sp>
      <p:sp>
        <p:nvSpPr>
          <p:cNvPr id="329" name="Google Shape;329;p29"/>
          <p:cNvSpPr/>
          <p:nvPr/>
        </p:nvSpPr>
        <p:spPr>
          <a:xfrm>
            <a:off x="181957" y="141825"/>
            <a:ext cx="84600" cy="424800"/>
          </a:xfrm>
          <a:prstGeom prst="rect">
            <a:avLst/>
          </a:prstGeom>
          <a:solidFill>
            <a:srgbClr val="FF751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30"/>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graphicFrame>
        <p:nvGraphicFramePr>
          <p:cNvPr id="336" name="Google Shape;336;p30"/>
          <p:cNvGraphicFramePr/>
          <p:nvPr/>
        </p:nvGraphicFramePr>
        <p:xfrm>
          <a:off x="133350" y="2800588"/>
          <a:ext cx="3000000" cy="3000000"/>
        </p:xfrm>
        <a:graphic>
          <a:graphicData uri="http://schemas.openxmlformats.org/drawingml/2006/table">
            <a:tbl>
              <a:tblPr>
                <a:noFill/>
                <a:tableStyleId>{84A9007E-4112-45BC-9D73-1BCF8FDB95CB}</a:tableStyleId>
              </a:tblPr>
              <a:tblGrid>
                <a:gridCol w="1169300"/>
                <a:gridCol w="3045650"/>
                <a:gridCol w="2989200"/>
                <a:gridCol w="917600"/>
                <a:gridCol w="736475"/>
              </a:tblGrid>
              <a:tr h="246725">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Topic</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Tasks</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Mục tiêu</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Timeline</a:t>
                      </a:r>
                      <a:endParaRPr b="1" sz="1000">
                        <a:solidFill>
                          <a:srgbClr val="FFFFFF"/>
                        </a:solidFill>
                        <a:latin typeface="Lexend"/>
                        <a:ea typeface="Lexend"/>
                        <a:cs typeface="Lexend"/>
                        <a:sym typeface="Lexend"/>
                      </a:endParaRPr>
                    </a:p>
                  </a:txBody>
                  <a:tcPr marT="45725" marB="45725" marR="45725" marL="45725">
                    <a:solidFill>
                      <a:srgbClr val="0E4174"/>
                    </a:solidFill>
                  </a:tcPr>
                </a:tc>
                <a:tc>
                  <a:txBody>
                    <a:bodyPr/>
                    <a:lstStyle/>
                    <a:p>
                      <a:pPr indent="0" lvl="0" marL="0" rtl="0" algn="ctr">
                        <a:spcBef>
                          <a:spcPts val="0"/>
                        </a:spcBef>
                        <a:spcAft>
                          <a:spcPts val="0"/>
                        </a:spcAft>
                        <a:buNone/>
                      </a:pPr>
                      <a:r>
                        <a:rPr b="1" lang="en" sz="1000">
                          <a:solidFill>
                            <a:srgbClr val="FFFFFF"/>
                          </a:solidFill>
                          <a:latin typeface="Lexend"/>
                          <a:ea typeface="Lexend"/>
                          <a:cs typeface="Lexend"/>
                          <a:sym typeface="Lexend"/>
                        </a:rPr>
                        <a:t>PIC</a:t>
                      </a:r>
                      <a:endParaRPr b="1" sz="1000">
                        <a:solidFill>
                          <a:srgbClr val="FFFFFF"/>
                        </a:solidFill>
                        <a:latin typeface="Lexend"/>
                        <a:ea typeface="Lexend"/>
                        <a:cs typeface="Lexend"/>
                        <a:sym typeface="Lexend"/>
                      </a:endParaRPr>
                    </a:p>
                  </a:txBody>
                  <a:tcPr marT="45725" marB="45725" marR="45725" marL="45725">
                    <a:solidFill>
                      <a:srgbClr val="0E4174"/>
                    </a:solidFill>
                  </a:tcPr>
                </a:tc>
              </a:tr>
              <a:tr h="662100">
                <a:tc>
                  <a:txBody>
                    <a:bodyPr/>
                    <a:lstStyle/>
                    <a:p>
                      <a:pPr indent="0" lvl="0" marL="0" rtl="0" algn="ctr">
                        <a:spcBef>
                          <a:spcPts val="0"/>
                        </a:spcBef>
                        <a:spcAft>
                          <a:spcPts val="0"/>
                        </a:spcAft>
                        <a:buNone/>
                      </a:pPr>
                      <a:r>
                        <a:rPr lang="en" sz="1000">
                          <a:latin typeface="Lexend"/>
                          <a:ea typeface="Lexend"/>
                          <a:cs typeface="Lexend"/>
                          <a:sym typeface="Lexend"/>
                        </a:rPr>
                        <a:t>AHA Benefit</a:t>
                      </a:r>
                      <a:endParaRPr sz="1000">
                        <a:latin typeface="Lexend"/>
                        <a:ea typeface="Lexend"/>
                        <a:cs typeface="Lexend"/>
                        <a:sym typeface="Lexend"/>
                      </a:endParaRPr>
                    </a:p>
                  </a:txBody>
                  <a:tcPr marT="45725" marB="45725" marR="45725" marL="45725" anchor="ctr"/>
                </a:tc>
                <a:tc>
                  <a:txBody>
                    <a:bodyPr/>
                    <a:lstStyle/>
                    <a:p>
                      <a:pPr indent="0" lvl="0" marL="0" rtl="0" algn="l">
                        <a:spcBef>
                          <a:spcPts val="0"/>
                        </a:spcBef>
                        <a:spcAft>
                          <a:spcPts val="0"/>
                        </a:spcAft>
                        <a:buNone/>
                      </a:pPr>
                      <a:r>
                        <a:rPr lang="en" sz="1000">
                          <a:latin typeface="Lexend"/>
                          <a:ea typeface="Lexend"/>
                          <a:cs typeface="Lexend"/>
                          <a:sym typeface="Lexend"/>
                        </a:rPr>
                        <a:t>- Ưu tiên trao đổi với các partner có deal FREE trước</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Check và liên hệ các cate partner team SMEs</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Plan triển khai Bảo hiểm tai nạn tích lũy</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Xây dựng bộ Benefit với:</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&gt;3 categories</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Phân tầng benefits phù hợp với ranking txe</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30/9</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Vân/Thúy/Khoa</a:t>
                      </a:r>
                      <a:endParaRPr sz="1000">
                        <a:latin typeface="Lexend"/>
                        <a:ea typeface="Lexend"/>
                        <a:cs typeface="Lexend"/>
                        <a:sym typeface="Lexend"/>
                      </a:endParaRPr>
                    </a:p>
                  </a:txBody>
                  <a:tcPr marT="45725" marB="45725" marR="45725" marL="45725"/>
                </a:tc>
              </a:tr>
              <a:tr h="486975">
                <a:tc>
                  <a:txBody>
                    <a:bodyPr/>
                    <a:lstStyle/>
                    <a:p>
                      <a:pPr indent="0" lvl="0" marL="0" rtl="0" algn="ctr">
                        <a:spcBef>
                          <a:spcPts val="0"/>
                        </a:spcBef>
                        <a:spcAft>
                          <a:spcPts val="0"/>
                        </a:spcAft>
                        <a:buNone/>
                      </a:pPr>
                      <a:r>
                        <a:rPr lang="en" sz="1000">
                          <a:latin typeface="Lexend"/>
                          <a:ea typeface="Lexend"/>
                          <a:cs typeface="Lexend"/>
                          <a:sym typeface="Lexend"/>
                        </a:rPr>
                        <a:t>App event</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Trao đổi với team Prod để build các event mong muốn</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Follow timeline triển khai</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Xây dựng bộ chỉ số đo lường truyền thông</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Phân tích điểm chạm của txe trên app</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30/9</a:t>
                      </a:r>
                      <a:endParaRPr sz="1000">
                        <a:solidFill>
                          <a:schemeClr val="dk1"/>
                        </a:solidFill>
                        <a:latin typeface="Lexend"/>
                        <a:ea typeface="Lexend"/>
                        <a:cs typeface="Lexend"/>
                        <a:sym typeface="Lexend"/>
                      </a:endParaRPr>
                    </a:p>
                    <a:p>
                      <a:pPr indent="0" lvl="0" marL="0" rtl="0" algn="ctr">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Khoa/</a:t>
                      </a:r>
                      <a:endParaRPr sz="1000">
                        <a:latin typeface="Lexend"/>
                        <a:ea typeface="Lexend"/>
                        <a:cs typeface="Lexend"/>
                        <a:sym typeface="Lexend"/>
                      </a:endParaRPr>
                    </a:p>
                    <a:p>
                      <a:pPr indent="0" lvl="0" marL="0" rtl="0" algn="ctr">
                        <a:spcBef>
                          <a:spcPts val="0"/>
                        </a:spcBef>
                        <a:spcAft>
                          <a:spcPts val="0"/>
                        </a:spcAft>
                        <a:buNone/>
                      </a:pPr>
                      <a:r>
                        <a:rPr lang="en" sz="1000">
                          <a:latin typeface="Lexend"/>
                          <a:ea typeface="Lexend"/>
                          <a:cs typeface="Lexend"/>
                          <a:sym typeface="Lexend"/>
                        </a:rPr>
                        <a:t>Hoa</a:t>
                      </a:r>
                      <a:endParaRPr sz="1000">
                        <a:latin typeface="Lexend"/>
                        <a:ea typeface="Lexend"/>
                        <a:cs typeface="Lexend"/>
                        <a:sym typeface="Lexend"/>
                      </a:endParaRPr>
                    </a:p>
                  </a:txBody>
                  <a:tcPr marT="45725" marB="45725" marR="45725" marL="45725"/>
                </a:tc>
              </a:tr>
              <a:tr h="574700">
                <a:tc>
                  <a:txBody>
                    <a:bodyPr/>
                    <a:lstStyle/>
                    <a:p>
                      <a:pPr indent="0" lvl="0" marL="0" rtl="0" algn="ctr">
                        <a:spcBef>
                          <a:spcPts val="0"/>
                        </a:spcBef>
                        <a:spcAft>
                          <a:spcPts val="0"/>
                        </a:spcAft>
                        <a:buNone/>
                      </a:pPr>
                      <a:r>
                        <a:rPr lang="en" sz="1000">
                          <a:latin typeface="Lexend"/>
                          <a:ea typeface="Lexend"/>
                          <a:cs typeface="Lexend"/>
                          <a:sym typeface="Lexend"/>
                        </a:rPr>
                        <a:t>Event</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solidFill>
                            <a:schemeClr val="dk1"/>
                          </a:solidFill>
                          <a:latin typeface="Lexend"/>
                          <a:ea typeface="Lexend"/>
                          <a:cs typeface="Lexend"/>
                          <a:sym typeface="Lexend"/>
                        </a:rPr>
                        <a:t>Hoạt động Trung thu và Đại hội vinh danh tài xế</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Triển khai hoạt động Trung thu online</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Hoàn thiện proposal &amp; bidding nhà tài trợ sk Đại hội vinh danh tài xế</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Clr>
                          <a:schemeClr val="dk1"/>
                        </a:buClr>
                        <a:buSzPts val="600"/>
                        <a:buFont typeface="Arial"/>
                        <a:buNone/>
                      </a:pPr>
                      <a:r>
                        <a:rPr lang="en" sz="1000">
                          <a:solidFill>
                            <a:schemeClr val="dk1"/>
                          </a:solidFill>
                          <a:latin typeface="Lexend"/>
                          <a:ea typeface="Lexend"/>
                          <a:cs typeface="Lexend"/>
                          <a:sym typeface="Lexend"/>
                        </a:rPr>
                        <a:t>30/9</a:t>
                      </a:r>
                      <a:endParaRPr sz="1000">
                        <a:solidFill>
                          <a:schemeClr val="dk1"/>
                        </a:solidFill>
                        <a:latin typeface="Lexend"/>
                        <a:ea typeface="Lexend"/>
                        <a:cs typeface="Lexend"/>
                        <a:sym typeface="Lexend"/>
                      </a:endParaRPr>
                    </a:p>
                    <a:p>
                      <a:pPr indent="0" lvl="0" marL="0" rtl="0" algn="ctr">
                        <a:spcBef>
                          <a:spcPts val="0"/>
                        </a:spcBef>
                        <a:spcAft>
                          <a:spcPts val="0"/>
                        </a:spcAft>
                        <a:buNone/>
                      </a:pPr>
                      <a:r>
                        <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Vân/Thúy</a:t>
                      </a:r>
                      <a:endParaRPr sz="1000">
                        <a:latin typeface="Lexend"/>
                        <a:ea typeface="Lexend"/>
                        <a:cs typeface="Lexend"/>
                        <a:sym typeface="Lexend"/>
                      </a:endParaRPr>
                    </a:p>
                  </a:txBody>
                  <a:tcPr marT="45725" marB="45725" marR="45725" marL="45725"/>
                </a:tc>
              </a:tr>
            </a:tbl>
          </a:graphicData>
        </a:graphic>
      </p:graphicFrame>
      <p:pic>
        <p:nvPicPr>
          <p:cNvPr id="337" name="Google Shape;337;p30"/>
          <p:cNvPicPr preferRelativeResize="0"/>
          <p:nvPr/>
        </p:nvPicPr>
        <p:blipFill>
          <a:blip r:embed="rId3">
            <a:alphaModFix/>
          </a:blip>
          <a:stretch>
            <a:fillRect/>
          </a:stretch>
        </p:blipFill>
        <p:spPr>
          <a:xfrm>
            <a:off x="7681713" y="76200"/>
            <a:ext cx="1386088" cy="1386088"/>
          </a:xfrm>
          <a:prstGeom prst="rect">
            <a:avLst/>
          </a:prstGeom>
          <a:noFill/>
          <a:ln>
            <a:noFill/>
          </a:ln>
        </p:spPr>
      </p:pic>
      <p:sp>
        <p:nvSpPr>
          <p:cNvPr id="338" name="Google Shape;338;p30"/>
          <p:cNvSpPr txBox="1"/>
          <p:nvPr/>
        </p:nvSpPr>
        <p:spPr>
          <a:xfrm>
            <a:off x="0" y="4917900"/>
            <a:ext cx="8973600" cy="225600"/>
          </a:xfrm>
          <a:prstGeom prst="rect">
            <a:avLst/>
          </a:prstGeom>
          <a:noFill/>
          <a:ln>
            <a:noFill/>
          </a:ln>
        </p:spPr>
        <p:txBody>
          <a:bodyPr anchorCtr="0" anchor="t" bIns="45725" lIns="45725" spcFirstLastPara="1" rIns="45725" wrap="square" tIns="45725">
            <a:noAutofit/>
          </a:bodyPr>
          <a:lstStyle/>
          <a:p>
            <a:pPr indent="0" lvl="0" marL="0" rtl="0" algn="l">
              <a:spcBef>
                <a:spcPts val="0"/>
              </a:spcBef>
              <a:spcAft>
                <a:spcPts val="0"/>
              </a:spcAft>
              <a:buNone/>
            </a:pPr>
            <a:r>
              <a:rPr lang="en" sz="900">
                <a:solidFill>
                  <a:srgbClr val="757D86"/>
                </a:solidFill>
                <a:latin typeface="Times New Roman"/>
                <a:ea typeface="Times New Roman"/>
                <a:cs typeface="Times New Roman"/>
                <a:sym typeface="Times New Roman"/>
              </a:rPr>
              <a:t>Overview | Ops Growth | DM | </a:t>
            </a:r>
            <a:r>
              <a:rPr b="1" lang="en" sz="900">
                <a:solidFill>
                  <a:schemeClr val="dk1"/>
                </a:solidFill>
                <a:latin typeface="Times New Roman"/>
                <a:ea typeface="Times New Roman"/>
                <a:cs typeface="Times New Roman"/>
                <a:sym typeface="Times New Roman"/>
              </a:rPr>
              <a:t>DE</a:t>
            </a:r>
            <a:r>
              <a:rPr lang="en" sz="900">
                <a:solidFill>
                  <a:srgbClr val="757D86"/>
                </a:solidFill>
                <a:latin typeface="Times New Roman"/>
                <a:ea typeface="Times New Roman"/>
                <a:cs typeface="Times New Roman"/>
                <a:sym typeface="Times New Roman"/>
              </a:rPr>
              <a:t> | Minihub + EV | Innovation Project</a:t>
            </a:r>
            <a:endParaRPr sz="900">
              <a:solidFill>
                <a:srgbClr val="757D86"/>
              </a:solidFill>
              <a:latin typeface="Times New Roman"/>
              <a:ea typeface="Times New Roman"/>
              <a:cs typeface="Times New Roman"/>
              <a:sym typeface="Times New Roman"/>
            </a:endParaRPr>
          </a:p>
        </p:txBody>
      </p:sp>
      <p:pic>
        <p:nvPicPr>
          <p:cNvPr descr="preencoded.png" id="339" name="Google Shape;339;p30"/>
          <p:cNvPicPr preferRelativeResize="0"/>
          <p:nvPr/>
        </p:nvPicPr>
        <p:blipFill rotWithShape="1">
          <a:blip r:embed="rId4">
            <a:alphaModFix/>
          </a:blip>
          <a:srcRect b="0" l="0" r="0" t="0"/>
          <a:stretch/>
        </p:blipFill>
        <p:spPr>
          <a:xfrm>
            <a:off x="200736" y="2562715"/>
            <a:ext cx="137160" cy="137160"/>
          </a:xfrm>
          <a:prstGeom prst="rect">
            <a:avLst/>
          </a:prstGeom>
          <a:noFill/>
          <a:ln>
            <a:noFill/>
          </a:ln>
        </p:spPr>
      </p:pic>
      <p:sp>
        <p:nvSpPr>
          <p:cNvPr id="340" name="Google Shape;340;p30"/>
          <p:cNvSpPr/>
          <p:nvPr/>
        </p:nvSpPr>
        <p:spPr>
          <a:xfrm>
            <a:off x="383616" y="2537013"/>
            <a:ext cx="3657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4174"/>
              </a:buClr>
              <a:buSzPts val="1100"/>
              <a:buFont typeface="Calibri"/>
              <a:buNone/>
            </a:pPr>
            <a:r>
              <a:rPr b="1" lang="en" sz="1200">
                <a:solidFill>
                  <a:srgbClr val="0E4174"/>
                </a:solidFill>
                <a:latin typeface="Lexend"/>
                <a:ea typeface="Lexend"/>
                <a:cs typeface="Lexend"/>
                <a:sym typeface="Lexend"/>
              </a:rPr>
              <a:t>Next </a:t>
            </a:r>
            <a:r>
              <a:rPr b="1" i="0" lang="en" sz="1200" u="none" cap="none" strike="noStrike">
                <a:solidFill>
                  <a:srgbClr val="0E4174"/>
                </a:solidFill>
                <a:latin typeface="Lexend"/>
                <a:ea typeface="Lexend"/>
                <a:cs typeface="Lexend"/>
                <a:sym typeface="Lexend"/>
              </a:rPr>
              <a:t>Action</a:t>
            </a:r>
            <a:endParaRPr b="1" i="0" sz="1200" u="none" cap="none" strike="noStrike">
              <a:solidFill>
                <a:srgbClr val="000000"/>
              </a:solidFill>
              <a:latin typeface="Lexend"/>
              <a:ea typeface="Lexend"/>
              <a:cs typeface="Lexend"/>
              <a:sym typeface="Lexend"/>
            </a:endParaRPr>
          </a:p>
        </p:txBody>
      </p:sp>
      <p:sp>
        <p:nvSpPr>
          <p:cNvPr id="341" name="Google Shape;341;p30"/>
          <p:cNvSpPr/>
          <p:nvPr/>
        </p:nvSpPr>
        <p:spPr>
          <a:xfrm>
            <a:off x="212942" y="436499"/>
            <a:ext cx="5427600" cy="6318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42" name="Google Shape;342;p30"/>
          <p:cNvSpPr txBox="1"/>
          <p:nvPr/>
        </p:nvSpPr>
        <p:spPr>
          <a:xfrm>
            <a:off x="350422" y="487800"/>
            <a:ext cx="7332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500"/>
              <a:buFont typeface="Calibri"/>
              <a:buNone/>
            </a:pPr>
            <a:r>
              <a:rPr b="1" i="0" lang="en" sz="1000" u="none" cap="none" strike="noStrike">
                <a:solidFill>
                  <a:srgbClr val="1F4E78"/>
                </a:solidFill>
                <a:latin typeface="Lexend"/>
                <a:ea typeface="Lexend"/>
                <a:cs typeface="Lexend"/>
                <a:sym typeface="Lexend"/>
              </a:rPr>
              <a:t>KR 1.1</a:t>
            </a:r>
            <a:endParaRPr i="0" sz="1000" u="none" cap="none" strike="noStrike">
              <a:solidFill>
                <a:srgbClr val="000000"/>
              </a:solidFill>
              <a:latin typeface="Lexend"/>
              <a:ea typeface="Lexend"/>
              <a:cs typeface="Lexend"/>
              <a:sym typeface="Lexend"/>
            </a:endParaRPr>
          </a:p>
        </p:txBody>
      </p:sp>
      <p:sp>
        <p:nvSpPr>
          <p:cNvPr id="343" name="Google Shape;343;p30"/>
          <p:cNvSpPr txBox="1"/>
          <p:nvPr/>
        </p:nvSpPr>
        <p:spPr>
          <a:xfrm>
            <a:off x="825734" y="487801"/>
            <a:ext cx="29184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500"/>
              <a:buFont typeface="Calibri"/>
              <a:buNone/>
            </a:pPr>
            <a:r>
              <a:rPr b="1" i="0" lang="en" sz="1000" u="none" cap="none" strike="noStrike">
                <a:solidFill>
                  <a:srgbClr val="333333"/>
                </a:solidFill>
                <a:latin typeface="Lexend"/>
                <a:ea typeface="Lexend"/>
                <a:cs typeface="Lexend"/>
                <a:sym typeface="Lexend"/>
              </a:rPr>
              <a:t>Khai thác partner mới (Fleet/EV/Finance)</a:t>
            </a:r>
            <a:endParaRPr i="0" sz="1000" u="none" cap="none" strike="noStrike">
              <a:solidFill>
                <a:srgbClr val="000000"/>
              </a:solidFill>
              <a:latin typeface="Lexend"/>
              <a:ea typeface="Lexend"/>
              <a:cs typeface="Lexend"/>
              <a:sym typeface="Lexend"/>
            </a:endParaRPr>
          </a:p>
        </p:txBody>
      </p:sp>
      <p:sp>
        <p:nvSpPr>
          <p:cNvPr id="344" name="Google Shape;344;p30"/>
          <p:cNvSpPr/>
          <p:nvPr/>
        </p:nvSpPr>
        <p:spPr>
          <a:xfrm>
            <a:off x="4677613" y="487801"/>
            <a:ext cx="788100" cy="160500"/>
          </a:xfrm>
          <a:prstGeom prst="rect">
            <a:avLst/>
          </a:prstGeom>
          <a:solidFill>
            <a:srgbClr val="FFC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45" name="Google Shape;345;p30"/>
          <p:cNvSpPr txBox="1"/>
          <p:nvPr/>
        </p:nvSpPr>
        <p:spPr>
          <a:xfrm>
            <a:off x="4677613" y="487801"/>
            <a:ext cx="788100" cy="160500"/>
          </a:xfrm>
          <a:prstGeom prst="rect">
            <a:avLst/>
          </a:prstGeom>
          <a:solidFill>
            <a:srgbClr val="FF751F"/>
          </a:solid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FFFF"/>
              </a:buClr>
              <a:buSzPts val="500"/>
              <a:buFont typeface="Calibri"/>
              <a:buNone/>
            </a:pPr>
            <a:r>
              <a:rPr b="1" i="0" lang="en" sz="1000" u="none" cap="none" strike="noStrike">
                <a:solidFill>
                  <a:srgbClr val="FFFFFF"/>
                </a:solidFill>
                <a:latin typeface="Lexend"/>
                <a:ea typeface="Lexend"/>
                <a:cs typeface="Lexend"/>
                <a:sym typeface="Lexend"/>
              </a:rPr>
              <a:t>In process</a:t>
            </a:r>
            <a:endParaRPr i="0" sz="1000" u="none" cap="none" strike="noStrike">
              <a:solidFill>
                <a:srgbClr val="000000"/>
              </a:solidFill>
              <a:latin typeface="Lexend"/>
              <a:ea typeface="Lexend"/>
              <a:cs typeface="Lexend"/>
              <a:sym typeface="Lexend"/>
            </a:endParaRPr>
          </a:p>
        </p:txBody>
      </p:sp>
      <p:sp>
        <p:nvSpPr>
          <p:cNvPr id="346" name="Google Shape;346;p30"/>
          <p:cNvSpPr txBox="1"/>
          <p:nvPr/>
        </p:nvSpPr>
        <p:spPr>
          <a:xfrm>
            <a:off x="350422" y="680183"/>
            <a:ext cx="7794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666666"/>
              </a:buClr>
              <a:buSzPts val="400"/>
              <a:buFont typeface="Calibri"/>
              <a:buNone/>
            </a:pPr>
            <a:r>
              <a:rPr b="1" i="0" lang="en" sz="1000" u="none" cap="none" strike="noStrike">
                <a:solidFill>
                  <a:srgbClr val="666666"/>
                </a:solidFill>
                <a:latin typeface="Lexend"/>
                <a:ea typeface="Lexend"/>
                <a:cs typeface="Lexend"/>
                <a:sym typeface="Lexend"/>
              </a:rPr>
              <a:t>Mục tiêu:</a:t>
            </a:r>
            <a:endParaRPr i="0" sz="1000" u="none" cap="none" strike="noStrike">
              <a:solidFill>
                <a:srgbClr val="000000"/>
              </a:solidFill>
              <a:latin typeface="Lexend"/>
              <a:ea typeface="Lexend"/>
              <a:cs typeface="Lexend"/>
              <a:sym typeface="Lexend"/>
            </a:endParaRPr>
          </a:p>
        </p:txBody>
      </p:sp>
      <p:sp>
        <p:nvSpPr>
          <p:cNvPr id="347" name="Google Shape;347;p30"/>
          <p:cNvSpPr txBox="1"/>
          <p:nvPr/>
        </p:nvSpPr>
        <p:spPr>
          <a:xfrm>
            <a:off x="902274" y="680184"/>
            <a:ext cx="36186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400"/>
              <a:buFont typeface="Calibri"/>
              <a:buNone/>
            </a:pPr>
            <a:r>
              <a:rPr i="0" lang="en" sz="1000" u="none" cap="none" strike="noStrike">
                <a:solidFill>
                  <a:srgbClr val="333333"/>
                </a:solidFill>
                <a:latin typeface="Lexend"/>
                <a:ea typeface="Lexend"/>
                <a:cs typeface="Lexend"/>
                <a:sym typeface="Lexend"/>
              </a:rPr>
              <a:t>Ký kết tối thiểu 3 partner mới đủ 3 nhóm</a:t>
            </a:r>
            <a:endParaRPr i="0" sz="1000" u="none" cap="none" strike="noStrike">
              <a:solidFill>
                <a:srgbClr val="000000"/>
              </a:solidFill>
              <a:latin typeface="Lexend"/>
              <a:ea typeface="Lexend"/>
              <a:cs typeface="Lexend"/>
              <a:sym typeface="Lexend"/>
            </a:endParaRPr>
          </a:p>
        </p:txBody>
      </p:sp>
      <p:sp>
        <p:nvSpPr>
          <p:cNvPr id="348" name="Google Shape;348;p30"/>
          <p:cNvSpPr txBox="1"/>
          <p:nvPr/>
        </p:nvSpPr>
        <p:spPr>
          <a:xfrm>
            <a:off x="4677613" y="680184"/>
            <a:ext cx="788100" cy="1284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C000"/>
              </a:buClr>
              <a:buSzPts val="500"/>
              <a:buFont typeface="Calibri"/>
              <a:buNone/>
            </a:pPr>
            <a:r>
              <a:rPr b="1" i="0" lang="en" sz="1000" u="none" cap="none" strike="noStrike">
                <a:solidFill>
                  <a:srgbClr val="FF6B35"/>
                </a:solidFill>
                <a:latin typeface="Lexend"/>
                <a:ea typeface="Lexend"/>
                <a:cs typeface="Lexend"/>
                <a:sym typeface="Lexend"/>
              </a:rPr>
              <a:t>6</a:t>
            </a:r>
            <a:r>
              <a:rPr b="1" lang="en" sz="1000">
                <a:solidFill>
                  <a:srgbClr val="FF6B35"/>
                </a:solidFill>
                <a:latin typeface="Lexend"/>
                <a:ea typeface="Lexend"/>
                <a:cs typeface="Lexend"/>
                <a:sym typeface="Lexend"/>
              </a:rPr>
              <a:t>0</a:t>
            </a:r>
            <a:r>
              <a:rPr b="1" i="0" lang="en" sz="1000" u="none" cap="none" strike="noStrike">
                <a:solidFill>
                  <a:srgbClr val="FF6B35"/>
                </a:solidFill>
                <a:latin typeface="Lexend"/>
                <a:ea typeface="Lexend"/>
                <a:cs typeface="Lexend"/>
                <a:sym typeface="Lexend"/>
              </a:rPr>
              <a:t>%</a:t>
            </a:r>
            <a:endParaRPr i="0" sz="1000" u="none" cap="none" strike="noStrike">
              <a:solidFill>
                <a:srgbClr val="FF6B35"/>
              </a:solidFill>
              <a:latin typeface="Lexend"/>
              <a:ea typeface="Lexend"/>
              <a:cs typeface="Lexend"/>
              <a:sym typeface="Lexend"/>
            </a:endParaRPr>
          </a:p>
        </p:txBody>
      </p:sp>
      <p:sp>
        <p:nvSpPr>
          <p:cNvPr id="349" name="Google Shape;349;p30"/>
          <p:cNvSpPr/>
          <p:nvPr/>
        </p:nvSpPr>
        <p:spPr>
          <a:xfrm>
            <a:off x="300478" y="853328"/>
            <a:ext cx="4960500" cy="771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50" name="Google Shape;350;p30"/>
          <p:cNvSpPr/>
          <p:nvPr/>
        </p:nvSpPr>
        <p:spPr>
          <a:xfrm>
            <a:off x="300478" y="853328"/>
            <a:ext cx="3224400" cy="77100"/>
          </a:xfrm>
          <a:prstGeom prst="rect">
            <a:avLst/>
          </a:prstGeom>
          <a:solidFill>
            <a:srgbClr val="FF751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51" name="Google Shape;351;p30"/>
          <p:cNvSpPr/>
          <p:nvPr/>
        </p:nvSpPr>
        <p:spPr>
          <a:xfrm>
            <a:off x="212942" y="1128373"/>
            <a:ext cx="5427600" cy="6318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52" name="Google Shape;352;p30"/>
          <p:cNvSpPr txBox="1"/>
          <p:nvPr/>
        </p:nvSpPr>
        <p:spPr>
          <a:xfrm>
            <a:off x="350422" y="1179678"/>
            <a:ext cx="7332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500"/>
              <a:buFont typeface="Calibri"/>
              <a:buNone/>
            </a:pPr>
            <a:r>
              <a:rPr b="1" i="0" lang="en" sz="1000" u="none" cap="none" strike="noStrike">
                <a:solidFill>
                  <a:srgbClr val="1F4E78"/>
                </a:solidFill>
                <a:latin typeface="Lexend"/>
                <a:ea typeface="Lexend"/>
                <a:cs typeface="Lexend"/>
                <a:sym typeface="Lexend"/>
              </a:rPr>
              <a:t>KR 2.1</a:t>
            </a:r>
            <a:endParaRPr i="0" sz="1000" u="none" cap="none" strike="noStrike">
              <a:solidFill>
                <a:srgbClr val="000000"/>
              </a:solidFill>
              <a:latin typeface="Lexend"/>
              <a:ea typeface="Lexend"/>
              <a:cs typeface="Lexend"/>
              <a:sym typeface="Lexend"/>
            </a:endParaRPr>
          </a:p>
        </p:txBody>
      </p:sp>
      <p:sp>
        <p:nvSpPr>
          <p:cNvPr id="353" name="Google Shape;353;p30"/>
          <p:cNvSpPr txBox="1"/>
          <p:nvPr/>
        </p:nvSpPr>
        <p:spPr>
          <a:xfrm>
            <a:off x="825734" y="1179681"/>
            <a:ext cx="29184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500"/>
              <a:buFont typeface="Calibri"/>
              <a:buNone/>
            </a:pPr>
            <a:r>
              <a:rPr b="1" i="0" lang="en" sz="1000" u="none" cap="none" strike="noStrike">
                <a:solidFill>
                  <a:srgbClr val="333333"/>
                </a:solidFill>
                <a:latin typeface="Lexend"/>
                <a:ea typeface="Lexend"/>
                <a:cs typeface="Lexend"/>
                <a:sym typeface="Lexend"/>
              </a:rPr>
              <a:t>Tăng tỷ lệ redeem Ahabenefit</a:t>
            </a:r>
            <a:endParaRPr i="0" sz="1000" u="none" cap="none" strike="noStrike">
              <a:solidFill>
                <a:srgbClr val="000000"/>
              </a:solidFill>
              <a:latin typeface="Lexend"/>
              <a:ea typeface="Lexend"/>
              <a:cs typeface="Lexend"/>
              <a:sym typeface="Lexend"/>
            </a:endParaRPr>
          </a:p>
        </p:txBody>
      </p:sp>
      <p:sp>
        <p:nvSpPr>
          <p:cNvPr id="354" name="Google Shape;354;p30"/>
          <p:cNvSpPr/>
          <p:nvPr/>
        </p:nvSpPr>
        <p:spPr>
          <a:xfrm>
            <a:off x="4677613" y="1179681"/>
            <a:ext cx="788100" cy="160500"/>
          </a:xfrm>
          <a:prstGeom prst="rect">
            <a:avLst/>
          </a:prstGeom>
          <a:solidFill>
            <a:srgbClr val="C5504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55" name="Google Shape;355;p30"/>
          <p:cNvSpPr txBox="1"/>
          <p:nvPr/>
        </p:nvSpPr>
        <p:spPr>
          <a:xfrm>
            <a:off x="4677613" y="1179681"/>
            <a:ext cx="788100" cy="1605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FFFF"/>
              </a:buClr>
              <a:buSzPts val="500"/>
              <a:buFont typeface="Calibri"/>
              <a:buNone/>
            </a:pPr>
            <a:r>
              <a:rPr b="1" i="0" lang="en" sz="1000" u="none" cap="none" strike="noStrike">
                <a:solidFill>
                  <a:srgbClr val="FFFFFF"/>
                </a:solidFill>
                <a:latin typeface="Lexend"/>
                <a:ea typeface="Lexend"/>
                <a:cs typeface="Lexend"/>
                <a:sym typeface="Lexend"/>
              </a:rPr>
              <a:t>Not yet</a:t>
            </a:r>
            <a:endParaRPr i="0" sz="1000" u="none" cap="none" strike="noStrike">
              <a:solidFill>
                <a:srgbClr val="000000"/>
              </a:solidFill>
              <a:latin typeface="Lexend"/>
              <a:ea typeface="Lexend"/>
              <a:cs typeface="Lexend"/>
              <a:sym typeface="Lexend"/>
            </a:endParaRPr>
          </a:p>
        </p:txBody>
      </p:sp>
      <p:sp>
        <p:nvSpPr>
          <p:cNvPr id="356" name="Google Shape;356;p30"/>
          <p:cNvSpPr txBox="1"/>
          <p:nvPr/>
        </p:nvSpPr>
        <p:spPr>
          <a:xfrm>
            <a:off x="350422" y="1372060"/>
            <a:ext cx="7794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666666"/>
              </a:buClr>
              <a:buSzPts val="400"/>
              <a:buFont typeface="Calibri"/>
              <a:buNone/>
            </a:pPr>
            <a:r>
              <a:rPr b="1" i="0" lang="en" sz="1000" u="none" cap="none" strike="noStrike">
                <a:solidFill>
                  <a:srgbClr val="666666"/>
                </a:solidFill>
                <a:latin typeface="Lexend"/>
                <a:ea typeface="Lexend"/>
                <a:cs typeface="Lexend"/>
                <a:sym typeface="Lexend"/>
              </a:rPr>
              <a:t>Mục tiêu:</a:t>
            </a:r>
            <a:endParaRPr i="0" sz="1000" u="none" cap="none" strike="noStrike">
              <a:solidFill>
                <a:srgbClr val="000000"/>
              </a:solidFill>
              <a:latin typeface="Lexend"/>
              <a:ea typeface="Lexend"/>
              <a:cs typeface="Lexend"/>
              <a:sym typeface="Lexend"/>
            </a:endParaRPr>
          </a:p>
        </p:txBody>
      </p:sp>
      <p:sp>
        <p:nvSpPr>
          <p:cNvPr id="357" name="Google Shape;357;p30"/>
          <p:cNvSpPr txBox="1"/>
          <p:nvPr/>
        </p:nvSpPr>
        <p:spPr>
          <a:xfrm>
            <a:off x="902274" y="1372063"/>
            <a:ext cx="36186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400"/>
              <a:buFont typeface="Calibri"/>
              <a:buNone/>
            </a:pPr>
            <a:r>
              <a:rPr i="0" lang="en" sz="1000" u="none" cap="none" strike="noStrike">
                <a:solidFill>
                  <a:srgbClr val="333333"/>
                </a:solidFill>
                <a:latin typeface="Lexend"/>
                <a:ea typeface="Lexend"/>
                <a:cs typeface="Lexend"/>
                <a:sym typeface="Lexend"/>
              </a:rPr>
              <a:t>Tăng +10% QoQ, thúc đẩy convert PT→FT</a:t>
            </a:r>
            <a:endParaRPr i="0" sz="1000" u="none" cap="none" strike="noStrike">
              <a:solidFill>
                <a:srgbClr val="000000"/>
              </a:solidFill>
              <a:latin typeface="Lexend"/>
              <a:ea typeface="Lexend"/>
              <a:cs typeface="Lexend"/>
              <a:sym typeface="Lexend"/>
            </a:endParaRPr>
          </a:p>
        </p:txBody>
      </p:sp>
      <p:sp>
        <p:nvSpPr>
          <p:cNvPr id="358" name="Google Shape;358;p30"/>
          <p:cNvSpPr txBox="1"/>
          <p:nvPr/>
        </p:nvSpPr>
        <p:spPr>
          <a:xfrm>
            <a:off x="4677613" y="1372063"/>
            <a:ext cx="788100" cy="1284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C5504B"/>
              </a:buClr>
              <a:buSzPts val="500"/>
              <a:buFont typeface="Calibri"/>
              <a:buNone/>
            </a:pPr>
            <a:r>
              <a:rPr b="1" i="0" lang="en" sz="1000" u="none" cap="none" strike="noStrike">
                <a:solidFill>
                  <a:srgbClr val="C5504B"/>
                </a:solidFill>
                <a:latin typeface="Lexend"/>
                <a:ea typeface="Lexend"/>
                <a:cs typeface="Lexend"/>
                <a:sym typeface="Lexend"/>
              </a:rPr>
              <a:t>5%</a:t>
            </a:r>
            <a:endParaRPr i="0" sz="1000" u="none" cap="none" strike="noStrike">
              <a:solidFill>
                <a:srgbClr val="000000"/>
              </a:solidFill>
              <a:latin typeface="Lexend"/>
              <a:ea typeface="Lexend"/>
              <a:cs typeface="Lexend"/>
              <a:sym typeface="Lexend"/>
            </a:endParaRPr>
          </a:p>
        </p:txBody>
      </p:sp>
      <p:sp>
        <p:nvSpPr>
          <p:cNvPr id="359" name="Google Shape;359;p30"/>
          <p:cNvSpPr/>
          <p:nvPr/>
        </p:nvSpPr>
        <p:spPr>
          <a:xfrm>
            <a:off x="300478" y="1545208"/>
            <a:ext cx="4960500" cy="771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60" name="Google Shape;360;p30"/>
          <p:cNvSpPr/>
          <p:nvPr/>
        </p:nvSpPr>
        <p:spPr>
          <a:xfrm>
            <a:off x="296882" y="1545203"/>
            <a:ext cx="389700" cy="77100"/>
          </a:xfrm>
          <a:prstGeom prst="rect">
            <a:avLst/>
          </a:prstGeom>
          <a:solidFill>
            <a:srgbClr val="C5504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61" name="Google Shape;361;p30"/>
          <p:cNvSpPr/>
          <p:nvPr/>
        </p:nvSpPr>
        <p:spPr>
          <a:xfrm>
            <a:off x="212942" y="1820261"/>
            <a:ext cx="5427600" cy="6318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62" name="Google Shape;362;p30"/>
          <p:cNvSpPr txBox="1"/>
          <p:nvPr/>
        </p:nvSpPr>
        <p:spPr>
          <a:xfrm>
            <a:off x="350422" y="1871555"/>
            <a:ext cx="7332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500"/>
              <a:buFont typeface="Calibri"/>
              <a:buNone/>
            </a:pPr>
            <a:r>
              <a:rPr b="1" i="0" lang="en" sz="1000" u="none" cap="none" strike="noStrike">
                <a:solidFill>
                  <a:srgbClr val="1F4E78"/>
                </a:solidFill>
                <a:latin typeface="Lexend"/>
                <a:ea typeface="Lexend"/>
                <a:cs typeface="Lexend"/>
                <a:sym typeface="Lexend"/>
              </a:rPr>
              <a:t>KR 2.2</a:t>
            </a:r>
            <a:endParaRPr i="0" sz="1000" u="none" cap="none" strike="noStrike">
              <a:solidFill>
                <a:srgbClr val="000000"/>
              </a:solidFill>
              <a:latin typeface="Lexend"/>
              <a:ea typeface="Lexend"/>
              <a:cs typeface="Lexend"/>
              <a:sym typeface="Lexend"/>
            </a:endParaRPr>
          </a:p>
        </p:txBody>
      </p:sp>
      <p:sp>
        <p:nvSpPr>
          <p:cNvPr id="363" name="Google Shape;363;p30"/>
          <p:cNvSpPr txBox="1"/>
          <p:nvPr/>
        </p:nvSpPr>
        <p:spPr>
          <a:xfrm>
            <a:off x="825734" y="1871560"/>
            <a:ext cx="2918400" cy="1605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500"/>
              <a:buFont typeface="Calibri"/>
              <a:buNone/>
            </a:pPr>
            <a:r>
              <a:rPr b="1" i="0" lang="en" sz="1000" u="none" cap="none" strike="noStrike">
                <a:solidFill>
                  <a:srgbClr val="333333"/>
                </a:solidFill>
                <a:latin typeface="Lexend"/>
                <a:ea typeface="Lexend"/>
                <a:cs typeface="Lexend"/>
                <a:sym typeface="Lexend"/>
              </a:rPr>
              <a:t>Design package Ahabenefit FT/PT</a:t>
            </a:r>
            <a:endParaRPr i="0" sz="1000" u="none" cap="none" strike="noStrike">
              <a:solidFill>
                <a:srgbClr val="000000"/>
              </a:solidFill>
              <a:latin typeface="Lexend"/>
              <a:ea typeface="Lexend"/>
              <a:cs typeface="Lexend"/>
              <a:sym typeface="Lexend"/>
            </a:endParaRPr>
          </a:p>
        </p:txBody>
      </p:sp>
      <p:sp>
        <p:nvSpPr>
          <p:cNvPr id="364" name="Google Shape;364;p30"/>
          <p:cNvSpPr/>
          <p:nvPr/>
        </p:nvSpPr>
        <p:spPr>
          <a:xfrm>
            <a:off x="4677613" y="1871560"/>
            <a:ext cx="788100" cy="160500"/>
          </a:xfrm>
          <a:prstGeom prst="rect">
            <a:avLst/>
          </a:prstGeom>
          <a:solidFill>
            <a:srgbClr val="FFC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65" name="Google Shape;365;p30"/>
          <p:cNvSpPr txBox="1"/>
          <p:nvPr/>
        </p:nvSpPr>
        <p:spPr>
          <a:xfrm>
            <a:off x="4677613" y="1871560"/>
            <a:ext cx="788100" cy="160500"/>
          </a:xfrm>
          <a:prstGeom prst="rect">
            <a:avLst/>
          </a:prstGeom>
          <a:solidFill>
            <a:srgbClr val="FF6B35"/>
          </a:solid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FFFF"/>
              </a:buClr>
              <a:buSzPts val="500"/>
              <a:buFont typeface="Calibri"/>
              <a:buNone/>
            </a:pPr>
            <a:r>
              <a:rPr b="1" i="0" lang="en" sz="1000" u="none" cap="none" strike="noStrike">
                <a:solidFill>
                  <a:srgbClr val="FFFFFF"/>
                </a:solidFill>
                <a:latin typeface="Lexend"/>
                <a:ea typeface="Lexend"/>
                <a:cs typeface="Lexend"/>
                <a:sym typeface="Lexend"/>
              </a:rPr>
              <a:t>In process</a:t>
            </a:r>
            <a:endParaRPr i="0" sz="1000" u="none" cap="none" strike="noStrike">
              <a:solidFill>
                <a:srgbClr val="000000"/>
              </a:solidFill>
              <a:latin typeface="Lexend"/>
              <a:ea typeface="Lexend"/>
              <a:cs typeface="Lexend"/>
              <a:sym typeface="Lexend"/>
            </a:endParaRPr>
          </a:p>
        </p:txBody>
      </p:sp>
      <p:sp>
        <p:nvSpPr>
          <p:cNvPr id="366" name="Google Shape;366;p30"/>
          <p:cNvSpPr txBox="1"/>
          <p:nvPr/>
        </p:nvSpPr>
        <p:spPr>
          <a:xfrm>
            <a:off x="350422" y="2063937"/>
            <a:ext cx="7794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666666"/>
              </a:buClr>
              <a:buSzPts val="400"/>
              <a:buFont typeface="Calibri"/>
              <a:buNone/>
            </a:pPr>
            <a:r>
              <a:rPr b="1" i="0" lang="en" sz="1000" u="none" cap="none" strike="noStrike">
                <a:solidFill>
                  <a:srgbClr val="666666"/>
                </a:solidFill>
                <a:latin typeface="Lexend"/>
                <a:ea typeface="Lexend"/>
                <a:cs typeface="Lexend"/>
                <a:sym typeface="Lexend"/>
              </a:rPr>
              <a:t>Mục tiêu:</a:t>
            </a:r>
            <a:endParaRPr i="0" sz="1000" u="none" cap="none" strike="noStrike">
              <a:solidFill>
                <a:srgbClr val="000000"/>
              </a:solidFill>
              <a:latin typeface="Lexend"/>
              <a:ea typeface="Lexend"/>
              <a:cs typeface="Lexend"/>
              <a:sym typeface="Lexend"/>
            </a:endParaRPr>
          </a:p>
        </p:txBody>
      </p:sp>
      <p:sp>
        <p:nvSpPr>
          <p:cNvPr id="367" name="Google Shape;367;p30"/>
          <p:cNvSpPr txBox="1"/>
          <p:nvPr/>
        </p:nvSpPr>
        <p:spPr>
          <a:xfrm>
            <a:off x="902274" y="2063943"/>
            <a:ext cx="3618600" cy="1284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333333"/>
              </a:buClr>
              <a:buSzPts val="400"/>
              <a:buFont typeface="Calibri"/>
              <a:buNone/>
            </a:pPr>
            <a:r>
              <a:rPr i="0" lang="en" sz="1000" u="none" cap="none" strike="noStrike">
                <a:solidFill>
                  <a:srgbClr val="333333"/>
                </a:solidFill>
                <a:latin typeface="Lexend"/>
                <a:ea typeface="Lexend"/>
                <a:cs typeface="Lexend"/>
                <a:sym typeface="Lexend"/>
              </a:rPr>
              <a:t>Phân tầng quyền lợi theo nhóm tài xế</a:t>
            </a:r>
            <a:endParaRPr i="0" sz="1000" u="none" cap="none" strike="noStrike">
              <a:solidFill>
                <a:srgbClr val="000000"/>
              </a:solidFill>
              <a:latin typeface="Lexend"/>
              <a:ea typeface="Lexend"/>
              <a:cs typeface="Lexend"/>
              <a:sym typeface="Lexend"/>
            </a:endParaRPr>
          </a:p>
        </p:txBody>
      </p:sp>
      <p:sp>
        <p:nvSpPr>
          <p:cNvPr id="368" name="Google Shape;368;p30"/>
          <p:cNvSpPr txBox="1"/>
          <p:nvPr/>
        </p:nvSpPr>
        <p:spPr>
          <a:xfrm>
            <a:off x="4677613" y="2063943"/>
            <a:ext cx="788100" cy="128400"/>
          </a:xfrm>
          <a:prstGeom prst="rect">
            <a:avLst/>
          </a:prstGeom>
          <a:noFill/>
          <a:ln>
            <a:noFill/>
          </a:ln>
        </p:spPr>
        <p:txBody>
          <a:bodyPr anchorCtr="0" anchor="ctr" bIns="22850" lIns="45725" spcFirstLastPara="1" rIns="45725" wrap="square" tIns="22850">
            <a:noAutofit/>
          </a:bodyPr>
          <a:lstStyle/>
          <a:p>
            <a:pPr indent="0" lvl="0" marL="0" marR="0" rtl="0" algn="ctr">
              <a:spcBef>
                <a:spcPts val="0"/>
              </a:spcBef>
              <a:spcAft>
                <a:spcPts val="0"/>
              </a:spcAft>
              <a:buClr>
                <a:srgbClr val="FFC000"/>
              </a:buClr>
              <a:buSzPts val="500"/>
              <a:buFont typeface="Calibri"/>
              <a:buNone/>
            </a:pPr>
            <a:r>
              <a:rPr b="1" lang="en" sz="1000">
                <a:solidFill>
                  <a:srgbClr val="FF6B35"/>
                </a:solidFill>
                <a:latin typeface="Lexend"/>
                <a:ea typeface="Lexend"/>
                <a:cs typeface="Lexend"/>
                <a:sym typeface="Lexend"/>
              </a:rPr>
              <a:t>4</a:t>
            </a:r>
            <a:r>
              <a:rPr b="1" i="0" lang="en" sz="1000" u="none" cap="none" strike="noStrike">
                <a:solidFill>
                  <a:srgbClr val="FF6B35"/>
                </a:solidFill>
                <a:latin typeface="Lexend"/>
                <a:ea typeface="Lexend"/>
                <a:cs typeface="Lexend"/>
                <a:sym typeface="Lexend"/>
              </a:rPr>
              <a:t>0%</a:t>
            </a:r>
            <a:endParaRPr i="0" sz="1000" u="none" cap="none" strike="noStrike">
              <a:solidFill>
                <a:srgbClr val="FF6B35"/>
              </a:solidFill>
              <a:latin typeface="Lexend"/>
              <a:ea typeface="Lexend"/>
              <a:cs typeface="Lexend"/>
              <a:sym typeface="Lexend"/>
            </a:endParaRPr>
          </a:p>
        </p:txBody>
      </p:sp>
      <p:sp>
        <p:nvSpPr>
          <p:cNvPr id="369" name="Google Shape;369;p30"/>
          <p:cNvSpPr/>
          <p:nvPr/>
        </p:nvSpPr>
        <p:spPr>
          <a:xfrm>
            <a:off x="300478" y="2237088"/>
            <a:ext cx="4960500" cy="77100"/>
          </a:xfrm>
          <a:prstGeom prst="rect">
            <a:avLst/>
          </a:prstGeom>
          <a:solidFill>
            <a:srgbClr val="F2F2F2"/>
          </a:solidFill>
          <a:ln cap="flat" cmpd="sng" w="4775">
            <a:solidFill>
              <a:srgbClr val="CCCCC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70" name="Google Shape;370;p30"/>
          <p:cNvSpPr/>
          <p:nvPr/>
        </p:nvSpPr>
        <p:spPr>
          <a:xfrm>
            <a:off x="300475" y="2237088"/>
            <a:ext cx="1840800" cy="77100"/>
          </a:xfrm>
          <a:prstGeom prst="rect">
            <a:avLst/>
          </a:prstGeom>
          <a:solidFill>
            <a:srgbClr val="FF6D0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371" name="Google Shape;371;p30"/>
          <p:cNvSpPr txBox="1"/>
          <p:nvPr/>
        </p:nvSpPr>
        <p:spPr>
          <a:xfrm>
            <a:off x="166864" y="137160"/>
            <a:ext cx="4114800" cy="205800"/>
          </a:xfrm>
          <a:prstGeom prst="rect">
            <a:avLst/>
          </a:prstGeom>
          <a:noFill/>
          <a:ln>
            <a:noFill/>
          </a:ln>
        </p:spPr>
        <p:txBody>
          <a:bodyPr anchorCtr="0" anchor="ctr" bIns="22850" lIns="45725" spcFirstLastPara="1" rIns="45725" wrap="square" tIns="22850">
            <a:noAutofit/>
          </a:bodyPr>
          <a:lstStyle/>
          <a:p>
            <a:pPr indent="0" lvl="0" marL="0" marR="0" rtl="0" algn="l">
              <a:spcBef>
                <a:spcPts val="0"/>
              </a:spcBef>
              <a:spcAft>
                <a:spcPts val="0"/>
              </a:spcAft>
              <a:buClr>
                <a:srgbClr val="1F4E78"/>
              </a:buClr>
              <a:buSzPts val="1400"/>
              <a:buFont typeface="Calibri"/>
              <a:buNone/>
            </a:pPr>
            <a:r>
              <a:rPr b="1" i="0" lang="en" sz="1400" u="none" cap="none" strike="noStrike">
                <a:solidFill>
                  <a:srgbClr val="1F4E78"/>
                </a:solidFill>
                <a:latin typeface="Lexend"/>
                <a:ea typeface="Lexend"/>
                <a:cs typeface="Lexend"/>
                <a:sym typeface="Lexend"/>
              </a:rPr>
              <a:t>OKR Tracking — Tháng 8</a:t>
            </a:r>
            <a:endParaRPr i="0" sz="1400" u="none" cap="none" strike="noStrike">
              <a:solidFill>
                <a:srgbClr val="00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1"/>
          <p:cNvSpPr/>
          <p:nvPr/>
        </p:nvSpPr>
        <p:spPr>
          <a:xfrm>
            <a:off x="0" y="0"/>
            <a:ext cx="9144000" cy="5143500"/>
          </a:xfrm>
          <a:prstGeom prst="rect">
            <a:avLst/>
          </a:prstGeom>
          <a:solidFill>
            <a:srgbClr val="FBFCFE"/>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8" name="Google Shape;378;p31"/>
          <p:cNvSpPr/>
          <p:nvPr/>
        </p:nvSpPr>
        <p:spPr>
          <a:xfrm>
            <a:off x="342900" y="904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9" name="Google Shape;379;p31"/>
          <p:cNvSpPr txBox="1"/>
          <p:nvPr/>
        </p:nvSpPr>
        <p:spPr>
          <a:xfrm>
            <a:off x="500063" y="132183"/>
            <a:ext cx="7001100" cy="153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000">
                <a:solidFill>
                  <a:srgbClr val="0E4174"/>
                </a:solidFill>
                <a:latin typeface="Lexend"/>
                <a:ea typeface="Lexend"/>
                <a:cs typeface="Lexend"/>
                <a:sym typeface="Lexend"/>
              </a:rPr>
              <a:t>PROJECT TASK TRACKING </a:t>
            </a:r>
            <a:endParaRPr sz="1000">
              <a:latin typeface="Lexend"/>
              <a:ea typeface="Lexend"/>
              <a:cs typeface="Lexend"/>
              <a:sym typeface="Lexend"/>
            </a:endParaRPr>
          </a:p>
        </p:txBody>
      </p:sp>
      <p:sp>
        <p:nvSpPr>
          <p:cNvPr id="380" name="Google Shape;380;p31"/>
          <p:cNvSpPr txBox="1"/>
          <p:nvPr/>
        </p:nvSpPr>
        <p:spPr>
          <a:xfrm>
            <a:off x="500063" y="375809"/>
            <a:ext cx="6429600" cy="153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000">
                <a:solidFill>
                  <a:schemeClr val="dk1"/>
                </a:solidFill>
                <a:latin typeface="Lexend"/>
                <a:ea typeface="Lexend"/>
                <a:cs typeface="Lexend"/>
                <a:sym typeface="Lexend"/>
              </a:rPr>
              <a:t>Đánh giá vận hành · Task đã triển khai · Kết quả thực tế · Lesson learned</a:t>
            </a:r>
            <a:endParaRPr b="1" sz="1000">
              <a:solidFill>
                <a:schemeClr val="dk1"/>
              </a:solidFill>
              <a:latin typeface="Lexend"/>
              <a:ea typeface="Lexend"/>
              <a:cs typeface="Lexend"/>
              <a:sym typeface="Lexend"/>
            </a:endParaRPr>
          </a:p>
        </p:txBody>
      </p:sp>
      <p:sp>
        <p:nvSpPr>
          <p:cNvPr id="381" name="Google Shape;381;p31"/>
          <p:cNvSpPr/>
          <p:nvPr/>
        </p:nvSpPr>
        <p:spPr>
          <a:xfrm>
            <a:off x="342900" y="619125"/>
            <a:ext cx="8727000" cy="713100"/>
          </a:xfrm>
          <a:prstGeom prst="roundRect">
            <a:avLst>
              <a:gd fmla="val 19047" name="adj"/>
            </a:avLst>
          </a:prstGeom>
          <a:solidFill>
            <a:srgbClr val="FFF3EB"/>
          </a:solidFill>
          <a:ln cap="flat" cmpd="sng" w="7150">
            <a:solidFill>
              <a:srgbClr val="FF751F"/>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000">
              <a:solidFill>
                <a:schemeClr val="dk1"/>
              </a:solidFill>
              <a:latin typeface="Times New Roman"/>
              <a:ea typeface="Times New Roman"/>
              <a:cs typeface="Times New Roman"/>
              <a:sym typeface="Times New Roman"/>
            </a:endParaRPr>
          </a:p>
        </p:txBody>
      </p:sp>
      <p:sp>
        <p:nvSpPr>
          <p:cNvPr id="382" name="Google Shape;382;p31"/>
          <p:cNvSpPr txBox="1"/>
          <p:nvPr/>
        </p:nvSpPr>
        <p:spPr>
          <a:xfrm>
            <a:off x="542850" y="810233"/>
            <a:ext cx="8058300" cy="330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 sz="1000">
                <a:solidFill>
                  <a:srgbClr val="374151"/>
                </a:solidFill>
                <a:latin typeface="Lexend"/>
                <a:ea typeface="Lexend"/>
                <a:cs typeface="Lexend"/>
                <a:sym typeface="Lexend"/>
              </a:rPr>
              <a:t>Minihub</a:t>
            </a:r>
            <a:r>
              <a:rPr lang="en" sz="1000">
                <a:solidFill>
                  <a:srgbClr val="374151"/>
                </a:solidFill>
                <a:latin typeface="Lexend"/>
                <a:ea typeface="Lexend"/>
                <a:cs typeface="Lexend"/>
                <a:sym typeface="Lexend"/>
              </a:rPr>
              <a:t>: Sản lượng và hiệu suất đang tốt, nhưng Active Driver và Coverage vẫn là điểm cần cải thiện, đặc biệt ở HAN</a:t>
            </a:r>
            <a:br>
              <a:rPr lang="en" sz="1000">
                <a:solidFill>
                  <a:srgbClr val="374151"/>
                </a:solidFill>
                <a:latin typeface="Lexend"/>
                <a:ea typeface="Lexend"/>
                <a:cs typeface="Lexend"/>
                <a:sym typeface="Lexend"/>
              </a:rPr>
            </a:br>
            <a:r>
              <a:rPr b="1" lang="en" sz="1000">
                <a:solidFill>
                  <a:srgbClr val="374151"/>
                </a:solidFill>
                <a:latin typeface="Lexend"/>
                <a:ea typeface="Lexend"/>
                <a:cs typeface="Lexend"/>
                <a:sym typeface="Lexend"/>
              </a:rPr>
              <a:t>EV</a:t>
            </a:r>
            <a:r>
              <a:rPr lang="en" sz="1000">
                <a:solidFill>
                  <a:srgbClr val="374151"/>
                </a:solidFill>
                <a:latin typeface="Lexend"/>
                <a:ea typeface="Lexend"/>
                <a:cs typeface="Lexend"/>
                <a:sym typeface="Lexend"/>
              </a:rPr>
              <a:t>: EV tăng cả nhu cầu lẫn Active, nhưng phần lớn tài xế vẫn chạy part-time nên nguồn cung chưa tăng tương ứng</a:t>
            </a:r>
            <a:endParaRPr sz="1000">
              <a:solidFill>
                <a:schemeClr val="dk1"/>
              </a:solidFill>
              <a:latin typeface="Lexend"/>
              <a:ea typeface="Lexend"/>
              <a:cs typeface="Lexend"/>
              <a:sym typeface="Lexend"/>
            </a:endParaRPr>
          </a:p>
        </p:txBody>
      </p:sp>
      <p:graphicFrame>
        <p:nvGraphicFramePr>
          <p:cNvPr id="383" name="Google Shape;383;p31"/>
          <p:cNvGraphicFramePr/>
          <p:nvPr/>
        </p:nvGraphicFramePr>
        <p:xfrm>
          <a:off x="342900" y="1484700"/>
          <a:ext cx="3000000" cy="3000000"/>
        </p:xfrm>
        <a:graphic>
          <a:graphicData uri="http://schemas.openxmlformats.org/drawingml/2006/table">
            <a:tbl>
              <a:tblPr>
                <a:noFill/>
                <a:tableStyleId>{2A309A38-FEAF-4256-BD77-F8EC82423C62}</a:tableStyleId>
              </a:tblPr>
              <a:tblGrid>
                <a:gridCol w="627550"/>
                <a:gridCol w="1294875"/>
                <a:gridCol w="2154500"/>
                <a:gridCol w="2483075"/>
                <a:gridCol w="2167025"/>
              </a:tblGrid>
              <a:tr h="244100">
                <a:tc>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TOPIC</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TASK ĐÃ TRIỂN KHAI</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MỤC TIÊU</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KẾT QUẢ THỰC TẾ</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LESSON LEARNED</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r>
              <a:tr h="473875">
                <a:tc rowSpan="3">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Minihub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3EB"/>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Triển khai chế tài 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Tỉ lệ vi phạm &lt;20%, Capacity Hub vẫn duy trì theo tiến độ dự án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Hiện còn pilot, 14/9 mới chính thức áp dụng</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Tỉ lệ vi phạm cao và chuyển dịch nhanh chóng từ L1 → L4, r</a:t>
                      </a:r>
                      <a:r>
                        <a:rPr lang="en" sz="800">
                          <a:latin typeface="Lexend"/>
                          <a:ea typeface="Lexend"/>
                          <a:cs typeface="Lexend"/>
                          <a:sym typeface="Lexend"/>
                        </a:rPr>
                        <a:t>ủi ro rớt active sâu</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473875">
                <a:tc vMerge="1"/>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Convert core Tia Chớp → 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000000">
                        <a:alpha val="0"/>
                      </a:srgbClr>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Thống nhất đội core hoạt động giống mô hình Hub về Hub để tối ưu việc quản lý, tăng được active nòng cốt trong 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000000">
                        <a:alpha val="0"/>
                      </a:srgbClr>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  Convert được 48% (32/68 TX) Tia Chớp vào Hub trong giai đoạn tuần đầu tiên</a:t>
                      </a:r>
                      <a:endParaRPr sz="800">
                        <a:latin typeface="Lexend"/>
                        <a:ea typeface="Lexend"/>
                        <a:cs typeface="Lexend"/>
                        <a:sym typeface="Lexend"/>
                      </a:endParaRPr>
                    </a:p>
                    <a:p>
                      <a:pPr indent="0" lvl="0" marL="0" marR="0" rtl="0" algn="l">
                        <a:spcBef>
                          <a:spcPts val="0"/>
                        </a:spcBef>
                        <a:spcAft>
                          <a:spcPts val="0"/>
                        </a:spcAft>
                        <a:buNone/>
                      </a:pPr>
                      <a:r>
                        <a:rPr lang="en" sz="800" u="none" cap="none" strike="noStrike">
                          <a:latin typeface="Lexend"/>
                          <a:ea typeface="Lexend"/>
                          <a:cs typeface="Lexend"/>
                          <a:sym typeface="Lexend"/>
                        </a:rPr>
                        <a:t>•  Đảm bảo được performance KA và tăng được coverage KA MiniHub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000000">
                        <a:alpha val="0"/>
                      </a:srgbClr>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  Minizone chưa đủ phủ rộng các khu vực trước khi Tia Chớp hoạt động (Q2) → TX chọn hoạt động Mass → theo dõi phía Project cho việc mở rộng thêm Minizone các khu vực còn trống</a:t>
                      </a:r>
                      <a:endParaRPr sz="800">
                        <a:latin typeface="Lexend"/>
                        <a:ea typeface="Lexend"/>
                        <a:cs typeface="Lexend"/>
                        <a:sym typeface="Lexend"/>
                      </a:endParaRPr>
                    </a:p>
                    <a:p>
                      <a:pPr indent="0" lvl="0" marL="0" marR="0" rtl="0" algn="l">
                        <a:spcBef>
                          <a:spcPts val="0"/>
                        </a:spcBef>
                        <a:spcAft>
                          <a:spcPts val="0"/>
                        </a:spcAft>
                        <a:buNone/>
                      </a:pPr>
                      <a:r>
                        <a:rPr lang="en" sz="800" u="none" cap="none" strike="noStrike">
                          <a:latin typeface="Lexend"/>
                          <a:ea typeface="Lexend"/>
                          <a:cs typeface="Lexend"/>
                          <a:sym typeface="Lexend"/>
                        </a:rPr>
                        <a:t>•  Tối ưu được thời gian trong việc quản lý đội nhóm của DM</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000000">
                        <a:alpha val="0"/>
                      </a:srgbClr>
                    </a:solidFill>
                  </a:tcPr>
                </a:tc>
              </a:tr>
              <a:tr h="473875">
                <a:tc vMerge="1"/>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Cityzone</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 sz="800">
                          <a:latin typeface="Lexend"/>
                          <a:ea typeface="Lexend"/>
                          <a:cs typeface="Lexend"/>
                          <a:sym typeface="Lexend"/>
                        </a:rPr>
                        <a:t>Đẩy mạnh chất lượng tại HAN, mở rộng mô hình lên 500 tài xế</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Font typeface="Arial"/>
                        <a:buNone/>
                      </a:pPr>
                      <a:r>
                        <a:rPr lang="en" sz="800">
                          <a:latin typeface="Lexend"/>
                          <a:ea typeface="Lexend"/>
                          <a:cs typeface="Lexend"/>
                          <a:sym typeface="Lexend"/>
                        </a:rPr>
                        <a:t>Hiện đạt 356 tài xế</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Font typeface="Arial"/>
                        <a:buNone/>
                      </a:pPr>
                      <a:r>
                        <a:rPr lang="en" sz="800">
                          <a:latin typeface="Lexend"/>
                          <a:ea typeface="Lexend"/>
                          <a:cs typeface="Lexend"/>
                          <a:sym typeface="Lexend"/>
                        </a:rPr>
                        <a:t>Tài xế đã đăng ký nhưng không checkin chiếm ~50% số lượng, cần deepdive và tạo thói quen ca kíp ngay từ ban đầu</a:t>
                      </a:r>
                      <a:endParaRPr sz="800" u="none" cap="none" strike="noStrike">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473875">
                <a:tc rowSpan="3">
                  <a:txBody>
                    <a:bodyPr/>
                    <a:lstStyle/>
                    <a:p>
                      <a:pPr indent="0" lvl="0" marL="0" marR="0" rtl="0" algn="l">
                        <a:spcBef>
                          <a:spcPts val="0"/>
                        </a:spcBef>
                        <a:spcAft>
                          <a:spcPts val="0"/>
                        </a:spcAft>
                        <a:buNone/>
                      </a:pPr>
                      <a:r>
                        <a:rPr b="1" lang="en" sz="800" u="none" cap="none" strike="noStrike">
                          <a:latin typeface="Lexend"/>
                          <a:ea typeface="Lexend"/>
                          <a:cs typeface="Lexend"/>
                          <a:sym typeface="Lexend"/>
                        </a:rPr>
                        <a:t>EV</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3EB"/>
                    </a:solidFill>
                  </a:tcPr>
                </a:tc>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Đua top EV</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a:latin typeface="Lexend"/>
                          <a:ea typeface="Lexend"/>
                          <a:cs typeface="Lexend"/>
                          <a:sym typeface="Lexend"/>
                        </a:rPr>
                        <a:t>Chương trình viral tăng số lượng chuyển đổi </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800">
                          <a:latin typeface="Lexend"/>
                          <a:ea typeface="Lexend"/>
                          <a:cs typeface="Lexend"/>
                          <a:sym typeface="Lexend"/>
                        </a:rPr>
                        <a:t>Hiện đạt 356 tài xế tăng MoM ở tất cả các khoảng, lượng lead quan tâm tăng 100% MoM</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a:latin typeface="Lexend"/>
                          <a:ea typeface="Lexend"/>
                          <a:cs typeface="Lexend"/>
                          <a:sym typeface="Lexend"/>
                        </a:rPr>
                        <a:t>Chương trình viral nhưng từ biết -&gt; Chuyển đổi còn nhiều rào cản </a:t>
                      </a:r>
                      <a:endParaRPr sz="800" u="none" cap="none" strike="noStrike">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473875">
                <a:tc vMerge="1"/>
                <a:tc>
                  <a:txBody>
                    <a:bodyPr/>
                    <a:lstStyle/>
                    <a:p>
                      <a:pPr indent="0" lvl="0" marL="0" marR="0" rtl="0" algn="l">
                        <a:spcBef>
                          <a:spcPts val="0"/>
                        </a:spcBef>
                        <a:spcAft>
                          <a:spcPts val="0"/>
                        </a:spcAft>
                        <a:buNone/>
                      </a:pPr>
                      <a:r>
                        <a:rPr lang="en" sz="800" u="none" cap="none" strike="noStrike">
                          <a:latin typeface="Lexend"/>
                          <a:ea typeface="Lexend"/>
                          <a:cs typeface="Lexend"/>
                          <a:sym typeface="Lexend"/>
                        </a:rPr>
                        <a:t>Policy Old retention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 sz="800">
                          <a:latin typeface="Lexend"/>
                          <a:ea typeface="Lexend"/>
                          <a:cs typeface="Lexend"/>
                          <a:sym typeface="Lexend"/>
                        </a:rPr>
                        <a:t>Triển khai chương trình EV Ranking, quyền lợi xuyên suốt 1 tháng cho tài xế </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a:latin typeface="Lexend"/>
                          <a:ea typeface="Lexend"/>
                          <a:cs typeface="Lexend"/>
                          <a:sym typeface="Lexend"/>
                        </a:rPr>
                        <a:t>2439 tài xế có xếp hạng chạy thưởng nhận quyền lợi của mình</a:t>
                      </a:r>
                      <a:endParaRPr sz="800" u="none" cap="none" strike="noStrike">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a:latin typeface="Lexend"/>
                          <a:ea typeface="Lexend"/>
                          <a:cs typeface="Lexend"/>
                          <a:sym typeface="Lexend"/>
                        </a:rPr>
                        <a:t>Tài xế chưa nắm được cách chia rank, thắc mắc về rank của mình, cần truyền thông rõ hơn quyền lợi ranking EV</a:t>
                      </a:r>
                      <a:endParaRPr sz="800" u="none" cap="none" strike="noStrike">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473875">
                <a:tc vMerge="1"/>
                <a:tc>
                  <a:txBody>
                    <a:bodyPr/>
                    <a:lstStyle/>
                    <a:p>
                      <a:pPr indent="0" lvl="0" marL="0" marR="0" rtl="0" algn="l">
                        <a:spcBef>
                          <a:spcPts val="0"/>
                        </a:spcBef>
                        <a:spcAft>
                          <a:spcPts val="0"/>
                        </a:spcAft>
                        <a:buNone/>
                      </a:pPr>
                      <a:r>
                        <a:rPr lang="en" sz="800">
                          <a:latin typeface="Lexend"/>
                          <a:ea typeface="Lexend"/>
                          <a:cs typeface="Lexend"/>
                          <a:sym typeface="Lexend"/>
                        </a:rPr>
                        <a:t>Tổng hợp data lead</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 sz="800">
                          <a:latin typeface="Lexend"/>
                          <a:ea typeface="Lexend"/>
                          <a:cs typeface="Lexend"/>
                          <a:sym typeface="Lexend"/>
                        </a:rPr>
                        <a:t>Chuẩn hóa data lead đổ về</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Font typeface="Arial"/>
                        <a:buNone/>
                      </a:pPr>
                      <a:r>
                        <a:rPr lang="en" sz="800">
                          <a:latin typeface="Lexend"/>
                          <a:ea typeface="Lexend"/>
                          <a:cs typeface="Lexend"/>
                          <a:sym typeface="Lexend"/>
                        </a:rPr>
                        <a:t>Tự động hóa ghi nhận lead tới các partner để convert, có data thống kê lại lead </a:t>
                      </a:r>
                      <a:endParaRPr sz="800" u="none" cap="none" strike="noStrike">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800" u="none" cap="none" strike="noStrike">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8" name="Shape 388"/>
        <p:cNvGrpSpPr/>
        <p:nvPr/>
      </p:nvGrpSpPr>
      <p:grpSpPr>
        <a:xfrm>
          <a:off x="0" y="0"/>
          <a:ext cx="0" cy="0"/>
          <a:chOff x="0" y="0"/>
          <a:chExt cx="0" cy="0"/>
        </a:xfrm>
      </p:grpSpPr>
      <p:sp>
        <p:nvSpPr>
          <p:cNvPr id="389" name="Google Shape;389;p32"/>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0" name="Google Shape;390;p32"/>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ACTIVE DRIVER</a:t>
            </a:r>
            <a:endParaRPr sz="1100"/>
          </a:p>
        </p:txBody>
      </p:sp>
      <p:sp>
        <p:nvSpPr>
          <p:cNvPr id="391" name="Google Shape;391;p32"/>
          <p:cNvSpPr txBox="1"/>
          <p:nvPr/>
        </p:nvSpPr>
        <p:spPr>
          <a:xfrm>
            <a:off x="442913" y="794904"/>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800">
                <a:solidFill>
                  <a:srgbClr val="6B7280"/>
                </a:solidFill>
                <a:latin typeface="Lexend"/>
                <a:ea typeface="Lexend"/>
                <a:cs typeface="Lexend"/>
                <a:sym typeface="Lexend"/>
              </a:rPr>
              <a:t>Active drivers/tuần theo zone · TB 4 tuần T8 (03–24/08) vs T7 (06–27/07/2026)</a:t>
            </a:r>
            <a:endParaRPr sz="1100"/>
          </a:p>
        </p:txBody>
      </p:sp>
      <p:sp>
        <p:nvSpPr>
          <p:cNvPr id="392" name="Google Shape;392;p32"/>
          <p:cNvSpPr/>
          <p:nvPr/>
        </p:nvSpPr>
        <p:spPr>
          <a:xfrm>
            <a:off x="7600950" y="300038"/>
            <a:ext cx="12003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3" name="Google Shape;393;p32"/>
          <p:cNvSpPr txBox="1"/>
          <p:nvPr/>
        </p:nvSpPr>
        <p:spPr>
          <a:xfrm>
            <a:off x="7600950" y="349616"/>
            <a:ext cx="1200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E0641A"/>
                </a:solidFill>
                <a:latin typeface="Lexend"/>
                <a:ea typeface="Lexend"/>
                <a:cs typeface="Lexend"/>
                <a:sym typeface="Lexend"/>
              </a:rPr>
              <a:t>T8 vs T7</a:t>
            </a:r>
            <a:endParaRPr sz="1100"/>
          </a:p>
        </p:txBody>
      </p:sp>
      <p:sp>
        <p:nvSpPr>
          <p:cNvPr id="394" name="Google Shape;394;p32"/>
          <p:cNvSpPr/>
          <p:nvPr/>
        </p:nvSpPr>
        <p:spPr>
          <a:xfrm>
            <a:off x="342900" y="942975"/>
            <a:ext cx="5429400" cy="3072000"/>
          </a:xfrm>
          <a:prstGeom prst="roundRect">
            <a:avLst>
              <a:gd fmla="val 3720"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5" name="Google Shape;395;p32"/>
          <p:cNvSpPr txBox="1"/>
          <p:nvPr/>
        </p:nvSpPr>
        <p:spPr>
          <a:xfrm>
            <a:off x="542925" y="1061918"/>
            <a:ext cx="20001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Active drivers / tuần</a:t>
            </a:r>
            <a:endParaRPr sz="1100"/>
          </a:p>
        </p:txBody>
      </p:sp>
      <p:sp>
        <p:nvSpPr>
          <p:cNvPr id="396" name="Google Shape;396;p32"/>
          <p:cNvSpPr/>
          <p:nvPr/>
        </p:nvSpPr>
        <p:spPr>
          <a:xfrm>
            <a:off x="4000500" y="1150144"/>
            <a:ext cx="114300" cy="216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7" name="Google Shape;397;p32"/>
          <p:cNvSpPr txBox="1"/>
          <p:nvPr/>
        </p:nvSpPr>
        <p:spPr>
          <a:xfrm>
            <a:off x="4157663" y="1098780"/>
            <a:ext cx="5001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HAN</a:t>
            </a:r>
            <a:endParaRPr sz="1100"/>
          </a:p>
        </p:txBody>
      </p:sp>
      <p:sp>
        <p:nvSpPr>
          <p:cNvPr id="398" name="Google Shape;398;p32"/>
          <p:cNvSpPr/>
          <p:nvPr/>
        </p:nvSpPr>
        <p:spPr>
          <a:xfrm>
            <a:off x="4473416" y="1150144"/>
            <a:ext cx="114300" cy="21600"/>
          </a:xfrm>
          <a:prstGeom prst="roundRect">
            <a:avLst>
              <a:gd fmla="val 50000" name="adj"/>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32"/>
          <p:cNvSpPr txBox="1"/>
          <p:nvPr/>
        </p:nvSpPr>
        <p:spPr>
          <a:xfrm>
            <a:off x="4630579" y="1133770"/>
            <a:ext cx="5001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SGN</a:t>
            </a:r>
            <a:endParaRPr sz="1100"/>
          </a:p>
        </p:txBody>
      </p:sp>
      <p:sp>
        <p:nvSpPr>
          <p:cNvPr id="400" name="Google Shape;400;p32"/>
          <p:cNvSpPr/>
          <p:nvPr/>
        </p:nvSpPr>
        <p:spPr>
          <a:xfrm>
            <a:off x="3257550" y="1428750"/>
            <a:ext cx="2257500" cy="1785900"/>
          </a:xfrm>
          <a:prstGeom prst="rect">
            <a:avLst/>
          </a:prstGeom>
          <a:solidFill>
            <a:srgbClr val="FFFA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1" name="Google Shape;401;p32"/>
          <p:cNvSpPr/>
          <p:nvPr/>
        </p:nvSpPr>
        <p:spPr>
          <a:xfrm>
            <a:off x="1000125" y="3210401"/>
            <a:ext cx="4515000" cy="8700"/>
          </a:xfrm>
          <a:prstGeom prst="rect">
            <a:avLst/>
          </a:prstGeom>
          <a:solidFill>
            <a:srgbClr val="E5E9E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2" name="Google Shape;402;p32"/>
          <p:cNvSpPr txBox="1"/>
          <p:nvPr/>
        </p:nvSpPr>
        <p:spPr>
          <a:xfrm>
            <a:off x="442913" y="3151109"/>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180</a:t>
            </a:r>
            <a:endParaRPr sz="1100"/>
          </a:p>
        </p:txBody>
      </p:sp>
      <p:sp>
        <p:nvSpPr>
          <p:cNvPr id="403" name="Google Shape;403;p32"/>
          <p:cNvSpPr/>
          <p:nvPr/>
        </p:nvSpPr>
        <p:spPr>
          <a:xfrm>
            <a:off x="1000125" y="2913459"/>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4" name="Google Shape;404;p32"/>
          <p:cNvSpPr txBox="1"/>
          <p:nvPr/>
        </p:nvSpPr>
        <p:spPr>
          <a:xfrm>
            <a:off x="442913" y="2853452"/>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220</a:t>
            </a:r>
            <a:endParaRPr sz="1100"/>
          </a:p>
        </p:txBody>
      </p:sp>
      <p:sp>
        <p:nvSpPr>
          <p:cNvPr id="405" name="Google Shape;405;p32"/>
          <p:cNvSpPr/>
          <p:nvPr/>
        </p:nvSpPr>
        <p:spPr>
          <a:xfrm>
            <a:off x="1000125" y="2615804"/>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6" name="Google Shape;406;p32"/>
          <p:cNvSpPr txBox="1"/>
          <p:nvPr/>
        </p:nvSpPr>
        <p:spPr>
          <a:xfrm>
            <a:off x="442913" y="2555796"/>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260</a:t>
            </a:r>
            <a:endParaRPr sz="1100"/>
          </a:p>
        </p:txBody>
      </p:sp>
      <p:sp>
        <p:nvSpPr>
          <p:cNvPr id="407" name="Google Shape;407;p32"/>
          <p:cNvSpPr/>
          <p:nvPr/>
        </p:nvSpPr>
        <p:spPr>
          <a:xfrm>
            <a:off x="1000125" y="2318147"/>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8" name="Google Shape;408;p32"/>
          <p:cNvSpPr txBox="1"/>
          <p:nvPr/>
        </p:nvSpPr>
        <p:spPr>
          <a:xfrm>
            <a:off x="442913" y="2258139"/>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300</a:t>
            </a:r>
            <a:endParaRPr sz="1100"/>
          </a:p>
        </p:txBody>
      </p:sp>
      <p:sp>
        <p:nvSpPr>
          <p:cNvPr id="409" name="Google Shape;409;p32"/>
          <p:cNvSpPr/>
          <p:nvPr/>
        </p:nvSpPr>
        <p:spPr>
          <a:xfrm>
            <a:off x="1000125" y="2020491"/>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0" name="Google Shape;410;p32"/>
          <p:cNvSpPr txBox="1"/>
          <p:nvPr/>
        </p:nvSpPr>
        <p:spPr>
          <a:xfrm>
            <a:off x="442913" y="1960484"/>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340</a:t>
            </a:r>
            <a:endParaRPr sz="1100"/>
          </a:p>
        </p:txBody>
      </p:sp>
      <p:sp>
        <p:nvSpPr>
          <p:cNvPr id="411" name="Google Shape;411;p32"/>
          <p:cNvSpPr/>
          <p:nvPr/>
        </p:nvSpPr>
        <p:spPr>
          <a:xfrm>
            <a:off x="1000125" y="1722834"/>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2" name="Google Shape;412;p32"/>
          <p:cNvSpPr txBox="1"/>
          <p:nvPr/>
        </p:nvSpPr>
        <p:spPr>
          <a:xfrm>
            <a:off x="442913" y="1662827"/>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380</a:t>
            </a:r>
            <a:endParaRPr sz="1100"/>
          </a:p>
        </p:txBody>
      </p:sp>
      <p:sp>
        <p:nvSpPr>
          <p:cNvPr id="413" name="Google Shape;413;p32"/>
          <p:cNvSpPr/>
          <p:nvPr/>
        </p:nvSpPr>
        <p:spPr>
          <a:xfrm>
            <a:off x="1000125" y="1425179"/>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4" name="Google Shape;414;p32"/>
          <p:cNvSpPr txBox="1"/>
          <p:nvPr/>
        </p:nvSpPr>
        <p:spPr>
          <a:xfrm>
            <a:off x="442913" y="1365171"/>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420</a:t>
            </a:r>
            <a:endParaRPr sz="1100"/>
          </a:p>
        </p:txBody>
      </p:sp>
      <p:sp>
        <p:nvSpPr>
          <p:cNvPr id="415" name="Google Shape;415;p32"/>
          <p:cNvSpPr txBox="1"/>
          <p:nvPr/>
        </p:nvSpPr>
        <p:spPr>
          <a:xfrm>
            <a:off x="785813"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06/07</a:t>
            </a:r>
            <a:endParaRPr sz="1100"/>
          </a:p>
        </p:txBody>
      </p:sp>
      <p:sp>
        <p:nvSpPr>
          <p:cNvPr id="416" name="Google Shape;416;p32"/>
          <p:cNvSpPr txBox="1"/>
          <p:nvPr/>
        </p:nvSpPr>
        <p:spPr>
          <a:xfrm>
            <a:off x="1430791"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13/07</a:t>
            </a:r>
            <a:endParaRPr sz="1100"/>
          </a:p>
        </p:txBody>
      </p:sp>
      <p:sp>
        <p:nvSpPr>
          <p:cNvPr id="417" name="Google Shape;417;p32"/>
          <p:cNvSpPr txBox="1"/>
          <p:nvPr/>
        </p:nvSpPr>
        <p:spPr>
          <a:xfrm>
            <a:off x="2075770"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20/07</a:t>
            </a:r>
            <a:endParaRPr sz="1100"/>
          </a:p>
        </p:txBody>
      </p:sp>
      <p:sp>
        <p:nvSpPr>
          <p:cNvPr id="418" name="Google Shape;418;p32"/>
          <p:cNvSpPr txBox="1"/>
          <p:nvPr/>
        </p:nvSpPr>
        <p:spPr>
          <a:xfrm>
            <a:off x="2720748"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27/07</a:t>
            </a:r>
            <a:endParaRPr sz="1100"/>
          </a:p>
        </p:txBody>
      </p:sp>
      <p:sp>
        <p:nvSpPr>
          <p:cNvPr id="419" name="Google Shape;419;p32"/>
          <p:cNvSpPr txBox="1"/>
          <p:nvPr/>
        </p:nvSpPr>
        <p:spPr>
          <a:xfrm>
            <a:off x="3365727"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03/08</a:t>
            </a:r>
            <a:endParaRPr sz="1100"/>
          </a:p>
        </p:txBody>
      </p:sp>
      <p:sp>
        <p:nvSpPr>
          <p:cNvPr id="420" name="Google Shape;420;p32"/>
          <p:cNvSpPr txBox="1"/>
          <p:nvPr/>
        </p:nvSpPr>
        <p:spPr>
          <a:xfrm>
            <a:off x="4010705"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10/08</a:t>
            </a:r>
            <a:endParaRPr sz="1100"/>
          </a:p>
        </p:txBody>
      </p:sp>
      <p:sp>
        <p:nvSpPr>
          <p:cNvPr id="421" name="Google Shape;421;p32"/>
          <p:cNvSpPr txBox="1"/>
          <p:nvPr/>
        </p:nvSpPr>
        <p:spPr>
          <a:xfrm>
            <a:off x="4655684"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17/08</a:t>
            </a:r>
            <a:endParaRPr sz="1100"/>
          </a:p>
        </p:txBody>
      </p:sp>
      <p:sp>
        <p:nvSpPr>
          <p:cNvPr id="422" name="Google Shape;422;p32"/>
          <p:cNvSpPr txBox="1"/>
          <p:nvPr/>
        </p:nvSpPr>
        <p:spPr>
          <a:xfrm>
            <a:off x="5300663" y="327969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24/08</a:t>
            </a:r>
            <a:endParaRPr sz="1100"/>
          </a:p>
        </p:txBody>
      </p:sp>
      <p:sp>
        <p:nvSpPr>
          <p:cNvPr id="423" name="Google Shape;423;p32"/>
          <p:cNvSpPr/>
          <p:nvPr/>
        </p:nvSpPr>
        <p:spPr>
          <a:xfrm>
            <a:off x="3252549" y="1428750"/>
            <a:ext cx="10200" cy="1785900"/>
          </a:xfrm>
          <a:prstGeom prst="rect">
            <a:avLst/>
          </a:prstGeom>
          <a:solidFill>
            <a:srgbClr val="FFD9B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32"/>
          <p:cNvSpPr txBox="1"/>
          <p:nvPr/>
        </p:nvSpPr>
        <p:spPr>
          <a:xfrm>
            <a:off x="1985963" y="1274838"/>
            <a:ext cx="2859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T7</a:t>
            </a:r>
            <a:endParaRPr sz="1100"/>
          </a:p>
        </p:txBody>
      </p:sp>
      <p:sp>
        <p:nvSpPr>
          <p:cNvPr id="425" name="Google Shape;425;p32"/>
          <p:cNvSpPr txBox="1"/>
          <p:nvPr/>
        </p:nvSpPr>
        <p:spPr>
          <a:xfrm>
            <a:off x="4243388" y="1274838"/>
            <a:ext cx="2859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T8</a:t>
            </a:r>
            <a:endParaRPr sz="1100"/>
          </a:p>
        </p:txBody>
      </p:sp>
      <p:sp>
        <p:nvSpPr>
          <p:cNvPr id="426" name="Google Shape;426;p32"/>
          <p:cNvSpPr/>
          <p:nvPr/>
        </p:nvSpPr>
        <p:spPr>
          <a:xfrm>
            <a:off x="1000125" y="1635919"/>
            <a:ext cx="4514850" cy="450056"/>
          </a:xfrm>
          <a:custGeom>
            <a:rect b="b" l="l" r="r" t="t"/>
            <a:pathLst>
              <a:path extrusionOk="0" h="63" w="632">
                <a:moveTo>
                  <a:pt x="0" y="55"/>
                </a:moveTo>
                <a:lnTo>
                  <a:pt x="90" y="63"/>
                </a:lnTo>
                <a:lnTo>
                  <a:pt x="181" y="27"/>
                </a:lnTo>
                <a:lnTo>
                  <a:pt x="271" y="37"/>
                </a:lnTo>
                <a:lnTo>
                  <a:pt x="361" y="36"/>
                </a:lnTo>
                <a:lnTo>
                  <a:pt x="451" y="10"/>
                </a:lnTo>
                <a:lnTo>
                  <a:pt x="542" y="0"/>
                </a:lnTo>
                <a:lnTo>
                  <a:pt x="632" y="5"/>
                </a:lnTo>
              </a:path>
            </a:pathLst>
          </a:custGeom>
          <a:noFill/>
          <a:ln cap="flat" cmpd="sng" w="1237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27" name="Google Shape;427;p32"/>
          <p:cNvSpPr/>
          <p:nvPr/>
        </p:nvSpPr>
        <p:spPr>
          <a:xfrm>
            <a:off x="968693" y="2000072"/>
            <a:ext cx="63000" cy="630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8" name="Google Shape;428;p32"/>
          <p:cNvSpPr txBox="1"/>
          <p:nvPr/>
        </p:nvSpPr>
        <p:spPr>
          <a:xfrm>
            <a:off x="750094" y="186537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339</a:t>
            </a:r>
            <a:endParaRPr sz="1100"/>
          </a:p>
        </p:txBody>
      </p:sp>
      <p:sp>
        <p:nvSpPr>
          <p:cNvPr id="429" name="Google Shape;429;p32"/>
          <p:cNvSpPr/>
          <p:nvPr/>
        </p:nvSpPr>
        <p:spPr>
          <a:xfrm>
            <a:off x="1622243" y="2060734"/>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0" name="Google Shape;430;p32"/>
          <p:cNvSpPr txBox="1"/>
          <p:nvPr/>
        </p:nvSpPr>
        <p:spPr>
          <a:xfrm>
            <a:off x="1395072" y="191746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332</a:t>
            </a:r>
            <a:endParaRPr sz="1100"/>
          </a:p>
        </p:txBody>
      </p:sp>
      <p:sp>
        <p:nvSpPr>
          <p:cNvPr id="431" name="Google Shape;431;p32"/>
          <p:cNvSpPr/>
          <p:nvPr/>
        </p:nvSpPr>
        <p:spPr>
          <a:xfrm>
            <a:off x="2267222" y="1807726"/>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2" name="Google Shape;432;p32"/>
          <p:cNvSpPr txBox="1"/>
          <p:nvPr/>
        </p:nvSpPr>
        <p:spPr>
          <a:xfrm>
            <a:off x="2040051" y="1664458"/>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366</a:t>
            </a:r>
            <a:endParaRPr sz="1100"/>
          </a:p>
        </p:txBody>
      </p:sp>
      <p:sp>
        <p:nvSpPr>
          <p:cNvPr id="433" name="Google Shape;433;p32"/>
          <p:cNvSpPr/>
          <p:nvPr/>
        </p:nvSpPr>
        <p:spPr>
          <a:xfrm>
            <a:off x="2912201" y="1874699"/>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4" name="Google Shape;434;p32"/>
          <p:cNvSpPr txBox="1"/>
          <p:nvPr/>
        </p:nvSpPr>
        <p:spPr>
          <a:xfrm>
            <a:off x="2685029" y="1731431"/>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357</a:t>
            </a:r>
            <a:endParaRPr sz="1100"/>
          </a:p>
        </p:txBody>
      </p:sp>
      <p:sp>
        <p:nvSpPr>
          <p:cNvPr id="435" name="Google Shape;435;p32"/>
          <p:cNvSpPr/>
          <p:nvPr/>
        </p:nvSpPr>
        <p:spPr>
          <a:xfrm>
            <a:off x="3557180" y="1867257"/>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6" name="Google Shape;436;p32"/>
          <p:cNvSpPr txBox="1"/>
          <p:nvPr/>
        </p:nvSpPr>
        <p:spPr>
          <a:xfrm>
            <a:off x="3330008" y="172398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358</a:t>
            </a:r>
            <a:endParaRPr sz="1100"/>
          </a:p>
        </p:txBody>
      </p:sp>
      <p:sp>
        <p:nvSpPr>
          <p:cNvPr id="437" name="Google Shape;437;p32"/>
          <p:cNvSpPr/>
          <p:nvPr/>
        </p:nvSpPr>
        <p:spPr>
          <a:xfrm>
            <a:off x="4202158" y="1681222"/>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8" name="Google Shape;438;p32"/>
          <p:cNvSpPr txBox="1"/>
          <p:nvPr/>
        </p:nvSpPr>
        <p:spPr>
          <a:xfrm>
            <a:off x="3974987" y="1537955"/>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383</a:t>
            </a:r>
            <a:endParaRPr sz="1100"/>
          </a:p>
        </p:txBody>
      </p:sp>
      <p:sp>
        <p:nvSpPr>
          <p:cNvPr id="439" name="Google Shape;439;p32"/>
          <p:cNvSpPr/>
          <p:nvPr/>
        </p:nvSpPr>
        <p:spPr>
          <a:xfrm>
            <a:off x="4847137" y="1614250"/>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0" name="Google Shape;440;p32"/>
          <p:cNvSpPr txBox="1"/>
          <p:nvPr/>
        </p:nvSpPr>
        <p:spPr>
          <a:xfrm>
            <a:off x="4619966" y="1470982"/>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392</a:t>
            </a:r>
            <a:endParaRPr sz="1100"/>
          </a:p>
        </p:txBody>
      </p:sp>
      <p:sp>
        <p:nvSpPr>
          <p:cNvPr id="441" name="Google Shape;441;p32"/>
          <p:cNvSpPr/>
          <p:nvPr/>
        </p:nvSpPr>
        <p:spPr>
          <a:xfrm>
            <a:off x="5483543" y="1642884"/>
            <a:ext cx="63000" cy="630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2" name="Google Shape;442;p32"/>
          <p:cNvSpPr txBox="1"/>
          <p:nvPr/>
        </p:nvSpPr>
        <p:spPr>
          <a:xfrm>
            <a:off x="5264944" y="150818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387</a:t>
            </a:r>
            <a:endParaRPr sz="1100"/>
          </a:p>
        </p:txBody>
      </p:sp>
      <p:sp>
        <p:nvSpPr>
          <p:cNvPr id="443" name="Google Shape;443;p32"/>
          <p:cNvSpPr/>
          <p:nvPr/>
        </p:nvSpPr>
        <p:spPr>
          <a:xfrm>
            <a:off x="1000125" y="2614613"/>
            <a:ext cx="4514850" cy="428625"/>
          </a:xfrm>
          <a:custGeom>
            <a:rect b="b" l="l" r="r" t="t"/>
            <a:pathLst>
              <a:path extrusionOk="0" h="60" w="632">
                <a:moveTo>
                  <a:pt x="0" y="4"/>
                </a:moveTo>
                <a:lnTo>
                  <a:pt x="90" y="12"/>
                </a:lnTo>
                <a:lnTo>
                  <a:pt x="181" y="4"/>
                </a:lnTo>
                <a:lnTo>
                  <a:pt x="271" y="0"/>
                </a:lnTo>
                <a:lnTo>
                  <a:pt x="361" y="10"/>
                </a:lnTo>
                <a:lnTo>
                  <a:pt x="451" y="40"/>
                </a:lnTo>
                <a:lnTo>
                  <a:pt x="542" y="54"/>
                </a:lnTo>
                <a:lnTo>
                  <a:pt x="632" y="60"/>
                </a:lnTo>
              </a:path>
            </a:pathLst>
          </a:custGeom>
          <a:noFill/>
          <a:ln cap="flat" cmpd="sng" w="1237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44" name="Google Shape;444;p32"/>
          <p:cNvSpPr/>
          <p:nvPr/>
        </p:nvSpPr>
        <p:spPr>
          <a:xfrm>
            <a:off x="968693" y="2610267"/>
            <a:ext cx="63000" cy="630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5" name="Google Shape;445;p32"/>
          <p:cNvSpPr txBox="1"/>
          <p:nvPr/>
        </p:nvSpPr>
        <p:spPr>
          <a:xfrm>
            <a:off x="750094" y="2475572"/>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257</a:t>
            </a:r>
            <a:endParaRPr sz="1100"/>
          </a:p>
        </p:txBody>
      </p:sp>
      <p:sp>
        <p:nvSpPr>
          <p:cNvPr id="446" name="Google Shape;446;p32"/>
          <p:cNvSpPr/>
          <p:nvPr/>
        </p:nvSpPr>
        <p:spPr>
          <a:xfrm>
            <a:off x="1622243" y="2678371"/>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7" name="Google Shape;447;p32"/>
          <p:cNvSpPr txBox="1"/>
          <p:nvPr/>
        </p:nvSpPr>
        <p:spPr>
          <a:xfrm>
            <a:off x="1395072" y="2535103"/>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249</a:t>
            </a:r>
            <a:endParaRPr sz="1100"/>
          </a:p>
        </p:txBody>
      </p:sp>
      <p:sp>
        <p:nvSpPr>
          <p:cNvPr id="448" name="Google Shape;448;p32"/>
          <p:cNvSpPr/>
          <p:nvPr/>
        </p:nvSpPr>
        <p:spPr>
          <a:xfrm>
            <a:off x="2267222" y="2618840"/>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9" name="Google Shape;449;p32"/>
          <p:cNvSpPr txBox="1"/>
          <p:nvPr/>
        </p:nvSpPr>
        <p:spPr>
          <a:xfrm>
            <a:off x="2040051" y="2475572"/>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257</a:t>
            </a:r>
            <a:endParaRPr sz="1100"/>
          </a:p>
        </p:txBody>
      </p:sp>
      <p:sp>
        <p:nvSpPr>
          <p:cNvPr id="450" name="Google Shape;450;p32"/>
          <p:cNvSpPr/>
          <p:nvPr/>
        </p:nvSpPr>
        <p:spPr>
          <a:xfrm>
            <a:off x="2912201" y="2589074"/>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32"/>
          <p:cNvSpPr txBox="1"/>
          <p:nvPr/>
        </p:nvSpPr>
        <p:spPr>
          <a:xfrm>
            <a:off x="2685029" y="244580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261</a:t>
            </a:r>
            <a:endParaRPr sz="1100"/>
          </a:p>
        </p:txBody>
      </p:sp>
      <p:sp>
        <p:nvSpPr>
          <p:cNvPr id="452" name="Google Shape;452;p32"/>
          <p:cNvSpPr/>
          <p:nvPr/>
        </p:nvSpPr>
        <p:spPr>
          <a:xfrm>
            <a:off x="3557180" y="2663488"/>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3" name="Google Shape;453;p32"/>
          <p:cNvSpPr txBox="1"/>
          <p:nvPr/>
        </p:nvSpPr>
        <p:spPr>
          <a:xfrm>
            <a:off x="3330008" y="2520220"/>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251</a:t>
            </a:r>
            <a:endParaRPr sz="1100"/>
          </a:p>
        </p:txBody>
      </p:sp>
      <p:sp>
        <p:nvSpPr>
          <p:cNvPr id="454" name="Google Shape;454;p32"/>
          <p:cNvSpPr/>
          <p:nvPr/>
        </p:nvSpPr>
        <p:spPr>
          <a:xfrm>
            <a:off x="4202158" y="2879288"/>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5" name="Google Shape;455;p32"/>
          <p:cNvSpPr txBox="1"/>
          <p:nvPr/>
        </p:nvSpPr>
        <p:spPr>
          <a:xfrm>
            <a:off x="3974987" y="2736020"/>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222</a:t>
            </a:r>
            <a:endParaRPr sz="1100"/>
          </a:p>
        </p:txBody>
      </p:sp>
      <p:sp>
        <p:nvSpPr>
          <p:cNvPr id="456" name="Google Shape;456;p32"/>
          <p:cNvSpPr/>
          <p:nvPr/>
        </p:nvSpPr>
        <p:spPr>
          <a:xfrm>
            <a:off x="4847137" y="2976027"/>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7" name="Google Shape;457;p32"/>
          <p:cNvSpPr txBox="1"/>
          <p:nvPr/>
        </p:nvSpPr>
        <p:spPr>
          <a:xfrm>
            <a:off x="4619966" y="283275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209</a:t>
            </a:r>
            <a:endParaRPr sz="1100"/>
          </a:p>
        </p:txBody>
      </p:sp>
      <p:sp>
        <p:nvSpPr>
          <p:cNvPr id="458" name="Google Shape;458;p32"/>
          <p:cNvSpPr/>
          <p:nvPr/>
        </p:nvSpPr>
        <p:spPr>
          <a:xfrm>
            <a:off x="5483543" y="3012103"/>
            <a:ext cx="63000" cy="630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9" name="Google Shape;459;p32"/>
          <p:cNvSpPr txBox="1"/>
          <p:nvPr/>
        </p:nvSpPr>
        <p:spPr>
          <a:xfrm>
            <a:off x="5264944" y="2877407"/>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203</a:t>
            </a:r>
            <a:endParaRPr sz="1100"/>
          </a:p>
        </p:txBody>
      </p:sp>
      <p:sp>
        <p:nvSpPr>
          <p:cNvPr id="460" name="Google Shape;460;p32"/>
          <p:cNvSpPr/>
          <p:nvPr/>
        </p:nvSpPr>
        <p:spPr>
          <a:xfrm>
            <a:off x="542925" y="3454004"/>
            <a:ext cx="50292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1" name="Google Shape;461;p32"/>
          <p:cNvSpPr txBox="1"/>
          <p:nvPr/>
        </p:nvSpPr>
        <p:spPr>
          <a:xfrm>
            <a:off x="542925" y="3522584"/>
            <a:ext cx="28575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TOP MOVERS THEO ZONE · TB 4 TUẦN T8 vs T7</a:t>
            </a:r>
            <a:endParaRPr sz="1100"/>
          </a:p>
        </p:txBody>
      </p:sp>
      <p:sp>
        <p:nvSpPr>
          <p:cNvPr id="462" name="Google Shape;462;p32"/>
          <p:cNvSpPr txBox="1"/>
          <p:nvPr/>
        </p:nvSpPr>
        <p:spPr>
          <a:xfrm>
            <a:off x="542925" y="3684818"/>
            <a:ext cx="428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E0641A"/>
                </a:solidFill>
                <a:latin typeface="Lexend"/>
                <a:ea typeface="Lexend"/>
                <a:cs typeface="Lexend"/>
                <a:sym typeface="Lexend"/>
              </a:rPr>
              <a:t>HAN ↓</a:t>
            </a:r>
            <a:endParaRPr sz="1100"/>
          </a:p>
        </p:txBody>
      </p:sp>
      <p:sp>
        <p:nvSpPr>
          <p:cNvPr id="463" name="Google Shape;463;p32"/>
          <p:cNvSpPr txBox="1"/>
          <p:nvPr/>
        </p:nvSpPr>
        <p:spPr>
          <a:xfrm>
            <a:off x="1000125" y="3684818"/>
            <a:ext cx="4572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374151"/>
                </a:solidFill>
                <a:latin typeface="Lexend"/>
                <a:ea typeface="Lexend"/>
                <a:cs typeface="Lexend"/>
                <a:sym typeface="Lexend"/>
              </a:rPr>
              <a:t>Z5-TX </a:t>
            </a:r>
            <a:r>
              <a:rPr b="1" lang="en" sz="600">
                <a:solidFill>
                  <a:srgbClr val="FF0000"/>
                </a:solidFill>
                <a:latin typeface="Lexend"/>
                <a:ea typeface="Lexend"/>
                <a:cs typeface="Lexend"/>
                <a:sym typeface="Lexend"/>
              </a:rPr>
              <a:t>−32.4%</a:t>
            </a:r>
            <a:r>
              <a:rPr b="1" lang="en" sz="600">
                <a:solidFill>
                  <a:srgbClr val="374151"/>
                </a:solidFill>
                <a:latin typeface="Lexend"/>
                <a:ea typeface="Lexend"/>
                <a:cs typeface="Lexend"/>
                <a:sym typeface="Lexend"/>
              </a:rPr>
              <a:t> · BIGZONE </a:t>
            </a:r>
            <a:r>
              <a:rPr b="1" lang="en" sz="600">
                <a:solidFill>
                  <a:srgbClr val="FF0000"/>
                </a:solidFill>
                <a:latin typeface="Lexend"/>
                <a:ea typeface="Lexend"/>
                <a:cs typeface="Lexend"/>
                <a:sym typeface="Lexend"/>
              </a:rPr>
              <a:t>−18.0%</a:t>
            </a:r>
            <a:r>
              <a:rPr b="1" lang="en" sz="600">
                <a:solidFill>
                  <a:srgbClr val="374151"/>
                </a:solidFill>
                <a:latin typeface="Lexend"/>
                <a:ea typeface="Lexend"/>
                <a:cs typeface="Lexend"/>
                <a:sym typeface="Lexend"/>
              </a:rPr>
              <a:t> · Z3-DD </a:t>
            </a:r>
            <a:r>
              <a:rPr b="1" lang="en" sz="600">
                <a:solidFill>
                  <a:srgbClr val="FF0000"/>
                </a:solidFill>
                <a:latin typeface="Lexend"/>
                <a:ea typeface="Lexend"/>
                <a:cs typeface="Lexend"/>
                <a:sym typeface="Lexend"/>
              </a:rPr>
              <a:t>−16.1%</a:t>
            </a:r>
            <a:r>
              <a:rPr b="1" lang="en" sz="600">
                <a:solidFill>
                  <a:srgbClr val="374151"/>
                </a:solidFill>
                <a:latin typeface="Lexend"/>
                <a:ea typeface="Lexend"/>
                <a:cs typeface="Lexend"/>
                <a:sym typeface="Lexend"/>
              </a:rPr>
              <a:t> · ZONE-136</a:t>
            </a:r>
            <a:r>
              <a:rPr b="1" lang="en" sz="600">
                <a:solidFill>
                  <a:srgbClr val="FF0000"/>
                </a:solidFill>
                <a:latin typeface="Lexend"/>
                <a:ea typeface="Lexend"/>
                <a:cs typeface="Lexend"/>
                <a:sym typeface="Lexend"/>
              </a:rPr>
              <a:t> −15.5%</a:t>
            </a:r>
            <a:r>
              <a:rPr b="1" lang="en" sz="600">
                <a:solidFill>
                  <a:srgbClr val="374151"/>
                </a:solidFill>
                <a:latin typeface="Lexend"/>
                <a:ea typeface="Lexend"/>
                <a:cs typeface="Lexend"/>
                <a:sym typeface="Lexend"/>
              </a:rPr>
              <a:t> · Z24 </a:t>
            </a:r>
            <a:r>
              <a:rPr b="1" lang="en" sz="600">
                <a:solidFill>
                  <a:srgbClr val="FF0000"/>
                </a:solidFill>
                <a:latin typeface="Lexend"/>
                <a:ea typeface="Lexend"/>
                <a:cs typeface="Lexend"/>
                <a:sym typeface="Lexend"/>
              </a:rPr>
              <a:t>−13.5%</a:t>
            </a:r>
            <a:endParaRPr b="1" sz="1100">
              <a:solidFill>
                <a:srgbClr val="FF0000"/>
              </a:solidFill>
            </a:endParaRPr>
          </a:p>
        </p:txBody>
      </p:sp>
      <p:sp>
        <p:nvSpPr>
          <p:cNvPr id="464" name="Google Shape;464;p32"/>
          <p:cNvSpPr txBox="1"/>
          <p:nvPr/>
        </p:nvSpPr>
        <p:spPr>
          <a:xfrm>
            <a:off x="542925" y="3856851"/>
            <a:ext cx="428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0E4174"/>
                </a:solidFill>
                <a:latin typeface="Lexend"/>
                <a:ea typeface="Lexend"/>
                <a:cs typeface="Lexend"/>
                <a:sym typeface="Lexend"/>
              </a:rPr>
              <a:t>SGN ↑</a:t>
            </a:r>
            <a:endParaRPr sz="1100"/>
          </a:p>
        </p:txBody>
      </p:sp>
      <p:sp>
        <p:nvSpPr>
          <p:cNvPr id="465" name="Google Shape;465;p32"/>
          <p:cNvSpPr txBox="1"/>
          <p:nvPr/>
        </p:nvSpPr>
        <p:spPr>
          <a:xfrm>
            <a:off x="991466" y="3850783"/>
            <a:ext cx="4572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374151"/>
                </a:solidFill>
                <a:latin typeface="Lexend"/>
                <a:ea typeface="Lexend"/>
                <a:cs typeface="Lexend"/>
                <a:sym typeface="Lexend"/>
              </a:rPr>
              <a:t>ZONE_6 </a:t>
            </a:r>
            <a:r>
              <a:rPr b="1" lang="en" sz="600">
                <a:solidFill>
                  <a:srgbClr val="008000"/>
                </a:solidFill>
                <a:latin typeface="Lexend"/>
                <a:ea typeface="Lexend"/>
                <a:cs typeface="Lexend"/>
                <a:sym typeface="Lexend"/>
              </a:rPr>
              <a:t>+20.5%</a:t>
            </a:r>
            <a:r>
              <a:rPr b="1" lang="en" sz="600">
                <a:solidFill>
                  <a:srgbClr val="374151"/>
                </a:solidFill>
                <a:latin typeface="Lexend"/>
                <a:ea typeface="Lexend"/>
                <a:cs typeface="Lexend"/>
                <a:sym typeface="Lexend"/>
              </a:rPr>
              <a:t> · ZONE_4 </a:t>
            </a:r>
            <a:r>
              <a:rPr b="1" lang="en" sz="600">
                <a:solidFill>
                  <a:srgbClr val="008000"/>
                </a:solidFill>
                <a:latin typeface="Lexend"/>
                <a:ea typeface="Lexend"/>
                <a:cs typeface="Lexend"/>
                <a:sym typeface="Lexend"/>
              </a:rPr>
              <a:t>+15.0%</a:t>
            </a:r>
            <a:r>
              <a:rPr b="1" lang="en" sz="600">
                <a:solidFill>
                  <a:srgbClr val="374151"/>
                </a:solidFill>
                <a:latin typeface="Lexend"/>
                <a:ea typeface="Lexend"/>
                <a:cs typeface="Lexend"/>
                <a:sym typeface="Lexend"/>
              </a:rPr>
              <a:t> · ZONE_5 </a:t>
            </a:r>
            <a:r>
              <a:rPr b="1" lang="en" sz="600">
                <a:solidFill>
                  <a:srgbClr val="008000"/>
                </a:solidFill>
                <a:latin typeface="Lexend"/>
                <a:ea typeface="Lexend"/>
                <a:cs typeface="Lexend"/>
                <a:sym typeface="Lexend"/>
              </a:rPr>
              <a:t>+13.5%</a:t>
            </a:r>
            <a:r>
              <a:rPr b="1" lang="en" sz="600">
                <a:solidFill>
                  <a:srgbClr val="374151"/>
                </a:solidFill>
                <a:latin typeface="Lexend"/>
                <a:ea typeface="Lexend"/>
                <a:cs typeface="Lexend"/>
                <a:sym typeface="Lexend"/>
              </a:rPr>
              <a:t> · ZONE_3 </a:t>
            </a:r>
            <a:r>
              <a:rPr b="1" lang="en" sz="600">
                <a:solidFill>
                  <a:srgbClr val="008000"/>
                </a:solidFill>
                <a:latin typeface="Lexend"/>
                <a:ea typeface="Lexend"/>
                <a:cs typeface="Lexend"/>
                <a:sym typeface="Lexend"/>
              </a:rPr>
              <a:t>+12.7%</a:t>
            </a:r>
            <a:r>
              <a:rPr b="1" lang="en" sz="600">
                <a:solidFill>
                  <a:srgbClr val="374151"/>
                </a:solidFill>
                <a:latin typeface="Lexend"/>
                <a:ea typeface="Lexend"/>
                <a:cs typeface="Lexend"/>
                <a:sym typeface="Lexend"/>
              </a:rPr>
              <a:t> · ZONE_2 </a:t>
            </a:r>
            <a:r>
              <a:rPr b="1" lang="en" sz="600">
                <a:solidFill>
                  <a:srgbClr val="008000"/>
                </a:solidFill>
                <a:latin typeface="Lexend"/>
                <a:ea typeface="Lexend"/>
                <a:cs typeface="Lexend"/>
                <a:sym typeface="Lexend"/>
              </a:rPr>
              <a:t>+3.0%</a:t>
            </a:r>
            <a:endParaRPr b="1" sz="1100">
              <a:solidFill>
                <a:srgbClr val="008000"/>
              </a:solidFill>
            </a:endParaRPr>
          </a:p>
        </p:txBody>
      </p:sp>
      <p:sp>
        <p:nvSpPr>
          <p:cNvPr id="466" name="Google Shape;466;p32"/>
          <p:cNvSpPr/>
          <p:nvPr/>
        </p:nvSpPr>
        <p:spPr>
          <a:xfrm>
            <a:off x="5915025" y="942975"/>
            <a:ext cx="2886000" cy="957300"/>
          </a:xfrm>
          <a:prstGeom prst="roundRect">
            <a:avLst>
              <a:gd fmla="val 11940"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7" name="Google Shape;467;p32"/>
          <p:cNvSpPr txBox="1"/>
          <p:nvPr/>
        </p:nvSpPr>
        <p:spPr>
          <a:xfrm>
            <a:off x="6086475" y="1060526"/>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HAN · ACTIVE DRIVERS · TB 4 TUẦN</a:t>
            </a:r>
            <a:endParaRPr sz="1100"/>
          </a:p>
        </p:txBody>
      </p:sp>
      <p:sp>
        <p:nvSpPr>
          <p:cNvPr id="468" name="Google Shape;468;p32"/>
          <p:cNvSpPr txBox="1"/>
          <p:nvPr/>
        </p:nvSpPr>
        <p:spPr>
          <a:xfrm>
            <a:off x="6086475" y="1237083"/>
            <a:ext cx="14289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221.3</a:t>
            </a:r>
            <a:endParaRPr sz="1100"/>
          </a:p>
        </p:txBody>
      </p:sp>
      <p:sp>
        <p:nvSpPr>
          <p:cNvPr id="469" name="Google Shape;469;p32"/>
          <p:cNvSpPr txBox="1"/>
          <p:nvPr/>
        </p:nvSpPr>
        <p:spPr>
          <a:xfrm>
            <a:off x="6972300" y="1375315"/>
            <a:ext cx="10002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6B7280"/>
                </a:solidFill>
                <a:latin typeface="Lexend"/>
                <a:ea typeface="Lexend"/>
                <a:cs typeface="Lexend"/>
                <a:sym typeface="Lexend"/>
              </a:rPr>
              <a:t>vs 256.0 (T7)</a:t>
            </a:r>
            <a:endParaRPr sz="1100"/>
          </a:p>
        </p:txBody>
      </p:sp>
      <p:sp>
        <p:nvSpPr>
          <p:cNvPr id="470" name="Google Shape;470;p32"/>
          <p:cNvSpPr/>
          <p:nvPr/>
        </p:nvSpPr>
        <p:spPr>
          <a:xfrm>
            <a:off x="7972425" y="1334988"/>
            <a:ext cx="657300" cy="187500"/>
          </a:xfrm>
          <a:prstGeom prst="roundRect">
            <a:avLst>
              <a:gd fmla="val 50000" name="adj"/>
            </a:avLst>
          </a:prstGeom>
          <a:solidFill>
            <a:srgbClr val="FEE2E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1" name="Google Shape;471;p32"/>
          <p:cNvSpPr txBox="1"/>
          <p:nvPr/>
        </p:nvSpPr>
        <p:spPr>
          <a:xfrm>
            <a:off x="7972425" y="1345704"/>
            <a:ext cx="6573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DC2626"/>
                </a:solidFill>
                <a:latin typeface="Lexend"/>
                <a:ea typeface="Lexend"/>
                <a:cs typeface="Lexend"/>
                <a:sym typeface="Lexend"/>
              </a:rPr>
              <a:t>−13.6%</a:t>
            </a:r>
            <a:endParaRPr sz="1100"/>
          </a:p>
        </p:txBody>
      </p:sp>
      <p:sp>
        <p:nvSpPr>
          <p:cNvPr id="472" name="Google Shape;472;p32"/>
          <p:cNvSpPr txBox="1"/>
          <p:nvPr/>
        </p:nvSpPr>
        <p:spPr>
          <a:xfrm>
            <a:off x="6086475" y="1627418"/>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−34.8 TX/tuần · gãy từ tuần 10/08</a:t>
            </a:r>
            <a:endParaRPr sz="1100"/>
          </a:p>
        </p:txBody>
      </p:sp>
      <p:sp>
        <p:nvSpPr>
          <p:cNvPr id="473" name="Google Shape;473;p32"/>
          <p:cNvSpPr/>
          <p:nvPr/>
        </p:nvSpPr>
        <p:spPr>
          <a:xfrm>
            <a:off x="5909938" y="2037875"/>
            <a:ext cx="2886000" cy="957300"/>
          </a:xfrm>
          <a:prstGeom prst="roundRect">
            <a:avLst>
              <a:gd fmla="val 11940"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4" name="Google Shape;474;p32"/>
          <p:cNvSpPr txBox="1"/>
          <p:nvPr/>
        </p:nvSpPr>
        <p:spPr>
          <a:xfrm>
            <a:off x="6081388" y="2155426"/>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SGN · ACTIVE DRIVERS · TB 4 TUẦN</a:t>
            </a:r>
            <a:endParaRPr sz="1100"/>
          </a:p>
        </p:txBody>
      </p:sp>
      <p:sp>
        <p:nvSpPr>
          <p:cNvPr id="475" name="Google Shape;475;p32"/>
          <p:cNvSpPr txBox="1"/>
          <p:nvPr/>
        </p:nvSpPr>
        <p:spPr>
          <a:xfrm>
            <a:off x="6081388" y="2331983"/>
            <a:ext cx="14289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380.0</a:t>
            </a:r>
            <a:endParaRPr sz="1100"/>
          </a:p>
        </p:txBody>
      </p:sp>
      <p:sp>
        <p:nvSpPr>
          <p:cNvPr id="476" name="Google Shape;476;p32"/>
          <p:cNvSpPr txBox="1"/>
          <p:nvPr/>
        </p:nvSpPr>
        <p:spPr>
          <a:xfrm>
            <a:off x="6967213" y="2470215"/>
            <a:ext cx="10002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6B7280"/>
                </a:solidFill>
                <a:latin typeface="Lexend"/>
                <a:ea typeface="Lexend"/>
                <a:cs typeface="Lexend"/>
                <a:sym typeface="Lexend"/>
              </a:rPr>
              <a:t>vs 348.5 (T7)</a:t>
            </a:r>
            <a:endParaRPr sz="1100"/>
          </a:p>
        </p:txBody>
      </p:sp>
      <p:sp>
        <p:nvSpPr>
          <p:cNvPr id="477" name="Google Shape;477;p32"/>
          <p:cNvSpPr/>
          <p:nvPr/>
        </p:nvSpPr>
        <p:spPr>
          <a:xfrm>
            <a:off x="7967338" y="2429888"/>
            <a:ext cx="657300" cy="187500"/>
          </a:xfrm>
          <a:prstGeom prst="roundRect">
            <a:avLst>
              <a:gd fmla="val 50000"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8" name="Google Shape;478;p32"/>
          <p:cNvSpPr txBox="1"/>
          <p:nvPr/>
        </p:nvSpPr>
        <p:spPr>
          <a:xfrm>
            <a:off x="7967338" y="2440604"/>
            <a:ext cx="6573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047857"/>
                </a:solidFill>
                <a:latin typeface="Lexend"/>
                <a:ea typeface="Lexend"/>
                <a:cs typeface="Lexend"/>
                <a:sym typeface="Lexend"/>
              </a:rPr>
              <a:t>+9.0%</a:t>
            </a:r>
            <a:endParaRPr sz="1100"/>
          </a:p>
        </p:txBody>
      </p:sp>
      <p:sp>
        <p:nvSpPr>
          <p:cNvPr id="479" name="Google Shape;479;p32"/>
          <p:cNvSpPr txBox="1"/>
          <p:nvPr/>
        </p:nvSpPr>
        <p:spPr>
          <a:xfrm>
            <a:off x="6081388" y="2722318"/>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+31.5 TX/tuần · 5/6 zone tăng</a:t>
            </a:r>
            <a:endParaRPr sz="1100"/>
          </a:p>
        </p:txBody>
      </p:sp>
      <p:sp>
        <p:nvSpPr>
          <p:cNvPr id="480" name="Google Shape;480;p32"/>
          <p:cNvSpPr/>
          <p:nvPr/>
        </p:nvSpPr>
        <p:spPr>
          <a:xfrm>
            <a:off x="342900" y="4114800"/>
            <a:ext cx="42900" cy="1431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1" name="Google Shape;481;p32"/>
          <p:cNvSpPr txBox="1"/>
          <p:nvPr/>
        </p:nvSpPr>
        <p:spPr>
          <a:xfrm>
            <a:off x="500063" y="4111835"/>
            <a:ext cx="22860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Insight</a:t>
            </a:r>
            <a:endParaRPr sz="1100"/>
          </a:p>
        </p:txBody>
      </p:sp>
      <p:sp>
        <p:nvSpPr>
          <p:cNvPr id="482" name="Google Shape;482;p32"/>
          <p:cNvSpPr/>
          <p:nvPr/>
        </p:nvSpPr>
        <p:spPr>
          <a:xfrm>
            <a:off x="342900" y="4314825"/>
            <a:ext cx="2743200" cy="571500"/>
          </a:xfrm>
          <a:prstGeom prst="roundRect">
            <a:avLst>
              <a:gd fmla="val 17500" name="adj"/>
            </a:avLst>
          </a:prstGeom>
          <a:solidFill>
            <a:srgbClr val="F9FAFB"/>
          </a:solidFill>
          <a:ln cap="flat" cmpd="sng" w="7150">
            <a:solidFill>
              <a:srgbClr val="E9ED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3" name="Google Shape;483;p32"/>
          <p:cNvSpPr/>
          <p:nvPr/>
        </p:nvSpPr>
        <p:spPr>
          <a:xfrm>
            <a:off x="342900" y="4414838"/>
            <a:ext cx="28500" cy="371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4" name="Google Shape;484;p32"/>
          <p:cNvSpPr txBox="1"/>
          <p:nvPr/>
        </p:nvSpPr>
        <p:spPr>
          <a:xfrm>
            <a:off x="500063" y="4356794"/>
            <a:ext cx="24288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700">
                <a:solidFill>
                  <a:srgbClr val="0E4174"/>
                </a:solidFill>
                <a:latin typeface="Lexend"/>
                <a:ea typeface="Lexend"/>
                <a:cs typeface="Lexend"/>
                <a:sym typeface="Lexend"/>
              </a:rPr>
              <a:t>HAN giảm mạnh vào T8</a:t>
            </a:r>
            <a:endParaRPr sz="1100"/>
          </a:p>
        </p:txBody>
      </p:sp>
      <p:sp>
        <p:nvSpPr>
          <p:cNvPr id="485" name="Google Shape;485;p32"/>
          <p:cNvSpPr txBox="1"/>
          <p:nvPr/>
        </p:nvSpPr>
        <p:spPr>
          <a:xfrm>
            <a:off x="500063" y="4529624"/>
            <a:ext cx="25005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4 tuần trong tháng 8 HAN chỉ suy giảm số lượng tài xế Hub hoạt động chứ không hề tăng </a:t>
            </a:r>
            <a:endParaRPr sz="1100"/>
          </a:p>
        </p:txBody>
      </p:sp>
      <p:sp>
        <p:nvSpPr>
          <p:cNvPr id="486" name="Google Shape;486;p32"/>
          <p:cNvSpPr/>
          <p:nvPr/>
        </p:nvSpPr>
        <p:spPr>
          <a:xfrm>
            <a:off x="3200400" y="4314825"/>
            <a:ext cx="2743200" cy="571500"/>
          </a:xfrm>
          <a:prstGeom prst="roundRect">
            <a:avLst>
              <a:gd fmla="val 17500" name="adj"/>
            </a:avLst>
          </a:prstGeom>
          <a:solidFill>
            <a:srgbClr val="F9FAFB"/>
          </a:solidFill>
          <a:ln cap="flat" cmpd="sng" w="7150">
            <a:solidFill>
              <a:srgbClr val="E9ED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7" name="Google Shape;487;p32"/>
          <p:cNvSpPr/>
          <p:nvPr/>
        </p:nvSpPr>
        <p:spPr>
          <a:xfrm>
            <a:off x="3200400" y="4414838"/>
            <a:ext cx="28500" cy="371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8" name="Google Shape;488;p32"/>
          <p:cNvSpPr txBox="1"/>
          <p:nvPr/>
        </p:nvSpPr>
        <p:spPr>
          <a:xfrm>
            <a:off x="3357563" y="4356794"/>
            <a:ext cx="24288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700">
                <a:solidFill>
                  <a:srgbClr val="0E4174"/>
                </a:solidFill>
                <a:latin typeface="Lexend"/>
                <a:ea typeface="Lexend"/>
                <a:cs typeface="Lexend"/>
                <a:sym typeface="Lexend"/>
              </a:rPr>
              <a:t>3 Vùng giảm mạnh </a:t>
            </a:r>
            <a:endParaRPr sz="1100"/>
          </a:p>
        </p:txBody>
      </p:sp>
      <p:sp>
        <p:nvSpPr>
          <p:cNvPr id="489" name="Google Shape;489;p32"/>
          <p:cNvSpPr txBox="1"/>
          <p:nvPr/>
        </p:nvSpPr>
        <p:spPr>
          <a:xfrm>
            <a:off x="3357563" y="4529624"/>
            <a:ext cx="25005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Z24 / ZTX / ZBIGZONE 3 khu vực giảm active mạnh nhất về số tuyệt đột và tỷ lệ </a:t>
            </a:r>
            <a:endParaRPr sz="1100"/>
          </a:p>
        </p:txBody>
      </p:sp>
      <p:sp>
        <p:nvSpPr>
          <p:cNvPr id="490" name="Google Shape;490;p32"/>
          <p:cNvSpPr/>
          <p:nvPr/>
        </p:nvSpPr>
        <p:spPr>
          <a:xfrm>
            <a:off x="6057900" y="4314825"/>
            <a:ext cx="2743200" cy="571500"/>
          </a:xfrm>
          <a:prstGeom prst="roundRect">
            <a:avLst>
              <a:gd fmla="val 17500" name="adj"/>
            </a:avLst>
          </a:prstGeom>
          <a:solidFill>
            <a:srgbClr val="F9FAFB"/>
          </a:solidFill>
          <a:ln cap="flat" cmpd="sng" w="7150">
            <a:solidFill>
              <a:srgbClr val="E9ED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1" name="Google Shape;491;p32"/>
          <p:cNvSpPr/>
          <p:nvPr/>
        </p:nvSpPr>
        <p:spPr>
          <a:xfrm>
            <a:off x="6057900" y="4414838"/>
            <a:ext cx="28500" cy="371700"/>
          </a:xfrm>
          <a:prstGeom prst="roundRect">
            <a:avLst>
              <a:gd fmla="val 50000" name="adj"/>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2" name="Google Shape;492;p32"/>
          <p:cNvSpPr txBox="1"/>
          <p:nvPr/>
        </p:nvSpPr>
        <p:spPr>
          <a:xfrm>
            <a:off x="6215063" y="4356794"/>
            <a:ext cx="24288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700">
                <a:solidFill>
                  <a:srgbClr val="0E4174"/>
                </a:solidFill>
                <a:latin typeface="Lexend"/>
                <a:ea typeface="Lexend"/>
                <a:cs typeface="Lexend"/>
                <a:sym typeface="Lexend"/>
              </a:rPr>
              <a:t>SGN tăng tốt</a:t>
            </a:r>
            <a:endParaRPr sz="1100"/>
          </a:p>
        </p:txBody>
      </p:sp>
      <p:sp>
        <p:nvSpPr>
          <p:cNvPr id="493" name="Google Shape;493;p32"/>
          <p:cNvSpPr txBox="1"/>
          <p:nvPr/>
        </p:nvSpPr>
        <p:spPr>
          <a:xfrm>
            <a:off x="6215063" y="4529624"/>
            <a:ext cx="25005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5/6 zone tăng.</a:t>
            </a:r>
            <a:r>
              <a:rPr lang="en" sz="600">
                <a:solidFill>
                  <a:srgbClr val="6B7280"/>
                </a:solidFill>
                <a:latin typeface="Lexend"/>
                <a:ea typeface="Lexend"/>
                <a:cs typeface="Lexend"/>
                <a:sym typeface="Lexend"/>
              </a:rPr>
              <a:t>Đặc biệt Zone 6 tăng 20% active MoM </a:t>
            </a:r>
            <a:endParaRPr sz="1100"/>
          </a:p>
        </p:txBody>
      </p:sp>
      <p:sp>
        <p:nvSpPr>
          <p:cNvPr id="494" name="Google Shape;494;p32"/>
          <p:cNvSpPr txBox="1"/>
          <p:nvPr/>
        </p:nvSpPr>
        <p:spPr>
          <a:xfrm>
            <a:off x="500063" y="514348"/>
            <a:ext cx="64296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 sz="800">
                <a:solidFill>
                  <a:srgbClr val="6B7280"/>
                </a:solidFill>
                <a:latin typeface="Lexend"/>
                <a:ea typeface="Lexend"/>
                <a:cs typeface="Lexend"/>
                <a:sym typeface="Lexend"/>
              </a:rPr>
              <a:t>Tháng 8 ghi nhận xu hướng trái chiều: SGN tăng 9%, HAN giảm 13,6%</a:t>
            </a:r>
            <a:endParaRPr b="1" sz="800">
              <a:solidFill>
                <a:srgbClr val="6B728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9" name="Shape 499"/>
        <p:cNvGrpSpPr/>
        <p:nvPr/>
      </p:nvGrpSpPr>
      <p:grpSpPr>
        <a:xfrm>
          <a:off x="0" y="0"/>
          <a:ext cx="0" cy="0"/>
          <a:chOff x="0" y="0"/>
          <a:chExt cx="0" cy="0"/>
        </a:xfrm>
      </p:grpSpPr>
      <p:sp>
        <p:nvSpPr>
          <p:cNvPr id="500" name="Google Shape;500;p33"/>
          <p:cNvSpPr/>
          <p:nvPr/>
        </p:nvSpPr>
        <p:spPr>
          <a:xfrm>
            <a:off x="0" y="0"/>
            <a:ext cx="9144000" cy="5143500"/>
          </a:xfrm>
          <a:prstGeom prst="rect">
            <a:avLst/>
          </a:prstGeom>
          <a:solidFill>
            <a:srgbClr val="FBFCFE"/>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1" name="Google Shape;501;p33"/>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2" name="Google Shape;502;p33"/>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COVERAGE</a:t>
            </a:r>
            <a:endParaRPr sz="1100"/>
          </a:p>
        </p:txBody>
      </p:sp>
      <p:sp>
        <p:nvSpPr>
          <p:cNvPr id="503" name="Google Shape;503;p33"/>
          <p:cNvSpPr txBox="1"/>
          <p:nvPr/>
        </p:nvSpPr>
        <p:spPr>
          <a:xfrm>
            <a:off x="500063" y="528209"/>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HAN chỉ bằng nửa SGN — và khoảng cách đang lớn dần</a:t>
            </a:r>
            <a:endParaRPr sz="1100"/>
          </a:p>
        </p:txBody>
      </p:sp>
      <p:sp>
        <p:nvSpPr>
          <p:cNvPr id="504" name="Google Shape;504;p33"/>
          <p:cNvSpPr/>
          <p:nvPr/>
        </p:nvSpPr>
        <p:spPr>
          <a:xfrm>
            <a:off x="7600950" y="300038"/>
            <a:ext cx="12003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5" name="Google Shape;505;p33"/>
          <p:cNvSpPr txBox="1"/>
          <p:nvPr/>
        </p:nvSpPr>
        <p:spPr>
          <a:xfrm>
            <a:off x="7600950" y="349616"/>
            <a:ext cx="1200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E0641A"/>
                </a:solidFill>
                <a:latin typeface="Lexend"/>
                <a:ea typeface="Lexend"/>
                <a:cs typeface="Lexend"/>
                <a:sym typeface="Lexend"/>
              </a:rPr>
              <a:t>T8 vs T7</a:t>
            </a:r>
            <a:endParaRPr sz="1100"/>
          </a:p>
        </p:txBody>
      </p:sp>
      <p:sp>
        <p:nvSpPr>
          <p:cNvPr id="506" name="Google Shape;506;p33"/>
          <p:cNvSpPr/>
          <p:nvPr/>
        </p:nvSpPr>
        <p:spPr>
          <a:xfrm>
            <a:off x="342900" y="942975"/>
            <a:ext cx="5429400" cy="2486100"/>
          </a:xfrm>
          <a:prstGeom prst="roundRect">
            <a:avLst>
              <a:gd fmla="val 4597"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7" name="Google Shape;507;p33"/>
          <p:cNvSpPr txBox="1"/>
          <p:nvPr/>
        </p:nvSpPr>
        <p:spPr>
          <a:xfrm>
            <a:off x="542925" y="1061918"/>
            <a:ext cx="2143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Coverage theo tuần (%)</a:t>
            </a:r>
            <a:endParaRPr sz="1100"/>
          </a:p>
        </p:txBody>
      </p:sp>
      <p:sp>
        <p:nvSpPr>
          <p:cNvPr id="508" name="Google Shape;508;p33"/>
          <p:cNvSpPr/>
          <p:nvPr/>
        </p:nvSpPr>
        <p:spPr>
          <a:xfrm>
            <a:off x="4000500" y="1150144"/>
            <a:ext cx="114300" cy="216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9" name="Google Shape;509;p33"/>
          <p:cNvSpPr txBox="1"/>
          <p:nvPr/>
        </p:nvSpPr>
        <p:spPr>
          <a:xfrm>
            <a:off x="4157663" y="1098780"/>
            <a:ext cx="5001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HAN</a:t>
            </a:r>
            <a:endParaRPr sz="1100"/>
          </a:p>
        </p:txBody>
      </p:sp>
      <p:sp>
        <p:nvSpPr>
          <p:cNvPr id="510" name="Google Shape;510;p33"/>
          <p:cNvSpPr/>
          <p:nvPr/>
        </p:nvSpPr>
        <p:spPr>
          <a:xfrm>
            <a:off x="4473416" y="1150144"/>
            <a:ext cx="114300" cy="21600"/>
          </a:xfrm>
          <a:prstGeom prst="roundRect">
            <a:avLst>
              <a:gd fmla="val 50000" name="adj"/>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1" name="Google Shape;511;p33"/>
          <p:cNvSpPr txBox="1"/>
          <p:nvPr/>
        </p:nvSpPr>
        <p:spPr>
          <a:xfrm>
            <a:off x="4630579" y="1098780"/>
            <a:ext cx="5001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SGN</a:t>
            </a:r>
            <a:endParaRPr sz="1100"/>
          </a:p>
        </p:txBody>
      </p:sp>
      <p:sp>
        <p:nvSpPr>
          <p:cNvPr id="512" name="Google Shape;512;p33"/>
          <p:cNvSpPr/>
          <p:nvPr/>
        </p:nvSpPr>
        <p:spPr>
          <a:xfrm>
            <a:off x="3257550" y="1400175"/>
            <a:ext cx="2257500" cy="1500300"/>
          </a:xfrm>
          <a:prstGeom prst="rect">
            <a:avLst/>
          </a:prstGeom>
          <a:solidFill>
            <a:srgbClr val="FFFA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3" name="Google Shape;513;p33"/>
          <p:cNvSpPr/>
          <p:nvPr/>
        </p:nvSpPr>
        <p:spPr>
          <a:xfrm>
            <a:off x="1000125" y="2896076"/>
            <a:ext cx="4515000" cy="8700"/>
          </a:xfrm>
          <a:prstGeom prst="rect">
            <a:avLst/>
          </a:prstGeom>
          <a:solidFill>
            <a:srgbClr val="E5E9E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4" name="Google Shape;514;p33"/>
          <p:cNvSpPr txBox="1"/>
          <p:nvPr/>
        </p:nvSpPr>
        <p:spPr>
          <a:xfrm>
            <a:off x="442913" y="2836784"/>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12%</a:t>
            </a:r>
            <a:endParaRPr sz="1100"/>
          </a:p>
        </p:txBody>
      </p:sp>
      <p:sp>
        <p:nvSpPr>
          <p:cNvPr id="515" name="Google Shape;515;p33"/>
          <p:cNvSpPr/>
          <p:nvPr/>
        </p:nvSpPr>
        <p:spPr>
          <a:xfrm>
            <a:off x="1000125" y="2709267"/>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6" name="Google Shape;516;p33"/>
          <p:cNvSpPr txBox="1"/>
          <p:nvPr/>
        </p:nvSpPr>
        <p:spPr>
          <a:xfrm>
            <a:off x="442913" y="2649260"/>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14%</a:t>
            </a:r>
            <a:endParaRPr sz="1100"/>
          </a:p>
        </p:txBody>
      </p:sp>
      <p:sp>
        <p:nvSpPr>
          <p:cNvPr id="517" name="Google Shape;517;p33"/>
          <p:cNvSpPr/>
          <p:nvPr/>
        </p:nvSpPr>
        <p:spPr>
          <a:xfrm>
            <a:off x="1000125" y="2521744"/>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8" name="Google Shape;518;p33"/>
          <p:cNvSpPr txBox="1"/>
          <p:nvPr/>
        </p:nvSpPr>
        <p:spPr>
          <a:xfrm>
            <a:off x="442913" y="2461736"/>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16%</a:t>
            </a:r>
            <a:endParaRPr sz="1100"/>
          </a:p>
        </p:txBody>
      </p:sp>
      <p:sp>
        <p:nvSpPr>
          <p:cNvPr id="519" name="Google Shape;519;p33"/>
          <p:cNvSpPr/>
          <p:nvPr/>
        </p:nvSpPr>
        <p:spPr>
          <a:xfrm>
            <a:off x="1000125" y="2334221"/>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0" name="Google Shape;520;p33"/>
          <p:cNvSpPr txBox="1"/>
          <p:nvPr/>
        </p:nvSpPr>
        <p:spPr>
          <a:xfrm>
            <a:off x="442913" y="2274213"/>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18%</a:t>
            </a:r>
            <a:endParaRPr sz="1100"/>
          </a:p>
        </p:txBody>
      </p:sp>
      <p:sp>
        <p:nvSpPr>
          <p:cNvPr id="521" name="Google Shape;521;p33"/>
          <p:cNvSpPr/>
          <p:nvPr/>
        </p:nvSpPr>
        <p:spPr>
          <a:xfrm>
            <a:off x="1000125" y="2146697"/>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2" name="Google Shape;522;p33"/>
          <p:cNvSpPr txBox="1"/>
          <p:nvPr/>
        </p:nvSpPr>
        <p:spPr>
          <a:xfrm>
            <a:off x="442913" y="2086689"/>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20%</a:t>
            </a:r>
            <a:endParaRPr sz="1100"/>
          </a:p>
        </p:txBody>
      </p:sp>
      <p:sp>
        <p:nvSpPr>
          <p:cNvPr id="523" name="Google Shape;523;p33"/>
          <p:cNvSpPr/>
          <p:nvPr/>
        </p:nvSpPr>
        <p:spPr>
          <a:xfrm>
            <a:off x="1000125" y="1959173"/>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4" name="Google Shape;524;p33"/>
          <p:cNvSpPr txBox="1"/>
          <p:nvPr/>
        </p:nvSpPr>
        <p:spPr>
          <a:xfrm>
            <a:off x="442913" y="1899166"/>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22%</a:t>
            </a:r>
            <a:endParaRPr sz="1100"/>
          </a:p>
        </p:txBody>
      </p:sp>
      <p:sp>
        <p:nvSpPr>
          <p:cNvPr id="525" name="Google Shape;525;p33"/>
          <p:cNvSpPr/>
          <p:nvPr/>
        </p:nvSpPr>
        <p:spPr>
          <a:xfrm>
            <a:off x="1000125" y="1771650"/>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6" name="Google Shape;526;p33"/>
          <p:cNvSpPr txBox="1"/>
          <p:nvPr/>
        </p:nvSpPr>
        <p:spPr>
          <a:xfrm>
            <a:off x="442913" y="1711643"/>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24%</a:t>
            </a:r>
            <a:endParaRPr sz="1100"/>
          </a:p>
        </p:txBody>
      </p:sp>
      <p:sp>
        <p:nvSpPr>
          <p:cNvPr id="527" name="Google Shape;527;p33"/>
          <p:cNvSpPr/>
          <p:nvPr/>
        </p:nvSpPr>
        <p:spPr>
          <a:xfrm>
            <a:off x="1000125" y="1584127"/>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8" name="Google Shape;528;p33"/>
          <p:cNvSpPr txBox="1"/>
          <p:nvPr/>
        </p:nvSpPr>
        <p:spPr>
          <a:xfrm>
            <a:off x="442913" y="1524119"/>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26%</a:t>
            </a:r>
            <a:endParaRPr sz="1100"/>
          </a:p>
        </p:txBody>
      </p:sp>
      <p:sp>
        <p:nvSpPr>
          <p:cNvPr id="529" name="Google Shape;529;p33"/>
          <p:cNvSpPr/>
          <p:nvPr/>
        </p:nvSpPr>
        <p:spPr>
          <a:xfrm>
            <a:off x="1000125" y="1396604"/>
            <a:ext cx="45150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0" name="Google Shape;530;p33"/>
          <p:cNvSpPr txBox="1"/>
          <p:nvPr/>
        </p:nvSpPr>
        <p:spPr>
          <a:xfrm>
            <a:off x="442913" y="1336596"/>
            <a:ext cx="4572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28%</a:t>
            </a:r>
            <a:endParaRPr sz="1100"/>
          </a:p>
        </p:txBody>
      </p:sp>
      <p:sp>
        <p:nvSpPr>
          <p:cNvPr id="531" name="Google Shape;531;p33"/>
          <p:cNvSpPr txBox="1"/>
          <p:nvPr/>
        </p:nvSpPr>
        <p:spPr>
          <a:xfrm>
            <a:off x="785813"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06/07</a:t>
            </a:r>
            <a:endParaRPr sz="1100"/>
          </a:p>
        </p:txBody>
      </p:sp>
      <p:sp>
        <p:nvSpPr>
          <p:cNvPr id="532" name="Google Shape;532;p33"/>
          <p:cNvSpPr txBox="1"/>
          <p:nvPr/>
        </p:nvSpPr>
        <p:spPr>
          <a:xfrm>
            <a:off x="1430791"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13/07</a:t>
            </a:r>
            <a:endParaRPr sz="1100"/>
          </a:p>
        </p:txBody>
      </p:sp>
      <p:sp>
        <p:nvSpPr>
          <p:cNvPr id="533" name="Google Shape;533;p33"/>
          <p:cNvSpPr txBox="1"/>
          <p:nvPr/>
        </p:nvSpPr>
        <p:spPr>
          <a:xfrm>
            <a:off x="2075770"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20/07</a:t>
            </a:r>
            <a:endParaRPr sz="1100"/>
          </a:p>
        </p:txBody>
      </p:sp>
      <p:sp>
        <p:nvSpPr>
          <p:cNvPr id="534" name="Google Shape;534;p33"/>
          <p:cNvSpPr txBox="1"/>
          <p:nvPr/>
        </p:nvSpPr>
        <p:spPr>
          <a:xfrm>
            <a:off x="2720748"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27/07</a:t>
            </a:r>
            <a:endParaRPr sz="1100"/>
          </a:p>
        </p:txBody>
      </p:sp>
      <p:sp>
        <p:nvSpPr>
          <p:cNvPr id="535" name="Google Shape;535;p33"/>
          <p:cNvSpPr txBox="1"/>
          <p:nvPr/>
        </p:nvSpPr>
        <p:spPr>
          <a:xfrm>
            <a:off x="3365727"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03/08</a:t>
            </a:r>
            <a:endParaRPr sz="1100"/>
          </a:p>
        </p:txBody>
      </p:sp>
      <p:sp>
        <p:nvSpPr>
          <p:cNvPr id="536" name="Google Shape;536;p33"/>
          <p:cNvSpPr txBox="1"/>
          <p:nvPr/>
        </p:nvSpPr>
        <p:spPr>
          <a:xfrm>
            <a:off x="4010705"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10/08</a:t>
            </a:r>
            <a:endParaRPr sz="1100"/>
          </a:p>
        </p:txBody>
      </p:sp>
      <p:sp>
        <p:nvSpPr>
          <p:cNvPr id="537" name="Google Shape;537;p33"/>
          <p:cNvSpPr txBox="1"/>
          <p:nvPr/>
        </p:nvSpPr>
        <p:spPr>
          <a:xfrm>
            <a:off x="4655684"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17/08</a:t>
            </a:r>
            <a:endParaRPr sz="1100"/>
          </a:p>
        </p:txBody>
      </p:sp>
      <p:sp>
        <p:nvSpPr>
          <p:cNvPr id="538" name="Google Shape;538;p33"/>
          <p:cNvSpPr txBox="1"/>
          <p:nvPr/>
        </p:nvSpPr>
        <p:spPr>
          <a:xfrm>
            <a:off x="5300663" y="2965371"/>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9CA3AF"/>
                </a:solidFill>
                <a:latin typeface="Lexend"/>
                <a:ea typeface="Lexend"/>
                <a:cs typeface="Lexend"/>
                <a:sym typeface="Lexend"/>
              </a:rPr>
              <a:t>24/08</a:t>
            </a:r>
            <a:endParaRPr sz="1100"/>
          </a:p>
        </p:txBody>
      </p:sp>
      <p:sp>
        <p:nvSpPr>
          <p:cNvPr id="539" name="Google Shape;539;p33"/>
          <p:cNvSpPr/>
          <p:nvPr/>
        </p:nvSpPr>
        <p:spPr>
          <a:xfrm>
            <a:off x="3252549" y="1400175"/>
            <a:ext cx="10200" cy="1500300"/>
          </a:xfrm>
          <a:prstGeom prst="rect">
            <a:avLst/>
          </a:prstGeom>
          <a:solidFill>
            <a:srgbClr val="FFD9B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0" name="Google Shape;540;p33"/>
          <p:cNvSpPr txBox="1"/>
          <p:nvPr/>
        </p:nvSpPr>
        <p:spPr>
          <a:xfrm>
            <a:off x="1985963" y="1260551"/>
            <a:ext cx="2859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T7</a:t>
            </a:r>
            <a:endParaRPr sz="1100"/>
          </a:p>
        </p:txBody>
      </p:sp>
      <p:sp>
        <p:nvSpPr>
          <p:cNvPr id="541" name="Google Shape;541;p33"/>
          <p:cNvSpPr txBox="1"/>
          <p:nvPr/>
        </p:nvSpPr>
        <p:spPr>
          <a:xfrm>
            <a:off x="4243388" y="1260551"/>
            <a:ext cx="2859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T8</a:t>
            </a:r>
            <a:endParaRPr sz="1100"/>
          </a:p>
        </p:txBody>
      </p:sp>
      <p:sp>
        <p:nvSpPr>
          <p:cNvPr id="542" name="Google Shape;542;p33"/>
          <p:cNvSpPr/>
          <p:nvPr/>
        </p:nvSpPr>
        <p:spPr>
          <a:xfrm>
            <a:off x="1000125" y="1593056"/>
            <a:ext cx="4514850" cy="307181"/>
          </a:xfrm>
          <a:custGeom>
            <a:rect b="b" l="l" r="r" t="t"/>
            <a:pathLst>
              <a:path extrusionOk="0" h="43" w="632">
                <a:moveTo>
                  <a:pt x="0" y="43"/>
                </a:moveTo>
                <a:lnTo>
                  <a:pt x="90" y="33"/>
                </a:lnTo>
                <a:lnTo>
                  <a:pt x="181" y="8"/>
                </a:lnTo>
                <a:lnTo>
                  <a:pt x="271" y="9"/>
                </a:lnTo>
                <a:lnTo>
                  <a:pt x="361" y="14"/>
                </a:lnTo>
                <a:lnTo>
                  <a:pt x="451" y="0"/>
                </a:lnTo>
                <a:lnTo>
                  <a:pt x="542" y="6"/>
                </a:lnTo>
                <a:lnTo>
                  <a:pt x="632" y="10"/>
                </a:lnTo>
              </a:path>
            </a:pathLst>
          </a:custGeom>
          <a:noFill/>
          <a:ln cap="flat" cmpd="sng" w="1237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43" name="Google Shape;543;p33"/>
          <p:cNvSpPr/>
          <p:nvPr/>
        </p:nvSpPr>
        <p:spPr>
          <a:xfrm>
            <a:off x="968693" y="1869430"/>
            <a:ext cx="63000" cy="630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4" name="Google Shape;544;p33"/>
          <p:cNvSpPr txBox="1"/>
          <p:nvPr/>
        </p:nvSpPr>
        <p:spPr>
          <a:xfrm>
            <a:off x="921544" y="1734735"/>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22.66%</a:t>
            </a:r>
            <a:endParaRPr sz="1100"/>
          </a:p>
        </p:txBody>
      </p:sp>
      <p:sp>
        <p:nvSpPr>
          <p:cNvPr id="545" name="Google Shape;545;p33"/>
          <p:cNvSpPr/>
          <p:nvPr/>
        </p:nvSpPr>
        <p:spPr>
          <a:xfrm>
            <a:off x="1622243" y="1802993"/>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6" name="Google Shape;546;p33"/>
          <p:cNvSpPr txBox="1"/>
          <p:nvPr/>
        </p:nvSpPr>
        <p:spPr>
          <a:xfrm>
            <a:off x="1395072" y="1659725"/>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23.46%</a:t>
            </a:r>
            <a:endParaRPr sz="1100"/>
          </a:p>
        </p:txBody>
      </p:sp>
      <p:sp>
        <p:nvSpPr>
          <p:cNvPr id="547" name="Google Shape;547;p33"/>
          <p:cNvSpPr/>
          <p:nvPr/>
        </p:nvSpPr>
        <p:spPr>
          <a:xfrm>
            <a:off x="2267222" y="1626722"/>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8" name="Google Shape;548;p33"/>
          <p:cNvSpPr txBox="1"/>
          <p:nvPr/>
        </p:nvSpPr>
        <p:spPr>
          <a:xfrm>
            <a:off x="2040051" y="148345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25.34%</a:t>
            </a:r>
            <a:endParaRPr sz="1100"/>
          </a:p>
        </p:txBody>
      </p:sp>
      <p:sp>
        <p:nvSpPr>
          <p:cNvPr id="549" name="Google Shape;549;p33"/>
          <p:cNvSpPr/>
          <p:nvPr/>
        </p:nvSpPr>
        <p:spPr>
          <a:xfrm>
            <a:off x="2912201" y="1636097"/>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0" name="Google Shape;550;p33"/>
          <p:cNvSpPr txBox="1"/>
          <p:nvPr/>
        </p:nvSpPr>
        <p:spPr>
          <a:xfrm>
            <a:off x="2685029" y="149282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25.24%</a:t>
            </a:r>
            <a:endParaRPr sz="1100"/>
          </a:p>
        </p:txBody>
      </p:sp>
      <p:sp>
        <p:nvSpPr>
          <p:cNvPr id="551" name="Google Shape;551;p33"/>
          <p:cNvSpPr/>
          <p:nvPr/>
        </p:nvSpPr>
        <p:spPr>
          <a:xfrm>
            <a:off x="3557180" y="1668914"/>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2" name="Google Shape;552;p33"/>
          <p:cNvSpPr txBox="1"/>
          <p:nvPr/>
        </p:nvSpPr>
        <p:spPr>
          <a:xfrm>
            <a:off x="3330008" y="152564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24.89%</a:t>
            </a:r>
            <a:endParaRPr sz="1100"/>
          </a:p>
        </p:txBody>
      </p:sp>
      <p:sp>
        <p:nvSpPr>
          <p:cNvPr id="553" name="Google Shape;553;p33"/>
          <p:cNvSpPr/>
          <p:nvPr/>
        </p:nvSpPr>
        <p:spPr>
          <a:xfrm>
            <a:off x="4202158" y="1567652"/>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4" name="Google Shape;554;p33"/>
          <p:cNvSpPr txBox="1"/>
          <p:nvPr/>
        </p:nvSpPr>
        <p:spPr>
          <a:xfrm>
            <a:off x="3974987" y="142438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25.97%</a:t>
            </a:r>
            <a:endParaRPr sz="1100"/>
          </a:p>
        </p:txBody>
      </p:sp>
      <p:sp>
        <p:nvSpPr>
          <p:cNvPr id="555" name="Google Shape;555;p33"/>
          <p:cNvSpPr/>
          <p:nvPr/>
        </p:nvSpPr>
        <p:spPr>
          <a:xfrm>
            <a:off x="4847137" y="1615470"/>
            <a:ext cx="45900" cy="459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6" name="Google Shape;556;p33"/>
          <p:cNvSpPr txBox="1"/>
          <p:nvPr/>
        </p:nvSpPr>
        <p:spPr>
          <a:xfrm>
            <a:off x="4619966" y="1472202"/>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25.46%</a:t>
            </a:r>
            <a:endParaRPr sz="1100"/>
          </a:p>
        </p:txBody>
      </p:sp>
      <p:sp>
        <p:nvSpPr>
          <p:cNvPr id="557" name="Google Shape;557;p33"/>
          <p:cNvSpPr/>
          <p:nvPr/>
        </p:nvSpPr>
        <p:spPr>
          <a:xfrm>
            <a:off x="5483543" y="1634088"/>
            <a:ext cx="63000" cy="630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8" name="Google Shape;558;p33"/>
          <p:cNvSpPr txBox="1"/>
          <p:nvPr/>
        </p:nvSpPr>
        <p:spPr>
          <a:xfrm>
            <a:off x="5264944" y="1499393"/>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25.17%</a:t>
            </a:r>
            <a:endParaRPr sz="1100"/>
          </a:p>
        </p:txBody>
      </p:sp>
      <p:sp>
        <p:nvSpPr>
          <p:cNvPr id="559" name="Google Shape;559;p33"/>
          <p:cNvSpPr/>
          <p:nvPr/>
        </p:nvSpPr>
        <p:spPr>
          <a:xfrm>
            <a:off x="1000125" y="2528888"/>
            <a:ext cx="4514850" cy="242888"/>
          </a:xfrm>
          <a:custGeom>
            <a:rect b="b" l="l" r="r" t="t"/>
            <a:pathLst>
              <a:path extrusionOk="0" h="34" w="632">
                <a:moveTo>
                  <a:pt x="0" y="3"/>
                </a:moveTo>
                <a:lnTo>
                  <a:pt x="90" y="12"/>
                </a:lnTo>
                <a:lnTo>
                  <a:pt x="181" y="0"/>
                </a:lnTo>
                <a:lnTo>
                  <a:pt x="271" y="10"/>
                </a:lnTo>
                <a:lnTo>
                  <a:pt x="361" y="8"/>
                </a:lnTo>
                <a:lnTo>
                  <a:pt x="451" y="20"/>
                </a:lnTo>
                <a:lnTo>
                  <a:pt x="542" y="21"/>
                </a:lnTo>
                <a:lnTo>
                  <a:pt x="632" y="34"/>
                </a:lnTo>
              </a:path>
            </a:pathLst>
          </a:custGeom>
          <a:noFill/>
          <a:ln cap="flat" cmpd="sng" w="1237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60" name="Google Shape;560;p33"/>
          <p:cNvSpPr/>
          <p:nvPr/>
        </p:nvSpPr>
        <p:spPr>
          <a:xfrm>
            <a:off x="968693" y="2521074"/>
            <a:ext cx="63000" cy="630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1" name="Google Shape;561;p33"/>
          <p:cNvSpPr txBox="1"/>
          <p:nvPr/>
        </p:nvSpPr>
        <p:spPr>
          <a:xfrm>
            <a:off x="921544" y="238637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15.71%</a:t>
            </a:r>
            <a:endParaRPr sz="1100"/>
          </a:p>
        </p:txBody>
      </p:sp>
      <p:sp>
        <p:nvSpPr>
          <p:cNvPr id="562" name="Google Shape;562;p33"/>
          <p:cNvSpPr/>
          <p:nvPr/>
        </p:nvSpPr>
        <p:spPr>
          <a:xfrm>
            <a:off x="1622243" y="2591529"/>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3" name="Google Shape;563;p33"/>
          <p:cNvSpPr txBox="1"/>
          <p:nvPr/>
        </p:nvSpPr>
        <p:spPr>
          <a:xfrm>
            <a:off x="1395072" y="2448261"/>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15.05%</a:t>
            </a:r>
            <a:endParaRPr sz="1100"/>
          </a:p>
        </p:txBody>
      </p:sp>
      <p:sp>
        <p:nvSpPr>
          <p:cNvPr id="564" name="Google Shape;564;p33"/>
          <p:cNvSpPr/>
          <p:nvPr/>
        </p:nvSpPr>
        <p:spPr>
          <a:xfrm>
            <a:off x="2267222" y="2502456"/>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5" name="Google Shape;565;p33"/>
          <p:cNvSpPr txBox="1"/>
          <p:nvPr/>
        </p:nvSpPr>
        <p:spPr>
          <a:xfrm>
            <a:off x="2040051" y="2359188"/>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16.00%</a:t>
            </a:r>
            <a:endParaRPr sz="1100"/>
          </a:p>
        </p:txBody>
      </p:sp>
      <p:sp>
        <p:nvSpPr>
          <p:cNvPr id="566" name="Google Shape;566;p33"/>
          <p:cNvSpPr/>
          <p:nvPr/>
        </p:nvSpPr>
        <p:spPr>
          <a:xfrm>
            <a:off x="2912201" y="2577465"/>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7" name="Google Shape;567;p33"/>
          <p:cNvSpPr txBox="1"/>
          <p:nvPr/>
        </p:nvSpPr>
        <p:spPr>
          <a:xfrm>
            <a:off x="2685029" y="2434197"/>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15.20%</a:t>
            </a:r>
            <a:endParaRPr sz="1100"/>
          </a:p>
        </p:txBody>
      </p:sp>
      <p:sp>
        <p:nvSpPr>
          <p:cNvPr id="568" name="Google Shape;568;p33"/>
          <p:cNvSpPr/>
          <p:nvPr/>
        </p:nvSpPr>
        <p:spPr>
          <a:xfrm>
            <a:off x="3557180" y="2565276"/>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9" name="Google Shape;569;p33"/>
          <p:cNvSpPr txBox="1"/>
          <p:nvPr/>
        </p:nvSpPr>
        <p:spPr>
          <a:xfrm>
            <a:off x="3330008" y="2422008"/>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15.33%</a:t>
            </a:r>
            <a:endParaRPr sz="1100"/>
          </a:p>
        </p:txBody>
      </p:sp>
      <p:sp>
        <p:nvSpPr>
          <p:cNvPr id="570" name="Google Shape;570;p33"/>
          <p:cNvSpPr/>
          <p:nvPr/>
        </p:nvSpPr>
        <p:spPr>
          <a:xfrm>
            <a:off x="4202158" y="2648724"/>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1" name="Google Shape;571;p33"/>
          <p:cNvSpPr txBox="1"/>
          <p:nvPr/>
        </p:nvSpPr>
        <p:spPr>
          <a:xfrm>
            <a:off x="3974987" y="250545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14.44%</a:t>
            </a:r>
            <a:endParaRPr sz="1100"/>
          </a:p>
        </p:txBody>
      </p:sp>
      <p:sp>
        <p:nvSpPr>
          <p:cNvPr id="572" name="Google Shape;572;p33"/>
          <p:cNvSpPr/>
          <p:nvPr/>
        </p:nvSpPr>
        <p:spPr>
          <a:xfrm>
            <a:off x="4847137" y="2655287"/>
            <a:ext cx="45900" cy="459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3" name="Google Shape;573;p33"/>
          <p:cNvSpPr txBox="1"/>
          <p:nvPr/>
        </p:nvSpPr>
        <p:spPr>
          <a:xfrm>
            <a:off x="4619966" y="251201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14.37%</a:t>
            </a:r>
            <a:endParaRPr sz="1100"/>
          </a:p>
        </p:txBody>
      </p:sp>
      <p:sp>
        <p:nvSpPr>
          <p:cNvPr id="574" name="Google Shape;574;p33"/>
          <p:cNvSpPr/>
          <p:nvPr/>
        </p:nvSpPr>
        <p:spPr>
          <a:xfrm>
            <a:off x="5483543" y="2741414"/>
            <a:ext cx="63000" cy="630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5" name="Google Shape;575;p33"/>
          <p:cNvSpPr txBox="1"/>
          <p:nvPr/>
        </p:nvSpPr>
        <p:spPr>
          <a:xfrm>
            <a:off x="5264944" y="260671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13.36%</a:t>
            </a:r>
            <a:endParaRPr sz="1100"/>
          </a:p>
        </p:txBody>
      </p:sp>
      <p:sp>
        <p:nvSpPr>
          <p:cNvPr id="576" name="Google Shape;576;p33"/>
          <p:cNvSpPr txBox="1"/>
          <p:nvPr/>
        </p:nvSpPr>
        <p:spPr>
          <a:xfrm>
            <a:off x="542925" y="3113318"/>
            <a:ext cx="5000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Khoảng cách đang nới rộng: SGN hơn HAN 6.95 pp (06/07) và 11.81 pp (24/08). HAN giảm liên tục cả T8: 15.33 → 13.36 (−12.8%).</a:t>
            </a:r>
            <a:endParaRPr sz="1100"/>
          </a:p>
        </p:txBody>
      </p:sp>
      <p:sp>
        <p:nvSpPr>
          <p:cNvPr id="577" name="Google Shape;577;p33"/>
          <p:cNvSpPr/>
          <p:nvPr/>
        </p:nvSpPr>
        <p:spPr>
          <a:xfrm>
            <a:off x="5915025" y="942975"/>
            <a:ext cx="2886000" cy="771600"/>
          </a:xfrm>
          <a:prstGeom prst="roundRect">
            <a:avLst>
              <a:gd fmla="val 1481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8" name="Google Shape;578;p33"/>
          <p:cNvSpPr txBox="1"/>
          <p:nvPr/>
        </p:nvSpPr>
        <p:spPr>
          <a:xfrm>
            <a:off x="6086475" y="1031951"/>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HAN · COVERAGE TB 4 TUẦN</a:t>
            </a:r>
            <a:endParaRPr sz="1100"/>
          </a:p>
        </p:txBody>
      </p:sp>
      <p:sp>
        <p:nvSpPr>
          <p:cNvPr id="579" name="Google Shape;579;p33"/>
          <p:cNvSpPr txBox="1"/>
          <p:nvPr/>
        </p:nvSpPr>
        <p:spPr>
          <a:xfrm>
            <a:off x="6086475" y="1169789"/>
            <a:ext cx="15717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400">
                <a:solidFill>
                  <a:srgbClr val="0E4174"/>
                </a:solidFill>
                <a:latin typeface="Lexend"/>
                <a:ea typeface="Lexend"/>
                <a:cs typeface="Lexend"/>
                <a:sym typeface="Lexend"/>
              </a:rPr>
              <a:t>14.38%</a:t>
            </a:r>
            <a:endParaRPr sz="1100"/>
          </a:p>
        </p:txBody>
      </p:sp>
      <p:sp>
        <p:nvSpPr>
          <p:cNvPr id="580" name="Google Shape;580;p33"/>
          <p:cNvSpPr txBox="1"/>
          <p:nvPr/>
        </p:nvSpPr>
        <p:spPr>
          <a:xfrm>
            <a:off x="7143750" y="1289590"/>
            <a:ext cx="786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6B7280"/>
                </a:solidFill>
                <a:latin typeface="Lexend"/>
                <a:ea typeface="Lexend"/>
                <a:cs typeface="Lexend"/>
                <a:sym typeface="Lexend"/>
              </a:rPr>
              <a:t>vs 15.49%</a:t>
            </a:r>
            <a:endParaRPr sz="1100"/>
          </a:p>
        </p:txBody>
      </p:sp>
      <p:sp>
        <p:nvSpPr>
          <p:cNvPr id="581" name="Google Shape;581;p33"/>
          <p:cNvSpPr/>
          <p:nvPr/>
        </p:nvSpPr>
        <p:spPr>
          <a:xfrm>
            <a:off x="7958138" y="1253014"/>
            <a:ext cx="671700" cy="180000"/>
          </a:xfrm>
          <a:prstGeom prst="roundRect">
            <a:avLst>
              <a:gd fmla="val 50000" name="adj"/>
            </a:avLst>
          </a:prstGeom>
          <a:solidFill>
            <a:srgbClr val="FEE2E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2" name="Google Shape;582;p33"/>
          <p:cNvSpPr txBox="1"/>
          <p:nvPr/>
        </p:nvSpPr>
        <p:spPr>
          <a:xfrm>
            <a:off x="7958138" y="1263301"/>
            <a:ext cx="6717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DC2626"/>
                </a:solidFill>
                <a:latin typeface="Lexend"/>
                <a:ea typeface="Lexend"/>
                <a:cs typeface="Lexend"/>
                <a:sym typeface="Lexend"/>
              </a:rPr>
              <a:t>−1.12 pp</a:t>
            </a:r>
            <a:endParaRPr sz="1100"/>
          </a:p>
        </p:txBody>
      </p:sp>
      <p:sp>
        <p:nvSpPr>
          <p:cNvPr id="583" name="Google Shape;583;p33"/>
          <p:cNvSpPr txBox="1"/>
          <p:nvPr/>
        </p:nvSpPr>
        <p:spPr>
          <a:xfrm>
            <a:off x="6086475" y="1484543"/>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−7.2% · đáy mới 13.36% ở tuần 24/08</a:t>
            </a:r>
            <a:endParaRPr sz="1100"/>
          </a:p>
        </p:txBody>
      </p:sp>
      <p:sp>
        <p:nvSpPr>
          <p:cNvPr id="584" name="Google Shape;584;p33"/>
          <p:cNvSpPr/>
          <p:nvPr/>
        </p:nvSpPr>
        <p:spPr>
          <a:xfrm>
            <a:off x="5915025" y="1800225"/>
            <a:ext cx="2886000" cy="771600"/>
          </a:xfrm>
          <a:prstGeom prst="roundRect">
            <a:avLst>
              <a:gd fmla="val 1481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5" name="Google Shape;585;p33"/>
          <p:cNvSpPr txBox="1"/>
          <p:nvPr/>
        </p:nvSpPr>
        <p:spPr>
          <a:xfrm>
            <a:off x="6086475" y="1889201"/>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SGN · COVERAGE TB 4 TUẦN</a:t>
            </a:r>
            <a:endParaRPr sz="1100"/>
          </a:p>
        </p:txBody>
      </p:sp>
      <p:sp>
        <p:nvSpPr>
          <p:cNvPr id="586" name="Google Shape;586;p33"/>
          <p:cNvSpPr txBox="1"/>
          <p:nvPr/>
        </p:nvSpPr>
        <p:spPr>
          <a:xfrm>
            <a:off x="6086475" y="2027039"/>
            <a:ext cx="15717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400">
                <a:solidFill>
                  <a:srgbClr val="0E4174"/>
                </a:solidFill>
                <a:latin typeface="Lexend"/>
                <a:ea typeface="Lexend"/>
                <a:cs typeface="Lexend"/>
                <a:sym typeface="Lexend"/>
              </a:rPr>
              <a:t>25.37%</a:t>
            </a:r>
            <a:endParaRPr sz="1100"/>
          </a:p>
        </p:txBody>
      </p:sp>
      <p:sp>
        <p:nvSpPr>
          <p:cNvPr id="587" name="Google Shape;587;p33"/>
          <p:cNvSpPr txBox="1"/>
          <p:nvPr/>
        </p:nvSpPr>
        <p:spPr>
          <a:xfrm>
            <a:off x="7143750" y="2146840"/>
            <a:ext cx="786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6B7280"/>
                </a:solidFill>
                <a:latin typeface="Lexend"/>
                <a:ea typeface="Lexend"/>
                <a:cs typeface="Lexend"/>
                <a:sym typeface="Lexend"/>
              </a:rPr>
              <a:t>vs 24.18%</a:t>
            </a:r>
            <a:endParaRPr sz="1100"/>
          </a:p>
        </p:txBody>
      </p:sp>
      <p:sp>
        <p:nvSpPr>
          <p:cNvPr id="588" name="Google Shape;588;p33"/>
          <p:cNvSpPr/>
          <p:nvPr/>
        </p:nvSpPr>
        <p:spPr>
          <a:xfrm>
            <a:off x="7958138" y="2110264"/>
            <a:ext cx="671700" cy="180000"/>
          </a:xfrm>
          <a:prstGeom prst="roundRect">
            <a:avLst>
              <a:gd fmla="val 50000"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9" name="Google Shape;589;p33"/>
          <p:cNvSpPr txBox="1"/>
          <p:nvPr/>
        </p:nvSpPr>
        <p:spPr>
          <a:xfrm>
            <a:off x="7958138" y="2120551"/>
            <a:ext cx="6717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047857"/>
                </a:solidFill>
                <a:latin typeface="Lexend"/>
                <a:ea typeface="Lexend"/>
                <a:cs typeface="Lexend"/>
                <a:sym typeface="Lexend"/>
              </a:rPr>
              <a:t>+1.20 pp</a:t>
            </a:r>
            <a:endParaRPr sz="1100"/>
          </a:p>
        </p:txBody>
      </p:sp>
      <p:sp>
        <p:nvSpPr>
          <p:cNvPr id="590" name="Google Shape;590;p33"/>
          <p:cNvSpPr txBox="1"/>
          <p:nvPr/>
        </p:nvSpPr>
        <p:spPr>
          <a:xfrm>
            <a:off x="6086475" y="2341793"/>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+5.0% · active +9.0%, độ phủ nhích chậm hơn</a:t>
            </a:r>
            <a:endParaRPr sz="1100"/>
          </a:p>
        </p:txBody>
      </p:sp>
      <p:sp>
        <p:nvSpPr>
          <p:cNvPr id="591" name="Google Shape;591;p33"/>
          <p:cNvSpPr/>
          <p:nvPr/>
        </p:nvSpPr>
        <p:spPr>
          <a:xfrm>
            <a:off x="5915025" y="2657475"/>
            <a:ext cx="2886000" cy="771600"/>
          </a:xfrm>
          <a:prstGeom prst="roundRect">
            <a:avLst>
              <a:gd fmla="val 14814" name="adj"/>
            </a:avLst>
          </a:prstGeom>
          <a:solidFill>
            <a:srgbClr val="FFF3EB"/>
          </a:solidFill>
          <a:ln cap="flat" cmpd="sng" w="7150">
            <a:solidFill>
              <a:srgbClr val="FFD9BF"/>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2" name="Google Shape;592;p33"/>
          <p:cNvSpPr txBox="1"/>
          <p:nvPr/>
        </p:nvSpPr>
        <p:spPr>
          <a:xfrm>
            <a:off x="6086475" y="2746451"/>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KHOẢNG CÁCH SGN – HAN</a:t>
            </a:r>
            <a:endParaRPr sz="1100"/>
          </a:p>
        </p:txBody>
      </p:sp>
      <p:sp>
        <p:nvSpPr>
          <p:cNvPr id="593" name="Google Shape;593;p33"/>
          <p:cNvSpPr txBox="1"/>
          <p:nvPr/>
        </p:nvSpPr>
        <p:spPr>
          <a:xfrm>
            <a:off x="6086475" y="2884289"/>
            <a:ext cx="15717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400">
                <a:solidFill>
                  <a:srgbClr val="0E4174"/>
                </a:solidFill>
                <a:latin typeface="Lexend"/>
                <a:ea typeface="Lexend"/>
                <a:cs typeface="Lexend"/>
                <a:sym typeface="Lexend"/>
              </a:rPr>
              <a:t>11.81 pp</a:t>
            </a:r>
            <a:endParaRPr sz="1100"/>
          </a:p>
        </p:txBody>
      </p:sp>
      <p:sp>
        <p:nvSpPr>
          <p:cNvPr id="594" name="Google Shape;594;p33"/>
          <p:cNvSpPr txBox="1"/>
          <p:nvPr/>
        </p:nvSpPr>
        <p:spPr>
          <a:xfrm>
            <a:off x="7143750" y="3004090"/>
            <a:ext cx="786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6B7280"/>
                </a:solidFill>
                <a:latin typeface="Lexend"/>
                <a:ea typeface="Lexend"/>
                <a:cs typeface="Lexend"/>
                <a:sym typeface="Lexend"/>
              </a:rPr>
              <a:t>từ 6.95 pp</a:t>
            </a:r>
            <a:endParaRPr sz="1100"/>
          </a:p>
        </p:txBody>
      </p:sp>
      <p:sp>
        <p:nvSpPr>
          <p:cNvPr id="595" name="Google Shape;595;p33"/>
          <p:cNvSpPr/>
          <p:nvPr/>
        </p:nvSpPr>
        <p:spPr>
          <a:xfrm>
            <a:off x="7958138" y="2967514"/>
            <a:ext cx="671700" cy="180000"/>
          </a:xfrm>
          <a:prstGeom prst="roundRect">
            <a:avLst>
              <a:gd fmla="val 50000" name="adj"/>
            </a:avLst>
          </a:prstGeom>
          <a:solidFill>
            <a:srgbClr val="FEE2E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6" name="Google Shape;596;p33"/>
          <p:cNvSpPr txBox="1"/>
          <p:nvPr/>
        </p:nvSpPr>
        <p:spPr>
          <a:xfrm>
            <a:off x="7958138" y="2977801"/>
            <a:ext cx="6717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DC2626"/>
                </a:solidFill>
                <a:latin typeface="Lexend"/>
                <a:ea typeface="Lexend"/>
                <a:cs typeface="Lexend"/>
                <a:sym typeface="Lexend"/>
              </a:rPr>
              <a:t>nới rộng</a:t>
            </a:r>
            <a:endParaRPr sz="1100"/>
          </a:p>
        </p:txBody>
      </p:sp>
      <p:sp>
        <p:nvSpPr>
          <p:cNvPr id="597" name="Google Shape;597;p33"/>
          <p:cNvSpPr txBox="1"/>
          <p:nvPr/>
        </p:nvSpPr>
        <p:spPr>
          <a:xfrm>
            <a:off x="6086475" y="3199042"/>
            <a:ext cx="2571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Coverage HAN chỉ còn ~53% mức của SGN</a:t>
            </a:r>
            <a:endParaRPr sz="1100"/>
          </a:p>
        </p:txBody>
      </p:sp>
      <p:sp>
        <p:nvSpPr>
          <p:cNvPr id="598" name="Google Shape;598;p33"/>
          <p:cNvSpPr/>
          <p:nvPr/>
        </p:nvSpPr>
        <p:spPr>
          <a:xfrm>
            <a:off x="342900" y="3571875"/>
            <a:ext cx="42900" cy="1431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9" name="Google Shape;599;p33"/>
          <p:cNvSpPr txBox="1"/>
          <p:nvPr/>
        </p:nvSpPr>
        <p:spPr>
          <a:xfrm>
            <a:off x="500063" y="3568910"/>
            <a:ext cx="37149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ZONE BIẾN ĐỘNG MẠNH NHẤT · TUẦN 27/07 → 24/08</a:t>
            </a:r>
            <a:endParaRPr sz="1100"/>
          </a:p>
        </p:txBody>
      </p:sp>
      <p:sp>
        <p:nvSpPr>
          <p:cNvPr id="600" name="Google Shape;600;p33"/>
          <p:cNvSpPr txBox="1"/>
          <p:nvPr/>
        </p:nvSpPr>
        <p:spPr>
          <a:xfrm>
            <a:off x="4800600" y="3596557"/>
            <a:ext cx="40005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Bảng zone lấy từ file md (coverage TB/zone) — thang số khác đường HAN/SGN ở trên</a:t>
            </a:r>
            <a:endParaRPr sz="1100"/>
          </a:p>
        </p:txBody>
      </p:sp>
      <p:sp>
        <p:nvSpPr>
          <p:cNvPr id="601" name="Google Shape;601;p33"/>
          <p:cNvSpPr/>
          <p:nvPr/>
        </p:nvSpPr>
        <p:spPr>
          <a:xfrm>
            <a:off x="342900" y="3814763"/>
            <a:ext cx="4172100" cy="1043100"/>
          </a:xfrm>
          <a:prstGeom prst="roundRect">
            <a:avLst>
              <a:gd fmla="val 9589"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2" name="Google Shape;602;p33"/>
          <p:cNvSpPr txBox="1"/>
          <p:nvPr/>
        </p:nvSpPr>
        <p:spPr>
          <a:xfrm>
            <a:off x="514350" y="3880700"/>
            <a:ext cx="571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HAN</a:t>
            </a:r>
            <a:endParaRPr sz="1100"/>
          </a:p>
        </p:txBody>
      </p:sp>
      <p:sp>
        <p:nvSpPr>
          <p:cNvPr id="603" name="Google Shape;603;p33"/>
          <p:cNvSpPr txBox="1"/>
          <p:nvPr/>
        </p:nvSpPr>
        <p:spPr>
          <a:xfrm>
            <a:off x="2271713" y="39083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27/07</a:t>
            </a:r>
            <a:endParaRPr sz="1100"/>
          </a:p>
        </p:txBody>
      </p:sp>
      <p:sp>
        <p:nvSpPr>
          <p:cNvPr id="604" name="Google Shape;604;p33"/>
          <p:cNvSpPr txBox="1"/>
          <p:nvPr/>
        </p:nvSpPr>
        <p:spPr>
          <a:xfrm>
            <a:off x="2843213" y="39083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24/08</a:t>
            </a:r>
            <a:endParaRPr sz="1100"/>
          </a:p>
        </p:txBody>
      </p:sp>
      <p:sp>
        <p:nvSpPr>
          <p:cNvPr id="605" name="Google Shape;605;p33"/>
          <p:cNvSpPr txBox="1"/>
          <p:nvPr/>
        </p:nvSpPr>
        <p:spPr>
          <a:xfrm>
            <a:off x="3357563" y="39083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Δ pp</a:t>
            </a:r>
            <a:endParaRPr sz="1100"/>
          </a:p>
        </p:txBody>
      </p:sp>
      <p:sp>
        <p:nvSpPr>
          <p:cNvPr id="606" name="Google Shape;606;p33"/>
          <p:cNvSpPr txBox="1"/>
          <p:nvPr/>
        </p:nvSpPr>
        <p:spPr>
          <a:xfrm>
            <a:off x="3700463" y="3908346"/>
            <a:ext cx="6429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9CA3AF"/>
                </a:solidFill>
                <a:latin typeface="Lexend"/>
                <a:ea typeface="Lexend"/>
                <a:cs typeface="Lexend"/>
                <a:sym typeface="Lexend"/>
              </a:rPr>
              <a:t>ACTIVE</a:t>
            </a:r>
            <a:endParaRPr sz="1100"/>
          </a:p>
        </p:txBody>
      </p:sp>
      <p:sp>
        <p:nvSpPr>
          <p:cNvPr id="607" name="Google Shape;607;p33"/>
          <p:cNvSpPr/>
          <p:nvPr/>
        </p:nvSpPr>
        <p:spPr>
          <a:xfrm>
            <a:off x="514350" y="4068366"/>
            <a:ext cx="3829200" cy="7200"/>
          </a:xfrm>
          <a:prstGeom prst="rect">
            <a:avLst/>
          </a:prstGeom>
          <a:solidFill>
            <a:srgbClr val="E9EDF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8" name="Google Shape;608;p33"/>
          <p:cNvSpPr/>
          <p:nvPr/>
        </p:nvSpPr>
        <p:spPr>
          <a:xfrm>
            <a:off x="442913" y="4136231"/>
            <a:ext cx="3972000" cy="171600"/>
          </a:xfrm>
          <a:prstGeom prst="roundRect">
            <a:avLst>
              <a:gd fmla="val 2916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9" name="Google Shape;609;p33"/>
          <p:cNvSpPr txBox="1"/>
          <p:nvPr/>
        </p:nvSpPr>
        <p:spPr>
          <a:xfrm>
            <a:off x="514350" y="4151698"/>
            <a:ext cx="18576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374151"/>
                </a:solidFill>
                <a:latin typeface="Lexend"/>
                <a:ea typeface="Lexend"/>
                <a:cs typeface="Lexend"/>
                <a:sym typeface="Lexend"/>
              </a:rPr>
              <a:t>Z5-TX</a:t>
            </a:r>
            <a:endParaRPr sz="1100"/>
          </a:p>
        </p:txBody>
      </p:sp>
      <p:sp>
        <p:nvSpPr>
          <p:cNvPr id="610" name="Google Shape;610;p33"/>
          <p:cNvSpPr txBox="1"/>
          <p:nvPr/>
        </p:nvSpPr>
        <p:spPr>
          <a:xfrm>
            <a:off x="2235994" y="41516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33.83%</a:t>
            </a:r>
            <a:endParaRPr sz="1100"/>
          </a:p>
        </p:txBody>
      </p:sp>
      <p:sp>
        <p:nvSpPr>
          <p:cNvPr id="611" name="Google Shape;611;p33"/>
          <p:cNvSpPr txBox="1"/>
          <p:nvPr/>
        </p:nvSpPr>
        <p:spPr>
          <a:xfrm>
            <a:off x="2807494" y="41516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22.25%</a:t>
            </a:r>
            <a:endParaRPr sz="1100"/>
          </a:p>
        </p:txBody>
      </p:sp>
      <p:sp>
        <p:nvSpPr>
          <p:cNvPr id="612" name="Google Shape;612;p33"/>
          <p:cNvSpPr txBox="1"/>
          <p:nvPr/>
        </p:nvSpPr>
        <p:spPr>
          <a:xfrm>
            <a:off x="3321844" y="41516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DC2626"/>
                </a:solidFill>
                <a:latin typeface="Lexend"/>
                <a:ea typeface="Lexend"/>
                <a:cs typeface="Lexend"/>
                <a:sym typeface="Lexend"/>
              </a:rPr>
              <a:t>−11.6</a:t>
            </a:r>
            <a:endParaRPr sz="1100"/>
          </a:p>
        </p:txBody>
      </p:sp>
      <p:sp>
        <p:nvSpPr>
          <p:cNvPr id="613" name="Google Shape;613;p33"/>
          <p:cNvSpPr txBox="1"/>
          <p:nvPr/>
        </p:nvSpPr>
        <p:spPr>
          <a:xfrm>
            <a:off x="3557588" y="4151698"/>
            <a:ext cx="786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700">
                <a:solidFill>
                  <a:srgbClr val="6B7280"/>
                </a:solidFill>
                <a:latin typeface="Lexend"/>
                <a:ea typeface="Lexend"/>
                <a:cs typeface="Lexend"/>
                <a:sym typeface="Lexend"/>
              </a:rPr>
              <a:t>18 → 8</a:t>
            </a:r>
            <a:endParaRPr sz="1100"/>
          </a:p>
        </p:txBody>
      </p:sp>
      <p:sp>
        <p:nvSpPr>
          <p:cNvPr id="614" name="Google Shape;614;p33"/>
          <p:cNvSpPr/>
          <p:nvPr/>
        </p:nvSpPr>
        <p:spPr>
          <a:xfrm>
            <a:off x="442913" y="4516469"/>
            <a:ext cx="3972000" cy="171600"/>
          </a:xfrm>
          <a:prstGeom prst="roundRect">
            <a:avLst>
              <a:gd fmla="val 2916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5" name="Google Shape;615;p33"/>
          <p:cNvSpPr txBox="1"/>
          <p:nvPr/>
        </p:nvSpPr>
        <p:spPr>
          <a:xfrm>
            <a:off x="514350" y="4384163"/>
            <a:ext cx="18576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374151"/>
                </a:solidFill>
                <a:latin typeface="Lexend"/>
                <a:ea typeface="Lexend"/>
                <a:cs typeface="Lexend"/>
                <a:sym typeface="Lexend"/>
              </a:rPr>
              <a:t>ZONE-1-HK-BD</a:t>
            </a:r>
            <a:endParaRPr sz="1100"/>
          </a:p>
        </p:txBody>
      </p:sp>
      <p:sp>
        <p:nvSpPr>
          <p:cNvPr id="616" name="Google Shape;616;p33"/>
          <p:cNvSpPr txBox="1"/>
          <p:nvPr/>
        </p:nvSpPr>
        <p:spPr>
          <a:xfrm>
            <a:off x="2235994" y="4384163"/>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52.21%</a:t>
            </a:r>
            <a:endParaRPr sz="1100"/>
          </a:p>
        </p:txBody>
      </p:sp>
      <p:sp>
        <p:nvSpPr>
          <p:cNvPr id="617" name="Google Shape;617;p33"/>
          <p:cNvSpPr txBox="1"/>
          <p:nvPr/>
        </p:nvSpPr>
        <p:spPr>
          <a:xfrm>
            <a:off x="2807494" y="4384163"/>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49.22%</a:t>
            </a:r>
            <a:endParaRPr sz="1100"/>
          </a:p>
        </p:txBody>
      </p:sp>
      <p:sp>
        <p:nvSpPr>
          <p:cNvPr id="618" name="Google Shape;618;p33"/>
          <p:cNvSpPr txBox="1"/>
          <p:nvPr/>
        </p:nvSpPr>
        <p:spPr>
          <a:xfrm>
            <a:off x="3321844" y="4384163"/>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374151"/>
                </a:solidFill>
                <a:latin typeface="Lexend"/>
                <a:ea typeface="Lexend"/>
                <a:cs typeface="Lexend"/>
                <a:sym typeface="Lexend"/>
              </a:rPr>
              <a:t>−3.0</a:t>
            </a:r>
            <a:endParaRPr sz="1100"/>
          </a:p>
        </p:txBody>
      </p:sp>
      <p:sp>
        <p:nvSpPr>
          <p:cNvPr id="619" name="Google Shape;619;p33"/>
          <p:cNvSpPr txBox="1"/>
          <p:nvPr/>
        </p:nvSpPr>
        <p:spPr>
          <a:xfrm>
            <a:off x="3557588" y="4384163"/>
            <a:ext cx="786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700">
                <a:solidFill>
                  <a:srgbClr val="6B7280"/>
                </a:solidFill>
                <a:latin typeface="Lexend"/>
                <a:ea typeface="Lexend"/>
                <a:cs typeface="Lexend"/>
                <a:sym typeface="Lexend"/>
              </a:rPr>
              <a:t>13 → 9</a:t>
            </a:r>
            <a:endParaRPr sz="1100"/>
          </a:p>
        </p:txBody>
      </p:sp>
      <p:sp>
        <p:nvSpPr>
          <p:cNvPr id="620" name="Google Shape;620;p33"/>
          <p:cNvSpPr txBox="1"/>
          <p:nvPr/>
        </p:nvSpPr>
        <p:spPr>
          <a:xfrm>
            <a:off x="514350" y="4548711"/>
            <a:ext cx="18576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374151"/>
                </a:solidFill>
                <a:latin typeface="Lexend"/>
                <a:ea typeface="Lexend"/>
                <a:cs typeface="Lexend"/>
                <a:sym typeface="Lexend"/>
              </a:rPr>
              <a:t>ZONE-6-HBT</a:t>
            </a:r>
            <a:endParaRPr sz="1100"/>
          </a:p>
        </p:txBody>
      </p:sp>
      <p:sp>
        <p:nvSpPr>
          <p:cNvPr id="621" name="Google Shape;621;p33"/>
          <p:cNvSpPr txBox="1"/>
          <p:nvPr/>
        </p:nvSpPr>
        <p:spPr>
          <a:xfrm>
            <a:off x="2235994" y="4548711"/>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43.89%</a:t>
            </a:r>
            <a:endParaRPr sz="1100"/>
          </a:p>
        </p:txBody>
      </p:sp>
      <p:sp>
        <p:nvSpPr>
          <p:cNvPr id="622" name="Google Shape;622;p33"/>
          <p:cNvSpPr txBox="1"/>
          <p:nvPr/>
        </p:nvSpPr>
        <p:spPr>
          <a:xfrm>
            <a:off x="2807494" y="4548711"/>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43.75%</a:t>
            </a:r>
            <a:endParaRPr sz="1100"/>
          </a:p>
        </p:txBody>
      </p:sp>
      <p:sp>
        <p:nvSpPr>
          <p:cNvPr id="623" name="Google Shape;623;p33"/>
          <p:cNvSpPr txBox="1"/>
          <p:nvPr/>
        </p:nvSpPr>
        <p:spPr>
          <a:xfrm>
            <a:off x="3321844" y="4548711"/>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374151"/>
                </a:solidFill>
                <a:latin typeface="Lexend"/>
                <a:ea typeface="Lexend"/>
                <a:cs typeface="Lexend"/>
                <a:sym typeface="Lexend"/>
              </a:rPr>
              <a:t>−0.1</a:t>
            </a:r>
            <a:endParaRPr sz="1100"/>
          </a:p>
        </p:txBody>
      </p:sp>
      <p:sp>
        <p:nvSpPr>
          <p:cNvPr id="624" name="Google Shape;624;p33"/>
          <p:cNvSpPr txBox="1"/>
          <p:nvPr/>
        </p:nvSpPr>
        <p:spPr>
          <a:xfrm>
            <a:off x="3557588" y="4548711"/>
            <a:ext cx="786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700">
                <a:solidFill>
                  <a:srgbClr val="6B7280"/>
                </a:solidFill>
                <a:latin typeface="Lexend"/>
                <a:ea typeface="Lexend"/>
                <a:cs typeface="Lexend"/>
                <a:sym typeface="Lexend"/>
              </a:rPr>
              <a:t>8 → 8</a:t>
            </a:r>
            <a:endParaRPr sz="1100"/>
          </a:p>
        </p:txBody>
      </p:sp>
      <p:sp>
        <p:nvSpPr>
          <p:cNvPr id="625" name="Google Shape;625;p33"/>
          <p:cNvSpPr/>
          <p:nvPr/>
        </p:nvSpPr>
        <p:spPr>
          <a:xfrm>
            <a:off x="4629150" y="3814763"/>
            <a:ext cx="4172100" cy="1043100"/>
          </a:xfrm>
          <a:prstGeom prst="roundRect">
            <a:avLst>
              <a:gd fmla="val 9589"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6" name="Google Shape;626;p33"/>
          <p:cNvSpPr txBox="1"/>
          <p:nvPr/>
        </p:nvSpPr>
        <p:spPr>
          <a:xfrm>
            <a:off x="4800600" y="3893469"/>
            <a:ext cx="571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SGN</a:t>
            </a:r>
            <a:endParaRPr sz="1100"/>
          </a:p>
        </p:txBody>
      </p:sp>
      <p:sp>
        <p:nvSpPr>
          <p:cNvPr id="627" name="Google Shape;627;p33"/>
          <p:cNvSpPr txBox="1"/>
          <p:nvPr/>
        </p:nvSpPr>
        <p:spPr>
          <a:xfrm>
            <a:off x="6557963" y="39083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27/07</a:t>
            </a:r>
            <a:endParaRPr sz="1100"/>
          </a:p>
        </p:txBody>
      </p:sp>
      <p:sp>
        <p:nvSpPr>
          <p:cNvPr id="628" name="Google Shape;628;p33"/>
          <p:cNvSpPr txBox="1"/>
          <p:nvPr/>
        </p:nvSpPr>
        <p:spPr>
          <a:xfrm>
            <a:off x="7129463" y="39083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24/08</a:t>
            </a:r>
            <a:endParaRPr sz="1100"/>
          </a:p>
        </p:txBody>
      </p:sp>
      <p:sp>
        <p:nvSpPr>
          <p:cNvPr id="629" name="Google Shape;629;p33"/>
          <p:cNvSpPr txBox="1"/>
          <p:nvPr/>
        </p:nvSpPr>
        <p:spPr>
          <a:xfrm>
            <a:off x="7643813" y="39083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Δ pp</a:t>
            </a:r>
            <a:endParaRPr sz="1100"/>
          </a:p>
        </p:txBody>
      </p:sp>
      <p:sp>
        <p:nvSpPr>
          <p:cNvPr id="630" name="Google Shape;630;p33"/>
          <p:cNvSpPr txBox="1"/>
          <p:nvPr/>
        </p:nvSpPr>
        <p:spPr>
          <a:xfrm>
            <a:off x="7986713" y="3908346"/>
            <a:ext cx="6429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9CA3AF"/>
                </a:solidFill>
                <a:latin typeface="Lexend"/>
                <a:ea typeface="Lexend"/>
                <a:cs typeface="Lexend"/>
                <a:sym typeface="Lexend"/>
              </a:rPr>
              <a:t>ACTIVE</a:t>
            </a:r>
            <a:endParaRPr sz="1100"/>
          </a:p>
        </p:txBody>
      </p:sp>
      <p:sp>
        <p:nvSpPr>
          <p:cNvPr id="631" name="Google Shape;631;p33"/>
          <p:cNvSpPr/>
          <p:nvPr/>
        </p:nvSpPr>
        <p:spPr>
          <a:xfrm>
            <a:off x="4800600" y="4068366"/>
            <a:ext cx="3829200" cy="7200"/>
          </a:xfrm>
          <a:prstGeom prst="rect">
            <a:avLst/>
          </a:prstGeom>
          <a:solidFill>
            <a:srgbClr val="E9EDF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2" name="Google Shape;632;p33"/>
          <p:cNvSpPr/>
          <p:nvPr/>
        </p:nvSpPr>
        <p:spPr>
          <a:xfrm>
            <a:off x="4729163" y="4136231"/>
            <a:ext cx="3972000" cy="171600"/>
          </a:xfrm>
          <a:prstGeom prst="roundRect">
            <a:avLst>
              <a:gd fmla="val 2916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3" name="Google Shape;633;p33"/>
          <p:cNvSpPr txBox="1"/>
          <p:nvPr/>
        </p:nvSpPr>
        <p:spPr>
          <a:xfrm>
            <a:off x="4800600" y="4151698"/>
            <a:ext cx="18576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374151"/>
                </a:solidFill>
                <a:latin typeface="Lexend"/>
                <a:ea typeface="Lexend"/>
                <a:cs typeface="Lexend"/>
                <a:sym typeface="Lexend"/>
              </a:rPr>
              <a:t>SGN-ZONE_6</a:t>
            </a:r>
            <a:endParaRPr sz="1100"/>
          </a:p>
        </p:txBody>
      </p:sp>
      <p:sp>
        <p:nvSpPr>
          <p:cNvPr id="634" name="Google Shape;634;p33"/>
          <p:cNvSpPr txBox="1"/>
          <p:nvPr/>
        </p:nvSpPr>
        <p:spPr>
          <a:xfrm>
            <a:off x="6522244" y="41516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20.10%</a:t>
            </a:r>
            <a:endParaRPr sz="1100"/>
          </a:p>
        </p:txBody>
      </p:sp>
      <p:sp>
        <p:nvSpPr>
          <p:cNvPr id="635" name="Google Shape;635;p33"/>
          <p:cNvSpPr txBox="1"/>
          <p:nvPr/>
        </p:nvSpPr>
        <p:spPr>
          <a:xfrm>
            <a:off x="7093744" y="41516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25.16%</a:t>
            </a:r>
            <a:endParaRPr sz="1100"/>
          </a:p>
        </p:txBody>
      </p:sp>
      <p:sp>
        <p:nvSpPr>
          <p:cNvPr id="636" name="Google Shape;636;p33"/>
          <p:cNvSpPr txBox="1"/>
          <p:nvPr/>
        </p:nvSpPr>
        <p:spPr>
          <a:xfrm>
            <a:off x="7608094" y="41516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047857"/>
                </a:solidFill>
                <a:latin typeface="Lexend"/>
                <a:ea typeface="Lexend"/>
                <a:cs typeface="Lexend"/>
                <a:sym typeface="Lexend"/>
              </a:rPr>
              <a:t>+5.1</a:t>
            </a:r>
            <a:endParaRPr sz="1100"/>
          </a:p>
        </p:txBody>
      </p:sp>
      <p:sp>
        <p:nvSpPr>
          <p:cNvPr id="637" name="Google Shape;637;p33"/>
          <p:cNvSpPr txBox="1"/>
          <p:nvPr/>
        </p:nvSpPr>
        <p:spPr>
          <a:xfrm>
            <a:off x="7843838" y="4151698"/>
            <a:ext cx="786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700">
                <a:solidFill>
                  <a:srgbClr val="6B7280"/>
                </a:solidFill>
                <a:latin typeface="Lexend"/>
                <a:ea typeface="Lexend"/>
                <a:cs typeface="Lexend"/>
                <a:sym typeface="Lexend"/>
              </a:rPr>
              <a:t>53 → 63</a:t>
            </a:r>
            <a:endParaRPr sz="1100"/>
          </a:p>
        </p:txBody>
      </p:sp>
      <p:sp>
        <p:nvSpPr>
          <p:cNvPr id="638" name="Google Shape;638;p33"/>
          <p:cNvSpPr txBox="1"/>
          <p:nvPr/>
        </p:nvSpPr>
        <p:spPr>
          <a:xfrm>
            <a:off x="4800600" y="4323148"/>
            <a:ext cx="18576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374151"/>
                </a:solidFill>
                <a:latin typeface="Lexend"/>
                <a:ea typeface="Lexend"/>
                <a:cs typeface="Lexend"/>
                <a:sym typeface="Lexend"/>
              </a:rPr>
              <a:t>SGN-ZONE_3</a:t>
            </a:r>
            <a:endParaRPr sz="1100"/>
          </a:p>
        </p:txBody>
      </p:sp>
      <p:sp>
        <p:nvSpPr>
          <p:cNvPr id="639" name="Google Shape;639;p33"/>
          <p:cNvSpPr txBox="1"/>
          <p:nvPr/>
        </p:nvSpPr>
        <p:spPr>
          <a:xfrm>
            <a:off x="6522244" y="432314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29.50%</a:t>
            </a:r>
            <a:endParaRPr sz="1100"/>
          </a:p>
        </p:txBody>
      </p:sp>
      <p:sp>
        <p:nvSpPr>
          <p:cNvPr id="640" name="Google Shape;640;p33"/>
          <p:cNvSpPr txBox="1"/>
          <p:nvPr/>
        </p:nvSpPr>
        <p:spPr>
          <a:xfrm>
            <a:off x="7093744" y="432314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27.33%</a:t>
            </a:r>
            <a:endParaRPr sz="1100"/>
          </a:p>
        </p:txBody>
      </p:sp>
      <p:sp>
        <p:nvSpPr>
          <p:cNvPr id="641" name="Google Shape;641;p33"/>
          <p:cNvSpPr txBox="1"/>
          <p:nvPr/>
        </p:nvSpPr>
        <p:spPr>
          <a:xfrm>
            <a:off x="7608094" y="432314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374151"/>
                </a:solidFill>
                <a:latin typeface="Lexend"/>
                <a:ea typeface="Lexend"/>
                <a:cs typeface="Lexend"/>
                <a:sym typeface="Lexend"/>
              </a:rPr>
              <a:t>−2.2</a:t>
            </a:r>
            <a:endParaRPr sz="1100"/>
          </a:p>
        </p:txBody>
      </p:sp>
      <p:sp>
        <p:nvSpPr>
          <p:cNvPr id="642" name="Google Shape;642;p33"/>
          <p:cNvSpPr txBox="1"/>
          <p:nvPr/>
        </p:nvSpPr>
        <p:spPr>
          <a:xfrm>
            <a:off x="7843838" y="4323148"/>
            <a:ext cx="786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700">
                <a:solidFill>
                  <a:srgbClr val="6B7280"/>
                </a:solidFill>
                <a:latin typeface="Lexend"/>
                <a:ea typeface="Lexend"/>
                <a:cs typeface="Lexend"/>
                <a:sym typeface="Lexend"/>
              </a:rPr>
              <a:t>80 → 82</a:t>
            </a:r>
            <a:endParaRPr sz="1100"/>
          </a:p>
        </p:txBody>
      </p:sp>
      <p:sp>
        <p:nvSpPr>
          <p:cNvPr id="643" name="Google Shape;643;p33"/>
          <p:cNvSpPr/>
          <p:nvPr/>
        </p:nvSpPr>
        <p:spPr>
          <a:xfrm>
            <a:off x="4729163" y="4479131"/>
            <a:ext cx="3972000" cy="171600"/>
          </a:xfrm>
          <a:prstGeom prst="roundRect">
            <a:avLst>
              <a:gd fmla="val 2916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4" name="Google Shape;644;p33"/>
          <p:cNvSpPr txBox="1"/>
          <p:nvPr/>
        </p:nvSpPr>
        <p:spPr>
          <a:xfrm>
            <a:off x="4800600" y="4494598"/>
            <a:ext cx="18576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700">
                <a:solidFill>
                  <a:srgbClr val="374151"/>
                </a:solidFill>
                <a:latin typeface="Lexend"/>
                <a:ea typeface="Lexend"/>
                <a:cs typeface="Lexend"/>
                <a:sym typeface="Lexend"/>
              </a:rPr>
              <a:t>SGN-ZONE_4</a:t>
            </a:r>
            <a:endParaRPr sz="1100"/>
          </a:p>
        </p:txBody>
      </p:sp>
      <p:sp>
        <p:nvSpPr>
          <p:cNvPr id="645" name="Google Shape;645;p33"/>
          <p:cNvSpPr txBox="1"/>
          <p:nvPr/>
        </p:nvSpPr>
        <p:spPr>
          <a:xfrm>
            <a:off x="6522244" y="44945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17.67%</a:t>
            </a:r>
            <a:endParaRPr sz="1100"/>
          </a:p>
        </p:txBody>
      </p:sp>
      <p:sp>
        <p:nvSpPr>
          <p:cNvPr id="646" name="Google Shape;646;p33"/>
          <p:cNvSpPr txBox="1"/>
          <p:nvPr/>
        </p:nvSpPr>
        <p:spPr>
          <a:xfrm>
            <a:off x="7093744" y="44945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15.72%</a:t>
            </a:r>
            <a:endParaRPr sz="1100"/>
          </a:p>
        </p:txBody>
      </p:sp>
      <p:sp>
        <p:nvSpPr>
          <p:cNvPr id="647" name="Google Shape;647;p33"/>
          <p:cNvSpPr txBox="1"/>
          <p:nvPr/>
        </p:nvSpPr>
        <p:spPr>
          <a:xfrm>
            <a:off x="7608094" y="4494598"/>
            <a:ext cx="5001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374151"/>
                </a:solidFill>
                <a:latin typeface="Lexend"/>
                <a:ea typeface="Lexend"/>
                <a:cs typeface="Lexend"/>
                <a:sym typeface="Lexend"/>
              </a:rPr>
              <a:t>−2.0</a:t>
            </a:r>
            <a:endParaRPr sz="1100"/>
          </a:p>
        </p:txBody>
      </p:sp>
      <p:sp>
        <p:nvSpPr>
          <p:cNvPr id="648" name="Google Shape;648;p33"/>
          <p:cNvSpPr txBox="1"/>
          <p:nvPr/>
        </p:nvSpPr>
        <p:spPr>
          <a:xfrm>
            <a:off x="7843838" y="4494598"/>
            <a:ext cx="786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700">
                <a:solidFill>
                  <a:srgbClr val="6B7280"/>
                </a:solidFill>
                <a:latin typeface="Lexend"/>
                <a:ea typeface="Lexend"/>
                <a:cs typeface="Lexend"/>
                <a:sym typeface="Lexend"/>
              </a:rPr>
              <a:t>29 → 34</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3" name="Shape 653"/>
        <p:cNvGrpSpPr/>
        <p:nvPr/>
      </p:nvGrpSpPr>
      <p:grpSpPr>
        <a:xfrm>
          <a:off x="0" y="0"/>
          <a:ext cx="0" cy="0"/>
          <a:chOff x="0" y="0"/>
          <a:chExt cx="0" cy="0"/>
        </a:xfrm>
      </p:grpSpPr>
      <p:sp>
        <p:nvSpPr>
          <p:cNvPr id="654" name="Google Shape;654;p34"/>
          <p:cNvSpPr/>
          <p:nvPr/>
        </p:nvSpPr>
        <p:spPr>
          <a:xfrm>
            <a:off x="0" y="18419"/>
            <a:ext cx="9144000" cy="5143500"/>
          </a:xfrm>
          <a:prstGeom prst="rect">
            <a:avLst/>
          </a:prstGeom>
          <a:solidFill>
            <a:srgbClr val="FBFCFE"/>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5" name="Google Shape;655;p34"/>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6" name="Google Shape;656;p34"/>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RETENTION RATE</a:t>
            </a:r>
            <a:endParaRPr sz="1100"/>
          </a:p>
        </p:txBody>
      </p:sp>
      <p:sp>
        <p:nvSpPr>
          <p:cNvPr id="657" name="Google Shape;657;p34"/>
          <p:cNvSpPr txBox="1"/>
          <p:nvPr/>
        </p:nvSpPr>
        <p:spPr>
          <a:xfrm>
            <a:off x="500063" y="528209"/>
            <a:ext cx="6429600" cy="246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HAN bị kéo xuống vì cơ cấu zone, không phải vì giữ chân kém</a:t>
            </a:r>
            <a:endParaRPr b="1" sz="800">
              <a:solidFill>
                <a:srgbClr val="6B7280"/>
              </a:solidFill>
              <a:latin typeface="Lexend"/>
              <a:ea typeface="Lexend"/>
              <a:cs typeface="Lexend"/>
              <a:sym typeface="Lexend"/>
            </a:endParaRPr>
          </a:p>
          <a:p>
            <a:pPr indent="0" lvl="0" marL="0" marR="0" rtl="0" algn="l">
              <a:spcBef>
                <a:spcPts val="0"/>
              </a:spcBef>
              <a:spcAft>
                <a:spcPts val="0"/>
              </a:spcAft>
              <a:buNone/>
            </a:pPr>
            <a:r>
              <a:t/>
            </a:r>
            <a:endParaRPr sz="800">
              <a:solidFill>
                <a:srgbClr val="6B7280"/>
              </a:solidFill>
              <a:latin typeface="Lexend"/>
              <a:ea typeface="Lexend"/>
              <a:cs typeface="Lexend"/>
              <a:sym typeface="Lexend"/>
            </a:endParaRPr>
          </a:p>
        </p:txBody>
      </p:sp>
      <p:sp>
        <p:nvSpPr>
          <p:cNvPr id="658" name="Google Shape;658;p34"/>
          <p:cNvSpPr/>
          <p:nvPr/>
        </p:nvSpPr>
        <p:spPr>
          <a:xfrm>
            <a:off x="7600950" y="300038"/>
            <a:ext cx="12003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9" name="Google Shape;659;p34"/>
          <p:cNvSpPr txBox="1"/>
          <p:nvPr/>
        </p:nvSpPr>
        <p:spPr>
          <a:xfrm>
            <a:off x="7600950" y="349616"/>
            <a:ext cx="1200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E0641A"/>
                </a:solidFill>
                <a:latin typeface="Lexend"/>
                <a:ea typeface="Lexend"/>
                <a:cs typeface="Lexend"/>
                <a:sym typeface="Lexend"/>
              </a:rPr>
              <a:t>T8 vs T7</a:t>
            </a:r>
            <a:endParaRPr sz="1100"/>
          </a:p>
        </p:txBody>
      </p:sp>
      <p:sp>
        <p:nvSpPr>
          <p:cNvPr id="660" name="Google Shape;660;p34"/>
          <p:cNvSpPr/>
          <p:nvPr/>
        </p:nvSpPr>
        <p:spPr>
          <a:xfrm>
            <a:off x="342900" y="942975"/>
            <a:ext cx="3286200" cy="1343100"/>
          </a:xfrm>
          <a:prstGeom prst="roundRect">
            <a:avLst>
              <a:gd fmla="val 8510"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1" name="Google Shape;661;p34"/>
          <p:cNvSpPr txBox="1"/>
          <p:nvPr/>
        </p:nvSpPr>
        <p:spPr>
          <a:xfrm>
            <a:off x="542925" y="1019056"/>
            <a:ext cx="24288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Retention theo tháng — 2 miền</a:t>
            </a:r>
            <a:endParaRPr sz="1100"/>
          </a:p>
        </p:txBody>
      </p:sp>
      <p:sp>
        <p:nvSpPr>
          <p:cNvPr id="662" name="Google Shape;662;p34"/>
          <p:cNvSpPr txBox="1"/>
          <p:nvPr/>
        </p:nvSpPr>
        <p:spPr>
          <a:xfrm>
            <a:off x="1571625" y="12794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T6</a:t>
            </a:r>
            <a:endParaRPr sz="1100"/>
          </a:p>
        </p:txBody>
      </p:sp>
      <p:sp>
        <p:nvSpPr>
          <p:cNvPr id="663" name="Google Shape;663;p34"/>
          <p:cNvSpPr txBox="1"/>
          <p:nvPr/>
        </p:nvSpPr>
        <p:spPr>
          <a:xfrm>
            <a:off x="2071688" y="12794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T7</a:t>
            </a:r>
            <a:endParaRPr sz="1100"/>
          </a:p>
        </p:txBody>
      </p:sp>
      <p:sp>
        <p:nvSpPr>
          <p:cNvPr id="664" name="Google Shape;664;p34"/>
          <p:cNvSpPr txBox="1"/>
          <p:nvPr/>
        </p:nvSpPr>
        <p:spPr>
          <a:xfrm>
            <a:off x="2571750" y="12794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T8</a:t>
            </a:r>
            <a:endParaRPr sz="1100"/>
          </a:p>
        </p:txBody>
      </p:sp>
      <p:sp>
        <p:nvSpPr>
          <p:cNvPr id="665" name="Google Shape;665;p34"/>
          <p:cNvSpPr txBox="1"/>
          <p:nvPr/>
        </p:nvSpPr>
        <p:spPr>
          <a:xfrm>
            <a:off x="3014663" y="1279446"/>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9CA3AF"/>
                </a:solidFill>
                <a:latin typeface="Lexend"/>
                <a:ea typeface="Lexend"/>
                <a:cs typeface="Lexend"/>
                <a:sym typeface="Lexend"/>
              </a:rPr>
              <a:t>Δ T8</a:t>
            </a:r>
            <a:endParaRPr sz="1100"/>
          </a:p>
        </p:txBody>
      </p:sp>
      <p:sp>
        <p:nvSpPr>
          <p:cNvPr id="666" name="Google Shape;666;p34"/>
          <p:cNvSpPr/>
          <p:nvPr/>
        </p:nvSpPr>
        <p:spPr>
          <a:xfrm>
            <a:off x="542925" y="1425179"/>
            <a:ext cx="2886000" cy="7200"/>
          </a:xfrm>
          <a:prstGeom prst="rect">
            <a:avLst/>
          </a:prstGeom>
          <a:solidFill>
            <a:srgbClr val="E9EDF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7" name="Google Shape;667;p34"/>
          <p:cNvSpPr/>
          <p:nvPr/>
        </p:nvSpPr>
        <p:spPr>
          <a:xfrm>
            <a:off x="442913" y="1471613"/>
            <a:ext cx="3086100" cy="214500"/>
          </a:xfrm>
          <a:prstGeom prst="roundRect">
            <a:avLst>
              <a:gd fmla="val 2666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8" name="Google Shape;668;p34"/>
          <p:cNvSpPr txBox="1"/>
          <p:nvPr/>
        </p:nvSpPr>
        <p:spPr>
          <a:xfrm>
            <a:off x="542925" y="1494687"/>
            <a:ext cx="6429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HAN</a:t>
            </a:r>
            <a:endParaRPr sz="1100"/>
          </a:p>
        </p:txBody>
      </p:sp>
      <p:sp>
        <p:nvSpPr>
          <p:cNvPr id="669" name="Google Shape;669;p34"/>
          <p:cNvSpPr txBox="1"/>
          <p:nvPr/>
        </p:nvSpPr>
        <p:spPr>
          <a:xfrm>
            <a:off x="1557338" y="1503902"/>
            <a:ext cx="4572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70.28%</a:t>
            </a:r>
            <a:endParaRPr sz="1100"/>
          </a:p>
        </p:txBody>
      </p:sp>
      <p:sp>
        <p:nvSpPr>
          <p:cNvPr id="670" name="Google Shape;670;p34"/>
          <p:cNvSpPr txBox="1"/>
          <p:nvPr/>
        </p:nvSpPr>
        <p:spPr>
          <a:xfrm>
            <a:off x="2057400" y="1503902"/>
            <a:ext cx="4572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66.57%</a:t>
            </a:r>
            <a:endParaRPr sz="1100"/>
          </a:p>
        </p:txBody>
      </p:sp>
      <p:sp>
        <p:nvSpPr>
          <p:cNvPr id="671" name="Google Shape;671;p34"/>
          <p:cNvSpPr txBox="1"/>
          <p:nvPr/>
        </p:nvSpPr>
        <p:spPr>
          <a:xfrm>
            <a:off x="2557463" y="1499294"/>
            <a:ext cx="4572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0E4174"/>
                </a:solidFill>
                <a:latin typeface="Lexend"/>
                <a:ea typeface="Lexend"/>
                <a:cs typeface="Lexend"/>
                <a:sym typeface="Lexend"/>
              </a:rPr>
              <a:t>62.71%</a:t>
            </a:r>
            <a:endParaRPr sz="1100"/>
          </a:p>
        </p:txBody>
      </p:sp>
      <p:sp>
        <p:nvSpPr>
          <p:cNvPr id="672" name="Google Shape;672;p34"/>
          <p:cNvSpPr txBox="1"/>
          <p:nvPr/>
        </p:nvSpPr>
        <p:spPr>
          <a:xfrm>
            <a:off x="3014663" y="1503902"/>
            <a:ext cx="4287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DC2626"/>
                </a:solidFill>
                <a:latin typeface="Lexend"/>
                <a:ea typeface="Lexend"/>
                <a:cs typeface="Lexend"/>
                <a:sym typeface="Lexend"/>
              </a:rPr>
              <a:t>−3.86</a:t>
            </a:r>
            <a:endParaRPr sz="1100"/>
          </a:p>
        </p:txBody>
      </p:sp>
      <p:sp>
        <p:nvSpPr>
          <p:cNvPr id="673" name="Google Shape;673;p34"/>
          <p:cNvSpPr txBox="1"/>
          <p:nvPr/>
        </p:nvSpPr>
        <p:spPr>
          <a:xfrm>
            <a:off x="542925" y="1709000"/>
            <a:ext cx="6429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HCM</a:t>
            </a:r>
            <a:endParaRPr sz="1100"/>
          </a:p>
        </p:txBody>
      </p:sp>
      <p:sp>
        <p:nvSpPr>
          <p:cNvPr id="674" name="Google Shape;674;p34"/>
          <p:cNvSpPr txBox="1"/>
          <p:nvPr/>
        </p:nvSpPr>
        <p:spPr>
          <a:xfrm>
            <a:off x="1557338" y="1718215"/>
            <a:ext cx="4572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64.97%</a:t>
            </a:r>
            <a:endParaRPr sz="1100"/>
          </a:p>
        </p:txBody>
      </p:sp>
      <p:sp>
        <p:nvSpPr>
          <p:cNvPr id="675" name="Google Shape;675;p34"/>
          <p:cNvSpPr txBox="1"/>
          <p:nvPr/>
        </p:nvSpPr>
        <p:spPr>
          <a:xfrm>
            <a:off x="2057400" y="1718215"/>
            <a:ext cx="4572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700">
                <a:solidFill>
                  <a:srgbClr val="374151"/>
                </a:solidFill>
                <a:latin typeface="Lexend"/>
                <a:ea typeface="Lexend"/>
                <a:cs typeface="Lexend"/>
                <a:sym typeface="Lexend"/>
              </a:rPr>
              <a:t>74.59%</a:t>
            </a:r>
            <a:endParaRPr sz="1100"/>
          </a:p>
        </p:txBody>
      </p:sp>
      <p:sp>
        <p:nvSpPr>
          <p:cNvPr id="676" name="Google Shape;676;p34"/>
          <p:cNvSpPr txBox="1"/>
          <p:nvPr/>
        </p:nvSpPr>
        <p:spPr>
          <a:xfrm>
            <a:off x="2557463" y="1713607"/>
            <a:ext cx="4572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0E4174"/>
                </a:solidFill>
                <a:latin typeface="Lexend"/>
                <a:ea typeface="Lexend"/>
                <a:cs typeface="Lexend"/>
                <a:sym typeface="Lexend"/>
              </a:rPr>
              <a:t>70.39%</a:t>
            </a:r>
            <a:endParaRPr sz="1100"/>
          </a:p>
        </p:txBody>
      </p:sp>
      <p:sp>
        <p:nvSpPr>
          <p:cNvPr id="677" name="Google Shape;677;p34"/>
          <p:cNvSpPr txBox="1"/>
          <p:nvPr/>
        </p:nvSpPr>
        <p:spPr>
          <a:xfrm>
            <a:off x="3014663" y="1718215"/>
            <a:ext cx="4287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700">
                <a:solidFill>
                  <a:srgbClr val="DC2626"/>
                </a:solidFill>
                <a:latin typeface="Lexend"/>
                <a:ea typeface="Lexend"/>
                <a:cs typeface="Lexend"/>
                <a:sym typeface="Lexend"/>
              </a:rPr>
              <a:t>−4.20</a:t>
            </a:r>
            <a:endParaRPr sz="1100"/>
          </a:p>
        </p:txBody>
      </p:sp>
      <p:sp>
        <p:nvSpPr>
          <p:cNvPr id="678" name="Google Shape;678;p34"/>
          <p:cNvSpPr txBox="1"/>
          <p:nvPr/>
        </p:nvSpPr>
        <p:spPr>
          <a:xfrm>
            <a:off x="542925" y="1978284"/>
            <a:ext cx="30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HAN giảm 3 tháng liên tiếp . HCM chỉ điều chỉnh sau</a:t>
            </a:r>
            <a:endParaRPr sz="1100"/>
          </a:p>
        </p:txBody>
      </p:sp>
      <p:sp>
        <p:nvSpPr>
          <p:cNvPr id="679" name="Google Shape;679;p34"/>
          <p:cNvSpPr txBox="1"/>
          <p:nvPr/>
        </p:nvSpPr>
        <p:spPr>
          <a:xfrm>
            <a:off x="542925" y="2079317"/>
            <a:ext cx="30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T7 bất thường và vẫn cao hơn nền T6.</a:t>
            </a:r>
            <a:endParaRPr sz="1100"/>
          </a:p>
        </p:txBody>
      </p:sp>
      <p:sp>
        <p:nvSpPr>
          <p:cNvPr id="680" name="Google Shape;680;p34"/>
          <p:cNvSpPr/>
          <p:nvPr/>
        </p:nvSpPr>
        <p:spPr>
          <a:xfrm>
            <a:off x="3771900" y="942975"/>
            <a:ext cx="5029200" cy="1343100"/>
          </a:xfrm>
          <a:prstGeom prst="roundRect">
            <a:avLst>
              <a:gd fmla="val 8510" name="adj"/>
            </a:avLst>
          </a:prstGeom>
          <a:solidFill>
            <a:srgbClr val="FFF3EB"/>
          </a:solidFill>
          <a:ln cap="flat" cmpd="sng" w="7150">
            <a:solidFill>
              <a:srgbClr val="FFD9BF"/>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1" name="Google Shape;681;p34"/>
          <p:cNvSpPr/>
          <p:nvPr/>
        </p:nvSpPr>
        <p:spPr>
          <a:xfrm>
            <a:off x="3979069" y="1085850"/>
            <a:ext cx="71400" cy="714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2" name="Google Shape;682;p34"/>
          <p:cNvSpPr txBox="1"/>
          <p:nvPr/>
        </p:nvSpPr>
        <p:spPr>
          <a:xfrm>
            <a:off x="4114800" y="1046270"/>
            <a:ext cx="37149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900">
                <a:solidFill>
                  <a:srgbClr val="B4531A"/>
                </a:solidFill>
                <a:latin typeface="Lexend"/>
                <a:ea typeface="Lexend"/>
                <a:cs typeface="Lexend"/>
                <a:sym typeface="Lexend"/>
              </a:rPr>
              <a:t>Retention HAN giảm do ảnh hưởng của Bigzone và Z24 </a:t>
            </a:r>
            <a:endParaRPr sz="1100"/>
          </a:p>
        </p:txBody>
      </p:sp>
      <p:sp>
        <p:nvSpPr>
          <p:cNvPr id="683" name="Google Shape;683;p34"/>
          <p:cNvSpPr/>
          <p:nvPr/>
        </p:nvSpPr>
        <p:spPr>
          <a:xfrm>
            <a:off x="3971925" y="1285875"/>
            <a:ext cx="1485900" cy="443100"/>
          </a:xfrm>
          <a:prstGeom prst="roundRect">
            <a:avLst>
              <a:gd fmla="val 16129" name="adj"/>
            </a:avLst>
          </a:prstGeom>
          <a:solidFill>
            <a:srgbClr val="FFFFFF"/>
          </a:solidFill>
          <a:ln cap="flat" cmpd="sng" w="4775">
            <a:solidFill>
              <a:srgbClr val="FFD9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4" name="Google Shape;684;p34"/>
          <p:cNvSpPr txBox="1"/>
          <p:nvPr/>
        </p:nvSpPr>
        <p:spPr>
          <a:xfrm>
            <a:off x="4071938" y="1341203"/>
            <a:ext cx="13575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T7 THỰC TẾ</a:t>
            </a:r>
            <a:endParaRPr sz="1100"/>
          </a:p>
        </p:txBody>
      </p:sp>
      <p:sp>
        <p:nvSpPr>
          <p:cNvPr id="685" name="Google Shape;685;p34"/>
          <p:cNvSpPr txBox="1"/>
          <p:nvPr/>
        </p:nvSpPr>
        <p:spPr>
          <a:xfrm>
            <a:off x="4071938" y="1449539"/>
            <a:ext cx="13575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200">
                <a:solidFill>
                  <a:srgbClr val="0E4174"/>
                </a:solidFill>
                <a:latin typeface="Lexend"/>
                <a:ea typeface="Lexend"/>
                <a:cs typeface="Lexend"/>
                <a:sym typeface="Lexend"/>
              </a:rPr>
              <a:t>64.58%</a:t>
            </a:r>
            <a:endParaRPr sz="1100"/>
          </a:p>
        </p:txBody>
      </p:sp>
      <p:sp>
        <p:nvSpPr>
          <p:cNvPr id="686" name="Google Shape;686;p34"/>
          <p:cNvSpPr/>
          <p:nvPr/>
        </p:nvSpPr>
        <p:spPr>
          <a:xfrm>
            <a:off x="5543550" y="1285875"/>
            <a:ext cx="1485900" cy="443100"/>
          </a:xfrm>
          <a:prstGeom prst="roundRect">
            <a:avLst>
              <a:gd fmla="val 16129" name="adj"/>
            </a:avLst>
          </a:prstGeom>
          <a:solidFill>
            <a:srgbClr val="FFFFFF"/>
          </a:solidFill>
          <a:ln cap="flat" cmpd="sng" w="4775">
            <a:solidFill>
              <a:srgbClr val="FFD9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7" name="Google Shape;687;p34"/>
          <p:cNvSpPr txBox="1"/>
          <p:nvPr/>
        </p:nvSpPr>
        <p:spPr>
          <a:xfrm>
            <a:off x="5643563" y="1341203"/>
            <a:ext cx="13575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T8 THỰC TẾ</a:t>
            </a:r>
            <a:endParaRPr sz="1100"/>
          </a:p>
        </p:txBody>
      </p:sp>
      <p:sp>
        <p:nvSpPr>
          <p:cNvPr id="688" name="Google Shape;688;p34"/>
          <p:cNvSpPr txBox="1"/>
          <p:nvPr/>
        </p:nvSpPr>
        <p:spPr>
          <a:xfrm>
            <a:off x="5643563" y="1449539"/>
            <a:ext cx="13575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200">
                <a:solidFill>
                  <a:srgbClr val="DC2626"/>
                </a:solidFill>
                <a:latin typeface="Lexend"/>
                <a:ea typeface="Lexend"/>
                <a:cs typeface="Lexend"/>
                <a:sym typeface="Lexend"/>
              </a:rPr>
              <a:t>62.20%</a:t>
            </a:r>
            <a:endParaRPr sz="1100"/>
          </a:p>
        </p:txBody>
      </p:sp>
      <p:sp>
        <p:nvSpPr>
          <p:cNvPr id="689" name="Google Shape;689;p34"/>
          <p:cNvSpPr txBox="1"/>
          <p:nvPr/>
        </p:nvSpPr>
        <p:spPr>
          <a:xfrm>
            <a:off x="3971925" y="1993592"/>
            <a:ext cx="47151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B4531A"/>
                </a:solidFill>
                <a:latin typeface="Lexend"/>
                <a:ea typeface="Lexend"/>
                <a:cs typeface="Lexend"/>
                <a:sym typeface="Lexend"/>
              </a:rPr>
              <a:t>BIGZONE + Z24 phình từ 41.4% lên 58.3% tổng base retention — hơn một nửa số TX cần giữ chân</a:t>
            </a:r>
            <a:endParaRPr sz="1100"/>
          </a:p>
        </p:txBody>
      </p:sp>
      <p:sp>
        <p:nvSpPr>
          <p:cNvPr id="690" name="Google Shape;690;p34"/>
          <p:cNvSpPr/>
          <p:nvPr/>
        </p:nvSpPr>
        <p:spPr>
          <a:xfrm>
            <a:off x="342900" y="2428875"/>
            <a:ext cx="5000700" cy="2400300"/>
          </a:xfrm>
          <a:prstGeom prst="roundRect">
            <a:avLst>
              <a:gd fmla="val 4761"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1" name="Google Shape;691;p34"/>
          <p:cNvSpPr txBox="1"/>
          <p:nvPr/>
        </p:nvSpPr>
        <p:spPr>
          <a:xfrm>
            <a:off x="542925" y="2547818"/>
            <a:ext cx="24288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Zone HAN — cột: active, đường: retention</a:t>
            </a:r>
            <a:endParaRPr sz="1100"/>
          </a:p>
        </p:txBody>
      </p:sp>
      <p:sp>
        <p:nvSpPr>
          <p:cNvPr id="692" name="Google Shape;692;p34"/>
          <p:cNvSpPr/>
          <p:nvPr/>
        </p:nvSpPr>
        <p:spPr>
          <a:xfrm>
            <a:off x="3071813" y="2650331"/>
            <a:ext cx="114300" cy="71400"/>
          </a:xfrm>
          <a:prstGeom prst="roundRect">
            <a:avLst>
              <a:gd fmla="val 20000"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3" name="Google Shape;693;p34"/>
          <p:cNvSpPr txBox="1"/>
          <p:nvPr/>
        </p:nvSpPr>
        <p:spPr>
          <a:xfrm>
            <a:off x="3228975" y="2617863"/>
            <a:ext cx="3573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Active</a:t>
            </a:r>
            <a:endParaRPr sz="1100"/>
          </a:p>
        </p:txBody>
      </p:sp>
      <p:sp>
        <p:nvSpPr>
          <p:cNvPr id="694" name="Google Shape;694;p34"/>
          <p:cNvSpPr/>
          <p:nvPr/>
        </p:nvSpPr>
        <p:spPr>
          <a:xfrm>
            <a:off x="3629025" y="2650331"/>
            <a:ext cx="114300" cy="71400"/>
          </a:xfrm>
          <a:prstGeom prst="roundRect">
            <a:avLst>
              <a:gd fmla="val 2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5" name="Google Shape;695;p34"/>
          <p:cNvSpPr txBox="1"/>
          <p:nvPr/>
        </p:nvSpPr>
        <p:spPr>
          <a:xfrm>
            <a:off x="3786188" y="2617863"/>
            <a:ext cx="371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Zone tệ</a:t>
            </a:r>
            <a:endParaRPr sz="1100"/>
          </a:p>
        </p:txBody>
      </p:sp>
      <p:sp>
        <p:nvSpPr>
          <p:cNvPr id="696" name="Google Shape;696;p34"/>
          <p:cNvSpPr/>
          <p:nvPr/>
        </p:nvSpPr>
        <p:spPr>
          <a:xfrm>
            <a:off x="4257675" y="2678906"/>
            <a:ext cx="114300" cy="21600"/>
          </a:xfrm>
          <a:prstGeom prst="roundRect">
            <a:avLst>
              <a:gd fmla="val 50000" name="adj"/>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7" name="Google Shape;697;p34"/>
          <p:cNvSpPr txBox="1"/>
          <p:nvPr/>
        </p:nvSpPr>
        <p:spPr>
          <a:xfrm>
            <a:off x="4414838" y="2617863"/>
            <a:ext cx="642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Retention T8</a:t>
            </a:r>
            <a:endParaRPr sz="1100"/>
          </a:p>
        </p:txBody>
      </p:sp>
      <p:sp>
        <p:nvSpPr>
          <p:cNvPr id="698" name="Google Shape;698;p34"/>
          <p:cNvSpPr/>
          <p:nvPr/>
        </p:nvSpPr>
        <p:spPr>
          <a:xfrm>
            <a:off x="771525" y="4167664"/>
            <a:ext cx="3686400" cy="8700"/>
          </a:xfrm>
          <a:prstGeom prst="rect">
            <a:avLst/>
          </a:prstGeom>
          <a:solidFill>
            <a:srgbClr val="E5E9E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9" name="Google Shape;699;p34"/>
          <p:cNvSpPr txBox="1"/>
          <p:nvPr/>
        </p:nvSpPr>
        <p:spPr>
          <a:xfrm>
            <a:off x="300038" y="4108371"/>
            <a:ext cx="3858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0</a:t>
            </a:r>
            <a:endParaRPr sz="1100"/>
          </a:p>
        </p:txBody>
      </p:sp>
      <p:sp>
        <p:nvSpPr>
          <p:cNvPr id="700" name="Google Shape;700;p34"/>
          <p:cNvSpPr txBox="1"/>
          <p:nvPr/>
        </p:nvSpPr>
        <p:spPr>
          <a:xfrm>
            <a:off x="4543425" y="4108371"/>
            <a:ext cx="3858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0E4174"/>
                </a:solidFill>
                <a:latin typeface="Lexend"/>
                <a:ea typeface="Lexend"/>
                <a:cs typeface="Lexend"/>
                <a:sym typeface="Lexend"/>
              </a:rPr>
              <a:t>30%</a:t>
            </a:r>
            <a:endParaRPr sz="1100"/>
          </a:p>
        </p:txBody>
      </p:sp>
      <p:sp>
        <p:nvSpPr>
          <p:cNvPr id="701" name="Google Shape;701;p34"/>
          <p:cNvSpPr/>
          <p:nvPr/>
        </p:nvSpPr>
        <p:spPr>
          <a:xfrm>
            <a:off x="771525" y="3864769"/>
            <a:ext cx="36864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2" name="Google Shape;702;p34"/>
          <p:cNvSpPr txBox="1"/>
          <p:nvPr/>
        </p:nvSpPr>
        <p:spPr>
          <a:xfrm>
            <a:off x="300038" y="3804761"/>
            <a:ext cx="3858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50</a:t>
            </a:r>
            <a:endParaRPr sz="1100"/>
          </a:p>
        </p:txBody>
      </p:sp>
      <p:sp>
        <p:nvSpPr>
          <p:cNvPr id="703" name="Google Shape;703;p34"/>
          <p:cNvSpPr txBox="1"/>
          <p:nvPr/>
        </p:nvSpPr>
        <p:spPr>
          <a:xfrm>
            <a:off x="4543425" y="3804761"/>
            <a:ext cx="3858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0E4174"/>
                </a:solidFill>
                <a:latin typeface="Lexend"/>
                <a:ea typeface="Lexend"/>
                <a:cs typeface="Lexend"/>
                <a:sym typeface="Lexend"/>
              </a:rPr>
              <a:t>50%</a:t>
            </a:r>
            <a:endParaRPr sz="1100"/>
          </a:p>
        </p:txBody>
      </p:sp>
      <p:sp>
        <p:nvSpPr>
          <p:cNvPr id="704" name="Google Shape;704;p34"/>
          <p:cNvSpPr/>
          <p:nvPr/>
        </p:nvSpPr>
        <p:spPr>
          <a:xfrm>
            <a:off x="771525" y="3561159"/>
            <a:ext cx="36864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5" name="Google Shape;705;p34"/>
          <p:cNvSpPr txBox="1"/>
          <p:nvPr/>
        </p:nvSpPr>
        <p:spPr>
          <a:xfrm>
            <a:off x="300038" y="3501152"/>
            <a:ext cx="3858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100</a:t>
            </a:r>
            <a:endParaRPr sz="1100"/>
          </a:p>
        </p:txBody>
      </p:sp>
      <p:sp>
        <p:nvSpPr>
          <p:cNvPr id="706" name="Google Shape;706;p34"/>
          <p:cNvSpPr txBox="1"/>
          <p:nvPr/>
        </p:nvSpPr>
        <p:spPr>
          <a:xfrm>
            <a:off x="4543425" y="3501152"/>
            <a:ext cx="3858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0E4174"/>
                </a:solidFill>
                <a:latin typeface="Lexend"/>
                <a:ea typeface="Lexend"/>
                <a:cs typeface="Lexend"/>
                <a:sym typeface="Lexend"/>
              </a:rPr>
              <a:t>70%</a:t>
            </a:r>
            <a:endParaRPr sz="1100"/>
          </a:p>
        </p:txBody>
      </p:sp>
      <p:sp>
        <p:nvSpPr>
          <p:cNvPr id="707" name="Google Shape;707;p34"/>
          <p:cNvSpPr/>
          <p:nvPr/>
        </p:nvSpPr>
        <p:spPr>
          <a:xfrm>
            <a:off x="771525" y="3257550"/>
            <a:ext cx="36864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8" name="Google Shape;708;p34"/>
          <p:cNvSpPr txBox="1"/>
          <p:nvPr/>
        </p:nvSpPr>
        <p:spPr>
          <a:xfrm>
            <a:off x="300038" y="3197542"/>
            <a:ext cx="3858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150</a:t>
            </a:r>
            <a:endParaRPr sz="1100"/>
          </a:p>
        </p:txBody>
      </p:sp>
      <p:sp>
        <p:nvSpPr>
          <p:cNvPr id="709" name="Google Shape;709;p34"/>
          <p:cNvSpPr txBox="1"/>
          <p:nvPr/>
        </p:nvSpPr>
        <p:spPr>
          <a:xfrm>
            <a:off x="4543425" y="3197542"/>
            <a:ext cx="3858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0E4174"/>
                </a:solidFill>
                <a:latin typeface="Lexend"/>
                <a:ea typeface="Lexend"/>
                <a:cs typeface="Lexend"/>
                <a:sym typeface="Lexend"/>
              </a:rPr>
              <a:t>90%</a:t>
            </a:r>
            <a:endParaRPr sz="1100"/>
          </a:p>
        </p:txBody>
      </p:sp>
      <p:sp>
        <p:nvSpPr>
          <p:cNvPr id="710" name="Google Shape;710;p34"/>
          <p:cNvSpPr/>
          <p:nvPr/>
        </p:nvSpPr>
        <p:spPr>
          <a:xfrm>
            <a:off x="771525" y="2953941"/>
            <a:ext cx="3686400" cy="7200"/>
          </a:xfrm>
          <a:prstGeom prst="rect">
            <a:avLst/>
          </a:prstGeom>
          <a:solidFill>
            <a:srgbClr val="F0F3F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1" name="Google Shape;711;p34"/>
          <p:cNvSpPr txBox="1"/>
          <p:nvPr/>
        </p:nvSpPr>
        <p:spPr>
          <a:xfrm>
            <a:off x="300038" y="2893934"/>
            <a:ext cx="3858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200</a:t>
            </a:r>
            <a:endParaRPr sz="1100"/>
          </a:p>
        </p:txBody>
      </p:sp>
      <p:sp>
        <p:nvSpPr>
          <p:cNvPr id="712" name="Google Shape;712;p34"/>
          <p:cNvSpPr txBox="1"/>
          <p:nvPr/>
        </p:nvSpPr>
        <p:spPr>
          <a:xfrm>
            <a:off x="4543425" y="2893934"/>
            <a:ext cx="3858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0E4174"/>
                </a:solidFill>
                <a:latin typeface="Lexend"/>
                <a:ea typeface="Lexend"/>
                <a:cs typeface="Lexend"/>
                <a:sym typeface="Lexend"/>
              </a:rPr>
              <a:t>110%</a:t>
            </a:r>
            <a:endParaRPr sz="1100"/>
          </a:p>
        </p:txBody>
      </p:sp>
      <p:sp>
        <p:nvSpPr>
          <p:cNvPr id="713" name="Google Shape;713;p34"/>
          <p:cNvSpPr txBox="1"/>
          <p:nvPr/>
        </p:nvSpPr>
        <p:spPr>
          <a:xfrm>
            <a:off x="300038" y="2798528"/>
            <a:ext cx="3858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9CA3AF"/>
                </a:solidFill>
                <a:latin typeface="Lexend"/>
                <a:ea typeface="Lexend"/>
                <a:cs typeface="Lexend"/>
                <a:sym typeface="Lexend"/>
              </a:rPr>
              <a:t>TX</a:t>
            </a:r>
            <a:endParaRPr sz="1100"/>
          </a:p>
        </p:txBody>
      </p:sp>
      <p:sp>
        <p:nvSpPr>
          <p:cNvPr id="714" name="Google Shape;714;p34"/>
          <p:cNvSpPr txBox="1"/>
          <p:nvPr/>
        </p:nvSpPr>
        <p:spPr>
          <a:xfrm>
            <a:off x="4543425" y="2798528"/>
            <a:ext cx="3858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0E4174"/>
                </a:solidFill>
                <a:latin typeface="Lexend"/>
                <a:ea typeface="Lexend"/>
                <a:cs typeface="Lexend"/>
                <a:sym typeface="Lexend"/>
              </a:rPr>
              <a:t>RET</a:t>
            </a:r>
            <a:endParaRPr sz="1100"/>
          </a:p>
        </p:txBody>
      </p:sp>
      <p:sp>
        <p:nvSpPr>
          <p:cNvPr id="715" name="Google Shape;715;p34"/>
          <p:cNvSpPr/>
          <p:nvPr/>
        </p:nvSpPr>
        <p:spPr>
          <a:xfrm>
            <a:off x="854869" y="4086939"/>
            <a:ext cx="242700" cy="85200"/>
          </a:xfrm>
          <a:prstGeom prst="roundRect">
            <a:avLst>
              <a:gd fmla="val 25210"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6" name="Google Shape;716;p34"/>
          <p:cNvSpPr txBox="1"/>
          <p:nvPr/>
        </p:nvSpPr>
        <p:spPr>
          <a:xfrm>
            <a:off x="762000" y="3935099"/>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14</a:t>
            </a:r>
            <a:endParaRPr sz="1100"/>
          </a:p>
        </p:txBody>
      </p:sp>
      <p:sp>
        <p:nvSpPr>
          <p:cNvPr id="717" name="Google Shape;717;p34"/>
          <p:cNvSpPr txBox="1"/>
          <p:nvPr/>
        </p:nvSpPr>
        <p:spPr>
          <a:xfrm>
            <a:off x="747713"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HK-BD</a:t>
            </a:r>
            <a:endParaRPr sz="1100"/>
          </a:p>
        </p:txBody>
      </p:sp>
      <p:sp>
        <p:nvSpPr>
          <p:cNvPr id="718" name="Google Shape;718;p34"/>
          <p:cNvSpPr/>
          <p:nvPr/>
        </p:nvSpPr>
        <p:spPr>
          <a:xfrm>
            <a:off x="1264444" y="4068723"/>
            <a:ext cx="242700" cy="103200"/>
          </a:xfrm>
          <a:prstGeom prst="roundRect">
            <a:avLst>
              <a:gd fmla="val 20761"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9" name="Google Shape;719;p34"/>
          <p:cNvSpPr txBox="1"/>
          <p:nvPr/>
        </p:nvSpPr>
        <p:spPr>
          <a:xfrm>
            <a:off x="1171575" y="3916883"/>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17</a:t>
            </a:r>
            <a:endParaRPr sz="1100"/>
          </a:p>
        </p:txBody>
      </p:sp>
      <p:sp>
        <p:nvSpPr>
          <p:cNvPr id="720" name="Google Shape;720;p34"/>
          <p:cNvSpPr txBox="1"/>
          <p:nvPr/>
        </p:nvSpPr>
        <p:spPr>
          <a:xfrm>
            <a:off x="1157288"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Z3-DD</a:t>
            </a:r>
            <a:endParaRPr sz="1100"/>
          </a:p>
        </p:txBody>
      </p:sp>
      <p:sp>
        <p:nvSpPr>
          <p:cNvPr id="721" name="Google Shape;721;p34"/>
          <p:cNvSpPr/>
          <p:nvPr/>
        </p:nvSpPr>
        <p:spPr>
          <a:xfrm>
            <a:off x="1674019" y="4105156"/>
            <a:ext cx="242700" cy="66900"/>
          </a:xfrm>
          <a:prstGeom prst="roundRect">
            <a:avLst>
              <a:gd fmla="val 32085"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2" name="Google Shape;722;p34"/>
          <p:cNvSpPr txBox="1"/>
          <p:nvPr/>
        </p:nvSpPr>
        <p:spPr>
          <a:xfrm>
            <a:off x="1581150" y="3953315"/>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11</a:t>
            </a:r>
            <a:endParaRPr sz="1100"/>
          </a:p>
        </p:txBody>
      </p:sp>
      <p:sp>
        <p:nvSpPr>
          <p:cNvPr id="723" name="Google Shape;723;p34"/>
          <p:cNvSpPr txBox="1"/>
          <p:nvPr/>
        </p:nvSpPr>
        <p:spPr>
          <a:xfrm>
            <a:off x="1566863"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Z6-HBT</a:t>
            </a:r>
            <a:endParaRPr sz="1100"/>
          </a:p>
        </p:txBody>
      </p:sp>
      <p:sp>
        <p:nvSpPr>
          <p:cNvPr id="724" name="Google Shape;724;p34"/>
          <p:cNvSpPr/>
          <p:nvPr/>
        </p:nvSpPr>
        <p:spPr>
          <a:xfrm>
            <a:off x="2083594" y="3765113"/>
            <a:ext cx="242700" cy="406800"/>
          </a:xfrm>
          <a:prstGeom prst="roundRect">
            <a:avLst>
              <a:gd fmla="val 8823"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5" name="Google Shape;725;p34"/>
          <p:cNvSpPr txBox="1"/>
          <p:nvPr/>
        </p:nvSpPr>
        <p:spPr>
          <a:xfrm>
            <a:off x="1990725" y="3613273"/>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67</a:t>
            </a:r>
            <a:endParaRPr sz="1100"/>
          </a:p>
        </p:txBody>
      </p:sp>
      <p:sp>
        <p:nvSpPr>
          <p:cNvPr id="726" name="Google Shape;726;p34"/>
          <p:cNvSpPr txBox="1"/>
          <p:nvPr/>
        </p:nvSpPr>
        <p:spPr>
          <a:xfrm>
            <a:off x="1976438"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Z136</a:t>
            </a:r>
            <a:endParaRPr sz="1100"/>
          </a:p>
        </p:txBody>
      </p:sp>
      <p:sp>
        <p:nvSpPr>
          <p:cNvPr id="727" name="Google Shape;727;p34"/>
          <p:cNvSpPr/>
          <p:nvPr/>
        </p:nvSpPr>
        <p:spPr>
          <a:xfrm>
            <a:off x="2493169" y="4001929"/>
            <a:ext cx="242700" cy="170100"/>
          </a:xfrm>
          <a:prstGeom prst="roundRect">
            <a:avLst>
              <a:gd fmla="val 12605"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8" name="Google Shape;728;p34"/>
          <p:cNvSpPr txBox="1"/>
          <p:nvPr/>
        </p:nvSpPr>
        <p:spPr>
          <a:xfrm>
            <a:off x="2400300" y="3850088"/>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28</a:t>
            </a:r>
            <a:endParaRPr sz="1100"/>
          </a:p>
        </p:txBody>
      </p:sp>
      <p:sp>
        <p:nvSpPr>
          <p:cNvPr id="729" name="Google Shape;729;p34"/>
          <p:cNvSpPr txBox="1"/>
          <p:nvPr/>
        </p:nvSpPr>
        <p:spPr>
          <a:xfrm>
            <a:off x="2386013"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Z4-CG</a:t>
            </a:r>
            <a:endParaRPr sz="1100"/>
          </a:p>
        </p:txBody>
      </p:sp>
      <p:sp>
        <p:nvSpPr>
          <p:cNvPr id="730" name="Google Shape;730;p34"/>
          <p:cNvSpPr/>
          <p:nvPr/>
        </p:nvSpPr>
        <p:spPr>
          <a:xfrm>
            <a:off x="2902744" y="4026218"/>
            <a:ext cx="242700" cy="145800"/>
          </a:xfrm>
          <a:prstGeom prst="roundRect">
            <a:avLst>
              <a:gd fmla="val 14705"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1" name="Google Shape;731;p34"/>
          <p:cNvSpPr txBox="1"/>
          <p:nvPr/>
        </p:nvSpPr>
        <p:spPr>
          <a:xfrm>
            <a:off x="2809875" y="3874377"/>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24</a:t>
            </a:r>
            <a:endParaRPr sz="1100"/>
          </a:p>
        </p:txBody>
      </p:sp>
      <p:sp>
        <p:nvSpPr>
          <p:cNvPr id="732" name="Google Shape;732;p34"/>
          <p:cNvSpPr txBox="1"/>
          <p:nvPr/>
        </p:nvSpPr>
        <p:spPr>
          <a:xfrm>
            <a:off x="2795588"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Z5-TX</a:t>
            </a:r>
            <a:endParaRPr sz="1100"/>
          </a:p>
        </p:txBody>
      </p:sp>
      <p:sp>
        <p:nvSpPr>
          <p:cNvPr id="733" name="Google Shape;733;p34"/>
          <p:cNvSpPr/>
          <p:nvPr/>
        </p:nvSpPr>
        <p:spPr>
          <a:xfrm>
            <a:off x="3312319" y="4111229"/>
            <a:ext cx="242700" cy="60900"/>
          </a:xfrm>
          <a:prstGeom prst="roundRect">
            <a:avLst>
              <a:gd fmla="val 35294" name="adj"/>
            </a:avLst>
          </a:prstGeom>
          <a:solidFill>
            <a:srgbClr val="C8D4E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4" name="Google Shape;734;p34"/>
          <p:cNvSpPr txBox="1"/>
          <p:nvPr/>
        </p:nvSpPr>
        <p:spPr>
          <a:xfrm>
            <a:off x="3219450" y="3959388"/>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10</a:t>
            </a:r>
            <a:endParaRPr sz="1100"/>
          </a:p>
        </p:txBody>
      </p:sp>
      <p:sp>
        <p:nvSpPr>
          <p:cNvPr id="735" name="Google Shape;735;p34"/>
          <p:cNvSpPr txBox="1"/>
          <p:nvPr/>
        </p:nvSpPr>
        <p:spPr>
          <a:xfrm>
            <a:off x="3205163"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Z2-BD</a:t>
            </a:r>
            <a:endParaRPr sz="1100"/>
          </a:p>
        </p:txBody>
      </p:sp>
      <p:sp>
        <p:nvSpPr>
          <p:cNvPr id="736" name="Google Shape;736;p34"/>
          <p:cNvSpPr/>
          <p:nvPr/>
        </p:nvSpPr>
        <p:spPr>
          <a:xfrm>
            <a:off x="3721894" y="3242906"/>
            <a:ext cx="242700" cy="929100"/>
          </a:xfrm>
          <a:prstGeom prst="roundRect">
            <a:avLst>
              <a:gd fmla="val 8823"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7" name="Google Shape;737;p34"/>
          <p:cNvSpPr txBox="1"/>
          <p:nvPr/>
        </p:nvSpPr>
        <p:spPr>
          <a:xfrm>
            <a:off x="3629025" y="3091065"/>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153</a:t>
            </a:r>
            <a:endParaRPr sz="1100"/>
          </a:p>
        </p:txBody>
      </p:sp>
      <p:sp>
        <p:nvSpPr>
          <p:cNvPr id="738" name="Google Shape;738;p34"/>
          <p:cNvSpPr txBox="1"/>
          <p:nvPr/>
        </p:nvSpPr>
        <p:spPr>
          <a:xfrm>
            <a:off x="3614738"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B4531A"/>
                </a:solidFill>
                <a:latin typeface="Lexend"/>
                <a:ea typeface="Lexend"/>
                <a:cs typeface="Lexend"/>
                <a:sym typeface="Lexend"/>
              </a:rPr>
              <a:t>BIGZONE</a:t>
            </a:r>
            <a:endParaRPr sz="1100"/>
          </a:p>
        </p:txBody>
      </p:sp>
      <p:sp>
        <p:nvSpPr>
          <p:cNvPr id="739" name="Google Shape;739;p34"/>
          <p:cNvSpPr/>
          <p:nvPr/>
        </p:nvSpPr>
        <p:spPr>
          <a:xfrm>
            <a:off x="4131469" y="3649742"/>
            <a:ext cx="242700" cy="522300"/>
          </a:xfrm>
          <a:prstGeom prst="roundRect">
            <a:avLst>
              <a:gd fmla="val 8823"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0" name="Google Shape;740;p34"/>
          <p:cNvSpPr txBox="1"/>
          <p:nvPr/>
        </p:nvSpPr>
        <p:spPr>
          <a:xfrm>
            <a:off x="4038600" y="3497902"/>
            <a:ext cx="4287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86</a:t>
            </a:r>
            <a:endParaRPr sz="1100"/>
          </a:p>
        </p:txBody>
      </p:sp>
      <p:sp>
        <p:nvSpPr>
          <p:cNvPr id="741" name="Google Shape;741;p34"/>
          <p:cNvSpPr txBox="1"/>
          <p:nvPr/>
        </p:nvSpPr>
        <p:spPr>
          <a:xfrm>
            <a:off x="4024313" y="4236959"/>
            <a:ext cx="4572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B4531A"/>
                </a:solidFill>
                <a:latin typeface="Lexend"/>
                <a:ea typeface="Lexend"/>
                <a:cs typeface="Lexend"/>
                <a:sym typeface="Lexend"/>
              </a:rPr>
              <a:t>Z24</a:t>
            </a:r>
            <a:endParaRPr sz="1100"/>
          </a:p>
        </p:txBody>
      </p:sp>
      <p:sp>
        <p:nvSpPr>
          <p:cNvPr id="742" name="Google Shape;742;p34"/>
          <p:cNvSpPr/>
          <p:nvPr/>
        </p:nvSpPr>
        <p:spPr>
          <a:xfrm>
            <a:off x="978694" y="3107531"/>
            <a:ext cx="3271838" cy="935831"/>
          </a:xfrm>
          <a:custGeom>
            <a:rect b="b" l="l" r="r" t="t"/>
            <a:pathLst>
              <a:path extrusionOk="0" h="131" w="458">
                <a:moveTo>
                  <a:pt x="0" y="0"/>
                </a:moveTo>
                <a:lnTo>
                  <a:pt x="57" y="38"/>
                </a:lnTo>
                <a:lnTo>
                  <a:pt x="114" y="39"/>
                </a:lnTo>
                <a:lnTo>
                  <a:pt x="172" y="45"/>
                </a:lnTo>
                <a:lnTo>
                  <a:pt x="229" y="46"/>
                </a:lnTo>
                <a:lnTo>
                  <a:pt x="286" y="71"/>
                </a:lnTo>
                <a:lnTo>
                  <a:pt x="344" y="85"/>
                </a:lnTo>
                <a:lnTo>
                  <a:pt x="401" y="91"/>
                </a:lnTo>
                <a:lnTo>
                  <a:pt x="458" y="131"/>
                </a:lnTo>
              </a:path>
            </a:pathLst>
          </a:custGeom>
          <a:noFill/>
          <a:ln cap="flat" cmpd="sng" w="1047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43" name="Google Shape;743;p34"/>
          <p:cNvSpPr/>
          <p:nvPr/>
        </p:nvSpPr>
        <p:spPr>
          <a:xfrm>
            <a:off x="950595" y="3083600"/>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4" name="Google Shape;744;p34"/>
          <p:cNvSpPr/>
          <p:nvPr/>
        </p:nvSpPr>
        <p:spPr>
          <a:xfrm>
            <a:off x="1360170" y="3351535"/>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5" name="Google Shape;745;p34"/>
          <p:cNvSpPr/>
          <p:nvPr/>
        </p:nvSpPr>
        <p:spPr>
          <a:xfrm>
            <a:off x="1769745" y="3359581"/>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6" name="Google Shape;746;p34"/>
          <p:cNvSpPr/>
          <p:nvPr/>
        </p:nvSpPr>
        <p:spPr>
          <a:xfrm>
            <a:off x="2179320" y="3400871"/>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7" name="Google Shape;747;p34"/>
          <p:cNvSpPr/>
          <p:nvPr/>
        </p:nvSpPr>
        <p:spPr>
          <a:xfrm>
            <a:off x="2588895" y="3408917"/>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8" name="Google Shape;748;p34"/>
          <p:cNvSpPr/>
          <p:nvPr/>
        </p:nvSpPr>
        <p:spPr>
          <a:xfrm>
            <a:off x="2998470" y="3589564"/>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9" name="Google Shape;749;p34"/>
          <p:cNvSpPr/>
          <p:nvPr/>
        </p:nvSpPr>
        <p:spPr>
          <a:xfrm>
            <a:off x="3408045" y="3690818"/>
            <a:ext cx="51600" cy="51600"/>
          </a:xfrm>
          <a:prstGeom prst="ellipse">
            <a:avLst/>
          </a:prstGeom>
          <a:solidFill>
            <a:srgbClr val="FFFFFF"/>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0" name="Google Shape;750;p34"/>
          <p:cNvSpPr/>
          <p:nvPr/>
        </p:nvSpPr>
        <p:spPr>
          <a:xfrm>
            <a:off x="3817620" y="3728466"/>
            <a:ext cx="51600" cy="51600"/>
          </a:xfrm>
          <a:prstGeom prst="ellipse">
            <a:avLst/>
          </a:prstGeom>
          <a:solidFill>
            <a:srgbClr val="FF7F32"/>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1" name="Google Shape;751;p34"/>
          <p:cNvSpPr/>
          <p:nvPr/>
        </p:nvSpPr>
        <p:spPr>
          <a:xfrm>
            <a:off x="4227195" y="4019172"/>
            <a:ext cx="51600" cy="51600"/>
          </a:xfrm>
          <a:prstGeom prst="ellipse">
            <a:avLst/>
          </a:prstGeom>
          <a:solidFill>
            <a:srgbClr val="FF7F32"/>
          </a:solidFill>
          <a:ln cap="flat" cmpd="sng" w="9525">
            <a:solidFill>
              <a:srgbClr val="0E41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2" name="Google Shape;752;p34"/>
          <p:cNvSpPr txBox="1"/>
          <p:nvPr/>
        </p:nvSpPr>
        <p:spPr>
          <a:xfrm>
            <a:off x="542925" y="4560963"/>
            <a:ext cx="46434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B4531A"/>
                </a:solidFill>
                <a:latin typeface="Lexend"/>
                <a:ea typeface="Lexend"/>
                <a:cs typeface="Lexend"/>
                <a:sym typeface="Lexend"/>
              </a:rPr>
              <a:t>2 Zone active lớn nhất lại có retention tệ nhất</a:t>
            </a:r>
            <a:endParaRPr sz="1100"/>
          </a:p>
        </p:txBody>
      </p:sp>
      <p:sp>
        <p:nvSpPr>
          <p:cNvPr id="753" name="Google Shape;753;p34"/>
          <p:cNvSpPr/>
          <p:nvPr/>
        </p:nvSpPr>
        <p:spPr>
          <a:xfrm>
            <a:off x="5486400" y="2428875"/>
            <a:ext cx="3314700" cy="2400300"/>
          </a:xfrm>
          <a:prstGeom prst="roundRect">
            <a:avLst>
              <a:gd fmla="val 4761"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4" name="Google Shape;754;p34"/>
          <p:cNvSpPr txBox="1"/>
          <p:nvPr/>
        </p:nvSpPr>
        <p:spPr>
          <a:xfrm>
            <a:off x="5657850" y="2547818"/>
            <a:ext cx="2143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Chi tiết theo zone — HAN</a:t>
            </a:r>
            <a:endParaRPr sz="1100"/>
          </a:p>
        </p:txBody>
      </p:sp>
      <p:sp>
        <p:nvSpPr>
          <p:cNvPr id="755" name="Google Shape;755;p34"/>
          <p:cNvSpPr txBox="1"/>
          <p:nvPr/>
        </p:nvSpPr>
        <p:spPr>
          <a:xfrm>
            <a:off x="5657850" y="2803136"/>
            <a:ext cx="642900" cy="77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500">
                <a:solidFill>
                  <a:srgbClr val="9CA3AF"/>
                </a:solidFill>
                <a:latin typeface="Lexend"/>
                <a:ea typeface="Lexend"/>
                <a:cs typeface="Lexend"/>
                <a:sym typeface="Lexend"/>
              </a:rPr>
              <a:t>ZONE</a:t>
            </a:r>
            <a:endParaRPr sz="1100"/>
          </a:p>
        </p:txBody>
      </p:sp>
      <p:sp>
        <p:nvSpPr>
          <p:cNvPr id="756" name="Google Shape;756;p34"/>
          <p:cNvSpPr txBox="1"/>
          <p:nvPr/>
        </p:nvSpPr>
        <p:spPr>
          <a:xfrm>
            <a:off x="6150769" y="2803136"/>
            <a:ext cx="642900" cy="77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500">
                <a:solidFill>
                  <a:srgbClr val="9CA3AF"/>
                </a:solidFill>
                <a:latin typeface="Lexend"/>
                <a:ea typeface="Lexend"/>
                <a:cs typeface="Lexend"/>
                <a:sym typeface="Lexend"/>
              </a:rPr>
              <a:t>BASE T7→T8</a:t>
            </a:r>
            <a:endParaRPr sz="1100"/>
          </a:p>
        </p:txBody>
      </p:sp>
      <p:sp>
        <p:nvSpPr>
          <p:cNvPr id="757" name="Google Shape;757;p34"/>
          <p:cNvSpPr txBox="1"/>
          <p:nvPr/>
        </p:nvSpPr>
        <p:spPr>
          <a:xfrm>
            <a:off x="6893719" y="2803136"/>
            <a:ext cx="642900" cy="77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500">
                <a:solidFill>
                  <a:srgbClr val="9CA3AF"/>
                </a:solidFill>
                <a:latin typeface="Lexend"/>
                <a:ea typeface="Lexend"/>
                <a:cs typeface="Lexend"/>
                <a:sym typeface="Lexend"/>
              </a:rPr>
              <a:t>RET T7</a:t>
            </a:r>
            <a:endParaRPr sz="1100"/>
          </a:p>
        </p:txBody>
      </p:sp>
      <p:sp>
        <p:nvSpPr>
          <p:cNvPr id="758" name="Google Shape;758;p34"/>
          <p:cNvSpPr txBox="1"/>
          <p:nvPr/>
        </p:nvSpPr>
        <p:spPr>
          <a:xfrm>
            <a:off x="7465219" y="2803136"/>
            <a:ext cx="642900" cy="77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500">
                <a:solidFill>
                  <a:srgbClr val="9CA3AF"/>
                </a:solidFill>
                <a:latin typeface="Lexend"/>
                <a:ea typeface="Lexend"/>
                <a:cs typeface="Lexend"/>
                <a:sym typeface="Lexend"/>
              </a:rPr>
              <a:t>RET T8</a:t>
            </a:r>
            <a:endParaRPr sz="1100"/>
          </a:p>
        </p:txBody>
      </p:sp>
      <p:sp>
        <p:nvSpPr>
          <p:cNvPr id="759" name="Google Shape;759;p34"/>
          <p:cNvSpPr txBox="1"/>
          <p:nvPr/>
        </p:nvSpPr>
        <p:spPr>
          <a:xfrm>
            <a:off x="7986713" y="2803136"/>
            <a:ext cx="642900" cy="771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500">
                <a:solidFill>
                  <a:srgbClr val="9CA3AF"/>
                </a:solidFill>
                <a:latin typeface="Lexend"/>
                <a:ea typeface="Lexend"/>
                <a:cs typeface="Lexend"/>
                <a:sym typeface="Lexend"/>
              </a:rPr>
              <a:t>Δ PP</a:t>
            </a:r>
            <a:endParaRPr sz="1100"/>
          </a:p>
        </p:txBody>
      </p:sp>
      <p:sp>
        <p:nvSpPr>
          <p:cNvPr id="760" name="Google Shape;760;p34"/>
          <p:cNvSpPr/>
          <p:nvPr/>
        </p:nvSpPr>
        <p:spPr>
          <a:xfrm>
            <a:off x="5657850" y="2939654"/>
            <a:ext cx="2971800" cy="7200"/>
          </a:xfrm>
          <a:prstGeom prst="rect">
            <a:avLst/>
          </a:prstGeom>
          <a:solidFill>
            <a:srgbClr val="E9EDF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1" name="Google Shape;761;p34"/>
          <p:cNvSpPr/>
          <p:nvPr/>
        </p:nvSpPr>
        <p:spPr>
          <a:xfrm>
            <a:off x="5572125" y="2986088"/>
            <a:ext cx="3143400" cy="164400"/>
          </a:xfrm>
          <a:prstGeom prst="roundRect">
            <a:avLst>
              <a:gd fmla="val 2608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2" name="Google Shape;762;p34"/>
          <p:cNvSpPr txBox="1"/>
          <p:nvPr/>
        </p:nvSpPr>
        <p:spPr>
          <a:xfrm>
            <a:off x="5657850" y="3008234"/>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HK-BD</a:t>
            </a:r>
            <a:endParaRPr sz="1100"/>
          </a:p>
        </p:txBody>
      </p:sp>
      <p:sp>
        <p:nvSpPr>
          <p:cNvPr id="763" name="Google Shape;763;p34"/>
          <p:cNvSpPr txBox="1"/>
          <p:nvPr/>
        </p:nvSpPr>
        <p:spPr>
          <a:xfrm>
            <a:off x="6115050" y="3026652"/>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6B7280"/>
                </a:solidFill>
                <a:latin typeface="Lexend"/>
                <a:ea typeface="Lexend"/>
                <a:cs typeface="Lexend"/>
                <a:sym typeface="Lexend"/>
              </a:rPr>
              <a:t>1</a:t>
            </a:r>
            <a:r>
              <a:rPr lang="en" sz="600">
                <a:solidFill>
                  <a:srgbClr val="6B7280"/>
                </a:solidFill>
                <a:latin typeface="Lexend"/>
                <a:ea typeface="Lexend"/>
                <a:cs typeface="Lexend"/>
                <a:sym typeface="Lexend"/>
              </a:rPr>
              <a:t>0</a:t>
            </a:r>
            <a:r>
              <a:rPr b="0" lang="en" sz="600">
                <a:solidFill>
                  <a:srgbClr val="6B7280"/>
                </a:solidFill>
                <a:latin typeface="Lexend"/>
                <a:ea typeface="Lexend"/>
                <a:cs typeface="Lexend"/>
                <a:sym typeface="Lexend"/>
              </a:rPr>
              <a:t> → </a:t>
            </a:r>
            <a:r>
              <a:rPr lang="en" sz="600">
                <a:solidFill>
                  <a:srgbClr val="6B7280"/>
                </a:solidFill>
                <a:latin typeface="Lexend"/>
                <a:ea typeface="Lexend"/>
                <a:cs typeface="Lexend"/>
                <a:sym typeface="Lexend"/>
              </a:rPr>
              <a:t>9</a:t>
            </a:r>
            <a:endParaRPr sz="1100"/>
          </a:p>
        </p:txBody>
      </p:sp>
      <p:sp>
        <p:nvSpPr>
          <p:cNvPr id="764" name="Google Shape;764;p34"/>
          <p:cNvSpPr txBox="1"/>
          <p:nvPr/>
        </p:nvSpPr>
        <p:spPr>
          <a:xfrm>
            <a:off x="6965156" y="300823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70.6%</a:t>
            </a:r>
            <a:endParaRPr sz="1100"/>
          </a:p>
        </p:txBody>
      </p:sp>
      <p:sp>
        <p:nvSpPr>
          <p:cNvPr id="765" name="Google Shape;765;p34"/>
          <p:cNvSpPr txBox="1"/>
          <p:nvPr/>
        </p:nvSpPr>
        <p:spPr>
          <a:xfrm>
            <a:off x="7536656" y="3033038"/>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60.00%</a:t>
            </a:r>
            <a:endParaRPr sz="1100"/>
          </a:p>
        </p:txBody>
      </p:sp>
      <p:sp>
        <p:nvSpPr>
          <p:cNvPr id="766" name="Google Shape;766;p34"/>
          <p:cNvSpPr txBox="1"/>
          <p:nvPr/>
        </p:nvSpPr>
        <p:spPr>
          <a:xfrm>
            <a:off x="8201025" y="3008234"/>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047857"/>
                </a:solidFill>
                <a:latin typeface="Lexend"/>
                <a:ea typeface="Lexend"/>
                <a:cs typeface="Lexend"/>
                <a:sym typeface="Lexend"/>
              </a:rPr>
              <a:t>+29.4</a:t>
            </a:r>
            <a:endParaRPr sz="1100"/>
          </a:p>
        </p:txBody>
      </p:sp>
      <p:sp>
        <p:nvSpPr>
          <p:cNvPr id="767" name="Google Shape;767;p34"/>
          <p:cNvSpPr txBox="1"/>
          <p:nvPr/>
        </p:nvSpPr>
        <p:spPr>
          <a:xfrm>
            <a:off x="5657850" y="3172539"/>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Z3-DD</a:t>
            </a:r>
            <a:endParaRPr sz="1100"/>
          </a:p>
        </p:txBody>
      </p:sp>
      <p:sp>
        <p:nvSpPr>
          <p:cNvPr id="768" name="Google Shape;768;p34"/>
          <p:cNvSpPr txBox="1"/>
          <p:nvPr/>
        </p:nvSpPr>
        <p:spPr>
          <a:xfrm>
            <a:off x="6115050" y="3190958"/>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6B7280"/>
                </a:solidFill>
                <a:latin typeface="Lexend"/>
                <a:ea typeface="Lexend"/>
                <a:cs typeface="Lexend"/>
                <a:sym typeface="Lexend"/>
              </a:rPr>
              <a:t>17</a:t>
            </a:r>
            <a:r>
              <a:rPr b="0" lang="en" sz="600">
                <a:solidFill>
                  <a:srgbClr val="6B7280"/>
                </a:solidFill>
                <a:latin typeface="Lexend"/>
                <a:ea typeface="Lexend"/>
                <a:cs typeface="Lexend"/>
                <a:sym typeface="Lexend"/>
              </a:rPr>
              <a:t> → 1</a:t>
            </a:r>
            <a:r>
              <a:rPr lang="en" sz="600">
                <a:solidFill>
                  <a:srgbClr val="6B7280"/>
                </a:solidFill>
                <a:latin typeface="Lexend"/>
                <a:ea typeface="Lexend"/>
                <a:cs typeface="Lexend"/>
                <a:sym typeface="Lexend"/>
              </a:rPr>
              <a:t>4</a:t>
            </a:r>
            <a:endParaRPr sz="1100"/>
          </a:p>
        </p:txBody>
      </p:sp>
      <p:sp>
        <p:nvSpPr>
          <p:cNvPr id="769" name="Google Shape;769;p34"/>
          <p:cNvSpPr txBox="1"/>
          <p:nvPr/>
        </p:nvSpPr>
        <p:spPr>
          <a:xfrm>
            <a:off x="6965156" y="317253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88.2%</a:t>
            </a:r>
            <a:endParaRPr sz="1100"/>
          </a:p>
        </p:txBody>
      </p:sp>
      <p:sp>
        <p:nvSpPr>
          <p:cNvPr id="770" name="Google Shape;770;p34"/>
          <p:cNvSpPr txBox="1"/>
          <p:nvPr/>
        </p:nvSpPr>
        <p:spPr>
          <a:xfrm>
            <a:off x="7536656" y="317253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82.3%</a:t>
            </a:r>
            <a:endParaRPr sz="1100"/>
          </a:p>
        </p:txBody>
      </p:sp>
      <p:sp>
        <p:nvSpPr>
          <p:cNvPr id="771" name="Google Shape;771;p34"/>
          <p:cNvSpPr txBox="1"/>
          <p:nvPr/>
        </p:nvSpPr>
        <p:spPr>
          <a:xfrm>
            <a:off x="8201025" y="3172539"/>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DC2626"/>
                </a:solidFill>
                <a:latin typeface="Lexend"/>
                <a:ea typeface="Lexend"/>
                <a:cs typeface="Lexend"/>
                <a:sym typeface="Lexend"/>
              </a:rPr>
              <a:t>-5.9</a:t>
            </a:r>
            <a:endParaRPr sz="1100"/>
          </a:p>
        </p:txBody>
      </p:sp>
      <p:sp>
        <p:nvSpPr>
          <p:cNvPr id="772" name="Google Shape;772;p34"/>
          <p:cNvSpPr/>
          <p:nvPr/>
        </p:nvSpPr>
        <p:spPr>
          <a:xfrm>
            <a:off x="5572125" y="3314700"/>
            <a:ext cx="3143400" cy="164400"/>
          </a:xfrm>
          <a:prstGeom prst="roundRect">
            <a:avLst>
              <a:gd fmla="val 2608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3" name="Google Shape;773;p34"/>
          <p:cNvSpPr txBox="1"/>
          <p:nvPr/>
        </p:nvSpPr>
        <p:spPr>
          <a:xfrm>
            <a:off x="5657850" y="3336846"/>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Z6-HBT</a:t>
            </a:r>
            <a:endParaRPr sz="1100"/>
          </a:p>
        </p:txBody>
      </p:sp>
      <p:sp>
        <p:nvSpPr>
          <p:cNvPr id="774" name="Google Shape;774;p34"/>
          <p:cNvSpPr txBox="1"/>
          <p:nvPr/>
        </p:nvSpPr>
        <p:spPr>
          <a:xfrm>
            <a:off x="6115050" y="3355265"/>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6B7280"/>
                </a:solidFill>
                <a:latin typeface="Lexend"/>
                <a:ea typeface="Lexend"/>
                <a:cs typeface="Lexend"/>
                <a:sym typeface="Lexend"/>
              </a:rPr>
              <a:t>11</a:t>
            </a:r>
            <a:r>
              <a:rPr b="0" lang="en" sz="600">
                <a:solidFill>
                  <a:srgbClr val="6B7280"/>
                </a:solidFill>
                <a:latin typeface="Lexend"/>
                <a:ea typeface="Lexend"/>
                <a:cs typeface="Lexend"/>
                <a:sym typeface="Lexend"/>
              </a:rPr>
              <a:t> → </a:t>
            </a:r>
            <a:r>
              <a:rPr lang="en" sz="600">
                <a:solidFill>
                  <a:srgbClr val="6B7280"/>
                </a:solidFill>
                <a:latin typeface="Lexend"/>
                <a:ea typeface="Lexend"/>
                <a:cs typeface="Lexend"/>
                <a:sym typeface="Lexend"/>
              </a:rPr>
              <a:t>9</a:t>
            </a:r>
            <a:endParaRPr sz="1100"/>
          </a:p>
        </p:txBody>
      </p:sp>
      <p:sp>
        <p:nvSpPr>
          <p:cNvPr id="775" name="Google Shape;775;p34"/>
          <p:cNvSpPr txBox="1"/>
          <p:nvPr/>
        </p:nvSpPr>
        <p:spPr>
          <a:xfrm>
            <a:off x="6965156" y="333684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78.6%</a:t>
            </a:r>
            <a:endParaRPr sz="1100"/>
          </a:p>
        </p:txBody>
      </p:sp>
      <p:sp>
        <p:nvSpPr>
          <p:cNvPr id="776" name="Google Shape;776;p34"/>
          <p:cNvSpPr txBox="1"/>
          <p:nvPr/>
        </p:nvSpPr>
        <p:spPr>
          <a:xfrm>
            <a:off x="7536656" y="3336846"/>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81.8%</a:t>
            </a:r>
            <a:endParaRPr sz="1100"/>
          </a:p>
        </p:txBody>
      </p:sp>
      <p:sp>
        <p:nvSpPr>
          <p:cNvPr id="777" name="Google Shape;777;p34"/>
          <p:cNvSpPr txBox="1"/>
          <p:nvPr/>
        </p:nvSpPr>
        <p:spPr>
          <a:xfrm>
            <a:off x="8201025" y="3336846"/>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047857"/>
                </a:solidFill>
                <a:latin typeface="Lexend"/>
                <a:ea typeface="Lexend"/>
                <a:cs typeface="Lexend"/>
                <a:sym typeface="Lexend"/>
              </a:rPr>
              <a:t>+3.2</a:t>
            </a:r>
            <a:endParaRPr sz="1100"/>
          </a:p>
        </p:txBody>
      </p:sp>
      <p:sp>
        <p:nvSpPr>
          <p:cNvPr id="778" name="Google Shape;778;p34"/>
          <p:cNvSpPr txBox="1"/>
          <p:nvPr/>
        </p:nvSpPr>
        <p:spPr>
          <a:xfrm>
            <a:off x="5657850" y="3501152"/>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Z136</a:t>
            </a:r>
            <a:endParaRPr sz="1100"/>
          </a:p>
        </p:txBody>
      </p:sp>
      <p:sp>
        <p:nvSpPr>
          <p:cNvPr id="779" name="Google Shape;779;p34"/>
          <p:cNvSpPr txBox="1"/>
          <p:nvPr/>
        </p:nvSpPr>
        <p:spPr>
          <a:xfrm>
            <a:off x="6115050" y="3519570"/>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6B7280"/>
                </a:solidFill>
                <a:latin typeface="Lexend"/>
                <a:ea typeface="Lexend"/>
                <a:cs typeface="Lexend"/>
                <a:sym typeface="Lexend"/>
              </a:rPr>
              <a:t>67</a:t>
            </a:r>
            <a:r>
              <a:rPr b="0" lang="en" sz="600">
                <a:solidFill>
                  <a:srgbClr val="6B7280"/>
                </a:solidFill>
                <a:latin typeface="Lexend"/>
                <a:ea typeface="Lexend"/>
                <a:cs typeface="Lexend"/>
                <a:sym typeface="Lexend"/>
              </a:rPr>
              <a:t> → 6</a:t>
            </a:r>
            <a:r>
              <a:rPr lang="en" sz="600">
                <a:solidFill>
                  <a:srgbClr val="6B7280"/>
                </a:solidFill>
                <a:latin typeface="Lexend"/>
                <a:ea typeface="Lexend"/>
                <a:cs typeface="Lexend"/>
                <a:sym typeface="Lexend"/>
              </a:rPr>
              <a:t>2</a:t>
            </a:r>
            <a:endParaRPr sz="1100"/>
          </a:p>
        </p:txBody>
      </p:sp>
      <p:sp>
        <p:nvSpPr>
          <p:cNvPr id="780" name="Google Shape;780;p34"/>
          <p:cNvSpPr txBox="1"/>
          <p:nvPr/>
        </p:nvSpPr>
        <p:spPr>
          <a:xfrm>
            <a:off x="6965156" y="3501152"/>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72.9%</a:t>
            </a:r>
            <a:endParaRPr sz="1100"/>
          </a:p>
        </p:txBody>
      </p:sp>
      <p:sp>
        <p:nvSpPr>
          <p:cNvPr id="781" name="Google Shape;781;p34"/>
          <p:cNvSpPr txBox="1"/>
          <p:nvPr/>
        </p:nvSpPr>
        <p:spPr>
          <a:xfrm>
            <a:off x="7536656" y="3501152"/>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79.1%</a:t>
            </a:r>
            <a:endParaRPr sz="1100"/>
          </a:p>
        </p:txBody>
      </p:sp>
      <p:sp>
        <p:nvSpPr>
          <p:cNvPr id="782" name="Google Shape;782;p34"/>
          <p:cNvSpPr txBox="1"/>
          <p:nvPr/>
        </p:nvSpPr>
        <p:spPr>
          <a:xfrm>
            <a:off x="8201025" y="3501152"/>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047857"/>
                </a:solidFill>
                <a:latin typeface="Lexend"/>
                <a:ea typeface="Lexend"/>
                <a:cs typeface="Lexend"/>
                <a:sym typeface="Lexend"/>
              </a:rPr>
              <a:t>+6.2</a:t>
            </a:r>
            <a:endParaRPr sz="1100"/>
          </a:p>
        </p:txBody>
      </p:sp>
      <p:sp>
        <p:nvSpPr>
          <p:cNvPr id="783" name="Google Shape;783;p34"/>
          <p:cNvSpPr/>
          <p:nvPr/>
        </p:nvSpPr>
        <p:spPr>
          <a:xfrm>
            <a:off x="5572125" y="3643313"/>
            <a:ext cx="3143400" cy="164400"/>
          </a:xfrm>
          <a:prstGeom prst="roundRect">
            <a:avLst>
              <a:gd fmla="val 2608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4" name="Google Shape;784;p34"/>
          <p:cNvSpPr txBox="1"/>
          <p:nvPr/>
        </p:nvSpPr>
        <p:spPr>
          <a:xfrm>
            <a:off x="5657850" y="3665459"/>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Z4-CG</a:t>
            </a:r>
            <a:endParaRPr sz="1100"/>
          </a:p>
        </p:txBody>
      </p:sp>
      <p:sp>
        <p:nvSpPr>
          <p:cNvPr id="785" name="Google Shape;785;p34"/>
          <p:cNvSpPr txBox="1"/>
          <p:nvPr/>
        </p:nvSpPr>
        <p:spPr>
          <a:xfrm>
            <a:off x="6115050" y="3683877"/>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6B7280"/>
                </a:solidFill>
                <a:latin typeface="Lexend"/>
                <a:ea typeface="Lexend"/>
                <a:cs typeface="Lexend"/>
                <a:sym typeface="Lexend"/>
              </a:rPr>
              <a:t>28</a:t>
            </a:r>
            <a:r>
              <a:rPr b="0" lang="en" sz="600">
                <a:solidFill>
                  <a:srgbClr val="6B7280"/>
                </a:solidFill>
                <a:latin typeface="Lexend"/>
                <a:ea typeface="Lexend"/>
                <a:cs typeface="Lexend"/>
                <a:sym typeface="Lexend"/>
              </a:rPr>
              <a:t> → </a:t>
            </a:r>
            <a:r>
              <a:rPr lang="en" sz="600">
                <a:solidFill>
                  <a:srgbClr val="6B7280"/>
                </a:solidFill>
                <a:latin typeface="Lexend"/>
                <a:ea typeface="Lexend"/>
                <a:cs typeface="Lexend"/>
                <a:sym typeface="Lexend"/>
              </a:rPr>
              <a:t>31</a:t>
            </a:r>
            <a:endParaRPr sz="1100"/>
          </a:p>
        </p:txBody>
      </p:sp>
      <p:sp>
        <p:nvSpPr>
          <p:cNvPr id="786" name="Google Shape;786;p34"/>
          <p:cNvSpPr txBox="1"/>
          <p:nvPr/>
        </p:nvSpPr>
        <p:spPr>
          <a:xfrm>
            <a:off x="6965156" y="366545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56.5%</a:t>
            </a:r>
            <a:endParaRPr sz="1100"/>
          </a:p>
        </p:txBody>
      </p:sp>
      <p:sp>
        <p:nvSpPr>
          <p:cNvPr id="787" name="Google Shape;787;p34"/>
          <p:cNvSpPr txBox="1"/>
          <p:nvPr/>
        </p:nvSpPr>
        <p:spPr>
          <a:xfrm>
            <a:off x="7536656" y="366545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78.6%</a:t>
            </a:r>
            <a:endParaRPr sz="1100"/>
          </a:p>
        </p:txBody>
      </p:sp>
      <p:sp>
        <p:nvSpPr>
          <p:cNvPr id="788" name="Google Shape;788;p34"/>
          <p:cNvSpPr txBox="1"/>
          <p:nvPr/>
        </p:nvSpPr>
        <p:spPr>
          <a:xfrm>
            <a:off x="8201025" y="3665459"/>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047857"/>
                </a:solidFill>
                <a:latin typeface="Lexend"/>
                <a:ea typeface="Lexend"/>
                <a:cs typeface="Lexend"/>
                <a:sym typeface="Lexend"/>
              </a:rPr>
              <a:t>+22.0</a:t>
            </a:r>
            <a:endParaRPr sz="1100"/>
          </a:p>
        </p:txBody>
      </p:sp>
      <p:sp>
        <p:nvSpPr>
          <p:cNvPr id="789" name="Google Shape;789;p34"/>
          <p:cNvSpPr txBox="1"/>
          <p:nvPr/>
        </p:nvSpPr>
        <p:spPr>
          <a:xfrm>
            <a:off x="5657850" y="3829764"/>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Z5-TX</a:t>
            </a:r>
            <a:endParaRPr sz="1100"/>
          </a:p>
        </p:txBody>
      </p:sp>
      <p:sp>
        <p:nvSpPr>
          <p:cNvPr id="790" name="Google Shape;790;p34"/>
          <p:cNvSpPr txBox="1"/>
          <p:nvPr/>
        </p:nvSpPr>
        <p:spPr>
          <a:xfrm>
            <a:off x="6115050" y="3848183"/>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6B7280"/>
                </a:solidFill>
                <a:latin typeface="Lexend"/>
                <a:ea typeface="Lexend"/>
                <a:cs typeface="Lexend"/>
                <a:sym typeface="Lexend"/>
              </a:rPr>
              <a:t>24</a:t>
            </a:r>
            <a:r>
              <a:rPr b="0" lang="en" sz="600">
                <a:solidFill>
                  <a:srgbClr val="6B7280"/>
                </a:solidFill>
                <a:latin typeface="Lexend"/>
                <a:ea typeface="Lexend"/>
                <a:cs typeface="Lexend"/>
                <a:sym typeface="Lexend"/>
              </a:rPr>
              <a:t> → </a:t>
            </a:r>
            <a:r>
              <a:rPr lang="en" sz="600">
                <a:solidFill>
                  <a:srgbClr val="6B7280"/>
                </a:solidFill>
                <a:latin typeface="Lexend"/>
                <a:ea typeface="Lexend"/>
                <a:cs typeface="Lexend"/>
                <a:sym typeface="Lexend"/>
              </a:rPr>
              <a:t>17</a:t>
            </a:r>
            <a:endParaRPr sz="1100"/>
          </a:p>
        </p:txBody>
      </p:sp>
      <p:sp>
        <p:nvSpPr>
          <p:cNvPr id="791" name="Google Shape;791;p34"/>
          <p:cNvSpPr txBox="1"/>
          <p:nvPr/>
        </p:nvSpPr>
        <p:spPr>
          <a:xfrm>
            <a:off x="6965156" y="382976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53.5%</a:t>
            </a:r>
            <a:endParaRPr sz="1100"/>
          </a:p>
        </p:txBody>
      </p:sp>
      <p:sp>
        <p:nvSpPr>
          <p:cNvPr id="792" name="Google Shape;792;p34"/>
          <p:cNvSpPr txBox="1"/>
          <p:nvPr/>
        </p:nvSpPr>
        <p:spPr>
          <a:xfrm>
            <a:off x="7536656" y="382976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66.7%</a:t>
            </a:r>
            <a:endParaRPr sz="1100"/>
          </a:p>
        </p:txBody>
      </p:sp>
      <p:sp>
        <p:nvSpPr>
          <p:cNvPr id="793" name="Google Shape;793;p34"/>
          <p:cNvSpPr txBox="1"/>
          <p:nvPr/>
        </p:nvSpPr>
        <p:spPr>
          <a:xfrm>
            <a:off x="8201025" y="3829764"/>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047857"/>
                </a:solidFill>
                <a:latin typeface="Lexend"/>
                <a:ea typeface="Lexend"/>
                <a:cs typeface="Lexend"/>
                <a:sym typeface="Lexend"/>
              </a:rPr>
              <a:t>+13.2</a:t>
            </a:r>
            <a:endParaRPr sz="1100"/>
          </a:p>
        </p:txBody>
      </p:sp>
      <p:sp>
        <p:nvSpPr>
          <p:cNvPr id="794" name="Google Shape;794;p34"/>
          <p:cNvSpPr/>
          <p:nvPr/>
        </p:nvSpPr>
        <p:spPr>
          <a:xfrm>
            <a:off x="5572125" y="3971925"/>
            <a:ext cx="3143400" cy="164400"/>
          </a:xfrm>
          <a:prstGeom prst="roundRect">
            <a:avLst>
              <a:gd fmla="val 26086" name="adj"/>
            </a:avLst>
          </a:prstGeom>
          <a:solidFill>
            <a:srgbClr val="F7F9F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5" name="Google Shape;795;p34"/>
          <p:cNvSpPr txBox="1"/>
          <p:nvPr/>
        </p:nvSpPr>
        <p:spPr>
          <a:xfrm>
            <a:off x="5657850" y="3994071"/>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Z2-BD</a:t>
            </a:r>
            <a:endParaRPr sz="1100"/>
          </a:p>
        </p:txBody>
      </p:sp>
      <p:sp>
        <p:nvSpPr>
          <p:cNvPr id="796" name="Google Shape;796;p34"/>
          <p:cNvSpPr txBox="1"/>
          <p:nvPr/>
        </p:nvSpPr>
        <p:spPr>
          <a:xfrm>
            <a:off x="6115050" y="4017752"/>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6B7280"/>
                </a:solidFill>
                <a:latin typeface="Lexend"/>
                <a:ea typeface="Lexend"/>
                <a:cs typeface="Lexend"/>
                <a:sym typeface="Lexend"/>
              </a:rPr>
              <a:t>10</a:t>
            </a:r>
            <a:r>
              <a:rPr b="0" lang="en" sz="600">
                <a:solidFill>
                  <a:srgbClr val="6B7280"/>
                </a:solidFill>
                <a:latin typeface="Lexend"/>
                <a:ea typeface="Lexend"/>
                <a:cs typeface="Lexend"/>
                <a:sym typeface="Lexend"/>
              </a:rPr>
              <a:t> → </a:t>
            </a:r>
            <a:r>
              <a:rPr lang="en" sz="600">
                <a:solidFill>
                  <a:srgbClr val="6B7280"/>
                </a:solidFill>
                <a:latin typeface="Lexend"/>
                <a:ea typeface="Lexend"/>
                <a:cs typeface="Lexend"/>
                <a:sym typeface="Lexend"/>
              </a:rPr>
              <a:t>9</a:t>
            </a:r>
            <a:endParaRPr sz="1100"/>
          </a:p>
        </p:txBody>
      </p:sp>
      <p:sp>
        <p:nvSpPr>
          <p:cNvPr id="797" name="Google Shape;797;p34"/>
          <p:cNvSpPr txBox="1"/>
          <p:nvPr/>
        </p:nvSpPr>
        <p:spPr>
          <a:xfrm>
            <a:off x="6965156" y="3994071"/>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75.0%</a:t>
            </a:r>
            <a:endParaRPr sz="1100"/>
          </a:p>
        </p:txBody>
      </p:sp>
      <p:sp>
        <p:nvSpPr>
          <p:cNvPr id="798" name="Google Shape;798;p34"/>
          <p:cNvSpPr txBox="1"/>
          <p:nvPr/>
        </p:nvSpPr>
        <p:spPr>
          <a:xfrm>
            <a:off x="7536656" y="3994071"/>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0E4174"/>
                </a:solidFill>
                <a:latin typeface="Lexend"/>
                <a:ea typeface="Lexend"/>
                <a:cs typeface="Lexend"/>
                <a:sym typeface="Lexend"/>
              </a:rPr>
              <a:t>60.0%</a:t>
            </a:r>
            <a:endParaRPr sz="1100"/>
          </a:p>
        </p:txBody>
      </p:sp>
      <p:sp>
        <p:nvSpPr>
          <p:cNvPr id="799" name="Google Shape;799;p34"/>
          <p:cNvSpPr txBox="1"/>
          <p:nvPr/>
        </p:nvSpPr>
        <p:spPr>
          <a:xfrm>
            <a:off x="8201025" y="3994071"/>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DC2626"/>
                </a:solidFill>
                <a:latin typeface="Lexend"/>
                <a:ea typeface="Lexend"/>
                <a:cs typeface="Lexend"/>
                <a:sym typeface="Lexend"/>
              </a:rPr>
              <a:t>-15.0</a:t>
            </a:r>
            <a:endParaRPr sz="1100"/>
          </a:p>
        </p:txBody>
      </p:sp>
      <p:sp>
        <p:nvSpPr>
          <p:cNvPr id="800" name="Google Shape;800;p34"/>
          <p:cNvSpPr/>
          <p:nvPr/>
        </p:nvSpPr>
        <p:spPr>
          <a:xfrm>
            <a:off x="5572125" y="4136231"/>
            <a:ext cx="3143400" cy="164400"/>
          </a:xfrm>
          <a:prstGeom prst="roundRect">
            <a:avLst>
              <a:gd fmla="val 26086"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1" name="Google Shape;801;p34"/>
          <p:cNvSpPr txBox="1"/>
          <p:nvPr/>
        </p:nvSpPr>
        <p:spPr>
          <a:xfrm>
            <a:off x="5657850" y="4158377"/>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B4531A"/>
                </a:solidFill>
                <a:latin typeface="Lexend"/>
                <a:ea typeface="Lexend"/>
                <a:cs typeface="Lexend"/>
                <a:sym typeface="Lexend"/>
              </a:rPr>
              <a:t>BIGZONE</a:t>
            </a:r>
            <a:endParaRPr sz="1100"/>
          </a:p>
        </p:txBody>
      </p:sp>
      <p:sp>
        <p:nvSpPr>
          <p:cNvPr id="802" name="Google Shape;802;p34"/>
          <p:cNvSpPr txBox="1"/>
          <p:nvPr/>
        </p:nvSpPr>
        <p:spPr>
          <a:xfrm>
            <a:off x="6115050" y="4185448"/>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E0641A"/>
                </a:solidFill>
                <a:latin typeface="Lexend"/>
                <a:ea typeface="Lexend"/>
                <a:cs typeface="Lexend"/>
                <a:sym typeface="Lexend"/>
              </a:rPr>
              <a:t>153 </a:t>
            </a:r>
            <a:r>
              <a:rPr b="0" lang="en" sz="600">
                <a:solidFill>
                  <a:srgbClr val="E0641A"/>
                </a:solidFill>
                <a:latin typeface="Lexend"/>
                <a:ea typeface="Lexend"/>
                <a:cs typeface="Lexend"/>
                <a:sym typeface="Lexend"/>
              </a:rPr>
              <a:t>→ 108</a:t>
            </a:r>
            <a:endParaRPr sz="1100"/>
          </a:p>
        </p:txBody>
      </p:sp>
      <p:sp>
        <p:nvSpPr>
          <p:cNvPr id="803" name="Google Shape;803;p34"/>
          <p:cNvSpPr txBox="1"/>
          <p:nvPr/>
        </p:nvSpPr>
        <p:spPr>
          <a:xfrm>
            <a:off x="6965156" y="4158377"/>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68.5%</a:t>
            </a:r>
            <a:endParaRPr sz="1100"/>
          </a:p>
        </p:txBody>
      </p:sp>
      <p:sp>
        <p:nvSpPr>
          <p:cNvPr id="804" name="Google Shape;804;p34"/>
          <p:cNvSpPr txBox="1"/>
          <p:nvPr/>
        </p:nvSpPr>
        <p:spPr>
          <a:xfrm>
            <a:off x="7536656" y="4158377"/>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B4531A"/>
                </a:solidFill>
                <a:latin typeface="Lexend"/>
                <a:ea typeface="Lexend"/>
                <a:cs typeface="Lexend"/>
                <a:sym typeface="Lexend"/>
              </a:rPr>
              <a:t>57.5%</a:t>
            </a:r>
            <a:endParaRPr sz="1100"/>
          </a:p>
        </p:txBody>
      </p:sp>
      <p:sp>
        <p:nvSpPr>
          <p:cNvPr id="805" name="Google Shape;805;p34"/>
          <p:cNvSpPr txBox="1"/>
          <p:nvPr/>
        </p:nvSpPr>
        <p:spPr>
          <a:xfrm>
            <a:off x="8201025" y="4158377"/>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DC2626"/>
                </a:solidFill>
                <a:latin typeface="Lexend"/>
                <a:ea typeface="Lexend"/>
                <a:cs typeface="Lexend"/>
                <a:sym typeface="Lexend"/>
              </a:rPr>
              <a:t>-11.0</a:t>
            </a:r>
            <a:endParaRPr sz="1100"/>
          </a:p>
        </p:txBody>
      </p:sp>
      <p:sp>
        <p:nvSpPr>
          <p:cNvPr id="806" name="Google Shape;806;p34"/>
          <p:cNvSpPr/>
          <p:nvPr/>
        </p:nvSpPr>
        <p:spPr>
          <a:xfrm>
            <a:off x="5572125" y="4300538"/>
            <a:ext cx="3143400" cy="164400"/>
          </a:xfrm>
          <a:prstGeom prst="roundRect">
            <a:avLst>
              <a:gd fmla="val 26086"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7" name="Google Shape;807;p34"/>
          <p:cNvSpPr txBox="1"/>
          <p:nvPr/>
        </p:nvSpPr>
        <p:spPr>
          <a:xfrm>
            <a:off x="5657850" y="4322684"/>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B4531A"/>
                </a:solidFill>
                <a:latin typeface="Lexend"/>
                <a:ea typeface="Lexend"/>
                <a:cs typeface="Lexend"/>
                <a:sym typeface="Lexend"/>
              </a:rPr>
              <a:t>Z24</a:t>
            </a:r>
            <a:endParaRPr sz="1100"/>
          </a:p>
        </p:txBody>
      </p:sp>
      <p:sp>
        <p:nvSpPr>
          <p:cNvPr id="808" name="Google Shape;808;p34"/>
          <p:cNvSpPr txBox="1"/>
          <p:nvPr/>
        </p:nvSpPr>
        <p:spPr>
          <a:xfrm>
            <a:off x="6115050" y="4335840"/>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E0641A"/>
                </a:solidFill>
                <a:latin typeface="Lexend"/>
                <a:ea typeface="Lexend"/>
                <a:cs typeface="Lexend"/>
                <a:sym typeface="Lexend"/>
              </a:rPr>
              <a:t>86</a:t>
            </a:r>
            <a:r>
              <a:rPr b="0" lang="en" sz="600">
                <a:solidFill>
                  <a:srgbClr val="E0641A"/>
                </a:solidFill>
                <a:latin typeface="Lexend"/>
                <a:ea typeface="Lexend"/>
                <a:cs typeface="Lexend"/>
                <a:sym typeface="Lexend"/>
              </a:rPr>
              <a:t> → </a:t>
            </a:r>
            <a:r>
              <a:rPr lang="en" sz="600">
                <a:solidFill>
                  <a:srgbClr val="E0641A"/>
                </a:solidFill>
                <a:latin typeface="Lexend"/>
                <a:ea typeface="Lexend"/>
                <a:cs typeface="Lexend"/>
                <a:sym typeface="Lexend"/>
              </a:rPr>
              <a:t>64</a:t>
            </a:r>
            <a:endParaRPr sz="1100"/>
          </a:p>
        </p:txBody>
      </p:sp>
      <p:sp>
        <p:nvSpPr>
          <p:cNvPr id="809" name="Google Shape;809;p34"/>
          <p:cNvSpPr txBox="1"/>
          <p:nvPr/>
        </p:nvSpPr>
        <p:spPr>
          <a:xfrm>
            <a:off x="6965156" y="432268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43.2%</a:t>
            </a:r>
            <a:endParaRPr sz="1100"/>
          </a:p>
        </p:txBody>
      </p:sp>
      <p:sp>
        <p:nvSpPr>
          <p:cNvPr id="810" name="Google Shape;810;p34"/>
          <p:cNvSpPr txBox="1"/>
          <p:nvPr/>
        </p:nvSpPr>
        <p:spPr>
          <a:xfrm>
            <a:off x="7536656" y="4322684"/>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B4531A"/>
                </a:solidFill>
                <a:latin typeface="Lexend"/>
                <a:ea typeface="Lexend"/>
                <a:cs typeface="Lexend"/>
                <a:sym typeface="Lexend"/>
              </a:rPr>
              <a:t>38.4%</a:t>
            </a:r>
            <a:endParaRPr sz="1100"/>
          </a:p>
        </p:txBody>
      </p:sp>
      <p:sp>
        <p:nvSpPr>
          <p:cNvPr id="811" name="Google Shape;811;p34"/>
          <p:cNvSpPr txBox="1"/>
          <p:nvPr/>
        </p:nvSpPr>
        <p:spPr>
          <a:xfrm>
            <a:off x="8201025" y="4322684"/>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 sz="600">
                <a:solidFill>
                  <a:srgbClr val="DC2626"/>
                </a:solidFill>
                <a:latin typeface="Lexend"/>
                <a:ea typeface="Lexend"/>
                <a:cs typeface="Lexend"/>
                <a:sym typeface="Lexend"/>
              </a:rPr>
              <a:t>-4.8</a:t>
            </a:r>
            <a:endParaRPr sz="1100"/>
          </a:p>
        </p:txBody>
      </p:sp>
      <p:sp>
        <p:nvSpPr>
          <p:cNvPr id="812" name="Google Shape;812;p34"/>
          <p:cNvSpPr/>
          <p:nvPr/>
        </p:nvSpPr>
        <p:spPr>
          <a:xfrm>
            <a:off x="5572125" y="4464844"/>
            <a:ext cx="3143400" cy="164400"/>
          </a:xfrm>
          <a:prstGeom prst="roundRect">
            <a:avLst>
              <a:gd fmla="val 26086"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3" name="Google Shape;813;p34"/>
          <p:cNvSpPr txBox="1"/>
          <p:nvPr/>
        </p:nvSpPr>
        <p:spPr>
          <a:xfrm>
            <a:off x="5657850" y="4486989"/>
            <a:ext cx="7860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B4531A"/>
                </a:solidFill>
                <a:latin typeface="Lexend"/>
                <a:ea typeface="Lexend"/>
                <a:cs typeface="Lexend"/>
                <a:sym typeface="Lexend"/>
              </a:rPr>
              <a:t>Z578</a:t>
            </a:r>
            <a:endParaRPr sz="1100"/>
          </a:p>
        </p:txBody>
      </p:sp>
      <p:sp>
        <p:nvSpPr>
          <p:cNvPr id="814" name="Google Shape;814;p34"/>
          <p:cNvSpPr txBox="1"/>
          <p:nvPr/>
        </p:nvSpPr>
        <p:spPr>
          <a:xfrm>
            <a:off x="6115050" y="4505408"/>
            <a:ext cx="7146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 sz="600">
                <a:solidFill>
                  <a:srgbClr val="E0641A"/>
                </a:solidFill>
                <a:latin typeface="Lexend"/>
                <a:ea typeface="Lexend"/>
                <a:cs typeface="Lexend"/>
                <a:sym typeface="Lexend"/>
              </a:rPr>
              <a:t>21</a:t>
            </a:r>
            <a:r>
              <a:rPr b="0" lang="en" sz="600">
                <a:solidFill>
                  <a:srgbClr val="E0641A"/>
                </a:solidFill>
                <a:latin typeface="Lexend"/>
                <a:ea typeface="Lexend"/>
                <a:cs typeface="Lexend"/>
                <a:sym typeface="Lexend"/>
              </a:rPr>
              <a:t> → </a:t>
            </a:r>
            <a:r>
              <a:rPr lang="en" sz="600">
                <a:solidFill>
                  <a:srgbClr val="E0641A"/>
                </a:solidFill>
                <a:latin typeface="Lexend"/>
                <a:ea typeface="Lexend"/>
                <a:cs typeface="Lexend"/>
                <a:sym typeface="Lexend"/>
              </a:rPr>
              <a:t>3</a:t>
            </a:r>
            <a:r>
              <a:rPr b="0" lang="en" sz="600">
                <a:solidFill>
                  <a:srgbClr val="E0641A"/>
                </a:solidFill>
                <a:latin typeface="Lexend"/>
                <a:ea typeface="Lexend"/>
                <a:cs typeface="Lexend"/>
                <a:sym typeface="Lexend"/>
              </a:rPr>
              <a:t>1</a:t>
            </a:r>
            <a:endParaRPr sz="1100"/>
          </a:p>
        </p:txBody>
      </p:sp>
      <p:sp>
        <p:nvSpPr>
          <p:cNvPr id="815" name="Google Shape;815;p34"/>
          <p:cNvSpPr txBox="1"/>
          <p:nvPr/>
        </p:nvSpPr>
        <p:spPr>
          <a:xfrm>
            <a:off x="6965156" y="448698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 sz="600">
                <a:solidFill>
                  <a:srgbClr val="374151"/>
                </a:solidFill>
                <a:latin typeface="Lexend"/>
                <a:ea typeface="Lexend"/>
                <a:cs typeface="Lexend"/>
                <a:sym typeface="Lexend"/>
              </a:rPr>
              <a:t>—</a:t>
            </a:r>
            <a:endParaRPr sz="1100"/>
          </a:p>
        </p:txBody>
      </p:sp>
      <p:sp>
        <p:nvSpPr>
          <p:cNvPr id="816" name="Google Shape;816;p34"/>
          <p:cNvSpPr txBox="1"/>
          <p:nvPr/>
        </p:nvSpPr>
        <p:spPr>
          <a:xfrm>
            <a:off x="7536656" y="4486989"/>
            <a:ext cx="500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B4531A"/>
                </a:solidFill>
                <a:latin typeface="Lexend"/>
                <a:ea typeface="Lexend"/>
                <a:cs typeface="Lexend"/>
                <a:sym typeface="Lexend"/>
              </a:rPr>
              <a:t>47.6%</a:t>
            </a:r>
            <a:endParaRPr sz="1100"/>
          </a:p>
        </p:txBody>
      </p:sp>
      <p:sp>
        <p:nvSpPr>
          <p:cNvPr id="817" name="Google Shape;817;p34"/>
          <p:cNvSpPr txBox="1"/>
          <p:nvPr/>
        </p:nvSpPr>
        <p:spPr>
          <a:xfrm>
            <a:off x="8201025" y="4486989"/>
            <a:ext cx="4287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 sz="600">
                <a:solidFill>
                  <a:srgbClr val="9CA3AF"/>
                </a:solidFill>
                <a:latin typeface="Lexend"/>
                <a:ea typeface="Lexend"/>
                <a:cs typeface="Lexend"/>
                <a:sym typeface="Lexend"/>
              </a:rPr>
              <a:t>n/a</a:t>
            </a:r>
            <a:endParaRPr sz="1100"/>
          </a:p>
        </p:txBody>
      </p:sp>
      <p:sp>
        <p:nvSpPr>
          <p:cNvPr id="818" name="Google Shape;818;p34"/>
          <p:cNvSpPr txBox="1"/>
          <p:nvPr/>
        </p:nvSpPr>
        <p:spPr>
          <a:xfrm>
            <a:off x="5657850" y="4655903"/>
            <a:ext cx="30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9CA3AF"/>
                </a:solidFill>
                <a:latin typeface="Lexend"/>
                <a:ea typeface="Lexend"/>
                <a:cs typeface="Lexend"/>
                <a:sym typeface="Lexend"/>
              </a:rPr>
              <a:t>Base = active tháng trước (mẫu số retention)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3" name="Shape 823"/>
        <p:cNvGrpSpPr/>
        <p:nvPr/>
      </p:nvGrpSpPr>
      <p:grpSpPr>
        <a:xfrm>
          <a:off x="0" y="0"/>
          <a:ext cx="0" cy="0"/>
          <a:chOff x="0" y="0"/>
          <a:chExt cx="0" cy="0"/>
        </a:xfrm>
      </p:grpSpPr>
      <p:sp>
        <p:nvSpPr>
          <p:cNvPr id="824" name="Google Shape;824;p35"/>
          <p:cNvSpPr/>
          <p:nvPr/>
        </p:nvSpPr>
        <p:spPr>
          <a:xfrm>
            <a:off x="5591175" y="1871663"/>
            <a:ext cx="3286200" cy="2207400"/>
          </a:xfrm>
          <a:prstGeom prst="roundRect">
            <a:avLst>
              <a:gd fmla="val 386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5" name="Google Shape;825;p35"/>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6" name="Google Shape;826;p35"/>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NEXT ACTION</a:t>
            </a:r>
            <a:endParaRPr sz="1100"/>
          </a:p>
        </p:txBody>
      </p:sp>
      <p:sp>
        <p:nvSpPr>
          <p:cNvPr id="827" name="Google Shape;827;p35"/>
          <p:cNvSpPr txBox="1"/>
          <p:nvPr/>
        </p:nvSpPr>
        <p:spPr>
          <a:xfrm>
            <a:off x="500063" y="528209"/>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HAN đang giảm mạnh, HCM tăng nhưng chưa kéo được coverage lên tương ứng</a:t>
            </a:r>
            <a:endParaRPr b="1" sz="1100"/>
          </a:p>
        </p:txBody>
      </p:sp>
      <p:sp>
        <p:nvSpPr>
          <p:cNvPr id="828" name="Google Shape;828;p35"/>
          <p:cNvSpPr/>
          <p:nvPr/>
        </p:nvSpPr>
        <p:spPr>
          <a:xfrm>
            <a:off x="7600950" y="300038"/>
            <a:ext cx="12003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9" name="Google Shape;829;p35"/>
          <p:cNvSpPr txBox="1"/>
          <p:nvPr/>
        </p:nvSpPr>
        <p:spPr>
          <a:xfrm>
            <a:off x="7600950" y="349616"/>
            <a:ext cx="1200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E0641A"/>
                </a:solidFill>
                <a:latin typeface="Lexend"/>
                <a:ea typeface="Lexend"/>
                <a:cs typeface="Lexend"/>
                <a:sym typeface="Lexend"/>
              </a:rPr>
              <a:t>T8 vs T7</a:t>
            </a:r>
            <a:endParaRPr sz="1100"/>
          </a:p>
        </p:txBody>
      </p:sp>
      <p:sp>
        <p:nvSpPr>
          <p:cNvPr id="830" name="Google Shape;830;p35"/>
          <p:cNvSpPr/>
          <p:nvPr/>
        </p:nvSpPr>
        <p:spPr>
          <a:xfrm>
            <a:off x="596250" y="921538"/>
            <a:ext cx="2028900" cy="786000"/>
          </a:xfrm>
          <a:prstGeom prst="roundRect">
            <a:avLst>
              <a:gd fmla="val 14545"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1" name="Google Shape;831;p35"/>
          <p:cNvSpPr txBox="1"/>
          <p:nvPr/>
        </p:nvSpPr>
        <p:spPr>
          <a:xfrm>
            <a:off x="767700" y="1010513"/>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HAN · ACTIVE TH8 (TB TUẦN)</a:t>
            </a:r>
            <a:endParaRPr sz="1100"/>
          </a:p>
        </p:txBody>
      </p:sp>
      <p:sp>
        <p:nvSpPr>
          <p:cNvPr id="832" name="Google Shape;832;p35"/>
          <p:cNvSpPr txBox="1"/>
          <p:nvPr/>
        </p:nvSpPr>
        <p:spPr>
          <a:xfrm>
            <a:off x="767700" y="1124849"/>
            <a:ext cx="17859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DC2626"/>
                </a:solidFill>
                <a:latin typeface="Lexend"/>
                <a:ea typeface="Lexend"/>
                <a:cs typeface="Lexend"/>
                <a:sym typeface="Lexend"/>
              </a:rPr>
              <a:t>221.3</a:t>
            </a:r>
            <a:endParaRPr sz="1100"/>
          </a:p>
        </p:txBody>
      </p:sp>
      <p:sp>
        <p:nvSpPr>
          <p:cNvPr id="833" name="Google Shape;833;p35"/>
          <p:cNvSpPr txBox="1"/>
          <p:nvPr/>
        </p:nvSpPr>
        <p:spPr>
          <a:xfrm>
            <a:off x="767700" y="1424851"/>
            <a:ext cx="17859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374151"/>
                </a:solidFill>
                <a:latin typeface="Lexend"/>
                <a:ea typeface="Lexend"/>
                <a:cs typeface="Lexend"/>
                <a:sym typeface="Lexend"/>
              </a:rPr>
              <a:t>Active giảm dần trong giai đoạn tháng 8 và chưa có dấu hiệu bật lại </a:t>
            </a:r>
            <a:endParaRPr sz="1100"/>
          </a:p>
        </p:txBody>
      </p:sp>
      <p:sp>
        <p:nvSpPr>
          <p:cNvPr id="834" name="Google Shape;834;p35"/>
          <p:cNvSpPr/>
          <p:nvPr/>
        </p:nvSpPr>
        <p:spPr>
          <a:xfrm>
            <a:off x="3521775" y="887263"/>
            <a:ext cx="2028900" cy="786000"/>
          </a:xfrm>
          <a:prstGeom prst="roundRect">
            <a:avLst>
              <a:gd fmla="val 14545"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5" name="Google Shape;835;p35"/>
          <p:cNvSpPr txBox="1"/>
          <p:nvPr/>
        </p:nvSpPr>
        <p:spPr>
          <a:xfrm>
            <a:off x="3693225" y="976238"/>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HAN · COVERAGE T8</a:t>
            </a:r>
            <a:endParaRPr sz="1100"/>
          </a:p>
        </p:txBody>
      </p:sp>
      <p:sp>
        <p:nvSpPr>
          <p:cNvPr id="836" name="Google Shape;836;p35"/>
          <p:cNvSpPr txBox="1"/>
          <p:nvPr/>
        </p:nvSpPr>
        <p:spPr>
          <a:xfrm>
            <a:off x="3693225" y="1090574"/>
            <a:ext cx="17859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DC2626"/>
                </a:solidFill>
                <a:latin typeface="Lexend"/>
                <a:ea typeface="Lexend"/>
                <a:cs typeface="Lexend"/>
                <a:sym typeface="Lexend"/>
              </a:rPr>
              <a:t>14.38%</a:t>
            </a:r>
            <a:endParaRPr sz="1100"/>
          </a:p>
        </p:txBody>
      </p:sp>
      <p:sp>
        <p:nvSpPr>
          <p:cNvPr id="837" name="Google Shape;837;p35"/>
          <p:cNvSpPr txBox="1"/>
          <p:nvPr/>
        </p:nvSpPr>
        <p:spPr>
          <a:xfrm>
            <a:off x="3693225" y="1390576"/>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−1.12 pp so với T7 (15.49%)</a:t>
            </a:r>
            <a:endParaRPr sz="1100"/>
          </a:p>
        </p:txBody>
      </p:sp>
      <p:sp>
        <p:nvSpPr>
          <p:cNvPr id="838" name="Google Shape;838;p35"/>
          <p:cNvSpPr txBox="1"/>
          <p:nvPr/>
        </p:nvSpPr>
        <p:spPr>
          <a:xfrm>
            <a:off x="3693225" y="1504876"/>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Chỉ còn ~53% mức của SGN</a:t>
            </a:r>
            <a:endParaRPr sz="1100"/>
          </a:p>
        </p:txBody>
      </p:sp>
      <p:sp>
        <p:nvSpPr>
          <p:cNvPr id="839" name="Google Shape;839;p35"/>
          <p:cNvSpPr/>
          <p:nvPr/>
        </p:nvSpPr>
        <p:spPr>
          <a:xfrm>
            <a:off x="6518850" y="930125"/>
            <a:ext cx="2028900" cy="786000"/>
          </a:xfrm>
          <a:prstGeom prst="roundRect">
            <a:avLst>
              <a:gd fmla="val 14545"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0" name="Google Shape;840;p35"/>
          <p:cNvSpPr txBox="1"/>
          <p:nvPr/>
        </p:nvSpPr>
        <p:spPr>
          <a:xfrm>
            <a:off x="6690300" y="1019101"/>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HAN · RETENTION T8</a:t>
            </a:r>
            <a:endParaRPr sz="1100"/>
          </a:p>
        </p:txBody>
      </p:sp>
      <p:sp>
        <p:nvSpPr>
          <p:cNvPr id="841" name="Google Shape;841;p35"/>
          <p:cNvSpPr txBox="1"/>
          <p:nvPr/>
        </p:nvSpPr>
        <p:spPr>
          <a:xfrm>
            <a:off x="6690300" y="1133437"/>
            <a:ext cx="17859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DC2626"/>
                </a:solidFill>
                <a:latin typeface="Lexend"/>
                <a:ea typeface="Lexend"/>
                <a:cs typeface="Lexend"/>
                <a:sym typeface="Lexend"/>
              </a:rPr>
              <a:t>62.71%</a:t>
            </a:r>
            <a:endParaRPr sz="1100"/>
          </a:p>
        </p:txBody>
      </p:sp>
      <p:sp>
        <p:nvSpPr>
          <p:cNvPr id="842" name="Google Shape;842;p35"/>
          <p:cNvSpPr txBox="1"/>
          <p:nvPr/>
        </p:nvSpPr>
        <p:spPr>
          <a:xfrm>
            <a:off x="6690300" y="1433438"/>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−3.86 pp · giảm 3 tháng liên tiếp</a:t>
            </a:r>
            <a:endParaRPr sz="1100"/>
          </a:p>
        </p:txBody>
      </p:sp>
      <p:sp>
        <p:nvSpPr>
          <p:cNvPr id="843" name="Google Shape;843;p35"/>
          <p:cNvSpPr txBox="1"/>
          <p:nvPr/>
        </p:nvSpPr>
        <p:spPr>
          <a:xfrm>
            <a:off x="6690300" y="1547738"/>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6B7280"/>
                </a:solidFill>
                <a:latin typeface="Lexend"/>
                <a:ea typeface="Lexend"/>
                <a:cs typeface="Lexend"/>
                <a:sym typeface="Lexend"/>
              </a:rPr>
              <a:t>Nhưng 5/9 zone thực ra cải thiện</a:t>
            </a:r>
            <a:endParaRPr sz="1100"/>
          </a:p>
        </p:txBody>
      </p:sp>
      <p:sp>
        <p:nvSpPr>
          <p:cNvPr id="844" name="Google Shape;844;p35"/>
          <p:cNvSpPr/>
          <p:nvPr/>
        </p:nvSpPr>
        <p:spPr>
          <a:xfrm>
            <a:off x="342900" y="1871663"/>
            <a:ext cx="5000700" cy="707400"/>
          </a:xfrm>
          <a:prstGeom prst="roundRect">
            <a:avLst>
              <a:gd fmla="val 14141"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5" name="Google Shape;845;p35"/>
          <p:cNvSpPr/>
          <p:nvPr/>
        </p:nvSpPr>
        <p:spPr>
          <a:xfrm>
            <a:off x="492919" y="1993106"/>
            <a:ext cx="185700" cy="1857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6" name="Google Shape;846;p35"/>
          <p:cNvSpPr txBox="1"/>
          <p:nvPr/>
        </p:nvSpPr>
        <p:spPr>
          <a:xfrm>
            <a:off x="442913" y="1997285"/>
            <a:ext cx="2859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FFFFFF"/>
                </a:solidFill>
                <a:latin typeface="Lexend"/>
                <a:ea typeface="Lexend"/>
                <a:cs typeface="Lexend"/>
                <a:sym typeface="Lexend"/>
              </a:rPr>
              <a:t>1</a:t>
            </a:r>
            <a:endParaRPr sz="1100"/>
          </a:p>
        </p:txBody>
      </p:sp>
      <p:sp>
        <p:nvSpPr>
          <p:cNvPr id="847" name="Google Shape;847;p35"/>
          <p:cNvSpPr txBox="1"/>
          <p:nvPr/>
        </p:nvSpPr>
        <p:spPr>
          <a:xfrm>
            <a:off x="771525" y="1951887"/>
            <a:ext cx="44292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HAN đang giảm theo từng đợt, cần tìm đúng điểm gãy</a:t>
            </a:r>
            <a:endParaRPr sz="1100"/>
          </a:p>
        </p:txBody>
      </p:sp>
      <p:sp>
        <p:nvSpPr>
          <p:cNvPr id="848" name="Google Shape;848;p35"/>
          <p:cNvSpPr txBox="1"/>
          <p:nvPr/>
        </p:nvSpPr>
        <p:spPr>
          <a:xfrm>
            <a:off x="771525" y="2129324"/>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Active gi</a:t>
            </a:r>
            <a:r>
              <a:rPr lang="en" sz="600">
                <a:solidFill>
                  <a:srgbClr val="374151"/>
                </a:solidFill>
                <a:latin typeface="Lexend"/>
                <a:ea typeface="Lexend"/>
                <a:cs typeface="Lexend"/>
                <a:sym typeface="Lexend"/>
              </a:rPr>
              <a:t>ảm </a:t>
            </a:r>
            <a:r>
              <a:rPr b="0" lang="en" sz="600">
                <a:solidFill>
                  <a:srgbClr val="374151"/>
                </a:solidFill>
                <a:latin typeface="Lexend"/>
                <a:ea typeface="Lexend"/>
                <a:cs typeface="Lexend"/>
                <a:sym typeface="Lexend"/>
              </a:rPr>
              <a:t>−13.6%, coverage −1.12 pp, retention rơi tháng thứ 3 liên tiếp (70.3% →</a:t>
            </a:r>
            <a:endParaRPr sz="1100"/>
          </a:p>
        </p:txBody>
      </p:sp>
      <p:sp>
        <p:nvSpPr>
          <p:cNvPr id="849" name="Google Shape;849;p35"/>
          <p:cNvSpPr txBox="1"/>
          <p:nvPr/>
        </p:nvSpPr>
        <p:spPr>
          <a:xfrm>
            <a:off x="771525" y="2257911"/>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66.6% → 62.7%). Ba chỉ số cùng chiều xấu → nguyên nhân ở giữ chân supply.</a:t>
            </a:r>
            <a:endParaRPr sz="1100"/>
          </a:p>
        </p:txBody>
      </p:sp>
      <p:sp>
        <p:nvSpPr>
          <p:cNvPr id="850" name="Google Shape;850;p35"/>
          <p:cNvSpPr txBox="1"/>
          <p:nvPr/>
        </p:nvSpPr>
        <p:spPr>
          <a:xfrm>
            <a:off x="771525" y="2386499"/>
            <a:ext cx="4500600" cy="169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t/>
            </a:r>
            <a:endParaRPr sz="1100"/>
          </a:p>
        </p:txBody>
      </p:sp>
      <p:sp>
        <p:nvSpPr>
          <p:cNvPr id="851" name="Google Shape;851;p35"/>
          <p:cNvSpPr/>
          <p:nvPr/>
        </p:nvSpPr>
        <p:spPr>
          <a:xfrm>
            <a:off x="342900" y="2621756"/>
            <a:ext cx="5000700" cy="707400"/>
          </a:xfrm>
          <a:prstGeom prst="roundRect">
            <a:avLst>
              <a:gd fmla="val 14141"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2" name="Google Shape;852;p35"/>
          <p:cNvSpPr/>
          <p:nvPr/>
        </p:nvSpPr>
        <p:spPr>
          <a:xfrm>
            <a:off x="492919" y="2743200"/>
            <a:ext cx="185700" cy="1857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3" name="Google Shape;853;p35"/>
          <p:cNvSpPr txBox="1"/>
          <p:nvPr/>
        </p:nvSpPr>
        <p:spPr>
          <a:xfrm>
            <a:off x="442913" y="2747379"/>
            <a:ext cx="2859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FFFFFF"/>
                </a:solidFill>
                <a:latin typeface="Lexend"/>
                <a:ea typeface="Lexend"/>
                <a:cs typeface="Lexend"/>
                <a:sym typeface="Lexend"/>
              </a:rPr>
              <a:t>2</a:t>
            </a:r>
            <a:endParaRPr sz="1100"/>
          </a:p>
        </p:txBody>
      </p:sp>
      <p:sp>
        <p:nvSpPr>
          <p:cNvPr id="854" name="Google Shape;854;p35"/>
          <p:cNvSpPr txBox="1"/>
          <p:nvPr/>
        </p:nvSpPr>
        <p:spPr>
          <a:xfrm>
            <a:off x="771525" y="2701981"/>
            <a:ext cx="44292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Ba zone “lớn nhưng loãng” của HAN kéo xuống nhiều nhất</a:t>
            </a:r>
            <a:endParaRPr sz="1100"/>
          </a:p>
        </p:txBody>
      </p:sp>
      <p:sp>
        <p:nvSpPr>
          <p:cNvPr id="855" name="Google Shape;855;p35"/>
          <p:cNvSpPr txBox="1"/>
          <p:nvPr/>
        </p:nvSpPr>
        <p:spPr>
          <a:xfrm>
            <a:off x="771525" y="2879417"/>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BIGZONE (ret. 57.5%, cov. ~3%, active −18%) và Z24 (ret. 38.4% — thấp nhất hệ thống) là hai zone tệ</a:t>
            </a:r>
            <a:endParaRPr sz="1100"/>
          </a:p>
        </p:txBody>
      </p:sp>
      <p:sp>
        <p:nvSpPr>
          <p:cNvPr id="856" name="Google Shape;856;p35"/>
          <p:cNvSpPr txBox="1"/>
          <p:nvPr/>
        </p:nvSpPr>
        <p:spPr>
          <a:xfrm>
            <a:off x="771525" y="3008005"/>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nhất; Z578 lặp lại đúng lỗi đó: zone mới, active +53% mà coverage vẫn ~6–8%. Ba zone chiếm 57% TX.</a:t>
            </a:r>
            <a:endParaRPr sz="1100"/>
          </a:p>
        </p:txBody>
      </p:sp>
      <p:sp>
        <p:nvSpPr>
          <p:cNvPr id="857" name="Google Shape;857;p35"/>
          <p:cNvSpPr/>
          <p:nvPr/>
        </p:nvSpPr>
        <p:spPr>
          <a:xfrm>
            <a:off x="342900" y="3371850"/>
            <a:ext cx="5000700" cy="707400"/>
          </a:xfrm>
          <a:prstGeom prst="roundRect">
            <a:avLst>
              <a:gd fmla="val 14141"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8" name="Google Shape;858;p35"/>
          <p:cNvSpPr/>
          <p:nvPr/>
        </p:nvSpPr>
        <p:spPr>
          <a:xfrm>
            <a:off x="492919" y="3493294"/>
            <a:ext cx="185700" cy="185700"/>
          </a:xfrm>
          <a:prstGeom prst="ellipse">
            <a:avLst/>
          </a:prstGeom>
          <a:solidFill>
            <a:srgbClr val="0E41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9" name="Google Shape;859;p35"/>
          <p:cNvSpPr txBox="1"/>
          <p:nvPr/>
        </p:nvSpPr>
        <p:spPr>
          <a:xfrm>
            <a:off x="442913" y="3497473"/>
            <a:ext cx="2859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FFFFFF"/>
                </a:solidFill>
                <a:latin typeface="Lexend"/>
                <a:ea typeface="Lexend"/>
                <a:cs typeface="Lexend"/>
                <a:sym typeface="Lexend"/>
              </a:rPr>
              <a:t>3</a:t>
            </a:r>
            <a:endParaRPr sz="1100"/>
          </a:p>
        </p:txBody>
      </p:sp>
      <p:sp>
        <p:nvSpPr>
          <p:cNvPr id="860" name="Google Shape;860;p35"/>
          <p:cNvSpPr txBox="1"/>
          <p:nvPr/>
        </p:nvSpPr>
        <p:spPr>
          <a:xfrm>
            <a:off x="771525" y="3452075"/>
            <a:ext cx="44292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SGN tăng active nhưng coverage chưa tăng tương ứng</a:t>
            </a:r>
            <a:endParaRPr sz="1100"/>
          </a:p>
        </p:txBody>
      </p:sp>
      <p:sp>
        <p:nvSpPr>
          <p:cNvPr id="861" name="Google Shape;861;p35"/>
          <p:cNvSpPr txBox="1"/>
          <p:nvPr/>
        </p:nvSpPr>
        <p:spPr>
          <a:xfrm>
            <a:off x="771525" y="3629511"/>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Active +9.0% với 5/6 zone tăng, nhưng coverage chỉ +1.20 pp. Rõ nhất là ZONE_4: active +15%</a:t>
            </a:r>
            <a:endParaRPr sz="1100"/>
          </a:p>
        </p:txBody>
      </p:sp>
      <p:sp>
        <p:nvSpPr>
          <p:cNvPr id="862" name="Google Shape;862;p35"/>
          <p:cNvSpPr txBox="1"/>
          <p:nvPr/>
        </p:nvSpPr>
        <p:spPr>
          <a:xfrm>
            <a:off x="771525" y="3758099"/>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(26.8 → 30.8) mà coverage vẫn tụt 17.67% → 15.72% — thêm người </a:t>
            </a:r>
            <a:r>
              <a:rPr lang="en" sz="600">
                <a:solidFill>
                  <a:srgbClr val="374151"/>
                </a:solidFill>
                <a:latin typeface="Lexend"/>
                <a:ea typeface="Lexend"/>
                <a:cs typeface="Lexend"/>
                <a:sym typeface="Lexend"/>
              </a:rPr>
              <a:t>nhưng không tăng</a:t>
            </a:r>
            <a:r>
              <a:rPr b="0" lang="en" sz="600">
                <a:solidFill>
                  <a:srgbClr val="374151"/>
                </a:solidFill>
                <a:latin typeface="Lexend"/>
                <a:ea typeface="Lexend"/>
                <a:cs typeface="Lexend"/>
                <a:sym typeface="Lexend"/>
              </a:rPr>
              <a:t> độ phủ.</a:t>
            </a:r>
            <a:endParaRPr sz="1100"/>
          </a:p>
        </p:txBody>
      </p:sp>
      <p:sp>
        <p:nvSpPr>
          <p:cNvPr id="863" name="Google Shape;863;p35"/>
          <p:cNvSpPr txBox="1"/>
          <p:nvPr/>
        </p:nvSpPr>
        <p:spPr>
          <a:xfrm>
            <a:off x="771525" y="3886686"/>
            <a:ext cx="45006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 sz="600">
                <a:solidFill>
                  <a:srgbClr val="374151"/>
                </a:solidFill>
                <a:latin typeface="Lexend"/>
                <a:ea typeface="Lexend"/>
                <a:cs typeface="Lexend"/>
                <a:sym typeface="Lexend"/>
              </a:rPr>
              <a:t>Cần </a:t>
            </a:r>
            <a:r>
              <a:rPr lang="en" sz="600">
                <a:solidFill>
                  <a:srgbClr val="374151"/>
                </a:solidFill>
                <a:latin typeface="Lexend"/>
                <a:ea typeface="Lexend"/>
                <a:cs typeface="Lexend"/>
                <a:sym typeface="Lexend"/>
              </a:rPr>
              <a:t>xem xét </a:t>
            </a:r>
            <a:r>
              <a:rPr b="0" lang="en" sz="600">
                <a:solidFill>
                  <a:srgbClr val="374151"/>
                </a:solidFill>
                <a:latin typeface="Lexend"/>
                <a:ea typeface="Lexend"/>
                <a:cs typeface="Lexend"/>
                <a:sym typeface="Lexend"/>
              </a:rPr>
              <a:t> lại phân bổ ca / khu vực ở </a:t>
            </a:r>
            <a:r>
              <a:rPr lang="en" sz="600">
                <a:solidFill>
                  <a:srgbClr val="374151"/>
                </a:solidFill>
                <a:latin typeface="Lexend"/>
                <a:ea typeface="Lexend"/>
                <a:cs typeface="Lexend"/>
                <a:sym typeface="Lexend"/>
              </a:rPr>
              <a:t>SGN</a:t>
            </a:r>
            <a:r>
              <a:rPr b="0" lang="en" sz="600">
                <a:solidFill>
                  <a:srgbClr val="374151"/>
                </a:solidFill>
                <a:latin typeface="Lexend"/>
                <a:ea typeface="Lexend"/>
                <a:cs typeface="Lexend"/>
                <a:sym typeface="Lexend"/>
              </a:rPr>
              <a:t> trước khi tuyển thêm.</a:t>
            </a:r>
            <a:endParaRPr sz="1100"/>
          </a:p>
        </p:txBody>
      </p:sp>
      <p:sp>
        <p:nvSpPr>
          <p:cNvPr id="864" name="Google Shape;864;p35"/>
          <p:cNvSpPr/>
          <p:nvPr/>
        </p:nvSpPr>
        <p:spPr>
          <a:xfrm>
            <a:off x="5715000" y="2057400"/>
            <a:ext cx="28500" cy="128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5" name="Google Shape;865;p35"/>
          <p:cNvSpPr txBox="1"/>
          <p:nvPr/>
        </p:nvSpPr>
        <p:spPr>
          <a:xfrm>
            <a:off x="5815013" y="2037612"/>
            <a:ext cx="21432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0E4174"/>
                </a:solidFill>
                <a:latin typeface="Lexend"/>
                <a:ea typeface="Lexend"/>
                <a:cs typeface="Lexend"/>
                <a:sym typeface="Lexend"/>
              </a:rPr>
              <a:t>ĐỀ XUẤT HÀNH ĐỘNG</a:t>
            </a:r>
            <a:endParaRPr sz="1100"/>
          </a:p>
        </p:txBody>
      </p:sp>
      <p:sp>
        <p:nvSpPr>
          <p:cNvPr id="866" name="Google Shape;866;p35"/>
          <p:cNvSpPr/>
          <p:nvPr/>
        </p:nvSpPr>
        <p:spPr>
          <a:xfrm>
            <a:off x="5721800" y="2266419"/>
            <a:ext cx="143100" cy="143100"/>
          </a:xfrm>
          <a:prstGeom prst="ellipse">
            <a:avLst/>
          </a:prstGeom>
          <a:solidFill>
            <a:srgbClr val="F7F9FC"/>
          </a:solidFill>
          <a:ln cap="flat" cmpd="sng" w="7150">
            <a:solidFill>
              <a:srgbClr val="FFD9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7" name="Google Shape;867;p35"/>
          <p:cNvSpPr txBox="1"/>
          <p:nvPr/>
        </p:nvSpPr>
        <p:spPr>
          <a:xfrm>
            <a:off x="5686081" y="2292276"/>
            <a:ext cx="2145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1</a:t>
            </a:r>
            <a:endParaRPr sz="1100"/>
          </a:p>
        </p:txBody>
      </p:sp>
      <p:sp>
        <p:nvSpPr>
          <p:cNvPr id="868" name="Google Shape;868;p35"/>
          <p:cNvSpPr txBox="1"/>
          <p:nvPr/>
        </p:nvSpPr>
        <p:spPr>
          <a:xfrm>
            <a:off x="5950400" y="2257918"/>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374151"/>
                </a:solidFill>
                <a:latin typeface="Lexend"/>
                <a:ea typeface="Lexend"/>
                <a:cs typeface="Lexend"/>
                <a:sym typeface="Lexend"/>
              </a:rPr>
              <a:t>Tìm nguyên nhân khiến HAN giảm từ 10/08</a:t>
            </a:r>
            <a:endParaRPr sz="1100"/>
          </a:p>
        </p:txBody>
      </p:sp>
      <p:sp>
        <p:nvSpPr>
          <p:cNvPr id="869" name="Google Shape;869;p35"/>
          <p:cNvSpPr txBox="1"/>
          <p:nvPr/>
        </p:nvSpPr>
        <p:spPr>
          <a:xfrm>
            <a:off x="5950400" y="2372218"/>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C</a:t>
            </a:r>
            <a:r>
              <a:rPr b="0" lang="en" sz="600">
                <a:solidFill>
                  <a:srgbClr val="6B7280"/>
                </a:solidFill>
                <a:latin typeface="Lexend"/>
                <a:ea typeface="Lexend"/>
                <a:cs typeface="Lexend"/>
                <a:sym typeface="Lexend"/>
              </a:rPr>
              <a:t>hính sách? thưởng? ca?</a:t>
            </a:r>
            <a:r>
              <a:rPr lang="en" sz="600">
                <a:solidFill>
                  <a:srgbClr val="6B7280"/>
                </a:solidFill>
                <a:latin typeface="Lexend"/>
                <a:ea typeface="Lexend"/>
                <a:cs typeface="Lexend"/>
                <a:sym typeface="Lexend"/>
              </a:rPr>
              <a:t>... để xác định điểm gãy</a:t>
            </a:r>
            <a:endParaRPr sz="1100"/>
          </a:p>
        </p:txBody>
      </p:sp>
      <p:sp>
        <p:nvSpPr>
          <p:cNvPr id="870" name="Google Shape;870;p35"/>
          <p:cNvSpPr/>
          <p:nvPr/>
        </p:nvSpPr>
        <p:spPr>
          <a:xfrm>
            <a:off x="8164963" y="2509485"/>
            <a:ext cx="443100" cy="142500"/>
          </a:xfrm>
          <a:prstGeom prst="roundRect">
            <a:avLst>
              <a:gd fmla="val 50000" name="adj"/>
            </a:avLst>
          </a:prstGeom>
          <a:solidFill>
            <a:srgbClr val="FEE2E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1" name="Google Shape;871;p35"/>
          <p:cNvSpPr txBox="1"/>
          <p:nvPr/>
        </p:nvSpPr>
        <p:spPr>
          <a:xfrm>
            <a:off x="8164963" y="2517629"/>
            <a:ext cx="443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DC2626"/>
                </a:solidFill>
                <a:latin typeface="Lexend"/>
                <a:ea typeface="Lexend"/>
                <a:cs typeface="Lexend"/>
                <a:sym typeface="Lexend"/>
              </a:rPr>
              <a:t>CAO NHẤT</a:t>
            </a:r>
            <a:endParaRPr sz="1100"/>
          </a:p>
        </p:txBody>
      </p:sp>
      <p:sp>
        <p:nvSpPr>
          <p:cNvPr id="872" name="Google Shape;872;p35"/>
          <p:cNvSpPr/>
          <p:nvPr/>
        </p:nvSpPr>
        <p:spPr>
          <a:xfrm>
            <a:off x="5721800" y="2648609"/>
            <a:ext cx="28860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3" name="Google Shape;873;p35"/>
          <p:cNvSpPr/>
          <p:nvPr/>
        </p:nvSpPr>
        <p:spPr>
          <a:xfrm>
            <a:off x="5721800" y="2687900"/>
            <a:ext cx="143100" cy="143100"/>
          </a:xfrm>
          <a:prstGeom prst="ellipse">
            <a:avLst/>
          </a:prstGeom>
          <a:solidFill>
            <a:srgbClr val="F7F9FC"/>
          </a:solidFill>
          <a:ln cap="flat" cmpd="sng" w="7150">
            <a:solidFill>
              <a:srgbClr val="FFD9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4" name="Google Shape;874;p35"/>
          <p:cNvSpPr txBox="1"/>
          <p:nvPr/>
        </p:nvSpPr>
        <p:spPr>
          <a:xfrm>
            <a:off x="5686081" y="2713757"/>
            <a:ext cx="2145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2</a:t>
            </a:r>
            <a:endParaRPr sz="1100"/>
          </a:p>
        </p:txBody>
      </p:sp>
      <p:sp>
        <p:nvSpPr>
          <p:cNvPr id="875" name="Google Shape;875;p35"/>
          <p:cNvSpPr txBox="1"/>
          <p:nvPr/>
        </p:nvSpPr>
        <p:spPr>
          <a:xfrm>
            <a:off x="5950400" y="2679399"/>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374151"/>
                </a:solidFill>
                <a:latin typeface="Lexend"/>
                <a:ea typeface="Lexend"/>
                <a:cs typeface="Lexend"/>
                <a:sym typeface="Lexend"/>
              </a:rPr>
              <a:t>Rà soát Z24 (ret. 38.4%) và Z5-TX</a:t>
            </a:r>
            <a:endParaRPr sz="1100"/>
          </a:p>
        </p:txBody>
      </p:sp>
      <p:sp>
        <p:nvSpPr>
          <p:cNvPr id="876" name="Google Shape;876;p35"/>
          <p:cNvSpPr txBox="1"/>
          <p:nvPr/>
        </p:nvSpPr>
        <p:spPr>
          <a:xfrm>
            <a:off x="5950400" y="2793699"/>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Ưu tiên nhóm có retention thấp / active giảm mạnh</a:t>
            </a:r>
            <a:endParaRPr sz="1100"/>
          </a:p>
        </p:txBody>
      </p:sp>
      <p:sp>
        <p:nvSpPr>
          <p:cNvPr id="877" name="Google Shape;877;p35"/>
          <p:cNvSpPr/>
          <p:nvPr/>
        </p:nvSpPr>
        <p:spPr>
          <a:xfrm>
            <a:off x="8164963" y="2930966"/>
            <a:ext cx="443100" cy="1425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8" name="Google Shape;878;p35"/>
          <p:cNvSpPr txBox="1"/>
          <p:nvPr/>
        </p:nvSpPr>
        <p:spPr>
          <a:xfrm>
            <a:off x="8164963" y="2939110"/>
            <a:ext cx="443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CAO</a:t>
            </a:r>
            <a:endParaRPr sz="1100"/>
          </a:p>
        </p:txBody>
      </p:sp>
      <p:sp>
        <p:nvSpPr>
          <p:cNvPr id="879" name="Google Shape;879;p35"/>
          <p:cNvSpPr/>
          <p:nvPr/>
        </p:nvSpPr>
        <p:spPr>
          <a:xfrm>
            <a:off x="5721800" y="3070091"/>
            <a:ext cx="28860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0" name="Google Shape;880;p35"/>
          <p:cNvSpPr/>
          <p:nvPr/>
        </p:nvSpPr>
        <p:spPr>
          <a:xfrm>
            <a:off x="5721800" y="3109381"/>
            <a:ext cx="143100" cy="143100"/>
          </a:xfrm>
          <a:prstGeom prst="ellipse">
            <a:avLst/>
          </a:prstGeom>
          <a:solidFill>
            <a:srgbClr val="F7F9FC"/>
          </a:solidFill>
          <a:ln cap="flat" cmpd="sng" w="7150">
            <a:solidFill>
              <a:srgbClr val="FFD9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1" name="Google Shape;881;p35"/>
          <p:cNvSpPr txBox="1"/>
          <p:nvPr/>
        </p:nvSpPr>
        <p:spPr>
          <a:xfrm>
            <a:off x="5686081" y="3135238"/>
            <a:ext cx="2145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3</a:t>
            </a:r>
            <a:endParaRPr sz="1100"/>
          </a:p>
        </p:txBody>
      </p:sp>
      <p:sp>
        <p:nvSpPr>
          <p:cNvPr id="882" name="Google Shape;882;p35"/>
          <p:cNvSpPr txBox="1"/>
          <p:nvPr/>
        </p:nvSpPr>
        <p:spPr>
          <a:xfrm>
            <a:off x="5950400" y="3100880"/>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374151"/>
                </a:solidFill>
                <a:latin typeface="Lexend"/>
                <a:ea typeface="Lexend"/>
                <a:cs typeface="Lexend"/>
                <a:sym typeface="Lexend"/>
              </a:rPr>
              <a:t>Ổn định vận hành Z578</a:t>
            </a:r>
            <a:endParaRPr sz="1100"/>
          </a:p>
        </p:txBody>
      </p:sp>
      <p:sp>
        <p:nvSpPr>
          <p:cNvPr id="883" name="Google Shape;883;p35"/>
          <p:cNvSpPr txBox="1"/>
          <p:nvPr/>
        </p:nvSpPr>
        <p:spPr>
          <a:xfrm>
            <a:off x="5950400" y="3215180"/>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Convert lại tài xế khu vực Z578 </a:t>
            </a:r>
            <a:endParaRPr sz="1100"/>
          </a:p>
        </p:txBody>
      </p:sp>
      <p:sp>
        <p:nvSpPr>
          <p:cNvPr id="884" name="Google Shape;884;p35"/>
          <p:cNvSpPr/>
          <p:nvPr/>
        </p:nvSpPr>
        <p:spPr>
          <a:xfrm>
            <a:off x="8164963" y="3352447"/>
            <a:ext cx="443100" cy="1425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5" name="Google Shape;885;p35"/>
          <p:cNvSpPr txBox="1"/>
          <p:nvPr/>
        </p:nvSpPr>
        <p:spPr>
          <a:xfrm>
            <a:off x="8164963" y="3360592"/>
            <a:ext cx="443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CAO</a:t>
            </a:r>
            <a:endParaRPr sz="1100"/>
          </a:p>
        </p:txBody>
      </p:sp>
      <p:sp>
        <p:nvSpPr>
          <p:cNvPr id="886" name="Google Shape;886;p35"/>
          <p:cNvSpPr/>
          <p:nvPr/>
        </p:nvSpPr>
        <p:spPr>
          <a:xfrm>
            <a:off x="5721800" y="3491571"/>
            <a:ext cx="28860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7" name="Google Shape;887;p35"/>
          <p:cNvSpPr/>
          <p:nvPr/>
        </p:nvSpPr>
        <p:spPr>
          <a:xfrm>
            <a:off x="5721800" y="3530863"/>
            <a:ext cx="143100" cy="143100"/>
          </a:xfrm>
          <a:prstGeom prst="ellipse">
            <a:avLst/>
          </a:prstGeom>
          <a:solidFill>
            <a:srgbClr val="F7F9FC"/>
          </a:solidFill>
          <a:ln cap="flat" cmpd="sng" w="7150">
            <a:solidFill>
              <a:srgbClr val="FFD9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8" name="Google Shape;888;p35"/>
          <p:cNvSpPr txBox="1"/>
          <p:nvPr/>
        </p:nvSpPr>
        <p:spPr>
          <a:xfrm>
            <a:off x="5686081" y="3556719"/>
            <a:ext cx="2145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E0641A"/>
                </a:solidFill>
                <a:latin typeface="Lexend"/>
                <a:ea typeface="Lexend"/>
                <a:cs typeface="Lexend"/>
                <a:sym typeface="Lexend"/>
              </a:rPr>
              <a:t>4</a:t>
            </a:r>
            <a:endParaRPr sz="1100"/>
          </a:p>
        </p:txBody>
      </p:sp>
      <p:sp>
        <p:nvSpPr>
          <p:cNvPr id="889" name="Google Shape;889;p35"/>
          <p:cNvSpPr txBox="1"/>
          <p:nvPr/>
        </p:nvSpPr>
        <p:spPr>
          <a:xfrm>
            <a:off x="5950400" y="3522361"/>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374151"/>
                </a:solidFill>
                <a:latin typeface="Lexend"/>
                <a:ea typeface="Lexend"/>
                <a:cs typeface="Lexend"/>
                <a:sym typeface="Lexend"/>
              </a:rPr>
              <a:t>SGN: tối ưu phân bổ ca ZONE_4</a:t>
            </a:r>
            <a:endParaRPr sz="1100"/>
          </a:p>
        </p:txBody>
      </p:sp>
      <p:sp>
        <p:nvSpPr>
          <p:cNvPr id="890" name="Google Shape;890;p35"/>
          <p:cNvSpPr txBox="1"/>
          <p:nvPr/>
        </p:nvSpPr>
        <p:spPr>
          <a:xfrm>
            <a:off x="5950400" y="3636661"/>
            <a:ext cx="27147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600">
                <a:solidFill>
                  <a:srgbClr val="6B7280"/>
                </a:solidFill>
                <a:latin typeface="Lexend"/>
                <a:ea typeface="Lexend"/>
                <a:cs typeface="Lexend"/>
                <a:sym typeface="Lexend"/>
              </a:rPr>
              <a:t>Ưu tiên điều chỉnh phân bổ ca trước khi tăng thêm supply</a:t>
            </a:r>
            <a:endParaRPr sz="1100"/>
          </a:p>
        </p:txBody>
      </p:sp>
      <p:sp>
        <p:nvSpPr>
          <p:cNvPr id="891" name="Google Shape;891;p35"/>
          <p:cNvSpPr/>
          <p:nvPr/>
        </p:nvSpPr>
        <p:spPr>
          <a:xfrm>
            <a:off x="8164963" y="3773929"/>
            <a:ext cx="443100" cy="142500"/>
          </a:xfrm>
          <a:prstGeom prst="roundRect">
            <a:avLst>
              <a:gd fmla="val 50000" name="adj"/>
            </a:avLst>
          </a:prstGeom>
          <a:solidFill>
            <a:srgbClr val="F1F5F9"/>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2" name="Google Shape;892;p35"/>
          <p:cNvSpPr txBox="1"/>
          <p:nvPr/>
        </p:nvSpPr>
        <p:spPr>
          <a:xfrm>
            <a:off x="8164963" y="3782073"/>
            <a:ext cx="443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600">
                <a:solidFill>
                  <a:srgbClr val="64748B"/>
                </a:solidFill>
                <a:latin typeface="Lexend"/>
                <a:ea typeface="Lexend"/>
                <a:cs typeface="Lexend"/>
                <a:sym typeface="Lexend"/>
              </a:rPr>
              <a:t>TB</a:t>
            </a:r>
            <a:endParaRPr sz="1100"/>
          </a:p>
        </p:txBody>
      </p:sp>
      <p:sp>
        <p:nvSpPr>
          <p:cNvPr id="893" name="Google Shape;893;p35"/>
          <p:cNvSpPr/>
          <p:nvPr/>
        </p:nvSpPr>
        <p:spPr>
          <a:xfrm>
            <a:off x="5721800" y="3913054"/>
            <a:ext cx="28860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7" name="Shape 897"/>
        <p:cNvGrpSpPr/>
        <p:nvPr/>
      </p:nvGrpSpPr>
      <p:grpSpPr>
        <a:xfrm>
          <a:off x="0" y="0"/>
          <a:ext cx="0" cy="0"/>
          <a:chOff x="0" y="0"/>
          <a:chExt cx="0" cy="0"/>
        </a:xfrm>
      </p:grpSpPr>
      <p:sp>
        <p:nvSpPr>
          <p:cNvPr id="898" name="Google Shape;898;p36"/>
          <p:cNvSpPr/>
          <p:nvPr/>
        </p:nvSpPr>
        <p:spPr>
          <a:xfrm>
            <a:off x="348350" y="1124575"/>
            <a:ext cx="8447400" cy="1840800"/>
          </a:xfrm>
          <a:prstGeom prst="roundRect">
            <a:avLst>
              <a:gd fmla="val 6201" name="adj"/>
            </a:avLst>
          </a:prstGeom>
          <a:solidFill>
            <a:srgbClr val="FFFFFF"/>
          </a:solidFill>
          <a:ln cap="flat" cmpd="sng" w="10725">
            <a:solidFill>
              <a:srgbClr val="E9EDF3"/>
            </a:solidFill>
            <a:prstDash val="solid"/>
            <a:round/>
            <a:headEnd len="sm" w="sm" type="none"/>
            <a:tailEnd len="sm" w="sm" type="none"/>
          </a:ln>
          <a:effectLst>
            <a:outerShdw blurRad="71346" rotWithShape="0" dir="5400000" dist="28538">
              <a:srgbClr val="0E4174">
                <a:alpha val="10200"/>
              </a:srgbClr>
            </a:outerShdw>
          </a:effectLst>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899" name="Google Shape;899;p36"/>
          <p:cNvSpPr txBox="1"/>
          <p:nvPr/>
        </p:nvSpPr>
        <p:spPr>
          <a:xfrm>
            <a:off x="548120" y="1205624"/>
            <a:ext cx="80478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Quy mô đã chững, chất lượng bắt đầu lên</a:t>
            </a:r>
            <a:endParaRPr sz="1100"/>
          </a:p>
        </p:txBody>
      </p:sp>
      <p:sp>
        <p:nvSpPr>
          <p:cNvPr id="900" name="Google Shape;900;p36"/>
          <p:cNvSpPr txBox="1"/>
          <p:nvPr/>
        </p:nvSpPr>
        <p:spPr>
          <a:xfrm>
            <a:off x="548120" y="1394335"/>
            <a:ext cx="8047800" cy="14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a:t>
            </a:r>
            <a:r>
              <a:rPr lang="en" sz="600">
                <a:solidFill>
                  <a:srgbClr val="6B7280"/>
                </a:solidFill>
                <a:latin typeface="Lexend"/>
                <a:ea typeface="Lexend"/>
                <a:cs typeface="Lexend"/>
                <a:sym typeface="Lexend"/>
              </a:rPr>
              <a:t>uần 1 với</a:t>
            </a:r>
            <a:r>
              <a:rPr b="0" i="0" lang="en" sz="600">
                <a:solidFill>
                  <a:srgbClr val="6B7280"/>
                </a:solidFill>
                <a:latin typeface="Lexend"/>
                <a:ea typeface="Lexend"/>
                <a:cs typeface="Lexend"/>
                <a:sym typeface="Lexend"/>
              </a:rPr>
              <a:t> 6 ngày (04–09/8) </a:t>
            </a:r>
            <a:r>
              <a:rPr lang="en" sz="600">
                <a:solidFill>
                  <a:srgbClr val="9CA3AF"/>
                </a:solidFill>
                <a:latin typeface="Lexend"/>
                <a:ea typeface="Lexend"/>
                <a:cs typeface="Lexend"/>
                <a:sym typeface="Lexend"/>
              </a:rPr>
              <a:t>•</a:t>
            </a:r>
            <a:r>
              <a:rPr b="0" i="0" lang="en" sz="600">
                <a:solidFill>
                  <a:srgbClr val="6B7280"/>
                </a:solidFill>
                <a:latin typeface="Lexend"/>
                <a:ea typeface="Lexend"/>
                <a:cs typeface="Lexend"/>
                <a:sym typeface="Lexend"/>
              </a:rPr>
              <a:t> T</a:t>
            </a:r>
            <a:r>
              <a:rPr lang="en" sz="600">
                <a:solidFill>
                  <a:srgbClr val="6B7280"/>
                </a:solidFill>
                <a:latin typeface="Lexend"/>
                <a:ea typeface="Lexend"/>
                <a:cs typeface="Lexend"/>
                <a:sym typeface="Lexend"/>
              </a:rPr>
              <a:t>uần 2 </a:t>
            </a:r>
            <a:r>
              <a:rPr b="0" i="0" lang="en" sz="600">
                <a:solidFill>
                  <a:srgbClr val="6B7280"/>
                </a:solidFill>
                <a:latin typeface="Lexend"/>
                <a:ea typeface="Lexend"/>
                <a:cs typeface="Lexend"/>
                <a:sym typeface="Lexend"/>
              </a:rPr>
              <a:t>– Tu</a:t>
            </a:r>
            <a:r>
              <a:rPr lang="en" sz="600">
                <a:solidFill>
                  <a:srgbClr val="6B7280"/>
                </a:solidFill>
                <a:latin typeface="Lexend"/>
                <a:ea typeface="Lexend"/>
                <a:cs typeface="Lexend"/>
                <a:sym typeface="Lexend"/>
              </a:rPr>
              <a:t>ần </a:t>
            </a:r>
            <a:r>
              <a:rPr b="0" i="0" lang="en" sz="600">
                <a:solidFill>
                  <a:srgbClr val="6B7280"/>
                </a:solidFill>
                <a:latin typeface="Lexend"/>
                <a:ea typeface="Lexend"/>
                <a:cs typeface="Lexend"/>
                <a:sym typeface="Lexend"/>
              </a:rPr>
              <a:t>4 mỗi tuần 7 ngày</a:t>
            </a:r>
            <a:endParaRPr sz="1100"/>
          </a:p>
        </p:txBody>
      </p:sp>
      <p:sp>
        <p:nvSpPr>
          <p:cNvPr id="901" name="Google Shape;901;p36"/>
          <p:cNvSpPr/>
          <p:nvPr/>
        </p:nvSpPr>
        <p:spPr>
          <a:xfrm>
            <a:off x="4857434" y="1852306"/>
            <a:ext cx="855900" cy="1084500"/>
          </a:xfrm>
          <a:prstGeom prst="roundRect">
            <a:avLst>
              <a:gd fmla="val 6666" name="adj"/>
            </a:avLst>
          </a:prstGeom>
          <a:solidFill>
            <a:srgbClr val="FFF3EB"/>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02" name="Google Shape;902;p36"/>
          <p:cNvSpPr txBox="1"/>
          <p:nvPr/>
        </p:nvSpPr>
        <p:spPr>
          <a:xfrm>
            <a:off x="548120" y="1589039"/>
            <a:ext cx="1426800" cy="13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CHỈ SỐ</a:t>
            </a:r>
            <a:endParaRPr sz="1100"/>
          </a:p>
        </p:txBody>
      </p:sp>
      <p:sp>
        <p:nvSpPr>
          <p:cNvPr id="903" name="Google Shape;903;p36"/>
          <p:cNvSpPr txBox="1"/>
          <p:nvPr/>
        </p:nvSpPr>
        <p:spPr>
          <a:xfrm>
            <a:off x="2503007" y="1589039"/>
            <a:ext cx="570900" cy="13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a:t>
            </a:r>
            <a:r>
              <a:rPr b="1" lang="en" sz="600">
                <a:solidFill>
                  <a:srgbClr val="9CA3AF"/>
                </a:solidFill>
                <a:latin typeface="Lexend"/>
                <a:ea typeface="Lexend"/>
                <a:cs typeface="Lexend"/>
                <a:sym typeface="Lexend"/>
              </a:rPr>
              <a:t>uần 1</a:t>
            </a:r>
            <a:endParaRPr sz="1100"/>
          </a:p>
        </p:txBody>
      </p:sp>
      <p:sp>
        <p:nvSpPr>
          <p:cNvPr id="904" name="Google Shape;904;p36"/>
          <p:cNvSpPr txBox="1"/>
          <p:nvPr/>
        </p:nvSpPr>
        <p:spPr>
          <a:xfrm>
            <a:off x="3287816" y="1589039"/>
            <a:ext cx="570900" cy="13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a:t>
            </a:r>
            <a:r>
              <a:rPr b="1" lang="en" sz="600">
                <a:solidFill>
                  <a:srgbClr val="9CA3AF"/>
                </a:solidFill>
                <a:latin typeface="Lexend"/>
                <a:ea typeface="Lexend"/>
                <a:cs typeface="Lexend"/>
                <a:sym typeface="Lexend"/>
              </a:rPr>
              <a:t>uần 2</a:t>
            </a:r>
            <a:endParaRPr sz="1100"/>
          </a:p>
        </p:txBody>
      </p:sp>
      <p:sp>
        <p:nvSpPr>
          <p:cNvPr id="905" name="Google Shape;905;p36"/>
          <p:cNvSpPr txBox="1"/>
          <p:nvPr/>
        </p:nvSpPr>
        <p:spPr>
          <a:xfrm>
            <a:off x="4072625" y="1589039"/>
            <a:ext cx="570900" cy="13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a:t>
            </a:r>
            <a:r>
              <a:rPr b="1" lang="en" sz="600">
                <a:solidFill>
                  <a:srgbClr val="9CA3AF"/>
                </a:solidFill>
                <a:latin typeface="Lexend"/>
                <a:ea typeface="Lexend"/>
                <a:cs typeface="Lexend"/>
                <a:sym typeface="Lexend"/>
              </a:rPr>
              <a:t>uần 3</a:t>
            </a:r>
            <a:endParaRPr sz="1100"/>
          </a:p>
        </p:txBody>
      </p:sp>
      <p:sp>
        <p:nvSpPr>
          <p:cNvPr id="906" name="Google Shape;906;p36"/>
          <p:cNvSpPr txBox="1"/>
          <p:nvPr/>
        </p:nvSpPr>
        <p:spPr>
          <a:xfrm>
            <a:off x="4821761" y="1589039"/>
            <a:ext cx="927900" cy="13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E0641A"/>
                </a:solidFill>
                <a:latin typeface="Lexend"/>
                <a:ea typeface="Lexend"/>
                <a:cs typeface="Lexend"/>
                <a:sym typeface="Lexend"/>
              </a:rPr>
              <a:t>T</a:t>
            </a:r>
            <a:r>
              <a:rPr b="1" lang="en" sz="600">
                <a:solidFill>
                  <a:srgbClr val="E0641A"/>
                </a:solidFill>
                <a:latin typeface="Lexend"/>
                <a:ea typeface="Lexend"/>
                <a:cs typeface="Lexend"/>
                <a:sym typeface="Lexend"/>
              </a:rPr>
              <a:t>uần 4</a:t>
            </a:r>
            <a:r>
              <a:rPr b="1" i="0" lang="en" sz="600">
                <a:solidFill>
                  <a:srgbClr val="E0641A"/>
                </a:solidFill>
                <a:latin typeface="Lexend"/>
                <a:ea typeface="Lexend"/>
                <a:cs typeface="Lexend"/>
                <a:sym typeface="Lexend"/>
              </a:rPr>
              <a:t> · 24–30/8</a:t>
            </a:r>
            <a:endParaRPr sz="1100"/>
          </a:p>
        </p:txBody>
      </p:sp>
      <p:sp>
        <p:nvSpPr>
          <p:cNvPr id="907" name="Google Shape;907;p36"/>
          <p:cNvSpPr/>
          <p:nvPr/>
        </p:nvSpPr>
        <p:spPr>
          <a:xfrm>
            <a:off x="548120" y="1748854"/>
            <a:ext cx="8047800" cy="7500"/>
          </a:xfrm>
          <a:prstGeom prst="rect">
            <a:avLst/>
          </a:prstGeom>
          <a:solidFill>
            <a:srgbClr val="EDF1F6"/>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08" name="Google Shape;908;p36"/>
          <p:cNvSpPr txBox="1"/>
          <p:nvPr/>
        </p:nvSpPr>
        <p:spPr>
          <a:xfrm>
            <a:off x="548120" y="1841746"/>
            <a:ext cx="1783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700">
                <a:solidFill>
                  <a:srgbClr val="374151"/>
                </a:solidFill>
                <a:latin typeface="Lexend"/>
                <a:ea typeface="Lexend"/>
                <a:cs typeface="Lexend"/>
                <a:sym typeface="Lexend"/>
              </a:rPr>
              <a:t>Ca đăng ký / ngày</a:t>
            </a:r>
            <a:endParaRPr sz="1100"/>
          </a:p>
        </p:txBody>
      </p:sp>
      <p:sp>
        <p:nvSpPr>
          <p:cNvPr id="909" name="Google Shape;909;p36"/>
          <p:cNvSpPr txBox="1"/>
          <p:nvPr/>
        </p:nvSpPr>
        <p:spPr>
          <a:xfrm>
            <a:off x="2503007" y="1841746"/>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19</a:t>
            </a:r>
            <a:endParaRPr sz="1100"/>
          </a:p>
        </p:txBody>
      </p:sp>
      <p:sp>
        <p:nvSpPr>
          <p:cNvPr id="910" name="Google Shape;910;p36"/>
          <p:cNvSpPr txBox="1"/>
          <p:nvPr/>
        </p:nvSpPr>
        <p:spPr>
          <a:xfrm>
            <a:off x="3287816" y="1841746"/>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56</a:t>
            </a:r>
            <a:endParaRPr sz="1100"/>
          </a:p>
        </p:txBody>
      </p:sp>
      <p:sp>
        <p:nvSpPr>
          <p:cNvPr id="911" name="Google Shape;911;p36"/>
          <p:cNvSpPr txBox="1"/>
          <p:nvPr/>
        </p:nvSpPr>
        <p:spPr>
          <a:xfrm>
            <a:off x="4072625" y="1841746"/>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120</a:t>
            </a:r>
            <a:endParaRPr sz="1100"/>
          </a:p>
        </p:txBody>
      </p:sp>
      <p:sp>
        <p:nvSpPr>
          <p:cNvPr id="912" name="Google Shape;912;p36"/>
          <p:cNvSpPr txBox="1"/>
          <p:nvPr/>
        </p:nvSpPr>
        <p:spPr>
          <a:xfrm>
            <a:off x="4857434" y="1837144"/>
            <a:ext cx="8559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123,0</a:t>
            </a:r>
            <a:endParaRPr sz="1100"/>
          </a:p>
        </p:txBody>
      </p:sp>
      <p:sp>
        <p:nvSpPr>
          <p:cNvPr id="913" name="Google Shape;913;p36"/>
          <p:cNvSpPr txBox="1"/>
          <p:nvPr/>
        </p:nvSpPr>
        <p:spPr>
          <a:xfrm>
            <a:off x="5927628" y="1855552"/>
            <a:ext cx="26685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 </a:t>
            </a:r>
            <a:r>
              <a:rPr lang="en" sz="600">
                <a:solidFill>
                  <a:srgbClr val="6B7280"/>
                </a:solidFill>
                <a:latin typeface="Lexend"/>
                <a:ea typeface="Lexend"/>
                <a:cs typeface="Lexend"/>
                <a:sym typeface="Lexend"/>
              </a:rPr>
              <a:t>861 ca, cao hơn Tuần 3 21 ca</a:t>
            </a:r>
            <a:endParaRPr sz="1100"/>
          </a:p>
        </p:txBody>
      </p:sp>
      <p:sp>
        <p:nvSpPr>
          <p:cNvPr id="914" name="Google Shape;914;p36"/>
          <p:cNvSpPr txBox="1"/>
          <p:nvPr/>
        </p:nvSpPr>
        <p:spPr>
          <a:xfrm>
            <a:off x="548120" y="2012977"/>
            <a:ext cx="1783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700">
                <a:solidFill>
                  <a:srgbClr val="374151"/>
                </a:solidFill>
                <a:latin typeface="Lexend"/>
                <a:ea typeface="Lexend"/>
                <a:cs typeface="Lexend"/>
                <a:sym typeface="Lexend"/>
              </a:rPr>
              <a:t>Tài xế tham gia</a:t>
            </a:r>
            <a:endParaRPr sz="1100"/>
          </a:p>
        </p:txBody>
      </p:sp>
      <p:sp>
        <p:nvSpPr>
          <p:cNvPr id="915" name="Google Shape;915;p36"/>
          <p:cNvSpPr txBox="1"/>
          <p:nvPr/>
        </p:nvSpPr>
        <p:spPr>
          <a:xfrm>
            <a:off x="2503007" y="2012977"/>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47</a:t>
            </a:r>
            <a:endParaRPr sz="1100"/>
          </a:p>
        </p:txBody>
      </p:sp>
      <p:sp>
        <p:nvSpPr>
          <p:cNvPr id="916" name="Google Shape;916;p36"/>
          <p:cNvSpPr txBox="1"/>
          <p:nvPr/>
        </p:nvSpPr>
        <p:spPr>
          <a:xfrm>
            <a:off x="3287816" y="2012977"/>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196</a:t>
            </a:r>
            <a:endParaRPr sz="1100"/>
          </a:p>
        </p:txBody>
      </p:sp>
      <p:sp>
        <p:nvSpPr>
          <p:cNvPr id="917" name="Google Shape;917;p36"/>
          <p:cNvSpPr txBox="1"/>
          <p:nvPr/>
        </p:nvSpPr>
        <p:spPr>
          <a:xfrm>
            <a:off x="4072625" y="2012977"/>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356</a:t>
            </a:r>
            <a:endParaRPr sz="1100"/>
          </a:p>
        </p:txBody>
      </p:sp>
      <p:sp>
        <p:nvSpPr>
          <p:cNvPr id="918" name="Google Shape;918;p36"/>
          <p:cNvSpPr txBox="1"/>
          <p:nvPr/>
        </p:nvSpPr>
        <p:spPr>
          <a:xfrm>
            <a:off x="4857434" y="2008375"/>
            <a:ext cx="8559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274</a:t>
            </a:r>
            <a:endParaRPr sz="1100"/>
          </a:p>
        </p:txBody>
      </p:sp>
      <p:sp>
        <p:nvSpPr>
          <p:cNvPr id="919" name="Google Shape;919;p36"/>
          <p:cNvSpPr txBox="1"/>
          <p:nvPr/>
        </p:nvSpPr>
        <p:spPr>
          <a:xfrm>
            <a:off x="5927628" y="2026783"/>
            <a:ext cx="26685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9CA3AF"/>
                </a:solidFill>
                <a:latin typeface="Lexend"/>
                <a:ea typeface="Lexend"/>
                <a:cs typeface="Lexend"/>
                <a:sym typeface="Lexend"/>
              </a:rPr>
              <a:t>↓ ít hơn T</a:t>
            </a:r>
            <a:r>
              <a:rPr lang="en" sz="600">
                <a:solidFill>
                  <a:srgbClr val="9CA3AF"/>
                </a:solidFill>
                <a:latin typeface="Lexend"/>
                <a:ea typeface="Lexend"/>
                <a:cs typeface="Lexend"/>
                <a:sym typeface="Lexend"/>
              </a:rPr>
              <a:t>uần 3</a:t>
            </a:r>
            <a:r>
              <a:rPr b="0" i="0" lang="en" sz="600">
                <a:solidFill>
                  <a:srgbClr val="9CA3AF"/>
                </a:solidFill>
                <a:latin typeface="Lexend"/>
                <a:ea typeface="Lexend"/>
                <a:cs typeface="Lexend"/>
                <a:sym typeface="Lexend"/>
              </a:rPr>
              <a:t> 82 </a:t>
            </a:r>
            <a:r>
              <a:rPr lang="en" sz="600">
                <a:solidFill>
                  <a:srgbClr val="9CA3AF"/>
                </a:solidFill>
                <a:latin typeface="Lexend"/>
                <a:ea typeface="Lexend"/>
                <a:cs typeface="Lexend"/>
                <a:sym typeface="Lexend"/>
              </a:rPr>
              <a:t>tài xế</a:t>
            </a:r>
            <a:endParaRPr sz="1100"/>
          </a:p>
        </p:txBody>
      </p:sp>
      <p:sp>
        <p:nvSpPr>
          <p:cNvPr id="920" name="Google Shape;920;p36"/>
          <p:cNvSpPr txBox="1"/>
          <p:nvPr/>
        </p:nvSpPr>
        <p:spPr>
          <a:xfrm>
            <a:off x="548120" y="2184208"/>
            <a:ext cx="1783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374151"/>
                </a:solidFill>
                <a:latin typeface="Lexend"/>
                <a:ea typeface="Lexend"/>
                <a:cs typeface="Lexend"/>
                <a:sym typeface="Lexend"/>
              </a:rPr>
              <a:t>Check-in rate</a:t>
            </a:r>
            <a:endParaRPr sz="1100"/>
          </a:p>
        </p:txBody>
      </p:sp>
      <p:sp>
        <p:nvSpPr>
          <p:cNvPr id="921" name="Google Shape;921;p36"/>
          <p:cNvSpPr txBox="1"/>
          <p:nvPr/>
        </p:nvSpPr>
        <p:spPr>
          <a:xfrm>
            <a:off x="2503007" y="2184208"/>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52,6%</a:t>
            </a:r>
            <a:endParaRPr sz="1100"/>
          </a:p>
        </p:txBody>
      </p:sp>
      <p:sp>
        <p:nvSpPr>
          <p:cNvPr id="922" name="Google Shape;922;p36"/>
          <p:cNvSpPr txBox="1"/>
          <p:nvPr/>
        </p:nvSpPr>
        <p:spPr>
          <a:xfrm>
            <a:off x="3287816" y="2184208"/>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50,3%</a:t>
            </a:r>
            <a:endParaRPr sz="1100"/>
          </a:p>
        </p:txBody>
      </p:sp>
      <p:sp>
        <p:nvSpPr>
          <p:cNvPr id="923" name="Google Shape;923;p36"/>
          <p:cNvSpPr txBox="1"/>
          <p:nvPr/>
        </p:nvSpPr>
        <p:spPr>
          <a:xfrm>
            <a:off x="4072625" y="2184208"/>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50,0%</a:t>
            </a:r>
            <a:endParaRPr sz="1100"/>
          </a:p>
        </p:txBody>
      </p:sp>
      <p:sp>
        <p:nvSpPr>
          <p:cNvPr id="924" name="Google Shape;924;p36"/>
          <p:cNvSpPr txBox="1"/>
          <p:nvPr/>
        </p:nvSpPr>
        <p:spPr>
          <a:xfrm>
            <a:off x="4857434" y="2179606"/>
            <a:ext cx="8559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59,0%</a:t>
            </a:r>
            <a:endParaRPr sz="1100"/>
          </a:p>
        </p:txBody>
      </p:sp>
      <p:sp>
        <p:nvSpPr>
          <p:cNvPr id="925" name="Google Shape;925;p36"/>
          <p:cNvSpPr txBox="1"/>
          <p:nvPr/>
        </p:nvSpPr>
        <p:spPr>
          <a:xfrm>
            <a:off x="5927628" y="2198014"/>
            <a:ext cx="26685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0F7A5A"/>
                </a:solidFill>
                <a:latin typeface="Lexend"/>
                <a:ea typeface="Lexend"/>
                <a:cs typeface="Lexend"/>
                <a:sym typeface="Lexend"/>
              </a:rPr>
              <a:t>↑ +9 điểm — lần đầu </a:t>
            </a:r>
            <a:r>
              <a:rPr b="1" lang="en" sz="600">
                <a:solidFill>
                  <a:srgbClr val="0F7A5A"/>
                </a:solidFill>
                <a:latin typeface="Lexend"/>
                <a:ea typeface="Lexend"/>
                <a:cs typeface="Lexend"/>
                <a:sym typeface="Lexend"/>
              </a:rPr>
              <a:t>đạt</a:t>
            </a:r>
            <a:r>
              <a:rPr b="1" i="0" lang="en" sz="600">
                <a:solidFill>
                  <a:srgbClr val="0F7A5A"/>
                </a:solidFill>
                <a:latin typeface="Lexend"/>
                <a:ea typeface="Lexend"/>
                <a:cs typeface="Lexend"/>
                <a:sym typeface="Lexend"/>
              </a:rPr>
              <a:t> 59%, cao nh</a:t>
            </a:r>
            <a:r>
              <a:rPr b="1" lang="en" sz="600">
                <a:solidFill>
                  <a:srgbClr val="0F7A5A"/>
                </a:solidFill>
                <a:latin typeface="Lexend"/>
                <a:ea typeface="Lexend"/>
                <a:cs typeface="Lexend"/>
                <a:sym typeface="Lexend"/>
              </a:rPr>
              <a:t>ất trong 4 tuần</a:t>
            </a:r>
            <a:endParaRPr sz="1100"/>
          </a:p>
        </p:txBody>
      </p:sp>
      <p:sp>
        <p:nvSpPr>
          <p:cNvPr id="926" name="Google Shape;926;p36"/>
          <p:cNvSpPr txBox="1"/>
          <p:nvPr/>
        </p:nvSpPr>
        <p:spPr>
          <a:xfrm>
            <a:off x="548120" y="2355439"/>
            <a:ext cx="1783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374151"/>
                </a:solidFill>
                <a:latin typeface="Lexend"/>
                <a:ea typeface="Lexend"/>
                <a:cs typeface="Lexend"/>
                <a:sym typeface="Lexend"/>
              </a:rPr>
              <a:t>Năng suất (đơn/giờ)</a:t>
            </a:r>
            <a:endParaRPr sz="1100"/>
          </a:p>
        </p:txBody>
      </p:sp>
      <p:sp>
        <p:nvSpPr>
          <p:cNvPr id="927" name="Google Shape;927;p36"/>
          <p:cNvSpPr txBox="1"/>
          <p:nvPr/>
        </p:nvSpPr>
        <p:spPr>
          <a:xfrm>
            <a:off x="2503007" y="2355439"/>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1,97</a:t>
            </a:r>
            <a:endParaRPr sz="1100"/>
          </a:p>
        </p:txBody>
      </p:sp>
      <p:sp>
        <p:nvSpPr>
          <p:cNvPr id="928" name="Google Shape;928;p36"/>
          <p:cNvSpPr txBox="1"/>
          <p:nvPr/>
        </p:nvSpPr>
        <p:spPr>
          <a:xfrm>
            <a:off x="3287816" y="2355439"/>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2,01</a:t>
            </a:r>
            <a:endParaRPr sz="1100"/>
          </a:p>
        </p:txBody>
      </p:sp>
      <p:sp>
        <p:nvSpPr>
          <p:cNvPr id="929" name="Google Shape;929;p36"/>
          <p:cNvSpPr txBox="1"/>
          <p:nvPr/>
        </p:nvSpPr>
        <p:spPr>
          <a:xfrm>
            <a:off x="4072625" y="2355439"/>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1,93</a:t>
            </a:r>
            <a:endParaRPr sz="1100"/>
          </a:p>
        </p:txBody>
      </p:sp>
      <p:sp>
        <p:nvSpPr>
          <p:cNvPr id="930" name="Google Shape;930;p36"/>
          <p:cNvSpPr txBox="1"/>
          <p:nvPr/>
        </p:nvSpPr>
        <p:spPr>
          <a:xfrm>
            <a:off x="4857434" y="2350837"/>
            <a:ext cx="8559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2,04</a:t>
            </a:r>
            <a:endParaRPr sz="1100"/>
          </a:p>
        </p:txBody>
      </p:sp>
      <p:sp>
        <p:nvSpPr>
          <p:cNvPr id="931" name="Google Shape;931;p36"/>
          <p:cNvSpPr txBox="1"/>
          <p:nvPr/>
        </p:nvSpPr>
        <p:spPr>
          <a:xfrm>
            <a:off x="5927628" y="2369244"/>
            <a:ext cx="26685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0F7A5A"/>
                </a:solidFill>
                <a:latin typeface="Lexend"/>
                <a:ea typeface="Lexend"/>
                <a:cs typeface="Lexend"/>
                <a:sym typeface="Lexend"/>
              </a:rPr>
              <a:t>↑ cao nhất </a:t>
            </a:r>
            <a:r>
              <a:rPr b="1" lang="en" sz="600">
                <a:solidFill>
                  <a:srgbClr val="0F7A5A"/>
                </a:solidFill>
                <a:latin typeface="Lexend"/>
                <a:ea typeface="Lexend"/>
                <a:cs typeface="Lexend"/>
                <a:sym typeface="Lexend"/>
              </a:rPr>
              <a:t>trong 4 tuần</a:t>
            </a:r>
            <a:endParaRPr sz="1100"/>
          </a:p>
        </p:txBody>
      </p:sp>
      <p:sp>
        <p:nvSpPr>
          <p:cNvPr id="932" name="Google Shape;932;p36"/>
          <p:cNvSpPr txBox="1"/>
          <p:nvPr/>
        </p:nvSpPr>
        <p:spPr>
          <a:xfrm>
            <a:off x="548120" y="2526669"/>
            <a:ext cx="1783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374151"/>
                </a:solidFill>
                <a:latin typeface="Lexend"/>
                <a:ea typeface="Lexend"/>
                <a:cs typeface="Lexend"/>
                <a:sym typeface="Lexend"/>
              </a:rPr>
              <a:t>EPH (đ/giờ online)</a:t>
            </a:r>
            <a:endParaRPr sz="1100"/>
          </a:p>
        </p:txBody>
      </p:sp>
      <p:sp>
        <p:nvSpPr>
          <p:cNvPr id="933" name="Google Shape;933;p36"/>
          <p:cNvSpPr txBox="1"/>
          <p:nvPr/>
        </p:nvSpPr>
        <p:spPr>
          <a:xfrm>
            <a:off x="2503007" y="2526669"/>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51.331</a:t>
            </a:r>
            <a:endParaRPr sz="1100"/>
          </a:p>
        </p:txBody>
      </p:sp>
      <p:sp>
        <p:nvSpPr>
          <p:cNvPr id="934" name="Google Shape;934;p36"/>
          <p:cNvSpPr txBox="1"/>
          <p:nvPr/>
        </p:nvSpPr>
        <p:spPr>
          <a:xfrm>
            <a:off x="3287816" y="2526669"/>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51.362</a:t>
            </a:r>
            <a:endParaRPr sz="1100"/>
          </a:p>
        </p:txBody>
      </p:sp>
      <p:sp>
        <p:nvSpPr>
          <p:cNvPr id="935" name="Google Shape;935;p36"/>
          <p:cNvSpPr txBox="1"/>
          <p:nvPr/>
        </p:nvSpPr>
        <p:spPr>
          <a:xfrm>
            <a:off x="4072625" y="2526669"/>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57.473</a:t>
            </a:r>
            <a:endParaRPr sz="1100"/>
          </a:p>
        </p:txBody>
      </p:sp>
      <p:sp>
        <p:nvSpPr>
          <p:cNvPr id="936" name="Google Shape;936;p36"/>
          <p:cNvSpPr txBox="1"/>
          <p:nvPr/>
        </p:nvSpPr>
        <p:spPr>
          <a:xfrm>
            <a:off x="4857434" y="2522067"/>
            <a:ext cx="8559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59.845</a:t>
            </a:r>
            <a:endParaRPr sz="1100"/>
          </a:p>
        </p:txBody>
      </p:sp>
      <p:sp>
        <p:nvSpPr>
          <p:cNvPr id="937" name="Google Shape;937;p36"/>
          <p:cNvSpPr txBox="1"/>
          <p:nvPr/>
        </p:nvSpPr>
        <p:spPr>
          <a:xfrm>
            <a:off x="5927628" y="2540475"/>
            <a:ext cx="26685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0F7A5A"/>
                </a:solidFill>
                <a:latin typeface="Lexend"/>
                <a:ea typeface="Lexend"/>
                <a:cs typeface="Lexend"/>
                <a:sym typeface="Lexend"/>
              </a:rPr>
              <a:t>↑ +16,6% so với T</a:t>
            </a:r>
            <a:r>
              <a:rPr b="1" lang="en" sz="600">
                <a:solidFill>
                  <a:srgbClr val="0F7A5A"/>
                </a:solidFill>
                <a:latin typeface="Lexend"/>
                <a:ea typeface="Lexend"/>
                <a:cs typeface="Lexend"/>
                <a:sym typeface="Lexend"/>
              </a:rPr>
              <a:t>uần 1</a:t>
            </a:r>
            <a:endParaRPr sz="1100"/>
          </a:p>
        </p:txBody>
      </p:sp>
      <p:sp>
        <p:nvSpPr>
          <p:cNvPr id="938" name="Google Shape;938;p36"/>
          <p:cNvSpPr txBox="1"/>
          <p:nvPr/>
        </p:nvSpPr>
        <p:spPr>
          <a:xfrm>
            <a:off x="548120" y="2697900"/>
            <a:ext cx="1783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700">
                <a:solidFill>
                  <a:srgbClr val="374151"/>
                </a:solidFill>
                <a:latin typeface="Lexend"/>
                <a:ea typeface="Lexend"/>
                <a:cs typeface="Lexend"/>
                <a:sym typeface="Lexend"/>
              </a:rPr>
              <a:t>Online </a:t>
            </a:r>
            <a:r>
              <a:rPr b="1" i="0" lang="en" sz="700">
                <a:solidFill>
                  <a:srgbClr val="374151"/>
                </a:solidFill>
                <a:latin typeface="Lexend"/>
                <a:ea typeface="Lexend"/>
                <a:cs typeface="Lexend"/>
                <a:sym typeface="Lexend"/>
              </a:rPr>
              <a:t>rate</a:t>
            </a:r>
            <a:endParaRPr sz="1100"/>
          </a:p>
        </p:txBody>
      </p:sp>
      <p:sp>
        <p:nvSpPr>
          <p:cNvPr id="939" name="Google Shape;939;p36"/>
          <p:cNvSpPr txBox="1"/>
          <p:nvPr/>
        </p:nvSpPr>
        <p:spPr>
          <a:xfrm>
            <a:off x="2503007" y="2697900"/>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78,7%</a:t>
            </a:r>
            <a:endParaRPr sz="1100"/>
          </a:p>
        </p:txBody>
      </p:sp>
      <p:sp>
        <p:nvSpPr>
          <p:cNvPr id="940" name="Google Shape;940;p36"/>
          <p:cNvSpPr txBox="1"/>
          <p:nvPr/>
        </p:nvSpPr>
        <p:spPr>
          <a:xfrm>
            <a:off x="3287816" y="2697900"/>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80,4%</a:t>
            </a:r>
            <a:endParaRPr sz="1100"/>
          </a:p>
        </p:txBody>
      </p:sp>
      <p:sp>
        <p:nvSpPr>
          <p:cNvPr id="941" name="Google Shape;941;p36"/>
          <p:cNvSpPr txBox="1"/>
          <p:nvPr/>
        </p:nvSpPr>
        <p:spPr>
          <a:xfrm>
            <a:off x="4072625" y="2697900"/>
            <a:ext cx="570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76,6%</a:t>
            </a:r>
            <a:endParaRPr sz="1100"/>
          </a:p>
        </p:txBody>
      </p:sp>
      <p:sp>
        <p:nvSpPr>
          <p:cNvPr id="942" name="Google Shape;942;p36"/>
          <p:cNvSpPr txBox="1"/>
          <p:nvPr/>
        </p:nvSpPr>
        <p:spPr>
          <a:xfrm>
            <a:off x="4857434" y="2693298"/>
            <a:ext cx="8559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79,5%</a:t>
            </a:r>
            <a:endParaRPr sz="1100"/>
          </a:p>
        </p:txBody>
      </p:sp>
      <p:sp>
        <p:nvSpPr>
          <p:cNvPr id="943" name="Google Shape;943;p36"/>
          <p:cNvSpPr txBox="1"/>
          <p:nvPr/>
        </p:nvSpPr>
        <p:spPr>
          <a:xfrm>
            <a:off x="5927628" y="2711706"/>
            <a:ext cx="26685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0F7A5A"/>
                </a:solidFill>
                <a:latin typeface="Lexend"/>
                <a:ea typeface="Lexend"/>
                <a:cs typeface="Lexend"/>
                <a:sym typeface="Lexend"/>
              </a:rPr>
              <a:t>↑ ph</a:t>
            </a:r>
            <a:r>
              <a:rPr b="1" lang="en" sz="600">
                <a:solidFill>
                  <a:srgbClr val="0F7A5A"/>
                </a:solidFill>
                <a:latin typeface="Lexend"/>
                <a:ea typeface="Lexend"/>
                <a:cs typeface="Lexend"/>
                <a:sym typeface="Lexend"/>
              </a:rPr>
              <a:t>ục </a:t>
            </a:r>
            <a:r>
              <a:rPr b="1" i="0" lang="en" sz="600">
                <a:solidFill>
                  <a:srgbClr val="0F7A5A"/>
                </a:solidFill>
                <a:latin typeface="Lexend"/>
                <a:ea typeface="Lexend"/>
                <a:cs typeface="Lexend"/>
                <a:sym typeface="Lexend"/>
              </a:rPr>
              <a:t>hồi lại sau khi tụt ở T</a:t>
            </a:r>
            <a:r>
              <a:rPr b="1" lang="en" sz="600">
                <a:solidFill>
                  <a:srgbClr val="0F7A5A"/>
                </a:solidFill>
                <a:latin typeface="Lexend"/>
                <a:ea typeface="Lexend"/>
                <a:cs typeface="Lexend"/>
                <a:sym typeface="Lexend"/>
              </a:rPr>
              <a:t>uần 3</a:t>
            </a:r>
            <a:endParaRPr sz="1100"/>
          </a:p>
        </p:txBody>
      </p:sp>
      <p:sp>
        <p:nvSpPr>
          <p:cNvPr id="944" name="Google Shape;944;p36"/>
          <p:cNvSpPr/>
          <p:nvPr/>
        </p:nvSpPr>
        <p:spPr>
          <a:xfrm>
            <a:off x="348350" y="3093729"/>
            <a:ext cx="2739300" cy="1227300"/>
          </a:xfrm>
          <a:prstGeom prst="roundRect">
            <a:avLst>
              <a:gd fmla="val 9302" name="adj"/>
            </a:avLst>
          </a:prstGeom>
          <a:solidFill>
            <a:srgbClr val="FFFFFF"/>
          </a:solidFill>
          <a:ln cap="flat" cmpd="sng" w="10725">
            <a:solidFill>
              <a:srgbClr val="E9EDF3"/>
            </a:solidFill>
            <a:prstDash val="solid"/>
            <a:round/>
            <a:headEnd len="sm" w="sm" type="none"/>
            <a:tailEnd len="sm" w="sm" type="none"/>
          </a:ln>
          <a:effectLst>
            <a:outerShdw blurRad="71346" rotWithShape="0" dir="5400000" dist="28538">
              <a:srgbClr val="0E4174">
                <a:alpha val="10200"/>
              </a:srgbClr>
            </a:outerShdw>
          </a:effectLst>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45" name="Google Shape;945;p36"/>
          <p:cNvSpPr txBox="1"/>
          <p:nvPr/>
        </p:nvSpPr>
        <p:spPr>
          <a:xfrm>
            <a:off x="548120" y="3174778"/>
            <a:ext cx="23403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Funnel</a:t>
            </a:r>
            <a:r>
              <a:rPr b="1" i="0" lang="en" sz="900">
                <a:solidFill>
                  <a:srgbClr val="0E4174"/>
                </a:solidFill>
                <a:latin typeface="Lexend"/>
                <a:ea typeface="Lexend"/>
                <a:cs typeface="Lexend"/>
                <a:sym typeface="Lexend"/>
              </a:rPr>
              <a:t> tài xế t</a:t>
            </a:r>
            <a:r>
              <a:rPr b="1" lang="en" sz="900">
                <a:solidFill>
                  <a:srgbClr val="0E4174"/>
                </a:solidFill>
                <a:latin typeface="Lexend"/>
                <a:ea typeface="Lexend"/>
                <a:cs typeface="Lexend"/>
                <a:sym typeface="Lexend"/>
              </a:rPr>
              <a:t>ừ đăng ký → có đơn</a:t>
            </a:r>
            <a:endParaRPr sz="1100"/>
          </a:p>
        </p:txBody>
      </p:sp>
      <p:sp>
        <p:nvSpPr>
          <p:cNvPr id="946" name="Google Shape;946;p36"/>
          <p:cNvSpPr txBox="1"/>
          <p:nvPr/>
        </p:nvSpPr>
        <p:spPr>
          <a:xfrm>
            <a:off x="548120" y="3496513"/>
            <a:ext cx="8421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374151"/>
                </a:solidFill>
                <a:latin typeface="Lexend"/>
                <a:ea typeface="Lexend"/>
                <a:cs typeface="Lexend"/>
                <a:sym typeface="Lexend"/>
              </a:rPr>
              <a:t>TX đăng ký ≥1 ca</a:t>
            </a:r>
            <a:endParaRPr sz="1100"/>
          </a:p>
        </p:txBody>
      </p:sp>
      <p:sp>
        <p:nvSpPr>
          <p:cNvPr id="947" name="Google Shape;947;p36"/>
          <p:cNvSpPr/>
          <p:nvPr/>
        </p:nvSpPr>
        <p:spPr>
          <a:xfrm>
            <a:off x="1418544" y="3518239"/>
            <a:ext cx="713100" cy="92700"/>
          </a:xfrm>
          <a:prstGeom prst="roundRect">
            <a:avLst>
              <a:gd fmla="val 50000" name="adj"/>
            </a:avLst>
          </a:prstGeom>
          <a:solidFill>
            <a:srgbClr val="F1F3F5"/>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48" name="Google Shape;948;p36"/>
          <p:cNvSpPr/>
          <p:nvPr/>
        </p:nvSpPr>
        <p:spPr>
          <a:xfrm>
            <a:off x="1418544" y="3518239"/>
            <a:ext cx="713100" cy="92700"/>
          </a:xfrm>
          <a:prstGeom prst="roundRect">
            <a:avLst>
              <a:gd fmla="val 50000" name="adj"/>
            </a:avLst>
          </a:prstGeom>
          <a:solidFill>
            <a:srgbClr val="0E4174"/>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49" name="Google Shape;949;p36"/>
          <p:cNvSpPr txBox="1"/>
          <p:nvPr/>
        </p:nvSpPr>
        <p:spPr>
          <a:xfrm>
            <a:off x="2503007" y="3473504"/>
            <a:ext cx="385500" cy="176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800">
                <a:solidFill>
                  <a:srgbClr val="0E4174"/>
                </a:solidFill>
                <a:latin typeface="Lexend"/>
                <a:ea typeface="Lexend"/>
                <a:cs typeface="Lexend"/>
                <a:sym typeface="Lexend"/>
              </a:rPr>
              <a:t>674</a:t>
            </a:r>
            <a:endParaRPr sz="1100"/>
          </a:p>
        </p:txBody>
      </p:sp>
      <p:sp>
        <p:nvSpPr>
          <p:cNvPr id="950" name="Google Shape;950;p36"/>
          <p:cNvSpPr txBox="1"/>
          <p:nvPr/>
        </p:nvSpPr>
        <p:spPr>
          <a:xfrm>
            <a:off x="548120" y="3696283"/>
            <a:ext cx="8421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374151"/>
                </a:solidFill>
                <a:latin typeface="Lexend"/>
                <a:ea typeface="Lexend"/>
                <a:cs typeface="Lexend"/>
                <a:sym typeface="Lexend"/>
              </a:rPr>
              <a:t>TX check-in ≥1 ca</a:t>
            </a:r>
            <a:endParaRPr sz="1100"/>
          </a:p>
        </p:txBody>
      </p:sp>
      <p:sp>
        <p:nvSpPr>
          <p:cNvPr id="951" name="Google Shape;951;p36"/>
          <p:cNvSpPr/>
          <p:nvPr/>
        </p:nvSpPr>
        <p:spPr>
          <a:xfrm>
            <a:off x="1418544" y="3718008"/>
            <a:ext cx="713100" cy="92700"/>
          </a:xfrm>
          <a:prstGeom prst="roundRect">
            <a:avLst>
              <a:gd fmla="val 50000" name="adj"/>
            </a:avLst>
          </a:prstGeom>
          <a:solidFill>
            <a:srgbClr val="F1F3F5"/>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52" name="Google Shape;952;p36"/>
          <p:cNvSpPr/>
          <p:nvPr/>
        </p:nvSpPr>
        <p:spPr>
          <a:xfrm>
            <a:off x="1418544" y="3718008"/>
            <a:ext cx="353700" cy="92700"/>
          </a:xfrm>
          <a:prstGeom prst="roundRect">
            <a:avLst>
              <a:gd fmla="val 50000" name="adj"/>
            </a:avLst>
          </a:prstGeom>
          <a:solidFill>
            <a:srgbClr val="FF7F32"/>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53" name="Google Shape;953;p36"/>
          <p:cNvSpPr txBox="1"/>
          <p:nvPr/>
        </p:nvSpPr>
        <p:spPr>
          <a:xfrm>
            <a:off x="2503007" y="3673273"/>
            <a:ext cx="385500" cy="176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800">
                <a:solidFill>
                  <a:srgbClr val="B4531A"/>
                </a:solidFill>
                <a:latin typeface="Lexend"/>
                <a:ea typeface="Lexend"/>
                <a:cs typeface="Lexend"/>
                <a:sym typeface="Lexend"/>
              </a:rPr>
              <a:t>334</a:t>
            </a:r>
            <a:endParaRPr sz="1100"/>
          </a:p>
        </p:txBody>
      </p:sp>
      <p:sp>
        <p:nvSpPr>
          <p:cNvPr id="954" name="Google Shape;954;p36"/>
          <p:cNvSpPr txBox="1"/>
          <p:nvPr/>
        </p:nvSpPr>
        <p:spPr>
          <a:xfrm>
            <a:off x="548120" y="3896052"/>
            <a:ext cx="842100" cy="14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374151"/>
                </a:solidFill>
                <a:latin typeface="Lexend"/>
                <a:ea typeface="Lexend"/>
                <a:cs typeface="Lexend"/>
                <a:sym typeface="Lexend"/>
              </a:rPr>
              <a:t>TX có đơn trong ca</a:t>
            </a:r>
            <a:endParaRPr sz="1100"/>
          </a:p>
        </p:txBody>
      </p:sp>
      <p:sp>
        <p:nvSpPr>
          <p:cNvPr id="955" name="Google Shape;955;p36"/>
          <p:cNvSpPr/>
          <p:nvPr/>
        </p:nvSpPr>
        <p:spPr>
          <a:xfrm>
            <a:off x="1418544" y="3917777"/>
            <a:ext cx="713100" cy="92700"/>
          </a:xfrm>
          <a:prstGeom prst="roundRect">
            <a:avLst>
              <a:gd fmla="val 50000" name="adj"/>
            </a:avLst>
          </a:prstGeom>
          <a:solidFill>
            <a:srgbClr val="F1F3F5"/>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56" name="Google Shape;956;p36"/>
          <p:cNvSpPr/>
          <p:nvPr/>
        </p:nvSpPr>
        <p:spPr>
          <a:xfrm>
            <a:off x="1418544" y="3917777"/>
            <a:ext cx="336600" cy="92700"/>
          </a:xfrm>
          <a:prstGeom prst="roundRect">
            <a:avLst>
              <a:gd fmla="val 50000" name="adj"/>
            </a:avLst>
          </a:prstGeom>
          <a:solidFill>
            <a:srgbClr val="F3C4A0"/>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57" name="Google Shape;957;p36"/>
          <p:cNvSpPr txBox="1"/>
          <p:nvPr/>
        </p:nvSpPr>
        <p:spPr>
          <a:xfrm>
            <a:off x="2503007" y="3873043"/>
            <a:ext cx="385500" cy="176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800">
                <a:solidFill>
                  <a:srgbClr val="B4531A"/>
                </a:solidFill>
                <a:latin typeface="Lexend"/>
                <a:ea typeface="Lexend"/>
                <a:cs typeface="Lexend"/>
                <a:sym typeface="Lexend"/>
              </a:rPr>
              <a:t>318</a:t>
            </a:r>
            <a:endParaRPr sz="1100"/>
          </a:p>
        </p:txBody>
      </p:sp>
      <p:sp>
        <p:nvSpPr>
          <p:cNvPr id="958" name="Google Shape;958;p36"/>
          <p:cNvSpPr txBox="1"/>
          <p:nvPr/>
        </p:nvSpPr>
        <p:spPr>
          <a:xfrm>
            <a:off x="548120" y="4114692"/>
            <a:ext cx="2426100" cy="13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9CA3AF"/>
                </a:solidFill>
                <a:latin typeface="Lexend"/>
                <a:ea typeface="Lexend"/>
                <a:cs typeface="Lexend"/>
                <a:sym typeface="Lexend"/>
              </a:rPr>
              <a:t>49,6% đăng ký → check-in </a:t>
            </a:r>
            <a:r>
              <a:rPr lang="en" sz="600">
                <a:solidFill>
                  <a:srgbClr val="9CA3AF"/>
                </a:solidFill>
                <a:latin typeface="Lexend"/>
                <a:ea typeface="Lexend"/>
                <a:cs typeface="Lexend"/>
                <a:sym typeface="Lexend"/>
              </a:rPr>
              <a:t>• </a:t>
            </a:r>
            <a:r>
              <a:rPr b="0" i="0" lang="en" sz="600">
                <a:solidFill>
                  <a:srgbClr val="9CA3AF"/>
                </a:solidFill>
                <a:latin typeface="Lexend"/>
                <a:ea typeface="Lexend"/>
                <a:cs typeface="Lexend"/>
                <a:sym typeface="Lexend"/>
              </a:rPr>
              <a:t>95,2% check-in → có đơn</a:t>
            </a:r>
            <a:endParaRPr sz="1100"/>
          </a:p>
        </p:txBody>
      </p:sp>
      <p:sp>
        <p:nvSpPr>
          <p:cNvPr id="959" name="Google Shape;959;p36"/>
          <p:cNvSpPr/>
          <p:nvPr/>
        </p:nvSpPr>
        <p:spPr>
          <a:xfrm>
            <a:off x="3202201" y="3093729"/>
            <a:ext cx="2739300" cy="1227300"/>
          </a:xfrm>
          <a:prstGeom prst="roundRect">
            <a:avLst>
              <a:gd fmla="val 9302" name="adj"/>
            </a:avLst>
          </a:prstGeom>
          <a:solidFill>
            <a:srgbClr val="FFFFFF"/>
          </a:solidFill>
          <a:ln cap="flat" cmpd="sng" w="10725">
            <a:solidFill>
              <a:srgbClr val="E9EDF3"/>
            </a:solidFill>
            <a:prstDash val="solid"/>
            <a:round/>
            <a:headEnd len="sm" w="sm" type="none"/>
            <a:tailEnd len="sm" w="sm" type="none"/>
          </a:ln>
          <a:effectLst>
            <a:outerShdw blurRad="71346" rotWithShape="0" dir="5400000" dist="28538">
              <a:srgbClr val="0E4174">
                <a:alpha val="10200"/>
              </a:srgbClr>
            </a:outerShdw>
          </a:effectLst>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60" name="Google Shape;960;p36"/>
          <p:cNvSpPr txBox="1"/>
          <p:nvPr/>
        </p:nvSpPr>
        <p:spPr>
          <a:xfrm>
            <a:off x="3401970" y="3174778"/>
            <a:ext cx="23403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Chất lượng cải thiện rõ rệt ở Tuần 4</a:t>
            </a:r>
            <a:endParaRPr sz="1100"/>
          </a:p>
        </p:txBody>
      </p:sp>
      <p:sp>
        <p:nvSpPr>
          <p:cNvPr id="961" name="Google Shape;961;p36"/>
          <p:cNvSpPr txBox="1"/>
          <p:nvPr/>
        </p:nvSpPr>
        <p:spPr>
          <a:xfrm>
            <a:off x="3401970" y="3471054"/>
            <a:ext cx="2853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a:t>
            </a:r>
            <a:r>
              <a:rPr b="1" lang="en" sz="700">
                <a:solidFill>
                  <a:srgbClr val="6B7280"/>
                </a:solidFill>
                <a:latin typeface="Lexend"/>
                <a:ea typeface="Lexend"/>
                <a:cs typeface="Lexend"/>
                <a:sym typeface="Lexend"/>
              </a:rPr>
              <a:t>uần 3</a:t>
            </a:r>
            <a:endParaRPr sz="1100"/>
          </a:p>
        </p:txBody>
      </p:sp>
      <p:sp>
        <p:nvSpPr>
          <p:cNvPr id="962" name="Google Shape;962;p36"/>
          <p:cNvSpPr txBox="1"/>
          <p:nvPr/>
        </p:nvSpPr>
        <p:spPr>
          <a:xfrm>
            <a:off x="3673086" y="3466452"/>
            <a:ext cx="570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6B7280"/>
                </a:solidFill>
                <a:latin typeface="Lexend"/>
                <a:ea typeface="Lexend"/>
                <a:cs typeface="Lexend"/>
                <a:sym typeface="Lexend"/>
              </a:rPr>
              <a:t>356 TX</a:t>
            </a:r>
            <a:endParaRPr sz="1100"/>
          </a:p>
        </p:txBody>
      </p:sp>
      <p:sp>
        <p:nvSpPr>
          <p:cNvPr id="963" name="Google Shape;963;p36"/>
          <p:cNvSpPr txBox="1"/>
          <p:nvPr/>
        </p:nvSpPr>
        <p:spPr>
          <a:xfrm>
            <a:off x="4350876" y="3475656"/>
            <a:ext cx="213900" cy="14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a:t>
            </a:r>
            <a:endParaRPr sz="1100"/>
          </a:p>
        </p:txBody>
      </p:sp>
      <p:sp>
        <p:nvSpPr>
          <p:cNvPr id="964" name="Google Shape;964;p36"/>
          <p:cNvSpPr txBox="1"/>
          <p:nvPr/>
        </p:nvSpPr>
        <p:spPr>
          <a:xfrm>
            <a:off x="4614857" y="3466452"/>
            <a:ext cx="570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6B7280"/>
                </a:solidFill>
                <a:latin typeface="Lexend"/>
                <a:ea typeface="Lexend"/>
                <a:cs typeface="Lexend"/>
                <a:sym typeface="Lexend"/>
              </a:rPr>
              <a:t>840 ca</a:t>
            </a:r>
            <a:endParaRPr sz="1100"/>
          </a:p>
        </p:txBody>
      </p:sp>
      <p:sp>
        <p:nvSpPr>
          <p:cNvPr id="965" name="Google Shape;965;p36"/>
          <p:cNvSpPr txBox="1"/>
          <p:nvPr/>
        </p:nvSpPr>
        <p:spPr>
          <a:xfrm>
            <a:off x="3401976" y="3685096"/>
            <a:ext cx="3366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E0641A"/>
                </a:solidFill>
                <a:latin typeface="Lexend"/>
                <a:ea typeface="Lexend"/>
                <a:cs typeface="Lexend"/>
                <a:sym typeface="Lexend"/>
              </a:rPr>
              <a:t>T</a:t>
            </a:r>
            <a:r>
              <a:rPr b="1" lang="en" sz="700">
                <a:solidFill>
                  <a:srgbClr val="E0641A"/>
                </a:solidFill>
                <a:latin typeface="Lexend"/>
                <a:ea typeface="Lexend"/>
                <a:cs typeface="Lexend"/>
                <a:sym typeface="Lexend"/>
              </a:rPr>
              <a:t>uần 4</a:t>
            </a:r>
            <a:endParaRPr sz="1100"/>
          </a:p>
        </p:txBody>
      </p:sp>
      <p:sp>
        <p:nvSpPr>
          <p:cNvPr id="966" name="Google Shape;966;p36"/>
          <p:cNvSpPr txBox="1"/>
          <p:nvPr/>
        </p:nvSpPr>
        <p:spPr>
          <a:xfrm>
            <a:off x="3673086" y="3680491"/>
            <a:ext cx="570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374151"/>
                </a:solidFill>
                <a:latin typeface="Lexend"/>
                <a:ea typeface="Lexend"/>
                <a:cs typeface="Lexend"/>
                <a:sym typeface="Lexend"/>
              </a:rPr>
              <a:t>274 TX</a:t>
            </a:r>
            <a:endParaRPr sz="1100"/>
          </a:p>
        </p:txBody>
      </p:sp>
      <p:sp>
        <p:nvSpPr>
          <p:cNvPr id="967" name="Google Shape;967;p36"/>
          <p:cNvSpPr txBox="1"/>
          <p:nvPr/>
        </p:nvSpPr>
        <p:spPr>
          <a:xfrm>
            <a:off x="4350876" y="3689694"/>
            <a:ext cx="213900" cy="14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a:t>
            </a:r>
            <a:endParaRPr sz="1100"/>
          </a:p>
        </p:txBody>
      </p:sp>
      <p:sp>
        <p:nvSpPr>
          <p:cNvPr id="968" name="Google Shape;968;p36"/>
          <p:cNvSpPr txBox="1"/>
          <p:nvPr/>
        </p:nvSpPr>
        <p:spPr>
          <a:xfrm>
            <a:off x="4614857" y="3680491"/>
            <a:ext cx="570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861 ca</a:t>
            </a:r>
            <a:endParaRPr sz="1100"/>
          </a:p>
        </p:txBody>
      </p:sp>
      <p:sp>
        <p:nvSpPr>
          <p:cNvPr id="969" name="Google Shape;969;p36"/>
          <p:cNvSpPr txBox="1"/>
          <p:nvPr/>
        </p:nvSpPr>
        <p:spPr>
          <a:xfrm>
            <a:off x="3401975" y="3933625"/>
            <a:ext cx="2525700" cy="3711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 sz="800">
                <a:solidFill>
                  <a:srgbClr val="B4531A"/>
                </a:solidFill>
                <a:latin typeface="Lexend"/>
                <a:ea typeface="Lexend"/>
                <a:cs typeface="Lexend"/>
                <a:sym typeface="Lexend"/>
              </a:rPr>
              <a:t>Ít tài xế hơn nhưng nhiều ca hơn.</a:t>
            </a:r>
            <a:r>
              <a:rPr b="1" i="0" lang="en" sz="700">
                <a:solidFill>
                  <a:srgbClr val="B4531A"/>
                </a:solidFill>
                <a:latin typeface="Lexend"/>
                <a:ea typeface="Lexend"/>
                <a:cs typeface="Lexend"/>
                <a:sym typeface="Lexend"/>
              </a:rPr>
              <a:t> </a:t>
            </a:r>
            <a:r>
              <a:rPr lang="en" sz="700">
                <a:solidFill>
                  <a:srgbClr val="374151"/>
                </a:solidFill>
                <a:latin typeface="Lexend"/>
                <a:ea typeface="Lexend"/>
                <a:cs typeface="Lexend"/>
                <a:sym typeface="Lexend"/>
              </a:rPr>
              <a:t>Mô hình</a:t>
            </a:r>
            <a:r>
              <a:rPr b="0" i="0" lang="en" sz="700">
                <a:solidFill>
                  <a:srgbClr val="374151"/>
                </a:solidFill>
                <a:latin typeface="Lexend"/>
                <a:ea typeface="Lexend"/>
                <a:cs typeface="Lexend"/>
                <a:sym typeface="Lexend"/>
              </a:rPr>
              <a:t> đang chuyển từ “</a:t>
            </a:r>
            <a:r>
              <a:rPr lang="en" sz="700">
                <a:solidFill>
                  <a:srgbClr val="374151"/>
                </a:solidFill>
                <a:latin typeface="Lexend"/>
                <a:ea typeface="Lexend"/>
                <a:cs typeface="Lexend"/>
                <a:sym typeface="Lexend"/>
              </a:rPr>
              <a:t>tuyển</a:t>
            </a:r>
            <a:r>
              <a:rPr b="0" i="0" lang="en" sz="700">
                <a:solidFill>
                  <a:srgbClr val="374151"/>
                </a:solidFill>
                <a:latin typeface="Lexend"/>
                <a:ea typeface="Lexend"/>
                <a:cs typeface="Lexend"/>
                <a:sym typeface="Lexend"/>
              </a:rPr>
              <a:t> </a:t>
            </a:r>
            <a:r>
              <a:rPr lang="en" sz="700">
                <a:solidFill>
                  <a:srgbClr val="374151"/>
                </a:solidFill>
                <a:latin typeface="Lexend"/>
                <a:ea typeface="Lexend"/>
                <a:cs typeface="Lexend"/>
                <a:sym typeface="Lexend"/>
              </a:rPr>
              <a:t>TX</a:t>
            </a:r>
            <a:r>
              <a:rPr b="0" i="0" lang="en" sz="700">
                <a:solidFill>
                  <a:srgbClr val="374151"/>
                </a:solidFill>
                <a:latin typeface="Lexend"/>
                <a:ea typeface="Lexend"/>
                <a:cs typeface="Lexend"/>
                <a:sym typeface="Lexend"/>
              </a:rPr>
              <a:t> mới” sang “dùng </a:t>
            </a:r>
            <a:r>
              <a:rPr lang="en" sz="700">
                <a:solidFill>
                  <a:srgbClr val="374151"/>
                </a:solidFill>
                <a:latin typeface="Lexend"/>
                <a:ea typeface="Lexend"/>
                <a:cs typeface="Lexend"/>
                <a:sym typeface="Lexend"/>
              </a:rPr>
              <a:t>triệt để</a:t>
            </a:r>
            <a:r>
              <a:rPr b="0" i="0" lang="en" sz="700">
                <a:solidFill>
                  <a:srgbClr val="374151"/>
                </a:solidFill>
                <a:latin typeface="Lexend"/>
                <a:ea typeface="Lexend"/>
                <a:cs typeface="Lexend"/>
                <a:sym typeface="Lexend"/>
              </a:rPr>
              <a:t> </a:t>
            </a:r>
            <a:r>
              <a:rPr lang="en" sz="700">
                <a:solidFill>
                  <a:srgbClr val="374151"/>
                </a:solidFill>
                <a:latin typeface="Lexend"/>
                <a:ea typeface="Lexend"/>
                <a:cs typeface="Lexend"/>
                <a:sym typeface="Lexend"/>
              </a:rPr>
              <a:t>TX hiện </a:t>
            </a:r>
            <a:r>
              <a:rPr b="0" i="0" lang="en" sz="700">
                <a:solidFill>
                  <a:srgbClr val="374151"/>
                </a:solidFill>
                <a:latin typeface="Lexend"/>
                <a:ea typeface="Lexend"/>
                <a:cs typeface="Lexend"/>
                <a:sym typeface="Lexend"/>
              </a:rPr>
              <a:t>có”.</a:t>
            </a:r>
            <a:endParaRPr sz="1100"/>
          </a:p>
        </p:txBody>
      </p:sp>
      <p:sp>
        <p:nvSpPr>
          <p:cNvPr id="970" name="Google Shape;970;p36"/>
          <p:cNvSpPr/>
          <p:nvPr/>
        </p:nvSpPr>
        <p:spPr>
          <a:xfrm>
            <a:off x="6056051" y="3093729"/>
            <a:ext cx="2739300" cy="1227300"/>
          </a:xfrm>
          <a:prstGeom prst="roundRect">
            <a:avLst>
              <a:gd fmla="val 9302" name="adj"/>
            </a:avLst>
          </a:prstGeom>
          <a:solidFill>
            <a:srgbClr val="FFFFFF"/>
          </a:solidFill>
          <a:ln cap="flat" cmpd="sng" w="10725">
            <a:solidFill>
              <a:srgbClr val="E9EDF3"/>
            </a:solidFill>
            <a:prstDash val="solid"/>
            <a:round/>
            <a:headEnd len="sm" w="sm" type="none"/>
            <a:tailEnd len="sm" w="sm" type="none"/>
          </a:ln>
          <a:effectLst>
            <a:outerShdw blurRad="71346" rotWithShape="0" dir="5400000" dist="28538">
              <a:srgbClr val="0E4174">
                <a:alpha val="10200"/>
              </a:srgbClr>
            </a:outerShdw>
          </a:effectLst>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71" name="Google Shape;971;p36"/>
          <p:cNvSpPr txBox="1"/>
          <p:nvPr/>
        </p:nvSpPr>
        <p:spPr>
          <a:xfrm>
            <a:off x="6255821" y="3174778"/>
            <a:ext cx="23403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Vẫn còn 2 điểm cần cải thiện</a:t>
            </a:r>
            <a:endParaRPr sz="1100"/>
          </a:p>
        </p:txBody>
      </p:sp>
      <p:sp>
        <p:nvSpPr>
          <p:cNvPr id="972" name="Google Shape;972;p36"/>
          <p:cNvSpPr txBox="1"/>
          <p:nvPr/>
        </p:nvSpPr>
        <p:spPr>
          <a:xfrm>
            <a:off x="6255821" y="3446820"/>
            <a:ext cx="570900" cy="2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100">
                <a:solidFill>
                  <a:srgbClr val="E0641A"/>
                </a:solidFill>
                <a:latin typeface="Lexend"/>
                <a:ea typeface="Lexend"/>
                <a:cs typeface="Lexend"/>
                <a:sym typeface="Lexend"/>
              </a:rPr>
              <a:t>50,4%</a:t>
            </a:r>
            <a:endParaRPr sz="1100"/>
          </a:p>
        </p:txBody>
      </p:sp>
      <p:sp>
        <p:nvSpPr>
          <p:cNvPr id="973" name="Google Shape;973;p36"/>
          <p:cNvSpPr txBox="1"/>
          <p:nvPr/>
        </p:nvSpPr>
        <p:spPr>
          <a:xfrm>
            <a:off x="6798052" y="3493267"/>
            <a:ext cx="1797900" cy="256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 sz="600">
                <a:solidFill>
                  <a:srgbClr val="6B7280"/>
                </a:solidFill>
                <a:latin typeface="Lexend"/>
                <a:ea typeface="Lexend"/>
                <a:cs typeface="Lexend"/>
                <a:sym typeface="Lexend"/>
              </a:rPr>
              <a:t>T</a:t>
            </a:r>
            <a:r>
              <a:rPr b="0" i="0" lang="en" sz="600">
                <a:solidFill>
                  <a:srgbClr val="6B7280"/>
                </a:solidFill>
                <a:latin typeface="Lexend"/>
                <a:ea typeface="Lexend"/>
                <a:cs typeface="Lexend"/>
                <a:sym typeface="Lexend"/>
              </a:rPr>
              <a:t>ài xế đã đăng ký chưa từng check-in</a:t>
            </a:r>
            <a:br>
              <a:rPr lang="en" sz="600">
                <a:solidFill>
                  <a:srgbClr val="6B7280"/>
                </a:solidFill>
                <a:latin typeface="Lexend"/>
                <a:ea typeface="Lexend"/>
                <a:cs typeface="Lexend"/>
                <a:sym typeface="Lexend"/>
              </a:rPr>
            </a:br>
            <a:r>
              <a:rPr b="0" i="0" lang="en" sz="600">
                <a:solidFill>
                  <a:srgbClr val="6B7280"/>
                </a:solidFill>
                <a:latin typeface="Lexend"/>
                <a:ea typeface="Lexend"/>
                <a:cs typeface="Lexend"/>
                <a:sym typeface="Lexend"/>
              </a:rPr>
              <a:t>(340/674)</a:t>
            </a:r>
            <a:endParaRPr sz="1100"/>
          </a:p>
        </p:txBody>
      </p:sp>
      <p:sp>
        <p:nvSpPr>
          <p:cNvPr id="974" name="Google Shape;974;p36"/>
          <p:cNvSpPr/>
          <p:nvPr/>
        </p:nvSpPr>
        <p:spPr>
          <a:xfrm>
            <a:off x="6255821" y="3803623"/>
            <a:ext cx="2340300" cy="7500"/>
          </a:xfrm>
          <a:prstGeom prst="rect">
            <a:avLst/>
          </a:prstGeom>
          <a:solidFill>
            <a:srgbClr val="EDF1F6"/>
          </a:solidFill>
          <a:ln>
            <a:noFill/>
          </a:ln>
        </p:spPr>
        <p:txBody>
          <a:bodyPr anchorCtr="0" anchor="ctr" bIns="34250" lIns="68450" spcFirstLastPara="1" rIns="68450" wrap="square" tIns="34250">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75" name="Google Shape;975;p36"/>
          <p:cNvSpPr txBox="1"/>
          <p:nvPr/>
        </p:nvSpPr>
        <p:spPr>
          <a:xfrm>
            <a:off x="6255821" y="3874897"/>
            <a:ext cx="570900" cy="2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100">
                <a:solidFill>
                  <a:srgbClr val="E0641A"/>
                </a:solidFill>
                <a:latin typeface="Lexend"/>
                <a:ea typeface="Lexend"/>
                <a:cs typeface="Lexend"/>
                <a:sym typeface="Lexend"/>
              </a:rPr>
              <a:t>20,7%</a:t>
            </a:r>
            <a:endParaRPr sz="1100"/>
          </a:p>
        </p:txBody>
      </p:sp>
      <p:sp>
        <p:nvSpPr>
          <p:cNvPr id="976" name="Google Shape;976;p36"/>
          <p:cNvSpPr txBox="1"/>
          <p:nvPr/>
        </p:nvSpPr>
        <p:spPr>
          <a:xfrm>
            <a:off x="6798052" y="3921344"/>
            <a:ext cx="1797900" cy="256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 sz="600">
                <a:solidFill>
                  <a:srgbClr val="6B7280"/>
                </a:solidFill>
                <a:latin typeface="Lexend"/>
                <a:ea typeface="Lexend"/>
                <a:cs typeface="Lexend"/>
                <a:sym typeface="Lexend"/>
              </a:rPr>
              <a:t>đơn chạy ngoài ca </a:t>
            </a:r>
            <a:r>
              <a:rPr lang="en" sz="600">
                <a:solidFill>
                  <a:srgbClr val="6B7280"/>
                </a:solidFill>
                <a:latin typeface="Lexend"/>
                <a:ea typeface="Lexend"/>
                <a:cs typeface="Lexend"/>
                <a:sym typeface="Lexend"/>
              </a:rPr>
              <a:t>~</a:t>
            </a:r>
            <a:r>
              <a:rPr b="0" i="0" lang="en" sz="600">
                <a:solidFill>
                  <a:srgbClr val="6B7280"/>
                </a:solidFill>
                <a:latin typeface="Lexend"/>
                <a:ea typeface="Lexend"/>
                <a:cs typeface="Lexend"/>
                <a:sym typeface="Lexend"/>
              </a:rPr>
              <a:t> 1.399 đơn / 39,4 tri</a:t>
            </a:r>
            <a:r>
              <a:rPr lang="en" sz="600">
                <a:solidFill>
                  <a:srgbClr val="6B7280"/>
                </a:solidFill>
                <a:latin typeface="Lexend"/>
                <a:ea typeface="Lexend"/>
                <a:cs typeface="Lexend"/>
                <a:sym typeface="Lexend"/>
              </a:rPr>
              <a:t>ệu</a:t>
            </a:r>
            <a:r>
              <a:rPr b="0" i="0" lang="en" sz="600">
                <a:solidFill>
                  <a:srgbClr val="6B7280"/>
                </a:solidFill>
                <a:latin typeface="Lexend"/>
                <a:ea typeface="Lexend"/>
                <a:cs typeface="Lexend"/>
                <a:sym typeface="Lexend"/>
              </a:rPr>
              <a:t> đồng</a:t>
            </a:r>
            <a:endParaRPr sz="1100"/>
          </a:p>
        </p:txBody>
      </p:sp>
      <p:sp>
        <p:nvSpPr>
          <p:cNvPr id="977" name="Google Shape;977;p36"/>
          <p:cNvSpPr txBox="1"/>
          <p:nvPr/>
        </p:nvSpPr>
        <p:spPr>
          <a:xfrm>
            <a:off x="6255821" y="4147832"/>
            <a:ext cx="24261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600">
                <a:solidFill>
                  <a:srgbClr val="9CA3AF"/>
                </a:solidFill>
                <a:latin typeface="Lexend"/>
                <a:ea typeface="Lexend"/>
                <a:cs typeface="Lexend"/>
                <a:sym typeface="Lexend"/>
              </a:rPr>
              <a:t>M</a:t>
            </a:r>
            <a:r>
              <a:rPr b="0" i="0" lang="en" sz="600">
                <a:solidFill>
                  <a:srgbClr val="9CA3AF"/>
                </a:solidFill>
                <a:latin typeface="Lexend"/>
                <a:ea typeface="Lexend"/>
                <a:cs typeface="Lexend"/>
                <a:sym typeface="Lexend"/>
              </a:rPr>
              <a:t>ẫu số = đơn trong ca + ngoài ca (6.755 </a:t>
            </a:r>
            <a:r>
              <a:rPr lang="en" sz="600">
                <a:solidFill>
                  <a:srgbClr val="9CA3AF"/>
                </a:solidFill>
                <a:latin typeface="Lexend"/>
                <a:ea typeface="Lexend"/>
                <a:cs typeface="Lexend"/>
                <a:sym typeface="Lexend"/>
              </a:rPr>
              <a:t>đơn</a:t>
            </a:r>
            <a:r>
              <a:rPr b="0" i="0" lang="en" sz="600">
                <a:solidFill>
                  <a:srgbClr val="9CA3AF"/>
                </a:solidFill>
                <a:latin typeface="Lexend"/>
                <a:ea typeface="Lexend"/>
                <a:cs typeface="Lexend"/>
                <a:sym typeface="Lexend"/>
              </a:rPr>
              <a:t>)</a:t>
            </a:r>
            <a:endParaRPr sz="1100"/>
          </a:p>
        </p:txBody>
      </p:sp>
      <p:cxnSp>
        <p:nvCxnSpPr>
          <p:cNvPr id="978" name="Google Shape;978;p36"/>
          <p:cNvCxnSpPr/>
          <p:nvPr/>
        </p:nvCxnSpPr>
        <p:spPr>
          <a:xfrm>
            <a:off x="365760" y="868680"/>
            <a:ext cx="8412600" cy="0"/>
          </a:xfrm>
          <a:prstGeom prst="straightConnector1">
            <a:avLst/>
          </a:prstGeom>
          <a:noFill/>
          <a:ln cap="flat" cmpd="sng" w="9525">
            <a:solidFill>
              <a:srgbClr val="E2E8F0"/>
            </a:solidFill>
            <a:prstDash val="solid"/>
            <a:round/>
            <a:headEnd len="sm" w="sm" type="none"/>
            <a:tailEnd len="sm" w="sm" type="none"/>
          </a:ln>
        </p:spPr>
      </p:cxnSp>
      <p:sp>
        <p:nvSpPr>
          <p:cNvPr id="979" name="Google Shape;979;p36"/>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0" name="Google Shape;980;p36"/>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CITIZONE</a:t>
            </a:r>
            <a:endParaRPr sz="1100"/>
          </a:p>
        </p:txBody>
      </p:sp>
      <p:sp>
        <p:nvSpPr>
          <p:cNvPr id="981" name="Google Shape;981;p36"/>
          <p:cNvSpPr txBox="1"/>
          <p:nvPr/>
        </p:nvSpPr>
        <p:spPr>
          <a:xfrm>
            <a:off x="500063" y="528209"/>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Qua 4 tuần triển khai, Citizone đang cải thiện dần: ít tài xế hơn nhưng sản lượng và hiệu suất tốt hơn</a:t>
            </a:r>
            <a:endParaRPr b="1" sz="800">
              <a:solidFill>
                <a:srgbClr val="6B7280"/>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5" name="Shape 985"/>
        <p:cNvGrpSpPr/>
        <p:nvPr/>
      </p:nvGrpSpPr>
      <p:grpSpPr>
        <a:xfrm>
          <a:off x="0" y="0"/>
          <a:ext cx="0" cy="0"/>
          <a:chOff x="0" y="0"/>
          <a:chExt cx="0" cy="0"/>
        </a:xfrm>
      </p:grpSpPr>
      <p:cxnSp>
        <p:nvCxnSpPr>
          <p:cNvPr id="986" name="Google Shape;986;p37"/>
          <p:cNvCxnSpPr/>
          <p:nvPr/>
        </p:nvCxnSpPr>
        <p:spPr>
          <a:xfrm>
            <a:off x="365760" y="868680"/>
            <a:ext cx="8412600" cy="0"/>
          </a:xfrm>
          <a:prstGeom prst="straightConnector1">
            <a:avLst/>
          </a:prstGeom>
          <a:noFill/>
          <a:ln cap="flat" cmpd="sng" w="9525">
            <a:solidFill>
              <a:srgbClr val="E2E8F0"/>
            </a:solidFill>
            <a:prstDash val="solid"/>
            <a:round/>
            <a:headEnd len="sm" w="sm" type="none"/>
            <a:tailEnd len="sm" w="sm" type="none"/>
          </a:ln>
        </p:spPr>
      </p:cxnSp>
      <p:sp>
        <p:nvSpPr>
          <p:cNvPr id="987" name="Google Shape;987;p37"/>
          <p:cNvSpPr/>
          <p:nvPr/>
        </p:nvSpPr>
        <p:spPr>
          <a:xfrm>
            <a:off x="365751" y="970225"/>
            <a:ext cx="3998700" cy="1385400"/>
          </a:xfrm>
          <a:prstGeom prst="roundRect">
            <a:avLst>
              <a:gd fmla="val 8247" name="adj"/>
            </a:avLst>
          </a:prstGeom>
          <a:solidFill>
            <a:srgbClr val="FDECEC"/>
          </a:solidFill>
          <a:ln cap="flat" cmpd="sng" w="10700">
            <a:solidFill>
              <a:srgbClr val="F3B7B7"/>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88" name="Google Shape;988;p37"/>
          <p:cNvSpPr/>
          <p:nvPr/>
        </p:nvSpPr>
        <p:spPr>
          <a:xfrm>
            <a:off x="565682" y="1134453"/>
            <a:ext cx="36000" cy="128700"/>
          </a:xfrm>
          <a:prstGeom prst="roundRect">
            <a:avLst>
              <a:gd fmla="val 50000" name="adj"/>
            </a:avLst>
          </a:prstGeom>
          <a:solidFill>
            <a:srgbClr val="C0392B"/>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89" name="Google Shape;989;p37"/>
          <p:cNvSpPr txBox="1"/>
          <p:nvPr/>
        </p:nvSpPr>
        <p:spPr>
          <a:xfrm>
            <a:off x="679928" y="1144843"/>
            <a:ext cx="32844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C0392B"/>
                </a:solidFill>
                <a:latin typeface="Lexend"/>
                <a:ea typeface="Lexend"/>
                <a:cs typeface="Lexend"/>
                <a:sym typeface="Lexend"/>
              </a:rPr>
              <a:t>BỎ SAU 1 NGÀY </a:t>
            </a:r>
            <a:endParaRPr sz="1100"/>
          </a:p>
        </p:txBody>
      </p:sp>
      <p:sp>
        <p:nvSpPr>
          <p:cNvPr id="990" name="Google Shape;990;p37"/>
          <p:cNvSpPr txBox="1"/>
          <p:nvPr/>
        </p:nvSpPr>
        <p:spPr>
          <a:xfrm>
            <a:off x="565682" y="1322244"/>
            <a:ext cx="2142300" cy="40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700">
                <a:solidFill>
                  <a:srgbClr val="C0392B"/>
                </a:solidFill>
                <a:latin typeface="Lexend"/>
                <a:ea typeface="Lexend"/>
                <a:cs typeface="Lexend"/>
                <a:sym typeface="Lexend"/>
              </a:rPr>
              <a:t>46.307đ</a:t>
            </a:r>
            <a:endParaRPr sz="1100"/>
          </a:p>
        </p:txBody>
      </p:sp>
      <p:sp>
        <p:nvSpPr>
          <p:cNvPr id="991" name="Google Shape;991;p37"/>
          <p:cNvSpPr txBox="1"/>
          <p:nvPr/>
        </p:nvSpPr>
        <p:spPr>
          <a:xfrm>
            <a:off x="565682" y="1658948"/>
            <a:ext cx="21423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EPH ca đầu tiên (đ/giờ online)</a:t>
            </a:r>
            <a:endParaRPr sz="1100"/>
          </a:p>
        </p:txBody>
      </p:sp>
      <p:sp>
        <p:nvSpPr>
          <p:cNvPr id="992" name="Google Shape;992;p37"/>
          <p:cNvSpPr/>
          <p:nvPr/>
        </p:nvSpPr>
        <p:spPr>
          <a:xfrm>
            <a:off x="565682" y="1841349"/>
            <a:ext cx="1142400" cy="371400"/>
          </a:xfrm>
          <a:prstGeom prst="roundRect">
            <a:avLst>
              <a:gd fmla="val 19230" name="adj"/>
            </a:avLst>
          </a:prstGeom>
          <a:solidFill>
            <a:srgbClr val="FFFFFF"/>
          </a:solidFill>
          <a:ln cap="flat" cmpd="sng" w="7150">
            <a:solidFill>
              <a:srgbClr val="F3B7B7"/>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93" name="Google Shape;993;p37"/>
          <p:cNvSpPr txBox="1"/>
          <p:nvPr/>
        </p:nvSpPr>
        <p:spPr>
          <a:xfrm>
            <a:off x="665647" y="1910931"/>
            <a:ext cx="9423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OH ca đầu</a:t>
            </a:r>
            <a:endParaRPr sz="1100"/>
          </a:p>
        </p:txBody>
      </p:sp>
      <p:sp>
        <p:nvSpPr>
          <p:cNvPr id="994" name="Google Shape;994;p37"/>
          <p:cNvSpPr txBox="1"/>
          <p:nvPr/>
        </p:nvSpPr>
        <p:spPr>
          <a:xfrm>
            <a:off x="665647" y="1998008"/>
            <a:ext cx="9423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C0392B"/>
                </a:solidFill>
                <a:latin typeface="Lexend"/>
                <a:ea typeface="Lexend"/>
                <a:cs typeface="Lexend"/>
                <a:sym typeface="Lexend"/>
              </a:rPr>
              <a:t>2,17h</a:t>
            </a:r>
            <a:endParaRPr sz="1100"/>
          </a:p>
        </p:txBody>
      </p:sp>
      <p:sp>
        <p:nvSpPr>
          <p:cNvPr id="995" name="Google Shape;995;p37"/>
          <p:cNvSpPr/>
          <p:nvPr/>
        </p:nvSpPr>
        <p:spPr>
          <a:xfrm>
            <a:off x="1793826" y="1841349"/>
            <a:ext cx="1142400" cy="371400"/>
          </a:xfrm>
          <a:prstGeom prst="roundRect">
            <a:avLst>
              <a:gd fmla="val 19230" name="adj"/>
            </a:avLst>
          </a:prstGeom>
          <a:solidFill>
            <a:srgbClr val="FFFFFF"/>
          </a:solidFill>
          <a:ln cap="flat" cmpd="sng" w="7150">
            <a:solidFill>
              <a:srgbClr val="F3B7B7"/>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96" name="Google Shape;996;p37"/>
          <p:cNvSpPr txBox="1"/>
          <p:nvPr/>
        </p:nvSpPr>
        <p:spPr>
          <a:xfrm>
            <a:off x="1893791" y="1910931"/>
            <a:ext cx="9423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Đơn ca đầu</a:t>
            </a:r>
            <a:endParaRPr sz="1100"/>
          </a:p>
        </p:txBody>
      </p:sp>
      <p:sp>
        <p:nvSpPr>
          <p:cNvPr id="997" name="Google Shape;997;p37"/>
          <p:cNvSpPr txBox="1"/>
          <p:nvPr/>
        </p:nvSpPr>
        <p:spPr>
          <a:xfrm>
            <a:off x="1893791" y="1998008"/>
            <a:ext cx="9423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C0392B"/>
                </a:solidFill>
                <a:latin typeface="Lexend"/>
                <a:ea typeface="Lexend"/>
                <a:cs typeface="Lexend"/>
                <a:sym typeface="Lexend"/>
              </a:rPr>
              <a:t>3,90</a:t>
            </a:r>
            <a:endParaRPr sz="1100"/>
          </a:p>
        </p:txBody>
      </p:sp>
      <p:sp>
        <p:nvSpPr>
          <p:cNvPr id="998" name="Google Shape;998;p37"/>
          <p:cNvSpPr/>
          <p:nvPr/>
        </p:nvSpPr>
        <p:spPr>
          <a:xfrm>
            <a:off x="3021971" y="1841349"/>
            <a:ext cx="1142400" cy="371400"/>
          </a:xfrm>
          <a:prstGeom prst="roundRect">
            <a:avLst>
              <a:gd fmla="val 19230" name="adj"/>
            </a:avLst>
          </a:prstGeom>
          <a:solidFill>
            <a:srgbClr val="FFFFFF"/>
          </a:solidFill>
          <a:ln cap="flat" cmpd="sng" w="7150">
            <a:solidFill>
              <a:srgbClr val="F3B7B7"/>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999" name="Google Shape;999;p37"/>
          <p:cNvSpPr txBox="1"/>
          <p:nvPr/>
        </p:nvSpPr>
        <p:spPr>
          <a:xfrm>
            <a:off x="3121936" y="1910931"/>
            <a:ext cx="9423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Đơn/giờ</a:t>
            </a:r>
            <a:endParaRPr sz="1100"/>
          </a:p>
        </p:txBody>
      </p:sp>
      <p:sp>
        <p:nvSpPr>
          <p:cNvPr id="1000" name="Google Shape;1000;p37"/>
          <p:cNvSpPr txBox="1"/>
          <p:nvPr/>
        </p:nvSpPr>
        <p:spPr>
          <a:xfrm>
            <a:off x="3121936" y="1998008"/>
            <a:ext cx="9423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C0392B"/>
                </a:solidFill>
                <a:latin typeface="Lexend"/>
                <a:ea typeface="Lexend"/>
                <a:cs typeface="Lexend"/>
                <a:sym typeface="Lexend"/>
              </a:rPr>
              <a:t>1,79</a:t>
            </a:r>
            <a:endParaRPr sz="1100"/>
          </a:p>
        </p:txBody>
      </p:sp>
      <p:sp>
        <p:nvSpPr>
          <p:cNvPr id="1001" name="Google Shape;1001;p37"/>
          <p:cNvSpPr/>
          <p:nvPr/>
        </p:nvSpPr>
        <p:spPr>
          <a:xfrm>
            <a:off x="4821345" y="970225"/>
            <a:ext cx="3998700" cy="1385400"/>
          </a:xfrm>
          <a:prstGeom prst="roundRect">
            <a:avLst>
              <a:gd fmla="val 8247" name="adj"/>
            </a:avLst>
          </a:prstGeom>
          <a:solidFill>
            <a:srgbClr val="ECFDF5"/>
          </a:solidFill>
          <a:ln cap="flat" cmpd="sng" w="10700">
            <a:solidFill>
              <a:srgbClr val="A7F3D0"/>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02" name="Google Shape;1002;p37"/>
          <p:cNvSpPr/>
          <p:nvPr/>
        </p:nvSpPr>
        <p:spPr>
          <a:xfrm>
            <a:off x="5021275" y="1134453"/>
            <a:ext cx="36000" cy="128700"/>
          </a:xfrm>
          <a:prstGeom prst="roundRect">
            <a:avLst>
              <a:gd fmla="val 50000" name="adj"/>
            </a:avLst>
          </a:prstGeom>
          <a:solidFill>
            <a:srgbClr val="0F7A5A"/>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03" name="Google Shape;1003;p37"/>
          <p:cNvSpPr txBox="1"/>
          <p:nvPr/>
        </p:nvSpPr>
        <p:spPr>
          <a:xfrm>
            <a:off x="5135521" y="1144843"/>
            <a:ext cx="32844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0F7A5A"/>
                </a:solidFill>
                <a:latin typeface="Lexend"/>
                <a:ea typeface="Lexend"/>
                <a:cs typeface="Lexend"/>
                <a:sym typeface="Lexend"/>
              </a:rPr>
              <a:t>CHẠY ≥2 NGÀY  </a:t>
            </a:r>
            <a:endParaRPr sz="1100"/>
          </a:p>
        </p:txBody>
      </p:sp>
      <p:sp>
        <p:nvSpPr>
          <p:cNvPr id="1004" name="Google Shape;1004;p37"/>
          <p:cNvSpPr txBox="1"/>
          <p:nvPr/>
        </p:nvSpPr>
        <p:spPr>
          <a:xfrm>
            <a:off x="5021275" y="1322244"/>
            <a:ext cx="2142300" cy="40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700">
                <a:solidFill>
                  <a:srgbClr val="0F7A5A"/>
                </a:solidFill>
                <a:latin typeface="Lexend"/>
                <a:ea typeface="Lexend"/>
                <a:cs typeface="Lexend"/>
                <a:sym typeface="Lexend"/>
              </a:rPr>
              <a:t>55.339đ</a:t>
            </a:r>
            <a:endParaRPr sz="1100"/>
          </a:p>
        </p:txBody>
      </p:sp>
      <p:sp>
        <p:nvSpPr>
          <p:cNvPr id="1005" name="Google Shape;1005;p37"/>
          <p:cNvSpPr txBox="1"/>
          <p:nvPr/>
        </p:nvSpPr>
        <p:spPr>
          <a:xfrm>
            <a:off x="5021275" y="1658948"/>
            <a:ext cx="21423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EPH ca đầu tiên (đ/giờ online)</a:t>
            </a:r>
            <a:endParaRPr sz="1100"/>
          </a:p>
        </p:txBody>
      </p:sp>
      <p:sp>
        <p:nvSpPr>
          <p:cNvPr id="1006" name="Google Shape;1006;p37"/>
          <p:cNvSpPr/>
          <p:nvPr/>
        </p:nvSpPr>
        <p:spPr>
          <a:xfrm>
            <a:off x="5021275" y="1841349"/>
            <a:ext cx="1142400" cy="371400"/>
          </a:xfrm>
          <a:prstGeom prst="roundRect">
            <a:avLst>
              <a:gd fmla="val 19230" name="adj"/>
            </a:avLst>
          </a:prstGeom>
          <a:solidFill>
            <a:srgbClr val="FFFFFF"/>
          </a:solidFill>
          <a:ln cap="flat" cmpd="sng" w="7150">
            <a:solidFill>
              <a:srgbClr val="A7F3D0"/>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07" name="Google Shape;1007;p37"/>
          <p:cNvSpPr txBox="1"/>
          <p:nvPr/>
        </p:nvSpPr>
        <p:spPr>
          <a:xfrm>
            <a:off x="5121240" y="1910931"/>
            <a:ext cx="9423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OH ca đầu</a:t>
            </a:r>
            <a:endParaRPr sz="1100"/>
          </a:p>
        </p:txBody>
      </p:sp>
      <p:sp>
        <p:nvSpPr>
          <p:cNvPr id="1008" name="Google Shape;1008;p37"/>
          <p:cNvSpPr txBox="1"/>
          <p:nvPr/>
        </p:nvSpPr>
        <p:spPr>
          <a:xfrm>
            <a:off x="5121240" y="1998008"/>
            <a:ext cx="9423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0F7A5A"/>
                </a:solidFill>
                <a:latin typeface="Lexend"/>
                <a:ea typeface="Lexend"/>
                <a:cs typeface="Lexend"/>
                <a:sym typeface="Lexend"/>
              </a:rPr>
              <a:t>2,54h</a:t>
            </a:r>
            <a:endParaRPr sz="1100"/>
          </a:p>
        </p:txBody>
      </p:sp>
      <p:sp>
        <p:nvSpPr>
          <p:cNvPr id="1009" name="Google Shape;1009;p37"/>
          <p:cNvSpPr/>
          <p:nvPr/>
        </p:nvSpPr>
        <p:spPr>
          <a:xfrm>
            <a:off x="6249419" y="1841349"/>
            <a:ext cx="1142400" cy="371400"/>
          </a:xfrm>
          <a:prstGeom prst="roundRect">
            <a:avLst>
              <a:gd fmla="val 19230" name="adj"/>
            </a:avLst>
          </a:prstGeom>
          <a:solidFill>
            <a:srgbClr val="FFFFFF"/>
          </a:solidFill>
          <a:ln cap="flat" cmpd="sng" w="7150">
            <a:solidFill>
              <a:srgbClr val="A7F3D0"/>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10" name="Google Shape;1010;p37"/>
          <p:cNvSpPr txBox="1"/>
          <p:nvPr/>
        </p:nvSpPr>
        <p:spPr>
          <a:xfrm>
            <a:off x="6349385" y="1910931"/>
            <a:ext cx="9423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Đơn ca đầu</a:t>
            </a:r>
            <a:endParaRPr sz="1100"/>
          </a:p>
        </p:txBody>
      </p:sp>
      <p:sp>
        <p:nvSpPr>
          <p:cNvPr id="1011" name="Google Shape;1011;p37"/>
          <p:cNvSpPr txBox="1"/>
          <p:nvPr/>
        </p:nvSpPr>
        <p:spPr>
          <a:xfrm>
            <a:off x="6349385" y="1998008"/>
            <a:ext cx="9423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0F7A5A"/>
                </a:solidFill>
                <a:latin typeface="Lexend"/>
                <a:ea typeface="Lexend"/>
                <a:cs typeface="Lexend"/>
                <a:sym typeface="Lexend"/>
              </a:rPr>
              <a:t>4,99</a:t>
            </a:r>
            <a:endParaRPr sz="1100"/>
          </a:p>
        </p:txBody>
      </p:sp>
      <p:sp>
        <p:nvSpPr>
          <p:cNvPr id="1012" name="Google Shape;1012;p37"/>
          <p:cNvSpPr/>
          <p:nvPr/>
        </p:nvSpPr>
        <p:spPr>
          <a:xfrm>
            <a:off x="7477564" y="1841349"/>
            <a:ext cx="1142400" cy="371400"/>
          </a:xfrm>
          <a:prstGeom prst="roundRect">
            <a:avLst>
              <a:gd fmla="val 19230" name="adj"/>
            </a:avLst>
          </a:prstGeom>
          <a:solidFill>
            <a:srgbClr val="FFFFFF"/>
          </a:solidFill>
          <a:ln cap="flat" cmpd="sng" w="7150">
            <a:solidFill>
              <a:srgbClr val="A7F3D0"/>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13" name="Google Shape;1013;p37"/>
          <p:cNvSpPr txBox="1"/>
          <p:nvPr/>
        </p:nvSpPr>
        <p:spPr>
          <a:xfrm>
            <a:off x="7577529" y="1910931"/>
            <a:ext cx="9423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Đơn/giờ</a:t>
            </a:r>
            <a:endParaRPr sz="1100"/>
          </a:p>
        </p:txBody>
      </p:sp>
      <p:sp>
        <p:nvSpPr>
          <p:cNvPr id="1014" name="Google Shape;1014;p37"/>
          <p:cNvSpPr txBox="1"/>
          <p:nvPr/>
        </p:nvSpPr>
        <p:spPr>
          <a:xfrm>
            <a:off x="7577529" y="1998008"/>
            <a:ext cx="9423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0F7A5A"/>
                </a:solidFill>
                <a:latin typeface="Lexend"/>
                <a:ea typeface="Lexend"/>
                <a:cs typeface="Lexend"/>
                <a:sym typeface="Lexend"/>
              </a:rPr>
              <a:t>1,97</a:t>
            </a:r>
            <a:endParaRPr sz="1100"/>
          </a:p>
        </p:txBody>
      </p:sp>
      <p:sp>
        <p:nvSpPr>
          <p:cNvPr id="1015" name="Google Shape;1015;p37"/>
          <p:cNvSpPr/>
          <p:nvPr/>
        </p:nvSpPr>
        <p:spPr>
          <a:xfrm>
            <a:off x="4364361" y="1498612"/>
            <a:ext cx="457200" cy="328500"/>
          </a:xfrm>
          <a:prstGeom prst="roundRect">
            <a:avLst>
              <a:gd fmla="val 26086" name="adj"/>
            </a:avLst>
          </a:prstGeom>
          <a:solidFill>
            <a:srgbClr val="FFFFFF"/>
          </a:solidFill>
          <a:ln cap="flat" cmpd="sng" w="14275">
            <a:solidFill>
              <a:srgbClr val="FF7F32"/>
            </a:solidFill>
            <a:prstDash val="solid"/>
            <a:round/>
            <a:headEnd len="sm" w="sm" type="none"/>
            <a:tailEnd len="sm" w="sm" type="none"/>
          </a:ln>
          <a:effectLst>
            <a:outerShdw blurRad="71404" rotWithShape="0" dir="5400000" dist="28561">
              <a:srgbClr val="0E4174">
                <a:alpha val="10200"/>
              </a:srgbClr>
            </a:outerShdw>
          </a:effectLst>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16" name="Google Shape;1016;p37"/>
          <p:cNvSpPr txBox="1"/>
          <p:nvPr/>
        </p:nvSpPr>
        <p:spPr>
          <a:xfrm>
            <a:off x="4364361" y="1540561"/>
            <a:ext cx="4572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E0641A"/>
                </a:solidFill>
                <a:latin typeface="Lexend"/>
                <a:ea typeface="Lexend"/>
                <a:cs typeface="Lexend"/>
                <a:sym typeface="Lexend"/>
              </a:rPr>
              <a:t>+19,5%</a:t>
            </a:r>
            <a:endParaRPr sz="1100"/>
          </a:p>
        </p:txBody>
      </p:sp>
      <p:sp>
        <p:nvSpPr>
          <p:cNvPr id="1017" name="Google Shape;1017;p37"/>
          <p:cNvSpPr txBox="1"/>
          <p:nvPr/>
        </p:nvSpPr>
        <p:spPr>
          <a:xfrm>
            <a:off x="4271536" y="1839528"/>
            <a:ext cx="6429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EPH ca đầu</a:t>
            </a:r>
            <a:endParaRPr sz="1100"/>
          </a:p>
        </p:txBody>
      </p:sp>
      <p:sp>
        <p:nvSpPr>
          <p:cNvPr id="1018" name="Google Shape;1018;p37"/>
          <p:cNvSpPr/>
          <p:nvPr/>
        </p:nvSpPr>
        <p:spPr>
          <a:xfrm>
            <a:off x="365751" y="2483981"/>
            <a:ext cx="4170000" cy="2513400"/>
          </a:xfrm>
          <a:prstGeom prst="roundRect">
            <a:avLst>
              <a:gd fmla="val 4545" name="adj"/>
            </a:avLst>
          </a:prstGeom>
          <a:solidFill>
            <a:srgbClr val="FFFFFF"/>
          </a:solidFill>
          <a:ln cap="flat" cmpd="sng" w="10700">
            <a:solidFill>
              <a:srgbClr val="E9EDF3"/>
            </a:solidFill>
            <a:prstDash val="solid"/>
            <a:round/>
            <a:headEnd len="sm" w="sm" type="none"/>
            <a:tailEnd len="sm" w="sm" type="none"/>
          </a:ln>
          <a:effectLst>
            <a:outerShdw blurRad="71404" rotWithShape="0" dir="5400000" dist="28561">
              <a:srgbClr val="0E4174">
                <a:alpha val="10200"/>
              </a:srgbClr>
            </a:outerShdw>
          </a:effectLst>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19" name="Google Shape;1019;p37"/>
          <p:cNvSpPr txBox="1"/>
          <p:nvPr/>
        </p:nvSpPr>
        <p:spPr>
          <a:xfrm>
            <a:off x="565682" y="2565096"/>
            <a:ext cx="37701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Gradient thu nhập theo độ gắn bó</a:t>
            </a:r>
            <a:endParaRPr sz="1100"/>
          </a:p>
        </p:txBody>
      </p:sp>
      <p:sp>
        <p:nvSpPr>
          <p:cNvPr id="1020" name="Google Shape;1020;p37"/>
          <p:cNvSpPr txBox="1"/>
          <p:nvPr/>
        </p:nvSpPr>
        <p:spPr>
          <a:xfrm>
            <a:off x="565682" y="2753958"/>
            <a:ext cx="37701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EPH tăng theo số ngày chạy — nhóm ≥10 ngày đã chạm trần</a:t>
            </a:r>
            <a:endParaRPr sz="1100"/>
          </a:p>
        </p:txBody>
      </p:sp>
      <p:sp>
        <p:nvSpPr>
          <p:cNvPr id="1021" name="Google Shape;1021;p37"/>
          <p:cNvSpPr txBox="1"/>
          <p:nvPr/>
        </p:nvSpPr>
        <p:spPr>
          <a:xfrm>
            <a:off x="565682" y="3024827"/>
            <a:ext cx="8571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SỐ NGÀY CHẠY</a:t>
            </a:r>
            <a:endParaRPr sz="1100"/>
          </a:p>
        </p:txBody>
      </p:sp>
      <p:sp>
        <p:nvSpPr>
          <p:cNvPr id="1022" name="Google Shape;1022;p37"/>
          <p:cNvSpPr txBox="1"/>
          <p:nvPr/>
        </p:nvSpPr>
        <p:spPr>
          <a:xfrm>
            <a:off x="1236877" y="3024827"/>
            <a:ext cx="4284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SỐ TX</a:t>
            </a:r>
            <a:endParaRPr sz="1100"/>
          </a:p>
        </p:txBody>
      </p:sp>
      <p:sp>
        <p:nvSpPr>
          <p:cNvPr id="1023" name="Google Shape;1023;p37"/>
          <p:cNvSpPr txBox="1"/>
          <p:nvPr/>
        </p:nvSpPr>
        <p:spPr>
          <a:xfrm>
            <a:off x="1693861" y="3024827"/>
            <a:ext cx="3141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a:t>
            </a:r>
            <a:endParaRPr sz="1100"/>
          </a:p>
        </p:txBody>
      </p:sp>
      <p:sp>
        <p:nvSpPr>
          <p:cNvPr id="1024" name="Google Shape;1024;p37"/>
          <p:cNvSpPr txBox="1"/>
          <p:nvPr/>
        </p:nvSpPr>
        <p:spPr>
          <a:xfrm>
            <a:off x="2129424" y="3024827"/>
            <a:ext cx="5001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ĐƠN/GIỜ</a:t>
            </a:r>
            <a:endParaRPr sz="1100"/>
          </a:p>
        </p:txBody>
      </p:sp>
      <p:sp>
        <p:nvSpPr>
          <p:cNvPr id="1025" name="Google Shape;1025;p37"/>
          <p:cNvSpPr txBox="1"/>
          <p:nvPr/>
        </p:nvSpPr>
        <p:spPr>
          <a:xfrm>
            <a:off x="2843461" y="3024827"/>
            <a:ext cx="5001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EPH</a:t>
            </a:r>
            <a:endParaRPr sz="1100"/>
          </a:p>
        </p:txBody>
      </p:sp>
      <p:sp>
        <p:nvSpPr>
          <p:cNvPr id="1026" name="Google Shape;1026;p37"/>
          <p:cNvSpPr txBox="1"/>
          <p:nvPr/>
        </p:nvSpPr>
        <p:spPr>
          <a:xfrm>
            <a:off x="3478954" y="3024827"/>
            <a:ext cx="857100" cy="128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600">
                <a:solidFill>
                  <a:srgbClr val="9CA3AF"/>
                </a:solidFill>
                <a:latin typeface="Lexend"/>
                <a:ea typeface="Lexend"/>
                <a:cs typeface="Lexend"/>
                <a:sym typeface="Lexend"/>
              </a:rPr>
              <a:t>THU NHẬP TB / TX</a:t>
            </a:r>
            <a:endParaRPr sz="1100"/>
          </a:p>
        </p:txBody>
      </p:sp>
      <p:sp>
        <p:nvSpPr>
          <p:cNvPr id="1027" name="Google Shape;1027;p37"/>
          <p:cNvSpPr/>
          <p:nvPr/>
        </p:nvSpPr>
        <p:spPr>
          <a:xfrm>
            <a:off x="565682" y="3165886"/>
            <a:ext cx="3770100" cy="6900"/>
          </a:xfrm>
          <a:prstGeom prst="rect">
            <a:avLst/>
          </a:prstGeom>
          <a:solidFill>
            <a:srgbClr val="EDF1F6"/>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28" name="Google Shape;1028;p37"/>
          <p:cNvSpPr/>
          <p:nvPr/>
        </p:nvSpPr>
        <p:spPr>
          <a:xfrm>
            <a:off x="479997" y="3198017"/>
            <a:ext cx="3941400" cy="221100"/>
          </a:xfrm>
          <a:prstGeom prst="roundRect">
            <a:avLst>
              <a:gd fmla="val 25806" name="adj"/>
            </a:avLst>
          </a:prstGeom>
          <a:solidFill>
            <a:srgbClr val="FDECEC"/>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29" name="Google Shape;1029;p37"/>
          <p:cNvSpPr txBox="1"/>
          <p:nvPr/>
        </p:nvSpPr>
        <p:spPr>
          <a:xfrm>
            <a:off x="565682" y="3258853"/>
            <a:ext cx="7143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C0392B"/>
                </a:solidFill>
                <a:latin typeface="Lexend"/>
                <a:ea typeface="Lexend"/>
                <a:cs typeface="Lexend"/>
                <a:sym typeface="Lexend"/>
              </a:rPr>
              <a:t>1 ngày</a:t>
            </a:r>
            <a:endParaRPr sz="1100"/>
          </a:p>
        </p:txBody>
      </p:sp>
      <p:sp>
        <p:nvSpPr>
          <p:cNvPr id="1030" name="Google Shape;1030;p37"/>
          <p:cNvSpPr txBox="1"/>
          <p:nvPr/>
        </p:nvSpPr>
        <p:spPr>
          <a:xfrm>
            <a:off x="1236877" y="3263459"/>
            <a:ext cx="4284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374151"/>
                </a:solidFill>
                <a:latin typeface="Lexend"/>
                <a:ea typeface="Lexend"/>
                <a:cs typeface="Lexend"/>
                <a:sym typeface="Lexend"/>
              </a:rPr>
              <a:t>167</a:t>
            </a:r>
            <a:endParaRPr sz="1100"/>
          </a:p>
        </p:txBody>
      </p:sp>
      <p:sp>
        <p:nvSpPr>
          <p:cNvPr id="1031" name="Google Shape;1031;p37"/>
          <p:cNvSpPr txBox="1"/>
          <p:nvPr/>
        </p:nvSpPr>
        <p:spPr>
          <a:xfrm>
            <a:off x="1693861" y="3263459"/>
            <a:ext cx="314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50,0%</a:t>
            </a:r>
            <a:endParaRPr sz="1100"/>
          </a:p>
        </p:txBody>
      </p:sp>
      <p:sp>
        <p:nvSpPr>
          <p:cNvPr id="1032" name="Google Shape;1032;p37"/>
          <p:cNvSpPr txBox="1"/>
          <p:nvPr/>
        </p:nvSpPr>
        <p:spPr>
          <a:xfrm>
            <a:off x="2129424" y="3263459"/>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1,79</a:t>
            </a:r>
            <a:endParaRPr sz="1100"/>
          </a:p>
        </p:txBody>
      </p:sp>
      <p:sp>
        <p:nvSpPr>
          <p:cNvPr id="1033" name="Google Shape;1033;p37"/>
          <p:cNvSpPr txBox="1"/>
          <p:nvPr/>
        </p:nvSpPr>
        <p:spPr>
          <a:xfrm>
            <a:off x="2843461" y="3254247"/>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C0392B"/>
                </a:solidFill>
                <a:latin typeface="Lexend"/>
                <a:ea typeface="Lexend"/>
                <a:cs typeface="Lexend"/>
                <a:sym typeface="Lexend"/>
              </a:rPr>
              <a:t>46.307đ</a:t>
            </a:r>
            <a:endParaRPr sz="1100"/>
          </a:p>
        </p:txBody>
      </p:sp>
      <p:sp>
        <p:nvSpPr>
          <p:cNvPr id="1034" name="Google Shape;1034;p37"/>
          <p:cNvSpPr txBox="1"/>
          <p:nvPr/>
        </p:nvSpPr>
        <p:spPr>
          <a:xfrm>
            <a:off x="3550358" y="3263459"/>
            <a:ext cx="785700" cy="156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100.624đ</a:t>
            </a:r>
            <a:endParaRPr sz="1100"/>
          </a:p>
        </p:txBody>
      </p:sp>
      <p:sp>
        <p:nvSpPr>
          <p:cNvPr id="1035" name="Google Shape;1035;p37"/>
          <p:cNvSpPr txBox="1"/>
          <p:nvPr/>
        </p:nvSpPr>
        <p:spPr>
          <a:xfrm>
            <a:off x="565682" y="3501625"/>
            <a:ext cx="7143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2 ngày</a:t>
            </a:r>
            <a:endParaRPr sz="1100"/>
          </a:p>
        </p:txBody>
      </p:sp>
      <p:sp>
        <p:nvSpPr>
          <p:cNvPr id="1036" name="Google Shape;1036;p37"/>
          <p:cNvSpPr txBox="1"/>
          <p:nvPr/>
        </p:nvSpPr>
        <p:spPr>
          <a:xfrm>
            <a:off x="1236877" y="3506231"/>
            <a:ext cx="4284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374151"/>
                </a:solidFill>
                <a:latin typeface="Lexend"/>
                <a:ea typeface="Lexend"/>
                <a:cs typeface="Lexend"/>
                <a:sym typeface="Lexend"/>
              </a:rPr>
              <a:t>62</a:t>
            </a:r>
            <a:endParaRPr sz="1100"/>
          </a:p>
        </p:txBody>
      </p:sp>
      <p:sp>
        <p:nvSpPr>
          <p:cNvPr id="1037" name="Google Shape;1037;p37"/>
          <p:cNvSpPr txBox="1"/>
          <p:nvPr/>
        </p:nvSpPr>
        <p:spPr>
          <a:xfrm>
            <a:off x="1693861" y="3506231"/>
            <a:ext cx="314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18,6%</a:t>
            </a:r>
            <a:endParaRPr sz="1100"/>
          </a:p>
        </p:txBody>
      </p:sp>
      <p:sp>
        <p:nvSpPr>
          <p:cNvPr id="1038" name="Google Shape;1038;p37"/>
          <p:cNvSpPr txBox="1"/>
          <p:nvPr/>
        </p:nvSpPr>
        <p:spPr>
          <a:xfrm>
            <a:off x="2129424" y="3506231"/>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1,75</a:t>
            </a:r>
            <a:endParaRPr sz="1100"/>
          </a:p>
        </p:txBody>
      </p:sp>
      <p:sp>
        <p:nvSpPr>
          <p:cNvPr id="1039" name="Google Shape;1039;p37"/>
          <p:cNvSpPr txBox="1"/>
          <p:nvPr/>
        </p:nvSpPr>
        <p:spPr>
          <a:xfrm>
            <a:off x="2843461" y="3497019"/>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49.027đ</a:t>
            </a:r>
            <a:endParaRPr sz="1100"/>
          </a:p>
        </p:txBody>
      </p:sp>
      <p:sp>
        <p:nvSpPr>
          <p:cNvPr id="1040" name="Google Shape;1040;p37"/>
          <p:cNvSpPr txBox="1"/>
          <p:nvPr/>
        </p:nvSpPr>
        <p:spPr>
          <a:xfrm>
            <a:off x="3550358" y="3506231"/>
            <a:ext cx="785700" cy="156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251.053đ</a:t>
            </a:r>
            <a:endParaRPr sz="1100"/>
          </a:p>
        </p:txBody>
      </p:sp>
      <p:sp>
        <p:nvSpPr>
          <p:cNvPr id="1041" name="Google Shape;1041;p37"/>
          <p:cNvSpPr txBox="1"/>
          <p:nvPr/>
        </p:nvSpPr>
        <p:spPr>
          <a:xfrm>
            <a:off x="565682" y="3744397"/>
            <a:ext cx="7143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3–4 ngày</a:t>
            </a:r>
            <a:endParaRPr sz="1100"/>
          </a:p>
        </p:txBody>
      </p:sp>
      <p:sp>
        <p:nvSpPr>
          <p:cNvPr id="1042" name="Google Shape;1042;p37"/>
          <p:cNvSpPr txBox="1"/>
          <p:nvPr/>
        </p:nvSpPr>
        <p:spPr>
          <a:xfrm>
            <a:off x="1236877" y="3749003"/>
            <a:ext cx="4284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374151"/>
                </a:solidFill>
                <a:latin typeface="Lexend"/>
                <a:ea typeface="Lexend"/>
                <a:cs typeface="Lexend"/>
                <a:sym typeface="Lexend"/>
              </a:rPr>
              <a:t>53</a:t>
            </a:r>
            <a:endParaRPr sz="1100"/>
          </a:p>
        </p:txBody>
      </p:sp>
      <p:sp>
        <p:nvSpPr>
          <p:cNvPr id="1043" name="Google Shape;1043;p37"/>
          <p:cNvSpPr txBox="1"/>
          <p:nvPr/>
        </p:nvSpPr>
        <p:spPr>
          <a:xfrm>
            <a:off x="1693861" y="3749003"/>
            <a:ext cx="314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15,9%</a:t>
            </a:r>
            <a:endParaRPr sz="1100"/>
          </a:p>
        </p:txBody>
      </p:sp>
      <p:sp>
        <p:nvSpPr>
          <p:cNvPr id="1044" name="Google Shape;1044;p37"/>
          <p:cNvSpPr txBox="1"/>
          <p:nvPr/>
        </p:nvSpPr>
        <p:spPr>
          <a:xfrm>
            <a:off x="2129424" y="3749003"/>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1,80</a:t>
            </a:r>
            <a:endParaRPr sz="1100"/>
          </a:p>
        </p:txBody>
      </p:sp>
      <p:sp>
        <p:nvSpPr>
          <p:cNvPr id="1045" name="Google Shape;1045;p37"/>
          <p:cNvSpPr txBox="1"/>
          <p:nvPr/>
        </p:nvSpPr>
        <p:spPr>
          <a:xfrm>
            <a:off x="2843461" y="3739791"/>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54.597đ</a:t>
            </a:r>
            <a:endParaRPr sz="1100"/>
          </a:p>
        </p:txBody>
      </p:sp>
      <p:sp>
        <p:nvSpPr>
          <p:cNvPr id="1046" name="Google Shape;1046;p37"/>
          <p:cNvSpPr txBox="1"/>
          <p:nvPr/>
        </p:nvSpPr>
        <p:spPr>
          <a:xfrm>
            <a:off x="3550358" y="3749003"/>
            <a:ext cx="785700" cy="156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557.643đ</a:t>
            </a:r>
            <a:endParaRPr sz="1100"/>
          </a:p>
        </p:txBody>
      </p:sp>
      <p:sp>
        <p:nvSpPr>
          <p:cNvPr id="1047" name="Google Shape;1047;p37"/>
          <p:cNvSpPr/>
          <p:nvPr/>
        </p:nvSpPr>
        <p:spPr>
          <a:xfrm>
            <a:off x="479997" y="3926334"/>
            <a:ext cx="3941400" cy="221100"/>
          </a:xfrm>
          <a:prstGeom prst="roundRect">
            <a:avLst>
              <a:gd fmla="val 25806" name="adj"/>
            </a:avLst>
          </a:prstGeom>
          <a:solidFill>
            <a:srgbClr val="ECFDF5"/>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48" name="Google Shape;1048;p37"/>
          <p:cNvSpPr txBox="1"/>
          <p:nvPr/>
        </p:nvSpPr>
        <p:spPr>
          <a:xfrm>
            <a:off x="565682" y="3987169"/>
            <a:ext cx="7143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F7A5A"/>
                </a:solidFill>
                <a:latin typeface="Lexend"/>
                <a:ea typeface="Lexend"/>
                <a:cs typeface="Lexend"/>
                <a:sym typeface="Lexend"/>
              </a:rPr>
              <a:t>5–9 ngày</a:t>
            </a:r>
            <a:endParaRPr sz="1100"/>
          </a:p>
        </p:txBody>
      </p:sp>
      <p:sp>
        <p:nvSpPr>
          <p:cNvPr id="1049" name="Google Shape;1049;p37"/>
          <p:cNvSpPr txBox="1"/>
          <p:nvPr/>
        </p:nvSpPr>
        <p:spPr>
          <a:xfrm>
            <a:off x="1236877" y="3991775"/>
            <a:ext cx="4284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374151"/>
                </a:solidFill>
                <a:latin typeface="Lexend"/>
                <a:ea typeface="Lexend"/>
                <a:cs typeface="Lexend"/>
                <a:sym typeface="Lexend"/>
              </a:rPr>
              <a:t>40</a:t>
            </a:r>
            <a:endParaRPr sz="1100"/>
          </a:p>
        </p:txBody>
      </p:sp>
      <p:sp>
        <p:nvSpPr>
          <p:cNvPr id="1050" name="Google Shape;1050;p37"/>
          <p:cNvSpPr txBox="1"/>
          <p:nvPr/>
        </p:nvSpPr>
        <p:spPr>
          <a:xfrm>
            <a:off x="1693861" y="3991775"/>
            <a:ext cx="314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12,0%</a:t>
            </a:r>
            <a:endParaRPr sz="1100"/>
          </a:p>
        </p:txBody>
      </p:sp>
      <p:sp>
        <p:nvSpPr>
          <p:cNvPr id="1051" name="Google Shape;1051;p37"/>
          <p:cNvSpPr txBox="1"/>
          <p:nvPr/>
        </p:nvSpPr>
        <p:spPr>
          <a:xfrm>
            <a:off x="2129424" y="3991775"/>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2,10</a:t>
            </a:r>
            <a:endParaRPr sz="1100"/>
          </a:p>
        </p:txBody>
      </p:sp>
      <p:sp>
        <p:nvSpPr>
          <p:cNvPr id="1052" name="Google Shape;1052;p37"/>
          <p:cNvSpPr txBox="1"/>
          <p:nvPr/>
        </p:nvSpPr>
        <p:spPr>
          <a:xfrm>
            <a:off x="2843461" y="3982564"/>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F7A5A"/>
                </a:solidFill>
                <a:latin typeface="Lexend"/>
                <a:ea typeface="Lexend"/>
                <a:cs typeface="Lexend"/>
                <a:sym typeface="Lexend"/>
              </a:rPr>
              <a:t>62.741đ</a:t>
            </a:r>
            <a:endParaRPr sz="1100"/>
          </a:p>
        </p:txBody>
      </p:sp>
      <p:sp>
        <p:nvSpPr>
          <p:cNvPr id="1053" name="Google Shape;1053;p37"/>
          <p:cNvSpPr txBox="1"/>
          <p:nvPr/>
        </p:nvSpPr>
        <p:spPr>
          <a:xfrm>
            <a:off x="3550358" y="3991775"/>
            <a:ext cx="785700" cy="156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1.229.029đ</a:t>
            </a:r>
            <a:endParaRPr sz="1100"/>
          </a:p>
        </p:txBody>
      </p:sp>
      <p:sp>
        <p:nvSpPr>
          <p:cNvPr id="1054" name="Google Shape;1054;p37"/>
          <p:cNvSpPr/>
          <p:nvPr/>
        </p:nvSpPr>
        <p:spPr>
          <a:xfrm>
            <a:off x="479997" y="4169106"/>
            <a:ext cx="3941400" cy="221100"/>
          </a:xfrm>
          <a:prstGeom prst="roundRect">
            <a:avLst>
              <a:gd fmla="val 25806" name="adj"/>
            </a:avLst>
          </a:prstGeom>
          <a:solidFill>
            <a:srgbClr val="ECFDF5"/>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55" name="Google Shape;1055;p37"/>
          <p:cNvSpPr txBox="1"/>
          <p:nvPr/>
        </p:nvSpPr>
        <p:spPr>
          <a:xfrm>
            <a:off x="565682" y="4229942"/>
            <a:ext cx="7143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F7A5A"/>
                </a:solidFill>
                <a:latin typeface="Lexend"/>
                <a:ea typeface="Lexend"/>
                <a:cs typeface="Lexend"/>
                <a:sym typeface="Lexend"/>
              </a:rPr>
              <a:t>≥10 ngày</a:t>
            </a:r>
            <a:endParaRPr sz="1100"/>
          </a:p>
        </p:txBody>
      </p:sp>
      <p:sp>
        <p:nvSpPr>
          <p:cNvPr id="1056" name="Google Shape;1056;p37"/>
          <p:cNvSpPr txBox="1"/>
          <p:nvPr/>
        </p:nvSpPr>
        <p:spPr>
          <a:xfrm>
            <a:off x="1236877" y="4234547"/>
            <a:ext cx="4284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374151"/>
                </a:solidFill>
                <a:latin typeface="Lexend"/>
                <a:ea typeface="Lexend"/>
                <a:cs typeface="Lexend"/>
                <a:sym typeface="Lexend"/>
              </a:rPr>
              <a:t>12</a:t>
            </a:r>
            <a:endParaRPr sz="1100"/>
          </a:p>
        </p:txBody>
      </p:sp>
      <p:sp>
        <p:nvSpPr>
          <p:cNvPr id="1057" name="Google Shape;1057;p37"/>
          <p:cNvSpPr txBox="1"/>
          <p:nvPr/>
        </p:nvSpPr>
        <p:spPr>
          <a:xfrm>
            <a:off x="1693861" y="4234547"/>
            <a:ext cx="314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3,6%</a:t>
            </a:r>
            <a:endParaRPr sz="1100"/>
          </a:p>
        </p:txBody>
      </p:sp>
      <p:sp>
        <p:nvSpPr>
          <p:cNvPr id="1058" name="Google Shape;1058;p37"/>
          <p:cNvSpPr txBox="1"/>
          <p:nvPr/>
        </p:nvSpPr>
        <p:spPr>
          <a:xfrm>
            <a:off x="2129424" y="4234547"/>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2,25</a:t>
            </a:r>
            <a:endParaRPr sz="1100"/>
          </a:p>
        </p:txBody>
      </p:sp>
      <p:sp>
        <p:nvSpPr>
          <p:cNvPr id="1059" name="Google Shape;1059;p37"/>
          <p:cNvSpPr txBox="1"/>
          <p:nvPr/>
        </p:nvSpPr>
        <p:spPr>
          <a:xfrm>
            <a:off x="2843461" y="4225336"/>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F7A5A"/>
                </a:solidFill>
                <a:latin typeface="Lexend"/>
                <a:ea typeface="Lexend"/>
                <a:cs typeface="Lexend"/>
                <a:sym typeface="Lexend"/>
              </a:rPr>
              <a:t>62.233đ</a:t>
            </a:r>
            <a:endParaRPr sz="1100"/>
          </a:p>
        </p:txBody>
      </p:sp>
      <p:sp>
        <p:nvSpPr>
          <p:cNvPr id="1060" name="Google Shape;1060;p37"/>
          <p:cNvSpPr txBox="1"/>
          <p:nvPr/>
        </p:nvSpPr>
        <p:spPr>
          <a:xfrm>
            <a:off x="3550358" y="4234547"/>
            <a:ext cx="785700" cy="156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3.531.651đ</a:t>
            </a:r>
            <a:endParaRPr sz="1100"/>
          </a:p>
        </p:txBody>
      </p:sp>
      <p:sp>
        <p:nvSpPr>
          <p:cNvPr id="1061" name="Google Shape;1061;p37"/>
          <p:cNvSpPr/>
          <p:nvPr/>
        </p:nvSpPr>
        <p:spPr>
          <a:xfrm>
            <a:off x="565682" y="4440439"/>
            <a:ext cx="3770100" cy="328500"/>
          </a:xfrm>
          <a:prstGeom prst="roundRect">
            <a:avLst>
              <a:gd fmla="val 21739" name="adj"/>
            </a:avLst>
          </a:prstGeom>
          <a:solidFill>
            <a:srgbClr val="FFF3EB"/>
          </a:solidFill>
          <a:ln cap="flat" cmpd="sng" w="7150">
            <a:solidFill>
              <a:srgbClr val="F3C4A0"/>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62" name="Google Shape;1062;p37"/>
          <p:cNvSpPr/>
          <p:nvPr/>
        </p:nvSpPr>
        <p:spPr>
          <a:xfrm>
            <a:off x="676358" y="4572536"/>
            <a:ext cx="64200" cy="64200"/>
          </a:xfrm>
          <a:prstGeom prst="ellipse">
            <a:avLst/>
          </a:prstGeom>
          <a:solidFill>
            <a:srgbClr val="FF7F32"/>
          </a:solidFill>
          <a:ln>
            <a:noFill/>
          </a:ln>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1063" name="Google Shape;1063;p37"/>
          <p:cNvSpPr txBox="1"/>
          <p:nvPr/>
        </p:nvSpPr>
        <p:spPr>
          <a:xfrm>
            <a:off x="822735" y="4483282"/>
            <a:ext cx="3356100" cy="243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700">
                <a:solidFill>
                  <a:srgbClr val="B4531A"/>
                </a:solidFill>
                <a:latin typeface="Lexend"/>
                <a:ea typeface="Lexend"/>
                <a:cs typeface="Lexend"/>
                <a:sym typeface="Lexend"/>
              </a:rPr>
              <a:t>Chênh EPH giữa nhóm trụ lại và nhóm rơi: +35% (62,7k vs 46,3k).</a:t>
            </a:r>
            <a:endParaRPr sz="1100"/>
          </a:p>
        </p:txBody>
      </p:sp>
      <p:sp>
        <p:nvSpPr>
          <p:cNvPr id="1064" name="Google Shape;1064;p37"/>
          <p:cNvSpPr txBox="1"/>
          <p:nvPr/>
        </p:nvSpPr>
        <p:spPr>
          <a:xfrm>
            <a:off x="565682" y="4838479"/>
            <a:ext cx="37131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9CA3AF"/>
                </a:solidFill>
                <a:latin typeface="Lexend"/>
                <a:ea typeface="Lexend"/>
                <a:cs typeface="Lexend"/>
                <a:sym typeface="Lexend"/>
              </a:rPr>
              <a:t>31,4% chạy ≥3 ngày · 15,6% ≥5 ngày · 3,6% ≥10 ngày · top 10% TX (34 người) tạo 52,6% tổng đơn</a:t>
            </a:r>
            <a:endParaRPr sz="1100"/>
          </a:p>
        </p:txBody>
      </p:sp>
      <p:sp>
        <p:nvSpPr>
          <p:cNvPr id="1065" name="Google Shape;1065;p37"/>
          <p:cNvSpPr/>
          <p:nvPr/>
        </p:nvSpPr>
        <p:spPr>
          <a:xfrm>
            <a:off x="4707099" y="2483981"/>
            <a:ext cx="4113000" cy="1470900"/>
          </a:xfrm>
          <a:prstGeom prst="roundRect">
            <a:avLst>
              <a:gd fmla="val 7766" name="adj"/>
            </a:avLst>
          </a:prstGeom>
          <a:solidFill>
            <a:srgbClr val="FFFFFF"/>
          </a:solidFill>
          <a:ln cap="flat" cmpd="sng" w="10700">
            <a:solidFill>
              <a:srgbClr val="E9EDF3"/>
            </a:solidFill>
            <a:prstDash val="solid"/>
            <a:round/>
            <a:headEnd len="sm" w="sm" type="none"/>
            <a:tailEnd len="sm" w="sm" type="none"/>
          </a:ln>
          <a:effectLst>
            <a:outerShdw blurRad="71404" rotWithShape="0" dir="5400000" dist="28561">
              <a:srgbClr val="0E4174">
                <a:alpha val="10200"/>
              </a:srgbClr>
            </a:outerShdw>
          </a:effectLst>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66" name="Google Shape;1066;p37"/>
          <p:cNvSpPr txBox="1"/>
          <p:nvPr/>
        </p:nvSpPr>
        <p:spPr>
          <a:xfrm>
            <a:off x="4907029" y="2565096"/>
            <a:ext cx="37131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Retention theo cohort</a:t>
            </a:r>
            <a:endParaRPr sz="1100"/>
          </a:p>
        </p:txBody>
      </p:sp>
      <p:sp>
        <p:nvSpPr>
          <p:cNvPr id="1067" name="Google Shape;1067;p37"/>
          <p:cNvSpPr txBox="1"/>
          <p:nvPr/>
        </p:nvSpPr>
        <p:spPr>
          <a:xfrm>
            <a:off x="4907029" y="2924862"/>
            <a:ext cx="10710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COHORT</a:t>
            </a:r>
            <a:endParaRPr sz="1100"/>
          </a:p>
        </p:txBody>
      </p:sp>
      <p:sp>
        <p:nvSpPr>
          <p:cNvPr id="1068" name="Google Shape;1068;p37"/>
          <p:cNvSpPr txBox="1"/>
          <p:nvPr/>
        </p:nvSpPr>
        <p:spPr>
          <a:xfrm>
            <a:off x="6199437" y="2924862"/>
            <a:ext cx="5001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SỐ TX</a:t>
            </a:r>
            <a:endParaRPr sz="1100"/>
          </a:p>
        </p:txBody>
      </p:sp>
      <p:sp>
        <p:nvSpPr>
          <p:cNvPr id="1069" name="Google Shape;1069;p37"/>
          <p:cNvSpPr txBox="1"/>
          <p:nvPr/>
        </p:nvSpPr>
        <p:spPr>
          <a:xfrm>
            <a:off x="6984878" y="2924862"/>
            <a:ext cx="5001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E0641A"/>
                </a:solidFill>
                <a:latin typeface="Lexend"/>
                <a:ea typeface="Lexend"/>
                <a:cs typeface="Lexend"/>
                <a:sym typeface="Lexend"/>
              </a:rPr>
              <a:t>D3</a:t>
            </a:r>
            <a:endParaRPr sz="1100"/>
          </a:p>
        </p:txBody>
      </p:sp>
      <p:sp>
        <p:nvSpPr>
          <p:cNvPr id="1070" name="Google Shape;1070;p37"/>
          <p:cNvSpPr txBox="1"/>
          <p:nvPr/>
        </p:nvSpPr>
        <p:spPr>
          <a:xfrm>
            <a:off x="7841723" y="2924862"/>
            <a:ext cx="500100" cy="1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D7</a:t>
            </a:r>
            <a:endParaRPr sz="1100"/>
          </a:p>
        </p:txBody>
      </p:sp>
      <p:sp>
        <p:nvSpPr>
          <p:cNvPr id="1071" name="Google Shape;1071;p37"/>
          <p:cNvSpPr/>
          <p:nvPr/>
        </p:nvSpPr>
        <p:spPr>
          <a:xfrm>
            <a:off x="4907029" y="3065921"/>
            <a:ext cx="3713100" cy="6900"/>
          </a:xfrm>
          <a:prstGeom prst="rect">
            <a:avLst/>
          </a:prstGeom>
          <a:solidFill>
            <a:srgbClr val="EDF1F6"/>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72" name="Google Shape;1072;p37"/>
          <p:cNvSpPr txBox="1"/>
          <p:nvPr/>
        </p:nvSpPr>
        <p:spPr>
          <a:xfrm>
            <a:off x="4907029" y="3120651"/>
            <a:ext cx="1071000" cy="15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T1 (4–9/8)</a:t>
            </a:r>
            <a:endParaRPr sz="1100"/>
          </a:p>
        </p:txBody>
      </p:sp>
      <p:sp>
        <p:nvSpPr>
          <p:cNvPr id="1073" name="Google Shape;1073;p37"/>
          <p:cNvSpPr txBox="1"/>
          <p:nvPr/>
        </p:nvSpPr>
        <p:spPr>
          <a:xfrm>
            <a:off x="6199437" y="3120651"/>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24</a:t>
            </a:r>
            <a:endParaRPr sz="1100"/>
          </a:p>
        </p:txBody>
      </p:sp>
      <p:sp>
        <p:nvSpPr>
          <p:cNvPr id="1074" name="Google Shape;1074;p37"/>
          <p:cNvSpPr txBox="1"/>
          <p:nvPr/>
        </p:nvSpPr>
        <p:spPr>
          <a:xfrm>
            <a:off x="6984878" y="3111440"/>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45,8%</a:t>
            </a:r>
            <a:endParaRPr sz="1100"/>
          </a:p>
        </p:txBody>
      </p:sp>
      <p:sp>
        <p:nvSpPr>
          <p:cNvPr id="1075" name="Google Shape;1075;p37"/>
          <p:cNvSpPr txBox="1"/>
          <p:nvPr/>
        </p:nvSpPr>
        <p:spPr>
          <a:xfrm>
            <a:off x="7806021" y="3116046"/>
            <a:ext cx="5712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9CA3AF"/>
                </a:solidFill>
                <a:latin typeface="Lexend"/>
                <a:ea typeface="Lexend"/>
                <a:cs typeface="Lexend"/>
                <a:sym typeface="Lexend"/>
              </a:rPr>
              <a:t>50,0%</a:t>
            </a:r>
            <a:endParaRPr sz="1100"/>
          </a:p>
        </p:txBody>
      </p:sp>
      <p:sp>
        <p:nvSpPr>
          <p:cNvPr id="1076" name="Google Shape;1076;p37"/>
          <p:cNvSpPr txBox="1"/>
          <p:nvPr/>
        </p:nvSpPr>
        <p:spPr>
          <a:xfrm>
            <a:off x="4907029" y="3277739"/>
            <a:ext cx="1071000" cy="15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T2 (10–16/8)</a:t>
            </a:r>
            <a:endParaRPr sz="1100"/>
          </a:p>
        </p:txBody>
      </p:sp>
      <p:sp>
        <p:nvSpPr>
          <p:cNvPr id="1077" name="Google Shape;1077;p37"/>
          <p:cNvSpPr txBox="1"/>
          <p:nvPr/>
        </p:nvSpPr>
        <p:spPr>
          <a:xfrm>
            <a:off x="6199437" y="3277739"/>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78</a:t>
            </a:r>
            <a:endParaRPr sz="1100"/>
          </a:p>
        </p:txBody>
      </p:sp>
      <p:sp>
        <p:nvSpPr>
          <p:cNvPr id="1078" name="Google Shape;1078;p37"/>
          <p:cNvSpPr txBox="1"/>
          <p:nvPr/>
        </p:nvSpPr>
        <p:spPr>
          <a:xfrm>
            <a:off x="6984878" y="3268528"/>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43,6%</a:t>
            </a:r>
            <a:endParaRPr sz="1100"/>
          </a:p>
        </p:txBody>
      </p:sp>
      <p:sp>
        <p:nvSpPr>
          <p:cNvPr id="1079" name="Google Shape;1079;p37"/>
          <p:cNvSpPr txBox="1"/>
          <p:nvPr/>
        </p:nvSpPr>
        <p:spPr>
          <a:xfrm>
            <a:off x="7806021" y="3273134"/>
            <a:ext cx="5712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9CA3AF"/>
                </a:solidFill>
                <a:latin typeface="Lexend"/>
                <a:ea typeface="Lexend"/>
                <a:cs typeface="Lexend"/>
                <a:sym typeface="Lexend"/>
              </a:rPr>
              <a:t>51,3%</a:t>
            </a:r>
            <a:endParaRPr sz="1100"/>
          </a:p>
        </p:txBody>
      </p:sp>
      <p:sp>
        <p:nvSpPr>
          <p:cNvPr id="1080" name="Google Shape;1080;p37"/>
          <p:cNvSpPr txBox="1"/>
          <p:nvPr/>
        </p:nvSpPr>
        <p:spPr>
          <a:xfrm>
            <a:off x="4907029" y="3434827"/>
            <a:ext cx="1071000" cy="15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T3 (17–23/8)</a:t>
            </a:r>
            <a:endParaRPr sz="1100"/>
          </a:p>
        </p:txBody>
      </p:sp>
      <p:sp>
        <p:nvSpPr>
          <p:cNvPr id="1081" name="Google Shape;1081;p37"/>
          <p:cNvSpPr txBox="1"/>
          <p:nvPr/>
        </p:nvSpPr>
        <p:spPr>
          <a:xfrm>
            <a:off x="6199437" y="3434827"/>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139</a:t>
            </a:r>
            <a:endParaRPr sz="1100"/>
          </a:p>
        </p:txBody>
      </p:sp>
      <p:sp>
        <p:nvSpPr>
          <p:cNvPr id="1082" name="Google Shape;1082;p37"/>
          <p:cNvSpPr txBox="1"/>
          <p:nvPr/>
        </p:nvSpPr>
        <p:spPr>
          <a:xfrm>
            <a:off x="6984878" y="3425616"/>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38,1%</a:t>
            </a:r>
            <a:endParaRPr sz="1100"/>
          </a:p>
        </p:txBody>
      </p:sp>
      <p:sp>
        <p:nvSpPr>
          <p:cNvPr id="1083" name="Google Shape;1083;p37"/>
          <p:cNvSpPr txBox="1"/>
          <p:nvPr/>
        </p:nvSpPr>
        <p:spPr>
          <a:xfrm>
            <a:off x="7806021" y="3430221"/>
            <a:ext cx="5712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9CA3AF"/>
                </a:solidFill>
                <a:latin typeface="Lexend"/>
                <a:ea typeface="Lexend"/>
                <a:cs typeface="Lexend"/>
                <a:sym typeface="Lexend"/>
              </a:rPr>
              <a:t>46,0%</a:t>
            </a:r>
            <a:endParaRPr sz="1100"/>
          </a:p>
        </p:txBody>
      </p:sp>
      <p:sp>
        <p:nvSpPr>
          <p:cNvPr id="1084" name="Google Shape;1084;p37"/>
          <p:cNvSpPr txBox="1"/>
          <p:nvPr/>
        </p:nvSpPr>
        <p:spPr>
          <a:xfrm>
            <a:off x="4907029" y="3591915"/>
            <a:ext cx="1071000" cy="15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T4 (24–30/8)</a:t>
            </a:r>
            <a:endParaRPr sz="1100"/>
          </a:p>
        </p:txBody>
      </p:sp>
      <p:sp>
        <p:nvSpPr>
          <p:cNvPr id="1085" name="Google Shape;1085;p37"/>
          <p:cNvSpPr txBox="1"/>
          <p:nvPr/>
        </p:nvSpPr>
        <p:spPr>
          <a:xfrm>
            <a:off x="6199437" y="3591915"/>
            <a:ext cx="5001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93</a:t>
            </a:r>
            <a:endParaRPr sz="1100"/>
          </a:p>
        </p:txBody>
      </p:sp>
      <p:sp>
        <p:nvSpPr>
          <p:cNvPr id="1086" name="Google Shape;1086;p37"/>
          <p:cNvSpPr txBox="1"/>
          <p:nvPr/>
        </p:nvSpPr>
        <p:spPr>
          <a:xfrm>
            <a:off x="6984878" y="3582704"/>
            <a:ext cx="500100" cy="16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39,5%</a:t>
            </a:r>
            <a:endParaRPr sz="1100"/>
          </a:p>
        </p:txBody>
      </p:sp>
      <p:sp>
        <p:nvSpPr>
          <p:cNvPr id="1087" name="Google Shape;1087;p37"/>
          <p:cNvSpPr txBox="1"/>
          <p:nvPr/>
        </p:nvSpPr>
        <p:spPr>
          <a:xfrm>
            <a:off x="7806021" y="3601126"/>
            <a:ext cx="571200" cy="14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chưa đủ</a:t>
            </a:r>
            <a:endParaRPr sz="1100"/>
          </a:p>
        </p:txBody>
      </p:sp>
      <p:sp>
        <p:nvSpPr>
          <p:cNvPr id="1088" name="Google Shape;1088;p37"/>
          <p:cNvSpPr txBox="1"/>
          <p:nvPr/>
        </p:nvSpPr>
        <p:spPr>
          <a:xfrm>
            <a:off x="4907029" y="3781706"/>
            <a:ext cx="3713100" cy="1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9CA3AF"/>
                </a:solidFill>
                <a:latin typeface="Lexend"/>
                <a:ea typeface="Lexend"/>
                <a:cs typeface="Lexend"/>
                <a:sym typeface="Lexend"/>
              </a:rPr>
              <a:t>D7 ổn định quanh 46–51% · D3 giảm 45,8% → 38,1% rồi chững 39,5%</a:t>
            </a:r>
            <a:endParaRPr sz="1100"/>
          </a:p>
        </p:txBody>
      </p:sp>
      <p:sp>
        <p:nvSpPr>
          <p:cNvPr id="1089" name="Google Shape;1089;p37"/>
          <p:cNvSpPr/>
          <p:nvPr/>
        </p:nvSpPr>
        <p:spPr>
          <a:xfrm>
            <a:off x="4707099" y="4069141"/>
            <a:ext cx="4113000" cy="928500"/>
          </a:xfrm>
          <a:prstGeom prst="roundRect">
            <a:avLst>
              <a:gd fmla="val 12307" name="adj"/>
            </a:avLst>
          </a:prstGeom>
          <a:solidFill>
            <a:srgbClr val="FFF3EB"/>
          </a:solidFill>
          <a:ln cap="flat" cmpd="sng" w="10700">
            <a:solidFill>
              <a:srgbClr val="F3C4A0"/>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90" name="Google Shape;1090;p37"/>
          <p:cNvSpPr/>
          <p:nvPr/>
        </p:nvSpPr>
        <p:spPr>
          <a:xfrm>
            <a:off x="4907029" y="4204808"/>
            <a:ext cx="36000" cy="128700"/>
          </a:xfrm>
          <a:prstGeom prst="roundRect">
            <a:avLst>
              <a:gd fmla="val 50000" name="adj"/>
            </a:avLst>
          </a:prstGeom>
          <a:solidFill>
            <a:srgbClr val="FF7F32"/>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091" name="Google Shape;1091;p37"/>
          <p:cNvSpPr txBox="1"/>
          <p:nvPr/>
        </p:nvSpPr>
        <p:spPr>
          <a:xfrm>
            <a:off x="5021275" y="4215197"/>
            <a:ext cx="32844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600">
                <a:solidFill>
                  <a:srgbClr val="E0641A"/>
                </a:solidFill>
                <a:latin typeface="Lexend"/>
                <a:ea typeface="Lexend"/>
                <a:cs typeface="Lexend"/>
                <a:sym typeface="Lexend"/>
              </a:rPr>
              <a:t>Ca đầu quyết định gắn bó</a:t>
            </a:r>
            <a:endParaRPr sz="1100"/>
          </a:p>
        </p:txBody>
      </p:sp>
      <p:sp>
        <p:nvSpPr>
          <p:cNvPr id="1092" name="Google Shape;1092;p37"/>
          <p:cNvSpPr txBox="1"/>
          <p:nvPr/>
        </p:nvSpPr>
        <p:spPr>
          <a:xfrm>
            <a:off x="4907029" y="4397597"/>
            <a:ext cx="3713100" cy="51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 sz="700">
                <a:solidFill>
                  <a:srgbClr val="374151"/>
                </a:solidFill>
                <a:latin typeface="Lexend"/>
                <a:ea typeface="Lexend"/>
                <a:cs typeface="Lexend"/>
                <a:sym typeface="Lexend"/>
              </a:rPr>
              <a:t>Ca đầu tiên xảy ra </a:t>
            </a:r>
            <a:r>
              <a:rPr b="1" i="0" lang="en" sz="700">
                <a:solidFill>
                  <a:srgbClr val="B4531A"/>
                </a:solidFill>
                <a:latin typeface="Lexend"/>
                <a:ea typeface="Lexend"/>
                <a:cs typeface="Lexend"/>
                <a:sym typeface="Lexend"/>
              </a:rPr>
              <a:t>trước</a:t>
            </a:r>
            <a:r>
              <a:rPr b="0" i="0" lang="en" sz="700">
                <a:solidFill>
                  <a:srgbClr val="374151"/>
                </a:solidFill>
                <a:latin typeface="Lexend"/>
                <a:ea typeface="Lexend"/>
                <a:cs typeface="Lexend"/>
                <a:sym typeface="Lexend"/>
              </a:rPr>
              <a:t> quyết định quay lại — nên đây không phải “người giỏi thì ở lại”, mà là trải nghiệm ca đầu quyết định họ có ở lại. Chênh ~9.000đ/giờ trên đúng một ca là đủ để mất một nửa tài xế.</a:t>
            </a:r>
            <a:endParaRPr sz="1100"/>
          </a:p>
        </p:txBody>
      </p:sp>
      <p:sp>
        <p:nvSpPr>
          <p:cNvPr id="1093" name="Google Shape;1093;p37"/>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94" name="Google Shape;1094;p37"/>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CITIZONE</a:t>
            </a:r>
            <a:endParaRPr sz="1100"/>
          </a:p>
        </p:txBody>
      </p:sp>
      <p:sp>
        <p:nvSpPr>
          <p:cNvPr id="1095" name="Google Shape;1095;p37"/>
          <p:cNvSpPr txBox="1"/>
          <p:nvPr/>
        </p:nvSpPr>
        <p:spPr>
          <a:xfrm>
            <a:off x="500063" y="528209"/>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Chất lượng ca đầu gần như quyết định tới việc phát sinh ca sau</a:t>
            </a:r>
            <a:endParaRPr b="1" sz="800">
              <a:solidFill>
                <a:srgbClr val="6B7280"/>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9" name="Shape 1099"/>
        <p:cNvGrpSpPr/>
        <p:nvPr/>
      </p:nvGrpSpPr>
      <p:grpSpPr>
        <a:xfrm>
          <a:off x="0" y="0"/>
          <a:ext cx="0" cy="0"/>
          <a:chOff x="0" y="0"/>
          <a:chExt cx="0" cy="0"/>
        </a:xfrm>
      </p:grpSpPr>
      <p:sp>
        <p:nvSpPr>
          <p:cNvPr id="1100" name="Google Shape;1100;p38"/>
          <p:cNvSpPr/>
          <p:nvPr/>
        </p:nvSpPr>
        <p:spPr>
          <a:xfrm>
            <a:off x="0" y="0"/>
            <a:ext cx="9144000" cy="73200"/>
          </a:xfrm>
          <a:prstGeom prst="rect">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1" name="Google Shape;1101;p38"/>
          <p:cNvCxnSpPr/>
          <p:nvPr/>
        </p:nvCxnSpPr>
        <p:spPr>
          <a:xfrm>
            <a:off x="365760" y="868680"/>
            <a:ext cx="8412600" cy="0"/>
          </a:xfrm>
          <a:prstGeom prst="straightConnector1">
            <a:avLst/>
          </a:prstGeom>
          <a:noFill/>
          <a:ln cap="flat" cmpd="sng" w="9525">
            <a:solidFill>
              <a:srgbClr val="E2E8F0"/>
            </a:solidFill>
            <a:prstDash val="solid"/>
            <a:round/>
            <a:headEnd len="sm" w="sm" type="none"/>
            <a:tailEnd len="sm" w="sm" type="none"/>
          </a:ln>
        </p:spPr>
      </p:cxnSp>
      <p:sp>
        <p:nvSpPr>
          <p:cNvPr id="1102" name="Google Shape;1102;p38"/>
          <p:cNvSpPr/>
          <p:nvPr/>
        </p:nvSpPr>
        <p:spPr>
          <a:xfrm>
            <a:off x="5486395" y="45700"/>
            <a:ext cx="36576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4A3B8"/>
              </a:buClr>
              <a:buSzPts val="700"/>
              <a:buFont typeface="Calibri"/>
              <a:buNone/>
            </a:pPr>
            <a:r>
              <a:rPr b="0" i="1" lang="en" sz="700" u="none" cap="none" strike="noStrike">
                <a:solidFill>
                  <a:srgbClr val="94A3B8"/>
                </a:solidFill>
                <a:latin typeface="Calibri"/>
                <a:ea typeface="Calibri"/>
                <a:cs typeface="Calibri"/>
                <a:sym typeface="Calibri"/>
              </a:rPr>
              <a:t>Ahamove — Driver Management | Confidential</a:t>
            </a:r>
            <a:endParaRPr b="0" i="0" sz="700" u="none" cap="none" strike="noStrike">
              <a:solidFill>
                <a:schemeClr val="dk1"/>
              </a:solidFill>
              <a:latin typeface="Calibri"/>
              <a:ea typeface="Calibri"/>
              <a:cs typeface="Calibri"/>
              <a:sym typeface="Calibri"/>
            </a:endParaRPr>
          </a:p>
        </p:txBody>
      </p:sp>
      <p:sp>
        <p:nvSpPr>
          <p:cNvPr id="1103" name="Google Shape;1103;p38"/>
          <p:cNvSpPr/>
          <p:nvPr/>
        </p:nvSpPr>
        <p:spPr>
          <a:xfrm>
            <a:off x="365750" y="995494"/>
            <a:ext cx="8412600" cy="2344800"/>
          </a:xfrm>
          <a:prstGeom prst="roundRect">
            <a:avLst>
              <a:gd fmla="val 4848" name="adj"/>
            </a:avLst>
          </a:prstGeom>
          <a:solidFill>
            <a:srgbClr val="FFFFFF"/>
          </a:solidFill>
          <a:ln cap="flat" cmpd="sng" w="10650">
            <a:solidFill>
              <a:srgbClr val="E9EDF3"/>
            </a:solidFill>
            <a:prstDash val="solid"/>
            <a:round/>
            <a:headEnd len="sm" w="sm" type="none"/>
            <a:tailEnd len="sm" w="sm" type="none"/>
          </a:ln>
          <a:effectLst>
            <a:outerShdw blurRad="71052" rotWithShape="0" dir="5400000" dist="28421">
              <a:srgbClr val="0E4174">
                <a:alpha val="10200"/>
              </a:srgbClr>
            </a:outerShdw>
          </a:effectLst>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04" name="Google Shape;1104;p38"/>
          <p:cNvSpPr txBox="1"/>
          <p:nvPr/>
        </p:nvSpPr>
        <p:spPr>
          <a:xfrm>
            <a:off x="564696" y="1090419"/>
            <a:ext cx="4263000" cy="21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Ca đăng ký và ca check-in theo ngày</a:t>
            </a:r>
            <a:endParaRPr sz="1100"/>
          </a:p>
        </p:txBody>
      </p:sp>
      <p:sp>
        <p:nvSpPr>
          <p:cNvPr id="1105" name="Google Shape;1105;p38"/>
          <p:cNvSpPr/>
          <p:nvPr/>
        </p:nvSpPr>
        <p:spPr>
          <a:xfrm>
            <a:off x="706800" y="2595069"/>
            <a:ext cx="7844100" cy="7200"/>
          </a:xfrm>
          <a:prstGeom prst="rect">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06" name="Google Shape;1106;p38"/>
          <p:cNvSpPr txBox="1"/>
          <p:nvPr/>
        </p:nvSpPr>
        <p:spPr>
          <a:xfrm>
            <a:off x="394171" y="2544551"/>
            <a:ext cx="284400" cy="121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50</a:t>
            </a:r>
            <a:endParaRPr sz="1100"/>
          </a:p>
        </p:txBody>
      </p:sp>
      <p:sp>
        <p:nvSpPr>
          <p:cNvPr id="1107" name="Google Shape;1107;p38"/>
          <p:cNvSpPr/>
          <p:nvPr/>
        </p:nvSpPr>
        <p:spPr>
          <a:xfrm>
            <a:off x="706800" y="2294001"/>
            <a:ext cx="7844100" cy="7200"/>
          </a:xfrm>
          <a:prstGeom prst="rect">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08" name="Google Shape;1108;p38"/>
          <p:cNvSpPr txBox="1"/>
          <p:nvPr/>
        </p:nvSpPr>
        <p:spPr>
          <a:xfrm>
            <a:off x="394171" y="2243482"/>
            <a:ext cx="284400" cy="121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100</a:t>
            </a:r>
            <a:endParaRPr sz="1100"/>
          </a:p>
        </p:txBody>
      </p:sp>
      <p:sp>
        <p:nvSpPr>
          <p:cNvPr id="1109" name="Google Shape;1109;p38"/>
          <p:cNvSpPr/>
          <p:nvPr/>
        </p:nvSpPr>
        <p:spPr>
          <a:xfrm>
            <a:off x="706800" y="1992932"/>
            <a:ext cx="7844100" cy="7200"/>
          </a:xfrm>
          <a:prstGeom prst="rect">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10" name="Google Shape;1110;p38"/>
          <p:cNvSpPr txBox="1"/>
          <p:nvPr/>
        </p:nvSpPr>
        <p:spPr>
          <a:xfrm>
            <a:off x="394171" y="1942415"/>
            <a:ext cx="284400" cy="121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150</a:t>
            </a:r>
            <a:endParaRPr sz="1100"/>
          </a:p>
        </p:txBody>
      </p:sp>
      <p:sp>
        <p:nvSpPr>
          <p:cNvPr id="1111" name="Google Shape;1111;p38"/>
          <p:cNvSpPr/>
          <p:nvPr/>
        </p:nvSpPr>
        <p:spPr>
          <a:xfrm>
            <a:off x="2466723" y="1720225"/>
            <a:ext cx="10800" cy="1207800"/>
          </a:xfrm>
          <a:prstGeom prst="rect">
            <a:avLst/>
          </a:prstGeom>
          <a:solidFill>
            <a:srgbClr val="F3C4A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12" name="Google Shape;1112;p38"/>
          <p:cNvSpPr/>
          <p:nvPr/>
        </p:nvSpPr>
        <p:spPr>
          <a:xfrm>
            <a:off x="4493025" y="1720225"/>
            <a:ext cx="10800" cy="1207800"/>
          </a:xfrm>
          <a:prstGeom prst="rect">
            <a:avLst/>
          </a:prstGeom>
          <a:solidFill>
            <a:srgbClr val="F3C4A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13" name="Google Shape;1113;p38"/>
          <p:cNvSpPr/>
          <p:nvPr/>
        </p:nvSpPr>
        <p:spPr>
          <a:xfrm>
            <a:off x="6519328" y="1720225"/>
            <a:ext cx="10800" cy="1207800"/>
          </a:xfrm>
          <a:prstGeom prst="rect">
            <a:avLst/>
          </a:prstGeom>
          <a:solidFill>
            <a:srgbClr val="F3C4A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14" name="Google Shape;1114;p38"/>
          <p:cNvSpPr txBox="1"/>
          <p:nvPr/>
        </p:nvSpPr>
        <p:spPr>
          <a:xfrm>
            <a:off x="715485" y="1557516"/>
            <a:ext cx="1776600" cy="13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T1 </a:t>
            </a:r>
            <a:endParaRPr sz="1100"/>
          </a:p>
        </p:txBody>
      </p:sp>
      <p:sp>
        <p:nvSpPr>
          <p:cNvPr id="1115" name="Google Shape;1115;p38"/>
          <p:cNvSpPr txBox="1"/>
          <p:nvPr/>
        </p:nvSpPr>
        <p:spPr>
          <a:xfrm>
            <a:off x="2597051" y="1557516"/>
            <a:ext cx="1776600" cy="13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T2 </a:t>
            </a:r>
            <a:endParaRPr sz="1100"/>
          </a:p>
        </p:txBody>
      </p:sp>
      <p:sp>
        <p:nvSpPr>
          <p:cNvPr id="1116" name="Google Shape;1116;p38"/>
          <p:cNvSpPr txBox="1"/>
          <p:nvPr/>
        </p:nvSpPr>
        <p:spPr>
          <a:xfrm>
            <a:off x="4623354" y="1557516"/>
            <a:ext cx="1776600" cy="13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T3 </a:t>
            </a:r>
            <a:endParaRPr sz="1100"/>
          </a:p>
        </p:txBody>
      </p:sp>
      <p:sp>
        <p:nvSpPr>
          <p:cNvPr id="1117" name="Google Shape;1117;p38"/>
          <p:cNvSpPr txBox="1"/>
          <p:nvPr/>
        </p:nvSpPr>
        <p:spPr>
          <a:xfrm>
            <a:off x="6649656" y="1557516"/>
            <a:ext cx="1776600" cy="13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E0641A"/>
                </a:solidFill>
                <a:latin typeface="Lexend"/>
                <a:ea typeface="Lexend"/>
                <a:cs typeface="Lexend"/>
                <a:sym typeface="Lexend"/>
              </a:rPr>
              <a:t>T4 </a:t>
            </a:r>
            <a:endParaRPr sz="1100"/>
          </a:p>
        </p:txBody>
      </p:sp>
      <p:sp>
        <p:nvSpPr>
          <p:cNvPr id="1118" name="Google Shape;1118;p38"/>
          <p:cNvSpPr/>
          <p:nvPr/>
        </p:nvSpPr>
        <p:spPr>
          <a:xfrm>
            <a:off x="808905" y="2827434"/>
            <a:ext cx="141900" cy="723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19" name="Google Shape;1119;p38"/>
          <p:cNvSpPr/>
          <p:nvPr/>
        </p:nvSpPr>
        <p:spPr>
          <a:xfrm>
            <a:off x="808905" y="2863562"/>
            <a:ext cx="141900" cy="360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20" name="Google Shape;1120;p38"/>
          <p:cNvSpPr txBox="1"/>
          <p:nvPr/>
        </p:nvSpPr>
        <p:spPr>
          <a:xfrm>
            <a:off x="737853"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04</a:t>
            </a:r>
            <a:endParaRPr sz="1100"/>
          </a:p>
        </p:txBody>
      </p:sp>
      <p:sp>
        <p:nvSpPr>
          <p:cNvPr id="1121" name="Google Shape;1121;p38"/>
          <p:cNvSpPr txBox="1"/>
          <p:nvPr/>
        </p:nvSpPr>
        <p:spPr>
          <a:xfrm>
            <a:off x="723643"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50,0%</a:t>
            </a:r>
            <a:endParaRPr sz="1100"/>
          </a:p>
        </p:txBody>
      </p:sp>
      <p:sp>
        <p:nvSpPr>
          <p:cNvPr id="1122" name="Google Shape;1122;p38"/>
          <p:cNvSpPr/>
          <p:nvPr/>
        </p:nvSpPr>
        <p:spPr>
          <a:xfrm>
            <a:off x="1098377" y="2833455"/>
            <a:ext cx="141900" cy="663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23" name="Google Shape;1123;p38"/>
          <p:cNvSpPr/>
          <p:nvPr/>
        </p:nvSpPr>
        <p:spPr>
          <a:xfrm>
            <a:off x="1098377" y="2857540"/>
            <a:ext cx="141900" cy="420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24" name="Google Shape;1124;p38"/>
          <p:cNvSpPr txBox="1"/>
          <p:nvPr/>
        </p:nvSpPr>
        <p:spPr>
          <a:xfrm>
            <a:off x="1027324"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05</a:t>
            </a:r>
            <a:endParaRPr sz="1100"/>
          </a:p>
        </p:txBody>
      </p:sp>
      <p:sp>
        <p:nvSpPr>
          <p:cNvPr id="1125" name="Google Shape;1125;p38"/>
          <p:cNvSpPr txBox="1"/>
          <p:nvPr/>
        </p:nvSpPr>
        <p:spPr>
          <a:xfrm>
            <a:off x="1013114"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63,6%</a:t>
            </a:r>
            <a:endParaRPr sz="1100"/>
          </a:p>
        </p:txBody>
      </p:sp>
      <p:sp>
        <p:nvSpPr>
          <p:cNvPr id="1126" name="Google Shape;1126;p38"/>
          <p:cNvSpPr/>
          <p:nvPr/>
        </p:nvSpPr>
        <p:spPr>
          <a:xfrm>
            <a:off x="1387849" y="2773241"/>
            <a:ext cx="141900" cy="1263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27" name="Google Shape;1127;p38"/>
          <p:cNvSpPr/>
          <p:nvPr/>
        </p:nvSpPr>
        <p:spPr>
          <a:xfrm>
            <a:off x="1387849" y="2845498"/>
            <a:ext cx="141900" cy="540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28" name="Google Shape;1128;p38"/>
          <p:cNvSpPr txBox="1"/>
          <p:nvPr/>
        </p:nvSpPr>
        <p:spPr>
          <a:xfrm>
            <a:off x="1316796"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06</a:t>
            </a:r>
            <a:endParaRPr sz="1100"/>
          </a:p>
        </p:txBody>
      </p:sp>
      <p:sp>
        <p:nvSpPr>
          <p:cNvPr id="1129" name="Google Shape;1129;p38"/>
          <p:cNvSpPr txBox="1"/>
          <p:nvPr/>
        </p:nvSpPr>
        <p:spPr>
          <a:xfrm>
            <a:off x="1302586"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42,9%</a:t>
            </a:r>
            <a:endParaRPr sz="1100"/>
          </a:p>
        </p:txBody>
      </p:sp>
      <p:sp>
        <p:nvSpPr>
          <p:cNvPr id="1130" name="Google Shape;1130;p38"/>
          <p:cNvSpPr/>
          <p:nvPr/>
        </p:nvSpPr>
        <p:spPr>
          <a:xfrm>
            <a:off x="1677320" y="2749156"/>
            <a:ext cx="141900" cy="1506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31" name="Google Shape;1131;p38"/>
          <p:cNvSpPr/>
          <p:nvPr/>
        </p:nvSpPr>
        <p:spPr>
          <a:xfrm>
            <a:off x="1677320" y="2821412"/>
            <a:ext cx="141900" cy="783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32" name="Google Shape;1132;p38"/>
          <p:cNvSpPr txBox="1"/>
          <p:nvPr/>
        </p:nvSpPr>
        <p:spPr>
          <a:xfrm>
            <a:off x="1606268"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07</a:t>
            </a:r>
            <a:endParaRPr sz="1100"/>
          </a:p>
        </p:txBody>
      </p:sp>
      <p:sp>
        <p:nvSpPr>
          <p:cNvPr id="1133" name="Google Shape;1133;p38"/>
          <p:cNvSpPr txBox="1"/>
          <p:nvPr/>
        </p:nvSpPr>
        <p:spPr>
          <a:xfrm>
            <a:off x="1592057"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52,0%</a:t>
            </a:r>
            <a:endParaRPr sz="1100"/>
          </a:p>
        </p:txBody>
      </p:sp>
      <p:sp>
        <p:nvSpPr>
          <p:cNvPr id="1134" name="Google Shape;1134;p38"/>
          <p:cNvSpPr/>
          <p:nvPr/>
        </p:nvSpPr>
        <p:spPr>
          <a:xfrm>
            <a:off x="1966792" y="2743134"/>
            <a:ext cx="141900" cy="1569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35" name="Google Shape;1135;p38"/>
          <p:cNvSpPr/>
          <p:nvPr/>
        </p:nvSpPr>
        <p:spPr>
          <a:xfrm>
            <a:off x="1966792" y="2833455"/>
            <a:ext cx="141900" cy="663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36" name="Google Shape;1136;p38"/>
          <p:cNvSpPr txBox="1"/>
          <p:nvPr/>
        </p:nvSpPr>
        <p:spPr>
          <a:xfrm>
            <a:off x="1895740"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08</a:t>
            </a:r>
            <a:endParaRPr sz="1100"/>
          </a:p>
        </p:txBody>
      </p:sp>
      <p:sp>
        <p:nvSpPr>
          <p:cNvPr id="1137" name="Google Shape;1137;p38"/>
          <p:cNvSpPr txBox="1"/>
          <p:nvPr/>
        </p:nvSpPr>
        <p:spPr>
          <a:xfrm>
            <a:off x="1881530"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42,3%</a:t>
            </a:r>
            <a:endParaRPr sz="1100"/>
          </a:p>
        </p:txBody>
      </p:sp>
      <p:sp>
        <p:nvSpPr>
          <p:cNvPr id="1138" name="Google Shape;1138;p38"/>
          <p:cNvSpPr/>
          <p:nvPr/>
        </p:nvSpPr>
        <p:spPr>
          <a:xfrm>
            <a:off x="2256264" y="2785284"/>
            <a:ext cx="141900" cy="1143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39" name="Google Shape;1139;p38"/>
          <p:cNvSpPr/>
          <p:nvPr/>
        </p:nvSpPr>
        <p:spPr>
          <a:xfrm>
            <a:off x="2256264" y="2815391"/>
            <a:ext cx="141900" cy="846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40" name="Google Shape;1140;p38"/>
          <p:cNvSpPr txBox="1"/>
          <p:nvPr/>
        </p:nvSpPr>
        <p:spPr>
          <a:xfrm>
            <a:off x="2185212"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09</a:t>
            </a:r>
            <a:endParaRPr sz="1100"/>
          </a:p>
        </p:txBody>
      </p:sp>
      <p:sp>
        <p:nvSpPr>
          <p:cNvPr id="1141" name="Google Shape;1141;p38"/>
          <p:cNvSpPr txBox="1"/>
          <p:nvPr/>
        </p:nvSpPr>
        <p:spPr>
          <a:xfrm>
            <a:off x="2171002"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73,7%</a:t>
            </a:r>
            <a:endParaRPr sz="1100"/>
          </a:p>
        </p:txBody>
      </p:sp>
      <p:sp>
        <p:nvSpPr>
          <p:cNvPr id="1142" name="Google Shape;1142;p38"/>
          <p:cNvSpPr/>
          <p:nvPr/>
        </p:nvSpPr>
        <p:spPr>
          <a:xfrm>
            <a:off x="2545736" y="2743134"/>
            <a:ext cx="141900" cy="1569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43" name="Google Shape;1143;p38"/>
          <p:cNvSpPr/>
          <p:nvPr/>
        </p:nvSpPr>
        <p:spPr>
          <a:xfrm>
            <a:off x="2545736" y="2827434"/>
            <a:ext cx="141900" cy="723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44" name="Google Shape;1144;p38"/>
          <p:cNvSpPr txBox="1"/>
          <p:nvPr/>
        </p:nvSpPr>
        <p:spPr>
          <a:xfrm>
            <a:off x="2474683"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10</a:t>
            </a:r>
            <a:endParaRPr sz="1100"/>
          </a:p>
        </p:txBody>
      </p:sp>
      <p:sp>
        <p:nvSpPr>
          <p:cNvPr id="1145" name="Google Shape;1145;p38"/>
          <p:cNvSpPr txBox="1"/>
          <p:nvPr/>
        </p:nvSpPr>
        <p:spPr>
          <a:xfrm>
            <a:off x="2460473"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46,2%</a:t>
            </a:r>
            <a:endParaRPr sz="1100"/>
          </a:p>
        </p:txBody>
      </p:sp>
      <p:sp>
        <p:nvSpPr>
          <p:cNvPr id="1146" name="Google Shape;1146;p38"/>
          <p:cNvSpPr/>
          <p:nvPr/>
        </p:nvSpPr>
        <p:spPr>
          <a:xfrm>
            <a:off x="2835208" y="2694963"/>
            <a:ext cx="141900" cy="2046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47" name="Google Shape;1147;p38"/>
          <p:cNvSpPr/>
          <p:nvPr/>
        </p:nvSpPr>
        <p:spPr>
          <a:xfrm>
            <a:off x="2835208" y="2797326"/>
            <a:ext cx="141900" cy="1023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48" name="Google Shape;1148;p38"/>
          <p:cNvSpPr txBox="1"/>
          <p:nvPr/>
        </p:nvSpPr>
        <p:spPr>
          <a:xfrm>
            <a:off x="2764156"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11</a:t>
            </a:r>
            <a:endParaRPr sz="1100"/>
          </a:p>
        </p:txBody>
      </p:sp>
      <p:sp>
        <p:nvSpPr>
          <p:cNvPr id="1149" name="Google Shape;1149;p38"/>
          <p:cNvSpPr txBox="1"/>
          <p:nvPr/>
        </p:nvSpPr>
        <p:spPr>
          <a:xfrm>
            <a:off x="2749945"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50,0%</a:t>
            </a:r>
            <a:endParaRPr sz="1100"/>
          </a:p>
        </p:txBody>
      </p:sp>
      <p:sp>
        <p:nvSpPr>
          <p:cNvPr id="1150" name="Google Shape;1150;p38"/>
          <p:cNvSpPr/>
          <p:nvPr/>
        </p:nvSpPr>
        <p:spPr>
          <a:xfrm>
            <a:off x="3124679" y="2634750"/>
            <a:ext cx="141900" cy="2649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51" name="Google Shape;1151;p38"/>
          <p:cNvSpPr/>
          <p:nvPr/>
        </p:nvSpPr>
        <p:spPr>
          <a:xfrm>
            <a:off x="3124679" y="2761198"/>
            <a:ext cx="141900" cy="1386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52" name="Google Shape;1152;p38"/>
          <p:cNvSpPr txBox="1"/>
          <p:nvPr/>
        </p:nvSpPr>
        <p:spPr>
          <a:xfrm>
            <a:off x="3053627"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12</a:t>
            </a:r>
            <a:endParaRPr sz="1100"/>
          </a:p>
        </p:txBody>
      </p:sp>
      <p:sp>
        <p:nvSpPr>
          <p:cNvPr id="1153" name="Google Shape;1153;p38"/>
          <p:cNvSpPr txBox="1"/>
          <p:nvPr/>
        </p:nvSpPr>
        <p:spPr>
          <a:xfrm>
            <a:off x="3039417"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52,3%</a:t>
            </a:r>
            <a:endParaRPr sz="1100"/>
          </a:p>
        </p:txBody>
      </p:sp>
      <p:sp>
        <p:nvSpPr>
          <p:cNvPr id="1154" name="Google Shape;1154;p38"/>
          <p:cNvSpPr/>
          <p:nvPr/>
        </p:nvSpPr>
        <p:spPr>
          <a:xfrm>
            <a:off x="3414151" y="2448087"/>
            <a:ext cx="141900" cy="4515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55" name="Google Shape;1155;p38"/>
          <p:cNvSpPr/>
          <p:nvPr/>
        </p:nvSpPr>
        <p:spPr>
          <a:xfrm>
            <a:off x="3414151" y="2694963"/>
            <a:ext cx="141900" cy="2046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56" name="Google Shape;1156;p38"/>
          <p:cNvSpPr txBox="1"/>
          <p:nvPr/>
        </p:nvSpPr>
        <p:spPr>
          <a:xfrm>
            <a:off x="3343099"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13</a:t>
            </a:r>
            <a:endParaRPr sz="1100"/>
          </a:p>
        </p:txBody>
      </p:sp>
      <p:sp>
        <p:nvSpPr>
          <p:cNvPr id="1157" name="Google Shape;1157;p38"/>
          <p:cNvSpPr txBox="1"/>
          <p:nvPr/>
        </p:nvSpPr>
        <p:spPr>
          <a:xfrm>
            <a:off x="3328889"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45,3%</a:t>
            </a:r>
            <a:endParaRPr sz="1100"/>
          </a:p>
        </p:txBody>
      </p:sp>
      <p:sp>
        <p:nvSpPr>
          <p:cNvPr id="1158" name="Google Shape;1158;p38"/>
          <p:cNvSpPr/>
          <p:nvPr/>
        </p:nvSpPr>
        <p:spPr>
          <a:xfrm>
            <a:off x="3703623" y="2466152"/>
            <a:ext cx="141900" cy="4335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59" name="Google Shape;1159;p38"/>
          <p:cNvSpPr/>
          <p:nvPr/>
        </p:nvSpPr>
        <p:spPr>
          <a:xfrm>
            <a:off x="3703623" y="2713027"/>
            <a:ext cx="141900" cy="1866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60" name="Google Shape;1160;p38"/>
          <p:cNvSpPr txBox="1"/>
          <p:nvPr/>
        </p:nvSpPr>
        <p:spPr>
          <a:xfrm>
            <a:off x="3632570"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14</a:t>
            </a:r>
            <a:endParaRPr sz="1100"/>
          </a:p>
        </p:txBody>
      </p:sp>
      <p:sp>
        <p:nvSpPr>
          <p:cNvPr id="1161" name="Google Shape;1161;p38"/>
          <p:cNvSpPr txBox="1"/>
          <p:nvPr/>
        </p:nvSpPr>
        <p:spPr>
          <a:xfrm>
            <a:off x="3618360"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43,1%</a:t>
            </a:r>
            <a:endParaRPr sz="1100"/>
          </a:p>
        </p:txBody>
      </p:sp>
      <p:sp>
        <p:nvSpPr>
          <p:cNvPr id="1162" name="Google Shape;1162;p38"/>
          <p:cNvSpPr/>
          <p:nvPr/>
        </p:nvSpPr>
        <p:spPr>
          <a:xfrm>
            <a:off x="3993095" y="2321639"/>
            <a:ext cx="141900" cy="5781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63" name="Google Shape;1163;p38"/>
          <p:cNvSpPr/>
          <p:nvPr/>
        </p:nvSpPr>
        <p:spPr>
          <a:xfrm>
            <a:off x="3993095" y="2604643"/>
            <a:ext cx="141900" cy="2949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64" name="Google Shape;1164;p38"/>
          <p:cNvSpPr txBox="1"/>
          <p:nvPr/>
        </p:nvSpPr>
        <p:spPr>
          <a:xfrm>
            <a:off x="3922043"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15</a:t>
            </a:r>
            <a:endParaRPr sz="1100"/>
          </a:p>
        </p:txBody>
      </p:sp>
      <p:sp>
        <p:nvSpPr>
          <p:cNvPr id="1165" name="Google Shape;1165;p38"/>
          <p:cNvSpPr txBox="1"/>
          <p:nvPr/>
        </p:nvSpPr>
        <p:spPr>
          <a:xfrm>
            <a:off x="3907832"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51,0%</a:t>
            </a:r>
            <a:endParaRPr sz="1100"/>
          </a:p>
        </p:txBody>
      </p:sp>
      <p:sp>
        <p:nvSpPr>
          <p:cNvPr id="1166" name="Google Shape;1166;p38"/>
          <p:cNvSpPr/>
          <p:nvPr/>
        </p:nvSpPr>
        <p:spPr>
          <a:xfrm>
            <a:off x="4282566" y="2628728"/>
            <a:ext cx="141900" cy="2709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67" name="Google Shape;1167;p38"/>
          <p:cNvSpPr/>
          <p:nvPr/>
        </p:nvSpPr>
        <p:spPr>
          <a:xfrm>
            <a:off x="4282566" y="2713027"/>
            <a:ext cx="141900" cy="1866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68" name="Google Shape;1168;p38"/>
          <p:cNvSpPr txBox="1"/>
          <p:nvPr/>
        </p:nvSpPr>
        <p:spPr>
          <a:xfrm>
            <a:off x="4211514"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16</a:t>
            </a:r>
            <a:endParaRPr sz="1100"/>
          </a:p>
        </p:txBody>
      </p:sp>
      <p:sp>
        <p:nvSpPr>
          <p:cNvPr id="1169" name="Google Shape;1169;p38"/>
          <p:cNvSpPr txBox="1"/>
          <p:nvPr/>
        </p:nvSpPr>
        <p:spPr>
          <a:xfrm>
            <a:off x="4197303"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68,9%</a:t>
            </a:r>
            <a:endParaRPr sz="1100"/>
          </a:p>
        </p:txBody>
      </p:sp>
      <p:sp>
        <p:nvSpPr>
          <p:cNvPr id="1170" name="Google Shape;1170;p38"/>
          <p:cNvSpPr/>
          <p:nvPr/>
        </p:nvSpPr>
        <p:spPr>
          <a:xfrm>
            <a:off x="4572038" y="2255404"/>
            <a:ext cx="141900" cy="6444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71" name="Google Shape;1171;p38"/>
          <p:cNvSpPr/>
          <p:nvPr/>
        </p:nvSpPr>
        <p:spPr>
          <a:xfrm>
            <a:off x="4572038" y="2622707"/>
            <a:ext cx="141900" cy="2769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72" name="Google Shape;1172;p38"/>
          <p:cNvSpPr txBox="1"/>
          <p:nvPr/>
        </p:nvSpPr>
        <p:spPr>
          <a:xfrm>
            <a:off x="4500986"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17</a:t>
            </a:r>
            <a:endParaRPr sz="1100"/>
          </a:p>
        </p:txBody>
      </p:sp>
      <p:sp>
        <p:nvSpPr>
          <p:cNvPr id="1173" name="Google Shape;1173;p38"/>
          <p:cNvSpPr txBox="1"/>
          <p:nvPr/>
        </p:nvSpPr>
        <p:spPr>
          <a:xfrm>
            <a:off x="4486776"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43,0%</a:t>
            </a:r>
            <a:endParaRPr sz="1100"/>
          </a:p>
        </p:txBody>
      </p:sp>
      <p:sp>
        <p:nvSpPr>
          <p:cNvPr id="1174" name="Google Shape;1174;p38"/>
          <p:cNvSpPr/>
          <p:nvPr/>
        </p:nvSpPr>
        <p:spPr>
          <a:xfrm>
            <a:off x="4861510" y="1984443"/>
            <a:ext cx="141900" cy="9153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75" name="Google Shape;1175;p38"/>
          <p:cNvSpPr/>
          <p:nvPr/>
        </p:nvSpPr>
        <p:spPr>
          <a:xfrm>
            <a:off x="4861510" y="2442066"/>
            <a:ext cx="141900" cy="4575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76" name="Google Shape;1176;p38"/>
          <p:cNvSpPr txBox="1"/>
          <p:nvPr/>
        </p:nvSpPr>
        <p:spPr>
          <a:xfrm>
            <a:off x="4790458"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18</a:t>
            </a:r>
            <a:endParaRPr sz="1100"/>
          </a:p>
        </p:txBody>
      </p:sp>
      <p:sp>
        <p:nvSpPr>
          <p:cNvPr id="1177" name="Google Shape;1177;p38"/>
          <p:cNvSpPr txBox="1"/>
          <p:nvPr/>
        </p:nvSpPr>
        <p:spPr>
          <a:xfrm>
            <a:off x="4776248"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50,0%</a:t>
            </a:r>
            <a:endParaRPr sz="1100"/>
          </a:p>
        </p:txBody>
      </p:sp>
      <p:sp>
        <p:nvSpPr>
          <p:cNvPr id="1178" name="Google Shape;1178;p38"/>
          <p:cNvSpPr/>
          <p:nvPr/>
        </p:nvSpPr>
        <p:spPr>
          <a:xfrm>
            <a:off x="5150982" y="2189169"/>
            <a:ext cx="141900" cy="7107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79" name="Google Shape;1179;p38"/>
          <p:cNvSpPr/>
          <p:nvPr/>
        </p:nvSpPr>
        <p:spPr>
          <a:xfrm>
            <a:off x="5150982" y="2532387"/>
            <a:ext cx="141900" cy="3672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80" name="Google Shape;1180;p38"/>
          <p:cNvSpPr txBox="1"/>
          <p:nvPr/>
        </p:nvSpPr>
        <p:spPr>
          <a:xfrm>
            <a:off x="5079930"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19</a:t>
            </a:r>
            <a:endParaRPr sz="1100"/>
          </a:p>
        </p:txBody>
      </p:sp>
      <p:sp>
        <p:nvSpPr>
          <p:cNvPr id="1181" name="Google Shape;1181;p38"/>
          <p:cNvSpPr txBox="1"/>
          <p:nvPr/>
        </p:nvSpPr>
        <p:spPr>
          <a:xfrm>
            <a:off x="5065719"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51,7%</a:t>
            </a:r>
            <a:endParaRPr sz="1100"/>
          </a:p>
        </p:txBody>
      </p:sp>
      <p:sp>
        <p:nvSpPr>
          <p:cNvPr id="1182" name="Google Shape;1182;p38"/>
          <p:cNvSpPr/>
          <p:nvPr/>
        </p:nvSpPr>
        <p:spPr>
          <a:xfrm>
            <a:off x="5440454" y="1833908"/>
            <a:ext cx="141900" cy="10659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83" name="Google Shape;1183;p38"/>
          <p:cNvSpPr/>
          <p:nvPr/>
        </p:nvSpPr>
        <p:spPr>
          <a:xfrm>
            <a:off x="5440454" y="2387874"/>
            <a:ext cx="141900" cy="5118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84" name="Google Shape;1184;p38"/>
          <p:cNvSpPr txBox="1"/>
          <p:nvPr/>
        </p:nvSpPr>
        <p:spPr>
          <a:xfrm>
            <a:off x="5369402"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20</a:t>
            </a:r>
            <a:endParaRPr sz="1100"/>
          </a:p>
        </p:txBody>
      </p:sp>
      <p:sp>
        <p:nvSpPr>
          <p:cNvPr id="1185" name="Google Shape;1185;p38"/>
          <p:cNvSpPr txBox="1"/>
          <p:nvPr/>
        </p:nvSpPr>
        <p:spPr>
          <a:xfrm>
            <a:off x="5355191"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48,0%</a:t>
            </a:r>
            <a:endParaRPr sz="1100"/>
          </a:p>
        </p:txBody>
      </p:sp>
      <p:sp>
        <p:nvSpPr>
          <p:cNvPr id="1186" name="Google Shape;1186;p38"/>
          <p:cNvSpPr/>
          <p:nvPr/>
        </p:nvSpPr>
        <p:spPr>
          <a:xfrm>
            <a:off x="5729925" y="2092827"/>
            <a:ext cx="141900" cy="8070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87" name="Google Shape;1187;p38"/>
          <p:cNvSpPr/>
          <p:nvPr/>
        </p:nvSpPr>
        <p:spPr>
          <a:xfrm>
            <a:off x="5729925" y="2496259"/>
            <a:ext cx="141900" cy="4035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88" name="Google Shape;1188;p38"/>
          <p:cNvSpPr txBox="1"/>
          <p:nvPr/>
        </p:nvSpPr>
        <p:spPr>
          <a:xfrm>
            <a:off x="5658873"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21</a:t>
            </a:r>
            <a:endParaRPr sz="1100"/>
          </a:p>
        </p:txBody>
      </p:sp>
      <p:sp>
        <p:nvSpPr>
          <p:cNvPr id="1189" name="Google Shape;1189;p38"/>
          <p:cNvSpPr txBox="1"/>
          <p:nvPr/>
        </p:nvSpPr>
        <p:spPr>
          <a:xfrm>
            <a:off x="5644663"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50,0%</a:t>
            </a:r>
            <a:endParaRPr sz="1100"/>
          </a:p>
        </p:txBody>
      </p:sp>
      <p:sp>
        <p:nvSpPr>
          <p:cNvPr id="1190" name="Google Shape;1190;p38"/>
          <p:cNvSpPr/>
          <p:nvPr/>
        </p:nvSpPr>
        <p:spPr>
          <a:xfrm>
            <a:off x="6019397" y="2351746"/>
            <a:ext cx="141900" cy="5478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91" name="Google Shape;1191;p38"/>
          <p:cNvSpPr/>
          <p:nvPr/>
        </p:nvSpPr>
        <p:spPr>
          <a:xfrm>
            <a:off x="6019397" y="2616685"/>
            <a:ext cx="141900" cy="2832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92" name="Google Shape;1192;p38"/>
          <p:cNvSpPr txBox="1"/>
          <p:nvPr/>
        </p:nvSpPr>
        <p:spPr>
          <a:xfrm>
            <a:off x="5948345"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22</a:t>
            </a:r>
            <a:endParaRPr sz="1100"/>
          </a:p>
        </p:txBody>
      </p:sp>
      <p:sp>
        <p:nvSpPr>
          <p:cNvPr id="1193" name="Google Shape;1193;p38"/>
          <p:cNvSpPr txBox="1"/>
          <p:nvPr/>
        </p:nvSpPr>
        <p:spPr>
          <a:xfrm>
            <a:off x="5934135"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51,6%</a:t>
            </a:r>
            <a:endParaRPr sz="1100"/>
          </a:p>
        </p:txBody>
      </p:sp>
      <p:sp>
        <p:nvSpPr>
          <p:cNvPr id="1194" name="Google Shape;1194;p38"/>
          <p:cNvSpPr/>
          <p:nvPr/>
        </p:nvSpPr>
        <p:spPr>
          <a:xfrm>
            <a:off x="6308869" y="2532387"/>
            <a:ext cx="141900" cy="3672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95" name="Google Shape;1195;p38"/>
          <p:cNvSpPr/>
          <p:nvPr/>
        </p:nvSpPr>
        <p:spPr>
          <a:xfrm>
            <a:off x="6308869" y="2670878"/>
            <a:ext cx="141900" cy="2289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96" name="Google Shape;1196;p38"/>
          <p:cNvSpPr txBox="1"/>
          <p:nvPr/>
        </p:nvSpPr>
        <p:spPr>
          <a:xfrm>
            <a:off x="6237816"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23</a:t>
            </a:r>
            <a:endParaRPr sz="1100"/>
          </a:p>
        </p:txBody>
      </p:sp>
      <p:sp>
        <p:nvSpPr>
          <p:cNvPr id="1197" name="Google Shape;1197;p38"/>
          <p:cNvSpPr txBox="1"/>
          <p:nvPr/>
        </p:nvSpPr>
        <p:spPr>
          <a:xfrm>
            <a:off x="6223606"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62,3%</a:t>
            </a:r>
            <a:endParaRPr sz="1100"/>
          </a:p>
        </p:txBody>
      </p:sp>
      <p:sp>
        <p:nvSpPr>
          <p:cNvPr id="1198" name="Google Shape;1198;p38"/>
          <p:cNvSpPr/>
          <p:nvPr/>
        </p:nvSpPr>
        <p:spPr>
          <a:xfrm>
            <a:off x="6598341" y="2171105"/>
            <a:ext cx="141900" cy="7284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199" name="Google Shape;1199;p38"/>
          <p:cNvSpPr/>
          <p:nvPr/>
        </p:nvSpPr>
        <p:spPr>
          <a:xfrm>
            <a:off x="6598341" y="2454108"/>
            <a:ext cx="141900" cy="4455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00" name="Google Shape;1200;p38"/>
          <p:cNvSpPr txBox="1"/>
          <p:nvPr/>
        </p:nvSpPr>
        <p:spPr>
          <a:xfrm>
            <a:off x="6527289"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24</a:t>
            </a:r>
            <a:endParaRPr sz="1100"/>
          </a:p>
        </p:txBody>
      </p:sp>
      <p:sp>
        <p:nvSpPr>
          <p:cNvPr id="1201" name="Google Shape;1201;p38"/>
          <p:cNvSpPr txBox="1"/>
          <p:nvPr/>
        </p:nvSpPr>
        <p:spPr>
          <a:xfrm>
            <a:off x="6513078"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61,2%</a:t>
            </a:r>
            <a:endParaRPr sz="1100"/>
          </a:p>
        </p:txBody>
      </p:sp>
      <p:sp>
        <p:nvSpPr>
          <p:cNvPr id="1202" name="Google Shape;1202;p38"/>
          <p:cNvSpPr/>
          <p:nvPr/>
        </p:nvSpPr>
        <p:spPr>
          <a:xfrm>
            <a:off x="6887812" y="1839930"/>
            <a:ext cx="141900" cy="10599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03" name="Google Shape;1203;p38"/>
          <p:cNvSpPr/>
          <p:nvPr/>
        </p:nvSpPr>
        <p:spPr>
          <a:xfrm>
            <a:off x="6887812" y="2333682"/>
            <a:ext cx="141900" cy="5661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04" name="Google Shape;1204;p38"/>
          <p:cNvSpPr txBox="1"/>
          <p:nvPr/>
        </p:nvSpPr>
        <p:spPr>
          <a:xfrm>
            <a:off x="6816760"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25</a:t>
            </a:r>
            <a:endParaRPr sz="1100"/>
          </a:p>
        </p:txBody>
      </p:sp>
      <p:sp>
        <p:nvSpPr>
          <p:cNvPr id="1205" name="Google Shape;1205;p38"/>
          <p:cNvSpPr txBox="1"/>
          <p:nvPr/>
        </p:nvSpPr>
        <p:spPr>
          <a:xfrm>
            <a:off x="6802550"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53,4%</a:t>
            </a:r>
            <a:endParaRPr sz="1100"/>
          </a:p>
        </p:txBody>
      </p:sp>
      <p:sp>
        <p:nvSpPr>
          <p:cNvPr id="1206" name="Google Shape;1206;p38"/>
          <p:cNvSpPr/>
          <p:nvPr/>
        </p:nvSpPr>
        <p:spPr>
          <a:xfrm>
            <a:off x="7177284" y="2032613"/>
            <a:ext cx="141900" cy="8670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07" name="Google Shape;1207;p38"/>
          <p:cNvSpPr/>
          <p:nvPr/>
        </p:nvSpPr>
        <p:spPr>
          <a:xfrm>
            <a:off x="7177284" y="2321639"/>
            <a:ext cx="141900" cy="5781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08" name="Google Shape;1208;p38"/>
          <p:cNvSpPr txBox="1"/>
          <p:nvPr/>
        </p:nvSpPr>
        <p:spPr>
          <a:xfrm>
            <a:off x="7106232"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26</a:t>
            </a:r>
            <a:endParaRPr sz="1100"/>
          </a:p>
        </p:txBody>
      </p:sp>
      <p:sp>
        <p:nvSpPr>
          <p:cNvPr id="1209" name="Google Shape;1209;p38"/>
          <p:cNvSpPr txBox="1"/>
          <p:nvPr/>
        </p:nvSpPr>
        <p:spPr>
          <a:xfrm>
            <a:off x="7092022"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66,7%</a:t>
            </a:r>
            <a:endParaRPr sz="1100"/>
          </a:p>
        </p:txBody>
      </p:sp>
      <p:sp>
        <p:nvSpPr>
          <p:cNvPr id="1210" name="Google Shape;1210;p38"/>
          <p:cNvSpPr/>
          <p:nvPr/>
        </p:nvSpPr>
        <p:spPr>
          <a:xfrm>
            <a:off x="7466756" y="2273468"/>
            <a:ext cx="141900" cy="6261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11" name="Google Shape;1211;p38"/>
          <p:cNvSpPr/>
          <p:nvPr/>
        </p:nvSpPr>
        <p:spPr>
          <a:xfrm>
            <a:off x="7466756" y="2502280"/>
            <a:ext cx="141900" cy="3975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12" name="Google Shape;1212;p38"/>
          <p:cNvSpPr txBox="1"/>
          <p:nvPr/>
        </p:nvSpPr>
        <p:spPr>
          <a:xfrm>
            <a:off x="7395704"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27</a:t>
            </a:r>
            <a:endParaRPr sz="1100"/>
          </a:p>
        </p:txBody>
      </p:sp>
      <p:sp>
        <p:nvSpPr>
          <p:cNvPr id="1213" name="Google Shape;1213;p38"/>
          <p:cNvSpPr txBox="1"/>
          <p:nvPr/>
        </p:nvSpPr>
        <p:spPr>
          <a:xfrm>
            <a:off x="7381494"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63,5%</a:t>
            </a:r>
            <a:endParaRPr sz="1100"/>
          </a:p>
        </p:txBody>
      </p:sp>
      <p:sp>
        <p:nvSpPr>
          <p:cNvPr id="1214" name="Google Shape;1214;p38"/>
          <p:cNvSpPr/>
          <p:nvPr/>
        </p:nvSpPr>
        <p:spPr>
          <a:xfrm>
            <a:off x="7756228" y="2140998"/>
            <a:ext cx="141900" cy="7587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15" name="Google Shape;1215;p38"/>
          <p:cNvSpPr/>
          <p:nvPr/>
        </p:nvSpPr>
        <p:spPr>
          <a:xfrm>
            <a:off x="7756228" y="2526365"/>
            <a:ext cx="141900" cy="3732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16" name="Google Shape;1216;p38"/>
          <p:cNvSpPr txBox="1"/>
          <p:nvPr/>
        </p:nvSpPr>
        <p:spPr>
          <a:xfrm>
            <a:off x="7685176"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28</a:t>
            </a:r>
            <a:endParaRPr sz="1100"/>
          </a:p>
        </p:txBody>
      </p:sp>
      <p:sp>
        <p:nvSpPr>
          <p:cNvPr id="1217" name="Google Shape;1217;p38"/>
          <p:cNvSpPr txBox="1"/>
          <p:nvPr/>
        </p:nvSpPr>
        <p:spPr>
          <a:xfrm>
            <a:off x="7670965"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49,2%</a:t>
            </a:r>
            <a:endParaRPr sz="1100"/>
          </a:p>
        </p:txBody>
      </p:sp>
      <p:sp>
        <p:nvSpPr>
          <p:cNvPr id="1218" name="Google Shape;1218;p38"/>
          <p:cNvSpPr/>
          <p:nvPr/>
        </p:nvSpPr>
        <p:spPr>
          <a:xfrm>
            <a:off x="8045700" y="2225297"/>
            <a:ext cx="141900" cy="6744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19" name="Google Shape;1219;p38"/>
          <p:cNvSpPr/>
          <p:nvPr/>
        </p:nvSpPr>
        <p:spPr>
          <a:xfrm>
            <a:off x="8045700" y="2484216"/>
            <a:ext cx="141900" cy="4155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20" name="Google Shape;1220;p38"/>
          <p:cNvSpPr txBox="1"/>
          <p:nvPr/>
        </p:nvSpPr>
        <p:spPr>
          <a:xfrm>
            <a:off x="7974648"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29</a:t>
            </a:r>
            <a:endParaRPr sz="1100"/>
          </a:p>
        </p:txBody>
      </p:sp>
      <p:sp>
        <p:nvSpPr>
          <p:cNvPr id="1221" name="Google Shape;1221;p38"/>
          <p:cNvSpPr txBox="1"/>
          <p:nvPr/>
        </p:nvSpPr>
        <p:spPr>
          <a:xfrm>
            <a:off x="7960437"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61,6%</a:t>
            </a:r>
            <a:endParaRPr sz="1100"/>
          </a:p>
        </p:txBody>
      </p:sp>
      <p:sp>
        <p:nvSpPr>
          <p:cNvPr id="1222" name="Google Shape;1222;p38"/>
          <p:cNvSpPr/>
          <p:nvPr/>
        </p:nvSpPr>
        <p:spPr>
          <a:xfrm>
            <a:off x="8335171" y="2430023"/>
            <a:ext cx="141900" cy="469800"/>
          </a:xfrm>
          <a:prstGeom prst="rect">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23" name="Google Shape;1223;p38"/>
          <p:cNvSpPr/>
          <p:nvPr/>
        </p:nvSpPr>
        <p:spPr>
          <a:xfrm>
            <a:off x="8335171" y="2616685"/>
            <a:ext cx="141900" cy="283200"/>
          </a:xfrm>
          <a:prstGeom prst="rect">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24" name="Google Shape;1224;p38"/>
          <p:cNvSpPr txBox="1"/>
          <p:nvPr/>
        </p:nvSpPr>
        <p:spPr>
          <a:xfrm>
            <a:off x="8264119" y="2945092"/>
            <a:ext cx="284400" cy="12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30</a:t>
            </a:r>
            <a:endParaRPr sz="1100"/>
          </a:p>
        </p:txBody>
      </p:sp>
      <p:sp>
        <p:nvSpPr>
          <p:cNvPr id="1225" name="Google Shape;1225;p38"/>
          <p:cNvSpPr txBox="1"/>
          <p:nvPr/>
        </p:nvSpPr>
        <p:spPr>
          <a:xfrm>
            <a:off x="8249909" y="3063358"/>
            <a:ext cx="312600" cy="11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60,3%</a:t>
            </a:r>
            <a:endParaRPr sz="1100"/>
          </a:p>
        </p:txBody>
      </p:sp>
      <p:sp>
        <p:nvSpPr>
          <p:cNvPr id="1226" name="Google Shape;1226;p38"/>
          <p:cNvSpPr/>
          <p:nvPr/>
        </p:nvSpPr>
        <p:spPr>
          <a:xfrm>
            <a:off x="706800" y="2894361"/>
            <a:ext cx="7844100" cy="10800"/>
          </a:xfrm>
          <a:prstGeom prst="rect">
            <a:avLst/>
          </a:prstGeom>
          <a:solidFill>
            <a:srgbClr val="E5E9EF"/>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27" name="Google Shape;1227;p38"/>
          <p:cNvSpPr txBox="1"/>
          <p:nvPr/>
        </p:nvSpPr>
        <p:spPr>
          <a:xfrm>
            <a:off x="564696" y="2945092"/>
            <a:ext cx="284400" cy="12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9CA3AF"/>
                </a:solidFill>
                <a:latin typeface="Lexend"/>
                <a:ea typeface="Lexend"/>
                <a:cs typeface="Lexend"/>
                <a:sym typeface="Lexend"/>
              </a:rPr>
              <a:t>Ngày</a:t>
            </a:r>
            <a:endParaRPr sz="1100"/>
          </a:p>
        </p:txBody>
      </p:sp>
      <p:sp>
        <p:nvSpPr>
          <p:cNvPr id="1228" name="Google Shape;1228;p38"/>
          <p:cNvSpPr txBox="1"/>
          <p:nvPr/>
        </p:nvSpPr>
        <p:spPr>
          <a:xfrm>
            <a:off x="564696" y="3058776"/>
            <a:ext cx="284400" cy="12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9CA3AF"/>
                </a:solidFill>
                <a:latin typeface="Lexend"/>
                <a:ea typeface="Lexend"/>
                <a:cs typeface="Lexend"/>
                <a:sym typeface="Lexend"/>
              </a:rPr>
              <a:t>% CI</a:t>
            </a:r>
            <a:endParaRPr sz="1100"/>
          </a:p>
        </p:txBody>
      </p:sp>
      <p:sp>
        <p:nvSpPr>
          <p:cNvPr id="1229" name="Google Shape;1229;p38"/>
          <p:cNvSpPr/>
          <p:nvPr/>
        </p:nvSpPr>
        <p:spPr>
          <a:xfrm>
            <a:off x="365750" y="3468107"/>
            <a:ext cx="4149600" cy="1534800"/>
          </a:xfrm>
          <a:prstGeom prst="roundRect">
            <a:avLst>
              <a:gd fmla="val 7407" name="adj"/>
            </a:avLst>
          </a:prstGeom>
          <a:solidFill>
            <a:srgbClr val="FFFFFF"/>
          </a:solidFill>
          <a:ln cap="flat" cmpd="sng" w="10650">
            <a:solidFill>
              <a:srgbClr val="E9EDF3"/>
            </a:solidFill>
            <a:prstDash val="solid"/>
            <a:round/>
            <a:headEnd len="sm" w="sm" type="none"/>
            <a:tailEnd len="sm" w="sm" type="none"/>
          </a:ln>
          <a:effectLst>
            <a:outerShdw blurRad="71052" rotWithShape="0" dir="5400000" dist="28421">
              <a:srgbClr val="0E4174">
                <a:alpha val="10200"/>
              </a:srgbClr>
            </a:outerShdw>
          </a:effectLst>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30" name="Google Shape;1230;p38"/>
          <p:cNvSpPr txBox="1"/>
          <p:nvPr/>
        </p:nvSpPr>
        <p:spPr>
          <a:xfrm>
            <a:off x="564696" y="3548822"/>
            <a:ext cx="3751500" cy="21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Phân bố số ngày chạy</a:t>
            </a:r>
            <a:endParaRPr sz="1100"/>
          </a:p>
        </p:txBody>
      </p:sp>
      <p:sp>
        <p:nvSpPr>
          <p:cNvPr id="1231" name="Google Shape;1231;p38"/>
          <p:cNvSpPr txBox="1"/>
          <p:nvPr/>
        </p:nvSpPr>
        <p:spPr>
          <a:xfrm>
            <a:off x="564696" y="3736754"/>
            <a:ext cx="3751500" cy="14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334 tài xế có chạy thật</a:t>
            </a:r>
            <a:endParaRPr sz="1100"/>
          </a:p>
        </p:txBody>
      </p:sp>
      <p:sp>
        <p:nvSpPr>
          <p:cNvPr id="1232" name="Google Shape;1232;p38"/>
          <p:cNvSpPr txBox="1"/>
          <p:nvPr/>
        </p:nvSpPr>
        <p:spPr>
          <a:xfrm>
            <a:off x="564696" y="3945328"/>
            <a:ext cx="5685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374151"/>
                </a:solidFill>
                <a:latin typeface="Lexend"/>
                <a:ea typeface="Lexend"/>
                <a:cs typeface="Lexend"/>
                <a:sym typeface="Lexend"/>
              </a:rPr>
              <a:t>1 ngày</a:t>
            </a:r>
            <a:endParaRPr sz="1100"/>
          </a:p>
        </p:txBody>
      </p:sp>
      <p:sp>
        <p:nvSpPr>
          <p:cNvPr id="1233" name="Google Shape;1233;p38"/>
          <p:cNvSpPr/>
          <p:nvPr/>
        </p:nvSpPr>
        <p:spPr>
          <a:xfrm>
            <a:off x="1189955" y="3972576"/>
            <a:ext cx="1705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34" name="Google Shape;1234;p38"/>
          <p:cNvSpPr/>
          <p:nvPr/>
        </p:nvSpPr>
        <p:spPr>
          <a:xfrm>
            <a:off x="1189955" y="3972576"/>
            <a:ext cx="1705500" cy="99600"/>
          </a:xfrm>
          <a:prstGeom prst="roundRect">
            <a:avLst>
              <a:gd fmla="val 50000" name="adj"/>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35" name="Google Shape;1235;p38"/>
          <p:cNvSpPr txBox="1"/>
          <p:nvPr/>
        </p:nvSpPr>
        <p:spPr>
          <a:xfrm>
            <a:off x="2923628" y="3940745"/>
            <a:ext cx="2844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167</a:t>
            </a:r>
            <a:endParaRPr sz="1100"/>
          </a:p>
        </p:txBody>
      </p:sp>
      <p:sp>
        <p:nvSpPr>
          <p:cNvPr id="1236" name="Google Shape;1236;p38"/>
          <p:cNvSpPr txBox="1"/>
          <p:nvPr/>
        </p:nvSpPr>
        <p:spPr>
          <a:xfrm>
            <a:off x="3889937" y="3940745"/>
            <a:ext cx="4263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50,0%</a:t>
            </a:r>
            <a:endParaRPr sz="1100"/>
          </a:p>
        </p:txBody>
      </p:sp>
      <p:sp>
        <p:nvSpPr>
          <p:cNvPr id="1237" name="Google Shape;1237;p38"/>
          <p:cNvSpPr txBox="1"/>
          <p:nvPr/>
        </p:nvSpPr>
        <p:spPr>
          <a:xfrm>
            <a:off x="564696" y="4144274"/>
            <a:ext cx="5685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700">
                <a:solidFill>
                  <a:srgbClr val="374151"/>
                </a:solidFill>
                <a:latin typeface="Lexend"/>
                <a:ea typeface="Lexend"/>
                <a:cs typeface="Lexend"/>
                <a:sym typeface="Lexend"/>
              </a:rPr>
              <a:t>2 ngày</a:t>
            </a:r>
            <a:endParaRPr sz="1100"/>
          </a:p>
        </p:txBody>
      </p:sp>
      <p:sp>
        <p:nvSpPr>
          <p:cNvPr id="1238" name="Google Shape;1238;p38"/>
          <p:cNvSpPr/>
          <p:nvPr/>
        </p:nvSpPr>
        <p:spPr>
          <a:xfrm>
            <a:off x="1189955" y="4171522"/>
            <a:ext cx="1705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39" name="Google Shape;1239;p38"/>
          <p:cNvSpPr/>
          <p:nvPr/>
        </p:nvSpPr>
        <p:spPr>
          <a:xfrm>
            <a:off x="1189955" y="4171522"/>
            <a:ext cx="633000" cy="99600"/>
          </a:xfrm>
          <a:prstGeom prst="roundRect">
            <a:avLst>
              <a:gd fmla="val 50000" name="adj"/>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40" name="Google Shape;1240;p38"/>
          <p:cNvSpPr txBox="1"/>
          <p:nvPr/>
        </p:nvSpPr>
        <p:spPr>
          <a:xfrm>
            <a:off x="2923628" y="4139691"/>
            <a:ext cx="2844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0E4174"/>
                </a:solidFill>
                <a:latin typeface="Lexend"/>
                <a:ea typeface="Lexend"/>
                <a:cs typeface="Lexend"/>
                <a:sym typeface="Lexend"/>
              </a:rPr>
              <a:t>62</a:t>
            </a:r>
            <a:endParaRPr sz="1100"/>
          </a:p>
        </p:txBody>
      </p:sp>
      <p:sp>
        <p:nvSpPr>
          <p:cNvPr id="1241" name="Google Shape;1241;p38"/>
          <p:cNvSpPr txBox="1"/>
          <p:nvPr/>
        </p:nvSpPr>
        <p:spPr>
          <a:xfrm>
            <a:off x="3889937" y="4139691"/>
            <a:ext cx="4263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9CA3AF"/>
                </a:solidFill>
                <a:latin typeface="Lexend"/>
                <a:ea typeface="Lexend"/>
                <a:cs typeface="Lexend"/>
                <a:sym typeface="Lexend"/>
              </a:rPr>
              <a:t>18,6%</a:t>
            </a:r>
            <a:endParaRPr sz="1100"/>
          </a:p>
        </p:txBody>
      </p:sp>
      <p:sp>
        <p:nvSpPr>
          <p:cNvPr id="1242" name="Google Shape;1242;p38"/>
          <p:cNvSpPr txBox="1"/>
          <p:nvPr/>
        </p:nvSpPr>
        <p:spPr>
          <a:xfrm>
            <a:off x="564696" y="4343220"/>
            <a:ext cx="5685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700">
                <a:solidFill>
                  <a:srgbClr val="374151"/>
                </a:solidFill>
                <a:latin typeface="Lexend"/>
                <a:ea typeface="Lexend"/>
                <a:cs typeface="Lexend"/>
                <a:sym typeface="Lexend"/>
              </a:rPr>
              <a:t>3–4 ngày</a:t>
            </a:r>
            <a:endParaRPr sz="1100"/>
          </a:p>
        </p:txBody>
      </p:sp>
      <p:sp>
        <p:nvSpPr>
          <p:cNvPr id="1243" name="Google Shape;1243;p38"/>
          <p:cNvSpPr/>
          <p:nvPr/>
        </p:nvSpPr>
        <p:spPr>
          <a:xfrm>
            <a:off x="1189955" y="4370468"/>
            <a:ext cx="1705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44" name="Google Shape;1244;p38"/>
          <p:cNvSpPr/>
          <p:nvPr/>
        </p:nvSpPr>
        <p:spPr>
          <a:xfrm>
            <a:off x="1189955" y="4370468"/>
            <a:ext cx="541200" cy="99600"/>
          </a:xfrm>
          <a:prstGeom prst="roundRect">
            <a:avLst>
              <a:gd fmla="val 50000" name="adj"/>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45" name="Google Shape;1245;p38"/>
          <p:cNvSpPr txBox="1"/>
          <p:nvPr/>
        </p:nvSpPr>
        <p:spPr>
          <a:xfrm>
            <a:off x="2923628" y="4338637"/>
            <a:ext cx="2844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0E4174"/>
                </a:solidFill>
                <a:latin typeface="Lexend"/>
                <a:ea typeface="Lexend"/>
                <a:cs typeface="Lexend"/>
                <a:sym typeface="Lexend"/>
              </a:rPr>
              <a:t>53</a:t>
            </a:r>
            <a:endParaRPr sz="1100"/>
          </a:p>
        </p:txBody>
      </p:sp>
      <p:sp>
        <p:nvSpPr>
          <p:cNvPr id="1246" name="Google Shape;1246;p38"/>
          <p:cNvSpPr txBox="1"/>
          <p:nvPr/>
        </p:nvSpPr>
        <p:spPr>
          <a:xfrm>
            <a:off x="3889937" y="4338637"/>
            <a:ext cx="4263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9CA3AF"/>
                </a:solidFill>
                <a:latin typeface="Lexend"/>
                <a:ea typeface="Lexend"/>
                <a:cs typeface="Lexend"/>
                <a:sym typeface="Lexend"/>
              </a:rPr>
              <a:t>15,9%</a:t>
            </a:r>
            <a:endParaRPr sz="1100"/>
          </a:p>
        </p:txBody>
      </p:sp>
      <p:sp>
        <p:nvSpPr>
          <p:cNvPr id="1247" name="Google Shape;1247;p38"/>
          <p:cNvSpPr txBox="1"/>
          <p:nvPr/>
        </p:nvSpPr>
        <p:spPr>
          <a:xfrm>
            <a:off x="564696" y="4542166"/>
            <a:ext cx="5685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700">
                <a:solidFill>
                  <a:srgbClr val="374151"/>
                </a:solidFill>
                <a:latin typeface="Lexend"/>
                <a:ea typeface="Lexend"/>
                <a:cs typeface="Lexend"/>
                <a:sym typeface="Lexend"/>
              </a:rPr>
              <a:t>5–9 ngày</a:t>
            </a:r>
            <a:endParaRPr sz="1100"/>
          </a:p>
        </p:txBody>
      </p:sp>
      <p:sp>
        <p:nvSpPr>
          <p:cNvPr id="1248" name="Google Shape;1248;p38"/>
          <p:cNvSpPr/>
          <p:nvPr/>
        </p:nvSpPr>
        <p:spPr>
          <a:xfrm>
            <a:off x="1189955" y="4569414"/>
            <a:ext cx="1705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49" name="Google Shape;1249;p38"/>
          <p:cNvSpPr/>
          <p:nvPr/>
        </p:nvSpPr>
        <p:spPr>
          <a:xfrm>
            <a:off x="1189955" y="4569414"/>
            <a:ext cx="408600" cy="99600"/>
          </a:xfrm>
          <a:prstGeom prst="roundRect">
            <a:avLst>
              <a:gd fmla="val 50000" name="adj"/>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50" name="Google Shape;1250;p38"/>
          <p:cNvSpPr txBox="1"/>
          <p:nvPr/>
        </p:nvSpPr>
        <p:spPr>
          <a:xfrm>
            <a:off x="2923628" y="4537583"/>
            <a:ext cx="2844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0E4174"/>
                </a:solidFill>
                <a:latin typeface="Lexend"/>
                <a:ea typeface="Lexend"/>
                <a:cs typeface="Lexend"/>
                <a:sym typeface="Lexend"/>
              </a:rPr>
              <a:t>40</a:t>
            </a:r>
            <a:endParaRPr sz="1100"/>
          </a:p>
        </p:txBody>
      </p:sp>
      <p:sp>
        <p:nvSpPr>
          <p:cNvPr id="1251" name="Google Shape;1251;p38"/>
          <p:cNvSpPr txBox="1"/>
          <p:nvPr/>
        </p:nvSpPr>
        <p:spPr>
          <a:xfrm>
            <a:off x="3889937" y="4537583"/>
            <a:ext cx="4263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9CA3AF"/>
                </a:solidFill>
                <a:latin typeface="Lexend"/>
                <a:ea typeface="Lexend"/>
                <a:cs typeface="Lexend"/>
                <a:sym typeface="Lexend"/>
              </a:rPr>
              <a:t>12,0%</a:t>
            </a:r>
            <a:endParaRPr sz="1100"/>
          </a:p>
        </p:txBody>
      </p:sp>
      <p:sp>
        <p:nvSpPr>
          <p:cNvPr id="1252" name="Google Shape;1252;p38"/>
          <p:cNvSpPr txBox="1"/>
          <p:nvPr/>
        </p:nvSpPr>
        <p:spPr>
          <a:xfrm>
            <a:off x="564696" y="4741112"/>
            <a:ext cx="5685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700">
                <a:solidFill>
                  <a:srgbClr val="374151"/>
                </a:solidFill>
                <a:latin typeface="Lexend"/>
                <a:ea typeface="Lexend"/>
                <a:cs typeface="Lexend"/>
                <a:sym typeface="Lexend"/>
              </a:rPr>
              <a:t>≥10 ngày</a:t>
            </a:r>
            <a:endParaRPr sz="1100"/>
          </a:p>
        </p:txBody>
      </p:sp>
      <p:sp>
        <p:nvSpPr>
          <p:cNvPr id="1253" name="Google Shape;1253;p38"/>
          <p:cNvSpPr/>
          <p:nvPr/>
        </p:nvSpPr>
        <p:spPr>
          <a:xfrm>
            <a:off x="1189955" y="4768360"/>
            <a:ext cx="1705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54" name="Google Shape;1254;p38"/>
          <p:cNvSpPr/>
          <p:nvPr/>
        </p:nvSpPr>
        <p:spPr>
          <a:xfrm>
            <a:off x="1189955" y="4768360"/>
            <a:ext cx="122700" cy="99600"/>
          </a:xfrm>
          <a:prstGeom prst="roundRect">
            <a:avLst>
              <a:gd fmla="val 50000" name="adj"/>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55" name="Google Shape;1255;p38"/>
          <p:cNvSpPr txBox="1"/>
          <p:nvPr/>
        </p:nvSpPr>
        <p:spPr>
          <a:xfrm>
            <a:off x="2923628" y="4736529"/>
            <a:ext cx="2844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0E4174"/>
                </a:solidFill>
                <a:latin typeface="Lexend"/>
                <a:ea typeface="Lexend"/>
                <a:cs typeface="Lexend"/>
                <a:sym typeface="Lexend"/>
              </a:rPr>
              <a:t>12</a:t>
            </a:r>
            <a:endParaRPr sz="1100"/>
          </a:p>
        </p:txBody>
      </p:sp>
      <p:sp>
        <p:nvSpPr>
          <p:cNvPr id="1256" name="Google Shape;1256;p38"/>
          <p:cNvSpPr txBox="1"/>
          <p:nvPr/>
        </p:nvSpPr>
        <p:spPr>
          <a:xfrm>
            <a:off x="3889937" y="4736529"/>
            <a:ext cx="4263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9CA3AF"/>
                </a:solidFill>
                <a:latin typeface="Lexend"/>
                <a:ea typeface="Lexend"/>
                <a:cs typeface="Lexend"/>
                <a:sym typeface="Lexend"/>
              </a:rPr>
              <a:t>3,6%</a:t>
            </a:r>
            <a:endParaRPr sz="1100"/>
          </a:p>
        </p:txBody>
      </p:sp>
      <p:sp>
        <p:nvSpPr>
          <p:cNvPr id="1257" name="Google Shape;1257;p38"/>
          <p:cNvSpPr/>
          <p:nvPr/>
        </p:nvSpPr>
        <p:spPr>
          <a:xfrm>
            <a:off x="4685722" y="3468107"/>
            <a:ext cx="4092600" cy="1534800"/>
          </a:xfrm>
          <a:prstGeom prst="roundRect">
            <a:avLst>
              <a:gd fmla="val 7407" name="adj"/>
            </a:avLst>
          </a:prstGeom>
          <a:solidFill>
            <a:srgbClr val="FFFFFF"/>
          </a:solidFill>
          <a:ln cap="flat" cmpd="sng" w="10650">
            <a:solidFill>
              <a:srgbClr val="E9EDF3"/>
            </a:solidFill>
            <a:prstDash val="solid"/>
            <a:round/>
            <a:headEnd len="sm" w="sm" type="none"/>
            <a:tailEnd len="sm" w="sm" type="none"/>
          </a:ln>
          <a:effectLst>
            <a:outerShdw blurRad="71052" rotWithShape="0" dir="5400000" dist="28421">
              <a:srgbClr val="0E4174">
                <a:alpha val="10200"/>
              </a:srgbClr>
            </a:outerShdw>
          </a:effectLst>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58" name="Google Shape;1258;p38"/>
          <p:cNvSpPr txBox="1"/>
          <p:nvPr/>
        </p:nvSpPr>
        <p:spPr>
          <a:xfrm>
            <a:off x="4884668" y="3548822"/>
            <a:ext cx="3694800" cy="21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EPH theo tuần</a:t>
            </a:r>
            <a:endParaRPr sz="1100"/>
          </a:p>
        </p:txBody>
      </p:sp>
      <p:sp>
        <p:nvSpPr>
          <p:cNvPr id="1259" name="Google Shape;1259;p38"/>
          <p:cNvSpPr txBox="1"/>
          <p:nvPr/>
        </p:nvSpPr>
        <p:spPr>
          <a:xfrm>
            <a:off x="4884668" y="3736754"/>
            <a:ext cx="3694800" cy="14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Đồng / giờ online — chỉ số mới có từ cột order_income</a:t>
            </a:r>
            <a:endParaRPr sz="1100"/>
          </a:p>
        </p:txBody>
      </p:sp>
      <p:sp>
        <p:nvSpPr>
          <p:cNvPr id="1260" name="Google Shape;1260;p38"/>
          <p:cNvSpPr txBox="1"/>
          <p:nvPr/>
        </p:nvSpPr>
        <p:spPr>
          <a:xfrm>
            <a:off x="4884668" y="3945328"/>
            <a:ext cx="2844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T1</a:t>
            </a:r>
            <a:endParaRPr sz="1100"/>
          </a:p>
        </p:txBody>
      </p:sp>
      <p:sp>
        <p:nvSpPr>
          <p:cNvPr id="1261" name="Google Shape;1261;p38"/>
          <p:cNvSpPr/>
          <p:nvPr/>
        </p:nvSpPr>
        <p:spPr>
          <a:xfrm>
            <a:off x="5254139" y="3972576"/>
            <a:ext cx="1918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62" name="Google Shape;1262;p38"/>
          <p:cNvSpPr txBox="1"/>
          <p:nvPr/>
        </p:nvSpPr>
        <p:spPr>
          <a:xfrm>
            <a:off x="7186758" y="3949911"/>
            <a:ext cx="398100" cy="148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6B7280"/>
                </a:solidFill>
                <a:latin typeface="Lexend"/>
                <a:ea typeface="Lexend"/>
                <a:cs typeface="Lexend"/>
                <a:sym typeface="Lexend"/>
              </a:rPr>
              <a:t>mốc</a:t>
            </a:r>
            <a:endParaRPr sz="1100"/>
          </a:p>
        </p:txBody>
      </p:sp>
      <p:sp>
        <p:nvSpPr>
          <p:cNvPr id="1263" name="Google Shape;1263;p38"/>
          <p:cNvSpPr txBox="1"/>
          <p:nvPr/>
        </p:nvSpPr>
        <p:spPr>
          <a:xfrm>
            <a:off x="7939911" y="3940745"/>
            <a:ext cx="6396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51.331đ</a:t>
            </a:r>
            <a:endParaRPr sz="1100"/>
          </a:p>
        </p:txBody>
      </p:sp>
      <p:sp>
        <p:nvSpPr>
          <p:cNvPr id="1264" name="Google Shape;1264;p38"/>
          <p:cNvSpPr txBox="1"/>
          <p:nvPr/>
        </p:nvSpPr>
        <p:spPr>
          <a:xfrm>
            <a:off x="4884668" y="4144274"/>
            <a:ext cx="2844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T2</a:t>
            </a:r>
            <a:endParaRPr sz="1100"/>
          </a:p>
        </p:txBody>
      </p:sp>
      <p:sp>
        <p:nvSpPr>
          <p:cNvPr id="1265" name="Google Shape;1265;p38"/>
          <p:cNvSpPr/>
          <p:nvPr/>
        </p:nvSpPr>
        <p:spPr>
          <a:xfrm>
            <a:off x="5254139" y="4171522"/>
            <a:ext cx="1918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66" name="Google Shape;1266;p38"/>
          <p:cNvSpPr/>
          <p:nvPr/>
        </p:nvSpPr>
        <p:spPr>
          <a:xfrm>
            <a:off x="5254139" y="4171522"/>
            <a:ext cx="99600" cy="99600"/>
          </a:xfrm>
          <a:prstGeom prst="roundRect">
            <a:avLst>
              <a:gd fmla="val 50000" name="adj"/>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67" name="Google Shape;1267;p38"/>
          <p:cNvSpPr txBox="1"/>
          <p:nvPr/>
        </p:nvSpPr>
        <p:spPr>
          <a:xfrm>
            <a:off x="7186758" y="4148856"/>
            <a:ext cx="398100" cy="148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6B7280"/>
                </a:solidFill>
                <a:latin typeface="Lexend"/>
                <a:ea typeface="Lexend"/>
                <a:cs typeface="Lexend"/>
                <a:sym typeface="Lexend"/>
              </a:rPr>
              <a:t>+0,1%</a:t>
            </a:r>
            <a:endParaRPr sz="1100"/>
          </a:p>
        </p:txBody>
      </p:sp>
      <p:sp>
        <p:nvSpPr>
          <p:cNvPr id="1268" name="Google Shape;1268;p38"/>
          <p:cNvSpPr txBox="1"/>
          <p:nvPr/>
        </p:nvSpPr>
        <p:spPr>
          <a:xfrm>
            <a:off x="7939911" y="4139691"/>
            <a:ext cx="6396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51.362đ</a:t>
            </a:r>
            <a:endParaRPr sz="1100"/>
          </a:p>
        </p:txBody>
      </p:sp>
      <p:sp>
        <p:nvSpPr>
          <p:cNvPr id="1269" name="Google Shape;1269;p38"/>
          <p:cNvSpPr txBox="1"/>
          <p:nvPr/>
        </p:nvSpPr>
        <p:spPr>
          <a:xfrm>
            <a:off x="4884668" y="4343220"/>
            <a:ext cx="2844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T3</a:t>
            </a:r>
            <a:endParaRPr sz="1100"/>
          </a:p>
        </p:txBody>
      </p:sp>
      <p:sp>
        <p:nvSpPr>
          <p:cNvPr id="1270" name="Google Shape;1270;p38"/>
          <p:cNvSpPr/>
          <p:nvPr/>
        </p:nvSpPr>
        <p:spPr>
          <a:xfrm>
            <a:off x="5254139" y="4370468"/>
            <a:ext cx="1918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71" name="Google Shape;1271;p38"/>
          <p:cNvSpPr/>
          <p:nvPr/>
        </p:nvSpPr>
        <p:spPr>
          <a:xfrm>
            <a:off x="5254139" y="4370468"/>
            <a:ext cx="1278900" cy="99600"/>
          </a:xfrm>
          <a:prstGeom prst="roundRect">
            <a:avLst>
              <a:gd fmla="val 50000" name="adj"/>
            </a:avLst>
          </a:prstGeom>
          <a:solidFill>
            <a:srgbClr val="C9D3E0"/>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72" name="Google Shape;1272;p38"/>
          <p:cNvSpPr txBox="1"/>
          <p:nvPr/>
        </p:nvSpPr>
        <p:spPr>
          <a:xfrm>
            <a:off x="7186758" y="4347802"/>
            <a:ext cx="398100" cy="148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6B7280"/>
                </a:solidFill>
                <a:latin typeface="Lexend"/>
                <a:ea typeface="Lexend"/>
                <a:cs typeface="Lexend"/>
                <a:sym typeface="Lexend"/>
              </a:rPr>
              <a:t>+12,0%</a:t>
            </a:r>
            <a:endParaRPr sz="1100"/>
          </a:p>
        </p:txBody>
      </p:sp>
      <p:sp>
        <p:nvSpPr>
          <p:cNvPr id="1273" name="Google Shape;1273;p38"/>
          <p:cNvSpPr txBox="1"/>
          <p:nvPr/>
        </p:nvSpPr>
        <p:spPr>
          <a:xfrm>
            <a:off x="7939911" y="4338637"/>
            <a:ext cx="6396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57.473đ</a:t>
            </a:r>
            <a:endParaRPr sz="1100"/>
          </a:p>
        </p:txBody>
      </p:sp>
      <p:sp>
        <p:nvSpPr>
          <p:cNvPr id="1274" name="Google Shape;1274;p38"/>
          <p:cNvSpPr txBox="1"/>
          <p:nvPr/>
        </p:nvSpPr>
        <p:spPr>
          <a:xfrm>
            <a:off x="4884668" y="4542166"/>
            <a:ext cx="2844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E0641A"/>
                </a:solidFill>
                <a:latin typeface="Lexend"/>
                <a:ea typeface="Lexend"/>
                <a:cs typeface="Lexend"/>
                <a:sym typeface="Lexend"/>
              </a:rPr>
              <a:t>T4</a:t>
            </a:r>
            <a:endParaRPr sz="1100"/>
          </a:p>
        </p:txBody>
      </p:sp>
      <p:sp>
        <p:nvSpPr>
          <p:cNvPr id="1275" name="Google Shape;1275;p38"/>
          <p:cNvSpPr/>
          <p:nvPr/>
        </p:nvSpPr>
        <p:spPr>
          <a:xfrm>
            <a:off x="5254139" y="4569414"/>
            <a:ext cx="1918500" cy="99600"/>
          </a:xfrm>
          <a:prstGeom prst="roundRect">
            <a:avLst>
              <a:gd fmla="val 50000" name="adj"/>
            </a:avLst>
          </a:prstGeom>
          <a:solidFill>
            <a:srgbClr val="F1F3F5"/>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76" name="Google Shape;1276;p38"/>
          <p:cNvSpPr/>
          <p:nvPr/>
        </p:nvSpPr>
        <p:spPr>
          <a:xfrm>
            <a:off x="5254139" y="4569414"/>
            <a:ext cx="1769100" cy="99600"/>
          </a:xfrm>
          <a:prstGeom prst="roundRect">
            <a:avLst>
              <a:gd fmla="val 50000" name="adj"/>
            </a:avLst>
          </a:prstGeom>
          <a:solidFill>
            <a:srgbClr val="FF7F32"/>
          </a:solidFill>
          <a:ln>
            <a:noFill/>
          </a:ln>
        </p:spPr>
        <p:txBody>
          <a:bodyPr anchorCtr="0" anchor="ctr" bIns="34075" lIns="68200" spcFirstLastPara="1" rIns="68200" wrap="square" tIns="340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277" name="Google Shape;1277;p38"/>
          <p:cNvSpPr txBox="1"/>
          <p:nvPr/>
        </p:nvSpPr>
        <p:spPr>
          <a:xfrm>
            <a:off x="7186758" y="4546748"/>
            <a:ext cx="398100" cy="148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6B7280"/>
                </a:solidFill>
                <a:latin typeface="Lexend"/>
                <a:ea typeface="Lexend"/>
                <a:cs typeface="Lexend"/>
                <a:sym typeface="Lexend"/>
              </a:rPr>
              <a:t>+16,6%</a:t>
            </a:r>
            <a:endParaRPr sz="1100"/>
          </a:p>
        </p:txBody>
      </p:sp>
      <p:sp>
        <p:nvSpPr>
          <p:cNvPr id="1278" name="Google Shape;1278;p38"/>
          <p:cNvSpPr txBox="1"/>
          <p:nvPr/>
        </p:nvSpPr>
        <p:spPr>
          <a:xfrm>
            <a:off x="7939911" y="4537583"/>
            <a:ext cx="639600" cy="16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59.845đ</a:t>
            </a:r>
            <a:endParaRPr sz="1100"/>
          </a:p>
        </p:txBody>
      </p:sp>
      <p:sp>
        <p:nvSpPr>
          <p:cNvPr id="1279" name="Google Shape;1279;p38"/>
          <p:cNvSpPr txBox="1"/>
          <p:nvPr/>
        </p:nvSpPr>
        <p:spPr>
          <a:xfrm>
            <a:off x="4884668" y="4830495"/>
            <a:ext cx="3694800" cy="12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600">
                <a:solidFill>
                  <a:srgbClr val="9CA3AF"/>
                </a:solidFill>
                <a:latin typeface="Lexend"/>
                <a:ea typeface="Lexend"/>
                <a:cs typeface="Lexend"/>
                <a:sym typeface="Lexend"/>
              </a:rPr>
              <a:t>T4 EPH tốt nhất do cận lễ </a:t>
            </a:r>
            <a:endParaRPr sz="1100"/>
          </a:p>
        </p:txBody>
      </p:sp>
      <p:sp>
        <p:nvSpPr>
          <p:cNvPr id="1280" name="Google Shape;1280;p38"/>
          <p:cNvSpPr/>
          <p:nvPr/>
        </p:nvSpPr>
        <p:spPr>
          <a:xfrm>
            <a:off x="610538" y="1316338"/>
            <a:ext cx="122700" cy="84600"/>
          </a:xfrm>
          <a:prstGeom prst="rect">
            <a:avLst/>
          </a:prstGeom>
          <a:solidFill>
            <a:schemeClr val="lt2"/>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281" name="Google Shape;1281;p38"/>
          <p:cNvSpPr/>
          <p:nvPr/>
        </p:nvSpPr>
        <p:spPr>
          <a:xfrm>
            <a:off x="610538" y="1426713"/>
            <a:ext cx="122700" cy="84600"/>
          </a:xfrm>
          <a:prstGeom prst="rect">
            <a:avLst/>
          </a:prstGeom>
          <a:solidFill>
            <a:srgbClr val="F96D0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282" name="Google Shape;1282;p38"/>
          <p:cNvSpPr txBox="1"/>
          <p:nvPr/>
        </p:nvSpPr>
        <p:spPr>
          <a:xfrm>
            <a:off x="769135" y="1294063"/>
            <a:ext cx="351300" cy="13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600">
                <a:solidFill>
                  <a:srgbClr val="9CA3AF"/>
                </a:solidFill>
                <a:latin typeface="Lexend SemiBold"/>
                <a:ea typeface="Lexend SemiBold"/>
                <a:cs typeface="Lexend SemiBold"/>
                <a:sym typeface="Lexend SemiBold"/>
              </a:rPr>
              <a:t>Đăng ký</a:t>
            </a:r>
            <a:endParaRPr sz="1100">
              <a:latin typeface="Lexend SemiBold"/>
              <a:ea typeface="Lexend SemiBold"/>
              <a:cs typeface="Lexend SemiBold"/>
              <a:sym typeface="Lexend SemiBold"/>
            </a:endParaRPr>
          </a:p>
        </p:txBody>
      </p:sp>
      <p:sp>
        <p:nvSpPr>
          <p:cNvPr id="1283" name="Google Shape;1283;p38"/>
          <p:cNvSpPr txBox="1"/>
          <p:nvPr/>
        </p:nvSpPr>
        <p:spPr>
          <a:xfrm>
            <a:off x="769139" y="1397863"/>
            <a:ext cx="663600" cy="13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600">
                <a:solidFill>
                  <a:srgbClr val="9CA3AF"/>
                </a:solidFill>
                <a:latin typeface="Lexend SemiBold"/>
                <a:ea typeface="Lexend SemiBold"/>
                <a:cs typeface="Lexend SemiBold"/>
                <a:sym typeface="Lexend SemiBold"/>
              </a:rPr>
              <a:t>Điểm danh</a:t>
            </a:r>
            <a:endParaRPr sz="1100">
              <a:latin typeface="Lexend SemiBold"/>
              <a:ea typeface="Lexend SemiBold"/>
              <a:cs typeface="Lexend SemiBold"/>
              <a:sym typeface="Lexend SemiBold"/>
            </a:endParaRPr>
          </a:p>
        </p:txBody>
      </p:sp>
      <p:sp>
        <p:nvSpPr>
          <p:cNvPr id="1284" name="Google Shape;1284;p38"/>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5" name="Google Shape;1285;p38"/>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CITIZONE</a:t>
            </a:r>
            <a:endParaRPr sz="1100"/>
          </a:p>
        </p:txBody>
      </p:sp>
      <p:sp>
        <p:nvSpPr>
          <p:cNvPr id="1286" name="Google Shape;1286;p38"/>
          <p:cNvSpPr txBox="1"/>
          <p:nvPr/>
        </p:nvSpPr>
        <p:spPr>
          <a:xfrm>
            <a:off x="500063" y="528209"/>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Ca đăng ký và hiệu suất đều tăng, nhưng ~50% tài xế chỉ chạy 1 ngày</a:t>
            </a:r>
            <a:endParaRPr b="1" sz="800">
              <a:solidFill>
                <a:srgbClr val="6B7280"/>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0" name="Shape 1290"/>
        <p:cNvGrpSpPr/>
        <p:nvPr/>
      </p:nvGrpSpPr>
      <p:grpSpPr>
        <a:xfrm>
          <a:off x="0" y="0"/>
          <a:ext cx="0" cy="0"/>
          <a:chOff x="0" y="0"/>
          <a:chExt cx="0" cy="0"/>
        </a:xfrm>
      </p:grpSpPr>
      <p:sp>
        <p:nvSpPr>
          <p:cNvPr id="1291" name="Google Shape;1291;p39"/>
          <p:cNvSpPr/>
          <p:nvPr/>
        </p:nvSpPr>
        <p:spPr>
          <a:xfrm>
            <a:off x="0" y="0"/>
            <a:ext cx="9144000" cy="73200"/>
          </a:xfrm>
          <a:prstGeom prst="rect">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2" name="Google Shape;1292;p39"/>
          <p:cNvCxnSpPr/>
          <p:nvPr/>
        </p:nvCxnSpPr>
        <p:spPr>
          <a:xfrm>
            <a:off x="365760" y="868680"/>
            <a:ext cx="8412600" cy="0"/>
          </a:xfrm>
          <a:prstGeom prst="straightConnector1">
            <a:avLst/>
          </a:prstGeom>
          <a:noFill/>
          <a:ln cap="flat" cmpd="sng" w="9525">
            <a:solidFill>
              <a:srgbClr val="E2E8F0"/>
            </a:solidFill>
            <a:prstDash val="solid"/>
            <a:round/>
            <a:headEnd len="sm" w="sm" type="none"/>
            <a:tailEnd len="sm" w="sm" type="none"/>
          </a:ln>
        </p:spPr>
      </p:cxnSp>
      <p:sp>
        <p:nvSpPr>
          <p:cNvPr id="1293" name="Google Shape;1293;p39"/>
          <p:cNvSpPr/>
          <p:nvPr/>
        </p:nvSpPr>
        <p:spPr>
          <a:xfrm>
            <a:off x="5486395" y="45700"/>
            <a:ext cx="36576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4A3B8"/>
              </a:buClr>
              <a:buSzPts val="700"/>
              <a:buFont typeface="Calibri"/>
              <a:buNone/>
            </a:pPr>
            <a:r>
              <a:rPr b="0" i="1" lang="en" sz="700" u="none" cap="none" strike="noStrike">
                <a:solidFill>
                  <a:srgbClr val="94A3B8"/>
                </a:solidFill>
                <a:latin typeface="Calibri"/>
                <a:ea typeface="Calibri"/>
                <a:cs typeface="Calibri"/>
                <a:sym typeface="Calibri"/>
              </a:rPr>
              <a:t>Ahamove — Driver Management | Confidential</a:t>
            </a:r>
            <a:endParaRPr b="0" i="0" sz="700" u="none" cap="none" strike="noStrike">
              <a:solidFill>
                <a:schemeClr val="dk1"/>
              </a:solidFill>
              <a:latin typeface="Calibri"/>
              <a:ea typeface="Calibri"/>
              <a:cs typeface="Calibri"/>
              <a:sym typeface="Calibri"/>
            </a:endParaRPr>
          </a:p>
        </p:txBody>
      </p:sp>
      <p:sp>
        <p:nvSpPr>
          <p:cNvPr id="1294" name="Google Shape;1294;p39"/>
          <p:cNvSpPr/>
          <p:nvPr/>
        </p:nvSpPr>
        <p:spPr>
          <a:xfrm>
            <a:off x="342900" y="967995"/>
            <a:ext cx="3972000" cy="993300"/>
          </a:xfrm>
          <a:prstGeom prst="roundRect">
            <a:avLst>
              <a:gd fmla="val 6779" name="adj"/>
            </a:avLst>
          </a:prstGeom>
          <a:solidFill>
            <a:srgbClr val="FFF3EB"/>
          </a:solidFill>
          <a:ln cap="flat" cmpd="sng" w="10700">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5" name="Google Shape;1295;p39"/>
          <p:cNvSpPr/>
          <p:nvPr/>
        </p:nvSpPr>
        <p:spPr>
          <a:xfrm>
            <a:off x="514350" y="1139439"/>
            <a:ext cx="228600" cy="2286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296" name="Google Shape;1296;p39"/>
          <p:cNvSpPr txBox="1"/>
          <p:nvPr/>
        </p:nvSpPr>
        <p:spPr>
          <a:xfrm>
            <a:off x="485775" y="1158369"/>
            <a:ext cx="285900" cy="20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FFFFFF"/>
                </a:solidFill>
                <a:latin typeface="Lexend"/>
                <a:ea typeface="Lexend"/>
                <a:cs typeface="Lexend"/>
                <a:sym typeface="Lexend"/>
              </a:rPr>
              <a:t>1</a:t>
            </a:r>
            <a:endParaRPr sz="1100"/>
          </a:p>
        </p:txBody>
      </p:sp>
      <p:sp>
        <p:nvSpPr>
          <p:cNvPr id="1297" name="Google Shape;1297;p39"/>
          <p:cNvSpPr txBox="1"/>
          <p:nvPr/>
        </p:nvSpPr>
        <p:spPr>
          <a:xfrm>
            <a:off x="842963" y="1121508"/>
            <a:ext cx="4429200" cy="25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100">
                <a:solidFill>
                  <a:srgbClr val="B4531A"/>
                </a:solidFill>
                <a:latin typeface="Lexend"/>
                <a:ea typeface="Lexend"/>
                <a:cs typeface="Lexend"/>
                <a:sym typeface="Lexend"/>
              </a:rPr>
              <a:t>Cần có thưởng theo số ca làm việc</a:t>
            </a:r>
            <a:endParaRPr sz="1100"/>
          </a:p>
        </p:txBody>
      </p:sp>
      <p:sp>
        <p:nvSpPr>
          <p:cNvPr id="1298" name="Google Shape;1298;p39"/>
          <p:cNvSpPr/>
          <p:nvPr/>
        </p:nvSpPr>
        <p:spPr>
          <a:xfrm>
            <a:off x="342900" y="2181125"/>
            <a:ext cx="3972000" cy="993300"/>
          </a:xfrm>
          <a:prstGeom prst="roundRect">
            <a:avLst>
              <a:gd fmla="val 5161" name="adj"/>
            </a:avLst>
          </a:prstGeom>
          <a:solidFill>
            <a:srgbClr val="FFFFFF"/>
          </a:solidFill>
          <a:ln cap="flat" cmpd="sng" w="10700">
            <a:solidFill>
              <a:srgbClr val="E9EDF3"/>
            </a:solidFill>
            <a:prstDash val="solid"/>
            <a:round/>
            <a:headEnd len="sm" w="sm" type="none"/>
            <a:tailEnd len="sm" w="sm" type="none"/>
          </a:ln>
          <a:effectLst>
            <a:outerShdw blurRad="71438" rotWithShape="0" dir="5400000" dist="28575">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9" name="Google Shape;1299;p39"/>
          <p:cNvSpPr/>
          <p:nvPr/>
        </p:nvSpPr>
        <p:spPr>
          <a:xfrm>
            <a:off x="521494" y="2344320"/>
            <a:ext cx="214500" cy="214500"/>
          </a:xfrm>
          <a:prstGeom prst="ellipse">
            <a:avLst/>
          </a:prstGeom>
          <a:solidFill>
            <a:srgbClr val="1A549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00" name="Google Shape;1300;p39"/>
          <p:cNvSpPr txBox="1"/>
          <p:nvPr/>
        </p:nvSpPr>
        <p:spPr>
          <a:xfrm>
            <a:off x="485775" y="2365322"/>
            <a:ext cx="285900" cy="19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FFFFFF"/>
                </a:solidFill>
                <a:latin typeface="Lexend"/>
                <a:ea typeface="Lexend"/>
                <a:cs typeface="Lexend"/>
                <a:sym typeface="Lexend"/>
              </a:rPr>
              <a:t>2</a:t>
            </a:r>
            <a:endParaRPr sz="1100"/>
          </a:p>
        </p:txBody>
      </p:sp>
      <p:sp>
        <p:nvSpPr>
          <p:cNvPr id="1301" name="Google Shape;1301;p39"/>
          <p:cNvSpPr txBox="1"/>
          <p:nvPr/>
        </p:nvSpPr>
        <p:spPr>
          <a:xfrm>
            <a:off x="828675" y="2337676"/>
            <a:ext cx="3429000" cy="23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000">
                <a:solidFill>
                  <a:srgbClr val="0E4174"/>
                </a:solidFill>
                <a:latin typeface="Lexend"/>
                <a:ea typeface="Lexend"/>
                <a:cs typeface="Lexend"/>
                <a:sym typeface="Lexend"/>
              </a:rPr>
              <a:t>Cải thiện số lượng phễu Đăng ký </a:t>
            </a:r>
            <a:endParaRPr sz="1100"/>
          </a:p>
        </p:txBody>
      </p:sp>
      <p:sp>
        <p:nvSpPr>
          <p:cNvPr id="1302" name="Google Shape;1302;p39"/>
          <p:cNvSpPr txBox="1"/>
          <p:nvPr/>
        </p:nvSpPr>
        <p:spPr>
          <a:xfrm>
            <a:off x="542925" y="2622826"/>
            <a:ext cx="3771900" cy="48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 sz="700">
                <a:solidFill>
                  <a:srgbClr val="374151"/>
                </a:solidFill>
                <a:latin typeface="Lexend"/>
                <a:ea typeface="Lexend"/>
                <a:cs typeface="Lexend"/>
                <a:sym typeface="Lexend"/>
              </a:rPr>
              <a:t>Làm việc với tech, thiết kế deeplink dẫn trực tiếp vào mục Ahahub trên ứng dụng, thiết kế các popup cho 2 case: Mới chạy 1 ca -&gt; Popup dẫn tới Ahahub đăng ký tiếp / Chưa đăng ký ca nào / đẩy tiền độ tính năng auto checkin dự kiến giữa tháng 9 </a:t>
            </a:r>
            <a:endParaRPr sz="1100"/>
          </a:p>
        </p:txBody>
      </p:sp>
      <p:sp>
        <p:nvSpPr>
          <p:cNvPr id="1303" name="Google Shape;1303;p39"/>
          <p:cNvSpPr/>
          <p:nvPr/>
        </p:nvSpPr>
        <p:spPr>
          <a:xfrm>
            <a:off x="365750" y="3394250"/>
            <a:ext cx="3972000" cy="993300"/>
          </a:xfrm>
          <a:prstGeom prst="roundRect">
            <a:avLst>
              <a:gd fmla="val 5161" name="adj"/>
            </a:avLst>
          </a:prstGeom>
          <a:solidFill>
            <a:srgbClr val="FFFFFF"/>
          </a:solidFill>
          <a:ln cap="flat" cmpd="sng" w="10700">
            <a:solidFill>
              <a:srgbClr val="E9EDF3"/>
            </a:solidFill>
            <a:prstDash val="solid"/>
            <a:round/>
            <a:headEnd len="sm" w="sm" type="none"/>
            <a:tailEnd len="sm" w="sm" type="none"/>
          </a:ln>
          <a:effectLst>
            <a:outerShdw blurRad="71438" rotWithShape="0" dir="5400000" dist="28575">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4" name="Google Shape;1304;p39"/>
          <p:cNvSpPr/>
          <p:nvPr/>
        </p:nvSpPr>
        <p:spPr>
          <a:xfrm>
            <a:off x="544344" y="3557445"/>
            <a:ext cx="214500" cy="214500"/>
          </a:xfrm>
          <a:prstGeom prst="ellipse">
            <a:avLst/>
          </a:prstGeom>
          <a:solidFill>
            <a:srgbClr val="1A549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05" name="Google Shape;1305;p39"/>
          <p:cNvSpPr txBox="1"/>
          <p:nvPr/>
        </p:nvSpPr>
        <p:spPr>
          <a:xfrm>
            <a:off x="508625" y="3578447"/>
            <a:ext cx="285900" cy="19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FFFFFF"/>
                </a:solidFill>
                <a:latin typeface="Lexend"/>
                <a:ea typeface="Lexend"/>
                <a:cs typeface="Lexend"/>
                <a:sym typeface="Lexend"/>
              </a:rPr>
              <a:t>2</a:t>
            </a:r>
            <a:endParaRPr sz="1100"/>
          </a:p>
        </p:txBody>
      </p:sp>
      <p:sp>
        <p:nvSpPr>
          <p:cNvPr id="1306" name="Google Shape;1306;p39"/>
          <p:cNvSpPr txBox="1"/>
          <p:nvPr/>
        </p:nvSpPr>
        <p:spPr>
          <a:xfrm>
            <a:off x="851525" y="3550801"/>
            <a:ext cx="3429000" cy="23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0E4174"/>
                </a:solidFill>
                <a:latin typeface="Lexend"/>
                <a:ea typeface="Lexend"/>
                <a:cs typeface="Lexend"/>
                <a:sym typeface="Lexend"/>
              </a:rPr>
              <a:t>Thay đổi màn hình entry </a:t>
            </a:r>
            <a:endParaRPr sz="1100"/>
          </a:p>
        </p:txBody>
      </p:sp>
      <p:sp>
        <p:nvSpPr>
          <p:cNvPr id="1307" name="Google Shape;1307;p39"/>
          <p:cNvSpPr txBox="1"/>
          <p:nvPr/>
        </p:nvSpPr>
        <p:spPr>
          <a:xfrm>
            <a:off x="565775" y="3921776"/>
            <a:ext cx="3771900" cy="48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 sz="700">
                <a:solidFill>
                  <a:srgbClr val="374151"/>
                </a:solidFill>
                <a:latin typeface="Lexend"/>
                <a:ea typeface="Lexend"/>
                <a:cs typeface="Lexend"/>
                <a:sym typeface="Lexend"/>
              </a:rPr>
              <a:t>Thay đổi màn hình chọn working type / tận dụng nguồn data log để có treatment riêng với tập lựa chọn Hub là hình thức hoạt động. </a:t>
            </a:r>
            <a:endParaRPr sz="700">
              <a:solidFill>
                <a:srgbClr val="374151"/>
              </a:solidFill>
              <a:latin typeface="Lexend"/>
              <a:ea typeface="Lexend"/>
              <a:cs typeface="Lexend"/>
              <a:sym typeface="Lexend"/>
            </a:endParaRPr>
          </a:p>
          <a:p>
            <a:pPr indent="0" lvl="0" marL="0" marR="0" rtl="0" algn="l">
              <a:lnSpc>
                <a:spcPct val="140000"/>
              </a:lnSpc>
              <a:spcBef>
                <a:spcPts val="0"/>
              </a:spcBef>
              <a:spcAft>
                <a:spcPts val="0"/>
              </a:spcAft>
              <a:buNone/>
            </a:pPr>
            <a:r>
              <a:t/>
            </a:r>
            <a:endParaRPr sz="700">
              <a:solidFill>
                <a:srgbClr val="374151"/>
              </a:solidFill>
              <a:latin typeface="Lexend"/>
              <a:ea typeface="Lexend"/>
              <a:cs typeface="Lexend"/>
              <a:sym typeface="Lexend"/>
            </a:endParaRPr>
          </a:p>
        </p:txBody>
      </p:sp>
      <p:sp>
        <p:nvSpPr>
          <p:cNvPr id="1308" name="Google Shape;1308;p39"/>
          <p:cNvSpPr txBox="1"/>
          <p:nvPr/>
        </p:nvSpPr>
        <p:spPr>
          <a:xfrm>
            <a:off x="542925" y="1417926"/>
            <a:ext cx="3771900" cy="48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 sz="700">
                <a:solidFill>
                  <a:srgbClr val="374151"/>
                </a:solidFill>
                <a:latin typeface="Lexend"/>
                <a:ea typeface="Lexend"/>
                <a:cs typeface="Lexend"/>
                <a:sym typeface="Lexend"/>
              </a:rPr>
              <a:t>Dữ liệu đã chứng minh chỉ cần tài xế hoạt động nhiều ca, thu nhập sẽ càng được cải thiện, thu nhập thuần của HUB đã tốt sẵn -&gt; không cần đảm bảo, cần 1 chính sách khuyến khích hoạt động nhiều ca hơn. </a:t>
            </a:r>
            <a:endParaRPr sz="1100"/>
          </a:p>
        </p:txBody>
      </p:sp>
      <p:pic>
        <p:nvPicPr>
          <p:cNvPr id="1309" name="Google Shape;1309;p39"/>
          <p:cNvPicPr preferRelativeResize="0"/>
          <p:nvPr/>
        </p:nvPicPr>
        <p:blipFill>
          <a:blip r:embed="rId3">
            <a:alphaModFix/>
          </a:blip>
          <a:stretch>
            <a:fillRect/>
          </a:stretch>
        </p:blipFill>
        <p:spPr>
          <a:xfrm>
            <a:off x="5033037" y="946010"/>
            <a:ext cx="3567038" cy="3728856"/>
          </a:xfrm>
          <a:prstGeom prst="rect">
            <a:avLst/>
          </a:prstGeom>
          <a:noFill/>
          <a:ln>
            <a:noFill/>
          </a:ln>
        </p:spPr>
      </p:pic>
      <p:sp>
        <p:nvSpPr>
          <p:cNvPr id="1310" name="Google Shape;1310;p39"/>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1" name="Google Shape;1311;p39"/>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CITIZONE</a:t>
            </a:r>
            <a:endParaRPr sz="1100"/>
          </a:p>
        </p:txBody>
      </p:sp>
      <p:sp>
        <p:nvSpPr>
          <p:cNvPr id="1312" name="Google Shape;1312;p39"/>
          <p:cNvSpPr txBox="1"/>
          <p:nvPr/>
        </p:nvSpPr>
        <p:spPr>
          <a:xfrm>
            <a:off x="500063" y="528209"/>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2 việc cần làm: khuyến khích chạy nhiều ca và đưa tài xế vào Hub dễ hơn</a:t>
            </a:r>
            <a:endParaRPr b="1" sz="800">
              <a:solidFill>
                <a:srgbClr val="6B7280"/>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6" name="Shape 1316"/>
        <p:cNvGrpSpPr/>
        <p:nvPr/>
      </p:nvGrpSpPr>
      <p:grpSpPr>
        <a:xfrm>
          <a:off x="0" y="0"/>
          <a:ext cx="0" cy="0"/>
          <a:chOff x="0" y="0"/>
          <a:chExt cx="0" cy="0"/>
        </a:xfrm>
      </p:grpSpPr>
      <p:sp>
        <p:nvSpPr>
          <p:cNvPr id="1317" name="Google Shape;1317;p40"/>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8" name="Google Shape;1318;p40"/>
          <p:cNvSpPr txBox="1"/>
          <p:nvPr/>
        </p:nvSpPr>
        <p:spPr>
          <a:xfrm>
            <a:off x="500063" y="203311"/>
            <a:ext cx="7215300" cy="35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EV ACTIVE</a:t>
            </a:r>
            <a:endParaRPr sz="1100"/>
          </a:p>
        </p:txBody>
      </p:sp>
      <p:sp>
        <p:nvSpPr>
          <p:cNvPr id="1319" name="Google Shape;1319;p40"/>
          <p:cNvSpPr txBox="1"/>
          <p:nvPr/>
        </p:nvSpPr>
        <p:spPr>
          <a:xfrm>
            <a:off x="500063" y="511385"/>
            <a:ext cx="7215300" cy="18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100"/>
          </a:p>
        </p:txBody>
      </p:sp>
      <p:sp>
        <p:nvSpPr>
          <p:cNvPr id="1320" name="Google Shape;1320;p40"/>
          <p:cNvSpPr/>
          <p:nvPr/>
        </p:nvSpPr>
        <p:spPr>
          <a:xfrm>
            <a:off x="7686675" y="300038"/>
            <a:ext cx="11145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1" name="Google Shape;1321;p40"/>
          <p:cNvSpPr txBox="1"/>
          <p:nvPr/>
        </p:nvSpPr>
        <p:spPr>
          <a:xfrm>
            <a:off x="7686675" y="354223"/>
            <a:ext cx="1114500" cy="18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E0641A"/>
                </a:solidFill>
                <a:latin typeface="Lexend"/>
                <a:ea typeface="Lexend"/>
                <a:cs typeface="Lexend"/>
                <a:sym typeface="Lexend"/>
              </a:rPr>
              <a:t>4 tuần T8 vs T7</a:t>
            </a:r>
            <a:endParaRPr sz="1100"/>
          </a:p>
        </p:txBody>
      </p:sp>
      <p:sp>
        <p:nvSpPr>
          <p:cNvPr id="1322" name="Google Shape;1322;p40"/>
          <p:cNvSpPr/>
          <p:nvPr/>
        </p:nvSpPr>
        <p:spPr>
          <a:xfrm>
            <a:off x="342900" y="800100"/>
            <a:ext cx="2028900" cy="628800"/>
          </a:xfrm>
          <a:prstGeom prst="roundRect">
            <a:avLst>
              <a:gd fmla="val 15909"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3" name="Google Shape;1323;p40"/>
          <p:cNvSpPr txBox="1"/>
          <p:nvPr/>
        </p:nvSpPr>
        <p:spPr>
          <a:xfrm>
            <a:off x="500063" y="886539"/>
            <a:ext cx="1714500" cy="13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ACTIVE EV · HAN</a:t>
            </a:r>
            <a:endParaRPr sz="1100"/>
          </a:p>
        </p:txBody>
      </p:sp>
      <p:sp>
        <p:nvSpPr>
          <p:cNvPr id="1324" name="Google Shape;1324;p40"/>
          <p:cNvSpPr txBox="1"/>
          <p:nvPr/>
        </p:nvSpPr>
        <p:spPr>
          <a:xfrm>
            <a:off x="500063"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413,0</a:t>
            </a:r>
            <a:r>
              <a:rPr b="1" i="0" lang="en" sz="800">
                <a:solidFill>
                  <a:srgbClr val="0F7A5A"/>
                </a:solidFill>
                <a:latin typeface="Lexend"/>
                <a:ea typeface="Lexend"/>
                <a:cs typeface="Lexend"/>
                <a:sym typeface="Lexend"/>
              </a:rPr>
              <a:t>  +5,4%</a:t>
            </a:r>
            <a:endParaRPr sz="1100"/>
          </a:p>
        </p:txBody>
      </p:sp>
      <p:sp>
        <p:nvSpPr>
          <p:cNvPr id="1325" name="Google Shape;1325;p40"/>
          <p:cNvSpPr txBox="1"/>
          <p:nvPr/>
        </p:nvSpPr>
        <p:spPr>
          <a:xfrm>
            <a:off x="500063"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T7: 392,0 · TB 4 tuần</a:t>
            </a:r>
            <a:endParaRPr sz="1100"/>
          </a:p>
        </p:txBody>
      </p:sp>
      <p:sp>
        <p:nvSpPr>
          <p:cNvPr id="1326" name="Google Shape;1326;p40"/>
          <p:cNvSpPr/>
          <p:nvPr/>
        </p:nvSpPr>
        <p:spPr>
          <a:xfrm>
            <a:off x="2486025" y="800100"/>
            <a:ext cx="2028900" cy="628800"/>
          </a:xfrm>
          <a:prstGeom prst="roundRect">
            <a:avLst>
              <a:gd fmla="val 15909"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7" name="Google Shape;1327;p40"/>
          <p:cNvSpPr txBox="1"/>
          <p:nvPr/>
        </p:nvSpPr>
        <p:spPr>
          <a:xfrm>
            <a:off x="2643188" y="886539"/>
            <a:ext cx="1714500" cy="13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ACTIVE EV · HCM</a:t>
            </a:r>
            <a:endParaRPr sz="1100"/>
          </a:p>
        </p:txBody>
      </p:sp>
      <p:sp>
        <p:nvSpPr>
          <p:cNvPr id="1328" name="Google Shape;1328;p40"/>
          <p:cNvSpPr txBox="1"/>
          <p:nvPr/>
        </p:nvSpPr>
        <p:spPr>
          <a:xfrm>
            <a:off x="2643188"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536,0</a:t>
            </a:r>
            <a:r>
              <a:rPr b="1" i="0" lang="en" sz="800">
                <a:solidFill>
                  <a:srgbClr val="0F7A5A"/>
                </a:solidFill>
                <a:latin typeface="Lexend"/>
                <a:ea typeface="Lexend"/>
                <a:cs typeface="Lexend"/>
                <a:sym typeface="Lexend"/>
              </a:rPr>
              <a:t>  +7,4%</a:t>
            </a:r>
            <a:endParaRPr sz="1100"/>
          </a:p>
        </p:txBody>
      </p:sp>
      <p:sp>
        <p:nvSpPr>
          <p:cNvPr id="1329" name="Google Shape;1329;p40"/>
          <p:cNvSpPr txBox="1"/>
          <p:nvPr/>
        </p:nvSpPr>
        <p:spPr>
          <a:xfrm>
            <a:off x="2643188"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T7: 499,3 · TB 4 tuần</a:t>
            </a:r>
            <a:endParaRPr sz="1100"/>
          </a:p>
        </p:txBody>
      </p:sp>
      <p:sp>
        <p:nvSpPr>
          <p:cNvPr id="1330" name="Google Shape;1330;p40"/>
          <p:cNvSpPr/>
          <p:nvPr/>
        </p:nvSpPr>
        <p:spPr>
          <a:xfrm>
            <a:off x="4629150" y="800100"/>
            <a:ext cx="2028900" cy="628800"/>
          </a:xfrm>
          <a:prstGeom prst="roundRect">
            <a:avLst>
              <a:gd fmla="val 15909"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1" name="Google Shape;1331;p40"/>
          <p:cNvSpPr txBox="1"/>
          <p:nvPr/>
        </p:nvSpPr>
        <p:spPr>
          <a:xfrm>
            <a:off x="4786313" y="886539"/>
            <a:ext cx="1714500" cy="13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P25 · HAN — NHÓM ĐÁY</a:t>
            </a:r>
            <a:endParaRPr sz="1100"/>
          </a:p>
        </p:txBody>
      </p:sp>
      <p:sp>
        <p:nvSpPr>
          <p:cNvPr id="1332" name="Google Shape;1332;p40"/>
          <p:cNvSpPr txBox="1"/>
          <p:nvPr/>
        </p:nvSpPr>
        <p:spPr>
          <a:xfrm>
            <a:off x="4786313"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12,00</a:t>
            </a:r>
            <a:r>
              <a:rPr b="1" i="0" lang="en" sz="800">
                <a:solidFill>
                  <a:srgbClr val="0F7A5A"/>
                </a:solidFill>
                <a:latin typeface="Lexend"/>
                <a:ea typeface="Lexend"/>
                <a:cs typeface="Lexend"/>
                <a:sym typeface="Lexend"/>
              </a:rPr>
              <a:t>  +11,6%</a:t>
            </a:r>
            <a:endParaRPr sz="1100"/>
          </a:p>
        </p:txBody>
      </p:sp>
      <p:sp>
        <p:nvSpPr>
          <p:cNvPr id="1333" name="Google Shape;1333;p40"/>
          <p:cNvSpPr txBox="1"/>
          <p:nvPr/>
        </p:nvSpPr>
        <p:spPr>
          <a:xfrm>
            <a:off x="4786313"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nhanh hơn cả active, không bị loãng</a:t>
            </a:r>
            <a:endParaRPr sz="1100"/>
          </a:p>
        </p:txBody>
      </p:sp>
      <p:sp>
        <p:nvSpPr>
          <p:cNvPr id="1334" name="Google Shape;1334;p40"/>
          <p:cNvSpPr/>
          <p:nvPr/>
        </p:nvSpPr>
        <p:spPr>
          <a:xfrm>
            <a:off x="6772275" y="800100"/>
            <a:ext cx="2028900" cy="628800"/>
          </a:xfrm>
          <a:prstGeom prst="roundRect">
            <a:avLst>
              <a:gd fmla="val 15909"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5" name="Google Shape;1335;p40"/>
          <p:cNvSpPr txBox="1"/>
          <p:nvPr/>
        </p:nvSpPr>
        <p:spPr>
          <a:xfrm>
            <a:off x="6929438" y="886539"/>
            <a:ext cx="1714500" cy="13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P95 · HAN — NHÓM ĐỈNH</a:t>
            </a:r>
            <a:endParaRPr sz="1100"/>
          </a:p>
        </p:txBody>
      </p:sp>
      <p:sp>
        <p:nvSpPr>
          <p:cNvPr id="1336" name="Google Shape;1336;p40"/>
          <p:cNvSpPr txBox="1"/>
          <p:nvPr/>
        </p:nvSpPr>
        <p:spPr>
          <a:xfrm>
            <a:off x="6929438"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193,5</a:t>
            </a:r>
            <a:r>
              <a:rPr b="1" i="0" lang="en" sz="800">
                <a:solidFill>
                  <a:srgbClr val="C0392B"/>
                </a:solidFill>
                <a:latin typeface="Lexend"/>
                <a:ea typeface="Lexend"/>
                <a:cs typeface="Lexend"/>
                <a:sym typeface="Lexend"/>
              </a:rPr>
              <a:t>  −4,6%</a:t>
            </a:r>
            <a:endParaRPr sz="1100"/>
          </a:p>
        </p:txBody>
      </p:sp>
      <p:sp>
        <p:nvSpPr>
          <p:cNvPr id="1337" name="Google Shape;1337;p40"/>
          <p:cNvSpPr txBox="1"/>
          <p:nvPr/>
        </p:nvSpPr>
        <p:spPr>
          <a:xfrm>
            <a:off x="6929438"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trần hạ · cùng lúc HCM +5,8%</a:t>
            </a:r>
            <a:endParaRPr sz="1100"/>
          </a:p>
        </p:txBody>
      </p:sp>
      <p:sp>
        <p:nvSpPr>
          <p:cNvPr id="1338" name="Google Shape;1338;p40"/>
          <p:cNvSpPr/>
          <p:nvPr/>
        </p:nvSpPr>
        <p:spPr>
          <a:xfrm>
            <a:off x="342900" y="1628775"/>
            <a:ext cx="3714900" cy="1971600"/>
          </a:xfrm>
          <a:prstGeom prst="roundRect">
            <a:avLst>
              <a:gd fmla="val 5797"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9" name="Google Shape;1339;p40"/>
          <p:cNvSpPr txBox="1"/>
          <p:nvPr/>
        </p:nvSpPr>
        <p:spPr>
          <a:xfrm>
            <a:off x="542925" y="1709928"/>
            <a:ext cx="33147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Active EV theo tuần</a:t>
            </a:r>
            <a:endParaRPr sz="1100"/>
          </a:p>
        </p:txBody>
      </p:sp>
      <p:sp>
        <p:nvSpPr>
          <p:cNvPr id="1340" name="Google Shape;1340;p40"/>
          <p:cNvSpPr txBox="1"/>
          <p:nvPr/>
        </p:nvSpPr>
        <p:spPr>
          <a:xfrm>
            <a:off x="542925" y="1898880"/>
            <a:ext cx="33147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cả hai miền chạm đáy cuối T7 rồi lên đều suốt T8</a:t>
            </a:r>
            <a:endParaRPr sz="1100"/>
          </a:p>
        </p:txBody>
      </p:sp>
      <p:sp>
        <p:nvSpPr>
          <p:cNvPr id="1341" name="Google Shape;1341;p40"/>
          <p:cNvSpPr/>
          <p:nvPr/>
        </p:nvSpPr>
        <p:spPr>
          <a:xfrm>
            <a:off x="2857500" y="1807369"/>
            <a:ext cx="78600" cy="78600"/>
          </a:xfrm>
          <a:prstGeom prst="roundRect">
            <a:avLst>
              <a:gd fmla="val 18181" name="adj"/>
            </a:avLst>
          </a:prstGeom>
          <a:solidFill>
            <a:srgbClr val="1A549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2" name="Google Shape;1342;p40"/>
          <p:cNvSpPr txBox="1"/>
          <p:nvPr/>
        </p:nvSpPr>
        <p:spPr>
          <a:xfrm>
            <a:off x="2978944" y="1793796"/>
            <a:ext cx="242700" cy="13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6B7280"/>
                </a:solidFill>
                <a:latin typeface="Lexend"/>
                <a:ea typeface="Lexend"/>
                <a:cs typeface="Lexend"/>
                <a:sym typeface="Lexend"/>
              </a:rPr>
              <a:t>HAN</a:t>
            </a:r>
            <a:endParaRPr sz="1100"/>
          </a:p>
        </p:txBody>
      </p:sp>
      <p:sp>
        <p:nvSpPr>
          <p:cNvPr id="1343" name="Google Shape;1343;p40"/>
          <p:cNvSpPr/>
          <p:nvPr/>
        </p:nvSpPr>
        <p:spPr>
          <a:xfrm>
            <a:off x="3314700" y="1807369"/>
            <a:ext cx="78600" cy="78600"/>
          </a:xfrm>
          <a:prstGeom prst="roundRect">
            <a:avLst>
              <a:gd fmla="val 18181"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4" name="Google Shape;1344;p40"/>
          <p:cNvSpPr txBox="1"/>
          <p:nvPr/>
        </p:nvSpPr>
        <p:spPr>
          <a:xfrm>
            <a:off x="3436144" y="1793796"/>
            <a:ext cx="242700" cy="13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6B7280"/>
                </a:solidFill>
                <a:latin typeface="Lexend"/>
                <a:ea typeface="Lexend"/>
                <a:cs typeface="Lexend"/>
                <a:sym typeface="Lexend"/>
              </a:rPr>
              <a:t>HCM</a:t>
            </a:r>
            <a:endParaRPr sz="1100"/>
          </a:p>
        </p:txBody>
      </p:sp>
      <p:sp>
        <p:nvSpPr>
          <p:cNvPr id="1345" name="Google Shape;1345;p40"/>
          <p:cNvSpPr/>
          <p:nvPr/>
        </p:nvSpPr>
        <p:spPr>
          <a:xfrm>
            <a:off x="685800" y="2998102"/>
            <a:ext cx="31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6" name="Google Shape;1346;p40"/>
          <p:cNvSpPr txBox="1"/>
          <p:nvPr/>
        </p:nvSpPr>
        <p:spPr>
          <a:xfrm>
            <a:off x="371475" y="2947310"/>
            <a:ext cx="2859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400</a:t>
            </a:r>
            <a:endParaRPr sz="1100"/>
          </a:p>
        </p:txBody>
      </p:sp>
      <p:sp>
        <p:nvSpPr>
          <p:cNvPr id="1347" name="Google Shape;1347;p40"/>
          <p:cNvSpPr/>
          <p:nvPr/>
        </p:nvSpPr>
        <p:spPr>
          <a:xfrm>
            <a:off x="685800" y="2770801"/>
            <a:ext cx="31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8" name="Google Shape;1348;p40"/>
          <p:cNvSpPr txBox="1"/>
          <p:nvPr/>
        </p:nvSpPr>
        <p:spPr>
          <a:xfrm>
            <a:off x="371475" y="2720009"/>
            <a:ext cx="2859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450</a:t>
            </a:r>
            <a:endParaRPr sz="1100"/>
          </a:p>
        </p:txBody>
      </p:sp>
      <p:sp>
        <p:nvSpPr>
          <p:cNvPr id="1349" name="Google Shape;1349;p40"/>
          <p:cNvSpPr/>
          <p:nvPr/>
        </p:nvSpPr>
        <p:spPr>
          <a:xfrm>
            <a:off x="685800" y="2543500"/>
            <a:ext cx="31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0" name="Google Shape;1350;p40"/>
          <p:cNvSpPr txBox="1"/>
          <p:nvPr/>
        </p:nvSpPr>
        <p:spPr>
          <a:xfrm>
            <a:off x="371475" y="2492708"/>
            <a:ext cx="2859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500</a:t>
            </a:r>
            <a:endParaRPr sz="1100"/>
          </a:p>
        </p:txBody>
      </p:sp>
      <p:sp>
        <p:nvSpPr>
          <p:cNvPr id="1351" name="Google Shape;1351;p40"/>
          <p:cNvSpPr/>
          <p:nvPr/>
        </p:nvSpPr>
        <p:spPr>
          <a:xfrm>
            <a:off x="685800" y="2316199"/>
            <a:ext cx="31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2" name="Google Shape;1352;p40"/>
          <p:cNvSpPr txBox="1"/>
          <p:nvPr/>
        </p:nvSpPr>
        <p:spPr>
          <a:xfrm>
            <a:off x="371475" y="2265407"/>
            <a:ext cx="2859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550</a:t>
            </a:r>
            <a:endParaRPr sz="1100"/>
          </a:p>
        </p:txBody>
      </p:sp>
      <p:sp>
        <p:nvSpPr>
          <p:cNvPr id="1353" name="Google Shape;1353;p40"/>
          <p:cNvSpPr/>
          <p:nvPr/>
        </p:nvSpPr>
        <p:spPr>
          <a:xfrm>
            <a:off x="685800" y="3223617"/>
            <a:ext cx="3171900" cy="10800"/>
          </a:xfrm>
          <a:prstGeom prst="rect">
            <a:avLst/>
          </a:prstGeom>
          <a:solidFill>
            <a:srgbClr val="E5E9E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4" name="Google Shape;1354;p40"/>
          <p:cNvSpPr/>
          <p:nvPr/>
        </p:nvSpPr>
        <p:spPr>
          <a:xfrm>
            <a:off x="2237708" y="2257425"/>
            <a:ext cx="10800" cy="1000200"/>
          </a:xfrm>
          <a:prstGeom prst="rect">
            <a:avLst/>
          </a:prstGeom>
          <a:solidFill>
            <a:srgbClr val="F3C4A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5" name="Google Shape;1355;p40"/>
          <p:cNvSpPr txBox="1"/>
          <p:nvPr/>
        </p:nvSpPr>
        <p:spPr>
          <a:xfrm>
            <a:off x="940904" y="2079546"/>
            <a:ext cx="857400" cy="13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4 tuần T7</a:t>
            </a:r>
            <a:endParaRPr sz="1100"/>
          </a:p>
        </p:txBody>
      </p:sp>
      <p:sp>
        <p:nvSpPr>
          <p:cNvPr id="1356" name="Google Shape;1356;p40"/>
          <p:cNvSpPr txBox="1"/>
          <p:nvPr/>
        </p:nvSpPr>
        <p:spPr>
          <a:xfrm>
            <a:off x="2687979" y="2079546"/>
            <a:ext cx="857400" cy="13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E0641A"/>
                </a:solidFill>
                <a:latin typeface="Lexend"/>
                <a:ea typeface="Lexend"/>
                <a:cs typeface="Lexend"/>
                <a:sym typeface="Lexend"/>
              </a:rPr>
              <a:t>4 tuần T8</a:t>
            </a:r>
            <a:endParaRPr sz="1100"/>
          </a:p>
        </p:txBody>
      </p:sp>
      <p:cxnSp>
        <p:nvCxnSpPr>
          <p:cNvPr id="1357" name="Google Shape;1357;p40"/>
          <p:cNvCxnSpPr/>
          <p:nvPr/>
        </p:nvCxnSpPr>
        <p:spPr>
          <a:xfrm flipH="1" rot="10800000">
            <a:off x="714375" y="2969874"/>
            <a:ext cx="436800" cy="3180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cxnSp>
        <p:nvCxnSpPr>
          <p:cNvPr id="1358" name="Google Shape;1358;p40"/>
          <p:cNvCxnSpPr/>
          <p:nvPr/>
        </p:nvCxnSpPr>
        <p:spPr>
          <a:xfrm>
            <a:off x="1151144" y="2969852"/>
            <a:ext cx="436800" cy="14100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cxnSp>
        <p:nvCxnSpPr>
          <p:cNvPr id="1359" name="Google Shape;1359;p40"/>
          <p:cNvCxnSpPr/>
          <p:nvPr/>
        </p:nvCxnSpPr>
        <p:spPr>
          <a:xfrm flipH="1" rot="10800000">
            <a:off x="1587913" y="3069979"/>
            <a:ext cx="436800" cy="4080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cxnSp>
        <p:nvCxnSpPr>
          <p:cNvPr id="1360" name="Google Shape;1360;p40"/>
          <p:cNvCxnSpPr/>
          <p:nvPr/>
        </p:nvCxnSpPr>
        <p:spPr>
          <a:xfrm flipH="1" rot="10800000">
            <a:off x="2024682" y="3006264"/>
            <a:ext cx="436800" cy="6360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cxnSp>
        <p:nvCxnSpPr>
          <p:cNvPr id="1361" name="Google Shape;1361;p40"/>
          <p:cNvCxnSpPr/>
          <p:nvPr/>
        </p:nvCxnSpPr>
        <p:spPr>
          <a:xfrm flipH="1" rot="10800000">
            <a:off x="2461451" y="2897320"/>
            <a:ext cx="436800" cy="10890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cxnSp>
        <p:nvCxnSpPr>
          <p:cNvPr id="1362" name="Google Shape;1362;p40"/>
          <p:cNvCxnSpPr/>
          <p:nvPr/>
        </p:nvCxnSpPr>
        <p:spPr>
          <a:xfrm>
            <a:off x="2898219" y="2897115"/>
            <a:ext cx="436800" cy="3630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cxnSp>
        <p:nvCxnSpPr>
          <p:cNvPr id="1363" name="Google Shape;1363;p40"/>
          <p:cNvCxnSpPr/>
          <p:nvPr/>
        </p:nvCxnSpPr>
        <p:spPr>
          <a:xfrm>
            <a:off x="3334988" y="2933483"/>
            <a:ext cx="436800" cy="0"/>
          </a:xfrm>
          <a:prstGeom prst="straightConnector1">
            <a:avLst/>
          </a:prstGeom>
          <a:noFill/>
          <a:ln cap="flat" cmpd="sng" w="11900">
            <a:solidFill>
              <a:srgbClr val="1A5490"/>
            </a:solidFill>
            <a:prstDash val="solid"/>
            <a:round/>
            <a:headEnd len="sm" w="sm" type="none"/>
            <a:tailEnd len="sm" w="sm" type="none"/>
          </a:ln>
          <a:effectLst>
            <a:outerShdw blurRad="20000" rotWithShape="0" dir="5400000" dist="10000">
              <a:srgbClr val="000000">
                <a:alpha val="38040"/>
              </a:srgbClr>
            </a:outerShdw>
          </a:effectLst>
        </p:spPr>
      </p:cxnSp>
      <p:sp>
        <p:nvSpPr>
          <p:cNvPr id="1364" name="Google Shape;1364;p40"/>
          <p:cNvSpPr/>
          <p:nvPr/>
        </p:nvSpPr>
        <p:spPr>
          <a:xfrm>
            <a:off x="689372" y="2976671"/>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65" name="Google Shape;1365;p40"/>
          <p:cNvSpPr txBox="1"/>
          <p:nvPr/>
        </p:nvSpPr>
        <p:spPr>
          <a:xfrm>
            <a:off x="535781" y="3025892"/>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400</a:t>
            </a:r>
            <a:endParaRPr sz="1100"/>
          </a:p>
        </p:txBody>
      </p:sp>
      <p:sp>
        <p:nvSpPr>
          <p:cNvPr id="1366" name="Google Shape;1366;p40"/>
          <p:cNvSpPr/>
          <p:nvPr/>
        </p:nvSpPr>
        <p:spPr>
          <a:xfrm>
            <a:off x="1126141" y="2944849"/>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67" name="Google Shape;1367;p40"/>
          <p:cNvSpPr txBox="1"/>
          <p:nvPr/>
        </p:nvSpPr>
        <p:spPr>
          <a:xfrm>
            <a:off x="972550" y="2994069"/>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407</a:t>
            </a:r>
            <a:endParaRPr sz="1100"/>
          </a:p>
        </p:txBody>
      </p:sp>
      <p:sp>
        <p:nvSpPr>
          <p:cNvPr id="1368" name="Google Shape;1368;p40"/>
          <p:cNvSpPr/>
          <p:nvPr/>
        </p:nvSpPr>
        <p:spPr>
          <a:xfrm>
            <a:off x="1562910" y="3085775"/>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69" name="Google Shape;1369;p40"/>
          <p:cNvSpPr txBox="1"/>
          <p:nvPr/>
        </p:nvSpPr>
        <p:spPr>
          <a:xfrm>
            <a:off x="1409319" y="3134996"/>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376</a:t>
            </a:r>
            <a:endParaRPr sz="1100"/>
          </a:p>
        </p:txBody>
      </p:sp>
      <p:sp>
        <p:nvSpPr>
          <p:cNvPr id="1370" name="Google Shape;1370;p40"/>
          <p:cNvSpPr/>
          <p:nvPr/>
        </p:nvSpPr>
        <p:spPr>
          <a:xfrm>
            <a:off x="1999679" y="3044861"/>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71" name="Google Shape;1371;p40"/>
          <p:cNvSpPr txBox="1"/>
          <p:nvPr/>
        </p:nvSpPr>
        <p:spPr>
          <a:xfrm>
            <a:off x="1846088" y="3094082"/>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385</a:t>
            </a:r>
            <a:endParaRPr sz="1100"/>
          </a:p>
        </p:txBody>
      </p:sp>
      <p:sp>
        <p:nvSpPr>
          <p:cNvPr id="1372" name="Google Shape;1372;p40"/>
          <p:cNvSpPr/>
          <p:nvPr/>
        </p:nvSpPr>
        <p:spPr>
          <a:xfrm>
            <a:off x="2436447" y="2981217"/>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73" name="Google Shape;1373;p40"/>
          <p:cNvSpPr txBox="1"/>
          <p:nvPr/>
        </p:nvSpPr>
        <p:spPr>
          <a:xfrm>
            <a:off x="2282857" y="3030437"/>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399</a:t>
            </a:r>
            <a:endParaRPr sz="1100"/>
          </a:p>
        </p:txBody>
      </p:sp>
      <p:sp>
        <p:nvSpPr>
          <p:cNvPr id="1374" name="Google Shape;1374;p40"/>
          <p:cNvSpPr/>
          <p:nvPr/>
        </p:nvSpPr>
        <p:spPr>
          <a:xfrm>
            <a:off x="2873216" y="2872112"/>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75" name="Google Shape;1375;p40"/>
          <p:cNvSpPr txBox="1"/>
          <p:nvPr/>
        </p:nvSpPr>
        <p:spPr>
          <a:xfrm>
            <a:off x="2719626" y="2921333"/>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423</a:t>
            </a:r>
            <a:endParaRPr sz="1100"/>
          </a:p>
        </p:txBody>
      </p:sp>
      <p:sp>
        <p:nvSpPr>
          <p:cNvPr id="1376" name="Google Shape;1376;p40"/>
          <p:cNvSpPr/>
          <p:nvPr/>
        </p:nvSpPr>
        <p:spPr>
          <a:xfrm>
            <a:off x="3309986" y="2908481"/>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77" name="Google Shape;1377;p40"/>
          <p:cNvSpPr txBox="1"/>
          <p:nvPr/>
        </p:nvSpPr>
        <p:spPr>
          <a:xfrm>
            <a:off x="3156395" y="295770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415</a:t>
            </a:r>
            <a:endParaRPr sz="1100"/>
          </a:p>
        </p:txBody>
      </p:sp>
      <p:sp>
        <p:nvSpPr>
          <p:cNvPr id="1378" name="Google Shape;1378;p40"/>
          <p:cNvSpPr/>
          <p:nvPr/>
        </p:nvSpPr>
        <p:spPr>
          <a:xfrm>
            <a:off x="3746754" y="2908481"/>
            <a:ext cx="50100" cy="50100"/>
          </a:xfrm>
          <a:prstGeom prst="ellipse">
            <a:avLst/>
          </a:prstGeom>
          <a:solidFill>
            <a:srgbClr val="FFFFFF"/>
          </a:solidFill>
          <a:ln cap="flat" cmpd="sng" w="9525">
            <a:solidFill>
              <a:srgbClr val="1A549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79" name="Google Shape;1379;p40"/>
          <p:cNvSpPr txBox="1"/>
          <p:nvPr/>
        </p:nvSpPr>
        <p:spPr>
          <a:xfrm>
            <a:off x="3593163" y="295770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1A5490"/>
                </a:solidFill>
                <a:latin typeface="Lexend"/>
                <a:ea typeface="Lexend"/>
                <a:cs typeface="Lexend"/>
                <a:sym typeface="Lexend"/>
              </a:rPr>
              <a:t>415</a:t>
            </a:r>
            <a:endParaRPr sz="1100"/>
          </a:p>
        </p:txBody>
      </p:sp>
      <p:cxnSp>
        <p:nvCxnSpPr>
          <p:cNvPr id="1380" name="Google Shape;1380;p40"/>
          <p:cNvCxnSpPr/>
          <p:nvPr/>
        </p:nvCxnSpPr>
        <p:spPr>
          <a:xfrm flipH="1" rot="10800000">
            <a:off x="714375" y="2510888"/>
            <a:ext cx="436800" cy="180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cxnSp>
        <p:nvCxnSpPr>
          <p:cNvPr id="1381" name="Google Shape;1381;p40"/>
          <p:cNvCxnSpPr/>
          <p:nvPr/>
        </p:nvCxnSpPr>
        <p:spPr>
          <a:xfrm>
            <a:off x="1151144" y="2510704"/>
            <a:ext cx="436800" cy="273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cxnSp>
        <p:nvCxnSpPr>
          <p:cNvPr id="1382" name="Google Shape;1382;p40"/>
          <p:cNvCxnSpPr/>
          <p:nvPr/>
        </p:nvCxnSpPr>
        <p:spPr>
          <a:xfrm>
            <a:off x="1587913" y="2537980"/>
            <a:ext cx="436800" cy="864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cxnSp>
        <p:nvCxnSpPr>
          <p:cNvPr id="1383" name="Google Shape;1383;p40"/>
          <p:cNvCxnSpPr/>
          <p:nvPr/>
        </p:nvCxnSpPr>
        <p:spPr>
          <a:xfrm flipH="1" rot="10800000">
            <a:off x="2024682" y="2447054"/>
            <a:ext cx="436800" cy="1773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cxnSp>
        <p:nvCxnSpPr>
          <p:cNvPr id="1384" name="Google Shape;1384;p40"/>
          <p:cNvCxnSpPr/>
          <p:nvPr/>
        </p:nvCxnSpPr>
        <p:spPr>
          <a:xfrm flipH="1" rot="10800000">
            <a:off x="2461451" y="2419759"/>
            <a:ext cx="436800" cy="273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cxnSp>
        <p:nvCxnSpPr>
          <p:cNvPr id="1385" name="Google Shape;1385;p40"/>
          <p:cNvCxnSpPr/>
          <p:nvPr/>
        </p:nvCxnSpPr>
        <p:spPr>
          <a:xfrm flipH="1" rot="10800000">
            <a:off x="2898219" y="2328883"/>
            <a:ext cx="436800" cy="909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cxnSp>
        <p:nvCxnSpPr>
          <p:cNvPr id="1386" name="Google Shape;1386;p40"/>
          <p:cNvCxnSpPr/>
          <p:nvPr/>
        </p:nvCxnSpPr>
        <p:spPr>
          <a:xfrm>
            <a:off x="3334988" y="2328863"/>
            <a:ext cx="436800" cy="9300"/>
          </a:xfrm>
          <a:prstGeom prst="straightConnector1">
            <a:avLst/>
          </a:prstGeom>
          <a:noFill/>
          <a:ln cap="flat" cmpd="sng" w="11900">
            <a:solidFill>
              <a:srgbClr val="FF7F32"/>
            </a:solidFill>
            <a:prstDash val="solid"/>
            <a:round/>
            <a:headEnd len="sm" w="sm" type="none"/>
            <a:tailEnd len="sm" w="sm" type="none"/>
          </a:ln>
          <a:effectLst>
            <a:outerShdw blurRad="20000" rotWithShape="0" dir="5400000" dist="10000">
              <a:srgbClr val="000000">
                <a:alpha val="38040"/>
              </a:srgbClr>
            </a:outerShdw>
          </a:effectLst>
        </p:spPr>
      </p:cxnSp>
      <p:sp>
        <p:nvSpPr>
          <p:cNvPr id="1387" name="Google Shape;1387;p40"/>
          <p:cNvSpPr/>
          <p:nvPr/>
        </p:nvSpPr>
        <p:spPr>
          <a:xfrm>
            <a:off x="689372" y="2503884"/>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88" name="Google Shape;1388;p40"/>
          <p:cNvSpPr txBox="1"/>
          <p:nvPr/>
        </p:nvSpPr>
        <p:spPr>
          <a:xfrm>
            <a:off x="535781" y="2367368"/>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504</a:t>
            </a:r>
            <a:endParaRPr sz="1100"/>
          </a:p>
        </p:txBody>
      </p:sp>
      <p:sp>
        <p:nvSpPr>
          <p:cNvPr id="1389" name="Google Shape;1389;p40"/>
          <p:cNvSpPr/>
          <p:nvPr/>
        </p:nvSpPr>
        <p:spPr>
          <a:xfrm>
            <a:off x="1126141" y="2485700"/>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0" name="Google Shape;1390;p40"/>
          <p:cNvSpPr txBox="1"/>
          <p:nvPr/>
        </p:nvSpPr>
        <p:spPr>
          <a:xfrm>
            <a:off x="972550" y="2349183"/>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508</a:t>
            </a:r>
            <a:endParaRPr sz="1100"/>
          </a:p>
        </p:txBody>
      </p:sp>
      <p:sp>
        <p:nvSpPr>
          <p:cNvPr id="1391" name="Google Shape;1391;p40"/>
          <p:cNvSpPr/>
          <p:nvPr/>
        </p:nvSpPr>
        <p:spPr>
          <a:xfrm>
            <a:off x="1562910" y="2512976"/>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2" name="Google Shape;1392;p40"/>
          <p:cNvSpPr txBox="1"/>
          <p:nvPr/>
        </p:nvSpPr>
        <p:spPr>
          <a:xfrm>
            <a:off x="1409319" y="2376459"/>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502</a:t>
            </a:r>
            <a:endParaRPr sz="1100"/>
          </a:p>
        </p:txBody>
      </p:sp>
      <p:sp>
        <p:nvSpPr>
          <p:cNvPr id="1393" name="Google Shape;1393;p40"/>
          <p:cNvSpPr/>
          <p:nvPr/>
        </p:nvSpPr>
        <p:spPr>
          <a:xfrm>
            <a:off x="1999679" y="2599351"/>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4" name="Google Shape;1394;p40"/>
          <p:cNvSpPr txBox="1"/>
          <p:nvPr/>
        </p:nvSpPr>
        <p:spPr>
          <a:xfrm>
            <a:off x="1846088" y="2462834"/>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483</a:t>
            </a:r>
            <a:endParaRPr sz="1100"/>
          </a:p>
        </p:txBody>
      </p:sp>
      <p:sp>
        <p:nvSpPr>
          <p:cNvPr id="1395" name="Google Shape;1395;p40"/>
          <p:cNvSpPr/>
          <p:nvPr/>
        </p:nvSpPr>
        <p:spPr>
          <a:xfrm>
            <a:off x="2436447" y="2422056"/>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6" name="Google Shape;1396;p40"/>
          <p:cNvSpPr txBox="1"/>
          <p:nvPr/>
        </p:nvSpPr>
        <p:spPr>
          <a:xfrm>
            <a:off x="2282857" y="2285539"/>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522</a:t>
            </a:r>
            <a:endParaRPr sz="1100"/>
          </a:p>
        </p:txBody>
      </p:sp>
      <p:sp>
        <p:nvSpPr>
          <p:cNvPr id="1397" name="Google Shape;1397;p40"/>
          <p:cNvSpPr/>
          <p:nvPr/>
        </p:nvSpPr>
        <p:spPr>
          <a:xfrm>
            <a:off x="2873216" y="2394780"/>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8" name="Google Shape;1398;p40"/>
          <p:cNvSpPr txBox="1"/>
          <p:nvPr/>
        </p:nvSpPr>
        <p:spPr>
          <a:xfrm>
            <a:off x="2719626" y="2258263"/>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528</a:t>
            </a:r>
            <a:endParaRPr sz="1100"/>
          </a:p>
        </p:txBody>
      </p:sp>
      <p:sp>
        <p:nvSpPr>
          <p:cNvPr id="1399" name="Google Shape;1399;p40"/>
          <p:cNvSpPr/>
          <p:nvPr/>
        </p:nvSpPr>
        <p:spPr>
          <a:xfrm>
            <a:off x="3309986" y="2303859"/>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00" name="Google Shape;1400;p40"/>
          <p:cNvSpPr txBox="1"/>
          <p:nvPr/>
        </p:nvSpPr>
        <p:spPr>
          <a:xfrm>
            <a:off x="3156395" y="2167343"/>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548</a:t>
            </a:r>
            <a:endParaRPr sz="1100"/>
          </a:p>
        </p:txBody>
      </p:sp>
      <p:sp>
        <p:nvSpPr>
          <p:cNvPr id="1401" name="Google Shape;1401;p40"/>
          <p:cNvSpPr/>
          <p:nvPr/>
        </p:nvSpPr>
        <p:spPr>
          <a:xfrm>
            <a:off x="3746754" y="2312951"/>
            <a:ext cx="50100" cy="50100"/>
          </a:xfrm>
          <a:prstGeom prst="ellipse">
            <a:avLst/>
          </a:prstGeom>
          <a:solidFill>
            <a:srgbClr val="FFFFFF"/>
          </a:solidFill>
          <a:ln cap="flat" cmpd="sng" w="9525">
            <a:solidFill>
              <a:srgbClr val="FF7F3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02" name="Google Shape;1402;p40"/>
          <p:cNvSpPr txBox="1"/>
          <p:nvPr/>
        </p:nvSpPr>
        <p:spPr>
          <a:xfrm>
            <a:off x="3593163" y="2176434"/>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FF7F32"/>
                </a:solidFill>
                <a:latin typeface="Lexend"/>
                <a:ea typeface="Lexend"/>
                <a:cs typeface="Lexend"/>
                <a:sym typeface="Lexend"/>
              </a:rPr>
              <a:t>546</a:t>
            </a:r>
            <a:endParaRPr sz="1100"/>
          </a:p>
        </p:txBody>
      </p:sp>
      <p:sp>
        <p:nvSpPr>
          <p:cNvPr id="1403" name="Google Shape;1403;p40"/>
          <p:cNvSpPr txBox="1"/>
          <p:nvPr/>
        </p:nvSpPr>
        <p:spPr>
          <a:xfrm>
            <a:off x="535781"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06/07</a:t>
            </a:r>
            <a:endParaRPr sz="1100"/>
          </a:p>
        </p:txBody>
      </p:sp>
      <p:sp>
        <p:nvSpPr>
          <p:cNvPr id="1404" name="Google Shape;1404;p40"/>
          <p:cNvSpPr txBox="1"/>
          <p:nvPr/>
        </p:nvSpPr>
        <p:spPr>
          <a:xfrm>
            <a:off x="972550"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13/07</a:t>
            </a:r>
            <a:endParaRPr sz="1100"/>
          </a:p>
        </p:txBody>
      </p:sp>
      <p:sp>
        <p:nvSpPr>
          <p:cNvPr id="1405" name="Google Shape;1405;p40"/>
          <p:cNvSpPr txBox="1"/>
          <p:nvPr/>
        </p:nvSpPr>
        <p:spPr>
          <a:xfrm>
            <a:off x="1409319"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20/07</a:t>
            </a:r>
            <a:endParaRPr sz="1100"/>
          </a:p>
        </p:txBody>
      </p:sp>
      <p:sp>
        <p:nvSpPr>
          <p:cNvPr id="1406" name="Google Shape;1406;p40"/>
          <p:cNvSpPr txBox="1"/>
          <p:nvPr/>
        </p:nvSpPr>
        <p:spPr>
          <a:xfrm>
            <a:off x="1846088"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27/07</a:t>
            </a:r>
            <a:endParaRPr sz="1100"/>
          </a:p>
        </p:txBody>
      </p:sp>
      <p:sp>
        <p:nvSpPr>
          <p:cNvPr id="1407" name="Google Shape;1407;p40"/>
          <p:cNvSpPr txBox="1"/>
          <p:nvPr/>
        </p:nvSpPr>
        <p:spPr>
          <a:xfrm>
            <a:off x="2282857"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03/08</a:t>
            </a:r>
            <a:endParaRPr sz="1100"/>
          </a:p>
        </p:txBody>
      </p:sp>
      <p:sp>
        <p:nvSpPr>
          <p:cNvPr id="1408" name="Google Shape;1408;p40"/>
          <p:cNvSpPr txBox="1"/>
          <p:nvPr/>
        </p:nvSpPr>
        <p:spPr>
          <a:xfrm>
            <a:off x="2719626"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10/08</a:t>
            </a:r>
            <a:endParaRPr sz="1100"/>
          </a:p>
        </p:txBody>
      </p:sp>
      <p:sp>
        <p:nvSpPr>
          <p:cNvPr id="1409" name="Google Shape;1409;p40"/>
          <p:cNvSpPr txBox="1"/>
          <p:nvPr/>
        </p:nvSpPr>
        <p:spPr>
          <a:xfrm>
            <a:off x="3156395"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17/08</a:t>
            </a:r>
            <a:endParaRPr sz="1100"/>
          </a:p>
        </p:txBody>
      </p:sp>
      <p:sp>
        <p:nvSpPr>
          <p:cNvPr id="1410" name="Google Shape;1410;p40"/>
          <p:cNvSpPr txBox="1"/>
          <p:nvPr/>
        </p:nvSpPr>
        <p:spPr>
          <a:xfrm>
            <a:off x="3593163" y="3288911"/>
            <a:ext cx="357300" cy="12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374151"/>
                </a:solidFill>
                <a:latin typeface="Lexend"/>
                <a:ea typeface="Lexend"/>
                <a:cs typeface="Lexend"/>
                <a:sym typeface="Lexend"/>
              </a:rPr>
              <a:t>24/08</a:t>
            </a:r>
            <a:endParaRPr sz="1100"/>
          </a:p>
        </p:txBody>
      </p:sp>
      <p:sp>
        <p:nvSpPr>
          <p:cNvPr id="1411" name="Google Shape;1411;p40"/>
          <p:cNvSpPr/>
          <p:nvPr/>
        </p:nvSpPr>
        <p:spPr>
          <a:xfrm>
            <a:off x="4229100" y="1628775"/>
            <a:ext cx="4572000" cy="1971600"/>
          </a:xfrm>
          <a:prstGeom prst="roundRect">
            <a:avLst>
              <a:gd fmla="val 5797"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2" name="Google Shape;1412;p40"/>
          <p:cNvSpPr txBox="1"/>
          <p:nvPr/>
        </p:nvSpPr>
        <p:spPr>
          <a:xfrm>
            <a:off x="4429125" y="1709928"/>
            <a:ext cx="41721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Phân phối STP Complete · TB 4 tuần</a:t>
            </a:r>
            <a:endParaRPr sz="1100"/>
          </a:p>
        </p:txBody>
      </p:sp>
      <p:sp>
        <p:nvSpPr>
          <p:cNvPr id="1413" name="Google Shape;1413;p40"/>
          <p:cNvSpPr txBox="1"/>
          <p:nvPr/>
        </p:nvSpPr>
        <p:spPr>
          <a:xfrm>
            <a:off x="4429125" y="1898880"/>
            <a:ext cx="41721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percentile của stp_complete trong tuần</a:t>
            </a:r>
            <a:endParaRPr sz="1100"/>
          </a:p>
        </p:txBody>
      </p:sp>
      <p:sp>
        <p:nvSpPr>
          <p:cNvPr id="1414" name="Google Shape;1414;p40"/>
          <p:cNvSpPr txBox="1"/>
          <p:nvPr/>
        </p:nvSpPr>
        <p:spPr>
          <a:xfrm>
            <a:off x="5179219" y="2084618"/>
            <a:ext cx="1428900" cy="14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1A5490"/>
                </a:solidFill>
                <a:latin typeface="Lexend"/>
                <a:ea typeface="Lexend"/>
                <a:cs typeface="Lexend"/>
                <a:sym typeface="Lexend"/>
              </a:rPr>
              <a:t>HAN</a:t>
            </a:r>
            <a:endParaRPr sz="1100"/>
          </a:p>
        </p:txBody>
      </p:sp>
      <p:sp>
        <p:nvSpPr>
          <p:cNvPr id="1415" name="Google Shape;1415;p40"/>
          <p:cNvSpPr txBox="1"/>
          <p:nvPr/>
        </p:nvSpPr>
        <p:spPr>
          <a:xfrm>
            <a:off x="6993731" y="2084618"/>
            <a:ext cx="1428900" cy="14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E0641A"/>
                </a:solidFill>
                <a:latin typeface="Lexend"/>
                <a:ea typeface="Lexend"/>
                <a:cs typeface="Lexend"/>
                <a:sym typeface="Lexend"/>
              </a:rPr>
              <a:t>HCM</a:t>
            </a:r>
            <a:endParaRPr sz="1100"/>
          </a:p>
        </p:txBody>
      </p:sp>
      <p:sp>
        <p:nvSpPr>
          <p:cNvPr id="1416" name="Google Shape;1416;p40"/>
          <p:cNvSpPr/>
          <p:nvPr/>
        </p:nvSpPr>
        <p:spPr>
          <a:xfrm>
            <a:off x="6797279" y="2128838"/>
            <a:ext cx="7200" cy="13287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7" name="Google Shape;1417;p40"/>
          <p:cNvSpPr txBox="1"/>
          <p:nvPr/>
        </p:nvSpPr>
        <p:spPr>
          <a:xfrm>
            <a:off x="4429125" y="2269891"/>
            <a:ext cx="7860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PERCENTILE</a:t>
            </a:r>
            <a:endParaRPr sz="1100"/>
          </a:p>
        </p:txBody>
      </p:sp>
      <p:sp>
        <p:nvSpPr>
          <p:cNvPr id="1418" name="Google Shape;1418;p40"/>
          <p:cNvSpPr txBox="1"/>
          <p:nvPr/>
        </p:nvSpPr>
        <p:spPr>
          <a:xfrm>
            <a:off x="5100638" y="2269891"/>
            <a:ext cx="4002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T7</a:t>
            </a:r>
            <a:endParaRPr sz="1100"/>
          </a:p>
        </p:txBody>
      </p:sp>
      <p:sp>
        <p:nvSpPr>
          <p:cNvPr id="1419" name="Google Shape;1419;p40"/>
          <p:cNvSpPr txBox="1"/>
          <p:nvPr/>
        </p:nvSpPr>
        <p:spPr>
          <a:xfrm>
            <a:off x="6915150" y="2269891"/>
            <a:ext cx="4002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T7</a:t>
            </a:r>
            <a:endParaRPr sz="1100"/>
          </a:p>
        </p:txBody>
      </p:sp>
      <p:sp>
        <p:nvSpPr>
          <p:cNvPr id="1420" name="Google Shape;1420;p40"/>
          <p:cNvSpPr txBox="1"/>
          <p:nvPr/>
        </p:nvSpPr>
        <p:spPr>
          <a:xfrm>
            <a:off x="5564981" y="2269891"/>
            <a:ext cx="4002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T8</a:t>
            </a:r>
            <a:endParaRPr sz="1100"/>
          </a:p>
        </p:txBody>
      </p:sp>
      <p:sp>
        <p:nvSpPr>
          <p:cNvPr id="1421" name="Google Shape;1421;p40"/>
          <p:cNvSpPr txBox="1"/>
          <p:nvPr/>
        </p:nvSpPr>
        <p:spPr>
          <a:xfrm>
            <a:off x="7379494" y="2269891"/>
            <a:ext cx="4002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T8</a:t>
            </a:r>
            <a:endParaRPr sz="1100"/>
          </a:p>
        </p:txBody>
      </p:sp>
      <p:sp>
        <p:nvSpPr>
          <p:cNvPr id="1422" name="Google Shape;1422;p40"/>
          <p:cNvSpPr txBox="1"/>
          <p:nvPr/>
        </p:nvSpPr>
        <p:spPr>
          <a:xfrm>
            <a:off x="6272213" y="2269891"/>
            <a:ext cx="5001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600">
                <a:solidFill>
                  <a:srgbClr val="9CA3AF"/>
                </a:solidFill>
                <a:latin typeface="Lexend"/>
                <a:ea typeface="Lexend"/>
                <a:cs typeface="Lexend"/>
                <a:sym typeface="Lexend"/>
              </a:rPr>
              <a:t>%Δ</a:t>
            </a:r>
            <a:endParaRPr sz="1100"/>
          </a:p>
        </p:txBody>
      </p:sp>
      <p:sp>
        <p:nvSpPr>
          <p:cNvPr id="1423" name="Google Shape;1423;p40"/>
          <p:cNvSpPr txBox="1"/>
          <p:nvPr/>
        </p:nvSpPr>
        <p:spPr>
          <a:xfrm>
            <a:off x="8086725" y="2269891"/>
            <a:ext cx="5001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600">
                <a:solidFill>
                  <a:srgbClr val="9CA3AF"/>
                </a:solidFill>
                <a:latin typeface="Lexend"/>
                <a:ea typeface="Lexend"/>
                <a:cs typeface="Lexend"/>
                <a:sym typeface="Lexend"/>
              </a:rPr>
              <a:t>%Δ</a:t>
            </a:r>
            <a:endParaRPr sz="1100"/>
          </a:p>
        </p:txBody>
      </p:sp>
      <p:sp>
        <p:nvSpPr>
          <p:cNvPr id="1424" name="Google Shape;1424;p40"/>
          <p:cNvSpPr/>
          <p:nvPr/>
        </p:nvSpPr>
        <p:spPr>
          <a:xfrm>
            <a:off x="4429125" y="2411016"/>
            <a:ext cx="41721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5" name="Google Shape;1425;p40"/>
          <p:cNvSpPr txBox="1"/>
          <p:nvPr/>
        </p:nvSpPr>
        <p:spPr>
          <a:xfrm>
            <a:off x="4429125" y="2499419"/>
            <a:ext cx="5715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P25</a:t>
            </a:r>
            <a:endParaRPr sz="1100"/>
          </a:p>
        </p:txBody>
      </p:sp>
      <p:sp>
        <p:nvSpPr>
          <p:cNvPr id="1426" name="Google Shape;1426;p40"/>
          <p:cNvSpPr/>
          <p:nvPr/>
        </p:nvSpPr>
        <p:spPr>
          <a:xfrm>
            <a:off x="5000625" y="2486025"/>
            <a:ext cx="1757400" cy="171600"/>
          </a:xfrm>
          <a:prstGeom prst="roundRect">
            <a:avLst>
              <a:gd fmla="val 25000"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7" name="Google Shape;1427;p40"/>
          <p:cNvSpPr txBox="1"/>
          <p:nvPr/>
        </p:nvSpPr>
        <p:spPr>
          <a:xfrm>
            <a:off x="5100638" y="2508635"/>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10,75</a:t>
            </a:r>
            <a:endParaRPr sz="1100"/>
          </a:p>
        </p:txBody>
      </p:sp>
      <p:sp>
        <p:nvSpPr>
          <p:cNvPr id="1428" name="Google Shape;1428;p40"/>
          <p:cNvSpPr txBox="1"/>
          <p:nvPr/>
        </p:nvSpPr>
        <p:spPr>
          <a:xfrm>
            <a:off x="5564981" y="2499419"/>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F7A5A"/>
                </a:solidFill>
                <a:latin typeface="Lexend"/>
                <a:ea typeface="Lexend"/>
                <a:cs typeface="Lexend"/>
                <a:sym typeface="Lexend"/>
              </a:rPr>
              <a:t>12,00</a:t>
            </a:r>
            <a:endParaRPr sz="1100"/>
          </a:p>
        </p:txBody>
      </p:sp>
      <p:sp>
        <p:nvSpPr>
          <p:cNvPr id="1429" name="Google Shape;1429;p40"/>
          <p:cNvSpPr txBox="1"/>
          <p:nvPr/>
        </p:nvSpPr>
        <p:spPr>
          <a:xfrm>
            <a:off x="6272213" y="2504027"/>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F7A5A"/>
                </a:solidFill>
                <a:latin typeface="Lexend"/>
                <a:ea typeface="Lexend"/>
                <a:cs typeface="Lexend"/>
                <a:sym typeface="Lexend"/>
              </a:rPr>
              <a:t>+11,6%</a:t>
            </a:r>
            <a:endParaRPr sz="1100"/>
          </a:p>
        </p:txBody>
      </p:sp>
      <p:sp>
        <p:nvSpPr>
          <p:cNvPr id="1430" name="Google Shape;1430;p40"/>
          <p:cNvSpPr txBox="1"/>
          <p:nvPr/>
        </p:nvSpPr>
        <p:spPr>
          <a:xfrm>
            <a:off x="6915150" y="2508635"/>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10,00</a:t>
            </a:r>
            <a:endParaRPr sz="1100"/>
          </a:p>
        </p:txBody>
      </p:sp>
      <p:sp>
        <p:nvSpPr>
          <p:cNvPr id="1431" name="Google Shape;1431;p40"/>
          <p:cNvSpPr txBox="1"/>
          <p:nvPr/>
        </p:nvSpPr>
        <p:spPr>
          <a:xfrm>
            <a:off x="7379494" y="2499419"/>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10,50</a:t>
            </a:r>
            <a:endParaRPr sz="1100"/>
          </a:p>
        </p:txBody>
      </p:sp>
      <p:sp>
        <p:nvSpPr>
          <p:cNvPr id="1432" name="Google Shape;1432;p40"/>
          <p:cNvSpPr txBox="1"/>
          <p:nvPr/>
        </p:nvSpPr>
        <p:spPr>
          <a:xfrm>
            <a:off x="8086725" y="2504027"/>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+5,0%</a:t>
            </a:r>
            <a:endParaRPr sz="1100"/>
          </a:p>
        </p:txBody>
      </p:sp>
      <p:sp>
        <p:nvSpPr>
          <p:cNvPr id="1433" name="Google Shape;1433;p40"/>
          <p:cNvSpPr txBox="1"/>
          <p:nvPr/>
        </p:nvSpPr>
        <p:spPr>
          <a:xfrm>
            <a:off x="4429125" y="2685157"/>
            <a:ext cx="5715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P50</a:t>
            </a:r>
            <a:endParaRPr sz="1100"/>
          </a:p>
        </p:txBody>
      </p:sp>
      <p:sp>
        <p:nvSpPr>
          <p:cNvPr id="1434" name="Google Shape;1434;p40"/>
          <p:cNvSpPr txBox="1"/>
          <p:nvPr/>
        </p:nvSpPr>
        <p:spPr>
          <a:xfrm>
            <a:off x="5100638" y="2694373"/>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29,75</a:t>
            </a:r>
            <a:endParaRPr sz="1100"/>
          </a:p>
        </p:txBody>
      </p:sp>
      <p:sp>
        <p:nvSpPr>
          <p:cNvPr id="1435" name="Google Shape;1435;p40"/>
          <p:cNvSpPr txBox="1"/>
          <p:nvPr/>
        </p:nvSpPr>
        <p:spPr>
          <a:xfrm>
            <a:off x="5564981" y="2685157"/>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32,00</a:t>
            </a:r>
            <a:endParaRPr sz="1100"/>
          </a:p>
        </p:txBody>
      </p:sp>
      <p:sp>
        <p:nvSpPr>
          <p:cNvPr id="1436" name="Google Shape;1436;p40"/>
          <p:cNvSpPr txBox="1"/>
          <p:nvPr/>
        </p:nvSpPr>
        <p:spPr>
          <a:xfrm>
            <a:off x="6272213" y="2689765"/>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+7,6%</a:t>
            </a:r>
            <a:endParaRPr sz="1100"/>
          </a:p>
        </p:txBody>
      </p:sp>
      <p:sp>
        <p:nvSpPr>
          <p:cNvPr id="1437" name="Google Shape;1437;p40"/>
          <p:cNvSpPr txBox="1"/>
          <p:nvPr/>
        </p:nvSpPr>
        <p:spPr>
          <a:xfrm>
            <a:off x="6915150" y="2694373"/>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29,00</a:t>
            </a:r>
            <a:endParaRPr sz="1100"/>
          </a:p>
        </p:txBody>
      </p:sp>
      <p:sp>
        <p:nvSpPr>
          <p:cNvPr id="1438" name="Google Shape;1438;p40"/>
          <p:cNvSpPr txBox="1"/>
          <p:nvPr/>
        </p:nvSpPr>
        <p:spPr>
          <a:xfrm>
            <a:off x="7379494" y="2685157"/>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30,50</a:t>
            </a:r>
            <a:endParaRPr sz="1100"/>
          </a:p>
        </p:txBody>
      </p:sp>
      <p:sp>
        <p:nvSpPr>
          <p:cNvPr id="1439" name="Google Shape;1439;p40"/>
          <p:cNvSpPr txBox="1"/>
          <p:nvPr/>
        </p:nvSpPr>
        <p:spPr>
          <a:xfrm>
            <a:off x="8086725" y="2689765"/>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+5,2%</a:t>
            </a:r>
            <a:endParaRPr sz="1100"/>
          </a:p>
        </p:txBody>
      </p:sp>
      <p:sp>
        <p:nvSpPr>
          <p:cNvPr id="1440" name="Google Shape;1440;p40"/>
          <p:cNvSpPr txBox="1"/>
          <p:nvPr/>
        </p:nvSpPr>
        <p:spPr>
          <a:xfrm>
            <a:off x="4429125" y="2870894"/>
            <a:ext cx="5715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P75</a:t>
            </a:r>
            <a:endParaRPr sz="1100"/>
          </a:p>
        </p:txBody>
      </p:sp>
      <p:sp>
        <p:nvSpPr>
          <p:cNvPr id="1441" name="Google Shape;1441;p40"/>
          <p:cNvSpPr/>
          <p:nvPr/>
        </p:nvSpPr>
        <p:spPr>
          <a:xfrm>
            <a:off x="5000625" y="2857500"/>
            <a:ext cx="1757400" cy="171600"/>
          </a:xfrm>
          <a:prstGeom prst="roundRect">
            <a:avLst>
              <a:gd fmla="val 25000"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2" name="Google Shape;1442;p40"/>
          <p:cNvSpPr txBox="1"/>
          <p:nvPr/>
        </p:nvSpPr>
        <p:spPr>
          <a:xfrm>
            <a:off x="5100638" y="2880110"/>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65,25</a:t>
            </a:r>
            <a:endParaRPr sz="1100"/>
          </a:p>
        </p:txBody>
      </p:sp>
      <p:sp>
        <p:nvSpPr>
          <p:cNvPr id="1443" name="Google Shape;1443;p40"/>
          <p:cNvSpPr txBox="1"/>
          <p:nvPr/>
        </p:nvSpPr>
        <p:spPr>
          <a:xfrm>
            <a:off x="5564981" y="2870894"/>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F7A5A"/>
                </a:solidFill>
                <a:latin typeface="Lexend"/>
                <a:ea typeface="Lexend"/>
                <a:cs typeface="Lexend"/>
                <a:sym typeface="Lexend"/>
              </a:rPr>
              <a:t>73,75</a:t>
            </a:r>
            <a:endParaRPr sz="1100"/>
          </a:p>
        </p:txBody>
      </p:sp>
      <p:sp>
        <p:nvSpPr>
          <p:cNvPr id="1444" name="Google Shape;1444;p40"/>
          <p:cNvSpPr txBox="1"/>
          <p:nvPr/>
        </p:nvSpPr>
        <p:spPr>
          <a:xfrm>
            <a:off x="6272213" y="2875502"/>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F7A5A"/>
                </a:solidFill>
                <a:latin typeface="Lexend"/>
                <a:ea typeface="Lexend"/>
                <a:cs typeface="Lexend"/>
                <a:sym typeface="Lexend"/>
              </a:rPr>
              <a:t>+13,0%</a:t>
            </a:r>
            <a:endParaRPr sz="1100"/>
          </a:p>
        </p:txBody>
      </p:sp>
      <p:sp>
        <p:nvSpPr>
          <p:cNvPr id="1445" name="Google Shape;1445;p40"/>
          <p:cNvSpPr/>
          <p:nvPr/>
        </p:nvSpPr>
        <p:spPr>
          <a:xfrm>
            <a:off x="6815138" y="2857500"/>
            <a:ext cx="1785900" cy="171600"/>
          </a:xfrm>
          <a:prstGeom prst="roundRect">
            <a:avLst>
              <a:gd fmla="val 25000" name="adj"/>
            </a:avLst>
          </a:prstGeom>
          <a:solidFill>
            <a:srgbClr val="FDECE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6" name="Google Shape;1446;p40"/>
          <p:cNvSpPr txBox="1"/>
          <p:nvPr/>
        </p:nvSpPr>
        <p:spPr>
          <a:xfrm>
            <a:off x="6915150" y="2880110"/>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67,00</a:t>
            </a:r>
            <a:endParaRPr sz="1100"/>
          </a:p>
        </p:txBody>
      </p:sp>
      <p:sp>
        <p:nvSpPr>
          <p:cNvPr id="1447" name="Google Shape;1447;p40"/>
          <p:cNvSpPr txBox="1"/>
          <p:nvPr/>
        </p:nvSpPr>
        <p:spPr>
          <a:xfrm>
            <a:off x="7379494" y="2870894"/>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C0392B"/>
                </a:solidFill>
                <a:latin typeface="Lexend"/>
                <a:ea typeface="Lexend"/>
                <a:cs typeface="Lexend"/>
                <a:sym typeface="Lexend"/>
              </a:rPr>
              <a:t>66,50</a:t>
            </a:r>
            <a:endParaRPr sz="1100"/>
          </a:p>
        </p:txBody>
      </p:sp>
      <p:sp>
        <p:nvSpPr>
          <p:cNvPr id="1448" name="Google Shape;1448;p40"/>
          <p:cNvSpPr txBox="1"/>
          <p:nvPr/>
        </p:nvSpPr>
        <p:spPr>
          <a:xfrm>
            <a:off x="8086725" y="2875502"/>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C0392B"/>
                </a:solidFill>
                <a:latin typeface="Lexend"/>
                <a:ea typeface="Lexend"/>
                <a:cs typeface="Lexend"/>
                <a:sym typeface="Lexend"/>
              </a:rPr>
              <a:t>−0,7%</a:t>
            </a:r>
            <a:endParaRPr sz="1100"/>
          </a:p>
        </p:txBody>
      </p:sp>
      <p:sp>
        <p:nvSpPr>
          <p:cNvPr id="1449" name="Google Shape;1449;p40"/>
          <p:cNvSpPr txBox="1"/>
          <p:nvPr/>
        </p:nvSpPr>
        <p:spPr>
          <a:xfrm>
            <a:off x="4429125" y="3056632"/>
            <a:ext cx="5715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P90</a:t>
            </a:r>
            <a:endParaRPr sz="1100"/>
          </a:p>
        </p:txBody>
      </p:sp>
      <p:sp>
        <p:nvSpPr>
          <p:cNvPr id="1450" name="Google Shape;1450;p40"/>
          <p:cNvSpPr txBox="1"/>
          <p:nvPr/>
        </p:nvSpPr>
        <p:spPr>
          <a:xfrm>
            <a:off x="5100638" y="3065848"/>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136,25</a:t>
            </a:r>
            <a:endParaRPr sz="1100"/>
          </a:p>
        </p:txBody>
      </p:sp>
      <p:sp>
        <p:nvSpPr>
          <p:cNvPr id="1451" name="Google Shape;1451;p40"/>
          <p:cNvSpPr txBox="1"/>
          <p:nvPr/>
        </p:nvSpPr>
        <p:spPr>
          <a:xfrm>
            <a:off x="5564981" y="3056632"/>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138,50</a:t>
            </a:r>
            <a:endParaRPr sz="1100"/>
          </a:p>
        </p:txBody>
      </p:sp>
      <p:sp>
        <p:nvSpPr>
          <p:cNvPr id="1452" name="Google Shape;1452;p40"/>
          <p:cNvSpPr txBox="1"/>
          <p:nvPr/>
        </p:nvSpPr>
        <p:spPr>
          <a:xfrm>
            <a:off x="6272213" y="3061240"/>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+1,7%</a:t>
            </a:r>
            <a:endParaRPr sz="1100"/>
          </a:p>
        </p:txBody>
      </p:sp>
      <p:sp>
        <p:nvSpPr>
          <p:cNvPr id="1453" name="Google Shape;1453;p40"/>
          <p:cNvSpPr/>
          <p:nvPr/>
        </p:nvSpPr>
        <p:spPr>
          <a:xfrm>
            <a:off x="6815138" y="3043238"/>
            <a:ext cx="1785900" cy="171600"/>
          </a:xfrm>
          <a:prstGeom prst="roundRect">
            <a:avLst>
              <a:gd fmla="val 25000"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4" name="Google Shape;1454;p40"/>
          <p:cNvSpPr txBox="1"/>
          <p:nvPr/>
        </p:nvSpPr>
        <p:spPr>
          <a:xfrm>
            <a:off x="6915150" y="3065848"/>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114,25</a:t>
            </a:r>
            <a:endParaRPr sz="1100"/>
          </a:p>
        </p:txBody>
      </p:sp>
      <p:sp>
        <p:nvSpPr>
          <p:cNvPr id="1455" name="Google Shape;1455;p40"/>
          <p:cNvSpPr txBox="1"/>
          <p:nvPr/>
        </p:nvSpPr>
        <p:spPr>
          <a:xfrm>
            <a:off x="7379494" y="3056632"/>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F7A5A"/>
                </a:solidFill>
                <a:latin typeface="Lexend"/>
                <a:ea typeface="Lexend"/>
                <a:cs typeface="Lexend"/>
                <a:sym typeface="Lexend"/>
              </a:rPr>
              <a:t>122,50</a:t>
            </a:r>
            <a:endParaRPr sz="1100"/>
          </a:p>
        </p:txBody>
      </p:sp>
      <p:sp>
        <p:nvSpPr>
          <p:cNvPr id="1456" name="Google Shape;1456;p40"/>
          <p:cNvSpPr txBox="1"/>
          <p:nvPr/>
        </p:nvSpPr>
        <p:spPr>
          <a:xfrm>
            <a:off x="8086725" y="3061240"/>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F7A5A"/>
                </a:solidFill>
                <a:latin typeface="Lexend"/>
                <a:ea typeface="Lexend"/>
                <a:cs typeface="Lexend"/>
                <a:sym typeface="Lexend"/>
              </a:rPr>
              <a:t>+7,2%</a:t>
            </a:r>
            <a:endParaRPr sz="1100"/>
          </a:p>
        </p:txBody>
      </p:sp>
      <p:sp>
        <p:nvSpPr>
          <p:cNvPr id="1457" name="Google Shape;1457;p40"/>
          <p:cNvSpPr txBox="1"/>
          <p:nvPr/>
        </p:nvSpPr>
        <p:spPr>
          <a:xfrm>
            <a:off x="4429125" y="3242369"/>
            <a:ext cx="5715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P95</a:t>
            </a:r>
            <a:endParaRPr sz="1100"/>
          </a:p>
        </p:txBody>
      </p:sp>
      <p:sp>
        <p:nvSpPr>
          <p:cNvPr id="1458" name="Google Shape;1458;p40"/>
          <p:cNvSpPr/>
          <p:nvPr/>
        </p:nvSpPr>
        <p:spPr>
          <a:xfrm>
            <a:off x="5000625" y="3228975"/>
            <a:ext cx="1757400" cy="171600"/>
          </a:xfrm>
          <a:prstGeom prst="roundRect">
            <a:avLst>
              <a:gd fmla="val 25000" name="adj"/>
            </a:avLst>
          </a:prstGeom>
          <a:solidFill>
            <a:srgbClr val="FDECE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9" name="Google Shape;1459;p40"/>
          <p:cNvSpPr txBox="1"/>
          <p:nvPr/>
        </p:nvSpPr>
        <p:spPr>
          <a:xfrm>
            <a:off x="5100638" y="3251585"/>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202,75</a:t>
            </a:r>
            <a:endParaRPr sz="1100"/>
          </a:p>
        </p:txBody>
      </p:sp>
      <p:sp>
        <p:nvSpPr>
          <p:cNvPr id="1460" name="Google Shape;1460;p40"/>
          <p:cNvSpPr txBox="1"/>
          <p:nvPr/>
        </p:nvSpPr>
        <p:spPr>
          <a:xfrm>
            <a:off x="5564981" y="3242369"/>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C0392B"/>
                </a:solidFill>
                <a:latin typeface="Lexend"/>
                <a:ea typeface="Lexend"/>
                <a:cs typeface="Lexend"/>
                <a:sym typeface="Lexend"/>
              </a:rPr>
              <a:t>193,50</a:t>
            </a:r>
            <a:endParaRPr sz="1100"/>
          </a:p>
        </p:txBody>
      </p:sp>
      <p:sp>
        <p:nvSpPr>
          <p:cNvPr id="1461" name="Google Shape;1461;p40"/>
          <p:cNvSpPr txBox="1"/>
          <p:nvPr/>
        </p:nvSpPr>
        <p:spPr>
          <a:xfrm>
            <a:off x="6272213" y="3246977"/>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C0392B"/>
                </a:solidFill>
                <a:latin typeface="Lexend"/>
                <a:ea typeface="Lexend"/>
                <a:cs typeface="Lexend"/>
                <a:sym typeface="Lexend"/>
              </a:rPr>
              <a:t>−4,6%</a:t>
            </a:r>
            <a:endParaRPr sz="1100"/>
          </a:p>
        </p:txBody>
      </p:sp>
      <p:sp>
        <p:nvSpPr>
          <p:cNvPr id="1462" name="Google Shape;1462;p40"/>
          <p:cNvSpPr/>
          <p:nvPr/>
        </p:nvSpPr>
        <p:spPr>
          <a:xfrm>
            <a:off x="6815138" y="3228975"/>
            <a:ext cx="1785900" cy="171600"/>
          </a:xfrm>
          <a:prstGeom prst="roundRect">
            <a:avLst>
              <a:gd fmla="val 25000"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3" name="Google Shape;1463;p40"/>
          <p:cNvSpPr txBox="1"/>
          <p:nvPr/>
        </p:nvSpPr>
        <p:spPr>
          <a:xfrm>
            <a:off x="6915150" y="3251585"/>
            <a:ext cx="400200" cy="15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700">
                <a:solidFill>
                  <a:srgbClr val="6B7280"/>
                </a:solidFill>
                <a:latin typeface="Lexend"/>
                <a:ea typeface="Lexend"/>
                <a:cs typeface="Lexend"/>
                <a:sym typeface="Lexend"/>
              </a:rPr>
              <a:t>154,00</a:t>
            </a:r>
            <a:endParaRPr sz="1100"/>
          </a:p>
        </p:txBody>
      </p:sp>
      <p:sp>
        <p:nvSpPr>
          <p:cNvPr id="1464" name="Google Shape;1464;p40"/>
          <p:cNvSpPr txBox="1"/>
          <p:nvPr/>
        </p:nvSpPr>
        <p:spPr>
          <a:xfrm>
            <a:off x="7379494" y="3242369"/>
            <a:ext cx="4002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F7A5A"/>
                </a:solidFill>
                <a:latin typeface="Lexend"/>
                <a:ea typeface="Lexend"/>
                <a:cs typeface="Lexend"/>
                <a:sym typeface="Lexend"/>
              </a:rPr>
              <a:t>163,00</a:t>
            </a:r>
            <a:endParaRPr sz="1100"/>
          </a:p>
        </p:txBody>
      </p:sp>
      <p:sp>
        <p:nvSpPr>
          <p:cNvPr id="1465" name="Google Shape;1465;p40"/>
          <p:cNvSpPr txBox="1"/>
          <p:nvPr/>
        </p:nvSpPr>
        <p:spPr>
          <a:xfrm>
            <a:off x="8086725" y="3246977"/>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F7A5A"/>
                </a:solidFill>
                <a:latin typeface="Lexend"/>
                <a:ea typeface="Lexend"/>
                <a:cs typeface="Lexend"/>
                <a:sym typeface="Lexend"/>
              </a:rPr>
              <a:t>+5,8%</a:t>
            </a:r>
            <a:endParaRPr sz="1100"/>
          </a:p>
        </p:txBody>
      </p:sp>
      <p:sp>
        <p:nvSpPr>
          <p:cNvPr id="1466" name="Google Shape;1466;p40"/>
          <p:cNvSpPr/>
          <p:nvPr/>
        </p:nvSpPr>
        <p:spPr>
          <a:xfrm>
            <a:off x="342900" y="3714750"/>
            <a:ext cx="5000700" cy="1171800"/>
          </a:xfrm>
          <a:prstGeom prst="roundRect">
            <a:avLst>
              <a:gd fmla="val 9756"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7" name="Google Shape;1467;p40"/>
          <p:cNvSpPr txBox="1"/>
          <p:nvPr/>
        </p:nvSpPr>
        <p:spPr>
          <a:xfrm>
            <a:off x="542925" y="3795903"/>
            <a:ext cx="46008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Hai miền cải thiện ở hai đầu đối lập</a:t>
            </a:r>
            <a:endParaRPr sz="1100"/>
          </a:p>
        </p:txBody>
      </p:sp>
      <p:sp>
        <p:nvSpPr>
          <p:cNvPr id="1468" name="Google Shape;1468;p40"/>
          <p:cNvSpPr txBox="1"/>
          <p:nvPr/>
        </p:nvSpPr>
        <p:spPr>
          <a:xfrm>
            <a:off x="1428750" y="4055828"/>
            <a:ext cx="17859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NHÓM DƯỚI · P25–P75</a:t>
            </a:r>
            <a:endParaRPr sz="1100"/>
          </a:p>
        </p:txBody>
      </p:sp>
      <p:sp>
        <p:nvSpPr>
          <p:cNvPr id="1469" name="Google Shape;1469;p40"/>
          <p:cNvSpPr txBox="1"/>
          <p:nvPr/>
        </p:nvSpPr>
        <p:spPr>
          <a:xfrm>
            <a:off x="3286125" y="4055828"/>
            <a:ext cx="18576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9CA3AF"/>
                </a:solidFill>
                <a:latin typeface="Lexend"/>
                <a:ea typeface="Lexend"/>
                <a:cs typeface="Lexend"/>
                <a:sym typeface="Lexend"/>
              </a:rPr>
              <a:t>NHÓM ĐỈNH · P90–P95</a:t>
            </a:r>
            <a:endParaRPr sz="1100"/>
          </a:p>
        </p:txBody>
      </p:sp>
      <p:sp>
        <p:nvSpPr>
          <p:cNvPr id="1470" name="Google Shape;1470;p40"/>
          <p:cNvSpPr txBox="1"/>
          <p:nvPr/>
        </p:nvSpPr>
        <p:spPr>
          <a:xfrm>
            <a:off x="542925" y="4252175"/>
            <a:ext cx="857400" cy="17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1A5490"/>
                </a:solidFill>
                <a:latin typeface="Lexend"/>
                <a:ea typeface="Lexend"/>
                <a:cs typeface="Lexend"/>
                <a:sym typeface="Lexend"/>
              </a:rPr>
              <a:t>HAN · +5,4%</a:t>
            </a:r>
            <a:endParaRPr sz="1100"/>
          </a:p>
        </p:txBody>
      </p:sp>
      <p:sp>
        <p:nvSpPr>
          <p:cNvPr id="1471" name="Google Shape;1471;p40"/>
          <p:cNvSpPr/>
          <p:nvPr/>
        </p:nvSpPr>
        <p:spPr>
          <a:xfrm>
            <a:off x="1428750" y="4236244"/>
            <a:ext cx="1785900" cy="214500"/>
          </a:xfrm>
          <a:prstGeom prst="roundRect">
            <a:avLst>
              <a:gd fmla="val 26666" name="adj"/>
            </a:avLst>
          </a:prstGeom>
          <a:solidFill>
            <a:srgbClr val="ECFDF5"/>
          </a:solidFill>
          <a:ln cap="flat" cmpd="sng" w="4775">
            <a:solidFill>
              <a:srgbClr val="A7F3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2" name="Google Shape;1472;p40"/>
          <p:cNvSpPr txBox="1"/>
          <p:nvPr/>
        </p:nvSpPr>
        <p:spPr>
          <a:xfrm>
            <a:off x="1485900" y="4270605"/>
            <a:ext cx="1671600" cy="14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0F7A5A"/>
                </a:solidFill>
                <a:latin typeface="Lexend"/>
                <a:ea typeface="Lexend"/>
                <a:cs typeface="Lexend"/>
                <a:sym typeface="Lexend"/>
              </a:rPr>
              <a:t>Tăng mạnh · +7,6% đến +13,0%</a:t>
            </a:r>
            <a:endParaRPr sz="1100"/>
          </a:p>
        </p:txBody>
      </p:sp>
      <p:sp>
        <p:nvSpPr>
          <p:cNvPr id="1473" name="Google Shape;1473;p40"/>
          <p:cNvSpPr/>
          <p:nvPr/>
        </p:nvSpPr>
        <p:spPr>
          <a:xfrm>
            <a:off x="3286125" y="4236244"/>
            <a:ext cx="1857600" cy="214500"/>
          </a:xfrm>
          <a:prstGeom prst="roundRect">
            <a:avLst>
              <a:gd fmla="val 26666" name="adj"/>
            </a:avLst>
          </a:prstGeom>
          <a:solidFill>
            <a:srgbClr val="FDECEC"/>
          </a:solidFill>
          <a:ln cap="flat" cmpd="sng" w="4775">
            <a:solidFill>
              <a:srgbClr val="F3B7B7"/>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4" name="Google Shape;1474;p40"/>
          <p:cNvSpPr txBox="1"/>
          <p:nvPr/>
        </p:nvSpPr>
        <p:spPr>
          <a:xfrm>
            <a:off x="3343275" y="4270605"/>
            <a:ext cx="1743300" cy="14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C0392B"/>
                </a:solidFill>
                <a:latin typeface="Lexend"/>
                <a:ea typeface="Lexend"/>
                <a:cs typeface="Lexend"/>
                <a:sym typeface="Lexend"/>
              </a:rPr>
              <a:t>Chững &amp; tụt · +1,7% / −4,6%</a:t>
            </a:r>
            <a:endParaRPr sz="1100"/>
          </a:p>
        </p:txBody>
      </p:sp>
      <p:sp>
        <p:nvSpPr>
          <p:cNvPr id="1475" name="Google Shape;1475;p40"/>
          <p:cNvSpPr txBox="1"/>
          <p:nvPr/>
        </p:nvSpPr>
        <p:spPr>
          <a:xfrm>
            <a:off x="542925" y="4509350"/>
            <a:ext cx="857400" cy="17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E0641A"/>
                </a:solidFill>
                <a:latin typeface="Lexend"/>
                <a:ea typeface="Lexend"/>
                <a:cs typeface="Lexend"/>
                <a:sym typeface="Lexend"/>
              </a:rPr>
              <a:t>HCM · +7,4%</a:t>
            </a:r>
            <a:endParaRPr sz="1100"/>
          </a:p>
        </p:txBody>
      </p:sp>
      <p:sp>
        <p:nvSpPr>
          <p:cNvPr id="1476" name="Google Shape;1476;p40"/>
          <p:cNvSpPr/>
          <p:nvPr/>
        </p:nvSpPr>
        <p:spPr>
          <a:xfrm>
            <a:off x="1428750" y="4493419"/>
            <a:ext cx="1785900" cy="214500"/>
          </a:xfrm>
          <a:prstGeom prst="roundRect">
            <a:avLst>
              <a:gd fmla="val 26666" name="adj"/>
            </a:avLst>
          </a:prstGeom>
          <a:solidFill>
            <a:srgbClr val="FEF6E7"/>
          </a:solidFill>
          <a:ln cap="flat" cmpd="sng" w="4775">
            <a:solidFill>
              <a:srgbClr val="F3D9A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7" name="Google Shape;1477;p40"/>
          <p:cNvSpPr txBox="1"/>
          <p:nvPr/>
        </p:nvSpPr>
        <p:spPr>
          <a:xfrm>
            <a:off x="1485900" y="4527780"/>
            <a:ext cx="1671600" cy="14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B45309"/>
                </a:solidFill>
                <a:latin typeface="Lexend"/>
                <a:ea typeface="Lexend"/>
                <a:cs typeface="Lexend"/>
                <a:sym typeface="Lexend"/>
              </a:rPr>
              <a:t>Gần đứng yên · +5,2% / −0,7%</a:t>
            </a:r>
            <a:endParaRPr sz="1100"/>
          </a:p>
        </p:txBody>
      </p:sp>
      <p:sp>
        <p:nvSpPr>
          <p:cNvPr id="1478" name="Google Shape;1478;p40"/>
          <p:cNvSpPr/>
          <p:nvPr/>
        </p:nvSpPr>
        <p:spPr>
          <a:xfrm>
            <a:off x="3286125" y="4493419"/>
            <a:ext cx="1857600" cy="214500"/>
          </a:xfrm>
          <a:prstGeom prst="roundRect">
            <a:avLst>
              <a:gd fmla="val 26666" name="adj"/>
            </a:avLst>
          </a:prstGeom>
          <a:solidFill>
            <a:srgbClr val="ECFDF5"/>
          </a:solidFill>
          <a:ln cap="flat" cmpd="sng" w="4775">
            <a:solidFill>
              <a:srgbClr val="A7F3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9" name="Google Shape;1479;p40"/>
          <p:cNvSpPr txBox="1"/>
          <p:nvPr/>
        </p:nvSpPr>
        <p:spPr>
          <a:xfrm>
            <a:off x="3343275" y="4527780"/>
            <a:ext cx="1743300" cy="14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600">
                <a:solidFill>
                  <a:srgbClr val="0F7A5A"/>
                </a:solidFill>
                <a:latin typeface="Lexend"/>
                <a:ea typeface="Lexend"/>
                <a:cs typeface="Lexend"/>
                <a:sym typeface="Lexend"/>
              </a:rPr>
              <a:t>Tăng đều · +7,2% / +5,8%</a:t>
            </a:r>
            <a:endParaRPr sz="1100"/>
          </a:p>
        </p:txBody>
      </p:sp>
      <p:sp>
        <p:nvSpPr>
          <p:cNvPr id="1480" name="Google Shape;1480;p40"/>
          <p:cNvSpPr/>
          <p:nvPr/>
        </p:nvSpPr>
        <p:spPr>
          <a:xfrm>
            <a:off x="5514975" y="3714750"/>
            <a:ext cx="3286200" cy="1171800"/>
          </a:xfrm>
          <a:prstGeom prst="roundRect">
            <a:avLst>
              <a:gd fmla="val 9756" name="adj"/>
            </a:avLst>
          </a:prstGeom>
          <a:solidFill>
            <a:srgbClr val="FFF3EB"/>
          </a:solidFill>
          <a:ln cap="flat" cmpd="sng" w="7150">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1" name="Google Shape;1481;p40"/>
          <p:cNvSpPr/>
          <p:nvPr/>
        </p:nvSpPr>
        <p:spPr>
          <a:xfrm>
            <a:off x="5715000" y="3836194"/>
            <a:ext cx="35700" cy="128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2" name="Google Shape;1482;p40"/>
          <p:cNvSpPr txBox="1"/>
          <p:nvPr/>
        </p:nvSpPr>
        <p:spPr>
          <a:xfrm>
            <a:off x="5829300" y="3846588"/>
            <a:ext cx="32862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E0641A"/>
                </a:solidFill>
                <a:latin typeface="Lexend"/>
                <a:ea typeface="Lexend"/>
                <a:cs typeface="Lexend"/>
                <a:sym typeface="Lexend"/>
              </a:rPr>
              <a:t>HAI MIỀN, HAI VIỆC KHÁC NHAU</a:t>
            </a:r>
            <a:endParaRPr sz="1100"/>
          </a:p>
        </p:txBody>
      </p:sp>
      <p:sp>
        <p:nvSpPr>
          <p:cNvPr id="1483" name="Google Shape;1483;p40"/>
          <p:cNvSpPr txBox="1"/>
          <p:nvPr/>
        </p:nvSpPr>
        <p:spPr>
          <a:xfrm>
            <a:off x="5715000" y="4014788"/>
            <a:ext cx="2886000" cy="657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 sz="700">
                <a:solidFill>
                  <a:srgbClr val="B4531A"/>
                </a:solidFill>
                <a:latin typeface="Lexend"/>
                <a:ea typeface="Lexend"/>
                <a:cs typeface="Lexend"/>
                <a:sym typeface="Lexend"/>
              </a:rPr>
              <a:t>HAN — </a:t>
            </a:r>
            <a:r>
              <a:rPr b="0" i="0" lang="en" sz="700">
                <a:solidFill>
                  <a:srgbClr val="374151"/>
                </a:solidFill>
                <a:latin typeface="Lexend"/>
                <a:ea typeface="Lexend"/>
                <a:cs typeface="Lexend"/>
                <a:sym typeface="Lexend"/>
              </a:rPr>
              <a:t>giữ nhóm top: trần P95 đã tụt −4,6% trong khi nhóm giữa lên mạnh.</a:t>
            </a:r>
            <a:endParaRPr sz="1100"/>
          </a:p>
          <a:p>
            <a:pPr indent="0" lvl="0" marL="0" marR="0" rtl="0" algn="l">
              <a:lnSpc>
                <a:spcPct val="135000"/>
              </a:lnSpc>
              <a:spcBef>
                <a:spcPts val="300"/>
              </a:spcBef>
              <a:spcAft>
                <a:spcPts val="0"/>
              </a:spcAft>
              <a:buNone/>
            </a:pPr>
            <a:r>
              <a:rPr b="1" i="0" lang="en" sz="700">
                <a:solidFill>
                  <a:srgbClr val="B4531A"/>
                </a:solidFill>
                <a:latin typeface="Lexend"/>
                <a:ea typeface="Lexend"/>
                <a:cs typeface="Lexend"/>
                <a:sym typeface="Lexend"/>
              </a:rPr>
              <a:t>HCM — </a:t>
            </a:r>
            <a:r>
              <a:rPr b="0" i="0" lang="en" sz="700">
                <a:solidFill>
                  <a:srgbClr val="374151"/>
                </a:solidFill>
                <a:latin typeface="Lexend"/>
                <a:ea typeface="Lexend"/>
                <a:cs typeface="Lexend"/>
                <a:sym typeface="Lexend"/>
              </a:rPr>
              <a:t>kéo nhóm giữa: P75 −0,7% trong khi top +5,8%, khoảng cách đang mở ra.</a:t>
            </a:r>
            <a:endParaRPr b="0" i="0" sz="700">
              <a:solidFill>
                <a:srgbClr val="374151"/>
              </a:solidFill>
              <a:latin typeface="Lexend"/>
              <a:ea typeface="Lexend"/>
              <a:cs typeface="Lexend"/>
              <a:sym typeface="Lexend"/>
            </a:endParaRPr>
          </a:p>
          <a:p>
            <a:pPr indent="0" lvl="0" marL="0" marR="0" rtl="0" algn="l">
              <a:lnSpc>
                <a:spcPct val="135000"/>
              </a:lnSpc>
              <a:spcBef>
                <a:spcPts val="300"/>
              </a:spcBef>
              <a:spcAft>
                <a:spcPts val="0"/>
              </a:spcAft>
              <a:buNone/>
            </a:pPr>
            <a:r>
              <a:rPr lang="en" sz="700">
                <a:solidFill>
                  <a:srgbClr val="374151"/>
                </a:solidFill>
                <a:latin typeface="Lexend"/>
                <a:ea typeface="Lexend"/>
                <a:cs typeface="Lexend"/>
                <a:sym typeface="Lexend"/>
              </a:rPr>
              <a:t>Nhìn chung chương trình viral có tác động tốt tới toàn tập tài xế EV tăng được năng suất, cẩn đẩy thêm chương trình REF để tăng active </a:t>
            </a:r>
            <a:endParaRPr sz="700">
              <a:solidFill>
                <a:srgbClr val="374151"/>
              </a:solidFill>
              <a:latin typeface="Lexend"/>
              <a:ea typeface="Lexend"/>
              <a:cs typeface="Lexend"/>
              <a:sym typeface="Lexend"/>
            </a:endParaRPr>
          </a:p>
          <a:p>
            <a:pPr indent="0" lvl="0" marL="0" marR="0" rtl="0" algn="l">
              <a:lnSpc>
                <a:spcPct val="135000"/>
              </a:lnSpc>
              <a:spcBef>
                <a:spcPts val="300"/>
              </a:spcBef>
              <a:spcAft>
                <a:spcPts val="0"/>
              </a:spcAft>
              <a:buNone/>
            </a:pPr>
            <a:r>
              <a:t/>
            </a:r>
            <a:endParaRPr sz="700">
              <a:solidFill>
                <a:srgbClr val="374151"/>
              </a:solidFill>
              <a:latin typeface="Lexend"/>
              <a:ea typeface="Lexend"/>
              <a:cs typeface="Lexend"/>
              <a:sym typeface="Lexend"/>
            </a:endParaRPr>
          </a:p>
          <a:p>
            <a:pPr indent="0" lvl="0" marL="0" marR="0" rtl="0" algn="l">
              <a:lnSpc>
                <a:spcPct val="135000"/>
              </a:lnSpc>
              <a:spcBef>
                <a:spcPts val="300"/>
              </a:spcBef>
              <a:spcAft>
                <a:spcPts val="0"/>
              </a:spcAft>
              <a:buNone/>
            </a:pPr>
            <a:r>
              <a:t/>
            </a:r>
            <a:endParaRPr sz="700">
              <a:solidFill>
                <a:srgbClr val="374151"/>
              </a:solidFill>
              <a:latin typeface="Lexend"/>
              <a:ea typeface="Lexend"/>
              <a:cs typeface="Lexend"/>
              <a:sym typeface="Lexend"/>
            </a:endParaRPr>
          </a:p>
        </p:txBody>
      </p:sp>
      <p:sp>
        <p:nvSpPr>
          <p:cNvPr id="1484" name="Google Shape;1484;p40"/>
          <p:cNvSpPr txBox="1"/>
          <p:nvPr/>
        </p:nvSpPr>
        <p:spPr>
          <a:xfrm>
            <a:off x="500063" y="511385"/>
            <a:ext cx="7215300" cy="18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EV Active tăng tốt, nhưng HAN và HCM đang tăng ở những nhóm khác nhau</a:t>
            </a:r>
            <a:endParaRPr b="1"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8" name="Shape 1488"/>
        <p:cNvGrpSpPr/>
        <p:nvPr/>
      </p:nvGrpSpPr>
      <p:grpSpPr>
        <a:xfrm>
          <a:off x="0" y="0"/>
          <a:ext cx="0" cy="0"/>
          <a:chOff x="0" y="0"/>
          <a:chExt cx="0" cy="0"/>
        </a:xfrm>
      </p:grpSpPr>
      <p:sp>
        <p:nvSpPr>
          <p:cNvPr id="1489" name="Google Shape;1489;p41"/>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0" name="Google Shape;1490;p41"/>
          <p:cNvSpPr txBox="1"/>
          <p:nvPr/>
        </p:nvSpPr>
        <p:spPr>
          <a:xfrm>
            <a:off x="500063" y="203311"/>
            <a:ext cx="7215300" cy="3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EV LEAD </a:t>
            </a:r>
            <a:endParaRPr sz="1100"/>
          </a:p>
        </p:txBody>
      </p:sp>
      <p:sp>
        <p:nvSpPr>
          <p:cNvPr id="1491" name="Google Shape;1491;p41"/>
          <p:cNvSpPr txBox="1"/>
          <p:nvPr/>
        </p:nvSpPr>
        <p:spPr>
          <a:xfrm>
            <a:off x="500063" y="511385"/>
            <a:ext cx="7215300" cy="18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6B7280"/>
                </a:solidFill>
                <a:latin typeface="Lexend"/>
                <a:ea typeface="Lexend"/>
                <a:cs typeface="Lexend"/>
                <a:sym typeface="Lexend"/>
              </a:rPr>
              <a:t>Tháng 8 có 993 lượt quan tâm (+98,6% so với T7) nhưng chỉ 322 chuyển đổi (−8,0%) — chỉ số quy đổi rơi từ 1,65 xuống 0,32</a:t>
            </a:r>
            <a:endParaRPr b="1" sz="1100"/>
          </a:p>
        </p:txBody>
      </p:sp>
      <p:sp>
        <p:nvSpPr>
          <p:cNvPr id="1492" name="Google Shape;1492;p41"/>
          <p:cNvSpPr/>
          <p:nvPr/>
        </p:nvSpPr>
        <p:spPr>
          <a:xfrm>
            <a:off x="7800975" y="300038"/>
            <a:ext cx="10002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3" name="Google Shape;1493;p41"/>
          <p:cNvSpPr txBox="1"/>
          <p:nvPr/>
        </p:nvSpPr>
        <p:spPr>
          <a:xfrm>
            <a:off x="7800975" y="354223"/>
            <a:ext cx="1000200" cy="18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E0641A"/>
                </a:solidFill>
                <a:latin typeface="Lexend"/>
                <a:ea typeface="Lexend"/>
                <a:cs typeface="Lexend"/>
                <a:sym typeface="Lexend"/>
              </a:rPr>
              <a:t>T6 → T8/2026</a:t>
            </a:r>
            <a:endParaRPr sz="1100"/>
          </a:p>
        </p:txBody>
      </p:sp>
      <p:sp>
        <p:nvSpPr>
          <p:cNvPr id="1494" name="Google Shape;1494;p41"/>
          <p:cNvSpPr/>
          <p:nvPr/>
        </p:nvSpPr>
        <p:spPr>
          <a:xfrm>
            <a:off x="342900"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5" name="Google Shape;1495;p41"/>
          <p:cNvSpPr txBox="1"/>
          <p:nvPr/>
        </p:nvSpPr>
        <p:spPr>
          <a:xfrm>
            <a:off x="500063"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LƯỢT QUAN TÂM · T8</a:t>
            </a:r>
            <a:endParaRPr sz="1100"/>
          </a:p>
        </p:txBody>
      </p:sp>
      <p:sp>
        <p:nvSpPr>
          <p:cNvPr id="1496" name="Google Shape;1496;p41"/>
          <p:cNvSpPr txBox="1"/>
          <p:nvPr/>
        </p:nvSpPr>
        <p:spPr>
          <a:xfrm>
            <a:off x="500063"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993</a:t>
            </a:r>
            <a:r>
              <a:rPr b="1" i="0" lang="en" sz="700">
                <a:solidFill>
                  <a:srgbClr val="E0641A"/>
                </a:solidFill>
                <a:latin typeface="Lexend"/>
                <a:ea typeface="Lexend"/>
                <a:cs typeface="Lexend"/>
                <a:sym typeface="Lexend"/>
              </a:rPr>
              <a:t>  +98,6%</a:t>
            </a:r>
            <a:endParaRPr sz="1100"/>
          </a:p>
        </p:txBody>
      </p:sp>
      <p:sp>
        <p:nvSpPr>
          <p:cNvPr id="1497" name="Google Shape;1497;p41"/>
          <p:cNvSpPr txBox="1"/>
          <p:nvPr/>
        </p:nvSpPr>
        <p:spPr>
          <a:xfrm>
            <a:off x="500063"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T6: 443 · T7: 500</a:t>
            </a:r>
            <a:endParaRPr sz="1100"/>
          </a:p>
        </p:txBody>
      </p:sp>
      <p:sp>
        <p:nvSpPr>
          <p:cNvPr id="1498" name="Google Shape;1498;p41"/>
          <p:cNvSpPr/>
          <p:nvPr/>
        </p:nvSpPr>
        <p:spPr>
          <a:xfrm>
            <a:off x="2486025"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9" name="Google Shape;1499;p41"/>
          <p:cNvSpPr txBox="1"/>
          <p:nvPr/>
        </p:nvSpPr>
        <p:spPr>
          <a:xfrm>
            <a:off x="2643188"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CHUYỂN ĐỔI · T8</a:t>
            </a:r>
            <a:endParaRPr sz="1100"/>
          </a:p>
        </p:txBody>
      </p:sp>
      <p:sp>
        <p:nvSpPr>
          <p:cNvPr id="1500" name="Google Shape;1500;p41"/>
          <p:cNvSpPr txBox="1"/>
          <p:nvPr/>
        </p:nvSpPr>
        <p:spPr>
          <a:xfrm>
            <a:off x="2643188"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322</a:t>
            </a:r>
            <a:r>
              <a:rPr b="1" i="0" lang="en" sz="700">
                <a:solidFill>
                  <a:srgbClr val="C0392B"/>
                </a:solidFill>
                <a:latin typeface="Lexend"/>
                <a:ea typeface="Lexend"/>
                <a:cs typeface="Lexend"/>
                <a:sym typeface="Lexend"/>
              </a:rPr>
              <a:t>  −8,0%</a:t>
            </a:r>
            <a:endParaRPr sz="1100"/>
          </a:p>
        </p:txBody>
      </p:sp>
      <p:sp>
        <p:nvSpPr>
          <p:cNvPr id="1501" name="Google Shape;1501;p41"/>
          <p:cNvSpPr txBox="1"/>
          <p:nvPr/>
        </p:nvSpPr>
        <p:spPr>
          <a:xfrm>
            <a:off x="2643188"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T6: 733 · T7: 350 · so T6: −56,1%</a:t>
            </a:r>
            <a:endParaRPr sz="1100"/>
          </a:p>
        </p:txBody>
      </p:sp>
      <p:sp>
        <p:nvSpPr>
          <p:cNvPr id="1502" name="Google Shape;1502;p41"/>
          <p:cNvSpPr/>
          <p:nvPr/>
        </p:nvSpPr>
        <p:spPr>
          <a:xfrm>
            <a:off x="4629150"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3" name="Google Shape;1503;p41"/>
          <p:cNvSpPr txBox="1"/>
          <p:nvPr/>
        </p:nvSpPr>
        <p:spPr>
          <a:xfrm>
            <a:off x="4786313"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CHỈ SỐ QUY ĐỔI · T8</a:t>
            </a:r>
            <a:endParaRPr sz="1100"/>
          </a:p>
        </p:txBody>
      </p:sp>
      <p:sp>
        <p:nvSpPr>
          <p:cNvPr id="1504" name="Google Shape;1504;p41"/>
          <p:cNvSpPr txBox="1"/>
          <p:nvPr/>
        </p:nvSpPr>
        <p:spPr>
          <a:xfrm>
            <a:off x="4786313"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0,32</a:t>
            </a:r>
            <a:endParaRPr sz="1100"/>
          </a:p>
        </p:txBody>
      </p:sp>
      <p:sp>
        <p:nvSpPr>
          <p:cNvPr id="1505" name="Google Shape;1505;p41"/>
          <p:cNvSpPr txBox="1"/>
          <p:nvPr/>
        </p:nvSpPr>
        <p:spPr>
          <a:xfrm>
            <a:off x="4786313"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T6: 1,65 · T7: 0,70 · rơi 5,1 lần</a:t>
            </a:r>
            <a:endParaRPr sz="1100"/>
          </a:p>
        </p:txBody>
      </p:sp>
      <p:sp>
        <p:nvSpPr>
          <p:cNvPr id="1506" name="Google Shape;1506;p41"/>
          <p:cNvSpPr/>
          <p:nvPr/>
        </p:nvSpPr>
        <p:spPr>
          <a:xfrm>
            <a:off x="342900" y="1628775"/>
            <a:ext cx="5000700" cy="2000100"/>
          </a:xfrm>
          <a:prstGeom prst="roundRect">
            <a:avLst>
              <a:gd fmla="val 5714"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7" name="Google Shape;1507;p41"/>
          <p:cNvSpPr txBox="1"/>
          <p:nvPr/>
        </p:nvSpPr>
        <p:spPr>
          <a:xfrm>
            <a:off x="542925" y="1709928"/>
            <a:ext cx="46005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Lượt quan tâm tăng gấp đôi, chuyển đổi thì không</a:t>
            </a:r>
            <a:endParaRPr sz="1100"/>
          </a:p>
        </p:txBody>
      </p:sp>
      <p:sp>
        <p:nvSpPr>
          <p:cNvPr id="1508" name="Google Shape;1508;p41"/>
          <p:cNvSpPr/>
          <p:nvPr/>
        </p:nvSpPr>
        <p:spPr>
          <a:xfrm>
            <a:off x="3571875" y="1800225"/>
            <a:ext cx="78600" cy="78600"/>
          </a:xfrm>
          <a:prstGeom prst="roundRect">
            <a:avLst>
              <a:gd fmla="val 18181"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9" name="Google Shape;1509;p41"/>
          <p:cNvSpPr txBox="1"/>
          <p:nvPr/>
        </p:nvSpPr>
        <p:spPr>
          <a:xfrm>
            <a:off x="3693319" y="1777993"/>
            <a:ext cx="6429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6B7280"/>
                </a:solidFill>
                <a:latin typeface="Lexend"/>
                <a:ea typeface="Lexend"/>
                <a:cs typeface="Lexend"/>
                <a:sym typeface="Lexend"/>
              </a:rPr>
              <a:t>Lượt quan tâm</a:t>
            </a:r>
            <a:endParaRPr sz="1100"/>
          </a:p>
        </p:txBody>
      </p:sp>
      <p:sp>
        <p:nvSpPr>
          <p:cNvPr id="1510" name="Google Shape;1510;p41"/>
          <p:cNvSpPr/>
          <p:nvPr/>
        </p:nvSpPr>
        <p:spPr>
          <a:xfrm>
            <a:off x="4429125" y="1800225"/>
            <a:ext cx="78600" cy="78600"/>
          </a:xfrm>
          <a:prstGeom prst="roundRect">
            <a:avLst>
              <a:gd fmla="val 18181"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1" name="Google Shape;1511;p41"/>
          <p:cNvSpPr txBox="1"/>
          <p:nvPr/>
        </p:nvSpPr>
        <p:spPr>
          <a:xfrm>
            <a:off x="4550569" y="1777993"/>
            <a:ext cx="5715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6B7280"/>
                </a:solidFill>
                <a:latin typeface="Lexend"/>
                <a:ea typeface="Lexend"/>
                <a:cs typeface="Lexend"/>
                <a:sym typeface="Lexend"/>
              </a:rPr>
              <a:t>Chuyển đổi</a:t>
            </a:r>
            <a:endParaRPr sz="1100"/>
          </a:p>
        </p:txBody>
      </p:sp>
      <p:sp>
        <p:nvSpPr>
          <p:cNvPr id="1512" name="Google Shape;1512;p41"/>
          <p:cNvSpPr/>
          <p:nvPr/>
        </p:nvSpPr>
        <p:spPr>
          <a:xfrm>
            <a:off x="828675" y="3030759"/>
            <a:ext cx="43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3" name="Google Shape;1513;p41"/>
          <p:cNvSpPr txBox="1"/>
          <p:nvPr/>
        </p:nvSpPr>
        <p:spPr>
          <a:xfrm>
            <a:off x="485775" y="2979968"/>
            <a:ext cx="3144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250</a:t>
            </a:r>
            <a:endParaRPr sz="1100"/>
          </a:p>
        </p:txBody>
      </p:sp>
      <p:sp>
        <p:nvSpPr>
          <p:cNvPr id="1514" name="Google Shape;1514;p41"/>
          <p:cNvSpPr/>
          <p:nvPr/>
        </p:nvSpPr>
        <p:spPr>
          <a:xfrm>
            <a:off x="828675" y="2778965"/>
            <a:ext cx="43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5" name="Google Shape;1515;p41"/>
          <p:cNvSpPr txBox="1"/>
          <p:nvPr/>
        </p:nvSpPr>
        <p:spPr>
          <a:xfrm>
            <a:off x="485775" y="2728174"/>
            <a:ext cx="3144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500</a:t>
            </a:r>
            <a:endParaRPr sz="1100"/>
          </a:p>
        </p:txBody>
      </p:sp>
      <p:sp>
        <p:nvSpPr>
          <p:cNvPr id="1516" name="Google Shape;1516;p41"/>
          <p:cNvSpPr/>
          <p:nvPr/>
        </p:nvSpPr>
        <p:spPr>
          <a:xfrm>
            <a:off x="828675" y="2527172"/>
            <a:ext cx="43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7" name="Google Shape;1517;p41"/>
          <p:cNvSpPr txBox="1"/>
          <p:nvPr/>
        </p:nvSpPr>
        <p:spPr>
          <a:xfrm>
            <a:off x="485775" y="2476380"/>
            <a:ext cx="3144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750</a:t>
            </a:r>
            <a:endParaRPr sz="1100"/>
          </a:p>
        </p:txBody>
      </p:sp>
      <p:sp>
        <p:nvSpPr>
          <p:cNvPr id="1518" name="Google Shape;1518;p41"/>
          <p:cNvSpPr/>
          <p:nvPr/>
        </p:nvSpPr>
        <p:spPr>
          <a:xfrm>
            <a:off x="828675" y="2275378"/>
            <a:ext cx="4371900" cy="7200"/>
          </a:xfrm>
          <a:prstGeom prst="rect">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9" name="Google Shape;1519;p41"/>
          <p:cNvSpPr txBox="1"/>
          <p:nvPr/>
        </p:nvSpPr>
        <p:spPr>
          <a:xfrm>
            <a:off x="485775" y="2224586"/>
            <a:ext cx="314400" cy="12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500">
                <a:solidFill>
                  <a:srgbClr val="9CA3AF"/>
                </a:solidFill>
                <a:latin typeface="Lexend"/>
                <a:ea typeface="Lexend"/>
                <a:cs typeface="Lexend"/>
                <a:sym typeface="Lexend"/>
              </a:rPr>
              <a:t>1.000</a:t>
            </a:r>
            <a:endParaRPr sz="1100"/>
          </a:p>
        </p:txBody>
      </p:sp>
      <p:sp>
        <p:nvSpPr>
          <p:cNvPr id="1520" name="Google Shape;1520;p41"/>
          <p:cNvSpPr/>
          <p:nvPr/>
        </p:nvSpPr>
        <p:spPr>
          <a:xfrm>
            <a:off x="828675" y="3280767"/>
            <a:ext cx="4371900" cy="10800"/>
          </a:xfrm>
          <a:prstGeom prst="rect">
            <a:avLst/>
          </a:prstGeom>
          <a:solidFill>
            <a:srgbClr val="E5E9E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1" name="Google Shape;1521;p41"/>
          <p:cNvSpPr/>
          <p:nvPr/>
        </p:nvSpPr>
        <p:spPr>
          <a:xfrm>
            <a:off x="1107281" y="2839946"/>
            <a:ext cx="400200" cy="446100"/>
          </a:xfrm>
          <a:prstGeom prst="rect">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2" name="Google Shape;1522;p41"/>
          <p:cNvSpPr txBox="1"/>
          <p:nvPr/>
        </p:nvSpPr>
        <p:spPr>
          <a:xfrm>
            <a:off x="985838" y="2672211"/>
            <a:ext cx="642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374151"/>
                </a:solidFill>
                <a:latin typeface="Lexend"/>
                <a:ea typeface="Lexend"/>
                <a:cs typeface="Lexend"/>
                <a:sym typeface="Lexend"/>
              </a:rPr>
              <a:t>443</a:t>
            </a:r>
            <a:endParaRPr sz="1100"/>
          </a:p>
        </p:txBody>
      </p:sp>
      <p:sp>
        <p:nvSpPr>
          <p:cNvPr id="1523" name="Google Shape;1523;p41"/>
          <p:cNvSpPr/>
          <p:nvPr/>
        </p:nvSpPr>
        <p:spPr>
          <a:xfrm>
            <a:off x="1607344" y="2547866"/>
            <a:ext cx="400200" cy="738300"/>
          </a:xfrm>
          <a:prstGeom prst="rect">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4" name="Google Shape;1524;p41"/>
          <p:cNvSpPr txBox="1"/>
          <p:nvPr/>
        </p:nvSpPr>
        <p:spPr>
          <a:xfrm>
            <a:off x="1485900" y="2380130"/>
            <a:ext cx="642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733</a:t>
            </a:r>
            <a:endParaRPr sz="1100"/>
          </a:p>
        </p:txBody>
      </p:sp>
      <p:sp>
        <p:nvSpPr>
          <p:cNvPr id="1525" name="Google Shape;1525;p41"/>
          <p:cNvSpPr txBox="1"/>
          <p:nvPr/>
        </p:nvSpPr>
        <p:spPr>
          <a:xfrm>
            <a:off x="1057275" y="3318415"/>
            <a:ext cx="10002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T6/2026</a:t>
            </a:r>
            <a:endParaRPr sz="1100"/>
          </a:p>
        </p:txBody>
      </p:sp>
      <p:sp>
        <p:nvSpPr>
          <p:cNvPr id="1526" name="Google Shape;1526;p41"/>
          <p:cNvSpPr txBox="1"/>
          <p:nvPr/>
        </p:nvSpPr>
        <p:spPr>
          <a:xfrm>
            <a:off x="842963" y="3470041"/>
            <a:ext cx="14289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chuyển đổi gấp 1,7×</a:t>
            </a:r>
            <a:endParaRPr sz="1100"/>
          </a:p>
        </p:txBody>
      </p:sp>
      <p:sp>
        <p:nvSpPr>
          <p:cNvPr id="1527" name="Google Shape;1527;p41"/>
          <p:cNvSpPr/>
          <p:nvPr/>
        </p:nvSpPr>
        <p:spPr>
          <a:xfrm>
            <a:off x="2564606" y="2782538"/>
            <a:ext cx="400200" cy="503700"/>
          </a:xfrm>
          <a:prstGeom prst="rect">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8" name="Google Shape;1528;p41"/>
          <p:cNvSpPr txBox="1"/>
          <p:nvPr/>
        </p:nvSpPr>
        <p:spPr>
          <a:xfrm>
            <a:off x="2443163" y="2614802"/>
            <a:ext cx="642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374151"/>
                </a:solidFill>
                <a:latin typeface="Lexend"/>
                <a:ea typeface="Lexend"/>
                <a:cs typeface="Lexend"/>
                <a:sym typeface="Lexend"/>
              </a:rPr>
              <a:t>500</a:t>
            </a:r>
            <a:endParaRPr sz="1100"/>
          </a:p>
        </p:txBody>
      </p:sp>
      <p:sp>
        <p:nvSpPr>
          <p:cNvPr id="1529" name="Google Shape;1529;p41"/>
          <p:cNvSpPr/>
          <p:nvPr/>
        </p:nvSpPr>
        <p:spPr>
          <a:xfrm>
            <a:off x="3064669" y="2933614"/>
            <a:ext cx="400200" cy="352500"/>
          </a:xfrm>
          <a:prstGeom prst="rect">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0" name="Google Shape;1530;p41"/>
          <p:cNvSpPr txBox="1"/>
          <p:nvPr/>
        </p:nvSpPr>
        <p:spPr>
          <a:xfrm>
            <a:off x="2943225" y="2765879"/>
            <a:ext cx="642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350</a:t>
            </a:r>
            <a:endParaRPr sz="1100"/>
          </a:p>
        </p:txBody>
      </p:sp>
      <p:sp>
        <p:nvSpPr>
          <p:cNvPr id="1531" name="Google Shape;1531;p41"/>
          <p:cNvSpPr txBox="1"/>
          <p:nvPr/>
        </p:nvSpPr>
        <p:spPr>
          <a:xfrm>
            <a:off x="2514600" y="3318415"/>
            <a:ext cx="10002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T7/2026</a:t>
            </a:r>
            <a:endParaRPr sz="1100"/>
          </a:p>
        </p:txBody>
      </p:sp>
      <p:sp>
        <p:nvSpPr>
          <p:cNvPr id="1532" name="Google Shape;1532;p41"/>
          <p:cNvSpPr txBox="1"/>
          <p:nvPr/>
        </p:nvSpPr>
        <p:spPr>
          <a:xfrm>
            <a:off x="2300288" y="3470041"/>
            <a:ext cx="14289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quan tâm gấp 1,4×</a:t>
            </a:r>
            <a:endParaRPr sz="1100"/>
          </a:p>
        </p:txBody>
      </p:sp>
      <p:sp>
        <p:nvSpPr>
          <p:cNvPr id="1533" name="Google Shape;1533;p41"/>
          <p:cNvSpPr/>
          <p:nvPr/>
        </p:nvSpPr>
        <p:spPr>
          <a:xfrm>
            <a:off x="4021931" y="2286000"/>
            <a:ext cx="400200" cy="1000200"/>
          </a:xfrm>
          <a:prstGeom prst="rect">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4" name="Google Shape;1534;p41"/>
          <p:cNvSpPr txBox="1"/>
          <p:nvPr/>
        </p:nvSpPr>
        <p:spPr>
          <a:xfrm>
            <a:off x="3900488" y="2118265"/>
            <a:ext cx="642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374151"/>
                </a:solidFill>
                <a:latin typeface="Lexend"/>
                <a:ea typeface="Lexend"/>
                <a:cs typeface="Lexend"/>
                <a:sym typeface="Lexend"/>
              </a:rPr>
              <a:t>993</a:t>
            </a:r>
            <a:endParaRPr sz="1100"/>
          </a:p>
        </p:txBody>
      </p:sp>
      <p:sp>
        <p:nvSpPr>
          <p:cNvPr id="1535" name="Google Shape;1535;p41"/>
          <p:cNvSpPr/>
          <p:nvPr/>
        </p:nvSpPr>
        <p:spPr>
          <a:xfrm>
            <a:off x="4521994" y="2961814"/>
            <a:ext cx="400200" cy="324300"/>
          </a:xfrm>
          <a:prstGeom prst="rect">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6" name="Google Shape;1536;p41"/>
          <p:cNvSpPr txBox="1"/>
          <p:nvPr/>
        </p:nvSpPr>
        <p:spPr>
          <a:xfrm>
            <a:off x="4400550" y="2794079"/>
            <a:ext cx="6429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322</a:t>
            </a:r>
            <a:endParaRPr sz="1100"/>
          </a:p>
        </p:txBody>
      </p:sp>
      <p:sp>
        <p:nvSpPr>
          <p:cNvPr id="1537" name="Google Shape;1537;p41"/>
          <p:cNvSpPr txBox="1"/>
          <p:nvPr/>
        </p:nvSpPr>
        <p:spPr>
          <a:xfrm>
            <a:off x="3971925" y="3318415"/>
            <a:ext cx="1000200" cy="16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T8/2026</a:t>
            </a:r>
            <a:endParaRPr sz="1100"/>
          </a:p>
        </p:txBody>
      </p:sp>
      <p:sp>
        <p:nvSpPr>
          <p:cNvPr id="1538" name="Google Shape;1538;p41"/>
          <p:cNvSpPr txBox="1"/>
          <p:nvPr/>
        </p:nvSpPr>
        <p:spPr>
          <a:xfrm>
            <a:off x="3757613" y="3470041"/>
            <a:ext cx="14289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500">
                <a:solidFill>
                  <a:srgbClr val="9CA3AF"/>
                </a:solidFill>
                <a:latin typeface="Lexend"/>
                <a:ea typeface="Lexend"/>
                <a:cs typeface="Lexend"/>
                <a:sym typeface="Lexend"/>
              </a:rPr>
              <a:t>quan tâm gấp 3,1×</a:t>
            </a:r>
            <a:endParaRPr sz="1100"/>
          </a:p>
        </p:txBody>
      </p:sp>
      <p:sp>
        <p:nvSpPr>
          <p:cNvPr id="1539" name="Google Shape;1539;p41"/>
          <p:cNvSpPr/>
          <p:nvPr/>
        </p:nvSpPr>
        <p:spPr>
          <a:xfrm>
            <a:off x="5514975" y="1628775"/>
            <a:ext cx="3286200" cy="2000100"/>
          </a:xfrm>
          <a:prstGeom prst="roundRect">
            <a:avLst>
              <a:gd fmla="val 5714"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0" name="Google Shape;1540;p41"/>
          <p:cNvSpPr txBox="1"/>
          <p:nvPr/>
        </p:nvSpPr>
        <p:spPr>
          <a:xfrm>
            <a:off x="5715000" y="1709928"/>
            <a:ext cx="28860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Chỉ số quy đổi rơi 5,1 lần</a:t>
            </a:r>
            <a:endParaRPr sz="1100"/>
          </a:p>
        </p:txBody>
      </p:sp>
      <p:sp>
        <p:nvSpPr>
          <p:cNvPr id="1541" name="Google Shape;1541;p41"/>
          <p:cNvSpPr txBox="1"/>
          <p:nvPr/>
        </p:nvSpPr>
        <p:spPr>
          <a:xfrm>
            <a:off x="5715000" y="1898880"/>
            <a:ext cx="28860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chuyển đổi ÷ lượt quan tâm trong cùng tháng</a:t>
            </a:r>
            <a:endParaRPr sz="1100"/>
          </a:p>
        </p:txBody>
      </p:sp>
      <p:sp>
        <p:nvSpPr>
          <p:cNvPr id="1542" name="Google Shape;1542;p41"/>
          <p:cNvSpPr txBox="1"/>
          <p:nvPr/>
        </p:nvSpPr>
        <p:spPr>
          <a:xfrm>
            <a:off x="5715000" y="2185094"/>
            <a:ext cx="6429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T6/2026</a:t>
            </a:r>
            <a:endParaRPr sz="1100"/>
          </a:p>
        </p:txBody>
      </p:sp>
      <p:sp>
        <p:nvSpPr>
          <p:cNvPr id="1543" name="Google Shape;1543;p41"/>
          <p:cNvSpPr/>
          <p:nvPr/>
        </p:nvSpPr>
        <p:spPr>
          <a:xfrm>
            <a:off x="6315075" y="2218134"/>
            <a:ext cx="1428900" cy="1071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4" name="Google Shape;1544;p41"/>
          <p:cNvSpPr/>
          <p:nvPr/>
        </p:nvSpPr>
        <p:spPr>
          <a:xfrm>
            <a:off x="6315075" y="2218134"/>
            <a:ext cx="1428900" cy="107100"/>
          </a:xfrm>
          <a:prstGeom prst="roundRect">
            <a:avLst>
              <a:gd fmla="val 50000" name="adj"/>
            </a:avLst>
          </a:prstGeom>
          <a:solidFill>
            <a:srgbClr val="10B98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5" name="Google Shape;1545;p41"/>
          <p:cNvSpPr txBox="1"/>
          <p:nvPr/>
        </p:nvSpPr>
        <p:spPr>
          <a:xfrm>
            <a:off x="7958138" y="2152841"/>
            <a:ext cx="642900" cy="21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900">
                <a:solidFill>
                  <a:srgbClr val="0F7A5A"/>
                </a:solidFill>
                <a:latin typeface="Lexend"/>
                <a:ea typeface="Lexend"/>
                <a:cs typeface="Lexend"/>
                <a:sym typeface="Lexend"/>
              </a:rPr>
              <a:t>1,65</a:t>
            </a:r>
            <a:endParaRPr sz="1100"/>
          </a:p>
        </p:txBody>
      </p:sp>
      <p:sp>
        <p:nvSpPr>
          <p:cNvPr id="1546" name="Google Shape;1546;p41"/>
          <p:cNvSpPr txBox="1"/>
          <p:nvPr/>
        </p:nvSpPr>
        <p:spPr>
          <a:xfrm>
            <a:off x="5715000" y="2470844"/>
            <a:ext cx="6429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T7/2026</a:t>
            </a:r>
            <a:endParaRPr sz="1100"/>
          </a:p>
        </p:txBody>
      </p:sp>
      <p:sp>
        <p:nvSpPr>
          <p:cNvPr id="1547" name="Google Shape;1547;p41"/>
          <p:cNvSpPr/>
          <p:nvPr/>
        </p:nvSpPr>
        <p:spPr>
          <a:xfrm>
            <a:off x="6315075" y="2503884"/>
            <a:ext cx="1428900" cy="1071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8" name="Google Shape;1548;p41"/>
          <p:cNvSpPr/>
          <p:nvPr/>
        </p:nvSpPr>
        <p:spPr>
          <a:xfrm>
            <a:off x="6315075" y="2503884"/>
            <a:ext cx="606000" cy="107100"/>
          </a:xfrm>
          <a:prstGeom prst="roundRect">
            <a:avLst>
              <a:gd fmla="val 50000" name="adj"/>
            </a:avLst>
          </a:prstGeom>
          <a:solidFill>
            <a:srgbClr val="F59E0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9" name="Google Shape;1549;p41"/>
          <p:cNvSpPr txBox="1"/>
          <p:nvPr/>
        </p:nvSpPr>
        <p:spPr>
          <a:xfrm>
            <a:off x="7958138" y="2438591"/>
            <a:ext cx="642900" cy="21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900">
                <a:solidFill>
                  <a:srgbClr val="B45309"/>
                </a:solidFill>
                <a:latin typeface="Lexend"/>
                <a:ea typeface="Lexend"/>
                <a:cs typeface="Lexend"/>
                <a:sym typeface="Lexend"/>
              </a:rPr>
              <a:t>0,70</a:t>
            </a:r>
            <a:endParaRPr sz="1100"/>
          </a:p>
        </p:txBody>
      </p:sp>
      <p:sp>
        <p:nvSpPr>
          <p:cNvPr id="1550" name="Google Shape;1550;p41"/>
          <p:cNvSpPr txBox="1"/>
          <p:nvPr/>
        </p:nvSpPr>
        <p:spPr>
          <a:xfrm>
            <a:off x="5715000" y="2756594"/>
            <a:ext cx="6429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6B7280"/>
                </a:solidFill>
                <a:latin typeface="Lexend"/>
                <a:ea typeface="Lexend"/>
                <a:cs typeface="Lexend"/>
                <a:sym typeface="Lexend"/>
              </a:rPr>
              <a:t>T8/2026</a:t>
            </a:r>
            <a:endParaRPr sz="1100"/>
          </a:p>
        </p:txBody>
      </p:sp>
      <p:sp>
        <p:nvSpPr>
          <p:cNvPr id="1551" name="Google Shape;1551;p41"/>
          <p:cNvSpPr/>
          <p:nvPr/>
        </p:nvSpPr>
        <p:spPr>
          <a:xfrm>
            <a:off x="6315075" y="2789634"/>
            <a:ext cx="1428900" cy="1071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2" name="Google Shape;1552;p41"/>
          <p:cNvSpPr/>
          <p:nvPr/>
        </p:nvSpPr>
        <p:spPr>
          <a:xfrm>
            <a:off x="6315075" y="2789634"/>
            <a:ext cx="277200" cy="107100"/>
          </a:xfrm>
          <a:prstGeom prst="roundRect">
            <a:avLst>
              <a:gd fmla="val 50000" name="adj"/>
            </a:avLst>
          </a:prstGeom>
          <a:solidFill>
            <a:srgbClr val="C0392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3" name="Google Shape;1553;p41"/>
          <p:cNvSpPr txBox="1"/>
          <p:nvPr/>
        </p:nvSpPr>
        <p:spPr>
          <a:xfrm>
            <a:off x="7958138" y="2724341"/>
            <a:ext cx="642900" cy="21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900">
                <a:solidFill>
                  <a:srgbClr val="C0392B"/>
                </a:solidFill>
                <a:latin typeface="Lexend"/>
                <a:ea typeface="Lexend"/>
                <a:cs typeface="Lexend"/>
                <a:sym typeface="Lexend"/>
              </a:rPr>
              <a:t>0,32</a:t>
            </a:r>
            <a:endParaRPr sz="1100"/>
          </a:p>
        </p:txBody>
      </p:sp>
      <p:sp>
        <p:nvSpPr>
          <p:cNvPr id="1554" name="Google Shape;1554;p41"/>
          <p:cNvSpPr/>
          <p:nvPr/>
        </p:nvSpPr>
        <p:spPr>
          <a:xfrm>
            <a:off x="5715000" y="3025379"/>
            <a:ext cx="28860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5" name="Google Shape;1555;p41"/>
          <p:cNvSpPr txBox="1"/>
          <p:nvPr/>
        </p:nvSpPr>
        <p:spPr>
          <a:xfrm>
            <a:off x="5715000" y="3086100"/>
            <a:ext cx="2886000" cy="371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 sz="600">
                <a:solidFill>
                  <a:srgbClr val="0E4174"/>
                </a:solidFill>
                <a:latin typeface="Lexend"/>
                <a:ea typeface="Lexend"/>
                <a:cs typeface="Lexend"/>
                <a:sym typeface="Lexend"/>
              </a:rPr>
              <a:t>Tháng 6 </a:t>
            </a:r>
            <a:r>
              <a:rPr b="1" lang="en" sz="600">
                <a:solidFill>
                  <a:srgbClr val="0E4174"/>
                </a:solidFill>
                <a:latin typeface="Lexend"/>
                <a:ea typeface="Lexend"/>
                <a:cs typeface="Lexend"/>
                <a:sym typeface="Lexend"/>
              </a:rPr>
              <a:t>chuyển đổi tăng mạnh do force update</a:t>
            </a:r>
            <a:r>
              <a:rPr b="0" i="0" lang="en" sz="600">
                <a:solidFill>
                  <a:srgbClr val="374151"/>
                </a:solidFill>
                <a:latin typeface="Lexend"/>
                <a:ea typeface="Lexend"/>
                <a:cs typeface="Lexend"/>
                <a:sym typeface="Lexend"/>
              </a:rPr>
              <a:t>. Tháng 8 chỉ còn dưới một phần ba.</a:t>
            </a:r>
            <a:endParaRPr sz="1100"/>
          </a:p>
        </p:txBody>
      </p:sp>
      <p:sp>
        <p:nvSpPr>
          <p:cNvPr id="1556" name="Google Shape;1556;p41"/>
          <p:cNvSpPr/>
          <p:nvPr/>
        </p:nvSpPr>
        <p:spPr>
          <a:xfrm>
            <a:off x="342900" y="3743325"/>
            <a:ext cx="5000700" cy="1143000"/>
          </a:xfrm>
          <a:prstGeom prst="roundRect">
            <a:avLst>
              <a:gd fmla="val 1000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7" name="Google Shape;1557;p41"/>
          <p:cNvSpPr txBox="1"/>
          <p:nvPr/>
        </p:nvSpPr>
        <p:spPr>
          <a:xfrm>
            <a:off x="542925" y="3824478"/>
            <a:ext cx="46005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Chuyển đổi theo thành phố</a:t>
            </a:r>
            <a:endParaRPr sz="1100"/>
          </a:p>
        </p:txBody>
      </p:sp>
      <p:sp>
        <p:nvSpPr>
          <p:cNvPr id="1558" name="Google Shape;1558;p41"/>
          <p:cNvSpPr txBox="1"/>
          <p:nvPr/>
        </p:nvSpPr>
        <p:spPr>
          <a:xfrm>
            <a:off x="1571625" y="40844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T6</a:t>
            </a:r>
            <a:endParaRPr sz="1100"/>
          </a:p>
        </p:txBody>
      </p:sp>
      <p:sp>
        <p:nvSpPr>
          <p:cNvPr id="1559" name="Google Shape;1559;p41"/>
          <p:cNvSpPr txBox="1"/>
          <p:nvPr/>
        </p:nvSpPr>
        <p:spPr>
          <a:xfrm>
            <a:off x="2043113" y="40844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T7</a:t>
            </a:r>
            <a:endParaRPr sz="1100"/>
          </a:p>
        </p:txBody>
      </p:sp>
      <p:sp>
        <p:nvSpPr>
          <p:cNvPr id="1560" name="Google Shape;1560;p41"/>
          <p:cNvSpPr txBox="1"/>
          <p:nvPr/>
        </p:nvSpPr>
        <p:spPr>
          <a:xfrm>
            <a:off x="2514600" y="40844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T8</a:t>
            </a:r>
            <a:endParaRPr sz="1100"/>
          </a:p>
        </p:txBody>
      </p:sp>
      <p:sp>
        <p:nvSpPr>
          <p:cNvPr id="1561" name="Google Shape;1561;p41"/>
          <p:cNvSpPr txBox="1"/>
          <p:nvPr/>
        </p:nvSpPr>
        <p:spPr>
          <a:xfrm>
            <a:off x="3000375" y="40844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T9 *</a:t>
            </a:r>
            <a:endParaRPr sz="1100"/>
          </a:p>
        </p:txBody>
      </p:sp>
      <p:sp>
        <p:nvSpPr>
          <p:cNvPr id="1562" name="Google Shape;1562;p41"/>
          <p:cNvSpPr txBox="1"/>
          <p:nvPr/>
        </p:nvSpPr>
        <p:spPr>
          <a:xfrm>
            <a:off x="542925" y="4084403"/>
            <a:ext cx="8574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500">
                <a:solidFill>
                  <a:srgbClr val="9CA3AF"/>
                </a:solidFill>
                <a:latin typeface="Lexend"/>
                <a:ea typeface="Lexend"/>
                <a:cs typeface="Lexend"/>
                <a:sym typeface="Lexend"/>
              </a:rPr>
              <a:t>THÀNH PHỐ</a:t>
            </a:r>
            <a:endParaRPr sz="1100"/>
          </a:p>
        </p:txBody>
      </p:sp>
      <p:sp>
        <p:nvSpPr>
          <p:cNvPr id="1563" name="Google Shape;1563;p41"/>
          <p:cNvSpPr txBox="1"/>
          <p:nvPr/>
        </p:nvSpPr>
        <p:spPr>
          <a:xfrm>
            <a:off x="4071938" y="4084403"/>
            <a:ext cx="10716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500">
                <a:solidFill>
                  <a:srgbClr val="9CA3AF"/>
                </a:solidFill>
                <a:latin typeface="Lexend"/>
                <a:ea typeface="Lexend"/>
                <a:cs typeface="Lexend"/>
                <a:sym typeface="Lexend"/>
              </a:rPr>
              <a:t>MOM</a:t>
            </a:r>
            <a:endParaRPr sz="1100"/>
          </a:p>
        </p:txBody>
      </p:sp>
      <p:sp>
        <p:nvSpPr>
          <p:cNvPr id="1564" name="Google Shape;1564;p41"/>
          <p:cNvSpPr/>
          <p:nvPr/>
        </p:nvSpPr>
        <p:spPr>
          <a:xfrm>
            <a:off x="542925" y="4225529"/>
            <a:ext cx="46005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5" name="Google Shape;1565;p41"/>
          <p:cNvSpPr txBox="1"/>
          <p:nvPr/>
        </p:nvSpPr>
        <p:spPr>
          <a:xfrm>
            <a:off x="542925" y="4304252"/>
            <a:ext cx="10002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SGN · TP.HCM</a:t>
            </a:r>
            <a:endParaRPr sz="1100"/>
          </a:p>
        </p:txBody>
      </p:sp>
      <p:sp>
        <p:nvSpPr>
          <p:cNvPr id="1566" name="Google Shape;1566;p41"/>
          <p:cNvSpPr txBox="1"/>
          <p:nvPr/>
        </p:nvSpPr>
        <p:spPr>
          <a:xfrm>
            <a:off x="1571625" y="4308860"/>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396</a:t>
            </a:r>
            <a:endParaRPr sz="1100"/>
          </a:p>
        </p:txBody>
      </p:sp>
      <p:sp>
        <p:nvSpPr>
          <p:cNvPr id="1567" name="Google Shape;1567;p41"/>
          <p:cNvSpPr txBox="1"/>
          <p:nvPr/>
        </p:nvSpPr>
        <p:spPr>
          <a:xfrm>
            <a:off x="2043113" y="4308860"/>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214</a:t>
            </a:r>
            <a:endParaRPr sz="1100"/>
          </a:p>
        </p:txBody>
      </p:sp>
      <p:sp>
        <p:nvSpPr>
          <p:cNvPr id="1568" name="Google Shape;1568;p41"/>
          <p:cNvSpPr txBox="1"/>
          <p:nvPr/>
        </p:nvSpPr>
        <p:spPr>
          <a:xfrm>
            <a:off x="2514600" y="4299644"/>
            <a:ext cx="4287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204</a:t>
            </a:r>
            <a:endParaRPr sz="1100"/>
          </a:p>
        </p:txBody>
      </p:sp>
      <p:sp>
        <p:nvSpPr>
          <p:cNvPr id="1569" name="Google Shape;1569;p41"/>
          <p:cNvSpPr txBox="1"/>
          <p:nvPr/>
        </p:nvSpPr>
        <p:spPr>
          <a:xfrm>
            <a:off x="3000375" y="4308860"/>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12</a:t>
            </a:r>
            <a:endParaRPr sz="1100"/>
          </a:p>
        </p:txBody>
      </p:sp>
      <p:sp>
        <p:nvSpPr>
          <p:cNvPr id="1570" name="Google Shape;1570;p41"/>
          <p:cNvSpPr/>
          <p:nvPr/>
        </p:nvSpPr>
        <p:spPr>
          <a:xfrm>
            <a:off x="3543300" y="4339829"/>
            <a:ext cx="1000200" cy="930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1" name="Google Shape;1571;p41"/>
          <p:cNvSpPr/>
          <p:nvPr/>
        </p:nvSpPr>
        <p:spPr>
          <a:xfrm>
            <a:off x="3543300" y="4339829"/>
            <a:ext cx="515100" cy="930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2" name="Google Shape;1572;p41"/>
          <p:cNvSpPr txBox="1"/>
          <p:nvPr/>
        </p:nvSpPr>
        <p:spPr>
          <a:xfrm>
            <a:off x="4572000" y="4299644"/>
            <a:ext cx="5715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700">
                <a:solidFill>
                  <a:srgbClr val="B4531A"/>
                </a:solidFill>
                <a:latin typeface="Lexend"/>
                <a:ea typeface="Lexend"/>
                <a:cs typeface="Lexend"/>
                <a:sym typeface="Lexend"/>
              </a:rPr>
              <a:t>95.33%</a:t>
            </a:r>
            <a:endParaRPr sz="1100"/>
          </a:p>
        </p:txBody>
      </p:sp>
      <p:sp>
        <p:nvSpPr>
          <p:cNvPr id="1573" name="Google Shape;1573;p41"/>
          <p:cNvSpPr txBox="1"/>
          <p:nvPr/>
        </p:nvSpPr>
        <p:spPr>
          <a:xfrm>
            <a:off x="542925" y="4518565"/>
            <a:ext cx="10002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HAN · Hà Nội</a:t>
            </a:r>
            <a:endParaRPr sz="1100"/>
          </a:p>
        </p:txBody>
      </p:sp>
      <p:sp>
        <p:nvSpPr>
          <p:cNvPr id="1574" name="Google Shape;1574;p41"/>
          <p:cNvSpPr txBox="1"/>
          <p:nvPr/>
        </p:nvSpPr>
        <p:spPr>
          <a:xfrm>
            <a:off x="1571625" y="452317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337</a:t>
            </a:r>
            <a:endParaRPr sz="1100"/>
          </a:p>
        </p:txBody>
      </p:sp>
      <p:sp>
        <p:nvSpPr>
          <p:cNvPr id="1575" name="Google Shape;1575;p41"/>
          <p:cNvSpPr txBox="1"/>
          <p:nvPr/>
        </p:nvSpPr>
        <p:spPr>
          <a:xfrm>
            <a:off x="2043113" y="452317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136</a:t>
            </a:r>
            <a:endParaRPr sz="1100"/>
          </a:p>
        </p:txBody>
      </p:sp>
      <p:sp>
        <p:nvSpPr>
          <p:cNvPr id="1576" name="Google Shape;1576;p41"/>
          <p:cNvSpPr txBox="1"/>
          <p:nvPr/>
        </p:nvSpPr>
        <p:spPr>
          <a:xfrm>
            <a:off x="2514600" y="4513957"/>
            <a:ext cx="428700" cy="16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118</a:t>
            </a:r>
            <a:endParaRPr sz="1100"/>
          </a:p>
        </p:txBody>
      </p:sp>
      <p:sp>
        <p:nvSpPr>
          <p:cNvPr id="1577" name="Google Shape;1577;p41"/>
          <p:cNvSpPr txBox="1"/>
          <p:nvPr/>
        </p:nvSpPr>
        <p:spPr>
          <a:xfrm>
            <a:off x="3000375" y="452317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8</a:t>
            </a:r>
            <a:endParaRPr sz="1100"/>
          </a:p>
        </p:txBody>
      </p:sp>
      <p:sp>
        <p:nvSpPr>
          <p:cNvPr id="1578" name="Google Shape;1578;p41"/>
          <p:cNvSpPr/>
          <p:nvPr/>
        </p:nvSpPr>
        <p:spPr>
          <a:xfrm>
            <a:off x="3543300" y="4554141"/>
            <a:ext cx="1000200" cy="930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9" name="Google Shape;1579;p41"/>
          <p:cNvSpPr/>
          <p:nvPr/>
        </p:nvSpPr>
        <p:spPr>
          <a:xfrm>
            <a:off x="3543300" y="4554141"/>
            <a:ext cx="350100" cy="93000"/>
          </a:xfrm>
          <a:prstGeom prst="roundRect">
            <a:avLst>
              <a:gd fmla="val 50000" name="adj"/>
            </a:avLst>
          </a:prstGeom>
          <a:solidFill>
            <a:srgbClr val="C0392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0" name="Google Shape;1580;p41"/>
          <p:cNvSpPr txBox="1"/>
          <p:nvPr/>
        </p:nvSpPr>
        <p:spPr>
          <a:xfrm>
            <a:off x="4572000" y="4513957"/>
            <a:ext cx="5715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700">
                <a:solidFill>
                  <a:srgbClr val="C0392B"/>
                </a:solidFill>
                <a:latin typeface="Lexend"/>
                <a:ea typeface="Lexend"/>
                <a:cs typeface="Lexend"/>
                <a:sym typeface="Lexend"/>
              </a:rPr>
              <a:t>86.76%</a:t>
            </a:r>
            <a:endParaRPr sz="1100"/>
          </a:p>
        </p:txBody>
      </p:sp>
      <p:sp>
        <p:nvSpPr>
          <p:cNvPr id="1581" name="Google Shape;1581;p41"/>
          <p:cNvSpPr/>
          <p:nvPr/>
        </p:nvSpPr>
        <p:spPr>
          <a:xfrm>
            <a:off x="5514975" y="3743325"/>
            <a:ext cx="3286200" cy="1143000"/>
          </a:xfrm>
          <a:prstGeom prst="roundRect">
            <a:avLst>
              <a:gd fmla="val 10000" name="adj"/>
            </a:avLst>
          </a:prstGeom>
          <a:solidFill>
            <a:srgbClr val="FFF3EB"/>
          </a:solidFill>
          <a:ln cap="flat" cmpd="sng" w="14275">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2" name="Google Shape;1582;p41"/>
          <p:cNvSpPr/>
          <p:nvPr/>
        </p:nvSpPr>
        <p:spPr>
          <a:xfrm>
            <a:off x="5715000" y="3850481"/>
            <a:ext cx="35700" cy="128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3" name="Google Shape;1583;p41"/>
          <p:cNvSpPr txBox="1"/>
          <p:nvPr/>
        </p:nvSpPr>
        <p:spPr>
          <a:xfrm>
            <a:off x="5829300" y="3860876"/>
            <a:ext cx="32862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600">
                <a:solidFill>
                  <a:srgbClr val="E0641A"/>
                </a:solidFill>
                <a:latin typeface="Lexend"/>
                <a:ea typeface="Lexend"/>
                <a:cs typeface="Lexend"/>
                <a:sym typeface="Lexend"/>
              </a:rPr>
              <a:t>TÁC ĐỘNG TỪ EV VIRAL CHƯA NHIỀU TỚI VIỆC CHUYỂN ĐỔI</a:t>
            </a:r>
            <a:endParaRPr sz="1100"/>
          </a:p>
        </p:txBody>
      </p:sp>
      <p:sp>
        <p:nvSpPr>
          <p:cNvPr id="1584" name="Google Shape;1584;p41"/>
          <p:cNvSpPr txBox="1"/>
          <p:nvPr/>
        </p:nvSpPr>
        <p:spPr>
          <a:xfrm>
            <a:off x="5715000" y="4043363"/>
            <a:ext cx="2886000" cy="8001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 sz="600">
                <a:solidFill>
                  <a:srgbClr val="374151"/>
                </a:solidFill>
                <a:latin typeface="Lexend"/>
                <a:ea typeface="Lexend"/>
                <a:cs typeface="Lexend"/>
                <a:sym typeface="Lexend"/>
              </a:rPr>
              <a:t>Ghi chú nguồn: T7–T8 có tác động từ thưởng. Lượt quan tâm </a:t>
            </a:r>
            <a:r>
              <a:rPr b="1" i="0" lang="en" sz="600">
                <a:solidFill>
                  <a:srgbClr val="B4531A"/>
                </a:solidFill>
                <a:latin typeface="Lexend"/>
                <a:ea typeface="Lexend"/>
                <a:cs typeface="Lexend"/>
                <a:sym typeface="Lexend"/>
              </a:rPr>
              <a:t>+98,6%</a:t>
            </a:r>
            <a:r>
              <a:rPr b="0" i="0" lang="en" sz="600">
                <a:solidFill>
                  <a:srgbClr val="374151"/>
                </a:solidFill>
                <a:latin typeface="Lexend"/>
                <a:ea typeface="Lexend"/>
                <a:cs typeface="Lexend"/>
                <a:sym typeface="Lexend"/>
              </a:rPr>
              <a:t> nhưng chuyển đổi </a:t>
            </a:r>
            <a:r>
              <a:rPr b="1" i="0" lang="en" sz="600">
                <a:solidFill>
                  <a:srgbClr val="C0392B"/>
                </a:solidFill>
                <a:latin typeface="Lexend"/>
                <a:ea typeface="Lexend"/>
                <a:cs typeface="Lexend"/>
                <a:sym typeface="Lexend"/>
              </a:rPr>
              <a:t>−8,0%</a:t>
            </a:r>
            <a:r>
              <a:rPr b="0" i="0" lang="en" sz="600">
                <a:solidFill>
                  <a:srgbClr val="374151"/>
                </a:solidFill>
                <a:latin typeface="Lexend"/>
                <a:ea typeface="Lexend"/>
                <a:cs typeface="Lexend"/>
                <a:sym typeface="Lexend"/>
              </a:rPr>
              <a:t> — ngân sách mua được sự chú ý.</a:t>
            </a:r>
            <a:endParaRPr sz="1100"/>
          </a:p>
          <a:p>
            <a:pPr indent="0" lvl="0" marL="0" marR="0" rtl="0" algn="l">
              <a:lnSpc>
                <a:spcPct val="135000"/>
              </a:lnSpc>
              <a:spcBef>
                <a:spcPts val="300"/>
              </a:spcBef>
              <a:spcAft>
                <a:spcPts val="0"/>
              </a:spcAft>
              <a:buNone/>
            </a:pPr>
            <a:r>
              <a:rPr b="0" i="0" lang="en" sz="600">
                <a:solidFill>
                  <a:srgbClr val="374151"/>
                </a:solidFill>
                <a:latin typeface="Lexend"/>
                <a:ea typeface="Lexend"/>
                <a:cs typeface="Lexend"/>
                <a:sym typeface="Lexend"/>
              </a:rPr>
              <a:t>Nút thắt nằm giữa quan tâm và nhận xe — hồ sơ, duyệt tài chính, tồn xe, giao xe. Dữ liệu hiện không đo khâu nào.</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8" name="Shape 1588"/>
        <p:cNvGrpSpPr/>
        <p:nvPr/>
      </p:nvGrpSpPr>
      <p:grpSpPr>
        <a:xfrm>
          <a:off x="0" y="0"/>
          <a:ext cx="0" cy="0"/>
          <a:chOff x="0" y="0"/>
          <a:chExt cx="0" cy="0"/>
        </a:xfrm>
      </p:grpSpPr>
      <p:sp>
        <p:nvSpPr>
          <p:cNvPr id="1589" name="Google Shape;1589;p42"/>
          <p:cNvSpPr/>
          <p:nvPr/>
        </p:nvSpPr>
        <p:spPr>
          <a:xfrm>
            <a:off x="0" y="0"/>
            <a:ext cx="9144000" cy="5143500"/>
          </a:xfrm>
          <a:prstGeom prst="rect">
            <a:avLst/>
          </a:prstGeom>
          <a:solidFill>
            <a:srgbClr val="FBFCFE"/>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0" name="Google Shape;1590;p42"/>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1" name="Google Shape;1591;p42"/>
          <p:cNvSpPr txBox="1"/>
          <p:nvPr/>
        </p:nvSpPr>
        <p:spPr>
          <a:xfrm>
            <a:off x="500063" y="203311"/>
            <a:ext cx="7215300" cy="3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64% lượt quan tâm T8 là mô hình không cần vốn</a:t>
            </a:r>
            <a:endParaRPr sz="1100"/>
          </a:p>
        </p:txBody>
      </p:sp>
      <p:sp>
        <p:nvSpPr>
          <p:cNvPr id="1592" name="Google Shape;1592;p42"/>
          <p:cNvSpPr txBox="1"/>
          <p:nvPr/>
        </p:nvSpPr>
        <p:spPr>
          <a:xfrm>
            <a:off x="500063" y="511385"/>
            <a:ext cx="7215300" cy="18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6B7280"/>
                </a:solidFill>
                <a:latin typeface="Lexend"/>
                <a:ea typeface="Lexend"/>
                <a:cs typeface="Lexend"/>
                <a:sym typeface="Lexend"/>
              </a:rPr>
              <a:t>Riêng thuê-sở hữu qua AIZEN chiếm 49,2% lượt quan tâm tháng 8 và mới xuất hiện từ tháng 7 — nhưng tổng chuyển đổi vẫn không nhích</a:t>
            </a:r>
            <a:endParaRPr b="1" sz="1100"/>
          </a:p>
        </p:txBody>
      </p:sp>
      <p:sp>
        <p:nvSpPr>
          <p:cNvPr id="1593" name="Google Shape;1593;p42"/>
          <p:cNvSpPr/>
          <p:nvPr/>
        </p:nvSpPr>
        <p:spPr>
          <a:xfrm>
            <a:off x="7800975" y="300038"/>
            <a:ext cx="10002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4" name="Google Shape;1594;p42"/>
          <p:cNvSpPr txBox="1"/>
          <p:nvPr/>
        </p:nvSpPr>
        <p:spPr>
          <a:xfrm>
            <a:off x="7800975" y="354223"/>
            <a:ext cx="1000200" cy="18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E0641A"/>
                </a:solidFill>
                <a:latin typeface="Lexend"/>
                <a:ea typeface="Lexend"/>
                <a:cs typeface="Lexend"/>
                <a:sym typeface="Lexend"/>
              </a:rPr>
              <a:t>993 lượt · T8</a:t>
            </a:r>
            <a:endParaRPr sz="1100"/>
          </a:p>
        </p:txBody>
      </p:sp>
      <p:sp>
        <p:nvSpPr>
          <p:cNvPr id="1595" name="Google Shape;1595;p42"/>
          <p:cNvSpPr/>
          <p:nvPr/>
        </p:nvSpPr>
        <p:spPr>
          <a:xfrm>
            <a:off x="342900" y="800100"/>
            <a:ext cx="5429100" cy="2286000"/>
          </a:xfrm>
          <a:prstGeom prst="roundRect">
            <a:avLst>
              <a:gd fmla="val 500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6" name="Google Shape;1596;p42"/>
          <p:cNvSpPr txBox="1"/>
          <p:nvPr/>
        </p:nvSpPr>
        <p:spPr>
          <a:xfrm>
            <a:off x="542925" y="881253"/>
            <a:ext cx="50292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Lượt quan tâm theo loại hình xe</a:t>
            </a:r>
            <a:endParaRPr sz="1100"/>
          </a:p>
        </p:txBody>
      </p:sp>
      <p:sp>
        <p:nvSpPr>
          <p:cNvPr id="1597" name="Google Shape;1597;p42"/>
          <p:cNvSpPr txBox="1"/>
          <p:nvPr/>
        </p:nvSpPr>
        <p:spPr>
          <a:xfrm>
            <a:off x="542925" y="1341203"/>
            <a:ext cx="11430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500">
                <a:solidFill>
                  <a:srgbClr val="9CA3AF"/>
                </a:solidFill>
                <a:latin typeface="Lexend"/>
                <a:ea typeface="Lexend"/>
                <a:cs typeface="Lexend"/>
                <a:sym typeface="Lexend"/>
              </a:rPr>
              <a:t>LOẠI HÌNH</a:t>
            </a:r>
            <a:endParaRPr sz="1100"/>
          </a:p>
        </p:txBody>
      </p:sp>
      <p:sp>
        <p:nvSpPr>
          <p:cNvPr id="1598" name="Google Shape;1598;p42"/>
          <p:cNvSpPr txBox="1"/>
          <p:nvPr/>
        </p:nvSpPr>
        <p:spPr>
          <a:xfrm>
            <a:off x="2000250" y="13412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T6</a:t>
            </a:r>
            <a:endParaRPr sz="1100"/>
          </a:p>
        </p:txBody>
      </p:sp>
      <p:sp>
        <p:nvSpPr>
          <p:cNvPr id="1599" name="Google Shape;1599;p42"/>
          <p:cNvSpPr txBox="1"/>
          <p:nvPr/>
        </p:nvSpPr>
        <p:spPr>
          <a:xfrm>
            <a:off x="2471738" y="13412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T7</a:t>
            </a:r>
            <a:endParaRPr sz="1100"/>
          </a:p>
        </p:txBody>
      </p:sp>
      <p:sp>
        <p:nvSpPr>
          <p:cNvPr id="1600" name="Google Shape;1600;p42"/>
          <p:cNvSpPr txBox="1"/>
          <p:nvPr/>
        </p:nvSpPr>
        <p:spPr>
          <a:xfrm>
            <a:off x="2943225" y="1341203"/>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T8</a:t>
            </a:r>
            <a:endParaRPr sz="1100"/>
          </a:p>
        </p:txBody>
      </p:sp>
      <p:sp>
        <p:nvSpPr>
          <p:cNvPr id="1601" name="Google Shape;1601;p42"/>
          <p:cNvSpPr txBox="1"/>
          <p:nvPr/>
        </p:nvSpPr>
        <p:spPr>
          <a:xfrm>
            <a:off x="4500563" y="1341203"/>
            <a:ext cx="10716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500">
                <a:solidFill>
                  <a:srgbClr val="9CA3AF"/>
                </a:solidFill>
                <a:latin typeface="Lexend"/>
                <a:ea typeface="Lexend"/>
                <a:cs typeface="Lexend"/>
                <a:sym typeface="Lexend"/>
              </a:rPr>
              <a:t>TỶ TRỌNG T8</a:t>
            </a:r>
            <a:endParaRPr sz="1100"/>
          </a:p>
        </p:txBody>
      </p:sp>
      <p:sp>
        <p:nvSpPr>
          <p:cNvPr id="1602" name="Google Shape;1602;p42"/>
          <p:cNvSpPr/>
          <p:nvPr/>
        </p:nvSpPr>
        <p:spPr>
          <a:xfrm>
            <a:off x="542925" y="1482329"/>
            <a:ext cx="50292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3" name="Google Shape;1603;p42"/>
          <p:cNvSpPr/>
          <p:nvPr/>
        </p:nvSpPr>
        <p:spPr>
          <a:xfrm>
            <a:off x="457200" y="1521619"/>
            <a:ext cx="5200800" cy="243000"/>
          </a:xfrm>
          <a:prstGeom prst="roundRect">
            <a:avLst>
              <a:gd fmla="val 23529"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4" name="Google Shape;1604;p42"/>
          <p:cNvSpPr txBox="1"/>
          <p:nvPr/>
        </p:nvSpPr>
        <p:spPr>
          <a:xfrm>
            <a:off x="542925" y="1599307"/>
            <a:ext cx="15003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B4531A"/>
                </a:solidFill>
                <a:latin typeface="Lexend"/>
                <a:ea typeface="Lexend"/>
                <a:cs typeface="Lexend"/>
                <a:sym typeface="Lexend"/>
              </a:rPr>
              <a:t>Thuê-sở hữu qua AIZEN</a:t>
            </a:r>
            <a:endParaRPr sz="1100"/>
          </a:p>
        </p:txBody>
      </p:sp>
      <p:sp>
        <p:nvSpPr>
          <p:cNvPr id="1605" name="Google Shape;1605;p42"/>
          <p:cNvSpPr txBox="1"/>
          <p:nvPr/>
        </p:nvSpPr>
        <p:spPr>
          <a:xfrm>
            <a:off x="2000250" y="160852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9CA3AF"/>
                </a:solidFill>
                <a:latin typeface="Lexend"/>
                <a:ea typeface="Lexend"/>
                <a:cs typeface="Lexend"/>
                <a:sym typeface="Lexend"/>
              </a:rPr>
              <a:t>—</a:t>
            </a:r>
            <a:endParaRPr sz="1100"/>
          </a:p>
        </p:txBody>
      </p:sp>
      <p:sp>
        <p:nvSpPr>
          <p:cNvPr id="1606" name="Google Shape;1606;p42"/>
          <p:cNvSpPr txBox="1"/>
          <p:nvPr/>
        </p:nvSpPr>
        <p:spPr>
          <a:xfrm>
            <a:off x="2471738" y="160852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114</a:t>
            </a:r>
            <a:endParaRPr sz="1100"/>
          </a:p>
        </p:txBody>
      </p:sp>
      <p:sp>
        <p:nvSpPr>
          <p:cNvPr id="1607" name="Google Shape;1607;p42"/>
          <p:cNvSpPr txBox="1"/>
          <p:nvPr/>
        </p:nvSpPr>
        <p:spPr>
          <a:xfrm>
            <a:off x="2943225" y="1594700"/>
            <a:ext cx="428700" cy="1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B4531A"/>
                </a:solidFill>
                <a:latin typeface="Lexend"/>
                <a:ea typeface="Lexend"/>
                <a:cs typeface="Lexend"/>
                <a:sym typeface="Lexend"/>
              </a:rPr>
              <a:t>489</a:t>
            </a:r>
            <a:endParaRPr sz="1100"/>
          </a:p>
        </p:txBody>
      </p:sp>
      <p:sp>
        <p:nvSpPr>
          <p:cNvPr id="1608" name="Google Shape;1608;p42"/>
          <p:cNvSpPr/>
          <p:nvPr/>
        </p:nvSpPr>
        <p:spPr>
          <a:xfrm>
            <a:off x="3471863" y="1635919"/>
            <a:ext cx="1214400" cy="99900"/>
          </a:xfrm>
          <a:prstGeom prst="roundRect">
            <a:avLst>
              <a:gd fmla="val 50000" name="adj"/>
            </a:avLst>
          </a:pr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9" name="Google Shape;1609;p42"/>
          <p:cNvSpPr/>
          <p:nvPr/>
        </p:nvSpPr>
        <p:spPr>
          <a:xfrm>
            <a:off x="3471863" y="1635919"/>
            <a:ext cx="1214400" cy="999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0" name="Google Shape;1610;p42"/>
          <p:cNvSpPr txBox="1"/>
          <p:nvPr/>
        </p:nvSpPr>
        <p:spPr>
          <a:xfrm>
            <a:off x="5000625" y="1594700"/>
            <a:ext cx="571500" cy="17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49,2%</a:t>
            </a:r>
            <a:endParaRPr sz="1100"/>
          </a:p>
        </p:txBody>
      </p:sp>
      <p:sp>
        <p:nvSpPr>
          <p:cNvPr id="1611" name="Google Shape;1611;p42"/>
          <p:cNvSpPr txBox="1"/>
          <p:nvPr/>
        </p:nvSpPr>
        <p:spPr>
          <a:xfrm>
            <a:off x="542925" y="1870769"/>
            <a:ext cx="15003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Dat Bike</a:t>
            </a:r>
            <a:endParaRPr sz="1100"/>
          </a:p>
        </p:txBody>
      </p:sp>
      <p:sp>
        <p:nvSpPr>
          <p:cNvPr id="1612" name="Google Shape;1612;p42"/>
          <p:cNvSpPr txBox="1"/>
          <p:nvPr/>
        </p:nvSpPr>
        <p:spPr>
          <a:xfrm>
            <a:off x="2000250" y="1879985"/>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268</a:t>
            </a:r>
            <a:endParaRPr sz="1100"/>
          </a:p>
        </p:txBody>
      </p:sp>
      <p:sp>
        <p:nvSpPr>
          <p:cNvPr id="1613" name="Google Shape;1613;p42"/>
          <p:cNvSpPr txBox="1"/>
          <p:nvPr/>
        </p:nvSpPr>
        <p:spPr>
          <a:xfrm>
            <a:off x="2471738" y="1879985"/>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211</a:t>
            </a:r>
            <a:endParaRPr sz="1100"/>
          </a:p>
        </p:txBody>
      </p:sp>
      <p:sp>
        <p:nvSpPr>
          <p:cNvPr id="1614" name="Google Shape;1614;p42"/>
          <p:cNvSpPr txBox="1"/>
          <p:nvPr/>
        </p:nvSpPr>
        <p:spPr>
          <a:xfrm>
            <a:off x="2943225" y="1866162"/>
            <a:ext cx="428700" cy="1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307</a:t>
            </a:r>
            <a:endParaRPr sz="1100"/>
          </a:p>
        </p:txBody>
      </p:sp>
      <p:sp>
        <p:nvSpPr>
          <p:cNvPr id="1615" name="Google Shape;1615;p42"/>
          <p:cNvSpPr/>
          <p:nvPr/>
        </p:nvSpPr>
        <p:spPr>
          <a:xfrm>
            <a:off x="3471863" y="1907381"/>
            <a:ext cx="12144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6" name="Google Shape;1616;p42"/>
          <p:cNvSpPr/>
          <p:nvPr/>
        </p:nvSpPr>
        <p:spPr>
          <a:xfrm>
            <a:off x="3471863" y="1907381"/>
            <a:ext cx="762300" cy="99900"/>
          </a:xfrm>
          <a:prstGeom prst="roundRect">
            <a:avLst>
              <a:gd fmla="val 50000"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7" name="Google Shape;1617;p42"/>
          <p:cNvSpPr txBox="1"/>
          <p:nvPr/>
        </p:nvSpPr>
        <p:spPr>
          <a:xfrm>
            <a:off x="5000625" y="1866162"/>
            <a:ext cx="571500" cy="17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30,9%</a:t>
            </a:r>
            <a:endParaRPr sz="1100"/>
          </a:p>
        </p:txBody>
      </p:sp>
      <p:sp>
        <p:nvSpPr>
          <p:cNvPr id="1618" name="Google Shape;1618;p42"/>
          <p:cNvSpPr txBox="1"/>
          <p:nvPr/>
        </p:nvSpPr>
        <p:spPr>
          <a:xfrm>
            <a:off x="542925" y="2142232"/>
            <a:ext cx="15003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Thuê xe Selex</a:t>
            </a:r>
            <a:endParaRPr sz="1100"/>
          </a:p>
        </p:txBody>
      </p:sp>
      <p:sp>
        <p:nvSpPr>
          <p:cNvPr id="1619" name="Google Shape;1619;p42"/>
          <p:cNvSpPr txBox="1"/>
          <p:nvPr/>
        </p:nvSpPr>
        <p:spPr>
          <a:xfrm>
            <a:off x="2000250" y="2151448"/>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143</a:t>
            </a:r>
            <a:endParaRPr sz="1100"/>
          </a:p>
        </p:txBody>
      </p:sp>
      <p:sp>
        <p:nvSpPr>
          <p:cNvPr id="1620" name="Google Shape;1620;p42"/>
          <p:cNvSpPr txBox="1"/>
          <p:nvPr/>
        </p:nvSpPr>
        <p:spPr>
          <a:xfrm>
            <a:off x="2471738" y="2151448"/>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152</a:t>
            </a:r>
            <a:endParaRPr sz="1100"/>
          </a:p>
        </p:txBody>
      </p:sp>
      <p:sp>
        <p:nvSpPr>
          <p:cNvPr id="1621" name="Google Shape;1621;p42"/>
          <p:cNvSpPr txBox="1"/>
          <p:nvPr/>
        </p:nvSpPr>
        <p:spPr>
          <a:xfrm>
            <a:off x="2943225" y="2137625"/>
            <a:ext cx="428700" cy="1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150</a:t>
            </a:r>
            <a:endParaRPr sz="1100"/>
          </a:p>
        </p:txBody>
      </p:sp>
      <p:sp>
        <p:nvSpPr>
          <p:cNvPr id="1622" name="Google Shape;1622;p42"/>
          <p:cNvSpPr/>
          <p:nvPr/>
        </p:nvSpPr>
        <p:spPr>
          <a:xfrm>
            <a:off x="3471863" y="2178844"/>
            <a:ext cx="12144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3" name="Google Shape;1623;p42"/>
          <p:cNvSpPr/>
          <p:nvPr/>
        </p:nvSpPr>
        <p:spPr>
          <a:xfrm>
            <a:off x="3471863" y="2178844"/>
            <a:ext cx="372600" cy="99900"/>
          </a:xfrm>
          <a:prstGeom prst="roundRect">
            <a:avLst>
              <a:gd fmla="val 50000"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4" name="Google Shape;1624;p42"/>
          <p:cNvSpPr txBox="1"/>
          <p:nvPr/>
        </p:nvSpPr>
        <p:spPr>
          <a:xfrm>
            <a:off x="5000625" y="2137625"/>
            <a:ext cx="571500" cy="17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15,1%</a:t>
            </a:r>
            <a:endParaRPr sz="1100"/>
          </a:p>
        </p:txBody>
      </p:sp>
      <p:sp>
        <p:nvSpPr>
          <p:cNvPr id="1625" name="Google Shape;1625;p42"/>
          <p:cNvSpPr txBox="1"/>
          <p:nvPr/>
        </p:nvSpPr>
        <p:spPr>
          <a:xfrm>
            <a:off x="542925" y="2413694"/>
            <a:ext cx="15003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Selex (mua xe)</a:t>
            </a:r>
            <a:endParaRPr sz="1100"/>
          </a:p>
        </p:txBody>
      </p:sp>
      <p:sp>
        <p:nvSpPr>
          <p:cNvPr id="1626" name="Google Shape;1626;p42"/>
          <p:cNvSpPr txBox="1"/>
          <p:nvPr/>
        </p:nvSpPr>
        <p:spPr>
          <a:xfrm>
            <a:off x="2000250" y="2422910"/>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32</a:t>
            </a:r>
            <a:endParaRPr sz="1100"/>
          </a:p>
        </p:txBody>
      </p:sp>
      <p:sp>
        <p:nvSpPr>
          <p:cNvPr id="1627" name="Google Shape;1627;p42"/>
          <p:cNvSpPr txBox="1"/>
          <p:nvPr/>
        </p:nvSpPr>
        <p:spPr>
          <a:xfrm>
            <a:off x="2471738" y="2422910"/>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23</a:t>
            </a:r>
            <a:endParaRPr sz="1100"/>
          </a:p>
        </p:txBody>
      </p:sp>
      <p:sp>
        <p:nvSpPr>
          <p:cNvPr id="1628" name="Google Shape;1628;p42"/>
          <p:cNvSpPr txBox="1"/>
          <p:nvPr/>
        </p:nvSpPr>
        <p:spPr>
          <a:xfrm>
            <a:off x="2943225" y="2409087"/>
            <a:ext cx="428700" cy="1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47</a:t>
            </a:r>
            <a:endParaRPr sz="1100"/>
          </a:p>
        </p:txBody>
      </p:sp>
      <p:sp>
        <p:nvSpPr>
          <p:cNvPr id="1629" name="Google Shape;1629;p42"/>
          <p:cNvSpPr/>
          <p:nvPr/>
        </p:nvSpPr>
        <p:spPr>
          <a:xfrm>
            <a:off x="3471863" y="2450306"/>
            <a:ext cx="12144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0" name="Google Shape;1630;p42"/>
          <p:cNvSpPr/>
          <p:nvPr/>
        </p:nvSpPr>
        <p:spPr>
          <a:xfrm>
            <a:off x="3471863" y="2450306"/>
            <a:ext cx="116700" cy="99900"/>
          </a:xfrm>
          <a:prstGeom prst="roundRect">
            <a:avLst>
              <a:gd fmla="val 50000"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1" name="Google Shape;1631;p42"/>
          <p:cNvSpPr txBox="1"/>
          <p:nvPr/>
        </p:nvSpPr>
        <p:spPr>
          <a:xfrm>
            <a:off x="5000625" y="2409087"/>
            <a:ext cx="571500" cy="17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4,7%</a:t>
            </a:r>
            <a:endParaRPr sz="1100"/>
          </a:p>
        </p:txBody>
      </p:sp>
      <p:sp>
        <p:nvSpPr>
          <p:cNvPr id="1632" name="Google Shape;1632;p42"/>
          <p:cNvSpPr/>
          <p:nvPr/>
        </p:nvSpPr>
        <p:spPr>
          <a:xfrm>
            <a:off x="542925" y="2653904"/>
            <a:ext cx="50292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3" name="Google Shape;1633;p42"/>
          <p:cNvSpPr txBox="1"/>
          <p:nvPr/>
        </p:nvSpPr>
        <p:spPr>
          <a:xfrm>
            <a:off x="542925" y="2718340"/>
            <a:ext cx="8574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Tổng</a:t>
            </a:r>
            <a:endParaRPr sz="1100"/>
          </a:p>
        </p:txBody>
      </p:sp>
      <p:sp>
        <p:nvSpPr>
          <p:cNvPr id="1634" name="Google Shape;1634;p42"/>
          <p:cNvSpPr txBox="1"/>
          <p:nvPr/>
        </p:nvSpPr>
        <p:spPr>
          <a:xfrm>
            <a:off x="2000250" y="2722948"/>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443</a:t>
            </a:r>
            <a:endParaRPr sz="1100"/>
          </a:p>
        </p:txBody>
      </p:sp>
      <p:sp>
        <p:nvSpPr>
          <p:cNvPr id="1635" name="Google Shape;1635;p42"/>
          <p:cNvSpPr txBox="1"/>
          <p:nvPr/>
        </p:nvSpPr>
        <p:spPr>
          <a:xfrm>
            <a:off x="2471738" y="2722948"/>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500</a:t>
            </a:r>
            <a:endParaRPr sz="1100"/>
          </a:p>
        </p:txBody>
      </p:sp>
      <p:sp>
        <p:nvSpPr>
          <p:cNvPr id="1636" name="Google Shape;1636;p42"/>
          <p:cNvSpPr txBox="1"/>
          <p:nvPr/>
        </p:nvSpPr>
        <p:spPr>
          <a:xfrm>
            <a:off x="2943225" y="2709125"/>
            <a:ext cx="428700" cy="1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700">
                <a:solidFill>
                  <a:srgbClr val="0E4174"/>
                </a:solidFill>
                <a:latin typeface="Lexend"/>
                <a:ea typeface="Lexend"/>
                <a:cs typeface="Lexend"/>
                <a:sym typeface="Lexend"/>
              </a:rPr>
              <a:t>993</a:t>
            </a:r>
            <a:endParaRPr sz="1100"/>
          </a:p>
        </p:txBody>
      </p:sp>
      <p:sp>
        <p:nvSpPr>
          <p:cNvPr id="1637" name="Google Shape;1637;p42"/>
          <p:cNvSpPr txBox="1"/>
          <p:nvPr/>
        </p:nvSpPr>
        <p:spPr>
          <a:xfrm>
            <a:off x="5000625" y="2718340"/>
            <a:ext cx="5715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100%</a:t>
            </a:r>
            <a:endParaRPr sz="1100"/>
          </a:p>
        </p:txBody>
      </p:sp>
      <p:sp>
        <p:nvSpPr>
          <p:cNvPr id="1638" name="Google Shape;1638;p42"/>
          <p:cNvSpPr/>
          <p:nvPr/>
        </p:nvSpPr>
        <p:spPr>
          <a:xfrm>
            <a:off x="5943600" y="800100"/>
            <a:ext cx="2857500" cy="2286000"/>
          </a:xfrm>
          <a:prstGeom prst="roundRect">
            <a:avLst>
              <a:gd fmla="val 500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9" name="Google Shape;1639;p42"/>
          <p:cNvSpPr txBox="1"/>
          <p:nvPr/>
        </p:nvSpPr>
        <p:spPr>
          <a:xfrm>
            <a:off x="6143625" y="881253"/>
            <a:ext cx="24576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Không cần vốn ban đầu</a:t>
            </a:r>
            <a:endParaRPr sz="1100"/>
          </a:p>
        </p:txBody>
      </p:sp>
      <p:sp>
        <p:nvSpPr>
          <p:cNvPr id="1640" name="Google Shape;1640;p42"/>
          <p:cNvSpPr txBox="1"/>
          <p:nvPr/>
        </p:nvSpPr>
        <p:spPr>
          <a:xfrm>
            <a:off x="6143625" y="1070205"/>
            <a:ext cx="24576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thuê Selex + thuê-sở hữu AIZEN / tổng lượt</a:t>
            </a:r>
            <a:endParaRPr sz="1100"/>
          </a:p>
        </p:txBody>
      </p:sp>
      <p:sp>
        <p:nvSpPr>
          <p:cNvPr id="1641" name="Google Shape;1641;p42"/>
          <p:cNvSpPr txBox="1"/>
          <p:nvPr/>
        </p:nvSpPr>
        <p:spPr>
          <a:xfrm>
            <a:off x="6143625" y="1194721"/>
            <a:ext cx="1785900" cy="59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2500">
                <a:solidFill>
                  <a:srgbClr val="E0641A"/>
                </a:solidFill>
                <a:latin typeface="Lexend"/>
                <a:ea typeface="Lexend"/>
                <a:cs typeface="Lexend"/>
                <a:sym typeface="Lexend"/>
              </a:rPr>
              <a:t>64,4%</a:t>
            </a:r>
            <a:endParaRPr sz="1100"/>
          </a:p>
        </p:txBody>
      </p:sp>
      <p:sp>
        <p:nvSpPr>
          <p:cNvPr id="1642" name="Google Shape;1642;p42"/>
          <p:cNvSpPr txBox="1"/>
          <p:nvPr/>
        </p:nvSpPr>
        <p:spPr>
          <a:xfrm>
            <a:off x="6143625" y="1655993"/>
            <a:ext cx="24288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lượt quan tâm T8 thuộc mô hình thuê</a:t>
            </a:r>
            <a:endParaRPr sz="1100"/>
          </a:p>
        </p:txBody>
      </p:sp>
      <p:sp>
        <p:nvSpPr>
          <p:cNvPr id="1643" name="Google Shape;1643;p42"/>
          <p:cNvSpPr txBox="1"/>
          <p:nvPr/>
        </p:nvSpPr>
        <p:spPr>
          <a:xfrm>
            <a:off x="6143625" y="1979998"/>
            <a:ext cx="2430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6B7280"/>
                </a:solidFill>
                <a:latin typeface="Lexend"/>
                <a:ea typeface="Lexend"/>
                <a:cs typeface="Lexend"/>
                <a:sym typeface="Lexend"/>
              </a:rPr>
              <a:t>T6</a:t>
            </a:r>
            <a:endParaRPr sz="1100"/>
          </a:p>
        </p:txBody>
      </p:sp>
      <p:sp>
        <p:nvSpPr>
          <p:cNvPr id="1644" name="Google Shape;1644;p42"/>
          <p:cNvSpPr/>
          <p:nvPr/>
        </p:nvSpPr>
        <p:spPr>
          <a:xfrm>
            <a:off x="6386513" y="2007394"/>
            <a:ext cx="10716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5" name="Google Shape;1645;p42"/>
          <p:cNvSpPr/>
          <p:nvPr/>
        </p:nvSpPr>
        <p:spPr>
          <a:xfrm>
            <a:off x="6386513" y="2007394"/>
            <a:ext cx="346200" cy="99900"/>
          </a:xfrm>
          <a:prstGeom prst="roundRect">
            <a:avLst>
              <a:gd fmla="val 50000"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6" name="Google Shape;1646;p42"/>
          <p:cNvSpPr txBox="1"/>
          <p:nvPr/>
        </p:nvSpPr>
        <p:spPr>
          <a:xfrm>
            <a:off x="7515225" y="1989213"/>
            <a:ext cx="500100" cy="14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9CA3AF"/>
                </a:solidFill>
                <a:latin typeface="Lexend"/>
                <a:ea typeface="Lexend"/>
                <a:cs typeface="Lexend"/>
                <a:sym typeface="Lexend"/>
              </a:rPr>
              <a:t>143 lượt</a:t>
            </a:r>
            <a:endParaRPr sz="1100"/>
          </a:p>
        </p:txBody>
      </p:sp>
      <p:sp>
        <p:nvSpPr>
          <p:cNvPr id="1647" name="Google Shape;1647;p42"/>
          <p:cNvSpPr txBox="1"/>
          <p:nvPr/>
        </p:nvSpPr>
        <p:spPr>
          <a:xfrm>
            <a:off x="8143875" y="1970782"/>
            <a:ext cx="4572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6B7280"/>
                </a:solidFill>
                <a:latin typeface="Lexend"/>
                <a:ea typeface="Lexend"/>
                <a:cs typeface="Lexend"/>
                <a:sym typeface="Lexend"/>
              </a:rPr>
              <a:t>32,3%</a:t>
            </a:r>
            <a:endParaRPr sz="1100"/>
          </a:p>
        </p:txBody>
      </p:sp>
      <p:sp>
        <p:nvSpPr>
          <p:cNvPr id="1648" name="Google Shape;1648;p42"/>
          <p:cNvSpPr txBox="1"/>
          <p:nvPr/>
        </p:nvSpPr>
        <p:spPr>
          <a:xfrm>
            <a:off x="6143625" y="2222885"/>
            <a:ext cx="2430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6B7280"/>
                </a:solidFill>
                <a:latin typeface="Lexend"/>
                <a:ea typeface="Lexend"/>
                <a:cs typeface="Lexend"/>
                <a:sym typeface="Lexend"/>
              </a:rPr>
              <a:t>T7</a:t>
            </a:r>
            <a:endParaRPr sz="1100"/>
          </a:p>
        </p:txBody>
      </p:sp>
      <p:sp>
        <p:nvSpPr>
          <p:cNvPr id="1649" name="Google Shape;1649;p42"/>
          <p:cNvSpPr/>
          <p:nvPr/>
        </p:nvSpPr>
        <p:spPr>
          <a:xfrm>
            <a:off x="6386513" y="2250281"/>
            <a:ext cx="10716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0" name="Google Shape;1650;p42"/>
          <p:cNvSpPr/>
          <p:nvPr/>
        </p:nvSpPr>
        <p:spPr>
          <a:xfrm>
            <a:off x="6386513" y="2250281"/>
            <a:ext cx="570000" cy="99900"/>
          </a:xfrm>
          <a:prstGeom prst="roundRect">
            <a:avLst>
              <a:gd fmla="val 50000" name="adj"/>
            </a:avLst>
          </a:prstGeom>
          <a:solidFill>
            <a:srgbClr val="F3C4A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1" name="Google Shape;1651;p42"/>
          <p:cNvSpPr txBox="1"/>
          <p:nvPr/>
        </p:nvSpPr>
        <p:spPr>
          <a:xfrm>
            <a:off x="7515225" y="2232101"/>
            <a:ext cx="500100" cy="14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9CA3AF"/>
                </a:solidFill>
                <a:latin typeface="Lexend"/>
                <a:ea typeface="Lexend"/>
                <a:cs typeface="Lexend"/>
                <a:sym typeface="Lexend"/>
              </a:rPr>
              <a:t>266 lượt</a:t>
            </a:r>
            <a:endParaRPr sz="1100"/>
          </a:p>
        </p:txBody>
      </p:sp>
      <p:sp>
        <p:nvSpPr>
          <p:cNvPr id="1652" name="Google Shape;1652;p42"/>
          <p:cNvSpPr txBox="1"/>
          <p:nvPr/>
        </p:nvSpPr>
        <p:spPr>
          <a:xfrm>
            <a:off x="8143875" y="2213669"/>
            <a:ext cx="4572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374151"/>
                </a:solidFill>
                <a:latin typeface="Lexend"/>
                <a:ea typeface="Lexend"/>
                <a:cs typeface="Lexend"/>
                <a:sym typeface="Lexend"/>
              </a:rPr>
              <a:t>53,2%</a:t>
            </a:r>
            <a:endParaRPr sz="1100"/>
          </a:p>
        </p:txBody>
      </p:sp>
      <p:sp>
        <p:nvSpPr>
          <p:cNvPr id="1653" name="Google Shape;1653;p42"/>
          <p:cNvSpPr txBox="1"/>
          <p:nvPr/>
        </p:nvSpPr>
        <p:spPr>
          <a:xfrm>
            <a:off x="6143625" y="2465773"/>
            <a:ext cx="2430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6B7280"/>
                </a:solidFill>
                <a:latin typeface="Lexend"/>
                <a:ea typeface="Lexend"/>
                <a:cs typeface="Lexend"/>
                <a:sym typeface="Lexend"/>
              </a:rPr>
              <a:t>T8</a:t>
            </a:r>
            <a:endParaRPr sz="1100"/>
          </a:p>
        </p:txBody>
      </p:sp>
      <p:sp>
        <p:nvSpPr>
          <p:cNvPr id="1654" name="Google Shape;1654;p42"/>
          <p:cNvSpPr/>
          <p:nvPr/>
        </p:nvSpPr>
        <p:spPr>
          <a:xfrm>
            <a:off x="6386513" y="2493169"/>
            <a:ext cx="10716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5" name="Google Shape;1655;p42"/>
          <p:cNvSpPr/>
          <p:nvPr/>
        </p:nvSpPr>
        <p:spPr>
          <a:xfrm>
            <a:off x="6386513" y="2493169"/>
            <a:ext cx="690000" cy="999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6" name="Google Shape;1656;p42"/>
          <p:cNvSpPr txBox="1"/>
          <p:nvPr/>
        </p:nvSpPr>
        <p:spPr>
          <a:xfrm>
            <a:off x="7515225" y="2474988"/>
            <a:ext cx="500100" cy="14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600">
                <a:solidFill>
                  <a:srgbClr val="9CA3AF"/>
                </a:solidFill>
                <a:latin typeface="Lexend"/>
                <a:ea typeface="Lexend"/>
                <a:cs typeface="Lexend"/>
                <a:sym typeface="Lexend"/>
              </a:rPr>
              <a:t>639 lượt</a:t>
            </a:r>
            <a:endParaRPr sz="1100"/>
          </a:p>
        </p:txBody>
      </p:sp>
      <p:sp>
        <p:nvSpPr>
          <p:cNvPr id="1657" name="Google Shape;1657;p42"/>
          <p:cNvSpPr txBox="1"/>
          <p:nvPr/>
        </p:nvSpPr>
        <p:spPr>
          <a:xfrm>
            <a:off x="8143875" y="2456557"/>
            <a:ext cx="4572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64,4%</a:t>
            </a:r>
            <a:endParaRPr sz="1100"/>
          </a:p>
        </p:txBody>
      </p:sp>
      <p:sp>
        <p:nvSpPr>
          <p:cNvPr id="1658" name="Google Shape;1658;p42"/>
          <p:cNvSpPr/>
          <p:nvPr/>
        </p:nvSpPr>
        <p:spPr>
          <a:xfrm>
            <a:off x="6143625" y="2686050"/>
            <a:ext cx="2457600" cy="357300"/>
          </a:xfrm>
          <a:prstGeom prst="roundRect">
            <a:avLst>
              <a:gd fmla="val 20000" name="adj"/>
            </a:avLst>
          </a:prstGeom>
          <a:solidFill>
            <a:srgbClr val="FFF3EB"/>
          </a:solidFill>
          <a:ln cap="flat" cmpd="sng" w="9525">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9" name="Google Shape;1659;p42"/>
          <p:cNvSpPr/>
          <p:nvPr/>
        </p:nvSpPr>
        <p:spPr>
          <a:xfrm>
            <a:off x="6254354" y="2832497"/>
            <a:ext cx="64200" cy="64200"/>
          </a:xfrm>
          <a:prstGeom prst="ellipse">
            <a:avLst/>
          </a:prstGeom>
          <a:solidFill>
            <a:srgbClr val="FF7F3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60" name="Google Shape;1660;p42"/>
          <p:cNvSpPr txBox="1"/>
          <p:nvPr/>
        </p:nvSpPr>
        <p:spPr>
          <a:xfrm>
            <a:off x="6400800" y="2728913"/>
            <a:ext cx="2043000" cy="271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600">
                <a:solidFill>
                  <a:srgbClr val="B4531A"/>
                </a:solidFill>
                <a:latin typeface="Lexend"/>
                <a:ea typeface="Lexend"/>
                <a:cs typeface="Lexend"/>
                <a:sym typeface="Lexend"/>
              </a:rPr>
              <a:t>Đây đã là bài toán tài chính, không phải bán xe.</a:t>
            </a:r>
            <a:endParaRPr sz="1100"/>
          </a:p>
        </p:txBody>
      </p:sp>
      <p:sp>
        <p:nvSpPr>
          <p:cNvPr id="1661" name="Google Shape;1661;p42"/>
          <p:cNvSpPr/>
          <p:nvPr/>
        </p:nvSpPr>
        <p:spPr>
          <a:xfrm>
            <a:off x="342900" y="3200400"/>
            <a:ext cx="4172100" cy="1686000"/>
          </a:xfrm>
          <a:prstGeom prst="roundRect">
            <a:avLst>
              <a:gd fmla="val 677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2" name="Google Shape;1662;p42"/>
          <p:cNvSpPr txBox="1"/>
          <p:nvPr/>
        </p:nvSpPr>
        <p:spPr>
          <a:xfrm>
            <a:off x="542925" y="3281553"/>
            <a:ext cx="37719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TP.HCM dẫn nhu cầu, Hà Nội tụt ở dòng mua xe</a:t>
            </a:r>
            <a:endParaRPr sz="1100"/>
          </a:p>
        </p:txBody>
      </p:sp>
      <p:sp>
        <p:nvSpPr>
          <p:cNvPr id="1663" name="Google Shape;1663;p42"/>
          <p:cNvSpPr txBox="1"/>
          <p:nvPr/>
        </p:nvSpPr>
        <p:spPr>
          <a:xfrm>
            <a:off x="542925" y="3470505"/>
            <a:ext cx="37719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lượt quan tâm tháng 8 theo thành phố</a:t>
            </a:r>
            <a:endParaRPr sz="1100"/>
          </a:p>
        </p:txBody>
      </p:sp>
      <p:sp>
        <p:nvSpPr>
          <p:cNvPr id="1664" name="Google Shape;1664;p42"/>
          <p:cNvSpPr txBox="1"/>
          <p:nvPr/>
        </p:nvSpPr>
        <p:spPr>
          <a:xfrm>
            <a:off x="542925" y="3689890"/>
            <a:ext cx="4287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HCM</a:t>
            </a:r>
            <a:endParaRPr sz="1100"/>
          </a:p>
        </p:txBody>
      </p:sp>
      <p:sp>
        <p:nvSpPr>
          <p:cNvPr id="1665" name="Google Shape;1665;p42"/>
          <p:cNvSpPr/>
          <p:nvPr/>
        </p:nvSpPr>
        <p:spPr>
          <a:xfrm>
            <a:off x="1000125" y="3721894"/>
            <a:ext cx="17145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6" name="Google Shape;1666;p42"/>
          <p:cNvSpPr/>
          <p:nvPr/>
        </p:nvSpPr>
        <p:spPr>
          <a:xfrm>
            <a:off x="1000125" y="3721894"/>
            <a:ext cx="1244700" cy="999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7" name="Google Shape;1667;p42"/>
          <p:cNvSpPr txBox="1"/>
          <p:nvPr/>
        </p:nvSpPr>
        <p:spPr>
          <a:xfrm>
            <a:off x="2857500" y="3685282"/>
            <a:ext cx="4287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721</a:t>
            </a:r>
            <a:endParaRPr sz="1100"/>
          </a:p>
        </p:txBody>
      </p:sp>
      <p:sp>
        <p:nvSpPr>
          <p:cNvPr id="1668" name="Google Shape;1668;p42"/>
          <p:cNvSpPr txBox="1"/>
          <p:nvPr/>
        </p:nvSpPr>
        <p:spPr>
          <a:xfrm>
            <a:off x="3743325" y="3689890"/>
            <a:ext cx="5715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6B7280"/>
                </a:solidFill>
                <a:latin typeface="Lexend"/>
                <a:ea typeface="Lexend"/>
                <a:cs typeface="Lexend"/>
                <a:sym typeface="Lexend"/>
              </a:rPr>
              <a:t>72,6%</a:t>
            </a:r>
            <a:endParaRPr sz="1100"/>
          </a:p>
        </p:txBody>
      </p:sp>
      <p:sp>
        <p:nvSpPr>
          <p:cNvPr id="1669" name="Google Shape;1669;p42"/>
          <p:cNvSpPr txBox="1"/>
          <p:nvPr/>
        </p:nvSpPr>
        <p:spPr>
          <a:xfrm>
            <a:off x="542925" y="3889915"/>
            <a:ext cx="4287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HN</a:t>
            </a:r>
            <a:endParaRPr sz="1100"/>
          </a:p>
        </p:txBody>
      </p:sp>
      <p:sp>
        <p:nvSpPr>
          <p:cNvPr id="1670" name="Google Shape;1670;p42"/>
          <p:cNvSpPr/>
          <p:nvPr/>
        </p:nvSpPr>
        <p:spPr>
          <a:xfrm>
            <a:off x="1000125" y="3921919"/>
            <a:ext cx="17145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1" name="Google Shape;1671;p42"/>
          <p:cNvSpPr/>
          <p:nvPr/>
        </p:nvSpPr>
        <p:spPr>
          <a:xfrm>
            <a:off x="1000125" y="3921919"/>
            <a:ext cx="445800" cy="99900"/>
          </a:xfrm>
          <a:prstGeom prst="roundRect">
            <a:avLst>
              <a:gd fmla="val 50000" name="adj"/>
            </a:avLst>
          </a:prstGeom>
          <a:solidFill>
            <a:srgbClr val="1A549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2" name="Google Shape;1672;p42"/>
          <p:cNvSpPr txBox="1"/>
          <p:nvPr/>
        </p:nvSpPr>
        <p:spPr>
          <a:xfrm>
            <a:off x="2857500" y="3885307"/>
            <a:ext cx="4287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258</a:t>
            </a:r>
            <a:endParaRPr sz="1100"/>
          </a:p>
        </p:txBody>
      </p:sp>
      <p:sp>
        <p:nvSpPr>
          <p:cNvPr id="1673" name="Google Shape;1673;p42"/>
          <p:cNvSpPr txBox="1"/>
          <p:nvPr/>
        </p:nvSpPr>
        <p:spPr>
          <a:xfrm>
            <a:off x="3743325" y="3889915"/>
            <a:ext cx="5715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6B7280"/>
                </a:solidFill>
                <a:latin typeface="Lexend"/>
                <a:ea typeface="Lexend"/>
                <a:cs typeface="Lexend"/>
                <a:sym typeface="Lexend"/>
              </a:rPr>
              <a:t>26,0%</a:t>
            </a:r>
            <a:endParaRPr sz="1100"/>
          </a:p>
        </p:txBody>
      </p:sp>
      <p:sp>
        <p:nvSpPr>
          <p:cNvPr id="1674" name="Google Shape;1674;p42"/>
          <p:cNvSpPr txBox="1"/>
          <p:nvPr/>
        </p:nvSpPr>
        <p:spPr>
          <a:xfrm>
            <a:off x="542925" y="4089940"/>
            <a:ext cx="4287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EXP</a:t>
            </a:r>
            <a:endParaRPr sz="1100"/>
          </a:p>
        </p:txBody>
      </p:sp>
      <p:sp>
        <p:nvSpPr>
          <p:cNvPr id="1675" name="Google Shape;1675;p42"/>
          <p:cNvSpPr/>
          <p:nvPr/>
        </p:nvSpPr>
        <p:spPr>
          <a:xfrm>
            <a:off x="1000125" y="4121944"/>
            <a:ext cx="1714500" cy="999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6" name="Google Shape;1676;p42"/>
          <p:cNvSpPr/>
          <p:nvPr/>
        </p:nvSpPr>
        <p:spPr>
          <a:xfrm>
            <a:off x="1000125" y="4121944"/>
            <a:ext cx="99900" cy="99900"/>
          </a:xfrm>
          <a:prstGeom prst="roundRect">
            <a:avLst>
              <a:gd fmla="val 50000"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7" name="Google Shape;1677;p42"/>
          <p:cNvSpPr txBox="1"/>
          <p:nvPr/>
        </p:nvSpPr>
        <p:spPr>
          <a:xfrm>
            <a:off x="2857500" y="4085332"/>
            <a:ext cx="4287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14</a:t>
            </a:r>
            <a:endParaRPr sz="1100"/>
          </a:p>
        </p:txBody>
      </p:sp>
      <p:sp>
        <p:nvSpPr>
          <p:cNvPr id="1678" name="Google Shape;1678;p42"/>
          <p:cNvSpPr txBox="1"/>
          <p:nvPr/>
        </p:nvSpPr>
        <p:spPr>
          <a:xfrm>
            <a:off x="3743325" y="4089940"/>
            <a:ext cx="5715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6B7280"/>
                </a:solidFill>
                <a:latin typeface="Lexend"/>
                <a:ea typeface="Lexend"/>
                <a:cs typeface="Lexend"/>
                <a:sym typeface="Lexend"/>
              </a:rPr>
              <a:t>1,4%</a:t>
            </a:r>
            <a:endParaRPr sz="1100"/>
          </a:p>
        </p:txBody>
      </p:sp>
      <p:sp>
        <p:nvSpPr>
          <p:cNvPr id="1679" name="Google Shape;1679;p42"/>
          <p:cNvSpPr/>
          <p:nvPr/>
        </p:nvSpPr>
        <p:spPr>
          <a:xfrm>
            <a:off x="542925" y="4325541"/>
            <a:ext cx="37719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0" name="Google Shape;1680;p42"/>
          <p:cNvSpPr/>
          <p:nvPr/>
        </p:nvSpPr>
        <p:spPr>
          <a:xfrm>
            <a:off x="542925" y="4407694"/>
            <a:ext cx="35700" cy="128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1" name="Google Shape;1681;p42"/>
          <p:cNvSpPr txBox="1"/>
          <p:nvPr/>
        </p:nvSpPr>
        <p:spPr>
          <a:xfrm>
            <a:off x="657225" y="4418088"/>
            <a:ext cx="32862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6B7280"/>
                </a:solidFill>
                <a:latin typeface="Lexend"/>
                <a:ea typeface="Lexend"/>
                <a:cs typeface="Lexend"/>
                <a:sym typeface="Lexend"/>
              </a:rPr>
              <a:t>DÒNG MUA XE TÁCH ĐÔI THEO THÀNH PHỐ</a:t>
            </a:r>
            <a:endParaRPr sz="1100"/>
          </a:p>
        </p:txBody>
      </p:sp>
      <p:sp>
        <p:nvSpPr>
          <p:cNvPr id="1682" name="Google Shape;1682;p42"/>
          <p:cNvSpPr txBox="1"/>
          <p:nvPr/>
        </p:nvSpPr>
        <p:spPr>
          <a:xfrm>
            <a:off x="542925" y="4566035"/>
            <a:ext cx="8574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C0392B"/>
                </a:solidFill>
                <a:latin typeface="Lexend"/>
                <a:ea typeface="Lexend"/>
                <a:cs typeface="Lexend"/>
                <a:sym typeface="Lexend"/>
              </a:rPr>
              <a:t>Dat Bike · HN</a:t>
            </a:r>
            <a:endParaRPr sz="1100"/>
          </a:p>
        </p:txBody>
      </p:sp>
      <p:sp>
        <p:nvSpPr>
          <p:cNvPr id="1683" name="Google Shape;1683;p42"/>
          <p:cNvSpPr txBox="1"/>
          <p:nvPr/>
        </p:nvSpPr>
        <p:spPr>
          <a:xfrm>
            <a:off x="1714500" y="4566035"/>
            <a:ext cx="11430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374151"/>
                </a:solidFill>
                <a:latin typeface="Lexend"/>
                <a:ea typeface="Lexend"/>
                <a:cs typeface="Lexend"/>
                <a:sym typeface="Lexend"/>
              </a:rPr>
              <a:t>85 → 64 → 50</a:t>
            </a:r>
            <a:endParaRPr sz="1100"/>
          </a:p>
        </p:txBody>
      </p:sp>
      <p:sp>
        <p:nvSpPr>
          <p:cNvPr id="1684" name="Google Shape;1684;p42"/>
          <p:cNvSpPr txBox="1"/>
          <p:nvPr/>
        </p:nvSpPr>
        <p:spPr>
          <a:xfrm>
            <a:off x="3814763" y="4566035"/>
            <a:ext cx="500100" cy="156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600">
                <a:solidFill>
                  <a:srgbClr val="C0392B"/>
                </a:solidFill>
                <a:latin typeface="Lexend"/>
                <a:ea typeface="Lexend"/>
                <a:cs typeface="Lexend"/>
                <a:sym typeface="Lexend"/>
              </a:rPr>
              <a:t>−41,2%</a:t>
            </a:r>
            <a:endParaRPr sz="1100"/>
          </a:p>
        </p:txBody>
      </p:sp>
      <p:sp>
        <p:nvSpPr>
          <p:cNvPr id="1685" name="Google Shape;1685;p42"/>
          <p:cNvSpPr txBox="1"/>
          <p:nvPr/>
        </p:nvSpPr>
        <p:spPr>
          <a:xfrm>
            <a:off x="542925" y="4708910"/>
            <a:ext cx="857400" cy="15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0F7A5A"/>
                </a:solidFill>
                <a:latin typeface="Lexend"/>
                <a:ea typeface="Lexend"/>
                <a:cs typeface="Lexend"/>
                <a:sym typeface="Lexend"/>
              </a:rPr>
              <a:t>Dat Bike · HCM</a:t>
            </a:r>
            <a:endParaRPr sz="1100"/>
          </a:p>
        </p:txBody>
      </p:sp>
      <p:sp>
        <p:nvSpPr>
          <p:cNvPr id="1686" name="Google Shape;1686;p42"/>
          <p:cNvSpPr txBox="1"/>
          <p:nvPr/>
        </p:nvSpPr>
        <p:spPr>
          <a:xfrm>
            <a:off x="1714500" y="4708910"/>
            <a:ext cx="11430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374151"/>
                </a:solidFill>
                <a:latin typeface="Lexend"/>
                <a:ea typeface="Lexend"/>
                <a:cs typeface="Lexend"/>
                <a:sym typeface="Lexend"/>
              </a:rPr>
              <a:t>183 → 147 → 252</a:t>
            </a:r>
            <a:endParaRPr sz="1100"/>
          </a:p>
        </p:txBody>
      </p:sp>
      <p:sp>
        <p:nvSpPr>
          <p:cNvPr id="1687" name="Google Shape;1687;p42"/>
          <p:cNvSpPr txBox="1"/>
          <p:nvPr/>
        </p:nvSpPr>
        <p:spPr>
          <a:xfrm>
            <a:off x="3814763" y="4708910"/>
            <a:ext cx="500100" cy="156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600">
                <a:solidFill>
                  <a:srgbClr val="0F7A5A"/>
                </a:solidFill>
                <a:latin typeface="Lexend"/>
                <a:ea typeface="Lexend"/>
                <a:cs typeface="Lexend"/>
                <a:sym typeface="Lexend"/>
              </a:rPr>
              <a:t>+37,7%</a:t>
            </a:r>
            <a:endParaRPr sz="1100"/>
          </a:p>
        </p:txBody>
      </p:sp>
      <p:sp>
        <p:nvSpPr>
          <p:cNvPr id="1688" name="Google Shape;1688;p42"/>
          <p:cNvSpPr/>
          <p:nvPr/>
        </p:nvSpPr>
        <p:spPr>
          <a:xfrm>
            <a:off x="4686300" y="3200400"/>
            <a:ext cx="4114800" cy="1686000"/>
          </a:xfrm>
          <a:prstGeom prst="roundRect">
            <a:avLst>
              <a:gd fmla="val 6779" name="adj"/>
            </a:avLst>
          </a:prstGeom>
          <a:solidFill>
            <a:srgbClr val="FFF3EB"/>
          </a:solidFill>
          <a:ln cap="flat" cmpd="sng" w="14275">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9" name="Google Shape;1689;p42"/>
          <p:cNvSpPr/>
          <p:nvPr/>
        </p:nvSpPr>
        <p:spPr>
          <a:xfrm>
            <a:off x="4886325" y="3336131"/>
            <a:ext cx="35700" cy="1287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0" name="Google Shape;1690;p42"/>
          <p:cNvSpPr txBox="1"/>
          <p:nvPr/>
        </p:nvSpPr>
        <p:spPr>
          <a:xfrm>
            <a:off x="5000625" y="3346525"/>
            <a:ext cx="32862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E0641A"/>
                </a:solidFill>
                <a:latin typeface="Lexend"/>
                <a:ea typeface="Lexend"/>
                <a:cs typeface="Lexend"/>
                <a:sym typeface="Lexend"/>
              </a:rPr>
              <a:t>KHOẢNG TRỐNG CẦN ĐO NGAY</a:t>
            </a:r>
            <a:endParaRPr sz="1100"/>
          </a:p>
        </p:txBody>
      </p:sp>
      <p:sp>
        <p:nvSpPr>
          <p:cNvPr id="1691" name="Google Shape;1691;p42"/>
          <p:cNvSpPr/>
          <p:nvPr/>
        </p:nvSpPr>
        <p:spPr>
          <a:xfrm>
            <a:off x="4886325" y="3571875"/>
            <a:ext cx="1785900" cy="543000"/>
          </a:xfrm>
          <a:prstGeom prst="roundRect">
            <a:avLst>
              <a:gd fmla="val 15789" name="adj"/>
            </a:avLst>
          </a:prstGeom>
          <a:solidFill>
            <a:srgbClr val="FFFFFF"/>
          </a:solidFill>
          <a:ln cap="flat" cmpd="sng" w="9525">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2" name="Google Shape;1692;p42"/>
          <p:cNvSpPr txBox="1"/>
          <p:nvPr/>
        </p:nvSpPr>
        <p:spPr>
          <a:xfrm>
            <a:off x="5014913" y="3581162"/>
            <a:ext cx="857400" cy="40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700">
                <a:solidFill>
                  <a:srgbClr val="B4531A"/>
                </a:solidFill>
                <a:latin typeface="Lexend"/>
                <a:ea typeface="Lexend"/>
                <a:cs typeface="Lexend"/>
                <a:sym typeface="Lexend"/>
              </a:rPr>
              <a:t>489</a:t>
            </a:r>
            <a:endParaRPr sz="1100"/>
          </a:p>
        </p:txBody>
      </p:sp>
      <p:sp>
        <p:nvSpPr>
          <p:cNvPr id="1693" name="Google Shape;1693;p42"/>
          <p:cNvSpPr txBox="1"/>
          <p:nvPr/>
        </p:nvSpPr>
        <p:spPr>
          <a:xfrm>
            <a:off x="5014913" y="3922634"/>
            <a:ext cx="15717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lượt quan tâm AIZEN · T8</a:t>
            </a:r>
            <a:endParaRPr sz="1100"/>
          </a:p>
        </p:txBody>
      </p:sp>
      <p:sp>
        <p:nvSpPr>
          <p:cNvPr id="1694" name="Google Shape;1694;p42"/>
          <p:cNvSpPr/>
          <p:nvPr/>
        </p:nvSpPr>
        <p:spPr>
          <a:xfrm>
            <a:off x="6815138" y="3571875"/>
            <a:ext cx="1785900" cy="543000"/>
          </a:xfrm>
          <a:prstGeom prst="roundRect">
            <a:avLst>
              <a:gd fmla="val 15789" name="adj"/>
            </a:avLst>
          </a:prstGeom>
          <a:solidFill>
            <a:srgbClr val="FFFFFF"/>
          </a:solidFill>
          <a:ln cap="flat" cmpd="sng" w="9525">
            <a:solidFill>
              <a:srgbClr val="F3C4A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5" name="Google Shape;1695;p42"/>
          <p:cNvSpPr txBox="1"/>
          <p:nvPr/>
        </p:nvSpPr>
        <p:spPr>
          <a:xfrm>
            <a:off x="6943725" y="3581162"/>
            <a:ext cx="857400" cy="40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700">
                <a:solidFill>
                  <a:srgbClr val="C0392B"/>
                </a:solidFill>
                <a:latin typeface="Lexend"/>
                <a:ea typeface="Lexend"/>
                <a:cs typeface="Lexend"/>
                <a:sym typeface="Lexend"/>
              </a:rPr>
              <a:t>322</a:t>
            </a:r>
            <a:endParaRPr sz="1100"/>
          </a:p>
        </p:txBody>
      </p:sp>
      <p:sp>
        <p:nvSpPr>
          <p:cNvPr id="1696" name="Google Shape;1696;p42"/>
          <p:cNvSpPr txBox="1"/>
          <p:nvPr/>
        </p:nvSpPr>
        <p:spPr>
          <a:xfrm>
            <a:off x="6943725" y="3922634"/>
            <a:ext cx="15717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chuyển đổi cả T8 · mọi loại hình</a:t>
            </a:r>
            <a:endParaRPr sz="1100"/>
          </a:p>
        </p:txBody>
      </p:sp>
      <p:sp>
        <p:nvSpPr>
          <p:cNvPr id="1697" name="Google Shape;1697;p42"/>
          <p:cNvSpPr txBox="1"/>
          <p:nvPr/>
        </p:nvSpPr>
        <p:spPr>
          <a:xfrm>
            <a:off x="4886325" y="4257675"/>
            <a:ext cx="3714900" cy="543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 sz="600">
                <a:solidFill>
                  <a:srgbClr val="374151"/>
                </a:solidFill>
                <a:latin typeface="Lexend"/>
                <a:ea typeface="Lexend"/>
                <a:cs typeface="Lexend"/>
                <a:sym typeface="Lexend"/>
              </a:rPr>
              <a:t>Nhu cầu thuê-sở hữu đã có, nhưng tổng chuyển đổi không nhích theo. </a:t>
            </a:r>
            <a:r>
              <a:rPr b="1" lang="en" sz="600">
                <a:solidFill>
                  <a:srgbClr val="B4531A"/>
                </a:solidFill>
                <a:latin typeface="Lexend"/>
                <a:ea typeface="Lexend"/>
                <a:cs typeface="Lexend"/>
                <a:sym typeface="Lexend"/>
              </a:rPr>
              <a:t>Làm việc với Aizen đẩy số lượng xe đáp ứng nhu cầu tài xế đặc biệt tại khu vực HCM</a:t>
            </a:r>
            <a:r>
              <a:rPr b="1" i="0" lang="en" sz="600">
                <a:solidFill>
                  <a:srgbClr val="B4531A"/>
                </a:solidFill>
                <a:latin typeface="Lexend"/>
                <a:ea typeface="Lexend"/>
                <a:cs typeface="Lexend"/>
                <a:sym typeface="Lexend"/>
              </a:rPr>
              <a:t>.</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1" name="Shape 1701"/>
        <p:cNvGrpSpPr/>
        <p:nvPr/>
      </p:nvGrpSpPr>
      <p:grpSpPr>
        <a:xfrm>
          <a:off x="0" y="0"/>
          <a:ext cx="0" cy="0"/>
          <a:chOff x="0" y="0"/>
          <a:chExt cx="0" cy="0"/>
        </a:xfrm>
      </p:grpSpPr>
      <p:sp>
        <p:nvSpPr>
          <p:cNvPr id="1702" name="Google Shape;1702;p43"/>
          <p:cNvSpPr/>
          <p:nvPr/>
        </p:nvSpPr>
        <p:spPr>
          <a:xfrm>
            <a:off x="4629150" y="3634902"/>
            <a:ext cx="4172100" cy="1257300"/>
          </a:xfrm>
          <a:prstGeom prst="roundRect">
            <a:avLst>
              <a:gd fmla="val 909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3" name="Google Shape;1703;p43"/>
          <p:cNvSpPr/>
          <p:nvPr/>
        </p:nvSpPr>
        <p:spPr>
          <a:xfrm>
            <a:off x="5501363" y="1641463"/>
            <a:ext cx="3300000" cy="1885800"/>
          </a:xfrm>
          <a:prstGeom prst="roundRect">
            <a:avLst>
              <a:gd fmla="val 606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4" name="Google Shape;1704;p43"/>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5" name="Google Shape;1705;p43"/>
          <p:cNvSpPr txBox="1"/>
          <p:nvPr/>
        </p:nvSpPr>
        <p:spPr>
          <a:xfrm>
            <a:off x="500063" y="203311"/>
            <a:ext cx="7215300" cy="3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84,5% tài xế EV chạy part-time</a:t>
            </a:r>
            <a:endParaRPr sz="1100"/>
          </a:p>
        </p:txBody>
      </p:sp>
      <p:sp>
        <p:nvSpPr>
          <p:cNvPr id="1706" name="Google Shape;1706;p43"/>
          <p:cNvSpPr txBox="1"/>
          <p:nvPr/>
        </p:nvSpPr>
        <p:spPr>
          <a:xfrm>
            <a:off x="500063" y="511385"/>
            <a:ext cx="7215300" cy="18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800">
                <a:solidFill>
                  <a:srgbClr val="6B7280"/>
                </a:solidFill>
                <a:latin typeface="Lexend"/>
                <a:ea typeface="Lexend"/>
                <a:cs typeface="Lexend"/>
                <a:sym typeface="Lexend"/>
              </a:rPr>
              <a:t>2.439 tài xế EV hoạt động trong tháng 8 · nhóm bronze chạy 40,5 h/tháng · 15,5% ở gold+silver gánh 45,2% tổng giờ</a:t>
            </a:r>
            <a:endParaRPr b="1" sz="1100"/>
          </a:p>
        </p:txBody>
      </p:sp>
      <p:sp>
        <p:nvSpPr>
          <p:cNvPr id="1707" name="Google Shape;1707;p43"/>
          <p:cNvSpPr/>
          <p:nvPr/>
        </p:nvSpPr>
        <p:spPr>
          <a:xfrm>
            <a:off x="7800975" y="300038"/>
            <a:ext cx="10002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8" name="Google Shape;1708;p43"/>
          <p:cNvSpPr txBox="1"/>
          <p:nvPr/>
        </p:nvSpPr>
        <p:spPr>
          <a:xfrm>
            <a:off x="7800975" y="354223"/>
            <a:ext cx="1000200" cy="18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800">
                <a:solidFill>
                  <a:srgbClr val="E0641A"/>
                </a:solidFill>
                <a:latin typeface="Lexend"/>
                <a:ea typeface="Lexend"/>
                <a:cs typeface="Lexend"/>
                <a:sym typeface="Lexend"/>
              </a:rPr>
              <a:t>2.439 TX · T8</a:t>
            </a:r>
            <a:endParaRPr sz="1100"/>
          </a:p>
        </p:txBody>
      </p:sp>
      <p:sp>
        <p:nvSpPr>
          <p:cNvPr id="1709" name="Google Shape;1709;p43"/>
          <p:cNvSpPr/>
          <p:nvPr/>
        </p:nvSpPr>
        <p:spPr>
          <a:xfrm>
            <a:off x="342900"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0" name="Google Shape;1710;p43"/>
          <p:cNvSpPr txBox="1"/>
          <p:nvPr/>
        </p:nvSpPr>
        <p:spPr>
          <a:xfrm>
            <a:off x="500063"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TÀI XẾ EV · T8</a:t>
            </a:r>
            <a:endParaRPr sz="1100"/>
          </a:p>
        </p:txBody>
      </p:sp>
      <p:sp>
        <p:nvSpPr>
          <p:cNvPr id="1711" name="Google Shape;1711;p43"/>
          <p:cNvSpPr txBox="1"/>
          <p:nvPr/>
        </p:nvSpPr>
        <p:spPr>
          <a:xfrm>
            <a:off x="500063"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2.439</a:t>
            </a:r>
            <a:endParaRPr sz="1100"/>
          </a:p>
        </p:txBody>
      </p:sp>
      <p:sp>
        <p:nvSpPr>
          <p:cNvPr id="1712" name="Google Shape;1712;p43"/>
          <p:cNvSpPr txBox="1"/>
          <p:nvPr/>
        </p:nvSpPr>
        <p:spPr>
          <a:xfrm>
            <a:off x="500063"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bronze 2.061 · sil 132 · gold 246</a:t>
            </a:r>
            <a:endParaRPr sz="1100"/>
          </a:p>
        </p:txBody>
      </p:sp>
      <p:sp>
        <p:nvSpPr>
          <p:cNvPr id="1713" name="Google Shape;1713;p43"/>
          <p:cNvSpPr/>
          <p:nvPr/>
        </p:nvSpPr>
        <p:spPr>
          <a:xfrm>
            <a:off x="2486025"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4" name="Google Shape;1714;p43"/>
          <p:cNvSpPr txBox="1"/>
          <p:nvPr/>
        </p:nvSpPr>
        <p:spPr>
          <a:xfrm>
            <a:off x="2643188"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GIỜ HOẠT ĐỘNG · T8</a:t>
            </a:r>
            <a:endParaRPr sz="1100"/>
          </a:p>
        </p:txBody>
      </p:sp>
      <p:sp>
        <p:nvSpPr>
          <p:cNvPr id="1715" name="Google Shape;1715;p43"/>
          <p:cNvSpPr txBox="1"/>
          <p:nvPr/>
        </p:nvSpPr>
        <p:spPr>
          <a:xfrm>
            <a:off x="2643188"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152.208</a:t>
            </a:r>
            <a:r>
              <a:rPr b="0" i="0" lang="en" sz="700">
                <a:solidFill>
                  <a:srgbClr val="6B7280"/>
                </a:solidFill>
                <a:latin typeface="Lexend"/>
                <a:ea typeface="Lexend"/>
                <a:cs typeface="Lexend"/>
                <a:sym typeface="Lexend"/>
              </a:rPr>
              <a:t> giờ</a:t>
            </a:r>
            <a:endParaRPr sz="1100"/>
          </a:p>
        </p:txBody>
      </p:sp>
      <p:sp>
        <p:nvSpPr>
          <p:cNvPr id="1716" name="Google Shape;1716;p43"/>
          <p:cNvSpPr txBox="1"/>
          <p:nvPr/>
        </p:nvSpPr>
        <p:spPr>
          <a:xfrm>
            <a:off x="2643188"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trung bình 62,4 h/tài xế</a:t>
            </a:r>
            <a:endParaRPr sz="1100"/>
          </a:p>
        </p:txBody>
      </p:sp>
      <p:sp>
        <p:nvSpPr>
          <p:cNvPr id="1717" name="Google Shape;1717;p43"/>
          <p:cNvSpPr/>
          <p:nvPr/>
        </p:nvSpPr>
        <p:spPr>
          <a:xfrm>
            <a:off x="4629150"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8" name="Google Shape;1718;p43"/>
          <p:cNvSpPr txBox="1"/>
          <p:nvPr/>
        </p:nvSpPr>
        <p:spPr>
          <a:xfrm>
            <a:off x="4786313"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BRONZE — 84,5% TÀI XẾ</a:t>
            </a:r>
            <a:endParaRPr sz="1100"/>
          </a:p>
        </p:txBody>
      </p:sp>
      <p:sp>
        <p:nvSpPr>
          <p:cNvPr id="1719" name="Google Shape;1719;p43"/>
          <p:cNvSpPr txBox="1"/>
          <p:nvPr/>
        </p:nvSpPr>
        <p:spPr>
          <a:xfrm>
            <a:off x="4786313"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40,5</a:t>
            </a:r>
            <a:r>
              <a:rPr b="0" i="0" lang="en" sz="700">
                <a:solidFill>
                  <a:srgbClr val="6B7280"/>
                </a:solidFill>
                <a:latin typeface="Lexend"/>
                <a:ea typeface="Lexend"/>
                <a:cs typeface="Lexend"/>
                <a:sym typeface="Lexend"/>
              </a:rPr>
              <a:t> h/tháng</a:t>
            </a:r>
            <a:endParaRPr sz="1100"/>
          </a:p>
        </p:txBody>
      </p:sp>
      <p:sp>
        <p:nvSpPr>
          <p:cNvPr id="1720" name="Google Shape;1720;p43"/>
          <p:cNvSpPr txBox="1"/>
          <p:nvPr/>
        </p:nvSpPr>
        <p:spPr>
          <a:xfrm>
            <a:off x="4786313"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 9,1 h/tuần · mức part-time</a:t>
            </a:r>
            <a:endParaRPr sz="1100"/>
          </a:p>
        </p:txBody>
      </p:sp>
      <p:sp>
        <p:nvSpPr>
          <p:cNvPr id="1721" name="Google Shape;1721;p43"/>
          <p:cNvSpPr/>
          <p:nvPr/>
        </p:nvSpPr>
        <p:spPr>
          <a:xfrm>
            <a:off x="6772275" y="800100"/>
            <a:ext cx="2028900" cy="628800"/>
          </a:xfrm>
          <a:prstGeom prst="roundRect">
            <a:avLst>
              <a:gd fmla="val 15909"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2" name="Google Shape;1722;p43"/>
          <p:cNvSpPr txBox="1"/>
          <p:nvPr/>
        </p:nvSpPr>
        <p:spPr>
          <a:xfrm>
            <a:off x="6929438" y="886539"/>
            <a:ext cx="1714500" cy="13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600">
                <a:solidFill>
                  <a:srgbClr val="9CA3AF"/>
                </a:solidFill>
                <a:latin typeface="Lexend"/>
                <a:ea typeface="Lexend"/>
                <a:cs typeface="Lexend"/>
                <a:sym typeface="Lexend"/>
              </a:rPr>
              <a:t>GOLD — 10,1% TÀI XẾ</a:t>
            </a:r>
            <a:endParaRPr sz="1100"/>
          </a:p>
        </p:txBody>
      </p:sp>
      <p:sp>
        <p:nvSpPr>
          <p:cNvPr id="1723" name="Google Shape;1723;p43"/>
          <p:cNvSpPr txBox="1"/>
          <p:nvPr/>
        </p:nvSpPr>
        <p:spPr>
          <a:xfrm>
            <a:off x="6929438" y="972764"/>
            <a:ext cx="1714500" cy="36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1500">
                <a:solidFill>
                  <a:srgbClr val="0E4174"/>
                </a:solidFill>
                <a:latin typeface="Lexend"/>
                <a:ea typeface="Lexend"/>
                <a:cs typeface="Lexend"/>
                <a:sym typeface="Lexend"/>
              </a:rPr>
              <a:t>209,6</a:t>
            </a:r>
            <a:r>
              <a:rPr b="0" i="0" lang="en" sz="700">
                <a:solidFill>
                  <a:srgbClr val="6B7280"/>
                </a:solidFill>
                <a:latin typeface="Lexend"/>
                <a:ea typeface="Lexend"/>
                <a:cs typeface="Lexend"/>
                <a:sym typeface="Lexend"/>
              </a:rPr>
              <a:t> h/tháng</a:t>
            </a:r>
            <a:endParaRPr sz="1100"/>
          </a:p>
        </p:txBody>
      </p:sp>
      <p:sp>
        <p:nvSpPr>
          <p:cNvPr id="1724" name="Google Shape;1724;p43"/>
          <p:cNvSpPr txBox="1"/>
          <p:nvPr/>
        </p:nvSpPr>
        <p:spPr>
          <a:xfrm>
            <a:off x="6929438" y="1260551"/>
            <a:ext cx="17145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&gt; 150 h = mức fulltime</a:t>
            </a:r>
            <a:endParaRPr sz="1100"/>
          </a:p>
        </p:txBody>
      </p:sp>
      <p:sp>
        <p:nvSpPr>
          <p:cNvPr id="1725" name="Google Shape;1725;p43"/>
          <p:cNvSpPr/>
          <p:nvPr/>
        </p:nvSpPr>
        <p:spPr>
          <a:xfrm>
            <a:off x="342900" y="1628775"/>
            <a:ext cx="5000700" cy="1885800"/>
          </a:xfrm>
          <a:prstGeom prst="roundRect">
            <a:avLst>
              <a:gd fmla="val 606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6" name="Google Shape;1726;p43"/>
          <p:cNvSpPr txBox="1"/>
          <p:nvPr/>
        </p:nvSpPr>
        <p:spPr>
          <a:xfrm>
            <a:off x="542925" y="1709928"/>
            <a:ext cx="46005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Tập EV tháng 8 theo rank</a:t>
            </a:r>
            <a:endParaRPr sz="1100"/>
          </a:p>
        </p:txBody>
      </p:sp>
      <p:sp>
        <p:nvSpPr>
          <p:cNvPr id="1727" name="Google Shape;1727;p43"/>
          <p:cNvSpPr txBox="1"/>
          <p:nvPr/>
        </p:nvSpPr>
        <p:spPr>
          <a:xfrm>
            <a:off x="542925" y="1898880"/>
            <a:ext cx="46005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Cột = giờ trung bình mỗi tài xế trong tháng (thang 0–210 h)</a:t>
            </a:r>
            <a:endParaRPr sz="1100"/>
          </a:p>
        </p:txBody>
      </p:sp>
      <p:sp>
        <p:nvSpPr>
          <p:cNvPr id="1728" name="Google Shape;1728;p43"/>
          <p:cNvSpPr txBox="1"/>
          <p:nvPr/>
        </p:nvSpPr>
        <p:spPr>
          <a:xfrm>
            <a:off x="542925" y="2155591"/>
            <a:ext cx="6429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500">
                <a:solidFill>
                  <a:srgbClr val="9CA3AF"/>
                </a:solidFill>
                <a:latin typeface="Lexend"/>
                <a:ea typeface="Lexend"/>
                <a:cs typeface="Lexend"/>
                <a:sym typeface="Lexend"/>
              </a:rPr>
              <a:t>RANK</a:t>
            </a:r>
            <a:endParaRPr sz="1100"/>
          </a:p>
        </p:txBody>
      </p:sp>
      <p:sp>
        <p:nvSpPr>
          <p:cNvPr id="1729" name="Google Shape;1729;p43"/>
          <p:cNvSpPr txBox="1"/>
          <p:nvPr/>
        </p:nvSpPr>
        <p:spPr>
          <a:xfrm>
            <a:off x="1214438" y="2155591"/>
            <a:ext cx="4287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SỐ TX</a:t>
            </a:r>
            <a:endParaRPr sz="1100"/>
          </a:p>
        </p:txBody>
      </p:sp>
      <p:sp>
        <p:nvSpPr>
          <p:cNvPr id="1730" name="Google Shape;1730;p43"/>
          <p:cNvSpPr txBox="1"/>
          <p:nvPr/>
        </p:nvSpPr>
        <p:spPr>
          <a:xfrm>
            <a:off x="1728788" y="2155591"/>
            <a:ext cx="400200" cy="12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500">
                <a:solidFill>
                  <a:srgbClr val="9CA3AF"/>
                </a:solidFill>
                <a:latin typeface="Lexend"/>
                <a:ea typeface="Lexend"/>
                <a:cs typeface="Lexend"/>
                <a:sym typeface="Lexend"/>
              </a:rPr>
              <a:t>% TX</a:t>
            </a:r>
            <a:endParaRPr sz="1100"/>
          </a:p>
        </p:txBody>
      </p:sp>
      <p:sp>
        <p:nvSpPr>
          <p:cNvPr id="1731" name="Google Shape;1731;p43"/>
          <p:cNvSpPr txBox="1"/>
          <p:nvPr/>
        </p:nvSpPr>
        <p:spPr>
          <a:xfrm>
            <a:off x="3286125" y="2155591"/>
            <a:ext cx="5001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500">
                <a:solidFill>
                  <a:srgbClr val="9CA3AF"/>
                </a:solidFill>
                <a:latin typeface="Lexend"/>
                <a:ea typeface="Lexend"/>
                <a:cs typeface="Lexend"/>
                <a:sym typeface="Lexend"/>
              </a:rPr>
              <a:t>GIỜ TB</a:t>
            </a:r>
            <a:endParaRPr sz="1100"/>
          </a:p>
        </p:txBody>
      </p:sp>
      <p:sp>
        <p:nvSpPr>
          <p:cNvPr id="1732" name="Google Shape;1732;p43"/>
          <p:cNvSpPr txBox="1"/>
          <p:nvPr/>
        </p:nvSpPr>
        <p:spPr>
          <a:xfrm>
            <a:off x="3857625" y="2155591"/>
            <a:ext cx="6429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500">
                <a:solidFill>
                  <a:srgbClr val="9CA3AF"/>
                </a:solidFill>
                <a:latin typeface="Lexend"/>
                <a:ea typeface="Lexend"/>
                <a:cs typeface="Lexend"/>
                <a:sym typeface="Lexend"/>
              </a:rPr>
              <a:t>TỔNG GIỜ</a:t>
            </a:r>
            <a:endParaRPr sz="1100"/>
          </a:p>
        </p:txBody>
      </p:sp>
      <p:sp>
        <p:nvSpPr>
          <p:cNvPr id="1733" name="Google Shape;1733;p43"/>
          <p:cNvSpPr txBox="1"/>
          <p:nvPr/>
        </p:nvSpPr>
        <p:spPr>
          <a:xfrm>
            <a:off x="4686300" y="2155591"/>
            <a:ext cx="4572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500">
                <a:solidFill>
                  <a:srgbClr val="9CA3AF"/>
                </a:solidFill>
                <a:latin typeface="Lexend"/>
                <a:ea typeface="Lexend"/>
                <a:cs typeface="Lexend"/>
                <a:sym typeface="Lexend"/>
              </a:rPr>
              <a:t>% GIỜ</a:t>
            </a:r>
            <a:endParaRPr sz="1100"/>
          </a:p>
        </p:txBody>
      </p:sp>
      <p:sp>
        <p:nvSpPr>
          <p:cNvPr id="1734" name="Google Shape;1734;p43"/>
          <p:cNvSpPr/>
          <p:nvPr/>
        </p:nvSpPr>
        <p:spPr>
          <a:xfrm>
            <a:off x="542925" y="2296716"/>
            <a:ext cx="46005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5" name="Google Shape;1735;p43"/>
          <p:cNvSpPr/>
          <p:nvPr/>
        </p:nvSpPr>
        <p:spPr>
          <a:xfrm>
            <a:off x="457200" y="2328863"/>
            <a:ext cx="4772100" cy="221400"/>
          </a:xfrm>
          <a:prstGeom prst="roundRect">
            <a:avLst>
              <a:gd fmla="val 25806" name="adj"/>
            </a:avLst>
          </a:prstGeom>
          <a:solidFill>
            <a:srgbClr val="FDECE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6" name="Google Shape;1736;p43"/>
          <p:cNvSpPr txBox="1"/>
          <p:nvPr/>
        </p:nvSpPr>
        <p:spPr>
          <a:xfrm>
            <a:off x="542925" y="2385119"/>
            <a:ext cx="6429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C0392B"/>
                </a:solidFill>
                <a:latin typeface="Lexend"/>
                <a:ea typeface="Lexend"/>
                <a:cs typeface="Lexend"/>
                <a:sym typeface="Lexend"/>
              </a:rPr>
              <a:t>bronze</a:t>
            </a:r>
            <a:endParaRPr sz="1100"/>
          </a:p>
        </p:txBody>
      </p:sp>
      <p:sp>
        <p:nvSpPr>
          <p:cNvPr id="1737" name="Google Shape;1737;p43"/>
          <p:cNvSpPr txBox="1"/>
          <p:nvPr/>
        </p:nvSpPr>
        <p:spPr>
          <a:xfrm>
            <a:off x="1214438" y="2394335"/>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374151"/>
                </a:solidFill>
                <a:latin typeface="Lexend"/>
                <a:ea typeface="Lexend"/>
                <a:cs typeface="Lexend"/>
                <a:sym typeface="Lexend"/>
              </a:rPr>
              <a:t>2.061</a:t>
            </a:r>
            <a:endParaRPr sz="1100"/>
          </a:p>
        </p:txBody>
      </p:sp>
      <p:sp>
        <p:nvSpPr>
          <p:cNvPr id="1738" name="Google Shape;1738;p43"/>
          <p:cNvSpPr txBox="1"/>
          <p:nvPr/>
        </p:nvSpPr>
        <p:spPr>
          <a:xfrm>
            <a:off x="1728788" y="2394335"/>
            <a:ext cx="4002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84,5%</a:t>
            </a:r>
            <a:endParaRPr sz="1100"/>
          </a:p>
        </p:txBody>
      </p:sp>
      <p:sp>
        <p:nvSpPr>
          <p:cNvPr id="1739" name="Google Shape;1739;p43"/>
          <p:cNvSpPr/>
          <p:nvPr/>
        </p:nvSpPr>
        <p:spPr>
          <a:xfrm>
            <a:off x="2257425" y="2425304"/>
            <a:ext cx="1071600" cy="93000"/>
          </a:xfrm>
          <a:prstGeom prst="roundRect">
            <a:avLst>
              <a:gd fmla="val 50000" name="adj"/>
            </a:avLst>
          </a:pr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0" name="Google Shape;1740;p43"/>
          <p:cNvSpPr/>
          <p:nvPr/>
        </p:nvSpPr>
        <p:spPr>
          <a:xfrm>
            <a:off x="2257425" y="2425304"/>
            <a:ext cx="207000" cy="93000"/>
          </a:xfrm>
          <a:prstGeom prst="roundRect">
            <a:avLst>
              <a:gd fmla="val 50000" name="adj"/>
            </a:avLst>
          </a:prstGeom>
          <a:solidFill>
            <a:srgbClr val="C0392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1" name="Google Shape;1741;p43"/>
          <p:cNvSpPr txBox="1"/>
          <p:nvPr/>
        </p:nvSpPr>
        <p:spPr>
          <a:xfrm>
            <a:off x="3286125" y="2385119"/>
            <a:ext cx="5001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C0392B"/>
                </a:solidFill>
                <a:latin typeface="Lexend"/>
                <a:ea typeface="Lexend"/>
                <a:cs typeface="Lexend"/>
                <a:sym typeface="Lexend"/>
              </a:rPr>
              <a:t>40,5 h</a:t>
            </a:r>
            <a:endParaRPr sz="1100"/>
          </a:p>
        </p:txBody>
      </p:sp>
      <p:sp>
        <p:nvSpPr>
          <p:cNvPr id="1742" name="Google Shape;1742;p43"/>
          <p:cNvSpPr txBox="1"/>
          <p:nvPr/>
        </p:nvSpPr>
        <p:spPr>
          <a:xfrm>
            <a:off x="3857625" y="2389727"/>
            <a:ext cx="642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83.484</a:t>
            </a:r>
            <a:endParaRPr sz="1100"/>
          </a:p>
        </p:txBody>
      </p:sp>
      <p:sp>
        <p:nvSpPr>
          <p:cNvPr id="1743" name="Google Shape;1743;p43"/>
          <p:cNvSpPr txBox="1"/>
          <p:nvPr/>
        </p:nvSpPr>
        <p:spPr>
          <a:xfrm>
            <a:off x="4686300" y="2385119"/>
            <a:ext cx="4572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C0392B"/>
                </a:solidFill>
                <a:latin typeface="Lexend"/>
                <a:ea typeface="Lexend"/>
                <a:cs typeface="Lexend"/>
                <a:sym typeface="Lexend"/>
              </a:rPr>
              <a:t>54,8%</a:t>
            </a:r>
            <a:endParaRPr sz="1100"/>
          </a:p>
        </p:txBody>
      </p:sp>
      <p:sp>
        <p:nvSpPr>
          <p:cNvPr id="1744" name="Google Shape;1744;p43"/>
          <p:cNvSpPr txBox="1"/>
          <p:nvPr/>
        </p:nvSpPr>
        <p:spPr>
          <a:xfrm>
            <a:off x="542925" y="2628007"/>
            <a:ext cx="6429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sil</a:t>
            </a:r>
            <a:endParaRPr sz="1100"/>
          </a:p>
        </p:txBody>
      </p:sp>
      <p:sp>
        <p:nvSpPr>
          <p:cNvPr id="1745" name="Google Shape;1745;p43"/>
          <p:cNvSpPr txBox="1"/>
          <p:nvPr/>
        </p:nvSpPr>
        <p:spPr>
          <a:xfrm>
            <a:off x="1214438" y="263722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374151"/>
                </a:solidFill>
                <a:latin typeface="Lexend"/>
                <a:ea typeface="Lexend"/>
                <a:cs typeface="Lexend"/>
                <a:sym typeface="Lexend"/>
              </a:rPr>
              <a:t>132</a:t>
            </a:r>
            <a:endParaRPr sz="1100"/>
          </a:p>
        </p:txBody>
      </p:sp>
      <p:sp>
        <p:nvSpPr>
          <p:cNvPr id="1746" name="Google Shape;1746;p43"/>
          <p:cNvSpPr txBox="1"/>
          <p:nvPr/>
        </p:nvSpPr>
        <p:spPr>
          <a:xfrm>
            <a:off x="1728788" y="2637223"/>
            <a:ext cx="4002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5,4%</a:t>
            </a:r>
            <a:endParaRPr sz="1100"/>
          </a:p>
        </p:txBody>
      </p:sp>
      <p:sp>
        <p:nvSpPr>
          <p:cNvPr id="1747" name="Google Shape;1747;p43"/>
          <p:cNvSpPr/>
          <p:nvPr/>
        </p:nvSpPr>
        <p:spPr>
          <a:xfrm>
            <a:off x="2257425" y="2668191"/>
            <a:ext cx="1071600" cy="93000"/>
          </a:xfrm>
          <a:prstGeom prst="roundRect">
            <a:avLst>
              <a:gd fmla="val 50000" name="adj"/>
            </a:avLst>
          </a:prstGeom>
          <a:solidFill>
            <a:srgbClr val="F1F3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8" name="Google Shape;1748;p43"/>
          <p:cNvSpPr/>
          <p:nvPr/>
        </p:nvSpPr>
        <p:spPr>
          <a:xfrm>
            <a:off x="2257425" y="2668191"/>
            <a:ext cx="664800" cy="93000"/>
          </a:xfrm>
          <a:prstGeom prst="roundRect">
            <a:avLst>
              <a:gd fmla="val 50000" name="adj"/>
            </a:avLst>
          </a:prstGeom>
          <a:solidFill>
            <a:srgbClr val="1A549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9" name="Google Shape;1749;p43"/>
          <p:cNvSpPr txBox="1"/>
          <p:nvPr/>
        </p:nvSpPr>
        <p:spPr>
          <a:xfrm>
            <a:off x="3286125" y="2628007"/>
            <a:ext cx="5001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130,0 h</a:t>
            </a:r>
            <a:endParaRPr sz="1100"/>
          </a:p>
        </p:txBody>
      </p:sp>
      <p:sp>
        <p:nvSpPr>
          <p:cNvPr id="1750" name="Google Shape;1750;p43"/>
          <p:cNvSpPr txBox="1"/>
          <p:nvPr/>
        </p:nvSpPr>
        <p:spPr>
          <a:xfrm>
            <a:off x="3857625" y="2632615"/>
            <a:ext cx="642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17.166</a:t>
            </a:r>
            <a:endParaRPr sz="1100"/>
          </a:p>
        </p:txBody>
      </p:sp>
      <p:sp>
        <p:nvSpPr>
          <p:cNvPr id="1751" name="Google Shape;1751;p43"/>
          <p:cNvSpPr txBox="1"/>
          <p:nvPr/>
        </p:nvSpPr>
        <p:spPr>
          <a:xfrm>
            <a:off x="4686300" y="2628007"/>
            <a:ext cx="4572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11,3%</a:t>
            </a:r>
            <a:endParaRPr sz="1100"/>
          </a:p>
        </p:txBody>
      </p:sp>
      <p:sp>
        <p:nvSpPr>
          <p:cNvPr id="1752" name="Google Shape;1752;p43"/>
          <p:cNvSpPr/>
          <p:nvPr/>
        </p:nvSpPr>
        <p:spPr>
          <a:xfrm>
            <a:off x="457200" y="2814638"/>
            <a:ext cx="4772100" cy="221400"/>
          </a:xfrm>
          <a:prstGeom prst="roundRect">
            <a:avLst>
              <a:gd fmla="val 25806" name="adj"/>
            </a:avLst>
          </a:prstGeom>
          <a:solidFill>
            <a:srgbClr val="ECFD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3" name="Google Shape;1753;p43"/>
          <p:cNvSpPr txBox="1"/>
          <p:nvPr/>
        </p:nvSpPr>
        <p:spPr>
          <a:xfrm>
            <a:off x="542925" y="2870894"/>
            <a:ext cx="642900" cy="1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F7A5A"/>
                </a:solidFill>
                <a:latin typeface="Lexend"/>
                <a:ea typeface="Lexend"/>
                <a:cs typeface="Lexend"/>
                <a:sym typeface="Lexend"/>
              </a:rPr>
              <a:t>gold</a:t>
            </a:r>
            <a:endParaRPr sz="1100"/>
          </a:p>
        </p:txBody>
      </p:sp>
      <p:sp>
        <p:nvSpPr>
          <p:cNvPr id="1754" name="Google Shape;1754;p43"/>
          <p:cNvSpPr txBox="1"/>
          <p:nvPr/>
        </p:nvSpPr>
        <p:spPr>
          <a:xfrm>
            <a:off x="1214438" y="2880110"/>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374151"/>
                </a:solidFill>
                <a:latin typeface="Lexend"/>
                <a:ea typeface="Lexend"/>
                <a:cs typeface="Lexend"/>
                <a:sym typeface="Lexend"/>
              </a:rPr>
              <a:t>246</a:t>
            </a:r>
            <a:endParaRPr sz="1100"/>
          </a:p>
        </p:txBody>
      </p:sp>
      <p:sp>
        <p:nvSpPr>
          <p:cNvPr id="1755" name="Google Shape;1755;p43"/>
          <p:cNvSpPr txBox="1"/>
          <p:nvPr/>
        </p:nvSpPr>
        <p:spPr>
          <a:xfrm>
            <a:off x="1728788" y="2880110"/>
            <a:ext cx="4002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10,1%</a:t>
            </a:r>
            <a:endParaRPr sz="1100"/>
          </a:p>
        </p:txBody>
      </p:sp>
      <p:sp>
        <p:nvSpPr>
          <p:cNvPr id="1756" name="Google Shape;1756;p43"/>
          <p:cNvSpPr/>
          <p:nvPr/>
        </p:nvSpPr>
        <p:spPr>
          <a:xfrm>
            <a:off x="2257425" y="2911079"/>
            <a:ext cx="1071600" cy="93000"/>
          </a:xfrm>
          <a:prstGeom prst="roundRect">
            <a:avLst>
              <a:gd fmla="val 50000" name="adj"/>
            </a:avLst>
          </a:pr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7" name="Google Shape;1757;p43"/>
          <p:cNvSpPr/>
          <p:nvPr/>
        </p:nvSpPr>
        <p:spPr>
          <a:xfrm>
            <a:off x="2257425" y="2911079"/>
            <a:ext cx="1071600" cy="93000"/>
          </a:xfrm>
          <a:prstGeom prst="roundRect">
            <a:avLst>
              <a:gd fmla="val 50000" name="adj"/>
            </a:avLst>
          </a:prstGeom>
          <a:solidFill>
            <a:srgbClr val="10B98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8" name="Google Shape;1758;p43"/>
          <p:cNvSpPr txBox="1"/>
          <p:nvPr/>
        </p:nvSpPr>
        <p:spPr>
          <a:xfrm>
            <a:off x="3286125" y="2870894"/>
            <a:ext cx="5001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F7A5A"/>
                </a:solidFill>
                <a:latin typeface="Lexend"/>
                <a:ea typeface="Lexend"/>
                <a:cs typeface="Lexend"/>
                <a:sym typeface="Lexend"/>
              </a:rPr>
              <a:t>209,6 h</a:t>
            </a:r>
            <a:endParaRPr sz="1100"/>
          </a:p>
        </p:txBody>
      </p:sp>
      <p:sp>
        <p:nvSpPr>
          <p:cNvPr id="1759" name="Google Shape;1759;p43"/>
          <p:cNvSpPr txBox="1"/>
          <p:nvPr/>
        </p:nvSpPr>
        <p:spPr>
          <a:xfrm>
            <a:off x="3857625" y="2875502"/>
            <a:ext cx="642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 sz="700">
                <a:solidFill>
                  <a:srgbClr val="374151"/>
                </a:solidFill>
                <a:latin typeface="Lexend"/>
                <a:ea typeface="Lexend"/>
                <a:cs typeface="Lexend"/>
                <a:sym typeface="Lexend"/>
              </a:rPr>
              <a:t>51.558</a:t>
            </a:r>
            <a:endParaRPr sz="1100"/>
          </a:p>
        </p:txBody>
      </p:sp>
      <p:sp>
        <p:nvSpPr>
          <p:cNvPr id="1760" name="Google Shape;1760;p43"/>
          <p:cNvSpPr txBox="1"/>
          <p:nvPr/>
        </p:nvSpPr>
        <p:spPr>
          <a:xfrm>
            <a:off x="4686300" y="2870894"/>
            <a:ext cx="457200" cy="16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F7A5A"/>
                </a:solidFill>
                <a:latin typeface="Lexend"/>
                <a:ea typeface="Lexend"/>
                <a:cs typeface="Lexend"/>
                <a:sym typeface="Lexend"/>
              </a:rPr>
              <a:t>33,9%</a:t>
            </a:r>
            <a:endParaRPr sz="1100"/>
          </a:p>
        </p:txBody>
      </p:sp>
      <p:sp>
        <p:nvSpPr>
          <p:cNvPr id="1761" name="Google Shape;1761;p43"/>
          <p:cNvSpPr/>
          <p:nvPr/>
        </p:nvSpPr>
        <p:spPr>
          <a:xfrm>
            <a:off x="542925" y="3096816"/>
            <a:ext cx="4600500" cy="7200"/>
          </a:xfrm>
          <a:prstGeom prst="rect">
            <a:avLst/>
          </a:prstGeom>
          <a:solidFill>
            <a:srgbClr val="EDF1F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62" name="Google Shape;1762;p43"/>
          <p:cNvSpPr txBox="1"/>
          <p:nvPr/>
        </p:nvSpPr>
        <p:spPr>
          <a:xfrm>
            <a:off x="542925" y="3146965"/>
            <a:ext cx="6429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700">
                <a:solidFill>
                  <a:srgbClr val="0E4174"/>
                </a:solidFill>
                <a:latin typeface="Lexend"/>
                <a:ea typeface="Lexend"/>
                <a:cs typeface="Lexend"/>
                <a:sym typeface="Lexend"/>
              </a:rPr>
              <a:t>Tổng</a:t>
            </a:r>
            <a:endParaRPr sz="1100"/>
          </a:p>
        </p:txBody>
      </p:sp>
      <p:sp>
        <p:nvSpPr>
          <p:cNvPr id="1763" name="Google Shape;1763;p43"/>
          <p:cNvSpPr txBox="1"/>
          <p:nvPr/>
        </p:nvSpPr>
        <p:spPr>
          <a:xfrm>
            <a:off x="1214438" y="3151573"/>
            <a:ext cx="4287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374151"/>
                </a:solidFill>
                <a:latin typeface="Lexend"/>
                <a:ea typeface="Lexend"/>
                <a:cs typeface="Lexend"/>
                <a:sym typeface="Lexend"/>
              </a:rPr>
              <a:t>2.439</a:t>
            </a:r>
            <a:endParaRPr sz="1100"/>
          </a:p>
        </p:txBody>
      </p:sp>
      <p:sp>
        <p:nvSpPr>
          <p:cNvPr id="1764" name="Google Shape;1764;p43"/>
          <p:cNvSpPr txBox="1"/>
          <p:nvPr/>
        </p:nvSpPr>
        <p:spPr>
          <a:xfrm>
            <a:off x="1728788" y="3151573"/>
            <a:ext cx="4002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 sz="600">
                <a:solidFill>
                  <a:srgbClr val="6B7280"/>
                </a:solidFill>
                <a:latin typeface="Lexend"/>
                <a:ea typeface="Lexend"/>
                <a:cs typeface="Lexend"/>
                <a:sym typeface="Lexend"/>
              </a:rPr>
              <a:t>100%</a:t>
            </a:r>
            <a:endParaRPr sz="1100"/>
          </a:p>
        </p:txBody>
      </p:sp>
      <p:sp>
        <p:nvSpPr>
          <p:cNvPr id="1765" name="Google Shape;1765;p43"/>
          <p:cNvSpPr txBox="1"/>
          <p:nvPr/>
        </p:nvSpPr>
        <p:spPr>
          <a:xfrm>
            <a:off x="3286125" y="3146965"/>
            <a:ext cx="5001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62,4 h</a:t>
            </a:r>
            <a:endParaRPr sz="1100"/>
          </a:p>
        </p:txBody>
      </p:sp>
      <p:sp>
        <p:nvSpPr>
          <p:cNvPr id="1766" name="Google Shape;1766;p43"/>
          <p:cNvSpPr txBox="1"/>
          <p:nvPr/>
        </p:nvSpPr>
        <p:spPr>
          <a:xfrm>
            <a:off x="3857625" y="3146965"/>
            <a:ext cx="6429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152.208</a:t>
            </a:r>
            <a:endParaRPr sz="1100"/>
          </a:p>
        </p:txBody>
      </p:sp>
      <p:sp>
        <p:nvSpPr>
          <p:cNvPr id="1767" name="Google Shape;1767;p43"/>
          <p:cNvSpPr txBox="1"/>
          <p:nvPr/>
        </p:nvSpPr>
        <p:spPr>
          <a:xfrm>
            <a:off x="4686300" y="3146965"/>
            <a:ext cx="457200" cy="16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0E4174"/>
                </a:solidFill>
                <a:latin typeface="Lexend"/>
                <a:ea typeface="Lexend"/>
                <a:cs typeface="Lexend"/>
                <a:sym typeface="Lexend"/>
              </a:rPr>
              <a:t>100%</a:t>
            </a:r>
            <a:endParaRPr sz="1100"/>
          </a:p>
        </p:txBody>
      </p:sp>
      <p:sp>
        <p:nvSpPr>
          <p:cNvPr id="1768" name="Google Shape;1768;p43"/>
          <p:cNvSpPr txBox="1"/>
          <p:nvPr/>
        </p:nvSpPr>
        <p:spPr>
          <a:xfrm>
            <a:off x="542925" y="3355741"/>
            <a:ext cx="45720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9CA3AF"/>
                </a:solidFill>
                <a:latin typeface="Lexend"/>
                <a:ea typeface="Lexend"/>
                <a:cs typeface="Lexend"/>
                <a:sym typeface="Lexend"/>
              </a:rPr>
              <a:t>tổng giờ = số TX × giờ TB (làm tròn) · ngưỡng fulltime &gt; 150 h theo ghi chú nguồn</a:t>
            </a:r>
            <a:endParaRPr sz="1100"/>
          </a:p>
        </p:txBody>
      </p:sp>
      <p:sp>
        <p:nvSpPr>
          <p:cNvPr id="1769" name="Google Shape;1769;p43"/>
          <p:cNvSpPr/>
          <p:nvPr/>
        </p:nvSpPr>
        <p:spPr>
          <a:xfrm>
            <a:off x="342900" y="3629025"/>
            <a:ext cx="4172100" cy="1257300"/>
          </a:xfrm>
          <a:prstGeom prst="roundRect">
            <a:avLst>
              <a:gd fmla="val 9090" name="adj"/>
            </a:avLst>
          </a:prstGeom>
          <a:solidFill>
            <a:srgbClr val="FFFFFF"/>
          </a:solidFill>
          <a:ln cap="flat" cmpd="sng" w="14275">
            <a:solidFill>
              <a:srgbClr val="E9EDF3"/>
            </a:solidFill>
            <a:prstDash val="solid"/>
            <a:round/>
            <a:headEnd len="sm" w="sm" type="none"/>
            <a:tailEnd len="sm" w="sm" type="none"/>
          </a:ln>
          <a:effectLst>
            <a:outerShdw blurRad="95250" rotWithShape="0" dir="5400000" dist="3810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0" name="Google Shape;1770;p43"/>
          <p:cNvSpPr txBox="1"/>
          <p:nvPr/>
        </p:nvSpPr>
        <p:spPr>
          <a:xfrm>
            <a:off x="542925" y="3710178"/>
            <a:ext cx="37719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900">
                <a:solidFill>
                  <a:srgbClr val="0E4174"/>
                </a:solidFill>
                <a:latin typeface="Lexend"/>
                <a:ea typeface="Lexend"/>
                <a:cs typeface="Lexend"/>
                <a:sym typeface="Lexend"/>
              </a:rPr>
              <a:t>15,5% tài xế gánh 45,2% giờ hoạt động</a:t>
            </a:r>
            <a:endParaRPr sz="1100"/>
          </a:p>
        </p:txBody>
      </p:sp>
      <p:sp>
        <p:nvSpPr>
          <p:cNvPr id="1771" name="Google Shape;1771;p43"/>
          <p:cNvSpPr txBox="1"/>
          <p:nvPr/>
        </p:nvSpPr>
        <p:spPr>
          <a:xfrm>
            <a:off x="542925" y="3899130"/>
            <a:ext cx="37719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600">
                <a:solidFill>
                  <a:srgbClr val="6B7280"/>
                </a:solidFill>
                <a:latin typeface="Lexend"/>
                <a:ea typeface="Lexend"/>
                <a:cs typeface="Lexend"/>
                <a:sym typeface="Lexend"/>
              </a:rPr>
              <a:t>cùng một tập 2.439 tài xế, chia theo đầu người và theo giờ</a:t>
            </a:r>
            <a:endParaRPr sz="1100"/>
          </a:p>
        </p:txBody>
      </p:sp>
      <p:sp>
        <p:nvSpPr>
          <p:cNvPr id="1772" name="Google Shape;1772;p43"/>
          <p:cNvSpPr txBox="1"/>
          <p:nvPr/>
        </p:nvSpPr>
        <p:spPr>
          <a:xfrm>
            <a:off x="3529013" y="4070116"/>
            <a:ext cx="785700" cy="129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500">
                <a:solidFill>
                  <a:srgbClr val="9CA3AF"/>
                </a:solidFill>
                <a:latin typeface="Lexend"/>
                <a:ea typeface="Lexend"/>
                <a:cs typeface="Lexend"/>
                <a:sym typeface="Lexend"/>
              </a:rPr>
              <a:t>GOLD + SIL</a:t>
            </a:r>
            <a:endParaRPr sz="1100"/>
          </a:p>
        </p:txBody>
      </p:sp>
      <p:sp>
        <p:nvSpPr>
          <p:cNvPr id="1773" name="Google Shape;1773;p43"/>
          <p:cNvSpPr txBox="1"/>
          <p:nvPr/>
        </p:nvSpPr>
        <p:spPr>
          <a:xfrm>
            <a:off x="542925" y="4262997"/>
            <a:ext cx="7143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500">
                <a:solidFill>
                  <a:srgbClr val="9CA3AF"/>
                </a:solidFill>
                <a:latin typeface="Lexend"/>
                <a:ea typeface="Lexend"/>
                <a:cs typeface="Lexend"/>
                <a:sym typeface="Lexend"/>
              </a:rPr>
              <a:t>% TÀI XẾ</a:t>
            </a:r>
            <a:endParaRPr sz="1100"/>
          </a:p>
        </p:txBody>
      </p:sp>
      <p:sp>
        <p:nvSpPr>
          <p:cNvPr id="1774" name="Google Shape;1774;p43"/>
          <p:cNvSpPr/>
          <p:nvPr/>
        </p:nvSpPr>
        <p:spPr>
          <a:xfrm>
            <a:off x="1257300" y="4243388"/>
            <a:ext cx="2052300" cy="157200"/>
          </a:xfrm>
          <a:prstGeom prst="rect">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5" name="Google Shape;1775;p43"/>
          <p:cNvSpPr/>
          <p:nvPr/>
        </p:nvSpPr>
        <p:spPr>
          <a:xfrm>
            <a:off x="3309699" y="4243388"/>
            <a:ext cx="131100" cy="157200"/>
          </a:xfrm>
          <a:prstGeom prst="rect">
            <a:avLst/>
          </a:prstGeom>
          <a:solidFill>
            <a:srgbClr val="1A549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6" name="Google Shape;1776;p43"/>
          <p:cNvSpPr/>
          <p:nvPr/>
        </p:nvSpPr>
        <p:spPr>
          <a:xfrm>
            <a:off x="3440859" y="4243388"/>
            <a:ext cx="245400" cy="157200"/>
          </a:xfrm>
          <a:prstGeom prst="rect">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7" name="Google Shape;1777;p43"/>
          <p:cNvSpPr txBox="1"/>
          <p:nvPr/>
        </p:nvSpPr>
        <p:spPr>
          <a:xfrm>
            <a:off x="3814763" y="4230743"/>
            <a:ext cx="500100" cy="17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15,5%</a:t>
            </a:r>
            <a:endParaRPr sz="1100"/>
          </a:p>
        </p:txBody>
      </p:sp>
      <p:sp>
        <p:nvSpPr>
          <p:cNvPr id="1778" name="Google Shape;1778;p43"/>
          <p:cNvSpPr txBox="1"/>
          <p:nvPr/>
        </p:nvSpPr>
        <p:spPr>
          <a:xfrm>
            <a:off x="542925" y="4534460"/>
            <a:ext cx="7143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 sz="500">
                <a:solidFill>
                  <a:srgbClr val="9CA3AF"/>
                </a:solidFill>
                <a:latin typeface="Lexend"/>
                <a:ea typeface="Lexend"/>
                <a:cs typeface="Lexend"/>
                <a:sym typeface="Lexend"/>
              </a:rPr>
              <a:t>% GIỜ HOẠT ĐỘNG</a:t>
            </a:r>
            <a:endParaRPr sz="1100"/>
          </a:p>
        </p:txBody>
      </p:sp>
      <p:sp>
        <p:nvSpPr>
          <p:cNvPr id="1779" name="Google Shape;1779;p43"/>
          <p:cNvSpPr/>
          <p:nvPr/>
        </p:nvSpPr>
        <p:spPr>
          <a:xfrm>
            <a:off x="1257300" y="4514850"/>
            <a:ext cx="1331100" cy="157200"/>
          </a:xfrm>
          <a:prstGeom prst="rect">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0" name="Google Shape;1780;p43"/>
          <p:cNvSpPr/>
          <p:nvPr/>
        </p:nvSpPr>
        <p:spPr>
          <a:xfrm>
            <a:off x="2588324" y="4514850"/>
            <a:ext cx="274500" cy="157200"/>
          </a:xfrm>
          <a:prstGeom prst="rect">
            <a:avLst/>
          </a:prstGeom>
          <a:solidFill>
            <a:srgbClr val="1A549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1" name="Google Shape;1781;p43"/>
          <p:cNvSpPr/>
          <p:nvPr/>
        </p:nvSpPr>
        <p:spPr>
          <a:xfrm>
            <a:off x="2862786" y="4514850"/>
            <a:ext cx="823500" cy="157200"/>
          </a:xfrm>
          <a:prstGeom prst="rect">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2" name="Google Shape;1782;p43"/>
          <p:cNvSpPr txBox="1"/>
          <p:nvPr/>
        </p:nvSpPr>
        <p:spPr>
          <a:xfrm>
            <a:off x="3814763" y="4502206"/>
            <a:ext cx="500100" cy="17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 sz="700">
                <a:solidFill>
                  <a:srgbClr val="B4531A"/>
                </a:solidFill>
                <a:latin typeface="Lexend"/>
                <a:ea typeface="Lexend"/>
                <a:cs typeface="Lexend"/>
                <a:sym typeface="Lexend"/>
              </a:rPr>
              <a:t>45,2%</a:t>
            </a:r>
            <a:endParaRPr sz="1100"/>
          </a:p>
        </p:txBody>
      </p:sp>
      <p:sp>
        <p:nvSpPr>
          <p:cNvPr id="1783" name="Google Shape;1783;p43"/>
          <p:cNvSpPr/>
          <p:nvPr/>
        </p:nvSpPr>
        <p:spPr>
          <a:xfrm>
            <a:off x="542925" y="4743450"/>
            <a:ext cx="78600" cy="78600"/>
          </a:xfrm>
          <a:prstGeom prst="roundRect">
            <a:avLst>
              <a:gd fmla="val 18181" name="adj"/>
            </a:avLst>
          </a:prstGeom>
          <a:solidFill>
            <a:srgbClr val="C9D3E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4" name="Google Shape;1784;p43"/>
          <p:cNvSpPr txBox="1"/>
          <p:nvPr/>
        </p:nvSpPr>
        <p:spPr>
          <a:xfrm>
            <a:off x="664369" y="4721218"/>
            <a:ext cx="3573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6B7280"/>
                </a:solidFill>
                <a:latin typeface="Lexend"/>
                <a:ea typeface="Lexend"/>
                <a:cs typeface="Lexend"/>
                <a:sym typeface="Lexend"/>
              </a:rPr>
              <a:t>bronze</a:t>
            </a:r>
            <a:endParaRPr sz="1100"/>
          </a:p>
        </p:txBody>
      </p:sp>
      <p:sp>
        <p:nvSpPr>
          <p:cNvPr id="1785" name="Google Shape;1785;p43"/>
          <p:cNvSpPr/>
          <p:nvPr/>
        </p:nvSpPr>
        <p:spPr>
          <a:xfrm>
            <a:off x="1107281" y="4743450"/>
            <a:ext cx="78600" cy="78600"/>
          </a:xfrm>
          <a:prstGeom prst="roundRect">
            <a:avLst>
              <a:gd fmla="val 18181" name="adj"/>
            </a:avLst>
          </a:prstGeom>
          <a:solidFill>
            <a:srgbClr val="1A549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6" name="Google Shape;1786;p43"/>
          <p:cNvSpPr txBox="1"/>
          <p:nvPr/>
        </p:nvSpPr>
        <p:spPr>
          <a:xfrm>
            <a:off x="1228725" y="4721218"/>
            <a:ext cx="2142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6B7280"/>
                </a:solidFill>
                <a:latin typeface="Lexend"/>
                <a:ea typeface="Lexend"/>
                <a:cs typeface="Lexend"/>
                <a:sym typeface="Lexend"/>
              </a:rPr>
              <a:t>sil</a:t>
            </a:r>
            <a:endParaRPr sz="1100"/>
          </a:p>
        </p:txBody>
      </p:sp>
      <p:sp>
        <p:nvSpPr>
          <p:cNvPr id="1787" name="Google Shape;1787;p43"/>
          <p:cNvSpPr/>
          <p:nvPr/>
        </p:nvSpPr>
        <p:spPr>
          <a:xfrm>
            <a:off x="1528763" y="4743450"/>
            <a:ext cx="78600" cy="78600"/>
          </a:xfrm>
          <a:prstGeom prst="roundRect">
            <a:avLst>
              <a:gd fmla="val 18181"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8" name="Google Shape;1788;p43"/>
          <p:cNvSpPr txBox="1"/>
          <p:nvPr/>
        </p:nvSpPr>
        <p:spPr>
          <a:xfrm>
            <a:off x="1650206" y="4721218"/>
            <a:ext cx="285900" cy="12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 sz="500">
                <a:solidFill>
                  <a:srgbClr val="6B7280"/>
                </a:solidFill>
                <a:latin typeface="Lexend"/>
                <a:ea typeface="Lexend"/>
                <a:cs typeface="Lexend"/>
                <a:sym typeface="Lexend"/>
              </a:rPr>
              <a:t>gold</a:t>
            </a:r>
            <a:endParaRPr sz="1100"/>
          </a:p>
        </p:txBody>
      </p:sp>
      <p:pic>
        <p:nvPicPr>
          <p:cNvPr id="1789" name="Google Shape;1789;p43" title="Biểu đồ"/>
          <p:cNvPicPr preferRelativeResize="0"/>
          <p:nvPr/>
        </p:nvPicPr>
        <p:blipFill>
          <a:blip r:embed="rId3">
            <a:alphaModFix/>
          </a:blip>
          <a:stretch>
            <a:fillRect/>
          </a:stretch>
        </p:blipFill>
        <p:spPr>
          <a:xfrm>
            <a:off x="5864250" y="1919413"/>
            <a:ext cx="2574072" cy="1591625"/>
          </a:xfrm>
          <a:prstGeom prst="rect">
            <a:avLst/>
          </a:prstGeom>
          <a:noFill/>
          <a:ln>
            <a:noFill/>
          </a:ln>
        </p:spPr>
      </p:pic>
      <p:sp>
        <p:nvSpPr>
          <p:cNvPr id="1790" name="Google Shape;1790;p43"/>
          <p:cNvSpPr txBox="1"/>
          <p:nvPr/>
        </p:nvSpPr>
        <p:spPr>
          <a:xfrm>
            <a:off x="5674180" y="1709928"/>
            <a:ext cx="46005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EV churn</a:t>
            </a:r>
            <a:endParaRPr sz="1100"/>
          </a:p>
        </p:txBody>
      </p:sp>
      <p:pic>
        <p:nvPicPr>
          <p:cNvPr id="1791" name="Google Shape;1791;p43" title="Biểu đồ"/>
          <p:cNvPicPr preferRelativeResize="0"/>
          <p:nvPr/>
        </p:nvPicPr>
        <p:blipFill rotWithShape="1">
          <a:blip r:embed="rId4">
            <a:alphaModFix/>
          </a:blip>
          <a:srcRect b="16199" l="0" r="0" t="0"/>
          <a:stretch/>
        </p:blipFill>
        <p:spPr>
          <a:xfrm>
            <a:off x="4688825" y="3752068"/>
            <a:ext cx="3937538" cy="1120650"/>
          </a:xfrm>
          <a:prstGeom prst="rect">
            <a:avLst/>
          </a:prstGeom>
          <a:noFill/>
          <a:ln>
            <a:noFill/>
          </a:ln>
        </p:spPr>
      </p:pic>
      <p:sp>
        <p:nvSpPr>
          <p:cNvPr id="1792" name="Google Shape;1792;p43"/>
          <p:cNvSpPr txBox="1"/>
          <p:nvPr/>
        </p:nvSpPr>
        <p:spPr>
          <a:xfrm>
            <a:off x="4736450" y="3659016"/>
            <a:ext cx="3771900" cy="2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900">
                <a:solidFill>
                  <a:srgbClr val="0E4174"/>
                </a:solidFill>
                <a:latin typeface="Lexend"/>
                <a:ea typeface="Lexend"/>
                <a:cs typeface="Lexend"/>
                <a:sym typeface="Lexend"/>
              </a:rPr>
              <a:t>Last active churn</a:t>
            </a:r>
            <a:endParaRPr sz="1100"/>
          </a:p>
        </p:txBody>
      </p:sp>
      <p:sp>
        <p:nvSpPr>
          <p:cNvPr id="1793" name="Google Shape;1793;p43"/>
          <p:cNvSpPr txBox="1"/>
          <p:nvPr/>
        </p:nvSpPr>
        <p:spPr>
          <a:xfrm>
            <a:off x="7766493" y="3982230"/>
            <a:ext cx="823500" cy="5850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 sz="1100">
                <a:solidFill>
                  <a:srgbClr val="DC2626"/>
                </a:solidFill>
              </a:rPr>
              <a:t>282</a:t>
            </a:r>
            <a:r>
              <a:rPr b="1" lang="en" sz="700"/>
              <a:t> tài xế churn có hoạt động trong quý trước</a:t>
            </a:r>
            <a:endParaRPr b="1" sz="7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8" name="Shape 1798"/>
        <p:cNvGrpSpPr/>
        <p:nvPr/>
      </p:nvGrpSpPr>
      <p:grpSpPr>
        <a:xfrm>
          <a:off x="0" y="0"/>
          <a:ext cx="0" cy="0"/>
          <a:chOff x="0" y="0"/>
          <a:chExt cx="0" cy="0"/>
        </a:xfrm>
      </p:grpSpPr>
      <p:sp>
        <p:nvSpPr>
          <p:cNvPr id="1799" name="Google Shape;1799;p44"/>
          <p:cNvSpPr/>
          <p:nvPr/>
        </p:nvSpPr>
        <p:spPr>
          <a:xfrm>
            <a:off x="0" y="0"/>
            <a:ext cx="9144000" cy="5143500"/>
          </a:xfrm>
          <a:prstGeom prst="rect">
            <a:avLst/>
          </a:prstGeom>
          <a:solidFill>
            <a:srgbClr val="FBFCFE"/>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0" name="Google Shape;1800;p44"/>
          <p:cNvSpPr/>
          <p:nvPr/>
        </p:nvSpPr>
        <p:spPr>
          <a:xfrm>
            <a:off x="342900" y="242888"/>
            <a:ext cx="42900" cy="385800"/>
          </a:xfrm>
          <a:prstGeom prst="roundRect">
            <a:avLst>
              <a:gd fmla="val 50000" name="adj"/>
            </a:avLst>
          </a:prstGeom>
          <a:solidFill>
            <a:srgbClr val="FF7F3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1" name="Google Shape;1801;p44"/>
          <p:cNvSpPr txBox="1"/>
          <p:nvPr/>
        </p:nvSpPr>
        <p:spPr>
          <a:xfrm>
            <a:off x="500063" y="208383"/>
            <a:ext cx="70011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E4174"/>
                </a:solidFill>
                <a:latin typeface="Lexend"/>
                <a:ea typeface="Lexend"/>
                <a:cs typeface="Lexend"/>
                <a:sym typeface="Lexend"/>
              </a:rPr>
              <a:t>OKR</a:t>
            </a:r>
            <a:endParaRPr sz="1100"/>
          </a:p>
        </p:txBody>
      </p:sp>
      <p:sp>
        <p:nvSpPr>
          <p:cNvPr id="1802" name="Google Shape;1802;p44"/>
          <p:cNvSpPr txBox="1"/>
          <p:nvPr/>
        </p:nvSpPr>
        <p:spPr>
          <a:xfrm>
            <a:off x="500063" y="510714"/>
            <a:ext cx="6429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800">
                <a:solidFill>
                  <a:srgbClr val="6B7280"/>
                </a:solidFill>
                <a:latin typeface="Lexend"/>
                <a:ea typeface="Lexend"/>
                <a:cs typeface="Lexend"/>
                <a:sym typeface="Lexend"/>
              </a:rPr>
              <a:t>4 OKR tuần · Kế hoạch hành động Minihub · Cityzone · EV old convert</a:t>
            </a:r>
            <a:endParaRPr b="1" sz="1100"/>
          </a:p>
        </p:txBody>
      </p:sp>
      <p:sp>
        <p:nvSpPr>
          <p:cNvPr id="1803" name="Google Shape;1803;p44"/>
          <p:cNvSpPr/>
          <p:nvPr/>
        </p:nvSpPr>
        <p:spPr>
          <a:xfrm>
            <a:off x="7600950" y="300038"/>
            <a:ext cx="1200300" cy="285900"/>
          </a:xfrm>
          <a:prstGeom prst="roundRect">
            <a:avLst>
              <a:gd fmla="val 50000" name="adj"/>
            </a:avLst>
          </a:prstGeom>
          <a:solidFill>
            <a:srgbClr val="FFF3E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4" name="Google Shape;1804;p44"/>
          <p:cNvSpPr txBox="1"/>
          <p:nvPr/>
        </p:nvSpPr>
        <p:spPr>
          <a:xfrm>
            <a:off x="7600950" y="349616"/>
            <a:ext cx="1200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 sz="800">
                <a:solidFill>
                  <a:srgbClr val="E0641A"/>
                </a:solidFill>
                <a:latin typeface="Lexend"/>
                <a:ea typeface="Lexend"/>
                <a:cs typeface="Lexend"/>
                <a:sym typeface="Lexend"/>
              </a:rPr>
              <a:t>Tuần 07/09</a:t>
            </a:r>
            <a:endParaRPr sz="1100"/>
          </a:p>
        </p:txBody>
      </p:sp>
      <p:sp>
        <p:nvSpPr>
          <p:cNvPr id="1805" name="Google Shape;1805;p44"/>
          <p:cNvSpPr/>
          <p:nvPr/>
        </p:nvSpPr>
        <p:spPr>
          <a:xfrm>
            <a:off x="342900" y="885825"/>
            <a:ext cx="2028900" cy="743100"/>
          </a:xfrm>
          <a:prstGeom prst="roundRect">
            <a:avLst>
              <a:gd fmla="val 1538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6" name="Google Shape;1806;p44"/>
          <p:cNvSpPr txBox="1"/>
          <p:nvPr/>
        </p:nvSpPr>
        <p:spPr>
          <a:xfrm>
            <a:off x="514350" y="974801"/>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EV ACTIVE</a:t>
            </a:r>
            <a:endParaRPr sz="1100"/>
          </a:p>
        </p:txBody>
      </p:sp>
      <p:sp>
        <p:nvSpPr>
          <p:cNvPr id="1807" name="Google Shape;1807;p44"/>
          <p:cNvSpPr txBox="1"/>
          <p:nvPr/>
        </p:nvSpPr>
        <p:spPr>
          <a:xfrm>
            <a:off x="514350" y="1117712"/>
            <a:ext cx="10002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DC2626"/>
                </a:solidFill>
                <a:latin typeface="Lexend"/>
                <a:ea typeface="Lexend"/>
                <a:cs typeface="Lexend"/>
                <a:sym typeface="Lexend"/>
              </a:rPr>
              <a:t>50%</a:t>
            </a:r>
            <a:endParaRPr sz="1100"/>
          </a:p>
        </p:txBody>
      </p:sp>
      <p:sp>
        <p:nvSpPr>
          <p:cNvPr id="1808" name="Google Shape;1808;p44"/>
          <p:cNvSpPr/>
          <p:nvPr/>
        </p:nvSpPr>
        <p:spPr>
          <a:xfrm>
            <a:off x="514350" y="1428750"/>
            <a:ext cx="1686000" cy="71400"/>
          </a:xfrm>
          <a:prstGeom prst="roundRect">
            <a:avLst>
              <a:gd fmla="val 50000" name="adj"/>
            </a:avLst>
          </a:prstGeom>
          <a:solidFill>
            <a:srgbClr val="EEF1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9" name="Google Shape;1809;p44"/>
          <p:cNvSpPr/>
          <p:nvPr/>
        </p:nvSpPr>
        <p:spPr>
          <a:xfrm>
            <a:off x="514350" y="1428750"/>
            <a:ext cx="843000" cy="71400"/>
          </a:xfrm>
          <a:prstGeom prst="roundRect">
            <a:avLst>
              <a:gd fmla="val 50000" name="adj"/>
            </a:avLst>
          </a:prstGeom>
          <a:solidFill>
            <a:srgbClr val="DC262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0" name="Google Shape;1810;p44"/>
          <p:cNvSpPr/>
          <p:nvPr/>
        </p:nvSpPr>
        <p:spPr>
          <a:xfrm>
            <a:off x="2486025" y="885825"/>
            <a:ext cx="2028900" cy="743100"/>
          </a:xfrm>
          <a:prstGeom prst="roundRect">
            <a:avLst>
              <a:gd fmla="val 1538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1" name="Google Shape;1811;p44"/>
          <p:cNvSpPr txBox="1"/>
          <p:nvPr/>
        </p:nvSpPr>
        <p:spPr>
          <a:xfrm>
            <a:off x="2657475" y="974801"/>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SCALE MINIHUB</a:t>
            </a:r>
            <a:endParaRPr sz="1100"/>
          </a:p>
        </p:txBody>
      </p:sp>
      <p:sp>
        <p:nvSpPr>
          <p:cNvPr id="1812" name="Google Shape;1812;p44"/>
          <p:cNvSpPr txBox="1"/>
          <p:nvPr/>
        </p:nvSpPr>
        <p:spPr>
          <a:xfrm>
            <a:off x="2657475" y="1117712"/>
            <a:ext cx="10002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47857"/>
                </a:solidFill>
                <a:latin typeface="Lexend"/>
                <a:ea typeface="Lexend"/>
                <a:cs typeface="Lexend"/>
                <a:sym typeface="Lexend"/>
              </a:rPr>
              <a:t>80%</a:t>
            </a:r>
            <a:endParaRPr sz="1100"/>
          </a:p>
        </p:txBody>
      </p:sp>
      <p:sp>
        <p:nvSpPr>
          <p:cNvPr id="1813" name="Google Shape;1813;p44"/>
          <p:cNvSpPr/>
          <p:nvPr/>
        </p:nvSpPr>
        <p:spPr>
          <a:xfrm>
            <a:off x="2657475" y="1428750"/>
            <a:ext cx="1686000" cy="71400"/>
          </a:xfrm>
          <a:prstGeom prst="roundRect">
            <a:avLst>
              <a:gd fmla="val 50000" name="adj"/>
            </a:avLst>
          </a:prstGeom>
          <a:solidFill>
            <a:srgbClr val="EEF1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4" name="Google Shape;1814;p44"/>
          <p:cNvSpPr/>
          <p:nvPr/>
        </p:nvSpPr>
        <p:spPr>
          <a:xfrm>
            <a:off x="2657475" y="1428750"/>
            <a:ext cx="1348800" cy="71400"/>
          </a:xfrm>
          <a:prstGeom prst="roundRect">
            <a:avLst>
              <a:gd fmla="val 50000" name="adj"/>
            </a:avLst>
          </a:prstGeom>
          <a:solidFill>
            <a:srgbClr val="04785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5" name="Google Shape;1815;p44"/>
          <p:cNvSpPr/>
          <p:nvPr/>
        </p:nvSpPr>
        <p:spPr>
          <a:xfrm>
            <a:off x="4629150" y="885825"/>
            <a:ext cx="2028900" cy="743100"/>
          </a:xfrm>
          <a:prstGeom prst="roundRect">
            <a:avLst>
              <a:gd fmla="val 1538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6" name="Google Shape;1816;p44"/>
          <p:cNvSpPr txBox="1"/>
          <p:nvPr/>
        </p:nvSpPr>
        <p:spPr>
          <a:xfrm>
            <a:off x="4800600" y="974801"/>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ONLINE RATE</a:t>
            </a:r>
            <a:endParaRPr sz="1100"/>
          </a:p>
        </p:txBody>
      </p:sp>
      <p:sp>
        <p:nvSpPr>
          <p:cNvPr id="1817" name="Google Shape;1817;p44"/>
          <p:cNvSpPr txBox="1"/>
          <p:nvPr/>
        </p:nvSpPr>
        <p:spPr>
          <a:xfrm>
            <a:off x="4800600" y="1117712"/>
            <a:ext cx="10002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047857"/>
                </a:solidFill>
                <a:latin typeface="Lexend"/>
                <a:ea typeface="Lexend"/>
                <a:cs typeface="Lexend"/>
                <a:sym typeface="Lexend"/>
              </a:rPr>
              <a:t>95%</a:t>
            </a:r>
            <a:endParaRPr sz="1100"/>
          </a:p>
        </p:txBody>
      </p:sp>
      <p:sp>
        <p:nvSpPr>
          <p:cNvPr id="1818" name="Google Shape;1818;p44"/>
          <p:cNvSpPr/>
          <p:nvPr/>
        </p:nvSpPr>
        <p:spPr>
          <a:xfrm>
            <a:off x="4800600" y="1428750"/>
            <a:ext cx="1686000" cy="71400"/>
          </a:xfrm>
          <a:prstGeom prst="roundRect">
            <a:avLst>
              <a:gd fmla="val 50000" name="adj"/>
            </a:avLst>
          </a:prstGeom>
          <a:solidFill>
            <a:srgbClr val="EEF1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9" name="Google Shape;1819;p44"/>
          <p:cNvSpPr/>
          <p:nvPr/>
        </p:nvSpPr>
        <p:spPr>
          <a:xfrm>
            <a:off x="4800600" y="1428750"/>
            <a:ext cx="1601700" cy="71400"/>
          </a:xfrm>
          <a:prstGeom prst="roundRect">
            <a:avLst>
              <a:gd fmla="val 50000" name="adj"/>
            </a:avLst>
          </a:prstGeom>
          <a:solidFill>
            <a:srgbClr val="047857"/>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0" name="Google Shape;1820;p44"/>
          <p:cNvSpPr/>
          <p:nvPr/>
        </p:nvSpPr>
        <p:spPr>
          <a:xfrm>
            <a:off x="6772275" y="885825"/>
            <a:ext cx="2028900" cy="743100"/>
          </a:xfrm>
          <a:prstGeom prst="roundRect">
            <a:avLst>
              <a:gd fmla="val 15384" name="adj"/>
            </a:avLst>
          </a:prstGeom>
          <a:solidFill>
            <a:srgbClr val="FFFFFF"/>
          </a:solidFill>
          <a:ln cap="flat" cmpd="sng" w="7150">
            <a:solidFill>
              <a:srgbClr val="E9EDF3"/>
            </a:solidFill>
            <a:prstDash val="solid"/>
            <a:round/>
            <a:headEnd len="sm" w="sm" type="none"/>
            <a:tailEnd len="sm" w="sm" type="none"/>
          </a:ln>
          <a:effectLst>
            <a:outerShdw blurRad="47625" rotWithShape="0" dir="5400000" dist="19050">
              <a:srgbClr val="0E4174">
                <a:alpha val="102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1" name="Google Shape;1821;p44"/>
          <p:cNvSpPr txBox="1"/>
          <p:nvPr/>
        </p:nvSpPr>
        <p:spPr>
          <a:xfrm>
            <a:off x="6943725" y="974801"/>
            <a:ext cx="1785900" cy="9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600">
                <a:solidFill>
                  <a:srgbClr val="9CA3AF"/>
                </a:solidFill>
                <a:latin typeface="Lexend"/>
                <a:ea typeface="Lexend"/>
                <a:cs typeface="Lexend"/>
                <a:sym typeface="Lexend"/>
              </a:rPr>
              <a:t>CITYZONE</a:t>
            </a:r>
            <a:endParaRPr sz="1100"/>
          </a:p>
        </p:txBody>
      </p:sp>
      <p:sp>
        <p:nvSpPr>
          <p:cNvPr id="1822" name="Google Shape;1822;p44"/>
          <p:cNvSpPr txBox="1"/>
          <p:nvPr/>
        </p:nvSpPr>
        <p:spPr>
          <a:xfrm>
            <a:off x="6943725" y="1117712"/>
            <a:ext cx="10002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 sz="1500">
                <a:solidFill>
                  <a:srgbClr val="E0641A"/>
                </a:solidFill>
                <a:latin typeface="Lexend"/>
                <a:ea typeface="Lexend"/>
                <a:cs typeface="Lexend"/>
                <a:sym typeface="Lexend"/>
              </a:rPr>
              <a:t>65%</a:t>
            </a:r>
            <a:endParaRPr sz="1100"/>
          </a:p>
        </p:txBody>
      </p:sp>
      <p:sp>
        <p:nvSpPr>
          <p:cNvPr id="1823" name="Google Shape;1823;p44"/>
          <p:cNvSpPr/>
          <p:nvPr/>
        </p:nvSpPr>
        <p:spPr>
          <a:xfrm>
            <a:off x="6943725" y="1428750"/>
            <a:ext cx="1686000" cy="71400"/>
          </a:xfrm>
          <a:prstGeom prst="roundRect">
            <a:avLst>
              <a:gd fmla="val 50000" name="adj"/>
            </a:avLst>
          </a:prstGeom>
          <a:solidFill>
            <a:srgbClr val="EEF1F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4" name="Google Shape;1824;p44"/>
          <p:cNvSpPr/>
          <p:nvPr/>
        </p:nvSpPr>
        <p:spPr>
          <a:xfrm>
            <a:off x="6943725" y="1428750"/>
            <a:ext cx="1095900" cy="71400"/>
          </a:xfrm>
          <a:prstGeom prst="roundRect">
            <a:avLst>
              <a:gd fmla="val 50000" name="adj"/>
            </a:avLst>
          </a:prstGeom>
          <a:solidFill>
            <a:srgbClr val="E0641A"/>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aphicFrame>
        <p:nvGraphicFramePr>
          <p:cNvPr id="1825" name="Google Shape;1825;p44"/>
          <p:cNvGraphicFramePr/>
          <p:nvPr/>
        </p:nvGraphicFramePr>
        <p:xfrm>
          <a:off x="342900" y="1800225"/>
          <a:ext cx="3000000" cy="3000000"/>
        </p:xfrm>
        <a:graphic>
          <a:graphicData uri="http://schemas.openxmlformats.org/drawingml/2006/table">
            <a:tbl>
              <a:tblPr>
                <a:noFill/>
                <a:tableStyleId>{2A309A38-FEAF-4256-BD77-F8EC82423C62}</a:tableStyleId>
              </a:tblPr>
              <a:tblGrid>
                <a:gridCol w="928700"/>
                <a:gridCol w="2428875"/>
                <a:gridCol w="2714625"/>
                <a:gridCol w="928700"/>
                <a:gridCol w="1457325"/>
              </a:tblGrid>
              <a:tr h="271475">
                <a:tc>
                  <a:txBody>
                    <a:bodyPr/>
                    <a:lstStyle/>
                    <a:p>
                      <a:pPr indent="0" lvl="0" marL="0" marR="0" rtl="0" algn="l">
                        <a:spcBef>
                          <a:spcPts val="0"/>
                        </a:spcBef>
                        <a:spcAft>
                          <a:spcPts val="0"/>
                        </a:spcAft>
                        <a:buNone/>
                      </a:pPr>
                      <a:r>
                        <a:rPr b="1" lang="en" sz="800" u="none" cap="none" strike="noStrike">
                          <a:solidFill>
                            <a:schemeClr val="lt1"/>
                          </a:solidFill>
                          <a:latin typeface="Lexend"/>
                          <a:ea typeface="Lexend"/>
                          <a:cs typeface="Lexend"/>
                          <a:sym typeface="Lexend"/>
                        </a:rPr>
                        <a:t>TOPIC</a:t>
                      </a:r>
                      <a:endParaRPr sz="800">
                        <a:solidFill>
                          <a:schemeClr val="lt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l">
                        <a:spcBef>
                          <a:spcPts val="0"/>
                        </a:spcBef>
                        <a:spcAft>
                          <a:spcPts val="0"/>
                        </a:spcAft>
                        <a:buNone/>
                      </a:pPr>
                      <a:r>
                        <a:rPr b="1" lang="en" sz="800" u="none" cap="none" strike="noStrike">
                          <a:solidFill>
                            <a:schemeClr val="lt1"/>
                          </a:solidFill>
                          <a:latin typeface="Lexend"/>
                          <a:ea typeface="Lexend"/>
                          <a:cs typeface="Lexend"/>
                          <a:sym typeface="Lexend"/>
                        </a:rPr>
                        <a:t>TASKS</a:t>
                      </a:r>
                      <a:endParaRPr sz="800">
                        <a:solidFill>
                          <a:schemeClr val="lt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l">
                        <a:spcBef>
                          <a:spcPts val="0"/>
                        </a:spcBef>
                        <a:spcAft>
                          <a:spcPts val="0"/>
                        </a:spcAft>
                        <a:buNone/>
                      </a:pPr>
                      <a:r>
                        <a:rPr b="1" lang="en" sz="800" u="none" cap="none" strike="noStrike">
                          <a:solidFill>
                            <a:schemeClr val="lt1"/>
                          </a:solidFill>
                          <a:latin typeface="Lexend"/>
                          <a:ea typeface="Lexend"/>
                          <a:cs typeface="Lexend"/>
                          <a:sym typeface="Lexend"/>
                        </a:rPr>
                        <a:t>MỤC TIÊU</a:t>
                      </a:r>
                      <a:endParaRPr sz="800">
                        <a:solidFill>
                          <a:schemeClr val="lt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ctr">
                        <a:spcBef>
                          <a:spcPts val="0"/>
                        </a:spcBef>
                        <a:spcAft>
                          <a:spcPts val="0"/>
                        </a:spcAft>
                        <a:buNone/>
                      </a:pPr>
                      <a:r>
                        <a:rPr b="1" lang="en" sz="800" u="none" cap="none" strike="noStrike">
                          <a:solidFill>
                            <a:schemeClr val="lt1"/>
                          </a:solidFill>
                          <a:latin typeface="Lexend"/>
                          <a:ea typeface="Lexend"/>
                          <a:cs typeface="Lexend"/>
                          <a:sym typeface="Lexend"/>
                        </a:rPr>
                        <a:t>TIMELINE</a:t>
                      </a:r>
                      <a:endParaRPr sz="800">
                        <a:solidFill>
                          <a:schemeClr val="lt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c>
                  <a:txBody>
                    <a:bodyPr/>
                    <a:lstStyle/>
                    <a:p>
                      <a:pPr indent="0" lvl="0" marL="0" marR="0" rtl="0" algn="ctr">
                        <a:spcBef>
                          <a:spcPts val="0"/>
                        </a:spcBef>
                        <a:spcAft>
                          <a:spcPts val="0"/>
                        </a:spcAft>
                        <a:buNone/>
                      </a:pPr>
                      <a:r>
                        <a:rPr b="1" lang="en" sz="800" u="none" cap="none" strike="noStrike">
                          <a:solidFill>
                            <a:schemeClr val="lt1"/>
                          </a:solidFill>
                          <a:latin typeface="Lexend"/>
                          <a:ea typeface="Lexend"/>
                          <a:cs typeface="Lexend"/>
                          <a:sym typeface="Lexend"/>
                        </a:rPr>
                        <a:t>PIC</a:t>
                      </a:r>
                      <a:endParaRPr sz="800">
                        <a:solidFill>
                          <a:schemeClr val="lt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751F"/>
                    </a:solidFill>
                  </a:tcPr>
                </a:tc>
              </a:tr>
              <a:tr h="400050">
                <a:tc rowSpan="5">
                  <a:txBody>
                    <a:bodyPr/>
                    <a:lstStyle/>
                    <a:p>
                      <a:pPr indent="0" lvl="0" marL="0" marR="0" rtl="0" algn="l">
                        <a:spcBef>
                          <a:spcPts val="0"/>
                        </a:spcBef>
                        <a:spcAft>
                          <a:spcPts val="0"/>
                        </a:spcAft>
                        <a:buNone/>
                      </a:pPr>
                      <a:r>
                        <a:rPr b="1" lang="en" sz="800" u="none" cap="none" strike="noStrike">
                          <a:solidFill>
                            <a:srgbClr val="B4531A"/>
                          </a:solidFill>
                          <a:latin typeface="Lexend"/>
                          <a:ea typeface="Lexend"/>
                          <a:cs typeface="Lexend"/>
                          <a:sym typeface="Lexend"/>
                        </a:rPr>
                        <a:t>Minihub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3EB"/>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Triển khai chế tài &amp; follow-up tình hình để điều chỉnh phù hợp</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Tỉ lệ vi phạm &lt;20%, Capacity Hub vẫn duy trì theo tiến độ dự án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14/9/2026</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Trúc</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328625">
                <a:tc vMerge="1"/>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Tăng active 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a:solidFill>
                            <a:srgbClr val="374151"/>
                          </a:solidFill>
                          <a:latin typeface="Lexend"/>
                          <a:ea typeface="Lexend"/>
                          <a:cs typeface="Lexend"/>
                          <a:sym typeface="Lexend"/>
                        </a:rPr>
                        <a:t>Convert từ nguồn Hub churn kéo quay trở lại</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a:solidFill>
                            <a:srgbClr val="374151"/>
                          </a:solidFill>
                          <a:latin typeface="Lexend"/>
                          <a:ea typeface="Lexend"/>
                          <a:cs typeface="Lexend"/>
                          <a:sym typeface="Lexend"/>
                        </a:rPr>
                        <a:t>07/9/2024</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Hoàng - Trúc</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328625">
                <a:tc vMerge="1"/>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Retention - Ph</a:t>
                      </a:r>
                      <a:r>
                        <a:rPr lang="en" sz="800">
                          <a:solidFill>
                            <a:srgbClr val="374151"/>
                          </a:solidFill>
                          <a:latin typeface="Lexend"/>
                          <a:ea typeface="Lexend"/>
                          <a:cs typeface="Lexend"/>
                          <a:sym typeface="Lexend"/>
                        </a:rPr>
                        <a:t>ân tích sự sụt giảm Retention 2 city M8</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a:solidFill>
                            <a:srgbClr val="374151"/>
                          </a:solidFill>
                          <a:latin typeface="Lexend"/>
                          <a:ea typeface="Lexend"/>
                          <a:cs typeface="Lexend"/>
                          <a:sym typeface="Lexend"/>
                        </a:rPr>
                        <a:t>Tìm root cause và action phù hợp cho từng root cause của tập retention</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Font typeface="Arial"/>
                        <a:buNone/>
                      </a:pPr>
                      <a:r>
                        <a:rPr lang="en" sz="800">
                          <a:solidFill>
                            <a:srgbClr val="374151"/>
                          </a:solidFill>
                          <a:latin typeface="Lexend"/>
                          <a:ea typeface="Lexend"/>
                          <a:cs typeface="Lexend"/>
                          <a:sym typeface="Lexend"/>
                        </a:rPr>
                        <a:t>14/9/2024</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Font typeface="Arial"/>
                        <a:buNone/>
                      </a:pPr>
                      <a:r>
                        <a:rPr lang="en" sz="800">
                          <a:solidFill>
                            <a:srgbClr val="374151"/>
                          </a:solidFill>
                          <a:latin typeface="Lexend"/>
                          <a:ea typeface="Lexend"/>
                          <a:cs typeface="Lexend"/>
                          <a:sym typeface="Lexend"/>
                        </a:rPr>
                        <a:t>Hoàng - Trúc</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328625">
                <a:tc vMerge="1"/>
                <a:tc>
                  <a:txBody>
                    <a:bodyPr/>
                    <a:lstStyle/>
                    <a:p>
                      <a:pPr indent="0" lvl="0" marL="0" rtl="0" algn="l">
                        <a:spcBef>
                          <a:spcPts val="0"/>
                        </a:spcBef>
                        <a:spcAft>
                          <a:spcPts val="0"/>
                        </a:spcAft>
                        <a:buClr>
                          <a:schemeClr val="dk1"/>
                        </a:buClr>
                        <a:buFont typeface="Arial"/>
                        <a:buNone/>
                      </a:pPr>
                      <a:r>
                        <a:rPr lang="en" sz="800">
                          <a:solidFill>
                            <a:srgbClr val="374151"/>
                          </a:solidFill>
                          <a:latin typeface="Lexend"/>
                          <a:ea typeface="Lexend"/>
                          <a:cs typeface="Lexend"/>
                          <a:sym typeface="Lexend"/>
                        </a:rPr>
                        <a:t>Đẩy mạnh online rate về target</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Online đạt 90% ở cả 2 city</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Font typeface="Arial"/>
                        <a:buNone/>
                      </a:pPr>
                      <a:r>
                        <a:rPr lang="en" sz="800">
                          <a:solidFill>
                            <a:srgbClr val="374151"/>
                          </a:solidFill>
                          <a:latin typeface="Lexend"/>
                          <a:ea typeface="Lexend"/>
                          <a:cs typeface="Lexend"/>
                          <a:sym typeface="Lexend"/>
                        </a:rPr>
                        <a:t>21/9/2026</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Hoàng - Trúc</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400050">
                <a:tc vMerge="1"/>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Triển khai bộ Lifecycle Communication cho TX Hub</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Chạm được TX Hub ở 3 mốc: Nhận diện - Onboarding - Vận hành &amp; Duy trì</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16/9/2026</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Hoàng - Trúc - Vân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328625">
                <a:tc rowSpan="2">
                  <a:txBody>
                    <a:bodyPr/>
                    <a:lstStyle/>
                    <a:p>
                      <a:pPr indent="0" lvl="0" marL="0" marR="0" rtl="0" algn="l">
                        <a:spcBef>
                          <a:spcPts val="0"/>
                        </a:spcBef>
                        <a:spcAft>
                          <a:spcPts val="0"/>
                        </a:spcAft>
                        <a:buNone/>
                      </a:pPr>
                      <a:r>
                        <a:rPr b="1" lang="en" sz="800" u="none" cap="none" strike="noStrike">
                          <a:solidFill>
                            <a:srgbClr val="B4531A"/>
                          </a:solidFill>
                          <a:latin typeface="Lexend"/>
                          <a:ea typeface="Lexend"/>
                          <a:cs typeface="Lexend"/>
                          <a:sym typeface="Lexend"/>
                        </a:rPr>
                        <a:t>Cityzone</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3EB"/>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Triển khai cityzone cho SGN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Pilot cityzone cho SGN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a:solidFill>
                            <a:srgbClr val="374151"/>
                          </a:solidFill>
                          <a:latin typeface="Lexend"/>
                          <a:ea typeface="Lexend"/>
                          <a:cs typeface="Lexend"/>
                          <a:sym typeface="Lexend"/>
                        </a:rPr>
                        <a:t>21</a:t>
                      </a:r>
                      <a:r>
                        <a:rPr lang="en" sz="800" u="none" cap="none" strike="noStrike">
                          <a:solidFill>
                            <a:srgbClr val="374151"/>
                          </a:solidFill>
                          <a:latin typeface="Lexend"/>
                          <a:ea typeface="Lexend"/>
                          <a:cs typeface="Lexend"/>
                          <a:sym typeface="Lexend"/>
                        </a:rPr>
                        <a:t>/9/2026</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Trúc - H</a:t>
                      </a:r>
                      <a:r>
                        <a:rPr lang="en" sz="800">
                          <a:solidFill>
                            <a:srgbClr val="374151"/>
                          </a:solidFill>
                          <a:latin typeface="Lexend"/>
                          <a:ea typeface="Lexend"/>
                          <a:cs typeface="Lexend"/>
                          <a:sym typeface="Lexend"/>
                        </a:rPr>
                        <a:t>oàng</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328625">
                <a:tc vMerge="1"/>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Follow-up tình hình cityzone ở HAN</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800" u="none" cap="none" strike="noStrike">
                          <a:solidFill>
                            <a:srgbClr val="374151"/>
                          </a:solidFill>
                          <a:latin typeface="Lexend"/>
                          <a:ea typeface="Lexend"/>
                          <a:cs typeface="Lexend"/>
                          <a:sym typeface="Lexend"/>
                        </a:rPr>
                        <a:t>Đạt target 500 active và đóng gói SOP hoàn chỉnh</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07/9/2026</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u="none" cap="none" strike="noStrike">
                          <a:solidFill>
                            <a:srgbClr val="374151"/>
                          </a:solidFill>
                          <a:latin typeface="Lexend"/>
                          <a:ea typeface="Lexend"/>
                          <a:cs typeface="Lexend"/>
                          <a:sym typeface="Lexend"/>
                        </a:rPr>
                        <a:t>Hoàng</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r h="300050">
                <a:tc>
                  <a:txBody>
                    <a:bodyPr/>
                    <a:lstStyle/>
                    <a:p>
                      <a:pPr indent="0" lvl="0" marL="0" marR="0" rtl="0" algn="l">
                        <a:spcBef>
                          <a:spcPts val="0"/>
                        </a:spcBef>
                        <a:spcAft>
                          <a:spcPts val="0"/>
                        </a:spcAft>
                        <a:buNone/>
                      </a:pPr>
                      <a:r>
                        <a:rPr b="1" lang="en" sz="800" u="none" cap="none" strike="noStrike">
                          <a:solidFill>
                            <a:srgbClr val="B4531A"/>
                          </a:solidFill>
                          <a:latin typeface="Lexend"/>
                          <a:ea typeface="Lexend"/>
                          <a:cs typeface="Lexend"/>
                          <a:sym typeface="Lexend"/>
                        </a:rPr>
                        <a:t>EV old convert</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3EB"/>
                    </a:solidFill>
                  </a:tcPr>
                </a:tc>
                <a:tc>
                  <a:txBody>
                    <a:bodyPr/>
                    <a:lstStyle/>
                    <a:p>
                      <a:pPr indent="0" lvl="0" marL="0" marR="0" rtl="0" algn="l">
                        <a:spcBef>
                          <a:spcPts val="0"/>
                        </a:spcBef>
                        <a:spcAft>
                          <a:spcPts val="0"/>
                        </a:spcAft>
                        <a:buNone/>
                      </a:pPr>
                      <a:r>
                        <a:rPr lang="en" sz="800">
                          <a:solidFill>
                            <a:srgbClr val="374151"/>
                          </a:solidFill>
                          <a:latin typeface="Lexend"/>
                          <a:ea typeface="Lexend"/>
                          <a:cs typeface="Lexend"/>
                          <a:sym typeface="Lexend"/>
                        </a:rPr>
                        <a:t>Tăng active EV</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800">
                          <a:solidFill>
                            <a:srgbClr val="374151"/>
                          </a:solidFill>
                          <a:latin typeface="Lexend"/>
                          <a:ea typeface="Lexend"/>
                          <a:cs typeface="Lexend"/>
                          <a:sym typeface="Lexend"/>
                        </a:rPr>
                        <a:t>Convert từ nguồn EV churn kéo quay trở lại bổ sung thêm 200 EV active</a:t>
                      </a:r>
                      <a:endParaRPr sz="800">
                        <a:solidFill>
                          <a:srgbClr val="37415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800">
                          <a:solidFill>
                            <a:srgbClr val="374151"/>
                          </a:solidFill>
                          <a:latin typeface="Lexend"/>
                          <a:ea typeface="Lexend"/>
                          <a:cs typeface="Lexend"/>
                          <a:sym typeface="Lexend"/>
                        </a:rPr>
                        <a:t>07/09/2024</a:t>
                      </a:r>
                      <a:endParaRPr sz="800">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800">
                          <a:solidFill>
                            <a:srgbClr val="374151"/>
                          </a:solidFill>
                          <a:latin typeface="Lexend"/>
                          <a:ea typeface="Lexend"/>
                          <a:cs typeface="Lexend"/>
                          <a:sym typeface="Lexend"/>
                        </a:rPr>
                        <a:t>Hoàng</a:t>
                      </a:r>
                      <a:endParaRPr sz="800" u="none" cap="none" strike="noStrike">
                        <a:solidFill>
                          <a:schemeClr val="dk1"/>
                        </a:solidFill>
                        <a:latin typeface="Lexend"/>
                        <a:ea typeface="Lexend"/>
                        <a:cs typeface="Lexend"/>
                        <a:sym typeface="Lexend"/>
                      </a:endParaRPr>
                    </a:p>
                  </a:txBody>
                  <a:tcPr marT="35725" marB="35725" marR="57150" marL="57150" anchor="ctr">
                    <a:lnL cap="flat" cmpd="sng" w="4775">
                      <a:solidFill>
                        <a:srgbClr val="D6DEE8"/>
                      </a:solidFill>
                      <a:prstDash val="solid"/>
                      <a:round/>
                      <a:headEnd len="sm" w="sm" type="none"/>
                      <a:tailEnd len="sm" w="sm" type="none"/>
                    </a:lnL>
                    <a:lnR cap="flat" cmpd="sng" w="4775">
                      <a:solidFill>
                        <a:srgbClr val="D6DEE8"/>
                      </a:solidFill>
                      <a:prstDash val="solid"/>
                      <a:round/>
                      <a:headEnd len="sm" w="sm" type="none"/>
                      <a:tailEnd len="sm" w="sm" type="none"/>
                    </a:lnR>
                    <a:lnT cap="flat" cmpd="sng" w="4775">
                      <a:solidFill>
                        <a:srgbClr val="D6DEE8"/>
                      </a:solidFill>
                      <a:prstDash val="solid"/>
                      <a:round/>
                      <a:headEnd len="sm" w="sm" type="none"/>
                      <a:tailEnd len="sm" w="sm" type="none"/>
                    </a:lnT>
                    <a:lnB cap="flat" cmpd="sng" w="4775">
                      <a:solidFill>
                        <a:srgbClr val="D6DEE8"/>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0" name="Shape 1830"/>
        <p:cNvGrpSpPr/>
        <p:nvPr/>
      </p:nvGrpSpPr>
      <p:grpSpPr>
        <a:xfrm>
          <a:off x="0" y="0"/>
          <a:ext cx="0" cy="0"/>
          <a:chOff x="0" y="0"/>
          <a:chExt cx="0" cy="0"/>
        </a:xfrm>
      </p:grpSpPr>
      <p:sp>
        <p:nvSpPr>
          <p:cNvPr id="1831" name="Google Shape;1831;p45"/>
          <p:cNvSpPr txBox="1"/>
          <p:nvPr/>
        </p:nvSpPr>
        <p:spPr>
          <a:xfrm>
            <a:off x="5000625" y="3722275"/>
            <a:ext cx="41736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a:p>
        </p:txBody>
      </p:sp>
      <p:cxnSp>
        <p:nvCxnSpPr>
          <p:cNvPr id="1832" name="Google Shape;1832;p45"/>
          <p:cNvCxnSpPr/>
          <p:nvPr/>
        </p:nvCxnSpPr>
        <p:spPr>
          <a:xfrm>
            <a:off x="231075" y="952500"/>
            <a:ext cx="8677800" cy="0"/>
          </a:xfrm>
          <a:prstGeom prst="straightConnector1">
            <a:avLst/>
          </a:prstGeom>
          <a:noFill/>
          <a:ln cap="flat" cmpd="sng" w="19050">
            <a:solidFill>
              <a:srgbClr val="1155CC"/>
            </a:solidFill>
            <a:prstDash val="solid"/>
            <a:round/>
            <a:headEnd len="med" w="med" type="none"/>
            <a:tailEnd len="med" w="med" type="none"/>
          </a:ln>
        </p:spPr>
      </p:cxnSp>
      <p:sp>
        <p:nvSpPr>
          <p:cNvPr id="1833" name="Google Shape;1833;p45"/>
          <p:cNvSpPr/>
          <p:nvPr/>
        </p:nvSpPr>
        <p:spPr>
          <a:xfrm>
            <a:off x="205757" y="109725"/>
            <a:ext cx="3367800" cy="1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500"/>
              <a:buFont typeface="Lexend"/>
              <a:buNone/>
            </a:pPr>
            <a:r>
              <a:rPr b="1" i="0" lang="en" sz="1000" u="none" cap="none" strike="noStrike">
                <a:solidFill>
                  <a:srgbClr val="FF6B35"/>
                </a:solidFill>
                <a:latin typeface="Lexend"/>
                <a:ea typeface="Lexend"/>
                <a:cs typeface="Lexend"/>
                <a:sym typeface="Lexend"/>
              </a:rPr>
              <a:t>AHAMOVE - MINI</a:t>
            </a:r>
            <a:r>
              <a:rPr b="1" lang="en" sz="1000">
                <a:solidFill>
                  <a:srgbClr val="FF6B35"/>
                </a:solidFill>
                <a:latin typeface="Lexend"/>
                <a:ea typeface="Lexend"/>
                <a:cs typeface="Lexend"/>
                <a:sym typeface="Lexend"/>
              </a:rPr>
              <a:t>HUB LEADER &amp; AI ASSISTANT</a:t>
            </a:r>
            <a:endParaRPr b="0" i="0" sz="1000" u="none" cap="none" strike="noStrike">
              <a:solidFill>
                <a:srgbClr val="000000"/>
              </a:solidFill>
              <a:latin typeface="Calibri"/>
              <a:ea typeface="Calibri"/>
              <a:cs typeface="Calibri"/>
              <a:sym typeface="Calibri"/>
            </a:endParaRPr>
          </a:p>
        </p:txBody>
      </p:sp>
      <p:graphicFrame>
        <p:nvGraphicFramePr>
          <p:cNvPr id="1834" name="Google Shape;1834;p45"/>
          <p:cNvGraphicFramePr/>
          <p:nvPr/>
        </p:nvGraphicFramePr>
        <p:xfrm>
          <a:off x="896769" y="1090906"/>
          <a:ext cx="3000000" cy="3000000"/>
        </p:xfrm>
        <a:graphic>
          <a:graphicData uri="http://schemas.openxmlformats.org/drawingml/2006/table">
            <a:tbl>
              <a:tblPr>
                <a:noFill/>
                <a:tableStyleId>{84A9007E-4112-45BC-9D73-1BCF8FDB95CB}</a:tableStyleId>
              </a:tblPr>
              <a:tblGrid>
                <a:gridCol w="1257725"/>
                <a:gridCol w="1739175"/>
                <a:gridCol w="2173850"/>
                <a:gridCol w="2156975"/>
              </a:tblGrid>
              <a:tr h="284575">
                <a:tc>
                  <a:txBody>
                    <a:bodyPr/>
                    <a:lstStyle/>
                    <a:p>
                      <a:pPr indent="0" lvl="0" marL="0" rtl="0" algn="ctr">
                        <a:spcBef>
                          <a:spcPts val="0"/>
                        </a:spcBef>
                        <a:spcAft>
                          <a:spcPts val="0"/>
                        </a:spcAft>
                        <a:buNone/>
                      </a:pPr>
                      <a:r>
                        <a:rPr b="1" lang="en" sz="1000">
                          <a:solidFill>
                            <a:srgbClr val="1155CC"/>
                          </a:solidFill>
                          <a:latin typeface="Lexend"/>
                          <a:ea typeface="Lexend"/>
                          <a:cs typeface="Lexend"/>
                          <a:sym typeface="Lexend"/>
                        </a:rPr>
                        <a:t>Topic</a:t>
                      </a:r>
                      <a:endParaRPr b="1" sz="1000">
                        <a:solidFill>
                          <a:srgbClr val="1155CC"/>
                        </a:solidFill>
                        <a:latin typeface="Lexend"/>
                        <a:ea typeface="Lexend"/>
                        <a:cs typeface="Lexend"/>
                        <a:sym typeface="Lexend"/>
                      </a:endParaRPr>
                    </a:p>
                  </a:txBody>
                  <a:tcPr marT="45725" marB="45725" marR="45725" marL="45725">
                    <a:solidFill>
                      <a:srgbClr val="C9DAF8"/>
                    </a:solidFill>
                  </a:tcPr>
                </a:tc>
                <a:tc>
                  <a:txBody>
                    <a:bodyPr/>
                    <a:lstStyle/>
                    <a:p>
                      <a:pPr indent="0" lvl="0" marL="0" rtl="0" algn="ctr">
                        <a:spcBef>
                          <a:spcPts val="0"/>
                        </a:spcBef>
                        <a:spcAft>
                          <a:spcPts val="0"/>
                        </a:spcAft>
                        <a:buNone/>
                      </a:pPr>
                      <a:r>
                        <a:rPr b="1" lang="en" sz="1000">
                          <a:solidFill>
                            <a:srgbClr val="1155CC"/>
                          </a:solidFill>
                          <a:latin typeface="Lexend"/>
                          <a:ea typeface="Lexend"/>
                          <a:cs typeface="Lexend"/>
                          <a:sym typeface="Lexend"/>
                        </a:rPr>
                        <a:t>Task đã triển khai</a:t>
                      </a:r>
                      <a:endParaRPr b="1" sz="1000">
                        <a:solidFill>
                          <a:srgbClr val="1155CC"/>
                        </a:solidFill>
                        <a:latin typeface="Lexend"/>
                        <a:ea typeface="Lexend"/>
                        <a:cs typeface="Lexend"/>
                        <a:sym typeface="Lexend"/>
                      </a:endParaRPr>
                    </a:p>
                  </a:txBody>
                  <a:tcPr marT="45725" marB="45725" marR="45725" marL="45725">
                    <a:solidFill>
                      <a:srgbClr val="C9DAF8"/>
                    </a:solidFill>
                  </a:tcPr>
                </a:tc>
                <a:tc>
                  <a:txBody>
                    <a:bodyPr/>
                    <a:lstStyle/>
                    <a:p>
                      <a:pPr indent="0" lvl="0" marL="0" rtl="0" algn="ctr">
                        <a:spcBef>
                          <a:spcPts val="0"/>
                        </a:spcBef>
                        <a:spcAft>
                          <a:spcPts val="0"/>
                        </a:spcAft>
                        <a:buNone/>
                      </a:pPr>
                      <a:r>
                        <a:rPr b="1" lang="en" sz="1000">
                          <a:solidFill>
                            <a:srgbClr val="1155CC"/>
                          </a:solidFill>
                          <a:latin typeface="Lexend"/>
                          <a:ea typeface="Lexend"/>
                          <a:cs typeface="Lexend"/>
                          <a:sym typeface="Lexend"/>
                        </a:rPr>
                        <a:t>Mục tiêu</a:t>
                      </a:r>
                      <a:endParaRPr b="1" sz="1000">
                        <a:solidFill>
                          <a:srgbClr val="1155CC"/>
                        </a:solidFill>
                        <a:latin typeface="Lexend"/>
                        <a:ea typeface="Lexend"/>
                        <a:cs typeface="Lexend"/>
                        <a:sym typeface="Lexend"/>
                      </a:endParaRPr>
                    </a:p>
                  </a:txBody>
                  <a:tcPr marT="45725" marB="45725" marR="45725" marL="45725">
                    <a:solidFill>
                      <a:srgbClr val="C9DAF8"/>
                    </a:solidFill>
                  </a:tcPr>
                </a:tc>
                <a:tc>
                  <a:txBody>
                    <a:bodyPr/>
                    <a:lstStyle/>
                    <a:p>
                      <a:pPr indent="0" lvl="0" marL="0" rtl="0" algn="ctr">
                        <a:spcBef>
                          <a:spcPts val="0"/>
                        </a:spcBef>
                        <a:spcAft>
                          <a:spcPts val="0"/>
                        </a:spcAft>
                        <a:buNone/>
                      </a:pPr>
                      <a:r>
                        <a:rPr b="1" lang="en" sz="1000">
                          <a:solidFill>
                            <a:srgbClr val="1155CC"/>
                          </a:solidFill>
                          <a:latin typeface="Lexend"/>
                          <a:ea typeface="Lexend"/>
                          <a:cs typeface="Lexend"/>
                          <a:sym typeface="Lexend"/>
                        </a:rPr>
                        <a:t>Kết quả thực tế</a:t>
                      </a:r>
                      <a:endParaRPr b="1" sz="1000">
                        <a:solidFill>
                          <a:srgbClr val="1155CC"/>
                        </a:solidFill>
                        <a:latin typeface="Lexend"/>
                        <a:ea typeface="Lexend"/>
                        <a:cs typeface="Lexend"/>
                        <a:sym typeface="Lexend"/>
                      </a:endParaRPr>
                    </a:p>
                  </a:txBody>
                  <a:tcPr marT="45725" marB="45725" marR="45725" marL="45725">
                    <a:solidFill>
                      <a:srgbClr val="C9DAF8"/>
                    </a:solidFill>
                  </a:tcPr>
                </a:tc>
              </a:tr>
              <a:tr h="462425">
                <a:tc rowSpan="3">
                  <a:txBody>
                    <a:bodyPr/>
                    <a:lstStyle/>
                    <a:p>
                      <a:pPr indent="0" lvl="0" marL="0" rtl="0" algn="ctr">
                        <a:spcBef>
                          <a:spcPts val="0"/>
                        </a:spcBef>
                        <a:spcAft>
                          <a:spcPts val="0"/>
                        </a:spcAft>
                        <a:buNone/>
                      </a:pPr>
                      <a:r>
                        <a:rPr lang="en" sz="1000">
                          <a:latin typeface="Lexend"/>
                          <a:ea typeface="Lexend"/>
                          <a:cs typeface="Lexend"/>
                          <a:sym typeface="Lexend"/>
                        </a:rPr>
                        <a:t>Minihub</a:t>
                      </a:r>
                      <a:endParaRPr sz="1000">
                        <a:latin typeface="Lexend"/>
                        <a:ea typeface="Lexend"/>
                        <a:cs typeface="Lexend"/>
                        <a:sym typeface="Lexend"/>
                      </a:endParaRPr>
                    </a:p>
                  </a:txBody>
                  <a:tcPr marT="45725" marB="45725" marR="45725" marL="45725" anchor="ctr"/>
                </a:tc>
                <a:tc>
                  <a:txBody>
                    <a:bodyPr/>
                    <a:lstStyle/>
                    <a:p>
                      <a:pPr indent="0" lvl="0" marL="0" rtl="0" algn="l">
                        <a:spcBef>
                          <a:spcPts val="0"/>
                        </a:spcBef>
                        <a:spcAft>
                          <a:spcPts val="0"/>
                        </a:spcAft>
                        <a:buNone/>
                      </a:pPr>
                      <a:r>
                        <a:rPr lang="en" sz="1000">
                          <a:latin typeface="Lexend"/>
                          <a:ea typeface="Lexend"/>
                          <a:cs typeface="Lexend"/>
                          <a:sym typeface="Lexend"/>
                        </a:rPr>
                        <a:t>Hoàn thiện các Doc + Flow vận hành trong SOP</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Tiêu chuẩn hóa quy trình vận hành</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u="sng">
                          <a:solidFill>
                            <a:schemeClr val="hlink"/>
                          </a:solidFill>
                          <a:latin typeface="Lexend"/>
                          <a:ea typeface="Lexend"/>
                          <a:cs typeface="Lexend"/>
                          <a:sym typeface="Lexend"/>
                          <a:hlinkClick r:id="rId3"/>
                        </a:rPr>
                        <a:t>SOP</a:t>
                      </a:r>
                      <a:r>
                        <a:rPr lang="en" sz="1000">
                          <a:latin typeface="Lexend"/>
                          <a:ea typeface="Lexend"/>
                          <a:cs typeface="Lexend"/>
                          <a:sym typeface="Lexend"/>
                        </a:rPr>
                        <a:t> (Still in update)</a:t>
                      </a:r>
                      <a:endParaRPr sz="1000">
                        <a:latin typeface="Lexend"/>
                        <a:ea typeface="Lexend"/>
                        <a:cs typeface="Lexend"/>
                        <a:sym typeface="Lexend"/>
                      </a:endParaRPr>
                    </a:p>
                  </a:txBody>
                  <a:tcPr marT="45725" marB="45725" marR="45725" marL="45725"/>
                </a:tc>
              </a:tr>
              <a:tr h="654150">
                <a:tc vMerge="1"/>
                <a:tc>
                  <a:txBody>
                    <a:bodyPr/>
                    <a:lstStyle/>
                    <a:p>
                      <a:pPr indent="0" lvl="0" marL="0" rtl="0" algn="l">
                        <a:spcBef>
                          <a:spcPts val="0"/>
                        </a:spcBef>
                        <a:spcAft>
                          <a:spcPts val="0"/>
                        </a:spcAft>
                        <a:buNone/>
                      </a:pPr>
                      <a:r>
                        <a:rPr b="1" lang="en" sz="1000">
                          <a:latin typeface="Lexend"/>
                          <a:ea typeface="Lexend"/>
                          <a:cs typeface="Lexend"/>
                          <a:sym typeface="Lexend"/>
                        </a:rPr>
                        <a:t>Update Ops Report</a:t>
                      </a:r>
                      <a:r>
                        <a:rPr lang="en" sz="1000">
                          <a:latin typeface="Lexend"/>
                          <a:ea typeface="Lexend"/>
                          <a:cs typeface="Lexend"/>
                          <a:sym typeface="Lexend"/>
                        </a:rPr>
                        <a:t>:</a:t>
                      </a:r>
                      <a:br>
                        <a:rPr lang="en" sz="1000">
                          <a:latin typeface="Lexend"/>
                          <a:ea typeface="Lexend"/>
                          <a:cs typeface="Lexend"/>
                          <a:sym typeface="Lexend"/>
                        </a:rPr>
                      </a:br>
                      <a:r>
                        <a:rPr lang="en" sz="1000">
                          <a:latin typeface="Lexend"/>
                          <a:ea typeface="Lexend"/>
                          <a:cs typeface="Lexend"/>
                          <a:sym typeface="Lexend"/>
                        </a:rPr>
                        <a:t>Bổ sung ranking (Segmentation) TX trong Hub và Trạng thái vi phạm</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Xác định rõ nhóm Đối tượng cần hỗ trợ và hành vi trong Hub</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Giảm thời gian thao tác lọc TX</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Tiết kiệm 10-15% thời gian thao tác file cho ĐT</a:t>
                      </a:r>
                      <a:endParaRPr sz="1000">
                        <a:latin typeface="Lexend"/>
                        <a:ea typeface="Lexend"/>
                        <a:cs typeface="Lexend"/>
                        <a:sym typeface="Lexend"/>
                      </a:endParaRPr>
                    </a:p>
                  </a:txBody>
                  <a:tcPr marT="45725" marB="45725" marR="45725" marL="45725"/>
                </a:tc>
              </a:tr>
              <a:tr h="284575">
                <a:tc vMerge="1"/>
                <a:tc>
                  <a:txBody>
                    <a:bodyPr/>
                    <a:lstStyle/>
                    <a:p>
                      <a:pPr indent="0" lvl="0" marL="0" rtl="0" algn="l">
                        <a:spcBef>
                          <a:spcPts val="0"/>
                        </a:spcBef>
                        <a:spcAft>
                          <a:spcPts val="0"/>
                        </a:spcAft>
                        <a:buNone/>
                      </a:pPr>
                      <a:r>
                        <a:rPr lang="en" sz="1000">
                          <a:latin typeface="Lexend"/>
                          <a:ea typeface="Lexend"/>
                          <a:cs typeface="Lexend"/>
                          <a:sym typeface="Lexend"/>
                        </a:rPr>
                        <a:t>Đánh giá model Giai đoạn thử nghiệm </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Đánh giá hiệu quả model và khả năng Scale up</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u="sng">
                          <a:solidFill>
                            <a:schemeClr val="hlink"/>
                          </a:solidFill>
                          <a:latin typeface="Lexend"/>
                          <a:ea typeface="Lexend"/>
                          <a:cs typeface="Lexend"/>
                          <a:sym typeface="Lexend"/>
                          <a:hlinkClick r:id="rId4"/>
                        </a:rPr>
                        <a:t>Detail Notion</a:t>
                      </a:r>
                      <a:r>
                        <a:rPr lang="en" sz="1000">
                          <a:latin typeface="Lexend"/>
                          <a:ea typeface="Lexend"/>
                          <a:cs typeface="Lexend"/>
                          <a:sym typeface="Lexend"/>
                        </a:rPr>
                        <a:t> </a:t>
                      </a:r>
                      <a:br>
                        <a:rPr lang="en" sz="1000">
                          <a:latin typeface="Lexend"/>
                          <a:ea typeface="Lexend"/>
                          <a:cs typeface="Lexend"/>
                          <a:sym typeface="Lexend"/>
                        </a:rPr>
                      </a:br>
                      <a:endParaRPr sz="1000">
                        <a:latin typeface="Lexend"/>
                        <a:ea typeface="Lexend"/>
                        <a:cs typeface="Lexend"/>
                        <a:sym typeface="Lexend"/>
                      </a:endParaRPr>
                    </a:p>
                  </a:txBody>
                  <a:tcPr marT="45725" marB="45725" marR="45725" marL="45725"/>
                </a:tc>
              </a:tr>
              <a:tr h="284575">
                <a:tc>
                  <a:txBody>
                    <a:bodyPr/>
                    <a:lstStyle/>
                    <a:p>
                      <a:pPr indent="0" lvl="0" marL="0" rtl="0" algn="ctr">
                        <a:spcBef>
                          <a:spcPts val="0"/>
                        </a:spcBef>
                        <a:spcAft>
                          <a:spcPts val="0"/>
                        </a:spcAft>
                        <a:buNone/>
                      </a:pPr>
                      <a:r>
                        <a:rPr lang="en" sz="1000">
                          <a:latin typeface="Lexend"/>
                          <a:ea typeface="Lexend"/>
                          <a:cs typeface="Lexend"/>
                          <a:sym typeface="Lexend"/>
                        </a:rPr>
                        <a:t>AI ASSISTANT</a:t>
                      </a:r>
                      <a:endParaRPr sz="1000">
                        <a:latin typeface="Lexend"/>
                        <a:ea typeface="Lexend"/>
                        <a:cs typeface="Lexend"/>
                        <a:sym typeface="Lexend"/>
                      </a:endParaRPr>
                    </a:p>
                  </a:txBody>
                  <a:tcPr marT="45725" marB="45725" marR="45725" marL="45725" anchor="ctr"/>
                </a:tc>
                <a:tc>
                  <a:txBody>
                    <a:bodyPr/>
                    <a:lstStyle/>
                    <a:p>
                      <a:pPr indent="0" lvl="0" marL="0" rtl="0" algn="l">
                        <a:spcBef>
                          <a:spcPts val="0"/>
                        </a:spcBef>
                        <a:spcAft>
                          <a:spcPts val="0"/>
                        </a:spcAft>
                        <a:buNone/>
                      </a:pPr>
                      <a:r>
                        <a:rPr lang="en" sz="1000">
                          <a:latin typeface="Lexend"/>
                          <a:ea typeface="Lexend"/>
                          <a:cs typeface="Lexend"/>
                          <a:sym typeface="Lexend"/>
                        </a:rPr>
                        <a:t>Đánh giá sơ bộ Tech Doc và 1st Open Discuss meeting </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a:latin typeface="Lexend"/>
                          <a:ea typeface="Lexend"/>
                          <a:cs typeface="Lexend"/>
                          <a:sym typeface="Lexend"/>
                        </a:rPr>
                        <a:t>Nắm được Overview về Model AI</a:t>
                      </a:r>
                      <a:endParaRPr sz="1000">
                        <a:latin typeface="Lexend"/>
                        <a:ea typeface="Lexend"/>
                        <a:cs typeface="Lexend"/>
                        <a:sym typeface="Lexend"/>
                      </a:endParaRPr>
                    </a:p>
                    <a:p>
                      <a:pPr indent="-177800" lvl="0" marL="228600" rtl="0" algn="l">
                        <a:spcBef>
                          <a:spcPts val="0"/>
                        </a:spcBef>
                        <a:spcAft>
                          <a:spcPts val="0"/>
                        </a:spcAft>
                        <a:buSzPts val="1000"/>
                        <a:buFont typeface="Lexend"/>
                        <a:buChar char="-"/>
                      </a:pPr>
                      <a:r>
                        <a:rPr lang="en" sz="1000">
                          <a:latin typeface="Lexend"/>
                          <a:ea typeface="Lexend"/>
                          <a:cs typeface="Lexend"/>
                          <a:sym typeface="Lexend"/>
                        </a:rPr>
                        <a:t>Chia sẻ các vấn đề Real Case + Kỳ vọng External </a:t>
                      </a:r>
                      <a:endParaRPr sz="1000">
                        <a:latin typeface="Lexend"/>
                        <a:ea typeface="Lexend"/>
                        <a:cs typeface="Lexend"/>
                        <a:sym typeface="Lexend"/>
                      </a:endParaRPr>
                    </a:p>
                  </a:txBody>
                  <a:tcPr marT="45725" marB="45725" marR="45725" marL="45725"/>
                </a:tc>
                <a:tc>
                  <a:txBody>
                    <a:bodyPr/>
                    <a:lstStyle/>
                    <a:p>
                      <a:pPr indent="-177800" lvl="0" marL="228600" rtl="0" algn="l">
                        <a:spcBef>
                          <a:spcPts val="0"/>
                        </a:spcBef>
                        <a:spcAft>
                          <a:spcPts val="0"/>
                        </a:spcAft>
                        <a:buSzPts val="1000"/>
                        <a:buFont typeface="Lexend"/>
                        <a:buChar char="-"/>
                      </a:pPr>
                      <a:r>
                        <a:rPr lang="en" sz="1000" u="sng">
                          <a:solidFill>
                            <a:schemeClr val="hlink"/>
                          </a:solidFill>
                          <a:latin typeface="Lexend"/>
                          <a:ea typeface="Lexend"/>
                          <a:cs typeface="Lexend"/>
                          <a:sym typeface="Lexend"/>
                          <a:hlinkClick r:id="rId5"/>
                        </a:rPr>
                        <a:t>Done Overview</a:t>
                      </a:r>
                      <a:r>
                        <a:rPr lang="en" sz="1000">
                          <a:latin typeface="Lexend"/>
                          <a:ea typeface="Lexend"/>
                          <a:cs typeface="Lexend"/>
                          <a:sym typeface="Lexend"/>
                        </a:rPr>
                        <a:t>  </a:t>
                      </a:r>
                      <a:endParaRPr sz="1000">
                        <a:latin typeface="Lexend"/>
                        <a:ea typeface="Lexend"/>
                        <a:cs typeface="Lexend"/>
                        <a:sym typeface="Lexend"/>
                      </a:endParaRPr>
                    </a:p>
                  </a:txBody>
                  <a:tcPr marT="45725" marB="45725" marR="45725" marL="45725"/>
                </a:tc>
              </a:tr>
            </a:tbl>
          </a:graphicData>
        </a:graphic>
      </p:graphicFrame>
      <p:sp>
        <p:nvSpPr>
          <p:cNvPr id="1835" name="Google Shape;1835;p45"/>
          <p:cNvSpPr/>
          <p:nvPr/>
        </p:nvSpPr>
        <p:spPr>
          <a:xfrm>
            <a:off x="411480" y="333938"/>
            <a:ext cx="82983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Arial"/>
              <a:buNone/>
            </a:pPr>
            <a:r>
              <a:rPr b="1" lang="en" sz="2400">
                <a:solidFill>
                  <a:srgbClr val="1F2937"/>
                </a:solidFill>
                <a:latin typeface="Lexend"/>
                <a:ea typeface="Lexend"/>
                <a:cs typeface="Lexend"/>
                <a:sym typeface="Lexend"/>
              </a:rPr>
              <a:t>TASK ACHIEVED OVERVIEW</a:t>
            </a:r>
            <a:endParaRPr i="0" sz="2400" u="none" cap="none" strike="noStrike">
              <a:solidFill>
                <a:srgbClr val="FF6B35"/>
              </a:solidFill>
              <a:latin typeface="Lexend"/>
              <a:ea typeface="Lexend"/>
              <a:cs typeface="Lexend"/>
              <a:sym typeface="Lexend"/>
            </a:endParaRPr>
          </a:p>
        </p:txBody>
      </p:sp>
      <p:sp>
        <p:nvSpPr>
          <p:cNvPr id="1836" name="Google Shape;1836;p45"/>
          <p:cNvSpPr/>
          <p:nvPr/>
        </p:nvSpPr>
        <p:spPr>
          <a:xfrm>
            <a:off x="295780" y="361459"/>
            <a:ext cx="96000" cy="4251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841" name="Shape 1841"/>
        <p:cNvGrpSpPr/>
        <p:nvPr/>
      </p:nvGrpSpPr>
      <p:grpSpPr>
        <a:xfrm>
          <a:off x="0" y="0"/>
          <a:ext cx="0" cy="0"/>
          <a:chOff x="0" y="0"/>
          <a:chExt cx="0" cy="0"/>
        </a:xfrm>
      </p:grpSpPr>
      <p:sp>
        <p:nvSpPr>
          <p:cNvPr id="1842" name="Google Shape;1842;p46"/>
          <p:cNvSpPr/>
          <p:nvPr/>
        </p:nvSpPr>
        <p:spPr>
          <a:xfrm>
            <a:off x="411480" y="333938"/>
            <a:ext cx="82983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Arial"/>
              <a:buNone/>
            </a:pPr>
            <a:r>
              <a:rPr b="1" lang="en" sz="2400">
                <a:solidFill>
                  <a:srgbClr val="1F2937"/>
                </a:solidFill>
                <a:latin typeface="Lexend"/>
                <a:ea typeface="Lexend"/>
                <a:cs typeface="Lexend"/>
                <a:sym typeface="Lexend"/>
              </a:rPr>
              <a:t>PERFORM VẬN HÀNH - </a:t>
            </a:r>
            <a:r>
              <a:rPr b="1" lang="en" sz="2400">
                <a:solidFill>
                  <a:srgbClr val="FF6B35"/>
                </a:solidFill>
                <a:latin typeface="Lexend"/>
                <a:ea typeface="Lexend"/>
                <a:cs typeface="Lexend"/>
                <a:sym typeface="Lexend"/>
              </a:rPr>
              <a:t>HAN</a:t>
            </a:r>
            <a:endParaRPr i="0" sz="2400" u="none" cap="none" strike="noStrike">
              <a:solidFill>
                <a:srgbClr val="FF6B35"/>
              </a:solidFill>
              <a:latin typeface="Lexend"/>
              <a:ea typeface="Lexend"/>
              <a:cs typeface="Lexend"/>
              <a:sym typeface="Lexend"/>
            </a:endParaRPr>
          </a:p>
        </p:txBody>
      </p:sp>
      <p:sp>
        <p:nvSpPr>
          <p:cNvPr id="1843" name="Google Shape;1843;p46"/>
          <p:cNvSpPr/>
          <p:nvPr/>
        </p:nvSpPr>
        <p:spPr>
          <a:xfrm>
            <a:off x="206699" y="1572188"/>
            <a:ext cx="822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100"/>
              <a:buFont typeface="Arial"/>
              <a:buNone/>
            </a:pPr>
            <a:r>
              <a:rPr b="1" lang="en" sz="1500">
                <a:solidFill>
                  <a:srgbClr val="FF6B35"/>
                </a:solidFill>
                <a:latin typeface="Lexend"/>
                <a:ea typeface="Lexend"/>
                <a:cs typeface="Lexend"/>
                <a:sym typeface="Lexend"/>
              </a:rPr>
              <a:t>Z2&amp;4</a:t>
            </a:r>
            <a:endParaRPr i="0" sz="1500" u="none" cap="none" strike="noStrike">
              <a:solidFill>
                <a:srgbClr val="FF6B35"/>
              </a:solidFill>
              <a:latin typeface="Lexend"/>
              <a:ea typeface="Lexend"/>
              <a:cs typeface="Lexend"/>
              <a:sym typeface="Lexend"/>
            </a:endParaRPr>
          </a:p>
        </p:txBody>
      </p:sp>
      <p:sp>
        <p:nvSpPr>
          <p:cNvPr id="1844" name="Google Shape;1844;p46"/>
          <p:cNvSpPr/>
          <p:nvPr/>
        </p:nvSpPr>
        <p:spPr>
          <a:xfrm>
            <a:off x="206699" y="3878794"/>
            <a:ext cx="822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100"/>
              <a:buFont typeface="Arial"/>
              <a:buNone/>
            </a:pPr>
            <a:r>
              <a:rPr b="1" lang="en" sz="1500">
                <a:solidFill>
                  <a:srgbClr val="FF6B35"/>
                </a:solidFill>
                <a:latin typeface="Lexend"/>
                <a:ea typeface="Lexend"/>
                <a:cs typeface="Lexend"/>
                <a:sym typeface="Lexend"/>
              </a:rPr>
              <a:t>Z136</a:t>
            </a:r>
            <a:endParaRPr i="0" sz="1500" u="none" cap="none" strike="noStrike">
              <a:solidFill>
                <a:srgbClr val="FF6B35"/>
              </a:solidFill>
              <a:latin typeface="Lexend"/>
              <a:ea typeface="Lexend"/>
              <a:cs typeface="Lexend"/>
              <a:sym typeface="Lexend"/>
            </a:endParaRPr>
          </a:p>
        </p:txBody>
      </p:sp>
      <p:sp>
        <p:nvSpPr>
          <p:cNvPr id="1845" name="Google Shape;1845;p46"/>
          <p:cNvSpPr/>
          <p:nvPr/>
        </p:nvSpPr>
        <p:spPr>
          <a:xfrm>
            <a:off x="7542263" y="912300"/>
            <a:ext cx="1489800" cy="1922400"/>
          </a:xfrm>
          <a:prstGeom prst="roundRect">
            <a:avLst>
              <a:gd fmla="val 17778" name="adj"/>
            </a:avLst>
          </a:prstGeom>
          <a:solidFill>
            <a:srgbClr val="FFF5EE"/>
          </a:solidFill>
          <a:ln cap="flat" cmpd="sng" w="9525">
            <a:solidFill>
              <a:srgbClr val="FFF5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latin typeface="Lexend"/>
              <a:ea typeface="Lexend"/>
              <a:cs typeface="Lexend"/>
              <a:sym typeface="Lexend"/>
            </a:endParaRPr>
          </a:p>
        </p:txBody>
      </p:sp>
      <p:sp>
        <p:nvSpPr>
          <p:cNvPr id="1846" name="Google Shape;1846;p46"/>
          <p:cNvSpPr/>
          <p:nvPr/>
        </p:nvSpPr>
        <p:spPr>
          <a:xfrm>
            <a:off x="7572244" y="2937506"/>
            <a:ext cx="1489800" cy="2000100"/>
          </a:xfrm>
          <a:prstGeom prst="roundRect">
            <a:avLst>
              <a:gd fmla="val 17778" name="adj"/>
            </a:avLst>
          </a:prstGeom>
          <a:solidFill>
            <a:srgbClr val="FFF5EE"/>
          </a:solidFill>
          <a:ln cap="flat" cmpd="sng" w="9525">
            <a:solidFill>
              <a:srgbClr val="FFF5EE"/>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lang="en" sz="800">
                <a:latin typeface="Lexend"/>
                <a:ea typeface="Lexend"/>
                <a:cs typeface="Lexend"/>
                <a:sym typeface="Lexend"/>
              </a:rPr>
              <a:t>- </a:t>
            </a:r>
            <a:r>
              <a:rPr b="1" lang="en" sz="800">
                <a:latin typeface="Lexend"/>
                <a:ea typeface="Lexend"/>
                <a:cs typeface="Lexend"/>
                <a:sym typeface="Lexend"/>
              </a:rPr>
              <a:t>Online rate được cải thiện WoW, </a:t>
            </a:r>
            <a:r>
              <a:rPr lang="en" sz="800">
                <a:latin typeface="Lexend"/>
                <a:ea typeface="Lexend"/>
                <a:cs typeface="Lexend"/>
                <a:sym typeface="Lexend"/>
              </a:rPr>
              <a:t>tốt nhất trong 2 tuần gần nhất</a:t>
            </a:r>
            <a:br>
              <a:rPr lang="en" sz="800">
                <a:latin typeface="Lexend"/>
                <a:ea typeface="Lexend"/>
                <a:cs typeface="Lexend"/>
                <a:sym typeface="Lexend"/>
              </a:rPr>
            </a:br>
            <a:br>
              <a:rPr lang="en" sz="800">
                <a:latin typeface="Lexend"/>
                <a:ea typeface="Lexend"/>
                <a:cs typeface="Lexend"/>
                <a:sym typeface="Lexend"/>
              </a:rPr>
            </a:br>
            <a:r>
              <a:rPr lang="en" sz="800">
                <a:latin typeface="Lexend"/>
                <a:ea typeface="Lexend"/>
                <a:cs typeface="Lexend"/>
                <a:sym typeface="Lexend"/>
              </a:rPr>
              <a:t>- So với Medzone HAN, </a:t>
            </a:r>
            <a:r>
              <a:rPr b="1" lang="en" sz="800">
                <a:latin typeface="Lexend"/>
                <a:ea typeface="Lexend"/>
                <a:cs typeface="Lexend"/>
                <a:sym typeface="Lexend"/>
              </a:rPr>
              <a:t>Z136 có perform vượt trội hơn hẳn trong cả 2 giai đoạn</a:t>
            </a:r>
            <a:r>
              <a:rPr lang="en" sz="800">
                <a:latin typeface="Lexend"/>
                <a:ea typeface="Lexend"/>
                <a:cs typeface="Lexend"/>
                <a:sym typeface="Lexend"/>
              </a:rPr>
              <a:t> trước và sau khi có Đội trưởng Quản lý</a:t>
            </a:r>
            <a:br>
              <a:rPr lang="en" sz="800">
                <a:latin typeface="Lexend"/>
                <a:ea typeface="Lexend"/>
                <a:cs typeface="Lexend"/>
                <a:sym typeface="Lexend"/>
              </a:rPr>
            </a:br>
            <a:endParaRPr b="1" sz="800">
              <a:latin typeface="Lexend"/>
              <a:ea typeface="Lexend"/>
              <a:cs typeface="Lexend"/>
              <a:sym typeface="Lexend"/>
            </a:endParaRPr>
          </a:p>
          <a:p>
            <a:pPr indent="0" lvl="0" marL="0" rtl="0" algn="l">
              <a:spcBef>
                <a:spcPts val="0"/>
              </a:spcBef>
              <a:spcAft>
                <a:spcPts val="0"/>
              </a:spcAft>
              <a:buNone/>
            </a:pPr>
            <a:r>
              <a:t/>
            </a:r>
            <a:endParaRPr sz="800">
              <a:latin typeface="Lexend"/>
              <a:ea typeface="Lexend"/>
              <a:cs typeface="Lexend"/>
              <a:sym typeface="Lexend"/>
            </a:endParaRPr>
          </a:p>
        </p:txBody>
      </p:sp>
      <p:sp>
        <p:nvSpPr>
          <p:cNvPr id="1847" name="Google Shape;1847;p46"/>
          <p:cNvSpPr/>
          <p:nvPr/>
        </p:nvSpPr>
        <p:spPr>
          <a:xfrm>
            <a:off x="7633613" y="1027613"/>
            <a:ext cx="1265100" cy="16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900"/>
              <a:buFont typeface="Arial"/>
              <a:buNone/>
            </a:pPr>
            <a:r>
              <a:rPr lang="en" sz="800">
                <a:solidFill>
                  <a:srgbClr val="1F2937"/>
                </a:solidFill>
                <a:latin typeface="Lexend"/>
                <a:ea typeface="Lexend"/>
                <a:cs typeface="Lexend"/>
                <a:sym typeface="Lexend"/>
              </a:rPr>
              <a:t>- </a:t>
            </a:r>
            <a:r>
              <a:rPr b="1" lang="en" sz="800">
                <a:solidFill>
                  <a:srgbClr val="1F2937"/>
                </a:solidFill>
                <a:latin typeface="Lexend"/>
                <a:ea typeface="Lexend"/>
                <a:cs typeface="Lexend"/>
                <a:sym typeface="Lexend"/>
              </a:rPr>
              <a:t>Avg Shift Hour/Online Rate được cải thiện WoW</a:t>
            </a:r>
            <a:r>
              <a:rPr lang="en" sz="800">
                <a:solidFill>
                  <a:srgbClr val="1F2937"/>
                </a:solidFill>
                <a:latin typeface="Lexend"/>
                <a:ea typeface="Lexend"/>
                <a:cs typeface="Lexend"/>
                <a:sym typeface="Lexend"/>
              </a:rPr>
              <a:t> </a:t>
            </a:r>
            <a:br>
              <a:rPr lang="en" sz="800">
                <a:solidFill>
                  <a:srgbClr val="1F2937"/>
                </a:solidFill>
                <a:latin typeface="Lexend"/>
                <a:ea typeface="Lexend"/>
                <a:cs typeface="Lexend"/>
                <a:sym typeface="Lexend"/>
              </a:rPr>
            </a:br>
            <a:br>
              <a:rPr lang="en" sz="800">
                <a:solidFill>
                  <a:srgbClr val="1F2937"/>
                </a:solidFill>
                <a:latin typeface="Lexend"/>
                <a:ea typeface="Lexend"/>
                <a:cs typeface="Lexend"/>
                <a:sym typeface="Lexend"/>
              </a:rPr>
            </a:br>
            <a:r>
              <a:rPr lang="en" sz="800">
                <a:solidFill>
                  <a:srgbClr val="1F2937"/>
                </a:solidFill>
                <a:latin typeface="Lexend"/>
                <a:ea typeface="Lexend"/>
                <a:cs typeface="Lexend"/>
                <a:sym typeface="Lexend"/>
              </a:rPr>
              <a:t>- So với Zone non lead, Gap Shift hour tăng mạnh trong 3 tuần gần nhất</a:t>
            </a:r>
            <a:br>
              <a:rPr lang="en" sz="800">
                <a:solidFill>
                  <a:srgbClr val="1F2937"/>
                </a:solidFill>
                <a:latin typeface="Lexend"/>
                <a:ea typeface="Lexend"/>
                <a:cs typeface="Lexend"/>
                <a:sym typeface="Lexend"/>
              </a:rPr>
            </a:br>
            <a:endParaRPr sz="800">
              <a:solidFill>
                <a:srgbClr val="1F2937"/>
              </a:solidFill>
              <a:latin typeface="Lexend"/>
              <a:ea typeface="Lexend"/>
              <a:cs typeface="Lexend"/>
              <a:sym typeface="Lexend"/>
            </a:endParaRPr>
          </a:p>
        </p:txBody>
      </p:sp>
      <p:pic>
        <p:nvPicPr>
          <p:cNvPr id="1848" name="Google Shape;1848;p46"/>
          <p:cNvPicPr preferRelativeResize="0"/>
          <p:nvPr/>
        </p:nvPicPr>
        <p:blipFill>
          <a:blip r:embed="rId3">
            <a:alphaModFix/>
          </a:blip>
          <a:stretch>
            <a:fillRect/>
          </a:stretch>
        </p:blipFill>
        <p:spPr>
          <a:xfrm>
            <a:off x="953213" y="834113"/>
            <a:ext cx="6493863" cy="2000025"/>
          </a:xfrm>
          <a:prstGeom prst="rect">
            <a:avLst/>
          </a:prstGeom>
          <a:noFill/>
          <a:ln>
            <a:noFill/>
          </a:ln>
        </p:spPr>
      </p:pic>
      <p:pic>
        <p:nvPicPr>
          <p:cNvPr id="1849" name="Google Shape;1849;p46"/>
          <p:cNvPicPr preferRelativeResize="0"/>
          <p:nvPr/>
        </p:nvPicPr>
        <p:blipFill>
          <a:blip r:embed="rId4">
            <a:alphaModFix/>
          </a:blip>
          <a:stretch>
            <a:fillRect/>
          </a:stretch>
        </p:blipFill>
        <p:spPr>
          <a:xfrm>
            <a:off x="953213" y="2974425"/>
            <a:ext cx="6493859" cy="1980736"/>
          </a:xfrm>
          <a:prstGeom prst="rect">
            <a:avLst/>
          </a:prstGeom>
          <a:noFill/>
          <a:ln>
            <a:noFill/>
          </a:ln>
        </p:spPr>
      </p:pic>
      <p:sp>
        <p:nvSpPr>
          <p:cNvPr id="1850" name="Google Shape;1850;p46"/>
          <p:cNvSpPr/>
          <p:nvPr/>
        </p:nvSpPr>
        <p:spPr>
          <a:xfrm>
            <a:off x="205738" y="109725"/>
            <a:ext cx="2116200" cy="1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500"/>
              <a:buFont typeface="Lexend"/>
              <a:buNone/>
            </a:pPr>
            <a:r>
              <a:rPr b="1" i="0" lang="en" sz="1000" u="none" cap="none" strike="noStrike">
                <a:solidFill>
                  <a:srgbClr val="FF6B35"/>
                </a:solidFill>
                <a:latin typeface="Lexend"/>
                <a:ea typeface="Lexend"/>
                <a:cs typeface="Lexend"/>
                <a:sym typeface="Lexend"/>
              </a:rPr>
              <a:t>AHAMOVE - MINI</a:t>
            </a:r>
            <a:r>
              <a:rPr b="1" lang="en" sz="1000">
                <a:solidFill>
                  <a:srgbClr val="FF6B35"/>
                </a:solidFill>
                <a:latin typeface="Lexend"/>
                <a:ea typeface="Lexend"/>
                <a:cs typeface="Lexend"/>
                <a:sym typeface="Lexend"/>
              </a:rPr>
              <a:t>HUB LEADER</a:t>
            </a:r>
            <a:endParaRPr b="0" i="0" sz="1000" u="none" cap="none" strike="noStrike">
              <a:solidFill>
                <a:srgbClr val="000000"/>
              </a:solidFill>
              <a:latin typeface="Calibri"/>
              <a:ea typeface="Calibri"/>
              <a:cs typeface="Calibri"/>
              <a:sym typeface="Calibri"/>
            </a:endParaRPr>
          </a:p>
        </p:txBody>
      </p:sp>
      <p:sp>
        <p:nvSpPr>
          <p:cNvPr id="1851" name="Google Shape;1851;p46"/>
          <p:cNvSpPr/>
          <p:nvPr/>
        </p:nvSpPr>
        <p:spPr>
          <a:xfrm>
            <a:off x="295780" y="361459"/>
            <a:ext cx="96000" cy="4251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856" name="Shape 1856"/>
        <p:cNvGrpSpPr/>
        <p:nvPr/>
      </p:nvGrpSpPr>
      <p:grpSpPr>
        <a:xfrm>
          <a:off x="0" y="0"/>
          <a:ext cx="0" cy="0"/>
          <a:chOff x="0" y="0"/>
          <a:chExt cx="0" cy="0"/>
        </a:xfrm>
      </p:grpSpPr>
      <p:sp>
        <p:nvSpPr>
          <p:cNvPr id="1857" name="Google Shape;1857;p47"/>
          <p:cNvSpPr/>
          <p:nvPr/>
        </p:nvSpPr>
        <p:spPr>
          <a:xfrm>
            <a:off x="80212" y="1558144"/>
            <a:ext cx="822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100"/>
              <a:buFont typeface="Arial"/>
              <a:buNone/>
            </a:pPr>
            <a:r>
              <a:rPr b="1" lang="en" sz="1500">
                <a:solidFill>
                  <a:srgbClr val="FF6B35"/>
                </a:solidFill>
                <a:latin typeface="Lexend"/>
                <a:ea typeface="Lexend"/>
                <a:cs typeface="Lexend"/>
                <a:sym typeface="Lexend"/>
              </a:rPr>
              <a:t>Z2</a:t>
            </a:r>
            <a:endParaRPr i="0" sz="1500" u="none" cap="none" strike="noStrike">
              <a:solidFill>
                <a:srgbClr val="FF6B35"/>
              </a:solidFill>
              <a:latin typeface="Lexend"/>
              <a:ea typeface="Lexend"/>
              <a:cs typeface="Lexend"/>
              <a:sym typeface="Lexend"/>
            </a:endParaRPr>
          </a:p>
        </p:txBody>
      </p:sp>
      <p:sp>
        <p:nvSpPr>
          <p:cNvPr id="1858" name="Google Shape;1858;p47"/>
          <p:cNvSpPr/>
          <p:nvPr/>
        </p:nvSpPr>
        <p:spPr>
          <a:xfrm>
            <a:off x="7549294" y="1008675"/>
            <a:ext cx="1489800" cy="1369800"/>
          </a:xfrm>
          <a:prstGeom prst="roundRect">
            <a:avLst>
              <a:gd fmla="val 17778" name="adj"/>
            </a:avLst>
          </a:prstGeom>
          <a:solidFill>
            <a:srgbClr val="FFF5EE"/>
          </a:solidFill>
          <a:ln cap="flat" cmpd="sng" w="9525">
            <a:solidFill>
              <a:srgbClr val="FFF5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latin typeface="Lexend"/>
              <a:ea typeface="Lexend"/>
              <a:cs typeface="Lexend"/>
              <a:sym typeface="Lexend"/>
            </a:endParaRPr>
          </a:p>
        </p:txBody>
      </p:sp>
      <p:sp>
        <p:nvSpPr>
          <p:cNvPr id="1859" name="Google Shape;1859;p47"/>
          <p:cNvSpPr/>
          <p:nvPr/>
        </p:nvSpPr>
        <p:spPr>
          <a:xfrm>
            <a:off x="7661681" y="1098019"/>
            <a:ext cx="1265100" cy="133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900"/>
              <a:buFont typeface="Arial"/>
              <a:buNone/>
            </a:pPr>
            <a:r>
              <a:rPr lang="en" sz="800">
                <a:solidFill>
                  <a:srgbClr val="1F2937"/>
                </a:solidFill>
                <a:latin typeface="Lexend"/>
                <a:ea typeface="Lexend"/>
                <a:cs typeface="Lexend"/>
                <a:sym typeface="Lexend"/>
              </a:rPr>
              <a:t>Xuất phát thấp hơn Non-Leader nhiều nhóm chỉ số, nhưng vượt lên từ tuần 03.08</a:t>
            </a:r>
            <a:br>
              <a:rPr lang="en" sz="800">
                <a:solidFill>
                  <a:srgbClr val="1F2937"/>
                </a:solidFill>
                <a:latin typeface="Lexend"/>
                <a:ea typeface="Lexend"/>
                <a:cs typeface="Lexend"/>
                <a:sym typeface="Lexend"/>
              </a:rPr>
            </a:br>
            <a:br>
              <a:rPr lang="en" sz="800">
                <a:solidFill>
                  <a:srgbClr val="1F2937"/>
                </a:solidFill>
                <a:latin typeface="Lexend"/>
                <a:ea typeface="Lexend"/>
                <a:cs typeface="Lexend"/>
                <a:sym typeface="Lexend"/>
              </a:rPr>
            </a:br>
            <a:r>
              <a:rPr lang="en" sz="800">
                <a:solidFill>
                  <a:srgbClr val="1F2937"/>
                </a:solidFill>
                <a:latin typeface="Lexend"/>
                <a:ea typeface="Lexend"/>
                <a:cs typeface="Lexend"/>
                <a:sym typeface="Lexend"/>
              </a:rPr>
              <a:t>Avg Shift Hour vẫn chưa tạo gap đáng kể nhưng khoảng cách thu hẹp WoW</a:t>
            </a:r>
            <a:endParaRPr sz="800">
              <a:solidFill>
                <a:srgbClr val="1F2937"/>
              </a:solidFill>
              <a:latin typeface="Lexend"/>
              <a:ea typeface="Lexend"/>
              <a:cs typeface="Lexend"/>
              <a:sym typeface="Lexend"/>
            </a:endParaRPr>
          </a:p>
        </p:txBody>
      </p:sp>
      <p:sp>
        <p:nvSpPr>
          <p:cNvPr id="1860" name="Google Shape;1860;p47"/>
          <p:cNvSpPr/>
          <p:nvPr/>
        </p:nvSpPr>
        <p:spPr>
          <a:xfrm>
            <a:off x="411480" y="333938"/>
            <a:ext cx="82983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Arial"/>
              <a:buNone/>
            </a:pPr>
            <a:r>
              <a:rPr b="1" lang="en" sz="2400">
                <a:solidFill>
                  <a:srgbClr val="1F2937"/>
                </a:solidFill>
                <a:latin typeface="Lexend"/>
                <a:ea typeface="Lexend"/>
                <a:cs typeface="Lexend"/>
                <a:sym typeface="Lexend"/>
              </a:rPr>
              <a:t>PERFORM VẬN HÀNH - </a:t>
            </a:r>
            <a:r>
              <a:rPr b="1" lang="en" sz="2400">
                <a:solidFill>
                  <a:srgbClr val="FF6B35"/>
                </a:solidFill>
                <a:latin typeface="Lexend"/>
                <a:ea typeface="Lexend"/>
                <a:cs typeface="Lexend"/>
                <a:sym typeface="Lexend"/>
              </a:rPr>
              <a:t>SGN</a:t>
            </a:r>
            <a:endParaRPr i="0" sz="2400" u="none" cap="none" strike="noStrike">
              <a:solidFill>
                <a:srgbClr val="FF6B35"/>
              </a:solidFill>
              <a:latin typeface="Lexend"/>
              <a:ea typeface="Lexend"/>
              <a:cs typeface="Lexend"/>
              <a:sym typeface="Lexend"/>
            </a:endParaRPr>
          </a:p>
        </p:txBody>
      </p:sp>
      <p:pic>
        <p:nvPicPr>
          <p:cNvPr id="1861" name="Google Shape;1861;p47"/>
          <p:cNvPicPr preferRelativeResize="0"/>
          <p:nvPr/>
        </p:nvPicPr>
        <p:blipFill>
          <a:blip r:embed="rId3">
            <a:alphaModFix/>
          </a:blip>
          <a:stretch>
            <a:fillRect/>
          </a:stretch>
        </p:blipFill>
        <p:spPr>
          <a:xfrm>
            <a:off x="1976363" y="2932781"/>
            <a:ext cx="6458270" cy="1745196"/>
          </a:xfrm>
          <a:prstGeom prst="rect">
            <a:avLst/>
          </a:prstGeom>
          <a:noFill/>
          <a:ln>
            <a:noFill/>
          </a:ln>
        </p:spPr>
      </p:pic>
      <p:pic>
        <p:nvPicPr>
          <p:cNvPr id="1862" name="Google Shape;1862;p47"/>
          <p:cNvPicPr preferRelativeResize="0"/>
          <p:nvPr/>
        </p:nvPicPr>
        <p:blipFill>
          <a:blip r:embed="rId4">
            <a:alphaModFix/>
          </a:blip>
          <a:stretch>
            <a:fillRect/>
          </a:stretch>
        </p:blipFill>
        <p:spPr>
          <a:xfrm>
            <a:off x="460669" y="1008675"/>
            <a:ext cx="6974445" cy="1369837"/>
          </a:xfrm>
          <a:prstGeom prst="rect">
            <a:avLst/>
          </a:prstGeom>
          <a:noFill/>
          <a:ln>
            <a:noFill/>
          </a:ln>
        </p:spPr>
      </p:pic>
      <p:sp>
        <p:nvSpPr>
          <p:cNvPr id="1863" name="Google Shape;1863;p47"/>
          <p:cNvSpPr/>
          <p:nvPr/>
        </p:nvSpPr>
        <p:spPr>
          <a:xfrm>
            <a:off x="180431" y="3787444"/>
            <a:ext cx="1489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100"/>
              <a:buFont typeface="Arial"/>
              <a:buNone/>
            </a:pPr>
            <a:r>
              <a:rPr b="1" lang="en" sz="1500">
                <a:solidFill>
                  <a:srgbClr val="FF6B35"/>
                </a:solidFill>
                <a:latin typeface="Lexend"/>
                <a:ea typeface="Lexend"/>
                <a:cs typeface="Lexend"/>
                <a:sym typeface="Lexend"/>
              </a:rPr>
              <a:t>PERFORM CONCLUSION</a:t>
            </a:r>
            <a:endParaRPr i="0" sz="1500" u="none" cap="none" strike="noStrike">
              <a:solidFill>
                <a:srgbClr val="FF6B35"/>
              </a:solidFill>
              <a:latin typeface="Lexend"/>
              <a:ea typeface="Lexend"/>
              <a:cs typeface="Lexend"/>
              <a:sym typeface="Lexend"/>
            </a:endParaRPr>
          </a:p>
        </p:txBody>
      </p:sp>
      <p:sp>
        <p:nvSpPr>
          <p:cNvPr id="1864" name="Google Shape;1864;p47"/>
          <p:cNvSpPr/>
          <p:nvPr/>
        </p:nvSpPr>
        <p:spPr>
          <a:xfrm rot="-10795648">
            <a:off x="4106216" y="2480292"/>
            <a:ext cx="237000" cy="405900"/>
          </a:xfrm>
          <a:prstGeom prst="upArrow">
            <a:avLst>
              <a:gd fmla="val 50000" name="adj1"/>
              <a:gd fmla="val 50000" name="adj2"/>
            </a:avLst>
          </a:prstGeom>
          <a:gradFill>
            <a:gsLst>
              <a:gs pos="0">
                <a:srgbClr val="FDECDB"/>
              </a:gs>
              <a:gs pos="100000">
                <a:srgbClr val="F0AA63"/>
              </a:gs>
            </a:gsLst>
            <a:path path="circle">
              <a:fillToRect b="50%" l="50%" r="50%" t="50%"/>
            </a:path>
            <a:tileRect/>
          </a:gradFill>
          <a:ln cap="flat" cmpd="sng" w="7150">
            <a:solidFill>
              <a:srgbClr val="F6820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865" name="Google Shape;1865;p47"/>
          <p:cNvSpPr/>
          <p:nvPr/>
        </p:nvSpPr>
        <p:spPr>
          <a:xfrm>
            <a:off x="205738" y="109725"/>
            <a:ext cx="2116200" cy="1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500"/>
              <a:buFont typeface="Lexend"/>
              <a:buNone/>
            </a:pPr>
            <a:r>
              <a:rPr b="1" i="0" lang="en" sz="1000" u="none" cap="none" strike="noStrike">
                <a:solidFill>
                  <a:srgbClr val="FF6B35"/>
                </a:solidFill>
                <a:latin typeface="Lexend"/>
                <a:ea typeface="Lexend"/>
                <a:cs typeface="Lexend"/>
                <a:sym typeface="Lexend"/>
              </a:rPr>
              <a:t>AHAMOVE - MINI</a:t>
            </a:r>
            <a:r>
              <a:rPr b="1" lang="en" sz="1000">
                <a:solidFill>
                  <a:srgbClr val="FF6B35"/>
                </a:solidFill>
                <a:latin typeface="Lexend"/>
                <a:ea typeface="Lexend"/>
                <a:cs typeface="Lexend"/>
                <a:sym typeface="Lexend"/>
              </a:rPr>
              <a:t>HUB LEADER</a:t>
            </a:r>
            <a:endParaRPr b="0" i="0" sz="1000" u="none" cap="none" strike="noStrike">
              <a:solidFill>
                <a:srgbClr val="000000"/>
              </a:solidFill>
              <a:latin typeface="Calibri"/>
              <a:ea typeface="Calibri"/>
              <a:cs typeface="Calibri"/>
              <a:sym typeface="Calibri"/>
            </a:endParaRPr>
          </a:p>
        </p:txBody>
      </p:sp>
      <p:sp>
        <p:nvSpPr>
          <p:cNvPr id="1866" name="Google Shape;1866;p47"/>
          <p:cNvSpPr/>
          <p:nvPr/>
        </p:nvSpPr>
        <p:spPr>
          <a:xfrm>
            <a:off x="295780" y="361459"/>
            <a:ext cx="96000" cy="4251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1" name="Shape 1871"/>
        <p:cNvGrpSpPr/>
        <p:nvPr/>
      </p:nvGrpSpPr>
      <p:grpSpPr>
        <a:xfrm>
          <a:off x="0" y="0"/>
          <a:ext cx="0" cy="0"/>
          <a:chOff x="0" y="0"/>
          <a:chExt cx="0" cy="0"/>
        </a:xfrm>
      </p:grpSpPr>
      <p:sp>
        <p:nvSpPr>
          <p:cNvPr id="1872" name="Google Shape;1872;p48"/>
          <p:cNvSpPr/>
          <p:nvPr/>
        </p:nvSpPr>
        <p:spPr>
          <a:xfrm>
            <a:off x="411480"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Lexend"/>
              <a:buNone/>
            </a:pPr>
            <a:r>
              <a:rPr b="0" i="1" lang="en" sz="800" u="none" cap="none" strike="noStrike">
                <a:solidFill>
                  <a:srgbClr val="6B7280"/>
                </a:solidFill>
                <a:latin typeface="Lexend"/>
                <a:ea typeface="Lexend"/>
                <a:cs typeface="Lexend"/>
                <a:sym typeface="Lexend"/>
              </a:rPr>
              <a:t>Giai đoạn 1 · Điểm mạnh &amp; Điểm yếu mô hình</a:t>
            </a:r>
            <a:endParaRPr b="0" i="0" sz="800" u="none" cap="none" strike="noStrike">
              <a:solidFill>
                <a:schemeClr val="dk1"/>
              </a:solidFill>
              <a:latin typeface="Calibri"/>
              <a:ea typeface="Calibri"/>
              <a:cs typeface="Calibri"/>
              <a:sym typeface="Calibri"/>
            </a:endParaRPr>
          </a:p>
        </p:txBody>
      </p:sp>
      <p:sp>
        <p:nvSpPr>
          <p:cNvPr id="1873" name="Google Shape;1873;p48"/>
          <p:cNvSpPr/>
          <p:nvPr/>
        </p:nvSpPr>
        <p:spPr>
          <a:xfrm>
            <a:off x="5143500" y="192024"/>
            <a:ext cx="3634500" cy="651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0E6"/>
              </a:buClr>
              <a:buSzPts val="3500"/>
              <a:buFont typeface="Lexend"/>
              <a:buNone/>
            </a:pPr>
            <a:r>
              <a:rPr b="1" i="0" lang="en" sz="3500" u="none" cap="none" strike="noStrike">
                <a:solidFill>
                  <a:srgbClr val="FFF0E6"/>
                </a:solidFill>
                <a:latin typeface="Lexend"/>
                <a:ea typeface="Lexend"/>
                <a:cs typeface="Lexend"/>
                <a:sym typeface="Lexend"/>
              </a:rPr>
              <a:t>SW</a:t>
            </a:r>
            <a:endParaRPr b="0" i="0" sz="3500" u="none" cap="none" strike="noStrike">
              <a:solidFill>
                <a:schemeClr val="dk1"/>
              </a:solidFill>
              <a:latin typeface="Calibri"/>
              <a:ea typeface="Calibri"/>
              <a:cs typeface="Calibri"/>
              <a:sym typeface="Calibri"/>
            </a:endParaRPr>
          </a:p>
        </p:txBody>
      </p:sp>
      <p:sp>
        <p:nvSpPr>
          <p:cNvPr id="1874" name="Google Shape;1874;p48"/>
          <p:cNvSpPr/>
          <p:nvPr/>
        </p:nvSpPr>
        <p:spPr>
          <a:xfrm>
            <a:off x="411480" y="768096"/>
            <a:ext cx="96000" cy="4251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5" name="Google Shape;1875;p48"/>
          <p:cNvSpPr/>
          <p:nvPr/>
        </p:nvSpPr>
        <p:spPr>
          <a:xfrm>
            <a:off x="582930" y="720090"/>
            <a:ext cx="78867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Lexend"/>
              <a:buNone/>
            </a:pPr>
            <a:r>
              <a:rPr b="1" lang="en" sz="2400">
                <a:solidFill>
                  <a:srgbClr val="1F2937"/>
                </a:solidFill>
                <a:latin typeface="Lexend"/>
                <a:ea typeface="Lexend"/>
                <a:cs typeface="Lexend"/>
                <a:sym typeface="Lexend"/>
              </a:rPr>
              <a:t>ĐIỂM LÀM TỐT &amp; ĐIỂM CẦN CẢI THIỆN</a:t>
            </a:r>
            <a:endParaRPr b="0" i="0" sz="2400" u="none" cap="none" strike="noStrike">
              <a:solidFill>
                <a:schemeClr val="dk1"/>
              </a:solidFill>
              <a:latin typeface="Calibri"/>
              <a:ea typeface="Calibri"/>
              <a:cs typeface="Calibri"/>
              <a:sym typeface="Calibri"/>
            </a:endParaRPr>
          </a:p>
        </p:txBody>
      </p:sp>
      <p:sp>
        <p:nvSpPr>
          <p:cNvPr id="1876" name="Google Shape;1876;p48"/>
          <p:cNvSpPr/>
          <p:nvPr/>
        </p:nvSpPr>
        <p:spPr>
          <a:xfrm>
            <a:off x="411480" y="1611630"/>
            <a:ext cx="4149000" cy="2846100"/>
          </a:xfrm>
          <a:prstGeom prst="roundRect">
            <a:avLst>
              <a:gd fmla="val 3373" name="adj"/>
            </a:avLst>
          </a:prstGeom>
          <a:solidFill>
            <a:srgbClr val="D4EDDA"/>
          </a:solidFill>
          <a:ln cap="flat" cmpd="sng" w="19050">
            <a:solidFill>
              <a:srgbClr val="10B98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7" name="Google Shape;1877;p48"/>
          <p:cNvSpPr/>
          <p:nvPr/>
        </p:nvSpPr>
        <p:spPr>
          <a:xfrm>
            <a:off x="411480" y="1611630"/>
            <a:ext cx="4149000" cy="582900"/>
          </a:xfrm>
          <a:prstGeom prst="roundRect">
            <a:avLst>
              <a:gd fmla="val 16471" name="adj"/>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8" name="Google Shape;1878;p48"/>
          <p:cNvSpPr/>
          <p:nvPr/>
        </p:nvSpPr>
        <p:spPr>
          <a:xfrm>
            <a:off x="411480" y="1899666"/>
            <a:ext cx="4149000" cy="294900"/>
          </a:xfrm>
          <a:prstGeom prst="rect">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9" name="Google Shape;1879;p48"/>
          <p:cNvSpPr/>
          <p:nvPr/>
        </p:nvSpPr>
        <p:spPr>
          <a:xfrm>
            <a:off x="651510" y="1611630"/>
            <a:ext cx="36690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Lexend"/>
              <a:buNone/>
            </a:pPr>
            <a:r>
              <a:rPr b="1" i="0" lang="en" sz="1500" u="none" cap="none" strike="noStrike">
                <a:solidFill>
                  <a:srgbClr val="FFFFFF"/>
                </a:solidFill>
                <a:latin typeface="Lexend"/>
                <a:ea typeface="Lexend"/>
                <a:cs typeface="Lexend"/>
                <a:sym typeface="Lexend"/>
              </a:rPr>
              <a:t>STRENGTHS  </a:t>
            </a:r>
            <a:r>
              <a:rPr b="0" i="0" lang="en" sz="1100" u="none" cap="none" strike="noStrike">
                <a:solidFill>
                  <a:srgbClr val="FFFFFF"/>
                </a:solidFill>
                <a:latin typeface="Lexend"/>
                <a:ea typeface="Lexend"/>
                <a:cs typeface="Lexend"/>
                <a:sym typeface="Lexend"/>
              </a:rPr>
              <a:t>· ĐIỂM </a:t>
            </a:r>
            <a:r>
              <a:rPr lang="en" sz="1100">
                <a:solidFill>
                  <a:srgbClr val="FFFFFF"/>
                </a:solidFill>
                <a:latin typeface="Lexend"/>
                <a:ea typeface="Lexend"/>
                <a:cs typeface="Lexend"/>
                <a:sym typeface="Lexend"/>
              </a:rPr>
              <a:t>LÀM TỐT</a:t>
            </a:r>
            <a:endParaRPr b="0" i="0" sz="1500" u="none" cap="none" strike="noStrike">
              <a:solidFill>
                <a:schemeClr val="dk1"/>
              </a:solidFill>
              <a:latin typeface="Calibri"/>
              <a:ea typeface="Calibri"/>
              <a:cs typeface="Calibri"/>
              <a:sym typeface="Calibri"/>
            </a:endParaRPr>
          </a:p>
        </p:txBody>
      </p:sp>
      <p:sp>
        <p:nvSpPr>
          <p:cNvPr id="1880" name="Google Shape;1880;p48"/>
          <p:cNvSpPr/>
          <p:nvPr/>
        </p:nvSpPr>
        <p:spPr>
          <a:xfrm>
            <a:off x="685800" y="2468880"/>
            <a:ext cx="109800" cy="109800"/>
          </a:xfrm>
          <a:prstGeom prst="ellipse">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1" name="Google Shape;1881;p48"/>
          <p:cNvSpPr/>
          <p:nvPr/>
        </p:nvSpPr>
        <p:spPr>
          <a:xfrm>
            <a:off x="925830" y="2345438"/>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Tăng trưởng rõ rệt ở một số nhóm chỉ số vận hành: Giờ đăng ký ca, Online rate,... (Mức đạt KPIs trung bình &gt;85%)</a:t>
            </a:r>
            <a:endParaRPr b="0" i="0" sz="900" u="none" cap="none" strike="noStrike">
              <a:solidFill>
                <a:schemeClr val="dk1"/>
              </a:solidFill>
              <a:latin typeface="Calibri"/>
              <a:ea typeface="Calibri"/>
              <a:cs typeface="Calibri"/>
              <a:sym typeface="Calibri"/>
            </a:endParaRPr>
          </a:p>
        </p:txBody>
      </p:sp>
      <p:sp>
        <p:nvSpPr>
          <p:cNvPr id="1882" name="Google Shape;1882;p48"/>
          <p:cNvSpPr/>
          <p:nvPr/>
        </p:nvSpPr>
        <p:spPr>
          <a:xfrm>
            <a:off x="685800" y="2962656"/>
            <a:ext cx="109800" cy="109800"/>
          </a:xfrm>
          <a:prstGeom prst="ellipse">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3" name="Google Shape;1883;p48"/>
          <p:cNvSpPr/>
          <p:nvPr/>
        </p:nvSpPr>
        <p:spPr>
          <a:xfrm>
            <a:off x="925830" y="2839214"/>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Thu thập được nhiều đóng góp có giá trị giúp cải thiện vận hành Hub</a:t>
            </a:r>
            <a:endParaRPr b="0" i="0" sz="900" u="none" cap="none" strike="noStrike">
              <a:solidFill>
                <a:schemeClr val="dk1"/>
              </a:solidFill>
              <a:latin typeface="Calibri"/>
              <a:ea typeface="Calibri"/>
              <a:cs typeface="Calibri"/>
              <a:sym typeface="Calibri"/>
            </a:endParaRPr>
          </a:p>
        </p:txBody>
      </p:sp>
      <p:sp>
        <p:nvSpPr>
          <p:cNvPr id="1884" name="Google Shape;1884;p48"/>
          <p:cNvSpPr/>
          <p:nvPr/>
        </p:nvSpPr>
        <p:spPr>
          <a:xfrm>
            <a:off x="685800" y="3456432"/>
            <a:ext cx="109800" cy="109800"/>
          </a:xfrm>
          <a:prstGeom prst="ellipse">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5" name="Google Shape;1885;p48"/>
          <p:cNvSpPr/>
          <p:nvPr/>
        </p:nvSpPr>
        <p:spPr>
          <a:xfrm>
            <a:off x="4718304" y="1611630"/>
            <a:ext cx="4149000" cy="2846100"/>
          </a:xfrm>
          <a:prstGeom prst="roundRect">
            <a:avLst>
              <a:gd fmla="val 3373" name="adj"/>
            </a:avLst>
          </a:prstGeom>
          <a:solidFill>
            <a:srgbClr val="FEE2E2"/>
          </a:solidFill>
          <a:ln cap="flat" cmpd="sng" w="19050">
            <a:solidFill>
              <a:srgbClr val="EF44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6" name="Google Shape;1886;p48"/>
          <p:cNvSpPr/>
          <p:nvPr/>
        </p:nvSpPr>
        <p:spPr>
          <a:xfrm>
            <a:off x="4718304" y="1611630"/>
            <a:ext cx="4149000" cy="582900"/>
          </a:xfrm>
          <a:prstGeom prst="roundRect">
            <a:avLst>
              <a:gd fmla="val 16471" name="adj"/>
            </a:avLst>
          </a:prstGeom>
          <a:solidFill>
            <a:srgbClr val="EF44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7" name="Google Shape;1887;p48"/>
          <p:cNvSpPr/>
          <p:nvPr/>
        </p:nvSpPr>
        <p:spPr>
          <a:xfrm>
            <a:off x="4718304" y="1899666"/>
            <a:ext cx="4149000" cy="294900"/>
          </a:xfrm>
          <a:prstGeom prst="rect">
            <a:avLst/>
          </a:prstGeom>
          <a:solidFill>
            <a:srgbClr val="EF44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8" name="Google Shape;1888;p48"/>
          <p:cNvSpPr/>
          <p:nvPr/>
        </p:nvSpPr>
        <p:spPr>
          <a:xfrm>
            <a:off x="4958334" y="1611630"/>
            <a:ext cx="36690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Lexend"/>
              <a:buNone/>
            </a:pPr>
            <a:r>
              <a:rPr b="1" i="0" lang="en" sz="1500" u="none" cap="none" strike="noStrike">
                <a:solidFill>
                  <a:srgbClr val="FFFFFF"/>
                </a:solidFill>
                <a:latin typeface="Lexend"/>
                <a:ea typeface="Lexend"/>
                <a:cs typeface="Lexend"/>
                <a:sym typeface="Lexend"/>
              </a:rPr>
              <a:t>WEAKNESSES  </a:t>
            </a:r>
            <a:r>
              <a:rPr b="0" i="0" lang="en" sz="1100" u="none" cap="none" strike="noStrike">
                <a:solidFill>
                  <a:srgbClr val="FFFFFF"/>
                </a:solidFill>
                <a:latin typeface="Lexend"/>
                <a:ea typeface="Lexend"/>
                <a:cs typeface="Lexend"/>
                <a:sym typeface="Lexend"/>
              </a:rPr>
              <a:t>· ĐIỂM </a:t>
            </a:r>
            <a:r>
              <a:rPr lang="en" sz="1100">
                <a:solidFill>
                  <a:srgbClr val="FFFFFF"/>
                </a:solidFill>
                <a:latin typeface="Lexend"/>
                <a:ea typeface="Lexend"/>
                <a:cs typeface="Lexend"/>
                <a:sym typeface="Lexend"/>
              </a:rPr>
              <a:t>CẦN CẢI THIỆN</a:t>
            </a:r>
            <a:endParaRPr b="0" i="0" sz="1500" u="none" cap="none" strike="noStrike">
              <a:solidFill>
                <a:schemeClr val="dk1"/>
              </a:solidFill>
              <a:latin typeface="Calibri"/>
              <a:ea typeface="Calibri"/>
              <a:cs typeface="Calibri"/>
              <a:sym typeface="Calibri"/>
            </a:endParaRPr>
          </a:p>
        </p:txBody>
      </p:sp>
      <p:sp>
        <p:nvSpPr>
          <p:cNvPr id="1889" name="Google Shape;1889;p48"/>
          <p:cNvSpPr/>
          <p:nvPr/>
        </p:nvSpPr>
        <p:spPr>
          <a:xfrm>
            <a:off x="4992624" y="2468880"/>
            <a:ext cx="109800" cy="109800"/>
          </a:xfrm>
          <a:prstGeom prst="ellipse">
            <a:avLst/>
          </a:prstGeom>
          <a:solidFill>
            <a:srgbClr val="EF44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0" name="Google Shape;1890;p48"/>
          <p:cNvSpPr/>
          <p:nvPr/>
        </p:nvSpPr>
        <p:spPr>
          <a:xfrm>
            <a:off x="5232654" y="2345438"/>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Phong cách vận hành </a:t>
            </a:r>
            <a:r>
              <a:rPr b="1" i="1" lang="en" sz="900">
                <a:solidFill>
                  <a:schemeClr val="dk1"/>
                </a:solidFill>
                <a:latin typeface="Lexend"/>
                <a:ea typeface="Lexend"/>
                <a:cs typeface="Lexend"/>
                <a:sym typeface="Lexend"/>
              </a:rPr>
              <a:t>gây nhiều sự bị động</a:t>
            </a:r>
            <a:r>
              <a:rPr i="1" lang="en" sz="900">
                <a:solidFill>
                  <a:schemeClr val="dk1"/>
                </a:solidFill>
                <a:latin typeface="Lexend"/>
                <a:ea typeface="Lexend"/>
                <a:cs typeface="Lexend"/>
                <a:sym typeface="Lexend"/>
              </a:rPr>
              <a:t> cho Đội trưởng</a:t>
            </a:r>
            <a:endParaRPr b="0" i="0" sz="900" u="none" cap="none" strike="noStrike">
              <a:solidFill>
                <a:schemeClr val="dk1"/>
              </a:solidFill>
              <a:latin typeface="Calibri"/>
              <a:ea typeface="Calibri"/>
              <a:cs typeface="Calibri"/>
              <a:sym typeface="Calibri"/>
            </a:endParaRPr>
          </a:p>
        </p:txBody>
      </p:sp>
      <p:sp>
        <p:nvSpPr>
          <p:cNvPr id="1891" name="Google Shape;1891;p48"/>
          <p:cNvSpPr/>
          <p:nvPr/>
        </p:nvSpPr>
        <p:spPr>
          <a:xfrm>
            <a:off x="4992624" y="2962656"/>
            <a:ext cx="109800" cy="109800"/>
          </a:xfrm>
          <a:prstGeom prst="ellipse">
            <a:avLst/>
          </a:prstGeom>
          <a:solidFill>
            <a:srgbClr val="EF44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2" name="Google Shape;1892;p48"/>
          <p:cNvSpPr/>
          <p:nvPr/>
        </p:nvSpPr>
        <p:spPr>
          <a:xfrm>
            <a:off x="5232654" y="2839214"/>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Thiếu tính </a:t>
            </a:r>
            <a:r>
              <a:rPr b="1" i="1" lang="en" sz="900">
                <a:solidFill>
                  <a:schemeClr val="dk1"/>
                </a:solidFill>
                <a:latin typeface="Lexend"/>
                <a:ea typeface="Lexend"/>
                <a:cs typeface="Lexend"/>
                <a:sym typeface="Lexend"/>
              </a:rPr>
              <a:t>rõ ràng trong mục tiêu </a:t>
            </a:r>
            <a:r>
              <a:rPr i="1" lang="en" sz="900">
                <a:solidFill>
                  <a:schemeClr val="dk1"/>
                </a:solidFill>
                <a:latin typeface="Lexend"/>
                <a:ea typeface="Lexend"/>
                <a:cs typeface="Lexend"/>
                <a:sym typeface="Lexend"/>
              </a:rPr>
              <a:t>trung hạn và dài hạn</a:t>
            </a:r>
            <a:endParaRPr b="0" i="0" sz="900" u="none" cap="none" strike="noStrike">
              <a:solidFill>
                <a:schemeClr val="dk1"/>
              </a:solidFill>
              <a:latin typeface="Calibri"/>
              <a:ea typeface="Calibri"/>
              <a:cs typeface="Calibri"/>
              <a:sym typeface="Calibri"/>
            </a:endParaRPr>
          </a:p>
        </p:txBody>
      </p:sp>
      <p:sp>
        <p:nvSpPr>
          <p:cNvPr id="1893" name="Google Shape;1893;p48"/>
          <p:cNvSpPr/>
          <p:nvPr/>
        </p:nvSpPr>
        <p:spPr>
          <a:xfrm>
            <a:off x="4992624" y="3456432"/>
            <a:ext cx="109800" cy="109800"/>
          </a:xfrm>
          <a:prstGeom prst="ellipse">
            <a:avLst/>
          </a:prstGeom>
          <a:solidFill>
            <a:srgbClr val="EF44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4" name="Google Shape;1894;p48"/>
          <p:cNvSpPr/>
          <p:nvPr/>
        </p:nvSpPr>
        <p:spPr>
          <a:xfrm>
            <a:off x="5232654" y="3332989"/>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Các công việc Đội trưởng thực hiện </a:t>
            </a:r>
            <a:r>
              <a:rPr b="1" i="1" lang="en" sz="900">
                <a:solidFill>
                  <a:schemeClr val="dk1"/>
                </a:solidFill>
                <a:latin typeface="Lexend"/>
                <a:ea typeface="Lexend"/>
                <a:cs typeface="Lexend"/>
                <a:sym typeface="Lexend"/>
              </a:rPr>
              <a:t>thiếu cơ chế để ghi chép và lưu trữ </a:t>
            </a:r>
            <a:endParaRPr b="1" i="0" sz="900" u="none" cap="none" strike="noStrike">
              <a:solidFill>
                <a:schemeClr val="dk1"/>
              </a:solidFill>
              <a:latin typeface="Calibri"/>
              <a:ea typeface="Calibri"/>
              <a:cs typeface="Calibri"/>
              <a:sym typeface="Calibri"/>
            </a:endParaRPr>
          </a:p>
        </p:txBody>
      </p:sp>
      <p:sp>
        <p:nvSpPr>
          <p:cNvPr id="1895" name="Google Shape;1895;p48"/>
          <p:cNvSpPr/>
          <p:nvPr/>
        </p:nvSpPr>
        <p:spPr>
          <a:xfrm>
            <a:off x="925830" y="3332995"/>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TX trong zone được hỗ trơ tương đối sát sao</a:t>
            </a:r>
            <a:endParaRPr b="0" i="0" sz="900" u="none" cap="none" strike="noStrike">
              <a:solidFill>
                <a:schemeClr val="dk1"/>
              </a:solidFill>
              <a:latin typeface="Calibri"/>
              <a:ea typeface="Calibri"/>
              <a:cs typeface="Calibri"/>
              <a:sym typeface="Calibri"/>
            </a:endParaRPr>
          </a:p>
        </p:txBody>
      </p:sp>
      <p:sp>
        <p:nvSpPr>
          <p:cNvPr id="1896" name="Google Shape;1896;p48"/>
          <p:cNvSpPr/>
          <p:nvPr/>
        </p:nvSpPr>
        <p:spPr>
          <a:xfrm>
            <a:off x="4992624" y="3950181"/>
            <a:ext cx="109800" cy="109800"/>
          </a:xfrm>
          <a:prstGeom prst="ellipse">
            <a:avLst/>
          </a:prstGeom>
          <a:solidFill>
            <a:srgbClr val="EF44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7" name="Google Shape;1897;p48"/>
          <p:cNvSpPr/>
          <p:nvPr/>
        </p:nvSpPr>
        <p:spPr>
          <a:xfrm>
            <a:off x="5232654" y="3826739"/>
            <a:ext cx="33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Lexend"/>
              <a:buNone/>
            </a:pPr>
            <a:r>
              <a:rPr i="1" lang="en" sz="900">
                <a:solidFill>
                  <a:schemeClr val="dk1"/>
                </a:solidFill>
                <a:latin typeface="Lexend"/>
                <a:ea typeface="Lexend"/>
                <a:cs typeface="Lexend"/>
                <a:sym typeface="Lexend"/>
              </a:rPr>
              <a:t>Việc vận hành trong </a:t>
            </a:r>
            <a:r>
              <a:rPr b="1" i="1" lang="en" sz="900">
                <a:solidFill>
                  <a:schemeClr val="dk1"/>
                </a:solidFill>
                <a:latin typeface="Lexend"/>
                <a:ea typeface="Lexend"/>
                <a:cs typeface="Lexend"/>
                <a:sym typeface="Lexend"/>
              </a:rPr>
              <a:t>nhiều khâu còn chậm</a:t>
            </a:r>
            <a:endParaRPr b="1" i="0" sz="900" u="none" cap="none" strike="noStrike">
              <a:solidFill>
                <a:schemeClr val="dk1"/>
              </a:solidFill>
              <a:latin typeface="Calibri"/>
              <a:ea typeface="Calibri"/>
              <a:cs typeface="Calibri"/>
              <a:sym typeface="Calibri"/>
            </a:endParaRPr>
          </a:p>
        </p:txBody>
      </p:sp>
      <p:sp>
        <p:nvSpPr>
          <p:cNvPr id="1898" name="Google Shape;1898;p48"/>
          <p:cNvSpPr/>
          <p:nvPr/>
        </p:nvSpPr>
        <p:spPr>
          <a:xfrm>
            <a:off x="205738" y="109725"/>
            <a:ext cx="2116200" cy="1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500"/>
              <a:buFont typeface="Lexend"/>
              <a:buNone/>
            </a:pPr>
            <a:r>
              <a:rPr b="1" i="0" lang="en" sz="1000" u="none" cap="none" strike="noStrike">
                <a:solidFill>
                  <a:srgbClr val="FF6B35"/>
                </a:solidFill>
                <a:latin typeface="Lexend"/>
                <a:ea typeface="Lexend"/>
                <a:cs typeface="Lexend"/>
                <a:sym typeface="Lexend"/>
              </a:rPr>
              <a:t>AHAMOVE - MINI</a:t>
            </a:r>
            <a:r>
              <a:rPr b="1" lang="en" sz="1000">
                <a:solidFill>
                  <a:srgbClr val="FF6B35"/>
                </a:solidFill>
                <a:latin typeface="Lexend"/>
                <a:ea typeface="Lexend"/>
                <a:cs typeface="Lexend"/>
                <a:sym typeface="Lexend"/>
              </a:rPr>
              <a:t>HUB LEADER</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3" name="Shape 1903"/>
        <p:cNvGrpSpPr/>
        <p:nvPr/>
      </p:nvGrpSpPr>
      <p:grpSpPr>
        <a:xfrm>
          <a:off x="0" y="0"/>
          <a:ext cx="0" cy="0"/>
          <a:chOff x="0" y="0"/>
          <a:chExt cx="0" cy="0"/>
        </a:xfrm>
      </p:grpSpPr>
      <p:sp>
        <p:nvSpPr>
          <p:cNvPr id="1904" name="Google Shape;1904;p49"/>
          <p:cNvSpPr/>
          <p:nvPr/>
        </p:nvSpPr>
        <p:spPr>
          <a:xfrm>
            <a:off x="411480"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Lexend"/>
              <a:buNone/>
            </a:pPr>
            <a:r>
              <a:rPr b="0" i="1" lang="en" sz="800" u="none" cap="none" strike="noStrike">
                <a:solidFill>
                  <a:srgbClr val="6B7280"/>
                </a:solidFill>
                <a:latin typeface="Lexend"/>
                <a:ea typeface="Lexend"/>
                <a:cs typeface="Lexend"/>
                <a:sym typeface="Lexend"/>
              </a:rPr>
              <a:t>Giai đoạn 2 · 3 nhóm mục tiêu cải thiện mô hình</a:t>
            </a:r>
            <a:endParaRPr b="0" i="0" sz="800" u="none" cap="none" strike="noStrike">
              <a:solidFill>
                <a:schemeClr val="dk1"/>
              </a:solidFill>
              <a:latin typeface="Calibri"/>
              <a:ea typeface="Calibri"/>
              <a:cs typeface="Calibri"/>
              <a:sym typeface="Calibri"/>
            </a:endParaRPr>
          </a:p>
        </p:txBody>
      </p:sp>
      <p:sp>
        <p:nvSpPr>
          <p:cNvPr id="1905" name="Google Shape;1905;p49"/>
          <p:cNvSpPr/>
          <p:nvPr/>
        </p:nvSpPr>
        <p:spPr>
          <a:xfrm>
            <a:off x="5143500" y="192024"/>
            <a:ext cx="3634500" cy="651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0E6"/>
              </a:buClr>
              <a:buSzPts val="3500"/>
              <a:buFont typeface="Lexend"/>
              <a:buNone/>
            </a:pPr>
            <a:r>
              <a:rPr b="1" i="0" lang="en" sz="3500" u="none" cap="none" strike="noStrike">
                <a:solidFill>
                  <a:srgbClr val="FFF0E6"/>
                </a:solidFill>
                <a:latin typeface="Lexend"/>
                <a:ea typeface="Lexend"/>
                <a:cs typeface="Lexend"/>
                <a:sym typeface="Lexend"/>
              </a:rPr>
              <a:t>MỤC TIÊU</a:t>
            </a:r>
            <a:endParaRPr b="0" i="0" sz="3500" u="none" cap="none" strike="noStrike">
              <a:solidFill>
                <a:schemeClr val="dk1"/>
              </a:solidFill>
              <a:latin typeface="Calibri"/>
              <a:ea typeface="Calibri"/>
              <a:cs typeface="Calibri"/>
              <a:sym typeface="Calibri"/>
            </a:endParaRPr>
          </a:p>
        </p:txBody>
      </p:sp>
      <p:sp>
        <p:nvSpPr>
          <p:cNvPr id="1906" name="Google Shape;1906;p49"/>
          <p:cNvSpPr/>
          <p:nvPr/>
        </p:nvSpPr>
        <p:spPr>
          <a:xfrm>
            <a:off x="411480" y="768096"/>
            <a:ext cx="96000" cy="4251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7" name="Google Shape;1907;p49"/>
          <p:cNvSpPr/>
          <p:nvPr/>
        </p:nvSpPr>
        <p:spPr>
          <a:xfrm>
            <a:off x="582930" y="720090"/>
            <a:ext cx="78867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Lexend"/>
              <a:buNone/>
            </a:pPr>
            <a:r>
              <a:rPr b="1" i="0" lang="en" sz="2400" u="none" cap="none" strike="noStrike">
                <a:solidFill>
                  <a:srgbClr val="1F2937"/>
                </a:solidFill>
                <a:latin typeface="Lexend"/>
                <a:ea typeface="Lexend"/>
                <a:cs typeface="Lexend"/>
                <a:sym typeface="Lexend"/>
              </a:rPr>
              <a:t>MỤC TIÊU 3 THÁNG TỚI</a:t>
            </a:r>
            <a:endParaRPr b="0" i="0" sz="2400" u="none" cap="none" strike="noStrike">
              <a:solidFill>
                <a:schemeClr val="dk1"/>
              </a:solidFill>
              <a:latin typeface="Calibri"/>
              <a:ea typeface="Calibri"/>
              <a:cs typeface="Calibri"/>
              <a:sym typeface="Calibri"/>
            </a:endParaRPr>
          </a:p>
        </p:txBody>
      </p:sp>
      <p:sp>
        <p:nvSpPr>
          <p:cNvPr id="1908" name="Google Shape;1908;p49"/>
          <p:cNvSpPr/>
          <p:nvPr/>
        </p:nvSpPr>
        <p:spPr>
          <a:xfrm>
            <a:off x="582930" y="1189890"/>
            <a:ext cx="8229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b="0" i="0" lang="en" sz="1100" u="none" cap="none" strike="noStrike">
                <a:solidFill>
                  <a:srgbClr val="FF6B35"/>
                </a:solidFill>
                <a:latin typeface="Lexend"/>
                <a:ea typeface="Lexend"/>
                <a:cs typeface="Lexend"/>
                <a:sym typeface="Lexend"/>
              </a:rPr>
              <a:t>Từ Hiện trạng đến Trạng thái mong muốn · Nhóm 1 là trọng tâm chính</a:t>
            </a:r>
            <a:endParaRPr b="0" i="0" sz="1100" u="none" cap="none" strike="noStrike">
              <a:solidFill>
                <a:schemeClr val="dk1"/>
              </a:solidFill>
              <a:latin typeface="Calibri"/>
              <a:ea typeface="Calibri"/>
              <a:cs typeface="Calibri"/>
              <a:sym typeface="Calibri"/>
            </a:endParaRPr>
          </a:p>
        </p:txBody>
      </p:sp>
      <p:sp>
        <p:nvSpPr>
          <p:cNvPr id="1909" name="Google Shape;1909;p49"/>
          <p:cNvSpPr/>
          <p:nvPr/>
        </p:nvSpPr>
        <p:spPr>
          <a:xfrm>
            <a:off x="459300" y="1477264"/>
            <a:ext cx="4320600" cy="2208900"/>
          </a:xfrm>
          <a:prstGeom prst="roundRect">
            <a:avLst>
              <a:gd fmla="val 3614" name="adj"/>
            </a:avLst>
          </a:prstGeom>
          <a:solidFill>
            <a:srgbClr val="FFF0E6"/>
          </a:solidFill>
          <a:ln cap="flat" cmpd="sng" w="28575">
            <a:solidFill>
              <a:srgbClr val="FF6B3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0" name="Google Shape;1910;p49"/>
          <p:cNvSpPr/>
          <p:nvPr/>
        </p:nvSpPr>
        <p:spPr>
          <a:xfrm>
            <a:off x="459305" y="1477268"/>
            <a:ext cx="4320600" cy="825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911" name="Google Shape;1911;p49"/>
          <p:cNvPicPr preferRelativeResize="0"/>
          <p:nvPr/>
        </p:nvPicPr>
        <p:blipFill rotWithShape="1">
          <a:blip r:embed="rId3">
            <a:alphaModFix/>
          </a:blip>
          <a:srcRect b="0" l="0" r="0" t="0"/>
          <a:stretch/>
        </p:blipFill>
        <p:spPr>
          <a:xfrm>
            <a:off x="733625" y="1751588"/>
            <a:ext cx="617220" cy="617220"/>
          </a:xfrm>
          <a:prstGeom prst="rect">
            <a:avLst/>
          </a:prstGeom>
          <a:noFill/>
          <a:ln>
            <a:noFill/>
          </a:ln>
        </p:spPr>
      </p:pic>
      <p:sp>
        <p:nvSpPr>
          <p:cNvPr id="1912" name="Google Shape;1912;p49"/>
          <p:cNvSpPr/>
          <p:nvPr/>
        </p:nvSpPr>
        <p:spPr>
          <a:xfrm>
            <a:off x="3613985" y="1785878"/>
            <a:ext cx="925800" cy="274200"/>
          </a:xfrm>
          <a:prstGeom prst="roundRect">
            <a:avLst>
              <a:gd fmla="val 50000" name="adj"/>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3" name="Google Shape;1913;p49"/>
          <p:cNvSpPr/>
          <p:nvPr/>
        </p:nvSpPr>
        <p:spPr>
          <a:xfrm>
            <a:off x="3613985" y="1785878"/>
            <a:ext cx="92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Lexend"/>
              <a:buNone/>
            </a:pPr>
            <a:r>
              <a:rPr b="1" i="0" lang="en" sz="800" u="none" cap="none" strike="noStrike">
                <a:solidFill>
                  <a:srgbClr val="FFFFFF"/>
                </a:solidFill>
                <a:latin typeface="Lexend"/>
                <a:ea typeface="Lexend"/>
                <a:cs typeface="Lexend"/>
                <a:sym typeface="Lexend"/>
              </a:rPr>
              <a:t>TRỌNG TÂM</a:t>
            </a:r>
            <a:endParaRPr b="0" i="0" sz="800" u="none" cap="none" strike="noStrike">
              <a:solidFill>
                <a:schemeClr val="dk1"/>
              </a:solidFill>
              <a:latin typeface="Calibri"/>
              <a:ea typeface="Calibri"/>
              <a:cs typeface="Calibri"/>
              <a:sym typeface="Calibri"/>
            </a:endParaRPr>
          </a:p>
        </p:txBody>
      </p:sp>
      <p:sp>
        <p:nvSpPr>
          <p:cNvPr id="1914" name="Google Shape;1914;p49"/>
          <p:cNvSpPr/>
          <p:nvPr/>
        </p:nvSpPr>
        <p:spPr>
          <a:xfrm>
            <a:off x="733625" y="2437388"/>
            <a:ext cx="10287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700"/>
              <a:buFont typeface="Lexend"/>
              <a:buNone/>
            </a:pPr>
            <a:r>
              <a:rPr b="1" i="0" lang="en" sz="1700" u="none" cap="none" strike="noStrike">
                <a:solidFill>
                  <a:srgbClr val="FF6B35"/>
                </a:solidFill>
                <a:latin typeface="Lexend"/>
                <a:ea typeface="Lexend"/>
                <a:cs typeface="Lexend"/>
                <a:sym typeface="Lexend"/>
              </a:rPr>
              <a:t>01</a:t>
            </a:r>
            <a:endParaRPr b="0" i="0" sz="1700" u="none" cap="none" strike="noStrike">
              <a:solidFill>
                <a:schemeClr val="dk1"/>
              </a:solidFill>
              <a:latin typeface="Calibri"/>
              <a:ea typeface="Calibri"/>
              <a:cs typeface="Calibri"/>
              <a:sym typeface="Calibri"/>
            </a:endParaRPr>
          </a:p>
        </p:txBody>
      </p:sp>
      <p:sp>
        <p:nvSpPr>
          <p:cNvPr id="1915" name="Google Shape;1915;p49"/>
          <p:cNvSpPr/>
          <p:nvPr/>
        </p:nvSpPr>
        <p:spPr>
          <a:xfrm>
            <a:off x="733625" y="2780288"/>
            <a:ext cx="3771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800"/>
              <a:buFont typeface="Lexend"/>
              <a:buNone/>
            </a:pPr>
            <a:r>
              <a:rPr b="1" lang="en" sz="1700">
                <a:solidFill>
                  <a:srgbClr val="1F2937"/>
                </a:solidFill>
                <a:latin typeface="Lexend"/>
                <a:ea typeface="Lexend"/>
                <a:cs typeface="Lexend"/>
                <a:sym typeface="Lexend"/>
              </a:rPr>
              <a:t>TỐI ƯU KHẢ NĂNG QL &amp; CHI PHÍ</a:t>
            </a:r>
            <a:endParaRPr b="1" sz="1700">
              <a:solidFill>
                <a:srgbClr val="1F2937"/>
              </a:solidFill>
              <a:latin typeface="Lexend"/>
              <a:ea typeface="Lexend"/>
              <a:cs typeface="Lexend"/>
              <a:sym typeface="Lexend"/>
            </a:endParaRPr>
          </a:p>
        </p:txBody>
      </p:sp>
      <p:sp>
        <p:nvSpPr>
          <p:cNvPr id="1916" name="Google Shape;1916;p49"/>
          <p:cNvSpPr/>
          <p:nvPr/>
        </p:nvSpPr>
        <p:spPr>
          <a:xfrm>
            <a:off x="733625" y="3191768"/>
            <a:ext cx="37719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6B35"/>
              </a:buClr>
              <a:buSzPts val="800"/>
              <a:buFont typeface="Lexend"/>
              <a:buNone/>
            </a:pPr>
            <a:r>
              <a:rPr b="1" i="0" lang="en" sz="800" u="none" cap="none" strike="noStrike">
                <a:solidFill>
                  <a:srgbClr val="FF6B35"/>
                </a:solidFill>
                <a:latin typeface="Lexend"/>
                <a:ea typeface="Lexend"/>
                <a:cs typeface="Lexend"/>
                <a:sym typeface="Lexend"/>
              </a:rPr>
              <a:t>GIÁ TRỊ MONG MUỐN</a:t>
            </a:r>
            <a:br>
              <a:rPr b="1" i="0" lang="en" sz="800" u="none" cap="none" strike="noStrike">
                <a:solidFill>
                  <a:srgbClr val="FF6B35"/>
                </a:solidFill>
                <a:latin typeface="Lexend"/>
                <a:ea typeface="Lexend"/>
                <a:cs typeface="Lexend"/>
                <a:sym typeface="Lexend"/>
              </a:rPr>
            </a:br>
            <a:r>
              <a:rPr b="0" i="0" lang="en" sz="1000" u="none" cap="none" strike="noStrike">
                <a:solidFill>
                  <a:srgbClr val="1F2937"/>
                </a:solidFill>
                <a:latin typeface="Lexend"/>
                <a:ea typeface="Lexend"/>
                <a:cs typeface="Lexend"/>
                <a:sym typeface="Lexend"/>
              </a:rPr>
              <a:t>Từ "giai đoạn thử nghiệm tốn chi phí" sang "vận hành hiệu quả chi phí": mỗi Đội trưởng tạo giá trị </a:t>
            </a:r>
            <a:r>
              <a:rPr b="1" i="0" lang="en" sz="1000" u="none" cap="none" strike="noStrike">
                <a:solidFill>
                  <a:srgbClr val="FF6B35"/>
                </a:solidFill>
                <a:latin typeface="Lexend"/>
                <a:ea typeface="Lexend"/>
                <a:cs typeface="Lexend"/>
                <a:sym typeface="Lexend"/>
              </a:rPr>
              <a:t>gấp 2-3 lần</a:t>
            </a:r>
            <a:endParaRPr b="0" i="0" sz="800" u="none" cap="none" strike="noStrike">
              <a:solidFill>
                <a:schemeClr val="dk1"/>
              </a:solidFill>
              <a:latin typeface="Calibri"/>
              <a:ea typeface="Calibri"/>
              <a:cs typeface="Calibri"/>
              <a:sym typeface="Calibri"/>
            </a:endParaRPr>
          </a:p>
        </p:txBody>
      </p:sp>
      <p:sp>
        <p:nvSpPr>
          <p:cNvPr id="1917" name="Google Shape;1917;p49"/>
          <p:cNvSpPr/>
          <p:nvPr/>
        </p:nvSpPr>
        <p:spPr>
          <a:xfrm>
            <a:off x="4917000" y="1477262"/>
            <a:ext cx="3861000" cy="1042200"/>
          </a:xfrm>
          <a:prstGeom prst="roundRect">
            <a:avLst>
              <a:gd fmla="val 7000" name="adj"/>
            </a:avLst>
          </a:prstGeom>
          <a:solidFill>
            <a:srgbClr val="FFFFFF"/>
          </a:solidFill>
          <a:ln cap="flat" cmpd="sng" w="19050">
            <a:solidFill>
              <a:srgbClr val="3B82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918" name="Google Shape;1918;p49"/>
          <p:cNvPicPr preferRelativeResize="0"/>
          <p:nvPr/>
        </p:nvPicPr>
        <p:blipFill rotWithShape="1">
          <a:blip r:embed="rId4">
            <a:alphaModFix/>
          </a:blip>
          <a:srcRect b="0" l="0" r="0" t="0"/>
          <a:stretch/>
        </p:blipFill>
        <p:spPr>
          <a:xfrm>
            <a:off x="5157035" y="1683008"/>
            <a:ext cx="411480" cy="411480"/>
          </a:xfrm>
          <a:prstGeom prst="rect">
            <a:avLst/>
          </a:prstGeom>
          <a:noFill/>
          <a:ln>
            <a:noFill/>
          </a:ln>
        </p:spPr>
      </p:pic>
      <p:sp>
        <p:nvSpPr>
          <p:cNvPr id="1919" name="Google Shape;1919;p49"/>
          <p:cNvSpPr/>
          <p:nvPr/>
        </p:nvSpPr>
        <p:spPr>
          <a:xfrm>
            <a:off x="5122745" y="2128778"/>
            <a:ext cx="48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000"/>
              <a:buFont typeface="Lexend"/>
              <a:buNone/>
            </a:pPr>
            <a:r>
              <a:rPr b="1" i="0" lang="en" sz="1000" u="none" cap="none" strike="noStrike">
                <a:solidFill>
                  <a:srgbClr val="3B82F6"/>
                </a:solidFill>
                <a:latin typeface="Lexend"/>
                <a:ea typeface="Lexend"/>
                <a:cs typeface="Lexend"/>
                <a:sym typeface="Lexend"/>
              </a:rPr>
              <a:t>02</a:t>
            </a:r>
            <a:endParaRPr b="0" i="0" sz="1000" u="none" cap="none" strike="noStrike">
              <a:solidFill>
                <a:schemeClr val="dk1"/>
              </a:solidFill>
              <a:latin typeface="Calibri"/>
              <a:ea typeface="Calibri"/>
              <a:cs typeface="Calibri"/>
              <a:sym typeface="Calibri"/>
            </a:endParaRPr>
          </a:p>
        </p:txBody>
      </p:sp>
      <p:sp>
        <p:nvSpPr>
          <p:cNvPr id="1920" name="Google Shape;1920;p49"/>
          <p:cNvSpPr/>
          <p:nvPr/>
        </p:nvSpPr>
        <p:spPr>
          <a:xfrm>
            <a:off x="5705675" y="1648718"/>
            <a:ext cx="290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Lexend"/>
              <a:buNone/>
            </a:pPr>
            <a:r>
              <a:rPr b="1" i="0" lang="en" sz="1200" u="none" cap="none" strike="noStrike">
                <a:solidFill>
                  <a:srgbClr val="1F2937"/>
                </a:solidFill>
                <a:latin typeface="Lexend"/>
                <a:ea typeface="Lexend"/>
                <a:cs typeface="Lexend"/>
                <a:sym typeface="Lexend"/>
              </a:rPr>
              <a:t>TINH CHỈNH MÔ HÌNH</a:t>
            </a:r>
            <a:endParaRPr b="0" i="0" sz="1200" u="none" cap="none" strike="noStrike">
              <a:solidFill>
                <a:schemeClr val="dk1"/>
              </a:solidFill>
              <a:latin typeface="Calibri"/>
              <a:ea typeface="Calibri"/>
              <a:cs typeface="Calibri"/>
              <a:sym typeface="Calibri"/>
            </a:endParaRPr>
          </a:p>
        </p:txBody>
      </p:sp>
      <p:sp>
        <p:nvSpPr>
          <p:cNvPr id="1921" name="Google Shape;1921;p49"/>
          <p:cNvSpPr/>
          <p:nvPr/>
        </p:nvSpPr>
        <p:spPr>
          <a:xfrm>
            <a:off x="5705675" y="1943612"/>
            <a:ext cx="29010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800"/>
              <a:buFont typeface="Lexend"/>
              <a:buNone/>
            </a:pPr>
            <a:r>
              <a:rPr b="1" lang="en" sz="800">
                <a:solidFill>
                  <a:schemeClr val="accent1"/>
                </a:solidFill>
                <a:latin typeface="Lexend"/>
                <a:ea typeface="Lexend"/>
                <a:cs typeface="Lexend"/>
                <a:sym typeface="Lexend"/>
              </a:rPr>
              <a:t>GIÁ TRỊ MONG MUỐN</a:t>
            </a:r>
            <a:br>
              <a:rPr b="1" lang="en" sz="800">
                <a:solidFill>
                  <a:srgbClr val="FF6B35"/>
                </a:solidFill>
                <a:latin typeface="Lexend"/>
                <a:ea typeface="Lexend"/>
                <a:cs typeface="Lexend"/>
                <a:sym typeface="Lexend"/>
              </a:rPr>
            </a:br>
            <a:r>
              <a:rPr b="0" i="1" lang="en" sz="800" u="none" cap="none" strike="noStrike">
                <a:solidFill>
                  <a:srgbClr val="6B7280"/>
                </a:solidFill>
                <a:latin typeface="Lexend"/>
                <a:ea typeface="Lexend"/>
                <a:cs typeface="Lexend"/>
                <a:sym typeface="Lexend"/>
              </a:rPr>
              <a:t>Chiến lược riêng cho zone đầu vào cao: "</a:t>
            </a:r>
            <a:r>
              <a:rPr b="1" i="1" lang="en" sz="800" u="none" cap="none" strike="noStrike">
                <a:solidFill>
                  <a:srgbClr val="6B7280"/>
                </a:solidFill>
                <a:latin typeface="Lexend"/>
                <a:ea typeface="Lexend"/>
                <a:cs typeface="Lexend"/>
                <a:sym typeface="Lexend"/>
              </a:rPr>
              <a:t>Chất lượng ưu tiên</a:t>
            </a:r>
            <a:r>
              <a:rPr b="0" i="1" lang="en" sz="800" u="none" cap="none" strike="noStrike">
                <a:solidFill>
                  <a:srgbClr val="6B7280"/>
                </a:solidFill>
                <a:latin typeface="Lexend"/>
                <a:ea typeface="Lexend"/>
                <a:cs typeface="Lexend"/>
                <a:sym typeface="Lexend"/>
              </a:rPr>
              <a:t>"</a:t>
            </a:r>
            <a:endParaRPr b="0" i="0" sz="800" u="none" cap="none" strike="noStrike">
              <a:solidFill>
                <a:schemeClr val="dk1"/>
              </a:solidFill>
              <a:latin typeface="Calibri"/>
              <a:ea typeface="Calibri"/>
              <a:cs typeface="Calibri"/>
              <a:sym typeface="Calibri"/>
            </a:endParaRPr>
          </a:p>
        </p:txBody>
      </p:sp>
      <p:sp>
        <p:nvSpPr>
          <p:cNvPr id="1922" name="Google Shape;1922;p49"/>
          <p:cNvSpPr/>
          <p:nvPr/>
        </p:nvSpPr>
        <p:spPr>
          <a:xfrm>
            <a:off x="4917000" y="2607925"/>
            <a:ext cx="3861000" cy="1078200"/>
          </a:xfrm>
          <a:prstGeom prst="roundRect">
            <a:avLst>
              <a:gd fmla="val 7000" name="adj"/>
            </a:avLst>
          </a:prstGeom>
          <a:solidFill>
            <a:srgbClr val="FFFFFF"/>
          </a:solidFill>
          <a:ln cap="flat" cmpd="sng" w="19050">
            <a:solidFill>
              <a:srgbClr val="10B98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923" name="Google Shape;1923;p49"/>
          <p:cNvPicPr preferRelativeResize="0"/>
          <p:nvPr/>
        </p:nvPicPr>
        <p:blipFill rotWithShape="1">
          <a:blip r:embed="rId5">
            <a:alphaModFix/>
          </a:blip>
          <a:srcRect b="0" l="0" r="0" t="0"/>
          <a:stretch/>
        </p:blipFill>
        <p:spPr>
          <a:xfrm>
            <a:off x="5157035" y="2813665"/>
            <a:ext cx="411480" cy="411480"/>
          </a:xfrm>
          <a:prstGeom prst="rect">
            <a:avLst/>
          </a:prstGeom>
          <a:noFill/>
          <a:ln>
            <a:noFill/>
          </a:ln>
        </p:spPr>
      </p:pic>
      <p:sp>
        <p:nvSpPr>
          <p:cNvPr id="1924" name="Google Shape;1924;p49"/>
          <p:cNvSpPr/>
          <p:nvPr/>
        </p:nvSpPr>
        <p:spPr>
          <a:xfrm>
            <a:off x="5122745" y="3259435"/>
            <a:ext cx="48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00"/>
              <a:buFont typeface="Lexend"/>
              <a:buNone/>
            </a:pPr>
            <a:r>
              <a:rPr b="1" i="0" lang="en" sz="1000" u="none" cap="none" strike="noStrike">
                <a:solidFill>
                  <a:srgbClr val="10B981"/>
                </a:solidFill>
                <a:latin typeface="Lexend"/>
                <a:ea typeface="Lexend"/>
                <a:cs typeface="Lexend"/>
                <a:sym typeface="Lexend"/>
              </a:rPr>
              <a:t>03</a:t>
            </a:r>
            <a:endParaRPr b="0" i="0" sz="1000" u="none" cap="none" strike="noStrike">
              <a:solidFill>
                <a:schemeClr val="dk1"/>
              </a:solidFill>
              <a:latin typeface="Calibri"/>
              <a:ea typeface="Calibri"/>
              <a:cs typeface="Calibri"/>
              <a:sym typeface="Calibri"/>
            </a:endParaRPr>
          </a:p>
        </p:txBody>
      </p:sp>
      <p:sp>
        <p:nvSpPr>
          <p:cNvPr id="1925" name="Google Shape;1925;p49"/>
          <p:cNvSpPr/>
          <p:nvPr/>
        </p:nvSpPr>
        <p:spPr>
          <a:xfrm>
            <a:off x="5705675" y="2779375"/>
            <a:ext cx="290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Lexend"/>
              <a:buNone/>
            </a:pPr>
            <a:r>
              <a:rPr b="1" i="0" lang="en" sz="1200" u="none" cap="none" strike="noStrike">
                <a:solidFill>
                  <a:srgbClr val="1F2937"/>
                </a:solidFill>
                <a:latin typeface="Lexend"/>
                <a:ea typeface="Lexend"/>
                <a:cs typeface="Lexend"/>
                <a:sym typeface="Lexend"/>
              </a:rPr>
              <a:t>CHUẨN HÓA &amp; LAN TỎA</a:t>
            </a:r>
            <a:endParaRPr b="0" i="0" sz="1200" u="none" cap="none" strike="noStrike">
              <a:solidFill>
                <a:schemeClr val="dk1"/>
              </a:solidFill>
              <a:latin typeface="Calibri"/>
              <a:ea typeface="Calibri"/>
              <a:cs typeface="Calibri"/>
              <a:sym typeface="Calibri"/>
            </a:endParaRPr>
          </a:p>
        </p:txBody>
      </p:sp>
      <p:sp>
        <p:nvSpPr>
          <p:cNvPr id="1926" name="Google Shape;1926;p49"/>
          <p:cNvSpPr/>
          <p:nvPr/>
        </p:nvSpPr>
        <p:spPr>
          <a:xfrm>
            <a:off x="5705675" y="3074269"/>
            <a:ext cx="29010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800"/>
              <a:buFont typeface="Lexend"/>
              <a:buNone/>
            </a:pPr>
            <a:r>
              <a:rPr b="1" lang="en" sz="800">
                <a:solidFill>
                  <a:srgbClr val="10B981"/>
                </a:solidFill>
                <a:latin typeface="Lexend"/>
                <a:ea typeface="Lexend"/>
                <a:cs typeface="Lexend"/>
                <a:sym typeface="Lexend"/>
              </a:rPr>
              <a:t>GIÁ TRỊ MONG MUỐN</a:t>
            </a:r>
            <a:br>
              <a:rPr b="1" lang="en" sz="800">
                <a:solidFill>
                  <a:srgbClr val="FF6B35"/>
                </a:solidFill>
                <a:latin typeface="Lexend"/>
                <a:ea typeface="Lexend"/>
                <a:cs typeface="Lexend"/>
                <a:sym typeface="Lexend"/>
              </a:rPr>
            </a:br>
            <a:r>
              <a:rPr b="0" i="1" lang="en" sz="800" u="none" cap="none" strike="noStrike">
                <a:solidFill>
                  <a:srgbClr val="6B7280"/>
                </a:solidFill>
                <a:latin typeface="Lexend"/>
                <a:ea typeface="Lexend"/>
                <a:cs typeface="Lexend"/>
                <a:sym typeface="Lexend"/>
              </a:rPr>
              <a:t>Chuẩn hóa quy trình + </a:t>
            </a:r>
            <a:r>
              <a:rPr b="1" i="1" lang="en" sz="800">
                <a:solidFill>
                  <a:srgbClr val="6B7280"/>
                </a:solidFill>
                <a:latin typeface="Lexend"/>
                <a:ea typeface="Lexend"/>
                <a:cs typeface="Lexend"/>
                <a:sym typeface="Lexend"/>
              </a:rPr>
              <a:t>V</a:t>
            </a:r>
            <a:r>
              <a:rPr b="1" i="1" lang="en" sz="800" u="none" cap="none" strike="noStrike">
                <a:solidFill>
                  <a:srgbClr val="6B7280"/>
                </a:solidFill>
                <a:latin typeface="Lexend"/>
                <a:ea typeface="Lexend"/>
                <a:cs typeface="Lexend"/>
                <a:sym typeface="Lexend"/>
              </a:rPr>
              <a:t>ận hành chủ động </a:t>
            </a:r>
            <a:r>
              <a:rPr b="1" i="1" lang="en" sz="800">
                <a:solidFill>
                  <a:srgbClr val="6B7280"/>
                </a:solidFill>
                <a:latin typeface="Lexend"/>
                <a:ea typeface="Lexend"/>
                <a:cs typeface="Lexend"/>
                <a:sym typeface="Lexend"/>
              </a:rPr>
              <a:t>phong cách "Từ dưới lên"</a:t>
            </a:r>
            <a:endParaRPr b="0" i="1" sz="800" u="none" cap="none" strike="noStrike">
              <a:solidFill>
                <a:srgbClr val="6B7280"/>
              </a:solidFill>
              <a:latin typeface="Calibri"/>
              <a:ea typeface="Calibri"/>
              <a:cs typeface="Calibri"/>
              <a:sym typeface="Calibri"/>
            </a:endParaRPr>
          </a:p>
        </p:txBody>
      </p:sp>
      <p:sp>
        <p:nvSpPr>
          <p:cNvPr id="1927" name="Google Shape;1927;p49"/>
          <p:cNvSpPr/>
          <p:nvPr/>
        </p:nvSpPr>
        <p:spPr>
          <a:xfrm>
            <a:off x="205738" y="109725"/>
            <a:ext cx="2116200" cy="1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500"/>
              <a:buFont typeface="Lexend"/>
              <a:buNone/>
            </a:pPr>
            <a:r>
              <a:rPr b="1" i="0" lang="en" sz="1000" u="none" cap="none" strike="noStrike">
                <a:solidFill>
                  <a:srgbClr val="FF6B35"/>
                </a:solidFill>
                <a:latin typeface="Lexend"/>
                <a:ea typeface="Lexend"/>
                <a:cs typeface="Lexend"/>
                <a:sym typeface="Lexend"/>
              </a:rPr>
              <a:t>AHAMOVE - MINI</a:t>
            </a:r>
            <a:r>
              <a:rPr b="1" lang="en" sz="1000">
                <a:solidFill>
                  <a:srgbClr val="FF6B35"/>
                </a:solidFill>
                <a:latin typeface="Lexend"/>
                <a:ea typeface="Lexend"/>
                <a:cs typeface="Lexend"/>
                <a:sym typeface="Lexend"/>
              </a:rPr>
              <a:t>HUB LEADER</a:t>
            </a:r>
            <a:endParaRPr b="0" i="0" sz="1000" u="none" cap="none" strike="noStrike">
              <a:solidFill>
                <a:srgbClr val="000000"/>
              </a:solidFill>
              <a:latin typeface="Calibri"/>
              <a:ea typeface="Calibri"/>
              <a:cs typeface="Calibri"/>
              <a:sym typeface="Calibri"/>
            </a:endParaRPr>
          </a:p>
        </p:txBody>
      </p:sp>
      <p:graphicFrame>
        <p:nvGraphicFramePr>
          <p:cNvPr id="1928" name="Google Shape;1928;p49"/>
          <p:cNvGraphicFramePr/>
          <p:nvPr/>
        </p:nvGraphicFramePr>
        <p:xfrm>
          <a:off x="593794" y="4078631"/>
          <a:ext cx="3000000" cy="3000000"/>
        </p:xfrm>
        <a:graphic>
          <a:graphicData uri="http://schemas.openxmlformats.org/drawingml/2006/table">
            <a:tbl>
              <a:tblPr>
                <a:noFill/>
                <a:tableStyleId>{84A9007E-4112-45BC-9D73-1BCF8FDB95CB}</a:tableStyleId>
              </a:tblPr>
              <a:tblGrid>
                <a:gridCol w="2253425"/>
                <a:gridCol w="1562100"/>
                <a:gridCol w="1898625"/>
                <a:gridCol w="2298725"/>
              </a:tblGrid>
              <a:tr h="190500">
                <a:tc>
                  <a:txBody>
                    <a:bodyPr/>
                    <a:lstStyle/>
                    <a:p>
                      <a:pPr indent="0" lvl="0" marL="0" rtl="0" algn="ctr">
                        <a:lnSpc>
                          <a:spcPct val="115000"/>
                        </a:lnSpc>
                        <a:spcBef>
                          <a:spcPts val="0"/>
                        </a:spcBef>
                        <a:spcAft>
                          <a:spcPts val="0"/>
                        </a:spcAft>
                        <a:buNone/>
                      </a:pPr>
                      <a:r>
                        <a:rPr b="1" lang="en" sz="1000">
                          <a:solidFill>
                            <a:srgbClr val="F96604"/>
                          </a:solidFill>
                          <a:latin typeface="Lexend"/>
                          <a:ea typeface="Lexend"/>
                          <a:cs typeface="Lexend"/>
                          <a:sym typeface="Lexend"/>
                        </a:rPr>
                        <a:t>Chỉ số</a:t>
                      </a:r>
                      <a:endParaRPr b="1" sz="1000">
                        <a:solidFill>
                          <a:srgbClr val="F96604"/>
                        </a:solidFill>
                        <a:latin typeface="Lexend"/>
                        <a:ea typeface="Lexend"/>
                        <a:cs typeface="Lexend"/>
                        <a:sym typeface="Lexend"/>
                      </a:endParaRPr>
                    </a:p>
                  </a:txBody>
                  <a:tcPr marT="45725" marB="45725" marR="45725" marL="45725">
                    <a:solidFill>
                      <a:srgbClr val="FFE0CC"/>
                    </a:solidFill>
                  </a:tcPr>
                </a:tc>
                <a:tc>
                  <a:txBody>
                    <a:bodyPr/>
                    <a:lstStyle/>
                    <a:p>
                      <a:pPr indent="0" lvl="0" marL="0" rtl="0" algn="ctr">
                        <a:lnSpc>
                          <a:spcPct val="115000"/>
                        </a:lnSpc>
                        <a:spcBef>
                          <a:spcPts val="0"/>
                        </a:spcBef>
                        <a:spcAft>
                          <a:spcPts val="0"/>
                        </a:spcAft>
                        <a:buNone/>
                      </a:pPr>
                      <a:r>
                        <a:rPr b="1" lang="en" sz="1000">
                          <a:solidFill>
                            <a:srgbClr val="F96604"/>
                          </a:solidFill>
                          <a:latin typeface="Lexend"/>
                          <a:ea typeface="Lexend"/>
                          <a:cs typeface="Lexend"/>
                          <a:sym typeface="Lexend"/>
                        </a:rPr>
                        <a:t>Baseline (hiện tại)</a:t>
                      </a:r>
                      <a:endParaRPr b="1" sz="1000">
                        <a:solidFill>
                          <a:srgbClr val="F96604"/>
                        </a:solidFill>
                        <a:latin typeface="Lexend"/>
                        <a:ea typeface="Lexend"/>
                        <a:cs typeface="Lexend"/>
                        <a:sym typeface="Lexend"/>
                      </a:endParaRPr>
                    </a:p>
                  </a:txBody>
                  <a:tcPr marT="45725" marB="45725" marR="45725" marL="45725">
                    <a:solidFill>
                      <a:srgbClr val="FFE0CC"/>
                    </a:solidFill>
                  </a:tcPr>
                </a:tc>
                <a:tc>
                  <a:txBody>
                    <a:bodyPr/>
                    <a:lstStyle/>
                    <a:p>
                      <a:pPr indent="0" lvl="0" marL="0" rtl="0" algn="ctr">
                        <a:lnSpc>
                          <a:spcPct val="115000"/>
                        </a:lnSpc>
                        <a:spcBef>
                          <a:spcPts val="0"/>
                        </a:spcBef>
                        <a:spcAft>
                          <a:spcPts val="0"/>
                        </a:spcAft>
                        <a:buNone/>
                      </a:pPr>
                      <a:r>
                        <a:rPr b="1" lang="en" sz="1000">
                          <a:solidFill>
                            <a:srgbClr val="F96604"/>
                          </a:solidFill>
                          <a:latin typeface="Lexend"/>
                          <a:ea typeface="Lexend"/>
                          <a:cs typeface="Lexend"/>
                          <a:sym typeface="Lexend"/>
                        </a:rPr>
                        <a:t>Target cuối T9</a:t>
                      </a:r>
                      <a:endParaRPr b="1" sz="1000">
                        <a:solidFill>
                          <a:srgbClr val="F96604"/>
                        </a:solidFill>
                        <a:latin typeface="Lexend"/>
                        <a:ea typeface="Lexend"/>
                        <a:cs typeface="Lexend"/>
                        <a:sym typeface="Lexend"/>
                      </a:endParaRPr>
                    </a:p>
                  </a:txBody>
                  <a:tcPr marT="45725" marB="45725" marR="45725" marL="45725">
                    <a:solidFill>
                      <a:srgbClr val="FFE0CC"/>
                    </a:solidFill>
                  </a:tcPr>
                </a:tc>
                <a:tc>
                  <a:txBody>
                    <a:bodyPr/>
                    <a:lstStyle/>
                    <a:p>
                      <a:pPr indent="0" lvl="0" marL="0" rtl="0" algn="ctr">
                        <a:lnSpc>
                          <a:spcPct val="115000"/>
                        </a:lnSpc>
                        <a:spcBef>
                          <a:spcPts val="0"/>
                        </a:spcBef>
                        <a:spcAft>
                          <a:spcPts val="0"/>
                        </a:spcAft>
                        <a:buNone/>
                      </a:pPr>
                      <a:r>
                        <a:rPr b="1" lang="en" sz="1000">
                          <a:solidFill>
                            <a:srgbClr val="F96604"/>
                          </a:solidFill>
                          <a:latin typeface="Lexend"/>
                          <a:ea typeface="Lexend"/>
                          <a:cs typeface="Lexend"/>
                          <a:sym typeface="Lexend"/>
                        </a:rPr>
                        <a:t>Target cuối T10-T11</a:t>
                      </a:r>
                      <a:endParaRPr b="1" sz="1000">
                        <a:solidFill>
                          <a:srgbClr val="F96604"/>
                        </a:solidFill>
                        <a:latin typeface="Lexend"/>
                        <a:ea typeface="Lexend"/>
                        <a:cs typeface="Lexend"/>
                        <a:sym typeface="Lexend"/>
                      </a:endParaRPr>
                    </a:p>
                  </a:txBody>
                  <a:tcPr marT="45725" marB="45725" marR="45725" marL="45725">
                    <a:solidFill>
                      <a:srgbClr val="FFE0CC"/>
                    </a:solidFill>
                  </a:tcPr>
                </a:tc>
              </a:tr>
              <a:tr h="190500">
                <a:tc>
                  <a:txBody>
                    <a:bodyPr/>
                    <a:lstStyle/>
                    <a:p>
                      <a:pPr indent="0" lvl="0" marL="0" rtl="0" algn="l">
                        <a:spcBef>
                          <a:spcPts val="0"/>
                        </a:spcBef>
                        <a:spcAft>
                          <a:spcPts val="0"/>
                        </a:spcAft>
                        <a:buNone/>
                      </a:pPr>
                      <a:r>
                        <a:rPr b="1" lang="en" sz="800">
                          <a:latin typeface="Lexend"/>
                          <a:ea typeface="Lexend"/>
                          <a:cs typeface="Lexend"/>
                          <a:sym typeface="Lexend"/>
                        </a:rPr>
                        <a:t>ROI mô hình </a:t>
                      </a:r>
                      <a:r>
                        <a:rPr b="1" lang="en" sz="800">
                          <a:solidFill>
                            <a:srgbClr val="F96604"/>
                          </a:solidFill>
                          <a:latin typeface="Lexend"/>
                          <a:ea typeface="Lexend"/>
                          <a:cs typeface="Lexend"/>
                          <a:sym typeface="Lexend"/>
                        </a:rPr>
                        <a:t>(Key metrics)</a:t>
                      </a:r>
                      <a:endParaRPr b="1"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-21% trung bình 2 zone HAN</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Cải thiện trend, tiến gần 0%</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 0% (breakeven)</a:t>
                      </a:r>
                      <a:endParaRPr sz="800">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None/>
                      </a:pPr>
                      <a:r>
                        <a:rPr b="1" lang="en" sz="800">
                          <a:latin typeface="Lexend"/>
                          <a:ea typeface="Lexend"/>
                          <a:cs typeface="Lexend"/>
                          <a:sym typeface="Lexend"/>
                        </a:rPr>
                        <a:t>Capacity utilization (TX/Leader)</a:t>
                      </a:r>
                      <a:endParaRPr b="1"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40-65% (30-51 TX/Leader)</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70-80% (60-65 TX/Leader)</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85-90% (65-80 TX/Leader)</a:t>
                      </a:r>
                      <a:endParaRPr sz="800">
                        <a:latin typeface="Lexend"/>
                        <a:ea typeface="Lexend"/>
                        <a:cs typeface="Lexend"/>
                        <a:sym typeface="Lexend"/>
                      </a:endParaRPr>
                    </a:p>
                  </a:txBody>
                  <a:tcPr marT="45725" marB="45725" marR="45725" marL="45725"/>
                </a:tc>
              </a:tr>
              <a:tr h="190500">
                <a:tc>
                  <a:txBody>
                    <a:bodyPr/>
                    <a:lstStyle/>
                    <a:p>
                      <a:pPr indent="0" lvl="0" marL="0" rtl="0" algn="l">
                        <a:spcBef>
                          <a:spcPts val="0"/>
                        </a:spcBef>
                        <a:spcAft>
                          <a:spcPts val="0"/>
                        </a:spcAft>
                        <a:buNone/>
                      </a:pPr>
                      <a:r>
                        <a:rPr b="1" lang="en" sz="800">
                          <a:latin typeface="Lexend"/>
                          <a:ea typeface="Lexend"/>
                          <a:cs typeface="Lexend"/>
                          <a:sym typeface="Lexend"/>
                        </a:rPr>
                        <a:t>% Hoàn thành kế hoạch ca </a:t>
                      </a:r>
                      <a:r>
                        <a:rPr b="1" lang="en" sz="800">
                          <a:solidFill>
                            <a:srgbClr val="F96604"/>
                          </a:solidFill>
                          <a:latin typeface="Lexend"/>
                          <a:ea typeface="Lexend"/>
                          <a:cs typeface="Lexend"/>
                          <a:sym typeface="Lexend"/>
                        </a:rPr>
                        <a:t>(Key metrics)</a:t>
                      </a:r>
                      <a:endParaRPr b="1" sz="800">
                        <a:solidFill>
                          <a:srgbClr val="F96604"/>
                        </a:solidFill>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Chưa track</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≥80% (Tham vấn thêm FC S&amp;P để có số final)</a:t>
                      </a:r>
                      <a:endParaRPr sz="8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800">
                          <a:latin typeface="Lexend"/>
                          <a:ea typeface="Lexend"/>
                          <a:cs typeface="Lexend"/>
                          <a:sym typeface="Lexend"/>
                        </a:rPr>
                        <a:t>≥90% (</a:t>
                      </a:r>
                      <a:r>
                        <a:rPr lang="en" sz="800">
                          <a:solidFill>
                            <a:schemeClr val="dk1"/>
                          </a:solidFill>
                          <a:latin typeface="Lexend"/>
                          <a:ea typeface="Lexend"/>
                          <a:cs typeface="Lexend"/>
                          <a:sym typeface="Lexend"/>
                        </a:rPr>
                        <a:t>Tham vấn thêm</a:t>
                      </a:r>
                      <a:r>
                        <a:rPr lang="en" sz="800">
                          <a:latin typeface="Lexend"/>
                          <a:ea typeface="Lexend"/>
                          <a:cs typeface="Lexend"/>
                          <a:sym typeface="Lexend"/>
                        </a:rPr>
                        <a:t> FC S&amp;P để có số final)</a:t>
                      </a:r>
                      <a:endParaRPr sz="800">
                        <a:latin typeface="Lexend"/>
                        <a:ea typeface="Lexend"/>
                        <a:cs typeface="Lexend"/>
                        <a:sym typeface="Lexend"/>
                      </a:endParaRPr>
                    </a:p>
                  </a:txBody>
                  <a:tcPr marT="45725" marB="45725" marR="45725" marL="45725"/>
                </a:tc>
              </a:tr>
            </a:tbl>
          </a:graphicData>
        </a:graphic>
      </p:graphicFrame>
      <p:sp>
        <p:nvSpPr>
          <p:cNvPr id="1929" name="Google Shape;1929;p49"/>
          <p:cNvSpPr/>
          <p:nvPr/>
        </p:nvSpPr>
        <p:spPr>
          <a:xfrm>
            <a:off x="582929" y="3811325"/>
            <a:ext cx="13995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lang="en" sz="1100">
                <a:solidFill>
                  <a:srgbClr val="FF6B35"/>
                </a:solidFill>
                <a:latin typeface="Lexend"/>
                <a:ea typeface="Lexend"/>
                <a:cs typeface="Lexend"/>
                <a:sym typeface="Lexend"/>
              </a:rPr>
              <a:t>SUCCESS METRICS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4" name="Shape 1934"/>
        <p:cNvGrpSpPr/>
        <p:nvPr/>
      </p:nvGrpSpPr>
      <p:grpSpPr>
        <a:xfrm>
          <a:off x="0" y="0"/>
          <a:ext cx="0" cy="0"/>
          <a:chOff x="0" y="0"/>
          <a:chExt cx="0" cy="0"/>
        </a:xfrm>
      </p:grpSpPr>
      <p:sp>
        <p:nvSpPr>
          <p:cNvPr id="1935" name="Google Shape;1935;p50"/>
          <p:cNvSpPr/>
          <p:nvPr/>
        </p:nvSpPr>
        <p:spPr>
          <a:xfrm>
            <a:off x="411480"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Lexend"/>
              <a:buNone/>
            </a:pPr>
            <a:r>
              <a:rPr b="0" i="1" lang="en" sz="800" u="none" cap="none" strike="noStrike">
                <a:solidFill>
                  <a:srgbClr val="6B7280"/>
                </a:solidFill>
                <a:latin typeface="Lexend"/>
                <a:ea typeface="Lexend"/>
                <a:cs typeface="Lexend"/>
                <a:sym typeface="Lexend"/>
              </a:rPr>
              <a:t>Giai đoạn 2 · Lộ trình 3 tháng theo ưu tiên</a:t>
            </a:r>
            <a:endParaRPr b="0" i="0" sz="800" u="none" cap="none" strike="noStrike">
              <a:solidFill>
                <a:schemeClr val="dk1"/>
              </a:solidFill>
              <a:latin typeface="Calibri"/>
              <a:ea typeface="Calibri"/>
              <a:cs typeface="Calibri"/>
              <a:sym typeface="Calibri"/>
            </a:endParaRPr>
          </a:p>
        </p:txBody>
      </p:sp>
      <p:sp>
        <p:nvSpPr>
          <p:cNvPr id="1936" name="Google Shape;1936;p50"/>
          <p:cNvSpPr/>
          <p:nvPr/>
        </p:nvSpPr>
        <p:spPr>
          <a:xfrm>
            <a:off x="5143500" y="192024"/>
            <a:ext cx="3634500" cy="651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0E6"/>
              </a:buClr>
              <a:buSzPts val="3500"/>
              <a:buFont typeface="Lexend"/>
              <a:buNone/>
            </a:pPr>
            <a:r>
              <a:rPr b="1" i="0" lang="en" sz="3500" u="none" cap="none" strike="noStrike">
                <a:solidFill>
                  <a:srgbClr val="FFF0E6"/>
                </a:solidFill>
                <a:latin typeface="Lexend"/>
                <a:ea typeface="Lexend"/>
                <a:cs typeface="Lexend"/>
                <a:sym typeface="Lexend"/>
              </a:rPr>
              <a:t>KẾ HOẠCH</a:t>
            </a:r>
            <a:endParaRPr b="0" i="0" sz="3500" u="none" cap="none" strike="noStrike">
              <a:solidFill>
                <a:schemeClr val="dk1"/>
              </a:solidFill>
              <a:latin typeface="Calibri"/>
              <a:ea typeface="Calibri"/>
              <a:cs typeface="Calibri"/>
              <a:sym typeface="Calibri"/>
            </a:endParaRPr>
          </a:p>
        </p:txBody>
      </p:sp>
      <p:sp>
        <p:nvSpPr>
          <p:cNvPr id="1937" name="Google Shape;1937;p50"/>
          <p:cNvSpPr/>
          <p:nvPr/>
        </p:nvSpPr>
        <p:spPr>
          <a:xfrm>
            <a:off x="411480" y="768096"/>
            <a:ext cx="96000" cy="425100"/>
          </a:xfrm>
          <a:prstGeom prst="rect">
            <a:avLst/>
          </a:prstGeom>
          <a:solidFill>
            <a:srgbClr val="FF6B3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8" name="Google Shape;1938;p50"/>
          <p:cNvSpPr/>
          <p:nvPr/>
        </p:nvSpPr>
        <p:spPr>
          <a:xfrm>
            <a:off x="582930" y="720090"/>
            <a:ext cx="78867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Lexend"/>
              <a:buNone/>
            </a:pPr>
            <a:r>
              <a:rPr b="1" i="0" lang="en" sz="2400" u="none" cap="none" strike="noStrike">
                <a:solidFill>
                  <a:srgbClr val="1F2937"/>
                </a:solidFill>
                <a:latin typeface="Lexend"/>
                <a:ea typeface="Lexend"/>
                <a:cs typeface="Lexend"/>
                <a:sym typeface="Lexend"/>
              </a:rPr>
              <a:t>KẾ HOẠCH TRIỂN KHAI</a:t>
            </a:r>
            <a:endParaRPr b="0" i="0" sz="2400" u="none" cap="none" strike="noStrike">
              <a:solidFill>
                <a:schemeClr val="dk1"/>
              </a:solidFill>
              <a:latin typeface="Calibri"/>
              <a:ea typeface="Calibri"/>
              <a:cs typeface="Calibri"/>
              <a:sym typeface="Calibri"/>
            </a:endParaRPr>
          </a:p>
        </p:txBody>
      </p:sp>
      <p:sp>
        <p:nvSpPr>
          <p:cNvPr id="1939" name="Google Shape;1939;p50"/>
          <p:cNvSpPr/>
          <p:nvPr/>
        </p:nvSpPr>
        <p:spPr>
          <a:xfrm>
            <a:off x="582930" y="1220724"/>
            <a:ext cx="8229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b="0" i="0" lang="en" sz="1100" u="none" cap="none" strike="noStrike">
                <a:solidFill>
                  <a:srgbClr val="FF6B35"/>
                </a:solidFill>
                <a:latin typeface="Lexend"/>
                <a:ea typeface="Lexend"/>
                <a:cs typeface="Lexend"/>
                <a:sym typeface="Lexend"/>
              </a:rPr>
              <a:t>Biểu đồ thời </a:t>
            </a:r>
            <a:r>
              <a:rPr lang="en" sz="1100">
                <a:solidFill>
                  <a:srgbClr val="FF6B35"/>
                </a:solidFill>
                <a:latin typeface="Lexend"/>
                <a:ea typeface="Lexend"/>
                <a:cs typeface="Lexend"/>
                <a:sym typeface="Lexend"/>
              </a:rPr>
              <a:t>gian</a:t>
            </a:r>
            <a:r>
              <a:rPr b="0" i="0" lang="en" sz="1100" u="none" cap="none" strike="noStrike">
                <a:solidFill>
                  <a:srgbClr val="FF6B35"/>
                </a:solidFill>
                <a:latin typeface="Lexend"/>
                <a:ea typeface="Lexend"/>
                <a:cs typeface="Lexend"/>
                <a:sym typeface="Lexend"/>
              </a:rPr>
              <a:t> &amp; mức ưu tiên · Thanh đậm = ưu tiên cao</a:t>
            </a:r>
            <a:endParaRPr b="0" i="0" sz="1100" u="none" cap="none" strike="noStrike">
              <a:solidFill>
                <a:schemeClr val="dk1"/>
              </a:solidFill>
              <a:latin typeface="Calibri"/>
              <a:ea typeface="Calibri"/>
              <a:cs typeface="Calibri"/>
              <a:sym typeface="Calibri"/>
            </a:endParaRPr>
          </a:p>
        </p:txBody>
      </p:sp>
      <p:sp>
        <p:nvSpPr>
          <p:cNvPr id="1940" name="Google Shape;1940;p50"/>
          <p:cNvSpPr/>
          <p:nvPr/>
        </p:nvSpPr>
        <p:spPr>
          <a:xfrm>
            <a:off x="3101396" y="1680206"/>
            <a:ext cx="1904400" cy="353400"/>
          </a:xfrm>
          <a:prstGeom prst="roundRect">
            <a:avLst>
              <a:gd fmla="val 16000" name="adj"/>
            </a:avLst>
          </a:prstGeom>
          <a:solidFill>
            <a:srgbClr val="C4B5E8"/>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41" name="Google Shape;1941;p50"/>
          <p:cNvSpPr/>
          <p:nvPr/>
        </p:nvSpPr>
        <p:spPr>
          <a:xfrm>
            <a:off x="3101396" y="1680206"/>
            <a:ext cx="1904400" cy="35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Lexend"/>
              <a:buNone/>
            </a:pPr>
            <a:r>
              <a:rPr b="1" i="0" lang="en" sz="1000" u="none" cap="none" strike="noStrike">
                <a:solidFill>
                  <a:srgbClr val="FFFFFF"/>
                </a:solidFill>
                <a:latin typeface="Lexend"/>
                <a:ea typeface="Lexend"/>
                <a:cs typeface="Lexend"/>
                <a:sym typeface="Lexend"/>
              </a:rPr>
              <a:t>THÁNG</a:t>
            </a:r>
            <a:r>
              <a:rPr b="1" lang="en" sz="1000">
                <a:solidFill>
                  <a:srgbClr val="FFFFFF"/>
                </a:solidFill>
                <a:latin typeface="Lexend"/>
                <a:ea typeface="Lexend"/>
                <a:cs typeface="Lexend"/>
                <a:sym typeface="Lexend"/>
              </a:rPr>
              <a:t> 9</a:t>
            </a:r>
            <a:endParaRPr b="0" i="0" sz="1000" u="none" cap="none" strike="noStrike">
              <a:solidFill>
                <a:schemeClr val="dk1"/>
              </a:solidFill>
              <a:latin typeface="Calibri"/>
              <a:ea typeface="Calibri"/>
              <a:cs typeface="Calibri"/>
              <a:sym typeface="Calibri"/>
            </a:endParaRPr>
          </a:p>
        </p:txBody>
      </p:sp>
      <p:sp>
        <p:nvSpPr>
          <p:cNvPr id="1942" name="Google Shape;1942;p50"/>
          <p:cNvSpPr/>
          <p:nvPr/>
        </p:nvSpPr>
        <p:spPr>
          <a:xfrm>
            <a:off x="5076464" y="1680206"/>
            <a:ext cx="1904400" cy="353400"/>
          </a:xfrm>
          <a:prstGeom prst="roundRect">
            <a:avLst>
              <a:gd fmla="val 16000" name="adj"/>
            </a:avLst>
          </a:prstGeom>
          <a:solidFill>
            <a:srgbClr val="9B7FD4"/>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43" name="Google Shape;1943;p50"/>
          <p:cNvSpPr/>
          <p:nvPr/>
        </p:nvSpPr>
        <p:spPr>
          <a:xfrm>
            <a:off x="5076464" y="1680206"/>
            <a:ext cx="1904400" cy="35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Lexend"/>
              <a:buNone/>
            </a:pPr>
            <a:r>
              <a:rPr b="1" i="0" lang="en" sz="1000" u="none" cap="none" strike="noStrike">
                <a:solidFill>
                  <a:srgbClr val="FFFFFF"/>
                </a:solidFill>
                <a:latin typeface="Lexend"/>
                <a:ea typeface="Lexend"/>
                <a:cs typeface="Lexend"/>
                <a:sym typeface="Lexend"/>
              </a:rPr>
              <a:t>THÁNG </a:t>
            </a:r>
            <a:r>
              <a:rPr b="1" lang="en" sz="1000">
                <a:solidFill>
                  <a:srgbClr val="FFFFFF"/>
                </a:solidFill>
                <a:latin typeface="Lexend"/>
                <a:ea typeface="Lexend"/>
                <a:cs typeface="Lexend"/>
                <a:sym typeface="Lexend"/>
              </a:rPr>
              <a:t>10</a:t>
            </a:r>
            <a:endParaRPr b="0" i="0" sz="1000" u="none" cap="none" strike="noStrike">
              <a:solidFill>
                <a:schemeClr val="dk1"/>
              </a:solidFill>
              <a:latin typeface="Calibri"/>
              <a:ea typeface="Calibri"/>
              <a:cs typeface="Calibri"/>
              <a:sym typeface="Calibri"/>
            </a:endParaRPr>
          </a:p>
        </p:txBody>
      </p:sp>
      <p:sp>
        <p:nvSpPr>
          <p:cNvPr id="1944" name="Google Shape;1944;p50"/>
          <p:cNvSpPr/>
          <p:nvPr/>
        </p:nvSpPr>
        <p:spPr>
          <a:xfrm>
            <a:off x="7051532" y="1680206"/>
            <a:ext cx="1904400" cy="353400"/>
          </a:xfrm>
          <a:prstGeom prst="roundRect">
            <a:avLst>
              <a:gd fmla="val 16000" name="adj"/>
            </a:avLst>
          </a:prstGeom>
          <a:solidFill>
            <a:srgbClr val="6D4FB8"/>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45" name="Google Shape;1945;p50"/>
          <p:cNvSpPr/>
          <p:nvPr/>
        </p:nvSpPr>
        <p:spPr>
          <a:xfrm>
            <a:off x="7051532" y="1680206"/>
            <a:ext cx="1904400" cy="35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Lexend"/>
              <a:buNone/>
            </a:pPr>
            <a:r>
              <a:rPr b="1" i="0" lang="en" sz="1000" u="none" cap="none" strike="noStrike">
                <a:solidFill>
                  <a:srgbClr val="FFFFFF"/>
                </a:solidFill>
                <a:latin typeface="Lexend"/>
                <a:ea typeface="Lexend"/>
                <a:cs typeface="Lexend"/>
                <a:sym typeface="Lexend"/>
              </a:rPr>
              <a:t>THÁNG </a:t>
            </a:r>
            <a:r>
              <a:rPr b="1" lang="en" sz="1000">
                <a:solidFill>
                  <a:srgbClr val="FFFFFF"/>
                </a:solidFill>
                <a:latin typeface="Lexend"/>
                <a:ea typeface="Lexend"/>
                <a:cs typeface="Lexend"/>
                <a:sym typeface="Lexend"/>
              </a:rPr>
              <a:t>11</a:t>
            </a:r>
            <a:endParaRPr b="0" i="0" sz="1000" u="none" cap="none" strike="noStrike">
              <a:solidFill>
                <a:schemeClr val="dk1"/>
              </a:solidFill>
              <a:latin typeface="Calibri"/>
              <a:ea typeface="Calibri"/>
              <a:cs typeface="Calibri"/>
              <a:sym typeface="Calibri"/>
            </a:endParaRPr>
          </a:p>
        </p:txBody>
      </p:sp>
      <p:cxnSp>
        <p:nvCxnSpPr>
          <p:cNvPr id="1946" name="Google Shape;1946;p50"/>
          <p:cNvCxnSpPr/>
          <p:nvPr/>
        </p:nvCxnSpPr>
        <p:spPr>
          <a:xfrm>
            <a:off x="3066043" y="2033739"/>
            <a:ext cx="0" cy="2434500"/>
          </a:xfrm>
          <a:prstGeom prst="straightConnector1">
            <a:avLst/>
          </a:prstGeom>
          <a:noFill/>
          <a:ln cap="flat" cmpd="sng" w="9825">
            <a:solidFill>
              <a:srgbClr val="F3F4F6"/>
            </a:solidFill>
            <a:prstDash val="solid"/>
            <a:round/>
            <a:headEnd len="sm" w="sm" type="none"/>
            <a:tailEnd len="sm" w="sm" type="none"/>
          </a:ln>
        </p:spPr>
      </p:cxnSp>
      <p:cxnSp>
        <p:nvCxnSpPr>
          <p:cNvPr id="1947" name="Google Shape;1947;p50"/>
          <p:cNvCxnSpPr/>
          <p:nvPr/>
        </p:nvCxnSpPr>
        <p:spPr>
          <a:xfrm>
            <a:off x="5041111" y="2033739"/>
            <a:ext cx="0" cy="2434500"/>
          </a:xfrm>
          <a:prstGeom prst="straightConnector1">
            <a:avLst/>
          </a:prstGeom>
          <a:noFill/>
          <a:ln cap="flat" cmpd="sng" w="9825">
            <a:solidFill>
              <a:srgbClr val="F3F4F6"/>
            </a:solidFill>
            <a:prstDash val="solid"/>
            <a:round/>
            <a:headEnd len="sm" w="sm" type="none"/>
            <a:tailEnd len="sm" w="sm" type="none"/>
          </a:ln>
        </p:spPr>
      </p:cxnSp>
      <p:cxnSp>
        <p:nvCxnSpPr>
          <p:cNvPr id="1948" name="Google Shape;1948;p50"/>
          <p:cNvCxnSpPr/>
          <p:nvPr/>
        </p:nvCxnSpPr>
        <p:spPr>
          <a:xfrm>
            <a:off x="7016179" y="2033739"/>
            <a:ext cx="0" cy="2418900"/>
          </a:xfrm>
          <a:prstGeom prst="straightConnector1">
            <a:avLst/>
          </a:prstGeom>
          <a:noFill/>
          <a:ln cap="flat" cmpd="sng" w="9825">
            <a:solidFill>
              <a:srgbClr val="F3F4F6"/>
            </a:solidFill>
            <a:prstDash val="solid"/>
            <a:round/>
            <a:headEnd len="sm" w="sm" type="none"/>
            <a:tailEnd len="sm" w="sm" type="none"/>
          </a:ln>
        </p:spPr>
      </p:cxnSp>
      <p:cxnSp>
        <p:nvCxnSpPr>
          <p:cNvPr id="1949" name="Google Shape;1949;p50"/>
          <p:cNvCxnSpPr/>
          <p:nvPr/>
        </p:nvCxnSpPr>
        <p:spPr>
          <a:xfrm>
            <a:off x="8730234" y="2023110"/>
            <a:ext cx="0" cy="2674500"/>
          </a:xfrm>
          <a:prstGeom prst="straightConnector1">
            <a:avLst/>
          </a:prstGeom>
          <a:noFill/>
          <a:ln cap="flat" cmpd="sng" w="9525">
            <a:solidFill>
              <a:srgbClr val="F3F4F6"/>
            </a:solidFill>
            <a:prstDash val="solid"/>
            <a:round/>
            <a:headEnd len="sm" w="sm" type="none"/>
            <a:tailEnd len="sm" w="sm" type="none"/>
          </a:ln>
        </p:spPr>
      </p:cxnSp>
      <p:sp>
        <p:nvSpPr>
          <p:cNvPr id="1950" name="Google Shape;1950;p50"/>
          <p:cNvSpPr/>
          <p:nvPr/>
        </p:nvSpPr>
        <p:spPr>
          <a:xfrm>
            <a:off x="355298" y="2076279"/>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700"/>
              <a:buFont typeface="Lexend"/>
              <a:buNone/>
            </a:pPr>
            <a:r>
              <a:rPr b="0" i="0" lang="en" sz="700" u="none" cap="none" strike="noStrike">
                <a:solidFill>
                  <a:srgbClr val="1F2937"/>
                </a:solidFill>
                <a:latin typeface="Lexend"/>
                <a:ea typeface="Lexend"/>
                <a:cs typeface="Lexend"/>
                <a:sym typeface="Lexend"/>
              </a:rPr>
              <a:t>Mở slot có kiểm soát</a:t>
            </a:r>
            <a:endParaRPr b="0" i="0" sz="700" u="none" cap="none" strike="noStrike">
              <a:solidFill>
                <a:schemeClr val="dk1"/>
              </a:solidFill>
              <a:latin typeface="Calibri"/>
              <a:ea typeface="Calibri"/>
              <a:cs typeface="Calibri"/>
              <a:sym typeface="Calibri"/>
            </a:endParaRPr>
          </a:p>
        </p:txBody>
      </p:sp>
      <p:sp>
        <p:nvSpPr>
          <p:cNvPr id="1951" name="Google Shape;1951;p50"/>
          <p:cNvSpPr/>
          <p:nvPr/>
        </p:nvSpPr>
        <p:spPr>
          <a:xfrm>
            <a:off x="3101390" y="2097374"/>
            <a:ext cx="4911600" cy="151800"/>
          </a:xfrm>
          <a:prstGeom prst="roundRect">
            <a:avLst>
              <a:gd fmla="val 23256" name="adj"/>
            </a:avLst>
          </a:prstGeom>
          <a:solidFill>
            <a:srgbClr val="3B82F6">
              <a:alpha val="54900"/>
            </a:srgbClr>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52" name="Google Shape;1952;p50"/>
          <p:cNvSpPr/>
          <p:nvPr/>
        </p:nvSpPr>
        <p:spPr>
          <a:xfrm>
            <a:off x="3101388" y="2097374"/>
            <a:ext cx="49116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600"/>
              <a:buFont typeface="Lexend"/>
              <a:buNone/>
            </a:pPr>
            <a:r>
              <a:rPr b="1" i="0" lang="en" sz="600" u="none" cap="none" strike="noStrike">
                <a:solidFill>
                  <a:srgbClr val="1F2937"/>
                </a:solidFill>
                <a:latin typeface="Lexend"/>
                <a:ea typeface="Lexend"/>
                <a:cs typeface="Lexend"/>
                <a:sym typeface="Lexend"/>
              </a:rPr>
              <a:t>2-2.5 tháng</a:t>
            </a:r>
            <a:endParaRPr b="0" i="0" sz="600" u="none" cap="none" strike="noStrike">
              <a:solidFill>
                <a:schemeClr val="dk1"/>
              </a:solidFill>
              <a:latin typeface="Calibri"/>
              <a:ea typeface="Calibri"/>
              <a:cs typeface="Calibri"/>
              <a:sym typeface="Calibri"/>
            </a:endParaRPr>
          </a:p>
        </p:txBody>
      </p:sp>
      <p:sp>
        <p:nvSpPr>
          <p:cNvPr id="1953" name="Google Shape;1953;p50"/>
          <p:cNvSpPr/>
          <p:nvPr/>
        </p:nvSpPr>
        <p:spPr>
          <a:xfrm>
            <a:off x="355298" y="2295469"/>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700"/>
              <a:buFont typeface="Lexend"/>
              <a:buNone/>
            </a:pPr>
            <a:r>
              <a:rPr b="0" i="0" lang="en" sz="700" u="none" cap="none" strike="noStrike">
                <a:solidFill>
                  <a:srgbClr val="1F2937"/>
                </a:solidFill>
                <a:latin typeface="Lexend"/>
                <a:ea typeface="Lexend"/>
                <a:cs typeface="Lexend"/>
                <a:sym typeface="Lexend"/>
              </a:rPr>
              <a:t>Cập nhật Sổ tay + Bộ quy trình chuẩn</a:t>
            </a:r>
            <a:endParaRPr b="0" i="0" sz="700" u="none" cap="none" strike="noStrike">
              <a:solidFill>
                <a:schemeClr val="dk1"/>
              </a:solidFill>
              <a:latin typeface="Calibri"/>
              <a:ea typeface="Calibri"/>
              <a:cs typeface="Calibri"/>
              <a:sym typeface="Calibri"/>
            </a:endParaRPr>
          </a:p>
        </p:txBody>
      </p:sp>
      <p:sp>
        <p:nvSpPr>
          <p:cNvPr id="1954" name="Google Shape;1954;p50"/>
          <p:cNvSpPr/>
          <p:nvPr/>
        </p:nvSpPr>
        <p:spPr>
          <a:xfrm>
            <a:off x="3101391" y="2316573"/>
            <a:ext cx="1893900" cy="151800"/>
          </a:xfrm>
          <a:prstGeom prst="roundRect">
            <a:avLst>
              <a:gd fmla="val 23256" name="adj"/>
            </a:avLst>
          </a:prstGeom>
          <a:solidFill>
            <a:srgbClr val="10B981">
              <a:alpha val="54900"/>
            </a:srgbClr>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55" name="Google Shape;1955;p50"/>
          <p:cNvSpPr/>
          <p:nvPr/>
        </p:nvSpPr>
        <p:spPr>
          <a:xfrm>
            <a:off x="3101391" y="2316573"/>
            <a:ext cx="19044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600"/>
              <a:buFont typeface="Lexend"/>
              <a:buNone/>
            </a:pPr>
            <a:r>
              <a:rPr b="1" i="0" lang="en" sz="600" u="none" cap="none" strike="noStrike">
                <a:solidFill>
                  <a:srgbClr val="1F2937"/>
                </a:solidFill>
                <a:latin typeface="Lexend"/>
                <a:ea typeface="Lexend"/>
                <a:cs typeface="Lexend"/>
                <a:sym typeface="Lexend"/>
              </a:rPr>
              <a:t>1 tháng</a:t>
            </a:r>
            <a:endParaRPr b="0" i="0" sz="600" u="none" cap="none" strike="noStrike">
              <a:solidFill>
                <a:schemeClr val="dk1"/>
              </a:solidFill>
              <a:latin typeface="Calibri"/>
              <a:ea typeface="Calibri"/>
              <a:cs typeface="Calibri"/>
              <a:sym typeface="Calibri"/>
            </a:endParaRPr>
          </a:p>
        </p:txBody>
      </p:sp>
      <p:sp>
        <p:nvSpPr>
          <p:cNvPr id="1956" name="Google Shape;1956;p50"/>
          <p:cNvSpPr/>
          <p:nvPr/>
        </p:nvSpPr>
        <p:spPr>
          <a:xfrm>
            <a:off x="355298" y="2514659"/>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700"/>
              <a:buFont typeface="Lexend"/>
              <a:buNone/>
            </a:pPr>
            <a:r>
              <a:rPr lang="en" sz="700">
                <a:solidFill>
                  <a:srgbClr val="1F2937"/>
                </a:solidFill>
                <a:latin typeface="Lexend"/>
                <a:ea typeface="Lexend"/>
                <a:cs typeface="Lexend"/>
                <a:sym typeface="Lexend"/>
              </a:rPr>
              <a:t>Meeting Chia sẻ học hỏi </a:t>
            </a:r>
            <a:endParaRPr sz="700">
              <a:solidFill>
                <a:srgbClr val="1F2937"/>
              </a:solidFill>
              <a:latin typeface="Lexend"/>
              <a:ea typeface="Lexend"/>
              <a:cs typeface="Lexend"/>
              <a:sym typeface="Lexend"/>
            </a:endParaRPr>
          </a:p>
        </p:txBody>
      </p:sp>
      <p:sp>
        <p:nvSpPr>
          <p:cNvPr id="1957" name="Google Shape;1957;p50"/>
          <p:cNvSpPr/>
          <p:nvPr/>
        </p:nvSpPr>
        <p:spPr>
          <a:xfrm>
            <a:off x="3101393" y="2535752"/>
            <a:ext cx="1893900" cy="151800"/>
          </a:xfrm>
          <a:prstGeom prst="roundRect">
            <a:avLst>
              <a:gd fmla="val 23256" name="adj"/>
            </a:avLst>
          </a:prstGeom>
          <a:solidFill>
            <a:srgbClr val="10B981">
              <a:alpha val="54900"/>
            </a:srgbClr>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58" name="Google Shape;1958;p50"/>
          <p:cNvSpPr/>
          <p:nvPr/>
        </p:nvSpPr>
        <p:spPr>
          <a:xfrm>
            <a:off x="3101393" y="2535752"/>
            <a:ext cx="18939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600"/>
              <a:buFont typeface="Lexend"/>
              <a:buNone/>
            </a:pPr>
            <a:r>
              <a:rPr b="1" lang="en" sz="600">
                <a:solidFill>
                  <a:srgbClr val="1F2937"/>
                </a:solidFill>
                <a:latin typeface="Lexend"/>
                <a:ea typeface="Lexend"/>
                <a:cs typeface="Lexend"/>
                <a:sym typeface="Lexend"/>
              </a:rPr>
              <a:t>1</a:t>
            </a:r>
            <a:r>
              <a:rPr b="1" i="0" lang="en" sz="600" u="none" cap="none" strike="noStrike">
                <a:solidFill>
                  <a:srgbClr val="1F2937"/>
                </a:solidFill>
                <a:latin typeface="Lexend"/>
                <a:ea typeface="Lexend"/>
                <a:cs typeface="Lexend"/>
                <a:sym typeface="Lexend"/>
              </a:rPr>
              <a:t> tháng</a:t>
            </a:r>
            <a:endParaRPr b="0" i="0" sz="600" u="none" cap="none" strike="noStrike">
              <a:solidFill>
                <a:schemeClr val="dk1"/>
              </a:solidFill>
              <a:latin typeface="Calibri"/>
              <a:ea typeface="Calibri"/>
              <a:cs typeface="Calibri"/>
              <a:sym typeface="Calibri"/>
            </a:endParaRPr>
          </a:p>
        </p:txBody>
      </p:sp>
      <p:sp>
        <p:nvSpPr>
          <p:cNvPr id="1959" name="Google Shape;1959;p50"/>
          <p:cNvSpPr/>
          <p:nvPr/>
        </p:nvSpPr>
        <p:spPr>
          <a:xfrm>
            <a:off x="355298" y="3165850"/>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700"/>
              <a:buFont typeface="Lexend"/>
              <a:buNone/>
            </a:pPr>
            <a:r>
              <a:rPr lang="en" sz="700">
                <a:solidFill>
                  <a:srgbClr val="FF6B35"/>
                </a:solidFill>
                <a:latin typeface="Lexend"/>
                <a:ea typeface="Lexend"/>
                <a:cs typeface="Lexend"/>
                <a:sym typeface="Lexend"/>
              </a:rPr>
              <a:t>★ </a:t>
            </a:r>
            <a:r>
              <a:rPr b="1" i="0" lang="en" sz="700" u="none" cap="none" strike="noStrike">
                <a:solidFill>
                  <a:srgbClr val="1F2937"/>
                </a:solidFill>
                <a:latin typeface="Lexend"/>
                <a:ea typeface="Lexend"/>
                <a:cs typeface="Lexend"/>
                <a:sym typeface="Lexend"/>
              </a:rPr>
              <a:t>Theo dõi nhóm TX Cốt cán định kỳ</a:t>
            </a:r>
            <a:endParaRPr b="1" i="0" sz="700" u="none" cap="none" strike="noStrike">
              <a:solidFill>
                <a:schemeClr val="dk1"/>
              </a:solidFill>
              <a:latin typeface="Calibri"/>
              <a:ea typeface="Calibri"/>
              <a:cs typeface="Calibri"/>
              <a:sym typeface="Calibri"/>
            </a:endParaRPr>
          </a:p>
        </p:txBody>
      </p:sp>
      <p:sp>
        <p:nvSpPr>
          <p:cNvPr id="1960" name="Google Shape;1960;p50"/>
          <p:cNvSpPr/>
          <p:nvPr/>
        </p:nvSpPr>
        <p:spPr>
          <a:xfrm>
            <a:off x="3101396" y="2754946"/>
            <a:ext cx="5854500" cy="151800"/>
          </a:xfrm>
          <a:prstGeom prst="roundRect">
            <a:avLst>
              <a:gd fmla="val 23256" name="adj"/>
            </a:avLst>
          </a:prstGeom>
          <a:solidFill>
            <a:srgbClr val="FF6B35">
              <a:alpha val="54900"/>
            </a:srgbClr>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61" name="Google Shape;1961;p50"/>
          <p:cNvSpPr/>
          <p:nvPr/>
        </p:nvSpPr>
        <p:spPr>
          <a:xfrm>
            <a:off x="3101396" y="2754946"/>
            <a:ext cx="58545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600"/>
              <a:buFont typeface="Lexend"/>
              <a:buNone/>
            </a:pPr>
            <a:r>
              <a:rPr b="1" i="0" lang="en" sz="600" u="none" cap="none" strike="noStrike">
                <a:solidFill>
                  <a:srgbClr val="1F2937"/>
                </a:solidFill>
                <a:latin typeface="Lexend"/>
                <a:ea typeface="Lexend"/>
                <a:cs typeface="Lexend"/>
                <a:sym typeface="Lexend"/>
              </a:rPr>
              <a:t>3 tháng</a:t>
            </a:r>
            <a:endParaRPr b="0" i="0" sz="600" u="none" cap="none" strike="noStrike">
              <a:solidFill>
                <a:schemeClr val="dk1"/>
              </a:solidFill>
              <a:latin typeface="Calibri"/>
              <a:ea typeface="Calibri"/>
              <a:cs typeface="Calibri"/>
              <a:sym typeface="Calibri"/>
            </a:endParaRPr>
          </a:p>
        </p:txBody>
      </p:sp>
      <p:sp>
        <p:nvSpPr>
          <p:cNvPr id="1962" name="Google Shape;1962;p50"/>
          <p:cNvSpPr/>
          <p:nvPr/>
        </p:nvSpPr>
        <p:spPr>
          <a:xfrm>
            <a:off x="355298" y="2953040"/>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700"/>
              <a:buFont typeface="Lexend"/>
              <a:buNone/>
            </a:pPr>
            <a:r>
              <a:rPr b="0" i="0" lang="en" sz="700" u="none" cap="none" strike="noStrike">
                <a:solidFill>
                  <a:srgbClr val="1F2937"/>
                </a:solidFill>
                <a:latin typeface="Lexend"/>
                <a:ea typeface="Lexend"/>
                <a:cs typeface="Lexend"/>
                <a:sym typeface="Lexend"/>
              </a:rPr>
              <a:t>Thiết kế cơ chế lưu trữ hoạt động ĐT</a:t>
            </a:r>
            <a:endParaRPr b="0" i="0" sz="700" u="none" cap="none" strike="noStrike">
              <a:solidFill>
                <a:schemeClr val="dk1"/>
              </a:solidFill>
              <a:latin typeface="Calibri"/>
              <a:ea typeface="Calibri"/>
              <a:cs typeface="Calibri"/>
              <a:sym typeface="Calibri"/>
            </a:endParaRPr>
          </a:p>
        </p:txBody>
      </p:sp>
      <p:sp>
        <p:nvSpPr>
          <p:cNvPr id="1963" name="Google Shape;1963;p50"/>
          <p:cNvSpPr/>
          <p:nvPr/>
        </p:nvSpPr>
        <p:spPr>
          <a:xfrm>
            <a:off x="3101396" y="2974136"/>
            <a:ext cx="2892000" cy="151800"/>
          </a:xfrm>
          <a:prstGeom prst="roundRect">
            <a:avLst>
              <a:gd fmla="val 23256" name="adj"/>
            </a:avLst>
          </a:prstGeom>
          <a:solidFill>
            <a:srgbClr val="10B981">
              <a:alpha val="54900"/>
            </a:srgbClr>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64" name="Google Shape;1964;p50"/>
          <p:cNvSpPr/>
          <p:nvPr/>
        </p:nvSpPr>
        <p:spPr>
          <a:xfrm>
            <a:off x="3101396" y="2974136"/>
            <a:ext cx="28920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600"/>
              <a:buFont typeface="Lexend"/>
              <a:buNone/>
            </a:pPr>
            <a:r>
              <a:rPr b="1" i="0" lang="en" sz="600" u="none" cap="none" strike="noStrike">
                <a:solidFill>
                  <a:srgbClr val="1F2937"/>
                </a:solidFill>
                <a:latin typeface="Lexend"/>
                <a:ea typeface="Lexend"/>
                <a:cs typeface="Lexend"/>
                <a:sym typeface="Lexend"/>
              </a:rPr>
              <a:t>~1</a:t>
            </a:r>
            <a:r>
              <a:rPr b="1" lang="en" sz="600">
                <a:solidFill>
                  <a:srgbClr val="1F2937"/>
                </a:solidFill>
                <a:latin typeface="Lexend"/>
                <a:ea typeface="Lexend"/>
                <a:cs typeface="Lexend"/>
                <a:sym typeface="Lexend"/>
              </a:rPr>
              <a:t>-1.5</a:t>
            </a:r>
            <a:r>
              <a:rPr b="1" i="0" lang="en" sz="600" u="none" cap="none" strike="noStrike">
                <a:solidFill>
                  <a:srgbClr val="1F2937"/>
                </a:solidFill>
                <a:latin typeface="Lexend"/>
                <a:ea typeface="Lexend"/>
                <a:cs typeface="Lexend"/>
                <a:sym typeface="Lexend"/>
              </a:rPr>
              <a:t> tháng</a:t>
            </a:r>
            <a:endParaRPr b="0" i="0" sz="600" u="none" cap="none" strike="noStrike">
              <a:solidFill>
                <a:schemeClr val="dk1"/>
              </a:solidFill>
              <a:latin typeface="Calibri"/>
              <a:ea typeface="Calibri"/>
              <a:cs typeface="Calibri"/>
              <a:sym typeface="Calibri"/>
            </a:endParaRPr>
          </a:p>
        </p:txBody>
      </p:sp>
      <p:sp>
        <p:nvSpPr>
          <p:cNvPr id="1965" name="Google Shape;1965;p50"/>
          <p:cNvSpPr/>
          <p:nvPr/>
        </p:nvSpPr>
        <p:spPr>
          <a:xfrm>
            <a:off x="355292" y="2736990"/>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700"/>
              <a:buFont typeface="Lexend"/>
              <a:buNone/>
            </a:pPr>
            <a:r>
              <a:rPr i="0" lang="en" sz="700" u="none" cap="none" strike="noStrike">
                <a:solidFill>
                  <a:srgbClr val="1F2937"/>
                </a:solidFill>
                <a:latin typeface="Lexend"/>
                <a:ea typeface="Lexend"/>
                <a:cs typeface="Lexend"/>
                <a:sym typeface="Lexend"/>
              </a:rPr>
              <a:t>Mở rộng năng lực zone (Q</a:t>
            </a:r>
            <a:r>
              <a:rPr lang="en" sz="700">
                <a:solidFill>
                  <a:srgbClr val="1F2937"/>
                </a:solidFill>
                <a:latin typeface="Lexend"/>
                <a:ea typeface="Lexend"/>
                <a:cs typeface="Lexend"/>
                <a:sym typeface="Lexend"/>
              </a:rPr>
              <a:t>.lý </a:t>
            </a:r>
            <a:r>
              <a:rPr i="0" lang="en" sz="700" u="none" cap="none" strike="noStrike">
                <a:solidFill>
                  <a:srgbClr val="1F2937"/>
                </a:solidFill>
                <a:latin typeface="Lexend"/>
                <a:ea typeface="Lexend"/>
                <a:cs typeface="Lexend"/>
                <a:sym typeface="Lexend"/>
              </a:rPr>
              <a:t>70-</a:t>
            </a:r>
            <a:r>
              <a:rPr lang="en" sz="700">
                <a:solidFill>
                  <a:srgbClr val="1F2937"/>
                </a:solidFill>
                <a:latin typeface="Lexend"/>
                <a:ea typeface="Lexend"/>
                <a:cs typeface="Lexend"/>
                <a:sym typeface="Lexend"/>
              </a:rPr>
              <a:t>80</a:t>
            </a:r>
            <a:r>
              <a:rPr i="0" lang="en" sz="700" u="none" cap="none" strike="noStrike">
                <a:solidFill>
                  <a:srgbClr val="1F2937"/>
                </a:solidFill>
                <a:latin typeface="Lexend"/>
                <a:ea typeface="Lexend"/>
                <a:cs typeface="Lexend"/>
                <a:sym typeface="Lexend"/>
              </a:rPr>
              <a:t> TX)</a:t>
            </a:r>
            <a:endParaRPr i="0" sz="700" u="none" cap="none" strike="noStrike">
              <a:solidFill>
                <a:schemeClr val="dk1"/>
              </a:solidFill>
              <a:latin typeface="Calibri"/>
              <a:ea typeface="Calibri"/>
              <a:cs typeface="Calibri"/>
              <a:sym typeface="Calibri"/>
            </a:endParaRPr>
          </a:p>
        </p:txBody>
      </p:sp>
      <p:sp>
        <p:nvSpPr>
          <p:cNvPr id="1966" name="Google Shape;1966;p50"/>
          <p:cNvSpPr/>
          <p:nvPr/>
        </p:nvSpPr>
        <p:spPr>
          <a:xfrm>
            <a:off x="3101396" y="3193326"/>
            <a:ext cx="5854500" cy="151800"/>
          </a:xfrm>
          <a:prstGeom prst="roundRect">
            <a:avLst>
              <a:gd fmla="val 23256" name="adj"/>
            </a:avLst>
          </a:prstGeom>
          <a:solidFill>
            <a:srgbClr val="FF6B35"/>
          </a:solidFill>
          <a:ln cap="flat" cmpd="sng" w="9825">
            <a:solidFill>
              <a:srgbClr val="FF6B35"/>
            </a:solidFill>
            <a:prstDash val="solid"/>
            <a:round/>
            <a:headEnd len="sm" w="sm" type="none"/>
            <a:tailEnd len="sm" w="sm" type="none"/>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67" name="Google Shape;1967;p50"/>
          <p:cNvSpPr/>
          <p:nvPr/>
        </p:nvSpPr>
        <p:spPr>
          <a:xfrm>
            <a:off x="3101438" y="3193331"/>
            <a:ext cx="58545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Lexend"/>
              <a:buNone/>
            </a:pPr>
            <a:r>
              <a:rPr b="1" i="0" lang="en" sz="600" u="none" cap="none" strike="noStrike">
                <a:solidFill>
                  <a:schemeClr val="lt1"/>
                </a:solidFill>
                <a:latin typeface="Lexend"/>
                <a:ea typeface="Lexend"/>
                <a:cs typeface="Lexend"/>
                <a:sym typeface="Lexend"/>
              </a:rPr>
              <a:t>3 tháng</a:t>
            </a:r>
            <a:endParaRPr b="0" i="0" sz="600" u="none" cap="none" strike="noStrike">
              <a:solidFill>
                <a:schemeClr val="lt1"/>
              </a:solidFill>
              <a:latin typeface="Calibri"/>
              <a:ea typeface="Calibri"/>
              <a:cs typeface="Calibri"/>
              <a:sym typeface="Calibri"/>
            </a:endParaRPr>
          </a:p>
        </p:txBody>
      </p:sp>
      <p:sp>
        <p:nvSpPr>
          <p:cNvPr id="1968" name="Google Shape;1968;p50"/>
          <p:cNvSpPr/>
          <p:nvPr/>
        </p:nvSpPr>
        <p:spPr>
          <a:xfrm>
            <a:off x="355306" y="3391418"/>
            <a:ext cx="27105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700"/>
              <a:buFont typeface="Lexend"/>
              <a:buNone/>
            </a:pPr>
            <a:r>
              <a:rPr b="1" i="0" lang="en" sz="700" u="none" cap="none" strike="noStrike">
                <a:solidFill>
                  <a:srgbClr val="FF6B35"/>
                </a:solidFill>
                <a:latin typeface="Lexend"/>
                <a:ea typeface="Lexend"/>
                <a:cs typeface="Lexend"/>
                <a:sym typeface="Lexend"/>
              </a:rPr>
              <a:t>★ </a:t>
            </a:r>
            <a:r>
              <a:rPr b="1" lang="en" sz="700">
                <a:solidFill>
                  <a:srgbClr val="1F2937"/>
                </a:solidFill>
                <a:latin typeface="Lexend"/>
                <a:ea typeface="Lexend"/>
                <a:cs typeface="Lexend"/>
                <a:sym typeface="Lexend"/>
              </a:rPr>
              <a:t>Triển khai CL</a:t>
            </a:r>
            <a:r>
              <a:rPr b="1" i="0" lang="en" sz="700" u="none" cap="none" strike="noStrike">
                <a:solidFill>
                  <a:srgbClr val="1F2937"/>
                </a:solidFill>
                <a:latin typeface="Lexend"/>
                <a:ea typeface="Lexend"/>
                <a:cs typeface="Lexend"/>
                <a:sym typeface="Lexend"/>
              </a:rPr>
              <a:t> "</a:t>
            </a:r>
            <a:r>
              <a:rPr b="1" lang="en" sz="700">
                <a:solidFill>
                  <a:srgbClr val="1F2937"/>
                </a:solidFill>
                <a:latin typeface="Lexend"/>
                <a:ea typeface="Lexend"/>
                <a:cs typeface="Lexend"/>
                <a:sym typeface="Lexend"/>
              </a:rPr>
              <a:t>Ưu tiên </a:t>
            </a:r>
            <a:r>
              <a:rPr b="1" i="0" lang="en" sz="700" u="none" cap="none" strike="noStrike">
                <a:solidFill>
                  <a:srgbClr val="1F2937"/>
                </a:solidFill>
                <a:latin typeface="Lexend"/>
                <a:ea typeface="Lexend"/>
                <a:cs typeface="Lexend"/>
                <a:sym typeface="Lexend"/>
              </a:rPr>
              <a:t>Chất lượn</a:t>
            </a:r>
            <a:r>
              <a:rPr b="1" lang="en" sz="700">
                <a:solidFill>
                  <a:srgbClr val="1F2937"/>
                </a:solidFill>
                <a:latin typeface="Lexend"/>
                <a:ea typeface="Lexend"/>
                <a:cs typeface="Lexend"/>
                <a:sym typeface="Lexend"/>
              </a:rPr>
              <a:t>g</a:t>
            </a:r>
            <a:r>
              <a:rPr b="1" i="0" lang="en" sz="700" u="none" cap="none" strike="noStrike">
                <a:solidFill>
                  <a:srgbClr val="1F2937"/>
                </a:solidFill>
                <a:latin typeface="Lexend"/>
                <a:ea typeface="Lexend"/>
                <a:cs typeface="Lexend"/>
                <a:sym typeface="Lexend"/>
              </a:rPr>
              <a:t>" cho zone đầu vào cao</a:t>
            </a:r>
            <a:endParaRPr b="0" i="0" sz="700" u="none" cap="none" strike="noStrike">
              <a:solidFill>
                <a:schemeClr val="dk1"/>
              </a:solidFill>
              <a:latin typeface="Calibri"/>
              <a:ea typeface="Calibri"/>
              <a:cs typeface="Calibri"/>
              <a:sym typeface="Calibri"/>
            </a:endParaRPr>
          </a:p>
        </p:txBody>
      </p:sp>
      <p:sp>
        <p:nvSpPr>
          <p:cNvPr id="1969" name="Google Shape;1969;p50"/>
          <p:cNvSpPr/>
          <p:nvPr/>
        </p:nvSpPr>
        <p:spPr>
          <a:xfrm>
            <a:off x="3101408" y="3412509"/>
            <a:ext cx="5854500" cy="151800"/>
          </a:xfrm>
          <a:prstGeom prst="roundRect">
            <a:avLst>
              <a:gd fmla="val 23256" name="adj"/>
            </a:avLst>
          </a:prstGeom>
          <a:solidFill>
            <a:srgbClr val="3B82F6"/>
          </a:solidFill>
          <a:ln cap="flat" cmpd="sng" w="9825">
            <a:solidFill>
              <a:srgbClr val="3B82F6"/>
            </a:solidFill>
            <a:prstDash val="solid"/>
            <a:round/>
            <a:headEnd len="sm" w="sm" type="none"/>
            <a:tailEnd len="sm" w="sm" type="none"/>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70" name="Google Shape;1970;p50"/>
          <p:cNvSpPr/>
          <p:nvPr/>
        </p:nvSpPr>
        <p:spPr>
          <a:xfrm>
            <a:off x="355298" y="3610611"/>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700"/>
              <a:buFont typeface="Lexend"/>
              <a:buNone/>
            </a:pPr>
            <a:r>
              <a:rPr b="1" i="0" lang="en" sz="700" u="none" cap="none" strike="noStrike">
                <a:solidFill>
                  <a:srgbClr val="FF6B35"/>
                </a:solidFill>
                <a:latin typeface="Lexend"/>
                <a:ea typeface="Lexend"/>
                <a:cs typeface="Lexend"/>
                <a:sym typeface="Lexend"/>
              </a:rPr>
              <a:t>★ </a:t>
            </a:r>
            <a:r>
              <a:rPr b="1" i="0" lang="en" sz="700" u="none" cap="none" strike="noStrike">
                <a:solidFill>
                  <a:srgbClr val="1F2937"/>
                </a:solidFill>
                <a:latin typeface="Lexend"/>
                <a:ea typeface="Lexend"/>
                <a:cs typeface="Lexend"/>
                <a:sym typeface="Lexend"/>
              </a:rPr>
              <a:t>Vận hành </a:t>
            </a:r>
            <a:r>
              <a:rPr b="1" lang="en" sz="700">
                <a:solidFill>
                  <a:srgbClr val="1F2937"/>
                </a:solidFill>
                <a:latin typeface="Lexend"/>
                <a:ea typeface="Lexend"/>
                <a:cs typeface="Lexend"/>
                <a:sym typeface="Lexend"/>
              </a:rPr>
              <a:t>phong cách “Kết hợp”</a:t>
            </a:r>
            <a:endParaRPr b="1" sz="700">
              <a:solidFill>
                <a:srgbClr val="1F2937"/>
              </a:solidFill>
              <a:latin typeface="Lexend"/>
              <a:ea typeface="Lexend"/>
              <a:cs typeface="Lexend"/>
              <a:sym typeface="Lexend"/>
            </a:endParaRPr>
          </a:p>
        </p:txBody>
      </p:sp>
      <p:sp>
        <p:nvSpPr>
          <p:cNvPr id="1971" name="Google Shape;1971;p50"/>
          <p:cNvSpPr/>
          <p:nvPr/>
        </p:nvSpPr>
        <p:spPr>
          <a:xfrm>
            <a:off x="3101408" y="3631708"/>
            <a:ext cx="5854500" cy="151800"/>
          </a:xfrm>
          <a:prstGeom prst="roundRect">
            <a:avLst>
              <a:gd fmla="val 23256" name="adj"/>
            </a:avLst>
          </a:prstGeom>
          <a:solidFill>
            <a:srgbClr val="10B981"/>
          </a:solidFill>
          <a:ln cap="flat" cmpd="sng" w="9825">
            <a:solidFill>
              <a:srgbClr val="10B981"/>
            </a:solidFill>
            <a:prstDash val="solid"/>
            <a:round/>
            <a:headEnd len="sm" w="sm" type="none"/>
            <a:tailEnd len="sm" w="sm" type="none"/>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72" name="Google Shape;1972;p50"/>
          <p:cNvSpPr/>
          <p:nvPr/>
        </p:nvSpPr>
        <p:spPr>
          <a:xfrm>
            <a:off x="3101407" y="3631708"/>
            <a:ext cx="58545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Lexend"/>
              <a:buNone/>
            </a:pPr>
            <a:r>
              <a:rPr b="1" i="0" lang="en" sz="600" u="none" cap="none" strike="noStrike">
                <a:solidFill>
                  <a:srgbClr val="FFFFFF"/>
                </a:solidFill>
                <a:latin typeface="Lexend"/>
                <a:ea typeface="Lexend"/>
                <a:cs typeface="Lexend"/>
                <a:sym typeface="Lexend"/>
              </a:rPr>
              <a:t>3 tháng</a:t>
            </a:r>
            <a:endParaRPr b="0" i="0" sz="600" u="none" cap="none" strike="noStrike">
              <a:solidFill>
                <a:schemeClr val="dk1"/>
              </a:solidFill>
              <a:latin typeface="Calibri"/>
              <a:ea typeface="Calibri"/>
              <a:cs typeface="Calibri"/>
              <a:sym typeface="Calibri"/>
            </a:endParaRPr>
          </a:p>
        </p:txBody>
      </p:sp>
      <p:sp>
        <p:nvSpPr>
          <p:cNvPr id="1973" name="Google Shape;1973;p50"/>
          <p:cNvSpPr/>
          <p:nvPr/>
        </p:nvSpPr>
        <p:spPr>
          <a:xfrm>
            <a:off x="355298" y="3829801"/>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700"/>
              <a:buFont typeface="Lexend"/>
              <a:buNone/>
            </a:pPr>
            <a:r>
              <a:rPr b="1" i="0" lang="en" sz="700" u="none" cap="none" strike="noStrike">
                <a:solidFill>
                  <a:srgbClr val="FF6B35"/>
                </a:solidFill>
                <a:latin typeface="Lexend"/>
                <a:ea typeface="Lexend"/>
                <a:cs typeface="Lexend"/>
                <a:sym typeface="Lexend"/>
              </a:rPr>
              <a:t>★ </a:t>
            </a:r>
            <a:r>
              <a:rPr b="1" i="0" lang="en" sz="700" u="none" cap="none" strike="noStrike">
                <a:solidFill>
                  <a:srgbClr val="1F2937"/>
                </a:solidFill>
                <a:latin typeface="Lexend"/>
                <a:ea typeface="Lexend"/>
                <a:cs typeface="Lexend"/>
                <a:sym typeface="Lexend"/>
              </a:rPr>
              <a:t>Tích hợp AI hỗ trợ Đội trưởng</a:t>
            </a:r>
            <a:endParaRPr b="0" i="0" sz="700" u="none" cap="none" strike="noStrike">
              <a:solidFill>
                <a:schemeClr val="dk1"/>
              </a:solidFill>
              <a:latin typeface="Calibri"/>
              <a:ea typeface="Calibri"/>
              <a:cs typeface="Calibri"/>
              <a:sym typeface="Calibri"/>
            </a:endParaRPr>
          </a:p>
        </p:txBody>
      </p:sp>
      <p:sp>
        <p:nvSpPr>
          <p:cNvPr id="1974" name="Google Shape;1974;p50"/>
          <p:cNvSpPr/>
          <p:nvPr/>
        </p:nvSpPr>
        <p:spPr>
          <a:xfrm>
            <a:off x="4562261" y="3850907"/>
            <a:ext cx="3406200" cy="151800"/>
          </a:xfrm>
          <a:prstGeom prst="roundRect">
            <a:avLst>
              <a:gd fmla="val 23256" name="adj"/>
            </a:avLst>
          </a:prstGeom>
          <a:solidFill>
            <a:srgbClr val="FF6B35"/>
          </a:solidFill>
          <a:ln cap="flat" cmpd="sng" w="9825">
            <a:solidFill>
              <a:srgbClr val="FF6B35"/>
            </a:solidFill>
            <a:prstDash val="solid"/>
            <a:round/>
            <a:headEnd len="sm" w="sm" type="none"/>
            <a:tailEnd len="sm" w="sm" type="none"/>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75" name="Google Shape;1975;p50"/>
          <p:cNvSpPr/>
          <p:nvPr/>
        </p:nvSpPr>
        <p:spPr>
          <a:xfrm>
            <a:off x="4562165" y="3850907"/>
            <a:ext cx="34062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Lexend"/>
              <a:buNone/>
            </a:pPr>
            <a:r>
              <a:rPr b="1" i="0" lang="en" sz="600" u="none" cap="none" strike="noStrike">
                <a:solidFill>
                  <a:srgbClr val="FFFFFF"/>
                </a:solidFill>
                <a:latin typeface="Lexend"/>
                <a:ea typeface="Lexend"/>
                <a:cs typeface="Lexend"/>
                <a:sym typeface="Lexend"/>
              </a:rPr>
              <a:t>~1-2 tháng</a:t>
            </a:r>
            <a:endParaRPr b="0" i="0" sz="600" u="none" cap="none" strike="noStrike">
              <a:solidFill>
                <a:schemeClr val="dk1"/>
              </a:solidFill>
              <a:latin typeface="Calibri"/>
              <a:ea typeface="Calibri"/>
              <a:cs typeface="Calibri"/>
              <a:sym typeface="Calibri"/>
            </a:endParaRPr>
          </a:p>
        </p:txBody>
      </p:sp>
      <p:sp>
        <p:nvSpPr>
          <p:cNvPr id="1976" name="Google Shape;1976;p50"/>
          <p:cNvSpPr/>
          <p:nvPr/>
        </p:nvSpPr>
        <p:spPr>
          <a:xfrm>
            <a:off x="355298" y="4048992"/>
            <a:ext cx="2580900" cy="1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700"/>
              <a:buFont typeface="Lexend"/>
              <a:buNone/>
            </a:pPr>
            <a:r>
              <a:rPr b="1" i="0" lang="en" sz="700" u="none" cap="none" strike="noStrike">
                <a:solidFill>
                  <a:srgbClr val="FF6B35"/>
                </a:solidFill>
                <a:latin typeface="Lexend"/>
                <a:ea typeface="Lexend"/>
                <a:cs typeface="Lexend"/>
                <a:sym typeface="Lexend"/>
              </a:rPr>
              <a:t>★ </a:t>
            </a:r>
            <a:r>
              <a:rPr b="1" i="0" lang="en" sz="700" u="none" cap="none" strike="noStrike">
                <a:solidFill>
                  <a:srgbClr val="1F2937"/>
                </a:solidFill>
                <a:latin typeface="Lexend"/>
                <a:ea typeface="Lexend"/>
                <a:cs typeface="Lexend"/>
                <a:sym typeface="Lexend"/>
              </a:rPr>
              <a:t>Tổ chức </a:t>
            </a:r>
            <a:r>
              <a:rPr b="1" lang="en" sz="700">
                <a:solidFill>
                  <a:srgbClr val="1F2937"/>
                </a:solidFill>
                <a:latin typeface="Lexend"/>
                <a:ea typeface="Lexend"/>
                <a:cs typeface="Lexend"/>
                <a:sym typeface="Lexend"/>
              </a:rPr>
              <a:t>thi </a:t>
            </a:r>
            <a:r>
              <a:rPr b="1" i="0" lang="en" sz="700" u="none" cap="none" strike="noStrike">
                <a:solidFill>
                  <a:srgbClr val="1F2937"/>
                </a:solidFill>
                <a:latin typeface="Lexend"/>
                <a:ea typeface="Lexend"/>
                <a:cs typeface="Lexend"/>
                <a:sym typeface="Lexend"/>
              </a:rPr>
              <a:t>đua top cho tài xế</a:t>
            </a:r>
            <a:endParaRPr b="0" i="0" sz="700" u="none" cap="none" strike="noStrike">
              <a:solidFill>
                <a:schemeClr val="dk1"/>
              </a:solidFill>
              <a:latin typeface="Calibri"/>
              <a:ea typeface="Calibri"/>
              <a:cs typeface="Calibri"/>
              <a:sym typeface="Calibri"/>
            </a:endParaRPr>
          </a:p>
        </p:txBody>
      </p:sp>
      <p:sp>
        <p:nvSpPr>
          <p:cNvPr id="1977" name="Google Shape;1977;p50"/>
          <p:cNvSpPr/>
          <p:nvPr/>
        </p:nvSpPr>
        <p:spPr>
          <a:xfrm>
            <a:off x="5076464" y="4070088"/>
            <a:ext cx="3879600" cy="151800"/>
          </a:xfrm>
          <a:prstGeom prst="roundRect">
            <a:avLst>
              <a:gd fmla="val 23256" name="adj"/>
            </a:avLst>
          </a:prstGeom>
          <a:solidFill>
            <a:srgbClr val="FF6B35"/>
          </a:solidFill>
          <a:ln cap="flat" cmpd="sng" w="9825">
            <a:solidFill>
              <a:srgbClr val="FF6B35"/>
            </a:solidFill>
            <a:prstDash val="solid"/>
            <a:round/>
            <a:headEnd len="sm" w="sm" type="none"/>
            <a:tailEnd len="sm" w="sm" type="none"/>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78" name="Google Shape;1978;p50"/>
          <p:cNvSpPr/>
          <p:nvPr/>
        </p:nvSpPr>
        <p:spPr>
          <a:xfrm>
            <a:off x="5076464" y="4070088"/>
            <a:ext cx="38796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Lexend"/>
              <a:buNone/>
            </a:pPr>
            <a:r>
              <a:rPr b="1" i="0" lang="en" sz="600" u="none" cap="none" strike="noStrike">
                <a:solidFill>
                  <a:srgbClr val="FFFFFF"/>
                </a:solidFill>
                <a:latin typeface="Lexend"/>
                <a:ea typeface="Lexend"/>
                <a:cs typeface="Lexend"/>
                <a:sym typeface="Lexend"/>
              </a:rPr>
              <a:t>2+ tháng</a:t>
            </a:r>
            <a:endParaRPr b="0" i="0" sz="600" u="none" cap="none" strike="noStrike">
              <a:solidFill>
                <a:schemeClr val="dk1"/>
              </a:solidFill>
              <a:latin typeface="Calibri"/>
              <a:ea typeface="Calibri"/>
              <a:cs typeface="Calibri"/>
              <a:sym typeface="Calibri"/>
            </a:endParaRPr>
          </a:p>
        </p:txBody>
      </p:sp>
      <p:sp>
        <p:nvSpPr>
          <p:cNvPr id="1979" name="Google Shape;1979;p50"/>
          <p:cNvSpPr/>
          <p:nvPr/>
        </p:nvSpPr>
        <p:spPr>
          <a:xfrm>
            <a:off x="355298" y="4268182"/>
            <a:ext cx="2580900" cy="19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937"/>
              </a:buClr>
              <a:buSzPts val="700"/>
              <a:buFont typeface="Lexend"/>
              <a:buNone/>
            </a:pPr>
            <a:r>
              <a:rPr b="0" i="0" lang="en" sz="700" u="none" cap="none" strike="noStrike">
                <a:solidFill>
                  <a:srgbClr val="1F2937"/>
                </a:solidFill>
                <a:latin typeface="Lexend"/>
                <a:ea typeface="Lexend"/>
                <a:cs typeface="Lexend"/>
                <a:sym typeface="Lexend"/>
              </a:rPr>
              <a:t>Tổng kết &amp; </a:t>
            </a:r>
            <a:r>
              <a:rPr lang="en" sz="700">
                <a:solidFill>
                  <a:srgbClr val="1F2937"/>
                </a:solidFill>
                <a:latin typeface="Lexend"/>
                <a:ea typeface="Lexend"/>
                <a:cs typeface="Lexend"/>
                <a:sym typeface="Lexend"/>
              </a:rPr>
              <a:t> Kế hoạch vận hành tiếp theo</a:t>
            </a:r>
            <a:endParaRPr b="0" i="0" sz="700" u="none" cap="none" strike="noStrike">
              <a:solidFill>
                <a:schemeClr val="dk1"/>
              </a:solidFill>
              <a:latin typeface="Calibri"/>
              <a:ea typeface="Calibri"/>
              <a:cs typeface="Calibri"/>
              <a:sym typeface="Calibri"/>
            </a:endParaRPr>
          </a:p>
        </p:txBody>
      </p:sp>
      <p:sp>
        <p:nvSpPr>
          <p:cNvPr id="1980" name="Google Shape;1980;p50"/>
          <p:cNvSpPr/>
          <p:nvPr/>
        </p:nvSpPr>
        <p:spPr>
          <a:xfrm>
            <a:off x="8013034" y="4289285"/>
            <a:ext cx="942600" cy="151800"/>
          </a:xfrm>
          <a:prstGeom prst="roundRect">
            <a:avLst>
              <a:gd fmla="val 23256" name="adj"/>
            </a:avLst>
          </a:prstGeom>
          <a:solidFill>
            <a:srgbClr val="10B981">
              <a:alpha val="54900"/>
            </a:srgbClr>
          </a:solidFill>
          <a:ln>
            <a:noFill/>
          </a:ln>
        </p:spPr>
        <p:txBody>
          <a:bodyPr anchorCtr="0" anchor="ctr" bIns="70700" lIns="70700" spcFirstLastPara="1" rIns="70700" wrap="square" tIns="70700">
            <a:noAutofit/>
          </a:bodyPr>
          <a:lstStyle/>
          <a:p>
            <a:pPr indent="0" lvl="0" marL="0" rtl="0" algn="l">
              <a:spcBef>
                <a:spcPts val="0"/>
              </a:spcBef>
              <a:spcAft>
                <a:spcPts val="0"/>
              </a:spcAft>
              <a:buNone/>
            </a:pPr>
            <a:r>
              <a:t/>
            </a:r>
            <a:endParaRPr/>
          </a:p>
        </p:txBody>
      </p:sp>
      <p:sp>
        <p:nvSpPr>
          <p:cNvPr id="1981" name="Google Shape;1981;p50"/>
          <p:cNvSpPr/>
          <p:nvPr/>
        </p:nvSpPr>
        <p:spPr>
          <a:xfrm>
            <a:off x="7968279" y="4289285"/>
            <a:ext cx="9876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600"/>
              <a:buFont typeface="Lexend"/>
              <a:buNone/>
            </a:pPr>
            <a:r>
              <a:rPr b="1" i="0" lang="en" sz="600" u="none" cap="none" strike="noStrike">
                <a:solidFill>
                  <a:srgbClr val="1F2937"/>
                </a:solidFill>
                <a:latin typeface="Lexend"/>
                <a:ea typeface="Lexend"/>
                <a:cs typeface="Lexend"/>
                <a:sym typeface="Lexend"/>
              </a:rPr>
              <a:t>1 tháng</a:t>
            </a:r>
            <a:endParaRPr b="0" i="0" sz="600" u="none" cap="none" strike="noStrike">
              <a:solidFill>
                <a:schemeClr val="dk1"/>
              </a:solidFill>
              <a:latin typeface="Calibri"/>
              <a:ea typeface="Calibri"/>
              <a:cs typeface="Calibri"/>
              <a:sym typeface="Calibri"/>
            </a:endParaRPr>
          </a:p>
        </p:txBody>
      </p:sp>
      <p:sp>
        <p:nvSpPr>
          <p:cNvPr id="1982" name="Google Shape;1982;p50"/>
          <p:cNvSpPr/>
          <p:nvPr/>
        </p:nvSpPr>
        <p:spPr>
          <a:xfrm>
            <a:off x="5813173" y="4523717"/>
            <a:ext cx="3178500" cy="21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6B35"/>
              </a:buClr>
              <a:buSzPts val="800"/>
              <a:buFont typeface="Lexend"/>
              <a:buNone/>
            </a:pPr>
            <a:r>
              <a:rPr b="1" i="1" lang="en" sz="800" u="none" cap="none" strike="noStrike">
                <a:solidFill>
                  <a:srgbClr val="FF6B35"/>
                </a:solidFill>
                <a:latin typeface="Lexend"/>
                <a:ea typeface="Lexend"/>
                <a:cs typeface="Lexend"/>
                <a:sym typeface="Lexend"/>
              </a:rPr>
              <a:t>★ </a:t>
            </a:r>
            <a:r>
              <a:rPr b="0" i="1" lang="en" sz="800" u="none" cap="none" strike="noStrike">
                <a:solidFill>
                  <a:srgbClr val="1F2937"/>
                </a:solidFill>
                <a:latin typeface="Lexend"/>
                <a:ea typeface="Lexend"/>
                <a:cs typeface="Lexend"/>
                <a:sym typeface="Lexend"/>
              </a:rPr>
              <a:t>Ưu tiên cao (m</a:t>
            </a:r>
            <a:r>
              <a:rPr i="1" lang="en" sz="800">
                <a:solidFill>
                  <a:srgbClr val="1F2937"/>
                </a:solidFill>
                <a:latin typeface="Lexend"/>
                <a:ea typeface="Lexend"/>
                <a:cs typeface="Lexend"/>
                <a:sym typeface="Lexend"/>
              </a:rPr>
              <a:t>àu </a:t>
            </a:r>
            <a:r>
              <a:rPr b="0" i="1" lang="en" sz="800" u="none" cap="none" strike="noStrike">
                <a:solidFill>
                  <a:srgbClr val="1F2937"/>
                </a:solidFill>
                <a:latin typeface="Lexend"/>
                <a:ea typeface="Lexend"/>
                <a:cs typeface="Lexend"/>
                <a:sym typeface="Lexend"/>
              </a:rPr>
              <a:t>đậm)</a:t>
            </a:r>
            <a:r>
              <a:rPr b="0" i="1" lang="en" sz="800" u="none" cap="none" strike="noStrike">
                <a:solidFill>
                  <a:srgbClr val="000000"/>
                </a:solidFill>
                <a:latin typeface="Lexend"/>
                <a:ea typeface="Lexend"/>
                <a:cs typeface="Lexend"/>
                <a:sym typeface="Lexend"/>
              </a:rPr>
              <a:t>        </a:t>
            </a:r>
            <a:r>
              <a:rPr b="0" i="1" lang="en" sz="800" u="none" cap="none" strike="noStrike">
                <a:solidFill>
                  <a:srgbClr val="9CA3AF"/>
                </a:solidFill>
                <a:latin typeface="Lexend"/>
                <a:ea typeface="Lexend"/>
                <a:cs typeface="Lexend"/>
                <a:sym typeface="Lexend"/>
              </a:rPr>
              <a:t>▬ </a:t>
            </a:r>
            <a:r>
              <a:rPr b="0" i="1" lang="en" sz="800" u="none" cap="none" strike="noStrike">
                <a:solidFill>
                  <a:srgbClr val="6B7280"/>
                </a:solidFill>
                <a:latin typeface="Lexend"/>
                <a:ea typeface="Lexend"/>
                <a:cs typeface="Lexend"/>
                <a:sym typeface="Lexend"/>
              </a:rPr>
              <a:t>Ưu tiên trung bình (</a:t>
            </a:r>
            <a:r>
              <a:rPr i="1" lang="en" sz="800">
                <a:solidFill>
                  <a:srgbClr val="6B7280"/>
                </a:solidFill>
                <a:latin typeface="Lexend"/>
                <a:ea typeface="Lexend"/>
                <a:cs typeface="Lexend"/>
                <a:sym typeface="Lexend"/>
              </a:rPr>
              <a:t>màu</a:t>
            </a:r>
            <a:r>
              <a:rPr b="0" i="1" lang="en" sz="800" u="none" cap="none" strike="noStrike">
                <a:solidFill>
                  <a:srgbClr val="6B7280"/>
                </a:solidFill>
                <a:latin typeface="Lexend"/>
                <a:ea typeface="Lexend"/>
                <a:cs typeface="Lexend"/>
                <a:sym typeface="Lexend"/>
              </a:rPr>
              <a:t> nhạt)</a:t>
            </a:r>
            <a:endParaRPr b="0" i="1" sz="800" u="none" cap="none" strike="noStrike">
              <a:solidFill>
                <a:schemeClr val="dk1"/>
              </a:solidFill>
              <a:latin typeface="Calibri"/>
              <a:ea typeface="Calibri"/>
              <a:cs typeface="Calibri"/>
              <a:sym typeface="Calibri"/>
            </a:endParaRPr>
          </a:p>
        </p:txBody>
      </p:sp>
      <p:sp>
        <p:nvSpPr>
          <p:cNvPr id="1983" name="Google Shape;1983;p50"/>
          <p:cNvSpPr/>
          <p:nvPr/>
        </p:nvSpPr>
        <p:spPr>
          <a:xfrm>
            <a:off x="3101454" y="3412515"/>
            <a:ext cx="5854500" cy="15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Lexend"/>
              <a:buNone/>
            </a:pPr>
            <a:r>
              <a:rPr b="1" i="0" lang="en" sz="600" u="none" cap="none" strike="noStrike">
                <a:solidFill>
                  <a:srgbClr val="FFFFFF"/>
                </a:solidFill>
                <a:latin typeface="Lexend"/>
                <a:ea typeface="Lexend"/>
                <a:cs typeface="Lexend"/>
                <a:sym typeface="Lexend"/>
              </a:rPr>
              <a:t>3 tháng</a:t>
            </a:r>
            <a:endParaRPr b="0" i="0" sz="600" u="none" cap="none" strike="noStrike">
              <a:solidFill>
                <a:schemeClr val="dk1"/>
              </a:solidFill>
              <a:latin typeface="Calibri"/>
              <a:ea typeface="Calibri"/>
              <a:cs typeface="Calibri"/>
              <a:sym typeface="Calibri"/>
            </a:endParaRPr>
          </a:p>
        </p:txBody>
      </p:sp>
      <p:cxnSp>
        <p:nvCxnSpPr>
          <p:cNvPr id="1984" name="Google Shape;1984;p50"/>
          <p:cNvCxnSpPr/>
          <p:nvPr/>
        </p:nvCxnSpPr>
        <p:spPr>
          <a:xfrm>
            <a:off x="351691" y="2279495"/>
            <a:ext cx="8629800" cy="0"/>
          </a:xfrm>
          <a:prstGeom prst="straightConnector1">
            <a:avLst/>
          </a:prstGeom>
          <a:noFill/>
          <a:ln cap="flat" cmpd="sng" w="9825">
            <a:solidFill>
              <a:srgbClr val="F3F4F6"/>
            </a:solidFill>
            <a:prstDash val="solid"/>
            <a:round/>
            <a:headEnd len="sm" w="sm" type="none"/>
            <a:tailEnd len="sm" w="sm" type="none"/>
          </a:ln>
        </p:spPr>
      </p:cxnSp>
      <p:cxnSp>
        <p:nvCxnSpPr>
          <p:cNvPr id="1985" name="Google Shape;1985;p50"/>
          <p:cNvCxnSpPr/>
          <p:nvPr/>
        </p:nvCxnSpPr>
        <p:spPr>
          <a:xfrm>
            <a:off x="312506" y="2500337"/>
            <a:ext cx="8664000" cy="0"/>
          </a:xfrm>
          <a:prstGeom prst="straightConnector1">
            <a:avLst/>
          </a:prstGeom>
          <a:noFill/>
          <a:ln cap="flat" cmpd="sng" w="9825">
            <a:solidFill>
              <a:srgbClr val="F3F4F6"/>
            </a:solidFill>
            <a:prstDash val="solid"/>
            <a:round/>
            <a:headEnd len="sm" w="sm" type="none"/>
            <a:tailEnd len="sm" w="sm" type="none"/>
          </a:ln>
        </p:spPr>
      </p:cxnSp>
      <p:cxnSp>
        <p:nvCxnSpPr>
          <p:cNvPr id="1986" name="Google Shape;1986;p50"/>
          <p:cNvCxnSpPr/>
          <p:nvPr/>
        </p:nvCxnSpPr>
        <p:spPr>
          <a:xfrm>
            <a:off x="359636" y="2726360"/>
            <a:ext cx="8621700" cy="0"/>
          </a:xfrm>
          <a:prstGeom prst="straightConnector1">
            <a:avLst/>
          </a:prstGeom>
          <a:noFill/>
          <a:ln cap="flat" cmpd="sng" w="9825">
            <a:solidFill>
              <a:srgbClr val="F3F4F6"/>
            </a:solidFill>
            <a:prstDash val="solid"/>
            <a:round/>
            <a:headEnd len="sm" w="sm" type="none"/>
            <a:tailEnd len="sm" w="sm" type="none"/>
          </a:ln>
        </p:spPr>
      </p:cxnSp>
      <p:cxnSp>
        <p:nvCxnSpPr>
          <p:cNvPr id="1987" name="Google Shape;1987;p50"/>
          <p:cNvCxnSpPr/>
          <p:nvPr/>
        </p:nvCxnSpPr>
        <p:spPr>
          <a:xfrm>
            <a:off x="359636" y="2942060"/>
            <a:ext cx="8637300" cy="0"/>
          </a:xfrm>
          <a:prstGeom prst="straightConnector1">
            <a:avLst/>
          </a:prstGeom>
          <a:noFill/>
          <a:ln cap="flat" cmpd="sng" w="9825">
            <a:solidFill>
              <a:srgbClr val="F3F4F6"/>
            </a:solidFill>
            <a:prstDash val="solid"/>
            <a:round/>
            <a:headEnd len="sm" w="sm" type="none"/>
            <a:tailEnd len="sm" w="sm" type="none"/>
          </a:ln>
        </p:spPr>
      </p:cxnSp>
      <p:cxnSp>
        <p:nvCxnSpPr>
          <p:cNvPr id="1988" name="Google Shape;1988;p50"/>
          <p:cNvCxnSpPr/>
          <p:nvPr/>
        </p:nvCxnSpPr>
        <p:spPr>
          <a:xfrm>
            <a:off x="359636" y="3157760"/>
            <a:ext cx="8632200" cy="0"/>
          </a:xfrm>
          <a:prstGeom prst="straightConnector1">
            <a:avLst/>
          </a:prstGeom>
          <a:noFill/>
          <a:ln cap="flat" cmpd="sng" w="9825">
            <a:solidFill>
              <a:srgbClr val="F3F4F6"/>
            </a:solidFill>
            <a:prstDash val="solid"/>
            <a:round/>
            <a:headEnd len="sm" w="sm" type="none"/>
            <a:tailEnd len="sm" w="sm" type="none"/>
          </a:ln>
        </p:spPr>
      </p:cxnSp>
      <p:cxnSp>
        <p:nvCxnSpPr>
          <p:cNvPr id="1989" name="Google Shape;1989;p50"/>
          <p:cNvCxnSpPr/>
          <p:nvPr/>
        </p:nvCxnSpPr>
        <p:spPr>
          <a:xfrm>
            <a:off x="359636" y="3368317"/>
            <a:ext cx="8616600" cy="0"/>
          </a:xfrm>
          <a:prstGeom prst="straightConnector1">
            <a:avLst/>
          </a:prstGeom>
          <a:noFill/>
          <a:ln cap="flat" cmpd="sng" w="9825">
            <a:solidFill>
              <a:srgbClr val="F3F4F6"/>
            </a:solidFill>
            <a:prstDash val="solid"/>
            <a:round/>
            <a:headEnd len="sm" w="sm" type="none"/>
            <a:tailEnd len="sm" w="sm" type="none"/>
          </a:ln>
        </p:spPr>
      </p:cxnSp>
      <p:cxnSp>
        <p:nvCxnSpPr>
          <p:cNvPr id="1990" name="Google Shape;1990;p50"/>
          <p:cNvCxnSpPr/>
          <p:nvPr/>
        </p:nvCxnSpPr>
        <p:spPr>
          <a:xfrm>
            <a:off x="351691" y="3609767"/>
            <a:ext cx="8640000" cy="0"/>
          </a:xfrm>
          <a:prstGeom prst="straightConnector1">
            <a:avLst/>
          </a:prstGeom>
          <a:noFill/>
          <a:ln cap="flat" cmpd="sng" w="9825">
            <a:solidFill>
              <a:srgbClr val="F3F4F6"/>
            </a:solidFill>
            <a:prstDash val="solid"/>
            <a:round/>
            <a:headEnd len="sm" w="sm" type="none"/>
            <a:tailEnd len="sm" w="sm" type="none"/>
          </a:ln>
        </p:spPr>
      </p:cxnSp>
      <p:cxnSp>
        <p:nvCxnSpPr>
          <p:cNvPr id="1991" name="Google Shape;1991;p50"/>
          <p:cNvCxnSpPr/>
          <p:nvPr/>
        </p:nvCxnSpPr>
        <p:spPr>
          <a:xfrm>
            <a:off x="340904" y="3826723"/>
            <a:ext cx="8632200" cy="0"/>
          </a:xfrm>
          <a:prstGeom prst="straightConnector1">
            <a:avLst/>
          </a:prstGeom>
          <a:noFill/>
          <a:ln cap="flat" cmpd="sng" w="9825">
            <a:solidFill>
              <a:srgbClr val="F3F4F6"/>
            </a:solidFill>
            <a:prstDash val="solid"/>
            <a:round/>
            <a:headEnd len="sm" w="sm" type="none"/>
            <a:tailEnd len="sm" w="sm" type="none"/>
          </a:ln>
        </p:spPr>
      </p:cxnSp>
      <p:cxnSp>
        <p:nvCxnSpPr>
          <p:cNvPr id="1992" name="Google Shape;1992;p50"/>
          <p:cNvCxnSpPr/>
          <p:nvPr/>
        </p:nvCxnSpPr>
        <p:spPr>
          <a:xfrm>
            <a:off x="340904" y="4032119"/>
            <a:ext cx="8632200" cy="0"/>
          </a:xfrm>
          <a:prstGeom prst="straightConnector1">
            <a:avLst/>
          </a:prstGeom>
          <a:noFill/>
          <a:ln cap="flat" cmpd="sng" w="9825">
            <a:solidFill>
              <a:srgbClr val="F3F4F6"/>
            </a:solidFill>
            <a:prstDash val="solid"/>
            <a:round/>
            <a:headEnd len="sm" w="sm" type="none"/>
            <a:tailEnd len="sm" w="sm" type="none"/>
          </a:ln>
        </p:spPr>
      </p:cxnSp>
      <p:cxnSp>
        <p:nvCxnSpPr>
          <p:cNvPr id="1993" name="Google Shape;1993;p50"/>
          <p:cNvCxnSpPr/>
          <p:nvPr/>
        </p:nvCxnSpPr>
        <p:spPr>
          <a:xfrm>
            <a:off x="355635" y="4263284"/>
            <a:ext cx="8632200" cy="0"/>
          </a:xfrm>
          <a:prstGeom prst="straightConnector1">
            <a:avLst/>
          </a:prstGeom>
          <a:noFill/>
          <a:ln cap="flat" cmpd="sng" w="9825">
            <a:solidFill>
              <a:srgbClr val="F3F4F6"/>
            </a:solidFill>
            <a:prstDash val="solid"/>
            <a:round/>
            <a:headEnd len="sm" w="sm" type="none"/>
            <a:tailEnd len="sm" w="sm" type="none"/>
          </a:ln>
        </p:spPr>
      </p:cxnSp>
      <p:cxnSp>
        <p:nvCxnSpPr>
          <p:cNvPr id="1994" name="Google Shape;1994;p50"/>
          <p:cNvCxnSpPr/>
          <p:nvPr/>
        </p:nvCxnSpPr>
        <p:spPr>
          <a:xfrm>
            <a:off x="388034" y="4462572"/>
            <a:ext cx="8632200" cy="0"/>
          </a:xfrm>
          <a:prstGeom prst="straightConnector1">
            <a:avLst/>
          </a:prstGeom>
          <a:noFill/>
          <a:ln cap="flat" cmpd="sng" w="9825">
            <a:solidFill>
              <a:srgbClr val="F3F4F6"/>
            </a:solidFill>
            <a:prstDash val="solid"/>
            <a:round/>
            <a:headEnd len="sm" w="sm" type="none"/>
            <a:tailEnd len="sm" w="sm" type="none"/>
          </a:ln>
        </p:spPr>
      </p:cxnSp>
      <p:sp>
        <p:nvSpPr>
          <p:cNvPr id="1995" name="Google Shape;1995;p50"/>
          <p:cNvSpPr/>
          <p:nvPr/>
        </p:nvSpPr>
        <p:spPr>
          <a:xfrm>
            <a:off x="205738" y="109725"/>
            <a:ext cx="2116200" cy="1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500"/>
              <a:buFont typeface="Lexend"/>
              <a:buNone/>
            </a:pPr>
            <a:r>
              <a:rPr b="1" i="0" lang="en" sz="1000" u="none" cap="none" strike="noStrike">
                <a:solidFill>
                  <a:srgbClr val="FF6B35"/>
                </a:solidFill>
                <a:latin typeface="Lexend"/>
                <a:ea typeface="Lexend"/>
                <a:cs typeface="Lexend"/>
                <a:sym typeface="Lexend"/>
              </a:rPr>
              <a:t>AHAMOVE - MINI</a:t>
            </a:r>
            <a:r>
              <a:rPr b="1" lang="en" sz="1000">
                <a:solidFill>
                  <a:srgbClr val="FF6B35"/>
                </a:solidFill>
                <a:latin typeface="Lexend"/>
                <a:ea typeface="Lexend"/>
                <a:cs typeface="Lexend"/>
                <a:sym typeface="Lexend"/>
              </a:rPr>
              <a:t>HUB LEADER</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0" name="Shape 2000"/>
        <p:cNvGrpSpPr/>
        <p:nvPr/>
      </p:nvGrpSpPr>
      <p:grpSpPr>
        <a:xfrm>
          <a:off x="0" y="0"/>
          <a:ext cx="0" cy="0"/>
          <a:chOff x="0" y="0"/>
          <a:chExt cx="0" cy="0"/>
        </a:xfrm>
      </p:grpSpPr>
      <p:graphicFrame>
        <p:nvGraphicFramePr>
          <p:cNvPr id="2001" name="Google Shape;2001;p51"/>
          <p:cNvGraphicFramePr/>
          <p:nvPr/>
        </p:nvGraphicFramePr>
        <p:xfrm>
          <a:off x="190856" y="3260550"/>
          <a:ext cx="3000000" cy="3000000"/>
        </p:xfrm>
        <a:graphic>
          <a:graphicData uri="http://schemas.openxmlformats.org/drawingml/2006/table">
            <a:tbl>
              <a:tblPr>
                <a:noFill/>
                <a:tableStyleId>{84A9007E-4112-45BC-9D73-1BCF8FDB95CB}</a:tableStyleId>
              </a:tblPr>
              <a:tblGrid>
                <a:gridCol w="1135875"/>
                <a:gridCol w="1512400"/>
                <a:gridCol w="2514775"/>
                <a:gridCol w="1721025"/>
                <a:gridCol w="1721025"/>
              </a:tblGrid>
              <a:tr h="111525">
                <a:tc>
                  <a:txBody>
                    <a:bodyPr/>
                    <a:lstStyle/>
                    <a:p>
                      <a:pPr indent="0" lvl="0" marL="0" rtl="0" algn="ctr">
                        <a:spcBef>
                          <a:spcPts val="0"/>
                        </a:spcBef>
                        <a:spcAft>
                          <a:spcPts val="0"/>
                        </a:spcAft>
                        <a:buNone/>
                      </a:pPr>
                      <a:r>
                        <a:rPr b="1" lang="en" sz="1000">
                          <a:solidFill>
                            <a:schemeClr val="lt1"/>
                          </a:solidFill>
                          <a:latin typeface="Lexend"/>
                          <a:ea typeface="Lexend"/>
                          <a:cs typeface="Lexend"/>
                          <a:sym typeface="Lexend"/>
                        </a:rPr>
                        <a:t>Topic</a:t>
                      </a:r>
                      <a:endParaRPr b="1" sz="1000">
                        <a:solidFill>
                          <a:schemeClr val="lt1"/>
                        </a:solidFill>
                        <a:latin typeface="Lexend"/>
                        <a:ea typeface="Lexend"/>
                        <a:cs typeface="Lexend"/>
                        <a:sym typeface="Lexend"/>
                      </a:endParaRPr>
                    </a:p>
                  </a:txBody>
                  <a:tcPr marT="45725" marB="45725" marR="45725" marL="45725">
                    <a:solidFill>
                      <a:srgbClr val="F56C1F"/>
                    </a:solidFill>
                  </a:tcPr>
                </a:tc>
                <a:tc>
                  <a:txBody>
                    <a:bodyPr/>
                    <a:lstStyle/>
                    <a:p>
                      <a:pPr indent="0" lvl="0" marL="0" rtl="0" algn="ctr">
                        <a:spcBef>
                          <a:spcPts val="0"/>
                        </a:spcBef>
                        <a:spcAft>
                          <a:spcPts val="0"/>
                        </a:spcAft>
                        <a:buNone/>
                      </a:pPr>
                      <a:r>
                        <a:rPr b="1" lang="en" sz="1000">
                          <a:solidFill>
                            <a:schemeClr val="lt1"/>
                          </a:solidFill>
                          <a:latin typeface="Lexend"/>
                          <a:ea typeface="Lexend"/>
                          <a:cs typeface="Lexend"/>
                          <a:sym typeface="Lexend"/>
                        </a:rPr>
                        <a:t>Tasks</a:t>
                      </a:r>
                      <a:endParaRPr b="1" sz="1000">
                        <a:solidFill>
                          <a:schemeClr val="lt1"/>
                        </a:solidFill>
                        <a:latin typeface="Lexend"/>
                        <a:ea typeface="Lexend"/>
                        <a:cs typeface="Lexend"/>
                        <a:sym typeface="Lexend"/>
                      </a:endParaRPr>
                    </a:p>
                  </a:txBody>
                  <a:tcPr marT="45725" marB="45725" marR="45725" marL="45725">
                    <a:solidFill>
                      <a:srgbClr val="F56C1F"/>
                    </a:solidFill>
                  </a:tcPr>
                </a:tc>
                <a:tc>
                  <a:txBody>
                    <a:bodyPr/>
                    <a:lstStyle/>
                    <a:p>
                      <a:pPr indent="0" lvl="0" marL="0" rtl="0" algn="ctr">
                        <a:spcBef>
                          <a:spcPts val="0"/>
                        </a:spcBef>
                        <a:spcAft>
                          <a:spcPts val="0"/>
                        </a:spcAft>
                        <a:buNone/>
                      </a:pPr>
                      <a:r>
                        <a:rPr b="1" lang="en" sz="1000">
                          <a:solidFill>
                            <a:schemeClr val="lt1"/>
                          </a:solidFill>
                          <a:latin typeface="Lexend"/>
                          <a:ea typeface="Lexend"/>
                          <a:cs typeface="Lexend"/>
                          <a:sym typeface="Lexend"/>
                        </a:rPr>
                        <a:t>Mục tiêu</a:t>
                      </a:r>
                      <a:endParaRPr b="1" sz="1000">
                        <a:solidFill>
                          <a:schemeClr val="lt1"/>
                        </a:solidFill>
                        <a:latin typeface="Lexend"/>
                        <a:ea typeface="Lexend"/>
                        <a:cs typeface="Lexend"/>
                        <a:sym typeface="Lexend"/>
                      </a:endParaRPr>
                    </a:p>
                  </a:txBody>
                  <a:tcPr marT="45725" marB="45725" marR="45725" marL="45725">
                    <a:solidFill>
                      <a:srgbClr val="F56C1F"/>
                    </a:solidFill>
                  </a:tcPr>
                </a:tc>
                <a:tc>
                  <a:txBody>
                    <a:bodyPr/>
                    <a:lstStyle/>
                    <a:p>
                      <a:pPr indent="0" lvl="0" marL="0" rtl="0" algn="ctr">
                        <a:spcBef>
                          <a:spcPts val="0"/>
                        </a:spcBef>
                        <a:spcAft>
                          <a:spcPts val="0"/>
                        </a:spcAft>
                        <a:buNone/>
                      </a:pPr>
                      <a:r>
                        <a:rPr b="1" lang="en" sz="1000">
                          <a:solidFill>
                            <a:schemeClr val="lt1"/>
                          </a:solidFill>
                          <a:latin typeface="Lexend"/>
                          <a:ea typeface="Lexend"/>
                          <a:cs typeface="Lexend"/>
                          <a:sym typeface="Lexend"/>
                        </a:rPr>
                        <a:t>Timeline</a:t>
                      </a:r>
                      <a:endParaRPr b="1" sz="1000">
                        <a:solidFill>
                          <a:schemeClr val="lt1"/>
                        </a:solidFill>
                        <a:latin typeface="Lexend"/>
                        <a:ea typeface="Lexend"/>
                        <a:cs typeface="Lexend"/>
                        <a:sym typeface="Lexend"/>
                      </a:endParaRPr>
                    </a:p>
                  </a:txBody>
                  <a:tcPr marT="45725" marB="45725" marR="45725" marL="45725">
                    <a:solidFill>
                      <a:srgbClr val="F56C1F"/>
                    </a:solidFill>
                  </a:tcPr>
                </a:tc>
                <a:tc>
                  <a:txBody>
                    <a:bodyPr/>
                    <a:lstStyle/>
                    <a:p>
                      <a:pPr indent="0" lvl="0" marL="0" rtl="0" algn="ctr">
                        <a:spcBef>
                          <a:spcPts val="0"/>
                        </a:spcBef>
                        <a:spcAft>
                          <a:spcPts val="0"/>
                        </a:spcAft>
                        <a:buNone/>
                      </a:pPr>
                      <a:r>
                        <a:rPr b="1" lang="en" sz="1000">
                          <a:solidFill>
                            <a:schemeClr val="lt1"/>
                          </a:solidFill>
                          <a:latin typeface="Lexend"/>
                          <a:ea typeface="Lexend"/>
                          <a:cs typeface="Lexend"/>
                          <a:sym typeface="Lexend"/>
                        </a:rPr>
                        <a:t>PIC</a:t>
                      </a:r>
                      <a:endParaRPr b="1" sz="1000">
                        <a:solidFill>
                          <a:schemeClr val="lt1"/>
                        </a:solidFill>
                        <a:latin typeface="Lexend"/>
                        <a:ea typeface="Lexend"/>
                        <a:cs typeface="Lexend"/>
                        <a:sym typeface="Lexend"/>
                      </a:endParaRPr>
                    </a:p>
                  </a:txBody>
                  <a:tcPr marT="45725" marB="45725" marR="45725" marL="45725">
                    <a:solidFill>
                      <a:srgbClr val="F56C1F"/>
                    </a:solidFill>
                  </a:tcPr>
                </a:tc>
              </a:tr>
              <a:tr h="243825">
                <a:tc>
                  <a:txBody>
                    <a:bodyPr/>
                    <a:lstStyle/>
                    <a:p>
                      <a:pPr indent="0" lvl="0" marL="0" rtl="0" algn="ctr">
                        <a:spcBef>
                          <a:spcPts val="0"/>
                        </a:spcBef>
                        <a:spcAft>
                          <a:spcPts val="0"/>
                        </a:spcAft>
                        <a:buNone/>
                      </a:pPr>
                      <a:r>
                        <a:rPr b="1" lang="en" sz="1000">
                          <a:latin typeface="Lexend"/>
                          <a:ea typeface="Lexend"/>
                          <a:cs typeface="Lexend"/>
                          <a:sym typeface="Lexend"/>
                        </a:rPr>
                        <a:t>Minihub Leader</a:t>
                      </a:r>
                      <a:endParaRPr b="1" sz="1000">
                        <a:latin typeface="Lexend"/>
                        <a:ea typeface="Lexend"/>
                        <a:cs typeface="Lexend"/>
                        <a:sym typeface="Lexend"/>
                      </a:endParaRPr>
                    </a:p>
                  </a:txBody>
                  <a:tcPr marT="45725" marB="45725" marR="45725" marL="45725" anchor="ctr"/>
                </a:tc>
                <a:tc>
                  <a:txBody>
                    <a:bodyPr/>
                    <a:lstStyle/>
                    <a:p>
                      <a:pPr indent="0" lvl="0" marL="0" rtl="0" algn="ctr">
                        <a:spcBef>
                          <a:spcPts val="0"/>
                        </a:spcBef>
                        <a:spcAft>
                          <a:spcPts val="0"/>
                        </a:spcAft>
                        <a:buNone/>
                      </a:pPr>
                      <a:r>
                        <a:rPr lang="en" sz="1000">
                          <a:latin typeface="Lexend"/>
                          <a:ea typeface="Lexend"/>
                          <a:cs typeface="Lexend"/>
                          <a:sym typeface="Lexend"/>
                        </a:rPr>
                        <a:t>Triển khai GĐ Phase 2 Model</a:t>
                      </a:r>
                      <a:br>
                        <a:rPr lang="en" sz="1000">
                          <a:latin typeface="Lexend"/>
                          <a:ea typeface="Lexend"/>
                          <a:cs typeface="Lexend"/>
                          <a:sym typeface="Lexend"/>
                        </a:rPr>
                      </a:br>
                      <a:r>
                        <a:rPr lang="en" sz="1000">
                          <a:latin typeface="Lexend"/>
                          <a:ea typeface="Lexend"/>
                          <a:cs typeface="Lexend"/>
                          <a:sym typeface="Lexend"/>
                        </a:rPr>
                        <a:t>(</a:t>
                      </a:r>
                      <a:r>
                        <a:rPr b="1" lang="en" sz="1000">
                          <a:latin typeface="Lexend"/>
                          <a:ea typeface="Lexend"/>
                          <a:cs typeface="Lexend"/>
                          <a:sym typeface="Lexend"/>
                        </a:rPr>
                        <a:t>Ưu tiên Final KPIs và </a:t>
                      </a:r>
                      <a:br>
                        <a:rPr b="1" lang="en" sz="1000">
                          <a:latin typeface="Lexend"/>
                          <a:ea typeface="Lexend"/>
                          <a:cs typeface="Lexend"/>
                          <a:sym typeface="Lexend"/>
                        </a:rPr>
                      </a:br>
                      <a:r>
                        <a:rPr b="1" lang="en" sz="1000">
                          <a:latin typeface="Lexend"/>
                          <a:ea typeface="Lexend"/>
                          <a:cs typeface="Lexend"/>
                          <a:sym typeface="Lexend"/>
                        </a:rPr>
                        <a:t>FC Chỉ số theo Ca</a:t>
                      </a:r>
                      <a:r>
                        <a:rPr lang="en" sz="1000">
                          <a:latin typeface="Lexend"/>
                          <a:ea typeface="Lexend"/>
                          <a:cs typeface="Lexend"/>
                          <a:sym typeface="Lexend"/>
                        </a:rPr>
                        <a:t>)</a:t>
                      </a:r>
                      <a:endParaRPr sz="1000">
                        <a:latin typeface="Lexend"/>
                        <a:ea typeface="Lexend"/>
                        <a:cs typeface="Lexend"/>
                        <a:sym typeface="Lexend"/>
                      </a:endParaRPr>
                    </a:p>
                  </a:txBody>
                  <a:tcPr marT="45725" marB="45725" marR="45725" marL="45725"/>
                </a:tc>
                <a:tc>
                  <a:txBody>
                    <a:bodyPr/>
                    <a:lstStyle/>
                    <a:p>
                      <a:pPr indent="0" lvl="0" marL="0" rtl="0" algn="l">
                        <a:spcBef>
                          <a:spcPts val="0"/>
                        </a:spcBef>
                        <a:spcAft>
                          <a:spcPts val="0"/>
                        </a:spcAft>
                        <a:buNone/>
                      </a:pPr>
                      <a:r>
                        <a:rPr lang="en" sz="1000">
                          <a:latin typeface="Lexend"/>
                          <a:ea typeface="Lexend"/>
                          <a:cs typeface="Lexend"/>
                          <a:sym typeface="Lexend"/>
                        </a:rPr>
                        <a:t>- ROI mô hình: tiến gần 0%</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Capacity utilization (TX/Leader): </a:t>
                      </a:r>
                      <a:r>
                        <a:rPr lang="en" sz="1000">
                          <a:solidFill>
                            <a:schemeClr val="dk1"/>
                          </a:solidFill>
                          <a:latin typeface="Lexend"/>
                          <a:ea typeface="Lexend"/>
                          <a:cs typeface="Lexend"/>
                          <a:sym typeface="Lexend"/>
                        </a:rPr>
                        <a:t>70-80% (60-65 TX/Leader)</a:t>
                      </a:r>
                      <a:endParaRPr sz="1000">
                        <a:latin typeface="Lexend"/>
                        <a:ea typeface="Lexend"/>
                        <a:cs typeface="Lexend"/>
                        <a:sym typeface="Lexend"/>
                      </a:endParaRPr>
                    </a:p>
                    <a:p>
                      <a:pPr indent="0" lvl="0" marL="0" rtl="0" algn="l">
                        <a:spcBef>
                          <a:spcPts val="0"/>
                        </a:spcBef>
                        <a:spcAft>
                          <a:spcPts val="0"/>
                        </a:spcAft>
                        <a:buNone/>
                      </a:pPr>
                      <a:r>
                        <a:rPr lang="en" sz="1000">
                          <a:latin typeface="Lexend"/>
                          <a:ea typeface="Lexend"/>
                          <a:cs typeface="Lexend"/>
                          <a:sym typeface="Lexend"/>
                        </a:rPr>
                        <a:t>- % Hoàn thành kế hoạch ca:  ≥80% </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Update Weekly</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Lượng</a:t>
                      </a:r>
                      <a:endParaRPr sz="1000">
                        <a:latin typeface="Lexend"/>
                        <a:ea typeface="Lexend"/>
                        <a:cs typeface="Lexend"/>
                        <a:sym typeface="Lexend"/>
                      </a:endParaRPr>
                    </a:p>
                  </a:txBody>
                  <a:tcPr marT="45725" marB="45725" marR="45725" marL="45725"/>
                </a:tc>
              </a:tr>
              <a:tr h="190500">
                <a:tc>
                  <a:txBody>
                    <a:bodyPr/>
                    <a:lstStyle/>
                    <a:p>
                      <a:pPr indent="0" lvl="0" marL="0" rtl="0" algn="ctr">
                        <a:spcBef>
                          <a:spcPts val="0"/>
                        </a:spcBef>
                        <a:spcAft>
                          <a:spcPts val="0"/>
                        </a:spcAft>
                        <a:buNone/>
                      </a:pPr>
                      <a:r>
                        <a:rPr b="1" lang="en" sz="1000">
                          <a:latin typeface="Lexend"/>
                          <a:ea typeface="Lexend"/>
                          <a:cs typeface="Lexend"/>
                          <a:sym typeface="Lexend"/>
                        </a:rPr>
                        <a:t>AI Project</a:t>
                      </a:r>
                      <a:endParaRPr b="1"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Update BRD</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Fill Tech new Request (Doc + Target)</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09.09</a:t>
                      </a:r>
                      <a:endParaRPr sz="1000">
                        <a:latin typeface="Lexend"/>
                        <a:ea typeface="Lexend"/>
                        <a:cs typeface="Lexend"/>
                        <a:sym typeface="Lexend"/>
                      </a:endParaRPr>
                    </a:p>
                  </a:txBody>
                  <a:tcPr marT="45725" marB="45725" marR="45725" marL="45725"/>
                </a:tc>
                <a:tc>
                  <a:txBody>
                    <a:bodyPr/>
                    <a:lstStyle/>
                    <a:p>
                      <a:pPr indent="0" lvl="0" marL="0" rtl="0" algn="ctr">
                        <a:spcBef>
                          <a:spcPts val="0"/>
                        </a:spcBef>
                        <a:spcAft>
                          <a:spcPts val="0"/>
                        </a:spcAft>
                        <a:buNone/>
                      </a:pPr>
                      <a:r>
                        <a:rPr lang="en" sz="1000">
                          <a:latin typeface="Lexend"/>
                          <a:ea typeface="Lexend"/>
                          <a:cs typeface="Lexend"/>
                          <a:sym typeface="Lexend"/>
                        </a:rPr>
                        <a:t>Lượng (Khanh SP)</a:t>
                      </a:r>
                      <a:endParaRPr sz="1000">
                        <a:latin typeface="Lexend"/>
                        <a:ea typeface="Lexend"/>
                        <a:cs typeface="Lexend"/>
                        <a:sym typeface="Lexend"/>
                      </a:endParaRPr>
                    </a:p>
                  </a:txBody>
                  <a:tcPr marT="45725" marB="45725" marR="45725" marL="45725"/>
                </a:tc>
              </a:tr>
            </a:tbl>
          </a:graphicData>
        </a:graphic>
      </p:graphicFrame>
      <p:sp>
        <p:nvSpPr>
          <p:cNvPr id="2002" name="Google Shape;2002;p51"/>
          <p:cNvSpPr/>
          <p:nvPr/>
        </p:nvSpPr>
        <p:spPr>
          <a:xfrm>
            <a:off x="190868" y="3020552"/>
            <a:ext cx="8229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lang="en" sz="1100">
                <a:solidFill>
                  <a:srgbClr val="FF6B35"/>
                </a:solidFill>
                <a:latin typeface="Lexend"/>
                <a:ea typeface="Lexend"/>
                <a:cs typeface="Lexend"/>
                <a:sym typeface="Lexend"/>
              </a:rPr>
              <a:t>NEXT ACTION T9</a:t>
            </a:r>
            <a:endParaRPr b="0" i="0" sz="1100" u="none" cap="none" strike="noStrike">
              <a:solidFill>
                <a:schemeClr val="dk1"/>
              </a:solidFill>
              <a:latin typeface="Calibri"/>
              <a:ea typeface="Calibri"/>
              <a:cs typeface="Calibri"/>
              <a:sym typeface="Calibri"/>
            </a:endParaRPr>
          </a:p>
        </p:txBody>
      </p:sp>
      <p:sp>
        <p:nvSpPr>
          <p:cNvPr id="2003" name="Google Shape;2003;p51"/>
          <p:cNvSpPr/>
          <p:nvPr/>
        </p:nvSpPr>
        <p:spPr>
          <a:xfrm>
            <a:off x="216168" y="154240"/>
            <a:ext cx="8229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Lexend"/>
              <a:buNone/>
            </a:pPr>
            <a:r>
              <a:rPr lang="en" sz="1100">
                <a:solidFill>
                  <a:srgbClr val="FF6B35"/>
                </a:solidFill>
                <a:latin typeface="Lexend"/>
                <a:ea typeface="Lexend"/>
                <a:cs typeface="Lexend"/>
                <a:sym typeface="Lexend"/>
              </a:rPr>
              <a:t>INNOVATION PROJECT OKRs OVERVIEW</a:t>
            </a:r>
            <a:endParaRPr b="0" i="0" sz="1100" u="none" cap="none" strike="noStrike">
              <a:solidFill>
                <a:schemeClr val="dk1"/>
              </a:solidFill>
              <a:latin typeface="Calibri"/>
              <a:ea typeface="Calibri"/>
              <a:cs typeface="Calibri"/>
              <a:sym typeface="Calibri"/>
            </a:endParaRPr>
          </a:p>
        </p:txBody>
      </p:sp>
      <p:graphicFrame>
        <p:nvGraphicFramePr>
          <p:cNvPr id="2004" name="Google Shape;2004;p51"/>
          <p:cNvGraphicFramePr/>
          <p:nvPr/>
        </p:nvGraphicFramePr>
        <p:xfrm>
          <a:off x="378563" y="449200"/>
          <a:ext cx="3000000" cy="3000000"/>
        </p:xfrm>
        <a:graphic>
          <a:graphicData uri="http://schemas.openxmlformats.org/drawingml/2006/table">
            <a:tbl>
              <a:tblPr>
                <a:noFill/>
                <a:tableStyleId>{38C11DD4-BB49-442A-9D9A-3CC21BB04833}</a:tableStyleId>
              </a:tblPr>
              <a:tblGrid>
                <a:gridCol w="412850"/>
                <a:gridCol w="3807300"/>
                <a:gridCol w="1105350"/>
                <a:gridCol w="780875"/>
                <a:gridCol w="1569625"/>
                <a:gridCol w="553650"/>
              </a:tblGrid>
              <a:tr h="192550">
                <a:tc gridSpan="2">
                  <a:txBody>
                    <a:bodyPr/>
                    <a:lstStyle/>
                    <a:p>
                      <a:pPr indent="0" lvl="0" marL="0" rtl="0" algn="ctr">
                        <a:lnSpc>
                          <a:spcPct val="115000"/>
                        </a:lnSpc>
                        <a:spcBef>
                          <a:spcPts val="0"/>
                        </a:spcBef>
                        <a:spcAft>
                          <a:spcPts val="0"/>
                        </a:spcAft>
                        <a:buNone/>
                      </a:pPr>
                      <a:r>
                        <a:rPr b="1" lang="en" sz="1000">
                          <a:solidFill>
                            <a:srgbClr val="FFFFFF"/>
                          </a:solidFill>
                          <a:latin typeface="Lexend"/>
                          <a:ea typeface="Lexend"/>
                          <a:cs typeface="Lexend"/>
                          <a:sym typeface="Lexend"/>
                        </a:rPr>
                        <a:t>OKRs</a:t>
                      </a:r>
                      <a:endParaRPr b="1" sz="10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hMerge="1"/>
                <a:tc>
                  <a:txBody>
                    <a:bodyPr/>
                    <a:lstStyle/>
                    <a:p>
                      <a:pPr indent="0" lvl="0" marL="0" rtl="0" algn="ctr">
                        <a:lnSpc>
                          <a:spcPct val="115000"/>
                        </a:lnSpc>
                        <a:spcBef>
                          <a:spcPts val="0"/>
                        </a:spcBef>
                        <a:spcAft>
                          <a:spcPts val="0"/>
                        </a:spcAft>
                        <a:buNone/>
                      </a:pPr>
                      <a:r>
                        <a:rPr b="1" lang="en" sz="1000">
                          <a:solidFill>
                            <a:srgbClr val="FFFFFF"/>
                          </a:solidFill>
                          <a:latin typeface="Lexend"/>
                          <a:ea typeface="Lexend"/>
                          <a:cs typeface="Lexend"/>
                          <a:sym typeface="Lexend"/>
                        </a:rPr>
                        <a:t>Target</a:t>
                      </a:r>
                      <a:endParaRPr b="1" sz="10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 sz="1000">
                          <a:solidFill>
                            <a:srgbClr val="FFFFFF"/>
                          </a:solidFill>
                          <a:latin typeface="Lexend"/>
                          <a:ea typeface="Lexend"/>
                          <a:cs typeface="Lexend"/>
                          <a:sym typeface="Lexend"/>
                        </a:rPr>
                        <a:t>Status</a:t>
                      </a:r>
                      <a:endParaRPr b="1" sz="10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 sz="1000">
                          <a:solidFill>
                            <a:srgbClr val="FFFFFF"/>
                          </a:solidFill>
                          <a:latin typeface="Lexend"/>
                          <a:ea typeface="Lexend"/>
                          <a:cs typeface="Lexend"/>
                          <a:sym typeface="Lexend"/>
                        </a:rPr>
                        <a:t>Actual</a:t>
                      </a:r>
                      <a:endParaRPr b="1" sz="10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 sz="1000">
                          <a:solidFill>
                            <a:srgbClr val="FFFFFF"/>
                          </a:solidFill>
                          <a:latin typeface="Lexend"/>
                          <a:ea typeface="Lexend"/>
                          <a:cs typeface="Lexend"/>
                          <a:sym typeface="Lexend"/>
                        </a:rPr>
                        <a:t>Achieve</a:t>
                      </a:r>
                      <a:endParaRPr b="1" sz="1000">
                        <a:solidFill>
                          <a:srgbClr val="FFFFFF"/>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1C4587"/>
                    </a:solidFill>
                  </a:tcPr>
                </a:tc>
              </a:tr>
              <a:tr h="244700">
                <a:tc gridSpan="6">
                  <a:txBody>
                    <a:bodyPr/>
                    <a:lstStyle/>
                    <a:p>
                      <a:pPr indent="0" lvl="0" marL="0" rtl="0" algn="ctr">
                        <a:lnSpc>
                          <a:spcPct val="115000"/>
                        </a:lnSpc>
                        <a:spcBef>
                          <a:spcPts val="0"/>
                        </a:spcBef>
                        <a:spcAft>
                          <a:spcPts val="0"/>
                        </a:spcAft>
                        <a:buNone/>
                      </a:pPr>
                      <a:r>
                        <a:rPr b="1" lang="en" sz="900">
                          <a:latin typeface="Lexend"/>
                          <a:ea typeface="Lexend"/>
                          <a:cs typeface="Lexend"/>
                          <a:sym typeface="Lexend"/>
                        </a:rPr>
                        <a:t>O2: Scale mạng lưới Minihub với chất lượng &amp; chi phí tối ưu</a:t>
                      </a:r>
                      <a:endParaRPr b="1"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3F3F3"/>
                    </a:solidFill>
                  </a:tcPr>
                </a:tc>
                <a:tc hMerge="1"/>
                <a:tc hMerge="1"/>
                <a:tc hMerge="1"/>
                <a:tc hMerge="1"/>
                <a:tc hMerge="1"/>
              </a:tr>
              <a:tr h="469600">
                <a:tc>
                  <a:txBody>
                    <a:bodyPr/>
                    <a:lstStyle/>
                    <a:p>
                      <a:pPr indent="0" lvl="0" marL="0" rtl="0" algn="ctr">
                        <a:lnSpc>
                          <a:spcPct val="115000"/>
                        </a:lnSpc>
                        <a:spcBef>
                          <a:spcPts val="0"/>
                        </a:spcBef>
                        <a:spcAft>
                          <a:spcPts val="0"/>
                        </a:spcAft>
                        <a:buNone/>
                      </a:pPr>
                      <a:r>
                        <a:rPr lang="en" sz="900">
                          <a:latin typeface="Lexend"/>
                          <a:ea typeface="Lexend"/>
                          <a:cs typeface="Lexend"/>
                          <a:sym typeface="Lexend"/>
                        </a:rPr>
                        <a:t>2.4</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900">
                          <a:solidFill>
                            <a:srgbClr val="212529"/>
                          </a:solidFill>
                          <a:latin typeface="Lexend"/>
                          <a:ea typeface="Lexend"/>
                          <a:cs typeface="Lexend"/>
                          <a:sym typeface="Lexend"/>
                        </a:rPr>
                        <a:t>Chuẩn hoá 100% MiniHub Captain có chân dung/KPI; đo hiệu quả qua bộ chỉ số vận hành &amp; cost-to-serve</a:t>
                      </a:r>
                      <a:endParaRPr sz="900">
                        <a:solidFill>
                          <a:srgbClr val="212529"/>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900">
                          <a:latin typeface="Lexend"/>
                          <a:ea typeface="Lexend"/>
                          <a:cs typeface="Lexend"/>
                          <a:sym typeface="Lexend"/>
                        </a:rPr>
                        <a:t>Pnl mô hình </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600"/>
                        <a:buFont typeface="Arial"/>
                        <a:buNone/>
                      </a:pPr>
                      <a:r>
                        <a:rPr lang="en" sz="900">
                          <a:solidFill>
                            <a:srgbClr val="34A853"/>
                          </a:solidFill>
                          <a:latin typeface="Lexend"/>
                          <a:ea typeface="Lexend"/>
                          <a:cs typeface="Lexend"/>
                          <a:sym typeface="Lexend"/>
                        </a:rPr>
                        <a:t>Doing</a:t>
                      </a:r>
                      <a:endParaRPr sz="900">
                        <a:solidFill>
                          <a:srgbClr val="34A853"/>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Lexend"/>
                          <a:ea typeface="Lexend"/>
                          <a:cs typeface="Lexend"/>
                          <a:sym typeface="Lexend"/>
                        </a:rPr>
                        <a:t>- Hoàn thành đánh giá Sơ bộ và planning 3 mons </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600"/>
                        <a:buFont typeface="Arial"/>
                        <a:buNone/>
                      </a:pPr>
                      <a:r>
                        <a:rPr lang="en" sz="900">
                          <a:latin typeface="Lexend"/>
                          <a:ea typeface="Lexend"/>
                          <a:cs typeface="Lexend"/>
                          <a:sym typeface="Lexend"/>
                        </a:rPr>
                        <a:t>80%</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r>
              <a:tr h="192550">
                <a:tc gridSpan="6">
                  <a:txBody>
                    <a:bodyPr/>
                    <a:lstStyle/>
                    <a:p>
                      <a:pPr indent="0" lvl="0" marL="0" rtl="0" algn="l">
                        <a:lnSpc>
                          <a:spcPct val="115000"/>
                        </a:lnSpc>
                        <a:spcBef>
                          <a:spcPts val="0"/>
                        </a:spcBef>
                        <a:spcAft>
                          <a:spcPts val="0"/>
                        </a:spcAft>
                        <a:buNone/>
                      </a:pPr>
                      <a:r>
                        <a:rPr b="1" lang="en" sz="900">
                          <a:latin typeface="Lexend"/>
                          <a:ea typeface="Lexend"/>
                          <a:cs typeface="Lexend"/>
                          <a:sym typeface="Lexend"/>
                        </a:rPr>
                        <a:t>O4: Ứng dụng AI và automation để tăng năng suất và hiệu quả vận hành</a:t>
                      </a:r>
                      <a:endParaRPr b="1"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3F3F3"/>
                    </a:solidFill>
                  </a:tcPr>
                </a:tc>
                <a:tc hMerge="1"/>
                <a:tc hMerge="1"/>
                <a:tc hMerge="1"/>
                <a:tc hMerge="1"/>
                <a:tc hMerge="1"/>
              </a:tr>
              <a:tr h="540050">
                <a:tc>
                  <a:txBody>
                    <a:bodyPr/>
                    <a:lstStyle/>
                    <a:p>
                      <a:pPr indent="0" lvl="0" marL="0" rtl="0" algn="ctr">
                        <a:lnSpc>
                          <a:spcPct val="115000"/>
                        </a:lnSpc>
                        <a:spcBef>
                          <a:spcPts val="0"/>
                        </a:spcBef>
                        <a:spcAft>
                          <a:spcPts val="0"/>
                        </a:spcAft>
                        <a:buNone/>
                      </a:pPr>
                      <a:r>
                        <a:rPr lang="en" sz="900">
                          <a:latin typeface="Lexend"/>
                          <a:ea typeface="Lexend"/>
                          <a:cs typeface="Lexend"/>
                          <a:sym typeface="Lexend"/>
                        </a:rPr>
                        <a:t>4.1</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900">
                          <a:solidFill>
                            <a:srgbClr val="212529"/>
                          </a:solidFill>
                          <a:latin typeface="Lexend"/>
                          <a:ea typeface="Lexend"/>
                          <a:cs typeface="Lexend"/>
                          <a:sym typeface="Lexend"/>
                        </a:rPr>
                        <a:t>Align với Tech về roadmap triển khai tương ứng với các feature release</a:t>
                      </a:r>
                      <a:endParaRPr sz="900">
                        <a:solidFill>
                          <a:srgbClr val="212529"/>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900">
                          <a:latin typeface="Lexend"/>
                          <a:ea typeface="Lexend"/>
                          <a:cs typeface="Lexend"/>
                          <a:sym typeface="Lexend"/>
                        </a:rPr>
                        <a:t>Xác định Nhu cầu (Painpoints TX)</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rgbClr val="F1C232"/>
                          </a:solidFill>
                          <a:latin typeface="Lexend"/>
                          <a:ea typeface="Lexend"/>
                          <a:cs typeface="Lexend"/>
                          <a:sym typeface="Lexend"/>
                        </a:rPr>
                        <a:t>Not yet</a:t>
                      </a:r>
                      <a:endParaRPr sz="900">
                        <a:solidFill>
                          <a:srgbClr val="F1C232"/>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600"/>
                        <a:buFont typeface="Arial"/>
                        <a:buNone/>
                      </a:pPr>
                      <a:r>
                        <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Lexend"/>
                          <a:ea typeface="Lexend"/>
                          <a:cs typeface="Lexend"/>
                          <a:sym typeface="Lexend"/>
                        </a:rPr>
                        <a:t>0%</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r>
              <a:tr h="713800">
                <a:tc>
                  <a:txBody>
                    <a:bodyPr/>
                    <a:lstStyle/>
                    <a:p>
                      <a:pPr indent="0" lvl="0" marL="0" rtl="0" algn="ctr">
                        <a:lnSpc>
                          <a:spcPct val="115000"/>
                        </a:lnSpc>
                        <a:spcBef>
                          <a:spcPts val="0"/>
                        </a:spcBef>
                        <a:spcAft>
                          <a:spcPts val="0"/>
                        </a:spcAft>
                        <a:buNone/>
                      </a:pPr>
                      <a:r>
                        <a:rPr lang="en" sz="900">
                          <a:latin typeface="Lexend"/>
                          <a:ea typeface="Lexend"/>
                          <a:cs typeface="Lexend"/>
                          <a:sym typeface="Lexend"/>
                        </a:rPr>
                        <a:t>4.2</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900">
                          <a:solidFill>
                            <a:srgbClr val="212529"/>
                          </a:solidFill>
                          <a:latin typeface="Lexend"/>
                          <a:ea typeface="Lexend"/>
                          <a:cs typeface="Lexend"/>
                          <a:sym typeface="Lexend"/>
                        </a:rPr>
                        <a:t>Xác định source AI sử dụng (sổ tay) --&gt; Thực hiện rà soát toàn bộ nội dung</a:t>
                      </a:r>
                      <a:endParaRPr sz="900">
                        <a:solidFill>
                          <a:srgbClr val="212529"/>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900">
                          <a:latin typeface="Lexend"/>
                          <a:ea typeface="Lexend"/>
                          <a:cs typeface="Lexend"/>
                          <a:sym typeface="Lexend"/>
                        </a:rPr>
                        <a:t>Centralize các Learning materials cho Trợ lý AI</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rgbClr val="34A853"/>
                          </a:solidFill>
                          <a:latin typeface="Lexend"/>
                          <a:ea typeface="Lexend"/>
                          <a:cs typeface="Lexend"/>
                          <a:sym typeface="Lexend"/>
                        </a:rPr>
                        <a:t>Doing</a:t>
                      </a:r>
                      <a:endParaRPr sz="900">
                        <a:solidFill>
                          <a:srgbClr val="F1C232"/>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000000"/>
                          </a:solidFill>
                          <a:latin typeface="Lexend"/>
                          <a:ea typeface="Lexend"/>
                          <a:cs typeface="Lexend"/>
                          <a:sym typeface="Lexend"/>
                        </a:rPr>
                        <a:t>- Đánh giá sơ bộ AI function</a:t>
                      </a:r>
                      <a:br>
                        <a:rPr lang="en" sz="900">
                          <a:solidFill>
                            <a:srgbClr val="000000"/>
                          </a:solidFill>
                          <a:latin typeface="Lexend"/>
                          <a:ea typeface="Lexend"/>
                          <a:cs typeface="Lexend"/>
                          <a:sym typeface="Lexend"/>
                        </a:rPr>
                      </a:br>
                      <a:r>
                        <a:rPr lang="en" sz="900">
                          <a:solidFill>
                            <a:srgbClr val="000000"/>
                          </a:solidFill>
                          <a:latin typeface="Lexend"/>
                          <a:ea typeface="Lexend"/>
                          <a:cs typeface="Lexend"/>
                          <a:sym typeface="Lexend"/>
                        </a:rPr>
                        <a:t>- Kick off meeting các stakeholders</a:t>
                      </a:r>
                      <a:endParaRPr sz="900">
                        <a:solidFill>
                          <a:srgbClr val="000000"/>
                        </a:solidFill>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Lexend"/>
                          <a:ea typeface="Lexend"/>
                          <a:cs typeface="Lexend"/>
                          <a:sym typeface="Lexend"/>
                        </a:rPr>
                        <a:t>30%</a:t>
                      </a:r>
                      <a:endParaRPr sz="900">
                        <a:latin typeface="Lexend"/>
                        <a:ea typeface="Lexend"/>
                        <a:cs typeface="Lexend"/>
                        <a:sym typeface="Lexend"/>
                      </a:endParaRPr>
                    </a:p>
                  </a:txBody>
                  <a:tcPr marT="9525" marB="9525" marR="14300" marL="14300" anchor="ctr">
                    <a:lnL cap="flat" cmpd="sng" w="4775">
                      <a:solidFill>
                        <a:srgbClr val="999999"/>
                      </a:solidFill>
                      <a:prstDash val="solid"/>
                      <a:round/>
                      <a:headEnd len="sm" w="sm" type="none"/>
                      <a:tailEnd len="sm" w="sm" type="none"/>
                    </a:lnL>
                    <a:lnR cap="flat" cmpd="sng" w="4775">
                      <a:solidFill>
                        <a:srgbClr val="999999"/>
                      </a:solidFill>
                      <a:prstDash val="solid"/>
                      <a:round/>
                      <a:headEnd len="sm" w="sm" type="none"/>
                      <a:tailEnd len="sm" w="sm" type="none"/>
                    </a:lnR>
                    <a:lnT cap="flat" cmpd="sng" w="4775">
                      <a:solidFill>
                        <a:srgbClr val="999999"/>
                      </a:solidFill>
                      <a:prstDash val="solid"/>
                      <a:round/>
                      <a:headEnd len="sm" w="sm" type="none"/>
                      <a:tailEnd len="sm" w="sm" type="none"/>
                    </a:lnT>
                    <a:lnB cap="flat" cmpd="sng" w="4775">
                      <a:solidFill>
                        <a:srgbClr val="999999"/>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