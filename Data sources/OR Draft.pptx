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Nunito ExtraBold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ExtraBold-boldItalic.fntdata"/><Relationship Id="rId14" Type="http://schemas.openxmlformats.org/officeDocument/2006/relationships/font" Target="fonts/Nunito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872b71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3872b71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872b71c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3872b71c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872b71c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3872b71c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>
            <a:off x="2141750" y="328400"/>
            <a:ext cx="6657000" cy="0"/>
          </a:xfrm>
          <a:prstGeom prst="straightConnector1">
            <a:avLst/>
          </a:prstGeom>
          <a:noFill/>
          <a:ln cap="flat" cmpd="sng" w="19050">
            <a:solidFill>
              <a:srgbClr val="1255CC"/>
            </a:solidFill>
            <a:prstDash val="solid"/>
            <a:round/>
            <a:headEnd len="med" w="med" type="oval"/>
            <a:tailEnd len="med" w="med" type="none"/>
          </a:ln>
        </p:spPr>
      </p:cxnSp>
      <p:grpSp>
        <p:nvGrpSpPr>
          <p:cNvPr id="61" name="Google Shape;61;p14"/>
          <p:cNvGrpSpPr/>
          <p:nvPr/>
        </p:nvGrpSpPr>
        <p:grpSpPr>
          <a:xfrm>
            <a:off x="171050" y="855399"/>
            <a:ext cx="4315500" cy="2955600"/>
            <a:chOff x="256400" y="668825"/>
            <a:chExt cx="4315500" cy="2955600"/>
          </a:xfrm>
        </p:grpSpPr>
        <p:sp>
          <p:nvSpPr>
            <p:cNvPr id="62" name="Google Shape;62;p14"/>
            <p:cNvSpPr/>
            <p:nvPr/>
          </p:nvSpPr>
          <p:spPr>
            <a:xfrm>
              <a:off x="256400" y="668825"/>
              <a:ext cx="4315500" cy="2955600"/>
            </a:xfrm>
            <a:prstGeom prst="roundRect">
              <a:avLst>
                <a:gd fmla="val 16667" name="adj"/>
              </a:avLst>
            </a:prstGeom>
            <a:solidFill>
              <a:srgbClr val="F2F5F7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 title="Chart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6050" y="1196975"/>
              <a:ext cx="3796175" cy="23412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4"/>
            <p:cNvSpPr txBox="1"/>
            <p:nvPr/>
          </p:nvSpPr>
          <p:spPr>
            <a:xfrm>
              <a:off x="656625" y="668825"/>
              <a:ext cx="2048400" cy="6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B5394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HAN - BAGA REQUEST</a:t>
              </a:r>
              <a:endParaRPr sz="1200">
                <a:solidFill>
                  <a:srgbClr val="0B5394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4657450" y="855399"/>
            <a:ext cx="4315500" cy="2955600"/>
            <a:chOff x="4742800" y="668825"/>
            <a:chExt cx="4315500" cy="2955600"/>
          </a:xfrm>
        </p:grpSpPr>
        <p:sp>
          <p:nvSpPr>
            <p:cNvPr id="66" name="Google Shape;66;p14"/>
            <p:cNvSpPr/>
            <p:nvPr/>
          </p:nvSpPr>
          <p:spPr>
            <a:xfrm>
              <a:off x="4742800" y="668825"/>
              <a:ext cx="4315500" cy="2955600"/>
            </a:xfrm>
            <a:prstGeom prst="roundRect">
              <a:avLst>
                <a:gd fmla="val 16667" name="adj"/>
              </a:avLst>
            </a:prstGeom>
            <a:solidFill>
              <a:srgbClr val="F2F5F7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" name="Google Shape;67;p14" title="Chart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02463" y="1196975"/>
              <a:ext cx="3796175" cy="2341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4"/>
            <p:cNvSpPr txBox="1"/>
            <p:nvPr/>
          </p:nvSpPr>
          <p:spPr>
            <a:xfrm>
              <a:off x="5143013" y="732850"/>
              <a:ext cx="2048400" cy="6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B5394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SGN - BAGA REQUEST</a:t>
              </a:r>
              <a:endParaRPr sz="1200">
                <a:solidFill>
                  <a:srgbClr val="0B5394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sp>
        <p:nvSpPr>
          <p:cNvPr id="69" name="Google Shape;69;p14"/>
          <p:cNvSpPr txBox="1"/>
          <p:nvPr/>
        </p:nvSpPr>
        <p:spPr>
          <a:xfrm>
            <a:off x="211349" y="2925"/>
            <a:ext cx="25785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255C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BAGA PROJECT</a:t>
            </a:r>
            <a:endParaRPr sz="1700">
              <a:solidFill>
                <a:srgbClr val="1255CC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32450" y="4214775"/>
            <a:ext cx="8879100" cy="885600"/>
          </a:xfrm>
          <a:prstGeom prst="roundRect">
            <a:avLst>
              <a:gd fmla="val 10345" name="adj"/>
            </a:avLst>
          </a:prstGeom>
          <a:solidFill>
            <a:srgbClr val="F9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marR="73542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"/>
              <a:buChar char="●"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Tỷ trọng đơn hàng Baga chiếm ~14% tổng request BIKE và ECO nationwide. Dao động 6k request/ ngày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85750" lvl="0" marL="457200" marR="73542" rtl="0" algn="just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900"/>
              <a:buFont typeface="Nunito"/>
              <a:buChar char="●"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Demand baga tăng trưởng WoW trong khi demand chung đang có xu hướng giảm -&gt; tín hiệu demand tăng trưởng tốt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5"/>
          <p:cNvCxnSpPr/>
          <p:nvPr/>
        </p:nvCxnSpPr>
        <p:spPr>
          <a:xfrm>
            <a:off x="2141750" y="328400"/>
            <a:ext cx="6657000" cy="0"/>
          </a:xfrm>
          <a:prstGeom prst="straightConnector1">
            <a:avLst/>
          </a:prstGeom>
          <a:noFill/>
          <a:ln cap="flat" cmpd="sng" w="19050">
            <a:solidFill>
              <a:srgbClr val="1255CC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6" name="Google Shape;76;p15"/>
          <p:cNvSpPr txBox="1"/>
          <p:nvPr/>
        </p:nvSpPr>
        <p:spPr>
          <a:xfrm>
            <a:off x="211349" y="2925"/>
            <a:ext cx="25785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255C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BAGA PROJECT</a:t>
            </a:r>
            <a:endParaRPr sz="1700">
              <a:solidFill>
                <a:srgbClr val="1255CC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32450" y="4214775"/>
            <a:ext cx="8879100" cy="885600"/>
          </a:xfrm>
          <a:prstGeom prst="roundRect">
            <a:avLst>
              <a:gd fmla="val 10345" name="adj"/>
            </a:avLst>
          </a:prstGeom>
          <a:solidFill>
            <a:srgbClr val="F9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marR="73542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"/>
              <a:buChar char="●"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Diff AR, FR của Request baga so với all dịch vụ hẹp và ổn định: ~2% AR và 4% FR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85750" lvl="0" marL="457200" marR="73542" rtl="0" algn="just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900"/>
              <a:buFont typeface="Nunito"/>
              <a:buChar char="●"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Tỷ lệ hủy sau khi có tài xế chấp nhận có 90% đến từ user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6625"/>
            <a:ext cx="8839204" cy="3180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16"/>
          <p:cNvCxnSpPr/>
          <p:nvPr/>
        </p:nvCxnSpPr>
        <p:spPr>
          <a:xfrm>
            <a:off x="2141750" y="328400"/>
            <a:ext cx="6657000" cy="0"/>
          </a:xfrm>
          <a:prstGeom prst="straightConnector1">
            <a:avLst/>
          </a:prstGeom>
          <a:noFill/>
          <a:ln cap="flat" cmpd="sng" w="19050">
            <a:solidFill>
              <a:srgbClr val="1255CC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4" name="Google Shape;84;p16"/>
          <p:cNvSpPr txBox="1"/>
          <p:nvPr/>
        </p:nvSpPr>
        <p:spPr>
          <a:xfrm>
            <a:off x="211349" y="2925"/>
            <a:ext cx="25785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255C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BAGA PROJECT</a:t>
            </a:r>
            <a:endParaRPr sz="1700">
              <a:solidFill>
                <a:srgbClr val="1255CC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6625"/>
            <a:ext cx="8839200" cy="332353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32450" y="4214775"/>
            <a:ext cx="8879100" cy="885600"/>
          </a:xfrm>
          <a:prstGeom prst="roundRect">
            <a:avLst>
              <a:gd fmla="val 10345" name="adj"/>
            </a:avLst>
          </a:prstGeom>
          <a:solidFill>
            <a:srgbClr val="F9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marR="73542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"/>
              <a:buChar char="●"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Active Baga tại SGN chiếm ~39% total active và chiếm ~22% total active tại HAN.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85750" lvl="0" marL="457200" marR="73542" rtl="0" algn="just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900"/>
              <a:buFont typeface="Nunito"/>
              <a:buChar char="●"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Tỷ lệ chênh lệch active baga trên enabled baga ở cả 2 city cải thiện: SGN</a:t>
            </a:r>
            <a:r>
              <a:rPr b="1"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67%→69%→74%</a:t>
            </a: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; HAN </a:t>
            </a:r>
            <a:r>
              <a:rPr b="1"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60%→70%→74%</a:t>
            </a: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(trên tổng số enabled) — Tỷ lệ chuyển đổi từ tài xế bật baga sang có hoàn thành ít nhất 1 đơn request baga đang tăng WoW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