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41"/>
  </p:notesMasterIdLst>
  <p:sldIdLst>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Lst>
  <p:sldSz cx="9144000" cy="5143500" type="screen16x9"/>
  <p:notesSz cx="6858000" cy="9144000"/>
  <p:embeddedFontLst>
    <p:embeddedFont>
      <p:font typeface="Bebas Neue" panose="020B0606020202050201" pitchFamily="34" charset="77"/>
      <p:regular r:id="rId42"/>
    </p:embeddedFont>
    <p:embeddedFont>
      <p:font typeface="Helvetica Neue" panose="02000503000000020004" pitchFamily="2" charset="0"/>
      <p:regular r:id="rId43"/>
      <p:bold r:id="rId44"/>
      <p:italic r:id="rId45"/>
      <p:boldItalic r:id="rId46"/>
    </p:embeddedFont>
    <p:embeddedFont>
      <p:font typeface="Lexend" pitchFamily="2" charset="77"/>
      <p:regular r:id="rId47"/>
      <p:bold r:id="rId48"/>
    </p:embeddedFont>
    <p:embeddedFont>
      <p:font typeface="Lexend Light" pitchFamily="2" charset="77"/>
      <p:regular r:id="rId49"/>
      <p:bold r:id="rId50"/>
    </p:embeddedFont>
    <p:embeddedFont>
      <p:font typeface="Lexend Medium" pitchFamily="2" charset="77"/>
      <p:regular r:id="rId51"/>
      <p:bold r:id="rId52"/>
    </p:embeddedFont>
    <p:embeddedFont>
      <p:font typeface="Montserrat" pitchFamily="2" charset="77"/>
      <p:regular r:id="rId53"/>
      <p:bold r:id="rId54"/>
      <p:italic r:id="rId55"/>
      <p:boldItalic r:id="rId56"/>
    </p:embeddedFont>
    <p:embeddedFont>
      <p:font typeface="Montserrat Black" panose="020F0502020204030204" pitchFamily="34" charset="0"/>
      <p:bold r:id="rId57"/>
      <p:italic r:id="rId58"/>
      <p:boldItalic r:id="rId59"/>
    </p:embeddedFont>
    <p:embeddedFont>
      <p:font typeface="Nunito" pitchFamily="2" charset="77"/>
      <p:regular r:id="rId60"/>
      <p:bold r:id="rId61"/>
      <p:italic r:id="rId62"/>
      <p:boldItalic r:id="rId63"/>
    </p:embeddedFont>
    <p:embeddedFont>
      <p:font typeface="Nunito Black" panose="020F0502020204030204" pitchFamily="34" charset="0"/>
      <p:bold r:id="rId64"/>
      <p:italic r:id="rId65"/>
      <p:boldItalic r:id="rId66"/>
    </p:embeddedFont>
    <p:embeddedFont>
      <p:font typeface="Nunito ExtraBold" panose="020F0502020204030204" pitchFamily="34" charset="0"/>
      <p:bold r:id="rId67"/>
      <p:italic r:id="rId68"/>
      <p:boldItalic r:id="rId69"/>
    </p:embeddedFont>
    <p:embeddedFont>
      <p:font typeface="Raleway" pitchFamily="2" charset="77"/>
      <p:regular r:id="rId70"/>
      <p:bold r:id="rId71"/>
      <p:italic r:id="rId72"/>
      <p:boldItalic r:id="rId73"/>
    </p:embeddedFont>
    <p:embeddedFont>
      <p:font typeface="Roboto" panose="02000000000000000000" pitchFamily="2" charset="0"/>
      <p:regular r:id="rId74"/>
      <p:bold r:id="rId75"/>
      <p:italic r:id="rId76"/>
      <p:boldItalic r:id="rId77"/>
    </p:embeddedFont>
    <p:embeddedFont>
      <p:font typeface="Verdana" panose="020B0604030504040204" pitchFamily="34" charset="0"/>
      <p:regular r:id="rId78"/>
      <p:bold r:id="rId79"/>
      <p:italic r:id="rId80"/>
      <p:boldItalic r:id="rId81"/>
    </p:embeddedFont>
    <p:embeddedFont>
      <p:font typeface="Work Sans Medium" panose="020F050202020403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6">
          <p15:clr>
            <a:srgbClr val="747775"/>
          </p15:clr>
        </p15:guide>
        <p15:guide id="2" orient="horz" pos="29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hanh Lê Phươ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6E03F7-A7B3-402D-A52F-665CEB5CA1F2}">
  <a:tblStyle styleId="{1B6E03F7-A7B3-402D-A52F-665CEB5CA1F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471C74E-E5A4-4367-B5E4-7593F58257C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264" y="200"/>
      </p:cViewPr>
      <p:guideLst>
        <p:guide orient="horz" pos="256"/>
        <p:guide orient="horz" pos="2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1.fntdata"/><Relationship Id="rId47" Type="http://schemas.openxmlformats.org/officeDocument/2006/relationships/font" Target="fonts/font6.fntdata"/><Relationship Id="rId63" Type="http://schemas.openxmlformats.org/officeDocument/2006/relationships/font" Target="fonts/font22.fntdata"/><Relationship Id="rId68" Type="http://schemas.openxmlformats.org/officeDocument/2006/relationships/font" Target="fonts/font27.fntdata"/><Relationship Id="rId84" Type="http://schemas.openxmlformats.org/officeDocument/2006/relationships/font" Target="fonts/font43.fntdata"/><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font" Target="fonts/font12.fntdata"/><Relationship Id="rId58" Type="http://schemas.openxmlformats.org/officeDocument/2006/relationships/font" Target="fonts/font17.fntdata"/><Relationship Id="rId74" Type="http://schemas.openxmlformats.org/officeDocument/2006/relationships/font" Target="fonts/font33.fntdata"/><Relationship Id="rId79" Type="http://schemas.openxmlformats.org/officeDocument/2006/relationships/font" Target="fonts/font38.fntdata"/><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font" Target="fonts/font23.fntdata"/><Relationship Id="rId69" Type="http://schemas.openxmlformats.org/officeDocument/2006/relationships/font" Target="fonts/font28.fntdata"/><Relationship Id="rId77" Type="http://schemas.openxmlformats.org/officeDocument/2006/relationships/font" Target="fonts/font36.fntdata"/><Relationship Id="rId8" Type="http://schemas.openxmlformats.org/officeDocument/2006/relationships/slide" Target="slides/slide6.xml"/><Relationship Id="rId51" Type="http://schemas.openxmlformats.org/officeDocument/2006/relationships/font" Target="fonts/font10.fntdata"/><Relationship Id="rId72" Type="http://schemas.openxmlformats.org/officeDocument/2006/relationships/font" Target="fonts/font31.fntdata"/><Relationship Id="rId80" Type="http://schemas.openxmlformats.org/officeDocument/2006/relationships/font" Target="fonts/font39.fntdata"/><Relationship Id="rId85" Type="http://schemas.openxmlformats.org/officeDocument/2006/relationships/font" Target="fonts/font4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font" Target="fonts/font26.fntdata"/><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font" Target="fonts/font21.fntdata"/><Relationship Id="rId70" Type="http://schemas.openxmlformats.org/officeDocument/2006/relationships/font" Target="fonts/font29.fntdata"/><Relationship Id="rId75" Type="http://schemas.openxmlformats.org/officeDocument/2006/relationships/font" Target="fonts/font34.fntdata"/><Relationship Id="rId83" Type="http://schemas.openxmlformats.org/officeDocument/2006/relationships/font" Target="fonts/font42.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font" Target="fonts/font24.fntdata"/><Relationship Id="rId73" Type="http://schemas.openxmlformats.org/officeDocument/2006/relationships/font" Target="fonts/font32.fntdata"/><Relationship Id="rId78" Type="http://schemas.openxmlformats.org/officeDocument/2006/relationships/font" Target="fonts/font37.fntdata"/><Relationship Id="rId81" Type="http://schemas.openxmlformats.org/officeDocument/2006/relationships/font" Target="fonts/font40.fntdata"/><Relationship Id="rId86"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9.fntdata"/><Relationship Id="rId55" Type="http://schemas.openxmlformats.org/officeDocument/2006/relationships/font" Target="fonts/font14.fntdata"/><Relationship Id="rId76" Type="http://schemas.openxmlformats.org/officeDocument/2006/relationships/font" Target="fonts/font35.fntdata"/><Relationship Id="rId7" Type="http://schemas.openxmlformats.org/officeDocument/2006/relationships/slide" Target="slides/slide5.xml"/><Relationship Id="rId71" Type="http://schemas.openxmlformats.org/officeDocument/2006/relationships/font" Target="fonts/font30.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font" Target="fonts/font4.fntdata"/><Relationship Id="rId66" Type="http://schemas.openxmlformats.org/officeDocument/2006/relationships/font" Target="fonts/font25.fntdata"/><Relationship Id="rId87" Type="http://schemas.openxmlformats.org/officeDocument/2006/relationships/presProps" Target="presProps.xml"/><Relationship Id="rId61" Type="http://schemas.openxmlformats.org/officeDocument/2006/relationships/font" Target="fonts/font20.fntdata"/><Relationship Id="rId82" Type="http://schemas.openxmlformats.org/officeDocument/2006/relationships/font" Target="fonts/font41.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i.ahamove.com/question/57211"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bi.ahamove.com/question/60965" TargetMode="External"/><Relationship Id="rId4" Type="http://schemas.openxmlformats.org/officeDocument/2006/relationships/hyperlink" Target="https://bi.ahamove.com/question/72806"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i.ahamove.com/question/57211"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bi.ahamove.com/question/72806"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i.ahamove.com/question/73944"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bi.ahamove.com/question/79585"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bi.ahamove.com/question/75830-han-dm-cancel-reason-tinh-l-i-tx-view-driver?start_date=&amp;end_date=&amp;timeview=week&amp;city_id=&amp;partner=&amp;segment="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bi.ahamove.com/question/77201"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f6b1401dff_0_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g3f6b1401dff_0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g3f6b1401dff_0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f6b1401dff_0_1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7" name="Google Shape;617;g3f6b1401dff_0_1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g3f6b1401dff_0_1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f6b1401dff_0_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3f6b1401dff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00">
                <a:solidFill>
                  <a:schemeClr val="dk1"/>
                </a:solidFill>
              </a:rPr>
              <a:t>Card check demand: </a:t>
            </a:r>
            <a:r>
              <a:rPr lang="en" sz="1000" u="sng">
                <a:solidFill>
                  <a:schemeClr val="hlink"/>
                </a:solidFill>
                <a:hlinkClick r:id="rId3"/>
              </a:rPr>
              <a:t>https://bi.ahamove.com/question/57211</a:t>
            </a:r>
            <a:endParaRPr sz="1000">
              <a:solidFill>
                <a:schemeClr val="dk1"/>
              </a:solidFill>
            </a:endParaRPr>
          </a:p>
          <a:p>
            <a:pPr marL="0" lvl="0" indent="0" algn="l" rtl="0">
              <a:spcBef>
                <a:spcPts val="0"/>
              </a:spcBef>
              <a:spcAft>
                <a:spcPts val="0"/>
              </a:spcAft>
              <a:buClr>
                <a:schemeClr val="dk1"/>
              </a:buClr>
              <a:buSzPts val="1100"/>
              <a:buFont typeface="Arial"/>
              <a:buNone/>
            </a:pPr>
            <a:r>
              <a:rPr lang="en" sz="1000">
                <a:solidFill>
                  <a:schemeClr val="dk1"/>
                </a:solidFill>
              </a:rPr>
              <a:t>Card check active &amp; prod: </a:t>
            </a:r>
            <a:r>
              <a:rPr lang="en" sz="1000" u="sng">
                <a:solidFill>
                  <a:schemeClr val="hlink"/>
                </a:solidFill>
                <a:hlinkClick r:id="rId4"/>
              </a:rPr>
              <a:t>https://bi.ahamove.com/question/72806</a:t>
            </a:r>
            <a:br>
              <a:rPr lang="en" sz="1000"/>
            </a:br>
            <a:r>
              <a:rPr lang="en" sz="1000"/>
              <a:t>Card check EPH: </a:t>
            </a:r>
            <a:r>
              <a:rPr lang="en" sz="1000" u="sng">
                <a:solidFill>
                  <a:schemeClr val="hlink"/>
                </a:solidFill>
                <a:hlinkClick r:id="rId5"/>
              </a:rPr>
              <a:t>https://bi.ahamove.com/question/60965</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f6b1401dff_0_8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f6b1401dff_0_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t>Card check demand: </a:t>
            </a:r>
            <a:r>
              <a:rPr lang="en" sz="1000" u="sng">
                <a:solidFill>
                  <a:schemeClr val="hlink"/>
                </a:solidFill>
                <a:hlinkClick r:id="rId3"/>
              </a:rPr>
              <a:t>https://bi.ahamove.com/question/57211</a:t>
            </a:r>
            <a:endParaRPr sz="1000"/>
          </a:p>
          <a:p>
            <a:pPr marL="0" lvl="0" indent="0" algn="l" rtl="0">
              <a:spcBef>
                <a:spcPts val="0"/>
              </a:spcBef>
              <a:spcAft>
                <a:spcPts val="0"/>
              </a:spcAft>
              <a:buNone/>
            </a:pPr>
            <a:r>
              <a:rPr lang="en" sz="1000"/>
              <a:t>Card check active &amp; prod: </a:t>
            </a:r>
            <a:r>
              <a:rPr lang="en" sz="1000" u="sng">
                <a:solidFill>
                  <a:schemeClr val="hlink"/>
                </a:solidFill>
                <a:hlinkClick r:id="rId4"/>
              </a:rPr>
              <a:t>https://bi.ahamove.com/question/72806</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f6b1401dff_0_4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3f6b1401dff_0_4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g3f6b1401dff_0_4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3f6b1401dff_0_8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7" name="Google Shape;697;g3f6b1401dff_0_8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b="1"/>
              <a:t>Active Driver Segment by Month</a:t>
            </a:r>
            <a:r>
              <a:rPr lang="en"/>
              <a:t>: </a:t>
            </a:r>
            <a:r>
              <a:rPr lang="en" u="sng">
                <a:solidFill>
                  <a:schemeClr val="hlink"/>
                </a:solidFill>
                <a:hlinkClick r:id="rId3"/>
              </a:rPr>
              <a:t>https://bi.ahamove.com/question/73944</a:t>
            </a:r>
            <a:endParaRPr/>
          </a:p>
          <a:p>
            <a:pPr marL="0" lvl="0" indent="0" algn="l" rtl="0">
              <a:spcBef>
                <a:spcPts val="0"/>
              </a:spcBef>
              <a:spcAft>
                <a:spcPts val="0"/>
              </a:spcAft>
              <a:buNone/>
            </a:pPr>
            <a:r>
              <a:rPr lang="en"/>
              <a:t>Retention over 22: </a:t>
            </a:r>
            <a:r>
              <a:rPr lang="en" u="sng">
                <a:solidFill>
                  <a:schemeClr val="hlink"/>
                </a:solidFill>
                <a:hlinkClick r:id="rId4"/>
              </a:rPr>
              <a:t>https://bi.ahamove.com/question/79585</a:t>
            </a:r>
            <a:endParaRPr/>
          </a:p>
          <a:p>
            <a:pPr marL="0" lvl="0" indent="0" algn="l" rtl="0">
              <a:spcBef>
                <a:spcPts val="0"/>
              </a:spcBef>
              <a:spcAft>
                <a:spcPts val="0"/>
              </a:spcAft>
              <a:buNone/>
            </a:pPr>
            <a:endParaRPr/>
          </a:p>
        </p:txBody>
      </p:sp>
      <p:sp>
        <p:nvSpPr>
          <p:cNvPr id="698" name="Google Shape;698;g3f6b1401dff_0_8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f6b1401dff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3f6b1401dff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f6b1401dff_0_12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3f6b1401dff_0_12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g3f6b1401dff_0_12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f6b1401dff_0_14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f6b1401dff_0_14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u="sng">
                <a:solidFill>
                  <a:schemeClr val="hlink"/>
                </a:solidFill>
                <a:hlinkClick r:id="rId3"/>
              </a:rPr>
              <a:t>Cancel comment</a:t>
            </a:r>
            <a:endParaRPr/>
          </a:p>
        </p:txBody>
      </p:sp>
      <p:sp>
        <p:nvSpPr>
          <p:cNvPr id="762" name="Google Shape;762;g3f6b1401dff_0_14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f6b1401dff_0_158: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3f6b1401dff_0_15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g3f6b1401dff_0_15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f6b1401dff_0_17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3f6b1401dff_0_1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2" name="Google Shape;802;g3f6b1401dff_0_1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f6b1401dff_0_195: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3f6b1401dff_0_19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Card: </a:t>
            </a:r>
            <a:r>
              <a:rPr lang="en" u="sng">
                <a:solidFill>
                  <a:schemeClr val="hlink"/>
                </a:solidFill>
                <a:hlinkClick r:id="rId3"/>
              </a:rPr>
              <a:t>https://bi.ahamove.com/question/77201</a:t>
            </a:r>
            <a:endParaRPr/>
          </a:p>
          <a:p>
            <a:pPr marL="0" lvl="0" indent="0" algn="l" rtl="0">
              <a:spcBef>
                <a:spcPts val="0"/>
              </a:spcBef>
              <a:spcAft>
                <a:spcPts val="0"/>
              </a:spcAft>
              <a:buNone/>
            </a:pPr>
            <a:endParaRPr/>
          </a:p>
        </p:txBody>
      </p:sp>
      <p:sp>
        <p:nvSpPr>
          <p:cNvPr id="818" name="Google Shape;818;g3f6b1401dff_0_19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3f6b1401dff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3f6b1401dff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f6b1401dff_0_22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3f6b1401dff_0_22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g3f6b1401dff_0_22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3f6b1401dff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 name="Google Shape;860;g3f6b1401dff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f6b1401dff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3f6b1401dff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3f6b1401dff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3f6b1401dff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a:solidFill>
                  <a:srgbClr val="010101"/>
                </a:solidFill>
              </a:rPr>
              <a:t>-&gt; đề xuất bỏ force AA trong 7 ngày từ FAT cho nhóm tx mới (test thử trong 2 tuần) để xem kết quả ở SGN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3f6b1401dff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3f6b1401dff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https://bi.ahamove.com/question/62640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3f6b1401dff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3f6b1401dff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Ngồi với Khoa làm auto made từ clever tab để push video cho tài xế (thực hiện trong tuần sau)</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3f6b1401dff_0_3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3f6b1401dff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3f6b1401dff_0_3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2" name="Google Shape;982;g3f6b1401dff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3f6b1401dff_0_36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3f6b1401dff_0_36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g3f6b1401dff_0_36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3f6b1401dff_5_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3f6b1401dff_5_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9" name="Google Shape;1029;g3f6b1401dff_5_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3f6b1401dff_5_5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3f6b1401dff_5_5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9" name="Google Shape;1079;g3f6b1401dff_5_5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3f6b1401dff_5_10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3f6b1401dff_5_10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8" name="Google Shape;1098;g3f6b1401dff_5_10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3f6b1401dff_5_16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2" name="Google Shape;1132;g3f6b1401dff_5_16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3" name="Google Shape;1133;g3f6b1401dff_5_16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3f6b1401dff_5_21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3" name="Google Shape;1153;g3f6b1401dff_5_21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4" name="Google Shape;1154;g3f6b1401dff_5_21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3f6b1401dff_0_58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2" name="Google Shape;1172;g3f6b1401dff_0_58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g3f6b1401dff_0_58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3f6b1401dff_0_5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3f6b1401dff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b="1">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3f6b1401dff_0_6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3f6b1401dff_0_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3f6b1401dff_6_9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9" name="Google Shape;1259;g3f6b1401dff_6_9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0" name="Google Shape;1260;g3f6b1401dff_6_9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2"/>
        <p:cNvGrpSpPr/>
        <p:nvPr/>
      </p:nvGrpSpPr>
      <p:grpSpPr>
        <a:xfrm>
          <a:off x="0" y="0"/>
          <a:ext cx="0" cy="0"/>
          <a:chOff x="0" y="0"/>
          <a:chExt cx="0" cy="0"/>
        </a:xfrm>
      </p:grpSpPr>
      <p:sp>
        <p:nvSpPr>
          <p:cNvPr id="1333" name="Google Shape;1333;g3f6b1401dff_6_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4" name="Google Shape;1334;g3f6b1401dff_6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5" name="Google Shape;1335;g3f6b1401dff_6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g3f6b1401dff_17_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4" name="Google Shape;1434;g3f6b1401dff_17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5" name="Google Shape;1435;g3f6b1401dff_17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3f6b1401dff_17_9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4" name="Google Shape;1534;g3f6b1401dff_17_9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5" name="Google Shape;1535;g3f6b1401dff_17_9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2"/>
        <p:cNvGrpSpPr/>
        <p:nvPr/>
      </p:nvGrpSpPr>
      <p:grpSpPr>
        <a:xfrm>
          <a:off x="0" y="0"/>
          <a:ext cx="0" cy="0"/>
          <a:chOff x="0" y="0"/>
          <a:chExt cx="0" cy="0"/>
        </a:xfrm>
      </p:grpSpPr>
      <p:sp>
        <p:nvSpPr>
          <p:cNvPr id="1593" name="Google Shape;1593;g3f6b1401dff_0_76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4" name="Google Shape;1594;g3f6b1401dff_0_76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5" name="Google Shape;1595;g3f6b1401dff_0_76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4"/>
        <p:cNvGrpSpPr/>
        <p:nvPr/>
      </p:nvGrpSpPr>
      <p:grpSpPr>
        <a:xfrm>
          <a:off x="0" y="0"/>
          <a:ext cx="0" cy="0"/>
          <a:chOff x="0" y="0"/>
          <a:chExt cx="0" cy="0"/>
        </a:xfrm>
      </p:grpSpPr>
      <p:sp>
        <p:nvSpPr>
          <p:cNvPr id="1625" name="Google Shape;1625;g3f6b1401dff_0_795: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6" name="Google Shape;1626;g3f6b1401dff_0_79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7" name="Google Shape;1627;g3f6b1401dff_0_79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g3f6b1401dff_0_82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4" name="Google Shape;1654;g3f6b1401dff_0_82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5" name="Google Shape;1655;g3f6b1401dff_0_82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g3f6b1401dff_9_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5" name="Google Shape;1685;g3f6b1401dff_9_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6" name="Google Shape;1686;g3f6b1401dff_9_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Bullets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2438" y="404813"/>
            <a:ext cx="8239200" cy="537300"/>
          </a:xfrm>
          <a:prstGeom prst="rect">
            <a:avLst/>
          </a:prstGeom>
          <a:noFill/>
          <a:ln>
            <a:noFill/>
          </a:ln>
        </p:spPr>
        <p:txBody>
          <a:bodyPr spcFirstLastPara="1" wrap="square" lIns="19050" tIns="19050" rIns="19050" bIns="19050" anchor="t" anchorCtr="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a:endParaRPr/>
          </a:p>
        </p:txBody>
      </p:sp>
      <p:sp>
        <p:nvSpPr>
          <p:cNvPr id="52" name="Google Shape;52;p13"/>
          <p:cNvSpPr txBox="1">
            <a:spLocks noGrp="1"/>
          </p:cNvSpPr>
          <p:nvPr>
            <p:ph type="body" idx="1"/>
          </p:nvPr>
        </p:nvSpPr>
        <p:spPr>
          <a:xfrm>
            <a:off x="452438" y="889861"/>
            <a:ext cx="8239200" cy="350700"/>
          </a:xfrm>
          <a:prstGeom prst="rect">
            <a:avLst/>
          </a:prstGeom>
          <a:noFill/>
          <a:ln>
            <a:noFill/>
          </a:ln>
        </p:spPr>
        <p:txBody>
          <a:bodyPr spcFirstLastPara="1" wrap="square" lIns="17150" tIns="17150" rIns="17150" bIns="17150" anchor="t" anchorCtr="0">
            <a:normAutofit/>
          </a:bodyPr>
          <a:lstStyle>
            <a:lvl1pPr marL="457200" lvl="0" indent="-228600" algn="l">
              <a:lnSpc>
                <a:spcPct val="100000"/>
              </a:lnSpc>
              <a:spcBef>
                <a:spcPts val="0"/>
              </a:spcBef>
              <a:spcAft>
                <a:spcPts val="0"/>
              </a:spcAft>
              <a:buClr>
                <a:srgbClr val="000000"/>
              </a:buClr>
              <a:buSzPts val="2100"/>
              <a:buFont typeface="Helvetica Neue"/>
              <a:buNone/>
              <a:defRPr sz="2100" b="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53" name="Google Shape;53;p13"/>
          <p:cNvSpPr txBox="1">
            <a:spLocks noGrp="1"/>
          </p:cNvSpPr>
          <p:nvPr>
            <p:ph type="body" idx="2"/>
          </p:nvPr>
        </p:nvSpPr>
        <p:spPr>
          <a:xfrm>
            <a:off x="452438" y="1593189"/>
            <a:ext cx="8239200" cy="3096000"/>
          </a:xfrm>
          <a:prstGeom prst="rect">
            <a:avLst/>
          </a:prstGeom>
          <a:noFill/>
          <a:ln>
            <a:noFill/>
          </a:ln>
        </p:spPr>
        <p:txBody>
          <a:bodyPr spcFirstLastPara="1" wrap="square" lIns="19050" tIns="19050" rIns="19050" bIns="19050" anchor="t" anchorCtr="0">
            <a:normAutofit/>
          </a:bodyPr>
          <a:lstStyle>
            <a:lvl1pPr marL="457200" lvl="0" indent="-279400" algn="l">
              <a:lnSpc>
                <a:spcPct val="90000"/>
              </a:lnSpc>
              <a:spcBef>
                <a:spcPts val="1700"/>
              </a:spcBef>
              <a:spcAft>
                <a:spcPts val="0"/>
              </a:spcAft>
              <a:buClr>
                <a:srgbClr val="000000"/>
              </a:buClr>
              <a:buSzPts val="800"/>
              <a:buChar char="•"/>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54" name="Google Shape;54;p13"/>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55"/>
        <p:cNvGrpSpPr/>
        <p:nvPr/>
      </p:nvGrpSpPr>
      <p:grpSpPr>
        <a:xfrm>
          <a:off x="0" y="0"/>
          <a:ext cx="0" cy="0"/>
          <a:chOff x="0" y="0"/>
          <a:chExt cx="0" cy="0"/>
        </a:xfrm>
      </p:grpSpPr>
      <p:sp>
        <p:nvSpPr>
          <p:cNvPr id="56" name="Google Shape;5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7" name="Google Shape;57;p14"/>
          <p:cNvPicPr preferRelativeResize="0"/>
          <p:nvPr/>
        </p:nvPicPr>
        <p:blipFill rotWithShape="1">
          <a:blip r:embed="rId2">
            <a:alphaModFix/>
          </a:blip>
          <a:srcRect t="89495"/>
          <a:stretch/>
        </p:blipFill>
        <p:spPr>
          <a:xfrm>
            <a:off x="0" y="-1"/>
            <a:ext cx="9144001" cy="538800"/>
          </a:xfrm>
          <a:prstGeom prst="rect">
            <a:avLst/>
          </a:prstGeom>
          <a:noFill/>
          <a:ln>
            <a:noFill/>
          </a:ln>
        </p:spPr>
      </p:pic>
      <p:sp>
        <p:nvSpPr>
          <p:cNvPr id="58" name="Google Shape;58;p14"/>
          <p:cNvSpPr txBox="1">
            <a:spLocks noGrp="1"/>
          </p:cNvSpPr>
          <p:nvPr>
            <p:ph type="title"/>
          </p:nvPr>
        </p:nvSpPr>
        <p:spPr>
          <a:xfrm>
            <a:off x="0" y="-16950"/>
            <a:ext cx="9144000" cy="572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2300"/>
              <a:buFont typeface="Lexend"/>
              <a:buNone/>
              <a:defRPr sz="2300" b="1">
                <a:solidFill>
                  <a:schemeClr val="lt1"/>
                </a:solidFill>
                <a:latin typeface="Lexend"/>
                <a:ea typeface="Lexend"/>
                <a:cs typeface="Lexend"/>
                <a:sym typeface="Lexend"/>
              </a:defRPr>
            </a:lvl1pPr>
            <a:lvl2pPr lvl="1">
              <a:spcBef>
                <a:spcPts val="0"/>
              </a:spcBef>
              <a:spcAft>
                <a:spcPts val="0"/>
              </a:spcAft>
              <a:buSzPts val="2300"/>
              <a:buFont typeface="Lexend"/>
              <a:buNone/>
              <a:defRPr sz="2300" b="1">
                <a:latin typeface="Lexend"/>
                <a:ea typeface="Lexend"/>
                <a:cs typeface="Lexend"/>
                <a:sym typeface="Lexend"/>
              </a:defRPr>
            </a:lvl2pPr>
            <a:lvl3pPr lvl="2">
              <a:spcBef>
                <a:spcPts val="0"/>
              </a:spcBef>
              <a:spcAft>
                <a:spcPts val="0"/>
              </a:spcAft>
              <a:buSzPts val="2300"/>
              <a:buFont typeface="Lexend"/>
              <a:buNone/>
              <a:defRPr sz="2300" b="1">
                <a:latin typeface="Lexend"/>
                <a:ea typeface="Lexend"/>
                <a:cs typeface="Lexend"/>
                <a:sym typeface="Lexend"/>
              </a:defRPr>
            </a:lvl3pPr>
            <a:lvl4pPr lvl="3">
              <a:spcBef>
                <a:spcPts val="0"/>
              </a:spcBef>
              <a:spcAft>
                <a:spcPts val="0"/>
              </a:spcAft>
              <a:buSzPts val="2300"/>
              <a:buFont typeface="Lexend"/>
              <a:buNone/>
              <a:defRPr sz="2300" b="1">
                <a:latin typeface="Lexend"/>
                <a:ea typeface="Lexend"/>
                <a:cs typeface="Lexend"/>
                <a:sym typeface="Lexend"/>
              </a:defRPr>
            </a:lvl4pPr>
            <a:lvl5pPr lvl="4">
              <a:spcBef>
                <a:spcPts val="0"/>
              </a:spcBef>
              <a:spcAft>
                <a:spcPts val="0"/>
              </a:spcAft>
              <a:buSzPts val="2300"/>
              <a:buFont typeface="Lexend"/>
              <a:buNone/>
              <a:defRPr sz="2300" b="1">
                <a:latin typeface="Lexend"/>
                <a:ea typeface="Lexend"/>
                <a:cs typeface="Lexend"/>
                <a:sym typeface="Lexend"/>
              </a:defRPr>
            </a:lvl5pPr>
            <a:lvl6pPr lvl="5">
              <a:spcBef>
                <a:spcPts val="0"/>
              </a:spcBef>
              <a:spcAft>
                <a:spcPts val="0"/>
              </a:spcAft>
              <a:buSzPts val="2300"/>
              <a:buFont typeface="Lexend"/>
              <a:buNone/>
              <a:defRPr sz="2300" b="1">
                <a:latin typeface="Lexend"/>
                <a:ea typeface="Lexend"/>
                <a:cs typeface="Lexend"/>
                <a:sym typeface="Lexend"/>
              </a:defRPr>
            </a:lvl6pPr>
            <a:lvl7pPr lvl="6">
              <a:spcBef>
                <a:spcPts val="0"/>
              </a:spcBef>
              <a:spcAft>
                <a:spcPts val="0"/>
              </a:spcAft>
              <a:buSzPts val="2300"/>
              <a:buFont typeface="Lexend"/>
              <a:buNone/>
              <a:defRPr sz="2300" b="1">
                <a:latin typeface="Lexend"/>
                <a:ea typeface="Lexend"/>
                <a:cs typeface="Lexend"/>
                <a:sym typeface="Lexend"/>
              </a:defRPr>
            </a:lvl7pPr>
            <a:lvl8pPr lvl="7">
              <a:spcBef>
                <a:spcPts val="0"/>
              </a:spcBef>
              <a:spcAft>
                <a:spcPts val="0"/>
              </a:spcAft>
              <a:buSzPts val="2300"/>
              <a:buFont typeface="Lexend"/>
              <a:buNone/>
              <a:defRPr sz="2300" b="1">
                <a:latin typeface="Lexend"/>
                <a:ea typeface="Lexend"/>
                <a:cs typeface="Lexend"/>
                <a:sym typeface="Lexend"/>
              </a:defRPr>
            </a:lvl8pPr>
            <a:lvl9pPr lvl="8">
              <a:spcBef>
                <a:spcPts val="0"/>
              </a:spcBef>
              <a:spcAft>
                <a:spcPts val="0"/>
              </a:spcAft>
              <a:buSzPts val="2300"/>
              <a:buFont typeface="Lexend"/>
              <a:buNone/>
              <a:defRPr sz="2300" b="1">
                <a:latin typeface="Lexend"/>
                <a:ea typeface="Lexend"/>
                <a:cs typeface="Lexend"/>
                <a:sym typeface="Lexen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9"/>
        <p:cNvGrpSpPr/>
        <p:nvPr/>
      </p:nvGrpSpPr>
      <p:grpSpPr>
        <a:xfrm>
          <a:off x="0" y="0"/>
          <a:ext cx="0" cy="0"/>
          <a:chOff x="0" y="0"/>
          <a:chExt cx="0" cy="0"/>
        </a:xfrm>
      </p:grpSpPr>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61" name="Google Shape;61;p15"/>
          <p:cNvPicPr preferRelativeResize="0"/>
          <p:nvPr/>
        </p:nvPicPr>
        <p:blipFill rotWithShape="1">
          <a:blip r:embed="rId2">
            <a:alphaModFix/>
          </a:blip>
          <a:srcRect t="89495"/>
          <a:stretch/>
        </p:blipFill>
        <p:spPr>
          <a:xfrm>
            <a:off x="0" y="-1"/>
            <a:ext cx="9144001" cy="538800"/>
          </a:xfrm>
          <a:prstGeom prst="rect">
            <a:avLst/>
          </a:prstGeom>
          <a:noFill/>
          <a:ln>
            <a:noFill/>
          </a:ln>
        </p:spPr>
      </p:pic>
      <p:sp>
        <p:nvSpPr>
          <p:cNvPr id="62" name="Google Shape;62;p15"/>
          <p:cNvSpPr txBox="1">
            <a:spLocks noGrp="1"/>
          </p:cNvSpPr>
          <p:nvPr>
            <p:ph type="title"/>
          </p:nvPr>
        </p:nvSpPr>
        <p:spPr>
          <a:xfrm>
            <a:off x="0" y="-16950"/>
            <a:ext cx="9144000" cy="572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2000"/>
              <a:buFont typeface="Montserrat Black"/>
              <a:buNone/>
              <a:defRPr sz="2000">
                <a:solidFill>
                  <a:schemeClr val="lt1"/>
                </a:solidFill>
                <a:latin typeface="Montserrat Black"/>
                <a:ea typeface="Montserrat Black"/>
                <a:cs typeface="Montserrat Black"/>
                <a:sym typeface="Montserrat Black"/>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63"/>
        <p:cNvGrpSpPr/>
        <p:nvPr/>
      </p:nvGrpSpPr>
      <p:grpSpPr>
        <a:xfrm>
          <a:off x="0" y="0"/>
          <a:ext cx="0" cy="0"/>
          <a:chOff x="0" y="0"/>
          <a:chExt cx="0" cy="0"/>
        </a:xfrm>
      </p:grpSpPr>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65" name="Google Shape;65;p16"/>
          <p:cNvPicPr preferRelativeResize="0"/>
          <p:nvPr/>
        </p:nvPicPr>
        <p:blipFill>
          <a:blip r:embed="rId2">
            <a:alphaModFix/>
          </a:blip>
          <a:stretch>
            <a:fillRect/>
          </a:stretch>
        </p:blipFill>
        <p:spPr>
          <a:xfrm>
            <a:off x="0" y="0"/>
            <a:ext cx="9144001" cy="512911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3">
  <p:cSld name="TITLE_3">
    <p:bg>
      <p:bgPr>
        <a:solidFill>
          <a:schemeClr val="dk1"/>
        </a:solidFill>
        <a:effectLst/>
      </p:bgPr>
    </p:bg>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713225" y="1090328"/>
            <a:ext cx="4855800" cy="2213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5200"/>
              <a:buNone/>
              <a:defRPr sz="6000" b="1">
                <a:solidFill>
                  <a:schemeClr val="lt1"/>
                </a:solidFill>
                <a:latin typeface="Raleway"/>
                <a:ea typeface="Raleway"/>
                <a:cs typeface="Raleway"/>
                <a:sym typeface="Raleway"/>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68" name="Google Shape;68;p17"/>
          <p:cNvSpPr txBox="1">
            <a:spLocks noGrp="1"/>
          </p:cNvSpPr>
          <p:nvPr>
            <p:ph type="subTitle" idx="1"/>
          </p:nvPr>
        </p:nvSpPr>
        <p:spPr>
          <a:xfrm>
            <a:off x="713225" y="3663472"/>
            <a:ext cx="4855800" cy="389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69" name="Google Shape;69;p17"/>
          <p:cNvSpPr>
            <a:spLocks noGrp="1"/>
          </p:cNvSpPr>
          <p:nvPr>
            <p:ph type="pic" idx="2"/>
          </p:nvPr>
        </p:nvSpPr>
        <p:spPr>
          <a:xfrm flipH="1">
            <a:off x="5491800" y="0"/>
            <a:ext cx="3652200" cy="5143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
    <p:bg>
      <p:bgPr>
        <a:solidFill>
          <a:srgbClr val="F3F3F3"/>
        </a:solidFill>
        <a:effectLst/>
      </p:bgPr>
    </p:bg>
    <p:spTree>
      <p:nvGrpSpPr>
        <p:cNvPr id="1" name="Shape 70"/>
        <p:cNvGrpSpPr/>
        <p:nvPr/>
      </p:nvGrpSpPr>
      <p:grpSpPr>
        <a:xfrm>
          <a:off x="0" y="0"/>
          <a:ext cx="0" cy="0"/>
          <a:chOff x="0" y="0"/>
          <a:chExt cx="0" cy="0"/>
        </a:xfrm>
      </p:grpSpPr>
      <p:sp>
        <p:nvSpPr>
          <p:cNvPr id="71" name="Google Shape;71;p18"/>
          <p:cNvSpPr/>
          <p:nvPr/>
        </p:nvSpPr>
        <p:spPr>
          <a:xfrm>
            <a:off x="0" y="0"/>
            <a:ext cx="9144000" cy="5727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8"/>
          <p:cNvSpPr txBox="1">
            <a:spLocks noGrp="1"/>
          </p:cNvSpPr>
          <p:nvPr>
            <p:ph type="title"/>
          </p:nvPr>
        </p:nvSpPr>
        <p:spPr>
          <a:xfrm>
            <a:off x="657050" y="20050"/>
            <a:ext cx="7704000" cy="572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73" name="Google Shape;73;p18"/>
          <p:cNvSpPr txBox="1">
            <a:spLocks noGrp="1"/>
          </p:cNvSpPr>
          <p:nvPr>
            <p:ph type="subTitle" idx="1"/>
          </p:nvPr>
        </p:nvSpPr>
        <p:spPr>
          <a:xfrm>
            <a:off x="726025" y="1668325"/>
            <a:ext cx="29910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8"/>
          <p:cNvSpPr txBox="1">
            <a:spLocks noGrp="1"/>
          </p:cNvSpPr>
          <p:nvPr>
            <p:ph type="subTitle" idx="2"/>
          </p:nvPr>
        </p:nvSpPr>
        <p:spPr>
          <a:xfrm>
            <a:off x="720000" y="1273875"/>
            <a:ext cx="29910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5" name="Google Shape;75;p18"/>
          <p:cNvSpPr txBox="1">
            <a:spLocks noGrp="1"/>
          </p:cNvSpPr>
          <p:nvPr>
            <p:ph type="subTitle" idx="3"/>
          </p:nvPr>
        </p:nvSpPr>
        <p:spPr>
          <a:xfrm>
            <a:off x="4695427" y="1668325"/>
            <a:ext cx="29973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18"/>
          <p:cNvSpPr txBox="1">
            <a:spLocks noGrp="1"/>
          </p:cNvSpPr>
          <p:nvPr>
            <p:ph type="subTitle" idx="4"/>
          </p:nvPr>
        </p:nvSpPr>
        <p:spPr>
          <a:xfrm>
            <a:off x="4689399" y="1273875"/>
            <a:ext cx="29973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7" name="Google Shape;77;p18"/>
          <p:cNvSpPr txBox="1">
            <a:spLocks noGrp="1"/>
          </p:cNvSpPr>
          <p:nvPr>
            <p:ph type="subTitle" idx="5"/>
          </p:nvPr>
        </p:nvSpPr>
        <p:spPr>
          <a:xfrm>
            <a:off x="726025" y="3403000"/>
            <a:ext cx="29910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8" name="Google Shape;78;p18"/>
          <p:cNvSpPr txBox="1">
            <a:spLocks noGrp="1"/>
          </p:cNvSpPr>
          <p:nvPr>
            <p:ph type="subTitle" idx="6"/>
          </p:nvPr>
        </p:nvSpPr>
        <p:spPr>
          <a:xfrm>
            <a:off x="720000" y="3008550"/>
            <a:ext cx="29910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18"/>
          <p:cNvSpPr txBox="1">
            <a:spLocks noGrp="1"/>
          </p:cNvSpPr>
          <p:nvPr>
            <p:ph type="subTitle" idx="7"/>
          </p:nvPr>
        </p:nvSpPr>
        <p:spPr>
          <a:xfrm>
            <a:off x="4695427" y="3403000"/>
            <a:ext cx="2997300" cy="843000"/>
          </a:xfrm>
          <a:prstGeom prst="rect">
            <a:avLst/>
          </a:prstGeom>
          <a:ln>
            <a:noFill/>
          </a:ln>
        </p:spPr>
        <p:txBody>
          <a:bodyPr spcFirstLastPara="1" wrap="square" lIns="91425" tIns="91425" rIns="91425" bIns="91425" anchor="t" anchorCtr="0">
            <a:normAutofit/>
          </a:bodyPr>
          <a:lstStyle>
            <a:lvl1pPr lvl="0">
              <a:lnSpc>
                <a:spcPct val="100000"/>
              </a:lnSpc>
              <a:spcBef>
                <a:spcPts val="0"/>
              </a:spcBef>
              <a:spcAft>
                <a:spcPts val="0"/>
              </a:spcAft>
              <a:buSzPts val="1400"/>
              <a:buNone/>
              <a:defRPr>
                <a:latin typeface="Work Sans Medium"/>
                <a:ea typeface="Work Sans Medium"/>
                <a:cs typeface="Work Sans Medium"/>
                <a:sym typeface="Work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8"/>
          <p:cNvSpPr txBox="1">
            <a:spLocks noGrp="1"/>
          </p:cNvSpPr>
          <p:nvPr>
            <p:ph type="subTitle" idx="8"/>
          </p:nvPr>
        </p:nvSpPr>
        <p:spPr>
          <a:xfrm>
            <a:off x="4689399" y="3008550"/>
            <a:ext cx="2997300" cy="484800"/>
          </a:xfrm>
          <a:prstGeom prst="rect">
            <a:avLst/>
          </a:prstGeom>
          <a:ln>
            <a:noFill/>
          </a:ln>
        </p:spPr>
        <p:txBody>
          <a:bodyPr spcFirstLastPara="1" wrap="square" lIns="91425" tIns="91425" rIns="91425" bIns="91425" anchor="b" anchorCtr="0">
            <a:normAutofit/>
          </a:bodyPr>
          <a:lstStyle>
            <a:lvl1pPr lvl="0">
              <a:lnSpc>
                <a:spcPct val="100000"/>
              </a:lnSpc>
              <a:spcBef>
                <a:spcPts val="0"/>
              </a:spcBef>
              <a:spcAft>
                <a:spcPts val="0"/>
              </a:spcAft>
              <a:buClr>
                <a:schemeClr val="dk1"/>
              </a:buClr>
              <a:buSzPts val="2400"/>
              <a:buFont typeface="Bebas Neue"/>
              <a:buNone/>
              <a:defRPr sz="20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cxnSp>
        <p:nvCxnSpPr>
          <p:cNvPr id="81" name="Google Shape;81;p18"/>
          <p:cNvCxnSpPr/>
          <p:nvPr/>
        </p:nvCxnSpPr>
        <p:spPr>
          <a:xfrm>
            <a:off x="254150" y="-48750"/>
            <a:ext cx="0" cy="5290200"/>
          </a:xfrm>
          <a:prstGeom prst="straightConnector1">
            <a:avLst/>
          </a:prstGeom>
          <a:noFill/>
          <a:ln w="9525" cap="flat" cmpd="sng">
            <a:solidFill>
              <a:schemeClr val="dk1"/>
            </a:solidFill>
            <a:prstDash val="solid"/>
            <a:round/>
            <a:headEnd type="none" w="med" len="med"/>
            <a:tailEnd type="none" w="med" len="med"/>
          </a:ln>
        </p:spPr>
      </p:cxnSp>
      <p:sp>
        <p:nvSpPr>
          <p:cNvPr id="82" name="Google Shape;82;p18"/>
          <p:cNvSpPr/>
          <p:nvPr/>
        </p:nvSpPr>
        <p:spPr>
          <a:xfrm>
            <a:off x="17260" y="77495"/>
            <a:ext cx="476700" cy="457800"/>
          </a:xfrm>
          <a:prstGeom prst="star4">
            <a:avLst>
              <a:gd name="adj" fmla="val 1020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ang trình bày chứa tiêu đề 1 1">
  <p:cSld name="Trang trình bày chứa tiêu đề 1 1">
    <p:spTree>
      <p:nvGrpSpPr>
        <p:cNvPr id="1" name="Shape 83"/>
        <p:cNvGrpSpPr/>
        <p:nvPr/>
      </p:nvGrpSpPr>
      <p:grpSpPr>
        <a:xfrm>
          <a:off x="0" y="0"/>
          <a:ext cx="0" cy="0"/>
          <a:chOff x="0" y="0"/>
          <a:chExt cx="0" cy="0"/>
        </a:xfrm>
      </p:grpSpPr>
      <p:sp>
        <p:nvSpPr>
          <p:cNvPr id="84" name="Google Shape;84;p19"/>
          <p:cNvSpPr txBox="1">
            <a:spLocks noGrp="1"/>
          </p:cNvSpPr>
          <p:nvPr>
            <p:ph type="sldNum" idx="12"/>
          </p:nvPr>
        </p:nvSpPr>
        <p:spPr>
          <a:xfrm>
            <a:off x="8472458" y="4663217"/>
            <a:ext cx="548700" cy="393600"/>
          </a:xfrm>
          <a:prstGeom prst="rect">
            <a:avLst/>
          </a:prstGeom>
          <a:noFill/>
          <a:ln>
            <a:noFill/>
          </a:ln>
        </p:spPr>
        <p:txBody>
          <a:bodyPr spcFirstLastPara="1" wrap="square" lIns="68575" tIns="68575" rIns="68575" bIns="68575" anchor="ctr" anchorCtr="0">
            <a:norm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85" name="Google Shape;85;p19"/>
          <p:cNvPicPr preferRelativeResize="0"/>
          <p:nvPr/>
        </p:nvPicPr>
        <p:blipFill rotWithShape="1">
          <a:blip r:embed="rId2">
            <a:alphaModFix/>
          </a:blip>
          <a:srcRect t="12165" r="1942"/>
          <a:stretch/>
        </p:blipFill>
        <p:spPr>
          <a:xfrm>
            <a:off x="0" y="1"/>
            <a:ext cx="9144010" cy="51434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mp; Bullets">
  <p:cSld name="TITLE_AND_BODY_1">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452438" y="404813"/>
            <a:ext cx="8239200" cy="537300"/>
          </a:xfrm>
          <a:prstGeom prst="rect">
            <a:avLst/>
          </a:prstGeom>
          <a:noFill/>
          <a:ln>
            <a:noFill/>
          </a:ln>
        </p:spPr>
        <p:txBody>
          <a:bodyPr spcFirstLastPara="1" wrap="square" lIns="19050" tIns="19050" rIns="19050" bIns="19050" anchor="t" anchorCtr="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a:endParaRPr/>
          </a:p>
        </p:txBody>
      </p:sp>
      <p:sp>
        <p:nvSpPr>
          <p:cNvPr id="88" name="Google Shape;88;p20"/>
          <p:cNvSpPr txBox="1">
            <a:spLocks noGrp="1"/>
          </p:cNvSpPr>
          <p:nvPr>
            <p:ph type="body" idx="1"/>
          </p:nvPr>
        </p:nvSpPr>
        <p:spPr>
          <a:xfrm>
            <a:off x="452438" y="889861"/>
            <a:ext cx="8239200" cy="350700"/>
          </a:xfrm>
          <a:prstGeom prst="rect">
            <a:avLst/>
          </a:prstGeom>
          <a:noFill/>
          <a:ln>
            <a:noFill/>
          </a:ln>
        </p:spPr>
        <p:txBody>
          <a:bodyPr spcFirstLastPara="1" wrap="square" lIns="17150" tIns="17150" rIns="17150" bIns="17150" anchor="t" anchorCtr="0">
            <a:normAutofit/>
          </a:bodyPr>
          <a:lstStyle>
            <a:lvl1pPr marL="457200" lvl="0" indent="-228600" algn="l">
              <a:lnSpc>
                <a:spcPct val="100000"/>
              </a:lnSpc>
              <a:spcBef>
                <a:spcPts val="0"/>
              </a:spcBef>
              <a:spcAft>
                <a:spcPts val="0"/>
              </a:spcAft>
              <a:buClr>
                <a:srgbClr val="000000"/>
              </a:buClr>
              <a:buSzPts val="2100"/>
              <a:buFont typeface="Helvetica Neue"/>
              <a:buNone/>
              <a:defRPr sz="2100" b="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89" name="Google Shape;89;p20"/>
          <p:cNvSpPr txBox="1">
            <a:spLocks noGrp="1"/>
          </p:cNvSpPr>
          <p:nvPr>
            <p:ph type="body" idx="2"/>
          </p:nvPr>
        </p:nvSpPr>
        <p:spPr>
          <a:xfrm>
            <a:off x="452438" y="1593189"/>
            <a:ext cx="8239200" cy="3096000"/>
          </a:xfrm>
          <a:prstGeom prst="rect">
            <a:avLst/>
          </a:prstGeom>
          <a:noFill/>
          <a:ln>
            <a:noFill/>
          </a:ln>
        </p:spPr>
        <p:txBody>
          <a:bodyPr spcFirstLastPara="1" wrap="square" lIns="19050" tIns="19050" rIns="19050" bIns="19050" anchor="t" anchorCtr="0">
            <a:normAutofit/>
          </a:bodyPr>
          <a:lstStyle>
            <a:lvl1pPr marL="457200" lvl="0" indent="-279400" algn="l">
              <a:lnSpc>
                <a:spcPct val="90000"/>
              </a:lnSpc>
              <a:spcBef>
                <a:spcPts val="1700"/>
              </a:spcBef>
              <a:spcAft>
                <a:spcPts val="0"/>
              </a:spcAft>
              <a:buClr>
                <a:srgbClr val="000000"/>
              </a:buClr>
              <a:buSzPts val="800"/>
              <a:buChar char="•"/>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90" name="Google Shape;90;p20"/>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HM 1">
  <p:cSld name="CUSTOM">
    <p:spTree>
      <p:nvGrpSpPr>
        <p:cNvPr id="1" name="Shape 91"/>
        <p:cNvGrpSpPr/>
        <p:nvPr/>
      </p:nvGrpSpPr>
      <p:grpSpPr>
        <a:xfrm>
          <a:off x="0" y="0"/>
          <a:ext cx="0" cy="0"/>
          <a:chOff x="0" y="0"/>
          <a:chExt cx="0" cy="0"/>
        </a:xfrm>
      </p:grpSpPr>
      <p:sp>
        <p:nvSpPr>
          <p:cNvPr id="92" name="Google Shape;92;p21"/>
          <p:cNvSpPr/>
          <p:nvPr/>
        </p:nvSpPr>
        <p:spPr>
          <a:xfrm>
            <a:off x="75" y="0"/>
            <a:ext cx="9144000" cy="5143500"/>
          </a:xfrm>
          <a:prstGeom prst="rect">
            <a:avLst/>
          </a:prstGeom>
          <a:solidFill>
            <a:srgbClr val="004A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21"/>
          <p:cNvSpPr/>
          <p:nvPr/>
        </p:nvSpPr>
        <p:spPr>
          <a:xfrm>
            <a:off x="75" y="0"/>
            <a:ext cx="7447200" cy="5143500"/>
          </a:xfrm>
          <a:prstGeom prst="trapezoid">
            <a:avLst>
              <a:gd name="adj" fmla="val 68512"/>
            </a:avLst>
          </a:prstGeom>
          <a:solidFill>
            <a:srgbClr val="FF751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21"/>
          <p:cNvSpPr/>
          <p:nvPr/>
        </p:nvSpPr>
        <p:spPr>
          <a:xfrm>
            <a:off x="283350" y="212100"/>
            <a:ext cx="8577300" cy="4719300"/>
          </a:xfrm>
          <a:prstGeom prst="roundRect">
            <a:avLst>
              <a:gd name="adj" fmla="val 5219"/>
            </a:avLst>
          </a:prstGeom>
          <a:solidFill>
            <a:srgbClr val="F9F9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ố cục tùy chỉnh 1">
  <p:cSld name="CUSTOM_1">
    <p:spTree>
      <p:nvGrpSpPr>
        <p:cNvPr id="1" name="Shape 95"/>
        <p:cNvGrpSpPr/>
        <p:nvPr/>
      </p:nvGrpSpPr>
      <p:grpSpPr>
        <a:xfrm>
          <a:off x="0" y="0"/>
          <a:ext cx="0" cy="0"/>
          <a:chOff x="0" y="0"/>
          <a:chExt cx="0" cy="0"/>
        </a:xfrm>
      </p:grpSpPr>
      <p:sp>
        <p:nvSpPr>
          <p:cNvPr id="96" name="Google Shape;96;p22"/>
          <p:cNvSpPr/>
          <p:nvPr/>
        </p:nvSpPr>
        <p:spPr>
          <a:xfrm>
            <a:off x="75" y="0"/>
            <a:ext cx="9144000" cy="5143500"/>
          </a:xfrm>
          <a:prstGeom prst="rect">
            <a:avLst/>
          </a:prstGeom>
          <a:solidFill>
            <a:srgbClr val="004A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lide 2 master">
  <p:cSld name="Slide 2 master">
    <p:bg>
      <p:bgPr>
        <a:solidFill>
          <a:srgbClr val="000000"/>
        </a:solidFill>
        <a:effectLst/>
      </p:bgPr>
    </p:bg>
    <p:spTree>
      <p:nvGrpSpPr>
        <p:cNvPr id="1" name="Shape 97"/>
        <p:cNvGrpSpPr/>
        <p:nvPr/>
      </p:nvGrpSpPr>
      <p:grpSpPr>
        <a:xfrm>
          <a:off x="0" y="0"/>
          <a:ext cx="0" cy="0"/>
          <a:chOff x="0" y="0"/>
          <a:chExt cx="0" cy="0"/>
        </a:xfrm>
      </p:grpSpPr>
      <p:sp>
        <p:nvSpPr>
          <p:cNvPr id="98" name="Google Shape;98;p23"/>
          <p:cNvSpPr/>
          <p:nvPr/>
        </p:nvSpPr>
        <p:spPr>
          <a:xfrm>
            <a:off x="0" y="0"/>
            <a:ext cx="9144000" cy="5143500"/>
          </a:xfrm>
          <a:prstGeom prst="rect">
            <a:avLst/>
          </a:prstGeom>
          <a:solidFill>
            <a:srgbClr val="BFC9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99" name="Google Shape;99;p23"/>
          <p:cNvSpPr/>
          <p:nvPr/>
        </p:nvSpPr>
        <p:spPr>
          <a:xfrm>
            <a:off x="0" y="0"/>
            <a:ext cx="9144000" cy="5143500"/>
          </a:xfrm>
          <a:prstGeom prst="rect">
            <a:avLst/>
          </a:prstGeom>
          <a:solidFill>
            <a:srgbClr val="F2F4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00" name="Google Shape;100;p23"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6_Guide_white_Bg">
  <p:cSld name="6_Guide_white_Bg">
    <p:spTree>
      <p:nvGrpSpPr>
        <p:cNvPr id="1" name="Shape 102"/>
        <p:cNvGrpSpPr/>
        <p:nvPr/>
      </p:nvGrpSpPr>
      <p:grpSpPr>
        <a:xfrm>
          <a:off x="0" y="0"/>
          <a:ext cx="0" cy="0"/>
          <a:chOff x="0" y="0"/>
          <a:chExt cx="0" cy="0"/>
        </a:xfrm>
      </p:grpSpPr>
      <p:sp>
        <p:nvSpPr>
          <p:cNvPr id="103" name="Google Shape;103;p25" descr="A black background with a blue and red line&#10;&#10;AI-generated content may be incorrect."/>
          <p:cNvSpPr/>
          <p:nvPr/>
        </p:nvSpPr>
        <p:spPr>
          <a:xfrm>
            <a:off x="0" y="0"/>
            <a:ext cx="9144000" cy="898863"/>
          </a:xfrm>
          <a:prstGeom prst="rect">
            <a:avLst/>
          </a:prstGeom>
          <a:noFill/>
          <a:ln>
            <a:noFill/>
          </a:ln>
        </p:spPr>
      </p:sp>
      <p:sp>
        <p:nvSpPr>
          <p:cNvPr id="104" name="Google Shape;104;p25"/>
          <p:cNvSpPr>
            <a:spLocks noGrp="1"/>
          </p:cNvSpPr>
          <p:nvPr>
            <p:ph type="pic" idx="2"/>
          </p:nvPr>
        </p:nvSpPr>
        <p:spPr>
          <a:xfrm>
            <a:off x="5201841" y="0"/>
            <a:ext cx="3942300" cy="5143500"/>
          </a:xfrm>
          <a:prstGeom prst="rect">
            <a:avLst/>
          </a:prstGeom>
          <a:noFill/>
          <a:ln>
            <a:noFill/>
          </a:ln>
        </p:spPr>
      </p:sp>
      <p:sp>
        <p:nvSpPr>
          <p:cNvPr id="105" name="Google Shape;105;p25"/>
          <p:cNvSpPr txBox="1">
            <a:spLocks noGrp="1"/>
          </p:cNvSpPr>
          <p:nvPr>
            <p:ph type="sldNum" idx="12"/>
          </p:nvPr>
        </p:nvSpPr>
        <p:spPr>
          <a:xfrm>
            <a:off x="6840311" y="4667999"/>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25"/>
          <p:cNvSpPr txBox="1">
            <a:spLocks noGrp="1"/>
          </p:cNvSpPr>
          <p:nvPr>
            <p:ph type="title"/>
          </p:nvPr>
        </p:nvSpPr>
        <p:spPr>
          <a:xfrm>
            <a:off x="234083" y="0"/>
            <a:ext cx="7945500" cy="8178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800"/>
              <a:buFont typeface="Be Vietnam Pro SemiBold"/>
              <a:buNone/>
              <a:defRPr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209">
          <p15:clr>
            <a:srgbClr val="FBAE40"/>
          </p15:clr>
        </p15:guide>
        <p15:guide id="2" pos="209">
          <p15:clr>
            <a:srgbClr val="FBAE40"/>
          </p15:clr>
        </p15:guide>
        <p15:guide id="3" pos="5551">
          <p15:clr>
            <a:srgbClr val="FBAE40"/>
          </p15:clr>
        </p15:guide>
        <p15:guide id="4" orient="horz" pos="2929">
          <p15:clr>
            <a:srgbClr val="FBAE40"/>
          </p15:clr>
        </p15:guide>
        <p15:guide id="5" pos="567">
          <p15:clr>
            <a:srgbClr val="FBAE40"/>
          </p15:clr>
        </p15:guide>
        <p15:guide id="6" pos="669">
          <p15:clr>
            <a:srgbClr val="FBAE40"/>
          </p15:clr>
        </p15:guide>
        <p15:guide id="7" pos="1043">
          <p15:clr>
            <a:srgbClr val="FBAE40"/>
          </p15:clr>
        </p15:guide>
        <p15:guide id="8" pos="1111">
          <p15:clr>
            <a:srgbClr val="FBAE40"/>
          </p15:clr>
        </p15:guide>
        <p15:guide id="9" pos="1485">
          <p15:clr>
            <a:srgbClr val="FBAE40"/>
          </p15:clr>
        </p15:guide>
        <p15:guide id="10" pos="1571">
          <p15:clr>
            <a:srgbClr val="FBAE40"/>
          </p15:clr>
        </p15:guide>
        <p15:guide id="11" pos="1927">
          <p15:clr>
            <a:srgbClr val="FBAE40"/>
          </p15:clr>
        </p15:guide>
        <p15:guide id="12" pos="2029">
          <p15:clr>
            <a:srgbClr val="FBAE40"/>
          </p15:clr>
        </p15:guide>
        <p15:guide id="13" pos="2387">
          <p15:clr>
            <a:srgbClr val="FBAE40"/>
          </p15:clr>
        </p15:guide>
        <p15:guide id="14" pos="2472">
          <p15:clr>
            <a:srgbClr val="FBAE40"/>
          </p15:clr>
        </p15:guide>
        <p15:guide id="15" pos="2846">
          <p15:clr>
            <a:srgbClr val="FBAE40"/>
          </p15:clr>
        </p15:guide>
        <p15:guide id="16" pos="2914">
          <p15:clr>
            <a:srgbClr val="FBAE40"/>
          </p15:clr>
        </p15:guide>
        <p15:guide id="17" pos="3288">
          <p15:clr>
            <a:srgbClr val="FBAE40"/>
          </p15:clr>
        </p15:guide>
        <p15:guide id="18" pos="3363">
          <p15:clr>
            <a:srgbClr val="FBAE40"/>
          </p15:clr>
        </p15:guide>
        <p15:guide id="19" pos="3764">
          <p15:clr>
            <a:srgbClr val="FBAE40"/>
          </p15:clr>
        </p15:guide>
        <p15:guide id="20" pos="3833">
          <p15:clr>
            <a:srgbClr val="FBAE40"/>
          </p15:clr>
        </p15:guide>
        <p15:guide id="21" pos="4189">
          <p15:clr>
            <a:srgbClr val="FBAE40"/>
          </p15:clr>
        </p15:guide>
        <p15:guide id="22" pos="4258">
          <p15:clr>
            <a:srgbClr val="FBAE40"/>
          </p15:clr>
        </p15:guide>
        <p15:guide id="23" pos="4632">
          <p15:clr>
            <a:srgbClr val="FBAE40"/>
          </p15:clr>
        </p15:guide>
        <p15:guide id="24" pos="4717">
          <p15:clr>
            <a:srgbClr val="FBAE40"/>
          </p15:clr>
        </p15:guide>
        <p15:guide id="25" pos="5108">
          <p15:clr>
            <a:srgbClr val="FBAE40"/>
          </p15:clr>
        </p15:guide>
        <p15:guide id="26" pos="5166">
          <p15:clr>
            <a:srgbClr val="FBAE40"/>
          </p15:clr>
        </p15:guide>
        <p15:guide id="27" orient="horz" pos="752">
          <p15:clr>
            <a:srgbClr val="FBAE40"/>
          </p15:clr>
        </p15:guide>
        <p15:guide id="28" orient="horz" pos="838">
          <p15:clr>
            <a:srgbClr val="FBAE40"/>
          </p15:clr>
        </p15:guide>
        <p15:guide id="29" orient="horz" pos="1518">
          <p15:clr>
            <a:srgbClr val="FBAE40"/>
          </p15:clr>
        </p15:guide>
        <p15:guide id="30" orient="horz" pos="1593">
          <p15:clr>
            <a:srgbClr val="FBAE40"/>
          </p15:clr>
        </p15:guide>
        <p15:guide id="31" orient="horz" pos="2284">
          <p15:clr>
            <a:srgbClr val="FBAE40"/>
          </p15:clr>
        </p15:guide>
        <p15:guide id="32" orient="horz" pos="2335">
          <p15:clr>
            <a:srgbClr val="FBAE40"/>
          </p15:clr>
        </p15:guide>
        <p15:guide id="33" orient="horz" pos="304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8"/>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11" name="Google Shape;111;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2" name="Google Shape;112;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115" name="Google Shape;115;p2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6" name="Google Shape;11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0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openxmlformats.org/officeDocument/2006/relationships/hyperlink" Target="https://docs.google.com/presentation/d/1fo7sgyZylG4nNR12p5sGsfJEGazam9PoHH-iUNhvYEI/edit?usp=shar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5.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5.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hyperlink" Target="https://weatherspark.com/h/m/116009/2026/8/Historical-Weather-in-August-2026-in-Hanoi-Vietnam#Figures-ObservedWeathe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5.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5.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5.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5.xml"/><Relationship Id="rId5" Type="http://schemas.openxmlformats.org/officeDocument/2006/relationships/image" Target="../media/image22.png"/><Relationship Id="rId4" Type="http://schemas.openxmlformats.org/officeDocument/2006/relationships/hyperlink" Target="https://docs.google.com/spreadsheets/d/1cqnYbVlrnq1baPi8OGIGkTSuo3f6N0IaNUfK4hGdnz4/edit?gid=1989307193#gid=198930719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hyperlink" Target="https://docs.google.com/spreadsheets/d/1SDbpqQ2AZ0GUSd7IswjzpfycG6-waYsZqsfZSCi2hiI/edit?gid=1025408766#gid=1025408766"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5.xml"/><Relationship Id="rId5" Type="http://schemas.openxmlformats.org/officeDocument/2006/relationships/hyperlink" Target="https://www.youtube.com/watch?v=YYB47UZQG-E" TargetMode="External"/><Relationship Id="rId4" Type="http://schemas.openxmlformats.org/officeDocument/2006/relationships/hyperlink" Target="https://docs.google.com/spreadsheets/d/1DlP4_8HM4UC8HwHgd64nTdvf8JU2XNXQoav_lN9osFw/edit?gid=1317320531#gid=1317320531"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5.xml"/><Relationship Id="rId5" Type="http://schemas.openxmlformats.org/officeDocument/2006/relationships/image" Target="../media/image44.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5.xml"/><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5.xml"/><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5.xml"/><Relationship Id="rId5" Type="http://schemas.openxmlformats.org/officeDocument/2006/relationships/image" Target="../media/image50.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5.xml"/><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5.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2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4.png"/><Relationship Id="rId7"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25.xml"/><Relationship Id="rId6" Type="http://schemas.openxmlformats.org/officeDocument/2006/relationships/image" Target="../media/image55.png"/><Relationship Id="rId5" Type="http://schemas.openxmlformats.org/officeDocument/2006/relationships/image" Target="../media/image57.png"/><Relationship Id="rId10" Type="http://schemas.openxmlformats.org/officeDocument/2006/relationships/image" Target="../media/image63.png"/><Relationship Id="rId4" Type="http://schemas.openxmlformats.org/officeDocument/2006/relationships/image" Target="../media/image56.png"/><Relationship Id="rId9" Type="http://schemas.openxmlformats.org/officeDocument/2006/relationships/image" Target="../media/image62.png"/></Relationships>
</file>

<file path=ppt/slides/_rels/slide3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25.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4174"/>
        </a:solidFill>
        <a:effectLst/>
      </p:bgPr>
    </p:bg>
    <p:spTree>
      <p:nvGrpSpPr>
        <p:cNvPr id="1" name="Shape 601"/>
        <p:cNvGrpSpPr/>
        <p:nvPr/>
      </p:nvGrpSpPr>
      <p:grpSpPr>
        <a:xfrm>
          <a:off x="0" y="0"/>
          <a:ext cx="0" cy="0"/>
          <a:chOff x="0" y="0"/>
          <a:chExt cx="0" cy="0"/>
        </a:xfrm>
      </p:grpSpPr>
      <p:sp>
        <p:nvSpPr>
          <p:cNvPr id="602" name="Google Shape;602;p41"/>
          <p:cNvSpPr/>
          <p:nvPr/>
        </p:nvSpPr>
        <p:spPr>
          <a:xfrm>
            <a:off x="5943600" y="0"/>
            <a:ext cx="3200400" cy="5143500"/>
          </a:xfrm>
          <a:prstGeom prst="rect">
            <a:avLst/>
          </a:prstGeom>
          <a:solidFill>
            <a:srgbClr val="0A2F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1"/>
          <p:cNvSpPr/>
          <p:nvPr/>
        </p:nvSpPr>
        <p:spPr>
          <a:xfrm>
            <a:off x="0" y="0"/>
            <a:ext cx="9144000" cy="915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1"/>
          <p:cNvSpPr/>
          <p:nvPr/>
        </p:nvSpPr>
        <p:spPr>
          <a:xfrm>
            <a:off x="548640" y="1097280"/>
            <a:ext cx="54864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libri"/>
              <a:buNone/>
            </a:pPr>
            <a:r>
              <a:rPr lang="en" sz="3200" b="1" i="0" u="none" strike="noStrike" cap="none">
                <a:solidFill>
                  <a:srgbClr val="FFFFFF"/>
                </a:solidFill>
                <a:latin typeface="Lexend"/>
                <a:ea typeface="Lexend"/>
                <a:cs typeface="Lexend"/>
                <a:sym typeface="Lexend"/>
              </a:rPr>
              <a:t>BÁO CÁO VẬN HÀNH DM</a:t>
            </a:r>
            <a:endParaRPr sz="3200" b="1" i="0" u="none" strike="noStrike" cap="none">
              <a:solidFill>
                <a:schemeClr val="dk1"/>
              </a:solidFill>
              <a:latin typeface="Lexend"/>
              <a:ea typeface="Lexend"/>
              <a:cs typeface="Lexend"/>
              <a:sym typeface="Lexend"/>
            </a:endParaRPr>
          </a:p>
        </p:txBody>
      </p:sp>
      <p:sp>
        <p:nvSpPr>
          <p:cNvPr id="605" name="Google Shape;605;p41"/>
          <p:cNvSpPr/>
          <p:nvPr/>
        </p:nvSpPr>
        <p:spPr>
          <a:xfrm>
            <a:off x="548640" y="1783080"/>
            <a:ext cx="54864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F32"/>
              </a:buClr>
              <a:buSzPts val="2600"/>
              <a:buFont typeface="Calibri"/>
              <a:buNone/>
            </a:pPr>
            <a:r>
              <a:rPr lang="en" sz="2600" b="1" i="0" u="none" strike="noStrike" cap="none">
                <a:solidFill>
                  <a:srgbClr val="FF7F32"/>
                </a:solidFill>
                <a:latin typeface="Lexend"/>
                <a:ea typeface="Lexend"/>
                <a:cs typeface="Lexend"/>
                <a:sym typeface="Lexend"/>
              </a:rPr>
              <a:t>WEEKLY REVIEW</a:t>
            </a:r>
            <a:endParaRPr sz="2600" b="1" i="0" u="none" strike="noStrike" cap="none">
              <a:solidFill>
                <a:schemeClr val="dk1"/>
              </a:solidFill>
              <a:latin typeface="Lexend"/>
              <a:ea typeface="Lexend"/>
              <a:cs typeface="Lexend"/>
              <a:sym typeface="Lexend"/>
            </a:endParaRPr>
          </a:p>
        </p:txBody>
      </p:sp>
      <p:sp>
        <p:nvSpPr>
          <p:cNvPr id="606" name="Google Shape;606;p41"/>
          <p:cNvSpPr/>
          <p:nvPr/>
        </p:nvSpPr>
        <p:spPr>
          <a:xfrm>
            <a:off x="548640" y="2514600"/>
            <a:ext cx="1371600" cy="366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1"/>
          <p:cNvSpPr/>
          <p:nvPr/>
        </p:nvSpPr>
        <p:spPr>
          <a:xfrm>
            <a:off x="548640" y="274320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Tuần: </a:t>
            </a:r>
            <a:r>
              <a:rPr lang="en" sz="1300">
                <a:solidFill>
                  <a:schemeClr val="lt1"/>
                </a:solidFill>
                <a:latin typeface="Lexend"/>
                <a:ea typeface="Lexend"/>
                <a:cs typeface="Lexend"/>
                <a:sym typeface="Lexend"/>
              </a:rPr>
              <a:t>[Tuần 33— 03-09/8/2026]</a:t>
            </a:r>
            <a:endParaRPr sz="1300" i="0" u="none" strike="noStrike" cap="none">
              <a:solidFill>
                <a:schemeClr val="dk1"/>
              </a:solidFill>
              <a:latin typeface="Lexend"/>
              <a:ea typeface="Lexend"/>
              <a:cs typeface="Lexend"/>
              <a:sym typeface="Lexend"/>
            </a:endParaRPr>
          </a:p>
        </p:txBody>
      </p:sp>
      <p:sp>
        <p:nvSpPr>
          <p:cNvPr id="608" name="Google Shape;608;p41"/>
          <p:cNvSpPr/>
          <p:nvPr/>
        </p:nvSpPr>
        <p:spPr>
          <a:xfrm>
            <a:off x="548640" y="310896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Khu vực: </a:t>
            </a:r>
            <a:r>
              <a:rPr lang="en" sz="1300" i="0" u="none" strike="noStrike" cap="none">
                <a:solidFill>
                  <a:srgbClr val="FFFFFF"/>
                </a:solidFill>
                <a:latin typeface="Lexend"/>
                <a:ea typeface="Lexend"/>
                <a:cs typeface="Lexend"/>
                <a:sym typeface="Lexend"/>
              </a:rPr>
              <a:t>SGN &amp; HAN</a:t>
            </a:r>
            <a:endParaRPr sz="1300" i="0" u="none" strike="noStrike" cap="none">
              <a:solidFill>
                <a:schemeClr val="dk1"/>
              </a:solidFill>
              <a:latin typeface="Lexend"/>
              <a:ea typeface="Lexend"/>
              <a:cs typeface="Lexend"/>
              <a:sym typeface="Lexend"/>
            </a:endParaRPr>
          </a:p>
        </p:txBody>
      </p:sp>
      <p:sp>
        <p:nvSpPr>
          <p:cNvPr id="609" name="Google Shape;609;p41"/>
          <p:cNvSpPr/>
          <p:nvPr/>
        </p:nvSpPr>
        <p:spPr>
          <a:xfrm>
            <a:off x="555936" y="3474720"/>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0" u="none" strike="noStrike" cap="none">
                <a:solidFill>
                  <a:srgbClr val="94A3B8"/>
                </a:solidFill>
                <a:latin typeface="Lexend"/>
                <a:ea typeface="Lexend"/>
                <a:cs typeface="Lexend"/>
                <a:sym typeface="Lexend"/>
              </a:rPr>
              <a:t>PIC: D</a:t>
            </a:r>
            <a:r>
              <a:rPr lang="en" sz="1300">
                <a:solidFill>
                  <a:srgbClr val="94A3B8"/>
                </a:solidFill>
                <a:latin typeface="Lexend"/>
                <a:ea typeface="Lexend"/>
                <a:cs typeface="Lexend"/>
                <a:sym typeface="Lexend"/>
              </a:rPr>
              <a:t>river Management Team</a:t>
            </a:r>
            <a:endParaRPr sz="1300" i="0" u="none" strike="noStrike" cap="none">
              <a:solidFill>
                <a:schemeClr val="dk1"/>
              </a:solidFill>
              <a:latin typeface="Lexend"/>
              <a:ea typeface="Lexend"/>
              <a:cs typeface="Lexend"/>
              <a:sym typeface="Lexend"/>
            </a:endParaRPr>
          </a:p>
        </p:txBody>
      </p:sp>
      <p:pic>
        <p:nvPicPr>
          <p:cNvPr id="610" name="Google Shape;610;p41" descr="preencoded.png"/>
          <p:cNvPicPr preferRelativeResize="0"/>
          <p:nvPr/>
        </p:nvPicPr>
        <p:blipFill rotWithShape="1">
          <a:blip r:embed="rId3">
            <a:alphaModFix/>
          </a:blip>
          <a:srcRect/>
          <a:stretch/>
        </p:blipFill>
        <p:spPr>
          <a:xfrm>
            <a:off x="6750325" y="1451032"/>
            <a:ext cx="1852850" cy="1852850"/>
          </a:xfrm>
          <a:prstGeom prst="rect">
            <a:avLst/>
          </a:prstGeom>
          <a:noFill/>
          <a:ln>
            <a:noFill/>
          </a:ln>
        </p:spPr>
      </p:pic>
      <p:sp>
        <p:nvSpPr>
          <p:cNvPr id="611" name="Google Shape;611;p41"/>
          <p:cNvSpPr/>
          <p:nvPr/>
        </p:nvSpPr>
        <p:spPr>
          <a:xfrm>
            <a:off x="0" y="4663440"/>
            <a:ext cx="9144000" cy="480000"/>
          </a:xfrm>
          <a:prstGeom prst="rect">
            <a:avLst/>
          </a:prstGeom>
          <a:solidFill>
            <a:srgbClr val="0A2F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1"/>
          <p:cNvSpPr/>
          <p:nvPr/>
        </p:nvSpPr>
        <p:spPr>
          <a:xfrm>
            <a:off x="8229600" y="4800600"/>
            <a:ext cx="7314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1 / 11</a:t>
            </a:r>
            <a:endParaRPr sz="800" b="0" i="0" u="none" strike="noStrike" cap="none">
              <a:solidFill>
                <a:schemeClr val="dk1"/>
              </a:solidFill>
              <a:latin typeface="Calibri"/>
              <a:ea typeface="Calibri"/>
              <a:cs typeface="Calibri"/>
              <a:sym typeface="Calibri"/>
            </a:endParaRPr>
          </a:p>
        </p:txBody>
      </p:sp>
      <p:sp>
        <p:nvSpPr>
          <p:cNvPr id="613" name="Google Shape;613;p41"/>
          <p:cNvSpPr/>
          <p:nvPr/>
        </p:nvSpPr>
        <p:spPr>
          <a:xfrm>
            <a:off x="5486395" y="105508"/>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614" name="Google Shape;614;p41"/>
          <p:cNvSpPr/>
          <p:nvPr/>
        </p:nvSpPr>
        <p:spPr>
          <a:xfrm>
            <a:off x="555936" y="4720595"/>
            <a:ext cx="4572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1300"/>
              <a:buFont typeface="Calibri"/>
              <a:buNone/>
            </a:pPr>
            <a:r>
              <a:rPr lang="en" sz="1300" i="1" u="sng">
                <a:solidFill>
                  <a:schemeClr val="hlink"/>
                </a:solidFill>
                <a:latin typeface="Lexend"/>
                <a:ea typeface="Lexend"/>
                <a:cs typeface="Lexend"/>
                <a:sym typeface="Lexend"/>
                <a:hlinkClick r:id="rId4"/>
              </a:rPr>
              <a:t>Backup Slides Report (Aug 2026)</a:t>
            </a:r>
            <a:endParaRPr sz="1300" i="1" u="none" strike="noStrike" cap="none">
              <a:solidFill>
                <a:schemeClr val="dk1"/>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19"/>
        <p:cNvGrpSpPr/>
        <p:nvPr/>
      </p:nvGrpSpPr>
      <p:grpSpPr>
        <a:xfrm>
          <a:off x="0" y="0"/>
          <a:ext cx="0" cy="0"/>
          <a:chOff x="0" y="0"/>
          <a:chExt cx="0" cy="0"/>
        </a:xfrm>
      </p:grpSpPr>
      <p:sp>
        <p:nvSpPr>
          <p:cNvPr id="620" name="Google Shape;620;p4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1" name="Google Shape;621;p42"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622" name="Google Shape;622;p42"/>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Summary: Highlights &amp; Lowlights</a:t>
            </a:r>
            <a:endParaRPr sz="2200" b="1" i="0" u="none" strike="noStrike" cap="none">
              <a:solidFill>
                <a:schemeClr val="dk1"/>
              </a:solidFill>
              <a:latin typeface="Lexend"/>
              <a:ea typeface="Lexend"/>
              <a:cs typeface="Lexend"/>
              <a:sym typeface="Lexend"/>
            </a:endParaRPr>
          </a:p>
        </p:txBody>
      </p:sp>
      <p:sp>
        <p:nvSpPr>
          <p:cNvPr id="623" name="Google Shape;623;p42"/>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624" name="Google Shape;624;p4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625" name="Google Shape;625;p42"/>
          <p:cNvSpPr/>
          <p:nvPr/>
        </p:nvSpPr>
        <p:spPr>
          <a:xfrm>
            <a:off x="14487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2"/>
          <p:cNvSpPr/>
          <p:nvPr/>
        </p:nvSpPr>
        <p:spPr>
          <a:xfrm>
            <a:off x="144875" y="1051550"/>
            <a:ext cx="59100" cy="23454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7" name="Google Shape;627;p42" descr="preencoded.png"/>
          <p:cNvPicPr preferRelativeResize="0"/>
          <p:nvPr/>
        </p:nvPicPr>
        <p:blipFill rotWithShape="1">
          <a:blip r:embed="rId4">
            <a:alphaModFix/>
          </a:blip>
          <a:srcRect/>
          <a:stretch/>
        </p:blipFill>
        <p:spPr>
          <a:xfrm>
            <a:off x="336169" y="1143000"/>
            <a:ext cx="210412" cy="201168"/>
          </a:xfrm>
          <a:prstGeom prst="rect">
            <a:avLst/>
          </a:prstGeom>
          <a:noFill/>
          <a:ln>
            <a:noFill/>
          </a:ln>
        </p:spPr>
      </p:pic>
      <p:sp>
        <p:nvSpPr>
          <p:cNvPr id="628" name="Google Shape;628;p42"/>
          <p:cNvSpPr/>
          <p:nvPr/>
        </p:nvSpPr>
        <p:spPr>
          <a:xfrm>
            <a:off x="603965" y="1097280"/>
            <a:ext cx="2869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629" name="Google Shape;629;p42"/>
          <p:cNvSpPr/>
          <p:nvPr/>
        </p:nvSpPr>
        <p:spPr>
          <a:xfrm>
            <a:off x="341775" y="1343575"/>
            <a:ext cx="3889500" cy="200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RPH đạt 1.75, FR &gt;80%</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2. CR PoC chung đạt 12.43%</a:t>
            </a: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1000">
                <a:solidFill>
                  <a:srgbClr val="1E293B"/>
                </a:solidFill>
                <a:latin typeface="Lexend"/>
                <a:ea typeface="Lexend"/>
                <a:cs typeface="Lexend"/>
                <a:sym typeface="Lexend"/>
              </a:rPr>
              <a:t> </a:t>
            </a:r>
            <a:br>
              <a:rPr lang="en" sz="1000">
                <a:solidFill>
                  <a:srgbClr val="1E293B"/>
                </a:solidFill>
                <a:latin typeface="Lexend"/>
                <a:ea typeface="Lexend"/>
                <a:cs typeface="Lexend"/>
                <a:sym typeface="Lexend"/>
              </a:rPr>
            </a:br>
            <a:r>
              <a:rPr lang="en" sz="1000" b="1">
                <a:solidFill>
                  <a:srgbClr val="F56C1F"/>
                </a:solidFill>
                <a:latin typeface="Lexend"/>
                <a:ea typeface="Lexend"/>
                <a:cs typeface="Lexend"/>
                <a:sym typeface="Lexend"/>
              </a:rPr>
              <a:t>SGN</a:t>
            </a:r>
            <a:r>
              <a:rPr lang="en" sz="1000">
                <a:solidFill>
                  <a:srgbClr val="1E293B"/>
                </a:solidFill>
                <a:latin typeface="Lexend"/>
                <a:ea typeface="Lexend"/>
                <a:cs typeface="Lexend"/>
                <a:sym typeface="Lexend"/>
              </a:rPr>
              <a:t>:</a:t>
            </a: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1000">
                <a:solidFill>
                  <a:srgbClr val="1E293B"/>
                </a:solidFill>
                <a:latin typeface="Lexend"/>
                <a:ea typeface="Lexend"/>
                <a:cs typeface="Lexend"/>
                <a:sym typeface="Lexend"/>
              </a:rPr>
              <a:t>1. </a:t>
            </a:r>
            <a:br>
              <a:rPr lang="en" sz="1000">
                <a:solidFill>
                  <a:srgbClr val="1E293B"/>
                </a:solidFill>
                <a:latin typeface="Lexend"/>
                <a:ea typeface="Lexend"/>
                <a:cs typeface="Lexend"/>
                <a:sym typeface="Lexend"/>
              </a:rPr>
            </a:b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NW:</a:t>
            </a:r>
            <a:endParaRPr sz="1000" b="1">
              <a:solidFill>
                <a:srgbClr val="F56C1F"/>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1. CTR đạt 77.46%, đạt 130% target</a:t>
            </a:r>
            <a:endParaRPr sz="1000">
              <a:solidFill>
                <a:srgbClr val="1E293B"/>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2. GDR đạt 95.54%, đạt 120% target</a:t>
            </a:r>
            <a:endParaRPr sz="1000">
              <a:solidFill>
                <a:srgbClr val="F56C1F"/>
              </a:solidFill>
              <a:latin typeface="Lexend"/>
              <a:ea typeface="Lexend"/>
              <a:cs typeface="Lexend"/>
              <a:sym typeface="Lexend"/>
            </a:endParaRPr>
          </a:p>
        </p:txBody>
      </p:sp>
      <p:sp>
        <p:nvSpPr>
          <p:cNvPr id="630" name="Google Shape;630;p42"/>
          <p:cNvSpPr/>
          <p:nvPr/>
        </p:nvSpPr>
        <p:spPr>
          <a:xfrm>
            <a:off x="467832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2"/>
          <p:cNvSpPr/>
          <p:nvPr/>
        </p:nvSpPr>
        <p:spPr>
          <a:xfrm>
            <a:off x="4678325" y="1051550"/>
            <a:ext cx="59100" cy="2345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2" name="Google Shape;632;p42" descr="preencoded.png"/>
          <p:cNvPicPr preferRelativeResize="0"/>
          <p:nvPr/>
        </p:nvPicPr>
        <p:blipFill rotWithShape="1">
          <a:blip r:embed="rId5">
            <a:alphaModFix/>
          </a:blip>
          <a:srcRect/>
          <a:stretch/>
        </p:blipFill>
        <p:spPr>
          <a:xfrm>
            <a:off x="4991886" y="1163236"/>
            <a:ext cx="210415" cy="245709"/>
          </a:xfrm>
          <a:prstGeom prst="rect">
            <a:avLst/>
          </a:prstGeom>
          <a:noFill/>
          <a:ln>
            <a:noFill/>
          </a:ln>
        </p:spPr>
      </p:pic>
      <p:sp>
        <p:nvSpPr>
          <p:cNvPr id="633" name="Google Shape;633;p42"/>
          <p:cNvSpPr/>
          <p:nvPr/>
        </p:nvSpPr>
        <p:spPr>
          <a:xfrm>
            <a:off x="5259687" y="1107393"/>
            <a:ext cx="28692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634" name="Google Shape;634;p42"/>
          <p:cNvSpPr/>
          <p:nvPr/>
        </p:nvSpPr>
        <p:spPr>
          <a:xfrm>
            <a:off x="4832475" y="1427875"/>
            <a:ext cx="4089600" cy="1920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Retention rate &gt;= 22 tuổi đạt ~75.43%, đã chạy policy nhưng AR tương đối thấp</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2.</a:t>
            </a: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r>
              <a:rPr lang="en" sz="1000" b="1">
                <a:solidFill>
                  <a:srgbClr val="F56C1F"/>
                </a:solidFill>
                <a:latin typeface="Lexend"/>
                <a:ea typeface="Lexend"/>
                <a:cs typeface="Lexend"/>
                <a:sym typeface="Lexend"/>
              </a:rPr>
              <a:t>SGN</a:t>
            </a:r>
            <a:r>
              <a:rPr lang="en" sz="1000">
                <a:solidFill>
                  <a:srgbClr val="1E293B"/>
                </a:solidFill>
                <a:latin typeface="Lexend"/>
                <a:ea typeface="Lexend"/>
                <a:cs typeface="Lexend"/>
                <a:sym typeface="Lexend"/>
              </a:rPr>
              <a:t>:</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1. </a:t>
            </a:r>
            <a:endParaRPr sz="1000">
              <a:solidFill>
                <a:srgbClr val="1E293B"/>
              </a:solidFill>
              <a:latin typeface="Lexend"/>
              <a:ea typeface="Lexend"/>
              <a:cs typeface="Lexend"/>
              <a:sym typeface="Lexend"/>
            </a:endParaRPr>
          </a:p>
        </p:txBody>
      </p:sp>
      <p:sp>
        <p:nvSpPr>
          <p:cNvPr id="635" name="Google Shape;635;p42"/>
          <p:cNvSpPr/>
          <p:nvPr/>
        </p:nvSpPr>
        <p:spPr>
          <a:xfrm>
            <a:off x="144875" y="3496450"/>
            <a:ext cx="8816100" cy="15921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2"/>
          <p:cNvSpPr/>
          <p:nvPr/>
        </p:nvSpPr>
        <p:spPr>
          <a:xfrm>
            <a:off x="144875" y="3496450"/>
            <a:ext cx="59400" cy="15414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7" name="Google Shape;637;p42" descr="preencoded.png"/>
          <p:cNvPicPr preferRelativeResize="0"/>
          <p:nvPr/>
        </p:nvPicPr>
        <p:blipFill rotWithShape="1">
          <a:blip r:embed="rId6">
            <a:alphaModFix/>
          </a:blip>
          <a:srcRect/>
          <a:stretch/>
        </p:blipFill>
        <p:spPr>
          <a:xfrm>
            <a:off x="365790" y="3583810"/>
            <a:ext cx="182880" cy="182880"/>
          </a:xfrm>
          <a:prstGeom prst="rect">
            <a:avLst/>
          </a:prstGeom>
          <a:noFill/>
          <a:ln>
            <a:noFill/>
          </a:ln>
        </p:spPr>
      </p:pic>
      <p:sp>
        <p:nvSpPr>
          <p:cNvPr id="638" name="Google Shape;638;p42"/>
          <p:cNvSpPr/>
          <p:nvPr/>
        </p:nvSpPr>
        <p:spPr>
          <a:xfrm>
            <a:off x="621822" y="3547234"/>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ACTIONS ĐÃ THỰC THI TUẦN QUA</a:t>
            </a:r>
            <a:endParaRPr sz="1100" i="0" u="none" strike="noStrike" cap="none">
              <a:solidFill>
                <a:schemeClr val="dk1"/>
              </a:solidFill>
              <a:latin typeface="Lexend"/>
              <a:ea typeface="Lexend"/>
              <a:cs typeface="Lexend"/>
              <a:sym typeface="Lexend"/>
            </a:endParaRPr>
          </a:p>
        </p:txBody>
      </p:sp>
      <p:graphicFrame>
        <p:nvGraphicFramePr>
          <p:cNvPr id="639" name="Google Shape;639;p42"/>
          <p:cNvGraphicFramePr/>
          <p:nvPr/>
        </p:nvGraphicFramePr>
        <p:xfrm>
          <a:off x="365790" y="3803347"/>
          <a:ext cx="3000000" cy="3000000"/>
        </p:xfrm>
        <a:graphic>
          <a:graphicData uri="http://schemas.openxmlformats.org/drawingml/2006/table">
            <a:tbl>
              <a:tblPr>
                <a:noFill/>
                <a:tableStyleId>{1B6E03F7-A7B3-402D-A52F-665CEB5CA1F2}</a:tableStyleId>
              </a:tblPr>
              <a:tblGrid>
                <a:gridCol w="2832875">
                  <a:extLst>
                    <a:ext uri="{9D8B030D-6E8A-4147-A177-3AD203B41FA5}">
                      <a16:colId xmlns:a16="http://schemas.microsoft.com/office/drawing/2014/main" val="20000"/>
                    </a:ext>
                  </a:extLst>
                </a:gridCol>
                <a:gridCol w="1911175">
                  <a:extLst>
                    <a:ext uri="{9D8B030D-6E8A-4147-A177-3AD203B41FA5}">
                      <a16:colId xmlns:a16="http://schemas.microsoft.com/office/drawing/2014/main" val="20001"/>
                    </a:ext>
                  </a:extLst>
                </a:gridCol>
                <a:gridCol w="3119825">
                  <a:extLst>
                    <a:ext uri="{9D8B030D-6E8A-4147-A177-3AD203B41FA5}">
                      <a16:colId xmlns:a16="http://schemas.microsoft.com/office/drawing/2014/main" val="20002"/>
                    </a:ext>
                  </a:extLst>
                </a:gridCol>
                <a:gridCol w="548625">
                  <a:extLst>
                    <a:ext uri="{9D8B030D-6E8A-4147-A177-3AD203B41FA5}">
                      <a16:colId xmlns:a16="http://schemas.microsoft.com/office/drawing/2014/main" val="20003"/>
                    </a:ext>
                  </a:extLst>
                </a:gridCol>
              </a:tblGrid>
              <a:tr h="212050">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Action</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Kết quả</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Impact (KPI)</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Status</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246875">
                <a:tc>
                  <a:txBody>
                    <a:bodyPr/>
                    <a:lstStyle/>
                    <a:p>
                      <a:pPr marL="0" lvl="0" indent="0" algn="l" rtl="0">
                        <a:spcBef>
                          <a:spcPts val="0"/>
                        </a:spcBef>
                        <a:spcAft>
                          <a:spcPts val="0"/>
                        </a:spcAft>
                        <a:buNone/>
                      </a:pPr>
                      <a:r>
                        <a:rPr lang="en" sz="1000">
                          <a:latin typeface="Lexend"/>
                          <a:ea typeface="Lexend"/>
                          <a:cs typeface="Lexend"/>
                          <a:sym typeface="Lexend"/>
                        </a:rPr>
                        <a:t>CHL kéo RR tháng 7 đợt 2</a:t>
                      </a: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en" sz="800">
                          <a:latin typeface="Lexend"/>
                          <a:ea typeface="Lexend"/>
                          <a:cs typeface="Lexend"/>
                          <a:sym typeface="Lexend"/>
                        </a:rPr>
                        <a:t>Accept:</a:t>
                      </a:r>
                      <a:br>
                        <a:rPr lang="en" sz="800">
                          <a:latin typeface="Lexend"/>
                          <a:ea typeface="Lexend"/>
                          <a:cs typeface="Lexend"/>
                          <a:sym typeface="Lexend"/>
                        </a:rPr>
                      </a:br>
                      <a:r>
                        <a:rPr lang="en" sz="800">
                          <a:latin typeface="Lexend"/>
                          <a:ea typeface="Lexend"/>
                          <a:cs typeface="Lexend"/>
                          <a:sym typeface="Lexend"/>
                        </a:rPr>
                        <a:t>- HAN: 71/323</a:t>
                      </a:r>
                      <a:br>
                        <a:rPr lang="en" sz="800">
                          <a:latin typeface="Lexend"/>
                          <a:ea typeface="Lexend"/>
                          <a:cs typeface="Lexend"/>
                          <a:sym typeface="Lexend"/>
                        </a:rPr>
                      </a:br>
                      <a:r>
                        <a:rPr lang="en" sz="800">
                          <a:latin typeface="Lexend"/>
                          <a:ea typeface="Lexend"/>
                          <a:cs typeface="Lexend"/>
                          <a:sym typeface="Lexend"/>
                        </a:rPr>
                        <a:t>- SGN: 98/464</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rgbClr val="64748B"/>
                        </a:buClr>
                        <a:buSzPts val="800"/>
                        <a:buFont typeface="Calibri"/>
                        <a:buNone/>
                      </a:pPr>
                      <a:r>
                        <a:rPr lang="en" sz="800">
                          <a:solidFill>
                            <a:srgbClr val="64748B"/>
                          </a:solidFill>
                          <a:latin typeface="Lexend"/>
                          <a:ea typeface="Lexend"/>
                          <a:cs typeface="Lexend"/>
                          <a:sym typeface="Lexend"/>
                        </a:rPr>
                        <a:t>✅/⚠️</a:t>
                      </a:r>
                      <a:endParaRPr sz="800" u="none" strike="noStrike" cap="none">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32625">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rgbClr val="64748B"/>
                          </a:solidFill>
                          <a:latin typeface="Lexend"/>
                          <a:ea typeface="Lexend"/>
                          <a:cs typeface="Lexend"/>
                          <a:sym typeface="Lexend"/>
                        </a:rPr>
                        <a:t>✅/⚠️</a:t>
                      </a: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61925">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640" name="Google Shape;640;p4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43"/>
          <p:cNvSpPr txBox="1"/>
          <p:nvPr/>
        </p:nvSpPr>
        <p:spPr>
          <a:xfrm>
            <a:off x="-356527" y="3325"/>
            <a:ext cx="4776600" cy="651300"/>
          </a:xfrm>
          <a:prstGeom prst="rect">
            <a:avLst/>
          </a:prstGeom>
          <a:noFill/>
          <a:ln>
            <a:noFill/>
          </a:ln>
        </p:spPr>
        <p:txBody>
          <a:bodyPr spcFirstLastPara="1" wrap="square" lIns="19050" tIns="19050" rIns="19050" bIns="19050" anchor="ctr" anchorCtr="0">
            <a:noAutofit/>
          </a:bodyPr>
          <a:lstStyle/>
          <a:p>
            <a:pPr marL="0" lvl="0" indent="0" algn="ctr" rtl="0">
              <a:lnSpc>
                <a:spcPct val="115000"/>
              </a:lnSpc>
              <a:spcBef>
                <a:spcPts val="0"/>
              </a:spcBef>
              <a:spcAft>
                <a:spcPts val="0"/>
              </a:spcAft>
              <a:buNone/>
            </a:pPr>
            <a:r>
              <a:rPr lang="en" sz="2400" b="1">
                <a:solidFill>
                  <a:srgbClr val="1255CC"/>
                </a:solidFill>
                <a:latin typeface="Montserrat"/>
                <a:ea typeface="Montserrat"/>
                <a:cs typeface="Montserrat"/>
                <a:sym typeface="Montserrat"/>
              </a:rPr>
              <a:t>[HAN] CAMPAIGN 8.8</a:t>
            </a:r>
            <a:endParaRPr sz="2400" b="1">
              <a:solidFill>
                <a:srgbClr val="1255CC"/>
              </a:solidFill>
              <a:latin typeface="Montserrat"/>
              <a:ea typeface="Montserrat"/>
              <a:cs typeface="Montserrat"/>
              <a:sym typeface="Montserrat"/>
            </a:endParaRPr>
          </a:p>
        </p:txBody>
      </p:sp>
      <p:cxnSp>
        <p:nvCxnSpPr>
          <p:cNvPr id="646" name="Google Shape;646;p43"/>
          <p:cNvCxnSpPr/>
          <p:nvPr/>
        </p:nvCxnSpPr>
        <p:spPr>
          <a:xfrm>
            <a:off x="3830750" y="325975"/>
            <a:ext cx="4998900" cy="6000"/>
          </a:xfrm>
          <a:prstGeom prst="straightConnector1">
            <a:avLst/>
          </a:prstGeom>
          <a:noFill/>
          <a:ln w="19050" cap="flat" cmpd="sng">
            <a:solidFill>
              <a:srgbClr val="1255CC"/>
            </a:solidFill>
            <a:prstDash val="solid"/>
            <a:round/>
            <a:headEnd type="oval" w="med" len="med"/>
            <a:tailEnd type="none" w="med" len="med"/>
          </a:ln>
        </p:spPr>
      </p:cxnSp>
      <p:sp>
        <p:nvSpPr>
          <p:cNvPr id="647" name="Google Shape;647;p43"/>
          <p:cNvSpPr/>
          <p:nvPr/>
        </p:nvSpPr>
        <p:spPr>
          <a:xfrm>
            <a:off x="262400" y="616750"/>
            <a:ext cx="8498700" cy="651300"/>
          </a:xfrm>
          <a:prstGeom prst="roundRect">
            <a:avLst>
              <a:gd name="adj" fmla="val 10214"/>
            </a:avLst>
          </a:prstGeom>
          <a:solidFill>
            <a:srgbClr val="F9F8F8"/>
          </a:solidFill>
          <a:ln>
            <a:noFill/>
          </a:ln>
          <a:effectLst>
            <a:outerShdw blurRad="57150" dist="19050" dir="5400000" algn="bl" rotWithShape="0">
              <a:srgbClr val="000000">
                <a:alpha val="20000"/>
              </a:srgbClr>
            </a:outerShdw>
          </a:effectLst>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endParaRPr sz="900">
              <a:solidFill>
                <a:srgbClr val="000000"/>
              </a:solidFill>
              <a:latin typeface="Montserrat"/>
              <a:ea typeface="Montserrat"/>
              <a:cs typeface="Montserrat"/>
              <a:sym typeface="Montserrat"/>
            </a:endParaRPr>
          </a:p>
        </p:txBody>
      </p:sp>
      <p:sp>
        <p:nvSpPr>
          <p:cNvPr id="648" name="Google Shape;648;p43"/>
          <p:cNvSpPr txBox="1"/>
          <p:nvPr/>
        </p:nvSpPr>
        <p:spPr>
          <a:xfrm>
            <a:off x="127450" y="576862"/>
            <a:ext cx="20121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5,126</a:t>
            </a:r>
            <a:endParaRPr sz="1900" b="1">
              <a:solidFill>
                <a:srgbClr val="595959"/>
              </a:solidFill>
            </a:endParaRPr>
          </a:p>
          <a:p>
            <a:pPr marL="0" lvl="0" indent="0" algn="ctr" rtl="0">
              <a:spcBef>
                <a:spcPts val="0"/>
              </a:spcBef>
              <a:spcAft>
                <a:spcPts val="0"/>
              </a:spcAft>
              <a:buNone/>
            </a:pPr>
            <a:r>
              <a:rPr lang="en" sz="900" b="1">
                <a:solidFill>
                  <a:srgbClr val="595959"/>
                </a:solidFill>
              </a:rPr>
              <a:t>Tài xế hoạt động</a:t>
            </a:r>
            <a:endParaRPr sz="900" b="1">
              <a:solidFill>
                <a:srgbClr val="595959"/>
              </a:solidFill>
            </a:endParaRPr>
          </a:p>
          <a:p>
            <a:pPr marL="0" lvl="0" indent="0" algn="ctr" rtl="0">
              <a:spcBef>
                <a:spcPts val="0"/>
              </a:spcBef>
              <a:spcAft>
                <a:spcPts val="0"/>
              </a:spcAft>
              <a:buClr>
                <a:schemeClr val="dk1"/>
              </a:buClr>
              <a:buSzPts val="1100"/>
              <a:buFont typeface="Arial"/>
              <a:buNone/>
            </a:pPr>
            <a:r>
              <a:rPr lang="en" sz="900" b="1">
                <a:solidFill>
                  <a:srgbClr val="EF4444"/>
                </a:solidFill>
              </a:rPr>
              <a:t>Giảm 676 so với CP 7.7</a:t>
            </a:r>
            <a:endParaRPr sz="900" b="1">
              <a:solidFill>
                <a:srgbClr val="0B8043"/>
              </a:solidFill>
            </a:endParaRPr>
          </a:p>
        </p:txBody>
      </p:sp>
      <p:sp>
        <p:nvSpPr>
          <p:cNvPr id="649" name="Google Shape;649;p43"/>
          <p:cNvSpPr txBox="1"/>
          <p:nvPr/>
        </p:nvSpPr>
        <p:spPr>
          <a:xfrm>
            <a:off x="2327000" y="576862"/>
            <a:ext cx="2012100" cy="892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8.95</a:t>
            </a:r>
            <a:endParaRPr sz="1900" b="1">
              <a:solidFill>
                <a:srgbClr val="595959"/>
              </a:solidFill>
            </a:endParaRPr>
          </a:p>
          <a:p>
            <a:pPr marL="0" lvl="0" indent="0" algn="ctr" rtl="0">
              <a:spcBef>
                <a:spcPts val="0"/>
              </a:spcBef>
              <a:spcAft>
                <a:spcPts val="0"/>
              </a:spcAft>
              <a:buNone/>
            </a:pPr>
            <a:r>
              <a:rPr lang="en" sz="900" b="1">
                <a:solidFill>
                  <a:srgbClr val="595959"/>
                </a:solidFill>
              </a:rPr>
              <a:t>Năng suất trung bình tx</a:t>
            </a:r>
            <a:endParaRPr sz="900" b="1">
              <a:solidFill>
                <a:srgbClr val="0B8043"/>
              </a:solidFill>
            </a:endParaRPr>
          </a:p>
          <a:p>
            <a:pPr marL="0" lvl="0" indent="0" algn="ctr" rtl="0">
              <a:spcBef>
                <a:spcPts val="0"/>
              </a:spcBef>
              <a:spcAft>
                <a:spcPts val="0"/>
              </a:spcAft>
              <a:buClr>
                <a:schemeClr val="dk1"/>
              </a:buClr>
              <a:buSzPts val="1100"/>
              <a:buFont typeface="Arial"/>
              <a:buNone/>
            </a:pPr>
            <a:r>
              <a:rPr lang="en" sz="900" b="1">
                <a:solidFill>
                  <a:srgbClr val="0B8043"/>
                </a:solidFill>
              </a:rPr>
              <a:t>Tăng 0.22 stp so với 7.7</a:t>
            </a:r>
            <a:endParaRPr sz="900" b="1">
              <a:solidFill>
                <a:srgbClr val="EF4444"/>
              </a:solidFill>
            </a:endParaRPr>
          </a:p>
          <a:p>
            <a:pPr marL="0" lvl="0" indent="0" algn="ctr" rtl="0">
              <a:spcBef>
                <a:spcPts val="0"/>
              </a:spcBef>
              <a:spcAft>
                <a:spcPts val="0"/>
              </a:spcAft>
              <a:buNone/>
            </a:pPr>
            <a:endParaRPr sz="900" b="1">
              <a:solidFill>
                <a:srgbClr val="0B8043"/>
              </a:solidFill>
            </a:endParaRPr>
          </a:p>
        </p:txBody>
      </p:sp>
      <p:sp>
        <p:nvSpPr>
          <p:cNvPr id="650" name="Google Shape;650;p43"/>
          <p:cNvSpPr txBox="1"/>
          <p:nvPr/>
        </p:nvSpPr>
        <p:spPr>
          <a:xfrm>
            <a:off x="4242250" y="576862"/>
            <a:ext cx="2185800" cy="7542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 sz="1900" b="1">
                <a:solidFill>
                  <a:srgbClr val="595959"/>
                </a:solidFill>
              </a:rPr>
              <a:t>    58k</a:t>
            </a:r>
            <a:endParaRPr sz="1900" b="1">
              <a:solidFill>
                <a:srgbClr val="595959"/>
              </a:solidFill>
            </a:endParaRPr>
          </a:p>
          <a:p>
            <a:pPr marL="0" lvl="0" indent="0" algn="ctr" rtl="0">
              <a:spcBef>
                <a:spcPts val="0"/>
              </a:spcBef>
              <a:spcAft>
                <a:spcPts val="0"/>
              </a:spcAft>
              <a:buNone/>
            </a:pPr>
            <a:r>
              <a:rPr lang="en" sz="900" b="1">
                <a:solidFill>
                  <a:srgbClr val="595959"/>
                </a:solidFill>
              </a:rPr>
              <a:t>Thu nhập trung bình/ giờ </a:t>
            </a:r>
            <a:endParaRPr sz="900" b="1">
              <a:solidFill>
                <a:srgbClr val="0B8043"/>
              </a:solidFill>
            </a:endParaRPr>
          </a:p>
          <a:p>
            <a:pPr marL="0" lvl="0" indent="0" algn="ctr" rtl="0">
              <a:spcBef>
                <a:spcPts val="0"/>
              </a:spcBef>
              <a:spcAft>
                <a:spcPts val="0"/>
              </a:spcAft>
              <a:buClr>
                <a:schemeClr val="dk1"/>
              </a:buClr>
              <a:buSzPts val="1100"/>
              <a:buFont typeface="Arial"/>
              <a:buNone/>
            </a:pPr>
            <a:r>
              <a:rPr lang="en" sz="900" b="1">
                <a:solidFill>
                  <a:srgbClr val="0B8043"/>
                </a:solidFill>
              </a:rPr>
              <a:t>Giảm 8k/h so với CP 7.7</a:t>
            </a:r>
            <a:endParaRPr sz="900" b="1">
              <a:solidFill>
                <a:srgbClr val="0B8043"/>
              </a:solidFill>
            </a:endParaRPr>
          </a:p>
        </p:txBody>
      </p:sp>
      <p:sp>
        <p:nvSpPr>
          <p:cNvPr id="651" name="Google Shape;651;p43"/>
          <p:cNvSpPr txBox="1"/>
          <p:nvPr/>
        </p:nvSpPr>
        <p:spPr>
          <a:xfrm>
            <a:off x="6375850" y="576862"/>
            <a:ext cx="21858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27.1K</a:t>
            </a:r>
            <a:endParaRPr sz="1900" b="1">
              <a:solidFill>
                <a:srgbClr val="595959"/>
              </a:solidFill>
            </a:endParaRPr>
          </a:p>
          <a:p>
            <a:pPr marL="0" lvl="0" indent="0" algn="ctr" rtl="0">
              <a:spcBef>
                <a:spcPts val="0"/>
              </a:spcBef>
              <a:spcAft>
                <a:spcPts val="0"/>
              </a:spcAft>
              <a:buNone/>
            </a:pPr>
            <a:r>
              <a:rPr lang="en" sz="900" b="1">
                <a:solidFill>
                  <a:srgbClr val="595959"/>
                </a:solidFill>
              </a:rPr>
              <a:t>Tổng giờ trực tuyến </a:t>
            </a:r>
            <a:endParaRPr sz="900" b="1">
              <a:solidFill>
                <a:srgbClr val="595959"/>
              </a:solidFill>
            </a:endParaRPr>
          </a:p>
          <a:p>
            <a:pPr marL="0" lvl="0" indent="0" algn="ctr" rtl="0">
              <a:spcBef>
                <a:spcPts val="0"/>
              </a:spcBef>
              <a:spcAft>
                <a:spcPts val="0"/>
              </a:spcAft>
              <a:buClr>
                <a:schemeClr val="dk1"/>
              </a:buClr>
              <a:buSzPts val="1100"/>
              <a:buFont typeface="Arial"/>
              <a:buNone/>
            </a:pPr>
            <a:r>
              <a:rPr lang="en" sz="900" b="1">
                <a:solidFill>
                  <a:srgbClr val="FF3535"/>
                </a:solidFill>
              </a:rPr>
              <a:t>Tăng 4,2k giờ so với 7.7</a:t>
            </a:r>
            <a:endParaRPr sz="900" b="1">
              <a:solidFill>
                <a:srgbClr val="FF3535"/>
              </a:solidFill>
            </a:endParaRPr>
          </a:p>
        </p:txBody>
      </p:sp>
      <p:sp>
        <p:nvSpPr>
          <p:cNvPr id="652" name="Google Shape;652;p43"/>
          <p:cNvSpPr txBox="1"/>
          <p:nvPr/>
        </p:nvSpPr>
        <p:spPr>
          <a:xfrm>
            <a:off x="424350" y="4865798"/>
            <a:ext cx="3778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i="1">
                <a:solidFill>
                  <a:schemeClr val="dk2"/>
                </a:solidFill>
              </a:rPr>
              <a:t>Số liệu không bao gồm đơn hàng GHN&amp;WH</a:t>
            </a:r>
            <a:endParaRPr sz="900" i="1">
              <a:solidFill>
                <a:schemeClr val="dk2"/>
              </a:solidFill>
            </a:endParaRPr>
          </a:p>
        </p:txBody>
      </p:sp>
      <p:graphicFrame>
        <p:nvGraphicFramePr>
          <p:cNvPr id="653" name="Google Shape;653;p43"/>
          <p:cNvGraphicFramePr/>
          <p:nvPr/>
        </p:nvGraphicFramePr>
        <p:xfrm>
          <a:off x="1076325" y="1496656"/>
          <a:ext cx="3000000" cy="3000000"/>
        </p:xfrm>
        <a:graphic>
          <a:graphicData uri="http://schemas.openxmlformats.org/drawingml/2006/table">
            <a:tbl>
              <a:tblPr>
                <a:noFill/>
                <a:tableStyleId>{1B6E03F7-A7B3-402D-A52F-665CEB5CA1F2}</a:tableStyleId>
              </a:tblPr>
              <a:tblGrid>
                <a:gridCol w="136207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866775">
                  <a:extLst>
                    <a:ext uri="{9D8B030D-6E8A-4147-A177-3AD203B41FA5}">
                      <a16:colId xmlns:a16="http://schemas.microsoft.com/office/drawing/2014/main" val="20006"/>
                    </a:ext>
                  </a:extLst>
                </a:gridCol>
              </a:tblGrid>
              <a:tr h="200025">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gridSpan="2">
                  <a:txBody>
                    <a:bodyPr/>
                    <a:lstStyle/>
                    <a:p>
                      <a:pPr marL="0" lvl="0" indent="0" algn="ctr" rtl="0">
                        <a:lnSpc>
                          <a:spcPct val="115000"/>
                        </a:lnSpc>
                        <a:spcBef>
                          <a:spcPts val="0"/>
                        </a:spcBef>
                        <a:spcAft>
                          <a:spcPts val="0"/>
                        </a:spcAft>
                        <a:buNone/>
                      </a:pPr>
                      <a:r>
                        <a:rPr lang="en" sz="1000" b="1"/>
                        <a:t>Active</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tc gridSpan="2">
                  <a:txBody>
                    <a:bodyPr/>
                    <a:lstStyle/>
                    <a:p>
                      <a:pPr marL="0" lvl="0" indent="0" algn="ctr" rtl="0">
                        <a:lnSpc>
                          <a:spcPct val="115000"/>
                        </a:lnSpc>
                        <a:spcBef>
                          <a:spcPts val="0"/>
                        </a:spcBef>
                        <a:spcAft>
                          <a:spcPts val="0"/>
                        </a:spcAft>
                        <a:buNone/>
                      </a:pPr>
                      <a:r>
                        <a:rPr lang="en" sz="1000" b="1"/>
                        <a:t>prod</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tc gridSpan="2">
                  <a:txBody>
                    <a:bodyPr/>
                    <a:lstStyle/>
                    <a:p>
                      <a:pPr marL="0" lvl="0" indent="0" algn="ctr" rtl="0">
                        <a:lnSpc>
                          <a:spcPct val="115000"/>
                        </a:lnSpc>
                        <a:spcBef>
                          <a:spcPts val="0"/>
                        </a:spcBef>
                        <a:spcAft>
                          <a:spcPts val="0"/>
                        </a:spcAft>
                        <a:buNone/>
                      </a:pPr>
                      <a:r>
                        <a:rPr lang="en" sz="1000" b="1"/>
                        <a:t>cap</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t>FT</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a:t>999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96.99%</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a:t>14.36</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lnB w="9525" cap="flat" cmpd="sng">
                      <a:solidFill>
                        <a:srgbClr val="FFFFFF"/>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105.11%</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14,346</a:t>
                      </a:r>
                      <a:endParaRPr sz="1000">
                        <a:latin typeface="Nunito"/>
                        <a:ea typeface="Nunito"/>
                        <a:cs typeface="Nunito"/>
                        <a:sym typeface="Nunito"/>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101.94%</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t>PT</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3,175</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86.37%</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7.66</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109.30%</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24,321</a:t>
                      </a:r>
                      <a:endParaRPr sz="1000">
                        <a:latin typeface="Nunito"/>
                        <a:ea typeface="Nunito"/>
                        <a:cs typeface="Nunito"/>
                        <a:sym typeface="Nunito"/>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94.41%</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t>NLM</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529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117.74%</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7.43</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94.72%</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3,930</a:t>
                      </a:r>
                      <a:endParaRPr sz="1000">
                        <a:latin typeface="Nunito"/>
                        <a:ea typeface="Nunito"/>
                        <a:cs typeface="Nunito"/>
                        <a:sym typeface="Nunito"/>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111.53%</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t>Return</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236</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133.33%</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7.42</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98.99%</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1,751</a:t>
                      </a:r>
                      <a:endParaRPr sz="1000">
                        <a:latin typeface="Nunito"/>
                        <a:ea typeface="Nunito"/>
                        <a:cs typeface="Nunito"/>
                        <a:sym typeface="Nunito"/>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131.99%</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b="1"/>
                        <a:t>NIM</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187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63.61%</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8.19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FFFFFF"/>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rPr>
                        <a:t>116.25%</a:t>
                      </a:r>
                      <a:endParaRPr sz="1000" b="1">
                        <a:solidFill>
                          <a:srgbClr val="008000"/>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1,532</a:t>
                      </a:r>
                      <a:endParaRPr sz="1000">
                        <a:latin typeface="Nunito"/>
                        <a:ea typeface="Nunito"/>
                        <a:cs typeface="Nunito"/>
                        <a:sym typeface="Nunito"/>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rPr>
                        <a:t>73.94%</a:t>
                      </a:r>
                      <a:endParaRPr sz="1000" b="1">
                        <a:solidFill>
                          <a:srgbClr val="EA433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6"/>
                  </a:ext>
                </a:extLst>
              </a:tr>
              <a:tr h="2000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t>5,126</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91.11%</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t>8.95</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107.70%</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t>45,879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b="1"/>
                        <a:t>98.13%</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bl>
          </a:graphicData>
        </a:graphic>
      </p:graphicFrame>
      <p:graphicFrame>
        <p:nvGraphicFramePr>
          <p:cNvPr id="654" name="Google Shape;654;p43"/>
          <p:cNvGraphicFramePr/>
          <p:nvPr/>
        </p:nvGraphicFramePr>
        <p:xfrm>
          <a:off x="424350" y="3578350"/>
          <a:ext cx="3000000" cy="3000000"/>
        </p:xfrm>
        <a:graphic>
          <a:graphicData uri="http://schemas.openxmlformats.org/drawingml/2006/table">
            <a:tbl>
              <a:tblPr>
                <a:noFill/>
                <a:tableStyleId>{1B6E03F7-A7B3-402D-A52F-665CEB5CA1F2}</a:tableStyleId>
              </a:tblPr>
              <a:tblGrid>
                <a:gridCol w="136207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Actual</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Demand</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Capacity</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Fr</a:t>
                      </a:r>
                      <a:endParaRPr sz="1000" b="1">
                        <a:solidFill>
                          <a:srgbClr val="FFFFFF"/>
                        </a:solidFill>
                        <a:latin typeface="Roboto"/>
                        <a:ea typeface="Roboto"/>
                        <a:cs typeface="Roboto"/>
                        <a:sym typeface="Roboto"/>
                      </a:endParaRPr>
                    </a:p>
                  </a:txBody>
                  <a:tcPr marL="28575" marR="28575" marT="19050" marB="19050" anchor="b">
                    <a:solidFill>
                      <a:srgbClr val="134F5C"/>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56,996</a:t>
                      </a:r>
                      <a:endParaRPr sz="1000">
                        <a:latin typeface="Nunito"/>
                        <a:ea typeface="Nunito"/>
                        <a:cs typeface="Nunito"/>
                        <a:sym typeface="Nunito"/>
                      </a:endParaRPr>
                    </a:p>
                  </a:txBody>
                  <a:tcPr marL="28575" marR="28575" marT="19050" marB="19050" anchor="b">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46,149</a:t>
                      </a:r>
                      <a:endParaRPr sz="1000">
                        <a:latin typeface="Nunito"/>
                        <a:ea typeface="Nunito"/>
                        <a:cs typeface="Nunito"/>
                        <a:sym typeface="Nunito"/>
                      </a:endParaRPr>
                    </a:p>
                  </a:txBody>
                  <a:tcPr marL="28575" marR="28575" marT="19050" marB="19050" anchor="b">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80.97%</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59,783</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50,522</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84.51%</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8.8</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solidFill>
                      <a:srgbClr val="FFFFFF"/>
                    </a:solidFill>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60,142</a:t>
                      </a:r>
                      <a:endParaRPr sz="1000">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45,636</a:t>
                      </a:r>
                      <a:endParaRPr sz="1000">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75.88%</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b="1">
                          <a:solidFill>
                            <a:srgbClr val="008000"/>
                          </a:solidFill>
                          <a:latin typeface="Verdana"/>
                          <a:ea typeface="Verdana"/>
                          <a:cs typeface="Verdana"/>
                          <a:sym typeface="Verdana"/>
                        </a:rPr>
                        <a:t>105.52%</a:t>
                      </a:r>
                      <a:endParaRPr sz="1000" b="1">
                        <a:solidFill>
                          <a:srgbClr val="008000"/>
                        </a:solidFill>
                        <a:latin typeface="Verdana"/>
                        <a:ea typeface="Verdana"/>
                        <a:cs typeface="Verdana"/>
                        <a:sym typeface="Verdana"/>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98.89%</a:t>
                      </a:r>
                      <a:endParaRPr sz="1000" b="1">
                        <a:solidFill>
                          <a:srgbClr val="EA4335"/>
                        </a:solidFill>
                        <a:latin typeface="Verdana"/>
                        <a:ea typeface="Verdana"/>
                        <a:cs typeface="Verdana"/>
                        <a:sym typeface="Verdana"/>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93.72%</a:t>
                      </a:r>
                      <a:endParaRPr sz="1000" b="1">
                        <a:solidFill>
                          <a:srgbClr val="EA4335"/>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008000"/>
                          </a:solidFill>
                          <a:latin typeface="Verdana"/>
                          <a:ea typeface="Verdana"/>
                          <a:cs typeface="Verdana"/>
                          <a:sym typeface="Verdana"/>
                        </a:rPr>
                        <a:t>100.60%</a:t>
                      </a:r>
                      <a:endParaRPr sz="1000" b="1">
                        <a:solidFill>
                          <a:srgbClr val="008000"/>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90.33%</a:t>
                      </a:r>
                      <a:endParaRPr sz="1000" b="1">
                        <a:solidFill>
                          <a:srgbClr val="EA4335"/>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89.79%</a:t>
                      </a:r>
                      <a:endParaRPr sz="1000" b="1">
                        <a:solidFill>
                          <a:srgbClr val="EA4335"/>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graphicFrame>
        <p:nvGraphicFramePr>
          <p:cNvPr id="655" name="Google Shape;655;p43"/>
          <p:cNvGraphicFramePr/>
          <p:nvPr/>
        </p:nvGraphicFramePr>
        <p:xfrm>
          <a:off x="5786875" y="3578350"/>
          <a:ext cx="3000000" cy="3000000"/>
        </p:xfrm>
        <a:graphic>
          <a:graphicData uri="http://schemas.openxmlformats.org/drawingml/2006/table">
            <a:tbl>
              <a:tblPr>
                <a:noFill/>
                <a:tableStyleId>{1B6E03F7-A7B3-402D-A52F-665CEB5CA1F2}</a:tableStyleId>
              </a:tblPr>
              <a:tblGrid>
                <a:gridCol w="952500">
                  <a:extLst>
                    <a:ext uri="{9D8B030D-6E8A-4147-A177-3AD203B41FA5}">
                      <a16:colId xmlns:a16="http://schemas.microsoft.com/office/drawing/2014/main" val="20000"/>
                    </a:ext>
                  </a:extLst>
                </a:gridCol>
                <a:gridCol w="866775">
                  <a:extLst>
                    <a:ext uri="{9D8B030D-6E8A-4147-A177-3AD203B41FA5}">
                      <a16:colId xmlns:a16="http://schemas.microsoft.com/office/drawing/2014/main" val="20001"/>
                    </a:ext>
                  </a:extLst>
                </a:gridCol>
                <a:gridCol w="866775">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Actual</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Active</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Prod</a:t>
                      </a:r>
                      <a:endParaRPr sz="1000" b="1">
                        <a:solidFill>
                          <a:srgbClr val="FFFFFF"/>
                        </a:solidFill>
                        <a:latin typeface="Roboto"/>
                        <a:ea typeface="Roboto"/>
                        <a:cs typeface="Roboto"/>
                        <a:sym typeface="Roboto"/>
                      </a:endParaRPr>
                    </a:p>
                  </a:txBody>
                  <a:tcPr marL="28575" marR="28575" marT="19050" marB="19050" anchor="b">
                    <a:lnB w="9525" cap="flat" cmpd="sng">
                      <a:solidFill>
                        <a:srgbClr val="000000"/>
                      </a:solidFill>
                      <a:prstDash val="solid"/>
                      <a:round/>
                      <a:headEnd type="none" w="sm" len="sm"/>
                      <a:tailEnd type="none" w="sm" len="sm"/>
                    </a:lnB>
                    <a:solidFill>
                      <a:srgbClr val="134F5C"/>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5,596</a:t>
                      </a:r>
                      <a:endParaRPr sz="1000">
                        <a:latin typeface="Nunito"/>
                        <a:ea typeface="Nunito"/>
                        <a:cs typeface="Nunito"/>
                        <a:sym typeface="Nunito"/>
                      </a:endParaRPr>
                    </a:p>
                  </a:txBody>
                  <a:tcPr marL="28575" marR="28575" marT="19050" marB="19050" anchor="b">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8.28</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5,802</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8.73</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8.8</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solidFill>
                      <a:srgbClr val="FFFFFF"/>
                    </a:solidFill>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5,126</a:t>
                      </a:r>
                      <a:endParaRPr sz="1000">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8.95</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91.60%</a:t>
                      </a:r>
                      <a:endParaRPr sz="1000" b="1">
                        <a:solidFill>
                          <a:srgbClr val="EA4335"/>
                        </a:solidFill>
                        <a:latin typeface="Verdana"/>
                        <a:ea typeface="Verdana"/>
                        <a:cs typeface="Verdana"/>
                        <a:sym typeface="Verdana"/>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latin typeface="Verdana"/>
                          <a:ea typeface="Verdana"/>
                          <a:cs typeface="Verdana"/>
                          <a:sym typeface="Verdana"/>
                        </a:rPr>
                        <a:t>108.09%</a:t>
                      </a:r>
                      <a:endParaRPr sz="1000" b="1">
                        <a:solidFill>
                          <a:srgbClr val="008000"/>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solidFill>
                      <a:srgbClr val="FFFFFF"/>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EA4335"/>
                          </a:solidFill>
                          <a:latin typeface="Verdana"/>
                          <a:ea typeface="Verdana"/>
                          <a:cs typeface="Verdana"/>
                          <a:sym typeface="Verdana"/>
                        </a:rPr>
                        <a:t>88.35%</a:t>
                      </a:r>
                      <a:endParaRPr sz="1000" b="1">
                        <a:solidFill>
                          <a:srgbClr val="EA4335"/>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08000"/>
                          </a:solidFill>
                          <a:latin typeface="Verdana"/>
                          <a:ea typeface="Verdana"/>
                          <a:cs typeface="Verdana"/>
                          <a:sym typeface="Verdana"/>
                        </a:rPr>
                        <a:t>102.52%</a:t>
                      </a:r>
                      <a:endParaRPr sz="1000" b="1">
                        <a:solidFill>
                          <a:srgbClr val="008000"/>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656" name="Google Shape;656;p43"/>
          <p:cNvSpPr txBox="1"/>
          <p:nvPr/>
        </p:nvSpPr>
        <p:spPr>
          <a:xfrm>
            <a:off x="424350" y="3255253"/>
            <a:ext cx="3778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i="1">
                <a:solidFill>
                  <a:schemeClr val="dk2"/>
                </a:solidFill>
              </a:rPr>
              <a:t>Số liệu bao gồm đơn hàng WH (excluded GHN)</a:t>
            </a:r>
            <a:endParaRPr sz="900" i="1">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44"/>
          <p:cNvSpPr/>
          <p:nvPr/>
        </p:nvSpPr>
        <p:spPr>
          <a:xfrm>
            <a:off x="250325" y="677595"/>
            <a:ext cx="8498700" cy="674400"/>
          </a:xfrm>
          <a:prstGeom prst="roundRect">
            <a:avLst>
              <a:gd name="adj" fmla="val 10214"/>
            </a:avLst>
          </a:prstGeom>
          <a:solidFill>
            <a:srgbClr val="F9F8F8"/>
          </a:solidFill>
          <a:ln>
            <a:noFill/>
          </a:ln>
          <a:effectLst>
            <a:outerShdw blurRad="57150" dist="19050" dir="5400000" algn="bl" rotWithShape="0">
              <a:srgbClr val="000000">
                <a:alpha val="20000"/>
              </a:srgbClr>
            </a:outerShdw>
          </a:effectLst>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endParaRPr sz="900">
              <a:solidFill>
                <a:srgbClr val="000000"/>
              </a:solidFill>
              <a:latin typeface="Montserrat"/>
              <a:ea typeface="Montserrat"/>
              <a:cs typeface="Montserrat"/>
              <a:sym typeface="Montserrat"/>
            </a:endParaRPr>
          </a:p>
        </p:txBody>
      </p:sp>
      <p:sp>
        <p:nvSpPr>
          <p:cNvPr id="662" name="Google Shape;662;p44"/>
          <p:cNvSpPr txBox="1"/>
          <p:nvPr/>
        </p:nvSpPr>
        <p:spPr>
          <a:xfrm>
            <a:off x="115375" y="637695"/>
            <a:ext cx="20121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6,917</a:t>
            </a:r>
            <a:endParaRPr sz="1900" b="1">
              <a:solidFill>
                <a:srgbClr val="595959"/>
              </a:solidFill>
            </a:endParaRPr>
          </a:p>
          <a:p>
            <a:pPr marL="0" lvl="0" indent="0" algn="ctr" rtl="0">
              <a:spcBef>
                <a:spcPts val="0"/>
              </a:spcBef>
              <a:spcAft>
                <a:spcPts val="0"/>
              </a:spcAft>
              <a:buNone/>
            </a:pPr>
            <a:r>
              <a:rPr lang="en" sz="900" b="1">
                <a:solidFill>
                  <a:srgbClr val="595959"/>
                </a:solidFill>
              </a:rPr>
              <a:t>Tài xế hoạt động</a:t>
            </a:r>
            <a:endParaRPr sz="900" b="1">
              <a:solidFill>
                <a:srgbClr val="595959"/>
              </a:solidFill>
            </a:endParaRPr>
          </a:p>
          <a:p>
            <a:pPr marL="0" lvl="0" indent="0" algn="ctr" rtl="0">
              <a:spcBef>
                <a:spcPts val="0"/>
              </a:spcBef>
              <a:spcAft>
                <a:spcPts val="0"/>
              </a:spcAft>
              <a:buNone/>
            </a:pPr>
            <a:r>
              <a:rPr lang="en" sz="900" b="1">
                <a:solidFill>
                  <a:srgbClr val="EF4444"/>
                </a:solidFill>
              </a:rPr>
              <a:t>Giảm 700 tx so với CP 7.7</a:t>
            </a:r>
            <a:endParaRPr sz="900" b="1">
              <a:solidFill>
                <a:srgbClr val="EF4444"/>
              </a:solidFill>
            </a:endParaRPr>
          </a:p>
        </p:txBody>
      </p:sp>
      <p:sp>
        <p:nvSpPr>
          <p:cNvPr id="663" name="Google Shape;663;p44"/>
          <p:cNvSpPr txBox="1"/>
          <p:nvPr/>
        </p:nvSpPr>
        <p:spPr>
          <a:xfrm>
            <a:off x="2314925" y="637695"/>
            <a:ext cx="20121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10.16</a:t>
            </a:r>
            <a:endParaRPr sz="1900" b="1">
              <a:solidFill>
                <a:srgbClr val="595959"/>
              </a:solidFill>
            </a:endParaRPr>
          </a:p>
          <a:p>
            <a:pPr marL="0" lvl="0" indent="0" algn="ctr" rtl="0">
              <a:spcBef>
                <a:spcPts val="0"/>
              </a:spcBef>
              <a:spcAft>
                <a:spcPts val="0"/>
              </a:spcAft>
              <a:buNone/>
            </a:pPr>
            <a:r>
              <a:rPr lang="en" sz="900" b="1">
                <a:solidFill>
                  <a:srgbClr val="595959"/>
                </a:solidFill>
              </a:rPr>
              <a:t>Năng suất trung bình tx</a:t>
            </a:r>
            <a:endParaRPr sz="900" b="1">
              <a:solidFill>
                <a:srgbClr val="595959"/>
              </a:solidFill>
            </a:endParaRPr>
          </a:p>
          <a:p>
            <a:pPr marL="0" lvl="0" indent="0" algn="ctr" rtl="0">
              <a:spcBef>
                <a:spcPts val="0"/>
              </a:spcBef>
              <a:spcAft>
                <a:spcPts val="0"/>
              </a:spcAft>
              <a:buNone/>
            </a:pPr>
            <a:r>
              <a:rPr lang="en" sz="900" b="1">
                <a:solidFill>
                  <a:srgbClr val="0B8043"/>
                </a:solidFill>
              </a:rPr>
              <a:t>Tăng nhẹ 0.5 stp/tx so với CP 7.7</a:t>
            </a:r>
            <a:endParaRPr sz="900" b="1">
              <a:solidFill>
                <a:srgbClr val="0B8043"/>
              </a:solidFill>
            </a:endParaRPr>
          </a:p>
        </p:txBody>
      </p:sp>
      <p:sp>
        <p:nvSpPr>
          <p:cNvPr id="664" name="Google Shape;664;p44"/>
          <p:cNvSpPr txBox="1"/>
          <p:nvPr/>
        </p:nvSpPr>
        <p:spPr>
          <a:xfrm>
            <a:off x="4230175" y="637695"/>
            <a:ext cx="21858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52,7k</a:t>
            </a:r>
            <a:endParaRPr sz="1900" b="1">
              <a:solidFill>
                <a:srgbClr val="595959"/>
              </a:solidFill>
            </a:endParaRPr>
          </a:p>
          <a:p>
            <a:pPr marL="0" lvl="0" indent="0" algn="ctr" rtl="0">
              <a:spcBef>
                <a:spcPts val="0"/>
              </a:spcBef>
              <a:spcAft>
                <a:spcPts val="0"/>
              </a:spcAft>
              <a:buNone/>
            </a:pPr>
            <a:r>
              <a:rPr lang="en" sz="900" b="1">
                <a:solidFill>
                  <a:srgbClr val="595959"/>
                </a:solidFill>
              </a:rPr>
              <a:t>Thu nhập trên mỗi giờ hoạt động</a:t>
            </a:r>
            <a:endParaRPr sz="900" b="1">
              <a:solidFill>
                <a:srgbClr val="595959"/>
              </a:solidFill>
            </a:endParaRPr>
          </a:p>
          <a:p>
            <a:pPr marL="0" lvl="0" indent="0" algn="ctr" rtl="0">
              <a:spcBef>
                <a:spcPts val="0"/>
              </a:spcBef>
              <a:spcAft>
                <a:spcPts val="0"/>
              </a:spcAft>
              <a:buClr>
                <a:schemeClr val="dk1"/>
              </a:buClr>
              <a:buSzPts val="1100"/>
              <a:buFont typeface="Arial"/>
              <a:buNone/>
            </a:pPr>
            <a:r>
              <a:rPr lang="en" sz="900" b="1">
                <a:solidFill>
                  <a:srgbClr val="0B8043"/>
                </a:solidFill>
              </a:rPr>
              <a:t>Tăng 6,1k/h so với CP 7.7</a:t>
            </a:r>
            <a:endParaRPr sz="900" b="1">
              <a:solidFill>
                <a:srgbClr val="0B8043"/>
              </a:solidFill>
            </a:endParaRPr>
          </a:p>
        </p:txBody>
      </p:sp>
      <p:sp>
        <p:nvSpPr>
          <p:cNvPr id="665" name="Google Shape;665;p44"/>
          <p:cNvSpPr txBox="1"/>
          <p:nvPr/>
        </p:nvSpPr>
        <p:spPr>
          <a:xfrm>
            <a:off x="6363775" y="664766"/>
            <a:ext cx="2185800" cy="75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900" b="1">
                <a:solidFill>
                  <a:srgbClr val="595959"/>
                </a:solidFill>
              </a:rPr>
              <a:t>45.6k giờ</a:t>
            </a:r>
            <a:endParaRPr sz="1900" b="1">
              <a:solidFill>
                <a:srgbClr val="595959"/>
              </a:solidFill>
            </a:endParaRPr>
          </a:p>
          <a:p>
            <a:pPr marL="0" lvl="0" indent="0" algn="ctr" rtl="0">
              <a:spcBef>
                <a:spcPts val="0"/>
              </a:spcBef>
              <a:spcAft>
                <a:spcPts val="0"/>
              </a:spcAft>
              <a:buNone/>
            </a:pPr>
            <a:r>
              <a:rPr lang="en" sz="900" b="1">
                <a:solidFill>
                  <a:srgbClr val="595959"/>
                </a:solidFill>
              </a:rPr>
              <a:t>Tổng giờ trực tuyến </a:t>
            </a:r>
            <a:endParaRPr sz="900" b="1">
              <a:solidFill>
                <a:srgbClr val="595959"/>
              </a:solidFill>
            </a:endParaRPr>
          </a:p>
          <a:p>
            <a:pPr marL="0" lvl="0" indent="0" algn="ctr" rtl="0">
              <a:spcBef>
                <a:spcPts val="0"/>
              </a:spcBef>
              <a:spcAft>
                <a:spcPts val="0"/>
              </a:spcAft>
              <a:buClr>
                <a:schemeClr val="dk1"/>
              </a:buClr>
              <a:buSzPts val="1100"/>
              <a:buFont typeface="Arial"/>
              <a:buNone/>
            </a:pPr>
            <a:r>
              <a:rPr lang="en" sz="900" b="1">
                <a:solidFill>
                  <a:srgbClr val="EF4444"/>
                </a:solidFill>
              </a:rPr>
              <a:t>Giảm 3000 giờ so với CP 7.7</a:t>
            </a:r>
            <a:endParaRPr sz="900" b="1">
              <a:solidFill>
                <a:srgbClr val="EF4444"/>
              </a:solidFill>
            </a:endParaRPr>
          </a:p>
        </p:txBody>
      </p:sp>
      <p:sp>
        <p:nvSpPr>
          <p:cNvPr id="666" name="Google Shape;666;p44"/>
          <p:cNvSpPr txBox="1"/>
          <p:nvPr/>
        </p:nvSpPr>
        <p:spPr>
          <a:xfrm>
            <a:off x="424350" y="4865798"/>
            <a:ext cx="3778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i="1">
                <a:solidFill>
                  <a:schemeClr val="dk2"/>
                </a:solidFill>
              </a:rPr>
              <a:t>Số liệu không bao gồm đơn hàng GHN&amp;WH</a:t>
            </a:r>
            <a:endParaRPr sz="900" i="1">
              <a:solidFill>
                <a:schemeClr val="dk2"/>
              </a:solidFill>
            </a:endParaRPr>
          </a:p>
        </p:txBody>
      </p:sp>
      <p:sp>
        <p:nvSpPr>
          <p:cNvPr id="667" name="Google Shape;667;p44"/>
          <p:cNvSpPr txBox="1"/>
          <p:nvPr/>
        </p:nvSpPr>
        <p:spPr>
          <a:xfrm>
            <a:off x="104400" y="133300"/>
            <a:ext cx="5791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rgbClr val="3451D6"/>
                </a:solidFill>
                <a:latin typeface="Nunito ExtraBold"/>
                <a:ea typeface="Nunito ExtraBold"/>
                <a:cs typeface="Nunito ExtraBold"/>
                <a:sym typeface="Nunito ExtraBold"/>
              </a:rPr>
              <a:t>[SGN] CP 8.8</a:t>
            </a:r>
            <a:endParaRPr sz="2400">
              <a:solidFill>
                <a:srgbClr val="3451D6"/>
              </a:solidFill>
              <a:latin typeface="Nunito ExtraBold"/>
              <a:ea typeface="Nunito ExtraBold"/>
              <a:cs typeface="Nunito ExtraBold"/>
              <a:sym typeface="Nunito ExtraBold"/>
            </a:endParaRPr>
          </a:p>
        </p:txBody>
      </p:sp>
      <p:cxnSp>
        <p:nvCxnSpPr>
          <p:cNvPr id="668" name="Google Shape;668;p44"/>
          <p:cNvCxnSpPr/>
          <p:nvPr/>
        </p:nvCxnSpPr>
        <p:spPr>
          <a:xfrm rot="10800000" flipH="1">
            <a:off x="3005400" y="409875"/>
            <a:ext cx="6158400" cy="900"/>
          </a:xfrm>
          <a:prstGeom prst="straightConnector1">
            <a:avLst/>
          </a:prstGeom>
          <a:noFill/>
          <a:ln w="19050" cap="flat" cmpd="sng">
            <a:solidFill>
              <a:srgbClr val="1155CC"/>
            </a:solidFill>
            <a:prstDash val="solid"/>
            <a:round/>
            <a:headEnd type="oval" w="med" len="med"/>
            <a:tailEnd type="none" w="med" len="med"/>
          </a:ln>
        </p:spPr>
      </p:cxnSp>
      <p:sp>
        <p:nvSpPr>
          <p:cNvPr id="669" name="Google Shape;669;p44"/>
          <p:cNvSpPr txBox="1"/>
          <p:nvPr/>
        </p:nvSpPr>
        <p:spPr>
          <a:xfrm>
            <a:off x="459350" y="3171128"/>
            <a:ext cx="3778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i="1">
                <a:solidFill>
                  <a:schemeClr val="dk2"/>
                </a:solidFill>
              </a:rPr>
              <a:t>Số liệu bao gồm đơn hàng WH (excluded GHN)</a:t>
            </a:r>
            <a:endParaRPr sz="900" i="1">
              <a:solidFill>
                <a:schemeClr val="dk2"/>
              </a:solidFill>
            </a:endParaRPr>
          </a:p>
        </p:txBody>
      </p:sp>
      <p:graphicFrame>
        <p:nvGraphicFramePr>
          <p:cNvPr id="670" name="Google Shape;670;p44"/>
          <p:cNvGraphicFramePr/>
          <p:nvPr/>
        </p:nvGraphicFramePr>
        <p:xfrm>
          <a:off x="459350" y="1455563"/>
          <a:ext cx="3000000" cy="3000000"/>
        </p:xfrm>
        <a:graphic>
          <a:graphicData uri="http://schemas.openxmlformats.org/drawingml/2006/table">
            <a:tbl>
              <a:tblPr>
                <a:noFill/>
                <a:tableStyleId>{1B6E03F7-A7B3-402D-A52F-665CEB5CA1F2}</a:tableStyleId>
              </a:tblPr>
              <a:tblGrid>
                <a:gridCol w="1000125">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4297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gridCol w="1352550">
                  <a:extLst>
                    <a:ext uri="{9D8B030D-6E8A-4147-A177-3AD203B41FA5}">
                      <a16:colId xmlns:a16="http://schemas.microsoft.com/office/drawing/2014/main" val="20005"/>
                    </a:ext>
                  </a:extLst>
                </a:gridCol>
                <a:gridCol w="1409700">
                  <a:extLst>
                    <a:ext uri="{9D8B030D-6E8A-4147-A177-3AD203B41FA5}">
                      <a16:colId xmlns:a16="http://schemas.microsoft.com/office/drawing/2014/main" val="20006"/>
                    </a:ext>
                  </a:extLst>
                </a:gridCol>
              </a:tblGrid>
              <a:tr h="200025">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gridSpan="2">
                  <a:txBody>
                    <a:bodyPr/>
                    <a:lstStyle/>
                    <a:p>
                      <a:pPr marL="0" lvl="0" indent="0" algn="ctr" rtl="0">
                        <a:lnSpc>
                          <a:spcPct val="115000"/>
                        </a:lnSpc>
                        <a:spcBef>
                          <a:spcPts val="0"/>
                        </a:spcBef>
                        <a:spcAft>
                          <a:spcPts val="0"/>
                        </a:spcAft>
                        <a:buNone/>
                      </a:pPr>
                      <a:r>
                        <a:rPr lang="en" sz="1000" b="1"/>
                        <a:t>Active</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tc gridSpan="2">
                  <a:txBody>
                    <a:bodyPr/>
                    <a:lstStyle/>
                    <a:p>
                      <a:pPr marL="0" lvl="0" indent="0" algn="ctr" rtl="0">
                        <a:lnSpc>
                          <a:spcPct val="115000"/>
                        </a:lnSpc>
                        <a:spcBef>
                          <a:spcPts val="0"/>
                        </a:spcBef>
                        <a:spcAft>
                          <a:spcPts val="0"/>
                        </a:spcAft>
                        <a:buNone/>
                      </a:pPr>
                      <a:r>
                        <a:rPr lang="en" sz="1000" b="1"/>
                        <a:t>Prod</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tc gridSpan="2">
                  <a:txBody>
                    <a:bodyPr/>
                    <a:lstStyle/>
                    <a:p>
                      <a:pPr marL="0" lvl="0" indent="0" algn="ctr" rtl="0">
                        <a:lnSpc>
                          <a:spcPct val="115000"/>
                        </a:lnSpc>
                        <a:spcBef>
                          <a:spcPts val="0"/>
                        </a:spcBef>
                        <a:spcAft>
                          <a:spcPts val="0"/>
                        </a:spcAft>
                        <a:buNone/>
                      </a:pPr>
                      <a:r>
                        <a:rPr lang="en" sz="1000" b="1"/>
                        <a:t>Cap</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hMerge="1">
                  <a:txBody>
                    <a:bodyPr/>
                    <a:lstStyle/>
                    <a:p>
                      <a:endParaRPr lang="en-VN"/>
                    </a:p>
                  </a:txBody>
                  <a:tcPr/>
                </a:tc>
                <a:extLst>
                  <a:ext uri="{0D108BD9-81ED-4DB2-BD59-A6C34878D82A}">
                    <a16:rowId xmlns:a16="http://schemas.microsoft.com/office/drawing/2014/main" val="10000"/>
                  </a:ext>
                </a:extLst>
              </a:tr>
              <a:tr h="200025">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FF6D01"/>
                          </a:solidFill>
                        </a:rPr>
                        <a:t>actual</a:t>
                      </a:r>
                      <a:endParaRPr sz="1000" b="1">
                        <a:solidFill>
                          <a:srgbClr val="FF6D01"/>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solidFill>
                            <a:srgbClr val="073763"/>
                          </a:solidFill>
                        </a:rPr>
                        <a:t>target</a:t>
                      </a:r>
                      <a:endParaRPr sz="1000" b="1">
                        <a:solidFill>
                          <a:srgbClr val="073763"/>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t>FT</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FFFFFF"/>
                    </a:solidFill>
                  </a:tcPr>
                </a:tc>
                <a:tc>
                  <a:txBody>
                    <a:bodyPr/>
                    <a:lstStyle/>
                    <a:p>
                      <a:pPr marL="0" lvl="0" indent="0" algn="ctr" rtl="0">
                        <a:lnSpc>
                          <a:spcPct val="115000"/>
                        </a:lnSpc>
                        <a:spcBef>
                          <a:spcPts val="0"/>
                        </a:spcBef>
                        <a:spcAft>
                          <a:spcPts val="0"/>
                        </a:spcAft>
                        <a:buNone/>
                      </a:pPr>
                      <a:r>
                        <a:rPr lang="en" sz="1000"/>
                        <a:t>2,559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96.72%</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D9EAD3"/>
                    </a:solidFill>
                  </a:tcPr>
                </a:tc>
                <a:tc>
                  <a:txBody>
                    <a:bodyPr/>
                    <a:lstStyle/>
                    <a:p>
                      <a:pPr marL="0" lvl="0" indent="0" algn="ctr" rtl="0">
                        <a:lnSpc>
                          <a:spcPct val="115000"/>
                        </a:lnSpc>
                        <a:spcBef>
                          <a:spcPts val="0"/>
                        </a:spcBef>
                        <a:spcAft>
                          <a:spcPts val="0"/>
                        </a:spcAft>
                        <a:buNone/>
                      </a:pPr>
                      <a:r>
                        <a:rPr lang="en" sz="1000"/>
                        <a:t>13.43</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99.48%</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D9EAD3"/>
                    </a:solidFill>
                  </a:tcPr>
                </a:tc>
                <a:tc>
                  <a:txBody>
                    <a:bodyPr/>
                    <a:lstStyle/>
                    <a:p>
                      <a:pPr marL="0" lvl="0" indent="0" algn="ctr" rtl="0">
                        <a:lnSpc>
                          <a:spcPct val="115000"/>
                        </a:lnSpc>
                        <a:spcBef>
                          <a:spcPts val="0"/>
                        </a:spcBef>
                        <a:spcAft>
                          <a:spcPts val="0"/>
                        </a:spcAft>
                        <a:buNone/>
                      </a:pPr>
                      <a:r>
                        <a:rPr lang="en" sz="1000"/>
                        <a:t>34,367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solid"/>
                      <a:round/>
                      <a:headEnd type="none" w="sm" len="sm"/>
                      <a:tailEnd type="none" w="sm" len="sm"/>
                    </a:lnT>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96.22%</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D9EAD3"/>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t>PT</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3,265</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90.88%</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7.95</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106.00%</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25,957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96.33%</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t>NLM</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629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111.89%</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9.28</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97.68%</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5,837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109.30%</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t>NIM</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302</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110.27%</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8.69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133.69%</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2,624</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147.42%</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b="1"/>
                        <a:t>Return</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FFFF"/>
                    </a:solidFill>
                  </a:tcPr>
                </a:tc>
                <a:tc>
                  <a:txBody>
                    <a:bodyPr/>
                    <a:lstStyle/>
                    <a:p>
                      <a:pPr marL="0" lvl="0" indent="0" algn="ctr" rtl="0">
                        <a:lnSpc>
                          <a:spcPct val="115000"/>
                        </a:lnSpc>
                        <a:spcBef>
                          <a:spcPts val="0"/>
                        </a:spcBef>
                        <a:spcAft>
                          <a:spcPts val="0"/>
                        </a:spcAft>
                        <a:buNone/>
                      </a:pPr>
                      <a:r>
                        <a:rPr lang="en" sz="1000"/>
                        <a:t>162</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CC4125"/>
                          </a:solidFill>
                        </a:rPr>
                        <a:t>85.31%</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9.07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120.93%</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a:t>1,469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solidFill>
                      <a:srgbClr val="D9EAD3"/>
                    </a:solidFill>
                  </a:tcPr>
                </a:tc>
                <a:tc>
                  <a:txBody>
                    <a:bodyPr/>
                    <a:lstStyle/>
                    <a:p>
                      <a:pPr marL="0" lvl="0" indent="0" algn="ctr" rtl="0">
                        <a:lnSpc>
                          <a:spcPct val="115000"/>
                        </a:lnSpc>
                        <a:spcBef>
                          <a:spcPts val="0"/>
                        </a:spcBef>
                        <a:spcAft>
                          <a:spcPts val="0"/>
                        </a:spcAft>
                        <a:buNone/>
                      </a:pPr>
                      <a:r>
                        <a:rPr lang="en" sz="1000" b="1">
                          <a:solidFill>
                            <a:srgbClr val="38761D"/>
                          </a:solidFill>
                        </a:rPr>
                        <a:t>103.17%</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6"/>
                  </a:ext>
                </a:extLst>
              </a:tr>
              <a:tr h="2000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t>6,917</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000" b="1">
                          <a:solidFill>
                            <a:srgbClr val="CC4125"/>
                          </a:solidFill>
                        </a:rPr>
                        <a:t>95.22%</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000" b="1"/>
                        <a:t>10.16</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000" b="1">
                          <a:solidFill>
                            <a:srgbClr val="38761D"/>
                          </a:solidFill>
                        </a:rPr>
                        <a:t>103.65%</a:t>
                      </a:r>
                      <a:endParaRPr sz="1000" b="1">
                        <a:solidFill>
                          <a:srgbClr val="38761D"/>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000" b="1"/>
                        <a:t>70,255</a:t>
                      </a:r>
                      <a:endParaRPr sz="1000" b="1"/>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dash"/>
                      <a:round/>
                      <a:headEnd type="none" w="sm" len="sm"/>
                      <a:tailEnd type="none" w="sm" len="sm"/>
                    </a:lnR>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000" b="1">
                          <a:solidFill>
                            <a:srgbClr val="CC4125"/>
                          </a:solidFill>
                        </a:rPr>
                        <a:t>98.66%</a:t>
                      </a:r>
                      <a:endParaRPr sz="1000" b="1">
                        <a:solidFill>
                          <a:srgbClr val="CC4125"/>
                        </a:solidFill>
                      </a:endParaRPr>
                    </a:p>
                  </a:txBody>
                  <a:tcPr marL="28575" marR="28575" marT="19050" marB="19050" anchor="b">
                    <a:lnL w="9525" cap="flat" cmpd="sng">
                      <a:solidFill>
                        <a:srgbClr val="000000"/>
                      </a:solidFill>
                      <a:prstDash val="dash"/>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7"/>
                  </a:ext>
                </a:extLst>
              </a:tr>
            </a:tbl>
          </a:graphicData>
        </a:graphic>
      </p:graphicFrame>
      <p:graphicFrame>
        <p:nvGraphicFramePr>
          <p:cNvPr id="671" name="Google Shape;671;p44"/>
          <p:cNvGraphicFramePr/>
          <p:nvPr/>
        </p:nvGraphicFramePr>
        <p:xfrm>
          <a:off x="250325" y="3551363"/>
          <a:ext cx="3000000" cy="3000000"/>
        </p:xfrm>
        <a:graphic>
          <a:graphicData uri="http://schemas.openxmlformats.org/drawingml/2006/table">
            <a:tbl>
              <a:tblPr>
                <a:noFill/>
                <a:tableStyleId>{1B6E03F7-A7B3-402D-A52F-665CEB5CA1F2}</a:tableStyleId>
              </a:tblPr>
              <a:tblGrid>
                <a:gridCol w="1000125">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4297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tblGrid>
              <a:tr h="200025">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Actual</a:t>
                      </a:r>
                      <a:endParaRPr sz="1000" b="1">
                        <a:solidFill>
                          <a:srgbClr val="FFFFFF"/>
                        </a:solidFill>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Demand</a:t>
                      </a:r>
                      <a:endParaRPr sz="1000" b="1">
                        <a:solidFill>
                          <a:srgbClr val="FFFFFF"/>
                        </a:solidFill>
                        <a:latin typeface="Roboto"/>
                        <a:ea typeface="Roboto"/>
                        <a:cs typeface="Roboto"/>
                        <a:sym typeface="Roboto"/>
                      </a:endParaRPr>
                    </a:p>
                  </a:txBody>
                  <a:tcPr marL="28575" marR="28575" marT="19050" marB="19050" anchor="b">
                    <a:lnT w="9525" cap="flat" cmpd="sng">
                      <a:solidFill>
                        <a:srgbClr val="000000"/>
                      </a:solidFill>
                      <a:prstDash val="solid"/>
                      <a:round/>
                      <a:headEnd type="none" w="sm" len="sm"/>
                      <a:tailEnd type="none" w="sm" len="sm"/>
                    </a:lnT>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Capacity</a:t>
                      </a:r>
                      <a:endParaRPr sz="1000" b="1">
                        <a:solidFill>
                          <a:srgbClr val="FFFFFF"/>
                        </a:solidFill>
                        <a:latin typeface="Roboto"/>
                        <a:ea typeface="Roboto"/>
                        <a:cs typeface="Roboto"/>
                        <a:sym typeface="Roboto"/>
                      </a:endParaRPr>
                    </a:p>
                  </a:txBody>
                  <a:tcPr marL="28575" marR="28575" marT="19050" marB="19050" anchor="b">
                    <a:lnT w="9525" cap="flat" cmpd="sng">
                      <a:solidFill>
                        <a:srgbClr val="000000"/>
                      </a:solidFill>
                      <a:prstDash val="solid"/>
                      <a:round/>
                      <a:headEnd type="none" w="sm" len="sm"/>
                      <a:tailEnd type="none" w="sm" len="sm"/>
                    </a:lnT>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Fr</a:t>
                      </a:r>
                      <a:endParaRPr sz="1000" b="1">
                        <a:solidFill>
                          <a:srgbClr val="FFFFFF"/>
                        </a:solidFill>
                        <a:latin typeface="Roboto"/>
                        <a:ea typeface="Roboto"/>
                        <a:cs typeface="Roboto"/>
                        <a:sym typeface="Roboto"/>
                      </a:endParaRPr>
                    </a:p>
                  </a:txBody>
                  <a:tcPr marL="28575" marR="28575" marT="19050" marB="19050" anchor="b">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134F5C"/>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76,471</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63,848</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83.49%</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79,397</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69,073</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87.00%</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8.8</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77,506</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66,334</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85.59%</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b="1">
                          <a:solidFill>
                            <a:srgbClr val="38761D"/>
                          </a:solidFill>
                          <a:latin typeface="Verdana"/>
                          <a:ea typeface="Verdana"/>
                          <a:cs typeface="Verdana"/>
                          <a:sym typeface="Verdana"/>
                        </a:rPr>
                        <a:t>101.35%</a:t>
                      </a:r>
                      <a:endParaRPr sz="1000" b="1">
                        <a:solidFill>
                          <a:srgbClr val="38761D"/>
                        </a:solidFill>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38761D"/>
                          </a:solidFill>
                          <a:latin typeface="Verdana"/>
                          <a:ea typeface="Verdana"/>
                          <a:cs typeface="Verdana"/>
                          <a:sym typeface="Verdana"/>
                        </a:rPr>
                        <a:t>103.89%</a:t>
                      </a:r>
                      <a:endParaRPr sz="1000" b="1">
                        <a:solidFill>
                          <a:srgbClr val="38761D"/>
                        </a:solidFill>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38761D"/>
                          </a:solidFill>
                          <a:latin typeface="Verdana"/>
                          <a:ea typeface="Verdana"/>
                          <a:cs typeface="Verdana"/>
                          <a:sym typeface="Verdana"/>
                        </a:rPr>
                        <a:t>102.51%</a:t>
                      </a:r>
                      <a:endParaRPr sz="1000" b="1">
                        <a:solidFill>
                          <a:srgbClr val="38761D"/>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4125"/>
                          </a:solidFill>
                          <a:latin typeface="Verdana"/>
                          <a:ea typeface="Verdana"/>
                          <a:cs typeface="Verdana"/>
                          <a:sym typeface="Verdana"/>
                        </a:rPr>
                        <a:t>97.62%</a:t>
                      </a:r>
                      <a:endParaRPr sz="1000" b="1">
                        <a:solidFill>
                          <a:srgbClr val="CC4125"/>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4125"/>
                          </a:solidFill>
                          <a:latin typeface="Verdana"/>
                          <a:ea typeface="Verdana"/>
                          <a:cs typeface="Verdana"/>
                          <a:sym typeface="Verdana"/>
                        </a:rPr>
                        <a:t>96.03%</a:t>
                      </a:r>
                      <a:endParaRPr sz="1000" b="1">
                        <a:solidFill>
                          <a:srgbClr val="CC4125"/>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4125"/>
                          </a:solidFill>
                          <a:latin typeface="Verdana"/>
                          <a:ea typeface="Verdana"/>
                          <a:cs typeface="Verdana"/>
                          <a:sym typeface="Verdana"/>
                        </a:rPr>
                        <a:t>98.38%</a:t>
                      </a:r>
                      <a:endParaRPr sz="1000" b="1">
                        <a:solidFill>
                          <a:srgbClr val="CC4125"/>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672" name="Google Shape;672;p44"/>
          <p:cNvGraphicFramePr/>
          <p:nvPr/>
        </p:nvGraphicFramePr>
        <p:xfrm>
          <a:off x="4790575" y="3551375"/>
          <a:ext cx="3000000" cy="3000000"/>
        </p:xfrm>
        <a:graphic>
          <a:graphicData uri="http://schemas.openxmlformats.org/drawingml/2006/table">
            <a:tbl>
              <a:tblPr>
                <a:noFill/>
                <a:tableStyleId>{1B6E03F7-A7B3-402D-A52F-665CEB5CA1F2}</a:tableStyleId>
              </a:tblPr>
              <a:tblGrid>
                <a:gridCol w="135255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Actual</a:t>
                      </a:r>
                      <a:endParaRPr sz="1000" b="1">
                        <a:solidFill>
                          <a:srgbClr val="FFFFFF"/>
                        </a:solidFill>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Active</a:t>
                      </a:r>
                      <a:endParaRPr sz="1000" b="1">
                        <a:solidFill>
                          <a:srgbClr val="FFFFFF"/>
                        </a:solidFill>
                        <a:latin typeface="Roboto"/>
                        <a:ea typeface="Roboto"/>
                        <a:cs typeface="Roboto"/>
                        <a:sym typeface="Roboto"/>
                      </a:endParaRPr>
                    </a:p>
                  </a:txBody>
                  <a:tcPr marL="28575" marR="28575" marT="19050" marB="19050" anchor="b">
                    <a:lnT w="9525" cap="flat" cmpd="sng">
                      <a:solidFill>
                        <a:srgbClr val="000000"/>
                      </a:solidFill>
                      <a:prstDash val="solid"/>
                      <a:round/>
                      <a:headEnd type="none" w="sm" len="sm"/>
                      <a:tailEnd type="none" w="sm" len="sm"/>
                    </a:lnT>
                    <a:solidFill>
                      <a:srgbClr val="134F5C"/>
                    </a:solidFill>
                  </a:tcPr>
                </a:tc>
                <a:tc>
                  <a:txBody>
                    <a:bodyPr/>
                    <a:lstStyle/>
                    <a:p>
                      <a:pPr marL="0" lvl="0" indent="0" algn="ctr" rtl="0">
                        <a:lnSpc>
                          <a:spcPct val="115000"/>
                        </a:lnSpc>
                        <a:spcBef>
                          <a:spcPts val="0"/>
                        </a:spcBef>
                        <a:spcAft>
                          <a:spcPts val="0"/>
                        </a:spcAft>
                        <a:buNone/>
                      </a:pPr>
                      <a:r>
                        <a:rPr lang="en" sz="1000" b="1">
                          <a:solidFill>
                            <a:srgbClr val="FFFFFF"/>
                          </a:solidFill>
                          <a:latin typeface="Roboto"/>
                          <a:ea typeface="Roboto"/>
                          <a:cs typeface="Roboto"/>
                          <a:sym typeface="Roboto"/>
                        </a:rPr>
                        <a:t>Prod</a:t>
                      </a:r>
                      <a:endParaRPr sz="1000" b="1">
                        <a:solidFill>
                          <a:srgbClr val="FFFFFF"/>
                        </a:solidFill>
                        <a:latin typeface="Roboto"/>
                        <a:ea typeface="Roboto"/>
                        <a:cs typeface="Roboto"/>
                        <a:sym typeface="Roboto"/>
                      </a:endParaRPr>
                    </a:p>
                  </a:txBody>
                  <a:tcPr marL="28575" marR="28575" marT="19050" marB="19050" anchor="b">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solidFill>
                      <a:srgbClr val="134F5C"/>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6,993</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9.17</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7,600</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9.11</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8.8</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6,906</a:t>
                      </a:r>
                      <a:endParaRPr sz="1000">
                        <a:latin typeface="Nunito"/>
                        <a:ea typeface="Nunito"/>
                        <a:cs typeface="Nunito"/>
                        <a:sym typeface="Nunito"/>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Nunito"/>
                          <a:ea typeface="Nunito"/>
                          <a:cs typeface="Nunito"/>
                          <a:sym typeface="Nunito"/>
                        </a:rPr>
                        <a:t>9.65</a:t>
                      </a:r>
                      <a:endParaRPr sz="1000">
                        <a:latin typeface="Nunito"/>
                        <a:ea typeface="Nunito"/>
                        <a:cs typeface="Nunito"/>
                        <a:sym typeface="Nunito"/>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6.6</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1000" b="1">
                          <a:solidFill>
                            <a:srgbClr val="CC4125"/>
                          </a:solidFill>
                          <a:latin typeface="Verdana"/>
                          <a:ea typeface="Verdana"/>
                          <a:cs typeface="Verdana"/>
                          <a:sym typeface="Verdana"/>
                        </a:rPr>
                        <a:t>98.76%</a:t>
                      </a:r>
                      <a:endParaRPr sz="1000" b="1">
                        <a:solidFill>
                          <a:srgbClr val="CC4125"/>
                        </a:solidFill>
                        <a:latin typeface="Verdana"/>
                        <a:ea typeface="Verdana"/>
                        <a:cs typeface="Verdana"/>
                        <a:sym typeface="Verdana"/>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38761D"/>
                          </a:solidFill>
                          <a:latin typeface="Verdana"/>
                          <a:ea typeface="Verdana"/>
                          <a:cs typeface="Verdana"/>
                          <a:sym typeface="Verdana"/>
                        </a:rPr>
                        <a:t>105.23%</a:t>
                      </a:r>
                      <a:endParaRPr sz="1000" b="1">
                        <a:solidFill>
                          <a:srgbClr val="38761D"/>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b="1">
                          <a:latin typeface="Roboto"/>
                          <a:ea typeface="Roboto"/>
                          <a:cs typeface="Roboto"/>
                          <a:sym typeface="Roboto"/>
                        </a:rPr>
                        <a:t>Vs 7.7</a:t>
                      </a:r>
                      <a:endParaRPr sz="1000" b="1">
                        <a:latin typeface="Roboto"/>
                        <a:ea typeface="Roboto"/>
                        <a:cs typeface="Roboto"/>
                        <a:sym typeface="Roboto"/>
                      </a:endParaRPr>
                    </a:p>
                  </a:txBody>
                  <a:tcPr marL="28575" marR="28575" marT="19050" marB="19050" anchor="b">
                    <a:lnL w="9525" cap="flat" cmpd="sng">
                      <a:solidFill>
                        <a:srgbClr val="000000"/>
                      </a:solidFill>
                      <a:prstDash val="solid"/>
                      <a:round/>
                      <a:headEnd type="none" w="sm" len="sm"/>
                      <a:tailEnd type="none" w="sm" len="sm"/>
                    </a:lnL>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4125"/>
                          </a:solidFill>
                          <a:latin typeface="Verdana"/>
                          <a:ea typeface="Verdana"/>
                          <a:cs typeface="Verdana"/>
                          <a:sym typeface="Verdana"/>
                        </a:rPr>
                        <a:t>90.87%</a:t>
                      </a:r>
                      <a:endParaRPr sz="1000" b="1">
                        <a:solidFill>
                          <a:srgbClr val="CC4125"/>
                        </a:solidFill>
                        <a:latin typeface="Verdana"/>
                        <a:ea typeface="Verdana"/>
                        <a:cs typeface="Verdana"/>
                        <a:sym typeface="Verdana"/>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8761D"/>
                          </a:solidFill>
                          <a:latin typeface="Verdana"/>
                          <a:ea typeface="Verdana"/>
                          <a:cs typeface="Verdana"/>
                          <a:sym typeface="Verdana"/>
                        </a:rPr>
                        <a:t>105.93%</a:t>
                      </a:r>
                      <a:endParaRPr sz="1000" b="1">
                        <a:solidFill>
                          <a:srgbClr val="38761D"/>
                        </a:solidFill>
                        <a:latin typeface="Verdana"/>
                        <a:ea typeface="Verdana"/>
                        <a:cs typeface="Verdana"/>
                        <a:sym typeface="Verdana"/>
                      </a:endParaRPr>
                    </a:p>
                  </a:txBody>
                  <a:tcPr marL="28575" marR="28575" marT="19050" marB="19050" anchor="b">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77"/>
        <p:cNvGrpSpPr/>
        <p:nvPr/>
      </p:nvGrpSpPr>
      <p:grpSpPr>
        <a:xfrm>
          <a:off x="0" y="0"/>
          <a:ext cx="0" cy="0"/>
          <a:chOff x="0" y="0"/>
          <a:chExt cx="0" cy="0"/>
        </a:xfrm>
      </p:grpSpPr>
      <p:sp>
        <p:nvSpPr>
          <p:cNvPr id="678" name="Google Shape;678;p4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9" name="Google Shape;679;p45" descr="preencoded.png"/>
          <p:cNvPicPr preferRelativeResize="0"/>
          <p:nvPr/>
        </p:nvPicPr>
        <p:blipFill rotWithShape="1">
          <a:blip r:embed="rId3">
            <a:alphaModFix/>
          </a:blip>
          <a:srcRect/>
          <a:stretch/>
        </p:blipFill>
        <p:spPr>
          <a:xfrm>
            <a:off x="155235" y="175295"/>
            <a:ext cx="274320" cy="274320"/>
          </a:xfrm>
          <a:prstGeom prst="rect">
            <a:avLst/>
          </a:prstGeom>
          <a:noFill/>
          <a:ln>
            <a:noFill/>
          </a:ln>
        </p:spPr>
      </p:pic>
      <p:sp>
        <p:nvSpPr>
          <p:cNvPr id="680" name="Google Shape;680;p45"/>
          <p:cNvSpPr/>
          <p:nvPr/>
        </p:nvSpPr>
        <p:spPr>
          <a:xfrm>
            <a:off x="520995" y="10214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681" name="Google Shape;681;p45"/>
          <p:cNvSpPr/>
          <p:nvPr/>
        </p:nvSpPr>
        <p:spPr>
          <a:xfrm>
            <a:off x="520995" y="495335"/>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 &gt;=22</a:t>
            </a:r>
            <a:r>
              <a:rPr lang="en" sz="1000" i="1">
                <a:solidFill>
                  <a:srgbClr val="64748B"/>
                </a:solidFill>
                <a:latin typeface="Lexend"/>
                <a:ea typeface="Lexend"/>
                <a:cs typeface="Lexend"/>
                <a:sym typeface="Lexend"/>
              </a:rPr>
              <a:t>t</a:t>
            </a:r>
            <a:r>
              <a:rPr lang="en" sz="1000" i="1" u="none" strike="noStrike" cap="none">
                <a:solidFill>
                  <a:srgbClr val="64748B"/>
                </a:solidFill>
                <a:latin typeface="Lexend"/>
                <a:ea typeface="Lexend"/>
                <a:cs typeface="Lexend"/>
                <a:sym typeface="Lexend"/>
              </a:rPr>
              <a:t> — Bóc tách biến động theo thời điểm &amp; segment</a:t>
            </a:r>
            <a:endParaRPr sz="1000" i="0" u="none" strike="noStrike" cap="none">
              <a:solidFill>
                <a:schemeClr val="dk1"/>
              </a:solidFill>
              <a:latin typeface="Lexend"/>
              <a:ea typeface="Lexend"/>
              <a:cs typeface="Lexend"/>
              <a:sym typeface="Lexend"/>
            </a:endParaRPr>
          </a:p>
        </p:txBody>
      </p:sp>
      <p:sp>
        <p:nvSpPr>
          <p:cNvPr id="682" name="Google Shape;682;p45"/>
          <p:cNvSpPr/>
          <p:nvPr/>
        </p:nvSpPr>
        <p:spPr>
          <a:xfrm>
            <a:off x="176535" y="900397"/>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5"/>
          <p:cNvSpPr/>
          <p:nvPr/>
        </p:nvSpPr>
        <p:spPr>
          <a:xfrm>
            <a:off x="155225" y="3520450"/>
            <a:ext cx="8871300" cy="1554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5"/>
          <p:cNvSpPr/>
          <p:nvPr/>
        </p:nvSpPr>
        <p:spPr>
          <a:xfrm>
            <a:off x="155225" y="3520450"/>
            <a:ext cx="56400" cy="1554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5"/>
          <p:cNvSpPr/>
          <p:nvPr/>
        </p:nvSpPr>
        <p:spPr>
          <a:xfrm>
            <a:off x="369250" y="4079400"/>
            <a:ext cx="8523000" cy="871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900">
                <a:solidFill>
                  <a:srgbClr val="1E293B"/>
                </a:solidFill>
                <a:latin typeface="Lexend"/>
                <a:ea typeface="Lexend"/>
                <a:cs typeface="Lexend"/>
                <a:sym typeface="Lexend"/>
              </a:rPr>
              <a:t>- Mức </a:t>
            </a:r>
            <a:r>
              <a:rPr lang="en" sz="900" b="1">
                <a:solidFill>
                  <a:srgbClr val="1E293B"/>
                </a:solidFill>
                <a:latin typeface="Lexend"/>
                <a:ea typeface="Lexend"/>
                <a:cs typeface="Lexend"/>
                <a:sym typeface="Lexend"/>
              </a:rPr>
              <a:t>hụt RR MoM/YoY được thu hẹp, giảm trung bình 0.5%</a:t>
            </a:r>
            <a:r>
              <a:rPr lang="en" sz="900">
                <a:solidFill>
                  <a:srgbClr val="1E293B"/>
                </a:solidFill>
                <a:latin typeface="Lexend"/>
                <a:ea typeface="Lexend"/>
                <a:cs typeface="Lexend"/>
                <a:sym typeface="Lexend"/>
              </a:rPr>
              <a:t> so với tuần 07.20, tuy nhiên </a:t>
            </a:r>
            <a:r>
              <a:rPr lang="en" sz="900" b="1">
                <a:solidFill>
                  <a:srgbClr val="EA4335"/>
                </a:solidFill>
                <a:latin typeface="Lexend"/>
                <a:ea typeface="Lexend"/>
                <a:cs typeface="Lexend"/>
                <a:sym typeface="Lexend"/>
              </a:rPr>
              <a:t>RR MTD vẫn đang hụt dao động 0.3-1%</a:t>
            </a:r>
            <a:br>
              <a:rPr lang="en" sz="900" b="1">
                <a:solidFill>
                  <a:srgbClr val="EA4335"/>
                </a:solidFill>
                <a:latin typeface="Lexend"/>
                <a:ea typeface="Lexend"/>
                <a:cs typeface="Lexend"/>
                <a:sym typeface="Lexend"/>
              </a:rPr>
            </a:br>
            <a:r>
              <a:rPr lang="en" sz="900">
                <a:solidFill>
                  <a:srgbClr val="1E293B"/>
                </a:solidFill>
                <a:latin typeface="Lexend"/>
                <a:ea typeface="Lexend"/>
                <a:cs typeface="Lexend"/>
                <a:sym typeface="Lexend"/>
              </a:rPr>
              <a:t>- Nhóm FT và NLM vẫn đang có mức gap lớn, với gap MoM ~2.45%, YoY dao động 1.3-4.7% </a:t>
            </a:r>
            <a:br>
              <a:rPr lang="en" sz="900">
                <a:solidFill>
                  <a:srgbClr val="1E293B"/>
                </a:solidFill>
                <a:latin typeface="Lexend"/>
                <a:ea typeface="Lexend"/>
                <a:cs typeface="Lexend"/>
                <a:sym typeface="Lexend"/>
              </a:rPr>
            </a:br>
            <a:endParaRPr sz="9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rgbClr val="1E293B"/>
              </a:solidFill>
              <a:latin typeface="Lexend"/>
              <a:ea typeface="Lexend"/>
              <a:cs typeface="Lexend"/>
              <a:sym typeface="Lexend"/>
            </a:endParaRPr>
          </a:p>
          <a:p>
            <a:pPr marL="0" marR="0" lvl="0" indent="0" algn="l" rtl="0">
              <a:spcBef>
                <a:spcPts val="0"/>
              </a:spcBef>
              <a:spcAft>
                <a:spcPts val="0"/>
              </a:spcAft>
              <a:buNone/>
            </a:pPr>
            <a:endParaRPr sz="900">
              <a:solidFill>
                <a:srgbClr val="1E293B"/>
              </a:solidFill>
              <a:latin typeface="Lexend"/>
              <a:ea typeface="Lexend"/>
              <a:cs typeface="Lexend"/>
              <a:sym typeface="Lexend"/>
            </a:endParaRPr>
          </a:p>
        </p:txBody>
      </p:sp>
      <p:sp>
        <p:nvSpPr>
          <p:cNvPr id="686" name="Google Shape;686;p4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687" name="Google Shape;687;p45" descr="preencoded.png"/>
          <p:cNvPicPr preferRelativeResize="0"/>
          <p:nvPr/>
        </p:nvPicPr>
        <p:blipFill rotWithShape="1">
          <a:blip r:embed="rId4">
            <a:alphaModFix/>
          </a:blip>
          <a:srcRect/>
          <a:stretch/>
        </p:blipFill>
        <p:spPr>
          <a:xfrm>
            <a:off x="277523" y="3612554"/>
            <a:ext cx="274325" cy="373067"/>
          </a:xfrm>
          <a:prstGeom prst="rect">
            <a:avLst/>
          </a:prstGeom>
          <a:noFill/>
          <a:ln>
            <a:noFill/>
          </a:ln>
        </p:spPr>
      </p:pic>
      <p:sp>
        <p:nvSpPr>
          <p:cNvPr id="688" name="Google Shape;688;p45"/>
          <p:cNvSpPr/>
          <p:nvPr/>
        </p:nvSpPr>
        <p:spPr>
          <a:xfrm>
            <a:off x="533563" y="3550361"/>
            <a:ext cx="2743200" cy="34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100"/>
              <a:buFont typeface="Calibri"/>
              <a:buNone/>
            </a:pPr>
            <a:r>
              <a:rPr lang="en" sz="1100" i="0" u="none" strike="noStrike" cap="none">
                <a:solidFill>
                  <a:srgbClr val="EF4444"/>
                </a:solidFill>
                <a:latin typeface="Lexend"/>
                <a:ea typeface="Lexend"/>
                <a:cs typeface="Lexend"/>
                <a:sym typeface="Lexend"/>
              </a:rPr>
              <a:t>ROOT CAUSE ANALYSIS</a:t>
            </a:r>
            <a:endParaRPr sz="1100" i="0" u="none" strike="noStrike" cap="none">
              <a:solidFill>
                <a:schemeClr val="dk1"/>
              </a:solidFill>
              <a:latin typeface="Lexend"/>
              <a:ea typeface="Lexend"/>
              <a:cs typeface="Lexend"/>
              <a:sym typeface="Lexend"/>
            </a:endParaRPr>
          </a:p>
        </p:txBody>
      </p:sp>
      <p:pic>
        <p:nvPicPr>
          <p:cNvPr id="689" name="Google Shape;689;p45" title="Chart"/>
          <p:cNvPicPr preferRelativeResize="0"/>
          <p:nvPr/>
        </p:nvPicPr>
        <p:blipFill>
          <a:blip r:embed="rId5">
            <a:alphaModFix/>
          </a:blip>
          <a:stretch>
            <a:fillRect/>
          </a:stretch>
        </p:blipFill>
        <p:spPr>
          <a:xfrm>
            <a:off x="176525" y="900400"/>
            <a:ext cx="4846198" cy="2263295"/>
          </a:xfrm>
          <a:prstGeom prst="rect">
            <a:avLst/>
          </a:prstGeom>
          <a:noFill/>
          <a:ln>
            <a:noFill/>
          </a:ln>
        </p:spPr>
      </p:pic>
      <p:cxnSp>
        <p:nvCxnSpPr>
          <p:cNvPr id="690" name="Google Shape;690;p45"/>
          <p:cNvCxnSpPr/>
          <p:nvPr/>
        </p:nvCxnSpPr>
        <p:spPr>
          <a:xfrm flipH="1">
            <a:off x="1632000" y="1771750"/>
            <a:ext cx="13200" cy="1229700"/>
          </a:xfrm>
          <a:prstGeom prst="straightConnector1">
            <a:avLst/>
          </a:prstGeom>
          <a:noFill/>
          <a:ln w="8150" cap="flat" cmpd="sng">
            <a:solidFill>
              <a:schemeClr val="dk2"/>
            </a:solidFill>
            <a:prstDash val="dot"/>
            <a:round/>
            <a:headEnd type="none" w="med" len="med"/>
            <a:tailEnd type="none" w="med" len="med"/>
          </a:ln>
        </p:spPr>
      </p:cxnSp>
      <p:sp>
        <p:nvSpPr>
          <p:cNvPr id="691" name="Google Shape;691;p45"/>
          <p:cNvSpPr/>
          <p:nvPr/>
        </p:nvSpPr>
        <p:spPr>
          <a:xfrm>
            <a:off x="1694301" y="1967500"/>
            <a:ext cx="665400" cy="459000"/>
          </a:xfrm>
          <a:prstGeom prst="wedgeRoundRectCallout">
            <a:avLst>
              <a:gd name="adj1" fmla="val -50392"/>
              <a:gd name="adj2" fmla="val -88140"/>
              <a:gd name="adj3" fmla="val 0"/>
            </a:avLst>
          </a:prstGeom>
          <a:solidFill>
            <a:srgbClr val="63A7FF">
              <a:alpha val="49380"/>
            </a:srgbClr>
          </a:solidFill>
          <a:ln w="6700" cap="flat" cmpd="sng">
            <a:solidFill>
              <a:srgbClr val="D2E0F9"/>
            </a:solidFill>
            <a:prstDash val="solid"/>
            <a:round/>
            <a:headEnd type="none" w="sm" len="sm"/>
            <a:tailEnd type="none" w="sm" len="sm"/>
          </a:ln>
        </p:spPr>
        <p:txBody>
          <a:bodyPr spcFirstLastPara="1" wrap="square" lIns="64275" tIns="64275" rIns="64275" bIns="64275" anchor="ctr" anchorCtr="0">
            <a:noAutofit/>
          </a:bodyPr>
          <a:lstStyle/>
          <a:p>
            <a:pPr marL="0" lvl="0" indent="0" algn="l" rtl="0">
              <a:lnSpc>
                <a:spcPct val="115000"/>
              </a:lnSpc>
              <a:spcBef>
                <a:spcPts val="0"/>
              </a:spcBef>
              <a:spcAft>
                <a:spcPts val="0"/>
              </a:spcAft>
              <a:buNone/>
            </a:pPr>
            <a:r>
              <a:rPr lang="en" sz="733" b="1">
                <a:solidFill>
                  <a:srgbClr val="008000"/>
                </a:solidFill>
                <a:latin typeface="Lexend"/>
                <a:ea typeface="Lexend"/>
                <a:cs typeface="Lexend"/>
                <a:sym typeface="Lexend"/>
              </a:rPr>
              <a:t>69.76%</a:t>
            </a:r>
            <a:br>
              <a:rPr lang="en" sz="733" b="1">
                <a:solidFill>
                  <a:srgbClr val="008000"/>
                </a:solidFill>
                <a:latin typeface="Lexend"/>
                <a:ea typeface="Lexend"/>
                <a:cs typeface="Lexend"/>
                <a:sym typeface="Lexend"/>
              </a:rPr>
            </a:br>
            <a:r>
              <a:rPr lang="en" sz="633">
                <a:solidFill>
                  <a:srgbClr val="EF4444"/>
                </a:solidFill>
                <a:latin typeface="Lexend"/>
                <a:ea typeface="Lexend"/>
                <a:cs typeface="Lexend"/>
                <a:sym typeface="Lexend"/>
              </a:rPr>
              <a:t>-0.33% MoM</a:t>
            </a:r>
            <a:endParaRPr sz="733" b="1">
              <a:solidFill>
                <a:srgbClr val="008000"/>
              </a:solidFill>
              <a:latin typeface="Lexend"/>
              <a:ea typeface="Lexend"/>
              <a:cs typeface="Lexend"/>
              <a:sym typeface="Lexend"/>
            </a:endParaRPr>
          </a:p>
          <a:p>
            <a:pPr marL="0" lvl="0" indent="0" algn="l" rtl="0">
              <a:lnSpc>
                <a:spcPct val="115000"/>
              </a:lnSpc>
              <a:spcBef>
                <a:spcPts val="0"/>
              </a:spcBef>
              <a:spcAft>
                <a:spcPts val="0"/>
              </a:spcAft>
              <a:buNone/>
            </a:pPr>
            <a:r>
              <a:rPr lang="en" sz="633">
                <a:solidFill>
                  <a:srgbClr val="EF4444"/>
                </a:solidFill>
                <a:latin typeface="Lexend"/>
                <a:ea typeface="Lexend"/>
                <a:cs typeface="Lexend"/>
                <a:sym typeface="Lexend"/>
              </a:rPr>
              <a:t>-0.96% YoY </a:t>
            </a:r>
            <a:endParaRPr sz="633">
              <a:solidFill>
                <a:srgbClr val="EF4444"/>
              </a:solidFill>
              <a:latin typeface="Lexend"/>
              <a:ea typeface="Lexend"/>
              <a:cs typeface="Lexend"/>
              <a:sym typeface="Lexend"/>
            </a:endParaRPr>
          </a:p>
        </p:txBody>
      </p:sp>
      <p:sp>
        <p:nvSpPr>
          <p:cNvPr id="692" name="Google Shape;692;p45"/>
          <p:cNvSpPr txBox="1"/>
          <p:nvPr/>
        </p:nvSpPr>
        <p:spPr>
          <a:xfrm>
            <a:off x="4624563" y="1339418"/>
            <a:ext cx="592500" cy="27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19" b="1">
                <a:solidFill>
                  <a:srgbClr val="F56C1F"/>
                </a:solidFill>
                <a:latin typeface="Lexend"/>
                <a:ea typeface="Lexend"/>
                <a:cs typeface="Lexend"/>
                <a:sym typeface="Lexend"/>
              </a:rPr>
              <a:t>78.76%</a:t>
            </a:r>
            <a:endParaRPr sz="619" b="1">
              <a:solidFill>
                <a:srgbClr val="F56C1F"/>
              </a:solidFill>
              <a:latin typeface="Lexend"/>
              <a:ea typeface="Lexend"/>
              <a:cs typeface="Lexend"/>
              <a:sym typeface="Lexend"/>
            </a:endParaRPr>
          </a:p>
        </p:txBody>
      </p:sp>
      <p:sp>
        <p:nvSpPr>
          <p:cNvPr id="693" name="Google Shape;693;p45"/>
          <p:cNvSpPr txBox="1"/>
          <p:nvPr/>
        </p:nvSpPr>
        <p:spPr>
          <a:xfrm>
            <a:off x="4624582" y="1106533"/>
            <a:ext cx="592500" cy="27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19" b="1">
                <a:solidFill>
                  <a:srgbClr val="595959"/>
                </a:solidFill>
                <a:latin typeface="Lexend"/>
                <a:ea typeface="Lexend"/>
                <a:cs typeface="Lexend"/>
                <a:sym typeface="Lexend"/>
              </a:rPr>
              <a:t>80.09%</a:t>
            </a:r>
            <a:endParaRPr sz="619" b="1">
              <a:solidFill>
                <a:srgbClr val="595959"/>
              </a:solidFill>
              <a:latin typeface="Lexend"/>
              <a:ea typeface="Lexend"/>
              <a:cs typeface="Lexend"/>
              <a:sym typeface="Lexend"/>
            </a:endParaRPr>
          </a:p>
        </p:txBody>
      </p:sp>
      <p:graphicFrame>
        <p:nvGraphicFramePr>
          <p:cNvPr id="694" name="Google Shape;694;p45"/>
          <p:cNvGraphicFramePr/>
          <p:nvPr/>
        </p:nvGraphicFramePr>
        <p:xfrm>
          <a:off x="5231875" y="887050"/>
          <a:ext cx="3000000" cy="3000000"/>
        </p:xfrm>
        <a:graphic>
          <a:graphicData uri="http://schemas.openxmlformats.org/drawingml/2006/table">
            <a:tbl>
              <a:tblPr>
                <a:noFill/>
                <a:tableStyleId>{1B6E03F7-A7B3-402D-A52F-665CEB5CA1F2}</a:tableStyleId>
              </a:tblPr>
              <a:tblGrid>
                <a:gridCol w="592100">
                  <a:extLst>
                    <a:ext uri="{9D8B030D-6E8A-4147-A177-3AD203B41FA5}">
                      <a16:colId xmlns:a16="http://schemas.microsoft.com/office/drawing/2014/main" val="20000"/>
                    </a:ext>
                  </a:extLst>
                </a:gridCol>
                <a:gridCol w="583650">
                  <a:extLst>
                    <a:ext uri="{9D8B030D-6E8A-4147-A177-3AD203B41FA5}">
                      <a16:colId xmlns:a16="http://schemas.microsoft.com/office/drawing/2014/main" val="20001"/>
                    </a:ext>
                  </a:extLst>
                </a:gridCol>
                <a:gridCol w="583650">
                  <a:extLst>
                    <a:ext uri="{9D8B030D-6E8A-4147-A177-3AD203B41FA5}">
                      <a16:colId xmlns:a16="http://schemas.microsoft.com/office/drawing/2014/main" val="20002"/>
                    </a:ext>
                  </a:extLst>
                </a:gridCol>
                <a:gridCol w="583650">
                  <a:extLst>
                    <a:ext uri="{9D8B030D-6E8A-4147-A177-3AD203B41FA5}">
                      <a16:colId xmlns:a16="http://schemas.microsoft.com/office/drawing/2014/main" val="20003"/>
                    </a:ext>
                  </a:extLst>
                </a:gridCol>
                <a:gridCol w="634425">
                  <a:extLst>
                    <a:ext uri="{9D8B030D-6E8A-4147-A177-3AD203B41FA5}">
                      <a16:colId xmlns:a16="http://schemas.microsoft.com/office/drawing/2014/main" val="20004"/>
                    </a:ext>
                  </a:extLst>
                </a:gridCol>
                <a:gridCol w="634425">
                  <a:extLst>
                    <a:ext uri="{9D8B030D-6E8A-4147-A177-3AD203B41FA5}">
                      <a16:colId xmlns:a16="http://schemas.microsoft.com/office/drawing/2014/main" val="20005"/>
                    </a:ext>
                  </a:extLst>
                </a:gridCol>
              </a:tblGrid>
              <a:tr h="3143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1,230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1,183</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96.18%</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-2.45%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-1.33%</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7,174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5,352</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74.60%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-0.28%</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-0.60%</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F4CCCC"/>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867</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590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68.05%</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-2.85%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-4.71%</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99"/>
        <p:cNvGrpSpPr/>
        <p:nvPr/>
      </p:nvGrpSpPr>
      <p:grpSpPr>
        <a:xfrm>
          <a:off x="0" y="0"/>
          <a:ext cx="0" cy="0"/>
          <a:chOff x="0" y="0"/>
          <a:chExt cx="0" cy="0"/>
        </a:xfrm>
      </p:grpSpPr>
      <p:sp>
        <p:nvSpPr>
          <p:cNvPr id="700" name="Google Shape;700;p4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1" name="Google Shape;701;p4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702" name="Google Shape;702;p4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SGN</a:t>
            </a:r>
            <a:endParaRPr sz="2200" b="1" i="0" u="none" strike="noStrike" cap="none">
              <a:solidFill>
                <a:srgbClr val="F56C1F"/>
              </a:solidFill>
              <a:latin typeface="Lexend"/>
              <a:ea typeface="Lexend"/>
              <a:cs typeface="Lexend"/>
              <a:sym typeface="Lexend"/>
            </a:endParaRPr>
          </a:p>
        </p:txBody>
      </p:sp>
      <p:sp>
        <p:nvSpPr>
          <p:cNvPr id="703" name="Google Shape;703;p4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a:t>
            </a:r>
            <a:r>
              <a:rPr lang="en" sz="1000" i="1">
                <a:solidFill>
                  <a:srgbClr val="64748B"/>
                </a:solidFill>
                <a:latin typeface="Lexend"/>
                <a:ea typeface="Lexend"/>
                <a:cs typeface="Lexend"/>
                <a:sym typeface="Lexend"/>
              </a:rPr>
              <a:t> &gt;=22t </a:t>
            </a:r>
            <a:r>
              <a:rPr lang="en" sz="1000" i="1" u="none" strike="noStrike" cap="none">
                <a:solidFill>
                  <a:srgbClr val="64748B"/>
                </a:solidFill>
                <a:latin typeface="Lexend"/>
                <a:ea typeface="Lexend"/>
                <a:cs typeface="Lexend"/>
                <a:sym typeface="Lexend"/>
              </a:rPr>
              <a:t>— Bóc tách biến động theo thời điểm &amp; segment</a:t>
            </a:r>
            <a:endParaRPr sz="1000" i="0" u="none" strike="noStrike" cap="none">
              <a:solidFill>
                <a:schemeClr val="dk1"/>
              </a:solidFill>
              <a:latin typeface="Lexend"/>
              <a:ea typeface="Lexend"/>
              <a:cs typeface="Lexend"/>
              <a:sym typeface="Lexend"/>
            </a:endParaRPr>
          </a:p>
        </p:txBody>
      </p:sp>
      <p:cxnSp>
        <p:nvCxnSpPr>
          <p:cNvPr id="704" name="Google Shape;704;p4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05" name="Google Shape;705;p46"/>
          <p:cNvSpPr/>
          <p:nvPr/>
        </p:nvSpPr>
        <p:spPr>
          <a:xfrm>
            <a:off x="365760" y="933195"/>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6"/>
          <p:cNvSpPr/>
          <p:nvPr/>
        </p:nvSpPr>
        <p:spPr>
          <a:xfrm>
            <a:off x="365750" y="3951475"/>
            <a:ext cx="8412600" cy="1123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6"/>
          <p:cNvSpPr/>
          <p:nvPr/>
        </p:nvSpPr>
        <p:spPr>
          <a:xfrm>
            <a:off x="365750" y="4007100"/>
            <a:ext cx="54900" cy="10680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8" name="Google Shape;708;p46" descr="preencoded.png"/>
          <p:cNvPicPr preferRelativeResize="0"/>
          <p:nvPr/>
        </p:nvPicPr>
        <p:blipFill rotWithShape="1">
          <a:blip r:embed="rId4">
            <a:alphaModFix/>
          </a:blip>
          <a:srcRect/>
          <a:stretch/>
        </p:blipFill>
        <p:spPr>
          <a:xfrm>
            <a:off x="560525" y="4075451"/>
            <a:ext cx="201633" cy="188365"/>
          </a:xfrm>
          <a:prstGeom prst="rect">
            <a:avLst/>
          </a:prstGeom>
          <a:noFill/>
          <a:ln>
            <a:noFill/>
          </a:ln>
        </p:spPr>
      </p:pic>
      <p:sp>
        <p:nvSpPr>
          <p:cNvPr id="709" name="Google Shape;709;p46"/>
          <p:cNvSpPr/>
          <p:nvPr/>
        </p:nvSpPr>
        <p:spPr>
          <a:xfrm>
            <a:off x="804663" y="4032729"/>
            <a:ext cx="2743200" cy="23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100"/>
              <a:buFont typeface="Calibri"/>
              <a:buNone/>
            </a:pPr>
            <a:r>
              <a:rPr lang="en" sz="1100" i="0" u="none" strike="noStrike" cap="none">
                <a:solidFill>
                  <a:srgbClr val="EF4444"/>
                </a:solidFill>
                <a:latin typeface="Lexend"/>
                <a:ea typeface="Lexend"/>
                <a:cs typeface="Lexend"/>
                <a:sym typeface="Lexend"/>
              </a:rPr>
              <a:t>ROOT CAUSE ANALYSIS</a:t>
            </a:r>
            <a:endParaRPr sz="1100" i="0" u="none" strike="noStrike" cap="none">
              <a:solidFill>
                <a:schemeClr val="dk1"/>
              </a:solidFill>
              <a:latin typeface="Lexend"/>
              <a:ea typeface="Lexend"/>
              <a:cs typeface="Lexend"/>
              <a:sym typeface="Lexend"/>
            </a:endParaRPr>
          </a:p>
        </p:txBody>
      </p:sp>
      <p:sp>
        <p:nvSpPr>
          <p:cNvPr id="710" name="Google Shape;710;p46"/>
          <p:cNvSpPr/>
          <p:nvPr/>
        </p:nvSpPr>
        <p:spPr>
          <a:xfrm>
            <a:off x="548625" y="4263902"/>
            <a:ext cx="8046600" cy="783600"/>
          </a:xfrm>
          <a:prstGeom prst="rect">
            <a:avLst/>
          </a:prstGeom>
          <a:noFill/>
          <a:ln>
            <a:noFill/>
          </a:ln>
        </p:spPr>
        <p:txBody>
          <a:bodyPr spcFirstLastPara="1" wrap="square" lIns="0" tIns="0" rIns="0" bIns="0" anchor="ctr" anchorCtr="0">
            <a:noAutofit/>
          </a:bodyPr>
          <a:lstStyle/>
          <a:p>
            <a:pPr marL="457200" marR="0" lvl="0" indent="-285750" algn="l" rtl="0">
              <a:spcBef>
                <a:spcPts val="300"/>
              </a:spcBef>
              <a:spcAft>
                <a:spcPts val="0"/>
              </a:spcAft>
              <a:buClr>
                <a:srgbClr val="1E293B"/>
              </a:buClr>
              <a:buSzPts val="900"/>
              <a:buFont typeface="Lexend"/>
              <a:buChar char="-"/>
            </a:pPr>
            <a:endParaRPr sz="900">
              <a:solidFill>
                <a:srgbClr val="1E293B"/>
              </a:solidFill>
              <a:latin typeface="Lexend"/>
              <a:ea typeface="Lexend"/>
              <a:cs typeface="Lexend"/>
              <a:sym typeface="Lexend"/>
            </a:endParaRPr>
          </a:p>
          <a:p>
            <a:pPr marL="0" marR="0" lvl="0" indent="0" algn="l" rtl="0">
              <a:spcBef>
                <a:spcPts val="300"/>
              </a:spcBef>
              <a:spcAft>
                <a:spcPts val="0"/>
              </a:spcAft>
              <a:buNone/>
            </a:pPr>
            <a:r>
              <a:rPr lang="en" sz="900" b="1">
                <a:solidFill>
                  <a:srgbClr val="1E293B"/>
                </a:solidFill>
                <a:latin typeface="Lexend"/>
                <a:ea typeface="Lexend"/>
                <a:cs typeface="Lexend"/>
                <a:sym typeface="Lexend"/>
              </a:rPr>
              <a:t>Next action:</a:t>
            </a:r>
            <a:endParaRPr sz="900" b="1">
              <a:solidFill>
                <a:srgbClr val="1E293B"/>
              </a:solidFill>
              <a:latin typeface="Lexend"/>
              <a:ea typeface="Lexend"/>
              <a:cs typeface="Lexend"/>
              <a:sym typeface="Lexend"/>
            </a:endParaRPr>
          </a:p>
          <a:p>
            <a:pPr marL="457200" marR="0" lvl="0" indent="-285750" algn="l" rtl="0">
              <a:spcBef>
                <a:spcPts val="300"/>
              </a:spcBef>
              <a:spcAft>
                <a:spcPts val="0"/>
              </a:spcAft>
              <a:buClr>
                <a:srgbClr val="1E293B"/>
              </a:buClr>
              <a:buSzPts val="900"/>
              <a:buFont typeface="Lexend"/>
              <a:buChar char="-"/>
            </a:pPr>
            <a:endParaRPr sz="900">
              <a:solidFill>
                <a:srgbClr val="1E293B"/>
              </a:solidFill>
              <a:latin typeface="Lexend"/>
              <a:ea typeface="Lexend"/>
              <a:cs typeface="Lexend"/>
              <a:sym typeface="Lexend"/>
            </a:endParaRPr>
          </a:p>
        </p:txBody>
      </p:sp>
      <p:sp>
        <p:nvSpPr>
          <p:cNvPr id="711" name="Google Shape;711;p4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712" name="Google Shape;712;p46" title="Biểu đồ"/>
          <p:cNvPicPr preferRelativeResize="0"/>
          <p:nvPr/>
        </p:nvPicPr>
        <p:blipFill>
          <a:blip r:embed="rId5">
            <a:alphaModFix/>
          </a:blip>
          <a:stretch>
            <a:fillRect/>
          </a:stretch>
        </p:blipFill>
        <p:spPr>
          <a:xfrm>
            <a:off x="367725" y="933185"/>
            <a:ext cx="4846198" cy="2356574"/>
          </a:xfrm>
          <a:prstGeom prst="rect">
            <a:avLst/>
          </a:prstGeom>
          <a:solidFill>
            <a:srgbClr val="FFFFFF"/>
          </a:solidFill>
          <a:ln w="9525" cap="flat" cmpd="sng">
            <a:solidFill>
              <a:srgbClr val="E2E8F0"/>
            </a:solidFill>
            <a:prstDash val="solid"/>
            <a:round/>
            <a:headEnd type="none" w="sm" len="sm"/>
            <a:tailEnd type="none" w="sm" len="sm"/>
          </a:ln>
        </p:spPr>
      </p:pic>
      <p:cxnSp>
        <p:nvCxnSpPr>
          <p:cNvPr id="713" name="Google Shape;713;p46"/>
          <p:cNvCxnSpPr/>
          <p:nvPr/>
        </p:nvCxnSpPr>
        <p:spPr>
          <a:xfrm flipH="1">
            <a:off x="1913800" y="1236001"/>
            <a:ext cx="7500" cy="1865100"/>
          </a:xfrm>
          <a:prstGeom prst="straightConnector1">
            <a:avLst/>
          </a:prstGeom>
          <a:noFill/>
          <a:ln w="9525" cap="flat" cmpd="sng">
            <a:solidFill>
              <a:schemeClr val="dk2"/>
            </a:solidFill>
            <a:prstDash val="dot"/>
            <a:round/>
            <a:headEnd type="none" w="med" len="med"/>
            <a:tailEnd type="none" w="med" len="med"/>
          </a:ln>
        </p:spPr>
      </p:cxnSp>
      <p:sp>
        <p:nvSpPr>
          <p:cNvPr id="714" name="Google Shape;714;p46"/>
          <p:cNvSpPr/>
          <p:nvPr/>
        </p:nvSpPr>
        <p:spPr>
          <a:xfrm>
            <a:off x="2066224" y="1981954"/>
            <a:ext cx="599100" cy="373200"/>
          </a:xfrm>
          <a:prstGeom prst="wedgeRoundRectCallout">
            <a:avLst>
              <a:gd name="adj1" fmla="val -62018"/>
              <a:gd name="adj2" fmla="val -116829"/>
              <a:gd name="adj3" fmla="val 0"/>
            </a:avLst>
          </a:prstGeom>
          <a:solidFill>
            <a:srgbClr val="63A7FF">
              <a:alpha val="49380"/>
            </a:srgbClr>
          </a:solidFill>
          <a:ln w="7000" cap="flat" cmpd="sng">
            <a:solidFill>
              <a:srgbClr val="D2E0F9"/>
            </a:solidFill>
            <a:prstDash val="solid"/>
            <a:round/>
            <a:headEnd type="none" w="sm" len="sm"/>
            <a:tailEnd type="none" w="sm" len="sm"/>
          </a:ln>
        </p:spPr>
        <p:txBody>
          <a:bodyPr spcFirstLastPara="1" wrap="square" lIns="67125" tIns="67125" rIns="67125" bIns="67125" anchor="ctr" anchorCtr="0">
            <a:noAutofit/>
          </a:bodyPr>
          <a:lstStyle/>
          <a:p>
            <a:pPr marL="0" lvl="0" indent="0" algn="ctr" rtl="0">
              <a:lnSpc>
                <a:spcPct val="115000"/>
              </a:lnSpc>
              <a:spcBef>
                <a:spcPts val="0"/>
              </a:spcBef>
              <a:spcAft>
                <a:spcPts val="0"/>
              </a:spcAft>
              <a:buNone/>
            </a:pPr>
            <a:r>
              <a:rPr lang="en" sz="867" b="1">
                <a:solidFill>
                  <a:srgbClr val="0B8043"/>
                </a:solidFill>
                <a:latin typeface="Lexend"/>
                <a:ea typeface="Lexend"/>
                <a:cs typeface="Lexend"/>
                <a:sym typeface="Lexend"/>
              </a:rPr>
              <a:t>72.19%</a:t>
            </a:r>
            <a:endParaRPr sz="867" b="1">
              <a:solidFill>
                <a:srgbClr val="0B8043"/>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-0.9% MoM</a:t>
            </a:r>
            <a:endParaRPr sz="567">
              <a:solidFill>
                <a:srgbClr val="EF4444"/>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-1.4% YoY</a:t>
            </a:r>
            <a:endParaRPr sz="567">
              <a:solidFill>
                <a:srgbClr val="EF4444"/>
              </a:solidFill>
              <a:latin typeface="Lexend"/>
              <a:ea typeface="Lexend"/>
              <a:cs typeface="Lexend"/>
              <a:sym typeface="Lexend"/>
            </a:endParaRPr>
          </a:p>
        </p:txBody>
      </p:sp>
      <p:graphicFrame>
        <p:nvGraphicFramePr>
          <p:cNvPr id="715" name="Google Shape;715;p46"/>
          <p:cNvGraphicFramePr/>
          <p:nvPr/>
        </p:nvGraphicFramePr>
        <p:xfrm>
          <a:off x="5332000" y="933185"/>
          <a:ext cx="3000000" cy="3000000"/>
        </p:xfrm>
        <a:graphic>
          <a:graphicData uri="http://schemas.openxmlformats.org/drawingml/2006/table">
            <a:tbl>
              <a:tblPr>
                <a:noFill/>
                <a:tableStyleId>{1B6E03F7-A7B3-402D-A52F-665CEB5CA1F2}</a:tableStyleId>
              </a:tblPr>
              <a:tblGrid>
                <a:gridCol w="826250">
                  <a:extLst>
                    <a:ext uri="{9D8B030D-6E8A-4147-A177-3AD203B41FA5}">
                      <a16:colId xmlns:a16="http://schemas.microsoft.com/office/drawing/2014/main" val="20000"/>
                    </a:ext>
                  </a:extLst>
                </a:gridCol>
                <a:gridCol w="577800">
                  <a:extLst>
                    <a:ext uri="{9D8B030D-6E8A-4147-A177-3AD203B41FA5}">
                      <a16:colId xmlns:a16="http://schemas.microsoft.com/office/drawing/2014/main" val="20001"/>
                    </a:ext>
                  </a:extLst>
                </a:gridCol>
                <a:gridCol w="577800">
                  <a:extLst>
                    <a:ext uri="{9D8B030D-6E8A-4147-A177-3AD203B41FA5}">
                      <a16:colId xmlns:a16="http://schemas.microsoft.com/office/drawing/2014/main" val="20002"/>
                    </a:ext>
                  </a:extLst>
                </a:gridCol>
                <a:gridCol w="577800">
                  <a:extLst>
                    <a:ext uri="{9D8B030D-6E8A-4147-A177-3AD203B41FA5}">
                      <a16:colId xmlns:a16="http://schemas.microsoft.com/office/drawing/2014/main" val="20003"/>
                    </a:ext>
                  </a:extLst>
                </a:gridCol>
                <a:gridCol w="577800">
                  <a:extLst>
                    <a:ext uri="{9D8B030D-6E8A-4147-A177-3AD203B41FA5}">
                      <a16:colId xmlns:a16="http://schemas.microsoft.com/office/drawing/2014/main" val="20004"/>
                    </a:ext>
                  </a:extLst>
                </a:gridCol>
                <a:gridCol w="577800">
                  <a:extLst>
                    <a:ext uri="{9D8B030D-6E8A-4147-A177-3AD203B41FA5}">
                      <a16:colId xmlns:a16="http://schemas.microsoft.com/office/drawing/2014/main" val="20005"/>
                    </a:ext>
                  </a:extLst>
                </a:gridCol>
              </a:tblGrid>
              <a:tr h="3429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3,274</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3,125</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95.45%</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FF0000"/>
                          </a:solidFill>
                          <a:latin typeface="Lexend"/>
                          <a:ea typeface="Lexend"/>
                          <a:cs typeface="Lexend"/>
                          <a:sym typeface="Lexend"/>
                        </a:rPr>
                        <a:t>-0.82%</a:t>
                      </a:r>
                      <a:endParaRPr sz="900">
                        <a:solidFill>
                          <a:srgbClr val="FF0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FF0000"/>
                          </a:solidFill>
                          <a:latin typeface="Lexend"/>
                          <a:ea typeface="Lexend"/>
                          <a:cs typeface="Lexend"/>
                          <a:sym typeface="Lexend"/>
                        </a:rPr>
                        <a:t>-0.35%</a:t>
                      </a:r>
                      <a:endParaRPr sz="900">
                        <a:solidFill>
                          <a:srgbClr val="FF0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9,937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6,357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63.97%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-2.43%</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-2.26%</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2,060</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1,251</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60.73%</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-1.19%</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-7.66%</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716" name="Google Shape;716;p46"/>
          <p:cNvSpPr/>
          <p:nvPr/>
        </p:nvSpPr>
        <p:spPr>
          <a:xfrm>
            <a:off x="5331990" y="1955235"/>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000" b="1">
                <a:solidFill>
                  <a:srgbClr val="0E4174"/>
                </a:solidFill>
                <a:latin typeface="Lexend"/>
                <a:ea typeface="Lexend"/>
                <a:cs typeface="Lexend"/>
                <a:sym typeface="Lexend"/>
              </a:rPr>
              <a:t>CHL Retention rate M8 (1/8 - 6/8)</a:t>
            </a:r>
            <a:endParaRPr sz="1000" b="1" i="0" u="none" strike="noStrike" cap="none">
              <a:solidFill>
                <a:schemeClr val="dk1"/>
              </a:solidFill>
              <a:latin typeface="Lexend"/>
              <a:ea typeface="Lexend"/>
              <a:cs typeface="Lexend"/>
              <a:sym typeface="Lexend"/>
            </a:endParaRPr>
          </a:p>
        </p:txBody>
      </p:sp>
      <p:graphicFrame>
        <p:nvGraphicFramePr>
          <p:cNvPr id="717" name="Google Shape;717;p46"/>
          <p:cNvGraphicFramePr/>
          <p:nvPr/>
        </p:nvGraphicFramePr>
        <p:xfrm>
          <a:off x="5360825" y="2227733"/>
          <a:ext cx="3000000" cy="3000000"/>
        </p:xfrm>
        <a:graphic>
          <a:graphicData uri="http://schemas.openxmlformats.org/drawingml/2006/table">
            <a:tbl>
              <a:tblPr>
                <a:noFill/>
                <a:tableStyleId>{0471C74E-E5A4-4367-B5E4-7593F58257C4}</a:tableStyleId>
              </a:tblPr>
              <a:tblGrid>
                <a:gridCol w="1627875">
                  <a:extLst>
                    <a:ext uri="{9D8B030D-6E8A-4147-A177-3AD203B41FA5}">
                      <a16:colId xmlns:a16="http://schemas.microsoft.com/office/drawing/2014/main" val="20000"/>
                    </a:ext>
                  </a:extLst>
                </a:gridCol>
                <a:gridCol w="803700">
                  <a:extLst>
                    <a:ext uri="{9D8B030D-6E8A-4147-A177-3AD203B41FA5}">
                      <a16:colId xmlns:a16="http://schemas.microsoft.com/office/drawing/2014/main" val="20001"/>
                    </a:ext>
                  </a:extLst>
                </a:gridCol>
                <a:gridCol w="1283675">
                  <a:extLst>
                    <a:ext uri="{9D8B030D-6E8A-4147-A177-3AD203B41FA5}">
                      <a16:colId xmlns:a16="http://schemas.microsoft.com/office/drawing/2014/main" val="20002"/>
                    </a:ext>
                  </a:extLst>
                </a:gridCol>
              </a:tblGrid>
              <a:tr h="288050">
                <a:tc>
                  <a:txBody>
                    <a:bodyPr/>
                    <a:lstStyle/>
                    <a:p>
                      <a:pPr marL="0" lvl="0" indent="0" algn="ctr" rtl="0">
                        <a:spcBef>
                          <a:spcPts val="0"/>
                        </a:spcBef>
                        <a:spcAft>
                          <a:spcPts val="0"/>
                        </a:spcAft>
                        <a:buNone/>
                      </a:pPr>
                      <a:r>
                        <a:rPr lang="en" sz="1000" b="1"/>
                        <a:t>Type</a:t>
                      </a:r>
                      <a:endParaRPr sz="1000" b="1"/>
                    </a:p>
                  </a:txBody>
                  <a:tcPr marL="91425" marR="91425" marT="91425" marB="91425" anchor="ctr">
                    <a:solidFill>
                      <a:srgbClr val="FFF2CC"/>
                    </a:solidFill>
                  </a:tcPr>
                </a:tc>
                <a:tc>
                  <a:txBody>
                    <a:bodyPr/>
                    <a:lstStyle/>
                    <a:p>
                      <a:pPr marL="0" lvl="0" indent="0" algn="ctr" rtl="0">
                        <a:spcBef>
                          <a:spcPts val="0"/>
                        </a:spcBef>
                        <a:spcAft>
                          <a:spcPts val="0"/>
                        </a:spcAft>
                        <a:buNone/>
                      </a:pPr>
                      <a:r>
                        <a:rPr lang="en" sz="1000" b="1"/>
                        <a:t>Số lượng</a:t>
                      </a:r>
                      <a:endParaRPr sz="1000" b="1"/>
                    </a:p>
                  </a:txBody>
                  <a:tcPr marL="91425" marR="91425" marT="91425" marB="91425" anchor="ctr">
                    <a:solidFill>
                      <a:srgbClr val="FFF2CC"/>
                    </a:solidFill>
                  </a:tcPr>
                </a:tc>
                <a:tc>
                  <a:txBody>
                    <a:bodyPr/>
                    <a:lstStyle/>
                    <a:p>
                      <a:pPr marL="0" lvl="0" indent="0" algn="ctr" rtl="0">
                        <a:spcBef>
                          <a:spcPts val="0"/>
                        </a:spcBef>
                        <a:spcAft>
                          <a:spcPts val="0"/>
                        </a:spcAft>
                        <a:buNone/>
                      </a:pPr>
                      <a:r>
                        <a:rPr lang="en" sz="1000" b="1"/>
                        <a:t>Tỉ lệ/total add chl</a:t>
                      </a:r>
                      <a:endParaRPr sz="1000" b="1"/>
                    </a:p>
                  </a:txBody>
                  <a:tcPr marL="91425" marR="91425" marT="91425" marB="91425" anchor="ctr">
                    <a:solidFill>
                      <a:srgbClr val="FFF2CC"/>
                    </a:solidFill>
                  </a:tcPr>
                </a:tc>
                <a:extLst>
                  <a:ext uri="{0D108BD9-81ED-4DB2-BD59-A6C34878D82A}">
                    <a16:rowId xmlns:a16="http://schemas.microsoft.com/office/drawing/2014/main" val="10000"/>
                  </a:ext>
                </a:extLst>
              </a:tr>
              <a:tr h="275525">
                <a:tc>
                  <a:txBody>
                    <a:bodyPr/>
                    <a:lstStyle/>
                    <a:p>
                      <a:pPr marL="0" lvl="0" indent="0" algn="l" rtl="0">
                        <a:spcBef>
                          <a:spcPts val="0"/>
                        </a:spcBef>
                        <a:spcAft>
                          <a:spcPts val="0"/>
                        </a:spcAft>
                        <a:buNone/>
                      </a:pPr>
                      <a:r>
                        <a:rPr lang="en" sz="1000"/>
                        <a:t>Total add chl</a:t>
                      </a:r>
                      <a:endParaRPr sz="1000"/>
                    </a:p>
                  </a:txBody>
                  <a:tcPr marL="91425" marR="91425" marT="91425" marB="91425" anchor="ctr"/>
                </a:tc>
                <a:tc>
                  <a:txBody>
                    <a:bodyPr/>
                    <a:lstStyle/>
                    <a:p>
                      <a:pPr marL="0" lvl="0" indent="0" algn="ctr" rtl="0">
                        <a:spcBef>
                          <a:spcPts val="0"/>
                        </a:spcBef>
                        <a:spcAft>
                          <a:spcPts val="0"/>
                        </a:spcAft>
                        <a:buNone/>
                      </a:pPr>
                      <a:r>
                        <a:rPr lang="en" sz="1000"/>
                        <a:t>310</a:t>
                      </a:r>
                      <a:endParaRPr sz="1000"/>
                    </a:p>
                  </a:txBody>
                  <a:tcPr marL="91425" marR="91425" marT="91425" marB="91425" anchor="ctr"/>
                </a:tc>
                <a:tc>
                  <a:txBody>
                    <a:bodyPr/>
                    <a:lstStyle/>
                    <a:p>
                      <a:pPr marL="0" lvl="0" indent="0" algn="ctr" rtl="0">
                        <a:spcBef>
                          <a:spcPts val="0"/>
                        </a:spcBef>
                        <a:spcAft>
                          <a:spcPts val="0"/>
                        </a:spcAft>
                        <a:buNone/>
                      </a:pPr>
                      <a:r>
                        <a:rPr lang="en" sz="1000"/>
                        <a:t>100%</a:t>
                      </a:r>
                      <a:endParaRPr sz="1000"/>
                    </a:p>
                  </a:txBody>
                  <a:tcPr marL="91425" marR="91425" marT="91425" marB="91425" anchor="ctr"/>
                </a:tc>
                <a:extLst>
                  <a:ext uri="{0D108BD9-81ED-4DB2-BD59-A6C34878D82A}">
                    <a16:rowId xmlns:a16="http://schemas.microsoft.com/office/drawing/2014/main" val="10001"/>
                  </a:ext>
                </a:extLst>
              </a:tr>
              <a:tr h="275525">
                <a:tc>
                  <a:txBody>
                    <a:bodyPr/>
                    <a:lstStyle/>
                    <a:p>
                      <a:pPr marL="0" lvl="0" indent="0" algn="l" rtl="0">
                        <a:spcBef>
                          <a:spcPts val="0"/>
                        </a:spcBef>
                        <a:spcAft>
                          <a:spcPts val="0"/>
                        </a:spcAft>
                        <a:buNone/>
                      </a:pPr>
                      <a:r>
                        <a:rPr lang="en" sz="1000"/>
                        <a:t>Total accept</a:t>
                      </a:r>
                      <a:endParaRPr sz="1000"/>
                    </a:p>
                  </a:txBody>
                  <a:tcPr marL="91425" marR="91425" marT="91425" marB="91425" anchor="ctr"/>
                </a:tc>
                <a:tc>
                  <a:txBody>
                    <a:bodyPr/>
                    <a:lstStyle/>
                    <a:p>
                      <a:pPr marL="0" lvl="0" indent="0" algn="ctr" rtl="0">
                        <a:spcBef>
                          <a:spcPts val="0"/>
                        </a:spcBef>
                        <a:spcAft>
                          <a:spcPts val="0"/>
                        </a:spcAft>
                        <a:buNone/>
                      </a:pPr>
                      <a:r>
                        <a:rPr lang="en" sz="1000"/>
                        <a:t>55</a:t>
                      </a:r>
                      <a:endParaRPr sz="1000"/>
                    </a:p>
                  </a:txBody>
                  <a:tcPr marL="91425" marR="91425" marT="91425" marB="91425" anchor="ctr"/>
                </a:tc>
                <a:tc>
                  <a:txBody>
                    <a:bodyPr/>
                    <a:lstStyle/>
                    <a:p>
                      <a:pPr marL="0" lvl="0" indent="0" algn="ctr" rtl="0">
                        <a:spcBef>
                          <a:spcPts val="0"/>
                        </a:spcBef>
                        <a:spcAft>
                          <a:spcPts val="0"/>
                        </a:spcAft>
                        <a:buNone/>
                      </a:pPr>
                      <a:r>
                        <a:rPr lang="en" sz="1000"/>
                        <a:t>~18%</a:t>
                      </a:r>
                      <a:endParaRPr sz="1000"/>
                    </a:p>
                  </a:txBody>
                  <a:tcPr marL="91425" marR="91425" marT="91425" marB="91425" anchor="ctr"/>
                </a:tc>
                <a:extLst>
                  <a:ext uri="{0D108BD9-81ED-4DB2-BD59-A6C34878D82A}">
                    <a16:rowId xmlns:a16="http://schemas.microsoft.com/office/drawing/2014/main" val="10002"/>
                  </a:ext>
                </a:extLst>
              </a:tr>
              <a:tr h="275525">
                <a:tc>
                  <a:txBody>
                    <a:bodyPr/>
                    <a:lstStyle/>
                    <a:p>
                      <a:pPr marL="0" lvl="0" indent="0" algn="l" rtl="0">
                        <a:spcBef>
                          <a:spcPts val="0"/>
                        </a:spcBef>
                        <a:spcAft>
                          <a:spcPts val="0"/>
                        </a:spcAft>
                        <a:buNone/>
                      </a:pPr>
                      <a:r>
                        <a:rPr lang="en" sz="1000"/>
                        <a:t>Total active</a:t>
                      </a:r>
                      <a:endParaRPr sz="1000"/>
                    </a:p>
                  </a:txBody>
                  <a:tcPr marL="91425" marR="91425" marT="91425" marB="91425" anchor="ctr"/>
                </a:tc>
                <a:tc>
                  <a:txBody>
                    <a:bodyPr/>
                    <a:lstStyle/>
                    <a:p>
                      <a:pPr marL="0" lvl="0" indent="0" algn="ctr" rtl="0">
                        <a:spcBef>
                          <a:spcPts val="0"/>
                        </a:spcBef>
                        <a:spcAft>
                          <a:spcPts val="0"/>
                        </a:spcAft>
                        <a:buNone/>
                      </a:pPr>
                      <a:r>
                        <a:rPr lang="en" sz="1000"/>
                        <a:t>129</a:t>
                      </a:r>
                      <a:endParaRPr sz="1000"/>
                    </a:p>
                  </a:txBody>
                  <a:tcPr marL="91425" marR="91425" marT="91425" marB="91425" anchor="ctr"/>
                </a:tc>
                <a:tc>
                  <a:txBody>
                    <a:bodyPr/>
                    <a:lstStyle/>
                    <a:p>
                      <a:pPr marL="0" lvl="0" indent="0" algn="ctr" rtl="0">
                        <a:spcBef>
                          <a:spcPts val="0"/>
                        </a:spcBef>
                        <a:spcAft>
                          <a:spcPts val="0"/>
                        </a:spcAft>
                        <a:buNone/>
                      </a:pPr>
                      <a:r>
                        <a:rPr lang="en" sz="1000"/>
                        <a:t>~42%</a:t>
                      </a:r>
                      <a:endParaRPr sz="1000"/>
                    </a:p>
                  </a:txBody>
                  <a:tcPr marL="91425" marR="91425" marT="91425" marB="91425" anchor="ctr"/>
                </a:tc>
                <a:extLst>
                  <a:ext uri="{0D108BD9-81ED-4DB2-BD59-A6C34878D82A}">
                    <a16:rowId xmlns:a16="http://schemas.microsoft.com/office/drawing/2014/main" val="10003"/>
                  </a:ext>
                </a:extLst>
              </a:tr>
              <a:tr h="275525">
                <a:tc>
                  <a:txBody>
                    <a:bodyPr/>
                    <a:lstStyle/>
                    <a:p>
                      <a:pPr marL="0" lvl="0" indent="0" algn="l" rtl="0">
                        <a:spcBef>
                          <a:spcPts val="0"/>
                        </a:spcBef>
                        <a:spcAft>
                          <a:spcPts val="0"/>
                        </a:spcAft>
                        <a:buNone/>
                      </a:pPr>
                      <a:r>
                        <a:rPr lang="en" sz="1000"/>
                        <a:t>Total active có accept chl</a:t>
                      </a:r>
                      <a:endParaRPr sz="1000"/>
                    </a:p>
                  </a:txBody>
                  <a:tcPr marL="91425" marR="91425" marT="91425" marB="91425" anchor="ctr">
                    <a:solidFill>
                      <a:srgbClr val="EA9999"/>
                    </a:solidFill>
                  </a:tcPr>
                </a:tc>
                <a:tc>
                  <a:txBody>
                    <a:bodyPr/>
                    <a:lstStyle/>
                    <a:p>
                      <a:pPr marL="0" lvl="0" indent="0" algn="ctr" rtl="0">
                        <a:spcBef>
                          <a:spcPts val="0"/>
                        </a:spcBef>
                        <a:spcAft>
                          <a:spcPts val="0"/>
                        </a:spcAft>
                        <a:buNone/>
                      </a:pPr>
                      <a:r>
                        <a:rPr lang="en" sz="1000"/>
                        <a:t>33</a:t>
                      </a:r>
                      <a:endParaRPr sz="1000"/>
                    </a:p>
                  </a:txBody>
                  <a:tcPr marL="91425" marR="91425" marT="91425" marB="91425" anchor="ctr">
                    <a:solidFill>
                      <a:srgbClr val="EA9999"/>
                    </a:solidFill>
                  </a:tcPr>
                </a:tc>
                <a:tc>
                  <a:txBody>
                    <a:bodyPr/>
                    <a:lstStyle/>
                    <a:p>
                      <a:pPr marL="0" lvl="0" indent="0" algn="ctr" rtl="0">
                        <a:spcBef>
                          <a:spcPts val="0"/>
                        </a:spcBef>
                        <a:spcAft>
                          <a:spcPts val="0"/>
                        </a:spcAft>
                        <a:buNone/>
                      </a:pPr>
                      <a:r>
                        <a:rPr lang="en" sz="1000"/>
                        <a:t>~11%</a:t>
                      </a:r>
                      <a:endParaRPr sz="1000"/>
                    </a:p>
                  </a:txBody>
                  <a:tcPr marL="91425" marR="91425" marT="91425" marB="91425" anchor="ctr">
                    <a:solidFill>
                      <a:srgbClr val="EA999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4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3" name="Google Shape;723;p47" descr="preencoded.png"/>
          <p:cNvPicPr preferRelativeResize="0"/>
          <p:nvPr/>
        </p:nvPicPr>
        <p:blipFill rotWithShape="1">
          <a:blip r:embed="rId3">
            <a:alphaModFix/>
          </a:blip>
          <a:srcRect/>
          <a:stretch/>
        </p:blipFill>
        <p:spPr>
          <a:xfrm>
            <a:off x="365710" y="152533"/>
            <a:ext cx="274320" cy="274320"/>
          </a:xfrm>
          <a:prstGeom prst="rect">
            <a:avLst/>
          </a:prstGeom>
          <a:noFill/>
          <a:ln>
            <a:noFill/>
          </a:ln>
        </p:spPr>
      </p:pic>
      <p:sp>
        <p:nvSpPr>
          <p:cNvPr id="724" name="Google Shape;724;p47"/>
          <p:cNvSpPr/>
          <p:nvPr/>
        </p:nvSpPr>
        <p:spPr>
          <a:xfrm>
            <a:off x="731470" y="79380"/>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Supply Hours</a:t>
            </a:r>
            <a:endParaRPr sz="2200" b="1" i="0" u="none" strike="noStrike" cap="none">
              <a:solidFill>
                <a:srgbClr val="F56C1F"/>
              </a:solidFill>
              <a:latin typeface="Lexend"/>
              <a:ea typeface="Lexend"/>
              <a:cs typeface="Lexend"/>
              <a:sym typeface="Lexend"/>
            </a:endParaRPr>
          </a:p>
        </p:txBody>
      </p:sp>
      <p:sp>
        <p:nvSpPr>
          <p:cNvPr id="725" name="Google Shape;725;p47"/>
          <p:cNvSpPr/>
          <p:nvPr/>
        </p:nvSpPr>
        <p:spPr>
          <a:xfrm>
            <a:off x="731470" y="472573"/>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Thời gian hoạt động của tài xế</a:t>
            </a:r>
            <a:endParaRPr sz="1000" i="0" u="none" strike="noStrike" cap="none">
              <a:solidFill>
                <a:schemeClr val="dk1"/>
              </a:solidFill>
              <a:latin typeface="Lexend"/>
              <a:ea typeface="Lexend"/>
              <a:cs typeface="Lexend"/>
              <a:sym typeface="Lexend"/>
            </a:endParaRPr>
          </a:p>
        </p:txBody>
      </p:sp>
      <p:cxnSp>
        <p:nvCxnSpPr>
          <p:cNvPr id="726" name="Google Shape;726;p47"/>
          <p:cNvCxnSpPr/>
          <p:nvPr/>
        </p:nvCxnSpPr>
        <p:spPr>
          <a:xfrm>
            <a:off x="365710" y="746893"/>
            <a:ext cx="8412600" cy="0"/>
          </a:xfrm>
          <a:prstGeom prst="straightConnector1">
            <a:avLst/>
          </a:prstGeom>
          <a:noFill/>
          <a:ln w="9525" cap="flat" cmpd="sng">
            <a:solidFill>
              <a:srgbClr val="E2E8F0"/>
            </a:solidFill>
            <a:prstDash val="solid"/>
            <a:round/>
            <a:headEnd type="none" w="sm" len="sm"/>
            <a:tailEnd type="none" w="sm" len="sm"/>
          </a:ln>
        </p:spPr>
      </p:cxnSp>
      <p:sp>
        <p:nvSpPr>
          <p:cNvPr id="727" name="Google Shape;727;p4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728" name="Google Shape;728;p47"/>
          <p:cNvSpPr/>
          <p:nvPr/>
        </p:nvSpPr>
        <p:spPr>
          <a:xfrm>
            <a:off x="4630650" y="960850"/>
            <a:ext cx="4345800" cy="41274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729" name="Google Shape;729;p47"/>
          <p:cNvSpPr txBox="1"/>
          <p:nvPr/>
        </p:nvSpPr>
        <p:spPr>
          <a:xfrm>
            <a:off x="100488" y="70040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HAN</a:t>
            </a:r>
            <a:endParaRPr sz="1200"/>
          </a:p>
        </p:txBody>
      </p:sp>
      <p:sp>
        <p:nvSpPr>
          <p:cNvPr id="730" name="Google Shape;730;p47"/>
          <p:cNvSpPr txBox="1"/>
          <p:nvPr/>
        </p:nvSpPr>
        <p:spPr>
          <a:xfrm>
            <a:off x="4630513" y="70065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SGN</a:t>
            </a:r>
            <a:endParaRPr sz="1200"/>
          </a:p>
        </p:txBody>
      </p:sp>
      <p:sp>
        <p:nvSpPr>
          <p:cNvPr id="731" name="Google Shape;731;p47"/>
          <p:cNvSpPr txBox="1"/>
          <p:nvPr/>
        </p:nvSpPr>
        <p:spPr>
          <a:xfrm>
            <a:off x="73875" y="9205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Total SH by segment</a:t>
            </a:r>
            <a:endParaRPr sz="1100">
              <a:solidFill>
                <a:srgbClr val="0E4174"/>
              </a:solidFill>
              <a:latin typeface="Lexend"/>
              <a:ea typeface="Lexend"/>
              <a:cs typeface="Lexend"/>
              <a:sym typeface="Lexend"/>
            </a:endParaRPr>
          </a:p>
        </p:txBody>
      </p:sp>
      <p:sp>
        <p:nvSpPr>
          <p:cNvPr id="732" name="Google Shape;732;p47"/>
          <p:cNvSpPr txBox="1"/>
          <p:nvPr/>
        </p:nvSpPr>
        <p:spPr>
          <a:xfrm>
            <a:off x="100500" y="2774775"/>
            <a:ext cx="1849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4C7DA4"/>
                </a:solidFill>
                <a:latin typeface="Lexend"/>
                <a:ea typeface="Lexend"/>
                <a:cs typeface="Lexend"/>
                <a:sym typeface="Lexend"/>
              </a:rPr>
              <a:t>Demand </a:t>
            </a:r>
            <a:endParaRPr sz="1200">
              <a:solidFill>
                <a:srgbClr val="0E4174"/>
              </a:solidFill>
              <a:latin typeface="Lexend"/>
              <a:ea typeface="Lexend"/>
              <a:cs typeface="Lexend"/>
              <a:sym typeface="Lexend"/>
            </a:endParaRPr>
          </a:p>
        </p:txBody>
      </p:sp>
      <p:sp>
        <p:nvSpPr>
          <p:cNvPr id="733" name="Google Shape;733;p47"/>
          <p:cNvSpPr txBox="1"/>
          <p:nvPr/>
        </p:nvSpPr>
        <p:spPr>
          <a:xfrm>
            <a:off x="100625" y="4448975"/>
            <a:ext cx="4273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734" name="Google Shape;734;p47"/>
          <p:cNvSpPr txBox="1"/>
          <p:nvPr/>
        </p:nvSpPr>
        <p:spPr>
          <a:xfrm>
            <a:off x="4649025" y="935818"/>
            <a:ext cx="1775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4C7DA4"/>
                </a:solidFill>
                <a:latin typeface="Lexend"/>
                <a:ea typeface="Lexend"/>
                <a:cs typeface="Lexend"/>
                <a:sym typeface="Lexend"/>
              </a:rPr>
              <a:t>Total SH by segment</a:t>
            </a:r>
            <a:endParaRPr sz="1000">
              <a:solidFill>
                <a:srgbClr val="0E4174"/>
              </a:solidFill>
              <a:latin typeface="Lexend"/>
              <a:ea typeface="Lexend"/>
              <a:cs typeface="Lexend"/>
              <a:sym typeface="Lexend"/>
            </a:endParaRPr>
          </a:p>
        </p:txBody>
      </p:sp>
      <p:sp>
        <p:nvSpPr>
          <p:cNvPr id="735" name="Google Shape;735;p47"/>
          <p:cNvSpPr txBox="1"/>
          <p:nvPr/>
        </p:nvSpPr>
        <p:spPr>
          <a:xfrm>
            <a:off x="4716125" y="4352100"/>
            <a:ext cx="4273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Lexend"/>
                <a:ea typeface="Lexend"/>
                <a:cs typeface="Lexend"/>
                <a:sym typeface="Lexend"/>
              </a:rPr>
              <a:t>INSIGHT:</a:t>
            </a:r>
            <a:endParaRPr sz="900" b="1">
              <a:solidFill>
                <a:schemeClr val="dk1"/>
              </a:solidFill>
              <a:latin typeface="Lexend"/>
              <a:ea typeface="Lexend"/>
              <a:cs typeface="Lexend"/>
              <a:sym typeface="Lexend"/>
            </a:endParaRPr>
          </a:p>
          <a:p>
            <a:pPr marL="0" lvl="0" indent="0" algn="l" rtl="0">
              <a:spcBef>
                <a:spcPts val="0"/>
              </a:spcBef>
              <a:spcAft>
                <a:spcPts val="0"/>
              </a:spcAft>
              <a:buNone/>
            </a:pPr>
            <a:r>
              <a:rPr lang="en" sz="900">
                <a:solidFill>
                  <a:srgbClr val="1E293B"/>
                </a:solidFill>
                <a:latin typeface="Lexend"/>
                <a:ea typeface="Lexend"/>
                <a:cs typeface="Lexend"/>
                <a:sym typeface="Lexend"/>
              </a:rPr>
              <a:t>- So với planning thì SH vẫn bám sát target mặc dù thời tiết tại SGN mưa dông nhiều ngày</a:t>
            </a:r>
            <a:endParaRPr sz="900">
              <a:solidFill>
                <a:srgbClr val="1E293B"/>
              </a:solidFill>
              <a:latin typeface="Lexend"/>
              <a:ea typeface="Lexend"/>
              <a:cs typeface="Lexend"/>
              <a:sym typeface="Lexend"/>
            </a:endParaRPr>
          </a:p>
          <a:p>
            <a:pPr marL="0" lvl="0" indent="0" algn="l" rtl="0">
              <a:spcBef>
                <a:spcPts val="0"/>
              </a:spcBef>
              <a:spcAft>
                <a:spcPts val="0"/>
              </a:spcAft>
              <a:buNone/>
            </a:pPr>
            <a:r>
              <a:rPr lang="en" sz="900">
                <a:solidFill>
                  <a:srgbClr val="1E293B"/>
                </a:solidFill>
                <a:latin typeface="Lexend"/>
                <a:ea typeface="Lexend"/>
                <a:cs typeface="Lexend"/>
                <a:sym typeface="Lexend"/>
              </a:rPr>
              <a:t>- Do tình hình thời tiết nên AR, FR tại SGN giảm nhẹ từ 0.5 - 0.7% WoW</a:t>
            </a:r>
            <a:endParaRPr sz="900">
              <a:solidFill>
                <a:srgbClr val="1E293B"/>
              </a:solidFill>
              <a:latin typeface="Lexend"/>
              <a:ea typeface="Lexend"/>
              <a:cs typeface="Lexend"/>
              <a:sym typeface="Lexend"/>
            </a:endParaRPr>
          </a:p>
        </p:txBody>
      </p:sp>
      <p:sp>
        <p:nvSpPr>
          <p:cNvPr id="736" name="Google Shape;736;p47"/>
          <p:cNvSpPr txBox="1"/>
          <p:nvPr/>
        </p:nvSpPr>
        <p:spPr>
          <a:xfrm>
            <a:off x="150225" y="4359075"/>
            <a:ext cx="4406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exend"/>
                <a:ea typeface="Lexend"/>
                <a:cs typeface="Lexend"/>
                <a:sym typeface="Lexend"/>
              </a:rPr>
              <a:t>INSIGHT: </a:t>
            </a:r>
            <a:endParaRPr sz="800">
              <a:solidFill>
                <a:schemeClr val="dk1"/>
              </a:solidFill>
              <a:latin typeface="Lexend"/>
              <a:ea typeface="Lexend"/>
              <a:cs typeface="Lexend"/>
              <a:sym typeface="Lexend"/>
            </a:endParaRPr>
          </a:p>
          <a:p>
            <a:pPr marL="0" lvl="0" indent="0" algn="l" rtl="0">
              <a:spcBef>
                <a:spcPts val="0"/>
              </a:spcBef>
              <a:spcAft>
                <a:spcPts val="0"/>
              </a:spcAft>
              <a:buNone/>
            </a:pPr>
            <a:r>
              <a:rPr lang="en" sz="800">
                <a:solidFill>
                  <a:schemeClr val="dk1"/>
                </a:solidFill>
                <a:latin typeface="Lexend"/>
                <a:ea typeface="Lexend"/>
                <a:cs typeface="Lexend"/>
                <a:sym typeface="Lexend"/>
              </a:rPr>
              <a:t>- </a:t>
            </a:r>
            <a:r>
              <a:rPr lang="en" sz="800" b="1">
                <a:solidFill>
                  <a:srgbClr val="EA4335"/>
                </a:solidFill>
                <a:latin typeface="Lexend"/>
                <a:ea typeface="Lexend"/>
                <a:cs typeface="Lexend"/>
                <a:sym typeface="Lexend"/>
              </a:rPr>
              <a:t>SH gap 8.2% so với planning</a:t>
            </a:r>
            <a:r>
              <a:rPr lang="en" sz="800">
                <a:solidFill>
                  <a:schemeClr val="dk1"/>
                </a:solidFill>
                <a:latin typeface="Lexend"/>
                <a:ea typeface="Lexend"/>
                <a:cs typeface="Lexend"/>
                <a:sym typeface="Lexend"/>
              </a:rPr>
              <a:t>, hụt chủ yếu ở nhóm FT/PT</a:t>
            </a:r>
            <a:br>
              <a:rPr lang="en" sz="800" b="1">
                <a:solidFill>
                  <a:schemeClr val="dk1"/>
                </a:solidFill>
                <a:latin typeface="Lexend"/>
                <a:ea typeface="Lexend"/>
                <a:cs typeface="Lexend"/>
                <a:sym typeface="Lexend"/>
              </a:rPr>
            </a:br>
            <a:r>
              <a:rPr lang="en" sz="800">
                <a:solidFill>
                  <a:schemeClr val="dk1"/>
                </a:solidFill>
                <a:latin typeface="Lexend"/>
                <a:ea typeface="Lexend"/>
                <a:cs typeface="Lexend"/>
                <a:sym typeface="Lexend"/>
              </a:rPr>
              <a:t>- RPH tăng</a:t>
            </a:r>
            <a:r>
              <a:rPr lang="en" sz="800">
                <a:solidFill>
                  <a:srgbClr val="1255CC"/>
                </a:solidFill>
                <a:latin typeface="Lexend"/>
                <a:ea typeface="Lexend"/>
                <a:cs typeface="Lexend"/>
                <a:sym typeface="Lexend"/>
              </a:rPr>
              <a:t> 6.5%</a:t>
            </a:r>
            <a:r>
              <a:rPr lang="en" sz="800">
                <a:solidFill>
                  <a:schemeClr val="dk1"/>
                </a:solidFill>
                <a:latin typeface="Lexend"/>
                <a:ea typeface="Lexend"/>
                <a:cs typeface="Lexend"/>
                <a:sym typeface="Lexend"/>
              </a:rPr>
              <a:t> WoW, AR-FR giảm mạnh ~2% do ảnh hưởng do mưa lớn + tăng mạnh demand nhánh bulky. Details </a:t>
            </a:r>
            <a:r>
              <a:rPr lang="en" sz="800" u="sng">
                <a:solidFill>
                  <a:schemeClr val="hlink"/>
                </a:solidFill>
                <a:latin typeface="Lexend"/>
                <a:ea typeface="Lexend"/>
                <a:cs typeface="Lexend"/>
                <a:sym typeface="Lexend"/>
                <a:hlinkClick r:id="rId4"/>
              </a:rPr>
              <a:t>link thời tiết</a:t>
            </a: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737" name="Google Shape;737;p47"/>
          <p:cNvSpPr txBox="1"/>
          <p:nvPr/>
        </p:nvSpPr>
        <p:spPr>
          <a:xfrm>
            <a:off x="4716125" y="2782425"/>
            <a:ext cx="854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Demand </a:t>
            </a:r>
            <a:endParaRPr sz="1100">
              <a:solidFill>
                <a:srgbClr val="0E4174"/>
              </a:solidFill>
              <a:latin typeface="Lexend"/>
              <a:ea typeface="Lexend"/>
              <a:cs typeface="Lexend"/>
              <a:sym typeface="Lexend"/>
            </a:endParaRPr>
          </a:p>
        </p:txBody>
      </p:sp>
      <p:graphicFrame>
        <p:nvGraphicFramePr>
          <p:cNvPr id="738" name="Google Shape;738;p47"/>
          <p:cNvGraphicFramePr/>
          <p:nvPr/>
        </p:nvGraphicFramePr>
        <p:xfrm>
          <a:off x="1028325" y="2894775"/>
          <a:ext cx="3000000" cy="3000000"/>
        </p:xfrm>
        <a:graphic>
          <a:graphicData uri="http://schemas.openxmlformats.org/drawingml/2006/table">
            <a:tbl>
              <a:tblPr>
                <a:noFill/>
                <a:tableStyleId>{1B6E03F7-A7B3-402D-A52F-665CEB5CA1F2}</a:tableStyleId>
              </a:tblPr>
              <a:tblGrid>
                <a:gridCol w="9620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This Week</a:t>
                      </a:r>
                      <a:endParaRPr sz="900" b="1">
                        <a:solidFill>
                          <a:srgbClr val="FFFFFF"/>
                        </a:solidFill>
                        <a:latin typeface="Lexend"/>
                        <a:ea typeface="Lexend"/>
                        <a:cs typeface="Lexend"/>
                        <a:sym typeface="Lexend"/>
                      </a:endParaRPr>
                    </a:p>
                  </a:txBody>
                  <a:tcPr marL="28575" marR="28575" marT="19050" marB="19050" anchor="ctr">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WoW</a:t>
                      </a:r>
                      <a:endParaRPr sz="900" b="1">
                        <a:solidFill>
                          <a:srgbClr val="FFFFFF"/>
                        </a:solidFill>
                        <a:latin typeface="Lexend"/>
                        <a:ea typeface="Lexend"/>
                        <a:cs typeface="Lexend"/>
                        <a:sym typeface="Lexend"/>
                      </a:endParaRPr>
                    </a:p>
                  </a:txBody>
                  <a:tcPr marL="28575" marR="28575" marT="19050" marB="19050" anchor="ctr">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1.88</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6.5%</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364K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7.7%</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320K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5.4%</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marR="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91425" marR="9142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285K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5.2%</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88.0%</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-1.9%</a:t>
                      </a:r>
                      <a:endParaRPr sz="1000" b="1">
                        <a:solidFill>
                          <a:srgbClr val="FF0000"/>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78.4%</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-1.9%</a:t>
                      </a:r>
                      <a:endParaRPr sz="1000" b="1">
                        <a:solidFill>
                          <a:srgbClr val="FF0000"/>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739" name="Google Shape;739;p47"/>
          <p:cNvGraphicFramePr/>
          <p:nvPr/>
        </p:nvGraphicFramePr>
        <p:xfrm>
          <a:off x="640025" y="1214313"/>
          <a:ext cx="3000000" cy="3000000"/>
        </p:xfrm>
        <a:graphic>
          <a:graphicData uri="http://schemas.openxmlformats.org/drawingml/2006/table">
            <a:tbl>
              <a:tblPr>
                <a:noFill/>
                <a:tableStyleId>{1B6E03F7-A7B3-402D-A52F-665CEB5CA1F2}</a:tableStyleId>
              </a:tblPr>
              <a:tblGrid>
                <a:gridCol w="704675">
                  <a:extLst>
                    <a:ext uri="{9D8B030D-6E8A-4147-A177-3AD203B41FA5}">
                      <a16:colId xmlns:a16="http://schemas.microsoft.com/office/drawing/2014/main" val="20000"/>
                    </a:ext>
                  </a:extLst>
                </a:gridCol>
                <a:gridCol w="704675">
                  <a:extLst>
                    <a:ext uri="{9D8B030D-6E8A-4147-A177-3AD203B41FA5}">
                      <a16:colId xmlns:a16="http://schemas.microsoft.com/office/drawing/2014/main" val="20001"/>
                    </a:ext>
                  </a:extLst>
                </a:gridCol>
                <a:gridCol w="784075">
                  <a:extLst>
                    <a:ext uri="{9D8B030D-6E8A-4147-A177-3AD203B41FA5}">
                      <a16:colId xmlns:a16="http://schemas.microsoft.com/office/drawing/2014/main" val="20002"/>
                    </a:ext>
                  </a:extLst>
                </a:gridCol>
                <a:gridCol w="704675">
                  <a:extLst>
                    <a:ext uri="{9D8B030D-6E8A-4147-A177-3AD203B41FA5}">
                      <a16:colId xmlns:a16="http://schemas.microsoft.com/office/drawing/2014/main" val="20003"/>
                    </a:ext>
                  </a:extLst>
                </a:gridCol>
                <a:gridCol w="704675">
                  <a:extLst>
                    <a:ext uri="{9D8B030D-6E8A-4147-A177-3AD203B41FA5}">
                      <a16:colId xmlns:a16="http://schemas.microsoft.com/office/drawing/2014/main" val="20004"/>
                    </a:ext>
                  </a:extLst>
                </a:gridCol>
              </a:tblGrid>
              <a:tr h="3244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Gap Planning</a:t>
                      </a:r>
                      <a:endParaRPr sz="8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SH-WoW</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53K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-8.08%</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18.5%</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70.8</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5K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-52.18%</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-70.2%</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21.7</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10787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18K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-6.90%</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44.6%</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23.9</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99K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-5.32%</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9.5%</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24.6</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8761D"/>
                          </a:solidFill>
                        </a:rPr>
                        <a:t>27.36%</a:t>
                      </a:r>
                      <a:endParaRPr sz="1000" b="1">
                        <a:solidFill>
                          <a:srgbClr val="38761D"/>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000" b="1">
                          <a:solidFill>
                            <a:srgbClr val="FF0000"/>
                          </a:solidFill>
                        </a:rPr>
                        <a:t>▼ -44.3%</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16.0</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9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10150" cap="flat" cmpd="sng">
                      <a:solidFill>
                        <a:srgbClr val="000000"/>
                      </a:solidFill>
                      <a:prstDash val="dash"/>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182K</a:t>
                      </a:r>
                      <a:endParaRPr sz="1000" b="1"/>
                    </a:p>
                  </a:txBody>
                  <a:tcPr marL="28575" marR="28575" marT="19050" marB="19050" anchor="b">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-8.23%</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2.9%</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extLst>
                  <a:ext uri="{0D108BD9-81ED-4DB2-BD59-A6C34878D82A}">
                    <a16:rowId xmlns:a16="http://schemas.microsoft.com/office/drawing/2014/main" val="10006"/>
                  </a:ext>
                </a:extLst>
              </a:tr>
            </a:tbl>
          </a:graphicData>
        </a:graphic>
      </p:graphicFrame>
      <p:sp>
        <p:nvSpPr>
          <p:cNvPr id="740" name="Google Shape;740;p47"/>
          <p:cNvSpPr txBox="1"/>
          <p:nvPr/>
        </p:nvSpPr>
        <p:spPr>
          <a:xfrm>
            <a:off x="3396221" y="747025"/>
            <a:ext cx="11604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i="1">
                <a:solidFill>
                  <a:srgbClr val="4C7DA4"/>
                </a:solidFill>
                <a:latin typeface="Lexend"/>
                <a:ea typeface="Lexend"/>
                <a:cs typeface="Lexend"/>
                <a:sym typeface="Lexend"/>
              </a:rPr>
              <a:t>So với tuần 20.07</a:t>
            </a:r>
            <a:endParaRPr sz="800" i="1">
              <a:solidFill>
                <a:srgbClr val="0E4174"/>
              </a:solidFill>
              <a:latin typeface="Lexend"/>
              <a:ea typeface="Lexend"/>
              <a:cs typeface="Lexend"/>
              <a:sym typeface="Lexend"/>
            </a:endParaRPr>
          </a:p>
        </p:txBody>
      </p:sp>
      <p:graphicFrame>
        <p:nvGraphicFramePr>
          <p:cNvPr id="741" name="Google Shape;741;p47"/>
          <p:cNvGraphicFramePr/>
          <p:nvPr/>
        </p:nvGraphicFramePr>
        <p:xfrm>
          <a:off x="4898550" y="1215125"/>
          <a:ext cx="3000000" cy="3000000"/>
        </p:xfrm>
        <a:graphic>
          <a:graphicData uri="http://schemas.openxmlformats.org/drawingml/2006/table">
            <a:tbl>
              <a:tblPr>
                <a:noFill/>
                <a:tableStyleId>{1B6E03F7-A7B3-402D-A52F-665CEB5CA1F2}</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Supply hour</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SH-Planning</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136,700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1.8%</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65.0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108,662</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-1.5%</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25.4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24,693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9.6%</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30.4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8,800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-19.0%</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23.2</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4,540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27.8%</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17.6</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283,394</a:t>
                      </a:r>
                      <a:endParaRPr sz="10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0.7%</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742" name="Google Shape;742;p47"/>
          <p:cNvGraphicFramePr/>
          <p:nvPr/>
        </p:nvGraphicFramePr>
        <p:xfrm>
          <a:off x="5570825" y="2949750"/>
          <a:ext cx="3000000" cy="3000000"/>
        </p:xfrm>
        <a:graphic>
          <a:graphicData uri="http://schemas.openxmlformats.org/drawingml/2006/table">
            <a:tbl>
              <a:tblPr>
                <a:noFill/>
                <a:tableStyleId>{1B6E03F7-A7B3-402D-A52F-665CEB5CA1F2}</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Total</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SS WoW</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1.52</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6.1%</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461,875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8.8%</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436,726</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8.0%</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399,068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8.2%</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94.6%</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-0.75%</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86.4%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-0.52%</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47"/>
        <p:cNvGrpSpPr/>
        <p:nvPr/>
      </p:nvGrpSpPr>
      <p:grpSpPr>
        <a:xfrm>
          <a:off x="0" y="0"/>
          <a:ext cx="0" cy="0"/>
          <a:chOff x="0" y="0"/>
          <a:chExt cx="0" cy="0"/>
        </a:xfrm>
      </p:grpSpPr>
      <p:sp>
        <p:nvSpPr>
          <p:cNvPr id="748" name="Google Shape;748;p4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9" name="Google Shape;749;p48" descr="preencoded.png"/>
          <p:cNvPicPr preferRelativeResize="0"/>
          <p:nvPr/>
        </p:nvPicPr>
        <p:blipFill rotWithShape="1">
          <a:blip r:embed="rId3">
            <a:alphaModFix/>
          </a:blip>
          <a:srcRect/>
          <a:stretch/>
        </p:blipFill>
        <p:spPr>
          <a:xfrm>
            <a:off x="365760" y="155520"/>
            <a:ext cx="274320" cy="274320"/>
          </a:xfrm>
          <a:prstGeom prst="rect">
            <a:avLst/>
          </a:prstGeom>
          <a:noFill/>
          <a:ln>
            <a:noFill/>
          </a:ln>
        </p:spPr>
      </p:pic>
      <p:sp>
        <p:nvSpPr>
          <p:cNvPr id="750" name="Google Shape;750;p48"/>
          <p:cNvSpPr/>
          <p:nvPr/>
        </p:nvSpPr>
        <p:spPr>
          <a:xfrm>
            <a:off x="725120" y="731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Cancel Rate-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751" name="Google Shape;751;p48"/>
          <p:cNvSpPr/>
          <p:nvPr/>
        </p:nvSpPr>
        <p:spPr>
          <a:xfrm>
            <a:off x="4668780" y="151050"/>
            <a:ext cx="2441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endParaRPr sz="1300" b="1" i="0" u="none" strike="noStrike" cap="none">
              <a:solidFill>
                <a:srgbClr val="1155CC"/>
              </a:solidFill>
              <a:latin typeface="Lexend"/>
              <a:ea typeface="Lexend"/>
              <a:cs typeface="Lexend"/>
              <a:sym typeface="Lexend"/>
            </a:endParaRPr>
          </a:p>
        </p:txBody>
      </p:sp>
      <p:sp>
        <p:nvSpPr>
          <p:cNvPr id="752" name="Google Shape;752;p48"/>
          <p:cNvSpPr/>
          <p:nvPr/>
        </p:nvSpPr>
        <p:spPr>
          <a:xfrm>
            <a:off x="161050" y="4028575"/>
            <a:ext cx="8734800" cy="1088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8"/>
          <p:cNvSpPr/>
          <p:nvPr/>
        </p:nvSpPr>
        <p:spPr>
          <a:xfrm>
            <a:off x="161050" y="4052566"/>
            <a:ext cx="54900" cy="1040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8"/>
          <p:cNvSpPr txBox="1"/>
          <p:nvPr/>
        </p:nvSpPr>
        <p:spPr>
          <a:xfrm>
            <a:off x="276200" y="4052575"/>
            <a:ext cx="84324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7F32"/>
                </a:solidFill>
                <a:latin typeface="Lexend"/>
                <a:ea typeface="Lexend"/>
                <a:cs typeface="Lexend"/>
                <a:sym typeface="Lexend"/>
              </a:rPr>
              <a:t>INSIGHT: </a:t>
            </a:r>
            <a:endParaRPr sz="900">
              <a:solidFill>
                <a:srgbClr val="FF7F32"/>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PoC chung </a:t>
            </a:r>
            <a:r>
              <a:rPr lang="en" sz="900" b="1">
                <a:solidFill>
                  <a:srgbClr val="EF4444"/>
                </a:solidFill>
                <a:latin typeface="Lexend"/>
                <a:ea typeface="Lexend"/>
                <a:cs typeface="Lexend"/>
                <a:sym typeface="Lexend"/>
              </a:rPr>
              <a:t>tăng 0.6% trong tuần tác động thời tiết/demand</a:t>
            </a:r>
            <a:r>
              <a:rPr lang="en" sz="900">
                <a:solidFill>
                  <a:schemeClr val="dk1"/>
                </a:solidFill>
                <a:latin typeface="Lexend"/>
                <a:ea typeface="Lexend"/>
                <a:cs typeface="Lexend"/>
                <a:sym typeface="Lexend"/>
              </a:rPr>
              <a:t>, đạt mốc </a:t>
            </a:r>
            <a:r>
              <a:rPr lang="en" sz="900" b="1">
                <a:solidFill>
                  <a:schemeClr val="dk1"/>
                </a:solidFill>
                <a:latin typeface="Lexend"/>
                <a:ea typeface="Lexend"/>
                <a:cs typeface="Lexend"/>
                <a:sym typeface="Lexend"/>
              </a:rPr>
              <a:t>13.6%</a:t>
            </a:r>
            <a:r>
              <a:rPr lang="en" sz="900">
                <a:solidFill>
                  <a:schemeClr val="dk1"/>
                </a:solidFill>
                <a:latin typeface="Lexend"/>
                <a:ea typeface="Lexend"/>
                <a:cs typeface="Lexend"/>
                <a:sym typeface="Lexend"/>
              </a:rPr>
              <a:t>. </a:t>
            </a:r>
            <a:endParaRPr sz="900">
              <a:solidFill>
                <a:schemeClr val="dk1"/>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đều tăng ở các tập trừ NIM, PT-Return tăng mạnh nhất dao động 1-1.6%</a:t>
            </a:r>
            <a:endParaRPr sz="900" b="1">
              <a:solidFill>
                <a:srgbClr val="EF444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None/>
            </a:pPr>
            <a:endParaRPr sz="900">
              <a:solidFill>
                <a:schemeClr val="dk1"/>
              </a:solidFill>
              <a:latin typeface="Lexend"/>
              <a:ea typeface="Lexend"/>
              <a:cs typeface="Lexend"/>
              <a:sym typeface="Lexend"/>
            </a:endParaRPr>
          </a:p>
        </p:txBody>
      </p:sp>
      <p:sp>
        <p:nvSpPr>
          <p:cNvPr id="755" name="Google Shape;755;p48"/>
          <p:cNvSpPr/>
          <p:nvPr/>
        </p:nvSpPr>
        <p:spPr>
          <a:xfrm>
            <a:off x="75322"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Overview CR by Segment</a:t>
            </a:r>
            <a:endParaRPr sz="1100" b="1" i="0" u="none" strike="noStrike" cap="none">
              <a:solidFill>
                <a:schemeClr val="dk1"/>
              </a:solidFill>
              <a:latin typeface="Lexend"/>
              <a:ea typeface="Lexend"/>
              <a:cs typeface="Lexend"/>
              <a:sym typeface="Lexend"/>
            </a:endParaRPr>
          </a:p>
        </p:txBody>
      </p:sp>
      <p:sp>
        <p:nvSpPr>
          <p:cNvPr id="756" name="Google Shape;756;p48"/>
          <p:cNvSpPr/>
          <p:nvPr/>
        </p:nvSpPr>
        <p:spPr>
          <a:xfrm>
            <a:off x="5419573"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a:t>
            </a:r>
            <a:r>
              <a:rPr lang="en" sz="1100" b="1">
                <a:solidFill>
                  <a:srgbClr val="9E9E9E"/>
                </a:solidFill>
                <a:latin typeface="Lexend"/>
                <a:ea typeface="Lexend"/>
                <a:cs typeface="Lexend"/>
                <a:sym typeface="Lexend"/>
              </a:rPr>
              <a:t>(Rule PoC)</a:t>
            </a:r>
            <a:r>
              <a:rPr lang="en" sz="1100" b="1">
                <a:solidFill>
                  <a:srgbClr val="0E4174"/>
                </a:solidFill>
                <a:latin typeface="Lexend"/>
                <a:ea typeface="Lexend"/>
                <a:cs typeface="Lexend"/>
                <a:sym typeface="Lexend"/>
              </a:rPr>
              <a:t> by Segment</a:t>
            </a:r>
            <a:endParaRPr sz="1100" b="1" i="0" u="none" strike="noStrike" cap="none">
              <a:solidFill>
                <a:schemeClr val="dk1"/>
              </a:solidFill>
              <a:latin typeface="Lexend"/>
              <a:ea typeface="Lexend"/>
              <a:cs typeface="Lexend"/>
              <a:sym typeface="Lexend"/>
            </a:endParaRPr>
          </a:p>
        </p:txBody>
      </p:sp>
      <p:graphicFrame>
        <p:nvGraphicFramePr>
          <p:cNvPr id="757" name="Google Shape;757;p48"/>
          <p:cNvGraphicFramePr/>
          <p:nvPr/>
        </p:nvGraphicFramePr>
        <p:xfrm>
          <a:off x="84850" y="898150"/>
          <a:ext cx="3000000" cy="3000000"/>
        </p:xfrm>
        <a:graphic>
          <a:graphicData uri="http://schemas.openxmlformats.org/drawingml/2006/table">
            <a:tbl>
              <a:tblPr>
                <a:noFill/>
                <a:tableStyleId>{1B6E03F7-A7B3-402D-A52F-665CEB5CA1F2}</a:tableStyleId>
              </a:tblPr>
              <a:tblGrid>
                <a:gridCol w="776300">
                  <a:extLst>
                    <a:ext uri="{9D8B030D-6E8A-4147-A177-3AD203B41FA5}">
                      <a16:colId xmlns:a16="http://schemas.microsoft.com/office/drawing/2014/main" val="20000"/>
                    </a:ext>
                  </a:extLst>
                </a:gridCol>
                <a:gridCol w="505050">
                  <a:extLst>
                    <a:ext uri="{9D8B030D-6E8A-4147-A177-3AD203B41FA5}">
                      <a16:colId xmlns:a16="http://schemas.microsoft.com/office/drawing/2014/main" val="20001"/>
                    </a:ext>
                  </a:extLst>
                </a:gridCol>
                <a:gridCol w="483575">
                  <a:extLst>
                    <a:ext uri="{9D8B030D-6E8A-4147-A177-3AD203B41FA5}">
                      <a16:colId xmlns:a16="http://schemas.microsoft.com/office/drawing/2014/main" val="20002"/>
                    </a:ext>
                  </a:extLst>
                </a:gridCol>
                <a:gridCol w="451725">
                  <a:extLst>
                    <a:ext uri="{9D8B030D-6E8A-4147-A177-3AD203B41FA5}">
                      <a16:colId xmlns:a16="http://schemas.microsoft.com/office/drawing/2014/main" val="20003"/>
                    </a:ext>
                  </a:extLst>
                </a:gridCol>
                <a:gridCol w="467650">
                  <a:extLst>
                    <a:ext uri="{9D8B030D-6E8A-4147-A177-3AD203B41FA5}">
                      <a16:colId xmlns:a16="http://schemas.microsoft.com/office/drawing/2014/main" val="20004"/>
                    </a:ext>
                  </a:extLst>
                </a:gridCol>
                <a:gridCol w="636000">
                  <a:extLst>
                    <a:ext uri="{9D8B030D-6E8A-4147-A177-3AD203B41FA5}">
                      <a16:colId xmlns:a16="http://schemas.microsoft.com/office/drawing/2014/main" val="20005"/>
                    </a:ext>
                  </a:extLst>
                </a:gridCol>
                <a:gridCol w="738875">
                  <a:extLst>
                    <a:ext uri="{9D8B030D-6E8A-4147-A177-3AD203B41FA5}">
                      <a16:colId xmlns:a16="http://schemas.microsoft.com/office/drawing/2014/main" val="20006"/>
                    </a:ext>
                  </a:extLst>
                </a:gridCol>
                <a:gridCol w="851125">
                  <a:extLst>
                    <a:ext uri="{9D8B030D-6E8A-4147-A177-3AD203B41FA5}">
                      <a16:colId xmlns:a16="http://schemas.microsoft.com/office/drawing/2014/main" val="20007"/>
                    </a:ext>
                  </a:extLst>
                </a:gridCol>
              </a:tblGrid>
              <a:tr h="361250">
                <a:tc>
                  <a:txBody>
                    <a:bodyPr/>
                    <a:lstStyle/>
                    <a:p>
                      <a:pPr marL="0" lvl="0" indent="0" algn="ctr" rtl="0">
                        <a:lnSpc>
                          <a:spcPct val="115000"/>
                        </a:lnSpc>
                        <a:spcBef>
                          <a:spcPts val="0"/>
                        </a:spcBef>
                        <a:spcAft>
                          <a:spcPts val="0"/>
                        </a:spcAft>
                        <a:buNone/>
                      </a:pPr>
                      <a:r>
                        <a:rPr lang="en" sz="900" b="1">
                          <a:solidFill>
                            <a:srgbClr val="FFFFFF"/>
                          </a:solidFill>
                        </a:rPr>
                        <a:t>segment</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accept</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cancel_</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per_active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avg</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cancel WoW</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 contrib cancel WoW</a:t>
                      </a:r>
                      <a:endParaRPr sz="900" b="1">
                        <a:solidFill>
                          <a:srgbClr val="FFFFFF"/>
                        </a:solidFill>
                      </a:endParaRPr>
                    </a:p>
                  </a:txBody>
                  <a:tcPr marL="28575" marR="28575" marT="19050" marB="19050" anchor="ctr">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extLst>
                  <a:ext uri="{0D108BD9-81ED-4DB2-BD59-A6C34878D82A}">
                    <a16:rowId xmlns:a16="http://schemas.microsoft.com/office/drawing/2014/main" val="10000"/>
                  </a:ext>
                </a:extLst>
              </a:tr>
              <a:tr h="199625">
                <a:tc>
                  <a:txBody>
                    <a:bodyPr/>
                    <a:lstStyle/>
                    <a:p>
                      <a:pPr marL="0" lvl="0" indent="0" algn="l" rtl="0">
                        <a:lnSpc>
                          <a:spcPct val="115000"/>
                        </a:lnSpc>
                        <a:spcBef>
                          <a:spcPts val="0"/>
                        </a:spcBef>
                        <a:spcAft>
                          <a:spcPts val="0"/>
                        </a:spcAft>
                        <a:buNone/>
                      </a:pPr>
                      <a:r>
                        <a:rPr lang="en" sz="900"/>
                        <a:t>FT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112.37K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16.39K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9.82%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1,268</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12.92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1.59</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3.02%</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solidFill>
                      <a:srgbClr val="F4CCCC"/>
                    </a:solidFill>
                  </a:tcPr>
                </a:tc>
                <a:extLst>
                  <a:ext uri="{0D108BD9-81ED-4DB2-BD59-A6C34878D82A}">
                    <a16:rowId xmlns:a16="http://schemas.microsoft.com/office/drawing/2014/main" val="10001"/>
                  </a:ext>
                </a:extLst>
              </a:tr>
              <a:tr h="199625">
                <a:tc>
                  <a:txBody>
                    <a:bodyPr/>
                    <a:lstStyle/>
                    <a:p>
                      <a:pPr marL="0" lvl="0" indent="0" algn="l" rtl="0">
                        <a:lnSpc>
                          <a:spcPct val="115000"/>
                        </a:lnSpc>
                        <a:spcBef>
                          <a:spcPts val="0"/>
                        </a:spcBef>
                        <a:spcAft>
                          <a:spcPts val="0"/>
                        </a:spcAft>
                        <a:buNone/>
                      </a:pPr>
                      <a:r>
                        <a:rPr lang="en" sz="900"/>
                        <a:t>NIM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10.47K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1.61K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11.49%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379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4.25</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AA84F"/>
                          </a:solidFill>
                        </a:rPr>
                        <a:t>-1.04</a:t>
                      </a:r>
                      <a:endParaRPr sz="900" b="1">
                        <a:solidFill>
                          <a:srgbClr val="6AA84F"/>
                        </a:solidFill>
                      </a:endParaRPr>
                    </a:p>
                  </a:txBody>
                  <a:tcPr marL="28575" marR="28575" marT="19050" marB="19050" anchor="b">
                    <a:solidFill>
                      <a:srgbClr val="D9EAD3"/>
                    </a:solidFill>
                  </a:tcPr>
                </a:tc>
                <a:tc>
                  <a:txBody>
                    <a:bodyPr/>
                    <a:lstStyle/>
                    <a:p>
                      <a:pPr marL="0" lvl="0" indent="0" algn="ctr" rtl="0">
                        <a:lnSpc>
                          <a:spcPct val="115000"/>
                        </a:lnSpc>
                        <a:spcBef>
                          <a:spcPts val="0"/>
                        </a:spcBef>
                        <a:spcAft>
                          <a:spcPts val="0"/>
                        </a:spcAft>
                        <a:buNone/>
                      </a:pPr>
                      <a:r>
                        <a:rPr lang="en" sz="900" b="1">
                          <a:solidFill>
                            <a:srgbClr val="6AA84F"/>
                          </a:solidFill>
                        </a:rPr>
                        <a:t>-7.58%</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2"/>
                  </a:ext>
                </a:extLst>
              </a:tr>
              <a:tr h="199625">
                <a:tc>
                  <a:txBody>
                    <a:bodyPr/>
                    <a:lstStyle/>
                    <a:p>
                      <a:pPr marL="0" lvl="0" indent="0" algn="l" rtl="0">
                        <a:lnSpc>
                          <a:spcPct val="115000"/>
                        </a:lnSpc>
                        <a:spcBef>
                          <a:spcPts val="0"/>
                        </a:spcBef>
                        <a:spcAft>
                          <a:spcPts val="0"/>
                        </a:spcAft>
                        <a:buNone/>
                      </a:pPr>
                      <a:r>
                        <a:rPr lang="en" sz="900"/>
                        <a:t>NLM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36.40K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7.00K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14.49%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1,151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6.08</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0.21</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2.85%</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solidFill>
                      <a:srgbClr val="F4CCCC"/>
                    </a:solidFill>
                  </a:tcPr>
                </a:tc>
                <a:extLst>
                  <a:ext uri="{0D108BD9-81ED-4DB2-BD59-A6C34878D82A}">
                    <a16:rowId xmlns:a16="http://schemas.microsoft.com/office/drawing/2014/main" val="10003"/>
                  </a:ext>
                </a:extLst>
              </a:tr>
              <a:tr h="199625">
                <a:tc>
                  <a:txBody>
                    <a:bodyPr/>
                    <a:lstStyle/>
                    <a:p>
                      <a:pPr marL="0" lvl="0" indent="0" algn="l" rtl="0">
                        <a:lnSpc>
                          <a:spcPct val="115000"/>
                        </a:lnSpc>
                        <a:spcBef>
                          <a:spcPts val="0"/>
                        </a:spcBef>
                        <a:spcAft>
                          <a:spcPts val="0"/>
                        </a:spcAft>
                        <a:buNone/>
                      </a:pPr>
                      <a:r>
                        <a:rPr lang="en" sz="900"/>
                        <a:t>PT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204.71K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43.03K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15.31%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6,225</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6.91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0.80</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4.98%</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solidFill>
                      <a:srgbClr val="F4CCCC"/>
                    </a:solidFill>
                  </a:tcPr>
                </a:tc>
                <a:extLst>
                  <a:ext uri="{0D108BD9-81ED-4DB2-BD59-A6C34878D82A}">
                    <a16:rowId xmlns:a16="http://schemas.microsoft.com/office/drawing/2014/main" val="10004"/>
                  </a:ext>
                </a:extLst>
              </a:tr>
              <a:tr h="199625">
                <a:tc>
                  <a:txBody>
                    <a:bodyPr/>
                    <a:lstStyle/>
                    <a:p>
                      <a:pPr marL="0" lvl="0" indent="0" algn="l" rtl="0">
                        <a:lnSpc>
                          <a:spcPct val="115000"/>
                        </a:lnSpc>
                        <a:spcBef>
                          <a:spcPts val="0"/>
                        </a:spcBef>
                        <a:spcAft>
                          <a:spcPts val="0"/>
                        </a:spcAft>
                        <a:buNone/>
                      </a:pPr>
                      <a:r>
                        <a:rPr lang="en" sz="900"/>
                        <a:t>Return</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12.25K</a:t>
                      </a:r>
                      <a:endParaRPr sz="900"/>
                    </a:p>
                  </a:txBody>
                  <a:tcPr marL="28575" marR="28575" marT="19050" marB="19050" anchor="b">
                    <a:lnL w="7150" cap="flat" cmpd="sng">
                      <a:solidFill>
                        <a:srgbClr val="000000"/>
                      </a:solidFill>
                      <a:prstDash val="solid"/>
                      <a:round/>
                      <a:headEnd type="none" w="sm" len="sm"/>
                      <a:tailEnd type="none" w="sm" len="sm"/>
                    </a:lnL>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2.90K</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18.32%</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543</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5.34</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6AA84F"/>
                          </a:solidFill>
                        </a:rPr>
                        <a:t>-0.11</a:t>
                      </a:r>
                      <a:endParaRPr sz="900" b="1">
                        <a:solidFill>
                          <a:srgbClr val="6AA84F"/>
                        </a:solidFill>
                      </a:endParaRPr>
                    </a:p>
                  </a:txBody>
                  <a:tcPr marL="28575" marR="28575" marT="19050" marB="19050" anchor="b">
                    <a:lnB w="71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b="1">
                          <a:solidFill>
                            <a:srgbClr val="6AA84F"/>
                          </a:solidFill>
                        </a:rPr>
                        <a:t>-3.27%</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5"/>
                  </a:ext>
                </a:extLst>
              </a:tr>
              <a:tr h="250950">
                <a:tc>
                  <a:txBody>
                    <a:bodyPr/>
                    <a:lstStyle/>
                    <a:p>
                      <a:pPr marL="0" lvl="0" indent="0" algn="l" rtl="0">
                        <a:lnSpc>
                          <a:spcPct val="115000"/>
                        </a:lnSpc>
                        <a:spcBef>
                          <a:spcPts val="0"/>
                        </a:spcBef>
                        <a:spcAft>
                          <a:spcPts val="0"/>
                        </a:spcAft>
                        <a:buNone/>
                      </a:pPr>
                      <a:r>
                        <a:rPr lang="en" sz="900" b="1"/>
                        <a:t>Total</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0.38M</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70.93K</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13.59%</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extLst>
                  <a:ext uri="{0D108BD9-81ED-4DB2-BD59-A6C34878D82A}">
                    <a16:rowId xmlns:a16="http://schemas.microsoft.com/office/drawing/2014/main" val="10006"/>
                  </a:ext>
                </a:extLst>
              </a:tr>
              <a:tr h="250950">
                <a:tc>
                  <a:txBody>
                    <a:bodyPr/>
                    <a:lstStyle/>
                    <a:p>
                      <a:pPr marL="0" lvl="0" indent="0" algn="l" rtl="0">
                        <a:lnSpc>
                          <a:spcPct val="115000"/>
                        </a:lnSpc>
                        <a:spcBef>
                          <a:spcPts val="0"/>
                        </a:spcBef>
                        <a:spcAft>
                          <a:spcPts val="0"/>
                        </a:spcAft>
                        <a:buNone/>
                      </a:pPr>
                      <a:r>
                        <a:rPr lang="en" sz="900"/>
                        <a:t>MoM (%)</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7.25%</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FF0000"/>
                          </a:solidFill>
                        </a:rPr>
                        <a:t>12.89%</a:t>
                      </a:r>
                      <a:endParaRPr sz="900" b="1">
                        <a:solidFill>
                          <a:srgbClr val="FF0000"/>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FF0000"/>
                          </a:solidFill>
                        </a:rPr>
                        <a:t>0.58%</a:t>
                      </a:r>
                      <a:endParaRPr sz="900" b="1">
                        <a:solidFill>
                          <a:srgbClr val="FF0000"/>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7"/>
                  </a:ext>
                </a:extLst>
              </a:tr>
              <a:tr h="250950">
                <a:tc>
                  <a:txBody>
                    <a:bodyPr/>
                    <a:lstStyle/>
                    <a:p>
                      <a:pPr marL="0" lvl="0" indent="0" algn="l" rtl="0">
                        <a:lnSpc>
                          <a:spcPct val="115000"/>
                        </a:lnSpc>
                        <a:spcBef>
                          <a:spcPts val="0"/>
                        </a:spcBef>
                        <a:spcAft>
                          <a:spcPts val="0"/>
                        </a:spcAft>
                        <a:buNone/>
                      </a:pPr>
                      <a:r>
                        <a:rPr lang="en" sz="900"/>
                        <a:t>MoM (Actual)</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25.44K</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FF0000"/>
                          </a:solidFill>
                        </a:rPr>
                        <a:t>8.10K</a:t>
                      </a:r>
                      <a:endParaRPr sz="900" b="1">
                        <a:solidFill>
                          <a:srgbClr val="FF0000"/>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8"/>
                  </a:ext>
                </a:extLst>
              </a:tr>
            </a:tbl>
          </a:graphicData>
        </a:graphic>
      </p:graphicFrame>
      <p:pic>
        <p:nvPicPr>
          <p:cNvPr id="758" name="Google Shape;758;p48" title="Chart"/>
          <p:cNvPicPr preferRelativeResize="0"/>
          <p:nvPr/>
        </p:nvPicPr>
        <p:blipFill rotWithShape="1">
          <a:blip r:embed="rId4">
            <a:alphaModFix/>
          </a:blip>
          <a:srcRect l="14669" r="7715"/>
          <a:stretch/>
        </p:blipFill>
        <p:spPr>
          <a:xfrm>
            <a:off x="5447800" y="859200"/>
            <a:ext cx="3476274" cy="27694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8FAFC"/>
        </a:solidFill>
        <a:effectLst/>
      </p:bgPr>
    </p:bg>
    <p:spTree>
      <p:nvGrpSpPr>
        <p:cNvPr id="1" name="Shape 763"/>
        <p:cNvGrpSpPr/>
        <p:nvPr/>
      </p:nvGrpSpPr>
      <p:grpSpPr>
        <a:xfrm>
          <a:off x="0" y="0"/>
          <a:ext cx="0" cy="0"/>
          <a:chOff x="0" y="0"/>
          <a:chExt cx="0" cy="0"/>
        </a:xfrm>
      </p:grpSpPr>
      <p:sp>
        <p:nvSpPr>
          <p:cNvPr id="764" name="Google Shape;764;p4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9"/>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766" name="Google Shape;766;p49"/>
          <p:cNvSpPr/>
          <p:nvPr/>
        </p:nvSpPr>
        <p:spPr>
          <a:xfrm>
            <a:off x="204600" y="4028575"/>
            <a:ext cx="8734800" cy="1088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9"/>
          <p:cNvSpPr/>
          <p:nvPr/>
        </p:nvSpPr>
        <p:spPr>
          <a:xfrm>
            <a:off x="204600" y="4052566"/>
            <a:ext cx="54900" cy="1040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9"/>
          <p:cNvSpPr txBox="1"/>
          <p:nvPr/>
        </p:nvSpPr>
        <p:spPr>
          <a:xfrm>
            <a:off x="319750" y="4028575"/>
            <a:ext cx="84324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7F32"/>
                </a:solidFill>
                <a:latin typeface="Lexend"/>
                <a:ea typeface="Lexend"/>
                <a:cs typeface="Lexend"/>
                <a:sym typeface="Lexend"/>
              </a:rPr>
              <a:t>INSIGHT: </a:t>
            </a:r>
            <a:endParaRPr sz="900">
              <a:solidFill>
                <a:srgbClr val="FF7F32"/>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a:t>
            </a:r>
            <a:r>
              <a:rPr lang="en" sz="900">
                <a:solidFill>
                  <a:srgbClr val="EF4444"/>
                </a:solidFill>
                <a:latin typeface="Lexend"/>
                <a:ea typeface="Lexend"/>
                <a:cs typeface="Lexend"/>
                <a:sym typeface="Lexend"/>
              </a:rPr>
              <a:t> </a:t>
            </a:r>
            <a:r>
              <a:rPr lang="en" sz="900" b="1">
                <a:solidFill>
                  <a:srgbClr val="EF4444"/>
                </a:solidFill>
                <a:latin typeface="Lexend"/>
                <a:ea typeface="Lexend"/>
                <a:cs typeface="Lexend"/>
                <a:sym typeface="Lexend"/>
              </a:rPr>
              <a:t>CR WoW tăng mạnh nhất 5.6% ở nhánh DV Shopee, </a:t>
            </a:r>
            <a:r>
              <a:rPr lang="en" sz="900">
                <a:solidFill>
                  <a:schemeClr val="dk1"/>
                </a:solidFill>
                <a:latin typeface="Lexend"/>
                <a:ea typeface="Lexend"/>
                <a:cs typeface="Lexend"/>
                <a:sym typeface="Lexend"/>
              </a:rPr>
              <a:t>chủ yếu do tác động từ Spe_reverse</a:t>
            </a:r>
            <a:br>
              <a:rPr lang="en" sz="900">
                <a:solidFill>
                  <a:schemeClr val="dk1"/>
                </a:solidFill>
                <a:latin typeface="Lexend"/>
                <a:ea typeface="Lexend"/>
                <a:cs typeface="Lexend"/>
                <a:sym typeface="Lexend"/>
              </a:rPr>
            </a:br>
            <a:r>
              <a:rPr lang="en" sz="900">
                <a:solidFill>
                  <a:schemeClr val="dk1"/>
                </a:solidFill>
                <a:latin typeface="Lexend"/>
                <a:ea typeface="Lexend"/>
                <a:cs typeface="Lexend"/>
                <a:sym typeface="Lexend"/>
              </a:rPr>
              <a:t>- DV Spe_reverse tăng số đơn hủy actual đột biến, ở cả nhánh poc và non-poc (TX Hub noise riêng việc đơn đã được SPX nhận trước)</a:t>
            </a:r>
            <a:br>
              <a:rPr lang="en" sz="900">
                <a:solidFill>
                  <a:schemeClr val="dk1"/>
                </a:solidFill>
                <a:latin typeface="Lexend"/>
                <a:ea typeface="Lexend"/>
                <a:cs typeface="Lexend"/>
                <a:sym typeface="Lexend"/>
              </a:rPr>
            </a:br>
            <a:br>
              <a:rPr lang="en" sz="900">
                <a:solidFill>
                  <a:schemeClr val="dk1"/>
                </a:solidFill>
                <a:latin typeface="Lexend"/>
                <a:ea typeface="Lexend"/>
                <a:cs typeface="Lexend"/>
                <a:sym typeface="Lexend"/>
              </a:rPr>
            </a:br>
            <a:r>
              <a:rPr lang="en" sz="900">
                <a:solidFill>
                  <a:srgbClr val="FF7F32"/>
                </a:solidFill>
                <a:latin typeface="Lexend"/>
                <a:ea typeface="Lexend"/>
                <a:cs typeface="Lexend"/>
                <a:sym typeface="Lexend"/>
              </a:rPr>
              <a:t>NEXT ACTION: </a:t>
            </a:r>
            <a:endParaRPr sz="900">
              <a:solidFill>
                <a:srgbClr val="FF7F32"/>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Đề xuất chỉ REC đơn với partner spe_reverse </a:t>
            </a:r>
            <a:endParaRPr sz="900">
              <a:solidFill>
                <a:schemeClr val="dk1"/>
              </a:solidFill>
              <a:latin typeface="Lexend"/>
              <a:ea typeface="Lexend"/>
              <a:cs typeface="Lexend"/>
              <a:sym typeface="Lexend"/>
            </a:endParaRPr>
          </a:p>
        </p:txBody>
      </p:sp>
      <p:sp>
        <p:nvSpPr>
          <p:cNvPr id="769" name="Google Shape;769;p49"/>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Cancel Rate </a:t>
            </a:r>
            <a:r>
              <a:rPr lang="en" sz="2200" b="1">
                <a:solidFill>
                  <a:srgbClr val="0E4174"/>
                </a:solidFill>
                <a:latin typeface="Lexend"/>
                <a:ea typeface="Lexend"/>
                <a:cs typeface="Lexend"/>
                <a:sym typeface="Lexend"/>
              </a:rPr>
              <a:t>by Service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770" name="Google Shape;770;p49"/>
          <p:cNvSpPr/>
          <p:nvPr/>
        </p:nvSpPr>
        <p:spPr>
          <a:xfrm>
            <a:off x="218722" y="661749"/>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 by Service - All Segment</a:t>
            </a:r>
            <a:endParaRPr sz="1100" b="1" i="0" u="none" strike="noStrike" cap="none">
              <a:solidFill>
                <a:schemeClr val="dk1"/>
              </a:solidFill>
              <a:latin typeface="Lexend"/>
              <a:ea typeface="Lexend"/>
              <a:cs typeface="Lexend"/>
              <a:sym typeface="Lexend"/>
            </a:endParaRPr>
          </a:p>
        </p:txBody>
      </p:sp>
      <p:sp>
        <p:nvSpPr>
          <p:cNvPr id="771" name="Google Shape;771;p49"/>
          <p:cNvSpPr/>
          <p:nvPr/>
        </p:nvSpPr>
        <p:spPr>
          <a:xfrm>
            <a:off x="4330373" y="612774"/>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Cancel comment DV </a:t>
            </a:r>
            <a:r>
              <a:rPr lang="en" sz="1100" b="1">
                <a:solidFill>
                  <a:srgbClr val="F56C1F"/>
                </a:solidFill>
                <a:latin typeface="Lexend"/>
                <a:ea typeface="Lexend"/>
                <a:cs typeface="Lexend"/>
                <a:sym typeface="Lexend"/>
              </a:rPr>
              <a:t>Spe_Reverse</a:t>
            </a:r>
            <a:endParaRPr sz="1100" b="1" i="0" u="none" strike="noStrike" cap="none">
              <a:solidFill>
                <a:srgbClr val="F56C1F"/>
              </a:solidFill>
              <a:latin typeface="Lexend"/>
              <a:ea typeface="Lexend"/>
              <a:cs typeface="Lexend"/>
              <a:sym typeface="Lexend"/>
            </a:endParaRPr>
          </a:p>
        </p:txBody>
      </p:sp>
      <p:graphicFrame>
        <p:nvGraphicFramePr>
          <p:cNvPr id="772" name="Google Shape;772;p49"/>
          <p:cNvGraphicFramePr/>
          <p:nvPr/>
        </p:nvGraphicFramePr>
        <p:xfrm>
          <a:off x="218625" y="945850"/>
          <a:ext cx="3000000" cy="3000000"/>
        </p:xfrm>
        <a:graphic>
          <a:graphicData uri="http://schemas.openxmlformats.org/drawingml/2006/table">
            <a:tbl>
              <a:tblPr>
                <a:noFill/>
                <a:tableStyleId>{1B6E03F7-A7B3-402D-A52F-665CEB5CA1F2}</a:tableStyleId>
              </a:tblPr>
              <a:tblGrid>
                <a:gridCol w="742700">
                  <a:extLst>
                    <a:ext uri="{9D8B030D-6E8A-4147-A177-3AD203B41FA5}">
                      <a16:colId xmlns:a16="http://schemas.microsoft.com/office/drawing/2014/main" val="20000"/>
                    </a:ext>
                  </a:extLst>
                </a:gridCol>
                <a:gridCol w="486600">
                  <a:extLst>
                    <a:ext uri="{9D8B030D-6E8A-4147-A177-3AD203B41FA5}">
                      <a16:colId xmlns:a16="http://schemas.microsoft.com/office/drawing/2014/main" val="20001"/>
                    </a:ext>
                  </a:extLst>
                </a:gridCol>
                <a:gridCol w="486600">
                  <a:extLst>
                    <a:ext uri="{9D8B030D-6E8A-4147-A177-3AD203B41FA5}">
                      <a16:colId xmlns:a16="http://schemas.microsoft.com/office/drawing/2014/main" val="20002"/>
                    </a:ext>
                  </a:extLst>
                </a:gridCol>
                <a:gridCol w="486600">
                  <a:extLst>
                    <a:ext uri="{9D8B030D-6E8A-4147-A177-3AD203B41FA5}">
                      <a16:colId xmlns:a16="http://schemas.microsoft.com/office/drawing/2014/main" val="20003"/>
                    </a:ext>
                  </a:extLst>
                </a:gridCol>
                <a:gridCol w="486600">
                  <a:extLst>
                    <a:ext uri="{9D8B030D-6E8A-4147-A177-3AD203B41FA5}">
                      <a16:colId xmlns:a16="http://schemas.microsoft.com/office/drawing/2014/main" val="20004"/>
                    </a:ext>
                  </a:extLst>
                </a:gridCol>
                <a:gridCol w="580525">
                  <a:extLst>
                    <a:ext uri="{9D8B030D-6E8A-4147-A177-3AD203B41FA5}">
                      <a16:colId xmlns:a16="http://schemas.microsoft.com/office/drawing/2014/main" val="20005"/>
                    </a:ext>
                  </a:extLst>
                </a:gridCol>
                <a:gridCol w="717125">
                  <a:extLst>
                    <a:ext uri="{9D8B030D-6E8A-4147-A177-3AD203B41FA5}">
                      <a16:colId xmlns:a16="http://schemas.microsoft.com/office/drawing/2014/main" val="20006"/>
                    </a:ext>
                  </a:extLst>
                </a:gridCol>
              </a:tblGrid>
              <a:tr h="200025">
                <a:tc>
                  <a:txBody>
                    <a:bodyPr/>
                    <a:lstStyle/>
                    <a:p>
                      <a:pPr marL="0" lvl="0" indent="0" algn="l" rtl="0">
                        <a:spcBef>
                          <a:spcPts val="0"/>
                        </a:spcBef>
                        <a:spcAft>
                          <a:spcPts val="0"/>
                        </a:spcAft>
                        <a:buNone/>
                      </a:pPr>
                      <a:endParaRPr/>
                    </a:p>
                  </a:txBody>
                  <a:tcPr marL="28575" marR="28575" marT="19050" marB="19050">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1h</a:t>
                      </a:r>
                      <a:endParaRPr sz="900">
                        <a:solidFill>
                          <a:srgbClr val="FFFFFF"/>
                        </a:solidFill>
                        <a:latin typeface="Lexend"/>
                        <a:ea typeface="Lexend"/>
                        <a:cs typeface="Lexend"/>
                        <a:sym typeface="Lexend"/>
                      </a:endParaRPr>
                    </a:p>
                  </a:txBody>
                  <a:tcPr marL="28575" marR="28575" marT="19050" marB="19050" anchor="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2h</a:t>
                      </a:r>
                      <a:endParaRPr sz="900">
                        <a:solidFill>
                          <a:srgbClr val="FFFFFF"/>
                        </a:solidFill>
                        <a:latin typeface="Lexend"/>
                        <a:ea typeface="Lexend"/>
                        <a:cs typeface="Lexend"/>
                        <a:sym typeface="Lexend"/>
                      </a:endParaRPr>
                    </a:p>
                  </a:txBody>
                  <a:tcPr marL="28575" marR="28575" marT="19050" marB="19050" anchor="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4h</a:t>
                      </a:r>
                      <a:endParaRPr sz="900">
                        <a:solidFill>
                          <a:srgbClr val="FFFFFF"/>
                        </a:solidFill>
                        <a:latin typeface="Lexend"/>
                        <a:ea typeface="Lexend"/>
                        <a:cs typeface="Lexend"/>
                        <a:sym typeface="Lexend"/>
                      </a:endParaRPr>
                    </a:p>
                  </a:txBody>
                  <a:tcPr marL="28575" marR="28575" marT="19050" marB="19050" anchor="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bulky</a:t>
                      </a:r>
                      <a:endParaRPr sz="900">
                        <a:solidFill>
                          <a:srgbClr val="FFFFFF"/>
                        </a:solidFill>
                        <a:latin typeface="Lexend"/>
                        <a:ea typeface="Lexend"/>
                        <a:cs typeface="Lexend"/>
                        <a:sym typeface="Lexend"/>
                      </a:endParaRPr>
                    </a:p>
                  </a:txBody>
                  <a:tcPr marL="28575" marR="28575" marT="19050" marB="19050" anchor="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shopee</a:t>
                      </a:r>
                      <a:endParaRPr sz="900">
                        <a:solidFill>
                          <a:srgbClr val="FFFFFF"/>
                        </a:solidFill>
                        <a:latin typeface="Lexend"/>
                        <a:ea typeface="Lexend"/>
                        <a:cs typeface="Lexend"/>
                        <a:sym typeface="Lexend"/>
                      </a:endParaRPr>
                    </a:p>
                  </a:txBody>
                  <a:tcPr marL="28575" marR="28575" marT="19050" marB="19050" anchor="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tiktok</a:t>
                      </a:r>
                      <a:endParaRPr sz="900">
                        <a:solidFill>
                          <a:srgbClr val="FFFFFF"/>
                        </a:solidFill>
                        <a:latin typeface="Lexend"/>
                        <a:ea typeface="Lexend"/>
                        <a:cs typeface="Lexend"/>
                        <a:sym typeface="Lexend"/>
                      </a:endParaRPr>
                    </a:p>
                  </a:txBody>
                  <a:tcPr marL="28575" marR="28575" marT="19050" marB="19050" anchor="b">
                    <a:solidFill>
                      <a:srgbClr val="073763"/>
                    </a:solidFill>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900">
                          <a:solidFill>
                            <a:srgbClr val="1E293B"/>
                          </a:solidFill>
                          <a:latin typeface="Lexend"/>
                          <a:ea typeface="Lexend"/>
                          <a:cs typeface="Lexend"/>
                          <a:sym typeface="Lexend"/>
                        </a:rPr>
                        <a:t>CR</a:t>
                      </a:r>
                      <a:endParaRPr sz="900">
                        <a:solidFill>
                          <a:srgbClr val="1E293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10.80%</a:t>
                      </a:r>
                      <a:endParaRPr sz="900" b="1">
                        <a:solidFill>
                          <a:srgbClr val="64748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30.45%</a:t>
                      </a:r>
                      <a:endParaRPr sz="900" b="1">
                        <a:solidFill>
                          <a:srgbClr val="64748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13.70%</a:t>
                      </a:r>
                      <a:endParaRPr sz="900" b="1">
                        <a:solidFill>
                          <a:srgbClr val="64748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26.69%</a:t>
                      </a:r>
                      <a:endParaRPr sz="900" b="1">
                        <a:solidFill>
                          <a:srgbClr val="64748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37.61%</a:t>
                      </a:r>
                      <a:endParaRPr sz="900" b="1">
                        <a:solidFill>
                          <a:srgbClr val="64748B"/>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4748B"/>
                          </a:solidFill>
                          <a:latin typeface="Lexend"/>
                          <a:ea typeface="Lexend"/>
                          <a:cs typeface="Lexend"/>
                          <a:sym typeface="Lexend"/>
                        </a:rPr>
                        <a:t>24.87%</a:t>
                      </a:r>
                      <a:endParaRPr sz="900" b="1">
                        <a:solidFill>
                          <a:srgbClr val="64748B"/>
                        </a:solidFill>
                        <a:latin typeface="Lexend"/>
                        <a:ea typeface="Lexend"/>
                        <a:cs typeface="Lexend"/>
                        <a:sym typeface="Lexend"/>
                      </a:endParaRPr>
                    </a:p>
                  </a:txBody>
                  <a:tcPr marL="28575" marR="28575" marT="19050" marB="19050" anchor="b"/>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900">
                          <a:solidFill>
                            <a:srgbClr val="0E4174"/>
                          </a:solidFill>
                          <a:latin typeface="Lexend"/>
                          <a:ea typeface="Lexend"/>
                          <a:cs typeface="Lexend"/>
                          <a:sym typeface="Lexend"/>
                        </a:rPr>
                        <a:t>WoW (%)</a:t>
                      </a:r>
                      <a:endParaRPr sz="900">
                        <a:solidFill>
                          <a:srgbClr val="0E4174"/>
                        </a:solidFill>
                        <a:latin typeface="Lexend"/>
                        <a:ea typeface="Lexend"/>
                        <a:cs typeface="Lexend"/>
                        <a:sym typeface="Lexend"/>
                      </a:endParaRPr>
                    </a:p>
                  </a:txBody>
                  <a:tcPr marL="28575" marR="28575" marT="19050" marB="19050" anchor="b"/>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0.2%</a:t>
                      </a:r>
                      <a:endParaRPr sz="900">
                        <a:latin typeface="Lexend"/>
                        <a:ea typeface="Lexend"/>
                        <a:cs typeface="Lexend"/>
                        <a:sym typeface="Lexend"/>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1.6%</a:t>
                      </a:r>
                      <a:endParaRPr sz="900">
                        <a:latin typeface="Lexend"/>
                        <a:ea typeface="Lexend"/>
                        <a:cs typeface="Lexend"/>
                        <a:sym typeface="Lexend"/>
                      </a:endParaRPr>
                    </a:p>
                  </a:txBody>
                  <a:tcPr marL="28575" marR="28575" marT="19050" marB="19050" anchor="b">
                    <a:solidFill>
                      <a:srgbClr val="F9DEDC"/>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1.6%</a:t>
                      </a:r>
                      <a:endParaRPr sz="900">
                        <a:latin typeface="Lexend"/>
                        <a:ea typeface="Lexend"/>
                        <a:cs typeface="Lexend"/>
                        <a:sym typeface="Lexend"/>
                      </a:endParaRPr>
                    </a:p>
                  </a:txBody>
                  <a:tcPr marL="28575" marR="28575" marT="19050" marB="19050" anchor="b">
                    <a:solidFill>
                      <a:srgbClr val="F9DDDA"/>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3.7%</a:t>
                      </a:r>
                      <a:endParaRPr sz="900">
                        <a:latin typeface="Lexend"/>
                        <a:ea typeface="Lexend"/>
                        <a:cs typeface="Lexend"/>
                        <a:sym typeface="Lexend"/>
                      </a:endParaRPr>
                    </a:p>
                  </a:txBody>
                  <a:tcPr marL="28575" marR="28575" marT="19050" marB="19050" anchor="b">
                    <a:solidFill>
                      <a:srgbClr val="EFABA5"/>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5.6%</a:t>
                      </a:r>
                      <a:endParaRPr sz="900">
                        <a:latin typeface="Lexend"/>
                        <a:ea typeface="Lexend"/>
                        <a:cs typeface="Lexend"/>
                        <a:sym typeface="Lexend"/>
                      </a:endParaRPr>
                    </a:p>
                  </a:txBody>
                  <a:tcPr marL="28575" marR="28575" marT="19050" marB="19050" anchor="b">
                    <a:solidFill>
                      <a:srgbClr val="E67C73"/>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0.6%</a:t>
                      </a:r>
                      <a:endParaRPr sz="900">
                        <a:latin typeface="Lexend"/>
                        <a:ea typeface="Lexend"/>
                        <a:cs typeface="Lexend"/>
                        <a:sym typeface="Lexend"/>
                      </a:endParaRPr>
                    </a:p>
                  </a:txBody>
                  <a:tcPr marL="28575" marR="28575" marT="19050" marB="19050" anchor="b">
                    <a:solidFill>
                      <a:srgbClr val="FEF7F6"/>
                    </a:solidFill>
                  </a:tcPr>
                </a:tc>
                <a:extLst>
                  <a:ext uri="{0D108BD9-81ED-4DB2-BD59-A6C34878D82A}">
                    <a16:rowId xmlns:a16="http://schemas.microsoft.com/office/drawing/2014/main" val="10002"/>
                  </a:ext>
                </a:extLst>
              </a:tr>
            </a:tbl>
          </a:graphicData>
        </a:graphic>
      </p:graphicFrame>
      <p:sp>
        <p:nvSpPr>
          <p:cNvPr id="773" name="Google Shape;773;p49"/>
          <p:cNvSpPr/>
          <p:nvPr/>
        </p:nvSpPr>
        <p:spPr>
          <a:xfrm>
            <a:off x="218772" y="1824724"/>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 by Service - </a:t>
            </a:r>
            <a:r>
              <a:rPr lang="en" sz="1100" b="1">
                <a:solidFill>
                  <a:srgbClr val="FF6600"/>
                </a:solidFill>
                <a:latin typeface="Lexend"/>
                <a:ea typeface="Lexend"/>
                <a:cs typeface="Lexend"/>
                <a:sym typeface="Lexend"/>
              </a:rPr>
              <a:t>Partner SPE xét riêng Spe_reverse</a:t>
            </a:r>
            <a:endParaRPr sz="1100" b="1" i="0" u="none" strike="noStrike" cap="none">
              <a:solidFill>
                <a:srgbClr val="FF6600"/>
              </a:solidFill>
              <a:latin typeface="Lexend"/>
              <a:ea typeface="Lexend"/>
              <a:cs typeface="Lexend"/>
              <a:sym typeface="Lexend"/>
            </a:endParaRPr>
          </a:p>
        </p:txBody>
      </p:sp>
      <p:pic>
        <p:nvPicPr>
          <p:cNvPr id="774" name="Google Shape;774;p49" descr="preencoded.png"/>
          <p:cNvPicPr preferRelativeResize="0"/>
          <p:nvPr/>
        </p:nvPicPr>
        <p:blipFill rotWithShape="1">
          <a:blip r:embed="rId3">
            <a:alphaModFix/>
          </a:blip>
          <a:srcRect/>
          <a:stretch/>
        </p:blipFill>
        <p:spPr>
          <a:xfrm>
            <a:off x="372810" y="269808"/>
            <a:ext cx="274320" cy="274320"/>
          </a:xfrm>
          <a:prstGeom prst="rect">
            <a:avLst/>
          </a:prstGeom>
          <a:noFill/>
          <a:ln>
            <a:noFill/>
          </a:ln>
        </p:spPr>
      </p:pic>
      <p:pic>
        <p:nvPicPr>
          <p:cNvPr id="775" name="Google Shape;775;p49"/>
          <p:cNvPicPr preferRelativeResize="0"/>
          <p:nvPr/>
        </p:nvPicPr>
        <p:blipFill>
          <a:blip r:embed="rId4">
            <a:alphaModFix/>
          </a:blip>
          <a:stretch>
            <a:fillRect/>
          </a:stretch>
        </p:blipFill>
        <p:spPr>
          <a:xfrm>
            <a:off x="4381075" y="918773"/>
            <a:ext cx="4604649" cy="2351900"/>
          </a:xfrm>
          <a:prstGeom prst="rect">
            <a:avLst/>
          </a:prstGeom>
          <a:noFill/>
          <a:ln>
            <a:noFill/>
          </a:ln>
        </p:spPr>
      </p:pic>
      <p:pic>
        <p:nvPicPr>
          <p:cNvPr id="776" name="Google Shape;776;p49"/>
          <p:cNvPicPr preferRelativeResize="0"/>
          <p:nvPr/>
        </p:nvPicPr>
        <p:blipFill>
          <a:blip r:embed="rId5">
            <a:alphaModFix/>
          </a:blip>
          <a:stretch>
            <a:fillRect/>
          </a:stretch>
        </p:blipFill>
        <p:spPr>
          <a:xfrm>
            <a:off x="259500" y="2080625"/>
            <a:ext cx="4032626" cy="1721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8FAFC"/>
        </a:solidFill>
        <a:effectLst/>
      </p:bgPr>
    </p:bg>
    <p:spTree>
      <p:nvGrpSpPr>
        <p:cNvPr id="1" name="Shape 781"/>
        <p:cNvGrpSpPr/>
        <p:nvPr/>
      </p:nvGrpSpPr>
      <p:grpSpPr>
        <a:xfrm>
          <a:off x="0" y="0"/>
          <a:ext cx="0" cy="0"/>
          <a:chOff x="0" y="0"/>
          <a:chExt cx="0" cy="0"/>
        </a:xfrm>
      </p:grpSpPr>
      <p:sp>
        <p:nvSpPr>
          <p:cNvPr id="782" name="Google Shape;782;p5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3" name="Google Shape;783;p50"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784" name="Google Shape;784;p50"/>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Cancel Rate &amp; LCD - </a:t>
            </a:r>
            <a:r>
              <a:rPr lang="en" sz="2200" b="1">
                <a:solidFill>
                  <a:srgbClr val="F56C1F"/>
                </a:solidFill>
                <a:highlight>
                  <a:schemeClr val="lt1"/>
                </a:highlight>
                <a:latin typeface="Lexend"/>
                <a:ea typeface="Lexend"/>
                <a:cs typeface="Lexend"/>
                <a:sym typeface="Lexend"/>
              </a:rPr>
              <a:t>SGN</a:t>
            </a:r>
            <a:endParaRPr sz="2200" b="1" i="0" u="none" strike="noStrike" cap="none">
              <a:solidFill>
                <a:srgbClr val="F56C1F"/>
              </a:solidFill>
              <a:highlight>
                <a:schemeClr val="lt1"/>
              </a:highlight>
              <a:latin typeface="Lexend"/>
              <a:ea typeface="Lexend"/>
              <a:cs typeface="Lexend"/>
              <a:sym typeface="Lexend"/>
            </a:endParaRPr>
          </a:p>
        </p:txBody>
      </p:sp>
      <p:sp>
        <p:nvSpPr>
          <p:cNvPr id="785" name="Google Shape;785;p50"/>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Phân tích tỷ lệ hủy &amp; La</a:t>
            </a:r>
            <a:r>
              <a:rPr lang="en" sz="1000" i="1">
                <a:solidFill>
                  <a:srgbClr val="64748B"/>
                </a:solidFill>
                <a:latin typeface="Lexend"/>
                <a:ea typeface="Lexend"/>
                <a:cs typeface="Lexend"/>
                <a:sym typeface="Lexend"/>
              </a:rPr>
              <a:t>st</a:t>
            </a:r>
            <a:r>
              <a:rPr lang="en" sz="1000" i="1" u="none" strike="noStrike" cap="none">
                <a:solidFill>
                  <a:srgbClr val="64748B"/>
                </a:solidFill>
                <a:latin typeface="Lexend"/>
                <a:ea typeface="Lexend"/>
                <a:cs typeface="Lexend"/>
                <a:sym typeface="Lexend"/>
              </a:rPr>
              <a:t> Cancel — theo khu vực, segment, </a:t>
            </a:r>
            <a:r>
              <a:rPr lang="en" sz="1000" i="1">
                <a:solidFill>
                  <a:srgbClr val="64748B"/>
                </a:solidFill>
                <a:latin typeface="Lexend"/>
                <a:ea typeface="Lexend"/>
                <a:cs typeface="Lexend"/>
                <a:sym typeface="Lexend"/>
              </a:rPr>
              <a:t>services</a:t>
            </a:r>
            <a:endParaRPr sz="1000" i="0" u="none" strike="noStrike" cap="none">
              <a:solidFill>
                <a:schemeClr val="dk1"/>
              </a:solidFill>
              <a:latin typeface="Lexend"/>
              <a:ea typeface="Lexend"/>
              <a:cs typeface="Lexend"/>
              <a:sym typeface="Lexend"/>
            </a:endParaRPr>
          </a:p>
        </p:txBody>
      </p:sp>
      <p:cxnSp>
        <p:nvCxnSpPr>
          <p:cNvPr id="786" name="Google Shape;786;p50"/>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87" name="Google Shape;787;p50"/>
          <p:cNvSpPr/>
          <p:nvPr/>
        </p:nvSpPr>
        <p:spPr>
          <a:xfrm>
            <a:off x="55400" y="3230775"/>
            <a:ext cx="4168200" cy="1842900"/>
          </a:xfrm>
          <a:prstGeom prst="rect">
            <a:avLst/>
          </a:prstGeom>
          <a:solidFill>
            <a:srgbClr val="FFFFFF"/>
          </a:solidFill>
          <a:ln w="10450" cap="flat" cmpd="sng">
            <a:solidFill>
              <a:srgbClr val="E2E8F0"/>
            </a:solidFill>
            <a:prstDash val="solid"/>
            <a:round/>
            <a:headEnd type="none" w="sm" len="sm"/>
            <a:tailEnd type="none" w="sm" len="sm"/>
          </a:ln>
          <a:effectLst>
            <a:outerShdw blurRad="83594" dist="27865" dir="8100000" algn="bl" rotWithShape="0">
              <a:srgbClr val="000000">
                <a:alpha val="10200"/>
              </a:srgbClr>
            </a:outerShdw>
          </a:effectLst>
        </p:spPr>
        <p:txBody>
          <a:bodyPr spcFirstLastPara="1" wrap="square" lIns="100300" tIns="100300" rIns="100300" bIns="100300" anchor="ctr" anchorCtr="0">
            <a:noAutofit/>
          </a:bodyPr>
          <a:lstStyle/>
          <a:p>
            <a:pPr marL="0" lvl="0" indent="0" algn="l" rtl="0">
              <a:spcBef>
                <a:spcPts val="0"/>
              </a:spcBef>
              <a:spcAft>
                <a:spcPts val="0"/>
              </a:spcAft>
              <a:buNone/>
            </a:pPr>
            <a:endParaRPr sz="1536"/>
          </a:p>
        </p:txBody>
      </p:sp>
      <p:sp>
        <p:nvSpPr>
          <p:cNvPr id="788" name="Google Shape;788;p50"/>
          <p:cNvSpPr/>
          <p:nvPr/>
        </p:nvSpPr>
        <p:spPr>
          <a:xfrm flipH="1">
            <a:off x="54875" y="3230825"/>
            <a:ext cx="91200" cy="1842900"/>
          </a:xfrm>
          <a:prstGeom prst="rect">
            <a:avLst/>
          </a:prstGeom>
          <a:solidFill>
            <a:srgbClr val="EF4444"/>
          </a:solidFill>
          <a:ln>
            <a:noFill/>
          </a:ln>
        </p:spPr>
        <p:txBody>
          <a:bodyPr spcFirstLastPara="1" wrap="square" lIns="100300" tIns="100300" rIns="100300" bIns="100300" anchor="ctr" anchorCtr="0">
            <a:noAutofit/>
          </a:bodyPr>
          <a:lstStyle/>
          <a:p>
            <a:pPr marL="0" lvl="0" indent="0" algn="l" rtl="0">
              <a:spcBef>
                <a:spcPts val="0"/>
              </a:spcBef>
              <a:spcAft>
                <a:spcPts val="0"/>
              </a:spcAft>
              <a:buNone/>
            </a:pPr>
            <a:endParaRPr sz="1536"/>
          </a:p>
        </p:txBody>
      </p:sp>
      <p:pic>
        <p:nvPicPr>
          <p:cNvPr id="789" name="Google Shape;789;p50" descr="preencoded.png"/>
          <p:cNvPicPr preferRelativeResize="0"/>
          <p:nvPr/>
        </p:nvPicPr>
        <p:blipFill rotWithShape="1">
          <a:blip r:embed="rId4">
            <a:alphaModFix/>
          </a:blip>
          <a:srcRect/>
          <a:stretch/>
        </p:blipFill>
        <p:spPr>
          <a:xfrm>
            <a:off x="173658" y="3240805"/>
            <a:ext cx="230890" cy="230890"/>
          </a:xfrm>
          <a:prstGeom prst="rect">
            <a:avLst/>
          </a:prstGeom>
          <a:noFill/>
          <a:ln>
            <a:noFill/>
          </a:ln>
        </p:spPr>
      </p:pic>
      <p:sp>
        <p:nvSpPr>
          <p:cNvPr id="790" name="Google Shape;790;p50"/>
          <p:cNvSpPr/>
          <p:nvPr/>
        </p:nvSpPr>
        <p:spPr>
          <a:xfrm>
            <a:off x="404550" y="3205098"/>
            <a:ext cx="2175300" cy="345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7"/>
              <a:buFont typeface="Calibri"/>
              <a:buNone/>
            </a:pPr>
            <a:r>
              <a:rPr lang="en" sz="1207" i="0" u="none" strike="noStrike" cap="none">
                <a:solidFill>
                  <a:srgbClr val="EF4444"/>
                </a:solidFill>
                <a:latin typeface="Lexend"/>
                <a:ea typeface="Lexend"/>
                <a:cs typeface="Lexend"/>
                <a:sym typeface="Lexend"/>
              </a:rPr>
              <a:t>INSIGHT &amp; ROOT CAUSE</a:t>
            </a:r>
            <a:endParaRPr sz="1207" i="0" u="none" strike="noStrike" cap="none">
              <a:solidFill>
                <a:schemeClr val="dk1"/>
              </a:solidFill>
              <a:latin typeface="Lexend"/>
              <a:ea typeface="Lexend"/>
              <a:cs typeface="Lexend"/>
              <a:sym typeface="Lexend"/>
            </a:endParaRPr>
          </a:p>
        </p:txBody>
      </p:sp>
      <p:sp>
        <p:nvSpPr>
          <p:cNvPr id="791" name="Google Shape;791;p50"/>
          <p:cNvSpPr/>
          <p:nvPr/>
        </p:nvSpPr>
        <p:spPr>
          <a:xfrm>
            <a:off x="146075" y="3478375"/>
            <a:ext cx="3986700" cy="1595400"/>
          </a:xfrm>
          <a:prstGeom prst="rect">
            <a:avLst/>
          </a:prstGeom>
          <a:noFill/>
          <a:ln>
            <a:noFill/>
          </a:ln>
        </p:spPr>
        <p:txBody>
          <a:bodyPr spcFirstLastPara="1" wrap="square" lIns="0" tIns="0" rIns="0" bIns="0" anchor="ctr" anchorCtr="0">
            <a:noAutofit/>
          </a:bodyPr>
          <a:lstStyle/>
          <a:p>
            <a:pPr marL="0" lvl="0" indent="0" algn="l" rtl="0">
              <a:spcBef>
                <a:spcPts val="329"/>
              </a:spcBef>
              <a:spcAft>
                <a:spcPts val="0"/>
              </a:spcAft>
              <a:buNone/>
            </a:pPr>
            <a:r>
              <a:rPr lang="en" sz="800">
                <a:solidFill>
                  <a:schemeClr val="dk1"/>
                </a:solidFill>
                <a:latin typeface="Lexend"/>
                <a:ea typeface="Lexend"/>
                <a:cs typeface="Lexend"/>
                <a:sym typeface="Lexend"/>
              </a:rPr>
              <a:t>- </a:t>
            </a:r>
            <a:endParaRPr sz="800">
              <a:solidFill>
                <a:schemeClr val="dk1"/>
              </a:solidFill>
              <a:latin typeface="Lexend"/>
              <a:ea typeface="Lexend"/>
              <a:cs typeface="Lexend"/>
              <a:sym typeface="Lexend"/>
            </a:endParaRPr>
          </a:p>
        </p:txBody>
      </p:sp>
      <p:sp>
        <p:nvSpPr>
          <p:cNvPr id="792" name="Google Shape;792;p5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793" name="Google Shape;793;p50"/>
          <p:cNvSpPr/>
          <p:nvPr/>
        </p:nvSpPr>
        <p:spPr>
          <a:xfrm>
            <a:off x="112306" y="877050"/>
            <a:ext cx="2254500" cy="25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1100"/>
              <a:buFont typeface="Calibri"/>
              <a:buNone/>
            </a:pPr>
            <a:r>
              <a:rPr lang="en" sz="900" b="1">
                <a:solidFill>
                  <a:srgbClr val="0E4174"/>
                </a:solidFill>
                <a:latin typeface="Lexend"/>
                <a:ea typeface="Lexend"/>
                <a:cs typeface="Lexend"/>
                <a:sym typeface="Lexend"/>
              </a:rPr>
              <a:t>Overview CR </a:t>
            </a:r>
            <a:r>
              <a:rPr lang="en" sz="900" b="1">
                <a:solidFill>
                  <a:srgbClr val="9E9E9E"/>
                </a:solidFill>
                <a:latin typeface="Lexend"/>
                <a:ea typeface="Lexend"/>
                <a:cs typeface="Lexend"/>
                <a:sym typeface="Lexend"/>
              </a:rPr>
              <a:t>(Rule PoC)</a:t>
            </a:r>
            <a:r>
              <a:rPr lang="en" sz="900" b="1">
                <a:solidFill>
                  <a:srgbClr val="0E4174"/>
                </a:solidFill>
                <a:latin typeface="Lexend"/>
                <a:ea typeface="Lexend"/>
                <a:cs typeface="Lexend"/>
                <a:sym typeface="Lexend"/>
              </a:rPr>
              <a:t> by Segment</a:t>
            </a:r>
            <a:endParaRPr sz="700" b="1">
              <a:solidFill>
                <a:srgbClr val="0E4174"/>
              </a:solidFill>
              <a:latin typeface="Lexend"/>
              <a:ea typeface="Lexend"/>
              <a:cs typeface="Lexend"/>
              <a:sym typeface="Lexend"/>
            </a:endParaRPr>
          </a:p>
        </p:txBody>
      </p:sp>
      <p:sp>
        <p:nvSpPr>
          <p:cNvPr id="794" name="Google Shape;794;p50"/>
          <p:cNvSpPr/>
          <p:nvPr/>
        </p:nvSpPr>
        <p:spPr>
          <a:xfrm>
            <a:off x="4342130" y="2345774"/>
            <a:ext cx="1930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000" b="1">
                <a:solidFill>
                  <a:srgbClr val="0E4174"/>
                </a:solidFill>
                <a:latin typeface="Lexend"/>
                <a:ea typeface="Lexend"/>
                <a:cs typeface="Lexend"/>
                <a:sym typeface="Lexend"/>
              </a:rPr>
              <a:t>Cancel_reason</a:t>
            </a:r>
            <a:endParaRPr sz="1000" b="1" i="0" u="none" strike="noStrike" cap="none">
              <a:solidFill>
                <a:schemeClr val="dk1"/>
              </a:solidFill>
              <a:latin typeface="Lexend"/>
              <a:ea typeface="Lexend"/>
              <a:cs typeface="Lexend"/>
              <a:sym typeface="Lexend"/>
            </a:endParaRPr>
          </a:p>
        </p:txBody>
      </p:sp>
      <p:sp>
        <p:nvSpPr>
          <p:cNvPr id="795" name="Google Shape;795;p50"/>
          <p:cNvSpPr/>
          <p:nvPr/>
        </p:nvSpPr>
        <p:spPr>
          <a:xfrm>
            <a:off x="4522248" y="1001731"/>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 by Service - All Segment</a:t>
            </a:r>
            <a:endParaRPr sz="1100" b="1" i="0" u="none" strike="noStrike" cap="none">
              <a:solidFill>
                <a:schemeClr val="dk1"/>
              </a:solidFill>
              <a:latin typeface="Lexend"/>
              <a:ea typeface="Lexend"/>
              <a:cs typeface="Lexend"/>
              <a:sym typeface="Lexend"/>
            </a:endParaRPr>
          </a:p>
        </p:txBody>
      </p:sp>
      <p:pic>
        <p:nvPicPr>
          <p:cNvPr id="796" name="Google Shape;796;p50" title="Chart"/>
          <p:cNvPicPr preferRelativeResize="0"/>
          <p:nvPr/>
        </p:nvPicPr>
        <p:blipFill rotWithShape="1">
          <a:blip r:embed="rId5">
            <a:alphaModFix/>
          </a:blip>
          <a:srcRect l="13052" t="4537" r="7652" b="4727"/>
          <a:stretch/>
        </p:blipFill>
        <p:spPr>
          <a:xfrm>
            <a:off x="130842" y="1072763"/>
            <a:ext cx="4016917" cy="2083025"/>
          </a:xfrm>
          <a:prstGeom prst="rect">
            <a:avLst/>
          </a:prstGeom>
          <a:noFill/>
          <a:ln>
            <a:noFill/>
          </a:ln>
        </p:spPr>
      </p:pic>
      <p:graphicFrame>
        <p:nvGraphicFramePr>
          <p:cNvPr id="797" name="Google Shape;797;p50"/>
          <p:cNvGraphicFramePr/>
          <p:nvPr/>
        </p:nvGraphicFramePr>
        <p:xfrm>
          <a:off x="4267200" y="1245413"/>
          <a:ext cx="3000000" cy="3000000"/>
        </p:xfrm>
        <a:graphic>
          <a:graphicData uri="http://schemas.openxmlformats.org/drawingml/2006/table">
            <a:tbl>
              <a:tblPr>
                <a:noFill/>
                <a:tableStyleId>{1B6E03F7-A7B3-402D-A52F-665CEB5CA1F2}</a:tableStyleId>
              </a:tblPr>
              <a:tblGrid>
                <a:gridCol w="668475">
                  <a:extLst>
                    <a:ext uri="{9D8B030D-6E8A-4147-A177-3AD203B41FA5}">
                      <a16:colId xmlns:a16="http://schemas.microsoft.com/office/drawing/2014/main" val="20000"/>
                    </a:ext>
                  </a:extLst>
                </a:gridCol>
                <a:gridCol w="668475">
                  <a:extLst>
                    <a:ext uri="{9D8B030D-6E8A-4147-A177-3AD203B41FA5}">
                      <a16:colId xmlns:a16="http://schemas.microsoft.com/office/drawing/2014/main" val="20001"/>
                    </a:ext>
                  </a:extLst>
                </a:gridCol>
                <a:gridCol w="668475">
                  <a:extLst>
                    <a:ext uri="{9D8B030D-6E8A-4147-A177-3AD203B41FA5}">
                      <a16:colId xmlns:a16="http://schemas.microsoft.com/office/drawing/2014/main" val="20002"/>
                    </a:ext>
                  </a:extLst>
                </a:gridCol>
                <a:gridCol w="668475">
                  <a:extLst>
                    <a:ext uri="{9D8B030D-6E8A-4147-A177-3AD203B41FA5}">
                      <a16:colId xmlns:a16="http://schemas.microsoft.com/office/drawing/2014/main" val="20003"/>
                    </a:ext>
                  </a:extLst>
                </a:gridCol>
                <a:gridCol w="668475">
                  <a:extLst>
                    <a:ext uri="{9D8B030D-6E8A-4147-A177-3AD203B41FA5}">
                      <a16:colId xmlns:a16="http://schemas.microsoft.com/office/drawing/2014/main" val="20004"/>
                    </a:ext>
                  </a:extLst>
                </a:gridCol>
                <a:gridCol w="668475">
                  <a:extLst>
                    <a:ext uri="{9D8B030D-6E8A-4147-A177-3AD203B41FA5}">
                      <a16:colId xmlns:a16="http://schemas.microsoft.com/office/drawing/2014/main" val="20005"/>
                    </a:ext>
                  </a:extLst>
                </a:gridCol>
                <a:gridCol w="668475">
                  <a:extLst>
                    <a:ext uri="{9D8B030D-6E8A-4147-A177-3AD203B41FA5}">
                      <a16:colId xmlns:a16="http://schemas.microsoft.com/office/drawing/2014/main" val="20006"/>
                    </a:ext>
                  </a:extLst>
                </a:gridCol>
              </a:tblGrid>
              <a:tr h="200025">
                <a:tc>
                  <a:txBody>
                    <a:bodyPr/>
                    <a:lstStyle/>
                    <a:p>
                      <a:pPr marL="0" lvl="0" indent="0" algn="l" rtl="0">
                        <a:spcBef>
                          <a:spcPts val="0"/>
                        </a:spcBef>
                        <a:spcAft>
                          <a:spcPts val="0"/>
                        </a:spcAft>
                        <a:buNone/>
                      </a:pPr>
                      <a:endParaRPr/>
                    </a:p>
                  </a:txBody>
                  <a:tcPr marL="28575" marR="28575" marT="19050" marB="1905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1h</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2h</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4h</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bulky</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shopee</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a:solidFill>
                            <a:srgbClr val="FFFFFF"/>
                          </a:solidFill>
                          <a:latin typeface="Lexend"/>
                          <a:ea typeface="Lexend"/>
                          <a:cs typeface="Lexend"/>
                          <a:sym typeface="Lexend"/>
                        </a:rPr>
                        <a:t>tiktok</a:t>
                      </a:r>
                      <a:endParaRPr sz="900">
                        <a:solidFill>
                          <a:srgbClr val="FFFFFF"/>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19075">
                <a:tc>
                  <a:txBody>
                    <a:bodyPr/>
                    <a:lstStyle/>
                    <a:p>
                      <a:pPr marL="0" lvl="0" indent="0" algn="l" rtl="0">
                        <a:lnSpc>
                          <a:spcPct val="115000"/>
                        </a:lnSpc>
                        <a:spcBef>
                          <a:spcPts val="0"/>
                        </a:spcBef>
                        <a:spcAft>
                          <a:spcPts val="0"/>
                        </a:spcAft>
                        <a:buNone/>
                      </a:pPr>
                      <a:r>
                        <a:rPr lang="en" sz="900">
                          <a:solidFill>
                            <a:srgbClr val="1E293B"/>
                          </a:solidFill>
                          <a:latin typeface="Lexend"/>
                          <a:ea typeface="Lexend"/>
                          <a:cs typeface="Lexend"/>
                          <a:sym typeface="Lexend"/>
                        </a:rPr>
                        <a:t>CR</a:t>
                      </a:r>
                      <a:endParaRPr sz="900">
                        <a:solidFill>
                          <a:srgbClr val="1E293B"/>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10.60%</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22.62%</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8.61%</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13.81%</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22.78%</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100">
                          <a:latin typeface="Calibri"/>
                          <a:ea typeface="Calibri"/>
                          <a:cs typeface="Calibri"/>
                          <a:sym typeface="Calibri"/>
                        </a:rPr>
                        <a:t>19.42%</a:t>
                      </a:r>
                      <a:endParaRPr sz="1100">
                        <a:latin typeface="Calibri"/>
                        <a:ea typeface="Calibri"/>
                        <a:cs typeface="Calibri"/>
                        <a:sym typeface="Calibri"/>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900">
                          <a:solidFill>
                            <a:srgbClr val="0E4174"/>
                          </a:solidFill>
                          <a:latin typeface="Lexend"/>
                          <a:ea typeface="Lexend"/>
                          <a:cs typeface="Lexend"/>
                          <a:sym typeface="Lexend"/>
                        </a:rPr>
                        <a:t>WoW (%)</a:t>
                      </a:r>
                      <a:endParaRPr sz="900">
                        <a:solidFill>
                          <a:srgbClr val="0E4174"/>
                        </a:solidFill>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0.2%</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A7A1"/>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-1.3%</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CF7F2"/>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-0.4%</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9DFDD"/>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0.6%</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67C73"/>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-5.9%</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57BB8A"/>
                    </a:solidFill>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-1.0%</a:t>
                      </a:r>
                      <a:endParaRPr sz="900">
                        <a:latin typeface="Lexend"/>
                        <a:ea typeface="Lexend"/>
                        <a:cs typeface="Lexend"/>
                        <a:sym typeface="Lexend"/>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4FAF7"/>
                    </a:solidFill>
                  </a:tcPr>
                </a:tc>
                <a:extLst>
                  <a:ext uri="{0D108BD9-81ED-4DB2-BD59-A6C34878D82A}">
                    <a16:rowId xmlns:a16="http://schemas.microsoft.com/office/drawing/2014/main" val="10002"/>
                  </a:ext>
                </a:extLst>
              </a:tr>
            </a:tbl>
          </a:graphicData>
        </a:graphic>
      </p:graphicFrame>
      <p:pic>
        <p:nvPicPr>
          <p:cNvPr id="798" name="Google Shape;798;p50"/>
          <p:cNvPicPr preferRelativeResize="0"/>
          <p:nvPr/>
        </p:nvPicPr>
        <p:blipFill>
          <a:blip r:embed="rId6">
            <a:alphaModFix/>
          </a:blip>
          <a:stretch>
            <a:fillRect/>
          </a:stretch>
        </p:blipFill>
        <p:spPr>
          <a:xfrm>
            <a:off x="4502075" y="2684469"/>
            <a:ext cx="4444450" cy="2322137"/>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03"/>
        <p:cNvGrpSpPr/>
        <p:nvPr/>
      </p:nvGrpSpPr>
      <p:grpSpPr>
        <a:xfrm>
          <a:off x="0" y="0"/>
          <a:ext cx="0" cy="0"/>
          <a:chOff x="0" y="0"/>
          <a:chExt cx="0" cy="0"/>
        </a:xfrm>
      </p:grpSpPr>
      <p:sp>
        <p:nvSpPr>
          <p:cNvPr id="804" name="Google Shape;804;p51"/>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5" name="Google Shape;805;p51"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806" name="Google Shape;806;p51"/>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Review model pooling TTS</a:t>
            </a:r>
            <a:endParaRPr sz="2200" b="1" i="0" u="none" strike="noStrike" cap="none">
              <a:solidFill>
                <a:srgbClr val="F56C1F"/>
              </a:solidFill>
              <a:highlight>
                <a:schemeClr val="lt1"/>
              </a:highlight>
              <a:latin typeface="Lexend"/>
              <a:ea typeface="Lexend"/>
              <a:cs typeface="Lexend"/>
              <a:sym typeface="Lexend"/>
            </a:endParaRPr>
          </a:p>
        </p:txBody>
      </p:sp>
      <p:cxnSp>
        <p:nvCxnSpPr>
          <p:cNvPr id="807" name="Google Shape;807;p51"/>
          <p:cNvCxnSpPr/>
          <p:nvPr/>
        </p:nvCxnSpPr>
        <p:spPr>
          <a:xfrm>
            <a:off x="365760" y="631950"/>
            <a:ext cx="8412600" cy="0"/>
          </a:xfrm>
          <a:prstGeom prst="straightConnector1">
            <a:avLst/>
          </a:prstGeom>
          <a:noFill/>
          <a:ln w="9525" cap="flat" cmpd="sng">
            <a:solidFill>
              <a:srgbClr val="E2E8F0"/>
            </a:solidFill>
            <a:prstDash val="solid"/>
            <a:round/>
            <a:headEnd type="none" w="sm" len="sm"/>
            <a:tailEnd type="none" w="sm" len="sm"/>
          </a:ln>
        </p:spPr>
      </p:cxnSp>
      <p:sp>
        <p:nvSpPr>
          <p:cNvPr id="808" name="Google Shape;808;p51"/>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809" name="Google Shape;809;p51"/>
          <p:cNvSpPr/>
          <p:nvPr/>
        </p:nvSpPr>
        <p:spPr>
          <a:xfrm>
            <a:off x="146075" y="4392650"/>
            <a:ext cx="8839200" cy="681300"/>
          </a:xfrm>
          <a:prstGeom prst="rect">
            <a:avLst/>
          </a:prstGeom>
          <a:noFill/>
          <a:ln>
            <a:noFill/>
          </a:ln>
        </p:spPr>
        <p:txBody>
          <a:bodyPr spcFirstLastPara="1" wrap="square" lIns="0" tIns="0" rIns="0" bIns="0" anchor="ctr" anchorCtr="0">
            <a:noAutofit/>
          </a:bodyPr>
          <a:lstStyle/>
          <a:p>
            <a:pPr marL="0" lvl="0" indent="0" algn="l" rtl="0">
              <a:spcBef>
                <a:spcPts val="329"/>
              </a:spcBef>
              <a:spcAft>
                <a:spcPts val="0"/>
              </a:spcAft>
              <a:buNone/>
            </a:pPr>
            <a:r>
              <a:rPr lang="en" sz="800">
                <a:solidFill>
                  <a:schemeClr val="dk1"/>
                </a:solidFill>
                <a:latin typeface="Lexend"/>
                <a:ea typeface="Lexend"/>
                <a:cs typeface="Lexend"/>
                <a:sym typeface="Lexend"/>
              </a:rPr>
              <a:t>-</a:t>
            </a:r>
            <a:endParaRPr sz="800">
              <a:solidFill>
                <a:schemeClr val="dk1"/>
              </a:solidFill>
              <a:latin typeface="Lexend"/>
              <a:ea typeface="Lexend"/>
              <a:cs typeface="Lexend"/>
              <a:sym typeface="Lexend"/>
            </a:endParaRPr>
          </a:p>
        </p:txBody>
      </p:sp>
      <p:sp>
        <p:nvSpPr>
          <p:cNvPr id="810" name="Google Shape;810;p51"/>
          <p:cNvSpPr/>
          <p:nvPr/>
        </p:nvSpPr>
        <p:spPr>
          <a:xfrm>
            <a:off x="132640" y="640229"/>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000" b="1">
                <a:solidFill>
                  <a:srgbClr val="0E4174"/>
                </a:solidFill>
                <a:latin typeface="Lexend"/>
                <a:ea typeface="Lexend"/>
                <a:cs typeface="Lexend"/>
                <a:sym typeface="Lexend"/>
              </a:rPr>
              <a:t>Cancel comment by reason - All Segment</a:t>
            </a:r>
            <a:endParaRPr sz="1000" b="1" i="0" u="none" strike="noStrike" cap="none">
              <a:solidFill>
                <a:schemeClr val="dk1"/>
              </a:solidFill>
              <a:latin typeface="Lexend"/>
              <a:ea typeface="Lexend"/>
              <a:cs typeface="Lexend"/>
              <a:sym typeface="Lexend"/>
            </a:endParaRPr>
          </a:p>
        </p:txBody>
      </p:sp>
      <p:sp>
        <p:nvSpPr>
          <p:cNvPr id="811" name="Google Shape;811;p51"/>
          <p:cNvSpPr/>
          <p:nvPr/>
        </p:nvSpPr>
        <p:spPr>
          <a:xfrm>
            <a:off x="4642915" y="640229"/>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000" b="1">
                <a:solidFill>
                  <a:srgbClr val="0E4174"/>
                </a:solidFill>
                <a:latin typeface="Lexend"/>
                <a:ea typeface="Lexend"/>
                <a:cs typeface="Lexend"/>
                <a:sym typeface="Lexend"/>
              </a:rPr>
              <a:t>TTS model - first cancel after accept</a:t>
            </a:r>
            <a:endParaRPr sz="1000" b="1" i="0" u="none" strike="noStrike" cap="none">
              <a:solidFill>
                <a:schemeClr val="dk1"/>
              </a:solidFill>
              <a:latin typeface="Lexend"/>
              <a:ea typeface="Lexend"/>
              <a:cs typeface="Lexend"/>
              <a:sym typeface="Lexend"/>
            </a:endParaRPr>
          </a:p>
        </p:txBody>
      </p:sp>
      <p:sp>
        <p:nvSpPr>
          <p:cNvPr id="812" name="Google Shape;812;p51"/>
          <p:cNvSpPr/>
          <p:nvPr/>
        </p:nvSpPr>
        <p:spPr>
          <a:xfrm>
            <a:off x="89890" y="2616879"/>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000" b="1">
                <a:solidFill>
                  <a:srgbClr val="0E4174"/>
                </a:solidFill>
                <a:latin typeface="Lexend"/>
                <a:ea typeface="Lexend"/>
                <a:cs typeface="Lexend"/>
                <a:sym typeface="Lexend"/>
              </a:rPr>
              <a:t>TTS performance</a:t>
            </a:r>
            <a:endParaRPr sz="1000" b="1" i="0" u="none" strike="noStrike" cap="none">
              <a:solidFill>
                <a:schemeClr val="dk1"/>
              </a:solidFill>
              <a:latin typeface="Lexend"/>
              <a:ea typeface="Lexend"/>
              <a:cs typeface="Lexend"/>
              <a:sym typeface="Lexend"/>
            </a:endParaRPr>
          </a:p>
        </p:txBody>
      </p:sp>
      <p:pic>
        <p:nvPicPr>
          <p:cNvPr id="813" name="Google Shape;813;p51"/>
          <p:cNvPicPr preferRelativeResize="0"/>
          <p:nvPr/>
        </p:nvPicPr>
        <p:blipFill>
          <a:blip r:embed="rId4">
            <a:alphaModFix/>
          </a:blip>
          <a:stretch>
            <a:fillRect/>
          </a:stretch>
        </p:blipFill>
        <p:spPr>
          <a:xfrm>
            <a:off x="146076" y="882112"/>
            <a:ext cx="4116996" cy="1584725"/>
          </a:xfrm>
          <a:prstGeom prst="rect">
            <a:avLst/>
          </a:prstGeom>
          <a:noFill/>
          <a:ln>
            <a:noFill/>
          </a:ln>
          <a:effectLst>
            <a:outerShdw blurRad="57150" dist="19050" dir="5400000" algn="bl" rotWithShape="0">
              <a:srgbClr val="000000">
                <a:alpha val="50000"/>
              </a:srgbClr>
            </a:outerShdw>
          </a:effectLst>
        </p:spPr>
      </p:pic>
      <p:pic>
        <p:nvPicPr>
          <p:cNvPr id="814" name="Google Shape;814;p51"/>
          <p:cNvPicPr preferRelativeResize="0"/>
          <p:nvPr/>
        </p:nvPicPr>
        <p:blipFill>
          <a:blip r:embed="rId5">
            <a:alphaModFix/>
          </a:blip>
          <a:stretch>
            <a:fillRect/>
          </a:stretch>
        </p:blipFill>
        <p:spPr>
          <a:xfrm>
            <a:off x="132638" y="2872770"/>
            <a:ext cx="8839200" cy="138326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19"/>
        <p:cNvGrpSpPr/>
        <p:nvPr/>
      </p:nvGrpSpPr>
      <p:grpSpPr>
        <a:xfrm>
          <a:off x="0" y="0"/>
          <a:ext cx="0" cy="0"/>
          <a:chOff x="0" y="0"/>
          <a:chExt cx="0" cy="0"/>
        </a:xfrm>
      </p:grpSpPr>
      <p:sp>
        <p:nvSpPr>
          <p:cNvPr id="820" name="Google Shape;820;p5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2"/>
          <p:cNvSpPr/>
          <p:nvPr/>
        </p:nvSpPr>
        <p:spPr>
          <a:xfrm>
            <a:off x="442245" y="1023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Bulky performance</a:t>
            </a:r>
            <a:endParaRPr sz="2200" b="1" i="0" u="none" strike="noStrike" cap="none">
              <a:solidFill>
                <a:srgbClr val="F56C1F"/>
              </a:solidFill>
              <a:highlight>
                <a:schemeClr val="lt1"/>
              </a:highlight>
              <a:latin typeface="Lexend"/>
              <a:ea typeface="Lexend"/>
              <a:cs typeface="Lexend"/>
              <a:sym typeface="Lexend"/>
            </a:endParaRPr>
          </a:p>
        </p:txBody>
      </p:sp>
      <p:cxnSp>
        <p:nvCxnSpPr>
          <p:cNvPr id="822" name="Google Shape;822;p52"/>
          <p:cNvCxnSpPr/>
          <p:nvPr/>
        </p:nvCxnSpPr>
        <p:spPr>
          <a:xfrm>
            <a:off x="346810" y="469280"/>
            <a:ext cx="8412600" cy="0"/>
          </a:xfrm>
          <a:prstGeom prst="straightConnector1">
            <a:avLst/>
          </a:prstGeom>
          <a:noFill/>
          <a:ln w="9525" cap="flat" cmpd="sng">
            <a:solidFill>
              <a:srgbClr val="E2E8F0"/>
            </a:solidFill>
            <a:prstDash val="solid"/>
            <a:round/>
            <a:headEnd type="none" w="sm" len="sm"/>
            <a:tailEnd type="none" w="sm" len="sm"/>
          </a:ln>
        </p:spPr>
      </p:cxnSp>
      <p:sp>
        <p:nvSpPr>
          <p:cNvPr id="823" name="Google Shape;823;p5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24" name="Google Shape;824;p52" descr="preencoded.png"/>
          <p:cNvPicPr preferRelativeResize="0"/>
          <p:nvPr/>
        </p:nvPicPr>
        <p:blipFill rotWithShape="1">
          <a:blip r:embed="rId3">
            <a:alphaModFix/>
          </a:blip>
          <a:srcRect/>
          <a:stretch/>
        </p:blipFill>
        <p:spPr>
          <a:xfrm>
            <a:off x="76485" y="171045"/>
            <a:ext cx="274320" cy="274320"/>
          </a:xfrm>
          <a:prstGeom prst="rect">
            <a:avLst/>
          </a:prstGeom>
          <a:noFill/>
          <a:ln>
            <a:noFill/>
          </a:ln>
        </p:spPr>
      </p:pic>
      <p:pic>
        <p:nvPicPr>
          <p:cNvPr id="825" name="Google Shape;825;p52"/>
          <p:cNvPicPr preferRelativeResize="0"/>
          <p:nvPr/>
        </p:nvPicPr>
        <p:blipFill>
          <a:blip r:embed="rId4">
            <a:alphaModFix/>
          </a:blip>
          <a:stretch>
            <a:fillRect/>
          </a:stretch>
        </p:blipFill>
        <p:spPr>
          <a:xfrm>
            <a:off x="152400" y="658100"/>
            <a:ext cx="5537788" cy="2172346"/>
          </a:xfrm>
          <a:prstGeom prst="rect">
            <a:avLst/>
          </a:prstGeom>
          <a:noFill/>
          <a:ln>
            <a:noFill/>
          </a:ln>
        </p:spPr>
      </p:pic>
      <p:pic>
        <p:nvPicPr>
          <p:cNvPr id="826" name="Google Shape;826;p52"/>
          <p:cNvPicPr preferRelativeResize="0"/>
          <p:nvPr/>
        </p:nvPicPr>
        <p:blipFill>
          <a:blip r:embed="rId5">
            <a:alphaModFix/>
          </a:blip>
          <a:stretch>
            <a:fillRect/>
          </a:stretch>
        </p:blipFill>
        <p:spPr>
          <a:xfrm>
            <a:off x="152400" y="3148520"/>
            <a:ext cx="5607276" cy="1994975"/>
          </a:xfrm>
          <a:prstGeom prst="rect">
            <a:avLst/>
          </a:prstGeom>
          <a:noFill/>
          <a:ln>
            <a:noFill/>
          </a:ln>
        </p:spPr>
      </p:pic>
      <p:sp>
        <p:nvSpPr>
          <p:cNvPr id="827" name="Google Shape;827;p52"/>
          <p:cNvSpPr/>
          <p:nvPr/>
        </p:nvSpPr>
        <p:spPr>
          <a:xfrm>
            <a:off x="152406" y="406688"/>
            <a:ext cx="2254500" cy="25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1100"/>
              <a:buFont typeface="Calibri"/>
              <a:buNone/>
            </a:pPr>
            <a:r>
              <a:rPr lang="en" sz="900" b="1">
                <a:solidFill>
                  <a:srgbClr val="0E4174"/>
                </a:solidFill>
                <a:latin typeface="Lexend"/>
                <a:ea typeface="Lexend"/>
                <a:cs typeface="Lexend"/>
                <a:sym typeface="Lexend"/>
              </a:rPr>
              <a:t>Demand theo khung giờ</a:t>
            </a:r>
            <a:endParaRPr sz="700" b="1">
              <a:solidFill>
                <a:srgbClr val="0E4174"/>
              </a:solidFill>
              <a:latin typeface="Lexend"/>
              <a:ea typeface="Lexend"/>
              <a:cs typeface="Lexend"/>
              <a:sym typeface="Lexend"/>
            </a:endParaRPr>
          </a:p>
        </p:txBody>
      </p:sp>
      <p:sp>
        <p:nvSpPr>
          <p:cNvPr id="828" name="Google Shape;828;p52"/>
          <p:cNvSpPr/>
          <p:nvPr/>
        </p:nvSpPr>
        <p:spPr>
          <a:xfrm>
            <a:off x="152406" y="2861525"/>
            <a:ext cx="2254500" cy="25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1100"/>
              <a:buFont typeface="Calibri"/>
              <a:buNone/>
            </a:pPr>
            <a:r>
              <a:rPr lang="en" sz="900" b="1">
                <a:solidFill>
                  <a:srgbClr val="0E4174"/>
                </a:solidFill>
                <a:latin typeface="Lexend"/>
                <a:ea typeface="Lexend"/>
                <a:cs typeface="Lexend"/>
                <a:sym typeface="Lexend"/>
              </a:rPr>
              <a:t>AR theo khung giờ</a:t>
            </a:r>
            <a:endParaRPr sz="700" b="1">
              <a:solidFill>
                <a:srgbClr val="0E4174"/>
              </a:solidFill>
              <a:latin typeface="Lexend"/>
              <a:ea typeface="Lexend"/>
              <a:cs typeface="Lexend"/>
              <a:sym typeface="Lexend"/>
            </a:endParaRPr>
          </a:p>
        </p:txBody>
      </p:sp>
      <p:sp>
        <p:nvSpPr>
          <p:cNvPr id="829" name="Google Shape;829;p52"/>
          <p:cNvSpPr txBox="1"/>
          <p:nvPr/>
        </p:nvSpPr>
        <p:spPr>
          <a:xfrm>
            <a:off x="5872575" y="662600"/>
            <a:ext cx="3271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exend"/>
                <a:ea typeface="Lexend"/>
                <a:cs typeface="Lexend"/>
                <a:sym typeface="Lexend"/>
              </a:rPr>
              <a:t>INSIGHT: </a:t>
            </a:r>
            <a:endParaRPr sz="800">
              <a:solidFill>
                <a:schemeClr val="dk1"/>
              </a:solidFill>
              <a:latin typeface="Lexend"/>
              <a:ea typeface="Lexend"/>
              <a:cs typeface="Lexend"/>
              <a:sym typeface="Lexend"/>
            </a:endParaRPr>
          </a:p>
          <a:p>
            <a:pPr marL="0" lvl="0" indent="0" algn="l" rtl="0">
              <a:spcBef>
                <a:spcPts val="0"/>
              </a:spcBef>
              <a:spcAft>
                <a:spcPts val="0"/>
              </a:spcAft>
              <a:buNone/>
            </a:pPr>
            <a:r>
              <a:rPr lang="en" sz="800">
                <a:solidFill>
                  <a:schemeClr val="dk1"/>
                </a:solidFill>
                <a:latin typeface="Lexend"/>
                <a:ea typeface="Lexend"/>
                <a:cs typeface="Lexend"/>
                <a:sym typeface="Lexend"/>
              </a:rPr>
              <a:t>-</a:t>
            </a:r>
            <a:r>
              <a:rPr lang="en" sz="800" b="1">
                <a:solidFill>
                  <a:schemeClr val="dk1"/>
                </a:solidFill>
                <a:latin typeface="Lexend"/>
                <a:ea typeface="Lexend"/>
                <a:cs typeface="Lexend"/>
                <a:sym typeface="Lexend"/>
              </a:rPr>
              <a:t> </a:t>
            </a:r>
            <a:r>
              <a:rPr lang="en" sz="800">
                <a:solidFill>
                  <a:schemeClr val="dk1"/>
                </a:solidFill>
                <a:latin typeface="Lexend"/>
                <a:ea typeface="Lexend"/>
                <a:cs typeface="Lexend"/>
                <a:sym typeface="Lexend"/>
              </a:rPr>
              <a:t>Mới </a:t>
            </a:r>
            <a:r>
              <a:rPr lang="en" sz="800" b="1">
                <a:solidFill>
                  <a:schemeClr val="dk1"/>
                </a:solidFill>
                <a:latin typeface="Lexend"/>
                <a:ea typeface="Lexend"/>
                <a:cs typeface="Lexend"/>
                <a:sym typeface="Lexend"/>
              </a:rPr>
              <a:t>thay đổi rule pooling và giảm bớt volume bulky</a:t>
            </a:r>
            <a:r>
              <a:rPr lang="en" sz="800">
                <a:solidFill>
                  <a:schemeClr val="dk1"/>
                </a:solidFill>
                <a:latin typeface="Lexend"/>
                <a:ea typeface="Lexend"/>
                <a:cs typeface="Lexend"/>
                <a:sym typeface="Lexend"/>
              </a:rPr>
              <a:t> cho bike nên demand bulky giảm tương đối mạnh</a:t>
            </a:r>
            <a:br>
              <a:rPr lang="en" sz="800">
                <a:solidFill>
                  <a:schemeClr val="dk1"/>
                </a:solidFill>
                <a:latin typeface="Lexend"/>
                <a:ea typeface="Lexend"/>
                <a:cs typeface="Lexend"/>
                <a:sym typeface="Lexend"/>
              </a:rPr>
            </a:br>
            <a:r>
              <a:rPr lang="en" sz="800">
                <a:solidFill>
                  <a:schemeClr val="dk1"/>
                </a:solidFill>
                <a:latin typeface="Lexend"/>
                <a:ea typeface="Lexend"/>
                <a:cs typeface="Lexend"/>
                <a:sym typeface="Lexend"/>
              </a:rPr>
              <a:t>- Với 100 created order/giờ, AR current date dao động 89-93%, tuy nhiên AR đang bị hụt ở khung chiều</a:t>
            </a: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5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5" name="Google Shape;835;p53"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836" name="Google Shape;836;p5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CORE 2H/BULKY</a:t>
            </a:r>
            <a:endParaRPr sz="2200" b="1">
              <a:solidFill>
                <a:srgbClr val="0E4174"/>
              </a:solidFill>
              <a:latin typeface="Lexend"/>
              <a:ea typeface="Lexend"/>
              <a:cs typeface="Lexend"/>
              <a:sym typeface="Lexend"/>
            </a:endParaRPr>
          </a:p>
        </p:txBody>
      </p:sp>
      <p:sp>
        <p:nvSpPr>
          <p:cNvPr id="837" name="Google Shape;837;p5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Đội core chuyên chạy đơn 2H, 2H - Cỡ Lớn - </a:t>
            </a:r>
            <a:r>
              <a:rPr lang="en" sz="1000" i="1" u="sng">
                <a:solidFill>
                  <a:schemeClr val="hlink"/>
                </a:solidFill>
                <a:latin typeface="Lexend"/>
                <a:ea typeface="Lexend"/>
                <a:cs typeface="Lexend"/>
                <a:sym typeface="Lexend"/>
                <a:hlinkClick r:id="rId4"/>
              </a:rPr>
              <a:t>Plan Core 2H</a:t>
            </a:r>
            <a:endParaRPr sz="1000" i="1">
              <a:solidFill>
                <a:srgbClr val="64748B"/>
              </a:solidFill>
              <a:latin typeface="Lexend"/>
              <a:ea typeface="Lexend"/>
              <a:cs typeface="Lexend"/>
              <a:sym typeface="Lexend"/>
            </a:endParaRPr>
          </a:p>
        </p:txBody>
      </p:sp>
      <p:cxnSp>
        <p:nvCxnSpPr>
          <p:cNvPr id="838" name="Google Shape;838;p5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39" name="Google Shape;839;p53"/>
          <p:cNvSpPr/>
          <p:nvPr/>
        </p:nvSpPr>
        <p:spPr>
          <a:xfrm>
            <a:off x="50" y="3908250"/>
            <a:ext cx="4566300" cy="1219800"/>
          </a:xfrm>
          <a:prstGeom prst="rect">
            <a:avLst/>
          </a:prstGeom>
          <a:solidFill>
            <a:srgbClr val="D9D9D9"/>
          </a:solidFill>
          <a:ln w="9525" cap="flat" cmpd="sng">
            <a:solidFill>
              <a:srgbClr val="CCCCCC"/>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90000"/>
              </a:lnSpc>
              <a:spcBef>
                <a:spcPts val="0"/>
              </a:spcBef>
              <a:spcAft>
                <a:spcPts val="0"/>
              </a:spcAft>
              <a:buNone/>
            </a:pPr>
            <a:r>
              <a:rPr lang="en" sz="1000" b="1">
                <a:solidFill>
                  <a:srgbClr val="D12B2B"/>
                </a:solidFill>
              </a:rPr>
              <a:t>Action</a:t>
            </a:r>
            <a:endParaRPr sz="1000" b="1">
              <a:solidFill>
                <a:srgbClr val="D12B2B"/>
              </a:solidFill>
            </a:endParaRPr>
          </a:p>
          <a:p>
            <a:pPr marL="0" lvl="0" indent="0" algn="just" rtl="0">
              <a:lnSpc>
                <a:spcPct val="90000"/>
              </a:lnSpc>
              <a:spcBef>
                <a:spcPts val="400"/>
              </a:spcBef>
              <a:spcAft>
                <a:spcPts val="0"/>
              </a:spcAft>
              <a:buNone/>
            </a:pPr>
            <a:r>
              <a:rPr lang="en" sz="1000">
                <a:solidFill>
                  <a:schemeClr val="dk1"/>
                </a:solidFill>
              </a:rPr>
              <a:t>- Đã tiến hành thanh lọc đội đối với các tài xế có hiệu suất thấp - </a:t>
            </a:r>
            <a:r>
              <a:rPr lang="en" sz="1000" b="1">
                <a:solidFill>
                  <a:schemeClr val="dk1"/>
                </a:solidFill>
              </a:rPr>
              <a:t>28</a:t>
            </a:r>
            <a:r>
              <a:rPr lang="en" sz="1000">
                <a:solidFill>
                  <a:schemeClr val="dk1"/>
                </a:solidFill>
              </a:rPr>
              <a:t> tài xế</a:t>
            </a:r>
            <a:endParaRPr sz="1000">
              <a:solidFill>
                <a:schemeClr val="dk1"/>
              </a:solidFill>
            </a:endParaRPr>
          </a:p>
          <a:p>
            <a:pPr marL="0" lvl="0" indent="0" algn="just" rtl="0">
              <a:lnSpc>
                <a:spcPct val="90000"/>
              </a:lnSpc>
              <a:spcBef>
                <a:spcPts val="400"/>
              </a:spcBef>
              <a:spcAft>
                <a:spcPts val="0"/>
              </a:spcAft>
              <a:buNone/>
            </a:pPr>
            <a:r>
              <a:rPr lang="en" sz="1000">
                <a:solidFill>
                  <a:schemeClr val="dk1"/>
                </a:solidFill>
              </a:rPr>
              <a:t>- Đẩy tuyển dụng - Focus tài xế đã từng chạy Bulky (664 tài xế, &gt; 5 đơn Bulky)</a:t>
            </a:r>
            <a:endParaRPr sz="1000">
              <a:solidFill>
                <a:schemeClr val="dk1"/>
              </a:solidFill>
            </a:endParaRPr>
          </a:p>
          <a:p>
            <a:pPr marL="0" lvl="0" indent="0" algn="just" rtl="0">
              <a:lnSpc>
                <a:spcPct val="90000"/>
              </a:lnSpc>
              <a:spcBef>
                <a:spcPts val="400"/>
              </a:spcBef>
              <a:spcAft>
                <a:spcPts val="0"/>
              </a:spcAft>
              <a:buNone/>
            </a:pPr>
            <a:r>
              <a:rPr lang="en" sz="1000">
                <a:solidFill>
                  <a:schemeClr val="dk1"/>
                </a:solidFill>
              </a:rPr>
              <a:t>- </a:t>
            </a:r>
            <a:r>
              <a:rPr lang="en" sz="1000" b="1">
                <a:solidFill>
                  <a:schemeClr val="dk1"/>
                </a:solidFill>
              </a:rPr>
              <a:t>64</a:t>
            </a:r>
            <a:r>
              <a:rPr lang="en" sz="1000">
                <a:solidFill>
                  <a:schemeClr val="dk1"/>
                </a:solidFill>
              </a:rPr>
              <a:t> tài xế xác nhận tham gia =&gt; </a:t>
            </a:r>
            <a:r>
              <a:rPr lang="en" sz="1000" b="1">
                <a:solidFill>
                  <a:schemeClr val="dk1"/>
                </a:solidFill>
              </a:rPr>
              <a:t>27</a:t>
            </a:r>
            <a:r>
              <a:rPr lang="en" sz="1000">
                <a:solidFill>
                  <a:schemeClr val="dk1"/>
                </a:solidFill>
              </a:rPr>
              <a:t> tài xế gia nhập chính thức </a:t>
            </a:r>
            <a:r>
              <a:rPr lang="en" sz="1000" b="1">
                <a:solidFill>
                  <a:srgbClr val="FF3535"/>
                </a:solidFill>
              </a:rPr>
              <a:t>(42%)</a:t>
            </a:r>
            <a:endParaRPr sz="1000" b="1">
              <a:solidFill>
                <a:srgbClr val="D12B2B"/>
              </a:solidFill>
            </a:endParaRPr>
          </a:p>
          <a:p>
            <a:pPr marL="0" lvl="0" indent="0" algn="just" rtl="0">
              <a:lnSpc>
                <a:spcPct val="90000"/>
              </a:lnSpc>
              <a:spcBef>
                <a:spcPts val="400"/>
              </a:spcBef>
              <a:spcAft>
                <a:spcPts val="0"/>
              </a:spcAft>
              <a:buNone/>
            </a:pPr>
            <a:endParaRPr sz="1000" b="1">
              <a:solidFill>
                <a:schemeClr val="dk1"/>
              </a:solidFill>
            </a:endParaRPr>
          </a:p>
          <a:p>
            <a:pPr marL="0" lvl="0" indent="0" algn="just" rtl="0">
              <a:lnSpc>
                <a:spcPct val="90000"/>
              </a:lnSpc>
              <a:spcBef>
                <a:spcPts val="400"/>
              </a:spcBef>
              <a:spcAft>
                <a:spcPts val="0"/>
              </a:spcAft>
              <a:buNone/>
            </a:pPr>
            <a:endParaRPr sz="1000" b="1">
              <a:solidFill>
                <a:srgbClr val="D12B2B"/>
              </a:solidFill>
            </a:endParaRPr>
          </a:p>
          <a:p>
            <a:pPr marL="0" lvl="0" indent="0" algn="just" rtl="0">
              <a:lnSpc>
                <a:spcPct val="90000"/>
              </a:lnSpc>
              <a:spcBef>
                <a:spcPts val="400"/>
              </a:spcBef>
              <a:spcAft>
                <a:spcPts val="400"/>
              </a:spcAft>
              <a:buClr>
                <a:schemeClr val="dk1"/>
              </a:buClr>
              <a:buSzPts val="1100"/>
              <a:buFont typeface="Arial"/>
              <a:buNone/>
            </a:pPr>
            <a:endParaRPr sz="1000" b="1">
              <a:solidFill>
                <a:srgbClr val="D12B2B"/>
              </a:solidFill>
            </a:endParaRPr>
          </a:p>
        </p:txBody>
      </p:sp>
      <p:pic>
        <p:nvPicPr>
          <p:cNvPr id="840" name="Google Shape;840;p53" title="Chart"/>
          <p:cNvPicPr preferRelativeResize="0"/>
          <p:nvPr/>
        </p:nvPicPr>
        <p:blipFill>
          <a:blip r:embed="rId5">
            <a:alphaModFix/>
          </a:blip>
          <a:stretch>
            <a:fillRect/>
          </a:stretch>
        </p:blipFill>
        <p:spPr>
          <a:xfrm>
            <a:off x="4563650" y="1175126"/>
            <a:ext cx="4566299" cy="2708894"/>
          </a:xfrm>
          <a:prstGeom prst="rect">
            <a:avLst/>
          </a:prstGeom>
          <a:noFill/>
          <a:ln>
            <a:noFill/>
          </a:ln>
        </p:spPr>
      </p:pic>
      <p:graphicFrame>
        <p:nvGraphicFramePr>
          <p:cNvPr id="841" name="Google Shape;841;p53"/>
          <p:cNvGraphicFramePr/>
          <p:nvPr/>
        </p:nvGraphicFramePr>
        <p:xfrm>
          <a:off x="265802" y="1175125"/>
          <a:ext cx="3000000" cy="3000000"/>
        </p:xfrm>
        <a:graphic>
          <a:graphicData uri="http://schemas.openxmlformats.org/drawingml/2006/table">
            <a:tbl>
              <a:tblPr>
                <a:noFill/>
                <a:tableStyleId>{1B6E03F7-A7B3-402D-A52F-665CEB5CA1F2}</a:tableStyleId>
              </a:tblPr>
              <a:tblGrid>
                <a:gridCol w="671425">
                  <a:extLst>
                    <a:ext uri="{9D8B030D-6E8A-4147-A177-3AD203B41FA5}">
                      <a16:colId xmlns:a16="http://schemas.microsoft.com/office/drawing/2014/main" val="20000"/>
                    </a:ext>
                  </a:extLst>
                </a:gridCol>
                <a:gridCol w="1185750">
                  <a:extLst>
                    <a:ext uri="{9D8B030D-6E8A-4147-A177-3AD203B41FA5}">
                      <a16:colId xmlns:a16="http://schemas.microsoft.com/office/drawing/2014/main" val="20001"/>
                    </a:ext>
                  </a:extLst>
                </a:gridCol>
                <a:gridCol w="1185750">
                  <a:extLst>
                    <a:ext uri="{9D8B030D-6E8A-4147-A177-3AD203B41FA5}">
                      <a16:colId xmlns:a16="http://schemas.microsoft.com/office/drawing/2014/main" val="20002"/>
                    </a:ext>
                  </a:extLst>
                </a:gridCol>
                <a:gridCol w="1185750">
                  <a:extLst>
                    <a:ext uri="{9D8B030D-6E8A-4147-A177-3AD203B41FA5}">
                      <a16:colId xmlns:a16="http://schemas.microsoft.com/office/drawing/2014/main" val="20003"/>
                    </a:ext>
                  </a:extLst>
                </a:gridCol>
              </a:tblGrid>
              <a:tr h="351800">
                <a:tc gridSpan="4">
                  <a:txBody>
                    <a:bodyPr/>
                    <a:lstStyle/>
                    <a:p>
                      <a:pPr marL="0" lvl="0" indent="0" algn="l" rtl="0">
                        <a:lnSpc>
                          <a:spcPct val="115000"/>
                        </a:lnSpc>
                        <a:spcBef>
                          <a:spcPts val="0"/>
                        </a:spcBef>
                        <a:spcAft>
                          <a:spcPts val="0"/>
                        </a:spcAft>
                        <a:buNone/>
                      </a:pPr>
                      <a:r>
                        <a:rPr lang="en" sz="1100" b="1" i="1">
                          <a:solidFill>
                            <a:srgbClr val="FF0000"/>
                          </a:solidFill>
                        </a:rPr>
                        <a:t>Tuyển mới</a:t>
                      </a:r>
                      <a:endParaRPr sz="1100" b="1" i="1">
                        <a:solidFill>
                          <a:srgbClr val="FF0000"/>
                        </a:solidFill>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FFFFFF"/>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0"/>
                  </a:ext>
                </a:extLst>
              </a:tr>
              <a:tr h="469050">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FFFF"/>
                          </a:solidFill>
                        </a:rPr>
                        <a:t>Đăng ký</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Xác nhận</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Đã gia nhập chính thức</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extLst>
                  <a:ext uri="{0D108BD9-81ED-4DB2-BD59-A6C34878D82A}">
                    <a16:rowId xmlns:a16="http://schemas.microsoft.com/office/drawing/2014/main" val="10001"/>
                  </a:ext>
                </a:extLst>
              </a:tr>
              <a:tr h="309600">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82</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71</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57</a:t>
                      </a:r>
                      <a:endParaRPr sz="1000" b="1">
                        <a:solidFill>
                          <a:srgbClr val="FF0000"/>
                        </a:solidFill>
                      </a:endParaRPr>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9600">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FFFFFF"/>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87%</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FFFF"/>
                          </a:solidFill>
                        </a:rPr>
                        <a:t>80%</a:t>
                      </a:r>
                      <a:endParaRPr sz="1000" b="1">
                        <a:solidFill>
                          <a:srgbClr val="FFFFFF"/>
                        </a:solidFill>
                      </a:endParaRPr>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CC0000"/>
                    </a:solidFill>
                  </a:tcPr>
                </a:tc>
                <a:extLst>
                  <a:ext uri="{0D108BD9-81ED-4DB2-BD59-A6C34878D82A}">
                    <a16:rowId xmlns:a16="http://schemas.microsoft.com/office/drawing/2014/main" val="10003"/>
                  </a:ext>
                </a:extLst>
              </a:tr>
              <a:tr h="351800">
                <a:tc gridSpan="4">
                  <a:txBody>
                    <a:bodyPr/>
                    <a:lstStyle/>
                    <a:p>
                      <a:pPr marL="0" lvl="0" indent="0" algn="l" rtl="0">
                        <a:lnSpc>
                          <a:spcPct val="115000"/>
                        </a:lnSpc>
                        <a:spcBef>
                          <a:spcPts val="0"/>
                        </a:spcBef>
                        <a:spcAft>
                          <a:spcPts val="0"/>
                        </a:spcAft>
                        <a:buNone/>
                      </a:pPr>
                      <a:r>
                        <a:rPr lang="en" sz="1000" b="1" i="1">
                          <a:solidFill>
                            <a:srgbClr val="FF0000"/>
                          </a:solidFill>
                        </a:rPr>
                        <a:t>Thành viên trong đội</a:t>
                      </a:r>
                      <a:endParaRPr sz="1000" b="1" i="1">
                        <a:solidFill>
                          <a:srgbClr val="FF0000"/>
                        </a:solidFill>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FFFFFF"/>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4"/>
                  </a:ext>
                </a:extLst>
              </a:tr>
              <a:tr h="469050">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FFFF"/>
                          </a:solidFill>
                        </a:rPr>
                        <a:t>Số lượng hiện tại</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Số lượng bổ sung</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Số lượng thanh lọc</a:t>
                      </a:r>
                      <a:endParaRPr sz="1000">
                        <a:solidFill>
                          <a:srgbClr val="FFFFFF"/>
                        </a:solidFill>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000000"/>
                      </a:solidFill>
                      <a:prstDash val="solid"/>
                      <a:round/>
                      <a:headEnd type="none" w="sm" len="sm"/>
                      <a:tailEnd type="none" w="sm" len="sm"/>
                    </a:lnB>
                    <a:solidFill>
                      <a:srgbClr val="0C343D"/>
                    </a:solidFill>
                  </a:tcPr>
                </a:tc>
                <a:extLst>
                  <a:ext uri="{0D108BD9-81ED-4DB2-BD59-A6C34878D82A}">
                    <a16:rowId xmlns:a16="http://schemas.microsoft.com/office/drawing/2014/main" val="10005"/>
                  </a:ext>
                </a:extLst>
              </a:tr>
              <a:tr h="309600">
                <a:tc>
                  <a:txBody>
                    <a:bodyPr/>
                    <a:lstStyle/>
                    <a:p>
                      <a:pPr marL="0" lvl="0" indent="0" algn="l" rtl="0">
                        <a:spcBef>
                          <a:spcPts val="0"/>
                        </a:spcBef>
                        <a:spcAft>
                          <a:spcPts val="0"/>
                        </a:spcAft>
                        <a:buNone/>
                      </a:pPr>
                      <a:endParaRPr/>
                    </a:p>
                  </a:txBody>
                  <a:tcPr marL="28575" marR="28575" marT="19050" marB="19050" anchor="b">
                    <a:lnL w="10150" cap="flat" cmpd="sng">
                      <a:solidFill>
                        <a:srgbClr val="FFFFFF"/>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FFFFFF"/>
                      </a:solidFill>
                      <a:prstDash val="solid"/>
                      <a:round/>
                      <a:headEnd type="none" w="sm" len="sm"/>
                      <a:tailEnd type="none" w="sm" len="sm"/>
                    </a:lnT>
                    <a:lnB w="10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78</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57</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29</a:t>
                      </a:r>
                      <a:endParaRPr sz="1000"/>
                    </a:p>
                  </a:txBody>
                  <a:tcPr marL="28575" marR="28575" marT="19050" marB="19050" anchor="b">
                    <a:lnL w="10150" cap="flat" cmpd="sng">
                      <a:solidFill>
                        <a:srgbClr val="000000"/>
                      </a:solidFill>
                      <a:prstDash val="solid"/>
                      <a:round/>
                      <a:headEnd type="none" w="sm" len="sm"/>
                      <a:tailEnd type="none" w="sm" len="sm"/>
                    </a:lnL>
                    <a:lnR w="10150" cap="flat" cmpd="sng">
                      <a:solidFill>
                        <a:srgbClr val="000000"/>
                      </a:solidFill>
                      <a:prstDash val="solid"/>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842" name="Google Shape;842;p53"/>
          <p:cNvSpPr/>
          <p:nvPr/>
        </p:nvSpPr>
        <p:spPr>
          <a:xfrm>
            <a:off x="4566350" y="3908425"/>
            <a:ext cx="4622400" cy="1219800"/>
          </a:xfrm>
          <a:prstGeom prst="rect">
            <a:avLst/>
          </a:prstGeom>
          <a:solidFill>
            <a:srgbClr val="D9D9D9"/>
          </a:solidFill>
          <a:ln w="9525" cap="flat" cmpd="sng">
            <a:solidFill>
              <a:srgbClr val="CCCCCC"/>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1000" b="1">
                <a:solidFill>
                  <a:srgbClr val="073763"/>
                </a:solidFill>
              </a:rPr>
              <a:t>Issue/Next Action:</a:t>
            </a:r>
            <a:endParaRPr sz="1000" b="1">
              <a:solidFill>
                <a:srgbClr val="073763"/>
              </a:solidFill>
            </a:endParaRPr>
          </a:p>
          <a:p>
            <a:pPr marL="0" lvl="0" indent="0" algn="just" rtl="0">
              <a:lnSpc>
                <a:spcPct val="115000"/>
              </a:lnSpc>
              <a:spcBef>
                <a:spcPts val="400"/>
              </a:spcBef>
              <a:spcAft>
                <a:spcPts val="0"/>
              </a:spcAft>
              <a:buNone/>
            </a:pPr>
            <a:r>
              <a:rPr lang="en" sz="1000">
                <a:solidFill>
                  <a:schemeClr val="dk1"/>
                </a:solidFill>
              </a:rPr>
              <a:t>-Số lượng tài xế tham gia đội vẫn còn thấp =&gt; Tiếp tục push các tài xế tham gia /Mục tiêu bổ sung 40 tài xế trong tuần tới</a:t>
            </a:r>
            <a:endParaRPr sz="1000">
              <a:solidFill>
                <a:schemeClr val="dk1"/>
              </a:solidFill>
            </a:endParaRPr>
          </a:p>
          <a:p>
            <a:pPr marL="0" lvl="0" indent="0" algn="just" rtl="0">
              <a:lnSpc>
                <a:spcPct val="115000"/>
              </a:lnSpc>
              <a:spcBef>
                <a:spcPts val="400"/>
              </a:spcBef>
              <a:spcAft>
                <a:spcPts val="0"/>
              </a:spcAft>
              <a:buNone/>
            </a:pPr>
            <a:r>
              <a:rPr lang="en" sz="1000">
                <a:solidFill>
                  <a:schemeClr val="dk1"/>
                </a:solidFill>
              </a:rPr>
              <a:t>-Theo dõi hiệu suất tài xế do mới thanh lọc và tuyển mới =&gt; Nhắc nhở cải thiện, hỗ trợ tài xế mới</a:t>
            </a:r>
            <a:endParaRPr sz="1000">
              <a:solidFill>
                <a:schemeClr val="dk1"/>
              </a:solidFill>
            </a:endParaRPr>
          </a:p>
          <a:p>
            <a:pPr marL="0" lvl="0" indent="0" algn="just" rtl="0">
              <a:lnSpc>
                <a:spcPct val="50000"/>
              </a:lnSpc>
              <a:spcBef>
                <a:spcPts val="400"/>
              </a:spcBef>
              <a:spcAft>
                <a:spcPts val="0"/>
              </a:spcAft>
              <a:buNone/>
            </a:pPr>
            <a:endParaRPr sz="1000" b="1">
              <a:solidFill>
                <a:schemeClr val="dk1"/>
              </a:solidFill>
            </a:endParaRPr>
          </a:p>
          <a:p>
            <a:pPr marL="0" lvl="0" indent="0" algn="just" rtl="0">
              <a:lnSpc>
                <a:spcPct val="50000"/>
              </a:lnSpc>
              <a:spcBef>
                <a:spcPts val="400"/>
              </a:spcBef>
              <a:spcAft>
                <a:spcPts val="0"/>
              </a:spcAft>
              <a:buNone/>
            </a:pPr>
            <a:endParaRPr sz="1000" b="1">
              <a:solidFill>
                <a:srgbClr val="D12B2B"/>
              </a:solidFill>
            </a:endParaRPr>
          </a:p>
          <a:p>
            <a:pPr marL="0" lvl="0" indent="0" algn="just" rtl="0">
              <a:lnSpc>
                <a:spcPct val="50000"/>
              </a:lnSpc>
              <a:spcBef>
                <a:spcPts val="400"/>
              </a:spcBef>
              <a:spcAft>
                <a:spcPts val="0"/>
              </a:spcAft>
              <a:buNone/>
            </a:pPr>
            <a:endParaRPr sz="1000" b="1">
              <a:solidFill>
                <a:srgbClr val="D12B2B"/>
              </a:solidFill>
            </a:endParaRPr>
          </a:p>
          <a:p>
            <a:pPr marL="0" lvl="0" indent="0" algn="just" rtl="0">
              <a:lnSpc>
                <a:spcPct val="50000"/>
              </a:lnSpc>
              <a:spcBef>
                <a:spcPts val="400"/>
              </a:spcBef>
              <a:spcAft>
                <a:spcPts val="0"/>
              </a:spcAft>
              <a:buNone/>
            </a:pPr>
            <a:endParaRPr sz="1000" b="1">
              <a:solidFill>
                <a:srgbClr val="D12B2B"/>
              </a:solidFill>
            </a:endParaRPr>
          </a:p>
          <a:p>
            <a:pPr marL="0" lvl="0" indent="0" algn="just" rtl="0">
              <a:lnSpc>
                <a:spcPct val="50000"/>
              </a:lnSpc>
              <a:spcBef>
                <a:spcPts val="400"/>
              </a:spcBef>
              <a:spcAft>
                <a:spcPts val="400"/>
              </a:spcAft>
              <a:buClr>
                <a:schemeClr val="dk1"/>
              </a:buClr>
              <a:buSzPts val="1100"/>
              <a:buFont typeface="Arial"/>
              <a:buNone/>
            </a:pPr>
            <a:endParaRPr sz="1000" b="1">
              <a:solidFill>
                <a:srgbClr val="D12B2B"/>
              </a:solidFill>
            </a:endParaRPr>
          </a:p>
        </p:txBody>
      </p:sp>
      <p:sp>
        <p:nvSpPr>
          <p:cNvPr id="843" name="Google Shape;843;p53"/>
          <p:cNvSpPr/>
          <p:nvPr/>
        </p:nvSpPr>
        <p:spPr>
          <a:xfrm>
            <a:off x="324840" y="919229"/>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Tình hình nhân sự của đội</a:t>
            </a:r>
            <a:endParaRPr sz="1200" b="1" i="0" u="none" strike="noStrike" cap="none">
              <a:solidFill>
                <a:schemeClr val="dk1"/>
              </a:solidFill>
              <a:latin typeface="Lexend"/>
              <a:ea typeface="Lexend"/>
              <a:cs typeface="Lexend"/>
              <a:sym typeface="Lexend"/>
            </a:endParaRPr>
          </a:p>
        </p:txBody>
      </p:sp>
      <p:sp>
        <p:nvSpPr>
          <p:cNvPr id="844" name="Google Shape;844;p53"/>
          <p:cNvSpPr/>
          <p:nvPr/>
        </p:nvSpPr>
        <p:spPr>
          <a:xfrm>
            <a:off x="4566340" y="893892"/>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Hiệu suất của đội</a:t>
            </a:r>
            <a:endParaRPr sz="1200" b="1" i="0" u="none" strike="noStrike" cap="none">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49"/>
        <p:cNvGrpSpPr/>
        <p:nvPr/>
      </p:nvGrpSpPr>
      <p:grpSpPr>
        <a:xfrm>
          <a:off x="0" y="0"/>
          <a:ext cx="0" cy="0"/>
          <a:chOff x="0" y="0"/>
          <a:chExt cx="0" cy="0"/>
        </a:xfrm>
      </p:grpSpPr>
      <p:sp>
        <p:nvSpPr>
          <p:cNvPr id="850" name="Google Shape;850;p5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52" name="Google Shape;852;p5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853" name="Google Shape;853;p5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Project baga bulky</a:t>
            </a:r>
            <a:endParaRPr sz="2200" b="1" i="0" u="none" strike="noStrike" cap="none">
              <a:solidFill>
                <a:srgbClr val="F56C1F"/>
              </a:solidFill>
              <a:latin typeface="Lexend"/>
              <a:ea typeface="Lexend"/>
              <a:cs typeface="Lexend"/>
              <a:sym typeface="Lexend"/>
            </a:endParaRPr>
          </a:p>
        </p:txBody>
      </p:sp>
      <p:sp>
        <p:nvSpPr>
          <p:cNvPr id="854" name="Google Shape;854;p5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Concept thưởng tăng số lượng tài xế trang bị baga tại HAN, SGN -&gt; tăng số lượng tài xế active có baga</a:t>
            </a:r>
            <a:endParaRPr sz="1000" i="1">
              <a:solidFill>
                <a:srgbClr val="64748B"/>
              </a:solidFill>
              <a:latin typeface="Lexend"/>
              <a:ea typeface="Lexend"/>
              <a:cs typeface="Lexend"/>
              <a:sym typeface="Lexend"/>
            </a:endParaRPr>
          </a:p>
        </p:txBody>
      </p:sp>
      <p:cxnSp>
        <p:nvCxnSpPr>
          <p:cNvPr id="855" name="Google Shape;855;p5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graphicFrame>
        <p:nvGraphicFramePr>
          <p:cNvPr id="856" name="Google Shape;856;p54"/>
          <p:cNvGraphicFramePr/>
          <p:nvPr/>
        </p:nvGraphicFramePr>
        <p:xfrm>
          <a:off x="369575" y="980175"/>
          <a:ext cx="3000000" cy="3000000"/>
        </p:xfrm>
        <a:graphic>
          <a:graphicData uri="http://schemas.openxmlformats.org/drawingml/2006/table">
            <a:tbl>
              <a:tblPr>
                <a:noFill/>
                <a:tableStyleId>{1B6E03F7-A7B3-402D-A52F-665CEB5CA1F2}</a:tableStyleId>
              </a:tblPr>
              <a:tblGrid>
                <a:gridCol w="901725">
                  <a:extLst>
                    <a:ext uri="{9D8B030D-6E8A-4147-A177-3AD203B41FA5}">
                      <a16:colId xmlns:a16="http://schemas.microsoft.com/office/drawing/2014/main" val="20000"/>
                    </a:ext>
                  </a:extLst>
                </a:gridCol>
                <a:gridCol w="5899450">
                  <a:extLst>
                    <a:ext uri="{9D8B030D-6E8A-4147-A177-3AD203B41FA5}">
                      <a16:colId xmlns:a16="http://schemas.microsoft.com/office/drawing/2014/main" val="20001"/>
                    </a:ext>
                  </a:extLst>
                </a:gridCol>
                <a:gridCol w="1828725">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 sz="1100" b="1"/>
                        <a:t>STT</a:t>
                      </a:r>
                      <a:endParaRPr sz="1100" b="1"/>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100" b="1"/>
                        <a:t>Nội dung</a:t>
                      </a:r>
                      <a:endParaRPr sz="1100" b="1"/>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595959"/>
                      </a:solidFill>
                      <a:prstDash val="dash"/>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100" b="1"/>
                        <a:t>Timeline</a:t>
                      </a:r>
                      <a:endParaRPr sz="1100" b="1"/>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595959"/>
                      </a:solidFill>
                      <a:prstDash val="dash"/>
                      <a:round/>
                      <a:headEnd type="none" w="sm" len="sm"/>
                      <a:tailEnd type="none" w="sm" len="sm"/>
                    </a:lnB>
                    <a:solidFill>
                      <a:srgbClr val="FCE5CD"/>
                    </a:solid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r>
                        <a:rPr lang="en"/>
                        <a:t>Chốt plan &amp; gửi public lên nhóm chung supply</a:t>
                      </a:r>
                      <a:endParaRPr/>
                    </a:p>
                  </a:txBody>
                  <a:tcPr marL="91425" marR="91425" marT="91425" marB="91425">
                    <a:lnL w="9525" cap="flat" cmpd="sng">
                      <a:solidFill>
                        <a:srgbClr val="000000"/>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tc>
                  <a:txBody>
                    <a:bodyPr/>
                    <a:lstStyle/>
                    <a:p>
                      <a:pPr marL="0" lvl="0" indent="0" algn="l" rtl="0">
                        <a:spcBef>
                          <a:spcPts val="0"/>
                        </a:spcBef>
                        <a:spcAft>
                          <a:spcPts val="0"/>
                        </a:spcAft>
                        <a:buNone/>
                      </a:pPr>
                      <a:r>
                        <a:rPr lang="en"/>
                        <a:t>22/7 - 24/7</a:t>
                      </a:r>
                      <a:endParaRPr/>
                    </a:p>
                  </a:txBody>
                  <a:tcPr marL="91425" marR="91425" marT="91425" marB="91425">
                    <a:lnL w="9525" cap="flat" cmpd="sng">
                      <a:solidFill>
                        <a:srgbClr val="595959"/>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2</a:t>
                      </a:r>
                      <a:endParaRPr/>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r>
                        <a:rPr lang="en"/>
                        <a:t>Meeting với DS lên plan truyền thông hoàn chỉnh về chuỗi thưởng &amp; branding lợi ích gắn baga khi hoạt động</a:t>
                      </a:r>
                      <a:endParaRPr/>
                    </a:p>
                  </a:txBody>
                  <a:tcPr marL="91425" marR="91425" marT="91425" marB="91425">
                    <a:lnL w="9525" cap="flat" cmpd="sng">
                      <a:solidFill>
                        <a:srgbClr val="000000"/>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tc>
                  <a:txBody>
                    <a:bodyPr/>
                    <a:lstStyle/>
                    <a:p>
                      <a:pPr marL="0" lvl="0" indent="0" algn="l" rtl="0">
                        <a:spcBef>
                          <a:spcPts val="0"/>
                        </a:spcBef>
                        <a:spcAft>
                          <a:spcPts val="0"/>
                        </a:spcAft>
                        <a:buNone/>
                      </a:pPr>
                      <a:r>
                        <a:rPr lang="en"/>
                        <a:t>26/7 - 30/7</a:t>
                      </a:r>
                      <a:endParaRPr/>
                    </a:p>
                  </a:txBody>
                  <a:tcPr marL="91425" marR="91425" marT="91425" marB="91425">
                    <a:lnL w="9525" cap="flat" cmpd="sng">
                      <a:solidFill>
                        <a:srgbClr val="595959"/>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t>3</a:t>
                      </a:r>
                      <a:endParaRPr/>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r>
                        <a:rPr lang="en"/>
                        <a:t>Order PA set up chương trình thưởng + flow noti auto đến tài xế</a:t>
                      </a:r>
                      <a:endParaRPr/>
                    </a:p>
                  </a:txBody>
                  <a:tcPr marL="91425" marR="91425" marT="91425" marB="91425">
                    <a:lnL w="9525" cap="flat" cmpd="sng">
                      <a:solidFill>
                        <a:srgbClr val="000000"/>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tc>
                  <a:txBody>
                    <a:bodyPr/>
                    <a:lstStyle/>
                    <a:p>
                      <a:pPr marL="0" lvl="0" indent="0" algn="l" rtl="0">
                        <a:spcBef>
                          <a:spcPts val="0"/>
                        </a:spcBef>
                        <a:spcAft>
                          <a:spcPts val="0"/>
                        </a:spcAft>
                        <a:buNone/>
                      </a:pPr>
                      <a:r>
                        <a:rPr lang="en"/>
                        <a:t>26/7 - 10/8</a:t>
                      </a:r>
                      <a:endParaRPr/>
                    </a:p>
                  </a:txBody>
                  <a:tcPr marL="91425" marR="91425" marT="91425" marB="91425">
                    <a:lnL w="9525" cap="flat" cmpd="sng">
                      <a:solidFill>
                        <a:srgbClr val="595959"/>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t>4</a:t>
                      </a:r>
                      <a:endParaRPr/>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r>
                        <a:rPr lang="en"/>
                        <a:t>Truyền thông cho tài xế đăng ký tham gia, work với GR để truyền thông đến tài xế mới đăng ký</a:t>
                      </a:r>
                      <a:endParaRPr/>
                    </a:p>
                  </a:txBody>
                  <a:tcPr marL="91425" marR="91425" marT="91425" marB="91425">
                    <a:lnL w="9525" cap="flat" cmpd="sng">
                      <a:solidFill>
                        <a:srgbClr val="000000"/>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tc>
                  <a:txBody>
                    <a:bodyPr/>
                    <a:lstStyle/>
                    <a:p>
                      <a:pPr marL="0" lvl="0" indent="0" algn="l" rtl="0">
                        <a:spcBef>
                          <a:spcPts val="0"/>
                        </a:spcBef>
                        <a:spcAft>
                          <a:spcPts val="0"/>
                        </a:spcAft>
                        <a:buNone/>
                      </a:pPr>
                      <a:r>
                        <a:rPr lang="en"/>
                        <a:t>1/8 - 14/8</a:t>
                      </a:r>
                      <a:endParaRPr/>
                    </a:p>
                  </a:txBody>
                  <a:tcPr marL="91425" marR="91425" marT="91425" marB="91425">
                    <a:lnL w="9525" cap="flat" cmpd="sng">
                      <a:solidFill>
                        <a:srgbClr val="595959"/>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t>5</a:t>
                      </a:r>
                      <a:endParaRPr/>
                    </a:p>
                  </a:txBody>
                  <a:tcPr marL="91425" marR="91425" marT="91425" marB="91425">
                    <a:lnL w="9525" cap="flat" cmpd="sng">
                      <a:solidFill>
                        <a:srgbClr val="000000"/>
                      </a:solidFill>
                      <a:prstDash val="dash"/>
                      <a:round/>
                      <a:headEnd type="none" w="sm" len="sm"/>
                      <a:tailEnd type="none" w="sm" len="sm"/>
                    </a:lnL>
                    <a:lnR w="9525" cap="flat" cmpd="sng">
                      <a:solidFill>
                        <a:srgbClr val="000000"/>
                      </a:solidFill>
                      <a:prstDash val="dash"/>
                      <a:round/>
                      <a:headEnd type="none" w="sm" len="sm"/>
                      <a:tailEnd type="none" w="sm" len="sm"/>
                    </a:lnR>
                    <a:lnT w="9525" cap="flat" cmpd="sng">
                      <a:solidFill>
                        <a:srgbClr val="000000"/>
                      </a:solidFill>
                      <a:prstDash val="dash"/>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r>
                        <a:rPr lang="en"/>
                        <a:t>Follow chương trình thưởng in app, liên tục seeding chương trình cho toàn bộ 3 giai đoạn thưởng</a:t>
                      </a:r>
                      <a:endParaRPr/>
                    </a:p>
                  </a:txBody>
                  <a:tcPr marL="91425" marR="91425" marT="91425" marB="91425">
                    <a:lnL w="9525" cap="flat" cmpd="sng">
                      <a:solidFill>
                        <a:srgbClr val="000000"/>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tc>
                  <a:txBody>
                    <a:bodyPr/>
                    <a:lstStyle/>
                    <a:p>
                      <a:pPr marL="0" lvl="0" indent="0" algn="l" rtl="0">
                        <a:spcBef>
                          <a:spcPts val="0"/>
                        </a:spcBef>
                        <a:spcAft>
                          <a:spcPts val="0"/>
                        </a:spcAft>
                        <a:buClr>
                          <a:srgbClr val="000000"/>
                        </a:buClr>
                        <a:buSzPts val="1100"/>
                        <a:buFont typeface="Arial"/>
                        <a:buNone/>
                      </a:pPr>
                      <a:r>
                        <a:rPr lang="en"/>
                        <a:t>GĐ1: 15/8 - 30/8</a:t>
                      </a:r>
                      <a:endParaRPr/>
                    </a:p>
                    <a:p>
                      <a:pPr marL="0" lvl="0" indent="0" algn="l" rtl="0">
                        <a:spcBef>
                          <a:spcPts val="0"/>
                        </a:spcBef>
                        <a:spcAft>
                          <a:spcPts val="0"/>
                        </a:spcAft>
                        <a:buClr>
                          <a:srgbClr val="000000"/>
                        </a:buClr>
                        <a:buSzPts val="1100"/>
                        <a:buFont typeface="Arial"/>
                        <a:buNone/>
                      </a:pPr>
                      <a:r>
                        <a:rPr lang="en"/>
                        <a:t>GĐ2: 1/9 - 14/9</a:t>
                      </a:r>
                      <a:endParaRPr/>
                    </a:p>
                    <a:p>
                      <a:pPr marL="0" lvl="0" indent="0" algn="l" rtl="0">
                        <a:spcBef>
                          <a:spcPts val="0"/>
                        </a:spcBef>
                        <a:spcAft>
                          <a:spcPts val="0"/>
                        </a:spcAft>
                        <a:buClr>
                          <a:srgbClr val="000000"/>
                        </a:buClr>
                        <a:buSzPts val="1100"/>
                        <a:buFont typeface="Arial"/>
                        <a:buNone/>
                      </a:pPr>
                      <a:r>
                        <a:rPr lang="en"/>
                        <a:t>GĐ3: 15/9 - 30/9</a:t>
                      </a:r>
                      <a:endParaRPr/>
                    </a:p>
                    <a:p>
                      <a:pPr marL="0" lvl="0" indent="0" algn="l" rtl="0">
                        <a:spcBef>
                          <a:spcPts val="0"/>
                        </a:spcBef>
                        <a:spcAft>
                          <a:spcPts val="0"/>
                        </a:spcAft>
                        <a:buNone/>
                      </a:pPr>
                      <a:endParaRPr/>
                    </a:p>
                  </a:txBody>
                  <a:tcPr marL="91425" marR="91425" marT="91425" marB="91425">
                    <a:lnL w="9525" cap="flat" cmpd="sng">
                      <a:solidFill>
                        <a:srgbClr val="595959"/>
                      </a:solidFill>
                      <a:prstDash val="dash"/>
                      <a:round/>
                      <a:headEnd type="none" w="sm" len="sm"/>
                      <a:tailEnd type="none" w="sm" len="sm"/>
                    </a:lnL>
                    <a:lnR w="9525" cap="flat" cmpd="sng">
                      <a:solidFill>
                        <a:srgbClr val="595959"/>
                      </a:solidFill>
                      <a:prstDash val="dash"/>
                      <a:round/>
                      <a:headEnd type="none" w="sm" len="sm"/>
                      <a:tailEnd type="none" w="sm" len="sm"/>
                    </a:lnR>
                    <a:lnT w="9525" cap="flat" cmpd="sng">
                      <a:solidFill>
                        <a:srgbClr val="595959"/>
                      </a:solidFill>
                      <a:prstDash val="dash"/>
                      <a:round/>
                      <a:headEnd type="none" w="sm" len="sm"/>
                      <a:tailEnd type="none" w="sm" len="sm"/>
                    </a:lnT>
                    <a:lnB w="9525" cap="flat" cmpd="sng">
                      <a:solidFill>
                        <a:srgbClr val="595959"/>
                      </a:solidFill>
                      <a:prstDash val="dash"/>
                      <a:round/>
                      <a:headEnd type="none" w="sm" len="sm"/>
                      <a:tailEnd type="none" w="sm" len="sm"/>
                    </a:lnB>
                  </a:tcPr>
                </a:tc>
                <a:extLst>
                  <a:ext uri="{0D108BD9-81ED-4DB2-BD59-A6C34878D82A}">
                    <a16:rowId xmlns:a16="http://schemas.microsoft.com/office/drawing/2014/main" val="10005"/>
                  </a:ext>
                </a:extLst>
              </a:tr>
            </a:tbl>
          </a:graphicData>
        </a:graphic>
      </p:graphicFrame>
      <p:sp>
        <p:nvSpPr>
          <p:cNvPr id="857" name="Google Shape;857;p54">
            <a:hlinkClick r:id="rId4"/>
          </p:cNvPr>
          <p:cNvSpPr/>
          <p:nvPr/>
        </p:nvSpPr>
        <p:spPr>
          <a:xfrm>
            <a:off x="365746" y="4647000"/>
            <a:ext cx="16260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1200" b="1" u="sng">
                <a:solidFill>
                  <a:schemeClr val="hlink"/>
                </a:solidFill>
                <a:latin typeface="Lexend"/>
                <a:ea typeface="Lexend"/>
                <a:cs typeface="Lexend"/>
                <a:sym typeface="Lexend"/>
                <a:hlinkClick r:id="rId4"/>
              </a:rPr>
              <a:t>Link plan</a:t>
            </a:r>
            <a:endParaRPr sz="1200" b="1" i="0" u="none" strike="noStrike" cap="none">
              <a:solidFill>
                <a:srgbClr val="F56C1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cxnSp>
        <p:nvCxnSpPr>
          <p:cNvPr id="862" name="Google Shape;862;p55"/>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863" name="Google Shape;863;p55"/>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864" name="Google Shape;864;p55"/>
          <p:cNvSpPr txBox="1"/>
          <p:nvPr/>
        </p:nvSpPr>
        <p:spPr>
          <a:xfrm>
            <a:off x="585326" y="122825"/>
            <a:ext cx="306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[HAN] OPERATION GROWTH</a:t>
            </a:r>
            <a:endParaRPr b="1">
              <a:solidFill>
                <a:srgbClr val="1155CC"/>
              </a:solidFill>
              <a:latin typeface="Montserrat"/>
              <a:ea typeface="Montserrat"/>
              <a:cs typeface="Montserrat"/>
              <a:sym typeface="Montserrat"/>
            </a:endParaRPr>
          </a:p>
        </p:txBody>
      </p:sp>
      <p:pic>
        <p:nvPicPr>
          <p:cNvPr id="865" name="Google Shape;865;p55"/>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866" name="Google Shape;866;p55"/>
          <p:cNvSpPr/>
          <p:nvPr/>
        </p:nvSpPr>
        <p:spPr>
          <a:xfrm>
            <a:off x="290699" y="945164"/>
            <a:ext cx="4199400" cy="500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7" name="Google Shape;867;p55"/>
          <p:cNvSpPr txBox="1"/>
          <p:nvPr/>
        </p:nvSpPr>
        <p:spPr>
          <a:xfrm>
            <a:off x="2619893" y="991074"/>
            <a:ext cx="1705200" cy="400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700">
                <a:solidFill>
                  <a:srgbClr val="0B8043"/>
                </a:solidFill>
                <a:latin typeface="Montserrat Black"/>
                <a:ea typeface="Montserrat Black"/>
                <a:cs typeface="Montserrat Black"/>
                <a:sym typeface="Montserrat Black"/>
              </a:rPr>
              <a:t>83.6%</a:t>
            </a:r>
            <a:endParaRPr sz="2700">
              <a:solidFill>
                <a:srgbClr val="0B8043"/>
              </a:solidFill>
              <a:latin typeface="Montserrat Black"/>
              <a:ea typeface="Montserrat Black"/>
              <a:cs typeface="Montserrat Black"/>
              <a:sym typeface="Montserrat Black"/>
            </a:endParaRPr>
          </a:p>
        </p:txBody>
      </p:sp>
      <p:sp>
        <p:nvSpPr>
          <p:cNvPr id="868" name="Google Shape;868;p55"/>
          <p:cNvSpPr txBox="1"/>
          <p:nvPr/>
        </p:nvSpPr>
        <p:spPr>
          <a:xfrm>
            <a:off x="386600" y="975775"/>
            <a:ext cx="21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3451D6"/>
                </a:solidFill>
                <a:latin typeface="Montserrat Black"/>
                <a:ea typeface="Montserrat Black"/>
                <a:cs typeface="Montserrat Black"/>
                <a:sym typeface="Montserrat Black"/>
              </a:rPr>
              <a:t>Capacity HAN M7</a:t>
            </a:r>
            <a:endParaRPr sz="1600">
              <a:solidFill>
                <a:srgbClr val="3451D6"/>
              </a:solidFill>
              <a:latin typeface="Montserrat Black"/>
              <a:ea typeface="Montserrat Black"/>
              <a:cs typeface="Montserrat Black"/>
              <a:sym typeface="Montserrat Black"/>
            </a:endParaRPr>
          </a:p>
        </p:txBody>
      </p:sp>
      <p:sp>
        <p:nvSpPr>
          <p:cNvPr id="869" name="Google Shape;869;p55"/>
          <p:cNvSpPr/>
          <p:nvPr/>
        </p:nvSpPr>
        <p:spPr>
          <a:xfrm>
            <a:off x="4999450" y="1055332"/>
            <a:ext cx="3862200" cy="1852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228600" lvl="0" indent="-292100" algn="l" rtl="0">
              <a:lnSpc>
                <a:spcPct val="115000"/>
              </a:lnSpc>
              <a:spcBef>
                <a:spcPts val="0"/>
              </a:spcBef>
              <a:spcAft>
                <a:spcPts val="0"/>
              </a:spcAft>
              <a:buClr>
                <a:srgbClr val="010101"/>
              </a:buClr>
              <a:buSzPts val="1000"/>
              <a:buChar char="-"/>
            </a:pPr>
            <a:r>
              <a:rPr lang="en" sz="1000">
                <a:solidFill>
                  <a:srgbClr val="010101"/>
                </a:solidFill>
              </a:rPr>
              <a:t>Total Capacity bám sát tiến độ MTD. Capacity NLM có dấu hiệu chững lại do trend active dần về cuối tháng, trong khi NIM và Return vẫn duy trì đà tăng.</a:t>
            </a:r>
            <a:endParaRPr sz="1000">
              <a:solidFill>
                <a:srgbClr val="010101"/>
              </a:solidFill>
            </a:endParaRPr>
          </a:p>
        </p:txBody>
      </p:sp>
      <p:grpSp>
        <p:nvGrpSpPr>
          <p:cNvPr id="870" name="Google Shape;870;p55"/>
          <p:cNvGrpSpPr/>
          <p:nvPr/>
        </p:nvGrpSpPr>
        <p:grpSpPr>
          <a:xfrm>
            <a:off x="4999440" y="777147"/>
            <a:ext cx="1197341" cy="338420"/>
            <a:chOff x="4589852" y="2167012"/>
            <a:chExt cx="1151400" cy="269400"/>
          </a:xfrm>
        </p:grpSpPr>
        <p:sp>
          <p:nvSpPr>
            <p:cNvPr id="871" name="Google Shape;871;p55"/>
            <p:cNvSpPr/>
            <p:nvPr/>
          </p:nvSpPr>
          <p:spPr>
            <a:xfrm>
              <a:off x="4589852" y="2185472"/>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2" name="Google Shape;872;p55"/>
            <p:cNvSpPr txBox="1"/>
            <p:nvPr/>
          </p:nvSpPr>
          <p:spPr>
            <a:xfrm>
              <a:off x="4680146" y="2167012"/>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graphicFrame>
        <p:nvGraphicFramePr>
          <p:cNvPr id="873" name="Google Shape;873;p55"/>
          <p:cNvGraphicFramePr/>
          <p:nvPr/>
        </p:nvGraphicFramePr>
        <p:xfrm>
          <a:off x="481200" y="1658091"/>
          <a:ext cx="3000000" cy="3000000"/>
        </p:xfrm>
        <a:graphic>
          <a:graphicData uri="http://schemas.openxmlformats.org/drawingml/2006/table">
            <a:tbl>
              <a:tblPr>
                <a:noFill/>
                <a:tableStyleId>{1B6E03F7-A7B3-402D-A52F-665CEB5CA1F2}</a:tableStyleId>
              </a:tblPr>
              <a:tblGrid>
                <a:gridCol w="1080175">
                  <a:extLst>
                    <a:ext uri="{9D8B030D-6E8A-4147-A177-3AD203B41FA5}">
                      <a16:colId xmlns:a16="http://schemas.microsoft.com/office/drawing/2014/main" val="20000"/>
                    </a:ext>
                  </a:extLst>
                </a:gridCol>
                <a:gridCol w="993750">
                  <a:extLst>
                    <a:ext uri="{9D8B030D-6E8A-4147-A177-3AD203B41FA5}">
                      <a16:colId xmlns:a16="http://schemas.microsoft.com/office/drawing/2014/main" val="20001"/>
                    </a:ext>
                  </a:extLst>
                </a:gridCol>
                <a:gridCol w="934100">
                  <a:extLst>
                    <a:ext uri="{9D8B030D-6E8A-4147-A177-3AD203B41FA5}">
                      <a16:colId xmlns:a16="http://schemas.microsoft.com/office/drawing/2014/main" val="20002"/>
                    </a:ext>
                  </a:extLst>
                </a:gridCol>
                <a:gridCol w="810350">
                  <a:extLst>
                    <a:ext uri="{9D8B030D-6E8A-4147-A177-3AD203B41FA5}">
                      <a16:colId xmlns:a16="http://schemas.microsoft.com/office/drawing/2014/main" val="20003"/>
                    </a:ext>
                  </a:extLst>
                </a:gridCol>
              </a:tblGrid>
              <a:tr h="279875">
                <a:tc>
                  <a:txBody>
                    <a:bodyPr/>
                    <a:lstStyle/>
                    <a:p>
                      <a:pPr marL="0" lvl="0" indent="0" algn="ctr" rtl="0">
                        <a:lnSpc>
                          <a:spcPct val="115000"/>
                        </a:lnSpc>
                        <a:spcBef>
                          <a:spcPts val="0"/>
                        </a:spcBef>
                        <a:spcAft>
                          <a:spcPts val="0"/>
                        </a:spcAft>
                        <a:buNone/>
                      </a:pPr>
                      <a:r>
                        <a:rPr lang="en" sz="1200" b="1">
                          <a:solidFill>
                            <a:schemeClr val="dk1"/>
                          </a:solidFill>
                          <a:latin typeface="Lexend"/>
                          <a:ea typeface="Lexend"/>
                          <a:cs typeface="Lexend"/>
                          <a:sym typeface="Lexend"/>
                        </a:rPr>
                        <a:t>SGN</a:t>
                      </a:r>
                      <a:endParaRPr sz="1200" b="1">
                        <a:solidFill>
                          <a:schemeClr val="dk1"/>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NLM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RIM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extLst>
                  <a:ext uri="{0D108BD9-81ED-4DB2-BD59-A6C34878D82A}">
                    <a16:rowId xmlns:a16="http://schemas.microsoft.com/office/drawing/2014/main" val="10000"/>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ACTUAL</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66,239	</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latin typeface="Lexend"/>
                          <a:ea typeface="Lexend"/>
                          <a:cs typeface="Lexend"/>
                          <a:sym typeface="Lexend"/>
                        </a:rPr>
                        <a:t>76,124</a:t>
                      </a:r>
                      <a:endParaRPr sz="11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42,611	</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74,100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102,500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44,600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 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B8043"/>
                          </a:solidFill>
                          <a:latin typeface="Lexend"/>
                          <a:ea typeface="Lexend"/>
                          <a:cs typeface="Lexend"/>
                          <a:sym typeface="Lexend"/>
                        </a:rPr>
                        <a:t>89.39%</a:t>
                      </a:r>
                      <a:endParaRPr sz="1100" b="1">
                        <a:solidFill>
                          <a:srgbClr val="0B8043"/>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F96604"/>
                          </a:solidFill>
                          <a:latin typeface="Lexend"/>
                          <a:ea typeface="Lexend"/>
                          <a:cs typeface="Lexend"/>
                          <a:sym typeface="Lexend"/>
                        </a:rPr>
                        <a:t>74.27%</a:t>
                      </a:r>
                      <a:endParaRPr sz="1100" b="1">
                        <a:solidFill>
                          <a:srgbClr val="F96604"/>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D8000"/>
                          </a:solidFill>
                          <a:latin typeface="Lexend"/>
                          <a:ea typeface="Lexend"/>
                          <a:cs typeface="Lexend"/>
                          <a:sym typeface="Lexend"/>
                        </a:rPr>
                        <a:t>95.54%</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874" name="Google Shape;874;p55" title="Chart"/>
          <p:cNvPicPr preferRelativeResize="0"/>
          <p:nvPr/>
        </p:nvPicPr>
        <p:blipFill>
          <a:blip r:embed="rId4">
            <a:alphaModFix/>
          </a:blip>
          <a:stretch>
            <a:fillRect/>
          </a:stretch>
        </p:blipFill>
        <p:spPr>
          <a:xfrm>
            <a:off x="173328" y="3044116"/>
            <a:ext cx="3060301" cy="1895706"/>
          </a:xfrm>
          <a:prstGeom prst="rect">
            <a:avLst/>
          </a:prstGeom>
          <a:noFill/>
          <a:ln>
            <a:noFill/>
          </a:ln>
        </p:spPr>
      </p:pic>
      <p:pic>
        <p:nvPicPr>
          <p:cNvPr id="875" name="Google Shape;875;p55" title="Chart"/>
          <p:cNvPicPr preferRelativeResize="0"/>
          <p:nvPr/>
        </p:nvPicPr>
        <p:blipFill>
          <a:blip r:embed="rId5">
            <a:alphaModFix/>
          </a:blip>
          <a:stretch>
            <a:fillRect/>
          </a:stretch>
        </p:blipFill>
        <p:spPr>
          <a:xfrm>
            <a:off x="3146275" y="2990425"/>
            <a:ext cx="3184776" cy="1895700"/>
          </a:xfrm>
          <a:prstGeom prst="rect">
            <a:avLst/>
          </a:prstGeom>
          <a:noFill/>
          <a:ln>
            <a:noFill/>
          </a:ln>
        </p:spPr>
      </p:pic>
      <p:pic>
        <p:nvPicPr>
          <p:cNvPr id="876" name="Google Shape;876;p55" title="Chart"/>
          <p:cNvPicPr preferRelativeResize="0"/>
          <p:nvPr/>
        </p:nvPicPr>
        <p:blipFill>
          <a:blip r:embed="rId6">
            <a:alphaModFix/>
          </a:blip>
          <a:stretch>
            <a:fillRect/>
          </a:stretch>
        </p:blipFill>
        <p:spPr>
          <a:xfrm>
            <a:off x="5970074" y="3044125"/>
            <a:ext cx="3146862" cy="1895700"/>
          </a:xfrm>
          <a:prstGeom prst="rect">
            <a:avLst/>
          </a:prstGeom>
          <a:noFill/>
          <a:ln>
            <a:noFill/>
          </a:ln>
        </p:spPr>
      </p:pic>
      <p:sp>
        <p:nvSpPr>
          <p:cNvPr id="877" name="Google Shape;877;p5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cxnSp>
        <p:nvCxnSpPr>
          <p:cNvPr id="882" name="Google Shape;882;p56"/>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883" name="Google Shape;883;p56"/>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884" name="Google Shape;884;p56"/>
          <p:cNvSpPr txBox="1"/>
          <p:nvPr/>
        </p:nvSpPr>
        <p:spPr>
          <a:xfrm>
            <a:off x="585326" y="122825"/>
            <a:ext cx="306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[SGN] OPERATION GROWTH</a:t>
            </a:r>
            <a:endParaRPr b="1">
              <a:solidFill>
                <a:srgbClr val="1155CC"/>
              </a:solidFill>
              <a:latin typeface="Montserrat"/>
              <a:ea typeface="Montserrat"/>
              <a:cs typeface="Montserrat"/>
              <a:sym typeface="Montserrat"/>
            </a:endParaRPr>
          </a:p>
        </p:txBody>
      </p:sp>
      <p:pic>
        <p:nvPicPr>
          <p:cNvPr id="885" name="Google Shape;885;p56"/>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886" name="Google Shape;886;p56"/>
          <p:cNvSpPr/>
          <p:nvPr/>
        </p:nvSpPr>
        <p:spPr>
          <a:xfrm>
            <a:off x="290699" y="945164"/>
            <a:ext cx="4199400" cy="500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7" name="Google Shape;887;p56"/>
          <p:cNvSpPr txBox="1"/>
          <p:nvPr/>
        </p:nvSpPr>
        <p:spPr>
          <a:xfrm>
            <a:off x="2619893" y="991074"/>
            <a:ext cx="1705200" cy="400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700">
                <a:solidFill>
                  <a:srgbClr val="0D8000"/>
                </a:solidFill>
                <a:latin typeface="Montserrat Black"/>
                <a:ea typeface="Montserrat Black"/>
                <a:cs typeface="Montserrat Black"/>
                <a:sym typeface="Montserrat Black"/>
              </a:rPr>
              <a:t>91%</a:t>
            </a:r>
            <a:endParaRPr sz="2700">
              <a:solidFill>
                <a:srgbClr val="0D8000"/>
              </a:solidFill>
              <a:latin typeface="Montserrat Black"/>
              <a:ea typeface="Montserrat Black"/>
              <a:cs typeface="Montserrat Black"/>
              <a:sym typeface="Montserrat Black"/>
            </a:endParaRPr>
          </a:p>
        </p:txBody>
      </p:sp>
      <p:sp>
        <p:nvSpPr>
          <p:cNvPr id="888" name="Google Shape;888;p56"/>
          <p:cNvSpPr txBox="1"/>
          <p:nvPr/>
        </p:nvSpPr>
        <p:spPr>
          <a:xfrm>
            <a:off x="386600" y="975775"/>
            <a:ext cx="21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3451D6"/>
                </a:solidFill>
                <a:latin typeface="Montserrat Black"/>
                <a:ea typeface="Montserrat Black"/>
                <a:cs typeface="Montserrat Black"/>
                <a:sym typeface="Montserrat Black"/>
              </a:rPr>
              <a:t>Capacity SGN M7</a:t>
            </a:r>
            <a:endParaRPr sz="1600">
              <a:solidFill>
                <a:srgbClr val="3451D6"/>
              </a:solidFill>
              <a:latin typeface="Montserrat Black"/>
              <a:ea typeface="Montserrat Black"/>
              <a:cs typeface="Montserrat Black"/>
              <a:sym typeface="Montserrat Black"/>
            </a:endParaRPr>
          </a:p>
        </p:txBody>
      </p:sp>
      <p:pic>
        <p:nvPicPr>
          <p:cNvPr id="889" name="Google Shape;889;p56" title="Chart"/>
          <p:cNvPicPr preferRelativeResize="0"/>
          <p:nvPr/>
        </p:nvPicPr>
        <p:blipFill>
          <a:blip r:embed="rId4">
            <a:alphaModFix/>
          </a:blip>
          <a:stretch>
            <a:fillRect/>
          </a:stretch>
        </p:blipFill>
        <p:spPr>
          <a:xfrm>
            <a:off x="41500" y="3043125"/>
            <a:ext cx="3131612" cy="1939875"/>
          </a:xfrm>
          <a:prstGeom prst="rect">
            <a:avLst/>
          </a:prstGeom>
          <a:noFill/>
          <a:ln>
            <a:noFill/>
          </a:ln>
        </p:spPr>
      </p:pic>
      <p:pic>
        <p:nvPicPr>
          <p:cNvPr id="890" name="Google Shape;890;p56" title="Chart"/>
          <p:cNvPicPr preferRelativeResize="0"/>
          <p:nvPr/>
        </p:nvPicPr>
        <p:blipFill>
          <a:blip r:embed="rId5">
            <a:alphaModFix/>
          </a:blip>
          <a:stretch>
            <a:fillRect/>
          </a:stretch>
        </p:blipFill>
        <p:spPr>
          <a:xfrm>
            <a:off x="2942800" y="2990394"/>
            <a:ext cx="3259000" cy="1939881"/>
          </a:xfrm>
          <a:prstGeom prst="rect">
            <a:avLst/>
          </a:prstGeom>
          <a:noFill/>
          <a:ln>
            <a:noFill/>
          </a:ln>
        </p:spPr>
      </p:pic>
      <p:pic>
        <p:nvPicPr>
          <p:cNvPr id="891" name="Google Shape;891;p56" title="Chart"/>
          <p:cNvPicPr preferRelativeResize="0"/>
          <p:nvPr/>
        </p:nvPicPr>
        <p:blipFill>
          <a:blip r:embed="rId6">
            <a:alphaModFix/>
          </a:blip>
          <a:stretch>
            <a:fillRect/>
          </a:stretch>
        </p:blipFill>
        <p:spPr>
          <a:xfrm>
            <a:off x="5860143" y="2990400"/>
            <a:ext cx="3220192" cy="1939875"/>
          </a:xfrm>
          <a:prstGeom prst="rect">
            <a:avLst/>
          </a:prstGeom>
          <a:noFill/>
          <a:ln>
            <a:noFill/>
          </a:ln>
        </p:spPr>
      </p:pic>
      <p:sp>
        <p:nvSpPr>
          <p:cNvPr id="892" name="Google Shape;892;p56"/>
          <p:cNvSpPr/>
          <p:nvPr/>
        </p:nvSpPr>
        <p:spPr>
          <a:xfrm>
            <a:off x="4999450" y="1055332"/>
            <a:ext cx="3862200" cy="1852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228600" lvl="0" indent="-292100" algn="l" rtl="0">
              <a:lnSpc>
                <a:spcPct val="115000"/>
              </a:lnSpc>
              <a:spcBef>
                <a:spcPts val="0"/>
              </a:spcBef>
              <a:spcAft>
                <a:spcPts val="0"/>
              </a:spcAft>
              <a:buClr>
                <a:srgbClr val="010101"/>
              </a:buClr>
              <a:buSzPts val="1000"/>
              <a:buChar char="-"/>
            </a:pPr>
            <a:r>
              <a:rPr lang="en" sz="1000">
                <a:solidFill>
                  <a:srgbClr val="010101"/>
                </a:solidFill>
              </a:rPr>
              <a:t>Total Capacity hiện vượt 7.2% so với tiến độ MTD. Đảm bảo hoàn thành 100% target đề ra.</a:t>
            </a:r>
            <a:endParaRPr sz="1000">
              <a:solidFill>
                <a:srgbClr val="010101"/>
              </a:solidFill>
            </a:endParaRPr>
          </a:p>
        </p:txBody>
      </p:sp>
      <p:grpSp>
        <p:nvGrpSpPr>
          <p:cNvPr id="893" name="Google Shape;893;p56"/>
          <p:cNvGrpSpPr/>
          <p:nvPr/>
        </p:nvGrpSpPr>
        <p:grpSpPr>
          <a:xfrm>
            <a:off x="4999440" y="777147"/>
            <a:ext cx="1197341" cy="338420"/>
            <a:chOff x="4589852" y="2167012"/>
            <a:chExt cx="1151400" cy="269400"/>
          </a:xfrm>
        </p:grpSpPr>
        <p:sp>
          <p:nvSpPr>
            <p:cNvPr id="894" name="Google Shape;894;p56"/>
            <p:cNvSpPr/>
            <p:nvPr/>
          </p:nvSpPr>
          <p:spPr>
            <a:xfrm>
              <a:off x="4589852" y="2185472"/>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5" name="Google Shape;895;p56"/>
            <p:cNvSpPr txBox="1"/>
            <p:nvPr/>
          </p:nvSpPr>
          <p:spPr>
            <a:xfrm>
              <a:off x="4680146" y="2167012"/>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graphicFrame>
        <p:nvGraphicFramePr>
          <p:cNvPr id="896" name="Google Shape;896;p56"/>
          <p:cNvGraphicFramePr/>
          <p:nvPr/>
        </p:nvGraphicFramePr>
        <p:xfrm>
          <a:off x="481200" y="1658091"/>
          <a:ext cx="3000000" cy="3000000"/>
        </p:xfrm>
        <a:graphic>
          <a:graphicData uri="http://schemas.openxmlformats.org/drawingml/2006/table">
            <a:tbl>
              <a:tblPr>
                <a:noFill/>
                <a:tableStyleId>{1B6E03F7-A7B3-402D-A52F-665CEB5CA1F2}</a:tableStyleId>
              </a:tblPr>
              <a:tblGrid>
                <a:gridCol w="1080175">
                  <a:extLst>
                    <a:ext uri="{9D8B030D-6E8A-4147-A177-3AD203B41FA5}">
                      <a16:colId xmlns:a16="http://schemas.microsoft.com/office/drawing/2014/main" val="20000"/>
                    </a:ext>
                  </a:extLst>
                </a:gridCol>
                <a:gridCol w="993750">
                  <a:extLst>
                    <a:ext uri="{9D8B030D-6E8A-4147-A177-3AD203B41FA5}">
                      <a16:colId xmlns:a16="http://schemas.microsoft.com/office/drawing/2014/main" val="20001"/>
                    </a:ext>
                  </a:extLst>
                </a:gridCol>
                <a:gridCol w="934100">
                  <a:extLst>
                    <a:ext uri="{9D8B030D-6E8A-4147-A177-3AD203B41FA5}">
                      <a16:colId xmlns:a16="http://schemas.microsoft.com/office/drawing/2014/main" val="20002"/>
                    </a:ext>
                  </a:extLst>
                </a:gridCol>
                <a:gridCol w="810350">
                  <a:extLst>
                    <a:ext uri="{9D8B030D-6E8A-4147-A177-3AD203B41FA5}">
                      <a16:colId xmlns:a16="http://schemas.microsoft.com/office/drawing/2014/main" val="20003"/>
                    </a:ext>
                  </a:extLst>
                </a:gridCol>
              </a:tblGrid>
              <a:tr h="279875">
                <a:tc>
                  <a:txBody>
                    <a:bodyPr/>
                    <a:lstStyle/>
                    <a:p>
                      <a:pPr marL="0" lvl="0" indent="0" algn="ctr" rtl="0">
                        <a:lnSpc>
                          <a:spcPct val="115000"/>
                        </a:lnSpc>
                        <a:spcBef>
                          <a:spcPts val="0"/>
                        </a:spcBef>
                        <a:spcAft>
                          <a:spcPts val="0"/>
                        </a:spcAft>
                        <a:buNone/>
                      </a:pPr>
                      <a:r>
                        <a:rPr lang="en" sz="1200" b="1">
                          <a:solidFill>
                            <a:schemeClr val="dk1"/>
                          </a:solidFill>
                          <a:latin typeface="Lexend"/>
                          <a:ea typeface="Lexend"/>
                          <a:cs typeface="Lexend"/>
                          <a:sym typeface="Lexend"/>
                        </a:rPr>
                        <a:t>SGN</a:t>
                      </a:r>
                      <a:endParaRPr sz="1200" b="1">
                        <a:solidFill>
                          <a:schemeClr val="dk1"/>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NLM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RIM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extLst>
                  <a:ext uri="{0D108BD9-81ED-4DB2-BD59-A6C34878D82A}">
                    <a16:rowId xmlns:a16="http://schemas.microsoft.com/office/drawing/2014/main" val="10000"/>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ACTUAL</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76,886</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latin typeface="Lexend"/>
                          <a:ea typeface="Lexend"/>
                          <a:cs typeface="Lexend"/>
                          <a:sym typeface="Lexend"/>
                        </a:rPr>
                        <a:t>113,107</a:t>
                      </a:r>
                      <a:endParaRPr sz="11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39,113</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82,000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130,300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39,400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 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D8000"/>
                          </a:solidFill>
                          <a:latin typeface="Lexend"/>
                          <a:ea typeface="Lexend"/>
                          <a:cs typeface="Lexend"/>
                          <a:sym typeface="Lexend"/>
                        </a:rPr>
                        <a:t>93.76%</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D8000"/>
                          </a:solidFill>
                          <a:latin typeface="Lexend"/>
                          <a:ea typeface="Lexend"/>
                          <a:cs typeface="Lexend"/>
                          <a:sym typeface="Lexend"/>
                        </a:rPr>
                        <a:t>86.81%</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D8000"/>
                          </a:solidFill>
                          <a:latin typeface="Lexend"/>
                          <a:ea typeface="Lexend"/>
                          <a:cs typeface="Lexend"/>
                          <a:sym typeface="Lexend"/>
                        </a:rPr>
                        <a:t>99.27%</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97" name="Google Shape;897;p5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cxnSp>
        <p:nvCxnSpPr>
          <p:cNvPr id="902" name="Google Shape;902;p57"/>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903" name="Google Shape;903;p57"/>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904" name="Google Shape;904;p57"/>
          <p:cNvSpPr txBox="1"/>
          <p:nvPr/>
        </p:nvSpPr>
        <p:spPr>
          <a:xfrm>
            <a:off x="585326" y="122825"/>
            <a:ext cx="406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[HAN] OPERATION GROWTH</a:t>
            </a:r>
            <a:endParaRPr b="1">
              <a:solidFill>
                <a:srgbClr val="1155CC"/>
              </a:solidFill>
              <a:latin typeface="Montserrat"/>
              <a:ea typeface="Montserrat"/>
              <a:cs typeface="Montserrat"/>
              <a:sym typeface="Montserrat"/>
            </a:endParaRPr>
          </a:p>
        </p:txBody>
      </p:sp>
      <p:pic>
        <p:nvPicPr>
          <p:cNvPr id="905" name="Google Shape;905;p57"/>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906" name="Google Shape;906;p57"/>
          <p:cNvSpPr/>
          <p:nvPr/>
        </p:nvSpPr>
        <p:spPr>
          <a:xfrm>
            <a:off x="22939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07" name="Google Shape;907;p57"/>
          <p:cNvSpPr txBox="1"/>
          <p:nvPr/>
        </p:nvSpPr>
        <p:spPr>
          <a:xfrm>
            <a:off x="401500" y="741925"/>
            <a:ext cx="9015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a:solidFill>
                  <a:srgbClr val="0C8000"/>
                </a:solidFill>
                <a:latin typeface="Montserrat Black"/>
                <a:ea typeface="Montserrat Black"/>
                <a:cs typeface="Montserrat Black"/>
                <a:sym typeface="Montserrat Black"/>
              </a:rPr>
              <a:t>100%</a:t>
            </a:r>
            <a:endParaRPr sz="2000">
              <a:solidFill>
                <a:srgbClr val="0C8000"/>
              </a:solidFill>
              <a:latin typeface="Montserrat Black"/>
              <a:ea typeface="Montserrat Black"/>
              <a:cs typeface="Montserrat Black"/>
              <a:sym typeface="Montserrat Black"/>
            </a:endParaRPr>
          </a:p>
        </p:txBody>
      </p:sp>
      <p:sp>
        <p:nvSpPr>
          <p:cNvPr id="908" name="Google Shape;908;p57"/>
          <p:cNvSpPr txBox="1"/>
          <p:nvPr/>
        </p:nvSpPr>
        <p:spPr>
          <a:xfrm>
            <a:off x="126903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09" name="Google Shape;909;p57"/>
          <p:cNvSpPr txBox="1"/>
          <p:nvPr/>
        </p:nvSpPr>
        <p:spPr>
          <a:xfrm>
            <a:off x="2102850"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93.81%</a:t>
            </a:r>
            <a:endParaRPr sz="900" b="1">
              <a:solidFill>
                <a:srgbClr val="666666"/>
              </a:solidFill>
              <a:latin typeface="Montserrat"/>
              <a:ea typeface="Montserrat"/>
              <a:cs typeface="Montserrat"/>
              <a:sym typeface="Montserrat"/>
            </a:endParaRPr>
          </a:p>
        </p:txBody>
      </p:sp>
      <p:sp>
        <p:nvSpPr>
          <p:cNvPr id="910" name="Google Shape;910;p57"/>
          <p:cNvSpPr/>
          <p:nvPr/>
        </p:nvSpPr>
        <p:spPr>
          <a:xfrm>
            <a:off x="313240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11" name="Google Shape;911;p57"/>
          <p:cNvSpPr txBox="1"/>
          <p:nvPr/>
        </p:nvSpPr>
        <p:spPr>
          <a:xfrm>
            <a:off x="3304511" y="741925"/>
            <a:ext cx="901500" cy="362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008000"/>
                </a:solidFill>
                <a:latin typeface="Montserrat Black"/>
                <a:ea typeface="Montserrat Black"/>
                <a:cs typeface="Montserrat Black"/>
                <a:sym typeface="Montserrat Black"/>
              </a:rPr>
              <a:t>100%</a:t>
            </a:r>
            <a:endParaRPr sz="2000">
              <a:solidFill>
                <a:srgbClr val="008000"/>
              </a:solidFill>
              <a:latin typeface="Montserrat Black"/>
              <a:ea typeface="Montserrat Black"/>
              <a:cs typeface="Montserrat Black"/>
              <a:sym typeface="Montserrat Black"/>
            </a:endParaRPr>
          </a:p>
        </p:txBody>
      </p:sp>
      <p:sp>
        <p:nvSpPr>
          <p:cNvPr id="912" name="Google Shape;912;p57"/>
          <p:cNvSpPr txBox="1"/>
          <p:nvPr/>
        </p:nvSpPr>
        <p:spPr>
          <a:xfrm>
            <a:off x="417204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13" name="Google Shape;913;p57"/>
          <p:cNvSpPr txBox="1"/>
          <p:nvPr/>
        </p:nvSpPr>
        <p:spPr>
          <a:xfrm>
            <a:off x="5005861"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12.06%</a:t>
            </a:r>
            <a:endParaRPr sz="900" b="1">
              <a:solidFill>
                <a:srgbClr val="666666"/>
              </a:solidFill>
              <a:latin typeface="Montserrat"/>
              <a:ea typeface="Montserrat"/>
              <a:cs typeface="Montserrat"/>
              <a:sym typeface="Montserrat"/>
            </a:endParaRPr>
          </a:p>
        </p:txBody>
      </p:sp>
      <p:sp>
        <p:nvSpPr>
          <p:cNvPr id="914" name="Google Shape;914;p57"/>
          <p:cNvSpPr/>
          <p:nvPr/>
        </p:nvSpPr>
        <p:spPr>
          <a:xfrm>
            <a:off x="6035397" y="694600"/>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15" name="Google Shape;915;p57"/>
          <p:cNvSpPr txBox="1"/>
          <p:nvPr/>
        </p:nvSpPr>
        <p:spPr>
          <a:xfrm>
            <a:off x="6284900" y="730450"/>
            <a:ext cx="901500" cy="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85%</a:t>
            </a:r>
            <a:endParaRPr sz="2000">
              <a:solidFill>
                <a:srgbClr val="FF7500"/>
              </a:solidFill>
              <a:latin typeface="Montserrat Black"/>
              <a:ea typeface="Montserrat Black"/>
              <a:cs typeface="Montserrat Black"/>
              <a:sym typeface="Montserrat Black"/>
            </a:endParaRPr>
          </a:p>
        </p:txBody>
      </p:sp>
      <p:sp>
        <p:nvSpPr>
          <p:cNvPr id="916" name="Google Shape;916;p57"/>
          <p:cNvSpPr txBox="1"/>
          <p:nvPr/>
        </p:nvSpPr>
        <p:spPr>
          <a:xfrm>
            <a:off x="7075038" y="750088"/>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17" name="Google Shape;917;p57"/>
          <p:cNvSpPr txBox="1"/>
          <p:nvPr/>
        </p:nvSpPr>
        <p:spPr>
          <a:xfrm>
            <a:off x="7908850" y="694588"/>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67.58%</a:t>
            </a:r>
            <a:endParaRPr sz="900" b="1">
              <a:solidFill>
                <a:srgbClr val="666666"/>
              </a:solidFill>
              <a:latin typeface="Montserrat"/>
              <a:ea typeface="Montserrat"/>
              <a:cs typeface="Montserrat"/>
              <a:sym typeface="Montserrat"/>
            </a:endParaRPr>
          </a:p>
        </p:txBody>
      </p:sp>
      <p:sp>
        <p:nvSpPr>
          <p:cNvPr id="918" name="Google Shape;918;p57"/>
          <p:cNvSpPr/>
          <p:nvPr/>
        </p:nvSpPr>
        <p:spPr>
          <a:xfrm>
            <a:off x="610049" y="3227925"/>
            <a:ext cx="7923900" cy="1717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b="1">
                <a:solidFill>
                  <a:srgbClr val="010101"/>
                </a:solidFill>
              </a:rPr>
              <a:t>GDR</a:t>
            </a:r>
            <a:r>
              <a:rPr lang="en" sz="900">
                <a:solidFill>
                  <a:srgbClr val="010101"/>
                </a:solidFill>
              </a:rPr>
              <a:t> đạt 100%.</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CR</a:t>
            </a:r>
            <a:r>
              <a:rPr lang="en" sz="900">
                <a:solidFill>
                  <a:srgbClr val="010101"/>
                </a:solidFill>
              </a:rPr>
              <a:t> tx tiếp tục giảm WoW. </a:t>
            </a:r>
            <a:endParaRPr sz="900" b="1">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DFD Retention </a:t>
            </a:r>
            <a:r>
              <a:rPr lang="en" sz="900">
                <a:solidFill>
                  <a:srgbClr val="010101"/>
                </a:solidFill>
              </a:rPr>
              <a:t>tăng 5% WoW, vẫn chưa đạt được KPI, trong tuần đã push sms và sử dụng ctt retention call truyền thông kêu gọi tx tiếp tục hoạt động. Tuy nhiên tài xế sinh viên vẫn chưa quay lại HN để chạy.</a:t>
            </a:r>
            <a:endParaRPr sz="900">
              <a:solidFill>
                <a:srgbClr val="010101"/>
              </a:solidFill>
            </a:endParaRPr>
          </a:p>
        </p:txBody>
      </p:sp>
      <p:grpSp>
        <p:nvGrpSpPr>
          <p:cNvPr id="919" name="Google Shape;919;p57"/>
          <p:cNvGrpSpPr/>
          <p:nvPr/>
        </p:nvGrpSpPr>
        <p:grpSpPr>
          <a:xfrm>
            <a:off x="721876" y="3032441"/>
            <a:ext cx="1365560" cy="338420"/>
            <a:chOff x="4985275" y="3894133"/>
            <a:chExt cx="1151400" cy="269400"/>
          </a:xfrm>
        </p:grpSpPr>
        <p:sp>
          <p:nvSpPr>
            <p:cNvPr id="920" name="Google Shape;920;p57"/>
            <p:cNvSpPr/>
            <p:nvPr/>
          </p:nvSpPr>
          <p:spPr>
            <a:xfrm>
              <a:off x="4985275" y="3932829"/>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1" name="Google Shape;921;p57"/>
            <p:cNvSpPr txBox="1"/>
            <p:nvPr/>
          </p:nvSpPr>
          <p:spPr>
            <a:xfrm>
              <a:off x="5075569" y="3894133"/>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pic>
        <p:nvPicPr>
          <p:cNvPr id="922" name="Google Shape;922;p57" title="Chart"/>
          <p:cNvPicPr preferRelativeResize="0"/>
          <p:nvPr/>
        </p:nvPicPr>
        <p:blipFill>
          <a:blip r:embed="rId4">
            <a:alphaModFix/>
          </a:blip>
          <a:stretch>
            <a:fillRect/>
          </a:stretch>
        </p:blipFill>
        <p:spPr>
          <a:xfrm>
            <a:off x="6054575" y="1091252"/>
            <a:ext cx="2864300" cy="1813422"/>
          </a:xfrm>
          <a:prstGeom prst="rect">
            <a:avLst/>
          </a:prstGeom>
          <a:noFill/>
          <a:ln>
            <a:noFill/>
          </a:ln>
        </p:spPr>
      </p:pic>
      <p:pic>
        <p:nvPicPr>
          <p:cNvPr id="923" name="Google Shape;923;p57" title="Chart"/>
          <p:cNvPicPr preferRelativeResize="0"/>
          <p:nvPr/>
        </p:nvPicPr>
        <p:blipFill>
          <a:blip r:embed="rId5">
            <a:alphaModFix/>
          </a:blip>
          <a:stretch>
            <a:fillRect/>
          </a:stretch>
        </p:blipFill>
        <p:spPr>
          <a:xfrm>
            <a:off x="244171" y="1150761"/>
            <a:ext cx="2773800" cy="1756117"/>
          </a:xfrm>
          <a:prstGeom prst="rect">
            <a:avLst/>
          </a:prstGeom>
          <a:noFill/>
          <a:ln>
            <a:noFill/>
          </a:ln>
        </p:spPr>
      </p:pic>
      <p:pic>
        <p:nvPicPr>
          <p:cNvPr id="924" name="Google Shape;924;p57" title="Chart"/>
          <p:cNvPicPr preferRelativeResize="0"/>
          <p:nvPr/>
        </p:nvPicPr>
        <p:blipFill>
          <a:blip r:embed="rId6">
            <a:alphaModFix/>
          </a:blip>
          <a:stretch>
            <a:fillRect/>
          </a:stretch>
        </p:blipFill>
        <p:spPr>
          <a:xfrm>
            <a:off x="3071474" y="1150742"/>
            <a:ext cx="2773800" cy="1756132"/>
          </a:xfrm>
          <a:prstGeom prst="rect">
            <a:avLst/>
          </a:prstGeom>
          <a:noFill/>
          <a:ln>
            <a:noFill/>
          </a:ln>
        </p:spPr>
      </p:pic>
      <p:sp>
        <p:nvSpPr>
          <p:cNvPr id="925" name="Google Shape;925;p5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58"/>
          <p:cNvSpPr/>
          <p:nvPr/>
        </p:nvSpPr>
        <p:spPr>
          <a:xfrm>
            <a:off x="4130750" y="3233299"/>
            <a:ext cx="3893100" cy="592500"/>
          </a:xfrm>
          <a:prstGeom prst="roundRect">
            <a:avLst>
              <a:gd name="adj" fmla="val 17595"/>
            </a:avLst>
          </a:prstGeom>
          <a:solidFill>
            <a:srgbClr val="FFFFFF"/>
          </a:solidFill>
          <a:ln>
            <a:noFill/>
          </a:ln>
          <a:effectLst>
            <a:outerShdw blurRad="628650" dist="19050" dir="5400000" algn="bl" rotWithShape="0">
              <a:srgbClr val="666666">
                <a:alpha val="13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sz="2200" b="1">
              <a:solidFill>
                <a:srgbClr val="1155CC"/>
              </a:solidFill>
              <a:latin typeface="Montserrat"/>
              <a:ea typeface="Montserrat"/>
              <a:cs typeface="Montserrat"/>
              <a:sym typeface="Montserrat"/>
            </a:endParaRPr>
          </a:p>
        </p:txBody>
      </p:sp>
      <p:cxnSp>
        <p:nvCxnSpPr>
          <p:cNvPr id="931" name="Google Shape;931;p58"/>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932" name="Google Shape;932;p58"/>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933" name="Google Shape;933;p58"/>
          <p:cNvSpPr txBox="1"/>
          <p:nvPr/>
        </p:nvSpPr>
        <p:spPr>
          <a:xfrm>
            <a:off x="585326" y="122825"/>
            <a:ext cx="406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[SGN] OPERATION GROWTH</a:t>
            </a:r>
            <a:endParaRPr b="1">
              <a:solidFill>
                <a:srgbClr val="1155CC"/>
              </a:solidFill>
              <a:latin typeface="Montserrat"/>
              <a:ea typeface="Montserrat"/>
              <a:cs typeface="Montserrat"/>
              <a:sym typeface="Montserrat"/>
            </a:endParaRPr>
          </a:p>
        </p:txBody>
      </p:sp>
      <p:pic>
        <p:nvPicPr>
          <p:cNvPr id="934" name="Google Shape;934;p58"/>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935" name="Google Shape;935;p58"/>
          <p:cNvSpPr/>
          <p:nvPr/>
        </p:nvSpPr>
        <p:spPr>
          <a:xfrm>
            <a:off x="22939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36" name="Google Shape;936;p58"/>
          <p:cNvSpPr txBox="1"/>
          <p:nvPr/>
        </p:nvSpPr>
        <p:spPr>
          <a:xfrm>
            <a:off x="401500" y="741925"/>
            <a:ext cx="9015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a:solidFill>
                  <a:srgbClr val="0C8000"/>
                </a:solidFill>
                <a:latin typeface="Montserrat Black"/>
                <a:ea typeface="Montserrat Black"/>
                <a:cs typeface="Montserrat Black"/>
                <a:sym typeface="Montserrat Black"/>
              </a:rPr>
              <a:t>120%</a:t>
            </a:r>
            <a:endParaRPr sz="2000">
              <a:solidFill>
                <a:srgbClr val="0C8000"/>
              </a:solidFill>
              <a:latin typeface="Montserrat Black"/>
              <a:ea typeface="Montserrat Black"/>
              <a:cs typeface="Montserrat Black"/>
              <a:sym typeface="Montserrat Black"/>
            </a:endParaRPr>
          </a:p>
        </p:txBody>
      </p:sp>
      <p:sp>
        <p:nvSpPr>
          <p:cNvPr id="937" name="Google Shape;937;p58"/>
          <p:cNvSpPr txBox="1"/>
          <p:nvPr/>
        </p:nvSpPr>
        <p:spPr>
          <a:xfrm>
            <a:off x="126903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38" name="Google Shape;938;p58"/>
          <p:cNvSpPr txBox="1"/>
          <p:nvPr/>
        </p:nvSpPr>
        <p:spPr>
          <a:xfrm>
            <a:off x="2102850"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96.87%</a:t>
            </a:r>
            <a:endParaRPr sz="900" b="1">
              <a:solidFill>
                <a:srgbClr val="666666"/>
              </a:solidFill>
              <a:latin typeface="Montserrat"/>
              <a:ea typeface="Montserrat"/>
              <a:cs typeface="Montserrat"/>
              <a:sym typeface="Montserrat"/>
            </a:endParaRPr>
          </a:p>
        </p:txBody>
      </p:sp>
      <p:sp>
        <p:nvSpPr>
          <p:cNvPr id="939" name="Google Shape;939;p58"/>
          <p:cNvSpPr/>
          <p:nvPr/>
        </p:nvSpPr>
        <p:spPr>
          <a:xfrm>
            <a:off x="313240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40" name="Google Shape;940;p58"/>
          <p:cNvSpPr txBox="1"/>
          <p:nvPr/>
        </p:nvSpPr>
        <p:spPr>
          <a:xfrm>
            <a:off x="3304511" y="741925"/>
            <a:ext cx="901500" cy="362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85%</a:t>
            </a:r>
            <a:endParaRPr sz="2000">
              <a:solidFill>
                <a:srgbClr val="FF7500"/>
              </a:solidFill>
              <a:latin typeface="Montserrat Black"/>
              <a:ea typeface="Montserrat Black"/>
              <a:cs typeface="Montserrat Black"/>
              <a:sym typeface="Montserrat Black"/>
            </a:endParaRPr>
          </a:p>
        </p:txBody>
      </p:sp>
      <p:sp>
        <p:nvSpPr>
          <p:cNvPr id="941" name="Google Shape;941;p58"/>
          <p:cNvSpPr txBox="1"/>
          <p:nvPr/>
        </p:nvSpPr>
        <p:spPr>
          <a:xfrm>
            <a:off x="417204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42" name="Google Shape;942;p58"/>
          <p:cNvSpPr txBox="1"/>
          <p:nvPr/>
        </p:nvSpPr>
        <p:spPr>
          <a:xfrm>
            <a:off x="5005861"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10.55%</a:t>
            </a:r>
            <a:endParaRPr sz="900" b="1">
              <a:solidFill>
                <a:srgbClr val="666666"/>
              </a:solidFill>
              <a:latin typeface="Montserrat"/>
              <a:ea typeface="Montserrat"/>
              <a:cs typeface="Montserrat"/>
              <a:sym typeface="Montserrat"/>
            </a:endParaRPr>
          </a:p>
        </p:txBody>
      </p:sp>
      <p:sp>
        <p:nvSpPr>
          <p:cNvPr id="943" name="Google Shape;943;p58"/>
          <p:cNvSpPr/>
          <p:nvPr/>
        </p:nvSpPr>
        <p:spPr>
          <a:xfrm>
            <a:off x="6036622" y="674950"/>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944" name="Google Shape;944;p58"/>
          <p:cNvSpPr txBox="1"/>
          <p:nvPr/>
        </p:nvSpPr>
        <p:spPr>
          <a:xfrm>
            <a:off x="6286125" y="710800"/>
            <a:ext cx="901500" cy="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95%</a:t>
            </a:r>
            <a:endParaRPr sz="2000">
              <a:solidFill>
                <a:srgbClr val="FF7500"/>
              </a:solidFill>
              <a:latin typeface="Montserrat Black"/>
              <a:ea typeface="Montserrat Black"/>
              <a:cs typeface="Montserrat Black"/>
              <a:sym typeface="Montserrat Black"/>
            </a:endParaRPr>
          </a:p>
        </p:txBody>
      </p:sp>
      <p:sp>
        <p:nvSpPr>
          <p:cNvPr id="945" name="Google Shape;945;p58"/>
          <p:cNvSpPr txBox="1"/>
          <p:nvPr/>
        </p:nvSpPr>
        <p:spPr>
          <a:xfrm>
            <a:off x="7076263" y="730438"/>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946" name="Google Shape;946;p58"/>
          <p:cNvSpPr txBox="1"/>
          <p:nvPr/>
        </p:nvSpPr>
        <p:spPr>
          <a:xfrm>
            <a:off x="7910075" y="674938"/>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73.08%</a:t>
            </a:r>
            <a:endParaRPr sz="900" b="1">
              <a:solidFill>
                <a:srgbClr val="666666"/>
              </a:solidFill>
              <a:latin typeface="Montserrat"/>
              <a:ea typeface="Montserrat"/>
              <a:cs typeface="Montserrat"/>
              <a:sym typeface="Montserrat"/>
            </a:endParaRPr>
          </a:p>
        </p:txBody>
      </p:sp>
      <p:sp>
        <p:nvSpPr>
          <p:cNvPr id="947" name="Google Shape;947;p58"/>
          <p:cNvSpPr/>
          <p:nvPr/>
        </p:nvSpPr>
        <p:spPr>
          <a:xfrm>
            <a:off x="530650" y="3331050"/>
            <a:ext cx="7977300" cy="15960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b="1">
                <a:solidFill>
                  <a:srgbClr val="010101"/>
                </a:solidFill>
              </a:rPr>
              <a:t>GDR</a:t>
            </a:r>
            <a:r>
              <a:rPr lang="en" sz="900">
                <a:solidFill>
                  <a:srgbClr val="010101"/>
                </a:solidFill>
              </a:rPr>
              <a:t> đạt 120%.</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CR</a:t>
            </a:r>
            <a:r>
              <a:rPr lang="en" sz="900">
                <a:solidFill>
                  <a:srgbClr val="010101"/>
                </a:solidFill>
              </a:rPr>
              <a:t> tx mới vẫn đang cao từ đầu tháng, tuy nhiên có giảm nhẹ so với tháng trước.</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DFD Retention</a:t>
            </a:r>
            <a:r>
              <a:rPr lang="en" sz="900">
                <a:solidFill>
                  <a:srgbClr val="010101"/>
                </a:solidFill>
              </a:rPr>
              <a:t> 73.1%, giảm nhẹ so với tháng trước nhưng vẫn cao hơn cùng kỳ năm trước khoảng 2.5%, cho thấy chất lượng giữ chân vẫn cải thiện so với năm trước.</a:t>
            </a:r>
            <a:endParaRPr sz="900">
              <a:solidFill>
                <a:srgbClr val="010101"/>
              </a:solidFill>
            </a:endParaRPr>
          </a:p>
        </p:txBody>
      </p:sp>
      <p:grpSp>
        <p:nvGrpSpPr>
          <p:cNvPr id="948" name="Google Shape;948;p58"/>
          <p:cNvGrpSpPr/>
          <p:nvPr/>
        </p:nvGrpSpPr>
        <p:grpSpPr>
          <a:xfrm>
            <a:off x="563940" y="3198929"/>
            <a:ext cx="1197341" cy="338420"/>
            <a:chOff x="4985275" y="3894133"/>
            <a:chExt cx="1151400" cy="269400"/>
          </a:xfrm>
        </p:grpSpPr>
        <p:sp>
          <p:nvSpPr>
            <p:cNvPr id="949" name="Google Shape;949;p58"/>
            <p:cNvSpPr/>
            <p:nvPr/>
          </p:nvSpPr>
          <p:spPr>
            <a:xfrm>
              <a:off x="4985275" y="3932829"/>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0" name="Google Shape;950;p58"/>
            <p:cNvSpPr txBox="1"/>
            <p:nvPr/>
          </p:nvSpPr>
          <p:spPr>
            <a:xfrm>
              <a:off x="5075569" y="3894133"/>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pic>
        <p:nvPicPr>
          <p:cNvPr id="951" name="Google Shape;951;p58" title="Chart"/>
          <p:cNvPicPr preferRelativeResize="0"/>
          <p:nvPr/>
        </p:nvPicPr>
        <p:blipFill>
          <a:blip r:embed="rId4">
            <a:alphaModFix/>
          </a:blip>
          <a:stretch>
            <a:fillRect/>
          </a:stretch>
        </p:blipFill>
        <p:spPr>
          <a:xfrm>
            <a:off x="6035397" y="1161184"/>
            <a:ext cx="2905100" cy="1839245"/>
          </a:xfrm>
          <a:prstGeom prst="rect">
            <a:avLst/>
          </a:prstGeom>
          <a:noFill/>
          <a:ln>
            <a:noFill/>
          </a:ln>
        </p:spPr>
      </p:pic>
      <p:pic>
        <p:nvPicPr>
          <p:cNvPr id="952" name="Google Shape;952;p58" title="Chart"/>
          <p:cNvPicPr preferRelativeResize="0"/>
          <p:nvPr/>
        </p:nvPicPr>
        <p:blipFill>
          <a:blip r:embed="rId5">
            <a:alphaModFix/>
          </a:blip>
          <a:stretch>
            <a:fillRect/>
          </a:stretch>
        </p:blipFill>
        <p:spPr>
          <a:xfrm>
            <a:off x="138922" y="1163034"/>
            <a:ext cx="2905100" cy="1839245"/>
          </a:xfrm>
          <a:prstGeom prst="rect">
            <a:avLst/>
          </a:prstGeom>
          <a:noFill/>
          <a:ln>
            <a:noFill/>
          </a:ln>
        </p:spPr>
      </p:pic>
      <p:pic>
        <p:nvPicPr>
          <p:cNvPr id="953" name="Google Shape;953;p58" title="Chart"/>
          <p:cNvPicPr preferRelativeResize="0"/>
          <p:nvPr/>
        </p:nvPicPr>
        <p:blipFill>
          <a:blip r:embed="rId6">
            <a:alphaModFix/>
          </a:blip>
          <a:stretch>
            <a:fillRect/>
          </a:stretch>
        </p:blipFill>
        <p:spPr>
          <a:xfrm>
            <a:off x="3119447" y="1171334"/>
            <a:ext cx="2905100" cy="1839245"/>
          </a:xfrm>
          <a:prstGeom prst="rect">
            <a:avLst/>
          </a:prstGeom>
          <a:noFill/>
          <a:ln>
            <a:noFill/>
          </a:ln>
        </p:spPr>
      </p:pic>
      <p:sp>
        <p:nvSpPr>
          <p:cNvPr id="954" name="Google Shape;954;p5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5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60" name="Google Shape;960;p59"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961" name="Google Shape;961;p59"/>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Driver Journey</a:t>
            </a:r>
            <a:endParaRPr sz="2200" b="1" i="0" u="none" strike="noStrike" cap="none">
              <a:solidFill>
                <a:srgbClr val="F56C1F"/>
              </a:solidFill>
              <a:latin typeface="Lexend"/>
              <a:ea typeface="Lexend"/>
              <a:cs typeface="Lexend"/>
              <a:sym typeface="Lexend"/>
            </a:endParaRPr>
          </a:p>
        </p:txBody>
      </p:sp>
      <p:sp>
        <p:nvSpPr>
          <p:cNvPr id="962" name="Google Shape;962;p59"/>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 - </a:t>
            </a:r>
            <a:r>
              <a:rPr lang="en" sz="1000" i="1" u="sng">
                <a:solidFill>
                  <a:schemeClr val="hlink"/>
                </a:solidFill>
                <a:latin typeface="Lexend"/>
                <a:ea typeface="Lexend"/>
                <a:cs typeface="Lexend"/>
                <a:sym typeface="Lexend"/>
                <a:hlinkClick r:id="rId4"/>
              </a:rPr>
              <a:t>Plan tổng hợp</a:t>
            </a:r>
            <a:endParaRPr sz="1000" i="1">
              <a:solidFill>
                <a:srgbClr val="64748B"/>
              </a:solidFill>
              <a:latin typeface="Lexend"/>
              <a:ea typeface="Lexend"/>
              <a:cs typeface="Lexend"/>
              <a:sym typeface="Lexend"/>
            </a:endParaRPr>
          </a:p>
        </p:txBody>
      </p:sp>
      <p:cxnSp>
        <p:nvCxnSpPr>
          <p:cNvPr id="963" name="Google Shape;963;p59"/>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graphicFrame>
        <p:nvGraphicFramePr>
          <p:cNvPr id="964" name="Google Shape;964;p59"/>
          <p:cNvGraphicFramePr/>
          <p:nvPr/>
        </p:nvGraphicFramePr>
        <p:xfrm>
          <a:off x="290425" y="995450"/>
          <a:ext cx="3000000" cy="3000000"/>
        </p:xfrm>
        <a:graphic>
          <a:graphicData uri="http://schemas.openxmlformats.org/drawingml/2006/table">
            <a:tbl>
              <a:tblPr>
                <a:noFill/>
                <a:tableStyleId>{1B6E03F7-A7B3-402D-A52F-665CEB5CA1F2}</a:tableStyleId>
              </a:tblPr>
              <a:tblGrid>
                <a:gridCol w="830625">
                  <a:extLst>
                    <a:ext uri="{9D8B030D-6E8A-4147-A177-3AD203B41FA5}">
                      <a16:colId xmlns:a16="http://schemas.microsoft.com/office/drawing/2014/main" val="20000"/>
                    </a:ext>
                  </a:extLst>
                </a:gridCol>
                <a:gridCol w="2127200">
                  <a:extLst>
                    <a:ext uri="{9D8B030D-6E8A-4147-A177-3AD203B41FA5}">
                      <a16:colId xmlns:a16="http://schemas.microsoft.com/office/drawing/2014/main" val="20001"/>
                    </a:ext>
                  </a:extLst>
                </a:gridCol>
                <a:gridCol w="1565475">
                  <a:extLst>
                    <a:ext uri="{9D8B030D-6E8A-4147-A177-3AD203B41FA5}">
                      <a16:colId xmlns:a16="http://schemas.microsoft.com/office/drawing/2014/main" val="20002"/>
                    </a:ext>
                  </a:extLst>
                </a:gridCol>
                <a:gridCol w="1319300">
                  <a:extLst>
                    <a:ext uri="{9D8B030D-6E8A-4147-A177-3AD203B41FA5}">
                      <a16:colId xmlns:a16="http://schemas.microsoft.com/office/drawing/2014/main" val="20003"/>
                    </a:ext>
                  </a:extLst>
                </a:gridCol>
              </a:tblGrid>
              <a:tr h="237325">
                <a:tc>
                  <a:txBody>
                    <a:bodyPr/>
                    <a:lstStyle/>
                    <a:p>
                      <a:pPr marL="0" lvl="0" indent="0" algn="ctr" rtl="0">
                        <a:lnSpc>
                          <a:spcPct val="100000"/>
                        </a:lnSpc>
                        <a:spcBef>
                          <a:spcPts val="0"/>
                        </a:spcBef>
                        <a:spcAft>
                          <a:spcPts val="0"/>
                        </a:spcAft>
                        <a:buNone/>
                      </a:pPr>
                      <a:r>
                        <a:rPr lang="en" sz="1000" b="1">
                          <a:latin typeface="Lexend"/>
                          <a:ea typeface="Lexend"/>
                          <a:cs typeface="Lexend"/>
                          <a:sym typeface="Lexend"/>
                        </a:rPr>
                        <a:t>Giai đoạn</a:t>
                      </a:r>
                      <a:endParaRPr sz="1000" b="1">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solidFill>
                      <a:srgbClr val="72A8F1"/>
                    </a:solidFill>
                  </a:tcPr>
                </a:tc>
                <a:tc>
                  <a:txBody>
                    <a:bodyPr/>
                    <a:lstStyle/>
                    <a:p>
                      <a:pPr marL="0" lvl="0" indent="0" algn="ctr" rtl="0">
                        <a:lnSpc>
                          <a:spcPct val="100000"/>
                        </a:lnSpc>
                        <a:spcBef>
                          <a:spcPts val="0"/>
                        </a:spcBef>
                        <a:spcAft>
                          <a:spcPts val="0"/>
                        </a:spcAft>
                        <a:buNone/>
                      </a:pPr>
                      <a:r>
                        <a:rPr lang="en" sz="1000" b="1">
                          <a:latin typeface="Lexend"/>
                          <a:ea typeface="Lexend"/>
                          <a:cs typeface="Lexend"/>
                          <a:sym typeface="Lexend"/>
                        </a:rPr>
                        <a:t>Nội dung</a:t>
                      </a:r>
                      <a:endParaRPr sz="1000" b="1">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solidFill>
                      <a:srgbClr val="72A8F1"/>
                    </a:solidFill>
                  </a:tcPr>
                </a:tc>
                <a:tc>
                  <a:txBody>
                    <a:bodyPr/>
                    <a:lstStyle/>
                    <a:p>
                      <a:pPr marL="0" lvl="0" indent="0" algn="ctr" rtl="0">
                        <a:lnSpc>
                          <a:spcPct val="100000"/>
                        </a:lnSpc>
                        <a:spcBef>
                          <a:spcPts val="0"/>
                        </a:spcBef>
                        <a:spcAft>
                          <a:spcPts val="0"/>
                        </a:spcAft>
                        <a:buNone/>
                      </a:pPr>
                      <a:r>
                        <a:rPr lang="en" sz="1000" b="1">
                          <a:latin typeface="Lexend"/>
                          <a:ea typeface="Lexend"/>
                          <a:cs typeface="Lexend"/>
                          <a:sym typeface="Lexend"/>
                        </a:rPr>
                        <a:t>Tiến độ</a:t>
                      </a:r>
                      <a:endParaRPr sz="1000" b="1">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solidFill>
                      <a:srgbClr val="72A8F1"/>
                    </a:solidFill>
                  </a:tcPr>
                </a:tc>
                <a:tc>
                  <a:txBody>
                    <a:bodyPr/>
                    <a:lstStyle/>
                    <a:p>
                      <a:pPr marL="0" lvl="0" indent="0" algn="ctr" rtl="0">
                        <a:lnSpc>
                          <a:spcPct val="100000"/>
                        </a:lnSpc>
                        <a:spcBef>
                          <a:spcPts val="0"/>
                        </a:spcBef>
                        <a:spcAft>
                          <a:spcPts val="0"/>
                        </a:spcAft>
                        <a:buNone/>
                      </a:pPr>
                      <a:r>
                        <a:rPr lang="en" sz="1000" b="1">
                          <a:latin typeface="Lexend"/>
                          <a:ea typeface="Lexend"/>
                          <a:cs typeface="Lexend"/>
                          <a:sym typeface="Lexend"/>
                        </a:rPr>
                        <a:t>Ngày triển khai</a:t>
                      </a:r>
                      <a:endParaRPr sz="1000" b="1">
                        <a:latin typeface="Lexend"/>
                        <a:ea typeface="Lexend"/>
                        <a:cs typeface="Lexend"/>
                        <a:sym typeface="Lexend"/>
                      </a:endParaRPr>
                    </a:p>
                    <a:p>
                      <a:pPr marL="0" lvl="0" indent="0" algn="ctr" rtl="0">
                        <a:lnSpc>
                          <a:spcPct val="100000"/>
                        </a:lnSpc>
                        <a:spcBef>
                          <a:spcPts val="0"/>
                        </a:spcBef>
                        <a:spcAft>
                          <a:spcPts val="0"/>
                        </a:spcAft>
                        <a:buNone/>
                      </a:pPr>
                      <a:r>
                        <a:rPr lang="en" sz="1000" b="1">
                          <a:solidFill>
                            <a:schemeClr val="dk1"/>
                          </a:solidFill>
                          <a:latin typeface="Lexend"/>
                          <a:ea typeface="Lexend"/>
                          <a:cs typeface="Lexend"/>
                          <a:sym typeface="Lexend"/>
                        </a:rPr>
                        <a:t>dự kiến</a:t>
                      </a:r>
                      <a:endParaRPr sz="1000" b="1">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solidFill>
                      <a:srgbClr val="72A8F1"/>
                    </a:solidFill>
                  </a:tcPr>
                </a:tc>
                <a:extLst>
                  <a:ext uri="{0D108BD9-81ED-4DB2-BD59-A6C34878D82A}">
                    <a16:rowId xmlns:a16="http://schemas.microsoft.com/office/drawing/2014/main" val="10000"/>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D0</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Hướng dẫn xem số tiền cần thu ứng</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u="sng">
                          <a:solidFill>
                            <a:schemeClr val="hlink"/>
                          </a:solidFill>
                          <a:latin typeface="Lexend"/>
                          <a:ea typeface="Lexend"/>
                          <a:cs typeface="Lexend"/>
                          <a:sym typeface="Lexend"/>
                          <a:hlinkClick r:id="rId5"/>
                        </a:rPr>
                        <a:t>Hoàn thành</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T2 27/07/2026</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D1</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Xử lý hủy đơn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Đang thực hiện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D2</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Xử lý khiếu nại</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Đang thu thập thông tin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D3</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Bật tắt ngưng gán đơn/ cài đặt dịch vụ</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D4</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sử dụng điều hướng</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D5</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Giải trình theo từng trường hợp</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Đang thu thập thông tin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D6</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Nhận diện loại đơn/ cách đi đơn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D7</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Thao tác ký quỹ/ rút tiền/nộp tiền</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37325">
                <a:tc>
                  <a:txBody>
                    <a:bodyPr/>
                    <a:lstStyle/>
                    <a:p>
                      <a:pPr marL="0" lvl="0" indent="0" algn="ctr" rtl="0">
                        <a:lnSpc>
                          <a:spcPct val="100000"/>
                        </a:lnSpc>
                        <a:spcBef>
                          <a:spcPts val="0"/>
                        </a:spcBef>
                        <a:spcAft>
                          <a:spcPts val="0"/>
                        </a:spcAft>
                        <a:buNone/>
                      </a:pPr>
                      <a:r>
                        <a:rPr lang="en" sz="1000">
                          <a:latin typeface="Lexend"/>
                          <a:ea typeface="Lexend"/>
                          <a:cs typeface="Lexend"/>
                          <a:sym typeface="Lexend"/>
                        </a:rPr>
                        <a:t>D8</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Nộp tiền thu hộ</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000">
                          <a:latin typeface="Lexend"/>
                          <a:ea typeface="Lexend"/>
                          <a:cs typeface="Lexend"/>
                          <a:sym typeface="Lexend"/>
                        </a:rPr>
                        <a:t>-</a:t>
                      </a: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Lexend"/>
                        <a:ea typeface="Lexend"/>
                        <a:cs typeface="Lexend"/>
                        <a:sym typeface="Lexend"/>
                      </a:endParaRPr>
                    </a:p>
                  </a:txBody>
                  <a:tcPr marL="28575" marR="28575" marT="91425" marB="91425" anchor="ctr">
                    <a:lnL w="8475" cap="flat" cmpd="sng">
                      <a:solidFill>
                        <a:srgbClr val="000000"/>
                      </a:solidFill>
                      <a:prstDash val="solid"/>
                      <a:round/>
                      <a:headEnd type="none" w="sm" len="sm"/>
                      <a:tailEnd type="none" w="sm" len="sm"/>
                    </a:lnL>
                    <a:lnR w="8475" cap="flat" cmpd="sng">
                      <a:solidFill>
                        <a:srgbClr val="000000"/>
                      </a:solidFill>
                      <a:prstDash val="solid"/>
                      <a:round/>
                      <a:headEnd type="none" w="sm" len="sm"/>
                      <a:tailEnd type="none" w="sm" len="sm"/>
                    </a:lnR>
                    <a:lnT w="8475" cap="flat" cmpd="sng">
                      <a:solidFill>
                        <a:srgbClr val="000000"/>
                      </a:solidFill>
                      <a:prstDash val="solid"/>
                      <a:round/>
                      <a:headEnd type="none" w="sm" len="sm"/>
                      <a:tailEnd type="none" w="sm" len="sm"/>
                    </a:lnT>
                    <a:lnB w="847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965" name="Google Shape;965;p59"/>
          <p:cNvSpPr txBox="1"/>
          <p:nvPr/>
        </p:nvSpPr>
        <p:spPr>
          <a:xfrm>
            <a:off x="6522025" y="1124575"/>
            <a:ext cx="24249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i="1">
                <a:latin typeface="Lexend"/>
                <a:ea typeface="Lexend"/>
                <a:cs typeface="Lexend"/>
                <a:sym typeface="Lexend"/>
              </a:rPr>
              <a:t>Action:</a:t>
            </a:r>
            <a:endParaRPr sz="900" b="1" i="1">
              <a:latin typeface="Lexend"/>
              <a:ea typeface="Lexend"/>
              <a:cs typeface="Lexend"/>
              <a:sym typeface="Lexend"/>
            </a:endParaRPr>
          </a:p>
          <a:p>
            <a:pPr marL="0" lvl="0" indent="0" algn="l" rtl="0">
              <a:spcBef>
                <a:spcPts val="0"/>
              </a:spcBef>
              <a:spcAft>
                <a:spcPts val="0"/>
              </a:spcAft>
              <a:buNone/>
            </a:pPr>
            <a:r>
              <a:rPr lang="en" sz="900">
                <a:latin typeface="Lexend"/>
                <a:ea typeface="Lexend"/>
                <a:cs typeface="Lexend"/>
                <a:sym typeface="Lexend"/>
              </a:rPr>
              <a:t>- Đã hoàn thành video hướng dẫn đầu tiên cho ngày D0 của tx và tiến hành push thử lên noti.</a:t>
            </a:r>
            <a:endParaRPr sz="900">
              <a:latin typeface="Lexend"/>
              <a:ea typeface="Lexend"/>
              <a:cs typeface="Lexend"/>
              <a:sym typeface="Lexend"/>
            </a:endParaRPr>
          </a:p>
          <a:p>
            <a:pPr marL="0" lvl="0" indent="0" algn="l" rtl="0">
              <a:spcBef>
                <a:spcPts val="0"/>
              </a:spcBef>
              <a:spcAft>
                <a:spcPts val="0"/>
              </a:spcAft>
              <a:buNone/>
            </a:pPr>
            <a:r>
              <a:rPr lang="en" sz="900">
                <a:latin typeface="Lexend"/>
                <a:ea typeface="Lexend"/>
                <a:cs typeface="Lexend"/>
                <a:sym typeface="Lexend"/>
              </a:rPr>
              <a:t>- Tiếp tục confirm kịch bản D1 và đang trong quá trình sản xuất.</a:t>
            </a:r>
            <a:endParaRPr sz="900">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900" b="1" i="1">
                <a:solidFill>
                  <a:schemeClr val="dk1"/>
                </a:solidFill>
                <a:latin typeface="Lexend"/>
                <a:ea typeface="Lexend"/>
                <a:cs typeface="Lexend"/>
                <a:sym typeface="Lexend"/>
              </a:rPr>
              <a:t>Next Action:</a:t>
            </a:r>
            <a:endParaRPr sz="900">
              <a:latin typeface="Lexend"/>
              <a:ea typeface="Lexend"/>
              <a:cs typeface="Lexend"/>
              <a:sym typeface="Lexend"/>
            </a:endParaRPr>
          </a:p>
          <a:p>
            <a:pPr marL="0" lvl="0" indent="0" algn="l" rtl="0">
              <a:spcBef>
                <a:spcPts val="0"/>
              </a:spcBef>
              <a:spcAft>
                <a:spcPts val="0"/>
              </a:spcAft>
              <a:buNone/>
            </a:pPr>
            <a:r>
              <a:rPr lang="en" sz="900">
                <a:latin typeface="Lexend"/>
                <a:ea typeface="Lexend"/>
                <a:cs typeface="Lexend"/>
                <a:sym typeface="Lexend"/>
              </a:rPr>
              <a:t>- Lấy danh sách tk kích hoạt mới và phát sinh FCT -&gt; push Noti theo timeline D0 của tx.</a:t>
            </a:r>
            <a:endParaRPr sz="900">
              <a:latin typeface="Lexend"/>
              <a:ea typeface="Lexend"/>
              <a:cs typeface="Lexend"/>
              <a:sym typeface="Lexend"/>
            </a:endParaRPr>
          </a:p>
          <a:p>
            <a:pPr marL="0" lvl="0" indent="0" algn="l" rtl="0">
              <a:spcBef>
                <a:spcPts val="0"/>
              </a:spcBef>
              <a:spcAft>
                <a:spcPts val="0"/>
              </a:spcAft>
              <a:buNone/>
            </a:pPr>
            <a:r>
              <a:rPr lang="en" sz="900">
                <a:latin typeface="Lexend"/>
                <a:ea typeface="Lexend"/>
                <a:cs typeface="Lexend"/>
                <a:sym typeface="Lexend"/>
              </a:rPr>
              <a:t>- Sau 1 tuần sẽ review lại lượt xem, số lượng tx mới trong tuần vi phạm lỗi liên quan.</a:t>
            </a:r>
            <a:endParaRPr sz="900">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60"/>
          <p:cNvSpPr/>
          <p:nvPr/>
        </p:nvSpPr>
        <p:spPr>
          <a:xfrm>
            <a:off x="9325" y="-12"/>
            <a:ext cx="9144000" cy="5143500"/>
          </a:xfrm>
          <a:prstGeom prst="rect">
            <a:avLst/>
          </a:prstGeom>
          <a:gradFill>
            <a:gsLst>
              <a:gs pos="0">
                <a:srgbClr val="E9F1FF"/>
              </a:gs>
              <a:gs pos="100000">
                <a:srgbClr val="FFFFFF"/>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971" name="Google Shape;971;p60"/>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972" name="Google Shape;972;p60"/>
          <p:cNvSpPr txBox="1"/>
          <p:nvPr/>
        </p:nvSpPr>
        <p:spPr>
          <a:xfrm>
            <a:off x="5342125" y="184313"/>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973" name="Google Shape;973;p60"/>
          <p:cNvSpPr txBox="1"/>
          <p:nvPr/>
        </p:nvSpPr>
        <p:spPr>
          <a:xfrm>
            <a:off x="585325" y="122825"/>
            <a:ext cx="532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[SGN] Supply Hour &amp; Utilization</a:t>
            </a:r>
            <a:endParaRPr b="1">
              <a:solidFill>
                <a:srgbClr val="1155CC"/>
              </a:solidFill>
              <a:latin typeface="Montserrat"/>
              <a:ea typeface="Montserrat"/>
              <a:cs typeface="Montserrat"/>
              <a:sym typeface="Montserrat"/>
            </a:endParaRPr>
          </a:p>
        </p:txBody>
      </p:sp>
      <p:pic>
        <p:nvPicPr>
          <p:cNvPr id="974" name="Google Shape;974;p60"/>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975" name="Google Shape;975;p60"/>
          <p:cNvSpPr/>
          <p:nvPr/>
        </p:nvSpPr>
        <p:spPr>
          <a:xfrm>
            <a:off x="3650900" y="2984575"/>
            <a:ext cx="5071500" cy="18114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457200" lvl="0" indent="-292100" algn="l" rtl="0">
              <a:lnSpc>
                <a:spcPct val="115000"/>
              </a:lnSpc>
              <a:spcBef>
                <a:spcPts val="0"/>
              </a:spcBef>
              <a:spcAft>
                <a:spcPts val="0"/>
              </a:spcAft>
              <a:buClr>
                <a:schemeClr val="dk1"/>
              </a:buClr>
              <a:buSzPts val="1000"/>
              <a:buChar char="-"/>
            </a:pPr>
            <a:r>
              <a:rPr lang="en" sz="1000">
                <a:solidFill>
                  <a:schemeClr val="dk1"/>
                </a:solidFill>
              </a:rPr>
              <a:t>Utilization</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a:solidFill>
                  <a:schemeClr val="dk1"/>
                </a:solidFill>
              </a:rPr>
              <a:t>SPH </a:t>
            </a:r>
            <a:endParaRPr sz="1000">
              <a:solidFill>
                <a:schemeClr val="dk1"/>
              </a:solidFill>
            </a:endParaRPr>
          </a:p>
        </p:txBody>
      </p:sp>
      <p:pic>
        <p:nvPicPr>
          <p:cNvPr id="976" name="Google Shape;976;p60" title="Chart"/>
          <p:cNvPicPr preferRelativeResize="0"/>
          <p:nvPr/>
        </p:nvPicPr>
        <p:blipFill>
          <a:blip r:embed="rId4">
            <a:alphaModFix/>
          </a:blip>
          <a:stretch>
            <a:fillRect/>
          </a:stretch>
        </p:blipFill>
        <p:spPr>
          <a:xfrm>
            <a:off x="74929" y="760135"/>
            <a:ext cx="2924200" cy="1811399"/>
          </a:xfrm>
          <a:prstGeom prst="rect">
            <a:avLst/>
          </a:prstGeom>
          <a:noFill/>
          <a:ln>
            <a:noFill/>
          </a:ln>
        </p:spPr>
      </p:pic>
      <p:pic>
        <p:nvPicPr>
          <p:cNvPr id="977" name="Google Shape;977;p60" title="Chart"/>
          <p:cNvPicPr preferRelativeResize="0"/>
          <p:nvPr/>
        </p:nvPicPr>
        <p:blipFill>
          <a:blip r:embed="rId5">
            <a:alphaModFix/>
          </a:blip>
          <a:stretch>
            <a:fillRect/>
          </a:stretch>
        </p:blipFill>
        <p:spPr>
          <a:xfrm>
            <a:off x="3088779" y="760134"/>
            <a:ext cx="2924202" cy="1811401"/>
          </a:xfrm>
          <a:prstGeom prst="rect">
            <a:avLst/>
          </a:prstGeom>
          <a:noFill/>
          <a:ln>
            <a:noFill/>
          </a:ln>
        </p:spPr>
      </p:pic>
      <p:pic>
        <p:nvPicPr>
          <p:cNvPr id="978" name="Google Shape;978;p60" title="Chart"/>
          <p:cNvPicPr preferRelativeResize="0"/>
          <p:nvPr/>
        </p:nvPicPr>
        <p:blipFill>
          <a:blip r:embed="rId6">
            <a:alphaModFix/>
          </a:blip>
          <a:stretch>
            <a:fillRect/>
          </a:stretch>
        </p:blipFill>
        <p:spPr>
          <a:xfrm>
            <a:off x="6102629" y="760123"/>
            <a:ext cx="2924200" cy="1811399"/>
          </a:xfrm>
          <a:prstGeom prst="rect">
            <a:avLst/>
          </a:prstGeom>
          <a:noFill/>
          <a:ln>
            <a:noFill/>
          </a:ln>
        </p:spPr>
      </p:pic>
      <p:pic>
        <p:nvPicPr>
          <p:cNvPr id="979" name="Google Shape;979;p60" title="Chart"/>
          <p:cNvPicPr preferRelativeResize="0"/>
          <p:nvPr/>
        </p:nvPicPr>
        <p:blipFill>
          <a:blip r:embed="rId7">
            <a:alphaModFix/>
          </a:blip>
          <a:stretch>
            <a:fillRect/>
          </a:stretch>
        </p:blipFill>
        <p:spPr>
          <a:xfrm>
            <a:off x="176605" y="2808625"/>
            <a:ext cx="3036983" cy="2163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61"/>
          <p:cNvSpPr/>
          <p:nvPr/>
        </p:nvSpPr>
        <p:spPr>
          <a:xfrm>
            <a:off x="9325" y="-12"/>
            <a:ext cx="9144000" cy="5143500"/>
          </a:xfrm>
          <a:prstGeom prst="rect">
            <a:avLst/>
          </a:prstGeom>
          <a:gradFill>
            <a:gsLst>
              <a:gs pos="0">
                <a:srgbClr val="E9F1FF"/>
              </a:gs>
              <a:gs pos="100000">
                <a:srgbClr val="FFFFFF"/>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985" name="Google Shape;985;p61"/>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986" name="Google Shape;986;p61"/>
          <p:cNvSpPr txBox="1"/>
          <p:nvPr/>
        </p:nvSpPr>
        <p:spPr>
          <a:xfrm>
            <a:off x="5342125" y="184313"/>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987" name="Google Shape;987;p61"/>
          <p:cNvSpPr txBox="1"/>
          <p:nvPr/>
        </p:nvSpPr>
        <p:spPr>
          <a:xfrm>
            <a:off x="585325" y="122825"/>
            <a:ext cx="532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[HAN] Supply Hour &amp; Utilization</a:t>
            </a:r>
            <a:endParaRPr b="1">
              <a:solidFill>
                <a:srgbClr val="1155CC"/>
              </a:solidFill>
              <a:latin typeface="Montserrat"/>
              <a:ea typeface="Montserrat"/>
              <a:cs typeface="Montserrat"/>
              <a:sym typeface="Montserrat"/>
            </a:endParaRPr>
          </a:p>
        </p:txBody>
      </p:sp>
      <p:pic>
        <p:nvPicPr>
          <p:cNvPr id="988" name="Google Shape;988;p61"/>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989" name="Google Shape;989;p61"/>
          <p:cNvSpPr/>
          <p:nvPr/>
        </p:nvSpPr>
        <p:spPr>
          <a:xfrm>
            <a:off x="3650900" y="2984575"/>
            <a:ext cx="5071500" cy="18114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457200" lvl="0" indent="-292100" algn="l" rtl="0">
              <a:lnSpc>
                <a:spcPct val="115000"/>
              </a:lnSpc>
              <a:spcBef>
                <a:spcPts val="0"/>
              </a:spcBef>
              <a:spcAft>
                <a:spcPts val="0"/>
              </a:spcAft>
              <a:buClr>
                <a:schemeClr val="dk1"/>
              </a:buClr>
              <a:buSzPts val="1000"/>
              <a:buChar char="-"/>
            </a:pPr>
            <a:r>
              <a:rPr lang="en" sz="1000">
                <a:solidFill>
                  <a:schemeClr val="dk1"/>
                </a:solidFill>
              </a:rPr>
              <a:t>Utilization</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a:solidFill>
                  <a:schemeClr val="dk1"/>
                </a:solidFill>
              </a:rPr>
              <a:t>SPH </a:t>
            </a:r>
            <a:endParaRPr sz="1000">
              <a:solidFill>
                <a:schemeClr val="dk1"/>
              </a:solidFill>
            </a:endParaRPr>
          </a:p>
        </p:txBody>
      </p:sp>
      <p:pic>
        <p:nvPicPr>
          <p:cNvPr id="990" name="Google Shape;990;p61" title="Chart"/>
          <p:cNvPicPr preferRelativeResize="0"/>
          <p:nvPr/>
        </p:nvPicPr>
        <p:blipFill>
          <a:blip r:embed="rId4">
            <a:alphaModFix/>
          </a:blip>
          <a:stretch>
            <a:fillRect/>
          </a:stretch>
        </p:blipFill>
        <p:spPr>
          <a:xfrm>
            <a:off x="176605" y="2808625"/>
            <a:ext cx="3036983" cy="2163325"/>
          </a:xfrm>
          <a:prstGeom prst="rect">
            <a:avLst/>
          </a:prstGeom>
          <a:noFill/>
          <a:ln>
            <a:noFill/>
          </a:ln>
        </p:spPr>
      </p:pic>
      <p:pic>
        <p:nvPicPr>
          <p:cNvPr id="991" name="Google Shape;991;p61" title="Chart"/>
          <p:cNvPicPr preferRelativeResize="0"/>
          <p:nvPr/>
        </p:nvPicPr>
        <p:blipFill>
          <a:blip r:embed="rId5">
            <a:alphaModFix/>
          </a:blip>
          <a:stretch>
            <a:fillRect/>
          </a:stretch>
        </p:blipFill>
        <p:spPr>
          <a:xfrm>
            <a:off x="176604" y="764458"/>
            <a:ext cx="2924200" cy="1811399"/>
          </a:xfrm>
          <a:prstGeom prst="rect">
            <a:avLst/>
          </a:prstGeom>
          <a:noFill/>
          <a:ln>
            <a:noFill/>
          </a:ln>
        </p:spPr>
      </p:pic>
      <p:pic>
        <p:nvPicPr>
          <p:cNvPr id="992" name="Google Shape;992;p61" title="Chart"/>
          <p:cNvPicPr preferRelativeResize="0"/>
          <p:nvPr/>
        </p:nvPicPr>
        <p:blipFill>
          <a:blip r:embed="rId6">
            <a:alphaModFix/>
          </a:blip>
          <a:stretch>
            <a:fillRect/>
          </a:stretch>
        </p:blipFill>
        <p:spPr>
          <a:xfrm>
            <a:off x="3070722" y="773500"/>
            <a:ext cx="2924200" cy="1811396"/>
          </a:xfrm>
          <a:prstGeom prst="rect">
            <a:avLst/>
          </a:prstGeom>
          <a:noFill/>
          <a:ln>
            <a:noFill/>
          </a:ln>
        </p:spPr>
      </p:pic>
      <p:pic>
        <p:nvPicPr>
          <p:cNvPr id="993" name="Google Shape;993;p61" title="Chart"/>
          <p:cNvPicPr preferRelativeResize="0"/>
          <p:nvPr/>
        </p:nvPicPr>
        <p:blipFill>
          <a:blip r:embed="rId7">
            <a:alphaModFix/>
          </a:blip>
          <a:stretch>
            <a:fillRect/>
          </a:stretch>
        </p:blipFill>
        <p:spPr>
          <a:xfrm>
            <a:off x="5994929" y="746196"/>
            <a:ext cx="2924200" cy="18113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98"/>
        <p:cNvGrpSpPr/>
        <p:nvPr/>
      </p:nvGrpSpPr>
      <p:grpSpPr>
        <a:xfrm>
          <a:off x="0" y="0"/>
          <a:ext cx="0" cy="0"/>
          <a:chOff x="0" y="0"/>
          <a:chExt cx="0" cy="0"/>
        </a:xfrm>
      </p:grpSpPr>
      <p:sp>
        <p:nvSpPr>
          <p:cNvPr id="999" name="Google Shape;999;p62"/>
          <p:cNvSpPr/>
          <p:nvPr/>
        </p:nvSpPr>
        <p:spPr>
          <a:xfrm>
            <a:off x="365750" y="962875"/>
            <a:ext cx="8272500" cy="29787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1" name="Google Shape;1001;p62"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002" name="Google Shape;1002;p62"/>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 </a:t>
            </a:r>
            <a:endParaRPr sz="2200" b="1" i="0" u="none" strike="noStrike" cap="none">
              <a:solidFill>
                <a:srgbClr val="F56C1F"/>
              </a:solidFill>
              <a:highlight>
                <a:schemeClr val="lt1"/>
              </a:highlight>
              <a:latin typeface="Lexend"/>
              <a:ea typeface="Lexend"/>
              <a:cs typeface="Lexend"/>
              <a:sym typeface="Lexend"/>
            </a:endParaRPr>
          </a:p>
        </p:txBody>
      </p:sp>
      <p:sp>
        <p:nvSpPr>
          <p:cNvPr id="1003" name="Google Shape;1003;p62"/>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Overview minihub</a:t>
            </a:r>
            <a:endParaRPr sz="1000">
              <a:solidFill>
                <a:schemeClr val="dk1"/>
              </a:solidFill>
              <a:latin typeface="Lexend"/>
              <a:ea typeface="Lexend"/>
              <a:cs typeface="Lexend"/>
              <a:sym typeface="Lexend"/>
            </a:endParaRPr>
          </a:p>
        </p:txBody>
      </p:sp>
      <p:cxnSp>
        <p:nvCxnSpPr>
          <p:cNvPr id="1004" name="Google Shape;1004;p6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05" name="Google Shape;1005;p6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06" name="Google Shape;1006;p62"/>
          <p:cNvSpPr txBox="1"/>
          <p:nvPr/>
        </p:nvSpPr>
        <p:spPr>
          <a:xfrm>
            <a:off x="476446" y="2344883"/>
            <a:ext cx="15546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t>Daily Capacity</a:t>
            </a:r>
            <a:endParaRPr sz="800" b="1"/>
          </a:p>
        </p:txBody>
      </p:sp>
      <p:sp>
        <p:nvSpPr>
          <p:cNvPr id="1007" name="Google Shape;1007;p62"/>
          <p:cNvSpPr txBox="1"/>
          <p:nvPr/>
        </p:nvSpPr>
        <p:spPr>
          <a:xfrm>
            <a:off x="6393663" y="1078573"/>
            <a:ext cx="15546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t>Total stp MTD</a:t>
            </a:r>
            <a:endParaRPr sz="800" b="1"/>
          </a:p>
        </p:txBody>
      </p:sp>
      <p:sp>
        <p:nvSpPr>
          <p:cNvPr id="1008" name="Google Shape;1008;p62"/>
          <p:cNvSpPr/>
          <p:nvPr/>
        </p:nvSpPr>
        <p:spPr>
          <a:xfrm>
            <a:off x="6608536" y="1355948"/>
            <a:ext cx="1960500" cy="692700"/>
          </a:xfrm>
          <a:prstGeom prst="roundRect">
            <a:avLst>
              <a:gd name="adj" fmla="val 16667"/>
            </a:avLst>
          </a:prstGeom>
          <a:solidFill>
            <a:srgbClr val="EEEEEE"/>
          </a:solidFill>
          <a:ln>
            <a:noFill/>
          </a:ln>
        </p:spPr>
        <p:txBody>
          <a:bodyPr spcFirstLastPara="1" wrap="square" lIns="47500" tIns="47500" rIns="47500" bIns="47500" anchor="ctr" anchorCtr="0">
            <a:noAutofit/>
          </a:bodyPr>
          <a:lstStyle/>
          <a:p>
            <a:pPr marL="0" lvl="0" indent="0" algn="ctr" rtl="0">
              <a:spcBef>
                <a:spcPts val="0"/>
              </a:spcBef>
              <a:spcAft>
                <a:spcPts val="0"/>
              </a:spcAft>
              <a:buNone/>
            </a:pPr>
            <a:endParaRPr sz="727"/>
          </a:p>
        </p:txBody>
      </p:sp>
      <p:sp>
        <p:nvSpPr>
          <p:cNvPr id="1009" name="Google Shape;1009;p62"/>
          <p:cNvSpPr/>
          <p:nvPr/>
        </p:nvSpPr>
        <p:spPr>
          <a:xfrm>
            <a:off x="6923561" y="1755748"/>
            <a:ext cx="1554600" cy="153000"/>
          </a:xfrm>
          <a:prstGeom prst="roundRect">
            <a:avLst>
              <a:gd name="adj" fmla="val 50000"/>
            </a:avLst>
          </a:prstGeom>
          <a:solidFill>
            <a:srgbClr val="2E7D32"/>
          </a:solidFill>
          <a:ln w="10050" cap="flat" cmpd="sng">
            <a:solidFill>
              <a:srgbClr val="FFFFFF"/>
            </a:solidFill>
            <a:prstDash val="solid"/>
            <a:round/>
            <a:headEnd type="none" w="sm" len="sm"/>
            <a:tailEnd type="none" w="sm" len="sm"/>
          </a:ln>
          <a:effectLst>
            <a:outerShdw blurRad="196448" dist="20148" dir="5400000" algn="bl" rotWithShape="0">
              <a:srgbClr val="999999">
                <a:alpha val="50000"/>
              </a:srgbClr>
            </a:outerShdw>
          </a:effectLst>
        </p:spPr>
        <p:txBody>
          <a:bodyPr spcFirstLastPara="1" wrap="square" lIns="96675" tIns="96675" rIns="96675" bIns="96675" anchor="ctr" anchorCtr="0">
            <a:noAutofit/>
          </a:bodyPr>
          <a:lstStyle/>
          <a:p>
            <a:pPr marL="0" lvl="0" indent="0" algn="r" rtl="0">
              <a:spcBef>
                <a:spcPts val="0"/>
              </a:spcBef>
              <a:spcAft>
                <a:spcPts val="0"/>
              </a:spcAft>
              <a:buNone/>
            </a:pPr>
            <a:r>
              <a:rPr lang="en" sz="909" b="1">
                <a:solidFill>
                  <a:srgbClr val="FFFFFF"/>
                </a:solidFill>
              </a:rPr>
              <a:t>73,139</a:t>
            </a:r>
            <a:endParaRPr sz="494" b="1">
              <a:solidFill>
                <a:srgbClr val="FFFFFF"/>
              </a:solidFill>
            </a:endParaRPr>
          </a:p>
        </p:txBody>
      </p:sp>
      <p:sp>
        <p:nvSpPr>
          <p:cNvPr id="1010" name="Google Shape;1010;p62"/>
          <p:cNvSpPr/>
          <p:nvPr/>
        </p:nvSpPr>
        <p:spPr>
          <a:xfrm>
            <a:off x="6923550" y="1453375"/>
            <a:ext cx="1230300" cy="153000"/>
          </a:xfrm>
          <a:prstGeom prst="roundRect">
            <a:avLst>
              <a:gd name="adj" fmla="val 50000"/>
            </a:avLst>
          </a:prstGeom>
          <a:solidFill>
            <a:srgbClr val="008000"/>
          </a:solidFill>
          <a:ln w="10050" cap="flat" cmpd="sng">
            <a:solidFill>
              <a:srgbClr val="FFFFFF"/>
            </a:solidFill>
            <a:prstDash val="solid"/>
            <a:round/>
            <a:headEnd type="none" w="sm" len="sm"/>
            <a:tailEnd type="none" w="sm" len="sm"/>
          </a:ln>
          <a:effectLst>
            <a:outerShdw blurRad="196448" dist="20148" dir="5400000" algn="bl" rotWithShape="0">
              <a:srgbClr val="999999">
                <a:alpha val="50000"/>
              </a:srgbClr>
            </a:outerShdw>
          </a:effectLst>
        </p:spPr>
        <p:txBody>
          <a:bodyPr spcFirstLastPara="1" wrap="square" lIns="96675" tIns="96675" rIns="96675" bIns="96675" anchor="ctr" anchorCtr="0">
            <a:noAutofit/>
          </a:bodyPr>
          <a:lstStyle/>
          <a:p>
            <a:pPr marL="0" lvl="0" indent="0" algn="r" rtl="0">
              <a:spcBef>
                <a:spcPts val="0"/>
              </a:spcBef>
              <a:spcAft>
                <a:spcPts val="0"/>
              </a:spcAft>
              <a:buNone/>
            </a:pPr>
            <a:r>
              <a:rPr lang="en" sz="909" b="1">
                <a:solidFill>
                  <a:srgbClr val="FFFFFF"/>
                </a:solidFill>
              </a:rPr>
              <a:t>50,806</a:t>
            </a:r>
            <a:endParaRPr sz="493" b="1">
              <a:solidFill>
                <a:srgbClr val="FFFFFF"/>
              </a:solidFill>
            </a:endParaRPr>
          </a:p>
        </p:txBody>
      </p:sp>
      <p:sp>
        <p:nvSpPr>
          <p:cNvPr id="1011" name="Google Shape;1011;p62"/>
          <p:cNvSpPr txBox="1"/>
          <p:nvPr/>
        </p:nvSpPr>
        <p:spPr>
          <a:xfrm>
            <a:off x="6643728" y="1450305"/>
            <a:ext cx="698100" cy="192000"/>
          </a:xfrm>
          <a:prstGeom prst="rect">
            <a:avLst/>
          </a:prstGeom>
          <a:noFill/>
          <a:ln>
            <a:noFill/>
          </a:ln>
        </p:spPr>
        <p:txBody>
          <a:bodyPr spcFirstLastPara="1" wrap="square" lIns="47500" tIns="47500" rIns="47500" bIns="47500" anchor="t" anchorCtr="0">
            <a:spAutoFit/>
          </a:bodyPr>
          <a:lstStyle/>
          <a:p>
            <a:pPr marL="0" lvl="0" indent="0" algn="l" rtl="0">
              <a:spcBef>
                <a:spcPts val="0"/>
              </a:spcBef>
              <a:spcAft>
                <a:spcPts val="0"/>
              </a:spcAft>
              <a:buNone/>
            </a:pPr>
            <a:r>
              <a:rPr lang="en" sz="623">
                <a:solidFill>
                  <a:srgbClr val="78909C"/>
                </a:solidFill>
              </a:rPr>
              <a:t>HAN</a:t>
            </a:r>
            <a:endParaRPr sz="623">
              <a:solidFill>
                <a:srgbClr val="78909C"/>
              </a:solidFill>
            </a:endParaRPr>
          </a:p>
        </p:txBody>
      </p:sp>
      <p:sp>
        <p:nvSpPr>
          <p:cNvPr id="1012" name="Google Shape;1012;p62"/>
          <p:cNvSpPr txBox="1"/>
          <p:nvPr/>
        </p:nvSpPr>
        <p:spPr>
          <a:xfrm>
            <a:off x="6643731" y="1742248"/>
            <a:ext cx="274200" cy="192000"/>
          </a:xfrm>
          <a:prstGeom prst="rect">
            <a:avLst/>
          </a:prstGeom>
          <a:noFill/>
          <a:ln>
            <a:noFill/>
          </a:ln>
        </p:spPr>
        <p:txBody>
          <a:bodyPr spcFirstLastPara="1" wrap="square" lIns="47500" tIns="47500" rIns="47500" bIns="47500" anchor="t" anchorCtr="0">
            <a:spAutoFit/>
          </a:bodyPr>
          <a:lstStyle/>
          <a:p>
            <a:pPr marL="0" lvl="0" indent="0" algn="l" rtl="0">
              <a:spcBef>
                <a:spcPts val="0"/>
              </a:spcBef>
              <a:spcAft>
                <a:spcPts val="0"/>
              </a:spcAft>
              <a:buNone/>
            </a:pPr>
            <a:r>
              <a:rPr lang="en" sz="623">
                <a:solidFill>
                  <a:srgbClr val="78909C"/>
                </a:solidFill>
              </a:rPr>
              <a:t>SGN</a:t>
            </a:r>
            <a:endParaRPr sz="623">
              <a:solidFill>
                <a:srgbClr val="78909C"/>
              </a:solidFill>
            </a:endParaRPr>
          </a:p>
        </p:txBody>
      </p:sp>
      <p:sp>
        <p:nvSpPr>
          <p:cNvPr id="1013" name="Google Shape;1013;p62"/>
          <p:cNvSpPr txBox="1"/>
          <p:nvPr/>
        </p:nvSpPr>
        <p:spPr>
          <a:xfrm>
            <a:off x="6393664" y="2206484"/>
            <a:ext cx="15546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t>Request zone WoW</a:t>
            </a:r>
            <a:endParaRPr sz="800" b="1"/>
          </a:p>
        </p:txBody>
      </p:sp>
      <p:sp>
        <p:nvSpPr>
          <p:cNvPr id="1014" name="Google Shape;1014;p62"/>
          <p:cNvSpPr/>
          <p:nvPr/>
        </p:nvSpPr>
        <p:spPr>
          <a:xfrm>
            <a:off x="6588438" y="2745015"/>
            <a:ext cx="1960500" cy="692700"/>
          </a:xfrm>
          <a:prstGeom prst="roundRect">
            <a:avLst>
              <a:gd name="adj" fmla="val 16667"/>
            </a:avLst>
          </a:prstGeom>
          <a:solidFill>
            <a:srgbClr val="EEEEEE"/>
          </a:solidFill>
          <a:ln>
            <a:noFill/>
          </a:ln>
        </p:spPr>
        <p:txBody>
          <a:bodyPr spcFirstLastPara="1" wrap="square" lIns="47500" tIns="47500" rIns="47500" bIns="47500" anchor="ctr" anchorCtr="0">
            <a:noAutofit/>
          </a:bodyPr>
          <a:lstStyle/>
          <a:p>
            <a:pPr marL="0" lvl="0" indent="0" algn="ctr" rtl="0">
              <a:spcBef>
                <a:spcPts val="0"/>
              </a:spcBef>
              <a:spcAft>
                <a:spcPts val="0"/>
              </a:spcAft>
              <a:buNone/>
            </a:pPr>
            <a:endParaRPr sz="727"/>
          </a:p>
        </p:txBody>
      </p:sp>
      <p:sp>
        <p:nvSpPr>
          <p:cNvPr id="1015" name="Google Shape;1015;p62"/>
          <p:cNvSpPr txBox="1"/>
          <p:nvPr/>
        </p:nvSpPr>
        <p:spPr>
          <a:xfrm>
            <a:off x="6668077" y="2849400"/>
            <a:ext cx="394800" cy="192000"/>
          </a:xfrm>
          <a:prstGeom prst="rect">
            <a:avLst/>
          </a:prstGeom>
          <a:noFill/>
          <a:ln>
            <a:noFill/>
          </a:ln>
        </p:spPr>
        <p:txBody>
          <a:bodyPr spcFirstLastPara="1" wrap="square" lIns="47500" tIns="47500" rIns="47500" bIns="47500" anchor="t" anchorCtr="0">
            <a:spAutoFit/>
          </a:bodyPr>
          <a:lstStyle/>
          <a:p>
            <a:pPr marL="0" lvl="0" indent="0" algn="l" rtl="0">
              <a:spcBef>
                <a:spcPts val="0"/>
              </a:spcBef>
              <a:spcAft>
                <a:spcPts val="0"/>
              </a:spcAft>
              <a:buNone/>
            </a:pPr>
            <a:r>
              <a:rPr lang="en" sz="623">
                <a:solidFill>
                  <a:srgbClr val="78909C"/>
                </a:solidFill>
              </a:rPr>
              <a:t>HAN</a:t>
            </a:r>
            <a:endParaRPr sz="623">
              <a:solidFill>
                <a:srgbClr val="78909C"/>
              </a:solidFill>
            </a:endParaRPr>
          </a:p>
        </p:txBody>
      </p:sp>
      <p:sp>
        <p:nvSpPr>
          <p:cNvPr id="1016" name="Google Shape;1016;p62"/>
          <p:cNvSpPr txBox="1"/>
          <p:nvPr/>
        </p:nvSpPr>
        <p:spPr>
          <a:xfrm>
            <a:off x="6668082" y="3141340"/>
            <a:ext cx="274200" cy="192000"/>
          </a:xfrm>
          <a:prstGeom prst="rect">
            <a:avLst/>
          </a:prstGeom>
          <a:noFill/>
          <a:ln>
            <a:noFill/>
          </a:ln>
        </p:spPr>
        <p:txBody>
          <a:bodyPr spcFirstLastPara="1" wrap="square" lIns="47500" tIns="47500" rIns="47500" bIns="47500" anchor="t" anchorCtr="0">
            <a:spAutoFit/>
          </a:bodyPr>
          <a:lstStyle/>
          <a:p>
            <a:pPr marL="0" lvl="0" indent="0" algn="l" rtl="0">
              <a:spcBef>
                <a:spcPts val="0"/>
              </a:spcBef>
              <a:spcAft>
                <a:spcPts val="0"/>
              </a:spcAft>
              <a:buNone/>
            </a:pPr>
            <a:r>
              <a:rPr lang="en" sz="623">
                <a:solidFill>
                  <a:srgbClr val="78909C"/>
                </a:solidFill>
              </a:rPr>
              <a:t>SGN</a:t>
            </a:r>
            <a:endParaRPr sz="623">
              <a:solidFill>
                <a:srgbClr val="78909C"/>
              </a:solidFill>
            </a:endParaRPr>
          </a:p>
        </p:txBody>
      </p:sp>
      <p:sp>
        <p:nvSpPr>
          <p:cNvPr id="1017" name="Google Shape;1017;p62"/>
          <p:cNvSpPr/>
          <p:nvPr/>
        </p:nvSpPr>
        <p:spPr>
          <a:xfrm>
            <a:off x="359680" y="4035775"/>
            <a:ext cx="8272500" cy="1071000"/>
          </a:xfrm>
          <a:prstGeom prst="rect">
            <a:avLst/>
          </a:prstGeom>
          <a:solidFill>
            <a:srgbClr val="FFFFFF"/>
          </a:solidFill>
          <a:ln w="6550" cap="flat" cmpd="sng">
            <a:solidFill>
              <a:srgbClr val="E2E8F0"/>
            </a:solidFill>
            <a:prstDash val="solid"/>
            <a:round/>
            <a:headEnd type="none" w="sm" len="sm"/>
            <a:tailEnd type="none" w="sm" len="sm"/>
          </a:ln>
          <a:effectLst>
            <a:outerShdw blurRad="52497" dist="17499" dir="8100000" algn="bl" rotWithShape="0">
              <a:srgbClr val="000000">
                <a:alpha val="10200"/>
              </a:srgbClr>
            </a:outerShdw>
          </a:effectLst>
        </p:spPr>
        <p:txBody>
          <a:bodyPr spcFirstLastPara="1" wrap="square" lIns="63000" tIns="63000" rIns="63000" bIns="63000" anchor="ctr" anchorCtr="0">
            <a:noAutofit/>
          </a:bodyPr>
          <a:lstStyle/>
          <a:p>
            <a:pPr marL="0" lvl="0" indent="0" algn="l" rtl="0">
              <a:spcBef>
                <a:spcPts val="0"/>
              </a:spcBef>
              <a:spcAft>
                <a:spcPts val="0"/>
              </a:spcAft>
              <a:buNone/>
            </a:pPr>
            <a:endParaRPr/>
          </a:p>
        </p:txBody>
      </p:sp>
      <p:sp>
        <p:nvSpPr>
          <p:cNvPr id="1018" name="Google Shape;1018;p62"/>
          <p:cNvSpPr/>
          <p:nvPr/>
        </p:nvSpPr>
        <p:spPr>
          <a:xfrm>
            <a:off x="359663" y="4035775"/>
            <a:ext cx="37800" cy="1071000"/>
          </a:xfrm>
          <a:prstGeom prst="rect">
            <a:avLst/>
          </a:prstGeom>
          <a:solidFill>
            <a:srgbClr val="2E7D32"/>
          </a:solidFill>
          <a:ln>
            <a:noFill/>
          </a:ln>
        </p:spPr>
        <p:txBody>
          <a:bodyPr spcFirstLastPara="1" wrap="square" lIns="63000" tIns="63000" rIns="63000" bIns="63000" anchor="ctr" anchorCtr="0">
            <a:noAutofit/>
          </a:bodyPr>
          <a:lstStyle/>
          <a:p>
            <a:pPr marL="0" lvl="0" indent="0" algn="l" rtl="0">
              <a:spcBef>
                <a:spcPts val="0"/>
              </a:spcBef>
              <a:spcAft>
                <a:spcPts val="0"/>
              </a:spcAft>
              <a:buNone/>
            </a:pPr>
            <a:endParaRPr/>
          </a:p>
        </p:txBody>
      </p:sp>
      <p:pic>
        <p:nvPicPr>
          <p:cNvPr id="1019" name="Google Shape;1019;p62" descr="preencoded.png"/>
          <p:cNvPicPr preferRelativeResize="0"/>
          <p:nvPr/>
        </p:nvPicPr>
        <p:blipFill rotWithShape="1">
          <a:blip r:embed="rId4">
            <a:alphaModFix/>
          </a:blip>
          <a:srcRect/>
          <a:stretch/>
        </p:blipFill>
        <p:spPr>
          <a:xfrm>
            <a:off x="493851" y="4104323"/>
            <a:ext cx="138913" cy="188910"/>
          </a:xfrm>
          <a:prstGeom prst="rect">
            <a:avLst/>
          </a:prstGeom>
          <a:noFill/>
          <a:ln>
            <a:noFill/>
          </a:ln>
        </p:spPr>
      </p:pic>
      <p:sp>
        <p:nvSpPr>
          <p:cNvPr id="1020" name="Google Shape;1020;p62"/>
          <p:cNvSpPr/>
          <p:nvPr/>
        </p:nvSpPr>
        <p:spPr>
          <a:xfrm>
            <a:off x="662047" y="4061478"/>
            <a:ext cx="1890000" cy="239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758"/>
              <a:buFont typeface="Calibri"/>
              <a:buNone/>
            </a:pPr>
            <a:r>
              <a:rPr lang="en" sz="758">
                <a:solidFill>
                  <a:srgbClr val="2E7D32"/>
                </a:solidFill>
                <a:latin typeface="Lexend"/>
                <a:ea typeface="Lexend"/>
                <a:cs typeface="Lexend"/>
                <a:sym typeface="Lexend"/>
              </a:rPr>
              <a:t>Highlight</a:t>
            </a:r>
            <a:endParaRPr sz="758" i="0" u="none" strike="noStrike" cap="none">
              <a:solidFill>
                <a:srgbClr val="2E7D32"/>
              </a:solidFill>
              <a:latin typeface="Lexend"/>
              <a:ea typeface="Lexend"/>
              <a:cs typeface="Lexend"/>
              <a:sym typeface="Lexend"/>
            </a:endParaRPr>
          </a:p>
        </p:txBody>
      </p:sp>
      <p:sp>
        <p:nvSpPr>
          <p:cNvPr id="1021" name="Google Shape;1021;p62"/>
          <p:cNvSpPr/>
          <p:nvPr/>
        </p:nvSpPr>
        <p:spPr>
          <a:xfrm>
            <a:off x="485650" y="4248500"/>
            <a:ext cx="7992600" cy="797400"/>
          </a:xfrm>
          <a:prstGeom prst="rect">
            <a:avLst/>
          </a:prstGeom>
          <a:noFill/>
          <a:ln>
            <a:noFill/>
          </a:ln>
        </p:spPr>
        <p:txBody>
          <a:bodyPr spcFirstLastPara="1" wrap="square" lIns="0" tIns="0" rIns="0" bIns="0" anchor="t" anchorCtr="0">
            <a:noAutofit/>
          </a:bodyPr>
          <a:lstStyle/>
          <a:p>
            <a:pPr marL="314984" lvl="0" indent="-215916" algn="l" rtl="0">
              <a:spcBef>
                <a:spcPts val="207"/>
              </a:spcBef>
              <a:spcAft>
                <a:spcPts val="0"/>
              </a:spcAft>
              <a:buClr>
                <a:srgbClr val="1E293B"/>
              </a:buClr>
              <a:buSzPts val="920"/>
              <a:buFont typeface="Lexend"/>
              <a:buChar char="•"/>
            </a:pPr>
            <a:endParaRPr sz="920">
              <a:solidFill>
                <a:srgbClr val="1E293B"/>
              </a:solidFill>
              <a:latin typeface="Lexend"/>
              <a:ea typeface="Lexend"/>
              <a:cs typeface="Lexend"/>
              <a:sym typeface="Lexend"/>
            </a:endParaRPr>
          </a:p>
        </p:txBody>
      </p:sp>
      <p:pic>
        <p:nvPicPr>
          <p:cNvPr id="1022" name="Google Shape;1022;p62" title="Biểu đồ"/>
          <p:cNvPicPr preferRelativeResize="0"/>
          <p:nvPr/>
        </p:nvPicPr>
        <p:blipFill rotWithShape="1">
          <a:blip r:embed="rId5">
            <a:alphaModFix/>
          </a:blip>
          <a:srcRect l="5209" r="2276"/>
          <a:stretch/>
        </p:blipFill>
        <p:spPr>
          <a:xfrm>
            <a:off x="610825" y="2592075"/>
            <a:ext cx="5262300" cy="1214375"/>
          </a:xfrm>
          <a:prstGeom prst="rect">
            <a:avLst/>
          </a:prstGeom>
          <a:noFill/>
          <a:ln>
            <a:noFill/>
          </a:ln>
        </p:spPr>
      </p:pic>
      <p:sp>
        <p:nvSpPr>
          <p:cNvPr id="1023" name="Google Shape;1023;p62"/>
          <p:cNvSpPr txBox="1"/>
          <p:nvPr/>
        </p:nvSpPr>
        <p:spPr>
          <a:xfrm>
            <a:off x="6859455" y="2741055"/>
            <a:ext cx="1913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595959"/>
                </a:solidFill>
              </a:rPr>
              <a:t>151,6k stp</a:t>
            </a:r>
            <a:r>
              <a:rPr lang="en" sz="1300" b="1"/>
              <a:t> </a:t>
            </a:r>
            <a:r>
              <a:rPr lang="en" sz="900" b="1"/>
              <a:t>( </a:t>
            </a:r>
            <a:r>
              <a:rPr lang="en" sz="900" b="1">
                <a:solidFill>
                  <a:srgbClr val="34A853"/>
                </a:solidFill>
              </a:rPr>
              <a:t>+0.26% WoW</a:t>
            </a:r>
            <a:r>
              <a:rPr lang="en" sz="900" b="1"/>
              <a:t> ) </a:t>
            </a:r>
            <a:r>
              <a:rPr lang="en" sz="1300" b="1"/>
              <a:t> </a:t>
            </a:r>
            <a:endParaRPr sz="1300" b="1"/>
          </a:p>
        </p:txBody>
      </p:sp>
      <p:sp>
        <p:nvSpPr>
          <p:cNvPr id="1024" name="Google Shape;1024;p62"/>
          <p:cNvSpPr txBox="1"/>
          <p:nvPr/>
        </p:nvSpPr>
        <p:spPr>
          <a:xfrm>
            <a:off x="6864650" y="3025135"/>
            <a:ext cx="1913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595959"/>
                </a:solidFill>
              </a:rPr>
              <a:t>139k stp</a:t>
            </a:r>
            <a:r>
              <a:rPr lang="en" sz="1300" b="1"/>
              <a:t> </a:t>
            </a:r>
            <a:r>
              <a:rPr lang="en" sz="900" b="1"/>
              <a:t>( </a:t>
            </a:r>
            <a:r>
              <a:rPr lang="en" sz="900" b="1">
                <a:solidFill>
                  <a:srgbClr val="34A853"/>
                </a:solidFill>
              </a:rPr>
              <a:t>-3% WoW</a:t>
            </a:r>
            <a:r>
              <a:rPr lang="en" sz="900" b="1">
                <a:solidFill>
                  <a:schemeClr val="dk1"/>
                </a:solidFill>
              </a:rPr>
              <a:t> </a:t>
            </a:r>
            <a:r>
              <a:rPr lang="en" sz="900" b="1"/>
              <a:t>) </a:t>
            </a:r>
            <a:r>
              <a:rPr lang="en" sz="1300" b="1"/>
              <a:t> </a:t>
            </a:r>
            <a:endParaRPr sz="1300" b="1"/>
          </a:p>
        </p:txBody>
      </p:sp>
      <p:graphicFrame>
        <p:nvGraphicFramePr>
          <p:cNvPr id="1025" name="Google Shape;1025;p62"/>
          <p:cNvGraphicFramePr/>
          <p:nvPr/>
        </p:nvGraphicFramePr>
        <p:xfrm>
          <a:off x="397475" y="1078525"/>
          <a:ext cx="3000000" cy="3000000"/>
        </p:xfrm>
        <a:graphic>
          <a:graphicData uri="http://schemas.openxmlformats.org/drawingml/2006/table">
            <a:tbl>
              <a:tblPr>
                <a:noFill/>
                <a:tableStyleId>{1B6E03F7-A7B3-402D-A52F-665CEB5CA1F2}</a:tableStyleId>
              </a:tblPr>
              <a:tblGrid>
                <a:gridCol w="1182750">
                  <a:extLst>
                    <a:ext uri="{9D8B030D-6E8A-4147-A177-3AD203B41FA5}">
                      <a16:colId xmlns:a16="http://schemas.microsoft.com/office/drawing/2014/main" val="20000"/>
                    </a:ext>
                  </a:extLst>
                </a:gridCol>
                <a:gridCol w="1182750">
                  <a:extLst>
                    <a:ext uri="{9D8B030D-6E8A-4147-A177-3AD203B41FA5}">
                      <a16:colId xmlns:a16="http://schemas.microsoft.com/office/drawing/2014/main" val="20001"/>
                    </a:ext>
                  </a:extLst>
                </a:gridCol>
                <a:gridCol w="1182750">
                  <a:extLst>
                    <a:ext uri="{9D8B030D-6E8A-4147-A177-3AD203B41FA5}">
                      <a16:colId xmlns:a16="http://schemas.microsoft.com/office/drawing/2014/main" val="20002"/>
                    </a:ext>
                  </a:extLst>
                </a:gridCol>
                <a:gridCol w="1182750">
                  <a:extLst>
                    <a:ext uri="{9D8B030D-6E8A-4147-A177-3AD203B41FA5}">
                      <a16:colId xmlns:a16="http://schemas.microsoft.com/office/drawing/2014/main" val="20003"/>
                    </a:ext>
                  </a:extLst>
                </a:gridCol>
                <a:gridCol w="1182750">
                  <a:extLst>
                    <a:ext uri="{9D8B030D-6E8A-4147-A177-3AD203B41FA5}">
                      <a16:colId xmlns:a16="http://schemas.microsoft.com/office/drawing/2014/main" val="20004"/>
                    </a:ext>
                  </a:extLst>
                </a:gridCol>
              </a:tblGrid>
              <a:tr h="280225">
                <a:tc>
                  <a:txBody>
                    <a:bodyPr/>
                    <a:lstStyle/>
                    <a:p>
                      <a:pPr marL="0" lvl="0" indent="0" algn="ctr" rtl="0">
                        <a:spcBef>
                          <a:spcPts val="0"/>
                        </a:spcBef>
                        <a:spcAft>
                          <a:spcPts val="0"/>
                        </a:spcAft>
                        <a:buNone/>
                      </a:pPr>
                      <a:endParaRPr sz="1000" b="1">
                        <a:solidFill>
                          <a:schemeClr val="lt1"/>
                        </a:solidFill>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1000" b="1">
                          <a:solidFill>
                            <a:schemeClr val="lt1"/>
                          </a:solidFill>
                          <a:latin typeface="Lexend"/>
                          <a:ea typeface="Lexend"/>
                          <a:cs typeface="Lexend"/>
                          <a:sym typeface="Lexend"/>
                        </a:rPr>
                        <a:t>Coverage</a:t>
                      </a:r>
                      <a:endParaRPr sz="1000" b="1">
                        <a:solidFill>
                          <a:schemeClr val="lt1"/>
                        </a:solidFill>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1000" b="1">
                          <a:solidFill>
                            <a:schemeClr val="lt1"/>
                          </a:solidFill>
                          <a:latin typeface="Lexend"/>
                          <a:ea typeface="Lexend"/>
                          <a:cs typeface="Lexend"/>
                          <a:sym typeface="Lexend"/>
                        </a:rPr>
                        <a:t>Online rate</a:t>
                      </a:r>
                      <a:endParaRPr sz="1000" b="1">
                        <a:solidFill>
                          <a:schemeClr val="lt1"/>
                        </a:solidFill>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1000" b="1">
                          <a:solidFill>
                            <a:schemeClr val="lt1"/>
                          </a:solidFill>
                          <a:latin typeface="Lexend"/>
                          <a:ea typeface="Lexend"/>
                          <a:cs typeface="Lexend"/>
                          <a:sym typeface="Lexend"/>
                        </a:rPr>
                        <a:t>PPH</a:t>
                      </a:r>
                      <a:endParaRPr sz="1000" b="1">
                        <a:solidFill>
                          <a:schemeClr val="lt1"/>
                        </a:solidFill>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1000" b="1">
                          <a:solidFill>
                            <a:schemeClr val="lt1"/>
                          </a:solidFill>
                          <a:latin typeface="Lexend"/>
                          <a:ea typeface="Lexend"/>
                          <a:cs typeface="Lexend"/>
                          <a:sym typeface="Lexend"/>
                        </a:rPr>
                        <a:t>EPH</a:t>
                      </a:r>
                      <a:endParaRPr sz="1000" b="1">
                        <a:solidFill>
                          <a:schemeClr val="lt1"/>
                        </a:solidFill>
                        <a:latin typeface="Lexend"/>
                        <a:ea typeface="Lexend"/>
                        <a:cs typeface="Lexend"/>
                        <a:sym typeface="Lexend"/>
                      </a:endParaRPr>
                    </a:p>
                  </a:txBody>
                  <a:tcPr marL="91425" marR="91425" marT="19050" marB="1905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extLst>
                  <a:ext uri="{0D108BD9-81ED-4DB2-BD59-A6C34878D82A}">
                    <a16:rowId xmlns:a16="http://schemas.microsoft.com/office/drawing/2014/main" val="10000"/>
                  </a:ext>
                </a:extLst>
              </a:tr>
              <a:tr h="233525">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HAN</a:t>
                      </a:r>
                      <a:endParaRPr sz="1000">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15.53%</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88.82%</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3.38</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59.6K</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33525">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WoW</a:t>
                      </a:r>
                      <a:endParaRPr sz="1000">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EA4335"/>
                          </a:solidFill>
                          <a:latin typeface="Lexend"/>
                          <a:ea typeface="Lexend"/>
                          <a:cs typeface="Lexend"/>
                          <a:sym typeface="Lexend"/>
                        </a:rPr>
                        <a:t>-12.92%</a:t>
                      </a:r>
                      <a:endParaRPr sz="1000" b="1">
                        <a:solidFill>
                          <a:srgbClr val="EA4335"/>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1.94%</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0.12%</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EF4444"/>
                          </a:solidFill>
                          <a:latin typeface="Lexend"/>
                          <a:ea typeface="Lexend"/>
                          <a:cs typeface="Lexend"/>
                          <a:sym typeface="Lexend"/>
                        </a:rPr>
                        <a:t>-2.78%</a:t>
                      </a:r>
                      <a:endParaRPr sz="1000" b="1">
                        <a:solidFill>
                          <a:srgbClr val="EF4444"/>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2"/>
                  </a:ext>
                </a:extLst>
              </a:tr>
              <a:tr h="233525">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SGN</a:t>
                      </a:r>
                      <a:endParaRPr sz="1000">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22.11%</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88.73%</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3.23</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48.5K</a:t>
                      </a:r>
                      <a:endParaRPr sz="10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233525">
                <a:tc>
                  <a:txBody>
                    <a:bodyPr/>
                    <a:lstStyle/>
                    <a:p>
                      <a:pPr marL="0" lvl="0" indent="0" algn="ctr" rtl="0">
                        <a:lnSpc>
                          <a:spcPct val="115000"/>
                        </a:lnSpc>
                        <a:spcBef>
                          <a:spcPts val="0"/>
                        </a:spcBef>
                        <a:spcAft>
                          <a:spcPts val="0"/>
                        </a:spcAft>
                        <a:buNone/>
                      </a:pPr>
                      <a:r>
                        <a:rPr lang="en" sz="1000">
                          <a:latin typeface="Lexend"/>
                          <a:ea typeface="Lexend"/>
                          <a:cs typeface="Lexend"/>
                          <a:sym typeface="Lexend"/>
                        </a:rPr>
                        <a:t>WoW</a:t>
                      </a:r>
                      <a:endParaRPr sz="1000">
                        <a:latin typeface="Lexend"/>
                        <a:ea typeface="Lexend"/>
                        <a:cs typeface="Lexend"/>
                        <a:sym typeface="Lexend"/>
                      </a:endParaRPr>
                    </a:p>
                  </a:txBody>
                  <a:tcPr marL="28575" marR="28575" marT="19050" marB="19050" anchor="ctr">
                    <a:lnL w="19050"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1.78%</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1.47%</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7.19%</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1000" b="1">
                          <a:solidFill>
                            <a:srgbClr val="34A853"/>
                          </a:solidFill>
                          <a:latin typeface="Lexend"/>
                          <a:ea typeface="Lexend"/>
                          <a:cs typeface="Lexend"/>
                          <a:sym typeface="Lexend"/>
                        </a:rPr>
                        <a:t>3.95%</a:t>
                      </a:r>
                      <a:endParaRPr sz="1000" b="1">
                        <a:solidFill>
                          <a:srgbClr val="34A853"/>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30"/>
        <p:cNvGrpSpPr/>
        <p:nvPr/>
      </p:nvGrpSpPr>
      <p:grpSpPr>
        <a:xfrm>
          <a:off x="0" y="0"/>
          <a:ext cx="0" cy="0"/>
          <a:chOff x="0" y="0"/>
          <a:chExt cx="0" cy="0"/>
        </a:xfrm>
      </p:grpSpPr>
      <p:sp>
        <p:nvSpPr>
          <p:cNvPr id="1031" name="Google Shape;1031;p63"/>
          <p:cNvSpPr/>
          <p:nvPr/>
        </p:nvSpPr>
        <p:spPr>
          <a:xfrm>
            <a:off x="947275" y="3091225"/>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6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63"/>
          <p:cNvSpPr/>
          <p:nvPr/>
        </p:nvSpPr>
        <p:spPr>
          <a:xfrm>
            <a:off x="947200" y="984250"/>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4" name="Google Shape;1034;p6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35" name="Google Shape;1035;p6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36" name="Google Shape;1036;p63"/>
          <p:cNvSpPr/>
          <p:nvPr/>
        </p:nvSpPr>
        <p:spPr>
          <a:xfrm>
            <a:off x="6367437" y="119192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37" name="Google Shape;1037;p63"/>
          <p:cNvSpPr/>
          <p:nvPr/>
        </p:nvSpPr>
        <p:spPr>
          <a:xfrm>
            <a:off x="6367434" y="1186636"/>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38" name="Google Shape;1038;p63"/>
          <p:cNvSpPr txBox="1"/>
          <p:nvPr/>
        </p:nvSpPr>
        <p:spPr>
          <a:xfrm>
            <a:off x="6913644" y="11717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2,187 ca</a:t>
            </a:r>
            <a:endParaRPr sz="1150">
              <a:solidFill>
                <a:srgbClr val="1255CC"/>
              </a:solidFill>
              <a:latin typeface="Nunito ExtraBold"/>
              <a:ea typeface="Nunito ExtraBold"/>
              <a:cs typeface="Nunito ExtraBold"/>
              <a:sym typeface="Nunito ExtraBold"/>
            </a:endParaRPr>
          </a:p>
        </p:txBody>
      </p:sp>
      <p:sp>
        <p:nvSpPr>
          <p:cNvPr id="1039" name="Google Shape;1039;p63"/>
          <p:cNvSpPr txBox="1"/>
          <p:nvPr/>
        </p:nvSpPr>
        <p:spPr>
          <a:xfrm>
            <a:off x="6253887" y="12273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1040" name="Google Shape;1040;p63"/>
          <p:cNvSpPr/>
          <p:nvPr/>
        </p:nvSpPr>
        <p:spPr>
          <a:xfrm>
            <a:off x="6363784" y="1800111"/>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41" name="Google Shape;1041;p63"/>
          <p:cNvSpPr/>
          <p:nvPr/>
        </p:nvSpPr>
        <p:spPr>
          <a:xfrm>
            <a:off x="6363782" y="1794820"/>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42" name="Google Shape;1042;p63"/>
          <p:cNvSpPr txBox="1"/>
          <p:nvPr/>
        </p:nvSpPr>
        <p:spPr>
          <a:xfrm>
            <a:off x="6909991" y="17693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90.26%</a:t>
            </a:r>
            <a:endParaRPr sz="1250">
              <a:solidFill>
                <a:srgbClr val="1255CC"/>
              </a:solidFill>
              <a:latin typeface="Nunito ExtraBold"/>
              <a:ea typeface="Nunito ExtraBold"/>
              <a:cs typeface="Nunito ExtraBold"/>
              <a:sym typeface="Nunito ExtraBold"/>
            </a:endParaRPr>
          </a:p>
        </p:txBody>
      </p:sp>
      <p:sp>
        <p:nvSpPr>
          <p:cNvPr id="1043" name="Google Shape;1043;p63"/>
          <p:cNvSpPr txBox="1"/>
          <p:nvPr/>
        </p:nvSpPr>
        <p:spPr>
          <a:xfrm>
            <a:off x="6250234" y="18249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1044" name="Google Shape;1044;p63"/>
          <p:cNvSpPr/>
          <p:nvPr/>
        </p:nvSpPr>
        <p:spPr>
          <a:xfrm>
            <a:off x="6363784" y="238807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45" name="Google Shape;1045;p63"/>
          <p:cNvSpPr/>
          <p:nvPr/>
        </p:nvSpPr>
        <p:spPr>
          <a:xfrm>
            <a:off x="6363782" y="2388078"/>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46" name="Google Shape;1046;p63"/>
          <p:cNvSpPr txBox="1"/>
          <p:nvPr/>
        </p:nvSpPr>
        <p:spPr>
          <a:xfrm>
            <a:off x="6909991" y="236786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88.82%</a:t>
            </a:r>
            <a:endParaRPr sz="1250">
              <a:solidFill>
                <a:srgbClr val="1255CC"/>
              </a:solidFill>
              <a:latin typeface="Nunito ExtraBold"/>
              <a:ea typeface="Nunito ExtraBold"/>
              <a:cs typeface="Nunito ExtraBold"/>
              <a:sym typeface="Nunito ExtraBold"/>
            </a:endParaRPr>
          </a:p>
        </p:txBody>
      </p:sp>
      <p:sp>
        <p:nvSpPr>
          <p:cNvPr id="1047" name="Google Shape;1047;p63"/>
          <p:cNvSpPr txBox="1"/>
          <p:nvPr/>
        </p:nvSpPr>
        <p:spPr>
          <a:xfrm>
            <a:off x="6255084" y="2413102"/>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1048" name="Google Shape;1048;p63"/>
          <p:cNvSpPr txBox="1"/>
          <p:nvPr/>
        </p:nvSpPr>
        <p:spPr>
          <a:xfrm>
            <a:off x="7701617" y="12156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+ 2.82%</a:t>
            </a:r>
            <a:endParaRPr/>
          </a:p>
        </p:txBody>
      </p:sp>
      <p:sp>
        <p:nvSpPr>
          <p:cNvPr id="1049" name="Google Shape;1049;p63"/>
          <p:cNvSpPr txBox="1"/>
          <p:nvPr/>
        </p:nvSpPr>
        <p:spPr>
          <a:xfrm>
            <a:off x="7701617" y="181430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- 0.92%</a:t>
            </a:r>
            <a:endParaRPr/>
          </a:p>
        </p:txBody>
      </p:sp>
      <p:sp>
        <p:nvSpPr>
          <p:cNvPr id="1050" name="Google Shape;1050;p63"/>
          <p:cNvSpPr txBox="1"/>
          <p:nvPr/>
        </p:nvSpPr>
        <p:spPr>
          <a:xfrm>
            <a:off x="7701617" y="241263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+ 1.94%</a:t>
            </a:r>
            <a:endParaRPr/>
          </a:p>
        </p:txBody>
      </p:sp>
      <p:pic>
        <p:nvPicPr>
          <p:cNvPr id="1051" name="Google Shape;1051;p63"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1052" name="Google Shape;1052;p63"/>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OPERATIONS</a:t>
            </a:r>
            <a:endParaRPr sz="2200" b="1" i="0" u="none" strike="noStrike" cap="none">
              <a:solidFill>
                <a:srgbClr val="F56C1F"/>
              </a:solidFill>
              <a:latin typeface="Lexend"/>
              <a:ea typeface="Lexend"/>
              <a:cs typeface="Lexend"/>
              <a:sym typeface="Lexend"/>
            </a:endParaRPr>
          </a:p>
        </p:txBody>
      </p:sp>
      <p:graphicFrame>
        <p:nvGraphicFramePr>
          <p:cNvPr id="1053" name="Google Shape;1053;p63"/>
          <p:cNvGraphicFramePr/>
          <p:nvPr/>
        </p:nvGraphicFramePr>
        <p:xfrm>
          <a:off x="1005017" y="1104425"/>
          <a:ext cx="3000000" cy="3000000"/>
        </p:xfrm>
        <a:graphic>
          <a:graphicData uri="http://schemas.openxmlformats.org/drawingml/2006/table">
            <a:tbl>
              <a:tblPr>
                <a:noFill/>
                <a:tableStyleId>{1B6E03F7-A7B3-402D-A52F-665CEB5CA1F2}</a:tableStyleId>
              </a:tblPr>
              <a:tblGrid>
                <a:gridCol w="661275">
                  <a:extLst>
                    <a:ext uri="{9D8B030D-6E8A-4147-A177-3AD203B41FA5}">
                      <a16:colId xmlns:a16="http://schemas.microsoft.com/office/drawing/2014/main" val="20000"/>
                    </a:ext>
                  </a:extLst>
                </a:gridCol>
                <a:gridCol w="462025">
                  <a:extLst>
                    <a:ext uri="{9D8B030D-6E8A-4147-A177-3AD203B41FA5}">
                      <a16:colId xmlns:a16="http://schemas.microsoft.com/office/drawing/2014/main" val="20001"/>
                    </a:ext>
                  </a:extLst>
                </a:gridCol>
                <a:gridCol w="462025">
                  <a:extLst>
                    <a:ext uri="{9D8B030D-6E8A-4147-A177-3AD203B41FA5}">
                      <a16:colId xmlns:a16="http://schemas.microsoft.com/office/drawing/2014/main" val="20002"/>
                    </a:ext>
                  </a:extLst>
                </a:gridCol>
                <a:gridCol w="462025">
                  <a:extLst>
                    <a:ext uri="{9D8B030D-6E8A-4147-A177-3AD203B41FA5}">
                      <a16:colId xmlns:a16="http://schemas.microsoft.com/office/drawing/2014/main" val="20003"/>
                    </a:ext>
                  </a:extLst>
                </a:gridCol>
                <a:gridCol w="462025">
                  <a:extLst>
                    <a:ext uri="{9D8B030D-6E8A-4147-A177-3AD203B41FA5}">
                      <a16:colId xmlns:a16="http://schemas.microsoft.com/office/drawing/2014/main" val="20004"/>
                    </a:ext>
                  </a:extLst>
                </a:gridCol>
                <a:gridCol w="462025">
                  <a:extLst>
                    <a:ext uri="{9D8B030D-6E8A-4147-A177-3AD203B41FA5}">
                      <a16:colId xmlns:a16="http://schemas.microsoft.com/office/drawing/2014/main" val="20005"/>
                    </a:ext>
                  </a:extLst>
                </a:gridCol>
                <a:gridCol w="462025">
                  <a:extLst>
                    <a:ext uri="{9D8B030D-6E8A-4147-A177-3AD203B41FA5}">
                      <a16:colId xmlns:a16="http://schemas.microsoft.com/office/drawing/2014/main" val="20006"/>
                    </a:ext>
                  </a:extLst>
                </a:gridCol>
                <a:gridCol w="462025">
                  <a:extLst>
                    <a:ext uri="{9D8B030D-6E8A-4147-A177-3AD203B41FA5}">
                      <a16:colId xmlns:a16="http://schemas.microsoft.com/office/drawing/2014/main" val="20007"/>
                    </a:ext>
                  </a:extLst>
                </a:gridCol>
                <a:gridCol w="533550">
                  <a:extLst>
                    <a:ext uri="{9D8B030D-6E8A-4147-A177-3AD203B41FA5}">
                      <a16:colId xmlns:a16="http://schemas.microsoft.com/office/drawing/2014/main" val="20008"/>
                    </a:ext>
                  </a:extLst>
                </a:gridCol>
                <a:gridCol w="390525">
                  <a:extLst>
                    <a:ext uri="{9D8B030D-6E8A-4147-A177-3AD203B41FA5}">
                      <a16:colId xmlns:a16="http://schemas.microsoft.com/office/drawing/2014/main" val="20009"/>
                    </a:ext>
                  </a:extLst>
                </a:gridCol>
                <a:gridCol w="462025">
                  <a:extLst>
                    <a:ext uri="{9D8B030D-6E8A-4147-A177-3AD203B41FA5}">
                      <a16:colId xmlns:a16="http://schemas.microsoft.com/office/drawing/2014/main" val="20010"/>
                    </a:ext>
                  </a:extLst>
                </a:gridCol>
              </a:tblGrid>
              <a:tr h="308725">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Metrics</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DD</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HK</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HBT</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CG</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BD</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TX</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136</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BIGZONE</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Z24</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Z578</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extLst>
                  <a:ext uri="{0D108BD9-81ED-4DB2-BD59-A6C34878D82A}">
                    <a16:rowId xmlns:a16="http://schemas.microsoft.com/office/drawing/2014/main" val="10000"/>
                  </a:ext>
                </a:extLst>
              </a:tr>
              <a:tr h="1907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Active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1"/>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Online rate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95.50%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94.52%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94.92%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93.21%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89.09%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85.36%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91.60%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85.25%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77.46%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75.77%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2"/>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Utilization</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89.87%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80.62%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75.11%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90.38%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89.52%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92.18%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93.42%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93.91%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95.78%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3"/>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Prod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3.74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3.49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3.30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3.86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3.59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3.64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3.64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4"/>
                  </a:ext>
                </a:extLst>
              </a:tr>
              <a:tr h="3178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Earning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52.2K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53.1K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49.7K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62.5K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51.8K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62.0K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61.2K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63.7K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55.9K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64.0K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5"/>
                  </a:ext>
                </a:extLst>
              </a:tr>
            </a:tbl>
          </a:graphicData>
        </a:graphic>
      </p:graphicFrame>
      <p:sp>
        <p:nvSpPr>
          <p:cNvPr id="1054" name="Google Shape;1054;p63"/>
          <p:cNvSpPr txBox="1"/>
          <p:nvPr/>
        </p:nvSpPr>
        <p:spPr>
          <a:xfrm>
            <a:off x="6347337" y="33269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1055" name="Google Shape;1055;p63"/>
          <p:cNvSpPr txBox="1"/>
          <p:nvPr/>
        </p:nvSpPr>
        <p:spPr>
          <a:xfrm>
            <a:off x="6343684" y="39245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 </a:t>
            </a:r>
            <a:endParaRPr sz="800">
              <a:solidFill>
                <a:srgbClr val="FFFFFF"/>
              </a:solidFill>
              <a:latin typeface="Nunito ExtraBold"/>
              <a:ea typeface="Nunito ExtraBold"/>
              <a:cs typeface="Nunito ExtraBold"/>
              <a:sym typeface="Nunito ExtraBold"/>
            </a:endParaRPr>
          </a:p>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1056" name="Google Shape;1056;p63"/>
          <p:cNvSpPr txBox="1"/>
          <p:nvPr/>
        </p:nvSpPr>
        <p:spPr>
          <a:xfrm>
            <a:off x="6343684" y="452310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Coverage</a:t>
            </a:r>
            <a:endParaRPr sz="800">
              <a:solidFill>
                <a:srgbClr val="FFFFFF"/>
              </a:solidFill>
              <a:latin typeface="Nunito ExtraBold"/>
              <a:ea typeface="Nunito ExtraBold"/>
              <a:cs typeface="Nunito ExtraBold"/>
              <a:sym typeface="Nunito ExtraBold"/>
            </a:endParaRPr>
          </a:p>
        </p:txBody>
      </p:sp>
      <p:sp>
        <p:nvSpPr>
          <p:cNvPr id="1057" name="Google Shape;1057;p63"/>
          <p:cNvSpPr/>
          <p:nvPr/>
        </p:nvSpPr>
        <p:spPr>
          <a:xfrm>
            <a:off x="6460891" y="32703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58" name="Google Shape;1058;p63"/>
          <p:cNvSpPr/>
          <p:nvPr/>
        </p:nvSpPr>
        <p:spPr>
          <a:xfrm>
            <a:off x="6392093" y="32703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59" name="Google Shape;1059;p63"/>
          <p:cNvSpPr/>
          <p:nvPr/>
        </p:nvSpPr>
        <p:spPr>
          <a:xfrm>
            <a:off x="6457241" y="38679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60" name="Google Shape;1060;p63"/>
          <p:cNvSpPr/>
          <p:nvPr/>
        </p:nvSpPr>
        <p:spPr>
          <a:xfrm>
            <a:off x="6388440" y="38679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61" name="Google Shape;1061;p63"/>
          <p:cNvSpPr/>
          <p:nvPr/>
        </p:nvSpPr>
        <p:spPr>
          <a:xfrm>
            <a:off x="6457241" y="446647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1062" name="Google Shape;1062;p63"/>
          <p:cNvSpPr/>
          <p:nvPr/>
        </p:nvSpPr>
        <p:spPr>
          <a:xfrm>
            <a:off x="6388440" y="446648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graphicFrame>
        <p:nvGraphicFramePr>
          <p:cNvPr id="1063" name="Google Shape;1063;p63"/>
          <p:cNvGraphicFramePr/>
          <p:nvPr/>
        </p:nvGraphicFramePr>
        <p:xfrm>
          <a:off x="1005067" y="3221767"/>
          <a:ext cx="3000000" cy="3000000"/>
        </p:xfrm>
        <a:graphic>
          <a:graphicData uri="http://schemas.openxmlformats.org/drawingml/2006/table">
            <a:tbl>
              <a:tblPr>
                <a:noFill/>
                <a:tableStyleId>{1B6E03F7-A7B3-402D-A52F-665CEB5CA1F2}</a:tableStyleId>
              </a:tblPr>
              <a:tblGrid>
                <a:gridCol w="899175">
                  <a:extLst>
                    <a:ext uri="{9D8B030D-6E8A-4147-A177-3AD203B41FA5}">
                      <a16:colId xmlns:a16="http://schemas.microsoft.com/office/drawing/2014/main" val="20000"/>
                    </a:ext>
                  </a:extLst>
                </a:gridCol>
                <a:gridCol w="733025">
                  <a:extLst>
                    <a:ext uri="{9D8B030D-6E8A-4147-A177-3AD203B41FA5}">
                      <a16:colId xmlns:a16="http://schemas.microsoft.com/office/drawing/2014/main" val="20001"/>
                    </a:ext>
                  </a:extLst>
                </a:gridCol>
                <a:gridCol w="733025">
                  <a:extLst>
                    <a:ext uri="{9D8B030D-6E8A-4147-A177-3AD203B41FA5}">
                      <a16:colId xmlns:a16="http://schemas.microsoft.com/office/drawing/2014/main" val="20002"/>
                    </a:ext>
                  </a:extLst>
                </a:gridCol>
                <a:gridCol w="733025">
                  <a:extLst>
                    <a:ext uri="{9D8B030D-6E8A-4147-A177-3AD203B41FA5}">
                      <a16:colId xmlns:a16="http://schemas.microsoft.com/office/drawing/2014/main" val="20003"/>
                    </a:ext>
                  </a:extLst>
                </a:gridCol>
                <a:gridCol w="733025">
                  <a:extLst>
                    <a:ext uri="{9D8B030D-6E8A-4147-A177-3AD203B41FA5}">
                      <a16:colId xmlns:a16="http://schemas.microsoft.com/office/drawing/2014/main" val="20004"/>
                    </a:ext>
                  </a:extLst>
                </a:gridCol>
                <a:gridCol w="733025">
                  <a:extLst>
                    <a:ext uri="{9D8B030D-6E8A-4147-A177-3AD203B41FA5}">
                      <a16:colId xmlns:a16="http://schemas.microsoft.com/office/drawing/2014/main" val="20005"/>
                    </a:ext>
                  </a:extLst>
                </a:gridCol>
                <a:gridCol w="733025">
                  <a:extLst>
                    <a:ext uri="{9D8B030D-6E8A-4147-A177-3AD203B41FA5}">
                      <a16:colId xmlns:a16="http://schemas.microsoft.com/office/drawing/2014/main" val="20006"/>
                    </a:ext>
                  </a:extLst>
                </a:gridCol>
              </a:tblGrid>
              <a:tr h="275450">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Metrics</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1</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2</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3</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4</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5</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6</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extLst>
                  <a:ext uri="{0D108BD9-81ED-4DB2-BD59-A6C34878D82A}">
                    <a16:rowId xmlns:a16="http://schemas.microsoft.com/office/drawing/2014/main" val="10000"/>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Active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1"/>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Online rate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90.14%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88.71%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91.53%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89.41%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86.31%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2"/>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Utilization</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85.16%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87.51%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88.15%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88.08%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80.94%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89.44%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3"/>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Prod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3.28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3.22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4"/>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Earning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48.4K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49.9K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47.9K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47.5K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46.7K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50.2K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5"/>
                  </a:ext>
                </a:extLst>
              </a:tr>
            </a:tbl>
          </a:graphicData>
        </a:graphic>
      </p:graphicFrame>
      <p:sp>
        <p:nvSpPr>
          <p:cNvPr id="1064" name="Google Shape;1064;p63"/>
          <p:cNvSpPr txBox="1"/>
          <p:nvPr/>
        </p:nvSpPr>
        <p:spPr>
          <a:xfrm>
            <a:off x="6279737" y="3326464"/>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1065" name="Google Shape;1065;p63"/>
          <p:cNvSpPr txBox="1"/>
          <p:nvPr/>
        </p:nvSpPr>
        <p:spPr>
          <a:xfrm>
            <a:off x="6276084" y="3925089"/>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1066" name="Google Shape;1066;p63"/>
          <p:cNvSpPr txBox="1"/>
          <p:nvPr/>
        </p:nvSpPr>
        <p:spPr>
          <a:xfrm>
            <a:off x="6279734" y="452231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1067" name="Google Shape;1067;p63"/>
          <p:cNvSpPr txBox="1"/>
          <p:nvPr/>
        </p:nvSpPr>
        <p:spPr>
          <a:xfrm>
            <a:off x="6929517" y="3269375"/>
            <a:ext cx="8970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3,376 ca</a:t>
            </a:r>
            <a:endParaRPr sz="1150">
              <a:solidFill>
                <a:srgbClr val="1255CC"/>
              </a:solidFill>
              <a:latin typeface="Nunito ExtraBold"/>
              <a:ea typeface="Nunito ExtraBold"/>
              <a:cs typeface="Nunito ExtraBold"/>
              <a:sym typeface="Nunito ExtraBold"/>
            </a:endParaRPr>
          </a:p>
        </p:txBody>
      </p:sp>
      <p:sp>
        <p:nvSpPr>
          <p:cNvPr id="1068" name="Google Shape;1068;p63"/>
          <p:cNvSpPr txBox="1"/>
          <p:nvPr/>
        </p:nvSpPr>
        <p:spPr>
          <a:xfrm>
            <a:off x="6925866" y="3868402"/>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86.30%</a:t>
            </a:r>
            <a:endParaRPr sz="1250">
              <a:solidFill>
                <a:srgbClr val="1255CC"/>
              </a:solidFill>
              <a:latin typeface="Nunito ExtraBold"/>
              <a:ea typeface="Nunito ExtraBold"/>
              <a:cs typeface="Nunito ExtraBold"/>
              <a:sym typeface="Nunito ExtraBold"/>
            </a:endParaRPr>
          </a:p>
        </p:txBody>
      </p:sp>
      <p:sp>
        <p:nvSpPr>
          <p:cNvPr id="1069" name="Google Shape;1069;p63"/>
          <p:cNvSpPr txBox="1"/>
          <p:nvPr/>
        </p:nvSpPr>
        <p:spPr>
          <a:xfrm>
            <a:off x="6929516" y="4466477"/>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88.73%</a:t>
            </a:r>
            <a:endParaRPr sz="1250">
              <a:solidFill>
                <a:srgbClr val="1255CC"/>
              </a:solidFill>
              <a:latin typeface="Nunito ExtraBold"/>
              <a:ea typeface="Nunito ExtraBold"/>
              <a:cs typeface="Nunito ExtraBold"/>
              <a:sym typeface="Nunito ExtraBold"/>
            </a:endParaRPr>
          </a:p>
        </p:txBody>
      </p:sp>
      <p:sp>
        <p:nvSpPr>
          <p:cNvPr id="1070" name="Google Shape;1070;p63"/>
          <p:cNvSpPr txBox="1"/>
          <p:nvPr/>
        </p:nvSpPr>
        <p:spPr>
          <a:xfrm>
            <a:off x="7717492" y="330735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+ 3.91%</a:t>
            </a:r>
            <a:endParaRPr/>
          </a:p>
        </p:txBody>
      </p:sp>
      <p:sp>
        <p:nvSpPr>
          <p:cNvPr id="1071" name="Google Shape;1071;p63"/>
          <p:cNvSpPr txBox="1"/>
          <p:nvPr/>
        </p:nvSpPr>
        <p:spPr>
          <a:xfrm>
            <a:off x="7717492" y="39059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+ 1.16%</a:t>
            </a:r>
            <a:endParaRPr/>
          </a:p>
        </p:txBody>
      </p:sp>
      <p:sp>
        <p:nvSpPr>
          <p:cNvPr id="1072" name="Google Shape;1072;p63"/>
          <p:cNvSpPr txBox="1"/>
          <p:nvPr/>
        </p:nvSpPr>
        <p:spPr>
          <a:xfrm>
            <a:off x="7717492" y="450431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+ 3.55%</a:t>
            </a:r>
            <a:endParaRPr/>
          </a:p>
        </p:txBody>
      </p:sp>
      <p:cxnSp>
        <p:nvCxnSpPr>
          <p:cNvPr id="1073" name="Google Shape;1073;p63"/>
          <p:cNvCxnSpPr/>
          <p:nvPr/>
        </p:nvCxnSpPr>
        <p:spPr>
          <a:xfrm rot="10800000" flipH="1">
            <a:off x="380992" y="3037500"/>
            <a:ext cx="8307900" cy="10500"/>
          </a:xfrm>
          <a:prstGeom prst="straightConnector1">
            <a:avLst/>
          </a:prstGeom>
          <a:noFill/>
          <a:ln w="9525" cap="flat" cmpd="sng">
            <a:solidFill>
              <a:srgbClr val="0E4174"/>
            </a:solidFill>
            <a:prstDash val="dash"/>
            <a:round/>
            <a:headEnd type="none" w="med" len="med"/>
            <a:tailEnd type="none" w="med" len="med"/>
          </a:ln>
        </p:spPr>
      </p:cxnSp>
      <p:sp>
        <p:nvSpPr>
          <p:cNvPr id="1074" name="Google Shape;1074;p63"/>
          <p:cNvSpPr/>
          <p:nvPr/>
        </p:nvSpPr>
        <p:spPr>
          <a:xfrm>
            <a:off x="365583" y="9842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1075" name="Google Shape;1075;p63"/>
          <p:cNvSpPr/>
          <p:nvPr/>
        </p:nvSpPr>
        <p:spPr>
          <a:xfrm>
            <a:off x="369508" y="30912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80"/>
        <p:cNvGrpSpPr/>
        <p:nvPr/>
      </p:nvGrpSpPr>
      <p:grpSpPr>
        <a:xfrm>
          <a:off x="0" y="0"/>
          <a:ext cx="0" cy="0"/>
          <a:chOff x="0" y="0"/>
          <a:chExt cx="0" cy="0"/>
        </a:xfrm>
      </p:grpSpPr>
      <p:sp>
        <p:nvSpPr>
          <p:cNvPr id="1081" name="Google Shape;1081;p64"/>
          <p:cNvSpPr/>
          <p:nvPr/>
        </p:nvSpPr>
        <p:spPr>
          <a:xfrm>
            <a:off x="957775" y="3091225"/>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4"/>
          <p:cNvSpPr/>
          <p:nvPr/>
        </p:nvSpPr>
        <p:spPr>
          <a:xfrm>
            <a:off x="957775" y="984250"/>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84" name="Google Shape;1084;p6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85" name="Google Shape;1085;p6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086" name="Google Shape;1086;p64"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1087" name="Google Shape;1087;p64"/>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COVERAGE</a:t>
            </a:r>
            <a:endParaRPr sz="2200" b="1" i="0" u="none" strike="noStrike" cap="none">
              <a:solidFill>
                <a:srgbClr val="F56C1F"/>
              </a:solidFill>
              <a:latin typeface="Lexend"/>
              <a:ea typeface="Lexend"/>
              <a:cs typeface="Lexend"/>
              <a:sym typeface="Lexend"/>
            </a:endParaRPr>
          </a:p>
        </p:txBody>
      </p:sp>
      <p:sp>
        <p:nvSpPr>
          <p:cNvPr id="1088" name="Google Shape;1088;p64"/>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1089" name="Google Shape;1089;p64"/>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pic>
        <p:nvPicPr>
          <p:cNvPr id="1090" name="Google Shape;1090;p64" title="Chart"/>
          <p:cNvPicPr preferRelativeResize="0"/>
          <p:nvPr/>
        </p:nvPicPr>
        <p:blipFill>
          <a:blip r:embed="rId4">
            <a:alphaModFix/>
          </a:blip>
          <a:stretch>
            <a:fillRect/>
          </a:stretch>
        </p:blipFill>
        <p:spPr>
          <a:xfrm>
            <a:off x="1010700" y="1087533"/>
            <a:ext cx="7371300" cy="1607350"/>
          </a:xfrm>
          <a:prstGeom prst="rect">
            <a:avLst/>
          </a:prstGeom>
          <a:noFill/>
          <a:ln>
            <a:noFill/>
          </a:ln>
        </p:spPr>
      </p:pic>
      <p:pic>
        <p:nvPicPr>
          <p:cNvPr id="1091" name="Google Shape;1091;p64" title="Chart"/>
          <p:cNvPicPr preferRelativeResize="0"/>
          <p:nvPr/>
        </p:nvPicPr>
        <p:blipFill>
          <a:blip r:embed="rId5">
            <a:alphaModFix/>
          </a:blip>
          <a:stretch>
            <a:fillRect/>
          </a:stretch>
        </p:blipFill>
        <p:spPr>
          <a:xfrm>
            <a:off x="989525" y="3279250"/>
            <a:ext cx="7392476" cy="1607350"/>
          </a:xfrm>
          <a:prstGeom prst="rect">
            <a:avLst/>
          </a:prstGeom>
          <a:noFill/>
          <a:ln>
            <a:noFill/>
          </a:ln>
        </p:spPr>
      </p:pic>
      <p:graphicFrame>
        <p:nvGraphicFramePr>
          <p:cNvPr id="1092" name="Google Shape;1092;p64"/>
          <p:cNvGraphicFramePr/>
          <p:nvPr/>
        </p:nvGraphicFramePr>
        <p:xfrm>
          <a:off x="8332780" y="1116386"/>
          <a:ext cx="3000000" cy="3000000"/>
        </p:xfrm>
        <a:graphic>
          <a:graphicData uri="http://schemas.openxmlformats.org/drawingml/2006/table">
            <a:tbl>
              <a:tblPr>
                <a:noFill/>
                <a:tableStyleId>{1B6E03F7-A7B3-402D-A52F-665CEB5CA1F2}</a:tableStyleId>
              </a:tblPr>
              <a:tblGrid>
                <a:gridCol w="445575">
                  <a:extLst>
                    <a:ext uri="{9D8B030D-6E8A-4147-A177-3AD203B41FA5}">
                      <a16:colId xmlns:a16="http://schemas.microsoft.com/office/drawing/2014/main" val="20000"/>
                    </a:ext>
                  </a:extLst>
                </a:gridCol>
              </a:tblGrid>
              <a:tr h="155000">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MoM</a:t>
                      </a:r>
                      <a:endParaRPr sz="7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3.78%</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6.32%</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122675">
                <a:tc>
                  <a:txBody>
                    <a:bodyPr/>
                    <a:lstStyle/>
                    <a:p>
                      <a:pPr marL="0" lvl="0" indent="0" algn="ctr" rtl="0">
                        <a:lnSpc>
                          <a:spcPct val="115000"/>
                        </a:lnSpc>
                        <a:spcBef>
                          <a:spcPts val="0"/>
                        </a:spcBef>
                        <a:spcAft>
                          <a:spcPts val="0"/>
                        </a:spcAft>
                        <a:buNone/>
                      </a:pPr>
                      <a:r>
                        <a:rPr lang="en" sz="500">
                          <a:solidFill>
                            <a:srgbClr val="EA4335"/>
                          </a:solidFill>
                          <a:latin typeface="Lexend"/>
                          <a:ea typeface="Lexend"/>
                          <a:cs typeface="Lexend"/>
                          <a:sym typeface="Lexend"/>
                        </a:rPr>
                        <a:t>-12.89%</a:t>
                      </a:r>
                      <a:endParaRPr sz="500">
                        <a:solidFill>
                          <a:srgbClr val="EA4335"/>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2.67%</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1.91%</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1.48%</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1.92%</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1.78%</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3.12%</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9"/>
                  </a:ext>
                </a:extLst>
              </a:tr>
              <a:tr h="122675">
                <a:tc>
                  <a:txBody>
                    <a:bodyPr/>
                    <a:lstStyle/>
                    <a:p>
                      <a:pPr marL="0" lvl="0" indent="0" algn="ctr" rtl="0">
                        <a:lnSpc>
                          <a:spcPct val="115000"/>
                        </a:lnSpc>
                        <a:spcBef>
                          <a:spcPts val="0"/>
                        </a:spcBef>
                        <a:spcAft>
                          <a:spcPts val="0"/>
                        </a:spcAft>
                        <a:buNone/>
                      </a:pPr>
                      <a:r>
                        <a:rPr lang="en" sz="500">
                          <a:solidFill>
                            <a:srgbClr val="34A853"/>
                          </a:solidFill>
                          <a:latin typeface="Lexend"/>
                          <a:ea typeface="Lexend"/>
                          <a:cs typeface="Lexend"/>
                          <a:sym typeface="Lexend"/>
                        </a:rPr>
                        <a:t>-</a:t>
                      </a:r>
                      <a:endParaRPr sz="5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graphicFrame>
        <p:nvGraphicFramePr>
          <p:cNvPr id="1093" name="Google Shape;1093;p64"/>
          <p:cNvGraphicFramePr/>
          <p:nvPr/>
        </p:nvGraphicFramePr>
        <p:xfrm>
          <a:off x="8332775" y="3279250"/>
          <a:ext cx="3000000" cy="3000000"/>
        </p:xfrm>
        <a:graphic>
          <a:graphicData uri="http://schemas.openxmlformats.org/drawingml/2006/table">
            <a:tbl>
              <a:tblPr>
                <a:noFill/>
                <a:tableStyleId>{1B6E03F7-A7B3-402D-A52F-665CEB5CA1F2}</a:tableStyleId>
              </a:tblPr>
              <a:tblGrid>
                <a:gridCol w="445575">
                  <a:extLst>
                    <a:ext uri="{9D8B030D-6E8A-4147-A177-3AD203B41FA5}">
                      <a16:colId xmlns:a16="http://schemas.microsoft.com/office/drawing/2014/main" val="20000"/>
                    </a:ext>
                  </a:extLst>
                </a:gridCol>
              </a:tblGrid>
              <a:tr h="183250">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MoM</a:t>
                      </a:r>
                      <a:endParaRPr sz="700" b="1">
                        <a:solidFill>
                          <a:srgbClr val="FFFFFF"/>
                        </a:solidFill>
                        <a:latin typeface="Lexend"/>
                        <a:ea typeface="Lexend"/>
                        <a:cs typeface="Lexend"/>
                        <a:sym typeface="Lexend"/>
                      </a:endParaRPr>
                    </a:p>
                  </a:txBody>
                  <a:tcPr marL="28575" marR="28575" marT="19050" marB="19050"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2825">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4.58%</a:t>
                      </a:r>
                      <a:endParaRPr sz="7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202825">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-1.21%</a:t>
                      </a:r>
                      <a:endParaRPr sz="700">
                        <a:solidFill>
                          <a:srgbClr val="EA4335"/>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202825">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-1.55%</a:t>
                      </a:r>
                      <a:endParaRPr sz="700">
                        <a:solidFill>
                          <a:srgbClr val="EA4335"/>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202825">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14.03%</a:t>
                      </a:r>
                      <a:endParaRPr sz="7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202825">
                <a:tc>
                  <a:txBody>
                    <a:bodyPr/>
                    <a:lstStyle/>
                    <a:p>
                      <a:pPr marL="0" lvl="0" indent="0" algn="ctr" rtl="0">
                        <a:lnSpc>
                          <a:spcPct val="115000"/>
                        </a:lnSpc>
                        <a:spcBef>
                          <a:spcPts val="0"/>
                        </a:spcBef>
                        <a:spcAft>
                          <a:spcPts val="0"/>
                        </a:spcAft>
                        <a:buNone/>
                      </a:pPr>
                      <a:r>
                        <a:rPr lang="en" sz="700">
                          <a:solidFill>
                            <a:srgbClr val="EA4335"/>
                          </a:solidFill>
                          <a:latin typeface="Lexend"/>
                          <a:ea typeface="Lexend"/>
                          <a:cs typeface="Lexend"/>
                          <a:sym typeface="Lexend"/>
                        </a:rPr>
                        <a:t>-6.97%</a:t>
                      </a:r>
                      <a:endParaRPr sz="700">
                        <a:solidFill>
                          <a:srgbClr val="EA4335"/>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202825">
                <a:tc>
                  <a:txBody>
                    <a:bodyPr/>
                    <a:lstStyle/>
                    <a:p>
                      <a:pPr marL="0" lvl="0" indent="0" algn="ctr" rtl="0">
                        <a:lnSpc>
                          <a:spcPct val="115000"/>
                        </a:lnSpc>
                        <a:spcBef>
                          <a:spcPts val="0"/>
                        </a:spcBef>
                        <a:spcAft>
                          <a:spcPts val="0"/>
                        </a:spcAft>
                        <a:buNone/>
                      </a:pPr>
                      <a:r>
                        <a:rPr lang="en" sz="700">
                          <a:solidFill>
                            <a:srgbClr val="34A853"/>
                          </a:solidFill>
                          <a:latin typeface="Lexend"/>
                          <a:ea typeface="Lexend"/>
                          <a:cs typeface="Lexend"/>
                          <a:sym typeface="Lexend"/>
                        </a:rPr>
                        <a:t>-</a:t>
                      </a:r>
                      <a:endParaRPr sz="700">
                        <a:solidFill>
                          <a:srgbClr val="34A853"/>
                        </a:solidFill>
                        <a:latin typeface="Lexend"/>
                        <a:ea typeface="Lexend"/>
                        <a:cs typeface="Lexend"/>
                        <a:sym typeface="Lexend"/>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cxnSp>
        <p:nvCxnSpPr>
          <p:cNvPr id="1094" name="Google Shape;1094;p64"/>
          <p:cNvCxnSpPr/>
          <p:nvPr/>
        </p:nvCxnSpPr>
        <p:spPr>
          <a:xfrm rot="10800000" flipH="1">
            <a:off x="381000" y="3032025"/>
            <a:ext cx="8466600" cy="5400"/>
          </a:xfrm>
          <a:prstGeom prst="straightConnector1">
            <a:avLst/>
          </a:prstGeom>
          <a:noFill/>
          <a:ln w="9525" cap="flat" cmpd="sng">
            <a:solidFill>
              <a:srgbClr val="0E4174"/>
            </a:solidFill>
            <a:prstDash val="dash"/>
            <a:round/>
            <a:headEnd type="none" w="med" len="med"/>
            <a:tailEnd type="non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99"/>
        <p:cNvGrpSpPr/>
        <p:nvPr/>
      </p:nvGrpSpPr>
      <p:grpSpPr>
        <a:xfrm>
          <a:off x="0" y="0"/>
          <a:ext cx="0" cy="0"/>
          <a:chOff x="0" y="0"/>
          <a:chExt cx="0" cy="0"/>
        </a:xfrm>
      </p:grpSpPr>
      <p:sp>
        <p:nvSpPr>
          <p:cNvPr id="1100" name="Google Shape;1100;p65"/>
          <p:cNvSpPr/>
          <p:nvPr/>
        </p:nvSpPr>
        <p:spPr>
          <a:xfrm>
            <a:off x="957775" y="3091225"/>
            <a:ext cx="3936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65"/>
          <p:cNvSpPr/>
          <p:nvPr/>
        </p:nvSpPr>
        <p:spPr>
          <a:xfrm>
            <a:off x="957775" y="984250"/>
            <a:ext cx="3936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6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03" name="Google Shape;1103;p6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04" name="Google Shape;1104;p6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105" name="Google Shape;1105;p65"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1106" name="Google Shape;1106;p65"/>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DRIVER FUNNEL</a:t>
            </a:r>
            <a:endParaRPr sz="2200" b="1" i="0" u="none" strike="noStrike" cap="none">
              <a:solidFill>
                <a:srgbClr val="F56C1F"/>
              </a:solidFill>
              <a:latin typeface="Lexend"/>
              <a:ea typeface="Lexend"/>
              <a:cs typeface="Lexend"/>
              <a:sym typeface="Lexend"/>
            </a:endParaRPr>
          </a:p>
        </p:txBody>
      </p:sp>
      <p:sp>
        <p:nvSpPr>
          <p:cNvPr id="1107" name="Google Shape;1107;p65"/>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1108" name="Google Shape;1108;p65"/>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1109" name="Google Shape;1109;p65"/>
          <p:cNvCxnSpPr/>
          <p:nvPr/>
        </p:nvCxnSpPr>
        <p:spPr>
          <a:xfrm rot="10800000" flipH="1">
            <a:off x="381000" y="3032025"/>
            <a:ext cx="4513800" cy="5400"/>
          </a:xfrm>
          <a:prstGeom prst="straightConnector1">
            <a:avLst/>
          </a:prstGeom>
          <a:noFill/>
          <a:ln w="9525" cap="flat" cmpd="sng">
            <a:solidFill>
              <a:srgbClr val="0E4174"/>
            </a:solidFill>
            <a:prstDash val="dash"/>
            <a:round/>
            <a:headEnd type="none" w="med" len="med"/>
            <a:tailEnd type="none" w="med" len="med"/>
          </a:ln>
        </p:spPr>
      </p:cxnSp>
      <p:pic>
        <p:nvPicPr>
          <p:cNvPr id="1110" name="Google Shape;1110;p65" title="Chart"/>
          <p:cNvPicPr preferRelativeResize="0"/>
          <p:nvPr/>
        </p:nvPicPr>
        <p:blipFill>
          <a:blip r:embed="rId4">
            <a:alphaModFix/>
          </a:blip>
          <a:stretch>
            <a:fillRect/>
          </a:stretch>
        </p:blipFill>
        <p:spPr>
          <a:xfrm>
            <a:off x="927504" y="945331"/>
            <a:ext cx="3944527" cy="2010030"/>
          </a:xfrm>
          <a:prstGeom prst="rect">
            <a:avLst/>
          </a:prstGeom>
          <a:noFill/>
          <a:ln>
            <a:noFill/>
          </a:ln>
        </p:spPr>
      </p:pic>
      <p:pic>
        <p:nvPicPr>
          <p:cNvPr id="1111" name="Google Shape;1111;p65" title="Chart"/>
          <p:cNvPicPr preferRelativeResize="0"/>
          <p:nvPr/>
        </p:nvPicPr>
        <p:blipFill>
          <a:blip r:embed="rId5">
            <a:alphaModFix/>
          </a:blip>
          <a:stretch>
            <a:fillRect/>
          </a:stretch>
        </p:blipFill>
        <p:spPr>
          <a:xfrm>
            <a:off x="953950" y="3093793"/>
            <a:ext cx="3944527" cy="2010030"/>
          </a:xfrm>
          <a:prstGeom prst="rect">
            <a:avLst/>
          </a:prstGeom>
          <a:noFill/>
          <a:ln>
            <a:noFill/>
          </a:ln>
        </p:spPr>
      </p:pic>
      <p:sp>
        <p:nvSpPr>
          <p:cNvPr id="1112" name="Google Shape;1112;p65"/>
          <p:cNvSpPr/>
          <p:nvPr/>
        </p:nvSpPr>
        <p:spPr>
          <a:xfrm>
            <a:off x="5198122" y="1010700"/>
            <a:ext cx="35925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HAN: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Tỷ lệ Active/Registered đạt 84.06%, cho thấy vẫn còn khả năng cải thiện chuyển đổi từ tài xế đăng ký sang active</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Zone 136 (94.34%), HK (84.62%), CG (87.50%) và BD (100%) duy trì tỷ lệ chuyển đổi tốt, trong đó 136 có quy mô lớn và hiệu quả nổi bật</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BIGZONE (87.50%) và Z24 (73.81%) là các khu vực cần ưu tiên theo dõi, đặc biệt Z24 có tỷ lệ chuyển đổi thấp nhất, ảnh hưởng đến hiệu quả chung của HAN</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SGN: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Tỷ lệ Active/Registered đạt 93.44%, chất lượng đăng ký ca và khả năng active của tài xế khá tốt</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5/6 Zone đạt tỷ lệ chuyển đổi trên 90%, nổi bật là Zone 2 (97.06%), Zone 5 (96.47%), Zone 1 (95.00%), Zone 6 (93.33%) và Zone 3 (91.67%)</a:t>
            </a:r>
            <a:endParaRPr sz="800">
              <a:latin typeface="Lexend"/>
              <a:ea typeface="Lexend"/>
              <a:cs typeface="Lexend"/>
              <a:sym typeface="Lexend"/>
            </a:endParaRPr>
          </a:p>
          <a:p>
            <a:pPr marL="457200" lvl="0" indent="-279400" algn="l" rtl="0">
              <a:lnSpc>
                <a:spcPct val="115000"/>
              </a:lnSpc>
              <a:spcBef>
                <a:spcPts val="0"/>
              </a:spcBef>
              <a:spcAft>
                <a:spcPts val="0"/>
              </a:spcAft>
              <a:buClr>
                <a:srgbClr val="000000"/>
              </a:buClr>
              <a:buSzPts val="800"/>
              <a:buFont typeface="Lexend"/>
              <a:buChar char="-"/>
            </a:pPr>
            <a:r>
              <a:rPr lang="en" sz="800">
                <a:latin typeface="Lexend"/>
                <a:ea typeface="Lexend"/>
                <a:cs typeface="Lexend"/>
                <a:sym typeface="Lexend"/>
              </a:rPr>
              <a:t>Zone 4 (82.69%) là khu vực có tỷ lệ chuyển đổi thấp nhất, cần theo dõi và cải thiện để đồng đều hiệu quả giữa các Zone</a:t>
            </a:r>
            <a:endParaRPr sz="800">
              <a:latin typeface="Lexend"/>
              <a:ea typeface="Lexend"/>
              <a:cs typeface="Lexend"/>
              <a:sym typeface="Lexend"/>
            </a:endParaRPr>
          </a:p>
        </p:txBody>
      </p:sp>
      <p:sp>
        <p:nvSpPr>
          <p:cNvPr id="1113" name="Google Shape;1113;p65"/>
          <p:cNvSpPr/>
          <p:nvPr/>
        </p:nvSpPr>
        <p:spPr>
          <a:xfrm>
            <a:off x="5132925" y="1010700"/>
            <a:ext cx="651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1114" name="Google Shape;1114;p65"/>
          <p:cNvSpPr txBox="1"/>
          <p:nvPr/>
        </p:nvSpPr>
        <p:spPr>
          <a:xfrm>
            <a:off x="1164175" y="233355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1115" name="Google Shape;1115;p65"/>
          <p:cNvSpPr txBox="1"/>
          <p:nvPr/>
        </p:nvSpPr>
        <p:spPr>
          <a:xfrm>
            <a:off x="1501775" y="235990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84.62%</a:t>
            </a:r>
            <a:endParaRPr sz="500">
              <a:latin typeface="Lexend"/>
              <a:ea typeface="Lexend"/>
              <a:cs typeface="Lexend"/>
              <a:sym typeface="Lexend"/>
            </a:endParaRPr>
          </a:p>
        </p:txBody>
      </p:sp>
      <p:sp>
        <p:nvSpPr>
          <p:cNvPr id="1116" name="Google Shape;1116;p65"/>
          <p:cNvSpPr txBox="1"/>
          <p:nvPr/>
        </p:nvSpPr>
        <p:spPr>
          <a:xfrm>
            <a:off x="1873800" y="2389124"/>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1117" name="Google Shape;1117;p65"/>
          <p:cNvSpPr txBox="1"/>
          <p:nvPr/>
        </p:nvSpPr>
        <p:spPr>
          <a:xfrm>
            <a:off x="2214050" y="219552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87.50%</a:t>
            </a:r>
            <a:endParaRPr sz="500">
              <a:latin typeface="Lexend"/>
              <a:ea typeface="Lexend"/>
              <a:cs typeface="Lexend"/>
              <a:sym typeface="Lexend"/>
            </a:endParaRPr>
          </a:p>
        </p:txBody>
      </p:sp>
      <p:sp>
        <p:nvSpPr>
          <p:cNvPr id="1118" name="Google Shape;1118;p65"/>
          <p:cNvSpPr txBox="1"/>
          <p:nvPr/>
        </p:nvSpPr>
        <p:spPr>
          <a:xfrm>
            <a:off x="2583425" y="238912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1119" name="Google Shape;1119;p65"/>
          <p:cNvSpPr txBox="1"/>
          <p:nvPr/>
        </p:nvSpPr>
        <p:spPr>
          <a:xfrm>
            <a:off x="2909625" y="225400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85.00%</a:t>
            </a:r>
            <a:endParaRPr sz="500">
              <a:latin typeface="Lexend"/>
              <a:ea typeface="Lexend"/>
              <a:cs typeface="Lexend"/>
              <a:sym typeface="Lexend"/>
            </a:endParaRPr>
          </a:p>
        </p:txBody>
      </p:sp>
      <p:sp>
        <p:nvSpPr>
          <p:cNvPr id="1120" name="Google Shape;1120;p65"/>
          <p:cNvSpPr txBox="1"/>
          <p:nvPr/>
        </p:nvSpPr>
        <p:spPr>
          <a:xfrm>
            <a:off x="3263933" y="176057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94.34%</a:t>
            </a:r>
            <a:endParaRPr sz="500">
              <a:latin typeface="Lexend"/>
              <a:ea typeface="Lexend"/>
              <a:cs typeface="Lexend"/>
              <a:sym typeface="Lexend"/>
            </a:endParaRPr>
          </a:p>
        </p:txBody>
      </p:sp>
      <p:sp>
        <p:nvSpPr>
          <p:cNvPr id="1121" name="Google Shape;1121;p65"/>
          <p:cNvSpPr txBox="1"/>
          <p:nvPr/>
        </p:nvSpPr>
        <p:spPr>
          <a:xfrm>
            <a:off x="3631633" y="126167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87.50%</a:t>
            </a:r>
            <a:endParaRPr sz="500">
              <a:latin typeface="Lexend"/>
              <a:ea typeface="Lexend"/>
              <a:cs typeface="Lexend"/>
              <a:sym typeface="Lexend"/>
            </a:endParaRPr>
          </a:p>
        </p:txBody>
      </p:sp>
      <p:sp>
        <p:nvSpPr>
          <p:cNvPr id="1122" name="Google Shape;1122;p65"/>
          <p:cNvSpPr txBox="1"/>
          <p:nvPr/>
        </p:nvSpPr>
        <p:spPr>
          <a:xfrm>
            <a:off x="3971983" y="1928288"/>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73.81%</a:t>
            </a:r>
            <a:endParaRPr sz="500">
              <a:latin typeface="Lexend"/>
              <a:ea typeface="Lexend"/>
              <a:cs typeface="Lexend"/>
              <a:sym typeface="Lexend"/>
            </a:endParaRPr>
          </a:p>
        </p:txBody>
      </p:sp>
      <p:sp>
        <p:nvSpPr>
          <p:cNvPr id="1123" name="Google Shape;1123;p65"/>
          <p:cNvSpPr txBox="1"/>
          <p:nvPr/>
        </p:nvSpPr>
        <p:spPr>
          <a:xfrm>
            <a:off x="4317467" y="230142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82.35%</a:t>
            </a:r>
            <a:endParaRPr sz="500">
              <a:latin typeface="Lexend"/>
              <a:ea typeface="Lexend"/>
              <a:cs typeface="Lexend"/>
              <a:sym typeface="Lexend"/>
            </a:endParaRPr>
          </a:p>
        </p:txBody>
      </p:sp>
      <p:sp>
        <p:nvSpPr>
          <p:cNvPr id="1124" name="Google Shape;1124;p65"/>
          <p:cNvSpPr txBox="1"/>
          <p:nvPr/>
        </p:nvSpPr>
        <p:spPr>
          <a:xfrm>
            <a:off x="1343025" y="3565774"/>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98.68%</a:t>
            </a:r>
            <a:endParaRPr sz="500">
              <a:latin typeface="Lexend"/>
              <a:ea typeface="Lexend"/>
              <a:cs typeface="Lexend"/>
              <a:sym typeface="Lexend"/>
            </a:endParaRPr>
          </a:p>
        </p:txBody>
      </p:sp>
      <p:sp>
        <p:nvSpPr>
          <p:cNvPr id="1125" name="Google Shape;1125;p65"/>
          <p:cNvSpPr txBox="1"/>
          <p:nvPr/>
        </p:nvSpPr>
        <p:spPr>
          <a:xfrm>
            <a:off x="1919675" y="3707142"/>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92.54%</a:t>
            </a:r>
            <a:endParaRPr sz="500">
              <a:latin typeface="Lexend"/>
              <a:ea typeface="Lexend"/>
              <a:cs typeface="Lexend"/>
              <a:sym typeface="Lexend"/>
            </a:endParaRPr>
          </a:p>
        </p:txBody>
      </p:sp>
      <p:sp>
        <p:nvSpPr>
          <p:cNvPr id="1126" name="Google Shape;1126;p65"/>
          <p:cNvSpPr txBox="1"/>
          <p:nvPr/>
        </p:nvSpPr>
        <p:spPr>
          <a:xfrm>
            <a:off x="2491725" y="3448177"/>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92.54%</a:t>
            </a:r>
            <a:endParaRPr sz="500">
              <a:latin typeface="Lexend"/>
              <a:ea typeface="Lexend"/>
              <a:cs typeface="Lexend"/>
              <a:sym typeface="Lexend"/>
            </a:endParaRPr>
          </a:p>
        </p:txBody>
      </p:sp>
      <p:sp>
        <p:nvSpPr>
          <p:cNvPr id="1127" name="Google Shape;1127;p65"/>
          <p:cNvSpPr txBox="1"/>
          <p:nvPr/>
        </p:nvSpPr>
        <p:spPr>
          <a:xfrm>
            <a:off x="3063000" y="4289121"/>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96.15%</a:t>
            </a:r>
            <a:endParaRPr sz="500">
              <a:latin typeface="Lexend"/>
              <a:ea typeface="Lexend"/>
              <a:cs typeface="Lexend"/>
              <a:sym typeface="Lexend"/>
            </a:endParaRPr>
          </a:p>
        </p:txBody>
      </p:sp>
      <p:sp>
        <p:nvSpPr>
          <p:cNvPr id="1128" name="Google Shape;1128;p65"/>
          <p:cNvSpPr txBox="1"/>
          <p:nvPr/>
        </p:nvSpPr>
        <p:spPr>
          <a:xfrm>
            <a:off x="3631613" y="372700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1129" name="Google Shape;1129;p65"/>
          <p:cNvSpPr txBox="1"/>
          <p:nvPr/>
        </p:nvSpPr>
        <p:spPr>
          <a:xfrm>
            <a:off x="4224313" y="3840071"/>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96.43%</a:t>
            </a:r>
            <a:endParaRPr sz="500">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34"/>
        <p:cNvGrpSpPr/>
        <p:nvPr/>
      </p:nvGrpSpPr>
      <p:grpSpPr>
        <a:xfrm>
          <a:off x="0" y="0"/>
          <a:ext cx="0" cy="0"/>
          <a:chOff x="0" y="0"/>
          <a:chExt cx="0" cy="0"/>
        </a:xfrm>
      </p:grpSpPr>
      <p:sp>
        <p:nvSpPr>
          <p:cNvPr id="1135" name="Google Shape;1135;p66"/>
          <p:cNvSpPr/>
          <p:nvPr/>
        </p:nvSpPr>
        <p:spPr>
          <a:xfrm>
            <a:off x="386575" y="903099"/>
            <a:ext cx="3884700" cy="3149100"/>
          </a:xfrm>
          <a:prstGeom prst="rect">
            <a:avLst/>
          </a:prstGeom>
          <a:solidFill>
            <a:srgbClr val="FFFFFF"/>
          </a:solidFill>
          <a:ln w="8525" cap="flat" cmpd="sng">
            <a:solidFill>
              <a:srgbClr val="E2E8F0"/>
            </a:solidFill>
            <a:prstDash val="solid"/>
            <a:round/>
            <a:headEnd type="none" w="sm" len="sm"/>
            <a:tailEnd type="none" w="sm" len="sm"/>
          </a:ln>
          <a:effectLst>
            <a:outerShdw blurRad="68196" dist="22732" dir="8100000" algn="bl" rotWithShape="0">
              <a:srgbClr val="000000">
                <a:alpha val="10200"/>
              </a:srgbClr>
            </a:outerShdw>
          </a:effectLst>
        </p:spPr>
        <p:txBody>
          <a:bodyPr spcFirstLastPara="1" wrap="square" lIns="81825" tIns="81825" rIns="81825" bIns="81825" anchor="ctr" anchorCtr="0">
            <a:noAutofit/>
          </a:bodyPr>
          <a:lstStyle/>
          <a:p>
            <a:pPr marL="0" lvl="0" indent="0" algn="l" rtl="0">
              <a:spcBef>
                <a:spcPts val="0"/>
              </a:spcBef>
              <a:spcAft>
                <a:spcPts val="0"/>
              </a:spcAft>
              <a:buNone/>
            </a:pPr>
            <a:endParaRPr sz="1253"/>
          </a:p>
        </p:txBody>
      </p:sp>
      <p:sp>
        <p:nvSpPr>
          <p:cNvPr id="1136" name="Google Shape;1136;p6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37" name="Google Shape;1137;p6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38" name="Google Shape;1138;p6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139" name="Google Shape;1139;p66"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1140" name="Google Shape;1140;p66"/>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TOTAL EARNING</a:t>
            </a:r>
            <a:endParaRPr sz="2200" b="1" i="0" u="none" strike="noStrike" cap="none">
              <a:solidFill>
                <a:srgbClr val="F56C1F"/>
              </a:solidFill>
              <a:latin typeface="Lexend"/>
              <a:ea typeface="Lexend"/>
              <a:cs typeface="Lexend"/>
              <a:sym typeface="Lexend"/>
            </a:endParaRPr>
          </a:p>
        </p:txBody>
      </p:sp>
      <p:cxnSp>
        <p:nvCxnSpPr>
          <p:cNvPr id="1141" name="Google Shape;1141;p66"/>
          <p:cNvCxnSpPr/>
          <p:nvPr/>
        </p:nvCxnSpPr>
        <p:spPr>
          <a:xfrm flipH="1">
            <a:off x="4645375" y="906329"/>
            <a:ext cx="5700" cy="4128000"/>
          </a:xfrm>
          <a:prstGeom prst="straightConnector1">
            <a:avLst/>
          </a:prstGeom>
          <a:noFill/>
          <a:ln w="9525" cap="flat" cmpd="sng">
            <a:solidFill>
              <a:srgbClr val="0E4174"/>
            </a:solidFill>
            <a:prstDash val="dash"/>
            <a:round/>
            <a:headEnd type="none" w="med" len="med"/>
            <a:tailEnd type="none" w="med" len="med"/>
          </a:ln>
        </p:spPr>
      </p:cxnSp>
      <p:pic>
        <p:nvPicPr>
          <p:cNvPr id="1142" name="Google Shape;1142;p66" title="Chart"/>
          <p:cNvPicPr preferRelativeResize="0"/>
          <p:nvPr/>
        </p:nvPicPr>
        <p:blipFill>
          <a:blip r:embed="rId4">
            <a:alphaModFix/>
          </a:blip>
          <a:stretch>
            <a:fillRect/>
          </a:stretch>
        </p:blipFill>
        <p:spPr>
          <a:xfrm>
            <a:off x="686000" y="948600"/>
            <a:ext cx="3285849" cy="3149074"/>
          </a:xfrm>
          <a:prstGeom prst="rect">
            <a:avLst/>
          </a:prstGeom>
          <a:noFill/>
          <a:ln>
            <a:noFill/>
          </a:ln>
        </p:spPr>
      </p:pic>
      <p:sp>
        <p:nvSpPr>
          <p:cNvPr id="1143" name="Google Shape;1143;p66"/>
          <p:cNvSpPr/>
          <p:nvPr/>
        </p:nvSpPr>
        <p:spPr>
          <a:xfrm>
            <a:off x="5019300" y="903099"/>
            <a:ext cx="3884700" cy="3149100"/>
          </a:xfrm>
          <a:prstGeom prst="rect">
            <a:avLst/>
          </a:prstGeom>
          <a:solidFill>
            <a:srgbClr val="FFFFFF"/>
          </a:solidFill>
          <a:ln w="8525" cap="flat" cmpd="sng">
            <a:solidFill>
              <a:srgbClr val="E2E8F0"/>
            </a:solidFill>
            <a:prstDash val="solid"/>
            <a:round/>
            <a:headEnd type="none" w="sm" len="sm"/>
            <a:tailEnd type="none" w="sm" len="sm"/>
          </a:ln>
          <a:effectLst>
            <a:outerShdw blurRad="68196" dist="22732" dir="8100000" algn="bl" rotWithShape="0">
              <a:srgbClr val="000000">
                <a:alpha val="10200"/>
              </a:srgbClr>
            </a:outerShdw>
          </a:effectLst>
        </p:spPr>
        <p:txBody>
          <a:bodyPr spcFirstLastPara="1" wrap="square" lIns="81825" tIns="81825" rIns="81825" bIns="81825" anchor="ctr" anchorCtr="0">
            <a:noAutofit/>
          </a:bodyPr>
          <a:lstStyle/>
          <a:p>
            <a:pPr marL="0" lvl="0" indent="0" algn="l" rtl="0">
              <a:spcBef>
                <a:spcPts val="0"/>
              </a:spcBef>
              <a:spcAft>
                <a:spcPts val="0"/>
              </a:spcAft>
              <a:buNone/>
            </a:pPr>
            <a:endParaRPr sz="1253"/>
          </a:p>
        </p:txBody>
      </p:sp>
      <p:pic>
        <p:nvPicPr>
          <p:cNvPr id="1144" name="Google Shape;1144;p66" title="Chart"/>
          <p:cNvPicPr preferRelativeResize="0"/>
          <p:nvPr/>
        </p:nvPicPr>
        <p:blipFill>
          <a:blip r:embed="rId5">
            <a:alphaModFix/>
          </a:blip>
          <a:stretch>
            <a:fillRect/>
          </a:stretch>
        </p:blipFill>
        <p:spPr>
          <a:xfrm>
            <a:off x="5423925" y="903112"/>
            <a:ext cx="3285849" cy="3149074"/>
          </a:xfrm>
          <a:prstGeom prst="rect">
            <a:avLst/>
          </a:prstGeom>
          <a:noFill/>
          <a:ln>
            <a:noFill/>
          </a:ln>
        </p:spPr>
      </p:pic>
      <p:sp>
        <p:nvSpPr>
          <p:cNvPr id="1145" name="Google Shape;1145;p66"/>
          <p:cNvSpPr txBox="1"/>
          <p:nvPr/>
        </p:nvSpPr>
        <p:spPr>
          <a:xfrm>
            <a:off x="390140" y="912169"/>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1146" name="Google Shape;1146;p66"/>
          <p:cNvSpPr txBox="1"/>
          <p:nvPr/>
        </p:nvSpPr>
        <p:spPr>
          <a:xfrm>
            <a:off x="5024580" y="912169"/>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sp>
        <p:nvSpPr>
          <p:cNvPr id="1147" name="Google Shape;1147;p66"/>
          <p:cNvSpPr/>
          <p:nvPr/>
        </p:nvSpPr>
        <p:spPr>
          <a:xfrm>
            <a:off x="5093817" y="4150225"/>
            <a:ext cx="3815400" cy="8874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700">
                <a:solidFill>
                  <a:srgbClr val="F66600"/>
                </a:solidFill>
                <a:latin typeface="Lexend"/>
                <a:ea typeface="Lexend"/>
                <a:cs typeface="Lexend"/>
                <a:sym typeface="Lexend"/>
              </a:rPr>
              <a:t>HIGHLIGHT</a:t>
            </a:r>
            <a:endParaRPr sz="700">
              <a:solidFill>
                <a:srgbClr val="F66600"/>
              </a:solidFill>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Total earning đi ngang so với 2 tuần trước đó, dao động quanh mức 1tr4 - 1tr5</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So với trước khi redesign zone thì có sự cải thiện, tăng khoảng 200k / zone / tuần</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Tuần 03/8 cho thấy sự đồng đều trong total earning ở các zone HCM</a:t>
            </a:r>
            <a:endParaRPr sz="700">
              <a:latin typeface="Lexend"/>
              <a:ea typeface="Lexend"/>
              <a:cs typeface="Lexend"/>
              <a:sym typeface="Lexend"/>
            </a:endParaRPr>
          </a:p>
          <a:p>
            <a:pPr marL="0" lvl="0" indent="0" algn="l" rtl="0">
              <a:lnSpc>
                <a:spcPct val="115000"/>
              </a:lnSpc>
              <a:spcBef>
                <a:spcPts val="0"/>
              </a:spcBef>
              <a:spcAft>
                <a:spcPts val="0"/>
              </a:spcAft>
              <a:buNone/>
            </a:pPr>
            <a:endParaRPr sz="700">
              <a:latin typeface="Lexend"/>
              <a:ea typeface="Lexend"/>
              <a:cs typeface="Lexend"/>
              <a:sym typeface="Lexend"/>
            </a:endParaRPr>
          </a:p>
        </p:txBody>
      </p:sp>
      <p:sp>
        <p:nvSpPr>
          <p:cNvPr id="1148" name="Google Shape;1148;p66"/>
          <p:cNvSpPr/>
          <p:nvPr/>
        </p:nvSpPr>
        <p:spPr>
          <a:xfrm>
            <a:off x="5024575" y="4150225"/>
            <a:ext cx="69000" cy="8874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1149" name="Google Shape;1149;p66"/>
          <p:cNvSpPr/>
          <p:nvPr/>
        </p:nvSpPr>
        <p:spPr>
          <a:xfrm>
            <a:off x="456467" y="4177600"/>
            <a:ext cx="3815400" cy="8874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Total earning gần như đi ngang so với 2 tuần trước đó, dao động quanh mức 1tr7 - 2tr, so với SGN thì cao vượt bậc</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Z24 thấp nhất với ~575</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p:txBody>
      </p:sp>
      <p:sp>
        <p:nvSpPr>
          <p:cNvPr id="1150" name="Google Shape;1150;p66"/>
          <p:cNvSpPr/>
          <p:nvPr/>
        </p:nvSpPr>
        <p:spPr>
          <a:xfrm>
            <a:off x="387225" y="4177600"/>
            <a:ext cx="69000" cy="8874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55"/>
        <p:cNvGrpSpPr/>
        <p:nvPr/>
      </p:nvGrpSpPr>
      <p:grpSpPr>
        <a:xfrm>
          <a:off x="0" y="0"/>
          <a:ext cx="0" cy="0"/>
          <a:chOff x="0" y="0"/>
          <a:chExt cx="0" cy="0"/>
        </a:xfrm>
      </p:grpSpPr>
      <p:sp>
        <p:nvSpPr>
          <p:cNvPr id="1156" name="Google Shape;1156;p6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57" name="Google Shape;1157;p67"/>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58" name="Google Shape;1158;p6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159" name="Google Shape;1159;p67"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1160" name="Google Shape;1160;p67"/>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EARNING PER HOUR</a:t>
            </a:r>
            <a:endParaRPr sz="2200" b="1" i="0" u="none" strike="noStrike" cap="none">
              <a:solidFill>
                <a:srgbClr val="F56C1F"/>
              </a:solidFill>
              <a:latin typeface="Lexend"/>
              <a:ea typeface="Lexend"/>
              <a:cs typeface="Lexend"/>
              <a:sym typeface="Lexend"/>
            </a:endParaRPr>
          </a:p>
        </p:txBody>
      </p:sp>
      <p:sp>
        <p:nvSpPr>
          <p:cNvPr id="1161" name="Google Shape;1161;p67"/>
          <p:cNvSpPr/>
          <p:nvPr/>
        </p:nvSpPr>
        <p:spPr>
          <a:xfrm>
            <a:off x="957775" y="3091225"/>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67"/>
          <p:cNvSpPr/>
          <p:nvPr/>
        </p:nvSpPr>
        <p:spPr>
          <a:xfrm>
            <a:off x="957775" y="984250"/>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67"/>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1164" name="Google Shape;1164;p67"/>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1165" name="Google Shape;1165;p67"/>
          <p:cNvCxnSpPr/>
          <p:nvPr/>
        </p:nvCxnSpPr>
        <p:spPr>
          <a:xfrm rot="10800000" flipH="1">
            <a:off x="381000" y="3032025"/>
            <a:ext cx="4513800" cy="5400"/>
          </a:xfrm>
          <a:prstGeom prst="straightConnector1">
            <a:avLst/>
          </a:prstGeom>
          <a:noFill/>
          <a:ln w="9525" cap="flat" cmpd="sng">
            <a:solidFill>
              <a:srgbClr val="0E4174"/>
            </a:solidFill>
            <a:prstDash val="dash"/>
            <a:round/>
            <a:headEnd type="none" w="med" len="med"/>
            <a:tailEnd type="none" w="med" len="med"/>
          </a:ln>
        </p:spPr>
      </p:cxnSp>
      <p:sp>
        <p:nvSpPr>
          <p:cNvPr id="1166" name="Google Shape;1166;p67"/>
          <p:cNvSpPr/>
          <p:nvPr/>
        </p:nvSpPr>
        <p:spPr>
          <a:xfrm>
            <a:off x="5614664" y="1010700"/>
            <a:ext cx="31758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HAN: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SGN:</a:t>
            </a:r>
            <a:endParaRPr sz="800" b="1">
              <a:latin typeface="Lexend"/>
              <a:ea typeface="Lexend"/>
              <a:cs typeface="Lexend"/>
              <a:sym typeface="Lexend"/>
            </a:endParaRPr>
          </a:p>
          <a:p>
            <a:pPr marL="457200" lvl="0" indent="-279400" algn="l" rtl="0">
              <a:lnSpc>
                <a:spcPct val="115000"/>
              </a:lnSpc>
              <a:spcBef>
                <a:spcPts val="0"/>
              </a:spcBef>
              <a:spcAft>
                <a:spcPts val="0"/>
              </a:spcAft>
              <a:buClr>
                <a:srgbClr val="000000"/>
              </a:buClr>
              <a:buSzPts val="800"/>
              <a:buFont typeface="Lexend"/>
              <a:buChar char="-"/>
            </a:pPr>
            <a:endParaRPr sz="800">
              <a:latin typeface="Lexend"/>
              <a:ea typeface="Lexend"/>
              <a:cs typeface="Lexend"/>
              <a:sym typeface="Lexend"/>
            </a:endParaRPr>
          </a:p>
        </p:txBody>
      </p:sp>
      <p:sp>
        <p:nvSpPr>
          <p:cNvPr id="1167" name="Google Shape;1167;p67"/>
          <p:cNvSpPr/>
          <p:nvPr/>
        </p:nvSpPr>
        <p:spPr>
          <a:xfrm>
            <a:off x="5557026" y="1010700"/>
            <a:ext cx="573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pic>
        <p:nvPicPr>
          <p:cNvPr id="1168" name="Google Shape;1168;p67" title="Chart"/>
          <p:cNvPicPr preferRelativeResize="0"/>
          <p:nvPr/>
        </p:nvPicPr>
        <p:blipFill>
          <a:blip r:embed="rId4">
            <a:alphaModFix/>
          </a:blip>
          <a:stretch>
            <a:fillRect/>
          </a:stretch>
        </p:blipFill>
        <p:spPr>
          <a:xfrm>
            <a:off x="957850" y="1004325"/>
            <a:ext cx="4495040" cy="1951275"/>
          </a:xfrm>
          <a:prstGeom prst="rect">
            <a:avLst/>
          </a:prstGeom>
          <a:noFill/>
          <a:ln>
            <a:noFill/>
          </a:ln>
        </p:spPr>
      </p:pic>
      <p:pic>
        <p:nvPicPr>
          <p:cNvPr id="1169" name="Google Shape;1169;p67" title="Chart"/>
          <p:cNvPicPr preferRelativeResize="0"/>
          <p:nvPr/>
        </p:nvPicPr>
        <p:blipFill>
          <a:blip r:embed="rId5">
            <a:alphaModFix/>
          </a:blip>
          <a:stretch>
            <a:fillRect/>
          </a:stretch>
        </p:blipFill>
        <p:spPr>
          <a:xfrm>
            <a:off x="957775" y="3123210"/>
            <a:ext cx="4513802" cy="19594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74"/>
        <p:cNvGrpSpPr/>
        <p:nvPr/>
      </p:nvGrpSpPr>
      <p:grpSpPr>
        <a:xfrm>
          <a:off x="0" y="0"/>
          <a:ext cx="0" cy="0"/>
          <a:chOff x="0" y="0"/>
          <a:chExt cx="0" cy="0"/>
        </a:xfrm>
      </p:grpSpPr>
      <p:sp>
        <p:nvSpPr>
          <p:cNvPr id="1175" name="Google Shape;1175;p6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76" name="Google Shape;1176;p68"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177" name="Google Shape;1177;p68"/>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REC RATE</a:t>
            </a:r>
            <a:endParaRPr sz="2200" b="1" i="0" u="none" strike="noStrike" cap="none">
              <a:solidFill>
                <a:srgbClr val="F56C1F"/>
              </a:solidFill>
              <a:latin typeface="Lexend"/>
              <a:ea typeface="Lexend"/>
              <a:cs typeface="Lexend"/>
              <a:sym typeface="Lexend"/>
            </a:endParaRPr>
          </a:p>
        </p:txBody>
      </p:sp>
      <p:sp>
        <p:nvSpPr>
          <p:cNvPr id="1178" name="Google Shape;1178;p68"/>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Tỉ lệ ghép đơn qua combine của những đơn hoàn thành theo zone </a:t>
            </a:r>
            <a:endParaRPr sz="1000" i="1">
              <a:solidFill>
                <a:srgbClr val="64748B"/>
              </a:solidFill>
              <a:latin typeface="Lexend"/>
              <a:ea typeface="Lexend"/>
              <a:cs typeface="Lexend"/>
              <a:sym typeface="Lexend"/>
            </a:endParaRPr>
          </a:p>
        </p:txBody>
      </p:sp>
      <p:cxnSp>
        <p:nvCxnSpPr>
          <p:cNvPr id="1179" name="Google Shape;1179;p68"/>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80" name="Google Shape;1180;p68"/>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graphicFrame>
        <p:nvGraphicFramePr>
          <p:cNvPr id="1181" name="Google Shape;1181;p68"/>
          <p:cNvGraphicFramePr/>
          <p:nvPr/>
        </p:nvGraphicFramePr>
        <p:xfrm>
          <a:off x="365750" y="1389700"/>
          <a:ext cx="3000000" cy="3000000"/>
        </p:xfrm>
        <a:graphic>
          <a:graphicData uri="http://schemas.openxmlformats.org/drawingml/2006/table">
            <a:tbl>
              <a:tblPr>
                <a:noFill/>
                <a:tableStyleId>{1B6E03F7-A7B3-402D-A52F-665CEB5CA1F2}</a:tableStyleId>
              </a:tblPr>
              <a:tblGrid>
                <a:gridCol w="967300">
                  <a:extLst>
                    <a:ext uri="{9D8B030D-6E8A-4147-A177-3AD203B41FA5}">
                      <a16:colId xmlns:a16="http://schemas.microsoft.com/office/drawing/2014/main" val="20000"/>
                    </a:ext>
                  </a:extLst>
                </a:gridCol>
                <a:gridCol w="908250">
                  <a:extLst>
                    <a:ext uri="{9D8B030D-6E8A-4147-A177-3AD203B41FA5}">
                      <a16:colId xmlns:a16="http://schemas.microsoft.com/office/drawing/2014/main" val="20001"/>
                    </a:ext>
                  </a:extLst>
                </a:gridCol>
                <a:gridCol w="908250">
                  <a:extLst>
                    <a:ext uri="{9D8B030D-6E8A-4147-A177-3AD203B41FA5}">
                      <a16:colId xmlns:a16="http://schemas.microsoft.com/office/drawing/2014/main" val="20002"/>
                    </a:ext>
                  </a:extLst>
                </a:gridCol>
                <a:gridCol w="908250">
                  <a:extLst>
                    <a:ext uri="{9D8B030D-6E8A-4147-A177-3AD203B41FA5}">
                      <a16:colId xmlns:a16="http://schemas.microsoft.com/office/drawing/2014/main" val="20003"/>
                    </a:ext>
                  </a:extLst>
                </a:gridCol>
                <a:gridCol w="908250">
                  <a:extLst>
                    <a:ext uri="{9D8B030D-6E8A-4147-A177-3AD203B41FA5}">
                      <a16:colId xmlns:a16="http://schemas.microsoft.com/office/drawing/2014/main" val="20004"/>
                    </a:ext>
                  </a:extLst>
                </a:gridCol>
              </a:tblGrid>
              <a:tr h="200025">
                <a:tc>
                  <a:txBody>
                    <a:bodyPr/>
                    <a:lstStyle/>
                    <a:p>
                      <a:pPr marL="0" lvl="0" indent="0" algn="ctr" rtl="0">
                        <a:lnSpc>
                          <a:spcPct val="115000"/>
                        </a:lnSpc>
                        <a:spcBef>
                          <a:spcPts val="0"/>
                        </a:spcBef>
                        <a:spcAft>
                          <a:spcPts val="0"/>
                        </a:spcAft>
                        <a:buNone/>
                      </a:pPr>
                      <a:r>
                        <a:rPr lang="en" sz="1000" b="1">
                          <a:solidFill>
                            <a:schemeClr val="lt1"/>
                          </a:solidFill>
                        </a:rPr>
                        <a:t>period</a:t>
                      </a:r>
                      <a:endParaRPr sz="1000" b="1">
                        <a:solidFill>
                          <a:schemeClr val="lt1"/>
                        </a:solidFill>
                      </a:endParaRPr>
                    </a:p>
                  </a:txBody>
                  <a:tcPr marL="28575" marR="28575" marT="19050" marB="19050" anchor="b">
                    <a:solidFill>
                      <a:srgbClr val="F96604"/>
                    </a:solidFill>
                  </a:tcPr>
                </a:tc>
                <a:tc>
                  <a:txBody>
                    <a:bodyPr/>
                    <a:lstStyle/>
                    <a:p>
                      <a:pPr marL="0" lvl="0" indent="0" algn="ctr" rtl="0">
                        <a:lnSpc>
                          <a:spcPct val="115000"/>
                        </a:lnSpc>
                        <a:spcBef>
                          <a:spcPts val="0"/>
                        </a:spcBef>
                        <a:spcAft>
                          <a:spcPts val="0"/>
                        </a:spcAft>
                        <a:buNone/>
                      </a:pPr>
                      <a:r>
                        <a:rPr lang="en" sz="1000" b="1">
                          <a:solidFill>
                            <a:schemeClr val="lt1"/>
                          </a:solidFill>
                        </a:rPr>
                        <a:t>city_zone</a:t>
                      </a:r>
                      <a:endParaRPr sz="1000" b="1">
                        <a:solidFill>
                          <a:schemeClr val="lt1"/>
                        </a:solidFill>
                      </a:endParaRPr>
                    </a:p>
                  </a:txBody>
                  <a:tcPr marL="28575" marR="28575" marT="19050" marB="19050" anchor="b">
                    <a:solidFill>
                      <a:srgbClr val="F96604"/>
                    </a:solidFill>
                  </a:tcPr>
                </a:tc>
                <a:tc>
                  <a:txBody>
                    <a:bodyPr/>
                    <a:lstStyle/>
                    <a:p>
                      <a:pPr marL="0" lvl="0" indent="0" algn="ctr" rtl="0">
                        <a:lnSpc>
                          <a:spcPct val="115000"/>
                        </a:lnSpc>
                        <a:spcBef>
                          <a:spcPts val="0"/>
                        </a:spcBef>
                        <a:spcAft>
                          <a:spcPts val="0"/>
                        </a:spcAft>
                        <a:buNone/>
                      </a:pPr>
                      <a:r>
                        <a:rPr lang="en" sz="1000" b="1">
                          <a:solidFill>
                            <a:schemeClr val="lt1"/>
                          </a:solidFill>
                        </a:rPr>
                        <a:t>big_zone</a:t>
                      </a:r>
                      <a:endParaRPr sz="1000" b="1">
                        <a:solidFill>
                          <a:schemeClr val="lt1"/>
                        </a:solidFill>
                      </a:endParaRPr>
                    </a:p>
                  </a:txBody>
                  <a:tcPr marL="28575" marR="28575" marT="19050" marB="19050" anchor="b">
                    <a:solidFill>
                      <a:srgbClr val="F96604"/>
                    </a:solidFill>
                  </a:tcPr>
                </a:tc>
                <a:tc>
                  <a:txBody>
                    <a:bodyPr/>
                    <a:lstStyle/>
                    <a:p>
                      <a:pPr marL="0" lvl="0" indent="0" algn="ctr" rtl="0">
                        <a:lnSpc>
                          <a:spcPct val="115000"/>
                        </a:lnSpc>
                        <a:spcBef>
                          <a:spcPts val="0"/>
                        </a:spcBef>
                        <a:spcAft>
                          <a:spcPts val="0"/>
                        </a:spcAft>
                        <a:buNone/>
                      </a:pPr>
                      <a:r>
                        <a:rPr lang="en" sz="1000" b="1">
                          <a:solidFill>
                            <a:schemeClr val="lt1"/>
                          </a:solidFill>
                        </a:rPr>
                        <a:t>medium_zone</a:t>
                      </a:r>
                      <a:endParaRPr sz="1000" b="1">
                        <a:solidFill>
                          <a:schemeClr val="lt1"/>
                        </a:solidFill>
                      </a:endParaRPr>
                    </a:p>
                  </a:txBody>
                  <a:tcPr marL="28575" marR="28575" marT="19050" marB="19050" anchor="b">
                    <a:solidFill>
                      <a:srgbClr val="F96604"/>
                    </a:solidFill>
                  </a:tcPr>
                </a:tc>
                <a:tc>
                  <a:txBody>
                    <a:bodyPr/>
                    <a:lstStyle/>
                    <a:p>
                      <a:pPr marL="0" lvl="0" indent="0" algn="ctr" rtl="0">
                        <a:lnSpc>
                          <a:spcPct val="115000"/>
                        </a:lnSpc>
                        <a:spcBef>
                          <a:spcPts val="0"/>
                        </a:spcBef>
                        <a:spcAft>
                          <a:spcPts val="0"/>
                        </a:spcAft>
                        <a:buNone/>
                      </a:pPr>
                      <a:r>
                        <a:rPr lang="en" sz="1000" b="1">
                          <a:solidFill>
                            <a:schemeClr val="lt1"/>
                          </a:solidFill>
                        </a:rPr>
                        <a:t>minizone</a:t>
                      </a:r>
                      <a:endParaRPr sz="1000" b="1">
                        <a:solidFill>
                          <a:schemeClr val="lt1"/>
                        </a:solidFill>
                      </a:endParaRPr>
                    </a:p>
                  </a:txBody>
                  <a:tcPr marL="28575" marR="28575" marT="19050" marB="19050" anchor="b">
                    <a:solidFill>
                      <a:srgbClr val="F96604"/>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t>2026-07-06</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24.27%</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29.34%</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23.26%</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19.94%</a:t>
                      </a:r>
                      <a:endParaRPr sz="1000"/>
                    </a:p>
                  </a:txBody>
                  <a:tcPr marL="28575" marR="28575" marT="19050" marB="19050" anchor="b"/>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t>2026-07-13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31.18%</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28.55%</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14.86%</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21.47%</a:t>
                      </a:r>
                      <a:endParaRPr sz="1000"/>
                    </a:p>
                  </a:txBody>
                  <a:tcPr marL="28575" marR="28575" marT="19050" marB="19050" anchor="b"/>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t>2026-07-20</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28.43%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28.02%</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25.22%</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24.16%</a:t>
                      </a:r>
                      <a:endParaRPr sz="1000"/>
                    </a:p>
                  </a:txBody>
                  <a:tcPr marL="28575" marR="28575" marT="19050" marB="19050" anchor="b"/>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t>WoW</a:t>
                      </a:r>
                      <a:endParaRPr sz="1000" b="1"/>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FF0000"/>
                          </a:solidFill>
                        </a:rPr>
                        <a:t>-2.75%</a:t>
                      </a:r>
                      <a:endParaRPr sz="1000" b="1">
                        <a:solidFill>
                          <a:srgbClr val="FF0000"/>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FF0000"/>
                          </a:solidFill>
                        </a:rPr>
                        <a:t>-0.53%</a:t>
                      </a:r>
                      <a:endParaRPr sz="1000" b="1">
                        <a:solidFill>
                          <a:srgbClr val="FF0000"/>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10.36%</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2.69%</a:t>
                      </a:r>
                      <a:endParaRPr sz="1000" b="1">
                        <a:solidFill>
                          <a:srgbClr val="0B8043"/>
                        </a:solidFill>
                      </a:endParaRPr>
                    </a:p>
                  </a:txBody>
                  <a:tcPr marL="28575" marR="28575" marT="19050" marB="19050" anchor="b"/>
                </a:tc>
                <a:extLst>
                  <a:ext uri="{0D108BD9-81ED-4DB2-BD59-A6C34878D82A}">
                    <a16:rowId xmlns:a16="http://schemas.microsoft.com/office/drawing/2014/main" val="10004"/>
                  </a:ext>
                </a:extLst>
              </a:tr>
            </a:tbl>
          </a:graphicData>
        </a:graphic>
      </p:graphicFrame>
      <p:sp>
        <p:nvSpPr>
          <p:cNvPr id="1182" name="Google Shape;1182;p68"/>
          <p:cNvSpPr txBox="1"/>
          <p:nvPr/>
        </p:nvSpPr>
        <p:spPr>
          <a:xfrm>
            <a:off x="365748" y="1052025"/>
            <a:ext cx="15135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Rec rate HAN</a:t>
            </a:r>
            <a:endParaRPr sz="1100"/>
          </a:p>
        </p:txBody>
      </p:sp>
      <p:graphicFrame>
        <p:nvGraphicFramePr>
          <p:cNvPr id="1183" name="Google Shape;1183;p68"/>
          <p:cNvGraphicFramePr/>
          <p:nvPr/>
        </p:nvGraphicFramePr>
        <p:xfrm>
          <a:off x="393359" y="3127225"/>
          <a:ext cx="3000000" cy="3000000"/>
        </p:xfrm>
        <a:graphic>
          <a:graphicData uri="http://schemas.openxmlformats.org/drawingml/2006/table">
            <a:tbl>
              <a:tblPr>
                <a:noFill/>
                <a:tableStyleId>{1B6E03F7-A7B3-402D-A52F-665CEB5CA1F2}</a:tableStyleId>
              </a:tblPr>
              <a:tblGrid>
                <a:gridCol w="808850">
                  <a:extLst>
                    <a:ext uri="{9D8B030D-6E8A-4147-A177-3AD203B41FA5}">
                      <a16:colId xmlns:a16="http://schemas.microsoft.com/office/drawing/2014/main" val="20000"/>
                    </a:ext>
                  </a:extLst>
                </a:gridCol>
                <a:gridCol w="718625">
                  <a:extLst>
                    <a:ext uri="{9D8B030D-6E8A-4147-A177-3AD203B41FA5}">
                      <a16:colId xmlns:a16="http://schemas.microsoft.com/office/drawing/2014/main" val="20001"/>
                    </a:ext>
                  </a:extLst>
                </a:gridCol>
                <a:gridCol w="718625">
                  <a:extLst>
                    <a:ext uri="{9D8B030D-6E8A-4147-A177-3AD203B41FA5}">
                      <a16:colId xmlns:a16="http://schemas.microsoft.com/office/drawing/2014/main" val="20002"/>
                    </a:ext>
                  </a:extLst>
                </a:gridCol>
                <a:gridCol w="718625">
                  <a:extLst>
                    <a:ext uri="{9D8B030D-6E8A-4147-A177-3AD203B41FA5}">
                      <a16:colId xmlns:a16="http://schemas.microsoft.com/office/drawing/2014/main" val="20003"/>
                    </a:ext>
                  </a:extLst>
                </a:gridCol>
                <a:gridCol w="718625">
                  <a:extLst>
                    <a:ext uri="{9D8B030D-6E8A-4147-A177-3AD203B41FA5}">
                      <a16:colId xmlns:a16="http://schemas.microsoft.com/office/drawing/2014/main" val="20004"/>
                    </a:ext>
                  </a:extLst>
                </a:gridCol>
                <a:gridCol w="718625">
                  <a:extLst>
                    <a:ext uri="{9D8B030D-6E8A-4147-A177-3AD203B41FA5}">
                      <a16:colId xmlns:a16="http://schemas.microsoft.com/office/drawing/2014/main" val="20005"/>
                    </a:ext>
                  </a:extLst>
                </a:gridCol>
                <a:gridCol w="718625">
                  <a:extLst>
                    <a:ext uri="{9D8B030D-6E8A-4147-A177-3AD203B41FA5}">
                      <a16:colId xmlns:a16="http://schemas.microsoft.com/office/drawing/2014/main" val="20006"/>
                    </a:ext>
                  </a:extLst>
                </a:gridCol>
              </a:tblGrid>
              <a:tr h="200025">
                <a:tc>
                  <a:txBody>
                    <a:bodyPr/>
                    <a:lstStyle/>
                    <a:p>
                      <a:pPr marL="0" lvl="0" indent="0" algn="ctr" rtl="0">
                        <a:lnSpc>
                          <a:spcPct val="115000"/>
                        </a:lnSpc>
                        <a:spcBef>
                          <a:spcPts val="0"/>
                        </a:spcBef>
                        <a:spcAft>
                          <a:spcPts val="0"/>
                        </a:spcAft>
                        <a:buNone/>
                      </a:pPr>
                      <a:r>
                        <a:rPr lang="en" sz="1000" b="1">
                          <a:solidFill>
                            <a:schemeClr val="lt1"/>
                          </a:solidFill>
                        </a:rPr>
                        <a:t>period</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1</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2</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3</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4</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5</a:t>
                      </a:r>
                      <a:endParaRPr sz="1000" b="1">
                        <a:solidFill>
                          <a:schemeClr val="lt1"/>
                        </a:solidFill>
                      </a:endParaRPr>
                    </a:p>
                  </a:txBody>
                  <a:tcPr marL="28575" marR="28575" marT="19050" marB="19050" anchor="b">
                    <a:solidFill>
                      <a:srgbClr val="FF6600"/>
                    </a:solidFill>
                  </a:tcPr>
                </a:tc>
                <a:tc>
                  <a:txBody>
                    <a:bodyPr/>
                    <a:lstStyle/>
                    <a:p>
                      <a:pPr marL="0" lvl="0" indent="0" algn="ctr" rtl="0">
                        <a:lnSpc>
                          <a:spcPct val="115000"/>
                        </a:lnSpc>
                        <a:spcBef>
                          <a:spcPts val="0"/>
                        </a:spcBef>
                        <a:spcAft>
                          <a:spcPts val="0"/>
                        </a:spcAft>
                        <a:buNone/>
                      </a:pPr>
                      <a:r>
                        <a:rPr lang="en" sz="1000" b="1">
                          <a:solidFill>
                            <a:schemeClr val="lt1"/>
                          </a:solidFill>
                        </a:rPr>
                        <a:t>Zone 6</a:t>
                      </a:r>
                      <a:endParaRPr sz="1000" b="1">
                        <a:solidFill>
                          <a:schemeClr val="lt1"/>
                        </a:solidFill>
                      </a:endParaRPr>
                    </a:p>
                  </a:txBody>
                  <a:tcPr marL="28575" marR="28575" marT="19050" marB="19050" anchor="b">
                    <a:solidFill>
                      <a:srgbClr val="FF6600"/>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t>2026-07-06</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21.10%</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17.02%</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19.90%</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17.43%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20.63%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20.84%</a:t>
                      </a:r>
                      <a:endParaRPr sz="1000"/>
                    </a:p>
                  </a:txBody>
                  <a:tcPr marL="28575" marR="28575" marT="19050" marB="19050" anchor="b"/>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t>2026-07-13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22.55%</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19.13%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20.53%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19.70%</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22.29%</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22.81%</a:t>
                      </a:r>
                      <a:endParaRPr sz="1000"/>
                    </a:p>
                  </a:txBody>
                  <a:tcPr marL="28575" marR="28575" marT="19050" marB="19050" anchor="b"/>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t>2026-07-20</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23.94%</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20.37%</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22.54%</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24.66%</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23.63%</a:t>
                      </a:r>
                      <a:endParaRPr sz="1000"/>
                    </a:p>
                  </a:txBody>
                  <a:tcPr marL="28575" marR="28575" marT="19050" marB="19050" anchor="b"/>
                </a:tc>
                <a:tc>
                  <a:txBody>
                    <a:bodyPr/>
                    <a:lstStyle/>
                    <a:p>
                      <a:pPr marL="0" lvl="0" indent="0" algn="ctr" rtl="0">
                        <a:lnSpc>
                          <a:spcPct val="115000"/>
                        </a:lnSpc>
                        <a:spcBef>
                          <a:spcPts val="0"/>
                        </a:spcBef>
                        <a:spcAft>
                          <a:spcPts val="0"/>
                        </a:spcAft>
                        <a:buNone/>
                      </a:pPr>
                      <a:r>
                        <a:rPr lang="en" sz="1000"/>
                        <a:t>23.80%</a:t>
                      </a:r>
                      <a:endParaRPr sz="1000"/>
                    </a:p>
                  </a:txBody>
                  <a:tcPr marL="28575" marR="28575" marT="19050" marB="19050" anchor="b"/>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b="1"/>
                        <a:t>WoW</a:t>
                      </a:r>
                      <a:endParaRPr sz="1000" b="1"/>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1.39%</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1.24%</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2.01%</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4.96%</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1.34%</a:t>
                      </a:r>
                      <a:endParaRPr sz="1000" b="1">
                        <a:solidFill>
                          <a:srgbClr val="0B8043"/>
                        </a:solidFill>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solidFill>
                            <a:srgbClr val="0B8043"/>
                          </a:solidFill>
                        </a:rPr>
                        <a:t>0.99%</a:t>
                      </a:r>
                      <a:endParaRPr sz="1000" b="1">
                        <a:solidFill>
                          <a:srgbClr val="0B8043"/>
                        </a:solidFill>
                      </a:endParaRPr>
                    </a:p>
                  </a:txBody>
                  <a:tcPr marL="28575" marR="28575" marT="19050" marB="19050" anchor="b"/>
                </a:tc>
                <a:extLst>
                  <a:ext uri="{0D108BD9-81ED-4DB2-BD59-A6C34878D82A}">
                    <a16:rowId xmlns:a16="http://schemas.microsoft.com/office/drawing/2014/main" val="10004"/>
                  </a:ext>
                </a:extLst>
              </a:tr>
            </a:tbl>
          </a:graphicData>
        </a:graphic>
      </p:graphicFrame>
      <p:sp>
        <p:nvSpPr>
          <p:cNvPr id="1184" name="Google Shape;1184;p68"/>
          <p:cNvSpPr txBox="1"/>
          <p:nvPr/>
        </p:nvSpPr>
        <p:spPr>
          <a:xfrm>
            <a:off x="365748" y="2815250"/>
            <a:ext cx="15135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Rec rate SGN</a:t>
            </a:r>
            <a:endParaRPr sz="1100"/>
          </a:p>
        </p:txBody>
      </p:sp>
      <p:sp>
        <p:nvSpPr>
          <p:cNvPr id="1185" name="Google Shape;1185;p68"/>
          <p:cNvSpPr/>
          <p:nvPr/>
        </p:nvSpPr>
        <p:spPr>
          <a:xfrm>
            <a:off x="5716775" y="1052025"/>
            <a:ext cx="3061800" cy="4162800"/>
          </a:xfrm>
          <a:prstGeom prst="roundRect">
            <a:avLst>
              <a:gd name="adj" fmla="val 4283"/>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186" name="Google Shape;1186;p68"/>
          <p:cNvSpPr txBox="1"/>
          <p:nvPr/>
        </p:nvSpPr>
        <p:spPr>
          <a:xfrm>
            <a:off x="5791398" y="1052025"/>
            <a:ext cx="15135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Listing rate</a:t>
            </a:r>
            <a:endParaRPr sz="1100"/>
          </a:p>
        </p:txBody>
      </p:sp>
      <p:pic>
        <p:nvPicPr>
          <p:cNvPr id="1187" name="Google Shape;1187;p68" title="Biểu đồ"/>
          <p:cNvPicPr preferRelativeResize="0"/>
          <p:nvPr/>
        </p:nvPicPr>
        <p:blipFill rotWithShape="1">
          <a:blip r:embed="rId4">
            <a:alphaModFix/>
          </a:blip>
          <a:srcRect l="19291" t="3912" r="11591" b="26980"/>
          <a:stretch/>
        </p:blipFill>
        <p:spPr>
          <a:xfrm>
            <a:off x="5953887" y="1354125"/>
            <a:ext cx="2587575" cy="1497625"/>
          </a:xfrm>
          <a:prstGeom prst="rect">
            <a:avLst/>
          </a:prstGeom>
          <a:solidFill>
            <a:srgbClr val="FFFFFF"/>
          </a:solidFill>
          <a:ln w="9525" cap="flat" cmpd="sng">
            <a:solidFill>
              <a:srgbClr val="E2E8F0"/>
            </a:solidFill>
            <a:prstDash val="solid"/>
            <a:round/>
            <a:headEnd type="none" w="sm" len="sm"/>
            <a:tailEnd type="none" w="sm" len="sm"/>
          </a:ln>
        </p:spPr>
      </p:pic>
      <p:sp>
        <p:nvSpPr>
          <p:cNvPr id="1188" name="Google Shape;1188;p68"/>
          <p:cNvSpPr txBox="1"/>
          <p:nvPr/>
        </p:nvSpPr>
        <p:spPr>
          <a:xfrm>
            <a:off x="5716775" y="3207625"/>
            <a:ext cx="2933400" cy="1877700"/>
          </a:xfrm>
          <a:prstGeom prst="rect">
            <a:avLst/>
          </a:prstGeom>
          <a:noFill/>
          <a:ln>
            <a:noFill/>
          </a:ln>
        </p:spPr>
        <p:txBody>
          <a:bodyPr spcFirstLastPara="1" wrap="square" lIns="91425" tIns="91425" rIns="91425" bIns="91425" anchor="t" anchorCtr="0">
            <a:spAutoFit/>
          </a:bodyPr>
          <a:lstStyle/>
          <a:p>
            <a:pPr marL="457200" lvl="0" indent="-292100" algn="l" rtl="0">
              <a:spcBef>
                <a:spcPts val="0"/>
              </a:spcBef>
              <a:spcAft>
                <a:spcPts val="0"/>
              </a:spcAft>
              <a:buSzPts val="1000"/>
              <a:buChar char="-"/>
            </a:pPr>
            <a:r>
              <a:rPr lang="en" sz="1000"/>
              <a:t>Tỉ lệ ghép đơn qua listing tiếp tục giảm trong 3 tuần tại 2 city, SGN giảm mạnh chỉ còn 4% </a:t>
            </a:r>
            <a:endParaRPr sz="1000"/>
          </a:p>
          <a:p>
            <a:pPr marL="457200" lvl="0" indent="-292100" algn="l" rtl="0">
              <a:spcBef>
                <a:spcPts val="0"/>
              </a:spcBef>
              <a:spcAft>
                <a:spcPts val="0"/>
              </a:spcAft>
              <a:buSzPts val="1000"/>
              <a:buChar char="-"/>
            </a:pPr>
            <a:r>
              <a:rPr lang="en" sz="1000"/>
              <a:t>Ngược lại tỉ lệ ghép qua Rec tiếp tục tăng</a:t>
            </a:r>
            <a:endParaRPr sz="1000"/>
          </a:p>
          <a:p>
            <a:pPr marL="457200" lvl="0" indent="-292100" algn="l" rtl="0">
              <a:spcBef>
                <a:spcPts val="0"/>
              </a:spcBef>
              <a:spcAft>
                <a:spcPts val="0"/>
              </a:spcAft>
              <a:buSzPts val="1000"/>
              <a:buChar char="-"/>
            </a:pPr>
            <a:r>
              <a:rPr lang="en" sz="1000"/>
              <a:t>HAN chỉ giảm tại 2 zone lớn còn Med / Mini đều tăng đặc biệt Med đã tăng 25% WoW </a:t>
            </a:r>
            <a:endParaRPr sz="1000"/>
          </a:p>
          <a:p>
            <a:pPr marL="457200" lvl="0" indent="-292100" algn="l" rtl="0">
              <a:spcBef>
                <a:spcPts val="0"/>
              </a:spcBef>
              <a:spcAft>
                <a:spcPts val="0"/>
              </a:spcAft>
              <a:buSzPts val="1000"/>
              <a:buChar char="-"/>
            </a:pPr>
            <a:r>
              <a:rPr lang="en" sz="1000"/>
              <a:t>SGN có trend tương tự nhưng biên độ tăng nhẹ hơn tỉ lệ ghép Rec đang dao động 22% </a:t>
            </a:r>
            <a:endParaRPr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2"/>
        <p:cNvGrpSpPr/>
        <p:nvPr/>
      </p:nvGrpSpPr>
      <p:grpSpPr>
        <a:xfrm>
          <a:off x="0" y="0"/>
          <a:ext cx="0" cy="0"/>
          <a:chOff x="0" y="0"/>
          <a:chExt cx="0" cy="0"/>
        </a:xfrm>
      </p:grpSpPr>
      <p:sp>
        <p:nvSpPr>
          <p:cNvPr id="1193" name="Google Shape;1193;p69"/>
          <p:cNvSpPr/>
          <p:nvPr/>
        </p:nvSpPr>
        <p:spPr>
          <a:xfrm>
            <a:off x="513750" y="1169446"/>
            <a:ext cx="486900" cy="2927700"/>
          </a:xfrm>
          <a:prstGeom prst="rect">
            <a:avLst/>
          </a:prstGeom>
          <a:noFill/>
          <a:ln w="9525" cap="flat" cmpd="sng">
            <a:solidFill>
              <a:srgbClr val="0942A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4" name="Google Shape;1194;p69"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195" name="Google Shape;1195;p69"/>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CityZone x NIM </a:t>
            </a:r>
            <a:endParaRPr sz="2200" b="1" i="0" u="none" strike="noStrike" cap="none">
              <a:solidFill>
                <a:srgbClr val="F56C1F"/>
              </a:solidFill>
              <a:latin typeface="Lexend"/>
              <a:ea typeface="Lexend"/>
              <a:cs typeface="Lexend"/>
              <a:sym typeface="Lexend"/>
            </a:endParaRPr>
          </a:p>
        </p:txBody>
      </p:sp>
      <p:sp>
        <p:nvSpPr>
          <p:cNvPr id="1196" name="Google Shape;1196;p6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97" name="Google Shape;1197;p69"/>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98" name="Google Shape;1198;p69"/>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199" name="Google Shape;1199;p69"/>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Running task </a:t>
            </a:r>
            <a:endParaRPr sz="1000" i="0" u="none" strike="noStrike" cap="none">
              <a:solidFill>
                <a:schemeClr val="dk1"/>
              </a:solidFill>
              <a:latin typeface="Lexend"/>
              <a:ea typeface="Lexend"/>
              <a:cs typeface="Lexend"/>
              <a:sym typeface="Lexend"/>
            </a:endParaRPr>
          </a:p>
        </p:txBody>
      </p:sp>
      <p:cxnSp>
        <p:nvCxnSpPr>
          <p:cNvPr id="1200" name="Google Shape;1200;p69"/>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grpSp>
        <p:nvGrpSpPr>
          <p:cNvPr id="1201" name="Google Shape;1201;p69"/>
          <p:cNvGrpSpPr/>
          <p:nvPr/>
        </p:nvGrpSpPr>
        <p:grpSpPr>
          <a:xfrm>
            <a:off x="4890858" y="1169425"/>
            <a:ext cx="3887498" cy="2927725"/>
            <a:chOff x="2528100" y="1431525"/>
            <a:chExt cx="2043900" cy="2927725"/>
          </a:xfrm>
        </p:grpSpPr>
        <p:sp>
          <p:nvSpPr>
            <p:cNvPr id="1202" name="Google Shape;1202;p69"/>
            <p:cNvSpPr/>
            <p:nvPr/>
          </p:nvSpPr>
          <p:spPr>
            <a:xfrm>
              <a:off x="2528100" y="1431550"/>
              <a:ext cx="2043900" cy="2927700"/>
            </a:xfrm>
            <a:prstGeom prst="rect">
              <a:avLst/>
            </a:prstGeom>
            <a:noFill/>
            <a:ln w="9525" cap="flat" cmpd="sng">
              <a:solidFill>
                <a:srgbClr val="F966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9"/>
            <p:cNvSpPr/>
            <p:nvPr/>
          </p:nvSpPr>
          <p:spPr>
            <a:xfrm rot="10800000" flipH="1">
              <a:off x="2528100" y="1431525"/>
              <a:ext cx="2043900" cy="126900"/>
            </a:xfrm>
            <a:prstGeom prst="rect">
              <a:avLst/>
            </a:prstGeom>
            <a:solidFill>
              <a:srgbClr val="FF6D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9"/>
            <p:cNvSpPr txBox="1"/>
            <p:nvPr/>
          </p:nvSpPr>
          <p:spPr>
            <a:xfrm>
              <a:off x="2528100" y="1558425"/>
              <a:ext cx="804600" cy="79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200" b="1">
                  <a:solidFill>
                    <a:srgbClr val="FF6F00"/>
                  </a:solidFill>
                  <a:latin typeface="Roboto"/>
                  <a:ea typeface="Roboto"/>
                  <a:cs typeface="Roboto"/>
                  <a:sym typeface="Roboto"/>
                </a:rPr>
                <a:t>08</a:t>
              </a:r>
              <a:endParaRPr sz="4200" b="1">
                <a:solidFill>
                  <a:srgbClr val="FF6F00"/>
                </a:solidFill>
                <a:latin typeface="Roboto"/>
                <a:ea typeface="Roboto"/>
                <a:cs typeface="Roboto"/>
                <a:sym typeface="Roboto"/>
              </a:endParaRPr>
            </a:p>
          </p:txBody>
        </p:sp>
        <p:sp>
          <p:nvSpPr>
            <p:cNvPr id="1205" name="Google Shape;1205;p69"/>
            <p:cNvSpPr txBox="1"/>
            <p:nvPr/>
          </p:nvSpPr>
          <p:spPr>
            <a:xfrm>
              <a:off x="2593643" y="2506856"/>
              <a:ext cx="352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FF6D01"/>
                  </a:solidFill>
                  <a:latin typeface="Roboto"/>
                  <a:ea typeface="Roboto"/>
                  <a:cs typeface="Roboto"/>
                  <a:sym typeface="Roboto"/>
                </a:rPr>
                <a:t>W1</a:t>
              </a:r>
              <a:endParaRPr sz="700">
                <a:solidFill>
                  <a:srgbClr val="FF6D01"/>
                </a:solidFill>
                <a:latin typeface="Roboto"/>
                <a:ea typeface="Roboto"/>
                <a:cs typeface="Roboto"/>
                <a:sym typeface="Roboto"/>
              </a:endParaRPr>
            </a:p>
          </p:txBody>
        </p:sp>
        <p:sp>
          <p:nvSpPr>
            <p:cNvPr id="1206" name="Google Shape;1206;p69"/>
            <p:cNvSpPr txBox="1"/>
            <p:nvPr/>
          </p:nvSpPr>
          <p:spPr>
            <a:xfrm>
              <a:off x="3121750" y="2506856"/>
              <a:ext cx="352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FF6D01"/>
                  </a:solidFill>
                  <a:latin typeface="Roboto"/>
                  <a:ea typeface="Roboto"/>
                  <a:cs typeface="Roboto"/>
                  <a:sym typeface="Roboto"/>
                </a:rPr>
                <a:t>W2</a:t>
              </a:r>
              <a:endParaRPr sz="700">
                <a:solidFill>
                  <a:srgbClr val="FF6D01"/>
                </a:solidFill>
                <a:latin typeface="Roboto"/>
                <a:ea typeface="Roboto"/>
                <a:cs typeface="Roboto"/>
                <a:sym typeface="Roboto"/>
              </a:endParaRPr>
            </a:p>
          </p:txBody>
        </p:sp>
        <p:sp>
          <p:nvSpPr>
            <p:cNvPr id="1207" name="Google Shape;1207;p69"/>
            <p:cNvSpPr txBox="1"/>
            <p:nvPr/>
          </p:nvSpPr>
          <p:spPr>
            <a:xfrm>
              <a:off x="3617255" y="2506856"/>
              <a:ext cx="352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FF6D01"/>
                  </a:solidFill>
                  <a:latin typeface="Roboto"/>
                  <a:ea typeface="Roboto"/>
                  <a:cs typeface="Roboto"/>
                  <a:sym typeface="Roboto"/>
                </a:rPr>
                <a:t>W3</a:t>
              </a:r>
              <a:endParaRPr sz="700">
                <a:solidFill>
                  <a:srgbClr val="FF6D01"/>
                </a:solidFill>
                <a:latin typeface="Roboto"/>
                <a:ea typeface="Roboto"/>
                <a:cs typeface="Roboto"/>
                <a:sym typeface="Roboto"/>
              </a:endParaRPr>
            </a:p>
          </p:txBody>
        </p:sp>
        <p:sp>
          <p:nvSpPr>
            <p:cNvPr id="1208" name="Google Shape;1208;p69"/>
            <p:cNvSpPr txBox="1"/>
            <p:nvPr/>
          </p:nvSpPr>
          <p:spPr>
            <a:xfrm>
              <a:off x="4154254" y="2506856"/>
              <a:ext cx="352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FF6D01"/>
                  </a:solidFill>
                  <a:latin typeface="Roboto"/>
                  <a:ea typeface="Roboto"/>
                  <a:cs typeface="Roboto"/>
                  <a:sym typeface="Roboto"/>
                </a:rPr>
                <a:t>W4</a:t>
              </a:r>
              <a:endParaRPr sz="700">
                <a:solidFill>
                  <a:srgbClr val="FF6D01"/>
                </a:solidFill>
                <a:latin typeface="Roboto"/>
                <a:ea typeface="Roboto"/>
                <a:cs typeface="Roboto"/>
                <a:sym typeface="Roboto"/>
              </a:endParaRPr>
            </a:p>
          </p:txBody>
        </p:sp>
        <p:cxnSp>
          <p:nvCxnSpPr>
            <p:cNvPr id="1209" name="Google Shape;1209;p69"/>
            <p:cNvCxnSpPr/>
            <p:nvPr/>
          </p:nvCxnSpPr>
          <p:spPr>
            <a:xfrm rot="10800000">
              <a:off x="3041575" y="2507000"/>
              <a:ext cx="0" cy="1848300"/>
            </a:xfrm>
            <a:prstGeom prst="straightConnector1">
              <a:avLst/>
            </a:prstGeom>
            <a:noFill/>
            <a:ln w="9525" cap="flat" cmpd="sng">
              <a:solidFill>
                <a:srgbClr val="FF6F00"/>
              </a:solidFill>
              <a:prstDash val="dot"/>
              <a:round/>
              <a:headEnd type="none" w="sm" len="sm"/>
              <a:tailEnd type="none" w="sm" len="sm"/>
            </a:ln>
          </p:spPr>
        </p:cxnSp>
        <p:cxnSp>
          <p:nvCxnSpPr>
            <p:cNvPr id="1210" name="Google Shape;1210;p69"/>
            <p:cNvCxnSpPr/>
            <p:nvPr/>
          </p:nvCxnSpPr>
          <p:spPr>
            <a:xfrm rot="10800000">
              <a:off x="3552287" y="2507000"/>
              <a:ext cx="0" cy="1848300"/>
            </a:xfrm>
            <a:prstGeom prst="straightConnector1">
              <a:avLst/>
            </a:prstGeom>
            <a:noFill/>
            <a:ln w="9525" cap="flat" cmpd="sng">
              <a:solidFill>
                <a:srgbClr val="FF6F00"/>
              </a:solidFill>
              <a:prstDash val="dot"/>
              <a:round/>
              <a:headEnd type="none" w="sm" len="sm"/>
              <a:tailEnd type="none" w="sm" len="sm"/>
            </a:ln>
          </p:spPr>
        </p:cxnSp>
        <p:cxnSp>
          <p:nvCxnSpPr>
            <p:cNvPr id="1211" name="Google Shape;1211;p69"/>
            <p:cNvCxnSpPr/>
            <p:nvPr/>
          </p:nvCxnSpPr>
          <p:spPr>
            <a:xfrm rot="10800000">
              <a:off x="4063000" y="2507000"/>
              <a:ext cx="0" cy="1848300"/>
            </a:xfrm>
            <a:prstGeom prst="straightConnector1">
              <a:avLst/>
            </a:prstGeom>
            <a:noFill/>
            <a:ln w="9525" cap="flat" cmpd="sng">
              <a:solidFill>
                <a:srgbClr val="FF6F00"/>
              </a:solidFill>
              <a:prstDash val="dot"/>
              <a:round/>
              <a:headEnd type="none" w="sm" len="sm"/>
              <a:tailEnd type="none" w="sm" len="sm"/>
            </a:ln>
          </p:spPr>
        </p:cxnSp>
      </p:grpSp>
      <p:grpSp>
        <p:nvGrpSpPr>
          <p:cNvPr id="1212" name="Google Shape;1212;p69"/>
          <p:cNvGrpSpPr/>
          <p:nvPr/>
        </p:nvGrpSpPr>
        <p:grpSpPr>
          <a:xfrm>
            <a:off x="1003495" y="1169425"/>
            <a:ext cx="3887498" cy="2927725"/>
            <a:chOff x="3975900" y="1431525"/>
            <a:chExt cx="2043900" cy="2927725"/>
          </a:xfrm>
        </p:grpSpPr>
        <p:sp>
          <p:nvSpPr>
            <p:cNvPr id="1213" name="Google Shape;1213;p69"/>
            <p:cNvSpPr/>
            <p:nvPr/>
          </p:nvSpPr>
          <p:spPr>
            <a:xfrm>
              <a:off x="3975900" y="1431550"/>
              <a:ext cx="2043900" cy="2927700"/>
            </a:xfrm>
            <a:prstGeom prst="rect">
              <a:avLst/>
            </a:prstGeom>
            <a:noFill/>
            <a:ln w="9525" cap="flat" cmpd="sng">
              <a:solidFill>
                <a:srgbClr val="0942A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9"/>
            <p:cNvSpPr/>
            <p:nvPr/>
          </p:nvSpPr>
          <p:spPr>
            <a:xfrm rot="10800000" flipH="1">
              <a:off x="3975900" y="1431525"/>
              <a:ext cx="2043900" cy="126900"/>
            </a:xfrm>
            <a:prstGeom prst="rect">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9"/>
            <p:cNvSpPr txBox="1"/>
            <p:nvPr/>
          </p:nvSpPr>
          <p:spPr>
            <a:xfrm>
              <a:off x="3975900" y="1558425"/>
              <a:ext cx="804600" cy="792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200" b="1">
                  <a:solidFill>
                    <a:srgbClr val="0942A1"/>
                  </a:solidFill>
                  <a:latin typeface="Roboto"/>
                  <a:ea typeface="Roboto"/>
                  <a:cs typeface="Roboto"/>
                  <a:sym typeface="Roboto"/>
                </a:rPr>
                <a:t>07</a:t>
              </a:r>
              <a:endParaRPr sz="4200" b="1">
                <a:solidFill>
                  <a:srgbClr val="0942A1"/>
                </a:solidFill>
                <a:latin typeface="Roboto"/>
                <a:ea typeface="Roboto"/>
                <a:cs typeface="Roboto"/>
                <a:sym typeface="Roboto"/>
              </a:endParaRPr>
            </a:p>
          </p:txBody>
        </p:sp>
        <p:sp>
          <p:nvSpPr>
            <p:cNvPr id="1216" name="Google Shape;1216;p69"/>
            <p:cNvSpPr txBox="1"/>
            <p:nvPr/>
          </p:nvSpPr>
          <p:spPr>
            <a:xfrm>
              <a:off x="4098775" y="2506850"/>
              <a:ext cx="331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0942A1"/>
                  </a:solidFill>
                  <a:latin typeface="Roboto"/>
                  <a:ea typeface="Roboto"/>
                  <a:cs typeface="Roboto"/>
                  <a:sym typeface="Roboto"/>
                </a:rPr>
                <a:t>W1</a:t>
              </a:r>
              <a:endParaRPr sz="700">
                <a:solidFill>
                  <a:srgbClr val="0942A1"/>
                </a:solidFill>
                <a:latin typeface="Roboto"/>
                <a:ea typeface="Roboto"/>
                <a:cs typeface="Roboto"/>
                <a:sym typeface="Roboto"/>
              </a:endParaRPr>
            </a:p>
          </p:txBody>
        </p:sp>
        <p:sp>
          <p:nvSpPr>
            <p:cNvPr id="1217" name="Google Shape;1217;p69"/>
            <p:cNvSpPr txBox="1"/>
            <p:nvPr/>
          </p:nvSpPr>
          <p:spPr>
            <a:xfrm>
              <a:off x="4595225" y="2506850"/>
              <a:ext cx="331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0942A1"/>
                  </a:solidFill>
                  <a:latin typeface="Roboto"/>
                  <a:ea typeface="Roboto"/>
                  <a:cs typeface="Roboto"/>
                  <a:sym typeface="Roboto"/>
                </a:rPr>
                <a:t>W2</a:t>
              </a:r>
              <a:endParaRPr sz="700">
                <a:solidFill>
                  <a:srgbClr val="0942A1"/>
                </a:solidFill>
                <a:latin typeface="Roboto"/>
                <a:ea typeface="Roboto"/>
                <a:cs typeface="Roboto"/>
                <a:sym typeface="Roboto"/>
              </a:endParaRPr>
            </a:p>
          </p:txBody>
        </p:sp>
        <p:sp>
          <p:nvSpPr>
            <p:cNvPr id="1218" name="Google Shape;1218;p69"/>
            <p:cNvSpPr txBox="1"/>
            <p:nvPr/>
          </p:nvSpPr>
          <p:spPr>
            <a:xfrm>
              <a:off x="5061028" y="2506850"/>
              <a:ext cx="331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0942A1"/>
                  </a:solidFill>
                  <a:latin typeface="Roboto"/>
                  <a:ea typeface="Roboto"/>
                  <a:cs typeface="Roboto"/>
                  <a:sym typeface="Roboto"/>
                </a:rPr>
                <a:t>W3</a:t>
              </a:r>
              <a:endParaRPr sz="700">
                <a:solidFill>
                  <a:srgbClr val="0942A1"/>
                </a:solidFill>
                <a:latin typeface="Roboto"/>
                <a:ea typeface="Roboto"/>
                <a:cs typeface="Roboto"/>
                <a:sym typeface="Roboto"/>
              </a:endParaRPr>
            </a:p>
          </p:txBody>
        </p:sp>
        <p:sp>
          <p:nvSpPr>
            <p:cNvPr id="1219" name="Google Shape;1219;p69"/>
            <p:cNvSpPr txBox="1"/>
            <p:nvPr/>
          </p:nvSpPr>
          <p:spPr>
            <a:xfrm>
              <a:off x="5565837" y="2506850"/>
              <a:ext cx="331200" cy="17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0942A1"/>
                  </a:solidFill>
                  <a:latin typeface="Roboto"/>
                  <a:ea typeface="Roboto"/>
                  <a:cs typeface="Roboto"/>
                  <a:sym typeface="Roboto"/>
                </a:rPr>
                <a:t>W4</a:t>
              </a:r>
              <a:endParaRPr sz="700">
                <a:solidFill>
                  <a:srgbClr val="0942A1"/>
                </a:solidFill>
                <a:latin typeface="Roboto"/>
                <a:ea typeface="Roboto"/>
                <a:cs typeface="Roboto"/>
                <a:sym typeface="Roboto"/>
              </a:endParaRPr>
            </a:p>
          </p:txBody>
        </p:sp>
        <p:cxnSp>
          <p:nvCxnSpPr>
            <p:cNvPr id="1220" name="Google Shape;1220;p69"/>
            <p:cNvCxnSpPr/>
            <p:nvPr/>
          </p:nvCxnSpPr>
          <p:spPr>
            <a:xfrm rot="10800000">
              <a:off x="4489375" y="2507000"/>
              <a:ext cx="0" cy="1848300"/>
            </a:xfrm>
            <a:prstGeom prst="straightConnector1">
              <a:avLst/>
            </a:prstGeom>
            <a:noFill/>
            <a:ln w="9525" cap="flat" cmpd="sng">
              <a:solidFill>
                <a:srgbClr val="0942A1"/>
              </a:solidFill>
              <a:prstDash val="dot"/>
              <a:round/>
              <a:headEnd type="none" w="sm" len="sm"/>
              <a:tailEnd type="none" w="sm" len="sm"/>
            </a:ln>
          </p:spPr>
        </p:cxnSp>
        <p:cxnSp>
          <p:nvCxnSpPr>
            <p:cNvPr id="1221" name="Google Shape;1221;p69"/>
            <p:cNvCxnSpPr/>
            <p:nvPr/>
          </p:nvCxnSpPr>
          <p:spPr>
            <a:xfrm rot="10800000">
              <a:off x="5000087" y="2507000"/>
              <a:ext cx="0" cy="1848300"/>
            </a:xfrm>
            <a:prstGeom prst="straightConnector1">
              <a:avLst/>
            </a:prstGeom>
            <a:noFill/>
            <a:ln w="9525" cap="flat" cmpd="sng">
              <a:solidFill>
                <a:srgbClr val="0942A1"/>
              </a:solidFill>
              <a:prstDash val="dot"/>
              <a:round/>
              <a:headEnd type="none" w="sm" len="sm"/>
              <a:tailEnd type="none" w="sm" len="sm"/>
            </a:ln>
          </p:spPr>
        </p:cxnSp>
        <p:cxnSp>
          <p:nvCxnSpPr>
            <p:cNvPr id="1222" name="Google Shape;1222;p69"/>
            <p:cNvCxnSpPr/>
            <p:nvPr/>
          </p:nvCxnSpPr>
          <p:spPr>
            <a:xfrm rot="10800000">
              <a:off x="5510800" y="2507000"/>
              <a:ext cx="0" cy="1848300"/>
            </a:xfrm>
            <a:prstGeom prst="straightConnector1">
              <a:avLst/>
            </a:prstGeom>
            <a:noFill/>
            <a:ln w="9525" cap="flat" cmpd="sng">
              <a:solidFill>
                <a:srgbClr val="0942A1"/>
              </a:solidFill>
              <a:prstDash val="dot"/>
              <a:round/>
              <a:headEnd type="none" w="sm" len="sm"/>
              <a:tailEnd type="none" w="sm" len="sm"/>
            </a:ln>
          </p:spPr>
        </p:cxnSp>
      </p:grpSp>
      <p:sp>
        <p:nvSpPr>
          <p:cNvPr id="1223" name="Google Shape;1223;p69"/>
          <p:cNvSpPr/>
          <p:nvPr/>
        </p:nvSpPr>
        <p:spPr>
          <a:xfrm>
            <a:off x="2960826" y="2524775"/>
            <a:ext cx="962100" cy="207300"/>
          </a:xfrm>
          <a:prstGeom prst="rect">
            <a:avLst/>
          </a:prstGeom>
          <a:solidFill>
            <a:srgbClr val="2E7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Meeting external team </a:t>
            </a:r>
            <a:endParaRPr sz="700">
              <a:solidFill>
                <a:srgbClr val="FFFFFF"/>
              </a:solidFill>
              <a:latin typeface="Roboto"/>
              <a:ea typeface="Roboto"/>
              <a:cs typeface="Roboto"/>
              <a:sym typeface="Roboto"/>
            </a:endParaRPr>
          </a:p>
        </p:txBody>
      </p:sp>
      <p:sp>
        <p:nvSpPr>
          <p:cNvPr id="1224" name="Google Shape;1224;p69"/>
          <p:cNvSpPr/>
          <p:nvPr/>
        </p:nvSpPr>
        <p:spPr>
          <a:xfrm>
            <a:off x="3922929" y="2847988"/>
            <a:ext cx="962100" cy="207300"/>
          </a:xfrm>
          <a:prstGeom prst="rect">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Design </a:t>
            </a:r>
            <a:endParaRPr sz="700">
              <a:solidFill>
                <a:srgbClr val="FFFFFF"/>
              </a:solidFill>
              <a:latin typeface="Roboto"/>
              <a:ea typeface="Roboto"/>
              <a:cs typeface="Roboto"/>
              <a:sym typeface="Roboto"/>
            </a:endParaRPr>
          </a:p>
        </p:txBody>
      </p:sp>
      <p:sp>
        <p:nvSpPr>
          <p:cNvPr id="1225" name="Google Shape;1225;p69"/>
          <p:cNvSpPr/>
          <p:nvPr/>
        </p:nvSpPr>
        <p:spPr>
          <a:xfrm>
            <a:off x="3922925" y="3171213"/>
            <a:ext cx="962100" cy="207300"/>
          </a:xfrm>
          <a:prstGeom prst="rect">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Automation flow</a:t>
            </a:r>
            <a:endParaRPr sz="700">
              <a:solidFill>
                <a:srgbClr val="FFFFFF"/>
              </a:solidFill>
              <a:latin typeface="Roboto"/>
              <a:ea typeface="Roboto"/>
              <a:cs typeface="Roboto"/>
              <a:sym typeface="Roboto"/>
            </a:endParaRPr>
          </a:p>
        </p:txBody>
      </p:sp>
      <p:sp>
        <p:nvSpPr>
          <p:cNvPr id="1226" name="Google Shape;1226;p69"/>
          <p:cNvSpPr/>
          <p:nvPr/>
        </p:nvSpPr>
        <p:spPr>
          <a:xfrm>
            <a:off x="4890726" y="3821875"/>
            <a:ext cx="3887400" cy="2073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NIM Onboard Cityzone </a:t>
            </a:r>
            <a:endParaRPr sz="700">
              <a:solidFill>
                <a:srgbClr val="FFFFFF"/>
              </a:solidFill>
              <a:latin typeface="Roboto"/>
              <a:ea typeface="Roboto"/>
              <a:cs typeface="Roboto"/>
              <a:sym typeface="Roboto"/>
            </a:endParaRPr>
          </a:p>
        </p:txBody>
      </p:sp>
      <p:sp>
        <p:nvSpPr>
          <p:cNvPr id="1227" name="Google Shape;1227;p69"/>
          <p:cNvSpPr/>
          <p:nvPr/>
        </p:nvSpPr>
        <p:spPr>
          <a:xfrm>
            <a:off x="3922925" y="3494438"/>
            <a:ext cx="962100" cy="207300"/>
          </a:xfrm>
          <a:prstGeom prst="rect">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Script call active</a:t>
            </a:r>
            <a:endParaRPr sz="700">
              <a:solidFill>
                <a:srgbClr val="FFFFFF"/>
              </a:solidFill>
              <a:latin typeface="Roboto"/>
              <a:ea typeface="Roboto"/>
              <a:cs typeface="Roboto"/>
              <a:sym typeface="Roboto"/>
            </a:endParaRPr>
          </a:p>
        </p:txBody>
      </p:sp>
      <p:sp>
        <p:nvSpPr>
          <p:cNvPr id="1228" name="Google Shape;1228;p69"/>
          <p:cNvSpPr/>
          <p:nvPr/>
        </p:nvSpPr>
        <p:spPr>
          <a:xfrm>
            <a:off x="6837812" y="2848000"/>
            <a:ext cx="1940400" cy="2073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Review </a:t>
            </a:r>
            <a:endParaRPr sz="700">
              <a:solidFill>
                <a:srgbClr val="FFFFFF"/>
              </a:solidFill>
              <a:latin typeface="Roboto"/>
              <a:ea typeface="Roboto"/>
              <a:cs typeface="Roboto"/>
              <a:sym typeface="Roboto"/>
            </a:endParaRPr>
          </a:p>
        </p:txBody>
      </p:sp>
      <p:sp>
        <p:nvSpPr>
          <p:cNvPr id="1229" name="Google Shape;1229;p69"/>
          <p:cNvSpPr/>
          <p:nvPr/>
        </p:nvSpPr>
        <p:spPr>
          <a:xfrm>
            <a:off x="516675" y="1169425"/>
            <a:ext cx="486900" cy="120900"/>
          </a:xfrm>
          <a:prstGeom prst="rect">
            <a:avLst/>
          </a:prstGeom>
          <a:solidFill>
            <a:srgbClr val="0101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PIC</a:t>
            </a:r>
            <a:endParaRPr sz="700">
              <a:solidFill>
                <a:srgbClr val="FFFFFF"/>
              </a:solidFill>
              <a:latin typeface="Roboto"/>
              <a:ea typeface="Roboto"/>
              <a:cs typeface="Roboto"/>
              <a:sym typeface="Roboto"/>
            </a:endParaRPr>
          </a:p>
        </p:txBody>
      </p:sp>
      <p:cxnSp>
        <p:nvCxnSpPr>
          <p:cNvPr id="1230" name="Google Shape;1230;p69"/>
          <p:cNvCxnSpPr/>
          <p:nvPr/>
        </p:nvCxnSpPr>
        <p:spPr>
          <a:xfrm>
            <a:off x="521750" y="2193075"/>
            <a:ext cx="8264400" cy="0"/>
          </a:xfrm>
          <a:prstGeom prst="straightConnector1">
            <a:avLst/>
          </a:prstGeom>
          <a:noFill/>
          <a:ln w="9525" cap="flat" cmpd="sng">
            <a:solidFill>
              <a:schemeClr val="dk2"/>
            </a:solidFill>
            <a:prstDash val="dashDot"/>
            <a:round/>
            <a:headEnd type="none" w="med" len="med"/>
            <a:tailEnd type="none" w="med" len="med"/>
          </a:ln>
        </p:spPr>
      </p:cxnSp>
      <p:cxnSp>
        <p:nvCxnSpPr>
          <p:cNvPr id="1231" name="Google Shape;1231;p69"/>
          <p:cNvCxnSpPr/>
          <p:nvPr/>
        </p:nvCxnSpPr>
        <p:spPr>
          <a:xfrm rot="10800000">
            <a:off x="528050" y="3438800"/>
            <a:ext cx="8264400" cy="0"/>
          </a:xfrm>
          <a:prstGeom prst="straightConnector1">
            <a:avLst/>
          </a:prstGeom>
          <a:noFill/>
          <a:ln w="9525" cap="flat" cmpd="sng">
            <a:solidFill>
              <a:schemeClr val="dk2"/>
            </a:solidFill>
            <a:prstDash val="dashDot"/>
            <a:round/>
            <a:headEnd type="none" w="med" len="med"/>
            <a:tailEnd type="none" w="med" len="med"/>
          </a:ln>
        </p:spPr>
      </p:cxnSp>
      <p:sp>
        <p:nvSpPr>
          <p:cNvPr id="1232" name="Google Shape;1232;p69"/>
          <p:cNvSpPr txBox="1"/>
          <p:nvPr/>
        </p:nvSpPr>
        <p:spPr>
          <a:xfrm>
            <a:off x="496875" y="2629415"/>
            <a:ext cx="52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DM</a:t>
            </a:r>
            <a:endParaRPr/>
          </a:p>
        </p:txBody>
      </p:sp>
      <p:sp>
        <p:nvSpPr>
          <p:cNvPr id="1233" name="Google Shape;1233;p69"/>
          <p:cNvSpPr txBox="1"/>
          <p:nvPr/>
        </p:nvSpPr>
        <p:spPr>
          <a:xfrm>
            <a:off x="496875" y="3571640"/>
            <a:ext cx="52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GR</a:t>
            </a:r>
            <a:endParaRPr/>
          </a:p>
        </p:txBody>
      </p:sp>
      <p:sp>
        <p:nvSpPr>
          <p:cNvPr id="1234" name="Google Shape;1234;p69"/>
          <p:cNvSpPr/>
          <p:nvPr/>
        </p:nvSpPr>
        <p:spPr>
          <a:xfrm>
            <a:off x="3922925" y="3817663"/>
            <a:ext cx="962100" cy="207300"/>
          </a:xfrm>
          <a:prstGeom prst="rect">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FFFFFF"/>
                </a:solidFill>
                <a:latin typeface="Roboto"/>
                <a:ea typeface="Roboto"/>
                <a:cs typeface="Roboto"/>
                <a:sym typeface="Roboto"/>
              </a:rPr>
              <a:t>Setup onboard </a:t>
            </a:r>
            <a:endParaRPr sz="700">
              <a:solidFill>
                <a:srgbClr val="FFFFF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8"/>
        <p:cNvGrpSpPr/>
        <p:nvPr/>
      </p:nvGrpSpPr>
      <p:grpSpPr>
        <a:xfrm>
          <a:off x="0" y="0"/>
          <a:ext cx="0" cy="0"/>
          <a:chOff x="0" y="0"/>
          <a:chExt cx="0" cy="0"/>
        </a:xfrm>
      </p:grpSpPr>
      <p:pic>
        <p:nvPicPr>
          <p:cNvPr id="1239" name="Google Shape;1239;p70" descr="preencoded.png"/>
          <p:cNvPicPr preferRelativeResize="0"/>
          <p:nvPr/>
        </p:nvPicPr>
        <p:blipFill rotWithShape="1">
          <a:blip r:embed="rId3">
            <a:alphaModFix/>
          </a:blip>
          <a:srcRect/>
          <a:stretch/>
        </p:blipFill>
        <p:spPr>
          <a:xfrm>
            <a:off x="353635" y="118845"/>
            <a:ext cx="274320" cy="274320"/>
          </a:xfrm>
          <a:prstGeom prst="rect">
            <a:avLst/>
          </a:prstGeom>
          <a:noFill/>
          <a:ln>
            <a:noFill/>
          </a:ln>
        </p:spPr>
      </p:pic>
      <p:sp>
        <p:nvSpPr>
          <p:cNvPr id="1240" name="Google Shape;1240;p70"/>
          <p:cNvSpPr/>
          <p:nvPr/>
        </p:nvSpPr>
        <p:spPr>
          <a:xfrm>
            <a:off x="719395" y="456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Leader</a:t>
            </a:r>
            <a:endParaRPr sz="2200" b="1" i="0" u="none" strike="noStrike" cap="none">
              <a:solidFill>
                <a:srgbClr val="F56C1F"/>
              </a:solidFill>
              <a:latin typeface="Lexend"/>
              <a:ea typeface="Lexend"/>
              <a:cs typeface="Lexend"/>
              <a:sym typeface="Lexend"/>
            </a:endParaRPr>
          </a:p>
        </p:txBody>
      </p:sp>
      <p:sp>
        <p:nvSpPr>
          <p:cNvPr id="1241" name="Google Shape;1241;p7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7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243" name="Google Shape;1243;p70"/>
          <p:cNvSpPr/>
          <p:nvPr/>
        </p:nvSpPr>
        <p:spPr>
          <a:xfrm>
            <a:off x="25325" y="680500"/>
            <a:ext cx="4555500" cy="44112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1244" name="Google Shape;1244;p70"/>
          <p:cNvSpPr/>
          <p:nvPr/>
        </p:nvSpPr>
        <p:spPr>
          <a:xfrm>
            <a:off x="4692200" y="673100"/>
            <a:ext cx="4345800" cy="44184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1245" name="Google Shape;1245;p70"/>
          <p:cNvSpPr txBox="1"/>
          <p:nvPr/>
        </p:nvSpPr>
        <p:spPr>
          <a:xfrm>
            <a:off x="70313" y="375675"/>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HAN</a:t>
            </a:r>
            <a:endParaRPr sz="1200"/>
          </a:p>
        </p:txBody>
      </p:sp>
      <p:sp>
        <p:nvSpPr>
          <p:cNvPr id="1246" name="Google Shape;1246;p70"/>
          <p:cNvSpPr txBox="1"/>
          <p:nvPr/>
        </p:nvSpPr>
        <p:spPr>
          <a:xfrm>
            <a:off x="4692063" y="375675"/>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SGN</a:t>
            </a:r>
            <a:endParaRPr sz="1200"/>
          </a:p>
        </p:txBody>
      </p:sp>
      <p:sp>
        <p:nvSpPr>
          <p:cNvPr id="1247" name="Google Shape;1247;p70"/>
          <p:cNvSpPr txBox="1"/>
          <p:nvPr/>
        </p:nvSpPr>
        <p:spPr>
          <a:xfrm>
            <a:off x="43700" y="6330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Overview KPIs</a:t>
            </a:r>
            <a:endParaRPr sz="1100">
              <a:solidFill>
                <a:srgbClr val="0E4174"/>
              </a:solidFill>
              <a:latin typeface="Lexend"/>
              <a:ea typeface="Lexend"/>
              <a:cs typeface="Lexend"/>
              <a:sym typeface="Lexend"/>
            </a:endParaRPr>
          </a:p>
        </p:txBody>
      </p:sp>
      <p:sp>
        <p:nvSpPr>
          <p:cNvPr id="1248" name="Google Shape;1248;p70"/>
          <p:cNvSpPr txBox="1"/>
          <p:nvPr/>
        </p:nvSpPr>
        <p:spPr>
          <a:xfrm>
            <a:off x="4692200" y="619241"/>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Overview KPIs</a:t>
            </a:r>
            <a:endParaRPr sz="1100">
              <a:solidFill>
                <a:srgbClr val="0E4174"/>
              </a:solidFill>
              <a:latin typeface="Lexend"/>
              <a:ea typeface="Lexend"/>
              <a:cs typeface="Lexend"/>
              <a:sym typeface="Lexend"/>
            </a:endParaRPr>
          </a:p>
        </p:txBody>
      </p:sp>
      <p:sp>
        <p:nvSpPr>
          <p:cNvPr id="1249" name="Google Shape;1249;p70"/>
          <p:cNvSpPr txBox="1"/>
          <p:nvPr/>
        </p:nvSpPr>
        <p:spPr>
          <a:xfrm>
            <a:off x="4739825" y="3185825"/>
            <a:ext cx="4210200" cy="195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b="1">
                <a:solidFill>
                  <a:srgbClr val="FF6D01"/>
                </a:solidFill>
                <a:latin typeface="Lexend"/>
                <a:ea typeface="Lexend"/>
                <a:cs typeface="Lexend"/>
                <a:sym typeface="Lexend"/>
              </a:rPr>
              <a:t>HIGHLIGHT:</a:t>
            </a:r>
            <a:endParaRPr sz="800" b="1">
              <a:solidFill>
                <a:srgbClr val="FF6D01"/>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Checkin rate và Online rate đều tăng WoW, cụ thể checkin rate tăng 3.5% WoW, Online tăng nhẹ hơn, chỉ 1.43% WoW</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Active có dấu hiệu giảm mạnh 7/5% WoW, do ĐT thống nhất sẽ siết chất lượng để tìm ra nhóm TX hoạt động tốt và năng suất nhất trong đội và duy trì</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So sánh với các Zone khác thì Zone 2 chưa hoạt động tốt, cần remind ĐT cải thiện</a:t>
            </a: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NEXT ACTION:</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Maintain online rate, checkin rate, loại TX kém</a:t>
            </a: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DRIVER VOICE:</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Thắc mắc policy thưởng, gán đơn ngược hướng</a:t>
            </a:r>
            <a:endParaRPr sz="800">
              <a:latin typeface="Lexend"/>
              <a:ea typeface="Lexend"/>
              <a:cs typeface="Lexend"/>
              <a:sym typeface="Lexend"/>
            </a:endParaRPr>
          </a:p>
        </p:txBody>
      </p:sp>
      <p:graphicFrame>
        <p:nvGraphicFramePr>
          <p:cNvPr id="1250" name="Google Shape;1250;p70"/>
          <p:cNvGraphicFramePr/>
          <p:nvPr/>
        </p:nvGraphicFramePr>
        <p:xfrm>
          <a:off x="88513" y="901550"/>
          <a:ext cx="3000000" cy="3000000"/>
        </p:xfrm>
        <a:graphic>
          <a:graphicData uri="http://schemas.openxmlformats.org/drawingml/2006/table">
            <a:tbl>
              <a:tblPr>
                <a:noFill/>
                <a:tableStyleId>{1B6E03F7-A7B3-402D-A52F-665CEB5CA1F2}</a:tableStyleId>
              </a:tblPr>
              <a:tblGrid>
                <a:gridCol w="73342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gridCol w="447675">
                  <a:extLst>
                    <a:ext uri="{9D8B030D-6E8A-4147-A177-3AD203B41FA5}">
                      <a16:colId xmlns:a16="http://schemas.microsoft.com/office/drawing/2014/main" val="20008"/>
                    </a:ext>
                  </a:extLst>
                </a:gridCol>
              </a:tblGrid>
              <a:tr h="137100">
                <a:tc rowSpan="2">
                  <a:txBody>
                    <a:bodyPr/>
                    <a:lstStyle/>
                    <a:p>
                      <a:pPr marL="0" lvl="0" indent="0" algn="ctr" rtl="0">
                        <a:lnSpc>
                          <a:spcPct val="115000"/>
                        </a:lnSpc>
                        <a:spcBef>
                          <a:spcPts val="0"/>
                        </a:spcBef>
                        <a:spcAft>
                          <a:spcPts val="0"/>
                        </a:spcAft>
                        <a:buNone/>
                      </a:pPr>
                      <a:r>
                        <a:rPr lang="en" sz="1300" b="1">
                          <a:solidFill>
                            <a:srgbClr val="FF6D01"/>
                          </a:solidFill>
                          <a:latin typeface="Lexend"/>
                          <a:ea typeface="Lexend"/>
                          <a:cs typeface="Lexend"/>
                          <a:sym typeface="Lexend"/>
                        </a:rPr>
                        <a:t>Week</a:t>
                      </a:r>
                      <a:endParaRPr sz="13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gridSpan="4">
                  <a:txBody>
                    <a:bodyPr/>
                    <a:lstStyle/>
                    <a:p>
                      <a:pPr marL="0" lvl="0" indent="0" algn="ctr" rtl="0">
                        <a:lnSpc>
                          <a:spcPct val="115000"/>
                        </a:lnSpc>
                        <a:spcBef>
                          <a:spcPts val="0"/>
                        </a:spcBef>
                        <a:spcAft>
                          <a:spcPts val="0"/>
                        </a:spcAft>
                        <a:buNone/>
                      </a:pPr>
                      <a:r>
                        <a:rPr lang="en" sz="1000" b="1"/>
                        <a:t>Z2&amp;Z4</a:t>
                      </a:r>
                      <a:endParaRPr sz="1000" b="1"/>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hMerge="1">
                  <a:txBody>
                    <a:bodyPr/>
                    <a:lstStyle/>
                    <a:p>
                      <a:endParaRPr lang="en-VN"/>
                    </a:p>
                  </a:txBody>
                  <a:tcPr/>
                </a:tc>
                <a:tc hMerge="1">
                  <a:txBody>
                    <a:bodyPr/>
                    <a:lstStyle/>
                    <a:p>
                      <a:endParaRPr lang="en-VN"/>
                    </a:p>
                  </a:txBody>
                  <a:tcPr/>
                </a:tc>
                <a:tc hMerge="1">
                  <a:txBody>
                    <a:bodyPr/>
                    <a:lstStyle/>
                    <a:p>
                      <a:endParaRPr lang="en-VN"/>
                    </a:p>
                  </a:txBody>
                  <a:tcPr/>
                </a:tc>
                <a:tc gridSpan="4">
                  <a:txBody>
                    <a:bodyPr/>
                    <a:lstStyle/>
                    <a:p>
                      <a:pPr marL="0" lvl="0" indent="0" algn="ctr" rtl="0">
                        <a:lnSpc>
                          <a:spcPct val="115000"/>
                        </a:lnSpc>
                        <a:spcBef>
                          <a:spcPts val="0"/>
                        </a:spcBef>
                        <a:spcAft>
                          <a:spcPts val="0"/>
                        </a:spcAft>
                        <a:buNone/>
                      </a:pPr>
                      <a:r>
                        <a:rPr lang="en" sz="1000" b="1"/>
                        <a:t>Z136</a:t>
                      </a:r>
                      <a:endParaRPr sz="1000" b="1"/>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0"/>
                  </a:ext>
                </a:extLst>
              </a:tr>
              <a:tr h="285750">
                <a:tc vMerge="1">
                  <a:txBody>
                    <a:bodyPr/>
                    <a:lstStyle/>
                    <a:p>
                      <a:endParaRPr lang="en-VN"/>
                    </a:p>
                  </a:txBody>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Shift Hour</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Shift Hour</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CE5CD"/>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13/07/2026</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27</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36.22</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93.8%</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92.3%</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54</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33.79</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92.9%</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88.5%</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20/07/2026</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29</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38.74</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92.4%</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94.2%</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53</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33.24</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92.4%</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88.5%</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WoW</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2</a:t>
                      </a:r>
                      <a:endParaRPr sz="800" b="1">
                        <a:solidFill>
                          <a:srgbClr val="38761D"/>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2.53</a:t>
                      </a:r>
                      <a:endParaRPr sz="800" b="1">
                        <a:solidFill>
                          <a:srgbClr val="38761D"/>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-1.4%</a:t>
                      </a:r>
                      <a:endParaRPr sz="800" b="1">
                        <a:solidFill>
                          <a:srgbClr val="EA4335"/>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2.0%</a:t>
                      </a:r>
                      <a:endParaRPr sz="800" b="1">
                        <a:solidFill>
                          <a:srgbClr val="38761D"/>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-1</a:t>
                      </a:r>
                      <a:endParaRPr sz="800" b="1">
                        <a:solidFill>
                          <a:srgbClr val="EA4335"/>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-0.55</a:t>
                      </a:r>
                      <a:endParaRPr sz="800" b="1">
                        <a:solidFill>
                          <a:srgbClr val="EA4335"/>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-0.5%</a:t>
                      </a:r>
                      <a:endParaRPr sz="800" b="1">
                        <a:solidFill>
                          <a:srgbClr val="EA4335"/>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0.1%</a:t>
                      </a:r>
                      <a:endParaRPr sz="800" b="1">
                        <a:solidFill>
                          <a:srgbClr val="38761D"/>
                        </a:solidFill>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B7E1CD"/>
                    </a:solidFill>
                  </a:tcPr>
                </a:tc>
                <a:extLst>
                  <a:ext uri="{0D108BD9-81ED-4DB2-BD59-A6C34878D82A}">
                    <a16:rowId xmlns:a16="http://schemas.microsoft.com/office/drawing/2014/main" val="10004"/>
                  </a:ext>
                </a:extLst>
              </a:tr>
              <a:tr h="200025">
                <a:tc>
                  <a:txBody>
                    <a:bodyPr/>
                    <a:lstStyle/>
                    <a:p>
                      <a:pPr marL="0" marR="0" lvl="0" indent="0" algn="ctr" rtl="0">
                        <a:lnSpc>
                          <a:spcPct val="115000"/>
                        </a:lnSpc>
                        <a:spcBef>
                          <a:spcPts val="0"/>
                        </a:spcBef>
                        <a:spcAft>
                          <a:spcPts val="0"/>
                        </a:spcAft>
                        <a:buNone/>
                      </a:pPr>
                      <a:r>
                        <a:rPr lang="en" sz="800">
                          <a:latin typeface="Lexend"/>
                          <a:ea typeface="Lexend"/>
                          <a:cs typeface="Lexend"/>
                          <a:sym typeface="Lexend"/>
                        </a:rPr>
                        <a:t>Compared others</a:t>
                      </a:r>
                      <a:endParaRPr sz="800">
                        <a:latin typeface="Lexend"/>
                        <a:ea typeface="Lexend"/>
                        <a:cs typeface="Lexend"/>
                        <a:sym typeface="Lexend"/>
                      </a:endParaRPr>
                    </a:p>
                  </a:txBody>
                  <a:tcPr marL="91425" marR="9142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0.5%</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0.2%</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3.0%</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tc>
                  <a:txBody>
                    <a:bodyPr/>
                    <a:lstStyle/>
                    <a:p>
                      <a:pPr marL="0" lvl="0" indent="0" algn="l" rtl="0">
                        <a:spcBef>
                          <a:spcPts val="0"/>
                        </a:spcBef>
                        <a:spcAft>
                          <a:spcPts val="0"/>
                        </a:spcAft>
                        <a:buNone/>
                      </a:pPr>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125.7%</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14.2%</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4.5%</a:t>
                      </a:r>
                      <a:endParaRPr sz="800" b="1">
                        <a:solidFill>
                          <a:srgbClr val="FFFFFF"/>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28575" cap="flat" cmpd="sng">
                      <a:solidFill>
                        <a:srgbClr val="434343"/>
                      </a:solidFill>
                      <a:prstDash val="solid"/>
                      <a:round/>
                      <a:headEnd type="none" w="sm" len="sm"/>
                      <a:tailEnd type="none" w="sm" len="sm"/>
                    </a:lnB>
                    <a:solidFill>
                      <a:srgbClr val="6AA84F"/>
                    </a:solidFill>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KPIs Target</a:t>
                      </a:r>
                      <a:endParaRPr sz="800" b="1">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70</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130</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80</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130</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90%</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28575" cap="flat" cmpd="sng">
                      <a:solidFill>
                        <a:srgbClr val="434343"/>
                      </a:solidFill>
                      <a:prstDash val="solid"/>
                      <a:round/>
                      <a:headEnd type="none" w="sm" len="sm"/>
                      <a:tailEnd type="none" w="sm" len="sm"/>
                    </a:lnT>
                    <a:lnB w="715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285750">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Achieved KPIs MTD</a:t>
                      </a:r>
                      <a:endParaRPr sz="800" b="1">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58.6%</a:t>
                      </a:r>
                      <a:endParaRPr sz="800" b="1">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84.3%</a:t>
                      </a:r>
                      <a:endParaRPr sz="800" b="1">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99.0%</a:t>
                      </a:r>
                      <a:endParaRPr sz="800" b="1">
                        <a:solidFill>
                          <a:srgbClr val="38761D"/>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100.5%</a:t>
                      </a:r>
                      <a:endParaRPr sz="800" b="1">
                        <a:solidFill>
                          <a:srgbClr val="38761D"/>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86.3%</a:t>
                      </a:r>
                      <a:endParaRPr sz="800" b="1">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83.4%</a:t>
                      </a:r>
                      <a:endParaRPr sz="800" b="1">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96.7%</a:t>
                      </a:r>
                      <a:endParaRPr sz="800" b="1">
                        <a:solidFill>
                          <a:srgbClr val="38761D"/>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96.2%</a:t>
                      </a:r>
                      <a:endParaRPr sz="800" b="1">
                        <a:solidFill>
                          <a:srgbClr val="38761D"/>
                        </a:solidFill>
                        <a:latin typeface="Lexend"/>
                        <a:ea typeface="Lexend"/>
                        <a:cs typeface="Lexend"/>
                        <a:sym typeface="Lexend"/>
                      </a:endParaRPr>
                    </a:p>
                  </a:txBody>
                  <a:tcPr marL="28575" marR="28575" marT="19050" marB="19050" anchor="ctr">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r h="200025">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Total KPIs</a:t>
                      </a:r>
                      <a:endParaRPr sz="800" b="1">
                        <a:latin typeface="Lexend"/>
                        <a:ea typeface="Lexend"/>
                        <a:cs typeface="Lexend"/>
                        <a:sym typeface="Lexend"/>
                      </a:endParaRPr>
                    </a:p>
                  </a:txBody>
                  <a:tcPr marL="28575" marR="28575" marT="19050" marB="19050" anchor="b">
                    <a:lnL w="7150" cap="flat" cmpd="sng">
                      <a:solidFill>
                        <a:srgbClr val="FFFFFF"/>
                      </a:solidFill>
                      <a:prstDash val="solid"/>
                      <a:round/>
                      <a:headEnd type="none" w="sm" len="sm"/>
                      <a:tailEnd type="none" w="sm" len="sm"/>
                    </a:lnL>
                    <a:lnR w="7150" cap="flat" cmpd="sng">
                      <a:solidFill>
                        <a:srgbClr val="FFFFFF"/>
                      </a:solidFill>
                      <a:prstDash val="solid"/>
                      <a:round/>
                      <a:headEnd type="none" w="sm" len="sm"/>
                      <a:tailEnd type="none" w="sm" len="sm"/>
                    </a:lnR>
                    <a:lnT w="7150" cap="flat" cmpd="sng">
                      <a:solidFill>
                        <a:srgbClr val="FFFFFF"/>
                      </a:solidFill>
                      <a:prstDash val="solid"/>
                      <a:round/>
                      <a:headEnd type="none" w="sm" len="sm"/>
                      <a:tailEnd type="none" w="sm" len="sm"/>
                    </a:lnT>
                    <a:lnB w="7150" cap="flat" cmpd="sng">
                      <a:solidFill>
                        <a:srgbClr val="FFFFFF"/>
                      </a:solidFill>
                      <a:prstDash val="solid"/>
                      <a:round/>
                      <a:headEnd type="none" w="sm" len="sm"/>
                      <a:tailEnd type="none" w="sm" len="sm"/>
                    </a:lnB>
                  </a:tcPr>
                </a:tc>
                <a:tc gridSpan="4">
                  <a:txBody>
                    <a:bodyPr/>
                    <a:lstStyle/>
                    <a:p>
                      <a:pPr marL="0" lvl="0" indent="0" algn="ctr" rtl="0">
                        <a:lnSpc>
                          <a:spcPct val="115000"/>
                        </a:lnSpc>
                        <a:spcBef>
                          <a:spcPts val="0"/>
                        </a:spcBef>
                        <a:spcAft>
                          <a:spcPts val="0"/>
                        </a:spcAft>
                        <a:buNone/>
                      </a:pPr>
                      <a:r>
                        <a:rPr lang="en" sz="1000" b="1">
                          <a:solidFill>
                            <a:srgbClr val="CC0000"/>
                          </a:solidFill>
                        </a:rPr>
                        <a:t>80.7%</a:t>
                      </a:r>
                      <a:endParaRPr sz="1000" b="1">
                        <a:solidFill>
                          <a:srgbClr val="CC0000"/>
                        </a:solidFill>
                      </a:endParaRPr>
                    </a:p>
                  </a:txBody>
                  <a:tcPr marL="28575" marR="28575" marT="19050" marB="19050" anchor="b">
                    <a:lnL w="7150" cap="flat" cmpd="sng">
                      <a:solidFill>
                        <a:srgbClr val="FFFFFF"/>
                      </a:solidFill>
                      <a:prstDash val="solid"/>
                      <a:round/>
                      <a:headEnd type="none" w="sm" len="sm"/>
                      <a:tailEnd type="none" w="sm" len="sm"/>
                    </a:lnL>
                    <a:lnT w="7150" cap="flat" cmpd="sng">
                      <a:solidFill>
                        <a:srgbClr val="FFFFFF"/>
                      </a:solidFill>
                      <a:prstDash val="solid"/>
                      <a:round/>
                      <a:headEnd type="none" w="sm" len="sm"/>
                      <a:tailEnd type="none" w="sm" len="sm"/>
                    </a:lnT>
                    <a:solidFill>
                      <a:srgbClr val="FFFFFF"/>
                    </a:solidFill>
                  </a:tcPr>
                </a:tc>
                <a:tc hMerge="1">
                  <a:txBody>
                    <a:bodyPr/>
                    <a:lstStyle/>
                    <a:p>
                      <a:endParaRPr lang="en-VN"/>
                    </a:p>
                  </a:txBody>
                  <a:tcPr/>
                </a:tc>
                <a:tc hMerge="1">
                  <a:txBody>
                    <a:bodyPr/>
                    <a:lstStyle/>
                    <a:p>
                      <a:endParaRPr lang="en-VN"/>
                    </a:p>
                  </a:txBody>
                  <a:tcPr/>
                </a:tc>
                <a:tc hMerge="1">
                  <a:txBody>
                    <a:bodyPr/>
                    <a:lstStyle/>
                    <a:p>
                      <a:endParaRPr lang="en-VN"/>
                    </a:p>
                  </a:txBody>
                  <a:tcPr/>
                </a:tc>
                <a:tc gridSpan="4">
                  <a:txBody>
                    <a:bodyPr/>
                    <a:lstStyle/>
                    <a:p>
                      <a:pPr marL="0" lvl="0" indent="0" algn="ctr" rtl="0">
                        <a:lnSpc>
                          <a:spcPct val="115000"/>
                        </a:lnSpc>
                        <a:spcBef>
                          <a:spcPts val="0"/>
                        </a:spcBef>
                        <a:spcAft>
                          <a:spcPts val="0"/>
                        </a:spcAft>
                        <a:buNone/>
                      </a:pPr>
                      <a:r>
                        <a:rPr lang="en" sz="1000" b="1">
                          <a:solidFill>
                            <a:srgbClr val="CC0000"/>
                          </a:solidFill>
                        </a:rPr>
                        <a:t>84.5%</a:t>
                      </a:r>
                      <a:endParaRPr sz="1000" b="1">
                        <a:solidFill>
                          <a:srgbClr val="CC0000"/>
                        </a:solidFill>
                      </a:endParaRPr>
                    </a:p>
                  </a:txBody>
                  <a:tcPr marL="28575" marR="28575" marT="19050" marB="19050" anchor="b">
                    <a:lnT w="7150" cap="flat" cmpd="sng">
                      <a:solidFill>
                        <a:srgbClr val="FFFFFF"/>
                      </a:solidFill>
                      <a:prstDash val="solid"/>
                      <a:round/>
                      <a:headEnd type="none" w="sm" len="sm"/>
                      <a:tailEnd type="none" w="sm" len="sm"/>
                    </a:lnT>
                    <a:solidFill>
                      <a:srgbClr val="FFFFFF"/>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8"/>
                  </a:ext>
                </a:extLst>
              </a:tr>
            </a:tbl>
          </a:graphicData>
        </a:graphic>
      </p:graphicFrame>
      <p:sp>
        <p:nvSpPr>
          <p:cNvPr id="1251" name="Google Shape;1251;p70"/>
          <p:cNvSpPr txBox="1"/>
          <p:nvPr/>
        </p:nvSpPr>
        <p:spPr>
          <a:xfrm>
            <a:off x="4783950" y="3025264"/>
            <a:ext cx="2908200" cy="21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i="1">
                <a:solidFill>
                  <a:srgbClr val="595959"/>
                </a:solidFill>
                <a:latin typeface="Lexend"/>
                <a:ea typeface="Lexend"/>
                <a:cs typeface="Lexend"/>
                <a:sym typeface="Lexend"/>
              </a:rPr>
              <a:t>***Data KPIs tính từ 6/7/2026, sau thời gian re-design zone</a:t>
            </a:r>
            <a:endParaRPr sz="700" i="1">
              <a:solidFill>
                <a:srgbClr val="595959"/>
              </a:solidFill>
              <a:latin typeface="Lexend"/>
              <a:ea typeface="Lexend"/>
              <a:cs typeface="Lexend"/>
              <a:sym typeface="Lexend"/>
            </a:endParaRPr>
          </a:p>
        </p:txBody>
      </p:sp>
      <p:graphicFrame>
        <p:nvGraphicFramePr>
          <p:cNvPr id="1252" name="Google Shape;1252;p70"/>
          <p:cNvGraphicFramePr/>
          <p:nvPr/>
        </p:nvGraphicFramePr>
        <p:xfrm>
          <a:off x="4739850" y="901550"/>
          <a:ext cx="3000000" cy="3000000"/>
        </p:xfrm>
        <a:graphic>
          <a:graphicData uri="http://schemas.openxmlformats.org/drawingml/2006/table">
            <a:tbl>
              <a:tblPr>
                <a:noFill/>
                <a:tableStyleId>{1B6E03F7-A7B3-402D-A52F-665CEB5CA1F2}</a:tableStyleId>
              </a:tblPr>
              <a:tblGrid>
                <a:gridCol w="1047400">
                  <a:extLst>
                    <a:ext uri="{9D8B030D-6E8A-4147-A177-3AD203B41FA5}">
                      <a16:colId xmlns:a16="http://schemas.microsoft.com/office/drawing/2014/main" val="20000"/>
                    </a:ext>
                  </a:extLst>
                </a:gridCol>
                <a:gridCol w="799550">
                  <a:extLst>
                    <a:ext uri="{9D8B030D-6E8A-4147-A177-3AD203B41FA5}">
                      <a16:colId xmlns:a16="http://schemas.microsoft.com/office/drawing/2014/main" val="20001"/>
                    </a:ext>
                  </a:extLst>
                </a:gridCol>
                <a:gridCol w="799550">
                  <a:extLst>
                    <a:ext uri="{9D8B030D-6E8A-4147-A177-3AD203B41FA5}">
                      <a16:colId xmlns:a16="http://schemas.microsoft.com/office/drawing/2014/main" val="20002"/>
                    </a:ext>
                  </a:extLst>
                </a:gridCol>
                <a:gridCol w="799550">
                  <a:extLst>
                    <a:ext uri="{9D8B030D-6E8A-4147-A177-3AD203B41FA5}">
                      <a16:colId xmlns:a16="http://schemas.microsoft.com/office/drawing/2014/main" val="20003"/>
                    </a:ext>
                  </a:extLst>
                </a:gridCol>
                <a:gridCol w="799550">
                  <a:extLst>
                    <a:ext uri="{9D8B030D-6E8A-4147-A177-3AD203B41FA5}">
                      <a16:colId xmlns:a16="http://schemas.microsoft.com/office/drawing/2014/main" val="20004"/>
                    </a:ext>
                  </a:extLst>
                </a:gridCol>
              </a:tblGrid>
              <a:tr h="200025">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Week</a:t>
                      </a:r>
                      <a:endParaRPr sz="800" b="1">
                        <a:solidFill>
                          <a:srgbClr val="FF6D01"/>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Avg Shift Hour</a:t>
                      </a:r>
                      <a:endParaRPr sz="800" b="1">
                        <a:solidFill>
                          <a:srgbClr val="FF6D01"/>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07/06/2025</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30.56</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81.33%</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79</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83.93%</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07/13/2025</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29.92</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84.83%</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73</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85.36%</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07/20/2025</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29.53</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88.60%</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55</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86.96%</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WoW</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-2.08%</a:t>
                      </a:r>
                      <a:endParaRPr sz="8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4A853"/>
                          </a:solidFill>
                          <a:latin typeface="Lexend"/>
                          <a:ea typeface="Lexend"/>
                          <a:cs typeface="Lexend"/>
                          <a:sym typeface="Lexend"/>
                        </a:rPr>
                        <a:t>3.50%</a:t>
                      </a:r>
                      <a:endParaRPr sz="8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-7.59%</a:t>
                      </a:r>
                      <a:endParaRPr sz="8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4A853"/>
                          </a:solidFill>
                          <a:latin typeface="Lexend"/>
                          <a:ea typeface="Lexend"/>
                          <a:cs typeface="Lexend"/>
                          <a:sym typeface="Lexend"/>
                        </a:rPr>
                        <a:t>1.43%</a:t>
                      </a:r>
                      <a:endParaRPr sz="800" b="1">
                        <a:solidFill>
                          <a:srgbClr val="34A853"/>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B7E1CD"/>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Compared Others</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-6.41%</a:t>
                      </a:r>
                      <a:endParaRPr sz="8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-8.52%</a:t>
                      </a:r>
                      <a:endParaRPr sz="8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-2.75%</a:t>
                      </a:r>
                      <a:endParaRPr sz="800" b="1">
                        <a:solidFill>
                          <a:srgbClr val="EA4335"/>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extLst>
                  <a:ext uri="{0D108BD9-81ED-4DB2-BD59-A6C34878D82A}">
                    <a16:rowId xmlns:a16="http://schemas.microsoft.com/office/drawing/2014/main" val="10005"/>
                  </a:ext>
                </a:extLst>
              </a:tr>
            </a:tbl>
          </a:graphicData>
        </a:graphic>
      </p:graphicFrame>
      <p:graphicFrame>
        <p:nvGraphicFramePr>
          <p:cNvPr id="1253" name="Google Shape;1253;p70"/>
          <p:cNvGraphicFramePr/>
          <p:nvPr/>
        </p:nvGraphicFramePr>
        <p:xfrm>
          <a:off x="4760013" y="2303425"/>
          <a:ext cx="3000000" cy="3000000"/>
        </p:xfrm>
        <a:graphic>
          <a:graphicData uri="http://schemas.openxmlformats.org/drawingml/2006/table">
            <a:tbl>
              <a:tblPr>
                <a:noFill/>
                <a:tableStyleId>{1B6E03F7-A7B3-402D-A52F-665CEB5CA1F2}</a:tableStyleId>
              </a:tblPr>
              <a:tblGrid>
                <a:gridCol w="1023625">
                  <a:extLst>
                    <a:ext uri="{9D8B030D-6E8A-4147-A177-3AD203B41FA5}">
                      <a16:colId xmlns:a16="http://schemas.microsoft.com/office/drawing/2014/main" val="20000"/>
                    </a:ext>
                  </a:extLst>
                </a:gridCol>
                <a:gridCol w="807925">
                  <a:extLst>
                    <a:ext uri="{9D8B030D-6E8A-4147-A177-3AD203B41FA5}">
                      <a16:colId xmlns:a16="http://schemas.microsoft.com/office/drawing/2014/main" val="20001"/>
                    </a:ext>
                  </a:extLst>
                </a:gridCol>
                <a:gridCol w="792875">
                  <a:extLst>
                    <a:ext uri="{9D8B030D-6E8A-4147-A177-3AD203B41FA5}">
                      <a16:colId xmlns:a16="http://schemas.microsoft.com/office/drawing/2014/main" val="20002"/>
                    </a:ext>
                  </a:extLst>
                </a:gridCol>
                <a:gridCol w="792875">
                  <a:extLst>
                    <a:ext uri="{9D8B030D-6E8A-4147-A177-3AD203B41FA5}">
                      <a16:colId xmlns:a16="http://schemas.microsoft.com/office/drawing/2014/main" val="20003"/>
                    </a:ext>
                  </a:extLst>
                </a:gridCol>
                <a:gridCol w="792875">
                  <a:extLst>
                    <a:ext uri="{9D8B030D-6E8A-4147-A177-3AD203B41FA5}">
                      <a16:colId xmlns:a16="http://schemas.microsoft.com/office/drawing/2014/main" val="20004"/>
                    </a:ext>
                  </a:extLst>
                </a:gridCol>
              </a:tblGrid>
              <a:tr h="121075">
                <a:tc>
                  <a:txBody>
                    <a:bodyPr/>
                    <a:lstStyle/>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KPIs Target</a:t>
                      </a:r>
                      <a:endParaRPr sz="800" b="1">
                        <a:solidFill>
                          <a:srgbClr val="FF6F00"/>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F00"/>
                          </a:solidFill>
                          <a:latin typeface="Lexend"/>
                          <a:ea typeface="Lexend"/>
                          <a:cs typeface="Lexend"/>
                          <a:sym typeface="Lexend"/>
                        </a:rPr>
                        <a:t>130</a:t>
                      </a:r>
                      <a:endParaRPr sz="800" b="1">
                        <a:solidFill>
                          <a:srgbClr val="FF6F00"/>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F00"/>
                          </a:solidFill>
                          <a:latin typeface="Lexend"/>
                          <a:ea typeface="Lexend"/>
                          <a:cs typeface="Lexend"/>
                          <a:sym typeface="Lexend"/>
                        </a:rPr>
                        <a:t>90%</a:t>
                      </a:r>
                      <a:endParaRPr sz="800" b="1">
                        <a:solidFill>
                          <a:srgbClr val="FF6F00"/>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F00"/>
                          </a:solidFill>
                          <a:latin typeface="Lexend"/>
                          <a:ea typeface="Lexend"/>
                          <a:cs typeface="Lexend"/>
                          <a:sym typeface="Lexend"/>
                        </a:rPr>
                        <a:t>160</a:t>
                      </a:r>
                      <a:endParaRPr sz="800" b="1">
                        <a:solidFill>
                          <a:srgbClr val="FF6F00"/>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F00"/>
                          </a:solidFill>
                          <a:latin typeface="Lexend"/>
                          <a:ea typeface="Lexend"/>
                          <a:cs typeface="Lexend"/>
                          <a:sym typeface="Lexend"/>
                        </a:rPr>
                        <a:t>80%</a:t>
                      </a:r>
                      <a:endParaRPr sz="800" b="1">
                        <a:solidFill>
                          <a:srgbClr val="FF6F00"/>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185375">
                <a:tc>
                  <a:txBody>
                    <a:bodyPr/>
                    <a:lstStyle/>
                    <a:p>
                      <a:pPr marL="0" lvl="0" indent="0" algn="l" rtl="0">
                        <a:lnSpc>
                          <a:spcPct val="115000"/>
                        </a:lnSpc>
                        <a:spcBef>
                          <a:spcPts val="0"/>
                        </a:spcBef>
                        <a:spcAft>
                          <a:spcPts val="0"/>
                        </a:spcAft>
                        <a:buNone/>
                      </a:pPr>
                      <a:r>
                        <a:rPr lang="en" sz="800">
                          <a:latin typeface="Lexend"/>
                          <a:ea typeface="Lexend"/>
                          <a:cs typeface="Lexend"/>
                          <a:sym typeface="Lexend"/>
                        </a:rPr>
                        <a:t>Actual KPI</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62.81</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84.50%</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94</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85.13%</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85375">
                <a:tc>
                  <a:txBody>
                    <a:bodyPr/>
                    <a:lstStyle/>
                    <a:p>
                      <a:pPr marL="0" lvl="0" indent="0" algn="l" rtl="0">
                        <a:lnSpc>
                          <a:spcPct val="115000"/>
                        </a:lnSpc>
                        <a:spcBef>
                          <a:spcPts val="0"/>
                        </a:spcBef>
                        <a:spcAft>
                          <a:spcPts val="0"/>
                        </a:spcAft>
                        <a:buNone/>
                      </a:pPr>
                      <a:r>
                        <a:rPr lang="en" sz="800">
                          <a:latin typeface="Lexend"/>
                          <a:ea typeface="Lexend"/>
                          <a:cs typeface="Lexend"/>
                          <a:sym typeface="Lexend"/>
                        </a:rPr>
                        <a:t>KPIs MTD Achieved</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48.31%</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93.89%</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58.75%</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4A853"/>
                          </a:solidFill>
                          <a:latin typeface="Lexend"/>
                          <a:ea typeface="Lexend"/>
                          <a:cs typeface="Lexend"/>
                          <a:sym typeface="Lexend"/>
                        </a:rPr>
                        <a:t>106%</a:t>
                      </a:r>
                      <a:endParaRPr sz="800" b="1">
                        <a:solidFill>
                          <a:srgbClr val="34A853"/>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185375">
                <a:tc>
                  <a:txBody>
                    <a:bodyPr/>
                    <a:lstStyle/>
                    <a:p>
                      <a:pPr marL="0" lvl="0" indent="0" algn="l" rtl="0">
                        <a:lnSpc>
                          <a:spcPct val="115000"/>
                        </a:lnSpc>
                        <a:spcBef>
                          <a:spcPts val="0"/>
                        </a:spcBef>
                        <a:spcAft>
                          <a:spcPts val="0"/>
                        </a:spcAft>
                        <a:buNone/>
                      </a:pPr>
                      <a:r>
                        <a:rPr lang="en" sz="800">
                          <a:latin typeface="Lexend"/>
                          <a:ea typeface="Lexend"/>
                          <a:cs typeface="Lexend"/>
                          <a:sym typeface="Lexend"/>
                        </a:rPr>
                        <a:t>Total KPIs</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chemeClr val="lt2"/>
                    </a:solidFill>
                  </a:tcPr>
                </a:tc>
                <a:tc gridSpan="4">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76.84%</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chemeClr val="lt2"/>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3"/>
                  </a:ext>
                </a:extLst>
              </a:tr>
            </a:tbl>
          </a:graphicData>
        </a:graphic>
      </p:graphicFrame>
      <p:cxnSp>
        <p:nvCxnSpPr>
          <p:cNvPr id="1254" name="Google Shape;1254;p70"/>
          <p:cNvCxnSpPr/>
          <p:nvPr/>
        </p:nvCxnSpPr>
        <p:spPr>
          <a:xfrm>
            <a:off x="4715350" y="2262340"/>
            <a:ext cx="4313400" cy="0"/>
          </a:xfrm>
          <a:prstGeom prst="straightConnector1">
            <a:avLst/>
          </a:prstGeom>
          <a:noFill/>
          <a:ln w="9525" cap="flat" cmpd="sng">
            <a:solidFill>
              <a:schemeClr val="dk1"/>
            </a:solidFill>
            <a:prstDash val="dashDot"/>
            <a:round/>
            <a:headEnd type="none" w="med" len="med"/>
            <a:tailEnd type="none" w="med" len="med"/>
          </a:ln>
        </p:spPr>
      </p:cxnSp>
      <p:sp>
        <p:nvSpPr>
          <p:cNvPr id="1255" name="Google Shape;1255;p70"/>
          <p:cNvSpPr txBox="1"/>
          <p:nvPr/>
        </p:nvSpPr>
        <p:spPr>
          <a:xfrm>
            <a:off x="198000" y="3176475"/>
            <a:ext cx="4210200" cy="183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b="1">
                <a:solidFill>
                  <a:srgbClr val="FF6D01"/>
                </a:solidFill>
                <a:latin typeface="Lexend"/>
                <a:ea typeface="Lexend"/>
                <a:cs typeface="Lexend"/>
                <a:sym typeface="Lexend"/>
              </a:rPr>
              <a:t>HIGHLIGHT:</a:t>
            </a:r>
            <a:endParaRPr sz="800" b="1">
              <a:solidFill>
                <a:srgbClr val="FF6D01"/>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Z2&amp;4 tăng </a:t>
            </a:r>
            <a:r>
              <a:rPr lang="en" sz="800" b="1">
                <a:latin typeface="Lexend"/>
                <a:ea typeface="Lexend"/>
                <a:cs typeface="Lexend"/>
                <a:sym typeface="Lexend"/>
              </a:rPr>
              <a:t>2 active với 2/3  chỉ số được cải thiện WoW</a:t>
            </a:r>
            <a:r>
              <a:rPr lang="en" sz="800">
                <a:latin typeface="Lexend"/>
                <a:ea typeface="Lexend"/>
                <a:cs typeface="Lexend"/>
                <a:sym typeface="Lexend"/>
              </a:rPr>
              <a:t>. Perform chung vẫn đang tốt hơn các Minizone khác</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Z136 không có quá nhiều biến động về perform WoW. Perform chung vẫn đang tốt hơn các Medzone khác</a:t>
            </a:r>
            <a:br>
              <a:rPr lang="en" sz="800">
                <a:latin typeface="Lexend"/>
                <a:ea typeface="Lexend"/>
                <a:cs typeface="Lexend"/>
                <a:sym typeface="Lexend"/>
              </a:rPr>
            </a:b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NEXT ACTION:</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Maintain online rate, checkin rate, loại TX kém. Z136 cần cải thiện Shift_hour </a:t>
            </a:r>
            <a:br>
              <a:rPr lang="en" sz="800">
                <a:latin typeface="Lexend"/>
                <a:ea typeface="Lexend"/>
                <a:cs typeface="Lexend"/>
                <a:sym typeface="Lexend"/>
              </a:rPr>
            </a:b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DRIVER VOICE:</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Thắc mắc policy thưởng, gán đơn ngược hướng</a:t>
            </a:r>
            <a:endParaRPr sz="800">
              <a:latin typeface="Lexend"/>
              <a:ea typeface="Lexend"/>
              <a:cs typeface="Lexend"/>
              <a:sym typeface="Lexend"/>
            </a:endParaRPr>
          </a:p>
        </p:txBody>
      </p:sp>
      <p:sp>
        <p:nvSpPr>
          <p:cNvPr id="1256" name="Google Shape;1256;p70"/>
          <p:cNvSpPr txBox="1"/>
          <p:nvPr/>
        </p:nvSpPr>
        <p:spPr>
          <a:xfrm>
            <a:off x="135500" y="3025264"/>
            <a:ext cx="2908200" cy="21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i="1">
                <a:solidFill>
                  <a:srgbClr val="595959"/>
                </a:solidFill>
                <a:latin typeface="Lexend"/>
                <a:ea typeface="Lexend"/>
                <a:cs typeface="Lexend"/>
                <a:sym typeface="Lexend"/>
              </a:rPr>
              <a:t>***Data KPIs tính từ 25/06/2026. </a:t>
            </a:r>
            <a:endParaRPr sz="700" i="1">
              <a:solidFill>
                <a:srgbClr val="595959"/>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61"/>
        <p:cNvGrpSpPr/>
        <p:nvPr/>
      </p:nvGrpSpPr>
      <p:grpSpPr>
        <a:xfrm>
          <a:off x="0" y="0"/>
          <a:ext cx="0" cy="0"/>
          <a:chOff x="0" y="0"/>
          <a:chExt cx="0" cy="0"/>
        </a:xfrm>
      </p:grpSpPr>
      <p:sp>
        <p:nvSpPr>
          <p:cNvPr id="1262" name="Google Shape;1262;p71"/>
          <p:cNvSpPr/>
          <p:nvPr/>
        </p:nvSpPr>
        <p:spPr>
          <a:xfrm>
            <a:off x="-4270437" y="1065788"/>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263" name="Google Shape;1263;p71"/>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71"/>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NEW POLICY</a:t>
            </a:r>
            <a:endParaRPr sz="2200" b="1" i="0" u="none" strike="noStrike" cap="none">
              <a:solidFill>
                <a:srgbClr val="F56C1F"/>
              </a:solidFill>
              <a:highlight>
                <a:schemeClr val="lt1"/>
              </a:highlight>
              <a:latin typeface="Lexend"/>
              <a:ea typeface="Lexend"/>
              <a:cs typeface="Lexend"/>
              <a:sym typeface="Lexend"/>
            </a:endParaRPr>
          </a:p>
        </p:txBody>
      </p:sp>
      <p:sp>
        <p:nvSpPr>
          <p:cNvPr id="1265" name="Google Shape;1265;p71"/>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Khả năng đạt thưởng của tài xế với chính sách mới </a:t>
            </a:r>
            <a:endParaRPr sz="1000" i="1">
              <a:solidFill>
                <a:schemeClr val="accent3"/>
              </a:solidFill>
              <a:latin typeface="Lexend"/>
              <a:ea typeface="Lexend"/>
              <a:cs typeface="Lexend"/>
              <a:sym typeface="Lexend"/>
            </a:endParaRPr>
          </a:p>
        </p:txBody>
      </p:sp>
      <p:cxnSp>
        <p:nvCxnSpPr>
          <p:cNvPr id="1266" name="Google Shape;1266;p71"/>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267" name="Google Shape;1267;p71"/>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268" name="Google Shape;1268;p71"/>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1269;p71"/>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70" name="Google Shape;1270;p71"/>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271" name="Google Shape;1271;p71"/>
          <p:cNvSpPr txBox="1"/>
          <p:nvPr/>
        </p:nvSpPr>
        <p:spPr>
          <a:xfrm>
            <a:off x="-4188320" y="1306343"/>
            <a:ext cx="1104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OVERVIEW</a:t>
            </a:r>
            <a:endParaRPr sz="1100"/>
          </a:p>
        </p:txBody>
      </p:sp>
      <p:sp>
        <p:nvSpPr>
          <p:cNvPr id="1272" name="Google Shape;1272;p71"/>
          <p:cNvSpPr/>
          <p:nvPr/>
        </p:nvSpPr>
        <p:spPr>
          <a:xfrm>
            <a:off x="-4173337" y="1641250"/>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73" name="Google Shape;1273;p71"/>
          <p:cNvSpPr txBox="1"/>
          <p:nvPr/>
        </p:nvSpPr>
        <p:spPr>
          <a:xfrm>
            <a:off x="-4048321" y="1731618"/>
            <a:ext cx="673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ACTIVE (MTD)</a:t>
            </a:r>
            <a:endParaRPr sz="1100"/>
          </a:p>
        </p:txBody>
      </p:sp>
      <p:sp>
        <p:nvSpPr>
          <p:cNvPr id="1274" name="Google Shape;1274;p71"/>
          <p:cNvSpPr txBox="1"/>
          <p:nvPr/>
        </p:nvSpPr>
        <p:spPr>
          <a:xfrm>
            <a:off x="-4049322" y="1886995"/>
            <a:ext cx="7044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a:t>
            </a:r>
            <a:r>
              <a:rPr lang="en" sz="900" b="1">
                <a:solidFill>
                  <a:srgbClr val="0E4174"/>
                </a:solidFill>
                <a:latin typeface="Lexend"/>
                <a:ea typeface="Lexend"/>
                <a:cs typeface="Lexend"/>
                <a:sym typeface="Lexend"/>
              </a:rPr>
              <a:t>656</a:t>
            </a:r>
            <a:r>
              <a:rPr lang="en" sz="700" b="0" i="0" u="none" strike="noStrike" cap="none">
                <a:solidFill>
                  <a:srgbClr val="6B7280"/>
                </a:solidFill>
                <a:latin typeface="Lexend"/>
                <a:ea typeface="Lexend"/>
                <a:cs typeface="Lexend"/>
                <a:sym typeface="Lexend"/>
              </a:rPr>
              <a:t>/475</a:t>
            </a:r>
            <a:endParaRPr sz="1100"/>
          </a:p>
        </p:txBody>
      </p:sp>
      <p:sp>
        <p:nvSpPr>
          <p:cNvPr id="1275" name="Google Shape;1275;p71"/>
          <p:cNvSpPr txBox="1"/>
          <p:nvPr/>
        </p:nvSpPr>
        <p:spPr>
          <a:xfrm>
            <a:off x="-3248519" y="1911234"/>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135% </a:t>
            </a:r>
            <a:endParaRPr sz="1100"/>
          </a:p>
        </p:txBody>
      </p:sp>
      <p:sp>
        <p:nvSpPr>
          <p:cNvPr id="1276" name="Google Shape;1276;p71"/>
          <p:cNvSpPr txBox="1"/>
          <p:nvPr/>
        </p:nvSpPr>
        <p:spPr>
          <a:xfrm>
            <a:off x="-4049311" y="2058438"/>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a:t>
            </a:r>
            <a:r>
              <a:rPr lang="en" sz="900" b="1">
                <a:solidFill>
                  <a:srgbClr val="0E4174"/>
                </a:solidFill>
                <a:latin typeface="Lexend"/>
                <a:ea typeface="Lexend"/>
                <a:cs typeface="Lexend"/>
                <a:sym typeface="Lexend"/>
              </a:rPr>
              <a:t> 504</a:t>
            </a:r>
            <a:r>
              <a:rPr lang="en" sz="700" b="0" i="0" u="none" strike="noStrike" cap="none">
                <a:solidFill>
                  <a:srgbClr val="6B7280"/>
                </a:solidFill>
                <a:latin typeface="Lexend"/>
                <a:ea typeface="Lexend"/>
                <a:cs typeface="Lexend"/>
                <a:sym typeface="Lexend"/>
              </a:rPr>
              <a:t>/535</a:t>
            </a:r>
            <a:endParaRPr sz="1100"/>
          </a:p>
        </p:txBody>
      </p:sp>
      <p:sp>
        <p:nvSpPr>
          <p:cNvPr id="1277" name="Google Shape;1277;p71"/>
          <p:cNvSpPr txBox="1"/>
          <p:nvPr/>
        </p:nvSpPr>
        <p:spPr>
          <a:xfrm>
            <a:off x="-3248502" y="2082684"/>
            <a:ext cx="7908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EF4444"/>
                </a:solidFill>
                <a:latin typeface="Lexend"/>
                <a:ea typeface="Lexend"/>
                <a:cs typeface="Lexend"/>
                <a:sym typeface="Lexend"/>
              </a:rPr>
              <a:t>9</a:t>
            </a:r>
            <a:r>
              <a:rPr lang="en" sz="700" b="1">
                <a:solidFill>
                  <a:srgbClr val="EF4444"/>
                </a:solidFill>
                <a:latin typeface="Lexend"/>
                <a:ea typeface="Lexend"/>
                <a:cs typeface="Lexend"/>
                <a:sym typeface="Lexend"/>
              </a:rPr>
              <a:t>4</a:t>
            </a:r>
            <a:r>
              <a:rPr lang="en" sz="700" b="1" i="0" u="none" strike="noStrike" cap="none">
                <a:solidFill>
                  <a:srgbClr val="EF4444"/>
                </a:solidFill>
                <a:latin typeface="Lexend"/>
                <a:ea typeface="Lexend"/>
                <a:cs typeface="Lexend"/>
                <a:sym typeface="Lexend"/>
              </a:rPr>
              <a:t>% </a:t>
            </a:r>
            <a:endParaRPr sz="1100"/>
          </a:p>
        </p:txBody>
      </p:sp>
      <p:sp>
        <p:nvSpPr>
          <p:cNvPr id="1278" name="Google Shape;1278;p71"/>
          <p:cNvSpPr/>
          <p:nvPr/>
        </p:nvSpPr>
        <p:spPr>
          <a:xfrm>
            <a:off x="-2309112" y="1651963"/>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79" name="Google Shape;1279;p71"/>
          <p:cNvSpPr txBox="1"/>
          <p:nvPr/>
        </p:nvSpPr>
        <p:spPr>
          <a:xfrm>
            <a:off x="-2184096" y="1742331"/>
            <a:ext cx="790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RETENTION (T7)</a:t>
            </a:r>
            <a:endParaRPr sz="1100"/>
          </a:p>
        </p:txBody>
      </p:sp>
      <p:sp>
        <p:nvSpPr>
          <p:cNvPr id="1280" name="Google Shape;1280;p71"/>
          <p:cNvSpPr txBox="1"/>
          <p:nvPr/>
        </p:nvSpPr>
        <p:spPr>
          <a:xfrm>
            <a:off x="-2185085" y="1897713"/>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 79.</a:t>
            </a:r>
            <a:r>
              <a:rPr lang="en" sz="900" b="1">
                <a:solidFill>
                  <a:srgbClr val="0E4174"/>
                </a:solidFill>
                <a:latin typeface="Lexend"/>
                <a:ea typeface="Lexend"/>
                <a:cs typeface="Lexend"/>
                <a:sym typeface="Lexend"/>
              </a:rPr>
              <a:t>68</a:t>
            </a:r>
            <a:r>
              <a:rPr lang="en" sz="900" b="1" i="0" u="none" strike="noStrike" cap="none">
                <a:solidFill>
                  <a:srgbClr val="0E4174"/>
                </a:solidFill>
                <a:latin typeface="Lexend"/>
                <a:ea typeface="Lexend"/>
                <a:cs typeface="Lexend"/>
                <a:sym typeface="Lexend"/>
              </a:rPr>
              <a:t>%</a:t>
            </a:r>
            <a:endParaRPr sz="1100"/>
          </a:p>
        </p:txBody>
      </p:sp>
      <p:sp>
        <p:nvSpPr>
          <p:cNvPr id="1281" name="Google Shape;1281;p71"/>
          <p:cNvSpPr txBox="1"/>
          <p:nvPr/>
        </p:nvSpPr>
        <p:spPr>
          <a:xfrm>
            <a:off x="-1326846" y="1921996"/>
            <a:ext cx="452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 2% WoW</a:t>
            </a:r>
            <a:endParaRPr sz="1100"/>
          </a:p>
        </p:txBody>
      </p:sp>
      <p:sp>
        <p:nvSpPr>
          <p:cNvPr id="1282" name="Google Shape;1282;p71"/>
          <p:cNvSpPr txBox="1"/>
          <p:nvPr/>
        </p:nvSpPr>
        <p:spPr>
          <a:xfrm>
            <a:off x="-2185086" y="2069163"/>
            <a:ext cx="7611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78.43%</a:t>
            </a:r>
            <a:endParaRPr sz="1100"/>
          </a:p>
        </p:txBody>
      </p:sp>
      <p:sp>
        <p:nvSpPr>
          <p:cNvPr id="1283" name="Google Shape;1283;p71"/>
          <p:cNvSpPr txBox="1"/>
          <p:nvPr/>
        </p:nvSpPr>
        <p:spPr>
          <a:xfrm>
            <a:off x="-3929634" y="2539773"/>
            <a:ext cx="15654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374151"/>
                </a:solidFill>
                <a:latin typeface="Lexend"/>
                <a:ea typeface="Lexend"/>
                <a:cs typeface="Lexend"/>
                <a:sym typeface="Lexend"/>
              </a:rPr>
              <a:t>Convert tài xế chuyển đổi / tuần</a:t>
            </a:r>
            <a:endParaRPr sz="1100"/>
          </a:p>
        </p:txBody>
      </p:sp>
      <p:sp>
        <p:nvSpPr>
          <p:cNvPr id="1284" name="Google Shape;1284;p71"/>
          <p:cNvSpPr/>
          <p:nvPr/>
        </p:nvSpPr>
        <p:spPr>
          <a:xfrm>
            <a:off x="-1640062" y="2579956"/>
            <a:ext cx="114300" cy="7144"/>
          </a:xfrm>
          <a:custGeom>
            <a:avLst/>
            <a:gdLst/>
            <a:ahLst/>
            <a:cxnLst/>
            <a:rect l="l" t="t" r="r" b="b"/>
            <a:pathLst>
              <a:path w="152400" h="9525" extrusionOk="0">
                <a:moveTo>
                  <a:pt x="0" y="0"/>
                </a:moveTo>
                <a:lnTo>
                  <a:pt x="152400" y="0"/>
                </a:lnTo>
              </a:path>
            </a:pathLst>
          </a:custGeom>
          <a:noFill/>
          <a:ln w="17850" cap="flat" cmpd="sng">
            <a:solidFill>
              <a:srgbClr val="FF7F32"/>
            </a:solidFill>
            <a:prstDash val="solid"/>
            <a:round/>
            <a:headEnd type="none" w="sm" len="sm"/>
            <a:tailEnd type="none" w="sm" len="sm"/>
          </a:ln>
        </p:spPr>
      </p:sp>
      <p:sp>
        <p:nvSpPr>
          <p:cNvPr id="1285" name="Google Shape;1285;p71"/>
          <p:cNvSpPr txBox="1"/>
          <p:nvPr/>
        </p:nvSpPr>
        <p:spPr>
          <a:xfrm>
            <a:off x="-1486457" y="2541744"/>
            <a:ext cx="2286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SGN</a:t>
            </a:r>
            <a:endParaRPr sz="1100"/>
          </a:p>
        </p:txBody>
      </p:sp>
      <p:sp>
        <p:nvSpPr>
          <p:cNvPr id="1286" name="Google Shape;1286;p71"/>
          <p:cNvSpPr/>
          <p:nvPr/>
        </p:nvSpPr>
        <p:spPr>
          <a:xfrm>
            <a:off x="-1197150" y="2579956"/>
            <a:ext cx="114300" cy="7144"/>
          </a:xfrm>
          <a:custGeom>
            <a:avLst/>
            <a:gdLst/>
            <a:ahLst/>
            <a:cxnLst/>
            <a:rect l="l" t="t" r="r" b="b"/>
            <a:pathLst>
              <a:path w="152400" h="9525" extrusionOk="0">
                <a:moveTo>
                  <a:pt x="0" y="0"/>
                </a:moveTo>
                <a:lnTo>
                  <a:pt x="152400" y="0"/>
                </a:lnTo>
              </a:path>
            </a:pathLst>
          </a:custGeom>
          <a:noFill/>
          <a:ln w="17850" cap="flat" cmpd="sng">
            <a:solidFill>
              <a:srgbClr val="0E4174"/>
            </a:solidFill>
            <a:prstDash val="solid"/>
            <a:round/>
            <a:headEnd type="none" w="sm" len="sm"/>
            <a:tailEnd type="none" w="sm" len="sm"/>
          </a:ln>
        </p:spPr>
      </p:sp>
      <p:sp>
        <p:nvSpPr>
          <p:cNvPr id="1287" name="Google Shape;1287;p71"/>
          <p:cNvSpPr txBox="1"/>
          <p:nvPr/>
        </p:nvSpPr>
        <p:spPr>
          <a:xfrm>
            <a:off x="-1043542" y="2541744"/>
            <a:ext cx="2751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HAN</a:t>
            </a:r>
            <a:endParaRPr sz="1100"/>
          </a:p>
        </p:txBody>
      </p:sp>
      <p:sp>
        <p:nvSpPr>
          <p:cNvPr id="1288" name="Google Shape;1288;p71"/>
          <p:cNvSpPr/>
          <p:nvPr/>
        </p:nvSpPr>
        <p:spPr>
          <a:xfrm>
            <a:off x="-3840337" y="2687113"/>
            <a:ext cx="3071813" cy="7144"/>
          </a:xfrm>
          <a:custGeom>
            <a:avLst/>
            <a:gdLst/>
            <a:ahLst/>
            <a:cxnLst/>
            <a:rect l="l" t="t" r="r" b="b"/>
            <a:pathLst>
              <a:path w="4095750" h="9525" extrusionOk="0">
                <a:moveTo>
                  <a:pt x="0" y="0"/>
                </a:moveTo>
                <a:lnTo>
                  <a:pt x="4095750" y="0"/>
                </a:lnTo>
              </a:path>
            </a:pathLst>
          </a:custGeom>
          <a:noFill/>
          <a:ln w="7150" cap="flat" cmpd="sng">
            <a:solidFill>
              <a:srgbClr val="F0F3F7"/>
            </a:solidFill>
            <a:prstDash val="solid"/>
            <a:round/>
            <a:headEnd type="none" w="sm" len="sm"/>
            <a:tailEnd type="none" w="sm" len="sm"/>
          </a:ln>
        </p:spPr>
      </p:sp>
      <p:sp>
        <p:nvSpPr>
          <p:cNvPr id="1289" name="Google Shape;1289;p71"/>
          <p:cNvSpPr/>
          <p:nvPr/>
        </p:nvSpPr>
        <p:spPr>
          <a:xfrm>
            <a:off x="-3840337" y="3415775"/>
            <a:ext cx="3071813" cy="7144"/>
          </a:xfrm>
          <a:custGeom>
            <a:avLst/>
            <a:gdLst/>
            <a:ahLst/>
            <a:cxnLst/>
            <a:rect l="l" t="t" r="r" b="b"/>
            <a:pathLst>
              <a:path w="4095750" h="9525" extrusionOk="0">
                <a:moveTo>
                  <a:pt x="0" y="0"/>
                </a:moveTo>
                <a:lnTo>
                  <a:pt x="4095750" y="0"/>
                </a:lnTo>
              </a:path>
            </a:pathLst>
          </a:custGeom>
          <a:noFill/>
          <a:ln w="7150" cap="flat" cmpd="sng">
            <a:solidFill>
              <a:srgbClr val="E5E9EF"/>
            </a:solidFill>
            <a:prstDash val="solid"/>
            <a:round/>
            <a:headEnd type="none" w="sm" len="sm"/>
            <a:tailEnd type="none" w="sm" len="sm"/>
          </a:ln>
        </p:spPr>
      </p:sp>
      <p:sp>
        <p:nvSpPr>
          <p:cNvPr id="1290" name="Google Shape;1290;p71"/>
          <p:cNvSpPr/>
          <p:nvPr/>
        </p:nvSpPr>
        <p:spPr>
          <a:xfrm>
            <a:off x="-3840337" y="2716402"/>
            <a:ext cx="3071813" cy="349329"/>
          </a:xfrm>
          <a:custGeom>
            <a:avLst/>
            <a:gdLst/>
            <a:ahLst/>
            <a:cxnLst/>
            <a:rect l="l" t="t" r="r" b="b"/>
            <a:pathLst>
              <a:path w="4095750" h="465772" extrusionOk="0">
                <a:moveTo>
                  <a:pt x="0" y="77152"/>
                </a:moveTo>
                <a:lnTo>
                  <a:pt x="1023938" y="174307"/>
                </a:lnTo>
                <a:lnTo>
                  <a:pt x="2047875" y="0"/>
                </a:lnTo>
                <a:lnTo>
                  <a:pt x="3071812" y="136207"/>
                </a:lnTo>
                <a:lnTo>
                  <a:pt x="4095750" y="465772"/>
                </a:lnTo>
              </a:path>
            </a:pathLst>
          </a:custGeom>
          <a:noFill/>
          <a:ln w="17850" cap="rnd" cmpd="sng">
            <a:solidFill>
              <a:srgbClr val="FF7F32"/>
            </a:solidFill>
            <a:prstDash val="solid"/>
            <a:round/>
            <a:headEnd type="none" w="sm" len="sm"/>
            <a:tailEnd type="none" w="sm" len="sm"/>
          </a:ln>
        </p:spPr>
      </p:sp>
      <p:grpSp>
        <p:nvGrpSpPr>
          <p:cNvPr id="1291" name="Google Shape;1291;p71"/>
          <p:cNvGrpSpPr/>
          <p:nvPr/>
        </p:nvGrpSpPr>
        <p:grpSpPr>
          <a:xfrm>
            <a:off x="-3861769" y="2694971"/>
            <a:ext cx="3121819" cy="399335"/>
            <a:chOff x="1000125" y="3115628"/>
            <a:chExt cx="4162425" cy="532447"/>
          </a:xfrm>
        </p:grpSpPr>
        <p:sp>
          <p:nvSpPr>
            <p:cNvPr id="1292" name="Google Shape;1292;p71"/>
            <p:cNvSpPr/>
            <p:nvPr/>
          </p:nvSpPr>
          <p:spPr>
            <a:xfrm>
              <a:off x="1000125" y="3192780"/>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93" name="Google Shape;1293;p71"/>
            <p:cNvSpPr/>
            <p:nvPr/>
          </p:nvSpPr>
          <p:spPr>
            <a:xfrm>
              <a:off x="2024062" y="32899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94" name="Google Shape;1294;p71"/>
            <p:cNvSpPr/>
            <p:nvPr/>
          </p:nvSpPr>
          <p:spPr>
            <a:xfrm>
              <a:off x="3048000" y="3115628"/>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95" name="Google Shape;1295;p71"/>
            <p:cNvSpPr/>
            <p:nvPr/>
          </p:nvSpPr>
          <p:spPr>
            <a:xfrm>
              <a:off x="4071938" y="32518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96" name="Google Shape;1296;p71"/>
            <p:cNvSpPr/>
            <p:nvPr/>
          </p:nvSpPr>
          <p:spPr>
            <a:xfrm>
              <a:off x="5086350" y="3571875"/>
              <a:ext cx="76200" cy="762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297" name="Google Shape;1297;p71"/>
          <p:cNvSpPr txBox="1"/>
          <p:nvPr/>
        </p:nvSpPr>
        <p:spPr>
          <a:xfrm>
            <a:off x="-824573" y="2942859"/>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E0641A"/>
                </a:solidFill>
                <a:latin typeface="Lexend"/>
                <a:ea typeface="Lexend"/>
                <a:cs typeface="Lexend"/>
                <a:sym typeface="Lexend"/>
              </a:rPr>
              <a:t>34</a:t>
            </a:r>
            <a:endParaRPr sz="1100"/>
          </a:p>
        </p:txBody>
      </p:sp>
      <p:sp>
        <p:nvSpPr>
          <p:cNvPr id="1298" name="Google Shape;1298;p71"/>
          <p:cNvSpPr/>
          <p:nvPr/>
        </p:nvSpPr>
        <p:spPr>
          <a:xfrm>
            <a:off x="-3840337" y="2919999"/>
            <a:ext cx="3071813" cy="422910"/>
          </a:xfrm>
          <a:custGeom>
            <a:avLst/>
            <a:gdLst/>
            <a:ahLst/>
            <a:cxnLst/>
            <a:rect l="l" t="t" r="r" b="b"/>
            <a:pathLst>
              <a:path w="4095750" h="563880" extrusionOk="0">
                <a:moveTo>
                  <a:pt x="0" y="20002"/>
                </a:moveTo>
                <a:lnTo>
                  <a:pt x="1023938" y="0"/>
                </a:lnTo>
                <a:lnTo>
                  <a:pt x="2047875" y="117157"/>
                </a:lnTo>
                <a:lnTo>
                  <a:pt x="3071812" y="350520"/>
                </a:lnTo>
                <a:lnTo>
                  <a:pt x="4095750" y="563880"/>
                </a:lnTo>
              </a:path>
            </a:pathLst>
          </a:custGeom>
          <a:noFill/>
          <a:ln w="17850" cap="rnd" cmpd="sng">
            <a:solidFill>
              <a:srgbClr val="0E4174"/>
            </a:solidFill>
            <a:prstDash val="solid"/>
            <a:round/>
            <a:headEnd type="none" w="sm" len="sm"/>
            <a:tailEnd type="none" w="sm" len="sm"/>
          </a:ln>
        </p:spPr>
      </p:sp>
      <p:grpSp>
        <p:nvGrpSpPr>
          <p:cNvPr id="1299" name="Google Shape;1299;p71"/>
          <p:cNvGrpSpPr/>
          <p:nvPr/>
        </p:nvGrpSpPr>
        <p:grpSpPr>
          <a:xfrm>
            <a:off x="-3861769" y="2898568"/>
            <a:ext cx="3121819" cy="472916"/>
            <a:chOff x="1000125" y="3387090"/>
            <a:chExt cx="4162425" cy="630555"/>
          </a:xfrm>
        </p:grpSpPr>
        <p:sp>
          <p:nvSpPr>
            <p:cNvPr id="1300" name="Google Shape;1300;p71"/>
            <p:cNvSpPr/>
            <p:nvPr/>
          </p:nvSpPr>
          <p:spPr>
            <a:xfrm>
              <a:off x="1000125" y="3407092"/>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01" name="Google Shape;1301;p71"/>
            <p:cNvSpPr/>
            <p:nvPr/>
          </p:nvSpPr>
          <p:spPr>
            <a:xfrm>
              <a:off x="2024062" y="338709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02" name="Google Shape;1302;p71"/>
            <p:cNvSpPr/>
            <p:nvPr/>
          </p:nvSpPr>
          <p:spPr>
            <a:xfrm>
              <a:off x="3048000" y="3504248"/>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03" name="Google Shape;1303;p71"/>
            <p:cNvSpPr/>
            <p:nvPr/>
          </p:nvSpPr>
          <p:spPr>
            <a:xfrm>
              <a:off x="4071938" y="373761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04" name="Google Shape;1304;p71"/>
            <p:cNvSpPr/>
            <p:nvPr/>
          </p:nvSpPr>
          <p:spPr>
            <a:xfrm>
              <a:off x="5086350" y="3941445"/>
              <a:ext cx="76200" cy="762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305" name="Google Shape;1305;p71"/>
          <p:cNvSpPr txBox="1"/>
          <p:nvPr/>
        </p:nvSpPr>
        <p:spPr>
          <a:xfrm>
            <a:off x="-824573" y="3235753"/>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0E4174"/>
                </a:solidFill>
                <a:latin typeface="Lexend"/>
                <a:ea typeface="Lexend"/>
                <a:cs typeface="Lexend"/>
                <a:sym typeface="Lexend"/>
              </a:rPr>
              <a:t>15</a:t>
            </a:r>
            <a:endParaRPr sz="1100"/>
          </a:p>
        </p:txBody>
      </p:sp>
      <p:grpSp>
        <p:nvGrpSpPr>
          <p:cNvPr id="1306" name="Google Shape;1306;p71"/>
          <p:cNvGrpSpPr/>
          <p:nvPr/>
        </p:nvGrpSpPr>
        <p:grpSpPr>
          <a:xfrm>
            <a:off x="-3927205" y="3469353"/>
            <a:ext cx="3245513" cy="92250"/>
            <a:chOff x="912876" y="4148138"/>
            <a:chExt cx="4327350" cy="123000"/>
          </a:xfrm>
        </p:grpSpPr>
        <p:sp>
          <p:nvSpPr>
            <p:cNvPr id="1307" name="Google Shape;1307;p71"/>
            <p:cNvSpPr txBox="1"/>
            <p:nvPr/>
          </p:nvSpPr>
          <p:spPr>
            <a:xfrm>
              <a:off x="91287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22/6</a:t>
              </a:r>
              <a:endParaRPr sz="1100"/>
            </a:p>
          </p:txBody>
        </p:sp>
        <p:sp>
          <p:nvSpPr>
            <p:cNvPr id="1308" name="Google Shape;1308;p71"/>
            <p:cNvSpPr txBox="1"/>
            <p:nvPr/>
          </p:nvSpPr>
          <p:spPr>
            <a:xfrm>
              <a:off x="1936814"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29/6</a:t>
              </a:r>
              <a:endParaRPr sz="1100"/>
            </a:p>
          </p:txBody>
        </p:sp>
        <p:sp>
          <p:nvSpPr>
            <p:cNvPr id="1309" name="Google Shape;1309;p71"/>
            <p:cNvSpPr txBox="1"/>
            <p:nvPr/>
          </p:nvSpPr>
          <p:spPr>
            <a:xfrm>
              <a:off x="2988516" y="4148138"/>
              <a:ext cx="1761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6/7</a:t>
              </a:r>
              <a:endParaRPr sz="1100"/>
            </a:p>
          </p:txBody>
        </p:sp>
        <p:sp>
          <p:nvSpPr>
            <p:cNvPr id="1310" name="Google Shape;1310;p71"/>
            <p:cNvSpPr txBox="1"/>
            <p:nvPr/>
          </p:nvSpPr>
          <p:spPr>
            <a:xfrm>
              <a:off x="3984688"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13/7</a:t>
              </a:r>
              <a:endParaRPr sz="1100"/>
            </a:p>
          </p:txBody>
        </p:sp>
        <p:sp>
          <p:nvSpPr>
            <p:cNvPr id="1311" name="Google Shape;1311;p71"/>
            <p:cNvSpPr txBox="1"/>
            <p:nvPr/>
          </p:nvSpPr>
          <p:spPr>
            <a:xfrm>
              <a:off x="500862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20/7</a:t>
              </a:r>
              <a:endParaRPr sz="1100"/>
            </a:p>
          </p:txBody>
        </p:sp>
      </p:grpSp>
      <p:sp>
        <p:nvSpPr>
          <p:cNvPr id="1312" name="Google Shape;1312;p71"/>
          <p:cNvSpPr/>
          <p:nvPr/>
        </p:nvSpPr>
        <p:spPr>
          <a:xfrm>
            <a:off x="-4040362" y="3722876"/>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13" name="Google Shape;1313;p71"/>
          <p:cNvSpPr/>
          <p:nvPr/>
        </p:nvSpPr>
        <p:spPr>
          <a:xfrm>
            <a:off x="-3918919" y="3881483"/>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14" name="Google Shape;1314;p71"/>
          <p:cNvSpPr txBox="1"/>
          <p:nvPr/>
        </p:nvSpPr>
        <p:spPr>
          <a:xfrm>
            <a:off x="-3772471" y="3818424"/>
            <a:ext cx="26901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B4531A"/>
                </a:solidFill>
                <a:latin typeface="Lexend"/>
                <a:ea typeface="Lexend"/>
                <a:cs typeface="Lexend"/>
                <a:sym typeface="Lexend"/>
              </a:rPr>
              <a:t>Cả 2 TP giảm mạnh convert;</a:t>
            </a:r>
            <a:r>
              <a:rPr lang="en" sz="700" b="0" i="0" u="none" strike="noStrike" cap="none">
                <a:solidFill>
                  <a:srgbClr val="B4531A"/>
                </a:solidFill>
                <a:latin typeface="Lexend"/>
                <a:ea typeface="Lexend"/>
                <a:cs typeface="Lexend"/>
                <a:sym typeface="Lexend"/>
              </a:rPr>
              <a:t> lead Aizen đóng cứng 3 tuần —</a:t>
            </a:r>
            <a:endParaRPr sz="1100"/>
          </a:p>
        </p:txBody>
      </p:sp>
      <p:sp>
        <p:nvSpPr>
          <p:cNvPr id="1315" name="Google Shape;1315;p71"/>
          <p:cNvSpPr txBox="1"/>
          <p:nvPr/>
        </p:nvSpPr>
        <p:spPr>
          <a:xfrm>
            <a:off x="-3772471" y="3947011"/>
            <a:ext cx="18579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B4531A"/>
                </a:solidFill>
                <a:latin typeface="Lexend"/>
                <a:ea typeface="Lexend"/>
                <a:cs typeface="Lexend"/>
                <a:sym typeface="Lexend"/>
              </a:rPr>
              <a:t>0 tài xế mới dùng gói thuê / thuê sở hữu.</a:t>
            </a:r>
            <a:endParaRPr sz="1100"/>
          </a:p>
        </p:txBody>
      </p:sp>
      <p:sp>
        <p:nvSpPr>
          <p:cNvPr id="1316" name="Google Shape;1316;p71"/>
          <p:cNvSpPr/>
          <p:nvPr/>
        </p:nvSpPr>
        <p:spPr>
          <a:xfrm>
            <a:off x="6749450" y="1237000"/>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17" name="Google Shape;1317;p71"/>
          <p:cNvSpPr/>
          <p:nvPr/>
        </p:nvSpPr>
        <p:spPr>
          <a:xfrm>
            <a:off x="6870894" y="1329869"/>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18" name="Google Shape;1318;p71"/>
          <p:cNvSpPr txBox="1"/>
          <p:nvPr/>
        </p:nvSpPr>
        <p:spPr>
          <a:xfrm>
            <a:off x="6929151" y="1373446"/>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1</a:t>
            </a:r>
            <a:endParaRPr sz="1100"/>
          </a:p>
        </p:txBody>
      </p:sp>
      <p:sp>
        <p:nvSpPr>
          <p:cNvPr id="1319" name="Google Shape;1319;p71"/>
          <p:cNvSpPr txBox="1"/>
          <p:nvPr/>
        </p:nvSpPr>
        <p:spPr>
          <a:xfrm>
            <a:off x="7131498" y="1386662"/>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374151"/>
                </a:solidFill>
                <a:latin typeface="Lexend"/>
                <a:ea typeface="Lexend"/>
                <a:cs typeface="Lexend"/>
                <a:sym typeface="Lexend"/>
              </a:rPr>
              <a:t>Churn analysis EV</a:t>
            </a:r>
            <a:endParaRPr sz="1100"/>
          </a:p>
        </p:txBody>
      </p:sp>
      <p:sp>
        <p:nvSpPr>
          <p:cNvPr id="1320" name="Google Shape;1320;p71"/>
          <p:cNvSpPr/>
          <p:nvPr/>
        </p:nvSpPr>
        <p:spPr>
          <a:xfrm>
            <a:off x="6749450" y="1933500"/>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21" name="Google Shape;1321;p71"/>
          <p:cNvSpPr/>
          <p:nvPr/>
        </p:nvSpPr>
        <p:spPr>
          <a:xfrm>
            <a:off x="6870894" y="2026369"/>
            <a:ext cx="186000" cy="1860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22" name="Google Shape;1322;p71"/>
          <p:cNvSpPr txBox="1"/>
          <p:nvPr/>
        </p:nvSpPr>
        <p:spPr>
          <a:xfrm>
            <a:off x="6929151" y="2069946"/>
            <a:ext cx="693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FFFFFF"/>
                </a:solidFill>
                <a:latin typeface="Lexend"/>
                <a:ea typeface="Lexend"/>
                <a:cs typeface="Lexend"/>
                <a:sym typeface="Lexend"/>
              </a:rPr>
              <a:t>2</a:t>
            </a:r>
            <a:endParaRPr sz="1100"/>
          </a:p>
        </p:txBody>
      </p:sp>
      <p:sp>
        <p:nvSpPr>
          <p:cNvPr id="1323" name="Google Shape;1323;p71"/>
          <p:cNvSpPr txBox="1"/>
          <p:nvPr/>
        </p:nvSpPr>
        <p:spPr>
          <a:xfrm>
            <a:off x="7131498" y="2018868"/>
            <a:ext cx="10671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Chốt chính sách thưởng giai đoạn tháng 8</a:t>
            </a:r>
            <a:endParaRPr sz="1100"/>
          </a:p>
        </p:txBody>
      </p:sp>
      <p:sp>
        <p:nvSpPr>
          <p:cNvPr id="1324" name="Google Shape;1324;p71"/>
          <p:cNvSpPr/>
          <p:nvPr/>
        </p:nvSpPr>
        <p:spPr>
          <a:xfrm>
            <a:off x="6749450" y="2630000"/>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25" name="Google Shape;1325;p71"/>
          <p:cNvSpPr/>
          <p:nvPr/>
        </p:nvSpPr>
        <p:spPr>
          <a:xfrm>
            <a:off x="6870894" y="2722869"/>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26" name="Google Shape;1326;p71"/>
          <p:cNvSpPr txBox="1"/>
          <p:nvPr/>
        </p:nvSpPr>
        <p:spPr>
          <a:xfrm>
            <a:off x="6929151" y="2766446"/>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3</a:t>
            </a:r>
            <a:endParaRPr sz="1100"/>
          </a:p>
        </p:txBody>
      </p:sp>
      <p:sp>
        <p:nvSpPr>
          <p:cNvPr id="1327" name="Google Shape;1327;p71"/>
          <p:cNvSpPr txBox="1"/>
          <p:nvPr/>
        </p:nvSpPr>
        <p:spPr>
          <a:xfrm>
            <a:off x="7131498" y="2715368"/>
            <a:ext cx="12489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Quy hoạch lại luồng convert lead xử lý end-to-end</a:t>
            </a:r>
            <a:endParaRPr sz="1100"/>
          </a:p>
        </p:txBody>
      </p:sp>
      <p:sp>
        <p:nvSpPr>
          <p:cNvPr id="1328" name="Google Shape;1328;p71"/>
          <p:cNvSpPr/>
          <p:nvPr/>
        </p:nvSpPr>
        <p:spPr>
          <a:xfrm>
            <a:off x="6743700" y="1048106"/>
            <a:ext cx="42900" cy="157200"/>
          </a:xfrm>
          <a:prstGeom prst="roundRect">
            <a:avLst>
              <a:gd name="adj" fmla="val 50000"/>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29" name="Google Shape;1329;p71"/>
          <p:cNvSpPr txBox="1"/>
          <p:nvPr/>
        </p:nvSpPr>
        <p:spPr>
          <a:xfrm>
            <a:off x="6838784" y="1067069"/>
            <a:ext cx="6876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6B7280"/>
                </a:solidFill>
                <a:latin typeface="Lexend"/>
                <a:ea typeface="Lexend"/>
                <a:cs typeface="Lexend"/>
                <a:sym typeface="Lexend"/>
              </a:rPr>
              <a:t>NEXT</a:t>
            </a:r>
            <a:endParaRPr sz="1100"/>
          </a:p>
        </p:txBody>
      </p:sp>
      <p:sp>
        <p:nvSpPr>
          <p:cNvPr id="1330" name="Google Shape;1330;p71"/>
          <p:cNvSpPr txBox="1"/>
          <p:nvPr/>
        </p:nvSpPr>
        <p:spPr>
          <a:xfrm>
            <a:off x="600225" y="1150850"/>
            <a:ext cx="130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Tổng thưởng </a:t>
            </a:r>
            <a:endParaRPr/>
          </a:p>
        </p:txBody>
      </p:sp>
      <p:sp>
        <p:nvSpPr>
          <p:cNvPr id="1331" name="Google Shape;1331;p71"/>
          <p:cNvSpPr txBox="1"/>
          <p:nvPr/>
        </p:nvSpPr>
        <p:spPr>
          <a:xfrm>
            <a:off x="659750" y="2036325"/>
            <a:ext cx="1302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Khả năng đạt thưởng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36"/>
        <p:cNvGrpSpPr/>
        <p:nvPr/>
      </p:nvGrpSpPr>
      <p:grpSpPr>
        <a:xfrm>
          <a:off x="0" y="0"/>
          <a:ext cx="0" cy="0"/>
          <a:chOff x="0" y="0"/>
          <a:chExt cx="0" cy="0"/>
        </a:xfrm>
      </p:grpSpPr>
      <p:sp>
        <p:nvSpPr>
          <p:cNvPr id="1337" name="Google Shape;1337;p72"/>
          <p:cNvSpPr/>
          <p:nvPr/>
        </p:nvSpPr>
        <p:spPr>
          <a:xfrm>
            <a:off x="-4270437" y="1065788"/>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338" name="Google Shape;1338;p7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2"/>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340" name="Google Shape;1340;p72"/>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Review lại tình hình cityzone theo 1 tuần triển khai </a:t>
            </a:r>
            <a:endParaRPr sz="1000" i="1">
              <a:solidFill>
                <a:schemeClr val="accent3"/>
              </a:solidFill>
              <a:latin typeface="Lexend"/>
              <a:ea typeface="Lexend"/>
              <a:cs typeface="Lexend"/>
              <a:sym typeface="Lexend"/>
            </a:endParaRPr>
          </a:p>
        </p:txBody>
      </p:sp>
      <p:cxnSp>
        <p:nvCxnSpPr>
          <p:cNvPr id="1341" name="Google Shape;1341;p7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342" name="Google Shape;1342;p7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343" name="Google Shape;1343;p72"/>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4" name="Google Shape;1344;p72"/>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45" name="Google Shape;1345;p72"/>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346" name="Google Shape;1346;p72"/>
          <p:cNvSpPr txBox="1"/>
          <p:nvPr/>
        </p:nvSpPr>
        <p:spPr>
          <a:xfrm>
            <a:off x="-4188320" y="1306343"/>
            <a:ext cx="1104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OVERVIEW</a:t>
            </a:r>
            <a:endParaRPr sz="1100"/>
          </a:p>
        </p:txBody>
      </p:sp>
      <p:sp>
        <p:nvSpPr>
          <p:cNvPr id="1347" name="Google Shape;1347;p72"/>
          <p:cNvSpPr/>
          <p:nvPr/>
        </p:nvSpPr>
        <p:spPr>
          <a:xfrm>
            <a:off x="-4173337" y="1641250"/>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48" name="Google Shape;1348;p72"/>
          <p:cNvSpPr txBox="1"/>
          <p:nvPr/>
        </p:nvSpPr>
        <p:spPr>
          <a:xfrm>
            <a:off x="-4048321" y="1731618"/>
            <a:ext cx="673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ACTIVE (MTD)</a:t>
            </a:r>
            <a:endParaRPr sz="1100"/>
          </a:p>
        </p:txBody>
      </p:sp>
      <p:sp>
        <p:nvSpPr>
          <p:cNvPr id="1349" name="Google Shape;1349;p72"/>
          <p:cNvSpPr txBox="1"/>
          <p:nvPr/>
        </p:nvSpPr>
        <p:spPr>
          <a:xfrm>
            <a:off x="-4049322" y="1886995"/>
            <a:ext cx="7044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a:t>
            </a:r>
            <a:r>
              <a:rPr lang="en" sz="900" b="1">
                <a:solidFill>
                  <a:srgbClr val="0E4174"/>
                </a:solidFill>
                <a:latin typeface="Lexend"/>
                <a:ea typeface="Lexend"/>
                <a:cs typeface="Lexend"/>
                <a:sym typeface="Lexend"/>
              </a:rPr>
              <a:t>656</a:t>
            </a:r>
            <a:r>
              <a:rPr lang="en" sz="700" b="0" i="0" u="none" strike="noStrike" cap="none">
                <a:solidFill>
                  <a:srgbClr val="6B7280"/>
                </a:solidFill>
                <a:latin typeface="Lexend"/>
                <a:ea typeface="Lexend"/>
                <a:cs typeface="Lexend"/>
                <a:sym typeface="Lexend"/>
              </a:rPr>
              <a:t>/475</a:t>
            </a:r>
            <a:endParaRPr sz="1100"/>
          </a:p>
        </p:txBody>
      </p:sp>
      <p:sp>
        <p:nvSpPr>
          <p:cNvPr id="1350" name="Google Shape;1350;p72"/>
          <p:cNvSpPr txBox="1"/>
          <p:nvPr/>
        </p:nvSpPr>
        <p:spPr>
          <a:xfrm>
            <a:off x="-3248519" y="1911234"/>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135% </a:t>
            </a:r>
            <a:endParaRPr sz="1100"/>
          </a:p>
        </p:txBody>
      </p:sp>
      <p:sp>
        <p:nvSpPr>
          <p:cNvPr id="1351" name="Google Shape;1351;p72"/>
          <p:cNvSpPr txBox="1"/>
          <p:nvPr/>
        </p:nvSpPr>
        <p:spPr>
          <a:xfrm>
            <a:off x="-4049311" y="2058438"/>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a:t>
            </a:r>
            <a:r>
              <a:rPr lang="en" sz="900" b="1">
                <a:solidFill>
                  <a:srgbClr val="0E4174"/>
                </a:solidFill>
                <a:latin typeface="Lexend"/>
                <a:ea typeface="Lexend"/>
                <a:cs typeface="Lexend"/>
                <a:sym typeface="Lexend"/>
              </a:rPr>
              <a:t> 504</a:t>
            </a:r>
            <a:r>
              <a:rPr lang="en" sz="700" b="0" i="0" u="none" strike="noStrike" cap="none">
                <a:solidFill>
                  <a:srgbClr val="6B7280"/>
                </a:solidFill>
                <a:latin typeface="Lexend"/>
                <a:ea typeface="Lexend"/>
                <a:cs typeface="Lexend"/>
                <a:sym typeface="Lexend"/>
              </a:rPr>
              <a:t>/535</a:t>
            </a:r>
            <a:endParaRPr sz="1100"/>
          </a:p>
        </p:txBody>
      </p:sp>
      <p:sp>
        <p:nvSpPr>
          <p:cNvPr id="1352" name="Google Shape;1352;p72"/>
          <p:cNvSpPr txBox="1"/>
          <p:nvPr/>
        </p:nvSpPr>
        <p:spPr>
          <a:xfrm>
            <a:off x="-3248502" y="2082684"/>
            <a:ext cx="7908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EF4444"/>
                </a:solidFill>
                <a:latin typeface="Lexend"/>
                <a:ea typeface="Lexend"/>
                <a:cs typeface="Lexend"/>
                <a:sym typeface="Lexend"/>
              </a:rPr>
              <a:t>9</a:t>
            </a:r>
            <a:r>
              <a:rPr lang="en" sz="700" b="1">
                <a:solidFill>
                  <a:srgbClr val="EF4444"/>
                </a:solidFill>
                <a:latin typeface="Lexend"/>
                <a:ea typeface="Lexend"/>
                <a:cs typeface="Lexend"/>
                <a:sym typeface="Lexend"/>
              </a:rPr>
              <a:t>4</a:t>
            </a:r>
            <a:r>
              <a:rPr lang="en" sz="700" b="1" i="0" u="none" strike="noStrike" cap="none">
                <a:solidFill>
                  <a:srgbClr val="EF4444"/>
                </a:solidFill>
                <a:latin typeface="Lexend"/>
                <a:ea typeface="Lexend"/>
                <a:cs typeface="Lexend"/>
                <a:sym typeface="Lexend"/>
              </a:rPr>
              <a:t>% </a:t>
            </a:r>
            <a:endParaRPr sz="1100"/>
          </a:p>
        </p:txBody>
      </p:sp>
      <p:sp>
        <p:nvSpPr>
          <p:cNvPr id="1353" name="Google Shape;1353;p72"/>
          <p:cNvSpPr/>
          <p:nvPr/>
        </p:nvSpPr>
        <p:spPr>
          <a:xfrm>
            <a:off x="-2309112" y="1651963"/>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54" name="Google Shape;1354;p72"/>
          <p:cNvSpPr txBox="1"/>
          <p:nvPr/>
        </p:nvSpPr>
        <p:spPr>
          <a:xfrm>
            <a:off x="-2184096" y="1742331"/>
            <a:ext cx="790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RETENTION (T7)</a:t>
            </a:r>
            <a:endParaRPr sz="1100"/>
          </a:p>
        </p:txBody>
      </p:sp>
      <p:sp>
        <p:nvSpPr>
          <p:cNvPr id="1355" name="Google Shape;1355;p72"/>
          <p:cNvSpPr txBox="1"/>
          <p:nvPr/>
        </p:nvSpPr>
        <p:spPr>
          <a:xfrm>
            <a:off x="-2185085" y="1897713"/>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 79.</a:t>
            </a:r>
            <a:r>
              <a:rPr lang="en" sz="900" b="1">
                <a:solidFill>
                  <a:srgbClr val="0E4174"/>
                </a:solidFill>
                <a:latin typeface="Lexend"/>
                <a:ea typeface="Lexend"/>
                <a:cs typeface="Lexend"/>
                <a:sym typeface="Lexend"/>
              </a:rPr>
              <a:t>68</a:t>
            </a:r>
            <a:r>
              <a:rPr lang="en" sz="900" b="1" i="0" u="none" strike="noStrike" cap="none">
                <a:solidFill>
                  <a:srgbClr val="0E4174"/>
                </a:solidFill>
                <a:latin typeface="Lexend"/>
                <a:ea typeface="Lexend"/>
                <a:cs typeface="Lexend"/>
                <a:sym typeface="Lexend"/>
              </a:rPr>
              <a:t>%</a:t>
            </a:r>
            <a:endParaRPr sz="1100"/>
          </a:p>
        </p:txBody>
      </p:sp>
      <p:sp>
        <p:nvSpPr>
          <p:cNvPr id="1356" name="Google Shape;1356;p72"/>
          <p:cNvSpPr txBox="1"/>
          <p:nvPr/>
        </p:nvSpPr>
        <p:spPr>
          <a:xfrm>
            <a:off x="-1326846" y="1921996"/>
            <a:ext cx="452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 2% WoW</a:t>
            </a:r>
            <a:endParaRPr sz="1100"/>
          </a:p>
        </p:txBody>
      </p:sp>
      <p:sp>
        <p:nvSpPr>
          <p:cNvPr id="1357" name="Google Shape;1357;p72"/>
          <p:cNvSpPr txBox="1"/>
          <p:nvPr/>
        </p:nvSpPr>
        <p:spPr>
          <a:xfrm>
            <a:off x="-2185086" y="2069163"/>
            <a:ext cx="7611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78.43%</a:t>
            </a:r>
            <a:endParaRPr sz="1100"/>
          </a:p>
        </p:txBody>
      </p:sp>
      <p:sp>
        <p:nvSpPr>
          <p:cNvPr id="1358" name="Google Shape;1358;p72"/>
          <p:cNvSpPr txBox="1"/>
          <p:nvPr/>
        </p:nvSpPr>
        <p:spPr>
          <a:xfrm>
            <a:off x="-3929634" y="2539773"/>
            <a:ext cx="15654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374151"/>
                </a:solidFill>
                <a:latin typeface="Lexend"/>
                <a:ea typeface="Lexend"/>
                <a:cs typeface="Lexend"/>
                <a:sym typeface="Lexend"/>
              </a:rPr>
              <a:t>Convert tài xế chuyển đổi / tuần</a:t>
            </a:r>
            <a:endParaRPr sz="1100"/>
          </a:p>
        </p:txBody>
      </p:sp>
      <p:sp>
        <p:nvSpPr>
          <p:cNvPr id="1359" name="Google Shape;1359;p72"/>
          <p:cNvSpPr/>
          <p:nvPr/>
        </p:nvSpPr>
        <p:spPr>
          <a:xfrm>
            <a:off x="-1640062" y="2579956"/>
            <a:ext cx="114300" cy="7144"/>
          </a:xfrm>
          <a:custGeom>
            <a:avLst/>
            <a:gdLst/>
            <a:ahLst/>
            <a:cxnLst/>
            <a:rect l="l" t="t" r="r" b="b"/>
            <a:pathLst>
              <a:path w="152400" h="9525" extrusionOk="0">
                <a:moveTo>
                  <a:pt x="0" y="0"/>
                </a:moveTo>
                <a:lnTo>
                  <a:pt x="152400" y="0"/>
                </a:lnTo>
              </a:path>
            </a:pathLst>
          </a:custGeom>
          <a:noFill/>
          <a:ln w="17850" cap="flat" cmpd="sng">
            <a:solidFill>
              <a:srgbClr val="FF7F32"/>
            </a:solidFill>
            <a:prstDash val="solid"/>
            <a:round/>
            <a:headEnd type="none" w="sm" len="sm"/>
            <a:tailEnd type="none" w="sm" len="sm"/>
          </a:ln>
        </p:spPr>
      </p:sp>
      <p:sp>
        <p:nvSpPr>
          <p:cNvPr id="1360" name="Google Shape;1360;p72"/>
          <p:cNvSpPr txBox="1"/>
          <p:nvPr/>
        </p:nvSpPr>
        <p:spPr>
          <a:xfrm>
            <a:off x="-1486457" y="2541744"/>
            <a:ext cx="2286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SGN</a:t>
            </a:r>
            <a:endParaRPr sz="1100"/>
          </a:p>
        </p:txBody>
      </p:sp>
      <p:sp>
        <p:nvSpPr>
          <p:cNvPr id="1361" name="Google Shape;1361;p72"/>
          <p:cNvSpPr/>
          <p:nvPr/>
        </p:nvSpPr>
        <p:spPr>
          <a:xfrm>
            <a:off x="-1197150" y="2579956"/>
            <a:ext cx="114300" cy="7144"/>
          </a:xfrm>
          <a:custGeom>
            <a:avLst/>
            <a:gdLst/>
            <a:ahLst/>
            <a:cxnLst/>
            <a:rect l="l" t="t" r="r" b="b"/>
            <a:pathLst>
              <a:path w="152400" h="9525" extrusionOk="0">
                <a:moveTo>
                  <a:pt x="0" y="0"/>
                </a:moveTo>
                <a:lnTo>
                  <a:pt x="152400" y="0"/>
                </a:lnTo>
              </a:path>
            </a:pathLst>
          </a:custGeom>
          <a:noFill/>
          <a:ln w="17850" cap="flat" cmpd="sng">
            <a:solidFill>
              <a:srgbClr val="0E4174"/>
            </a:solidFill>
            <a:prstDash val="solid"/>
            <a:round/>
            <a:headEnd type="none" w="sm" len="sm"/>
            <a:tailEnd type="none" w="sm" len="sm"/>
          </a:ln>
        </p:spPr>
      </p:sp>
      <p:sp>
        <p:nvSpPr>
          <p:cNvPr id="1362" name="Google Shape;1362;p72"/>
          <p:cNvSpPr txBox="1"/>
          <p:nvPr/>
        </p:nvSpPr>
        <p:spPr>
          <a:xfrm>
            <a:off x="-1043542" y="2541744"/>
            <a:ext cx="2751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HAN</a:t>
            </a:r>
            <a:endParaRPr sz="1100"/>
          </a:p>
        </p:txBody>
      </p:sp>
      <p:sp>
        <p:nvSpPr>
          <p:cNvPr id="1363" name="Google Shape;1363;p72"/>
          <p:cNvSpPr/>
          <p:nvPr/>
        </p:nvSpPr>
        <p:spPr>
          <a:xfrm>
            <a:off x="-3840337" y="2687113"/>
            <a:ext cx="3071813" cy="7144"/>
          </a:xfrm>
          <a:custGeom>
            <a:avLst/>
            <a:gdLst/>
            <a:ahLst/>
            <a:cxnLst/>
            <a:rect l="l" t="t" r="r" b="b"/>
            <a:pathLst>
              <a:path w="4095750" h="9525" extrusionOk="0">
                <a:moveTo>
                  <a:pt x="0" y="0"/>
                </a:moveTo>
                <a:lnTo>
                  <a:pt x="4095750" y="0"/>
                </a:lnTo>
              </a:path>
            </a:pathLst>
          </a:custGeom>
          <a:noFill/>
          <a:ln w="7150" cap="flat" cmpd="sng">
            <a:solidFill>
              <a:srgbClr val="F0F3F7"/>
            </a:solidFill>
            <a:prstDash val="solid"/>
            <a:round/>
            <a:headEnd type="none" w="sm" len="sm"/>
            <a:tailEnd type="none" w="sm" len="sm"/>
          </a:ln>
        </p:spPr>
      </p:sp>
      <p:sp>
        <p:nvSpPr>
          <p:cNvPr id="1364" name="Google Shape;1364;p72"/>
          <p:cNvSpPr/>
          <p:nvPr/>
        </p:nvSpPr>
        <p:spPr>
          <a:xfrm>
            <a:off x="-3840337" y="3415775"/>
            <a:ext cx="3071813" cy="7144"/>
          </a:xfrm>
          <a:custGeom>
            <a:avLst/>
            <a:gdLst/>
            <a:ahLst/>
            <a:cxnLst/>
            <a:rect l="l" t="t" r="r" b="b"/>
            <a:pathLst>
              <a:path w="4095750" h="9525" extrusionOk="0">
                <a:moveTo>
                  <a:pt x="0" y="0"/>
                </a:moveTo>
                <a:lnTo>
                  <a:pt x="4095750" y="0"/>
                </a:lnTo>
              </a:path>
            </a:pathLst>
          </a:custGeom>
          <a:noFill/>
          <a:ln w="7150" cap="flat" cmpd="sng">
            <a:solidFill>
              <a:srgbClr val="E5E9EF"/>
            </a:solidFill>
            <a:prstDash val="solid"/>
            <a:round/>
            <a:headEnd type="none" w="sm" len="sm"/>
            <a:tailEnd type="none" w="sm" len="sm"/>
          </a:ln>
        </p:spPr>
      </p:sp>
      <p:sp>
        <p:nvSpPr>
          <p:cNvPr id="1365" name="Google Shape;1365;p72"/>
          <p:cNvSpPr/>
          <p:nvPr/>
        </p:nvSpPr>
        <p:spPr>
          <a:xfrm>
            <a:off x="-3840337" y="2716402"/>
            <a:ext cx="3071813" cy="349329"/>
          </a:xfrm>
          <a:custGeom>
            <a:avLst/>
            <a:gdLst/>
            <a:ahLst/>
            <a:cxnLst/>
            <a:rect l="l" t="t" r="r" b="b"/>
            <a:pathLst>
              <a:path w="4095750" h="465772" extrusionOk="0">
                <a:moveTo>
                  <a:pt x="0" y="77152"/>
                </a:moveTo>
                <a:lnTo>
                  <a:pt x="1023938" y="174307"/>
                </a:lnTo>
                <a:lnTo>
                  <a:pt x="2047875" y="0"/>
                </a:lnTo>
                <a:lnTo>
                  <a:pt x="3071812" y="136207"/>
                </a:lnTo>
                <a:lnTo>
                  <a:pt x="4095750" y="465772"/>
                </a:lnTo>
              </a:path>
            </a:pathLst>
          </a:custGeom>
          <a:noFill/>
          <a:ln w="17850" cap="rnd" cmpd="sng">
            <a:solidFill>
              <a:srgbClr val="FF7F32"/>
            </a:solidFill>
            <a:prstDash val="solid"/>
            <a:round/>
            <a:headEnd type="none" w="sm" len="sm"/>
            <a:tailEnd type="none" w="sm" len="sm"/>
          </a:ln>
        </p:spPr>
      </p:sp>
      <p:grpSp>
        <p:nvGrpSpPr>
          <p:cNvPr id="1366" name="Google Shape;1366;p72"/>
          <p:cNvGrpSpPr/>
          <p:nvPr/>
        </p:nvGrpSpPr>
        <p:grpSpPr>
          <a:xfrm>
            <a:off x="-3861769" y="2694971"/>
            <a:ext cx="3121819" cy="399335"/>
            <a:chOff x="1000125" y="3115628"/>
            <a:chExt cx="4162425" cy="532447"/>
          </a:xfrm>
        </p:grpSpPr>
        <p:sp>
          <p:nvSpPr>
            <p:cNvPr id="1367" name="Google Shape;1367;p72"/>
            <p:cNvSpPr/>
            <p:nvPr/>
          </p:nvSpPr>
          <p:spPr>
            <a:xfrm>
              <a:off x="1000125" y="3192780"/>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68" name="Google Shape;1368;p72"/>
            <p:cNvSpPr/>
            <p:nvPr/>
          </p:nvSpPr>
          <p:spPr>
            <a:xfrm>
              <a:off x="2024062" y="32899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69" name="Google Shape;1369;p72"/>
            <p:cNvSpPr/>
            <p:nvPr/>
          </p:nvSpPr>
          <p:spPr>
            <a:xfrm>
              <a:off x="3048000" y="3115628"/>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0" name="Google Shape;1370;p72"/>
            <p:cNvSpPr/>
            <p:nvPr/>
          </p:nvSpPr>
          <p:spPr>
            <a:xfrm>
              <a:off x="4071938" y="32518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1" name="Google Shape;1371;p72"/>
            <p:cNvSpPr/>
            <p:nvPr/>
          </p:nvSpPr>
          <p:spPr>
            <a:xfrm>
              <a:off x="5086350" y="3571875"/>
              <a:ext cx="76200" cy="762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372" name="Google Shape;1372;p72"/>
          <p:cNvSpPr txBox="1"/>
          <p:nvPr/>
        </p:nvSpPr>
        <p:spPr>
          <a:xfrm>
            <a:off x="-824573" y="2942859"/>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E0641A"/>
                </a:solidFill>
                <a:latin typeface="Lexend"/>
                <a:ea typeface="Lexend"/>
                <a:cs typeface="Lexend"/>
                <a:sym typeface="Lexend"/>
              </a:rPr>
              <a:t>34</a:t>
            </a:r>
            <a:endParaRPr sz="1100"/>
          </a:p>
        </p:txBody>
      </p:sp>
      <p:sp>
        <p:nvSpPr>
          <p:cNvPr id="1373" name="Google Shape;1373;p72"/>
          <p:cNvSpPr/>
          <p:nvPr/>
        </p:nvSpPr>
        <p:spPr>
          <a:xfrm>
            <a:off x="-3840337" y="2919999"/>
            <a:ext cx="3071813" cy="422910"/>
          </a:xfrm>
          <a:custGeom>
            <a:avLst/>
            <a:gdLst/>
            <a:ahLst/>
            <a:cxnLst/>
            <a:rect l="l" t="t" r="r" b="b"/>
            <a:pathLst>
              <a:path w="4095750" h="563880" extrusionOk="0">
                <a:moveTo>
                  <a:pt x="0" y="20002"/>
                </a:moveTo>
                <a:lnTo>
                  <a:pt x="1023938" y="0"/>
                </a:lnTo>
                <a:lnTo>
                  <a:pt x="2047875" y="117157"/>
                </a:lnTo>
                <a:lnTo>
                  <a:pt x="3071812" y="350520"/>
                </a:lnTo>
                <a:lnTo>
                  <a:pt x="4095750" y="563880"/>
                </a:lnTo>
              </a:path>
            </a:pathLst>
          </a:custGeom>
          <a:noFill/>
          <a:ln w="17850" cap="rnd" cmpd="sng">
            <a:solidFill>
              <a:srgbClr val="0E4174"/>
            </a:solidFill>
            <a:prstDash val="solid"/>
            <a:round/>
            <a:headEnd type="none" w="sm" len="sm"/>
            <a:tailEnd type="none" w="sm" len="sm"/>
          </a:ln>
        </p:spPr>
      </p:sp>
      <p:grpSp>
        <p:nvGrpSpPr>
          <p:cNvPr id="1374" name="Google Shape;1374;p72"/>
          <p:cNvGrpSpPr/>
          <p:nvPr/>
        </p:nvGrpSpPr>
        <p:grpSpPr>
          <a:xfrm>
            <a:off x="-3861769" y="2898568"/>
            <a:ext cx="3121819" cy="472916"/>
            <a:chOff x="1000125" y="3387090"/>
            <a:chExt cx="4162425" cy="630555"/>
          </a:xfrm>
        </p:grpSpPr>
        <p:sp>
          <p:nvSpPr>
            <p:cNvPr id="1375" name="Google Shape;1375;p72"/>
            <p:cNvSpPr/>
            <p:nvPr/>
          </p:nvSpPr>
          <p:spPr>
            <a:xfrm>
              <a:off x="1000125" y="3407092"/>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6" name="Google Shape;1376;p72"/>
            <p:cNvSpPr/>
            <p:nvPr/>
          </p:nvSpPr>
          <p:spPr>
            <a:xfrm>
              <a:off x="2024062" y="338709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7" name="Google Shape;1377;p72"/>
            <p:cNvSpPr/>
            <p:nvPr/>
          </p:nvSpPr>
          <p:spPr>
            <a:xfrm>
              <a:off x="3048000" y="3504248"/>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8" name="Google Shape;1378;p72"/>
            <p:cNvSpPr/>
            <p:nvPr/>
          </p:nvSpPr>
          <p:spPr>
            <a:xfrm>
              <a:off x="4071938" y="373761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9" name="Google Shape;1379;p72"/>
            <p:cNvSpPr/>
            <p:nvPr/>
          </p:nvSpPr>
          <p:spPr>
            <a:xfrm>
              <a:off x="5086350" y="3941445"/>
              <a:ext cx="76200" cy="762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380" name="Google Shape;1380;p72"/>
          <p:cNvSpPr txBox="1"/>
          <p:nvPr/>
        </p:nvSpPr>
        <p:spPr>
          <a:xfrm>
            <a:off x="-824573" y="3235753"/>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0E4174"/>
                </a:solidFill>
                <a:latin typeface="Lexend"/>
                <a:ea typeface="Lexend"/>
                <a:cs typeface="Lexend"/>
                <a:sym typeface="Lexend"/>
              </a:rPr>
              <a:t>15</a:t>
            </a:r>
            <a:endParaRPr sz="1100"/>
          </a:p>
        </p:txBody>
      </p:sp>
      <p:grpSp>
        <p:nvGrpSpPr>
          <p:cNvPr id="1381" name="Google Shape;1381;p72"/>
          <p:cNvGrpSpPr/>
          <p:nvPr/>
        </p:nvGrpSpPr>
        <p:grpSpPr>
          <a:xfrm>
            <a:off x="-3927205" y="3469353"/>
            <a:ext cx="3245513" cy="92250"/>
            <a:chOff x="912876" y="4148138"/>
            <a:chExt cx="4327350" cy="123000"/>
          </a:xfrm>
        </p:grpSpPr>
        <p:sp>
          <p:nvSpPr>
            <p:cNvPr id="1382" name="Google Shape;1382;p72"/>
            <p:cNvSpPr txBox="1"/>
            <p:nvPr/>
          </p:nvSpPr>
          <p:spPr>
            <a:xfrm>
              <a:off x="91287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22/6</a:t>
              </a:r>
              <a:endParaRPr sz="1100"/>
            </a:p>
          </p:txBody>
        </p:sp>
        <p:sp>
          <p:nvSpPr>
            <p:cNvPr id="1383" name="Google Shape;1383;p72"/>
            <p:cNvSpPr txBox="1"/>
            <p:nvPr/>
          </p:nvSpPr>
          <p:spPr>
            <a:xfrm>
              <a:off x="1936814"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29/6</a:t>
              </a:r>
              <a:endParaRPr sz="1100"/>
            </a:p>
          </p:txBody>
        </p:sp>
        <p:sp>
          <p:nvSpPr>
            <p:cNvPr id="1384" name="Google Shape;1384;p72"/>
            <p:cNvSpPr txBox="1"/>
            <p:nvPr/>
          </p:nvSpPr>
          <p:spPr>
            <a:xfrm>
              <a:off x="2988516" y="4148138"/>
              <a:ext cx="1761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6/7</a:t>
              </a:r>
              <a:endParaRPr sz="1100"/>
            </a:p>
          </p:txBody>
        </p:sp>
        <p:sp>
          <p:nvSpPr>
            <p:cNvPr id="1385" name="Google Shape;1385;p72"/>
            <p:cNvSpPr txBox="1"/>
            <p:nvPr/>
          </p:nvSpPr>
          <p:spPr>
            <a:xfrm>
              <a:off x="3984688"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13/7</a:t>
              </a:r>
              <a:endParaRPr sz="1100"/>
            </a:p>
          </p:txBody>
        </p:sp>
        <p:sp>
          <p:nvSpPr>
            <p:cNvPr id="1386" name="Google Shape;1386;p72"/>
            <p:cNvSpPr txBox="1"/>
            <p:nvPr/>
          </p:nvSpPr>
          <p:spPr>
            <a:xfrm>
              <a:off x="500862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20/7</a:t>
              </a:r>
              <a:endParaRPr sz="1100"/>
            </a:p>
          </p:txBody>
        </p:sp>
      </p:grpSp>
      <p:sp>
        <p:nvSpPr>
          <p:cNvPr id="1387" name="Google Shape;1387;p72"/>
          <p:cNvSpPr/>
          <p:nvPr/>
        </p:nvSpPr>
        <p:spPr>
          <a:xfrm>
            <a:off x="-4040362" y="3722876"/>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88" name="Google Shape;1388;p72"/>
          <p:cNvSpPr/>
          <p:nvPr/>
        </p:nvSpPr>
        <p:spPr>
          <a:xfrm>
            <a:off x="-3918919" y="3881483"/>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89" name="Google Shape;1389;p72"/>
          <p:cNvSpPr txBox="1"/>
          <p:nvPr/>
        </p:nvSpPr>
        <p:spPr>
          <a:xfrm>
            <a:off x="-3772471" y="3818424"/>
            <a:ext cx="26901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B4531A"/>
                </a:solidFill>
                <a:latin typeface="Lexend"/>
                <a:ea typeface="Lexend"/>
                <a:cs typeface="Lexend"/>
                <a:sym typeface="Lexend"/>
              </a:rPr>
              <a:t>Cả 2 TP giảm mạnh convert;</a:t>
            </a:r>
            <a:r>
              <a:rPr lang="en" sz="700" b="0" i="0" u="none" strike="noStrike" cap="none">
                <a:solidFill>
                  <a:srgbClr val="B4531A"/>
                </a:solidFill>
                <a:latin typeface="Lexend"/>
                <a:ea typeface="Lexend"/>
                <a:cs typeface="Lexend"/>
                <a:sym typeface="Lexend"/>
              </a:rPr>
              <a:t> lead Aizen đóng cứng 3 tuần —</a:t>
            </a:r>
            <a:endParaRPr sz="1100"/>
          </a:p>
        </p:txBody>
      </p:sp>
      <p:sp>
        <p:nvSpPr>
          <p:cNvPr id="1390" name="Google Shape;1390;p72"/>
          <p:cNvSpPr txBox="1"/>
          <p:nvPr/>
        </p:nvSpPr>
        <p:spPr>
          <a:xfrm>
            <a:off x="-3772471" y="3947011"/>
            <a:ext cx="18579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B4531A"/>
                </a:solidFill>
                <a:latin typeface="Lexend"/>
                <a:ea typeface="Lexend"/>
                <a:cs typeface="Lexend"/>
                <a:sym typeface="Lexend"/>
              </a:rPr>
              <a:t>0 tài xế mới dùng gói thuê / thuê sở hữu.</a:t>
            </a:r>
            <a:endParaRPr sz="1100"/>
          </a:p>
        </p:txBody>
      </p:sp>
      <p:sp>
        <p:nvSpPr>
          <p:cNvPr id="1391" name="Google Shape;1391;p72"/>
          <p:cNvSpPr/>
          <p:nvPr/>
        </p:nvSpPr>
        <p:spPr>
          <a:xfrm>
            <a:off x="1297025"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92" name="Google Shape;1392;p72"/>
          <p:cNvSpPr/>
          <p:nvPr/>
        </p:nvSpPr>
        <p:spPr>
          <a:xfrm>
            <a:off x="1418469" y="4739644"/>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93" name="Google Shape;1393;p72"/>
          <p:cNvSpPr txBox="1"/>
          <p:nvPr/>
        </p:nvSpPr>
        <p:spPr>
          <a:xfrm>
            <a:off x="1476726" y="4783221"/>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1</a:t>
            </a:r>
            <a:endParaRPr sz="1100"/>
          </a:p>
        </p:txBody>
      </p:sp>
      <p:sp>
        <p:nvSpPr>
          <p:cNvPr id="1394" name="Google Shape;1394;p72"/>
          <p:cNvSpPr txBox="1"/>
          <p:nvPr/>
        </p:nvSpPr>
        <p:spPr>
          <a:xfrm>
            <a:off x="1679073" y="4796437"/>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374151"/>
                </a:solidFill>
                <a:latin typeface="Lexend"/>
                <a:ea typeface="Lexend"/>
                <a:cs typeface="Lexend"/>
                <a:sym typeface="Lexend"/>
              </a:rPr>
              <a:t>Churn analysis EV</a:t>
            </a:r>
            <a:endParaRPr sz="1100"/>
          </a:p>
        </p:txBody>
      </p:sp>
      <p:sp>
        <p:nvSpPr>
          <p:cNvPr id="1395" name="Google Shape;1395;p72"/>
          <p:cNvSpPr/>
          <p:nvPr/>
        </p:nvSpPr>
        <p:spPr>
          <a:xfrm>
            <a:off x="3440150"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96" name="Google Shape;1396;p72"/>
          <p:cNvSpPr/>
          <p:nvPr/>
        </p:nvSpPr>
        <p:spPr>
          <a:xfrm>
            <a:off x="3561594" y="4739644"/>
            <a:ext cx="186000" cy="1860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97" name="Google Shape;1397;p72"/>
          <p:cNvSpPr txBox="1"/>
          <p:nvPr/>
        </p:nvSpPr>
        <p:spPr>
          <a:xfrm>
            <a:off x="3619851" y="4783221"/>
            <a:ext cx="693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FFFFFF"/>
                </a:solidFill>
                <a:latin typeface="Lexend"/>
                <a:ea typeface="Lexend"/>
                <a:cs typeface="Lexend"/>
                <a:sym typeface="Lexend"/>
              </a:rPr>
              <a:t>2</a:t>
            </a:r>
            <a:endParaRPr sz="1100"/>
          </a:p>
        </p:txBody>
      </p:sp>
      <p:sp>
        <p:nvSpPr>
          <p:cNvPr id="1398" name="Google Shape;1398;p72"/>
          <p:cNvSpPr txBox="1"/>
          <p:nvPr/>
        </p:nvSpPr>
        <p:spPr>
          <a:xfrm>
            <a:off x="3822198" y="4732143"/>
            <a:ext cx="10671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Chốt chính sách thưởng giai đoạn tháng 8</a:t>
            </a:r>
            <a:endParaRPr sz="1100"/>
          </a:p>
        </p:txBody>
      </p:sp>
      <p:sp>
        <p:nvSpPr>
          <p:cNvPr id="1399" name="Google Shape;1399;p72"/>
          <p:cNvSpPr/>
          <p:nvPr/>
        </p:nvSpPr>
        <p:spPr>
          <a:xfrm>
            <a:off x="5583275"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00" name="Google Shape;1400;p72"/>
          <p:cNvSpPr/>
          <p:nvPr/>
        </p:nvSpPr>
        <p:spPr>
          <a:xfrm>
            <a:off x="5704719" y="4739644"/>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01" name="Google Shape;1401;p72"/>
          <p:cNvSpPr txBox="1"/>
          <p:nvPr/>
        </p:nvSpPr>
        <p:spPr>
          <a:xfrm>
            <a:off x="5762976" y="4783221"/>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3</a:t>
            </a:r>
            <a:endParaRPr sz="1100"/>
          </a:p>
        </p:txBody>
      </p:sp>
      <p:sp>
        <p:nvSpPr>
          <p:cNvPr id="1402" name="Google Shape;1402;p72"/>
          <p:cNvSpPr txBox="1"/>
          <p:nvPr/>
        </p:nvSpPr>
        <p:spPr>
          <a:xfrm>
            <a:off x="5965323" y="4732143"/>
            <a:ext cx="12489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Quy hoạch lại luồng convert lead xử lý end-to-end</a:t>
            </a:r>
            <a:endParaRPr sz="1100"/>
          </a:p>
        </p:txBody>
      </p:sp>
      <p:sp>
        <p:nvSpPr>
          <p:cNvPr id="1403" name="Google Shape;1403;p72"/>
          <p:cNvSpPr/>
          <p:nvPr/>
        </p:nvSpPr>
        <p:spPr>
          <a:xfrm>
            <a:off x="1291275" y="4457881"/>
            <a:ext cx="42900" cy="157200"/>
          </a:xfrm>
          <a:prstGeom prst="roundRect">
            <a:avLst>
              <a:gd name="adj" fmla="val 50000"/>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04" name="Google Shape;1404;p72"/>
          <p:cNvSpPr txBox="1"/>
          <p:nvPr/>
        </p:nvSpPr>
        <p:spPr>
          <a:xfrm>
            <a:off x="1386359" y="4476844"/>
            <a:ext cx="6876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6B7280"/>
                </a:solidFill>
                <a:latin typeface="Lexend"/>
                <a:ea typeface="Lexend"/>
                <a:cs typeface="Lexend"/>
                <a:sym typeface="Lexend"/>
              </a:rPr>
              <a:t>NEXT</a:t>
            </a:r>
            <a:endParaRPr sz="1100"/>
          </a:p>
        </p:txBody>
      </p:sp>
      <p:sp>
        <p:nvSpPr>
          <p:cNvPr id="1405" name="Google Shape;1405;p72"/>
          <p:cNvSpPr/>
          <p:nvPr/>
        </p:nvSpPr>
        <p:spPr>
          <a:xfrm>
            <a:off x="365738" y="1002725"/>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406" name="Google Shape;1406;p72"/>
          <p:cNvSpPr txBox="1"/>
          <p:nvPr/>
        </p:nvSpPr>
        <p:spPr>
          <a:xfrm>
            <a:off x="466447" y="1219925"/>
            <a:ext cx="18240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LEAD FUNNEL</a:t>
            </a:r>
            <a:endParaRPr sz="1100"/>
          </a:p>
        </p:txBody>
      </p:sp>
      <p:sp>
        <p:nvSpPr>
          <p:cNvPr id="1407" name="Google Shape;1407;p72"/>
          <p:cNvSpPr/>
          <p:nvPr/>
        </p:nvSpPr>
        <p:spPr>
          <a:xfrm>
            <a:off x="595813" y="3659813"/>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08" name="Google Shape;1408;p72"/>
          <p:cNvSpPr/>
          <p:nvPr/>
        </p:nvSpPr>
        <p:spPr>
          <a:xfrm>
            <a:off x="717256" y="3818421"/>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09" name="Google Shape;1409;p72"/>
          <p:cNvSpPr txBox="1"/>
          <p:nvPr/>
        </p:nvSpPr>
        <p:spPr>
          <a:xfrm>
            <a:off x="863703" y="3755361"/>
            <a:ext cx="26901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a:solidFill>
                  <a:srgbClr val="B4531A"/>
                </a:solidFill>
                <a:latin typeface="Lexend"/>
                <a:ea typeface="Lexend"/>
                <a:cs typeface="Lexend"/>
                <a:sym typeface="Lexend"/>
              </a:rPr>
              <a:t>Tỉ lệ convert ~25% từ nguồn lead landing page đổ về, cần xây dựng lại luồng liên lạc </a:t>
            </a:r>
            <a:endParaRPr sz="1100"/>
          </a:p>
        </p:txBody>
      </p:sp>
      <p:cxnSp>
        <p:nvCxnSpPr>
          <p:cNvPr id="1410" name="Google Shape;1410;p72"/>
          <p:cNvCxnSpPr/>
          <p:nvPr/>
        </p:nvCxnSpPr>
        <p:spPr>
          <a:xfrm>
            <a:off x="2692899" y="2848760"/>
            <a:ext cx="247500" cy="0"/>
          </a:xfrm>
          <a:prstGeom prst="straightConnector1">
            <a:avLst/>
          </a:prstGeom>
          <a:noFill/>
          <a:ln w="8500" cap="flat" cmpd="sng">
            <a:solidFill>
              <a:srgbClr val="CC0000"/>
            </a:solidFill>
            <a:prstDash val="dash"/>
            <a:round/>
            <a:headEnd type="none" w="med" len="med"/>
            <a:tailEnd type="none" w="med" len="med"/>
          </a:ln>
        </p:spPr>
      </p:cxnSp>
      <p:sp>
        <p:nvSpPr>
          <p:cNvPr id="1411" name="Google Shape;1411;p72"/>
          <p:cNvSpPr/>
          <p:nvPr/>
        </p:nvSpPr>
        <p:spPr>
          <a:xfrm>
            <a:off x="1605777" y="2104876"/>
            <a:ext cx="1573636" cy="533982"/>
          </a:xfrm>
          <a:custGeom>
            <a:avLst/>
            <a:gdLst/>
            <a:ahLst/>
            <a:cxnLst/>
            <a:rect l="l" t="t" r="r" b="b"/>
            <a:pathLst>
              <a:path w="1823" h="841" extrusionOk="0">
                <a:moveTo>
                  <a:pt x="1401" y="841"/>
                </a:moveTo>
                <a:lnTo>
                  <a:pt x="1790" y="68"/>
                </a:lnTo>
                <a:lnTo>
                  <a:pt x="1823" y="0"/>
                </a:lnTo>
                <a:lnTo>
                  <a:pt x="0" y="0"/>
                </a:lnTo>
                <a:lnTo>
                  <a:pt x="0" y="0"/>
                </a:lnTo>
                <a:lnTo>
                  <a:pt x="423" y="841"/>
                </a:lnTo>
                <a:lnTo>
                  <a:pt x="423" y="841"/>
                </a:lnTo>
                <a:lnTo>
                  <a:pt x="1401" y="841"/>
                </a:lnTo>
                <a:close/>
              </a:path>
            </a:pathLst>
          </a:custGeom>
          <a:solidFill>
            <a:srgbClr val="ED7D31"/>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412" name="Google Shape;1412;p72"/>
          <p:cNvSpPr/>
          <p:nvPr/>
        </p:nvSpPr>
        <p:spPr>
          <a:xfrm>
            <a:off x="1279026" y="1562970"/>
            <a:ext cx="2226225" cy="533358"/>
          </a:xfrm>
          <a:custGeom>
            <a:avLst/>
            <a:gdLst/>
            <a:ahLst/>
            <a:cxnLst/>
            <a:rect l="l" t="t" r="r" b="b"/>
            <a:pathLst>
              <a:path w="3086" h="1007" extrusionOk="0">
                <a:moveTo>
                  <a:pt x="2635" y="1007"/>
                </a:moveTo>
                <a:cubicBezTo>
                  <a:pt x="2636" y="1007"/>
                  <a:pt x="2636" y="1007"/>
                  <a:pt x="2636" y="1007"/>
                </a:cubicBezTo>
                <a:cubicBezTo>
                  <a:pt x="3038" y="208"/>
                  <a:pt x="3038" y="208"/>
                  <a:pt x="3038" y="208"/>
                </a:cubicBezTo>
                <a:cubicBezTo>
                  <a:pt x="3086" y="113"/>
                  <a:pt x="3019" y="0"/>
                  <a:pt x="2916" y="0"/>
                </a:cubicBezTo>
                <a:cubicBezTo>
                  <a:pt x="170" y="0"/>
                  <a:pt x="170" y="0"/>
                  <a:pt x="170" y="0"/>
                </a:cubicBezTo>
                <a:cubicBezTo>
                  <a:pt x="67" y="0"/>
                  <a:pt x="0" y="113"/>
                  <a:pt x="48" y="208"/>
                </a:cubicBezTo>
                <a:cubicBezTo>
                  <a:pt x="450" y="1007"/>
                  <a:pt x="450" y="1007"/>
                  <a:pt x="450" y="1007"/>
                </a:cubicBezTo>
                <a:cubicBezTo>
                  <a:pt x="450" y="1007"/>
                  <a:pt x="450" y="1007"/>
                  <a:pt x="450" y="1007"/>
                </a:cubicBezTo>
                <a:lnTo>
                  <a:pt x="2635" y="1007"/>
                </a:lnTo>
                <a:close/>
              </a:path>
            </a:pathLst>
          </a:custGeom>
          <a:solidFill>
            <a:srgbClr val="27598E"/>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413" name="Google Shape;1413;p72"/>
          <p:cNvSpPr txBox="1"/>
          <p:nvPr/>
        </p:nvSpPr>
        <p:spPr>
          <a:xfrm>
            <a:off x="1625761" y="1539224"/>
            <a:ext cx="1532700" cy="5808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376</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NIM cityzone</a:t>
            </a:r>
            <a:endParaRPr sz="671">
              <a:solidFill>
                <a:srgbClr val="FFFFFF"/>
              </a:solidFill>
              <a:latin typeface="Nunito Black"/>
              <a:ea typeface="Nunito Black"/>
              <a:cs typeface="Nunito Black"/>
              <a:sym typeface="Nunito Black"/>
            </a:endParaRPr>
          </a:p>
        </p:txBody>
      </p:sp>
      <p:sp>
        <p:nvSpPr>
          <p:cNvPr id="1414" name="Google Shape;1414;p72"/>
          <p:cNvSpPr txBox="1"/>
          <p:nvPr/>
        </p:nvSpPr>
        <p:spPr>
          <a:xfrm>
            <a:off x="810170" y="2174041"/>
            <a:ext cx="6912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CC0000"/>
                </a:solidFill>
                <a:latin typeface="Montserrat Black"/>
                <a:ea typeface="Montserrat Black"/>
                <a:cs typeface="Montserrat Black"/>
                <a:sym typeface="Montserrat Black"/>
              </a:rPr>
              <a:t>74.5%</a:t>
            </a:r>
            <a:endParaRPr sz="803" b="1">
              <a:solidFill>
                <a:srgbClr val="CC0000"/>
              </a:solidFill>
              <a:latin typeface="Montserrat"/>
              <a:ea typeface="Montserrat"/>
              <a:cs typeface="Montserrat"/>
              <a:sym typeface="Montserrat"/>
            </a:endParaRPr>
          </a:p>
        </p:txBody>
      </p:sp>
      <p:sp>
        <p:nvSpPr>
          <p:cNvPr id="1415" name="Google Shape;1415;p72"/>
          <p:cNvSpPr txBox="1"/>
          <p:nvPr/>
        </p:nvSpPr>
        <p:spPr>
          <a:xfrm>
            <a:off x="908142" y="1658675"/>
            <a:ext cx="4953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666666"/>
                </a:solidFill>
                <a:latin typeface="Montserrat"/>
                <a:ea typeface="Montserrat"/>
                <a:cs typeface="Montserrat"/>
                <a:sym typeface="Montserrat"/>
              </a:rPr>
              <a:t>100%</a:t>
            </a:r>
            <a:endParaRPr sz="803">
              <a:solidFill>
                <a:srgbClr val="666666"/>
              </a:solidFill>
              <a:latin typeface="Montserrat"/>
              <a:ea typeface="Montserrat"/>
              <a:cs typeface="Montserrat"/>
              <a:sym typeface="Montserrat"/>
            </a:endParaRPr>
          </a:p>
        </p:txBody>
      </p:sp>
      <p:sp>
        <p:nvSpPr>
          <p:cNvPr id="1416" name="Google Shape;1416;p72"/>
          <p:cNvSpPr txBox="1"/>
          <p:nvPr/>
        </p:nvSpPr>
        <p:spPr>
          <a:xfrm>
            <a:off x="1626221" y="2098657"/>
            <a:ext cx="1532700" cy="533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964</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Đã liên hệ</a:t>
            </a:r>
            <a:endParaRPr sz="671">
              <a:solidFill>
                <a:srgbClr val="FFFFFF"/>
              </a:solidFill>
              <a:latin typeface="Nunito Black"/>
              <a:ea typeface="Nunito Black"/>
              <a:cs typeface="Nunito Black"/>
              <a:sym typeface="Nunito Black"/>
            </a:endParaRPr>
          </a:p>
        </p:txBody>
      </p:sp>
      <p:sp>
        <p:nvSpPr>
          <p:cNvPr id="1417" name="Google Shape;1417;p72"/>
          <p:cNvSpPr/>
          <p:nvPr/>
        </p:nvSpPr>
        <p:spPr>
          <a:xfrm>
            <a:off x="1972814" y="2643258"/>
            <a:ext cx="843043" cy="445513"/>
          </a:xfrm>
          <a:prstGeom prst="flowChartManualOperation">
            <a:avLst/>
          </a:prstGeom>
          <a:solidFill>
            <a:srgbClr val="E69138"/>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1249"/>
          </a:p>
        </p:txBody>
      </p:sp>
      <p:sp>
        <p:nvSpPr>
          <p:cNvPr id="1418" name="Google Shape;1418;p72"/>
          <p:cNvSpPr/>
          <p:nvPr/>
        </p:nvSpPr>
        <p:spPr>
          <a:xfrm>
            <a:off x="2143751" y="3101982"/>
            <a:ext cx="503243" cy="329517"/>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535"/>
          </a:p>
        </p:txBody>
      </p:sp>
      <p:sp>
        <p:nvSpPr>
          <p:cNvPr id="1419" name="Google Shape;1419;p72"/>
          <p:cNvSpPr txBox="1"/>
          <p:nvPr/>
        </p:nvSpPr>
        <p:spPr>
          <a:xfrm>
            <a:off x="1972814" y="2676451"/>
            <a:ext cx="843000" cy="386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660</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Đã tư vấn</a:t>
            </a:r>
            <a:endParaRPr sz="671">
              <a:solidFill>
                <a:srgbClr val="FFFFFF"/>
              </a:solidFill>
              <a:latin typeface="Nunito Black"/>
              <a:ea typeface="Nunito Black"/>
              <a:cs typeface="Nunito Black"/>
              <a:sym typeface="Nunito Black"/>
            </a:endParaRPr>
          </a:p>
        </p:txBody>
      </p:sp>
      <p:sp>
        <p:nvSpPr>
          <p:cNvPr id="1420" name="Google Shape;1420;p72"/>
          <p:cNvSpPr txBox="1"/>
          <p:nvPr/>
        </p:nvSpPr>
        <p:spPr>
          <a:xfrm>
            <a:off x="2143796" y="3088771"/>
            <a:ext cx="503100" cy="2709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714">
                <a:solidFill>
                  <a:srgbClr val="FFFFFF"/>
                </a:solidFill>
                <a:latin typeface="Nunito Black"/>
                <a:ea typeface="Nunito Black"/>
                <a:cs typeface="Nunito Black"/>
                <a:sym typeface="Nunito Black"/>
              </a:rPr>
              <a:t>165</a:t>
            </a:r>
            <a:endParaRPr sz="71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714">
                <a:solidFill>
                  <a:srgbClr val="FFFFFF"/>
                </a:solidFill>
                <a:latin typeface="Nunito Black"/>
                <a:ea typeface="Nunito Black"/>
                <a:cs typeface="Nunito Black"/>
                <a:sym typeface="Nunito Black"/>
              </a:rPr>
              <a:t>EV</a:t>
            </a:r>
            <a:endParaRPr sz="714">
              <a:solidFill>
                <a:srgbClr val="FFFFFF"/>
              </a:solidFill>
              <a:latin typeface="Nunito Black"/>
              <a:ea typeface="Nunito Black"/>
              <a:cs typeface="Nunito Black"/>
              <a:sym typeface="Nunito Black"/>
            </a:endParaRPr>
          </a:p>
        </p:txBody>
      </p:sp>
      <p:sp>
        <p:nvSpPr>
          <p:cNvPr id="1421" name="Google Shape;1421;p72"/>
          <p:cNvSpPr txBox="1"/>
          <p:nvPr/>
        </p:nvSpPr>
        <p:spPr>
          <a:xfrm>
            <a:off x="734282" y="2716765"/>
            <a:ext cx="8430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F1C232"/>
                </a:solidFill>
                <a:latin typeface="Montserrat Black"/>
                <a:ea typeface="Montserrat Black"/>
                <a:cs typeface="Montserrat Black"/>
                <a:sym typeface="Montserrat Black"/>
              </a:rPr>
              <a:t>51.3%</a:t>
            </a:r>
            <a:endParaRPr sz="803" b="1">
              <a:solidFill>
                <a:srgbClr val="F1C232"/>
              </a:solidFill>
              <a:latin typeface="Montserrat"/>
              <a:ea typeface="Montserrat"/>
              <a:cs typeface="Montserrat"/>
              <a:sym typeface="Montserrat"/>
            </a:endParaRPr>
          </a:p>
        </p:txBody>
      </p:sp>
      <p:sp>
        <p:nvSpPr>
          <p:cNvPr id="1422" name="Google Shape;1422;p72"/>
          <p:cNvSpPr txBox="1"/>
          <p:nvPr/>
        </p:nvSpPr>
        <p:spPr>
          <a:xfrm>
            <a:off x="712199" y="30750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EF4444"/>
                </a:solidFill>
                <a:latin typeface="Montserrat Black"/>
                <a:ea typeface="Montserrat Black"/>
                <a:cs typeface="Montserrat Black"/>
                <a:sym typeface="Montserrat Black"/>
              </a:rPr>
              <a:t>12.7%</a:t>
            </a:r>
            <a:endParaRPr sz="803" b="1">
              <a:solidFill>
                <a:srgbClr val="EF4444"/>
              </a:solidFill>
              <a:latin typeface="Montserrat"/>
              <a:ea typeface="Montserrat"/>
              <a:cs typeface="Montserrat"/>
              <a:sym typeface="Montserrat"/>
            </a:endParaRPr>
          </a:p>
        </p:txBody>
      </p:sp>
      <p:grpSp>
        <p:nvGrpSpPr>
          <p:cNvPr id="1423" name="Google Shape;1423;p72"/>
          <p:cNvGrpSpPr/>
          <p:nvPr/>
        </p:nvGrpSpPr>
        <p:grpSpPr>
          <a:xfrm rot="10800000" flipH="1">
            <a:off x="2949951" y="2405516"/>
            <a:ext cx="171524" cy="455759"/>
            <a:chOff x="2397800" y="1388480"/>
            <a:chExt cx="611057" cy="550500"/>
          </a:xfrm>
        </p:grpSpPr>
        <p:cxnSp>
          <p:nvCxnSpPr>
            <p:cNvPr id="1424" name="Google Shape;1424;p72"/>
            <p:cNvCxnSpPr/>
            <p:nvPr/>
          </p:nvCxnSpPr>
          <p:spPr>
            <a:xfrm>
              <a:off x="2416389" y="1403593"/>
              <a:ext cx="580200" cy="0"/>
            </a:xfrm>
            <a:prstGeom prst="straightConnector1">
              <a:avLst/>
            </a:prstGeom>
            <a:noFill/>
            <a:ln w="8500" cap="flat" cmpd="sng">
              <a:solidFill>
                <a:srgbClr val="990000"/>
              </a:solidFill>
              <a:prstDash val="dash"/>
              <a:round/>
              <a:headEnd type="none" w="med" len="med"/>
              <a:tailEnd type="none" w="med" len="med"/>
            </a:ln>
          </p:spPr>
        </p:cxnSp>
        <p:cxnSp>
          <p:nvCxnSpPr>
            <p:cNvPr id="1425" name="Google Shape;1425;p72"/>
            <p:cNvCxnSpPr/>
            <p:nvPr/>
          </p:nvCxnSpPr>
          <p:spPr>
            <a:xfrm>
              <a:off x="3008857" y="1388480"/>
              <a:ext cx="0" cy="550500"/>
            </a:xfrm>
            <a:prstGeom prst="straightConnector1">
              <a:avLst/>
            </a:prstGeom>
            <a:noFill/>
            <a:ln w="8500" cap="flat" cmpd="sng">
              <a:solidFill>
                <a:srgbClr val="990000"/>
              </a:solidFill>
              <a:prstDash val="dash"/>
              <a:round/>
              <a:headEnd type="none" w="med" len="med"/>
              <a:tailEnd type="none" w="med" len="med"/>
            </a:ln>
          </p:spPr>
        </p:cxnSp>
        <p:cxnSp>
          <p:nvCxnSpPr>
            <p:cNvPr id="1426" name="Google Shape;1426;p72"/>
            <p:cNvCxnSpPr/>
            <p:nvPr/>
          </p:nvCxnSpPr>
          <p:spPr>
            <a:xfrm rot="10800000">
              <a:off x="2397800" y="1925900"/>
              <a:ext cx="610800" cy="0"/>
            </a:xfrm>
            <a:prstGeom prst="straightConnector1">
              <a:avLst/>
            </a:prstGeom>
            <a:noFill/>
            <a:ln w="8500" cap="flat" cmpd="sng">
              <a:solidFill>
                <a:srgbClr val="990000"/>
              </a:solidFill>
              <a:prstDash val="dash"/>
              <a:round/>
              <a:headEnd type="none" w="med" len="med"/>
              <a:tailEnd type="none" w="med" len="med"/>
            </a:ln>
          </p:spPr>
        </p:cxnSp>
      </p:grpSp>
      <p:cxnSp>
        <p:nvCxnSpPr>
          <p:cNvPr id="1427" name="Google Shape;1427;p72"/>
          <p:cNvCxnSpPr/>
          <p:nvPr/>
        </p:nvCxnSpPr>
        <p:spPr>
          <a:xfrm>
            <a:off x="2969091" y="2847255"/>
            <a:ext cx="0" cy="378600"/>
          </a:xfrm>
          <a:prstGeom prst="straightConnector1">
            <a:avLst/>
          </a:prstGeom>
          <a:noFill/>
          <a:ln w="8500" cap="flat" cmpd="sng">
            <a:solidFill>
              <a:srgbClr val="CC0000"/>
            </a:solidFill>
            <a:prstDash val="dash"/>
            <a:round/>
            <a:headEnd type="none" w="med" len="med"/>
            <a:tailEnd type="none" w="med" len="med"/>
          </a:ln>
        </p:spPr>
      </p:cxnSp>
      <p:cxnSp>
        <p:nvCxnSpPr>
          <p:cNvPr id="1428" name="Google Shape;1428;p72"/>
          <p:cNvCxnSpPr/>
          <p:nvPr/>
        </p:nvCxnSpPr>
        <p:spPr>
          <a:xfrm rot="10800000">
            <a:off x="2603036" y="3224219"/>
            <a:ext cx="342600" cy="0"/>
          </a:xfrm>
          <a:prstGeom prst="straightConnector1">
            <a:avLst/>
          </a:prstGeom>
          <a:noFill/>
          <a:ln w="8500" cap="flat" cmpd="sng">
            <a:solidFill>
              <a:srgbClr val="CC0000"/>
            </a:solidFill>
            <a:prstDash val="dash"/>
            <a:round/>
            <a:headEnd type="none" w="med" len="med"/>
            <a:tailEnd type="none" w="med" len="med"/>
          </a:ln>
        </p:spPr>
      </p:cxnSp>
      <p:sp>
        <p:nvSpPr>
          <p:cNvPr id="1429" name="Google Shape;1429;p72"/>
          <p:cNvSpPr txBox="1"/>
          <p:nvPr/>
        </p:nvSpPr>
        <p:spPr>
          <a:xfrm>
            <a:off x="2938877" y="2962893"/>
            <a:ext cx="8013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endParaRPr sz="625">
              <a:solidFill>
                <a:srgbClr val="1F497D"/>
              </a:solidFill>
              <a:latin typeface="Lexend"/>
              <a:ea typeface="Lexend"/>
              <a:cs typeface="Lexend"/>
              <a:sym typeface="Lexend"/>
            </a:endParaRPr>
          </a:p>
        </p:txBody>
      </p:sp>
      <p:sp>
        <p:nvSpPr>
          <p:cNvPr id="1430" name="Google Shape;1430;p72"/>
          <p:cNvSpPr txBox="1"/>
          <p:nvPr/>
        </p:nvSpPr>
        <p:spPr>
          <a:xfrm>
            <a:off x="3179424" y="2558150"/>
            <a:ext cx="7227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r>
              <a:rPr lang="en" sz="625">
                <a:solidFill>
                  <a:srgbClr val="1F497D"/>
                </a:solidFill>
                <a:latin typeface="Lexend"/>
                <a:ea typeface="Lexend"/>
                <a:cs typeface="Lexend"/>
                <a:sym typeface="Lexend"/>
              </a:rPr>
              <a:t>304 tài xế k nghe máy</a:t>
            </a:r>
            <a:endParaRPr sz="625">
              <a:solidFill>
                <a:srgbClr val="1F497D"/>
              </a:solidFill>
              <a:latin typeface="Lexend"/>
              <a:ea typeface="Lexend"/>
              <a:cs typeface="Lexend"/>
              <a:sym typeface="Lexend"/>
            </a:endParaRPr>
          </a:p>
        </p:txBody>
      </p:sp>
      <p:sp>
        <p:nvSpPr>
          <p:cNvPr id="1431" name="Google Shape;1431;p72"/>
          <p:cNvSpPr txBox="1"/>
          <p:nvPr/>
        </p:nvSpPr>
        <p:spPr>
          <a:xfrm>
            <a:off x="3046424" y="2938150"/>
            <a:ext cx="7227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r>
              <a:rPr lang="en" sz="625">
                <a:solidFill>
                  <a:srgbClr val="1F497D"/>
                </a:solidFill>
                <a:latin typeface="Lexend"/>
                <a:ea typeface="Lexend"/>
                <a:cs typeface="Lexend"/>
                <a:sym typeface="Lexend"/>
              </a:rPr>
              <a:t>304 tài xế k nghe máy</a:t>
            </a:r>
            <a:endParaRPr sz="625">
              <a:solidFill>
                <a:srgbClr val="1F497D"/>
              </a:solidFill>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436"/>
        <p:cNvGrpSpPr/>
        <p:nvPr/>
      </p:nvGrpSpPr>
      <p:grpSpPr>
        <a:xfrm>
          <a:off x="0" y="0"/>
          <a:ext cx="0" cy="0"/>
          <a:chOff x="0" y="0"/>
          <a:chExt cx="0" cy="0"/>
        </a:xfrm>
      </p:grpSpPr>
      <p:sp>
        <p:nvSpPr>
          <p:cNvPr id="1437" name="Google Shape;1437;p73"/>
          <p:cNvSpPr/>
          <p:nvPr/>
        </p:nvSpPr>
        <p:spPr>
          <a:xfrm>
            <a:off x="-4270437" y="1065788"/>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438" name="Google Shape;1438;p7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7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440" name="Google Shape;1440;p7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Perf của NIM trong city_zone</a:t>
            </a:r>
            <a:endParaRPr sz="1000" i="1">
              <a:solidFill>
                <a:schemeClr val="accent3"/>
              </a:solidFill>
              <a:latin typeface="Lexend"/>
              <a:ea typeface="Lexend"/>
              <a:cs typeface="Lexend"/>
              <a:sym typeface="Lexend"/>
            </a:endParaRPr>
          </a:p>
        </p:txBody>
      </p:sp>
      <p:cxnSp>
        <p:nvCxnSpPr>
          <p:cNvPr id="1441" name="Google Shape;1441;p7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442" name="Google Shape;1442;p7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443" name="Google Shape;1443;p73"/>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4" name="Google Shape;1444;p73"/>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5" name="Google Shape;1445;p73"/>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446" name="Google Shape;1446;p73"/>
          <p:cNvSpPr txBox="1"/>
          <p:nvPr/>
        </p:nvSpPr>
        <p:spPr>
          <a:xfrm>
            <a:off x="-4188320" y="1306343"/>
            <a:ext cx="1104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OVERVIEW</a:t>
            </a:r>
            <a:endParaRPr sz="1100"/>
          </a:p>
        </p:txBody>
      </p:sp>
      <p:sp>
        <p:nvSpPr>
          <p:cNvPr id="1447" name="Google Shape;1447;p73"/>
          <p:cNvSpPr/>
          <p:nvPr/>
        </p:nvSpPr>
        <p:spPr>
          <a:xfrm>
            <a:off x="-4173337" y="1641250"/>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8" name="Google Shape;1448;p73"/>
          <p:cNvSpPr txBox="1"/>
          <p:nvPr/>
        </p:nvSpPr>
        <p:spPr>
          <a:xfrm>
            <a:off x="-4048321" y="1731618"/>
            <a:ext cx="673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ACTIVE (MTD)</a:t>
            </a:r>
            <a:endParaRPr sz="1100"/>
          </a:p>
        </p:txBody>
      </p:sp>
      <p:sp>
        <p:nvSpPr>
          <p:cNvPr id="1449" name="Google Shape;1449;p73"/>
          <p:cNvSpPr txBox="1"/>
          <p:nvPr/>
        </p:nvSpPr>
        <p:spPr>
          <a:xfrm>
            <a:off x="-4049322" y="1886995"/>
            <a:ext cx="7044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a:t>
            </a:r>
            <a:r>
              <a:rPr lang="en" sz="900" b="1">
                <a:solidFill>
                  <a:srgbClr val="0E4174"/>
                </a:solidFill>
                <a:latin typeface="Lexend"/>
                <a:ea typeface="Lexend"/>
                <a:cs typeface="Lexend"/>
                <a:sym typeface="Lexend"/>
              </a:rPr>
              <a:t>656</a:t>
            </a:r>
            <a:r>
              <a:rPr lang="en" sz="700" b="0" i="0" u="none" strike="noStrike" cap="none">
                <a:solidFill>
                  <a:srgbClr val="6B7280"/>
                </a:solidFill>
                <a:latin typeface="Lexend"/>
                <a:ea typeface="Lexend"/>
                <a:cs typeface="Lexend"/>
                <a:sym typeface="Lexend"/>
              </a:rPr>
              <a:t>/475</a:t>
            </a:r>
            <a:endParaRPr sz="1100"/>
          </a:p>
        </p:txBody>
      </p:sp>
      <p:sp>
        <p:nvSpPr>
          <p:cNvPr id="1450" name="Google Shape;1450;p73"/>
          <p:cNvSpPr txBox="1"/>
          <p:nvPr/>
        </p:nvSpPr>
        <p:spPr>
          <a:xfrm>
            <a:off x="-3248519" y="1911234"/>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135% </a:t>
            </a:r>
            <a:endParaRPr sz="1100"/>
          </a:p>
        </p:txBody>
      </p:sp>
      <p:sp>
        <p:nvSpPr>
          <p:cNvPr id="1451" name="Google Shape;1451;p73"/>
          <p:cNvSpPr txBox="1"/>
          <p:nvPr/>
        </p:nvSpPr>
        <p:spPr>
          <a:xfrm>
            <a:off x="-4049311" y="2058438"/>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a:t>
            </a:r>
            <a:r>
              <a:rPr lang="en" sz="900" b="1">
                <a:solidFill>
                  <a:srgbClr val="0E4174"/>
                </a:solidFill>
                <a:latin typeface="Lexend"/>
                <a:ea typeface="Lexend"/>
                <a:cs typeface="Lexend"/>
                <a:sym typeface="Lexend"/>
              </a:rPr>
              <a:t> 504</a:t>
            </a:r>
            <a:r>
              <a:rPr lang="en" sz="700" b="0" i="0" u="none" strike="noStrike" cap="none">
                <a:solidFill>
                  <a:srgbClr val="6B7280"/>
                </a:solidFill>
                <a:latin typeface="Lexend"/>
                <a:ea typeface="Lexend"/>
                <a:cs typeface="Lexend"/>
                <a:sym typeface="Lexend"/>
              </a:rPr>
              <a:t>/535</a:t>
            </a:r>
            <a:endParaRPr sz="1100"/>
          </a:p>
        </p:txBody>
      </p:sp>
      <p:sp>
        <p:nvSpPr>
          <p:cNvPr id="1452" name="Google Shape;1452;p73"/>
          <p:cNvSpPr txBox="1"/>
          <p:nvPr/>
        </p:nvSpPr>
        <p:spPr>
          <a:xfrm>
            <a:off x="-3248502" y="2082684"/>
            <a:ext cx="7908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EF4444"/>
                </a:solidFill>
                <a:latin typeface="Lexend"/>
                <a:ea typeface="Lexend"/>
                <a:cs typeface="Lexend"/>
                <a:sym typeface="Lexend"/>
              </a:rPr>
              <a:t>9</a:t>
            </a:r>
            <a:r>
              <a:rPr lang="en" sz="700" b="1">
                <a:solidFill>
                  <a:srgbClr val="EF4444"/>
                </a:solidFill>
                <a:latin typeface="Lexend"/>
                <a:ea typeface="Lexend"/>
                <a:cs typeface="Lexend"/>
                <a:sym typeface="Lexend"/>
              </a:rPr>
              <a:t>4</a:t>
            </a:r>
            <a:r>
              <a:rPr lang="en" sz="700" b="1" i="0" u="none" strike="noStrike" cap="none">
                <a:solidFill>
                  <a:srgbClr val="EF4444"/>
                </a:solidFill>
                <a:latin typeface="Lexend"/>
                <a:ea typeface="Lexend"/>
                <a:cs typeface="Lexend"/>
                <a:sym typeface="Lexend"/>
              </a:rPr>
              <a:t>% </a:t>
            </a:r>
            <a:endParaRPr sz="1100"/>
          </a:p>
        </p:txBody>
      </p:sp>
      <p:sp>
        <p:nvSpPr>
          <p:cNvPr id="1453" name="Google Shape;1453;p73"/>
          <p:cNvSpPr/>
          <p:nvPr/>
        </p:nvSpPr>
        <p:spPr>
          <a:xfrm>
            <a:off x="-2309112" y="1651963"/>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54" name="Google Shape;1454;p73"/>
          <p:cNvSpPr txBox="1"/>
          <p:nvPr/>
        </p:nvSpPr>
        <p:spPr>
          <a:xfrm>
            <a:off x="-2184096" y="1742331"/>
            <a:ext cx="790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RETENTION (T7)</a:t>
            </a:r>
            <a:endParaRPr sz="1100"/>
          </a:p>
        </p:txBody>
      </p:sp>
      <p:sp>
        <p:nvSpPr>
          <p:cNvPr id="1455" name="Google Shape;1455;p73"/>
          <p:cNvSpPr txBox="1"/>
          <p:nvPr/>
        </p:nvSpPr>
        <p:spPr>
          <a:xfrm>
            <a:off x="-2185085" y="1897713"/>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 79.</a:t>
            </a:r>
            <a:r>
              <a:rPr lang="en" sz="900" b="1">
                <a:solidFill>
                  <a:srgbClr val="0E4174"/>
                </a:solidFill>
                <a:latin typeface="Lexend"/>
                <a:ea typeface="Lexend"/>
                <a:cs typeface="Lexend"/>
                <a:sym typeface="Lexend"/>
              </a:rPr>
              <a:t>68</a:t>
            </a:r>
            <a:r>
              <a:rPr lang="en" sz="900" b="1" i="0" u="none" strike="noStrike" cap="none">
                <a:solidFill>
                  <a:srgbClr val="0E4174"/>
                </a:solidFill>
                <a:latin typeface="Lexend"/>
                <a:ea typeface="Lexend"/>
                <a:cs typeface="Lexend"/>
                <a:sym typeface="Lexend"/>
              </a:rPr>
              <a:t>%</a:t>
            </a:r>
            <a:endParaRPr sz="1100"/>
          </a:p>
        </p:txBody>
      </p:sp>
      <p:sp>
        <p:nvSpPr>
          <p:cNvPr id="1456" name="Google Shape;1456;p73"/>
          <p:cNvSpPr txBox="1"/>
          <p:nvPr/>
        </p:nvSpPr>
        <p:spPr>
          <a:xfrm>
            <a:off x="-1326846" y="1921996"/>
            <a:ext cx="452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 2% WoW</a:t>
            </a:r>
            <a:endParaRPr sz="1100"/>
          </a:p>
        </p:txBody>
      </p:sp>
      <p:sp>
        <p:nvSpPr>
          <p:cNvPr id="1457" name="Google Shape;1457;p73"/>
          <p:cNvSpPr txBox="1"/>
          <p:nvPr/>
        </p:nvSpPr>
        <p:spPr>
          <a:xfrm>
            <a:off x="-2185086" y="2069163"/>
            <a:ext cx="7611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78.43%</a:t>
            </a:r>
            <a:endParaRPr sz="1100"/>
          </a:p>
        </p:txBody>
      </p:sp>
      <p:sp>
        <p:nvSpPr>
          <p:cNvPr id="1458" name="Google Shape;1458;p73"/>
          <p:cNvSpPr txBox="1"/>
          <p:nvPr/>
        </p:nvSpPr>
        <p:spPr>
          <a:xfrm>
            <a:off x="-3929634" y="2539773"/>
            <a:ext cx="15654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374151"/>
                </a:solidFill>
                <a:latin typeface="Lexend"/>
                <a:ea typeface="Lexend"/>
                <a:cs typeface="Lexend"/>
                <a:sym typeface="Lexend"/>
              </a:rPr>
              <a:t>Convert tài xế chuyển đổi / tuần</a:t>
            </a:r>
            <a:endParaRPr sz="1100"/>
          </a:p>
        </p:txBody>
      </p:sp>
      <p:sp>
        <p:nvSpPr>
          <p:cNvPr id="1459" name="Google Shape;1459;p73"/>
          <p:cNvSpPr/>
          <p:nvPr/>
        </p:nvSpPr>
        <p:spPr>
          <a:xfrm>
            <a:off x="-1640062" y="2579956"/>
            <a:ext cx="114300" cy="7144"/>
          </a:xfrm>
          <a:custGeom>
            <a:avLst/>
            <a:gdLst/>
            <a:ahLst/>
            <a:cxnLst/>
            <a:rect l="l" t="t" r="r" b="b"/>
            <a:pathLst>
              <a:path w="152400" h="9525" extrusionOk="0">
                <a:moveTo>
                  <a:pt x="0" y="0"/>
                </a:moveTo>
                <a:lnTo>
                  <a:pt x="152400" y="0"/>
                </a:lnTo>
              </a:path>
            </a:pathLst>
          </a:custGeom>
          <a:noFill/>
          <a:ln w="17850" cap="flat" cmpd="sng">
            <a:solidFill>
              <a:srgbClr val="FF7F32"/>
            </a:solidFill>
            <a:prstDash val="solid"/>
            <a:round/>
            <a:headEnd type="none" w="sm" len="sm"/>
            <a:tailEnd type="none" w="sm" len="sm"/>
          </a:ln>
        </p:spPr>
      </p:sp>
      <p:sp>
        <p:nvSpPr>
          <p:cNvPr id="1460" name="Google Shape;1460;p73"/>
          <p:cNvSpPr txBox="1"/>
          <p:nvPr/>
        </p:nvSpPr>
        <p:spPr>
          <a:xfrm>
            <a:off x="-1486457" y="2541744"/>
            <a:ext cx="2286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SGN</a:t>
            </a:r>
            <a:endParaRPr sz="1100"/>
          </a:p>
        </p:txBody>
      </p:sp>
      <p:sp>
        <p:nvSpPr>
          <p:cNvPr id="1461" name="Google Shape;1461;p73"/>
          <p:cNvSpPr/>
          <p:nvPr/>
        </p:nvSpPr>
        <p:spPr>
          <a:xfrm>
            <a:off x="-1197150" y="2579956"/>
            <a:ext cx="114300" cy="7144"/>
          </a:xfrm>
          <a:custGeom>
            <a:avLst/>
            <a:gdLst/>
            <a:ahLst/>
            <a:cxnLst/>
            <a:rect l="l" t="t" r="r" b="b"/>
            <a:pathLst>
              <a:path w="152400" h="9525" extrusionOk="0">
                <a:moveTo>
                  <a:pt x="0" y="0"/>
                </a:moveTo>
                <a:lnTo>
                  <a:pt x="152400" y="0"/>
                </a:lnTo>
              </a:path>
            </a:pathLst>
          </a:custGeom>
          <a:noFill/>
          <a:ln w="17850" cap="flat" cmpd="sng">
            <a:solidFill>
              <a:srgbClr val="0E4174"/>
            </a:solidFill>
            <a:prstDash val="solid"/>
            <a:round/>
            <a:headEnd type="none" w="sm" len="sm"/>
            <a:tailEnd type="none" w="sm" len="sm"/>
          </a:ln>
        </p:spPr>
      </p:sp>
      <p:sp>
        <p:nvSpPr>
          <p:cNvPr id="1462" name="Google Shape;1462;p73"/>
          <p:cNvSpPr txBox="1"/>
          <p:nvPr/>
        </p:nvSpPr>
        <p:spPr>
          <a:xfrm>
            <a:off x="-1043542" y="2541744"/>
            <a:ext cx="2751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HAN</a:t>
            </a:r>
            <a:endParaRPr sz="1100"/>
          </a:p>
        </p:txBody>
      </p:sp>
      <p:sp>
        <p:nvSpPr>
          <p:cNvPr id="1463" name="Google Shape;1463;p73"/>
          <p:cNvSpPr/>
          <p:nvPr/>
        </p:nvSpPr>
        <p:spPr>
          <a:xfrm>
            <a:off x="-3840337" y="2687113"/>
            <a:ext cx="3071813" cy="7144"/>
          </a:xfrm>
          <a:custGeom>
            <a:avLst/>
            <a:gdLst/>
            <a:ahLst/>
            <a:cxnLst/>
            <a:rect l="l" t="t" r="r" b="b"/>
            <a:pathLst>
              <a:path w="4095750" h="9525" extrusionOk="0">
                <a:moveTo>
                  <a:pt x="0" y="0"/>
                </a:moveTo>
                <a:lnTo>
                  <a:pt x="4095750" y="0"/>
                </a:lnTo>
              </a:path>
            </a:pathLst>
          </a:custGeom>
          <a:noFill/>
          <a:ln w="7150" cap="flat" cmpd="sng">
            <a:solidFill>
              <a:srgbClr val="F0F3F7"/>
            </a:solidFill>
            <a:prstDash val="solid"/>
            <a:round/>
            <a:headEnd type="none" w="sm" len="sm"/>
            <a:tailEnd type="none" w="sm" len="sm"/>
          </a:ln>
        </p:spPr>
      </p:sp>
      <p:sp>
        <p:nvSpPr>
          <p:cNvPr id="1464" name="Google Shape;1464;p73"/>
          <p:cNvSpPr/>
          <p:nvPr/>
        </p:nvSpPr>
        <p:spPr>
          <a:xfrm>
            <a:off x="-3840337" y="3415775"/>
            <a:ext cx="3071813" cy="7144"/>
          </a:xfrm>
          <a:custGeom>
            <a:avLst/>
            <a:gdLst/>
            <a:ahLst/>
            <a:cxnLst/>
            <a:rect l="l" t="t" r="r" b="b"/>
            <a:pathLst>
              <a:path w="4095750" h="9525" extrusionOk="0">
                <a:moveTo>
                  <a:pt x="0" y="0"/>
                </a:moveTo>
                <a:lnTo>
                  <a:pt x="4095750" y="0"/>
                </a:lnTo>
              </a:path>
            </a:pathLst>
          </a:custGeom>
          <a:noFill/>
          <a:ln w="7150" cap="flat" cmpd="sng">
            <a:solidFill>
              <a:srgbClr val="E5E9EF"/>
            </a:solidFill>
            <a:prstDash val="solid"/>
            <a:round/>
            <a:headEnd type="none" w="sm" len="sm"/>
            <a:tailEnd type="none" w="sm" len="sm"/>
          </a:ln>
        </p:spPr>
      </p:sp>
      <p:sp>
        <p:nvSpPr>
          <p:cNvPr id="1465" name="Google Shape;1465;p73"/>
          <p:cNvSpPr/>
          <p:nvPr/>
        </p:nvSpPr>
        <p:spPr>
          <a:xfrm>
            <a:off x="-3840337" y="2716402"/>
            <a:ext cx="3071813" cy="349329"/>
          </a:xfrm>
          <a:custGeom>
            <a:avLst/>
            <a:gdLst/>
            <a:ahLst/>
            <a:cxnLst/>
            <a:rect l="l" t="t" r="r" b="b"/>
            <a:pathLst>
              <a:path w="4095750" h="465772" extrusionOk="0">
                <a:moveTo>
                  <a:pt x="0" y="77152"/>
                </a:moveTo>
                <a:lnTo>
                  <a:pt x="1023938" y="174307"/>
                </a:lnTo>
                <a:lnTo>
                  <a:pt x="2047875" y="0"/>
                </a:lnTo>
                <a:lnTo>
                  <a:pt x="3071812" y="136207"/>
                </a:lnTo>
                <a:lnTo>
                  <a:pt x="4095750" y="465772"/>
                </a:lnTo>
              </a:path>
            </a:pathLst>
          </a:custGeom>
          <a:noFill/>
          <a:ln w="17850" cap="rnd" cmpd="sng">
            <a:solidFill>
              <a:srgbClr val="FF7F32"/>
            </a:solidFill>
            <a:prstDash val="solid"/>
            <a:round/>
            <a:headEnd type="none" w="sm" len="sm"/>
            <a:tailEnd type="none" w="sm" len="sm"/>
          </a:ln>
        </p:spPr>
      </p:sp>
      <p:grpSp>
        <p:nvGrpSpPr>
          <p:cNvPr id="1466" name="Google Shape;1466;p73"/>
          <p:cNvGrpSpPr/>
          <p:nvPr/>
        </p:nvGrpSpPr>
        <p:grpSpPr>
          <a:xfrm>
            <a:off x="-3861769" y="2694971"/>
            <a:ext cx="3121819" cy="399335"/>
            <a:chOff x="1000125" y="3115628"/>
            <a:chExt cx="4162425" cy="532447"/>
          </a:xfrm>
        </p:grpSpPr>
        <p:sp>
          <p:nvSpPr>
            <p:cNvPr id="1467" name="Google Shape;1467;p73"/>
            <p:cNvSpPr/>
            <p:nvPr/>
          </p:nvSpPr>
          <p:spPr>
            <a:xfrm>
              <a:off x="1000125" y="3192780"/>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68" name="Google Shape;1468;p73"/>
            <p:cNvSpPr/>
            <p:nvPr/>
          </p:nvSpPr>
          <p:spPr>
            <a:xfrm>
              <a:off x="2024062" y="32899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69" name="Google Shape;1469;p73"/>
            <p:cNvSpPr/>
            <p:nvPr/>
          </p:nvSpPr>
          <p:spPr>
            <a:xfrm>
              <a:off x="3048000" y="3115628"/>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0" name="Google Shape;1470;p73"/>
            <p:cNvSpPr/>
            <p:nvPr/>
          </p:nvSpPr>
          <p:spPr>
            <a:xfrm>
              <a:off x="4071938" y="32518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1" name="Google Shape;1471;p73"/>
            <p:cNvSpPr/>
            <p:nvPr/>
          </p:nvSpPr>
          <p:spPr>
            <a:xfrm>
              <a:off x="5086350" y="3571875"/>
              <a:ext cx="76200" cy="762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472" name="Google Shape;1472;p73"/>
          <p:cNvSpPr txBox="1"/>
          <p:nvPr/>
        </p:nvSpPr>
        <p:spPr>
          <a:xfrm>
            <a:off x="-824573" y="2942859"/>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E0641A"/>
                </a:solidFill>
                <a:latin typeface="Lexend"/>
                <a:ea typeface="Lexend"/>
                <a:cs typeface="Lexend"/>
                <a:sym typeface="Lexend"/>
              </a:rPr>
              <a:t>34</a:t>
            </a:r>
            <a:endParaRPr sz="1100"/>
          </a:p>
        </p:txBody>
      </p:sp>
      <p:sp>
        <p:nvSpPr>
          <p:cNvPr id="1473" name="Google Shape;1473;p73"/>
          <p:cNvSpPr/>
          <p:nvPr/>
        </p:nvSpPr>
        <p:spPr>
          <a:xfrm>
            <a:off x="-3840337" y="2919999"/>
            <a:ext cx="3071813" cy="422910"/>
          </a:xfrm>
          <a:custGeom>
            <a:avLst/>
            <a:gdLst/>
            <a:ahLst/>
            <a:cxnLst/>
            <a:rect l="l" t="t" r="r" b="b"/>
            <a:pathLst>
              <a:path w="4095750" h="563880" extrusionOk="0">
                <a:moveTo>
                  <a:pt x="0" y="20002"/>
                </a:moveTo>
                <a:lnTo>
                  <a:pt x="1023938" y="0"/>
                </a:lnTo>
                <a:lnTo>
                  <a:pt x="2047875" y="117157"/>
                </a:lnTo>
                <a:lnTo>
                  <a:pt x="3071812" y="350520"/>
                </a:lnTo>
                <a:lnTo>
                  <a:pt x="4095750" y="563880"/>
                </a:lnTo>
              </a:path>
            </a:pathLst>
          </a:custGeom>
          <a:noFill/>
          <a:ln w="17850" cap="rnd" cmpd="sng">
            <a:solidFill>
              <a:srgbClr val="0E4174"/>
            </a:solidFill>
            <a:prstDash val="solid"/>
            <a:round/>
            <a:headEnd type="none" w="sm" len="sm"/>
            <a:tailEnd type="none" w="sm" len="sm"/>
          </a:ln>
        </p:spPr>
      </p:sp>
      <p:grpSp>
        <p:nvGrpSpPr>
          <p:cNvPr id="1474" name="Google Shape;1474;p73"/>
          <p:cNvGrpSpPr/>
          <p:nvPr/>
        </p:nvGrpSpPr>
        <p:grpSpPr>
          <a:xfrm>
            <a:off x="-3861769" y="2898568"/>
            <a:ext cx="3121819" cy="472916"/>
            <a:chOff x="1000125" y="3387090"/>
            <a:chExt cx="4162425" cy="630555"/>
          </a:xfrm>
        </p:grpSpPr>
        <p:sp>
          <p:nvSpPr>
            <p:cNvPr id="1475" name="Google Shape;1475;p73"/>
            <p:cNvSpPr/>
            <p:nvPr/>
          </p:nvSpPr>
          <p:spPr>
            <a:xfrm>
              <a:off x="1000125" y="3407092"/>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6" name="Google Shape;1476;p73"/>
            <p:cNvSpPr/>
            <p:nvPr/>
          </p:nvSpPr>
          <p:spPr>
            <a:xfrm>
              <a:off x="2024062" y="338709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7" name="Google Shape;1477;p73"/>
            <p:cNvSpPr/>
            <p:nvPr/>
          </p:nvSpPr>
          <p:spPr>
            <a:xfrm>
              <a:off x="3048000" y="3504248"/>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8" name="Google Shape;1478;p73"/>
            <p:cNvSpPr/>
            <p:nvPr/>
          </p:nvSpPr>
          <p:spPr>
            <a:xfrm>
              <a:off x="4071938" y="373761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9" name="Google Shape;1479;p73"/>
            <p:cNvSpPr/>
            <p:nvPr/>
          </p:nvSpPr>
          <p:spPr>
            <a:xfrm>
              <a:off x="5086350" y="3941445"/>
              <a:ext cx="76200" cy="762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480" name="Google Shape;1480;p73"/>
          <p:cNvSpPr txBox="1"/>
          <p:nvPr/>
        </p:nvSpPr>
        <p:spPr>
          <a:xfrm>
            <a:off x="-824573" y="3235753"/>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0E4174"/>
                </a:solidFill>
                <a:latin typeface="Lexend"/>
                <a:ea typeface="Lexend"/>
                <a:cs typeface="Lexend"/>
                <a:sym typeface="Lexend"/>
              </a:rPr>
              <a:t>15</a:t>
            </a:r>
            <a:endParaRPr sz="1100"/>
          </a:p>
        </p:txBody>
      </p:sp>
      <p:grpSp>
        <p:nvGrpSpPr>
          <p:cNvPr id="1481" name="Google Shape;1481;p73"/>
          <p:cNvGrpSpPr/>
          <p:nvPr/>
        </p:nvGrpSpPr>
        <p:grpSpPr>
          <a:xfrm>
            <a:off x="-3927205" y="3469353"/>
            <a:ext cx="3245513" cy="92250"/>
            <a:chOff x="912876" y="4148138"/>
            <a:chExt cx="4327350" cy="123000"/>
          </a:xfrm>
        </p:grpSpPr>
        <p:sp>
          <p:nvSpPr>
            <p:cNvPr id="1482" name="Google Shape;1482;p73"/>
            <p:cNvSpPr txBox="1"/>
            <p:nvPr/>
          </p:nvSpPr>
          <p:spPr>
            <a:xfrm>
              <a:off x="91287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22/6</a:t>
              </a:r>
              <a:endParaRPr sz="1100"/>
            </a:p>
          </p:txBody>
        </p:sp>
        <p:sp>
          <p:nvSpPr>
            <p:cNvPr id="1483" name="Google Shape;1483;p73"/>
            <p:cNvSpPr txBox="1"/>
            <p:nvPr/>
          </p:nvSpPr>
          <p:spPr>
            <a:xfrm>
              <a:off x="1936814"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29/6</a:t>
              </a:r>
              <a:endParaRPr sz="1100"/>
            </a:p>
          </p:txBody>
        </p:sp>
        <p:sp>
          <p:nvSpPr>
            <p:cNvPr id="1484" name="Google Shape;1484;p73"/>
            <p:cNvSpPr txBox="1"/>
            <p:nvPr/>
          </p:nvSpPr>
          <p:spPr>
            <a:xfrm>
              <a:off x="2988516" y="4148138"/>
              <a:ext cx="1761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6/7</a:t>
              </a:r>
              <a:endParaRPr sz="1100"/>
            </a:p>
          </p:txBody>
        </p:sp>
        <p:sp>
          <p:nvSpPr>
            <p:cNvPr id="1485" name="Google Shape;1485;p73"/>
            <p:cNvSpPr txBox="1"/>
            <p:nvPr/>
          </p:nvSpPr>
          <p:spPr>
            <a:xfrm>
              <a:off x="3984688"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13/7</a:t>
              </a:r>
              <a:endParaRPr sz="1100"/>
            </a:p>
          </p:txBody>
        </p:sp>
        <p:sp>
          <p:nvSpPr>
            <p:cNvPr id="1486" name="Google Shape;1486;p73"/>
            <p:cNvSpPr txBox="1"/>
            <p:nvPr/>
          </p:nvSpPr>
          <p:spPr>
            <a:xfrm>
              <a:off x="500862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20/7</a:t>
              </a:r>
              <a:endParaRPr sz="1100"/>
            </a:p>
          </p:txBody>
        </p:sp>
      </p:grpSp>
      <p:sp>
        <p:nvSpPr>
          <p:cNvPr id="1487" name="Google Shape;1487;p73"/>
          <p:cNvSpPr/>
          <p:nvPr/>
        </p:nvSpPr>
        <p:spPr>
          <a:xfrm>
            <a:off x="-4040362" y="3722876"/>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88" name="Google Shape;1488;p73"/>
          <p:cNvSpPr/>
          <p:nvPr/>
        </p:nvSpPr>
        <p:spPr>
          <a:xfrm>
            <a:off x="-3918919" y="3881483"/>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89" name="Google Shape;1489;p73"/>
          <p:cNvSpPr txBox="1"/>
          <p:nvPr/>
        </p:nvSpPr>
        <p:spPr>
          <a:xfrm>
            <a:off x="-3772471" y="3818424"/>
            <a:ext cx="26901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B4531A"/>
                </a:solidFill>
                <a:latin typeface="Lexend"/>
                <a:ea typeface="Lexend"/>
                <a:cs typeface="Lexend"/>
                <a:sym typeface="Lexend"/>
              </a:rPr>
              <a:t>Cả 2 TP giảm mạnh convert;</a:t>
            </a:r>
            <a:r>
              <a:rPr lang="en" sz="700" b="0" i="0" u="none" strike="noStrike" cap="none">
                <a:solidFill>
                  <a:srgbClr val="B4531A"/>
                </a:solidFill>
                <a:latin typeface="Lexend"/>
                <a:ea typeface="Lexend"/>
                <a:cs typeface="Lexend"/>
                <a:sym typeface="Lexend"/>
              </a:rPr>
              <a:t> lead Aizen đóng cứng 3 tuần —</a:t>
            </a:r>
            <a:endParaRPr sz="1100"/>
          </a:p>
        </p:txBody>
      </p:sp>
      <p:sp>
        <p:nvSpPr>
          <p:cNvPr id="1490" name="Google Shape;1490;p73"/>
          <p:cNvSpPr txBox="1"/>
          <p:nvPr/>
        </p:nvSpPr>
        <p:spPr>
          <a:xfrm>
            <a:off x="-3772471" y="3947011"/>
            <a:ext cx="18579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B4531A"/>
                </a:solidFill>
                <a:latin typeface="Lexend"/>
                <a:ea typeface="Lexend"/>
                <a:cs typeface="Lexend"/>
                <a:sym typeface="Lexend"/>
              </a:rPr>
              <a:t>0 tài xế mới dùng gói thuê / thuê sở hữu.</a:t>
            </a:r>
            <a:endParaRPr sz="1100"/>
          </a:p>
        </p:txBody>
      </p:sp>
      <p:sp>
        <p:nvSpPr>
          <p:cNvPr id="1491" name="Google Shape;1491;p73"/>
          <p:cNvSpPr/>
          <p:nvPr/>
        </p:nvSpPr>
        <p:spPr>
          <a:xfrm>
            <a:off x="1297025"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2" name="Google Shape;1492;p73"/>
          <p:cNvSpPr/>
          <p:nvPr/>
        </p:nvSpPr>
        <p:spPr>
          <a:xfrm>
            <a:off x="1418469" y="4739644"/>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3" name="Google Shape;1493;p73"/>
          <p:cNvSpPr txBox="1"/>
          <p:nvPr/>
        </p:nvSpPr>
        <p:spPr>
          <a:xfrm>
            <a:off x="1476726" y="4783221"/>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1</a:t>
            </a:r>
            <a:endParaRPr sz="1100"/>
          </a:p>
        </p:txBody>
      </p:sp>
      <p:sp>
        <p:nvSpPr>
          <p:cNvPr id="1494" name="Google Shape;1494;p73"/>
          <p:cNvSpPr txBox="1"/>
          <p:nvPr/>
        </p:nvSpPr>
        <p:spPr>
          <a:xfrm>
            <a:off x="1679073" y="4796437"/>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374151"/>
                </a:solidFill>
                <a:latin typeface="Lexend"/>
                <a:ea typeface="Lexend"/>
                <a:cs typeface="Lexend"/>
                <a:sym typeface="Lexend"/>
              </a:rPr>
              <a:t>Churn analysis EV</a:t>
            </a:r>
            <a:endParaRPr sz="1100"/>
          </a:p>
        </p:txBody>
      </p:sp>
      <p:sp>
        <p:nvSpPr>
          <p:cNvPr id="1495" name="Google Shape;1495;p73"/>
          <p:cNvSpPr/>
          <p:nvPr/>
        </p:nvSpPr>
        <p:spPr>
          <a:xfrm>
            <a:off x="3440150"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6" name="Google Shape;1496;p73"/>
          <p:cNvSpPr/>
          <p:nvPr/>
        </p:nvSpPr>
        <p:spPr>
          <a:xfrm>
            <a:off x="3561594" y="4739644"/>
            <a:ext cx="186000" cy="1860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7" name="Google Shape;1497;p73"/>
          <p:cNvSpPr txBox="1"/>
          <p:nvPr/>
        </p:nvSpPr>
        <p:spPr>
          <a:xfrm>
            <a:off x="3619851" y="4783221"/>
            <a:ext cx="693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FFFFFF"/>
                </a:solidFill>
                <a:latin typeface="Lexend"/>
                <a:ea typeface="Lexend"/>
                <a:cs typeface="Lexend"/>
                <a:sym typeface="Lexend"/>
              </a:rPr>
              <a:t>2</a:t>
            </a:r>
            <a:endParaRPr sz="1100"/>
          </a:p>
        </p:txBody>
      </p:sp>
      <p:sp>
        <p:nvSpPr>
          <p:cNvPr id="1498" name="Google Shape;1498;p73"/>
          <p:cNvSpPr txBox="1"/>
          <p:nvPr/>
        </p:nvSpPr>
        <p:spPr>
          <a:xfrm>
            <a:off x="3822198" y="4732143"/>
            <a:ext cx="10671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Chốt chính sách thưởng giai đoạn tháng 8</a:t>
            </a:r>
            <a:endParaRPr sz="1100"/>
          </a:p>
        </p:txBody>
      </p:sp>
      <p:sp>
        <p:nvSpPr>
          <p:cNvPr id="1499" name="Google Shape;1499;p73"/>
          <p:cNvSpPr/>
          <p:nvPr/>
        </p:nvSpPr>
        <p:spPr>
          <a:xfrm>
            <a:off x="5583275" y="4646775"/>
            <a:ext cx="2028900" cy="543000"/>
          </a:xfrm>
          <a:prstGeom prst="roundRect">
            <a:avLst>
              <a:gd name="adj" fmla="val 18421"/>
            </a:avLst>
          </a:prstGeom>
          <a:solidFill>
            <a:srgbClr val="F9FAFB"/>
          </a:solidFill>
          <a:ln w="7150" cap="flat" cmpd="sng">
            <a:solidFill>
              <a:srgbClr val="E9EDF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0" name="Google Shape;1500;p73"/>
          <p:cNvSpPr/>
          <p:nvPr/>
        </p:nvSpPr>
        <p:spPr>
          <a:xfrm>
            <a:off x="5704719" y="4739644"/>
            <a:ext cx="186000" cy="1860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1" name="Google Shape;1501;p73"/>
          <p:cNvSpPr txBox="1"/>
          <p:nvPr/>
        </p:nvSpPr>
        <p:spPr>
          <a:xfrm>
            <a:off x="5762976" y="4783221"/>
            <a:ext cx="693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800" b="1">
                <a:solidFill>
                  <a:srgbClr val="FFFFFF"/>
                </a:solidFill>
                <a:latin typeface="Lexend"/>
                <a:ea typeface="Lexend"/>
                <a:cs typeface="Lexend"/>
                <a:sym typeface="Lexend"/>
              </a:rPr>
              <a:t>3</a:t>
            </a:r>
            <a:endParaRPr sz="1100"/>
          </a:p>
        </p:txBody>
      </p:sp>
      <p:sp>
        <p:nvSpPr>
          <p:cNvPr id="1502" name="Google Shape;1502;p73"/>
          <p:cNvSpPr txBox="1"/>
          <p:nvPr/>
        </p:nvSpPr>
        <p:spPr>
          <a:xfrm>
            <a:off x="5965323" y="4732143"/>
            <a:ext cx="1248900" cy="264300"/>
          </a:xfrm>
          <a:prstGeom prst="rect">
            <a:avLst/>
          </a:prstGeom>
          <a:noFill/>
          <a:ln>
            <a:noFill/>
          </a:ln>
        </p:spPr>
        <p:txBody>
          <a:bodyPr spcFirstLastPara="1" wrap="square" lIns="0" tIns="0" rIns="0" bIns="0" anchor="t" anchorCtr="0">
            <a:noAutofit/>
          </a:bodyPr>
          <a:lstStyle/>
          <a:p>
            <a:pPr marL="0" marR="0" lvl="0" indent="0" algn="l" rtl="0">
              <a:lnSpc>
                <a:spcPct val="130102"/>
              </a:lnSpc>
              <a:spcBef>
                <a:spcPts val="0"/>
              </a:spcBef>
              <a:spcAft>
                <a:spcPts val="0"/>
              </a:spcAft>
              <a:buNone/>
            </a:pPr>
            <a:r>
              <a:rPr lang="en" sz="700" b="0" i="0" u="none" strike="noStrike" cap="none">
                <a:solidFill>
                  <a:srgbClr val="374151"/>
                </a:solidFill>
                <a:latin typeface="Lexend"/>
                <a:ea typeface="Lexend"/>
                <a:cs typeface="Lexend"/>
                <a:sym typeface="Lexend"/>
              </a:rPr>
              <a:t>Quy hoạch lại luồng convert lead xử lý end-to-end</a:t>
            </a:r>
            <a:endParaRPr sz="1100"/>
          </a:p>
        </p:txBody>
      </p:sp>
      <p:sp>
        <p:nvSpPr>
          <p:cNvPr id="1503" name="Google Shape;1503;p73"/>
          <p:cNvSpPr/>
          <p:nvPr/>
        </p:nvSpPr>
        <p:spPr>
          <a:xfrm>
            <a:off x="1291275" y="4457881"/>
            <a:ext cx="42900" cy="157200"/>
          </a:xfrm>
          <a:prstGeom prst="roundRect">
            <a:avLst>
              <a:gd name="adj" fmla="val 50000"/>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4" name="Google Shape;1504;p73"/>
          <p:cNvSpPr txBox="1"/>
          <p:nvPr/>
        </p:nvSpPr>
        <p:spPr>
          <a:xfrm>
            <a:off x="1386359" y="4476844"/>
            <a:ext cx="687600" cy="12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800" b="1">
                <a:solidFill>
                  <a:srgbClr val="6B7280"/>
                </a:solidFill>
                <a:latin typeface="Lexend"/>
                <a:ea typeface="Lexend"/>
                <a:cs typeface="Lexend"/>
                <a:sym typeface="Lexend"/>
              </a:rPr>
              <a:t>NEXT</a:t>
            </a:r>
            <a:endParaRPr sz="1100"/>
          </a:p>
        </p:txBody>
      </p:sp>
      <p:sp>
        <p:nvSpPr>
          <p:cNvPr id="1505" name="Google Shape;1505;p73"/>
          <p:cNvSpPr/>
          <p:nvPr/>
        </p:nvSpPr>
        <p:spPr>
          <a:xfrm>
            <a:off x="365738" y="1002725"/>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506" name="Google Shape;1506;p73"/>
          <p:cNvSpPr txBox="1"/>
          <p:nvPr/>
        </p:nvSpPr>
        <p:spPr>
          <a:xfrm>
            <a:off x="466447" y="1219925"/>
            <a:ext cx="18240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LEAD FUNNEL</a:t>
            </a:r>
            <a:endParaRPr sz="1100"/>
          </a:p>
        </p:txBody>
      </p:sp>
      <p:sp>
        <p:nvSpPr>
          <p:cNvPr id="1507" name="Google Shape;1507;p73"/>
          <p:cNvSpPr/>
          <p:nvPr/>
        </p:nvSpPr>
        <p:spPr>
          <a:xfrm>
            <a:off x="595813" y="3659813"/>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8" name="Google Shape;1508;p73"/>
          <p:cNvSpPr/>
          <p:nvPr/>
        </p:nvSpPr>
        <p:spPr>
          <a:xfrm>
            <a:off x="717256" y="3818421"/>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9" name="Google Shape;1509;p73"/>
          <p:cNvSpPr txBox="1"/>
          <p:nvPr/>
        </p:nvSpPr>
        <p:spPr>
          <a:xfrm>
            <a:off x="863703" y="3755361"/>
            <a:ext cx="26901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a:solidFill>
                  <a:srgbClr val="B4531A"/>
                </a:solidFill>
                <a:latin typeface="Lexend"/>
                <a:ea typeface="Lexend"/>
                <a:cs typeface="Lexend"/>
                <a:sym typeface="Lexend"/>
              </a:rPr>
              <a:t>Tỉ lệ convert ~25% từ nguồn lead landing page đổ về, cần xây dựng lại luồng liên lạc </a:t>
            </a:r>
            <a:endParaRPr sz="1100"/>
          </a:p>
        </p:txBody>
      </p:sp>
      <p:cxnSp>
        <p:nvCxnSpPr>
          <p:cNvPr id="1510" name="Google Shape;1510;p73"/>
          <p:cNvCxnSpPr/>
          <p:nvPr/>
        </p:nvCxnSpPr>
        <p:spPr>
          <a:xfrm>
            <a:off x="2692899" y="2848760"/>
            <a:ext cx="247500" cy="0"/>
          </a:xfrm>
          <a:prstGeom prst="straightConnector1">
            <a:avLst/>
          </a:prstGeom>
          <a:noFill/>
          <a:ln w="8500" cap="flat" cmpd="sng">
            <a:solidFill>
              <a:srgbClr val="CC0000"/>
            </a:solidFill>
            <a:prstDash val="dash"/>
            <a:round/>
            <a:headEnd type="none" w="med" len="med"/>
            <a:tailEnd type="none" w="med" len="med"/>
          </a:ln>
        </p:spPr>
      </p:cxnSp>
      <p:sp>
        <p:nvSpPr>
          <p:cNvPr id="1511" name="Google Shape;1511;p73"/>
          <p:cNvSpPr/>
          <p:nvPr/>
        </p:nvSpPr>
        <p:spPr>
          <a:xfrm>
            <a:off x="1605777" y="2104876"/>
            <a:ext cx="1573636" cy="533982"/>
          </a:xfrm>
          <a:custGeom>
            <a:avLst/>
            <a:gdLst/>
            <a:ahLst/>
            <a:cxnLst/>
            <a:rect l="l" t="t" r="r" b="b"/>
            <a:pathLst>
              <a:path w="1823" h="841" extrusionOk="0">
                <a:moveTo>
                  <a:pt x="1401" y="841"/>
                </a:moveTo>
                <a:lnTo>
                  <a:pt x="1790" y="68"/>
                </a:lnTo>
                <a:lnTo>
                  <a:pt x="1823" y="0"/>
                </a:lnTo>
                <a:lnTo>
                  <a:pt x="0" y="0"/>
                </a:lnTo>
                <a:lnTo>
                  <a:pt x="0" y="0"/>
                </a:lnTo>
                <a:lnTo>
                  <a:pt x="423" y="841"/>
                </a:lnTo>
                <a:lnTo>
                  <a:pt x="423" y="841"/>
                </a:lnTo>
                <a:lnTo>
                  <a:pt x="1401" y="841"/>
                </a:lnTo>
                <a:close/>
              </a:path>
            </a:pathLst>
          </a:custGeom>
          <a:solidFill>
            <a:srgbClr val="ED7D31"/>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512" name="Google Shape;1512;p73"/>
          <p:cNvSpPr/>
          <p:nvPr/>
        </p:nvSpPr>
        <p:spPr>
          <a:xfrm>
            <a:off x="1279026" y="1562970"/>
            <a:ext cx="2226225" cy="533358"/>
          </a:xfrm>
          <a:custGeom>
            <a:avLst/>
            <a:gdLst/>
            <a:ahLst/>
            <a:cxnLst/>
            <a:rect l="l" t="t" r="r" b="b"/>
            <a:pathLst>
              <a:path w="3086" h="1007" extrusionOk="0">
                <a:moveTo>
                  <a:pt x="2635" y="1007"/>
                </a:moveTo>
                <a:cubicBezTo>
                  <a:pt x="2636" y="1007"/>
                  <a:pt x="2636" y="1007"/>
                  <a:pt x="2636" y="1007"/>
                </a:cubicBezTo>
                <a:cubicBezTo>
                  <a:pt x="3038" y="208"/>
                  <a:pt x="3038" y="208"/>
                  <a:pt x="3038" y="208"/>
                </a:cubicBezTo>
                <a:cubicBezTo>
                  <a:pt x="3086" y="113"/>
                  <a:pt x="3019" y="0"/>
                  <a:pt x="2916" y="0"/>
                </a:cubicBezTo>
                <a:cubicBezTo>
                  <a:pt x="170" y="0"/>
                  <a:pt x="170" y="0"/>
                  <a:pt x="170" y="0"/>
                </a:cubicBezTo>
                <a:cubicBezTo>
                  <a:pt x="67" y="0"/>
                  <a:pt x="0" y="113"/>
                  <a:pt x="48" y="208"/>
                </a:cubicBezTo>
                <a:cubicBezTo>
                  <a:pt x="450" y="1007"/>
                  <a:pt x="450" y="1007"/>
                  <a:pt x="450" y="1007"/>
                </a:cubicBezTo>
                <a:cubicBezTo>
                  <a:pt x="450" y="1007"/>
                  <a:pt x="450" y="1007"/>
                  <a:pt x="450" y="1007"/>
                </a:cubicBezTo>
                <a:lnTo>
                  <a:pt x="2635" y="1007"/>
                </a:lnTo>
                <a:close/>
              </a:path>
            </a:pathLst>
          </a:custGeom>
          <a:solidFill>
            <a:srgbClr val="27598E"/>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1513" name="Google Shape;1513;p73"/>
          <p:cNvSpPr txBox="1"/>
          <p:nvPr/>
        </p:nvSpPr>
        <p:spPr>
          <a:xfrm>
            <a:off x="1625761" y="1539224"/>
            <a:ext cx="1532700" cy="5808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1293</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Distinct Driver</a:t>
            </a:r>
            <a:endParaRPr sz="671">
              <a:solidFill>
                <a:srgbClr val="FFFFFF"/>
              </a:solidFill>
              <a:latin typeface="Nunito Black"/>
              <a:ea typeface="Nunito Black"/>
              <a:cs typeface="Nunito Black"/>
              <a:sym typeface="Nunito Black"/>
            </a:endParaRPr>
          </a:p>
        </p:txBody>
      </p:sp>
      <p:sp>
        <p:nvSpPr>
          <p:cNvPr id="1514" name="Google Shape;1514;p73"/>
          <p:cNvSpPr txBox="1"/>
          <p:nvPr/>
        </p:nvSpPr>
        <p:spPr>
          <a:xfrm>
            <a:off x="810170" y="2174041"/>
            <a:ext cx="6912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CC0000"/>
                </a:solidFill>
                <a:latin typeface="Montserrat Black"/>
                <a:ea typeface="Montserrat Black"/>
                <a:cs typeface="Montserrat Black"/>
                <a:sym typeface="Montserrat Black"/>
              </a:rPr>
              <a:t>74.5%</a:t>
            </a:r>
            <a:endParaRPr sz="803" b="1">
              <a:solidFill>
                <a:srgbClr val="CC0000"/>
              </a:solidFill>
              <a:latin typeface="Montserrat"/>
              <a:ea typeface="Montserrat"/>
              <a:cs typeface="Montserrat"/>
              <a:sym typeface="Montserrat"/>
            </a:endParaRPr>
          </a:p>
        </p:txBody>
      </p:sp>
      <p:sp>
        <p:nvSpPr>
          <p:cNvPr id="1515" name="Google Shape;1515;p73"/>
          <p:cNvSpPr txBox="1"/>
          <p:nvPr/>
        </p:nvSpPr>
        <p:spPr>
          <a:xfrm>
            <a:off x="908142" y="1658675"/>
            <a:ext cx="4953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666666"/>
                </a:solidFill>
                <a:latin typeface="Montserrat"/>
                <a:ea typeface="Montserrat"/>
                <a:cs typeface="Montserrat"/>
                <a:sym typeface="Montserrat"/>
              </a:rPr>
              <a:t>100%</a:t>
            </a:r>
            <a:endParaRPr sz="803">
              <a:solidFill>
                <a:srgbClr val="666666"/>
              </a:solidFill>
              <a:latin typeface="Montserrat"/>
              <a:ea typeface="Montserrat"/>
              <a:cs typeface="Montserrat"/>
              <a:sym typeface="Montserrat"/>
            </a:endParaRPr>
          </a:p>
        </p:txBody>
      </p:sp>
      <p:sp>
        <p:nvSpPr>
          <p:cNvPr id="1516" name="Google Shape;1516;p73"/>
          <p:cNvSpPr txBox="1"/>
          <p:nvPr/>
        </p:nvSpPr>
        <p:spPr>
          <a:xfrm>
            <a:off x="1626221" y="2098657"/>
            <a:ext cx="1532700" cy="533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964</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Đã liên hệ</a:t>
            </a:r>
            <a:endParaRPr sz="671">
              <a:solidFill>
                <a:srgbClr val="FFFFFF"/>
              </a:solidFill>
              <a:latin typeface="Nunito Black"/>
              <a:ea typeface="Nunito Black"/>
              <a:cs typeface="Nunito Black"/>
              <a:sym typeface="Nunito Black"/>
            </a:endParaRPr>
          </a:p>
        </p:txBody>
      </p:sp>
      <p:sp>
        <p:nvSpPr>
          <p:cNvPr id="1517" name="Google Shape;1517;p73"/>
          <p:cNvSpPr/>
          <p:nvPr/>
        </p:nvSpPr>
        <p:spPr>
          <a:xfrm>
            <a:off x="1972814" y="2643258"/>
            <a:ext cx="843043" cy="445513"/>
          </a:xfrm>
          <a:prstGeom prst="flowChartManualOperation">
            <a:avLst/>
          </a:prstGeom>
          <a:solidFill>
            <a:srgbClr val="E69138"/>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1249"/>
          </a:p>
        </p:txBody>
      </p:sp>
      <p:sp>
        <p:nvSpPr>
          <p:cNvPr id="1518" name="Google Shape;1518;p73"/>
          <p:cNvSpPr/>
          <p:nvPr/>
        </p:nvSpPr>
        <p:spPr>
          <a:xfrm>
            <a:off x="2143751" y="3101982"/>
            <a:ext cx="503243" cy="329517"/>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535"/>
          </a:p>
        </p:txBody>
      </p:sp>
      <p:sp>
        <p:nvSpPr>
          <p:cNvPr id="1519" name="Google Shape;1519;p73"/>
          <p:cNvSpPr txBox="1"/>
          <p:nvPr/>
        </p:nvSpPr>
        <p:spPr>
          <a:xfrm>
            <a:off x="1972814" y="2676451"/>
            <a:ext cx="843000" cy="386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660</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671">
                <a:solidFill>
                  <a:srgbClr val="FFFFFF"/>
                </a:solidFill>
                <a:latin typeface="Nunito Black"/>
                <a:ea typeface="Nunito Black"/>
                <a:cs typeface="Nunito Black"/>
                <a:sym typeface="Nunito Black"/>
              </a:rPr>
              <a:t>Đã tư vấn</a:t>
            </a:r>
            <a:endParaRPr sz="671">
              <a:solidFill>
                <a:srgbClr val="FFFFFF"/>
              </a:solidFill>
              <a:latin typeface="Nunito Black"/>
              <a:ea typeface="Nunito Black"/>
              <a:cs typeface="Nunito Black"/>
              <a:sym typeface="Nunito Black"/>
            </a:endParaRPr>
          </a:p>
        </p:txBody>
      </p:sp>
      <p:sp>
        <p:nvSpPr>
          <p:cNvPr id="1520" name="Google Shape;1520;p73"/>
          <p:cNvSpPr txBox="1"/>
          <p:nvPr/>
        </p:nvSpPr>
        <p:spPr>
          <a:xfrm>
            <a:off x="2143796" y="3088771"/>
            <a:ext cx="503100" cy="2709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714">
                <a:solidFill>
                  <a:srgbClr val="FFFFFF"/>
                </a:solidFill>
                <a:latin typeface="Nunito Black"/>
                <a:ea typeface="Nunito Black"/>
                <a:cs typeface="Nunito Black"/>
                <a:sym typeface="Nunito Black"/>
              </a:rPr>
              <a:t>165</a:t>
            </a:r>
            <a:endParaRPr sz="71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r>
              <a:rPr lang="en" sz="714">
                <a:solidFill>
                  <a:srgbClr val="FFFFFF"/>
                </a:solidFill>
                <a:latin typeface="Nunito Black"/>
                <a:ea typeface="Nunito Black"/>
                <a:cs typeface="Nunito Black"/>
                <a:sym typeface="Nunito Black"/>
              </a:rPr>
              <a:t>EV</a:t>
            </a:r>
            <a:endParaRPr sz="714">
              <a:solidFill>
                <a:srgbClr val="FFFFFF"/>
              </a:solidFill>
              <a:latin typeface="Nunito Black"/>
              <a:ea typeface="Nunito Black"/>
              <a:cs typeface="Nunito Black"/>
              <a:sym typeface="Nunito Black"/>
            </a:endParaRPr>
          </a:p>
        </p:txBody>
      </p:sp>
      <p:sp>
        <p:nvSpPr>
          <p:cNvPr id="1521" name="Google Shape;1521;p73"/>
          <p:cNvSpPr txBox="1"/>
          <p:nvPr/>
        </p:nvSpPr>
        <p:spPr>
          <a:xfrm>
            <a:off x="734282" y="2716765"/>
            <a:ext cx="8430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F1C232"/>
                </a:solidFill>
                <a:latin typeface="Montserrat Black"/>
                <a:ea typeface="Montserrat Black"/>
                <a:cs typeface="Montserrat Black"/>
                <a:sym typeface="Montserrat Black"/>
              </a:rPr>
              <a:t>51.3%</a:t>
            </a:r>
            <a:endParaRPr sz="803" b="1">
              <a:solidFill>
                <a:srgbClr val="F1C232"/>
              </a:solidFill>
              <a:latin typeface="Montserrat"/>
              <a:ea typeface="Montserrat"/>
              <a:cs typeface="Montserrat"/>
              <a:sym typeface="Montserrat"/>
            </a:endParaRPr>
          </a:p>
        </p:txBody>
      </p:sp>
      <p:sp>
        <p:nvSpPr>
          <p:cNvPr id="1522" name="Google Shape;1522;p73"/>
          <p:cNvSpPr txBox="1"/>
          <p:nvPr/>
        </p:nvSpPr>
        <p:spPr>
          <a:xfrm>
            <a:off x="712199" y="30750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EF4444"/>
                </a:solidFill>
                <a:latin typeface="Montserrat Black"/>
                <a:ea typeface="Montserrat Black"/>
                <a:cs typeface="Montserrat Black"/>
                <a:sym typeface="Montserrat Black"/>
              </a:rPr>
              <a:t>12.7%</a:t>
            </a:r>
            <a:endParaRPr sz="803" b="1">
              <a:solidFill>
                <a:srgbClr val="EF4444"/>
              </a:solidFill>
              <a:latin typeface="Montserrat"/>
              <a:ea typeface="Montserrat"/>
              <a:cs typeface="Montserrat"/>
              <a:sym typeface="Montserrat"/>
            </a:endParaRPr>
          </a:p>
        </p:txBody>
      </p:sp>
      <p:grpSp>
        <p:nvGrpSpPr>
          <p:cNvPr id="1523" name="Google Shape;1523;p73"/>
          <p:cNvGrpSpPr/>
          <p:nvPr/>
        </p:nvGrpSpPr>
        <p:grpSpPr>
          <a:xfrm rot="10800000" flipH="1">
            <a:off x="2949951" y="2405516"/>
            <a:ext cx="171524" cy="455759"/>
            <a:chOff x="2397800" y="1388480"/>
            <a:chExt cx="611057" cy="550500"/>
          </a:xfrm>
        </p:grpSpPr>
        <p:cxnSp>
          <p:nvCxnSpPr>
            <p:cNvPr id="1524" name="Google Shape;1524;p73"/>
            <p:cNvCxnSpPr/>
            <p:nvPr/>
          </p:nvCxnSpPr>
          <p:spPr>
            <a:xfrm>
              <a:off x="2416389" y="1403593"/>
              <a:ext cx="580200" cy="0"/>
            </a:xfrm>
            <a:prstGeom prst="straightConnector1">
              <a:avLst/>
            </a:prstGeom>
            <a:noFill/>
            <a:ln w="8500" cap="flat" cmpd="sng">
              <a:solidFill>
                <a:srgbClr val="990000"/>
              </a:solidFill>
              <a:prstDash val="dash"/>
              <a:round/>
              <a:headEnd type="none" w="med" len="med"/>
              <a:tailEnd type="none" w="med" len="med"/>
            </a:ln>
          </p:spPr>
        </p:cxnSp>
        <p:cxnSp>
          <p:nvCxnSpPr>
            <p:cNvPr id="1525" name="Google Shape;1525;p73"/>
            <p:cNvCxnSpPr/>
            <p:nvPr/>
          </p:nvCxnSpPr>
          <p:spPr>
            <a:xfrm>
              <a:off x="3008857" y="1388480"/>
              <a:ext cx="0" cy="550500"/>
            </a:xfrm>
            <a:prstGeom prst="straightConnector1">
              <a:avLst/>
            </a:prstGeom>
            <a:noFill/>
            <a:ln w="8500" cap="flat" cmpd="sng">
              <a:solidFill>
                <a:srgbClr val="990000"/>
              </a:solidFill>
              <a:prstDash val="dash"/>
              <a:round/>
              <a:headEnd type="none" w="med" len="med"/>
              <a:tailEnd type="none" w="med" len="med"/>
            </a:ln>
          </p:spPr>
        </p:cxnSp>
        <p:cxnSp>
          <p:nvCxnSpPr>
            <p:cNvPr id="1526" name="Google Shape;1526;p73"/>
            <p:cNvCxnSpPr/>
            <p:nvPr/>
          </p:nvCxnSpPr>
          <p:spPr>
            <a:xfrm rot="10800000">
              <a:off x="2397800" y="1925900"/>
              <a:ext cx="610800" cy="0"/>
            </a:xfrm>
            <a:prstGeom prst="straightConnector1">
              <a:avLst/>
            </a:prstGeom>
            <a:noFill/>
            <a:ln w="8500" cap="flat" cmpd="sng">
              <a:solidFill>
                <a:srgbClr val="990000"/>
              </a:solidFill>
              <a:prstDash val="dash"/>
              <a:round/>
              <a:headEnd type="none" w="med" len="med"/>
              <a:tailEnd type="none" w="med" len="med"/>
            </a:ln>
          </p:spPr>
        </p:cxnSp>
      </p:grpSp>
      <p:cxnSp>
        <p:nvCxnSpPr>
          <p:cNvPr id="1527" name="Google Shape;1527;p73"/>
          <p:cNvCxnSpPr/>
          <p:nvPr/>
        </p:nvCxnSpPr>
        <p:spPr>
          <a:xfrm>
            <a:off x="2969091" y="2847255"/>
            <a:ext cx="0" cy="378600"/>
          </a:xfrm>
          <a:prstGeom prst="straightConnector1">
            <a:avLst/>
          </a:prstGeom>
          <a:noFill/>
          <a:ln w="8500" cap="flat" cmpd="sng">
            <a:solidFill>
              <a:srgbClr val="CC0000"/>
            </a:solidFill>
            <a:prstDash val="dash"/>
            <a:round/>
            <a:headEnd type="none" w="med" len="med"/>
            <a:tailEnd type="none" w="med" len="med"/>
          </a:ln>
        </p:spPr>
      </p:cxnSp>
      <p:cxnSp>
        <p:nvCxnSpPr>
          <p:cNvPr id="1528" name="Google Shape;1528;p73"/>
          <p:cNvCxnSpPr/>
          <p:nvPr/>
        </p:nvCxnSpPr>
        <p:spPr>
          <a:xfrm rot="10800000">
            <a:off x="2603036" y="3224219"/>
            <a:ext cx="342600" cy="0"/>
          </a:xfrm>
          <a:prstGeom prst="straightConnector1">
            <a:avLst/>
          </a:prstGeom>
          <a:noFill/>
          <a:ln w="8500" cap="flat" cmpd="sng">
            <a:solidFill>
              <a:srgbClr val="CC0000"/>
            </a:solidFill>
            <a:prstDash val="dash"/>
            <a:round/>
            <a:headEnd type="none" w="med" len="med"/>
            <a:tailEnd type="none" w="med" len="med"/>
          </a:ln>
        </p:spPr>
      </p:cxnSp>
      <p:sp>
        <p:nvSpPr>
          <p:cNvPr id="1529" name="Google Shape;1529;p73"/>
          <p:cNvSpPr txBox="1"/>
          <p:nvPr/>
        </p:nvSpPr>
        <p:spPr>
          <a:xfrm>
            <a:off x="2938877" y="2962893"/>
            <a:ext cx="8013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endParaRPr sz="625">
              <a:solidFill>
                <a:srgbClr val="1F497D"/>
              </a:solidFill>
              <a:latin typeface="Lexend"/>
              <a:ea typeface="Lexend"/>
              <a:cs typeface="Lexend"/>
              <a:sym typeface="Lexend"/>
            </a:endParaRPr>
          </a:p>
        </p:txBody>
      </p:sp>
      <p:sp>
        <p:nvSpPr>
          <p:cNvPr id="1530" name="Google Shape;1530;p73"/>
          <p:cNvSpPr txBox="1"/>
          <p:nvPr/>
        </p:nvSpPr>
        <p:spPr>
          <a:xfrm>
            <a:off x="3179424" y="2558150"/>
            <a:ext cx="7227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r>
              <a:rPr lang="en" sz="625">
                <a:solidFill>
                  <a:srgbClr val="1F497D"/>
                </a:solidFill>
                <a:latin typeface="Lexend"/>
                <a:ea typeface="Lexend"/>
                <a:cs typeface="Lexend"/>
                <a:sym typeface="Lexend"/>
              </a:rPr>
              <a:t>304 tài xế k nghe máy</a:t>
            </a:r>
            <a:endParaRPr sz="625">
              <a:solidFill>
                <a:srgbClr val="1F497D"/>
              </a:solidFill>
              <a:latin typeface="Lexend"/>
              <a:ea typeface="Lexend"/>
              <a:cs typeface="Lexend"/>
              <a:sym typeface="Lexend"/>
            </a:endParaRPr>
          </a:p>
        </p:txBody>
      </p:sp>
      <p:sp>
        <p:nvSpPr>
          <p:cNvPr id="1531" name="Google Shape;1531;p73"/>
          <p:cNvSpPr txBox="1"/>
          <p:nvPr/>
        </p:nvSpPr>
        <p:spPr>
          <a:xfrm>
            <a:off x="3046424" y="2938150"/>
            <a:ext cx="722700" cy="147300"/>
          </a:xfrm>
          <a:prstGeom prst="rect">
            <a:avLst/>
          </a:prstGeom>
          <a:noFill/>
          <a:ln>
            <a:noFill/>
          </a:ln>
        </p:spPr>
        <p:txBody>
          <a:bodyPr spcFirstLastPara="1" wrap="square" lIns="81575" tIns="81575" rIns="81575" bIns="81575" anchor="ctr" anchorCtr="0">
            <a:noAutofit/>
          </a:bodyPr>
          <a:lstStyle/>
          <a:p>
            <a:pPr marL="0" lvl="0" indent="0" algn="l" rtl="0">
              <a:spcBef>
                <a:spcPts val="0"/>
              </a:spcBef>
              <a:spcAft>
                <a:spcPts val="0"/>
              </a:spcAft>
              <a:buNone/>
            </a:pPr>
            <a:r>
              <a:rPr lang="en" sz="625">
                <a:solidFill>
                  <a:srgbClr val="1F497D"/>
                </a:solidFill>
                <a:latin typeface="Lexend"/>
                <a:ea typeface="Lexend"/>
                <a:cs typeface="Lexend"/>
                <a:sym typeface="Lexend"/>
              </a:rPr>
              <a:t>304 tài xế k nghe máy</a:t>
            </a:r>
            <a:endParaRPr sz="625">
              <a:solidFill>
                <a:srgbClr val="1F497D"/>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36"/>
        <p:cNvGrpSpPr/>
        <p:nvPr/>
      </p:nvGrpSpPr>
      <p:grpSpPr>
        <a:xfrm>
          <a:off x="0" y="0"/>
          <a:ext cx="0" cy="0"/>
          <a:chOff x="0" y="0"/>
          <a:chExt cx="0" cy="0"/>
        </a:xfrm>
      </p:grpSpPr>
      <p:sp>
        <p:nvSpPr>
          <p:cNvPr id="1537" name="Google Shape;1537;p74"/>
          <p:cNvSpPr/>
          <p:nvPr/>
        </p:nvSpPr>
        <p:spPr>
          <a:xfrm>
            <a:off x="-4270437" y="1065788"/>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1538" name="Google Shape;1538;p7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7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 </a:t>
            </a:r>
            <a:endParaRPr sz="2200" b="1" i="0" u="none" strike="noStrike" cap="none">
              <a:solidFill>
                <a:srgbClr val="F56C1F"/>
              </a:solidFill>
              <a:highlight>
                <a:schemeClr val="lt1"/>
              </a:highlight>
              <a:latin typeface="Lexend"/>
              <a:ea typeface="Lexend"/>
              <a:cs typeface="Lexend"/>
              <a:sym typeface="Lexend"/>
            </a:endParaRPr>
          </a:p>
        </p:txBody>
      </p:sp>
      <p:sp>
        <p:nvSpPr>
          <p:cNvPr id="1540" name="Google Shape;1540;p7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Perf của NIM trong city_zone</a:t>
            </a:r>
            <a:endParaRPr sz="1000" i="1">
              <a:solidFill>
                <a:schemeClr val="accent3"/>
              </a:solidFill>
              <a:latin typeface="Lexend"/>
              <a:ea typeface="Lexend"/>
              <a:cs typeface="Lexend"/>
              <a:sym typeface="Lexend"/>
            </a:endParaRPr>
          </a:p>
        </p:txBody>
      </p:sp>
      <p:cxnSp>
        <p:nvCxnSpPr>
          <p:cNvPr id="1541" name="Google Shape;1541;p7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542" name="Google Shape;1542;p7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543" name="Google Shape;1543;p74"/>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4" name="Google Shape;1544;p74"/>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5" name="Google Shape;1545;p74"/>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546" name="Google Shape;1546;p74"/>
          <p:cNvSpPr txBox="1"/>
          <p:nvPr/>
        </p:nvSpPr>
        <p:spPr>
          <a:xfrm>
            <a:off x="-4188320" y="1306343"/>
            <a:ext cx="1104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OVERVIEW</a:t>
            </a:r>
            <a:endParaRPr sz="1100"/>
          </a:p>
        </p:txBody>
      </p:sp>
      <p:sp>
        <p:nvSpPr>
          <p:cNvPr id="1547" name="Google Shape;1547;p74"/>
          <p:cNvSpPr/>
          <p:nvPr/>
        </p:nvSpPr>
        <p:spPr>
          <a:xfrm>
            <a:off x="-4173337" y="1641250"/>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8" name="Google Shape;1548;p74"/>
          <p:cNvSpPr txBox="1"/>
          <p:nvPr/>
        </p:nvSpPr>
        <p:spPr>
          <a:xfrm>
            <a:off x="-4048321" y="1731618"/>
            <a:ext cx="673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ACTIVE (MTD)</a:t>
            </a:r>
            <a:endParaRPr sz="1100"/>
          </a:p>
        </p:txBody>
      </p:sp>
      <p:sp>
        <p:nvSpPr>
          <p:cNvPr id="1549" name="Google Shape;1549;p74"/>
          <p:cNvSpPr txBox="1"/>
          <p:nvPr/>
        </p:nvSpPr>
        <p:spPr>
          <a:xfrm>
            <a:off x="-4049322" y="1886995"/>
            <a:ext cx="7044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a:t>
            </a:r>
            <a:r>
              <a:rPr lang="en" sz="900" b="1">
                <a:solidFill>
                  <a:srgbClr val="0E4174"/>
                </a:solidFill>
                <a:latin typeface="Lexend"/>
                <a:ea typeface="Lexend"/>
                <a:cs typeface="Lexend"/>
                <a:sym typeface="Lexend"/>
              </a:rPr>
              <a:t>656</a:t>
            </a:r>
            <a:r>
              <a:rPr lang="en" sz="700" b="0" i="0" u="none" strike="noStrike" cap="none">
                <a:solidFill>
                  <a:srgbClr val="6B7280"/>
                </a:solidFill>
                <a:latin typeface="Lexend"/>
                <a:ea typeface="Lexend"/>
                <a:cs typeface="Lexend"/>
                <a:sym typeface="Lexend"/>
              </a:rPr>
              <a:t>/475</a:t>
            </a:r>
            <a:endParaRPr sz="1100"/>
          </a:p>
        </p:txBody>
      </p:sp>
      <p:sp>
        <p:nvSpPr>
          <p:cNvPr id="1550" name="Google Shape;1550;p74"/>
          <p:cNvSpPr txBox="1"/>
          <p:nvPr/>
        </p:nvSpPr>
        <p:spPr>
          <a:xfrm>
            <a:off x="-3248519" y="1911234"/>
            <a:ext cx="8430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135% </a:t>
            </a:r>
            <a:endParaRPr sz="1100"/>
          </a:p>
        </p:txBody>
      </p:sp>
      <p:sp>
        <p:nvSpPr>
          <p:cNvPr id="1551" name="Google Shape;1551;p74"/>
          <p:cNvSpPr txBox="1"/>
          <p:nvPr/>
        </p:nvSpPr>
        <p:spPr>
          <a:xfrm>
            <a:off x="-4049311" y="2058438"/>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a:t>
            </a:r>
            <a:r>
              <a:rPr lang="en" sz="900" b="1">
                <a:solidFill>
                  <a:srgbClr val="0E4174"/>
                </a:solidFill>
                <a:latin typeface="Lexend"/>
                <a:ea typeface="Lexend"/>
                <a:cs typeface="Lexend"/>
                <a:sym typeface="Lexend"/>
              </a:rPr>
              <a:t> 504</a:t>
            </a:r>
            <a:r>
              <a:rPr lang="en" sz="700" b="0" i="0" u="none" strike="noStrike" cap="none">
                <a:solidFill>
                  <a:srgbClr val="6B7280"/>
                </a:solidFill>
                <a:latin typeface="Lexend"/>
                <a:ea typeface="Lexend"/>
                <a:cs typeface="Lexend"/>
                <a:sym typeface="Lexend"/>
              </a:rPr>
              <a:t>/535</a:t>
            </a:r>
            <a:endParaRPr sz="1100"/>
          </a:p>
        </p:txBody>
      </p:sp>
      <p:sp>
        <p:nvSpPr>
          <p:cNvPr id="1552" name="Google Shape;1552;p74"/>
          <p:cNvSpPr txBox="1"/>
          <p:nvPr/>
        </p:nvSpPr>
        <p:spPr>
          <a:xfrm>
            <a:off x="-3248502" y="2082684"/>
            <a:ext cx="7908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EF4444"/>
                </a:solidFill>
                <a:latin typeface="Lexend"/>
                <a:ea typeface="Lexend"/>
                <a:cs typeface="Lexend"/>
                <a:sym typeface="Lexend"/>
              </a:rPr>
              <a:t>9</a:t>
            </a:r>
            <a:r>
              <a:rPr lang="en" sz="700" b="1">
                <a:solidFill>
                  <a:srgbClr val="EF4444"/>
                </a:solidFill>
                <a:latin typeface="Lexend"/>
                <a:ea typeface="Lexend"/>
                <a:cs typeface="Lexend"/>
                <a:sym typeface="Lexend"/>
              </a:rPr>
              <a:t>4</a:t>
            </a:r>
            <a:r>
              <a:rPr lang="en" sz="700" b="1" i="0" u="none" strike="noStrike" cap="none">
                <a:solidFill>
                  <a:srgbClr val="EF4444"/>
                </a:solidFill>
                <a:latin typeface="Lexend"/>
                <a:ea typeface="Lexend"/>
                <a:cs typeface="Lexend"/>
                <a:sym typeface="Lexend"/>
              </a:rPr>
              <a:t>% </a:t>
            </a:r>
            <a:endParaRPr sz="1100"/>
          </a:p>
        </p:txBody>
      </p:sp>
      <p:sp>
        <p:nvSpPr>
          <p:cNvPr id="1553" name="Google Shape;1553;p74"/>
          <p:cNvSpPr/>
          <p:nvPr/>
        </p:nvSpPr>
        <p:spPr>
          <a:xfrm>
            <a:off x="-2309112" y="1651963"/>
            <a:ext cx="1671900" cy="614400"/>
          </a:xfrm>
          <a:prstGeom prst="roundRect">
            <a:avLst>
              <a:gd name="adj" fmla="val 13953"/>
            </a:avLst>
          </a:prstGeom>
          <a:solidFill>
            <a:srgbClr val="F7F9FC"/>
          </a:solidFill>
          <a:ln w="7150" cap="flat" cmpd="sng">
            <a:solidFill>
              <a:srgbClr val="EDF1F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54" name="Google Shape;1554;p74"/>
          <p:cNvSpPr txBox="1"/>
          <p:nvPr/>
        </p:nvSpPr>
        <p:spPr>
          <a:xfrm>
            <a:off x="-2184096" y="1742331"/>
            <a:ext cx="7908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1" i="0" u="none" strike="noStrike" cap="none">
                <a:solidFill>
                  <a:srgbClr val="9CA3AF"/>
                </a:solidFill>
                <a:latin typeface="Lexend"/>
                <a:ea typeface="Lexend"/>
                <a:cs typeface="Lexend"/>
                <a:sym typeface="Lexend"/>
              </a:rPr>
              <a:t>RETENTION (T7)</a:t>
            </a:r>
            <a:endParaRPr sz="1100"/>
          </a:p>
        </p:txBody>
      </p:sp>
      <p:sp>
        <p:nvSpPr>
          <p:cNvPr id="1555" name="Google Shape;1555;p74"/>
          <p:cNvSpPr txBox="1"/>
          <p:nvPr/>
        </p:nvSpPr>
        <p:spPr>
          <a:xfrm>
            <a:off x="-2185085" y="1897713"/>
            <a:ext cx="8430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HAN 79.</a:t>
            </a:r>
            <a:r>
              <a:rPr lang="en" sz="900" b="1">
                <a:solidFill>
                  <a:srgbClr val="0E4174"/>
                </a:solidFill>
                <a:latin typeface="Lexend"/>
                <a:ea typeface="Lexend"/>
                <a:cs typeface="Lexend"/>
                <a:sym typeface="Lexend"/>
              </a:rPr>
              <a:t>68</a:t>
            </a:r>
            <a:r>
              <a:rPr lang="en" sz="900" b="1" i="0" u="none" strike="noStrike" cap="none">
                <a:solidFill>
                  <a:srgbClr val="0E4174"/>
                </a:solidFill>
                <a:latin typeface="Lexend"/>
                <a:ea typeface="Lexend"/>
                <a:cs typeface="Lexend"/>
                <a:sym typeface="Lexend"/>
              </a:rPr>
              <a:t>%</a:t>
            </a:r>
            <a:endParaRPr sz="1100"/>
          </a:p>
        </p:txBody>
      </p:sp>
      <p:sp>
        <p:nvSpPr>
          <p:cNvPr id="1556" name="Google Shape;1556;p74"/>
          <p:cNvSpPr txBox="1"/>
          <p:nvPr/>
        </p:nvSpPr>
        <p:spPr>
          <a:xfrm>
            <a:off x="-1326846" y="1921996"/>
            <a:ext cx="4527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10B981"/>
                </a:solidFill>
                <a:latin typeface="Lexend"/>
                <a:ea typeface="Lexend"/>
                <a:cs typeface="Lexend"/>
                <a:sym typeface="Lexend"/>
              </a:rPr>
              <a:t>↑ 2% WoW</a:t>
            </a:r>
            <a:endParaRPr sz="1100"/>
          </a:p>
        </p:txBody>
      </p:sp>
      <p:sp>
        <p:nvSpPr>
          <p:cNvPr id="1557" name="Google Shape;1557;p74"/>
          <p:cNvSpPr txBox="1"/>
          <p:nvPr/>
        </p:nvSpPr>
        <p:spPr>
          <a:xfrm>
            <a:off x="-2185086" y="2069163"/>
            <a:ext cx="7611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900" b="1" i="0" u="none" strike="noStrike" cap="none">
                <a:solidFill>
                  <a:srgbClr val="0E4174"/>
                </a:solidFill>
                <a:latin typeface="Lexend"/>
                <a:ea typeface="Lexend"/>
                <a:cs typeface="Lexend"/>
                <a:sym typeface="Lexend"/>
              </a:rPr>
              <a:t>SGN 78.43%</a:t>
            </a:r>
            <a:endParaRPr sz="1100"/>
          </a:p>
        </p:txBody>
      </p:sp>
      <p:sp>
        <p:nvSpPr>
          <p:cNvPr id="1558" name="Google Shape;1558;p74"/>
          <p:cNvSpPr txBox="1"/>
          <p:nvPr/>
        </p:nvSpPr>
        <p:spPr>
          <a:xfrm>
            <a:off x="-3929634" y="2539773"/>
            <a:ext cx="15654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374151"/>
                </a:solidFill>
                <a:latin typeface="Lexend"/>
                <a:ea typeface="Lexend"/>
                <a:cs typeface="Lexend"/>
                <a:sym typeface="Lexend"/>
              </a:rPr>
              <a:t>Convert tài xế chuyển đổi / tuần</a:t>
            </a:r>
            <a:endParaRPr sz="1100"/>
          </a:p>
        </p:txBody>
      </p:sp>
      <p:sp>
        <p:nvSpPr>
          <p:cNvPr id="1559" name="Google Shape;1559;p74"/>
          <p:cNvSpPr/>
          <p:nvPr/>
        </p:nvSpPr>
        <p:spPr>
          <a:xfrm>
            <a:off x="-1640062" y="2579956"/>
            <a:ext cx="114300" cy="7144"/>
          </a:xfrm>
          <a:custGeom>
            <a:avLst/>
            <a:gdLst/>
            <a:ahLst/>
            <a:cxnLst/>
            <a:rect l="l" t="t" r="r" b="b"/>
            <a:pathLst>
              <a:path w="152400" h="9525" extrusionOk="0">
                <a:moveTo>
                  <a:pt x="0" y="0"/>
                </a:moveTo>
                <a:lnTo>
                  <a:pt x="152400" y="0"/>
                </a:lnTo>
              </a:path>
            </a:pathLst>
          </a:custGeom>
          <a:noFill/>
          <a:ln w="17850" cap="flat" cmpd="sng">
            <a:solidFill>
              <a:srgbClr val="FF7F32"/>
            </a:solidFill>
            <a:prstDash val="solid"/>
            <a:round/>
            <a:headEnd type="none" w="sm" len="sm"/>
            <a:tailEnd type="none" w="sm" len="sm"/>
          </a:ln>
        </p:spPr>
      </p:sp>
      <p:sp>
        <p:nvSpPr>
          <p:cNvPr id="1560" name="Google Shape;1560;p74"/>
          <p:cNvSpPr txBox="1"/>
          <p:nvPr/>
        </p:nvSpPr>
        <p:spPr>
          <a:xfrm>
            <a:off x="-1486457" y="2541744"/>
            <a:ext cx="2286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SGN</a:t>
            </a:r>
            <a:endParaRPr sz="1100"/>
          </a:p>
        </p:txBody>
      </p:sp>
      <p:sp>
        <p:nvSpPr>
          <p:cNvPr id="1561" name="Google Shape;1561;p74"/>
          <p:cNvSpPr/>
          <p:nvPr/>
        </p:nvSpPr>
        <p:spPr>
          <a:xfrm>
            <a:off x="-1197150" y="2579956"/>
            <a:ext cx="114300" cy="7144"/>
          </a:xfrm>
          <a:custGeom>
            <a:avLst/>
            <a:gdLst/>
            <a:ahLst/>
            <a:cxnLst/>
            <a:rect l="l" t="t" r="r" b="b"/>
            <a:pathLst>
              <a:path w="152400" h="9525" extrusionOk="0">
                <a:moveTo>
                  <a:pt x="0" y="0"/>
                </a:moveTo>
                <a:lnTo>
                  <a:pt x="152400" y="0"/>
                </a:lnTo>
              </a:path>
            </a:pathLst>
          </a:custGeom>
          <a:noFill/>
          <a:ln w="17850" cap="flat" cmpd="sng">
            <a:solidFill>
              <a:srgbClr val="0E4174"/>
            </a:solidFill>
            <a:prstDash val="solid"/>
            <a:round/>
            <a:headEnd type="none" w="sm" len="sm"/>
            <a:tailEnd type="none" w="sm" len="sm"/>
          </a:ln>
        </p:spPr>
      </p:sp>
      <p:sp>
        <p:nvSpPr>
          <p:cNvPr id="1562" name="Google Shape;1562;p74"/>
          <p:cNvSpPr txBox="1"/>
          <p:nvPr/>
        </p:nvSpPr>
        <p:spPr>
          <a:xfrm>
            <a:off x="-1043542" y="2541744"/>
            <a:ext cx="275100" cy="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00" b="0" i="0" u="none" strike="noStrike" cap="none">
                <a:solidFill>
                  <a:srgbClr val="6B7280"/>
                </a:solidFill>
                <a:latin typeface="Lexend"/>
                <a:ea typeface="Lexend"/>
                <a:cs typeface="Lexend"/>
                <a:sym typeface="Lexend"/>
              </a:rPr>
              <a:t>HAN</a:t>
            </a:r>
            <a:endParaRPr sz="1100"/>
          </a:p>
        </p:txBody>
      </p:sp>
      <p:sp>
        <p:nvSpPr>
          <p:cNvPr id="1563" name="Google Shape;1563;p74"/>
          <p:cNvSpPr/>
          <p:nvPr/>
        </p:nvSpPr>
        <p:spPr>
          <a:xfrm>
            <a:off x="-3840337" y="2687113"/>
            <a:ext cx="3071813" cy="7144"/>
          </a:xfrm>
          <a:custGeom>
            <a:avLst/>
            <a:gdLst/>
            <a:ahLst/>
            <a:cxnLst/>
            <a:rect l="l" t="t" r="r" b="b"/>
            <a:pathLst>
              <a:path w="4095750" h="9525" extrusionOk="0">
                <a:moveTo>
                  <a:pt x="0" y="0"/>
                </a:moveTo>
                <a:lnTo>
                  <a:pt x="4095750" y="0"/>
                </a:lnTo>
              </a:path>
            </a:pathLst>
          </a:custGeom>
          <a:noFill/>
          <a:ln w="7150" cap="flat" cmpd="sng">
            <a:solidFill>
              <a:srgbClr val="F0F3F7"/>
            </a:solidFill>
            <a:prstDash val="solid"/>
            <a:round/>
            <a:headEnd type="none" w="sm" len="sm"/>
            <a:tailEnd type="none" w="sm" len="sm"/>
          </a:ln>
        </p:spPr>
      </p:sp>
      <p:sp>
        <p:nvSpPr>
          <p:cNvPr id="1564" name="Google Shape;1564;p74"/>
          <p:cNvSpPr/>
          <p:nvPr/>
        </p:nvSpPr>
        <p:spPr>
          <a:xfrm>
            <a:off x="-3840337" y="3415775"/>
            <a:ext cx="3071813" cy="7144"/>
          </a:xfrm>
          <a:custGeom>
            <a:avLst/>
            <a:gdLst/>
            <a:ahLst/>
            <a:cxnLst/>
            <a:rect l="l" t="t" r="r" b="b"/>
            <a:pathLst>
              <a:path w="4095750" h="9525" extrusionOk="0">
                <a:moveTo>
                  <a:pt x="0" y="0"/>
                </a:moveTo>
                <a:lnTo>
                  <a:pt x="4095750" y="0"/>
                </a:lnTo>
              </a:path>
            </a:pathLst>
          </a:custGeom>
          <a:noFill/>
          <a:ln w="7150" cap="flat" cmpd="sng">
            <a:solidFill>
              <a:srgbClr val="E5E9EF"/>
            </a:solidFill>
            <a:prstDash val="solid"/>
            <a:round/>
            <a:headEnd type="none" w="sm" len="sm"/>
            <a:tailEnd type="none" w="sm" len="sm"/>
          </a:ln>
        </p:spPr>
      </p:sp>
      <p:sp>
        <p:nvSpPr>
          <p:cNvPr id="1565" name="Google Shape;1565;p74"/>
          <p:cNvSpPr/>
          <p:nvPr/>
        </p:nvSpPr>
        <p:spPr>
          <a:xfrm>
            <a:off x="-3840337" y="2716402"/>
            <a:ext cx="3071813" cy="349329"/>
          </a:xfrm>
          <a:custGeom>
            <a:avLst/>
            <a:gdLst/>
            <a:ahLst/>
            <a:cxnLst/>
            <a:rect l="l" t="t" r="r" b="b"/>
            <a:pathLst>
              <a:path w="4095750" h="465772" extrusionOk="0">
                <a:moveTo>
                  <a:pt x="0" y="77152"/>
                </a:moveTo>
                <a:lnTo>
                  <a:pt x="1023938" y="174307"/>
                </a:lnTo>
                <a:lnTo>
                  <a:pt x="2047875" y="0"/>
                </a:lnTo>
                <a:lnTo>
                  <a:pt x="3071812" y="136207"/>
                </a:lnTo>
                <a:lnTo>
                  <a:pt x="4095750" y="465772"/>
                </a:lnTo>
              </a:path>
            </a:pathLst>
          </a:custGeom>
          <a:noFill/>
          <a:ln w="17850" cap="rnd" cmpd="sng">
            <a:solidFill>
              <a:srgbClr val="FF7F32"/>
            </a:solidFill>
            <a:prstDash val="solid"/>
            <a:round/>
            <a:headEnd type="none" w="sm" len="sm"/>
            <a:tailEnd type="none" w="sm" len="sm"/>
          </a:ln>
        </p:spPr>
      </p:sp>
      <p:grpSp>
        <p:nvGrpSpPr>
          <p:cNvPr id="1566" name="Google Shape;1566;p74"/>
          <p:cNvGrpSpPr/>
          <p:nvPr/>
        </p:nvGrpSpPr>
        <p:grpSpPr>
          <a:xfrm>
            <a:off x="-3861769" y="2694971"/>
            <a:ext cx="3121819" cy="399335"/>
            <a:chOff x="1000125" y="3115628"/>
            <a:chExt cx="4162425" cy="532447"/>
          </a:xfrm>
        </p:grpSpPr>
        <p:sp>
          <p:nvSpPr>
            <p:cNvPr id="1567" name="Google Shape;1567;p74"/>
            <p:cNvSpPr/>
            <p:nvPr/>
          </p:nvSpPr>
          <p:spPr>
            <a:xfrm>
              <a:off x="1000125" y="3192780"/>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68" name="Google Shape;1568;p74"/>
            <p:cNvSpPr/>
            <p:nvPr/>
          </p:nvSpPr>
          <p:spPr>
            <a:xfrm>
              <a:off x="2024062" y="32899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69" name="Google Shape;1569;p74"/>
            <p:cNvSpPr/>
            <p:nvPr/>
          </p:nvSpPr>
          <p:spPr>
            <a:xfrm>
              <a:off x="3048000" y="3115628"/>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0" name="Google Shape;1570;p74"/>
            <p:cNvSpPr/>
            <p:nvPr/>
          </p:nvSpPr>
          <p:spPr>
            <a:xfrm>
              <a:off x="4071938" y="3251835"/>
              <a:ext cx="57300" cy="573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1" name="Google Shape;1571;p74"/>
            <p:cNvSpPr/>
            <p:nvPr/>
          </p:nvSpPr>
          <p:spPr>
            <a:xfrm>
              <a:off x="5086350" y="3571875"/>
              <a:ext cx="76200" cy="762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572" name="Google Shape;1572;p74"/>
          <p:cNvSpPr txBox="1"/>
          <p:nvPr/>
        </p:nvSpPr>
        <p:spPr>
          <a:xfrm>
            <a:off x="-824573" y="2942859"/>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E0641A"/>
                </a:solidFill>
                <a:latin typeface="Lexend"/>
                <a:ea typeface="Lexend"/>
                <a:cs typeface="Lexend"/>
                <a:sym typeface="Lexend"/>
              </a:rPr>
              <a:t>34</a:t>
            </a:r>
            <a:endParaRPr sz="1100"/>
          </a:p>
        </p:txBody>
      </p:sp>
      <p:sp>
        <p:nvSpPr>
          <p:cNvPr id="1573" name="Google Shape;1573;p74"/>
          <p:cNvSpPr/>
          <p:nvPr/>
        </p:nvSpPr>
        <p:spPr>
          <a:xfrm>
            <a:off x="-3840337" y="2919999"/>
            <a:ext cx="3071813" cy="422910"/>
          </a:xfrm>
          <a:custGeom>
            <a:avLst/>
            <a:gdLst/>
            <a:ahLst/>
            <a:cxnLst/>
            <a:rect l="l" t="t" r="r" b="b"/>
            <a:pathLst>
              <a:path w="4095750" h="563880" extrusionOk="0">
                <a:moveTo>
                  <a:pt x="0" y="20002"/>
                </a:moveTo>
                <a:lnTo>
                  <a:pt x="1023938" y="0"/>
                </a:lnTo>
                <a:lnTo>
                  <a:pt x="2047875" y="117157"/>
                </a:lnTo>
                <a:lnTo>
                  <a:pt x="3071812" y="350520"/>
                </a:lnTo>
                <a:lnTo>
                  <a:pt x="4095750" y="563880"/>
                </a:lnTo>
              </a:path>
            </a:pathLst>
          </a:custGeom>
          <a:noFill/>
          <a:ln w="17850" cap="rnd" cmpd="sng">
            <a:solidFill>
              <a:srgbClr val="0E4174"/>
            </a:solidFill>
            <a:prstDash val="solid"/>
            <a:round/>
            <a:headEnd type="none" w="sm" len="sm"/>
            <a:tailEnd type="none" w="sm" len="sm"/>
          </a:ln>
        </p:spPr>
      </p:sp>
      <p:grpSp>
        <p:nvGrpSpPr>
          <p:cNvPr id="1574" name="Google Shape;1574;p74"/>
          <p:cNvGrpSpPr/>
          <p:nvPr/>
        </p:nvGrpSpPr>
        <p:grpSpPr>
          <a:xfrm>
            <a:off x="-3861769" y="2898568"/>
            <a:ext cx="3121819" cy="472916"/>
            <a:chOff x="1000125" y="3387090"/>
            <a:chExt cx="4162425" cy="630555"/>
          </a:xfrm>
        </p:grpSpPr>
        <p:sp>
          <p:nvSpPr>
            <p:cNvPr id="1575" name="Google Shape;1575;p74"/>
            <p:cNvSpPr/>
            <p:nvPr/>
          </p:nvSpPr>
          <p:spPr>
            <a:xfrm>
              <a:off x="1000125" y="3407092"/>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6" name="Google Shape;1576;p74"/>
            <p:cNvSpPr/>
            <p:nvPr/>
          </p:nvSpPr>
          <p:spPr>
            <a:xfrm>
              <a:off x="2024062" y="338709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7" name="Google Shape;1577;p74"/>
            <p:cNvSpPr/>
            <p:nvPr/>
          </p:nvSpPr>
          <p:spPr>
            <a:xfrm>
              <a:off x="3048000" y="3504248"/>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8" name="Google Shape;1578;p74"/>
            <p:cNvSpPr/>
            <p:nvPr/>
          </p:nvSpPr>
          <p:spPr>
            <a:xfrm>
              <a:off x="4071938" y="3737610"/>
              <a:ext cx="57300" cy="573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9" name="Google Shape;1579;p74"/>
            <p:cNvSpPr/>
            <p:nvPr/>
          </p:nvSpPr>
          <p:spPr>
            <a:xfrm>
              <a:off x="5086350" y="3941445"/>
              <a:ext cx="76200" cy="76200"/>
            </a:xfrm>
            <a:prstGeom prst="ellipse">
              <a:avLst/>
            </a:prstGeom>
            <a:solidFill>
              <a:srgbClr val="0E417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1580" name="Google Shape;1580;p74"/>
          <p:cNvSpPr txBox="1"/>
          <p:nvPr/>
        </p:nvSpPr>
        <p:spPr>
          <a:xfrm>
            <a:off x="-824573" y="3235753"/>
            <a:ext cx="111900" cy="10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700" b="1" i="0" u="none" strike="noStrike" cap="none">
                <a:solidFill>
                  <a:srgbClr val="0E4174"/>
                </a:solidFill>
                <a:latin typeface="Lexend"/>
                <a:ea typeface="Lexend"/>
                <a:cs typeface="Lexend"/>
                <a:sym typeface="Lexend"/>
              </a:rPr>
              <a:t>15</a:t>
            </a:r>
            <a:endParaRPr sz="1100"/>
          </a:p>
        </p:txBody>
      </p:sp>
      <p:grpSp>
        <p:nvGrpSpPr>
          <p:cNvPr id="1581" name="Google Shape;1581;p74"/>
          <p:cNvGrpSpPr/>
          <p:nvPr/>
        </p:nvGrpSpPr>
        <p:grpSpPr>
          <a:xfrm>
            <a:off x="-3927205" y="3469353"/>
            <a:ext cx="3245513" cy="92250"/>
            <a:chOff x="912876" y="4148138"/>
            <a:chExt cx="4327350" cy="123000"/>
          </a:xfrm>
        </p:grpSpPr>
        <p:sp>
          <p:nvSpPr>
            <p:cNvPr id="1582" name="Google Shape;1582;p74"/>
            <p:cNvSpPr txBox="1"/>
            <p:nvPr/>
          </p:nvSpPr>
          <p:spPr>
            <a:xfrm>
              <a:off x="91287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22/6</a:t>
              </a:r>
              <a:endParaRPr sz="1100"/>
            </a:p>
          </p:txBody>
        </p:sp>
        <p:sp>
          <p:nvSpPr>
            <p:cNvPr id="1583" name="Google Shape;1583;p74"/>
            <p:cNvSpPr txBox="1"/>
            <p:nvPr/>
          </p:nvSpPr>
          <p:spPr>
            <a:xfrm>
              <a:off x="1936814"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29/6</a:t>
              </a:r>
              <a:endParaRPr sz="1100"/>
            </a:p>
          </p:txBody>
        </p:sp>
        <p:sp>
          <p:nvSpPr>
            <p:cNvPr id="1584" name="Google Shape;1584;p74"/>
            <p:cNvSpPr txBox="1"/>
            <p:nvPr/>
          </p:nvSpPr>
          <p:spPr>
            <a:xfrm>
              <a:off x="2988516" y="4148138"/>
              <a:ext cx="1761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6/7</a:t>
              </a:r>
              <a:endParaRPr sz="1100"/>
            </a:p>
          </p:txBody>
        </p:sp>
        <p:sp>
          <p:nvSpPr>
            <p:cNvPr id="1585" name="Google Shape;1585;p74"/>
            <p:cNvSpPr txBox="1"/>
            <p:nvPr/>
          </p:nvSpPr>
          <p:spPr>
            <a:xfrm>
              <a:off x="3984688"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13/7</a:t>
              </a:r>
              <a:endParaRPr sz="1100"/>
            </a:p>
          </p:txBody>
        </p:sp>
        <p:sp>
          <p:nvSpPr>
            <p:cNvPr id="1586" name="Google Shape;1586;p74"/>
            <p:cNvSpPr txBox="1"/>
            <p:nvPr/>
          </p:nvSpPr>
          <p:spPr>
            <a:xfrm>
              <a:off x="5008626" y="4148138"/>
              <a:ext cx="231600" cy="12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600" b="0" i="0" u="none" strike="noStrike" cap="none">
                  <a:solidFill>
                    <a:srgbClr val="9CA3AF"/>
                  </a:solidFill>
                  <a:latin typeface="Lexend"/>
                  <a:ea typeface="Lexend"/>
                  <a:cs typeface="Lexend"/>
                  <a:sym typeface="Lexend"/>
                </a:rPr>
                <a:t>20/7</a:t>
              </a:r>
              <a:endParaRPr sz="1100"/>
            </a:p>
          </p:txBody>
        </p:sp>
      </p:grpSp>
      <p:sp>
        <p:nvSpPr>
          <p:cNvPr id="1587" name="Google Shape;1587;p74"/>
          <p:cNvSpPr/>
          <p:nvPr/>
        </p:nvSpPr>
        <p:spPr>
          <a:xfrm>
            <a:off x="-4040362" y="3722876"/>
            <a:ext cx="3471900" cy="414600"/>
          </a:xfrm>
          <a:prstGeom prst="roundRect">
            <a:avLst>
              <a:gd name="adj" fmla="val 20690"/>
            </a:avLst>
          </a:prstGeom>
          <a:solidFill>
            <a:srgbClr val="FFF3E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88" name="Google Shape;1588;p74"/>
          <p:cNvSpPr/>
          <p:nvPr/>
        </p:nvSpPr>
        <p:spPr>
          <a:xfrm>
            <a:off x="-3918919" y="3881483"/>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89" name="Google Shape;1589;p74"/>
          <p:cNvSpPr txBox="1"/>
          <p:nvPr/>
        </p:nvSpPr>
        <p:spPr>
          <a:xfrm>
            <a:off x="-3772471" y="3818424"/>
            <a:ext cx="26901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1" i="0" u="none" strike="noStrike" cap="none">
                <a:solidFill>
                  <a:srgbClr val="B4531A"/>
                </a:solidFill>
                <a:latin typeface="Lexend"/>
                <a:ea typeface="Lexend"/>
                <a:cs typeface="Lexend"/>
                <a:sym typeface="Lexend"/>
              </a:rPr>
              <a:t>Cả 2 TP giảm mạnh convert;</a:t>
            </a:r>
            <a:r>
              <a:rPr lang="en" sz="700" b="0" i="0" u="none" strike="noStrike" cap="none">
                <a:solidFill>
                  <a:srgbClr val="B4531A"/>
                </a:solidFill>
                <a:latin typeface="Lexend"/>
                <a:ea typeface="Lexend"/>
                <a:cs typeface="Lexend"/>
                <a:sym typeface="Lexend"/>
              </a:rPr>
              <a:t> lead Aizen đóng cứng 3 tuần —</a:t>
            </a:r>
            <a:endParaRPr sz="1100"/>
          </a:p>
        </p:txBody>
      </p:sp>
      <p:sp>
        <p:nvSpPr>
          <p:cNvPr id="1590" name="Google Shape;1590;p74"/>
          <p:cNvSpPr txBox="1"/>
          <p:nvPr/>
        </p:nvSpPr>
        <p:spPr>
          <a:xfrm>
            <a:off x="-3772471" y="3947011"/>
            <a:ext cx="1857900" cy="10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700" b="0" i="0" u="none" strike="noStrike" cap="none">
                <a:solidFill>
                  <a:srgbClr val="B4531A"/>
                </a:solidFill>
                <a:latin typeface="Lexend"/>
                <a:ea typeface="Lexend"/>
                <a:cs typeface="Lexend"/>
                <a:sym typeface="Lexend"/>
              </a:rPr>
              <a:t>0 tài xế mới dùng gói thuê / thuê sở hữu.</a:t>
            </a:r>
            <a:endParaRPr sz="1100"/>
          </a:p>
        </p:txBody>
      </p:sp>
      <p:sp>
        <p:nvSpPr>
          <p:cNvPr id="1591" name="Google Shape;1591;p74"/>
          <p:cNvSpPr/>
          <p:nvPr/>
        </p:nvSpPr>
        <p:spPr>
          <a:xfrm>
            <a:off x="717256" y="3818421"/>
            <a:ext cx="71700" cy="71700"/>
          </a:xfrm>
          <a:prstGeom prst="ellipse">
            <a:avLst/>
          </a:prstGeom>
          <a:solidFill>
            <a:srgbClr val="FF7F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96"/>
        <p:cNvGrpSpPr/>
        <p:nvPr/>
      </p:nvGrpSpPr>
      <p:grpSpPr>
        <a:xfrm>
          <a:off x="0" y="0"/>
          <a:ext cx="0" cy="0"/>
          <a:chOff x="0" y="0"/>
          <a:chExt cx="0" cy="0"/>
        </a:xfrm>
      </p:grpSpPr>
      <p:sp>
        <p:nvSpPr>
          <p:cNvPr id="1597" name="Google Shape;1597;p7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98" name="Google Shape;1598;p75"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599" name="Google Shape;1599;p75"/>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CTR · GDR</a:t>
            </a:r>
            <a:endParaRPr sz="2200" b="1" i="0" u="none" strike="noStrike" cap="none">
              <a:solidFill>
                <a:srgbClr val="F56C1F"/>
              </a:solidFill>
              <a:highlight>
                <a:schemeClr val="lt1"/>
              </a:highlight>
              <a:latin typeface="Lexend"/>
              <a:ea typeface="Lexend"/>
              <a:cs typeface="Lexend"/>
              <a:sym typeface="Lexend"/>
            </a:endParaRPr>
          </a:p>
        </p:txBody>
      </p:sp>
      <p:sp>
        <p:nvSpPr>
          <p:cNvPr id="1600" name="Google Shape;1600;p75"/>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Compliance True Rate</a:t>
            </a:r>
            <a:r>
              <a:rPr lang="en" sz="1000" i="1" u="none" strike="noStrike" cap="none">
                <a:solidFill>
                  <a:srgbClr val="64748B"/>
                </a:solidFill>
                <a:latin typeface="Lexend"/>
                <a:ea typeface="Lexend"/>
                <a:cs typeface="Lexend"/>
                <a:sym typeface="Lexend"/>
              </a:rPr>
              <a:t> · Good </a:t>
            </a:r>
            <a:r>
              <a:rPr lang="en" sz="1000" i="1">
                <a:solidFill>
                  <a:srgbClr val="64748B"/>
                </a:solidFill>
                <a:latin typeface="Lexend"/>
                <a:ea typeface="Lexend"/>
                <a:cs typeface="Lexend"/>
                <a:sym typeface="Lexend"/>
              </a:rPr>
              <a:t>Driver</a:t>
            </a:r>
            <a:r>
              <a:rPr lang="en" sz="1000" i="1" u="none" strike="noStrike" cap="none">
                <a:solidFill>
                  <a:srgbClr val="64748B"/>
                </a:solidFill>
                <a:latin typeface="Lexend"/>
                <a:ea typeface="Lexend"/>
                <a:cs typeface="Lexend"/>
                <a:sym typeface="Lexend"/>
              </a:rPr>
              <a:t> Rate </a:t>
            </a:r>
            <a:endParaRPr sz="1000" i="0" u="none" strike="noStrike" cap="none">
              <a:solidFill>
                <a:schemeClr val="dk1"/>
              </a:solidFill>
              <a:latin typeface="Lexend"/>
              <a:ea typeface="Lexend"/>
              <a:cs typeface="Lexend"/>
              <a:sym typeface="Lexend"/>
            </a:endParaRPr>
          </a:p>
        </p:txBody>
      </p:sp>
      <p:cxnSp>
        <p:nvCxnSpPr>
          <p:cNvPr id="1601" name="Google Shape;1601;p7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602" name="Google Shape;1602;p75"/>
          <p:cNvSpPr/>
          <p:nvPr/>
        </p:nvSpPr>
        <p:spPr>
          <a:xfrm>
            <a:off x="36575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5"/>
          <p:cNvSpPr/>
          <p:nvPr/>
        </p:nvSpPr>
        <p:spPr>
          <a:xfrm>
            <a:off x="502910"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(Compl</a:t>
            </a:r>
            <a:r>
              <a:rPr lang="en" sz="1100">
                <a:solidFill>
                  <a:srgbClr val="0E4174"/>
                </a:solidFill>
                <a:latin typeface="Lexend"/>
                <a:ea typeface="Lexend"/>
                <a:cs typeface="Lexend"/>
                <a:sym typeface="Lexend"/>
              </a:rPr>
              <a:t>iance</a:t>
            </a:r>
            <a:r>
              <a:rPr lang="en" sz="1100" i="0" u="none" strike="noStrike" cap="none">
                <a:solidFill>
                  <a:srgbClr val="0E4174"/>
                </a:solidFill>
                <a:latin typeface="Lexend"/>
                <a:ea typeface="Lexend"/>
                <a:cs typeface="Lexend"/>
                <a:sym typeface="Lexend"/>
              </a:rPr>
              <a:t> T</a:t>
            </a:r>
            <a:r>
              <a:rPr lang="en" sz="1100">
                <a:solidFill>
                  <a:srgbClr val="0E4174"/>
                </a:solidFill>
                <a:latin typeface="Lexend"/>
                <a:ea typeface="Lexend"/>
                <a:cs typeface="Lexend"/>
                <a:sym typeface="Lexend"/>
              </a:rPr>
              <a:t>rue</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604" name="Google Shape;1604;p75"/>
          <p:cNvSpPr/>
          <p:nvPr/>
        </p:nvSpPr>
        <p:spPr>
          <a:xfrm>
            <a:off x="480060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5"/>
          <p:cNvSpPr/>
          <p:nvPr/>
        </p:nvSpPr>
        <p:spPr>
          <a:xfrm>
            <a:off x="4937761"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D</a:t>
            </a:r>
            <a:r>
              <a:rPr lang="en" sz="1100">
                <a:solidFill>
                  <a:srgbClr val="0E4174"/>
                </a:solidFill>
                <a:latin typeface="Lexend"/>
                <a:ea typeface="Lexend"/>
                <a:cs typeface="Lexend"/>
                <a:sym typeface="Lexend"/>
              </a:rPr>
              <a:t>river</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606" name="Google Shape;1606;p7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607" name="Google Shape;1607;p75"/>
          <p:cNvSpPr/>
          <p:nvPr/>
        </p:nvSpPr>
        <p:spPr>
          <a:xfrm>
            <a:off x="502900" y="2391625"/>
            <a:ext cx="3657600" cy="1058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CTR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70.86%</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3</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-1.92%</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200">
              <a:solidFill>
                <a:schemeClr val="dk1"/>
              </a:solidFill>
              <a:highlight>
                <a:schemeClr val="lt1"/>
              </a:highlight>
            </a:endParaRPr>
          </a:p>
        </p:txBody>
      </p:sp>
      <p:sp>
        <p:nvSpPr>
          <p:cNvPr id="1608" name="Google Shape;1608;p75"/>
          <p:cNvSpPr/>
          <p:nvPr/>
        </p:nvSpPr>
        <p:spPr>
          <a:xfrm>
            <a:off x="4960650" y="2521922"/>
            <a:ext cx="3657600" cy="60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GDR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95.57%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2</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008000"/>
                </a:solidFill>
                <a:latin typeface="Lexend"/>
                <a:ea typeface="Lexend"/>
                <a:cs typeface="Lexend"/>
                <a:sym typeface="Lexend"/>
              </a:rPr>
              <a:t>+0.07%</a:t>
            </a:r>
            <a:r>
              <a:rPr lang="en" sz="1100" i="0" u="none" strike="noStrike" cap="none">
                <a:solidFill>
                  <a:srgbClr val="1E293B"/>
                </a:solidFill>
                <a:latin typeface="Lexend"/>
                <a:ea typeface="Lexend"/>
                <a:cs typeface="Lexend"/>
                <a:sym typeface="Lexend"/>
              </a:rPr>
              <a:t>  |  Trend: </a:t>
            </a:r>
            <a:r>
              <a:rPr lang="en" sz="1100">
                <a:solidFill>
                  <a:srgbClr val="1E293B"/>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609" name="Google Shape;1609;p75"/>
          <p:cNvSpPr/>
          <p:nvPr/>
        </p:nvSpPr>
        <p:spPr>
          <a:xfrm>
            <a:off x="368825" y="3683100"/>
            <a:ext cx="39402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5"/>
          <p:cNvSpPr/>
          <p:nvPr/>
        </p:nvSpPr>
        <p:spPr>
          <a:xfrm>
            <a:off x="463150" y="3834462"/>
            <a:ext cx="2488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a:t>
            </a:r>
            <a:r>
              <a:rPr lang="en" sz="1100">
                <a:solidFill>
                  <a:srgbClr val="0E4174"/>
                </a:solidFill>
                <a:latin typeface="Lexend"/>
                <a:ea typeface="Lexend"/>
                <a:cs typeface="Lexend"/>
                <a:sym typeface="Lexend"/>
              </a:rPr>
              <a:t>(Compliance True Rate)</a:t>
            </a:r>
            <a:endParaRPr sz="1100" i="0" u="none" strike="noStrike" cap="none">
              <a:solidFill>
                <a:schemeClr val="dk1"/>
              </a:solidFill>
              <a:latin typeface="Lexend"/>
              <a:ea typeface="Lexend"/>
              <a:cs typeface="Lexend"/>
              <a:sym typeface="Lexend"/>
            </a:endParaRPr>
          </a:p>
        </p:txBody>
      </p:sp>
      <p:sp>
        <p:nvSpPr>
          <p:cNvPr id="1611" name="Google Shape;1611;p75"/>
          <p:cNvSpPr/>
          <p:nvPr/>
        </p:nvSpPr>
        <p:spPr>
          <a:xfrm>
            <a:off x="463150" y="4050988"/>
            <a:ext cx="2601900" cy="786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CTR:</a:t>
            </a:r>
            <a:r>
              <a:rPr lang="en" sz="1100" i="0" u="none" strike="noStrike" cap="none">
                <a:solidFill>
                  <a:srgbClr val="1E293B"/>
                </a:solidFill>
                <a:latin typeface="Lexend"/>
                <a:ea typeface="Lexend"/>
                <a:cs typeface="Lexend"/>
                <a:sym typeface="Lexend"/>
              </a:rPr>
              <a:t> </a:t>
            </a:r>
            <a:r>
              <a:rPr lang="en" sz="1300" b="1">
                <a:solidFill>
                  <a:srgbClr val="1E293B"/>
                </a:solidFill>
                <a:latin typeface="Lexend"/>
                <a:ea typeface="Lexend"/>
                <a:cs typeface="Lexend"/>
                <a:sym typeface="Lexend"/>
              </a:rPr>
              <a:t>81.2%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130%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-2.03%</a:t>
            </a:r>
            <a:r>
              <a:rPr lang="en" sz="1100">
                <a:solidFill>
                  <a:srgbClr val="1E293B"/>
                </a:solidFill>
                <a:latin typeface="Lexend"/>
                <a:ea typeface="Lexend"/>
                <a:cs typeface="Lexend"/>
                <a:sym typeface="Lexend"/>
              </a:rPr>
              <a:t> </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612" name="Google Shape;1612;p75"/>
          <p:cNvSpPr/>
          <p:nvPr/>
        </p:nvSpPr>
        <p:spPr>
          <a:xfrm>
            <a:off x="4788650" y="3683175"/>
            <a:ext cx="39777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5"/>
          <p:cNvSpPr/>
          <p:nvPr/>
        </p:nvSpPr>
        <p:spPr>
          <a:xfrm>
            <a:off x="4886225" y="3843387"/>
            <a:ext cx="2601900" cy="26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a:t>
            </a:r>
            <a:r>
              <a:rPr lang="en" sz="1100">
                <a:solidFill>
                  <a:srgbClr val="0E4174"/>
                </a:solidFill>
                <a:latin typeface="Lexend"/>
                <a:ea typeface="Lexend"/>
                <a:cs typeface="Lexend"/>
                <a:sym typeface="Lexend"/>
              </a:rPr>
              <a:t>Driver </a:t>
            </a:r>
            <a:r>
              <a:rPr lang="en" sz="1100" i="0" u="none" strike="noStrike" cap="none">
                <a:solidFill>
                  <a:srgbClr val="0E4174"/>
                </a:solidFill>
                <a:latin typeface="Lexend"/>
                <a:ea typeface="Lexend"/>
                <a:cs typeface="Lexend"/>
                <a:sym typeface="Lexend"/>
              </a:rPr>
              <a:t>Rate)</a:t>
            </a:r>
            <a:endParaRPr sz="1100" i="0" u="none" strike="noStrike" cap="none">
              <a:solidFill>
                <a:schemeClr val="dk1"/>
              </a:solidFill>
              <a:latin typeface="Lexend"/>
              <a:ea typeface="Lexend"/>
              <a:cs typeface="Lexend"/>
              <a:sym typeface="Lexend"/>
            </a:endParaRPr>
          </a:p>
        </p:txBody>
      </p:sp>
      <p:sp>
        <p:nvSpPr>
          <p:cNvPr id="1614" name="Google Shape;1614;p75"/>
          <p:cNvSpPr/>
          <p:nvPr/>
        </p:nvSpPr>
        <p:spPr>
          <a:xfrm>
            <a:off x="4886225" y="4099495"/>
            <a:ext cx="2702400" cy="7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GDR:</a:t>
            </a:r>
            <a:r>
              <a:rPr lang="en" sz="1100" i="0" u="none" strike="noStrike" cap="none">
                <a:solidFill>
                  <a:srgbClr val="1E293B"/>
                </a:solidFill>
                <a:latin typeface="Lexend"/>
                <a:ea typeface="Lexend"/>
                <a:cs typeface="Lexend"/>
                <a:sym typeface="Lexend"/>
              </a:rPr>
              <a:t> </a:t>
            </a:r>
            <a:r>
              <a:rPr lang="en" b="1">
                <a:solidFill>
                  <a:srgbClr val="1E293B"/>
                </a:solidFill>
                <a:latin typeface="Lexend"/>
                <a:ea typeface="Lexend"/>
                <a:cs typeface="Lexend"/>
                <a:sym typeface="Lexend"/>
              </a:rPr>
              <a:t>97.3%</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20</a:t>
            </a:r>
            <a:r>
              <a:rPr lang="en" b="1" i="0" u="none" strike="noStrike" cap="none">
                <a:solidFill>
                  <a:srgbClr val="1E293B"/>
                </a:solidFill>
                <a:latin typeface="Lexend"/>
                <a:ea typeface="Lexend"/>
                <a:cs typeface="Lexend"/>
                <a:sym typeface="Lexend"/>
              </a:rPr>
              <a:t>%</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1E293B"/>
                </a:solidFill>
                <a:latin typeface="Lexend"/>
                <a:ea typeface="Lexend"/>
                <a:cs typeface="Lexend"/>
                <a:sym typeface="Lexend"/>
              </a:rPr>
              <a:t>-</a:t>
            </a:r>
            <a:r>
              <a:rPr lang="en" sz="1100">
                <a:solidFill>
                  <a:srgbClr val="EF4444"/>
                </a:solidFill>
                <a:latin typeface="Lexend"/>
                <a:ea typeface="Lexend"/>
                <a:cs typeface="Lexend"/>
                <a:sym typeface="Lexend"/>
              </a:rPr>
              <a:t>0.19%</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i="0" u="none" strike="noStrike" cap="none">
              <a:solidFill>
                <a:srgbClr val="EF4444"/>
              </a:solidFill>
              <a:latin typeface="Lexend"/>
              <a:ea typeface="Lexend"/>
              <a:cs typeface="Lexend"/>
              <a:sym typeface="Lexend"/>
            </a:endParaRPr>
          </a:p>
        </p:txBody>
      </p:sp>
      <p:sp>
        <p:nvSpPr>
          <p:cNvPr id="1615" name="Google Shape;1615;p75"/>
          <p:cNvSpPr/>
          <p:nvPr/>
        </p:nvSpPr>
        <p:spPr>
          <a:xfrm>
            <a:off x="4754700" y="3687300"/>
            <a:ext cx="37500" cy="12900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16" name="Google Shape;1616;p75"/>
          <p:cNvSpPr/>
          <p:nvPr/>
        </p:nvSpPr>
        <p:spPr>
          <a:xfrm>
            <a:off x="331321" y="3683100"/>
            <a:ext cx="37500" cy="12942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17" name="Google Shape;1617;p75"/>
          <p:cNvSpPr/>
          <p:nvPr/>
        </p:nvSpPr>
        <p:spPr>
          <a:xfrm>
            <a:off x="4763101" y="19972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18" name="Google Shape;1618;p75"/>
          <p:cNvSpPr/>
          <p:nvPr/>
        </p:nvSpPr>
        <p:spPr>
          <a:xfrm>
            <a:off x="328250" y="19930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19" name="Google Shape;1619;p75"/>
          <p:cNvSpPr/>
          <p:nvPr/>
        </p:nvSpPr>
        <p:spPr>
          <a:xfrm>
            <a:off x="365750" y="1024357"/>
            <a:ext cx="8412600" cy="828300"/>
          </a:xfrm>
          <a:prstGeom prst="rect">
            <a:avLst/>
          </a:prstGeom>
          <a:solidFill>
            <a:srgbClr val="E8F0FE"/>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Medium"/>
              <a:ea typeface="Lexend Medium"/>
              <a:cs typeface="Lexend Medium"/>
              <a:sym typeface="Lexend Medium"/>
            </a:endParaRPr>
          </a:p>
        </p:txBody>
      </p:sp>
      <p:sp>
        <p:nvSpPr>
          <p:cNvPr id="1620" name="Google Shape;1620;p75"/>
          <p:cNvSpPr txBox="1"/>
          <p:nvPr/>
        </p:nvSpPr>
        <p:spPr>
          <a:xfrm>
            <a:off x="502900" y="1101376"/>
            <a:ext cx="3248100" cy="89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Lexend Medium"/>
                <a:ea typeface="Lexend Medium"/>
                <a:cs typeface="Lexend Medium"/>
                <a:sym typeface="Lexend Medium"/>
              </a:rPr>
              <a:t>[NW] CTR: </a:t>
            </a:r>
            <a:r>
              <a:rPr lang="en" sz="1500" b="1">
                <a:solidFill>
                  <a:srgbClr val="34A853"/>
                </a:solidFill>
                <a:latin typeface="Lexend"/>
                <a:ea typeface="Lexend"/>
                <a:cs typeface="Lexend"/>
                <a:sym typeface="Lexend"/>
              </a:rPr>
              <a:t>78.49%</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130%</a:t>
            </a:r>
            <a:endParaRPr sz="1600" b="1">
              <a:solidFill>
                <a:srgbClr val="34A853"/>
              </a:solidFill>
              <a:latin typeface="Lexend"/>
              <a:ea typeface="Lexend"/>
              <a:cs typeface="Lexend"/>
              <a:sym typeface="Lexend"/>
            </a:endParaRPr>
          </a:p>
          <a:p>
            <a:pPr marL="0" lvl="0" indent="0" algn="l" rtl="0">
              <a:spcBef>
                <a:spcPts val="400"/>
              </a:spcBef>
              <a:spcAft>
                <a:spcPts val="0"/>
              </a:spcAft>
              <a:buClr>
                <a:srgbClr val="1E293B"/>
              </a:buClr>
              <a:buSzPts val="900"/>
              <a:buFont typeface="Calibri"/>
              <a:buNone/>
            </a:pPr>
            <a:r>
              <a:rPr lang="en" sz="1100">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-1.28%</a:t>
            </a:r>
            <a:r>
              <a:rPr lang="en" sz="1100">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a:p>
            <a:pPr marL="0" lvl="0" indent="0" algn="l" rtl="0">
              <a:spcBef>
                <a:spcPts val="0"/>
              </a:spcBef>
              <a:spcAft>
                <a:spcPts val="0"/>
              </a:spcAft>
              <a:buNone/>
            </a:pPr>
            <a:endParaRPr sz="1600">
              <a:solidFill>
                <a:srgbClr val="34A853"/>
              </a:solidFill>
              <a:latin typeface="Lexend Medium"/>
              <a:ea typeface="Lexend Medium"/>
              <a:cs typeface="Lexend Medium"/>
              <a:sym typeface="Lexend Medium"/>
            </a:endParaRPr>
          </a:p>
        </p:txBody>
      </p:sp>
      <p:sp>
        <p:nvSpPr>
          <p:cNvPr id="1621" name="Google Shape;1621;p75"/>
          <p:cNvSpPr/>
          <p:nvPr/>
        </p:nvSpPr>
        <p:spPr>
          <a:xfrm>
            <a:off x="328250" y="1024350"/>
            <a:ext cx="37500" cy="8283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22" name="Google Shape;1622;p75"/>
          <p:cNvSpPr/>
          <p:nvPr/>
        </p:nvSpPr>
        <p:spPr>
          <a:xfrm>
            <a:off x="368823" y="1024350"/>
            <a:ext cx="37500" cy="8283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623" name="Google Shape;1623;p75"/>
          <p:cNvSpPr txBox="1"/>
          <p:nvPr/>
        </p:nvSpPr>
        <p:spPr>
          <a:xfrm>
            <a:off x="4833675" y="1082582"/>
            <a:ext cx="3248100" cy="68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latin typeface="Lexend Medium"/>
                <a:ea typeface="Lexend Medium"/>
                <a:cs typeface="Lexend Medium"/>
                <a:sym typeface="Lexend Medium"/>
              </a:rPr>
              <a:t>[NW] GDR: </a:t>
            </a:r>
            <a:r>
              <a:rPr lang="en" sz="1500" b="1">
                <a:solidFill>
                  <a:srgbClr val="34A853"/>
                </a:solidFill>
                <a:latin typeface="Lexend"/>
                <a:ea typeface="Lexend"/>
                <a:cs typeface="Lexend"/>
                <a:sym typeface="Lexend"/>
              </a:rPr>
              <a:t>96.53%</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120%</a:t>
            </a:r>
            <a:endParaRPr sz="1600" b="1">
              <a:solidFill>
                <a:srgbClr val="34A853"/>
              </a:solidFill>
              <a:latin typeface="Lexend"/>
              <a:ea typeface="Lexend"/>
              <a:cs typeface="Lexend"/>
              <a:sym typeface="Lexend"/>
            </a:endParaRPr>
          </a:p>
          <a:p>
            <a:pPr marL="0" lvl="0" indent="0" algn="l" rtl="0">
              <a:spcBef>
                <a:spcPts val="400"/>
              </a:spcBef>
              <a:spcAft>
                <a:spcPts val="0"/>
              </a:spcAft>
              <a:buNone/>
            </a:pPr>
            <a:r>
              <a:rPr lang="en" sz="1100">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-0.04%</a:t>
            </a:r>
            <a:r>
              <a:rPr lang="en" sz="1100">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600">
              <a:solidFill>
                <a:srgbClr val="EF4444"/>
              </a:solidFill>
              <a:latin typeface="Lexend Medium"/>
              <a:ea typeface="Lexend Medium"/>
              <a:cs typeface="Lexend Medium"/>
              <a:sym typeface="Lexend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28"/>
        <p:cNvGrpSpPr/>
        <p:nvPr/>
      </p:nvGrpSpPr>
      <p:grpSpPr>
        <a:xfrm>
          <a:off x="0" y="0"/>
          <a:ext cx="0" cy="0"/>
          <a:chOff x="0" y="0"/>
          <a:chExt cx="0" cy="0"/>
        </a:xfrm>
      </p:grpSpPr>
      <p:sp>
        <p:nvSpPr>
          <p:cNvPr id="1629" name="Google Shape;1629;p7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0" name="Google Shape;1630;p7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631" name="Google Shape;1631;p7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Communications</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632" name="Google Shape;1632;p7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633" name="Google Shape;1633;p7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634" name="Google Shape;1634;p76"/>
          <p:cNvSpPr/>
          <p:nvPr/>
        </p:nvSpPr>
        <p:spPr>
          <a:xfrm>
            <a:off x="144875" y="964959"/>
            <a:ext cx="4282800" cy="11412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6"/>
          <p:cNvSpPr/>
          <p:nvPr/>
        </p:nvSpPr>
        <p:spPr>
          <a:xfrm>
            <a:off x="144875" y="964959"/>
            <a:ext cx="59100" cy="11412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6"/>
          <p:cNvSpPr/>
          <p:nvPr/>
        </p:nvSpPr>
        <p:spPr>
          <a:xfrm>
            <a:off x="603965" y="1044411"/>
            <a:ext cx="2869200" cy="13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1637" name="Google Shape;1637;p76"/>
          <p:cNvSpPr/>
          <p:nvPr/>
        </p:nvSpPr>
        <p:spPr>
          <a:xfrm>
            <a:off x="341775" y="1198780"/>
            <a:ext cx="3889500" cy="9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0E4174"/>
                </a:solidFill>
                <a:latin typeface="Lexend"/>
                <a:ea typeface="Lexend"/>
                <a:cs typeface="Lexend"/>
                <a:sym typeface="Lexend"/>
              </a:rPr>
              <a:t>- Cập nhật rule thời gian giao hàng:</a:t>
            </a:r>
            <a:endParaRPr sz="900" b="1">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 Điều chỉnh blog + comms cho tx BIKE NW. Topic viral mạnh, ghi nhận nhiều phản ứng tiêu cực từ tài xế</a:t>
            </a:r>
            <a:endParaRPr sz="900" b="1">
              <a:solidFill>
                <a:srgbClr val="0E4174"/>
              </a:solidFill>
              <a:latin typeface="Lexend"/>
              <a:ea typeface="Lexend"/>
              <a:cs typeface="Lexend"/>
              <a:sym typeface="Lexend"/>
            </a:endParaRPr>
          </a:p>
          <a:p>
            <a:pPr marL="0" lvl="0" indent="0" algn="l" rtl="0">
              <a:spcBef>
                <a:spcPts val="0"/>
              </a:spcBef>
              <a:spcAft>
                <a:spcPts val="0"/>
              </a:spcAft>
              <a:buNone/>
            </a:pPr>
            <a:r>
              <a:rPr lang="en" sz="900" b="1">
                <a:solidFill>
                  <a:srgbClr val="0E4174"/>
                </a:solidFill>
                <a:latin typeface="Lexend"/>
                <a:ea typeface="Lexend"/>
                <a:cs typeface="Lexend"/>
                <a:sym typeface="Lexend"/>
              </a:rPr>
              <a:t>- Comms chuỗi bài push active CP 8.8</a:t>
            </a:r>
            <a:endParaRPr sz="900" b="1">
              <a:solidFill>
                <a:srgbClr val="0E417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900">
                <a:solidFill>
                  <a:srgbClr val="0E4174"/>
                </a:solidFill>
                <a:latin typeface="Lexend"/>
                <a:ea typeface="Lexend"/>
                <a:cs typeface="Lexend"/>
                <a:sym typeface="Lexend"/>
              </a:rPr>
              <a:t>+ Setup popup, bản tin lượng đơn + chuỗi content thưởng/điểm nóng trong CP 8.8</a:t>
            </a:r>
            <a:endParaRPr sz="900" b="1">
              <a:solidFill>
                <a:srgbClr val="0E4174"/>
              </a:solidFill>
              <a:latin typeface="Lexend"/>
              <a:ea typeface="Lexend"/>
              <a:cs typeface="Lexend"/>
              <a:sym typeface="Lexend"/>
            </a:endParaRPr>
          </a:p>
        </p:txBody>
      </p:sp>
      <p:sp>
        <p:nvSpPr>
          <p:cNvPr id="1638" name="Google Shape;1638;p76"/>
          <p:cNvSpPr/>
          <p:nvPr/>
        </p:nvSpPr>
        <p:spPr>
          <a:xfrm>
            <a:off x="145125" y="2187401"/>
            <a:ext cx="4282800" cy="10638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6"/>
          <p:cNvSpPr/>
          <p:nvPr/>
        </p:nvSpPr>
        <p:spPr>
          <a:xfrm>
            <a:off x="145125" y="2187401"/>
            <a:ext cx="59100" cy="10638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76"/>
          <p:cNvSpPr/>
          <p:nvPr/>
        </p:nvSpPr>
        <p:spPr>
          <a:xfrm>
            <a:off x="726487" y="2288425"/>
            <a:ext cx="2869200" cy="15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1641" name="Google Shape;1641;p76"/>
          <p:cNvSpPr/>
          <p:nvPr/>
        </p:nvSpPr>
        <p:spPr>
          <a:xfrm>
            <a:off x="336175" y="2314336"/>
            <a:ext cx="4089600" cy="8709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sz="900" b="1">
                <a:solidFill>
                  <a:schemeClr val="dk1"/>
                </a:solidFill>
              </a:rPr>
              <a:t>Baga:</a:t>
            </a:r>
            <a:r>
              <a:rPr lang="en" sz="900">
                <a:solidFill>
                  <a:schemeClr val="dk1"/>
                </a:solidFill>
              </a:rPr>
              <a:t> Lượt đăng ký chưa đạt kỳ vọng → tiếp tục phối hợp với DM để khai thác insight và tối ưu hướng truyền thông thu hút tx.</a:t>
            </a:r>
            <a:endParaRPr sz="900">
              <a:solidFill>
                <a:schemeClr val="dk1"/>
              </a:solidFill>
            </a:endParaRPr>
          </a:p>
          <a:p>
            <a:pPr marL="0" lvl="0" indent="0" algn="l" rtl="0">
              <a:lnSpc>
                <a:spcPct val="100000"/>
              </a:lnSpc>
              <a:spcBef>
                <a:spcPts val="1200"/>
              </a:spcBef>
              <a:spcAft>
                <a:spcPts val="1200"/>
              </a:spcAft>
              <a:buNone/>
            </a:pPr>
            <a:r>
              <a:rPr lang="en" sz="900" b="1">
                <a:solidFill>
                  <a:schemeClr val="dk1"/>
                </a:solidFill>
              </a:rPr>
              <a:t>EV:</a:t>
            </a:r>
            <a:r>
              <a:rPr lang="en" sz="900">
                <a:solidFill>
                  <a:schemeClr val="dk1"/>
                </a:solidFill>
              </a:rPr>
              <a:t> Tiến độ update cần đẩy nhanh → dự kiến </a:t>
            </a:r>
            <a:r>
              <a:rPr lang="en" sz="900" b="1">
                <a:solidFill>
                  <a:schemeClr val="dk1"/>
                </a:solidFill>
              </a:rPr>
              <a:t>air version mới trong tuần này</a:t>
            </a:r>
            <a:r>
              <a:rPr lang="en" sz="900">
                <a:solidFill>
                  <a:schemeClr val="dk1"/>
                </a:solidFill>
              </a:rPr>
              <a:t>, tích hợp chính sách M8 và cập nhật lại content plan EV.</a:t>
            </a:r>
            <a:endParaRPr sz="800">
              <a:solidFill>
                <a:srgbClr val="0E4174"/>
              </a:solidFill>
              <a:latin typeface="Lexend"/>
              <a:ea typeface="Lexend"/>
              <a:cs typeface="Lexend"/>
              <a:sym typeface="Lexend"/>
            </a:endParaRPr>
          </a:p>
        </p:txBody>
      </p:sp>
      <p:sp>
        <p:nvSpPr>
          <p:cNvPr id="1642" name="Google Shape;1642;p76"/>
          <p:cNvSpPr/>
          <p:nvPr/>
        </p:nvSpPr>
        <p:spPr>
          <a:xfrm>
            <a:off x="157312" y="3321676"/>
            <a:ext cx="8778300" cy="1821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76"/>
          <p:cNvSpPr/>
          <p:nvPr/>
        </p:nvSpPr>
        <p:spPr>
          <a:xfrm>
            <a:off x="157300" y="3321676"/>
            <a:ext cx="59100" cy="18219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44" name="Google Shape;1644;p76" descr="preencoded.png"/>
          <p:cNvPicPr preferRelativeResize="0"/>
          <p:nvPr/>
        </p:nvPicPr>
        <p:blipFill rotWithShape="1">
          <a:blip r:embed="rId4">
            <a:alphaModFix/>
          </a:blip>
          <a:srcRect/>
          <a:stretch/>
        </p:blipFill>
        <p:spPr>
          <a:xfrm>
            <a:off x="365790" y="3380095"/>
            <a:ext cx="182880" cy="182880"/>
          </a:xfrm>
          <a:prstGeom prst="rect">
            <a:avLst/>
          </a:prstGeom>
          <a:noFill/>
          <a:ln>
            <a:noFill/>
          </a:ln>
        </p:spPr>
      </p:pic>
      <p:sp>
        <p:nvSpPr>
          <p:cNvPr id="1645" name="Google Shape;1645;p76"/>
          <p:cNvSpPr/>
          <p:nvPr/>
        </p:nvSpPr>
        <p:spPr>
          <a:xfrm>
            <a:off x="621822" y="3343585"/>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a:t>
            </a:r>
            <a:r>
              <a:rPr lang="en" sz="1100" i="1">
                <a:solidFill>
                  <a:srgbClr val="0E4174"/>
                </a:solidFill>
                <a:latin typeface="Lexend"/>
                <a:ea typeface="Lexend"/>
                <a:cs typeface="Lexend"/>
                <a:sym typeface="Lexend"/>
              </a:rPr>
              <a:t> (Solutions &amp; upcoming activities)</a:t>
            </a:r>
            <a:endParaRPr sz="1100" i="1" u="none" strike="noStrike" cap="none">
              <a:solidFill>
                <a:schemeClr val="dk1"/>
              </a:solidFill>
              <a:latin typeface="Lexend"/>
              <a:ea typeface="Lexend"/>
              <a:cs typeface="Lexend"/>
              <a:sym typeface="Lexend"/>
            </a:endParaRPr>
          </a:p>
        </p:txBody>
      </p:sp>
      <p:sp>
        <p:nvSpPr>
          <p:cNvPr id="1646" name="Google Shape;1646;p7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647" name="Google Shape;1647;p76" descr="preencoded.png"/>
          <p:cNvPicPr preferRelativeResize="0"/>
          <p:nvPr/>
        </p:nvPicPr>
        <p:blipFill rotWithShape="1">
          <a:blip r:embed="rId5">
            <a:alphaModFix/>
          </a:blip>
          <a:srcRect/>
          <a:stretch/>
        </p:blipFill>
        <p:spPr>
          <a:xfrm>
            <a:off x="336169" y="1004382"/>
            <a:ext cx="210412" cy="201168"/>
          </a:xfrm>
          <a:prstGeom prst="rect">
            <a:avLst/>
          </a:prstGeom>
          <a:noFill/>
          <a:ln>
            <a:noFill/>
          </a:ln>
        </p:spPr>
      </p:pic>
      <p:pic>
        <p:nvPicPr>
          <p:cNvPr id="1648" name="Google Shape;1648;p76" descr="preencoded.png"/>
          <p:cNvPicPr preferRelativeResize="0"/>
          <p:nvPr/>
        </p:nvPicPr>
        <p:blipFill rotWithShape="1">
          <a:blip r:embed="rId6">
            <a:alphaModFix/>
          </a:blip>
          <a:srcRect/>
          <a:stretch/>
        </p:blipFill>
        <p:spPr>
          <a:xfrm>
            <a:off x="483450" y="2249844"/>
            <a:ext cx="182875" cy="199054"/>
          </a:xfrm>
          <a:prstGeom prst="rect">
            <a:avLst/>
          </a:prstGeom>
          <a:noFill/>
          <a:ln>
            <a:noFill/>
          </a:ln>
        </p:spPr>
      </p:pic>
      <p:graphicFrame>
        <p:nvGraphicFramePr>
          <p:cNvPr id="1649" name="Google Shape;1649;p76"/>
          <p:cNvGraphicFramePr/>
          <p:nvPr/>
        </p:nvGraphicFramePr>
        <p:xfrm>
          <a:off x="369736" y="3776998"/>
          <a:ext cx="3000000" cy="3000000"/>
        </p:xfrm>
        <a:graphic>
          <a:graphicData uri="http://schemas.openxmlformats.org/drawingml/2006/table">
            <a:tbl>
              <a:tblPr>
                <a:noFill/>
                <a:tableStyleId>{1B6E03F7-A7B3-402D-A52F-665CEB5CA1F2}</a:tableStyleId>
              </a:tblPr>
              <a:tblGrid>
                <a:gridCol w="1529075">
                  <a:extLst>
                    <a:ext uri="{9D8B030D-6E8A-4147-A177-3AD203B41FA5}">
                      <a16:colId xmlns:a16="http://schemas.microsoft.com/office/drawing/2014/main" val="20000"/>
                    </a:ext>
                  </a:extLst>
                </a:gridCol>
                <a:gridCol w="2402800">
                  <a:extLst>
                    <a:ext uri="{9D8B030D-6E8A-4147-A177-3AD203B41FA5}">
                      <a16:colId xmlns:a16="http://schemas.microsoft.com/office/drawing/2014/main" val="20001"/>
                    </a:ext>
                  </a:extLst>
                </a:gridCol>
                <a:gridCol w="2402800">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gridCol w="985725">
                  <a:extLst>
                    <a:ext uri="{9D8B030D-6E8A-4147-A177-3AD203B41FA5}">
                      <a16:colId xmlns:a16="http://schemas.microsoft.com/office/drawing/2014/main" val="20004"/>
                    </a:ext>
                  </a:extLst>
                </a:gridCol>
              </a:tblGrid>
              <a:tr h="226050">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Hạng mục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Nguyên nhân/Bối cảnh</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Hành động</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Deadline</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PIC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507800">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Lexend"/>
                          <a:ea typeface="Lexend"/>
                          <a:cs typeface="Lexend"/>
                          <a:sym typeface="Lexend"/>
                        </a:rPr>
                        <a:t>Thuê xe điện AIZEN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Triển khai chương trình thuê xe điện Aizen ở SGN</a:t>
                      </a:r>
                      <a:endParaRPr sz="800">
                        <a:solidFill>
                          <a:schemeClr val="dk1"/>
                        </a:solidFill>
                        <a:latin typeface="Lexend"/>
                        <a:ea typeface="Lexend"/>
                        <a:cs typeface="Lexend"/>
                        <a:sym typeface="Lexend"/>
                      </a:endParaRPr>
                    </a:p>
                    <a:p>
                      <a:pPr marL="0" marR="0" lvl="0" indent="0" algn="l" rtl="0">
                        <a:spcBef>
                          <a:spcPts val="0"/>
                        </a:spcBef>
                        <a:spcAft>
                          <a:spcPts val="0"/>
                        </a:spcAft>
                        <a:buNone/>
                      </a:pP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Adapt các thông tin HAN</a:t>
                      </a:r>
                      <a:br>
                        <a:rPr lang="en" sz="800">
                          <a:solidFill>
                            <a:schemeClr val="dk1"/>
                          </a:solidFill>
                          <a:latin typeface="Lexend"/>
                          <a:ea typeface="Lexend"/>
                          <a:cs typeface="Lexend"/>
                          <a:sym typeface="Lexend"/>
                        </a:rPr>
                      </a:br>
                      <a:r>
                        <a:rPr lang="en" sz="800">
                          <a:solidFill>
                            <a:schemeClr val="dk1"/>
                          </a:solidFill>
                          <a:latin typeface="Lexend"/>
                          <a:ea typeface="Lexend"/>
                          <a:cs typeface="Lexend"/>
                          <a:sym typeface="Lexend"/>
                        </a:rPr>
                        <a:t>- Điều chỉnh và booming chương trình mass SGN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800"/>
                        <a:buFont typeface="Calibri"/>
                        <a:buNone/>
                      </a:pPr>
                      <a:r>
                        <a:rPr lang="en" sz="800">
                          <a:solidFill>
                            <a:schemeClr val="dk1"/>
                          </a:solidFill>
                          <a:latin typeface="Lexend"/>
                          <a:ea typeface="Lexend"/>
                          <a:cs typeface="Lexend"/>
                          <a:sym typeface="Lexend"/>
                        </a:rPr>
                        <a:t>14/7</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800"/>
                        <a:buFont typeface="Calibri"/>
                        <a:buNone/>
                      </a:pPr>
                      <a:r>
                        <a:rPr lang="en" sz="800">
                          <a:solidFill>
                            <a:schemeClr val="dk1"/>
                          </a:solidFill>
                          <a:latin typeface="Lexend"/>
                          <a:ea typeface="Lexend"/>
                          <a:cs typeface="Lexend"/>
                          <a:sym typeface="Lexend"/>
                        </a:rPr>
                        <a:t>Khoa/Thúy</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pic>
        <p:nvPicPr>
          <p:cNvPr id="1650" name="Google Shape;1650;p76" title="Bảng SLA .png"/>
          <p:cNvPicPr preferRelativeResize="0"/>
          <p:nvPr/>
        </p:nvPicPr>
        <p:blipFill>
          <a:blip r:embed="rId7">
            <a:alphaModFix/>
          </a:blip>
          <a:stretch>
            <a:fillRect/>
          </a:stretch>
        </p:blipFill>
        <p:spPr>
          <a:xfrm>
            <a:off x="6704400" y="964950"/>
            <a:ext cx="2282402" cy="1141201"/>
          </a:xfrm>
          <a:prstGeom prst="rect">
            <a:avLst/>
          </a:prstGeom>
          <a:noFill/>
          <a:ln>
            <a:noFill/>
          </a:ln>
        </p:spPr>
      </p:pic>
      <p:pic>
        <p:nvPicPr>
          <p:cNvPr id="1651" name="Google Shape;1651;p76" title="Gemini_Generated_Image_bchxa7bchxa7bchx.png"/>
          <p:cNvPicPr preferRelativeResize="0"/>
          <p:nvPr/>
        </p:nvPicPr>
        <p:blipFill>
          <a:blip r:embed="rId8">
            <a:alphaModFix/>
          </a:blip>
          <a:stretch>
            <a:fillRect/>
          </a:stretch>
        </p:blipFill>
        <p:spPr>
          <a:xfrm>
            <a:off x="4639157" y="964950"/>
            <a:ext cx="1934751" cy="1141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56"/>
        <p:cNvGrpSpPr/>
        <p:nvPr/>
      </p:nvGrpSpPr>
      <p:grpSpPr>
        <a:xfrm>
          <a:off x="0" y="0"/>
          <a:ext cx="0" cy="0"/>
          <a:chOff x="0" y="0"/>
          <a:chExt cx="0" cy="0"/>
        </a:xfrm>
      </p:grpSpPr>
      <p:sp>
        <p:nvSpPr>
          <p:cNvPr id="1657" name="Google Shape;1657;p7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58" name="Google Shape;1658;p77"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659" name="Google Shape;1659;p77"/>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Event &amp; Partnership</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660" name="Google Shape;1660;p77"/>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661" name="Google Shape;1661;p77"/>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662" name="Google Shape;1662;p77"/>
          <p:cNvSpPr/>
          <p:nvPr/>
        </p:nvSpPr>
        <p:spPr>
          <a:xfrm>
            <a:off x="144875" y="960896"/>
            <a:ext cx="5154300" cy="2343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663" name="Google Shape;1663;p77"/>
          <p:cNvSpPr/>
          <p:nvPr/>
        </p:nvSpPr>
        <p:spPr>
          <a:xfrm>
            <a:off x="144875" y="960896"/>
            <a:ext cx="59100" cy="23430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4" name="Google Shape;1664;p77" descr="preencoded.png"/>
          <p:cNvPicPr preferRelativeResize="0"/>
          <p:nvPr/>
        </p:nvPicPr>
        <p:blipFill rotWithShape="1">
          <a:blip r:embed="rId4">
            <a:alphaModFix/>
          </a:blip>
          <a:srcRect/>
          <a:stretch/>
        </p:blipFill>
        <p:spPr>
          <a:xfrm>
            <a:off x="336169" y="1022729"/>
            <a:ext cx="227052" cy="227052"/>
          </a:xfrm>
          <a:prstGeom prst="rect">
            <a:avLst/>
          </a:prstGeom>
          <a:noFill/>
          <a:ln>
            <a:noFill/>
          </a:ln>
        </p:spPr>
      </p:pic>
      <p:sp>
        <p:nvSpPr>
          <p:cNvPr id="1665" name="Google Shape;1665;p77"/>
          <p:cNvSpPr/>
          <p:nvPr/>
        </p:nvSpPr>
        <p:spPr>
          <a:xfrm>
            <a:off x="603965" y="981514"/>
            <a:ext cx="2869200" cy="30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b="1" i="0" u="none" strike="noStrike" cap="none">
                <a:solidFill>
                  <a:srgbClr val="10B981"/>
                </a:solidFill>
                <a:latin typeface="Lexend"/>
                <a:ea typeface="Lexend"/>
                <a:cs typeface="Lexend"/>
                <a:sym typeface="Lexend"/>
              </a:rPr>
              <a:t>HIGHLIGHTS</a:t>
            </a:r>
            <a:endParaRPr sz="1200" b="1" i="0" u="none" strike="noStrike" cap="none">
              <a:solidFill>
                <a:schemeClr val="dk1"/>
              </a:solidFill>
              <a:latin typeface="Lexend"/>
              <a:ea typeface="Lexend"/>
              <a:cs typeface="Lexend"/>
              <a:sym typeface="Lexend"/>
            </a:endParaRPr>
          </a:p>
        </p:txBody>
      </p:sp>
      <p:sp>
        <p:nvSpPr>
          <p:cNvPr id="1666" name="Google Shape;1666;p77"/>
          <p:cNvSpPr/>
          <p:nvPr/>
        </p:nvSpPr>
        <p:spPr>
          <a:xfrm>
            <a:off x="341775" y="1337596"/>
            <a:ext cx="4818000" cy="181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F56C1F"/>
                </a:solidFill>
                <a:latin typeface="Lexend"/>
                <a:ea typeface="Lexend"/>
                <a:cs typeface="Lexend"/>
                <a:sym typeface="Lexend"/>
              </a:rPr>
              <a:t>1. Event:</a:t>
            </a:r>
            <a:endParaRPr sz="1100" b="1">
              <a:solidFill>
                <a:srgbClr val="F56C1F"/>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Triển khai hoạt động pre-event Sinh nhật: CHL &amp; minigame online “Chuyển ý tưởng - Ghép tương lai”</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Thứ 4 giao xe cho các KOC &amp; quay truyền thông:</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+ 3 camel 1</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+ 1 camel 2</a:t>
            </a:r>
            <a:endParaRPr sz="1100">
              <a:solidFill>
                <a:schemeClr val="dk1"/>
              </a:solidFill>
              <a:latin typeface="Lexend"/>
              <a:ea typeface="Lexend"/>
              <a:cs typeface="Lexend"/>
              <a:sym typeface="Lexend"/>
            </a:endParaRPr>
          </a:p>
          <a:p>
            <a:pPr marL="0" lvl="0" indent="0" algn="l" rtl="0">
              <a:spcBef>
                <a:spcPts val="0"/>
              </a:spcBef>
              <a:spcAft>
                <a:spcPts val="0"/>
              </a:spcAft>
              <a:buNone/>
            </a:pP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b="1">
                <a:solidFill>
                  <a:srgbClr val="F56C1F"/>
                </a:solidFill>
                <a:latin typeface="Lexend"/>
                <a:ea typeface="Lexend"/>
                <a:cs typeface="Lexend"/>
                <a:sym typeface="Lexend"/>
              </a:rPr>
              <a:t>2. Partnership: </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Tham dự sk offline MOVE - 13/8</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Done review hợp đồng mượn xe Dat Bike</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Ưu đãi mua xe Tailg &amp; bảo dưỡng xe tại GÁ</a:t>
            </a:r>
            <a:endParaRPr sz="1100">
              <a:solidFill>
                <a:schemeClr val="dk1"/>
              </a:solidFill>
              <a:latin typeface="Lexend"/>
              <a:ea typeface="Lexend"/>
              <a:cs typeface="Lexend"/>
              <a:sym typeface="Lexend"/>
            </a:endParaRPr>
          </a:p>
          <a:p>
            <a:pPr marL="0" lvl="0" indent="0" algn="l" rtl="0">
              <a:spcBef>
                <a:spcPts val="0"/>
              </a:spcBef>
              <a:spcAft>
                <a:spcPts val="0"/>
              </a:spcAft>
              <a:buNone/>
            </a:pPr>
            <a:endParaRPr sz="1100">
              <a:solidFill>
                <a:schemeClr val="dk1"/>
              </a:solidFill>
              <a:latin typeface="Lexend"/>
              <a:ea typeface="Lexend"/>
              <a:cs typeface="Lexend"/>
              <a:sym typeface="Lexend"/>
            </a:endParaRPr>
          </a:p>
        </p:txBody>
      </p:sp>
      <p:grpSp>
        <p:nvGrpSpPr>
          <p:cNvPr id="1667" name="Google Shape;1667;p77"/>
          <p:cNvGrpSpPr/>
          <p:nvPr/>
        </p:nvGrpSpPr>
        <p:grpSpPr>
          <a:xfrm>
            <a:off x="144928" y="3396118"/>
            <a:ext cx="5154349" cy="1867737"/>
            <a:chOff x="4678325" y="1015325"/>
            <a:chExt cx="4347460" cy="1867737"/>
          </a:xfrm>
        </p:grpSpPr>
        <p:sp>
          <p:nvSpPr>
            <p:cNvPr id="1668" name="Google Shape;1668;p77"/>
            <p:cNvSpPr/>
            <p:nvPr/>
          </p:nvSpPr>
          <p:spPr>
            <a:xfrm>
              <a:off x="4678325" y="1015325"/>
              <a:ext cx="59100" cy="975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7"/>
            <p:cNvSpPr/>
            <p:nvPr/>
          </p:nvSpPr>
          <p:spPr>
            <a:xfrm>
              <a:off x="4742985" y="1036987"/>
              <a:ext cx="4282800" cy="975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70" name="Google Shape;1670;p77" descr="preencoded.png"/>
            <p:cNvPicPr preferRelativeResize="0"/>
            <p:nvPr/>
          </p:nvPicPr>
          <p:blipFill rotWithShape="1">
            <a:blip r:embed="rId5">
              <a:alphaModFix/>
            </a:blip>
            <a:srcRect/>
            <a:stretch/>
          </p:blipFill>
          <p:spPr>
            <a:xfrm>
              <a:off x="4971502" y="1073684"/>
              <a:ext cx="210415" cy="277323"/>
            </a:xfrm>
            <a:prstGeom prst="rect">
              <a:avLst/>
            </a:prstGeom>
            <a:noFill/>
            <a:ln>
              <a:noFill/>
            </a:ln>
          </p:spPr>
        </p:pic>
        <p:sp>
          <p:nvSpPr>
            <p:cNvPr id="1671" name="Google Shape;1671;p77"/>
            <p:cNvSpPr/>
            <p:nvPr/>
          </p:nvSpPr>
          <p:spPr>
            <a:xfrm>
              <a:off x="5239302" y="1023237"/>
              <a:ext cx="2869200" cy="37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b="1" i="0" u="none" strike="noStrike" cap="none">
                  <a:solidFill>
                    <a:srgbClr val="EF4444"/>
                  </a:solidFill>
                  <a:latin typeface="Lexend"/>
                  <a:ea typeface="Lexend"/>
                  <a:cs typeface="Lexend"/>
                  <a:sym typeface="Lexend"/>
                </a:rPr>
                <a:t>LOWLIGHTS</a:t>
              </a:r>
              <a:endParaRPr sz="1200" b="1" i="0" u="none" strike="noStrike" cap="none">
                <a:solidFill>
                  <a:schemeClr val="dk1"/>
                </a:solidFill>
                <a:latin typeface="Lexend"/>
                <a:ea typeface="Lexend"/>
                <a:cs typeface="Lexend"/>
                <a:sym typeface="Lexend"/>
              </a:endParaRPr>
            </a:p>
          </p:txBody>
        </p:sp>
        <p:sp>
          <p:nvSpPr>
            <p:cNvPr id="1672" name="Google Shape;1672;p77"/>
            <p:cNvSpPr/>
            <p:nvPr/>
          </p:nvSpPr>
          <p:spPr>
            <a:xfrm>
              <a:off x="4897135" y="1460162"/>
              <a:ext cx="4089600" cy="142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a:solidFill>
                    <a:srgbClr val="F56C1F"/>
                  </a:solidFill>
                  <a:latin typeface="Lexend"/>
                  <a:ea typeface="Lexend"/>
                  <a:cs typeface="Lexend"/>
                  <a:sym typeface="Lexend"/>
                </a:rPr>
                <a:t>1. Partnership: </a:t>
              </a:r>
              <a:endParaRPr sz="1000" b="1">
                <a:solidFill>
                  <a:srgbClr val="F56C1F"/>
                </a:solidFill>
                <a:latin typeface="Lexend"/>
                <a:ea typeface="Lexend"/>
                <a:cs typeface="Lexend"/>
                <a:sym typeface="Lexend"/>
              </a:endParaRPr>
            </a:p>
            <a:p>
              <a:pPr marL="0" lvl="0" indent="0" algn="l" rtl="0">
                <a:spcBef>
                  <a:spcPts val="0"/>
                </a:spcBef>
                <a:spcAft>
                  <a:spcPts val="0"/>
                </a:spcAft>
                <a:buNone/>
              </a:pPr>
              <a:endParaRPr sz="1000">
                <a:solidFill>
                  <a:schemeClr val="dk1"/>
                </a:solidFill>
                <a:latin typeface="Lexend"/>
                <a:ea typeface="Lexend"/>
                <a:cs typeface="Lexend"/>
                <a:sym typeface="Lexend"/>
              </a:endParaRPr>
            </a:p>
          </p:txBody>
        </p:sp>
      </p:grpSp>
      <p:sp>
        <p:nvSpPr>
          <p:cNvPr id="1673" name="Google Shape;1673;p77"/>
          <p:cNvSpPr/>
          <p:nvPr/>
        </p:nvSpPr>
        <p:spPr>
          <a:xfrm>
            <a:off x="174325" y="3976774"/>
            <a:ext cx="8778300" cy="10887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7"/>
          <p:cNvSpPr/>
          <p:nvPr/>
        </p:nvSpPr>
        <p:spPr>
          <a:xfrm>
            <a:off x="147675" y="3976774"/>
            <a:ext cx="59100" cy="10887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75" name="Google Shape;1675;p77" descr="preencoded.png"/>
          <p:cNvPicPr preferRelativeResize="0"/>
          <p:nvPr/>
        </p:nvPicPr>
        <p:blipFill rotWithShape="1">
          <a:blip r:embed="rId6">
            <a:alphaModFix/>
          </a:blip>
          <a:srcRect/>
          <a:stretch/>
        </p:blipFill>
        <p:spPr>
          <a:xfrm>
            <a:off x="357286" y="4071074"/>
            <a:ext cx="182880" cy="163465"/>
          </a:xfrm>
          <a:prstGeom prst="rect">
            <a:avLst/>
          </a:prstGeom>
          <a:noFill/>
          <a:ln>
            <a:noFill/>
          </a:ln>
        </p:spPr>
      </p:pic>
      <p:sp>
        <p:nvSpPr>
          <p:cNvPr id="1676" name="Google Shape;1676;p77"/>
          <p:cNvSpPr/>
          <p:nvPr/>
        </p:nvSpPr>
        <p:spPr>
          <a:xfrm>
            <a:off x="613318" y="4038381"/>
            <a:ext cx="36576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 </a:t>
            </a:r>
            <a:r>
              <a:rPr lang="en" sz="1100" i="1">
                <a:solidFill>
                  <a:srgbClr val="0E4174"/>
                </a:solidFill>
                <a:latin typeface="Lexend"/>
                <a:ea typeface="Lexend"/>
                <a:cs typeface="Lexend"/>
                <a:sym typeface="Lexend"/>
              </a:rPr>
              <a:t>(Solutions &amp; upcoming activities)</a:t>
            </a:r>
            <a:endParaRPr sz="1100" i="1" u="none" strike="noStrike" cap="none">
              <a:solidFill>
                <a:schemeClr val="dk1"/>
              </a:solidFill>
              <a:latin typeface="Lexend"/>
              <a:ea typeface="Lexend"/>
              <a:cs typeface="Lexend"/>
              <a:sym typeface="Lexend"/>
            </a:endParaRPr>
          </a:p>
        </p:txBody>
      </p:sp>
      <p:sp>
        <p:nvSpPr>
          <p:cNvPr id="1677" name="Google Shape;1677;p7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graphicFrame>
        <p:nvGraphicFramePr>
          <p:cNvPr id="1678" name="Google Shape;1678;p77"/>
          <p:cNvGraphicFramePr/>
          <p:nvPr/>
        </p:nvGraphicFramePr>
        <p:xfrm>
          <a:off x="369736" y="4316121"/>
          <a:ext cx="3000000" cy="3000000"/>
        </p:xfrm>
        <a:graphic>
          <a:graphicData uri="http://schemas.openxmlformats.org/drawingml/2006/table">
            <a:tbl>
              <a:tblPr>
                <a:noFill/>
                <a:tableStyleId>{1B6E03F7-A7B3-402D-A52F-665CEB5CA1F2}</a:tableStyleId>
              </a:tblPr>
              <a:tblGrid>
                <a:gridCol w="1529075">
                  <a:extLst>
                    <a:ext uri="{9D8B030D-6E8A-4147-A177-3AD203B41FA5}">
                      <a16:colId xmlns:a16="http://schemas.microsoft.com/office/drawing/2014/main" val="20000"/>
                    </a:ext>
                  </a:extLst>
                </a:gridCol>
                <a:gridCol w="2402800">
                  <a:extLst>
                    <a:ext uri="{9D8B030D-6E8A-4147-A177-3AD203B41FA5}">
                      <a16:colId xmlns:a16="http://schemas.microsoft.com/office/drawing/2014/main" val="20001"/>
                    </a:ext>
                  </a:extLst>
                </a:gridCol>
                <a:gridCol w="2566100">
                  <a:extLst>
                    <a:ext uri="{9D8B030D-6E8A-4147-A177-3AD203B41FA5}">
                      <a16:colId xmlns:a16="http://schemas.microsoft.com/office/drawing/2014/main" val="20002"/>
                    </a:ext>
                  </a:extLst>
                </a:gridCol>
                <a:gridCol w="928900">
                  <a:extLst>
                    <a:ext uri="{9D8B030D-6E8A-4147-A177-3AD203B41FA5}">
                      <a16:colId xmlns:a16="http://schemas.microsoft.com/office/drawing/2014/main" val="20003"/>
                    </a:ext>
                  </a:extLst>
                </a:gridCol>
                <a:gridCol w="985725">
                  <a:extLst>
                    <a:ext uri="{9D8B030D-6E8A-4147-A177-3AD203B41FA5}">
                      <a16:colId xmlns:a16="http://schemas.microsoft.com/office/drawing/2014/main" val="20004"/>
                    </a:ext>
                  </a:extLst>
                </a:gridCol>
              </a:tblGrid>
              <a:tr h="226050">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Hạng mục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Nguyên nhân/Bối cảnh</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Hành động</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Deadline</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PIC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84425">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Sinh nhật AHM 11 tuổi</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 Tăng độ phủ sóng hoạt động sinh nhật</a:t>
                      </a:r>
                      <a:endParaRPr sz="800">
                        <a:solidFill>
                          <a:schemeClr val="dk1"/>
                        </a:solidFill>
                        <a:latin typeface="Lexend"/>
                        <a:ea typeface="Lexend"/>
                        <a:cs typeface="Lexend"/>
                        <a:sym typeface="Lexend"/>
                      </a:endParaRPr>
                    </a:p>
                    <a:p>
                      <a:pPr marL="0" marR="0" lvl="0" indent="0" algn="ctr" rtl="0">
                        <a:spcBef>
                          <a:spcPts val="0"/>
                        </a:spcBef>
                        <a:spcAft>
                          <a:spcPts val="0"/>
                        </a:spcAft>
                        <a:buNone/>
                      </a:pPr>
                      <a:r>
                        <a:rPr lang="en" sz="800">
                          <a:solidFill>
                            <a:schemeClr val="dk1"/>
                          </a:solidFill>
                          <a:latin typeface="Lexend"/>
                          <a:ea typeface="Lexend"/>
                          <a:cs typeface="Lexend"/>
                          <a:sym typeface="Lexend"/>
                        </a:rPr>
                        <a:t>- Chuẩn bị material quà tặng</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Remind truyền thông chương trình minigame online</a:t>
                      </a:r>
                      <a:endParaRPr sz="800">
                        <a:solidFill>
                          <a:schemeClr val="dk1"/>
                        </a:solidFill>
                        <a:latin typeface="Lexend"/>
                        <a:ea typeface="Lexend"/>
                        <a:cs typeface="Lexend"/>
                        <a:sym typeface="Lexend"/>
                      </a:endParaRPr>
                    </a:p>
                    <a:p>
                      <a:pPr marL="0" marR="0" lvl="0" indent="0" algn="l" rtl="0">
                        <a:spcBef>
                          <a:spcPts val="0"/>
                        </a:spcBef>
                        <a:spcAft>
                          <a:spcPts val="0"/>
                        </a:spcAft>
                        <a:buNone/>
                      </a:pPr>
                      <a:r>
                        <a:rPr lang="en" sz="800">
                          <a:solidFill>
                            <a:schemeClr val="dk1"/>
                          </a:solidFill>
                          <a:latin typeface="Lexend"/>
                          <a:ea typeface="Lexend"/>
                          <a:cs typeface="Lexend"/>
                          <a:sym typeface="Lexend"/>
                        </a:rPr>
                        <a:t>- Order &amp; sản xuất materials quà tặng cho tài xế</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14/8</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Vân/Thúy</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pic>
        <p:nvPicPr>
          <p:cNvPr id="1679" name="Google Shape;1679;p77"/>
          <p:cNvPicPr preferRelativeResize="0"/>
          <p:nvPr/>
        </p:nvPicPr>
        <p:blipFill rotWithShape="1">
          <a:blip r:embed="rId7">
            <a:alphaModFix/>
          </a:blip>
          <a:srcRect t="5236" b="6324"/>
          <a:stretch/>
        </p:blipFill>
        <p:spPr>
          <a:xfrm>
            <a:off x="5435150" y="932608"/>
            <a:ext cx="3347175" cy="1972000"/>
          </a:xfrm>
          <a:prstGeom prst="rect">
            <a:avLst/>
          </a:prstGeom>
          <a:noFill/>
          <a:ln>
            <a:noFill/>
          </a:ln>
        </p:spPr>
      </p:pic>
      <p:pic>
        <p:nvPicPr>
          <p:cNvPr id="1680" name="Google Shape;1680;p77"/>
          <p:cNvPicPr preferRelativeResize="0"/>
          <p:nvPr/>
        </p:nvPicPr>
        <p:blipFill>
          <a:blip r:embed="rId8">
            <a:alphaModFix/>
          </a:blip>
          <a:stretch>
            <a:fillRect/>
          </a:stretch>
        </p:blipFill>
        <p:spPr>
          <a:xfrm>
            <a:off x="5435150" y="2929135"/>
            <a:ext cx="1088700" cy="1088700"/>
          </a:xfrm>
          <a:prstGeom prst="rect">
            <a:avLst/>
          </a:prstGeom>
          <a:noFill/>
          <a:ln>
            <a:noFill/>
          </a:ln>
        </p:spPr>
      </p:pic>
      <p:pic>
        <p:nvPicPr>
          <p:cNvPr id="1681" name="Google Shape;1681;p77"/>
          <p:cNvPicPr preferRelativeResize="0"/>
          <p:nvPr/>
        </p:nvPicPr>
        <p:blipFill>
          <a:blip r:embed="rId9">
            <a:alphaModFix/>
          </a:blip>
          <a:stretch>
            <a:fillRect/>
          </a:stretch>
        </p:blipFill>
        <p:spPr>
          <a:xfrm>
            <a:off x="6565874" y="2929135"/>
            <a:ext cx="1088700" cy="1088700"/>
          </a:xfrm>
          <a:prstGeom prst="rect">
            <a:avLst/>
          </a:prstGeom>
          <a:noFill/>
          <a:ln>
            <a:noFill/>
          </a:ln>
        </p:spPr>
      </p:pic>
      <p:pic>
        <p:nvPicPr>
          <p:cNvPr id="1682" name="Google Shape;1682;p77"/>
          <p:cNvPicPr preferRelativeResize="0"/>
          <p:nvPr/>
        </p:nvPicPr>
        <p:blipFill>
          <a:blip r:embed="rId10">
            <a:alphaModFix/>
          </a:blip>
          <a:stretch>
            <a:fillRect/>
          </a:stretch>
        </p:blipFill>
        <p:spPr>
          <a:xfrm>
            <a:off x="7696597" y="2929135"/>
            <a:ext cx="1088700" cy="1088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87"/>
        <p:cNvGrpSpPr/>
        <p:nvPr/>
      </p:nvGrpSpPr>
      <p:grpSpPr>
        <a:xfrm>
          <a:off x="0" y="0"/>
          <a:ext cx="0" cy="0"/>
          <a:chOff x="0" y="0"/>
          <a:chExt cx="0" cy="0"/>
        </a:xfrm>
      </p:grpSpPr>
      <p:sp>
        <p:nvSpPr>
          <p:cNvPr id="1688" name="Google Shape;1688;p7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89" name="Google Shape;1689;p78"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690" name="Google Shape;1690;p78"/>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HIGHLIGHTS DRIVER’s VOICES</a:t>
            </a:r>
            <a:r>
              <a:rPr lang="en" sz="2200" b="1" i="0" u="none" strike="noStrike" cap="none">
                <a:solidFill>
                  <a:srgbClr val="0E4174"/>
                </a:solidFill>
                <a:latin typeface="Lexend"/>
                <a:ea typeface="Lexend"/>
                <a:cs typeface="Lexend"/>
                <a:sym typeface="Lexend"/>
              </a:rPr>
              <a:t> &amp; E</a:t>
            </a:r>
            <a:r>
              <a:rPr lang="en" sz="2200" b="1">
                <a:solidFill>
                  <a:srgbClr val="0E4174"/>
                </a:solidFill>
                <a:latin typeface="Lexend"/>
                <a:ea typeface="Lexend"/>
                <a:cs typeface="Lexend"/>
                <a:sym typeface="Lexend"/>
              </a:rPr>
              <a:t>VENT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NW</a:t>
            </a:r>
            <a:endParaRPr sz="2200" b="1" i="0" u="none" strike="noStrike" cap="none">
              <a:solidFill>
                <a:srgbClr val="F56C1F"/>
              </a:solidFill>
              <a:latin typeface="Lexend"/>
              <a:ea typeface="Lexend"/>
              <a:cs typeface="Lexend"/>
              <a:sym typeface="Lexend"/>
            </a:endParaRPr>
          </a:p>
        </p:txBody>
      </p:sp>
      <p:sp>
        <p:nvSpPr>
          <p:cNvPr id="1691" name="Google Shape;1691;p78"/>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Driver’s Voices - Community - Event Highlight</a:t>
            </a:r>
            <a:endParaRPr sz="1000" i="0" u="none" strike="noStrike" cap="none">
              <a:solidFill>
                <a:schemeClr val="dk1"/>
              </a:solidFill>
              <a:latin typeface="Lexend"/>
              <a:ea typeface="Lexend"/>
              <a:cs typeface="Lexend"/>
              <a:sym typeface="Lexend"/>
            </a:endParaRPr>
          </a:p>
        </p:txBody>
      </p:sp>
      <p:cxnSp>
        <p:nvCxnSpPr>
          <p:cNvPr id="1692" name="Google Shape;1692;p78"/>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693" name="Google Shape;1693;p78"/>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694" name="Google Shape;1694;p78"/>
          <p:cNvPicPr preferRelativeResize="0"/>
          <p:nvPr/>
        </p:nvPicPr>
        <p:blipFill>
          <a:blip r:embed="rId4">
            <a:alphaModFix/>
          </a:blip>
          <a:stretch>
            <a:fillRect/>
          </a:stretch>
        </p:blipFill>
        <p:spPr>
          <a:xfrm>
            <a:off x="324850" y="2190850"/>
            <a:ext cx="1968174" cy="143005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pic>
      <p:pic>
        <p:nvPicPr>
          <p:cNvPr id="1695" name="Google Shape;1695;p78"/>
          <p:cNvPicPr preferRelativeResize="0"/>
          <p:nvPr/>
        </p:nvPicPr>
        <p:blipFill>
          <a:blip r:embed="rId5">
            <a:alphaModFix/>
          </a:blip>
          <a:stretch>
            <a:fillRect/>
          </a:stretch>
        </p:blipFill>
        <p:spPr>
          <a:xfrm>
            <a:off x="2330126" y="2190850"/>
            <a:ext cx="1127986" cy="1430051"/>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pic>
      <p:pic>
        <p:nvPicPr>
          <p:cNvPr id="1696" name="Google Shape;1696;p78"/>
          <p:cNvPicPr preferRelativeResize="0"/>
          <p:nvPr/>
        </p:nvPicPr>
        <p:blipFill>
          <a:blip r:embed="rId6">
            <a:alphaModFix/>
          </a:blip>
          <a:stretch>
            <a:fillRect/>
          </a:stretch>
        </p:blipFill>
        <p:spPr>
          <a:xfrm>
            <a:off x="3495196" y="2190850"/>
            <a:ext cx="1224976" cy="2790226"/>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pic>
      <p:pic>
        <p:nvPicPr>
          <p:cNvPr id="1697" name="Google Shape;1697;p78"/>
          <p:cNvPicPr preferRelativeResize="0"/>
          <p:nvPr/>
        </p:nvPicPr>
        <p:blipFill>
          <a:blip r:embed="rId7">
            <a:alphaModFix/>
          </a:blip>
          <a:stretch>
            <a:fillRect/>
          </a:stretch>
        </p:blipFill>
        <p:spPr>
          <a:xfrm>
            <a:off x="4757275" y="2190850"/>
            <a:ext cx="1288300" cy="2790224"/>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pic>
      <p:pic>
        <p:nvPicPr>
          <p:cNvPr id="1698" name="Google Shape;1698;p78"/>
          <p:cNvPicPr preferRelativeResize="0"/>
          <p:nvPr/>
        </p:nvPicPr>
        <p:blipFill>
          <a:blip r:embed="rId8">
            <a:alphaModFix/>
          </a:blip>
          <a:stretch>
            <a:fillRect/>
          </a:stretch>
        </p:blipFill>
        <p:spPr>
          <a:xfrm>
            <a:off x="6082675" y="2190850"/>
            <a:ext cx="1288300" cy="2790227"/>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pic>
      <p:sp>
        <p:nvSpPr>
          <p:cNvPr id="1699" name="Google Shape;1699;p78"/>
          <p:cNvSpPr/>
          <p:nvPr/>
        </p:nvSpPr>
        <p:spPr>
          <a:xfrm>
            <a:off x="324850" y="980750"/>
            <a:ext cx="8337900" cy="1158000"/>
          </a:xfrm>
          <a:prstGeom prst="rect">
            <a:avLst/>
          </a:prstGeom>
          <a:solidFill>
            <a:srgbClr val="D2E0F9"/>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Clr>
                <a:srgbClr val="083F89"/>
              </a:buClr>
              <a:buSzPts val="1100"/>
              <a:buFont typeface="Lexend"/>
              <a:buAutoNum type="arabicPeriod"/>
            </a:pPr>
            <a:r>
              <a:rPr lang="en" sz="1100" b="1">
                <a:solidFill>
                  <a:srgbClr val="083F89"/>
                </a:solidFill>
                <a:latin typeface="Lexend"/>
                <a:ea typeface="Lexend"/>
                <a:cs typeface="Lexend"/>
                <a:sym typeface="Lexend"/>
              </a:rPr>
              <a:t>Tài xế bị truy thu đồng phục (~20 cases)</a:t>
            </a:r>
            <a:r>
              <a:rPr lang="en" sz="1100">
                <a:solidFill>
                  <a:srgbClr val="083F89"/>
                </a:solidFill>
                <a:latin typeface="Lexend"/>
                <a:ea typeface="Lexend"/>
                <a:cs typeface="Lexend"/>
                <a:sym typeface="Lexend"/>
              </a:rPr>
              <a:t>: Bị truy thu mặc dù đã mặc đầy đủ, xảy ra với luồng xác thực ngày 6/8</a:t>
            </a:r>
            <a:br>
              <a:rPr lang="en" sz="1100">
                <a:solidFill>
                  <a:srgbClr val="083F89"/>
                </a:solidFill>
                <a:latin typeface="Lexend"/>
                <a:ea typeface="Lexend"/>
                <a:cs typeface="Lexend"/>
                <a:sym typeface="Lexend"/>
              </a:rPr>
            </a:br>
            <a:r>
              <a:rPr lang="en" sz="1100">
                <a:solidFill>
                  <a:srgbClr val="083F89"/>
                </a:solidFill>
                <a:latin typeface="Lexend"/>
                <a:ea typeface="Lexend"/>
                <a:cs typeface="Lexend"/>
                <a:sym typeface="Lexend"/>
              </a:rPr>
              <a:t>-&gt; Team đã raise QM, QM check case by case và hoàn tiền -&gt; Đề xuất gửi noti hướng dẫn tx gửi mail hoàn tiền</a:t>
            </a:r>
            <a:endParaRPr sz="1100">
              <a:solidFill>
                <a:srgbClr val="083F89"/>
              </a:solidFill>
              <a:latin typeface="Lexend"/>
              <a:ea typeface="Lexend"/>
              <a:cs typeface="Lexend"/>
              <a:sym typeface="Lexend"/>
            </a:endParaRPr>
          </a:p>
          <a:p>
            <a:pPr marL="457200" lvl="0" indent="-298450" algn="l" rtl="0">
              <a:lnSpc>
                <a:spcPct val="115000"/>
              </a:lnSpc>
              <a:spcBef>
                <a:spcPts val="0"/>
              </a:spcBef>
              <a:spcAft>
                <a:spcPts val="0"/>
              </a:spcAft>
              <a:buClr>
                <a:srgbClr val="083F89"/>
              </a:buClr>
              <a:buSzPts val="1100"/>
              <a:buFont typeface="Lexend"/>
              <a:buAutoNum type="arabicPeriod"/>
            </a:pPr>
            <a:endParaRPr sz="1100">
              <a:solidFill>
                <a:srgbClr val="083F89"/>
              </a:solidFill>
              <a:latin typeface="Lexend"/>
              <a:ea typeface="Lexend"/>
              <a:cs typeface="Lexend"/>
              <a:sym typeface="Lexend"/>
            </a:endParaRPr>
          </a:p>
          <a:p>
            <a:pPr marL="457200" lvl="0" indent="-298450" algn="l" rtl="0">
              <a:lnSpc>
                <a:spcPct val="115000"/>
              </a:lnSpc>
              <a:spcBef>
                <a:spcPts val="0"/>
              </a:spcBef>
              <a:spcAft>
                <a:spcPts val="0"/>
              </a:spcAft>
              <a:buClr>
                <a:srgbClr val="083F89"/>
              </a:buClr>
              <a:buSzPts val="1100"/>
              <a:buFont typeface="Lexend"/>
              <a:buAutoNum type="arabicPeriod"/>
            </a:pPr>
            <a:endParaRPr sz="1100">
              <a:solidFill>
                <a:srgbClr val="083F89"/>
              </a:solidFill>
              <a:latin typeface="Lexend"/>
              <a:ea typeface="Lexend"/>
              <a:cs typeface="Lexend"/>
              <a:sym typeface="Lexend"/>
            </a:endParaRPr>
          </a:p>
        </p:txBody>
      </p:sp>
      <p:pic>
        <p:nvPicPr>
          <p:cNvPr id="1700" name="Google Shape;1700;p78"/>
          <p:cNvPicPr preferRelativeResize="0"/>
          <p:nvPr/>
        </p:nvPicPr>
        <p:blipFill>
          <a:blip r:embed="rId9">
            <a:alphaModFix/>
          </a:blip>
          <a:stretch>
            <a:fillRect/>
          </a:stretch>
        </p:blipFill>
        <p:spPr>
          <a:xfrm>
            <a:off x="7408075" y="2190850"/>
            <a:ext cx="1675000" cy="16750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5262</Words>
  <Application>Microsoft Macintosh PowerPoint</Application>
  <PresentationFormat>On-screen Show (16:9)</PresentationFormat>
  <Paragraphs>1513</Paragraphs>
  <Slides>38</Slides>
  <Notes>38</Notes>
  <HiddenSlides>2</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38</vt:i4>
      </vt:variant>
    </vt:vector>
  </HeadingPairs>
  <TitlesOfParts>
    <vt:vector size="57" baseType="lpstr">
      <vt:lpstr>Lexend Light</vt:lpstr>
      <vt:lpstr>Lexend Medium</vt:lpstr>
      <vt:lpstr>Nunito Black</vt:lpstr>
      <vt:lpstr>Montserrat</vt:lpstr>
      <vt:lpstr>Work Sans Medium</vt:lpstr>
      <vt:lpstr>Raleway</vt:lpstr>
      <vt:lpstr>Bebas Neue</vt:lpstr>
      <vt:lpstr>Arial</vt:lpstr>
      <vt:lpstr>Nunito</vt:lpstr>
      <vt:lpstr>Lexend</vt:lpstr>
      <vt:lpstr>Helvetica Neue</vt:lpstr>
      <vt:lpstr>Roboto</vt:lpstr>
      <vt:lpstr>Montserrat Black</vt:lpstr>
      <vt:lpstr>Calibri</vt:lpstr>
      <vt:lpstr>Be Vietnam Pro SemiBold</vt:lpstr>
      <vt:lpstr>Verdana</vt:lpstr>
      <vt:lpstr>Nunito ExtraBold</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sNef</cp:lastModifiedBy>
  <cp:revision>1</cp:revision>
  <dcterms:modified xsi:type="dcterms:W3CDTF">2026-08-10T04:17:06Z</dcterms:modified>
</cp:coreProperties>
</file>