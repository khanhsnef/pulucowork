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10287000" cx="18288000"/>
  <p:notesSz cx="10287000" cy="18288000"/>
  <p:embeddedFontLst>
    <p:embeddedFont>
      <p:font typeface="Roboto"/>
      <p:regular r:id="rId62"/>
      <p:bold r:id="rId63"/>
      <p:italic r:id="rId64"/>
      <p:boldItalic r:id="rId65"/>
    </p:embeddedFont>
    <p:embeddedFont>
      <p:font typeface="Plus Jakarta Sans"/>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Trang Đào Thị Thu"/>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oboto-italic.fntdata"/><Relationship Id="rId63" Type="http://schemas.openxmlformats.org/officeDocument/2006/relationships/font" Target="fonts/Roboto-bold.fntdata"/><Relationship Id="rId22" Type="http://schemas.openxmlformats.org/officeDocument/2006/relationships/slide" Target="slides/slide17.xml"/><Relationship Id="rId66" Type="http://schemas.openxmlformats.org/officeDocument/2006/relationships/font" Target="fonts/PlusJakartaSans-regular.fntdata"/><Relationship Id="rId21" Type="http://schemas.openxmlformats.org/officeDocument/2006/relationships/slide" Target="slides/slide16.xml"/><Relationship Id="rId65" Type="http://schemas.openxmlformats.org/officeDocument/2006/relationships/font" Target="fonts/Roboto-boldItalic.fntdata"/><Relationship Id="rId24" Type="http://schemas.openxmlformats.org/officeDocument/2006/relationships/slide" Target="slides/slide19.xml"/><Relationship Id="rId68" Type="http://schemas.openxmlformats.org/officeDocument/2006/relationships/font" Target="fonts/PlusJakartaSans-italic.fntdata"/><Relationship Id="rId23" Type="http://schemas.openxmlformats.org/officeDocument/2006/relationships/slide" Target="slides/slide18.xml"/><Relationship Id="rId67" Type="http://schemas.openxmlformats.org/officeDocument/2006/relationships/font" Target="fonts/PlusJakartaSans-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PlusJakartaSans-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28T08:49:17.046">
    <p:pos x="0" y="0"/>
    <p:text>Bổ sung agenda của report
1. Executive summary
2. Ops GR report
3. Sub DM report
4. Inovation pri....</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f8914f331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g3f8914f331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g3f8914f331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ae805ca8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g3fae805ca8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g3fae805ca8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fae805ca80_0_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g3fae805ca80_0_3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g3fae805ca80_0_3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ae805ca80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3fae805ca80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g3fae805ca80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fae805ca80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g3fae805ca80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g3fae805ca80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ae805ca80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g3fae805ca80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g3fae805ca80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fae805ca80_0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g3fae805ca80_0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g3fae805ca80_0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fae805ca80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g3fae805ca80_0_2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g3fae805ca80_0_2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fae805ca80_0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fae805ca80_0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g3fae805ca80_0_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fae805ca80_0_2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1" name="Google Shape;811;g3fae805ca80_0_2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 name="Google Shape;812;g3fae805ca80_0_2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ae805ca80_0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0" name="Google Shape;850;g3fae805ca80_0_3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1" name="Google Shape;851;g3fae805ca80_0_3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fae805ca80_0_3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g3fae805ca80_0_3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3" name="Google Shape;873;g3fae805ca80_0_3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fae805ca80_0_3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1" name="Google Shape;891;g3fae805ca80_0_3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g3fae805ca80_0_3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fae805ca80_0_4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2" name="Google Shape;942;g3fae805ca80_0_4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3" name="Google Shape;943;g3fae805ca80_0_4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ae805ca80_0_5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g3fae805ca80_0_5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g3fae805ca80_0_5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fae805ca80_0_5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5" name="Google Shape;1095;g3fae805ca80_0_5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g3fae805ca80_0_5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fae805ca80_0_6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5" name="Google Shape;1125;g3fae805ca80_0_6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6" name="Google Shape;1126;g3fae805ca80_0_6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3fae805ca80_0_6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g3fae805ca80_0_6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9" name="Google Shape;1149;g3fae805ca80_0_6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fae805ca80_0_6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0" name="Google Shape;1210;g3fae805ca80_0_6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1" name="Google Shape;1211;g3fae805ca80_0_6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fae805ca80_0_7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1" name="Google Shape;1261;g3fae805ca80_0_7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2" name="Google Shape;1262;g3fae805ca80_0_7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3fae805ca80_0_7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2" name="Google Shape;1312;g3fae805ca80_0_7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3" name="Google Shape;1313;g3fae805ca80_0_7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3fae805ca80_0_8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4" name="Google Shape;1354;g3fae805ca80_0_8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5" name="Google Shape;1355;g3fae805ca80_0_8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3fae805ca80_0_8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6" name="Google Shape;1396;g3fae805ca80_0_8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7" name="Google Shape;1397;g3fae805ca80_0_8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3fae805ca80_0_9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2" name="Google Shape;1432;g3fae805ca80_0_9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3" name="Google Shape;1433;g3fae805ca80_0_9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3fae805ca80_0_9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8" name="Google Shape;1468;g3fae805ca80_0_9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9" name="Google Shape;1469;g3fae805ca80_0_9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g3fae805ca80_0_9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1" name="Google Shape;1521;g3fae805ca80_0_9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2" name="Google Shape;1522;g3fae805ca80_0_9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g3fae805ca80_0_10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6" name="Google Shape;1556;g3fae805ca80_0_10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7" name="Google Shape;1557;g3fae805ca80_0_10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g3fae805ca80_0_10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2" name="Google Shape;1592;g3fae805ca80_0_10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3" name="Google Shape;1593;g3fae805ca80_0_10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3fae805ca80_0_17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9" name="Google Shape;1609;g3fae805ca80_0_17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0" name="Google Shape;1610;g3fae805ca80_0_17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3fae805ca80_0_10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0" name="Google Shape;1620;g3fae805ca80_0_10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1" name="Google Shape;1621;g3fae805ca80_0_10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g3fae805ca80_0_1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9" name="Google Shape;1639;g3fae805ca80_0_1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0" name="Google Shape;1640;g3fae805ca80_0_11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3" name="Shape 1693"/>
        <p:cNvGrpSpPr/>
        <p:nvPr/>
      </p:nvGrpSpPr>
      <p:grpSpPr>
        <a:xfrm>
          <a:off x="0" y="0"/>
          <a:ext cx="0" cy="0"/>
          <a:chOff x="0" y="0"/>
          <a:chExt cx="0" cy="0"/>
        </a:xfrm>
      </p:grpSpPr>
      <p:sp>
        <p:nvSpPr>
          <p:cNvPr id="1694" name="Google Shape;1694;g3fae805ca80_0_1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5" name="Google Shape;1695;g3fae805ca80_0_1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6" name="Google Shape;1696;g3fae805ca80_0_1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3fae805ca80_0_1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5" name="Google Shape;1775;g3fae805ca80_0_1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6" name="Google Shape;1776;g3fae805ca80_0_1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g3fae805ca80_0_13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0" name="Google Shape;1840;g3fae805ca80_0_13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1" name="Google Shape;1841;g3fae805ca80_0_13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g3fae805ca80_0_13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4" name="Google Shape;1864;g3fae805ca80_0_13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5" name="Google Shape;1865;g3fae805ca80_0_13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g3fae805ca80_0_13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2" name="Google Shape;1932;g3fae805ca80_0_13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3" name="Google Shape;1933;g3fae805ca80_0_13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5" name="Shape 1975"/>
        <p:cNvGrpSpPr/>
        <p:nvPr/>
      </p:nvGrpSpPr>
      <p:grpSpPr>
        <a:xfrm>
          <a:off x="0" y="0"/>
          <a:ext cx="0" cy="0"/>
          <a:chOff x="0" y="0"/>
          <a:chExt cx="0" cy="0"/>
        </a:xfrm>
      </p:grpSpPr>
      <p:sp>
        <p:nvSpPr>
          <p:cNvPr id="1976" name="Google Shape;1976;g3fae805ca80_0_14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7" name="Google Shape;1977;g3fae805ca80_0_14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8" name="Google Shape;1978;g3fae805ca80_0_14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g3fae805ca80_0_14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2" name="Google Shape;2022;g3fae805ca80_0_14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3" name="Google Shape;2023;g3fae805ca80_0_14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g3fae805ca80_0_15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1" name="Google Shape;2071;g3fae805ca80_0_15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2" name="Google Shape;2072;g3fae805ca80_0_15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2" name="Shape 2112"/>
        <p:cNvGrpSpPr/>
        <p:nvPr/>
      </p:nvGrpSpPr>
      <p:grpSpPr>
        <a:xfrm>
          <a:off x="0" y="0"/>
          <a:ext cx="0" cy="0"/>
          <a:chOff x="0" y="0"/>
          <a:chExt cx="0" cy="0"/>
        </a:xfrm>
      </p:grpSpPr>
      <p:sp>
        <p:nvSpPr>
          <p:cNvPr id="2113" name="Google Shape;2113;g3fae805ca80_0_15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4" name="Google Shape;2114;g3fae805ca80_0_15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5" name="Google Shape;2115;g3fae805ca80_0_15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9" name="Shape 2149"/>
        <p:cNvGrpSpPr/>
        <p:nvPr/>
      </p:nvGrpSpPr>
      <p:grpSpPr>
        <a:xfrm>
          <a:off x="0" y="0"/>
          <a:ext cx="0" cy="0"/>
          <a:chOff x="0" y="0"/>
          <a:chExt cx="0" cy="0"/>
        </a:xfrm>
      </p:grpSpPr>
      <p:sp>
        <p:nvSpPr>
          <p:cNvPr id="2150" name="Google Shape;2150;g3fae805ca80_0_16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1" name="Google Shape;2151;g3fae805ca80_0_16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2" name="Google Shape;2152;g3fae805ca80_0_16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3" name="Shape 2193"/>
        <p:cNvGrpSpPr/>
        <p:nvPr/>
      </p:nvGrpSpPr>
      <p:grpSpPr>
        <a:xfrm>
          <a:off x="0" y="0"/>
          <a:ext cx="0" cy="0"/>
          <a:chOff x="0" y="0"/>
          <a:chExt cx="0" cy="0"/>
        </a:xfrm>
      </p:grpSpPr>
      <p:sp>
        <p:nvSpPr>
          <p:cNvPr id="2194" name="Google Shape;2194;g3fae805ca80_0_16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5" name="Google Shape;2195;g3fae805ca80_0_16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6" name="Google Shape;2196;g3fae805ca80_0_16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1" name="Shape 2231"/>
        <p:cNvGrpSpPr/>
        <p:nvPr/>
      </p:nvGrpSpPr>
      <p:grpSpPr>
        <a:xfrm>
          <a:off x="0" y="0"/>
          <a:ext cx="0" cy="0"/>
          <a:chOff x="0" y="0"/>
          <a:chExt cx="0" cy="0"/>
        </a:xfrm>
      </p:grpSpPr>
      <p:sp>
        <p:nvSpPr>
          <p:cNvPr id="2232" name="Google Shape;2232;g3fae805ca80_0_16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3" name="Google Shape;2233;g3fae805ca80_0_16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4" name="Google Shape;2234;g3fae805ca80_0_16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0" name="Shape 2270"/>
        <p:cNvGrpSpPr/>
        <p:nvPr/>
      </p:nvGrpSpPr>
      <p:grpSpPr>
        <a:xfrm>
          <a:off x="0" y="0"/>
          <a:ext cx="0" cy="0"/>
          <a:chOff x="0" y="0"/>
          <a:chExt cx="0" cy="0"/>
        </a:xfrm>
      </p:grpSpPr>
      <p:sp>
        <p:nvSpPr>
          <p:cNvPr id="2271" name="Google Shape;2271;g3fae805ca80_0_17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2" name="Google Shape;2272;g3fae805ca80_0_17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3" name="Google Shape;2273;g3fae805ca80_0_17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42.png"/><Relationship Id="rId7"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1.png"/><Relationship Id="rId4" Type="http://schemas.openxmlformats.org/officeDocument/2006/relationships/image" Target="../media/image45.png"/><Relationship Id="rId5" Type="http://schemas.openxmlformats.org/officeDocument/2006/relationships/image" Target="../media/image50.png"/><Relationship Id="rId6" Type="http://schemas.openxmlformats.org/officeDocument/2006/relationships/image" Target="../media/image30.png"/><Relationship Id="rId7"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1.png"/><Relationship Id="rId4" Type="http://schemas.openxmlformats.org/officeDocument/2006/relationships/image" Target="../media/image45.png"/><Relationship Id="rId5" Type="http://schemas.openxmlformats.org/officeDocument/2006/relationships/image" Target="../media/image50.png"/><Relationship Id="rId6" Type="http://schemas.openxmlformats.org/officeDocument/2006/relationships/image" Target="../media/image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1.png"/><Relationship Id="rId4" Type="http://schemas.openxmlformats.org/officeDocument/2006/relationships/image" Target="../media/image47.png"/><Relationship Id="rId5" Type="http://schemas.openxmlformats.org/officeDocument/2006/relationships/image" Target="../media/image3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55.png"/><Relationship Id="rId4" Type="http://schemas.openxmlformats.org/officeDocument/2006/relationships/image" Target="../media/image54.png"/><Relationship Id="rId5"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3"/>
          <p:cNvSpPr/>
          <p:nvPr/>
        </p:nvSpPr>
        <p:spPr>
          <a:xfrm>
            <a:off x="0" y="0"/>
            <a:ext cx="18288000" cy="10287000"/>
          </a:xfrm>
          <a:prstGeom prst="rect">
            <a:avLst/>
          </a:prstGeom>
          <a:gradFill>
            <a:gsLst>
              <a:gs pos="0">
                <a:srgbClr val="FFFFFF"/>
              </a:gs>
              <a:gs pos="100000">
                <a:srgbClr val="E4F2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4097000" y="-1524000"/>
            <a:ext cx="5334000" cy="5334000"/>
          </a:xfrm>
          <a:prstGeom prst="ellipse">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13144500" y="-2476500"/>
            <a:ext cx="4000500" cy="4000500"/>
          </a:xfrm>
          <a:prstGeom prst="ellipse">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 name="Google Shape;19;p3"/>
          <p:cNvPicPr preferRelativeResize="0"/>
          <p:nvPr/>
        </p:nvPicPr>
        <p:blipFill rotWithShape="1">
          <a:blip r:embed="rId4">
            <a:alphaModFix/>
          </a:blip>
          <a:srcRect b="0" l="0" r="0" t="0"/>
          <a:stretch/>
        </p:blipFill>
        <p:spPr>
          <a:xfrm>
            <a:off x="762000" y="790575"/>
            <a:ext cx="3087737" cy="533400"/>
          </a:xfrm>
          <a:prstGeom prst="rect">
            <a:avLst/>
          </a:prstGeom>
          <a:noFill/>
          <a:ln>
            <a:noFill/>
          </a:ln>
        </p:spPr>
      </p:pic>
      <p:sp>
        <p:nvSpPr>
          <p:cNvPr id="20" name="Google Shape;20;p3"/>
          <p:cNvSpPr/>
          <p:nvPr/>
        </p:nvSpPr>
        <p:spPr>
          <a:xfrm>
            <a:off x="14405521" y="762000"/>
            <a:ext cx="3120479" cy="59055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4710321" y="914400"/>
            <a:ext cx="260449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Báo cáo tháng 7 / 2026</a:t>
            </a:r>
            <a:endParaRPr b="0" i="0" sz="1800" u="none" cap="none" strike="noStrike">
              <a:solidFill>
                <a:schemeClr val="dk1"/>
              </a:solidFill>
              <a:latin typeface="Calibri"/>
              <a:ea typeface="Calibri"/>
              <a:cs typeface="Calibri"/>
              <a:sym typeface="Calibri"/>
            </a:endParaRPr>
          </a:p>
        </p:txBody>
      </p:sp>
      <p:sp>
        <p:nvSpPr>
          <p:cNvPr id="22" name="Google Shape;22;p3"/>
          <p:cNvSpPr/>
          <p:nvPr/>
        </p:nvSpPr>
        <p:spPr>
          <a:xfrm>
            <a:off x="762000" y="3259485"/>
            <a:ext cx="1571625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4174"/>
              </a:buClr>
              <a:buSzPts val="2100"/>
              <a:buFont typeface="Plus Jakarta Sans"/>
              <a:buNone/>
            </a:pPr>
            <a:r>
              <a:rPr b="1" i="0" lang="en-US" sz="2100" u="none" cap="none" strike="noStrike">
                <a:solidFill>
                  <a:srgbClr val="0E4174"/>
                </a:solidFill>
                <a:latin typeface="Plus Jakarta Sans"/>
                <a:ea typeface="Plus Jakarta Sans"/>
                <a:cs typeface="Plus Jakarta Sans"/>
                <a:sym typeface="Plus Jakarta Sans"/>
              </a:rPr>
              <a:t>DRIVER MANAGEMENT · KHU VỰC: SGN &amp; HAN</a:t>
            </a:r>
            <a:endParaRPr b="0" i="0" sz="2100" u="none" cap="none" strike="noStrike">
              <a:solidFill>
                <a:schemeClr val="dk1"/>
              </a:solidFill>
              <a:latin typeface="Calibri"/>
              <a:ea typeface="Calibri"/>
              <a:cs typeface="Calibri"/>
              <a:sym typeface="Calibri"/>
            </a:endParaRPr>
          </a:p>
        </p:txBody>
      </p:sp>
      <p:sp>
        <p:nvSpPr>
          <p:cNvPr id="23" name="Google Shape;23;p3"/>
          <p:cNvSpPr/>
          <p:nvPr/>
        </p:nvSpPr>
        <p:spPr>
          <a:xfrm>
            <a:off x="762000" y="3802410"/>
            <a:ext cx="15716250" cy="958155"/>
          </a:xfrm>
          <a:prstGeom prst="rect">
            <a:avLst/>
          </a:prstGeom>
          <a:noFill/>
          <a:ln>
            <a:noFill/>
          </a:ln>
        </p:spPr>
        <p:txBody>
          <a:bodyPr anchorCtr="0" anchor="t" bIns="25400" lIns="25400" spcFirstLastPara="1" rIns="25400" wrap="square" tIns="25400">
            <a:noAutofit/>
          </a:bodyPr>
          <a:lstStyle/>
          <a:p>
            <a:pPr indent="0" lvl="0" marL="0" marR="0" rtl="0" algn="l">
              <a:lnSpc>
                <a:spcPct val="84000"/>
              </a:lnSpc>
              <a:spcBef>
                <a:spcPts val="0"/>
              </a:spcBef>
              <a:spcAft>
                <a:spcPts val="0"/>
              </a:spcAft>
              <a:buClr>
                <a:srgbClr val="012749"/>
              </a:buClr>
              <a:buSzPts val="6900"/>
              <a:buFont typeface="Plus Jakarta Sans"/>
              <a:buNone/>
            </a:pPr>
            <a:r>
              <a:rPr b="1" i="0" lang="en-US" sz="6900" u="none" cap="none" strike="noStrike">
                <a:solidFill>
                  <a:srgbClr val="012749"/>
                </a:solidFill>
                <a:latin typeface="Plus Jakarta Sans"/>
                <a:ea typeface="Plus Jakarta Sans"/>
                <a:cs typeface="Plus Jakarta Sans"/>
                <a:sym typeface="Plus Jakarta Sans"/>
              </a:rPr>
              <a:t>BÁO CÁO THÁNG 7</a:t>
            </a:r>
            <a:r>
              <a:rPr b="1" i="0" lang="en-US" sz="6900" u="none" cap="none" strike="noStrike">
                <a:solidFill>
                  <a:srgbClr val="FF7F32"/>
                </a:solidFill>
                <a:latin typeface="Plus Jakarta Sans"/>
                <a:ea typeface="Plus Jakarta Sans"/>
                <a:cs typeface="Plus Jakarta Sans"/>
                <a:sym typeface="Plus Jakarta Sans"/>
              </a:rPr>
              <a:t>/ 2026</a:t>
            </a:r>
            <a:endParaRPr b="0" i="0" sz="6900" u="none" cap="none" strike="noStrike">
              <a:solidFill>
                <a:schemeClr val="dk1"/>
              </a:solidFill>
              <a:latin typeface="Calibri"/>
              <a:ea typeface="Calibri"/>
              <a:cs typeface="Calibri"/>
              <a:sym typeface="Calibri"/>
            </a:endParaRPr>
          </a:p>
        </p:txBody>
      </p:sp>
      <p:sp>
        <p:nvSpPr>
          <p:cNvPr id="24" name="Google Shape;24;p3"/>
          <p:cNvSpPr/>
          <p:nvPr/>
        </p:nvSpPr>
        <p:spPr>
          <a:xfrm>
            <a:off x="762000" y="4989165"/>
            <a:ext cx="14287500" cy="2028825"/>
          </a:xfrm>
          <a:prstGeom prst="roundRect">
            <a:avLst>
              <a:gd fmla="val 7512" name="adj"/>
            </a:avLst>
          </a:prstGeom>
          <a:solidFill>
            <a:srgbClr val="FFFFFF"/>
          </a:solidFill>
          <a:ln cap="flat" cmpd="sng" w="9525">
            <a:solidFill>
              <a:srgbClr val="DDE1E6"/>
            </a:solidFill>
            <a:prstDash val="solid"/>
            <a:round/>
            <a:headEnd len="sm" w="sm" type="none"/>
            <a:tailEnd len="sm" w="sm" type="none"/>
          </a:ln>
          <a:effectLst>
            <a:outerShdw blurRad="76200" rotWithShape="0" algn="bl" dir="54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1076325" y="5265390"/>
            <a:ext cx="15024735"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3 CÂU HỎI SẼ ĐƯỢC TRẢ LỜI TRONG BÁO CÁO NÀY</a:t>
            </a:r>
            <a:endParaRPr b="0" i="0" sz="1800" u="none" cap="none" strike="noStrike">
              <a:solidFill>
                <a:schemeClr val="dk1"/>
              </a:solidFill>
              <a:latin typeface="Calibri"/>
              <a:ea typeface="Calibri"/>
              <a:cs typeface="Calibri"/>
              <a:sym typeface="Calibri"/>
            </a:endParaRPr>
          </a:p>
        </p:txBody>
      </p:sp>
      <p:sp>
        <p:nvSpPr>
          <p:cNvPr id="26" name="Google Shape;26;p3"/>
          <p:cNvSpPr/>
          <p:nvPr/>
        </p:nvSpPr>
        <p:spPr>
          <a:xfrm>
            <a:off x="1076325" y="5665440"/>
            <a:ext cx="254645"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1.</a:t>
            </a:r>
            <a:endParaRPr b="0" i="0" sz="1800" u="none" cap="none" strike="noStrike">
              <a:solidFill>
                <a:schemeClr val="dk1"/>
              </a:solidFill>
              <a:latin typeface="Calibri"/>
              <a:ea typeface="Calibri"/>
              <a:cs typeface="Calibri"/>
              <a:sym typeface="Calibri"/>
            </a:endParaRPr>
          </a:p>
        </p:txBody>
      </p:sp>
      <p:sp>
        <p:nvSpPr>
          <p:cNvPr id="27" name="Google Shape;27;p3"/>
          <p:cNvSpPr/>
          <p:nvPr/>
        </p:nvSpPr>
        <p:spPr>
          <a:xfrm>
            <a:off x="1388120" y="5674965"/>
            <a:ext cx="5968901"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Roboto"/>
              <a:buNone/>
            </a:pPr>
            <a:r>
              <a:rPr b="0" i="0" lang="en-US" sz="1950" u="none" cap="none" strike="noStrike">
                <a:solidFill>
                  <a:srgbClr val="121619"/>
                </a:solidFill>
                <a:latin typeface="Roboto"/>
                <a:ea typeface="Roboto"/>
                <a:cs typeface="Roboto"/>
                <a:sym typeface="Roboto"/>
              </a:rPr>
              <a:t>Vì sao FT active HAN giảm dù retention cải thiện?</a:t>
            </a:r>
            <a:endParaRPr b="0" i="0" sz="1950" u="none" cap="none" strike="noStrike">
              <a:solidFill>
                <a:schemeClr val="dk1"/>
              </a:solidFill>
              <a:latin typeface="Calibri"/>
              <a:ea typeface="Calibri"/>
              <a:cs typeface="Calibri"/>
              <a:sym typeface="Calibri"/>
            </a:endParaRPr>
          </a:p>
        </p:txBody>
      </p:sp>
      <p:sp>
        <p:nvSpPr>
          <p:cNvPr id="28" name="Google Shape;28;p3"/>
          <p:cNvSpPr/>
          <p:nvPr/>
        </p:nvSpPr>
        <p:spPr>
          <a:xfrm>
            <a:off x="1076325" y="6055965"/>
            <a:ext cx="298996"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2.</a:t>
            </a:r>
            <a:endParaRPr b="0" i="0" sz="1800" u="none" cap="none" strike="noStrike">
              <a:solidFill>
                <a:schemeClr val="dk1"/>
              </a:solidFill>
              <a:latin typeface="Calibri"/>
              <a:ea typeface="Calibri"/>
              <a:cs typeface="Calibri"/>
              <a:sym typeface="Calibri"/>
            </a:endParaRPr>
          </a:p>
        </p:txBody>
      </p:sp>
      <p:sp>
        <p:nvSpPr>
          <p:cNvPr id="29" name="Google Shape;29;p3"/>
          <p:cNvSpPr/>
          <p:nvPr/>
        </p:nvSpPr>
        <p:spPr>
          <a:xfrm>
            <a:off x="1432471" y="6065490"/>
            <a:ext cx="4238967"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Roboto"/>
              <a:buNone/>
            </a:pPr>
            <a:r>
              <a:rPr b="0" i="0" lang="en-US" sz="1950" u="none" cap="none" strike="noStrike">
                <a:solidFill>
                  <a:srgbClr val="121619"/>
                </a:solidFill>
                <a:latin typeface="Roboto"/>
                <a:ea typeface="Roboto"/>
                <a:cs typeface="Roboto"/>
                <a:sym typeface="Roboto"/>
              </a:rPr>
              <a:t>MiniHub có đáng scale tiếp không?</a:t>
            </a:r>
            <a:endParaRPr b="0" i="0" sz="1950" u="none" cap="none" strike="noStrike">
              <a:solidFill>
                <a:schemeClr val="dk1"/>
              </a:solidFill>
              <a:latin typeface="Calibri"/>
              <a:ea typeface="Calibri"/>
              <a:cs typeface="Calibri"/>
              <a:sym typeface="Calibri"/>
            </a:endParaRPr>
          </a:p>
        </p:txBody>
      </p:sp>
      <p:sp>
        <p:nvSpPr>
          <p:cNvPr id="30" name="Google Shape;30;p3"/>
          <p:cNvSpPr/>
          <p:nvPr/>
        </p:nvSpPr>
        <p:spPr>
          <a:xfrm>
            <a:off x="1076325" y="6446490"/>
            <a:ext cx="302270"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3.</a:t>
            </a:r>
            <a:endParaRPr b="0" i="0" sz="1800" u="none" cap="none" strike="noStrike">
              <a:solidFill>
                <a:schemeClr val="dk1"/>
              </a:solidFill>
              <a:latin typeface="Calibri"/>
              <a:ea typeface="Calibri"/>
              <a:cs typeface="Calibri"/>
              <a:sym typeface="Calibri"/>
            </a:endParaRPr>
          </a:p>
        </p:txBody>
      </p:sp>
      <p:sp>
        <p:nvSpPr>
          <p:cNvPr id="31" name="Google Shape;31;p3"/>
          <p:cNvSpPr/>
          <p:nvPr/>
        </p:nvSpPr>
        <p:spPr>
          <a:xfrm>
            <a:off x="1435745" y="6456015"/>
            <a:ext cx="450352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Roboto"/>
              <a:buNone/>
            </a:pPr>
            <a:r>
              <a:rPr b="0" i="0" lang="en-US" sz="1950" u="none" cap="none" strike="noStrike">
                <a:solidFill>
                  <a:srgbClr val="121619"/>
                </a:solidFill>
                <a:latin typeface="Roboto"/>
                <a:ea typeface="Roboto"/>
                <a:cs typeface="Roboto"/>
                <a:sym typeface="Roboto"/>
              </a:rPr>
              <a:t>Ngân sách EV tháng 8 nên ưu tiên gì?</a:t>
            </a:r>
            <a:endParaRPr b="0" i="0" sz="1950" u="none" cap="none" strike="noStrike">
              <a:solidFill>
                <a:schemeClr val="dk1"/>
              </a:solidFill>
              <a:latin typeface="Calibri"/>
              <a:ea typeface="Calibri"/>
              <a:cs typeface="Calibri"/>
              <a:sym typeface="Calibri"/>
            </a:endParaRPr>
          </a:p>
        </p:txBody>
      </p:sp>
      <p:sp>
        <p:nvSpPr>
          <p:cNvPr id="32" name="Google Shape;32;p3"/>
          <p:cNvSpPr/>
          <p:nvPr/>
        </p:nvSpPr>
        <p:spPr>
          <a:xfrm>
            <a:off x="762000" y="8924925"/>
            <a:ext cx="1951107"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Chủ trì report</a:t>
            </a:r>
            <a:endParaRPr b="0" i="0" sz="1800" u="none" cap="none" strike="noStrike">
              <a:solidFill>
                <a:schemeClr val="dk1"/>
              </a:solidFill>
              <a:latin typeface="Calibri"/>
              <a:ea typeface="Calibri"/>
              <a:cs typeface="Calibri"/>
              <a:sym typeface="Calibri"/>
            </a:endParaRPr>
          </a:p>
        </p:txBody>
      </p:sp>
      <p:sp>
        <p:nvSpPr>
          <p:cNvPr id="33" name="Google Shape;33;p3"/>
          <p:cNvSpPr/>
          <p:nvPr/>
        </p:nvSpPr>
        <p:spPr>
          <a:xfrm>
            <a:off x="762000" y="9191625"/>
            <a:ext cx="1951107"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Trang + Khanh</a:t>
            </a:r>
            <a:endParaRPr b="0" i="0" sz="2100" u="none" cap="none" strike="noStrike">
              <a:solidFill>
                <a:schemeClr val="dk1"/>
              </a:solidFill>
              <a:latin typeface="Calibri"/>
              <a:ea typeface="Calibri"/>
              <a:cs typeface="Calibri"/>
              <a:sym typeface="Calibri"/>
            </a:endParaRPr>
          </a:p>
        </p:txBody>
      </p:sp>
      <p:sp>
        <p:nvSpPr>
          <p:cNvPr id="34" name="Google Shape;34;p3"/>
          <p:cNvSpPr/>
          <p:nvPr/>
        </p:nvSpPr>
        <p:spPr>
          <a:xfrm>
            <a:off x="12892385" y="9258300"/>
            <a:ext cx="5096976"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Ahamove — Driver Management | Confidential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4"/>
          <p:cNvSpPr/>
          <p:nvPr/>
        </p:nvSpPr>
        <p:spPr>
          <a:xfrm>
            <a:off x="0" y="0"/>
            <a:ext cx="18288000" cy="10287000"/>
          </a:xfrm>
          <a:prstGeom prst="rect">
            <a:avLst/>
          </a:prstGeom>
          <a:gradFill>
            <a:gsLst>
              <a:gs pos="0">
                <a:srgbClr val="FFFFFF"/>
              </a:gs>
              <a:gs pos="100000">
                <a:srgbClr val="E4F2F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14097000" y="-1524000"/>
            <a:ext cx="5334000" cy="5334000"/>
          </a:xfrm>
          <a:prstGeom prst="ellipse">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13144500" y="-2476500"/>
            <a:ext cx="4000500" cy="4000500"/>
          </a:xfrm>
          <a:prstGeom prst="ellipse">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 name="Google Shape;43;p4"/>
          <p:cNvPicPr preferRelativeResize="0"/>
          <p:nvPr/>
        </p:nvPicPr>
        <p:blipFill rotWithShape="1">
          <a:blip r:embed="rId3">
            <a:alphaModFix/>
          </a:blip>
          <a:srcRect b="0" l="0" r="0" t="0"/>
          <a:stretch/>
        </p:blipFill>
        <p:spPr>
          <a:xfrm>
            <a:off x="762000" y="790575"/>
            <a:ext cx="3087738" cy="533400"/>
          </a:xfrm>
          <a:prstGeom prst="rect">
            <a:avLst/>
          </a:prstGeom>
          <a:noFill/>
          <a:ln>
            <a:noFill/>
          </a:ln>
        </p:spPr>
      </p:pic>
      <p:sp>
        <p:nvSpPr>
          <p:cNvPr id="44" name="Google Shape;44;p4"/>
          <p:cNvSpPr/>
          <p:nvPr/>
        </p:nvSpPr>
        <p:spPr>
          <a:xfrm>
            <a:off x="14405521" y="762000"/>
            <a:ext cx="3120600" cy="5907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14710321" y="914400"/>
            <a:ext cx="26046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Báo cáo tháng 7 / 2026</a:t>
            </a:r>
            <a:endParaRPr b="0" i="0" sz="1800" u="none" cap="none" strike="noStrike">
              <a:solidFill>
                <a:schemeClr val="dk1"/>
              </a:solidFill>
              <a:latin typeface="Calibri"/>
              <a:ea typeface="Calibri"/>
              <a:cs typeface="Calibri"/>
              <a:sym typeface="Calibri"/>
            </a:endParaRPr>
          </a:p>
        </p:txBody>
      </p:sp>
      <p:sp>
        <p:nvSpPr>
          <p:cNvPr id="46" name="Google Shape;46;p4"/>
          <p:cNvSpPr/>
          <p:nvPr/>
        </p:nvSpPr>
        <p:spPr>
          <a:xfrm>
            <a:off x="762000" y="3259485"/>
            <a:ext cx="157161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4174"/>
              </a:buClr>
              <a:buSzPts val="2100"/>
              <a:buFont typeface="Plus Jakarta Sans"/>
              <a:buNone/>
            </a:pPr>
            <a:r>
              <a:rPr b="1" i="0" lang="en-US" sz="2100" u="none" cap="none" strike="noStrike">
                <a:solidFill>
                  <a:srgbClr val="0E4174"/>
                </a:solidFill>
                <a:latin typeface="Plus Jakarta Sans"/>
                <a:ea typeface="Plus Jakarta Sans"/>
                <a:cs typeface="Plus Jakarta Sans"/>
                <a:sym typeface="Plus Jakarta Sans"/>
              </a:rPr>
              <a:t>DRIVER MANAGEMENT · KHU VỰC: SGN &amp; HAN</a:t>
            </a:r>
            <a:endParaRPr b="0" i="0" sz="2100" u="none" cap="none" strike="noStrike">
              <a:solidFill>
                <a:schemeClr val="dk1"/>
              </a:solidFill>
              <a:latin typeface="Calibri"/>
              <a:ea typeface="Calibri"/>
              <a:cs typeface="Calibri"/>
              <a:sym typeface="Calibri"/>
            </a:endParaRPr>
          </a:p>
        </p:txBody>
      </p:sp>
      <p:sp>
        <p:nvSpPr>
          <p:cNvPr id="47" name="Google Shape;47;p4"/>
          <p:cNvSpPr/>
          <p:nvPr/>
        </p:nvSpPr>
        <p:spPr>
          <a:xfrm>
            <a:off x="762000" y="3802404"/>
            <a:ext cx="15716100" cy="590700"/>
          </a:xfrm>
          <a:prstGeom prst="rect">
            <a:avLst/>
          </a:prstGeom>
          <a:noFill/>
          <a:ln>
            <a:noFill/>
          </a:ln>
        </p:spPr>
        <p:txBody>
          <a:bodyPr anchorCtr="0" anchor="t" bIns="25400" lIns="25400" spcFirstLastPara="1" rIns="25400" wrap="square" tIns="25400">
            <a:noAutofit/>
          </a:bodyPr>
          <a:lstStyle/>
          <a:p>
            <a:pPr indent="0" lvl="0" marL="0" marR="0" rtl="0" algn="l">
              <a:lnSpc>
                <a:spcPct val="84000"/>
              </a:lnSpc>
              <a:spcBef>
                <a:spcPts val="0"/>
              </a:spcBef>
              <a:spcAft>
                <a:spcPts val="0"/>
              </a:spcAft>
              <a:buClr>
                <a:srgbClr val="012749"/>
              </a:buClr>
              <a:buSzPts val="6900"/>
              <a:buFont typeface="Plus Jakarta Sans"/>
              <a:buNone/>
            </a:pPr>
            <a:r>
              <a:rPr b="1" lang="en-US" sz="4000">
                <a:solidFill>
                  <a:srgbClr val="012749"/>
                </a:solidFill>
                <a:latin typeface="Plus Jakarta Sans"/>
                <a:ea typeface="Plus Jakarta Sans"/>
                <a:cs typeface="Plus Jakarta Sans"/>
                <a:sym typeface="Plus Jakarta Sans"/>
              </a:rPr>
              <a:t>Slide bổ sung Agenda của report</a:t>
            </a:r>
            <a:endParaRPr b="1" sz="4000">
              <a:solidFill>
                <a:srgbClr val="012749"/>
              </a:solidFill>
              <a:latin typeface="Plus Jakarta Sans"/>
              <a:ea typeface="Plus Jakarta Sans"/>
              <a:cs typeface="Plus Jakarta Sans"/>
              <a:sym typeface="Plus Jakarta Sans"/>
            </a:endParaRPr>
          </a:p>
          <a:p>
            <a:pPr indent="0" lvl="0" marL="0" marR="0" rtl="0" algn="l">
              <a:lnSpc>
                <a:spcPct val="84000"/>
              </a:lnSpc>
              <a:spcBef>
                <a:spcPts val="0"/>
              </a:spcBef>
              <a:spcAft>
                <a:spcPts val="0"/>
              </a:spcAft>
              <a:buClr>
                <a:srgbClr val="012749"/>
              </a:buClr>
              <a:buSzPts val="6900"/>
              <a:buFont typeface="Plus Jakarta Sans"/>
              <a:buNone/>
            </a:pPr>
            <a:r>
              <a:t/>
            </a:r>
            <a:endParaRPr b="1" sz="4000">
              <a:solidFill>
                <a:srgbClr val="012749"/>
              </a:solidFill>
              <a:latin typeface="Plus Jakarta Sans"/>
              <a:ea typeface="Plus Jakarta Sans"/>
              <a:cs typeface="Plus Jakarta Sans"/>
              <a:sym typeface="Plus Jakarta Sans"/>
            </a:endParaRPr>
          </a:p>
          <a:p>
            <a:pPr indent="0" lvl="0" marL="0" marR="0" rtl="0" algn="l">
              <a:lnSpc>
                <a:spcPct val="84000"/>
              </a:lnSpc>
              <a:spcBef>
                <a:spcPts val="0"/>
              </a:spcBef>
              <a:spcAft>
                <a:spcPts val="0"/>
              </a:spcAft>
              <a:buClr>
                <a:srgbClr val="012749"/>
              </a:buClr>
              <a:buSzPts val="6900"/>
              <a:buFont typeface="Plus Jakarta Sans"/>
              <a:buNone/>
            </a:pPr>
            <a:r>
              <a:t/>
            </a:r>
            <a:endParaRPr b="1" sz="2000">
              <a:solidFill>
                <a:srgbClr val="012749"/>
              </a:solidFill>
              <a:latin typeface="Plus Jakarta Sans"/>
              <a:ea typeface="Plus Jakarta Sans"/>
              <a:cs typeface="Plus Jakarta Sans"/>
              <a:sym typeface="Plus Jakarta Sans"/>
            </a:endParaRPr>
          </a:p>
        </p:txBody>
      </p:sp>
      <p:sp>
        <p:nvSpPr>
          <p:cNvPr id="48" name="Google Shape;48;p4"/>
          <p:cNvSpPr/>
          <p:nvPr/>
        </p:nvSpPr>
        <p:spPr>
          <a:xfrm>
            <a:off x="762000" y="8924925"/>
            <a:ext cx="19512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Chủ trì report</a:t>
            </a:r>
            <a:endParaRPr b="0" i="0" sz="1800" u="none" cap="none" strike="noStrike">
              <a:solidFill>
                <a:schemeClr val="dk1"/>
              </a:solidFill>
              <a:latin typeface="Calibri"/>
              <a:ea typeface="Calibri"/>
              <a:cs typeface="Calibri"/>
              <a:sym typeface="Calibri"/>
            </a:endParaRPr>
          </a:p>
        </p:txBody>
      </p:sp>
      <p:sp>
        <p:nvSpPr>
          <p:cNvPr id="49" name="Google Shape;49;p4"/>
          <p:cNvSpPr/>
          <p:nvPr/>
        </p:nvSpPr>
        <p:spPr>
          <a:xfrm>
            <a:off x="762000" y="9191625"/>
            <a:ext cx="19512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Trang + Khanh</a:t>
            </a:r>
            <a:endParaRPr b="0" i="0" sz="2100" u="none" cap="none" strike="noStrike">
              <a:solidFill>
                <a:schemeClr val="dk1"/>
              </a:solidFill>
              <a:latin typeface="Calibri"/>
              <a:ea typeface="Calibri"/>
              <a:cs typeface="Calibri"/>
              <a:sym typeface="Calibri"/>
            </a:endParaRPr>
          </a:p>
        </p:txBody>
      </p:sp>
      <p:sp>
        <p:nvSpPr>
          <p:cNvPr id="50" name="Google Shape;50;p4"/>
          <p:cNvSpPr/>
          <p:nvPr/>
        </p:nvSpPr>
        <p:spPr>
          <a:xfrm>
            <a:off x="12892385" y="9258300"/>
            <a:ext cx="50970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Ahamove — Driver Management | Confidential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5"/>
          <p:cNvSpPr/>
          <p:nvPr/>
        </p:nvSpPr>
        <p:spPr>
          <a:xfrm>
            <a:off x="762000" y="495300"/>
            <a:ext cx="15989320"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TỔNG KẾT THÁNG 7 · 3 CÂU HỎI MỞ | Ahamove · Driver Management · Báo cáo T7</a:t>
            </a:r>
            <a:endParaRPr b="0" i="0" sz="1800" u="none" cap="none" strike="noStrike">
              <a:solidFill>
                <a:schemeClr val="dk1"/>
              </a:solidFill>
              <a:latin typeface="Calibri"/>
              <a:ea typeface="Calibri"/>
              <a:cs typeface="Calibri"/>
              <a:sym typeface="Calibri"/>
            </a:endParaRPr>
          </a:p>
        </p:txBody>
      </p:sp>
      <p:sp>
        <p:nvSpPr>
          <p:cNvPr id="57" name="Google Shape;57;p5"/>
          <p:cNvSpPr/>
          <p:nvPr/>
        </p:nvSpPr>
        <p:spPr>
          <a:xfrm>
            <a:off x="762000" y="838200"/>
            <a:ext cx="15989320" cy="4857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Tháng 7: chất lượng tốt, nhưng quy mô &amp; giữ chân tài xế đang chậm lại</a:t>
            </a:r>
            <a:endParaRPr b="0" i="0" sz="2850" u="none" cap="none" strike="noStrike">
              <a:solidFill>
                <a:schemeClr val="dk1"/>
              </a:solidFill>
              <a:latin typeface="Calibri"/>
              <a:ea typeface="Calibri"/>
              <a:cs typeface="Calibri"/>
              <a:sym typeface="Calibri"/>
            </a:endParaRPr>
          </a:p>
        </p:txBody>
      </p:sp>
      <p:sp>
        <p:nvSpPr>
          <p:cNvPr id="58" name="Google Shape;58;p5"/>
          <p:cNvSpPr/>
          <p:nvPr/>
        </p:nvSpPr>
        <p:spPr>
          <a:xfrm>
            <a:off x="762000" y="1381125"/>
            <a:ext cx="14535745" cy="51435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 name="Google Shape;59;p5"/>
          <p:cNvPicPr preferRelativeResize="0"/>
          <p:nvPr/>
        </p:nvPicPr>
        <p:blipFill rotWithShape="1">
          <a:blip r:embed="rId3">
            <a:alphaModFix/>
          </a:blip>
          <a:srcRect b="0" l="0" r="0" t="0"/>
          <a:stretch/>
        </p:blipFill>
        <p:spPr>
          <a:xfrm>
            <a:off x="952500" y="1562100"/>
            <a:ext cx="209550" cy="209550"/>
          </a:xfrm>
          <a:prstGeom prst="rect">
            <a:avLst/>
          </a:prstGeom>
          <a:noFill/>
          <a:ln>
            <a:noFill/>
          </a:ln>
        </p:spPr>
      </p:pic>
      <p:sp>
        <p:nvSpPr>
          <p:cNvPr id="60" name="Google Shape;60;p5"/>
          <p:cNvSpPr/>
          <p:nvPr/>
        </p:nvSpPr>
        <p:spPr>
          <a:xfrm>
            <a:off x="1221581" y="1495425"/>
            <a:ext cx="1886694"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61" name="Google Shape;61;p5"/>
          <p:cNvSpPr/>
          <p:nvPr/>
        </p:nvSpPr>
        <p:spPr>
          <a:xfrm>
            <a:off x="3146375" y="1504950"/>
            <a:ext cx="12319696"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CTR/GDR tốt ở cả 2 khu vực, nhưng CR nhóm PT/GR và retention SGN là 2 điểm nghẽn kéo dài cần xử lý trước tháng 8.</a:t>
            </a:r>
            <a:endParaRPr b="0" i="0" sz="1800" u="none" cap="none" strike="noStrike">
              <a:solidFill>
                <a:schemeClr val="dk1"/>
              </a:solidFill>
              <a:latin typeface="Calibri"/>
              <a:ea typeface="Calibri"/>
              <a:cs typeface="Calibri"/>
              <a:sym typeface="Calibri"/>
            </a:endParaRPr>
          </a:p>
        </p:txBody>
      </p:sp>
      <p:sp>
        <p:nvSpPr>
          <p:cNvPr id="62" name="Google Shape;62;p5"/>
          <p:cNvSpPr/>
          <p:nvPr/>
        </p:nvSpPr>
        <p:spPr>
          <a:xfrm>
            <a:off x="15487501" y="495300"/>
            <a:ext cx="2038499" cy="5715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DM Monthly Report Tháng 7/2026</a:t>
            </a:r>
            <a:endParaRPr b="0" i="0" sz="1800" u="none" cap="none" strike="noStrike">
              <a:solidFill>
                <a:schemeClr val="dk1"/>
              </a:solidFill>
              <a:latin typeface="Calibri"/>
              <a:ea typeface="Calibri"/>
              <a:cs typeface="Calibri"/>
              <a:sym typeface="Calibri"/>
            </a:endParaRPr>
          </a:p>
        </p:txBody>
      </p:sp>
      <p:sp>
        <p:nvSpPr>
          <p:cNvPr id="63" name="Google Shape;63;p5"/>
          <p:cNvSpPr/>
          <p:nvPr/>
        </p:nvSpPr>
        <p:spPr>
          <a:xfrm>
            <a:off x="704850" y="2047875"/>
            <a:ext cx="5473601" cy="1371600"/>
          </a:xfrm>
          <a:prstGeom prst="roundRect">
            <a:avLst>
              <a:gd fmla="val 12500" name="adj"/>
            </a:avLst>
          </a:prstGeom>
          <a:solidFill>
            <a:srgbClr val="0E41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762000" y="2047875"/>
            <a:ext cx="5473601" cy="1371600"/>
          </a:xfrm>
          <a:prstGeom prst="roundRect">
            <a:avLst>
              <a:gd fmla="val 8333" name="adj"/>
            </a:avLst>
          </a:prstGeom>
          <a:solidFill>
            <a:srgbClr val="FFFFFF"/>
          </a:solidFill>
          <a:ln>
            <a:noFill/>
          </a:ln>
          <a:effectLst>
            <a:outerShdw blurRad="76200" rotWithShape="0" algn="bl" dir="54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971550" y="2238375"/>
            <a:ext cx="724793" cy="381000"/>
          </a:xfrm>
          <a:prstGeom prst="roundRect">
            <a:avLst>
              <a:gd fmla="val 2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1104900" y="2295525"/>
            <a:ext cx="534293"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HAN</a:t>
            </a:r>
            <a:endParaRPr b="0" i="0" sz="1650" u="none" cap="none" strike="noStrike">
              <a:solidFill>
                <a:schemeClr val="dk1"/>
              </a:solidFill>
              <a:latin typeface="Calibri"/>
              <a:ea typeface="Calibri"/>
              <a:cs typeface="Calibri"/>
              <a:sym typeface="Calibri"/>
            </a:endParaRPr>
          </a:p>
        </p:txBody>
      </p:sp>
      <p:sp>
        <p:nvSpPr>
          <p:cNvPr id="67" name="Google Shape;67;p5"/>
          <p:cNvSpPr/>
          <p:nvPr/>
        </p:nvSpPr>
        <p:spPr>
          <a:xfrm>
            <a:off x="971550" y="2695575"/>
            <a:ext cx="5206136"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SH tăng nhẹ, FR ~80%; checkin rate Hub đạt đỉnh </a:t>
            </a:r>
            <a:r>
              <a:rPr b="1" i="0" lang="en-US" sz="1800" u="none" cap="none" strike="noStrike">
                <a:solidFill>
                  <a:srgbClr val="012749"/>
                </a:solidFill>
                <a:latin typeface="Roboto"/>
                <a:ea typeface="Roboto"/>
                <a:cs typeface="Roboto"/>
                <a:sym typeface="Roboto"/>
              </a:rPr>
              <a:t>86%</a:t>
            </a:r>
            <a:r>
              <a:rPr b="0" i="0" lang="en-US" sz="1800" u="none" cap="none" strike="noStrike">
                <a:solidFill>
                  <a:srgbClr val="121619"/>
                </a:solidFill>
                <a:latin typeface="Roboto"/>
                <a:ea typeface="Roboto"/>
                <a:cs typeface="Roboto"/>
                <a:sym typeface="Roboto"/>
              </a:rPr>
              <a:t>; CTR/GDR duy trì </a:t>
            </a:r>
            <a:r>
              <a:rPr b="1" i="0" lang="en-US" sz="1800" u="none" cap="none" strike="noStrike">
                <a:solidFill>
                  <a:srgbClr val="012749"/>
                </a:solidFill>
                <a:latin typeface="Roboto"/>
                <a:ea typeface="Roboto"/>
                <a:cs typeface="Roboto"/>
                <a:sym typeface="Roboto"/>
              </a:rPr>
              <a:t>100% target</a:t>
            </a:r>
            <a:r>
              <a:rPr b="0" i="0" lang="en-US" sz="1800" u="none" cap="none" strike="noStrike">
                <a:solidFill>
                  <a:srgbClr val="121619"/>
                </a:solidFill>
                <a:latin typeface="Roboto"/>
                <a:ea typeface="Roboto"/>
                <a:cs typeface="Roboto"/>
                <a:sym typeface="Roboto"/>
              </a:rPr>
              <a:t>.</a:t>
            </a:r>
            <a:endParaRPr b="0" i="0" sz="1800" u="none" cap="none" strike="noStrike">
              <a:solidFill>
                <a:schemeClr val="dk1"/>
              </a:solidFill>
              <a:latin typeface="Calibri"/>
              <a:ea typeface="Calibri"/>
              <a:cs typeface="Calibri"/>
              <a:sym typeface="Calibri"/>
            </a:endParaRPr>
          </a:p>
        </p:txBody>
      </p:sp>
      <p:sp>
        <p:nvSpPr>
          <p:cNvPr id="68" name="Google Shape;68;p5"/>
          <p:cNvSpPr/>
          <p:nvPr/>
        </p:nvSpPr>
        <p:spPr>
          <a:xfrm>
            <a:off x="6349901" y="2047875"/>
            <a:ext cx="5473750" cy="1371600"/>
          </a:xfrm>
          <a:prstGeom prst="roundRect">
            <a:avLst>
              <a:gd fmla="val 125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6407051" y="2047875"/>
            <a:ext cx="5473750" cy="1371600"/>
          </a:xfrm>
          <a:prstGeom prst="roundRect">
            <a:avLst>
              <a:gd fmla="val 8333" name="adj"/>
            </a:avLst>
          </a:prstGeom>
          <a:solidFill>
            <a:srgbClr val="FFFFFF"/>
          </a:solidFill>
          <a:ln>
            <a:noFill/>
          </a:ln>
          <a:effectLst>
            <a:outerShdw blurRad="76200" rotWithShape="0" algn="bl" dir="54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6616601" y="2238375"/>
            <a:ext cx="726877" cy="381000"/>
          </a:xfrm>
          <a:prstGeom prst="roundRect">
            <a:avLst>
              <a:gd fmla="val 2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6749951" y="2295525"/>
            <a:ext cx="536377"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SGN</a:t>
            </a:r>
            <a:endParaRPr b="0" i="0" sz="1650" u="none" cap="none" strike="noStrike">
              <a:solidFill>
                <a:schemeClr val="dk1"/>
              </a:solidFill>
              <a:latin typeface="Calibri"/>
              <a:ea typeface="Calibri"/>
              <a:cs typeface="Calibri"/>
              <a:sym typeface="Calibri"/>
            </a:endParaRPr>
          </a:p>
        </p:txBody>
      </p:sp>
      <p:sp>
        <p:nvSpPr>
          <p:cNvPr id="72" name="Google Shape;72;p5"/>
          <p:cNvSpPr/>
          <p:nvPr/>
        </p:nvSpPr>
        <p:spPr>
          <a:xfrm>
            <a:off x="6616601" y="2695575"/>
            <a:ext cx="5206289"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SH tăng </a:t>
            </a:r>
            <a:r>
              <a:rPr b="1" i="0" lang="en-US" sz="1800" u="none" cap="none" strike="noStrike">
                <a:solidFill>
                  <a:srgbClr val="F55F00"/>
                </a:solidFill>
                <a:latin typeface="Roboto"/>
                <a:ea typeface="Roboto"/>
                <a:cs typeface="Roboto"/>
                <a:sym typeface="Roboto"/>
              </a:rPr>
              <a:t>5.6% MoM </a:t>
            </a:r>
            <a:r>
              <a:rPr b="0" i="0" lang="en-US" sz="1800" u="none" cap="none" strike="noStrike">
                <a:solidFill>
                  <a:srgbClr val="121619"/>
                </a:solidFill>
                <a:latin typeface="Roboto"/>
                <a:ea typeface="Roboto"/>
                <a:cs typeface="Roboto"/>
                <a:sym typeface="Roboto"/>
              </a:rPr>
              <a:t>; retention vượt MoM &amp; YoY nhưng chưa đạt target </a:t>
            </a:r>
            <a:r>
              <a:rPr b="1" i="0" lang="en-US" sz="1800" u="none" cap="none" strike="noStrike">
                <a:solidFill>
                  <a:srgbClr val="F55F00"/>
                </a:solidFill>
                <a:latin typeface="Roboto"/>
                <a:ea typeface="Roboto"/>
                <a:cs typeface="Roboto"/>
                <a:sym typeface="Roboto"/>
              </a:rPr>
              <a:t>82%</a:t>
            </a:r>
            <a:r>
              <a:rPr b="0" i="0" lang="en-US" sz="1800" u="none" cap="none" strike="noStrike">
                <a:solidFill>
                  <a:srgbClr val="121619"/>
                </a:solidFill>
                <a:latin typeface="Roboto"/>
                <a:ea typeface="Roboto"/>
                <a:cs typeface="Roboto"/>
                <a:sym typeface="Roboto"/>
              </a:rPr>
              <a:t>.</a:t>
            </a:r>
            <a:endParaRPr b="0" i="0" sz="1800" u="none" cap="none" strike="noStrike">
              <a:solidFill>
                <a:schemeClr val="dk1"/>
              </a:solidFill>
              <a:latin typeface="Calibri"/>
              <a:ea typeface="Calibri"/>
              <a:cs typeface="Calibri"/>
              <a:sym typeface="Calibri"/>
            </a:endParaRPr>
          </a:p>
        </p:txBody>
      </p:sp>
      <p:sp>
        <p:nvSpPr>
          <p:cNvPr id="73" name="Google Shape;73;p5"/>
          <p:cNvSpPr/>
          <p:nvPr/>
        </p:nvSpPr>
        <p:spPr>
          <a:xfrm>
            <a:off x="11995100" y="2047875"/>
            <a:ext cx="5473750" cy="1371600"/>
          </a:xfrm>
          <a:prstGeom prst="roundRect">
            <a:avLst>
              <a:gd fmla="val 12500"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12052250" y="2047875"/>
            <a:ext cx="5473750" cy="1371600"/>
          </a:xfrm>
          <a:prstGeom prst="roundRect">
            <a:avLst>
              <a:gd fmla="val 8333" name="adj"/>
            </a:avLst>
          </a:prstGeom>
          <a:solidFill>
            <a:srgbClr val="FFFFFF"/>
          </a:solidFill>
          <a:ln>
            <a:noFill/>
          </a:ln>
          <a:effectLst>
            <a:outerShdw blurRad="76200" rotWithShape="0" algn="bl" dir="54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12261800" y="2238375"/>
            <a:ext cx="635645" cy="381000"/>
          </a:xfrm>
          <a:prstGeom prst="roundRect">
            <a:avLst>
              <a:gd fmla="val 20000" name="adj"/>
            </a:avLst>
          </a:prstGeom>
          <a:solidFill>
            <a:srgbClr val="167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12395150" y="2295525"/>
            <a:ext cx="445145"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NW</a:t>
            </a:r>
            <a:endParaRPr b="0" i="0" sz="1650" u="none" cap="none" strike="noStrike">
              <a:solidFill>
                <a:schemeClr val="dk1"/>
              </a:solidFill>
              <a:latin typeface="Calibri"/>
              <a:ea typeface="Calibri"/>
              <a:cs typeface="Calibri"/>
              <a:sym typeface="Calibri"/>
            </a:endParaRPr>
          </a:p>
        </p:txBody>
      </p:sp>
      <p:sp>
        <p:nvSpPr>
          <p:cNvPr id="77" name="Google Shape;77;p5"/>
          <p:cNvSpPr/>
          <p:nvPr/>
        </p:nvSpPr>
        <p:spPr>
          <a:xfrm>
            <a:off x="12261800" y="2695575"/>
            <a:ext cx="5206289"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GDR </a:t>
            </a:r>
            <a:r>
              <a:rPr b="1" i="0" lang="en-US" sz="1800" u="none" cap="none" strike="noStrike">
                <a:solidFill>
                  <a:srgbClr val="167C3F"/>
                </a:solidFill>
                <a:latin typeface="Roboto"/>
                <a:ea typeface="Roboto"/>
                <a:cs typeface="Roboto"/>
                <a:sym typeface="Roboto"/>
              </a:rPr>
              <a:t>94.82% </a:t>
            </a:r>
            <a:r>
              <a:rPr b="0" i="0" lang="en-US" sz="1800" u="none" cap="none" strike="noStrike">
                <a:solidFill>
                  <a:srgbClr val="121619"/>
                </a:solidFill>
                <a:latin typeface="Roboto"/>
                <a:ea typeface="Roboto"/>
                <a:cs typeface="Roboto"/>
                <a:sym typeface="Roboto"/>
              </a:rPr>
              <a:t>(100% target, +0.17% MoM); CTR </a:t>
            </a:r>
            <a:r>
              <a:rPr b="1" i="0" lang="en-US" sz="1800" u="none" cap="none" strike="noStrike">
                <a:solidFill>
                  <a:srgbClr val="167C3F"/>
                </a:solidFill>
                <a:latin typeface="Roboto"/>
                <a:ea typeface="Roboto"/>
                <a:cs typeface="Roboto"/>
                <a:sym typeface="Roboto"/>
              </a:rPr>
              <a:t>77.69% </a:t>
            </a:r>
            <a:r>
              <a:rPr b="0" i="0" lang="en-US" sz="1800" u="none" cap="none" strike="noStrike">
                <a:solidFill>
                  <a:srgbClr val="121619"/>
                </a:solidFill>
                <a:latin typeface="Roboto"/>
                <a:ea typeface="Roboto"/>
                <a:cs typeface="Roboto"/>
                <a:sym typeface="Roboto"/>
              </a:rPr>
              <a:t>(130% target, +0.48% MoM).</a:t>
            </a:r>
            <a:endParaRPr b="0" i="0" sz="1800" u="none" cap="none" strike="noStrike">
              <a:solidFill>
                <a:schemeClr val="dk1"/>
              </a:solidFill>
              <a:latin typeface="Calibri"/>
              <a:ea typeface="Calibri"/>
              <a:cs typeface="Calibri"/>
              <a:sym typeface="Calibri"/>
            </a:endParaRPr>
          </a:p>
        </p:txBody>
      </p:sp>
      <p:sp>
        <p:nvSpPr>
          <p:cNvPr id="78" name="Google Shape;78;p5"/>
          <p:cNvSpPr/>
          <p:nvPr/>
        </p:nvSpPr>
        <p:spPr>
          <a:xfrm>
            <a:off x="704850" y="3571875"/>
            <a:ext cx="8296275" cy="2333625"/>
          </a:xfrm>
          <a:prstGeom prst="roundRect">
            <a:avLst>
              <a:gd fmla="val 7347"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762000" y="3571875"/>
            <a:ext cx="8296275" cy="2333625"/>
          </a:xfrm>
          <a:prstGeom prst="roundRect">
            <a:avLst>
              <a:gd fmla="val 4898" name="adj"/>
            </a:avLst>
          </a:prstGeom>
          <a:solidFill>
            <a:srgbClr val="FFFFFF"/>
          </a:solidFill>
          <a:ln>
            <a:noFill/>
          </a:ln>
          <a:effectLst>
            <a:outerShdw blurRad="76200" rotWithShape="0" algn="bl" dir="54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 name="Google Shape;80;p5"/>
          <p:cNvPicPr preferRelativeResize="0"/>
          <p:nvPr/>
        </p:nvPicPr>
        <p:blipFill rotWithShape="1">
          <a:blip r:embed="rId4">
            <a:alphaModFix/>
          </a:blip>
          <a:srcRect b="0" l="0" r="0" t="0"/>
          <a:stretch/>
        </p:blipFill>
        <p:spPr>
          <a:xfrm>
            <a:off x="971550" y="3838575"/>
            <a:ext cx="247650" cy="247650"/>
          </a:xfrm>
          <a:prstGeom prst="rect">
            <a:avLst/>
          </a:prstGeom>
          <a:noFill/>
          <a:ln>
            <a:noFill/>
          </a:ln>
        </p:spPr>
      </p:pic>
      <p:sp>
        <p:nvSpPr>
          <p:cNvPr id="81" name="Google Shape;81;p5"/>
          <p:cNvSpPr/>
          <p:nvPr/>
        </p:nvSpPr>
        <p:spPr>
          <a:xfrm>
            <a:off x="1282154" y="3781425"/>
            <a:ext cx="1588443" cy="3524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7C3F"/>
              </a:buClr>
              <a:buSzPts val="1950"/>
              <a:buFont typeface="Plus Jakarta Sans"/>
              <a:buNone/>
            </a:pPr>
            <a:r>
              <a:rPr b="1" i="0" lang="en-US" sz="1950" u="none" cap="none" strike="noStrike">
                <a:solidFill>
                  <a:srgbClr val="167C3F"/>
                </a:solidFill>
                <a:latin typeface="Plus Jakarta Sans"/>
                <a:ea typeface="Plus Jakarta Sans"/>
                <a:cs typeface="Plus Jakarta Sans"/>
                <a:sym typeface="Plus Jakarta Sans"/>
              </a:rPr>
              <a:t>HIGHLIGHTS</a:t>
            </a:r>
            <a:endParaRPr b="0" i="0" sz="1950" u="none" cap="none" strike="noStrike">
              <a:solidFill>
                <a:schemeClr val="dk1"/>
              </a:solidFill>
              <a:latin typeface="Calibri"/>
              <a:ea typeface="Calibri"/>
              <a:cs typeface="Calibri"/>
              <a:sym typeface="Calibri"/>
            </a:endParaRPr>
          </a:p>
        </p:txBody>
      </p:sp>
      <p:sp>
        <p:nvSpPr>
          <p:cNvPr id="82" name="Google Shape;82;p5"/>
          <p:cNvSpPr/>
          <p:nvPr/>
        </p:nvSpPr>
        <p:spPr>
          <a:xfrm>
            <a:off x="1021080" y="4191000"/>
            <a:ext cx="7903845" cy="154305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HAN: SH tăng nhẹ, FR ~80%; checkin rate Hub đạt đỉnh 86%; CTR/GDR duy trì 100% target</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SGN: SH tăng 5.6% MoM; retention vượt MoM &amp; YoY</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NW: GDR 94.82% (100% target); CTR 77.69% (130% target)</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Action T7: đã triển khai 2 chương trình retention trong tháng</a:t>
            </a:r>
            <a:endParaRPr b="0" i="0" sz="1800" u="none" cap="none" strike="noStrike">
              <a:solidFill>
                <a:schemeClr val="dk1"/>
              </a:solidFill>
              <a:latin typeface="Calibri"/>
              <a:ea typeface="Calibri"/>
              <a:cs typeface="Calibri"/>
              <a:sym typeface="Calibri"/>
            </a:endParaRPr>
          </a:p>
        </p:txBody>
      </p:sp>
      <p:sp>
        <p:nvSpPr>
          <p:cNvPr id="83" name="Google Shape;83;p5"/>
          <p:cNvSpPr/>
          <p:nvPr/>
        </p:nvSpPr>
        <p:spPr>
          <a:xfrm>
            <a:off x="9172575" y="3571875"/>
            <a:ext cx="8296275" cy="2333625"/>
          </a:xfrm>
          <a:prstGeom prst="roundRect">
            <a:avLst>
              <a:gd fmla="val 7347"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9229725" y="3571875"/>
            <a:ext cx="8296275" cy="2333625"/>
          </a:xfrm>
          <a:prstGeom prst="roundRect">
            <a:avLst>
              <a:gd fmla="val 4898" name="adj"/>
            </a:avLst>
          </a:prstGeom>
          <a:solidFill>
            <a:srgbClr val="FFFFFF"/>
          </a:solidFill>
          <a:ln>
            <a:noFill/>
          </a:ln>
          <a:effectLst>
            <a:outerShdw blurRad="76200" rotWithShape="0" algn="bl" dir="54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5" name="Google Shape;85;p5"/>
          <p:cNvPicPr preferRelativeResize="0"/>
          <p:nvPr/>
        </p:nvPicPr>
        <p:blipFill rotWithShape="1">
          <a:blip r:embed="rId5">
            <a:alphaModFix/>
          </a:blip>
          <a:srcRect b="0" l="0" r="0" t="0"/>
          <a:stretch/>
        </p:blipFill>
        <p:spPr>
          <a:xfrm>
            <a:off x="9439275" y="3838575"/>
            <a:ext cx="247650" cy="247650"/>
          </a:xfrm>
          <a:prstGeom prst="rect">
            <a:avLst/>
          </a:prstGeom>
          <a:noFill/>
          <a:ln>
            <a:noFill/>
          </a:ln>
        </p:spPr>
      </p:pic>
      <p:sp>
        <p:nvSpPr>
          <p:cNvPr id="86" name="Google Shape;86;p5"/>
          <p:cNvSpPr/>
          <p:nvPr/>
        </p:nvSpPr>
        <p:spPr>
          <a:xfrm>
            <a:off x="9749879" y="3781425"/>
            <a:ext cx="1550640" cy="3524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A1E28"/>
              </a:buClr>
              <a:buSzPts val="1950"/>
              <a:buFont typeface="Plus Jakarta Sans"/>
              <a:buNone/>
            </a:pPr>
            <a:r>
              <a:rPr b="1" i="0" lang="en-US" sz="1950" u="none" cap="none" strike="noStrike">
                <a:solidFill>
                  <a:srgbClr val="DA1E28"/>
                </a:solidFill>
                <a:latin typeface="Plus Jakarta Sans"/>
                <a:ea typeface="Plus Jakarta Sans"/>
                <a:cs typeface="Plus Jakarta Sans"/>
                <a:sym typeface="Plus Jakarta Sans"/>
              </a:rPr>
              <a:t>LOWLIGHTS</a:t>
            </a:r>
            <a:endParaRPr b="0" i="0" sz="1950" u="none" cap="none" strike="noStrike">
              <a:solidFill>
                <a:schemeClr val="dk1"/>
              </a:solidFill>
              <a:latin typeface="Calibri"/>
              <a:ea typeface="Calibri"/>
              <a:cs typeface="Calibri"/>
              <a:sym typeface="Calibri"/>
            </a:endParaRPr>
          </a:p>
        </p:txBody>
      </p:sp>
      <p:sp>
        <p:nvSpPr>
          <p:cNvPr id="87" name="Google Shape;87;p5"/>
          <p:cNvSpPr/>
          <p:nvPr/>
        </p:nvSpPr>
        <p:spPr>
          <a:xfrm>
            <a:off x="9488805" y="4191000"/>
            <a:ext cx="7903845" cy="89535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HAN: CR PoC chung tăng 0.13% MoM, chưa đảo chiều</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SGN: CR nhóm GR (NIM, NLM) vẫn cao, NLM &gt;14% — cao nhất trong các segment</a:t>
            </a:r>
            <a:endParaRPr b="0" i="0" sz="1800" u="none" cap="none" strike="noStrike">
              <a:solidFill>
                <a:schemeClr val="dk1"/>
              </a:solidFill>
              <a:latin typeface="Calibri"/>
              <a:ea typeface="Calibri"/>
              <a:cs typeface="Calibri"/>
              <a:sym typeface="Calibri"/>
            </a:endParaRPr>
          </a:p>
        </p:txBody>
      </p:sp>
      <p:sp>
        <p:nvSpPr>
          <p:cNvPr id="88" name="Google Shape;88;p5"/>
          <p:cNvSpPr/>
          <p:nvPr/>
        </p:nvSpPr>
        <p:spPr>
          <a:xfrm>
            <a:off x="762000" y="6973775"/>
            <a:ext cx="16764000" cy="2817900"/>
          </a:xfrm>
          <a:prstGeom prst="roundRect">
            <a:avLst>
              <a:gd fmla="val 3571" name="adj"/>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990600" y="7443788"/>
            <a:ext cx="17937480"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3 CÂU HỎI BÁO CÁO NÀY SẼ TRẢ LỜI (XEM LẠI Ở SLIDE CUỐI)</a:t>
            </a:r>
            <a:endParaRPr b="0" i="0" sz="1800" u="none" cap="none" strike="noStrike">
              <a:solidFill>
                <a:schemeClr val="dk1"/>
              </a:solidFill>
              <a:latin typeface="Calibri"/>
              <a:ea typeface="Calibri"/>
              <a:cs typeface="Calibri"/>
              <a:sym typeface="Calibri"/>
            </a:endParaRPr>
          </a:p>
        </p:txBody>
      </p:sp>
      <p:sp>
        <p:nvSpPr>
          <p:cNvPr id="90" name="Google Shape;90;p5"/>
          <p:cNvSpPr/>
          <p:nvPr/>
        </p:nvSpPr>
        <p:spPr>
          <a:xfrm>
            <a:off x="990600" y="7843838"/>
            <a:ext cx="168325"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1</a:t>
            </a:r>
            <a:endParaRPr b="0" i="0" sz="1800" u="none" cap="none" strike="noStrike">
              <a:solidFill>
                <a:schemeClr val="dk1"/>
              </a:solidFill>
              <a:latin typeface="Calibri"/>
              <a:ea typeface="Calibri"/>
              <a:cs typeface="Calibri"/>
              <a:sym typeface="Calibri"/>
            </a:endParaRPr>
          </a:p>
        </p:txBody>
      </p:sp>
      <p:sp>
        <p:nvSpPr>
          <p:cNvPr id="91" name="Google Shape;91;p5"/>
          <p:cNvSpPr/>
          <p:nvPr/>
        </p:nvSpPr>
        <p:spPr>
          <a:xfrm>
            <a:off x="1177975" y="7872413"/>
            <a:ext cx="5274811"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Vì sao FT active HAN giảm dù retention đã cải thiện?</a:t>
            </a:r>
            <a:endParaRPr b="0" i="0" sz="1800" u="none" cap="none" strike="noStrike">
              <a:solidFill>
                <a:schemeClr val="dk1"/>
              </a:solidFill>
              <a:latin typeface="Calibri"/>
              <a:ea typeface="Calibri"/>
              <a:cs typeface="Calibri"/>
              <a:sym typeface="Calibri"/>
            </a:endParaRPr>
          </a:p>
        </p:txBody>
      </p:sp>
      <p:sp>
        <p:nvSpPr>
          <p:cNvPr id="92" name="Google Shape;92;p5"/>
          <p:cNvSpPr/>
          <p:nvPr/>
        </p:nvSpPr>
        <p:spPr>
          <a:xfrm>
            <a:off x="6489650" y="7843838"/>
            <a:ext cx="212675"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2</a:t>
            </a:r>
            <a:endParaRPr b="0" i="0" sz="1800" u="none" cap="none" strike="noStrike">
              <a:solidFill>
                <a:schemeClr val="dk1"/>
              </a:solidFill>
              <a:latin typeface="Calibri"/>
              <a:ea typeface="Calibri"/>
              <a:cs typeface="Calibri"/>
              <a:sym typeface="Calibri"/>
            </a:endParaRPr>
          </a:p>
        </p:txBody>
      </p:sp>
      <p:sp>
        <p:nvSpPr>
          <p:cNvPr id="93" name="Google Shape;93;p5"/>
          <p:cNvSpPr/>
          <p:nvPr/>
        </p:nvSpPr>
        <p:spPr>
          <a:xfrm>
            <a:off x="6721376" y="7872413"/>
            <a:ext cx="3912855"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MiniHub có đáng scale tiếp không?</a:t>
            </a:r>
            <a:endParaRPr b="0" i="0" sz="1800" u="none" cap="none" strike="noStrike">
              <a:solidFill>
                <a:schemeClr val="dk1"/>
              </a:solidFill>
              <a:latin typeface="Calibri"/>
              <a:ea typeface="Calibri"/>
              <a:cs typeface="Calibri"/>
              <a:sym typeface="Calibri"/>
            </a:endParaRPr>
          </a:p>
        </p:txBody>
      </p:sp>
      <p:sp>
        <p:nvSpPr>
          <p:cNvPr id="94" name="Google Shape;94;p5"/>
          <p:cNvSpPr/>
          <p:nvPr/>
        </p:nvSpPr>
        <p:spPr>
          <a:xfrm>
            <a:off x="11988850" y="7843838"/>
            <a:ext cx="215950"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3</a:t>
            </a:r>
            <a:endParaRPr b="0" i="0" sz="1800" u="none" cap="none" strike="noStrike">
              <a:solidFill>
                <a:schemeClr val="dk1"/>
              </a:solidFill>
              <a:latin typeface="Calibri"/>
              <a:ea typeface="Calibri"/>
              <a:cs typeface="Calibri"/>
              <a:sym typeface="Calibri"/>
            </a:endParaRPr>
          </a:p>
        </p:txBody>
      </p:sp>
      <p:sp>
        <p:nvSpPr>
          <p:cNvPr id="95" name="Google Shape;95;p5"/>
          <p:cNvSpPr/>
          <p:nvPr/>
        </p:nvSpPr>
        <p:spPr>
          <a:xfrm>
            <a:off x="12223849" y="7872413"/>
            <a:ext cx="4157112"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Ngân sách EV tháng 8 nên ưu tiên gì?</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6"/>
          <p:cNvSpPr/>
          <p:nvPr/>
        </p:nvSpPr>
        <p:spPr>
          <a:xfrm>
            <a:off x="762000" y="495300"/>
            <a:ext cx="15164380"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OKR SCORECARD · QUÝ 3 | Ahamove · Driver Management · Báo cáo T7</a:t>
            </a:r>
            <a:endParaRPr b="0" i="0" sz="1800" u="none" cap="none" strike="noStrike">
              <a:solidFill>
                <a:schemeClr val="dk1"/>
              </a:solidFill>
              <a:latin typeface="Calibri"/>
              <a:ea typeface="Calibri"/>
              <a:cs typeface="Calibri"/>
              <a:sym typeface="Calibri"/>
            </a:endParaRPr>
          </a:p>
        </p:txBody>
      </p:sp>
      <p:sp>
        <p:nvSpPr>
          <p:cNvPr id="102" name="Google Shape;102;p6"/>
          <p:cNvSpPr/>
          <p:nvPr/>
        </p:nvSpPr>
        <p:spPr>
          <a:xfrm>
            <a:off x="762000" y="838200"/>
            <a:ext cx="15164380" cy="4857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OKR Quý 3: Baga vượt target, nhưng 4/6 Objective đang ở mức Đỏ</a:t>
            </a:r>
            <a:endParaRPr b="0" i="0" sz="2850" u="none" cap="none" strike="noStrike">
              <a:solidFill>
                <a:schemeClr val="dk1"/>
              </a:solidFill>
              <a:latin typeface="Calibri"/>
              <a:ea typeface="Calibri"/>
              <a:cs typeface="Calibri"/>
              <a:sym typeface="Calibri"/>
            </a:endParaRPr>
          </a:p>
        </p:txBody>
      </p:sp>
      <p:sp>
        <p:nvSpPr>
          <p:cNvPr id="103" name="Google Shape;103;p6"/>
          <p:cNvSpPr/>
          <p:nvPr/>
        </p:nvSpPr>
        <p:spPr>
          <a:xfrm>
            <a:off x="762000" y="1381125"/>
            <a:ext cx="13785800" cy="51435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4" name="Google Shape;104;p6"/>
          <p:cNvPicPr preferRelativeResize="0"/>
          <p:nvPr/>
        </p:nvPicPr>
        <p:blipFill rotWithShape="1">
          <a:blip r:embed="rId3">
            <a:alphaModFix/>
          </a:blip>
          <a:srcRect b="0" l="0" r="0" t="0"/>
          <a:stretch/>
        </p:blipFill>
        <p:spPr>
          <a:xfrm>
            <a:off x="952500" y="1562100"/>
            <a:ext cx="209550" cy="209550"/>
          </a:xfrm>
          <a:prstGeom prst="rect">
            <a:avLst/>
          </a:prstGeom>
          <a:noFill/>
          <a:ln>
            <a:noFill/>
          </a:ln>
        </p:spPr>
      </p:pic>
      <p:sp>
        <p:nvSpPr>
          <p:cNvPr id="105" name="Google Shape;105;p6"/>
          <p:cNvSpPr/>
          <p:nvPr/>
        </p:nvSpPr>
        <p:spPr>
          <a:xfrm>
            <a:off x="1221581" y="1495425"/>
            <a:ext cx="1886694"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106" name="Google Shape;106;p6"/>
          <p:cNvSpPr/>
          <p:nvPr/>
        </p:nvSpPr>
        <p:spPr>
          <a:xfrm>
            <a:off x="3146375" y="1504950"/>
            <a:ext cx="11547253"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Gộp từ 4 bảng OKR riêng lẻ (DM, Project, DE, Ops Growth) về 1 hệ RAG duy nhất để so sánh trên cùng một view.</a:t>
            </a:r>
            <a:endParaRPr b="0" i="0" sz="1800" u="none" cap="none" strike="noStrike">
              <a:solidFill>
                <a:schemeClr val="dk1"/>
              </a:solidFill>
              <a:latin typeface="Calibri"/>
              <a:ea typeface="Calibri"/>
              <a:cs typeface="Calibri"/>
              <a:sym typeface="Calibri"/>
            </a:endParaRPr>
          </a:p>
        </p:txBody>
      </p:sp>
      <p:sp>
        <p:nvSpPr>
          <p:cNvPr id="107" name="Google Shape;107;p6"/>
          <p:cNvSpPr/>
          <p:nvPr/>
        </p:nvSpPr>
        <p:spPr>
          <a:xfrm>
            <a:off x="15487501" y="495300"/>
            <a:ext cx="2038499" cy="5715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DM Monthly Report Tháng 7/2026</a:t>
            </a:r>
            <a:endParaRPr b="0" i="0" sz="1800" u="none" cap="none" strike="noStrike">
              <a:solidFill>
                <a:schemeClr val="dk1"/>
              </a:solidFill>
              <a:latin typeface="Calibri"/>
              <a:ea typeface="Calibri"/>
              <a:cs typeface="Calibri"/>
              <a:sym typeface="Calibri"/>
            </a:endParaRPr>
          </a:p>
        </p:txBody>
      </p:sp>
      <p:sp>
        <p:nvSpPr>
          <p:cNvPr id="108" name="Google Shape;108;p6"/>
          <p:cNvSpPr/>
          <p:nvPr/>
        </p:nvSpPr>
        <p:spPr>
          <a:xfrm>
            <a:off x="762000" y="2047875"/>
            <a:ext cx="16764000" cy="504825"/>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914400" y="2162175"/>
            <a:ext cx="3148584"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725"/>
              <a:buFont typeface="Plus Jakarta Sans"/>
              <a:buNone/>
            </a:pPr>
            <a:r>
              <a:rPr b="1" i="0" lang="en-US" sz="1725" u="none" cap="none" strike="noStrike">
                <a:solidFill>
                  <a:srgbClr val="FFFFFF"/>
                </a:solidFill>
                <a:latin typeface="Plus Jakarta Sans"/>
                <a:ea typeface="Plus Jakarta Sans"/>
                <a:cs typeface="Plus Jakarta Sans"/>
                <a:sym typeface="Plus Jakarta Sans"/>
              </a:rPr>
              <a:t>OBJECTIVE</a:t>
            </a:r>
            <a:endParaRPr b="0" i="0" sz="1725" u="none" cap="none" strike="noStrike">
              <a:solidFill>
                <a:schemeClr val="dk1"/>
              </a:solidFill>
              <a:latin typeface="Calibri"/>
              <a:ea typeface="Calibri"/>
              <a:cs typeface="Calibri"/>
              <a:sym typeface="Calibri"/>
            </a:endParaRPr>
          </a:p>
        </p:txBody>
      </p:sp>
      <p:sp>
        <p:nvSpPr>
          <p:cNvPr id="110" name="Google Shape;110;p6"/>
          <p:cNvSpPr/>
          <p:nvPr/>
        </p:nvSpPr>
        <p:spPr>
          <a:xfrm>
            <a:off x="4267200" y="2162175"/>
            <a:ext cx="7292553"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725"/>
              <a:buFont typeface="Plus Jakarta Sans"/>
              <a:buNone/>
            </a:pPr>
            <a:r>
              <a:rPr b="1" i="0" lang="en-US" sz="1725" u="none" cap="none" strike="noStrike">
                <a:solidFill>
                  <a:srgbClr val="FFFFFF"/>
                </a:solidFill>
                <a:latin typeface="Plus Jakarta Sans"/>
                <a:ea typeface="Plus Jakarta Sans"/>
                <a:cs typeface="Plus Jakarta Sans"/>
                <a:sym typeface="Plus Jakarta Sans"/>
              </a:rPr>
              <a:t>TIẾN ĐỘ NỔI BẬT THÁNG 7</a:t>
            </a:r>
            <a:endParaRPr b="0" i="0" sz="1725" u="none" cap="none" strike="noStrike">
              <a:solidFill>
                <a:schemeClr val="dk1"/>
              </a:solidFill>
              <a:latin typeface="Calibri"/>
              <a:ea typeface="Calibri"/>
              <a:cs typeface="Calibri"/>
              <a:sym typeface="Calibri"/>
            </a:endParaRPr>
          </a:p>
        </p:txBody>
      </p:sp>
      <p:sp>
        <p:nvSpPr>
          <p:cNvPr id="111" name="Google Shape;111;p6"/>
          <p:cNvSpPr/>
          <p:nvPr/>
        </p:nvSpPr>
        <p:spPr>
          <a:xfrm>
            <a:off x="11605171" y="2162175"/>
            <a:ext cx="1447800" cy="31432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725"/>
              <a:buFont typeface="Plus Jakarta Sans"/>
              <a:buNone/>
            </a:pPr>
            <a:r>
              <a:rPr b="1" i="0" lang="en-US" sz="1725" u="none" cap="none" strike="noStrike">
                <a:solidFill>
                  <a:srgbClr val="FFFFFF"/>
                </a:solidFill>
                <a:latin typeface="Plus Jakarta Sans"/>
                <a:ea typeface="Plus Jakarta Sans"/>
                <a:cs typeface="Plus Jakarta Sans"/>
                <a:sym typeface="Plus Jakarta Sans"/>
              </a:rPr>
              <a:t>RAG</a:t>
            </a:r>
            <a:endParaRPr b="0" i="0" sz="1725" u="none" cap="none" strike="noStrike">
              <a:solidFill>
                <a:schemeClr val="dk1"/>
              </a:solidFill>
              <a:latin typeface="Calibri"/>
              <a:ea typeface="Calibri"/>
              <a:cs typeface="Calibri"/>
              <a:sym typeface="Calibri"/>
            </a:endParaRPr>
          </a:p>
        </p:txBody>
      </p:sp>
      <p:sp>
        <p:nvSpPr>
          <p:cNvPr id="112" name="Google Shape;112;p6"/>
          <p:cNvSpPr/>
          <p:nvPr/>
        </p:nvSpPr>
        <p:spPr>
          <a:xfrm>
            <a:off x="13319671" y="2162175"/>
            <a:ext cx="4184691" cy="3143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725"/>
              <a:buFont typeface="Plus Jakarta Sans"/>
              <a:buNone/>
            </a:pPr>
            <a:r>
              <a:rPr b="1" i="0" lang="en-US" sz="1725" u="none" cap="none" strike="noStrike">
                <a:solidFill>
                  <a:srgbClr val="FFFFFF"/>
                </a:solidFill>
                <a:latin typeface="Plus Jakarta Sans"/>
                <a:ea typeface="Plus Jakarta Sans"/>
                <a:cs typeface="Plus Jakarta Sans"/>
                <a:sym typeface="Plus Jakarta Sans"/>
              </a:rPr>
              <a:t>GHI CHÚ</a:t>
            </a:r>
            <a:endParaRPr b="0" i="0" sz="1725" u="none" cap="none" strike="noStrike">
              <a:solidFill>
                <a:schemeClr val="dk1"/>
              </a:solidFill>
              <a:latin typeface="Calibri"/>
              <a:ea typeface="Calibri"/>
              <a:cs typeface="Calibri"/>
              <a:sym typeface="Calibri"/>
            </a:endParaRPr>
          </a:p>
        </p:txBody>
      </p:sp>
      <p:sp>
        <p:nvSpPr>
          <p:cNvPr id="113" name="Google Shape;113;p6"/>
          <p:cNvSpPr/>
          <p:nvPr/>
        </p:nvSpPr>
        <p:spPr>
          <a:xfrm>
            <a:off x="762000" y="3744516"/>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914400" y="2667000"/>
            <a:ext cx="3148584" cy="101084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Củng cố Driver Moat (Baga, FT, DQS ranking)</a:t>
            </a:r>
            <a:endParaRPr b="0" i="0" sz="1725" u="none" cap="none" strike="noStrike">
              <a:solidFill>
                <a:schemeClr val="dk1"/>
              </a:solidFill>
              <a:latin typeface="Calibri"/>
              <a:ea typeface="Calibri"/>
              <a:cs typeface="Calibri"/>
              <a:sym typeface="Calibri"/>
            </a:endParaRPr>
          </a:p>
        </p:txBody>
      </p:sp>
      <p:sp>
        <p:nvSpPr>
          <p:cNvPr id="115" name="Google Shape;115;p6"/>
          <p:cNvSpPr/>
          <p:nvPr/>
        </p:nvSpPr>
        <p:spPr>
          <a:xfrm>
            <a:off x="4267200" y="2667000"/>
            <a:ext cx="7292553" cy="101084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Baga active đạt 68.2% (50% KR); FT active chỉ đạt 10% KR; DQS ranking chưa có actual</a:t>
            </a:r>
            <a:endParaRPr b="0" i="0" sz="1725" u="none" cap="none" strike="noStrike">
              <a:solidFill>
                <a:schemeClr val="dk1"/>
              </a:solidFill>
              <a:latin typeface="Calibri"/>
              <a:ea typeface="Calibri"/>
              <a:cs typeface="Calibri"/>
              <a:sym typeface="Calibri"/>
            </a:endParaRPr>
          </a:p>
        </p:txBody>
      </p:sp>
      <p:sp>
        <p:nvSpPr>
          <p:cNvPr id="116" name="Google Shape;116;p6"/>
          <p:cNvSpPr/>
          <p:nvPr/>
        </p:nvSpPr>
        <p:spPr>
          <a:xfrm>
            <a:off x="12066687" y="2989064"/>
            <a:ext cx="524768" cy="32385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12161937" y="3036689"/>
            <a:ext cx="334268"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ĐỎ</a:t>
            </a:r>
            <a:endParaRPr b="0" i="0" sz="1500" u="none" cap="none" strike="noStrike">
              <a:solidFill>
                <a:schemeClr val="dk1"/>
              </a:solidFill>
              <a:latin typeface="Calibri"/>
              <a:ea typeface="Calibri"/>
              <a:cs typeface="Calibri"/>
              <a:sym typeface="Calibri"/>
            </a:endParaRPr>
          </a:p>
        </p:txBody>
      </p:sp>
      <p:sp>
        <p:nvSpPr>
          <p:cNvPr id="118" name="Google Shape;118;p6"/>
          <p:cNvSpPr/>
          <p:nvPr/>
        </p:nvSpPr>
        <p:spPr>
          <a:xfrm>
            <a:off x="13319671" y="2667000"/>
            <a:ext cx="4184691" cy="101084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Baga tiến triển tốt nhất, FT &amp; ranking chậm nhất</a:t>
            </a:r>
            <a:endParaRPr b="0" i="0" sz="1725" u="none" cap="none" strike="noStrike">
              <a:solidFill>
                <a:schemeClr val="dk1"/>
              </a:solidFill>
              <a:latin typeface="Calibri"/>
              <a:ea typeface="Calibri"/>
              <a:cs typeface="Calibri"/>
              <a:sym typeface="Calibri"/>
            </a:endParaRPr>
          </a:p>
        </p:txBody>
      </p:sp>
      <p:sp>
        <p:nvSpPr>
          <p:cNvPr id="119" name="Google Shape;119;p6"/>
          <p:cNvSpPr/>
          <p:nvPr/>
        </p:nvSpPr>
        <p:spPr>
          <a:xfrm>
            <a:off x="762000" y="3754041"/>
            <a:ext cx="16764000" cy="1208931"/>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762000" y="4953446"/>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914400" y="3868341"/>
            <a:ext cx="3148584"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Bứt phá chuyển đổi EV</a:t>
            </a:r>
            <a:endParaRPr b="0" i="0" sz="1725" u="none" cap="none" strike="noStrike">
              <a:solidFill>
                <a:schemeClr val="dk1"/>
              </a:solidFill>
              <a:latin typeface="Calibri"/>
              <a:ea typeface="Calibri"/>
              <a:cs typeface="Calibri"/>
              <a:sym typeface="Calibri"/>
            </a:endParaRPr>
          </a:p>
        </p:txBody>
      </p:sp>
      <p:sp>
        <p:nvSpPr>
          <p:cNvPr id="122" name="Google Shape;122;p6"/>
          <p:cNvSpPr/>
          <p:nvPr/>
        </p:nvSpPr>
        <p:spPr>
          <a:xfrm>
            <a:off x="4267200" y="3868341"/>
            <a:ext cx="7292553"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EV active đạt 66% KR (HAN 539/1006, SGN 706/873); ký partner mới chưa có actual</a:t>
            </a:r>
            <a:endParaRPr b="0" i="0" sz="1725" u="none" cap="none" strike="noStrike">
              <a:solidFill>
                <a:schemeClr val="dk1"/>
              </a:solidFill>
              <a:latin typeface="Calibri"/>
              <a:ea typeface="Calibri"/>
              <a:cs typeface="Calibri"/>
              <a:sym typeface="Calibri"/>
            </a:endParaRPr>
          </a:p>
        </p:txBody>
      </p:sp>
      <p:sp>
        <p:nvSpPr>
          <p:cNvPr id="123" name="Google Shape;123;p6"/>
          <p:cNvSpPr/>
          <p:nvPr/>
        </p:nvSpPr>
        <p:spPr>
          <a:xfrm>
            <a:off x="11940778" y="4196507"/>
            <a:ext cx="776436" cy="32385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12036028" y="4244132"/>
            <a:ext cx="585936"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VÀNG</a:t>
            </a:r>
            <a:endParaRPr b="0" i="0" sz="1500" u="none" cap="none" strike="noStrike">
              <a:solidFill>
                <a:schemeClr val="dk1"/>
              </a:solidFill>
              <a:latin typeface="Calibri"/>
              <a:ea typeface="Calibri"/>
              <a:cs typeface="Calibri"/>
              <a:sym typeface="Calibri"/>
            </a:endParaRPr>
          </a:p>
        </p:txBody>
      </p:sp>
      <p:sp>
        <p:nvSpPr>
          <p:cNvPr id="125" name="Google Shape;125;p6"/>
          <p:cNvSpPr/>
          <p:nvPr/>
        </p:nvSpPr>
        <p:spPr>
          <a:xfrm>
            <a:off x="13319671" y="3868341"/>
            <a:ext cx="4184691"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Active tăng tốt, lead conversion &amp; partner cần đẩy nhanh</a:t>
            </a:r>
            <a:endParaRPr b="0" i="0" sz="1725" u="none" cap="none" strike="noStrike">
              <a:solidFill>
                <a:schemeClr val="dk1"/>
              </a:solidFill>
              <a:latin typeface="Calibri"/>
              <a:ea typeface="Calibri"/>
              <a:cs typeface="Calibri"/>
              <a:sym typeface="Calibri"/>
            </a:endParaRPr>
          </a:p>
        </p:txBody>
      </p:sp>
      <p:sp>
        <p:nvSpPr>
          <p:cNvPr id="126" name="Google Shape;126;p6"/>
          <p:cNvSpPr/>
          <p:nvPr/>
        </p:nvSpPr>
        <p:spPr>
          <a:xfrm>
            <a:off x="762000" y="6162377"/>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914400" y="5077271"/>
            <a:ext cx="3148584"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Scale MiniHub</a:t>
            </a:r>
            <a:endParaRPr b="0" i="0" sz="1725" u="none" cap="none" strike="noStrike">
              <a:solidFill>
                <a:schemeClr val="dk1"/>
              </a:solidFill>
              <a:latin typeface="Calibri"/>
              <a:ea typeface="Calibri"/>
              <a:cs typeface="Calibri"/>
              <a:sym typeface="Calibri"/>
            </a:endParaRPr>
          </a:p>
        </p:txBody>
      </p:sp>
      <p:sp>
        <p:nvSpPr>
          <p:cNvPr id="128" name="Google Shape;128;p6"/>
          <p:cNvSpPr/>
          <p:nvPr/>
        </p:nvSpPr>
        <p:spPr>
          <a:xfrm>
            <a:off x="4267200" y="5077271"/>
            <a:ext cx="7292553"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Online rate 95% KR, PPH 96% KR; Volume chỉ 36% KR, Cityzone 30% KR, chuẩn hoá Captain chưa bắt đầu</a:t>
            </a:r>
            <a:endParaRPr b="0" i="0" sz="1725" u="none" cap="none" strike="noStrike">
              <a:solidFill>
                <a:schemeClr val="dk1"/>
              </a:solidFill>
              <a:latin typeface="Calibri"/>
              <a:ea typeface="Calibri"/>
              <a:cs typeface="Calibri"/>
              <a:sym typeface="Calibri"/>
            </a:endParaRPr>
          </a:p>
        </p:txBody>
      </p:sp>
      <p:sp>
        <p:nvSpPr>
          <p:cNvPr id="129" name="Google Shape;129;p6"/>
          <p:cNvSpPr/>
          <p:nvPr/>
        </p:nvSpPr>
        <p:spPr>
          <a:xfrm>
            <a:off x="12066687" y="5405438"/>
            <a:ext cx="524768" cy="32385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12161937" y="5453062"/>
            <a:ext cx="334268"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ĐỎ</a:t>
            </a:r>
            <a:endParaRPr b="0" i="0" sz="1500" u="none" cap="none" strike="noStrike">
              <a:solidFill>
                <a:schemeClr val="dk1"/>
              </a:solidFill>
              <a:latin typeface="Calibri"/>
              <a:ea typeface="Calibri"/>
              <a:cs typeface="Calibri"/>
              <a:sym typeface="Calibri"/>
            </a:endParaRPr>
          </a:p>
        </p:txBody>
      </p:sp>
      <p:sp>
        <p:nvSpPr>
          <p:cNvPr id="131" name="Google Shape;131;p6"/>
          <p:cNvSpPr/>
          <p:nvPr/>
        </p:nvSpPr>
        <p:spPr>
          <a:xfrm>
            <a:off x="13319671" y="5077271"/>
            <a:ext cx="4184691"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Chất lượng tốt nhưng tốc độ mở rộng chậm</a:t>
            </a:r>
            <a:endParaRPr b="0" i="0" sz="1725" u="none" cap="none" strike="noStrike">
              <a:solidFill>
                <a:schemeClr val="dk1"/>
              </a:solidFill>
              <a:latin typeface="Calibri"/>
              <a:ea typeface="Calibri"/>
              <a:cs typeface="Calibri"/>
              <a:sym typeface="Calibri"/>
            </a:endParaRPr>
          </a:p>
        </p:txBody>
      </p:sp>
      <p:sp>
        <p:nvSpPr>
          <p:cNvPr id="132" name="Google Shape;132;p6"/>
          <p:cNvSpPr/>
          <p:nvPr/>
        </p:nvSpPr>
        <p:spPr>
          <a:xfrm>
            <a:off x="762000" y="6171902"/>
            <a:ext cx="16764000" cy="1208931"/>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762000" y="7371308"/>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914400" y="6286202"/>
            <a:ext cx="3148584"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Ứng dụng AI &amp; automation</a:t>
            </a:r>
            <a:endParaRPr b="0" i="0" sz="1725" u="none" cap="none" strike="noStrike">
              <a:solidFill>
                <a:schemeClr val="dk1"/>
              </a:solidFill>
              <a:latin typeface="Calibri"/>
              <a:ea typeface="Calibri"/>
              <a:cs typeface="Calibri"/>
              <a:sym typeface="Calibri"/>
            </a:endParaRPr>
          </a:p>
        </p:txBody>
      </p:sp>
      <p:sp>
        <p:nvSpPr>
          <p:cNvPr id="135" name="Google Shape;135;p6"/>
          <p:cNvSpPr/>
          <p:nvPr/>
        </p:nvSpPr>
        <p:spPr>
          <a:xfrm>
            <a:off x="4267200" y="6286202"/>
            <a:ext cx="7292553"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Cả 2 KR (align Tech roadmap, xác định source AI) đều chưa bắt đầu</a:t>
            </a:r>
            <a:endParaRPr b="0" i="0" sz="1725" u="none" cap="none" strike="noStrike">
              <a:solidFill>
                <a:schemeClr val="dk1"/>
              </a:solidFill>
              <a:latin typeface="Calibri"/>
              <a:ea typeface="Calibri"/>
              <a:cs typeface="Calibri"/>
              <a:sym typeface="Calibri"/>
            </a:endParaRPr>
          </a:p>
        </p:txBody>
      </p:sp>
      <p:sp>
        <p:nvSpPr>
          <p:cNvPr id="136" name="Google Shape;136;p6"/>
          <p:cNvSpPr/>
          <p:nvPr/>
        </p:nvSpPr>
        <p:spPr>
          <a:xfrm>
            <a:off x="12066687" y="6614368"/>
            <a:ext cx="524768" cy="32385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12161937" y="6661993"/>
            <a:ext cx="334268"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ĐỎ</a:t>
            </a:r>
            <a:endParaRPr b="0" i="0" sz="1500" u="none" cap="none" strike="noStrike">
              <a:solidFill>
                <a:schemeClr val="dk1"/>
              </a:solidFill>
              <a:latin typeface="Calibri"/>
              <a:ea typeface="Calibri"/>
              <a:cs typeface="Calibri"/>
              <a:sym typeface="Calibri"/>
            </a:endParaRPr>
          </a:p>
        </p:txBody>
      </p:sp>
      <p:sp>
        <p:nvSpPr>
          <p:cNvPr id="138" name="Google Shape;138;p6"/>
          <p:cNvSpPr/>
          <p:nvPr/>
        </p:nvSpPr>
        <p:spPr>
          <a:xfrm>
            <a:off x="13319671" y="6286202"/>
            <a:ext cx="4184691"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Cần chốt kế hoạch phối hợp Tech trong tháng 8</a:t>
            </a:r>
            <a:endParaRPr b="0" i="0" sz="1725" u="none" cap="none" strike="noStrike">
              <a:solidFill>
                <a:schemeClr val="dk1"/>
              </a:solidFill>
              <a:latin typeface="Calibri"/>
              <a:ea typeface="Calibri"/>
              <a:cs typeface="Calibri"/>
              <a:sym typeface="Calibri"/>
            </a:endParaRPr>
          </a:p>
        </p:txBody>
      </p:sp>
      <p:sp>
        <p:nvSpPr>
          <p:cNvPr id="139" name="Google Shape;139;p6"/>
          <p:cNvSpPr/>
          <p:nvPr/>
        </p:nvSpPr>
        <p:spPr>
          <a:xfrm>
            <a:off x="762000" y="8580239"/>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914400" y="7495133"/>
            <a:ext cx="3148584"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Đối tác &amp; Benefit tài xế (DE)</a:t>
            </a:r>
            <a:endParaRPr b="0" i="0" sz="1725" u="none" cap="none" strike="noStrike">
              <a:solidFill>
                <a:schemeClr val="dk1"/>
              </a:solidFill>
              <a:latin typeface="Calibri"/>
              <a:ea typeface="Calibri"/>
              <a:cs typeface="Calibri"/>
              <a:sym typeface="Calibri"/>
            </a:endParaRPr>
          </a:p>
        </p:txBody>
      </p:sp>
      <p:sp>
        <p:nvSpPr>
          <p:cNvPr id="141" name="Google Shape;141;p6"/>
          <p:cNvSpPr/>
          <p:nvPr/>
        </p:nvSpPr>
        <p:spPr>
          <a:xfrm>
            <a:off x="4267200" y="7495133"/>
            <a:ext cx="7292553"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3 partner mới đang đàm phán; package Ahabenefit đang thiết kế nhưng redeem rate chưa cải thiện</a:t>
            </a:r>
            <a:endParaRPr b="0" i="0" sz="1725" u="none" cap="none" strike="noStrike">
              <a:solidFill>
                <a:schemeClr val="dk1"/>
              </a:solidFill>
              <a:latin typeface="Calibri"/>
              <a:ea typeface="Calibri"/>
              <a:cs typeface="Calibri"/>
              <a:sym typeface="Calibri"/>
            </a:endParaRPr>
          </a:p>
        </p:txBody>
      </p:sp>
      <p:sp>
        <p:nvSpPr>
          <p:cNvPr id="142" name="Google Shape;142;p6"/>
          <p:cNvSpPr/>
          <p:nvPr/>
        </p:nvSpPr>
        <p:spPr>
          <a:xfrm>
            <a:off x="11940778" y="7823299"/>
            <a:ext cx="776436" cy="32385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12036028" y="7870924"/>
            <a:ext cx="585936"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VÀNG</a:t>
            </a:r>
            <a:endParaRPr b="0" i="0" sz="1500" u="none" cap="none" strike="noStrike">
              <a:solidFill>
                <a:schemeClr val="dk1"/>
              </a:solidFill>
              <a:latin typeface="Calibri"/>
              <a:ea typeface="Calibri"/>
              <a:cs typeface="Calibri"/>
              <a:sym typeface="Calibri"/>
            </a:endParaRPr>
          </a:p>
        </p:txBody>
      </p:sp>
      <p:sp>
        <p:nvSpPr>
          <p:cNvPr id="144" name="Google Shape;144;p6"/>
          <p:cNvSpPr/>
          <p:nvPr/>
        </p:nvSpPr>
        <p:spPr>
          <a:xfrm>
            <a:off x="13319671" y="7495133"/>
            <a:ext cx="4184691" cy="101843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Move/VF/Shinhan đang ở giai đoạn proposal/survey</a:t>
            </a:r>
            <a:endParaRPr b="0" i="0" sz="1725" u="none" cap="none" strike="noStrike">
              <a:solidFill>
                <a:schemeClr val="dk1"/>
              </a:solidFill>
              <a:latin typeface="Calibri"/>
              <a:ea typeface="Calibri"/>
              <a:cs typeface="Calibri"/>
              <a:sym typeface="Calibri"/>
            </a:endParaRPr>
          </a:p>
        </p:txBody>
      </p:sp>
      <p:sp>
        <p:nvSpPr>
          <p:cNvPr id="145" name="Google Shape;145;p6"/>
          <p:cNvSpPr/>
          <p:nvPr/>
        </p:nvSpPr>
        <p:spPr>
          <a:xfrm>
            <a:off x="762000" y="8589764"/>
            <a:ext cx="16764000" cy="1201936"/>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914400" y="8704064"/>
            <a:ext cx="3148584" cy="1011436"/>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Ops Growth (Onboarding, Retention, Phân loại)</a:t>
            </a:r>
            <a:endParaRPr b="0" i="0" sz="1725" u="none" cap="none" strike="noStrike">
              <a:solidFill>
                <a:schemeClr val="dk1"/>
              </a:solidFill>
              <a:latin typeface="Calibri"/>
              <a:ea typeface="Calibri"/>
              <a:cs typeface="Calibri"/>
              <a:sym typeface="Calibri"/>
            </a:endParaRPr>
          </a:p>
        </p:txBody>
      </p:sp>
      <p:sp>
        <p:nvSpPr>
          <p:cNvPr id="147" name="Google Shape;147;p6"/>
          <p:cNvSpPr/>
          <p:nvPr/>
        </p:nvSpPr>
        <p:spPr>
          <a:xfrm>
            <a:off x="4267200" y="8704064"/>
            <a:ext cx="7292553" cy="1011436"/>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Chuẩn hoá Onboarding 35%, cải thiện Retention 10%, phân loại FT/PT 0%</a:t>
            </a:r>
            <a:endParaRPr b="0" i="0" sz="1725" u="none" cap="none" strike="noStrike">
              <a:solidFill>
                <a:schemeClr val="dk1"/>
              </a:solidFill>
              <a:latin typeface="Calibri"/>
              <a:ea typeface="Calibri"/>
              <a:cs typeface="Calibri"/>
              <a:sym typeface="Calibri"/>
            </a:endParaRPr>
          </a:p>
        </p:txBody>
      </p:sp>
      <p:sp>
        <p:nvSpPr>
          <p:cNvPr id="148" name="Google Shape;148;p6"/>
          <p:cNvSpPr/>
          <p:nvPr/>
        </p:nvSpPr>
        <p:spPr>
          <a:xfrm>
            <a:off x="12066687" y="9031188"/>
            <a:ext cx="524768" cy="32385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12161937" y="9078813"/>
            <a:ext cx="334268"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ĐỎ</a:t>
            </a:r>
            <a:endParaRPr b="0" i="0" sz="1500" u="none" cap="none" strike="noStrike">
              <a:solidFill>
                <a:schemeClr val="dk1"/>
              </a:solidFill>
              <a:latin typeface="Calibri"/>
              <a:ea typeface="Calibri"/>
              <a:cs typeface="Calibri"/>
              <a:sym typeface="Calibri"/>
            </a:endParaRPr>
          </a:p>
        </p:txBody>
      </p:sp>
      <p:sp>
        <p:nvSpPr>
          <p:cNvPr id="150" name="Google Shape;150;p6"/>
          <p:cNvSpPr/>
          <p:nvPr/>
        </p:nvSpPr>
        <p:spPr>
          <a:xfrm>
            <a:off x="13319671" y="8704064"/>
            <a:ext cx="4184691" cy="1011436"/>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Cả 3 KR đều dưới 40% tiến độ</a:t>
            </a:r>
            <a:endParaRPr b="0" i="0" sz="1725"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7"/>
          <p:cNvSpPr/>
          <p:nvPr/>
        </p:nvSpPr>
        <p:spPr>
          <a:xfrm>
            <a:off x="762000" y="495300"/>
            <a:ext cx="18440400"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PROJECT PORTFOLIO · TỔNG QUAN | Ahamove · Driver Management · Báo cáo T7</a:t>
            </a:r>
            <a:endParaRPr b="0" i="0" sz="1800" u="none" cap="none" strike="noStrike">
              <a:solidFill>
                <a:schemeClr val="dk1"/>
              </a:solidFill>
              <a:latin typeface="Calibri"/>
              <a:ea typeface="Calibri"/>
              <a:cs typeface="Calibri"/>
              <a:sym typeface="Calibri"/>
            </a:endParaRPr>
          </a:p>
        </p:txBody>
      </p:sp>
      <p:sp>
        <p:nvSpPr>
          <p:cNvPr id="157" name="Google Shape;157;p7"/>
          <p:cNvSpPr/>
          <p:nvPr/>
        </p:nvSpPr>
        <p:spPr>
          <a:xfrm>
            <a:off x="762000" y="838200"/>
            <a:ext cx="18440400" cy="4857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4 dự án trọng điểm, 3 chế độ khác nhau — chỉ Driver Journey sẵn sàng scale</a:t>
            </a:r>
            <a:endParaRPr b="0" i="0" sz="2850" u="none" cap="none" strike="noStrike">
              <a:solidFill>
                <a:schemeClr val="dk1"/>
              </a:solidFill>
              <a:latin typeface="Calibri"/>
              <a:ea typeface="Calibri"/>
              <a:cs typeface="Calibri"/>
              <a:sym typeface="Calibri"/>
            </a:endParaRPr>
          </a:p>
        </p:txBody>
      </p:sp>
      <p:sp>
        <p:nvSpPr>
          <p:cNvPr id="158" name="Google Shape;158;p7"/>
          <p:cNvSpPr/>
          <p:nvPr/>
        </p:nvSpPr>
        <p:spPr>
          <a:xfrm>
            <a:off x="762000" y="1381125"/>
            <a:ext cx="16764000" cy="51435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7"/>
          <p:cNvPicPr preferRelativeResize="0"/>
          <p:nvPr/>
        </p:nvPicPr>
        <p:blipFill rotWithShape="1">
          <a:blip r:embed="rId3">
            <a:alphaModFix/>
          </a:blip>
          <a:srcRect b="0" l="0" r="0" t="0"/>
          <a:stretch/>
        </p:blipFill>
        <p:spPr>
          <a:xfrm>
            <a:off x="952500" y="1562100"/>
            <a:ext cx="209550" cy="209550"/>
          </a:xfrm>
          <a:prstGeom prst="rect">
            <a:avLst/>
          </a:prstGeom>
          <a:noFill/>
          <a:ln>
            <a:noFill/>
          </a:ln>
        </p:spPr>
      </p:pic>
      <p:sp>
        <p:nvSpPr>
          <p:cNvPr id="160" name="Google Shape;160;p7"/>
          <p:cNvSpPr/>
          <p:nvPr/>
        </p:nvSpPr>
        <p:spPr>
          <a:xfrm>
            <a:off x="1221581" y="1495425"/>
            <a:ext cx="1886694"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161" name="Google Shape;161;p7"/>
          <p:cNvSpPr/>
          <p:nvPr/>
        </p:nvSpPr>
        <p:spPr>
          <a:xfrm>
            <a:off x="3146375" y="1504950"/>
            <a:ext cx="10905109"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Nhìn tổng quan portfolio trước khi đi sâu từng dự án — tránh đánh giá lệch vì chỉ thấy 1 phần câu chuyện.</a:t>
            </a:r>
            <a:endParaRPr b="0" i="0" sz="1800" u="none" cap="none" strike="noStrike">
              <a:solidFill>
                <a:schemeClr val="dk1"/>
              </a:solidFill>
              <a:latin typeface="Calibri"/>
              <a:ea typeface="Calibri"/>
              <a:cs typeface="Calibri"/>
              <a:sym typeface="Calibri"/>
            </a:endParaRPr>
          </a:p>
        </p:txBody>
      </p:sp>
      <p:sp>
        <p:nvSpPr>
          <p:cNvPr id="162" name="Google Shape;162;p7"/>
          <p:cNvSpPr/>
          <p:nvPr/>
        </p:nvSpPr>
        <p:spPr>
          <a:xfrm>
            <a:off x="762000" y="2047875"/>
            <a:ext cx="16764000" cy="55245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933450" y="2181225"/>
            <a:ext cx="3271901" cy="32385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PROJECT</a:t>
            </a:r>
            <a:endParaRPr b="0" i="0" sz="1800" u="none" cap="none" strike="noStrike">
              <a:solidFill>
                <a:schemeClr val="dk1"/>
              </a:solidFill>
              <a:latin typeface="Calibri"/>
              <a:ea typeface="Calibri"/>
              <a:cs typeface="Calibri"/>
              <a:sym typeface="Calibri"/>
            </a:endParaRPr>
          </a:p>
        </p:txBody>
      </p:sp>
      <p:sp>
        <p:nvSpPr>
          <p:cNvPr id="164" name="Google Shape;164;p7"/>
          <p:cNvSpPr/>
          <p:nvPr/>
        </p:nvSpPr>
        <p:spPr>
          <a:xfrm>
            <a:off x="4388660" y="2181225"/>
            <a:ext cx="3386105" cy="3238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STATUS (RAG)</a:t>
            </a:r>
            <a:endParaRPr b="0" i="0" sz="1800" u="none" cap="none" strike="noStrike">
              <a:solidFill>
                <a:schemeClr val="dk1"/>
              </a:solidFill>
              <a:latin typeface="Calibri"/>
              <a:ea typeface="Calibri"/>
              <a:cs typeface="Calibri"/>
              <a:sym typeface="Calibri"/>
            </a:endParaRPr>
          </a:p>
        </p:txBody>
      </p:sp>
      <p:sp>
        <p:nvSpPr>
          <p:cNvPr id="165" name="Google Shape;165;p7"/>
          <p:cNvSpPr/>
          <p:nvPr/>
        </p:nvSpPr>
        <p:spPr>
          <a:xfrm>
            <a:off x="7995272" y="2181225"/>
            <a:ext cx="4332382" cy="3238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BUSINESS IMPACT</a:t>
            </a:r>
            <a:endParaRPr b="0" i="0" sz="1800" u="none" cap="none" strike="noStrike">
              <a:solidFill>
                <a:schemeClr val="dk1"/>
              </a:solidFill>
              <a:latin typeface="Calibri"/>
              <a:ea typeface="Calibri"/>
              <a:cs typeface="Calibri"/>
              <a:sym typeface="Calibri"/>
            </a:endParaRPr>
          </a:p>
        </p:txBody>
      </p:sp>
      <p:sp>
        <p:nvSpPr>
          <p:cNvPr id="166" name="Google Shape;166;p7"/>
          <p:cNvSpPr/>
          <p:nvPr/>
        </p:nvSpPr>
        <p:spPr>
          <a:xfrm>
            <a:off x="12556205" y="2181225"/>
            <a:ext cx="2833790" cy="3238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PROGRESS</a:t>
            </a:r>
            <a:endParaRPr b="0" i="0" sz="1800" u="none" cap="none" strike="noStrike">
              <a:solidFill>
                <a:schemeClr val="dk1"/>
              </a:solidFill>
              <a:latin typeface="Calibri"/>
              <a:ea typeface="Calibri"/>
              <a:cs typeface="Calibri"/>
              <a:sym typeface="Calibri"/>
            </a:endParaRPr>
          </a:p>
        </p:txBody>
      </p:sp>
      <p:sp>
        <p:nvSpPr>
          <p:cNvPr id="167" name="Google Shape;167;p7"/>
          <p:cNvSpPr/>
          <p:nvPr/>
        </p:nvSpPr>
        <p:spPr>
          <a:xfrm>
            <a:off x="15648533" y="2181225"/>
            <a:ext cx="1744117" cy="3238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MODE</a:t>
            </a:r>
            <a:endParaRPr b="0" i="0" sz="1800" u="none" cap="none" strike="noStrike">
              <a:solidFill>
                <a:schemeClr val="dk1"/>
              </a:solidFill>
              <a:latin typeface="Calibri"/>
              <a:ea typeface="Calibri"/>
              <a:cs typeface="Calibri"/>
              <a:sym typeface="Calibri"/>
            </a:endParaRPr>
          </a:p>
        </p:txBody>
      </p:sp>
      <p:sp>
        <p:nvSpPr>
          <p:cNvPr id="168" name="Google Shape;168;p7"/>
          <p:cNvSpPr/>
          <p:nvPr/>
        </p:nvSpPr>
        <p:spPr>
          <a:xfrm>
            <a:off x="762000" y="4380607"/>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933450" y="2733675"/>
            <a:ext cx="3271901" cy="1561207"/>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MiniHub</a:t>
            </a:r>
            <a:endParaRPr b="0" i="0" sz="1800" u="none" cap="none" strike="noStrike">
              <a:solidFill>
                <a:schemeClr val="dk1"/>
              </a:solidFill>
              <a:latin typeface="Calibri"/>
              <a:ea typeface="Calibri"/>
              <a:cs typeface="Calibri"/>
              <a:sym typeface="Calibri"/>
            </a:endParaRPr>
          </a:p>
        </p:txBody>
      </p:sp>
      <p:sp>
        <p:nvSpPr>
          <p:cNvPr id="170" name="Google Shape;170;p7"/>
          <p:cNvSpPr/>
          <p:nvPr/>
        </p:nvSpPr>
        <p:spPr>
          <a:xfrm>
            <a:off x="5819329" y="3330922"/>
            <a:ext cx="524768" cy="32385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5914579" y="3378547"/>
            <a:ext cx="334268"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ĐỎ</a:t>
            </a:r>
            <a:endParaRPr b="0" i="0" sz="1500" u="none" cap="none" strike="noStrike">
              <a:solidFill>
                <a:schemeClr val="dk1"/>
              </a:solidFill>
              <a:latin typeface="Calibri"/>
              <a:ea typeface="Calibri"/>
              <a:cs typeface="Calibri"/>
              <a:sym typeface="Calibri"/>
            </a:endParaRPr>
          </a:p>
        </p:txBody>
      </p:sp>
      <p:sp>
        <p:nvSpPr>
          <p:cNvPr id="172" name="Google Shape;172;p7"/>
          <p:cNvSpPr/>
          <p:nvPr/>
        </p:nvSpPr>
        <p:spPr>
          <a:xfrm>
            <a:off x="7833347" y="2609850"/>
            <a:ext cx="4656232" cy="1808857"/>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Cao</a:t>
            </a:r>
            <a:endParaRPr b="0" i="0" sz="1800" u="none" cap="none" strike="noStrike">
              <a:solidFill>
                <a:schemeClr val="dk1"/>
              </a:solidFill>
              <a:latin typeface="Calibri"/>
              <a:ea typeface="Calibri"/>
              <a:cs typeface="Calibri"/>
              <a:sym typeface="Calibri"/>
            </a:endParaRPr>
          </a:p>
        </p:txBody>
      </p:sp>
      <p:sp>
        <p:nvSpPr>
          <p:cNvPr id="173" name="Google Shape;173;p7"/>
          <p:cNvSpPr/>
          <p:nvPr/>
        </p:nvSpPr>
        <p:spPr>
          <a:xfrm>
            <a:off x="12394280" y="2609850"/>
            <a:ext cx="3157640" cy="1808857"/>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Volume 36% KR</a:t>
            </a:r>
            <a:endParaRPr b="0" i="0" sz="1800" u="none" cap="none" strike="noStrike">
              <a:solidFill>
                <a:schemeClr val="dk1"/>
              </a:solidFill>
              <a:latin typeface="Calibri"/>
              <a:ea typeface="Calibri"/>
              <a:cs typeface="Calibri"/>
              <a:sym typeface="Calibri"/>
            </a:endParaRPr>
          </a:p>
        </p:txBody>
      </p:sp>
      <p:sp>
        <p:nvSpPr>
          <p:cNvPr id="174" name="Google Shape;174;p7"/>
          <p:cNvSpPr/>
          <p:nvPr/>
        </p:nvSpPr>
        <p:spPr>
          <a:xfrm>
            <a:off x="15486608" y="2609850"/>
            <a:ext cx="2067967" cy="1808857"/>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1" i="0" lang="en-US" sz="1800" u="none" cap="none" strike="noStrike">
                <a:solidFill>
                  <a:srgbClr val="DA1E28"/>
                </a:solidFill>
                <a:latin typeface="Roboto"/>
                <a:ea typeface="Roboto"/>
                <a:cs typeface="Roboto"/>
                <a:sym typeface="Roboto"/>
              </a:rPr>
              <a:t>REVIEW</a:t>
            </a:r>
            <a:endParaRPr b="0" i="0" sz="1800" u="none" cap="none" strike="noStrike">
              <a:solidFill>
                <a:schemeClr val="dk1"/>
              </a:solidFill>
              <a:latin typeface="Calibri"/>
              <a:ea typeface="Calibri"/>
              <a:cs typeface="Calibri"/>
              <a:sym typeface="Calibri"/>
            </a:endParaRPr>
          </a:p>
        </p:txBody>
      </p:sp>
      <p:sp>
        <p:nvSpPr>
          <p:cNvPr id="175" name="Google Shape;175;p7"/>
          <p:cNvSpPr/>
          <p:nvPr/>
        </p:nvSpPr>
        <p:spPr>
          <a:xfrm>
            <a:off x="762000" y="4390132"/>
            <a:ext cx="16764000" cy="1805732"/>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762000" y="6186339"/>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933450" y="4523482"/>
            <a:ext cx="3271901" cy="157713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EV</a:t>
            </a:r>
            <a:endParaRPr b="0" i="0" sz="1800" u="none" cap="none" strike="noStrike">
              <a:solidFill>
                <a:schemeClr val="dk1"/>
              </a:solidFill>
              <a:latin typeface="Calibri"/>
              <a:ea typeface="Calibri"/>
              <a:cs typeface="Calibri"/>
              <a:sym typeface="Calibri"/>
            </a:endParaRPr>
          </a:p>
        </p:txBody>
      </p:sp>
      <p:sp>
        <p:nvSpPr>
          <p:cNvPr id="178" name="Google Shape;178;p7"/>
          <p:cNvSpPr/>
          <p:nvPr/>
        </p:nvSpPr>
        <p:spPr>
          <a:xfrm>
            <a:off x="5693420" y="5130998"/>
            <a:ext cx="776436" cy="32385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5788670" y="5178623"/>
            <a:ext cx="585936"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VÀNG</a:t>
            </a:r>
            <a:endParaRPr b="0" i="0" sz="1500" u="none" cap="none" strike="noStrike">
              <a:solidFill>
                <a:schemeClr val="dk1"/>
              </a:solidFill>
              <a:latin typeface="Calibri"/>
              <a:ea typeface="Calibri"/>
              <a:cs typeface="Calibri"/>
              <a:sym typeface="Calibri"/>
            </a:endParaRPr>
          </a:p>
        </p:txBody>
      </p:sp>
      <p:sp>
        <p:nvSpPr>
          <p:cNvPr id="180" name="Google Shape;180;p7"/>
          <p:cNvSpPr/>
          <p:nvPr/>
        </p:nvSpPr>
        <p:spPr>
          <a:xfrm>
            <a:off x="7833347" y="4399657"/>
            <a:ext cx="4656232" cy="1824782"/>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Cao</a:t>
            </a:r>
            <a:endParaRPr b="0" i="0" sz="1800" u="none" cap="none" strike="noStrike">
              <a:solidFill>
                <a:schemeClr val="dk1"/>
              </a:solidFill>
              <a:latin typeface="Calibri"/>
              <a:ea typeface="Calibri"/>
              <a:cs typeface="Calibri"/>
              <a:sym typeface="Calibri"/>
            </a:endParaRPr>
          </a:p>
        </p:txBody>
      </p:sp>
      <p:sp>
        <p:nvSpPr>
          <p:cNvPr id="181" name="Google Shape;181;p7"/>
          <p:cNvSpPr/>
          <p:nvPr/>
        </p:nvSpPr>
        <p:spPr>
          <a:xfrm>
            <a:off x="12394280" y="4399657"/>
            <a:ext cx="3157640" cy="1824782"/>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Active 66% KR</a:t>
            </a:r>
            <a:endParaRPr b="0" i="0" sz="1800" u="none" cap="none" strike="noStrike">
              <a:solidFill>
                <a:schemeClr val="dk1"/>
              </a:solidFill>
              <a:latin typeface="Calibri"/>
              <a:ea typeface="Calibri"/>
              <a:cs typeface="Calibri"/>
              <a:sym typeface="Calibri"/>
            </a:endParaRPr>
          </a:p>
        </p:txBody>
      </p:sp>
      <p:sp>
        <p:nvSpPr>
          <p:cNvPr id="182" name="Google Shape;182;p7"/>
          <p:cNvSpPr/>
          <p:nvPr/>
        </p:nvSpPr>
        <p:spPr>
          <a:xfrm>
            <a:off x="15486608" y="4399657"/>
            <a:ext cx="2067967" cy="1824782"/>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PUSH</a:t>
            </a:r>
            <a:endParaRPr b="0" i="0" sz="1800" u="none" cap="none" strike="noStrike">
              <a:solidFill>
                <a:schemeClr val="dk1"/>
              </a:solidFill>
              <a:latin typeface="Calibri"/>
              <a:ea typeface="Calibri"/>
              <a:cs typeface="Calibri"/>
              <a:sym typeface="Calibri"/>
            </a:endParaRPr>
          </a:p>
        </p:txBody>
      </p:sp>
      <p:sp>
        <p:nvSpPr>
          <p:cNvPr id="183" name="Google Shape;183;p7"/>
          <p:cNvSpPr/>
          <p:nvPr/>
        </p:nvSpPr>
        <p:spPr>
          <a:xfrm>
            <a:off x="762000" y="7992070"/>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933450" y="6329214"/>
            <a:ext cx="3271901" cy="157713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Baga Bulky</a:t>
            </a:r>
            <a:endParaRPr b="0" i="0" sz="1800" u="none" cap="none" strike="noStrike">
              <a:solidFill>
                <a:schemeClr val="dk1"/>
              </a:solidFill>
              <a:latin typeface="Calibri"/>
              <a:ea typeface="Calibri"/>
              <a:cs typeface="Calibri"/>
              <a:sym typeface="Calibri"/>
            </a:endParaRPr>
          </a:p>
        </p:txBody>
      </p:sp>
      <p:sp>
        <p:nvSpPr>
          <p:cNvPr id="185" name="Google Shape;185;p7"/>
          <p:cNvSpPr/>
          <p:nvPr/>
        </p:nvSpPr>
        <p:spPr>
          <a:xfrm>
            <a:off x="5693420" y="6936730"/>
            <a:ext cx="776436" cy="32385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5788670" y="6984355"/>
            <a:ext cx="585936"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VÀNG</a:t>
            </a:r>
            <a:endParaRPr b="0" i="0" sz="1500" u="none" cap="none" strike="noStrike">
              <a:solidFill>
                <a:schemeClr val="dk1"/>
              </a:solidFill>
              <a:latin typeface="Calibri"/>
              <a:ea typeface="Calibri"/>
              <a:cs typeface="Calibri"/>
              <a:sym typeface="Calibri"/>
            </a:endParaRPr>
          </a:p>
        </p:txBody>
      </p:sp>
      <p:sp>
        <p:nvSpPr>
          <p:cNvPr id="187" name="Google Shape;187;p7"/>
          <p:cNvSpPr/>
          <p:nvPr/>
        </p:nvSpPr>
        <p:spPr>
          <a:xfrm>
            <a:off x="7833347" y="6205389"/>
            <a:ext cx="4656232" cy="1824782"/>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Trung bình</a:t>
            </a:r>
            <a:endParaRPr b="0" i="0" sz="1800" u="none" cap="none" strike="noStrike">
              <a:solidFill>
                <a:schemeClr val="dk1"/>
              </a:solidFill>
              <a:latin typeface="Calibri"/>
              <a:ea typeface="Calibri"/>
              <a:cs typeface="Calibri"/>
              <a:sym typeface="Calibri"/>
            </a:endParaRPr>
          </a:p>
        </p:txBody>
      </p:sp>
      <p:sp>
        <p:nvSpPr>
          <p:cNvPr id="188" name="Google Shape;188;p7"/>
          <p:cNvSpPr/>
          <p:nvPr/>
        </p:nvSpPr>
        <p:spPr>
          <a:xfrm>
            <a:off x="12394280" y="6205389"/>
            <a:ext cx="3157640" cy="1824782"/>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68.2% (50% KR)</a:t>
            </a:r>
            <a:endParaRPr b="0" i="0" sz="1800" u="none" cap="none" strike="noStrike">
              <a:solidFill>
                <a:schemeClr val="dk1"/>
              </a:solidFill>
              <a:latin typeface="Calibri"/>
              <a:ea typeface="Calibri"/>
              <a:cs typeface="Calibri"/>
              <a:sym typeface="Calibri"/>
            </a:endParaRPr>
          </a:p>
        </p:txBody>
      </p:sp>
      <p:sp>
        <p:nvSpPr>
          <p:cNvPr id="189" name="Google Shape;189;p7"/>
          <p:cNvSpPr/>
          <p:nvPr/>
        </p:nvSpPr>
        <p:spPr>
          <a:xfrm>
            <a:off x="15486608" y="6205389"/>
            <a:ext cx="2067967" cy="1824782"/>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BUILD</a:t>
            </a:r>
            <a:endParaRPr b="0" i="0" sz="1800" u="none" cap="none" strike="noStrike">
              <a:solidFill>
                <a:schemeClr val="dk1"/>
              </a:solidFill>
              <a:latin typeface="Calibri"/>
              <a:ea typeface="Calibri"/>
              <a:cs typeface="Calibri"/>
              <a:sym typeface="Calibri"/>
            </a:endParaRPr>
          </a:p>
        </p:txBody>
      </p:sp>
      <p:sp>
        <p:nvSpPr>
          <p:cNvPr id="190" name="Google Shape;190;p7"/>
          <p:cNvSpPr/>
          <p:nvPr/>
        </p:nvSpPr>
        <p:spPr>
          <a:xfrm>
            <a:off x="762000" y="8001595"/>
            <a:ext cx="16764000" cy="1790105"/>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933450" y="8134945"/>
            <a:ext cx="3271901" cy="156150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Driver Journey</a:t>
            </a:r>
            <a:endParaRPr b="0" i="0" sz="1800" u="none" cap="none" strike="noStrike">
              <a:solidFill>
                <a:schemeClr val="dk1"/>
              </a:solidFill>
              <a:latin typeface="Calibri"/>
              <a:ea typeface="Calibri"/>
              <a:cs typeface="Calibri"/>
              <a:sym typeface="Calibri"/>
            </a:endParaRPr>
          </a:p>
        </p:txBody>
      </p:sp>
      <p:sp>
        <p:nvSpPr>
          <p:cNvPr id="192" name="Google Shape;192;p7"/>
          <p:cNvSpPr/>
          <p:nvPr/>
        </p:nvSpPr>
        <p:spPr>
          <a:xfrm>
            <a:off x="5689402" y="8737104"/>
            <a:ext cx="784622" cy="323850"/>
          </a:xfrm>
          <a:prstGeom prst="roundRect">
            <a:avLst>
              <a:gd fmla="val 50000" name="adj"/>
            </a:avLst>
          </a:prstGeom>
          <a:solidFill>
            <a:srgbClr val="167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5784652" y="8784729"/>
            <a:ext cx="594122"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XANH</a:t>
            </a:r>
            <a:endParaRPr b="0" i="0" sz="1500" u="none" cap="none" strike="noStrike">
              <a:solidFill>
                <a:schemeClr val="dk1"/>
              </a:solidFill>
              <a:latin typeface="Calibri"/>
              <a:ea typeface="Calibri"/>
              <a:cs typeface="Calibri"/>
              <a:sym typeface="Calibri"/>
            </a:endParaRPr>
          </a:p>
        </p:txBody>
      </p:sp>
      <p:sp>
        <p:nvSpPr>
          <p:cNvPr id="194" name="Google Shape;194;p7"/>
          <p:cNvSpPr/>
          <p:nvPr/>
        </p:nvSpPr>
        <p:spPr>
          <a:xfrm>
            <a:off x="7833347" y="8011120"/>
            <a:ext cx="4656232" cy="180915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Cao</a:t>
            </a:r>
            <a:endParaRPr b="0" i="0" sz="1800" u="none" cap="none" strike="noStrike">
              <a:solidFill>
                <a:schemeClr val="dk1"/>
              </a:solidFill>
              <a:latin typeface="Calibri"/>
              <a:ea typeface="Calibri"/>
              <a:cs typeface="Calibri"/>
              <a:sym typeface="Calibri"/>
            </a:endParaRPr>
          </a:p>
        </p:txBody>
      </p:sp>
      <p:sp>
        <p:nvSpPr>
          <p:cNvPr id="195" name="Google Shape;195;p7"/>
          <p:cNvSpPr/>
          <p:nvPr/>
        </p:nvSpPr>
        <p:spPr>
          <a:xfrm>
            <a:off x="12394280" y="8011120"/>
            <a:ext cx="3157640" cy="180915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2/9 giai đoạn</a:t>
            </a:r>
            <a:endParaRPr b="0" i="0" sz="1800" u="none" cap="none" strike="noStrike">
              <a:solidFill>
                <a:schemeClr val="dk1"/>
              </a:solidFill>
              <a:latin typeface="Calibri"/>
              <a:ea typeface="Calibri"/>
              <a:cs typeface="Calibri"/>
              <a:sym typeface="Calibri"/>
            </a:endParaRPr>
          </a:p>
        </p:txBody>
      </p:sp>
      <p:sp>
        <p:nvSpPr>
          <p:cNvPr id="196" name="Google Shape;196;p7"/>
          <p:cNvSpPr/>
          <p:nvPr/>
        </p:nvSpPr>
        <p:spPr>
          <a:xfrm>
            <a:off x="15486608" y="8011120"/>
            <a:ext cx="2067967" cy="180915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1" i="0" lang="en-US" sz="1800" u="none" cap="none" strike="noStrike">
                <a:solidFill>
                  <a:srgbClr val="167C3F"/>
                </a:solidFill>
                <a:latin typeface="Roboto"/>
                <a:ea typeface="Roboto"/>
                <a:cs typeface="Roboto"/>
                <a:sym typeface="Roboto"/>
              </a:rPr>
              <a:t>SCALE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8"/>
          <p:cNvSpPr/>
          <p:nvPr/>
        </p:nvSpPr>
        <p:spPr>
          <a:xfrm>
            <a:off x="762000" y="419100"/>
            <a:ext cx="1216521" cy="4191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952500" y="495300"/>
            <a:ext cx="911721"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MiniHub</a:t>
            </a:r>
            <a:endParaRPr b="0" i="0" sz="1650" u="none" cap="none" strike="noStrike">
              <a:solidFill>
                <a:schemeClr val="dk1"/>
              </a:solidFill>
              <a:latin typeface="Calibri"/>
              <a:ea typeface="Calibri"/>
              <a:cs typeface="Calibri"/>
              <a:sym typeface="Calibri"/>
            </a:endParaRPr>
          </a:p>
        </p:txBody>
      </p:sp>
      <p:sp>
        <p:nvSpPr>
          <p:cNvPr id="204" name="Google Shape;204;p8"/>
          <p:cNvSpPr/>
          <p:nvPr/>
        </p:nvSpPr>
        <p:spPr>
          <a:xfrm>
            <a:off x="2073771" y="419100"/>
            <a:ext cx="651718"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2264271" y="495300"/>
            <a:ext cx="346918"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EV</a:t>
            </a:r>
            <a:endParaRPr b="0" i="0" sz="1650" u="none" cap="none" strike="noStrike">
              <a:solidFill>
                <a:schemeClr val="dk1"/>
              </a:solidFill>
              <a:latin typeface="Calibri"/>
              <a:ea typeface="Calibri"/>
              <a:cs typeface="Calibri"/>
              <a:sym typeface="Calibri"/>
            </a:endParaRPr>
          </a:p>
        </p:txBody>
      </p:sp>
      <p:sp>
        <p:nvSpPr>
          <p:cNvPr id="206" name="Google Shape;206;p8"/>
          <p:cNvSpPr/>
          <p:nvPr/>
        </p:nvSpPr>
        <p:spPr>
          <a:xfrm>
            <a:off x="2820739" y="419100"/>
            <a:ext cx="1507927"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3011239" y="495300"/>
            <a:ext cx="1203127"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Baga Bulky</a:t>
            </a:r>
            <a:endParaRPr b="0" i="0" sz="1650" u="none" cap="none" strike="noStrike">
              <a:solidFill>
                <a:schemeClr val="dk1"/>
              </a:solidFill>
              <a:latin typeface="Calibri"/>
              <a:ea typeface="Calibri"/>
              <a:cs typeface="Calibri"/>
              <a:sym typeface="Calibri"/>
            </a:endParaRPr>
          </a:p>
        </p:txBody>
      </p:sp>
      <p:sp>
        <p:nvSpPr>
          <p:cNvPr id="208" name="Google Shape;208;p8"/>
          <p:cNvSpPr/>
          <p:nvPr/>
        </p:nvSpPr>
        <p:spPr>
          <a:xfrm>
            <a:off x="4423916" y="419100"/>
            <a:ext cx="1824186"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4614416" y="495300"/>
            <a:ext cx="1519386"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Driver Journey</a:t>
            </a:r>
            <a:endParaRPr b="0" i="0" sz="1650" u="none" cap="none" strike="noStrike">
              <a:solidFill>
                <a:schemeClr val="dk1"/>
              </a:solidFill>
              <a:latin typeface="Calibri"/>
              <a:ea typeface="Calibri"/>
              <a:cs typeface="Calibri"/>
              <a:sym typeface="Calibri"/>
            </a:endParaRPr>
          </a:p>
        </p:txBody>
      </p:sp>
      <p:sp>
        <p:nvSpPr>
          <p:cNvPr id="210" name="Google Shape;210;p8"/>
          <p:cNvSpPr/>
          <p:nvPr/>
        </p:nvSpPr>
        <p:spPr>
          <a:xfrm>
            <a:off x="762000" y="1098203"/>
            <a:ext cx="609600" cy="609600"/>
          </a:xfrm>
          <a:prstGeom prst="roundRect">
            <a:avLst>
              <a:gd fmla="val 21875"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723900" y="1098203"/>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950"/>
              <a:buFont typeface="Plus Jakarta Sans"/>
              <a:buNone/>
            </a:pPr>
            <a:r>
              <a:rPr b="1" i="0" lang="en-US" sz="1950" u="none" cap="none" strike="noStrike">
                <a:solidFill>
                  <a:srgbClr val="FFFFFF"/>
                </a:solidFill>
                <a:latin typeface="Plus Jakarta Sans"/>
                <a:ea typeface="Plus Jakarta Sans"/>
                <a:cs typeface="Plus Jakarta Sans"/>
                <a:sym typeface="Plus Jakarta Sans"/>
              </a:rPr>
              <a:t>MH</a:t>
            </a:r>
            <a:endParaRPr b="0" i="0" sz="1950" u="none" cap="none" strike="noStrike">
              <a:solidFill>
                <a:schemeClr val="dk1"/>
              </a:solidFill>
              <a:latin typeface="Calibri"/>
              <a:ea typeface="Calibri"/>
              <a:cs typeface="Calibri"/>
              <a:sym typeface="Calibri"/>
            </a:endParaRPr>
          </a:p>
        </p:txBody>
      </p:sp>
      <p:sp>
        <p:nvSpPr>
          <p:cNvPr id="212" name="Google Shape;212;p8"/>
          <p:cNvSpPr/>
          <p:nvPr/>
        </p:nvSpPr>
        <p:spPr>
          <a:xfrm>
            <a:off x="1562100" y="1030625"/>
            <a:ext cx="9886500" cy="783000"/>
          </a:xfrm>
          <a:prstGeom prst="rect">
            <a:avLst/>
          </a:prstGeom>
          <a:noFill/>
          <a:ln>
            <a:noFill/>
          </a:ln>
        </p:spPr>
        <p:txBody>
          <a:bodyPr anchorCtr="0" anchor="t" bIns="25400" lIns="25400" spcFirstLastPara="1" rIns="25400" wrap="square" tIns="25400">
            <a:noAutofit/>
          </a:bodyPr>
          <a:lstStyle/>
          <a:p>
            <a:pPr indent="0" lvl="0" marL="0" marR="0" rtl="0" algn="l">
              <a:lnSpc>
                <a:spcPct val="90930"/>
              </a:lnSpc>
              <a:spcBef>
                <a:spcPts val="0"/>
              </a:spcBef>
              <a:spcAft>
                <a:spcPts val="0"/>
              </a:spcAft>
              <a:buClr>
                <a:srgbClr val="121619"/>
              </a:buClr>
              <a:buSzPts val="2550"/>
              <a:buFont typeface="Plus Jakarta Sans"/>
              <a:buNone/>
            </a:pPr>
            <a:r>
              <a:rPr b="1" i="0" lang="en-US" sz="2550" u="none" cap="none" strike="noStrike">
                <a:solidFill>
                  <a:srgbClr val="121619"/>
                </a:solidFill>
                <a:latin typeface="Plus Jakarta Sans"/>
                <a:ea typeface="Plus Jakarta Sans"/>
                <a:cs typeface="Plus Jakarta Sans"/>
                <a:sym typeface="Plus Jakarta Sans"/>
              </a:rPr>
              <a:t>MiniHub: </a:t>
            </a:r>
            <a:r>
              <a:rPr b="1" i="0" lang="en-US" sz="2550" u="none" cap="none" strike="noStrike">
                <a:solidFill>
                  <a:srgbClr val="4C5158"/>
                </a:solidFill>
                <a:latin typeface="Plus Jakarta Sans"/>
                <a:ea typeface="Plus Jakarta Sans"/>
                <a:cs typeface="Plus Jakarta Sans"/>
                <a:sym typeface="Plus Jakarta Sans"/>
              </a:rPr>
              <a:t>chất lượng vận hành tốt, nhưng tốc độ scale đang chậm hơn kế hoạch</a:t>
            </a:r>
            <a:endParaRPr b="0" i="0" sz="2550" u="none" cap="none" strike="noStrike">
              <a:solidFill>
                <a:schemeClr val="dk1"/>
              </a:solidFill>
              <a:latin typeface="Calibri"/>
              <a:ea typeface="Calibri"/>
              <a:cs typeface="Calibri"/>
              <a:sym typeface="Calibri"/>
            </a:endParaRPr>
          </a:p>
        </p:txBody>
      </p:sp>
      <p:sp>
        <p:nvSpPr>
          <p:cNvPr id="213" name="Google Shape;213;p8"/>
          <p:cNvSpPr/>
          <p:nvPr/>
        </p:nvSpPr>
        <p:spPr>
          <a:xfrm>
            <a:off x="12261800" y="1231553"/>
            <a:ext cx="725239" cy="34290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12414200" y="1288703"/>
            <a:ext cx="496639"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 ĐỎ</a:t>
            </a:r>
            <a:endParaRPr b="0" i="0" sz="1500" u="none" cap="none" strike="noStrike">
              <a:solidFill>
                <a:schemeClr val="dk1"/>
              </a:solidFill>
              <a:latin typeface="Calibri"/>
              <a:ea typeface="Calibri"/>
              <a:cs typeface="Calibri"/>
              <a:sym typeface="Calibri"/>
            </a:endParaRPr>
          </a:p>
        </p:txBody>
      </p:sp>
      <p:sp>
        <p:nvSpPr>
          <p:cNvPr id="215" name="Google Shape;215;p8"/>
          <p:cNvSpPr/>
          <p:nvPr/>
        </p:nvSpPr>
        <p:spPr>
          <a:xfrm>
            <a:off x="13139440" y="971550"/>
            <a:ext cx="4386560" cy="862905"/>
          </a:xfrm>
          <a:prstGeom prst="roundRect">
            <a:avLst>
              <a:gd fmla="val 15454"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13150617" y="1085850"/>
            <a:ext cx="4364206" cy="466725"/>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2700"/>
              <a:buFont typeface="Plus Jakarta Sans"/>
              <a:buNone/>
            </a:pPr>
            <a:r>
              <a:rPr b="1" i="0" lang="en-US" sz="2700" u="none" cap="none" strike="noStrike">
                <a:solidFill>
                  <a:srgbClr val="DA1E28"/>
                </a:solidFill>
                <a:latin typeface="Plus Jakarta Sans"/>
                <a:ea typeface="Plus Jakarta Sans"/>
                <a:cs typeface="Plus Jakarta Sans"/>
                <a:sym typeface="Plus Jakarta Sans"/>
              </a:rPr>
              <a:t>~2x</a:t>
            </a:r>
            <a:endParaRPr b="0" i="0" sz="2700" u="none" cap="none" strike="noStrike">
              <a:solidFill>
                <a:schemeClr val="dk1"/>
              </a:solidFill>
              <a:latin typeface="Calibri"/>
              <a:ea typeface="Calibri"/>
              <a:cs typeface="Calibri"/>
              <a:sym typeface="Calibri"/>
            </a:endParaRPr>
          </a:p>
        </p:txBody>
      </p:sp>
      <p:sp>
        <p:nvSpPr>
          <p:cNvPr id="217" name="Google Shape;217;p8"/>
          <p:cNvSpPr/>
          <p:nvPr/>
        </p:nvSpPr>
        <p:spPr>
          <a:xfrm>
            <a:off x="13150617" y="1514475"/>
            <a:ext cx="4364206" cy="243780"/>
          </a:xfrm>
          <a:prstGeom prst="rect">
            <a:avLst/>
          </a:prstGeom>
          <a:noFill/>
          <a:ln>
            <a:noFill/>
          </a:ln>
        </p:spPr>
        <p:txBody>
          <a:bodyPr anchorCtr="0" anchor="t" bIns="25400" lIns="25400" spcFirstLastPara="1" rIns="25400" wrap="square" tIns="25400">
            <a:noAutofit/>
          </a:bodyPr>
          <a:lstStyle/>
          <a:p>
            <a:pPr indent="0" lvl="0" marL="0" marR="0" rtl="0" algn="ctr">
              <a:lnSpc>
                <a:spcPct val="102857"/>
              </a:lnSpc>
              <a:spcBef>
                <a:spcPts val="0"/>
              </a:spcBef>
              <a:spcAft>
                <a:spcPts val="0"/>
              </a:spcAft>
              <a:buClr>
                <a:srgbClr val="4C5158"/>
              </a:buClr>
              <a:buSzPts val="1350"/>
              <a:buFont typeface="Roboto"/>
              <a:buNone/>
            </a:pPr>
            <a:r>
              <a:rPr b="0" i="0" lang="en-US" sz="1350" u="none" cap="none" strike="noStrike">
                <a:solidFill>
                  <a:srgbClr val="4C5158"/>
                </a:solidFill>
                <a:latin typeface="Roboto"/>
                <a:ea typeface="Roboto"/>
                <a:cs typeface="Roboto"/>
                <a:sym typeface="Roboto"/>
              </a:rPr>
              <a:t>PPH của Hub cao gấp ~2 lần Mass ở cả 2 thành phố</a:t>
            </a:r>
            <a:endParaRPr b="0" i="0" sz="1350" u="none" cap="none" strike="noStrike">
              <a:solidFill>
                <a:schemeClr val="dk1"/>
              </a:solidFill>
              <a:latin typeface="Calibri"/>
              <a:ea typeface="Calibri"/>
              <a:cs typeface="Calibri"/>
              <a:sym typeface="Calibri"/>
            </a:endParaRPr>
          </a:p>
        </p:txBody>
      </p:sp>
      <p:sp>
        <p:nvSpPr>
          <p:cNvPr id="218" name="Google Shape;218;p8"/>
          <p:cNvSpPr/>
          <p:nvPr/>
        </p:nvSpPr>
        <p:spPr>
          <a:xfrm>
            <a:off x="762000" y="1967805"/>
            <a:ext cx="16764000" cy="495300"/>
          </a:xfrm>
          <a:prstGeom prst="roundRect">
            <a:avLst>
              <a:gd fmla="val 1923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952500" y="2082105"/>
            <a:ext cx="1688592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650"/>
              <a:buFont typeface="Plus Jakarta Sans"/>
              <a:buNone/>
            </a:pPr>
            <a:r>
              <a:rPr b="1" i="0" lang="en-US" sz="1650" u="none" cap="none" strike="noStrike">
                <a:solidFill>
                  <a:srgbClr val="F55F00"/>
                </a:solidFill>
                <a:latin typeface="Plus Jakarta Sans"/>
                <a:ea typeface="Plus Jakarta Sans"/>
                <a:cs typeface="Plus Jakarta Sans"/>
                <a:sym typeface="Plus Jakarta Sans"/>
              </a:rPr>
              <a:t>MỤC TIÊU: </a:t>
            </a:r>
            <a:r>
              <a:rPr b="0" i="0" lang="en-US" sz="1650" u="none" cap="none" strike="noStrike">
                <a:solidFill>
                  <a:srgbClr val="121619"/>
                </a:solidFill>
                <a:highlight>
                  <a:srgbClr val="FFF3EB"/>
                </a:highlight>
                <a:latin typeface="Roboto"/>
                <a:ea typeface="Roboto"/>
                <a:cs typeface="Roboto"/>
                <a:sym typeface="Roboto"/>
              </a:rPr>
              <a:t>Go/no-go PnL trước 15/8</a:t>
            </a:r>
            <a:endParaRPr b="0" i="0" sz="1650" u="none" cap="none" strike="noStrike">
              <a:solidFill>
                <a:schemeClr val="dk1"/>
              </a:solidFill>
              <a:latin typeface="Calibri"/>
              <a:ea typeface="Calibri"/>
              <a:cs typeface="Calibri"/>
              <a:sym typeface="Calibri"/>
            </a:endParaRPr>
          </a:p>
        </p:txBody>
      </p:sp>
      <p:sp>
        <p:nvSpPr>
          <p:cNvPr id="220" name="Google Shape;220;p8"/>
          <p:cNvSpPr/>
          <p:nvPr/>
        </p:nvSpPr>
        <p:spPr>
          <a:xfrm>
            <a:off x="762000" y="2596455"/>
            <a:ext cx="8117235" cy="1000125"/>
          </a:xfrm>
          <a:prstGeom prst="roundRect">
            <a:avLst>
              <a:gd fmla="val 11429"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933450" y="2729805"/>
            <a:ext cx="8551768"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500"/>
              <a:buFont typeface="Plus Jakarta Sans"/>
              <a:buNone/>
            </a:pPr>
            <a:r>
              <a:rPr b="1" i="0" lang="en-US" sz="1500" u="none" cap="none" strike="noStrike">
                <a:solidFill>
                  <a:srgbClr val="757D86"/>
                </a:solidFill>
                <a:latin typeface="Plus Jakarta Sans"/>
                <a:ea typeface="Plus Jakarta Sans"/>
                <a:cs typeface="Plus Jakarta Sans"/>
                <a:sym typeface="Plus Jakarta Sans"/>
              </a:rPr>
              <a:t>TRƯỚC</a:t>
            </a:r>
            <a:endParaRPr b="0" i="0" sz="1500" u="none" cap="none" strike="noStrike">
              <a:solidFill>
                <a:schemeClr val="dk1"/>
              </a:solidFill>
              <a:latin typeface="Calibri"/>
              <a:ea typeface="Calibri"/>
              <a:cs typeface="Calibri"/>
              <a:sym typeface="Calibri"/>
            </a:endParaRPr>
          </a:p>
        </p:txBody>
      </p:sp>
      <p:sp>
        <p:nvSpPr>
          <p:cNvPr id="222" name="Google Shape;222;p8"/>
          <p:cNvSpPr/>
          <p:nvPr/>
        </p:nvSpPr>
        <p:spPr>
          <a:xfrm>
            <a:off x="933450" y="3006030"/>
            <a:ext cx="8007565"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75"/>
              <a:buFont typeface="Roboto"/>
              <a:buNone/>
            </a:pPr>
            <a:r>
              <a:rPr b="0" i="0" lang="en-US" sz="1575" u="none" cap="none" strike="noStrike">
                <a:solidFill>
                  <a:srgbClr val="121619"/>
                </a:solidFill>
                <a:latin typeface="Roboto"/>
                <a:ea typeface="Roboto"/>
                <a:cs typeface="Roboto"/>
                <a:sym typeface="Roboto"/>
              </a:rPr>
              <a:t>Zone theo ranh giới cũ; KPI Leader chưa tách riêng theo từng khu vực; dispatch dùng chung 1 layer cho cả zone.</a:t>
            </a:r>
            <a:endParaRPr b="0" i="0" sz="1575" u="none" cap="none" strike="noStrike">
              <a:solidFill>
                <a:schemeClr val="dk1"/>
              </a:solidFill>
              <a:latin typeface="Calibri"/>
              <a:ea typeface="Calibri"/>
              <a:cs typeface="Calibri"/>
              <a:sym typeface="Calibri"/>
            </a:endParaRPr>
          </a:p>
        </p:txBody>
      </p:sp>
      <p:sp>
        <p:nvSpPr>
          <p:cNvPr id="223" name="Google Shape;223;p8"/>
          <p:cNvSpPr/>
          <p:nvPr/>
        </p:nvSpPr>
        <p:spPr>
          <a:xfrm>
            <a:off x="9012585" y="2925068"/>
            <a:ext cx="338882"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250"/>
              <a:buFont typeface="Roboto"/>
              <a:buNone/>
            </a:pPr>
            <a:r>
              <a:rPr b="0" i="0" lang="en-US" sz="2250" u="none" cap="none" strike="noStrike">
                <a:solidFill>
                  <a:srgbClr val="FF7F32"/>
                </a:solidFill>
                <a:latin typeface="Roboto"/>
                <a:ea typeface="Roboto"/>
                <a:cs typeface="Roboto"/>
                <a:sym typeface="Roboto"/>
              </a:rPr>
              <a:t>→</a:t>
            </a:r>
            <a:endParaRPr b="0" i="0" sz="2250" u="none" cap="none" strike="noStrike">
              <a:solidFill>
                <a:schemeClr val="dk1"/>
              </a:solidFill>
              <a:latin typeface="Calibri"/>
              <a:ea typeface="Calibri"/>
              <a:cs typeface="Calibri"/>
              <a:sym typeface="Calibri"/>
            </a:endParaRPr>
          </a:p>
        </p:txBody>
      </p:sp>
      <p:sp>
        <p:nvSpPr>
          <p:cNvPr id="224" name="Google Shape;224;p8"/>
          <p:cNvSpPr/>
          <p:nvPr/>
        </p:nvSpPr>
        <p:spPr>
          <a:xfrm>
            <a:off x="9408616" y="2596455"/>
            <a:ext cx="8117384" cy="1000125"/>
          </a:xfrm>
          <a:prstGeom prst="roundRect">
            <a:avLst>
              <a:gd fmla="val 11429"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9580066" y="2729805"/>
            <a:ext cx="8551932"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SAU</a:t>
            </a:r>
            <a:endParaRPr b="0" i="0" sz="1500" u="none" cap="none" strike="noStrike">
              <a:solidFill>
                <a:schemeClr val="dk1"/>
              </a:solidFill>
              <a:latin typeface="Calibri"/>
              <a:ea typeface="Calibri"/>
              <a:cs typeface="Calibri"/>
              <a:sym typeface="Calibri"/>
            </a:endParaRPr>
          </a:p>
        </p:txBody>
      </p:sp>
      <p:sp>
        <p:nvSpPr>
          <p:cNvPr id="226" name="Google Shape;226;p8"/>
          <p:cNvSpPr/>
          <p:nvPr/>
        </p:nvSpPr>
        <p:spPr>
          <a:xfrm>
            <a:off x="9580066" y="3006030"/>
            <a:ext cx="8007718"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75"/>
              <a:buFont typeface="Roboto"/>
              <a:buNone/>
            </a:pPr>
            <a:r>
              <a:rPr b="0" i="0" lang="en-US" sz="1575" u="none" cap="none" strike="noStrike">
                <a:solidFill>
                  <a:srgbClr val="121619"/>
                </a:solidFill>
                <a:latin typeface="Roboto"/>
                <a:ea typeface="Roboto"/>
                <a:cs typeface="Roboto"/>
                <a:sym typeface="Roboto"/>
              </a:rPr>
              <a:t>Từ 6/7: HAN chuyển sang mô hình Hub quận, mở thêm Bigzone &amp; Z24; NW áp dụng combine rule mới &amp; dispatch layer riêng; KPI Leader đánh giá theo từng zone.</a:t>
            </a:r>
            <a:endParaRPr b="0" i="0" sz="1575" u="none" cap="none" strike="noStrike">
              <a:solidFill>
                <a:schemeClr val="dk1"/>
              </a:solidFill>
              <a:latin typeface="Calibri"/>
              <a:ea typeface="Calibri"/>
              <a:cs typeface="Calibri"/>
              <a:sym typeface="Calibri"/>
            </a:endParaRPr>
          </a:p>
        </p:txBody>
      </p:sp>
      <p:sp>
        <p:nvSpPr>
          <p:cNvPr id="227" name="Google Shape;227;p8"/>
          <p:cNvSpPr/>
          <p:nvPr/>
        </p:nvSpPr>
        <p:spPr>
          <a:xfrm>
            <a:off x="762000" y="3729930"/>
            <a:ext cx="4999137" cy="5575995"/>
          </a:xfrm>
          <a:prstGeom prst="roundRect">
            <a:avLst>
              <a:gd fmla="val 228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942975" y="3891855"/>
            <a:ext cx="5100905"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500"/>
              <a:buFont typeface="Plus Jakarta Sans"/>
              <a:buNone/>
            </a:pPr>
            <a:r>
              <a:rPr b="1" i="0" lang="en-US" sz="1500" u="none" cap="none" strike="noStrike">
                <a:solidFill>
                  <a:srgbClr val="012749"/>
                </a:solidFill>
                <a:latin typeface="Plus Jakarta Sans"/>
                <a:ea typeface="Plus Jakarta Sans"/>
                <a:cs typeface="Plus Jakarta Sans"/>
                <a:sym typeface="Plus Jakarta Sans"/>
              </a:rPr>
              <a:t>ĐÃ LÀM GÌ (T7)</a:t>
            </a:r>
            <a:endParaRPr b="0" i="0" sz="1500" u="none" cap="none" strike="noStrike">
              <a:solidFill>
                <a:schemeClr val="dk1"/>
              </a:solidFill>
              <a:latin typeface="Calibri"/>
              <a:ea typeface="Calibri"/>
              <a:cs typeface="Calibri"/>
              <a:sym typeface="Calibri"/>
            </a:endParaRPr>
          </a:p>
        </p:txBody>
      </p:sp>
      <p:sp>
        <p:nvSpPr>
          <p:cNvPr id="229" name="Google Shape;229;p8"/>
          <p:cNvSpPr/>
          <p:nvPr/>
        </p:nvSpPr>
        <p:spPr>
          <a:xfrm>
            <a:off x="942975" y="4187130"/>
            <a:ext cx="4776302"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Mở rộng zone theo mô hình mới; đánh giá KPI Leader theo từng zone.</a:t>
            </a:r>
            <a:endParaRPr b="0" i="0" sz="1575" u="none" cap="none" strike="noStrike">
              <a:solidFill>
                <a:schemeClr val="dk1"/>
              </a:solidFill>
              <a:latin typeface="Calibri"/>
              <a:ea typeface="Calibri"/>
              <a:cs typeface="Calibri"/>
              <a:sym typeface="Calibri"/>
            </a:endParaRPr>
          </a:p>
        </p:txBody>
      </p:sp>
      <p:sp>
        <p:nvSpPr>
          <p:cNvPr id="230" name="Google Shape;230;p8"/>
          <p:cNvSpPr/>
          <p:nvPr/>
        </p:nvSpPr>
        <p:spPr>
          <a:xfrm>
            <a:off x="5894487" y="3729930"/>
            <a:ext cx="6498878" cy="5575995"/>
          </a:xfrm>
          <a:prstGeom prst="roundRect">
            <a:avLst>
              <a:gd fmla="val 2050"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6075462" y="3891855"/>
            <a:ext cx="6750621"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500"/>
              <a:buFont typeface="Plus Jakarta Sans"/>
              <a:buNone/>
            </a:pPr>
            <a:r>
              <a:rPr b="1" i="0" lang="en-US" sz="1500" u="none" cap="none" strike="noStrike">
                <a:solidFill>
                  <a:srgbClr val="DA1E28"/>
                </a:solidFill>
                <a:latin typeface="Plus Jakarta Sans"/>
                <a:ea typeface="Plus Jakarta Sans"/>
                <a:cs typeface="Plus Jakarta Sans"/>
                <a:sym typeface="Plus Jakarta Sans"/>
              </a:rPr>
              <a:t>TÁC ĐỘNG</a:t>
            </a:r>
            <a:endParaRPr b="0" i="0" sz="1500" u="none" cap="none" strike="noStrike">
              <a:solidFill>
                <a:schemeClr val="dk1"/>
              </a:solidFill>
              <a:latin typeface="Calibri"/>
              <a:ea typeface="Calibri"/>
              <a:cs typeface="Calibri"/>
              <a:sym typeface="Calibri"/>
            </a:endParaRPr>
          </a:p>
        </p:txBody>
      </p:sp>
      <p:sp>
        <p:nvSpPr>
          <p:cNvPr id="232" name="Google Shape;232;p8"/>
          <p:cNvSpPr/>
          <p:nvPr/>
        </p:nvSpPr>
        <p:spPr>
          <a:xfrm>
            <a:off x="6075462" y="4187130"/>
            <a:ext cx="6321036" cy="7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Active tăng </a:t>
            </a:r>
            <a:r>
              <a:rPr b="1" i="0" lang="en-US" sz="1575" u="none" cap="none" strike="noStrike">
                <a:solidFill>
                  <a:srgbClr val="4C5158"/>
                </a:solidFill>
                <a:latin typeface="Roboto"/>
                <a:ea typeface="Roboto"/>
                <a:cs typeface="Roboto"/>
                <a:sym typeface="Roboto"/>
              </a:rPr>
              <a:t>14% MoM </a:t>
            </a:r>
            <a:r>
              <a:rPr b="0" i="0" lang="en-US" sz="1575" u="none" cap="none" strike="noStrike">
                <a:solidFill>
                  <a:srgbClr val="4C5158"/>
                </a:solidFill>
                <a:latin typeface="Roboto"/>
                <a:ea typeface="Roboto"/>
                <a:cs typeface="Roboto"/>
                <a:sym typeface="Roboto"/>
              </a:rPr>
              <a:t>tại HAN nhưng retention giảm 5%, chỉ đạt </a:t>
            </a:r>
            <a:r>
              <a:rPr b="1" i="0" lang="en-US" sz="1575" u="none" cap="none" strike="noStrike">
                <a:solidFill>
                  <a:srgbClr val="4C5158"/>
                </a:solidFill>
                <a:latin typeface="Roboto"/>
                <a:ea typeface="Roboto"/>
                <a:cs typeface="Roboto"/>
                <a:sym typeface="Roboto"/>
              </a:rPr>
              <a:t>65% </a:t>
            </a:r>
            <a:r>
              <a:rPr b="0" i="0" lang="en-US" sz="1575" u="none" cap="none" strike="noStrike">
                <a:solidFill>
                  <a:srgbClr val="4C5158"/>
                </a:solidFill>
                <a:latin typeface="Roboto"/>
                <a:ea typeface="Roboto"/>
                <a:cs typeface="Roboto"/>
                <a:sym typeface="Roboto"/>
              </a:rPr>
              <a:t>(giảm mạnh nhất ở Z24, Thanh Xuân). Volume NW đạt </a:t>
            </a:r>
            <a:r>
              <a:rPr b="1" i="0" lang="en-US" sz="1575" u="none" cap="none" strike="noStrike">
                <a:solidFill>
                  <a:srgbClr val="4C5158"/>
                </a:solidFill>
                <a:latin typeface="Roboto"/>
                <a:ea typeface="Roboto"/>
                <a:cs typeface="Roboto"/>
                <a:sym typeface="Roboto"/>
              </a:rPr>
              <a:t>215.1K </a:t>
            </a:r>
            <a:r>
              <a:rPr b="0" i="0" lang="en-US" sz="1575" u="none" cap="none" strike="noStrike">
                <a:solidFill>
                  <a:srgbClr val="4C5158"/>
                </a:solidFill>
                <a:latin typeface="Roboto"/>
                <a:ea typeface="Roboto"/>
                <a:cs typeface="Roboto"/>
                <a:sym typeface="Roboto"/>
              </a:rPr>
              <a:t>(+17% MoM) nhưng mới chạm </a:t>
            </a:r>
            <a:r>
              <a:rPr b="1" i="0" lang="en-US" sz="1575" u="none" cap="none" strike="noStrike">
                <a:solidFill>
                  <a:srgbClr val="4C5158"/>
                </a:solidFill>
                <a:latin typeface="Roboto"/>
                <a:ea typeface="Roboto"/>
                <a:cs typeface="Roboto"/>
                <a:sym typeface="Roboto"/>
              </a:rPr>
              <a:t>36% KR </a:t>
            </a:r>
            <a:r>
              <a:rPr b="0" i="0" lang="en-US" sz="1575" u="none" cap="none" strike="noStrike">
                <a:solidFill>
                  <a:srgbClr val="4C5158"/>
                </a:solidFill>
                <a:latin typeface="Roboto"/>
                <a:ea typeface="Roboto"/>
                <a:cs typeface="Roboto"/>
                <a:sym typeface="Roboto"/>
              </a:rPr>
              <a:t>Q3; Cityzone chỉ </a:t>
            </a:r>
            <a:r>
              <a:rPr b="1" i="0" lang="en-US" sz="1575" u="none" cap="none" strike="noStrike">
                <a:solidFill>
                  <a:srgbClr val="4C5158"/>
                </a:solidFill>
                <a:latin typeface="Roboto"/>
                <a:ea typeface="Roboto"/>
                <a:cs typeface="Roboto"/>
                <a:sym typeface="Roboto"/>
              </a:rPr>
              <a:t>30% KR</a:t>
            </a:r>
            <a:r>
              <a:rPr b="0" i="0" lang="en-US" sz="1575" u="none" cap="none" strike="noStrike">
                <a:solidFill>
                  <a:srgbClr val="4C5158"/>
                </a:solidFill>
                <a:latin typeface="Roboto"/>
                <a:ea typeface="Roboto"/>
                <a:cs typeface="Roboto"/>
                <a:sym typeface="Roboto"/>
              </a:rPr>
              <a:t>.</a:t>
            </a:r>
            <a:endParaRPr b="0" i="0" sz="1575" u="none" cap="none" strike="noStrike">
              <a:solidFill>
                <a:schemeClr val="dk1"/>
              </a:solidFill>
              <a:latin typeface="Calibri"/>
              <a:ea typeface="Calibri"/>
              <a:cs typeface="Calibri"/>
              <a:sym typeface="Calibri"/>
            </a:endParaRPr>
          </a:p>
        </p:txBody>
      </p:sp>
      <p:sp>
        <p:nvSpPr>
          <p:cNvPr id="233" name="Google Shape;233;p8"/>
          <p:cNvSpPr/>
          <p:nvPr/>
        </p:nvSpPr>
        <p:spPr>
          <a:xfrm>
            <a:off x="6075462" y="4930080"/>
            <a:ext cx="6321036"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500"/>
              <a:buFont typeface="Roboto"/>
              <a:buNone/>
            </a:pPr>
            <a:r>
              <a:rPr b="0" i="1" lang="en-US" sz="1500" u="none" cap="none" strike="noStrike">
                <a:solidFill>
                  <a:srgbClr val="757D86"/>
                </a:solidFill>
                <a:latin typeface="Roboto"/>
                <a:ea typeface="Roboto"/>
                <a:cs typeface="Roboto"/>
                <a:sym typeface="Roboto"/>
              </a:rPr>
              <a:t>Cơ chế: zone mới rộng hơn kéo giãn mật độ tương tác, vùng mới mở chưa đủ đơn giữ chân tài xế.</a:t>
            </a:r>
            <a:endParaRPr b="0" i="0" sz="1500" u="none" cap="none" strike="noStrike">
              <a:solidFill>
                <a:schemeClr val="dk1"/>
              </a:solidFill>
              <a:latin typeface="Calibri"/>
              <a:ea typeface="Calibri"/>
              <a:cs typeface="Calibri"/>
              <a:sym typeface="Calibri"/>
            </a:endParaRPr>
          </a:p>
        </p:txBody>
      </p:sp>
      <p:sp>
        <p:nvSpPr>
          <p:cNvPr id="234" name="Google Shape;234;p8"/>
          <p:cNvSpPr/>
          <p:nvPr/>
        </p:nvSpPr>
        <p:spPr>
          <a:xfrm>
            <a:off x="12526714" y="3729930"/>
            <a:ext cx="4999286" cy="5575995"/>
          </a:xfrm>
          <a:prstGeom prst="roundRect">
            <a:avLst>
              <a:gd fmla="val 228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12707689" y="3891855"/>
            <a:ext cx="5101069"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BƯỚC TIẾP THEO</a:t>
            </a:r>
            <a:endParaRPr b="0" i="0" sz="1500" u="none" cap="none" strike="noStrike">
              <a:solidFill>
                <a:schemeClr val="dk1"/>
              </a:solidFill>
              <a:latin typeface="Calibri"/>
              <a:ea typeface="Calibri"/>
              <a:cs typeface="Calibri"/>
              <a:sym typeface="Calibri"/>
            </a:endParaRPr>
          </a:p>
        </p:txBody>
      </p:sp>
      <p:sp>
        <p:nvSpPr>
          <p:cNvPr id="236" name="Google Shape;236;p8"/>
          <p:cNvSpPr/>
          <p:nvPr/>
        </p:nvSpPr>
        <p:spPr>
          <a:xfrm>
            <a:off x="12707689" y="4187130"/>
            <a:ext cx="4776456" cy="9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Review target KPI theo baseline zone mới (từ 6/7); đánh giá PnL mô hình MiniHub Leader (ROI vs chi phí 36-50tr/tháng) để quyết định go/no-go scale trước 15/8.</a:t>
            </a:r>
            <a:endParaRPr b="0" i="0" sz="1575" u="none" cap="none" strike="noStrike">
              <a:solidFill>
                <a:schemeClr val="dk1"/>
              </a:solidFill>
              <a:latin typeface="Calibri"/>
              <a:ea typeface="Calibri"/>
              <a:cs typeface="Calibri"/>
              <a:sym typeface="Calibri"/>
            </a:endParaRPr>
          </a:p>
        </p:txBody>
      </p:sp>
      <p:sp>
        <p:nvSpPr>
          <p:cNvPr id="237" name="Google Shape;237;p8"/>
          <p:cNvSpPr/>
          <p:nvPr/>
        </p:nvSpPr>
        <p:spPr>
          <a:xfrm>
            <a:off x="762000" y="9439275"/>
            <a:ext cx="16764000" cy="428625"/>
          </a:xfrm>
          <a:prstGeom prst="roundRect">
            <a:avLst>
              <a:gd fmla="val 22222"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952500" y="9534525"/>
            <a:ext cx="1873344"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00"/>
              <a:buFont typeface="Plus Jakarta Sans"/>
              <a:buNone/>
            </a:pPr>
            <a:r>
              <a:rPr b="1" i="0" lang="en-US" sz="1500" u="none" cap="none" strike="noStrike">
                <a:solidFill>
                  <a:srgbClr val="121619"/>
                </a:solidFill>
                <a:latin typeface="Plus Jakarta Sans"/>
                <a:ea typeface="Plus Jakarta Sans"/>
                <a:cs typeface="Plus Jakarta Sans"/>
                <a:sym typeface="Plus Jakarta Sans"/>
              </a:rPr>
              <a:t>CẦN SUPPORT TỪ:</a:t>
            </a:r>
            <a:endParaRPr b="0" i="0" sz="1500" u="none" cap="none" strike="noStrike">
              <a:solidFill>
                <a:schemeClr val="dk1"/>
              </a:solidFill>
              <a:latin typeface="Calibri"/>
              <a:ea typeface="Calibri"/>
              <a:cs typeface="Calibri"/>
              <a:sym typeface="Calibri"/>
            </a:endParaRPr>
          </a:p>
        </p:txBody>
      </p:sp>
      <p:sp>
        <p:nvSpPr>
          <p:cNvPr id="239" name="Google Shape;239;p8"/>
          <p:cNvSpPr/>
          <p:nvPr/>
        </p:nvSpPr>
        <p:spPr>
          <a:xfrm>
            <a:off x="2769840" y="9539288"/>
            <a:ext cx="7069857"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S&amp;P (đánh giá PnL, baseline/control group), OE (theo dõi coverage &amp; chế tài)</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9"/>
          <p:cNvSpPr/>
          <p:nvPr/>
        </p:nvSpPr>
        <p:spPr>
          <a:xfrm>
            <a:off x="762000" y="419100"/>
            <a:ext cx="1216521"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952500" y="495300"/>
            <a:ext cx="911721"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MiniHub</a:t>
            </a:r>
            <a:endParaRPr b="0" i="0" sz="1650" u="none" cap="none" strike="noStrike">
              <a:solidFill>
                <a:schemeClr val="dk1"/>
              </a:solidFill>
              <a:latin typeface="Calibri"/>
              <a:ea typeface="Calibri"/>
              <a:cs typeface="Calibri"/>
              <a:sym typeface="Calibri"/>
            </a:endParaRPr>
          </a:p>
        </p:txBody>
      </p:sp>
      <p:sp>
        <p:nvSpPr>
          <p:cNvPr id="247" name="Google Shape;247;p9"/>
          <p:cNvSpPr/>
          <p:nvPr/>
        </p:nvSpPr>
        <p:spPr>
          <a:xfrm>
            <a:off x="2073771" y="419100"/>
            <a:ext cx="651718" cy="4191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p:nvPr/>
        </p:nvSpPr>
        <p:spPr>
          <a:xfrm>
            <a:off x="2264271" y="495300"/>
            <a:ext cx="346918"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EV</a:t>
            </a:r>
            <a:endParaRPr b="0" i="0" sz="1650" u="none" cap="none" strike="noStrike">
              <a:solidFill>
                <a:schemeClr val="dk1"/>
              </a:solidFill>
              <a:latin typeface="Calibri"/>
              <a:ea typeface="Calibri"/>
              <a:cs typeface="Calibri"/>
              <a:sym typeface="Calibri"/>
            </a:endParaRPr>
          </a:p>
        </p:txBody>
      </p:sp>
      <p:sp>
        <p:nvSpPr>
          <p:cNvPr id="249" name="Google Shape;249;p9"/>
          <p:cNvSpPr/>
          <p:nvPr/>
        </p:nvSpPr>
        <p:spPr>
          <a:xfrm>
            <a:off x="2820739" y="419100"/>
            <a:ext cx="1507927"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3011239" y="495300"/>
            <a:ext cx="1203127"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Baga Bulky</a:t>
            </a:r>
            <a:endParaRPr b="0" i="0" sz="1650" u="none" cap="none" strike="noStrike">
              <a:solidFill>
                <a:schemeClr val="dk1"/>
              </a:solidFill>
              <a:latin typeface="Calibri"/>
              <a:ea typeface="Calibri"/>
              <a:cs typeface="Calibri"/>
              <a:sym typeface="Calibri"/>
            </a:endParaRPr>
          </a:p>
        </p:txBody>
      </p:sp>
      <p:sp>
        <p:nvSpPr>
          <p:cNvPr id="251" name="Google Shape;251;p9"/>
          <p:cNvSpPr/>
          <p:nvPr/>
        </p:nvSpPr>
        <p:spPr>
          <a:xfrm>
            <a:off x="4423916" y="419100"/>
            <a:ext cx="1824186"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4614416" y="495300"/>
            <a:ext cx="1519386"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Driver Journey</a:t>
            </a:r>
            <a:endParaRPr b="0" i="0" sz="1650" u="none" cap="none" strike="noStrike">
              <a:solidFill>
                <a:schemeClr val="dk1"/>
              </a:solidFill>
              <a:latin typeface="Calibri"/>
              <a:ea typeface="Calibri"/>
              <a:cs typeface="Calibri"/>
              <a:sym typeface="Calibri"/>
            </a:endParaRPr>
          </a:p>
        </p:txBody>
      </p:sp>
      <p:sp>
        <p:nvSpPr>
          <p:cNvPr id="253" name="Google Shape;253;p9"/>
          <p:cNvSpPr/>
          <p:nvPr/>
        </p:nvSpPr>
        <p:spPr>
          <a:xfrm>
            <a:off x="762000" y="1098203"/>
            <a:ext cx="609600" cy="609600"/>
          </a:xfrm>
          <a:prstGeom prst="roundRect">
            <a:avLst>
              <a:gd fmla="val 21875"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723900" y="1098203"/>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950"/>
              <a:buFont typeface="Plus Jakarta Sans"/>
              <a:buNone/>
            </a:pPr>
            <a:r>
              <a:rPr b="1" i="0" lang="en-US" sz="1950" u="none" cap="none" strike="noStrike">
                <a:solidFill>
                  <a:srgbClr val="FFFFFF"/>
                </a:solidFill>
                <a:latin typeface="Plus Jakarta Sans"/>
                <a:ea typeface="Plus Jakarta Sans"/>
                <a:cs typeface="Plus Jakarta Sans"/>
                <a:sym typeface="Plus Jakarta Sans"/>
              </a:rPr>
              <a:t>EV</a:t>
            </a:r>
            <a:endParaRPr b="0" i="0" sz="1950" u="none" cap="none" strike="noStrike">
              <a:solidFill>
                <a:schemeClr val="dk1"/>
              </a:solidFill>
              <a:latin typeface="Calibri"/>
              <a:ea typeface="Calibri"/>
              <a:cs typeface="Calibri"/>
              <a:sym typeface="Calibri"/>
            </a:endParaRPr>
          </a:p>
        </p:txBody>
      </p:sp>
      <p:sp>
        <p:nvSpPr>
          <p:cNvPr id="255" name="Google Shape;255;p9"/>
          <p:cNvSpPr/>
          <p:nvPr/>
        </p:nvSpPr>
        <p:spPr>
          <a:xfrm>
            <a:off x="1562100" y="1216819"/>
            <a:ext cx="10176272" cy="410468"/>
          </a:xfrm>
          <a:prstGeom prst="rect">
            <a:avLst/>
          </a:prstGeom>
          <a:noFill/>
          <a:ln>
            <a:noFill/>
          </a:ln>
        </p:spPr>
        <p:txBody>
          <a:bodyPr anchorCtr="0" anchor="t" bIns="25400" lIns="25400" spcFirstLastPara="1" rIns="25400" wrap="square" tIns="25400">
            <a:noAutofit/>
          </a:bodyPr>
          <a:lstStyle/>
          <a:p>
            <a:pPr indent="0" lvl="0" marL="0" marR="0" rtl="0" algn="l">
              <a:lnSpc>
                <a:spcPct val="90930"/>
              </a:lnSpc>
              <a:spcBef>
                <a:spcPts val="0"/>
              </a:spcBef>
              <a:spcAft>
                <a:spcPts val="0"/>
              </a:spcAft>
              <a:buClr>
                <a:srgbClr val="121619"/>
              </a:buClr>
              <a:buSzPts val="2550"/>
              <a:buFont typeface="Plus Jakarta Sans"/>
              <a:buNone/>
            </a:pPr>
            <a:r>
              <a:rPr b="1" i="0" lang="en-US" sz="2550" u="none" cap="none" strike="noStrike">
                <a:solidFill>
                  <a:srgbClr val="121619"/>
                </a:solidFill>
                <a:latin typeface="Plus Jakarta Sans"/>
                <a:ea typeface="Plus Jakarta Sans"/>
                <a:cs typeface="Plus Jakarta Sans"/>
                <a:sym typeface="Plus Jakarta Sans"/>
              </a:rPr>
              <a:t>EV: </a:t>
            </a:r>
            <a:r>
              <a:rPr b="1" i="0" lang="en-US" sz="2550" u="none" cap="none" strike="noStrike">
                <a:solidFill>
                  <a:srgbClr val="4C5158"/>
                </a:solidFill>
                <a:latin typeface="Plus Jakarta Sans"/>
                <a:ea typeface="Plus Jakarta Sans"/>
                <a:cs typeface="Plus Jakarta Sans"/>
                <a:sym typeface="Plus Jakarta Sans"/>
              </a:rPr>
              <a:t>active tăng tốt nhờ retention, nhưng phễu lead đang rò rỉ</a:t>
            </a:r>
            <a:endParaRPr b="0" i="0" sz="2550" u="none" cap="none" strike="noStrike">
              <a:solidFill>
                <a:schemeClr val="dk1"/>
              </a:solidFill>
              <a:latin typeface="Calibri"/>
              <a:ea typeface="Calibri"/>
              <a:cs typeface="Calibri"/>
              <a:sym typeface="Calibri"/>
            </a:endParaRPr>
          </a:p>
        </p:txBody>
      </p:sp>
      <p:sp>
        <p:nvSpPr>
          <p:cNvPr id="256" name="Google Shape;256;p9"/>
          <p:cNvSpPr/>
          <p:nvPr/>
        </p:nvSpPr>
        <p:spPr>
          <a:xfrm>
            <a:off x="12002095" y="1231553"/>
            <a:ext cx="977057" cy="3429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12154495" y="1288703"/>
            <a:ext cx="748457"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 VÀNG</a:t>
            </a:r>
            <a:endParaRPr b="0" i="0" sz="1500" u="none" cap="none" strike="noStrike">
              <a:solidFill>
                <a:schemeClr val="dk1"/>
              </a:solidFill>
              <a:latin typeface="Calibri"/>
              <a:ea typeface="Calibri"/>
              <a:cs typeface="Calibri"/>
              <a:sym typeface="Calibri"/>
            </a:endParaRPr>
          </a:p>
        </p:txBody>
      </p:sp>
      <p:sp>
        <p:nvSpPr>
          <p:cNvPr id="258" name="Google Shape;258;p9"/>
          <p:cNvSpPr/>
          <p:nvPr/>
        </p:nvSpPr>
        <p:spPr>
          <a:xfrm>
            <a:off x="13131552" y="971550"/>
            <a:ext cx="4394448" cy="862905"/>
          </a:xfrm>
          <a:prstGeom prst="roundRect">
            <a:avLst>
              <a:gd fmla="val 15454"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a:off x="13142335" y="1085850"/>
            <a:ext cx="4372883" cy="466725"/>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2700"/>
              <a:buFont typeface="Plus Jakarta Sans"/>
              <a:buNone/>
            </a:pPr>
            <a:r>
              <a:rPr b="1" i="0" lang="en-US" sz="2700" u="none" cap="none" strike="noStrike">
                <a:solidFill>
                  <a:srgbClr val="F55F00"/>
                </a:solidFill>
                <a:latin typeface="Plus Jakarta Sans"/>
                <a:ea typeface="Plus Jakarta Sans"/>
                <a:cs typeface="Plus Jakarta Sans"/>
                <a:sym typeface="Plus Jakarta Sans"/>
              </a:rPr>
              <a:t>-10%</a:t>
            </a:r>
            <a:endParaRPr b="0" i="0" sz="2700" u="none" cap="none" strike="noStrike">
              <a:solidFill>
                <a:schemeClr val="dk1"/>
              </a:solidFill>
              <a:latin typeface="Calibri"/>
              <a:ea typeface="Calibri"/>
              <a:cs typeface="Calibri"/>
              <a:sym typeface="Calibri"/>
            </a:endParaRPr>
          </a:p>
        </p:txBody>
      </p:sp>
      <p:sp>
        <p:nvSpPr>
          <p:cNvPr id="260" name="Google Shape;260;p9"/>
          <p:cNvSpPr/>
          <p:nvPr/>
        </p:nvSpPr>
        <p:spPr>
          <a:xfrm>
            <a:off x="13142335" y="1514475"/>
            <a:ext cx="4372883" cy="243780"/>
          </a:xfrm>
          <a:prstGeom prst="rect">
            <a:avLst/>
          </a:prstGeom>
          <a:noFill/>
          <a:ln>
            <a:noFill/>
          </a:ln>
        </p:spPr>
        <p:txBody>
          <a:bodyPr anchorCtr="0" anchor="t" bIns="25400" lIns="25400" spcFirstLastPara="1" rIns="25400" wrap="square" tIns="25400">
            <a:noAutofit/>
          </a:bodyPr>
          <a:lstStyle/>
          <a:p>
            <a:pPr indent="0" lvl="0" marL="0" marR="0" rtl="0" algn="ctr">
              <a:lnSpc>
                <a:spcPct val="102857"/>
              </a:lnSpc>
              <a:spcBef>
                <a:spcPts val="0"/>
              </a:spcBef>
              <a:spcAft>
                <a:spcPts val="0"/>
              </a:spcAft>
              <a:buClr>
                <a:srgbClr val="4C5158"/>
              </a:buClr>
              <a:buSzPts val="1350"/>
              <a:buFont typeface="Roboto"/>
              <a:buNone/>
            </a:pPr>
            <a:r>
              <a:rPr b="0" i="0" lang="en-US" sz="1350" u="none" cap="none" strike="noStrike">
                <a:solidFill>
                  <a:srgbClr val="4C5158"/>
                </a:solidFill>
                <a:latin typeface="Roboto"/>
                <a:ea typeface="Roboto"/>
                <a:cs typeface="Roboto"/>
                <a:sym typeface="Roboto"/>
              </a:rPr>
              <a:t>Lead đổ về giảm MoM dù nhu cầu tìm hiểu tăng 30%</a:t>
            </a:r>
            <a:endParaRPr b="0" i="0" sz="1350" u="none" cap="none" strike="noStrike">
              <a:solidFill>
                <a:schemeClr val="dk1"/>
              </a:solidFill>
              <a:latin typeface="Calibri"/>
              <a:ea typeface="Calibri"/>
              <a:cs typeface="Calibri"/>
              <a:sym typeface="Calibri"/>
            </a:endParaRPr>
          </a:p>
        </p:txBody>
      </p:sp>
      <p:sp>
        <p:nvSpPr>
          <p:cNvPr id="261" name="Google Shape;261;p9"/>
          <p:cNvSpPr/>
          <p:nvPr/>
        </p:nvSpPr>
        <p:spPr>
          <a:xfrm>
            <a:off x="762000" y="1967805"/>
            <a:ext cx="16764000" cy="495300"/>
          </a:xfrm>
          <a:prstGeom prst="roundRect">
            <a:avLst>
              <a:gd fmla="val 1923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952500" y="2082105"/>
            <a:ext cx="1688592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650"/>
              <a:buFont typeface="Plus Jakarta Sans"/>
              <a:buNone/>
            </a:pPr>
            <a:r>
              <a:rPr b="1" i="0" lang="en-US" sz="1650" u="none" cap="none" strike="noStrike">
                <a:solidFill>
                  <a:srgbClr val="F55F00"/>
                </a:solidFill>
                <a:latin typeface="Plus Jakarta Sans"/>
                <a:ea typeface="Plus Jakarta Sans"/>
                <a:cs typeface="Plus Jakarta Sans"/>
                <a:sym typeface="Plus Jakarta Sans"/>
              </a:rPr>
              <a:t>MỤC TIÊU: </a:t>
            </a:r>
            <a:r>
              <a:rPr b="0" i="0" lang="en-US" sz="1650" u="none" cap="none" strike="noStrike">
                <a:solidFill>
                  <a:srgbClr val="121619"/>
                </a:solidFill>
                <a:highlight>
                  <a:srgbClr val="FFF3EB"/>
                </a:highlight>
                <a:latin typeface="Roboto"/>
                <a:ea typeface="Roboto"/>
                <a:cs typeface="Roboto"/>
                <a:sym typeface="Roboto"/>
              </a:rPr>
              <a:t>Rút ngắn thời gian phản hồi lead trong T8</a:t>
            </a:r>
            <a:endParaRPr b="0" i="0" sz="1650" u="none" cap="none" strike="noStrike">
              <a:solidFill>
                <a:schemeClr val="dk1"/>
              </a:solidFill>
              <a:latin typeface="Calibri"/>
              <a:ea typeface="Calibri"/>
              <a:cs typeface="Calibri"/>
              <a:sym typeface="Calibri"/>
            </a:endParaRPr>
          </a:p>
        </p:txBody>
      </p:sp>
      <p:sp>
        <p:nvSpPr>
          <p:cNvPr id="263" name="Google Shape;263;p9"/>
          <p:cNvSpPr/>
          <p:nvPr/>
        </p:nvSpPr>
        <p:spPr>
          <a:xfrm>
            <a:off x="762000" y="2596455"/>
            <a:ext cx="8117235" cy="1000125"/>
          </a:xfrm>
          <a:prstGeom prst="roundRect">
            <a:avLst>
              <a:gd fmla="val 11429"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933450" y="2729805"/>
            <a:ext cx="8551768"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500"/>
              <a:buFont typeface="Plus Jakarta Sans"/>
              <a:buNone/>
            </a:pPr>
            <a:r>
              <a:rPr b="1" i="0" lang="en-US" sz="1500" u="none" cap="none" strike="noStrike">
                <a:solidFill>
                  <a:srgbClr val="757D86"/>
                </a:solidFill>
                <a:latin typeface="Plus Jakarta Sans"/>
                <a:ea typeface="Plus Jakarta Sans"/>
                <a:cs typeface="Plus Jakarta Sans"/>
                <a:sym typeface="Plus Jakarta Sans"/>
              </a:rPr>
              <a:t>TRƯỚC</a:t>
            </a:r>
            <a:endParaRPr b="0" i="0" sz="1500" u="none" cap="none" strike="noStrike">
              <a:solidFill>
                <a:schemeClr val="dk1"/>
              </a:solidFill>
              <a:latin typeface="Calibri"/>
              <a:ea typeface="Calibri"/>
              <a:cs typeface="Calibri"/>
              <a:sym typeface="Calibri"/>
            </a:endParaRPr>
          </a:p>
        </p:txBody>
      </p:sp>
      <p:sp>
        <p:nvSpPr>
          <p:cNvPr id="265" name="Google Shape;265;p9"/>
          <p:cNvSpPr/>
          <p:nvPr/>
        </p:nvSpPr>
        <p:spPr>
          <a:xfrm>
            <a:off x="933450" y="3006030"/>
            <a:ext cx="8007565"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75"/>
              <a:buFont typeface="Roboto"/>
              <a:buNone/>
            </a:pPr>
            <a:r>
              <a:rPr b="0" i="0" lang="en-US" sz="1575" u="none" cap="none" strike="noStrike">
                <a:solidFill>
                  <a:srgbClr val="121619"/>
                </a:solidFill>
                <a:latin typeface="Roboto"/>
                <a:ea typeface="Roboto"/>
                <a:cs typeface="Roboto"/>
                <a:sym typeface="Roboto"/>
              </a:rPr>
              <a:t>Lead được DM tiếp nhận và xử lý thủ công, thời gian phản hồi chậm, chưa tối ưu tỉ lệ chuyển đổi.</a:t>
            </a:r>
            <a:endParaRPr b="0" i="0" sz="1575" u="none" cap="none" strike="noStrike">
              <a:solidFill>
                <a:schemeClr val="dk1"/>
              </a:solidFill>
              <a:latin typeface="Calibri"/>
              <a:ea typeface="Calibri"/>
              <a:cs typeface="Calibri"/>
              <a:sym typeface="Calibri"/>
            </a:endParaRPr>
          </a:p>
        </p:txBody>
      </p:sp>
      <p:sp>
        <p:nvSpPr>
          <p:cNvPr id="266" name="Google Shape;266;p9"/>
          <p:cNvSpPr/>
          <p:nvPr/>
        </p:nvSpPr>
        <p:spPr>
          <a:xfrm>
            <a:off x="9012585" y="2925068"/>
            <a:ext cx="338882"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250"/>
              <a:buFont typeface="Roboto"/>
              <a:buNone/>
            </a:pPr>
            <a:r>
              <a:rPr b="0" i="0" lang="en-US" sz="2250" u="none" cap="none" strike="noStrike">
                <a:solidFill>
                  <a:srgbClr val="FF7F32"/>
                </a:solidFill>
                <a:latin typeface="Roboto"/>
                <a:ea typeface="Roboto"/>
                <a:cs typeface="Roboto"/>
                <a:sym typeface="Roboto"/>
              </a:rPr>
              <a:t>→</a:t>
            </a:r>
            <a:endParaRPr b="0" i="0" sz="2250" u="none" cap="none" strike="noStrike">
              <a:solidFill>
                <a:schemeClr val="dk1"/>
              </a:solidFill>
              <a:latin typeface="Calibri"/>
              <a:ea typeface="Calibri"/>
              <a:cs typeface="Calibri"/>
              <a:sym typeface="Calibri"/>
            </a:endParaRPr>
          </a:p>
        </p:txBody>
      </p:sp>
      <p:sp>
        <p:nvSpPr>
          <p:cNvPr id="267" name="Google Shape;267;p9"/>
          <p:cNvSpPr/>
          <p:nvPr/>
        </p:nvSpPr>
        <p:spPr>
          <a:xfrm>
            <a:off x="9408616" y="2596455"/>
            <a:ext cx="8117384" cy="1000125"/>
          </a:xfrm>
          <a:prstGeom prst="roundRect">
            <a:avLst>
              <a:gd fmla="val 11429"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9580066" y="2729805"/>
            <a:ext cx="8551932"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SAU</a:t>
            </a:r>
            <a:endParaRPr b="0" i="0" sz="1500" u="none" cap="none" strike="noStrike">
              <a:solidFill>
                <a:schemeClr val="dk1"/>
              </a:solidFill>
              <a:latin typeface="Calibri"/>
              <a:ea typeface="Calibri"/>
              <a:cs typeface="Calibri"/>
              <a:sym typeface="Calibri"/>
            </a:endParaRPr>
          </a:p>
        </p:txBody>
      </p:sp>
      <p:sp>
        <p:nvSpPr>
          <p:cNvPr id="269" name="Google Shape;269;p9"/>
          <p:cNvSpPr/>
          <p:nvPr/>
        </p:nvSpPr>
        <p:spPr>
          <a:xfrm>
            <a:off x="9580066" y="3006030"/>
            <a:ext cx="8007718"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75"/>
              <a:buFont typeface="Roboto"/>
              <a:buNone/>
            </a:pPr>
            <a:r>
              <a:rPr b="0" i="0" lang="en-US" sz="1575" u="none" cap="none" strike="noStrike">
                <a:solidFill>
                  <a:srgbClr val="121619"/>
                </a:solidFill>
                <a:latin typeface="Roboto"/>
                <a:ea typeface="Roboto"/>
                <a:cs typeface="Roboto"/>
                <a:sym typeface="Roboto"/>
              </a:rPr>
              <a:t>Đề xuất tháng 8: chuyển thẳng lead qua phía partner xử lý, rút ngắn thời gian phản hồi; chốt chính sách thưởng đua top thuê xe.</a:t>
            </a:r>
            <a:endParaRPr b="0" i="0" sz="1575" u="none" cap="none" strike="noStrike">
              <a:solidFill>
                <a:schemeClr val="dk1"/>
              </a:solidFill>
              <a:latin typeface="Calibri"/>
              <a:ea typeface="Calibri"/>
              <a:cs typeface="Calibri"/>
              <a:sym typeface="Calibri"/>
            </a:endParaRPr>
          </a:p>
        </p:txBody>
      </p:sp>
      <p:sp>
        <p:nvSpPr>
          <p:cNvPr id="270" name="Google Shape;270;p9"/>
          <p:cNvSpPr/>
          <p:nvPr/>
        </p:nvSpPr>
        <p:spPr>
          <a:xfrm>
            <a:off x="762000" y="3729930"/>
            <a:ext cx="4999137" cy="5575995"/>
          </a:xfrm>
          <a:prstGeom prst="roundRect">
            <a:avLst>
              <a:gd fmla="val 228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9"/>
          <p:cNvSpPr/>
          <p:nvPr/>
        </p:nvSpPr>
        <p:spPr>
          <a:xfrm>
            <a:off x="942975" y="3891855"/>
            <a:ext cx="5100905"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500"/>
              <a:buFont typeface="Plus Jakarta Sans"/>
              <a:buNone/>
            </a:pPr>
            <a:r>
              <a:rPr b="1" i="0" lang="en-US" sz="1500" u="none" cap="none" strike="noStrike">
                <a:solidFill>
                  <a:srgbClr val="012749"/>
                </a:solidFill>
                <a:latin typeface="Plus Jakarta Sans"/>
                <a:ea typeface="Plus Jakarta Sans"/>
                <a:cs typeface="Plus Jakarta Sans"/>
                <a:sym typeface="Plus Jakarta Sans"/>
              </a:rPr>
              <a:t>ĐÃ LÀM GÌ (T7)</a:t>
            </a:r>
            <a:endParaRPr b="0" i="0" sz="1500" u="none" cap="none" strike="noStrike">
              <a:solidFill>
                <a:schemeClr val="dk1"/>
              </a:solidFill>
              <a:latin typeface="Calibri"/>
              <a:ea typeface="Calibri"/>
              <a:cs typeface="Calibri"/>
              <a:sym typeface="Calibri"/>
            </a:endParaRPr>
          </a:p>
        </p:txBody>
      </p:sp>
      <p:sp>
        <p:nvSpPr>
          <p:cNvPr id="272" name="Google Shape;272;p9"/>
          <p:cNvSpPr/>
          <p:nvPr/>
        </p:nvSpPr>
        <p:spPr>
          <a:xfrm>
            <a:off x="942975" y="4187130"/>
            <a:ext cx="4776302"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Triển khai chương trình thuê xe điện &amp; theo dõi retention; theo dõi nguồn lead đổ về chương trình.</a:t>
            </a:r>
            <a:endParaRPr b="0" i="0" sz="1575" u="none" cap="none" strike="noStrike">
              <a:solidFill>
                <a:schemeClr val="dk1"/>
              </a:solidFill>
              <a:latin typeface="Calibri"/>
              <a:ea typeface="Calibri"/>
              <a:cs typeface="Calibri"/>
              <a:sym typeface="Calibri"/>
            </a:endParaRPr>
          </a:p>
        </p:txBody>
      </p:sp>
      <p:sp>
        <p:nvSpPr>
          <p:cNvPr id="273" name="Google Shape;273;p9"/>
          <p:cNvSpPr/>
          <p:nvPr/>
        </p:nvSpPr>
        <p:spPr>
          <a:xfrm>
            <a:off x="5894487" y="3729930"/>
            <a:ext cx="6498878" cy="5575995"/>
          </a:xfrm>
          <a:prstGeom prst="roundRect">
            <a:avLst>
              <a:gd fmla="val 2050"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6075462" y="3891855"/>
            <a:ext cx="6750621"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500"/>
              <a:buFont typeface="Plus Jakarta Sans"/>
              <a:buNone/>
            </a:pPr>
            <a:r>
              <a:rPr b="1" i="0" lang="en-US" sz="1500" u="none" cap="none" strike="noStrike">
                <a:solidFill>
                  <a:srgbClr val="F55F00"/>
                </a:solidFill>
                <a:latin typeface="Plus Jakarta Sans"/>
                <a:ea typeface="Plus Jakarta Sans"/>
                <a:cs typeface="Plus Jakarta Sans"/>
                <a:sym typeface="Plus Jakarta Sans"/>
              </a:rPr>
              <a:t>TÁC ĐỘNG</a:t>
            </a:r>
            <a:endParaRPr b="0" i="0" sz="1500" u="none" cap="none" strike="noStrike">
              <a:solidFill>
                <a:schemeClr val="dk1"/>
              </a:solidFill>
              <a:latin typeface="Calibri"/>
              <a:ea typeface="Calibri"/>
              <a:cs typeface="Calibri"/>
              <a:sym typeface="Calibri"/>
            </a:endParaRPr>
          </a:p>
        </p:txBody>
      </p:sp>
      <p:sp>
        <p:nvSpPr>
          <p:cNvPr id="275" name="Google Shape;275;p9"/>
          <p:cNvSpPr/>
          <p:nvPr/>
        </p:nvSpPr>
        <p:spPr>
          <a:xfrm>
            <a:off x="6075462" y="4187130"/>
            <a:ext cx="6321036"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Retention active HAN đạt </a:t>
            </a:r>
            <a:r>
              <a:rPr b="1" i="0" lang="en-US" sz="1575" u="none" cap="none" strike="noStrike">
                <a:solidFill>
                  <a:srgbClr val="4C5158"/>
                </a:solidFill>
                <a:latin typeface="Roboto"/>
                <a:ea typeface="Roboto"/>
                <a:cs typeface="Roboto"/>
                <a:sym typeface="Roboto"/>
              </a:rPr>
              <a:t>406 tài xế </a:t>
            </a:r>
            <a:r>
              <a:rPr b="0" i="0" lang="en-US" sz="1575" u="none" cap="none" strike="noStrike">
                <a:solidFill>
                  <a:srgbClr val="4C5158"/>
                </a:solidFill>
                <a:latin typeface="Roboto"/>
                <a:ea typeface="Roboto"/>
                <a:cs typeface="Roboto"/>
                <a:sym typeface="Roboto"/>
              </a:rPr>
              <a:t>(+1.87% MoM), SGN đạt </a:t>
            </a:r>
            <a:r>
              <a:rPr b="1" i="0" lang="en-US" sz="1575" u="none" cap="none" strike="noStrike">
                <a:solidFill>
                  <a:srgbClr val="4C5158"/>
                </a:solidFill>
                <a:latin typeface="Roboto"/>
                <a:ea typeface="Roboto"/>
                <a:cs typeface="Roboto"/>
                <a:sym typeface="Roboto"/>
              </a:rPr>
              <a:t>488 tài xế </a:t>
            </a:r>
            <a:r>
              <a:rPr b="0" i="0" lang="en-US" sz="1575" u="none" cap="none" strike="noStrike">
                <a:solidFill>
                  <a:srgbClr val="4C5158"/>
                </a:solidFill>
                <a:latin typeface="Roboto"/>
                <a:ea typeface="Roboto"/>
                <a:cs typeface="Roboto"/>
                <a:sym typeface="Roboto"/>
              </a:rPr>
              <a:t>(-1.16% MoM). Lead giảm </a:t>
            </a:r>
            <a:r>
              <a:rPr b="1" i="0" lang="en-US" sz="1575" u="none" cap="none" strike="noStrike">
                <a:solidFill>
                  <a:srgbClr val="4C5158"/>
                </a:solidFill>
                <a:latin typeface="Roboto"/>
                <a:ea typeface="Roboto"/>
                <a:cs typeface="Roboto"/>
                <a:sym typeface="Roboto"/>
              </a:rPr>
              <a:t>10% MoM </a:t>
            </a:r>
            <a:r>
              <a:rPr b="0" i="0" lang="en-US" sz="1575" u="none" cap="none" strike="noStrike">
                <a:solidFill>
                  <a:srgbClr val="4C5158"/>
                </a:solidFill>
                <a:latin typeface="Roboto"/>
                <a:ea typeface="Roboto"/>
                <a:cs typeface="Roboto"/>
                <a:sym typeface="Roboto"/>
              </a:rPr>
              <a:t>dù demand tăng </a:t>
            </a:r>
            <a:r>
              <a:rPr b="1" i="0" lang="en-US" sz="1575" u="none" cap="none" strike="noStrike">
                <a:solidFill>
                  <a:srgbClr val="4C5158"/>
                </a:solidFill>
                <a:latin typeface="Roboto"/>
                <a:ea typeface="Roboto"/>
                <a:cs typeface="Roboto"/>
                <a:sym typeface="Roboto"/>
              </a:rPr>
              <a:t>30%</a:t>
            </a:r>
            <a:r>
              <a:rPr b="0" i="0" lang="en-US" sz="1575" u="none" cap="none" strike="noStrike">
                <a:solidFill>
                  <a:srgbClr val="4C5158"/>
                </a:solidFill>
                <a:latin typeface="Roboto"/>
                <a:ea typeface="Roboto"/>
                <a:cs typeface="Roboto"/>
                <a:sym typeface="Roboto"/>
              </a:rPr>
              <a:t>.</a:t>
            </a:r>
            <a:endParaRPr b="0" i="0" sz="1575" u="none" cap="none" strike="noStrike">
              <a:solidFill>
                <a:schemeClr val="dk1"/>
              </a:solidFill>
              <a:latin typeface="Calibri"/>
              <a:ea typeface="Calibri"/>
              <a:cs typeface="Calibri"/>
              <a:sym typeface="Calibri"/>
            </a:endParaRPr>
          </a:p>
        </p:txBody>
      </p:sp>
      <p:sp>
        <p:nvSpPr>
          <p:cNvPr id="276" name="Google Shape;276;p9"/>
          <p:cNvSpPr/>
          <p:nvPr/>
        </p:nvSpPr>
        <p:spPr>
          <a:xfrm>
            <a:off x="6075462" y="4701480"/>
            <a:ext cx="6321036"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500"/>
              <a:buFont typeface="Roboto"/>
              <a:buNone/>
            </a:pPr>
            <a:r>
              <a:rPr b="0" i="1" lang="en-US" sz="1500" u="none" cap="none" strike="noStrike">
                <a:solidFill>
                  <a:srgbClr val="757D86"/>
                </a:solidFill>
                <a:latin typeface="Roboto"/>
                <a:ea typeface="Roboto"/>
                <a:cs typeface="Roboto"/>
                <a:sym typeface="Roboto"/>
              </a:rPr>
              <a:t>Cơ chế: lead xử lý thủ công qua DM tạo độ trễ phản hồi, khách có xu hướng rời đi trước khi được liên hệ.</a:t>
            </a:r>
            <a:endParaRPr b="0" i="0" sz="1500" u="none" cap="none" strike="noStrike">
              <a:solidFill>
                <a:schemeClr val="dk1"/>
              </a:solidFill>
              <a:latin typeface="Calibri"/>
              <a:ea typeface="Calibri"/>
              <a:cs typeface="Calibri"/>
              <a:sym typeface="Calibri"/>
            </a:endParaRPr>
          </a:p>
        </p:txBody>
      </p:sp>
      <p:sp>
        <p:nvSpPr>
          <p:cNvPr id="277" name="Google Shape;277;p9"/>
          <p:cNvSpPr/>
          <p:nvPr/>
        </p:nvSpPr>
        <p:spPr>
          <a:xfrm>
            <a:off x="12526714" y="3729930"/>
            <a:ext cx="4999286" cy="5575995"/>
          </a:xfrm>
          <a:prstGeom prst="roundRect">
            <a:avLst>
              <a:gd fmla="val 228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p:nvPr/>
        </p:nvSpPr>
        <p:spPr>
          <a:xfrm>
            <a:off x="12707689" y="3891855"/>
            <a:ext cx="5101069"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BƯỚC TIẾP THEO</a:t>
            </a:r>
            <a:endParaRPr b="0" i="0" sz="1500" u="none" cap="none" strike="noStrike">
              <a:solidFill>
                <a:schemeClr val="dk1"/>
              </a:solidFill>
              <a:latin typeface="Calibri"/>
              <a:ea typeface="Calibri"/>
              <a:cs typeface="Calibri"/>
              <a:sym typeface="Calibri"/>
            </a:endParaRPr>
          </a:p>
        </p:txBody>
      </p:sp>
      <p:sp>
        <p:nvSpPr>
          <p:cNvPr id="279" name="Google Shape;279;p9"/>
          <p:cNvSpPr/>
          <p:nvPr/>
        </p:nvSpPr>
        <p:spPr>
          <a:xfrm>
            <a:off x="12707689" y="4187130"/>
            <a:ext cx="4776456" cy="7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Quy hoạch lại luồng tiếp nhận lead; chốt chính sách thưởng tháng 8 để đẩy mạnh truyền thông mục thuê xe.</a:t>
            </a:r>
            <a:endParaRPr b="0" i="0" sz="1575" u="none" cap="none" strike="noStrike">
              <a:solidFill>
                <a:schemeClr val="dk1"/>
              </a:solidFill>
              <a:latin typeface="Calibri"/>
              <a:ea typeface="Calibri"/>
              <a:cs typeface="Calibri"/>
              <a:sym typeface="Calibri"/>
            </a:endParaRPr>
          </a:p>
        </p:txBody>
      </p:sp>
      <p:sp>
        <p:nvSpPr>
          <p:cNvPr id="280" name="Google Shape;280;p9"/>
          <p:cNvSpPr/>
          <p:nvPr/>
        </p:nvSpPr>
        <p:spPr>
          <a:xfrm>
            <a:off x="762000" y="9439275"/>
            <a:ext cx="16764000" cy="428625"/>
          </a:xfrm>
          <a:prstGeom prst="roundRect">
            <a:avLst>
              <a:gd fmla="val 22222"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a:off x="952500" y="9534525"/>
            <a:ext cx="1873344"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00"/>
              <a:buFont typeface="Plus Jakarta Sans"/>
              <a:buNone/>
            </a:pPr>
            <a:r>
              <a:rPr b="1" i="0" lang="en-US" sz="1500" u="none" cap="none" strike="noStrike">
                <a:solidFill>
                  <a:srgbClr val="121619"/>
                </a:solidFill>
                <a:latin typeface="Plus Jakarta Sans"/>
                <a:ea typeface="Plus Jakarta Sans"/>
                <a:cs typeface="Plus Jakarta Sans"/>
                <a:sym typeface="Plus Jakarta Sans"/>
              </a:rPr>
              <a:t>CẦN SUPPORT TỪ:</a:t>
            </a:r>
            <a:endParaRPr b="0" i="0" sz="1500" u="none" cap="none" strike="noStrike">
              <a:solidFill>
                <a:schemeClr val="dk1"/>
              </a:solidFill>
              <a:latin typeface="Calibri"/>
              <a:ea typeface="Calibri"/>
              <a:cs typeface="Calibri"/>
              <a:sym typeface="Calibri"/>
            </a:endParaRPr>
          </a:p>
        </p:txBody>
      </p:sp>
      <p:sp>
        <p:nvSpPr>
          <p:cNvPr id="282" name="Google Shape;282;p9"/>
          <p:cNvSpPr/>
          <p:nvPr/>
        </p:nvSpPr>
        <p:spPr>
          <a:xfrm>
            <a:off x="2769840" y="9539288"/>
            <a:ext cx="7170375"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S&amp;P (chốt card tính thưởng đua top EV), GR (truyền thông &amp; tổ chức cafe talk)</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10"/>
          <p:cNvSpPr/>
          <p:nvPr/>
        </p:nvSpPr>
        <p:spPr>
          <a:xfrm>
            <a:off x="762000" y="419100"/>
            <a:ext cx="1216521"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
          <p:cNvSpPr/>
          <p:nvPr/>
        </p:nvSpPr>
        <p:spPr>
          <a:xfrm>
            <a:off x="952500" y="495300"/>
            <a:ext cx="911721"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MiniHub</a:t>
            </a:r>
            <a:endParaRPr b="0" i="0" sz="1650" u="none" cap="none" strike="noStrike">
              <a:solidFill>
                <a:schemeClr val="dk1"/>
              </a:solidFill>
              <a:latin typeface="Calibri"/>
              <a:ea typeface="Calibri"/>
              <a:cs typeface="Calibri"/>
              <a:sym typeface="Calibri"/>
            </a:endParaRPr>
          </a:p>
        </p:txBody>
      </p:sp>
      <p:sp>
        <p:nvSpPr>
          <p:cNvPr id="290" name="Google Shape;290;p10"/>
          <p:cNvSpPr/>
          <p:nvPr/>
        </p:nvSpPr>
        <p:spPr>
          <a:xfrm>
            <a:off x="2073771" y="419100"/>
            <a:ext cx="651718"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2264271" y="495300"/>
            <a:ext cx="346918"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EV</a:t>
            </a:r>
            <a:endParaRPr b="0" i="0" sz="1650" u="none" cap="none" strike="noStrike">
              <a:solidFill>
                <a:schemeClr val="dk1"/>
              </a:solidFill>
              <a:latin typeface="Calibri"/>
              <a:ea typeface="Calibri"/>
              <a:cs typeface="Calibri"/>
              <a:sym typeface="Calibri"/>
            </a:endParaRPr>
          </a:p>
        </p:txBody>
      </p:sp>
      <p:sp>
        <p:nvSpPr>
          <p:cNvPr id="292" name="Google Shape;292;p10"/>
          <p:cNvSpPr/>
          <p:nvPr/>
        </p:nvSpPr>
        <p:spPr>
          <a:xfrm>
            <a:off x="2820739" y="419100"/>
            <a:ext cx="1507927" cy="4191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3011239" y="495300"/>
            <a:ext cx="1203127"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Baga Bulky</a:t>
            </a:r>
            <a:endParaRPr b="0" i="0" sz="1650" u="none" cap="none" strike="noStrike">
              <a:solidFill>
                <a:schemeClr val="dk1"/>
              </a:solidFill>
              <a:latin typeface="Calibri"/>
              <a:ea typeface="Calibri"/>
              <a:cs typeface="Calibri"/>
              <a:sym typeface="Calibri"/>
            </a:endParaRPr>
          </a:p>
        </p:txBody>
      </p:sp>
      <p:sp>
        <p:nvSpPr>
          <p:cNvPr id="294" name="Google Shape;294;p10"/>
          <p:cNvSpPr/>
          <p:nvPr/>
        </p:nvSpPr>
        <p:spPr>
          <a:xfrm>
            <a:off x="4423916" y="419100"/>
            <a:ext cx="1824186"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0"/>
          <p:cNvSpPr/>
          <p:nvPr/>
        </p:nvSpPr>
        <p:spPr>
          <a:xfrm>
            <a:off x="4614416" y="495300"/>
            <a:ext cx="1519386"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Driver Journey</a:t>
            </a:r>
            <a:endParaRPr b="0" i="0" sz="1650" u="none" cap="none" strike="noStrike">
              <a:solidFill>
                <a:schemeClr val="dk1"/>
              </a:solidFill>
              <a:latin typeface="Calibri"/>
              <a:ea typeface="Calibri"/>
              <a:cs typeface="Calibri"/>
              <a:sym typeface="Calibri"/>
            </a:endParaRPr>
          </a:p>
        </p:txBody>
      </p:sp>
      <p:sp>
        <p:nvSpPr>
          <p:cNvPr id="296" name="Google Shape;296;p10"/>
          <p:cNvSpPr/>
          <p:nvPr/>
        </p:nvSpPr>
        <p:spPr>
          <a:xfrm>
            <a:off x="762000" y="1098203"/>
            <a:ext cx="609600" cy="609600"/>
          </a:xfrm>
          <a:prstGeom prst="roundRect">
            <a:avLst>
              <a:gd fmla="val 21875"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723900" y="1098203"/>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950"/>
              <a:buFont typeface="Plus Jakarta Sans"/>
              <a:buNone/>
            </a:pPr>
            <a:r>
              <a:rPr b="1" i="0" lang="en-US" sz="1950" u="none" cap="none" strike="noStrike">
                <a:solidFill>
                  <a:srgbClr val="FFFFFF"/>
                </a:solidFill>
                <a:latin typeface="Plus Jakarta Sans"/>
                <a:ea typeface="Plus Jakarta Sans"/>
                <a:cs typeface="Plus Jakarta Sans"/>
                <a:sym typeface="Plus Jakarta Sans"/>
              </a:rPr>
              <a:t>BB</a:t>
            </a:r>
            <a:endParaRPr b="0" i="0" sz="1950" u="none" cap="none" strike="noStrike">
              <a:solidFill>
                <a:schemeClr val="dk1"/>
              </a:solidFill>
              <a:latin typeface="Calibri"/>
              <a:ea typeface="Calibri"/>
              <a:cs typeface="Calibri"/>
              <a:sym typeface="Calibri"/>
            </a:endParaRPr>
          </a:p>
        </p:txBody>
      </p:sp>
      <p:sp>
        <p:nvSpPr>
          <p:cNvPr id="298" name="Google Shape;298;p10"/>
          <p:cNvSpPr/>
          <p:nvPr/>
        </p:nvSpPr>
        <p:spPr>
          <a:xfrm>
            <a:off x="1562100" y="1030635"/>
            <a:ext cx="10475275" cy="782836"/>
          </a:xfrm>
          <a:prstGeom prst="rect">
            <a:avLst/>
          </a:prstGeom>
          <a:noFill/>
          <a:ln>
            <a:noFill/>
          </a:ln>
        </p:spPr>
        <p:txBody>
          <a:bodyPr anchorCtr="0" anchor="t" bIns="25400" lIns="25400" spcFirstLastPara="1" rIns="25400" wrap="square" tIns="25400">
            <a:noAutofit/>
          </a:bodyPr>
          <a:lstStyle/>
          <a:p>
            <a:pPr indent="0" lvl="0" marL="0" marR="0" rtl="0" algn="l">
              <a:lnSpc>
                <a:spcPct val="90930"/>
              </a:lnSpc>
              <a:spcBef>
                <a:spcPts val="0"/>
              </a:spcBef>
              <a:spcAft>
                <a:spcPts val="0"/>
              </a:spcAft>
              <a:buClr>
                <a:srgbClr val="121619"/>
              </a:buClr>
              <a:buSzPts val="2550"/>
              <a:buFont typeface="Plus Jakarta Sans"/>
              <a:buNone/>
            </a:pPr>
            <a:r>
              <a:rPr b="1" i="0" lang="en-US" sz="2550" u="none" cap="none" strike="noStrike">
                <a:solidFill>
                  <a:srgbClr val="121619"/>
                </a:solidFill>
                <a:latin typeface="Plus Jakarta Sans"/>
                <a:ea typeface="Plus Jakarta Sans"/>
                <a:cs typeface="Plus Jakarta Sans"/>
                <a:sym typeface="Plus Jakarta Sans"/>
              </a:rPr>
              <a:t>Baga Bulky: </a:t>
            </a:r>
            <a:r>
              <a:rPr b="1" i="0" lang="en-US" sz="2550" u="none" cap="none" strike="noStrike">
                <a:solidFill>
                  <a:srgbClr val="4C5158"/>
                </a:solidFill>
                <a:latin typeface="Plus Jakarta Sans"/>
                <a:ea typeface="Plus Jakarta Sans"/>
                <a:cs typeface="Plus Jakarta Sans"/>
                <a:sym typeface="Plus Jakarta Sans"/>
              </a:rPr>
              <a:t>đang trong giai đoạn lên kế hoạch, cần chốt truyền thông trước 24/7</a:t>
            </a:r>
            <a:endParaRPr b="0" i="0" sz="2550" u="none" cap="none" strike="noStrike">
              <a:solidFill>
                <a:schemeClr val="dk1"/>
              </a:solidFill>
              <a:latin typeface="Calibri"/>
              <a:ea typeface="Calibri"/>
              <a:cs typeface="Calibri"/>
              <a:sym typeface="Calibri"/>
            </a:endParaRPr>
          </a:p>
        </p:txBody>
      </p:sp>
      <p:sp>
        <p:nvSpPr>
          <p:cNvPr id="299" name="Google Shape;299;p10"/>
          <p:cNvSpPr/>
          <p:nvPr/>
        </p:nvSpPr>
        <p:spPr>
          <a:xfrm>
            <a:off x="11960870" y="1231553"/>
            <a:ext cx="977057" cy="3429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p:nvPr/>
        </p:nvSpPr>
        <p:spPr>
          <a:xfrm>
            <a:off x="12113270" y="1288703"/>
            <a:ext cx="748457"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 VÀNG</a:t>
            </a:r>
            <a:endParaRPr b="0" i="0" sz="1500" u="none" cap="none" strike="noStrike">
              <a:solidFill>
                <a:schemeClr val="dk1"/>
              </a:solidFill>
              <a:latin typeface="Calibri"/>
              <a:ea typeface="Calibri"/>
              <a:cs typeface="Calibri"/>
              <a:sym typeface="Calibri"/>
            </a:endParaRPr>
          </a:p>
        </p:txBody>
      </p:sp>
      <p:sp>
        <p:nvSpPr>
          <p:cNvPr id="301" name="Google Shape;301;p10"/>
          <p:cNvSpPr/>
          <p:nvPr/>
        </p:nvSpPr>
        <p:spPr>
          <a:xfrm>
            <a:off x="13090327" y="971550"/>
            <a:ext cx="4435673" cy="862905"/>
          </a:xfrm>
          <a:prstGeom prst="roundRect">
            <a:avLst>
              <a:gd fmla="val 15454"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0"/>
          <p:cNvSpPr/>
          <p:nvPr/>
        </p:nvSpPr>
        <p:spPr>
          <a:xfrm>
            <a:off x="13099048" y="1085850"/>
            <a:ext cx="4418231" cy="466725"/>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2700"/>
              <a:buFont typeface="Plus Jakarta Sans"/>
              <a:buNone/>
            </a:pPr>
            <a:r>
              <a:rPr b="1" i="0" lang="en-US" sz="2700" u="none" cap="none" strike="noStrike">
                <a:solidFill>
                  <a:srgbClr val="F55F00"/>
                </a:solidFill>
                <a:latin typeface="Plus Jakarta Sans"/>
                <a:ea typeface="Plus Jakarta Sans"/>
                <a:cs typeface="Plus Jakarta Sans"/>
                <a:sym typeface="Plus Jakarta Sans"/>
              </a:rPr>
              <a:t>68.2%</a:t>
            </a:r>
            <a:endParaRPr b="0" i="0" sz="2700" u="none" cap="none" strike="noStrike">
              <a:solidFill>
                <a:schemeClr val="dk1"/>
              </a:solidFill>
              <a:latin typeface="Calibri"/>
              <a:ea typeface="Calibri"/>
              <a:cs typeface="Calibri"/>
              <a:sym typeface="Calibri"/>
            </a:endParaRPr>
          </a:p>
        </p:txBody>
      </p:sp>
      <p:sp>
        <p:nvSpPr>
          <p:cNvPr id="303" name="Google Shape;303;p10"/>
          <p:cNvSpPr/>
          <p:nvPr/>
        </p:nvSpPr>
        <p:spPr>
          <a:xfrm>
            <a:off x="13099048" y="1514475"/>
            <a:ext cx="4418231" cy="243780"/>
          </a:xfrm>
          <a:prstGeom prst="rect">
            <a:avLst/>
          </a:prstGeom>
          <a:noFill/>
          <a:ln>
            <a:noFill/>
          </a:ln>
        </p:spPr>
        <p:txBody>
          <a:bodyPr anchorCtr="0" anchor="t" bIns="25400" lIns="25400" spcFirstLastPara="1" rIns="25400" wrap="square" tIns="25400">
            <a:noAutofit/>
          </a:bodyPr>
          <a:lstStyle/>
          <a:p>
            <a:pPr indent="0" lvl="0" marL="0" marR="0" rtl="0" algn="ctr">
              <a:lnSpc>
                <a:spcPct val="102857"/>
              </a:lnSpc>
              <a:spcBef>
                <a:spcPts val="0"/>
              </a:spcBef>
              <a:spcAft>
                <a:spcPts val="0"/>
              </a:spcAft>
              <a:buClr>
                <a:srgbClr val="4C5158"/>
              </a:buClr>
              <a:buSzPts val="1350"/>
              <a:buFont typeface="Roboto"/>
              <a:buNone/>
            </a:pPr>
            <a:r>
              <a:rPr b="0" i="0" lang="en-US" sz="1350" u="none" cap="none" strike="noStrike">
                <a:solidFill>
                  <a:srgbClr val="4C5158"/>
                </a:solidFill>
                <a:latin typeface="Roboto"/>
                <a:ea typeface="Roboto"/>
                <a:cs typeface="Roboto"/>
                <a:sym typeface="Roboto"/>
              </a:rPr>
              <a:t>Baga active hiện tại (đạt 50% KR Q3: mục tiêu 63.5%)</a:t>
            </a:r>
            <a:endParaRPr b="0" i="0" sz="1350" u="none" cap="none" strike="noStrike">
              <a:solidFill>
                <a:schemeClr val="dk1"/>
              </a:solidFill>
              <a:latin typeface="Calibri"/>
              <a:ea typeface="Calibri"/>
              <a:cs typeface="Calibri"/>
              <a:sym typeface="Calibri"/>
            </a:endParaRPr>
          </a:p>
        </p:txBody>
      </p:sp>
      <p:sp>
        <p:nvSpPr>
          <p:cNvPr id="304" name="Google Shape;304;p10"/>
          <p:cNvSpPr/>
          <p:nvPr/>
        </p:nvSpPr>
        <p:spPr>
          <a:xfrm>
            <a:off x="762000" y="1967805"/>
            <a:ext cx="16764000" cy="495300"/>
          </a:xfrm>
          <a:prstGeom prst="roundRect">
            <a:avLst>
              <a:gd fmla="val 1923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p:nvPr/>
        </p:nvSpPr>
        <p:spPr>
          <a:xfrm>
            <a:off x="952500" y="2082105"/>
            <a:ext cx="1688592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650"/>
              <a:buFont typeface="Plus Jakarta Sans"/>
              <a:buNone/>
            </a:pPr>
            <a:r>
              <a:rPr b="1" i="0" lang="en-US" sz="1650" u="none" cap="none" strike="noStrike">
                <a:solidFill>
                  <a:srgbClr val="F55F00"/>
                </a:solidFill>
                <a:latin typeface="Plus Jakarta Sans"/>
                <a:ea typeface="Plus Jakarta Sans"/>
                <a:cs typeface="Plus Jakarta Sans"/>
                <a:sym typeface="Plus Jakarta Sans"/>
              </a:rPr>
              <a:t>MỤC TIÊU: </a:t>
            </a:r>
            <a:r>
              <a:rPr b="0" i="0" lang="en-US" sz="1650" u="none" cap="none" strike="noStrike">
                <a:solidFill>
                  <a:srgbClr val="121619"/>
                </a:solidFill>
                <a:highlight>
                  <a:srgbClr val="FFF3EB"/>
                </a:highlight>
                <a:latin typeface="Roboto"/>
                <a:ea typeface="Roboto"/>
                <a:cs typeface="Roboto"/>
                <a:sym typeface="Roboto"/>
              </a:rPr>
              <a:t>≥600 TX HAN + 300 TX SGN tham gia thưởng</a:t>
            </a:r>
            <a:endParaRPr b="0" i="0" sz="1650" u="none" cap="none" strike="noStrike">
              <a:solidFill>
                <a:schemeClr val="dk1"/>
              </a:solidFill>
              <a:latin typeface="Calibri"/>
              <a:ea typeface="Calibri"/>
              <a:cs typeface="Calibri"/>
              <a:sym typeface="Calibri"/>
            </a:endParaRPr>
          </a:p>
        </p:txBody>
      </p:sp>
      <p:sp>
        <p:nvSpPr>
          <p:cNvPr id="306" name="Google Shape;306;p10"/>
          <p:cNvSpPr/>
          <p:nvPr/>
        </p:nvSpPr>
        <p:spPr>
          <a:xfrm>
            <a:off x="762000" y="2596455"/>
            <a:ext cx="8117235" cy="1000125"/>
          </a:xfrm>
          <a:prstGeom prst="roundRect">
            <a:avLst>
              <a:gd fmla="val 11429"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p:nvPr/>
        </p:nvSpPr>
        <p:spPr>
          <a:xfrm>
            <a:off x="933450" y="2729805"/>
            <a:ext cx="8551768"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500"/>
              <a:buFont typeface="Plus Jakarta Sans"/>
              <a:buNone/>
            </a:pPr>
            <a:r>
              <a:rPr b="1" i="0" lang="en-US" sz="1500" u="none" cap="none" strike="noStrike">
                <a:solidFill>
                  <a:srgbClr val="757D86"/>
                </a:solidFill>
                <a:latin typeface="Plus Jakarta Sans"/>
                <a:ea typeface="Plus Jakarta Sans"/>
                <a:cs typeface="Plus Jakarta Sans"/>
                <a:sym typeface="Plus Jakarta Sans"/>
              </a:rPr>
              <a:t>TRƯỚC</a:t>
            </a:r>
            <a:endParaRPr b="0" i="0" sz="1500" u="none" cap="none" strike="noStrike">
              <a:solidFill>
                <a:schemeClr val="dk1"/>
              </a:solidFill>
              <a:latin typeface="Calibri"/>
              <a:ea typeface="Calibri"/>
              <a:cs typeface="Calibri"/>
              <a:sym typeface="Calibri"/>
            </a:endParaRPr>
          </a:p>
        </p:txBody>
      </p:sp>
      <p:sp>
        <p:nvSpPr>
          <p:cNvPr id="308" name="Google Shape;308;p10"/>
          <p:cNvSpPr/>
          <p:nvPr/>
        </p:nvSpPr>
        <p:spPr>
          <a:xfrm>
            <a:off x="933450" y="3006030"/>
            <a:ext cx="8007565"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75"/>
              <a:buFont typeface="Roboto"/>
              <a:buNone/>
            </a:pPr>
            <a:r>
              <a:rPr b="0" i="0" lang="en-US" sz="1575" u="none" cap="none" strike="noStrike">
                <a:solidFill>
                  <a:srgbClr val="121619"/>
                </a:solidFill>
                <a:latin typeface="Roboto"/>
                <a:ea typeface="Roboto"/>
                <a:cs typeface="Roboto"/>
                <a:sym typeface="Roboto"/>
              </a:rPr>
              <a:t>Chưa có chương trình thưởng chuyên biệt cho nhóm baga; tăng trưởng chủ yếu tự nhiên.</a:t>
            </a:r>
            <a:endParaRPr b="0" i="0" sz="1575" u="none" cap="none" strike="noStrike">
              <a:solidFill>
                <a:schemeClr val="dk1"/>
              </a:solidFill>
              <a:latin typeface="Calibri"/>
              <a:ea typeface="Calibri"/>
              <a:cs typeface="Calibri"/>
              <a:sym typeface="Calibri"/>
            </a:endParaRPr>
          </a:p>
        </p:txBody>
      </p:sp>
      <p:sp>
        <p:nvSpPr>
          <p:cNvPr id="309" name="Google Shape;309;p10"/>
          <p:cNvSpPr/>
          <p:nvPr/>
        </p:nvSpPr>
        <p:spPr>
          <a:xfrm>
            <a:off x="9012585" y="2925068"/>
            <a:ext cx="338882"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250"/>
              <a:buFont typeface="Roboto"/>
              <a:buNone/>
            </a:pPr>
            <a:r>
              <a:rPr b="0" i="0" lang="en-US" sz="2250" u="none" cap="none" strike="noStrike">
                <a:solidFill>
                  <a:srgbClr val="FF7F32"/>
                </a:solidFill>
                <a:latin typeface="Roboto"/>
                <a:ea typeface="Roboto"/>
                <a:cs typeface="Roboto"/>
                <a:sym typeface="Roboto"/>
              </a:rPr>
              <a:t>→</a:t>
            </a:r>
            <a:endParaRPr b="0" i="0" sz="2250" u="none" cap="none" strike="noStrike">
              <a:solidFill>
                <a:schemeClr val="dk1"/>
              </a:solidFill>
              <a:latin typeface="Calibri"/>
              <a:ea typeface="Calibri"/>
              <a:cs typeface="Calibri"/>
              <a:sym typeface="Calibri"/>
            </a:endParaRPr>
          </a:p>
        </p:txBody>
      </p:sp>
      <p:sp>
        <p:nvSpPr>
          <p:cNvPr id="310" name="Google Shape;310;p10"/>
          <p:cNvSpPr/>
          <p:nvPr/>
        </p:nvSpPr>
        <p:spPr>
          <a:xfrm>
            <a:off x="9408616" y="2596455"/>
            <a:ext cx="8117384" cy="1000125"/>
          </a:xfrm>
          <a:prstGeom prst="roundRect">
            <a:avLst>
              <a:gd fmla="val 11429"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
          <p:cNvSpPr/>
          <p:nvPr/>
        </p:nvSpPr>
        <p:spPr>
          <a:xfrm>
            <a:off x="9580066" y="2729805"/>
            <a:ext cx="8551932"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SAU</a:t>
            </a:r>
            <a:endParaRPr b="0" i="0" sz="1500" u="none" cap="none" strike="noStrike">
              <a:solidFill>
                <a:schemeClr val="dk1"/>
              </a:solidFill>
              <a:latin typeface="Calibri"/>
              <a:ea typeface="Calibri"/>
              <a:cs typeface="Calibri"/>
              <a:sym typeface="Calibri"/>
            </a:endParaRPr>
          </a:p>
        </p:txBody>
      </p:sp>
      <p:sp>
        <p:nvSpPr>
          <p:cNvPr id="312" name="Google Shape;312;p10"/>
          <p:cNvSpPr/>
          <p:nvPr/>
        </p:nvSpPr>
        <p:spPr>
          <a:xfrm>
            <a:off x="9580066" y="3006030"/>
            <a:ext cx="8007718"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75"/>
              <a:buFont typeface="Roboto"/>
              <a:buNone/>
            </a:pPr>
            <a:r>
              <a:rPr b="0" i="0" lang="en-US" sz="1575" u="none" cap="none" strike="noStrike">
                <a:solidFill>
                  <a:srgbClr val="121619"/>
                </a:solidFill>
                <a:latin typeface="Roboto"/>
                <a:ea typeface="Roboto"/>
                <a:cs typeface="Roboto"/>
                <a:sym typeface="Roboto"/>
              </a:rPr>
              <a:t>Chuỗi thưởng "Trang bị baga - Hoàn tiền thả ga" tại 2 main city, target tối thiểu 600 tài xế HAN + 300 tài xế SGN tham gia.</a:t>
            </a:r>
            <a:endParaRPr b="0" i="0" sz="1575" u="none" cap="none" strike="noStrike">
              <a:solidFill>
                <a:schemeClr val="dk1"/>
              </a:solidFill>
              <a:latin typeface="Calibri"/>
              <a:ea typeface="Calibri"/>
              <a:cs typeface="Calibri"/>
              <a:sym typeface="Calibri"/>
            </a:endParaRPr>
          </a:p>
        </p:txBody>
      </p:sp>
      <p:sp>
        <p:nvSpPr>
          <p:cNvPr id="313" name="Google Shape;313;p10"/>
          <p:cNvSpPr/>
          <p:nvPr/>
        </p:nvSpPr>
        <p:spPr>
          <a:xfrm>
            <a:off x="762000" y="3729930"/>
            <a:ext cx="4999137" cy="5575995"/>
          </a:xfrm>
          <a:prstGeom prst="roundRect">
            <a:avLst>
              <a:gd fmla="val 228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0"/>
          <p:cNvSpPr/>
          <p:nvPr/>
        </p:nvSpPr>
        <p:spPr>
          <a:xfrm>
            <a:off x="942975" y="3891855"/>
            <a:ext cx="5100905"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500"/>
              <a:buFont typeface="Plus Jakarta Sans"/>
              <a:buNone/>
            </a:pPr>
            <a:r>
              <a:rPr b="1" i="0" lang="en-US" sz="1500" u="none" cap="none" strike="noStrike">
                <a:solidFill>
                  <a:srgbClr val="012749"/>
                </a:solidFill>
                <a:latin typeface="Plus Jakarta Sans"/>
                <a:ea typeface="Plus Jakarta Sans"/>
                <a:cs typeface="Plus Jakarta Sans"/>
                <a:sym typeface="Plus Jakarta Sans"/>
              </a:rPr>
              <a:t>ĐÃ LÀM GÌ (T7)</a:t>
            </a:r>
            <a:endParaRPr b="0" i="0" sz="1500" u="none" cap="none" strike="noStrike">
              <a:solidFill>
                <a:schemeClr val="dk1"/>
              </a:solidFill>
              <a:latin typeface="Calibri"/>
              <a:ea typeface="Calibri"/>
              <a:cs typeface="Calibri"/>
              <a:sym typeface="Calibri"/>
            </a:endParaRPr>
          </a:p>
        </p:txBody>
      </p:sp>
      <p:sp>
        <p:nvSpPr>
          <p:cNvPr id="315" name="Google Shape;315;p10"/>
          <p:cNvSpPr/>
          <p:nvPr/>
        </p:nvSpPr>
        <p:spPr>
          <a:xfrm>
            <a:off x="942975" y="4187130"/>
            <a:ext cx="4776302"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Lên kế hoạch chuỗi chương trình thưởng; xác định target tối thiểu tài xế tham gia &amp; nhận thưởng.</a:t>
            </a:r>
            <a:endParaRPr b="0" i="0" sz="1575" u="none" cap="none" strike="noStrike">
              <a:solidFill>
                <a:schemeClr val="dk1"/>
              </a:solidFill>
              <a:latin typeface="Calibri"/>
              <a:ea typeface="Calibri"/>
              <a:cs typeface="Calibri"/>
              <a:sym typeface="Calibri"/>
            </a:endParaRPr>
          </a:p>
        </p:txBody>
      </p:sp>
      <p:sp>
        <p:nvSpPr>
          <p:cNvPr id="316" name="Google Shape;316;p10"/>
          <p:cNvSpPr/>
          <p:nvPr/>
        </p:nvSpPr>
        <p:spPr>
          <a:xfrm>
            <a:off x="5894487" y="3729930"/>
            <a:ext cx="6498878" cy="5575995"/>
          </a:xfrm>
          <a:prstGeom prst="roundRect">
            <a:avLst>
              <a:gd fmla="val 2050"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0"/>
          <p:cNvSpPr/>
          <p:nvPr/>
        </p:nvSpPr>
        <p:spPr>
          <a:xfrm>
            <a:off x="6075462" y="3891855"/>
            <a:ext cx="6750621"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500"/>
              <a:buFont typeface="Plus Jakarta Sans"/>
              <a:buNone/>
            </a:pPr>
            <a:r>
              <a:rPr b="1" i="0" lang="en-US" sz="1500" u="none" cap="none" strike="noStrike">
                <a:solidFill>
                  <a:srgbClr val="F55F00"/>
                </a:solidFill>
                <a:latin typeface="Plus Jakarta Sans"/>
                <a:ea typeface="Plus Jakarta Sans"/>
                <a:cs typeface="Plus Jakarta Sans"/>
                <a:sym typeface="Plus Jakarta Sans"/>
              </a:rPr>
              <a:t>TÁC ĐỘNG</a:t>
            </a:r>
            <a:endParaRPr b="0" i="0" sz="1500" u="none" cap="none" strike="noStrike">
              <a:solidFill>
                <a:schemeClr val="dk1"/>
              </a:solidFill>
              <a:latin typeface="Calibri"/>
              <a:ea typeface="Calibri"/>
              <a:cs typeface="Calibri"/>
              <a:sym typeface="Calibri"/>
            </a:endParaRPr>
          </a:p>
        </p:txBody>
      </p:sp>
      <p:sp>
        <p:nvSpPr>
          <p:cNvPr id="318" name="Google Shape;318;p10"/>
          <p:cNvSpPr/>
          <p:nvPr/>
        </p:nvSpPr>
        <p:spPr>
          <a:xfrm>
            <a:off x="6075462" y="4187130"/>
            <a:ext cx="6321036" cy="7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Dự án đang ở giai đoạn planning, chưa phát sinh actual thực thi. Baga active hiện đạt </a:t>
            </a:r>
            <a:r>
              <a:rPr b="1" i="0" lang="en-US" sz="1575" u="none" cap="none" strike="noStrike">
                <a:solidFill>
                  <a:srgbClr val="4C5158"/>
                </a:solidFill>
                <a:latin typeface="Roboto"/>
                <a:ea typeface="Roboto"/>
                <a:cs typeface="Roboto"/>
                <a:sym typeface="Roboto"/>
              </a:rPr>
              <a:t>68.2% </a:t>
            </a:r>
            <a:r>
              <a:rPr b="0" i="0" lang="en-US" sz="1575" u="none" cap="none" strike="noStrike">
                <a:solidFill>
                  <a:srgbClr val="4C5158"/>
                </a:solidFill>
                <a:latin typeface="Roboto"/>
                <a:ea typeface="Roboto"/>
                <a:cs typeface="Roboto"/>
                <a:sym typeface="Roboto"/>
              </a:rPr>
              <a:t>, cải thiện so với baseline nhưng vẫn cách target Q3 ( </a:t>
            </a:r>
            <a:r>
              <a:rPr b="1" i="0" lang="en-US" sz="1575" u="none" cap="none" strike="noStrike">
                <a:solidFill>
                  <a:srgbClr val="4C5158"/>
                </a:solidFill>
                <a:latin typeface="Roboto"/>
                <a:ea typeface="Roboto"/>
                <a:cs typeface="Roboto"/>
                <a:sym typeface="Roboto"/>
              </a:rPr>
              <a:t>63.5%</a:t>
            </a:r>
            <a:r>
              <a:rPr b="0" i="0" lang="en-US" sz="1575" u="none" cap="none" strike="noStrike">
                <a:solidFill>
                  <a:srgbClr val="4C5158"/>
                </a:solidFill>
                <a:latin typeface="Roboto"/>
                <a:ea typeface="Roboto"/>
                <a:cs typeface="Roboto"/>
                <a:sym typeface="Roboto"/>
              </a:rPr>
              <a:t>).</a:t>
            </a:r>
            <a:endParaRPr b="0" i="0" sz="1575" u="none" cap="none" strike="noStrike">
              <a:solidFill>
                <a:schemeClr val="dk1"/>
              </a:solidFill>
              <a:latin typeface="Calibri"/>
              <a:ea typeface="Calibri"/>
              <a:cs typeface="Calibri"/>
              <a:sym typeface="Calibri"/>
            </a:endParaRPr>
          </a:p>
        </p:txBody>
      </p:sp>
      <p:sp>
        <p:nvSpPr>
          <p:cNvPr id="319" name="Google Shape;319;p10"/>
          <p:cNvSpPr/>
          <p:nvPr/>
        </p:nvSpPr>
        <p:spPr>
          <a:xfrm>
            <a:off x="6075462" y="4930080"/>
            <a:ext cx="6321036"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500"/>
              <a:buFont typeface="Roboto"/>
              <a:buNone/>
            </a:pPr>
            <a:r>
              <a:rPr b="0" i="1" lang="en-US" sz="1500" u="none" cap="none" strike="noStrike">
                <a:solidFill>
                  <a:srgbClr val="757D86"/>
                </a:solidFill>
                <a:latin typeface="Roboto"/>
                <a:ea typeface="Roboto"/>
                <a:cs typeface="Roboto"/>
                <a:sym typeface="Roboto"/>
              </a:rPr>
              <a:t>Cơ chế kỳ vọng: thưởng tài chính trực tiếp tạo động lực ngắn hạn, đặt đúng lúc nhu cầu bulky tăng theo mùa.</a:t>
            </a:r>
            <a:endParaRPr b="0" i="0" sz="1500" u="none" cap="none" strike="noStrike">
              <a:solidFill>
                <a:schemeClr val="dk1"/>
              </a:solidFill>
              <a:latin typeface="Calibri"/>
              <a:ea typeface="Calibri"/>
              <a:cs typeface="Calibri"/>
              <a:sym typeface="Calibri"/>
            </a:endParaRPr>
          </a:p>
        </p:txBody>
      </p:sp>
      <p:sp>
        <p:nvSpPr>
          <p:cNvPr id="320" name="Google Shape;320;p10"/>
          <p:cNvSpPr/>
          <p:nvPr/>
        </p:nvSpPr>
        <p:spPr>
          <a:xfrm>
            <a:off x="12526714" y="3729930"/>
            <a:ext cx="4999286" cy="5575995"/>
          </a:xfrm>
          <a:prstGeom prst="roundRect">
            <a:avLst>
              <a:gd fmla="val 228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0"/>
          <p:cNvSpPr/>
          <p:nvPr/>
        </p:nvSpPr>
        <p:spPr>
          <a:xfrm>
            <a:off x="12707689" y="3891855"/>
            <a:ext cx="5101069"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BƯỚC TIẾP THEO</a:t>
            </a:r>
            <a:endParaRPr b="0" i="0" sz="1500" u="none" cap="none" strike="noStrike">
              <a:solidFill>
                <a:schemeClr val="dk1"/>
              </a:solidFill>
              <a:latin typeface="Calibri"/>
              <a:ea typeface="Calibri"/>
              <a:cs typeface="Calibri"/>
              <a:sym typeface="Calibri"/>
            </a:endParaRPr>
          </a:p>
        </p:txBody>
      </p:sp>
      <p:sp>
        <p:nvSpPr>
          <p:cNvPr id="322" name="Google Shape;322;p10"/>
          <p:cNvSpPr/>
          <p:nvPr/>
        </p:nvSpPr>
        <p:spPr>
          <a:xfrm>
            <a:off x="12707689" y="4187130"/>
            <a:ext cx="4776456" cy="9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Chốt plan &amp; công bố lên nhóm chung Supply (22-24/7); meeting DS hoàn thiện plan truyền thông (26-30/7); PA setup thưởng + flow noti (26/7-10/8); truyền thông tài xế mới (1-14/8).</a:t>
            </a:r>
            <a:endParaRPr b="0" i="0" sz="1575" u="none" cap="none" strike="noStrike">
              <a:solidFill>
                <a:schemeClr val="dk1"/>
              </a:solidFill>
              <a:latin typeface="Calibri"/>
              <a:ea typeface="Calibri"/>
              <a:cs typeface="Calibri"/>
              <a:sym typeface="Calibri"/>
            </a:endParaRPr>
          </a:p>
        </p:txBody>
      </p:sp>
      <p:sp>
        <p:nvSpPr>
          <p:cNvPr id="323" name="Google Shape;323;p10"/>
          <p:cNvSpPr/>
          <p:nvPr/>
        </p:nvSpPr>
        <p:spPr>
          <a:xfrm>
            <a:off x="762000" y="9439275"/>
            <a:ext cx="16764000" cy="428625"/>
          </a:xfrm>
          <a:prstGeom prst="roundRect">
            <a:avLst>
              <a:gd fmla="val 22222"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0"/>
          <p:cNvSpPr/>
          <p:nvPr/>
        </p:nvSpPr>
        <p:spPr>
          <a:xfrm>
            <a:off x="952500" y="9534525"/>
            <a:ext cx="1873344"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00"/>
              <a:buFont typeface="Plus Jakarta Sans"/>
              <a:buNone/>
            </a:pPr>
            <a:r>
              <a:rPr b="1" i="0" lang="en-US" sz="1500" u="none" cap="none" strike="noStrike">
                <a:solidFill>
                  <a:srgbClr val="121619"/>
                </a:solidFill>
                <a:latin typeface="Plus Jakarta Sans"/>
                <a:ea typeface="Plus Jakarta Sans"/>
                <a:cs typeface="Plus Jakarta Sans"/>
                <a:sym typeface="Plus Jakarta Sans"/>
              </a:rPr>
              <a:t>CẦN SUPPORT TỪ:</a:t>
            </a:r>
            <a:endParaRPr b="0" i="0" sz="1500" u="none" cap="none" strike="noStrike">
              <a:solidFill>
                <a:schemeClr val="dk1"/>
              </a:solidFill>
              <a:latin typeface="Calibri"/>
              <a:ea typeface="Calibri"/>
              <a:cs typeface="Calibri"/>
              <a:sym typeface="Calibri"/>
            </a:endParaRPr>
          </a:p>
        </p:txBody>
      </p:sp>
      <p:sp>
        <p:nvSpPr>
          <p:cNvPr id="325" name="Google Shape;325;p10"/>
          <p:cNvSpPr/>
          <p:nvPr/>
        </p:nvSpPr>
        <p:spPr>
          <a:xfrm>
            <a:off x="2769840" y="9539288"/>
            <a:ext cx="8050813"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DS (truyền thông &amp; branding), PA (setup thưởng, flow noti), GR (truyền thông tài xế mới)</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11"/>
          <p:cNvSpPr/>
          <p:nvPr/>
        </p:nvSpPr>
        <p:spPr>
          <a:xfrm>
            <a:off x="762000" y="419100"/>
            <a:ext cx="1216521"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a:off x="952500" y="495300"/>
            <a:ext cx="911721"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MiniHub</a:t>
            </a:r>
            <a:endParaRPr b="0" i="0" sz="1650" u="none" cap="none" strike="noStrike">
              <a:solidFill>
                <a:schemeClr val="dk1"/>
              </a:solidFill>
              <a:latin typeface="Calibri"/>
              <a:ea typeface="Calibri"/>
              <a:cs typeface="Calibri"/>
              <a:sym typeface="Calibri"/>
            </a:endParaRPr>
          </a:p>
        </p:txBody>
      </p:sp>
      <p:sp>
        <p:nvSpPr>
          <p:cNvPr id="333" name="Google Shape;333;p11"/>
          <p:cNvSpPr/>
          <p:nvPr/>
        </p:nvSpPr>
        <p:spPr>
          <a:xfrm>
            <a:off x="2073771" y="419100"/>
            <a:ext cx="651718"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2264271" y="495300"/>
            <a:ext cx="346918"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EV</a:t>
            </a:r>
            <a:endParaRPr b="0" i="0" sz="1650" u="none" cap="none" strike="noStrike">
              <a:solidFill>
                <a:schemeClr val="dk1"/>
              </a:solidFill>
              <a:latin typeface="Calibri"/>
              <a:ea typeface="Calibri"/>
              <a:cs typeface="Calibri"/>
              <a:sym typeface="Calibri"/>
            </a:endParaRPr>
          </a:p>
        </p:txBody>
      </p:sp>
      <p:sp>
        <p:nvSpPr>
          <p:cNvPr id="335" name="Google Shape;335;p11"/>
          <p:cNvSpPr/>
          <p:nvPr/>
        </p:nvSpPr>
        <p:spPr>
          <a:xfrm>
            <a:off x="2820739" y="419100"/>
            <a:ext cx="1507927"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1"/>
          <p:cNvSpPr/>
          <p:nvPr/>
        </p:nvSpPr>
        <p:spPr>
          <a:xfrm>
            <a:off x="3011239" y="495300"/>
            <a:ext cx="1203127"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Baga Bulky</a:t>
            </a:r>
            <a:endParaRPr b="0" i="0" sz="1650" u="none" cap="none" strike="noStrike">
              <a:solidFill>
                <a:schemeClr val="dk1"/>
              </a:solidFill>
              <a:latin typeface="Calibri"/>
              <a:ea typeface="Calibri"/>
              <a:cs typeface="Calibri"/>
              <a:sym typeface="Calibri"/>
            </a:endParaRPr>
          </a:p>
        </p:txBody>
      </p:sp>
      <p:sp>
        <p:nvSpPr>
          <p:cNvPr id="337" name="Google Shape;337;p11"/>
          <p:cNvSpPr/>
          <p:nvPr/>
        </p:nvSpPr>
        <p:spPr>
          <a:xfrm>
            <a:off x="4423916" y="419100"/>
            <a:ext cx="1824186" cy="4191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4614416" y="495300"/>
            <a:ext cx="1519386"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Driver Journey</a:t>
            </a:r>
            <a:endParaRPr b="0" i="0" sz="1650" u="none" cap="none" strike="noStrike">
              <a:solidFill>
                <a:schemeClr val="dk1"/>
              </a:solidFill>
              <a:latin typeface="Calibri"/>
              <a:ea typeface="Calibri"/>
              <a:cs typeface="Calibri"/>
              <a:sym typeface="Calibri"/>
            </a:endParaRPr>
          </a:p>
        </p:txBody>
      </p:sp>
      <p:sp>
        <p:nvSpPr>
          <p:cNvPr id="339" name="Google Shape;339;p11"/>
          <p:cNvSpPr/>
          <p:nvPr/>
        </p:nvSpPr>
        <p:spPr>
          <a:xfrm>
            <a:off x="762000" y="1098203"/>
            <a:ext cx="609600" cy="609600"/>
          </a:xfrm>
          <a:prstGeom prst="roundRect">
            <a:avLst>
              <a:gd fmla="val 21875" name="adj"/>
            </a:avLst>
          </a:prstGeom>
          <a:solidFill>
            <a:srgbClr val="167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723900" y="1098203"/>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950"/>
              <a:buFont typeface="Plus Jakarta Sans"/>
              <a:buNone/>
            </a:pPr>
            <a:r>
              <a:rPr b="1" i="0" lang="en-US" sz="1950" u="none" cap="none" strike="noStrike">
                <a:solidFill>
                  <a:srgbClr val="FFFFFF"/>
                </a:solidFill>
                <a:latin typeface="Plus Jakarta Sans"/>
                <a:ea typeface="Plus Jakarta Sans"/>
                <a:cs typeface="Plus Jakarta Sans"/>
                <a:sym typeface="Plus Jakarta Sans"/>
              </a:rPr>
              <a:t>DJ</a:t>
            </a:r>
            <a:endParaRPr b="0" i="0" sz="1950" u="none" cap="none" strike="noStrike">
              <a:solidFill>
                <a:schemeClr val="dk1"/>
              </a:solidFill>
              <a:latin typeface="Calibri"/>
              <a:ea typeface="Calibri"/>
              <a:cs typeface="Calibri"/>
              <a:sym typeface="Calibri"/>
            </a:endParaRPr>
          </a:p>
        </p:txBody>
      </p:sp>
      <p:sp>
        <p:nvSpPr>
          <p:cNvPr id="341" name="Google Shape;341;p11"/>
          <p:cNvSpPr/>
          <p:nvPr/>
        </p:nvSpPr>
        <p:spPr>
          <a:xfrm>
            <a:off x="1562100" y="1030635"/>
            <a:ext cx="9963123" cy="782836"/>
          </a:xfrm>
          <a:prstGeom prst="rect">
            <a:avLst/>
          </a:prstGeom>
          <a:noFill/>
          <a:ln>
            <a:noFill/>
          </a:ln>
        </p:spPr>
        <p:txBody>
          <a:bodyPr anchorCtr="0" anchor="t" bIns="25400" lIns="25400" spcFirstLastPara="1" rIns="25400" wrap="square" tIns="25400">
            <a:noAutofit/>
          </a:bodyPr>
          <a:lstStyle/>
          <a:p>
            <a:pPr indent="0" lvl="0" marL="0" marR="0" rtl="0" algn="l">
              <a:lnSpc>
                <a:spcPct val="90930"/>
              </a:lnSpc>
              <a:spcBef>
                <a:spcPts val="0"/>
              </a:spcBef>
              <a:spcAft>
                <a:spcPts val="0"/>
              </a:spcAft>
              <a:buClr>
                <a:srgbClr val="121619"/>
              </a:buClr>
              <a:buSzPts val="2550"/>
              <a:buFont typeface="Plus Jakarta Sans"/>
              <a:buNone/>
            </a:pPr>
            <a:r>
              <a:rPr b="1" i="0" lang="en-US" sz="2550" u="none" cap="none" strike="noStrike">
                <a:solidFill>
                  <a:srgbClr val="121619"/>
                </a:solidFill>
                <a:latin typeface="Plus Jakarta Sans"/>
                <a:ea typeface="Plus Jakarta Sans"/>
                <a:cs typeface="Plus Jakarta Sans"/>
                <a:sym typeface="Plus Jakarta Sans"/>
              </a:rPr>
              <a:t>Driver Journey: </a:t>
            </a:r>
            <a:r>
              <a:rPr b="1" i="0" lang="en-US" sz="2550" u="none" cap="none" strike="noStrike">
                <a:solidFill>
                  <a:srgbClr val="4C5158"/>
                </a:solidFill>
                <a:latin typeface="Plus Jakarta Sans"/>
                <a:ea typeface="Plus Jakarta Sans"/>
                <a:cs typeface="Plus Jakarta Sans"/>
                <a:sym typeface="Plus Jakarta Sans"/>
              </a:rPr>
              <a:t>case study chứng minh mô hình onboarding theo giai đoạn đang work</a:t>
            </a:r>
            <a:endParaRPr b="0" i="0" sz="2550" u="none" cap="none" strike="noStrike">
              <a:solidFill>
                <a:schemeClr val="dk1"/>
              </a:solidFill>
              <a:latin typeface="Calibri"/>
              <a:ea typeface="Calibri"/>
              <a:cs typeface="Calibri"/>
              <a:sym typeface="Calibri"/>
            </a:endParaRPr>
          </a:p>
        </p:txBody>
      </p:sp>
      <p:sp>
        <p:nvSpPr>
          <p:cNvPr id="342" name="Google Shape;342;p11"/>
          <p:cNvSpPr/>
          <p:nvPr/>
        </p:nvSpPr>
        <p:spPr>
          <a:xfrm>
            <a:off x="11463635" y="1231553"/>
            <a:ext cx="985242" cy="342900"/>
          </a:xfrm>
          <a:prstGeom prst="roundRect">
            <a:avLst>
              <a:gd fmla="val 50000" name="adj"/>
            </a:avLst>
          </a:prstGeom>
          <a:solidFill>
            <a:srgbClr val="167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1"/>
          <p:cNvSpPr/>
          <p:nvPr/>
        </p:nvSpPr>
        <p:spPr>
          <a:xfrm>
            <a:off x="11616035" y="1274707"/>
            <a:ext cx="7566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 XANH</a:t>
            </a:r>
            <a:endParaRPr b="0" i="0" sz="1500" u="none" cap="none" strike="noStrike">
              <a:solidFill>
                <a:schemeClr val="dk1"/>
              </a:solidFill>
              <a:latin typeface="Calibri"/>
              <a:ea typeface="Calibri"/>
              <a:cs typeface="Calibri"/>
              <a:sym typeface="Calibri"/>
            </a:endParaRPr>
          </a:p>
        </p:txBody>
      </p:sp>
      <p:sp>
        <p:nvSpPr>
          <p:cNvPr id="344" name="Google Shape;344;p11"/>
          <p:cNvSpPr/>
          <p:nvPr/>
        </p:nvSpPr>
        <p:spPr>
          <a:xfrm>
            <a:off x="12601277" y="971550"/>
            <a:ext cx="4924723" cy="862905"/>
          </a:xfrm>
          <a:prstGeom prst="roundRect">
            <a:avLst>
              <a:gd fmla="val 1545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12585546" y="1085850"/>
            <a:ext cx="4956185" cy="466725"/>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2700"/>
              <a:buFont typeface="Plus Jakarta Sans"/>
              <a:buNone/>
            </a:pPr>
            <a:r>
              <a:rPr b="1" i="0" lang="en-US" sz="2700" u="none" cap="none" strike="noStrike">
                <a:solidFill>
                  <a:srgbClr val="167C3F"/>
                </a:solidFill>
                <a:latin typeface="Plus Jakarta Sans"/>
                <a:ea typeface="Plus Jakarta Sans"/>
                <a:cs typeface="Plus Jakarta Sans"/>
                <a:sym typeface="Plus Jakarta Sans"/>
              </a:rPr>
              <a:t>2/9</a:t>
            </a:r>
            <a:endParaRPr b="0" i="0" sz="2700" u="none" cap="none" strike="noStrike">
              <a:solidFill>
                <a:schemeClr val="dk1"/>
              </a:solidFill>
              <a:latin typeface="Calibri"/>
              <a:ea typeface="Calibri"/>
              <a:cs typeface="Calibri"/>
              <a:sym typeface="Calibri"/>
            </a:endParaRPr>
          </a:p>
        </p:txBody>
      </p:sp>
      <p:sp>
        <p:nvSpPr>
          <p:cNvPr id="346" name="Google Shape;346;p11"/>
          <p:cNvSpPr/>
          <p:nvPr/>
        </p:nvSpPr>
        <p:spPr>
          <a:xfrm>
            <a:off x="12585546" y="1514475"/>
            <a:ext cx="4956185" cy="243780"/>
          </a:xfrm>
          <a:prstGeom prst="rect">
            <a:avLst/>
          </a:prstGeom>
          <a:noFill/>
          <a:ln>
            <a:noFill/>
          </a:ln>
        </p:spPr>
        <p:txBody>
          <a:bodyPr anchorCtr="0" anchor="t" bIns="25400" lIns="25400" spcFirstLastPara="1" rIns="25400" wrap="square" tIns="25400">
            <a:noAutofit/>
          </a:bodyPr>
          <a:lstStyle/>
          <a:p>
            <a:pPr indent="0" lvl="0" marL="0" marR="0" rtl="0" algn="ctr">
              <a:lnSpc>
                <a:spcPct val="102857"/>
              </a:lnSpc>
              <a:spcBef>
                <a:spcPts val="0"/>
              </a:spcBef>
              <a:spcAft>
                <a:spcPts val="0"/>
              </a:spcAft>
              <a:buClr>
                <a:srgbClr val="4C5158"/>
              </a:buClr>
              <a:buSzPts val="1350"/>
              <a:buFont typeface="Roboto"/>
              <a:buNone/>
            </a:pPr>
            <a:r>
              <a:rPr b="0" i="0" lang="en-US" sz="1350" u="none" cap="none" strike="noStrike">
                <a:solidFill>
                  <a:srgbClr val="4C5158"/>
                </a:solidFill>
                <a:latin typeface="Roboto"/>
                <a:ea typeface="Roboto"/>
                <a:cs typeface="Roboto"/>
                <a:sym typeface="Roboto"/>
              </a:rPr>
              <a:t>Giai đoạn (D0-D8) đúng tiến độ — dự án duy nhất RAG Xanh</a:t>
            </a:r>
            <a:endParaRPr b="0" i="0" sz="1350" u="none" cap="none" strike="noStrike">
              <a:solidFill>
                <a:schemeClr val="dk1"/>
              </a:solidFill>
              <a:latin typeface="Calibri"/>
              <a:ea typeface="Calibri"/>
              <a:cs typeface="Calibri"/>
              <a:sym typeface="Calibri"/>
            </a:endParaRPr>
          </a:p>
        </p:txBody>
      </p:sp>
      <p:sp>
        <p:nvSpPr>
          <p:cNvPr id="347" name="Google Shape;347;p11"/>
          <p:cNvSpPr/>
          <p:nvPr/>
        </p:nvSpPr>
        <p:spPr>
          <a:xfrm>
            <a:off x="762000" y="1967805"/>
            <a:ext cx="16764000" cy="495300"/>
          </a:xfrm>
          <a:prstGeom prst="roundRect">
            <a:avLst>
              <a:gd fmla="val 1923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952500" y="2082105"/>
            <a:ext cx="1688592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650"/>
              <a:buFont typeface="Plus Jakarta Sans"/>
              <a:buNone/>
            </a:pPr>
            <a:r>
              <a:rPr b="1" i="0" lang="en-US" sz="1650" u="none" cap="none" strike="noStrike">
                <a:solidFill>
                  <a:srgbClr val="F55F00"/>
                </a:solidFill>
                <a:latin typeface="Plus Jakarta Sans"/>
                <a:ea typeface="Plus Jakarta Sans"/>
                <a:cs typeface="Plus Jakarta Sans"/>
                <a:sym typeface="Plus Jakarta Sans"/>
              </a:rPr>
              <a:t>MỤC TIÊU: </a:t>
            </a:r>
            <a:r>
              <a:rPr b="0" i="0" lang="en-US" sz="1650" u="none" cap="none" strike="noStrike">
                <a:solidFill>
                  <a:srgbClr val="121619"/>
                </a:solidFill>
                <a:highlight>
                  <a:srgbClr val="FFF3EB"/>
                </a:highlight>
                <a:latin typeface="Roboto"/>
                <a:ea typeface="Roboto"/>
                <a:cs typeface="Roboto"/>
                <a:sym typeface="Roboto"/>
              </a:rPr>
              <a:t>Hoàn thành D2-D3 trong tháng 8</a:t>
            </a:r>
            <a:endParaRPr b="0" i="0" sz="1650" u="none" cap="none" strike="noStrike">
              <a:solidFill>
                <a:schemeClr val="dk1"/>
              </a:solidFill>
              <a:latin typeface="Calibri"/>
              <a:ea typeface="Calibri"/>
              <a:cs typeface="Calibri"/>
              <a:sym typeface="Calibri"/>
            </a:endParaRPr>
          </a:p>
        </p:txBody>
      </p:sp>
      <p:sp>
        <p:nvSpPr>
          <p:cNvPr id="349" name="Google Shape;349;p11"/>
          <p:cNvSpPr/>
          <p:nvPr/>
        </p:nvSpPr>
        <p:spPr>
          <a:xfrm>
            <a:off x="762000" y="2596455"/>
            <a:ext cx="8117235" cy="1009650"/>
          </a:xfrm>
          <a:prstGeom prst="roundRect">
            <a:avLst>
              <a:gd fmla="val 113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1"/>
          <p:cNvSpPr/>
          <p:nvPr/>
        </p:nvSpPr>
        <p:spPr>
          <a:xfrm>
            <a:off x="933450" y="2729805"/>
            <a:ext cx="8551768"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500"/>
              <a:buFont typeface="Plus Jakarta Sans"/>
              <a:buNone/>
            </a:pPr>
            <a:r>
              <a:rPr b="1" i="0" lang="en-US" sz="1500" u="none" cap="none" strike="noStrike">
                <a:solidFill>
                  <a:srgbClr val="757D86"/>
                </a:solidFill>
                <a:latin typeface="Plus Jakarta Sans"/>
                <a:ea typeface="Plus Jakarta Sans"/>
                <a:cs typeface="Plus Jakarta Sans"/>
                <a:sym typeface="Plus Jakarta Sans"/>
              </a:rPr>
              <a:t>TRƯỚC</a:t>
            </a:r>
            <a:endParaRPr b="0" i="0" sz="1500" u="none" cap="none" strike="noStrike">
              <a:solidFill>
                <a:schemeClr val="dk1"/>
              </a:solidFill>
              <a:latin typeface="Calibri"/>
              <a:ea typeface="Calibri"/>
              <a:cs typeface="Calibri"/>
              <a:sym typeface="Calibri"/>
            </a:endParaRPr>
          </a:p>
        </p:txBody>
      </p:sp>
      <p:sp>
        <p:nvSpPr>
          <p:cNvPr id="351" name="Google Shape;351;p11"/>
          <p:cNvSpPr/>
          <p:nvPr/>
        </p:nvSpPr>
        <p:spPr>
          <a:xfrm>
            <a:off x="933450" y="3006030"/>
            <a:ext cx="8007565" cy="5048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75"/>
              <a:buFont typeface="Roboto"/>
              <a:buNone/>
            </a:pPr>
            <a:r>
              <a:rPr b="0" i="0" lang="en-US" sz="1575" u="none" cap="none" strike="noStrike">
                <a:solidFill>
                  <a:srgbClr val="121619"/>
                </a:solidFill>
                <a:latin typeface="Roboto"/>
                <a:ea typeface="Roboto"/>
                <a:cs typeface="Roboto"/>
                <a:sym typeface="Roboto"/>
              </a:rPr>
              <a:t>Tài xế mới nhận thông tin dồn 1 lần khi onboarding, không phân theo giai đoạn sử dụng thực tế → dễ bỏ sót, dễ phát sinh lỗi thao tác.</a:t>
            </a:r>
            <a:endParaRPr b="0" i="0" sz="1575" u="none" cap="none" strike="noStrike">
              <a:solidFill>
                <a:schemeClr val="dk1"/>
              </a:solidFill>
              <a:latin typeface="Calibri"/>
              <a:ea typeface="Calibri"/>
              <a:cs typeface="Calibri"/>
              <a:sym typeface="Calibri"/>
            </a:endParaRPr>
          </a:p>
        </p:txBody>
      </p:sp>
      <p:sp>
        <p:nvSpPr>
          <p:cNvPr id="352" name="Google Shape;352;p11"/>
          <p:cNvSpPr/>
          <p:nvPr/>
        </p:nvSpPr>
        <p:spPr>
          <a:xfrm>
            <a:off x="9012585" y="2929830"/>
            <a:ext cx="338882"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250"/>
              <a:buFont typeface="Roboto"/>
              <a:buNone/>
            </a:pPr>
            <a:r>
              <a:rPr b="0" i="0" lang="en-US" sz="2250" u="none" cap="none" strike="noStrike">
                <a:solidFill>
                  <a:srgbClr val="FF7F32"/>
                </a:solidFill>
                <a:latin typeface="Roboto"/>
                <a:ea typeface="Roboto"/>
                <a:cs typeface="Roboto"/>
                <a:sym typeface="Roboto"/>
              </a:rPr>
              <a:t>→</a:t>
            </a:r>
            <a:endParaRPr b="0" i="0" sz="2250" u="none" cap="none" strike="noStrike">
              <a:solidFill>
                <a:schemeClr val="dk1"/>
              </a:solidFill>
              <a:latin typeface="Calibri"/>
              <a:ea typeface="Calibri"/>
              <a:cs typeface="Calibri"/>
              <a:sym typeface="Calibri"/>
            </a:endParaRPr>
          </a:p>
        </p:txBody>
      </p:sp>
      <p:sp>
        <p:nvSpPr>
          <p:cNvPr id="353" name="Google Shape;353;p11"/>
          <p:cNvSpPr/>
          <p:nvPr/>
        </p:nvSpPr>
        <p:spPr>
          <a:xfrm>
            <a:off x="9408616" y="2601218"/>
            <a:ext cx="8117384" cy="1000125"/>
          </a:xfrm>
          <a:prstGeom prst="roundRect">
            <a:avLst>
              <a:gd fmla="val 11429"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1"/>
          <p:cNvSpPr/>
          <p:nvPr/>
        </p:nvSpPr>
        <p:spPr>
          <a:xfrm>
            <a:off x="9580066" y="2734568"/>
            <a:ext cx="8551932"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SAU</a:t>
            </a:r>
            <a:endParaRPr b="0" i="0" sz="1500" u="none" cap="none" strike="noStrike">
              <a:solidFill>
                <a:schemeClr val="dk1"/>
              </a:solidFill>
              <a:latin typeface="Calibri"/>
              <a:ea typeface="Calibri"/>
              <a:cs typeface="Calibri"/>
              <a:sym typeface="Calibri"/>
            </a:endParaRPr>
          </a:p>
        </p:txBody>
      </p:sp>
      <p:sp>
        <p:nvSpPr>
          <p:cNvPr id="355" name="Google Shape;355;p11"/>
          <p:cNvSpPr/>
          <p:nvPr/>
        </p:nvSpPr>
        <p:spPr>
          <a:xfrm>
            <a:off x="9580066" y="3010793"/>
            <a:ext cx="8007718"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75"/>
              <a:buFont typeface="Roboto"/>
              <a:buNone/>
            </a:pPr>
            <a:r>
              <a:rPr b="0" i="0" lang="en-US" sz="1575" u="none" cap="none" strike="noStrike">
                <a:solidFill>
                  <a:srgbClr val="121619"/>
                </a:solidFill>
                <a:latin typeface="Roboto"/>
                <a:ea typeface="Roboto"/>
                <a:cs typeface="Roboto"/>
                <a:sym typeface="Roboto"/>
              </a:rPr>
              <a:t>Chia theo vòng đời D0-D8, mỗi giai đoạn 1 nội dung + push notification đúng lúc — D0, D1 đã hoàn thành, D2/D3 đang chuẩn bị.</a:t>
            </a:r>
            <a:endParaRPr b="0" i="0" sz="1575" u="none" cap="none" strike="noStrike">
              <a:solidFill>
                <a:schemeClr val="dk1"/>
              </a:solidFill>
              <a:latin typeface="Calibri"/>
              <a:ea typeface="Calibri"/>
              <a:cs typeface="Calibri"/>
              <a:sym typeface="Calibri"/>
            </a:endParaRPr>
          </a:p>
        </p:txBody>
      </p:sp>
      <p:sp>
        <p:nvSpPr>
          <p:cNvPr id="356" name="Google Shape;356;p11"/>
          <p:cNvSpPr/>
          <p:nvPr/>
        </p:nvSpPr>
        <p:spPr>
          <a:xfrm>
            <a:off x="762000" y="3739455"/>
            <a:ext cx="4999137" cy="5566470"/>
          </a:xfrm>
          <a:prstGeom prst="roundRect">
            <a:avLst>
              <a:gd fmla="val 228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942975" y="3901380"/>
            <a:ext cx="5100905"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500"/>
              <a:buFont typeface="Plus Jakarta Sans"/>
              <a:buNone/>
            </a:pPr>
            <a:r>
              <a:rPr b="1" i="0" lang="en-US" sz="1500" u="none" cap="none" strike="noStrike">
                <a:solidFill>
                  <a:srgbClr val="012749"/>
                </a:solidFill>
                <a:latin typeface="Plus Jakarta Sans"/>
                <a:ea typeface="Plus Jakarta Sans"/>
                <a:cs typeface="Plus Jakarta Sans"/>
                <a:sym typeface="Plus Jakarta Sans"/>
              </a:rPr>
              <a:t>ĐÃ LÀM GÌ (T7)</a:t>
            </a:r>
            <a:endParaRPr b="0" i="0" sz="1500" u="none" cap="none" strike="noStrike">
              <a:solidFill>
                <a:schemeClr val="dk1"/>
              </a:solidFill>
              <a:latin typeface="Calibri"/>
              <a:ea typeface="Calibri"/>
              <a:cs typeface="Calibri"/>
              <a:sym typeface="Calibri"/>
            </a:endParaRPr>
          </a:p>
        </p:txBody>
      </p:sp>
      <p:sp>
        <p:nvSpPr>
          <p:cNvPr id="358" name="Google Shape;358;p11"/>
          <p:cNvSpPr/>
          <p:nvPr/>
        </p:nvSpPr>
        <p:spPr>
          <a:xfrm>
            <a:off x="942975" y="4196655"/>
            <a:ext cx="4776302" cy="7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Hoàn thành D0 (số tiền cần thu ứng), D1 (xử lý huỷ đơn); pilot push notification training D0; hoàn thành video D2, confirm nội dung D3.</a:t>
            </a:r>
            <a:endParaRPr b="0" i="0" sz="1575" u="none" cap="none" strike="noStrike">
              <a:solidFill>
                <a:schemeClr val="dk1"/>
              </a:solidFill>
              <a:latin typeface="Calibri"/>
              <a:ea typeface="Calibri"/>
              <a:cs typeface="Calibri"/>
              <a:sym typeface="Calibri"/>
            </a:endParaRPr>
          </a:p>
        </p:txBody>
      </p:sp>
      <p:sp>
        <p:nvSpPr>
          <p:cNvPr id="359" name="Google Shape;359;p11"/>
          <p:cNvSpPr/>
          <p:nvPr/>
        </p:nvSpPr>
        <p:spPr>
          <a:xfrm>
            <a:off x="5894487" y="3739455"/>
            <a:ext cx="6498878" cy="5566470"/>
          </a:xfrm>
          <a:prstGeom prst="roundRect">
            <a:avLst>
              <a:gd fmla="val 2053"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6075462" y="3901380"/>
            <a:ext cx="6750621"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TÁC ĐỘNG</a:t>
            </a:r>
            <a:endParaRPr b="0" i="0" sz="1500" u="none" cap="none" strike="noStrike">
              <a:solidFill>
                <a:schemeClr val="dk1"/>
              </a:solidFill>
              <a:latin typeface="Calibri"/>
              <a:ea typeface="Calibri"/>
              <a:cs typeface="Calibri"/>
              <a:sym typeface="Calibri"/>
            </a:endParaRPr>
          </a:p>
        </p:txBody>
      </p:sp>
      <p:sp>
        <p:nvSpPr>
          <p:cNvPr id="361" name="Google Shape;361;p11"/>
          <p:cNvSpPr/>
          <p:nvPr/>
        </p:nvSpPr>
        <p:spPr>
          <a:xfrm>
            <a:off x="6075462" y="4196655"/>
            <a:ext cx="6750621"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Đây là dự án </a:t>
            </a:r>
            <a:r>
              <a:rPr b="1" i="0" lang="en-US" sz="1575" u="none" cap="none" strike="noStrike">
                <a:solidFill>
                  <a:srgbClr val="4C5158"/>
                </a:solidFill>
                <a:latin typeface="Roboto"/>
                <a:ea typeface="Roboto"/>
                <a:cs typeface="Roboto"/>
                <a:sym typeface="Roboto"/>
              </a:rPr>
              <a:t>duy nhất đạt RAG Xanh </a:t>
            </a:r>
            <a:r>
              <a:rPr b="0" i="0" lang="en-US" sz="1575" u="none" cap="none" strike="noStrike">
                <a:solidFill>
                  <a:srgbClr val="4C5158"/>
                </a:solidFill>
                <a:latin typeface="Roboto"/>
                <a:ea typeface="Roboto"/>
                <a:cs typeface="Roboto"/>
                <a:sym typeface="Roboto"/>
              </a:rPr>
              <a:t>trong 4 trọng điểm.</a:t>
            </a:r>
            <a:endParaRPr b="0" i="0" sz="1575" u="none" cap="none" strike="noStrike">
              <a:solidFill>
                <a:schemeClr val="dk1"/>
              </a:solidFill>
              <a:latin typeface="Calibri"/>
              <a:ea typeface="Calibri"/>
              <a:cs typeface="Calibri"/>
              <a:sym typeface="Calibri"/>
            </a:endParaRPr>
          </a:p>
        </p:txBody>
      </p:sp>
      <p:sp>
        <p:nvSpPr>
          <p:cNvPr id="362" name="Google Shape;362;p11"/>
          <p:cNvSpPr/>
          <p:nvPr/>
        </p:nvSpPr>
        <p:spPr>
          <a:xfrm>
            <a:off x="6075462" y="4482405"/>
            <a:ext cx="6321036" cy="7239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500"/>
              <a:buFont typeface="Roboto"/>
              <a:buNone/>
            </a:pPr>
            <a:r>
              <a:rPr b="0" i="1" lang="en-US" sz="1500" u="none" cap="none" strike="noStrike">
                <a:solidFill>
                  <a:srgbClr val="757D86"/>
                </a:solidFill>
                <a:latin typeface="Roboto"/>
                <a:ea typeface="Roboto"/>
                <a:cs typeface="Roboto"/>
                <a:sym typeface="Roboto"/>
              </a:rPr>
              <a:t>Cơ chế: chia nội dung theo đúng giai đoạn sử dụng giảm tải nhận thức cho tài xế mới, thay vì dồn thông tin 1 lần lúc onboarding — có thể nhân rộng sang Baga Bulky, EV đang ở giai đoạn thiết kế truyền thông.</a:t>
            </a:r>
            <a:endParaRPr b="0" i="0" sz="1500" u="none" cap="none" strike="noStrike">
              <a:solidFill>
                <a:schemeClr val="dk1"/>
              </a:solidFill>
              <a:latin typeface="Calibri"/>
              <a:ea typeface="Calibri"/>
              <a:cs typeface="Calibri"/>
              <a:sym typeface="Calibri"/>
            </a:endParaRPr>
          </a:p>
        </p:txBody>
      </p:sp>
      <p:sp>
        <p:nvSpPr>
          <p:cNvPr id="363" name="Google Shape;363;p11"/>
          <p:cNvSpPr/>
          <p:nvPr/>
        </p:nvSpPr>
        <p:spPr>
          <a:xfrm>
            <a:off x="12526714" y="3739455"/>
            <a:ext cx="4999286" cy="5566470"/>
          </a:xfrm>
          <a:prstGeom prst="roundRect">
            <a:avLst>
              <a:gd fmla="val 228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12707689" y="3901380"/>
            <a:ext cx="5101069"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BƯỚC TIẾP THEO</a:t>
            </a:r>
            <a:endParaRPr b="0" i="0" sz="1500" u="none" cap="none" strike="noStrike">
              <a:solidFill>
                <a:schemeClr val="dk1"/>
              </a:solidFill>
              <a:latin typeface="Calibri"/>
              <a:ea typeface="Calibri"/>
              <a:cs typeface="Calibri"/>
              <a:sym typeface="Calibri"/>
            </a:endParaRPr>
          </a:p>
        </p:txBody>
      </p:sp>
      <p:sp>
        <p:nvSpPr>
          <p:cNvPr id="365" name="Google Shape;365;p11"/>
          <p:cNvSpPr/>
          <p:nvPr/>
        </p:nvSpPr>
        <p:spPr>
          <a:xfrm>
            <a:off x="12707689" y="4196655"/>
            <a:ext cx="4776456" cy="9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D2 (khiếu nại) đang thu thập thông tin cho nội dung tuần tới; D3 chuẩn bị sản xuất video; cần SP hỗ trợ viết card xác định danh sách tài xế theo từng giai đoạn D0-D2.</a:t>
            </a:r>
            <a:endParaRPr b="0" i="0" sz="1575" u="none" cap="none" strike="noStrike">
              <a:solidFill>
                <a:schemeClr val="dk1"/>
              </a:solidFill>
              <a:latin typeface="Calibri"/>
              <a:ea typeface="Calibri"/>
              <a:cs typeface="Calibri"/>
              <a:sym typeface="Calibri"/>
            </a:endParaRPr>
          </a:p>
        </p:txBody>
      </p:sp>
      <p:sp>
        <p:nvSpPr>
          <p:cNvPr id="366" name="Google Shape;366;p11"/>
          <p:cNvSpPr/>
          <p:nvPr/>
        </p:nvSpPr>
        <p:spPr>
          <a:xfrm>
            <a:off x="762000" y="9439275"/>
            <a:ext cx="16764000" cy="428625"/>
          </a:xfrm>
          <a:prstGeom prst="roundRect">
            <a:avLst>
              <a:gd fmla="val 22222"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952500" y="9534525"/>
            <a:ext cx="1873344"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00"/>
              <a:buFont typeface="Plus Jakarta Sans"/>
              <a:buNone/>
            </a:pPr>
            <a:r>
              <a:rPr b="1" i="0" lang="en-US" sz="1500" u="none" cap="none" strike="noStrike">
                <a:solidFill>
                  <a:srgbClr val="121619"/>
                </a:solidFill>
                <a:latin typeface="Plus Jakarta Sans"/>
                <a:ea typeface="Plus Jakarta Sans"/>
                <a:cs typeface="Plus Jakarta Sans"/>
                <a:sym typeface="Plus Jakarta Sans"/>
              </a:rPr>
              <a:t>CẦN SUPPORT TỪ:</a:t>
            </a:r>
            <a:endParaRPr b="0" i="0" sz="1500" u="none" cap="none" strike="noStrike">
              <a:solidFill>
                <a:schemeClr val="dk1"/>
              </a:solidFill>
              <a:latin typeface="Calibri"/>
              <a:ea typeface="Calibri"/>
              <a:cs typeface="Calibri"/>
              <a:sym typeface="Calibri"/>
            </a:endParaRPr>
          </a:p>
        </p:txBody>
      </p:sp>
      <p:sp>
        <p:nvSpPr>
          <p:cNvPr id="368" name="Google Shape;368;p11"/>
          <p:cNvSpPr/>
          <p:nvPr/>
        </p:nvSpPr>
        <p:spPr>
          <a:xfrm>
            <a:off x="2769840" y="9539288"/>
            <a:ext cx="4648736"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SP (card xác định danh sách tài xế theo giai đoạn)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12"/>
          <p:cNvSpPr/>
          <p:nvPr/>
        </p:nvSpPr>
        <p:spPr>
          <a:xfrm>
            <a:off x="762000" y="495300"/>
            <a:ext cx="18440400"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SO SÁNH CHẾ ĐỘ · 2 DỰ ÁN | Ahamove · Driver Management · Báo cáo T7</a:t>
            </a:r>
            <a:endParaRPr b="0" i="0" sz="1800" u="none" cap="none" strike="noStrike">
              <a:solidFill>
                <a:schemeClr val="dk1"/>
              </a:solidFill>
              <a:latin typeface="Calibri"/>
              <a:ea typeface="Calibri"/>
              <a:cs typeface="Calibri"/>
              <a:sym typeface="Calibri"/>
            </a:endParaRPr>
          </a:p>
        </p:txBody>
      </p:sp>
      <p:sp>
        <p:nvSpPr>
          <p:cNvPr id="375" name="Google Shape;375;p12"/>
          <p:cNvSpPr/>
          <p:nvPr/>
        </p:nvSpPr>
        <p:spPr>
          <a:xfrm>
            <a:off x="762000" y="838200"/>
            <a:ext cx="18440400" cy="4857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MiniHub cần dừng lại đánh giá, Driver Journey đã sẵn sàng nhân rộng</a:t>
            </a:r>
            <a:endParaRPr b="0" i="0" sz="2850" u="none" cap="none" strike="noStrike">
              <a:solidFill>
                <a:schemeClr val="dk1"/>
              </a:solidFill>
              <a:latin typeface="Calibri"/>
              <a:ea typeface="Calibri"/>
              <a:cs typeface="Calibri"/>
              <a:sym typeface="Calibri"/>
            </a:endParaRPr>
          </a:p>
        </p:txBody>
      </p:sp>
      <p:sp>
        <p:nvSpPr>
          <p:cNvPr id="376" name="Google Shape;376;p12"/>
          <p:cNvSpPr/>
          <p:nvPr/>
        </p:nvSpPr>
        <p:spPr>
          <a:xfrm>
            <a:off x="762000" y="1381125"/>
            <a:ext cx="16764000" cy="800100"/>
          </a:xfrm>
          <a:prstGeom prst="roundRect">
            <a:avLst>
              <a:gd fmla="val 11905"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7" name="Google Shape;377;p12"/>
          <p:cNvPicPr preferRelativeResize="0"/>
          <p:nvPr/>
        </p:nvPicPr>
        <p:blipFill rotWithShape="1">
          <a:blip r:embed="rId3">
            <a:alphaModFix/>
          </a:blip>
          <a:srcRect b="0" l="0" r="0" t="0"/>
          <a:stretch/>
        </p:blipFill>
        <p:spPr>
          <a:xfrm>
            <a:off x="952500" y="1562100"/>
            <a:ext cx="209550" cy="209550"/>
          </a:xfrm>
          <a:prstGeom prst="rect">
            <a:avLst/>
          </a:prstGeom>
          <a:noFill/>
          <a:ln>
            <a:noFill/>
          </a:ln>
        </p:spPr>
      </p:pic>
      <p:sp>
        <p:nvSpPr>
          <p:cNvPr id="378" name="Google Shape;378;p12"/>
          <p:cNvSpPr/>
          <p:nvPr/>
        </p:nvSpPr>
        <p:spPr>
          <a:xfrm>
            <a:off x="952500" y="1495425"/>
            <a:ext cx="1404193"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379" name="Google Shape;379;p12"/>
          <p:cNvSpPr/>
          <p:nvPr/>
        </p:nvSpPr>
        <p:spPr>
          <a:xfrm>
            <a:off x="2599879" y="1514475"/>
            <a:ext cx="14788326"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Cùng là dự án vận hành nhưng đang ở 2 giai đoạn vòng đời khác nhau — MiniHub cần chứng minh ROI trước khi mở rộng, Driver Journey đã có bằng chứng để chuyển giao cách làm sang dự án khác.</a:t>
            </a:r>
            <a:endParaRPr b="0" i="0" sz="1800" u="none" cap="none" strike="noStrike">
              <a:solidFill>
                <a:schemeClr val="dk1"/>
              </a:solidFill>
              <a:latin typeface="Calibri"/>
              <a:ea typeface="Calibri"/>
              <a:cs typeface="Calibri"/>
              <a:sym typeface="Calibri"/>
            </a:endParaRPr>
          </a:p>
        </p:txBody>
      </p:sp>
      <p:sp>
        <p:nvSpPr>
          <p:cNvPr id="380" name="Google Shape;380;p12"/>
          <p:cNvSpPr/>
          <p:nvPr/>
        </p:nvSpPr>
        <p:spPr>
          <a:xfrm>
            <a:off x="762000" y="2333625"/>
            <a:ext cx="8267700" cy="6419850"/>
          </a:xfrm>
          <a:prstGeom prst="roundRect">
            <a:avLst>
              <a:gd fmla="val 2374"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2"/>
          <p:cNvSpPr/>
          <p:nvPr/>
        </p:nvSpPr>
        <p:spPr>
          <a:xfrm>
            <a:off x="1009650" y="2581275"/>
            <a:ext cx="854964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MiniHub</a:t>
            </a:r>
            <a:endParaRPr b="0" i="0" sz="2100" u="none" cap="none" strike="noStrike">
              <a:solidFill>
                <a:schemeClr val="dk1"/>
              </a:solidFill>
              <a:latin typeface="Calibri"/>
              <a:ea typeface="Calibri"/>
              <a:cs typeface="Calibri"/>
              <a:sym typeface="Calibri"/>
            </a:endParaRPr>
          </a:p>
        </p:txBody>
      </p:sp>
      <p:sp>
        <p:nvSpPr>
          <p:cNvPr id="382" name="Google Shape;382;p12"/>
          <p:cNvSpPr/>
          <p:nvPr/>
        </p:nvSpPr>
        <p:spPr>
          <a:xfrm>
            <a:off x="1009650" y="3048000"/>
            <a:ext cx="854964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Chất lượng vận hành tốt, quy mô chưa rõ ROI</a:t>
            </a:r>
            <a:endParaRPr b="0" i="0" sz="1800" u="none" cap="none" strike="noStrike">
              <a:solidFill>
                <a:schemeClr val="dk1"/>
              </a:solidFill>
              <a:latin typeface="Calibri"/>
              <a:ea typeface="Calibri"/>
              <a:cs typeface="Calibri"/>
              <a:sym typeface="Calibri"/>
            </a:endParaRPr>
          </a:p>
        </p:txBody>
      </p:sp>
      <p:sp>
        <p:nvSpPr>
          <p:cNvPr id="383" name="Google Shape;383;p12"/>
          <p:cNvSpPr/>
          <p:nvPr/>
        </p:nvSpPr>
        <p:spPr>
          <a:xfrm>
            <a:off x="1065848" y="3448050"/>
            <a:ext cx="7792403" cy="923925"/>
          </a:xfrm>
          <a:prstGeom prst="rect">
            <a:avLst/>
          </a:prstGeom>
          <a:noFill/>
          <a:ln>
            <a:noFill/>
          </a:ln>
        </p:spPr>
        <p:txBody>
          <a:bodyPr anchorCtr="0" anchor="t" bIns="25400" lIns="25400" spcFirstLastPara="1" rIns="25400" wrap="square" tIns="25400">
            <a:noAutofit/>
          </a:bodyPr>
          <a:lstStyle/>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Volume mới đạt 36% KR Q3, cần đánh giá PnL trước khi quyết định scale thêm</a:t>
            </a:r>
            <a:endParaRPr b="0" i="0" sz="1725" u="none" cap="none" strike="noStrike">
              <a:solidFill>
                <a:schemeClr val="dk1"/>
              </a:solidFill>
              <a:latin typeface="Calibri"/>
              <a:ea typeface="Calibri"/>
              <a:cs typeface="Calibri"/>
              <a:sym typeface="Calibri"/>
            </a:endParaRPr>
          </a:p>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Retention giảm ở đúng những zone mới mở (Z24, Thanh Xuân)</a:t>
            </a:r>
            <a:endParaRPr b="0" i="0" sz="1725" u="none" cap="none" strike="noStrike">
              <a:solidFill>
                <a:schemeClr val="dk1"/>
              </a:solidFill>
              <a:latin typeface="Calibri"/>
              <a:ea typeface="Calibri"/>
              <a:cs typeface="Calibri"/>
              <a:sym typeface="Calibri"/>
            </a:endParaRPr>
          </a:p>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Rủi ro: tiếp tục scale khi chưa rõ hiệu quả tài chính</a:t>
            </a:r>
            <a:endParaRPr b="0" i="0" sz="1725" u="none" cap="none" strike="noStrike">
              <a:solidFill>
                <a:schemeClr val="dk1"/>
              </a:solidFill>
              <a:latin typeface="Calibri"/>
              <a:ea typeface="Calibri"/>
              <a:cs typeface="Calibri"/>
              <a:sym typeface="Calibri"/>
            </a:endParaRPr>
          </a:p>
        </p:txBody>
      </p:sp>
      <p:sp>
        <p:nvSpPr>
          <p:cNvPr id="384" name="Google Shape;384;p12"/>
          <p:cNvSpPr/>
          <p:nvPr/>
        </p:nvSpPr>
        <p:spPr>
          <a:xfrm>
            <a:off x="1009650" y="7686675"/>
            <a:ext cx="2120057" cy="457200"/>
          </a:xfrm>
          <a:prstGeom prst="roundRect">
            <a:avLst>
              <a:gd fmla="val 16667"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2"/>
          <p:cNvSpPr/>
          <p:nvPr/>
        </p:nvSpPr>
        <p:spPr>
          <a:xfrm>
            <a:off x="1200150" y="7781925"/>
            <a:ext cx="1815257"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CHẾ ĐỘ: REVIEW</a:t>
            </a:r>
            <a:endParaRPr b="0" i="0" sz="1650" u="none" cap="none" strike="noStrike">
              <a:solidFill>
                <a:schemeClr val="dk1"/>
              </a:solidFill>
              <a:latin typeface="Calibri"/>
              <a:ea typeface="Calibri"/>
              <a:cs typeface="Calibri"/>
              <a:sym typeface="Calibri"/>
            </a:endParaRPr>
          </a:p>
        </p:txBody>
      </p:sp>
      <p:sp>
        <p:nvSpPr>
          <p:cNvPr id="386" name="Google Shape;386;p12"/>
          <p:cNvSpPr/>
          <p:nvPr/>
        </p:nvSpPr>
        <p:spPr>
          <a:xfrm>
            <a:off x="1009650" y="8277225"/>
            <a:ext cx="854964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Tạm dừng đánh giá trước khi mở rộng</a:t>
            </a:r>
            <a:endParaRPr b="0" i="0" sz="1575" u="none" cap="none" strike="noStrike">
              <a:solidFill>
                <a:schemeClr val="dk1"/>
              </a:solidFill>
              <a:latin typeface="Calibri"/>
              <a:ea typeface="Calibri"/>
              <a:cs typeface="Calibri"/>
              <a:sym typeface="Calibri"/>
            </a:endParaRPr>
          </a:p>
        </p:txBody>
      </p:sp>
      <p:sp>
        <p:nvSpPr>
          <p:cNvPr id="387" name="Google Shape;387;p12"/>
          <p:cNvSpPr/>
          <p:nvPr/>
        </p:nvSpPr>
        <p:spPr>
          <a:xfrm>
            <a:off x="9258300" y="2333625"/>
            <a:ext cx="8267700" cy="6419850"/>
          </a:xfrm>
          <a:prstGeom prst="roundRect">
            <a:avLst>
              <a:gd fmla="val 237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2"/>
          <p:cNvSpPr/>
          <p:nvPr/>
        </p:nvSpPr>
        <p:spPr>
          <a:xfrm>
            <a:off x="9505950" y="2581275"/>
            <a:ext cx="854964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Driver Journey</a:t>
            </a:r>
            <a:endParaRPr b="0" i="0" sz="2100" u="none" cap="none" strike="noStrike">
              <a:solidFill>
                <a:schemeClr val="dk1"/>
              </a:solidFill>
              <a:latin typeface="Calibri"/>
              <a:ea typeface="Calibri"/>
              <a:cs typeface="Calibri"/>
              <a:sym typeface="Calibri"/>
            </a:endParaRPr>
          </a:p>
        </p:txBody>
      </p:sp>
      <p:sp>
        <p:nvSpPr>
          <p:cNvPr id="389" name="Google Shape;389;p12"/>
          <p:cNvSpPr/>
          <p:nvPr/>
        </p:nvSpPr>
        <p:spPr>
          <a:xfrm>
            <a:off x="9505950" y="3048000"/>
            <a:ext cx="854964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Case study đã chứng minh hiệu quả</a:t>
            </a:r>
            <a:endParaRPr b="0" i="0" sz="1800" u="none" cap="none" strike="noStrike">
              <a:solidFill>
                <a:schemeClr val="dk1"/>
              </a:solidFill>
              <a:latin typeface="Calibri"/>
              <a:ea typeface="Calibri"/>
              <a:cs typeface="Calibri"/>
              <a:sym typeface="Calibri"/>
            </a:endParaRPr>
          </a:p>
        </p:txBody>
      </p:sp>
      <p:sp>
        <p:nvSpPr>
          <p:cNvPr id="390" name="Google Shape;390;p12"/>
          <p:cNvSpPr/>
          <p:nvPr/>
        </p:nvSpPr>
        <p:spPr>
          <a:xfrm>
            <a:off x="9562148" y="3448050"/>
            <a:ext cx="7792403" cy="923925"/>
          </a:xfrm>
          <a:prstGeom prst="rect">
            <a:avLst/>
          </a:prstGeom>
          <a:noFill/>
          <a:ln>
            <a:noFill/>
          </a:ln>
        </p:spPr>
        <p:txBody>
          <a:bodyPr anchorCtr="0" anchor="t" bIns="25400" lIns="25400" spcFirstLastPara="1" rIns="25400" wrap="square" tIns="25400">
            <a:noAutofit/>
          </a:bodyPr>
          <a:lstStyle/>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D0, D1 hoàn thành đúng tiến độ — dự án duy nhất RAG Xanh tháng 7</a:t>
            </a:r>
            <a:endParaRPr b="0" i="0" sz="1725" u="none" cap="none" strike="noStrike">
              <a:solidFill>
                <a:schemeClr val="dk1"/>
              </a:solidFill>
              <a:latin typeface="Calibri"/>
              <a:ea typeface="Calibri"/>
              <a:cs typeface="Calibri"/>
              <a:sym typeface="Calibri"/>
            </a:endParaRPr>
          </a:p>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Giảm lỗi thao tác nhờ đúng nội dung, đúng giai đoạn onboarding</a:t>
            </a:r>
            <a:endParaRPr b="0" i="0" sz="1725" u="none" cap="none" strike="noStrike">
              <a:solidFill>
                <a:schemeClr val="dk1"/>
              </a:solidFill>
              <a:latin typeface="Calibri"/>
              <a:ea typeface="Calibri"/>
              <a:cs typeface="Calibri"/>
              <a:sym typeface="Calibri"/>
            </a:endParaRPr>
          </a:p>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Cơ hội: chuyển giao cách tiếp cận sang Baga Bulky, EV</a:t>
            </a:r>
            <a:endParaRPr b="0" i="0" sz="1725" u="none" cap="none" strike="noStrike">
              <a:solidFill>
                <a:schemeClr val="dk1"/>
              </a:solidFill>
              <a:latin typeface="Calibri"/>
              <a:ea typeface="Calibri"/>
              <a:cs typeface="Calibri"/>
              <a:sym typeface="Calibri"/>
            </a:endParaRPr>
          </a:p>
        </p:txBody>
      </p:sp>
      <p:sp>
        <p:nvSpPr>
          <p:cNvPr id="391" name="Google Shape;391;p12"/>
          <p:cNvSpPr/>
          <p:nvPr/>
        </p:nvSpPr>
        <p:spPr>
          <a:xfrm>
            <a:off x="9505950" y="7686675"/>
            <a:ext cx="1999357" cy="457200"/>
          </a:xfrm>
          <a:prstGeom prst="roundRect">
            <a:avLst>
              <a:gd fmla="val 16667" name="adj"/>
            </a:avLst>
          </a:prstGeom>
          <a:solidFill>
            <a:srgbClr val="167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9696450" y="7781925"/>
            <a:ext cx="1694557"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CHẾ ĐỘ: SCALE</a:t>
            </a:r>
            <a:endParaRPr b="0" i="0" sz="1650" u="none" cap="none" strike="noStrike">
              <a:solidFill>
                <a:schemeClr val="dk1"/>
              </a:solidFill>
              <a:latin typeface="Calibri"/>
              <a:ea typeface="Calibri"/>
              <a:cs typeface="Calibri"/>
              <a:sym typeface="Calibri"/>
            </a:endParaRPr>
          </a:p>
        </p:txBody>
      </p:sp>
      <p:sp>
        <p:nvSpPr>
          <p:cNvPr id="393" name="Google Shape;393;p12"/>
          <p:cNvSpPr/>
          <p:nvPr/>
        </p:nvSpPr>
        <p:spPr>
          <a:xfrm>
            <a:off x="9505950" y="8277225"/>
            <a:ext cx="854964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Nhân rộng cách làm sang dự án khác</a:t>
            </a:r>
            <a:endParaRPr b="0" i="0" sz="1575" u="none" cap="none" strike="noStrike">
              <a:solidFill>
                <a:schemeClr val="dk1"/>
              </a:solidFill>
              <a:latin typeface="Calibri"/>
              <a:ea typeface="Calibri"/>
              <a:cs typeface="Calibri"/>
              <a:sym typeface="Calibri"/>
            </a:endParaRPr>
          </a:p>
        </p:txBody>
      </p:sp>
      <p:sp>
        <p:nvSpPr>
          <p:cNvPr id="394" name="Google Shape;394;p12"/>
          <p:cNvSpPr/>
          <p:nvPr/>
        </p:nvSpPr>
        <p:spPr>
          <a:xfrm>
            <a:off x="762000" y="8905875"/>
            <a:ext cx="16764000" cy="885825"/>
          </a:xfrm>
          <a:prstGeom prst="roundRect">
            <a:avLst>
              <a:gd fmla="val 15054" name="adj"/>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990600" y="9077325"/>
            <a:ext cx="16809720" cy="5810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725"/>
              <a:buFont typeface="Plus Jakarta Sans"/>
              <a:buNone/>
            </a:pPr>
            <a:r>
              <a:rPr b="1" i="0" lang="en-US" sz="1725" u="none" cap="none" strike="noStrike">
                <a:solidFill>
                  <a:srgbClr val="012749"/>
                </a:solidFill>
                <a:latin typeface="Plus Jakarta Sans"/>
                <a:ea typeface="Plus Jakarta Sans"/>
                <a:cs typeface="Plus Jakarta Sans"/>
                <a:sym typeface="Plus Jakarta Sans"/>
              </a:rPr>
              <a:t>Bài học chuyển giao: </a:t>
            </a:r>
            <a:r>
              <a:rPr b="0" i="0" lang="en-US" sz="1725" u="none" cap="none" strike="noStrike">
                <a:solidFill>
                  <a:srgbClr val="121619"/>
                </a:solidFill>
                <a:highlight>
                  <a:srgbClr val="E4F2FF"/>
                </a:highlight>
                <a:latin typeface="Roboto"/>
                <a:ea typeface="Roboto"/>
                <a:cs typeface="Roboto"/>
                <a:sym typeface="Roboto"/>
              </a:rPr>
              <a:t>Cách tiếp cận "đúng nội dung, đúng giai đoạn" của Driver Journey có thể áp dụng cho truyền thông theo giai đoạn tham gia thưởng của Baga Bulky, và truyền thông onboarding tài xế mới khi MiniHub scale trở lại.</a:t>
            </a:r>
            <a:endParaRPr b="0" i="0" sz="1725"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 name="Shape 400"/>
        <p:cNvGrpSpPr/>
        <p:nvPr/>
      </p:nvGrpSpPr>
      <p:grpSpPr>
        <a:xfrm>
          <a:off x="0" y="0"/>
          <a:ext cx="0" cy="0"/>
          <a:chOff x="0" y="0"/>
          <a:chExt cx="0" cy="0"/>
        </a:xfrm>
      </p:grpSpPr>
      <p:sp>
        <p:nvSpPr>
          <p:cNvPr id="401" name="Google Shape;401;p13"/>
          <p:cNvSpPr/>
          <p:nvPr/>
        </p:nvSpPr>
        <p:spPr>
          <a:xfrm>
            <a:off x="762000" y="457200"/>
            <a:ext cx="18440400"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RISK &amp; ACTION · TỔNG HỢP | Ahamove · Driver Management · Báo cáo T7</a:t>
            </a:r>
            <a:endParaRPr b="0" i="0" sz="1800" u="none" cap="none" strike="noStrike">
              <a:solidFill>
                <a:schemeClr val="dk1"/>
              </a:solidFill>
              <a:latin typeface="Calibri"/>
              <a:ea typeface="Calibri"/>
              <a:cs typeface="Calibri"/>
              <a:sym typeface="Calibri"/>
            </a:endParaRPr>
          </a:p>
        </p:txBody>
      </p:sp>
      <p:sp>
        <p:nvSpPr>
          <p:cNvPr id="402" name="Google Shape;402;p13"/>
          <p:cNvSpPr/>
          <p:nvPr/>
        </p:nvSpPr>
        <p:spPr>
          <a:xfrm>
            <a:off x="762000" y="800100"/>
            <a:ext cx="18440400" cy="4667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6 rủi ro đang mở, mỗi rủi ro có đúng 1 owner</a:t>
            </a:r>
            <a:endParaRPr b="0" i="0" sz="2700" u="none" cap="none" strike="noStrike">
              <a:solidFill>
                <a:schemeClr val="dk1"/>
              </a:solidFill>
              <a:latin typeface="Calibri"/>
              <a:ea typeface="Calibri"/>
              <a:cs typeface="Calibri"/>
              <a:sym typeface="Calibri"/>
            </a:endParaRPr>
          </a:p>
        </p:txBody>
      </p:sp>
      <p:sp>
        <p:nvSpPr>
          <p:cNvPr id="403" name="Google Shape;403;p13"/>
          <p:cNvSpPr/>
          <p:nvPr/>
        </p:nvSpPr>
        <p:spPr>
          <a:xfrm>
            <a:off x="762000" y="1304925"/>
            <a:ext cx="16764000" cy="457200"/>
          </a:xfrm>
          <a:prstGeom prst="roundRect">
            <a:avLst>
              <a:gd fmla="val 20833"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4" name="Google Shape;404;p13"/>
          <p:cNvPicPr preferRelativeResize="0"/>
          <p:nvPr/>
        </p:nvPicPr>
        <p:blipFill rotWithShape="1">
          <a:blip r:embed="rId3">
            <a:alphaModFix/>
          </a:blip>
          <a:srcRect b="0" l="0" r="0" t="0"/>
          <a:stretch/>
        </p:blipFill>
        <p:spPr>
          <a:xfrm>
            <a:off x="952500" y="1466850"/>
            <a:ext cx="190500" cy="190500"/>
          </a:xfrm>
          <a:prstGeom prst="rect">
            <a:avLst/>
          </a:prstGeom>
          <a:noFill/>
          <a:ln>
            <a:noFill/>
          </a:ln>
        </p:spPr>
      </p:pic>
      <p:sp>
        <p:nvSpPr>
          <p:cNvPr id="405" name="Google Shape;405;p13"/>
          <p:cNvSpPr/>
          <p:nvPr/>
        </p:nvSpPr>
        <p:spPr>
          <a:xfrm>
            <a:off x="1199108" y="1400175"/>
            <a:ext cx="1735931"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650"/>
              <a:buFont typeface="Plus Jakarta Sans"/>
              <a:buNone/>
            </a:pPr>
            <a:r>
              <a:rPr b="1" i="0" lang="en-US" sz="1650" u="none" cap="none" strike="noStrike">
                <a:solidFill>
                  <a:srgbClr val="F55F00"/>
                </a:solidFill>
                <a:latin typeface="Plus Jakarta Sans"/>
                <a:ea typeface="Plus Jakarta Sans"/>
                <a:cs typeface="Plus Jakarta Sans"/>
                <a:sym typeface="Plus Jakarta Sans"/>
              </a:rPr>
              <a:t>KEY TAKEAWAY:</a:t>
            </a:r>
            <a:endParaRPr b="0" i="0" sz="1650" u="none" cap="none" strike="noStrike">
              <a:solidFill>
                <a:schemeClr val="dk1"/>
              </a:solidFill>
              <a:latin typeface="Calibri"/>
              <a:ea typeface="Calibri"/>
              <a:cs typeface="Calibri"/>
              <a:sym typeface="Calibri"/>
            </a:endParaRPr>
          </a:p>
        </p:txBody>
      </p:sp>
      <p:sp>
        <p:nvSpPr>
          <p:cNvPr id="406" name="Google Shape;406;p13"/>
          <p:cNvSpPr/>
          <p:nvPr/>
        </p:nvSpPr>
        <p:spPr>
          <a:xfrm>
            <a:off x="2973139" y="1414463"/>
            <a:ext cx="12898837" cy="276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Gộp toàn bộ next action/issue rải rác theo từng dự án về 1 bảng duy nhất — không để trạng thái chung chung kiểu "cả team đang xử lý".</a:t>
            </a:r>
            <a:endParaRPr b="0" i="0" sz="1650" u="none" cap="none" strike="noStrike">
              <a:solidFill>
                <a:schemeClr val="dk1"/>
              </a:solidFill>
              <a:latin typeface="Calibri"/>
              <a:ea typeface="Calibri"/>
              <a:cs typeface="Calibri"/>
              <a:sym typeface="Calibri"/>
            </a:endParaRPr>
          </a:p>
        </p:txBody>
      </p:sp>
      <p:sp>
        <p:nvSpPr>
          <p:cNvPr id="407" name="Google Shape;407;p13"/>
          <p:cNvSpPr/>
          <p:nvPr/>
        </p:nvSpPr>
        <p:spPr>
          <a:xfrm>
            <a:off x="762000" y="1895475"/>
            <a:ext cx="16764000" cy="428625"/>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3"/>
          <p:cNvSpPr/>
          <p:nvPr/>
        </p:nvSpPr>
        <p:spPr>
          <a:xfrm>
            <a:off x="895350" y="1990725"/>
            <a:ext cx="5258592" cy="2762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500"/>
              <a:buFont typeface="Plus Jakarta Sans"/>
              <a:buNone/>
            </a:pPr>
            <a:r>
              <a:rPr b="1" i="0" lang="en-US" sz="1500" u="none" cap="none" strike="noStrike">
                <a:solidFill>
                  <a:srgbClr val="FFFFFF"/>
                </a:solidFill>
                <a:latin typeface="Plus Jakarta Sans"/>
                <a:ea typeface="Plus Jakarta Sans"/>
                <a:cs typeface="Plus Jakarta Sans"/>
                <a:sym typeface="Plus Jakarta Sans"/>
              </a:rPr>
              <a:t>RỦI RO / ISSUE</a:t>
            </a:r>
            <a:endParaRPr b="0" i="0" sz="1500" u="none" cap="none" strike="noStrike">
              <a:solidFill>
                <a:schemeClr val="dk1"/>
              </a:solidFill>
              <a:latin typeface="Calibri"/>
              <a:ea typeface="Calibri"/>
              <a:cs typeface="Calibri"/>
              <a:sym typeface="Calibri"/>
            </a:endParaRPr>
          </a:p>
        </p:txBody>
      </p:sp>
      <p:sp>
        <p:nvSpPr>
          <p:cNvPr id="409" name="Google Shape;409;p13"/>
          <p:cNvSpPr/>
          <p:nvPr/>
        </p:nvSpPr>
        <p:spPr>
          <a:xfrm>
            <a:off x="6221611" y="1990725"/>
            <a:ext cx="1318171" cy="27622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500"/>
              <a:buFont typeface="Plus Jakarta Sans"/>
              <a:buNone/>
            </a:pPr>
            <a:r>
              <a:rPr b="1" i="0" lang="en-US" sz="1500" u="none" cap="none" strike="noStrike">
                <a:solidFill>
                  <a:srgbClr val="FFFFFF"/>
                </a:solidFill>
                <a:latin typeface="Plus Jakarta Sans"/>
                <a:ea typeface="Plus Jakarta Sans"/>
                <a:cs typeface="Plus Jakarta Sans"/>
                <a:sym typeface="Plus Jakarta Sans"/>
              </a:rPr>
              <a:t>KHẢ NĂNG</a:t>
            </a:r>
            <a:endParaRPr b="0" i="0" sz="1500" u="none" cap="none" strike="noStrike">
              <a:solidFill>
                <a:schemeClr val="dk1"/>
              </a:solidFill>
              <a:latin typeface="Calibri"/>
              <a:ea typeface="Calibri"/>
              <a:cs typeface="Calibri"/>
              <a:sym typeface="Calibri"/>
            </a:endParaRPr>
          </a:p>
        </p:txBody>
      </p:sp>
      <p:sp>
        <p:nvSpPr>
          <p:cNvPr id="410" name="Google Shape;410;p13"/>
          <p:cNvSpPr/>
          <p:nvPr/>
        </p:nvSpPr>
        <p:spPr>
          <a:xfrm>
            <a:off x="7730282" y="1990725"/>
            <a:ext cx="1318171" cy="27622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500"/>
              <a:buFont typeface="Plus Jakarta Sans"/>
              <a:buNone/>
            </a:pPr>
            <a:r>
              <a:rPr b="1" i="0" lang="en-US" sz="1500" u="none" cap="none" strike="noStrike">
                <a:solidFill>
                  <a:srgbClr val="FFFFFF"/>
                </a:solidFill>
                <a:latin typeface="Plus Jakarta Sans"/>
                <a:ea typeface="Plus Jakarta Sans"/>
                <a:cs typeface="Plus Jakarta Sans"/>
                <a:sym typeface="Plus Jakarta Sans"/>
              </a:rPr>
              <a:t>TÁC ĐỘNG</a:t>
            </a:r>
            <a:endParaRPr b="0" i="0" sz="1500" u="none" cap="none" strike="noStrike">
              <a:solidFill>
                <a:schemeClr val="dk1"/>
              </a:solidFill>
              <a:latin typeface="Calibri"/>
              <a:ea typeface="Calibri"/>
              <a:cs typeface="Calibri"/>
              <a:sym typeface="Calibri"/>
            </a:endParaRPr>
          </a:p>
        </p:txBody>
      </p:sp>
      <p:sp>
        <p:nvSpPr>
          <p:cNvPr id="411" name="Google Shape;411;p13"/>
          <p:cNvSpPr/>
          <p:nvPr/>
        </p:nvSpPr>
        <p:spPr>
          <a:xfrm>
            <a:off x="9238952" y="1990725"/>
            <a:ext cx="1821061" cy="27622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500"/>
              <a:buFont typeface="Plus Jakarta Sans"/>
              <a:buNone/>
            </a:pPr>
            <a:r>
              <a:rPr b="1" i="0" lang="en-US" sz="1500" u="none" cap="none" strike="noStrike">
                <a:solidFill>
                  <a:srgbClr val="FFFFFF"/>
                </a:solidFill>
                <a:latin typeface="Plus Jakarta Sans"/>
                <a:ea typeface="Plus Jakarta Sans"/>
                <a:cs typeface="Plus Jakarta Sans"/>
                <a:sym typeface="Plus Jakarta Sans"/>
              </a:rPr>
              <a:t>OWNER</a:t>
            </a:r>
            <a:endParaRPr b="0" i="0" sz="1500" u="none" cap="none" strike="noStrike">
              <a:solidFill>
                <a:schemeClr val="dk1"/>
              </a:solidFill>
              <a:latin typeface="Calibri"/>
              <a:ea typeface="Calibri"/>
              <a:cs typeface="Calibri"/>
              <a:sym typeface="Calibri"/>
            </a:endParaRPr>
          </a:p>
        </p:txBody>
      </p:sp>
      <p:sp>
        <p:nvSpPr>
          <p:cNvPr id="412" name="Google Shape;412;p13"/>
          <p:cNvSpPr/>
          <p:nvPr/>
        </p:nvSpPr>
        <p:spPr>
          <a:xfrm>
            <a:off x="11288613" y="1990725"/>
            <a:ext cx="6295159" cy="27622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500"/>
              <a:buFont typeface="Plus Jakarta Sans"/>
              <a:buNone/>
            </a:pPr>
            <a:r>
              <a:rPr b="1" i="0" lang="en-US" sz="1500" u="none" cap="none" strike="noStrike">
                <a:solidFill>
                  <a:srgbClr val="FFFFFF"/>
                </a:solidFill>
                <a:latin typeface="Plus Jakarta Sans"/>
                <a:ea typeface="Plus Jakarta Sans"/>
                <a:cs typeface="Plus Jakarta Sans"/>
                <a:sym typeface="Plus Jakarta Sans"/>
              </a:rPr>
              <a:t>TRẠNG THÁI</a:t>
            </a:r>
            <a:endParaRPr b="0" i="0" sz="1500" u="none" cap="none" strike="noStrike">
              <a:solidFill>
                <a:schemeClr val="dk1"/>
              </a:solidFill>
              <a:latin typeface="Calibri"/>
              <a:ea typeface="Calibri"/>
              <a:cs typeface="Calibri"/>
              <a:sym typeface="Calibri"/>
            </a:endParaRPr>
          </a:p>
        </p:txBody>
      </p:sp>
      <p:sp>
        <p:nvSpPr>
          <p:cNvPr id="413" name="Google Shape;413;p13"/>
          <p:cNvSpPr/>
          <p:nvPr/>
        </p:nvSpPr>
        <p:spPr>
          <a:xfrm>
            <a:off x="762000" y="3798540"/>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a:off x="895350" y="2419350"/>
            <a:ext cx="5258592" cy="133156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500"/>
              <a:buFont typeface="Roboto"/>
              <a:buNone/>
            </a:pPr>
            <a:r>
              <a:rPr b="1" i="0" lang="en-US" sz="1500" u="none" cap="none" strike="noStrike">
                <a:solidFill>
                  <a:srgbClr val="121619"/>
                </a:solidFill>
                <a:latin typeface="Roboto"/>
                <a:ea typeface="Roboto"/>
                <a:cs typeface="Roboto"/>
                <a:sym typeface="Roboto"/>
              </a:rPr>
              <a:t>CR nhóm PT/GR vẫn cao (NLM &gt;14%; TTS SGN 57% đơn hủy do KH KNM)</a:t>
            </a:r>
            <a:endParaRPr b="0" i="0" sz="1500" u="none" cap="none" strike="noStrike">
              <a:solidFill>
                <a:schemeClr val="dk1"/>
              </a:solidFill>
              <a:latin typeface="Calibri"/>
              <a:ea typeface="Calibri"/>
              <a:cs typeface="Calibri"/>
              <a:sym typeface="Calibri"/>
            </a:endParaRPr>
          </a:p>
        </p:txBody>
      </p:sp>
      <p:sp>
        <p:nvSpPr>
          <p:cNvPr id="415" name="Google Shape;415;p13"/>
          <p:cNvSpPr/>
          <p:nvPr/>
        </p:nvSpPr>
        <p:spPr>
          <a:xfrm>
            <a:off x="6097786" y="2333625"/>
            <a:ext cx="1565821" cy="150301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500"/>
              <a:buFont typeface="Roboto"/>
              <a:buNone/>
            </a:pPr>
            <a:r>
              <a:rPr b="1" i="0" lang="en-US" sz="1500" u="none" cap="none" strike="noStrike">
                <a:solidFill>
                  <a:srgbClr val="DA1E28"/>
                </a:solidFill>
                <a:latin typeface="Roboto"/>
                <a:ea typeface="Roboto"/>
                <a:cs typeface="Roboto"/>
                <a:sym typeface="Roboto"/>
              </a:rPr>
              <a:t>Cao</a:t>
            </a:r>
            <a:endParaRPr b="0" i="0" sz="1500" u="none" cap="none" strike="noStrike">
              <a:solidFill>
                <a:schemeClr val="dk1"/>
              </a:solidFill>
              <a:latin typeface="Calibri"/>
              <a:ea typeface="Calibri"/>
              <a:cs typeface="Calibri"/>
              <a:sym typeface="Calibri"/>
            </a:endParaRPr>
          </a:p>
        </p:txBody>
      </p:sp>
      <p:sp>
        <p:nvSpPr>
          <p:cNvPr id="416" name="Google Shape;416;p13"/>
          <p:cNvSpPr/>
          <p:nvPr/>
        </p:nvSpPr>
        <p:spPr>
          <a:xfrm>
            <a:off x="7606457" y="2333625"/>
            <a:ext cx="1565821" cy="150301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500"/>
              <a:buFont typeface="Roboto"/>
              <a:buNone/>
            </a:pPr>
            <a:r>
              <a:rPr b="1" i="0" lang="en-US" sz="1500" u="none" cap="none" strike="noStrike">
                <a:solidFill>
                  <a:srgbClr val="DA1E28"/>
                </a:solidFill>
                <a:latin typeface="Roboto"/>
                <a:ea typeface="Roboto"/>
                <a:cs typeface="Roboto"/>
                <a:sym typeface="Roboto"/>
              </a:rPr>
              <a:t>Cao</a:t>
            </a:r>
            <a:endParaRPr b="0" i="0" sz="1500" u="none" cap="none" strike="noStrike">
              <a:solidFill>
                <a:schemeClr val="dk1"/>
              </a:solidFill>
              <a:latin typeface="Calibri"/>
              <a:ea typeface="Calibri"/>
              <a:cs typeface="Calibri"/>
              <a:sym typeface="Calibri"/>
            </a:endParaRPr>
          </a:p>
        </p:txBody>
      </p:sp>
      <p:sp>
        <p:nvSpPr>
          <p:cNvPr id="417" name="Google Shape;417;p13"/>
          <p:cNvSpPr/>
          <p:nvPr/>
        </p:nvSpPr>
        <p:spPr>
          <a:xfrm>
            <a:off x="9115127" y="2333625"/>
            <a:ext cx="2068711" cy="150301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500"/>
              <a:buFont typeface="Roboto"/>
              <a:buNone/>
            </a:pPr>
            <a:r>
              <a:rPr b="0" i="0" lang="en-US" sz="1500" u="none" cap="none" strike="noStrike">
                <a:solidFill>
                  <a:srgbClr val="121619"/>
                </a:solidFill>
                <a:latin typeface="Roboto"/>
                <a:ea typeface="Roboto"/>
                <a:cs typeface="Roboto"/>
                <a:sym typeface="Roboto"/>
              </a:rPr>
              <a:t>OE</a:t>
            </a:r>
            <a:endParaRPr b="0" i="0" sz="1500" u="none" cap="none" strike="noStrike">
              <a:solidFill>
                <a:schemeClr val="dk1"/>
              </a:solidFill>
              <a:latin typeface="Calibri"/>
              <a:ea typeface="Calibri"/>
              <a:cs typeface="Calibri"/>
              <a:sym typeface="Calibri"/>
            </a:endParaRPr>
          </a:p>
        </p:txBody>
      </p:sp>
      <p:sp>
        <p:nvSpPr>
          <p:cNvPr id="418" name="Google Shape;418;p13"/>
          <p:cNvSpPr/>
          <p:nvPr/>
        </p:nvSpPr>
        <p:spPr>
          <a:xfrm>
            <a:off x="11288613" y="2419350"/>
            <a:ext cx="6295159" cy="1331565"/>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Đã chạy model mới cho TTS, đánh giá lại sau 1 tháng</a:t>
            </a:r>
            <a:endParaRPr b="0" i="0" sz="1500" u="none" cap="none" strike="noStrike">
              <a:solidFill>
                <a:schemeClr val="dk1"/>
              </a:solidFill>
              <a:latin typeface="Calibri"/>
              <a:ea typeface="Calibri"/>
              <a:cs typeface="Calibri"/>
              <a:sym typeface="Calibri"/>
            </a:endParaRPr>
          </a:p>
        </p:txBody>
      </p:sp>
      <p:sp>
        <p:nvSpPr>
          <p:cNvPr id="419" name="Google Shape;419;p13"/>
          <p:cNvSpPr/>
          <p:nvPr/>
        </p:nvSpPr>
        <p:spPr>
          <a:xfrm>
            <a:off x="762000" y="3808065"/>
            <a:ext cx="16764000" cy="974824"/>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3"/>
          <p:cNvSpPr/>
          <p:nvPr/>
        </p:nvSpPr>
        <p:spPr>
          <a:xfrm>
            <a:off x="762000" y="4773364"/>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3"/>
          <p:cNvSpPr/>
          <p:nvPr/>
        </p:nvSpPr>
        <p:spPr>
          <a:xfrm>
            <a:off x="895350" y="3903315"/>
            <a:ext cx="5258592" cy="822424"/>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500"/>
              <a:buFont typeface="Roboto"/>
              <a:buNone/>
            </a:pPr>
            <a:r>
              <a:rPr b="1" i="0" lang="en-US" sz="1500" u="none" cap="none" strike="noStrike">
                <a:solidFill>
                  <a:srgbClr val="121619"/>
                </a:solidFill>
                <a:latin typeface="Roboto"/>
                <a:ea typeface="Roboto"/>
                <a:cs typeface="Roboto"/>
                <a:sym typeface="Roboto"/>
              </a:rPr>
              <a:t>Retention SGN chưa đạt target 82%</a:t>
            </a:r>
            <a:endParaRPr b="0" i="0" sz="1500" u="none" cap="none" strike="noStrike">
              <a:solidFill>
                <a:schemeClr val="dk1"/>
              </a:solidFill>
              <a:latin typeface="Calibri"/>
              <a:ea typeface="Calibri"/>
              <a:cs typeface="Calibri"/>
              <a:sym typeface="Calibri"/>
            </a:endParaRPr>
          </a:p>
        </p:txBody>
      </p:sp>
      <p:sp>
        <p:nvSpPr>
          <p:cNvPr id="422" name="Google Shape;422;p13"/>
          <p:cNvSpPr/>
          <p:nvPr/>
        </p:nvSpPr>
        <p:spPr>
          <a:xfrm>
            <a:off x="6097786" y="3817590"/>
            <a:ext cx="1565821" cy="99387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500"/>
              <a:buFont typeface="Roboto"/>
              <a:buNone/>
            </a:pPr>
            <a:r>
              <a:rPr b="1" i="0" lang="en-US" sz="1500" u="none" cap="none" strike="noStrike">
                <a:solidFill>
                  <a:srgbClr val="F55F00"/>
                </a:solidFill>
                <a:latin typeface="Roboto"/>
                <a:ea typeface="Roboto"/>
                <a:cs typeface="Roboto"/>
                <a:sym typeface="Roboto"/>
              </a:rPr>
              <a:t>Trung bình</a:t>
            </a:r>
            <a:endParaRPr b="0" i="0" sz="1500" u="none" cap="none" strike="noStrike">
              <a:solidFill>
                <a:schemeClr val="dk1"/>
              </a:solidFill>
              <a:latin typeface="Calibri"/>
              <a:ea typeface="Calibri"/>
              <a:cs typeface="Calibri"/>
              <a:sym typeface="Calibri"/>
            </a:endParaRPr>
          </a:p>
        </p:txBody>
      </p:sp>
      <p:sp>
        <p:nvSpPr>
          <p:cNvPr id="423" name="Google Shape;423;p13"/>
          <p:cNvSpPr/>
          <p:nvPr/>
        </p:nvSpPr>
        <p:spPr>
          <a:xfrm>
            <a:off x="7606457" y="3817590"/>
            <a:ext cx="1565821" cy="99387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500"/>
              <a:buFont typeface="Roboto"/>
              <a:buNone/>
            </a:pPr>
            <a:r>
              <a:rPr b="1" i="0" lang="en-US" sz="1500" u="none" cap="none" strike="noStrike">
                <a:solidFill>
                  <a:srgbClr val="DA1E28"/>
                </a:solidFill>
                <a:latin typeface="Roboto"/>
                <a:ea typeface="Roboto"/>
                <a:cs typeface="Roboto"/>
                <a:sym typeface="Roboto"/>
              </a:rPr>
              <a:t>Cao</a:t>
            </a:r>
            <a:endParaRPr b="0" i="0" sz="1500" u="none" cap="none" strike="noStrike">
              <a:solidFill>
                <a:schemeClr val="dk1"/>
              </a:solidFill>
              <a:latin typeface="Calibri"/>
              <a:ea typeface="Calibri"/>
              <a:cs typeface="Calibri"/>
              <a:sym typeface="Calibri"/>
            </a:endParaRPr>
          </a:p>
        </p:txBody>
      </p:sp>
      <p:sp>
        <p:nvSpPr>
          <p:cNvPr id="424" name="Google Shape;424;p13"/>
          <p:cNvSpPr/>
          <p:nvPr/>
        </p:nvSpPr>
        <p:spPr>
          <a:xfrm>
            <a:off x="9115127" y="3817590"/>
            <a:ext cx="2068711" cy="99387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500"/>
              <a:buFont typeface="Roboto"/>
              <a:buNone/>
            </a:pPr>
            <a:r>
              <a:rPr b="0" i="0" lang="en-US" sz="1500" u="none" cap="none" strike="noStrike">
                <a:solidFill>
                  <a:srgbClr val="121619"/>
                </a:solidFill>
                <a:latin typeface="Roboto"/>
                <a:ea typeface="Roboto"/>
                <a:cs typeface="Roboto"/>
                <a:sym typeface="Roboto"/>
              </a:rPr>
              <a:t>Driver Perf</a:t>
            </a:r>
            <a:endParaRPr b="0" i="0" sz="1500" u="none" cap="none" strike="noStrike">
              <a:solidFill>
                <a:schemeClr val="dk1"/>
              </a:solidFill>
              <a:latin typeface="Calibri"/>
              <a:ea typeface="Calibri"/>
              <a:cs typeface="Calibri"/>
              <a:sym typeface="Calibri"/>
            </a:endParaRPr>
          </a:p>
        </p:txBody>
      </p:sp>
      <p:sp>
        <p:nvSpPr>
          <p:cNvPr id="425" name="Google Shape;425;p13"/>
          <p:cNvSpPr/>
          <p:nvPr/>
        </p:nvSpPr>
        <p:spPr>
          <a:xfrm>
            <a:off x="11288613" y="3903315"/>
            <a:ext cx="6295159" cy="822424"/>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Cải thiện MoM/YoY nhưng chưa chạm target</a:t>
            </a:r>
            <a:endParaRPr b="0" i="0" sz="1500" u="none" cap="none" strike="noStrike">
              <a:solidFill>
                <a:schemeClr val="dk1"/>
              </a:solidFill>
              <a:latin typeface="Calibri"/>
              <a:ea typeface="Calibri"/>
              <a:cs typeface="Calibri"/>
              <a:sym typeface="Calibri"/>
            </a:endParaRPr>
          </a:p>
        </p:txBody>
      </p:sp>
      <p:sp>
        <p:nvSpPr>
          <p:cNvPr id="426" name="Google Shape;426;p13"/>
          <p:cNvSpPr/>
          <p:nvPr/>
        </p:nvSpPr>
        <p:spPr>
          <a:xfrm>
            <a:off x="762000" y="5748189"/>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a:off x="895350" y="4878139"/>
            <a:ext cx="5258592" cy="822424"/>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500"/>
              <a:buFont typeface="Roboto"/>
              <a:buNone/>
            </a:pPr>
            <a:r>
              <a:rPr b="1" i="0" lang="en-US" sz="1500" u="none" cap="none" strike="noStrike">
                <a:solidFill>
                  <a:srgbClr val="121619"/>
                </a:solidFill>
                <a:latin typeface="Roboto"/>
                <a:ea typeface="Roboto"/>
                <a:cs typeface="Roboto"/>
                <a:sym typeface="Roboto"/>
              </a:rPr>
              <a:t>Retention MiniHub giảm ở HAN (Z24, Thanh Xuân)</a:t>
            </a:r>
            <a:endParaRPr b="0" i="0" sz="1500" u="none" cap="none" strike="noStrike">
              <a:solidFill>
                <a:schemeClr val="dk1"/>
              </a:solidFill>
              <a:latin typeface="Calibri"/>
              <a:ea typeface="Calibri"/>
              <a:cs typeface="Calibri"/>
              <a:sym typeface="Calibri"/>
            </a:endParaRPr>
          </a:p>
        </p:txBody>
      </p:sp>
      <p:sp>
        <p:nvSpPr>
          <p:cNvPr id="428" name="Google Shape;428;p13"/>
          <p:cNvSpPr/>
          <p:nvPr/>
        </p:nvSpPr>
        <p:spPr>
          <a:xfrm>
            <a:off x="6097786" y="4792414"/>
            <a:ext cx="1565821" cy="99387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500"/>
              <a:buFont typeface="Roboto"/>
              <a:buNone/>
            </a:pPr>
            <a:r>
              <a:rPr b="1" i="0" lang="en-US" sz="1500" u="none" cap="none" strike="noStrike">
                <a:solidFill>
                  <a:srgbClr val="DA1E28"/>
                </a:solidFill>
                <a:latin typeface="Roboto"/>
                <a:ea typeface="Roboto"/>
                <a:cs typeface="Roboto"/>
                <a:sym typeface="Roboto"/>
              </a:rPr>
              <a:t>Cao</a:t>
            </a:r>
            <a:endParaRPr b="0" i="0" sz="1500" u="none" cap="none" strike="noStrike">
              <a:solidFill>
                <a:schemeClr val="dk1"/>
              </a:solidFill>
              <a:latin typeface="Calibri"/>
              <a:ea typeface="Calibri"/>
              <a:cs typeface="Calibri"/>
              <a:sym typeface="Calibri"/>
            </a:endParaRPr>
          </a:p>
        </p:txBody>
      </p:sp>
      <p:sp>
        <p:nvSpPr>
          <p:cNvPr id="429" name="Google Shape;429;p13"/>
          <p:cNvSpPr/>
          <p:nvPr/>
        </p:nvSpPr>
        <p:spPr>
          <a:xfrm>
            <a:off x="7606457" y="4792414"/>
            <a:ext cx="1565821" cy="99387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500"/>
              <a:buFont typeface="Roboto"/>
              <a:buNone/>
            </a:pPr>
            <a:r>
              <a:rPr b="1" i="0" lang="en-US" sz="1500" u="none" cap="none" strike="noStrike">
                <a:solidFill>
                  <a:srgbClr val="F55F00"/>
                </a:solidFill>
                <a:latin typeface="Roboto"/>
                <a:ea typeface="Roboto"/>
                <a:cs typeface="Roboto"/>
                <a:sym typeface="Roboto"/>
              </a:rPr>
              <a:t>Trung bình</a:t>
            </a:r>
            <a:endParaRPr b="0" i="0" sz="1500" u="none" cap="none" strike="noStrike">
              <a:solidFill>
                <a:schemeClr val="dk1"/>
              </a:solidFill>
              <a:latin typeface="Calibri"/>
              <a:ea typeface="Calibri"/>
              <a:cs typeface="Calibri"/>
              <a:sym typeface="Calibri"/>
            </a:endParaRPr>
          </a:p>
        </p:txBody>
      </p:sp>
      <p:sp>
        <p:nvSpPr>
          <p:cNvPr id="430" name="Google Shape;430;p13"/>
          <p:cNvSpPr/>
          <p:nvPr/>
        </p:nvSpPr>
        <p:spPr>
          <a:xfrm>
            <a:off x="9115127" y="4792414"/>
            <a:ext cx="2068711" cy="99387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500"/>
              <a:buFont typeface="Roboto"/>
              <a:buNone/>
            </a:pPr>
            <a:r>
              <a:rPr b="0" i="0" lang="en-US" sz="1500" u="none" cap="none" strike="noStrike">
                <a:solidFill>
                  <a:srgbClr val="121619"/>
                </a:solidFill>
                <a:latin typeface="Roboto"/>
                <a:ea typeface="Roboto"/>
                <a:cs typeface="Roboto"/>
                <a:sym typeface="Roboto"/>
              </a:rPr>
              <a:t>MiniHub team</a:t>
            </a:r>
            <a:endParaRPr b="0" i="0" sz="1500" u="none" cap="none" strike="noStrike">
              <a:solidFill>
                <a:schemeClr val="dk1"/>
              </a:solidFill>
              <a:latin typeface="Calibri"/>
              <a:ea typeface="Calibri"/>
              <a:cs typeface="Calibri"/>
              <a:sym typeface="Calibri"/>
            </a:endParaRPr>
          </a:p>
        </p:txBody>
      </p:sp>
      <p:sp>
        <p:nvSpPr>
          <p:cNvPr id="431" name="Google Shape;431;p13"/>
          <p:cNvSpPr/>
          <p:nvPr/>
        </p:nvSpPr>
        <p:spPr>
          <a:xfrm>
            <a:off x="11288613" y="4878139"/>
            <a:ext cx="6295159" cy="822424"/>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Cần review target KPI theo baseline zone mới</a:t>
            </a:r>
            <a:endParaRPr b="0" i="0" sz="1500" u="none" cap="none" strike="noStrike">
              <a:solidFill>
                <a:schemeClr val="dk1"/>
              </a:solidFill>
              <a:latin typeface="Calibri"/>
              <a:ea typeface="Calibri"/>
              <a:cs typeface="Calibri"/>
              <a:sym typeface="Calibri"/>
            </a:endParaRPr>
          </a:p>
        </p:txBody>
      </p:sp>
      <p:sp>
        <p:nvSpPr>
          <p:cNvPr id="432" name="Google Shape;432;p13"/>
          <p:cNvSpPr/>
          <p:nvPr/>
        </p:nvSpPr>
        <p:spPr>
          <a:xfrm>
            <a:off x="762000" y="5757714"/>
            <a:ext cx="16764000" cy="974824"/>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3"/>
          <p:cNvSpPr/>
          <p:nvPr/>
        </p:nvSpPr>
        <p:spPr>
          <a:xfrm>
            <a:off x="762000" y="6723013"/>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895350" y="5852964"/>
            <a:ext cx="5258592" cy="822424"/>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500"/>
              <a:buFont typeface="Roboto"/>
              <a:buNone/>
            </a:pPr>
            <a:r>
              <a:rPr b="1" i="0" lang="en-US" sz="1500" u="none" cap="none" strike="noStrike">
                <a:solidFill>
                  <a:srgbClr val="121619"/>
                </a:solidFill>
                <a:latin typeface="Roboto"/>
                <a:ea typeface="Roboto"/>
                <a:cs typeface="Roboto"/>
                <a:sym typeface="Roboto"/>
              </a:rPr>
              <a:t>EV lead conversion thấp dù demand tăng 30%</a:t>
            </a:r>
            <a:endParaRPr b="0" i="0" sz="1500" u="none" cap="none" strike="noStrike">
              <a:solidFill>
                <a:schemeClr val="dk1"/>
              </a:solidFill>
              <a:latin typeface="Calibri"/>
              <a:ea typeface="Calibri"/>
              <a:cs typeface="Calibri"/>
              <a:sym typeface="Calibri"/>
            </a:endParaRPr>
          </a:p>
        </p:txBody>
      </p:sp>
      <p:sp>
        <p:nvSpPr>
          <p:cNvPr id="435" name="Google Shape;435;p13"/>
          <p:cNvSpPr/>
          <p:nvPr/>
        </p:nvSpPr>
        <p:spPr>
          <a:xfrm>
            <a:off x="6097786" y="5767239"/>
            <a:ext cx="1565821" cy="99387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500"/>
              <a:buFont typeface="Roboto"/>
              <a:buNone/>
            </a:pPr>
            <a:r>
              <a:rPr b="1" i="0" lang="en-US" sz="1500" u="none" cap="none" strike="noStrike">
                <a:solidFill>
                  <a:srgbClr val="F55F00"/>
                </a:solidFill>
                <a:latin typeface="Roboto"/>
                <a:ea typeface="Roboto"/>
                <a:cs typeface="Roboto"/>
                <a:sym typeface="Roboto"/>
              </a:rPr>
              <a:t>Trung bình</a:t>
            </a:r>
            <a:endParaRPr b="0" i="0" sz="1500" u="none" cap="none" strike="noStrike">
              <a:solidFill>
                <a:schemeClr val="dk1"/>
              </a:solidFill>
              <a:latin typeface="Calibri"/>
              <a:ea typeface="Calibri"/>
              <a:cs typeface="Calibri"/>
              <a:sym typeface="Calibri"/>
            </a:endParaRPr>
          </a:p>
        </p:txBody>
      </p:sp>
      <p:sp>
        <p:nvSpPr>
          <p:cNvPr id="436" name="Google Shape;436;p13"/>
          <p:cNvSpPr/>
          <p:nvPr/>
        </p:nvSpPr>
        <p:spPr>
          <a:xfrm>
            <a:off x="7606457" y="5767239"/>
            <a:ext cx="1565821" cy="99387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500"/>
              <a:buFont typeface="Roboto"/>
              <a:buNone/>
            </a:pPr>
            <a:r>
              <a:rPr b="1" i="0" lang="en-US" sz="1500" u="none" cap="none" strike="noStrike">
                <a:solidFill>
                  <a:srgbClr val="F55F00"/>
                </a:solidFill>
                <a:latin typeface="Roboto"/>
                <a:ea typeface="Roboto"/>
                <a:cs typeface="Roboto"/>
                <a:sym typeface="Roboto"/>
              </a:rPr>
              <a:t>Trung bình</a:t>
            </a:r>
            <a:endParaRPr b="0" i="0" sz="1500" u="none" cap="none" strike="noStrike">
              <a:solidFill>
                <a:schemeClr val="dk1"/>
              </a:solidFill>
              <a:latin typeface="Calibri"/>
              <a:ea typeface="Calibri"/>
              <a:cs typeface="Calibri"/>
              <a:sym typeface="Calibri"/>
            </a:endParaRPr>
          </a:p>
        </p:txBody>
      </p:sp>
      <p:sp>
        <p:nvSpPr>
          <p:cNvPr id="437" name="Google Shape;437;p13"/>
          <p:cNvSpPr/>
          <p:nvPr/>
        </p:nvSpPr>
        <p:spPr>
          <a:xfrm>
            <a:off x="9115127" y="5767239"/>
            <a:ext cx="2068711" cy="993874"/>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500"/>
              <a:buFont typeface="Roboto"/>
              <a:buNone/>
            </a:pPr>
            <a:r>
              <a:rPr b="0" i="0" lang="en-US" sz="1500" u="none" cap="none" strike="noStrike">
                <a:solidFill>
                  <a:srgbClr val="121619"/>
                </a:solidFill>
                <a:latin typeface="Roboto"/>
                <a:ea typeface="Roboto"/>
                <a:cs typeface="Roboto"/>
                <a:sym typeface="Roboto"/>
              </a:rPr>
              <a:t>EV + Hub</a:t>
            </a:r>
            <a:endParaRPr b="0" i="0" sz="1500" u="none" cap="none" strike="noStrike">
              <a:solidFill>
                <a:schemeClr val="dk1"/>
              </a:solidFill>
              <a:latin typeface="Calibri"/>
              <a:ea typeface="Calibri"/>
              <a:cs typeface="Calibri"/>
              <a:sym typeface="Calibri"/>
            </a:endParaRPr>
          </a:p>
        </p:txBody>
      </p:sp>
      <p:sp>
        <p:nvSpPr>
          <p:cNvPr id="438" name="Google Shape;438;p13"/>
          <p:cNvSpPr/>
          <p:nvPr/>
        </p:nvSpPr>
        <p:spPr>
          <a:xfrm>
            <a:off x="11288613" y="5852964"/>
            <a:ext cx="6295159" cy="822424"/>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Đang quy hoạch lại luồng tiếp nhận lead</a:t>
            </a:r>
            <a:endParaRPr b="0" i="0" sz="1500" u="none" cap="none" strike="noStrike">
              <a:solidFill>
                <a:schemeClr val="dk1"/>
              </a:solidFill>
              <a:latin typeface="Calibri"/>
              <a:ea typeface="Calibri"/>
              <a:cs typeface="Calibri"/>
              <a:sym typeface="Calibri"/>
            </a:endParaRPr>
          </a:p>
        </p:txBody>
      </p:sp>
      <p:sp>
        <p:nvSpPr>
          <p:cNvPr id="439" name="Google Shape;439;p13"/>
          <p:cNvSpPr/>
          <p:nvPr/>
        </p:nvSpPr>
        <p:spPr>
          <a:xfrm>
            <a:off x="762000" y="8217694"/>
            <a:ext cx="16764000" cy="9525"/>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895350" y="6827788"/>
            <a:ext cx="5258592" cy="134228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500"/>
              <a:buFont typeface="Roboto"/>
              <a:buNone/>
            </a:pPr>
            <a:r>
              <a:rPr b="1" i="0" lang="en-US" sz="1500" u="none" cap="none" strike="noStrike">
                <a:solidFill>
                  <a:srgbClr val="121619"/>
                </a:solidFill>
                <a:latin typeface="Roboto"/>
                <a:ea typeface="Roboto"/>
                <a:cs typeface="Roboto"/>
                <a:sym typeface="Roboto"/>
              </a:rPr>
              <a:t>Core driver SGN giảm do lọc thành viên, chưa tuyển bổ sung</a:t>
            </a:r>
            <a:endParaRPr b="0" i="0" sz="1500" u="none" cap="none" strike="noStrike">
              <a:solidFill>
                <a:schemeClr val="dk1"/>
              </a:solidFill>
              <a:latin typeface="Calibri"/>
              <a:ea typeface="Calibri"/>
              <a:cs typeface="Calibri"/>
              <a:sym typeface="Calibri"/>
            </a:endParaRPr>
          </a:p>
        </p:txBody>
      </p:sp>
      <p:sp>
        <p:nvSpPr>
          <p:cNvPr id="441" name="Google Shape;441;p13"/>
          <p:cNvSpPr/>
          <p:nvPr/>
        </p:nvSpPr>
        <p:spPr>
          <a:xfrm>
            <a:off x="6097786" y="6742063"/>
            <a:ext cx="1565821" cy="1513731"/>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500"/>
              <a:buFont typeface="Roboto"/>
              <a:buNone/>
            </a:pPr>
            <a:r>
              <a:rPr b="1" i="0" lang="en-US" sz="1500" u="none" cap="none" strike="noStrike">
                <a:solidFill>
                  <a:srgbClr val="F55F00"/>
                </a:solidFill>
                <a:latin typeface="Roboto"/>
                <a:ea typeface="Roboto"/>
                <a:cs typeface="Roboto"/>
                <a:sym typeface="Roboto"/>
              </a:rPr>
              <a:t>Trung bình</a:t>
            </a:r>
            <a:endParaRPr b="0" i="0" sz="1500" u="none" cap="none" strike="noStrike">
              <a:solidFill>
                <a:schemeClr val="dk1"/>
              </a:solidFill>
              <a:latin typeface="Calibri"/>
              <a:ea typeface="Calibri"/>
              <a:cs typeface="Calibri"/>
              <a:sym typeface="Calibri"/>
            </a:endParaRPr>
          </a:p>
        </p:txBody>
      </p:sp>
      <p:sp>
        <p:nvSpPr>
          <p:cNvPr id="442" name="Google Shape;442;p13"/>
          <p:cNvSpPr/>
          <p:nvPr/>
        </p:nvSpPr>
        <p:spPr>
          <a:xfrm>
            <a:off x="7606457" y="6742063"/>
            <a:ext cx="1565821" cy="1513731"/>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67C3F"/>
              </a:buClr>
              <a:buSzPts val="1500"/>
              <a:buFont typeface="Roboto"/>
              <a:buNone/>
            </a:pPr>
            <a:r>
              <a:rPr b="1" i="0" lang="en-US" sz="1500" u="none" cap="none" strike="noStrike">
                <a:solidFill>
                  <a:srgbClr val="167C3F"/>
                </a:solidFill>
                <a:latin typeface="Roboto"/>
                <a:ea typeface="Roboto"/>
                <a:cs typeface="Roboto"/>
                <a:sym typeface="Roboto"/>
              </a:rPr>
              <a:t>Thấp</a:t>
            </a:r>
            <a:endParaRPr b="0" i="0" sz="1500" u="none" cap="none" strike="noStrike">
              <a:solidFill>
                <a:schemeClr val="dk1"/>
              </a:solidFill>
              <a:latin typeface="Calibri"/>
              <a:ea typeface="Calibri"/>
              <a:cs typeface="Calibri"/>
              <a:sym typeface="Calibri"/>
            </a:endParaRPr>
          </a:p>
        </p:txBody>
      </p:sp>
      <p:sp>
        <p:nvSpPr>
          <p:cNvPr id="443" name="Google Shape;443;p13"/>
          <p:cNvSpPr/>
          <p:nvPr/>
        </p:nvSpPr>
        <p:spPr>
          <a:xfrm>
            <a:off x="9115127" y="6742063"/>
            <a:ext cx="2068711" cy="1513731"/>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500"/>
              <a:buFont typeface="Roboto"/>
              <a:buNone/>
            </a:pPr>
            <a:r>
              <a:rPr b="0" i="0" lang="en-US" sz="1500" u="none" cap="none" strike="noStrike">
                <a:solidFill>
                  <a:srgbClr val="121619"/>
                </a:solidFill>
                <a:latin typeface="Roboto"/>
                <a:ea typeface="Roboto"/>
                <a:cs typeface="Roboto"/>
                <a:sym typeface="Roboto"/>
              </a:rPr>
              <a:t>Driver Perf</a:t>
            </a:r>
            <a:endParaRPr b="0" i="0" sz="1500" u="none" cap="none" strike="noStrike">
              <a:solidFill>
                <a:schemeClr val="dk1"/>
              </a:solidFill>
              <a:latin typeface="Calibri"/>
              <a:ea typeface="Calibri"/>
              <a:cs typeface="Calibri"/>
              <a:sym typeface="Calibri"/>
            </a:endParaRPr>
          </a:p>
        </p:txBody>
      </p:sp>
      <p:sp>
        <p:nvSpPr>
          <p:cNvPr id="444" name="Google Shape;444;p13"/>
          <p:cNvSpPr/>
          <p:nvPr/>
        </p:nvSpPr>
        <p:spPr>
          <a:xfrm>
            <a:off x="11288613" y="6827788"/>
            <a:ext cx="6295159" cy="1342281"/>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Đã tuyển bổ sung 49 tài xế trong T7</a:t>
            </a:r>
            <a:endParaRPr b="0" i="0" sz="1500" u="none" cap="none" strike="noStrike">
              <a:solidFill>
                <a:schemeClr val="dk1"/>
              </a:solidFill>
              <a:latin typeface="Calibri"/>
              <a:ea typeface="Calibri"/>
              <a:cs typeface="Calibri"/>
              <a:sym typeface="Calibri"/>
            </a:endParaRPr>
          </a:p>
        </p:txBody>
      </p:sp>
      <p:sp>
        <p:nvSpPr>
          <p:cNvPr id="445" name="Google Shape;445;p13"/>
          <p:cNvSpPr/>
          <p:nvPr/>
        </p:nvSpPr>
        <p:spPr>
          <a:xfrm>
            <a:off x="762000" y="8227219"/>
            <a:ext cx="16764000" cy="964406"/>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895350" y="8322469"/>
            <a:ext cx="5258592" cy="812006"/>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500"/>
              <a:buFont typeface="Roboto"/>
              <a:buNone/>
            </a:pPr>
            <a:r>
              <a:rPr b="1" i="0" lang="en-US" sz="1500" u="none" cap="none" strike="noStrike">
                <a:solidFill>
                  <a:srgbClr val="121619"/>
                </a:solidFill>
                <a:latin typeface="Roboto"/>
                <a:ea typeface="Roboto"/>
                <a:cs typeface="Roboto"/>
                <a:sym typeface="Roboto"/>
              </a:rPr>
              <a:t>GDR/CTR giảm ở tập New driver (đổi logic tính điểm)</a:t>
            </a:r>
            <a:endParaRPr b="0" i="0" sz="1500" u="none" cap="none" strike="noStrike">
              <a:solidFill>
                <a:schemeClr val="dk1"/>
              </a:solidFill>
              <a:latin typeface="Calibri"/>
              <a:ea typeface="Calibri"/>
              <a:cs typeface="Calibri"/>
              <a:sym typeface="Calibri"/>
            </a:endParaRPr>
          </a:p>
        </p:txBody>
      </p:sp>
      <p:sp>
        <p:nvSpPr>
          <p:cNvPr id="447" name="Google Shape;447;p13"/>
          <p:cNvSpPr/>
          <p:nvPr/>
        </p:nvSpPr>
        <p:spPr>
          <a:xfrm>
            <a:off x="6097786" y="8236744"/>
            <a:ext cx="1565821" cy="983456"/>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500"/>
              <a:buFont typeface="Roboto"/>
              <a:buNone/>
            </a:pPr>
            <a:r>
              <a:rPr b="1" i="0" lang="en-US" sz="1500" u="none" cap="none" strike="noStrike">
                <a:solidFill>
                  <a:srgbClr val="F55F00"/>
                </a:solidFill>
                <a:latin typeface="Roboto"/>
                <a:ea typeface="Roboto"/>
                <a:cs typeface="Roboto"/>
                <a:sym typeface="Roboto"/>
              </a:rPr>
              <a:t>Trung bình</a:t>
            </a:r>
            <a:endParaRPr b="0" i="0" sz="1500" u="none" cap="none" strike="noStrike">
              <a:solidFill>
                <a:schemeClr val="dk1"/>
              </a:solidFill>
              <a:latin typeface="Calibri"/>
              <a:ea typeface="Calibri"/>
              <a:cs typeface="Calibri"/>
              <a:sym typeface="Calibri"/>
            </a:endParaRPr>
          </a:p>
        </p:txBody>
      </p:sp>
      <p:sp>
        <p:nvSpPr>
          <p:cNvPr id="448" name="Google Shape;448;p13"/>
          <p:cNvSpPr/>
          <p:nvPr/>
        </p:nvSpPr>
        <p:spPr>
          <a:xfrm>
            <a:off x="7606457" y="8236744"/>
            <a:ext cx="1565821" cy="983456"/>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500"/>
              <a:buFont typeface="Roboto"/>
              <a:buNone/>
            </a:pPr>
            <a:r>
              <a:rPr b="1" i="0" lang="en-US" sz="1500" u="none" cap="none" strike="noStrike">
                <a:solidFill>
                  <a:srgbClr val="F55F00"/>
                </a:solidFill>
                <a:latin typeface="Roboto"/>
                <a:ea typeface="Roboto"/>
                <a:cs typeface="Roboto"/>
                <a:sym typeface="Roboto"/>
              </a:rPr>
              <a:t>Trung bình</a:t>
            </a:r>
            <a:endParaRPr b="0" i="0" sz="1500" u="none" cap="none" strike="noStrike">
              <a:solidFill>
                <a:schemeClr val="dk1"/>
              </a:solidFill>
              <a:latin typeface="Calibri"/>
              <a:ea typeface="Calibri"/>
              <a:cs typeface="Calibri"/>
              <a:sym typeface="Calibri"/>
            </a:endParaRPr>
          </a:p>
        </p:txBody>
      </p:sp>
      <p:sp>
        <p:nvSpPr>
          <p:cNvPr id="449" name="Google Shape;449;p13"/>
          <p:cNvSpPr/>
          <p:nvPr/>
        </p:nvSpPr>
        <p:spPr>
          <a:xfrm>
            <a:off x="9115127" y="8236744"/>
            <a:ext cx="2068711" cy="983456"/>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500"/>
              <a:buFont typeface="Roboto"/>
              <a:buNone/>
            </a:pPr>
            <a:r>
              <a:rPr b="0" i="0" lang="en-US" sz="1500" u="none" cap="none" strike="noStrike">
                <a:solidFill>
                  <a:srgbClr val="121619"/>
                </a:solidFill>
                <a:latin typeface="Roboto"/>
                <a:ea typeface="Roboto"/>
                <a:cs typeface="Roboto"/>
                <a:sym typeface="Roboto"/>
              </a:rPr>
              <a:t>QM / DE</a:t>
            </a:r>
            <a:endParaRPr b="0" i="0" sz="1500" u="none" cap="none" strike="noStrike">
              <a:solidFill>
                <a:schemeClr val="dk1"/>
              </a:solidFill>
              <a:latin typeface="Calibri"/>
              <a:ea typeface="Calibri"/>
              <a:cs typeface="Calibri"/>
              <a:sym typeface="Calibri"/>
            </a:endParaRPr>
          </a:p>
        </p:txBody>
      </p:sp>
      <p:sp>
        <p:nvSpPr>
          <p:cNvPr id="450" name="Google Shape;450;p13"/>
          <p:cNvSpPr/>
          <p:nvPr/>
        </p:nvSpPr>
        <p:spPr>
          <a:xfrm>
            <a:off x="11288613" y="8322469"/>
            <a:ext cx="6295159" cy="812006"/>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Đã retrain, ghi nhận cải thiện 2 tuần cuối tháng</a:t>
            </a:r>
            <a:endParaRPr b="0" i="0" sz="1500" u="none" cap="none" strike="noStrike">
              <a:solidFill>
                <a:schemeClr val="dk1"/>
              </a:solidFill>
              <a:latin typeface="Calibri"/>
              <a:ea typeface="Calibri"/>
              <a:cs typeface="Calibri"/>
              <a:sym typeface="Calibri"/>
            </a:endParaRPr>
          </a:p>
        </p:txBody>
      </p:sp>
      <p:sp>
        <p:nvSpPr>
          <p:cNvPr id="451" name="Google Shape;451;p13"/>
          <p:cNvSpPr/>
          <p:nvPr/>
        </p:nvSpPr>
        <p:spPr>
          <a:xfrm>
            <a:off x="762000" y="9324975"/>
            <a:ext cx="16764000" cy="504825"/>
          </a:xfrm>
          <a:prstGeom prst="roundRect">
            <a:avLst>
              <a:gd fmla="val 22642" name="adj"/>
            </a:avLst>
          </a:pr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952500" y="9458325"/>
            <a:ext cx="16885920"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1" i="0" lang="en-US" sz="1650" u="none" cap="none" strike="noStrike">
                <a:solidFill>
                  <a:srgbClr val="121619"/>
                </a:solidFill>
                <a:latin typeface="Roboto"/>
                <a:ea typeface="Roboto"/>
                <a:cs typeface="Roboto"/>
                <a:sym typeface="Roboto"/>
              </a:rPr>
              <a:t>Gap còn thiếu: </a:t>
            </a:r>
            <a:r>
              <a:rPr b="0" i="0" lang="en-US" sz="1650" u="none" cap="none" strike="noStrike">
                <a:solidFill>
                  <a:srgbClr val="121619"/>
                </a:solidFill>
                <a:highlight>
                  <a:srgbClr val="FFF8E1"/>
                </a:highlight>
                <a:latin typeface="Roboto"/>
                <a:ea typeface="Roboto"/>
                <a:cs typeface="Roboto"/>
                <a:sym typeface="Roboto"/>
              </a:rPr>
              <a:t>Chưa có benchmark so với đối thủ ngành (Grab, Be...) cho các chỉ số retention/FT growth — đề xuất bổ sung ở kỳ báo cáo sau.</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sp>
        <p:nvSpPr>
          <p:cNvPr id="458" name="Google Shape;458;p14"/>
          <p:cNvSpPr/>
          <p:nvPr/>
        </p:nvSpPr>
        <p:spPr>
          <a:xfrm>
            <a:off x="762000" y="495300"/>
            <a:ext cx="18440400"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QUYẾT ĐỊNH · TUẦN NÀY | Ahamove · Driver Management · Báo cáo T7</a:t>
            </a:r>
            <a:endParaRPr b="0" i="0" sz="1800" u="none" cap="none" strike="noStrike">
              <a:solidFill>
                <a:schemeClr val="dk1"/>
              </a:solidFill>
              <a:latin typeface="Calibri"/>
              <a:ea typeface="Calibri"/>
              <a:cs typeface="Calibri"/>
              <a:sym typeface="Calibri"/>
            </a:endParaRPr>
          </a:p>
        </p:txBody>
      </p:sp>
      <p:sp>
        <p:nvSpPr>
          <p:cNvPr id="459" name="Google Shape;459;p14"/>
          <p:cNvSpPr/>
          <p:nvPr/>
        </p:nvSpPr>
        <p:spPr>
          <a:xfrm>
            <a:off x="762000" y="838200"/>
            <a:ext cx="18440400" cy="4857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3 quyết định cần chốt trong tuần này</a:t>
            </a:r>
            <a:endParaRPr b="0" i="0" sz="2850" u="none" cap="none" strike="noStrike">
              <a:solidFill>
                <a:schemeClr val="dk1"/>
              </a:solidFill>
              <a:latin typeface="Calibri"/>
              <a:ea typeface="Calibri"/>
              <a:cs typeface="Calibri"/>
              <a:sym typeface="Calibri"/>
            </a:endParaRPr>
          </a:p>
        </p:txBody>
      </p:sp>
      <p:sp>
        <p:nvSpPr>
          <p:cNvPr id="460" name="Google Shape;460;p14"/>
          <p:cNvSpPr/>
          <p:nvPr/>
        </p:nvSpPr>
        <p:spPr>
          <a:xfrm>
            <a:off x="762000" y="1381125"/>
            <a:ext cx="16764000" cy="51435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1" name="Google Shape;461;p14"/>
          <p:cNvPicPr preferRelativeResize="0"/>
          <p:nvPr/>
        </p:nvPicPr>
        <p:blipFill rotWithShape="1">
          <a:blip r:embed="rId3">
            <a:alphaModFix/>
          </a:blip>
          <a:srcRect b="0" l="0" r="0" t="0"/>
          <a:stretch/>
        </p:blipFill>
        <p:spPr>
          <a:xfrm>
            <a:off x="952500" y="1562100"/>
            <a:ext cx="209550" cy="209550"/>
          </a:xfrm>
          <a:prstGeom prst="rect">
            <a:avLst/>
          </a:prstGeom>
          <a:noFill/>
          <a:ln>
            <a:noFill/>
          </a:ln>
        </p:spPr>
      </p:pic>
      <p:sp>
        <p:nvSpPr>
          <p:cNvPr id="462" name="Google Shape;462;p14"/>
          <p:cNvSpPr/>
          <p:nvPr/>
        </p:nvSpPr>
        <p:spPr>
          <a:xfrm>
            <a:off x="1221581" y="1495425"/>
            <a:ext cx="1886694"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463" name="Google Shape;463;p14"/>
          <p:cNvSpPr/>
          <p:nvPr/>
        </p:nvSpPr>
        <p:spPr>
          <a:xfrm>
            <a:off x="3146375" y="1504950"/>
            <a:ext cx="14586439"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Cả 3 quyết định đều ảnh hưởng trực tiếp tới scale MiniHub, target KPI zone, và ngân sách EV tháng 8 — chốt trễ đồng nghĩa mất momentum.</a:t>
            </a:r>
            <a:endParaRPr b="0" i="0" sz="1800" u="none" cap="none" strike="noStrike">
              <a:solidFill>
                <a:schemeClr val="dk1"/>
              </a:solidFill>
              <a:latin typeface="Calibri"/>
              <a:ea typeface="Calibri"/>
              <a:cs typeface="Calibri"/>
              <a:sym typeface="Calibri"/>
            </a:endParaRPr>
          </a:p>
        </p:txBody>
      </p:sp>
      <p:sp>
        <p:nvSpPr>
          <p:cNvPr id="464" name="Google Shape;464;p14"/>
          <p:cNvSpPr/>
          <p:nvPr/>
        </p:nvSpPr>
        <p:spPr>
          <a:xfrm>
            <a:off x="-76200" y="2047875"/>
            <a:ext cx="18440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VẤN ĐỀ + RỦI RO NẾU KHÔNG QUYẾT = QUYẾT ĐỊNH CẦN CHỐT NGAY</a:t>
            </a:r>
            <a:endParaRPr b="0" i="0" sz="1650" u="none" cap="none" strike="noStrike">
              <a:solidFill>
                <a:schemeClr val="dk1"/>
              </a:solidFill>
              <a:latin typeface="Calibri"/>
              <a:ea typeface="Calibri"/>
              <a:cs typeface="Calibri"/>
              <a:sym typeface="Calibri"/>
            </a:endParaRPr>
          </a:p>
        </p:txBody>
      </p:sp>
      <p:sp>
        <p:nvSpPr>
          <p:cNvPr id="465" name="Google Shape;465;p14"/>
          <p:cNvSpPr/>
          <p:nvPr/>
        </p:nvSpPr>
        <p:spPr>
          <a:xfrm>
            <a:off x="762000" y="2466975"/>
            <a:ext cx="16764000" cy="1352550"/>
          </a:xfrm>
          <a:prstGeom prst="roundRect">
            <a:avLst>
              <a:gd fmla="val 9859"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4"/>
          <p:cNvSpPr/>
          <p:nvPr/>
        </p:nvSpPr>
        <p:spPr>
          <a:xfrm>
            <a:off x="933450" y="2638425"/>
            <a:ext cx="495300" cy="10477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12749"/>
              </a:buClr>
              <a:buSzPts val="2400"/>
              <a:buFont typeface="Plus Jakarta Sans"/>
              <a:buNone/>
            </a:pPr>
            <a:r>
              <a:rPr b="1" i="0" lang="en-US" sz="2400" u="none" cap="none" strike="noStrike">
                <a:solidFill>
                  <a:srgbClr val="012749"/>
                </a:solidFill>
                <a:latin typeface="Plus Jakarta Sans"/>
                <a:ea typeface="Plus Jakarta Sans"/>
                <a:cs typeface="Plus Jakarta Sans"/>
                <a:sym typeface="Plus Jakarta Sans"/>
              </a:rPr>
              <a:t>1</a:t>
            </a:r>
            <a:endParaRPr b="0" i="0" sz="2400" u="none" cap="none" strike="noStrike">
              <a:solidFill>
                <a:schemeClr val="dk1"/>
              </a:solidFill>
              <a:latin typeface="Calibri"/>
              <a:ea typeface="Calibri"/>
              <a:cs typeface="Calibri"/>
              <a:sym typeface="Calibri"/>
            </a:endParaRPr>
          </a:p>
        </p:txBody>
      </p:sp>
      <p:sp>
        <p:nvSpPr>
          <p:cNvPr id="467" name="Google Shape;467;p14"/>
          <p:cNvSpPr/>
          <p:nvPr/>
        </p:nvSpPr>
        <p:spPr>
          <a:xfrm>
            <a:off x="1524000" y="2638425"/>
            <a:ext cx="5509037"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425"/>
              <a:buFont typeface="Plus Jakarta Sans"/>
              <a:buNone/>
            </a:pPr>
            <a:r>
              <a:rPr b="1" i="0" lang="en-US" sz="1425" u="none" cap="none" strike="noStrike">
                <a:solidFill>
                  <a:srgbClr val="757D86"/>
                </a:solidFill>
                <a:latin typeface="Plus Jakarta Sans"/>
                <a:ea typeface="Plus Jakarta Sans"/>
                <a:cs typeface="Plus Jakarta Sans"/>
                <a:sym typeface="Plus Jakarta Sans"/>
              </a:rPr>
              <a:t>VẤN ĐỀ</a:t>
            </a:r>
            <a:endParaRPr b="0" i="0" sz="1425" u="none" cap="none" strike="noStrike">
              <a:solidFill>
                <a:schemeClr val="dk1"/>
              </a:solidFill>
              <a:latin typeface="Calibri"/>
              <a:ea typeface="Calibri"/>
              <a:cs typeface="Calibri"/>
              <a:sym typeface="Calibri"/>
            </a:endParaRPr>
          </a:p>
        </p:txBody>
      </p:sp>
      <p:sp>
        <p:nvSpPr>
          <p:cNvPr id="468" name="Google Shape;468;p14"/>
          <p:cNvSpPr/>
          <p:nvPr/>
        </p:nvSpPr>
        <p:spPr>
          <a:xfrm>
            <a:off x="1524000" y="2905125"/>
            <a:ext cx="5158462" cy="514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Retention MiniHub giảm ở HAN, chưa rõ ROI mô hình Leader</a:t>
            </a:r>
            <a:endParaRPr b="0" i="0" sz="1650" u="none" cap="none" strike="noStrike">
              <a:solidFill>
                <a:schemeClr val="dk1"/>
              </a:solidFill>
              <a:latin typeface="Calibri"/>
              <a:ea typeface="Calibri"/>
              <a:cs typeface="Calibri"/>
              <a:sym typeface="Calibri"/>
            </a:endParaRPr>
          </a:p>
        </p:txBody>
      </p:sp>
      <p:sp>
        <p:nvSpPr>
          <p:cNvPr id="469" name="Google Shape;469;p14"/>
          <p:cNvSpPr/>
          <p:nvPr/>
        </p:nvSpPr>
        <p:spPr>
          <a:xfrm>
            <a:off x="6665565" y="2638425"/>
            <a:ext cx="5509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425"/>
              <a:buFont typeface="Plus Jakarta Sans"/>
              <a:buNone/>
            </a:pPr>
            <a:r>
              <a:rPr b="1" i="0" lang="en-US" sz="1425" u="none" cap="none" strike="noStrike">
                <a:solidFill>
                  <a:srgbClr val="DA1E28"/>
                </a:solidFill>
                <a:latin typeface="Plus Jakarta Sans"/>
                <a:ea typeface="Plus Jakarta Sans"/>
                <a:cs typeface="Plus Jakarta Sans"/>
                <a:sym typeface="Plus Jakarta Sans"/>
              </a:rPr>
              <a:t>RỦI RO NẾU KHÔNG QUYẾT</a:t>
            </a:r>
            <a:endParaRPr b="0" i="0" sz="1425" u="none" cap="none" strike="noStrike">
              <a:solidFill>
                <a:schemeClr val="dk1"/>
              </a:solidFill>
              <a:latin typeface="Calibri"/>
              <a:ea typeface="Calibri"/>
              <a:cs typeface="Calibri"/>
              <a:sym typeface="Calibri"/>
            </a:endParaRPr>
          </a:p>
        </p:txBody>
      </p:sp>
      <p:sp>
        <p:nvSpPr>
          <p:cNvPr id="470" name="Google Shape;470;p14"/>
          <p:cNvSpPr/>
          <p:nvPr/>
        </p:nvSpPr>
        <p:spPr>
          <a:xfrm>
            <a:off x="6665565" y="2905125"/>
            <a:ext cx="5158615" cy="514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Scale tiếp mà không rõ hiệu quả tài chính, hoặc lỡ momentum nếu trì hoãn quá lâu</a:t>
            </a:r>
            <a:endParaRPr b="0" i="0" sz="1650" u="none" cap="none" strike="noStrike">
              <a:solidFill>
                <a:schemeClr val="dk1"/>
              </a:solidFill>
              <a:latin typeface="Calibri"/>
              <a:ea typeface="Calibri"/>
              <a:cs typeface="Calibri"/>
              <a:sym typeface="Calibri"/>
            </a:endParaRPr>
          </a:p>
        </p:txBody>
      </p:sp>
      <p:sp>
        <p:nvSpPr>
          <p:cNvPr id="471" name="Google Shape;471;p14"/>
          <p:cNvSpPr/>
          <p:nvPr/>
        </p:nvSpPr>
        <p:spPr>
          <a:xfrm>
            <a:off x="11807279" y="2638425"/>
            <a:ext cx="5509171" cy="1009650"/>
          </a:xfrm>
          <a:prstGeom prst="roundRect">
            <a:avLst>
              <a:gd fmla="val 9434"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4"/>
          <p:cNvSpPr/>
          <p:nvPr/>
        </p:nvSpPr>
        <p:spPr>
          <a:xfrm>
            <a:off x="11978729" y="2771775"/>
            <a:ext cx="5682898"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lus Jakarta Sans"/>
              <a:buNone/>
            </a:pPr>
            <a:r>
              <a:rPr b="1" i="0" lang="en-US" sz="1425" u="none" cap="none" strike="noStrike">
                <a:solidFill>
                  <a:srgbClr val="FFFFFF"/>
                </a:solidFill>
                <a:latin typeface="Plus Jakarta Sans"/>
                <a:ea typeface="Plus Jakarta Sans"/>
                <a:cs typeface="Plus Jakarta Sans"/>
                <a:sym typeface="Plus Jakarta Sans"/>
              </a:rPr>
              <a:t>QUYẾT ĐỊNH · DEADLINE 15/8</a:t>
            </a:r>
            <a:endParaRPr b="0" i="0" sz="1425" u="none" cap="none" strike="noStrike">
              <a:solidFill>
                <a:schemeClr val="dk1"/>
              </a:solidFill>
              <a:latin typeface="Calibri"/>
              <a:ea typeface="Calibri"/>
              <a:cs typeface="Calibri"/>
              <a:sym typeface="Calibri"/>
            </a:endParaRPr>
          </a:p>
        </p:txBody>
      </p:sp>
      <p:sp>
        <p:nvSpPr>
          <p:cNvPr id="473" name="Google Shape;473;p14"/>
          <p:cNvSpPr/>
          <p:nvPr/>
        </p:nvSpPr>
        <p:spPr>
          <a:xfrm>
            <a:off x="11978729" y="3038475"/>
            <a:ext cx="5321259" cy="514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Roboto"/>
              <a:buNone/>
            </a:pPr>
            <a:r>
              <a:rPr b="0" i="0" lang="en-US" sz="1650" u="none" cap="none" strike="noStrike">
                <a:solidFill>
                  <a:srgbClr val="FFFFFF"/>
                </a:solidFill>
                <a:latin typeface="Roboto"/>
                <a:ea typeface="Roboto"/>
                <a:cs typeface="Roboto"/>
                <a:sym typeface="Roboto"/>
              </a:rPr>
              <a:t>Duyệt đánh giá PnL trước 15/8, chốt go/no-go ngay sau đó</a:t>
            </a:r>
            <a:endParaRPr b="0" i="0" sz="1650" u="none" cap="none" strike="noStrike">
              <a:solidFill>
                <a:schemeClr val="dk1"/>
              </a:solidFill>
              <a:latin typeface="Calibri"/>
              <a:ea typeface="Calibri"/>
              <a:cs typeface="Calibri"/>
              <a:sym typeface="Calibri"/>
            </a:endParaRPr>
          </a:p>
        </p:txBody>
      </p:sp>
      <p:sp>
        <p:nvSpPr>
          <p:cNvPr id="474" name="Google Shape;474;p14"/>
          <p:cNvSpPr/>
          <p:nvPr/>
        </p:nvSpPr>
        <p:spPr>
          <a:xfrm>
            <a:off x="762000" y="3952875"/>
            <a:ext cx="16764000" cy="1114425"/>
          </a:xfrm>
          <a:prstGeom prst="roundRect">
            <a:avLst>
              <a:gd fmla="val 11966"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933450" y="4124325"/>
            <a:ext cx="495300" cy="809625"/>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12749"/>
              </a:buClr>
              <a:buSzPts val="2400"/>
              <a:buFont typeface="Plus Jakarta Sans"/>
              <a:buNone/>
            </a:pPr>
            <a:r>
              <a:rPr b="1" i="0" lang="en-US" sz="2400" u="none" cap="none" strike="noStrike">
                <a:solidFill>
                  <a:srgbClr val="012749"/>
                </a:solidFill>
                <a:latin typeface="Plus Jakarta Sans"/>
                <a:ea typeface="Plus Jakarta Sans"/>
                <a:cs typeface="Plus Jakarta Sans"/>
                <a:sym typeface="Plus Jakarta Sans"/>
              </a:rPr>
              <a:t>2</a:t>
            </a:r>
            <a:endParaRPr b="0" i="0" sz="2400" u="none" cap="none" strike="noStrike">
              <a:solidFill>
                <a:schemeClr val="dk1"/>
              </a:solidFill>
              <a:latin typeface="Calibri"/>
              <a:ea typeface="Calibri"/>
              <a:cs typeface="Calibri"/>
              <a:sym typeface="Calibri"/>
            </a:endParaRPr>
          </a:p>
        </p:txBody>
      </p:sp>
      <p:sp>
        <p:nvSpPr>
          <p:cNvPr id="476" name="Google Shape;476;p14"/>
          <p:cNvSpPr/>
          <p:nvPr/>
        </p:nvSpPr>
        <p:spPr>
          <a:xfrm>
            <a:off x="1524000" y="4124325"/>
            <a:ext cx="5509037"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425"/>
              <a:buFont typeface="Plus Jakarta Sans"/>
              <a:buNone/>
            </a:pPr>
            <a:r>
              <a:rPr b="1" i="0" lang="en-US" sz="1425" u="none" cap="none" strike="noStrike">
                <a:solidFill>
                  <a:srgbClr val="757D86"/>
                </a:solidFill>
                <a:latin typeface="Plus Jakarta Sans"/>
                <a:ea typeface="Plus Jakarta Sans"/>
                <a:cs typeface="Plus Jakarta Sans"/>
                <a:sym typeface="Plus Jakarta Sans"/>
              </a:rPr>
              <a:t>VẤN ĐỀ</a:t>
            </a:r>
            <a:endParaRPr b="0" i="0" sz="1425" u="none" cap="none" strike="noStrike">
              <a:solidFill>
                <a:schemeClr val="dk1"/>
              </a:solidFill>
              <a:latin typeface="Calibri"/>
              <a:ea typeface="Calibri"/>
              <a:cs typeface="Calibri"/>
              <a:sym typeface="Calibri"/>
            </a:endParaRPr>
          </a:p>
        </p:txBody>
      </p:sp>
      <p:sp>
        <p:nvSpPr>
          <p:cNvPr id="477" name="Google Shape;477;p14"/>
          <p:cNvSpPr/>
          <p:nvPr/>
        </p:nvSpPr>
        <p:spPr>
          <a:xfrm>
            <a:off x="1524000" y="4391025"/>
            <a:ext cx="5158462" cy="514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Target KPI đang tính theo zone cũ, không còn khớp mô hình mới</a:t>
            </a:r>
            <a:endParaRPr b="0" i="0" sz="1650" u="none" cap="none" strike="noStrike">
              <a:solidFill>
                <a:schemeClr val="dk1"/>
              </a:solidFill>
              <a:latin typeface="Calibri"/>
              <a:ea typeface="Calibri"/>
              <a:cs typeface="Calibri"/>
              <a:sym typeface="Calibri"/>
            </a:endParaRPr>
          </a:p>
        </p:txBody>
      </p:sp>
      <p:sp>
        <p:nvSpPr>
          <p:cNvPr id="478" name="Google Shape;478;p14"/>
          <p:cNvSpPr/>
          <p:nvPr/>
        </p:nvSpPr>
        <p:spPr>
          <a:xfrm>
            <a:off x="6665565" y="4124325"/>
            <a:ext cx="5509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425"/>
              <a:buFont typeface="Plus Jakarta Sans"/>
              <a:buNone/>
            </a:pPr>
            <a:r>
              <a:rPr b="1" i="0" lang="en-US" sz="1425" u="none" cap="none" strike="noStrike">
                <a:solidFill>
                  <a:srgbClr val="DA1E28"/>
                </a:solidFill>
                <a:latin typeface="Plus Jakarta Sans"/>
                <a:ea typeface="Plus Jakarta Sans"/>
                <a:cs typeface="Plus Jakarta Sans"/>
                <a:sym typeface="Plus Jakarta Sans"/>
              </a:rPr>
              <a:t>RỦI RO NẾU KHÔNG QUYẾT</a:t>
            </a:r>
            <a:endParaRPr b="0" i="0" sz="1425" u="none" cap="none" strike="noStrike">
              <a:solidFill>
                <a:schemeClr val="dk1"/>
              </a:solidFill>
              <a:latin typeface="Calibri"/>
              <a:ea typeface="Calibri"/>
              <a:cs typeface="Calibri"/>
              <a:sym typeface="Calibri"/>
            </a:endParaRPr>
          </a:p>
        </p:txBody>
      </p:sp>
      <p:sp>
        <p:nvSpPr>
          <p:cNvPr id="479" name="Google Shape;479;p14"/>
          <p:cNvSpPr/>
          <p:nvPr/>
        </p:nvSpPr>
        <p:spPr>
          <a:xfrm>
            <a:off x="6665565" y="4391025"/>
            <a:ext cx="5158615" cy="514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Đánh giá sai hiệu suất, demotivate team nếu giữ nguyên target cũ</a:t>
            </a:r>
            <a:endParaRPr b="0" i="0" sz="1650" u="none" cap="none" strike="noStrike">
              <a:solidFill>
                <a:schemeClr val="dk1"/>
              </a:solidFill>
              <a:latin typeface="Calibri"/>
              <a:ea typeface="Calibri"/>
              <a:cs typeface="Calibri"/>
              <a:sym typeface="Calibri"/>
            </a:endParaRPr>
          </a:p>
        </p:txBody>
      </p:sp>
      <p:sp>
        <p:nvSpPr>
          <p:cNvPr id="480" name="Google Shape;480;p14"/>
          <p:cNvSpPr/>
          <p:nvPr/>
        </p:nvSpPr>
        <p:spPr>
          <a:xfrm>
            <a:off x="11807279" y="4124325"/>
            <a:ext cx="5509171" cy="771525"/>
          </a:xfrm>
          <a:prstGeom prst="roundRect">
            <a:avLst>
              <a:gd fmla="val 12346"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
          <p:cNvSpPr/>
          <p:nvPr/>
        </p:nvSpPr>
        <p:spPr>
          <a:xfrm>
            <a:off x="11978729" y="4257675"/>
            <a:ext cx="5682898"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lus Jakarta Sans"/>
              <a:buNone/>
            </a:pPr>
            <a:r>
              <a:rPr b="1" i="0" lang="en-US" sz="1425" u="none" cap="none" strike="noStrike">
                <a:solidFill>
                  <a:srgbClr val="FFFFFF"/>
                </a:solidFill>
                <a:latin typeface="Plus Jakarta Sans"/>
                <a:ea typeface="Plus Jakarta Sans"/>
                <a:cs typeface="Plus Jakarta Sans"/>
                <a:sym typeface="Plus Jakarta Sans"/>
              </a:rPr>
              <a:t>QUYẾT ĐỊNH · DEADLINE 1/8</a:t>
            </a:r>
            <a:endParaRPr b="0" i="0" sz="1425" u="none" cap="none" strike="noStrike">
              <a:solidFill>
                <a:schemeClr val="dk1"/>
              </a:solidFill>
              <a:latin typeface="Calibri"/>
              <a:ea typeface="Calibri"/>
              <a:cs typeface="Calibri"/>
              <a:sym typeface="Calibri"/>
            </a:endParaRPr>
          </a:p>
        </p:txBody>
      </p:sp>
      <p:sp>
        <p:nvSpPr>
          <p:cNvPr id="482" name="Google Shape;482;p14"/>
          <p:cNvSpPr/>
          <p:nvPr/>
        </p:nvSpPr>
        <p:spPr>
          <a:xfrm>
            <a:off x="11978729" y="4524375"/>
            <a:ext cx="5682898"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Roboto"/>
              <a:buNone/>
            </a:pPr>
            <a:r>
              <a:rPr b="0" i="0" lang="en-US" sz="1650" u="none" cap="none" strike="noStrike">
                <a:solidFill>
                  <a:srgbClr val="FFFFFF"/>
                </a:solidFill>
                <a:latin typeface="Roboto"/>
                <a:ea typeface="Roboto"/>
                <a:cs typeface="Roboto"/>
                <a:sym typeface="Roboto"/>
              </a:rPr>
              <a:t>Điều chỉnh target theo baseline mới ngay tháng 8</a:t>
            </a:r>
            <a:endParaRPr b="0" i="0" sz="1650" u="none" cap="none" strike="noStrike">
              <a:solidFill>
                <a:schemeClr val="dk1"/>
              </a:solidFill>
              <a:latin typeface="Calibri"/>
              <a:ea typeface="Calibri"/>
              <a:cs typeface="Calibri"/>
              <a:sym typeface="Calibri"/>
            </a:endParaRPr>
          </a:p>
        </p:txBody>
      </p:sp>
      <p:sp>
        <p:nvSpPr>
          <p:cNvPr id="483" name="Google Shape;483;p14"/>
          <p:cNvSpPr/>
          <p:nvPr/>
        </p:nvSpPr>
        <p:spPr>
          <a:xfrm>
            <a:off x="762000" y="5200650"/>
            <a:ext cx="16764000" cy="1352550"/>
          </a:xfrm>
          <a:prstGeom prst="roundRect">
            <a:avLst>
              <a:gd fmla="val 9859"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4"/>
          <p:cNvSpPr/>
          <p:nvPr/>
        </p:nvSpPr>
        <p:spPr>
          <a:xfrm>
            <a:off x="933450" y="5372100"/>
            <a:ext cx="495300" cy="104775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12749"/>
              </a:buClr>
              <a:buSzPts val="2400"/>
              <a:buFont typeface="Plus Jakarta Sans"/>
              <a:buNone/>
            </a:pPr>
            <a:r>
              <a:rPr b="1" i="0" lang="en-US" sz="2400" u="none" cap="none" strike="noStrike">
                <a:solidFill>
                  <a:srgbClr val="012749"/>
                </a:solidFill>
                <a:latin typeface="Plus Jakarta Sans"/>
                <a:ea typeface="Plus Jakarta Sans"/>
                <a:cs typeface="Plus Jakarta Sans"/>
                <a:sym typeface="Plus Jakarta Sans"/>
              </a:rPr>
              <a:t>3</a:t>
            </a:r>
            <a:endParaRPr b="0" i="0" sz="2400" u="none" cap="none" strike="noStrike">
              <a:solidFill>
                <a:schemeClr val="dk1"/>
              </a:solidFill>
              <a:latin typeface="Calibri"/>
              <a:ea typeface="Calibri"/>
              <a:cs typeface="Calibri"/>
              <a:sym typeface="Calibri"/>
            </a:endParaRPr>
          </a:p>
        </p:txBody>
      </p:sp>
      <p:sp>
        <p:nvSpPr>
          <p:cNvPr id="485" name="Google Shape;485;p14"/>
          <p:cNvSpPr/>
          <p:nvPr/>
        </p:nvSpPr>
        <p:spPr>
          <a:xfrm>
            <a:off x="1524000" y="5372100"/>
            <a:ext cx="5509037"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425"/>
              <a:buFont typeface="Plus Jakarta Sans"/>
              <a:buNone/>
            </a:pPr>
            <a:r>
              <a:rPr b="1" i="0" lang="en-US" sz="1425" u="none" cap="none" strike="noStrike">
                <a:solidFill>
                  <a:srgbClr val="757D86"/>
                </a:solidFill>
                <a:latin typeface="Plus Jakarta Sans"/>
                <a:ea typeface="Plus Jakarta Sans"/>
                <a:cs typeface="Plus Jakarta Sans"/>
                <a:sym typeface="Plus Jakarta Sans"/>
              </a:rPr>
              <a:t>VẤN ĐỀ</a:t>
            </a:r>
            <a:endParaRPr b="0" i="0" sz="1425" u="none" cap="none" strike="noStrike">
              <a:solidFill>
                <a:schemeClr val="dk1"/>
              </a:solidFill>
              <a:latin typeface="Calibri"/>
              <a:ea typeface="Calibri"/>
              <a:cs typeface="Calibri"/>
              <a:sym typeface="Calibri"/>
            </a:endParaRPr>
          </a:p>
        </p:txBody>
      </p:sp>
      <p:sp>
        <p:nvSpPr>
          <p:cNvPr id="486" name="Google Shape;486;p14"/>
          <p:cNvSpPr/>
          <p:nvPr/>
        </p:nvSpPr>
        <p:spPr>
          <a:xfrm>
            <a:off x="1524000" y="5638800"/>
            <a:ext cx="5158462" cy="514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Lead EV giảm 10% dù demand tăng 30% — phễu đang rò rỉ</a:t>
            </a:r>
            <a:endParaRPr b="0" i="0" sz="1650" u="none" cap="none" strike="noStrike">
              <a:solidFill>
                <a:schemeClr val="dk1"/>
              </a:solidFill>
              <a:latin typeface="Calibri"/>
              <a:ea typeface="Calibri"/>
              <a:cs typeface="Calibri"/>
              <a:sym typeface="Calibri"/>
            </a:endParaRPr>
          </a:p>
        </p:txBody>
      </p:sp>
      <p:sp>
        <p:nvSpPr>
          <p:cNvPr id="487" name="Google Shape;487;p14"/>
          <p:cNvSpPr/>
          <p:nvPr/>
        </p:nvSpPr>
        <p:spPr>
          <a:xfrm>
            <a:off x="6665565" y="5372100"/>
            <a:ext cx="5509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425"/>
              <a:buFont typeface="Plus Jakarta Sans"/>
              <a:buNone/>
            </a:pPr>
            <a:r>
              <a:rPr b="1" i="0" lang="en-US" sz="1425" u="none" cap="none" strike="noStrike">
                <a:solidFill>
                  <a:srgbClr val="DA1E28"/>
                </a:solidFill>
                <a:latin typeface="Plus Jakarta Sans"/>
                <a:ea typeface="Plus Jakarta Sans"/>
                <a:cs typeface="Plus Jakarta Sans"/>
                <a:sym typeface="Plus Jakarta Sans"/>
              </a:rPr>
              <a:t>RỦI RO NẾU KHÔNG QUYẾT</a:t>
            </a:r>
            <a:endParaRPr b="0" i="0" sz="1425" u="none" cap="none" strike="noStrike">
              <a:solidFill>
                <a:schemeClr val="dk1"/>
              </a:solidFill>
              <a:latin typeface="Calibri"/>
              <a:ea typeface="Calibri"/>
              <a:cs typeface="Calibri"/>
              <a:sym typeface="Calibri"/>
            </a:endParaRPr>
          </a:p>
        </p:txBody>
      </p:sp>
      <p:sp>
        <p:nvSpPr>
          <p:cNvPr id="488" name="Google Shape;488;p14"/>
          <p:cNvSpPr/>
          <p:nvPr/>
        </p:nvSpPr>
        <p:spPr>
          <a:xfrm>
            <a:off x="6665565" y="5638800"/>
            <a:ext cx="5158615" cy="514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Mất cơ hội mùa cao điểm chuyển đổi nếu chờ thêm 1 tháng</a:t>
            </a:r>
            <a:endParaRPr b="0" i="0" sz="1650" u="none" cap="none" strike="noStrike">
              <a:solidFill>
                <a:schemeClr val="dk1"/>
              </a:solidFill>
              <a:latin typeface="Calibri"/>
              <a:ea typeface="Calibri"/>
              <a:cs typeface="Calibri"/>
              <a:sym typeface="Calibri"/>
            </a:endParaRPr>
          </a:p>
        </p:txBody>
      </p:sp>
      <p:sp>
        <p:nvSpPr>
          <p:cNvPr id="489" name="Google Shape;489;p14"/>
          <p:cNvSpPr/>
          <p:nvPr/>
        </p:nvSpPr>
        <p:spPr>
          <a:xfrm>
            <a:off x="11807279" y="5372100"/>
            <a:ext cx="5509171" cy="1009650"/>
          </a:xfrm>
          <a:prstGeom prst="roundRect">
            <a:avLst>
              <a:gd fmla="val 9434"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4"/>
          <p:cNvSpPr/>
          <p:nvPr/>
        </p:nvSpPr>
        <p:spPr>
          <a:xfrm>
            <a:off x="11978729" y="5505450"/>
            <a:ext cx="5682898"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lus Jakarta Sans"/>
              <a:buNone/>
            </a:pPr>
            <a:r>
              <a:rPr b="1" i="0" lang="en-US" sz="1425" u="none" cap="none" strike="noStrike">
                <a:solidFill>
                  <a:srgbClr val="FFFFFF"/>
                </a:solidFill>
                <a:latin typeface="Plus Jakarta Sans"/>
                <a:ea typeface="Plus Jakarta Sans"/>
                <a:cs typeface="Plus Jakarta Sans"/>
                <a:sym typeface="Plus Jakarta Sans"/>
              </a:rPr>
              <a:t>QUYẾT ĐỊNH · DEADLINE tuần này</a:t>
            </a:r>
            <a:endParaRPr b="0" i="0" sz="1425" u="none" cap="none" strike="noStrike">
              <a:solidFill>
                <a:schemeClr val="dk1"/>
              </a:solidFill>
              <a:latin typeface="Calibri"/>
              <a:ea typeface="Calibri"/>
              <a:cs typeface="Calibri"/>
              <a:sym typeface="Calibri"/>
            </a:endParaRPr>
          </a:p>
        </p:txBody>
      </p:sp>
      <p:sp>
        <p:nvSpPr>
          <p:cNvPr id="491" name="Google Shape;491;p14"/>
          <p:cNvSpPr/>
          <p:nvPr/>
        </p:nvSpPr>
        <p:spPr>
          <a:xfrm>
            <a:off x="11978729" y="5772150"/>
            <a:ext cx="5321259" cy="5143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Roboto"/>
              <a:buNone/>
            </a:pPr>
            <a:r>
              <a:rPr b="0" i="0" lang="en-US" sz="1650" u="none" cap="none" strike="noStrike">
                <a:solidFill>
                  <a:srgbClr val="FFFFFF"/>
                </a:solidFill>
                <a:latin typeface="Roboto"/>
                <a:ea typeface="Roboto"/>
                <a:cs typeface="Roboto"/>
                <a:sym typeface="Roboto"/>
              </a:rPr>
              <a:t>Duyệt ngân sách CTT đua top theo đề xuất S&amp;P trong tuần này</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5"/>
          <p:cNvSpPr/>
          <p:nvPr/>
        </p:nvSpPr>
        <p:spPr>
          <a:xfrm>
            <a:off x="0" y="0"/>
            <a:ext cx="18288000" cy="10287000"/>
          </a:xfrm>
          <a:prstGeom prst="rect">
            <a:avLst/>
          </a:prstGeom>
          <a:gradFill>
            <a:gsLst>
              <a:gs pos="0">
                <a:srgbClr val="012749"/>
              </a:gs>
              <a:gs pos="100000">
                <a:srgbClr val="0E4174"/>
              </a:gs>
            </a:gsLst>
            <a:lin ang="18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5"/>
          <p:cNvSpPr/>
          <p:nvPr/>
        </p:nvSpPr>
        <p:spPr>
          <a:xfrm>
            <a:off x="762000" y="2395538"/>
            <a:ext cx="18440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0" i="0" lang="en-US" sz="1650" u="none" cap="none" strike="noStrike">
                <a:solidFill>
                  <a:srgbClr val="FFFFFF"/>
                </a:solidFill>
                <a:latin typeface="Plus Jakarta Sans"/>
                <a:ea typeface="Plus Jakarta Sans"/>
                <a:cs typeface="Plus Jakarta Sans"/>
                <a:sym typeface="Plus Jakarta Sans"/>
              </a:rPr>
              <a:t>TỔNG KẾT · BOOKEND</a:t>
            </a:r>
            <a:endParaRPr b="0" i="0" sz="1650" u="none" cap="none" strike="noStrike">
              <a:solidFill>
                <a:schemeClr val="dk1"/>
              </a:solidFill>
              <a:latin typeface="Calibri"/>
              <a:ea typeface="Calibri"/>
              <a:cs typeface="Calibri"/>
              <a:sym typeface="Calibri"/>
            </a:endParaRPr>
          </a:p>
        </p:txBody>
      </p:sp>
      <p:sp>
        <p:nvSpPr>
          <p:cNvPr id="499" name="Google Shape;499;p15"/>
          <p:cNvSpPr/>
          <p:nvPr/>
        </p:nvSpPr>
        <p:spPr>
          <a:xfrm>
            <a:off x="762000" y="2719388"/>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300"/>
              <a:buFont typeface="Plus Jakarta Sans"/>
              <a:buNone/>
            </a:pPr>
            <a:r>
              <a:rPr b="1" i="0" lang="en-US" sz="3300" u="none" cap="none" strike="noStrike">
                <a:solidFill>
                  <a:srgbClr val="FFFFFF"/>
                </a:solidFill>
                <a:latin typeface="Plus Jakarta Sans"/>
                <a:ea typeface="Plus Jakarta Sans"/>
                <a:cs typeface="Plus Jakarta Sans"/>
                <a:sym typeface="Plus Jakarta Sans"/>
              </a:rPr>
              <a:t>Tổng kết — quay lại 3 câu hỏi đầu báo cáo</a:t>
            </a:r>
            <a:endParaRPr b="0" i="0" sz="3300" u="none" cap="none" strike="noStrike">
              <a:solidFill>
                <a:schemeClr val="dk1"/>
              </a:solidFill>
              <a:latin typeface="Calibri"/>
              <a:ea typeface="Calibri"/>
              <a:cs typeface="Calibri"/>
              <a:sym typeface="Calibri"/>
            </a:endParaRPr>
          </a:p>
        </p:txBody>
      </p:sp>
      <p:sp>
        <p:nvSpPr>
          <p:cNvPr id="500" name="Google Shape;500;p15"/>
          <p:cNvSpPr/>
          <p:nvPr/>
        </p:nvSpPr>
        <p:spPr>
          <a:xfrm>
            <a:off x="762000" y="3500438"/>
            <a:ext cx="16764000" cy="981075"/>
          </a:xfrm>
          <a:prstGeom prst="roundRect">
            <a:avLst>
              <a:gd fmla="val 13592" name="adj"/>
            </a:avLst>
          </a:prstGeom>
          <a:solidFill>
            <a:srgbClr val="FFFF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5"/>
          <p:cNvSpPr/>
          <p:nvPr/>
        </p:nvSpPr>
        <p:spPr>
          <a:xfrm>
            <a:off x="1009650" y="3690937"/>
            <a:ext cx="191244" cy="6381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EA362"/>
              </a:buClr>
              <a:buSzPts val="2250"/>
              <a:buFont typeface="Plus Jakarta Sans"/>
              <a:buNone/>
            </a:pPr>
            <a:r>
              <a:rPr b="1" i="0" lang="en-US" sz="2250" u="none" cap="none" strike="noStrike">
                <a:solidFill>
                  <a:srgbClr val="FEA362"/>
                </a:solidFill>
                <a:latin typeface="Plus Jakarta Sans"/>
                <a:ea typeface="Plus Jakarta Sans"/>
                <a:cs typeface="Plus Jakarta Sans"/>
                <a:sym typeface="Plus Jakarta Sans"/>
              </a:rPr>
              <a:t>1</a:t>
            </a:r>
            <a:endParaRPr b="0" i="0" sz="2250" u="none" cap="none" strike="noStrike">
              <a:solidFill>
                <a:schemeClr val="dk1"/>
              </a:solidFill>
              <a:latin typeface="Calibri"/>
              <a:ea typeface="Calibri"/>
              <a:cs typeface="Calibri"/>
              <a:sym typeface="Calibri"/>
            </a:endParaRPr>
          </a:p>
        </p:txBody>
      </p:sp>
      <p:sp>
        <p:nvSpPr>
          <p:cNvPr id="502" name="Google Shape;502;p15"/>
          <p:cNvSpPr/>
          <p:nvPr/>
        </p:nvSpPr>
        <p:spPr>
          <a:xfrm>
            <a:off x="1315194" y="3690937"/>
            <a:ext cx="13541186"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Vì sao FT active HAN giảm dù retention cải thiện?</a:t>
            </a:r>
            <a:endParaRPr b="0" i="0" sz="1800" u="none" cap="none" strike="noStrike">
              <a:solidFill>
                <a:schemeClr val="dk1"/>
              </a:solidFill>
              <a:latin typeface="Calibri"/>
              <a:ea typeface="Calibri"/>
              <a:cs typeface="Calibri"/>
              <a:sym typeface="Calibri"/>
            </a:endParaRPr>
          </a:p>
        </p:txBody>
      </p:sp>
      <p:sp>
        <p:nvSpPr>
          <p:cNvPr id="503" name="Google Shape;503;p15"/>
          <p:cNvSpPr/>
          <p:nvPr/>
        </p:nvSpPr>
        <p:spPr>
          <a:xfrm>
            <a:off x="1315194" y="4033837"/>
            <a:ext cx="13541186" cy="2952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725"/>
              <a:buFont typeface="Roboto"/>
              <a:buNone/>
            </a:pPr>
            <a:r>
              <a:rPr b="0" i="0" lang="en-US" sz="1725" u="none" cap="none" strike="noStrike">
                <a:solidFill>
                  <a:srgbClr val="FFFFFF"/>
                </a:solidFill>
                <a:latin typeface="Roboto"/>
                <a:ea typeface="Roboto"/>
                <a:cs typeface="Roboto"/>
                <a:sym typeface="Roboto"/>
              </a:rPr>
              <a:t>Vấn đề nằm ở chất lượng nguồn tuyển, không phải chương trình giữ chân — cần điều tra nguyên nhân tuyển dụng trong tháng 8.</a:t>
            </a:r>
            <a:endParaRPr b="0" i="0" sz="1725" u="none" cap="none" strike="noStrike">
              <a:solidFill>
                <a:schemeClr val="dk1"/>
              </a:solidFill>
              <a:latin typeface="Calibri"/>
              <a:ea typeface="Calibri"/>
              <a:cs typeface="Calibri"/>
              <a:sym typeface="Calibri"/>
            </a:endParaRPr>
          </a:p>
        </p:txBody>
      </p:sp>
      <p:sp>
        <p:nvSpPr>
          <p:cNvPr id="504" name="Google Shape;504;p15"/>
          <p:cNvSpPr/>
          <p:nvPr/>
        </p:nvSpPr>
        <p:spPr>
          <a:xfrm>
            <a:off x="762000" y="4633913"/>
            <a:ext cx="16764000" cy="981075"/>
          </a:xfrm>
          <a:prstGeom prst="roundRect">
            <a:avLst>
              <a:gd fmla="val 13592" name="adj"/>
            </a:avLst>
          </a:prstGeom>
          <a:solidFill>
            <a:srgbClr val="FFFF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5"/>
          <p:cNvSpPr/>
          <p:nvPr/>
        </p:nvSpPr>
        <p:spPr>
          <a:xfrm>
            <a:off x="1009650" y="4824413"/>
            <a:ext cx="246906" cy="6381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EA362"/>
              </a:buClr>
              <a:buSzPts val="2250"/>
              <a:buFont typeface="Plus Jakarta Sans"/>
              <a:buNone/>
            </a:pPr>
            <a:r>
              <a:rPr b="1" i="0" lang="en-US" sz="2250" u="none" cap="none" strike="noStrike">
                <a:solidFill>
                  <a:srgbClr val="FEA362"/>
                </a:solidFill>
                <a:latin typeface="Plus Jakarta Sans"/>
                <a:ea typeface="Plus Jakarta Sans"/>
                <a:cs typeface="Plus Jakarta Sans"/>
                <a:sym typeface="Plus Jakarta Sans"/>
              </a:rPr>
              <a:t>2</a:t>
            </a:r>
            <a:endParaRPr b="0" i="0" sz="2250" u="none" cap="none" strike="noStrike">
              <a:solidFill>
                <a:schemeClr val="dk1"/>
              </a:solidFill>
              <a:latin typeface="Calibri"/>
              <a:ea typeface="Calibri"/>
              <a:cs typeface="Calibri"/>
              <a:sym typeface="Calibri"/>
            </a:endParaRPr>
          </a:p>
        </p:txBody>
      </p:sp>
      <p:sp>
        <p:nvSpPr>
          <p:cNvPr id="506" name="Google Shape;506;p15"/>
          <p:cNvSpPr/>
          <p:nvPr/>
        </p:nvSpPr>
        <p:spPr>
          <a:xfrm>
            <a:off x="1370856" y="4824413"/>
            <a:ext cx="10106531"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MiniHub có đáng scale tiếp không?</a:t>
            </a:r>
            <a:endParaRPr b="0" i="0" sz="1800" u="none" cap="none" strike="noStrike">
              <a:solidFill>
                <a:schemeClr val="dk1"/>
              </a:solidFill>
              <a:latin typeface="Calibri"/>
              <a:ea typeface="Calibri"/>
              <a:cs typeface="Calibri"/>
              <a:sym typeface="Calibri"/>
            </a:endParaRPr>
          </a:p>
        </p:txBody>
      </p:sp>
      <p:sp>
        <p:nvSpPr>
          <p:cNvPr id="507" name="Google Shape;507;p15"/>
          <p:cNvSpPr/>
          <p:nvPr/>
        </p:nvSpPr>
        <p:spPr>
          <a:xfrm>
            <a:off x="1370856" y="5167313"/>
            <a:ext cx="10106531" cy="2952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725"/>
              <a:buFont typeface="Roboto"/>
              <a:buNone/>
            </a:pPr>
            <a:r>
              <a:rPr b="0" i="0" lang="en-US" sz="1725" u="none" cap="none" strike="noStrike">
                <a:solidFill>
                  <a:srgbClr val="FFFFFF"/>
                </a:solidFill>
                <a:latin typeface="Roboto"/>
                <a:ea typeface="Roboto"/>
                <a:cs typeface="Roboto"/>
                <a:sym typeface="Roboto"/>
              </a:rPr>
              <a:t>Chưa đủ dữ liệu để kết luận — quyết định go/no-go sẽ chốt sau khi có đánh giá PnL trước 15/8.</a:t>
            </a:r>
            <a:endParaRPr b="0" i="0" sz="1725" u="none" cap="none" strike="noStrike">
              <a:solidFill>
                <a:schemeClr val="dk1"/>
              </a:solidFill>
              <a:latin typeface="Calibri"/>
              <a:ea typeface="Calibri"/>
              <a:cs typeface="Calibri"/>
              <a:sym typeface="Calibri"/>
            </a:endParaRPr>
          </a:p>
        </p:txBody>
      </p:sp>
      <p:sp>
        <p:nvSpPr>
          <p:cNvPr id="508" name="Google Shape;508;p15"/>
          <p:cNvSpPr/>
          <p:nvPr/>
        </p:nvSpPr>
        <p:spPr>
          <a:xfrm>
            <a:off x="762000" y="5767388"/>
            <a:ext cx="16764000" cy="981075"/>
          </a:xfrm>
          <a:prstGeom prst="roundRect">
            <a:avLst>
              <a:gd fmla="val 13592" name="adj"/>
            </a:avLst>
          </a:prstGeom>
          <a:solidFill>
            <a:srgbClr val="FFFFFF">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5"/>
          <p:cNvSpPr/>
          <p:nvPr/>
        </p:nvSpPr>
        <p:spPr>
          <a:xfrm>
            <a:off x="1009650" y="5957888"/>
            <a:ext cx="250924" cy="6381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EA362"/>
              </a:buClr>
              <a:buSzPts val="2250"/>
              <a:buFont typeface="Plus Jakarta Sans"/>
              <a:buNone/>
            </a:pPr>
            <a:r>
              <a:rPr b="1" i="0" lang="en-US" sz="2250" u="none" cap="none" strike="noStrike">
                <a:solidFill>
                  <a:srgbClr val="FEA362"/>
                </a:solidFill>
                <a:latin typeface="Plus Jakarta Sans"/>
                <a:ea typeface="Plus Jakarta Sans"/>
                <a:cs typeface="Plus Jakarta Sans"/>
                <a:sym typeface="Plus Jakarta Sans"/>
              </a:rPr>
              <a:t>3</a:t>
            </a:r>
            <a:endParaRPr b="0" i="0" sz="2250" u="none" cap="none" strike="noStrike">
              <a:solidFill>
                <a:schemeClr val="dk1"/>
              </a:solidFill>
              <a:latin typeface="Calibri"/>
              <a:ea typeface="Calibri"/>
              <a:cs typeface="Calibri"/>
              <a:sym typeface="Calibri"/>
            </a:endParaRPr>
          </a:p>
        </p:txBody>
      </p:sp>
      <p:sp>
        <p:nvSpPr>
          <p:cNvPr id="510" name="Google Shape;510;p15"/>
          <p:cNvSpPr/>
          <p:nvPr/>
        </p:nvSpPr>
        <p:spPr>
          <a:xfrm>
            <a:off x="1374874" y="5957888"/>
            <a:ext cx="8951714" cy="32385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Ngân sách EV tháng 8 nên ưu tiên gì?</a:t>
            </a:r>
            <a:endParaRPr b="0" i="0" sz="1800" u="none" cap="none" strike="noStrike">
              <a:solidFill>
                <a:schemeClr val="dk1"/>
              </a:solidFill>
              <a:latin typeface="Calibri"/>
              <a:ea typeface="Calibri"/>
              <a:cs typeface="Calibri"/>
              <a:sym typeface="Calibri"/>
            </a:endParaRPr>
          </a:p>
        </p:txBody>
      </p:sp>
      <p:sp>
        <p:nvSpPr>
          <p:cNvPr id="511" name="Google Shape;511;p15"/>
          <p:cNvSpPr/>
          <p:nvPr/>
        </p:nvSpPr>
        <p:spPr>
          <a:xfrm>
            <a:off x="1374874" y="6300788"/>
            <a:ext cx="8951714" cy="2952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725"/>
              <a:buFont typeface="Roboto"/>
              <a:buNone/>
            </a:pPr>
            <a:r>
              <a:rPr b="0" i="0" lang="en-US" sz="1725" u="none" cap="none" strike="noStrike">
                <a:solidFill>
                  <a:srgbClr val="FFFFFF"/>
                </a:solidFill>
                <a:latin typeface="Roboto"/>
                <a:ea typeface="Roboto"/>
                <a:cs typeface="Roboto"/>
                <a:sym typeface="Roboto"/>
              </a:rPr>
              <a:t>Đề xuất duyệt ngân sách CTT đua top thuê xe theo đề xuất S&amp;P ngay trong tuần này.</a:t>
            </a:r>
            <a:endParaRPr b="0" i="0" sz="1725" u="none" cap="none" strike="noStrike">
              <a:solidFill>
                <a:schemeClr val="dk1"/>
              </a:solidFill>
              <a:latin typeface="Calibri"/>
              <a:ea typeface="Calibri"/>
              <a:cs typeface="Calibri"/>
              <a:sym typeface="Calibri"/>
            </a:endParaRPr>
          </a:p>
        </p:txBody>
      </p:sp>
      <p:sp>
        <p:nvSpPr>
          <p:cNvPr id="512" name="Google Shape;512;p15"/>
          <p:cNvSpPr/>
          <p:nvPr/>
        </p:nvSpPr>
        <p:spPr>
          <a:xfrm>
            <a:off x="762000" y="7072313"/>
            <a:ext cx="18440400" cy="3714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2100"/>
              <a:buFont typeface="Plus Jakarta Sans"/>
              <a:buNone/>
            </a:pPr>
            <a:r>
              <a:rPr b="1" i="0" lang="en-US" sz="2100" u="none" cap="none" strike="noStrike">
                <a:solidFill>
                  <a:srgbClr val="FFFFFF"/>
                </a:solidFill>
                <a:latin typeface="Plus Jakarta Sans"/>
                <a:ea typeface="Plus Jakarta Sans"/>
                <a:cs typeface="Plus Jakarta Sans"/>
                <a:sym typeface="Plus Jakarta Sans"/>
              </a:rPr>
              <a:t>Tháng 8: đẩy tốc độ scale mà không đánh đổi chất lượng vận hành.</a:t>
            </a:r>
            <a:endParaRPr b="0" i="0" sz="2100" u="none" cap="none" strike="noStrike">
              <a:solidFill>
                <a:schemeClr val="dk1"/>
              </a:solidFill>
              <a:latin typeface="Calibri"/>
              <a:ea typeface="Calibri"/>
              <a:cs typeface="Calibri"/>
              <a:sym typeface="Calibri"/>
            </a:endParaRPr>
          </a:p>
        </p:txBody>
      </p:sp>
      <p:sp>
        <p:nvSpPr>
          <p:cNvPr id="513" name="Google Shape;513;p15"/>
          <p:cNvSpPr/>
          <p:nvPr/>
        </p:nvSpPr>
        <p:spPr>
          <a:xfrm>
            <a:off x="762000" y="7653337"/>
            <a:ext cx="18440400" cy="27622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Roboto"/>
              <a:buNone/>
            </a:pPr>
            <a:r>
              <a:rPr b="0" i="0" lang="en-US" sz="1650" u="none" cap="none" strike="noStrike">
                <a:solidFill>
                  <a:srgbClr val="FFFFFF"/>
                </a:solidFill>
                <a:latin typeface="Roboto"/>
                <a:ea typeface="Roboto"/>
                <a:cs typeface="Roboto"/>
                <a:sym typeface="Roboto"/>
              </a:rPr>
              <a:t>Ahamove — Driver Management | Confidential</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16"/>
          <p:cNvSpPr/>
          <p:nvPr/>
        </p:nvSpPr>
        <p:spPr>
          <a:xfrm>
            <a:off x="0" y="0"/>
            <a:ext cx="18288000" cy="10287000"/>
          </a:xfrm>
          <a:prstGeom prst="rect">
            <a:avLst/>
          </a:prstGeom>
          <a:gradFill>
            <a:gsLst>
              <a:gs pos="0">
                <a:srgbClr val="FFFFFF"/>
              </a:gs>
              <a:gs pos="100000">
                <a:srgbClr val="E4F2F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6"/>
          <p:cNvSpPr/>
          <p:nvPr/>
        </p:nvSpPr>
        <p:spPr>
          <a:xfrm>
            <a:off x="14097000" y="-1524000"/>
            <a:ext cx="5334000" cy="5334000"/>
          </a:xfrm>
          <a:prstGeom prst="ellipse">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6"/>
          <p:cNvSpPr/>
          <p:nvPr/>
        </p:nvSpPr>
        <p:spPr>
          <a:xfrm>
            <a:off x="13144500" y="-2476500"/>
            <a:ext cx="4000500" cy="4000500"/>
          </a:xfrm>
          <a:prstGeom prst="ellipse">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2" name="Google Shape;522;p16"/>
          <p:cNvPicPr preferRelativeResize="0"/>
          <p:nvPr/>
        </p:nvPicPr>
        <p:blipFill rotWithShape="1">
          <a:blip r:embed="rId3">
            <a:alphaModFix/>
          </a:blip>
          <a:srcRect b="0" l="0" r="0" t="0"/>
          <a:stretch/>
        </p:blipFill>
        <p:spPr>
          <a:xfrm>
            <a:off x="762000" y="790575"/>
            <a:ext cx="3087738" cy="533400"/>
          </a:xfrm>
          <a:prstGeom prst="rect">
            <a:avLst/>
          </a:prstGeom>
          <a:noFill/>
          <a:ln>
            <a:noFill/>
          </a:ln>
        </p:spPr>
      </p:pic>
      <p:sp>
        <p:nvSpPr>
          <p:cNvPr id="523" name="Google Shape;523;p16"/>
          <p:cNvSpPr/>
          <p:nvPr/>
        </p:nvSpPr>
        <p:spPr>
          <a:xfrm>
            <a:off x="11374934" y="762000"/>
            <a:ext cx="6151200" cy="5907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6"/>
          <p:cNvSpPr/>
          <p:nvPr/>
        </p:nvSpPr>
        <p:spPr>
          <a:xfrm>
            <a:off x="762000" y="4664410"/>
            <a:ext cx="15716100" cy="958200"/>
          </a:xfrm>
          <a:prstGeom prst="rect">
            <a:avLst/>
          </a:prstGeom>
          <a:noFill/>
          <a:ln>
            <a:noFill/>
          </a:ln>
        </p:spPr>
        <p:txBody>
          <a:bodyPr anchorCtr="0" anchor="t" bIns="25400" lIns="25400" spcFirstLastPara="1" rIns="25400" wrap="square" tIns="25400">
            <a:noAutofit/>
          </a:bodyPr>
          <a:lstStyle/>
          <a:p>
            <a:pPr indent="0" lvl="0" marL="0" marR="0" rtl="0" algn="l">
              <a:lnSpc>
                <a:spcPct val="84000"/>
              </a:lnSpc>
              <a:spcBef>
                <a:spcPts val="0"/>
              </a:spcBef>
              <a:spcAft>
                <a:spcPts val="0"/>
              </a:spcAft>
              <a:buClr>
                <a:srgbClr val="012749"/>
              </a:buClr>
              <a:buSzPts val="6900"/>
              <a:buFont typeface="Plus Jakarta Sans"/>
              <a:buNone/>
            </a:pPr>
            <a:r>
              <a:rPr b="1" lang="en-US" sz="6900">
                <a:solidFill>
                  <a:srgbClr val="012749"/>
                </a:solidFill>
                <a:latin typeface="Plus Jakarta Sans"/>
                <a:ea typeface="Plus Jakarta Sans"/>
                <a:cs typeface="Plus Jakarta Sans"/>
                <a:sym typeface="Plus Jakarta Sans"/>
              </a:rPr>
              <a:t>TEMPLATE</a:t>
            </a:r>
            <a:endParaRPr b="0" i="0" sz="6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17"/>
          <p:cNvSpPr/>
          <p:nvPr/>
        </p:nvSpPr>
        <p:spPr>
          <a:xfrm>
            <a:off x="0" y="0"/>
            <a:ext cx="18288000" cy="10287000"/>
          </a:xfrm>
          <a:prstGeom prst="rect">
            <a:avLst/>
          </a:prstGeom>
          <a:gradFill>
            <a:gsLst>
              <a:gs pos="0">
                <a:srgbClr val="FFFFFF"/>
              </a:gs>
              <a:gs pos="100000">
                <a:srgbClr val="E4F2F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7"/>
          <p:cNvSpPr/>
          <p:nvPr/>
        </p:nvSpPr>
        <p:spPr>
          <a:xfrm>
            <a:off x="14097000" y="-1524000"/>
            <a:ext cx="5334000" cy="5334000"/>
          </a:xfrm>
          <a:prstGeom prst="ellipse">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7"/>
          <p:cNvSpPr/>
          <p:nvPr/>
        </p:nvSpPr>
        <p:spPr>
          <a:xfrm>
            <a:off x="13144500" y="-2476500"/>
            <a:ext cx="4000500" cy="4000500"/>
          </a:xfrm>
          <a:prstGeom prst="ellipse">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3" name="Google Shape;533;p17"/>
          <p:cNvPicPr preferRelativeResize="0"/>
          <p:nvPr/>
        </p:nvPicPr>
        <p:blipFill rotWithShape="1">
          <a:blip r:embed="rId3">
            <a:alphaModFix/>
          </a:blip>
          <a:srcRect b="0" l="0" r="0" t="0"/>
          <a:stretch/>
        </p:blipFill>
        <p:spPr>
          <a:xfrm>
            <a:off x="762000" y="790575"/>
            <a:ext cx="3087738" cy="533400"/>
          </a:xfrm>
          <a:prstGeom prst="rect">
            <a:avLst/>
          </a:prstGeom>
          <a:noFill/>
          <a:ln>
            <a:noFill/>
          </a:ln>
        </p:spPr>
      </p:pic>
      <p:sp>
        <p:nvSpPr>
          <p:cNvPr id="534" name="Google Shape;534;p17"/>
          <p:cNvSpPr/>
          <p:nvPr/>
        </p:nvSpPr>
        <p:spPr>
          <a:xfrm>
            <a:off x="11374934" y="762000"/>
            <a:ext cx="6151200" cy="5907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
          <p:cNvSpPr/>
          <p:nvPr/>
        </p:nvSpPr>
        <p:spPr>
          <a:xfrm>
            <a:off x="11679734" y="914400"/>
            <a:ext cx="57261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[Kỳ báo cáo: Tháng X/YYYY hoặc Tuần dd–dd/mm]</a:t>
            </a:r>
            <a:endParaRPr b="0" i="0" sz="1800" u="none" cap="none" strike="noStrike">
              <a:solidFill>
                <a:schemeClr val="dk1"/>
              </a:solidFill>
              <a:latin typeface="Calibri"/>
              <a:ea typeface="Calibri"/>
              <a:cs typeface="Calibri"/>
              <a:sym typeface="Calibri"/>
            </a:endParaRPr>
          </a:p>
        </p:txBody>
      </p:sp>
      <p:sp>
        <p:nvSpPr>
          <p:cNvPr id="536" name="Google Shape;536;p17"/>
          <p:cNvSpPr/>
          <p:nvPr/>
        </p:nvSpPr>
        <p:spPr>
          <a:xfrm>
            <a:off x="762000" y="3259485"/>
            <a:ext cx="157161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4174"/>
              </a:buClr>
              <a:buSzPts val="2100"/>
              <a:buFont typeface="Plus Jakarta Sans"/>
              <a:buNone/>
            </a:pPr>
            <a:r>
              <a:rPr b="1" i="0" lang="en-US" sz="2100" u="none" cap="none" strike="noStrike">
                <a:solidFill>
                  <a:srgbClr val="0E4174"/>
                </a:solidFill>
                <a:latin typeface="Plus Jakarta Sans"/>
                <a:ea typeface="Plus Jakarta Sans"/>
                <a:cs typeface="Plus Jakarta Sans"/>
                <a:sym typeface="Plus Jakarta Sans"/>
              </a:rPr>
              <a:t>DRIVER MANAGEMENT · KHU VỰC: [TÊN KHU VỰC]</a:t>
            </a:r>
            <a:endParaRPr b="0" i="0" sz="2100" u="none" cap="none" strike="noStrike">
              <a:solidFill>
                <a:schemeClr val="dk1"/>
              </a:solidFill>
              <a:latin typeface="Calibri"/>
              <a:ea typeface="Calibri"/>
              <a:cs typeface="Calibri"/>
              <a:sym typeface="Calibri"/>
            </a:endParaRPr>
          </a:p>
        </p:txBody>
      </p:sp>
      <p:sp>
        <p:nvSpPr>
          <p:cNvPr id="537" name="Google Shape;537;p17"/>
          <p:cNvSpPr/>
          <p:nvPr/>
        </p:nvSpPr>
        <p:spPr>
          <a:xfrm>
            <a:off x="762000" y="3802410"/>
            <a:ext cx="15716100" cy="958200"/>
          </a:xfrm>
          <a:prstGeom prst="rect">
            <a:avLst/>
          </a:prstGeom>
          <a:noFill/>
          <a:ln>
            <a:noFill/>
          </a:ln>
        </p:spPr>
        <p:txBody>
          <a:bodyPr anchorCtr="0" anchor="t" bIns="25400" lIns="25400" spcFirstLastPara="1" rIns="25400" wrap="square" tIns="25400">
            <a:noAutofit/>
          </a:bodyPr>
          <a:lstStyle/>
          <a:p>
            <a:pPr indent="0" lvl="0" marL="0" marR="0" rtl="0" algn="l">
              <a:lnSpc>
                <a:spcPct val="84000"/>
              </a:lnSpc>
              <a:spcBef>
                <a:spcPts val="0"/>
              </a:spcBef>
              <a:spcAft>
                <a:spcPts val="0"/>
              </a:spcAft>
              <a:buClr>
                <a:srgbClr val="012749"/>
              </a:buClr>
              <a:buSzPts val="6900"/>
              <a:buFont typeface="Plus Jakarta Sans"/>
              <a:buNone/>
            </a:pPr>
            <a:r>
              <a:rPr b="1" i="0" lang="en-US" sz="6900" u="none" cap="none" strike="noStrike">
                <a:solidFill>
                  <a:srgbClr val="012749"/>
                </a:solidFill>
                <a:latin typeface="Plus Jakarta Sans"/>
                <a:ea typeface="Plus Jakarta Sans"/>
                <a:cs typeface="Plus Jakarta Sans"/>
                <a:sym typeface="Plus Jakarta Sans"/>
              </a:rPr>
              <a:t>[TÊN BÁO CÁO]</a:t>
            </a:r>
            <a:r>
              <a:rPr b="1" i="0" lang="en-US" sz="6900" u="none" cap="none" strike="noStrike">
                <a:solidFill>
                  <a:srgbClr val="FF7F32"/>
                </a:solidFill>
                <a:latin typeface="Plus Jakarta Sans"/>
                <a:ea typeface="Plus Jakarta Sans"/>
                <a:cs typeface="Plus Jakarta Sans"/>
                <a:sym typeface="Plus Jakarta Sans"/>
              </a:rPr>
              <a:t>[KỲ]</a:t>
            </a:r>
            <a:endParaRPr b="0" i="0" sz="6900" u="none" cap="none" strike="noStrike">
              <a:solidFill>
                <a:schemeClr val="dk1"/>
              </a:solidFill>
              <a:latin typeface="Calibri"/>
              <a:ea typeface="Calibri"/>
              <a:cs typeface="Calibri"/>
              <a:sym typeface="Calibri"/>
            </a:endParaRPr>
          </a:p>
        </p:txBody>
      </p:sp>
      <p:sp>
        <p:nvSpPr>
          <p:cNvPr id="538" name="Google Shape;538;p17"/>
          <p:cNvSpPr/>
          <p:nvPr/>
        </p:nvSpPr>
        <p:spPr>
          <a:xfrm>
            <a:off x="762000" y="4989165"/>
            <a:ext cx="14287500" cy="2028900"/>
          </a:xfrm>
          <a:prstGeom prst="roundRect">
            <a:avLst>
              <a:gd fmla="val 7512" name="adj"/>
            </a:avLst>
          </a:prstGeom>
          <a:solidFill>
            <a:srgbClr val="FFFFFF"/>
          </a:solidFill>
          <a:ln cap="flat" cmpd="sng" w="9525">
            <a:solidFill>
              <a:srgbClr val="DDE1E6"/>
            </a:solidFill>
            <a:prstDash val="solid"/>
            <a:round/>
            <a:headEnd len="sm" w="sm" type="none"/>
            <a:tailEnd len="sm" w="sm" type="none"/>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7"/>
          <p:cNvSpPr/>
          <p:nvPr/>
        </p:nvSpPr>
        <p:spPr>
          <a:xfrm>
            <a:off x="1076325" y="5265390"/>
            <a:ext cx="150246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[N] CÂU HỎI SẼ ĐƯỢC TRẢ LỜI TRONG BÁO CÁO NÀY</a:t>
            </a:r>
            <a:endParaRPr b="0" i="0" sz="1800" u="none" cap="none" strike="noStrike">
              <a:solidFill>
                <a:schemeClr val="dk1"/>
              </a:solidFill>
              <a:latin typeface="Calibri"/>
              <a:ea typeface="Calibri"/>
              <a:cs typeface="Calibri"/>
              <a:sym typeface="Calibri"/>
            </a:endParaRPr>
          </a:p>
        </p:txBody>
      </p:sp>
      <p:sp>
        <p:nvSpPr>
          <p:cNvPr id="540" name="Google Shape;540;p17"/>
          <p:cNvSpPr/>
          <p:nvPr/>
        </p:nvSpPr>
        <p:spPr>
          <a:xfrm>
            <a:off x="1076325" y="5665440"/>
            <a:ext cx="2547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1.</a:t>
            </a:r>
            <a:endParaRPr b="0" i="0" sz="1800" u="none" cap="none" strike="noStrike">
              <a:solidFill>
                <a:schemeClr val="dk1"/>
              </a:solidFill>
              <a:latin typeface="Calibri"/>
              <a:ea typeface="Calibri"/>
              <a:cs typeface="Calibri"/>
              <a:sym typeface="Calibri"/>
            </a:endParaRPr>
          </a:p>
        </p:txBody>
      </p:sp>
      <p:sp>
        <p:nvSpPr>
          <p:cNvPr id="541" name="Google Shape;541;p17"/>
          <p:cNvSpPr/>
          <p:nvPr/>
        </p:nvSpPr>
        <p:spPr>
          <a:xfrm>
            <a:off x="1388120" y="5674965"/>
            <a:ext cx="1742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Roboto"/>
              <a:buNone/>
            </a:pPr>
            <a:r>
              <a:rPr b="0" i="0" lang="en-US" sz="1950" u="none" cap="none" strike="noStrike">
                <a:solidFill>
                  <a:srgbClr val="121619"/>
                </a:solidFill>
                <a:latin typeface="Roboto"/>
                <a:ea typeface="Roboto"/>
                <a:cs typeface="Roboto"/>
                <a:sym typeface="Roboto"/>
              </a:rPr>
              <a:t>[Câu hỏi mở 1]</a:t>
            </a:r>
            <a:endParaRPr b="0" i="0" sz="1950" u="none" cap="none" strike="noStrike">
              <a:solidFill>
                <a:schemeClr val="dk1"/>
              </a:solidFill>
              <a:latin typeface="Calibri"/>
              <a:ea typeface="Calibri"/>
              <a:cs typeface="Calibri"/>
              <a:sym typeface="Calibri"/>
            </a:endParaRPr>
          </a:p>
        </p:txBody>
      </p:sp>
      <p:sp>
        <p:nvSpPr>
          <p:cNvPr id="542" name="Google Shape;542;p17"/>
          <p:cNvSpPr/>
          <p:nvPr/>
        </p:nvSpPr>
        <p:spPr>
          <a:xfrm>
            <a:off x="1076325" y="6055965"/>
            <a:ext cx="2991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2.</a:t>
            </a:r>
            <a:endParaRPr b="0" i="0" sz="1800" u="none" cap="none" strike="noStrike">
              <a:solidFill>
                <a:schemeClr val="dk1"/>
              </a:solidFill>
              <a:latin typeface="Calibri"/>
              <a:ea typeface="Calibri"/>
              <a:cs typeface="Calibri"/>
              <a:sym typeface="Calibri"/>
            </a:endParaRPr>
          </a:p>
        </p:txBody>
      </p:sp>
      <p:sp>
        <p:nvSpPr>
          <p:cNvPr id="543" name="Google Shape;543;p17"/>
          <p:cNvSpPr/>
          <p:nvPr/>
        </p:nvSpPr>
        <p:spPr>
          <a:xfrm>
            <a:off x="1432471" y="6065490"/>
            <a:ext cx="1742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Roboto"/>
              <a:buNone/>
            </a:pPr>
            <a:r>
              <a:rPr b="0" i="0" lang="en-US" sz="1950" u="none" cap="none" strike="noStrike">
                <a:solidFill>
                  <a:srgbClr val="121619"/>
                </a:solidFill>
                <a:latin typeface="Roboto"/>
                <a:ea typeface="Roboto"/>
                <a:cs typeface="Roboto"/>
                <a:sym typeface="Roboto"/>
              </a:rPr>
              <a:t>[Câu hỏi mở 2]</a:t>
            </a:r>
            <a:endParaRPr b="0" i="0" sz="1950" u="none" cap="none" strike="noStrike">
              <a:solidFill>
                <a:schemeClr val="dk1"/>
              </a:solidFill>
              <a:latin typeface="Calibri"/>
              <a:ea typeface="Calibri"/>
              <a:cs typeface="Calibri"/>
              <a:sym typeface="Calibri"/>
            </a:endParaRPr>
          </a:p>
        </p:txBody>
      </p:sp>
      <p:sp>
        <p:nvSpPr>
          <p:cNvPr id="544" name="Google Shape;544;p17"/>
          <p:cNvSpPr/>
          <p:nvPr/>
        </p:nvSpPr>
        <p:spPr>
          <a:xfrm>
            <a:off x="1076325" y="6446490"/>
            <a:ext cx="302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3.</a:t>
            </a:r>
            <a:endParaRPr b="0" i="0" sz="1800" u="none" cap="none" strike="noStrike">
              <a:solidFill>
                <a:schemeClr val="dk1"/>
              </a:solidFill>
              <a:latin typeface="Calibri"/>
              <a:ea typeface="Calibri"/>
              <a:cs typeface="Calibri"/>
              <a:sym typeface="Calibri"/>
            </a:endParaRPr>
          </a:p>
        </p:txBody>
      </p:sp>
      <p:sp>
        <p:nvSpPr>
          <p:cNvPr id="545" name="Google Shape;545;p17"/>
          <p:cNvSpPr/>
          <p:nvPr/>
        </p:nvSpPr>
        <p:spPr>
          <a:xfrm>
            <a:off x="1435745" y="6456015"/>
            <a:ext cx="1742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Roboto"/>
              <a:buNone/>
            </a:pPr>
            <a:r>
              <a:rPr b="0" i="0" lang="en-US" sz="1950" u="none" cap="none" strike="noStrike">
                <a:solidFill>
                  <a:srgbClr val="121619"/>
                </a:solidFill>
                <a:latin typeface="Roboto"/>
                <a:ea typeface="Roboto"/>
                <a:cs typeface="Roboto"/>
                <a:sym typeface="Roboto"/>
              </a:rPr>
              <a:t>[Câu hỏi mở 3]</a:t>
            </a:r>
            <a:endParaRPr b="0" i="0" sz="1950" u="none" cap="none" strike="noStrike">
              <a:solidFill>
                <a:schemeClr val="dk1"/>
              </a:solidFill>
              <a:latin typeface="Calibri"/>
              <a:ea typeface="Calibri"/>
              <a:cs typeface="Calibri"/>
              <a:sym typeface="Calibri"/>
            </a:endParaRPr>
          </a:p>
        </p:txBody>
      </p:sp>
      <p:sp>
        <p:nvSpPr>
          <p:cNvPr id="546" name="Google Shape;546;p17"/>
          <p:cNvSpPr/>
          <p:nvPr/>
        </p:nvSpPr>
        <p:spPr>
          <a:xfrm>
            <a:off x="762000" y="8924925"/>
            <a:ext cx="28458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Chủ trì report</a:t>
            </a:r>
            <a:endParaRPr b="0" i="0" sz="1800" u="none" cap="none" strike="noStrike">
              <a:solidFill>
                <a:schemeClr val="dk1"/>
              </a:solidFill>
              <a:latin typeface="Calibri"/>
              <a:ea typeface="Calibri"/>
              <a:cs typeface="Calibri"/>
              <a:sym typeface="Calibri"/>
            </a:endParaRPr>
          </a:p>
        </p:txBody>
      </p:sp>
      <p:sp>
        <p:nvSpPr>
          <p:cNvPr id="547" name="Google Shape;547;p17"/>
          <p:cNvSpPr/>
          <p:nvPr/>
        </p:nvSpPr>
        <p:spPr>
          <a:xfrm>
            <a:off x="762000" y="9191625"/>
            <a:ext cx="28458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[Tên người trình bày]</a:t>
            </a:r>
            <a:endParaRPr b="0" i="0" sz="2100" u="none" cap="none" strike="noStrike">
              <a:solidFill>
                <a:schemeClr val="dk1"/>
              </a:solidFill>
              <a:latin typeface="Calibri"/>
              <a:ea typeface="Calibri"/>
              <a:cs typeface="Calibri"/>
              <a:sym typeface="Calibri"/>
            </a:endParaRPr>
          </a:p>
        </p:txBody>
      </p:sp>
      <p:sp>
        <p:nvSpPr>
          <p:cNvPr id="548" name="Google Shape;548;p17"/>
          <p:cNvSpPr/>
          <p:nvPr/>
        </p:nvSpPr>
        <p:spPr>
          <a:xfrm>
            <a:off x="12892385" y="9258300"/>
            <a:ext cx="50970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Ahamove — Driver Management | Confidential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3" name="Shape 553"/>
        <p:cNvGrpSpPr/>
        <p:nvPr/>
      </p:nvGrpSpPr>
      <p:grpSpPr>
        <a:xfrm>
          <a:off x="0" y="0"/>
          <a:ext cx="0" cy="0"/>
          <a:chOff x="0" y="0"/>
          <a:chExt cx="0" cy="0"/>
        </a:xfrm>
      </p:grpSpPr>
      <p:sp>
        <p:nvSpPr>
          <p:cNvPr id="554" name="Google Shape;554;p18"/>
          <p:cNvSpPr/>
          <p:nvPr/>
        </p:nvSpPr>
        <p:spPr>
          <a:xfrm>
            <a:off x="762000" y="495300"/>
            <a:ext cx="100203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TỔNG KẾT KỲ · [N] CÂU HỎI MỞ | Ahamove · Driver Management</a:t>
            </a:r>
            <a:endParaRPr b="0" i="0" sz="1800" u="none" cap="none" strike="noStrike">
              <a:solidFill>
                <a:schemeClr val="dk1"/>
              </a:solidFill>
              <a:latin typeface="Calibri"/>
              <a:ea typeface="Calibri"/>
              <a:cs typeface="Calibri"/>
              <a:sym typeface="Calibri"/>
            </a:endParaRPr>
          </a:p>
        </p:txBody>
      </p:sp>
      <p:sp>
        <p:nvSpPr>
          <p:cNvPr id="555" name="Google Shape;555;p18"/>
          <p:cNvSpPr/>
          <p:nvPr/>
        </p:nvSpPr>
        <p:spPr>
          <a:xfrm>
            <a:off x="762000" y="838200"/>
            <a:ext cx="10020300" cy="48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[Câu nhận định tổng quan 1 dòng về kỳ báo cáo]</a:t>
            </a:r>
            <a:endParaRPr b="0" i="0" sz="2850" u="none" cap="none" strike="noStrike">
              <a:solidFill>
                <a:schemeClr val="dk1"/>
              </a:solidFill>
              <a:latin typeface="Calibri"/>
              <a:ea typeface="Calibri"/>
              <a:cs typeface="Calibri"/>
              <a:sym typeface="Calibri"/>
            </a:endParaRPr>
          </a:p>
        </p:txBody>
      </p:sp>
      <p:sp>
        <p:nvSpPr>
          <p:cNvPr id="556" name="Google Shape;556;p18"/>
          <p:cNvSpPr/>
          <p:nvPr/>
        </p:nvSpPr>
        <p:spPr>
          <a:xfrm>
            <a:off x="762000" y="1381125"/>
            <a:ext cx="91095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7" name="Google Shape;557;p18"/>
          <p:cNvPicPr preferRelativeResize="0"/>
          <p:nvPr/>
        </p:nvPicPr>
        <p:blipFill rotWithShape="1">
          <a:blip r:embed="rId3">
            <a:alphaModFix/>
          </a:blip>
          <a:srcRect b="0" l="0" r="0" t="0"/>
          <a:stretch/>
        </p:blipFill>
        <p:spPr>
          <a:xfrm>
            <a:off x="952500" y="1562100"/>
            <a:ext cx="209550" cy="209550"/>
          </a:xfrm>
          <a:prstGeom prst="rect">
            <a:avLst/>
          </a:prstGeom>
          <a:noFill/>
          <a:ln>
            <a:noFill/>
          </a:ln>
        </p:spPr>
      </p:pic>
      <p:sp>
        <p:nvSpPr>
          <p:cNvPr id="558" name="Google Shape;558;p18"/>
          <p:cNvSpPr/>
          <p:nvPr/>
        </p:nvSpPr>
        <p:spPr>
          <a:xfrm>
            <a:off x="1221581" y="1495425"/>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559" name="Google Shape;559;p18"/>
          <p:cNvSpPr/>
          <p:nvPr/>
        </p:nvSpPr>
        <p:spPr>
          <a:xfrm>
            <a:off x="3146375" y="1504950"/>
            <a:ext cx="6730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quan trọng nhất của kỳ, nêu rõ điểm nghẽn cần xử lý.]</a:t>
            </a:r>
            <a:endParaRPr b="0" i="0" sz="1800" u="none" cap="none" strike="noStrike">
              <a:solidFill>
                <a:schemeClr val="dk1"/>
              </a:solidFill>
              <a:latin typeface="Calibri"/>
              <a:ea typeface="Calibri"/>
              <a:cs typeface="Calibri"/>
              <a:sym typeface="Calibri"/>
            </a:endParaRPr>
          </a:p>
        </p:txBody>
      </p:sp>
      <p:sp>
        <p:nvSpPr>
          <p:cNvPr id="560" name="Google Shape;560;p18"/>
          <p:cNvSpPr/>
          <p:nvPr/>
        </p:nvSpPr>
        <p:spPr>
          <a:xfrm>
            <a:off x="16206043" y="495300"/>
            <a:ext cx="1320000" cy="5715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DM Report [Kỳ báo cáo]</a:t>
            </a:r>
            <a:endParaRPr b="0" i="0" sz="1800" u="none" cap="none" strike="noStrike">
              <a:solidFill>
                <a:schemeClr val="dk1"/>
              </a:solidFill>
              <a:latin typeface="Calibri"/>
              <a:ea typeface="Calibri"/>
              <a:cs typeface="Calibri"/>
              <a:sym typeface="Calibri"/>
            </a:endParaRPr>
          </a:p>
        </p:txBody>
      </p:sp>
      <p:sp>
        <p:nvSpPr>
          <p:cNvPr id="561" name="Google Shape;561;p18"/>
          <p:cNvSpPr/>
          <p:nvPr/>
        </p:nvSpPr>
        <p:spPr>
          <a:xfrm>
            <a:off x="704850" y="2047875"/>
            <a:ext cx="5473500" cy="1371600"/>
          </a:xfrm>
          <a:prstGeom prst="roundRect">
            <a:avLst>
              <a:gd fmla="val 12500" name="adj"/>
            </a:avLst>
          </a:prstGeom>
          <a:solidFill>
            <a:srgbClr val="0E41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a:off x="762000" y="2047875"/>
            <a:ext cx="5473500" cy="1371600"/>
          </a:xfrm>
          <a:prstGeom prst="roundRect">
            <a:avLst>
              <a:gd fmla="val 8333"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8"/>
          <p:cNvSpPr/>
          <p:nvPr/>
        </p:nvSpPr>
        <p:spPr>
          <a:xfrm>
            <a:off x="971550" y="2238375"/>
            <a:ext cx="1374300" cy="381000"/>
          </a:xfrm>
          <a:prstGeom prst="roundRect">
            <a:avLst>
              <a:gd fmla="val 2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a:off x="1104900" y="2295525"/>
            <a:ext cx="11838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[Khu vực 1]</a:t>
            </a:r>
            <a:endParaRPr b="0" i="0" sz="1650" u="none" cap="none" strike="noStrike">
              <a:solidFill>
                <a:schemeClr val="dk1"/>
              </a:solidFill>
              <a:latin typeface="Calibri"/>
              <a:ea typeface="Calibri"/>
              <a:cs typeface="Calibri"/>
              <a:sym typeface="Calibri"/>
            </a:endParaRPr>
          </a:p>
        </p:txBody>
      </p:sp>
      <p:sp>
        <p:nvSpPr>
          <p:cNvPr id="565" name="Google Shape;565;p18"/>
          <p:cNvSpPr/>
          <p:nvPr/>
        </p:nvSpPr>
        <p:spPr>
          <a:xfrm>
            <a:off x="971550" y="2695575"/>
            <a:ext cx="55599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ngắn kèm số liệu về khu vực 1.]</a:t>
            </a:r>
            <a:endParaRPr b="0" i="0" sz="1800" u="none" cap="none" strike="noStrike">
              <a:solidFill>
                <a:schemeClr val="dk1"/>
              </a:solidFill>
              <a:latin typeface="Calibri"/>
              <a:ea typeface="Calibri"/>
              <a:cs typeface="Calibri"/>
              <a:sym typeface="Calibri"/>
            </a:endParaRPr>
          </a:p>
        </p:txBody>
      </p:sp>
      <p:sp>
        <p:nvSpPr>
          <p:cNvPr id="566" name="Google Shape;566;p18"/>
          <p:cNvSpPr/>
          <p:nvPr/>
        </p:nvSpPr>
        <p:spPr>
          <a:xfrm>
            <a:off x="6349901" y="2047875"/>
            <a:ext cx="5473800" cy="1371600"/>
          </a:xfrm>
          <a:prstGeom prst="roundRect">
            <a:avLst>
              <a:gd fmla="val 125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8"/>
          <p:cNvSpPr/>
          <p:nvPr/>
        </p:nvSpPr>
        <p:spPr>
          <a:xfrm>
            <a:off x="6407051" y="2047875"/>
            <a:ext cx="5473800" cy="1371600"/>
          </a:xfrm>
          <a:prstGeom prst="roundRect">
            <a:avLst>
              <a:gd fmla="val 8333"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8"/>
          <p:cNvSpPr/>
          <p:nvPr/>
        </p:nvSpPr>
        <p:spPr>
          <a:xfrm>
            <a:off x="6616601" y="2238375"/>
            <a:ext cx="1415100" cy="381000"/>
          </a:xfrm>
          <a:prstGeom prst="roundRect">
            <a:avLst>
              <a:gd fmla="val 2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8"/>
          <p:cNvSpPr/>
          <p:nvPr/>
        </p:nvSpPr>
        <p:spPr>
          <a:xfrm>
            <a:off x="6749951" y="2295525"/>
            <a:ext cx="12246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[Khu vực 2]</a:t>
            </a:r>
            <a:endParaRPr b="0" i="0" sz="1650" u="none" cap="none" strike="noStrike">
              <a:solidFill>
                <a:schemeClr val="dk1"/>
              </a:solidFill>
              <a:latin typeface="Calibri"/>
              <a:ea typeface="Calibri"/>
              <a:cs typeface="Calibri"/>
              <a:sym typeface="Calibri"/>
            </a:endParaRPr>
          </a:p>
        </p:txBody>
      </p:sp>
      <p:sp>
        <p:nvSpPr>
          <p:cNvPr id="570" name="Google Shape;570;p18"/>
          <p:cNvSpPr/>
          <p:nvPr/>
        </p:nvSpPr>
        <p:spPr>
          <a:xfrm>
            <a:off x="6616601" y="2695575"/>
            <a:ext cx="55602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ngắn kèm số liệu về khu vực 2.]</a:t>
            </a:r>
            <a:endParaRPr b="0" i="0" sz="1800" u="none" cap="none" strike="noStrike">
              <a:solidFill>
                <a:schemeClr val="dk1"/>
              </a:solidFill>
              <a:latin typeface="Calibri"/>
              <a:ea typeface="Calibri"/>
              <a:cs typeface="Calibri"/>
              <a:sym typeface="Calibri"/>
            </a:endParaRPr>
          </a:p>
        </p:txBody>
      </p:sp>
      <p:sp>
        <p:nvSpPr>
          <p:cNvPr id="571" name="Google Shape;571;p18"/>
          <p:cNvSpPr/>
          <p:nvPr/>
        </p:nvSpPr>
        <p:spPr>
          <a:xfrm>
            <a:off x="11995100" y="2047875"/>
            <a:ext cx="5473800" cy="1371600"/>
          </a:xfrm>
          <a:prstGeom prst="roundRect">
            <a:avLst>
              <a:gd fmla="val 12500"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8"/>
          <p:cNvSpPr/>
          <p:nvPr/>
        </p:nvSpPr>
        <p:spPr>
          <a:xfrm>
            <a:off x="12052250" y="2047875"/>
            <a:ext cx="5473800" cy="1371600"/>
          </a:xfrm>
          <a:prstGeom prst="roundRect">
            <a:avLst>
              <a:gd fmla="val 8333"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8"/>
          <p:cNvSpPr/>
          <p:nvPr/>
        </p:nvSpPr>
        <p:spPr>
          <a:xfrm>
            <a:off x="12261800" y="2238375"/>
            <a:ext cx="1328400" cy="381000"/>
          </a:xfrm>
          <a:prstGeom prst="roundRect">
            <a:avLst>
              <a:gd fmla="val 20000" name="adj"/>
            </a:avLst>
          </a:prstGeom>
          <a:solidFill>
            <a:srgbClr val="167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p:nvPr/>
        </p:nvSpPr>
        <p:spPr>
          <a:xfrm>
            <a:off x="12395150" y="2295525"/>
            <a:ext cx="11379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[Toàn NW]</a:t>
            </a:r>
            <a:endParaRPr b="0" i="0" sz="1650" u="none" cap="none" strike="noStrike">
              <a:solidFill>
                <a:schemeClr val="dk1"/>
              </a:solidFill>
              <a:latin typeface="Calibri"/>
              <a:ea typeface="Calibri"/>
              <a:cs typeface="Calibri"/>
              <a:sym typeface="Calibri"/>
            </a:endParaRPr>
          </a:p>
        </p:txBody>
      </p:sp>
      <p:sp>
        <p:nvSpPr>
          <p:cNvPr id="575" name="Google Shape;575;p18"/>
          <p:cNvSpPr/>
          <p:nvPr/>
        </p:nvSpPr>
        <p:spPr>
          <a:xfrm>
            <a:off x="12261800" y="2695575"/>
            <a:ext cx="52062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ngắn kèm số liệu tổng hợp toàn network.]</a:t>
            </a:r>
            <a:endParaRPr b="0" i="0" sz="1800" u="none" cap="none" strike="noStrike">
              <a:solidFill>
                <a:schemeClr val="dk1"/>
              </a:solidFill>
              <a:latin typeface="Calibri"/>
              <a:ea typeface="Calibri"/>
              <a:cs typeface="Calibri"/>
              <a:sym typeface="Calibri"/>
            </a:endParaRPr>
          </a:p>
        </p:txBody>
      </p:sp>
      <p:sp>
        <p:nvSpPr>
          <p:cNvPr id="576" name="Google Shape;576;p18"/>
          <p:cNvSpPr/>
          <p:nvPr/>
        </p:nvSpPr>
        <p:spPr>
          <a:xfrm>
            <a:off x="704850" y="3571875"/>
            <a:ext cx="8296200" cy="1743000"/>
          </a:xfrm>
          <a:prstGeom prst="roundRect">
            <a:avLst>
              <a:gd fmla="val 9836"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8"/>
          <p:cNvSpPr/>
          <p:nvPr/>
        </p:nvSpPr>
        <p:spPr>
          <a:xfrm>
            <a:off x="762000" y="3571875"/>
            <a:ext cx="8296200" cy="1743000"/>
          </a:xfrm>
          <a:prstGeom prst="roundRect">
            <a:avLst>
              <a:gd fmla="val 655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8" name="Google Shape;578;p18"/>
          <p:cNvPicPr preferRelativeResize="0"/>
          <p:nvPr/>
        </p:nvPicPr>
        <p:blipFill rotWithShape="1">
          <a:blip r:embed="rId4">
            <a:alphaModFix/>
          </a:blip>
          <a:srcRect b="0" l="0" r="0" t="0"/>
          <a:stretch/>
        </p:blipFill>
        <p:spPr>
          <a:xfrm>
            <a:off x="971550" y="3838575"/>
            <a:ext cx="247650" cy="247650"/>
          </a:xfrm>
          <a:prstGeom prst="rect">
            <a:avLst/>
          </a:prstGeom>
          <a:noFill/>
          <a:ln>
            <a:noFill/>
          </a:ln>
        </p:spPr>
      </p:pic>
      <p:sp>
        <p:nvSpPr>
          <p:cNvPr id="579" name="Google Shape;579;p18"/>
          <p:cNvSpPr/>
          <p:nvPr/>
        </p:nvSpPr>
        <p:spPr>
          <a:xfrm>
            <a:off x="1282154" y="3781425"/>
            <a:ext cx="15885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7C3F"/>
              </a:buClr>
              <a:buSzPts val="1950"/>
              <a:buFont typeface="Plus Jakarta Sans"/>
              <a:buNone/>
            </a:pPr>
            <a:r>
              <a:rPr b="1" i="0" lang="en-US" sz="1950" u="none" cap="none" strike="noStrike">
                <a:solidFill>
                  <a:srgbClr val="167C3F"/>
                </a:solidFill>
                <a:latin typeface="Plus Jakarta Sans"/>
                <a:ea typeface="Plus Jakarta Sans"/>
                <a:cs typeface="Plus Jakarta Sans"/>
                <a:sym typeface="Plus Jakarta Sans"/>
              </a:rPr>
              <a:t>HIGHLIGHTS</a:t>
            </a:r>
            <a:endParaRPr b="0" i="0" sz="1950" u="none" cap="none" strike="noStrike">
              <a:solidFill>
                <a:schemeClr val="dk1"/>
              </a:solidFill>
              <a:latin typeface="Calibri"/>
              <a:ea typeface="Calibri"/>
              <a:cs typeface="Calibri"/>
              <a:sym typeface="Calibri"/>
            </a:endParaRPr>
          </a:p>
        </p:txBody>
      </p:sp>
      <p:sp>
        <p:nvSpPr>
          <p:cNvPr id="580" name="Google Shape;580;p18"/>
          <p:cNvSpPr/>
          <p:nvPr/>
        </p:nvSpPr>
        <p:spPr>
          <a:xfrm>
            <a:off x="1021080" y="4191000"/>
            <a:ext cx="7903800" cy="9525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nổi bật 1]</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nổi bật 2]</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nổi bật 3]</a:t>
            </a:r>
            <a:endParaRPr b="0" i="0" sz="1800" u="none" cap="none" strike="noStrike">
              <a:solidFill>
                <a:schemeClr val="dk1"/>
              </a:solidFill>
              <a:latin typeface="Calibri"/>
              <a:ea typeface="Calibri"/>
              <a:cs typeface="Calibri"/>
              <a:sym typeface="Calibri"/>
            </a:endParaRPr>
          </a:p>
        </p:txBody>
      </p:sp>
      <p:sp>
        <p:nvSpPr>
          <p:cNvPr id="581" name="Google Shape;581;p18"/>
          <p:cNvSpPr/>
          <p:nvPr/>
        </p:nvSpPr>
        <p:spPr>
          <a:xfrm>
            <a:off x="9172575" y="3571875"/>
            <a:ext cx="8296200" cy="1743000"/>
          </a:xfrm>
          <a:prstGeom prst="roundRect">
            <a:avLst>
              <a:gd fmla="val 9836"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8"/>
          <p:cNvSpPr/>
          <p:nvPr/>
        </p:nvSpPr>
        <p:spPr>
          <a:xfrm>
            <a:off x="9229725" y="3571875"/>
            <a:ext cx="8296200" cy="1743000"/>
          </a:xfrm>
          <a:prstGeom prst="roundRect">
            <a:avLst>
              <a:gd fmla="val 655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3" name="Google Shape;583;p18"/>
          <p:cNvPicPr preferRelativeResize="0"/>
          <p:nvPr/>
        </p:nvPicPr>
        <p:blipFill rotWithShape="1">
          <a:blip r:embed="rId5">
            <a:alphaModFix/>
          </a:blip>
          <a:srcRect b="0" l="0" r="0" t="0"/>
          <a:stretch/>
        </p:blipFill>
        <p:spPr>
          <a:xfrm>
            <a:off x="9439275" y="3838575"/>
            <a:ext cx="247650" cy="247650"/>
          </a:xfrm>
          <a:prstGeom prst="rect">
            <a:avLst/>
          </a:prstGeom>
          <a:noFill/>
          <a:ln>
            <a:noFill/>
          </a:ln>
        </p:spPr>
      </p:pic>
      <p:sp>
        <p:nvSpPr>
          <p:cNvPr id="584" name="Google Shape;584;p18"/>
          <p:cNvSpPr/>
          <p:nvPr/>
        </p:nvSpPr>
        <p:spPr>
          <a:xfrm>
            <a:off x="9749879" y="3781425"/>
            <a:ext cx="15507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A1E28"/>
              </a:buClr>
              <a:buSzPts val="1950"/>
              <a:buFont typeface="Plus Jakarta Sans"/>
              <a:buNone/>
            </a:pPr>
            <a:r>
              <a:rPr b="1" i="0" lang="en-US" sz="1950" u="none" cap="none" strike="noStrike">
                <a:solidFill>
                  <a:srgbClr val="DA1E28"/>
                </a:solidFill>
                <a:latin typeface="Plus Jakarta Sans"/>
                <a:ea typeface="Plus Jakarta Sans"/>
                <a:cs typeface="Plus Jakarta Sans"/>
                <a:sym typeface="Plus Jakarta Sans"/>
              </a:rPr>
              <a:t>LOWLIGHTS</a:t>
            </a:r>
            <a:endParaRPr b="0" i="0" sz="1950" u="none" cap="none" strike="noStrike">
              <a:solidFill>
                <a:schemeClr val="dk1"/>
              </a:solidFill>
              <a:latin typeface="Calibri"/>
              <a:ea typeface="Calibri"/>
              <a:cs typeface="Calibri"/>
              <a:sym typeface="Calibri"/>
            </a:endParaRPr>
          </a:p>
        </p:txBody>
      </p:sp>
      <p:sp>
        <p:nvSpPr>
          <p:cNvPr id="585" name="Google Shape;585;p18"/>
          <p:cNvSpPr/>
          <p:nvPr/>
        </p:nvSpPr>
        <p:spPr>
          <a:xfrm>
            <a:off x="9488805" y="4191000"/>
            <a:ext cx="7903800" cy="6288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cần cải thiện 1]</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cần cải thiện 2]</a:t>
            </a:r>
            <a:endParaRPr b="0" i="0" sz="1800" u="none" cap="none" strike="noStrike">
              <a:solidFill>
                <a:schemeClr val="dk1"/>
              </a:solidFill>
              <a:latin typeface="Calibri"/>
              <a:ea typeface="Calibri"/>
              <a:cs typeface="Calibri"/>
              <a:sym typeface="Calibri"/>
            </a:endParaRPr>
          </a:p>
        </p:txBody>
      </p:sp>
      <p:sp>
        <p:nvSpPr>
          <p:cNvPr id="586" name="Google Shape;586;p18"/>
          <p:cNvSpPr/>
          <p:nvPr/>
        </p:nvSpPr>
        <p:spPr>
          <a:xfrm>
            <a:off x="762000" y="5467350"/>
            <a:ext cx="16764000" cy="4324200"/>
          </a:xfrm>
          <a:prstGeom prst="roundRect">
            <a:avLst>
              <a:gd fmla="val 3084" name="adj"/>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8"/>
          <p:cNvSpPr/>
          <p:nvPr/>
        </p:nvSpPr>
        <p:spPr>
          <a:xfrm>
            <a:off x="990600" y="7281863"/>
            <a:ext cx="179376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[N] CÂU HỎI BÁO CÁO NÀY SẼ TRẢ LỜI (XEM LẠI Ở SLIDE CUỐI)</a:t>
            </a:r>
            <a:endParaRPr b="0" i="0" sz="1800" u="none" cap="none" strike="noStrike">
              <a:solidFill>
                <a:schemeClr val="dk1"/>
              </a:solidFill>
              <a:latin typeface="Calibri"/>
              <a:ea typeface="Calibri"/>
              <a:cs typeface="Calibri"/>
              <a:sym typeface="Calibri"/>
            </a:endParaRPr>
          </a:p>
        </p:txBody>
      </p:sp>
      <p:sp>
        <p:nvSpPr>
          <p:cNvPr id="588" name="Google Shape;588;p18"/>
          <p:cNvSpPr/>
          <p:nvPr/>
        </p:nvSpPr>
        <p:spPr>
          <a:xfrm>
            <a:off x="990600" y="7681912"/>
            <a:ext cx="1683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1</a:t>
            </a:r>
            <a:endParaRPr b="0" i="0" sz="1800" u="none" cap="none" strike="noStrike">
              <a:solidFill>
                <a:schemeClr val="dk1"/>
              </a:solidFill>
              <a:latin typeface="Calibri"/>
              <a:ea typeface="Calibri"/>
              <a:cs typeface="Calibri"/>
              <a:sym typeface="Calibri"/>
            </a:endParaRPr>
          </a:p>
        </p:txBody>
      </p:sp>
      <p:sp>
        <p:nvSpPr>
          <p:cNvPr id="589" name="Google Shape;589;p18"/>
          <p:cNvSpPr/>
          <p:nvPr/>
        </p:nvSpPr>
        <p:spPr>
          <a:xfrm>
            <a:off x="1177975" y="7710487"/>
            <a:ext cx="16083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[Câu hỏi mở 1]</a:t>
            </a:r>
            <a:endParaRPr b="0" i="0" sz="1800" u="none" cap="none" strike="noStrike">
              <a:solidFill>
                <a:schemeClr val="dk1"/>
              </a:solidFill>
              <a:latin typeface="Calibri"/>
              <a:ea typeface="Calibri"/>
              <a:cs typeface="Calibri"/>
              <a:sym typeface="Calibri"/>
            </a:endParaRPr>
          </a:p>
        </p:txBody>
      </p:sp>
      <p:sp>
        <p:nvSpPr>
          <p:cNvPr id="590" name="Google Shape;590;p18"/>
          <p:cNvSpPr/>
          <p:nvPr/>
        </p:nvSpPr>
        <p:spPr>
          <a:xfrm>
            <a:off x="6489650" y="7681912"/>
            <a:ext cx="2127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2</a:t>
            </a:r>
            <a:endParaRPr b="0" i="0" sz="1800" u="none" cap="none" strike="noStrike">
              <a:solidFill>
                <a:schemeClr val="dk1"/>
              </a:solidFill>
              <a:latin typeface="Calibri"/>
              <a:ea typeface="Calibri"/>
              <a:cs typeface="Calibri"/>
              <a:sym typeface="Calibri"/>
            </a:endParaRPr>
          </a:p>
        </p:txBody>
      </p:sp>
      <p:sp>
        <p:nvSpPr>
          <p:cNvPr id="591" name="Google Shape;591;p18"/>
          <p:cNvSpPr/>
          <p:nvPr/>
        </p:nvSpPr>
        <p:spPr>
          <a:xfrm>
            <a:off x="6721376" y="7710487"/>
            <a:ext cx="16083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[Câu hỏi mở 2]</a:t>
            </a:r>
            <a:endParaRPr b="0" i="0" sz="1800" u="none" cap="none" strike="noStrike">
              <a:solidFill>
                <a:schemeClr val="dk1"/>
              </a:solidFill>
              <a:latin typeface="Calibri"/>
              <a:ea typeface="Calibri"/>
              <a:cs typeface="Calibri"/>
              <a:sym typeface="Calibri"/>
            </a:endParaRPr>
          </a:p>
        </p:txBody>
      </p:sp>
      <p:sp>
        <p:nvSpPr>
          <p:cNvPr id="592" name="Google Shape;592;p18"/>
          <p:cNvSpPr/>
          <p:nvPr/>
        </p:nvSpPr>
        <p:spPr>
          <a:xfrm>
            <a:off x="11988850" y="7681912"/>
            <a:ext cx="2160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800"/>
              <a:buFont typeface="Plus Jakarta Sans"/>
              <a:buNone/>
            </a:pPr>
            <a:r>
              <a:rPr b="1" i="0" lang="en-US" sz="1800" u="none" cap="none" strike="noStrike">
                <a:solidFill>
                  <a:srgbClr val="012749"/>
                </a:solidFill>
                <a:latin typeface="Plus Jakarta Sans"/>
                <a:ea typeface="Plus Jakarta Sans"/>
                <a:cs typeface="Plus Jakarta Sans"/>
                <a:sym typeface="Plus Jakarta Sans"/>
              </a:rPr>
              <a:t>3</a:t>
            </a:r>
            <a:endParaRPr b="0" i="0" sz="1800" u="none" cap="none" strike="noStrike">
              <a:solidFill>
                <a:schemeClr val="dk1"/>
              </a:solidFill>
              <a:latin typeface="Calibri"/>
              <a:ea typeface="Calibri"/>
              <a:cs typeface="Calibri"/>
              <a:sym typeface="Calibri"/>
            </a:endParaRPr>
          </a:p>
        </p:txBody>
      </p:sp>
      <p:sp>
        <p:nvSpPr>
          <p:cNvPr id="593" name="Google Shape;593;p18"/>
          <p:cNvSpPr/>
          <p:nvPr/>
        </p:nvSpPr>
        <p:spPr>
          <a:xfrm>
            <a:off x="12223849" y="7710487"/>
            <a:ext cx="16083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[Câu hỏi mở 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8" name="Shape 598"/>
        <p:cNvGrpSpPr/>
        <p:nvPr/>
      </p:nvGrpSpPr>
      <p:grpSpPr>
        <a:xfrm>
          <a:off x="0" y="0"/>
          <a:ext cx="0" cy="0"/>
          <a:chOff x="0" y="0"/>
          <a:chExt cx="0" cy="0"/>
        </a:xfrm>
      </p:grpSpPr>
      <p:sp>
        <p:nvSpPr>
          <p:cNvPr id="599" name="Google Shape;599;p19"/>
          <p:cNvSpPr/>
          <p:nvPr/>
        </p:nvSpPr>
        <p:spPr>
          <a:xfrm>
            <a:off x="762000" y="495300"/>
            <a:ext cx="99591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OKR SCORECARD · [QUÝ/KỲ] | Ahamove · Driver Management</a:t>
            </a:r>
            <a:endParaRPr b="0" i="0" sz="1800" u="none" cap="none" strike="noStrike">
              <a:solidFill>
                <a:schemeClr val="dk1"/>
              </a:solidFill>
              <a:latin typeface="Calibri"/>
              <a:ea typeface="Calibri"/>
              <a:cs typeface="Calibri"/>
              <a:sym typeface="Calibri"/>
            </a:endParaRPr>
          </a:p>
        </p:txBody>
      </p:sp>
      <p:sp>
        <p:nvSpPr>
          <p:cNvPr id="600" name="Google Shape;600;p19"/>
          <p:cNvSpPr/>
          <p:nvPr/>
        </p:nvSpPr>
        <p:spPr>
          <a:xfrm>
            <a:off x="762000" y="838200"/>
            <a:ext cx="9959100" cy="48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[Nhận định tổng quan về tiến độ OKR trong kỳ]</a:t>
            </a:r>
            <a:endParaRPr b="0" i="0" sz="2850" u="none" cap="none" strike="noStrike">
              <a:solidFill>
                <a:schemeClr val="dk1"/>
              </a:solidFill>
              <a:latin typeface="Calibri"/>
              <a:ea typeface="Calibri"/>
              <a:cs typeface="Calibri"/>
              <a:sym typeface="Calibri"/>
            </a:endParaRPr>
          </a:p>
        </p:txBody>
      </p:sp>
      <p:sp>
        <p:nvSpPr>
          <p:cNvPr id="601" name="Google Shape;601;p19"/>
          <p:cNvSpPr/>
          <p:nvPr/>
        </p:nvSpPr>
        <p:spPr>
          <a:xfrm>
            <a:off x="762000" y="1381125"/>
            <a:ext cx="90537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2" name="Google Shape;602;p19"/>
          <p:cNvPicPr preferRelativeResize="0"/>
          <p:nvPr/>
        </p:nvPicPr>
        <p:blipFill rotWithShape="1">
          <a:blip r:embed="rId3">
            <a:alphaModFix/>
          </a:blip>
          <a:srcRect b="0" l="0" r="0" t="0"/>
          <a:stretch/>
        </p:blipFill>
        <p:spPr>
          <a:xfrm>
            <a:off x="952500" y="1562100"/>
            <a:ext cx="209550" cy="209550"/>
          </a:xfrm>
          <a:prstGeom prst="rect">
            <a:avLst/>
          </a:prstGeom>
          <a:noFill/>
          <a:ln>
            <a:noFill/>
          </a:ln>
        </p:spPr>
      </p:pic>
      <p:sp>
        <p:nvSpPr>
          <p:cNvPr id="603" name="Google Shape;603;p19"/>
          <p:cNvSpPr/>
          <p:nvPr/>
        </p:nvSpPr>
        <p:spPr>
          <a:xfrm>
            <a:off x="1221581" y="1495425"/>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604" name="Google Shape;604;p19"/>
          <p:cNvSpPr/>
          <p:nvPr/>
        </p:nvSpPr>
        <p:spPr>
          <a:xfrm>
            <a:off x="3146375" y="1504950"/>
            <a:ext cx="66732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[Ghi chú về cách tổng hợp / điểm cần chú ý nhất của bảng OKR.]</a:t>
            </a:r>
            <a:endParaRPr b="0" i="0" sz="1800" u="none" cap="none" strike="noStrike">
              <a:solidFill>
                <a:schemeClr val="dk1"/>
              </a:solidFill>
              <a:latin typeface="Calibri"/>
              <a:ea typeface="Calibri"/>
              <a:cs typeface="Calibri"/>
              <a:sym typeface="Calibri"/>
            </a:endParaRPr>
          </a:p>
        </p:txBody>
      </p:sp>
      <p:sp>
        <p:nvSpPr>
          <p:cNvPr id="605" name="Google Shape;605;p19"/>
          <p:cNvSpPr/>
          <p:nvPr/>
        </p:nvSpPr>
        <p:spPr>
          <a:xfrm>
            <a:off x="16206043" y="495300"/>
            <a:ext cx="1320000" cy="5715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DM Report [Kỳ báo cáo]</a:t>
            </a:r>
            <a:endParaRPr b="0" i="0" sz="1800" u="none" cap="none" strike="noStrike">
              <a:solidFill>
                <a:schemeClr val="dk1"/>
              </a:solidFill>
              <a:latin typeface="Calibri"/>
              <a:ea typeface="Calibri"/>
              <a:cs typeface="Calibri"/>
              <a:sym typeface="Calibri"/>
            </a:endParaRPr>
          </a:p>
        </p:txBody>
      </p:sp>
      <p:sp>
        <p:nvSpPr>
          <p:cNvPr id="606" name="Google Shape;606;p19"/>
          <p:cNvSpPr/>
          <p:nvPr/>
        </p:nvSpPr>
        <p:spPr>
          <a:xfrm>
            <a:off x="762000" y="2047875"/>
            <a:ext cx="16764000" cy="5049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9"/>
          <p:cNvSpPr/>
          <p:nvPr/>
        </p:nvSpPr>
        <p:spPr>
          <a:xfrm>
            <a:off x="914400" y="2162175"/>
            <a:ext cx="31485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725"/>
              <a:buFont typeface="Plus Jakarta Sans"/>
              <a:buNone/>
            </a:pPr>
            <a:r>
              <a:rPr b="1" i="0" lang="en-US" sz="1725" u="none" cap="none" strike="noStrike">
                <a:solidFill>
                  <a:srgbClr val="FFFFFF"/>
                </a:solidFill>
                <a:latin typeface="Plus Jakarta Sans"/>
                <a:ea typeface="Plus Jakarta Sans"/>
                <a:cs typeface="Plus Jakarta Sans"/>
                <a:sym typeface="Plus Jakarta Sans"/>
              </a:rPr>
              <a:t>OBJECTIVE</a:t>
            </a:r>
            <a:endParaRPr b="0" i="0" sz="1725" u="none" cap="none" strike="noStrike">
              <a:solidFill>
                <a:schemeClr val="dk1"/>
              </a:solidFill>
              <a:latin typeface="Calibri"/>
              <a:ea typeface="Calibri"/>
              <a:cs typeface="Calibri"/>
              <a:sym typeface="Calibri"/>
            </a:endParaRPr>
          </a:p>
        </p:txBody>
      </p:sp>
      <p:sp>
        <p:nvSpPr>
          <p:cNvPr id="608" name="Google Shape;608;p19"/>
          <p:cNvSpPr/>
          <p:nvPr/>
        </p:nvSpPr>
        <p:spPr>
          <a:xfrm>
            <a:off x="4267200" y="2162175"/>
            <a:ext cx="72927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725"/>
              <a:buFont typeface="Plus Jakarta Sans"/>
              <a:buNone/>
            </a:pPr>
            <a:r>
              <a:rPr b="1" i="0" lang="en-US" sz="1725" u="none" cap="none" strike="noStrike">
                <a:solidFill>
                  <a:srgbClr val="FFFFFF"/>
                </a:solidFill>
                <a:latin typeface="Plus Jakarta Sans"/>
                <a:ea typeface="Plus Jakarta Sans"/>
                <a:cs typeface="Plus Jakarta Sans"/>
                <a:sym typeface="Plus Jakarta Sans"/>
              </a:rPr>
              <a:t>TIẾN ĐỘ NỔI BẬT</a:t>
            </a:r>
            <a:endParaRPr b="0" i="0" sz="1725" u="none" cap="none" strike="noStrike">
              <a:solidFill>
                <a:schemeClr val="dk1"/>
              </a:solidFill>
              <a:latin typeface="Calibri"/>
              <a:ea typeface="Calibri"/>
              <a:cs typeface="Calibri"/>
              <a:sym typeface="Calibri"/>
            </a:endParaRPr>
          </a:p>
        </p:txBody>
      </p:sp>
      <p:sp>
        <p:nvSpPr>
          <p:cNvPr id="609" name="Google Shape;609;p19"/>
          <p:cNvSpPr/>
          <p:nvPr/>
        </p:nvSpPr>
        <p:spPr>
          <a:xfrm>
            <a:off x="11605171" y="2162175"/>
            <a:ext cx="1447800" cy="314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725"/>
              <a:buFont typeface="Plus Jakarta Sans"/>
              <a:buNone/>
            </a:pPr>
            <a:r>
              <a:rPr b="1" i="0" lang="en-US" sz="1725" u="none" cap="none" strike="noStrike">
                <a:solidFill>
                  <a:srgbClr val="FFFFFF"/>
                </a:solidFill>
                <a:latin typeface="Plus Jakarta Sans"/>
                <a:ea typeface="Plus Jakarta Sans"/>
                <a:cs typeface="Plus Jakarta Sans"/>
                <a:sym typeface="Plus Jakarta Sans"/>
              </a:rPr>
              <a:t>RAG</a:t>
            </a:r>
            <a:endParaRPr b="0" i="0" sz="1725" u="none" cap="none" strike="noStrike">
              <a:solidFill>
                <a:schemeClr val="dk1"/>
              </a:solidFill>
              <a:latin typeface="Calibri"/>
              <a:ea typeface="Calibri"/>
              <a:cs typeface="Calibri"/>
              <a:sym typeface="Calibri"/>
            </a:endParaRPr>
          </a:p>
        </p:txBody>
      </p:sp>
      <p:sp>
        <p:nvSpPr>
          <p:cNvPr id="610" name="Google Shape;610;p19"/>
          <p:cNvSpPr/>
          <p:nvPr/>
        </p:nvSpPr>
        <p:spPr>
          <a:xfrm>
            <a:off x="13319671" y="2162175"/>
            <a:ext cx="41847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725"/>
              <a:buFont typeface="Plus Jakarta Sans"/>
              <a:buNone/>
            </a:pPr>
            <a:r>
              <a:rPr b="1" i="0" lang="en-US" sz="1725" u="none" cap="none" strike="noStrike">
                <a:solidFill>
                  <a:srgbClr val="FFFFFF"/>
                </a:solidFill>
                <a:latin typeface="Plus Jakarta Sans"/>
                <a:ea typeface="Plus Jakarta Sans"/>
                <a:cs typeface="Plus Jakarta Sans"/>
                <a:sym typeface="Plus Jakarta Sans"/>
              </a:rPr>
              <a:t>GHI CHÚ</a:t>
            </a:r>
            <a:endParaRPr b="0" i="0" sz="1725" u="none" cap="none" strike="noStrike">
              <a:solidFill>
                <a:schemeClr val="dk1"/>
              </a:solidFill>
              <a:latin typeface="Calibri"/>
              <a:ea typeface="Calibri"/>
              <a:cs typeface="Calibri"/>
              <a:sym typeface="Calibri"/>
            </a:endParaRPr>
          </a:p>
        </p:txBody>
      </p:sp>
      <p:sp>
        <p:nvSpPr>
          <p:cNvPr id="611" name="Google Shape;611;p19"/>
          <p:cNvSpPr/>
          <p:nvPr/>
        </p:nvSpPr>
        <p:spPr>
          <a:xfrm>
            <a:off x="762000" y="3741837"/>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9"/>
          <p:cNvSpPr/>
          <p:nvPr/>
        </p:nvSpPr>
        <p:spPr>
          <a:xfrm>
            <a:off x="914400" y="2667000"/>
            <a:ext cx="3148500" cy="1008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[Objective 1]</a:t>
            </a:r>
            <a:endParaRPr b="0" i="0" sz="1725" u="none" cap="none" strike="noStrike">
              <a:solidFill>
                <a:schemeClr val="dk1"/>
              </a:solidFill>
              <a:latin typeface="Calibri"/>
              <a:ea typeface="Calibri"/>
              <a:cs typeface="Calibri"/>
              <a:sym typeface="Calibri"/>
            </a:endParaRPr>
          </a:p>
        </p:txBody>
      </p:sp>
      <p:sp>
        <p:nvSpPr>
          <p:cNvPr id="613" name="Google Shape;613;p19"/>
          <p:cNvSpPr/>
          <p:nvPr/>
        </p:nvSpPr>
        <p:spPr>
          <a:xfrm>
            <a:off x="4267200" y="2667000"/>
            <a:ext cx="7292700" cy="1008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[Tiến độ / số liệu KR nổi bật]</a:t>
            </a:r>
            <a:endParaRPr b="0" i="0" sz="1725" u="none" cap="none" strike="noStrike">
              <a:solidFill>
                <a:schemeClr val="dk1"/>
              </a:solidFill>
              <a:latin typeface="Calibri"/>
              <a:ea typeface="Calibri"/>
              <a:cs typeface="Calibri"/>
              <a:sym typeface="Calibri"/>
            </a:endParaRPr>
          </a:p>
        </p:txBody>
      </p:sp>
      <p:sp>
        <p:nvSpPr>
          <p:cNvPr id="614" name="Google Shape;614;p19"/>
          <p:cNvSpPr/>
          <p:nvPr/>
        </p:nvSpPr>
        <p:spPr>
          <a:xfrm>
            <a:off x="12066687" y="2987725"/>
            <a:ext cx="524700" cy="32400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9"/>
          <p:cNvSpPr/>
          <p:nvPr/>
        </p:nvSpPr>
        <p:spPr>
          <a:xfrm>
            <a:off x="12161937" y="3035350"/>
            <a:ext cx="3342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ĐỎ</a:t>
            </a:r>
            <a:endParaRPr b="0" i="0" sz="1500" u="none" cap="none" strike="noStrike">
              <a:solidFill>
                <a:schemeClr val="dk1"/>
              </a:solidFill>
              <a:latin typeface="Calibri"/>
              <a:ea typeface="Calibri"/>
              <a:cs typeface="Calibri"/>
              <a:sym typeface="Calibri"/>
            </a:endParaRPr>
          </a:p>
        </p:txBody>
      </p:sp>
      <p:sp>
        <p:nvSpPr>
          <p:cNvPr id="616" name="Google Shape;616;p19"/>
          <p:cNvSpPr/>
          <p:nvPr/>
        </p:nvSpPr>
        <p:spPr>
          <a:xfrm>
            <a:off x="13319671" y="2667000"/>
            <a:ext cx="4184700" cy="1008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[Ghi chú ngắn]</a:t>
            </a:r>
            <a:endParaRPr b="0" i="0" sz="1725" u="none" cap="none" strike="noStrike">
              <a:solidFill>
                <a:schemeClr val="dk1"/>
              </a:solidFill>
              <a:latin typeface="Calibri"/>
              <a:ea typeface="Calibri"/>
              <a:cs typeface="Calibri"/>
              <a:sym typeface="Calibri"/>
            </a:endParaRPr>
          </a:p>
        </p:txBody>
      </p:sp>
      <p:sp>
        <p:nvSpPr>
          <p:cNvPr id="617" name="Google Shape;617;p19"/>
          <p:cNvSpPr/>
          <p:nvPr/>
        </p:nvSpPr>
        <p:spPr>
          <a:xfrm>
            <a:off x="762000" y="3751362"/>
            <a:ext cx="16764000" cy="12102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9"/>
          <p:cNvSpPr/>
          <p:nvPr/>
        </p:nvSpPr>
        <p:spPr>
          <a:xfrm>
            <a:off x="762000" y="4952107"/>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9"/>
          <p:cNvSpPr/>
          <p:nvPr/>
        </p:nvSpPr>
        <p:spPr>
          <a:xfrm>
            <a:off x="914400" y="3865662"/>
            <a:ext cx="31485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[Objective 2]</a:t>
            </a:r>
            <a:endParaRPr b="0" i="0" sz="1725" u="none" cap="none" strike="noStrike">
              <a:solidFill>
                <a:schemeClr val="dk1"/>
              </a:solidFill>
              <a:latin typeface="Calibri"/>
              <a:ea typeface="Calibri"/>
              <a:cs typeface="Calibri"/>
              <a:sym typeface="Calibri"/>
            </a:endParaRPr>
          </a:p>
        </p:txBody>
      </p:sp>
      <p:sp>
        <p:nvSpPr>
          <p:cNvPr id="620" name="Google Shape;620;p19"/>
          <p:cNvSpPr/>
          <p:nvPr/>
        </p:nvSpPr>
        <p:spPr>
          <a:xfrm>
            <a:off x="4267200" y="3865662"/>
            <a:ext cx="72927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[Tiến độ / số liệu KR nổi bật]</a:t>
            </a:r>
            <a:endParaRPr b="0" i="0" sz="1725" u="none" cap="none" strike="noStrike">
              <a:solidFill>
                <a:schemeClr val="dk1"/>
              </a:solidFill>
              <a:latin typeface="Calibri"/>
              <a:ea typeface="Calibri"/>
              <a:cs typeface="Calibri"/>
              <a:sym typeface="Calibri"/>
            </a:endParaRPr>
          </a:p>
        </p:txBody>
      </p:sp>
      <p:sp>
        <p:nvSpPr>
          <p:cNvPr id="621" name="Google Shape;621;p19"/>
          <p:cNvSpPr/>
          <p:nvPr/>
        </p:nvSpPr>
        <p:spPr>
          <a:xfrm>
            <a:off x="11940778" y="4194572"/>
            <a:ext cx="776400" cy="3240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9"/>
          <p:cNvSpPr/>
          <p:nvPr/>
        </p:nvSpPr>
        <p:spPr>
          <a:xfrm>
            <a:off x="12036028" y="4242197"/>
            <a:ext cx="5859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VÀNG</a:t>
            </a:r>
            <a:endParaRPr b="0" i="0" sz="1500" u="none" cap="none" strike="noStrike">
              <a:solidFill>
                <a:schemeClr val="dk1"/>
              </a:solidFill>
              <a:latin typeface="Calibri"/>
              <a:ea typeface="Calibri"/>
              <a:cs typeface="Calibri"/>
              <a:sym typeface="Calibri"/>
            </a:endParaRPr>
          </a:p>
        </p:txBody>
      </p:sp>
      <p:sp>
        <p:nvSpPr>
          <p:cNvPr id="623" name="Google Shape;623;p19"/>
          <p:cNvSpPr/>
          <p:nvPr/>
        </p:nvSpPr>
        <p:spPr>
          <a:xfrm>
            <a:off x="13319671" y="3865662"/>
            <a:ext cx="41847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[Ghi chú ngắn]</a:t>
            </a:r>
            <a:endParaRPr b="0" i="0" sz="1725" u="none" cap="none" strike="noStrike">
              <a:solidFill>
                <a:schemeClr val="dk1"/>
              </a:solidFill>
              <a:latin typeface="Calibri"/>
              <a:ea typeface="Calibri"/>
              <a:cs typeface="Calibri"/>
              <a:sym typeface="Calibri"/>
            </a:endParaRPr>
          </a:p>
        </p:txBody>
      </p:sp>
      <p:sp>
        <p:nvSpPr>
          <p:cNvPr id="624" name="Google Shape;624;p19"/>
          <p:cNvSpPr/>
          <p:nvPr/>
        </p:nvSpPr>
        <p:spPr>
          <a:xfrm>
            <a:off x="762000" y="6162377"/>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9"/>
          <p:cNvSpPr/>
          <p:nvPr/>
        </p:nvSpPr>
        <p:spPr>
          <a:xfrm>
            <a:off x="914400" y="5075932"/>
            <a:ext cx="31485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[Objective 3]</a:t>
            </a:r>
            <a:endParaRPr b="0" i="0" sz="1725" u="none" cap="none" strike="noStrike">
              <a:solidFill>
                <a:schemeClr val="dk1"/>
              </a:solidFill>
              <a:latin typeface="Calibri"/>
              <a:ea typeface="Calibri"/>
              <a:cs typeface="Calibri"/>
              <a:sym typeface="Calibri"/>
            </a:endParaRPr>
          </a:p>
        </p:txBody>
      </p:sp>
      <p:sp>
        <p:nvSpPr>
          <p:cNvPr id="626" name="Google Shape;626;p19"/>
          <p:cNvSpPr/>
          <p:nvPr/>
        </p:nvSpPr>
        <p:spPr>
          <a:xfrm>
            <a:off x="4267200" y="5075932"/>
            <a:ext cx="72927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[Tiến độ / số liệu KR nổi bật]</a:t>
            </a:r>
            <a:endParaRPr b="0" i="0" sz="1725" u="none" cap="none" strike="noStrike">
              <a:solidFill>
                <a:schemeClr val="dk1"/>
              </a:solidFill>
              <a:latin typeface="Calibri"/>
              <a:ea typeface="Calibri"/>
              <a:cs typeface="Calibri"/>
              <a:sym typeface="Calibri"/>
            </a:endParaRPr>
          </a:p>
        </p:txBody>
      </p:sp>
      <p:sp>
        <p:nvSpPr>
          <p:cNvPr id="627" name="Google Shape;627;p19"/>
          <p:cNvSpPr/>
          <p:nvPr/>
        </p:nvSpPr>
        <p:spPr>
          <a:xfrm>
            <a:off x="11936760" y="5404842"/>
            <a:ext cx="784500" cy="324000"/>
          </a:xfrm>
          <a:prstGeom prst="roundRect">
            <a:avLst>
              <a:gd fmla="val 50000" name="adj"/>
            </a:avLst>
          </a:prstGeom>
          <a:solidFill>
            <a:srgbClr val="167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9"/>
          <p:cNvSpPr/>
          <p:nvPr/>
        </p:nvSpPr>
        <p:spPr>
          <a:xfrm>
            <a:off x="12032010" y="5452467"/>
            <a:ext cx="5940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XANH</a:t>
            </a:r>
            <a:endParaRPr b="0" i="0" sz="1500" u="none" cap="none" strike="noStrike">
              <a:solidFill>
                <a:schemeClr val="dk1"/>
              </a:solidFill>
              <a:latin typeface="Calibri"/>
              <a:ea typeface="Calibri"/>
              <a:cs typeface="Calibri"/>
              <a:sym typeface="Calibri"/>
            </a:endParaRPr>
          </a:p>
        </p:txBody>
      </p:sp>
      <p:sp>
        <p:nvSpPr>
          <p:cNvPr id="629" name="Google Shape;629;p19"/>
          <p:cNvSpPr/>
          <p:nvPr/>
        </p:nvSpPr>
        <p:spPr>
          <a:xfrm>
            <a:off x="13319671" y="5075932"/>
            <a:ext cx="41847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[Ghi chú ngắn]</a:t>
            </a:r>
            <a:endParaRPr b="0" i="0" sz="1725" u="none" cap="none" strike="noStrike">
              <a:solidFill>
                <a:schemeClr val="dk1"/>
              </a:solidFill>
              <a:latin typeface="Calibri"/>
              <a:ea typeface="Calibri"/>
              <a:cs typeface="Calibri"/>
              <a:sym typeface="Calibri"/>
            </a:endParaRPr>
          </a:p>
        </p:txBody>
      </p:sp>
      <p:sp>
        <p:nvSpPr>
          <p:cNvPr id="630" name="Google Shape;630;p19"/>
          <p:cNvSpPr/>
          <p:nvPr/>
        </p:nvSpPr>
        <p:spPr>
          <a:xfrm>
            <a:off x="762000" y="6171902"/>
            <a:ext cx="16764000" cy="12102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9"/>
          <p:cNvSpPr/>
          <p:nvPr/>
        </p:nvSpPr>
        <p:spPr>
          <a:xfrm>
            <a:off x="762000" y="7372648"/>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9"/>
          <p:cNvSpPr/>
          <p:nvPr/>
        </p:nvSpPr>
        <p:spPr>
          <a:xfrm>
            <a:off x="914400" y="6286202"/>
            <a:ext cx="31485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[Objective 4]</a:t>
            </a:r>
            <a:endParaRPr b="0" i="0" sz="1725" u="none" cap="none" strike="noStrike">
              <a:solidFill>
                <a:schemeClr val="dk1"/>
              </a:solidFill>
              <a:latin typeface="Calibri"/>
              <a:ea typeface="Calibri"/>
              <a:cs typeface="Calibri"/>
              <a:sym typeface="Calibri"/>
            </a:endParaRPr>
          </a:p>
        </p:txBody>
      </p:sp>
      <p:sp>
        <p:nvSpPr>
          <p:cNvPr id="633" name="Google Shape;633;p19"/>
          <p:cNvSpPr/>
          <p:nvPr/>
        </p:nvSpPr>
        <p:spPr>
          <a:xfrm>
            <a:off x="4267200" y="6286202"/>
            <a:ext cx="72927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[Tiến độ / số liệu KR nổi bật]</a:t>
            </a:r>
            <a:endParaRPr b="0" i="0" sz="1725" u="none" cap="none" strike="noStrike">
              <a:solidFill>
                <a:schemeClr val="dk1"/>
              </a:solidFill>
              <a:latin typeface="Calibri"/>
              <a:ea typeface="Calibri"/>
              <a:cs typeface="Calibri"/>
              <a:sym typeface="Calibri"/>
            </a:endParaRPr>
          </a:p>
        </p:txBody>
      </p:sp>
      <p:sp>
        <p:nvSpPr>
          <p:cNvPr id="634" name="Google Shape;634;p19"/>
          <p:cNvSpPr/>
          <p:nvPr/>
        </p:nvSpPr>
        <p:spPr>
          <a:xfrm>
            <a:off x="12066687" y="6615113"/>
            <a:ext cx="524700" cy="32400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9"/>
          <p:cNvSpPr/>
          <p:nvPr/>
        </p:nvSpPr>
        <p:spPr>
          <a:xfrm>
            <a:off x="12161937" y="6662738"/>
            <a:ext cx="3342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ĐỎ</a:t>
            </a:r>
            <a:endParaRPr b="0" i="0" sz="1500" u="none" cap="none" strike="noStrike">
              <a:solidFill>
                <a:schemeClr val="dk1"/>
              </a:solidFill>
              <a:latin typeface="Calibri"/>
              <a:ea typeface="Calibri"/>
              <a:cs typeface="Calibri"/>
              <a:sym typeface="Calibri"/>
            </a:endParaRPr>
          </a:p>
        </p:txBody>
      </p:sp>
      <p:sp>
        <p:nvSpPr>
          <p:cNvPr id="636" name="Google Shape;636;p19"/>
          <p:cNvSpPr/>
          <p:nvPr/>
        </p:nvSpPr>
        <p:spPr>
          <a:xfrm>
            <a:off x="13319671" y="6286202"/>
            <a:ext cx="41847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[Ghi chú ngắn]</a:t>
            </a:r>
            <a:endParaRPr b="0" i="0" sz="1725" u="none" cap="none" strike="noStrike">
              <a:solidFill>
                <a:schemeClr val="dk1"/>
              </a:solidFill>
              <a:latin typeface="Calibri"/>
              <a:ea typeface="Calibri"/>
              <a:cs typeface="Calibri"/>
              <a:sym typeface="Calibri"/>
            </a:endParaRPr>
          </a:p>
        </p:txBody>
      </p:sp>
      <p:sp>
        <p:nvSpPr>
          <p:cNvPr id="637" name="Google Shape;637;p19"/>
          <p:cNvSpPr/>
          <p:nvPr/>
        </p:nvSpPr>
        <p:spPr>
          <a:xfrm>
            <a:off x="762000" y="8582918"/>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9"/>
          <p:cNvSpPr/>
          <p:nvPr/>
        </p:nvSpPr>
        <p:spPr>
          <a:xfrm>
            <a:off x="914400" y="7496473"/>
            <a:ext cx="31485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[Objective 5]</a:t>
            </a:r>
            <a:endParaRPr b="0" i="0" sz="1725" u="none" cap="none" strike="noStrike">
              <a:solidFill>
                <a:schemeClr val="dk1"/>
              </a:solidFill>
              <a:latin typeface="Calibri"/>
              <a:ea typeface="Calibri"/>
              <a:cs typeface="Calibri"/>
              <a:sym typeface="Calibri"/>
            </a:endParaRPr>
          </a:p>
        </p:txBody>
      </p:sp>
      <p:sp>
        <p:nvSpPr>
          <p:cNvPr id="639" name="Google Shape;639;p19"/>
          <p:cNvSpPr/>
          <p:nvPr/>
        </p:nvSpPr>
        <p:spPr>
          <a:xfrm>
            <a:off x="4267200" y="7496473"/>
            <a:ext cx="72927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[Tiến độ / số liệu KR nổi bật]</a:t>
            </a:r>
            <a:endParaRPr b="0" i="0" sz="1725" u="none" cap="none" strike="noStrike">
              <a:solidFill>
                <a:schemeClr val="dk1"/>
              </a:solidFill>
              <a:latin typeface="Calibri"/>
              <a:ea typeface="Calibri"/>
              <a:cs typeface="Calibri"/>
              <a:sym typeface="Calibri"/>
            </a:endParaRPr>
          </a:p>
        </p:txBody>
      </p:sp>
      <p:sp>
        <p:nvSpPr>
          <p:cNvPr id="640" name="Google Shape;640;p19"/>
          <p:cNvSpPr/>
          <p:nvPr/>
        </p:nvSpPr>
        <p:spPr>
          <a:xfrm>
            <a:off x="11940778" y="7825383"/>
            <a:ext cx="776400" cy="3240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9"/>
          <p:cNvSpPr/>
          <p:nvPr/>
        </p:nvSpPr>
        <p:spPr>
          <a:xfrm>
            <a:off x="12036028" y="7873008"/>
            <a:ext cx="5859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VÀNG</a:t>
            </a:r>
            <a:endParaRPr b="0" i="0" sz="1500" u="none" cap="none" strike="noStrike">
              <a:solidFill>
                <a:schemeClr val="dk1"/>
              </a:solidFill>
              <a:latin typeface="Calibri"/>
              <a:ea typeface="Calibri"/>
              <a:cs typeface="Calibri"/>
              <a:sym typeface="Calibri"/>
            </a:endParaRPr>
          </a:p>
        </p:txBody>
      </p:sp>
      <p:sp>
        <p:nvSpPr>
          <p:cNvPr id="642" name="Google Shape;642;p19"/>
          <p:cNvSpPr/>
          <p:nvPr/>
        </p:nvSpPr>
        <p:spPr>
          <a:xfrm>
            <a:off x="13319671" y="7496473"/>
            <a:ext cx="4184700" cy="10197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[Ghi chú ngắn]</a:t>
            </a:r>
            <a:endParaRPr b="0" i="0" sz="1725" u="none" cap="none" strike="noStrike">
              <a:solidFill>
                <a:schemeClr val="dk1"/>
              </a:solidFill>
              <a:latin typeface="Calibri"/>
              <a:ea typeface="Calibri"/>
              <a:cs typeface="Calibri"/>
              <a:sym typeface="Calibri"/>
            </a:endParaRPr>
          </a:p>
        </p:txBody>
      </p:sp>
      <p:sp>
        <p:nvSpPr>
          <p:cNvPr id="643" name="Google Shape;643;p19"/>
          <p:cNvSpPr/>
          <p:nvPr/>
        </p:nvSpPr>
        <p:spPr>
          <a:xfrm>
            <a:off x="762000" y="8592443"/>
            <a:ext cx="16764000" cy="11994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9"/>
          <p:cNvSpPr/>
          <p:nvPr/>
        </p:nvSpPr>
        <p:spPr>
          <a:xfrm>
            <a:off x="914400" y="8706743"/>
            <a:ext cx="3148500" cy="10089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725"/>
              <a:buFont typeface="Roboto"/>
              <a:buNone/>
            </a:pPr>
            <a:r>
              <a:rPr b="1" i="0" lang="en-US" sz="1725" u="none" cap="none" strike="noStrike">
                <a:solidFill>
                  <a:srgbClr val="121619"/>
                </a:solidFill>
                <a:latin typeface="Roboto"/>
                <a:ea typeface="Roboto"/>
                <a:cs typeface="Roboto"/>
                <a:sym typeface="Roboto"/>
              </a:rPr>
              <a:t>[Objective 6]</a:t>
            </a:r>
            <a:endParaRPr b="0" i="0" sz="1725" u="none" cap="none" strike="noStrike">
              <a:solidFill>
                <a:schemeClr val="dk1"/>
              </a:solidFill>
              <a:latin typeface="Calibri"/>
              <a:ea typeface="Calibri"/>
              <a:cs typeface="Calibri"/>
              <a:sym typeface="Calibri"/>
            </a:endParaRPr>
          </a:p>
        </p:txBody>
      </p:sp>
      <p:sp>
        <p:nvSpPr>
          <p:cNvPr id="645" name="Google Shape;645;p19"/>
          <p:cNvSpPr/>
          <p:nvPr/>
        </p:nvSpPr>
        <p:spPr>
          <a:xfrm>
            <a:off x="4267200" y="8706743"/>
            <a:ext cx="7292700" cy="10089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[Tiến độ / số liệu KR nổi bật]</a:t>
            </a:r>
            <a:endParaRPr b="0" i="0" sz="1725" u="none" cap="none" strike="noStrike">
              <a:solidFill>
                <a:schemeClr val="dk1"/>
              </a:solidFill>
              <a:latin typeface="Calibri"/>
              <a:ea typeface="Calibri"/>
              <a:cs typeface="Calibri"/>
              <a:sym typeface="Calibri"/>
            </a:endParaRPr>
          </a:p>
        </p:txBody>
      </p:sp>
      <p:sp>
        <p:nvSpPr>
          <p:cNvPr id="646" name="Google Shape;646;p19"/>
          <p:cNvSpPr/>
          <p:nvPr/>
        </p:nvSpPr>
        <p:spPr>
          <a:xfrm>
            <a:off x="12066687" y="9032528"/>
            <a:ext cx="524700" cy="32400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p:nvPr/>
        </p:nvSpPr>
        <p:spPr>
          <a:xfrm>
            <a:off x="12161937" y="9080153"/>
            <a:ext cx="3342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ĐỎ</a:t>
            </a:r>
            <a:endParaRPr b="0" i="0" sz="1500" u="none" cap="none" strike="noStrike">
              <a:solidFill>
                <a:schemeClr val="dk1"/>
              </a:solidFill>
              <a:latin typeface="Calibri"/>
              <a:ea typeface="Calibri"/>
              <a:cs typeface="Calibri"/>
              <a:sym typeface="Calibri"/>
            </a:endParaRPr>
          </a:p>
        </p:txBody>
      </p:sp>
      <p:sp>
        <p:nvSpPr>
          <p:cNvPr id="648" name="Google Shape;648;p19"/>
          <p:cNvSpPr/>
          <p:nvPr/>
        </p:nvSpPr>
        <p:spPr>
          <a:xfrm>
            <a:off x="13319671" y="8706743"/>
            <a:ext cx="4184700" cy="10089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725"/>
              <a:buFont typeface="Roboto"/>
              <a:buNone/>
            </a:pPr>
            <a:r>
              <a:rPr b="0" i="0" lang="en-US" sz="1725" u="none" cap="none" strike="noStrike">
                <a:solidFill>
                  <a:srgbClr val="4C5158"/>
                </a:solidFill>
                <a:latin typeface="Roboto"/>
                <a:ea typeface="Roboto"/>
                <a:cs typeface="Roboto"/>
                <a:sym typeface="Roboto"/>
              </a:rPr>
              <a:t>[Ghi chú ngắn]</a:t>
            </a:r>
            <a:endParaRPr b="0" i="0" sz="1725"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3" name="Shape 653"/>
        <p:cNvGrpSpPr/>
        <p:nvPr/>
      </p:nvGrpSpPr>
      <p:grpSpPr>
        <a:xfrm>
          <a:off x="0" y="0"/>
          <a:ext cx="0" cy="0"/>
          <a:chOff x="0" y="0"/>
          <a:chExt cx="0" cy="0"/>
        </a:xfrm>
      </p:grpSpPr>
      <p:sp>
        <p:nvSpPr>
          <p:cNvPr id="654" name="Google Shape;654;p20"/>
          <p:cNvSpPr/>
          <p:nvPr/>
        </p:nvSpPr>
        <p:spPr>
          <a:xfrm>
            <a:off x="762000" y="4953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PROJECT PORTFOLIO · TỔNG QUAN | Ahamove · Driver Management</a:t>
            </a:r>
            <a:endParaRPr b="0" i="0" sz="1800" u="none" cap="none" strike="noStrike">
              <a:solidFill>
                <a:schemeClr val="dk1"/>
              </a:solidFill>
              <a:latin typeface="Calibri"/>
              <a:ea typeface="Calibri"/>
              <a:cs typeface="Calibri"/>
              <a:sym typeface="Calibri"/>
            </a:endParaRPr>
          </a:p>
        </p:txBody>
      </p:sp>
      <p:sp>
        <p:nvSpPr>
          <p:cNvPr id="655" name="Google Shape;655;p20"/>
          <p:cNvSpPr/>
          <p:nvPr/>
        </p:nvSpPr>
        <p:spPr>
          <a:xfrm>
            <a:off x="762000" y="838200"/>
            <a:ext cx="18440400" cy="48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[Nhận định 1 dòng về sức khỏe tổng thể của portfolio]</a:t>
            </a:r>
            <a:endParaRPr b="0" i="0" sz="2850" u="none" cap="none" strike="noStrike">
              <a:solidFill>
                <a:schemeClr val="dk1"/>
              </a:solidFill>
              <a:latin typeface="Calibri"/>
              <a:ea typeface="Calibri"/>
              <a:cs typeface="Calibri"/>
              <a:sym typeface="Calibri"/>
            </a:endParaRPr>
          </a:p>
        </p:txBody>
      </p:sp>
      <p:sp>
        <p:nvSpPr>
          <p:cNvPr id="656" name="Google Shape;656;p20"/>
          <p:cNvSpPr/>
          <p:nvPr/>
        </p:nvSpPr>
        <p:spPr>
          <a:xfrm>
            <a:off x="762000" y="1381125"/>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7" name="Google Shape;657;p20"/>
          <p:cNvPicPr preferRelativeResize="0"/>
          <p:nvPr/>
        </p:nvPicPr>
        <p:blipFill rotWithShape="1">
          <a:blip r:embed="rId3">
            <a:alphaModFix/>
          </a:blip>
          <a:srcRect b="0" l="0" r="0" t="0"/>
          <a:stretch/>
        </p:blipFill>
        <p:spPr>
          <a:xfrm>
            <a:off x="952500" y="1562100"/>
            <a:ext cx="209550" cy="209550"/>
          </a:xfrm>
          <a:prstGeom prst="rect">
            <a:avLst/>
          </a:prstGeom>
          <a:noFill/>
          <a:ln>
            <a:noFill/>
          </a:ln>
        </p:spPr>
      </p:pic>
      <p:sp>
        <p:nvSpPr>
          <p:cNvPr id="658" name="Google Shape;658;p20"/>
          <p:cNvSpPr/>
          <p:nvPr/>
        </p:nvSpPr>
        <p:spPr>
          <a:xfrm>
            <a:off x="1221581" y="1495425"/>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659" name="Google Shape;659;p20"/>
          <p:cNvSpPr/>
          <p:nvPr/>
        </p:nvSpPr>
        <p:spPr>
          <a:xfrm>
            <a:off x="3146375" y="1504950"/>
            <a:ext cx="67224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[Vì sao cần nhìn tổng quan portfolio trước khi đi sâu từng dự án.]</a:t>
            </a:r>
            <a:endParaRPr b="0" i="0" sz="1800" u="none" cap="none" strike="noStrike">
              <a:solidFill>
                <a:schemeClr val="dk1"/>
              </a:solidFill>
              <a:latin typeface="Calibri"/>
              <a:ea typeface="Calibri"/>
              <a:cs typeface="Calibri"/>
              <a:sym typeface="Calibri"/>
            </a:endParaRPr>
          </a:p>
        </p:txBody>
      </p:sp>
      <p:sp>
        <p:nvSpPr>
          <p:cNvPr id="660" name="Google Shape;660;p20"/>
          <p:cNvSpPr/>
          <p:nvPr/>
        </p:nvSpPr>
        <p:spPr>
          <a:xfrm>
            <a:off x="762000" y="2047875"/>
            <a:ext cx="16764000" cy="5526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0"/>
          <p:cNvSpPr/>
          <p:nvPr/>
        </p:nvSpPr>
        <p:spPr>
          <a:xfrm>
            <a:off x="933450" y="2181225"/>
            <a:ext cx="22542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PROJECT</a:t>
            </a:r>
            <a:endParaRPr b="0" i="0" sz="1800" u="none" cap="none" strike="noStrike">
              <a:solidFill>
                <a:schemeClr val="dk1"/>
              </a:solidFill>
              <a:latin typeface="Calibri"/>
              <a:ea typeface="Calibri"/>
              <a:cs typeface="Calibri"/>
              <a:sym typeface="Calibri"/>
            </a:endParaRPr>
          </a:p>
        </p:txBody>
      </p:sp>
      <p:sp>
        <p:nvSpPr>
          <p:cNvPr id="662" name="Google Shape;662;p20"/>
          <p:cNvSpPr/>
          <p:nvPr/>
        </p:nvSpPr>
        <p:spPr>
          <a:xfrm>
            <a:off x="3402088" y="2181225"/>
            <a:ext cx="32526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STATUS (RAG)</a:t>
            </a:r>
            <a:endParaRPr b="0" i="0" sz="1800" u="none" cap="none" strike="noStrike">
              <a:solidFill>
                <a:schemeClr val="dk1"/>
              </a:solidFill>
              <a:latin typeface="Calibri"/>
              <a:ea typeface="Calibri"/>
              <a:cs typeface="Calibri"/>
              <a:sym typeface="Calibri"/>
            </a:endParaRPr>
          </a:p>
        </p:txBody>
      </p:sp>
      <p:sp>
        <p:nvSpPr>
          <p:cNvPr id="663" name="Google Shape;663;p20"/>
          <p:cNvSpPr/>
          <p:nvPr/>
        </p:nvSpPr>
        <p:spPr>
          <a:xfrm>
            <a:off x="6879564" y="2181225"/>
            <a:ext cx="41649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BUSINESS IMPACT</a:t>
            </a:r>
            <a:endParaRPr b="0" i="0" sz="1800" u="none" cap="none" strike="noStrike">
              <a:solidFill>
                <a:schemeClr val="dk1"/>
              </a:solidFill>
              <a:latin typeface="Calibri"/>
              <a:ea typeface="Calibri"/>
              <a:cs typeface="Calibri"/>
              <a:sym typeface="Calibri"/>
            </a:endParaRPr>
          </a:p>
        </p:txBody>
      </p:sp>
      <p:sp>
        <p:nvSpPr>
          <p:cNvPr id="664" name="Google Shape;664;p20"/>
          <p:cNvSpPr/>
          <p:nvPr/>
        </p:nvSpPr>
        <p:spPr>
          <a:xfrm>
            <a:off x="11255251" y="2181225"/>
            <a:ext cx="42270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PROGRESS (% KR)</a:t>
            </a:r>
            <a:endParaRPr b="0" i="0" sz="1800" u="none" cap="none" strike="noStrike">
              <a:solidFill>
                <a:schemeClr val="dk1"/>
              </a:solidFill>
              <a:latin typeface="Calibri"/>
              <a:ea typeface="Calibri"/>
              <a:cs typeface="Calibri"/>
              <a:sym typeface="Calibri"/>
            </a:endParaRPr>
          </a:p>
        </p:txBody>
      </p:sp>
      <p:sp>
        <p:nvSpPr>
          <p:cNvPr id="665" name="Google Shape;665;p20"/>
          <p:cNvSpPr/>
          <p:nvPr/>
        </p:nvSpPr>
        <p:spPr>
          <a:xfrm>
            <a:off x="15720417" y="2181225"/>
            <a:ext cx="16722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MODE</a:t>
            </a:r>
            <a:endParaRPr b="0" i="0" sz="1800" u="none" cap="none" strike="noStrike">
              <a:solidFill>
                <a:schemeClr val="dk1"/>
              </a:solidFill>
              <a:latin typeface="Calibri"/>
              <a:ea typeface="Calibri"/>
              <a:cs typeface="Calibri"/>
              <a:sym typeface="Calibri"/>
            </a:endParaRPr>
          </a:p>
        </p:txBody>
      </p:sp>
      <p:sp>
        <p:nvSpPr>
          <p:cNvPr id="666" name="Google Shape;666;p20"/>
          <p:cNvSpPr/>
          <p:nvPr/>
        </p:nvSpPr>
        <p:spPr>
          <a:xfrm>
            <a:off x="762000" y="4380607"/>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0"/>
          <p:cNvSpPr/>
          <p:nvPr/>
        </p:nvSpPr>
        <p:spPr>
          <a:xfrm>
            <a:off x="933450" y="2733675"/>
            <a:ext cx="2254200" cy="15612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[Dự án A]</a:t>
            </a:r>
            <a:endParaRPr b="0" i="0" sz="1800" u="none" cap="none" strike="noStrike">
              <a:solidFill>
                <a:schemeClr val="dk1"/>
              </a:solidFill>
              <a:latin typeface="Calibri"/>
              <a:ea typeface="Calibri"/>
              <a:cs typeface="Calibri"/>
              <a:sym typeface="Calibri"/>
            </a:endParaRPr>
          </a:p>
        </p:txBody>
      </p:sp>
      <p:sp>
        <p:nvSpPr>
          <p:cNvPr id="668" name="Google Shape;668;p20"/>
          <p:cNvSpPr/>
          <p:nvPr/>
        </p:nvSpPr>
        <p:spPr>
          <a:xfrm>
            <a:off x="4765923" y="3330922"/>
            <a:ext cx="524700" cy="32400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0"/>
          <p:cNvSpPr/>
          <p:nvPr/>
        </p:nvSpPr>
        <p:spPr>
          <a:xfrm>
            <a:off x="4861173" y="3378547"/>
            <a:ext cx="3342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ĐỎ</a:t>
            </a:r>
            <a:endParaRPr b="0" i="0" sz="1500" u="none" cap="none" strike="noStrike">
              <a:solidFill>
                <a:schemeClr val="dk1"/>
              </a:solidFill>
              <a:latin typeface="Calibri"/>
              <a:ea typeface="Calibri"/>
              <a:cs typeface="Calibri"/>
              <a:sym typeface="Calibri"/>
            </a:endParaRPr>
          </a:p>
        </p:txBody>
      </p:sp>
      <p:sp>
        <p:nvSpPr>
          <p:cNvPr id="670" name="Google Shape;670;p20"/>
          <p:cNvSpPr/>
          <p:nvPr/>
        </p:nvSpPr>
        <p:spPr>
          <a:xfrm>
            <a:off x="6717639" y="2609850"/>
            <a:ext cx="4488900" cy="180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Cao</a:t>
            </a:r>
            <a:endParaRPr b="0" i="0" sz="1800" u="none" cap="none" strike="noStrike">
              <a:solidFill>
                <a:schemeClr val="dk1"/>
              </a:solidFill>
              <a:latin typeface="Calibri"/>
              <a:ea typeface="Calibri"/>
              <a:cs typeface="Calibri"/>
              <a:sym typeface="Calibri"/>
            </a:endParaRPr>
          </a:p>
        </p:txBody>
      </p:sp>
      <p:sp>
        <p:nvSpPr>
          <p:cNvPr id="671" name="Google Shape;671;p20"/>
          <p:cNvSpPr/>
          <p:nvPr/>
        </p:nvSpPr>
        <p:spPr>
          <a:xfrm>
            <a:off x="11093326" y="2609850"/>
            <a:ext cx="4550700" cy="180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 KR</a:t>
            </a:r>
            <a:endParaRPr b="0" i="0" sz="1800" u="none" cap="none" strike="noStrike">
              <a:solidFill>
                <a:schemeClr val="dk1"/>
              </a:solidFill>
              <a:latin typeface="Calibri"/>
              <a:ea typeface="Calibri"/>
              <a:cs typeface="Calibri"/>
              <a:sym typeface="Calibri"/>
            </a:endParaRPr>
          </a:p>
        </p:txBody>
      </p:sp>
      <p:sp>
        <p:nvSpPr>
          <p:cNvPr id="672" name="Google Shape;672;p20"/>
          <p:cNvSpPr/>
          <p:nvPr/>
        </p:nvSpPr>
        <p:spPr>
          <a:xfrm>
            <a:off x="15558492" y="2609850"/>
            <a:ext cx="1996200" cy="180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1" i="0" lang="en-US" sz="1800" u="none" cap="none" strike="noStrike">
                <a:solidFill>
                  <a:srgbClr val="DA1E28"/>
                </a:solidFill>
                <a:latin typeface="Roboto"/>
                <a:ea typeface="Roboto"/>
                <a:cs typeface="Roboto"/>
                <a:sym typeface="Roboto"/>
              </a:rPr>
              <a:t>REVIEW</a:t>
            </a:r>
            <a:endParaRPr b="0" i="0" sz="1800" u="none" cap="none" strike="noStrike">
              <a:solidFill>
                <a:schemeClr val="dk1"/>
              </a:solidFill>
              <a:latin typeface="Calibri"/>
              <a:ea typeface="Calibri"/>
              <a:cs typeface="Calibri"/>
              <a:sym typeface="Calibri"/>
            </a:endParaRPr>
          </a:p>
        </p:txBody>
      </p:sp>
      <p:sp>
        <p:nvSpPr>
          <p:cNvPr id="673" name="Google Shape;673;p20"/>
          <p:cNvSpPr/>
          <p:nvPr/>
        </p:nvSpPr>
        <p:spPr>
          <a:xfrm>
            <a:off x="762000" y="4390132"/>
            <a:ext cx="16764000" cy="18057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0"/>
          <p:cNvSpPr/>
          <p:nvPr/>
        </p:nvSpPr>
        <p:spPr>
          <a:xfrm>
            <a:off x="762000" y="6186339"/>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0"/>
          <p:cNvSpPr/>
          <p:nvPr/>
        </p:nvSpPr>
        <p:spPr>
          <a:xfrm>
            <a:off x="933450" y="4523482"/>
            <a:ext cx="2254200" cy="1577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[Dự án B]</a:t>
            </a:r>
            <a:endParaRPr b="0" i="0" sz="1800" u="none" cap="none" strike="noStrike">
              <a:solidFill>
                <a:schemeClr val="dk1"/>
              </a:solidFill>
              <a:latin typeface="Calibri"/>
              <a:ea typeface="Calibri"/>
              <a:cs typeface="Calibri"/>
              <a:sym typeface="Calibri"/>
            </a:endParaRPr>
          </a:p>
        </p:txBody>
      </p:sp>
      <p:sp>
        <p:nvSpPr>
          <p:cNvPr id="676" name="Google Shape;676;p20"/>
          <p:cNvSpPr/>
          <p:nvPr/>
        </p:nvSpPr>
        <p:spPr>
          <a:xfrm>
            <a:off x="4640163" y="5130998"/>
            <a:ext cx="776400" cy="3240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0"/>
          <p:cNvSpPr/>
          <p:nvPr/>
        </p:nvSpPr>
        <p:spPr>
          <a:xfrm>
            <a:off x="4735413" y="5178623"/>
            <a:ext cx="5859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VÀNG</a:t>
            </a:r>
            <a:endParaRPr b="0" i="0" sz="1500" u="none" cap="none" strike="noStrike">
              <a:solidFill>
                <a:schemeClr val="dk1"/>
              </a:solidFill>
              <a:latin typeface="Calibri"/>
              <a:ea typeface="Calibri"/>
              <a:cs typeface="Calibri"/>
              <a:sym typeface="Calibri"/>
            </a:endParaRPr>
          </a:p>
        </p:txBody>
      </p:sp>
      <p:sp>
        <p:nvSpPr>
          <p:cNvPr id="678" name="Google Shape;678;p20"/>
          <p:cNvSpPr/>
          <p:nvPr/>
        </p:nvSpPr>
        <p:spPr>
          <a:xfrm>
            <a:off x="6717639" y="4399657"/>
            <a:ext cx="4488900" cy="1824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Cao</a:t>
            </a:r>
            <a:endParaRPr b="0" i="0" sz="1800" u="none" cap="none" strike="noStrike">
              <a:solidFill>
                <a:schemeClr val="dk1"/>
              </a:solidFill>
              <a:latin typeface="Calibri"/>
              <a:ea typeface="Calibri"/>
              <a:cs typeface="Calibri"/>
              <a:sym typeface="Calibri"/>
            </a:endParaRPr>
          </a:p>
        </p:txBody>
      </p:sp>
      <p:sp>
        <p:nvSpPr>
          <p:cNvPr id="679" name="Google Shape;679;p20"/>
          <p:cNvSpPr/>
          <p:nvPr/>
        </p:nvSpPr>
        <p:spPr>
          <a:xfrm>
            <a:off x="11093326" y="4399657"/>
            <a:ext cx="4550700" cy="1824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 KR</a:t>
            </a:r>
            <a:endParaRPr b="0" i="0" sz="1800" u="none" cap="none" strike="noStrike">
              <a:solidFill>
                <a:schemeClr val="dk1"/>
              </a:solidFill>
              <a:latin typeface="Calibri"/>
              <a:ea typeface="Calibri"/>
              <a:cs typeface="Calibri"/>
              <a:sym typeface="Calibri"/>
            </a:endParaRPr>
          </a:p>
        </p:txBody>
      </p:sp>
      <p:sp>
        <p:nvSpPr>
          <p:cNvPr id="680" name="Google Shape;680;p20"/>
          <p:cNvSpPr/>
          <p:nvPr/>
        </p:nvSpPr>
        <p:spPr>
          <a:xfrm>
            <a:off x="15558492" y="4399657"/>
            <a:ext cx="1996200" cy="1824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PUSH</a:t>
            </a:r>
            <a:endParaRPr b="0" i="0" sz="1800" u="none" cap="none" strike="noStrike">
              <a:solidFill>
                <a:schemeClr val="dk1"/>
              </a:solidFill>
              <a:latin typeface="Calibri"/>
              <a:ea typeface="Calibri"/>
              <a:cs typeface="Calibri"/>
              <a:sym typeface="Calibri"/>
            </a:endParaRPr>
          </a:p>
        </p:txBody>
      </p:sp>
      <p:sp>
        <p:nvSpPr>
          <p:cNvPr id="681" name="Google Shape;681;p20"/>
          <p:cNvSpPr/>
          <p:nvPr/>
        </p:nvSpPr>
        <p:spPr>
          <a:xfrm>
            <a:off x="762000" y="7992070"/>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0"/>
          <p:cNvSpPr/>
          <p:nvPr/>
        </p:nvSpPr>
        <p:spPr>
          <a:xfrm>
            <a:off x="933450" y="6329214"/>
            <a:ext cx="2254200" cy="1577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[Dự án C]</a:t>
            </a:r>
            <a:endParaRPr b="0" i="0" sz="1800" u="none" cap="none" strike="noStrike">
              <a:solidFill>
                <a:schemeClr val="dk1"/>
              </a:solidFill>
              <a:latin typeface="Calibri"/>
              <a:ea typeface="Calibri"/>
              <a:cs typeface="Calibri"/>
              <a:sym typeface="Calibri"/>
            </a:endParaRPr>
          </a:p>
        </p:txBody>
      </p:sp>
      <p:sp>
        <p:nvSpPr>
          <p:cNvPr id="683" name="Google Shape;683;p20"/>
          <p:cNvSpPr/>
          <p:nvPr/>
        </p:nvSpPr>
        <p:spPr>
          <a:xfrm>
            <a:off x="4640163" y="6936730"/>
            <a:ext cx="776400" cy="3240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0"/>
          <p:cNvSpPr/>
          <p:nvPr/>
        </p:nvSpPr>
        <p:spPr>
          <a:xfrm>
            <a:off x="4735413" y="6984355"/>
            <a:ext cx="5859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VÀNG</a:t>
            </a:r>
            <a:endParaRPr b="0" i="0" sz="1500" u="none" cap="none" strike="noStrike">
              <a:solidFill>
                <a:schemeClr val="dk1"/>
              </a:solidFill>
              <a:latin typeface="Calibri"/>
              <a:ea typeface="Calibri"/>
              <a:cs typeface="Calibri"/>
              <a:sym typeface="Calibri"/>
            </a:endParaRPr>
          </a:p>
        </p:txBody>
      </p:sp>
      <p:sp>
        <p:nvSpPr>
          <p:cNvPr id="685" name="Google Shape;685;p20"/>
          <p:cNvSpPr/>
          <p:nvPr/>
        </p:nvSpPr>
        <p:spPr>
          <a:xfrm>
            <a:off x="6717639" y="6205389"/>
            <a:ext cx="4488900" cy="1824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Trung bình</a:t>
            </a:r>
            <a:endParaRPr b="0" i="0" sz="1800" u="none" cap="none" strike="noStrike">
              <a:solidFill>
                <a:schemeClr val="dk1"/>
              </a:solidFill>
              <a:latin typeface="Calibri"/>
              <a:ea typeface="Calibri"/>
              <a:cs typeface="Calibri"/>
              <a:sym typeface="Calibri"/>
            </a:endParaRPr>
          </a:p>
        </p:txBody>
      </p:sp>
      <p:sp>
        <p:nvSpPr>
          <p:cNvPr id="686" name="Google Shape;686;p20"/>
          <p:cNvSpPr/>
          <p:nvPr/>
        </p:nvSpPr>
        <p:spPr>
          <a:xfrm>
            <a:off x="11093326" y="6205389"/>
            <a:ext cx="4550700" cy="1824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687" name="Google Shape;687;p20"/>
          <p:cNvSpPr/>
          <p:nvPr/>
        </p:nvSpPr>
        <p:spPr>
          <a:xfrm>
            <a:off x="15558492" y="6205389"/>
            <a:ext cx="1996200" cy="1824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BUILD</a:t>
            </a:r>
            <a:endParaRPr b="0" i="0" sz="1800" u="none" cap="none" strike="noStrike">
              <a:solidFill>
                <a:schemeClr val="dk1"/>
              </a:solidFill>
              <a:latin typeface="Calibri"/>
              <a:ea typeface="Calibri"/>
              <a:cs typeface="Calibri"/>
              <a:sym typeface="Calibri"/>
            </a:endParaRPr>
          </a:p>
        </p:txBody>
      </p:sp>
      <p:sp>
        <p:nvSpPr>
          <p:cNvPr id="688" name="Google Shape;688;p20"/>
          <p:cNvSpPr/>
          <p:nvPr/>
        </p:nvSpPr>
        <p:spPr>
          <a:xfrm>
            <a:off x="762000" y="8001595"/>
            <a:ext cx="16764000" cy="17901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0"/>
          <p:cNvSpPr/>
          <p:nvPr/>
        </p:nvSpPr>
        <p:spPr>
          <a:xfrm>
            <a:off x="933450" y="8134945"/>
            <a:ext cx="2254200" cy="15615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[Dự án D]</a:t>
            </a:r>
            <a:endParaRPr b="0" i="0" sz="1800" u="none" cap="none" strike="noStrike">
              <a:solidFill>
                <a:schemeClr val="dk1"/>
              </a:solidFill>
              <a:latin typeface="Calibri"/>
              <a:ea typeface="Calibri"/>
              <a:cs typeface="Calibri"/>
              <a:sym typeface="Calibri"/>
            </a:endParaRPr>
          </a:p>
        </p:txBody>
      </p:sp>
      <p:sp>
        <p:nvSpPr>
          <p:cNvPr id="690" name="Google Shape;690;p20"/>
          <p:cNvSpPr/>
          <p:nvPr/>
        </p:nvSpPr>
        <p:spPr>
          <a:xfrm>
            <a:off x="4635996" y="8737104"/>
            <a:ext cx="784500" cy="324000"/>
          </a:xfrm>
          <a:prstGeom prst="roundRect">
            <a:avLst>
              <a:gd fmla="val 50000" name="adj"/>
            </a:avLst>
          </a:prstGeom>
          <a:solidFill>
            <a:srgbClr val="167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0"/>
          <p:cNvSpPr/>
          <p:nvPr/>
        </p:nvSpPr>
        <p:spPr>
          <a:xfrm>
            <a:off x="4731246" y="8784729"/>
            <a:ext cx="594000" cy="2667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XANH</a:t>
            </a:r>
            <a:endParaRPr b="0" i="0" sz="1500" u="none" cap="none" strike="noStrike">
              <a:solidFill>
                <a:schemeClr val="dk1"/>
              </a:solidFill>
              <a:latin typeface="Calibri"/>
              <a:ea typeface="Calibri"/>
              <a:cs typeface="Calibri"/>
              <a:sym typeface="Calibri"/>
            </a:endParaRPr>
          </a:p>
        </p:txBody>
      </p:sp>
      <p:sp>
        <p:nvSpPr>
          <p:cNvPr id="692" name="Google Shape;692;p20"/>
          <p:cNvSpPr/>
          <p:nvPr/>
        </p:nvSpPr>
        <p:spPr>
          <a:xfrm>
            <a:off x="6717639" y="8011120"/>
            <a:ext cx="4488900" cy="1809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Cao</a:t>
            </a:r>
            <a:endParaRPr b="0" i="0" sz="1800" u="none" cap="none" strike="noStrike">
              <a:solidFill>
                <a:schemeClr val="dk1"/>
              </a:solidFill>
              <a:latin typeface="Calibri"/>
              <a:ea typeface="Calibri"/>
              <a:cs typeface="Calibri"/>
              <a:sym typeface="Calibri"/>
            </a:endParaRPr>
          </a:p>
        </p:txBody>
      </p:sp>
      <p:sp>
        <p:nvSpPr>
          <p:cNvPr id="693" name="Google Shape;693;p20"/>
          <p:cNvSpPr/>
          <p:nvPr/>
        </p:nvSpPr>
        <p:spPr>
          <a:xfrm>
            <a:off x="11093326" y="8011120"/>
            <a:ext cx="4550700" cy="1809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[N]/[N] giai đoạn</a:t>
            </a:r>
            <a:endParaRPr b="0" i="0" sz="1800" u="none" cap="none" strike="noStrike">
              <a:solidFill>
                <a:schemeClr val="dk1"/>
              </a:solidFill>
              <a:latin typeface="Calibri"/>
              <a:ea typeface="Calibri"/>
              <a:cs typeface="Calibri"/>
              <a:sym typeface="Calibri"/>
            </a:endParaRPr>
          </a:p>
        </p:txBody>
      </p:sp>
      <p:sp>
        <p:nvSpPr>
          <p:cNvPr id="694" name="Google Shape;694;p20"/>
          <p:cNvSpPr/>
          <p:nvPr/>
        </p:nvSpPr>
        <p:spPr>
          <a:xfrm>
            <a:off x="15558492" y="8011120"/>
            <a:ext cx="1996200" cy="1809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1" i="0" lang="en-US" sz="1800" u="none" cap="none" strike="noStrike">
                <a:solidFill>
                  <a:srgbClr val="167C3F"/>
                </a:solidFill>
                <a:latin typeface="Roboto"/>
                <a:ea typeface="Roboto"/>
                <a:cs typeface="Roboto"/>
                <a:sym typeface="Roboto"/>
              </a:rPr>
              <a:t>SCALE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9" name="Shape 699"/>
        <p:cNvGrpSpPr/>
        <p:nvPr/>
      </p:nvGrpSpPr>
      <p:grpSpPr>
        <a:xfrm>
          <a:off x="0" y="0"/>
          <a:ext cx="0" cy="0"/>
          <a:chOff x="0" y="0"/>
          <a:chExt cx="0" cy="0"/>
        </a:xfrm>
      </p:grpSpPr>
      <p:sp>
        <p:nvSpPr>
          <p:cNvPr id="700" name="Google Shape;700;p21"/>
          <p:cNvSpPr/>
          <p:nvPr/>
        </p:nvSpPr>
        <p:spPr>
          <a:xfrm>
            <a:off x="762000" y="419100"/>
            <a:ext cx="1317600" cy="4191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1"/>
          <p:cNvSpPr/>
          <p:nvPr/>
        </p:nvSpPr>
        <p:spPr>
          <a:xfrm>
            <a:off x="952500" y="495300"/>
            <a:ext cx="10128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[Dự án A]</a:t>
            </a:r>
            <a:endParaRPr b="0" i="0" sz="1650" u="none" cap="none" strike="noStrike">
              <a:solidFill>
                <a:schemeClr val="dk1"/>
              </a:solidFill>
              <a:latin typeface="Calibri"/>
              <a:ea typeface="Calibri"/>
              <a:cs typeface="Calibri"/>
              <a:sym typeface="Calibri"/>
            </a:endParaRPr>
          </a:p>
        </p:txBody>
      </p:sp>
      <p:sp>
        <p:nvSpPr>
          <p:cNvPr id="702" name="Google Shape;702;p21"/>
          <p:cNvSpPr/>
          <p:nvPr/>
        </p:nvSpPr>
        <p:spPr>
          <a:xfrm>
            <a:off x="2174974" y="419100"/>
            <a:ext cx="1313400"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1"/>
          <p:cNvSpPr/>
          <p:nvPr/>
        </p:nvSpPr>
        <p:spPr>
          <a:xfrm>
            <a:off x="2365474" y="495300"/>
            <a:ext cx="10086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[Dự án B]</a:t>
            </a:r>
            <a:endParaRPr b="0" i="0" sz="1650" u="none" cap="none" strike="noStrike">
              <a:solidFill>
                <a:schemeClr val="dk1"/>
              </a:solidFill>
              <a:latin typeface="Calibri"/>
              <a:ea typeface="Calibri"/>
              <a:cs typeface="Calibri"/>
              <a:sym typeface="Calibri"/>
            </a:endParaRPr>
          </a:p>
        </p:txBody>
      </p:sp>
      <p:sp>
        <p:nvSpPr>
          <p:cNvPr id="704" name="Google Shape;704;p21"/>
          <p:cNvSpPr/>
          <p:nvPr/>
        </p:nvSpPr>
        <p:spPr>
          <a:xfrm>
            <a:off x="3583484" y="419100"/>
            <a:ext cx="1330800"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1"/>
          <p:cNvSpPr/>
          <p:nvPr/>
        </p:nvSpPr>
        <p:spPr>
          <a:xfrm>
            <a:off x="3773984" y="495300"/>
            <a:ext cx="10260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[Dự án C]</a:t>
            </a:r>
            <a:endParaRPr b="0" i="0" sz="1650" u="none" cap="none" strike="noStrike">
              <a:solidFill>
                <a:schemeClr val="dk1"/>
              </a:solidFill>
              <a:latin typeface="Calibri"/>
              <a:ea typeface="Calibri"/>
              <a:cs typeface="Calibri"/>
              <a:sym typeface="Calibri"/>
            </a:endParaRPr>
          </a:p>
        </p:txBody>
      </p:sp>
      <p:sp>
        <p:nvSpPr>
          <p:cNvPr id="706" name="Google Shape;706;p21"/>
          <p:cNvSpPr/>
          <p:nvPr/>
        </p:nvSpPr>
        <p:spPr>
          <a:xfrm>
            <a:off x="5009555" y="419100"/>
            <a:ext cx="1323600" cy="419100"/>
          </a:xfrm>
          <a:prstGeom prst="roundRect">
            <a:avLst>
              <a:gd fmla="val 5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1"/>
          <p:cNvSpPr/>
          <p:nvPr/>
        </p:nvSpPr>
        <p:spPr>
          <a:xfrm>
            <a:off x="5200055" y="495300"/>
            <a:ext cx="10188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[Dự án D]</a:t>
            </a:r>
            <a:endParaRPr b="0" i="0" sz="1650" u="none" cap="none" strike="noStrike">
              <a:solidFill>
                <a:schemeClr val="dk1"/>
              </a:solidFill>
              <a:latin typeface="Calibri"/>
              <a:ea typeface="Calibri"/>
              <a:cs typeface="Calibri"/>
              <a:sym typeface="Calibri"/>
            </a:endParaRPr>
          </a:p>
        </p:txBody>
      </p:sp>
      <p:sp>
        <p:nvSpPr>
          <p:cNvPr id="708" name="Google Shape;708;p21"/>
          <p:cNvSpPr/>
          <p:nvPr/>
        </p:nvSpPr>
        <p:spPr>
          <a:xfrm>
            <a:off x="762000" y="1098203"/>
            <a:ext cx="609600" cy="609600"/>
          </a:xfrm>
          <a:prstGeom prst="roundRect">
            <a:avLst>
              <a:gd fmla="val 21875"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1"/>
          <p:cNvSpPr/>
          <p:nvPr/>
        </p:nvSpPr>
        <p:spPr>
          <a:xfrm>
            <a:off x="723900" y="1098203"/>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950"/>
              <a:buFont typeface="Plus Jakarta Sans"/>
              <a:buNone/>
            </a:pPr>
            <a:r>
              <a:rPr b="1" i="0" lang="en-US" sz="1950" u="none" cap="none" strike="noStrike">
                <a:solidFill>
                  <a:srgbClr val="FFFFFF"/>
                </a:solidFill>
                <a:latin typeface="Plus Jakarta Sans"/>
                <a:ea typeface="Plus Jakarta Sans"/>
                <a:cs typeface="Plus Jakarta Sans"/>
                <a:sym typeface="Plus Jakarta Sans"/>
              </a:rPr>
              <a:t>[XX]</a:t>
            </a:r>
            <a:endParaRPr b="0" i="0" sz="1950" u="none" cap="none" strike="noStrike">
              <a:solidFill>
                <a:schemeClr val="dk1"/>
              </a:solidFill>
              <a:latin typeface="Calibri"/>
              <a:ea typeface="Calibri"/>
              <a:cs typeface="Calibri"/>
              <a:sym typeface="Calibri"/>
            </a:endParaRPr>
          </a:p>
        </p:txBody>
      </p:sp>
      <p:sp>
        <p:nvSpPr>
          <p:cNvPr id="710" name="Google Shape;710;p21"/>
          <p:cNvSpPr/>
          <p:nvPr/>
        </p:nvSpPr>
        <p:spPr>
          <a:xfrm>
            <a:off x="1562100" y="1216819"/>
            <a:ext cx="8369700" cy="410400"/>
          </a:xfrm>
          <a:prstGeom prst="rect">
            <a:avLst/>
          </a:prstGeom>
          <a:noFill/>
          <a:ln>
            <a:noFill/>
          </a:ln>
        </p:spPr>
        <p:txBody>
          <a:bodyPr anchorCtr="0" anchor="t" bIns="25400" lIns="25400" spcFirstLastPara="1" rIns="25400" wrap="square" tIns="25400">
            <a:noAutofit/>
          </a:bodyPr>
          <a:lstStyle/>
          <a:p>
            <a:pPr indent="0" lvl="0" marL="0" marR="0" rtl="0" algn="l">
              <a:lnSpc>
                <a:spcPct val="90930"/>
              </a:lnSpc>
              <a:spcBef>
                <a:spcPts val="0"/>
              </a:spcBef>
              <a:spcAft>
                <a:spcPts val="0"/>
              </a:spcAft>
              <a:buClr>
                <a:srgbClr val="121619"/>
              </a:buClr>
              <a:buSzPts val="2550"/>
              <a:buFont typeface="Plus Jakarta Sans"/>
              <a:buNone/>
            </a:pPr>
            <a:r>
              <a:rPr b="1" i="0" lang="en-US" sz="2550" u="none" cap="none" strike="noStrike">
                <a:solidFill>
                  <a:srgbClr val="121619"/>
                </a:solidFill>
                <a:latin typeface="Plus Jakarta Sans"/>
                <a:ea typeface="Plus Jakarta Sans"/>
                <a:cs typeface="Plus Jakarta Sans"/>
                <a:sym typeface="Plus Jakarta Sans"/>
              </a:rPr>
              <a:t>[Tên dự án]: </a:t>
            </a:r>
            <a:r>
              <a:rPr b="1" i="0" lang="en-US" sz="2550" u="none" cap="none" strike="noStrike">
                <a:solidFill>
                  <a:srgbClr val="4C5158"/>
                </a:solidFill>
                <a:latin typeface="Plus Jakarta Sans"/>
                <a:ea typeface="Plus Jakarta Sans"/>
                <a:cs typeface="Plus Jakarta Sans"/>
                <a:sym typeface="Plus Jakarta Sans"/>
              </a:rPr>
              <a:t>[nhận định 1 dòng về trạng thái dự án]</a:t>
            </a:r>
            <a:endParaRPr b="0" i="0" sz="2550" u="none" cap="none" strike="noStrike">
              <a:solidFill>
                <a:schemeClr val="dk1"/>
              </a:solidFill>
              <a:latin typeface="Calibri"/>
              <a:ea typeface="Calibri"/>
              <a:cs typeface="Calibri"/>
              <a:sym typeface="Calibri"/>
            </a:endParaRPr>
          </a:p>
        </p:txBody>
      </p:sp>
      <p:sp>
        <p:nvSpPr>
          <p:cNvPr id="711" name="Google Shape;711;p21"/>
          <p:cNvSpPr/>
          <p:nvPr/>
        </p:nvSpPr>
        <p:spPr>
          <a:xfrm>
            <a:off x="13445579" y="1231553"/>
            <a:ext cx="951000" cy="342900"/>
          </a:xfrm>
          <a:prstGeom prst="roundRect">
            <a:avLst>
              <a:gd fmla="val 50000"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1"/>
          <p:cNvSpPr/>
          <p:nvPr/>
        </p:nvSpPr>
        <p:spPr>
          <a:xfrm>
            <a:off x="13597979" y="1288703"/>
            <a:ext cx="7224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500"/>
              <a:buFont typeface="Roboto"/>
              <a:buNone/>
            </a:pPr>
            <a:r>
              <a:rPr b="1" i="0" lang="en-US" sz="1500" u="none" cap="none" strike="noStrike">
                <a:solidFill>
                  <a:srgbClr val="FFFFFF"/>
                </a:solidFill>
                <a:latin typeface="Roboto"/>
                <a:ea typeface="Roboto"/>
                <a:cs typeface="Roboto"/>
                <a:sym typeface="Roboto"/>
              </a:rPr>
              <a:t>■ [RAG]</a:t>
            </a:r>
            <a:endParaRPr b="0" i="0" sz="1500" u="none" cap="none" strike="noStrike">
              <a:solidFill>
                <a:schemeClr val="dk1"/>
              </a:solidFill>
              <a:latin typeface="Calibri"/>
              <a:ea typeface="Calibri"/>
              <a:cs typeface="Calibri"/>
              <a:sym typeface="Calibri"/>
            </a:endParaRPr>
          </a:p>
        </p:txBody>
      </p:sp>
      <p:sp>
        <p:nvSpPr>
          <p:cNvPr id="713" name="Google Shape;713;p21"/>
          <p:cNvSpPr/>
          <p:nvPr/>
        </p:nvSpPr>
        <p:spPr>
          <a:xfrm>
            <a:off x="14548991" y="971550"/>
            <a:ext cx="2976900" cy="862800"/>
          </a:xfrm>
          <a:prstGeom prst="roundRect">
            <a:avLst>
              <a:gd fmla="val 15454"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1"/>
          <p:cNvSpPr/>
          <p:nvPr/>
        </p:nvSpPr>
        <p:spPr>
          <a:xfrm>
            <a:off x="14630646" y="1085850"/>
            <a:ext cx="28137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2700"/>
              <a:buFont typeface="Plus Jakarta Sans"/>
              <a:buNone/>
            </a:pPr>
            <a:r>
              <a:rPr b="1" i="0" lang="en-US" sz="2700" u="none" cap="none" strike="noStrike">
                <a:solidFill>
                  <a:srgbClr val="DA1E28"/>
                </a:solidFill>
                <a:latin typeface="Plus Jakarta Sans"/>
                <a:ea typeface="Plus Jakarta Sans"/>
                <a:cs typeface="Plus Jakarta Sans"/>
                <a:sym typeface="Plus Jakarta Sans"/>
              </a:rPr>
              <a:t>[Số liệu]</a:t>
            </a:r>
            <a:endParaRPr b="0" i="0" sz="2700" u="none" cap="none" strike="noStrike">
              <a:solidFill>
                <a:schemeClr val="dk1"/>
              </a:solidFill>
              <a:latin typeface="Calibri"/>
              <a:ea typeface="Calibri"/>
              <a:cs typeface="Calibri"/>
              <a:sym typeface="Calibri"/>
            </a:endParaRPr>
          </a:p>
        </p:txBody>
      </p:sp>
      <p:sp>
        <p:nvSpPr>
          <p:cNvPr id="715" name="Google Shape;715;p21"/>
          <p:cNvSpPr/>
          <p:nvPr/>
        </p:nvSpPr>
        <p:spPr>
          <a:xfrm>
            <a:off x="14630646" y="1514475"/>
            <a:ext cx="2813700" cy="243900"/>
          </a:xfrm>
          <a:prstGeom prst="rect">
            <a:avLst/>
          </a:prstGeom>
          <a:noFill/>
          <a:ln>
            <a:noFill/>
          </a:ln>
        </p:spPr>
        <p:txBody>
          <a:bodyPr anchorCtr="0" anchor="t" bIns="25400" lIns="25400" spcFirstLastPara="1" rIns="25400" wrap="square" tIns="25400">
            <a:noAutofit/>
          </a:bodyPr>
          <a:lstStyle/>
          <a:p>
            <a:pPr indent="0" lvl="0" marL="0" marR="0" rtl="0" algn="ctr">
              <a:lnSpc>
                <a:spcPct val="102857"/>
              </a:lnSpc>
              <a:spcBef>
                <a:spcPts val="0"/>
              </a:spcBef>
              <a:spcAft>
                <a:spcPts val="0"/>
              </a:spcAft>
              <a:buClr>
                <a:srgbClr val="4C5158"/>
              </a:buClr>
              <a:buSzPts val="1350"/>
              <a:buFont typeface="Roboto"/>
              <a:buNone/>
            </a:pPr>
            <a:r>
              <a:rPr b="0" i="0" lang="en-US" sz="1350" u="none" cap="none" strike="noStrike">
                <a:solidFill>
                  <a:srgbClr val="4C5158"/>
                </a:solidFill>
                <a:latin typeface="Roboto"/>
                <a:ea typeface="Roboto"/>
                <a:cs typeface="Roboto"/>
                <a:sym typeface="Roboto"/>
              </a:rPr>
              <a:t>[Chú giải ngắn cho số liệu nổi bật]</a:t>
            </a:r>
            <a:endParaRPr b="0" i="0" sz="1350" u="none" cap="none" strike="noStrike">
              <a:solidFill>
                <a:schemeClr val="dk1"/>
              </a:solidFill>
              <a:latin typeface="Calibri"/>
              <a:ea typeface="Calibri"/>
              <a:cs typeface="Calibri"/>
              <a:sym typeface="Calibri"/>
            </a:endParaRPr>
          </a:p>
        </p:txBody>
      </p:sp>
      <p:sp>
        <p:nvSpPr>
          <p:cNvPr id="716" name="Google Shape;716;p21"/>
          <p:cNvSpPr/>
          <p:nvPr/>
        </p:nvSpPr>
        <p:spPr>
          <a:xfrm>
            <a:off x="762000" y="1967805"/>
            <a:ext cx="16764000" cy="495300"/>
          </a:xfrm>
          <a:prstGeom prst="roundRect">
            <a:avLst>
              <a:gd fmla="val 1923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1"/>
          <p:cNvSpPr/>
          <p:nvPr/>
        </p:nvSpPr>
        <p:spPr>
          <a:xfrm>
            <a:off x="952500" y="2082105"/>
            <a:ext cx="168858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650"/>
              <a:buFont typeface="Plus Jakarta Sans"/>
              <a:buNone/>
            </a:pPr>
            <a:r>
              <a:rPr b="1" i="0" lang="en-US" sz="1650" u="none" cap="none" strike="noStrike">
                <a:solidFill>
                  <a:srgbClr val="F55F00"/>
                </a:solidFill>
                <a:latin typeface="Plus Jakarta Sans"/>
                <a:ea typeface="Plus Jakarta Sans"/>
                <a:cs typeface="Plus Jakarta Sans"/>
                <a:sym typeface="Plus Jakarta Sans"/>
              </a:rPr>
              <a:t>MỤC TIÊU: </a:t>
            </a:r>
            <a:r>
              <a:rPr b="0" i="0" lang="en-US" sz="1650" u="none" cap="none" strike="noStrike">
                <a:solidFill>
                  <a:srgbClr val="121619"/>
                </a:solidFill>
                <a:highlight>
                  <a:srgbClr val="FFF3EB"/>
                </a:highlight>
                <a:latin typeface="Roboto"/>
                <a:ea typeface="Roboto"/>
                <a:cs typeface="Roboto"/>
                <a:sym typeface="Roboto"/>
              </a:rPr>
              <a:t>[Mục tiêu cụ thể cho kỳ tới]</a:t>
            </a:r>
            <a:endParaRPr b="0" i="0" sz="1650" u="none" cap="none" strike="noStrike">
              <a:solidFill>
                <a:schemeClr val="dk1"/>
              </a:solidFill>
              <a:latin typeface="Calibri"/>
              <a:ea typeface="Calibri"/>
              <a:cs typeface="Calibri"/>
              <a:sym typeface="Calibri"/>
            </a:endParaRPr>
          </a:p>
        </p:txBody>
      </p:sp>
      <p:sp>
        <p:nvSpPr>
          <p:cNvPr id="718" name="Google Shape;718;p21"/>
          <p:cNvSpPr/>
          <p:nvPr/>
        </p:nvSpPr>
        <p:spPr>
          <a:xfrm>
            <a:off x="762000" y="2596455"/>
            <a:ext cx="8117100" cy="771600"/>
          </a:xfrm>
          <a:prstGeom prst="roundRect">
            <a:avLst>
              <a:gd fmla="val 1481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1"/>
          <p:cNvSpPr/>
          <p:nvPr/>
        </p:nvSpPr>
        <p:spPr>
          <a:xfrm>
            <a:off x="933450" y="2729805"/>
            <a:ext cx="85518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500"/>
              <a:buFont typeface="Plus Jakarta Sans"/>
              <a:buNone/>
            </a:pPr>
            <a:r>
              <a:rPr b="1" i="0" lang="en-US" sz="1500" u="none" cap="none" strike="noStrike">
                <a:solidFill>
                  <a:srgbClr val="757D86"/>
                </a:solidFill>
                <a:latin typeface="Plus Jakarta Sans"/>
                <a:ea typeface="Plus Jakarta Sans"/>
                <a:cs typeface="Plus Jakarta Sans"/>
                <a:sym typeface="Plus Jakarta Sans"/>
              </a:rPr>
              <a:t>TRƯỚC</a:t>
            </a:r>
            <a:endParaRPr b="0" i="0" sz="1500" u="none" cap="none" strike="noStrike">
              <a:solidFill>
                <a:schemeClr val="dk1"/>
              </a:solidFill>
              <a:latin typeface="Calibri"/>
              <a:ea typeface="Calibri"/>
              <a:cs typeface="Calibri"/>
              <a:sym typeface="Calibri"/>
            </a:endParaRPr>
          </a:p>
        </p:txBody>
      </p:sp>
      <p:sp>
        <p:nvSpPr>
          <p:cNvPr id="720" name="Google Shape;720;p21"/>
          <p:cNvSpPr/>
          <p:nvPr/>
        </p:nvSpPr>
        <p:spPr>
          <a:xfrm>
            <a:off x="933450" y="3006030"/>
            <a:ext cx="85518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75"/>
              <a:buFont typeface="Roboto"/>
              <a:buNone/>
            </a:pPr>
            <a:r>
              <a:rPr b="0" i="0" lang="en-US" sz="1575" u="none" cap="none" strike="noStrike">
                <a:solidFill>
                  <a:srgbClr val="121619"/>
                </a:solidFill>
                <a:latin typeface="Roboto"/>
                <a:ea typeface="Roboto"/>
                <a:cs typeface="Roboto"/>
                <a:sym typeface="Roboto"/>
              </a:rPr>
              <a:t>[Mô tả cách làm/vận hành trước khi thay đổi.]</a:t>
            </a:r>
            <a:endParaRPr b="0" i="0" sz="1575" u="none" cap="none" strike="noStrike">
              <a:solidFill>
                <a:schemeClr val="dk1"/>
              </a:solidFill>
              <a:latin typeface="Calibri"/>
              <a:ea typeface="Calibri"/>
              <a:cs typeface="Calibri"/>
              <a:sym typeface="Calibri"/>
            </a:endParaRPr>
          </a:p>
        </p:txBody>
      </p:sp>
      <p:sp>
        <p:nvSpPr>
          <p:cNvPr id="721" name="Google Shape;721;p21"/>
          <p:cNvSpPr/>
          <p:nvPr/>
        </p:nvSpPr>
        <p:spPr>
          <a:xfrm>
            <a:off x="9012585" y="2810768"/>
            <a:ext cx="339000" cy="381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250"/>
              <a:buFont typeface="Roboto"/>
              <a:buNone/>
            </a:pPr>
            <a:r>
              <a:rPr b="0" i="0" lang="en-US" sz="2250" u="none" cap="none" strike="noStrike">
                <a:solidFill>
                  <a:srgbClr val="FF7F32"/>
                </a:solidFill>
                <a:latin typeface="Roboto"/>
                <a:ea typeface="Roboto"/>
                <a:cs typeface="Roboto"/>
                <a:sym typeface="Roboto"/>
              </a:rPr>
              <a:t>→</a:t>
            </a:r>
            <a:endParaRPr b="0" i="0" sz="2250" u="none" cap="none" strike="noStrike">
              <a:solidFill>
                <a:schemeClr val="dk1"/>
              </a:solidFill>
              <a:latin typeface="Calibri"/>
              <a:ea typeface="Calibri"/>
              <a:cs typeface="Calibri"/>
              <a:sym typeface="Calibri"/>
            </a:endParaRPr>
          </a:p>
        </p:txBody>
      </p:sp>
      <p:sp>
        <p:nvSpPr>
          <p:cNvPr id="722" name="Google Shape;722;p21"/>
          <p:cNvSpPr/>
          <p:nvPr/>
        </p:nvSpPr>
        <p:spPr>
          <a:xfrm>
            <a:off x="9408616" y="2596455"/>
            <a:ext cx="8117400" cy="771600"/>
          </a:xfrm>
          <a:prstGeom prst="roundRect">
            <a:avLst>
              <a:gd fmla="val 14815"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1"/>
          <p:cNvSpPr/>
          <p:nvPr/>
        </p:nvSpPr>
        <p:spPr>
          <a:xfrm>
            <a:off x="9580066" y="2729805"/>
            <a:ext cx="85518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SAU</a:t>
            </a:r>
            <a:endParaRPr b="0" i="0" sz="1500" u="none" cap="none" strike="noStrike">
              <a:solidFill>
                <a:schemeClr val="dk1"/>
              </a:solidFill>
              <a:latin typeface="Calibri"/>
              <a:ea typeface="Calibri"/>
              <a:cs typeface="Calibri"/>
              <a:sym typeface="Calibri"/>
            </a:endParaRPr>
          </a:p>
        </p:txBody>
      </p:sp>
      <p:sp>
        <p:nvSpPr>
          <p:cNvPr id="724" name="Google Shape;724;p21"/>
          <p:cNvSpPr/>
          <p:nvPr/>
        </p:nvSpPr>
        <p:spPr>
          <a:xfrm>
            <a:off x="9580066" y="3006030"/>
            <a:ext cx="85518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75"/>
              <a:buFont typeface="Roboto"/>
              <a:buNone/>
            </a:pPr>
            <a:r>
              <a:rPr b="0" i="0" lang="en-US" sz="1575" u="none" cap="none" strike="noStrike">
                <a:solidFill>
                  <a:srgbClr val="121619"/>
                </a:solidFill>
                <a:latin typeface="Roboto"/>
                <a:ea typeface="Roboto"/>
                <a:cs typeface="Roboto"/>
                <a:sym typeface="Roboto"/>
              </a:rPr>
              <a:t>[Mô tả cách làm mới đã/đang áp dụng.]</a:t>
            </a:r>
            <a:endParaRPr b="0" i="0" sz="1575" u="none" cap="none" strike="noStrike">
              <a:solidFill>
                <a:schemeClr val="dk1"/>
              </a:solidFill>
              <a:latin typeface="Calibri"/>
              <a:ea typeface="Calibri"/>
              <a:cs typeface="Calibri"/>
              <a:sym typeface="Calibri"/>
            </a:endParaRPr>
          </a:p>
        </p:txBody>
      </p:sp>
      <p:sp>
        <p:nvSpPr>
          <p:cNvPr id="725" name="Google Shape;725;p21"/>
          <p:cNvSpPr/>
          <p:nvPr/>
        </p:nvSpPr>
        <p:spPr>
          <a:xfrm>
            <a:off x="762000" y="3501330"/>
            <a:ext cx="4999200" cy="5804700"/>
          </a:xfrm>
          <a:prstGeom prst="roundRect">
            <a:avLst>
              <a:gd fmla="val 228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1"/>
          <p:cNvSpPr/>
          <p:nvPr/>
        </p:nvSpPr>
        <p:spPr>
          <a:xfrm>
            <a:off x="942975" y="3663255"/>
            <a:ext cx="51009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500"/>
              <a:buFont typeface="Plus Jakarta Sans"/>
              <a:buNone/>
            </a:pPr>
            <a:r>
              <a:rPr b="1" i="0" lang="en-US" sz="1500" u="none" cap="none" strike="noStrike">
                <a:solidFill>
                  <a:srgbClr val="012749"/>
                </a:solidFill>
                <a:latin typeface="Plus Jakarta Sans"/>
                <a:ea typeface="Plus Jakarta Sans"/>
                <a:cs typeface="Plus Jakarta Sans"/>
                <a:sym typeface="Plus Jakarta Sans"/>
              </a:rPr>
              <a:t>ĐÃ LÀM GÌ (KỲ NÀY)</a:t>
            </a:r>
            <a:endParaRPr b="0" i="0" sz="1500" u="none" cap="none" strike="noStrike">
              <a:solidFill>
                <a:schemeClr val="dk1"/>
              </a:solidFill>
              <a:latin typeface="Calibri"/>
              <a:ea typeface="Calibri"/>
              <a:cs typeface="Calibri"/>
              <a:sym typeface="Calibri"/>
            </a:endParaRPr>
          </a:p>
        </p:txBody>
      </p:sp>
      <p:sp>
        <p:nvSpPr>
          <p:cNvPr id="727" name="Google Shape;727;p21"/>
          <p:cNvSpPr/>
          <p:nvPr/>
        </p:nvSpPr>
        <p:spPr>
          <a:xfrm>
            <a:off x="942975" y="3958530"/>
            <a:ext cx="51009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[Các hoạt động cụ thể đã triển khai trong kỳ.]</a:t>
            </a:r>
            <a:endParaRPr b="0" i="0" sz="1575" u="none" cap="none" strike="noStrike">
              <a:solidFill>
                <a:schemeClr val="dk1"/>
              </a:solidFill>
              <a:latin typeface="Calibri"/>
              <a:ea typeface="Calibri"/>
              <a:cs typeface="Calibri"/>
              <a:sym typeface="Calibri"/>
            </a:endParaRPr>
          </a:p>
        </p:txBody>
      </p:sp>
      <p:sp>
        <p:nvSpPr>
          <p:cNvPr id="728" name="Google Shape;728;p21"/>
          <p:cNvSpPr/>
          <p:nvPr/>
        </p:nvSpPr>
        <p:spPr>
          <a:xfrm>
            <a:off x="5894487" y="3501330"/>
            <a:ext cx="6498900" cy="5804700"/>
          </a:xfrm>
          <a:prstGeom prst="roundRect">
            <a:avLst>
              <a:gd fmla="val 1969"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1"/>
          <p:cNvSpPr/>
          <p:nvPr/>
        </p:nvSpPr>
        <p:spPr>
          <a:xfrm>
            <a:off x="6075462" y="3663255"/>
            <a:ext cx="67506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500"/>
              <a:buFont typeface="Plus Jakarta Sans"/>
              <a:buNone/>
            </a:pPr>
            <a:r>
              <a:rPr b="1" i="0" lang="en-US" sz="1500" u="none" cap="none" strike="noStrike">
                <a:solidFill>
                  <a:srgbClr val="DA1E28"/>
                </a:solidFill>
                <a:latin typeface="Plus Jakarta Sans"/>
                <a:ea typeface="Plus Jakarta Sans"/>
                <a:cs typeface="Plus Jakarta Sans"/>
                <a:sym typeface="Plus Jakarta Sans"/>
              </a:rPr>
              <a:t>TÁC ĐỘNG</a:t>
            </a:r>
            <a:endParaRPr b="0" i="0" sz="1500" u="none" cap="none" strike="noStrike">
              <a:solidFill>
                <a:schemeClr val="dk1"/>
              </a:solidFill>
              <a:latin typeface="Calibri"/>
              <a:ea typeface="Calibri"/>
              <a:cs typeface="Calibri"/>
              <a:sym typeface="Calibri"/>
            </a:endParaRPr>
          </a:p>
        </p:txBody>
      </p:sp>
      <p:sp>
        <p:nvSpPr>
          <p:cNvPr id="730" name="Google Shape;730;p21"/>
          <p:cNvSpPr/>
          <p:nvPr/>
        </p:nvSpPr>
        <p:spPr>
          <a:xfrm>
            <a:off x="6075462" y="3958530"/>
            <a:ext cx="67506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[Kết quả/số liệu đo được sau khi triển khai.]</a:t>
            </a:r>
            <a:endParaRPr b="0" i="0" sz="1575" u="none" cap="none" strike="noStrike">
              <a:solidFill>
                <a:schemeClr val="dk1"/>
              </a:solidFill>
              <a:latin typeface="Calibri"/>
              <a:ea typeface="Calibri"/>
              <a:cs typeface="Calibri"/>
              <a:sym typeface="Calibri"/>
            </a:endParaRPr>
          </a:p>
        </p:txBody>
      </p:sp>
      <p:sp>
        <p:nvSpPr>
          <p:cNvPr id="731" name="Google Shape;731;p21"/>
          <p:cNvSpPr/>
          <p:nvPr/>
        </p:nvSpPr>
        <p:spPr>
          <a:xfrm>
            <a:off x="6075462" y="4244280"/>
            <a:ext cx="67506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500"/>
              <a:buFont typeface="Roboto"/>
              <a:buNone/>
            </a:pPr>
            <a:r>
              <a:rPr b="0" i="1" lang="en-US" sz="1500" u="none" cap="none" strike="noStrike">
                <a:solidFill>
                  <a:srgbClr val="757D86"/>
                </a:solidFill>
                <a:latin typeface="Roboto"/>
                <a:ea typeface="Roboto"/>
                <a:cs typeface="Roboto"/>
                <a:sym typeface="Roboto"/>
              </a:rPr>
              <a:t>Cơ chế: [Giải thích ngắn lý do vì sao tác động này xảy ra.]</a:t>
            </a:r>
            <a:endParaRPr b="0" i="0" sz="1500" u="none" cap="none" strike="noStrike">
              <a:solidFill>
                <a:schemeClr val="dk1"/>
              </a:solidFill>
              <a:latin typeface="Calibri"/>
              <a:ea typeface="Calibri"/>
              <a:cs typeface="Calibri"/>
              <a:sym typeface="Calibri"/>
            </a:endParaRPr>
          </a:p>
        </p:txBody>
      </p:sp>
      <p:sp>
        <p:nvSpPr>
          <p:cNvPr id="732" name="Google Shape;732;p21"/>
          <p:cNvSpPr/>
          <p:nvPr/>
        </p:nvSpPr>
        <p:spPr>
          <a:xfrm>
            <a:off x="12526714" y="3501330"/>
            <a:ext cx="4999200" cy="5804700"/>
          </a:xfrm>
          <a:prstGeom prst="roundRect">
            <a:avLst>
              <a:gd fmla="val 228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1"/>
          <p:cNvSpPr/>
          <p:nvPr/>
        </p:nvSpPr>
        <p:spPr>
          <a:xfrm>
            <a:off x="12707689" y="3663255"/>
            <a:ext cx="51012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500"/>
              <a:buFont typeface="Plus Jakarta Sans"/>
              <a:buNone/>
            </a:pPr>
            <a:r>
              <a:rPr b="1" i="0" lang="en-US" sz="1500" u="none" cap="none" strike="noStrike">
                <a:solidFill>
                  <a:srgbClr val="167C3F"/>
                </a:solidFill>
                <a:latin typeface="Plus Jakarta Sans"/>
                <a:ea typeface="Plus Jakarta Sans"/>
                <a:cs typeface="Plus Jakarta Sans"/>
                <a:sym typeface="Plus Jakarta Sans"/>
              </a:rPr>
              <a:t>BƯỚC TIẾP THEO</a:t>
            </a:r>
            <a:endParaRPr b="0" i="0" sz="1500" u="none" cap="none" strike="noStrike">
              <a:solidFill>
                <a:schemeClr val="dk1"/>
              </a:solidFill>
              <a:latin typeface="Calibri"/>
              <a:ea typeface="Calibri"/>
              <a:cs typeface="Calibri"/>
              <a:sym typeface="Calibri"/>
            </a:endParaRPr>
          </a:p>
        </p:txBody>
      </p:sp>
      <p:sp>
        <p:nvSpPr>
          <p:cNvPr id="734" name="Google Shape;734;p21"/>
          <p:cNvSpPr/>
          <p:nvPr/>
        </p:nvSpPr>
        <p:spPr>
          <a:xfrm>
            <a:off x="12707689" y="3958530"/>
            <a:ext cx="4776600" cy="495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[Các bước cụ thể sẽ làm tiếp, kèm mốc thời gian nếu có.]</a:t>
            </a:r>
            <a:endParaRPr b="0" i="0" sz="1575" u="none" cap="none" strike="noStrike">
              <a:solidFill>
                <a:schemeClr val="dk1"/>
              </a:solidFill>
              <a:latin typeface="Calibri"/>
              <a:ea typeface="Calibri"/>
              <a:cs typeface="Calibri"/>
              <a:sym typeface="Calibri"/>
            </a:endParaRPr>
          </a:p>
        </p:txBody>
      </p:sp>
      <p:sp>
        <p:nvSpPr>
          <p:cNvPr id="735" name="Google Shape;735;p21"/>
          <p:cNvSpPr/>
          <p:nvPr/>
        </p:nvSpPr>
        <p:spPr>
          <a:xfrm>
            <a:off x="762000" y="9439275"/>
            <a:ext cx="16764000" cy="428700"/>
          </a:xfrm>
          <a:prstGeom prst="roundRect">
            <a:avLst>
              <a:gd fmla="val 22222"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1"/>
          <p:cNvSpPr/>
          <p:nvPr/>
        </p:nvSpPr>
        <p:spPr>
          <a:xfrm>
            <a:off x="952500" y="9534525"/>
            <a:ext cx="18732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500"/>
              <a:buFont typeface="Plus Jakarta Sans"/>
              <a:buNone/>
            </a:pPr>
            <a:r>
              <a:rPr b="1" i="0" lang="en-US" sz="1500" u="none" cap="none" strike="noStrike">
                <a:solidFill>
                  <a:srgbClr val="121619"/>
                </a:solidFill>
                <a:latin typeface="Plus Jakarta Sans"/>
                <a:ea typeface="Plus Jakarta Sans"/>
                <a:cs typeface="Plus Jakarta Sans"/>
                <a:sym typeface="Plus Jakarta Sans"/>
              </a:rPr>
              <a:t>CẦN SUPPORT TỪ:</a:t>
            </a:r>
            <a:endParaRPr b="0" i="0" sz="1500" u="none" cap="none" strike="noStrike">
              <a:solidFill>
                <a:schemeClr val="dk1"/>
              </a:solidFill>
              <a:latin typeface="Calibri"/>
              <a:ea typeface="Calibri"/>
              <a:cs typeface="Calibri"/>
              <a:sym typeface="Calibri"/>
            </a:endParaRPr>
          </a:p>
        </p:txBody>
      </p:sp>
      <p:sp>
        <p:nvSpPr>
          <p:cNvPr id="737" name="Google Shape;737;p21"/>
          <p:cNvSpPr/>
          <p:nvPr/>
        </p:nvSpPr>
        <p:spPr>
          <a:xfrm>
            <a:off x="2769840" y="9539288"/>
            <a:ext cx="41568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[Tên team/phòng ban] ([nội dung cần hỗ trợ])</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2" name="Shape 742"/>
        <p:cNvGrpSpPr/>
        <p:nvPr/>
      </p:nvGrpSpPr>
      <p:grpSpPr>
        <a:xfrm>
          <a:off x="0" y="0"/>
          <a:ext cx="0" cy="0"/>
          <a:chOff x="0" y="0"/>
          <a:chExt cx="0" cy="0"/>
        </a:xfrm>
      </p:grpSpPr>
      <p:sp>
        <p:nvSpPr>
          <p:cNvPr id="743" name="Google Shape;743;p22"/>
          <p:cNvSpPr/>
          <p:nvPr/>
        </p:nvSpPr>
        <p:spPr>
          <a:xfrm>
            <a:off x="762000" y="4953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SO SÁNH CHẾ ĐỘ · 2 DỰ ÁN | Ahamove · Driver Management</a:t>
            </a:r>
            <a:endParaRPr b="0" i="0" sz="1800" u="none" cap="none" strike="noStrike">
              <a:solidFill>
                <a:schemeClr val="dk1"/>
              </a:solidFill>
              <a:latin typeface="Calibri"/>
              <a:ea typeface="Calibri"/>
              <a:cs typeface="Calibri"/>
              <a:sym typeface="Calibri"/>
            </a:endParaRPr>
          </a:p>
        </p:txBody>
      </p:sp>
      <p:sp>
        <p:nvSpPr>
          <p:cNvPr id="744" name="Google Shape;744;p22"/>
          <p:cNvSpPr/>
          <p:nvPr/>
        </p:nvSpPr>
        <p:spPr>
          <a:xfrm>
            <a:off x="762000" y="838200"/>
            <a:ext cx="18440400" cy="48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[Nhận định so sánh 1 dòng giữa 2 dự án]</a:t>
            </a:r>
            <a:endParaRPr b="0" i="0" sz="2850" u="none" cap="none" strike="noStrike">
              <a:solidFill>
                <a:schemeClr val="dk1"/>
              </a:solidFill>
              <a:latin typeface="Calibri"/>
              <a:ea typeface="Calibri"/>
              <a:cs typeface="Calibri"/>
              <a:sym typeface="Calibri"/>
            </a:endParaRPr>
          </a:p>
        </p:txBody>
      </p:sp>
      <p:sp>
        <p:nvSpPr>
          <p:cNvPr id="745" name="Google Shape;745;p22"/>
          <p:cNvSpPr/>
          <p:nvPr/>
        </p:nvSpPr>
        <p:spPr>
          <a:xfrm>
            <a:off x="762000" y="1381125"/>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46" name="Google Shape;746;p22"/>
          <p:cNvPicPr preferRelativeResize="0"/>
          <p:nvPr/>
        </p:nvPicPr>
        <p:blipFill rotWithShape="1">
          <a:blip r:embed="rId3">
            <a:alphaModFix/>
          </a:blip>
          <a:srcRect b="0" l="0" r="0" t="0"/>
          <a:stretch/>
        </p:blipFill>
        <p:spPr>
          <a:xfrm>
            <a:off x="952500" y="1562100"/>
            <a:ext cx="209550" cy="209550"/>
          </a:xfrm>
          <a:prstGeom prst="rect">
            <a:avLst/>
          </a:prstGeom>
          <a:noFill/>
          <a:ln>
            <a:noFill/>
          </a:ln>
        </p:spPr>
      </p:pic>
      <p:sp>
        <p:nvSpPr>
          <p:cNvPr id="747" name="Google Shape;747;p22"/>
          <p:cNvSpPr/>
          <p:nvPr/>
        </p:nvSpPr>
        <p:spPr>
          <a:xfrm>
            <a:off x="1221581" y="1495425"/>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748" name="Google Shape;748;p22"/>
          <p:cNvSpPr/>
          <p:nvPr/>
        </p:nvSpPr>
        <p:spPr>
          <a:xfrm>
            <a:off x="3146375" y="1504950"/>
            <a:ext cx="64326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[Vì sao 2 dự án này cần đối xử khác nhau ở giai đoạn hiện tại.]</a:t>
            </a:r>
            <a:endParaRPr b="0" i="0" sz="1800" u="none" cap="none" strike="noStrike">
              <a:solidFill>
                <a:schemeClr val="dk1"/>
              </a:solidFill>
              <a:latin typeface="Calibri"/>
              <a:ea typeface="Calibri"/>
              <a:cs typeface="Calibri"/>
              <a:sym typeface="Calibri"/>
            </a:endParaRPr>
          </a:p>
        </p:txBody>
      </p:sp>
      <p:sp>
        <p:nvSpPr>
          <p:cNvPr id="749" name="Google Shape;749;p22"/>
          <p:cNvSpPr/>
          <p:nvPr/>
        </p:nvSpPr>
        <p:spPr>
          <a:xfrm>
            <a:off x="762000" y="2047875"/>
            <a:ext cx="8267700" cy="6962700"/>
          </a:xfrm>
          <a:prstGeom prst="roundRect">
            <a:avLst>
              <a:gd fmla="val 2189"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2"/>
          <p:cNvSpPr/>
          <p:nvPr/>
        </p:nvSpPr>
        <p:spPr>
          <a:xfrm>
            <a:off x="1009650" y="2295525"/>
            <a:ext cx="85497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[Dự án A]</a:t>
            </a:r>
            <a:endParaRPr b="0" i="0" sz="2100" u="none" cap="none" strike="noStrike">
              <a:solidFill>
                <a:schemeClr val="dk1"/>
              </a:solidFill>
              <a:latin typeface="Calibri"/>
              <a:ea typeface="Calibri"/>
              <a:cs typeface="Calibri"/>
              <a:sym typeface="Calibri"/>
            </a:endParaRPr>
          </a:p>
        </p:txBody>
      </p:sp>
      <p:sp>
        <p:nvSpPr>
          <p:cNvPr id="751" name="Google Shape;751;p22"/>
          <p:cNvSpPr/>
          <p:nvPr/>
        </p:nvSpPr>
        <p:spPr>
          <a:xfrm>
            <a:off x="1009650" y="2762250"/>
            <a:ext cx="85497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[Nhận định ngắn về trạng thái]</a:t>
            </a:r>
            <a:endParaRPr b="0" i="0" sz="1800" u="none" cap="none" strike="noStrike">
              <a:solidFill>
                <a:schemeClr val="dk1"/>
              </a:solidFill>
              <a:latin typeface="Calibri"/>
              <a:ea typeface="Calibri"/>
              <a:cs typeface="Calibri"/>
              <a:sym typeface="Calibri"/>
            </a:endParaRPr>
          </a:p>
        </p:txBody>
      </p:sp>
      <p:sp>
        <p:nvSpPr>
          <p:cNvPr id="752" name="Google Shape;752;p22"/>
          <p:cNvSpPr/>
          <p:nvPr/>
        </p:nvSpPr>
        <p:spPr>
          <a:xfrm>
            <a:off x="1065848" y="3162300"/>
            <a:ext cx="7792500" cy="924000"/>
          </a:xfrm>
          <a:prstGeom prst="rect">
            <a:avLst/>
          </a:prstGeom>
          <a:noFill/>
          <a:ln>
            <a:noFill/>
          </a:ln>
        </p:spPr>
        <p:txBody>
          <a:bodyPr anchorCtr="0" anchor="t" bIns="25400" lIns="25400" spcFirstLastPara="1" rIns="25400" wrap="square" tIns="25400">
            <a:noAutofit/>
          </a:bodyPr>
          <a:lstStyle/>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[Lý do 1]</a:t>
            </a:r>
            <a:endParaRPr b="0" i="0" sz="1725" u="none" cap="none" strike="noStrike">
              <a:solidFill>
                <a:schemeClr val="dk1"/>
              </a:solidFill>
              <a:latin typeface="Calibri"/>
              <a:ea typeface="Calibri"/>
              <a:cs typeface="Calibri"/>
              <a:sym typeface="Calibri"/>
            </a:endParaRPr>
          </a:p>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[Lý do 2]</a:t>
            </a:r>
            <a:endParaRPr b="0" i="0" sz="1725" u="none" cap="none" strike="noStrike">
              <a:solidFill>
                <a:schemeClr val="dk1"/>
              </a:solidFill>
              <a:latin typeface="Calibri"/>
              <a:ea typeface="Calibri"/>
              <a:cs typeface="Calibri"/>
              <a:sym typeface="Calibri"/>
            </a:endParaRPr>
          </a:p>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Rủi ro: [rủi ro chính]</a:t>
            </a:r>
            <a:endParaRPr b="0" i="0" sz="1725" u="none" cap="none" strike="noStrike">
              <a:solidFill>
                <a:schemeClr val="dk1"/>
              </a:solidFill>
              <a:latin typeface="Calibri"/>
              <a:ea typeface="Calibri"/>
              <a:cs typeface="Calibri"/>
              <a:sym typeface="Calibri"/>
            </a:endParaRPr>
          </a:p>
        </p:txBody>
      </p:sp>
      <p:sp>
        <p:nvSpPr>
          <p:cNvPr id="753" name="Google Shape;753;p22"/>
          <p:cNvSpPr/>
          <p:nvPr/>
        </p:nvSpPr>
        <p:spPr>
          <a:xfrm>
            <a:off x="1009650" y="7943850"/>
            <a:ext cx="2120100" cy="457200"/>
          </a:xfrm>
          <a:prstGeom prst="roundRect">
            <a:avLst>
              <a:gd fmla="val 16667"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2"/>
          <p:cNvSpPr/>
          <p:nvPr/>
        </p:nvSpPr>
        <p:spPr>
          <a:xfrm>
            <a:off x="1200150" y="8039100"/>
            <a:ext cx="18153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CHẾ ĐỘ: REVIEW</a:t>
            </a:r>
            <a:endParaRPr b="0" i="0" sz="1650" u="none" cap="none" strike="noStrike">
              <a:solidFill>
                <a:schemeClr val="dk1"/>
              </a:solidFill>
              <a:latin typeface="Calibri"/>
              <a:ea typeface="Calibri"/>
              <a:cs typeface="Calibri"/>
              <a:sym typeface="Calibri"/>
            </a:endParaRPr>
          </a:p>
        </p:txBody>
      </p:sp>
      <p:sp>
        <p:nvSpPr>
          <p:cNvPr id="755" name="Google Shape;755;p22"/>
          <p:cNvSpPr/>
          <p:nvPr/>
        </p:nvSpPr>
        <p:spPr>
          <a:xfrm>
            <a:off x="1009650" y="8534400"/>
            <a:ext cx="85497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[Mô tả ngắn ý nghĩa của chế độ này]</a:t>
            </a:r>
            <a:endParaRPr b="0" i="0" sz="1575" u="none" cap="none" strike="noStrike">
              <a:solidFill>
                <a:schemeClr val="dk1"/>
              </a:solidFill>
              <a:latin typeface="Calibri"/>
              <a:ea typeface="Calibri"/>
              <a:cs typeface="Calibri"/>
              <a:sym typeface="Calibri"/>
            </a:endParaRPr>
          </a:p>
        </p:txBody>
      </p:sp>
      <p:sp>
        <p:nvSpPr>
          <p:cNvPr id="756" name="Google Shape;756;p22"/>
          <p:cNvSpPr/>
          <p:nvPr/>
        </p:nvSpPr>
        <p:spPr>
          <a:xfrm>
            <a:off x="9258300" y="2047875"/>
            <a:ext cx="8267700" cy="6962700"/>
          </a:xfrm>
          <a:prstGeom prst="roundRect">
            <a:avLst>
              <a:gd fmla="val 2189"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2"/>
          <p:cNvSpPr/>
          <p:nvPr/>
        </p:nvSpPr>
        <p:spPr>
          <a:xfrm>
            <a:off x="9505950" y="2295525"/>
            <a:ext cx="85497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[Dự án B]</a:t>
            </a:r>
            <a:endParaRPr b="0" i="0" sz="2100" u="none" cap="none" strike="noStrike">
              <a:solidFill>
                <a:schemeClr val="dk1"/>
              </a:solidFill>
              <a:latin typeface="Calibri"/>
              <a:ea typeface="Calibri"/>
              <a:cs typeface="Calibri"/>
              <a:sym typeface="Calibri"/>
            </a:endParaRPr>
          </a:p>
        </p:txBody>
      </p:sp>
      <p:sp>
        <p:nvSpPr>
          <p:cNvPr id="758" name="Google Shape;758;p22"/>
          <p:cNvSpPr/>
          <p:nvPr/>
        </p:nvSpPr>
        <p:spPr>
          <a:xfrm>
            <a:off x="9505950" y="2762250"/>
            <a:ext cx="85497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[Nhận định ngắn về trạng thái]</a:t>
            </a:r>
            <a:endParaRPr b="0" i="0" sz="1800" u="none" cap="none" strike="noStrike">
              <a:solidFill>
                <a:schemeClr val="dk1"/>
              </a:solidFill>
              <a:latin typeface="Calibri"/>
              <a:ea typeface="Calibri"/>
              <a:cs typeface="Calibri"/>
              <a:sym typeface="Calibri"/>
            </a:endParaRPr>
          </a:p>
        </p:txBody>
      </p:sp>
      <p:sp>
        <p:nvSpPr>
          <p:cNvPr id="759" name="Google Shape;759;p22"/>
          <p:cNvSpPr/>
          <p:nvPr/>
        </p:nvSpPr>
        <p:spPr>
          <a:xfrm>
            <a:off x="9562148" y="3162300"/>
            <a:ext cx="7792500" cy="924000"/>
          </a:xfrm>
          <a:prstGeom prst="rect">
            <a:avLst/>
          </a:prstGeom>
          <a:noFill/>
          <a:ln>
            <a:noFill/>
          </a:ln>
        </p:spPr>
        <p:txBody>
          <a:bodyPr anchorCtr="0" anchor="t" bIns="25400" lIns="25400" spcFirstLastPara="1" rIns="25400" wrap="square" tIns="25400">
            <a:noAutofit/>
          </a:bodyPr>
          <a:lstStyle/>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[Bằng chứng 1]</a:t>
            </a:r>
            <a:endParaRPr b="0" i="0" sz="1725" u="none" cap="none" strike="noStrike">
              <a:solidFill>
                <a:schemeClr val="dk1"/>
              </a:solidFill>
              <a:latin typeface="Calibri"/>
              <a:ea typeface="Calibri"/>
              <a:cs typeface="Calibri"/>
              <a:sym typeface="Calibri"/>
            </a:endParaRPr>
          </a:p>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[Bằng chứng 2]</a:t>
            </a:r>
            <a:endParaRPr b="0" i="0" sz="1725" u="none" cap="none" strike="noStrike">
              <a:solidFill>
                <a:schemeClr val="dk1"/>
              </a:solidFill>
              <a:latin typeface="Calibri"/>
              <a:ea typeface="Calibri"/>
              <a:cs typeface="Calibri"/>
              <a:sym typeface="Calibri"/>
            </a:endParaRPr>
          </a:p>
          <a:p>
            <a:pPr indent="-153353" lvl="0" marL="153353" marR="0" rtl="0" algn="l">
              <a:spcBef>
                <a:spcPts val="0"/>
              </a:spcBef>
              <a:spcAft>
                <a:spcPts val="0"/>
              </a:spcAft>
              <a:buClr>
                <a:srgbClr val="121619"/>
              </a:buClr>
              <a:buSzPts val="1725"/>
              <a:buFont typeface="Roboto"/>
              <a:buChar char="•"/>
            </a:pPr>
            <a:r>
              <a:rPr b="0" i="0" lang="en-US" sz="1725" u="none" cap="none" strike="noStrike">
                <a:solidFill>
                  <a:srgbClr val="121619"/>
                </a:solidFill>
                <a:latin typeface="Roboto"/>
                <a:ea typeface="Roboto"/>
                <a:cs typeface="Roboto"/>
                <a:sym typeface="Roboto"/>
              </a:rPr>
              <a:t>Cơ hội: [cơ hội chính]</a:t>
            </a:r>
            <a:endParaRPr b="0" i="0" sz="1725" u="none" cap="none" strike="noStrike">
              <a:solidFill>
                <a:schemeClr val="dk1"/>
              </a:solidFill>
              <a:latin typeface="Calibri"/>
              <a:ea typeface="Calibri"/>
              <a:cs typeface="Calibri"/>
              <a:sym typeface="Calibri"/>
            </a:endParaRPr>
          </a:p>
        </p:txBody>
      </p:sp>
      <p:sp>
        <p:nvSpPr>
          <p:cNvPr id="760" name="Google Shape;760;p22"/>
          <p:cNvSpPr/>
          <p:nvPr/>
        </p:nvSpPr>
        <p:spPr>
          <a:xfrm>
            <a:off x="9505950" y="7943850"/>
            <a:ext cx="1999500" cy="457200"/>
          </a:xfrm>
          <a:prstGeom prst="roundRect">
            <a:avLst>
              <a:gd fmla="val 16667" name="adj"/>
            </a:avLst>
          </a:prstGeom>
          <a:solidFill>
            <a:srgbClr val="167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2"/>
          <p:cNvSpPr/>
          <p:nvPr/>
        </p:nvSpPr>
        <p:spPr>
          <a:xfrm>
            <a:off x="9696450" y="8039100"/>
            <a:ext cx="16947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1" i="0" lang="en-US" sz="1650" u="none" cap="none" strike="noStrike">
                <a:solidFill>
                  <a:srgbClr val="FFFFFF"/>
                </a:solidFill>
                <a:latin typeface="Plus Jakarta Sans"/>
                <a:ea typeface="Plus Jakarta Sans"/>
                <a:cs typeface="Plus Jakarta Sans"/>
                <a:sym typeface="Plus Jakarta Sans"/>
              </a:rPr>
              <a:t>CHẾ ĐỘ: SCALE</a:t>
            </a:r>
            <a:endParaRPr b="0" i="0" sz="1650" u="none" cap="none" strike="noStrike">
              <a:solidFill>
                <a:schemeClr val="dk1"/>
              </a:solidFill>
              <a:latin typeface="Calibri"/>
              <a:ea typeface="Calibri"/>
              <a:cs typeface="Calibri"/>
              <a:sym typeface="Calibri"/>
            </a:endParaRPr>
          </a:p>
        </p:txBody>
      </p:sp>
      <p:sp>
        <p:nvSpPr>
          <p:cNvPr id="762" name="Google Shape;762;p22"/>
          <p:cNvSpPr/>
          <p:nvPr/>
        </p:nvSpPr>
        <p:spPr>
          <a:xfrm>
            <a:off x="9505950" y="8534400"/>
            <a:ext cx="85497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575"/>
              <a:buFont typeface="Roboto"/>
              <a:buNone/>
            </a:pPr>
            <a:r>
              <a:rPr b="0" i="0" lang="en-US" sz="1575" u="none" cap="none" strike="noStrike">
                <a:solidFill>
                  <a:srgbClr val="4C5158"/>
                </a:solidFill>
                <a:latin typeface="Roboto"/>
                <a:ea typeface="Roboto"/>
                <a:cs typeface="Roboto"/>
                <a:sym typeface="Roboto"/>
              </a:rPr>
              <a:t>[Mô tả ngắn ý nghĩa của chế độ này]</a:t>
            </a:r>
            <a:endParaRPr b="0" i="0" sz="1575" u="none" cap="none" strike="noStrike">
              <a:solidFill>
                <a:schemeClr val="dk1"/>
              </a:solidFill>
              <a:latin typeface="Calibri"/>
              <a:ea typeface="Calibri"/>
              <a:cs typeface="Calibri"/>
              <a:sym typeface="Calibri"/>
            </a:endParaRPr>
          </a:p>
        </p:txBody>
      </p:sp>
      <p:sp>
        <p:nvSpPr>
          <p:cNvPr id="763" name="Google Shape;763;p22"/>
          <p:cNvSpPr/>
          <p:nvPr/>
        </p:nvSpPr>
        <p:spPr>
          <a:xfrm>
            <a:off x="762000" y="9163050"/>
            <a:ext cx="16764000" cy="628800"/>
          </a:xfrm>
          <a:prstGeom prst="roundRect">
            <a:avLst>
              <a:gd fmla="val 21212" name="adj"/>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2"/>
          <p:cNvSpPr/>
          <p:nvPr/>
        </p:nvSpPr>
        <p:spPr>
          <a:xfrm>
            <a:off x="990600" y="9334500"/>
            <a:ext cx="168096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1725"/>
              <a:buFont typeface="Plus Jakarta Sans"/>
              <a:buNone/>
            </a:pPr>
            <a:r>
              <a:rPr b="1" i="0" lang="en-US" sz="1725" u="none" cap="none" strike="noStrike">
                <a:solidFill>
                  <a:srgbClr val="012749"/>
                </a:solidFill>
                <a:latin typeface="Plus Jakarta Sans"/>
                <a:ea typeface="Plus Jakarta Sans"/>
                <a:cs typeface="Plus Jakarta Sans"/>
                <a:sym typeface="Plus Jakarta Sans"/>
              </a:rPr>
              <a:t>Bài học chuyển giao: </a:t>
            </a:r>
            <a:r>
              <a:rPr b="0" i="0" lang="en-US" sz="1725" u="none" cap="none" strike="noStrike">
                <a:solidFill>
                  <a:srgbClr val="121619"/>
                </a:solidFill>
                <a:highlight>
                  <a:srgbClr val="E4F2FF"/>
                </a:highlight>
                <a:latin typeface="Roboto"/>
                <a:ea typeface="Roboto"/>
                <a:cs typeface="Roboto"/>
                <a:sym typeface="Roboto"/>
              </a:rPr>
              <a:t>[Cách làm/kinh nghiệm nào từ dự án đang chạy tốt có thể áp dụng sang dự án khác.]</a:t>
            </a:r>
            <a:endParaRPr b="0" i="0" sz="1725"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9" name="Shape 769"/>
        <p:cNvGrpSpPr/>
        <p:nvPr/>
      </p:nvGrpSpPr>
      <p:grpSpPr>
        <a:xfrm>
          <a:off x="0" y="0"/>
          <a:ext cx="0" cy="0"/>
          <a:chOff x="0" y="0"/>
          <a:chExt cx="0" cy="0"/>
        </a:xfrm>
      </p:grpSpPr>
      <p:sp>
        <p:nvSpPr>
          <p:cNvPr id="770" name="Google Shape;770;p23"/>
          <p:cNvSpPr/>
          <p:nvPr/>
        </p:nvSpPr>
        <p:spPr>
          <a:xfrm>
            <a:off x="762000" y="4572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RISK &amp; ACTION · TỔNG HỢP | Ahamove · Driver Management</a:t>
            </a:r>
            <a:endParaRPr b="0" i="0" sz="1800" u="none" cap="none" strike="noStrike">
              <a:solidFill>
                <a:schemeClr val="dk1"/>
              </a:solidFill>
              <a:latin typeface="Calibri"/>
              <a:ea typeface="Calibri"/>
              <a:cs typeface="Calibri"/>
              <a:sym typeface="Calibri"/>
            </a:endParaRPr>
          </a:p>
        </p:txBody>
      </p:sp>
      <p:sp>
        <p:nvSpPr>
          <p:cNvPr id="771" name="Google Shape;771;p23"/>
          <p:cNvSpPr/>
          <p:nvPr/>
        </p:nvSpPr>
        <p:spPr>
          <a:xfrm>
            <a:off x="762000" y="800100"/>
            <a:ext cx="18440400" cy="466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[N] rủi ro đang mở, mỗi rủi ro có đúng 1 owner</a:t>
            </a:r>
            <a:endParaRPr b="0" i="0" sz="2700" u="none" cap="none" strike="noStrike">
              <a:solidFill>
                <a:schemeClr val="dk1"/>
              </a:solidFill>
              <a:latin typeface="Calibri"/>
              <a:ea typeface="Calibri"/>
              <a:cs typeface="Calibri"/>
              <a:sym typeface="Calibri"/>
            </a:endParaRPr>
          </a:p>
        </p:txBody>
      </p:sp>
      <p:sp>
        <p:nvSpPr>
          <p:cNvPr id="772" name="Google Shape;772;p23"/>
          <p:cNvSpPr/>
          <p:nvPr/>
        </p:nvSpPr>
        <p:spPr>
          <a:xfrm>
            <a:off x="762000" y="1304925"/>
            <a:ext cx="16764000" cy="457200"/>
          </a:xfrm>
          <a:prstGeom prst="roundRect">
            <a:avLst>
              <a:gd fmla="val 20833"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3" name="Google Shape;773;p23"/>
          <p:cNvPicPr preferRelativeResize="0"/>
          <p:nvPr/>
        </p:nvPicPr>
        <p:blipFill rotWithShape="1">
          <a:blip r:embed="rId3">
            <a:alphaModFix/>
          </a:blip>
          <a:srcRect b="0" l="0" r="0" t="0"/>
          <a:stretch/>
        </p:blipFill>
        <p:spPr>
          <a:xfrm>
            <a:off x="952500" y="1466850"/>
            <a:ext cx="190500" cy="190500"/>
          </a:xfrm>
          <a:prstGeom prst="rect">
            <a:avLst/>
          </a:prstGeom>
          <a:noFill/>
          <a:ln>
            <a:noFill/>
          </a:ln>
        </p:spPr>
      </p:pic>
      <p:sp>
        <p:nvSpPr>
          <p:cNvPr id="774" name="Google Shape;774;p23"/>
          <p:cNvSpPr/>
          <p:nvPr/>
        </p:nvSpPr>
        <p:spPr>
          <a:xfrm>
            <a:off x="1199108" y="1400175"/>
            <a:ext cx="17358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650"/>
              <a:buFont typeface="Plus Jakarta Sans"/>
              <a:buNone/>
            </a:pPr>
            <a:r>
              <a:rPr b="1" i="0" lang="en-US" sz="1650" u="none" cap="none" strike="noStrike">
                <a:solidFill>
                  <a:srgbClr val="F55F00"/>
                </a:solidFill>
                <a:latin typeface="Plus Jakarta Sans"/>
                <a:ea typeface="Plus Jakarta Sans"/>
                <a:cs typeface="Plus Jakarta Sans"/>
                <a:sym typeface="Plus Jakarta Sans"/>
              </a:rPr>
              <a:t>KEY TAKEAWAY:</a:t>
            </a:r>
            <a:endParaRPr b="0" i="0" sz="1650" u="none" cap="none" strike="noStrike">
              <a:solidFill>
                <a:schemeClr val="dk1"/>
              </a:solidFill>
              <a:latin typeface="Calibri"/>
              <a:ea typeface="Calibri"/>
              <a:cs typeface="Calibri"/>
              <a:sym typeface="Calibri"/>
            </a:endParaRPr>
          </a:p>
        </p:txBody>
      </p:sp>
      <p:sp>
        <p:nvSpPr>
          <p:cNvPr id="775" name="Google Shape;775;p23"/>
          <p:cNvSpPr/>
          <p:nvPr/>
        </p:nvSpPr>
        <p:spPr>
          <a:xfrm>
            <a:off x="2973139" y="1414463"/>
            <a:ext cx="5664900" cy="276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[Vì sao bảng này tồn tại — nguyên tắc tổng hợp risk/action.]</a:t>
            </a:r>
            <a:endParaRPr b="0" i="0" sz="1650" u="none" cap="none" strike="noStrike">
              <a:solidFill>
                <a:schemeClr val="dk1"/>
              </a:solidFill>
              <a:latin typeface="Calibri"/>
              <a:ea typeface="Calibri"/>
              <a:cs typeface="Calibri"/>
              <a:sym typeface="Calibri"/>
            </a:endParaRPr>
          </a:p>
        </p:txBody>
      </p:sp>
      <p:sp>
        <p:nvSpPr>
          <p:cNvPr id="776" name="Google Shape;776;p23"/>
          <p:cNvSpPr/>
          <p:nvPr/>
        </p:nvSpPr>
        <p:spPr>
          <a:xfrm>
            <a:off x="762000" y="1895475"/>
            <a:ext cx="16764000" cy="4287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3"/>
          <p:cNvSpPr/>
          <p:nvPr/>
        </p:nvSpPr>
        <p:spPr>
          <a:xfrm>
            <a:off x="895350" y="1990725"/>
            <a:ext cx="5258700" cy="2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500"/>
              <a:buFont typeface="Plus Jakarta Sans"/>
              <a:buNone/>
            </a:pPr>
            <a:r>
              <a:rPr b="1" i="0" lang="en-US" sz="1500" u="none" cap="none" strike="noStrike">
                <a:solidFill>
                  <a:srgbClr val="FFFFFF"/>
                </a:solidFill>
                <a:latin typeface="Plus Jakarta Sans"/>
                <a:ea typeface="Plus Jakarta Sans"/>
                <a:cs typeface="Plus Jakarta Sans"/>
                <a:sym typeface="Plus Jakarta Sans"/>
              </a:rPr>
              <a:t>RỦI RO / ISSUE</a:t>
            </a:r>
            <a:endParaRPr b="0" i="0" sz="1500" u="none" cap="none" strike="noStrike">
              <a:solidFill>
                <a:schemeClr val="dk1"/>
              </a:solidFill>
              <a:latin typeface="Calibri"/>
              <a:ea typeface="Calibri"/>
              <a:cs typeface="Calibri"/>
              <a:sym typeface="Calibri"/>
            </a:endParaRPr>
          </a:p>
        </p:txBody>
      </p:sp>
      <p:sp>
        <p:nvSpPr>
          <p:cNvPr id="778" name="Google Shape;778;p23"/>
          <p:cNvSpPr/>
          <p:nvPr/>
        </p:nvSpPr>
        <p:spPr>
          <a:xfrm>
            <a:off x="6221611" y="1990725"/>
            <a:ext cx="1318200" cy="276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500"/>
              <a:buFont typeface="Plus Jakarta Sans"/>
              <a:buNone/>
            </a:pPr>
            <a:r>
              <a:rPr b="1" i="0" lang="en-US" sz="1500" u="none" cap="none" strike="noStrike">
                <a:solidFill>
                  <a:srgbClr val="FFFFFF"/>
                </a:solidFill>
                <a:latin typeface="Plus Jakarta Sans"/>
                <a:ea typeface="Plus Jakarta Sans"/>
                <a:cs typeface="Plus Jakarta Sans"/>
                <a:sym typeface="Plus Jakarta Sans"/>
              </a:rPr>
              <a:t>KHẢ NĂNG</a:t>
            </a:r>
            <a:endParaRPr b="0" i="0" sz="1500" u="none" cap="none" strike="noStrike">
              <a:solidFill>
                <a:schemeClr val="dk1"/>
              </a:solidFill>
              <a:latin typeface="Calibri"/>
              <a:ea typeface="Calibri"/>
              <a:cs typeface="Calibri"/>
              <a:sym typeface="Calibri"/>
            </a:endParaRPr>
          </a:p>
        </p:txBody>
      </p:sp>
      <p:sp>
        <p:nvSpPr>
          <p:cNvPr id="779" name="Google Shape;779;p23"/>
          <p:cNvSpPr/>
          <p:nvPr/>
        </p:nvSpPr>
        <p:spPr>
          <a:xfrm>
            <a:off x="7730282" y="1990725"/>
            <a:ext cx="1318200" cy="276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500"/>
              <a:buFont typeface="Plus Jakarta Sans"/>
              <a:buNone/>
            </a:pPr>
            <a:r>
              <a:rPr b="1" i="0" lang="en-US" sz="1500" u="none" cap="none" strike="noStrike">
                <a:solidFill>
                  <a:srgbClr val="FFFFFF"/>
                </a:solidFill>
                <a:latin typeface="Plus Jakarta Sans"/>
                <a:ea typeface="Plus Jakarta Sans"/>
                <a:cs typeface="Plus Jakarta Sans"/>
                <a:sym typeface="Plus Jakarta Sans"/>
              </a:rPr>
              <a:t>TÁC ĐỘNG</a:t>
            </a:r>
            <a:endParaRPr b="0" i="0" sz="1500" u="none" cap="none" strike="noStrike">
              <a:solidFill>
                <a:schemeClr val="dk1"/>
              </a:solidFill>
              <a:latin typeface="Calibri"/>
              <a:ea typeface="Calibri"/>
              <a:cs typeface="Calibri"/>
              <a:sym typeface="Calibri"/>
            </a:endParaRPr>
          </a:p>
        </p:txBody>
      </p:sp>
      <p:sp>
        <p:nvSpPr>
          <p:cNvPr id="780" name="Google Shape;780;p23"/>
          <p:cNvSpPr/>
          <p:nvPr/>
        </p:nvSpPr>
        <p:spPr>
          <a:xfrm>
            <a:off x="9238952" y="1990725"/>
            <a:ext cx="1821000" cy="2763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500"/>
              <a:buFont typeface="Plus Jakarta Sans"/>
              <a:buNone/>
            </a:pPr>
            <a:r>
              <a:rPr b="1" i="0" lang="en-US" sz="1500" u="none" cap="none" strike="noStrike">
                <a:solidFill>
                  <a:srgbClr val="FFFFFF"/>
                </a:solidFill>
                <a:latin typeface="Plus Jakarta Sans"/>
                <a:ea typeface="Plus Jakarta Sans"/>
                <a:cs typeface="Plus Jakarta Sans"/>
                <a:sym typeface="Plus Jakarta Sans"/>
              </a:rPr>
              <a:t>OWNER</a:t>
            </a:r>
            <a:endParaRPr b="0" i="0" sz="1500" u="none" cap="none" strike="noStrike">
              <a:solidFill>
                <a:schemeClr val="dk1"/>
              </a:solidFill>
              <a:latin typeface="Calibri"/>
              <a:ea typeface="Calibri"/>
              <a:cs typeface="Calibri"/>
              <a:sym typeface="Calibri"/>
            </a:endParaRPr>
          </a:p>
        </p:txBody>
      </p:sp>
      <p:sp>
        <p:nvSpPr>
          <p:cNvPr id="781" name="Google Shape;781;p23"/>
          <p:cNvSpPr/>
          <p:nvPr/>
        </p:nvSpPr>
        <p:spPr>
          <a:xfrm>
            <a:off x="11288613" y="1990725"/>
            <a:ext cx="6295200" cy="2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500"/>
              <a:buFont typeface="Plus Jakarta Sans"/>
              <a:buNone/>
            </a:pPr>
            <a:r>
              <a:rPr b="1" i="0" lang="en-US" sz="1500" u="none" cap="none" strike="noStrike">
                <a:solidFill>
                  <a:srgbClr val="FFFFFF"/>
                </a:solidFill>
                <a:latin typeface="Plus Jakarta Sans"/>
                <a:ea typeface="Plus Jakarta Sans"/>
                <a:cs typeface="Plus Jakarta Sans"/>
                <a:sym typeface="Plus Jakarta Sans"/>
              </a:rPr>
              <a:t>TRẠNG THÁI</a:t>
            </a:r>
            <a:endParaRPr b="0" i="0" sz="1500" u="none" cap="none" strike="noStrike">
              <a:solidFill>
                <a:schemeClr val="dk1"/>
              </a:solidFill>
              <a:latin typeface="Calibri"/>
              <a:ea typeface="Calibri"/>
              <a:cs typeface="Calibri"/>
              <a:sym typeface="Calibri"/>
            </a:endParaRPr>
          </a:p>
        </p:txBody>
      </p:sp>
      <p:sp>
        <p:nvSpPr>
          <p:cNvPr id="782" name="Google Shape;782;p23"/>
          <p:cNvSpPr/>
          <p:nvPr/>
        </p:nvSpPr>
        <p:spPr>
          <a:xfrm>
            <a:off x="762000" y="4021782"/>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3"/>
          <p:cNvSpPr/>
          <p:nvPr/>
        </p:nvSpPr>
        <p:spPr>
          <a:xfrm>
            <a:off x="895350" y="2419350"/>
            <a:ext cx="5258700" cy="15549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500"/>
              <a:buFont typeface="Roboto"/>
              <a:buNone/>
            </a:pPr>
            <a:r>
              <a:rPr b="1" i="0" lang="en-US" sz="1500" u="none" cap="none" strike="noStrike">
                <a:solidFill>
                  <a:srgbClr val="121619"/>
                </a:solidFill>
                <a:latin typeface="Roboto"/>
                <a:ea typeface="Roboto"/>
                <a:cs typeface="Roboto"/>
                <a:sym typeface="Roboto"/>
              </a:rPr>
              <a:t>[Rủi ro/Issue 1]</a:t>
            </a:r>
            <a:endParaRPr b="0" i="0" sz="1500" u="none" cap="none" strike="noStrike">
              <a:solidFill>
                <a:schemeClr val="dk1"/>
              </a:solidFill>
              <a:latin typeface="Calibri"/>
              <a:ea typeface="Calibri"/>
              <a:cs typeface="Calibri"/>
              <a:sym typeface="Calibri"/>
            </a:endParaRPr>
          </a:p>
        </p:txBody>
      </p:sp>
      <p:sp>
        <p:nvSpPr>
          <p:cNvPr id="784" name="Google Shape;784;p23"/>
          <p:cNvSpPr/>
          <p:nvPr/>
        </p:nvSpPr>
        <p:spPr>
          <a:xfrm>
            <a:off x="6097786" y="2333625"/>
            <a:ext cx="1565700" cy="1726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500"/>
              <a:buFont typeface="Roboto"/>
              <a:buNone/>
            </a:pPr>
            <a:r>
              <a:rPr b="1" i="0" lang="en-US" sz="1500" u="none" cap="none" strike="noStrike">
                <a:solidFill>
                  <a:srgbClr val="DA1E28"/>
                </a:solidFill>
                <a:latin typeface="Roboto"/>
                <a:ea typeface="Roboto"/>
                <a:cs typeface="Roboto"/>
                <a:sym typeface="Roboto"/>
              </a:rPr>
              <a:t>Cao</a:t>
            </a:r>
            <a:endParaRPr b="0" i="0" sz="1500" u="none" cap="none" strike="noStrike">
              <a:solidFill>
                <a:schemeClr val="dk1"/>
              </a:solidFill>
              <a:latin typeface="Calibri"/>
              <a:ea typeface="Calibri"/>
              <a:cs typeface="Calibri"/>
              <a:sym typeface="Calibri"/>
            </a:endParaRPr>
          </a:p>
        </p:txBody>
      </p:sp>
      <p:sp>
        <p:nvSpPr>
          <p:cNvPr id="785" name="Google Shape;785;p23"/>
          <p:cNvSpPr/>
          <p:nvPr/>
        </p:nvSpPr>
        <p:spPr>
          <a:xfrm>
            <a:off x="7606457" y="2333625"/>
            <a:ext cx="1565700" cy="1726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500"/>
              <a:buFont typeface="Roboto"/>
              <a:buNone/>
            </a:pPr>
            <a:r>
              <a:rPr b="1" i="0" lang="en-US" sz="1500" u="none" cap="none" strike="noStrike">
                <a:solidFill>
                  <a:srgbClr val="DA1E28"/>
                </a:solidFill>
                <a:latin typeface="Roboto"/>
                <a:ea typeface="Roboto"/>
                <a:cs typeface="Roboto"/>
                <a:sym typeface="Roboto"/>
              </a:rPr>
              <a:t>Cao</a:t>
            </a:r>
            <a:endParaRPr b="0" i="0" sz="1500" u="none" cap="none" strike="noStrike">
              <a:solidFill>
                <a:schemeClr val="dk1"/>
              </a:solidFill>
              <a:latin typeface="Calibri"/>
              <a:ea typeface="Calibri"/>
              <a:cs typeface="Calibri"/>
              <a:sym typeface="Calibri"/>
            </a:endParaRPr>
          </a:p>
        </p:txBody>
      </p:sp>
      <p:sp>
        <p:nvSpPr>
          <p:cNvPr id="786" name="Google Shape;786;p23"/>
          <p:cNvSpPr/>
          <p:nvPr/>
        </p:nvSpPr>
        <p:spPr>
          <a:xfrm>
            <a:off x="9115127" y="2333625"/>
            <a:ext cx="2068800" cy="17262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500"/>
              <a:buFont typeface="Roboto"/>
              <a:buNone/>
            </a:pPr>
            <a:r>
              <a:rPr b="0" i="0" lang="en-US" sz="1500" u="none" cap="none" strike="noStrike">
                <a:solidFill>
                  <a:srgbClr val="121619"/>
                </a:solidFill>
                <a:latin typeface="Roboto"/>
                <a:ea typeface="Roboto"/>
                <a:cs typeface="Roboto"/>
                <a:sym typeface="Roboto"/>
              </a:rPr>
              <a:t>[Owner]</a:t>
            </a:r>
            <a:endParaRPr b="0" i="0" sz="1500" u="none" cap="none" strike="noStrike">
              <a:solidFill>
                <a:schemeClr val="dk1"/>
              </a:solidFill>
              <a:latin typeface="Calibri"/>
              <a:ea typeface="Calibri"/>
              <a:cs typeface="Calibri"/>
              <a:sym typeface="Calibri"/>
            </a:endParaRPr>
          </a:p>
        </p:txBody>
      </p:sp>
      <p:sp>
        <p:nvSpPr>
          <p:cNvPr id="787" name="Google Shape;787;p23"/>
          <p:cNvSpPr/>
          <p:nvPr/>
        </p:nvSpPr>
        <p:spPr>
          <a:xfrm>
            <a:off x="11288613" y="2419350"/>
            <a:ext cx="6295200" cy="15549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[Trạng thái xử lý]</a:t>
            </a:r>
            <a:endParaRPr b="0" i="0" sz="1500" u="none" cap="none" strike="noStrike">
              <a:solidFill>
                <a:schemeClr val="dk1"/>
              </a:solidFill>
              <a:latin typeface="Calibri"/>
              <a:ea typeface="Calibri"/>
              <a:cs typeface="Calibri"/>
              <a:sym typeface="Calibri"/>
            </a:endParaRPr>
          </a:p>
        </p:txBody>
      </p:sp>
      <p:sp>
        <p:nvSpPr>
          <p:cNvPr id="788" name="Google Shape;788;p23"/>
          <p:cNvSpPr/>
          <p:nvPr/>
        </p:nvSpPr>
        <p:spPr>
          <a:xfrm>
            <a:off x="762000" y="4031307"/>
            <a:ext cx="16764000" cy="17265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3"/>
          <p:cNvSpPr/>
          <p:nvPr/>
        </p:nvSpPr>
        <p:spPr>
          <a:xfrm>
            <a:off x="762000" y="5748189"/>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3"/>
          <p:cNvSpPr/>
          <p:nvPr/>
        </p:nvSpPr>
        <p:spPr>
          <a:xfrm>
            <a:off x="895350" y="4126557"/>
            <a:ext cx="5258700" cy="1574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500"/>
              <a:buFont typeface="Roboto"/>
              <a:buNone/>
            </a:pPr>
            <a:r>
              <a:rPr b="1" i="0" lang="en-US" sz="1500" u="none" cap="none" strike="noStrike">
                <a:solidFill>
                  <a:srgbClr val="121619"/>
                </a:solidFill>
                <a:latin typeface="Roboto"/>
                <a:ea typeface="Roboto"/>
                <a:cs typeface="Roboto"/>
                <a:sym typeface="Roboto"/>
              </a:rPr>
              <a:t>[Rủi ro/Issue 2]</a:t>
            </a:r>
            <a:endParaRPr b="0" i="0" sz="1500" u="none" cap="none" strike="noStrike">
              <a:solidFill>
                <a:schemeClr val="dk1"/>
              </a:solidFill>
              <a:latin typeface="Calibri"/>
              <a:ea typeface="Calibri"/>
              <a:cs typeface="Calibri"/>
              <a:sym typeface="Calibri"/>
            </a:endParaRPr>
          </a:p>
        </p:txBody>
      </p:sp>
      <p:sp>
        <p:nvSpPr>
          <p:cNvPr id="791" name="Google Shape;791;p23"/>
          <p:cNvSpPr/>
          <p:nvPr/>
        </p:nvSpPr>
        <p:spPr>
          <a:xfrm>
            <a:off x="6097786" y="4040832"/>
            <a:ext cx="1565700" cy="1745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500"/>
              <a:buFont typeface="Roboto"/>
              <a:buNone/>
            </a:pPr>
            <a:r>
              <a:rPr b="1" i="0" lang="en-US" sz="1500" u="none" cap="none" strike="noStrike">
                <a:solidFill>
                  <a:srgbClr val="F55F00"/>
                </a:solidFill>
                <a:latin typeface="Roboto"/>
                <a:ea typeface="Roboto"/>
                <a:cs typeface="Roboto"/>
                <a:sym typeface="Roboto"/>
              </a:rPr>
              <a:t>Trung bình</a:t>
            </a:r>
            <a:endParaRPr b="0" i="0" sz="1500" u="none" cap="none" strike="noStrike">
              <a:solidFill>
                <a:schemeClr val="dk1"/>
              </a:solidFill>
              <a:latin typeface="Calibri"/>
              <a:ea typeface="Calibri"/>
              <a:cs typeface="Calibri"/>
              <a:sym typeface="Calibri"/>
            </a:endParaRPr>
          </a:p>
        </p:txBody>
      </p:sp>
      <p:sp>
        <p:nvSpPr>
          <p:cNvPr id="792" name="Google Shape;792;p23"/>
          <p:cNvSpPr/>
          <p:nvPr/>
        </p:nvSpPr>
        <p:spPr>
          <a:xfrm>
            <a:off x="7606457" y="4040832"/>
            <a:ext cx="1565700" cy="1745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500"/>
              <a:buFont typeface="Roboto"/>
              <a:buNone/>
            </a:pPr>
            <a:r>
              <a:rPr b="1" i="0" lang="en-US" sz="1500" u="none" cap="none" strike="noStrike">
                <a:solidFill>
                  <a:srgbClr val="DA1E28"/>
                </a:solidFill>
                <a:latin typeface="Roboto"/>
                <a:ea typeface="Roboto"/>
                <a:cs typeface="Roboto"/>
                <a:sym typeface="Roboto"/>
              </a:rPr>
              <a:t>Cao</a:t>
            </a:r>
            <a:endParaRPr b="0" i="0" sz="1500" u="none" cap="none" strike="noStrike">
              <a:solidFill>
                <a:schemeClr val="dk1"/>
              </a:solidFill>
              <a:latin typeface="Calibri"/>
              <a:ea typeface="Calibri"/>
              <a:cs typeface="Calibri"/>
              <a:sym typeface="Calibri"/>
            </a:endParaRPr>
          </a:p>
        </p:txBody>
      </p:sp>
      <p:sp>
        <p:nvSpPr>
          <p:cNvPr id="793" name="Google Shape;793;p23"/>
          <p:cNvSpPr/>
          <p:nvPr/>
        </p:nvSpPr>
        <p:spPr>
          <a:xfrm>
            <a:off x="9115127" y="4040832"/>
            <a:ext cx="2068800" cy="1745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500"/>
              <a:buFont typeface="Roboto"/>
              <a:buNone/>
            </a:pPr>
            <a:r>
              <a:rPr b="0" i="0" lang="en-US" sz="1500" u="none" cap="none" strike="noStrike">
                <a:solidFill>
                  <a:srgbClr val="121619"/>
                </a:solidFill>
                <a:latin typeface="Roboto"/>
                <a:ea typeface="Roboto"/>
                <a:cs typeface="Roboto"/>
                <a:sym typeface="Roboto"/>
              </a:rPr>
              <a:t>[Owner]</a:t>
            </a:r>
            <a:endParaRPr b="0" i="0" sz="1500" u="none" cap="none" strike="noStrike">
              <a:solidFill>
                <a:schemeClr val="dk1"/>
              </a:solidFill>
              <a:latin typeface="Calibri"/>
              <a:ea typeface="Calibri"/>
              <a:cs typeface="Calibri"/>
              <a:sym typeface="Calibri"/>
            </a:endParaRPr>
          </a:p>
        </p:txBody>
      </p:sp>
      <p:sp>
        <p:nvSpPr>
          <p:cNvPr id="794" name="Google Shape;794;p23"/>
          <p:cNvSpPr/>
          <p:nvPr/>
        </p:nvSpPr>
        <p:spPr>
          <a:xfrm>
            <a:off x="11288613" y="4126557"/>
            <a:ext cx="6295200" cy="1574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[Trạng thái xử lý]</a:t>
            </a:r>
            <a:endParaRPr b="0" i="0" sz="1500" u="none" cap="none" strike="noStrike">
              <a:solidFill>
                <a:schemeClr val="dk1"/>
              </a:solidFill>
              <a:latin typeface="Calibri"/>
              <a:ea typeface="Calibri"/>
              <a:cs typeface="Calibri"/>
              <a:sym typeface="Calibri"/>
            </a:endParaRPr>
          </a:p>
        </p:txBody>
      </p:sp>
      <p:sp>
        <p:nvSpPr>
          <p:cNvPr id="795" name="Google Shape;795;p23"/>
          <p:cNvSpPr/>
          <p:nvPr/>
        </p:nvSpPr>
        <p:spPr>
          <a:xfrm>
            <a:off x="762000" y="7474595"/>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3"/>
          <p:cNvSpPr/>
          <p:nvPr/>
        </p:nvSpPr>
        <p:spPr>
          <a:xfrm>
            <a:off x="895350" y="5852964"/>
            <a:ext cx="5258700" cy="1574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500"/>
              <a:buFont typeface="Roboto"/>
              <a:buNone/>
            </a:pPr>
            <a:r>
              <a:rPr b="1" i="0" lang="en-US" sz="1500" u="none" cap="none" strike="noStrike">
                <a:solidFill>
                  <a:srgbClr val="121619"/>
                </a:solidFill>
                <a:latin typeface="Roboto"/>
                <a:ea typeface="Roboto"/>
                <a:cs typeface="Roboto"/>
                <a:sym typeface="Roboto"/>
              </a:rPr>
              <a:t>[Rủi ro/Issue 3]</a:t>
            </a:r>
            <a:endParaRPr b="0" i="0" sz="1500" u="none" cap="none" strike="noStrike">
              <a:solidFill>
                <a:schemeClr val="dk1"/>
              </a:solidFill>
              <a:latin typeface="Calibri"/>
              <a:ea typeface="Calibri"/>
              <a:cs typeface="Calibri"/>
              <a:sym typeface="Calibri"/>
            </a:endParaRPr>
          </a:p>
        </p:txBody>
      </p:sp>
      <p:sp>
        <p:nvSpPr>
          <p:cNvPr id="797" name="Google Shape;797;p23"/>
          <p:cNvSpPr/>
          <p:nvPr/>
        </p:nvSpPr>
        <p:spPr>
          <a:xfrm>
            <a:off x="6097786" y="5767239"/>
            <a:ext cx="1565700" cy="1745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500"/>
              <a:buFont typeface="Roboto"/>
              <a:buNone/>
            </a:pPr>
            <a:r>
              <a:rPr b="1" i="0" lang="en-US" sz="1500" u="none" cap="none" strike="noStrike">
                <a:solidFill>
                  <a:srgbClr val="DA1E28"/>
                </a:solidFill>
                <a:latin typeface="Roboto"/>
                <a:ea typeface="Roboto"/>
                <a:cs typeface="Roboto"/>
                <a:sym typeface="Roboto"/>
              </a:rPr>
              <a:t>Cao</a:t>
            </a:r>
            <a:endParaRPr b="0" i="0" sz="1500" u="none" cap="none" strike="noStrike">
              <a:solidFill>
                <a:schemeClr val="dk1"/>
              </a:solidFill>
              <a:latin typeface="Calibri"/>
              <a:ea typeface="Calibri"/>
              <a:cs typeface="Calibri"/>
              <a:sym typeface="Calibri"/>
            </a:endParaRPr>
          </a:p>
        </p:txBody>
      </p:sp>
      <p:sp>
        <p:nvSpPr>
          <p:cNvPr id="798" name="Google Shape;798;p23"/>
          <p:cNvSpPr/>
          <p:nvPr/>
        </p:nvSpPr>
        <p:spPr>
          <a:xfrm>
            <a:off x="7606457" y="5767239"/>
            <a:ext cx="1565700" cy="1745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500"/>
              <a:buFont typeface="Roboto"/>
              <a:buNone/>
            </a:pPr>
            <a:r>
              <a:rPr b="1" i="0" lang="en-US" sz="1500" u="none" cap="none" strike="noStrike">
                <a:solidFill>
                  <a:srgbClr val="F55F00"/>
                </a:solidFill>
                <a:latin typeface="Roboto"/>
                <a:ea typeface="Roboto"/>
                <a:cs typeface="Roboto"/>
                <a:sym typeface="Roboto"/>
              </a:rPr>
              <a:t>Trung bình</a:t>
            </a:r>
            <a:endParaRPr b="0" i="0" sz="1500" u="none" cap="none" strike="noStrike">
              <a:solidFill>
                <a:schemeClr val="dk1"/>
              </a:solidFill>
              <a:latin typeface="Calibri"/>
              <a:ea typeface="Calibri"/>
              <a:cs typeface="Calibri"/>
              <a:sym typeface="Calibri"/>
            </a:endParaRPr>
          </a:p>
        </p:txBody>
      </p:sp>
      <p:sp>
        <p:nvSpPr>
          <p:cNvPr id="799" name="Google Shape;799;p23"/>
          <p:cNvSpPr/>
          <p:nvPr/>
        </p:nvSpPr>
        <p:spPr>
          <a:xfrm>
            <a:off x="9115127" y="5767239"/>
            <a:ext cx="2068800" cy="17454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500"/>
              <a:buFont typeface="Roboto"/>
              <a:buNone/>
            </a:pPr>
            <a:r>
              <a:rPr b="0" i="0" lang="en-US" sz="1500" u="none" cap="none" strike="noStrike">
                <a:solidFill>
                  <a:srgbClr val="121619"/>
                </a:solidFill>
                <a:latin typeface="Roboto"/>
                <a:ea typeface="Roboto"/>
                <a:cs typeface="Roboto"/>
                <a:sym typeface="Roboto"/>
              </a:rPr>
              <a:t>[Owner]</a:t>
            </a:r>
            <a:endParaRPr b="0" i="0" sz="1500" u="none" cap="none" strike="noStrike">
              <a:solidFill>
                <a:schemeClr val="dk1"/>
              </a:solidFill>
              <a:latin typeface="Calibri"/>
              <a:ea typeface="Calibri"/>
              <a:cs typeface="Calibri"/>
              <a:sym typeface="Calibri"/>
            </a:endParaRPr>
          </a:p>
        </p:txBody>
      </p:sp>
      <p:sp>
        <p:nvSpPr>
          <p:cNvPr id="800" name="Google Shape;800;p23"/>
          <p:cNvSpPr/>
          <p:nvPr/>
        </p:nvSpPr>
        <p:spPr>
          <a:xfrm>
            <a:off x="11288613" y="5852964"/>
            <a:ext cx="6295200" cy="1574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[Trạng thái xử lý]</a:t>
            </a:r>
            <a:endParaRPr b="0" i="0" sz="1500" u="none" cap="none" strike="noStrike">
              <a:solidFill>
                <a:schemeClr val="dk1"/>
              </a:solidFill>
              <a:latin typeface="Calibri"/>
              <a:ea typeface="Calibri"/>
              <a:cs typeface="Calibri"/>
              <a:sym typeface="Calibri"/>
            </a:endParaRPr>
          </a:p>
        </p:txBody>
      </p:sp>
      <p:sp>
        <p:nvSpPr>
          <p:cNvPr id="801" name="Google Shape;801;p23"/>
          <p:cNvSpPr/>
          <p:nvPr/>
        </p:nvSpPr>
        <p:spPr>
          <a:xfrm>
            <a:off x="762000" y="7484120"/>
            <a:ext cx="16764000" cy="17076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3"/>
          <p:cNvSpPr/>
          <p:nvPr/>
        </p:nvSpPr>
        <p:spPr>
          <a:xfrm>
            <a:off x="895350" y="7579370"/>
            <a:ext cx="5258700" cy="15552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500"/>
              <a:buFont typeface="Roboto"/>
              <a:buNone/>
            </a:pPr>
            <a:r>
              <a:rPr b="1" i="0" lang="en-US" sz="1500" u="none" cap="none" strike="noStrike">
                <a:solidFill>
                  <a:srgbClr val="121619"/>
                </a:solidFill>
                <a:latin typeface="Roboto"/>
                <a:ea typeface="Roboto"/>
                <a:cs typeface="Roboto"/>
                <a:sym typeface="Roboto"/>
              </a:rPr>
              <a:t>[Rủi ro/Issue 4]</a:t>
            </a:r>
            <a:endParaRPr b="0" i="0" sz="1500" u="none" cap="none" strike="noStrike">
              <a:solidFill>
                <a:schemeClr val="dk1"/>
              </a:solidFill>
              <a:latin typeface="Calibri"/>
              <a:ea typeface="Calibri"/>
              <a:cs typeface="Calibri"/>
              <a:sym typeface="Calibri"/>
            </a:endParaRPr>
          </a:p>
        </p:txBody>
      </p:sp>
      <p:sp>
        <p:nvSpPr>
          <p:cNvPr id="803" name="Google Shape;803;p23"/>
          <p:cNvSpPr/>
          <p:nvPr/>
        </p:nvSpPr>
        <p:spPr>
          <a:xfrm>
            <a:off x="6097786" y="7493645"/>
            <a:ext cx="1565700" cy="1726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500"/>
              <a:buFont typeface="Roboto"/>
              <a:buNone/>
            </a:pPr>
            <a:r>
              <a:rPr b="1" i="0" lang="en-US" sz="1500" u="none" cap="none" strike="noStrike">
                <a:solidFill>
                  <a:srgbClr val="F55F00"/>
                </a:solidFill>
                <a:latin typeface="Roboto"/>
                <a:ea typeface="Roboto"/>
                <a:cs typeface="Roboto"/>
                <a:sym typeface="Roboto"/>
              </a:rPr>
              <a:t>Trung bình</a:t>
            </a:r>
            <a:endParaRPr b="0" i="0" sz="1500" u="none" cap="none" strike="noStrike">
              <a:solidFill>
                <a:schemeClr val="dk1"/>
              </a:solidFill>
              <a:latin typeface="Calibri"/>
              <a:ea typeface="Calibri"/>
              <a:cs typeface="Calibri"/>
              <a:sym typeface="Calibri"/>
            </a:endParaRPr>
          </a:p>
        </p:txBody>
      </p:sp>
      <p:sp>
        <p:nvSpPr>
          <p:cNvPr id="804" name="Google Shape;804;p23"/>
          <p:cNvSpPr/>
          <p:nvPr/>
        </p:nvSpPr>
        <p:spPr>
          <a:xfrm>
            <a:off x="7606457" y="7493645"/>
            <a:ext cx="1565700" cy="1726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67C3F"/>
              </a:buClr>
              <a:buSzPts val="1500"/>
              <a:buFont typeface="Roboto"/>
              <a:buNone/>
            </a:pPr>
            <a:r>
              <a:rPr b="1" i="0" lang="en-US" sz="1500" u="none" cap="none" strike="noStrike">
                <a:solidFill>
                  <a:srgbClr val="167C3F"/>
                </a:solidFill>
                <a:latin typeface="Roboto"/>
                <a:ea typeface="Roboto"/>
                <a:cs typeface="Roboto"/>
                <a:sym typeface="Roboto"/>
              </a:rPr>
              <a:t>Thấp</a:t>
            </a:r>
            <a:endParaRPr b="0" i="0" sz="1500" u="none" cap="none" strike="noStrike">
              <a:solidFill>
                <a:schemeClr val="dk1"/>
              </a:solidFill>
              <a:latin typeface="Calibri"/>
              <a:ea typeface="Calibri"/>
              <a:cs typeface="Calibri"/>
              <a:sym typeface="Calibri"/>
            </a:endParaRPr>
          </a:p>
        </p:txBody>
      </p:sp>
      <p:sp>
        <p:nvSpPr>
          <p:cNvPr id="805" name="Google Shape;805;p23"/>
          <p:cNvSpPr/>
          <p:nvPr/>
        </p:nvSpPr>
        <p:spPr>
          <a:xfrm>
            <a:off x="9115127" y="7493645"/>
            <a:ext cx="2068800" cy="17265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500"/>
              <a:buFont typeface="Roboto"/>
              <a:buNone/>
            </a:pPr>
            <a:r>
              <a:rPr b="0" i="0" lang="en-US" sz="1500" u="none" cap="none" strike="noStrike">
                <a:solidFill>
                  <a:srgbClr val="121619"/>
                </a:solidFill>
                <a:latin typeface="Roboto"/>
                <a:ea typeface="Roboto"/>
                <a:cs typeface="Roboto"/>
                <a:sym typeface="Roboto"/>
              </a:rPr>
              <a:t>[Owner]</a:t>
            </a:r>
            <a:endParaRPr b="0" i="0" sz="1500" u="none" cap="none" strike="noStrike">
              <a:solidFill>
                <a:schemeClr val="dk1"/>
              </a:solidFill>
              <a:latin typeface="Calibri"/>
              <a:ea typeface="Calibri"/>
              <a:cs typeface="Calibri"/>
              <a:sym typeface="Calibri"/>
            </a:endParaRPr>
          </a:p>
        </p:txBody>
      </p:sp>
      <p:sp>
        <p:nvSpPr>
          <p:cNvPr id="806" name="Google Shape;806;p23"/>
          <p:cNvSpPr/>
          <p:nvPr/>
        </p:nvSpPr>
        <p:spPr>
          <a:xfrm>
            <a:off x="11288613" y="7579370"/>
            <a:ext cx="6295200" cy="15552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500"/>
              <a:buFont typeface="Roboto"/>
              <a:buNone/>
            </a:pPr>
            <a:r>
              <a:rPr b="0" i="0" lang="en-US" sz="1500" u="none" cap="none" strike="noStrike">
                <a:solidFill>
                  <a:srgbClr val="4C5158"/>
                </a:solidFill>
                <a:latin typeface="Roboto"/>
                <a:ea typeface="Roboto"/>
                <a:cs typeface="Roboto"/>
                <a:sym typeface="Roboto"/>
              </a:rPr>
              <a:t>[Trạng thái xử lý]</a:t>
            </a:r>
            <a:endParaRPr b="0" i="0" sz="1500" u="none" cap="none" strike="noStrike">
              <a:solidFill>
                <a:schemeClr val="dk1"/>
              </a:solidFill>
              <a:latin typeface="Calibri"/>
              <a:ea typeface="Calibri"/>
              <a:cs typeface="Calibri"/>
              <a:sym typeface="Calibri"/>
            </a:endParaRPr>
          </a:p>
        </p:txBody>
      </p:sp>
      <p:sp>
        <p:nvSpPr>
          <p:cNvPr id="807" name="Google Shape;807;p23"/>
          <p:cNvSpPr/>
          <p:nvPr/>
        </p:nvSpPr>
        <p:spPr>
          <a:xfrm>
            <a:off x="762000" y="9324975"/>
            <a:ext cx="16764000" cy="504900"/>
          </a:xfrm>
          <a:prstGeom prst="roundRect">
            <a:avLst>
              <a:gd fmla="val 22642" name="adj"/>
            </a:avLst>
          </a:pr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3"/>
          <p:cNvSpPr/>
          <p:nvPr/>
        </p:nvSpPr>
        <p:spPr>
          <a:xfrm>
            <a:off x="952500" y="9458325"/>
            <a:ext cx="168858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1" i="0" lang="en-US" sz="1650" u="none" cap="none" strike="noStrike">
                <a:solidFill>
                  <a:srgbClr val="121619"/>
                </a:solidFill>
                <a:latin typeface="Roboto"/>
                <a:ea typeface="Roboto"/>
                <a:cs typeface="Roboto"/>
                <a:sym typeface="Roboto"/>
              </a:rPr>
              <a:t>Gap còn thiếu: </a:t>
            </a:r>
            <a:r>
              <a:rPr b="0" i="0" lang="en-US" sz="1650" u="none" cap="none" strike="noStrike">
                <a:solidFill>
                  <a:srgbClr val="121619"/>
                </a:solidFill>
                <a:highlight>
                  <a:srgbClr val="FFF8E1"/>
                </a:highlight>
                <a:latin typeface="Roboto"/>
                <a:ea typeface="Roboto"/>
                <a:cs typeface="Roboto"/>
                <a:sym typeface="Roboto"/>
              </a:rPr>
              <a:t>[Điểm dữ liệu/phân tích còn thiếu, đề xuất bổ sung ở kỳ sau.]</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3" name="Shape 813"/>
        <p:cNvGrpSpPr/>
        <p:nvPr/>
      </p:nvGrpSpPr>
      <p:grpSpPr>
        <a:xfrm>
          <a:off x="0" y="0"/>
          <a:ext cx="0" cy="0"/>
          <a:chOff x="0" y="0"/>
          <a:chExt cx="0" cy="0"/>
        </a:xfrm>
      </p:grpSpPr>
      <p:sp>
        <p:nvSpPr>
          <p:cNvPr id="814" name="Google Shape;814;p24"/>
          <p:cNvSpPr/>
          <p:nvPr/>
        </p:nvSpPr>
        <p:spPr>
          <a:xfrm>
            <a:off x="762000" y="4953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Plus Jakarta Sans"/>
              <a:buNone/>
            </a:pPr>
            <a:r>
              <a:rPr b="0" i="0" lang="en-US" sz="1800" u="none" cap="none" strike="noStrike">
                <a:solidFill>
                  <a:srgbClr val="757D86"/>
                </a:solidFill>
                <a:latin typeface="Plus Jakarta Sans"/>
                <a:ea typeface="Plus Jakarta Sans"/>
                <a:cs typeface="Plus Jakarta Sans"/>
                <a:sym typeface="Plus Jakarta Sans"/>
              </a:rPr>
              <a:t>QUYẾT ĐỊNH · CẦN CHỐT | Ahamove · Driver Management</a:t>
            </a:r>
            <a:endParaRPr b="0" i="0" sz="1800" u="none" cap="none" strike="noStrike">
              <a:solidFill>
                <a:schemeClr val="dk1"/>
              </a:solidFill>
              <a:latin typeface="Calibri"/>
              <a:ea typeface="Calibri"/>
              <a:cs typeface="Calibri"/>
              <a:sym typeface="Calibri"/>
            </a:endParaRPr>
          </a:p>
        </p:txBody>
      </p:sp>
      <p:sp>
        <p:nvSpPr>
          <p:cNvPr id="815" name="Google Shape;815;p24"/>
          <p:cNvSpPr/>
          <p:nvPr/>
        </p:nvSpPr>
        <p:spPr>
          <a:xfrm>
            <a:off x="762000" y="838200"/>
            <a:ext cx="18440400" cy="48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[N] quyết định cần chốt trong kỳ này</a:t>
            </a:r>
            <a:endParaRPr b="0" i="0" sz="2850" u="none" cap="none" strike="noStrike">
              <a:solidFill>
                <a:schemeClr val="dk1"/>
              </a:solidFill>
              <a:latin typeface="Calibri"/>
              <a:ea typeface="Calibri"/>
              <a:cs typeface="Calibri"/>
              <a:sym typeface="Calibri"/>
            </a:endParaRPr>
          </a:p>
        </p:txBody>
      </p:sp>
      <p:sp>
        <p:nvSpPr>
          <p:cNvPr id="816" name="Google Shape;816;p24"/>
          <p:cNvSpPr/>
          <p:nvPr/>
        </p:nvSpPr>
        <p:spPr>
          <a:xfrm>
            <a:off x="762000" y="1381125"/>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7" name="Google Shape;817;p24"/>
          <p:cNvPicPr preferRelativeResize="0"/>
          <p:nvPr/>
        </p:nvPicPr>
        <p:blipFill rotWithShape="1">
          <a:blip r:embed="rId3">
            <a:alphaModFix/>
          </a:blip>
          <a:srcRect b="0" l="0" r="0" t="0"/>
          <a:stretch/>
        </p:blipFill>
        <p:spPr>
          <a:xfrm>
            <a:off x="952500" y="1562100"/>
            <a:ext cx="209550" cy="209550"/>
          </a:xfrm>
          <a:prstGeom prst="rect">
            <a:avLst/>
          </a:prstGeom>
          <a:noFill/>
          <a:ln>
            <a:noFill/>
          </a:ln>
        </p:spPr>
      </p:pic>
      <p:sp>
        <p:nvSpPr>
          <p:cNvPr id="818" name="Google Shape;818;p24"/>
          <p:cNvSpPr/>
          <p:nvPr/>
        </p:nvSpPr>
        <p:spPr>
          <a:xfrm>
            <a:off x="1221581" y="1495425"/>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819" name="Google Shape;819;p24"/>
          <p:cNvSpPr/>
          <p:nvPr/>
        </p:nvSpPr>
        <p:spPr>
          <a:xfrm>
            <a:off x="3146375" y="1504950"/>
            <a:ext cx="63384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[Vì sao các quyết định này quan trọng và cần chốt đúng hạn.]</a:t>
            </a:r>
            <a:endParaRPr b="0" i="0" sz="1800" u="none" cap="none" strike="noStrike">
              <a:solidFill>
                <a:schemeClr val="dk1"/>
              </a:solidFill>
              <a:latin typeface="Calibri"/>
              <a:ea typeface="Calibri"/>
              <a:cs typeface="Calibri"/>
              <a:sym typeface="Calibri"/>
            </a:endParaRPr>
          </a:p>
        </p:txBody>
      </p:sp>
      <p:sp>
        <p:nvSpPr>
          <p:cNvPr id="820" name="Google Shape;820;p24"/>
          <p:cNvSpPr/>
          <p:nvPr/>
        </p:nvSpPr>
        <p:spPr>
          <a:xfrm>
            <a:off x="-76200" y="2047875"/>
            <a:ext cx="18440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650"/>
              <a:buFont typeface="Plus Jakarta Sans"/>
              <a:buNone/>
            </a:pPr>
            <a:r>
              <a:rPr b="1" i="0" lang="en-US" sz="1650" u="none" cap="none" strike="noStrike">
                <a:solidFill>
                  <a:srgbClr val="757D86"/>
                </a:solidFill>
                <a:latin typeface="Plus Jakarta Sans"/>
                <a:ea typeface="Plus Jakarta Sans"/>
                <a:cs typeface="Plus Jakarta Sans"/>
                <a:sym typeface="Plus Jakarta Sans"/>
              </a:rPr>
              <a:t>VẤN ĐỀ + RỦI RO NẾU KHÔNG QUYẾT = QUYẾT ĐỊNH CẦN CHỐT NGAY</a:t>
            </a:r>
            <a:endParaRPr b="0" i="0" sz="1650" u="none" cap="none" strike="noStrike">
              <a:solidFill>
                <a:schemeClr val="dk1"/>
              </a:solidFill>
              <a:latin typeface="Calibri"/>
              <a:ea typeface="Calibri"/>
              <a:cs typeface="Calibri"/>
              <a:sym typeface="Calibri"/>
            </a:endParaRPr>
          </a:p>
        </p:txBody>
      </p:sp>
      <p:sp>
        <p:nvSpPr>
          <p:cNvPr id="821" name="Google Shape;821;p24"/>
          <p:cNvSpPr/>
          <p:nvPr/>
        </p:nvSpPr>
        <p:spPr>
          <a:xfrm>
            <a:off x="762000" y="2466975"/>
            <a:ext cx="16764000" cy="1114500"/>
          </a:xfrm>
          <a:prstGeom prst="roundRect">
            <a:avLst>
              <a:gd fmla="val 11966"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4"/>
          <p:cNvSpPr/>
          <p:nvPr/>
        </p:nvSpPr>
        <p:spPr>
          <a:xfrm>
            <a:off x="933450" y="2638425"/>
            <a:ext cx="495300" cy="809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12749"/>
              </a:buClr>
              <a:buSzPts val="2400"/>
              <a:buFont typeface="Plus Jakarta Sans"/>
              <a:buNone/>
            </a:pPr>
            <a:r>
              <a:rPr b="1" i="0" lang="en-US" sz="2400" u="none" cap="none" strike="noStrike">
                <a:solidFill>
                  <a:srgbClr val="012749"/>
                </a:solidFill>
                <a:latin typeface="Plus Jakarta Sans"/>
                <a:ea typeface="Plus Jakarta Sans"/>
                <a:cs typeface="Plus Jakarta Sans"/>
                <a:sym typeface="Plus Jakarta Sans"/>
              </a:rPr>
              <a:t>1</a:t>
            </a:r>
            <a:endParaRPr b="0" i="0" sz="2400" u="none" cap="none" strike="noStrike">
              <a:solidFill>
                <a:schemeClr val="dk1"/>
              </a:solidFill>
              <a:latin typeface="Calibri"/>
              <a:ea typeface="Calibri"/>
              <a:cs typeface="Calibri"/>
              <a:sym typeface="Calibri"/>
            </a:endParaRPr>
          </a:p>
        </p:txBody>
      </p:sp>
      <p:sp>
        <p:nvSpPr>
          <p:cNvPr id="823" name="Google Shape;823;p24"/>
          <p:cNvSpPr/>
          <p:nvPr/>
        </p:nvSpPr>
        <p:spPr>
          <a:xfrm>
            <a:off x="1524000" y="2638425"/>
            <a:ext cx="55089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425"/>
              <a:buFont typeface="Plus Jakarta Sans"/>
              <a:buNone/>
            </a:pPr>
            <a:r>
              <a:rPr b="1" i="0" lang="en-US" sz="1425" u="none" cap="none" strike="noStrike">
                <a:solidFill>
                  <a:srgbClr val="757D86"/>
                </a:solidFill>
                <a:latin typeface="Plus Jakarta Sans"/>
                <a:ea typeface="Plus Jakarta Sans"/>
                <a:cs typeface="Plus Jakarta Sans"/>
                <a:sym typeface="Plus Jakarta Sans"/>
              </a:rPr>
              <a:t>VẤN ĐỀ</a:t>
            </a:r>
            <a:endParaRPr b="0" i="0" sz="1425" u="none" cap="none" strike="noStrike">
              <a:solidFill>
                <a:schemeClr val="dk1"/>
              </a:solidFill>
              <a:latin typeface="Calibri"/>
              <a:ea typeface="Calibri"/>
              <a:cs typeface="Calibri"/>
              <a:sym typeface="Calibri"/>
            </a:endParaRPr>
          </a:p>
        </p:txBody>
      </p:sp>
      <p:sp>
        <p:nvSpPr>
          <p:cNvPr id="824" name="Google Shape;824;p24"/>
          <p:cNvSpPr/>
          <p:nvPr/>
        </p:nvSpPr>
        <p:spPr>
          <a:xfrm>
            <a:off x="1524000" y="2905125"/>
            <a:ext cx="55089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[Vấn đề 1]</a:t>
            </a:r>
            <a:endParaRPr b="0" i="0" sz="1650" u="none" cap="none" strike="noStrike">
              <a:solidFill>
                <a:schemeClr val="dk1"/>
              </a:solidFill>
              <a:latin typeface="Calibri"/>
              <a:ea typeface="Calibri"/>
              <a:cs typeface="Calibri"/>
              <a:sym typeface="Calibri"/>
            </a:endParaRPr>
          </a:p>
        </p:txBody>
      </p:sp>
      <p:sp>
        <p:nvSpPr>
          <p:cNvPr id="825" name="Google Shape;825;p24"/>
          <p:cNvSpPr/>
          <p:nvPr/>
        </p:nvSpPr>
        <p:spPr>
          <a:xfrm>
            <a:off x="6665565" y="2638425"/>
            <a:ext cx="5509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425"/>
              <a:buFont typeface="Plus Jakarta Sans"/>
              <a:buNone/>
            </a:pPr>
            <a:r>
              <a:rPr b="1" i="0" lang="en-US" sz="1425" u="none" cap="none" strike="noStrike">
                <a:solidFill>
                  <a:srgbClr val="DA1E28"/>
                </a:solidFill>
                <a:latin typeface="Plus Jakarta Sans"/>
                <a:ea typeface="Plus Jakarta Sans"/>
                <a:cs typeface="Plus Jakarta Sans"/>
                <a:sym typeface="Plus Jakarta Sans"/>
              </a:rPr>
              <a:t>RỦI RO NẾU KHÔNG QUYẾT</a:t>
            </a:r>
            <a:endParaRPr b="0" i="0" sz="1425" u="none" cap="none" strike="noStrike">
              <a:solidFill>
                <a:schemeClr val="dk1"/>
              </a:solidFill>
              <a:latin typeface="Calibri"/>
              <a:ea typeface="Calibri"/>
              <a:cs typeface="Calibri"/>
              <a:sym typeface="Calibri"/>
            </a:endParaRPr>
          </a:p>
        </p:txBody>
      </p:sp>
      <p:sp>
        <p:nvSpPr>
          <p:cNvPr id="826" name="Google Shape;826;p24"/>
          <p:cNvSpPr/>
          <p:nvPr/>
        </p:nvSpPr>
        <p:spPr>
          <a:xfrm>
            <a:off x="6665565" y="2905125"/>
            <a:ext cx="55092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[Rủi ro nếu trì hoãn]</a:t>
            </a:r>
            <a:endParaRPr b="0" i="0" sz="1650" u="none" cap="none" strike="noStrike">
              <a:solidFill>
                <a:schemeClr val="dk1"/>
              </a:solidFill>
              <a:latin typeface="Calibri"/>
              <a:ea typeface="Calibri"/>
              <a:cs typeface="Calibri"/>
              <a:sym typeface="Calibri"/>
            </a:endParaRPr>
          </a:p>
        </p:txBody>
      </p:sp>
      <p:sp>
        <p:nvSpPr>
          <p:cNvPr id="827" name="Google Shape;827;p24"/>
          <p:cNvSpPr/>
          <p:nvPr/>
        </p:nvSpPr>
        <p:spPr>
          <a:xfrm>
            <a:off x="11807279" y="2638425"/>
            <a:ext cx="5509200" cy="771600"/>
          </a:xfrm>
          <a:prstGeom prst="roundRect">
            <a:avLst>
              <a:gd fmla="val 12346"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4"/>
          <p:cNvSpPr/>
          <p:nvPr/>
        </p:nvSpPr>
        <p:spPr>
          <a:xfrm>
            <a:off x="11978729" y="2771775"/>
            <a:ext cx="56829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lus Jakarta Sans"/>
              <a:buNone/>
            </a:pPr>
            <a:r>
              <a:rPr b="1" i="0" lang="en-US" sz="1425" u="none" cap="none" strike="noStrike">
                <a:solidFill>
                  <a:srgbClr val="FFFFFF"/>
                </a:solidFill>
                <a:latin typeface="Plus Jakarta Sans"/>
                <a:ea typeface="Plus Jakarta Sans"/>
                <a:cs typeface="Plus Jakarta Sans"/>
                <a:sym typeface="Plus Jakarta Sans"/>
              </a:rPr>
              <a:t>QUYẾT ĐỊNH · DEADLINE [dd/mm]</a:t>
            </a:r>
            <a:endParaRPr b="0" i="0" sz="1425" u="none" cap="none" strike="noStrike">
              <a:solidFill>
                <a:schemeClr val="dk1"/>
              </a:solidFill>
              <a:latin typeface="Calibri"/>
              <a:ea typeface="Calibri"/>
              <a:cs typeface="Calibri"/>
              <a:sym typeface="Calibri"/>
            </a:endParaRPr>
          </a:p>
        </p:txBody>
      </p:sp>
      <p:sp>
        <p:nvSpPr>
          <p:cNvPr id="829" name="Google Shape;829;p24"/>
          <p:cNvSpPr/>
          <p:nvPr/>
        </p:nvSpPr>
        <p:spPr>
          <a:xfrm>
            <a:off x="11978729" y="3038475"/>
            <a:ext cx="56829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Roboto"/>
              <a:buNone/>
            </a:pPr>
            <a:r>
              <a:rPr b="0" i="0" lang="en-US" sz="1650" u="none" cap="none" strike="noStrike">
                <a:solidFill>
                  <a:srgbClr val="FFFFFF"/>
                </a:solidFill>
                <a:latin typeface="Roboto"/>
                <a:ea typeface="Roboto"/>
                <a:cs typeface="Roboto"/>
                <a:sym typeface="Roboto"/>
              </a:rPr>
              <a:t>[Quyết định cần chốt]</a:t>
            </a:r>
            <a:endParaRPr b="0" i="0" sz="1650" u="none" cap="none" strike="noStrike">
              <a:solidFill>
                <a:schemeClr val="dk1"/>
              </a:solidFill>
              <a:latin typeface="Calibri"/>
              <a:ea typeface="Calibri"/>
              <a:cs typeface="Calibri"/>
              <a:sym typeface="Calibri"/>
            </a:endParaRPr>
          </a:p>
        </p:txBody>
      </p:sp>
      <p:sp>
        <p:nvSpPr>
          <p:cNvPr id="830" name="Google Shape;830;p24"/>
          <p:cNvSpPr/>
          <p:nvPr/>
        </p:nvSpPr>
        <p:spPr>
          <a:xfrm>
            <a:off x="762000" y="3714750"/>
            <a:ext cx="16764000" cy="1114500"/>
          </a:xfrm>
          <a:prstGeom prst="roundRect">
            <a:avLst>
              <a:gd fmla="val 11966"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4"/>
          <p:cNvSpPr/>
          <p:nvPr/>
        </p:nvSpPr>
        <p:spPr>
          <a:xfrm>
            <a:off x="933450" y="3886200"/>
            <a:ext cx="495300" cy="809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12749"/>
              </a:buClr>
              <a:buSzPts val="2400"/>
              <a:buFont typeface="Plus Jakarta Sans"/>
              <a:buNone/>
            </a:pPr>
            <a:r>
              <a:rPr b="1" i="0" lang="en-US" sz="2400" u="none" cap="none" strike="noStrike">
                <a:solidFill>
                  <a:srgbClr val="012749"/>
                </a:solidFill>
                <a:latin typeface="Plus Jakarta Sans"/>
                <a:ea typeface="Plus Jakarta Sans"/>
                <a:cs typeface="Plus Jakarta Sans"/>
                <a:sym typeface="Plus Jakarta Sans"/>
              </a:rPr>
              <a:t>2</a:t>
            </a:r>
            <a:endParaRPr b="0" i="0" sz="2400" u="none" cap="none" strike="noStrike">
              <a:solidFill>
                <a:schemeClr val="dk1"/>
              </a:solidFill>
              <a:latin typeface="Calibri"/>
              <a:ea typeface="Calibri"/>
              <a:cs typeface="Calibri"/>
              <a:sym typeface="Calibri"/>
            </a:endParaRPr>
          </a:p>
        </p:txBody>
      </p:sp>
      <p:sp>
        <p:nvSpPr>
          <p:cNvPr id="832" name="Google Shape;832;p24"/>
          <p:cNvSpPr/>
          <p:nvPr/>
        </p:nvSpPr>
        <p:spPr>
          <a:xfrm>
            <a:off x="1524000" y="3886200"/>
            <a:ext cx="55089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425"/>
              <a:buFont typeface="Plus Jakarta Sans"/>
              <a:buNone/>
            </a:pPr>
            <a:r>
              <a:rPr b="1" i="0" lang="en-US" sz="1425" u="none" cap="none" strike="noStrike">
                <a:solidFill>
                  <a:srgbClr val="757D86"/>
                </a:solidFill>
                <a:latin typeface="Plus Jakarta Sans"/>
                <a:ea typeface="Plus Jakarta Sans"/>
                <a:cs typeface="Plus Jakarta Sans"/>
                <a:sym typeface="Plus Jakarta Sans"/>
              </a:rPr>
              <a:t>VẤN ĐỀ</a:t>
            </a:r>
            <a:endParaRPr b="0" i="0" sz="1425" u="none" cap="none" strike="noStrike">
              <a:solidFill>
                <a:schemeClr val="dk1"/>
              </a:solidFill>
              <a:latin typeface="Calibri"/>
              <a:ea typeface="Calibri"/>
              <a:cs typeface="Calibri"/>
              <a:sym typeface="Calibri"/>
            </a:endParaRPr>
          </a:p>
        </p:txBody>
      </p:sp>
      <p:sp>
        <p:nvSpPr>
          <p:cNvPr id="833" name="Google Shape;833;p24"/>
          <p:cNvSpPr/>
          <p:nvPr/>
        </p:nvSpPr>
        <p:spPr>
          <a:xfrm>
            <a:off x="1524000" y="4152900"/>
            <a:ext cx="55089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[Vấn đề 2]</a:t>
            </a:r>
            <a:endParaRPr b="0" i="0" sz="1650" u="none" cap="none" strike="noStrike">
              <a:solidFill>
                <a:schemeClr val="dk1"/>
              </a:solidFill>
              <a:latin typeface="Calibri"/>
              <a:ea typeface="Calibri"/>
              <a:cs typeface="Calibri"/>
              <a:sym typeface="Calibri"/>
            </a:endParaRPr>
          </a:p>
        </p:txBody>
      </p:sp>
      <p:sp>
        <p:nvSpPr>
          <p:cNvPr id="834" name="Google Shape;834;p24"/>
          <p:cNvSpPr/>
          <p:nvPr/>
        </p:nvSpPr>
        <p:spPr>
          <a:xfrm>
            <a:off x="6665565" y="3886200"/>
            <a:ext cx="5509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425"/>
              <a:buFont typeface="Plus Jakarta Sans"/>
              <a:buNone/>
            </a:pPr>
            <a:r>
              <a:rPr b="1" i="0" lang="en-US" sz="1425" u="none" cap="none" strike="noStrike">
                <a:solidFill>
                  <a:srgbClr val="DA1E28"/>
                </a:solidFill>
                <a:latin typeface="Plus Jakarta Sans"/>
                <a:ea typeface="Plus Jakarta Sans"/>
                <a:cs typeface="Plus Jakarta Sans"/>
                <a:sym typeface="Plus Jakarta Sans"/>
              </a:rPr>
              <a:t>RỦI RO NẾU KHÔNG QUYẾT</a:t>
            </a:r>
            <a:endParaRPr b="0" i="0" sz="1425" u="none" cap="none" strike="noStrike">
              <a:solidFill>
                <a:schemeClr val="dk1"/>
              </a:solidFill>
              <a:latin typeface="Calibri"/>
              <a:ea typeface="Calibri"/>
              <a:cs typeface="Calibri"/>
              <a:sym typeface="Calibri"/>
            </a:endParaRPr>
          </a:p>
        </p:txBody>
      </p:sp>
      <p:sp>
        <p:nvSpPr>
          <p:cNvPr id="835" name="Google Shape;835;p24"/>
          <p:cNvSpPr/>
          <p:nvPr/>
        </p:nvSpPr>
        <p:spPr>
          <a:xfrm>
            <a:off x="6665565" y="4152900"/>
            <a:ext cx="55092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[Rủi ro nếu trì hoãn]</a:t>
            </a:r>
            <a:endParaRPr b="0" i="0" sz="1650" u="none" cap="none" strike="noStrike">
              <a:solidFill>
                <a:schemeClr val="dk1"/>
              </a:solidFill>
              <a:latin typeface="Calibri"/>
              <a:ea typeface="Calibri"/>
              <a:cs typeface="Calibri"/>
              <a:sym typeface="Calibri"/>
            </a:endParaRPr>
          </a:p>
        </p:txBody>
      </p:sp>
      <p:sp>
        <p:nvSpPr>
          <p:cNvPr id="836" name="Google Shape;836;p24"/>
          <p:cNvSpPr/>
          <p:nvPr/>
        </p:nvSpPr>
        <p:spPr>
          <a:xfrm>
            <a:off x="11807279" y="3886200"/>
            <a:ext cx="5509200" cy="771600"/>
          </a:xfrm>
          <a:prstGeom prst="roundRect">
            <a:avLst>
              <a:gd fmla="val 12346"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4"/>
          <p:cNvSpPr/>
          <p:nvPr/>
        </p:nvSpPr>
        <p:spPr>
          <a:xfrm>
            <a:off x="11978729" y="4019550"/>
            <a:ext cx="56829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lus Jakarta Sans"/>
              <a:buNone/>
            </a:pPr>
            <a:r>
              <a:rPr b="1" i="0" lang="en-US" sz="1425" u="none" cap="none" strike="noStrike">
                <a:solidFill>
                  <a:srgbClr val="FFFFFF"/>
                </a:solidFill>
                <a:latin typeface="Plus Jakarta Sans"/>
                <a:ea typeface="Plus Jakarta Sans"/>
                <a:cs typeface="Plus Jakarta Sans"/>
                <a:sym typeface="Plus Jakarta Sans"/>
              </a:rPr>
              <a:t>QUYẾT ĐỊNH · DEADLINE [dd/mm]</a:t>
            </a:r>
            <a:endParaRPr b="0" i="0" sz="1425" u="none" cap="none" strike="noStrike">
              <a:solidFill>
                <a:schemeClr val="dk1"/>
              </a:solidFill>
              <a:latin typeface="Calibri"/>
              <a:ea typeface="Calibri"/>
              <a:cs typeface="Calibri"/>
              <a:sym typeface="Calibri"/>
            </a:endParaRPr>
          </a:p>
        </p:txBody>
      </p:sp>
      <p:sp>
        <p:nvSpPr>
          <p:cNvPr id="838" name="Google Shape;838;p24"/>
          <p:cNvSpPr/>
          <p:nvPr/>
        </p:nvSpPr>
        <p:spPr>
          <a:xfrm>
            <a:off x="11978729" y="4286250"/>
            <a:ext cx="56829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Roboto"/>
              <a:buNone/>
            </a:pPr>
            <a:r>
              <a:rPr b="0" i="0" lang="en-US" sz="1650" u="none" cap="none" strike="noStrike">
                <a:solidFill>
                  <a:srgbClr val="FFFFFF"/>
                </a:solidFill>
                <a:latin typeface="Roboto"/>
                <a:ea typeface="Roboto"/>
                <a:cs typeface="Roboto"/>
                <a:sym typeface="Roboto"/>
              </a:rPr>
              <a:t>[Quyết định cần chốt]</a:t>
            </a:r>
            <a:endParaRPr b="0" i="0" sz="1650" u="none" cap="none" strike="noStrike">
              <a:solidFill>
                <a:schemeClr val="dk1"/>
              </a:solidFill>
              <a:latin typeface="Calibri"/>
              <a:ea typeface="Calibri"/>
              <a:cs typeface="Calibri"/>
              <a:sym typeface="Calibri"/>
            </a:endParaRPr>
          </a:p>
        </p:txBody>
      </p:sp>
      <p:sp>
        <p:nvSpPr>
          <p:cNvPr id="839" name="Google Shape;839;p24"/>
          <p:cNvSpPr/>
          <p:nvPr/>
        </p:nvSpPr>
        <p:spPr>
          <a:xfrm>
            <a:off x="762000" y="4962525"/>
            <a:ext cx="16764000" cy="1114500"/>
          </a:xfrm>
          <a:prstGeom prst="roundRect">
            <a:avLst>
              <a:gd fmla="val 11966"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4"/>
          <p:cNvSpPr/>
          <p:nvPr/>
        </p:nvSpPr>
        <p:spPr>
          <a:xfrm>
            <a:off x="933450" y="5133975"/>
            <a:ext cx="495300" cy="809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012749"/>
              </a:buClr>
              <a:buSzPts val="2400"/>
              <a:buFont typeface="Plus Jakarta Sans"/>
              <a:buNone/>
            </a:pPr>
            <a:r>
              <a:rPr b="1" i="0" lang="en-US" sz="2400" u="none" cap="none" strike="noStrike">
                <a:solidFill>
                  <a:srgbClr val="012749"/>
                </a:solidFill>
                <a:latin typeface="Plus Jakarta Sans"/>
                <a:ea typeface="Plus Jakarta Sans"/>
                <a:cs typeface="Plus Jakarta Sans"/>
                <a:sym typeface="Plus Jakarta Sans"/>
              </a:rPr>
              <a:t>3</a:t>
            </a:r>
            <a:endParaRPr b="0" i="0" sz="2400" u="none" cap="none" strike="noStrike">
              <a:solidFill>
                <a:schemeClr val="dk1"/>
              </a:solidFill>
              <a:latin typeface="Calibri"/>
              <a:ea typeface="Calibri"/>
              <a:cs typeface="Calibri"/>
              <a:sym typeface="Calibri"/>
            </a:endParaRPr>
          </a:p>
        </p:txBody>
      </p:sp>
      <p:sp>
        <p:nvSpPr>
          <p:cNvPr id="841" name="Google Shape;841;p24"/>
          <p:cNvSpPr/>
          <p:nvPr/>
        </p:nvSpPr>
        <p:spPr>
          <a:xfrm>
            <a:off x="1524000" y="5133975"/>
            <a:ext cx="55089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425"/>
              <a:buFont typeface="Plus Jakarta Sans"/>
              <a:buNone/>
            </a:pPr>
            <a:r>
              <a:rPr b="1" i="0" lang="en-US" sz="1425" u="none" cap="none" strike="noStrike">
                <a:solidFill>
                  <a:srgbClr val="757D86"/>
                </a:solidFill>
                <a:latin typeface="Plus Jakarta Sans"/>
                <a:ea typeface="Plus Jakarta Sans"/>
                <a:cs typeface="Plus Jakarta Sans"/>
                <a:sym typeface="Plus Jakarta Sans"/>
              </a:rPr>
              <a:t>VẤN ĐỀ</a:t>
            </a:r>
            <a:endParaRPr b="0" i="0" sz="1425" u="none" cap="none" strike="noStrike">
              <a:solidFill>
                <a:schemeClr val="dk1"/>
              </a:solidFill>
              <a:latin typeface="Calibri"/>
              <a:ea typeface="Calibri"/>
              <a:cs typeface="Calibri"/>
              <a:sym typeface="Calibri"/>
            </a:endParaRPr>
          </a:p>
        </p:txBody>
      </p:sp>
      <p:sp>
        <p:nvSpPr>
          <p:cNvPr id="842" name="Google Shape;842;p24"/>
          <p:cNvSpPr/>
          <p:nvPr/>
        </p:nvSpPr>
        <p:spPr>
          <a:xfrm>
            <a:off x="1524000" y="5400675"/>
            <a:ext cx="55089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[Vấn đề 3]</a:t>
            </a:r>
            <a:endParaRPr b="0" i="0" sz="1650" u="none" cap="none" strike="noStrike">
              <a:solidFill>
                <a:schemeClr val="dk1"/>
              </a:solidFill>
              <a:latin typeface="Calibri"/>
              <a:ea typeface="Calibri"/>
              <a:cs typeface="Calibri"/>
              <a:sym typeface="Calibri"/>
            </a:endParaRPr>
          </a:p>
        </p:txBody>
      </p:sp>
      <p:sp>
        <p:nvSpPr>
          <p:cNvPr id="843" name="Google Shape;843;p24"/>
          <p:cNvSpPr/>
          <p:nvPr/>
        </p:nvSpPr>
        <p:spPr>
          <a:xfrm>
            <a:off x="6665565" y="5133975"/>
            <a:ext cx="55092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425"/>
              <a:buFont typeface="Plus Jakarta Sans"/>
              <a:buNone/>
            </a:pPr>
            <a:r>
              <a:rPr b="1" i="0" lang="en-US" sz="1425" u="none" cap="none" strike="noStrike">
                <a:solidFill>
                  <a:srgbClr val="DA1E28"/>
                </a:solidFill>
                <a:latin typeface="Plus Jakarta Sans"/>
                <a:ea typeface="Plus Jakarta Sans"/>
                <a:cs typeface="Plus Jakarta Sans"/>
                <a:sym typeface="Plus Jakarta Sans"/>
              </a:rPr>
              <a:t>RỦI RO NẾU KHÔNG QUYẾT</a:t>
            </a:r>
            <a:endParaRPr b="0" i="0" sz="1425" u="none" cap="none" strike="noStrike">
              <a:solidFill>
                <a:schemeClr val="dk1"/>
              </a:solidFill>
              <a:latin typeface="Calibri"/>
              <a:ea typeface="Calibri"/>
              <a:cs typeface="Calibri"/>
              <a:sym typeface="Calibri"/>
            </a:endParaRPr>
          </a:p>
        </p:txBody>
      </p:sp>
      <p:sp>
        <p:nvSpPr>
          <p:cNvPr id="844" name="Google Shape;844;p24"/>
          <p:cNvSpPr/>
          <p:nvPr/>
        </p:nvSpPr>
        <p:spPr>
          <a:xfrm>
            <a:off x="6665565" y="5400675"/>
            <a:ext cx="55092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650"/>
              <a:buFont typeface="Roboto"/>
              <a:buNone/>
            </a:pPr>
            <a:r>
              <a:rPr b="0" i="0" lang="en-US" sz="1650" u="none" cap="none" strike="noStrike">
                <a:solidFill>
                  <a:srgbClr val="121619"/>
                </a:solidFill>
                <a:latin typeface="Roboto"/>
                <a:ea typeface="Roboto"/>
                <a:cs typeface="Roboto"/>
                <a:sym typeface="Roboto"/>
              </a:rPr>
              <a:t>[Rủi ro nếu trì hoãn]</a:t>
            </a:r>
            <a:endParaRPr b="0" i="0" sz="1650" u="none" cap="none" strike="noStrike">
              <a:solidFill>
                <a:schemeClr val="dk1"/>
              </a:solidFill>
              <a:latin typeface="Calibri"/>
              <a:ea typeface="Calibri"/>
              <a:cs typeface="Calibri"/>
              <a:sym typeface="Calibri"/>
            </a:endParaRPr>
          </a:p>
        </p:txBody>
      </p:sp>
      <p:sp>
        <p:nvSpPr>
          <p:cNvPr id="845" name="Google Shape;845;p24"/>
          <p:cNvSpPr/>
          <p:nvPr/>
        </p:nvSpPr>
        <p:spPr>
          <a:xfrm>
            <a:off x="11807279" y="5133975"/>
            <a:ext cx="5509200" cy="771600"/>
          </a:xfrm>
          <a:prstGeom prst="roundRect">
            <a:avLst>
              <a:gd fmla="val 12346"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4"/>
          <p:cNvSpPr/>
          <p:nvPr/>
        </p:nvSpPr>
        <p:spPr>
          <a:xfrm>
            <a:off x="11978729" y="5267325"/>
            <a:ext cx="5682900" cy="266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425"/>
              <a:buFont typeface="Plus Jakarta Sans"/>
              <a:buNone/>
            </a:pPr>
            <a:r>
              <a:rPr b="1" i="0" lang="en-US" sz="1425" u="none" cap="none" strike="noStrike">
                <a:solidFill>
                  <a:srgbClr val="FFFFFF"/>
                </a:solidFill>
                <a:latin typeface="Plus Jakarta Sans"/>
                <a:ea typeface="Plus Jakarta Sans"/>
                <a:cs typeface="Plus Jakarta Sans"/>
                <a:sym typeface="Plus Jakarta Sans"/>
              </a:rPr>
              <a:t>QUYẾT ĐỊNH · DEADLINE [dd/mm]</a:t>
            </a:r>
            <a:endParaRPr b="0" i="0" sz="1425" u="none" cap="none" strike="noStrike">
              <a:solidFill>
                <a:schemeClr val="dk1"/>
              </a:solidFill>
              <a:latin typeface="Calibri"/>
              <a:ea typeface="Calibri"/>
              <a:cs typeface="Calibri"/>
              <a:sym typeface="Calibri"/>
            </a:endParaRPr>
          </a:p>
        </p:txBody>
      </p:sp>
      <p:sp>
        <p:nvSpPr>
          <p:cNvPr id="847" name="Google Shape;847;p24"/>
          <p:cNvSpPr/>
          <p:nvPr/>
        </p:nvSpPr>
        <p:spPr>
          <a:xfrm>
            <a:off x="11978729" y="5534025"/>
            <a:ext cx="56829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Roboto"/>
              <a:buNone/>
            </a:pPr>
            <a:r>
              <a:rPr b="0" i="0" lang="en-US" sz="1650" u="none" cap="none" strike="noStrike">
                <a:solidFill>
                  <a:srgbClr val="FFFFFF"/>
                </a:solidFill>
                <a:latin typeface="Roboto"/>
                <a:ea typeface="Roboto"/>
                <a:cs typeface="Roboto"/>
                <a:sym typeface="Roboto"/>
              </a:rPr>
              <a:t>[Quyết định cần chốt]</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25"/>
          <p:cNvSpPr/>
          <p:nvPr/>
        </p:nvSpPr>
        <p:spPr>
          <a:xfrm>
            <a:off x="0" y="0"/>
            <a:ext cx="18288000" cy="10287000"/>
          </a:xfrm>
          <a:prstGeom prst="rect">
            <a:avLst/>
          </a:prstGeom>
          <a:gradFill>
            <a:gsLst>
              <a:gs pos="0">
                <a:srgbClr val="012749"/>
              </a:gs>
              <a:gs pos="100000">
                <a:srgbClr val="0E4174"/>
              </a:gs>
            </a:gsLst>
            <a:lin ang="180000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5"/>
          <p:cNvSpPr/>
          <p:nvPr/>
        </p:nvSpPr>
        <p:spPr>
          <a:xfrm>
            <a:off x="762000" y="2395538"/>
            <a:ext cx="18440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Plus Jakarta Sans"/>
              <a:buNone/>
            </a:pPr>
            <a:r>
              <a:rPr b="0" i="0" lang="en-US" sz="1650" u="none" cap="none" strike="noStrike">
                <a:solidFill>
                  <a:srgbClr val="FFFFFF"/>
                </a:solidFill>
                <a:latin typeface="Plus Jakarta Sans"/>
                <a:ea typeface="Plus Jakarta Sans"/>
                <a:cs typeface="Plus Jakarta Sans"/>
                <a:sym typeface="Plus Jakarta Sans"/>
              </a:rPr>
              <a:t>TỔNG KẾT · BOOKEND</a:t>
            </a:r>
            <a:endParaRPr b="0" i="0" sz="1650" u="none" cap="none" strike="noStrike">
              <a:solidFill>
                <a:schemeClr val="dk1"/>
              </a:solidFill>
              <a:latin typeface="Calibri"/>
              <a:ea typeface="Calibri"/>
              <a:cs typeface="Calibri"/>
              <a:sym typeface="Calibri"/>
            </a:endParaRPr>
          </a:p>
        </p:txBody>
      </p:sp>
      <p:sp>
        <p:nvSpPr>
          <p:cNvPr id="855" name="Google Shape;855;p25"/>
          <p:cNvSpPr/>
          <p:nvPr/>
        </p:nvSpPr>
        <p:spPr>
          <a:xfrm>
            <a:off x="762000" y="2719388"/>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300"/>
              <a:buFont typeface="Plus Jakarta Sans"/>
              <a:buNone/>
            </a:pPr>
            <a:r>
              <a:rPr b="1" i="0" lang="en-US" sz="3300" u="none" cap="none" strike="noStrike">
                <a:solidFill>
                  <a:srgbClr val="FFFFFF"/>
                </a:solidFill>
                <a:latin typeface="Plus Jakarta Sans"/>
                <a:ea typeface="Plus Jakarta Sans"/>
                <a:cs typeface="Plus Jakarta Sans"/>
                <a:sym typeface="Plus Jakarta Sans"/>
              </a:rPr>
              <a:t>Tổng kết — quay lại các câu hỏi đầu báo cáo</a:t>
            </a:r>
            <a:endParaRPr b="0" i="0" sz="3300" u="none" cap="none" strike="noStrike">
              <a:solidFill>
                <a:schemeClr val="dk1"/>
              </a:solidFill>
              <a:latin typeface="Calibri"/>
              <a:ea typeface="Calibri"/>
              <a:cs typeface="Calibri"/>
              <a:sym typeface="Calibri"/>
            </a:endParaRPr>
          </a:p>
        </p:txBody>
      </p:sp>
      <p:sp>
        <p:nvSpPr>
          <p:cNvPr id="856" name="Google Shape;856;p25"/>
          <p:cNvSpPr/>
          <p:nvPr/>
        </p:nvSpPr>
        <p:spPr>
          <a:xfrm>
            <a:off x="762000" y="3500438"/>
            <a:ext cx="16764000" cy="981000"/>
          </a:xfrm>
          <a:prstGeom prst="roundRect">
            <a:avLst>
              <a:gd fmla="val 13592" name="adj"/>
            </a:avLst>
          </a:prstGeom>
          <a:solidFill>
            <a:srgbClr val="FFFFFF">
              <a:alpha val="1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5"/>
          <p:cNvSpPr/>
          <p:nvPr/>
        </p:nvSpPr>
        <p:spPr>
          <a:xfrm>
            <a:off x="1009650" y="3690937"/>
            <a:ext cx="191100" cy="638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EA362"/>
              </a:buClr>
              <a:buSzPts val="2250"/>
              <a:buFont typeface="Plus Jakarta Sans"/>
              <a:buNone/>
            </a:pPr>
            <a:r>
              <a:rPr b="1" i="0" lang="en-US" sz="2250" u="none" cap="none" strike="noStrike">
                <a:solidFill>
                  <a:srgbClr val="FEA362"/>
                </a:solidFill>
                <a:latin typeface="Plus Jakarta Sans"/>
                <a:ea typeface="Plus Jakarta Sans"/>
                <a:cs typeface="Plus Jakarta Sans"/>
                <a:sym typeface="Plus Jakarta Sans"/>
              </a:rPr>
              <a:t>1</a:t>
            </a:r>
            <a:endParaRPr b="0" i="0" sz="2250" u="none" cap="none" strike="noStrike">
              <a:solidFill>
                <a:schemeClr val="dk1"/>
              </a:solidFill>
              <a:latin typeface="Calibri"/>
              <a:ea typeface="Calibri"/>
              <a:cs typeface="Calibri"/>
              <a:sym typeface="Calibri"/>
            </a:endParaRPr>
          </a:p>
        </p:txBody>
      </p:sp>
      <p:sp>
        <p:nvSpPr>
          <p:cNvPr id="858" name="Google Shape;858;p25"/>
          <p:cNvSpPr/>
          <p:nvPr/>
        </p:nvSpPr>
        <p:spPr>
          <a:xfrm>
            <a:off x="1315194" y="3690937"/>
            <a:ext cx="4073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[Câu hỏi mở 1]</a:t>
            </a:r>
            <a:endParaRPr b="0" i="0" sz="1800" u="none" cap="none" strike="noStrike">
              <a:solidFill>
                <a:schemeClr val="dk1"/>
              </a:solidFill>
              <a:latin typeface="Calibri"/>
              <a:ea typeface="Calibri"/>
              <a:cs typeface="Calibri"/>
              <a:sym typeface="Calibri"/>
            </a:endParaRPr>
          </a:p>
        </p:txBody>
      </p:sp>
      <p:sp>
        <p:nvSpPr>
          <p:cNvPr id="859" name="Google Shape;859;p25"/>
          <p:cNvSpPr/>
          <p:nvPr/>
        </p:nvSpPr>
        <p:spPr>
          <a:xfrm>
            <a:off x="1315194" y="4033837"/>
            <a:ext cx="40734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725"/>
              <a:buFont typeface="Roboto"/>
              <a:buNone/>
            </a:pPr>
            <a:r>
              <a:rPr b="0" i="0" lang="en-US" sz="1725" u="none" cap="none" strike="noStrike">
                <a:solidFill>
                  <a:srgbClr val="FFFFFF"/>
                </a:solidFill>
                <a:latin typeface="Roboto"/>
                <a:ea typeface="Roboto"/>
                <a:cs typeface="Roboto"/>
                <a:sym typeface="Roboto"/>
              </a:rPr>
              <a:t>[Câu trả lời dựa trên nội dung báo cáo]</a:t>
            </a:r>
            <a:endParaRPr b="0" i="0" sz="1725" u="none" cap="none" strike="noStrike">
              <a:solidFill>
                <a:schemeClr val="dk1"/>
              </a:solidFill>
              <a:latin typeface="Calibri"/>
              <a:ea typeface="Calibri"/>
              <a:cs typeface="Calibri"/>
              <a:sym typeface="Calibri"/>
            </a:endParaRPr>
          </a:p>
        </p:txBody>
      </p:sp>
      <p:sp>
        <p:nvSpPr>
          <p:cNvPr id="860" name="Google Shape;860;p25"/>
          <p:cNvSpPr/>
          <p:nvPr/>
        </p:nvSpPr>
        <p:spPr>
          <a:xfrm>
            <a:off x="762000" y="4633913"/>
            <a:ext cx="16764000" cy="981000"/>
          </a:xfrm>
          <a:prstGeom prst="roundRect">
            <a:avLst>
              <a:gd fmla="val 13592" name="adj"/>
            </a:avLst>
          </a:prstGeom>
          <a:solidFill>
            <a:srgbClr val="FFFFFF">
              <a:alpha val="1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5"/>
          <p:cNvSpPr/>
          <p:nvPr/>
        </p:nvSpPr>
        <p:spPr>
          <a:xfrm>
            <a:off x="1009650" y="4824413"/>
            <a:ext cx="246900" cy="638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EA362"/>
              </a:buClr>
              <a:buSzPts val="2250"/>
              <a:buFont typeface="Plus Jakarta Sans"/>
              <a:buNone/>
            </a:pPr>
            <a:r>
              <a:rPr b="1" i="0" lang="en-US" sz="2250" u="none" cap="none" strike="noStrike">
                <a:solidFill>
                  <a:srgbClr val="FEA362"/>
                </a:solidFill>
                <a:latin typeface="Plus Jakarta Sans"/>
                <a:ea typeface="Plus Jakarta Sans"/>
                <a:cs typeface="Plus Jakarta Sans"/>
                <a:sym typeface="Plus Jakarta Sans"/>
              </a:rPr>
              <a:t>2</a:t>
            </a:r>
            <a:endParaRPr b="0" i="0" sz="2250" u="none" cap="none" strike="noStrike">
              <a:solidFill>
                <a:schemeClr val="dk1"/>
              </a:solidFill>
              <a:latin typeface="Calibri"/>
              <a:ea typeface="Calibri"/>
              <a:cs typeface="Calibri"/>
              <a:sym typeface="Calibri"/>
            </a:endParaRPr>
          </a:p>
        </p:txBody>
      </p:sp>
      <p:sp>
        <p:nvSpPr>
          <p:cNvPr id="862" name="Google Shape;862;p25"/>
          <p:cNvSpPr/>
          <p:nvPr/>
        </p:nvSpPr>
        <p:spPr>
          <a:xfrm>
            <a:off x="1370856" y="4824413"/>
            <a:ext cx="4073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[Câu hỏi mở 2]</a:t>
            </a:r>
            <a:endParaRPr b="0" i="0" sz="1800" u="none" cap="none" strike="noStrike">
              <a:solidFill>
                <a:schemeClr val="dk1"/>
              </a:solidFill>
              <a:latin typeface="Calibri"/>
              <a:ea typeface="Calibri"/>
              <a:cs typeface="Calibri"/>
              <a:sym typeface="Calibri"/>
            </a:endParaRPr>
          </a:p>
        </p:txBody>
      </p:sp>
      <p:sp>
        <p:nvSpPr>
          <p:cNvPr id="863" name="Google Shape;863;p25"/>
          <p:cNvSpPr/>
          <p:nvPr/>
        </p:nvSpPr>
        <p:spPr>
          <a:xfrm>
            <a:off x="1370856" y="5167313"/>
            <a:ext cx="40734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725"/>
              <a:buFont typeface="Roboto"/>
              <a:buNone/>
            </a:pPr>
            <a:r>
              <a:rPr b="0" i="0" lang="en-US" sz="1725" u="none" cap="none" strike="noStrike">
                <a:solidFill>
                  <a:srgbClr val="FFFFFF"/>
                </a:solidFill>
                <a:latin typeface="Roboto"/>
                <a:ea typeface="Roboto"/>
                <a:cs typeface="Roboto"/>
                <a:sym typeface="Roboto"/>
              </a:rPr>
              <a:t>[Câu trả lời dựa trên nội dung báo cáo]</a:t>
            </a:r>
            <a:endParaRPr b="0" i="0" sz="1725" u="none" cap="none" strike="noStrike">
              <a:solidFill>
                <a:schemeClr val="dk1"/>
              </a:solidFill>
              <a:latin typeface="Calibri"/>
              <a:ea typeface="Calibri"/>
              <a:cs typeface="Calibri"/>
              <a:sym typeface="Calibri"/>
            </a:endParaRPr>
          </a:p>
        </p:txBody>
      </p:sp>
      <p:sp>
        <p:nvSpPr>
          <p:cNvPr id="864" name="Google Shape;864;p25"/>
          <p:cNvSpPr/>
          <p:nvPr/>
        </p:nvSpPr>
        <p:spPr>
          <a:xfrm>
            <a:off x="762000" y="5767388"/>
            <a:ext cx="16764000" cy="981000"/>
          </a:xfrm>
          <a:prstGeom prst="roundRect">
            <a:avLst>
              <a:gd fmla="val 13592" name="adj"/>
            </a:avLst>
          </a:prstGeom>
          <a:solidFill>
            <a:srgbClr val="FFFFFF">
              <a:alpha val="1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5"/>
          <p:cNvSpPr/>
          <p:nvPr/>
        </p:nvSpPr>
        <p:spPr>
          <a:xfrm>
            <a:off x="1009650" y="5957888"/>
            <a:ext cx="250800" cy="638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EA362"/>
              </a:buClr>
              <a:buSzPts val="2250"/>
              <a:buFont typeface="Plus Jakarta Sans"/>
              <a:buNone/>
            </a:pPr>
            <a:r>
              <a:rPr b="1" i="0" lang="en-US" sz="2250" u="none" cap="none" strike="noStrike">
                <a:solidFill>
                  <a:srgbClr val="FEA362"/>
                </a:solidFill>
                <a:latin typeface="Plus Jakarta Sans"/>
                <a:ea typeface="Plus Jakarta Sans"/>
                <a:cs typeface="Plus Jakarta Sans"/>
                <a:sym typeface="Plus Jakarta Sans"/>
              </a:rPr>
              <a:t>3</a:t>
            </a:r>
            <a:endParaRPr b="0" i="0" sz="2250" u="none" cap="none" strike="noStrike">
              <a:solidFill>
                <a:schemeClr val="dk1"/>
              </a:solidFill>
              <a:latin typeface="Calibri"/>
              <a:ea typeface="Calibri"/>
              <a:cs typeface="Calibri"/>
              <a:sym typeface="Calibri"/>
            </a:endParaRPr>
          </a:p>
        </p:txBody>
      </p:sp>
      <p:sp>
        <p:nvSpPr>
          <p:cNvPr id="866" name="Google Shape;866;p25"/>
          <p:cNvSpPr/>
          <p:nvPr/>
        </p:nvSpPr>
        <p:spPr>
          <a:xfrm>
            <a:off x="1374874" y="5957888"/>
            <a:ext cx="4073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[Câu hỏi mở 3]</a:t>
            </a:r>
            <a:endParaRPr b="0" i="0" sz="1800" u="none" cap="none" strike="noStrike">
              <a:solidFill>
                <a:schemeClr val="dk1"/>
              </a:solidFill>
              <a:latin typeface="Calibri"/>
              <a:ea typeface="Calibri"/>
              <a:cs typeface="Calibri"/>
              <a:sym typeface="Calibri"/>
            </a:endParaRPr>
          </a:p>
        </p:txBody>
      </p:sp>
      <p:sp>
        <p:nvSpPr>
          <p:cNvPr id="867" name="Google Shape;867;p25"/>
          <p:cNvSpPr/>
          <p:nvPr/>
        </p:nvSpPr>
        <p:spPr>
          <a:xfrm>
            <a:off x="1374874" y="6300788"/>
            <a:ext cx="40734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725"/>
              <a:buFont typeface="Roboto"/>
              <a:buNone/>
            </a:pPr>
            <a:r>
              <a:rPr b="0" i="0" lang="en-US" sz="1725" u="none" cap="none" strike="noStrike">
                <a:solidFill>
                  <a:srgbClr val="FFFFFF"/>
                </a:solidFill>
                <a:latin typeface="Roboto"/>
                <a:ea typeface="Roboto"/>
                <a:cs typeface="Roboto"/>
                <a:sym typeface="Roboto"/>
              </a:rPr>
              <a:t>[Câu trả lời dựa trên nội dung báo cáo]</a:t>
            </a:r>
            <a:endParaRPr b="0" i="0" sz="1725" u="none" cap="none" strike="noStrike">
              <a:solidFill>
                <a:schemeClr val="dk1"/>
              </a:solidFill>
              <a:latin typeface="Calibri"/>
              <a:ea typeface="Calibri"/>
              <a:cs typeface="Calibri"/>
              <a:sym typeface="Calibri"/>
            </a:endParaRPr>
          </a:p>
        </p:txBody>
      </p:sp>
      <p:sp>
        <p:nvSpPr>
          <p:cNvPr id="868" name="Google Shape;868;p25"/>
          <p:cNvSpPr/>
          <p:nvPr/>
        </p:nvSpPr>
        <p:spPr>
          <a:xfrm>
            <a:off x="762000" y="7072313"/>
            <a:ext cx="184404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2100"/>
              <a:buFont typeface="Plus Jakarta Sans"/>
              <a:buNone/>
            </a:pPr>
            <a:r>
              <a:rPr b="1" i="0" lang="en-US" sz="2100" u="none" cap="none" strike="noStrike">
                <a:solidFill>
                  <a:srgbClr val="FFFFFF"/>
                </a:solidFill>
                <a:latin typeface="Plus Jakarta Sans"/>
                <a:ea typeface="Plus Jakarta Sans"/>
                <a:cs typeface="Plus Jakarta Sans"/>
                <a:sym typeface="Plus Jakarta Sans"/>
              </a:rPr>
              <a:t>[Định hướng trọng tâm cho kỳ tiếp theo, 1 câu.]</a:t>
            </a:r>
            <a:endParaRPr b="0" i="0" sz="2100" u="none" cap="none" strike="noStrike">
              <a:solidFill>
                <a:schemeClr val="dk1"/>
              </a:solidFill>
              <a:latin typeface="Calibri"/>
              <a:ea typeface="Calibri"/>
              <a:cs typeface="Calibri"/>
              <a:sym typeface="Calibri"/>
            </a:endParaRPr>
          </a:p>
        </p:txBody>
      </p:sp>
      <p:sp>
        <p:nvSpPr>
          <p:cNvPr id="869" name="Google Shape;869;p25"/>
          <p:cNvSpPr/>
          <p:nvPr/>
        </p:nvSpPr>
        <p:spPr>
          <a:xfrm>
            <a:off x="762000" y="7653337"/>
            <a:ext cx="18440400" cy="2763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650"/>
              <a:buFont typeface="Roboto"/>
              <a:buNone/>
            </a:pPr>
            <a:r>
              <a:rPr b="0" i="0" lang="en-US" sz="1650" u="none" cap="none" strike="noStrike">
                <a:solidFill>
                  <a:srgbClr val="FFFFFF"/>
                </a:solidFill>
                <a:latin typeface="Roboto"/>
                <a:ea typeface="Roboto"/>
                <a:cs typeface="Roboto"/>
                <a:sym typeface="Roboto"/>
              </a:rPr>
              <a:t>Ahamove — Driver Management | Confidential</a:t>
            </a:r>
            <a:endParaRPr b="0" i="0" sz="16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26"/>
          <p:cNvSpPr/>
          <p:nvPr/>
        </p:nvSpPr>
        <p:spPr>
          <a:xfrm>
            <a:off x="0" y="0"/>
            <a:ext cx="18288000" cy="10287000"/>
          </a:xfrm>
          <a:prstGeom prst="rect">
            <a:avLst/>
          </a:prstGeom>
          <a:gradFill>
            <a:gsLst>
              <a:gs pos="0">
                <a:srgbClr val="FFFFFF"/>
              </a:gs>
              <a:gs pos="100000">
                <a:srgbClr val="E4F2F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6"/>
          <p:cNvSpPr/>
          <p:nvPr/>
        </p:nvSpPr>
        <p:spPr>
          <a:xfrm>
            <a:off x="14097000" y="-1524000"/>
            <a:ext cx="5334000" cy="5334000"/>
          </a:xfrm>
          <a:prstGeom prst="ellipse">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6"/>
          <p:cNvSpPr/>
          <p:nvPr/>
        </p:nvSpPr>
        <p:spPr>
          <a:xfrm>
            <a:off x="13144500" y="-2476500"/>
            <a:ext cx="4000500" cy="4000500"/>
          </a:xfrm>
          <a:prstGeom prst="ellipse">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78" name="Google Shape;878;p26"/>
          <p:cNvPicPr preferRelativeResize="0"/>
          <p:nvPr/>
        </p:nvPicPr>
        <p:blipFill rotWithShape="1">
          <a:blip r:embed="rId3">
            <a:alphaModFix/>
          </a:blip>
          <a:srcRect b="0" l="0" r="0" t="0"/>
          <a:stretch/>
        </p:blipFill>
        <p:spPr>
          <a:xfrm>
            <a:off x="762000" y="790575"/>
            <a:ext cx="3087738" cy="533400"/>
          </a:xfrm>
          <a:prstGeom prst="rect">
            <a:avLst/>
          </a:prstGeom>
          <a:noFill/>
          <a:ln>
            <a:noFill/>
          </a:ln>
        </p:spPr>
      </p:pic>
      <p:sp>
        <p:nvSpPr>
          <p:cNvPr id="879" name="Google Shape;879;p26"/>
          <p:cNvSpPr/>
          <p:nvPr/>
        </p:nvSpPr>
        <p:spPr>
          <a:xfrm>
            <a:off x="13542020" y="762000"/>
            <a:ext cx="3984000" cy="5907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6"/>
          <p:cNvSpPr/>
          <p:nvPr/>
        </p:nvSpPr>
        <p:spPr>
          <a:xfrm>
            <a:off x="13846820" y="914400"/>
            <a:ext cx="3493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Tuần báo cáo: 04–10/08/2026</a:t>
            </a:r>
            <a:endParaRPr b="0" i="0" sz="1800" u="none" cap="none" strike="noStrike">
              <a:solidFill>
                <a:schemeClr val="dk1"/>
              </a:solidFill>
              <a:latin typeface="Calibri"/>
              <a:ea typeface="Calibri"/>
              <a:cs typeface="Calibri"/>
              <a:sym typeface="Calibri"/>
            </a:endParaRPr>
          </a:p>
        </p:txBody>
      </p:sp>
      <p:sp>
        <p:nvSpPr>
          <p:cNvPr id="881" name="Google Shape;881;p26"/>
          <p:cNvSpPr/>
          <p:nvPr/>
        </p:nvSpPr>
        <p:spPr>
          <a:xfrm>
            <a:off x="762000" y="3421410"/>
            <a:ext cx="157161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4174"/>
              </a:buClr>
              <a:buSzPts val="2100"/>
              <a:buFont typeface="Plus Jakarta Sans"/>
              <a:buNone/>
            </a:pPr>
            <a:r>
              <a:rPr b="1" i="0" lang="en-US" sz="2100" u="none" cap="none" strike="noStrike">
                <a:solidFill>
                  <a:srgbClr val="0E4174"/>
                </a:solidFill>
                <a:latin typeface="Plus Jakarta Sans"/>
                <a:ea typeface="Plus Jakarta Sans"/>
                <a:cs typeface="Plus Jakarta Sans"/>
                <a:sym typeface="Plus Jakarta Sans"/>
              </a:rPr>
              <a:t>DRIVER MANAGEMENT</a:t>
            </a:r>
            <a:endParaRPr b="0" i="0" sz="2100" u="none" cap="none" strike="noStrike">
              <a:solidFill>
                <a:schemeClr val="dk1"/>
              </a:solidFill>
              <a:latin typeface="Calibri"/>
              <a:ea typeface="Calibri"/>
              <a:cs typeface="Calibri"/>
              <a:sym typeface="Calibri"/>
            </a:endParaRPr>
          </a:p>
        </p:txBody>
      </p:sp>
      <p:sp>
        <p:nvSpPr>
          <p:cNvPr id="882" name="Google Shape;882;p26"/>
          <p:cNvSpPr/>
          <p:nvPr/>
        </p:nvSpPr>
        <p:spPr>
          <a:xfrm>
            <a:off x="762000" y="3983385"/>
            <a:ext cx="14716200" cy="1958400"/>
          </a:xfrm>
          <a:prstGeom prst="rect">
            <a:avLst/>
          </a:prstGeom>
          <a:noFill/>
          <a:ln>
            <a:noFill/>
          </a:ln>
        </p:spPr>
        <p:txBody>
          <a:bodyPr anchorCtr="0" anchor="t" bIns="25400" lIns="25400" spcFirstLastPara="1" rIns="25400" wrap="square" tIns="25400">
            <a:noAutofit/>
          </a:bodyPr>
          <a:lstStyle/>
          <a:p>
            <a:pPr indent="0" lvl="0" marL="0" marR="0" rtl="0" algn="l">
              <a:lnSpc>
                <a:spcPct val="83306"/>
              </a:lnSpc>
              <a:spcBef>
                <a:spcPts val="0"/>
              </a:spcBef>
              <a:spcAft>
                <a:spcPts val="0"/>
              </a:spcAft>
              <a:buClr>
                <a:srgbClr val="012749"/>
              </a:buClr>
              <a:buSzPts val="7200"/>
              <a:buFont typeface="Plus Jakarta Sans"/>
              <a:buNone/>
            </a:pPr>
            <a:r>
              <a:rPr b="1" i="0" lang="en-US" sz="7200" u="none" cap="none" strike="noStrike">
                <a:solidFill>
                  <a:srgbClr val="012749"/>
                </a:solidFill>
                <a:latin typeface="Plus Jakarta Sans"/>
                <a:ea typeface="Plus Jakarta Sans"/>
                <a:cs typeface="Plus Jakarta Sans"/>
                <a:sym typeface="Plus Jakarta Sans"/>
              </a:rPr>
              <a:t>DM NW WEEKLY </a:t>
            </a:r>
            <a:r>
              <a:rPr b="1" i="0" lang="en-US" sz="7200" u="none" cap="none" strike="noStrike">
                <a:solidFill>
                  <a:srgbClr val="FF7F32"/>
                </a:solidFill>
                <a:latin typeface="Plus Jakarta Sans"/>
                <a:ea typeface="Plus Jakarta Sans"/>
                <a:cs typeface="Plus Jakarta Sans"/>
                <a:sym typeface="Plus Jakarta Sans"/>
              </a:rPr>
              <a:t>MEETING REPORT</a:t>
            </a:r>
            <a:endParaRPr b="0" i="0" sz="7200" u="none" cap="none" strike="noStrike">
              <a:solidFill>
                <a:schemeClr val="dk1"/>
              </a:solidFill>
              <a:latin typeface="Calibri"/>
              <a:ea typeface="Calibri"/>
              <a:cs typeface="Calibri"/>
              <a:sym typeface="Calibri"/>
            </a:endParaRPr>
          </a:p>
        </p:txBody>
      </p:sp>
      <p:sp>
        <p:nvSpPr>
          <p:cNvPr id="883" name="Google Shape;883;p26"/>
          <p:cNvSpPr/>
          <p:nvPr/>
        </p:nvSpPr>
        <p:spPr>
          <a:xfrm>
            <a:off x="762000" y="6132165"/>
            <a:ext cx="11772900" cy="762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2400"/>
              <a:buFont typeface="Roboto"/>
              <a:buNone/>
            </a:pPr>
            <a:r>
              <a:rPr b="0" i="0" lang="en-US" sz="2400" u="none" cap="none" strike="noStrike">
                <a:solidFill>
                  <a:srgbClr val="4C5158"/>
                </a:solidFill>
                <a:latin typeface="Roboto"/>
                <a:ea typeface="Roboto"/>
                <a:cs typeface="Roboto"/>
                <a:sym typeface="Roboto"/>
              </a:rPr>
              <a:t>Tổng hợp hiệu suất vận hành HAN &amp; SGN — Retention, Supply, MiniHub, Cityzone, Growth, Communications &amp; Partnership.</a:t>
            </a:r>
            <a:endParaRPr b="0" i="0" sz="2400" u="none" cap="none" strike="noStrike">
              <a:solidFill>
                <a:schemeClr val="dk1"/>
              </a:solidFill>
              <a:latin typeface="Calibri"/>
              <a:ea typeface="Calibri"/>
              <a:cs typeface="Calibri"/>
              <a:sym typeface="Calibri"/>
            </a:endParaRPr>
          </a:p>
        </p:txBody>
      </p:sp>
      <p:sp>
        <p:nvSpPr>
          <p:cNvPr id="884" name="Google Shape;884;p26"/>
          <p:cNvSpPr/>
          <p:nvPr/>
        </p:nvSpPr>
        <p:spPr>
          <a:xfrm>
            <a:off x="762000" y="8924925"/>
            <a:ext cx="35742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Người trình bày</a:t>
            </a:r>
            <a:endParaRPr b="0" i="0" sz="1800" u="none" cap="none" strike="noStrike">
              <a:solidFill>
                <a:schemeClr val="dk1"/>
              </a:solidFill>
              <a:latin typeface="Calibri"/>
              <a:ea typeface="Calibri"/>
              <a:cs typeface="Calibri"/>
              <a:sym typeface="Calibri"/>
            </a:endParaRPr>
          </a:p>
        </p:txBody>
      </p:sp>
      <p:sp>
        <p:nvSpPr>
          <p:cNvPr id="885" name="Google Shape;885;p26"/>
          <p:cNvSpPr/>
          <p:nvPr/>
        </p:nvSpPr>
        <p:spPr>
          <a:xfrm>
            <a:off x="762000" y="9191625"/>
            <a:ext cx="35742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Driver Management Team</a:t>
            </a:r>
            <a:endParaRPr b="0" i="0" sz="2100" u="none" cap="none" strike="noStrike">
              <a:solidFill>
                <a:schemeClr val="dk1"/>
              </a:solidFill>
              <a:latin typeface="Calibri"/>
              <a:ea typeface="Calibri"/>
              <a:cs typeface="Calibri"/>
              <a:sym typeface="Calibri"/>
            </a:endParaRPr>
          </a:p>
        </p:txBody>
      </p:sp>
      <p:sp>
        <p:nvSpPr>
          <p:cNvPr id="886" name="Google Shape;886;p26"/>
          <p:cNvSpPr/>
          <p:nvPr/>
        </p:nvSpPr>
        <p:spPr>
          <a:xfrm>
            <a:off x="4468416" y="8924925"/>
            <a:ext cx="16095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Khu vực</a:t>
            </a:r>
            <a:endParaRPr b="0" i="0" sz="1800" u="none" cap="none" strike="noStrike">
              <a:solidFill>
                <a:schemeClr val="dk1"/>
              </a:solidFill>
              <a:latin typeface="Calibri"/>
              <a:ea typeface="Calibri"/>
              <a:cs typeface="Calibri"/>
              <a:sym typeface="Calibri"/>
            </a:endParaRPr>
          </a:p>
        </p:txBody>
      </p:sp>
      <p:sp>
        <p:nvSpPr>
          <p:cNvPr id="887" name="Google Shape;887;p26"/>
          <p:cNvSpPr/>
          <p:nvPr/>
        </p:nvSpPr>
        <p:spPr>
          <a:xfrm>
            <a:off x="4468416" y="9191625"/>
            <a:ext cx="16095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HAN &amp; SGN</a:t>
            </a:r>
            <a:endParaRPr b="0" i="0" sz="2100" u="none" cap="none" strike="noStrike">
              <a:solidFill>
                <a:schemeClr val="dk1"/>
              </a:solidFill>
              <a:latin typeface="Calibri"/>
              <a:ea typeface="Calibri"/>
              <a:cs typeface="Calibri"/>
              <a:sym typeface="Calibri"/>
            </a:endParaRPr>
          </a:p>
        </p:txBody>
      </p:sp>
      <p:sp>
        <p:nvSpPr>
          <p:cNvPr id="888" name="Google Shape;888;p26"/>
          <p:cNvSpPr/>
          <p:nvPr/>
        </p:nvSpPr>
        <p:spPr>
          <a:xfrm>
            <a:off x="12892385" y="9258300"/>
            <a:ext cx="50970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Ahamove — Driver Management | Confidential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3" name="Shape 893"/>
        <p:cNvGrpSpPr/>
        <p:nvPr/>
      </p:nvGrpSpPr>
      <p:grpSpPr>
        <a:xfrm>
          <a:off x="0" y="0"/>
          <a:ext cx="0" cy="0"/>
          <a:chOff x="0" y="0"/>
          <a:chExt cx="0" cy="0"/>
        </a:xfrm>
      </p:grpSpPr>
      <p:sp>
        <p:nvSpPr>
          <p:cNvPr id="894" name="Google Shape;894;p27"/>
          <p:cNvSpPr/>
          <p:nvPr/>
        </p:nvSpPr>
        <p:spPr>
          <a:xfrm>
            <a:off x="762000" y="533400"/>
            <a:ext cx="13482900" cy="619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3600"/>
              <a:buFont typeface="Plus Jakarta Sans"/>
              <a:buNone/>
            </a:pPr>
            <a:r>
              <a:rPr b="1" i="0" lang="en-US" sz="3600" u="none" cap="none" strike="noStrike">
                <a:solidFill>
                  <a:srgbClr val="012749"/>
                </a:solidFill>
                <a:latin typeface="Plus Jakarta Sans"/>
                <a:ea typeface="Plus Jakarta Sans"/>
                <a:cs typeface="Plus Jakarta Sans"/>
                <a:sym typeface="Plus Jakarta Sans"/>
              </a:rPr>
              <a:t>EXECUTIVE SUMMARY</a:t>
            </a:r>
            <a:endParaRPr b="0" i="0" sz="3600" u="none" cap="none" strike="noStrike">
              <a:solidFill>
                <a:schemeClr val="dk1"/>
              </a:solidFill>
              <a:latin typeface="Calibri"/>
              <a:ea typeface="Calibri"/>
              <a:cs typeface="Calibri"/>
              <a:sym typeface="Calibri"/>
            </a:endParaRPr>
          </a:p>
        </p:txBody>
      </p:sp>
      <p:sp>
        <p:nvSpPr>
          <p:cNvPr id="895" name="Google Shape;895;p27"/>
          <p:cNvSpPr/>
          <p:nvPr/>
        </p:nvSpPr>
        <p:spPr>
          <a:xfrm>
            <a:off x="762000" y="1152525"/>
            <a:ext cx="134829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Tổng quan hiệu suất tuần — HAN &amp; NW</a:t>
            </a:r>
            <a:endParaRPr b="0" i="0" sz="1950" u="none" cap="none" strike="noStrike">
              <a:solidFill>
                <a:schemeClr val="dk1"/>
              </a:solidFill>
              <a:latin typeface="Calibri"/>
              <a:ea typeface="Calibri"/>
              <a:cs typeface="Calibri"/>
              <a:sym typeface="Calibri"/>
            </a:endParaRPr>
          </a:p>
        </p:txBody>
      </p:sp>
      <p:sp>
        <p:nvSpPr>
          <p:cNvPr id="896" name="Google Shape;896;p27"/>
          <p:cNvSpPr/>
          <p:nvPr/>
        </p:nvSpPr>
        <p:spPr>
          <a:xfrm>
            <a:off x="762000" y="1533525"/>
            <a:ext cx="122571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7"/>
          <p:cNvSpPr/>
          <p:nvPr/>
        </p:nvSpPr>
        <p:spPr>
          <a:xfrm>
            <a:off x="952500" y="1647825"/>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898" name="Google Shape;898;p27"/>
          <p:cNvSpPr/>
          <p:nvPr/>
        </p:nvSpPr>
        <p:spPr>
          <a:xfrm>
            <a:off x="3157240" y="1657350"/>
            <a:ext cx="9961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Các chỉ số cốt lõi đều cải thiện WoW/MoM; cần theo dõi RPH &amp; FR tại HAN và retention tại SGN.</a:t>
            </a:r>
            <a:endParaRPr b="0" i="0" sz="1800" u="none" cap="none" strike="noStrike">
              <a:solidFill>
                <a:schemeClr val="dk1"/>
              </a:solidFill>
              <a:latin typeface="Calibri"/>
              <a:ea typeface="Calibri"/>
              <a:cs typeface="Calibri"/>
              <a:sym typeface="Calibri"/>
            </a:endParaRPr>
          </a:p>
        </p:txBody>
      </p:sp>
      <p:sp>
        <p:nvSpPr>
          <p:cNvPr id="899" name="Google Shape;899;p27"/>
          <p:cNvSpPr/>
          <p:nvPr/>
        </p:nvSpPr>
        <p:spPr>
          <a:xfrm>
            <a:off x="14183140" y="533400"/>
            <a:ext cx="3342900" cy="5715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Ahamove — Driver Management Confidential</a:t>
            </a:r>
            <a:endParaRPr b="0" i="0" sz="1800" u="none" cap="none" strike="noStrike">
              <a:solidFill>
                <a:schemeClr val="dk1"/>
              </a:solidFill>
              <a:latin typeface="Calibri"/>
              <a:ea typeface="Calibri"/>
              <a:cs typeface="Calibri"/>
              <a:sym typeface="Calibri"/>
            </a:endParaRPr>
          </a:p>
        </p:txBody>
      </p:sp>
      <p:sp>
        <p:nvSpPr>
          <p:cNvPr id="900" name="Google Shape;900;p27"/>
          <p:cNvSpPr/>
          <p:nvPr/>
        </p:nvSpPr>
        <p:spPr>
          <a:xfrm>
            <a:off x="704850" y="2257425"/>
            <a:ext cx="4048200" cy="1571700"/>
          </a:xfrm>
          <a:prstGeom prst="roundRect">
            <a:avLst>
              <a:gd fmla="val 13333" name="adj"/>
            </a:avLst>
          </a:prstGeom>
          <a:solidFill>
            <a:srgbClr val="0E41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7"/>
          <p:cNvSpPr/>
          <p:nvPr/>
        </p:nvSpPr>
        <p:spPr>
          <a:xfrm>
            <a:off x="762000" y="2257425"/>
            <a:ext cx="4048200" cy="1571700"/>
          </a:xfrm>
          <a:prstGeom prst="roundRect">
            <a:avLst>
              <a:gd fmla="val 969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7"/>
          <p:cNvSpPr/>
          <p:nvPr/>
        </p:nvSpPr>
        <p:spPr>
          <a:xfrm>
            <a:off x="971550" y="2466975"/>
            <a:ext cx="3991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RETENTION ≥22 (HAN)</a:t>
            </a:r>
            <a:endParaRPr b="0" i="0" sz="1800" u="none" cap="none" strike="noStrike">
              <a:solidFill>
                <a:schemeClr val="dk1"/>
              </a:solidFill>
              <a:latin typeface="Calibri"/>
              <a:ea typeface="Calibri"/>
              <a:cs typeface="Calibri"/>
              <a:sym typeface="Calibri"/>
            </a:endParaRPr>
          </a:p>
        </p:txBody>
      </p:sp>
      <p:sp>
        <p:nvSpPr>
          <p:cNvPr id="903" name="Google Shape;903;p27"/>
          <p:cNvSpPr/>
          <p:nvPr/>
        </p:nvSpPr>
        <p:spPr>
          <a:xfrm>
            <a:off x="971550" y="2809875"/>
            <a:ext cx="3991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74.17%</a:t>
            </a:r>
            <a:endParaRPr b="0" i="0" sz="3300" u="none" cap="none" strike="noStrike">
              <a:solidFill>
                <a:schemeClr val="dk1"/>
              </a:solidFill>
              <a:latin typeface="Calibri"/>
              <a:ea typeface="Calibri"/>
              <a:cs typeface="Calibri"/>
              <a:sym typeface="Calibri"/>
            </a:endParaRPr>
          </a:p>
        </p:txBody>
      </p:sp>
      <p:sp>
        <p:nvSpPr>
          <p:cNvPr id="904" name="Google Shape;904;p27"/>
          <p:cNvSpPr/>
          <p:nvPr/>
        </p:nvSpPr>
        <p:spPr>
          <a:xfrm>
            <a:off x="971550" y="3343275"/>
            <a:ext cx="39918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▲0.7% MoM</a:t>
            </a:r>
            <a:endParaRPr b="0" i="0" sz="1800" u="none" cap="none" strike="noStrike">
              <a:solidFill>
                <a:schemeClr val="dk1"/>
              </a:solidFill>
              <a:latin typeface="Calibri"/>
              <a:ea typeface="Calibri"/>
              <a:cs typeface="Calibri"/>
              <a:sym typeface="Calibri"/>
            </a:endParaRPr>
          </a:p>
        </p:txBody>
      </p:sp>
      <p:sp>
        <p:nvSpPr>
          <p:cNvPr id="905" name="Google Shape;905;p27"/>
          <p:cNvSpPr/>
          <p:nvPr/>
        </p:nvSpPr>
        <p:spPr>
          <a:xfrm>
            <a:off x="4943475" y="2257425"/>
            <a:ext cx="4048200" cy="1571700"/>
          </a:xfrm>
          <a:prstGeom prst="roundRect">
            <a:avLst>
              <a:gd fmla="val 13333"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7"/>
          <p:cNvSpPr/>
          <p:nvPr/>
        </p:nvSpPr>
        <p:spPr>
          <a:xfrm>
            <a:off x="5000625" y="2257425"/>
            <a:ext cx="4048200" cy="1571700"/>
          </a:xfrm>
          <a:prstGeom prst="roundRect">
            <a:avLst>
              <a:gd fmla="val 969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7"/>
          <p:cNvSpPr/>
          <p:nvPr/>
        </p:nvSpPr>
        <p:spPr>
          <a:xfrm>
            <a:off x="5210175" y="2466975"/>
            <a:ext cx="3991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CANCEL RATE PoC</a:t>
            </a:r>
            <a:endParaRPr b="0" i="0" sz="1800" u="none" cap="none" strike="noStrike">
              <a:solidFill>
                <a:schemeClr val="dk1"/>
              </a:solidFill>
              <a:latin typeface="Calibri"/>
              <a:ea typeface="Calibri"/>
              <a:cs typeface="Calibri"/>
              <a:sym typeface="Calibri"/>
            </a:endParaRPr>
          </a:p>
        </p:txBody>
      </p:sp>
      <p:sp>
        <p:nvSpPr>
          <p:cNvPr id="908" name="Google Shape;908;p27"/>
          <p:cNvSpPr/>
          <p:nvPr/>
        </p:nvSpPr>
        <p:spPr>
          <a:xfrm>
            <a:off x="5210175" y="2809875"/>
            <a:ext cx="3991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13.04%</a:t>
            </a:r>
            <a:endParaRPr b="0" i="0" sz="3300" u="none" cap="none" strike="noStrike">
              <a:solidFill>
                <a:schemeClr val="dk1"/>
              </a:solidFill>
              <a:latin typeface="Calibri"/>
              <a:ea typeface="Calibri"/>
              <a:cs typeface="Calibri"/>
              <a:sym typeface="Calibri"/>
            </a:endParaRPr>
          </a:p>
        </p:txBody>
      </p:sp>
      <p:sp>
        <p:nvSpPr>
          <p:cNvPr id="909" name="Google Shape;909;p27"/>
          <p:cNvSpPr/>
          <p:nvPr/>
        </p:nvSpPr>
        <p:spPr>
          <a:xfrm>
            <a:off x="5210175" y="3343275"/>
            <a:ext cx="39918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▼0.5% WoW</a:t>
            </a:r>
            <a:endParaRPr b="0" i="0" sz="1800" u="none" cap="none" strike="noStrike">
              <a:solidFill>
                <a:schemeClr val="dk1"/>
              </a:solidFill>
              <a:latin typeface="Calibri"/>
              <a:ea typeface="Calibri"/>
              <a:cs typeface="Calibri"/>
              <a:sym typeface="Calibri"/>
            </a:endParaRPr>
          </a:p>
        </p:txBody>
      </p:sp>
      <p:sp>
        <p:nvSpPr>
          <p:cNvPr id="910" name="Google Shape;910;p27"/>
          <p:cNvSpPr/>
          <p:nvPr/>
        </p:nvSpPr>
        <p:spPr>
          <a:xfrm>
            <a:off x="9182100" y="2257425"/>
            <a:ext cx="4048200" cy="1571700"/>
          </a:xfrm>
          <a:prstGeom prst="roundRect">
            <a:avLst>
              <a:gd fmla="val 13333"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7"/>
          <p:cNvSpPr/>
          <p:nvPr/>
        </p:nvSpPr>
        <p:spPr>
          <a:xfrm>
            <a:off x="9239250" y="2257425"/>
            <a:ext cx="4048200" cy="1571700"/>
          </a:xfrm>
          <a:prstGeom prst="roundRect">
            <a:avLst>
              <a:gd fmla="val 969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7"/>
          <p:cNvSpPr/>
          <p:nvPr/>
        </p:nvSpPr>
        <p:spPr>
          <a:xfrm>
            <a:off x="9448800" y="2466975"/>
            <a:ext cx="3991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CTR (NW)</a:t>
            </a:r>
            <a:endParaRPr b="0" i="0" sz="1800" u="none" cap="none" strike="noStrike">
              <a:solidFill>
                <a:schemeClr val="dk1"/>
              </a:solidFill>
              <a:latin typeface="Calibri"/>
              <a:ea typeface="Calibri"/>
              <a:cs typeface="Calibri"/>
              <a:sym typeface="Calibri"/>
            </a:endParaRPr>
          </a:p>
        </p:txBody>
      </p:sp>
      <p:sp>
        <p:nvSpPr>
          <p:cNvPr id="913" name="Google Shape;913;p27"/>
          <p:cNvSpPr/>
          <p:nvPr/>
        </p:nvSpPr>
        <p:spPr>
          <a:xfrm>
            <a:off x="9448800" y="2809875"/>
            <a:ext cx="3991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77.38%</a:t>
            </a:r>
            <a:endParaRPr b="0" i="0" sz="3300" u="none" cap="none" strike="noStrike">
              <a:solidFill>
                <a:schemeClr val="dk1"/>
              </a:solidFill>
              <a:latin typeface="Calibri"/>
              <a:ea typeface="Calibri"/>
              <a:cs typeface="Calibri"/>
              <a:sym typeface="Calibri"/>
            </a:endParaRPr>
          </a:p>
        </p:txBody>
      </p:sp>
      <p:sp>
        <p:nvSpPr>
          <p:cNvPr id="914" name="Google Shape;914;p27"/>
          <p:cNvSpPr/>
          <p:nvPr/>
        </p:nvSpPr>
        <p:spPr>
          <a:xfrm>
            <a:off x="9448800" y="3343275"/>
            <a:ext cx="39918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130% target · ▼1.11% WoW</a:t>
            </a:r>
            <a:endParaRPr b="0" i="0" sz="1800" u="none" cap="none" strike="noStrike">
              <a:solidFill>
                <a:schemeClr val="dk1"/>
              </a:solidFill>
              <a:latin typeface="Calibri"/>
              <a:ea typeface="Calibri"/>
              <a:cs typeface="Calibri"/>
              <a:sym typeface="Calibri"/>
            </a:endParaRPr>
          </a:p>
        </p:txBody>
      </p:sp>
      <p:sp>
        <p:nvSpPr>
          <p:cNvPr id="915" name="Google Shape;915;p27"/>
          <p:cNvSpPr/>
          <p:nvPr/>
        </p:nvSpPr>
        <p:spPr>
          <a:xfrm>
            <a:off x="13420725" y="2257425"/>
            <a:ext cx="4048200" cy="1571700"/>
          </a:xfrm>
          <a:prstGeom prst="roundRect">
            <a:avLst>
              <a:gd fmla="val 13333"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7"/>
          <p:cNvSpPr/>
          <p:nvPr/>
        </p:nvSpPr>
        <p:spPr>
          <a:xfrm>
            <a:off x="13477875" y="2257425"/>
            <a:ext cx="4048200" cy="1571700"/>
          </a:xfrm>
          <a:prstGeom prst="roundRect">
            <a:avLst>
              <a:gd fmla="val 969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7"/>
          <p:cNvSpPr/>
          <p:nvPr/>
        </p:nvSpPr>
        <p:spPr>
          <a:xfrm>
            <a:off x="13687425" y="2466975"/>
            <a:ext cx="3991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GDR (NW)</a:t>
            </a:r>
            <a:endParaRPr b="0" i="0" sz="1800" u="none" cap="none" strike="noStrike">
              <a:solidFill>
                <a:schemeClr val="dk1"/>
              </a:solidFill>
              <a:latin typeface="Calibri"/>
              <a:ea typeface="Calibri"/>
              <a:cs typeface="Calibri"/>
              <a:sym typeface="Calibri"/>
            </a:endParaRPr>
          </a:p>
        </p:txBody>
      </p:sp>
      <p:sp>
        <p:nvSpPr>
          <p:cNvPr id="918" name="Google Shape;918;p27"/>
          <p:cNvSpPr/>
          <p:nvPr/>
        </p:nvSpPr>
        <p:spPr>
          <a:xfrm>
            <a:off x="13687425" y="2809875"/>
            <a:ext cx="3991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95.52%</a:t>
            </a:r>
            <a:endParaRPr b="0" i="0" sz="3300" u="none" cap="none" strike="noStrike">
              <a:solidFill>
                <a:schemeClr val="dk1"/>
              </a:solidFill>
              <a:latin typeface="Calibri"/>
              <a:ea typeface="Calibri"/>
              <a:cs typeface="Calibri"/>
              <a:sym typeface="Calibri"/>
            </a:endParaRPr>
          </a:p>
        </p:txBody>
      </p:sp>
      <p:sp>
        <p:nvSpPr>
          <p:cNvPr id="919" name="Google Shape;919;p27"/>
          <p:cNvSpPr/>
          <p:nvPr/>
        </p:nvSpPr>
        <p:spPr>
          <a:xfrm>
            <a:off x="13687425" y="3343275"/>
            <a:ext cx="39918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120% target · ▼0.04% WoW</a:t>
            </a:r>
            <a:endParaRPr b="0" i="0" sz="1800" u="none" cap="none" strike="noStrike">
              <a:solidFill>
                <a:schemeClr val="dk1"/>
              </a:solidFill>
              <a:latin typeface="Calibri"/>
              <a:ea typeface="Calibri"/>
              <a:cs typeface="Calibri"/>
              <a:sym typeface="Calibri"/>
            </a:endParaRPr>
          </a:p>
        </p:txBody>
      </p:sp>
      <p:sp>
        <p:nvSpPr>
          <p:cNvPr id="920" name="Google Shape;920;p27"/>
          <p:cNvSpPr/>
          <p:nvPr/>
        </p:nvSpPr>
        <p:spPr>
          <a:xfrm>
            <a:off x="704850" y="4038600"/>
            <a:ext cx="8286900" cy="3990900"/>
          </a:xfrm>
          <a:prstGeom prst="roundRect">
            <a:avLst>
              <a:gd fmla="val 4296"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7"/>
          <p:cNvSpPr/>
          <p:nvPr/>
        </p:nvSpPr>
        <p:spPr>
          <a:xfrm>
            <a:off x="762000" y="4038600"/>
            <a:ext cx="8286900" cy="3990900"/>
          </a:xfrm>
          <a:prstGeom prst="roundRect">
            <a:avLst>
              <a:gd fmla="val 2864"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7"/>
          <p:cNvSpPr/>
          <p:nvPr/>
        </p:nvSpPr>
        <p:spPr>
          <a:xfrm>
            <a:off x="971550" y="4248150"/>
            <a:ext cx="86544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950"/>
              <a:buFont typeface="Plus Jakarta Sans"/>
              <a:buNone/>
            </a:pPr>
            <a:r>
              <a:rPr b="1" i="0" lang="en-US" sz="1950" u="none" cap="none" strike="noStrike">
                <a:solidFill>
                  <a:srgbClr val="167C3F"/>
                </a:solidFill>
                <a:latin typeface="Plus Jakarta Sans"/>
                <a:ea typeface="Plus Jakarta Sans"/>
                <a:cs typeface="Plus Jakarta Sans"/>
                <a:sym typeface="Plus Jakarta Sans"/>
              </a:rPr>
              <a:t>✓ HIGHLIGHTS</a:t>
            </a:r>
            <a:endParaRPr b="0" i="0" sz="1950" u="none" cap="none" strike="noStrike">
              <a:solidFill>
                <a:schemeClr val="dk1"/>
              </a:solidFill>
              <a:latin typeface="Calibri"/>
              <a:ea typeface="Calibri"/>
              <a:cs typeface="Calibri"/>
              <a:sym typeface="Calibri"/>
            </a:endParaRPr>
          </a:p>
        </p:txBody>
      </p:sp>
      <p:sp>
        <p:nvSpPr>
          <p:cNvPr id="923" name="Google Shape;923;p27"/>
          <p:cNvSpPr/>
          <p:nvPr/>
        </p:nvSpPr>
        <p:spPr>
          <a:xfrm>
            <a:off x="1021080" y="4657725"/>
            <a:ext cx="7894200" cy="12765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HAN: Retention ≥22 đạt 74.2%, gap nhẹ MoM ~0.7%</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HAN: CR PoC chung giảm 0.5% WoW</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NW: CTR đạt 77.38%, đạt 130% target</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NW: GDR đạt 95.52%, đạt 120% target</a:t>
            </a:r>
            <a:endParaRPr b="0" i="0" sz="1800" u="none" cap="none" strike="noStrike">
              <a:solidFill>
                <a:schemeClr val="dk1"/>
              </a:solidFill>
              <a:latin typeface="Calibri"/>
              <a:ea typeface="Calibri"/>
              <a:cs typeface="Calibri"/>
              <a:sym typeface="Calibri"/>
            </a:endParaRPr>
          </a:p>
        </p:txBody>
      </p:sp>
      <p:sp>
        <p:nvSpPr>
          <p:cNvPr id="924" name="Google Shape;924;p27"/>
          <p:cNvSpPr/>
          <p:nvPr/>
        </p:nvSpPr>
        <p:spPr>
          <a:xfrm>
            <a:off x="9182100" y="4038600"/>
            <a:ext cx="8286900" cy="3990900"/>
          </a:xfrm>
          <a:prstGeom prst="roundRect">
            <a:avLst>
              <a:gd fmla="val 4296"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7"/>
          <p:cNvSpPr/>
          <p:nvPr/>
        </p:nvSpPr>
        <p:spPr>
          <a:xfrm>
            <a:off x="9239250" y="4038600"/>
            <a:ext cx="8286900" cy="3990900"/>
          </a:xfrm>
          <a:prstGeom prst="roundRect">
            <a:avLst>
              <a:gd fmla="val 2864"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7"/>
          <p:cNvSpPr/>
          <p:nvPr/>
        </p:nvSpPr>
        <p:spPr>
          <a:xfrm>
            <a:off x="9448800" y="4248150"/>
            <a:ext cx="86544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950"/>
              <a:buFont typeface="Plus Jakarta Sans"/>
              <a:buNone/>
            </a:pPr>
            <a:r>
              <a:rPr b="1" i="0" lang="en-US" sz="1950" u="none" cap="none" strike="noStrike">
                <a:solidFill>
                  <a:srgbClr val="DA1E28"/>
                </a:solidFill>
                <a:latin typeface="Plus Jakarta Sans"/>
                <a:ea typeface="Plus Jakarta Sans"/>
                <a:cs typeface="Plus Jakarta Sans"/>
                <a:sym typeface="Plus Jakarta Sans"/>
              </a:rPr>
              <a:t>⚠ LOWLIGHTS</a:t>
            </a:r>
            <a:endParaRPr b="0" i="0" sz="1950" u="none" cap="none" strike="noStrike">
              <a:solidFill>
                <a:schemeClr val="dk1"/>
              </a:solidFill>
              <a:latin typeface="Calibri"/>
              <a:ea typeface="Calibri"/>
              <a:cs typeface="Calibri"/>
              <a:sym typeface="Calibri"/>
            </a:endParaRPr>
          </a:p>
        </p:txBody>
      </p:sp>
      <p:sp>
        <p:nvSpPr>
          <p:cNvPr id="927" name="Google Shape;927;p27"/>
          <p:cNvSpPr/>
          <p:nvPr/>
        </p:nvSpPr>
        <p:spPr>
          <a:xfrm>
            <a:off x="9498330" y="4657725"/>
            <a:ext cx="7894200" cy="9525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HAN: RPH đạt 2.07, FR gap target ~5%</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SGN: RR hụt hơn 1% MoM &amp; YoY</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SGN: SH hụt 2% so với planning</a:t>
            </a:r>
            <a:endParaRPr b="0" i="0" sz="1800" u="none" cap="none" strike="noStrike">
              <a:solidFill>
                <a:schemeClr val="dk1"/>
              </a:solidFill>
              <a:latin typeface="Calibri"/>
              <a:ea typeface="Calibri"/>
              <a:cs typeface="Calibri"/>
              <a:sym typeface="Calibri"/>
            </a:endParaRPr>
          </a:p>
        </p:txBody>
      </p:sp>
      <p:sp>
        <p:nvSpPr>
          <p:cNvPr id="928" name="Google Shape;928;p27"/>
          <p:cNvSpPr/>
          <p:nvPr/>
        </p:nvSpPr>
        <p:spPr>
          <a:xfrm>
            <a:off x="762000" y="8239125"/>
            <a:ext cx="16764000" cy="5145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7"/>
          <p:cNvSpPr/>
          <p:nvPr/>
        </p:nvSpPr>
        <p:spPr>
          <a:xfrm>
            <a:off x="914400" y="8353425"/>
            <a:ext cx="86781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ACTION ĐÃ THỰC THI TUẦN QUA</a:t>
            </a:r>
            <a:endParaRPr b="0" i="0" sz="1800" u="none" cap="none" strike="noStrike">
              <a:solidFill>
                <a:schemeClr val="dk1"/>
              </a:solidFill>
              <a:latin typeface="Calibri"/>
              <a:ea typeface="Calibri"/>
              <a:cs typeface="Calibri"/>
              <a:sym typeface="Calibri"/>
            </a:endParaRPr>
          </a:p>
        </p:txBody>
      </p:sp>
      <p:sp>
        <p:nvSpPr>
          <p:cNvPr id="930" name="Google Shape;930;p27"/>
          <p:cNvSpPr/>
          <p:nvPr/>
        </p:nvSpPr>
        <p:spPr>
          <a:xfrm>
            <a:off x="9557254" y="8353425"/>
            <a:ext cx="50838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KẾT QUẢ</a:t>
            </a:r>
            <a:endParaRPr b="0" i="0" sz="1800" u="none" cap="none" strike="noStrike">
              <a:solidFill>
                <a:schemeClr val="dk1"/>
              </a:solidFill>
              <a:latin typeface="Calibri"/>
              <a:ea typeface="Calibri"/>
              <a:cs typeface="Calibri"/>
              <a:sym typeface="Calibri"/>
            </a:endParaRPr>
          </a:p>
        </p:txBody>
      </p:sp>
      <p:sp>
        <p:nvSpPr>
          <p:cNvPr id="931" name="Google Shape;931;p27"/>
          <p:cNvSpPr/>
          <p:nvPr/>
        </p:nvSpPr>
        <p:spPr>
          <a:xfrm>
            <a:off x="14825168" y="8353425"/>
            <a:ext cx="25905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STATUS</a:t>
            </a:r>
            <a:endParaRPr b="0" i="0" sz="1800" u="none" cap="none" strike="noStrike">
              <a:solidFill>
                <a:schemeClr val="dk1"/>
              </a:solidFill>
              <a:latin typeface="Calibri"/>
              <a:ea typeface="Calibri"/>
              <a:cs typeface="Calibri"/>
              <a:sym typeface="Calibri"/>
            </a:endParaRPr>
          </a:p>
        </p:txBody>
      </p:sp>
      <p:sp>
        <p:nvSpPr>
          <p:cNvPr id="932" name="Google Shape;932;p27"/>
          <p:cNvSpPr/>
          <p:nvPr/>
        </p:nvSpPr>
        <p:spPr>
          <a:xfrm>
            <a:off x="762000" y="9244013"/>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7"/>
          <p:cNvSpPr/>
          <p:nvPr/>
        </p:nvSpPr>
        <p:spPr>
          <a:xfrm>
            <a:off x="914400" y="8867775"/>
            <a:ext cx="86781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Baga Bulky — truyền thông form đăng ký</a:t>
            </a:r>
            <a:endParaRPr b="0" i="0" sz="1800" u="none" cap="none" strike="noStrike">
              <a:solidFill>
                <a:schemeClr val="dk1"/>
              </a:solidFill>
              <a:latin typeface="Calibri"/>
              <a:ea typeface="Calibri"/>
              <a:cs typeface="Calibri"/>
              <a:sym typeface="Calibri"/>
            </a:endParaRPr>
          </a:p>
        </p:txBody>
      </p:sp>
      <p:sp>
        <p:nvSpPr>
          <p:cNvPr id="934" name="Google Shape;934;p27"/>
          <p:cNvSpPr/>
          <p:nvPr/>
        </p:nvSpPr>
        <p:spPr>
          <a:xfrm>
            <a:off x="9414379" y="8763000"/>
            <a:ext cx="53694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HAN: 178 tx · SGN: 336 tx</a:t>
            </a:r>
            <a:endParaRPr b="0" i="0" sz="1800" u="none" cap="none" strike="noStrike">
              <a:solidFill>
                <a:schemeClr val="dk1"/>
              </a:solidFill>
              <a:latin typeface="Calibri"/>
              <a:ea typeface="Calibri"/>
              <a:cs typeface="Calibri"/>
              <a:sym typeface="Calibri"/>
            </a:endParaRPr>
          </a:p>
        </p:txBody>
      </p:sp>
      <p:sp>
        <p:nvSpPr>
          <p:cNvPr id="935" name="Google Shape;935;p27"/>
          <p:cNvSpPr/>
          <p:nvPr/>
        </p:nvSpPr>
        <p:spPr>
          <a:xfrm>
            <a:off x="14682293" y="8763000"/>
            <a:ext cx="28764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 Push mass</a:t>
            </a:r>
            <a:endParaRPr b="0" i="0" sz="1800" u="none" cap="none" strike="noStrike">
              <a:solidFill>
                <a:schemeClr val="dk1"/>
              </a:solidFill>
              <a:latin typeface="Calibri"/>
              <a:ea typeface="Calibri"/>
              <a:cs typeface="Calibri"/>
              <a:sym typeface="Calibri"/>
            </a:endParaRPr>
          </a:p>
        </p:txBody>
      </p:sp>
      <p:sp>
        <p:nvSpPr>
          <p:cNvPr id="936" name="Google Shape;936;p27"/>
          <p:cNvSpPr/>
          <p:nvPr/>
        </p:nvSpPr>
        <p:spPr>
          <a:xfrm>
            <a:off x="762000" y="9253538"/>
            <a:ext cx="16764000" cy="5001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7"/>
          <p:cNvSpPr/>
          <p:nvPr/>
        </p:nvSpPr>
        <p:spPr>
          <a:xfrm>
            <a:off x="914400" y="9367838"/>
            <a:ext cx="86781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Thưởng thời tiết</a:t>
            </a:r>
            <a:endParaRPr b="0" i="0" sz="1800" u="none" cap="none" strike="noStrike">
              <a:solidFill>
                <a:schemeClr val="dk1"/>
              </a:solidFill>
              <a:latin typeface="Calibri"/>
              <a:ea typeface="Calibri"/>
              <a:cs typeface="Calibri"/>
              <a:sym typeface="Calibri"/>
            </a:endParaRPr>
          </a:p>
        </p:txBody>
      </p:sp>
      <p:sp>
        <p:nvSpPr>
          <p:cNvPr id="938" name="Google Shape;938;p27"/>
          <p:cNvSpPr/>
          <p:nvPr/>
        </p:nvSpPr>
        <p:spPr>
          <a:xfrm>
            <a:off x="9414379" y="9263062"/>
            <a:ext cx="53694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Total claim: 97% max cost</a:t>
            </a:r>
            <a:endParaRPr b="0" i="0" sz="1800" u="none" cap="none" strike="noStrike">
              <a:solidFill>
                <a:schemeClr val="dk1"/>
              </a:solidFill>
              <a:latin typeface="Calibri"/>
              <a:ea typeface="Calibri"/>
              <a:cs typeface="Calibri"/>
              <a:sym typeface="Calibri"/>
            </a:endParaRPr>
          </a:p>
        </p:txBody>
      </p:sp>
      <p:sp>
        <p:nvSpPr>
          <p:cNvPr id="939" name="Google Shape;939;p27"/>
          <p:cNvSpPr/>
          <p:nvPr/>
        </p:nvSpPr>
        <p:spPr>
          <a:xfrm>
            <a:off x="14682293" y="9263062"/>
            <a:ext cx="28764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 Theo dõi</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4" name="Shape 944"/>
        <p:cNvGrpSpPr/>
        <p:nvPr/>
      </p:nvGrpSpPr>
      <p:grpSpPr>
        <a:xfrm>
          <a:off x="0" y="0"/>
          <a:ext cx="0" cy="0"/>
          <a:chOff x="0" y="0"/>
          <a:chExt cx="0" cy="0"/>
        </a:xfrm>
      </p:grpSpPr>
      <p:sp>
        <p:nvSpPr>
          <p:cNvPr id="945" name="Google Shape;945;p28"/>
          <p:cNvSpPr/>
          <p:nvPr/>
        </p:nvSpPr>
        <p:spPr>
          <a:xfrm>
            <a:off x="762000" y="533400"/>
            <a:ext cx="136791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RETENTION RATE — HAN &amp; SGN</a:t>
            </a:r>
            <a:endParaRPr b="0" i="0" sz="3300" u="none" cap="none" strike="noStrike">
              <a:solidFill>
                <a:schemeClr val="dk1"/>
              </a:solidFill>
              <a:latin typeface="Calibri"/>
              <a:ea typeface="Calibri"/>
              <a:cs typeface="Calibri"/>
              <a:sym typeface="Calibri"/>
            </a:endParaRPr>
          </a:p>
        </p:txBody>
      </p:sp>
      <p:sp>
        <p:nvSpPr>
          <p:cNvPr id="946" name="Google Shape;946;p28"/>
          <p:cNvSpPr/>
          <p:nvPr/>
        </p:nvSpPr>
        <p:spPr>
          <a:xfrm>
            <a:off x="762000" y="1066800"/>
            <a:ext cx="136791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Tỷ lệ giữ chân tài xế ≥22t — bóc tách theo segment</a:t>
            </a:r>
            <a:endParaRPr b="0" i="0" sz="1950" u="none" cap="none" strike="noStrike">
              <a:solidFill>
                <a:schemeClr val="dk1"/>
              </a:solidFill>
              <a:latin typeface="Calibri"/>
              <a:ea typeface="Calibri"/>
              <a:cs typeface="Calibri"/>
              <a:sym typeface="Calibri"/>
            </a:endParaRPr>
          </a:p>
        </p:txBody>
      </p:sp>
      <p:sp>
        <p:nvSpPr>
          <p:cNvPr id="947" name="Google Shape;947;p28"/>
          <p:cNvSpPr/>
          <p:nvPr/>
        </p:nvSpPr>
        <p:spPr>
          <a:xfrm>
            <a:off x="762000" y="1447800"/>
            <a:ext cx="124356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8"/>
          <p:cNvSpPr/>
          <p:nvPr/>
        </p:nvSpPr>
        <p:spPr>
          <a:xfrm>
            <a:off x="952500" y="15621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949" name="Google Shape;949;p28"/>
          <p:cNvSpPr/>
          <p:nvPr/>
        </p:nvSpPr>
        <p:spPr>
          <a:xfrm>
            <a:off x="3157240" y="1571625"/>
            <a:ext cx="101454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RR tại SGN giảm cả MoM và YoY, hụt mạnh nhất ở nhóm NLM — cần khảo sát nguyên nhân churn.</a:t>
            </a:r>
            <a:endParaRPr b="0" i="0" sz="1800" u="none" cap="none" strike="noStrike">
              <a:solidFill>
                <a:schemeClr val="dk1"/>
              </a:solidFill>
              <a:latin typeface="Calibri"/>
              <a:ea typeface="Calibri"/>
              <a:cs typeface="Calibri"/>
              <a:sym typeface="Calibri"/>
            </a:endParaRPr>
          </a:p>
        </p:txBody>
      </p:sp>
      <p:sp>
        <p:nvSpPr>
          <p:cNvPr id="950" name="Google Shape;950;p28"/>
          <p:cNvSpPr/>
          <p:nvPr/>
        </p:nvSpPr>
        <p:spPr>
          <a:xfrm>
            <a:off x="14183140" y="533400"/>
            <a:ext cx="3342900" cy="5715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Ahamove — Driver Management Confidential</a:t>
            </a:r>
            <a:endParaRPr b="0" i="0" sz="1800" u="none" cap="none" strike="noStrike">
              <a:solidFill>
                <a:schemeClr val="dk1"/>
              </a:solidFill>
              <a:latin typeface="Calibri"/>
              <a:ea typeface="Calibri"/>
              <a:cs typeface="Calibri"/>
              <a:sym typeface="Calibri"/>
            </a:endParaRPr>
          </a:p>
        </p:txBody>
      </p:sp>
      <p:sp>
        <p:nvSpPr>
          <p:cNvPr id="951" name="Google Shape;951;p28"/>
          <p:cNvSpPr/>
          <p:nvPr/>
        </p:nvSpPr>
        <p:spPr>
          <a:xfrm>
            <a:off x="762000" y="2152650"/>
            <a:ext cx="842400" cy="438300"/>
          </a:xfrm>
          <a:prstGeom prst="roundRect">
            <a:avLst>
              <a:gd fmla="val 17391"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8"/>
          <p:cNvSpPr/>
          <p:nvPr/>
        </p:nvSpPr>
        <p:spPr>
          <a:xfrm>
            <a:off x="933450" y="2228850"/>
            <a:ext cx="5757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HAN</a:t>
            </a:r>
            <a:endParaRPr b="0" i="0" sz="1800" u="none" cap="none" strike="noStrike">
              <a:solidFill>
                <a:schemeClr val="dk1"/>
              </a:solidFill>
              <a:latin typeface="Calibri"/>
              <a:ea typeface="Calibri"/>
              <a:cs typeface="Calibri"/>
              <a:sym typeface="Calibri"/>
            </a:endParaRPr>
          </a:p>
        </p:txBody>
      </p:sp>
      <p:sp>
        <p:nvSpPr>
          <p:cNvPr id="953" name="Google Shape;953;p28"/>
          <p:cNvSpPr/>
          <p:nvPr/>
        </p:nvSpPr>
        <p:spPr>
          <a:xfrm>
            <a:off x="762000" y="2724150"/>
            <a:ext cx="4057800" cy="1009800"/>
          </a:xfrm>
          <a:prstGeom prst="roundRect">
            <a:avLst>
              <a:gd fmla="val 113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8"/>
          <p:cNvSpPr/>
          <p:nvPr/>
        </p:nvSpPr>
        <p:spPr>
          <a:xfrm>
            <a:off x="768668" y="2876550"/>
            <a:ext cx="40443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74.17%</a:t>
            </a:r>
            <a:endParaRPr b="0" i="0" sz="2700" u="none" cap="none" strike="noStrike">
              <a:solidFill>
                <a:schemeClr val="dk1"/>
              </a:solidFill>
              <a:latin typeface="Calibri"/>
              <a:ea typeface="Calibri"/>
              <a:cs typeface="Calibri"/>
              <a:sym typeface="Calibri"/>
            </a:endParaRPr>
          </a:p>
        </p:txBody>
      </p:sp>
      <p:sp>
        <p:nvSpPr>
          <p:cNvPr id="955" name="Google Shape;955;p28"/>
          <p:cNvSpPr/>
          <p:nvPr/>
        </p:nvSpPr>
        <p:spPr>
          <a:xfrm>
            <a:off x="768668" y="3305175"/>
            <a:ext cx="40443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▲0.7% MoM</a:t>
            </a:r>
            <a:endParaRPr b="0" i="0" sz="1800" u="none" cap="none" strike="noStrike">
              <a:solidFill>
                <a:schemeClr val="dk1"/>
              </a:solidFill>
              <a:latin typeface="Calibri"/>
              <a:ea typeface="Calibri"/>
              <a:cs typeface="Calibri"/>
              <a:sym typeface="Calibri"/>
            </a:endParaRPr>
          </a:p>
        </p:txBody>
      </p:sp>
      <p:sp>
        <p:nvSpPr>
          <p:cNvPr id="956" name="Google Shape;956;p28"/>
          <p:cNvSpPr/>
          <p:nvPr/>
        </p:nvSpPr>
        <p:spPr>
          <a:xfrm>
            <a:off x="4972050" y="2724150"/>
            <a:ext cx="4057800" cy="1009800"/>
          </a:xfrm>
          <a:prstGeom prst="roundRect">
            <a:avLst>
              <a:gd fmla="val 113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8"/>
          <p:cNvSpPr/>
          <p:nvPr/>
        </p:nvSpPr>
        <p:spPr>
          <a:xfrm>
            <a:off x="4978718" y="2876550"/>
            <a:ext cx="40443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-0.17%</a:t>
            </a:r>
            <a:endParaRPr b="0" i="0" sz="2700" u="none" cap="none" strike="noStrike">
              <a:solidFill>
                <a:schemeClr val="dk1"/>
              </a:solidFill>
              <a:latin typeface="Calibri"/>
              <a:ea typeface="Calibri"/>
              <a:cs typeface="Calibri"/>
              <a:sym typeface="Calibri"/>
            </a:endParaRPr>
          </a:p>
        </p:txBody>
      </p:sp>
      <p:sp>
        <p:nvSpPr>
          <p:cNvPr id="958" name="Google Shape;958;p28"/>
          <p:cNvSpPr/>
          <p:nvPr/>
        </p:nvSpPr>
        <p:spPr>
          <a:xfrm>
            <a:off x="4978718" y="3305175"/>
            <a:ext cx="40443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YoY</a:t>
            </a:r>
            <a:endParaRPr b="0" i="0" sz="1800" u="none" cap="none" strike="noStrike">
              <a:solidFill>
                <a:schemeClr val="dk1"/>
              </a:solidFill>
              <a:latin typeface="Calibri"/>
              <a:ea typeface="Calibri"/>
              <a:cs typeface="Calibri"/>
              <a:sym typeface="Calibri"/>
            </a:endParaRPr>
          </a:p>
        </p:txBody>
      </p:sp>
      <p:sp>
        <p:nvSpPr>
          <p:cNvPr id="959" name="Google Shape;959;p28"/>
          <p:cNvSpPr/>
          <p:nvPr/>
        </p:nvSpPr>
        <p:spPr>
          <a:xfrm>
            <a:off x="762000" y="3867150"/>
            <a:ext cx="8267700" cy="4572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8"/>
          <p:cNvSpPr/>
          <p:nvPr/>
        </p:nvSpPr>
        <p:spPr>
          <a:xfrm>
            <a:off x="876300" y="3962400"/>
            <a:ext cx="20532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Segment</a:t>
            </a:r>
            <a:endParaRPr b="0" i="0" sz="1800" u="none" cap="none" strike="noStrike">
              <a:solidFill>
                <a:schemeClr val="dk1"/>
              </a:solidFill>
              <a:latin typeface="Calibri"/>
              <a:ea typeface="Calibri"/>
              <a:cs typeface="Calibri"/>
              <a:sym typeface="Calibri"/>
            </a:endParaRPr>
          </a:p>
        </p:txBody>
      </p:sp>
      <p:sp>
        <p:nvSpPr>
          <p:cNvPr id="961" name="Google Shape;961;p28"/>
          <p:cNvSpPr/>
          <p:nvPr/>
        </p:nvSpPr>
        <p:spPr>
          <a:xfrm>
            <a:off x="3043833" y="3962400"/>
            <a:ext cx="15291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Active</a:t>
            </a:r>
            <a:endParaRPr b="0" i="0" sz="1800" u="none" cap="none" strike="noStrike">
              <a:solidFill>
                <a:schemeClr val="dk1"/>
              </a:solidFill>
              <a:latin typeface="Calibri"/>
              <a:ea typeface="Calibri"/>
              <a:cs typeface="Calibri"/>
              <a:sym typeface="Calibri"/>
            </a:endParaRPr>
          </a:p>
        </p:txBody>
      </p:sp>
      <p:sp>
        <p:nvSpPr>
          <p:cNvPr id="962" name="Google Shape;962;p28"/>
          <p:cNvSpPr/>
          <p:nvPr/>
        </p:nvSpPr>
        <p:spPr>
          <a:xfrm>
            <a:off x="4725293" y="3962400"/>
            <a:ext cx="13059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RR</a:t>
            </a:r>
            <a:endParaRPr b="0" i="0" sz="1800" u="none" cap="none" strike="noStrike">
              <a:solidFill>
                <a:schemeClr val="dk1"/>
              </a:solidFill>
              <a:latin typeface="Calibri"/>
              <a:ea typeface="Calibri"/>
              <a:cs typeface="Calibri"/>
              <a:sym typeface="Calibri"/>
            </a:endParaRPr>
          </a:p>
        </p:txBody>
      </p:sp>
      <p:sp>
        <p:nvSpPr>
          <p:cNvPr id="963" name="Google Shape;963;p28"/>
          <p:cNvSpPr/>
          <p:nvPr/>
        </p:nvSpPr>
        <p:spPr>
          <a:xfrm>
            <a:off x="6183660" y="3962400"/>
            <a:ext cx="13086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MoM</a:t>
            </a:r>
            <a:endParaRPr b="0" i="0" sz="1800" u="none" cap="none" strike="noStrike">
              <a:solidFill>
                <a:schemeClr val="dk1"/>
              </a:solidFill>
              <a:latin typeface="Calibri"/>
              <a:ea typeface="Calibri"/>
              <a:cs typeface="Calibri"/>
              <a:sym typeface="Calibri"/>
            </a:endParaRPr>
          </a:p>
        </p:txBody>
      </p:sp>
      <p:sp>
        <p:nvSpPr>
          <p:cNvPr id="964" name="Google Shape;964;p28"/>
          <p:cNvSpPr/>
          <p:nvPr/>
        </p:nvSpPr>
        <p:spPr>
          <a:xfrm>
            <a:off x="7644557" y="3962400"/>
            <a:ext cx="13089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YoY</a:t>
            </a:r>
            <a:endParaRPr b="0" i="0" sz="1800" u="none" cap="none" strike="noStrike">
              <a:solidFill>
                <a:schemeClr val="dk1"/>
              </a:solidFill>
              <a:latin typeface="Calibri"/>
              <a:ea typeface="Calibri"/>
              <a:cs typeface="Calibri"/>
              <a:sym typeface="Calibri"/>
            </a:endParaRPr>
          </a:p>
        </p:txBody>
      </p:sp>
      <p:sp>
        <p:nvSpPr>
          <p:cNvPr id="965" name="Google Shape;965;p28"/>
          <p:cNvSpPr/>
          <p:nvPr/>
        </p:nvSpPr>
        <p:spPr>
          <a:xfrm>
            <a:off x="762000" y="4776788"/>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8"/>
          <p:cNvSpPr/>
          <p:nvPr/>
        </p:nvSpPr>
        <p:spPr>
          <a:xfrm>
            <a:off x="876300" y="4419600"/>
            <a:ext cx="20532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FT</a:t>
            </a:r>
            <a:endParaRPr b="0" i="0" sz="1800" u="none" cap="none" strike="noStrike">
              <a:solidFill>
                <a:schemeClr val="dk1"/>
              </a:solidFill>
              <a:latin typeface="Calibri"/>
              <a:ea typeface="Calibri"/>
              <a:cs typeface="Calibri"/>
              <a:sym typeface="Calibri"/>
            </a:endParaRPr>
          </a:p>
        </p:txBody>
      </p:sp>
      <p:sp>
        <p:nvSpPr>
          <p:cNvPr id="967" name="Google Shape;967;p28"/>
          <p:cNvSpPr/>
          <p:nvPr/>
        </p:nvSpPr>
        <p:spPr>
          <a:xfrm>
            <a:off x="2939058" y="4333875"/>
            <a:ext cx="17385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1,201</a:t>
            </a:r>
            <a:endParaRPr b="0" i="0" sz="1800" u="none" cap="none" strike="noStrike">
              <a:solidFill>
                <a:schemeClr val="dk1"/>
              </a:solidFill>
              <a:latin typeface="Calibri"/>
              <a:ea typeface="Calibri"/>
              <a:cs typeface="Calibri"/>
              <a:sym typeface="Calibri"/>
            </a:endParaRPr>
          </a:p>
        </p:txBody>
      </p:sp>
      <p:sp>
        <p:nvSpPr>
          <p:cNvPr id="968" name="Google Shape;968;p28"/>
          <p:cNvSpPr/>
          <p:nvPr/>
        </p:nvSpPr>
        <p:spPr>
          <a:xfrm>
            <a:off x="4620518" y="4333875"/>
            <a:ext cx="15156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95.32%</a:t>
            </a:r>
            <a:endParaRPr b="0" i="0" sz="1800" u="none" cap="none" strike="noStrike">
              <a:solidFill>
                <a:schemeClr val="dk1"/>
              </a:solidFill>
              <a:latin typeface="Calibri"/>
              <a:ea typeface="Calibri"/>
              <a:cs typeface="Calibri"/>
              <a:sym typeface="Calibri"/>
            </a:endParaRPr>
          </a:p>
        </p:txBody>
      </p:sp>
      <p:sp>
        <p:nvSpPr>
          <p:cNvPr id="969" name="Google Shape;969;p28"/>
          <p:cNvSpPr/>
          <p:nvPr/>
        </p:nvSpPr>
        <p:spPr>
          <a:xfrm>
            <a:off x="6078885" y="4333875"/>
            <a:ext cx="15180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-0.05%</a:t>
            </a:r>
            <a:endParaRPr b="0" i="0" sz="1800" u="none" cap="none" strike="noStrike">
              <a:solidFill>
                <a:schemeClr val="dk1"/>
              </a:solidFill>
              <a:latin typeface="Calibri"/>
              <a:ea typeface="Calibri"/>
              <a:cs typeface="Calibri"/>
              <a:sym typeface="Calibri"/>
            </a:endParaRPr>
          </a:p>
        </p:txBody>
      </p:sp>
      <p:sp>
        <p:nvSpPr>
          <p:cNvPr id="970" name="Google Shape;970;p28"/>
          <p:cNvSpPr/>
          <p:nvPr/>
        </p:nvSpPr>
        <p:spPr>
          <a:xfrm>
            <a:off x="7539782" y="4333875"/>
            <a:ext cx="15186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-1.95%</a:t>
            </a:r>
            <a:endParaRPr b="0" i="0" sz="1800" u="none" cap="none" strike="noStrike">
              <a:solidFill>
                <a:schemeClr val="dk1"/>
              </a:solidFill>
              <a:latin typeface="Calibri"/>
              <a:ea typeface="Calibri"/>
              <a:cs typeface="Calibri"/>
              <a:sym typeface="Calibri"/>
            </a:endParaRPr>
          </a:p>
        </p:txBody>
      </p:sp>
      <p:sp>
        <p:nvSpPr>
          <p:cNvPr id="971" name="Google Shape;971;p28"/>
          <p:cNvSpPr/>
          <p:nvPr/>
        </p:nvSpPr>
        <p:spPr>
          <a:xfrm>
            <a:off x="762000" y="4786313"/>
            <a:ext cx="8267700" cy="4668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8"/>
          <p:cNvSpPr/>
          <p:nvPr/>
        </p:nvSpPr>
        <p:spPr>
          <a:xfrm>
            <a:off x="762000" y="5243513"/>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8"/>
          <p:cNvSpPr/>
          <p:nvPr/>
        </p:nvSpPr>
        <p:spPr>
          <a:xfrm>
            <a:off x="876300" y="4881563"/>
            <a:ext cx="20532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PT</a:t>
            </a:r>
            <a:endParaRPr b="0" i="0" sz="1800" u="none" cap="none" strike="noStrike">
              <a:solidFill>
                <a:schemeClr val="dk1"/>
              </a:solidFill>
              <a:latin typeface="Calibri"/>
              <a:ea typeface="Calibri"/>
              <a:cs typeface="Calibri"/>
              <a:sym typeface="Calibri"/>
            </a:endParaRPr>
          </a:p>
        </p:txBody>
      </p:sp>
      <p:sp>
        <p:nvSpPr>
          <p:cNvPr id="974" name="Google Shape;974;p28"/>
          <p:cNvSpPr/>
          <p:nvPr/>
        </p:nvSpPr>
        <p:spPr>
          <a:xfrm>
            <a:off x="2939058" y="4795838"/>
            <a:ext cx="17385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4,956</a:t>
            </a:r>
            <a:endParaRPr b="0" i="0" sz="1800" u="none" cap="none" strike="noStrike">
              <a:solidFill>
                <a:schemeClr val="dk1"/>
              </a:solidFill>
              <a:latin typeface="Calibri"/>
              <a:ea typeface="Calibri"/>
              <a:cs typeface="Calibri"/>
              <a:sym typeface="Calibri"/>
            </a:endParaRPr>
          </a:p>
        </p:txBody>
      </p:sp>
      <p:sp>
        <p:nvSpPr>
          <p:cNvPr id="975" name="Google Shape;975;p28"/>
          <p:cNvSpPr/>
          <p:nvPr/>
        </p:nvSpPr>
        <p:spPr>
          <a:xfrm>
            <a:off x="4620518" y="4795838"/>
            <a:ext cx="15156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70.39%</a:t>
            </a:r>
            <a:endParaRPr b="0" i="0" sz="1800" u="none" cap="none" strike="noStrike">
              <a:solidFill>
                <a:schemeClr val="dk1"/>
              </a:solidFill>
              <a:latin typeface="Calibri"/>
              <a:ea typeface="Calibri"/>
              <a:cs typeface="Calibri"/>
              <a:sym typeface="Calibri"/>
            </a:endParaRPr>
          </a:p>
        </p:txBody>
      </p:sp>
      <p:sp>
        <p:nvSpPr>
          <p:cNvPr id="976" name="Google Shape;976;p28"/>
          <p:cNvSpPr/>
          <p:nvPr/>
        </p:nvSpPr>
        <p:spPr>
          <a:xfrm>
            <a:off x="6078885" y="4795838"/>
            <a:ext cx="15180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-0.35%</a:t>
            </a:r>
            <a:endParaRPr b="0" i="0" sz="1800" u="none" cap="none" strike="noStrike">
              <a:solidFill>
                <a:schemeClr val="dk1"/>
              </a:solidFill>
              <a:latin typeface="Calibri"/>
              <a:ea typeface="Calibri"/>
              <a:cs typeface="Calibri"/>
              <a:sym typeface="Calibri"/>
            </a:endParaRPr>
          </a:p>
        </p:txBody>
      </p:sp>
      <p:sp>
        <p:nvSpPr>
          <p:cNvPr id="977" name="Google Shape;977;p28"/>
          <p:cNvSpPr/>
          <p:nvPr/>
        </p:nvSpPr>
        <p:spPr>
          <a:xfrm>
            <a:off x="7539782" y="4795838"/>
            <a:ext cx="15186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+0.82%</a:t>
            </a:r>
            <a:endParaRPr b="0" i="0" sz="1800" u="none" cap="none" strike="noStrike">
              <a:solidFill>
                <a:schemeClr val="dk1"/>
              </a:solidFill>
              <a:latin typeface="Calibri"/>
              <a:ea typeface="Calibri"/>
              <a:cs typeface="Calibri"/>
              <a:sym typeface="Calibri"/>
            </a:endParaRPr>
          </a:p>
        </p:txBody>
      </p:sp>
      <p:sp>
        <p:nvSpPr>
          <p:cNvPr id="978" name="Google Shape;978;p28"/>
          <p:cNvSpPr/>
          <p:nvPr/>
        </p:nvSpPr>
        <p:spPr>
          <a:xfrm>
            <a:off x="876300" y="5348288"/>
            <a:ext cx="20532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NLM</a:t>
            </a:r>
            <a:endParaRPr b="0" i="0" sz="1800" u="none" cap="none" strike="noStrike">
              <a:solidFill>
                <a:schemeClr val="dk1"/>
              </a:solidFill>
              <a:latin typeface="Calibri"/>
              <a:ea typeface="Calibri"/>
              <a:cs typeface="Calibri"/>
              <a:sym typeface="Calibri"/>
            </a:endParaRPr>
          </a:p>
        </p:txBody>
      </p:sp>
      <p:sp>
        <p:nvSpPr>
          <p:cNvPr id="979" name="Google Shape;979;p28"/>
          <p:cNvSpPr/>
          <p:nvPr/>
        </p:nvSpPr>
        <p:spPr>
          <a:xfrm>
            <a:off x="2939058" y="5262563"/>
            <a:ext cx="17385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587</a:t>
            </a:r>
            <a:endParaRPr b="0" i="0" sz="1800" u="none" cap="none" strike="noStrike">
              <a:solidFill>
                <a:schemeClr val="dk1"/>
              </a:solidFill>
              <a:latin typeface="Calibri"/>
              <a:ea typeface="Calibri"/>
              <a:cs typeface="Calibri"/>
              <a:sym typeface="Calibri"/>
            </a:endParaRPr>
          </a:p>
        </p:txBody>
      </p:sp>
      <p:sp>
        <p:nvSpPr>
          <p:cNvPr id="980" name="Google Shape;980;p28"/>
          <p:cNvSpPr/>
          <p:nvPr/>
        </p:nvSpPr>
        <p:spPr>
          <a:xfrm>
            <a:off x="4620518" y="5262563"/>
            <a:ext cx="15156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68.74%</a:t>
            </a:r>
            <a:endParaRPr b="0" i="0" sz="1800" u="none" cap="none" strike="noStrike">
              <a:solidFill>
                <a:schemeClr val="dk1"/>
              </a:solidFill>
              <a:latin typeface="Calibri"/>
              <a:ea typeface="Calibri"/>
              <a:cs typeface="Calibri"/>
              <a:sym typeface="Calibri"/>
            </a:endParaRPr>
          </a:p>
        </p:txBody>
      </p:sp>
      <p:sp>
        <p:nvSpPr>
          <p:cNvPr id="981" name="Google Shape;981;p28"/>
          <p:cNvSpPr/>
          <p:nvPr/>
        </p:nvSpPr>
        <p:spPr>
          <a:xfrm>
            <a:off x="6078885" y="5262563"/>
            <a:ext cx="15180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+3.68%</a:t>
            </a:r>
            <a:endParaRPr b="0" i="0" sz="1800" u="none" cap="none" strike="noStrike">
              <a:solidFill>
                <a:schemeClr val="dk1"/>
              </a:solidFill>
              <a:latin typeface="Calibri"/>
              <a:ea typeface="Calibri"/>
              <a:cs typeface="Calibri"/>
              <a:sym typeface="Calibri"/>
            </a:endParaRPr>
          </a:p>
        </p:txBody>
      </p:sp>
      <p:sp>
        <p:nvSpPr>
          <p:cNvPr id="982" name="Google Shape;982;p28"/>
          <p:cNvSpPr/>
          <p:nvPr/>
        </p:nvSpPr>
        <p:spPr>
          <a:xfrm>
            <a:off x="7539782" y="5262563"/>
            <a:ext cx="15186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-6.08%</a:t>
            </a:r>
            <a:endParaRPr b="0" i="0" sz="1800" u="none" cap="none" strike="noStrike">
              <a:solidFill>
                <a:schemeClr val="dk1"/>
              </a:solidFill>
              <a:latin typeface="Calibri"/>
              <a:ea typeface="Calibri"/>
              <a:cs typeface="Calibri"/>
              <a:sym typeface="Calibri"/>
            </a:endParaRPr>
          </a:p>
        </p:txBody>
      </p:sp>
      <p:sp>
        <p:nvSpPr>
          <p:cNvPr id="983" name="Google Shape;983;p28"/>
          <p:cNvSpPr/>
          <p:nvPr/>
        </p:nvSpPr>
        <p:spPr>
          <a:xfrm>
            <a:off x="762000" y="5848350"/>
            <a:ext cx="8267700" cy="838200"/>
          </a:xfrm>
          <a:prstGeom prst="roundRect">
            <a:avLst>
              <a:gd fmla="val 13636"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8"/>
          <p:cNvSpPr/>
          <p:nvPr/>
        </p:nvSpPr>
        <p:spPr>
          <a:xfrm>
            <a:off x="952500" y="6000750"/>
            <a:ext cx="8134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RR MoM đã cải thiện so với tháng trước; nhóm FT &amp; NLM có gap YoY lớn nhất, dao động -1.9% đến -6.08%.</a:t>
            </a:r>
            <a:endParaRPr b="0" i="0" sz="1800" u="none" cap="none" strike="noStrike">
              <a:solidFill>
                <a:schemeClr val="dk1"/>
              </a:solidFill>
              <a:latin typeface="Calibri"/>
              <a:ea typeface="Calibri"/>
              <a:cs typeface="Calibri"/>
              <a:sym typeface="Calibri"/>
            </a:endParaRPr>
          </a:p>
        </p:txBody>
      </p:sp>
      <p:sp>
        <p:nvSpPr>
          <p:cNvPr id="985" name="Google Shape;985;p28"/>
          <p:cNvSpPr/>
          <p:nvPr/>
        </p:nvSpPr>
        <p:spPr>
          <a:xfrm>
            <a:off x="9258300" y="2152650"/>
            <a:ext cx="844800" cy="438300"/>
          </a:xfrm>
          <a:prstGeom prst="roundRect">
            <a:avLst>
              <a:gd fmla="val 17391"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8"/>
          <p:cNvSpPr/>
          <p:nvPr/>
        </p:nvSpPr>
        <p:spPr>
          <a:xfrm>
            <a:off x="9429750" y="2228850"/>
            <a:ext cx="5781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SGN</a:t>
            </a:r>
            <a:endParaRPr b="0" i="0" sz="1800" u="none" cap="none" strike="noStrike">
              <a:solidFill>
                <a:schemeClr val="dk1"/>
              </a:solidFill>
              <a:latin typeface="Calibri"/>
              <a:ea typeface="Calibri"/>
              <a:cs typeface="Calibri"/>
              <a:sym typeface="Calibri"/>
            </a:endParaRPr>
          </a:p>
        </p:txBody>
      </p:sp>
      <p:sp>
        <p:nvSpPr>
          <p:cNvPr id="987" name="Google Shape;987;p28"/>
          <p:cNvSpPr/>
          <p:nvPr/>
        </p:nvSpPr>
        <p:spPr>
          <a:xfrm>
            <a:off x="9258300" y="2724150"/>
            <a:ext cx="4057800" cy="1009800"/>
          </a:xfrm>
          <a:prstGeom prst="roundRect">
            <a:avLst>
              <a:gd fmla="val 1132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8"/>
          <p:cNvSpPr/>
          <p:nvPr/>
        </p:nvSpPr>
        <p:spPr>
          <a:xfrm>
            <a:off x="9264968" y="2876550"/>
            <a:ext cx="40443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76.13%</a:t>
            </a:r>
            <a:endParaRPr b="0" i="0" sz="2700" u="none" cap="none" strike="noStrike">
              <a:solidFill>
                <a:schemeClr val="dk1"/>
              </a:solidFill>
              <a:latin typeface="Calibri"/>
              <a:ea typeface="Calibri"/>
              <a:cs typeface="Calibri"/>
              <a:sym typeface="Calibri"/>
            </a:endParaRPr>
          </a:p>
        </p:txBody>
      </p:sp>
      <p:sp>
        <p:nvSpPr>
          <p:cNvPr id="989" name="Google Shape;989;p28"/>
          <p:cNvSpPr/>
          <p:nvPr/>
        </p:nvSpPr>
        <p:spPr>
          <a:xfrm>
            <a:off x="9264968" y="3305175"/>
            <a:ext cx="40443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▼1.4% MoM</a:t>
            </a:r>
            <a:endParaRPr b="0" i="0" sz="1800" u="none" cap="none" strike="noStrike">
              <a:solidFill>
                <a:schemeClr val="dk1"/>
              </a:solidFill>
              <a:latin typeface="Calibri"/>
              <a:ea typeface="Calibri"/>
              <a:cs typeface="Calibri"/>
              <a:sym typeface="Calibri"/>
            </a:endParaRPr>
          </a:p>
        </p:txBody>
      </p:sp>
      <p:sp>
        <p:nvSpPr>
          <p:cNvPr id="990" name="Google Shape;990;p28"/>
          <p:cNvSpPr/>
          <p:nvPr/>
        </p:nvSpPr>
        <p:spPr>
          <a:xfrm>
            <a:off x="13468350" y="2724150"/>
            <a:ext cx="4057800" cy="1009800"/>
          </a:xfrm>
          <a:prstGeom prst="roundRect">
            <a:avLst>
              <a:gd fmla="val 1132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8"/>
          <p:cNvSpPr/>
          <p:nvPr/>
        </p:nvSpPr>
        <p:spPr>
          <a:xfrm>
            <a:off x="13475018" y="2876550"/>
            <a:ext cx="40443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-1.06%</a:t>
            </a:r>
            <a:endParaRPr b="0" i="0" sz="2700" u="none" cap="none" strike="noStrike">
              <a:solidFill>
                <a:schemeClr val="dk1"/>
              </a:solidFill>
              <a:latin typeface="Calibri"/>
              <a:ea typeface="Calibri"/>
              <a:cs typeface="Calibri"/>
              <a:sym typeface="Calibri"/>
            </a:endParaRPr>
          </a:p>
        </p:txBody>
      </p:sp>
      <p:sp>
        <p:nvSpPr>
          <p:cNvPr id="992" name="Google Shape;992;p28"/>
          <p:cNvSpPr/>
          <p:nvPr/>
        </p:nvSpPr>
        <p:spPr>
          <a:xfrm>
            <a:off x="13475018" y="3305175"/>
            <a:ext cx="40443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YoY</a:t>
            </a:r>
            <a:endParaRPr b="0" i="0" sz="1800" u="none" cap="none" strike="noStrike">
              <a:solidFill>
                <a:schemeClr val="dk1"/>
              </a:solidFill>
              <a:latin typeface="Calibri"/>
              <a:ea typeface="Calibri"/>
              <a:cs typeface="Calibri"/>
              <a:sym typeface="Calibri"/>
            </a:endParaRPr>
          </a:p>
        </p:txBody>
      </p:sp>
      <p:sp>
        <p:nvSpPr>
          <p:cNvPr id="993" name="Google Shape;993;p28"/>
          <p:cNvSpPr/>
          <p:nvPr/>
        </p:nvSpPr>
        <p:spPr>
          <a:xfrm>
            <a:off x="9258300" y="3867150"/>
            <a:ext cx="8267700" cy="4572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8"/>
          <p:cNvSpPr/>
          <p:nvPr/>
        </p:nvSpPr>
        <p:spPr>
          <a:xfrm>
            <a:off x="9372600" y="3962400"/>
            <a:ext cx="20553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Segment</a:t>
            </a:r>
            <a:endParaRPr b="0" i="0" sz="1800" u="none" cap="none" strike="noStrike">
              <a:solidFill>
                <a:schemeClr val="dk1"/>
              </a:solidFill>
              <a:latin typeface="Calibri"/>
              <a:ea typeface="Calibri"/>
              <a:cs typeface="Calibri"/>
              <a:sym typeface="Calibri"/>
            </a:endParaRPr>
          </a:p>
        </p:txBody>
      </p:sp>
      <p:sp>
        <p:nvSpPr>
          <p:cNvPr id="995" name="Google Shape;995;p28"/>
          <p:cNvSpPr/>
          <p:nvPr/>
        </p:nvSpPr>
        <p:spPr>
          <a:xfrm>
            <a:off x="11542216" y="3962400"/>
            <a:ext cx="15306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Active</a:t>
            </a:r>
            <a:endParaRPr b="0" i="0" sz="1800" u="none" cap="none" strike="noStrike">
              <a:solidFill>
                <a:schemeClr val="dk1"/>
              </a:solidFill>
              <a:latin typeface="Calibri"/>
              <a:ea typeface="Calibri"/>
              <a:cs typeface="Calibri"/>
              <a:sym typeface="Calibri"/>
            </a:endParaRPr>
          </a:p>
        </p:txBody>
      </p:sp>
      <p:sp>
        <p:nvSpPr>
          <p:cNvPr id="996" name="Google Shape;996;p28"/>
          <p:cNvSpPr/>
          <p:nvPr/>
        </p:nvSpPr>
        <p:spPr>
          <a:xfrm>
            <a:off x="13225314" y="3962400"/>
            <a:ext cx="13074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RR</a:t>
            </a:r>
            <a:endParaRPr b="0" i="0" sz="1800" u="none" cap="none" strike="noStrike">
              <a:solidFill>
                <a:schemeClr val="dk1"/>
              </a:solidFill>
              <a:latin typeface="Calibri"/>
              <a:ea typeface="Calibri"/>
              <a:cs typeface="Calibri"/>
              <a:sym typeface="Calibri"/>
            </a:endParaRPr>
          </a:p>
        </p:txBody>
      </p:sp>
      <p:sp>
        <p:nvSpPr>
          <p:cNvPr id="997" name="Google Shape;997;p28"/>
          <p:cNvSpPr/>
          <p:nvPr/>
        </p:nvSpPr>
        <p:spPr>
          <a:xfrm>
            <a:off x="14685020" y="3962400"/>
            <a:ext cx="13020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MoM</a:t>
            </a:r>
            <a:endParaRPr b="0" i="0" sz="1800" u="none" cap="none" strike="noStrike">
              <a:solidFill>
                <a:schemeClr val="dk1"/>
              </a:solidFill>
              <a:latin typeface="Calibri"/>
              <a:ea typeface="Calibri"/>
              <a:cs typeface="Calibri"/>
              <a:sym typeface="Calibri"/>
            </a:endParaRPr>
          </a:p>
        </p:txBody>
      </p:sp>
      <p:sp>
        <p:nvSpPr>
          <p:cNvPr id="998" name="Google Shape;998;p28"/>
          <p:cNvSpPr/>
          <p:nvPr/>
        </p:nvSpPr>
        <p:spPr>
          <a:xfrm>
            <a:off x="16139517" y="3962400"/>
            <a:ext cx="13104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YoY</a:t>
            </a:r>
            <a:endParaRPr b="0" i="0" sz="1800" u="none" cap="none" strike="noStrike">
              <a:solidFill>
                <a:schemeClr val="dk1"/>
              </a:solidFill>
              <a:latin typeface="Calibri"/>
              <a:ea typeface="Calibri"/>
              <a:cs typeface="Calibri"/>
              <a:sym typeface="Calibri"/>
            </a:endParaRPr>
          </a:p>
        </p:txBody>
      </p:sp>
      <p:sp>
        <p:nvSpPr>
          <p:cNvPr id="999" name="Google Shape;999;p28"/>
          <p:cNvSpPr/>
          <p:nvPr/>
        </p:nvSpPr>
        <p:spPr>
          <a:xfrm>
            <a:off x="9258300" y="4776788"/>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8"/>
          <p:cNvSpPr/>
          <p:nvPr/>
        </p:nvSpPr>
        <p:spPr>
          <a:xfrm>
            <a:off x="9372600" y="4419600"/>
            <a:ext cx="20553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FT</a:t>
            </a:r>
            <a:endParaRPr b="0" i="0" sz="1800" u="none" cap="none" strike="noStrike">
              <a:solidFill>
                <a:schemeClr val="dk1"/>
              </a:solidFill>
              <a:latin typeface="Calibri"/>
              <a:ea typeface="Calibri"/>
              <a:cs typeface="Calibri"/>
              <a:sym typeface="Calibri"/>
            </a:endParaRPr>
          </a:p>
        </p:txBody>
      </p:sp>
      <p:sp>
        <p:nvSpPr>
          <p:cNvPr id="1001" name="Google Shape;1001;p28"/>
          <p:cNvSpPr/>
          <p:nvPr/>
        </p:nvSpPr>
        <p:spPr>
          <a:xfrm>
            <a:off x="11437441" y="4333875"/>
            <a:ext cx="17403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3,157</a:t>
            </a:r>
            <a:endParaRPr b="0" i="0" sz="1800" u="none" cap="none" strike="noStrike">
              <a:solidFill>
                <a:schemeClr val="dk1"/>
              </a:solidFill>
              <a:latin typeface="Calibri"/>
              <a:ea typeface="Calibri"/>
              <a:cs typeface="Calibri"/>
              <a:sym typeface="Calibri"/>
            </a:endParaRPr>
          </a:p>
        </p:txBody>
      </p:sp>
      <p:sp>
        <p:nvSpPr>
          <p:cNvPr id="1002" name="Google Shape;1002;p28"/>
          <p:cNvSpPr/>
          <p:nvPr/>
        </p:nvSpPr>
        <p:spPr>
          <a:xfrm>
            <a:off x="13120539" y="4333875"/>
            <a:ext cx="15168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96.46%</a:t>
            </a:r>
            <a:endParaRPr b="0" i="0" sz="1800" u="none" cap="none" strike="noStrike">
              <a:solidFill>
                <a:schemeClr val="dk1"/>
              </a:solidFill>
              <a:latin typeface="Calibri"/>
              <a:ea typeface="Calibri"/>
              <a:cs typeface="Calibri"/>
              <a:sym typeface="Calibri"/>
            </a:endParaRPr>
          </a:p>
        </p:txBody>
      </p:sp>
      <p:sp>
        <p:nvSpPr>
          <p:cNvPr id="1003" name="Google Shape;1003;p28"/>
          <p:cNvSpPr/>
          <p:nvPr/>
        </p:nvSpPr>
        <p:spPr>
          <a:xfrm>
            <a:off x="14580245" y="4333875"/>
            <a:ext cx="15117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-0.52%</a:t>
            </a:r>
            <a:endParaRPr b="0" i="0" sz="1800" u="none" cap="none" strike="noStrike">
              <a:solidFill>
                <a:schemeClr val="dk1"/>
              </a:solidFill>
              <a:latin typeface="Calibri"/>
              <a:ea typeface="Calibri"/>
              <a:cs typeface="Calibri"/>
              <a:sym typeface="Calibri"/>
            </a:endParaRPr>
          </a:p>
        </p:txBody>
      </p:sp>
      <p:sp>
        <p:nvSpPr>
          <p:cNvPr id="1004" name="Google Shape;1004;p28"/>
          <p:cNvSpPr/>
          <p:nvPr/>
        </p:nvSpPr>
        <p:spPr>
          <a:xfrm>
            <a:off x="16034742" y="4333875"/>
            <a:ext cx="15198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+0.04%</a:t>
            </a:r>
            <a:endParaRPr b="0" i="0" sz="1800" u="none" cap="none" strike="noStrike">
              <a:solidFill>
                <a:schemeClr val="dk1"/>
              </a:solidFill>
              <a:latin typeface="Calibri"/>
              <a:ea typeface="Calibri"/>
              <a:cs typeface="Calibri"/>
              <a:sym typeface="Calibri"/>
            </a:endParaRPr>
          </a:p>
        </p:txBody>
      </p:sp>
      <p:sp>
        <p:nvSpPr>
          <p:cNvPr id="1005" name="Google Shape;1005;p28"/>
          <p:cNvSpPr/>
          <p:nvPr/>
        </p:nvSpPr>
        <p:spPr>
          <a:xfrm>
            <a:off x="9258300" y="4786313"/>
            <a:ext cx="8267700" cy="4668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8"/>
          <p:cNvSpPr/>
          <p:nvPr/>
        </p:nvSpPr>
        <p:spPr>
          <a:xfrm>
            <a:off x="9258300" y="5243513"/>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8"/>
          <p:cNvSpPr/>
          <p:nvPr/>
        </p:nvSpPr>
        <p:spPr>
          <a:xfrm>
            <a:off x="9372600" y="4881563"/>
            <a:ext cx="20553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PT</a:t>
            </a:r>
            <a:endParaRPr b="0" i="0" sz="1800" u="none" cap="none" strike="noStrike">
              <a:solidFill>
                <a:schemeClr val="dk1"/>
              </a:solidFill>
              <a:latin typeface="Calibri"/>
              <a:ea typeface="Calibri"/>
              <a:cs typeface="Calibri"/>
              <a:sym typeface="Calibri"/>
            </a:endParaRPr>
          </a:p>
        </p:txBody>
      </p:sp>
      <p:sp>
        <p:nvSpPr>
          <p:cNvPr id="1008" name="Google Shape;1008;p28"/>
          <p:cNvSpPr/>
          <p:nvPr/>
        </p:nvSpPr>
        <p:spPr>
          <a:xfrm>
            <a:off x="11437441" y="4795838"/>
            <a:ext cx="17403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6,870</a:t>
            </a:r>
            <a:endParaRPr b="0" i="0" sz="1800" u="none" cap="none" strike="noStrike">
              <a:solidFill>
                <a:schemeClr val="dk1"/>
              </a:solidFill>
              <a:latin typeface="Calibri"/>
              <a:ea typeface="Calibri"/>
              <a:cs typeface="Calibri"/>
              <a:sym typeface="Calibri"/>
            </a:endParaRPr>
          </a:p>
        </p:txBody>
      </p:sp>
      <p:sp>
        <p:nvSpPr>
          <p:cNvPr id="1009" name="Google Shape;1009;p28"/>
          <p:cNvSpPr/>
          <p:nvPr/>
        </p:nvSpPr>
        <p:spPr>
          <a:xfrm>
            <a:off x="13120539" y="4795838"/>
            <a:ext cx="15168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69.14%</a:t>
            </a:r>
            <a:endParaRPr b="0" i="0" sz="1800" u="none" cap="none" strike="noStrike">
              <a:solidFill>
                <a:schemeClr val="dk1"/>
              </a:solidFill>
              <a:latin typeface="Calibri"/>
              <a:ea typeface="Calibri"/>
              <a:cs typeface="Calibri"/>
              <a:sym typeface="Calibri"/>
            </a:endParaRPr>
          </a:p>
        </p:txBody>
      </p:sp>
      <p:sp>
        <p:nvSpPr>
          <p:cNvPr id="1010" name="Google Shape;1010;p28"/>
          <p:cNvSpPr/>
          <p:nvPr/>
        </p:nvSpPr>
        <p:spPr>
          <a:xfrm>
            <a:off x="14580245" y="4795838"/>
            <a:ext cx="15117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-2.78%</a:t>
            </a:r>
            <a:endParaRPr b="0" i="0" sz="1800" u="none" cap="none" strike="noStrike">
              <a:solidFill>
                <a:schemeClr val="dk1"/>
              </a:solidFill>
              <a:latin typeface="Calibri"/>
              <a:ea typeface="Calibri"/>
              <a:cs typeface="Calibri"/>
              <a:sym typeface="Calibri"/>
            </a:endParaRPr>
          </a:p>
        </p:txBody>
      </p:sp>
      <p:sp>
        <p:nvSpPr>
          <p:cNvPr id="1011" name="Google Shape;1011;p28"/>
          <p:cNvSpPr/>
          <p:nvPr/>
        </p:nvSpPr>
        <p:spPr>
          <a:xfrm>
            <a:off x="16034742" y="4795838"/>
            <a:ext cx="15198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-1.64%</a:t>
            </a:r>
            <a:endParaRPr b="0" i="0" sz="1800" u="none" cap="none" strike="noStrike">
              <a:solidFill>
                <a:schemeClr val="dk1"/>
              </a:solidFill>
              <a:latin typeface="Calibri"/>
              <a:ea typeface="Calibri"/>
              <a:cs typeface="Calibri"/>
              <a:sym typeface="Calibri"/>
            </a:endParaRPr>
          </a:p>
        </p:txBody>
      </p:sp>
      <p:sp>
        <p:nvSpPr>
          <p:cNvPr id="1012" name="Google Shape;1012;p28"/>
          <p:cNvSpPr/>
          <p:nvPr/>
        </p:nvSpPr>
        <p:spPr>
          <a:xfrm>
            <a:off x="9372600" y="5348288"/>
            <a:ext cx="20553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NLM</a:t>
            </a:r>
            <a:endParaRPr b="0" i="0" sz="1800" u="none" cap="none" strike="noStrike">
              <a:solidFill>
                <a:schemeClr val="dk1"/>
              </a:solidFill>
              <a:latin typeface="Calibri"/>
              <a:ea typeface="Calibri"/>
              <a:cs typeface="Calibri"/>
              <a:sym typeface="Calibri"/>
            </a:endParaRPr>
          </a:p>
        </p:txBody>
      </p:sp>
      <p:sp>
        <p:nvSpPr>
          <p:cNvPr id="1013" name="Google Shape;1013;p28"/>
          <p:cNvSpPr/>
          <p:nvPr/>
        </p:nvSpPr>
        <p:spPr>
          <a:xfrm>
            <a:off x="11437441" y="5262563"/>
            <a:ext cx="17403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1,342</a:t>
            </a:r>
            <a:endParaRPr b="0" i="0" sz="1800" u="none" cap="none" strike="noStrike">
              <a:solidFill>
                <a:schemeClr val="dk1"/>
              </a:solidFill>
              <a:latin typeface="Calibri"/>
              <a:ea typeface="Calibri"/>
              <a:cs typeface="Calibri"/>
              <a:sym typeface="Calibri"/>
            </a:endParaRPr>
          </a:p>
        </p:txBody>
      </p:sp>
      <p:sp>
        <p:nvSpPr>
          <p:cNvPr id="1014" name="Google Shape;1014;p28"/>
          <p:cNvSpPr/>
          <p:nvPr/>
        </p:nvSpPr>
        <p:spPr>
          <a:xfrm>
            <a:off x="13120539" y="5262563"/>
            <a:ext cx="15168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65.15%</a:t>
            </a:r>
            <a:endParaRPr b="0" i="0" sz="1800" u="none" cap="none" strike="noStrike">
              <a:solidFill>
                <a:schemeClr val="dk1"/>
              </a:solidFill>
              <a:latin typeface="Calibri"/>
              <a:ea typeface="Calibri"/>
              <a:cs typeface="Calibri"/>
              <a:sym typeface="Calibri"/>
            </a:endParaRPr>
          </a:p>
        </p:txBody>
      </p:sp>
      <p:sp>
        <p:nvSpPr>
          <p:cNvPr id="1015" name="Google Shape;1015;p28"/>
          <p:cNvSpPr/>
          <p:nvPr/>
        </p:nvSpPr>
        <p:spPr>
          <a:xfrm>
            <a:off x="14580245" y="5262563"/>
            <a:ext cx="15117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-5.45%</a:t>
            </a:r>
            <a:endParaRPr b="0" i="0" sz="1800" u="none" cap="none" strike="noStrike">
              <a:solidFill>
                <a:schemeClr val="dk1"/>
              </a:solidFill>
              <a:latin typeface="Calibri"/>
              <a:ea typeface="Calibri"/>
              <a:cs typeface="Calibri"/>
              <a:sym typeface="Calibri"/>
            </a:endParaRPr>
          </a:p>
        </p:txBody>
      </p:sp>
      <p:sp>
        <p:nvSpPr>
          <p:cNvPr id="1016" name="Google Shape;1016;p28"/>
          <p:cNvSpPr/>
          <p:nvPr/>
        </p:nvSpPr>
        <p:spPr>
          <a:xfrm>
            <a:off x="16034742" y="5262563"/>
            <a:ext cx="15198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-8.41%</a:t>
            </a:r>
            <a:endParaRPr b="0" i="0" sz="1800" u="none" cap="none" strike="noStrike">
              <a:solidFill>
                <a:schemeClr val="dk1"/>
              </a:solidFill>
              <a:latin typeface="Calibri"/>
              <a:ea typeface="Calibri"/>
              <a:cs typeface="Calibri"/>
              <a:sym typeface="Calibri"/>
            </a:endParaRPr>
          </a:p>
        </p:txBody>
      </p:sp>
      <p:sp>
        <p:nvSpPr>
          <p:cNvPr id="1017" name="Google Shape;1017;p28"/>
          <p:cNvSpPr/>
          <p:nvPr/>
        </p:nvSpPr>
        <p:spPr>
          <a:xfrm>
            <a:off x="9258300" y="5848350"/>
            <a:ext cx="8267700" cy="847800"/>
          </a:xfrm>
          <a:prstGeom prst="roundRect">
            <a:avLst>
              <a:gd fmla="val 13483"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8"/>
          <p:cNvSpPr/>
          <p:nvPr/>
        </p:nvSpPr>
        <p:spPr>
          <a:xfrm>
            <a:off x="9448800" y="6000750"/>
            <a:ext cx="8134800" cy="581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Next action: </a:t>
            </a:r>
            <a:r>
              <a:rPr b="0" i="0" lang="en-US" sz="1800" u="none" cap="none" strike="noStrike">
                <a:solidFill>
                  <a:srgbClr val="121619"/>
                </a:solidFill>
                <a:highlight>
                  <a:srgbClr val="FFF3EB"/>
                </a:highlight>
                <a:latin typeface="Roboto"/>
                <a:ea typeface="Roboto"/>
                <a:cs typeface="Roboto"/>
                <a:sym typeface="Roboto"/>
              </a:rPr>
              <a:t>Work với GR lên plan khảo sát nhóm TX churn — tìm hiểu lý do ngừng hoạt động → phương án hỗ trợ sớm.</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3" name="Shape 1023"/>
        <p:cNvGrpSpPr/>
        <p:nvPr/>
      </p:nvGrpSpPr>
      <p:grpSpPr>
        <a:xfrm>
          <a:off x="0" y="0"/>
          <a:ext cx="0" cy="0"/>
          <a:chOff x="0" y="0"/>
          <a:chExt cx="0" cy="0"/>
        </a:xfrm>
      </p:grpSpPr>
      <p:sp>
        <p:nvSpPr>
          <p:cNvPr id="1024" name="Google Shape;1024;p29"/>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SUPPLY HOURS &amp; CANCEL RATE</a:t>
            </a:r>
            <a:endParaRPr b="0" i="0" sz="3300" u="none" cap="none" strike="noStrike">
              <a:solidFill>
                <a:schemeClr val="dk1"/>
              </a:solidFill>
              <a:latin typeface="Calibri"/>
              <a:ea typeface="Calibri"/>
              <a:cs typeface="Calibri"/>
              <a:sym typeface="Calibri"/>
            </a:endParaRPr>
          </a:p>
        </p:txBody>
      </p:sp>
      <p:sp>
        <p:nvSpPr>
          <p:cNvPr id="1025" name="Google Shape;1025;p29"/>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Thời gian hoạt động &amp; tỷ lệ hủy đơn — HAN &amp; SGN</a:t>
            </a:r>
            <a:endParaRPr b="0" i="0" sz="1950" u="none" cap="none" strike="noStrike">
              <a:solidFill>
                <a:schemeClr val="dk1"/>
              </a:solidFill>
              <a:latin typeface="Calibri"/>
              <a:ea typeface="Calibri"/>
              <a:cs typeface="Calibri"/>
              <a:sym typeface="Calibri"/>
            </a:endParaRPr>
          </a:p>
        </p:txBody>
      </p:sp>
      <p:sp>
        <p:nvSpPr>
          <p:cNvPr id="1026" name="Google Shape;1026;p29"/>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9"/>
          <p:cNvSpPr/>
          <p:nvPr/>
        </p:nvSpPr>
        <p:spPr>
          <a:xfrm>
            <a:off x="952500" y="15240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028" name="Google Shape;1028;p29"/>
          <p:cNvSpPr/>
          <p:nvPr/>
        </p:nvSpPr>
        <p:spPr>
          <a:xfrm>
            <a:off x="3157240" y="1533525"/>
            <a:ext cx="111114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SGN thiếu hụt Supply Hours nặng hơn HAN (-10.5% so với -2.6%), chủ yếu do thời tiết &amp; demand Bulky tăng.</a:t>
            </a:r>
            <a:endParaRPr b="0" i="0" sz="1800" u="none" cap="none" strike="noStrike">
              <a:solidFill>
                <a:schemeClr val="dk1"/>
              </a:solidFill>
              <a:latin typeface="Calibri"/>
              <a:ea typeface="Calibri"/>
              <a:cs typeface="Calibri"/>
              <a:sym typeface="Calibri"/>
            </a:endParaRPr>
          </a:p>
        </p:txBody>
      </p:sp>
      <p:sp>
        <p:nvSpPr>
          <p:cNvPr id="1029" name="Google Shape;1029;p29"/>
          <p:cNvSpPr/>
          <p:nvPr/>
        </p:nvSpPr>
        <p:spPr>
          <a:xfrm>
            <a:off x="762000" y="2095500"/>
            <a:ext cx="842400" cy="438300"/>
          </a:xfrm>
          <a:prstGeom prst="roundRect">
            <a:avLst>
              <a:gd fmla="val 17391"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9"/>
          <p:cNvSpPr/>
          <p:nvPr/>
        </p:nvSpPr>
        <p:spPr>
          <a:xfrm>
            <a:off x="933450" y="2171700"/>
            <a:ext cx="5757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HAN</a:t>
            </a:r>
            <a:endParaRPr b="0" i="0" sz="1800" u="none" cap="none" strike="noStrike">
              <a:solidFill>
                <a:schemeClr val="dk1"/>
              </a:solidFill>
              <a:latin typeface="Calibri"/>
              <a:ea typeface="Calibri"/>
              <a:cs typeface="Calibri"/>
              <a:sym typeface="Calibri"/>
            </a:endParaRPr>
          </a:p>
        </p:txBody>
      </p:sp>
      <p:sp>
        <p:nvSpPr>
          <p:cNvPr id="1031" name="Google Shape;1031;p29"/>
          <p:cNvSpPr/>
          <p:nvPr/>
        </p:nvSpPr>
        <p:spPr>
          <a:xfrm>
            <a:off x="762000" y="2647950"/>
            <a:ext cx="2679600" cy="1104900"/>
          </a:xfrm>
          <a:prstGeom prst="roundRect">
            <a:avLst>
              <a:gd fmla="val 86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9"/>
          <p:cNvSpPr/>
          <p:nvPr/>
        </p:nvSpPr>
        <p:spPr>
          <a:xfrm>
            <a:off x="753747" y="2762250"/>
            <a:ext cx="2696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Total SH</a:t>
            </a:r>
            <a:endParaRPr b="0" i="0" sz="1800" u="none" cap="none" strike="noStrike">
              <a:solidFill>
                <a:schemeClr val="dk1"/>
              </a:solidFill>
              <a:latin typeface="Calibri"/>
              <a:ea typeface="Calibri"/>
              <a:cs typeface="Calibri"/>
              <a:sym typeface="Calibri"/>
            </a:endParaRPr>
          </a:p>
        </p:txBody>
      </p:sp>
      <p:sp>
        <p:nvSpPr>
          <p:cNvPr id="1033" name="Google Shape;1033;p29"/>
          <p:cNvSpPr/>
          <p:nvPr/>
        </p:nvSpPr>
        <p:spPr>
          <a:xfrm>
            <a:off x="753747" y="3028950"/>
            <a:ext cx="26961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275.8K</a:t>
            </a:r>
            <a:endParaRPr b="0" i="0" sz="2100" u="none" cap="none" strike="noStrike">
              <a:solidFill>
                <a:schemeClr val="dk1"/>
              </a:solidFill>
              <a:latin typeface="Calibri"/>
              <a:ea typeface="Calibri"/>
              <a:cs typeface="Calibri"/>
              <a:sym typeface="Calibri"/>
            </a:endParaRPr>
          </a:p>
        </p:txBody>
      </p:sp>
      <p:sp>
        <p:nvSpPr>
          <p:cNvPr id="1034" name="Google Shape;1034;p29"/>
          <p:cNvSpPr/>
          <p:nvPr/>
        </p:nvSpPr>
        <p:spPr>
          <a:xfrm>
            <a:off x="753747" y="3362325"/>
            <a:ext cx="2696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▼2.6% plan</a:t>
            </a:r>
            <a:endParaRPr b="0" i="0" sz="1800" u="none" cap="none" strike="noStrike">
              <a:solidFill>
                <a:schemeClr val="dk1"/>
              </a:solidFill>
              <a:latin typeface="Calibri"/>
              <a:ea typeface="Calibri"/>
              <a:cs typeface="Calibri"/>
              <a:sym typeface="Calibri"/>
            </a:endParaRPr>
          </a:p>
        </p:txBody>
      </p:sp>
      <p:sp>
        <p:nvSpPr>
          <p:cNvPr id="1035" name="Google Shape;1035;p29"/>
          <p:cNvSpPr/>
          <p:nvPr/>
        </p:nvSpPr>
        <p:spPr>
          <a:xfrm>
            <a:off x="3555950" y="2647950"/>
            <a:ext cx="2679600" cy="1104900"/>
          </a:xfrm>
          <a:prstGeom prst="roundRect">
            <a:avLst>
              <a:gd fmla="val 86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9"/>
          <p:cNvSpPr/>
          <p:nvPr/>
        </p:nvSpPr>
        <p:spPr>
          <a:xfrm>
            <a:off x="3547698" y="2762250"/>
            <a:ext cx="2696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AR</a:t>
            </a:r>
            <a:endParaRPr b="0" i="0" sz="1800" u="none" cap="none" strike="noStrike">
              <a:solidFill>
                <a:schemeClr val="dk1"/>
              </a:solidFill>
              <a:latin typeface="Calibri"/>
              <a:ea typeface="Calibri"/>
              <a:cs typeface="Calibri"/>
              <a:sym typeface="Calibri"/>
            </a:endParaRPr>
          </a:p>
        </p:txBody>
      </p:sp>
      <p:sp>
        <p:nvSpPr>
          <p:cNvPr id="1037" name="Google Shape;1037;p29"/>
          <p:cNvSpPr/>
          <p:nvPr/>
        </p:nvSpPr>
        <p:spPr>
          <a:xfrm>
            <a:off x="3547698" y="3028950"/>
            <a:ext cx="26961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95.0%</a:t>
            </a:r>
            <a:endParaRPr b="0" i="0" sz="2100" u="none" cap="none" strike="noStrike">
              <a:solidFill>
                <a:schemeClr val="dk1"/>
              </a:solidFill>
              <a:latin typeface="Calibri"/>
              <a:ea typeface="Calibri"/>
              <a:cs typeface="Calibri"/>
              <a:sym typeface="Calibri"/>
            </a:endParaRPr>
          </a:p>
        </p:txBody>
      </p:sp>
      <p:sp>
        <p:nvSpPr>
          <p:cNvPr id="1038" name="Google Shape;1038;p29"/>
          <p:cNvSpPr/>
          <p:nvPr/>
        </p:nvSpPr>
        <p:spPr>
          <a:xfrm>
            <a:off x="3547698" y="3362325"/>
            <a:ext cx="2696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▲0.43%</a:t>
            </a:r>
            <a:endParaRPr b="0" i="0" sz="1800" u="none" cap="none" strike="noStrike">
              <a:solidFill>
                <a:schemeClr val="dk1"/>
              </a:solidFill>
              <a:latin typeface="Calibri"/>
              <a:ea typeface="Calibri"/>
              <a:cs typeface="Calibri"/>
              <a:sym typeface="Calibri"/>
            </a:endParaRPr>
          </a:p>
        </p:txBody>
      </p:sp>
      <p:sp>
        <p:nvSpPr>
          <p:cNvPr id="1039" name="Google Shape;1039;p29"/>
          <p:cNvSpPr/>
          <p:nvPr/>
        </p:nvSpPr>
        <p:spPr>
          <a:xfrm>
            <a:off x="6349901" y="2647950"/>
            <a:ext cx="2679900" cy="1104900"/>
          </a:xfrm>
          <a:prstGeom prst="roundRect">
            <a:avLst>
              <a:gd fmla="val 86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9"/>
          <p:cNvSpPr/>
          <p:nvPr/>
        </p:nvSpPr>
        <p:spPr>
          <a:xfrm>
            <a:off x="6341641" y="2762250"/>
            <a:ext cx="2696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FR</a:t>
            </a:r>
            <a:endParaRPr b="0" i="0" sz="1800" u="none" cap="none" strike="noStrike">
              <a:solidFill>
                <a:schemeClr val="dk1"/>
              </a:solidFill>
              <a:latin typeface="Calibri"/>
              <a:ea typeface="Calibri"/>
              <a:cs typeface="Calibri"/>
              <a:sym typeface="Calibri"/>
            </a:endParaRPr>
          </a:p>
        </p:txBody>
      </p:sp>
      <p:sp>
        <p:nvSpPr>
          <p:cNvPr id="1041" name="Google Shape;1041;p29"/>
          <p:cNvSpPr/>
          <p:nvPr/>
        </p:nvSpPr>
        <p:spPr>
          <a:xfrm>
            <a:off x="6341641" y="3028950"/>
            <a:ext cx="26964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86.5%</a:t>
            </a:r>
            <a:endParaRPr b="0" i="0" sz="2100" u="none" cap="none" strike="noStrike">
              <a:solidFill>
                <a:schemeClr val="dk1"/>
              </a:solidFill>
              <a:latin typeface="Calibri"/>
              <a:ea typeface="Calibri"/>
              <a:cs typeface="Calibri"/>
              <a:sym typeface="Calibri"/>
            </a:endParaRPr>
          </a:p>
        </p:txBody>
      </p:sp>
      <p:sp>
        <p:nvSpPr>
          <p:cNvPr id="1042" name="Google Shape;1042;p29"/>
          <p:cNvSpPr/>
          <p:nvPr/>
        </p:nvSpPr>
        <p:spPr>
          <a:xfrm>
            <a:off x="6341641" y="3362325"/>
            <a:ext cx="26964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▲0.13%</a:t>
            </a:r>
            <a:endParaRPr b="0" i="0" sz="1800" u="none" cap="none" strike="noStrike">
              <a:solidFill>
                <a:schemeClr val="dk1"/>
              </a:solidFill>
              <a:latin typeface="Calibri"/>
              <a:ea typeface="Calibri"/>
              <a:cs typeface="Calibri"/>
              <a:sym typeface="Calibri"/>
            </a:endParaRPr>
          </a:p>
        </p:txBody>
      </p:sp>
      <p:sp>
        <p:nvSpPr>
          <p:cNvPr id="1043" name="Google Shape;1043;p29"/>
          <p:cNvSpPr/>
          <p:nvPr/>
        </p:nvSpPr>
        <p:spPr>
          <a:xfrm>
            <a:off x="762000" y="3867150"/>
            <a:ext cx="8267700" cy="800100"/>
          </a:xfrm>
          <a:prstGeom prst="roundRect">
            <a:avLst>
              <a:gd fmla="val 14286"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9"/>
          <p:cNvSpPr/>
          <p:nvPr/>
        </p:nvSpPr>
        <p:spPr>
          <a:xfrm>
            <a:off x="933450" y="4000500"/>
            <a:ext cx="817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SH gap 2.6% so với planning, hụt ở nhóm FT/PT &amp; NLM. Cancel Rate PoC chung giảm 0.6%, đạt 13%; giảm đều ở các tập.</a:t>
            </a:r>
            <a:endParaRPr b="0" i="0" sz="1800" u="none" cap="none" strike="noStrike">
              <a:solidFill>
                <a:schemeClr val="dk1"/>
              </a:solidFill>
              <a:latin typeface="Calibri"/>
              <a:ea typeface="Calibri"/>
              <a:cs typeface="Calibri"/>
              <a:sym typeface="Calibri"/>
            </a:endParaRPr>
          </a:p>
        </p:txBody>
      </p:sp>
      <p:sp>
        <p:nvSpPr>
          <p:cNvPr id="1045" name="Google Shape;1045;p29"/>
          <p:cNvSpPr/>
          <p:nvPr/>
        </p:nvSpPr>
        <p:spPr>
          <a:xfrm>
            <a:off x="762000" y="4781550"/>
            <a:ext cx="8267700" cy="4191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9"/>
          <p:cNvSpPr/>
          <p:nvPr/>
        </p:nvSpPr>
        <p:spPr>
          <a:xfrm>
            <a:off x="857250" y="4857750"/>
            <a:ext cx="29121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Segment</a:t>
            </a:r>
            <a:endParaRPr b="0" i="0" sz="1800" u="none" cap="none" strike="noStrike">
              <a:solidFill>
                <a:schemeClr val="dk1"/>
              </a:solidFill>
              <a:latin typeface="Calibri"/>
              <a:ea typeface="Calibri"/>
              <a:cs typeface="Calibri"/>
              <a:sym typeface="Calibri"/>
            </a:endParaRPr>
          </a:p>
        </p:txBody>
      </p:sp>
      <p:sp>
        <p:nvSpPr>
          <p:cNvPr id="1047" name="Google Shape;1047;p29"/>
          <p:cNvSpPr/>
          <p:nvPr/>
        </p:nvSpPr>
        <p:spPr>
          <a:xfrm>
            <a:off x="3831431" y="4857750"/>
            <a:ext cx="19455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CR</a:t>
            </a:r>
            <a:endParaRPr b="0" i="0" sz="1800" u="none" cap="none" strike="noStrike">
              <a:solidFill>
                <a:schemeClr val="dk1"/>
              </a:solidFill>
              <a:latin typeface="Calibri"/>
              <a:ea typeface="Calibri"/>
              <a:cs typeface="Calibri"/>
              <a:sym typeface="Calibri"/>
            </a:endParaRPr>
          </a:p>
        </p:txBody>
      </p:sp>
      <p:sp>
        <p:nvSpPr>
          <p:cNvPr id="1048" name="Google Shape;1048;p29"/>
          <p:cNvSpPr/>
          <p:nvPr/>
        </p:nvSpPr>
        <p:spPr>
          <a:xfrm>
            <a:off x="5881529" y="4857750"/>
            <a:ext cx="31008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Gap WoW</a:t>
            </a:r>
            <a:endParaRPr b="0" i="0" sz="1800" u="none" cap="none" strike="noStrike">
              <a:solidFill>
                <a:schemeClr val="dk1"/>
              </a:solidFill>
              <a:latin typeface="Calibri"/>
              <a:ea typeface="Calibri"/>
              <a:cs typeface="Calibri"/>
              <a:sym typeface="Calibri"/>
            </a:endParaRPr>
          </a:p>
        </p:txBody>
      </p:sp>
      <p:sp>
        <p:nvSpPr>
          <p:cNvPr id="1049" name="Google Shape;1049;p29"/>
          <p:cNvSpPr/>
          <p:nvPr/>
        </p:nvSpPr>
        <p:spPr>
          <a:xfrm>
            <a:off x="762000" y="5614988"/>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9"/>
          <p:cNvSpPr/>
          <p:nvPr/>
        </p:nvSpPr>
        <p:spPr>
          <a:xfrm>
            <a:off x="857250" y="5276850"/>
            <a:ext cx="29121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PT</a:t>
            </a:r>
            <a:endParaRPr b="0" i="0" sz="1800" u="none" cap="none" strike="noStrike">
              <a:solidFill>
                <a:schemeClr val="dk1"/>
              </a:solidFill>
              <a:latin typeface="Calibri"/>
              <a:ea typeface="Calibri"/>
              <a:cs typeface="Calibri"/>
              <a:sym typeface="Calibri"/>
            </a:endParaRPr>
          </a:p>
        </p:txBody>
      </p:sp>
      <p:sp>
        <p:nvSpPr>
          <p:cNvPr id="1051" name="Google Shape;1051;p29"/>
          <p:cNvSpPr/>
          <p:nvPr/>
        </p:nvSpPr>
        <p:spPr>
          <a:xfrm>
            <a:off x="3745706" y="5210175"/>
            <a:ext cx="21171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14.55%</a:t>
            </a:r>
            <a:endParaRPr b="0" i="0" sz="1800" u="none" cap="none" strike="noStrike">
              <a:solidFill>
                <a:schemeClr val="dk1"/>
              </a:solidFill>
              <a:latin typeface="Calibri"/>
              <a:ea typeface="Calibri"/>
              <a:cs typeface="Calibri"/>
              <a:sym typeface="Calibri"/>
            </a:endParaRPr>
          </a:p>
        </p:txBody>
      </p:sp>
      <p:sp>
        <p:nvSpPr>
          <p:cNvPr id="1052" name="Google Shape;1052;p29"/>
          <p:cNvSpPr/>
          <p:nvPr/>
        </p:nvSpPr>
        <p:spPr>
          <a:xfrm>
            <a:off x="5795804" y="5210175"/>
            <a:ext cx="32724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-2.03%</a:t>
            </a:r>
            <a:endParaRPr b="0" i="0" sz="1800" u="none" cap="none" strike="noStrike">
              <a:solidFill>
                <a:schemeClr val="dk1"/>
              </a:solidFill>
              <a:latin typeface="Calibri"/>
              <a:ea typeface="Calibri"/>
              <a:cs typeface="Calibri"/>
              <a:sym typeface="Calibri"/>
            </a:endParaRPr>
          </a:p>
        </p:txBody>
      </p:sp>
      <p:sp>
        <p:nvSpPr>
          <p:cNvPr id="1053" name="Google Shape;1053;p29"/>
          <p:cNvSpPr/>
          <p:nvPr/>
        </p:nvSpPr>
        <p:spPr>
          <a:xfrm>
            <a:off x="762000" y="5624513"/>
            <a:ext cx="8267700" cy="4287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9"/>
          <p:cNvSpPr/>
          <p:nvPr/>
        </p:nvSpPr>
        <p:spPr>
          <a:xfrm>
            <a:off x="762000" y="6043613"/>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9"/>
          <p:cNvSpPr/>
          <p:nvPr/>
        </p:nvSpPr>
        <p:spPr>
          <a:xfrm>
            <a:off x="857250" y="5700713"/>
            <a:ext cx="29121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NLM</a:t>
            </a:r>
            <a:endParaRPr b="0" i="0" sz="1800" u="none" cap="none" strike="noStrike">
              <a:solidFill>
                <a:schemeClr val="dk1"/>
              </a:solidFill>
              <a:latin typeface="Calibri"/>
              <a:ea typeface="Calibri"/>
              <a:cs typeface="Calibri"/>
              <a:sym typeface="Calibri"/>
            </a:endParaRPr>
          </a:p>
        </p:txBody>
      </p:sp>
      <p:sp>
        <p:nvSpPr>
          <p:cNvPr id="1056" name="Google Shape;1056;p29"/>
          <p:cNvSpPr/>
          <p:nvPr/>
        </p:nvSpPr>
        <p:spPr>
          <a:xfrm>
            <a:off x="3745706" y="5634038"/>
            <a:ext cx="21171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14.19%</a:t>
            </a:r>
            <a:endParaRPr b="0" i="0" sz="1800" u="none" cap="none" strike="noStrike">
              <a:solidFill>
                <a:schemeClr val="dk1"/>
              </a:solidFill>
              <a:latin typeface="Calibri"/>
              <a:ea typeface="Calibri"/>
              <a:cs typeface="Calibri"/>
              <a:sym typeface="Calibri"/>
            </a:endParaRPr>
          </a:p>
        </p:txBody>
      </p:sp>
      <p:sp>
        <p:nvSpPr>
          <p:cNvPr id="1057" name="Google Shape;1057;p29"/>
          <p:cNvSpPr/>
          <p:nvPr/>
        </p:nvSpPr>
        <p:spPr>
          <a:xfrm>
            <a:off x="5795804" y="5634038"/>
            <a:ext cx="32724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-1.74%</a:t>
            </a:r>
            <a:endParaRPr b="0" i="0" sz="1800" u="none" cap="none" strike="noStrike">
              <a:solidFill>
                <a:schemeClr val="dk1"/>
              </a:solidFill>
              <a:latin typeface="Calibri"/>
              <a:ea typeface="Calibri"/>
              <a:cs typeface="Calibri"/>
              <a:sym typeface="Calibri"/>
            </a:endParaRPr>
          </a:p>
        </p:txBody>
      </p:sp>
      <p:sp>
        <p:nvSpPr>
          <p:cNvPr id="1058" name="Google Shape;1058;p29"/>
          <p:cNvSpPr/>
          <p:nvPr/>
        </p:nvSpPr>
        <p:spPr>
          <a:xfrm>
            <a:off x="857250" y="6129338"/>
            <a:ext cx="29121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Total</a:t>
            </a:r>
            <a:endParaRPr b="0" i="0" sz="1800" u="none" cap="none" strike="noStrike">
              <a:solidFill>
                <a:schemeClr val="dk1"/>
              </a:solidFill>
              <a:latin typeface="Calibri"/>
              <a:ea typeface="Calibri"/>
              <a:cs typeface="Calibri"/>
              <a:sym typeface="Calibri"/>
            </a:endParaRPr>
          </a:p>
        </p:txBody>
      </p:sp>
      <p:sp>
        <p:nvSpPr>
          <p:cNvPr id="1059" name="Google Shape;1059;p29"/>
          <p:cNvSpPr/>
          <p:nvPr/>
        </p:nvSpPr>
        <p:spPr>
          <a:xfrm>
            <a:off x="3745706" y="6062663"/>
            <a:ext cx="21171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13.04%</a:t>
            </a:r>
            <a:endParaRPr b="0" i="0" sz="1800" u="none" cap="none" strike="noStrike">
              <a:solidFill>
                <a:schemeClr val="dk1"/>
              </a:solidFill>
              <a:latin typeface="Calibri"/>
              <a:ea typeface="Calibri"/>
              <a:cs typeface="Calibri"/>
              <a:sym typeface="Calibri"/>
            </a:endParaRPr>
          </a:p>
        </p:txBody>
      </p:sp>
      <p:sp>
        <p:nvSpPr>
          <p:cNvPr id="1060" name="Google Shape;1060;p29"/>
          <p:cNvSpPr/>
          <p:nvPr/>
        </p:nvSpPr>
        <p:spPr>
          <a:xfrm>
            <a:off x="5795804" y="6062663"/>
            <a:ext cx="32724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-0.56%</a:t>
            </a:r>
            <a:endParaRPr b="0" i="0" sz="1800" u="none" cap="none" strike="noStrike">
              <a:solidFill>
                <a:schemeClr val="dk1"/>
              </a:solidFill>
              <a:latin typeface="Calibri"/>
              <a:ea typeface="Calibri"/>
              <a:cs typeface="Calibri"/>
              <a:sym typeface="Calibri"/>
            </a:endParaRPr>
          </a:p>
        </p:txBody>
      </p:sp>
      <p:sp>
        <p:nvSpPr>
          <p:cNvPr id="1061" name="Google Shape;1061;p29"/>
          <p:cNvSpPr/>
          <p:nvPr/>
        </p:nvSpPr>
        <p:spPr>
          <a:xfrm>
            <a:off x="9258300" y="2095500"/>
            <a:ext cx="844800" cy="438300"/>
          </a:xfrm>
          <a:prstGeom prst="roundRect">
            <a:avLst>
              <a:gd fmla="val 17391"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9"/>
          <p:cNvSpPr/>
          <p:nvPr/>
        </p:nvSpPr>
        <p:spPr>
          <a:xfrm>
            <a:off x="9429750" y="2171700"/>
            <a:ext cx="5781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SGN</a:t>
            </a:r>
            <a:endParaRPr b="0" i="0" sz="1800" u="none" cap="none" strike="noStrike">
              <a:solidFill>
                <a:schemeClr val="dk1"/>
              </a:solidFill>
              <a:latin typeface="Calibri"/>
              <a:ea typeface="Calibri"/>
              <a:cs typeface="Calibri"/>
              <a:sym typeface="Calibri"/>
            </a:endParaRPr>
          </a:p>
        </p:txBody>
      </p:sp>
      <p:sp>
        <p:nvSpPr>
          <p:cNvPr id="1063" name="Google Shape;1063;p29"/>
          <p:cNvSpPr/>
          <p:nvPr/>
        </p:nvSpPr>
        <p:spPr>
          <a:xfrm>
            <a:off x="9258300" y="2647950"/>
            <a:ext cx="2679600" cy="1104900"/>
          </a:xfrm>
          <a:prstGeom prst="roundRect">
            <a:avLst>
              <a:gd fmla="val 862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9"/>
          <p:cNvSpPr/>
          <p:nvPr/>
        </p:nvSpPr>
        <p:spPr>
          <a:xfrm>
            <a:off x="9250047" y="2762250"/>
            <a:ext cx="2696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Total SH</a:t>
            </a:r>
            <a:endParaRPr b="0" i="0" sz="1800" u="none" cap="none" strike="noStrike">
              <a:solidFill>
                <a:schemeClr val="dk1"/>
              </a:solidFill>
              <a:latin typeface="Calibri"/>
              <a:ea typeface="Calibri"/>
              <a:cs typeface="Calibri"/>
              <a:sym typeface="Calibri"/>
            </a:endParaRPr>
          </a:p>
        </p:txBody>
      </p:sp>
      <p:sp>
        <p:nvSpPr>
          <p:cNvPr id="1065" name="Google Shape;1065;p29"/>
          <p:cNvSpPr/>
          <p:nvPr/>
        </p:nvSpPr>
        <p:spPr>
          <a:xfrm>
            <a:off x="9250047" y="3028950"/>
            <a:ext cx="26961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178K</a:t>
            </a:r>
            <a:endParaRPr b="0" i="0" sz="2100" u="none" cap="none" strike="noStrike">
              <a:solidFill>
                <a:schemeClr val="dk1"/>
              </a:solidFill>
              <a:latin typeface="Calibri"/>
              <a:ea typeface="Calibri"/>
              <a:cs typeface="Calibri"/>
              <a:sym typeface="Calibri"/>
            </a:endParaRPr>
          </a:p>
        </p:txBody>
      </p:sp>
      <p:sp>
        <p:nvSpPr>
          <p:cNvPr id="1066" name="Google Shape;1066;p29"/>
          <p:cNvSpPr/>
          <p:nvPr/>
        </p:nvSpPr>
        <p:spPr>
          <a:xfrm>
            <a:off x="9250047" y="3362325"/>
            <a:ext cx="2696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▼10.5% plan</a:t>
            </a:r>
            <a:endParaRPr b="0" i="0" sz="1800" u="none" cap="none" strike="noStrike">
              <a:solidFill>
                <a:schemeClr val="dk1"/>
              </a:solidFill>
              <a:latin typeface="Calibri"/>
              <a:ea typeface="Calibri"/>
              <a:cs typeface="Calibri"/>
              <a:sym typeface="Calibri"/>
            </a:endParaRPr>
          </a:p>
        </p:txBody>
      </p:sp>
      <p:sp>
        <p:nvSpPr>
          <p:cNvPr id="1067" name="Google Shape;1067;p29"/>
          <p:cNvSpPr/>
          <p:nvPr/>
        </p:nvSpPr>
        <p:spPr>
          <a:xfrm>
            <a:off x="12052250" y="2647950"/>
            <a:ext cx="2679600" cy="1104900"/>
          </a:xfrm>
          <a:prstGeom prst="roundRect">
            <a:avLst>
              <a:gd fmla="val 862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9"/>
          <p:cNvSpPr/>
          <p:nvPr/>
        </p:nvSpPr>
        <p:spPr>
          <a:xfrm>
            <a:off x="12043998" y="2762250"/>
            <a:ext cx="2696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AR</a:t>
            </a:r>
            <a:endParaRPr b="0" i="0" sz="1800" u="none" cap="none" strike="noStrike">
              <a:solidFill>
                <a:schemeClr val="dk1"/>
              </a:solidFill>
              <a:latin typeface="Calibri"/>
              <a:ea typeface="Calibri"/>
              <a:cs typeface="Calibri"/>
              <a:sym typeface="Calibri"/>
            </a:endParaRPr>
          </a:p>
        </p:txBody>
      </p:sp>
      <p:sp>
        <p:nvSpPr>
          <p:cNvPr id="1069" name="Google Shape;1069;p29"/>
          <p:cNvSpPr/>
          <p:nvPr/>
        </p:nvSpPr>
        <p:spPr>
          <a:xfrm>
            <a:off x="12043998" y="3028950"/>
            <a:ext cx="26961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85.5%</a:t>
            </a:r>
            <a:endParaRPr b="0" i="0" sz="2100" u="none" cap="none" strike="noStrike">
              <a:solidFill>
                <a:schemeClr val="dk1"/>
              </a:solidFill>
              <a:latin typeface="Calibri"/>
              <a:ea typeface="Calibri"/>
              <a:cs typeface="Calibri"/>
              <a:sym typeface="Calibri"/>
            </a:endParaRPr>
          </a:p>
        </p:txBody>
      </p:sp>
      <p:sp>
        <p:nvSpPr>
          <p:cNvPr id="1070" name="Google Shape;1070;p29"/>
          <p:cNvSpPr/>
          <p:nvPr/>
        </p:nvSpPr>
        <p:spPr>
          <a:xfrm>
            <a:off x="12043998" y="3362325"/>
            <a:ext cx="2696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▼2.5%</a:t>
            </a:r>
            <a:endParaRPr b="0" i="0" sz="1800" u="none" cap="none" strike="noStrike">
              <a:solidFill>
                <a:schemeClr val="dk1"/>
              </a:solidFill>
              <a:latin typeface="Calibri"/>
              <a:ea typeface="Calibri"/>
              <a:cs typeface="Calibri"/>
              <a:sym typeface="Calibri"/>
            </a:endParaRPr>
          </a:p>
        </p:txBody>
      </p:sp>
      <p:sp>
        <p:nvSpPr>
          <p:cNvPr id="1071" name="Google Shape;1071;p29"/>
          <p:cNvSpPr/>
          <p:nvPr/>
        </p:nvSpPr>
        <p:spPr>
          <a:xfrm>
            <a:off x="14846201" y="2647950"/>
            <a:ext cx="2679900" cy="1104900"/>
          </a:xfrm>
          <a:prstGeom prst="roundRect">
            <a:avLst>
              <a:gd fmla="val 862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9"/>
          <p:cNvSpPr/>
          <p:nvPr/>
        </p:nvSpPr>
        <p:spPr>
          <a:xfrm>
            <a:off x="14837941" y="2762250"/>
            <a:ext cx="2696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FR</a:t>
            </a:r>
            <a:endParaRPr b="0" i="0" sz="1800" u="none" cap="none" strike="noStrike">
              <a:solidFill>
                <a:schemeClr val="dk1"/>
              </a:solidFill>
              <a:latin typeface="Calibri"/>
              <a:ea typeface="Calibri"/>
              <a:cs typeface="Calibri"/>
              <a:sym typeface="Calibri"/>
            </a:endParaRPr>
          </a:p>
        </p:txBody>
      </p:sp>
      <p:sp>
        <p:nvSpPr>
          <p:cNvPr id="1073" name="Google Shape;1073;p29"/>
          <p:cNvSpPr/>
          <p:nvPr/>
        </p:nvSpPr>
        <p:spPr>
          <a:xfrm>
            <a:off x="14837941" y="3028950"/>
            <a:ext cx="26964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75.8%</a:t>
            </a:r>
            <a:endParaRPr b="0" i="0" sz="2100" u="none" cap="none" strike="noStrike">
              <a:solidFill>
                <a:schemeClr val="dk1"/>
              </a:solidFill>
              <a:latin typeface="Calibri"/>
              <a:ea typeface="Calibri"/>
              <a:cs typeface="Calibri"/>
              <a:sym typeface="Calibri"/>
            </a:endParaRPr>
          </a:p>
        </p:txBody>
      </p:sp>
      <p:sp>
        <p:nvSpPr>
          <p:cNvPr id="1074" name="Google Shape;1074;p29"/>
          <p:cNvSpPr/>
          <p:nvPr/>
        </p:nvSpPr>
        <p:spPr>
          <a:xfrm>
            <a:off x="14837941" y="3362325"/>
            <a:ext cx="26964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▼2.7%</a:t>
            </a:r>
            <a:endParaRPr b="0" i="0" sz="1800" u="none" cap="none" strike="noStrike">
              <a:solidFill>
                <a:schemeClr val="dk1"/>
              </a:solidFill>
              <a:latin typeface="Calibri"/>
              <a:ea typeface="Calibri"/>
              <a:cs typeface="Calibri"/>
              <a:sym typeface="Calibri"/>
            </a:endParaRPr>
          </a:p>
        </p:txBody>
      </p:sp>
      <p:sp>
        <p:nvSpPr>
          <p:cNvPr id="1075" name="Google Shape;1075;p29"/>
          <p:cNvSpPr/>
          <p:nvPr/>
        </p:nvSpPr>
        <p:spPr>
          <a:xfrm>
            <a:off x="9258300" y="3867150"/>
            <a:ext cx="8267700" cy="800100"/>
          </a:xfrm>
          <a:prstGeom prst="roundRect">
            <a:avLst>
              <a:gd fmla="val 14286"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9"/>
          <p:cNvSpPr/>
          <p:nvPr/>
        </p:nvSpPr>
        <p:spPr>
          <a:xfrm>
            <a:off x="9429750" y="4000500"/>
            <a:ext cx="817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SH gap 10.5% so với planning, hụt chủ yếu FT/PT. RPH tăng 11.5% WoW; AR–FR giảm mạnh ~2.5% do thời tiết xấu + demand Bulky tăng mạnh.</a:t>
            </a:r>
            <a:endParaRPr b="0" i="0" sz="1800" u="none" cap="none" strike="noStrike">
              <a:solidFill>
                <a:schemeClr val="dk1"/>
              </a:solidFill>
              <a:latin typeface="Calibri"/>
              <a:ea typeface="Calibri"/>
              <a:cs typeface="Calibri"/>
              <a:sym typeface="Calibri"/>
            </a:endParaRPr>
          </a:p>
        </p:txBody>
      </p:sp>
      <p:sp>
        <p:nvSpPr>
          <p:cNvPr id="1077" name="Google Shape;1077;p29"/>
          <p:cNvSpPr/>
          <p:nvPr/>
        </p:nvSpPr>
        <p:spPr>
          <a:xfrm>
            <a:off x="9258300" y="4781550"/>
            <a:ext cx="8267700" cy="4191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9"/>
          <p:cNvSpPr/>
          <p:nvPr/>
        </p:nvSpPr>
        <p:spPr>
          <a:xfrm>
            <a:off x="9353550" y="4857750"/>
            <a:ext cx="32256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Segment</a:t>
            </a:r>
            <a:endParaRPr b="0" i="0" sz="1800" u="none" cap="none" strike="noStrike">
              <a:solidFill>
                <a:schemeClr val="dk1"/>
              </a:solidFill>
              <a:latin typeface="Calibri"/>
              <a:ea typeface="Calibri"/>
              <a:cs typeface="Calibri"/>
              <a:sym typeface="Calibri"/>
            </a:endParaRPr>
          </a:p>
        </p:txBody>
      </p:sp>
      <p:sp>
        <p:nvSpPr>
          <p:cNvPr id="1079" name="Google Shape;1079;p29"/>
          <p:cNvSpPr/>
          <p:nvPr/>
        </p:nvSpPr>
        <p:spPr>
          <a:xfrm>
            <a:off x="12631936" y="4857750"/>
            <a:ext cx="15195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SH</a:t>
            </a:r>
            <a:endParaRPr b="0" i="0" sz="1800" u="none" cap="none" strike="noStrike">
              <a:solidFill>
                <a:schemeClr val="dk1"/>
              </a:solidFill>
              <a:latin typeface="Calibri"/>
              <a:ea typeface="Calibri"/>
              <a:cs typeface="Calibri"/>
              <a:sym typeface="Calibri"/>
            </a:endParaRPr>
          </a:p>
        </p:txBody>
      </p:sp>
      <p:sp>
        <p:nvSpPr>
          <p:cNvPr id="1080" name="Google Shape;1080;p29"/>
          <p:cNvSpPr/>
          <p:nvPr/>
        </p:nvSpPr>
        <p:spPr>
          <a:xfrm>
            <a:off x="14254110" y="4857750"/>
            <a:ext cx="32265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Gap Plan</a:t>
            </a:r>
            <a:endParaRPr b="0" i="0" sz="1800" u="none" cap="none" strike="noStrike">
              <a:solidFill>
                <a:schemeClr val="dk1"/>
              </a:solidFill>
              <a:latin typeface="Calibri"/>
              <a:ea typeface="Calibri"/>
              <a:cs typeface="Calibri"/>
              <a:sym typeface="Calibri"/>
            </a:endParaRPr>
          </a:p>
        </p:txBody>
      </p:sp>
      <p:sp>
        <p:nvSpPr>
          <p:cNvPr id="1081" name="Google Shape;1081;p29"/>
          <p:cNvSpPr/>
          <p:nvPr/>
        </p:nvSpPr>
        <p:spPr>
          <a:xfrm>
            <a:off x="9258300" y="5614988"/>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9"/>
          <p:cNvSpPr/>
          <p:nvPr/>
        </p:nvSpPr>
        <p:spPr>
          <a:xfrm>
            <a:off x="9353550" y="5276850"/>
            <a:ext cx="32256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PT</a:t>
            </a:r>
            <a:endParaRPr b="0" i="0" sz="1800" u="none" cap="none" strike="noStrike">
              <a:solidFill>
                <a:schemeClr val="dk1"/>
              </a:solidFill>
              <a:latin typeface="Calibri"/>
              <a:ea typeface="Calibri"/>
              <a:cs typeface="Calibri"/>
              <a:sym typeface="Calibri"/>
            </a:endParaRPr>
          </a:p>
        </p:txBody>
      </p:sp>
      <p:sp>
        <p:nvSpPr>
          <p:cNvPr id="1083" name="Google Shape;1083;p29"/>
          <p:cNvSpPr/>
          <p:nvPr/>
        </p:nvSpPr>
        <p:spPr>
          <a:xfrm>
            <a:off x="12546211" y="5210175"/>
            <a:ext cx="16911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95K</a:t>
            </a:r>
            <a:endParaRPr b="0" i="0" sz="1800" u="none" cap="none" strike="noStrike">
              <a:solidFill>
                <a:schemeClr val="dk1"/>
              </a:solidFill>
              <a:latin typeface="Calibri"/>
              <a:ea typeface="Calibri"/>
              <a:cs typeface="Calibri"/>
              <a:sym typeface="Calibri"/>
            </a:endParaRPr>
          </a:p>
        </p:txBody>
      </p:sp>
      <p:sp>
        <p:nvSpPr>
          <p:cNvPr id="1084" name="Google Shape;1084;p29"/>
          <p:cNvSpPr/>
          <p:nvPr/>
        </p:nvSpPr>
        <p:spPr>
          <a:xfrm>
            <a:off x="14168385" y="5210175"/>
            <a:ext cx="33978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-6.46%</a:t>
            </a:r>
            <a:endParaRPr b="0" i="0" sz="1800" u="none" cap="none" strike="noStrike">
              <a:solidFill>
                <a:schemeClr val="dk1"/>
              </a:solidFill>
              <a:latin typeface="Calibri"/>
              <a:ea typeface="Calibri"/>
              <a:cs typeface="Calibri"/>
              <a:sym typeface="Calibri"/>
            </a:endParaRPr>
          </a:p>
        </p:txBody>
      </p:sp>
      <p:sp>
        <p:nvSpPr>
          <p:cNvPr id="1085" name="Google Shape;1085;p29"/>
          <p:cNvSpPr/>
          <p:nvPr/>
        </p:nvSpPr>
        <p:spPr>
          <a:xfrm>
            <a:off x="9258300" y="5624513"/>
            <a:ext cx="8267700" cy="4287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9"/>
          <p:cNvSpPr/>
          <p:nvPr/>
        </p:nvSpPr>
        <p:spPr>
          <a:xfrm>
            <a:off x="9258300" y="6043613"/>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9"/>
          <p:cNvSpPr/>
          <p:nvPr/>
        </p:nvSpPr>
        <p:spPr>
          <a:xfrm>
            <a:off x="9353550" y="5700713"/>
            <a:ext cx="32256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NIM</a:t>
            </a:r>
            <a:endParaRPr b="0" i="0" sz="1800" u="none" cap="none" strike="noStrike">
              <a:solidFill>
                <a:schemeClr val="dk1"/>
              </a:solidFill>
              <a:latin typeface="Calibri"/>
              <a:ea typeface="Calibri"/>
              <a:cs typeface="Calibri"/>
              <a:sym typeface="Calibri"/>
            </a:endParaRPr>
          </a:p>
        </p:txBody>
      </p:sp>
      <p:sp>
        <p:nvSpPr>
          <p:cNvPr id="1088" name="Google Shape;1088;p29"/>
          <p:cNvSpPr/>
          <p:nvPr/>
        </p:nvSpPr>
        <p:spPr>
          <a:xfrm>
            <a:off x="12546211" y="5634038"/>
            <a:ext cx="16911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10K</a:t>
            </a:r>
            <a:endParaRPr b="0" i="0" sz="1800" u="none" cap="none" strike="noStrike">
              <a:solidFill>
                <a:schemeClr val="dk1"/>
              </a:solidFill>
              <a:latin typeface="Calibri"/>
              <a:ea typeface="Calibri"/>
              <a:cs typeface="Calibri"/>
              <a:sym typeface="Calibri"/>
            </a:endParaRPr>
          </a:p>
        </p:txBody>
      </p:sp>
      <p:sp>
        <p:nvSpPr>
          <p:cNvPr id="1089" name="Google Shape;1089;p29"/>
          <p:cNvSpPr/>
          <p:nvPr/>
        </p:nvSpPr>
        <p:spPr>
          <a:xfrm>
            <a:off x="14168385" y="5634038"/>
            <a:ext cx="33978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-38.71%</a:t>
            </a:r>
            <a:endParaRPr b="0" i="0" sz="1800" u="none" cap="none" strike="noStrike">
              <a:solidFill>
                <a:schemeClr val="dk1"/>
              </a:solidFill>
              <a:latin typeface="Calibri"/>
              <a:ea typeface="Calibri"/>
              <a:cs typeface="Calibri"/>
              <a:sym typeface="Calibri"/>
            </a:endParaRPr>
          </a:p>
        </p:txBody>
      </p:sp>
      <p:sp>
        <p:nvSpPr>
          <p:cNvPr id="1090" name="Google Shape;1090;p29"/>
          <p:cNvSpPr/>
          <p:nvPr/>
        </p:nvSpPr>
        <p:spPr>
          <a:xfrm>
            <a:off x="9353550" y="6129338"/>
            <a:ext cx="32256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Total</a:t>
            </a:r>
            <a:endParaRPr b="0" i="0" sz="1800" u="none" cap="none" strike="noStrike">
              <a:solidFill>
                <a:schemeClr val="dk1"/>
              </a:solidFill>
              <a:latin typeface="Calibri"/>
              <a:ea typeface="Calibri"/>
              <a:cs typeface="Calibri"/>
              <a:sym typeface="Calibri"/>
            </a:endParaRPr>
          </a:p>
        </p:txBody>
      </p:sp>
      <p:sp>
        <p:nvSpPr>
          <p:cNvPr id="1091" name="Google Shape;1091;p29"/>
          <p:cNvSpPr/>
          <p:nvPr/>
        </p:nvSpPr>
        <p:spPr>
          <a:xfrm>
            <a:off x="12546211" y="6062663"/>
            <a:ext cx="16911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178K</a:t>
            </a:r>
            <a:endParaRPr b="0" i="0" sz="1800" u="none" cap="none" strike="noStrike">
              <a:solidFill>
                <a:schemeClr val="dk1"/>
              </a:solidFill>
              <a:latin typeface="Calibri"/>
              <a:ea typeface="Calibri"/>
              <a:cs typeface="Calibri"/>
              <a:sym typeface="Calibri"/>
            </a:endParaRPr>
          </a:p>
        </p:txBody>
      </p:sp>
      <p:sp>
        <p:nvSpPr>
          <p:cNvPr id="1092" name="Google Shape;1092;p29"/>
          <p:cNvSpPr/>
          <p:nvPr/>
        </p:nvSpPr>
        <p:spPr>
          <a:xfrm>
            <a:off x="14168385" y="6062663"/>
            <a:ext cx="33978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-10.51%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7" name="Shape 1097"/>
        <p:cNvGrpSpPr/>
        <p:nvPr/>
      </p:nvGrpSpPr>
      <p:grpSpPr>
        <a:xfrm>
          <a:off x="0" y="0"/>
          <a:ext cx="0" cy="0"/>
          <a:chOff x="0" y="0"/>
          <a:chExt cx="0" cy="0"/>
        </a:xfrm>
      </p:grpSpPr>
      <p:sp>
        <p:nvSpPr>
          <p:cNvPr id="1098" name="Google Shape;1098;p30"/>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BULKY PERFORMANCE &amp; CORE 2H TEAM</a:t>
            </a:r>
            <a:endParaRPr b="0" i="0" sz="3300" u="none" cap="none" strike="noStrike">
              <a:solidFill>
                <a:schemeClr val="dk1"/>
              </a:solidFill>
              <a:latin typeface="Calibri"/>
              <a:ea typeface="Calibri"/>
              <a:cs typeface="Calibri"/>
              <a:sym typeface="Calibri"/>
            </a:endParaRPr>
          </a:p>
        </p:txBody>
      </p:sp>
      <p:sp>
        <p:nvSpPr>
          <p:cNvPr id="1099" name="Google Shape;1099;p30"/>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Demand Bulky high COD &amp; hiệu suất đội core 2H</a:t>
            </a:r>
            <a:endParaRPr b="0" i="0" sz="1950" u="none" cap="none" strike="noStrike">
              <a:solidFill>
                <a:schemeClr val="dk1"/>
              </a:solidFill>
              <a:latin typeface="Calibri"/>
              <a:ea typeface="Calibri"/>
              <a:cs typeface="Calibri"/>
              <a:sym typeface="Calibri"/>
            </a:endParaRPr>
          </a:p>
        </p:txBody>
      </p:sp>
      <p:sp>
        <p:nvSpPr>
          <p:cNvPr id="1100" name="Google Shape;1100;p30"/>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0"/>
          <p:cNvSpPr/>
          <p:nvPr/>
        </p:nvSpPr>
        <p:spPr>
          <a:xfrm>
            <a:off x="952500" y="15240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102" name="Google Shape;1102;p30"/>
          <p:cNvSpPr/>
          <p:nvPr/>
        </p:nvSpPr>
        <p:spPr>
          <a:xfrm>
            <a:off x="3157240" y="1533525"/>
            <a:ext cx="112068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Demand Bulky high COD chiếm 50–60% tổng đơn; đội Core 2H cần ổn định lại quy mô sau rà soát tài khoản.</a:t>
            </a:r>
            <a:endParaRPr b="0" i="0" sz="1800" u="none" cap="none" strike="noStrike">
              <a:solidFill>
                <a:schemeClr val="dk1"/>
              </a:solidFill>
              <a:latin typeface="Calibri"/>
              <a:ea typeface="Calibri"/>
              <a:cs typeface="Calibri"/>
              <a:sym typeface="Calibri"/>
            </a:endParaRPr>
          </a:p>
        </p:txBody>
      </p:sp>
      <p:sp>
        <p:nvSpPr>
          <p:cNvPr id="1103" name="Google Shape;1103;p30"/>
          <p:cNvSpPr/>
          <p:nvPr/>
        </p:nvSpPr>
        <p:spPr>
          <a:xfrm>
            <a:off x="762000" y="2114550"/>
            <a:ext cx="8267700" cy="7677300"/>
          </a:xfrm>
          <a:prstGeom prst="roundRect">
            <a:avLst>
              <a:gd fmla="val 198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0"/>
          <p:cNvSpPr/>
          <p:nvPr/>
        </p:nvSpPr>
        <p:spPr>
          <a:xfrm>
            <a:off x="990600" y="2343150"/>
            <a:ext cx="8591400" cy="40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 Bulky Performance</a:t>
            </a:r>
            <a:endParaRPr b="0" i="0" sz="2100" u="none" cap="none" strike="noStrike">
              <a:solidFill>
                <a:schemeClr val="dk1"/>
              </a:solidFill>
              <a:latin typeface="Calibri"/>
              <a:ea typeface="Calibri"/>
              <a:cs typeface="Calibri"/>
              <a:sym typeface="Calibri"/>
            </a:endParaRPr>
          </a:p>
        </p:txBody>
      </p:sp>
      <p:sp>
        <p:nvSpPr>
          <p:cNvPr id="1105" name="Google Shape;1105;p30"/>
          <p:cNvSpPr/>
          <p:nvPr/>
        </p:nvSpPr>
        <p:spPr>
          <a:xfrm>
            <a:off x="990600" y="2838450"/>
            <a:ext cx="8044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Tỷ trọng đơn Bulky high COD (total_cod ≥1M) tăng mạnh trong 2 tuần gần nhất, chiếm </a:t>
            </a:r>
            <a:r>
              <a:rPr b="1" i="0" lang="en-US" sz="1800" u="none" cap="none" strike="noStrike">
                <a:solidFill>
                  <a:srgbClr val="F55F00"/>
                </a:solidFill>
                <a:latin typeface="Roboto"/>
                <a:ea typeface="Roboto"/>
                <a:cs typeface="Roboto"/>
                <a:sym typeface="Roboto"/>
              </a:rPr>
              <a:t>50–60%</a:t>
            </a:r>
            <a:r>
              <a:rPr b="0" i="0" lang="en-US" sz="1800" u="none" cap="none" strike="noStrike">
                <a:solidFill>
                  <a:srgbClr val="121619"/>
                </a:solidFill>
                <a:latin typeface="Roboto"/>
                <a:ea typeface="Roboto"/>
                <a:cs typeface="Roboto"/>
                <a:sym typeface="Roboto"/>
              </a:rPr>
              <a:t>.</a:t>
            </a:r>
            <a:endParaRPr b="0" i="0" sz="1800" u="none" cap="none" strike="noStrike">
              <a:solidFill>
                <a:schemeClr val="dk1"/>
              </a:solidFill>
              <a:latin typeface="Calibri"/>
              <a:ea typeface="Calibri"/>
              <a:cs typeface="Calibri"/>
              <a:sym typeface="Calibri"/>
            </a:endParaRPr>
          </a:p>
        </p:txBody>
      </p:sp>
      <p:sp>
        <p:nvSpPr>
          <p:cNvPr id="1106" name="Google Shape;1106;p30"/>
          <p:cNvSpPr/>
          <p:nvPr/>
        </p:nvSpPr>
        <p:spPr>
          <a:xfrm>
            <a:off x="990600" y="3505200"/>
            <a:ext cx="8044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Active Bulky cũng tăng theo trend — số TX hoàn thành ≥1 trip Bulky high COD tăng gấp </a:t>
            </a:r>
            <a:r>
              <a:rPr b="1" i="0" lang="en-US" sz="1800" u="none" cap="none" strike="noStrike">
                <a:solidFill>
                  <a:srgbClr val="F55F00"/>
                </a:solidFill>
                <a:latin typeface="Roboto"/>
                <a:ea typeface="Roboto"/>
                <a:cs typeface="Roboto"/>
                <a:sym typeface="Roboto"/>
              </a:rPr>
              <a:t>1.3–3 lần</a:t>
            </a:r>
            <a:r>
              <a:rPr b="0" i="0" lang="en-US" sz="1800" u="none" cap="none" strike="noStrike">
                <a:solidFill>
                  <a:srgbClr val="121619"/>
                </a:solidFill>
                <a:latin typeface="Roboto"/>
                <a:ea typeface="Roboto"/>
                <a:cs typeface="Roboto"/>
                <a:sym typeface="Roboto"/>
              </a:rPr>
              <a:t>.</a:t>
            </a:r>
            <a:endParaRPr b="0" i="0" sz="1800" u="none" cap="none" strike="noStrike">
              <a:solidFill>
                <a:schemeClr val="dk1"/>
              </a:solidFill>
              <a:latin typeface="Calibri"/>
              <a:ea typeface="Calibri"/>
              <a:cs typeface="Calibri"/>
              <a:sym typeface="Calibri"/>
            </a:endParaRPr>
          </a:p>
        </p:txBody>
      </p:sp>
      <p:sp>
        <p:nvSpPr>
          <p:cNvPr id="1107" name="Google Shape;1107;p30"/>
          <p:cNvSpPr/>
          <p:nvPr/>
        </p:nvSpPr>
        <p:spPr>
          <a:xfrm>
            <a:off x="990600" y="4171950"/>
            <a:ext cx="7810500" cy="866700"/>
          </a:xfrm>
          <a:prstGeom prst="roundRect">
            <a:avLst>
              <a:gd fmla="val 13187"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0"/>
          <p:cNvSpPr/>
          <p:nvPr/>
        </p:nvSpPr>
        <p:spPr>
          <a:xfrm>
            <a:off x="1171575" y="4333875"/>
            <a:ext cx="7683000" cy="581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Next action: </a:t>
            </a:r>
            <a:r>
              <a:rPr b="0" i="0" lang="en-US" sz="1800" u="none" cap="none" strike="noStrike">
                <a:solidFill>
                  <a:srgbClr val="4C5158"/>
                </a:solidFill>
                <a:highlight>
                  <a:srgbClr val="FFFFFF"/>
                </a:highlight>
                <a:latin typeface="Roboto"/>
                <a:ea typeface="Roboto"/>
                <a:cs typeface="Roboto"/>
                <a:sym typeface="Roboto"/>
              </a:rPr>
              <a:t>Review perform nhóm tăng COD balance 10M→15M · Đẩy tuyển dụng TX COD balance cao vào đội chuyển.</a:t>
            </a:r>
            <a:endParaRPr b="0" i="0" sz="1800" u="none" cap="none" strike="noStrike">
              <a:solidFill>
                <a:schemeClr val="dk1"/>
              </a:solidFill>
              <a:latin typeface="Calibri"/>
              <a:ea typeface="Calibri"/>
              <a:cs typeface="Calibri"/>
              <a:sym typeface="Calibri"/>
            </a:endParaRPr>
          </a:p>
        </p:txBody>
      </p:sp>
      <p:sp>
        <p:nvSpPr>
          <p:cNvPr id="1109" name="Google Shape;1109;p30"/>
          <p:cNvSpPr/>
          <p:nvPr/>
        </p:nvSpPr>
        <p:spPr>
          <a:xfrm>
            <a:off x="9258300" y="2114550"/>
            <a:ext cx="8267700" cy="7677300"/>
          </a:xfrm>
          <a:prstGeom prst="roundRect">
            <a:avLst>
              <a:gd fmla="val 198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0"/>
          <p:cNvSpPr/>
          <p:nvPr/>
        </p:nvSpPr>
        <p:spPr>
          <a:xfrm>
            <a:off x="9486900" y="2343150"/>
            <a:ext cx="8591400" cy="40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 Core 2H / Bulky Team</a:t>
            </a:r>
            <a:endParaRPr b="0" i="0" sz="2100" u="none" cap="none" strike="noStrike">
              <a:solidFill>
                <a:schemeClr val="dk1"/>
              </a:solidFill>
              <a:latin typeface="Calibri"/>
              <a:ea typeface="Calibri"/>
              <a:cs typeface="Calibri"/>
              <a:sym typeface="Calibri"/>
            </a:endParaRPr>
          </a:p>
        </p:txBody>
      </p:sp>
      <p:sp>
        <p:nvSpPr>
          <p:cNvPr id="1111" name="Google Shape;1111;p30"/>
          <p:cNvSpPr/>
          <p:nvPr/>
        </p:nvSpPr>
        <p:spPr>
          <a:xfrm>
            <a:off x="9486900" y="2838450"/>
            <a:ext cx="2527200" cy="857400"/>
          </a:xfrm>
          <a:prstGeom prst="roundRect">
            <a:avLst>
              <a:gd fmla="val 111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0"/>
          <p:cNvSpPr/>
          <p:nvPr/>
        </p:nvSpPr>
        <p:spPr>
          <a:xfrm>
            <a:off x="9486267" y="2952750"/>
            <a:ext cx="25284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80</a:t>
            </a:r>
            <a:endParaRPr b="0" i="0" sz="2250" u="none" cap="none" strike="noStrike">
              <a:solidFill>
                <a:schemeClr val="dk1"/>
              </a:solidFill>
              <a:latin typeface="Calibri"/>
              <a:ea typeface="Calibri"/>
              <a:cs typeface="Calibri"/>
              <a:sym typeface="Calibri"/>
            </a:endParaRPr>
          </a:p>
        </p:txBody>
      </p:sp>
      <p:sp>
        <p:nvSpPr>
          <p:cNvPr id="1113" name="Google Shape;1113;p30"/>
          <p:cNvSpPr/>
          <p:nvPr/>
        </p:nvSpPr>
        <p:spPr>
          <a:xfrm>
            <a:off x="9486267" y="3314700"/>
            <a:ext cx="2528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Thành viên</a:t>
            </a:r>
            <a:endParaRPr b="0" i="0" sz="1800" u="none" cap="none" strike="noStrike">
              <a:solidFill>
                <a:schemeClr val="dk1"/>
              </a:solidFill>
              <a:latin typeface="Calibri"/>
              <a:ea typeface="Calibri"/>
              <a:cs typeface="Calibri"/>
              <a:sym typeface="Calibri"/>
            </a:endParaRPr>
          </a:p>
        </p:txBody>
      </p:sp>
      <p:sp>
        <p:nvSpPr>
          <p:cNvPr id="1114" name="Google Shape;1114;p30"/>
          <p:cNvSpPr/>
          <p:nvPr/>
        </p:nvSpPr>
        <p:spPr>
          <a:xfrm>
            <a:off x="12128450" y="2838450"/>
            <a:ext cx="2527200" cy="857400"/>
          </a:xfrm>
          <a:prstGeom prst="roundRect">
            <a:avLst>
              <a:gd fmla="val 111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0"/>
          <p:cNvSpPr/>
          <p:nvPr/>
        </p:nvSpPr>
        <p:spPr>
          <a:xfrm>
            <a:off x="12127818" y="2952750"/>
            <a:ext cx="25284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2250"/>
              <a:buFont typeface="Plus Jakarta Sans"/>
              <a:buNone/>
            </a:pPr>
            <a:r>
              <a:rPr b="1" i="0" lang="en-US" sz="2250" u="none" cap="none" strike="noStrike">
                <a:solidFill>
                  <a:srgbClr val="249F58"/>
                </a:solidFill>
                <a:latin typeface="Plus Jakarta Sans"/>
                <a:ea typeface="Plus Jakarta Sans"/>
                <a:cs typeface="Plus Jakarta Sans"/>
                <a:sym typeface="Plus Jakarta Sans"/>
              </a:rPr>
              <a:t>+5</a:t>
            </a:r>
            <a:endParaRPr b="0" i="0" sz="2250" u="none" cap="none" strike="noStrike">
              <a:solidFill>
                <a:schemeClr val="dk1"/>
              </a:solidFill>
              <a:latin typeface="Calibri"/>
              <a:ea typeface="Calibri"/>
              <a:cs typeface="Calibri"/>
              <a:sym typeface="Calibri"/>
            </a:endParaRPr>
          </a:p>
        </p:txBody>
      </p:sp>
      <p:sp>
        <p:nvSpPr>
          <p:cNvPr id="1116" name="Google Shape;1116;p30"/>
          <p:cNvSpPr/>
          <p:nvPr/>
        </p:nvSpPr>
        <p:spPr>
          <a:xfrm>
            <a:off x="12127818" y="3314700"/>
            <a:ext cx="2528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Bổ sung</a:t>
            </a:r>
            <a:endParaRPr b="0" i="0" sz="1800" u="none" cap="none" strike="noStrike">
              <a:solidFill>
                <a:schemeClr val="dk1"/>
              </a:solidFill>
              <a:latin typeface="Calibri"/>
              <a:ea typeface="Calibri"/>
              <a:cs typeface="Calibri"/>
              <a:sym typeface="Calibri"/>
            </a:endParaRPr>
          </a:p>
        </p:txBody>
      </p:sp>
      <p:sp>
        <p:nvSpPr>
          <p:cNvPr id="1117" name="Google Shape;1117;p30"/>
          <p:cNvSpPr/>
          <p:nvPr/>
        </p:nvSpPr>
        <p:spPr>
          <a:xfrm>
            <a:off x="14770001" y="2838450"/>
            <a:ext cx="2527500" cy="857400"/>
          </a:xfrm>
          <a:prstGeom prst="roundRect">
            <a:avLst>
              <a:gd fmla="val 11111"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0"/>
          <p:cNvSpPr/>
          <p:nvPr/>
        </p:nvSpPr>
        <p:spPr>
          <a:xfrm>
            <a:off x="14769361" y="2952750"/>
            <a:ext cx="25287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2250"/>
              <a:buFont typeface="Plus Jakarta Sans"/>
              <a:buNone/>
            </a:pPr>
            <a:r>
              <a:rPr b="1" i="0" lang="en-US" sz="2250" u="none" cap="none" strike="noStrike">
                <a:solidFill>
                  <a:srgbClr val="DA1E28"/>
                </a:solidFill>
                <a:latin typeface="Plus Jakarta Sans"/>
                <a:ea typeface="Plus Jakarta Sans"/>
                <a:cs typeface="Plus Jakarta Sans"/>
                <a:sym typeface="Plus Jakarta Sans"/>
              </a:rPr>
              <a:t>-9</a:t>
            </a:r>
            <a:endParaRPr b="0" i="0" sz="2250" u="none" cap="none" strike="noStrike">
              <a:solidFill>
                <a:schemeClr val="dk1"/>
              </a:solidFill>
              <a:latin typeface="Calibri"/>
              <a:ea typeface="Calibri"/>
              <a:cs typeface="Calibri"/>
              <a:sym typeface="Calibri"/>
            </a:endParaRPr>
          </a:p>
        </p:txBody>
      </p:sp>
      <p:sp>
        <p:nvSpPr>
          <p:cNvPr id="1119" name="Google Shape;1119;p30"/>
          <p:cNvSpPr/>
          <p:nvPr/>
        </p:nvSpPr>
        <p:spPr>
          <a:xfrm>
            <a:off x="14769361" y="3314700"/>
            <a:ext cx="25287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Rời đội</a:t>
            </a:r>
            <a:endParaRPr b="0" i="0" sz="1800" u="none" cap="none" strike="noStrike">
              <a:solidFill>
                <a:schemeClr val="dk1"/>
              </a:solidFill>
              <a:latin typeface="Calibri"/>
              <a:ea typeface="Calibri"/>
              <a:cs typeface="Calibri"/>
              <a:sym typeface="Calibri"/>
            </a:endParaRPr>
          </a:p>
        </p:txBody>
      </p:sp>
      <p:sp>
        <p:nvSpPr>
          <p:cNvPr id="1120" name="Google Shape;1120;p30"/>
          <p:cNvSpPr/>
          <p:nvPr/>
        </p:nvSpPr>
        <p:spPr>
          <a:xfrm>
            <a:off x="9486900" y="3829050"/>
            <a:ext cx="8044800" cy="847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Đã phát hiện tài khoản không chính chủ → 9 TX ngưng hợp tác (7 case không đảm bảo hiệu suất). Active duy trì 50–70 TX/ngày, chưa ổn định. Sau nhắc nhở lead-time, số TX vi phạm đã giảm một nửa.</a:t>
            </a:r>
            <a:endParaRPr b="0" i="0" sz="1800" u="none" cap="none" strike="noStrike">
              <a:solidFill>
                <a:schemeClr val="dk1"/>
              </a:solidFill>
              <a:latin typeface="Calibri"/>
              <a:ea typeface="Calibri"/>
              <a:cs typeface="Calibri"/>
              <a:sym typeface="Calibri"/>
            </a:endParaRPr>
          </a:p>
        </p:txBody>
      </p:sp>
      <p:sp>
        <p:nvSpPr>
          <p:cNvPr id="1121" name="Google Shape;1121;p30"/>
          <p:cNvSpPr/>
          <p:nvPr/>
        </p:nvSpPr>
        <p:spPr>
          <a:xfrm>
            <a:off x="9486900" y="4772025"/>
            <a:ext cx="7810500" cy="866700"/>
          </a:xfrm>
          <a:prstGeom prst="roundRect">
            <a:avLst>
              <a:gd fmla="val 13187"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0"/>
          <p:cNvSpPr/>
          <p:nvPr/>
        </p:nvSpPr>
        <p:spPr>
          <a:xfrm>
            <a:off x="9667875" y="4933950"/>
            <a:ext cx="7683000" cy="581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Next action: </a:t>
            </a:r>
            <a:r>
              <a:rPr b="0" i="0" lang="en-US" sz="1800" u="none" cap="none" strike="noStrike">
                <a:solidFill>
                  <a:srgbClr val="4C5158"/>
                </a:solidFill>
                <a:highlight>
                  <a:srgbClr val="FFFFFF"/>
                </a:highlight>
                <a:latin typeface="Roboto"/>
                <a:ea typeface="Roboto"/>
                <a:cs typeface="Roboto"/>
                <a:sym typeface="Roboto"/>
              </a:rPr>
              <a:t>Rà soát TX lead-time &gt;12h → gửi QM chế tài · Chặn bot gán đơn sau 18h · Tiếp tục thúc đẩy hiệu suất đội.</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7" name="Shape 1127"/>
        <p:cNvGrpSpPr/>
        <p:nvPr/>
      </p:nvGrpSpPr>
      <p:grpSpPr>
        <a:xfrm>
          <a:off x="0" y="0"/>
          <a:ext cx="0" cy="0"/>
          <a:chOff x="0" y="0"/>
          <a:chExt cx="0" cy="0"/>
        </a:xfrm>
      </p:grpSpPr>
      <p:sp>
        <p:nvSpPr>
          <p:cNvPr id="1128" name="Google Shape;1128;p31"/>
          <p:cNvSpPr/>
          <p:nvPr/>
        </p:nvSpPr>
        <p:spPr>
          <a:xfrm>
            <a:off x="762000" y="5334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CHƯƠNG TRÌNH ÂN XÁ 13.8</a:t>
            </a:r>
            <a:endParaRPr b="0" i="0" sz="3300" u="none" cap="none" strike="noStrike">
              <a:solidFill>
                <a:schemeClr val="dk1"/>
              </a:solidFill>
              <a:latin typeface="Calibri"/>
              <a:ea typeface="Calibri"/>
              <a:cs typeface="Calibri"/>
              <a:sym typeface="Calibri"/>
            </a:endParaRPr>
          </a:p>
        </p:txBody>
      </p:sp>
      <p:sp>
        <p:nvSpPr>
          <p:cNvPr id="1129" name="Google Shape;1129;p31"/>
          <p:cNvSpPr/>
          <p:nvPr/>
        </p:nvSpPr>
        <p:spPr>
          <a:xfrm>
            <a:off x="762000" y="10668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Kích hoạt lại tài xế ngưng hoạt động</a:t>
            </a:r>
            <a:endParaRPr b="0" i="0" sz="1950" u="none" cap="none" strike="noStrike">
              <a:solidFill>
                <a:schemeClr val="dk1"/>
              </a:solidFill>
              <a:latin typeface="Calibri"/>
              <a:ea typeface="Calibri"/>
              <a:cs typeface="Calibri"/>
              <a:sym typeface="Calibri"/>
            </a:endParaRPr>
          </a:p>
        </p:txBody>
      </p:sp>
      <p:sp>
        <p:nvSpPr>
          <p:cNvPr id="1130" name="Google Shape;1130;p31"/>
          <p:cNvSpPr/>
          <p:nvPr/>
        </p:nvSpPr>
        <p:spPr>
          <a:xfrm>
            <a:off x="762000" y="14478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1"/>
          <p:cNvSpPr/>
          <p:nvPr/>
        </p:nvSpPr>
        <p:spPr>
          <a:xfrm>
            <a:off x="952500" y="15621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132" name="Google Shape;1132;p31"/>
          <p:cNvSpPr/>
          <p:nvPr/>
        </p:nvSpPr>
        <p:spPr>
          <a:xfrm>
            <a:off x="3157240" y="1571625"/>
            <a:ext cx="65274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Chương trình ân xá vượt target 10% (220/200 TX active trở lại).</a:t>
            </a:r>
            <a:endParaRPr b="0" i="0" sz="1800" u="none" cap="none" strike="noStrike">
              <a:solidFill>
                <a:schemeClr val="dk1"/>
              </a:solidFill>
              <a:latin typeface="Calibri"/>
              <a:ea typeface="Calibri"/>
              <a:cs typeface="Calibri"/>
              <a:sym typeface="Calibri"/>
            </a:endParaRPr>
          </a:p>
        </p:txBody>
      </p:sp>
      <p:sp>
        <p:nvSpPr>
          <p:cNvPr id="1133" name="Google Shape;1133;p31"/>
          <p:cNvSpPr/>
          <p:nvPr/>
        </p:nvSpPr>
        <p:spPr>
          <a:xfrm>
            <a:off x="762000" y="2190750"/>
            <a:ext cx="5511600" cy="7563000"/>
          </a:xfrm>
          <a:prstGeom prst="roundRect">
            <a:avLst>
              <a:gd fmla="val 2765"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1"/>
          <p:cNvSpPr/>
          <p:nvPr/>
        </p:nvSpPr>
        <p:spPr>
          <a:xfrm>
            <a:off x="2479104" y="5172075"/>
            <a:ext cx="20775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E6027"/>
              </a:buClr>
              <a:buSzPts val="1800"/>
              <a:buFont typeface="Roboto"/>
              <a:buNone/>
            </a:pPr>
            <a:r>
              <a:rPr b="0" i="0" lang="en-US" sz="1800" u="none" cap="none" strike="noStrike">
                <a:solidFill>
                  <a:srgbClr val="0E6027"/>
                </a:solidFill>
                <a:latin typeface="Roboto"/>
                <a:ea typeface="Roboto"/>
                <a:cs typeface="Roboto"/>
                <a:sym typeface="Roboto"/>
              </a:rPr>
              <a:t>Tài xế active trở lại</a:t>
            </a:r>
            <a:endParaRPr b="0" i="0" sz="1800" u="none" cap="none" strike="noStrike">
              <a:solidFill>
                <a:schemeClr val="dk1"/>
              </a:solidFill>
              <a:latin typeface="Calibri"/>
              <a:ea typeface="Calibri"/>
              <a:cs typeface="Calibri"/>
              <a:sym typeface="Calibri"/>
            </a:endParaRPr>
          </a:p>
        </p:txBody>
      </p:sp>
      <p:sp>
        <p:nvSpPr>
          <p:cNvPr id="1135" name="Google Shape;1135;p31"/>
          <p:cNvSpPr/>
          <p:nvPr/>
        </p:nvSpPr>
        <p:spPr>
          <a:xfrm>
            <a:off x="2404943" y="5534025"/>
            <a:ext cx="2225700" cy="800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E6027"/>
              </a:buClr>
              <a:buSzPts val="4800"/>
              <a:buFont typeface="Plus Jakarta Sans"/>
              <a:buNone/>
            </a:pPr>
            <a:r>
              <a:rPr b="1" i="0" lang="en-US" sz="4800" u="none" cap="none" strike="noStrike">
                <a:solidFill>
                  <a:srgbClr val="0E6027"/>
                </a:solidFill>
                <a:latin typeface="Plus Jakarta Sans"/>
                <a:ea typeface="Plus Jakarta Sans"/>
                <a:cs typeface="Plus Jakarta Sans"/>
                <a:sym typeface="Plus Jakarta Sans"/>
              </a:rPr>
              <a:t>220</a:t>
            </a:r>
            <a:r>
              <a:rPr b="1" i="0" lang="en-US" sz="2700" u="none" cap="none" strike="noStrike">
                <a:solidFill>
                  <a:srgbClr val="757D86"/>
                </a:solidFill>
                <a:latin typeface="Plus Jakarta Sans"/>
                <a:ea typeface="Plus Jakarta Sans"/>
                <a:cs typeface="Plus Jakarta Sans"/>
                <a:sym typeface="Plus Jakarta Sans"/>
              </a:rPr>
              <a:t>/200</a:t>
            </a:r>
            <a:endParaRPr b="0" i="0" sz="4800" u="none" cap="none" strike="noStrike">
              <a:solidFill>
                <a:schemeClr val="dk1"/>
              </a:solidFill>
              <a:latin typeface="Calibri"/>
              <a:ea typeface="Calibri"/>
              <a:cs typeface="Calibri"/>
              <a:sym typeface="Calibri"/>
            </a:endParaRPr>
          </a:p>
        </p:txBody>
      </p:sp>
      <p:sp>
        <p:nvSpPr>
          <p:cNvPr id="1136" name="Google Shape;1136;p31"/>
          <p:cNvSpPr/>
          <p:nvPr/>
        </p:nvSpPr>
        <p:spPr>
          <a:xfrm>
            <a:off x="2742158" y="6391275"/>
            <a:ext cx="1551300" cy="381000"/>
          </a:xfrm>
          <a:prstGeom prst="roundRect">
            <a:avLst>
              <a:gd fmla="val 50000"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1"/>
          <p:cNvSpPr/>
          <p:nvPr/>
        </p:nvSpPr>
        <p:spPr>
          <a:xfrm>
            <a:off x="2875508" y="6448425"/>
            <a:ext cx="12846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0" i="0" lang="en-US" sz="1800" u="none" cap="none" strike="noStrike">
                <a:solidFill>
                  <a:srgbClr val="FFFFFF"/>
                </a:solidFill>
                <a:latin typeface="Roboto"/>
                <a:ea typeface="Roboto"/>
                <a:cs typeface="Roboto"/>
                <a:sym typeface="Roboto"/>
              </a:rPr>
              <a:t>110% target</a:t>
            </a:r>
            <a:endParaRPr b="0" i="0" sz="1800" u="none" cap="none" strike="noStrike">
              <a:solidFill>
                <a:schemeClr val="dk1"/>
              </a:solidFill>
              <a:latin typeface="Calibri"/>
              <a:ea typeface="Calibri"/>
              <a:cs typeface="Calibri"/>
              <a:sym typeface="Calibri"/>
            </a:endParaRPr>
          </a:p>
        </p:txBody>
      </p:sp>
      <p:sp>
        <p:nvSpPr>
          <p:cNvPr id="1138" name="Google Shape;1138;p31"/>
          <p:cNvSpPr/>
          <p:nvPr/>
        </p:nvSpPr>
        <p:spPr>
          <a:xfrm>
            <a:off x="6502301" y="2190750"/>
            <a:ext cx="11023800" cy="609600"/>
          </a:xfrm>
          <a:prstGeom prst="roundRect">
            <a:avLst>
              <a:gd fmla="val 1875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1"/>
          <p:cNvSpPr/>
          <p:nvPr/>
        </p:nvSpPr>
        <p:spPr>
          <a:xfrm>
            <a:off x="6692801" y="2362200"/>
            <a:ext cx="10973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Ân xá: </a:t>
            </a:r>
            <a:r>
              <a:rPr b="0" i="0" lang="en-US" sz="1800" u="none" cap="none" strike="noStrike">
                <a:solidFill>
                  <a:srgbClr val="121619"/>
                </a:solidFill>
                <a:highlight>
                  <a:srgbClr val="F5F7FA"/>
                </a:highlight>
                <a:latin typeface="Roboto"/>
                <a:ea typeface="Roboto"/>
                <a:cs typeface="Roboto"/>
                <a:sym typeface="Roboto"/>
              </a:rPr>
              <a:t>Hoàn tất danh sách tài xế, gửi QM gán tag hỗ trợ — 14/8.</a:t>
            </a:r>
            <a:endParaRPr b="0" i="0" sz="1800" u="none" cap="none" strike="noStrike">
              <a:solidFill>
                <a:schemeClr val="dk1"/>
              </a:solidFill>
              <a:latin typeface="Calibri"/>
              <a:ea typeface="Calibri"/>
              <a:cs typeface="Calibri"/>
              <a:sym typeface="Calibri"/>
            </a:endParaRPr>
          </a:p>
        </p:txBody>
      </p:sp>
      <p:sp>
        <p:nvSpPr>
          <p:cNvPr id="1140" name="Google Shape;1140;p31"/>
          <p:cNvSpPr/>
          <p:nvPr/>
        </p:nvSpPr>
        <p:spPr>
          <a:xfrm>
            <a:off x="6502301" y="2933700"/>
            <a:ext cx="11023800" cy="609600"/>
          </a:xfrm>
          <a:prstGeom prst="roundRect">
            <a:avLst>
              <a:gd fmla="val 1875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1"/>
          <p:cNvSpPr/>
          <p:nvPr/>
        </p:nvSpPr>
        <p:spPr>
          <a:xfrm>
            <a:off x="6692801" y="3105150"/>
            <a:ext cx="10973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Truyền thông kích hoạt: </a:t>
            </a:r>
            <a:r>
              <a:rPr b="0" i="0" lang="en-US" sz="1800" u="none" cap="none" strike="noStrike">
                <a:solidFill>
                  <a:srgbClr val="121619"/>
                </a:solidFill>
                <a:highlight>
                  <a:srgbClr val="F5F7FA"/>
                </a:highlight>
                <a:latin typeface="Roboto"/>
                <a:ea typeface="Roboto"/>
                <a:cs typeface="Roboto"/>
                <a:sym typeface="Roboto"/>
              </a:rPr>
              <a:t>Triển khai từ 14/8, đạt 220/200 tài xế active trở lại.</a:t>
            </a:r>
            <a:endParaRPr b="0" i="0" sz="1800" u="none" cap="none" strike="noStrike">
              <a:solidFill>
                <a:schemeClr val="dk1"/>
              </a:solidFill>
              <a:latin typeface="Calibri"/>
              <a:ea typeface="Calibri"/>
              <a:cs typeface="Calibri"/>
              <a:sym typeface="Calibri"/>
            </a:endParaRPr>
          </a:p>
        </p:txBody>
      </p:sp>
      <p:sp>
        <p:nvSpPr>
          <p:cNvPr id="1142" name="Google Shape;1142;p31"/>
          <p:cNvSpPr/>
          <p:nvPr/>
        </p:nvSpPr>
        <p:spPr>
          <a:xfrm>
            <a:off x="6502301" y="3676650"/>
            <a:ext cx="11023800" cy="609600"/>
          </a:xfrm>
          <a:prstGeom prst="roundRect">
            <a:avLst>
              <a:gd fmla="val 18750" name="adj"/>
            </a:avLst>
          </a:pr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1"/>
          <p:cNvSpPr/>
          <p:nvPr/>
        </p:nvSpPr>
        <p:spPr>
          <a:xfrm>
            <a:off x="6692801" y="3848100"/>
            <a:ext cx="10973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Gap: </a:t>
            </a:r>
            <a:r>
              <a:rPr b="0" i="0" lang="en-US" sz="1800" u="none" cap="none" strike="noStrike">
                <a:solidFill>
                  <a:srgbClr val="121619"/>
                </a:solidFill>
                <a:highlight>
                  <a:srgbClr val="FFF8E1"/>
                </a:highlight>
                <a:latin typeface="Roboto"/>
                <a:ea typeface="Roboto"/>
                <a:cs typeface="Roboto"/>
                <a:sym typeface="Roboto"/>
              </a:rPr>
              <a:t>32/63 chưa fulfil dịch vụ, do thời tiết cực đoan (nắng nóng, mưa dông cuối tuần).</a:t>
            </a:r>
            <a:endParaRPr b="0" i="0" sz="1800" u="none" cap="none" strike="noStrike">
              <a:solidFill>
                <a:schemeClr val="dk1"/>
              </a:solidFill>
              <a:latin typeface="Calibri"/>
              <a:ea typeface="Calibri"/>
              <a:cs typeface="Calibri"/>
              <a:sym typeface="Calibri"/>
            </a:endParaRPr>
          </a:p>
        </p:txBody>
      </p:sp>
      <p:sp>
        <p:nvSpPr>
          <p:cNvPr id="1144" name="Google Shape;1144;p31"/>
          <p:cNvSpPr/>
          <p:nvPr/>
        </p:nvSpPr>
        <p:spPr>
          <a:xfrm>
            <a:off x="6502301" y="4419600"/>
            <a:ext cx="11023800" cy="895500"/>
          </a:xfrm>
          <a:prstGeom prst="roundRect">
            <a:avLst>
              <a:gd fmla="val 12766"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1"/>
          <p:cNvSpPr/>
          <p:nvPr/>
        </p:nvSpPr>
        <p:spPr>
          <a:xfrm>
            <a:off x="6702326" y="4600575"/>
            <a:ext cx="109545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Next action: </a:t>
            </a:r>
            <a:r>
              <a:rPr b="0" i="0" lang="en-US" sz="1800" u="none" cap="none" strike="noStrike">
                <a:solidFill>
                  <a:srgbClr val="4C5158"/>
                </a:solidFill>
                <a:highlight>
                  <a:srgbClr val="FFFFFF"/>
                </a:highlight>
                <a:latin typeface="Roboto"/>
                <a:ea typeface="Roboto"/>
                <a:cs typeface="Roboto"/>
                <a:sym typeface="Roboto"/>
              </a:rPr>
              <a:t>Tiếp tục push Noti, loại trừ nhóm đã active để tránh spam · Từ 26/8: cảnh báo nhóm active nhưng chưa ký quỹ đủ · Call-out trực tiếp nhắc nhở ký quỹ trước khi kết thúc hạn ân xá.</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0" name="Shape 1150"/>
        <p:cNvGrpSpPr/>
        <p:nvPr/>
      </p:nvGrpSpPr>
      <p:grpSpPr>
        <a:xfrm>
          <a:off x="0" y="0"/>
          <a:ext cx="0" cy="0"/>
          <a:chOff x="0" y="0"/>
          <a:chExt cx="0" cy="0"/>
        </a:xfrm>
      </p:grpSpPr>
      <p:sp>
        <p:nvSpPr>
          <p:cNvPr id="1151" name="Google Shape;1151;p32"/>
          <p:cNvSpPr/>
          <p:nvPr/>
        </p:nvSpPr>
        <p:spPr>
          <a:xfrm>
            <a:off x="762000" y="495300"/>
            <a:ext cx="723300" cy="543000"/>
          </a:xfrm>
          <a:prstGeom prst="roundRect">
            <a:avLst>
              <a:gd fmla="val 21053"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2"/>
          <p:cNvSpPr/>
          <p:nvPr/>
        </p:nvSpPr>
        <p:spPr>
          <a:xfrm>
            <a:off x="952500" y="609600"/>
            <a:ext cx="4185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950"/>
              <a:buFont typeface="Plus Jakarta Sans"/>
              <a:buNone/>
            </a:pPr>
            <a:r>
              <a:rPr b="1" i="0" lang="en-US" sz="1950" u="none" cap="none" strike="noStrike">
                <a:solidFill>
                  <a:srgbClr val="FFFFFF"/>
                </a:solidFill>
                <a:latin typeface="Plus Jakarta Sans"/>
                <a:ea typeface="Plus Jakarta Sans"/>
                <a:cs typeface="Plus Jakarta Sans"/>
                <a:sym typeface="Plus Jakarta Sans"/>
              </a:rPr>
              <a:t>BB</a:t>
            </a:r>
            <a:endParaRPr b="0" i="0" sz="1950" u="none" cap="none" strike="noStrike">
              <a:solidFill>
                <a:schemeClr val="dk1"/>
              </a:solidFill>
              <a:latin typeface="Calibri"/>
              <a:ea typeface="Calibri"/>
              <a:cs typeface="Calibri"/>
              <a:sym typeface="Calibri"/>
            </a:endParaRPr>
          </a:p>
        </p:txBody>
      </p:sp>
      <p:sp>
        <p:nvSpPr>
          <p:cNvPr id="1153" name="Google Shape;1153;p32"/>
          <p:cNvSpPr/>
          <p:nvPr/>
        </p:nvSpPr>
        <p:spPr>
          <a:xfrm>
            <a:off x="1675656" y="542925"/>
            <a:ext cx="10724100" cy="48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Baga Bulky: Giai đoạn triển khai lần đầu </a:t>
            </a:r>
            <a:r>
              <a:rPr b="1" i="0" lang="en-US" sz="2100" u="none" cap="none" strike="noStrike">
                <a:solidFill>
                  <a:srgbClr val="FF7F32"/>
                </a:solidFill>
                <a:latin typeface="Plus Jakarta Sans"/>
                <a:ea typeface="Plus Jakarta Sans"/>
                <a:cs typeface="Plus Jakarta Sans"/>
                <a:sym typeface="Plus Jakarta Sans"/>
              </a:rPr>
              <a:t>(GĐ 1 — 15/8 đến 30/8)</a:t>
            </a:r>
            <a:endParaRPr b="0" i="0" sz="2850" u="none" cap="none" strike="noStrike">
              <a:solidFill>
                <a:schemeClr val="dk1"/>
              </a:solidFill>
              <a:latin typeface="Calibri"/>
              <a:ea typeface="Calibri"/>
              <a:cs typeface="Calibri"/>
              <a:sym typeface="Calibri"/>
            </a:endParaRPr>
          </a:p>
        </p:txBody>
      </p:sp>
      <p:sp>
        <p:nvSpPr>
          <p:cNvPr id="1154" name="Google Shape;1154;p32"/>
          <p:cNvSpPr/>
          <p:nvPr/>
        </p:nvSpPr>
        <p:spPr>
          <a:xfrm>
            <a:off x="762000" y="1247775"/>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2"/>
          <p:cNvSpPr/>
          <p:nvPr/>
        </p:nvSpPr>
        <p:spPr>
          <a:xfrm>
            <a:off x="952500" y="1362075"/>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156" name="Google Shape;1156;p32"/>
          <p:cNvSpPr/>
          <p:nvPr/>
        </p:nvSpPr>
        <p:spPr>
          <a:xfrm>
            <a:off x="3157240" y="1371600"/>
            <a:ext cx="95094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Giai đoạn triển khai GĐ1 đang đúng tiến độ, HAN &amp; SGN đã ghi nhận lượt tham gia đầu tiên.</a:t>
            </a:r>
            <a:endParaRPr b="0" i="0" sz="1800" u="none" cap="none" strike="noStrike">
              <a:solidFill>
                <a:schemeClr val="dk1"/>
              </a:solidFill>
              <a:latin typeface="Calibri"/>
              <a:ea typeface="Calibri"/>
              <a:cs typeface="Calibri"/>
              <a:sym typeface="Calibri"/>
            </a:endParaRPr>
          </a:p>
        </p:txBody>
      </p:sp>
      <p:sp>
        <p:nvSpPr>
          <p:cNvPr id="1157" name="Google Shape;1157;p32"/>
          <p:cNvSpPr/>
          <p:nvPr/>
        </p:nvSpPr>
        <p:spPr>
          <a:xfrm>
            <a:off x="762000" y="1971675"/>
            <a:ext cx="2852700" cy="476400"/>
          </a:xfrm>
          <a:prstGeom prst="roundRect">
            <a:avLst>
              <a:gd fmla="val 16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2"/>
          <p:cNvSpPr/>
          <p:nvPr/>
        </p:nvSpPr>
        <p:spPr>
          <a:xfrm>
            <a:off x="952500" y="2066925"/>
            <a:ext cx="25572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QUY TRÌNH VẬN HÀNH</a:t>
            </a:r>
            <a:endParaRPr b="0" i="0" sz="1800" u="none" cap="none" strike="noStrike">
              <a:solidFill>
                <a:schemeClr val="dk1"/>
              </a:solidFill>
              <a:latin typeface="Calibri"/>
              <a:ea typeface="Calibri"/>
              <a:cs typeface="Calibri"/>
              <a:sym typeface="Calibri"/>
            </a:endParaRPr>
          </a:p>
        </p:txBody>
      </p:sp>
      <p:sp>
        <p:nvSpPr>
          <p:cNvPr id="1159" name="Google Shape;1159;p32"/>
          <p:cNvSpPr/>
          <p:nvPr/>
        </p:nvSpPr>
        <p:spPr>
          <a:xfrm>
            <a:off x="762000" y="2790825"/>
            <a:ext cx="3979500" cy="2162100"/>
          </a:xfrm>
          <a:prstGeom prst="roundRect">
            <a:avLst>
              <a:gd fmla="val 7048"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2"/>
          <p:cNvSpPr/>
          <p:nvPr/>
        </p:nvSpPr>
        <p:spPr>
          <a:xfrm>
            <a:off x="2446883" y="3000375"/>
            <a:ext cx="609600" cy="609600"/>
          </a:xfrm>
          <a:prstGeom prst="ellipse">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2"/>
          <p:cNvSpPr/>
          <p:nvPr/>
        </p:nvSpPr>
        <p:spPr>
          <a:xfrm>
            <a:off x="2408783" y="3000375"/>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①</a:t>
            </a:r>
            <a:endParaRPr b="0" i="0" sz="2100" u="none" cap="none" strike="noStrike">
              <a:solidFill>
                <a:schemeClr val="dk1"/>
              </a:solidFill>
              <a:latin typeface="Calibri"/>
              <a:ea typeface="Calibri"/>
              <a:cs typeface="Calibri"/>
              <a:sym typeface="Calibri"/>
            </a:endParaRPr>
          </a:p>
        </p:txBody>
      </p:sp>
      <p:sp>
        <p:nvSpPr>
          <p:cNvPr id="1162" name="Google Shape;1162;p32"/>
          <p:cNvSpPr/>
          <p:nvPr/>
        </p:nvSpPr>
        <p:spPr>
          <a:xfrm>
            <a:off x="2309961" y="3705225"/>
            <a:ext cx="8832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BƯỚC 1</a:t>
            </a:r>
            <a:endParaRPr b="0" i="0" sz="1800" u="none" cap="none" strike="noStrike">
              <a:solidFill>
                <a:schemeClr val="dk1"/>
              </a:solidFill>
              <a:latin typeface="Calibri"/>
              <a:ea typeface="Calibri"/>
              <a:cs typeface="Calibri"/>
              <a:sym typeface="Calibri"/>
            </a:endParaRPr>
          </a:p>
        </p:txBody>
      </p:sp>
      <p:sp>
        <p:nvSpPr>
          <p:cNvPr id="1163" name="Google Shape;1163;p32"/>
          <p:cNvSpPr/>
          <p:nvPr/>
        </p:nvSpPr>
        <p:spPr>
          <a:xfrm>
            <a:off x="2230487" y="4067175"/>
            <a:ext cx="10425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Đăng ký</a:t>
            </a:r>
            <a:endParaRPr b="0" i="0" sz="1950" u="none" cap="none" strike="noStrike">
              <a:solidFill>
                <a:schemeClr val="dk1"/>
              </a:solidFill>
              <a:latin typeface="Calibri"/>
              <a:ea typeface="Calibri"/>
              <a:cs typeface="Calibri"/>
              <a:sym typeface="Calibri"/>
            </a:endParaRPr>
          </a:p>
        </p:txBody>
      </p:sp>
      <p:sp>
        <p:nvSpPr>
          <p:cNvPr id="1164" name="Google Shape;1164;p32"/>
          <p:cNvSpPr/>
          <p:nvPr/>
        </p:nvSpPr>
        <p:spPr>
          <a:xfrm>
            <a:off x="806314" y="4476750"/>
            <a:ext cx="38907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TX đăng ký tham gia qua form/app</a:t>
            </a:r>
            <a:endParaRPr b="0" i="0" sz="1800" u="none" cap="none" strike="noStrike">
              <a:solidFill>
                <a:schemeClr val="dk1"/>
              </a:solidFill>
              <a:latin typeface="Calibri"/>
              <a:ea typeface="Calibri"/>
              <a:cs typeface="Calibri"/>
              <a:sym typeface="Calibri"/>
            </a:endParaRPr>
          </a:p>
        </p:txBody>
      </p:sp>
      <p:sp>
        <p:nvSpPr>
          <p:cNvPr id="1165" name="Google Shape;1165;p32"/>
          <p:cNvSpPr/>
          <p:nvPr/>
        </p:nvSpPr>
        <p:spPr>
          <a:xfrm>
            <a:off x="4836616" y="3690937"/>
            <a:ext cx="167700" cy="40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400"/>
              <a:buFont typeface="Roboto"/>
              <a:buNone/>
            </a:pPr>
            <a:r>
              <a:rPr b="0" i="0" lang="en-US" sz="2400" u="none" cap="none" strike="noStrike">
                <a:solidFill>
                  <a:srgbClr val="FF7F32"/>
                </a:solidFill>
                <a:latin typeface="Roboto"/>
                <a:ea typeface="Roboto"/>
                <a:cs typeface="Roboto"/>
                <a:sym typeface="Roboto"/>
              </a:rPr>
              <a:t>›</a:t>
            </a:r>
            <a:endParaRPr b="0" i="0" sz="2400" u="none" cap="none" strike="noStrike">
              <a:solidFill>
                <a:schemeClr val="dk1"/>
              </a:solidFill>
              <a:latin typeface="Calibri"/>
              <a:ea typeface="Calibri"/>
              <a:cs typeface="Calibri"/>
              <a:sym typeface="Calibri"/>
            </a:endParaRPr>
          </a:p>
        </p:txBody>
      </p:sp>
      <p:sp>
        <p:nvSpPr>
          <p:cNvPr id="1166" name="Google Shape;1166;p32"/>
          <p:cNvSpPr/>
          <p:nvPr/>
        </p:nvSpPr>
        <p:spPr>
          <a:xfrm>
            <a:off x="5023396" y="2657475"/>
            <a:ext cx="3979500" cy="2428800"/>
          </a:xfrm>
          <a:prstGeom prst="roundRect">
            <a:avLst>
              <a:gd fmla="val 6275"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2"/>
          <p:cNvSpPr/>
          <p:nvPr/>
        </p:nvSpPr>
        <p:spPr>
          <a:xfrm>
            <a:off x="6708279" y="2867025"/>
            <a:ext cx="609600" cy="609600"/>
          </a:xfrm>
          <a:prstGeom prst="ellipse">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2"/>
          <p:cNvSpPr/>
          <p:nvPr/>
        </p:nvSpPr>
        <p:spPr>
          <a:xfrm>
            <a:off x="6670179" y="2867025"/>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②</a:t>
            </a:r>
            <a:endParaRPr b="0" i="0" sz="2100" u="none" cap="none" strike="noStrike">
              <a:solidFill>
                <a:schemeClr val="dk1"/>
              </a:solidFill>
              <a:latin typeface="Calibri"/>
              <a:ea typeface="Calibri"/>
              <a:cs typeface="Calibri"/>
              <a:sym typeface="Calibri"/>
            </a:endParaRPr>
          </a:p>
        </p:txBody>
      </p:sp>
      <p:sp>
        <p:nvSpPr>
          <p:cNvPr id="1169" name="Google Shape;1169;p32"/>
          <p:cNvSpPr/>
          <p:nvPr/>
        </p:nvSpPr>
        <p:spPr>
          <a:xfrm>
            <a:off x="6571506" y="3571875"/>
            <a:ext cx="8832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BƯỚC 2</a:t>
            </a:r>
            <a:endParaRPr b="0" i="0" sz="1800" u="none" cap="none" strike="noStrike">
              <a:solidFill>
                <a:schemeClr val="dk1"/>
              </a:solidFill>
              <a:latin typeface="Calibri"/>
              <a:ea typeface="Calibri"/>
              <a:cs typeface="Calibri"/>
              <a:sym typeface="Calibri"/>
            </a:endParaRPr>
          </a:p>
        </p:txBody>
      </p:sp>
      <p:sp>
        <p:nvSpPr>
          <p:cNvPr id="1170" name="Google Shape;1170;p32"/>
          <p:cNvSpPr/>
          <p:nvPr/>
        </p:nvSpPr>
        <p:spPr>
          <a:xfrm>
            <a:off x="6008050" y="3933825"/>
            <a:ext cx="20103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Mua &amp; lắp baga</a:t>
            </a:r>
            <a:endParaRPr b="0" i="0" sz="1950" u="none" cap="none" strike="noStrike">
              <a:solidFill>
                <a:schemeClr val="dk1"/>
              </a:solidFill>
              <a:latin typeface="Calibri"/>
              <a:ea typeface="Calibri"/>
              <a:cs typeface="Calibri"/>
              <a:sym typeface="Calibri"/>
            </a:endParaRPr>
          </a:p>
        </p:txBody>
      </p:sp>
      <p:sp>
        <p:nvSpPr>
          <p:cNvPr id="1171" name="Google Shape;1171;p32"/>
          <p:cNvSpPr/>
          <p:nvPr/>
        </p:nvSpPr>
        <p:spPr>
          <a:xfrm>
            <a:off x="5179539" y="4343400"/>
            <a:ext cx="3667200" cy="571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TX tự mua &amp; lắp baga chở hàng cồng kềnh</a:t>
            </a:r>
            <a:endParaRPr b="0" i="0" sz="1800" u="none" cap="none" strike="noStrike">
              <a:solidFill>
                <a:schemeClr val="dk1"/>
              </a:solidFill>
              <a:latin typeface="Calibri"/>
              <a:ea typeface="Calibri"/>
              <a:cs typeface="Calibri"/>
              <a:sym typeface="Calibri"/>
            </a:endParaRPr>
          </a:p>
        </p:txBody>
      </p:sp>
      <p:sp>
        <p:nvSpPr>
          <p:cNvPr id="1172" name="Google Shape;1172;p32"/>
          <p:cNvSpPr/>
          <p:nvPr/>
        </p:nvSpPr>
        <p:spPr>
          <a:xfrm>
            <a:off x="9098161" y="3690937"/>
            <a:ext cx="167700" cy="40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400"/>
              <a:buFont typeface="Roboto"/>
              <a:buNone/>
            </a:pPr>
            <a:r>
              <a:rPr b="0" i="0" lang="en-US" sz="2400" u="none" cap="none" strike="noStrike">
                <a:solidFill>
                  <a:srgbClr val="FF7F32"/>
                </a:solidFill>
                <a:latin typeface="Roboto"/>
                <a:ea typeface="Roboto"/>
                <a:cs typeface="Roboto"/>
                <a:sym typeface="Roboto"/>
              </a:rPr>
              <a:t>›</a:t>
            </a:r>
            <a:endParaRPr b="0" i="0" sz="2400" u="none" cap="none" strike="noStrike">
              <a:solidFill>
                <a:schemeClr val="dk1"/>
              </a:solidFill>
              <a:latin typeface="Calibri"/>
              <a:ea typeface="Calibri"/>
              <a:cs typeface="Calibri"/>
              <a:sym typeface="Calibri"/>
            </a:endParaRPr>
          </a:p>
        </p:txBody>
      </p:sp>
      <p:sp>
        <p:nvSpPr>
          <p:cNvPr id="1173" name="Google Shape;1173;p32"/>
          <p:cNvSpPr/>
          <p:nvPr/>
        </p:nvSpPr>
        <p:spPr>
          <a:xfrm>
            <a:off x="9284940" y="2657475"/>
            <a:ext cx="3979500" cy="2428800"/>
          </a:xfrm>
          <a:prstGeom prst="roundRect">
            <a:avLst>
              <a:gd fmla="val 6275"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2"/>
          <p:cNvSpPr/>
          <p:nvPr/>
        </p:nvSpPr>
        <p:spPr>
          <a:xfrm>
            <a:off x="10969823" y="2867025"/>
            <a:ext cx="609600" cy="609600"/>
          </a:xfrm>
          <a:prstGeom prst="ellipse">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2"/>
          <p:cNvSpPr/>
          <p:nvPr/>
        </p:nvSpPr>
        <p:spPr>
          <a:xfrm>
            <a:off x="10931723" y="2867025"/>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③</a:t>
            </a:r>
            <a:endParaRPr b="0" i="0" sz="2100" u="none" cap="none" strike="noStrike">
              <a:solidFill>
                <a:schemeClr val="dk1"/>
              </a:solidFill>
              <a:latin typeface="Calibri"/>
              <a:ea typeface="Calibri"/>
              <a:cs typeface="Calibri"/>
              <a:sym typeface="Calibri"/>
            </a:endParaRPr>
          </a:p>
        </p:txBody>
      </p:sp>
      <p:sp>
        <p:nvSpPr>
          <p:cNvPr id="1176" name="Google Shape;1176;p32"/>
          <p:cNvSpPr/>
          <p:nvPr/>
        </p:nvSpPr>
        <p:spPr>
          <a:xfrm>
            <a:off x="10833050" y="3571875"/>
            <a:ext cx="8832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BƯỚC 3</a:t>
            </a:r>
            <a:endParaRPr b="0" i="0" sz="1800" u="none" cap="none" strike="noStrike">
              <a:solidFill>
                <a:schemeClr val="dk1"/>
              </a:solidFill>
              <a:latin typeface="Calibri"/>
              <a:ea typeface="Calibri"/>
              <a:cs typeface="Calibri"/>
              <a:sym typeface="Calibri"/>
            </a:endParaRPr>
          </a:p>
        </p:txBody>
      </p:sp>
      <p:sp>
        <p:nvSpPr>
          <p:cNvPr id="1177" name="Google Shape;1177;p32"/>
          <p:cNvSpPr/>
          <p:nvPr/>
        </p:nvSpPr>
        <p:spPr>
          <a:xfrm>
            <a:off x="10693598" y="3933825"/>
            <a:ext cx="11622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Xác nhận</a:t>
            </a:r>
            <a:endParaRPr b="0" i="0" sz="1950" u="none" cap="none" strike="noStrike">
              <a:solidFill>
                <a:schemeClr val="dk1"/>
              </a:solidFill>
              <a:latin typeface="Calibri"/>
              <a:ea typeface="Calibri"/>
              <a:cs typeface="Calibri"/>
              <a:sym typeface="Calibri"/>
            </a:endParaRPr>
          </a:p>
        </p:txBody>
      </p:sp>
      <p:sp>
        <p:nvSpPr>
          <p:cNvPr id="1178" name="Google Shape;1178;p32"/>
          <p:cNvSpPr/>
          <p:nvPr/>
        </p:nvSpPr>
        <p:spPr>
          <a:xfrm>
            <a:off x="9441084" y="4343400"/>
            <a:ext cx="3667200" cy="571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TX xác nhận tham gia &amp; xác thực in-app</a:t>
            </a:r>
            <a:endParaRPr b="0" i="0" sz="1800" u="none" cap="none" strike="noStrike">
              <a:solidFill>
                <a:schemeClr val="dk1"/>
              </a:solidFill>
              <a:latin typeface="Calibri"/>
              <a:ea typeface="Calibri"/>
              <a:cs typeface="Calibri"/>
              <a:sym typeface="Calibri"/>
            </a:endParaRPr>
          </a:p>
        </p:txBody>
      </p:sp>
      <p:sp>
        <p:nvSpPr>
          <p:cNvPr id="1179" name="Google Shape;1179;p32"/>
          <p:cNvSpPr/>
          <p:nvPr/>
        </p:nvSpPr>
        <p:spPr>
          <a:xfrm>
            <a:off x="13359705" y="3690937"/>
            <a:ext cx="167700" cy="40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400"/>
              <a:buFont typeface="Roboto"/>
              <a:buNone/>
            </a:pPr>
            <a:r>
              <a:rPr b="0" i="0" lang="en-US" sz="2400" u="none" cap="none" strike="noStrike">
                <a:solidFill>
                  <a:srgbClr val="FF7F32"/>
                </a:solidFill>
                <a:latin typeface="Roboto"/>
                <a:ea typeface="Roboto"/>
                <a:cs typeface="Roboto"/>
                <a:sym typeface="Roboto"/>
              </a:rPr>
              <a:t>›</a:t>
            </a:r>
            <a:endParaRPr b="0" i="0" sz="2400" u="none" cap="none" strike="noStrike">
              <a:solidFill>
                <a:schemeClr val="dk1"/>
              </a:solidFill>
              <a:latin typeface="Calibri"/>
              <a:ea typeface="Calibri"/>
              <a:cs typeface="Calibri"/>
              <a:sym typeface="Calibri"/>
            </a:endParaRPr>
          </a:p>
        </p:txBody>
      </p:sp>
      <p:sp>
        <p:nvSpPr>
          <p:cNvPr id="1180" name="Google Shape;1180;p32"/>
          <p:cNvSpPr/>
          <p:nvPr/>
        </p:nvSpPr>
        <p:spPr>
          <a:xfrm>
            <a:off x="13546485" y="2657475"/>
            <a:ext cx="3979500" cy="2428800"/>
          </a:xfrm>
          <a:prstGeom prst="roundRect">
            <a:avLst>
              <a:gd fmla="val 6275"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2"/>
          <p:cNvSpPr/>
          <p:nvPr/>
        </p:nvSpPr>
        <p:spPr>
          <a:xfrm>
            <a:off x="15231368" y="2867025"/>
            <a:ext cx="609600" cy="609600"/>
          </a:xfrm>
          <a:prstGeom prst="ellipse">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2"/>
          <p:cNvSpPr/>
          <p:nvPr/>
        </p:nvSpPr>
        <p:spPr>
          <a:xfrm>
            <a:off x="15193268" y="2867025"/>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④</a:t>
            </a:r>
            <a:endParaRPr b="0" i="0" sz="2100" u="none" cap="none" strike="noStrike">
              <a:solidFill>
                <a:schemeClr val="dk1"/>
              </a:solidFill>
              <a:latin typeface="Calibri"/>
              <a:ea typeface="Calibri"/>
              <a:cs typeface="Calibri"/>
              <a:sym typeface="Calibri"/>
            </a:endParaRPr>
          </a:p>
        </p:txBody>
      </p:sp>
      <p:sp>
        <p:nvSpPr>
          <p:cNvPr id="1183" name="Google Shape;1183;p32"/>
          <p:cNvSpPr/>
          <p:nvPr/>
        </p:nvSpPr>
        <p:spPr>
          <a:xfrm>
            <a:off x="15094595" y="3571875"/>
            <a:ext cx="8832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BƯỚC 4</a:t>
            </a:r>
            <a:endParaRPr b="0" i="0" sz="1800" u="none" cap="none" strike="noStrike">
              <a:solidFill>
                <a:schemeClr val="dk1"/>
              </a:solidFill>
              <a:latin typeface="Calibri"/>
              <a:ea typeface="Calibri"/>
              <a:cs typeface="Calibri"/>
              <a:sym typeface="Calibri"/>
            </a:endParaRPr>
          </a:p>
        </p:txBody>
      </p:sp>
      <p:sp>
        <p:nvSpPr>
          <p:cNvPr id="1184" name="Google Shape;1184;p32"/>
          <p:cNvSpPr/>
          <p:nvPr/>
        </p:nvSpPr>
        <p:spPr>
          <a:xfrm>
            <a:off x="14974639" y="3933825"/>
            <a:ext cx="11232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Hoàn phí</a:t>
            </a:r>
            <a:endParaRPr b="0" i="0" sz="1950" u="none" cap="none" strike="noStrike">
              <a:solidFill>
                <a:schemeClr val="dk1"/>
              </a:solidFill>
              <a:latin typeface="Calibri"/>
              <a:ea typeface="Calibri"/>
              <a:cs typeface="Calibri"/>
              <a:sym typeface="Calibri"/>
            </a:endParaRPr>
          </a:p>
        </p:txBody>
      </p:sp>
      <p:sp>
        <p:nvSpPr>
          <p:cNvPr id="1185" name="Google Shape;1185;p32"/>
          <p:cNvSpPr/>
          <p:nvPr/>
        </p:nvSpPr>
        <p:spPr>
          <a:xfrm>
            <a:off x="13702629" y="4343400"/>
            <a:ext cx="3667200" cy="571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Nhận tiền hoàn phí nếu hoàn thành nhiệm vụ</a:t>
            </a:r>
            <a:endParaRPr b="0" i="0" sz="1800" u="none" cap="none" strike="noStrike">
              <a:solidFill>
                <a:schemeClr val="dk1"/>
              </a:solidFill>
              <a:latin typeface="Calibri"/>
              <a:ea typeface="Calibri"/>
              <a:cs typeface="Calibri"/>
              <a:sym typeface="Calibri"/>
            </a:endParaRPr>
          </a:p>
        </p:txBody>
      </p:sp>
      <p:sp>
        <p:nvSpPr>
          <p:cNvPr id="1186" name="Google Shape;1186;p32"/>
          <p:cNvSpPr/>
          <p:nvPr/>
        </p:nvSpPr>
        <p:spPr>
          <a:xfrm>
            <a:off x="762000" y="5295900"/>
            <a:ext cx="1402200" cy="476400"/>
          </a:xfrm>
          <a:prstGeom prst="roundRect">
            <a:avLst>
              <a:gd fmla="val 16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2"/>
          <p:cNvSpPr/>
          <p:nvPr/>
        </p:nvSpPr>
        <p:spPr>
          <a:xfrm>
            <a:off x="952500" y="5391150"/>
            <a:ext cx="1097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TIMELINE</a:t>
            </a:r>
            <a:endParaRPr b="0" i="0" sz="1800" u="none" cap="none" strike="noStrike">
              <a:solidFill>
                <a:schemeClr val="dk1"/>
              </a:solidFill>
              <a:latin typeface="Calibri"/>
              <a:ea typeface="Calibri"/>
              <a:cs typeface="Calibri"/>
              <a:sym typeface="Calibri"/>
            </a:endParaRPr>
          </a:p>
        </p:txBody>
      </p:sp>
      <p:sp>
        <p:nvSpPr>
          <p:cNvPr id="1188" name="Google Shape;1188;p32"/>
          <p:cNvSpPr/>
          <p:nvPr/>
        </p:nvSpPr>
        <p:spPr>
          <a:xfrm>
            <a:off x="711708" y="5981700"/>
            <a:ext cx="3453300" cy="609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Chuẩn bị [23/7–1/8]</a:t>
            </a:r>
            <a:endParaRPr b="0" i="0" sz="1800" u="none" cap="none" strike="noStrike">
              <a:solidFill>
                <a:schemeClr val="dk1"/>
              </a:solidFill>
              <a:latin typeface="Calibri"/>
              <a:ea typeface="Calibri"/>
              <a:cs typeface="Calibri"/>
              <a:sym typeface="Calibri"/>
            </a:endParaRPr>
          </a:p>
        </p:txBody>
      </p:sp>
      <p:sp>
        <p:nvSpPr>
          <p:cNvPr id="1189" name="Google Shape;1189;p32"/>
          <p:cNvSpPr/>
          <p:nvPr/>
        </p:nvSpPr>
        <p:spPr>
          <a:xfrm>
            <a:off x="4064508" y="5981700"/>
            <a:ext cx="3453300" cy="609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Đăng ký [3/8–14/8]</a:t>
            </a:r>
            <a:endParaRPr b="0" i="0" sz="1800" u="none" cap="none" strike="noStrike">
              <a:solidFill>
                <a:schemeClr val="dk1"/>
              </a:solidFill>
              <a:latin typeface="Calibri"/>
              <a:ea typeface="Calibri"/>
              <a:cs typeface="Calibri"/>
              <a:sym typeface="Calibri"/>
            </a:endParaRPr>
          </a:p>
        </p:txBody>
      </p:sp>
      <p:sp>
        <p:nvSpPr>
          <p:cNvPr id="1190" name="Google Shape;1190;p32"/>
          <p:cNvSpPr/>
          <p:nvPr/>
        </p:nvSpPr>
        <p:spPr>
          <a:xfrm>
            <a:off x="7417308" y="5981700"/>
            <a:ext cx="3453300" cy="609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Triển khai [15/8–30/8]</a:t>
            </a:r>
            <a:endParaRPr b="0" i="0" sz="1800" u="none" cap="none" strike="noStrike">
              <a:solidFill>
                <a:schemeClr val="dk1"/>
              </a:solidFill>
              <a:latin typeface="Calibri"/>
              <a:ea typeface="Calibri"/>
              <a:cs typeface="Calibri"/>
              <a:sym typeface="Calibri"/>
            </a:endParaRPr>
          </a:p>
        </p:txBody>
      </p:sp>
      <p:sp>
        <p:nvSpPr>
          <p:cNvPr id="1191" name="Google Shape;1191;p32"/>
          <p:cNvSpPr/>
          <p:nvPr/>
        </p:nvSpPr>
        <p:spPr>
          <a:xfrm>
            <a:off x="10770108" y="5981700"/>
            <a:ext cx="3453300" cy="609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Plus Jakarta Sans"/>
              <a:buNone/>
            </a:pPr>
            <a:r>
              <a:rPr b="1" i="0" lang="en-US" sz="1800" u="none" cap="none" strike="noStrike">
                <a:solidFill>
                  <a:srgbClr val="757D86"/>
                </a:solidFill>
                <a:latin typeface="Plus Jakarta Sans"/>
                <a:ea typeface="Plus Jakarta Sans"/>
                <a:cs typeface="Plus Jakarta Sans"/>
                <a:sym typeface="Plus Jakarta Sans"/>
              </a:rPr>
              <a:t>Theo dõi [16/8–30/8]</a:t>
            </a:r>
            <a:endParaRPr b="0" i="0" sz="1800" u="none" cap="none" strike="noStrike">
              <a:solidFill>
                <a:schemeClr val="dk1"/>
              </a:solidFill>
              <a:latin typeface="Calibri"/>
              <a:ea typeface="Calibri"/>
              <a:cs typeface="Calibri"/>
              <a:sym typeface="Calibri"/>
            </a:endParaRPr>
          </a:p>
        </p:txBody>
      </p:sp>
      <p:sp>
        <p:nvSpPr>
          <p:cNvPr id="1192" name="Google Shape;1192;p32"/>
          <p:cNvSpPr/>
          <p:nvPr/>
        </p:nvSpPr>
        <p:spPr>
          <a:xfrm>
            <a:off x="14122908" y="5981700"/>
            <a:ext cx="3453300" cy="609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Plus Jakarta Sans"/>
              <a:buNone/>
            </a:pPr>
            <a:r>
              <a:rPr b="1" i="0" lang="en-US" sz="1800" u="none" cap="none" strike="noStrike">
                <a:solidFill>
                  <a:srgbClr val="757D86"/>
                </a:solidFill>
                <a:latin typeface="Plus Jakarta Sans"/>
                <a:ea typeface="Plus Jakarta Sans"/>
                <a:cs typeface="Plus Jakarta Sans"/>
                <a:sym typeface="Plus Jakarta Sans"/>
              </a:rPr>
              <a:t>Hoàn tất [1/9–30/9]</a:t>
            </a:r>
            <a:endParaRPr b="0" i="0" sz="1800" u="none" cap="none" strike="noStrike">
              <a:solidFill>
                <a:schemeClr val="dk1"/>
              </a:solidFill>
              <a:latin typeface="Calibri"/>
              <a:ea typeface="Calibri"/>
              <a:cs typeface="Calibri"/>
              <a:sym typeface="Calibri"/>
            </a:endParaRPr>
          </a:p>
        </p:txBody>
      </p:sp>
      <p:sp>
        <p:nvSpPr>
          <p:cNvPr id="1193" name="Google Shape;1193;p32"/>
          <p:cNvSpPr/>
          <p:nvPr/>
        </p:nvSpPr>
        <p:spPr>
          <a:xfrm>
            <a:off x="1523554" y="6648450"/>
            <a:ext cx="1738200" cy="390600"/>
          </a:xfrm>
          <a:prstGeom prst="roundRect">
            <a:avLst>
              <a:gd fmla="val 50000"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2"/>
          <p:cNvSpPr/>
          <p:nvPr/>
        </p:nvSpPr>
        <p:spPr>
          <a:xfrm>
            <a:off x="1637854" y="6705600"/>
            <a:ext cx="15096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 Hoàn thành</a:t>
            </a:r>
            <a:endParaRPr b="0" i="0" sz="1800" u="none" cap="none" strike="noStrike">
              <a:solidFill>
                <a:schemeClr val="dk1"/>
              </a:solidFill>
              <a:latin typeface="Calibri"/>
              <a:ea typeface="Calibri"/>
              <a:cs typeface="Calibri"/>
              <a:sym typeface="Calibri"/>
            </a:endParaRPr>
          </a:p>
        </p:txBody>
      </p:sp>
      <p:sp>
        <p:nvSpPr>
          <p:cNvPr id="1195" name="Google Shape;1195;p32"/>
          <p:cNvSpPr/>
          <p:nvPr/>
        </p:nvSpPr>
        <p:spPr>
          <a:xfrm>
            <a:off x="713081" y="7115175"/>
            <a:ext cx="3359100" cy="571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PA build &amp; setup chương trình trên app · DS plan truyền thông</a:t>
            </a:r>
            <a:endParaRPr b="0" i="0" sz="1800" u="none" cap="none" strike="noStrike">
              <a:solidFill>
                <a:schemeClr val="dk1"/>
              </a:solidFill>
              <a:latin typeface="Calibri"/>
              <a:ea typeface="Calibri"/>
              <a:cs typeface="Calibri"/>
              <a:sym typeface="Calibri"/>
            </a:endParaRPr>
          </a:p>
        </p:txBody>
      </p:sp>
      <p:sp>
        <p:nvSpPr>
          <p:cNvPr id="1196" name="Google Shape;1196;p32"/>
          <p:cNvSpPr/>
          <p:nvPr/>
        </p:nvSpPr>
        <p:spPr>
          <a:xfrm>
            <a:off x="4899124" y="6648450"/>
            <a:ext cx="1738200" cy="390600"/>
          </a:xfrm>
          <a:prstGeom prst="roundRect">
            <a:avLst>
              <a:gd fmla="val 50000"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2"/>
          <p:cNvSpPr/>
          <p:nvPr/>
        </p:nvSpPr>
        <p:spPr>
          <a:xfrm>
            <a:off x="5013424" y="6705600"/>
            <a:ext cx="15096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 Hoàn thành</a:t>
            </a:r>
            <a:endParaRPr b="0" i="0" sz="1800" u="none" cap="none" strike="noStrike">
              <a:solidFill>
                <a:schemeClr val="dk1"/>
              </a:solidFill>
              <a:latin typeface="Calibri"/>
              <a:ea typeface="Calibri"/>
              <a:cs typeface="Calibri"/>
              <a:sym typeface="Calibri"/>
            </a:endParaRPr>
          </a:p>
        </p:txBody>
      </p:sp>
      <p:sp>
        <p:nvSpPr>
          <p:cNvPr id="1198" name="Google Shape;1198;p32"/>
          <p:cNvSpPr/>
          <p:nvPr/>
        </p:nvSpPr>
        <p:spPr>
          <a:xfrm>
            <a:off x="4088649" y="7115175"/>
            <a:ext cx="3359400" cy="838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Push noti form đăng ký · Confirm flow xác thực baga với QM</a:t>
            </a:r>
            <a:endParaRPr b="0" i="0" sz="1800" u="none" cap="none" strike="noStrike">
              <a:solidFill>
                <a:schemeClr val="dk1"/>
              </a:solidFill>
              <a:latin typeface="Calibri"/>
              <a:ea typeface="Calibri"/>
              <a:cs typeface="Calibri"/>
              <a:sym typeface="Calibri"/>
            </a:endParaRPr>
          </a:p>
        </p:txBody>
      </p:sp>
      <p:sp>
        <p:nvSpPr>
          <p:cNvPr id="1199" name="Google Shape;1199;p32"/>
          <p:cNvSpPr/>
          <p:nvPr/>
        </p:nvSpPr>
        <p:spPr>
          <a:xfrm>
            <a:off x="8107859" y="6648450"/>
            <a:ext cx="2072100" cy="390600"/>
          </a:xfrm>
          <a:prstGeom prst="roundRect">
            <a:avLst>
              <a:gd fmla="val 5000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2"/>
          <p:cNvSpPr/>
          <p:nvPr/>
        </p:nvSpPr>
        <p:spPr>
          <a:xfrm>
            <a:off x="8222159" y="6705600"/>
            <a:ext cx="18435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 Đang triển khai</a:t>
            </a:r>
            <a:endParaRPr b="0" i="0" sz="1800" u="none" cap="none" strike="noStrike">
              <a:solidFill>
                <a:schemeClr val="dk1"/>
              </a:solidFill>
              <a:latin typeface="Calibri"/>
              <a:ea typeface="Calibri"/>
              <a:cs typeface="Calibri"/>
              <a:sym typeface="Calibri"/>
            </a:endParaRPr>
          </a:p>
        </p:txBody>
      </p:sp>
      <p:sp>
        <p:nvSpPr>
          <p:cNvPr id="1201" name="Google Shape;1201;p32"/>
          <p:cNvSpPr/>
          <p:nvPr/>
        </p:nvSpPr>
        <p:spPr>
          <a:xfrm>
            <a:off x="7464371" y="7115175"/>
            <a:ext cx="3359100" cy="838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Flow thưởng GĐ1: HAN 178 tx, SGN 336 tx · Hoàn thành 10% cf cost với PA</a:t>
            </a:r>
            <a:endParaRPr b="0" i="0" sz="1800" u="none" cap="none" strike="noStrike">
              <a:solidFill>
                <a:schemeClr val="dk1"/>
              </a:solidFill>
              <a:latin typeface="Calibri"/>
              <a:ea typeface="Calibri"/>
              <a:cs typeface="Calibri"/>
              <a:sym typeface="Calibri"/>
            </a:endParaRPr>
          </a:p>
        </p:txBody>
      </p:sp>
      <p:sp>
        <p:nvSpPr>
          <p:cNvPr id="1202" name="Google Shape;1202;p32"/>
          <p:cNvSpPr/>
          <p:nvPr/>
        </p:nvSpPr>
        <p:spPr>
          <a:xfrm>
            <a:off x="11871275" y="6648450"/>
            <a:ext cx="1296300" cy="419100"/>
          </a:xfrm>
          <a:prstGeom prst="roundRect">
            <a:avLst>
              <a:gd fmla="val 50000"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2"/>
          <p:cNvSpPr/>
          <p:nvPr/>
        </p:nvSpPr>
        <p:spPr>
          <a:xfrm>
            <a:off x="11985575" y="6705600"/>
            <a:ext cx="1067700" cy="342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 Sắp tới</a:t>
            </a:r>
            <a:endParaRPr b="0" i="0" sz="1800" u="none" cap="none" strike="noStrike">
              <a:solidFill>
                <a:schemeClr val="dk1"/>
              </a:solidFill>
              <a:latin typeface="Calibri"/>
              <a:ea typeface="Calibri"/>
              <a:cs typeface="Calibri"/>
              <a:sym typeface="Calibri"/>
            </a:endParaRPr>
          </a:p>
        </p:txBody>
      </p:sp>
      <p:sp>
        <p:nvSpPr>
          <p:cNvPr id="1204" name="Google Shape;1204;p32"/>
          <p:cNvSpPr/>
          <p:nvPr/>
        </p:nvSpPr>
        <p:spPr>
          <a:xfrm>
            <a:off x="10839940" y="7143750"/>
            <a:ext cx="3359400" cy="571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Follow timeline truyền thông, push lead GĐ 2, 3</a:t>
            </a:r>
            <a:endParaRPr b="0" i="0" sz="1800" u="none" cap="none" strike="noStrike">
              <a:solidFill>
                <a:schemeClr val="dk1"/>
              </a:solidFill>
              <a:latin typeface="Calibri"/>
              <a:ea typeface="Calibri"/>
              <a:cs typeface="Calibri"/>
              <a:sym typeface="Calibri"/>
            </a:endParaRPr>
          </a:p>
        </p:txBody>
      </p:sp>
      <p:sp>
        <p:nvSpPr>
          <p:cNvPr id="1205" name="Google Shape;1205;p32"/>
          <p:cNvSpPr/>
          <p:nvPr/>
        </p:nvSpPr>
        <p:spPr>
          <a:xfrm>
            <a:off x="15246995" y="6648450"/>
            <a:ext cx="1296300" cy="419100"/>
          </a:xfrm>
          <a:prstGeom prst="roundRect">
            <a:avLst>
              <a:gd fmla="val 50000"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2"/>
          <p:cNvSpPr/>
          <p:nvPr/>
        </p:nvSpPr>
        <p:spPr>
          <a:xfrm>
            <a:off x="15361295" y="6705600"/>
            <a:ext cx="1067700" cy="342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 Sắp tới</a:t>
            </a:r>
            <a:endParaRPr b="0" i="0" sz="1800" u="none" cap="none" strike="noStrike">
              <a:solidFill>
                <a:schemeClr val="dk1"/>
              </a:solidFill>
              <a:latin typeface="Calibri"/>
              <a:ea typeface="Calibri"/>
              <a:cs typeface="Calibri"/>
              <a:sym typeface="Calibri"/>
            </a:endParaRPr>
          </a:p>
        </p:txBody>
      </p:sp>
      <p:sp>
        <p:nvSpPr>
          <p:cNvPr id="1207" name="Google Shape;1207;p32"/>
          <p:cNvSpPr/>
          <p:nvPr/>
        </p:nvSpPr>
        <p:spPr>
          <a:xfrm>
            <a:off x="14215659" y="7143750"/>
            <a:ext cx="3359400" cy="571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Follow &amp; push số lượng TX tick baga/bulky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2" name="Shape 1212"/>
        <p:cNvGrpSpPr/>
        <p:nvPr/>
      </p:nvGrpSpPr>
      <p:grpSpPr>
        <a:xfrm>
          <a:off x="0" y="0"/>
          <a:ext cx="0" cy="0"/>
          <a:chOff x="0" y="0"/>
          <a:chExt cx="0" cy="0"/>
        </a:xfrm>
      </p:grpSpPr>
      <p:sp>
        <p:nvSpPr>
          <p:cNvPr id="1213" name="Google Shape;1213;p33"/>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GROWTH WEEKLY REPORT — HAN</a:t>
            </a:r>
            <a:endParaRPr b="0" i="0" sz="3300" u="none" cap="none" strike="noStrike">
              <a:solidFill>
                <a:schemeClr val="dk1"/>
              </a:solidFill>
              <a:latin typeface="Calibri"/>
              <a:ea typeface="Calibri"/>
              <a:cs typeface="Calibri"/>
              <a:sym typeface="Calibri"/>
            </a:endParaRPr>
          </a:p>
        </p:txBody>
      </p:sp>
      <p:sp>
        <p:nvSpPr>
          <p:cNvPr id="1214" name="Google Shape;1214;p33"/>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Operation Growth</a:t>
            </a:r>
            <a:endParaRPr b="0" i="0" sz="1950" u="none" cap="none" strike="noStrike">
              <a:solidFill>
                <a:schemeClr val="dk1"/>
              </a:solidFill>
              <a:latin typeface="Calibri"/>
              <a:ea typeface="Calibri"/>
              <a:cs typeface="Calibri"/>
              <a:sym typeface="Calibri"/>
            </a:endParaRPr>
          </a:p>
        </p:txBody>
      </p:sp>
      <p:sp>
        <p:nvSpPr>
          <p:cNvPr id="1215" name="Google Shape;1215;p33"/>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3"/>
          <p:cNvSpPr/>
          <p:nvPr/>
        </p:nvSpPr>
        <p:spPr>
          <a:xfrm>
            <a:off x="952500" y="15240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217" name="Google Shape;1217;p33"/>
          <p:cNvSpPr/>
          <p:nvPr/>
        </p:nvSpPr>
        <p:spPr>
          <a:xfrm>
            <a:off x="3157240" y="1533525"/>
            <a:ext cx="75234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Capacity HAN hụt 7.4% MTD do NIM tăng chậm; GDR &amp; CR đạt mục tiêu.</a:t>
            </a:r>
            <a:endParaRPr b="0" i="0" sz="1800" u="none" cap="none" strike="noStrike">
              <a:solidFill>
                <a:schemeClr val="dk1"/>
              </a:solidFill>
              <a:latin typeface="Calibri"/>
              <a:ea typeface="Calibri"/>
              <a:cs typeface="Calibri"/>
              <a:sym typeface="Calibri"/>
            </a:endParaRPr>
          </a:p>
        </p:txBody>
      </p:sp>
      <p:sp>
        <p:nvSpPr>
          <p:cNvPr id="1218" name="Google Shape;1218;p33"/>
          <p:cNvSpPr/>
          <p:nvPr/>
        </p:nvSpPr>
        <p:spPr>
          <a:xfrm>
            <a:off x="762000" y="2114550"/>
            <a:ext cx="5511600" cy="1848000"/>
          </a:xfrm>
          <a:prstGeom prst="roundRect">
            <a:avLst>
              <a:gd fmla="val 8247" name="adj"/>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3"/>
          <p:cNvSpPr/>
          <p:nvPr/>
        </p:nvSpPr>
        <p:spPr>
          <a:xfrm>
            <a:off x="2819951" y="2362200"/>
            <a:ext cx="13959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12749"/>
              </a:buClr>
              <a:buSzPts val="1800"/>
              <a:buFont typeface="Roboto"/>
              <a:buNone/>
            </a:pPr>
            <a:r>
              <a:rPr b="0" i="0" lang="en-US" sz="1800" u="none" cap="none" strike="noStrike">
                <a:solidFill>
                  <a:srgbClr val="012749"/>
                </a:solidFill>
                <a:latin typeface="Roboto"/>
                <a:ea typeface="Roboto"/>
                <a:cs typeface="Roboto"/>
                <a:sym typeface="Roboto"/>
              </a:rPr>
              <a:t>Capacity M8</a:t>
            </a:r>
            <a:endParaRPr b="0" i="0" sz="1800" u="none" cap="none" strike="noStrike">
              <a:solidFill>
                <a:schemeClr val="dk1"/>
              </a:solidFill>
              <a:latin typeface="Calibri"/>
              <a:ea typeface="Calibri"/>
              <a:cs typeface="Calibri"/>
              <a:sym typeface="Calibri"/>
            </a:endParaRPr>
          </a:p>
        </p:txBody>
      </p:sp>
      <p:sp>
        <p:nvSpPr>
          <p:cNvPr id="1220" name="Google Shape;1220;p33"/>
          <p:cNvSpPr/>
          <p:nvPr/>
        </p:nvSpPr>
        <p:spPr>
          <a:xfrm>
            <a:off x="2541315" y="2705100"/>
            <a:ext cx="1953000" cy="705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12749"/>
              </a:buClr>
              <a:buSzPts val="4200"/>
              <a:buFont typeface="Plus Jakarta Sans"/>
              <a:buNone/>
            </a:pPr>
            <a:r>
              <a:rPr b="1" i="0" lang="en-US" sz="4200" u="none" cap="none" strike="noStrike">
                <a:solidFill>
                  <a:srgbClr val="012749"/>
                </a:solidFill>
                <a:latin typeface="Plus Jakarta Sans"/>
                <a:ea typeface="Plus Jakarta Sans"/>
                <a:cs typeface="Plus Jakarta Sans"/>
                <a:sym typeface="Plus Jakarta Sans"/>
              </a:rPr>
              <a:t>44.2%</a:t>
            </a:r>
            <a:endParaRPr b="0" i="0" sz="4200" u="none" cap="none" strike="noStrike">
              <a:solidFill>
                <a:schemeClr val="dk1"/>
              </a:solidFill>
              <a:latin typeface="Calibri"/>
              <a:ea typeface="Calibri"/>
              <a:cs typeface="Calibri"/>
              <a:sym typeface="Calibri"/>
            </a:endParaRPr>
          </a:p>
        </p:txBody>
      </p:sp>
      <p:sp>
        <p:nvSpPr>
          <p:cNvPr id="1221" name="Google Shape;1221;p33"/>
          <p:cNvSpPr/>
          <p:nvPr/>
        </p:nvSpPr>
        <p:spPr>
          <a:xfrm>
            <a:off x="1943777" y="3448050"/>
            <a:ext cx="31479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Hụt 7.4% so với tiến độ MTD</a:t>
            </a:r>
            <a:endParaRPr b="0" i="0" sz="1800" u="none" cap="none" strike="noStrike">
              <a:solidFill>
                <a:schemeClr val="dk1"/>
              </a:solidFill>
              <a:latin typeface="Calibri"/>
              <a:ea typeface="Calibri"/>
              <a:cs typeface="Calibri"/>
              <a:sym typeface="Calibri"/>
            </a:endParaRPr>
          </a:p>
        </p:txBody>
      </p:sp>
      <p:sp>
        <p:nvSpPr>
          <p:cNvPr id="1222" name="Google Shape;1222;p33"/>
          <p:cNvSpPr/>
          <p:nvPr/>
        </p:nvSpPr>
        <p:spPr>
          <a:xfrm>
            <a:off x="6502301" y="2114550"/>
            <a:ext cx="11023800" cy="4572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3"/>
          <p:cNvSpPr/>
          <p:nvPr/>
        </p:nvSpPr>
        <p:spPr>
          <a:xfrm>
            <a:off x="6635651" y="2209800"/>
            <a:ext cx="20922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Zone</a:t>
            </a:r>
            <a:endParaRPr b="0" i="0" sz="1800" u="none" cap="none" strike="noStrike">
              <a:solidFill>
                <a:schemeClr val="dk1"/>
              </a:solidFill>
              <a:latin typeface="Calibri"/>
              <a:ea typeface="Calibri"/>
              <a:cs typeface="Calibri"/>
              <a:sym typeface="Calibri"/>
            </a:endParaRPr>
          </a:p>
        </p:txBody>
      </p:sp>
      <p:sp>
        <p:nvSpPr>
          <p:cNvPr id="1224" name="Google Shape;1224;p33"/>
          <p:cNvSpPr/>
          <p:nvPr/>
        </p:nvSpPr>
        <p:spPr>
          <a:xfrm>
            <a:off x="8877703" y="2209800"/>
            <a:ext cx="25161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Actual</a:t>
            </a:r>
            <a:endParaRPr b="0" i="0" sz="1800" u="none" cap="none" strike="noStrike">
              <a:solidFill>
                <a:schemeClr val="dk1"/>
              </a:solidFill>
              <a:latin typeface="Calibri"/>
              <a:ea typeface="Calibri"/>
              <a:cs typeface="Calibri"/>
              <a:sym typeface="Calibri"/>
            </a:endParaRPr>
          </a:p>
        </p:txBody>
      </p:sp>
      <p:sp>
        <p:nvSpPr>
          <p:cNvPr id="1225" name="Google Shape;1225;p33"/>
          <p:cNvSpPr/>
          <p:nvPr/>
        </p:nvSpPr>
        <p:spPr>
          <a:xfrm>
            <a:off x="11579413" y="2209800"/>
            <a:ext cx="25137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Target</a:t>
            </a:r>
            <a:endParaRPr b="0" i="0" sz="1800" u="none" cap="none" strike="noStrike">
              <a:solidFill>
                <a:schemeClr val="dk1"/>
              </a:solidFill>
              <a:latin typeface="Calibri"/>
              <a:ea typeface="Calibri"/>
              <a:cs typeface="Calibri"/>
              <a:sym typeface="Calibri"/>
            </a:endParaRPr>
          </a:p>
        </p:txBody>
      </p:sp>
      <p:sp>
        <p:nvSpPr>
          <p:cNvPr id="1226" name="Google Shape;1226;p33"/>
          <p:cNvSpPr/>
          <p:nvPr/>
        </p:nvSpPr>
        <p:spPr>
          <a:xfrm>
            <a:off x="14269249" y="2209800"/>
            <a:ext cx="31734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 Target</a:t>
            </a:r>
            <a:endParaRPr b="0" i="0" sz="1800" u="none" cap="none" strike="noStrike">
              <a:solidFill>
                <a:schemeClr val="dk1"/>
              </a:solidFill>
              <a:latin typeface="Calibri"/>
              <a:ea typeface="Calibri"/>
              <a:cs typeface="Calibri"/>
              <a:sym typeface="Calibri"/>
            </a:endParaRPr>
          </a:p>
        </p:txBody>
      </p:sp>
      <p:sp>
        <p:nvSpPr>
          <p:cNvPr id="1227" name="Google Shape;1227;p33"/>
          <p:cNvSpPr/>
          <p:nvPr/>
        </p:nvSpPr>
        <p:spPr>
          <a:xfrm>
            <a:off x="6502301" y="3024188"/>
            <a:ext cx="110238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3"/>
          <p:cNvSpPr/>
          <p:nvPr/>
        </p:nvSpPr>
        <p:spPr>
          <a:xfrm>
            <a:off x="6635651" y="2667000"/>
            <a:ext cx="20922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NIM</a:t>
            </a:r>
            <a:endParaRPr b="0" i="0" sz="1800" u="none" cap="none" strike="noStrike">
              <a:solidFill>
                <a:schemeClr val="dk1"/>
              </a:solidFill>
              <a:latin typeface="Calibri"/>
              <a:ea typeface="Calibri"/>
              <a:cs typeface="Calibri"/>
              <a:sym typeface="Calibri"/>
            </a:endParaRPr>
          </a:p>
        </p:txBody>
      </p:sp>
      <p:sp>
        <p:nvSpPr>
          <p:cNvPr id="1229" name="Google Shape;1229;p33"/>
          <p:cNvSpPr/>
          <p:nvPr/>
        </p:nvSpPr>
        <p:spPr>
          <a:xfrm>
            <a:off x="8753878" y="2581275"/>
            <a:ext cx="27636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22,826</a:t>
            </a:r>
            <a:endParaRPr b="0" i="0" sz="1800" u="none" cap="none" strike="noStrike">
              <a:solidFill>
                <a:schemeClr val="dk1"/>
              </a:solidFill>
              <a:latin typeface="Calibri"/>
              <a:ea typeface="Calibri"/>
              <a:cs typeface="Calibri"/>
              <a:sym typeface="Calibri"/>
            </a:endParaRPr>
          </a:p>
        </p:txBody>
      </p:sp>
      <p:sp>
        <p:nvSpPr>
          <p:cNvPr id="1230" name="Google Shape;1230;p33"/>
          <p:cNvSpPr/>
          <p:nvPr/>
        </p:nvSpPr>
        <p:spPr>
          <a:xfrm>
            <a:off x="11455588" y="2581275"/>
            <a:ext cx="27615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85,400</a:t>
            </a:r>
            <a:endParaRPr b="0" i="0" sz="1800" u="none" cap="none" strike="noStrike">
              <a:solidFill>
                <a:schemeClr val="dk1"/>
              </a:solidFill>
              <a:latin typeface="Calibri"/>
              <a:ea typeface="Calibri"/>
              <a:cs typeface="Calibri"/>
              <a:sym typeface="Calibri"/>
            </a:endParaRPr>
          </a:p>
        </p:txBody>
      </p:sp>
      <p:sp>
        <p:nvSpPr>
          <p:cNvPr id="1231" name="Google Shape;1231;p33"/>
          <p:cNvSpPr/>
          <p:nvPr/>
        </p:nvSpPr>
        <p:spPr>
          <a:xfrm>
            <a:off x="14145424" y="2581275"/>
            <a:ext cx="34212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26.73%</a:t>
            </a:r>
            <a:endParaRPr b="0" i="0" sz="1800" u="none" cap="none" strike="noStrike">
              <a:solidFill>
                <a:schemeClr val="dk1"/>
              </a:solidFill>
              <a:latin typeface="Calibri"/>
              <a:ea typeface="Calibri"/>
              <a:cs typeface="Calibri"/>
              <a:sym typeface="Calibri"/>
            </a:endParaRPr>
          </a:p>
        </p:txBody>
      </p:sp>
      <p:sp>
        <p:nvSpPr>
          <p:cNvPr id="1232" name="Google Shape;1232;p33"/>
          <p:cNvSpPr/>
          <p:nvPr/>
        </p:nvSpPr>
        <p:spPr>
          <a:xfrm>
            <a:off x="6502301" y="3033713"/>
            <a:ext cx="11023800" cy="4668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3"/>
          <p:cNvSpPr/>
          <p:nvPr/>
        </p:nvSpPr>
        <p:spPr>
          <a:xfrm>
            <a:off x="6502301" y="3490913"/>
            <a:ext cx="110238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3"/>
          <p:cNvSpPr/>
          <p:nvPr/>
        </p:nvSpPr>
        <p:spPr>
          <a:xfrm>
            <a:off x="6635651" y="3128963"/>
            <a:ext cx="20922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NLM</a:t>
            </a:r>
            <a:endParaRPr b="0" i="0" sz="1800" u="none" cap="none" strike="noStrike">
              <a:solidFill>
                <a:schemeClr val="dk1"/>
              </a:solidFill>
              <a:latin typeface="Calibri"/>
              <a:ea typeface="Calibri"/>
              <a:cs typeface="Calibri"/>
              <a:sym typeface="Calibri"/>
            </a:endParaRPr>
          </a:p>
        </p:txBody>
      </p:sp>
      <p:sp>
        <p:nvSpPr>
          <p:cNvPr id="1235" name="Google Shape;1235;p33"/>
          <p:cNvSpPr/>
          <p:nvPr/>
        </p:nvSpPr>
        <p:spPr>
          <a:xfrm>
            <a:off x="8753878" y="3043238"/>
            <a:ext cx="27636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56,487</a:t>
            </a:r>
            <a:endParaRPr b="0" i="0" sz="1800" u="none" cap="none" strike="noStrike">
              <a:solidFill>
                <a:schemeClr val="dk1"/>
              </a:solidFill>
              <a:latin typeface="Calibri"/>
              <a:ea typeface="Calibri"/>
              <a:cs typeface="Calibri"/>
              <a:sym typeface="Calibri"/>
            </a:endParaRPr>
          </a:p>
        </p:txBody>
      </p:sp>
      <p:sp>
        <p:nvSpPr>
          <p:cNvPr id="1236" name="Google Shape;1236;p33"/>
          <p:cNvSpPr/>
          <p:nvPr/>
        </p:nvSpPr>
        <p:spPr>
          <a:xfrm>
            <a:off x="11455588" y="3043238"/>
            <a:ext cx="27615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104,800</a:t>
            </a:r>
            <a:endParaRPr b="0" i="0" sz="1800" u="none" cap="none" strike="noStrike">
              <a:solidFill>
                <a:schemeClr val="dk1"/>
              </a:solidFill>
              <a:latin typeface="Calibri"/>
              <a:ea typeface="Calibri"/>
              <a:cs typeface="Calibri"/>
              <a:sym typeface="Calibri"/>
            </a:endParaRPr>
          </a:p>
        </p:txBody>
      </p:sp>
      <p:sp>
        <p:nvSpPr>
          <p:cNvPr id="1237" name="Google Shape;1237;p33"/>
          <p:cNvSpPr/>
          <p:nvPr/>
        </p:nvSpPr>
        <p:spPr>
          <a:xfrm>
            <a:off x="14145424" y="3043238"/>
            <a:ext cx="34212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53.90%</a:t>
            </a:r>
            <a:endParaRPr b="0" i="0" sz="1800" u="none" cap="none" strike="noStrike">
              <a:solidFill>
                <a:schemeClr val="dk1"/>
              </a:solidFill>
              <a:latin typeface="Calibri"/>
              <a:ea typeface="Calibri"/>
              <a:cs typeface="Calibri"/>
              <a:sym typeface="Calibri"/>
            </a:endParaRPr>
          </a:p>
        </p:txBody>
      </p:sp>
      <p:sp>
        <p:nvSpPr>
          <p:cNvPr id="1238" name="Google Shape;1238;p33"/>
          <p:cNvSpPr/>
          <p:nvPr/>
        </p:nvSpPr>
        <p:spPr>
          <a:xfrm>
            <a:off x="6635651" y="3595688"/>
            <a:ext cx="20922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RIM</a:t>
            </a:r>
            <a:endParaRPr b="0" i="0" sz="1800" u="none" cap="none" strike="noStrike">
              <a:solidFill>
                <a:schemeClr val="dk1"/>
              </a:solidFill>
              <a:latin typeface="Calibri"/>
              <a:ea typeface="Calibri"/>
              <a:cs typeface="Calibri"/>
              <a:sym typeface="Calibri"/>
            </a:endParaRPr>
          </a:p>
        </p:txBody>
      </p:sp>
      <p:sp>
        <p:nvSpPr>
          <p:cNvPr id="1239" name="Google Shape;1239;p33"/>
          <p:cNvSpPr/>
          <p:nvPr/>
        </p:nvSpPr>
        <p:spPr>
          <a:xfrm>
            <a:off x="8753878" y="3509963"/>
            <a:ext cx="27636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24,517</a:t>
            </a:r>
            <a:endParaRPr b="0" i="0" sz="1800" u="none" cap="none" strike="noStrike">
              <a:solidFill>
                <a:schemeClr val="dk1"/>
              </a:solidFill>
              <a:latin typeface="Calibri"/>
              <a:ea typeface="Calibri"/>
              <a:cs typeface="Calibri"/>
              <a:sym typeface="Calibri"/>
            </a:endParaRPr>
          </a:p>
        </p:txBody>
      </p:sp>
      <p:sp>
        <p:nvSpPr>
          <p:cNvPr id="1240" name="Google Shape;1240;p33"/>
          <p:cNvSpPr/>
          <p:nvPr/>
        </p:nvSpPr>
        <p:spPr>
          <a:xfrm>
            <a:off x="11455588" y="3509963"/>
            <a:ext cx="27615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44,600</a:t>
            </a:r>
            <a:endParaRPr b="0" i="0" sz="1800" u="none" cap="none" strike="noStrike">
              <a:solidFill>
                <a:schemeClr val="dk1"/>
              </a:solidFill>
              <a:latin typeface="Calibri"/>
              <a:ea typeface="Calibri"/>
              <a:cs typeface="Calibri"/>
              <a:sym typeface="Calibri"/>
            </a:endParaRPr>
          </a:p>
        </p:txBody>
      </p:sp>
      <p:sp>
        <p:nvSpPr>
          <p:cNvPr id="1241" name="Google Shape;1241;p33"/>
          <p:cNvSpPr/>
          <p:nvPr/>
        </p:nvSpPr>
        <p:spPr>
          <a:xfrm>
            <a:off x="14145424" y="3509963"/>
            <a:ext cx="34212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54.97%</a:t>
            </a:r>
            <a:endParaRPr b="0" i="0" sz="1800" u="none" cap="none" strike="noStrike">
              <a:solidFill>
                <a:schemeClr val="dk1"/>
              </a:solidFill>
              <a:latin typeface="Calibri"/>
              <a:ea typeface="Calibri"/>
              <a:cs typeface="Calibri"/>
              <a:sym typeface="Calibri"/>
            </a:endParaRPr>
          </a:p>
        </p:txBody>
      </p:sp>
      <p:sp>
        <p:nvSpPr>
          <p:cNvPr id="1242" name="Google Shape;1242;p33"/>
          <p:cNvSpPr/>
          <p:nvPr/>
        </p:nvSpPr>
        <p:spPr>
          <a:xfrm>
            <a:off x="762000" y="415290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3"/>
          <p:cNvSpPr/>
          <p:nvPr/>
        </p:nvSpPr>
        <p:spPr>
          <a:xfrm>
            <a:off x="698502" y="434340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GDR</a:t>
            </a:r>
            <a:endParaRPr b="0" i="0" sz="1800" u="none" cap="none" strike="noStrike">
              <a:solidFill>
                <a:schemeClr val="dk1"/>
              </a:solidFill>
              <a:latin typeface="Calibri"/>
              <a:ea typeface="Calibri"/>
              <a:cs typeface="Calibri"/>
              <a:sym typeface="Calibri"/>
            </a:endParaRPr>
          </a:p>
        </p:txBody>
      </p:sp>
      <p:sp>
        <p:nvSpPr>
          <p:cNvPr id="1244" name="Google Shape;1244;p33"/>
          <p:cNvSpPr/>
          <p:nvPr/>
        </p:nvSpPr>
        <p:spPr>
          <a:xfrm>
            <a:off x="698502" y="461010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93.17%</a:t>
            </a:r>
            <a:endParaRPr b="0" i="0" sz="2700" u="none" cap="none" strike="noStrike">
              <a:solidFill>
                <a:schemeClr val="dk1"/>
              </a:solidFill>
              <a:latin typeface="Calibri"/>
              <a:ea typeface="Calibri"/>
              <a:cs typeface="Calibri"/>
              <a:sym typeface="Calibri"/>
            </a:endParaRPr>
          </a:p>
        </p:txBody>
      </p:sp>
      <p:sp>
        <p:nvSpPr>
          <p:cNvPr id="1245" name="Google Shape;1245;p33"/>
          <p:cNvSpPr/>
          <p:nvPr/>
        </p:nvSpPr>
        <p:spPr>
          <a:xfrm>
            <a:off x="2754809" y="5095875"/>
            <a:ext cx="1475100" cy="342900"/>
          </a:xfrm>
          <a:prstGeom prst="roundRect">
            <a:avLst>
              <a:gd fmla="val 50000"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3"/>
          <p:cNvSpPr/>
          <p:nvPr/>
        </p:nvSpPr>
        <p:spPr>
          <a:xfrm>
            <a:off x="2814399" y="5133975"/>
            <a:ext cx="135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100% target</a:t>
            </a:r>
            <a:endParaRPr b="0" i="0" sz="1800" u="none" cap="none" strike="noStrike">
              <a:solidFill>
                <a:schemeClr val="dk1"/>
              </a:solidFill>
              <a:latin typeface="Calibri"/>
              <a:ea typeface="Calibri"/>
              <a:cs typeface="Calibri"/>
              <a:sym typeface="Calibri"/>
            </a:endParaRPr>
          </a:p>
        </p:txBody>
      </p:sp>
      <p:sp>
        <p:nvSpPr>
          <p:cNvPr id="1247" name="Google Shape;1247;p33"/>
          <p:cNvSpPr/>
          <p:nvPr/>
        </p:nvSpPr>
        <p:spPr>
          <a:xfrm>
            <a:off x="6413450" y="415290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3"/>
          <p:cNvSpPr/>
          <p:nvPr/>
        </p:nvSpPr>
        <p:spPr>
          <a:xfrm>
            <a:off x="6349953" y="434340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CR</a:t>
            </a:r>
            <a:endParaRPr b="0" i="0" sz="1800" u="none" cap="none" strike="noStrike">
              <a:solidFill>
                <a:schemeClr val="dk1"/>
              </a:solidFill>
              <a:latin typeface="Calibri"/>
              <a:ea typeface="Calibri"/>
              <a:cs typeface="Calibri"/>
              <a:sym typeface="Calibri"/>
            </a:endParaRPr>
          </a:p>
        </p:txBody>
      </p:sp>
      <p:sp>
        <p:nvSpPr>
          <p:cNvPr id="1249" name="Google Shape;1249;p33"/>
          <p:cNvSpPr/>
          <p:nvPr/>
        </p:nvSpPr>
        <p:spPr>
          <a:xfrm>
            <a:off x="6349953" y="461010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12.57%</a:t>
            </a:r>
            <a:endParaRPr b="0" i="0" sz="2700" u="none" cap="none" strike="noStrike">
              <a:solidFill>
                <a:schemeClr val="dk1"/>
              </a:solidFill>
              <a:latin typeface="Calibri"/>
              <a:ea typeface="Calibri"/>
              <a:cs typeface="Calibri"/>
              <a:sym typeface="Calibri"/>
            </a:endParaRPr>
          </a:p>
        </p:txBody>
      </p:sp>
      <p:sp>
        <p:nvSpPr>
          <p:cNvPr id="1250" name="Google Shape;1250;p33"/>
          <p:cNvSpPr/>
          <p:nvPr/>
        </p:nvSpPr>
        <p:spPr>
          <a:xfrm>
            <a:off x="8406259" y="5095875"/>
            <a:ext cx="1475100" cy="342900"/>
          </a:xfrm>
          <a:prstGeom prst="roundRect">
            <a:avLst>
              <a:gd fmla="val 50000"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3"/>
          <p:cNvSpPr/>
          <p:nvPr/>
        </p:nvSpPr>
        <p:spPr>
          <a:xfrm>
            <a:off x="8465850" y="5133975"/>
            <a:ext cx="135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100% target</a:t>
            </a:r>
            <a:endParaRPr b="0" i="0" sz="1800" u="none" cap="none" strike="noStrike">
              <a:solidFill>
                <a:schemeClr val="dk1"/>
              </a:solidFill>
              <a:latin typeface="Calibri"/>
              <a:ea typeface="Calibri"/>
              <a:cs typeface="Calibri"/>
              <a:sym typeface="Calibri"/>
            </a:endParaRPr>
          </a:p>
        </p:txBody>
      </p:sp>
      <p:sp>
        <p:nvSpPr>
          <p:cNvPr id="1252" name="Google Shape;1252;p33"/>
          <p:cNvSpPr/>
          <p:nvPr/>
        </p:nvSpPr>
        <p:spPr>
          <a:xfrm>
            <a:off x="12064901" y="415290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3"/>
          <p:cNvSpPr/>
          <p:nvPr/>
        </p:nvSpPr>
        <p:spPr>
          <a:xfrm>
            <a:off x="12001403" y="434340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DFD Retention</a:t>
            </a:r>
            <a:endParaRPr b="0" i="0" sz="1800" u="none" cap="none" strike="noStrike">
              <a:solidFill>
                <a:schemeClr val="dk1"/>
              </a:solidFill>
              <a:latin typeface="Calibri"/>
              <a:ea typeface="Calibri"/>
              <a:cs typeface="Calibri"/>
              <a:sym typeface="Calibri"/>
            </a:endParaRPr>
          </a:p>
        </p:txBody>
      </p:sp>
      <p:sp>
        <p:nvSpPr>
          <p:cNvPr id="1254" name="Google Shape;1254;p33"/>
          <p:cNvSpPr/>
          <p:nvPr/>
        </p:nvSpPr>
        <p:spPr>
          <a:xfrm>
            <a:off x="12001403" y="461010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70.48%</a:t>
            </a:r>
            <a:endParaRPr b="0" i="0" sz="2700" u="none" cap="none" strike="noStrike">
              <a:solidFill>
                <a:schemeClr val="dk1"/>
              </a:solidFill>
              <a:latin typeface="Calibri"/>
              <a:ea typeface="Calibri"/>
              <a:cs typeface="Calibri"/>
              <a:sym typeface="Calibri"/>
            </a:endParaRPr>
          </a:p>
        </p:txBody>
      </p:sp>
      <p:sp>
        <p:nvSpPr>
          <p:cNvPr id="1255" name="Google Shape;1255;p33"/>
          <p:cNvSpPr/>
          <p:nvPr/>
        </p:nvSpPr>
        <p:spPr>
          <a:xfrm>
            <a:off x="14122003" y="5095875"/>
            <a:ext cx="1346700" cy="342900"/>
          </a:xfrm>
          <a:prstGeom prst="roundRect">
            <a:avLst>
              <a:gd fmla="val 5000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3"/>
          <p:cNvSpPr/>
          <p:nvPr/>
        </p:nvSpPr>
        <p:spPr>
          <a:xfrm>
            <a:off x="14188016" y="5133975"/>
            <a:ext cx="12147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85% target</a:t>
            </a:r>
            <a:endParaRPr b="0" i="0" sz="1800" u="none" cap="none" strike="noStrike">
              <a:solidFill>
                <a:schemeClr val="dk1"/>
              </a:solidFill>
              <a:latin typeface="Calibri"/>
              <a:ea typeface="Calibri"/>
              <a:cs typeface="Calibri"/>
              <a:sym typeface="Calibri"/>
            </a:endParaRPr>
          </a:p>
        </p:txBody>
      </p:sp>
      <p:sp>
        <p:nvSpPr>
          <p:cNvPr id="1257" name="Google Shape;1257;p33"/>
          <p:cNvSpPr/>
          <p:nvPr/>
        </p:nvSpPr>
        <p:spPr>
          <a:xfrm>
            <a:off x="762000" y="5819775"/>
            <a:ext cx="16764000" cy="3972000"/>
          </a:xfrm>
          <a:prstGeom prst="roundRect">
            <a:avLst>
              <a:gd fmla="val 3837"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3"/>
          <p:cNvSpPr/>
          <p:nvPr/>
        </p:nvSpPr>
        <p:spPr>
          <a:xfrm>
            <a:off x="971550" y="5991225"/>
            <a:ext cx="16847700" cy="3667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Total Capacity hụt 7.4% so với MTD, chủ yếu do Active NIM tăng chậm (~65% cùng kỳ tháng trước); Productivity các tập vẫn ổn định. GDR đạt 100% target, CR không biến động nhiều WoW. DFD Retention vượt tháng trước nhờ nhóm tài xế trẻ quay lại sau kỳ hè, song thời tiết vẫn ảnh hưởng tốc độ tăng hằng ngày.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3" name="Shape 1263"/>
        <p:cNvGrpSpPr/>
        <p:nvPr/>
      </p:nvGrpSpPr>
      <p:grpSpPr>
        <a:xfrm>
          <a:off x="0" y="0"/>
          <a:ext cx="0" cy="0"/>
          <a:chOff x="0" y="0"/>
          <a:chExt cx="0" cy="0"/>
        </a:xfrm>
      </p:grpSpPr>
      <p:sp>
        <p:nvSpPr>
          <p:cNvPr id="1264" name="Google Shape;1264;p34"/>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GROWTH WEEKLY REPORT — SGN</a:t>
            </a:r>
            <a:endParaRPr b="0" i="0" sz="3300" u="none" cap="none" strike="noStrike">
              <a:solidFill>
                <a:schemeClr val="dk1"/>
              </a:solidFill>
              <a:latin typeface="Calibri"/>
              <a:ea typeface="Calibri"/>
              <a:cs typeface="Calibri"/>
              <a:sym typeface="Calibri"/>
            </a:endParaRPr>
          </a:p>
        </p:txBody>
      </p:sp>
      <p:sp>
        <p:nvSpPr>
          <p:cNvPr id="1265" name="Google Shape;1265;p34"/>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Operation Growth</a:t>
            </a:r>
            <a:endParaRPr b="0" i="0" sz="1950" u="none" cap="none" strike="noStrike">
              <a:solidFill>
                <a:schemeClr val="dk1"/>
              </a:solidFill>
              <a:latin typeface="Calibri"/>
              <a:ea typeface="Calibri"/>
              <a:cs typeface="Calibri"/>
              <a:sym typeface="Calibri"/>
            </a:endParaRPr>
          </a:p>
        </p:txBody>
      </p:sp>
      <p:sp>
        <p:nvSpPr>
          <p:cNvPr id="1266" name="Google Shape;1266;p34"/>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4"/>
          <p:cNvSpPr/>
          <p:nvPr/>
        </p:nvSpPr>
        <p:spPr>
          <a:xfrm>
            <a:off x="952500" y="15240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268" name="Google Shape;1268;p34"/>
          <p:cNvSpPr/>
          <p:nvPr/>
        </p:nvSpPr>
        <p:spPr>
          <a:xfrm>
            <a:off x="3157240" y="1533525"/>
            <a:ext cx="83391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Capacity SGN đã theo kịp MTD; DFD Retention tăng nhờ nhóm tài xế trẻ quay lại.</a:t>
            </a:r>
            <a:endParaRPr b="0" i="0" sz="1800" u="none" cap="none" strike="noStrike">
              <a:solidFill>
                <a:schemeClr val="dk1"/>
              </a:solidFill>
              <a:latin typeface="Calibri"/>
              <a:ea typeface="Calibri"/>
              <a:cs typeface="Calibri"/>
              <a:sym typeface="Calibri"/>
            </a:endParaRPr>
          </a:p>
        </p:txBody>
      </p:sp>
      <p:sp>
        <p:nvSpPr>
          <p:cNvPr id="1269" name="Google Shape;1269;p34"/>
          <p:cNvSpPr/>
          <p:nvPr/>
        </p:nvSpPr>
        <p:spPr>
          <a:xfrm>
            <a:off x="762000" y="2114550"/>
            <a:ext cx="5511600" cy="1848000"/>
          </a:xfrm>
          <a:prstGeom prst="roundRect">
            <a:avLst>
              <a:gd fmla="val 8247"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4"/>
          <p:cNvSpPr/>
          <p:nvPr/>
        </p:nvSpPr>
        <p:spPr>
          <a:xfrm>
            <a:off x="2819951" y="2362200"/>
            <a:ext cx="13959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Capacity M8</a:t>
            </a:r>
            <a:endParaRPr b="0" i="0" sz="1800" u="none" cap="none" strike="noStrike">
              <a:solidFill>
                <a:schemeClr val="dk1"/>
              </a:solidFill>
              <a:latin typeface="Calibri"/>
              <a:ea typeface="Calibri"/>
              <a:cs typeface="Calibri"/>
              <a:sym typeface="Calibri"/>
            </a:endParaRPr>
          </a:p>
        </p:txBody>
      </p:sp>
      <p:sp>
        <p:nvSpPr>
          <p:cNvPr id="1271" name="Google Shape;1271;p34"/>
          <p:cNvSpPr/>
          <p:nvPr/>
        </p:nvSpPr>
        <p:spPr>
          <a:xfrm>
            <a:off x="2616465" y="2705100"/>
            <a:ext cx="1802700" cy="705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4200"/>
              <a:buFont typeface="Plus Jakarta Sans"/>
              <a:buNone/>
            </a:pPr>
            <a:r>
              <a:rPr b="1" i="0" lang="en-US" sz="4200" u="none" cap="none" strike="noStrike">
                <a:solidFill>
                  <a:srgbClr val="F55F00"/>
                </a:solidFill>
                <a:latin typeface="Plus Jakarta Sans"/>
                <a:ea typeface="Plus Jakarta Sans"/>
                <a:cs typeface="Plus Jakarta Sans"/>
                <a:sym typeface="Plus Jakarta Sans"/>
              </a:rPr>
              <a:t>51.8%</a:t>
            </a:r>
            <a:endParaRPr b="0" i="0" sz="4200" u="none" cap="none" strike="noStrike">
              <a:solidFill>
                <a:schemeClr val="dk1"/>
              </a:solidFill>
              <a:latin typeface="Calibri"/>
              <a:ea typeface="Calibri"/>
              <a:cs typeface="Calibri"/>
              <a:sym typeface="Calibri"/>
            </a:endParaRPr>
          </a:p>
        </p:txBody>
      </p:sp>
      <p:sp>
        <p:nvSpPr>
          <p:cNvPr id="1272" name="Google Shape;1272;p34"/>
          <p:cNvSpPr/>
          <p:nvPr/>
        </p:nvSpPr>
        <p:spPr>
          <a:xfrm>
            <a:off x="2175264" y="3448050"/>
            <a:ext cx="2685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Đã theo kịp tiến độ MTD</a:t>
            </a:r>
            <a:endParaRPr b="0" i="0" sz="1800" u="none" cap="none" strike="noStrike">
              <a:solidFill>
                <a:schemeClr val="dk1"/>
              </a:solidFill>
              <a:latin typeface="Calibri"/>
              <a:ea typeface="Calibri"/>
              <a:cs typeface="Calibri"/>
              <a:sym typeface="Calibri"/>
            </a:endParaRPr>
          </a:p>
        </p:txBody>
      </p:sp>
      <p:sp>
        <p:nvSpPr>
          <p:cNvPr id="1273" name="Google Shape;1273;p34"/>
          <p:cNvSpPr/>
          <p:nvPr/>
        </p:nvSpPr>
        <p:spPr>
          <a:xfrm>
            <a:off x="6502301" y="2114550"/>
            <a:ext cx="11023800" cy="4572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4"/>
          <p:cNvSpPr/>
          <p:nvPr/>
        </p:nvSpPr>
        <p:spPr>
          <a:xfrm>
            <a:off x="6635651" y="2209800"/>
            <a:ext cx="20922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Zone</a:t>
            </a:r>
            <a:endParaRPr b="0" i="0" sz="1800" u="none" cap="none" strike="noStrike">
              <a:solidFill>
                <a:schemeClr val="dk1"/>
              </a:solidFill>
              <a:latin typeface="Calibri"/>
              <a:ea typeface="Calibri"/>
              <a:cs typeface="Calibri"/>
              <a:sym typeface="Calibri"/>
            </a:endParaRPr>
          </a:p>
        </p:txBody>
      </p:sp>
      <p:sp>
        <p:nvSpPr>
          <p:cNvPr id="1275" name="Google Shape;1275;p34"/>
          <p:cNvSpPr/>
          <p:nvPr/>
        </p:nvSpPr>
        <p:spPr>
          <a:xfrm>
            <a:off x="8877703" y="2209800"/>
            <a:ext cx="25161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Actual</a:t>
            </a:r>
            <a:endParaRPr b="0" i="0" sz="1800" u="none" cap="none" strike="noStrike">
              <a:solidFill>
                <a:schemeClr val="dk1"/>
              </a:solidFill>
              <a:latin typeface="Calibri"/>
              <a:ea typeface="Calibri"/>
              <a:cs typeface="Calibri"/>
              <a:sym typeface="Calibri"/>
            </a:endParaRPr>
          </a:p>
        </p:txBody>
      </p:sp>
      <p:sp>
        <p:nvSpPr>
          <p:cNvPr id="1276" name="Google Shape;1276;p34"/>
          <p:cNvSpPr/>
          <p:nvPr/>
        </p:nvSpPr>
        <p:spPr>
          <a:xfrm>
            <a:off x="11579413" y="2209800"/>
            <a:ext cx="25137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Target</a:t>
            </a:r>
            <a:endParaRPr b="0" i="0" sz="1800" u="none" cap="none" strike="noStrike">
              <a:solidFill>
                <a:schemeClr val="dk1"/>
              </a:solidFill>
              <a:latin typeface="Calibri"/>
              <a:ea typeface="Calibri"/>
              <a:cs typeface="Calibri"/>
              <a:sym typeface="Calibri"/>
            </a:endParaRPr>
          </a:p>
        </p:txBody>
      </p:sp>
      <p:sp>
        <p:nvSpPr>
          <p:cNvPr id="1277" name="Google Shape;1277;p34"/>
          <p:cNvSpPr/>
          <p:nvPr/>
        </p:nvSpPr>
        <p:spPr>
          <a:xfrm>
            <a:off x="14269249" y="2209800"/>
            <a:ext cx="31734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 Target</a:t>
            </a:r>
            <a:endParaRPr b="0" i="0" sz="1800" u="none" cap="none" strike="noStrike">
              <a:solidFill>
                <a:schemeClr val="dk1"/>
              </a:solidFill>
              <a:latin typeface="Calibri"/>
              <a:ea typeface="Calibri"/>
              <a:cs typeface="Calibri"/>
              <a:sym typeface="Calibri"/>
            </a:endParaRPr>
          </a:p>
        </p:txBody>
      </p:sp>
      <p:sp>
        <p:nvSpPr>
          <p:cNvPr id="1278" name="Google Shape;1278;p34"/>
          <p:cNvSpPr/>
          <p:nvPr/>
        </p:nvSpPr>
        <p:spPr>
          <a:xfrm>
            <a:off x="6502301" y="3024188"/>
            <a:ext cx="110238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4"/>
          <p:cNvSpPr/>
          <p:nvPr/>
        </p:nvSpPr>
        <p:spPr>
          <a:xfrm>
            <a:off x="6635651" y="2667000"/>
            <a:ext cx="20922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NIM</a:t>
            </a:r>
            <a:endParaRPr b="0" i="0" sz="1800" u="none" cap="none" strike="noStrike">
              <a:solidFill>
                <a:schemeClr val="dk1"/>
              </a:solidFill>
              <a:latin typeface="Calibri"/>
              <a:ea typeface="Calibri"/>
              <a:cs typeface="Calibri"/>
              <a:sym typeface="Calibri"/>
            </a:endParaRPr>
          </a:p>
        </p:txBody>
      </p:sp>
      <p:sp>
        <p:nvSpPr>
          <p:cNvPr id="1280" name="Google Shape;1280;p34"/>
          <p:cNvSpPr/>
          <p:nvPr/>
        </p:nvSpPr>
        <p:spPr>
          <a:xfrm>
            <a:off x="8753878" y="2581275"/>
            <a:ext cx="27636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31,707</a:t>
            </a:r>
            <a:endParaRPr b="0" i="0" sz="1800" u="none" cap="none" strike="noStrike">
              <a:solidFill>
                <a:schemeClr val="dk1"/>
              </a:solidFill>
              <a:latin typeface="Calibri"/>
              <a:ea typeface="Calibri"/>
              <a:cs typeface="Calibri"/>
              <a:sym typeface="Calibri"/>
            </a:endParaRPr>
          </a:p>
        </p:txBody>
      </p:sp>
      <p:sp>
        <p:nvSpPr>
          <p:cNvPr id="1281" name="Google Shape;1281;p34"/>
          <p:cNvSpPr/>
          <p:nvPr/>
        </p:nvSpPr>
        <p:spPr>
          <a:xfrm>
            <a:off x="11455588" y="2581275"/>
            <a:ext cx="27615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89,300</a:t>
            </a:r>
            <a:endParaRPr b="0" i="0" sz="1800" u="none" cap="none" strike="noStrike">
              <a:solidFill>
                <a:schemeClr val="dk1"/>
              </a:solidFill>
              <a:latin typeface="Calibri"/>
              <a:ea typeface="Calibri"/>
              <a:cs typeface="Calibri"/>
              <a:sym typeface="Calibri"/>
            </a:endParaRPr>
          </a:p>
        </p:txBody>
      </p:sp>
      <p:sp>
        <p:nvSpPr>
          <p:cNvPr id="1282" name="Google Shape;1282;p34"/>
          <p:cNvSpPr/>
          <p:nvPr/>
        </p:nvSpPr>
        <p:spPr>
          <a:xfrm>
            <a:off x="14145424" y="2581275"/>
            <a:ext cx="34212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35.51%</a:t>
            </a:r>
            <a:endParaRPr b="0" i="0" sz="1800" u="none" cap="none" strike="noStrike">
              <a:solidFill>
                <a:schemeClr val="dk1"/>
              </a:solidFill>
              <a:latin typeface="Calibri"/>
              <a:ea typeface="Calibri"/>
              <a:cs typeface="Calibri"/>
              <a:sym typeface="Calibri"/>
            </a:endParaRPr>
          </a:p>
        </p:txBody>
      </p:sp>
      <p:sp>
        <p:nvSpPr>
          <p:cNvPr id="1283" name="Google Shape;1283;p34"/>
          <p:cNvSpPr/>
          <p:nvPr/>
        </p:nvSpPr>
        <p:spPr>
          <a:xfrm>
            <a:off x="6502301" y="3033713"/>
            <a:ext cx="11023800" cy="4668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4"/>
          <p:cNvSpPr/>
          <p:nvPr/>
        </p:nvSpPr>
        <p:spPr>
          <a:xfrm>
            <a:off x="6502301" y="3490913"/>
            <a:ext cx="110238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4"/>
          <p:cNvSpPr/>
          <p:nvPr/>
        </p:nvSpPr>
        <p:spPr>
          <a:xfrm>
            <a:off x="6635651" y="3128963"/>
            <a:ext cx="20922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NLM</a:t>
            </a:r>
            <a:endParaRPr b="0" i="0" sz="1800" u="none" cap="none" strike="noStrike">
              <a:solidFill>
                <a:schemeClr val="dk1"/>
              </a:solidFill>
              <a:latin typeface="Calibri"/>
              <a:ea typeface="Calibri"/>
              <a:cs typeface="Calibri"/>
              <a:sym typeface="Calibri"/>
            </a:endParaRPr>
          </a:p>
        </p:txBody>
      </p:sp>
      <p:sp>
        <p:nvSpPr>
          <p:cNvPr id="1286" name="Google Shape;1286;p34"/>
          <p:cNvSpPr/>
          <p:nvPr/>
        </p:nvSpPr>
        <p:spPr>
          <a:xfrm>
            <a:off x="8753878" y="3043238"/>
            <a:ext cx="27636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76,465</a:t>
            </a:r>
            <a:endParaRPr b="0" i="0" sz="1800" u="none" cap="none" strike="noStrike">
              <a:solidFill>
                <a:schemeClr val="dk1"/>
              </a:solidFill>
              <a:latin typeface="Calibri"/>
              <a:ea typeface="Calibri"/>
              <a:cs typeface="Calibri"/>
              <a:sym typeface="Calibri"/>
            </a:endParaRPr>
          </a:p>
        </p:txBody>
      </p:sp>
      <p:sp>
        <p:nvSpPr>
          <p:cNvPr id="1287" name="Google Shape;1287;p34"/>
          <p:cNvSpPr/>
          <p:nvPr/>
        </p:nvSpPr>
        <p:spPr>
          <a:xfrm>
            <a:off x="11455588" y="3043238"/>
            <a:ext cx="27615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119,300</a:t>
            </a:r>
            <a:endParaRPr b="0" i="0" sz="1800" u="none" cap="none" strike="noStrike">
              <a:solidFill>
                <a:schemeClr val="dk1"/>
              </a:solidFill>
              <a:latin typeface="Calibri"/>
              <a:ea typeface="Calibri"/>
              <a:cs typeface="Calibri"/>
              <a:sym typeface="Calibri"/>
            </a:endParaRPr>
          </a:p>
        </p:txBody>
      </p:sp>
      <p:sp>
        <p:nvSpPr>
          <p:cNvPr id="1288" name="Google Shape;1288;p34"/>
          <p:cNvSpPr/>
          <p:nvPr/>
        </p:nvSpPr>
        <p:spPr>
          <a:xfrm>
            <a:off x="14145424" y="3043238"/>
            <a:ext cx="34212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64.09%</a:t>
            </a:r>
            <a:endParaRPr b="0" i="0" sz="1800" u="none" cap="none" strike="noStrike">
              <a:solidFill>
                <a:schemeClr val="dk1"/>
              </a:solidFill>
              <a:latin typeface="Calibri"/>
              <a:ea typeface="Calibri"/>
              <a:cs typeface="Calibri"/>
              <a:sym typeface="Calibri"/>
            </a:endParaRPr>
          </a:p>
        </p:txBody>
      </p:sp>
      <p:sp>
        <p:nvSpPr>
          <p:cNvPr id="1289" name="Google Shape;1289;p34"/>
          <p:cNvSpPr/>
          <p:nvPr/>
        </p:nvSpPr>
        <p:spPr>
          <a:xfrm>
            <a:off x="6635651" y="3595688"/>
            <a:ext cx="20922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RIM</a:t>
            </a:r>
            <a:endParaRPr b="0" i="0" sz="1800" u="none" cap="none" strike="noStrike">
              <a:solidFill>
                <a:schemeClr val="dk1"/>
              </a:solidFill>
              <a:latin typeface="Calibri"/>
              <a:ea typeface="Calibri"/>
              <a:cs typeface="Calibri"/>
              <a:sym typeface="Calibri"/>
            </a:endParaRPr>
          </a:p>
        </p:txBody>
      </p:sp>
      <p:sp>
        <p:nvSpPr>
          <p:cNvPr id="1290" name="Google Shape;1290;p34"/>
          <p:cNvSpPr/>
          <p:nvPr/>
        </p:nvSpPr>
        <p:spPr>
          <a:xfrm>
            <a:off x="8753878" y="3509963"/>
            <a:ext cx="27636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21,680</a:t>
            </a:r>
            <a:endParaRPr b="0" i="0" sz="1800" u="none" cap="none" strike="noStrike">
              <a:solidFill>
                <a:schemeClr val="dk1"/>
              </a:solidFill>
              <a:latin typeface="Calibri"/>
              <a:ea typeface="Calibri"/>
              <a:cs typeface="Calibri"/>
              <a:sym typeface="Calibri"/>
            </a:endParaRPr>
          </a:p>
        </p:txBody>
      </p:sp>
      <p:sp>
        <p:nvSpPr>
          <p:cNvPr id="1291" name="Google Shape;1291;p34"/>
          <p:cNvSpPr/>
          <p:nvPr/>
        </p:nvSpPr>
        <p:spPr>
          <a:xfrm>
            <a:off x="11455588" y="3509963"/>
            <a:ext cx="27615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42,100</a:t>
            </a:r>
            <a:endParaRPr b="0" i="0" sz="1800" u="none" cap="none" strike="noStrike">
              <a:solidFill>
                <a:schemeClr val="dk1"/>
              </a:solidFill>
              <a:latin typeface="Calibri"/>
              <a:ea typeface="Calibri"/>
              <a:cs typeface="Calibri"/>
              <a:sym typeface="Calibri"/>
            </a:endParaRPr>
          </a:p>
        </p:txBody>
      </p:sp>
      <p:sp>
        <p:nvSpPr>
          <p:cNvPr id="1292" name="Google Shape;1292;p34"/>
          <p:cNvSpPr/>
          <p:nvPr/>
        </p:nvSpPr>
        <p:spPr>
          <a:xfrm>
            <a:off x="14145424" y="3509963"/>
            <a:ext cx="34212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51.50%</a:t>
            </a:r>
            <a:endParaRPr b="0" i="0" sz="1800" u="none" cap="none" strike="noStrike">
              <a:solidFill>
                <a:schemeClr val="dk1"/>
              </a:solidFill>
              <a:latin typeface="Calibri"/>
              <a:ea typeface="Calibri"/>
              <a:cs typeface="Calibri"/>
              <a:sym typeface="Calibri"/>
            </a:endParaRPr>
          </a:p>
        </p:txBody>
      </p:sp>
      <p:sp>
        <p:nvSpPr>
          <p:cNvPr id="1293" name="Google Shape;1293;p34"/>
          <p:cNvSpPr/>
          <p:nvPr/>
        </p:nvSpPr>
        <p:spPr>
          <a:xfrm>
            <a:off x="762000" y="415290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4"/>
          <p:cNvSpPr/>
          <p:nvPr/>
        </p:nvSpPr>
        <p:spPr>
          <a:xfrm>
            <a:off x="698502" y="434340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GDR</a:t>
            </a:r>
            <a:endParaRPr b="0" i="0" sz="1800" u="none" cap="none" strike="noStrike">
              <a:solidFill>
                <a:schemeClr val="dk1"/>
              </a:solidFill>
              <a:latin typeface="Calibri"/>
              <a:ea typeface="Calibri"/>
              <a:cs typeface="Calibri"/>
              <a:sym typeface="Calibri"/>
            </a:endParaRPr>
          </a:p>
        </p:txBody>
      </p:sp>
      <p:sp>
        <p:nvSpPr>
          <p:cNvPr id="1295" name="Google Shape;1295;p34"/>
          <p:cNvSpPr/>
          <p:nvPr/>
        </p:nvSpPr>
        <p:spPr>
          <a:xfrm>
            <a:off x="698502" y="461010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96.34%</a:t>
            </a:r>
            <a:endParaRPr b="0" i="0" sz="2700" u="none" cap="none" strike="noStrike">
              <a:solidFill>
                <a:schemeClr val="dk1"/>
              </a:solidFill>
              <a:latin typeface="Calibri"/>
              <a:ea typeface="Calibri"/>
              <a:cs typeface="Calibri"/>
              <a:sym typeface="Calibri"/>
            </a:endParaRPr>
          </a:p>
        </p:txBody>
      </p:sp>
      <p:sp>
        <p:nvSpPr>
          <p:cNvPr id="1296" name="Google Shape;1296;p34"/>
          <p:cNvSpPr/>
          <p:nvPr/>
        </p:nvSpPr>
        <p:spPr>
          <a:xfrm>
            <a:off x="2754809" y="5095875"/>
            <a:ext cx="1475100" cy="342900"/>
          </a:xfrm>
          <a:prstGeom prst="roundRect">
            <a:avLst>
              <a:gd fmla="val 50000"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4"/>
          <p:cNvSpPr/>
          <p:nvPr/>
        </p:nvSpPr>
        <p:spPr>
          <a:xfrm>
            <a:off x="2814399" y="5133975"/>
            <a:ext cx="135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110% target</a:t>
            </a:r>
            <a:endParaRPr b="0" i="0" sz="1800" u="none" cap="none" strike="noStrike">
              <a:solidFill>
                <a:schemeClr val="dk1"/>
              </a:solidFill>
              <a:latin typeface="Calibri"/>
              <a:ea typeface="Calibri"/>
              <a:cs typeface="Calibri"/>
              <a:sym typeface="Calibri"/>
            </a:endParaRPr>
          </a:p>
        </p:txBody>
      </p:sp>
      <p:sp>
        <p:nvSpPr>
          <p:cNvPr id="1298" name="Google Shape;1298;p34"/>
          <p:cNvSpPr/>
          <p:nvPr/>
        </p:nvSpPr>
        <p:spPr>
          <a:xfrm>
            <a:off x="6413450" y="415290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4"/>
          <p:cNvSpPr/>
          <p:nvPr/>
        </p:nvSpPr>
        <p:spPr>
          <a:xfrm>
            <a:off x="6349953" y="434340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CR</a:t>
            </a:r>
            <a:endParaRPr b="0" i="0" sz="1800" u="none" cap="none" strike="noStrike">
              <a:solidFill>
                <a:schemeClr val="dk1"/>
              </a:solidFill>
              <a:latin typeface="Calibri"/>
              <a:ea typeface="Calibri"/>
              <a:cs typeface="Calibri"/>
              <a:sym typeface="Calibri"/>
            </a:endParaRPr>
          </a:p>
        </p:txBody>
      </p:sp>
      <p:sp>
        <p:nvSpPr>
          <p:cNvPr id="1300" name="Google Shape;1300;p34"/>
          <p:cNvSpPr/>
          <p:nvPr/>
        </p:nvSpPr>
        <p:spPr>
          <a:xfrm>
            <a:off x="6349953" y="461010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11.10%</a:t>
            </a:r>
            <a:endParaRPr b="0" i="0" sz="2700" u="none" cap="none" strike="noStrike">
              <a:solidFill>
                <a:schemeClr val="dk1"/>
              </a:solidFill>
              <a:latin typeface="Calibri"/>
              <a:ea typeface="Calibri"/>
              <a:cs typeface="Calibri"/>
              <a:sym typeface="Calibri"/>
            </a:endParaRPr>
          </a:p>
        </p:txBody>
      </p:sp>
      <p:sp>
        <p:nvSpPr>
          <p:cNvPr id="1301" name="Google Shape;1301;p34"/>
          <p:cNvSpPr/>
          <p:nvPr/>
        </p:nvSpPr>
        <p:spPr>
          <a:xfrm>
            <a:off x="8470553" y="5095875"/>
            <a:ext cx="1346700" cy="342900"/>
          </a:xfrm>
          <a:prstGeom prst="roundRect">
            <a:avLst>
              <a:gd fmla="val 5000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4"/>
          <p:cNvSpPr/>
          <p:nvPr/>
        </p:nvSpPr>
        <p:spPr>
          <a:xfrm>
            <a:off x="8536565" y="5133975"/>
            <a:ext cx="12147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85% target</a:t>
            </a:r>
            <a:endParaRPr b="0" i="0" sz="1800" u="none" cap="none" strike="noStrike">
              <a:solidFill>
                <a:schemeClr val="dk1"/>
              </a:solidFill>
              <a:latin typeface="Calibri"/>
              <a:ea typeface="Calibri"/>
              <a:cs typeface="Calibri"/>
              <a:sym typeface="Calibri"/>
            </a:endParaRPr>
          </a:p>
        </p:txBody>
      </p:sp>
      <p:sp>
        <p:nvSpPr>
          <p:cNvPr id="1303" name="Google Shape;1303;p34"/>
          <p:cNvSpPr/>
          <p:nvPr/>
        </p:nvSpPr>
        <p:spPr>
          <a:xfrm>
            <a:off x="12064901" y="415290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4"/>
          <p:cNvSpPr/>
          <p:nvPr/>
        </p:nvSpPr>
        <p:spPr>
          <a:xfrm>
            <a:off x="12001403" y="434340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DFD Retention</a:t>
            </a:r>
            <a:endParaRPr b="0" i="0" sz="1800" u="none" cap="none" strike="noStrike">
              <a:solidFill>
                <a:schemeClr val="dk1"/>
              </a:solidFill>
              <a:latin typeface="Calibri"/>
              <a:ea typeface="Calibri"/>
              <a:cs typeface="Calibri"/>
              <a:sym typeface="Calibri"/>
            </a:endParaRPr>
          </a:p>
        </p:txBody>
      </p:sp>
      <p:sp>
        <p:nvSpPr>
          <p:cNvPr id="1305" name="Google Shape;1305;p34"/>
          <p:cNvSpPr/>
          <p:nvPr/>
        </p:nvSpPr>
        <p:spPr>
          <a:xfrm>
            <a:off x="12001403" y="461010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65.34%</a:t>
            </a:r>
            <a:endParaRPr b="0" i="0" sz="2700" u="none" cap="none" strike="noStrike">
              <a:solidFill>
                <a:schemeClr val="dk1"/>
              </a:solidFill>
              <a:latin typeface="Calibri"/>
              <a:ea typeface="Calibri"/>
              <a:cs typeface="Calibri"/>
              <a:sym typeface="Calibri"/>
            </a:endParaRPr>
          </a:p>
        </p:txBody>
      </p:sp>
      <p:sp>
        <p:nvSpPr>
          <p:cNvPr id="1306" name="Google Shape;1306;p34"/>
          <p:cNvSpPr/>
          <p:nvPr/>
        </p:nvSpPr>
        <p:spPr>
          <a:xfrm>
            <a:off x="14122003" y="5095875"/>
            <a:ext cx="1346700" cy="342900"/>
          </a:xfrm>
          <a:prstGeom prst="roundRect">
            <a:avLst>
              <a:gd fmla="val 5000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4"/>
          <p:cNvSpPr/>
          <p:nvPr/>
        </p:nvSpPr>
        <p:spPr>
          <a:xfrm>
            <a:off x="14188016" y="5133975"/>
            <a:ext cx="12147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80% target</a:t>
            </a:r>
            <a:endParaRPr b="0" i="0" sz="1800" u="none" cap="none" strike="noStrike">
              <a:solidFill>
                <a:schemeClr val="dk1"/>
              </a:solidFill>
              <a:latin typeface="Calibri"/>
              <a:ea typeface="Calibri"/>
              <a:cs typeface="Calibri"/>
              <a:sym typeface="Calibri"/>
            </a:endParaRPr>
          </a:p>
        </p:txBody>
      </p:sp>
      <p:sp>
        <p:nvSpPr>
          <p:cNvPr id="1308" name="Google Shape;1308;p34"/>
          <p:cNvSpPr/>
          <p:nvPr/>
        </p:nvSpPr>
        <p:spPr>
          <a:xfrm>
            <a:off x="762000" y="5819775"/>
            <a:ext cx="16764000" cy="3972000"/>
          </a:xfrm>
          <a:prstGeom prst="roundRect">
            <a:avLst>
              <a:gd fmla="val 3837"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4"/>
          <p:cNvSpPr/>
          <p:nvPr/>
        </p:nvSpPr>
        <p:spPr>
          <a:xfrm>
            <a:off x="971550" y="5991225"/>
            <a:ext cx="16847700" cy="3667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Total Capacity đã theo kịp tiến độ MTD. Active NIM vẫn tăng chậm; NLM duy trì tốt, Active giảm không đáng kể. GDR đạt 110% target, CR ổn định WoW. DFD Retention tăng ở nhóm TX &gt;25 tuổi — đã call-out 163 TX, đa số không kết nối được; một số có dấu hiệu chạy đơn nhưng không hoạt động trên Ahamove.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4" name="Shape 1314"/>
        <p:cNvGrpSpPr/>
        <p:nvPr/>
      </p:nvGrpSpPr>
      <p:grpSpPr>
        <a:xfrm>
          <a:off x="0" y="0"/>
          <a:ext cx="0" cy="0"/>
          <a:chOff x="0" y="0"/>
          <a:chExt cx="0" cy="0"/>
        </a:xfrm>
      </p:grpSpPr>
      <p:sp>
        <p:nvSpPr>
          <p:cNvPr id="1315" name="Google Shape;1315;p35"/>
          <p:cNvSpPr/>
          <p:nvPr/>
        </p:nvSpPr>
        <p:spPr>
          <a:xfrm>
            <a:off x="762000" y="495300"/>
            <a:ext cx="123666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DRIVER JOURNEY: ONBOARDING D0–D60</a:t>
            </a:r>
            <a:endParaRPr b="0" i="0" sz="3300" u="none" cap="none" strike="noStrike">
              <a:solidFill>
                <a:schemeClr val="dk1"/>
              </a:solidFill>
              <a:latin typeface="Calibri"/>
              <a:ea typeface="Calibri"/>
              <a:cs typeface="Calibri"/>
              <a:sym typeface="Calibri"/>
            </a:endParaRPr>
          </a:p>
        </p:txBody>
      </p:sp>
      <p:sp>
        <p:nvSpPr>
          <p:cNvPr id="1316" name="Google Shape;1316;p35"/>
          <p:cNvSpPr/>
          <p:nvPr/>
        </p:nvSpPr>
        <p:spPr>
          <a:xfrm>
            <a:off x="762000" y="1028700"/>
            <a:ext cx="123666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Mục tiêu: hoàn thành video training D2–D5 trong tháng 8 · Tiến độ: 5/9 giai đoạn (D0–D8) đúng tiến độ</a:t>
            </a:r>
            <a:endParaRPr b="0" i="0" sz="1950" u="none" cap="none" strike="noStrike">
              <a:solidFill>
                <a:schemeClr val="dk1"/>
              </a:solidFill>
              <a:latin typeface="Calibri"/>
              <a:ea typeface="Calibri"/>
              <a:cs typeface="Calibri"/>
              <a:sym typeface="Calibri"/>
            </a:endParaRPr>
          </a:p>
        </p:txBody>
      </p:sp>
      <p:sp>
        <p:nvSpPr>
          <p:cNvPr id="1317" name="Google Shape;1317;p35"/>
          <p:cNvSpPr/>
          <p:nvPr/>
        </p:nvSpPr>
        <p:spPr>
          <a:xfrm>
            <a:off x="762000" y="1409700"/>
            <a:ext cx="112422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5"/>
          <p:cNvSpPr/>
          <p:nvPr/>
        </p:nvSpPr>
        <p:spPr>
          <a:xfrm>
            <a:off x="952500" y="15240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319" name="Google Shape;1319;p35"/>
          <p:cNvSpPr/>
          <p:nvPr/>
        </p:nvSpPr>
        <p:spPr>
          <a:xfrm>
            <a:off x="3157240" y="1533525"/>
            <a:ext cx="8602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5/9 giai đoạn D0–D8 đúng tiến độ; nội dung training D2–D5 đang được hoàn thiện.</a:t>
            </a:r>
            <a:endParaRPr b="0" i="0" sz="1800" u="none" cap="none" strike="noStrike">
              <a:solidFill>
                <a:schemeClr val="dk1"/>
              </a:solidFill>
              <a:latin typeface="Calibri"/>
              <a:ea typeface="Calibri"/>
              <a:cs typeface="Calibri"/>
              <a:sym typeface="Calibri"/>
            </a:endParaRPr>
          </a:p>
        </p:txBody>
      </p:sp>
      <p:sp>
        <p:nvSpPr>
          <p:cNvPr id="1320" name="Google Shape;1320;p35"/>
          <p:cNvSpPr/>
          <p:nvPr/>
        </p:nvSpPr>
        <p:spPr>
          <a:xfrm>
            <a:off x="762000" y="2114550"/>
            <a:ext cx="2714700" cy="1400100"/>
          </a:xfrm>
          <a:prstGeom prst="roundRect">
            <a:avLst>
              <a:gd fmla="val 952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5"/>
          <p:cNvSpPr/>
          <p:nvPr/>
        </p:nvSpPr>
        <p:spPr>
          <a:xfrm>
            <a:off x="793909"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D0</a:t>
            </a:r>
            <a:endParaRPr b="0" i="0" sz="1800" u="none" cap="none" strike="noStrike">
              <a:solidFill>
                <a:schemeClr val="dk1"/>
              </a:solidFill>
              <a:latin typeface="Calibri"/>
              <a:ea typeface="Calibri"/>
              <a:cs typeface="Calibri"/>
              <a:sym typeface="Calibri"/>
            </a:endParaRPr>
          </a:p>
        </p:txBody>
      </p:sp>
      <p:sp>
        <p:nvSpPr>
          <p:cNvPr id="1322" name="Google Shape;1322;p35"/>
          <p:cNvSpPr/>
          <p:nvPr/>
        </p:nvSpPr>
        <p:spPr>
          <a:xfrm>
            <a:off x="876300" y="2552700"/>
            <a:ext cx="2486100" cy="571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Xem số tiền cần thu ứng</a:t>
            </a:r>
            <a:endParaRPr b="0" i="0" sz="1800" u="none" cap="none" strike="noStrike">
              <a:solidFill>
                <a:schemeClr val="dk1"/>
              </a:solidFill>
              <a:latin typeface="Calibri"/>
              <a:ea typeface="Calibri"/>
              <a:cs typeface="Calibri"/>
              <a:sym typeface="Calibri"/>
            </a:endParaRPr>
          </a:p>
        </p:txBody>
      </p:sp>
      <p:sp>
        <p:nvSpPr>
          <p:cNvPr id="1323" name="Google Shape;1323;p35"/>
          <p:cNvSpPr/>
          <p:nvPr/>
        </p:nvSpPr>
        <p:spPr>
          <a:xfrm>
            <a:off x="793909" y="3086100"/>
            <a:ext cx="26508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 Hoàn thành</a:t>
            </a:r>
            <a:endParaRPr b="0" i="0" sz="1800" u="none" cap="none" strike="noStrike">
              <a:solidFill>
                <a:schemeClr val="dk1"/>
              </a:solidFill>
              <a:latin typeface="Calibri"/>
              <a:ea typeface="Calibri"/>
              <a:cs typeface="Calibri"/>
              <a:sym typeface="Calibri"/>
            </a:endParaRPr>
          </a:p>
        </p:txBody>
      </p:sp>
      <p:sp>
        <p:nvSpPr>
          <p:cNvPr id="1324" name="Google Shape;1324;p35"/>
          <p:cNvSpPr/>
          <p:nvPr/>
        </p:nvSpPr>
        <p:spPr>
          <a:xfrm>
            <a:off x="3571875" y="2114550"/>
            <a:ext cx="2714700" cy="1400100"/>
          </a:xfrm>
          <a:prstGeom prst="roundRect">
            <a:avLst>
              <a:gd fmla="val 952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5"/>
          <p:cNvSpPr/>
          <p:nvPr/>
        </p:nvSpPr>
        <p:spPr>
          <a:xfrm>
            <a:off x="3603784"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D1</a:t>
            </a:r>
            <a:endParaRPr b="0" i="0" sz="1800" u="none" cap="none" strike="noStrike">
              <a:solidFill>
                <a:schemeClr val="dk1"/>
              </a:solidFill>
              <a:latin typeface="Calibri"/>
              <a:ea typeface="Calibri"/>
              <a:cs typeface="Calibri"/>
              <a:sym typeface="Calibri"/>
            </a:endParaRPr>
          </a:p>
        </p:txBody>
      </p:sp>
      <p:sp>
        <p:nvSpPr>
          <p:cNvPr id="1326" name="Google Shape;1326;p35"/>
          <p:cNvSpPr/>
          <p:nvPr/>
        </p:nvSpPr>
        <p:spPr>
          <a:xfrm>
            <a:off x="3603784" y="2552700"/>
            <a:ext cx="2650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Xử lý hủy đơn</a:t>
            </a:r>
            <a:endParaRPr b="0" i="0" sz="1800" u="none" cap="none" strike="noStrike">
              <a:solidFill>
                <a:schemeClr val="dk1"/>
              </a:solidFill>
              <a:latin typeface="Calibri"/>
              <a:ea typeface="Calibri"/>
              <a:cs typeface="Calibri"/>
              <a:sym typeface="Calibri"/>
            </a:endParaRPr>
          </a:p>
        </p:txBody>
      </p:sp>
      <p:sp>
        <p:nvSpPr>
          <p:cNvPr id="1327" name="Google Shape;1327;p35"/>
          <p:cNvSpPr/>
          <p:nvPr/>
        </p:nvSpPr>
        <p:spPr>
          <a:xfrm>
            <a:off x="3603784" y="2819400"/>
            <a:ext cx="26508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 Hoàn thành</a:t>
            </a:r>
            <a:endParaRPr b="0" i="0" sz="1800" u="none" cap="none" strike="noStrike">
              <a:solidFill>
                <a:schemeClr val="dk1"/>
              </a:solidFill>
              <a:latin typeface="Calibri"/>
              <a:ea typeface="Calibri"/>
              <a:cs typeface="Calibri"/>
              <a:sym typeface="Calibri"/>
            </a:endParaRPr>
          </a:p>
        </p:txBody>
      </p:sp>
      <p:sp>
        <p:nvSpPr>
          <p:cNvPr id="1328" name="Google Shape;1328;p35"/>
          <p:cNvSpPr/>
          <p:nvPr/>
        </p:nvSpPr>
        <p:spPr>
          <a:xfrm>
            <a:off x="6381750" y="2114550"/>
            <a:ext cx="2714700" cy="1400100"/>
          </a:xfrm>
          <a:prstGeom prst="roundRect">
            <a:avLst>
              <a:gd fmla="val 9524"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5"/>
          <p:cNvSpPr/>
          <p:nvPr/>
        </p:nvSpPr>
        <p:spPr>
          <a:xfrm>
            <a:off x="6413659"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D2</a:t>
            </a:r>
            <a:endParaRPr b="0" i="0" sz="1800" u="none" cap="none" strike="noStrike">
              <a:solidFill>
                <a:schemeClr val="dk1"/>
              </a:solidFill>
              <a:latin typeface="Calibri"/>
              <a:ea typeface="Calibri"/>
              <a:cs typeface="Calibri"/>
              <a:sym typeface="Calibri"/>
            </a:endParaRPr>
          </a:p>
        </p:txBody>
      </p:sp>
      <p:sp>
        <p:nvSpPr>
          <p:cNvPr id="1330" name="Google Shape;1330;p35"/>
          <p:cNvSpPr/>
          <p:nvPr/>
        </p:nvSpPr>
        <p:spPr>
          <a:xfrm>
            <a:off x="6496050" y="2552700"/>
            <a:ext cx="2486100" cy="571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Phòng tránh &amp; xử lý khiếu nại</a:t>
            </a:r>
            <a:endParaRPr b="0" i="0" sz="1800" u="none" cap="none" strike="noStrike">
              <a:solidFill>
                <a:schemeClr val="dk1"/>
              </a:solidFill>
              <a:latin typeface="Calibri"/>
              <a:ea typeface="Calibri"/>
              <a:cs typeface="Calibri"/>
              <a:sym typeface="Calibri"/>
            </a:endParaRPr>
          </a:p>
        </p:txBody>
      </p:sp>
      <p:sp>
        <p:nvSpPr>
          <p:cNvPr id="1331" name="Google Shape;1331;p35"/>
          <p:cNvSpPr/>
          <p:nvPr/>
        </p:nvSpPr>
        <p:spPr>
          <a:xfrm>
            <a:off x="6413659" y="3086100"/>
            <a:ext cx="26508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 Lên kịch bản</a:t>
            </a:r>
            <a:endParaRPr b="0" i="0" sz="1800" u="none" cap="none" strike="noStrike">
              <a:solidFill>
                <a:schemeClr val="dk1"/>
              </a:solidFill>
              <a:latin typeface="Calibri"/>
              <a:ea typeface="Calibri"/>
              <a:cs typeface="Calibri"/>
              <a:sym typeface="Calibri"/>
            </a:endParaRPr>
          </a:p>
        </p:txBody>
      </p:sp>
      <p:sp>
        <p:nvSpPr>
          <p:cNvPr id="1332" name="Google Shape;1332;p35"/>
          <p:cNvSpPr/>
          <p:nvPr/>
        </p:nvSpPr>
        <p:spPr>
          <a:xfrm>
            <a:off x="9191625" y="2114550"/>
            <a:ext cx="2714700" cy="1400100"/>
          </a:xfrm>
          <a:prstGeom prst="roundRect">
            <a:avLst>
              <a:gd fmla="val 952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5"/>
          <p:cNvSpPr/>
          <p:nvPr/>
        </p:nvSpPr>
        <p:spPr>
          <a:xfrm>
            <a:off x="9223534"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D3</a:t>
            </a:r>
            <a:endParaRPr b="0" i="0" sz="1800" u="none" cap="none" strike="noStrike">
              <a:solidFill>
                <a:schemeClr val="dk1"/>
              </a:solidFill>
              <a:latin typeface="Calibri"/>
              <a:ea typeface="Calibri"/>
              <a:cs typeface="Calibri"/>
              <a:sym typeface="Calibri"/>
            </a:endParaRPr>
          </a:p>
        </p:txBody>
      </p:sp>
      <p:sp>
        <p:nvSpPr>
          <p:cNvPr id="1334" name="Google Shape;1334;p35"/>
          <p:cNvSpPr/>
          <p:nvPr/>
        </p:nvSpPr>
        <p:spPr>
          <a:xfrm>
            <a:off x="9223534" y="2552700"/>
            <a:ext cx="2650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Bật/tắt ngưng gán đơn</a:t>
            </a:r>
            <a:endParaRPr b="0" i="0" sz="1800" u="none" cap="none" strike="noStrike">
              <a:solidFill>
                <a:schemeClr val="dk1"/>
              </a:solidFill>
              <a:latin typeface="Calibri"/>
              <a:ea typeface="Calibri"/>
              <a:cs typeface="Calibri"/>
              <a:sym typeface="Calibri"/>
            </a:endParaRPr>
          </a:p>
        </p:txBody>
      </p:sp>
      <p:sp>
        <p:nvSpPr>
          <p:cNvPr id="1335" name="Google Shape;1335;p35"/>
          <p:cNvSpPr/>
          <p:nvPr/>
        </p:nvSpPr>
        <p:spPr>
          <a:xfrm>
            <a:off x="9223534" y="2819400"/>
            <a:ext cx="26508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 Hoàn thành</a:t>
            </a:r>
            <a:endParaRPr b="0" i="0" sz="1800" u="none" cap="none" strike="noStrike">
              <a:solidFill>
                <a:schemeClr val="dk1"/>
              </a:solidFill>
              <a:latin typeface="Calibri"/>
              <a:ea typeface="Calibri"/>
              <a:cs typeface="Calibri"/>
              <a:sym typeface="Calibri"/>
            </a:endParaRPr>
          </a:p>
        </p:txBody>
      </p:sp>
      <p:sp>
        <p:nvSpPr>
          <p:cNvPr id="1336" name="Google Shape;1336;p35"/>
          <p:cNvSpPr/>
          <p:nvPr/>
        </p:nvSpPr>
        <p:spPr>
          <a:xfrm>
            <a:off x="12001500" y="2114550"/>
            <a:ext cx="2714700" cy="1400100"/>
          </a:xfrm>
          <a:prstGeom prst="roundRect">
            <a:avLst>
              <a:gd fmla="val 952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5"/>
          <p:cNvSpPr/>
          <p:nvPr/>
        </p:nvSpPr>
        <p:spPr>
          <a:xfrm>
            <a:off x="12033409"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D4</a:t>
            </a:r>
            <a:endParaRPr b="0" i="0" sz="1800" u="none" cap="none" strike="noStrike">
              <a:solidFill>
                <a:schemeClr val="dk1"/>
              </a:solidFill>
              <a:latin typeface="Calibri"/>
              <a:ea typeface="Calibri"/>
              <a:cs typeface="Calibri"/>
              <a:sym typeface="Calibri"/>
            </a:endParaRPr>
          </a:p>
        </p:txBody>
      </p:sp>
      <p:sp>
        <p:nvSpPr>
          <p:cNvPr id="1338" name="Google Shape;1338;p35"/>
          <p:cNvSpPr/>
          <p:nvPr/>
        </p:nvSpPr>
        <p:spPr>
          <a:xfrm>
            <a:off x="12033409" y="2552700"/>
            <a:ext cx="2650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Sử dụng điều hướng</a:t>
            </a:r>
            <a:endParaRPr b="0" i="0" sz="1800" u="none" cap="none" strike="noStrike">
              <a:solidFill>
                <a:schemeClr val="dk1"/>
              </a:solidFill>
              <a:latin typeface="Calibri"/>
              <a:ea typeface="Calibri"/>
              <a:cs typeface="Calibri"/>
              <a:sym typeface="Calibri"/>
            </a:endParaRPr>
          </a:p>
        </p:txBody>
      </p:sp>
      <p:sp>
        <p:nvSpPr>
          <p:cNvPr id="1339" name="Google Shape;1339;p35"/>
          <p:cNvSpPr/>
          <p:nvPr/>
        </p:nvSpPr>
        <p:spPr>
          <a:xfrm>
            <a:off x="12033409" y="2819400"/>
            <a:ext cx="26508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 Hoàn thành</a:t>
            </a:r>
            <a:endParaRPr b="0" i="0" sz="1800" u="none" cap="none" strike="noStrike">
              <a:solidFill>
                <a:schemeClr val="dk1"/>
              </a:solidFill>
              <a:latin typeface="Calibri"/>
              <a:ea typeface="Calibri"/>
              <a:cs typeface="Calibri"/>
              <a:sym typeface="Calibri"/>
            </a:endParaRPr>
          </a:p>
        </p:txBody>
      </p:sp>
      <p:sp>
        <p:nvSpPr>
          <p:cNvPr id="1340" name="Google Shape;1340;p35"/>
          <p:cNvSpPr/>
          <p:nvPr/>
        </p:nvSpPr>
        <p:spPr>
          <a:xfrm>
            <a:off x="14811375" y="2114550"/>
            <a:ext cx="2714700" cy="1400100"/>
          </a:xfrm>
          <a:prstGeom prst="roundRect">
            <a:avLst>
              <a:gd fmla="val 9524"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5"/>
          <p:cNvSpPr/>
          <p:nvPr/>
        </p:nvSpPr>
        <p:spPr>
          <a:xfrm>
            <a:off x="14843284"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Plus Jakarta Sans"/>
              <a:buNone/>
            </a:pPr>
            <a:r>
              <a:rPr b="1" i="0" lang="en-US" sz="1800" u="none" cap="none" strike="noStrike">
                <a:solidFill>
                  <a:srgbClr val="757D86"/>
                </a:solidFill>
                <a:latin typeface="Plus Jakarta Sans"/>
                <a:ea typeface="Plus Jakarta Sans"/>
                <a:cs typeface="Plus Jakarta Sans"/>
                <a:sym typeface="Plus Jakarta Sans"/>
              </a:rPr>
              <a:t>D5</a:t>
            </a:r>
            <a:endParaRPr b="0" i="0" sz="1800" u="none" cap="none" strike="noStrike">
              <a:solidFill>
                <a:schemeClr val="dk1"/>
              </a:solidFill>
              <a:latin typeface="Calibri"/>
              <a:ea typeface="Calibri"/>
              <a:cs typeface="Calibri"/>
              <a:sym typeface="Calibri"/>
            </a:endParaRPr>
          </a:p>
        </p:txBody>
      </p:sp>
      <p:sp>
        <p:nvSpPr>
          <p:cNvPr id="1342" name="Google Shape;1342;p35"/>
          <p:cNvSpPr/>
          <p:nvPr/>
        </p:nvSpPr>
        <p:spPr>
          <a:xfrm>
            <a:off x="14843284" y="2552700"/>
            <a:ext cx="2650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Video training</a:t>
            </a:r>
            <a:endParaRPr b="0" i="0" sz="1800" u="none" cap="none" strike="noStrike">
              <a:solidFill>
                <a:schemeClr val="dk1"/>
              </a:solidFill>
              <a:latin typeface="Calibri"/>
              <a:ea typeface="Calibri"/>
              <a:cs typeface="Calibri"/>
              <a:sym typeface="Calibri"/>
            </a:endParaRPr>
          </a:p>
        </p:txBody>
      </p:sp>
      <p:sp>
        <p:nvSpPr>
          <p:cNvPr id="1343" name="Google Shape;1343;p35"/>
          <p:cNvSpPr/>
          <p:nvPr/>
        </p:nvSpPr>
        <p:spPr>
          <a:xfrm>
            <a:off x="14843284" y="2819400"/>
            <a:ext cx="2650800" cy="3429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 Sắp tới</a:t>
            </a:r>
            <a:endParaRPr b="0" i="0" sz="1800" u="none" cap="none" strike="noStrike">
              <a:solidFill>
                <a:schemeClr val="dk1"/>
              </a:solidFill>
              <a:latin typeface="Calibri"/>
              <a:ea typeface="Calibri"/>
              <a:cs typeface="Calibri"/>
              <a:sym typeface="Calibri"/>
            </a:endParaRPr>
          </a:p>
        </p:txBody>
      </p:sp>
      <p:sp>
        <p:nvSpPr>
          <p:cNvPr id="1344" name="Google Shape;1344;p35"/>
          <p:cNvSpPr/>
          <p:nvPr/>
        </p:nvSpPr>
        <p:spPr>
          <a:xfrm>
            <a:off x="762000" y="3705225"/>
            <a:ext cx="8286900" cy="6086400"/>
          </a:xfrm>
          <a:prstGeom prst="roundRect">
            <a:avLst>
              <a:gd fmla="val 2504"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5"/>
          <p:cNvSpPr/>
          <p:nvPr/>
        </p:nvSpPr>
        <p:spPr>
          <a:xfrm>
            <a:off x="952500" y="3895725"/>
            <a:ext cx="86964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Khảo sát nhanh</a:t>
            </a:r>
            <a:endParaRPr b="0" i="0" sz="1950" u="none" cap="none" strike="noStrike">
              <a:solidFill>
                <a:schemeClr val="dk1"/>
              </a:solidFill>
              <a:latin typeface="Calibri"/>
              <a:ea typeface="Calibri"/>
              <a:cs typeface="Calibri"/>
              <a:sym typeface="Calibri"/>
            </a:endParaRPr>
          </a:p>
        </p:txBody>
      </p:sp>
      <p:sp>
        <p:nvSpPr>
          <p:cNvPr id="1346" name="Google Shape;1346;p35"/>
          <p:cNvSpPr/>
          <p:nvPr/>
        </p:nvSpPr>
        <p:spPr>
          <a:xfrm>
            <a:off x="952500" y="4305300"/>
            <a:ext cx="814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Tiếp cận 100 TX có FCT từ 3–7/8, kết nối được 50 TX (~60%). 26/50 đã xem video, đánh giá nội dung trực quan, dễ hiểu, áp dụng ngay.</a:t>
            </a:r>
            <a:endParaRPr b="0" i="0" sz="1800" u="none" cap="none" strike="noStrike">
              <a:solidFill>
                <a:schemeClr val="dk1"/>
              </a:solidFill>
              <a:latin typeface="Calibri"/>
              <a:ea typeface="Calibri"/>
              <a:cs typeface="Calibri"/>
              <a:sym typeface="Calibri"/>
            </a:endParaRPr>
          </a:p>
        </p:txBody>
      </p:sp>
      <p:sp>
        <p:nvSpPr>
          <p:cNvPr id="1347" name="Google Shape;1347;p35"/>
          <p:cNvSpPr/>
          <p:nvPr/>
        </p:nvSpPr>
        <p:spPr>
          <a:xfrm>
            <a:off x="952500" y="4933950"/>
            <a:ext cx="8142900" cy="581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Insight: </a:t>
            </a:r>
            <a:r>
              <a:rPr b="0" i="0" lang="en-US" sz="1800" u="none" cap="none" strike="noStrike">
                <a:solidFill>
                  <a:srgbClr val="4C5158"/>
                </a:solidFill>
                <a:latin typeface="Roboto"/>
                <a:ea typeface="Roboto"/>
                <a:cs typeface="Roboto"/>
                <a:sym typeface="Roboto"/>
              </a:rPr>
              <a:t>TX phát sinh nhu cầu về sai vị trí đơn, hủy đơn khi không liên lạc được, rút tiền → phù hợp nội dung training tiếp theo.</a:t>
            </a:r>
            <a:endParaRPr b="0" i="0" sz="1800" u="none" cap="none" strike="noStrike">
              <a:solidFill>
                <a:schemeClr val="dk1"/>
              </a:solidFill>
              <a:latin typeface="Calibri"/>
              <a:ea typeface="Calibri"/>
              <a:cs typeface="Calibri"/>
              <a:sym typeface="Calibri"/>
            </a:endParaRPr>
          </a:p>
        </p:txBody>
      </p:sp>
      <p:sp>
        <p:nvSpPr>
          <p:cNvPr id="1348" name="Google Shape;1348;p35"/>
          <p:cNvSpPr/>
          <p:nvPr/>
        </p:nvSpPr>
        <p:spPr>
          <a:xfrm>
            <a:off x="9239250" y="3705225"/>
            <a:ext cx="8286900" cy="6086400"/>
          </a:xfrm>
          <a:prstGeom prst="roundRect">
            <a:avLst>
              <a:gd fmla="val 2504"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5"/>
          <p:cNvSpPr/>
          <p:nvPr/>
        </p:nvSpPr>
        <p:spPr>
          <a:xfrm>
            <a:off x="9429750" y="3895725"/>
            <a:ext cx="86964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Bước tiếp theo &amp; cần support</a:t>
            </a:r>
            <a:endParaRPr b="0" i="0" sz="1950" u="none" cap="none" strike="noStrike">
              <a:solidFill>
                <a:schemeClr val="dk1"/>
              </a:solidFill>
              <a:latin typeface="Calibri"/>
              <a:ea typeface="Calibri"/>
              <a:cs typeface="Calibri"/>
              <a:sym typeface="Calibri"/>
            </a:endParaRPr>
          </a:p>
        </p:txBody>
      </p:sp>
      <p:sp>
        <p:nvSpPr>
          <p:cNvPr id="1350" name="Google Shape;1350;p35"/>
          <p:cNvSpPr/>
          <p:nvPr/>
        </p:nvSpPr>
        <p:spPr>
          <a:xfrm>
            <a:off x="9429750" y="4305300"/>
            <a:ext cx="814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Tiếp tục hoàn thiện nội dung training &amp; luồng automation. D2: hoàn thành feedback. D5: đã có input, chuẩn bị kịch bản.</a:t>
            </a:r>
            <a:endParaRPr b="0" i="0" sz="1800" u="none" cap="none" strike="noStrike">
              <a:solidFill>
                <a:schemeClr val="dk1"/>
              </a:solidFill>
              <a:latin typeface="Calibri"/>
              <a:ea typeface="Calibri"/>
              <a:cs typeface="Calibri"/>
              <a:sym typeface="Calibri"/>
            </a:endParaRPr>
          </a:p>
        </p:txBody>
      </p:sp>
      <p:sp>
        <p:nvSpPr>
          <p:cNvPr id="1351" name="Google Shape;1351;p35"/>
          <p:cNvSpPr/>
          <p:nvPr/>
        </p:nvSpPr>
        <p:spPr>
          <a:xfrm>
            <a:off x="9429750" y="4933950"/>
            <a:ext cx="8696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Cần support từ S&amp;P: </a:t>
            </a:r>
            <a:r>
              <a:rPr b="0" i="0" lang="en-US" sz="1800" u="none" cap="none" strike="noStrike">
                <a:solidFill>
                  <a:srgbClr val="4C5158"/>
                </a:solidFill>
                <a:latin typeface="Roboto"/>
                <a:ea typeface="Roboto"/>
                <a:cs typeface="Roboto"/>
                <a:sym typeface="Roboto"/>
              </a:rPr>
              <a:t>theo dõi cohort retention tại các mốc D3–D7–D14–D21.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6" name="Shape 1356"/>
        <p:cNvGrpSpPr/>
        <p:nvPr/>
      </p:nvGrpSpPr>
      <p:grpSpPr>
        <a:xfrm>
          <a:off x="0" y="0"/>
          <a:ext cx="0" cy="0"/>
          <a:chOff x="0" y="0"/>
          <a:chExt cx="0" cy="0"/>
        </a:xfrm>
      </p:grpSpPr>
      <p:sp>
        <p:nvSpPr>
          <p:cNvPr id="1357" name="Google Shape;1357;p36"/>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MINIHUB — OVERVIEW &amp; COVERAGE</a:t>
            </a:r>
            <a:endParaRPr b="0" i="0" sz="3300" u="none" cap="none" strike="noStrike">
              <a:solidFill>
                <a:schemeClr val="dk1"/>
              </a:solidFill>
              <a:latin typeface="Calibri"/>
              <a:ea typeface="Calibri"/>
              <a:cs typeface="Calibri"/>
              <a:sym typeface="Calibri"/>
            </a:endParaRPr>
          </a:p>
        </p:txBody>
      </p:sp>
      <p:sp>
        <p:nvSpPr>
          <p:cNvPr id="1358" name="Google Shape;1358;p36"/>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HAN &amp; SGN</a:t>
            </a:r>
            <a:endParaRPr b="0" i="0" sz="1950" u="none" cap="none" strike="noStrike">
              <a:solidFill>
                <a:schemeClr val="dk1"/>
              </a:solidFill>
              <a:latin typeface="Calibri"/>
              <a:ea typeface="Calibri"/>
              <a:cs typeface="Calibri"/>
              <a:sym typeface="Calibri"/>
            </a:endParaRPr>
          </a:p>
        </p:txBody>
      </p:sp>
      <p:sp>
        <p:nvSpPr>
          <p:cNvPr id="1359" name="Google Shape;1359;p36"/>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6"/>
          <p:cNvSpPr/>
          <p:nvPr/>
        </p:nvSpPr>
        <p:spPr>
          <a:xfrm>
            <a:off x="952500" y="15240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361" name="Google Shape;1361;p36"/>
          <p:cNvSpPr/>
          <p:nvPr/>
        </p:nvSpPr>
        <p:spPr>
          <a:xfrm>
            <a:off x="3157240" y="1533525"/>
            <a:ext cx="8020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Online rate cải thiện ở cả 2 city; Z578 &amp; Zone 3 cần ưu tiên theo dõi coverage.</a:t>
            </a:r>
            <a:endParaRPr b="0" i="0" sz="1800" u="none" cap="none" strike="noStrike">
              <a:solidFill>
                <a:schemeClr val="dk1"/>
              </a:solidFill>
              <a:latin typeface="Calibri"/>
              <a:ea typeface="Calibri"/>
              <a:cs typeface="Calibri"/>
              <a:sym typeface="Calibri"/>
            </a:endParaRPr>
          </a:p>
        </p:txBody>
      </p:sp>
      <p:sp>
        <p:nvSpPr>
          <p:cNvPr id="1362" name="Google Shape;1362;p36"/>
          <p:cNvSpPr/>
          <p:nvPr/>
        </p:nvSpPr>
        <p:spPr>
          <a:xfrm>
            <a:off x="762000" y="2114550"/>
            <a:ext cx="842400" cy="438300"/>
          </a:xfrm>
          <a:prstGeom prst="roundRect">
            <a:avLst>
              <a:gd fmla="val 17391"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6"/>
          <p:cNvSpPr/>
          <p:nvPr/>
        </p:nvSpPr>
        <p:spPr>
          <a:xfrm>
            <a:off x="933450" y="2190750"/>
            <a:ext cx="5757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HAN</a:t>
            </a:r>
            <a:endParaRPr b="0" i="0" sz="1800" u="none" cap="none" strike="noStrike">
              <a:solidFill>
                <a:schemeClr val="dk1"/>
              </a:solidFill>
              <a:latin typeface="Calibri"/>
              <a:ea typeface="Calibri"/>
              <a:cs typeface="Calibri"/>
              <a:sym typeface="Calibri"/>
            </a:endParaRPr>
          </a:p>
        </p:txBody>
      </p:sp>
      <p:sp>
        <p:nvSpPr>
          <p:cNvPr id="1364" name="Google Shape;1364;p36"/>
          <p:cNvSpPr/>
          <p:nvPr/>
        </p:nvSpPr>
        <p:spPr>
          <a:xfrm>
            <a:off x="762000" y="2686050"/>
            <a:ext cx="2679600" cy="1171500"/>
          </a:xfrm>
          <a:prstGeom prst="roundRect">
            <a:avLst>
              <a:gd fmla="val 813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6"/>
          <p:cNvSpPr/>
          <p:nvPr/>
        </p:nvSpPr>
        <p:spPr>
          <a:xfrm>
            <a:off x="774702" y="2819400"/>
            <a:ext cx="2654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Checkin</a:t>
            </a:r>
            <a:endParaRPr b="0" i="0" sz="1800" u="none" cap="none" strike="noStrike">
              <a:solidFill>
                <a:schemeClr val="dk1"/>
              </a:solidFill>
              <a:latin typeface="Calibri"/>
              <a:ea typeface="Calibri"/>
              <a:cs typeface="Calibri"/>
              <a:sym typeface="Calibri"/>
            </a:endParaRPr>
          </a:p>
        </p:txBody>
      </p:sp>
      <p:sp>
        <p:nvSpPr>
          <p:cNvPr id="1366" name="Google Shape;1366;p36"/>
          <p:cNvSpPr/>
          <p:nvPr/>
        </p:nvSpPr>
        <p:spPr>
          <a:xfrm>
            <a:off x="774702" y="3086100"/>
            <a:ext cx="26541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2,017 ca</a:t>
            </a:r>
            <a:endParaRPr b="0" i="0" sz="2250" u="none" cap="none" strike="noStrike">
              <a:solidFill>
                <a:schemeClr val="dk1"/>
              </a:solidFill>
              <a:latin typeface="Calibri"/>
              <a:ea typeface="Calibri"/>
              <a:cs typeface="Calibri"/>
              <a:sym typeface="Calibri"/>
            </a:endParaRPr>
          </a:p>
        </p:txBody>
      </p:sp>
      <p:sp>
        <p:nvSpPr>
          <p:cNvPr id="1367" name="Google Shape;1367;p36"/>
          <p:cNvSpPr/>
          <p:nvPr/>
        </p:nvSpPr>
        <p:spPr>
          <a:xfrm>
            <a:off x="774702" y="3448050"/>
            <a:ext cx="2654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▼7.77% MoM</a:t>
            </a:r>
            <a:endParaRPr b="0" i="0" sz="1800" u="none" cap="none" strike="noStrike">
              <a:solidFill>
                <a:schemeClr val="dk1"/>
              </a:solidFill>
              <a:latin typeface="Calibri"/>
              <a:ea typeface="Calibri"/>
              <a:cs typeface="Calibri"/>
              <a:sym typeface="Calibri"/>
            </a:endParaRPr>
          </a:p>
        </p:txBody>
      </p:sp>
      <p:sp>
        <p:nvSpPr>
          <p:cNvPr id="1368" name="Google Shape;1368;p36"/>
          <p:cNvSpPr/>
          <p:nvPr/>
        </p:nvSpPr>
        <p:spPr>
          <a:xfrm>
            <a:off x="3555950" y="2686050"/>
            <a:ext cx="2679600" cy="1171500"/>
          </a:xfrm>
          <a:prstGeom prst="roundRect">
            <a:avLst>
              <a:gd fmla="val 813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6"/>
          <p:cNvSpPr/>
          <p:nvPr/>
        </p:nvSpPr>
        <p:spPr>
          <a:xfrm>
            <a:off x="3568653" y="2819400"/>
            <a:ext cx="2654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Utilization</a:t>
            </a:r>
            <a:endParaRPr b="0" i="0" sz="1800" u="none" cap="none" strike="noStrike">
              <a:solidFill>
                <a:schemeClr val="dk1"/>
              </a:solidFill>
              <a:latin typeface="Calibri"/>
              <a:ea typeface="Calibri"/>
              <a:cs typeface="Calibri"/>
              <a:sym typeface="Calibri"/>
            </a:endParaRPr>
          </a:p>
        </p:txBody>
      </p:sp>
      <p:sp>
        <p:nvSpPr>
          <p:cNvPr id="1370" name="Google Shape;1370;p36"/>
          <p:cNvSpPr/>
          <p:nvPr/>
        </p:nvSpPr>
        <p:spPr>
          <a:xfrm>
            <a:off x="3568653" y="3086100"/>
            <a:ext cx="26541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92.54%</a:t>
            </a:r>
            <a:endParaRPr b="0" i="0" sz="2250" u="none" cap="none" strike="noStrike">
              <a:solidFill>
                <a:schemeClr val="dk1"/>
              </a:solidFill>
              <a:latin typeface="Calibri"/>
              <a:ea typeface="Calibri"/>
              <a:cs typeface="Calibri"/>
              <a:sym typeface="Calibri"/>
            </a:endParaRPr>
          </a:p>
        </p:txBody>
      </p:sp>
      <p:sp>
        <p:nvSpPr>
          <p:cNvPr id="1371" name="Google Shape;1371;p36"/>
          <p:cNvSpPr/>
          <p:nvPr/>
        </p:nvSpPr>
        <p:spPr>
          <a:xfrm>
            <a:off x="3568653" y="3448050"/>
            <a:ext cx="2654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▲2.28% MoM</a:t>
            </a:r>
            <a:endParaRPr b="0" i="0" sz="1800" u="none" cap="none" strike="noStrike">
              <a:solidFill>
                <a:schemeClr val="dk1"/>
              </a:solidFill>
              <a:latin typeface="Calibri"/>
              <a:ea typeface="Calibri"/>
              <a:cs typeface="Calibri"/>
              <a:sym typeface="Calibri"/>
            </a:endParaRPr>
          </a:p>
        </p:txBody>
      </p:sp>
      <p:sp>
        <p:nvSpPr>
          <p:cNvPr id="1372" name="Google Shape;1372;p36"/>
          <p:cNvSpPr/>
          <p:nvPr/>
        </p:nvSpPr>
        <p:spPr>
          <a:xfrm>
            <a:off x="6349901" y="2686050"/>
            <a:ext cx="2679900" cy="1171500"/>
          </a:xfrm>
          <a:prstGeom prst="roundRect">
            <a:avLst>
              <a:gd fmla="val 813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6"/>
          <p:cNvSpPr/>
          <p:nvPr/>
        </p:nvSpPr>
        <p:spPr>
          <a:xfrm>
            <a:off x="6362596" y="2819400"/>
            <a:ext cx="2654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Online rate</a:t>
            </a:r>
            <a:endParaRPr b="0" i="0" sz="1800" u="none" cap="none" strike="noStrike">
              <a:solidFill>
                <a:schemeClr val="dk1"/>
              </a:solidFill>
              <a:latin typeface="Calibri"/>
              <a:ea typeface="Calibri"/>
              <a:cs typeface="Calibri"/>
              <a:sym typeface="Calibri"/>
            </a:endParaRPr>
          </a:p>
        </p:txBody>
      </p:sp>
      <p:sp>
        <p:nvSpPr>
          <p:cNvPr id="1374" name="Google Shape;1374;p36"/>
          <p:cNvSpPr/>
          <p:nvPr/>
        </p:nvSpPr>
        <p:spPr>
          <a:xfrm>
            <a:off x="6362596" y="3086100"/>
            <a:ext cx="26544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89.09%</a:t>
            </a:r>
            <a:endParaRPr b="0" i="0" sz="2250" u="none" cap="none" strike="noStrike">
              <a:solidFill>
                <a:schemeClr val="dk1"/>
              </a:solidFill>
              <a:latin typeface="Calibri"/>
              <a:ea typeface="Calibri"/>
              <a:cs typeface="Calibri"/>
              <a:sym typeface="Calibri"/>
            </a:endParaRPr>
          </a:p>
        </p:txBody>
      </p:sp>
      <p:sp>
        <p:nvSpPr>
          <p:cNvPr id="1375" name="Google Shape;1375;p36"/>
          <p:cNvSpPr/>
          <p:nvPr/>
        </p:nvSpPr>
        <p:spPr>
          <a:xfrm>
            <a:off x="6362596" y="3448050"/>
            <a:ext cx="26544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▲0.27% MoM</a:t>
            </a:r>
            <a:endParaRPr b="0" i="0" sz="1800" u="none" cap="none" strike="noStrike">
              <a:solidFill>
                <a:schemeClr val="dk1"/>
              </a:solidFill>
              <a:latin typeface="Calibri"/>
              <a:ea typeface="Calibri"/>
              <a:cs typeface="Calibri"/>
              <a:sym typeface="Calibri"/>
            </a:endParaRPr>
          </a:p>
        </p:txBody>
      </p:sp>
      <p:sp>
        <p:nvSpPr>
          <p:cNvPr id="1376" name="Google Shape;1376;p36"/>
          <p:cNvSpPr/>
          <p:nvPr/>
        </p:nvSpPr>
        <p:spPr>
          <a:xfrm>
            <a:off x="762000" y="3990975"/>
            <a:ext cx="8267700" cy="838200"/>
          </a:xfrm>
          <a:prstGeom prst="roundRect">
            <a:avLst>
              <a:gd fmla="val 13636"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6"/>
          <p:cNvSpPr/>
          <p:nvPr/>
        </p:nvSpPr>
        <p:spPr>
          <a:xfrm>
            <a:off x="933450" y="4143375"/>
            <a:ext cx="817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highlight>
                  <a:srgbClr val="FFF1F1"/>
                </a:highlight>
                <a:latin typeface="Roboto"/>
                <a:ea typeface="Roboto"/>
                <a:cs typeface="Roboto"/>
                <a:sym typeface="Roboto"/>
              </a:rPr>
              <a:t>Cần theo dõi: </a:t>
            </a:r>
            <a:r>
              <a:rPr b="1" i="0" lang="en-US" sz="1800" u="none" cap="none" strike="noStrike">
                <a:solidFill>
                  <a:srgbClr val="121619"/>
                </a:solidFill>
                <a:latin typeface="Roboto"/>
                <a:ea typeface="Roboto"/>
                <a:cs typeface="Roboto"/>
                <a:sym typeface="Roboto"/>
              </a:rPr>
              <a:t>Z578 </a:t>
            </a:r>
            <a:r>
              <a:rPr b="0" i="0" lang="en-US" sz="1800" u="none" cap="none" strike="noStrike">
                <a:solidFill>
                  <a:srgbClr val="121619"/>
                </a:solidFill>
                <a:highlight>
                  <a:srgbClr val="FFF1F1"/>
                </a:highlight>
                <a:latin typeface="Roboto"/>
                <a:ea typeface="Roboto"/>
                <a:cs typeface="Roboto"/>
                <a:sym typeface="Roboto"/>
              </a:rPr>
              <a:t>online rate thấp nhất 78.25% · </a:t>
            </a:r>
            <a:r>
              <a:rPr b="1" i="0" lang="en-US" sz="1800" u="none" cap="none" strike="noStrike">
                <a:solidFill>
                  <a:srgbClr val="121619"/>
                </a:solidFill>
                <a:latin typeface="Roboto"/>
                <a:ea typeface="Roboto"/>
                <a:cs typeface="Roboto"/>
                <a:sym typeface="Roboto"/>
              </a:rPr>
              <a:t>TX </a:t>
            </a:r>
            <a:r>
              <a:rPr b="0" i="0" lang="en-US" sz="1800" u="none" cap="none" strike="noStrike">
                <a:solidFill>
                  <a:srgbClr val="121619"/>
                </a:solidFill>
                <a:highlight>
                  <a:srgbClr val="FFF1F1"/>
                </a:highlight>
                <a:latin typeface="Roboto"/>
                <a:ea typeface="Roboto"/>
                <a:cs typeface="Roboto"/>
                <a:sym typeface="Roboto"/>
              </a:rPr>
              <a:t>86.09% — coverage WoW giảm ở một số zone (-3.01% đến -0.42%).</a:t>
            </a:r>
            <a:endParaRPr b="0" i="0" sz="1800" u="none" cap="none" strike="noStrike">
              <a:solidFill>
                <a:schemeClr val="dk1"/>
              </a:solidFill>
              <a:latin typeface="Calibri"/>
              <a:ea typeface="Calibri"/>
              <a:cs typeface="Calibri"/>
              <a:sym typeface="Calibri"/>
            </a:endParaRPr>
          </a:p>
        </p:txBody>
      </p:sp>
      <p:sp>
        <p:nvSpPr>
          <p:cNvPr id="1378" name="Google Shape;1378;p36"/>
          <p:cNvSpPr/>
          <p:nvPr/>
        </p:nvSpPr>
        <p:spPr>
          <a:xfrm>
            <a:off x="9258300" y="2114550"/>
            <a:ext cx="844800" cy="438300"/>
          </a:xfrm>
          <a:prstGeom prst="roundRect">
            <a:avLst>
              <a:gd fmla="val 17391"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6"/>
          <p:cNvSpPr/>
          <p:nvPr/>
        </p:nvSpPr>
        <p:spPr>
          <a:xfrm>
            <a:off x="9429750" y="2190750"/>
            <a:ext cx="5781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SGN</a:t>
            </a:r>
            <a:endParaRPr b="0" i="0" sz="1800" u="none" cap="none" strike="noStrike">
              <a:solidFill>
                <a:schemeClr val="dk1"/>
              </a:solidFill>
              <a:latin typeface="Calibri"/>
              <a:ea typeface="Calibri"/>
              <a:cs typeface="Calibri"/>
              <a:sym typeface="Calibri"/>
            </a:endParaRPr>
          </a:p>
        </p:txBody>
      </p:sp>
      <p:sp>
        <p:nvSpPr>
          <p:cNvPr id="1380" name="Google Shape;1380;p36"/>
          <p:cNvSpPr/>
          <p:nvPr/>
        </p:nvSpPr>
        <p:spPr>
          <a:xfrm>
            <a:off x="9258300" y="2686050"/>
            <a:ext cx="2679600" cy="1171500"/>
          </a:xfrm>
          <a:prstGeom prst="roundRect">
            <a:avLst>
              <a:gd fmla="val 813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6"/>
          <p:cNvSpPr/>
          <p:nvPr/>
        </p:nvSpPr>
        <p:spPr>
          <a:xfrm>
            <a:off x="9271002" y="2819400"/>
            <a:ext cx="2654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Checkin</a:t>
            </a:r>
            <a:endParaRPr b="0" i="0" sz="1800" u="none" cap="none" strike="noStrike">
              <a:solidFill>
                <a:schemeClr val="dk1"/>
              </a:solidFill>
              <a:latin typeface="Calibri"/>
              <a:ea typeface="Calibri"/>
              <a:cs typeface="Calibri"/>
              <a:sym typeface="Calibri"/>
            </a:endParaRPr>
          </a:p>
        </p:txBody>
      </p:sp>
      <p:sp>
        <p:nvSpPr>
          <p:cNvPr id="1382" name="Google Shape;1382;p36"/>
          <p:cNvSpPr/>
          <p:nvPr/>
        </p:nvSpPr>
        <p:spPr>
          <a:xfrm>
            <a:off x="9271002" y="3086100"/>
            <a:ext cx="26541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3,447 ca</a:t>
            </a:r>
            <a:endParaRPr b="0" i="0" sz="2250" u="none" cap="none" strike="noStrike">
              <a:solidFill>
                <a:schemeClr val="dk1"/>
              </a:solidFill>
              <a:latin typeface="Calibri"/>
              <a:ea typeface="Calibri"/>
              <a:cs typeface="Calibri"/>
              <a:sym typeface="Calibri"/>
            </a:endParaRPr>
          </a:p>
        </p:txBody>
      </p:sp>
      <p:sp>
        <p:nvSpPr>
          <p:cNvPr id="1383" name="Google Shape;1383;p36"/>
          <p:cNvSpPr/>
          <p:nvPr/>
        </p:nvSpPr>
        <p:spPr>
          <a:xfrm>
            <a:off x="9271002" y="3448050"/>
            <a:ext cx="2654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▲2.10% MoM</a:t>
            </a:r>
            <a:endParaRPr b="0" i="0" sz="1800" u="none" cap="none" strike="noStrike">
              <a:solidFill>
                <a:schemeClr val="dk1"/>
              </a:solidFill>
              <a:latin typeface="Calibri"/>
              <a:ea typeface="Calibri"/>
              <a:cs typeface="Calibri"/>
              <a:sym typeface="Calibri"/>
            </a:endParaRPr>
          </a:p>
        </p:txBody>
      </p:sp>
      <p:sp>
        <p:nvSpPr>
          <p:cNvPr id="1384" name="Google Shape;1384;p36"/>
          <p:cNvSpPr/>
          <p:nvPr/>
        </p:nvSpPr>
        <p:spPr>
          <a:xfrm>
            <a:off x="12052250" y="2686050"/>
            <a:ext cx="2679600" cy="1171500"/>
          </a:xfrm>
          <a:prstGeom prst="roundRect">
            <a:avLst>
              <a:gd fmla="val 813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6"/>
          <p:cNvSpPr/>
          <p:nvPr/>
        </p:nvSpPr>
        <p:spPr>
          <a:xfrm>
            <a:off x="12064953" y="2819400"/>
            <a:ext cx="2654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Utilization</a:t>
            </a:r>
            <a:endParaRPr b="0" i="0" sz="1800" u="none" cap="none" strike="noStrike">
              <a:solidFill>
                <a:schemeClr val="dk1"/>
              </a:solidFill>
              <a:latin typeface="Calibri"/>
              <a:ea typeface="Calibri"/>
              <a:cs typeface="Calibri"/>
              <a:sym typeface="Calibri"/>
            </a:endParaRPr>
          </a:p>
        </p:txBody>
      </p:sp>
      <p:sp>
        <p:nvSpPr>
          <p:cNvPr id="1386" name="Google Shape;1386;p36"/>
          <p:cNvSpPr/>
          <p:nvPr/>
        </p:nvSpPr>
        <p:spPr>
          <a:xfrm>
            <a:off x="12064953" y="3086100"/>
            <a:ext cx="26541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85.91%</a:t>
            </a:r>
            <a:endParaRPr b="0" i="0" sz="2250" u="none" cap="none" strike="noStrike">
              <a:solidFill>
                <a:schemeClr val="dk1"/>
              </a:solidFill>
              <a:latin typeface="Calibri"/>
              <a:ea typeface="Calibri"/>
              <a:cs typeface="Calibri"/>
              <a:sym typeface="Calibri"/>
            </a:endParaRPr>
          </a:p>
        </p:txBody>
      </p:sp>
      <p:sp>
        <p:nvSpPr>
          <p:cNvPr id="1387" name="Google Shape;1387;p36"/>
          <p:cNvSpPr/>
          <p:nvPr/>
        </p:nvSpPr>
        <p:spPr>
          <a:xfrm>
            <a:off x="12064953" y="3448050"/>
            <a:ext cx="2654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▼0.39% MoM</a:t>
            </a:r>
            <a:endParaRPr b="0" i="0" sz="1800" u="none" cap="none" strike="noStrike">
              <a:solidFill>
                <a:schemeClr val="dk1"/>
              </a:solidFill>
              <a:latin typeface="Calibri"/>
              <a:ea typeface="Calibri"/>
              <a:cs typeface="Calibri"/>
              <a:sym typeface="Calibri"/>
            </a:endParaRPr>
          </a:p>
        </p:txBody>
      </p:sp>
      <p:sp>
        <p:nvSpPr>
          <p:cNvPr id="1388" name="Google Shape;1388;p36"/>
          <p:cNvSpPr/>
          <p:nvPr/>
        </p:nvSpPr>
        <p:spPr>
          <a:xfrm>
            <a:off x="14846201" y="2686050"/>
            <a:ext cx="2679900" cy="1171500"/>
          </a:xfrm>
          <a:prstGeom prst="roundRect">
            <a:avLst>
              <a:gd fmla="val 813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6"/>
          <p:cNvSpPr/>
          <p:nvPr/>
        </p:nvSpPr>
        <p:spPr>
          <a:xfrm>
            <a:off x="14858896" y="2819400"/>
            <a:ext cx="2654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Online rate</a:t>
            </a:r>
            <a:endParaRPr b="0" i="0" sz="1800" u="none" cap="none" strike="noStrike">
              <a:solidFill>
                <a:schemeClr val="dk1"/>
              </a:solidFill>
              <a:latin typeface="Calibri"/>
              <a:ea typeface="Calibri"/>
              <a:cs typeface="Calibri"/>
              <a:sym typeface="Calibri"/>
            </a:endParaRPr>
          </a:p>
        </p:txBody>
      </p:sp>
      <p:sp>
        <p:nvSpPr>
          <p:cNvPr id="1390" name="Google Shape;1390;p36"/>
          <p:cNvSpPr/>
          <p:nvPr/>
        </p:nvSpPr>
        <p:spPr>
          <a:xfrm>
            <a:off x="14858896" y="3086100"/>
            <a:ext cx="26544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89.61%</a:t>
            </a:r>
            <a:endParaRPr b="0" i="0" sz="2250" u="none" cap="none" strike="noStrike">
              <a:solidFill>
                <a:schemeClr val="dk1"/>
              </a:solidFill>
              <a:latin typeface="Calibri"/>
              <a:ea typeface="Calibri"/>
              <a:cs typeface="Calibri"/>
              <a:sym typeface="Calibri"/>
            </a:endParaRPr>
          </a:p>
        </p:txBody>
      </p:sp>
      <p:sp>
        <p:nvSpPr>
          <p:cNvPr id="1391" name="Google Shape;1391;p36"/>
          <p:cNvSpPr/>
          <p:nvPr/>
        </p:nvSpPr>
        <p:spPr>
          <a:xfrm>
            <a:off x="14858896" y="3448050"/>
            <a:ext cx="26544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▲3.30% MoM</a:t>
            </a:r>
            <a:endParaRPr b="0" i="0" sz="1800" u="none" cap="none" strike="noStrike">
              <a:solidFill>
                <a:schemeClr val="dk1"/>
              </a:solidFill>
              <a:latin typeface="Calibri"/>
              <a:ea typeface="Calibri"/>
              <a:cs typeface="Calibri"/>
              <a:sym typeface="Calibri"/>
            </a:endParaRPr>
          </a:p>
        </p:txBody>
      </p:sp>
      <p:sp>
        <p:nvSpPr>
          <p:cNvPr id="1392" name="Google Shape;1392;p36"/>
          <p:cNvSpPr/>
          <p:nvPr/>
        </p:nvSpPr>
        <p:spPr>
          <a:xfrm>
            <a:off x="9258300" y="3990975"/>
            <a:ext cx="8267700" cy="838200"/>
          </a:xfrm>
          <a:prstGeom prst="roundRect">
            <a:avLst>
              <a:gd fmla="val 13636"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6"/>
          <p:cNvSpPr/>
          <p:nvPr/>
        </p:nvSpPr>
        <p:spPr>
          <a:xfrm>
            <a:off x="9429750" y="4143375"/>
            <a:ext cx="817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Coverage cải thiện ở đa số zone WoW (+0.34% đến +5.20%); zone thấp nhất vẫn trên 80% online rate.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8" name="Shape 1398"/>
        <p:cNvGrpSpPr/>
        <p:nvPr/>
      </p:nvGrpSpPr>
      <p:grpSpPr>
        <a:xfrm>
          <a:off x="0" y="0"/>
          <a:ext cx="0" cy="0"/>
          <a:chOff x="0" y="0"/>
          <a:chExt cx="0" cy="0"/>
        </a:xfrm>
      </p:grpSpPr>
      <p:sp>
        <p:nvSpPr>
          <p:cNvPr id="1399" name="Google Shape;1399;p37"/>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MINIHUB — DRIVER FUNNEL &amp; SANCTION</a:t>
            </a:r>
            <a:endParaRPr b="0" i="0" sz="3300" u="none" cap="none" strike="noStrike">
              <a:solidFill>
                <a:schemeClr val="dk1"/>
              </a:solidFill>
              <a:latin typeface="Calibri"/>
              <a:ea typeface="Calibri"/>
              <a:cs typeface="Calibri"/>
              <a:sym typeface="Calibri"/>
            </a:endParaRPr>
          </a:p>
        </p:txBody>
      </p:sp>
      <p:sp>
        <p:nvSpPr>
          <p:cNvPr id="1400" name="Google Shape;1400;p37"/>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HAN &amp; SGN</a:t>
            </a:r>
            <a:endParaRPr b="0" i="0" sz="1950" u="none" cap="none" strike="noStrike">
              <a:solidFill>
                <a:schemeClr val="dk1"/>
              </a:solidFill>
              <a:latin typeface="Calibri"/>
              <a:ea typeface="Calibri"/>
              <a:cs typeface="Calibri"/>
              <a:sym typeface="Calibri"/>
            </a:endParaRPr>
          </a:p>
        </p:txBody>
      </p:sp>
      <p:sp>
        <p:nvSpPr>
          <p:cNvPr id="1401" name="Google Shape;1401;p37"/>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7"/>
          <p:cNvSpPr/>
          <p:nvPr/>
        </p:nvSpPr>
        <p:spPr>
          <a:xfrm>
            <a:off x="952500" y="15240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403" name="Google Shape;1403;p37"/>
          <p:cNvSpPr/>
          <p:nvPr/>
        </p:nvSpPr>
        <p:spPr>
          <a:xfrm>
            <a:off x="3157240" y="1533525"/>
            <a:ext cx="93888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SGN chuyển đổi Active/Registered tốt hơn HAN; No Activity là nguyên nhân vi phạm chính.</a:t>
            </a:r>
            <a:endParaRPr b="0" i="0" sz="1800" u="none" cap="none" strike="noStrike">
              <a:solidFill>
                <a:schemeClr val="dk1"/>
              </a:solidFill>
              <a:latin typeface="Calibri"/>
              <a:ea typeface="Calibri"/>
              <a:cs typeface="Calibri"/>
              <a:sym typeface="Calibri"/>
            </a:endParaRPr>
          </a:p>
        </p:txBody>
      </p:sp>
      <p:sp>
        <p:nvSpPr>
          <p:cNvPr id="1404" name="Google Shape;1404;p37"/>
          <p:cNvSpPr/>
          <p:nvPr/>
        </p:nvSpPr>
        <p:spPr>
          <a:xfrm>
            <a:off x="762000" y="2095500"/>
            <a:ext cx="842400" cy="438300"/>
          </a:xfrm>
          <a:prstGeom prst="roundRect">
            <a:avLst>
              <a:gd fmla="val 17391"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7"/>
          <p:cNvSpPr/>
          <p:nvPr/>
        </p:nvSpPr>
        <p:spPr>
          <a:xfrm>
            <a:off x="933450" y="2171700"/>
            <a:ext cx="5757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HAN</a:t>
            </a:r>
            <a:endParaRPr b="0" i="0" sz="1800" u="none" cap="none" strike="noStrike">
              <a:solidFill>
                <a:schemeClr val="dk1"/>
              </a:solidFill>
              <a:latin typeface="Calibri"/>
              <a:ea typeface="Calibri"/>
              <a:cs typeface="Calibri"/>
              <a:sym typeface="Calibri"/>
            </a:endParaRPr>
          </a:p>
        </p:txBody>
      </p:sp>
      <p:sp>
        <p:nvSpPr>
          <p:cNvPr id="1406" name="Google Shape;1406;p37"/>
          <p:cNvSpPr/>
          <p:nvPr/>
        </p:nvSpPr>
        <p:spPr>
          <a:xfrm>
            <a:off x="762000" y="2647950"/>
            <a:ext cx="4076700" cy="1181100"/>
          </a:xfrm>
          <a:prstGeom prst="roundRect">
            <a:avLst>
              <a:gd fmla="val 80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7"/>
          <p:cNvSpPr/>
          <p:nvPr/>
        </p:nvSpPr>
        <p:spPr>
          <a:xfrm>
            <a:off x="704850" y="27813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Active/Registered</a:t>
            </a:r>
            <a:endParaRPr b="0" i="0" sz="1800" u="none" cap="none" strike="noStrike">
              <a:solidFill>
                <a:schemeClr val="dk1"/>
              </a:solidFill>
              <a:latin typeface="Calibri"/>
              <a:ea typeface="Calibri"/>
              <a:cs typeface="Calibri"/>
              <a:sym typeface="Calibri"/>
            </a:endParaRPr>
          </a:p>
        </p:txBody>
      </p:sp>
      <p:sp>
        <p:nvSpPr>
          <p:cNvPr id="1408" name="Google Shape;1408;p37"/>
          <p:cNvSpPr/>
          <p:nvPr/>
        </p:nvSpPr>
        <p:spPr>
          <a:xfrm>
            <a:off x="704850" y="3048000"/>
            <a:ext cx="4191000" cy="41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400"/>
              <a:buFont typeface="Plus Jakarta Sans"/>
              <a:buNone/>
            </a:pPr>
            <a:r>
              <a:rPr b="1" i="0" lang="en-US" sz="2400" u="none" cap="none" strike="noStrike">
                <a:solidFill>
                  <a:srgbClr val="121619"/>
                </a:solidFill>
                <a:latin typeface="Plus Jakarta Sans"/>
                <a:ea typeface="Plus Jakarta Sans"/>
                <a:cs typeface="Plus Jakarta Sans"/>
                <a:sym typeface="Plus Jakarta Sans"/>
              </a:rPr>
              <a:t>90.61%</a:t>
            </a:r>
            <a:endParaRPr b="0" i="0" sz="2400" u="none" cap="none" strike="noStrike">
              <a:solidFill>
                <a:schemeClr val="dk1"/>
              </a:solidFill>
              <a:latin typeface="Calibri"/>
              <a:ea typeface="Calibri"/>
              <a:cs typeface="Calibri"/>
              <a:sym typeface="Calibri"/>
            </a:endParaRPr>
          </a:p>
        </p:txBody>
      </p:sp>
      <p:sp>
        <p:nvSpPr>
          <p:cNvPr id="1409" name="Google Shape;1409;p37"/>
          <p:cNvSpPr/>
          <p:nvPr/>
        </p:nvSpPr>
        <p:spPr>
          <a:xfrm>
            <a:off x="4953000" y="2647950"/>
            <a:ext cx="4076700" cy="1181100"/>
          </a:xfrm>
          <a:prstGeom prst="roundRect">
            <a:avLst>
              <a:gd fmla="val 80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7"/>
          <p:cNvSpPr/>
          <p:nvPr/>
        </p:nvSpPr>
        <p:spPr>
          <a:xfrm>
            <a:off x="4895850" y="27813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Vi phạm (No Activity)</a:t>
            </a:r>
            <a:endParaRPr b="0" i="0" sz="1800" u="none" cap="none" strike="noStrike">
              <a:solidFill>
                <a:schemeClr val="dk1"/>
              </a:solidFill>
              <a:latin typeface="Calibri"/>
              <a:ea typeface="Calibri"/>
              <a:cs typeface="Calibri"/>
              <a:sym typeface="Calibri"/>
            </a:endParaRPr>
          </a:p>
        </p:txBody>
      </p:sp>
      <p:sp>
        <p:nvSpPr>
          <p:cNvPr id="1411" name="Google Shape;1411;p37"/>
          <p:cNvSpPr/>
          <p:nvPr/>
        </p:nvSpPr>
        <p:spPr>
          <a:xfrm>
            <a:off x="4895850" y="3048000"/>
            <a:ext cx="4191000" cy="41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400"/>
              <a:buFont typeface="Plus Jakarta Sans"/>
              <a:buNone/>
            </a:pPr>
            <a:r>
              <a:rPr b="1" i="0" lang="en-US" sz="2400" u="none" cap="none" strike="noStrike">
                <a:solidFill>
                  <a:srgbClr val="121619"/>
                </a:solidFill>
                <a:latin typeface="Plus Jakarta Sans"/>
                <a:ea typeface="Plus Jakarta Sans"/>
                <a:cs typeface="Plus Jakarta Sans"/>
                <a:sym typeface="Plus Jakarta Sans"/>
              </a:rPr>
              <a:t>86.89%</a:t>
            </a:r>
            <a:endParaRPr b="0" i="0" sz="2400" u="none" cap="none" strike="noStrike">
              <a:solidFill>
                <a:schemeClr val="dk1"/>
              </a:solidFill>
              <a:latin typeface="Calibri"/>
              <a:ea typeface="Calibri"/>
              <a:cs typeface="Calibri"/>
              <a:sym typeface="Calibri"/>
            </a:endParaRPr>
          </a:p>
        </p:txBody>
      </p:sp>
      <p:sp>
        <p:nvSpPr>
          <p:cNvPr id="1412" name="Google Shape;1412;p37"/>
          <p:cNvSpPr/>
          <p:nvPr/>
        </p:nvSpPr>
        <p:spPr>
          <a:xfrm>
            <a:off x="4895850" y="34290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749/862</a:t>
            </a:r>
            <a:endParaRPr b="0" i="0" sz="1800" u="none" cap="none" strike="noStrike">
              <a:solidFill>
                <a:schemeClr val="dk1"/>
              </a:solidFill>
              <a:latin typeface="Calibri"/>
              <a:ea typeface="Calibri"/>
              <a:cs typeface="Calibri"/>
              <a:sym typeface="Calibri"/>
            </a:endParaRPr>
          </a:p>
        </p:txBody>
      </p:sp>
      <p:sp>
        <p:nvSpPr>
          <p:cNvPr id="1413" name="Google Shape;1413;p37"/>
          <p:cNvSpPr/>
          <p:nvPr/>
        </p:nvSpPr>
        <p:spPr>
          <a:xfrm>
            <a:off x="762000" y="3943350"/>
            <a:ext cx="8267700" cy="533400"/>
          </a:xfrm>
          <a:prstGeom prst="roundRect">
            <a:avLst>
              <a:gd fmla="val 21429"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7"/>
          <p:cNvSpPr/>
          <p:nvPr/>
        </p:nvSpPr>
        <p:spPr>
          <a:xfrm>
            <a:off x="933450" y="4076700"/>
            <a:ext cx="81729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highlight>
                  <a:srgbClr val="FFF1F1"/>
                </a:highlight>
                <a:latin typeface="Roboto"/>
                <a:ea typeface="Roboto"/>
                <a:cs typeface="Roboto"/>
                <a:sym typeface="Roboto"/>
              </a:rPr>
              <a:t>Ưu tiên theo dõi: </a:t>
            </a:r>
            <a:r>
              <a:rPr b="1" i="0" lang="en-US" sz="1800" u="none" cap="none" strike="noStrike">
                <a:solidFill>
                  <a:srgbClr val="121619"/>
                </a:solidFill>
                <a:latin typeface="Roboto"/>
                <a:ea typeface="Roboto"/>
                <a:cs typeface="Roboto"/>
                <a:sym typeface="Roboto"/>
              </a:rPr>
              <a:t>Z578 </a:t>
            </a:r>
            <a:r>
              <a:rPr b="0" i="0" lang="en-US" sz="1800" u="none" cap="none" strike="noStrike">
                <a:solidFill>
                  <a:srgbClr val="121619"/>
                </a:solidFill>
                <a:highlight>
                  <a:srgbClr val="FFF1F1"/>
                </a:highlight>
                <a:latin typeface="Roboto"/>
                <a:ea typeface="Roboto"/>
                <a:cs typeface="Roboto"/>
                <a:sym typeface="Roboto"/>
              </a:rPr>
              <a:t>(66.67%), </a:t>
            </a:r>
            <a:r>
              <a:rPr b="1" i="0" lang="en-US" sz="1800" u="none" cap="none" strike="noStrike">
                <a:solidFill>
                  <a:srgbClr val="121619"/>
                </a:solidFill>
                <a:latin typeface="Roboto"/>
                <a:ea typeface="Roboto"/>
                <a:cs typeface="Roboto"/>
                <a:sym typeface="Roboto"/>
              </a:rPr>
              <a:t>Z24 </a:t>
            </a:r>
            <a:r>
              <a:rPr b="0" i="0" lang="en-US" sz="1800" u="none" cap="none" strike="noStrike">
                <a:solidFill>
                  <a:srgbClr val="121619"/>
                </a:solidFill>
                <a:highlight>
                  <a:srgbClr val="FFF1F1"/>
                </a:highlight>
                <a:latin typeface="Roboto"/>
                <a:ea typeface="Roboto"/>
                <a:cs typeface="Roboto"/>
                <a:sym typeface="Roboto"/>
              </a:rPr>
              <a:t>(78.57%, hụt 6 TX) chuyển đổi thấp nhất.</a:t>
            </a:r>
            <a:endParaRPr b="0" i="0" sz="1800" u="none" cap="none" strike="noStrike">
              <a:solidFill>
                <a:schemeClr val="dk1"/>
              </a:solidFill>
              <a:latin typeface="Calibri"/>
              <a:ea typeface="Calibri"/>
              <a:cs typeface="Calibri"/>
              <a:sym typeface="Calibri"/>
            </a:endParaRPr>
          </a:p>
        </p:txBody>
      </p:sp>
      <p:sp>
        <p:nvSpPr>
          <p:cNvPr id="1415" name="Google Shape;1415;p37"/>
          <p:cNvSpPr/>
          <p:nvPr/>
        </p:nvSpPr>
        <p:spPr>
          <a:xfrm>
            <a:off x="762000" y="4591050"/>
            <a:ext cx="8267700" cy="828600"/>
          </a:xfrm>
          <a:prstGeom prst="roundRect">
            <a:avLst>
              <a:gd fmla="val 13793"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7"/>
          <p:cNvSpPr/>
          <p:nvPr/>
        </p:nvSpPr>
        <p:spPr>
          <a:xfrm>
            <a:off x="942975" y="4733925"/>
            <a:ext cx="8153700" cy="581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Next action: </a:t>
            </a:r>
            <a:r>
              <a:rPr b="0" i="0" lang="en-US" sz="1800" u="none" cap="none" strike="noStrike">
                <a:solidFill>
                  <a:srgbClr val="4C5158"/>
                </a:solidFill>
                <a:highlight>
                  <a:srgbClr val="FFFFFF"/>
                </a:highlight>
                <a:latin typeface="Roboto"/>
                <a:ea typeface="Roboto"/>
                <a:cs typeface="Roboto"/>
                <a:sym typeface="Roboto"/>
              </a:rPr>
              <a:t>Gửi list No Activity cho đội trưởng → remind &amp; rà soát nguyên nhân.</a:t>
            </a:r>
            <a:endParaRPr b="0" i="0" sz="1800" u="none" cap="none" strike="noStrike">
              <a:solidFill>
                <a:schemeClr val="dk1"/>
              </a:solidFill>
              <a:latin typeface="Calibri"/>
              <a:ea typeface="Calibri"/>
              <a:cs typeface="Calibri"/>
              <a:sym typeface="Calibri"/>
            </a:endParaRPr>
          </a:p>
        </p:txBody>
      </p:sp>
      <p:sp>
        <p:nvSpPr>
          <p:cNvPr id="1417" name="Google Shape;1417;p37"/>
          <p:cNvSpPr/>
          <p:nvPr/>
        </p:nvSpPr>
        <p:spPr>
          <a:xfrm>
            <a:off x="9258300" y="2095500"/>
            <a:ext cx="844800" cy="438300"/>
          </a:xfrm>
          <a:prstGeom prst="roundRect">
            <a:avLst>
              <a:gd fmla="val 17391"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7"/>
          <p:cNvSpPr/>
          <p:nvPr/>
        </p:nvSpPr>
        <p:spPr>
          <a:xfrm>
            <a:off x="9429750" y="2171700"/>
            <a:ext cx="5781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SGN</a:t>
            </a:r>
            <a:endParaRPr b="0" i="0" sz="1800" u="none" cap="none" strike="noStrike">
              <a:solidFill>
                <a:schemeClr val="dk1"/>
              </a:solidFill>
              <a:latin typeface="Calibri"/>
              <a:ea typeface="Calibri"/>
              <a:cs typeface="Calibri"/>
              <a:sym typeface="Calibri"/>
            </a:endParaRPr>
          </a:p>
        </p:txBody>
      </p:sp>
      <p:sp>
        <p:nvSpPr>
          <p:cNvPr id="1419" name="Google Shape;1419;p37"/>
          <p:cNvSpPr/>
          <p:nvPr/>
        </p:nvSpPr>
        <p:spPr>
          <a:xfrm>
            <a:off x="9258300" y="2647950"/>
            <a:ext cx="4076700" cy="1181100"/>
          </a:xfrm>
          <a:prstGeom prst="roundRect">
            <a:avLst>
              <a:gd fmla="val 8065"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7"/>
          <p:cNvSpPr/>
          <p:nvPr/>
        </p:nvSpPr>
        <p:spPr>
          <a:xfrm>
            <a:off x="9201150" y="27813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Active/Registered</a:t>
            </a:r>
            <a:endParaRPr b="0" i="0" sz="1800" u="none" cap="none" strike="noStrike">
              <a:solidFill>
                <a:schemeClr val="dk1"/>
              </a:solidFill>
              <a:latin typeface="Calibri"/>
              <a:ea typeface="Calibri"/>
              <a:cs typeface="Calibri"/>
              <a:sym typeface="Calibri"/>
            </a:endParaRPr>
          </a:p>
        </p:txBody>
      </p:sp>
      <p:sp>
        <p:nvSpPr>
          <p:cNvPr id="1421" name="Google Shape;1421;p37"/>
          <p:cNvSpPr/>
          <p:nvPr/>
        </p:nvSpPr>
        <p:spPr>
          <a:xfrm>
            <a:off x="9201150" y="3048000"/>
            <a:ext cx="4191000" cy="41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400"/>
              <a:buFont typeface="Plus Jakarta Sans"/>
              <a:buNone/>
            </a:pPr>
            <a:r>
              <a:rPr b="1" i="0" lang="en-US" sz="2400" u="none" cap="none" strike="noStrike">
                <a:solidFill>
                  <a:srgbClr val="121619"/>
                </a:solidFill>
                <a:latin typeface="Plus Jakarta Sans"/>
                <a:ea typeface="Plus Jakarta Sans"/>
                <a:cs typeface="Plus Jakarta Sans"/>
                <a:sym typeface="Plus Jakarta Sans"/>
              </a:rPr>
              <a:t>96.72%</a:t>
            </a:r>
            <a:endParaRPr b="0" i="0" sz="2400" u="none" cap="none" strike="noStrike">
              <a:solidFill>
                <a:schemeClr val="dk1"/>
              </a:solidFill>
              <a:latin typeface="Calibri"/>
              <a:ea typeface="Calibri"/>
              <a:cs typeface="Calibri"/>
              <a:sym typeface="Calibri"/>
            </a:endParaRPr>
          </a:p>
        </p:txBody>
      </p:sp>
      <p:sp>
        <p:nvSpPr>
          <p:cNvPr id="1422" name="Google Shape;1422;p37"/>
          <p:cNvSpPr/>
          <p:nvPr/>
        </p:nvSpPr>
        <p:spPr>
          <a:xfrm>
            <a:off x="13449300" y="2647950"/>
            <a:ext cx="4076700" cy="1181100"/>
          </a:xfrm>
          <a:prstGeom prst="roundRect">
            <a:avLst>
              <a:gd fmla="val 8065"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7"/>
          <p:cNvSpPr/>
          <p:nvPr/>
        </p:nvSpPr>
        <p:spPr>
          <a:xfrm>
            <a:off x="13392150" y="27813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2nd violation</a:t>
            </a:r>
            <a:endParaRPr b="0" i="0" sz="1800" u="none" cap="none" strike="noStrike">
              <a:solidFill>
                <a:schemeClr val="dk1"/>
              </a:solidFill>
              <a:latin typeface="Calibri"/>
              <a:ea typeface="Calibri"/>
              <a:cs typeface="Calibri"/>
              <a:sym typeface="Calibri"/>
            </a:endParaRPr>
          </a:p>
        </p:txBody>
      </p:sp>
      <p:sp>
        <p:nvSpPr>
          <p:cNvPr id="1424" name="Google Shape;1424;p37"/>
          <p:cNvSpPr/>
          <p:nvPr/>
        </p:nvSpPr>
        <p:spPr>
          <a:xfrm>
            <a:off x="13392150" y="3048000"/>
            <a:ext cx="4191000" cy="41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400"/>
              <a:buFont typeface="Plus Jakarta Sans"/>
              <a:buNone/>
            </a:pPr>
            <a:r>
              <a:rPr b="1" i="0" lang="en-US" sz="2400" u="none" cap="none" strike="noStrike">
                <a:solidFill>
                  <a:srgbClr val="121619"/>
                </a:solidFill>
                <a:latin typeface="Plus Jakarta Sans"/>
                <a:ea typeface="Plus Jakarta Sans"/>
                <a:cs typeface="Plus Jakarta Sans"/>
                <a:sym typeface="Plus Jakarta Sans"/>
              </a:rPr>
              <a:t>79.84%</a:t>
            </a:r>
            <a:endParaRPr b="0" i="0" sz="2400" u="none" cap="none" strike="noStrike">
              <a:solidFill>
                <a:schemeClr val="dk1"/>
              </a:solidFill>
              <a:latin typeface="Calibri"/>
              <a:ea typeface="Calibri"/>
              <a:cs typeface="Calibri"/>
              <a:sym typeface="Calibri"/>
            </a:endParaRPr>
          </a:p>
        </p:txBody>
      </p:sp>
      <p:sp>
        <p:nvSpPr>
          <p:cNvPr id="1425" name="Google Shape;1425;p37"/>
          <p:cNvSpPr/>
          <p:nvPr/>
        </p:nvSpPr>
        <p:spPr>
          <a:xfrm>
            <a:off x="13392150" y="34290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820/1,027</a:t>
            </a:r>
            <a:endParaRPr b="0" i="0" sz="1800" u="none" cap="none" strike="noStrike">
              <a:solidFill>
                <a:schemeClr val="dk1"/>
              </a:solidFill>
              <a:latin typeface="Calibri"/>
              <a:ea typeface="Calibri"/>
              <a:cs typeface="Calibri"/>
              <a:sym typeface="Calibri"/>
            </a:endParaRPr>
          </a:p>
        </p:txBody>
      </p:sp>
      <p:sp>
        <p:nvSpPr>
          <p:cNvPr id="1426" name="Google Shape;1426;p37"/>
          <p:cNvSpPr/>
          <p:nvPr/>
        </p:nvSpPr>
        <p:spPr>
          <a:xfrm>
            <a:off x="9258300" y="3943350"/>
            <a:ext cx="8267700" cy="800100"/>
          </a:xfrm>
          <a:prstGeom prst="roundRect">
            <a:avLst>
              <a:gd fmla="val 14286"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7"/>
          <p:cNvSpPr/>
          <p:nvPr/>
        </p:nvSpPr>
        <p:spPr>
          <a:xfrm>
            <a:off x="9429750" y="4076700"/>
            <a:ext cx="817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highlight>
                  <a:srgbClr val="FFF1F1"/>
                </a:highlight>
                <a:latin typeface="Roboto"/>
                <a:ea typeface="Roboto"/>
                <a:cs typeface="Roboto"/>
                <a:sym typeface="Roboto"/>
              </a:rPr>
              <a:t>Ưu tiên theo dõi: </a:t>
            </a:r>
            <a:r>
              <a:rPr b="1" i="0" lang="en-US" sz="1800" u="none" cap="none" strike="noStrike">
                <a:solidFill>
                  <a:srgbClr val="121619"/>
                </a:solidFill>
                <a:latin typeface="Roboto"/>
                <a:ea typeface="Roboto"/>
                <a:cs typeface="Roboto"/>
                <a:sym typeface="Roboto"/>
              </a:rPr>
              <a:t>Zone 6 </a:t>
            </a:r>
            <a:r>
              <a:rPr b="0" i="0" lang="en-US" sz="1800" u="none" cap="none" strike="noStrike">
                <a:solidFill>
                  <a:srgbClr val="121619"/>
                </a:solidFill>
                <a:highlight>
                  <a:srgbClr val="FFF1F1"/>
                </a:highlight>
                <a:latin typeface="Roboto"/>
                <a:ea typeface="Roboto"/>
                <a:cs typeface="Roboto"/>
                <a:sym typeface="Roboto"/>
              </a:rPr>
              <a:t>(93.55%) chuyển đổi thấp nhất · Fail Online chiếm 23.68% (63 TX) trong nhóm vi phạm.</a:t>
            </a:r>
            <a:endParaRPr b="0" i="0" sz="1800" u="none" cap="none" strike="noStrike">
              <a:solidFill>
                <a:schemeClr val="dk1"/>
              </a:solidFill>
              <a:latin typeface="Calibri"/>
              <a:ea typeface="Calibri"/>
              <a:cs typeface="Calibri"/>
              <a:sym typeface="Calibri"/>
            </a:endParaRPr>
          </a:p>
        </p:txBody>
      </p:sp>
      <p:sp>
        <p:nvSpPr>
          <p:cNvPr id="1428" name="Google Shape;1428;p37"/>
          <p:cNvSpPr/>
          <p:nvPr/>
        </p:nvSpPr>
        <p:spPr>
          <a:xfrm>
            <a:off x="9258300" y="4857750"/>
            <a:ext cx="8267700" cy="828600"/>
          </a:xfrm>
          <a:prstGeom prst="roundRect">
            <a:avLst>
              <a:gd fmla="val 13793"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7"/>
          <p:cNvSpPr/>
          <p:nvPr/>
        </p:nvSpPr>
        <p:spPr>
          <a:xfrm>
            <a:off x="9439275" y="5000625"/>
            <a:ext cx="8153700" cy="581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Next action: </a:t>
            </a:r>
            <a:r>
              <a:rPr b="0" i="0" lang="en-US" sz="1800" u="none" cap="none" strike="noStrike">
                <a:solidFill>
                  <a:srgbClr val="4C5158"/>
                </a:solidFill>
                <a:highlight>
                  <a:srgbClr val="FFFFFF"/>
                </a:highlight>
                <a:latin typeface="Roboto"/>
                <a:ea typeface="Roboto"/>
                <a:cs typeface="Roboto"/>
                <a:sym typeface="Roboto"/>
              </a:rPr>
              <a:t>Gửi cảnh báo nhóm Fail Online + vi phạm Online/CR/STP → follow-up sau remind.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4" name="Shape 1434"/>
        <p:cNvGrpSpPr/>
        <p:nvPr/>
      </p:nvGrpSpPr>
      <p:grpSpPr>
        <a:xfrm>
          <a:off x="0" y="0"/>
          <a:ext cx="0" cy="0"/>
          <a:chOff x="0" y="0"/>
          <a:chExt cx="0" cy="0"/>
        </a:xfrm>
      </p:grpSpPr>
      <p:sp>
        <p:nvSpPr>
          <p:cNvPr id="1435" name="Google Shape;1435;p38"/>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MINIHUB — EARNING PER HOUR &amp; LEADER TEAM</a:t>
            </a:r>
            <a:endParaRPr b="0" i="0" sz="3300" u="none" cap="none" strike="noStrike">
              <a:solidFill>
                <a:schemeClr val="dk1"/>
              </a:solidFill>
              <a:latin typeface="Calibri"/>
              <a:ea typeface="Calibri"/>
              <a:cs typeface="Calibri"/>
              <a:sym typeface="Calibri"/>
            </a:endParaRPr>
          </a:p>
        </p:txBody>
      </p:sp>
      <p:sp>
        <p:nvSpPr>
          <p:cNvPr id="1436" name="Google Shape;1436;p38"/>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HAN &amp; SGN</a:t>
            </a:r>
            <a:endParaRPr b="0" i="0" sz="1950" u="none" cap="none" strike="noStrike">
              <a:solidFill>
                <a:schemeClr val="dk1"/>
              </a:solidFill>
              <a:latin typeface="Calibri"/>
              <a:ea typeface="Calibri"/>
              <a:cs typeface="Calibri"/>
              <a:sym typeface="Calibri"/>
            </a:endParaRPr>
          </a:p>
        </p:txBody>
      </p:sp>
      <p:sp>
        <p:nvSpPr>
          <p:cNvPr id="1437" name="Google Shape;1437;p38"/>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8"/>
          <p:cNvSpPr/>
          <p:nvPr/>
        </p:nvSpPr>
        <p:spPr>
          <a:xfrm>
            <a:off x="952500" y="15240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439" name="Google Shape;1439;p38"/>
          <p:cNvSpPr/>
          <p:nvPr/>
        </p:nvSpPr>
        <p:spPr>
          <a:xfrm>
            <a:off x="3157240" y="1533525"/>
            <a:ext cx="92631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EPH cải thiện tại HAN, phân hóa tại SGN; nhóm leader có ĐT hiệu suất tốt hơn trung bình.</a:t>
            </a:r>
            <a:endParaRPr b="0" i="0" sz="1800" u="none" cap="none" strike="noStrike">
              <a:solidFill>
                <a:schemeClr val="dk1"/>
              </a:solidFill>
              <a:latin typeface="Calibri"/>
              <a:ea typeface="Calibri"/>
              <a:cs typeface="Calibri"/>
              <a:sym typeface="Calibri"/>
            </a:endParaRPr>
          </a:p>
        </p:txBody>
      </p:sp>
      <p:sp>
        <p:nvSpPr>
          <p:cNvPr id="1440" name="Google Shape;1440;p38"/>
          <p:cNvSpPr/>
          <p:nvPr/>
        </p:nvSpPr>
        <p:spPr>
          <a:xfrm>
            <a:off x="762000" y="2095500"/>
            <a:ext cx="842400" cy="438300"/>
          </a:xfrm>
          <a:prstGeom prst="roundRect">
            <a:avLst>
              <a:gd fmla="val 17391"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8"/>
          <p:cNvSpPr/>
          <p:nvPr/>
        </p:nvSpPr>
        <p:spPr>
          <a:xfrm>
            <a:off x="933450" y="2171700"/>
            <a:ext cx="5757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HAN</a:t>
            </a:r>
            <a:endParaRPr b="0" i="0" sz="1800" u="none" cap="none" strike="noStrike">
              <a:solidFill>
                <a:schemeClr val="dk1"/>
              </a:solidFill>
              <a:latin typeface="Calibri"/>
              <a:ea typeface="Calibri"/>
              <a:cs typeface="Calibri"/>
              <a:sym typeface="Calibri"/>
            </a:endParaRPr>
          </a:p>
        </p:txBody>
      </p:sp>
      <p:sp>
        <p:nvSpPr>
          <p:cNvPr id="1442" name="Google Shape;1442;p38"/>
          <p:cNvSpPr/>
          <p:nvPr/>
        </p:nvSpPr>
        <p:spPr>
          <a:xfrm>
            <a:off x="762000" y="2647950"/>
            <a:ext cx="4076700" cy="828600"/>
          </a:xfrm>
          <a:prstGeom prst="roundRect">
            <a:avLst>
              <a:gd fmla="val 1149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8"/>
          <p:cNvSpPr/>
          <p:nvPr/>
        </p:nvSpPr>
        <p:spPr>
          <a:xfrm>
            <a:off x="683895" y="2762250"/>
            <a:ext cx="4233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TX (cao nhất)</a:t>
            </a:r>
            <a:endParaRPr b="0" i="0" sz="1800" u="none" cap="none" strike="noStrike">
              <a:solidFill>
                <a:schemeClr val="dk1"/>
              </a:solidFill>
              <a:latin typeface="Calibri"/>
              <a:ea typeface="Calibri"/>
              <a:cs typeface="Calibri"/>
              <a:sym typeface="Calibri"/>
            </a:endParaRPr>
          </a:p>
        </p:txBody>
      </p:sp>
      <p:sp>
        <p:nvSpPr>
          <p:cNvPr id="1444" name="Google Shape;1444;p38"/>
          <p:cNvSpPr/>
          <p:nvPr/>
        </p:nvSpPr>
        <p:spPr>
          <a:xfrm>
            <a:off x="683895" y="3028950"/>
            <a:ext cx="42330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72.6K</a:t>
            </a:r>
            <a:endParaRPr b="0" i="0" sz="2100" u="none" cap="none" strike="noStrike">
              <a:solidFill>
                <a:schemeClr val="dk1"/>
              </a:solidFill>
              <a:latin typeface="Calibri"/>
              <a:ea typeface="Calibri"/>
              <a:cs typeface="Calibri"/>
              <a:sym typeface="Calibri"/>
            </a:endParaRPr>
          </a:p>
        </p:txBody>
      </p:sp>
      <p:sp>
        <p:nvSpPr>
          <p:cNvPr id="1445" name="Google Shape;1445;p38"/>
          <p:cNvSpPr/>
          <p:nvPr/>
        </p:nvSpPr>
        <p:spPr>
          <a:xfrm>
            <a:off x="4953000" y="2647950"/>
            <a:ext cx="4076700" cy="828600"/>
          </a:xfrm>
          <a:prstGeom prst="roundRect">
            <a:avLst>
              <a:gd fmla="val 11494"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8"/>
          <p:cNvSpPr/>
          <p:nvPr/>
        </p:nvSpPr>
        <p:spPr>
          <a:xfrm>
            <a:off x="4874895" y="2762250"/>
            <a:ext cx="4233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HBT (thấp nhất)</a:t>
            </a:r>
            <a:endParaRPr b="0" i="0" sz="1800" u="none" cap="none" strike="noStrike">
              <a:solidFill>
                <a:schemeClr val="dk1"/>
              </a:solidFill>
              <a:latin typeface="Calibri"/>
              <a:ea typeface="Calibri"/>
              <a:cs typeface="Calibri"/>
              <a:sym typeface="Calibri"/>
            </a:endParaRPr>
          </a:p>
        </p:txBody>
      </p:sp>
      <p:sp>
        <p:nvSpPr>
          <p:cNvPr id="1447" name="Google Shape;1447;p38"/>
          <p:cNvSpPr/>
          <p:nvPr/>
        </p:nvSpPr>
        <p:spPr>
          <a:xfrm>
            <a:off x="4874895" y="3028950"/>
            <a:ext cx="42330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55.8K</a:t>
            </a:r>
            <a:endParaRPr b="0" i="0" sz="2100" u="none" cap="none" strike="noStrike">
              <a:solidFill>
                <a:schemeClr val="dk1"/>
              </a:solidFill>
              <a:latin typeface="Calibri"/>
              <a:ea typeface="Calibri"/>
              <a:cs typeface="Calibri"/>
              <a:sym typeface="Calibri"/>
            </a:endParaRPr>
          </a:p>
        </p:txBody>
      </p:sp>
      <p:sp>
        <p:nvSpPr>
          <p:cNvPr id="1448" name="Google Shape;1448;p38"/>
          <p:cNvSpPr/>
          <p:nvPr/>
        </p:nvSpPr>
        <p:spPr>
          <a:xfrm>
            <a:off x="762000" y="3590925"/>
            <a:ext cx="8267700" cy="800100"/>
          </a:xfrm>
          <a:prstGeom prst="roundRect">
            <a:avLst>
              <a:gd fmla="val 14286"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8"/>
          <p:cNvSpPr/>
          <p:nvPr/>
        </p:nvSpPr>
        <p:spPr>
          <a:xfrm>
            <a:off x="933450" y="3724275"/>
            <a:ext cx="817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EPH tuần 10/08 tăng mạnh, hầu hết zone cải thiện so với 03/08. Z24 (58.4K) &amp; HBT vẫn thấp nhất, cần tiếp tục theo dõi.</a:t>
            </a:r>
            <a:endParaRPr b="0" i="0" sz="1800" u="none" cap="none" strike="noStrike">
              <a:solidFill>
                <a:schemeClr val="dk1"/>
              </a:solidFill>
              <a:latin typeface="Calibri"/>
              <a:ea typeface="Calibri"/>
              <a:cs typeface="Calibri"/>
              <a:sym typeface="Calibri"/>
            </a:endParaRPr>
          </a:p>
        </p:txBody>
      </p:sp>
      <p:sp>
        <p:nvSpPr>
          <p:cNvPr id="1450" name="Google Shape;1450;p38"/>
          <p:cNvSpPr/>
          <p:nvPr/>
        </p:nvSpPr>
        <p:spPr>
          <a:xfrm>
            <a:off x="762000" y="4562475"/>
            <a:ext cx="9094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Leader Team (Z2&amp;Z4 vs Z136)</a:t>
            </a:r>
            <a:endParaRPr b="0" i="0" sz="1800" u="none" cap="none" strike="noStrike">
              <a:solidFill>
                <a:schemeClr val="dk1"/>
              </a:solidFill>
              <a:latin typeface="Calibri"/>
              <a:ea typeface="Calibri"/>
              <a:cs typeface="Calibri"/>
              <a:sym typeface="Calibri"/>
            </a:endParaRPr>
          </a:p>
        </p:txBody>
      </p:sp>
      <p:sp>
        <p:nvSpPr>
          <p:cNvPr id="1451" name="Google Shape;1451;p38"/>
          <p:cNvSpPr/>
          <p:nvPr/>
        </p:nvSpPr>
        <p:spPr>
          <a:xfrm>
            <a:off x="762000" y="4962525"/>
            <a:ext cx="8267700" cy="1066800"/>
          </a:xfrm>
          <a:prstGeom prst="roundRect">
            <a:avLst>
              <a:gd fmla="val 10714"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8"/>
          <p:cNvSpPr/>
          <p:nvPr/>
        </p:nvSpPr>
        <p:spPr>
          <a:xfrm>
            <a:off x="933450" y="5095875"/>
            <a:ext cx="8172900" cy="8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highlight>
                  <a:srgbClr val="F5F7FA"/>
                </a:highlight>
                <a:latin typeface="Roboto"/>
                <a:ea typeface="Roboto"/>
                <a:cs typeface="Roboto"/>
                <a:sym typeface="Roboto"/>
              </a:rPr>
              <a:t>Active &amp; online rate duy trì tăng, checkin rate giảm nhẹ -1.19%, avg shift hour giảm -5.51%. Zone có ĐT (Z2&amp;Z4) hiệu suất tốt hơn trung bình. </a:t>
            </a:r>
            <a:r>
              <a:rPr b="0" i="1" lang="en-US" sz="1800" u="none" cap="none" strike="noStrike">
                <a:solidFill>
                  <a:srgbClr val="4C5158"/>
                </a:solidFill>
                <a:latin typeface="Roboto"/>
                <a:ea typeface="Roboto"/>
                <a:cs typeface="Roboto"/>
                <a:sym typeface="Roboto"/>
              </a:rPr>
              <a:t>Driver voice: tiêu chí online &gt;80% khá gắt, hiệu suất chưa được improve.</a:t>
            </a:r>
            <a:endParaRPr b="0" i="0" sz="1800" u="none" cap="none" strike="noStrike">
              <a:solidFill>
                <a:schemeClr val="dk1"/>
              </a:solidFill>
              <a:latin typeface="Calibri"/>
              <a:ea typeface="Calibri"/>
              <a:cs typeface="Calibri"/>
              <a:sym typeface="Calibri"/>
            </a:endParaRPr>
          </a:p>
        </p:txBody>
      </p:sp>
      <p:sp>
        <p:nvSpPr>
          <p:cNvPr id="1453" name="Google Shape;1453;p38"/>
          <p:cNvSpPr/>
          <p:nvPr/>
        </p:nvSpPr>
        <p:spPr>
          <a:xfrm>
            <a:off x="9258300" y="2095500"/>
            <a:ext cx="844800" cy="438300"/>
          </a:xfrm>
          <a:prstGeom prst="roundRect">
            <a:avLst>
              <a:gd fmla="val 17391"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8"/>
          <p:cNvSpPr/>
          <p:nvPr/>
        </p:nvSpPr>
        <p:spPr>
          <a:xfrm>
            <a:off x="9429750" y="2171700"/>
            <a:ext cx="5781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SGN</a:t>
            </a:r>
            <a:endParaRPr b="0" i="0" sz="1800" u="none" cap="none" strike="noStrike">
              <a:solidFill>
                <a:schemeClr val="dk1"/>
              </a:solidFill>
              <a:latin typeface="Calibri"/>
              <a:ea typeface="Calibri"/>
              <a:cs typeface="Calibri"/>
              <a:sym typeface="Calibri"/>
            </a:endParaRPr>
          </a:p>
        </p:txBody>
      </p:sp>
      <p:sp>
        <p:nvSpPr>
          <p:cNvPr id="1455" name="Google Shape;1455;p38"/>
          <p:cNvSpPr/>
          <p:nvPr/>
        </p:nvSpPr>
        <p:spPr>
          <a:xfrm>
            <a:off x="9258300" y="2647950"/>
            <a:ext cx="4076700" cy="828600"/>
          </a:xfrm>
          <a:prstGeom prst="roundRect">
            <a:avLst>
              <a:gd fmla="val 1149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8"/>
          <p:cNvSpPr/>
          <p:nvPr/>
        </p:nvSpPr>
        <p:spPr>
          <a:xfrm>
            <a:off x="9180195" y="2762250"/>
            <a:ext cx="4233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Zone 6 (cao nhất)</a:t>
            </a:r>
            <a:endParaRPr b="0" i="0" sz="1800" u="none" cap="none" strike="noStrike">
              <a:solidFill>
                <a:schemeClr val="dk1"/>
              </a:solidFill>
              <a:latin typeface="Calibri"/>
              <a:ea typeface="Calibri"/>
              <a:cs typeface="Calibri"/>
              <a:sym typeface="Calibri"/>
            </a:endParaRPr>
          </a:p>
        </p:txBody>
      </p:sp>
      <p:sp>
        <p:nvSpPr>
          <p:cNvPr id="1457" name="Google Shape;1457;p38"/>
          <p:cNvSpPr/>
          <p:nvPr/>
        </p:nvSpPr>
        <p:spPr>
          <a:xfrm>
            <a:off x="9180195" y="3028950"/>
            <a:ext cx="42330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50.7K</a:t>
            </a:r>
            <a:endParaRPr b="0" i="0" sz="2100" u="none" cap="none" strike="noStrike">
              <a:solidFill>
                <a:schemeClr val="dk1"/>
              </a:solidFill>
              <a:latin typeface="Calibri"/>
              <a:ea typeface="Calibri"/>
              <a:cs typeface="Calibri"/>
              <a:sym typeface="Calibri"/>
            </a:endParaRPr>
          </a:p>
        </p:txBody>
      </p:sp>
      <p:sp>
        <p:nvSpPr>
          <p:cNvPr id="1458" name="Google Shape;1458;p38"/>
          <p:cNvSpPr/>
          <p:nvPr/>
        </p:nvSpPr>
        <p:spPr>
          <a:xfrm>
            <a:off x="13449300" y="2647950"/>
            <a:ext cx="4076700" cy="828600"/>
          </a:xfrm>
          <a:prstGeom prst="roundRect">
            <a:avLst>
              <a:gd fmla="val 11494"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8"/>
          <p:cNvSpPr/>
          <p:nvPr/>
        </p:nvSpPr>
        <p:spPr>
          <a:xfrm>
            <a:off x="13371195" y="2762250"/>
            <a:ext cx="4233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Zone 3 (thấp nhất)</a:t>
            </a:r>
            <a:endParaRPr b="0" i="0" sz="1800" u="none" cap="none" strike="noStrike">
              <a:solidFill>
                <a:schemeClr val="dk1"/>
              </a:solidFill>
              <a:latin typeface="Calibri"/>
              <a:ea typeface="Calibri"/>
              <a:cs typeface="Calibri"/>
              <a:sym typeface="Calibri"/>
            </a:endParaRPr>
          </a:p>
        </p:txBody>
      </p:sp>
      <p:sp>
        <p:nvSpPr>
          <p:cNvPr id="1460" name="Google Shape;1460;p38"/>
          <p:cNvSpPr/>
          <p:nvPr/>
        </p:nvSpPr>
        <p:spPr>
          <a:xfrm>
            <a:off x="13371195" y="3028950"/>
            <a:ext cx="42330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45.8K</a:t>
            </a:r>
            <a:endParaRPr b="0" i="0" sz="2100" u="none" cap="none" strike="noStrike">
              <a:solidFill>
                <a:schemeClr val="dk1"/>
              </a:solidFill>
              <a:latin typeface="Calibri"/>
              <a:ea typeface="Calibri"/>
              <a:cs typeface="Calibri"/>
              <a:sym typeface="Calibri"/>
            </a:endParaRPr>
          </a:p>
        </p:txBody>
      </p:sp>
      <p:sp>
        <p:nvSpPr>
          <p:cNvPr id="1461" name="Google Shape;1461;p38"/>
          <p:cNvSpPr/>
          <p:nvPr/>
        </p:nvSpPr>
        <p:spPr>
          <a:xfrm>
            <a:off x="9258300" y="3590925"/>
            <a:ext cx="8267700" cy="800100"/>
          </a:xfrm>
          <a:prstGeom prst="roundRect">
            <a:avLst>
              <a:gd fmla="val 14286"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8"/>
          <p:cNvSpPr/>
          <p:nvPr/>
        </p:nvSpPr>
        <p:spPr>
          <a:xfrm>
            <a:off x="9429750" y="3724275"/>
            <a:ext cx="817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EPH phân hóa giữa các zone; Zone 3 giảm mạnh -4.4% WoW, cần ưu tiên theo dõi. Zone 1, 2, 4 duy trì ổn định.</a:t>
            </a:r>
            <a:endParaRPr b="0" i="0" sz="1800" u="none" cap="none" strike="noStrike">
              <a:solidFill>
                <a:schemeClr val="dk1"/>
              </a:solidFill>
              <a:latin typeface="Calibri"/>
              <a:ea typeface="Calibri"/>
              <a:cs typeface="Calibri"/>
              <a:sym typeface="Calibri"/>
            </a:endParaRPr>
          </a:p>
        </p:txBody>
      </p:sp>
      <p:sp>
        <p:nvSpPr>
          <p:cNvPr id="1463" name="Google Shape;1463;p38"/>
          <p:cNvSpPr/>
          <p:nvPr/>
        </p:nvSpPr>
        <p:spPr>
          <a:xfrm>
            <a:off x="9258300" y="4562475"/>
            <a:ext cx="9094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Leader Team (Z2&amp;Z4 vs Z136)</a:t>
            </a:r>
            <a:endParaRPr b="0" i="0" sz="1800" u="none" cap="none" strike="noStrike">
              <a:solidFill>
                <a:schemeClr val="dk1"/>
              </a:solidFill>
              <a:latin typeface="Calibri"/>
              <a:ea typeface="Calibri"/>
              <a:cs typeface="Calibri"/>
              <a:sym typeface="Calibri"/>
            </a:endParaRPr>
          </a:p>
        </p:txBody>
      </p:sp>
      <p:sp>
        <p:nvSpPr>
          <p:cNvPr id="1464" name="Google Shape;1464;p38"/>
          <p:cNvSpPr/>
          <p:nvPr/>
        </p:nvSpPr>
        <p:spPr>
          <a:xfrm>
            <a:off x="9258300" y="4962525"/>
            <a:ext cx="8267700" cy="1352700"/>
          </a:xfrm>
          <a:prstGeom prst="roundRect">
            <a:avLst>
              <a:gd fmla="val 845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8"/>
          <p:cNvSpPr/>
          <p:nvPr/>
        </p:nvSpPr>
        <p:spPr>
          <a:xfrm>
            <a:off x="9429750" y="5095875"/>
            <a:ext cx="8172900" cy="1124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highlight>
                  <a:srgbClr val="FFF3EB"/>
                </a:highlight>
                <a:latin typeface="Roboto"/>
                <a:ea typeface="Roboto"/>
                <a:cs typeface="Roboto"/>
                <a:sym typeface="Roboto"/>
              </a:rPr>
              <a:t>Chất lượng duy trì &gt;95% target, TX vẫn đăng ký ca vượt trội. </a:t>
            </a:r>
            <a:r>
              <a:rPr b="1" i="0" lang="en-US" sz="1800" u="none" cap="none" strike="noStrike">
                <a:solidFill>
                  <a:srgbClr val="121619"/>
                </a:solidFill>
                <a:latin typeface="Roboto"/>
                <a:ea typeface="Roboto"/>
                <a:cs typeface="Roboto"/>
                <a:sym typeface="Roboto"/>
              </a:rPr>
              <a:t>Next action: </a:t>
            </a:r>
            <a:r>
              <a:rPr b="0" i="0" lang="en-US" sz="1800" u="none" cap="none" strike="noStrike">
                <a:solidFill>
                  <a:srgbClr val="121619"/>
                </a:solidFill>
                <a:highlight>
                  <a:srgbClr val="FFF3EB"/>
                </a:highlight>
                <a:latin typeface="Roboto"/>
                <a:ea typeface="Roboto"/>
                <a:cs typeface="Roboto"/>
                <a:sym typeface="Roboto"/>
              </a:rPr>
              <a:t>Chăm sóc lứa TX mới Z136, plan vận hành Zone 24, đánh giá &amp; propose next phase. </a:t>
            </a:r>
            <a:r>
              <a:rPr b="0" i="1" lang="en-US" sz="1800" u="none" cap="none" strike="noStrike">
                <a:solidFill>
                  <a:srgbClr val="121619"/>
                </a:solidFill>
                <a:latin typeface="Roboto"/>
                <a:ea typeface="Roboto"/>
                <a:cs typeface="Roboto"/>
                <a:sym typeface="Roboto"/>
              </a:rPr>
              <a:t>Driver voice: TX phải di chuyển ra ngoài zone cho tiện đường → không ghi nhận online → giảm tiền thưởng.</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0" name="Shape 1470"/>
        <p:cNvGrpSpPr/>
        <p:nvPr/>
      </p:nvGrpSpPr>
      <p:grpSpPr>
        <a:xfrm>
          <a:off x="0" y="0"/>
          <a:ext cx="0" cy="0"/>
          <a:chOff x="0" y="0"/>
          <a:chExt cx="0" cy="0"/>
        </a:xfrm>
      </p:grpSpPr>
      <p:sp>
        <p:nvSpPr>
          <p:cNvPr id="1471" name="Google Shape;1471;p39"/>
          <p:cNvSpPr/>
          <p:nvPr/>
        </p:nvSpPr>
        <p:spPr>
          <a:xfrm>
            <a:off x="762000" y="4572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CITYZONE — REVIEW TÌNH HÌNH</a:t>
            </a:r>
            <a:endParaRPr b="0" i="0" sz="3300" u="none" cap="none" strike="noStrike">
              <a:solidFill>
                <a:schemeClr val="dk1"/>
              </a:solidFill>
              <a:latin typeface="Calibri"/>
              <a:ea typeface="Calibri"/>
              <a:cs typeface="Calibri"/>
              <a:sym typeface="Calibri"/>
            </a:endParaRPr>
          </a:p>
        </p:txBody>
      </p:sp>
      <p:sp>
        <p:nvSpPr>
          <p:cNvPr id="1472" name="Google Shape;1472;p39"/>
          <p:cNvSpPr/>
          <p:nvPr/>
        </p:nvSpPr>
        <p:spPr>
          <a:xfrm>
            <a:off x="762000" y="9906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Active Hub Funnel · Hiệu suất theo ca · Retention tài xế</a:t>
            </a:r>
            <a:endParaRPr b="0" i="0" sz="1950" u="none" cap="none" strike="noStrike">
              <a:solidFill>
                <a:schemeClr val="dk1"/>
              </a:solidFill>
              <a:latin typeface="Calibri"/>
              <a:ea typeface="Calibri"/>
              <a:cs typeface="Calibri"/>
              <a:sym typeface="Calibri"/>
            </a:endParaRPr>
          </a:p>
        </p:txBody>
      </p:sp>
      <p:sp>
        <p:nvSpPr>
          <p:cNvPr id="1473" name="Google Shape;1473;p39"/>
          <p:cNvSpPr/>
          <p:nvPr/>
        </p:nvSpPr>
        <p:spPr>
          <a:xfrm>
            <a:off x="762000" y="13716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9"/>
          <p:cNvSpPr/>
          <p:nvPr/>
        </p:nvSpPr>
        <p:spPr>
          <a:xfrm>
            <a:off x="952500" y="14859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475" name="Google Shape;1475;p39"/>
          <p:cNvSpPr/>
          <p:nvPr/>
        </p:nvSpPr>
        <p:spPr>
          <a:xfrm>
            <a:off x="3157240" y="1495425"/>
            <a:ext cx="90042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39% ca no-show/hủy vẫn phát sinh đơn — vấn đề là UX check-in, không phải tài xế lười.</a:t>
            </a:r>
            <a:endParaRPr b="0" i="0" sz="1800" u="none" cap="none" strike="noStrike">
              <a:solidFill>
                <a:schemeClr val="dk1"/>
              </a:solidFill>
              <a:latin typeface="Calibri"/>
              <a:ea typeface="Calibri"/>
              <a:cs typeface="Calibri"/>
              <a:sym typeface="Calibri"/>
            </a:endParaRPr>
          </a:p>
        </p:txBody>
      </p:sp>
      <p:sp>
        <p:nvSpPr>
          <p:cNvPr id="1476" name="Google Shape;1476;p39"/>
          <p:cNvSpPr/>
          <p:nvPr/>
        </p:nvSpPr>
        <p:spPr>
          <a:xfrm>
            <a:off x="762000" y="2038350"/>
            <a:ext cx="3261300" cy="809700"/>
          </a:xfrm>
          <a:prstGeom prst="roundRect">
            <a:avLst>
              <a:gd fmla="val 117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9"/>
          <p:cNvSpPr/>
          <p:nvPr/>
        </p:nvSpPr>
        <p:spPr>
          <a:xfrm>
            <a:off x="724666" y="2152650"/>
            <a:ext cx="333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Đăng ký</a:t>
            </a:r>
            <a:endParaRPr b="0" i="0" sz="1800" u="none" cap="none" strike="noStrike">
              <a:solidFill>
                <a:schemeClr val="dk1"/>
              </a:solidFill>
              <a:latin typeface="Calibri"/>
              <a:ea typeface="Calibri"/>
              <a:cs typeface="Calibri"/>
              <a:sym typeface="Calibri"/>
            </a:endParaRPr>
          </a:p>
        </p:txBody>
      </p:sp>
      <p:sp>
        <p:nvSpPr>
          <p:cNvPr id="1478" name="Google Shape;1478;p39"/>
          <p:cNvSpPr/>
          <p:nvPr/>
        </p:nvSpPr>
        <p:spPr>
          <a:xfrm>
            <a:off x="724666" y="2419350"/>
            <a:ext cx="33360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506</a:t>
            </a:r>
            <a:endParaRPr b="0" i="0" sz="1950" u="none" cap="none" strike="noStrike">
              <a:solidFill>
                <a:schemeClr val="dk1"/>
              </a:solidFill>
              <a:latin typeface="Calibri"/>
              <a:ea typeface="Calibri"/>
              <a:cs typeface="Calibri"/>
              <a:sym typeface="Calibri"/>
            </a:endParaRPr>
          </a:p>
        </p:txBody>
      </p:sp>
      <p:sp>
        <p:nvSpPr>
          <p:cNvPr id="1479" name="Google Shape;1479;p39"/>
          <p:cNvSpPr/>
          <p:nvPr/>
        </p:nvSpPr>
        <p:spPr>
          <a:xfrm>
            <a:off x="4137571" y="2038350"/>
            <a:ext cx="3261300" cy="809700"/>
          </a:xfrm>
          <a:prstGeom prst="roundRect">
            <a:avLst>
              <a:gd fmla="val 117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9"/>
          <p:cNvSpPr/>
          <p:nvPr/>
        </p:nvSpPr>
        <p:spPr>
          <a:xfrm>
            <a:off x="4100230" y="2152650"/>
            <a:ext cx="333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Hủy ca</a:t>
            </a:r>
            <a:endParaRPr b="0" i="0" sz="1800" u="none" cap="none" strike="noStrike">
              <a:solidFill>
                <a:schemeClr val="dk1"/>
              </a:solidFill>
              <a:latin typeface="Calibri"/>
              <a:ea typeface="Calibri"/>
              <a:cs typeface="Calibri"/>
              <a:sym typeface="Calibri"/>
            </a:endParaRPr>
          </a:p>
        </p:txBody>
      </p:sp>
      <p:sp>
        <p:nvSpPr>
          <p:cNvPr id="1481" name="Google Shape;1481;p39"/>
          <p:cNvSpPr/>
          <p:nvPr/>
        </p:nvSpPr>
        <p:spPr>
          <a:xfrm>
            <a:off x="4100230" y="2419350"/>
            <a:ext cx="33360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18.0%</a:t>
            </a:r>
            <a:endParaRPr b="0" i="0" sz="1950" u="none" cap="none" strike="noStrike">
              <a:solidFill>
                <a:schemeClr val="dk1"/>
              </a:solidFill>
              <a:latin typeface="Calibri"/>
              <a:ea typeface="Calibri"/>
              <a:cs typeface="Calibri"/>
              <a:sym typeface="Calibri"/>
            </a:endParaRPr>
          </a:p>
        </p:txBody>
      </p:sp>
      <p:sp>
        <p:nvSpPr>
          <p:cNvPr id="1482" name="Google Shape;1482;p39"/>
          <p:cNvSpPr/>
          <p:nvPr/>
        </p:nvSpPr>
        <p:spPr>
          <a:xfrm>
            <a:off x="7513290" y="2038350"/>
            <a:ext cx="3261300" cy="809700"/>
          </a:xfrm>
          <a:prstGeom prst="roundRect">
            <a:avLst>
              <a:gd fmla="val 117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9"/>
          <p:cNvSpPr/>
          <p:nvPr/>
        </p:nvSpPr>
        <p:spPr>
          <a:xfrm>
            <a:off x="7475957" y="2152650"/>
            <a:ext cx="333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No-show</a:t>
            </a:r>
            <a:endParaRPr b="0" i="0" sz="1800" u="none" cap="none" strike="noStrike">
              <a:solidFill>
                <a:schemeClr val="dk1"/>
              </a:solidFill>
              <a:latin typeface="Calibri"/>
              <a:ea typeface="Calibri"/>
              <a:cs typeface="Calibri"/>
              <a:sym typeface="Calibri"/>
            </a:endParaRPr>
          </a:p>
        </p:txBody>
      </p:sp>
      <p:sp>
        <p:nvSpPr>
          <p:cNvPr id="1484" name="Google Shape;1484;p39"/>
          <p:cNvSpPr/>
          <p:nvPr/>
        </p:nvSpPr>
        <p:spPr>
          <a:xfrm>
            <a:off x="7475957" y="2419350"/>
            <a:ext cx="33360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32.2%</a:t>
            </a:r>
            <a:endParaRPr b="0" i="0" sz="1950" u="none" cap="none" strike="noStrike">
              <a:solidFill>
                <a:schemeClr val="dk1"/>
              </a:solidFill>
              <a:latin typeface="Calibri"/>
              <a:ea typeface="Calibri"/>
              <a:cs typeface="Calibri"/>
              <a:sym typeface="Calibri"/>
            </a:endParaRPr>
          </a:p>
        </p:txBody>
      </p:sp>
      <p:sp>
        <p:nvSpPr>
          <p:cNvPr id="1485" name="Google Shape;1485;p39"/>
          <p:cNvSpPr/>
          <p:nvPr/>
        </p:nvSpPr>
        <p:spPr>
          <a:xfrm>
            <a:off x="10888861" y="2038350"/>
            <a:ext cx="3261300" cy="809700"/>
          </a:xfrm>
          <a:prstGeom prst="roundRect">
            <a:avLst>
              <a:gd fmla="val 117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9"/>
          <p:cNvSpPr/>
          <p:nvPr/>
        </p:nvSpPr>
        <p:spPr>
          <a:xfrm>
            <a:off x="10851520" y="2152650"/>
            <a:ext cx="333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Check-in</a:t>
            </a:r>
            <a:endParaRPr b="0" i="0" sz="1800" u="none" cap="none" strike="noStrike">
              <a:solidFill>
                <a:schemeClr val="dk1"/>
              </a:solidFill>
              <a:latin typeface="Calibri"/>
              <a:ea typeface="Calibri"/>
              <a:cs typeface="Calibri"/>
              <a:sym typeface="Calibri"/>
            </a:endParaRPr>
          </a:p>
        </p:txBody>
      </p:sp>
      <p:sp>
        <p:nvSpPr>
          <p:cNvPr id="1487" name="Google Shape;1487;p39"/>
          <p:cNvSpPr/>
          <p:nvPr/>
        </p:nvSpPr>
        <p:spPr>
          <a:xfrm>
            <a:off x="10851520" y="2419350"/>
            <a:ext cx="33360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49.8%</a:t>
            </a:r>
            <a:endParaRPr b="0" i="0" sz="1950" u="none" cap="none" strike="noStrike">
              <a:solidFill>
                <a:schemeClr val="dk1"/>
              </a:solidFill>
              <a:latin typeface="Calibri"/>
              <a:ea typeface="Calibri"/>
              <a:cs typeface="Calibri"/>
              <a:sym typeface="Calibri"/>
            </a:endParaRPr>
          </a:p>
        </p:txBody>
      </p:sp>
      <p:sp>
        <p:nvSpPr>
          <p:cNvPr id="1488" name="Google Shape;1488;p39"/>
          <p:cNvSpPr/>
          <p:nvPr/>
        </p:nvSpPr>
        <p:spPr>
          <a:xfrm>
            <a:off x="14264580" y="2038350"/>
            <a:ext cx="3261300" cy="809700"/>
          </a:xfrm>
          <a:prstGeom prst="roundRect">
            <a:avLst>
              <a:gd fmla="val 117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9"/>
          <p:cNvSpPr/>
          <p:nvPr/>
        </p:nvSpPr>
        <p:spPr>
          <a:xfrm>
            <a:off x="14227247" y="2152650"/>
            <a:ext cx="333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Check-in có đơn</a:t>
            </a:r>
            <a:endParaRPr b="0" i="0" sz="1800" u="none" cap="none" strike="noStrike">
              <a:solidFill>
                <a:schemeClr val="dk1"/>
              </a:solidFill>
              <a:latin typeface="Calibri"/>
              <a:ea typeface="Calibri"/>
              <a:cs typeface="Calibri"/>
              <a:sym typeface="Calibri"/>
            </a:endParaRPr>
          </a:p>
        </p:txBody>
      </p:sp>
      <p:sp>
        <p:nvSpPr>
          <p:cNvPr id="1490" name="Google Shape;1490;p39"/>
          <p:cNvSpPr/>
          <p:nvPr/>
        </p:nvSpPr>
        <p:spPr>
          <a:xfrm>
            <a:off x="14227247" y="2419350"/>
            <a:ext cx="33360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45.7%</a:t>
            </a:r>
            <a:endParaRPr b="0" i="0" sz="1950" u="none" cap="none" strike="noStrike">
              <a:solidFill>
                <a:schemeClr val="dk1"/>
              </a:solidFill>
              <a:latin typeface="Calibri"/>
              <a:ea typeface="Calibri"/>
              <a:cs typeface="Calibri"/>
              <a:sym typeface="Calibri"/>
            </a:endParaRPr>
          </a:p>
        </p:txBody>
      </p:sp>
      <p:sp>
        <p:nvSpPr>
          <p:cNvPr id="1491" name="Google Shape;1491;p39"/>
          <p:cNvSpPr/>
          <p:nvPr/>
        </p:nvSpPr>
        <p:spPr>
          <a:xfrm>
            <a:off x="762000" y="3000375"/>
            <a:ext cx="16764000" cy="800100"/>
          </a:xfrm>
          <a:prstGeom prst="roundRect">
            <a:avLst>
              <a:gd fmla="val 14286" name="adj"/>
            </a:avLst>
          </a:pr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9"/>
          <p:cNvSpPr/>
          <p:nvPr/>
        </p:nvSpPr>
        <p:spPr>
          <a:xfrm>
            <a:off x="933450" y="3133725"/>
            <a:ext cx="16923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highlight>
                  <a:srgbClr val="FFF8E1"/>
                </a:highlight>
                <a:latin typeface="Roboto"/>
                <a:ea typeface="Roboto"/>
                <a:cs typeface="Roboto"/>
                <a:sym typeface="Roboto"/>
              </a:rPr>
              <a:t>39% ca no-show/hủy (99/254) vẫn có đơn hoàn thành trong khung giờ (401 đơn = 25.6% tổng) — năng suất gần bằng nhóm check-in. </a:t>
            </a:r>
            <a:r>
              <a:rPr b="1" i="0" lang="en-US" sz="1800" u="none" cap="none" strike="noStrike">
                <a:solidFill>
                  <a:srgbClr val="121619"/>
                </a:solidFill>
                <a:latin typeface="Roboto"/>
                <a:ea typeface="Roboto"/>
                <a:cs typeface="Roboto"/>
                <a:sym typeface="Roboto"/>
              </a:rPr>
              <a:t>Không phải vấn đề TX lười, mà là UX/nhận biết thao tác check-in.</a:t>
            </a:r>
            <a:endParaRPr b="0" i="0" sz="1800" u="none" cap="none" strike="noStrike">
              <a:solidFill>
                <a:schemeClr val="dk1"/>
              </a:solidFill>
              <a:latin typeface="Calibri"/>
              <a:ea typeface="Calibri"/>
              <a:cs typeface="Calibri"/>
              <a:sym typeface="Calibri"/>
            </a:endParaRPr>
          </a:p>
        </p:txBody>
      </p:sp>
      <p:sp>
        <p:nvSpPr>
          <p:cNvPr id="1493" name="Google Shape;1493;p39"/>
          <p:cNvSpPr/>
          <p:nvPr/>
        </p:nvSpPr>
        <p:spPr>
          <a:xfrm>
            <a:off x="762000" y="3952875"/>
            <a:ext cx="91155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Hiệu suất theo ca (252 ca check-in)</a:t>
            </a:r>
            <a:endParaRPr b="0" i="0" sz="1950" u="none" cap="none" strike="noStrike">
              <a:solidFill>
                <a:schemeClr val="dk1"/>
              </a:solidFill>
              <a:latin typeface="Calibri"/>
              <a:ea typeface="Calibri"/>
              <a:cs typeface="Calibri"/>
              <a:sym typeface="Calibri"/>
            </a:endParaRPr>
          </a:p>
        </p:txBody>
      </p:sp>
      <p:sp>
        <p:nvSpPr>
          <p:cNvPr id="1494" name="Google Shape;1494;p39"/>
          <p:cNvSpPr/>
          <p:nvPr/>
        </p:nvSpPr>
        <p:spPr>
          <a:xfrm>
            <a:off x="762000" y="4362450"/>
            <a:ext cx="8286900" cy="4191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9"/>
          <p:cNvSpPr/>
          <p:nvPr/>
        </p:nvSpPr>
        <p:spPr>
          <a:xfrm>
            <a:off x="857250" y="4438650"/>
            <a:ext cx="34320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Ca</a:t>
            </a:r>
            <a:endParaRPr b="0" i="0" sz="1800" u="none" cap="none" strike="noStrike">
              <a:solidFill>
                <a:schemeClr val="dk1"/>
              </a:solidFill>
              <a:latin typeface="Calibri"/>
              <a:ea typeface="Calibri"/>
              <a:cs typeface="Calibri"/>
              <a:sym typeface="Calibri"/>
            </a:endParaRPr>
          </a:p>
        </p:txBody>
      </p:sp>
      <p:sp>
        <p:nvSpPr>
          <p:cNvPr id="1496" name="Google Shape;1496;p39"/>
          <p:cNvSpPr/>
          <p:nvPr/>
        </p:nvSpPr>
        <p:spPr>
          <a:xfrm>
            <a:off x="4335249" y="4438650"/>
            <a:ext cx="24846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Check-in</a:t>
            </a:r>
            <a:endParaRPr b="0" i="0" sz="1800" u="none" cap="none" strike="noStrike">
              <a:solidFill>
                <a:schemeClr val="dk1"/>
              </a:solidFill>
              <a:latin typeface="Calibri"/>
              <a:ea typeface="Calibri"/>
              <a:cs typeface="Calibri"/>
              <a:sym typeface="Calibri"/>
            </a:endParaRPr>
          </a:p>
        </p:txBody>
      </p:sp>
      <p:sp>
        <p:nvSpPr>
          <p:cNvPr id="1497" name="Google Shape;1497;p39"/>
          <p:cNvSpPr/>
          <p:nvPr/>
        </p:nvSpPr>
        <p:spPr>
          <a:xfrm>
            <a:off x="6933307" y="4438650"/>
            <a:ext cx="20583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Đơn/ca</a:t>
            </a:r>
            <a:endParaRPr b="0" i="0" sz="1800" u="none" cap="none" strike="noStrike">
              <a:solidFill>
                <a:schemeClr val="dk1"/>
              </a:solidFill>
              <a:latin typeface="Calibri"/>
              <a:ea typeface="Calibri"/>
              <a:cs typeface="Calibri"/>
              <a:sym typeface="Calibri"/>
            </a:endParaRPr>
          </a:p>
        </p:txBody>
      </p:sp>
      <p:sp>
        <p:nvSpPr>
          <p:cNvPr id="1498" name="Google Shape;1498;p39"/>
          <p:cNvSpPr/>
          <p:nvPr/>
        </p:nvSpPr>
        <p:spPr>
          <a:xfrm>
            <a:off x="762000" y="5195888"/>
            <a:ext cx="82869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9"/>
          <p:cNvSpPr/>
          <p:nvPr/>
        </p:nvSpPr>
        <p:spPr>
          <a:xfrm>
            <a:off x="857250" y="4857750"/>
            <a:ext cx="34320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08:00–12:00</a:t>
            </a:r>
            <a:endParaRPr b="0" i="0" sz="1800" u="none" cap="none" strike="noStrike">
              <a:solidFill>
                <a:schemeClr val="dk1"/>
              </a:solidFill>
              <a:latin typeface="Calibri"/>
              <a:ea typeface="Calibri"/>
              <a:cs typeface="Calibri"/>
              <a:sym typeface="Calibri"/>
            </a:endParaRPr>
          </a:p>
        </p:txBody>
      </p:sp>
      <p:sp>
        <p:nvSpPr>
          <p:cNvPr id="1500" name="Google Shape;1500;p39"/>
          <p:cNvSpPr/>
          <p:nvPr/>
        </p:nvSpPr>
        <p:spPr>
          <a:xfrm>
            <a:off x="4249524" y="4791075"/>
            <a:ext cx="26562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63.2%</a:t>
            </a:r>
            <a:endParaRPr b="0" i="0" sz="1800" u="none" cap="none" strike="noStrike">
              <a:solidFill>
                <a:schemeClr val="dk1"/>
              </a:solidFill>
              <a:latin typeface="Calibri"/>
              <a:ea typeface="Calibri"/>
              <a:cs typeface="Calibri"/>
              <a:sym typeface="Calibri"/>
            </a:endParaRPr>
          </a:p>
        </p:txBody>
      </p:sp>
      <p:sp>
        <p:nvSpPr>
          <p:cNvPr id="1501" name="Google Shape;1501;p39"/>
          <p:cNvSpPr/>
          <p:nvPr/>
        </p:nvSpPr>
        <p:spPr>
          <a:xfrm>
            <a:off x="6847582" y="4791075"/>
            <a:ext cx="22296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6.25</a:t>
            </a:r>
            <a:endParaRPr b="0" i="0" sz="1800" u="none" cap="none" strike="noStrike">
              <a:solidFill>
                <a:schemeClr val="dk1"/>
              </a:solidFill>
              <a:latin typeface="Calibri"/>
              <a:ea typeface="Calibri"/>
              <a:cs typeface="Calibri"/>
              <a:sym typeface="Calibri"/>
            </a:endParaRPr>
          </a:p>
        </p:txBody>
      </p:sp>
      <p:sp>
        <p:nvSpPr>
          <p:cNvPr id="1502" name="Google Shape;1502;p39"/>
          <p:cNvSpPr/>
          <p:nvPr/>
        </p:nvSpPr>
        <p:spPr>
          <a:xfrm>
            <a:off x="762000" y="5205413"/>
            <a:ext cx="8286900" cy="4287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9"/>
          <p:cNvSpPr/>
          <p:nvPr/>
        </p:nvSpPr>
        <p:spPr>
          <a:xfrm>
            <a:off x="762000" y="5624513"/>
            <a:ext cx="82869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9"/>
          <p:cNvSpPr/>
          <p:nvPr/>
        </p:nvSpPr>
        <p:spPr>
          <a:xfrm>
            <a:off x="857250" y="5281612"/>
            <a:ext cx="34320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14:00–17:00</a:t>
            </a:r>
            <a:endParaRPr b="0" i="0" sz="1800" u="none" cap="none" strike="noStrike">
              <a:solidFill>
                <a:schemeClr val="dk1"/>
              </a:solidFill>
              <a:latin typeface="Calibri"/>
              <a:ea typeface="Calibri"/>
              <a:cs typeface="Calibri"/>
              <a:sym typeface="Calibri"/>
            </a:endParaRPr>
          </a:p>
        </p:txBody>
      </p:sp>
      <p:sp>
        <p:nvSpPr>
          <p:cNvPr id="1505" name="Google Shape;1505;p39"/>
          <p:cNvSpPr/>
          <p:nvPr/>
        </p:nvSpPr>
        <p:spPr>
          <a:xfrm>
            <a:off x="4249524" y="5214938"/>
            <a:ext cx="26562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54.9%</a:t>
            </a:r>
            <a:endParaRPr b="0" i="0" sz="1800" u="none" cap="none" strike="noStrike">
              <a:solidFill>
                <a:schemeClr val="dk1"/>
              </a:solidFill>
              <a:latin typeface="Calibri"/>
              <a:ea typeface="Calibri"/>
              <a:cs typeface="Calibri"/>
              <a:sym typeface="Calibri"/>
            </a:endParaRPr>
          </a:p>
        </p:txBody>
      </p:sp>
      <p:sp>
        <p:nvSpPr>
          <p:cNvPr id="1506" name="Google Shape;1506;p39"/>
          <p:cNvSpPr/>
          <p:nvPr/>
        </p:nvSpPr>
        <p:spPr>
          <a:xfrm>
            <a:off x="6847582" y="5214938"/>
            <a:ext cx="2229600" cy="4476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4.84</a:t>
            </a:r>
            <a:endParaRPr b="0" i="0" sz="1800" u="none" cap="none" strike="noStrike">
              <a:solidFill>
                <a:schemeClr val="dk1"/>
              </a:solidFill>
              <a:latin typeface="Calibri"/>
              <a:ea typeface="Calibri"/>
              <a:cs typeface="Calibri"/>
              <a:sym typeface="Calibri"/>
            </a:endParaRPr>
          </a:p>
        </p:txBody>
      </p:sp>
      <p:sp>
        <p:nvSpPr>
          <p:cNvPr id="1507" name="Google Shape;1507;p39"/>
          <p:cNvSpPr/>
          <p:nvPr/>
        </p:nvSpPr>
        <p:spPr>
          <a:xfrm>
            <a:off x="857250" y="5710237"/>
            <a:ext cx="34320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18:00–20:00</a:t>
            </a:r>
            <a:endParaRPr b="0" i="0" sz="1800" u="none" cap="none" strike="noStrike">
              <a:solidFill>
                <a:schemeClr val="dk1"/>
              </a:solidFill>
              <a:latin typeface="Calibri"/>
              <a:ea typeface="Calibri"/>
              <a:cs typeface="Calibri"/>
              <a:sym typeface="Calibri"/>
            </a:endParaRPr>
          </a:p>
        </p:txBody>
      </p:sp>
      <p:sp>
        <p:nvSpPr>
          <p:cNvPr id="1508" name="Google Shape;1508;p39"/>
          <p:cNvSpPr/>
          <p:nvPr/>
        </p:nvSpPr>
        <p:spPr>
          <a:xfrm>
            <a:off x="4249524" y="5643563"/>
            <a:ext cx="26562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23.7%</a:t>
            </a:r>
            <a:endParaRPr b="0" i="0" sz="1800" u="none" cap="none" strike="noStrike">
              <a:solidFill>
                <a:schemeClr val="dk1"/>
              </a:solidFill>
              <a:latin typeface="Calibri"/>
              <a:ea typeface="Calibri"/>
              <a:cs typeface="Calibri"/>
              <a:sym typeface="Calibri"/>
            </a:endParaRPr>
          </a:p>
        </p:txBody>
      </p:sp>
      <p:sp>
        <p:nvSpPr>
          <p:cNvPr id="1509" name="Google Shape;1509;p39"/>
          <p:cNvSpPr/>
          <p:nvPr/>
        </p:nvSpPr>
        <p:spPr>
          <a:xfrm>
            <a:off x="6847582" y="5643563"/>
            <a:ext cx="22296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2.26</a:t>
            </a:r>
            <a:endParaRPr b="0" i="0" sz="1800" u="none" cap="none" strike="noStrike">
              <a:solidFill>
                <a:schemeClr val="dk1"/>
              </a:solidFill>
              <a:latin typeface="Calibri"/>
              <a:ea typeface="Calibri"/>
              <a:cs typeface="Calibri"/>
              <a:sym typeface="Calibri"/>
            </a:endParaRPr>
          </a:p>
        </p:txBody>
      </p:sp>
      <p:sp>
        <p:nvSpPr>
          <p:cNvPr id="1510" name="Google Shape;1510;p39"/>
          <p:cNvSpPr/>
          <p:nvPr/>
        </p:nvSpPr>
        <p:spPr>
          <a:xfrm>
            <a:off x="762000" y="6153150"/>
            <a:ext cx="91155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Ca sáng 08:00–12:00 tốt nhất — gấp 2.8 lần ca tối 18:00–20:00.</a:t>
            </a:r>
            <a:endParaRPr b="0" i="0" sz="1800" u="none" cap="none" strike="noStrike">
              <a:solidFill>
                <a:schemeClr val="dk1"/>
              </a:solidFill>
              <a:latin typeface="Calibri"/>
              <a:ea typeface="Calibri"/>
              <a:cs typeface="Calibri"/>
              <a:sym typeface="Calibri"/>
            </a:endParaRPr>
          </a:p>
        </p:txBody>
      </p:sp>
      <p:sp>
        <p:nvSpPr>
          <p:cNvPr id="1511" name="Google Shape;1511;p39"/>
          <p:cNvSpPr/>
          <p:nvPr/>
        </p:nvSpPr>
        <p:spPr>
          <a:xfrm>
            <a:off x="9239250" y="3952875"/>
            <a:ext cx="91155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Retention tài xế hub</a:t>
            </a:r>
            <a:endParaRPr b="0" i="0" sz="1950" u="none" cap="none" strike="noStrike">
              <a:solidFill>
                <a:schemeClr val="dk1"/>
              </a:solidFill>
              <a:latin typeface="Calibri"/>
              <a:ea typeface="Calibri"/>
              <a:cs typeface="Calibri"/>
              <a:sym typeface="Calibri"/>
            </a:endParaRPr>
          </a:p>
        </p:txBody>
      </p:sp>
      <p:sp>
        <p:nvSpPr>
          <p:cNvPr id="1512" name="Google Shape;1512;p39"/>
          <p:cNvSpPr/>
          <p:nvPr/>
        </p:nvSpPr>
        <p:spPr>
          <a:xfrm>
            <a:off x="9239250" y="4362450"/>
            <a:ext cx="4095900" cy="828600"/>
          </a:xfrm>
          <a:prstGeom prst="roundRect">
            <a:avLst>
              <a:gd fmla="val 11494"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9"/>
          <p:cNvSpPr/>
          <p:nvPr/>
        </p:nvSpPr>
        <p:spPr>
          <a:xfrm>
            <a:off x="9160193" y="4476750"/>
            <a:ext cx="42540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55.8%</a:t>
            </a:r>
            <a:endParaRPr b="0" i="0" sz="2100" u="none" cap="none" strike="noStrike">
              <a:solidFill>
                <a:schemeClr val="dk1"/>
              </a:solidFill>
              <a:latin typeface="Calibri"/>
              <a:ea typeface="Calibri"/>
              <a:cs typeface="Calibri"/>
              <a:sym typeface="Calibri"/>
            </a:endParaRPr>
          </a:p>
        </p:txBody>
      </p:sp>
      <p:sp>
        <p:nvSpPr>
          <p:cNvPr id="1514" name="Google Shape;1514;p39"/>
          <p:cNvSpPr/>
          <p:nvPr/>
        </p:nvSpPr>
        <p:spPr>
          <a:xfrm>
            <a:off x="9160193" y="4810125"/>
            <a:ext cx="4254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Chạy 1 ca rồi thôi</a:t>
            </a:r>
            <a:endParaRPr b="0" i="0" sz="1800" u="none" cap="none" strike="noStrike">
              <a:solidFill>
                <a:schemeClr val="dk1"/>
              </a:solidFill>
              <a:latin typeface="Calibri"/>
              <a:ea typeface="Calibri"/>
              <a:cs typeface="Calibri"/>
              <a:sym typeface="Calibri"/>
            </a:endParaRPr>
          </a:p>
        </p:txBody>
      </p:sp>
      <p:sp>
        <p:nvSpPr>
          <p:cNvPr id="1515" name="Google Shape;1515;p39"/>
          <p:cNvSpPr/>
          <p:nvPr/>
        </p:nvSpPr>
        <p:spPr>
          <a:xfrm>
            <a:off x="13430250" y="4362450"/>
            <a:ext cx="4095900" cy="828600"/>
          </a:xfrm>
          <a:prstGeom prst="roundRect">
            <a:avLst>
              <a:gd fmla="val 11494"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9"/>
          <p:cNvSpPr/>
          <p:nvPr/>
        </p:nvSpPr>
        <p:spPr>
          <a:xfrm>
            <a:off x="13351193" y="4476750"/>
            <a:ext cx="42540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44.2%</a:t>
            </a:r>
            <a:endParaRPr b="0" i="0" sz="2100" u="none" cap="none" strike="noStrike">
              <a:solidFill>
                <a:schemeClr val="dk1"/>
              </a:solidFill>
              <a:latin typeface="Calibri"/>
              <a:ea typeface="Calibri"/>
              <a:cs typeface="Calibri"/>
              <a:sym typeface="Calibri"/>
            </a:endParaRPr>
          </a:p>
        </p:txBody>
      </p:sp>
      <p:sp>
        <p:nvSpPr>
          <p:cNvPr id="1517" name="Google Shape;1517;p39"/>
          <p:cNvSpPr/>
          <p:nvPr/>
        </p:nvSpPr>
        <p:spPr>
          <a:xfrm>
            <a:off x="13351193" y="4810125"/>
            <a:ext cx="4254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Quay lại ≥2 ca</a:t>
            </a:r>
            <a:endParaRPr b="0" i="0" sz="1800" u="none" cap="none" strike="noStrike">
              <a:solidFill>
                <a:schemeClr val="dk1"/>
              </a:solidFill>
              <a:latin typeface="Calibri"/>
              <a:ea typeface="Calibri"/>
              <a:cs typeface="Calibri"/>
              <a:sym typeface="Calibri"/>
            </a:endParaRPr>
          </a:p>
        </p:txBody>
      </p:sp>
      <p:sp>
        <p:nvSpPr>
          <p:cNvPr id="1518" name="Google Shape;1518;p39"/>
          <p:cNvSpPr/>
          <p:nvPr/>
        </p:nvSpPr>
        <p:spPr>
          <a:xfrm>
            <a:off x="9288780" y="5286375"/>
            <a:ext cx="8313300" cy="9240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Fix check-in: push noti trước ca 15p + auto-check-in.</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Chuyển quota ca tối → ca sáng (đơn/ca cao gấp 2.8 lần).</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56% TX bỏ sau ca đầu — cần tìm nguyên nhân (hiệu quả hay thói quen).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3" name="Shape 1523"/>
        <p:cNvGrpSpPr/>
        <p:nvPr/>
      </p:nvGrpSpPr>
      <p:grpSpPr>
        <a:xfrm>
          <a:off x="0" y="0"/>
          <a:ext cx="0" cy="0"/>
          <a:chOff x="0" y="0"/>
          <a:chExt cx="0" cy="0"/>
        </a:xfrm>
      </p:grpSpPr>
      <p:sp>
        <p:nvSpPr>
          <p:cNvPr id="1524" name="Google Shape;1524;p40"/>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EV &amp; PARTNERSHIP</a:t>
            </a:r>
            <a:endParaRPr b="0" i="0" sz="3300" u="none" cap="none" strike="noStrike">
              <a:solidFill>
                <a:schemeClr val="dk1"/>
              </a:solidFill>
              <a:latin typeface="Calibri"/>
              <a:ea typeface="Calibri"/>
              <a:cs typeface="Calibri"/>
              <a:sym typeface="Calibri"/>
            </a:endParaRPr>
          </a:p>
        </p:txBody>
      </p:sp>
      <p:sp>
        <p:nvSpPr>
          <p:cNvPr id="1525" name="Google Shape;1525;p40"/>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Tổng hợp nhu cầu đối tác &amp; hoạt động hợp tác</a:t>
            </a:r>
            <a:endParaRPr b="0" i="0" sz="1950" u="none" cap="none" strike="noStrike">
              <a:solidFill>
                <a:schemeClr val="dk1"/>
              </a:solidFill>
              <a:latin typeface="Calibri"/>
              <a:ea typeface="Calibri"/>
              <a:cs typeface="Calibri"/>
              <a:sym typeface="Calibri"/>
            </a:endParaRPr>
          </a:p>
        </p:txBody>
      </p:sp>
      <p:sp>
        <p:nvSpPr>
          <p:cNvPr id="1526" name="Google Shape;1526;p40"/>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0"/>
          <p:cNvSpPr/>
          <p:nvPr/>
        </p:nvSpPr>
        <p:spPr>
          <a:xfrm>
            <a:off x="952500" y="15240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528" name="Google Shape;1528;p40"/>
          <p:cNvSpPr/>
          <p:nvPr/>
        </p:nvSpPr>
        <p:spPr>
          <a:xfrm>
            <a:off x="3157240" y="1533525"/>
            <a:ext cx="80874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Nhu cầu EV tăng trở lại tại HCM; tiến độ deal bảo hiểm cho TX cần đẩy nhanh.</a:t>
            </a:r>
            <a:endParaRPr b="0" i="0" sz="1800" u="none" cap="none" strike="noStrike">
              <a:solidFill>
                <a:schemeClr val="dk1"/>
              </a:solidFill>
              <a:latin typeface="Calibri"/>
              <a:ea typeface="Calibri"/>
              <a:cs typeface="Calibri"/>
              <a:sym typeface="Calibri"/>
            </a:endParaRPr>
          </a:p>
        </p:txBody>
      </p:sp>
      <p:sp>
        <p:nvSpPr>
          <p:cNvPr id="1529" name="Google Shape;1529;p40"/>
          <p:cNvSpPr/>
          <p:nvPr/>
        </p:nvSpPr>
        <p:spPr>
          <a:xfrm>
            <a:off x="762000" y="2114550"/>
            <a:ext cx="8267700" cy="2009700"/>
          </a:xfrm>
          <a:prstGeom prst="roundRect">
            <a:avLst>
              <a:gd fmla="val 758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40"/>
          <p:cNvSpPr/>
          <p:nvPr/>
        </p:nvSpPr>
        <p:spPr>
          <a:xfrm>
            <a:off x="971550" y="2324100"/>
            <a:ext cx="86334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 EV</a:t>
            </a:r>
            <a:endParaRPr b="0" i="0" sz="1950" u="none" cap="none" strike="noStrike">
              <a:solidFill>
                <a:schemeClr val="dk1"/>
              </a:solidFill>
              <a:latin typeface="Calibri"/>
              <a:ea typeface="Calibri"/>
              <a:cs typeface="Calibri"/>
              <a:sym typeface="Calibri"/>
            </a:endParaRPr>
          </a:p>
        </p:txBody>
      </p:sp>
      <p:sp>
        <p:nvSpPr>
          <p:cNvPr id="1531" name="Google Shape;1531;p40"/>
          <p:cNvSpPr/>
          <p:nvPr/>
        </p:nvSpPr>
        <p:spPr>
          <a:xfrm>
            <a:off x="971550" y="2752725"/>
            <a:ext cx="80841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Số lượng TX quan tâm EV từ tháng 8 có dấu hiệu tăng trở lại, chủ yếu từ khu vực HCM.</a:t>
            </a:r>
            <a:endParaRPr b="0" i="0" sz="1800" u="none" cap="none" strike="noStrike">
              <a:solidFill>
                <a:schemeClr val="dk1"/>
              </a:solidFill>
              <a:latin typeface="Calibri"/>
              <a:ea typeface="Calibri"/>
              <a:cs typeface="Calibri"/>
              <a:sym typeface="Calibri"/>
            </a:endParaRPr>
          </a:p>
        </p:txBody>
      </p:sp>
      <p:sp>
        <p:nvSpPr>
          <p:cNvPr id="1532" name="Google Shape;1532;p40"/>
          <p:cNvSpPr/>
          <p:nvPr/>
        </p:nvSpPr>
        <p:spPr>
          <a:xfrm>
            <a:off x="971550" y="3381375"/>
            <a:ext cx="80841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TX HCM quan tâm mạnh đến Datbike; gói thuê Aizen chiếm phần đông tại cả 2 city.</a:t>
            </a:r>
            <a:endParaRPr b="0" i="0" sz="1800" u="none" cap="none" strike="noStrike">
              <a:solidFill>
                <a:schemeClr val="dk1"/>
              </a:solidFill>
              <a:latin typeface="Calibri"/>
              <a:ea typeface="Calibri"/>
              <a:cs typeface="Calibri"/>
              <a:sym typeface="Calibri"/>
            </a:endParaRPr>
          </a:p>
        </p:txBody>
      </p:sp>
      <p:sp>
        <p:nvSpPr>
          <p:cNvPr id="1533" name="Google Shape;1533;p40"/>
          <p:cNvSpPr/>
          <p:nvPr/>
        </p:nvSpPr>
        <p:spPr>
          <a:xfrm>
            <a:off x="9258300" y="2114550"/>
            <a:ext cx="8267700" cy="2009700"/>
          </a:xfrm>
          <a:prstGeom prst="roundRect">
            <a:avLst>
              <a:gd fmla="val 758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40"/>
          <p:cNvSpPr/>
          <p:nvPr/>
        </p:nvSpPr>
        <p:spPr>
          <a:xfrm>
            <a:off x="9467850" y="2324100"/>
            <a:ext cx="86334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 Partnership Highlights</a:t>
            </a:r>
            <a:endParaRPr b="0" i="0" sz="1950" u="none" cap="none" strike="noStrike">
              <a:solidFill>
                <a:schemeClr val="dk1"/>
              </a:solidFill>
              <a:latin typeface="Calibri"/>
              <a:ea typeface="Calibri"/>
              <a:cs typeface="Calibri"/>
              <a:sym typeface="Calibri"/>
            </a:endParaRPr>
          </a:p>
        </p:txBody>
      </p:sp>
      <p:sp>
        <p:nvSpPr>
          <p:cNvPr id="1535" name="Google Shape;1535;p40"/>
          <p:cNvSpPr/>
          <p:nvPr/>
        </p:nvSpPr>
        <p:spPr>
          <a:xfrm>
            <a:off x="9467850" y="2752725"/>
            <a:ext cx="80841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Event: triển khai pre-event sinh nhật AHM — CHL &amp; minigame online "Chuyển ý tưởng - Ghép tương lai".</a:t>
            </a:r>
            <a:endParaRPr b="0" i="0" sz="1800" u="none" cap="none" strike="noStrike">
              <a:solidFill>
                <a:schemeClr val="dk1"/>
              </a:solidFill>
              <a:latin typeface="Calibri"/>
              <a:ea typeface="Calibri"/>
              <a:cs typeface="Calibri"/>
              <a:sym typeface="Calibri"/>
            </a:endParaRPr>
          </a:p>
        </p:txBody>
      </p:sp>
      <p:sp>
        <p:nvSpPr>
          <p:cNvPr id="1536" name="Google Shape;1536;p40"/>
          <p:cNvSpPr/>
          <p:nvPr/>
        </p:nvSpPr>
        <p:spPr>
          <a:xfrm>
            <a:off x="9467850" y="3381375"/>
            <a:ext cx="80841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Đã hoàn tất review hợp đồng mượn xe Datbike; bàn giao xe Selex cho KOC hỗ trợ tư vấn tài xế quan tâm NW.</a:t>
            </a:r>
            <a:endParaRPr b="0" i="0" sz="1800" u="none" cap="none" strike="noStrike">
              <a:solidFill>
                <a:schemeClr val="dk1"/>
              </a:solidFill>
              <a:latin typeface="Calibri"/>
              <a:ea typeface="Calibri"/>
              <a:cs typeface="Calibri"/>
              <a:sym typeface="Calibri"/>
            </a:endParaRPr>
          </a:p>
        </p:txBody>
      </p:sp>
      <p:sp>
        <p:nvSpPr>
          <p:cNvPr id="1537" name="Google Shape;1537;p40"/>
          <p:cNvSpPr/>
          <p:nvPr/>
        </p:nvSpPr>
        <p:spPr>
          <a:xfrm>
            <a:off x="762000" y="4314825"/>
            <a:ext cx="16764000" cy="5145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40"/>
          <p:cNvSpPr/>
          <p:nvPr/>
        </p:nvSpPr>
        <p:spPr>
          <a:xfrm>
            <a:off x="914400" y="4429125"/>
            <a:ext cx="48201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HẠNG MỤC</a:t>
            </a:r>
            <a:endParaRPr b="0" i="0" sz="1800" u="none" cap="none" strike="noStrike">
              <a:solidFill>
                <a:schemeClr val="dk1"/>
              </a:solidFill>
              <a:latin typeface="Calibri"/>
              <a:ea typeface="Calibri"/>
              <a:cs typeface="Calibri"/>
              <a:sym typeface="Calibri"/>
            </a:endParaRPr>
          </a:p>
        </p:txBody>
      </p:sp>
      <p:sp>
        <p:nvSpPr>
          <p:cNvPr id="1539" name="Google Shape;1539;p40"/>
          <p:cNvSpPr/>
          <p:nvPr/>
        </p:nvSpPr>
        <p:spPr>
          <a:xfrm>
            <a:off x="5890171" y="4429125"/>
            <a:ext cx="76986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HÀNH ĐỘNG</a:t>
            </a:r>
            <a:endParaRPr b="0" i="0" sz="1800" u="none" cap="none" strike="noStrike">
              <a:solidFill>
                <a:schemeClr val="dk1"/>
              </a:solidFill>
              <a:latin typeface="Calibri"/>
              <a:ea typeface="Calibri"/>
              <a:cs typeface="Calibri"/>
              <a:sym typeface="Calibri"/>
            </a:endParaRPr>
          </a:p>
        </p:txBody>
      </p:sp>
      <p:sp>
        <p:nvSpPr>
          <p:cNvPr id="1540" name="Google Shape;1540;p40"/>
          <p:cNvSpPr/>
          <p:nvPr/>
        </p:nvSpPr>
        <p:spPr>
          <a:xfrm>
            <a:off x="13622387" y="4429125"/>
            <a:ext cx="16590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DEADLINE</a:t>
            </a:r>
            <a:endParaRPr b="0" i="0" sz="1800" u="none" cap="none" strike="noStrike">
              <a:solidFill>
                <a:schemeClr val="dk1"/>
              </a:solidFill>
              <a:latin typeface="Calibri"/>
              <a:ea typeface="Calibri"/>
              <a:cs typeface="Calibri"/>
              <a:sym typeface="Calibri"/>
            </a:endParaRPr>
          </a:p>
        </p:txBody>
      </p:sp>
      <p:sp>
        <p:nvSpPr>
          <p:cNvPr id="1541" name="Google Shape;1541;p40"/>
          <p:cNvSpPr/>
          <p:nvPr/>
        </p:nvSpPr>
        <p:spPr>
          <a:xfrm>
            <a:off x="15509974" y="4429125"/>
            <a:ext cx="19017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PIC</a:t>
            </a:r>
            <a:endParaRPr b="0" i="0" sz="1800" u="none" cap="none" strike="noStrike">
              <a:solidFill>
                <a:schemeClr val="dk1"/>
              </a:solidFill>
              <a:latin typeface="Calibri"/>
              <a:ea typeface="Calibri"/>
              <a:cs typeface="Calibri"/>
              <a:sym typeface="Calibri"/>
            </a:endParaRPr>
          </a:p>
        </p:txBody>
      </p:sp>
      <p:sp>
        <p:nvSpPr>
          <p:cNvPr id="1542" name="Google Shape;1542;p40"/>
          <p:cNvSpPr/>
          <p:nvPr/>
        </p:nvSpPr>
        <p:spPr>
          <a:xfrm>
            <a:off x="762000" y="5319713"/>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0"/>
          <p:cNvSpPr/>
          <p:nvPr/>
        </p:nvSpPr>
        <p:spPr>
          <a:xfrm>
            <a:off x="914400" y="4943475"/>
            <a:ext cx="48201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Livestream sinh nhật AHM 11 tuổi</a:t>
            </a:r>
            <a:endParaRPr b="0" i="0" sz="1800" u="none" cap="none" strike="noStrike">
              <a:solidFill>
                <a:schemeClr val="dk1"/>
              </a:solidFill>
              <a:latin typeface="Calibri"/>
              <a:ea typeface="Calibri"/>
              <a:cs typeface="Calibri"/>
              <a:sym typeface="Calibri"/>
            </a:endParaRPr>
          </a:p>
        </p:txBody>
      </p:sp>
      <p:sp>
        <p:nvSpPr>
          <p:cNvPr id="1544" name="Google Shape;1544;p40"/>
          <p:cNvSpPr/>
          <p:nvPr/>
        </p:nvSpPr>
        <p:spPr>
          <a:xfrm>
            <a:off x="5890171" y="4943475"/>
            <a:ext cx="76986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Tổ chức livestream sinh nhật Ahamove</a:t>
            </a:r>
            <a:endParaRPr b="0" i="0" sz="1800" u="none" cap="none" strike="noStrike">
              <a:solidFill>
                <a:schemeClr val="dk1"/>
              </a:solidFill>
              <a:latin typeface="Calibri"/>
              <a:ea typeface="Calibri"/>
              <a:cs typeface="Calibri"/>
              <a:sym typeface="Calibri"/>
            </a:endParaRPr>
          </a:p>
        </p:txBody>
      </p:sp>
      <p:sp>
        <p:nvSpPr>
          <p:cNvPr id="1545" name="Google Shape;1545;p40"/>
          <p:cNvSpPr/>
          <p:nvPr/>
        </p:nvSpPr>
        <p:spPr>
          <a:xfrm>
            <a:off x="13479512" y="4838700"/>
            <a:ext cx="19446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21/8</a:t>
            </a:r>
            <a:endParaRPr b="0" i="0" sz="1800" u="none" cap="none" strike="noStrike">
              <a:solidFill>
                <a:schemeClr val="dk1"/>
              </a:solidFill>
              <a:latin typeface="Calibri"/>
              <a:ea typeface="Calibri"/>
              <a:cs typeface="Calibri"/>
              <a:sym typeface="Calibri"/>
            </a:endParaRPr>
          </a:p>
        </p:txBody>
      </p:sp>
      <p:sp>
        <p:nvSpPr>
          <p:cNvPr id="1546" name="Google Shape;1546;p40"/>
          <p:cNvSpPr/>
          <p:nvPr/>
        </p:nvSpPr>
        <p:spPr>
          <a:xfrm>
            <a:off x="15367099" y="4838700"/>
            <a:ext cx="21876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Khoa/Vân/Thúy</a:t>
            </a:r>
            <a:endParaRPr b="0" i="0" sz="1800" u="none" cap="none" strike="noStrike">
              <a:solidFill>
                <a:schemeClr val="dk1"/>
              </a:solidFill>
              <a:latin typeface="Calibri"/>
              <a:ea typeface="Calibri"/>
              <a:cs typeface="Calibri"/>
              <a:sym typeface="Calibri"/>
            </a:endParaRPr>
          </a:p>
        </p:txBody>
      </p:sp>
      <p:sp>
        <p:nvSpPr>
          <p:cNvPr id="1547" name="Google Shape;1547;p40"/>
          <p:cNvSpPr/>
          <p:nvPr/>
        </p:nvSpPr>
        <p:spPr>
          <a:xfrm>
            <a:off x="762000" y="5329238"/>
            <a:ext cx="16764000" cy="5001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0"/>
          <p:cNvSpPr/>
          <p:nvPr/>
        </p:nvSpPr>
        <p:spPr>
          <a:xfrm>
            <a:off x="914400" y="5443538"/>
            <a:ext cx="48201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Thuê xe điện Aizen</a:t>
            </a:r>
            <a:endParaRPr b="0" i="0" sz="1800" u="none" cap="none" strike="noStrike">
              <a:solidFill>
                <a:schemeClr val="dk1"/>
              </a:solidFill>
              <a:latin typeface="Calibri"/>
              <a:ea typeface="Calibri"/>
              <a:cs typeface="Calibri"/>
              <a:sym typeface="Calibri"/>
            </a:endParaRPr>
          </a:p>
        </p:txBody>
      </p:sp>
      <p:sp>
        <p:nvSpPr>
          <p:cNvPr id="1549" name="Google Shape;1549;p40"/>
          <p:cNvSpPr/>
          <p:nvPr/>
        </p:nvSpPr>
        <p:spPr>
          <a:xfrm>
            <a:off x="5890171" y="5443538"/>
            <a:ext cx="76986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Tách blog riêng truyền thông + seeding tăng awareness</a:t>
            </a:r>
            <a:endParaRPr b="0" i="0" sz="1800" u="none" cap="none" strike="noStrike">
              <a:solidFill>
                <a:schemeClr val="dk1"/>
              </a:solidFill>
              <a:latin typeface="Calibri"/>
              <a:ea typeface="Calibri"/>
              <a:cs typeface="Calibri"/>
              <a:sym typeface="Calibri"/>
            </a:endParaRPr>
          </a:p>
        </p:txBody>
      </p:sp>
      <p:sp>
        <p:nvSpPr>
          <p:cNvPr id="1550" name="Google Shape;1550;p40"/>
          <p:cNvSpPr/>
          <p:nvPr/>
        </p:nvSpPr>
        <p:spPr>
          <a:xfrm>
            <a:off x="13479512" y="5338763"/>
            <a:ext cx="19446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21/8</a:t>
            </a:r>
            <a:endParaRPr b="0" i="0" sz="1800" u="none" cap="none" strike="noStrike">
              <a:solidFill>
                <a:schemeClr val="dk1"/>
              </a:solidFill>
              <a:latin typeface="Calibri"/>
              <a:ea typeface="Calibri"/>
              <a:cs typeface="Calibri"/>
              <a:sym typeface="Calibri"/>
            </a:endParaRPr>
          </a:p>
        </p:txBody>
      </p:sp>
      <p:sp>
        <p:nvSpPr>
          <p:cNvPr id="1551" name="Google Shape;1551;p40"/>
          <p:cNvSpPr/>
          <p:nvPr/>
        </p:nvSpPr>
        <p:spPr>
          <a:xfrm>
            <a:off x="15367099" y="5338763"/>
            <a:ext cx="21876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Khoa/Vân</a:t>
            </a:r>
            <a:endParaRPr b="0" i="0" sz="1800" u="none" cap="none" strike="noStrike">
              <a:solidFill>
                <a:schemeClr val="dk1"/>
              </a:solidFill>
              <a:latin typeface="Calibri"/>
              <a:ea typeface="Calibri"/>
              <a:cs typeface="Calibri"/>
              <a:sym typeface="Calibri"/>
            </a:endParaRPr>
          </a:p>
        </p:txBody>
      </p:sp>
      <p:sp>
        <p:nvSpPr>
          <p:cNvPr id="1552" name="Google Shape;1552;p40"/>
          <p:cNvSpPr/>
          <p:nvPr/>
        </p:nvSpPr>
        <p:spPr>
          <a:xfrm>
            <a:off x="762000" y="6019800"/>
            <a:ext cx="16764000" cy="533400"/>
          </a:xfrm>
          <a:prstGeom prst="roundRect">
            <a:avLst>
              <a:gd fmla="val 21429"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40"/>
          <p:cNvSpPr/>
          <p:nvPr/>
        </p:nvSpPr>
        <p:spPr>
          <a:xfrm>
            <a:off x="933450" y="6153150"/>
            <a:ext cx="169239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Lowlights: </a:t>
            </a:r>
            <a:r>
              <a:rPr b="0" i="0" lang="en-US" sz="1800" u="none" cap="none" strike="noStrike">
                <a:solidFill>
                  <a:srgbClr val="121619"/>
                </a:solidFill>
                <a:highlight>
                  <a:srgbClr val="FFF1F1"/>
                </a:highlight>
                <a:latin typeface="Roboto"/>
                <a:ea typeface="Roboto"/>
                <a:cs typeface="Roboto"/>
                <a:sym typeface="Roboto"/>
              </a:rPr>
              <a:t>Tiến độ deal quyền lợi bảo hiểm cho TX còn chậm · Data update chuyển đổi từ partner còn rời rạc.</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8" name="Shape 1558"/>
        <p:cNvGrpSpPr/>
        <p:nvPr/>
      </p:nvGrpSpPr>
      <p:grpSpPr>
        <a:xfrm>
          <a:off x="0" y="0"/>
          <a:ext cx="0" cy="0"/>
          <a:chOff x="0" y="0"/>
          <a:chExt cx="0" cy="0"/>
        </a:xfrm>
      </p:grpSpPr>
      <p:sp>
        <p:nvSpPr>
          <p:cNvPr id="1559" name="Google Shape;1559;p41"/>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3300"/>
              <a:buFont typeface="Plus Jakarta Sans"/>
              <a:buNone/>
            </a:pPr>
            <a:r>
              <a:rPr b="1" i="0" lang="en-US" sz="3300" u="none" cap="none" strike="noStrike">
                <a:solidFill>
                  <a:srgbClr val="012749"/>
                </a:solidFill>
                <a:latin typeface="Plus Jakarta Sans"/>
                <a:ea typeface="Plus Jakarta Sans"/>
                <a:cs typeface="Plus Jakarta Sans"/>
                <a:sym typeface="Plus Jakarta Sans"/>
              </a:rPr>
              <a:t>COMMUNICATIONS: </a:t>
            </a:r>
            <a:r>
              <a:rPr b="1" i="0" lang="en-US" sz="3300" u="none" cap="none" strike="noStrike">
                <a:solidFill>
                  <a:srgbClr val="FF7F32"/>
                </a:solidFill>
                <a:latin typeface="Plus Jakarta Sans"/>
                <a:ea typeface="Plus Jakarta Sans"/>
                <a:cs typeface="Plus Jakarta Sans"/>
                <a:sym typeface="Plus Jakarta Sans"/>
              </a:rPr>
              <a:t>HIGHLIGHTS &amp; LOWLIGHTS</a:t>
            </a:r>
            <a:endParaRPr b="0" i="0" sz="3300" u="none" cap="none" strike="noStrike">
              <a:solidFill>
                <a:schemeClr val="dk1"/>
              </a:solidFill>
              <a:latin typeface="Calibri"/>
              <a:ea typeface="Calibri"/>
              <a:cs typeface="Calibri"/>
              <a:sym typeface="Calibri"/>
            </a:endParaRPr>
          </a:p>
        </p:txBody>
      </p:sp>
      <p:sp>
        <p:nvSpPr>
          <p:cNvPr id="1560" name="Google Shape;1560;p41"/>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Trọng tâm tuần — Kết quả thực thi &amp; Kế hoạch hành động</a:t>
            </a:r>
            <a:endParaRPr b="0" i="0" sz="1950" u="none" cap="none" strike="noStrike">
              <a:solidFill>
                <a:schemeClr val="dk1"/>
              </a:solidFill>
              <a:latin typeface="Calibri"/>
              <a:ea typeface="Calibri"/>
              <a:cs typeface="Calibri"/>
              <a:sym typeface="Calibri"/>
            </a:endParaRPr>
          </a:p>
        </p:txBody>
      </p:sp>
      <p:sp>
        <p:nvSpPr>
          <p:cNvPr id="1561" name="Google Shape;1561;p41"/>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41"/>
          <p:cNvSpPr/>
          <p:nvPr/>
        </p:nvSpPr>
        <p:spPr>
          <a:xfrm>
            <a:off x="952500" y="1524000"/>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563" name="Google Shape;1563;p41"/>
          <p:cNvSpPr/>
          <p:nvPr/>
        </p:nvSpPr>
        <p:spPr>
          <a:xfrm>
            <a:off x="3157240" y="1533525"/>
            <a:ext cx="9067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Các chương trình tuyển core &amp; truyền thông đạt tiến độ tốt, ngoại trừ BigC cần tăng tốc.</a:t>
            </a:r>
            <a:endParaRPr b="0" i="0" sz="1800" u="none" cap="none" strike="noStrike">
              <a:solidFill>
                <a:schemeClr val="dk1"/>
              </a:solidFill>
              <a:latin typeface="Calibri"/>
              <a:ea typeface="Calibri"/>
              <a:cs typeface="Calibri"/>
              <a:sym typeface="Calibri"/>
            </a:endParaRPr>
          </a:p>
        </p:txBody>
      </p:sp>
      <p:sp>
        <p:nvSpPr>
          <p:cNvPr id="1564" name="Google Shape;1564;p41"/>
          <p:cNvSpPr/>
          <p:nvPr/>
        </p:nvSpPr>
        <p:spPr>
          <a:xfrm>
            <a:off x="704850" y="2133600"/>
            <a:ext cx="8286900" cy="2428800"/>
          </a:xfrm>
          <a:prstGeom prst="roundRect">
            <a:avLst>
              <a:gd fmla="val 7059"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41"/>
          <p:cNvSpPr/>
          <p:nvPr/>
        </p:nvSpPr>
        <p:spPr>
          <a:xfrm>
            <a:off x="762000" y="2133600"/>
            <a:ext cx="8286900" cy="2428800"/>
          </a:xfrm>
          <a:prstGeom prst="roundRect">
            <a:avLst>
              <a:gd fmla="val 4706"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41"/>
          <p:cNvSpPr/>
          <p:nvPr/>
        </p:nvSpPr>
        <p:spPr>
          <a:xfrm>
            <a:off x="990600" y="2362200"/>
            <a:ext cx="86124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67C3F"/>
              </a:buClr>
              <a:buSzPts val="1950"/>
              <a:buFont typeface="Plus Jakarta Sans"/>
              <a:buNone/>
            </a:pPr>
            <a:r>
              <a:rPr b="1" i="0" lang="en-US" sz="1950" u="none" cap="none" strike="noStrike">
                <a:solidFill>
                  <a:srgbClr val="167C3F"/>
                </a:solidFill>
                <a:latin typeface="Plus Jakarta Sans"/>
                <a:ea typeface="Plus Jakarta Sans"/>
                <a:cs typeface="Plus Jakarta Sans"/>
                <a:sym typeface="Plus Jakarta Sans"/>
              </a:rPr>
              <a:t>✓ HIGHLIGHTS</a:t>
            </a:r>
            <a:endParaRPr b="0" i="0" sz="1950" u="none" cap="none" strike="noStrike">
              <a:solidFill>
                <a:schemeClr val="dk1"/>
              </a:solidFill>
              <a:latin typeface="Calibri"/>
              <a:ea typeface="Calibri"/>
              <a:cs typeface="Calibri"/>
              <a:sym typeface="Calibri"/>
            </a:endParaRPr>
          </a:p>
        </p:txBody>
      </p:sp>
      <p:sp>
        <p:nvSpPr>
          <p:cNvPr id="1567" name="Google Shape;1567;p41"/>
          <p:cNvSpPr/>
          <p:nvPr/>
        </p:nvSpPr>
        <p:spPr>
          <a:xfrm>
            <a:off x="1040130" y="2771775"/>
            <a:ext cx="7856100" cy="16002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Thưởng baga: đã đủ lead đăng ký</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Tuyển core Fuji, Ajinomoto, BigC: hầu hết đã đủ lead đăng ký</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Truyền thông mở lại dịch vụ tại HAN: đã noti, SMS tần suất cao</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Comms chuỗi bài push active CP 15.8, tần suất 2–3 tin/ngày</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EV: Publish landing page chính sách mới (AHA Creator + Đua top)</a:t>
            </a:r>
            <a:endParaRPr b="0" i="0" sz="1800" u="none" cap="none" strike="noStrike">
              <a:solidFill>
                <a:schemeClr val="dk1"/>
              </a:solidFill>
              <a:latin typeface="Calibri"/>
              <a:ea typeface="Calibri"/>
              <a:cs typeface="Calibri"/>
              <a:sym typeface="Calibri"/>
            </a:endParaRPr>
          </a:p>
        </p:txBody>
      </p:sp>
      <p:sp>
        <p:nvSpPr>
          <p:cNvPr id="1568" name="Google Shape;1568;p41"/>
          <p:cNvSpPr/>
          <p:nvPr/>
        </p:nvSpPr>
        <p:spPr>
          <a:xfrm>
            <a:off x="9182100" y="2133600"/>
            <a:ext cx="8286900" cy="2428800"/>
          </a:xfrm>
          <a:prstGeom prst="roundRect">
            <a:avLst>
              <a:gd fmla="val 7059"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41"/>
          <p:cNvSpPr/>
          <p:nvPr/>
        </p:nvSpPr>
        <p:spPr>
          <a:xfrm>
            <a:off x="9239250" y="2133600"/>
            <a:ext cx="8286900" cy="2428800"/>
          </a:xfrm>
          <a:prstGeom prst="roundRect">
            <a:avLst>
              <a:gd fmla="val 4706"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41"/>
          <p:cNvSpPr/>
          <p:nvPr/>
        </p:nvSpPr>
        <p:spPr>
          <a:xfrm>
            <a:off x="9467850" y="2362200"/>
            <a:ext cx="86124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950"/>
              <a:buFont typeface="Plus Jakarta Sans"/>
              <a:buNone/>
            </a:pPr>
            <a:r>
              <a:rPr b="1" i="0" lang="en-US" sz="1950" u="none" cap="none" strike="noStrike">
                <a:solidFill>
                  <a:srgbClr val="DA1E28"/>
                </a:solidFill>
                <a:latin typeface="Plus Jakarta Sans"/>
                <a:ea typeface="Plus Jakarta Sans"/>
                <a:cs typeface="Plus Jakarta Sans"/>
                <a:sym typeface="Plus Jakarta Sans"/>
              </a:rPr>
              <a:t>⚠ LOWLIGHTS</a:t>
            </a:r>
            <a:endParaRPr b="0" i="0" sz="1950" u="none" cap="none" strike="noStrike">
              <a:solidFill>
                <a:schemeClr val="dk1"/>
              </a:solidFill>
              <a:latin typeface="Calibri"/>
              <a:ea typeface="Calibri"/>
              <a:cs typeface="Calibri"/>
              <a:sym typeface="Calibri"/>
            </a:endParaRPr>
          </a:p>
        </p:txBody>
      </p:sp>
      <p:sp>
        <p:nvSpPr>
          <p:cNvPr id="1571" name="Google Shape;1571;p41"/>
          <p:cNvSpPr/>
          <p:nvPr/>
        </p:nvSpPr>
        <p:spPr>
          <a:xfrm>
            <a:off x="9517380" y="2771775"/>
            <a:ext cx="7856100" cy="3048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Tuyển core BigC: lead đăng ký đang chưa đạt kỳ vọng</a:t>
            </a:r>
            <a:endParaRPr b="0" i="0" sz="1800" u="none" cap="none" strike="noStrike">
              <a:solidFill>
                <a:schemeClr val="dk1"/>
              </a:solidFill>
              <a:latin typeface="Calibri"/>
              <a:ea typeface="Calibri"/>
              <a:cs typeface="Calibri"/>
              <a:sym typeface="Calibri"/>
            </a:endParaRPr>
          </a:p>
        </p:txBody>
      </p:sp>
      <p:sp>
        <p:nvSpPr>
          <p:cNvPr id="1572" name="Google Shape;1572;p41"/>
          <p:cNvSpPr/>
          <p:nvPr/>
        </p:nvSpPr>
        <p:spPr>
          <a:xfrm>
            <a:off x="762000" y="4772025"/>
            <a:ext cx="16764000" cy="5145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41"/>
          <p:cNvSpPr/>
          <p:nvPr/>
        </p:nvSpPr>
        <p:spPr>
          <a:xfrm>
            <a:off x="914400" y="4886325"/>
            <a:ext cx="15921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HẠNG MỤC</a:t>
            </a:r>
            <a:endParaRPr b="0" i="0" sz="1800" u="none" cap="none" strike="noStrike">
              <a:solidFill>
                <a:schemeClr val="dk1"/>
              </a:solidFill>
              <a:latin typeface="Calibri"/>
              <a:ea typeface="Calibri"/>
              <a:cs typeface="Calibri"/>
              <a:sym typeface="Calibri"/>
            </a:endParaRPr>
          </a:p>
        </p:txBody>
      </p:sp>
      <p:sp>
        <p:nvSpPr>
          <p:cNvPr id="1574" name="Google Shape;1574;p41"/>
          <p:cNvSpPr/>
          <p:nvPr/>
        </p:nvSpPr>
        <p:spPr>
          <a:xfrm>
            <a:off x="2735014" y="4886325"/>
            <a:ext cx="48528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NGUYÊN NHÂN/BỐI CẢNH</a:t>
            </a:r>
            <a:endParaRPr b="0" i="0" sz="1800" u="none" cap="none" strike="noStrike">
              <a:solidFill>
                <a:schemeClr val="dk1"/>
              </a:solidFill>
              <a:latin typeface="Calibri"/>
              <a:ea typeface="Calibri"/>
              <a:cs typeface="Calibri"/>
              <a:sym typeface="Calibri"/>
            </a:endParaRPr>
          </a:p>
        </p:txBody>
      </p:sp>
      <p:sp>
        <p:nvSpPr>
          <p:cNvPr id="1575" name="Google Shape;1575;p41"/>
          <p:cNvSpPr/>
          <p:nvPr/>
        </p:nvSpPr>
        <p:spPr>
          <a:xfrm>
            <a:off x="7742486" y="4886325"/>
            <a:ext cx="68640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HÀNH ĐỘNG</a:t>
            </a:r>
            <a:endParaRPr b="0" i="0" sz="1800" u="none" cap="none" strike="noStrike">
              <a:solidFill>
                <a:schemeClr val="dk1"/>
              </a:solidFill>
              <a:latin typeface="Calibri"/>
              <a:ea typeface="Calibri"/>
              <a:cs typeface="Calibri"/>
              <a:sym typeface="Calibri"/>
            </a:endParaRPr>
          </a:p>
        </p:txBody>
      </p:sp>
      <p:sp>
        <p:nvSpPr>
          <p:cNvPr id="1576" name="Google Shape;1576;p41"/>
          <p:cNvSpPr/>
          <p:nvPr/>
        </p:nvSpPr>
        <p:spPr>
          <a:xfrm>
            <a:off x="14664482" y="4886325"/>
            <a:ext cx="12063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DEADLINE</a:t>
            </a:r>
            <a:endParaRPr b="0" i="0" sz="1800" u="none" cap="none" strike="noStrike">
              <a:solidFill>
                <a:schemeClr val="dk1"/>
              </a:solidFill>
              <a:latin typeface="Calibri"/>
              <a:ea typeface="Calibri"/>
              <a:cs typeface="Calibri"/>
              <a:sym typeface="Calibri"/>
            </a:endParaRPr>
          </a:p>
        </p:txBody>
      </p:sp>
      <p:sp>
        <p:nvSpPr>
          <p:cNvPr id="1577" name="Google Shape;1577;p41"/>
          <p:cNvSpPr/>
          <p:nvPr/>
        </p:nvSpPr>
        <p:spPr>
          <a:xfrm>
            <a:off x="16099482" y="4886325"/>
            <a:ext cx="13122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PIC</a:t>
            </a:r>
            <a:endParaRPr b="0" i="0" sz="1800" u="none" cap="none" strike="noStrike">
              <a:solidFill>
                <a:schemeClr val="dk1"/>
              </a:solidFill>
              <a:latin typeface="Calibri"/>
              <a:ea typeface="Calibri"/>
              <a:cs typeface="Calibri"/>
              <a:sym typeface="Calibri"/>
            </a:endParaRPr>
          </a:p>
        </p:txBody>
      </p:sp>
      <p:sp>
        <p:nvSpPr>
          <p:cNvPr id="1578" name="Google Shape;1578;p41"/>
          <p:cNvSpPr/>
          <p:nvPr/>
        </p:nvSpPr>
        <p:spPr>
          <a:xfrm>
            <a:off x="762000" y="6043613"/>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41"/>
          <p:cNvSpPr/>
          <p:nvPr/>
        </p:nvSpPr>
        <p:spPr>
          <a:xfrm>
            <a:off x="914400" y="5400675"/>
            <a:ext cx="1592100" cy="5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Tuyển core BigC</a:t>
            </a:r>
            <a:endParaRPr b="0" i="0" sz="1800" u="none" cap="none" strike="noStrike">
              <a:solidFill>
                <a:schemeClr val="dk1"/>
              </a:solidFill>
              <a:latin typeface="Calibri"/>
              <a:ea typeface="Calibri"/>
              <a:cs typeface="Calibri"/>
              <a:sym typeface="Calibri"/>
            </a:endParaRPr>
          </a:p>
        </p:txBody>
      </p:sp>
      <p:sp>
        <p:nvSpPr>
          <p:cNvPr id="1580" name="Google Shape;1580;p41"/>
          <p:cNvSpPr/>
          <p:nvPr/>
        </p:nvSpPr>
        <p:spPr>
          <a:xfrm>
            <a:off x="2735014" y="5400675"/>
            <a:ext cx="4852800" cy="5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Lead đăng ký cắm chốt kv Long Biên chưa đạt kỳ vọng</a:t>
            </a:r>
            <a:endParaRPr b="0" i="0" sz="1800" u="none" cap="none" strike="noStrike">
              <a:solidFill>
                <a:schemeClr val="dk1"/>
              </a:solidFill>
              <a:latin typeface="Calibri"/>
              <a:ea typeface="Calibri"/>
              <a:cs typeface="Calibri"/>
              <a:sym typeface="Calibri"/>
            </a:endParaRPr>
          </a:p>
        </p:txBody>
      </p:sp>
      <p:sp>
        <p:nvSpPr>
          <p:cNvPr id="1581" name="Google Shape;1581;p41"/>
          <p:cNvSpPr/>
          <p:nvPr/>
        </p:nvSpPr>
        <p:spPr>
          <a:xfrm>
            <a:off x="7742486" y="5400675"/>
            <a:ext cx="6864000" cy="5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Tăng tần suất + mở rộng danh sách push noti</a:t>
            </a:r>
            <a:endParaRPr b="0" i="0" sz="1800" u="none" cap="none" strike="noStrike">
              <a:solidFill>
                <a:schemeClr val="dk1"/>
              </a:solidFill>
              <a:latin typeface="Calibri"/>
              <a:ea typeface="Calibri"/>
              <a:cs typeface="Calibri"/>
              <a:sym typeface="Calibri"/>
            </a:endParaRPr>
          </a:p>
        </p:txBody>
      </p:sp>
      <p:sp>
        <p:nvSpPr>
          <p:cNvPr id="1582" name="Google Shape;1582;p41"/>
          <p:cNvSpPr/>
          <p:nvPr/>
        </p:nvSpPr>
        <p:spPr>
          <a:xfrm>
            <a:off x="14521607" y="5295900"/>
            <a:ext cx="1492200" cy="7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20/8</a:t>
            </a:r>
            <a:endParaRPr b="0" i="0" sz="1800" u="none" cap="none" strike="noStrike">
              <a:solidFill>
                <a:schemeClr val="dk1"/>
              </a:solidFill>
              <a:latin typeface="Calibri"/>
              <a:ea typeface="Calibri"/>
              <a:cs typeface="Calibri"/>
              <a:sym typeface="Calibri"/>
            </a:endParaRPr>
          </a:p>
        </p:txBody>
      </p:sp>
      <p:sp>
        <p:nvSpPr>
          <p:cNvPr id="1583" name="Google Shape;1583;p41"/>
          <p:cNvSpPr/>
          <p:nvPr/>
        </p:nvSpPr>
        <p:spPr>
          <a:xfrm>
            <a:off x="15956607" y="5295900"/>
            <a:ext cx="1598100" cy="7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Hoa</a:t>
            </a:r>
            <a:endParaRPr b="0" i="0" sz="1800" u="none" cap="none" strike="noStrike">
              <a:solidFill>
                <a:schemeClr val="dk1"/>
              </a:solidFill>
              <a:latin typeface="Calibri"/>
              <a:ea typeface="Calibri"/>
              <a:cs typeface="Calibri"/>
              <a:sym typeface="Calibri"/>
            </a:endParaRPr>
          </a:p>
        </p:txBody>
      </p:sp>
      <p:sp>
        <p:nvSpPr>
          <p:cNvPr id="1584" name="Google Shape;1584;p41"/>
          <p:cNvSpPr/>
          <p:nvPr/>
        </p:nvSpPr>
        <p:spPr>
          <a:xfrm>
            <a:off x="762000" y="6053138"/>
            <a:ext cx="16764000" cy="7668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41"/>
          <p:cNvSpPr/>
          <p:nvPr/>
        </p:nvSpPr>
        <p:spPr>
          <a:xfrm>
            <a:off x="914400" y="6167438"/>
            <a:ext cx="1592100" cy="5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Minihub</a:t>
            </a:r>
            <a:endParaRPr b="0" i="0" sz="1800" u="none" cap="none" strike="noStrike">
              <a:solidFill>
                <a:schemeClr val="dk1"/>
              </a:solidFill>
              <a:latin typeface="Calibri"/>
              <a:ea typeface="Calibri"/>
              <a:cs typeface="Calibri"/>
              <a:sym typeface="Calibri"/>
            </a:endParaRPr>
          </a:p>
        </p:txBody>
      </p:sp>
      <p:sp>
        <p:nvSpPr>
          <p:cNvPr id="1586" name="Google Shape;1586;p41"/>
          <p:cNvSpPr/>
          <p:nvPr/>
        </p:nvSpPr>
        <p:spPr>
          <a:xfrm>
            <a:off x="2735014" y="6167438"/>
            <a:ext cx="4852800" cy="5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Các thông tin truyền thông chưa được hệ thống</a:t>
            </a:r>
            <a:endParaRPr b="0" i="0" sz="1800" u="none" cap="none" strike="noStrike">
              <a:solidFill>
                <a:schemeClr val="dk1"/>
              </a:solidFill>
              <a:latin typeface="Calibri"/>
              <a:ea typeface="Calibri"/>
              <a:cs typeface="Calibri"/>
              <a:sym typeface="Calibri"/>
            </a:endParaRPr>
          </a:p>
        </p:txBody>
      </p:sp>
      <p:sp>
        <p:nvSpPr>
          <p:cNvPr id="1587" name="Google Shape;1587;p41"/>
          <p:cNvSpPr/>
          <p:nvPr/>
        </p:nvSpPr>
        <p:spPr>
          <a:xfrm>
            <a:off x="7742486" y="6167438"/>
            <a:ext cx="6864000" cy="5763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Review content có sẵn · Tạo content &amp; flow comms theo cycle &amp; điểm chạm TX</a:t>
            </a:r>
            <a:endParaRPr b="0" i="0" sz="1800" u="none" cap="none" strike="noStrike">
              <a:solidFill>
                <a:schemeClr val="dk1"/>
              </a:solidFill>
              <a:latin typeface="Calibri"/>
              <a:ea typeface="Calibri"/>
              <a:cs typeface="Calibri"/>
              <a:sym typeface="Calibri"/>
            </a:endParaRPr>
          </a:p>
        </p:txBody>
      </p:sp>
      <p:sp>
        <p:nvSpPr>
          <p:cNvPr id="1588" name="Google Shape;1588;p41"/>
          <p:cNvSpPr/>
          <p:nvPr/>
        </p:nvSpPr>
        <p:spPr>
          <a:xfrm>
            <a:off x="14521607" y="6062663"/>
            <a:ext cx="1492200" cy="7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20/8</a:t>
            </a:r>
            <a:endParaRPr b="0" i="0" sz="1800" u="none" cap="none" strike="noStrike">
              <a:solidFill>
                <a:schemeClr val="dk1"/>
              </a:solidFill>
              <a:latin typeface="Calibri"/>
              <a:ea typeface="Calibri"/>
              <a:cs typeface="Calibri"/>
              <a:sym typeface="Calibri"/>
            </a:endParaRPr>
          </a:p>
        </p:txBody>
      </p:sp>
      <p:sp>
        <p:nvSpPr>
          <p:cNvPr id="1589" name="Google Shape;1589;p41"/>
          <p:cNvSpPr/>
          <p:nvPr/>
        </p:nvSpPr>
        <p:spPr>
          <a:xfrm>
            <a:off x="15956607" y="6062663"/>
            <a:ext cx="1598100" cy="7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Hoa/Khoa/Vân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4" name="Shape 1594"/>
        <p:cNvGrpSpPr/>
        <p:nvPr/>
      </p:nvGrpSpPr>
      <p:grpSpPr>
        <a:xfrm>
          <a:off x="0" y="0"/>
          <a:ext cx="0" cy="0"/>
          <a:chOff x="0" y="0"/>
          <a:chExt cx="0" cy="0"/>
        </a:xfrm>
      </p:grpSpPr>
      <p:sp>
        <p:nvSpPr>
          <p:cNvPr id="1595" name="Google Shape;1595;p42"/>
          <p:cNvSpPr/>
          <p:nvPr/>
        </p:nvSpPr>
        <p:spPr>
          <a:xfrm>
            <a:off x="0" y="0"/>
            <a:ext cx="18288000" cy="10287000"/>
          </a:xfrm>
          <a:prstGeom prst="rect">
            <a:avLst/>
          </a:prstGeom>
          <a:gradFill>
            <a:gsLst>
              <a:gs pos="0">
                <a:srgbClr val="012749"/>
              </a:gs>
              <a:gs pos="100000">
                <a:srgbClr val="0E4174"/>
              </a:gs>
            </a:gsLst>
            <a:lin ang="180000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42"/>
          <p:cNvSpPr/>
          <p:nvPr/>
        </p:nvSpPr>
        <p:spPr>
          <a:xfrm>
            <a:off x="762000" y="3238500"/>
            <a:ext cx="18440400" cy="619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600"/>
              <a:buFont typeface="Plus Jakarta Sans"/>
              <a:buNone/>
            </a:pPr>
            <a:r>
              <a:rPr b="1" i="0" lang="en-US" sz="3600" u="none" cap="none" strike="noStrike">
                <a:solidFill>
                  <a:srgbClr val="FFFFFF"/>
                </a:solidFill>
                <a:latin typeface="Plus Jakarta Sans"/>
                <a:ea typeface="Plus Jakarta Sans"/>
                <a:cs typeface="Plus Jakarta Sans"/>
                <a:sym typeface="Plus Jakarta Sans"/>
              </a:rPr>
              <a:t>DRIVER'S VOICES &amp; EVENT HIGHLIGHTS — NW</a:t>
            </a:r>
            <a:endParaRPr b="0" i="0" sz="3600" u="none" cap="none" strike="noStrike">
              <a:solidFill>
                <a:schemeClr val="dk1"/>
              </a:solidFill>
              <a:latin typeface="Calibri"/>
              <a:ea typeface="Calibri"/>
              <a:cs typeface="Calibri"/>
              <a:sym typeface="Calibri"/>
            </a:endParaRPr>
          </a:p>
        </p:txBody>
      </p:sp>
      <p:sp>
        <p:nvSpPr>
          <p:cNvPr id="1597" name="Google Shape;1597;p42"/>
          <p:cNvSpPr/>
          <p:nvPr/>
        </p:nvSpPr>
        <p:spPr>
          <a:xfrm>
            <a:off x="762000" y="4124325"/>
            <a:ext cx="16764000" cy="514500"/>
          </a:xfrm>
          <a:prstGeom prst="roundRect">
            <a:avLst>
              <a:gd fmla="val 18519" name="adj"/>
            </a:avLst>
          </a:prstGeom>
          <a:solidFill>
            <a:srgbClr val="FFFFFF">
              <a:alpha val="1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42"/>
          <p:cNvSpPr/>
          <p:nvPr/>
        </p:nvSpPr>
        <p:spPr>
          <a:xfrm>
            <a:off x="952500" y="4238625"/>
            <a:ext cx="2299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 KEY TAKEAWAY:</a:t>
            </a:r>
            <a:endParaRPr b="0" i="0" sz="1800" u="none" cap="none" strike="noStrike">
              <a:solidFill>
                <a:schemeClr val="dk1"/>
              </a:solidFill>
              <a:latin typeface="Calibri"/>
              <a:ea typeface="Calibri"/>
              <a:cs typeface="Calibri"/>
              <a:sym typeface="Calibri"/>
            </a:endParaRPr>
          </a:p>
        </p:txBody>
      </p:sp>
      <p:sp>
        <p:nvSpPr>
          <p:cNvPr id="1599" name="Google Shape;1599;p42"/>
          <p:cNvSpPr/>
          <p:nvPr/>
        </p:nvSpPr>
        <p:spPr>
          <a:xfrm>
            <a:off x="3157240" y="4248150"/>
            <a:ext cx="97737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Roboto"/>
              <a:buNone/>
            </a:pPr>
            <a:r>
              <a:rPr b="0" i="0" lang="en-US" sz="1800" u="none" cap="none" strike="noStrike">
                <a:solidFill>
                  <a:srgbClr val="FFFFFF"/>
                </a:solidFill>
                <a:latin typeface="Roboto"/>
                <a:ea typeface="Roboto"/>
                <a:cs typeface="Roboto"/>
                <a:sym typeface="Roboto"/>
              </a:rPr>
              <a:t>Phản hồi tài xế cho thấy cần cải thiện truyền thông thay đổi chính sách &amp; ổn định kỹ thuật app.</a:t>
            </a:r>
            <a:endParaRPr b="0" i="0" sz="1800" u="none" cap="none" strike="noStrike">
              <a:solidFill>
                <a:schemeClr val="dk1"/>
              </a:solidFill>
              <a:latin typeface="Calibri"/>
              <a:ea typeface="Calibri"/>
              <a:cs typeface="Calibri"/>
              <a:sym typeface="Calibri"/>
            </a:endParaRPr>
          </a:p>
        </p:txBody>
      </p:sp>
      <p:sp>
        <p:nvSpPr>
          <p:cNvPr id="1600" name="Google Shape;1600;p42"/>
          <p:cNvSpPr/>
          <p:nvPr/>
        </p:nvSpPr>
        <p:spPr>
          <a:xfrm>
            <a:off x="762000" y="4943475"/>
            <a:ext cx="8248800" cy="1533600"/>
          </a:xfrm>
          <a:prstGeom prst="roundRect">
            <a:avLst>
              <a:gd fmla="val 9938" name="adj"/>
            </a:avLst>
          </a:prstGeom>
          <a:solidFill>
            <a:srgbClr val="FFFFFF">
              <a:alpha val="1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42"/>
          <p:cNvSpPr/>
          <p:nvPr/>
        </p:nvSpPr>
        <p:spPr>
          <a:xfrm>
            <a:off x="1028700" y="5210175"/>
            <a:ext cx="84867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 Tự động bật dịch vụ 2h–4h</a:t>
            </a:r>
            <a:endParaRPr b="0" i="0" sz="2100" u="none" cap="none" strike="noStrike">
              <a:solidFill>
                <a:schemeClr val="dk1"/>
              </a:solidFill>
              <a:latin typeface="Calibri"/>
              <a:ea typeface="Calibri"/>
              <a:cs typeface="Calibri"/>
              <a:sym typeface="Calibri"/>
            </a:endParaRPr>
          </a:p>
        </p:txBody>
      </p:sp>
      <p:sp>
        <p:nvSpPr>
          <p:cNvPr id="1602" name="Google Shape;1602;p42"/>
          <p:cNvSpPr/>
          <p:nvPr/>
        </p:nvSpPr>
        <p:spPr>
          <a:xfrm>
            <a:off x="1028700" y="5676900"/>
            <a:ext cx="79467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0" i="0" lang="en-US" sz="1800" u="none" cap="none" strike="noStrike">
                <a:solidFill>
                  <a:srgbClr val="FFFFFF"/>
                </a:solidFill>
                <a:latin typeface="Roboto"/>
                <a:ea typeface="Roboto"/>
                <a:cs typeface="Roboto"/>
                <a:sym typeface="Roboto"/>
              </a:rPr>
              <a:t>Tài xế khá gay gắt, liên hệ tổng đài thắc mắc, bức xúc đăng bài trên các hội nhóm.</a:t>
            </a:r>
            <a:endParaRPr b="0" i="0" sz="1800" u="none" cap="none" strike="noStrike">
              <a:solidFill>
                <a:schemeClr val="dk1"/>
              </a:solidFill>
              <a:latin typeface="Calibri"/>
              <a:ea typeface="Calibri"/>
              <a:cs typeface="Calibri"/>
              <a:sym typeface="Calibri"/>
            </a:endParaRPr>
          </a:p>
        </p:txBody>
      </p:sp>
      <p:sp>
        <p:nvSpPr>
          <p:cNvPr id="1603" name="Google Shape;1603;p42"/>
          <p:cNvSpPr/>
          <p:nvPr/>
        </p:nvSpPr>
        <p:spPr>
          <a:xfrm>
            <a:off x="9277350" y="4943475"/>
            <a:ext cx="8248800" cy="1533600"/>
          </a:xfrm>
          <a:prstGeom prst="roundRect">
            <a:avLst>
              <a:gd fmla="val 9938" name="adj"/>
            </a:avLst>
          </a:prstGeom>
          <a:solidFill>
            <a:srgbClr val="FFFFFF">
              <a:alpha val="1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42"/>
          <p:cNvSpPr/>
          <p:nvPr/>
        </p:nvSpPr>
        <p:spPr>
          <a:xfrm>
            <a:off x="9544050" y="5210175"/>
            <a:ext cx="8486700" cy="390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 Sự cố đăng nhập app (14/8)</a:t>
            </a:r>
            <a:endParaRPr b="0" i="0" sz="2100" u="none" cap="none" strike="noStrike">
              <a:solidFill>
                <a:schemeClr val="dk1"/>
              </a:solidFill>
              <a:latin typeface="Calibri"/>
              <a:ea typeface="Calibri"/>
              <a:cs typeface="Calibri"/>
              <a:sym typeface="Calibri"/>
            </a:endParaRPr>
          </a:p>
        </p:txBody>
      </p:sp>
      <p:sp>
        <p:nvSpPr>
          <p:cNvPr id="1605" name="Google Shape;1605;p42"/>
          <p:cNvSpPr/>
          <p:nvPr/>
        </p:nvSpPr>
        <p:spPr>
          <a:xfrm>
            <a:off x="9544050" y="5676900"/>
            <a:ext cx="84867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0" i="0" lang="en-US" sz="1800" u="none" cap="none" strike="noStrike">
                <a:solidFill>
                  <a:srgbClr val="FFFFFF"/>
                </a:solidFill>
                <a:latin typeface="Roboto"/>
                <a:ea typeface="Roboto"/>
                <a:cs typeface="Roboto"/>
                <a:sym typeface="Roboto"/>
              </a:rPr>
              <a:t>Tài xế không login được vào app trong ngày 14/8 → đã fix trong ngày.</a:t>
            </a:r>
            <a:endParaRPr b="0" i="0" sz="1800" u="none" cap="none" strike="noStrike">
              <a:solidFill>
                <a:schemeClr val="dk1"/>
              </a:solidFill>
              <a:latin typeface="Calibri"/>
              <a:ea typeface="Calibri"/>
              <a:cs typeface="Calibri"/>
              <a:sym typeface="Calibri"/>
            </a:endParaRPr>
          </a:p>
        </p:txBody>
      </p:sp>
      <p:sp>
        <p:nvSpPr>
          <p:cNvPr id="1606" name="Google Shape;1606;p42"/>
          <p:cNvSpPr/>
          <p:nvPr/>
        </p:nvSpPr>
        <p:spPr>
          <a:xfrm>
            <a:off x="762000" y="6781800"/>
            <a:ext cx="18440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0" i="0" lang="en-US" sz="1800" u="none" cap="none" strike="noStrike">
                <a:solidFill>
                  <a:srgbClr val="FFFFFF"/>
                </a:solidFill>
                <a:latin typeface="Roboto"/>
                <a:ea typeface="Roboto"/>
                <a:cs typeface="Roboto"/>
                <a:sym typeface="Roboto"/>
              </a:rPr>
              <a:t>Ahamove — Driver Management | Confidential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sp>
        <p:nvSpPr>
          <p:cNvPr id="1612" name="Google Shape;1612;p43"/>
          <p:cNvSpPr/>
          <p:nvPr/>
        </p:nvSpPr>
        <p:spPr>
          <a:xfrm>
            <a:off x="0" y="0"/>
            <a:ext cx="18288000" cy="10287000"/>
          </a:xfrm>
          <a:prstGeom prst="rect">
            <a:avLst/>
          </a:prstGeom>
          <a:gradFill>
            <a:gsLst>
              <a:gs pos="0">
                <a:srgbClr val="FFFFFF"/>
              </a:gs>
              <a:gs pos="100000">
                <a:srgbClr val="E4F2F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3"/>
          <p:cNvSpPr/>
          <p:nvPr/>
        </p:nvSpPr>
        <p:spPr>
          <a:xfrm>
            <a:off x="14097000" y="-1524000"/>
            <a:ext cx="5334000" cy="5334000"/>
          </a:xfrm>
          <a:prstGeom prst="ellipse">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43"/>
          <p:cNvSpPr/>
          <p:nvPr/>
        </p:nvSpPr>
        <p:spPr>
          <a:xfrm>
            <a:off x="13144500" y="-2476500"/>
            <a:ext cx="4000500" cy="4000500"/>
          </a:xfrm>
          <a:prstGeom prst="ellipse">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5" name="Google Shape;1615;p43"/>
          <p:cNvPicPr preferRelativeResize="0"/>
          <p:nvPr/>
        </p:nvPicPr>
        <p:blipFill rotWithShape="1">
          <a:blip r:embed="rId3">
            <a:alphaModFix/>
          </a:blip>
          <a:srcRect b="0" l="0" r="0" t="0"/>
          <a:stretch/>
        </p:blipFill>
        <p:spPr>
          <a:xfrm>
            <a:off x="762000" y="790575"/>
            <a:ext cx="3087738" cy="533400"/>
          </a:xfrm>
          <a:prstGeom prst="rect">
            <a:avLst/>
          </a:prstGeom>
          <a:noFill/>
          <a:ln>
            <a:noFill/>
          </a:ln>
        </p:spPr>
      </p:pic>
      <p:sp>
        <p:nvSpPr>
          <p:cNvPr id="1616" name="Google Shape;1616;p43"/>
          <p:cNvSpPr/>
          <p:nvPr/>
        </p:nvSpPr>
        <p:spPr>
          <a:xfrm>
            <a:off x="11374934" y="762000"/>
            <a:ext cx="6151200" cy="5907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43"/>
          <p:cNvSpPr/>
          <p:nvPr/>
        </p:nvSpPr>
        <p:spPr>
          <a:xfrm>
            <a:off x="762000" y="4664410"/>
            <a:ext cx="15716100" cy="958200"/>
          </a:xfrm>
          <a:prstGeom prst="rect">
            <a:avLst/>
          </a:prstGeom>
          <a:noFill/>
          <a:ln>
            <a:noFill/>
          </a:ln>
        </p:spPr>
        <p:txBody>
          <a:bodyPr anchorCtr="0" anchor="t" bIns="25400" lIns="25400" spcFirstLastPara="1" rIns="25400" wrap="square" tIns="25400">
            <a:noAutofit/>
          </a:bodyPr>
          <a:lstStyle/>
          <a:p>
            <a:pPr indent="0" lvl="0" marL="0" marR="0" rtl="0" algn="l">
              <a:lnSpc>
                <a:spcPct val="84000"/>
              </a:lnSpc>
              <a:spcBef>
                <a:spcPts val="0"/>
              </a:spcBef>
              <a:spcAft>
                <a:spcPts val="0"/>
              </a:spcAft>
              <a:buClr>
                <a:srgbClr val="012749"/>
              </a:buClr>
              <a:buSzPts val="6900"/>
              <a:buFont typeface="Plus Jakarta Sans"/>
              <a:buNone/>
            </a:pPr>
            <a:r>
              <a:rPr b="1" lang="en-US" sz="6900">
                <a:solidFill>
                  <a:srgbClr val="012749"/>
                </a:solidFill>
                <a:latin typeface="Plus Jakarta Sans"/>
                <a:ea typeface="Plus Jakarta Sans"/>
                <a:cs typeface="Plus Jakarta Sans"/>
                <a:sym typeface="Plus Jakarta Sans"/>
              </a:rPr>
              <a:t>TEMPLATE</a:t>
            </a:r>
            <a:endParaRPr b="0" i="0" sz="69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44"/>
          <p:cNvSpPr/>
          <p:nvPr/>
        </p:nvSpPr>
        <p:spPr>
          <a:xfrm>
            <a:off x="0" y="0"/>
            <a:ext cx="18288000" cy="10287000"/>
          </a:xfrm>
          <a:prstGeom prst="rect">
            <a:avLst/>
          </a:prstGeom>
          <a:gradFill>
            <a:gsLst>
              <a:gs pos="0">
                <a:srgbClr val="FFFFFF"/>
              </a:gs>
              <a:gs pos="100000">
                <a:srgbClr val="E4F2FF"/>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44"/>
          <p:cNvSpPr/>
          <p:nvPr/>
        </p:nvSpPr>
        <p:spPr>
          <a:xfrm>
            <a:off x="14097000" y="-1524000"/>
            <a:ext cx="5334000" cy="5334000"/>
          </a:xfrm>
          <a:prstGeom prst="ellipse">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44"/>
          <p:cNvSpPr/>
          <p:nvPr/>
        </p:nvSpPr>
        <p:spPr>
          <a:xfrm>
            <a:off x="13144500" y="-2476500"/>
            <a:ext cx="4000500" cy="4000500"/>
          </a:xfrm>
          <a:prstGeom prst="ellipse">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26" name="Google Shape;1626;p44"/>
          <p:cNvPicPr preferRelativeResize="0"/>
          <p:nvPr/>
        </p:nvPicPr>
        <p:blipFill rotWithShape="1">
          <a:blip r:embed="rId3">
            <a:alphaModFix/>
          </a:blip>
          <a:srcRect b="0" l="0" r="0" t="0"/>
          <a:stretch/>
        </p:blipFill>
        <p:spPr>
          <a:xfrm>
            <a:off x="762000" y="790575"/>
            <a:ext cx="3087738" cy="533400"/>
          </a:xfrm>
          <a:prstGeom prst="rect">
            <a:avLst/>
          </a:prstGeom>
          <a:noFill/>
          <a:ln>
            <a:noFill/>
          </a:ln>
        </p:spPr>
      </p:pic>
      <p:sp>
        <p:nvSpPr>
          <p:cNvPr id="1627" name="Google Shape;1627;p44"/>
          <p:cNvSpPr/>
          <p:nvPr/>
        </p:nvSpPr>
        <p:spPr>
          <a:xfrm>
            <a:off x="13261181" y="762000"/>
            <a:ext cx="4264800" cy="590700"/>
          </a:xfrm>
          <a:prstGeom prst="roundRect">
            <a:avLst>
              <a:gd fmla="val 50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44"/>
          <p:cNvSpPr/>
          <p:nvPr/>
        </p:nvSpPr>
        <p:spPr>
          <a:xfrm>
            <a:off x="13565981" y="914400"/>
            <a:ext cx="37833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Tuần báo cáo: [dd–dd/mm/yyyy]</a:t>
            </a:r>
            <a:endParaRPr b="0" i="0" sz="1800" u="none" cap="none" strike="noStrike">
              <a:solidFill>
                <a:schemeClr val="dk1"/>
              </a:solidFill>
              <a:latin typeface="Calibri"/>
              <a:ea typeface="Calibri"/>
              <a:cs typeface="Calibri"/>
              <a:sym typeface="Calibri"/>
            </a:endParaRPr>
          </a:p>
        </p:txBody>
      </p:sp>
      <p:sp>
        <p:nvSpPr>
          <p:cNvPr id="1629" name="Google Shape;1629;p44"/>
          <p:cNvSpPr/>
          <p:nvPr/>
        </p:nvSpPr>
        <p:spPr>
          <a:xfrm>
            <a:off x="762000" y="3602385"/>
            <a:ext cx="157161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4174"/>
              </a:buClr>
              <a:buSzPts val="2100"/>
              <a:buFont typeface="Arial"/>
              <a:buNone/>
            </a:pPr>
            <a:r>
              <a:rPr b="1" i="0" lang="en-US" sz="2100" u="none" cap="none" strike="noStrike">
                <a:solidFill>
                  <a:srgbClr val="0E4174"/>
                </a:solidFill>
                <a:latin typeface="Arial"/>
                <a:ea typeface="Arial"/>
                <a:cs typeface="Arial"/>
                <a:sym typeface="Arial"/>
              </a:rPr>
              <a:t>DRIVER MANAGEMENT</a:t>
            </a:r>
            <a:endParaRPr b="0" i="0" sz="2100" u="none" cap="none" strike="noStrike">
              <a:solidFill>
                <a:schemeClr val="dk1"/>
              </a:solidFill>
              <a:latin typeface="Calibri"/>
              <a:ea typeface="Calibri"/>
              <a:cs typeface="Calibri"/>
              <a:sym typeface="Calibri"/>
            </a:endParaRPr>
          </a:p>
        </p:txBody>
      </p:sp>
      <p:sp>
        <p:nvSpPr>
          <p:cNvPr id="1630" name="Google Shape;1630;p44"/>
          <p:cNvSpPr/>
          <p:nvPr/>
        </p:nvSpPr>
        <p:spPr>
          <a:xfrm>
            <a:off x="762000" y="4164360"/>
            <a:ext cx="14716200" cy="1958400"/>
          </a:xfrm>
          <a:prstGeom prst="rect">
            <a:avLst/>
          </a:prstGeom>
          <a:noFill/>
          <a:ln>
            <a:noFill/>
          </a:ln>
        </p:spPr>
        <p:txBody>
          <a:bodyPr anchorCtr="0" anchor="t" bIns="25400" lIns="25400" spcFirstLastPara="1" rIns="25400" wrap="square" tIns="25400">
            <a:noAutofit/>
          </a:bodyPr>
          <a:lstStyle/>
          <a:p>
            <a:pPr indent="0" lvl="0" marL="0" marR="0" rtl="0" algn="l">
              <a:lnSpc>
                <a:spcPct val="91636"/>
              </a:lnSpc>
              <a:spcBef>
                <a:spcPts val="0"/>
              </a:spcBef>
              <a:spcAft>
                <a:spcPts val="0"/>
              </a:spcAft>
              <a:buClr>
                <a:srgbClr val="012749"/>
              </a:buClr>
              <a:buSzPts val="7200"/>
              <a:buFont typeface="Arial"/>
              <a:buNone/>
            </a:pPr>
            <a:r>
              <a:rPr b="1" i="0" lang="en-US" sz="7200" u="none" cap="none" strike="noStrike">
                <a:solidFill>
                  <a:srgbClr val="012749"/>
                </a:solidFill>
                <a:latin typeface="Arial"/>
                <a:ea typeface="Arial"/>
                <a:cs typeface="Arial"/>
                <a:sym typeface="Arial"/>
              </a:rPr>
              <a:t>DM NW WEEKLY </a:t>
            </a:r>
            <a:r>
              <a:rPr b="1" i="0" lang="en-US" sz="7200" u="none" cap="none" strike="noStrike">
                <a:solidFill>
                  <a:srgbClr val="FF7F32"/>
                </a:solidFill>
                <a:latin typeface="Arial"/>
                <a:ea typeface="Arial"/>
                <a:cs typeface="Arial"/>
                <a:sym typeface="Arial"/>
              </a:rPr>
              <a:t>MEETING REPORT</a:t>
            </a:r>
            <a:endParaRPr b="0" i="0" sz="7200" u="none" cap="none" strike="noStrike">
              <a:solidFill>
                <a:schemeClr val="dk1"/>
              </a:solidFill>
              <a:latin typeface="Calibri"/>
              <a:ea typeface="Calibri"/>
              <a:cs typeface="Calibri"/>
              <a:sym typeface="Calibri"/>
            </a:endParaRPr>
          </a:p>
        </p:txBody>
      </p:sp>
      <p:sp>
        <p:nvSpPr>
          <p:cNvPr id="1631" name="Google Shape;1631;p44"/>
          <p:cNvSpPr/>
          <p:nvPr/>
        </p:nvSpPr>
        <p:spPr>
          <a:xfrm>
            <a:off x="762000" y="6313140"/>
            <a:ext cx="12573000" cy="40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2400"/>
              <a:buFont typeface="Roboto"/>
              <a:buNone/>
            </a:pPr>
            <a:r>
              <a:rPr b="0" i="0" lang="en-US" sz="2400" u="none" cap="none" strike="noStrike">
                <a:solidFill>
                  <a:srgbClr val="4C5158"/>
                </a:solidFill>
                <a:latin typeface="Roboto"/>
                <a:ea typeface="Roboto"/>
                <a:cs typeface="Roboto"/>
                <a:sym typeface="Roboto"/>
              </a:rPr>
              <a:t>[Mô tả 1 câu về phạm vi báo cáo — các khu vực và chủ đề chính sẽ được cập nhật.]</a:t>
            </a:r>
            <a:endParaRPr b="0" i="0" sz="2400" u="none" cap="none" strike="noStrike">
              <a:solidFill>
                <a:schemeClr val="dk1"/>
              </a:solidFill>
              <a:latin typeface="Calibri"/>
              <a:ea typeface="Calibri"/>
              <a:cs typeface="Calibri"/>
              <a:sym typeface="Calibri"/>
            </a:endParaRPr>
          </a:p>
        </p:txBody>
      </p:sp>
      <p:sp>
        <p:nvSpPr>
          <p:cNvPr id="1632" name="Google Shape;1632;p44"/>
          <p:cNvSpPr/>
          <p:nvPr/>
        </p:nvSpPr>
        <p:spPr>
          <a:xfrm>
            <a:off x="762000" y="8924925"/>
            <a:ext cx="37197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Người trình bày</a:t>
            </a:r>
            <a:endParaRPr b="0" i="0" sz="1800" u="none" cap="none" strike="noStrike">
              <a:solidFill>
                <a:schemeClr val="dk1"/>
              </a:solidFill>
              <a:latin typeface="Calibri"/>
              <a:ea typeface="Calibri"/>
              <a:cs typeface="Calibri"/>
              <a:sym typeface="Calibri"/>
            </a:endParaRPr>
          </a:p>
        </p:txBody>
      </p:sp>
      <p:sp>
        <p:nvSpPr>
          <p:cNvPr id="1633" name="Google Shape;1633;p44"/>
          <p:cNvSpPr/>
          <p:nvPr/>
        </p:nvSpPr>
        <p:spPr>
          <a:xfrm>
            <a:off x="762000" y="9191625"/>
            <a:ext cx="37197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Arial"/>
              <a:buNone/>
            </a:pPr>
            <a:r>
              <a:rPr b="1" i="0" lang="en-US" sz="2100" u="none" cap="none" strike="noStrike">
                <a:solidFill>
                  <a:srgbClr val="121619"/>
                </a:solidFill>
                <a:latin typeface="Arial"/>
                <a:ea typeface="Arial"/>
                <a:cs typeface="Arial"/>
                <a:sym typeface="Arial"/>
              </a:rPr>
              <a:t>[Tên người/team trình bày]</a:t>
            </a:r>
            <a:endParaRPr b="0" i="0" sz="2100" u="none" cap="none" strike="noStrike">
              <a:solidFill>
                <a:schemeClr val="dk1"/>
              </a:solidFill>
              <a:latin typeface="Calibri"/>
              <a:ea typeface="Calibri"/>
              <a:cs typeface="Calibri"/>
              <a:sym typeface="Calibri"/>
            </a:endParaRPr>
          </a:p>
        </p:txBody>
      </p:sp>
      <p:sp>
        <p:nvSpPr>
          <p:cNvPr id="1634" name="Google Shape;1634;p44"/>
          <p:cNvSpPr/>
          <p:nvPr/>
        </p:nvSpPr>
        <p:spPr>
          <a:xfrm>
            <a:off x="4600724" y="8924925"/>
            <a:ext cx="1850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Khu vực</a:t>
            </a:r>
            <a:endParaRPr b="0" i="0" sz="1800" u="none" cap="none" strike="noStrike">
              <a:solidFill>
                <a:schemeClr val="dk1"/>
              </a:solidFill>
              <a:latin typeface="Calibri"/>
              <a:ea typeface="Calibri"/>
              <a:cs typeface="Calibri"/>
              <a:sym typeface="Calibri"/>
            </a:endParaRPr>
          </a:p>
        </p:txBody>
      </p:sp>
      <p:sp>
        <p:nvSpPr>
          <p:cNvPr id="1635" name="Google Shape;1635;p44"/>
          <p:cNvSpPr/>
          <p:nvPr/>
        </p:nvSpPr>
        <p:spPr>
          <a:xfrm>
            <a:off x="4600724" y="9191625"/>
            <a:ext cx="1850400" cy="371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100"/>
              <a:buFont typeface="Arial"/>
              <a:buNone/>
            </a:pPr>
            <a:r>
              <a:rPr b="1" i="0" lang="en-US" sz="2100" u="none" cap="none" strike="noStrike">
                <a:solidFill>
                  <a:srgbClr val="121619"/>
                </a:solidFill>
                <a:latin typeface="Arial"/>
                <a:ea typeface="Arial"/>
                <a:cs typeface="Arial"/>
                <a:sym typeface="Arial"/>
              </a:rPr>
              <a:t>[Tên khu vực]</a:t>
            </a:r>
            <a:endParaRPr b="0" i="0" sz="2100" u="none" cap="none" strike="noStrike">
              <a:solidFill>
                <a:schemeClr val="dk1"/>
              </a:solidFill>
              <a:latin typeface="Calibri"/>
              <a:ea typeface="Calibri"/>
              <a:cs typeface="Calibri"/>
              <a:sym typeface="Calibri"/>
            </a:endParaRPr>
          </a:p>
        </p:txBody>
      </p:sp>
      <p:sp>
        <p:nvSpPr>
          <p:cNvPr id="1636" name="Google Shape;1636;p44"/>
          <p:cNvSpPr/>
          <p:nvPr/>
        </p:nvSpPr>
        <p:spPr>
          <a:xfrm>
            <a:off x="12892385" y="9258300"/>
            <a:ext cx="50970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Ahamove — Driver Management | Confidential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1" name="Shape 1641"/>
        <p:cNvGrpSpPr/>
        <p:nvPr/>
      </p:nvGrpSpPr>
      <p:grpSpPr>
        <a:xfrm>
          <a:off x="0" y="0"/>
          <a:ext cx="0" cy="0"/>
          <a:chOff x="0" y="0"/>
          <a:chExt cx="0" cy="0"/>
        </a:xfrm>
      </p:grpSpPr>
      <p:sp>
        <p:nvSpPr>
          <p:cNvPr id="1642" name="Google Shape;1642;p45"/>
          <p:cNvSpPr/>
          <p:nvPr/>
        </p:nvSpPr>
        <p:spPr>
          <a:xfrm>
            <a:off x="762000" y="533400"/>
            <a:ext cx="9826500" cy="619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3600"/>
              <a:buFont typeface="Plus Jakarta Sans"/>
              <a:buNone/>
            </a:pPr>
            <a:r>
              <a:rPr b="1" i="0" lang="en-US" sz="3600" u="none" cap="none" strike="noStrike">
                <a:solidFill>
                  <a:srgbClr val="012749"/>
                </a:solidFill>
                <a:latin typeface="Plus Jakarta Sans"/>
                <a:ea typeface="Plus Jakarta Sans"/>
                <a:cs typeface="Plus Jakarta Sans"/>
                <a:sym typeface="Plus Jakarta Sans"/>
              </a:rPr>
              <a:t>EXECUTIVE SUMMARY</a:t>
            </a:r>
            <a:endParaRPr b="0" i="0" sz="3600" u="none" cap="none" strike="noStrike">
              <a:solidFill>
                <a:schemeClr val="dk1"/>
              </a:solidFill>
              <a:latin typeface="Calibri"/>
              <a:ea typeface="Calibri"/>
              <a:cs typeface="Calibri"/>
              <a:sym typeface="Calibri"/>
            </a:endParaRPr>
          </a:p>
        </p:txBody>
      </p:sp>
      <p:sp>
        <p:nvSpPr>
          <p:cNvPr id="1643" name="Google Shape;1643;p45"/>
          <p:cNvSpPr/>
          <p:nvPr/>
        </p:nvSpPr>
        <p:spPr>
          <a:xfrm>
            <a:off x="762000" y="1152525"/>
            <a:ext cx="9826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Tổng quan hiệu suất tuần — [Khu vực A &amp; B]</a:t>
            </a:r>
            <a:endParaRPr b="0" i="0" sz="1950" u="none" cap="none" strike="noStrike">
              <a:solidFill>
                <a:schemeClr val="dk1"/>
              </a:solidFill>
              <a:latin typeface="Calibri"/>
              <a:ea typeface="Calibri"/>
              <a:cs typeface="Calibri"/>
              <a:sym typeface="Calibri"/>
            </a:endParaRPr>
          </a:p>
        </p:txBody>
      </p:sp>
      <p:sp>
        <p:nvSpPr>
          <p:cNvPr id="1644" name="Google Shape;1644;p45"/>
          <p:cNvSpPr/>
          <p:nvPr/>
        </p:nvSpPr>
        <p:spPr>
          <a:xfrm>
            <a:off x="762000" y="1533525"/>
            <a:ext cx="89331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5" name="Google Shape;1645;p45"/>
          <p:cNvPicPr preferRelativeResize="0"/>
          <p:nvPr/>
        </p:nvPicPr>
        <p:blipFill rotWithShape="1">
          <a:blip r:embed="rId3">
            <a:alphaModFix/>
          </a:blip>
          <a:srcRect b="0" l="0" r="0" t="0"/>
          <a:stretch/>
        </p:blipFill>
        <p:spPr>
          <a:xfrm>
            <a:off x="952500" y="1714500"/>
            <a:ext cx="209550" cy="209550"/>
          </a:xfrm>
          <a:prstGeom prst="rect">
            <a:avLst/>
          </a:prstGeom>
          <a:noFill/>
          <a:ln>
            <a:noFill/>
          </a:ln>
        </p:spPr>
      </p:pic>
      <p:sp>
        <p:nvSpPr>
          <p:cNvPr id="1646" name="Google Shape;1646;p45"/>
          <p:cNvSpPr/>
          <p:nvPr/>
        </p:nvSpPr>
        <p:spPr>
          <a:xfrm>
            <a:off x="1221581" y="1647825"/>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1647" name="Google Shape;1647;p45"/>
          <p:cNvSpPr/>
          <p:nvPr/>
        </p:nvSpPr>
        <p:spPr>
          <a:xfrm>
            <a:off x="3146375" y="1657350"/>
            <a:ext cx="65490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quan trọng nhất của tuần, chỉ ra điểm cần theo dõi.]</a:t>
            </a:r>
            <a:endParaRPr b="0" i="0" sz="1800" u="none" cap="none" strike="noStrike">
              <a:solidFill>
                <a:schemeClr val="dk1"/>
              </a:solidFill>
              <a:latin typeface="Calibri"/>
              <a:ea typeface="Calibri"/>
              <a:cs typeface="Calibri"/>
              <a:sym typeface="Calibri"/>
            </a:endParaRPr>
          </a:p>
        </p:txBody>
      </p:sp>
      <p:sp>
        <p:nvSpPr>
          <p:cNvPr id="1648" name="Google Shape;1648;p45"/>
          <p:cNvSpPr/>
          <p:nvPr/>
        </p:nvSpPr>
        <p:spPr>
          <a:xfrm>
            <a:off x="14183140" y="533400"/>
            <a:ext cx="3342900" cy="5715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Ahamove — Driver Management Confidential</a:t>
            </a:r>
            <a:endParaRPr b="0" i="0" sz="1800" u="none" cap="none" strike="noStrike">
              <a:solidFill>
                <a:schemeClr val="dk1"/>
              </a:solidFill>
              <a:latin typeface="Calibri"/>
              <a:ea typeface="Calibri"/>
              <a:cs typeface="Calibri"/>
              <a:sym typeface="Calibri"/>
            </a:endParaRPr>
          </a:p>
        </p:txBody>
      </p:sp>
      <p:sp>
        <p:nvSpPr>
          <p:cNvPr id="1649" name="Google Shape;1649;p45"/>
          <p:cNvSpPr/>
          <p:nvPr/>
        </p:nvSpPr>
        <p:spPr>
          <a:xfrm>
            <a:off x="704850" y="2257425"/>
            <a:ext cx="4048200" cy="1571700"/>
          </a:xfrm>
          <a:prstGeom prst="roundRect">
            <a:avLst>
              <a:gd fmla="val 13333" name="adj"/>
            </a:avLst>
          </a:prstGeom>
          <a:solidFill>
            <a:srgbClr val="0E41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5"/>
          <p:cNvSpPr/>
          <p:nvPr/>
        </p:nvSpPr>
        <p:spPr>
          <a:xfrm>
            <a:off x="762000" y="2257425"/>
            <a:ext cx="4048200" cy="1571700"/>
          </a:xfrm>
          <a:prstGeom prst="roundRect">
            <a:avLst>
              <a:gd fmla="val 969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5"/>
          <p:cNvSpPr/>
          <p:nvPr/>
        </p:nvSpPr>
        <p:spPr>
          <a:xfrm>
            <a:off x="971550" y="2466975"/>
            <a:ext cx="3991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[TÊN CHỈ SỐ 1]</a:t>
            </a:r>
            <a:endParaRPr b="0" i="0" sz="1800" u="none" cap="none" strike="noStrike">
              <a:solidFill>
                <a:schemeClr val="dk1"/>
              </a:solidFill>
              <a:latin typeface="Calibri"/>
              <a:ea typeface="Calibri"/>
              <a:cs typeface="Calibri"/>
              <a:sym typeface="Calibri"/>
            </a:endParaRPr>
          </a:p>
        </p:txBody>
      </p:sp>
      <p:sp>
        <p:nvSpPr>
          <p:cNvPr id="1652" name="Google Shape;1652;p45"/>
          <p:cNvSpPr/>
          <p:nvPr/>
        </p:nvSpPr>
        <p:spPr>
          <a:xfrm>
            <a:off x="971550" y="2809875"/>
            <a:ext cx="3991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[0,0]%</a:t>
            </a:r>
            <a:endParaRPr b="0" i="0" sz="3300" u="none" cap="none" strike="noStrike">
              <a:solidFill>
                <a:schemeClr val="dk1"/>
              </a:solidFill>
              <a:latin typeface="Calibri"/>
              <a:ea typeface="Calibri"/>
              <a:cs typeface="Calibri"/>
              <a:sym typeface="Calibri"/>
            </a:endParaRPr>
          </a:p>
        </p:txBody>
      </p:sp>
      <p:sp>
        <p:nvSpPr>
          <p:cNvPr id="1653" name="Google Shape;1653;p45"/>
          <p:cNvSpPr/>
          <p:nvPr/>
        </p:nvSpPr>
        <p:spPr>
          <a:xfrm>
            <a:off x="971550" y="3343275"/>
            <a:ext cx="39918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 MoM</a:t>
            </a:r>
            <a:endParaRPr b="0" i="0" sz="1800" u="none" cap="none" strike="noStrike">
              <a:solidFill>
                <a:schemeClr val="dk1"/>
              </a:solidFill>
              <a:latin typeface="Calibri"/>
              <a:ea typeface="Calibri"/>
              <a:cs typeface="Calibri"/>
              <a:sym typeface="Calibri"/>
            </a:endParaRPr>
          </a:p>
        </p:txBody>
      </p:sp>
      <p:sp>
        <p:nvSpPr>
          <p:cNvPr id="1654" name="Google Shape;1654;p45"/>
          <p:cNvSpPr/>
          <p:nvPr/>
        </p:nvSpPr>
        <p:spPr>
          <a:xfrm>
            <a:off x="4943475" y="2257425"/>
            <a:ext cx="4048200" cy="1571700"/>
          </a:xfrm>
          <a:prstGeom prst="roundRect">
            <a:avLst>
              <a:gd fmla="val 13333"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45"/>
          <p:cNvSpPr/>
          <p:nvPr/>
        </p:nvSpPr>
        <p:spPr>
          <a:xfrm>
            <a:off x="5000625" y="2257425"/>
            <a:ext cx="4048200" cy="1571700"/>
          </a:xfrm>
          <a:prstGeom prst="roundRect">
            <a:avLst>
              <a:gd fmla="val 969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45"/>
          <p:cNvSpPr/>
          <p:nvPr/>
        </p:nvSpPr>
        <p:spPr>
          <a:xfrm>
            <a:off x="5210175" y="2466975"/>
            <a:ext cx="3991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[TÊN CHỈ SỐ 2]</a:t>
            </a:r>
            <a:endParaRPr b="0" i="0" sz="1800" u="none" cap="none" strike="noStrike">
              <a:solidFill>
                <a:schemeClr val="dk1"/>
              </a:solidFill>
              <a:latin typeface="Calibri"/>
              <a:ea typeface="Calibri"/>
              <a:cs typeface="Calibri"/>
              <a:sym typeface="Calibri"/>
            </a:endParaRPr>
          </a:p>
        </p:txBody>
      </p:sp>
      <p:sp>
        <p:nvSpPr>
          <p:cNvPr id="1657" name="Google Shape;1657;p45"/>
          <p:cNvSpPr/>
          <p:nvPr/>
        </p:nvSpPr>
        <p:spPr>
          <a:xfrm>
            <a:off x="5210175" y="2809875"/>
            <a:ext cx="3991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[0,0]%</a:t>
            </a:r>
            <a:endParaRPr b="0" i="0" sz="3300" u="none" cap="none" strike="noStrike">
              <a:solidFill>
                <a:schemeClr val="dk1"/>
              </a:solidFill>
              <a:latin typeface="Calibri"/>
              <a:ea typeface="Calibri"/>
              <a:cs typeface="Calibri"/>
              <a:sym typeface="Calibri"/>
            </a:endParaRPr>
          </a:p>
        </p:txBody>
      </p:sp>
      <p:sp>
        <p:nvSpPr>
          <p:cNvPr id="1658" name="Google Shape;1658;p45"/>
          <p:cNvSpPr/>
          <p:nvPr/>
        </p:nvSpPr>
        <p:spPr>
          <a:xfrm>
            <a:off x="5210175" y="3343275"/>
            <a:ext cx="39918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 WoW</a:t>
            </a:r>
            <a:endParaRPr b="0" i="0" sz="1800" u="none" cap="none" strike="noStrike">
              <a:solidFill>
                <a:schemeClr val="dk1"/>
              </a:solidFill>
              <a:latin typeface="Calibri"/>
              <a:ea typeface="Calibri"/>
              <a:cs typeface="Calibri"/>
              <a:sym typeface="Calibri"/>
            </a:endParaRPr>
          </a:p>
        </p:txBody>
      </p:sp>
      <p:sp>
        <p:nvSpPr>
          <p:cNvPr id="1659" name="Google Shape;1659;p45"/>
          <p:cNvSpPr/>
          <p:nvPr/>
        </p:nvSpPr>
        <p:spPr>
          <a:xfrm>
            <a:off x="9182100" y="2257425"/>
            <a:ext cx="4048200" cy="1571700"/>
          </a:xfrm>
          <a:prstGeom prst="roundRect">
            <a:avLst>
              <a:gd fmla="val 13333"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5"/>
          <p:cNvSpPr/>
          <p:nvPr/>
        </p:nvSpPr>
        <p:spPr>
          <a:xfrm>
            <a:off x="9239250" y="2257425"/>
            <a:ext cx="4048200" cy="1571700"/>
          </a:xfrm>
          <a:prstGeom prst="roundRect">
            <a:avLst>
              <a:gd fmla="val 969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5"/>
          <p:cNvSpPr/>
          <p:nvPr/>
        </p:nvSpPr>
        <p:spPr>
          <a:xfrm>
            <a:off x="9448800" y="2466975"/>
            <a:ext cx="3991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[TÊN CHỈ SỐ 3]</a:t>
            </a:r>
            <a:endParaRPr b="0" i="0" sz="1800" u="none" cap="none" strike="noStrike">
              <a:solidFill>
                <a:schemeClr val="dk1"/>
              </a:solidFill>
              <a:latin typeface="Calibri"/>
              <a:ea typeface="Calibri"/>
              <a:cs typeface="Calibri"/>
              <a:sym typeface="Calibri"/>
            </a:endParaRPr>
          </a:p>
        </p:txBody>
      </p:sp>
      <p:sp>
        <p:nvSpPr>
          <p:cNvPr id="1662" name="Google Shape;1662;p45"/>
          <p:cNvSpPr/>
          <p:nvPr/>
        </p:nvSpPr>
        <p:spPr>
          <a:xfrm>
            <a:off x="9448800" y="2809875"/>
            <a:ext cx="3991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[0,0]%</a:t>
            </a:r>
            <a:endParaRPr b="0" i="0" sz="3300" u="none" cap="none" strike="noStrike">
              <a:solidFill>
                <a:schemeClr val="dk1"/>
              </a:solidFill>
              <a:latin typeface="Calibri"/>
              <a:ea typeface="Calibri"/>
              <a:cs typeface="Calibri"/>
              <a:sym typeface="Calibri"/>
            </a:endParaRPr>
          </a:p>
        </p:txBody>
      </p:sp>
      <p:sp>
        <p:nvSpPr>
          <p:cNvPr id="1663" name="Google Shape;1663;p45"/>
          <p:cNvSpPr/>
          <p:nvPr/>
        </p:nvSpPr>
        <p:spPr>
          <a:xfrm>
            <a:off x="9448800" y="3343275"/>
            <a:ext cx="39918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[0,0]% target · ▼[0,0]% WoW</a:t>
            </a:r>
            <a:endParaRPr b="0" i="0" sz="1800" u="none" cap="none" strike="noStrike">
              <a:solidFill>
                <a:schemeClr val="dk1"/>
              </a:solidFill>
              <a:latin typeface="Calibri"/>
              <a:ea typeface="Calibri"/>
              <a:cs typeface="Calibri"/>
              <a:sym typeface="Calibri"/>
            </a:endParaRPr>
          </a:p>
        </p:txBody>
      </p:sp>
      <p:sp>
        <p:nvSpPr>
          <p:cNvPr id="1664" name="Google Shape;1664;p45"/>
          <p:cNvSpPr/>
          <p:nvPr/>
        </p:nvSpPr>
        <p:spPr>
          <a:xfrm>
            <a:off x="13420725" y="2257425"/>
            <a:ext cx="4048200" cy="1571700"/>
          </a:xfrm>
          <a:prstGeom prst="roundRect">
            <a:avLst>
              <a:gd fmla="val 13333"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45"/>
          <p:cNvSpPr/>
          <p:nvPr/>
        </p:nvSpPr>
        <p:spPr>
          <a:xfrm>
            <a:off x="13477875" y="2257425"/>
            <a:ext cx="4048200" cy="1571700"/>
          </a:xfrm>
          <a:prstGeom prst="roundRect">
            <a:avLst>
              <a:gd fmla="val 969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45"/>
          <p:cNvSpPr/>
          <p:nvPr/>
        </p:nvSpPr>
        <p:spPr>
          <a:xfrm>
            <a:off x="13687425" y="2466975"/>
            <a:ext cx="3991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[TÊN CHỈ SỐ 4]</a:t>
            </a:r>
            <a:endParaRPr b="0" i="0" sz="1800" u="none" cap="none" strike="noStrike">
              <a:solidFill>
                <a:schemeClr val="dk1"/>
              </a:solidFill>
              <a:latin typeface="Calibri"/>
              <a:ea typeface="Calibri"/>
              <a:cs typeface="Calibri"/>
              <a:sym typeface="Calibri"/>
            </a:endParaRPr>
          </a:p>
        </p:txBody>
      </p:sp>
      <p:sp>
        <p:nvSpPr>
          <p:cNvPr id="1667" name="Google Shape;1667;p45"/>
          <p:cNvSpPr/>
          <p:nvPr/>
        </p:nvSpPr>
        <p:spPr>
          <a:xfrm>
            <a:off x="13687425" y="2809875"/>
            <a:ext cx="3991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[0,0]%</a:t>
            </a:r>
            <a:endParaRPr b="0" i="0" sz="3300" u="none" cap="none" strike="noStrike">
              <a:solidFill>
                <a:schemeClr val="dk1"/>
              </a:solidFill>
              <a:latin typeface="Calibri"/>
              <a:ea typeface="Calibri"/>
              <a:cs typeface="Calibri"/>
              <a:sym typeface="Calibri"/>
            </a:endParaRPr>
          </a:p>
        </p:txBody>
      </p:sp>
      <p:sp>
        <p:nvSpPr>
          <p:cNvPr id="1668" name="Google Shape;1668;p45"/>
          <p:cNvSpPr/>
          <p:nvPr/>
        </p:nvSpPr>
        <p:spPr>
          <a:xfrm>
            <a:off x="13687425" y="3343275"/>
            <a:ext cx="3991800" cy="314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[0,0]% target · ▼[0,0]% WoW</a:t>
            </a:r>
            <a:endParaRPr b="0" i="0" sz="1800" u="none" cap="none" strike="noStrike">
              <a:solidFill>
                <a:schemeClr val="dk1"/>
              </a:solidFill>
              <a:latin typeface="Calibri"/>
              <a:ea typeface="Calibri"/>
              <a:cs typeface="Calibri"/>
              <a:sym typeface="Calibri"/>
            </a:endParaRPr>
          </a:p>
        </p:txBody>
      </p:sp>
      <p:sp>
        <p:nvSpPr>
          <p:cNvPr id="1669" name="Google Shape;1669;p45"/>
          <p:cNvSpPr/>
          <p:nvPr/>
        </p:nvSpPr>
        <p:spPr>
          <a:xfrm>
            <a:off x="704850" y="4038600"/>
            <a:ext cx="8286900" cy="3990900"/>
          </a:xfrm>
          <a:prstGeom prst="roundRect">
            <a:avLst>
              <a:gd fmla="val 4296"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5"/>
          <p:cNvSpPr/>
          <p:nvPr/>
        </p:nvSpPr>
        <p:spPr>
          <a:xfrm>
            <a:off x="762000" y="4038600"/>
            <a:ext cx="8286900" cy="3990900"/>
          </a:xfrm>
          <a:prstGeom prst="roundRect">
            <a:avLst>
              <a:gd fmla="val 2864"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1" name="Google Shape;1671;p45"/>
          <p:cNvPicPr preferRelativeResize="0"/>
          <p:nvPr/>
        </p:nvPicPr>
        <p:blipFill rotWithShape="1">
          <a:blip r:embed="rId4">
            <a:alphaModFix/>
          </a:blip>
          <a:srcRect b="0" l="0" r="0" t="0"/>
          <a:stretch/>
        </p:blipFill>
        <p:spPr>
          <a:xfrm>
            <a:off x="971550" y="4305300"/>
            <a:ext cx="247650" cy="247650"/>
          </a:xfrm>
          <a:prstGeom prst="rect">
            <a:avLst/>
          </a:prstGeom>
          <a:noFill/>
          <a:ln>
            <a:noFill/>
          </a:ln>
        </p:spPr>
      </p:pic>
      <p:sp>
        <p:nvSpPr>
          <p:cNvPr id="1672" name="Google Shape;1672;p45"/>
          <p:cNvSpPr/>
          <p:nvPr/>
        </p:nvSpPr>
        <p:spPr>
          <a:xfrm>
            <a:off x="1282154" y="4248150"/>
            <a:ext cx="15885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7C3F"/>
              </a:buClr>
              <a:buSzPts val="1950"/>
              <a:buFont typeface="Plus Jakarta Sans"/>
              <a:buNone/>
            </a:pPr>
            <a:r>
              <a:rPr b="1" i="0" lang="en-US" sz="1950" u="none" cap="none" strike="noStrike">
                <a:solidFill>
                  <a:srgbClr val="167C3F"/>
                </a:solidFill>
                <a:latin typeface="Plus Jakarta Sans"/>
                <a:ea typeface="Plus Jakarta Sans"/>
                <a:cs typeface="Plus Jakarta Sans"/>
                <a:sym typeface="Plus Jakarta Sans"/>
              </a:rPr>
              <a:t>HIGHLIGHTS</a:t>
            </a:r>
            <a:endParaRPr b="0" i="0" sz="1950" u="none" cap="none" strike="noStrike">
              <a:solidFill>
                <a:schemeClr val="dk1"/>
              </a:solidFill>
              <a:latin typeface="Calibri"/>
              <a:ea typeface="Calibri"/>
              <a:cs typeface="Calibri"/>
              <a:sym typeface="Calibri"/>
            </a:endParaRPr>
          </a:p>
        </p:txBody>
      </p:sp>
      <p:sp>
        <p:nvSpPr>
          <p:cNvPr id="1673" name="Google Shape;1673;p45"/>
          <p:cNvSpPr/>
          <p:nvPr/>
        </p:nvSpPr>
        <p:spPr>
          <a:xfrm>
            <a:off x="1021080" y="4657725"/>
            <a:ext cx="7894200" cy="12765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nổi bật 1]</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nổi bật 2]</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nổi bật 3]</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nổi bật 4]</a:t>
            </a:r>
            <a:endParaRPr b="0" i="0" sz="1800" u="none" cap="none" strike="noStrike">
              <a:solidFill>
                <a:schemeClr val="dk1"/>
              </a:solidFill>
              <a:latin typeface="Calibri"/>
              <a:ea typeface="Calibri"/>
              <a:cs typeface="Calibri"/>
              <a:sym typeface="Calibri"/>
            </a:endParaRPr>
          </a:p>
        </p:txBody>
      </p:sp>
      <p:sp>
        <p:nvSpPr>
          <p:cNvPr id="1674" name="Google Shape;1674;p45"/>
          <p:cNvSpPr/>
          <p:nvPr/>
        </p:nvSpPr>
        <p:spPr>
          <a:xfrm>
            <a:off x="9182100" y="4038600"/>
            <a:ext cx="8286900" cy="3990900"/>
          </a:xfrm>
          <a:prstGeom prst="roundRect">
            <a:avLst>
              <a:gd fmla="val 4296"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5"/>
          <p:cNvSpPr/>
          <p:nvPr/>
        </p:nvSpPr>
        <p:spPr>
          <a:xfrm>
            <a:off x="9239250" y="4038600"/>
            <a:ext cx="8286900" cy="3990900"/>
          </a:xfrm>
          <a:prstGeom prst="roundRect">
            <a:avLst>
              <a:gd fmla="val 2864"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6" name="Google Shape;1676;p45"/>
          <p:cNvPicPr preferRelativeResize="0"/>
          <p:nvPr/>
        </p:nvPicPr>
        <p:blipFill rotWithShape="1">
          <a:blip r:embed="rId5">
            <a:alphaModFix/>
          </a:blip>
          <a:srcRect b="0" l="0" r="0" t="0"/>
          <a:stretch/>
        </p:blipFill>
        <p:spPr>
          <a:xfrm>
            <a:off x="9448800" y="4305300"/>
            <a:ext cx="247650" cy="247650"/>
          </a:xfrm>
          <a:prstGeom prst="rect">
            <a:avLst/>
          </a:prstGeom>
          <a:noFill/>
          <a:ln>
            <a:noFill/>
          </a:ln>
        </p:spPr>
      </p:pic>
      <p:sp>
        <p:nvSpPr>
          <p:cNvPr id="1677" name="Google Shape;1677;p45"/>
          <p:cNvSpPr/>
          <p:nvPr/>
        </p:nvSpPr>
        <p:spPr>
          <a:xfrm>
            <a:off x="9759404" y="4248150"/>
            <a:ext cx="15507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A1E28"/>
              </a:buClr>
              <a:buSzPts val="1950"/>
              <a:buFont typeface="Plus Jakarta Sans"/>
              <a:buNone/>
            </a:pPr>
            <a:r>
              <a:rPr b="1" i="0" lang="en-US" sz="1950" u="none" cap="none" strike="noStrike">
                <a:solidFill>
                  <a:srgbClr val="DA1E28"/>
                </a:solidFill>
                <a:latin typeface="Plus Jakarta Sans"/>
                <a:ea typeface="Plus Jakarta Sans"/>
                <a:cs typeface="Plus Jakarta Sans"/>
                <a:sym typeface="Plus Jakarta Sans"/>
              </a:rPr>
              <a:t>LOWLIGHTS</a:t>
            </a:r>
            <a:endParaRPr b="0" i="0" sz="1950" u="none" cap="none" strike="noStrike">
              <a:solidFill>
                <a:schemeClr val="dk1"/>
              </a:solidFill>
              <a:latin typeface="Calibri"/>
              <a:ea typeface="Calibri"/>
              <a:cs typeface="Calibri"/>
              <a:sym typeface="Calibri"/>
            </a:endParaRPr>
          </a:p>
        </p:txBody>
      </p:sp>
      <p:sp>
        <p:nvSpPr>
          <p:cNvPr id="1678" name="Google Shape;1678;p45"/>
          <p:cNvSpPr/>
          <p:nvPr/>
        </p:nvSpPr>
        <p:spPr>
          <a:xfrm>
            <a:off x="9498330" y="4657725"/>
            <a:ext cx="7894200" cy="9525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cần cải thiện 1]</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cần cải thiện 2]</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cần cải thiện 3]</a:t>
            </a:r>
            <a:endParaRPr b="0" i="0" sz="1800" u="none" cap="none" strike="noStrike">
              <a:solidFill>
                <a:schemeClr val="dk1"/>
              </a:solidFill>
              <a:latin typeface="Calibri"/>
              <a:ea typeface="Calibri"/>
              <a:cs typeface="Calibri"/>
              <a:sym typeface="Calibri"/>
            </a:endParaRPr>
          </a:p>
        </p:txBody>
      </p:sp>
      <p:sp>
        <p:nvSpPr>
          <p:cNvPr id="1679" name="Google Shape;1679;p45"/>
          <p:cNvSpPr/>
          <p:nvPr/>
        </p:nvSpPr>
        <p:spPr>
          <a:xfrm>
            <a:off x="762000" y="8239125"/>
            <a:ext cx="16764000" cy="5145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5"/>
          <p:cNvSpPr/>
          <p:nvPr/>
        </p:nvSpPr>
        <p:spPr>
          <a:xfrm>
            <a:off x="914400" y="8353425"/>
            <a:ext cx="90906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ACTION ĐÃ THỰC THI TUẦN QUA</a:t>
            </a:r>
            <a:endParaRPr b="0" i="0" sz="1800" u="none" cap="none" strike="noStrike">
              <a:solidFill>
                <a:schemeClr val="dk1"/>
              </a:solidFill>
              <a:latin typeface="Calibri"/>
              <a:ea typeface="Calibri"/>
              <a:cs typeface="Calibri"/>
              <a:sym typeface="Calibri"/>
            </a:endParaRPr>
          </a:p>
        </p:txBody>
      </p:sp>
      <p:sp>
        <p:nvSpPr>
          <p:cNvPr id="1681" name="Google Shape;1681;p45"/>
          <p:cNvSpPr/>
          <p:nvPr/>
        </p:nvSpPr>
        <p:spPr>
          <a:xfrm>
            <a:off x="9971533" y="8353425"/>
            <a:ext cx="41373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KẾT QUẢ</a:t>
            </a:r>
            <a:endParaRPr b="0" i="0" sz="1800" u="none" cap="none" strike="noStrike">
              <a:solidFill>
                <a:schemeClr val="dk1"/>
              </a:solidFill>
              <a:latin typeface="Calibri"/>
              <a:ea typeface="Calibri"/>
              <a:cs typeface="Calibri"/>
              <a:sym typeface="Calibri"/>
            </a:endParaRPr>
          </a:p>
        </p:txBody>
      </p:sp>
      <p:sp>
        <p:nvSpPr>
          <p:cNvPr id="1682" name="Google Shape;1682;p45"/>
          <p:cNvSpPr/>
          <p:nvPr/>
        </p:nvSpPr>
        <p:spPr>
          <a:xfrm>
            <a:off x="14299025" y="8353425"/>
            <a:ext cx="31245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STATUS</a:t>
            </a:r>
            <a:endParaRPr b="0" i="0" sz="1800" u="none" cap="none" strike="noStrike">
              <a:solidFill>
                <a:schemeClr val="dk1"/>
              </a:solidFill>
              <a:latin typeface="Calibri"/>
              <a:ea typeface="Calibri"/>
              <a:cs typeface="Calibri"/>
              <a:sym typeface="Calibri"/>
            </a:endParaRPr>
          </a:p>
        </p:txBody>
      </p:sp>
      <p:sp>
        <p:nvSpPr>
          <p:cNvPr id="1683" name="Google Shape;1683;p45"/>
          <p:cNvSpPr/>
          <p:nvPr/>
        </p:nvSpPr>
        <p:spPr>
          <a:xfrm>
            <a:off x="762000" y="9244013"/>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5"/>
          <p:cNvSpPr/>
          <p:nvPr/>
        </p:nvSpPr>
        <p:spPr>
          <a:xfrm>
            <a:off x="914400" y="8867775"/>
            <a:ext cx="90906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[Hành động 1]</a:t>
            </a:r>
            <a:endParaRPr b="0" i="0" sz="1800" u="none" cap="none" strike="noStrike">
              <a:solidFill>
                <a:schemeClr val="dk1"/>
              </a:solidFill>
              <a:latin typeface="Calibri"/>
              <a:ea typeface="Calibri"/>
              <a:cs typeface="Calibri"/>
              <a:sym typeface="Calibri"/>
            </a:endParaRPr>
          </a:p>
        </p:txBody>
      </p:sp>
      <p:sp>
        <p:nvSpPr>
          <p:cNvPr id="1685" name="Google Shape;1685;p45"/>
          <p:cNvSpPr/>
          <p:nvPr/>
        </p:nvSpPr>
        <p:spPr>
          <a:xfrm>
            <a:off x="9828658" y="8763000"/>
            <a:ext cx="44232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[Kết quả đo được]</a:t>
            </a:r>
            <a:endParaRPr b="0" i="0" sz="1800" u="none" cap="none" strike="noStrike">
              <a:solidFill>
                <a:schemeClr val="dk1"/>
              </a:solidFill>
              <a:latin typeface="Calibri"/>
              <a:ea typeface="Calibri"/>
              <a:cs typeface="Calibri"/>
              <a:sym typeface="Calibri"/>
            </a:endParaRPr>
          </a:p>
        </p:txBody>
      </p:sp>
      <p:pic>
        <p:nvPicPr>
          <p:cNvPr descr="preencoded.png" id="1686" name="Google Shape;1686;p45"/>
          <p:cNvPicPr preferRelativeResize="0"/>
          <p:nvPr/>
        </p:nvPicPr>
        <p:blipFill rotWithShape="1">
          <a:blip r:embed="rId6">
            <a:alphaModFix/>
          </a:blip>
          <a:srcRect b="0" l="0" r="0" t="0"/>
          <a:stretch/>
        </p:blipFill>
        <p:spPr>
          <a:xfrm>
            <a:off x="15166181" y="8924925"/>
            <a:ext cx="190500" cy="190500"/>
          </a:xfrm>
          <a:prstGeom prst="rect">
            <a:avLst/>
          </a:prstGeom>
          <a:noFill/>
          <a:ln>
            <a:noFill/>
          </a:ln>
        </p:spPr>
      </p:pic>
      <p:sp>
        <p:nvSpPr>
          <p:cNvPr id="1687" name="Google Shape;1687;p45"/>
          <p:cNvSpPr/>
          <p:nvPr/>
        </p:nvSpPr>
        <p:spPr>
          <a:xfrm>
            <a:off x="15413385" y="8867775"/>
            <a:ext cx="12192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[Trạng thái]</a:t>
            </a:r>
            <a:endParaRPr b="0" i="0" sz="1800" u="none" cap="none" strike="noStrike">
              <a:solidFill>
                <a:schemeClr val="dk1"/>
              </a:solidFill>
              <a:latin typeface="Calibri"/>
              <a:ea typeface="Calibri"/>
              <a:cs typeface="Calibri"/>
              <a:sym typeface="Calibri"/>
            </a:endParaRPr>
          </a:p>
        </p:txBody>
      </p:sp>
      <p:sp>
        <p:nvSpPr>
          <p:cNvPr id="1688" name="Google Shape;1688;p45"/>
          <p:cNvSpPr/>
          <p:nvPr/>
        </p:nvSpPr>
        <p:spPr>
          <a:xfrm>
            <a:off x="762000" y="9253538"/>
            <a:ext cx="16764000" cy="5001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5"/>
          <p:cNvSpPr/>
          <p:nvPr/>
        </p:nvSpPr>
        <p:spPr>
          <a:xfrm>
            <a:off x="914400" y="9367838"/>
            <a:ext cx="90906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[Hành động 2]</a:t>
            </a:r>
            <a:endParaRPr b="0" i="0" sz="1800" u="none" cap="none" strike="noStrike">
              <a:solidFill>
                <a:schemeClr val="dk1"/>
              </a:solidFill>
              <a:latin typeface="Calibri"/>
              <a:ea typeface="Calibri"/>
              <a:cs typeface="Calibri"/>
              <a:sym typeface="Calibri"/>
            </a:endParaRPr>
          </a:p>
        </p:txBody>
      </p:sp>
      <p:sp>
        <p:nvSpPr>
          <p:cNvPr id="1690" name="Google Shape;1690;p45"/>
          <p:cNvSpPr/>
          <p:nvPr/>
        </p:nvSpPr>
        <p:spPr>
          <a:xfrm>
            <a:off x="9828658" y="9263062"/>
            <a:ext cx="44232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[Kết quả đo được]</a:t>
            </a:r>
            <a:endParaRPr b="0" i="0" sz="1800" u="none" cap="none" strike="noStrike">
              <a:solidFill>
                <a:schemeClr val="dk1"/>
              </a:solidFill>
              <a:latin typeface="Calibri"/>
              <a:ea typeface="Calibri"/>
              <a:cs typeface="Calibri"/>
              <a:sym typeface="Calibri"/>
            </a:endParaRPr>
          </a:p>
        </p:txBody>
      </p:sp>
      <p:pic>
        <p:nvPicPr>
          <p:cNvPr descr="preencoded.png" id="1691" name="Google Shape;1691;p45"/>
          <p:cNvPicPr preferRelativeResize="0"/>
          <p:nvPr/>
        </p:nvPicPr>
        <p:blipFill rotWithShape="1">
          <a:blip r:embed="rId7">
            <a:alphaModFix/>
          </a:blip>
          <a:srcRect b="0" l="0" r="0" t="0"/>
          <a:stretch/>
        </p:blipFill>
        <p:spPr>
          <a:xfrm>
            <a:off x="15166181" y="9429750"/>
            <a:ext cx="190500" cy="190500"/>
          </a:xfrm>
          <a:prstGeom prst="rect">
            <a:avLst/>
          </a:prstGeom>
          <a:noFill/>
          <a:ln>
            <a:noFill/>
          </a:ln>
        </p:spPr>
      </p:pic>
      <p:sp>
        <p:nvSpPr>
          <p:cNvPr id="1692" name="Google Shape;1692;p45"/>
          <p:cNvSpPr/>
          <p:nvPr/>
        </p:nvSpPr>
        <p:spPr>
          <a:xfrm>
            <a:off x="15413385" y="9372600"/>
            <a:ext cx="12192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[Trạng thái]</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7" name="Shape 1697"/>
        <p:cNvGrpSpPr/>
        <p:nvPr/>
      </p:nvGrpSpPr>
      <p:grpSpPr>
        <a:xfrm>
          <a:off x="0" y="0"/>
          <a:ext cx="0" cy="0"/>
          <a:chOff x="0" y="0"/>
          <a:chExt cx="0" cy="0"/>
        </a:xfrm>
      </p:grpSpPr>
      <p:sp>
        <p:nvSpPr>
          <p:cNvPr id="1698" name="Google Shape;1698;p46"/>
          <p:cNvSpPr/>
          <p:nvPr/>
        </p:nvSpPr>
        <p:spPr>
          <a:xfrm>
            <a:off x="762000" y="533400"/>
            <a:ext cx="98082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[TÊN CHỈ SỐ] — [KHU VỰC A] &amp; [KHU VỰC B]</a:t>
            </a:r>
            <a:endParaRPr b="0" i="0" sz="3300" u="none" cap="none" strike="noStrike">
              <a:solidFill>
                <a:schemeClr val="dk1"/>
              </a:solidFill>
              <a:latin typeface="Calibri"/>
              <a:ea typeface="Calibri"/>
              <a:cs typeface="Calibri"/>
              <a:sym typeface="Calibri"/>
            </a:endParaRPr>
          </a:p>
        </p:txBody>
      </p:sp>
      <p:sp>
        <p:nvSpPr>
          <p:cNvPr id="1699" name="Google Shape;1699;p46"/>
          <p:cNvSpPr/>
          <p:nvPr/>
        </p:nvSpPr>
        <p:spPr>
          <a:xfrm>
            <a:off x="762000" y="1066800"/>
            <a:ext cx="98082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[Mô tả ngắn về chỉ số và cách bóc tách theo segment]</a:t>
            </a:r>
            <a:endParaRPr b="0" i="0" sz="1950" u="none" cap="none" strike="noStrike">
              <a:solidFill>
                <a:schemeClr val="dk1"/>
              </a:solidFill>
              <a:latin typeface="Calibri"/>
              <a:ea typeface="Calibri"/>
              <a:cs typeface="Calibri"/>
              <a:sym typeface="Calibri"/>
            </a:endParaRPr>
          </a:p>
        </p:txBody>
      </p:sp>
      <p:sp>
        <p:nvSpPr>
          <p:cNvPr id="1700" name="Google Shape;1700;p46"/>
          <p:cNvSpPr/>
          <p:nvPr/>
        </p:nvSpPr>
        <p:spPr>
          <a:xfrm>
            <a:off x="762000" y="1447800"/>
            <a:ext cx="89166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1" name="Google Shape;1701;p46"/>
          <p:cNvPicPr preferRelativeResize="0"/>
          <p:nvPr/>
        </p:nvPicPr>
        <p:blipFill rotWithShape="1">
          <a:blip r:embed="rId3">
            <a:alphaModFix/>
          </a:blip>
          <a:srcRect b="0" l="0" r="0" t="0"/>
          <a:stretch/>
        </p:blipFill>
        <p:spPr>
          <a:xfrm>
            <a:off x="952500" y="1628775"/>
            <a:ext cx="209550" cy="209550"/>
          </a:xfrm>
          <a:prstGeom prst="rect">
            <a:avLst/>
          </a:prstGeom>
          <a:noFill/>
          <a:ln>
            <a:noFill/>
          </a:ln>
        </p:spPr>
      </p:pic>
      <p:sp>
        <p:nvSpPr>
          <p:cNvPr id="1702" name="Google Shape;1702;p46"/>
          <p:cNvSpPr/>
          <p:nvPr/>
        </p:nvSpPr>
        <p:spPr>
          <a:xfrm>
            <a:off x="1221581" y="15621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1703" name="Google Shape;1703;p46"/>
          <p:cNvSpPr/>
          <p:nvPr/>
        </p:nvSpPr>
        <p:spPr>
          <a:xfrm>
            <a:off x="3146375" y="1571625"/>
            <a:ext cx="38394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chính so sánh 2 khu vực.]</a:t>
            </a:r>
            <a:endParaRPr b="0" i="0" sz="1800" u="none" cap="none" strike="noStrike">
              <a:solidFill>
                <a:schemeClr val="dk1"/>
              </a:solidFill>
              <a:latin typeface="Calibri"/>
              <a:ea typeface="Calibri"/>
              <a:cs typeface="Calibri"/>
              <a:sym typeface="Calibri"/>
            </a:endParaRPr>
          </a:p>
        </p:txBody>
      </p:sp>
      <p:sp>
        <p:nvSpPr>
          <p:cNvPr id="1704" name="Google Shape;1704;p46"/>
          <p:cNvSpPr/>
          <p:nvPr/>
        </p:nvSpPr>
        <p:spPr>
          <a:xfrm>
            <a:off x="14183140" y="533400"/>
            <a:ext cx="3342900" cy="5715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Ahamove — Driver Management Confidential</a:t>
            </a:r>
            <a:endParaRPr b="0" i="0" sz="1800" u="none" cap="none" strike="noStrike">
              <a:solidFill>
                <a:schemeClr val="dk1"/>
              </a:solidFill>
              <a:latin typeface="Calibri"/>
              <a:ea typeface="Calibri"/>
              <a:cs typeface="Calibri"/>
              <a:sym typeface="Calibri"/>
            </a:endParaRPr>
          </a:p>
        </p:txBody>
      </p:sp>
      <p:sp>
        <p:nvSpPr>
          <p:cNvPr id="1705" name="Google Shape;1705;p46"/>
          <p:cNvSpPr/>
          <p:nvPr/>
        </p:nvSpPr>
        <p:spPr>
          <a:xfrm>
            <a:off x="762000" y="2152650"/>
            <a:ext cx="1764300" cy="438300"/>
          </a:xfrm>
          <a:prstGeom prst="roundRect">
            <a:avLst>
              <a:gd fmla="val 17391"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6"/>
          <p:cNvSpPr/>
          <p:nvPr/>
        </p:nvSpPr>
        <p:spPr>
          <a:xfrm>
            <a:off x="933450" y="2228850"/>
            <a:ext cx="14976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[KHU VỰC A]</a:t>
            </a:r>
            <a:endParaRPr b="0" i="0" sz="1800" u="none" cap="none" strike="noStrike">
              <a:solidFill>
                <a:schemeClr val="dk1"/>
              </a:solidFill>
              <a:latin typeface="Calibri"/>
              <a:ea typeface="Calibri"/>
              <a:cs typeface="Calibri"/>
              <a:sym typeface="Calibri"/>
            </a:endParaRPr>
          </a:p>
        </p:txBody>
      </p:sp>
      <p:sp>
        <p:nvSpPr>
          <p:cNvPr id="1707" name="Google Shape;1707;p46"/>
          <p:cNvSpPr/>
          <p:nvPr/>
        </p:nvSpPr>
        <p:spPr>
          <a:xfrm>
            <a:off x="762000" y="2724150"/>
            <a:ext cx="4057800" cy="1009800"/>
          </a:xfrm>
          <a:prstGeom prst="roundRect">
            <a:avLst>
              <a:gd fmla="val 113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6"/>
          <p:cNvSpPr/>
          <p:nvPr/>
        </p:nvSpPr>
        <p:spPr>
          <a:xfrm>
            <a:off x="768668" y="2876550"/>
            <a:ext cx="40443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[0,0]%</a:t>
            </a:r>
            <a:endParaRPr b="0" i="0" sz="2700" u="none" cap="none" strike="noStrike">
              <a:solidFill>
                <a:schemeClr val="dk1"/>
              </a:solidFill>
              <a:latin typeface="Calibri"/>
              <a:ea typeface="Calibri"/>
              <a:cs typeface="Calibri"/>
              <a:sym typeface="Calibri"/>
            </a:endParaRPr>
          </a:p>
        </p:txBody>
      </p:sp>
      <p:sp>
        <p:nvSpPr>
          <p:cNvPr id="1709" name="Google Shape;1709;p46"/>
          <p:cNvSpPr/>
          <p:nvPr/>
        </p:nvSpPr>
        <p:spPr>
          <a:xfrm>
            <a:off x="768668" y="3305175"/>
            <a:ext cx="40443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 MoM</a:t>
            </a:r>
            <a:endParaRPr b="0" i="0" sz="1800" u="none" cap="none" strike="noStrike">
              <a:solidFill>
                <a:schemeClr val="dk1"/>
              </a:solidFill>
              <a:latin typeface="Calibri"/>
              <a:ea typeface="Calibri"/>
              <a:cs typeface="Calibri"/>
              <a:sym typeface="Calibri"/>
            </a:endParaRPr>
          </a:p>
        </p:txBody>
      </p:sp>
      <p:sp>
        <p:nvSpPr>
          <p:cNvPr id="1710" name="Google Shape;1710;p46"/>
          <p:cNvSpPr/>
          <p:nvPr/>
        </p:nvSpPr>
        <p:spPr>
          <a:xfrm>
            <a:off x="4972050" y="2724150"/>
            <a:ext cx="4057800" cy="1009800"/>
          </a:xfrm>
          <a:prstGeom prst="roundRect">
            <a:avLst>
              <a:gd fmla="val 113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6"/>
          <p:cNvSpPr/>
          <p:nvPr/>
        </p:nvSpPr>
        <p:spPr>
          <a:xfrm>
            <a:off x="4978718" y="2876550"/>
            <a:ext cx="40443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[0,0]%</a:t>
            </a:r>
            <a:endParaRPr b="0" i="0" sz="2700" u="none" cap="none" strike="noStrike">
              <a:solidFill>
                <a:schemeClr val="dk1"/>
              </a:solidFill>
              <a:latin typeface="Calibri"/>
              <a:ea typeface="Calibri"/>
              <a:cs typeface="Calibri"/>
              <a:sym typeface="Calibri"/>
            </a:endParaRPr>
          </a:p>
        </p:txBody>
      </p:sp>
      <p:sp>
        <p:nvSpPr>
          <p:cNvPr id="1712" name="Google Shape;1712;p46"/>
          <p:cNvSpPr/>
          <p:nvPr/>
        </p:nvSpPr>
        <p:spPr>
          <a:xfrm>
            <a:off x="4978718" y="3305175"/>
            <a:ext cx="40443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YoY</a:t>
            </a:r>
            <a:endParaRPr b="0" i="0" sz="1800" u="none" cap="none" strike="noStrike">
              <a:solidFill>
                <a:schemeClr val="dk1"/>
              </a:solidFill>
              <a:latin typeface="Calibri"/>
              <a:ea typeface="Calibri"/>
              <a:cs typeface="Calibri"/>
              <a:sym typeface="Calibri"/>
            </a:endParaRPr>
          </a:p>
        </p:txBody>
      </p:sp>
      <p:sp>
        <p:nvSpPr>
          <p:cNvPr id="1713" name="Google Shape;1713;p46"/>
          <p:cNvSpPr/>
          <p:nvPr/>
        </p:nvSpPr>
        <p:spPr>
          <a:xfrm>
            <a:off x="762000" y="3867150"/>
            <a:ext cx="8267700" cy="4572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6"/>
          <p:cNvSpPr/>
          <p:nvPr/>
        </p:nvSpPr>
        <p:spPr>
          <a:xfrm>
            <a:off x="876300" y="3962400"/>
            <a:ext cx="24129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Segment</a:t>
            </a:r>
            <a:endParaRPr b="0" i="0" sz="1800" u="none" cap="none" strike="noStrike">
              <a:solidFill>
                <a:schemeClr val="dk1"/>
              </a:solidFill>
              <a:latin typeface="Calibri"/>
              <a:ea typeface="Calibri"/>
              <a:cs typeface="Calibri"/>
              <a:sym typeface="Calibri"/>
            </a:endParaRPr>
          </a:p>
        </p:txBody>
      </p:sp>
      <p:sp>
        <p:nvSpPr>
          <p:cNvPr id="1715" name="Google Shape;1715;p46"/>
          <p:cNvSpPr/>
          <p:nvPr/>
        </p:nvSpPr>
        <p:spPr>
          <a:xfrm>
            <a:off x="3402806" y="3962400"/>
            <a:ext cx="13881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Active</a:t>
            </a:r>
            <a:endParaRPr b="0" i="0" sz="1800" u="none" cap="none" strike="noStrike">
              <a:solidFill>
                <a:schemeClr val="dk1"/>
              </a:solidFill>
              <a:latin typeface="Calibri"/>
              <a:ea typeface="Calibri"/>
              <a:cs typeface="Calibri"/>
              <a:sym typeface="Calibri"/>
            </a:endParaRPr>
          </a:p>
        </p:txBody>
      </p:sp>
      <p:sp>
        <p:nvSpPr>
          <p:cNvPr id="1716" name="Google Shape;1716;p46"/>
          <p:cNvSpPr/>
          <p:nvPr/>
        </p:nvSpPr>
        <p:spPr>
          <a:xfrm>
            <a:off x="4943326" y="3962400"/>
            <a:ext cx="13794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Chỉ số</a:t>
            </a:r>
            <a:endParaRPr b="0" i="0" sz="1800" u="none" cap="none" strike="noStrike">
              <a:solidFill>
                <a:schemeClr val="dk1"/>
              </a:solidFill>
              <a:latin typeface="Calibri"/>
              <a:ea typeface="Calibri"/>
              <a:cs typeface="Calibri"/>
              <a:sym typeface="Calibri"/>
            </a:endParaRPr>
          </a:p>
        </p:txBody>
      </p:sp>
      <p:sp>
        <p:nvSpPr>
          <p:cNvPr id="1717" name="Google Shape;1717;p46"/>
          <p:cNvSpPr/>
          <p:nvPr/>
        </p:nvSpPr>
        <p:spPr>
          <a:xfrm>
            <a:off x="6475214" y="3962400"/>
            <a:ext cx="11790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MoM</a:t>
            </a:r>
            <a:endParaRPr b="0" i="0" sz="1800" u="none" cap="none" strike="noStrike">
              <a:solidFill>
                <a:schemeClr val="dk1"/>
              </a:solidFill>
              <a:latin typeface="Calibri"/>
              <a:ea typeface="Calibri"/>
              <a:cs typeface="Calibri"/>
              <a:sym typeface="Calibri"/>
            </a:endParaRPr>
          </a:p>
        </p:txBody>
      </p:sp>
      <p:sp>
        <p:nvSpPr>
          <p:cNvPr id="1718" name="Google Shape;1718;p46"/>
          <p:cNvSpPr/>
          <p:nvPr/>
        </p:nvSpPr>
        <p:spPr>
          <a:xfrm>
            <a:off x="7806630" y="3962400"/>
            <a:ext cx="11469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YoY</a:t>
            </a:r>
            <a:endParaRPr b="0" i="0" sz="1800" u="none" cap="none" strike="noStrike">
              <a:solidFill>
                <a:schemeClr val="dk1"/>
              </a:solidFill>
              <a:latin typeface="Calibri"/>
              <a:ea typeface="Calibri"/>
              <a:cs typeface="Calibri"/>
              <a:sym typeface="Calibri"/>
            </a:endParaRPr>
          </a:p>
        </p:txBody>
      </p:sp>
      <p:sp>
        <p:nvSpPr>
          <p:cNvPr id="1719" name="Google Shape;1719;p46"/>
          <p:cNvSpPr/>
          <p:nvPr/>
        </p:nvSpPr>
        <p:spPr>
          <a:xfrm>
            <a:off x="762000" y="4776788"/>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6"/>
          <p:cNvSpPr/>
          <p:nvPr/>
        </p:nvSpPr>
        <p:spPr>
          <a:xfrm>
            <a:off x="876300" y="4419600"/>
            <a:ext cx="24129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[Segment 1]</a:t>
            </a:r>
            <a:endParaRPr b="0" i="0" sz="1800" u="none" cap="none" strike="noStrike">
              <a:solidFill>
                <a:schemeClr val="dk1"/>
              </a:solidFill>
              <a:latin typeface="Calibri"/>
              <a:ea typeface="Calibri"/>
              <a:cs typeface="Calibri"/>
              <a:sym typeface="Calibri"/>
            </a:endParaRPr>
          </a:p>
        </p:txBody>
      </p:sp>
      <p:sp>
        <p:nvSpPr>
          <p:cNvPr id="1721" name="Google Shape;1721;p46"/>
          <p:cNvSpPr/>
          <p:nvPr/>
        </p:nvSpPr>
        <p:spPr>
          <a:xfrm>
            <a:off x="3298031" y="4333875"/>
            <a:ext cx="15978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22" name="Google Shape;1722;p46"/>
          <p:cNvSpPr/>
          <p:nvPr/>
        </p:nvSpPr>
        <p:spPr>
          <a:xfrm>
            <a:off x="4838551" y="4333875"/>
            <a:ext cx="15891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23" name="Google Shape;1723;p46"/>
          <p:cNvSpPr/>
          <p:nvPr/>
        </p:nvSpPr>
        <p:spPr>
          <a:xfrm>
            <a:off x="6370439" y="4333875"/>
            <a:ext cx="13887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24" name="Google Shape;1724;p46"/>
          <p:cNvSpPr/>
          <p:nvPr/>
        </p:nvSpPr>
        <p:spPr>
          <a:xfrm>
            <a:off x="7701855" y="4333875"/>
            <a:ext cx="13563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25" name="Google Shape;1725;p46"/>
          <p:cNvSpPr/>
          <p:nvPr/>
        </p:nvSpPr>
        <p:spPr>
          <a:xfrm>
            <a:off x="762000" y="4786313"/>
            <a:ext cx="8267700" cy="4668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46"/>
          <p:cNvSpPr/>
          <p:nvPr/>
        </p:nvSpPr>
        <p:spPr>
          <a:xfrm>
            <a:off x="762000" y="5243513"/>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6"/>
          <p:cNvSpPr/>
          <p:nvPr/>
        </p:nvSpPr>
        <p:spPr>
          <a:xfrm>
            <a:off x="876300" y="4881563"/>
            <a:ext cx="24129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[Segment 2]</a:t>
            </a:r>
            <a:endParaRPr b="0" i="0" sz="1800" u="none" cap="none" strike="noStrike">
              <a:solidFill>
                <a:schemeClr val="dk1"/>
              </a:solidFill>
              <a:latin typeface="Calibri"/>
              <a:ea typeface="Calibri"/>
              <a:cs typeface="Calibri"/>
              <a:sym typeface="Calibri"/>
            </a:endParaRPr>
          </a:p>
        </p:txBody>
      </p:sp>
      <p:sp>
        <p:nvSpPr>
          <p:cNvPr id="1728" name="Google Shape;1728;p46"/>
          <p:cNvSpPr/>
          <p:nvPr/>
        </p:nvSpPr>
        <p:spPr>
          <a:xfrm>
            <a:off x="3298031" y="4795838"/>
            <a:ext cx="15978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29" name="Google Shape;1729;p46"/>
          <p:cNvSpPr/>
          <p:nvPr/>
        </p:nvSpPr>
        <p:spPr>
          <a:xfrm>
            <a:off x="4838551" y="4795838"/>
            <a:ext cx="15891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30" name="Google Shape;1730;p46"/>
          <p:cNvSpPr/>
          <p:nvPr/>
        </p:nvSpPr>
        <p:spPr>
          <a:xfrm>
            <a:off x="6370439" y="4795838"/>
            <a:ext cx="13887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31" name="Google Shape;1731;p46"/>
          <p:cNvSpPr/>
          <p:nvPr/>
        </p:nvSpPr>
        <p:spPr>
          <a:xfrm>
            <a:off x="7701855" y="4795838"/>
            <a:ext cx="13563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32" name="Google Shape;1732;p46"/>
          <p:cNvSpPr/>
          <p:nvPr/>
        </p:nvSpPr>
        <p:spPr>
          <a:xfrm>
            <a:off x="876300" y="5348288"/>
            <a:ext cx="24129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[Segment 3]</a:t>
            </a:r>
            <a:endParaRPr b="0" i="0" sz="1800" u="none" cap="none" strike="noStrike">
              <a:solidFill>
                <a:schemeClr val="dk1"/>
              </a:solidFill>
              <a:latin typeface="Calibri"/>
              <a:ea typeface="Calibri"/>
              <a:cs typeface="Calibri"/>
              <a:sym typeface="Calibri"/>
            </a:endParaRPr>
          </a:p>
        </p:txBody>
      </p:sp>
      <p:sp>
        <p:nvSpPr>
          <p:cNvPr id="1733" name="Google Shape;1733;p46"/>
          <p:cNvSpPr/>
          <p:nvPr/>
        </p:nvSpPr>
        <p:spPr>
          <a:xfrm>
            <a:off x="3298031" y="5262563"/>
            <a:ext cx="15978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34" name="Google Shape;1734;p46"/>
          <p:cNvSpPr/>
          <p:nvPr/>
        </p:nvSpPr>
        <p:spPr>
          <a:xfrm>
            <a:off x="4838551" y="5262563"/>
            <a:ext cx="15891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35" name="Google Shape;1735;p46"/>
          <p:cNvSpPr/>
          <p:nvPr/>
        </p:nvSpPr>
        <p:spPr>
          <a:xfrm>
            <a:off x="6370439" y="5262563"/>
            <a:ext cx="13887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36" name="Google Shape;1736;p46"/>
          <p:cNvSpPr/>
          <p:nvPr/>
        </p:nvSpPr>
        <p:spPr>
          <a:xfrm>
            <a:off x="7701855" y="5262563"/>
            <a:ext cx="13563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37" name="Google Shape;1737;p46"/>
          <p:cNvSpPr/>
          <p:nvPr/>
        </p:nvSpPr>
        <p:spPr>
          <a:xfrm>
            <a:off x="762000" y="5848350"/>
            <a:ext cx="8267700" cy="571500"/>
          </a:xfrm>
          <a:prstGeom prst="roundRect">
            <a:avLst>
              <a:gd fmla="val 2000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46"/>
          <p:cNvSpPr/>
          <p:nvPr/>
        </p:nvSpPr>
        <p:spPr>
          <a:xfrm>
            <a:off x="952500" y="6000750"/>
            <a:ext cx="81348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[Nhận định 1 câu về xu hướng khu vực A theo segment.]</a:t>
            </a:r>
            <a:endParaRPr b="0" i="0" sz="1800" u="none" cap="none" strike="noStrike">
              <a:solidFill>
                <a:schemeClr val="dk1"/>
              </a:solidFill>
              <a:latin typeface="Calibri"/>
              <a:ea typeface="Calibri"/>
              <a:cs typeface="Calibri"/>
              <a:sym typeface="Calibri"/>
            </a:endParaRPr>
          </a:p>
        </p:txBody>
      </p:sp>
      <p:sp>
        <p:nvSpPr>
          <p:cNvPr id="1739" name="Google Shape;1739;p46"/>
          <p:cNvSpPr/>
          <p:nvPr/>
        </p:nvSpPr>
        <p:spPr>
          <a:xfrm>
            <a:off x="9258300" y="2152650"/>
            <a:ext cx="1759200" cy="438300"/>
          </a:xfrm>
          <a:prstGeom prst="roundRect">
            <a:avLst>
              <a:gd fmla="val 17391"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46"/>
          <p:cNvSpPr/>
          <p:nvPr/>
        </p:nvSpPr>
        <p:spPr>
          <a:xfrm>
            <a:off x="9429750" y="2228850"/>
            <a:ext cx="1492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[KHU VỰC B]</a:t>
            </a:r>
            <a:endParaRPr b="0" i="0" sz="1800" u="none" cap="none" strike="noStrike">
              <a:solidFill>
                <a:schemeClr val="dk1"/>
              </a:solidFill>
              <a:latin typeface="Calibri"/>
              <a:ea typeface="Calibri"/>
              <a:cs typeface="Calibri"/>
              <a:sym typeface="Calibri"/>
            </a:endParaRPr>
          </a:p>
        </p:txBody>
      </p:sp>
      <p:sp>
        <p:nvSpPr>
          <p:cNvPr id="1741" name="Google Shape;1741;p46"/>
          <p:cNvSpPr/>
          <p:nvPr/>
        </p:nvSpPr>
        <p:spPr>
          <a:xfrm>
            <a:off x="9258300" y="2724150"/>
            <a:ext cx="4057800" cy="1009800"/>
          </a:xfrm>
          <a:prstGeom prst="roundRect">
            <a:avLst>
              <a:gd fmla="val 1132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46"/>
          <p:cNvSpPr/>
          <p:nvPr/>
        </p:nvSpPr>
        <p:spPr>
          <a:xfrm>
            <a:off x="9264968" y="2876550"/>
            <a:ext cx="40443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[0,0]%</a:t>
            </a:r>
            <a:endParaRPr b="0" i="0" sz="2700" u="none" cap="none" strike="noStrike">
              <a:solidFill>
                <a:schemeClr val="dk1"/>
              </a:solidFill>
              <a:latin typeface="Calibri"/>
              <a:ea typeface="Calibri"/>
              <a:cs typeface="Calibri"/>
              <a:sym typeface="Calibri"/>
            </a:endParaRPr>
          </a:p>
        </p:txBody>
      </p:sp>
      <p:sp>
        <p:nvSpPr>
          <p:cNvPr id="1743" name="Google Shape;1743;p46"/>
          <p:cNvSpPr/>
          <p:nvPr/>
        </p:nvSpPr>
        <p:spPr>
          <a:xfrm>
            <a:off x="9264968" y="3305175"/>
            <a:ext cx="40443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 MoM</a:t>
            </a:r>
            <a:endParaRPr b="0" i="0" sz="1800" u="none" cap="none" strike="noStrike">
              <a:solidFill>
                <a:schemeClr val="dk1"/>
              </a:solidFill>
              <a:latin typeface="Calibri"/>
              <a:ea typeface="Calibri"/>
              <a:cs typeface="Calibri"/>
              <a:sym typeface="Calibri"/>
            </a:endParaRPr>
          </a:p>
        </p:txBody>
      </p:sp>
      <p:sp>
        <p:nvSpPr>
          <p:cNvPr id="1744" name="Google Shape;1744;p46"/>
          <p:cNvSpPr/>
          <p:nvPr/>
        </p:nvSpPr>
        <p:spPr>
          <a:xfrm>
            <a:off x="13468350" y="2724150"/>
            <a:ext cx="4057800" cy="1009800"/>
          </a:xfrm>
          <a:prstGeom prst="roundRect">
            <a:avLst>
              <a:gd fmla="val 1132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46"/>
          <p:cNvSpPr/>
          <p:nvPr/>
        </p:nvSpPr>
        <p:spPr>
          <a:xfrm>
            <a:off x="13475018" y="2876550"/>
            <a:ext cx="40443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[0,0]%</a:t>
            </a:r>
            <a:endParaRPr b="0" i="0" sz="2700" u="none" cap="none" strike="noStrike">
              <a:solidFill>
                <a:schemeClr val="dk1"/>
              </a:solidFill>
              <a:latin typeface="Calibri"/>
              <a:ea typeface="Calibri"/>
              <a:cs typeface="Calibri"/>
              <a:sym typeface="Calibri"/>
            </a:endParaRPr>
          </a:p>
        </p:txBody>
      </p:sp>
      <p:sp>
        <p:nvSpPr>
          <p:cNvPr id="1746" name="Google Shape;1746;p46"/>
          <p:cNvSpPr/>
          <p:nvPr/>
        </p:nvSpPr>
        <p:spPr>
          <a:xfrm>
            <a:off x="13475018" y="3305175"/>
            <a:ext cx="40443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YoY</a:t>
            </a:r>
            <a:endParaRPr b="0" i="0" sz="1800" u="none" cap="none" strike="noStrike">
              <a:solidFill>
                <a:schemeClr val="dk1"/>
              </a:solidFill>
              <a:latin typeface="Calibri"/>
              <a:ea typeface="Calibri"/>
              <a:cs typeface="Calibri"/>
              <a:sym typeface="Calibri"/>
            </a:endParaRPr>
          </a:p>
        </p:txBody>
      </p:sp>
      <p:sp>
        <p:nvSpPr>
          <p:cNvPr id="1747" name="Google Shape;1747;p46"/>
          <p:cNvSpPr/>
          <p:nvPr/>
        </p:nvSpPr>
        <p:spPr>
          <a:xfrm>
            <a:off x="9258300" y="3867150"/>
            <a:ext cx="8267700" cy="4572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46"/>
          <p:cNvSpPr/>
          <p:nvPr/>
        </p:nvSpPr>
        <p:spPr>
          <a:xfrm>
            <a:off x="9372600" y="3962400"/>
            <a:ext cx="24129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Segment</a:t>
            </a:r>
            <a:endParaRPr b="0" i="0" sz="1800" u="none" cap="none" strike="noStrike">
              <a:solidFill>
                <a:schemeClr val="dk1"/>
              </a:solidFill>
              <a:latin typeface="Calibri"/>
              <a:ea typeface="Calibri"/>
              <a:cs typeface="Calibri"/>
              <a:sym typeface="Calibri"/>
            </a:endParaRPr>
          </a:p>
        </p:txBody>
      </p:sp>
      <p:sp>
        <p:nvSpPr>
          <p:cNvPr id="1749" name="Google Shape;1749;p46"/>
          <p:cNvSpPr/>
          <p:nvPr/>
        </p:nvSpPr>
        <p:spPr>
          <a:xfrm>
            <a:off x="11899106" y="3962400"/>
            <a:ext cx="13881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Active</a:t>
            </a:r>
            <a:endParaRPr b="0" i="0" sz="1800" u="none" cap="none" strike="noStrike">
              <a:solidFill>
                <a:schemeClr val="dk1"/>
              </a:solidFill>
              <a:latin typeface="Calibri"/>
              <a:ea typeface="Calibri"/>
              <a:cs typeface="Calibri"/>
              <a:sym typeface="Calibri"/>
            </a:endParaRPr>
          </a:p>
        </p:txBody>
      </p:sp>
      <p:sp>
        <p:nvSpPr>
          <p:cNvPr id="1750" name="Google Shape;1750;p46"/>
          <p:cNvSpPr/>
          <p:nvPr/>
        </p:nvSpPr>
        <p:spPr>
          <a:xfrm>
            <a:off x="13439626" y="3962400"/>
            <a:ext cx="13794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Chỉ số</a:t>
            </a:r>
            <a:endParaRPr b="0" i="0" sz="1800" u="none" cap="none" strike="noStrike">
              <a:solidFill>
                <a:schemeClr val="dk1"/>
              </a:solidFill>
              <a:latin typeface="Calibri"/>
              <a:ea typeface="Calibri"/>
              <a:cs typeface="Calibri"/>
              <a:sym typeface="Calibri"/>
            </a:endParaRPr>
          </a:p>
        </p:txBody>
      </p:sp>
      <p:sp>
        <p:nvSpPr>
          <p:cNvPr id="1751" name="Google Shape;1751;p46"/>
          <p:cNvSpPr/>
          <p:nvPr/>
        </p:nvSpPr>
        <p:spPr>
          <a:xfrm>
            <a:off x="14971514" y="3962400"/>
            <a:ext cx="11790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MoM</a:t>
            </a:r>
            <a:endParaRPr b="0" i="0" sz="1800" u="none" cap="none" strike="noStrike">
              <a:solidFill>
                <a:schemeClr val="dk1"/>
              </a:solidFill>
              <a:latin typeface="Calibri"/>
              <a:ea typeface="Calibri"/>
              <a:cs typeface="Calibri"/>
              <a:sym typeface="Calibri"/>
            </a:endParaRPr>
          </a:p>
        </p:txBody>
      </p:sp>
      <p:sp>
        <p:nvSpPr>
          <p:cNvPr id="1752" name="Google Shape;1752;p46"/>
          <p:cNvSpPr/>
          <p:nvPr/>
        </p:nvSpPr>
        <p:spPr>
          <a:xfrm>
            <a:off x="16302930" y="3962400"/>
            <a:ext cx="11469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YoY</a:t>
            </a:r>
            <a:endParaRPr b="0" i="0" sz="1800" u="none" cap="none" strike="noStrike">
              <a:solidFill>
                <a:schemeClr val="dk1"/>
              </a:solidFill>
              <a:latin typeface="Calibri"/>
              <a:ea typeface="Calibri"/>
              <a:cs typeface="Calibri"/>
              <a:sym typeface="Calibri"/>
            </a:endParaRPr>
          </a:p>
        </p:txBody>
      </p:sp>
      <p:sp>
        <p:nvSpPr>
          <p:cNvPr id="1753" name="Google Shape;1753;p46"/>
          <p:cNvSpPr/>
          <p:nvPr/>
        </p:nvSpPr>
        <p:spPr>
          <a:xfrm>
            <a:off x="9258300" y="4776788"/>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46"/>
          <p:cNvSpPr/>
          <p:nvPr/>
        </p:nvSpPr>
        <p:spPr>
          <a:xfrm>
            <a:off x="9372600" y="4419600"/>
            <a:ext cx="24129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[Segment 1]</a:t>
            </a:r>
            <a:endParaRPr b="0" i="0" sz="1800" u="none" cap="none" strike="noStrike">
              <a:solidFill>
                <a:schemeClr val="dk1"/>
              </a:solidFill>
              <a:latin typeface="Calibri"/>
              <a:ea typeface="Calibri"/>
              <a:cs typeface="Calibri"/>
              <a:sym typeface="Calibri"/>
            </a:endParaRPr>
          </a:p>
        </p:txBody>
      </p:sp>
      <p:sp>
        <p:nvSpPr>
          <p:cNvPr id="1755" name="Google Shape;1755;p46"/>
          <p:cNvSpPr/>
          <p:nvPr/>
        </p:nvSpPr>
        <p:spPr>
          <a:xfrm>
            <a:off x="11794331" y="4333875"/>
            <a:ext cx="15978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56" name="Google Shape;1756;p46"/>
          <p:cNvSpPr/>
          <p:nvPr/>
        </p:nvSpPr>
        <p:spPr>
          <a:xfrm>
            <a:off x="13334851" y="4333875"/>
            <a:ext cx="15891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57" name="Google Shape;1757;p46"/>
          <p:cNvSpPr/>
          <p:nvPr/>
        </p:nvSpPr>
        <p:spPr>
          <a:xfrm>
            <a:off x="14866739" y="4333875"/>
            <a:ext cx="13887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58" name="Google Shape;1758;p46"/>
          <p:cNvSpPr/>
          <p:nvPr/>
        </p:nvSpPr>
        <p:spPr>
          <a:xfrm>
            <a:off x="16198155" y="4333875"/>
            <a:ext cx="13563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59" name="Google Shape;1759;p46"/>
          <p:cNvSpPr/>
          <p:nvPr/>
        </p:nvSpPr>
        <p:spPr>
          <a:xfrm>
            <a:off x="9258300" y="4786313"/>
            <a:ext cx="8267700" cy="4668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6"/>
          <p:cNvSpPr/>
          <p:nvPr/>
        </p:nvSpPr>
        <p:spPr>
          <a:xfrm>
            <a:off x="9258300" y="5243513"/>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6"/>
          <p:cNvSpPr/>
          <p:nvPr/>
        </p:nvSpPr>
        <p:spPr>
          <a:xfrm>
            <a:off x="9372600" y="4881563"/>
            <a:ext cx="2412900" cy="3144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[Segment 2]</a:t>
            </a:r>
            <a:endParaRPr b="0" i="0" sz="1800" u="none" cap="none" strike="noStrike">
              <a:solidFill>
                <a:schemeClr val="dk1"/>
              </a:solidFill>
              <a:latin typeface="Calibri"/>
              <a:ea typeface="Calibri"/>
              <a:cs typeface="Calibri"/>
              <a:sym typeface="Calibri"/>
            </a:endParaRPr>
          </a:p>
        </p:txBody>
      </p:sp>
      <p:sp>
        <p:nvSpPr>
          <p:cNvPr id="1762" name="Google Shape;1762;p46"/>
          <p:cNvSpPr/>
          <p:nvPr/>
        </p:nvSpPr>
        <p:spPr>
          <a:xfrm>
            <a:off x="11794331" y="4795838"/>
            <a:ext cx="15978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63" name="Google Shape;1763;p46"/>
          <p:cNvSpPr/>
          <p:nvPr/>
        </p:nvSpPr>
        <p:spPr>
          <a:xfrm>
            <a:off x="13334851" y="4795838"/>
            <a:ext cx="15891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64" name="Google Shape;1764;p46"/>
          <p:cNvSpPr/>
          <p:nvPr/>
        </p:nvSpPr>
        <p:spPr>
          <a:xfrm>
            <a:off x="14866739" y="4795838"/>
            <a:ext cx="13887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65" name="Google Shape;1765;p46"/>
          <p:cNvSpPr/>
          <p:nvPr/>
        </p:nvSpPr>
        <p:spPr>
          <a:xfrm>
            <a:off x="16198155" y="4795838"/>
            <a:ext cx="1356300" cy="485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66" name="Google Shape;1766;p46"/>
          <p:cNvSpPr/>
          <p:nvPr/>
        </p:nvSpPr>
        <p:spPr>
          <a:xfrm>
            <a:off x="9372600" y="5348288"/>
            <a:ext cx="24129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[Segment 3]</a:t>
            </a:r>
            <a:endParaRPr b="0" i="0" sz="1800" u="none" cap="none" strike="noStrike">
              <a:solidFill>
                <a:schemeClr val="dk1"/>
              </a:solidFill>
              <a:latin typeface="Calibri"/>
              <a:ea typeface="Calibri"/>
              <a:cs typeface="Calibri"/>
              <a:sym typeface="Calibri"/>
            </a:endParaRPr>
          </a:p>
        </p:txBody>
      </p:sp>
      <p:sp>
        <p:nvSpPr>
          <p:cNvPr id="1767" name="Google Shape;1767;p46"/>
          <p:cNvSpPr/>
          <p:nvPr/>
        </p:nvSpPr>
        <p:spPr>
          <a:xfrm>
            <a:off x="11794331" y="5262563"/>
            <a:ext cx="15978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68" name="Google Shape;1768;p46"/>
          <p:cNvSpPr/>
          <p:nvPr/>
        </p:nvSpPr>
        <p:spPr>
          <a:xfrm>
            <a:off x="13334851" y="5262563"/>
            <a:ext cx="15891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69" name="Google Shape;1769;p46"/>
          <p:cNvSpPr/>
          <p:nvPr/>
        </p:nvSpPr>
        <p:spPr>
          <a:xfrm>
            <a:off x="14866739" y="5262563"/>
            <a:ext cx="13887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70" name="Google Shape;1770;p46"/>
          <p:cNvSpPr/>
          <p:nvPr/>
        </p:nvSpPr>
        <p:spPr>
          <a:xfrm>
            <a:off x="16198155" y="5262563"/>
            <a:ext cx="1356300" cy="4809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71" name="Google Shape;1771;p46"/>
          <p:cNvSpPr/>
          <p:nvPr/>
        </p:nvSpPr>
        <p:spPr>
          <a:xfrm>
            <a:off x="9258300" y="5848350"/>
            <a:ext cx="8267700" cy="571500"/>
          </a:xfrm>
          <a:prstGeom prst="roundRect">
            <a:avLst>
              <a:gd fmla="val 2000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6"/>
          <p:cNvSpPr/>
          <p:nvPr/>
        </p:nvSpPr>
        <p:spPr>
          <a:xfrm>
            <a:off x="9448800" y="6000750"/>
            <a:ext cx="81348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Next action: </a:t>
            </a:r>
            <a:r>
              <a:rPr b="0" i="0" lang="en-US" sz="1800" u="none" cap="none" strike="noStrike">
                <a:solidFill>
                  <a:srgbClr val="121619"/>
                </a:solidFill>
                <a:highlight>
                  <a:srgbClr val="FFF3EB"/>
                </a:highlight>
                <a:latin typeface="Roboto"/>
                <a:ea typeface="Roboto"/>
                <a:cs typeface="Roboto"/>
                <a:sym typeface="Roboto"/>
              </a:rPr>
              <a:t>[Hành động cụ thể tiếp theo cho khu vực B.]</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7" name="Shape 1777"/>
        <p:cNvGrpSpPr/>
        <p:nvPr/>
      </p:nvGrpSpPr>
      <p:grpSpPr>
        <a:xfrm>
          <a:off x="0" y="0"/>
          <a:ext cx="0" cy="0"/>
          <a:chOff x="0" y="0"/>
          <a:chExt cx="0" cy="0"/>
        </a:xfrm>
      </p:grpSpPr>
      <p:sp>
        <p:nvSpPr>
          <p:cNvPr id="1778" name="Google Shape;1778;p47"/>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[CHỈ SỐ A] &amp; [CHỈ SỐ B]</a:t>
            </a:r>
            <a:endParaRPr b="0" i="0" sz="3300" u="none" cap="none" strike="noStrike">
              <a:solidFill>
                <a:schemeClr val="dk1"/>
              </a:solidFill>
              <a:latin typeface="Calibri"/>
              <a:ea typeface="Calibri"/>
              <a:cs typeface="Calibri"/>
              <a:sym typeface="Calibri"/>
            </a:endParaRPr>
          </a:p>
        </p:txBody>
      </p:sp>
      <p:sp>
        <p:nvSpPr>
          <p:cNvPr id="1779" name="Google Shape;1779;p47"/>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[Mô tả ngắn về 2 chỉ số — khu vực A &amp; B]</a:t>
            </a:r>
            <a:endParaRPr b="0" i="0" sz="1950" u="none" cap="none" strike="noStrike">
              <a:solidFill>
                <a:schemeClr val="dk1"/>
              </a:solidFill>
              <a:latin typeface="Calibri"/>
              <a:ea typeface="Calibri"/>
              <a:cs typeface="Calibri"/>
              <a:sym typeface="Calibri"/>
            </a:endParaRPr>
          </a:p>
        </p:txBody>
      </p:sp>
      <p:sp>
        <p:nvSpPr>
          <p:cNvPr id="1780" name="Google Shape;1780;p47"/>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81" name="Google Shape;1781;p47"/>
          <p:cNvPicPr preferRelativeResize="0"/>
          <p:nvPr/>
        </p:nvPicPr>
        <p:blipFill rotWithShape="1">
          <a:blip r:embed="rId3">
            <a:alphaModFix/>
          </a:blip>
          <a:srcRect b="0" l="0" r="0" t="0"/>
          <a:stretch/>
        </p:blipFill>
        <p:spPr>
          <a:xfrm>
            <a:off x="952500" y="1590675"/>
            <a:ext cx="209550" cy="209550"/>
          </a:xfrm>
          <a:prstGeom prst="rect">
            <a:avLst/>
          </a:prstGeom>
          <a:noFill/>
          <a:ln>
            <a:noFill/>
          </a:ln>
        </p:spPr>
      </p:pic>
      <p:sp>
        <p:nvSpPr>
          <p:cNvPr id="1782" name="Google Shape;1782;p47"/>
          <p:cNvSpPr/>
          <p:nvPr/>
        </p:nvSpPr>
        <p:spPr>
          <a:xfrm>
            <a:off x="1221581" y="15240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1783" name="Google Shape;1783;p47"/>
          <p:cNvSpPr/>
          <p:nvPr/>
        </p:nvSpPr>
        <p:spPr>
          <a:xfrm>
            <a:off x="3146375" y="1533525"/>
            <a:ext cx="64527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chính, nêu rõ khu vực nào cần chú ý hơn và vì sao.]</a:t>
            </a:r>
            <a:endParaRPr b="0" i="0" sz="1800" u="none" cap="none" strike="noStrike">
              <a:solidFill>
                <a:schemeClr val="dk1"/>
              </a:solidFill>
              <a:latin typeface="Calibri"/>
              <a:ea typeface="Calibri"/>
              <a:cs typeface="Calibri"/>
              <a:sym typeface="Calibri"/>
            </a:endParaRPr>
          </a:p>
        </p:txBody>
      </p:sp>
      <p:sp>
        <p:nvSpPr>
          <p:cNvPr id="1784" name="Google Shape;1784;p47"/>
          <p:cNvSpPr/>
          <p:nvPr/>
        </p:nvSpPr>
        <p:spPr>
          <a:xfrm>
            <a:off x="762000" y="2095500"/>
            <a:ext cx="1764300" cy="438300"/>
          </a:xfrm>
          <a:prstGeom prst="roundRect">
            <a:avLst>
              <a:gd fmla="val 17391"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7"/>
          <p:cNvSpPr/>
          <p:nvPr/>
        </p:nvSpPr>
        <p:spPr>
          <a:xfrm>
            <a:off x="933450" y="2171700"/>
            <a:ext cx="14976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[KHU VỰC A]</a:t>
            </a:r>
            <a:endParaRPr b="0" i="0" sz="1800" u="none" cap="none" strike="noStrike">
              <a:solidFill>
                <a:schemeClr val="dk1"/>
              </a:solidFill>
              <a:latin typeface="Calibri"/>
              <a:ea typeface="Calibri"/>
              <a:cs typeface="Calibri"/>
              <a:sym typeface="Calibri"/>
            </a:endParaRPr>
          </a:p>
        </p:txBody>
      </p:sp>
      <p:sp>
        <p:nvSpPr>
          <p:cNvPr id="1786" name="Google Shape;1786;p47"/>
          <p:cNvSpPr/>
          <p:nvPr/>
        </p:nvSpPr>
        <p:spPr>
          <a:xfrm>
            <a:off x="762000" y="2647950"/>
            <a:ext cx="2679600" cy="1104900"/>
          </a:xfrm>
          <a:prstGeom prst="roundRect">
            <a:avLst>
              <a:gd fmla="val 86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7"/>
          <p:cNvSpPr/>
          <p:nvPr/>
        </p:nvSpPr>
        <p:spPr>
          <a:xfrm>
            <a:off x="753747" y="2762250"/>
            <a:ext cx="2696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1]</a:t>
            </a:r>
            <a:endParaRPr b="0" i="0" sz="1800" u="none" cap="none" strike="noStrike">
              <a:solidFill>
                <a:schemeClr val="dk1"/>
              </a:solidFill>
              <a:latin typeface="Calibri"/>
              <a:ea typeface="Calibri"/>
              <a:cs typeface="Calibri"/>
              <a:sym typeface="Calibri"/>
            </a:endParaRPr>
          </a:p>
        </p:txBody>
      </p:sp>
      <p:sp>
        <p:nvSpPr>
          <p:cNvPr id="1788" name="Google Shape;1788;p47"/>
          <p:cNvSpPr/>
          <p:nvPr/>
        </p:nvSpPr>
        <p:spPr>
          <a:xfrm>
            <a:off x="753747" y="3028950"/>
            <a:ext cx="26961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[0,0]</a:t>
            </a:r>
            <a:endParaRPr b="0" i="0" sz="2100" u="none" cap="none" strike="noStrike">
              <a:solidFill>
                <a:schemeClr val="dk1"/>
              </a:solidFill>
              <a:latin typeface="Calibri"/>
              <a:ea typeface="Calibri"/>
              <a:cs typeface="Calibri"/>
              <a:sym typeface="Calibri"/>
            </a:endParaRPr>
          </a:p>
        </p:txBody>
      </p:sp>
      <p:sp>
        <p:nvSpPr>
          <p:cNvPr id="1789" name="Google Shape;1789;p47"/>
          <p:cNvSpPr/>
          <p:nvPr/>
        </p:nvSpPr>
        <p:spPr>
          <a:xfrm>
            <a:off x="753747" y="3362325"/>
            <a:ext cx="2696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90" name="Google Shape;1790;p47"/>
          <p:cNvSpPr/>
          <p:nvPr/>
        </p:nvSpPr>
        <p:spPr>
          <a:xfrm>
            <a:off x="3555950" y="2647950"/>
            <a:ext cx="2679600" cy="1104900"/>
          </a:xfrm>
          <a:prstGeom prst="roundRect">
            <a:avLst>
              <a:gd fmla="val 86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7"/>
          <p:cNvSpPr/>
          <p:nvPr/>
        </p:nvSpPr>
        <p:spPr>
          <a:xfrm>
            <a:off x="3547698" y="2762250"/>
            <a:ext cx="2696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2]</a:t>
            </a:r>
            <a:endParaRPr b="0" i="0" sz="1800" u="none" cap="none" strike="noStrike">
              <a:solidFill>
                <a:schemeClr val="dk1"/>
              </a:solidFill>
              <a:latin typeface="Calibri"/>
              <a:ea typeface="Calibri"/>
              <a:cs typeface="Calibri"/>
              <a:sym typeface="Calibri"/>
            </a:endParaRPr>
          </a:p>
        </p:txBody>
      </p:sp>
      <p:sp>
        <p:nvSpPr>
          <p:cNvPr id="1792" name="Google Shape;1792;p47"/>
          <p:cNvSpPr/>
          <p:nvPr/>
        </p:nvSpPr>
        <p:spPr>
          <a:xfrm>
            <a:off x="3547698" y="3028950"/>
            <a:ext cx="26961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[0,0]%</a:t>
            </a:r>
            <a:endParaRPr b="0" i="0" sz="2100" u="none" cap="none" strike="noStrike">
              <a:solidFill>
                <a:schemeClr val="dk1"/>
              </a:solidFill>
              <a:latin typeface="Calibri"/>
              <a:ea typeface="Calibri"/>
              <a:cs typeface="Calibri"/>
              <a:sym typeface="Calibri"/>
            </a:endParaRPr>
          </a:p>
        </p:txBody>
      </p:sp>
      <p:sp>
        <p:nvSpPr>
          <p:cNvPr id="1793" name="Google Shape;1793;p47"/>
          <p:cNvSpPr/>
          <p:nvPr/>
        </p:nvSpPr>
        <p:spPr>
          <a:xfrm>
            <a:off x="3547698" y="3362325"/>
            <a:ext cx="2696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94" name="Google Shape;1794;p47"/>
          <p:cNvSpPr/>
          <p:nvPr/>
        </p:nvSpPr>
        <p:spPr>
          <a:xfrm>
            <a:off x="6349901" y="2647950"/>
            <a:ext cx="2679900" cy="1104900"/>
          </a:xfrm>
          <a:prstGeom prst="roundRect">
            <a:avLst>
              <a:gd fmla="val 8621"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47"/>
          <p:cNvSpPr/>
          <p:nvPr/>
        </p:nvSpPr>
        <p:spPr>
          <a:xfrm>
            <a:off x="6341641" y="2762250"/>
            <a:ext cx="2696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3]</a:t>
            </a:r>
            <a:endParaRPr b="0" i="0" sz="1800" u="none" cap="none" strike="noStrike">
              <a:solidFill>
                <a:schemeClr val="dk1"/>
              </a:solidFill>
              <a:latin typeface="Calibri"/>
              <a:ea typeface="Calibri"/>
              <a:cs typeface="Calibri"/>
              <a:sym typeface="Calibri"/>
            </a:endParaRPr>
          </a:p>
        </p:txBody>
      </p:sp>
      <p:sp>
        <p:nvSpPr>
          <p:cNvPr id="1796" name="Google Shape;1796;p47"/>
          <p:cNvSpPr/>
          <p:nvPr/>
        </p:nvSpPr>
        <p:spPr>
          <a:xfrm>
            <a:off x="6341641" y="3028950"/>
            <a:ext cx="26964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[0,0]%</a:t>
            </a:r>
            <a:endParaRPr b="0" i="0" sz="2100" u="none" cap="none" strike="noStrike">
              <a:solidFill>
                <a:schemeClr val="dk1"/>
              </a:solidFill>
              <a:latin typeface="Calibri"/>
              <a:ea typeface="Calibri"/>
              <a:cs typeface="Calibri"/>
              <a:sym typeface="Calibri"/>
            </a:endParaRPr>
          </a:p>
        </p:txBody>
      </p:sp>
      <p:sp>
        <p:nvSpPr>
          <p:cNvPr id="1797" name="Google Shape;1797;p47"/>
          <p:cNvSpPr/>
          <p:nvPr/>
        </p:nvSpPr>
        <p:spPr>
          <a:xfrm>
            <a:off x="6341641" y="3362325"/>
            <a:ext cx="26964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798" name="Google Shape;1798;p47"/>
          <p:cNvSpPr/>
          <p:nvPr/>
        </p:nvSpPr>
        <p:spPr>
          <a:xfrm>
            <a:off x="762000" y="3867150"/>
            <a:ext cx="8267700" cy="533400"/>
          </a:xfrm>
          <a:prstGeom prst="roundRect">
            <a:avLst>
              <a:gd fmla="val 21429"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7"/>
          <p:cNvSpPr/>
          <p:nvPr/>
        </p:nvSpPr>
        <p:spPr>
          <a:xfrm>
            <a:off x="933450" y="4000500"/>
            <a:ext cx="81729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[Nhận định 1 câu về khu vực A, kèm số liệu bóc tách theo segment nếu có.]</a:t>
            </a:r>
            <a:endParaRPr b="0" i="0" sz="1800" u="none" cap="none" strike="noStrike">
              <a:solidFill>
                <a:schemeClr val="dk1"/>
              </a:solidFill>
              <a:latin typeface="Calibri"/>
              <a:ea typeface="Calibri"/>
              <a:cs typeface="Calibri"/>
              <a:sym typeface="Calibri"/>
            </a:endParaRPr>
          </a:p>
        </p:txBody>
      </p:sp>
      <p:sp>
        <p:nvSpPr>
          <p:cNvPr id="1800" name="Google Shape;1800;p47"/>
          <p:cNvSpPr/>
          <p:nvPr/>
        </p:nvSpPr>
        <p:spPr>
          <a:xfrm>
            <a:off x="762000" y="4514850"/>
            <a:ext cx="8267700" cy="4191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7"/>
          <p:cNvSpPr/>
          <p:nvPr/>
        </p:nvSpPr>
        <p:spPr>
          <a:xfrm>
            <a:off x="857250" y="4591050"/>
            <a:ext cx="33336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Segment</a:t>
            </a:r>
            <a:endParaRPr b="0" i="0" sz="1800" u="none" cap="none" strike="noStrike">
              <a:solidFill>
                <a:schemeClr val="dk1"/>
              </a:solidFill>
              <a:latin typeface="Calibri"/>
              <a:ea typeface="Calibri"/>
              <a:cs typeface="Calibri"/>
              <a:sym typeface="Calibri"/>
            </a:endParaRPr>
          </a:p>
        </p:txBody>
      </p:sp>
      <p:sp>
        <p:nvSpPr>
          <p:cNvPr id="1802" name="Google Shape;1802;p47"/>
          <p:cNvSpPr/>
          <p:nvPr/>
        </p:nvSpPr>
        <p:spPr>
          <a:xfrm>
            <a:off x="4240560" y="4591050"/>
            <a:ext cx="18924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Chỉ số</a:t>
            </a:r>
            <a:endParaRPr b="0" i="0" sz="1800" u="none" cap="none" strike="noStrike">
              <a:solidFill>
                <a:schemeClr val="dk1"/>
              </a:solidFill>
              <a:latin typeface="Calibri"/>
              <a:ea typeface="Calibri"/>
              <a:cs typeface="Calibri"/>
              <a:sym typeface="Calibri"/>
            </a:endParaRPr>
          </a:p>
        </p:txBody>
      </p:sp>
      <p:sp>
        <p:nvSpPr>
          <p:cNvPr id="1803" name="Google Shape;1803;p47"/>
          <p:cNvSpPr/>
          <p:nvPr/>
        </p:nvSpPr>
        <p:spPr>
          <a:xfrm>
            <a:off x="6242866" y="4591050"/>
            <a:ext cx="27342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Gap WoW</a:t>
            </a:r>
            <a:endParaRPr b="0" i="0" sz="1800" u="none" cap="none" strike="noStrike">
              <a:solidFill>
                <a:schemeClr val="dk1"/>
              </a:solidFill>
              <a:latin typeface="Calibri"/>
              <a:ea typeface="Calibri"/>
              <a:cs typeface="Calibri"/>
              <a:sym typeface="Calibri"/>
            </a:endParaRPr>
          </a:p>
        </p:txBody>
      </p:sp>
      <p:sp>
        <p:nvSpPr>
          <p:cNvPr id="1804" name="Google Shape;1804;p47"/>
          <p:cNvSpPr/>
          <p:nvPr/>
        </p:nvSpPr>
        <p:spPr>
          <a:xfrm>
            <a:off x="762000" y="5348288"/>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7"/>
          <p:cNvSpPr/>
          <p:nvPr/>
        </p:nvSpPr>
        <p:spPr>
          <a:xfrm>
            <a:off x="857250" y="5010150"/>
            <a:ext cx="33336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[Segment 1]</a:t>
            </a:r>
            <a:endParaRPr b="0" i="0" sz="1800" u="none" cap="none" strike="noStrike">
              <a:solidFill>
                <a:schemeClr val="dk1"/>
              </a:solidFill>
              <a:latin typeface="Calibri"/>
              <a:ea typeface="Calibri"/>
              <a:cs typeface="Calibri"/>
              <a:sym typeface="Calibri"/>
            </a:endParaRPr>
          </a:p>
        </p:txBody>
      </p:sp>
      <p:sp>
        <p:nvSpPr>
          <p:cNvPr id="1806" name="Google Shape;1806;p47"/>
          <p:cNvSpPr/>
          <p:nvPr/>
        </p:nvSpPr>
        <p:spPr>
          <a:xfrm>
            <a:off x="4154835" y="4943475"/>
            <a:ext cx="20640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807" name="Google Shape;1807;p47"/>
          <p:cNvSpPr/>
          <p:nvPr/>
        </p:nvSpPr>
        <p:spPr>
          <a:xfrm>
            <a:off x="6157141" y="4943475"/>
            <a:ext cx="29055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808" name="Google Shape;1808;p47"/>
          <p:cNvSpPr/>
          <p:nvPr/>
        </p:nvSpPr>
        <p:spPr>
          <a:xfrm>
            <a:off x="857250" y="5434013"/>
            <a:ext cx="33336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Total</a:t>
            </a:r>
            <a:endParaRPr b="0" i="0" sz="1800" u="none" cap="none" strike="noStrike">
              <a:solidFill>
                <a:schemeClr val="dk1"/>
              </a:solidFill>
              <a:latin typeface="Calibri"/>
              <a:ea typeface="Calibri"/>
              <a:cs typeface="Calibri"/>
              <a:sym typeface="Calibri"/>
            </a:endParaRPr>
          </a:p>
        </p:txBody>
      </p:sp>
      <p:sp>
        <p:nvSpPr>
          <p:cNvPr id="1809" name="Google Shape;1809;p47"/>
          <p:cNvSpPr/>
          <p:nvPr/>
        </p:nvSpPr>
        <p:spPr>
          <a:xfrm>
            <a:off x="4154835" y="5367338"/>
            <a:ext cx="20640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810" name="Google Shape;1810;p47"/>
          <p:cNvSpPr/>
          <p:nvPr/>
        </p:nvSpPr>
        <p:spPr>
          <a:xfrm>
            <a:off x="6157141" y="5367338"/>
            <a:ext cx="29055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811" name="Google Shape;1811;p47"/>
          <p:cNvSpPr/>
          <p:nvPr/>
        </p:nvSpPr>
        <p:spPr>
          <a:xfrm>
            <a:off x="9258300" y="2095500"/>
            <a:ext cx="1759200" cy="438300"/>
          </a:xfrm>
          <a:prstGeom prst="roundRect">
            <a:avLst>
              <a:gd fmla="val 17391"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7"/>
          <p:cNvSpPr/>
          <p:nvPr/>
        </p:nvSpPr>
        <p:spPr>
          <a:xfrm>
            <a:off x="9429750" y="2171700"/>
            <a:ext cx="1492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[KHU VỰC B]</a:t>
            </a:r>
            <a:endParaRPr b="0" i="0" sz="1800" u="none" cap="none" strike="noStrike">
              <a:solidFill>
                <a:schemeClr val="dk1"/>
              </a:solidFill>
              <a:latin typeface="Calibri"/>
              <a:ea typeface="Calibri"/>
              <a:cs typeface="Calibri"/>
              <a:sym typeface="Calibri"/>
            </a:endParaRPr>
          </a:p>
        </p:txBody>
      </p:sp>
      <p:sp>
        <p:nvSpPr>
          <p:cNvPr id="1813" name="Google Shape;1813;p47"/>
          <p:cNvSpPr/>
          <p:nvPr/>
        </p:nvSpPr>
        <p:spPr>
          <a:xfrm>
            <a:off x="9258300" y="2647950"/>
            <a:ext cx="2679600" cy="1104900"/>
          </a:xfrm>
          <a:prstGeom prst="roundRect">
            <a:avLst>
              <a:gd fmla="val 862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7"/>
          <p:cNvSpPr/>
          <p:nvPr/>
        </p:nvSpPr>
        <p:spPr>
          <a:xfrm>
            <a:off x="9250047" y="2762250"/>
            <a:ext cx="2696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1]</a:t>
            </a:r>
            <a:endParaRPr b="0" i="0" sz="1800" u="none" cap="none" strike="noStrike">
              <a:solidFill>
                <a:schemeClr val="dk1"/>
              </a:solidFill>
              <a:latin typeface="Calibri"/>
              <a:ea typeface="Calibri"/>
              <a:cs typeface="Calibri"/>
              <a:sym typeface="Calibri"/>
            </a:endParaRPr>
          </a:p>
        </p:txBody>
      </p:sp>
      <p:sp>
        <p:nvSpPr>
          <p:cNvPr id="1815" name="Google Shape;1815;p47"/>
          <p:cNvSpPr/>
          <p:nvPr/>
        </p:nvSpPr>
        <p:spPr>
          <a:xfrm>
            <a:off x="9250047" y="3028950"/>
            <a:ext cx="26961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[0,0]</a:t>
            </a:r>
            <a:endParaRPr b="0" i="0" sz="2100" u="none" cap="none" strike="noStrike">
              <a:solidFill>
                <a:schemeClr val="dk1"/>
              </a:solidFill>
              <a:latin typeface="Calibri"/>
              <a:ea typeface="Calibri"/>
              <a:cs typeface="Calibri"/>
              <a:sym typeface="Calibri"/>
            </a:endParaRPr>
          </a:p>
        </p:txBody>
      </p:sp>
      <p:sp>
        <p:nvSpPr>
          <p:cNvPr id="1816" name="Google Shape;1816;p47"/>
          <p:cNvSpPr/>
          <p:nvPr/>
        </p:nvSpPr>
        <p:spPr>
          <a:xfrm>
            <a:off x="9250047" y="3362325"/>
            <a:ext cx="2696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817" name="Google Shape;1817;p47"/>
          <p:cNvSpPr/>
          <p:nvPr/>
        </p:nvSpPr>
        <p:spPr>
          <a:xfrm>
            <a:off x="12052250" y="2647950"/>
            <a:ext cx="2679600" cy="1104900"/>
          </a:xfrm>
          <a:prstGeom prst="roundRect">
            <a:avLst>
              <a:gd fmla="val 862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7"/>
          <p:cNvSpPr/>
          <p:nvPr/>
        </p:nvSpPr>
        <p:spPr>
          <a:xfrm>
            <a:off x="12043998" y="2762250"/>
            <a:ext cx="2696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2]</a:t>
            </a:r>
            <a:endParaRPr b="0" i="0" sz="1800" u="none" cap="none" strike="noStrike">
              <a:solidFill>
                <a:schemeClr val="dk1"/>
              </a:solidFill>
              <a:latin typeface="Calibri"/>
              <a:ea typeface="Calibri"/>
              <a:cs typeface="Calibri"/>
              <a:sym typeface="Calibri"/>
            </a:endParaRPr>
          </a:p>
        </p:txBody>
      </p:sp>
      <p:sp>
        <p:nvSpPr>
          <p:cNvPr id="1819" name="Google Shape;1819;p47"/>
          <p:cNvSpPr/>
          <p:nvPr/>
        </p:nvSpPr>
        <p:spPr>
          <a:xfrm>
            <a:off x="12043998" y="3028950"/>
            <a:ext cx="26961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[0,0]%</a:t>
            </a:r>
            <a:endParaRPr b="0" i="0" sz="2100" u="none" cap="none" strike="noStrike">
              <a:solidFill>
                <a:schemeClr val="dk1"/>
              </a:solidFill>
              <a:latin typeface="Calibri"/>
              <a:ea typeface="Calibri"/>
              <a:cs typeface="Calibri"/>
              <a:sym typeface="Calibri"/>
            </a:endParaRPr>
          </a:p>
        </p:txBody>
      </p:sp>
      <p:sp>
        <p:nvSpPr>
          <p:cNvPr id="1820" name="Google Shape;1820;p47"/>
          <p:cNvSpPr/>
          <p:nvPr/>
        </p:nvSpPr>
        <p:spPr>
          <a:xfrm>
            <a:off x="12043998" y="3362325"/>
            <a:ext cx="2696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821" name="Google Shape;1821;p47"/>
          <p:cNvSpPr/>
          <p:nvPr/>
        </p:nvSpPr>
        <p:spPr>
          <a:xfrm>
            <a:off x="14846201" y="2647950"/>
            <a:ext cx="2679900" cy="1104900"/>
          </a:xfrm>
          <a:prstGeom prst="roundRect">
            <a:avLst>
              <a:gd fmla="val 8621"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7"/>
          <p:cNvSpPr/>
          <p:nvPr/>
        </p:nvSpPr>
        <p:spPr>
          <a:xfrm>
            <a:off x="14837941" y="2762250"/>
            <a:ext cx="2696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3]</a:t>
            </a:r>
            <a:endParaRPr b="0" i="0" sz="1800" u="none" cap="none" strike="noStrike">
              <a:solidFill>
                <a:schemeClr val="dk1"/>
              </a:solidFill>
              <a:latin typeface="Calibri"/>
              <a:ea typeface="Calibri"/>
              <a:cs typeface="Calibri"/>
              <a:sym typeface="Calibri"/>
            </a:endParaRPr>
          </a:p>
        </p:txBody>
      </p:sp>
      <p:sp>
        <p:nvSpPr>
          <p:cNvPr id="1823" name="Google Shape;1823;p47"/>
          <p:cNvSpPr/>
          <p:nvPr/>
        </p:nvSpPr>
        <p:spPr>
          <a:xfrm>
            <a:off x="14837941" y="3028950"/>
            <a:ext cx="26964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[0,0]%</a:t>
            </a:r>
            <a:endParaRPr b="0" i="0" sz="2100" u="none" cap="none" strike="noStrike">
              <a:solidFill>
                <a:schemeClr val="dk1"/>
              </a:solidFill>
              <a:latin typeface="Calibri"/>
              <a:ea typeface="Calibri"/>
              <a:cs typeface="Calibri"/>
              <a:sym typeface="Calibri"/>
            </a:endParaRPr>
          </a:p>
        </p:txBody>
      </p:sp>
      <p:sp>
        <p:nvSpPr>
          <p:cNvPr id="1824" name="Google Shape;1824;p47"/>
          <p:cNvSpPr/>
          <p:nvPr/>
        </p:nvSpPr>
        <p:spPr>
          <a:xfrm>
            <a:off x="14837941" y="3362325"/>
            <a:ext cx="26964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825" name="Google Shape;1825;p47"/>
          <p:cNvSpPr/>
          <p:nvPr/>
        </p:nvSpPr>
        <p:spPr>
          <a:xfrm>
            <a:off x="9258300" y="3867150"/>
            <a:ext cx="8267700" cy="533400"/>
          </a:xfrm>
          <a:prstGeom prst="roundRect">
            <a:avLst>
              <a:gd fmla="val 2142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7"/>
          <p:cNvSpPr/>
          <p:nvPr/>
        </p:nvSpPr>
        <p:spPr>
          <a:xfrm>
            <a:off x="9429750" y="4000500"/>
            <a:ext cx="81729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1 câu về khu vực B, kèm nguyên nhân nếu có (thời tiết, demand...).]</a:t>
            </a:r>
            <a:endParaRPr b="0" i="0" sz="1800" u="none" cap="none" strike="noStrike">
              <a:solidFill>
                <a:schemeClr val="dk1"/>
              </a:solidFill>
              <a:latin typeface="Calibri"/>
              <a:ea typeface="Calibri"/>
              <a:cs typeface="Calibri"/>
              <a:sym typeface="Calibri"/>
            </a:endParaRPr>
          </a:p>
        </p:txBody>
      </p:sp>
      <p:sp>
        <p:nvSpPr>
          <p:cNvPr id="1827" name="Google Shape;1827;p47"/>
          <p:cNvSpPr/>
          <p:nvPr/>
        </p:nvSpPr>
        <p:spPr>
          <a:xfrm>
            <a:off x="9258300" y="4514850"/>
            <a:ext cx="8267700" cy="4191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7"/>
          <p:cNvSpPr/>
          <p:nvPr/>
        </p:nvSpPr>
        <p:spPr>
          <a:xfrm>
            <a:off x="9353550" y="4591050"/>
            <a:ext cx="3403800" cy="3048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Segment</a:t>
            </a:r>
            <a:endParaRPr b="0" i="0" sz="1800" u="none" cap="none" strike="noStrike">
              <a:solidFill>
                <a:schemeClr val="dk1"/>
              </a:solidFill>
              <a:latin typeface="Calibri"/>
              <a:ea typeface="Calibri"/>
              <a:cs typeface="Calibri"/>
              <a:sym typeface="Calibri"/>
            </a:endParaRPr>
          </a:p>
        </p:txBody>
      </p:sp>
      <p:sp>
        <p:nvSpPr>
          <p:cNvPr id="1829" name="Google Shape;1829;p47"/>
          <p:cNvSpPr/>
          <p:nvPr/>
        </p:nvSpPr>
        <p:spPr>
          <a:xfrm>
            <a:off x="12805172" y="4591050"/>
            <a:ext cx="19326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Chỉ số</a:t>
            </a:r>
            <a:endParaRPr b="0" i="0" sz="1800" u="none" cap="none" strike="noStrike">
              <a:solidFill>
                <a:schemeClr val="dk1"/>
              </a:solidFill>
              <a:latin typeface="Calibri"/>
              <a:ea typeface="Calibri"/>
              <a:cs typeface="Calibri"/>
              <a:sym typeface="Calibri"/>
            </a:endParaRPr>
          </a:p>
        </p:txBody>
      </p:sp>
      <p:sp>
        <p:nvSpPr>
          <p:cNvPr id="1830" name="Google Shape;1830;p47"/>
          <p:cNvSpPr/>
          <p:nvPr/>
        </p:nvSpPr>
        <p:spPr>
          <a:xfrm>
            <a:off x="14849289" y="4591050"/>
            <a:ext cx="2622300" cy="304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1" i="0" lang="en-US" sz="1800" u="none" cap="none" strike="noStrike">
                <a:solidFill>
                  <a:srgbClr val="FFFFFF"/>
                </a:solidFill>
                <a:latin typeface="Roboto"/>
                <a:ea typeface="Roboto"/>
                <a:cs typeface="Roboto"/>
                <a:sym typeface="Roboto"/>
              </a:rPr>
              <a:t>Gap Plan</a:t>
            </a:r>
            <a:endParaRPr b="0" i="0" sz="1800" u="none" cap="none" strike="noStrike">
              <a:solidFill>
                <a:schemeClr val="dk1"/>
              </a:solidFill>
              <a:latin typeface="Calibri"/>
              <a:ea typeface="Calibri"/>
              <a:cs typeface="Calibri"/>
              <a:sym typeface="Calibri"/>
            </a:endParaRPr>
          </a:p>
        </p:txBody>
      </p:sp>
      <p:sp>
        <p:nvSpPr>
          <p:cNvPr id="1831" name="Google Shape;1831;p47"/>
          <p:cNvSpPr/>
          <p:nvPr/>
        </p:nvSpPr>
        <p:spPr>
          <a:xfrm>
            <a:off x="9258300" y="5348288"/>
            <a:ext cx="82677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7"/>
          <p:cNvSpPr/>
          <p:nvPr/>
        </p:nvSpPr>
        <p:spPr>
          <a:xfrm>
            <a:off x="9353550" y="5010150"/>
            <a:ext cx="34038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[Segment 1]</a:t>
            </a:r>
            <a:endParaRPr b="0" i="0" sz="1800" u="none" cap="none" strike="noStrike">
              <a:solidFill>
                <a:schemeClr val="dk1"/>
              </a:solidFill>
              <a:latin typeface="Calibri"/>
              <a:ea typeface="Calibri"/>
              <a:cs typeface="Calibri"/>
              <a:sym typeface="Calibri"/>
            </a:endParaRPr>
          </a:p>
        </p:txBody>
      </p:sp>
      <p:sp>
        <p:nvSpPr>
          <p:cNvPr id="1833" name="Google Shape;1833;p47"/>
          <p:cNvSpPr/>
          <p:nvPr/>
        </p:nvSpPr>
        <p:spPr>
          <a:xfrm>
            <a:off x="12719447" y="4943475"/>
            <a:ext cx="21042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834" name="Google Shape;1834;p47"/>
          <p:cNvSpPr/>
          <p:nvPr/>
        </p:nvSpPr>
        <p:spPr>
          <a:xfrm>
            <a:off x="14763564" y="4943475"/>
            <a:ext cx="27939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835" name="Google Shape;1835;p47"/>
          <p:cNvSpPr/>
          <p:nvPr/>
        </p:nvSpPr>
        <p:spPr>
          <a:xfrm>
            <a:off x="9353550" y="5434013"/>
            <a:ext cx="34038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Total</a:t>
            </a:r>
            <a:endParaRPr b="0" i="0" sz="1800" u="none" cap="none" strike="noStrike">
              <a:solidFill>
                <a:schemeClr val="dk1"/>
              </a:solidFill>
              <a:latin typeface="Calibri"/>
              <a:ea typeface="Calibri"/>
              <a:cs typeface="Calibri"/>
              <a:sym typeface="Calibri"/>
            </a:endParaRPr>
          </a:p>
        </p:txBody>
      </p:sp>
      <p:sp>
        <p:nvSpPr>
          <p:cNvPr id="1836" name="Google Shape;1836;p47"/>
          <p:cNvSpPr/>
          <p:nvPr/>
        </p:nvSpPr>
        <p:spPr>
          <a:xfrm>
            <a:off x="12719447" y="5367338"/>
            <a:ext cx="21042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1837" name="Google Shape;1837;p47"/>
          <p:cNvSpPr/>
          <p:nvPr/>
        </p:nvSpPr>
        <p:spPr>
          <a:xfrm>
            <a:off x="14763564" y="5367338"/>
            <a:ext cx="2793900" cy="4428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2" name="Shape 1842"/>
        <p:cNvGrpSpPr/>
        <p:nvPr/>
      </p:nvGrpSpPr>
      <p:grpSpPr>
        <a:xfrm>
          <a:off x="0" y="0"/>
          <a:ext cx="0" cy="0"/>
          <a:chOff x="0" y="0"/>
          <a:chExt cx="0" cy="0"/>
        </a:xfrm>
      </p:grpSpPr>
      <p:sp>
        <p:nvSpPr>
          <p:cNvPr id="1843" name="Google Shape;1843;p48"/>
          <p:cNvSpPr/>
          <p:nvPr/>
        </p:nvSpPr>
        <p:spPr>
          <a:xfrm>
            <a:off x="762000" y="5334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[TÊN CHƯƠNG TRÌNH]</a:t>
            </a:r>
            <a:endParaRPr b="0" i="0" sz="3300" u="none" cap="none" strike="noStrike">
              <a:solidFill>
                <a:schemeClr val="dk1"/>
              </a:solidFill>
              <a:latin typeface="Calibri"/>
              <a:ea typeface="Calibri"/>
              <a:cs typeface="Calibri"/>
              <a:sym typeface="Calibri"/>
            </a:endParaRPr>
          </a:p>
        </p:txBody>
      </p:sp>
      <p:sp>
        <p:nvSpPr>
          <p:cNvPr id="1844" name="Google Shape;1844;p48"/>
          <p:cNvSpPr/>
          <p:nvPr/>
        </p:nvSpPr>
        <p:spPr>
          <a:xfrm>
            <a:off x="762000" y="10668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[Mô tả ngắn mục đích chương trình]</a:t>
            </a:r>
            <a:endParaRPr b="0" i="0" sz="1950" u="none" cap="none" strike="noStrike">
              <a:solidFill>
                <a:schemeClr val="dk1"/>
              </a:solidFill>
              <a:latin typeface="Calibri"/>
              <a:ea typeface="Calibri"/>
              <a:cs typeface="Calibri"/>
              <a:sym typeface="Calibri"/>
            </a:endParaRPr>
          </a:p>
        </p:txBody>
      </p:sp>
      <p:sp>
        <p:nvSpPr>
          <p:cNvPr id="1845" name="Google Shape;1845;p48"/>
          <p:cNvSpPr/>
          <p:nvPr/>
        </p:nvSpPr>
        <p:spPr>
          <a:xfrm>
            <a:off x="762000" y="14478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46" name="Google Shape;1846;p48"/>
          <p:cNvPicPr preferRelativeResize="0"/>
          <p:nvPr/>
        </p:nvPicPr>
        <p:blipFill rotWithShape="1">
          <a:blip r:embed="rId3">
            <a:alphaModFix/>
          </a:blip>
          <a:srcRect b="0" l="0" r="0" t="0"/>
          <a:stretch/>
        </p:blipFill>
        <p:spPr>
          <a:xfrm>
            <a:off x="952500" y="1628775"/>
            <a:ext cx="209550" cy="209550"/>
          </a:xfrm>
          <a:prstGeom prst="rect">
            <a:avLst/>
          </a:prstGeom>
          <a:noFill/>
          <a:ln>
            <a:noFill/>
          </a:ln>
        </p:spPr>
      </p:pic>
      <p:sp>
        <p:nvSpPr>
          <p:cNvPr id="1847" name="Google Shape;1847;p48"/>
          <p:cNvSpPr/>
          <p:nvPr/>
        </p:nvSpPr>
        <p:spPr>
          <a:xfrm>
            <a:off x="1221581" y="15621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1848" name="Google Shape;1848;p48"/>
          <p:cNvSpPr/>
          <p:nvPr/>
        </p:nvSpPr>
        <p:spPr>
          <a:xfrm>
            <a:off x="3146375" y="1571625"/>
            <a:ext cx="54660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[Kết quả nổi bật nhất của chương trình so với target.]</a:t>
            </a:r>
            <a:endParaRPr b="0" i="0" sz="1800" u="none" cap="none" strike="noStrike">
              <a:solidFill>
                <a:schemeClr val="dk1"/>
              </a:solidFill>
              <a:latin typeface="Calibri"/>
              <a:ea typeface="Calibri"/>
              <a:cs typeface="Calibri"/>
              <a:sym typeface="Calibri"/>
            </a:endParaRPr>
          </a:p>
        </p:txBody>
      </p:sp>
      <p:sp>
        <p:nvSpPr>
          <p:cNvPr id="1849" name="Google Shape;1849;p48"/>
          <p:cNvSpPr/>
          <p:nvPr/>
        </p:nvSpPr>
        <p:spPr>
          <a:xfrm>
            <a:off x="762000" y="2190750"/>
            <a:ext cx="5511600" cy="7563000"/>
          </a:xfrm>
          <a:prstGeom prst="roundRect">
            <a:avLst>
              <a:gd fmla="val 2765"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8"/>
          <p:cNvSpPr/>
          <p:nvPr/>
        </p:nvSpPr>
        <p:spPr>
          <a:xfrm>
            <a:off x="2513975" y="5172075"/>
            <a:ext cx="20079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E6027"/>
              </a:buClr>
              <a:buSzPts val="1800"/>
              <a:buFont typeface="Roboto"/>
              <a:buNone/>
            </a:pPr>
            <a:r>
              <a:rPr b="0" i="0" lang="en-US" sz="1800" u="none" cap="none" strike="noStrike">
                <a:solidFill>
                  <a:srgbClr val="0E6027"/>
                </a:solidFill>
                <a:latin typeface="Roboto"/>
                <a:ea typeface="Roboto"/>
                <a:cs typeface="Roboto"/>
                <a:sym typeface="Roboto"/>
              </a:rPr>
              <a:t>[Tên số liệu chính]</a:t>
            </a:r>
            <a:endParaRPr b="0" i="0" sz="1800" u="none" cap="none" strike="noStrike">
              <a:solidFill>
                <a:schemeClr val="dk1"/>
              </a:solidFill>
              <a:latin typeface="Calibri"/>
              <a:ea typeface="Calibri"/>
              <a:cs typeface="Calibri"/>
              <a:sym typeface="Calibri"/>
            </a:endParaRPr>
          </a:p>
        </p:txBody>
      </p:sp>
      <p:sp>
        <p:nvSpPr>
          <p:cNvPr id="1851" name="Google Shape;1851;p48"/>
          <p:cNvSpPr/>
          <p:nvPr/>
        </p:nvSpPr>
        <p:spPr>
          <a:xfrm>
            <a:off x="2058047" y="5534025"/>
            <a:ext cx="2919600" cy="800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E6027"/>
              </a:buClr>
              <a:buSzPts val="4800"/>
              <a:buFont typeface="Plus Jakarta Sans"/>
              <a:buNone/>
            </a:pPr>
            <a:r>
              <a:rPr b="1" i="0" lang="en-US" sz="4800" u="none" cap="none" strike="noStrike">
                <a:solidFill>
                  <a:srgbClr val="0E6027"/>
                </a:solidFill>
                <a:latin typeface="Plus Jakarta Sans"/>
                <a:ea typeface="Plus Jakarta Sans"/>
                <a:cs typeface="Plus Jakarta Sans"/>
                <a:sym typeface="Plus Jakarta Sans"/>
              </a:rPr>
              <a:t>[0,0]</a:t>
            </a:r>
            <a:r>
              <a:rPr b="1" i="0" lang="en-US" sz="2700" u="none" cap="none" strike="noStrike">
                <a:solidFill>
                  <a:srgbClr val="757D86"/>
                </a:solidFill>
                <a:latin typeface="Plus Jakarta Sans"/>
                <a:ea typeface="Plus Jakarta Sans"/>
                <a:cs typeface="Plus Jakarta Sans"/>
                <a:sym typeface="Plus Jakarta Sans"/>
              </a:rPr>
              <a:t>/[0,0]</a:t>
            </a:r>
            <a:endParaRPr b="0" i="0" sz="4800" u="none" cap="none" strike="noStrike">
              <a:solidFill>
                <a:schemeClr val="dk1"/>
              </a:solidFill>
              <a:latin typeface="Calibri"/>
              <a:ea typeface="Calibri"/>
              <a:cs typeface="Calibri"/>
              <a:sym typeface="Calibri"/>
            </a:endParaRPr>
          </a:p>
        </p:txBody>
      </p:sp>
      <p:sp>
        <p:nvSpPr>
          <p:cNvPr id="1852" name="Google Shape;1852;p48"/>
          <p:cNvSpPr/>
          <p:nvPr/>
        </p:nvSpPr>
        <p:spPr>
          <a:xfrm>
            <a:off x="2723257" y="6391275"/>
            <a:ext cx="1589100" cy="381000"/>
          </a:xfrm>
          <a:prstGeom prst="roundRect">
            <a:avLst>
              <a:gd fmla="val 50000"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48"/>
          <p:cNvSpPr/>
          <p:nvPr/>
        </p:nvSpPr>
        <p:spPr>
          <a:xfrm>
            <a:off x="2856607" y="6448425"/>
            <a:ext cx="1322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FFFFF"/>
              </a:buClr>
              <a:buSzPts val="1800"/>
              <a:buFont typeface="Roboto"/>
              <a:buNone/>
            </a:pPr>
            <a:r>
              <a:rPr b="0" i="0" lang="en-US" sz="1800" u="none" cap="none" strike="noStrike">
                <a:solidFill>
                  <a:srgbClr val="FFFFFF"/>
                </a:solidFill>
                <a:latin typeface="Roboto"/>
                <a:ea typeface="Roboto"/>
                <a:cs typeface="Roboto"/>
                <a:sym typeface="Roboto"/>
              </a:rPr>
              <a:t>[0,0]% target</a:t>
            </a:r>
            <a:endParaRPr b="0" i="0" sz="1800" u="none" cap="none" strike="noStrike">
              <a:solidFill>
                <a:schemeClr val="dk1"/>
              </a:solidFill>
              <a:latin typeface="Calibri"/>
              <a:ea typeface="Calibri"/>
              <a:cs typeface="Calibri"/>
              <a:sym typeface="Calibri"/>
            </a:endParaRPr>
          </a:p>
        </p:txBody>
      </p:sp>
      <p:sp>
        <p:nvSpPr>
          <p:cNvPr id="1854" name="Google Shape;1854;p48"/>
          <p:cNvSpPr/>
          <p:nvPr/>
        </p:nvSpPr>
        <p:spPr>
          <a:xfrm>
            <a:off x="6502301" y="2190750"/>
            <a:ext cx="11023800" cy="609600"/>
          </a:xfrm>
          <a:prstGeom prst="roundRect">
            <a:avLst>
              <a:gd fmla="val 1875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48"/>
          <p:cNvSpPr/>
          <p:nvPr/>
        </p:nvSpPr>
        <p:spPr>
          <a:xfrm>
            <a:off x="6692801" y="2362200"/>
            <a:ext cx="10973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[Giai đoạn 1]: </a:t>
            </a:r>
            <a:r>
              <a:rPr b="0" i="0" lang="en-US" sz="1800" u="none" cap="none" strike="noStrike">
                <a:solidFill>
                  <a:srgbClr val="121619"/>
                </a:solidFill>
                <a:highlight>
                  <a:srgbClr val="F5F7FA"/>
                </a:highlight>
                <a:latin typeface="Roboto"/>
                <a:ea typeface="Roboto"/>
                <a:cs typeface="Roboto"/>
                <a:sym typeface="Roboto"/>
              </a:rPr>
              <a:t>[Mô tả hoạt động &amp; mốc thời gian.]</a:t>
            </a:r>
            <a:endParaRPr b="0" i="0" sz="1800" u="none" cap="none" strike="noStrike">
              <a:solidFill>
                <a:schemeClr val="dk1"/>
              </a:solidFill>
              <a:latin typeface="Calibri"/>
              <a:ea typeface="Calibri"/>
              <a:cs typeface="Calibri"/>
              <a:sym typeface="Calibri"/>
            </a:endParaRPr>
          </a:p>
        </p:txBody>
      </p:sp>
      <p:sp>
        <p:nvSpPr>
          <p:cNvPr id="1856" name="Google Shape;1856;p48"/>
          <p:cNvSpPr/>
          <p:nvPr/>
        </p:nvSpPr>
        <p:spPr>
          <a:xfrm>
            <a:off x="6502301" y="2933700"/>
            <a:ext cx="11023800" cy="609600"/>
          </a:xfrm>
          <a:prstGeom prst="roundRect">
            <a:avLst>
              <a:gd fmla="val 1875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48"/>
          <p:cNvSpPr/>
          <p:nvPr/>
        </p:nvSpPr>
        <p:spPr>
          <a:xfrm>
            <a:off x="6692801" y="3105150"/>
            <a:ext cx="10973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[Giai đoạn 2]: </a:t>
            </a:r>
            <a:r>
              <a:rPr b="0" i="0" lang="en-US" sz="1800" u="none" cap="none" strike="noStrike">
                <a:solidFill>
                  <a:srgbClr val="121619"/>
                </a:solidFill>
                <a:highlight>
                  <a:srgbClr val="F5F7FA"/>
                </a:highlight>
                <a:latin typeface="Roboto"/>
                <a:ea typeface="Roboto"/>
                <a:cs typeface="Roboto"/>
                <a:sym typeface="Roboto"/>
              </a:rPr>
              <a:t>[Mô tả hoạt động &amp; kết quả.]</a:t>
            </a:r>
            <a:endParaRPr b="0" i="0" sz="1800" u="none" cap="none" strike="noStrike">
              <a:solidFill>
                <a:schemeClr val="dk1"/>
              </a:solidFill>
              <a:latin typeface="Calibri"/>
              <a:ea typeface="Calibri"/>
              <a:cs typeface="Calibri"/>
              <a:sym typeface="Calibri"/>
            </a:endParaRPr>
          </a:p>
        </p:txBody>
      </p:sp>
      <p:sp>
        <p:nvSpPr>
          <p:cNvPr id="1858" name="Google Shape;1858;p48"/>
          <p:cNvSpPr/>
          <p:nvPr/>
        </p:nvSpPr>
        <p:spPr>
          <a:xfrm>
            <a:off x="6502301" y="3676650"/>
            <a:ext cx="11023800" cy="609600"/>
          </a:xfrm>
          <a:prstGeom prst="roundRect">
            <a:avLst>
              <a:gd fmla="val 18750" name="adj"/>
            </a:avLst>
          </a:pr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48"/>
          <p:cNvSpPr/>
          <p:nvPr/>
        </p:nvSpPr>
        <p:spPr>
          <a:xfrm>
            <a:off x="6692801" y="3848100"/>
            <a:ext cx="10973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Gap: </a:t>
            </a:r>
            <a:r>
              <a:rPr b="0" i="0" lang="en-US" sz="1800" u="none" cap="none" strike="noStrike">
                <a:solidFill>
                  <a:srgbClr val="121619"/>
                </a:solidFill>
                <a:highlight>
                  <a:srgbClr val="FFF8E1"/>
                </a:highlight>
                <a:latin typeface="Roboto"/>
                <a:ea typeface="Roboto"/>
                <a:cs typeface="Roboto"/>
                <a:sym typeface="Roboto"/>
              </a:rPr>
              <a:t>[Phần chưa đạt, kèm nguyên nhân.]</a:t>
            </a:r>
            <a:endParaRPr b="0" i="0" sz="1800" u="none" cap="none" strike="noStrike">
              <a:solidFill>
                <a:schemeClr val="dk1"/>
              </a:solidFill>
              <a:latin typeface="Calibri"/>
              <a:ea typeface="Calibri"/>
              <a:cs typeface="Calibri"/>
              <a:sym typeface="Calibri"/>
            </a:endParaRPr>
          </a:p>
        </p:txBody>
      </p:sp>
      <p:sp>
        <p:nvSpPr>
          <p:cNvPr id="1860" name="Google Shape;1860;p48"/>
          <p:cNvSpPr/>
          <p:nvPr/>
        </p:nvSpPr>
        <p:spPr>
          <a:xfrm>
            <a:off x="6502301" y="4419600"/>
            <a:ext cx="11023800" cy="628800"/>
          </a:xfrm>
          <a:prstGeom prst="roundRect">
            <a:avLst>
              <a:gd fmla="val 18182"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48"/>
          <p:cNvSpPr/>
          <p:nvPr/>
        </p:nvSpPr>
        <p:spPr>
          <a:xfrm>
            <a:off x="6702326" y="4600575"/>
            <a:ext cx="109545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Next action: </a:t>
            </a:r>
            <a:r>
              <a:rPr b="0" i="0" lang="en-US" sz="1800" u="none" cap="none" strike="noStrike">
                <a:solidFill>
                  <a:srgbClr val="4C5158"/>
                </a:solidFill>
                <a:highlight>
                  <a:srgbClr val="FFFFFF"/>
                </a:highlight>
                <a:latin typeface="Roboto"/>
                <a:ea typeface="Roboto"/>
                <a:cs typeface="Roboto"/>
                <a:sym typeface="Roboto"/>
              </a:rPr>
              <a:t>[Hành động tiếp theo cụ thể.]</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6" name="Shape 1866"/>
        <p:cNvGrpSpPr/>
        <p:nvPr/>
      </p:nvGrpSpPr>
      <p:grpSpPr>
        <a:xfrm>
          <a:off x="0" y="0"/>
          <a:ext cx="0" cy="0"/>
          <a:chOff x="0" y="0"/>
          <a:chExt cx="0" cy="0"/>
        </a:xfrm>
      </p:grpSpPr>
      <p:sp>
        <p:nvSpPr>
          <p:cNvPr id="1867" name="Google Shape;1867;p49"/>
          <p:cNvSpPr/>
          <p:nvPr/>
        </p:nvSpPr>
        <p:spPr>
          <a:xfrm>
            <a:off x="762000" y="495300"/>
            <a:ext cx="914100" cy="543000"/>
          </a:xfrm>
          <a:prstGeom prst="roundRect">
            <a:avLst>
              <a:gd fmla="val 21053"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9"/>
          <p:cNvSpPr/>
          <p:nvPr/>
        </p:nvSpPr>
        <p:spPr>
          <a:xfrm>
            <a:off x="952500" y="609600"/>
            <a:ext cx="6093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950"/>
              <a:buFont typeface="Plus Jakarta Sans"/>
              <a:buNone/>
            </a:pPr>
            <a:r>
              <a:rPr b="1" i="0" lang="en-US" sz="1950" u="none" cap="none" strike="noStrike">
                <a:solidFill>
                  <a:srgbClr val="FFFFFF"/>
                </a:solidFill>
                <a:latin typeface="Plus Jakarta Sans"/>
                <a:ea typeface="Plus Jakarta Sans"/>
                <a:cs typeface="Plus Jakarta Sans"/>
                <a:sym typeface="Plus Jakarta Sans"/>
              </a:rPr>
              <a:t>[XX]</a:t>
            </a:r>
            <a:endParaRPr b="0" i="0" sz="1950" u="none" cap="none" strike="noStrike">
              <a:solidFill>
                <a:schemeClr val="dk1"/>
              </a:solidFill>
              <a:latin typeface="Calibri"/>
              <a:ea typeface="Calibri"/>
              <a:cs typeface="Calibri"/>
              <a:sym typeface="Calibri"/>
            </a:endParaRPr>
          </a:p>
        </p:txBody>
      </p:sp>
      <p:sp>
        <p:nvSpPr>
          <p:cNvPr id="1869" name="Google Shape;1869;p49"/>
          <p:cNvSpPr/>
          <p:nvPr/>
        </p:nvSpPr>
        <p:spPr>
          <a:xfrm>
            <a:off x="1866602" y="542925"/>
            <a:ext cx="9770100" cy="485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2850"/>
              <a:buFont typeface="Plus Jakarta Sans"/>
              <a:buNone/>
            </a:pPr>
            <a:r>
              <a:rPr b="1" i="0" lang="en-US" sz="2850" u="none" cap="none" strike="noStrike">
                <a:solidFill>
                  <a:srgbClr val="121619"/>
                </a:solidFill>
                <a:latin typeface="Plus Jakarta Sans"/>
                <a:ea typeface="Plus Jakarta Sans"/>
                <a:cs typeface="Plus Jakarta Sans"/>
                <a:sym typeface="Plus Jakarta Sans"/>
              </a:rPr>
              <a:t>[Tên chương trình]: Giai đoạn triển khai </a:t>
            </a:r>
            <a:r>
              <a:rPr b="1" i="0" lang="en-US" sz="2100" u="none" cap="none" strike="noStrike">
                <a:solidFill>
                  <a:srgbClr val="FF7F32"/>
                </a:solidFill>
                <a:latin typeface="Plus Jakarta Sans"/>
                <a:ea typeface="Plus Jakarta Sans"/>
                <a:cs typeface="Plus Jakarta Sans"/>
                <a:sym typeface="Plus Jakarta Sans"/>
              </a:rPr>
              <a:t>([Mốc thời gian])</a:t>
            </a:r>
            <a:endParaRPr b="0" i="0" sz="2850" u="none" cap="none" strike="noStrike">
              <a:solidFill>
                <a:schemeClr val="dk1"/>
              </a:solidFill>
              <a:latin typeface="Calibri"/>
              <a:ea typeface="Calibri"/>
              <a:cs typeface="Calibri"/>
              <a:sym typeface="Calibri"/>
            </a:endParaRPr>
          </a:p>
        </p:txBody>
      </p:sp>
      <p:sp>
        <p:nvSpPr>
          <p:cNvPr id="1870" name="Google Shape;1870;p49"/>
          <p:cNvSpPr/>
          <p:nvPr/>
        </p:nvSpPr>
        <p:spPr>
          <a:xfrm>
            <a:off x="762000" y="1247775"/>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71" name="Google Shape;1871;p49"/>
          <p:cNvPicPr preferRelativeResize="0"/>
          <p:nvPr/>
        </p:nvPicPr>
        <p:blipFill rotWithShape="1">
          <a:blip r:embed="rId3">
            <a:alphaModFix/>
          </a:blip>
          <a:srcRect b="0" l="0" r="0" t="0"/>
          <a:stretch/>
        </p:blipFill>
        <p:spPr>
          <a:xfrm>
            <a:off x="952500" y="1428750"/>
            <a:ext cx="209550" cy="209550"/>
          </a:xfrm>
          <a:prstGeom prst="rect">
            <a:avLst/>
          </a:prstGeom>
          <a:noFill/>
          <a:ln>
            <a:noFill/>
          </a:ln>
        </p:spPr>
      </p:pic>
      <p:sp>
        <p:nvSpPr>
          <p:cNvPr id="1872" name="Google Shape;1872;p49"/>
          <p:cNvSpPr/>
          <p:nvPr/>
        </p:nvSpPr>
        <p:spPr>
          <a:xfrm>
            <a:off x="1221581" y="1362075"/>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1873" name="Google Shape;1873;p49"/>
          <p:cNvSpPr/>
          <p:nvPr/>
        </p:nvSpPr>
        <p:spPr>
          <a:xfrm>
            <a:off x="3146375" y="1371600"/>
            <a:ext cx="50418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về tiến độ triển khai so với kế hoạch.]</a:t>
            </a:r>
            <a:endParaRPr b="0" i="0" sz="1800" u="none" cap="none" strike="noStrike">
              <a:solidFill>
                <a:schemeClr val="dk1"/>
              </a:solidFill>
              <a:latin typeface="Calibri"/>
              <a:ea typeface="Calibri"/>
              <a:cs typeface="Calibri"/>
              <a:sym typeface="Calibri"/>
            </a:endParaRPr>
          </a:p>
        </p:txBody>
      </p:sp>
      <p:sp>
        <p:nvSpPr>
          <p:cNvPr id="1874" name="Google Shape;1874;p49"/>
          <p:cNvSpPr/>
          <p:nvPr/>
        </p:nvSpPr>
        <p:spPr>
          <a:xfrm>
            <a:off x="762000" y="1971675"/>
            <a:ext cx="2852700" cy="476400"/>
          </a:xfrm>
          <a:prstGeom prst="roundRect">
            <a:avLst>
              <a:gd fmla="val 16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9"/>
          <p:cNvSpPr/>
          <p:nvPr/>
        </p:nvSpPr>
        <p:spPr>
          <a:xfrm>
            <a:off x="952500" y="2066925"/>
            <a:ext cx="25572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QUY TRÌNH VẬN HÀNH</a:t>
            </a:r>
            <a:endParaRPr b="0" i="0" sz="1800" u="none" cap="none" strike="noStrike">
              <a:solidFill>
                <a:schemeClr val="dk1"/>
              </a:solidFill>
              <a:latin typeface="Calibri"/>
              <a:ea typeface="Calibri"/>
              <a:cs typeface="Calibri"/>
              <a:sym typeface="Calibri"/>
            </a:endParaRPr>
          </a:p>
        </p:txBody>
      </p:sp>
      <p:sp>
        <p:nvSpPr>
          <p:cNvPr id="1876" name="Google Shape;1876;p49"/>
          <p:cNvSpPr/>
          <p:nvPr/>
        </p:nvSpPr>
        <p:spPr>
          <a:xfrm>
            <a:off x="762000" y="2657475"/>
            <a:ext cx="3979500" cy="2162100"/>
          </a:xfrm>
          <a:prstGeom prst="roundRect">
            <a:avLst>
              <a:gd fmla="val 7048"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49"/>
          <p:cNvSpPr/>
          <p:nvPr/>
        </p:nvSpPr>
        <p:spPr>
          <a:xfrm>
            <a:off x="2446883" y="2867025"/>
            <a:ext cx="609600" cy="609600"/>
          </a:xfrm>
          <a:prstGeom prst="ellipse">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49"/>
          <p:cNvSpPr/>
          <p:nvPr/>
        </p:nvSpPr>
        <p:spPr>
          <a:xfrm>
            <a:off x="2408783" y="2867025"/>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①</a:t>
            </a:r>
            <a:endParaRPr b="0" i="0" sz="2100" u="none" cap="none" strike="noStrike">
              <a:solidFill>
                <a:schemeClr val="dk1"/>
              </a:solidFill>
              <a:latin typeface="Calibri"/>
              <a:ea typeface="Calibri"/>
              <a:cs typeface="Calibri"/>
              <a:sym typeface="Calibri"/>
            </a:endParaRPr>
          </a:p>
        </p:txBody>
      </p:sp>
      <p:sp>
        <p:nvSpPr>
          <p:cNvPr id="1879" name="Google Shape;1879;p49"/>
          <p:cNvSpPr/>
          <p:nvPr/>
        </p:nvSpPr>
        <p:spPr>
          <a:xfrm>
            <a:off x="2309961" y="3571875"/>
            <a:ext cx="8832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BƯỚC 1</a:t>
            </a:r>
            <a:endParaRPr b="0" i="0" sz="1800" u="none" cap="none" strike="noStrike">
              <a:solidFill>
                <a:schemeClr val="dk1"/>
              </a:solidFill>
              <a:latin typeface="Calibri"/>
              <a:ea typeface="Calibri"/>
              <a:cs typeface="Calibri"/>
              <a:sym typeface="Calibri"/>
            </a:endParaRPr>
          </a:p>
        </p:txBody>
      </p:sp>
      <p:sp>
        <p:nvSpPr>
          <p:cNvPr id="1880" name="Google Shape;1880;p49"/>
          <p:cNvSpPr/>
          <p:nvPr/>
        </p:nvSpPr>
        <p:spPr>
          <a:xfrm>
            <a:off x="1953927" y="3933825"/>
            <a:ext cx="15954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[Tên bước 1]</a:t>
            </a:r>
            <a:endParaRPr b="0" i="0" sz="1950" u="none" cap="none" strike="noStrike">
              <a:solidFill>
                <a:schemeClr val="dk1"/>
              </a:solidFill>
              <a:latin typeface="Calibri"/>
              <a:ea typeface="Calibri"/>
              <a:cs typeface="Calibri"/>
              <a:sym typeface="Calibri"/>
            </a:endParaRPr>
          </a:p>
        </p:txBody>
      </p:sp>
      <p:sp>
        <p:nvSpPr>
          <p:cNvPr id="1881" name="Google Shape;1881;p49"/>
          <p:cNvSpPr/>
          <p:nvPr/>
        </p:nvSpPr>
        <p:spPr>
          <a:xfrm>
            <a:off x="2053783" y="4343400"/>
            <a:ext cx="13959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[Mô tả ngắn]</a:t>
            </a:r>
            <a:endParaRPr b="0" i="0" sz="1800" u="none" cap="none" strike="noStrike">
              <a:solidFill>
                <a:schemeClr val="dk1"/>
              </a:solidFill>
              <a:latin typeface="Calibri"/>
              <a:ea typeface="Calibri"/>
              <a:cs typeface="Calibri"/>
              <a:sym typeface="Calibri"/>
            </a:endParaRPr>
          </a:p>
        </p:txBody>
      </p:sp>
      <p:sp>
        <p:nvSpPr>
          <p:cNvPr id="1882" name="Google Shape;1882;p49"/>
          <p:cNvSpPr/>
          <p:nvPr/>
        </p:nvSpPr>
        <p:spPr>
          <a:xfrm>
            <a:off x="4836616" y="3557588"/>
            <a:ext cx="167700" cy="40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400"/>
              <a:buFont typeface="Roboto"/>
              <a:buNone/>
            </a:pPr>
            <a:r>
              <a:rPr b="0" i="0" lang="en-US" sz="2400" u="none" cap="none" strike="noStrike">
                <a:solidFill>
                  <a:srgbClr val="FF7F32"/>
                </a:solidFill>
                <a:latin typeface="Roboto"/>
                <a:ea typeface="Roboto"/>
                <a:cs typeface="Roboto"/>
                <a:sym typeface="Roboto"/>
              </a:rPr>
              <a:t>›</a:t>
            </a:r>
            <a:endParaRPr b="0" i="0" sz="2400" u="none" cap="none" strike="noStrike">
              <a:solidFill>
                <a:schemeClr val="dk1"/>
              </a:solidFill>
              <a:latin typeface="Calibri"/>
              <a:ea typeface="Calibri"/>
              <a:cs typeface="Calibri"/>
              <a:sym typeface="Calibri"/>
            </a:endParaRPr>
          </a:p>
        </p:txBody>
      </p:sp>
      <p:sp>
        <p:nvSpPr>
          <p:cNvPr id="1883" name="Google Shape;1883;p49"/>
          <p:cNvSpPr/>
          <p:nvPr/>
        </p:nvSpPr>
        <p:spPr>
          <a:xfrm>
            <a:off x="5023396" y="2657475"/>
            <a:ext cx="3979500" cy="2162100"/>
          </a:xfrm>
          <a:prstGeom prst="roundRect">
            <a:avLst>
              <a:gd fmla="val 7048"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9"/>
          <p:cNvSpPr/>
          <p:nvPr/>
        </p:nvSpPr>
        <p:spPr>
          <a:xfrm>
            <a:off x="6708279" y="2867025"/>
            <a:ext cx="609600" cy="609600"/>
          </a:xfrm>
          <a:prstGeom prst="ellipse">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9"/>
          <p:cNvSpPr/>
          <p:nvPr/>
        </p:nvSpPr>
        <p:spPr>
          <a:xfrm>
            <a:off x="6670179" y="2867025"/>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②</a:t>
            </a:r>
            <a:endParaRPr b="0" i="0" sz="2100" u="none" cap="none" strike="noStrike">
              <a:solidFill>
                <a:schemeClr val="dk1"/>
              </a:solidFill>
              <a:latin typeface="Calibri"/>
              <a:ea typeface="Calibri"/>
              <a:cs typeface="Calibri"/>
              <a:sym typeface="Calibri"/>
            </a:endParaRPr>
          </a:p>
        </p:txBody>
      </p:sp>
      <p:sp>
        <p:nvSpPr>
          <p:cNvPr id="1886" name="Google Shape;1886;p49"/>
          <p:cNvSpPr/>
          <p:nvPr/>
        </p:nvSpPr>
        <p:spPr>
          <a:xfrm>
            <a:off x="6571506" y="3571875"/>
            <a:ext cx="8832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BƯỚC 2</a:t>
            </a:r>
            <a:endParaRPr b="0" i="0" sz="1800" u="none" cap="none" strike="noStrike">
              <a:solidFill>
                <a:schemeClr val="dk1"/>
              </a:solidFill>
              <a:latin typeface="Calibri"/>
              <a:ea typeface="Calibri"/>
              <a:cs typeface="Calibri"/>
              <a:sym typeface="Calibri"/>
            </a:endParaRPr>
          </a:p>
        </p:txBody>
      </p:sp>
      <p:sp>
        <p:nvSpPr>
          <p:cNvPr id="1887" name="Google Shape;1887;p49"/>
          <p:cNvSpPr/>
          <p:nvPr/>
        </p:nvSpPr>
        <p:spPr>
          <a:xfrm>
            <a:off x="6188951" y="3933825"/>
            <a:ext cx="16485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[Tên bước 2]</a:t>
            </a:r>
            <a:endParaRPr b="0" i="0" sz="1950" u="none" cap="none" strike="noStrike">
              <a:solidFill>
                <a:schemeClr val="dk1"/>
              </a:solidFill>
              <a:latin typeface="Calibri"/>
              <a:ea typeface="Calibri"/>
              <a:cs typeface="Calibri"/>
              <a:sym typeface="Calibri"/>
            </a:endParaRPr>
          </a:p>
        </p:txBody>
      </p:sp>
      <p:sp>
        <p:nvSpPr>
          <p:cNvPr id="1888" name="Google Shape;1888;p49"/>
          <p:cNvSpPr/>
          <p:nvPr/>
        </p:nvSpPr>
        <p:spPr>
          <a:xfrm>
            <a:off x="6315179" y="4343400"/>
            <a:ext cx="13959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[Mô tả ngắn]</a:t>
            </a:r>
            <a:endParaRPr b="0" i="0" sz="1800" u="none" cap="none" strike="noStrike">
              <a:solidFill>
                <a:schemeClr val="dk1"/>
              </a:solidFill>
              <a:latin typeface="Calibri"/>
              <a:ea typeface="Calibri"/>
              <a:cs typeface="Calibri"/>
              <a:sym typeface="Calibri"/>
            </a:endParaRPr>
          </a:p>
        </p:txBody>
      </p:sp>
      <p:sp>
        <p:nvSpPr>
          <p:cNvPr id="1889" name="Google Shape;1889;p49"/>
          <p:cNvSpPr/>
          <p:nvPr/>
        </p:nvSpPr>
        <p:spPr>
          <a:xfrm>
            <a:off x="9098161" y="3557588"/>
            <a:ext cx="167700" cy="40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400"/>
              <a:buFont typeface="Roboto"/>
              <a:buNone/>
            </a:pPr>
            <a:r>
              <a:rPr b="0" i="0" lang="en-US" sz="2400" u="none" cap="none" strike="noStrike">
                <a:solidFill>
                  <a:srgbClr val="FF7F32"/>
                </a:solidFill>
                <a:latin typeface="Roboto"/>
                <a:ea typeface="Roboto"/>
                <a:cs typeface="Roboto"/>
                <a:sym typeface="Roboto"/>
              </a:rPr>
              <a:t>›</a:t>
            </a:r>
            <a:endParaRPr b="0" i="0" sz="2400" u="none" cap="none" strike="noStrike">
              <a:solidFill>
                <a:schemeClr val="dk1"/>
              </a:solidFill>
              <a:latin typeface="Calibri"/>
              <a:ea typeface="Calibri"/>
              <a:cs typeface="Calibri"/>
              <a:sym typeface="Calibri"/>
            </a:endParaRPr>
          </a:p>
        </p:txBody>
      </p:sp>
      <p:sp>
        <p:nvSpPr>
          <p:cNvPr id="1890" name="Google Shape;1890;p49"/>
          <p:cNvSpPr/>
          <p:nvPr/>
        </p:nvSpPr>
        <p:spPr>
          <a:xfrm>
            <a:off x="9284940" y="2657475"/>
            <a:ext cx="3979500" cy="2162100"/>
          </a:xfrm>
          <a:prstGeom prst="roundRect">
            <a:avLst>
              <a:gd fmla="val 7048"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49"/>
          <p:cNvSpPr/>
          <p:nvPr/>
        </p:nvSpPr>
        <p:spPr>
          <a:xfrm>
            <a:off x="10969823" y="2867025"/>
            <a:ext cx="609600" cy="609600"/>
          </a:xfrm>
          <a:prstGeom prst="ellipse">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49"/>
          <p:cNvSpPr/>
          <p:nvPr/>
        </p:nvSpPr>
        <p:spPr>
          <a:xfrm>
            <a:off x="10931723" y="2867025"/>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③</a:t>
            </a:r>
            <a:endParaRPr b="0" i="0" sz="2100" u="none" cap="none" strike="noStrike">
              <a:solidFill>
                <a:schemeClr val="dk1"/>
              </a:solidFill>
              <a:latin typeface="Calibri"/>
              <a:ea typeface="Calibri"/>
              <a:cs typeface="Calibri"/>
              <a:sym typeface="Calibri"/>
            </a:endParaRPr>
          </a:p>
        </p:txBody>
      </p:sp>
      <p:sp>
        <p:nvSpPr>
          <p:cNvPr id="1893" name="Google Shape;1893;p49"/>
          <p:cNvSpPr/>
          <p:nvPr/>
        </p:nvSpPr>
        <p:spPr>
          <a:xfrm>
            <a:off x="10833050" y="3571875"/>
            <a:ext cx="8832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BƯỚC 3</a:t>
            </a:r>
            <a:endParaRPr b="0" i="0" sz="1800" u="none" cap="none" strike="noStrike">
              <a:solidFill>
                <a:schemeClr val="dk1"/>
              </a:solidFill>
              <a:latin typeface="Calibri"/>
              <a:ea typeface="Calibri"/>
              <a:cs typeface="Calibri"/>
              <a:sym typeface="Calibri"/>
            </a:endParaRPr>
          </a:p>
        </p:txBody>
      </p:sp>
      <p:sp>
        <p:nvSpPr>
          <p:cNvPr id="1894" name="Google Shape;1894;p49"/>
          <p:cNvSpPr/>
          <p:nvPr/>
        </p:nvSpPr>
        <p:spPr>
          <a:xfrm>
            <a:off x="10448531" y="3933825"/>
            <a:ext cx="16524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[Tên bước 3]</a:t>
            </a:r>
            <a:endParaRPr b="0" i="0" sz="1950" u="none" cap="none" strike="noStrike">
              <a:solidFill>
                <a:schemeClr val="dk1"/>
              </a:solidFill>
              <a:latin typeface="Calibri"/>
              <a:ea typeface="Calibri"/>
              <a:cs typeface="Calibri"/>
              <a:sym typeface="Calibri"/>
            </a:endParaRPr>
          </a:p>
        </p:txBody>
      </p:sp>
      <p:sp>
        <p:nvSpPr>
          <p:cNvPr id="1895" name="Google Shape;1895;p49"/>
          <p:cNvSpPr/>
          <p:nvPr/>
        </p:nvSpPr>
        <p:spPr>
          <a:xfrm>
            <a:off x="10576724" y="4343400"/>
            <a:ext cx="13959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[Mô tả ngắn]</a:t>
            </a:r>
            <a:endParaRPr b="0" i="0" sz="1800" u="none" cap="none" strike="noStrike">
              <a:solidFill>
                <a:schemeClr val="dk1"/>
              </a:solidFill>
              <a:latin typeface="Calibri"/>
              <a:ea typeface="Calibri"/>
              <a:cs typeface="Calibri"/>
              <a:sym typeface="Calibri"/>
            </a:endParaRPr>
          </a:p>
        </p:txBody>
      </p:sp>
      <p:sp>
        <p:nvSpPr>
          <p:cNvPr id="1896" name="Google Shape;1896;p49"/>
          <p:cNvSpPr/>
          <p:nvPr/>
        </p:nvSpPr>
        <p:spPr>
          <a:xfrm>
            <a:off x="13359705" y="3557588"/>
            <a:ext cx="167700" cy="400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7F32"/>
              </a:buClr>
              <a:buSzPts val="2400"/>
              <a:buFont typeface="Roboto"/>
              <a:buNone/>
            </a:pPr>
            <a:r>
              <a:rPr b="0" i="0" lang="en-US" sz="2400" u="none" cap="none" strike="noStrike">
                <a:solidFill>
                  <a:srgbClr val="FF7F32"/>
                </a:solidFill>
                <a:latin typeface="Roboto"/>
                <a:ea typeface="Roboto"/>
                <a:cs typeface="Roboto"/>
                <a:sym typeface="Roboto"/>
              </a:rPr>
              <a:t>›</a:t>
            </a:r>
            <a:endParaRPr b="0" i="0" sz="2400" u="none" cap="none" strike="noStrike">
              <a:solidFill>
                <a:schemeClr val="dk1"/>
              </a:solidFill>
              <a:latin typeface="Calibri"/>
              <a:ea typeface="Calibri"/>
              <a:cs typeface="Calibri"/>
              <a:sym typeface="Calibri"/>
            </a:endParaRPr>
          </a:p>
        </p:txBody>
      </p:sp>
      <p:sp>
        <p:nvSpPr>
          <p:cNvPr id="1897" name="Google Shape;1897;p49"/>
          <p:cNvSpPr/>
          <p:nvPr/>
        </p:nvSpPr>
        <p:spPr>
          <a:xfrm>
            <a:off x="13546485" y="2657475"/>
            <a:ext cx="3979500" cy="2162100"/>
          </a:xfrm>
          <a:prstGeom prst="roundRect">
            <a:avLst>
              <a:gd fmla="val 7048"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9"/>
          <p:cNvSpPr/>
          <p:nvPr/>
        </p:nvSpPr>
        <p:spPr>
          <a:xfrm>
            <a:off x="15231368" y="2867025"/>
            <a:ext cx="609600" cy="609600"/>
          </a:xfrm>
          <a:prstGeom prst="ellipse">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9"/>
          <p:cNvSpPr/>
          <p:nvPr/>
        </p:nvSpPr>
        <p:spPr>
          <a:xfrm>
            <a:off x="15193268" y="2867025"/>
            <a:ext cx="685800" cy="6477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④</a:t>
            </a:r>
            <a:endParaRPr b="0" i="0" sz="2100" u="none" cap="none" strike="noStrike">
              <a:solidFill>
                <a:schemeClr val="dk1"/>
              </a:solidFill>
              <a:latin typeface="Calibri"/>
              <a:ea typeface="Calibri"/>
              <a:cs typeface="Calibri"/>
              <a:sym typeface="Calibri"/>
            </a:endParaRPr>
          </a:p>
        </p:txBody>
      </p:sp>
      <p:sp>
        <p:nvSpPr>
          <p:cNvPr id="1900" name="Google Shape;1900;p49"/>
          <p:cNvSpPr/>
          <p:nvPr/>
        </p:nvSpPr>
        <p:spPr>
          <a:xfrm>
            <a:off x="15094595" y="3571875"/>
            <a:ext cx="8832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1" i="0" lang="en-US" sz="1800" u="none" cap="none" strike="noStrike">
                <a:solidFill>
                  <a:srgbClr val="F55F00"/>
                </a:solidFill>
                <a:latin typeface="Roboto"/>
                <a:ea typeface="Roboto"/>
                <a:cs typeface="Roboto"/>
                <a:sym typeface="Roboto"/>
              </a:rPr>
              <a:t>BƯỚC 4</a:t>
            </a:r>
            <a:endParaRPr b="0" i="0" sz="1800" u="none" cap="none" strike="noStrike">
              <a:solidFill>
                <a:schemeClr val="dk1"/>
              </a:solidFill>
              <a:latin typeface="Calibri"/>
              <a:ea typeface="Calibri"/>
              <a:cs typeface="Calibri"/>
              <a:sym typeface="Calibri"/>
            </a:endParaRPr>
          </a:p>
        </p:txBody>
      </p:sp>
      <p:sp>
        <p:nvSpPr>
          <p:cNvPr id="1901" name="Google Shape;1901;p49"/>
          <p:cNvSpPr/>
          <p:nvPr/>
        </p:nvSpPr>
        <p:spPr>
          <a:xfrm>
            <a:off x="14704189" y="3933825"/>
            <a:ext cx="16641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[Tên bước 4]</a:t>
            </a:r>
            <a:endParaRPr b="0" i="0" sz="1950" u="none" cap="none" strike="noStrike">
              <a:solidFill>
                <a:schemeClr val="dk1"/>
              </a:solidFill>
              <a:latin typeface="Calibri"/>
              <a:ea typeface="Calibri"/>
              <a:cs typeface="Calibri"/>
              <a:sym typeface="Calibri"/>
            </a:endParaRPr>
          </a:p>
        </p:txBody>
      </p:sp>
      <p:sp>
        <p:nvSpPr>
          <p:cNvPr id="1902" name="Google Shape;1902;p49"/>
          <p:cNvSpPr/>
          <p:nvPr/>
        </p:nvSpPr>
        <p:spPr>
          <a:xfrm>
            <a:off x="14838268" y="4343400"/>
            <a:ext cx="13959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[Mô tả ngắn]</a:t>
            </a:r>
            <a:endParaRPr b="0" i="0" sz="1800" u="none" cap="none" strike="noStrike">
              <a:solidFill>
                <a:schemeClr val="dk1"/>
              </a:solidFill>
              <a:latin typeface="Calibri"/>
              <a:ea typeface="Calibri"/>
              <a:cs typeface="Calibri"/>
              <a:sym typeface="Calibri"/>
            </a:endParaRPr>
          </a:p>
        </p:txBody>
      </p:sp>
      <p:sp>
        <p:nvSpPr>
          <p:cNvPr id="1903" name="Google Shape;1903;p49"/>
          <p:cNvSpPr/>
          <p:nvPr/>
        </p:nvSpPr>
        <p:spPr>
          <a:xfrm>
            <a:off x="762000" y="5029200"/>
            <a:ext cx="1402200" cy="476400"/>
          </a:xfrm>
          <a:prstGeom prst="roundRect">
            <a:avLst>
              <a:gd fmla="val 16000"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9"/>
          <p:cNvSpPr/>
          <p:nvPr/>
        </p:nvSpPr>
        <p:spPr>
          <a:xfrm>
            <a:off x="952500" y="5124450"/>
            <a:ext cx="1097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TIMELINE</a:t>
            </a:r>
            <a:endParaRPr b="0" i="0" sz="1800" u="none" cap="none" strike="noStrike">
              <a:solidFill>
                <a:schemeClr val="dk1"/>
              </a:solidFill>
              <a:latin typeface="Calibri"/>
              <a:ea typeface="Calibri"/>
              <a:cs typeface="Calibri"/>
              <a:sym typeface="Calibri"/>
            </a:endParaRPr>
          </a:p>
        </p:txBody>
      </p:sp>
      <p:sp>
        <p:nvSpPr>
          <p:cNvPr id="1905" name="Google Shape;1905;p49"/>
          <p:cNvSpPr/>
          <p:nvPr/>
        </p:nvSpPr>
        <p:spPr>
          <a:xfrm>
            <a:off x="711708" y="5715000"/>
            <a:ext cx="3453300" cy="609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[Giai đoạn 1] [dd/mm–dd/mm]</a:t>
            </a:r>
            <a:endParaRPr b="0" i="0" sz="1800" u="none" cap="none" strike="noStrike">
              <a:solidFill>
                <a:schemeClr val="dk1"/>
              </a:solidFill>
              <a:latin typeface="Calibri"/>
              <a:ea typeface="Calibri"/>
              <a:cs typeface="Calibri"/>
              <a:sym typeface="Calibri"/>
            </a:endParaRPr>
          </a:p>
        </p:txBody>
      </p:sp>
      <p:sp>
        <p:nvSpPr>
          <p:cNvPr id="1906" name="Google Shape;1906;p49"/>
          <p:cNvSpPr/>
          <p:nvPr/>
        </p:nvSpPr>
        <p:spPr>
          <a:xfrm>
            <a:off x="4064508" y="5715000"/>
            <a:ext cx="3453300" cy="609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[Giai đoạn 2] [dd/mm–dd/mm]</a:t>
            </a:r>
            <a:endParaRPr b="0" i="0" sz="1800" u="none" cap="none" strike="noStrike">
              <a:solidFill>
                <a:schemeClr val="dk1"/>
              </a:solidFill>
              <a:latin typeface="Calibri"/>
              <a:ea typeface="Calibri"/>
              <a:cs typeface="Calibri"/>
              <a:sym typeface="Calibri"/>
            </a:endParaRPr>
          </a:p>
        </p:txBody>
      </p:sp>
      <p:sp>
        <p:nvSpPr>
          <p:cNvPr id="1907" name="Google Shape;1907;p49"/>
          <p:cNvSpPr/>
          <p:nvPr/>
        </p:nvSpPr>
        <p:spPr>
          <a:xfrm>
            <a:off x="7417308" y="5715000"/>
            <a:ext cx="3453300" cy="609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[Giai đoạn 3] [dd/mm–dd/mm]</a:t>
            </a:r>
            <a:endParaRPr b="0" i="0" sz="1800" u="none" cap="none" strike="noStrike">
              <a:solidFill>
                <a:schemeClr val="dk1"/>
              </a:solidFill>
              <a:latin typeface="Calibri"/>
              <a:ea typeface="Calibri"/>
              <a:cs typeface="Calibri"/>
              <a:sym typeface="Calibri"/>
            </a:endParaRPr>
          </a:p>
        </p:txBody>
      </p:sp>
      <p:sp>
        <p:nvSpPr>
          <p:cNvPr id="1908" name="Google Shape;1908;p49"/>
          <p:cNvSpPr/>
          <p:nvPr/>
        </p:nvSpPr>
        <p:spPr>
          <a:xfrm>
            <a:off x="10770108" y="5715000"/>
            <a:ext cx="3453300" cy="609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Plus Jakarta Sans"/>
              <a:buNone/>
            </a:pPr>
            <a:r>
              <a:rPr b="1" i="0" lang="en-US" sz="1800" u="none" cap="none" strike="noStrike">
                <a:solidFill>
                  <a:srgbClr val="757D86"/>
                </a:solidFill>
                <a:latin typeface="Plus Jakarta Sans"/>
                <a:ea typeface="Plus Jakarta Sans"/>
                <a:cs typeface="Plus Jakarta Sans"/>
                <a:sym typeface="Plus Jakarta Sans"/>
              </a:rPr>
              <a:t>[Giai đoạn 4] [dd/mm–dd/mm]</a:t>
            </a:r>
            <a:endParaRPr b="0" i="0" sz="1800" u="none" cap="none" strike="noStrike">
              <a:solidFill>
                <a:schemeClr val="dk1"/>
              </a:solidFill>
              <a:latin typeface="Calibri"/>
              <a:ea typeface="Calibri"/>
              <a:cs typeface="Calibri"/>
              <a:sym typeface="Calibri"/>
            </a:endParaRPr>
          </a:p>
        </p:txBody>
      </p:sp>
      <p:sp>
        <p:nvSpPr>
          <p:cNvPr id="1909" name="Google Shape;1909;p49"/>
          <p:cNvSpPr/>
          <p:nvPr/>
        </p:nvSpPr>
        <p:spPr>
          <a:xfrm>
            <a:off x="14122908" y="5715000"/>
            <a:ext cx="3453300" cy="6096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Plus Jakarta Sans"/>
              <a:buNone/>
            </a:pPr>
            <a:r>
              <a:rPr b="1" i="0" lang="en-US" sz="1800" u="none" cap="none" strike="noStrike">
                <a:solidFill>
                  <a:srgbClr val="757D86"/>
                </a:solidFill>
                <a:latin typeface="Plus Jakarta Sans"/>
                <a:ea typeface="Plus Jakarta Sans"/>
                <a:cs typeface="Plus Jakarta Sans"/>
                <a:sym typeface="Plus Jakarta Sans"/>
              </a:rPr>
              <a:t>[Giai đoạn 5] [dd/mm–dd/mm]</a:t>
            </a:r>
            <a:endParaRPr b="0" i="0" sz="1800" u="none" cap="none" strike="noStrike">
              <a:solidFill>
                <a:schemeClr val="dk1"/>
              </a:solidFill>
              <a:latin typeface="Calibri"/>
              <a:ea typeface="Calibri"/>
              <a:cs typeface="Calibri"/>
              <a:sym typeface="Calibri"/>
            </a:endParaRPr>
          </a:p>
        </p:txBody>
      </p:sp>
      <p:sp>
        <p:nvSpPr>
          <p:cNvPr id="1910" name="Google Shape;1910;p49"/>
          <p:cNvSpPr/>
          <p:nvPr/>
        </p:nvSpPr>
        <p:spPr>
          <a:xfrm>
            <a:off x="1555998" y="6381750"/>
            <a:ext cx="1673400" cy="381000"/>
          </a:xfrm>
          <a:prstGeom prst="roundRect">
            <a:avLst>
              <a:gd fmla="val 50000"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1" name="Google Shape;1911;p49"/>
          <p:cNvPicPr preferRelativeResize="0"/>
          <p:nvPr/>
        </p:nvPicPr>
        <p:blipFill rotWithShape="1">
          <a:blip r:embed="rId4">
            <a:alphaModFix/>
          </a:blip>
          <a:srcRect b="0" l="0" r="0" t="0"/>
          <a:stretch/>
        </p:blipFill>
        <p:spPr>
          <a:xfrm>
            <a:off x="1708398" y="6438900"/>
            <a:ext cx="190500" cy="190500"/>
          </a:xfrm>
          <a:prstGeom prst="rect">
            <a:avLst/>
          </a:prstGeom>
          <a:noFill/>
          <a:ln>
            <a:noFill/>
          </a:ln>
        </p:spPr>
      </p:pic>
      <p:sp>
        <p:nvSpPr>
          <p:cNvPr id="1912" name="Google Shape;1912;p49"/>
          <p:cNvSpPr/>
          <p:nvPr/>
        </p:nvSpPr>
        <p:spPr>
          <a:xfrm>
            <a:off x="1898898" y="6438900"/>
            <a:ext cx="12543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Hoàn thành</a:t>
            </a:r>
            <a:endParaRPr b="0" i="0" sz="1800" u="none" cap="none" strike="noStrike">
              <a:solidFill>
                <a:schemeClr val="dk1"/>
              </a:solidFill>
              <a:latin typeface="Calibri"/>
              <a:ea typeface="Calibri"/>
              <a:cs typeface="Calibri"/>
              <a:sym typeface="Calibri"/>
            </a:endParaRPr>
          </a:p>
        </p:txBody>
      </p:sp>
      <p:sp>
        <p:nvSpPr>
          <p:cNvPr id="1913" name="Google Shape;1913;p49"/>
          <p:cNvSpPr/>
          <p:nvPr/>
        </p:nvSpPr>
        <p:spPr>
          <a:xfrm>
            <a:off x="598936" y="6838950"/>
            <a:ext cx="3587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[Hoạt động đã hoàn thành]</a:t>
            </a:r>
            <a:endParaRPr b="0" i="0" sz="1800" u="none" cap="none" strike="noStrike">
              <a:solidFill>
                <a:schemeClr val="dk1"/>
              </a:solidFill>
              <a:latin typeface="Calibri"/>
              <a:ea typeface="Calibri"/>
              <a:cs typeface="Calibri"/>
              <a:sym typeface="Calibri"/>
            </a:endParaRPr>
          </a:p>
        </p:txBody>
      </p:sp>
      <p:sp>
        <p:nvSpPr>
          <p:cNvPr id="1914" name="Google Shape;1914;p49"/>
          <p:cNvSpPr/>
          <p:nvPr/>
        </p:nvSpPr>
        <p:spPr>
          <a:xfrm>
            <a:off x="4931569" y="6381750"/>
            <a:ext cx="1673400" cy="381000"/>
          </a:xfrm>
          <a:prstGeom prst="roundRect">
            <a:avLst>
              <a:gd fmla="val 50000"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5" name="Google Shape;1915;p49"/>
          <p:cNvPicPr preferRelativeResize="0"/>
          <p:nvPr/>
        </p:nvPicPr>
        <p:blipFill rotWithShape="1">
          <a:blip r:embed="rId4">
            <a:alphaModFix/>
          </a:blip>
          <a:srcRect b="0" l="0" r="0" t="0"/>
          <a:stretch/>
        </p:blipFill>
        <p:spPr>
          <a:xfrm>
            <a:off x="5083969" y="6438900"/>
            <a:ext cx="190500" cy="190500"/>
          </a:xfrm>
          <a:prstGeom prst="rect">
            <a:avLst/>
          </a:prstGeom>
          <a:noFill/>
          <a:ln>
            <a:noFill/>
          </a:ln>
        </p:spPr>
      </p:pic>
      <p:sp>
        <p:nvSpPr>
          <p:cNvPr id="1916" name="Google Shape;1916;p49"/>
          <p:cNvSpPr/>
          <p:nvPr/>
        </p:nvSpPr>
        <p:spPr>
          <a:xfrm>
            <a:off x="5274469" y="6438900"/>
            <a:ext cx="12543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Hoàn thành</a:t>
            </a:r>
            <a:endParaRPr b="0" i="0" sz="1800" u="none" cap="none" strike="noStrike">
              <a:solidFill>
                <a:schemeClr val="dk1"/>
              </a:solidFill>
              <a:latin typeface="Calibri"/>
              <a:ea typeface="Calibri"/>
              <a:cs typeface="Calibri"/>
              <a:sym typeface="Calibri"/>
            </a:endParaRPr>
          </a:p>
        </p:txBody>
      </p:sp>
      <p:sp>
        <p:nvSpPr>
          <p:cNvPr id="1917" name="Google Shape;1917;p49"/>
          <p:cNvSpPr/>
          <p:nvPr/>
        </p:nvSpPr>
        <p:spPr>
          <a:xfrm>
            <a:off x="3974500" y="6838950"/>
            <a:ext cx="35877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[Hoạt động đã hoàn thành]</a:t>
            </a:r>
            <a:endParaRPr b="0" i="0" sz="1800" u="none" cap="none" strike="noStrike">
              <a:solidFill>
                <a:schemeClr val="dk1"/>
              </a:solidFill>
              <a:latin typeface="Calibri"/>
              <a:ea typeface="Calibri"/>
              <a:cs typeface="Calibri"/>
              <a:sym typeface="Calibri"/>
            </a:endParaRPr>
          </a:p>
        </p:txBody>
      </p:sp>
      <p:sp>
        <p:nvSpPr>
          <p:cNvPr id="1918" name="Google Shape;1918;p49"/>
          <p:cNvSpPr/>
          <p:nvPr/>
        </p:nvSpPr>
        <p:spPr>
          <a:xfrm>
            <a:off x="8134796" y="6381750"/>
            <a:ext cx="2018100" cy="381000"/>
          </a:xfrm>
          <a:prstGeom prst="roundRect">
            <a:avLst>
              <a:gd fmla="val 5000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9" name="Google Shape;1919;p49"/>
          <p:cNvPicPr preferRelativeResize="0"/>
          <p:nvPr/>
        </p:nvPicPr>
        <p:blipFill rotWithShape="1">
          <a:blip r:embed="rId5">
            <a:alphaModFix/>
          </a:blip>
          <a:srcRect b="0" l="0" r="0" t="0"/>
          <a:stretch/>
        </p:blipFill>
        <p:spPr>
          <a:xfrm>
            <a:off x="8287196" y="6438900"/>
            <a:ext cx="190500" cy="190500"/>
          </a:xfrm>
          <a:prstGeom prst="rect">
            <a:avLst/>
          </a:prstGeom>
          <a:noFill/>
          <a:ln>
            <a:noFill/>
          </a:ln>
        </p:spPr>
      </p:pic>
      <p:sp>
        <p:nvSpPr>
          <p:cNvPr id="1920" name="Google Shape;1920;p49"/>
          <p:cNvSpPr/>
          <p:nvPr/>
        </p:nvSpPr>
        <p:spPr>
          <a:xfrm>
            <a:off x="8477696" y="6438900"/>
            <a:ext cx="15990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Đang triển khai</a:t>
            </a:r>
            <a:endParaRPr b="0" i="0" sz="1800" u="none" cap="none" strike="noStrike">
              <a:solidFill>
                <a:schemeClr val="dk1"/>
              </a:solidFill>
              <a:latin typeface="Calibri"/>
              <a:ea typeface="Calibri"/>
              <a:cs typeface="Calibri"/>
              <a:sym typeface="Calibri"/>
            </a:endParaRPr>
          </a:p>
        </p:txBody>
      </p:sp>
      <p:sp>
        <p:nvSpPr>
          <p:cNvPr id="1921" name="Google Shape;1921;p49"/>
          <p:cNvSpPr/>
          <p:nvPr/>
        </p:nvSpPr>
        <p:spPr>
          <a:xfrm>
            <a:off x="7350227" y="6838950"/>
            <a:ext cx="3587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[Hoạt động đang chạy]</a:t>
            </a:r>
            <a:endParaRPr b="0" i="0" sz="1800" u="none" cap="none" strike="noStrike">
              <a:solidFill>
                <a:schemeClr val="dk1"/>
              </a:solidFill>
              <a:latin typeface="Calibri"/>
              <a:ea typeface="Calibri"/>
              <a:cs typeface="Calibri"/>
              <a:sym typeface="Calibri"/>
            </a:endParaRPr>
          </a:p>
        </p:txBody>
      </p:sp>
      <p:sp>
        <p:nvSpPr>
          <p:cNvPr id="1922" name="Google Shape;1922;p49"/>
          <p:cNvSpPr/>
          <p:nvPr/>
        </p:nvSpPr>
        <p:spPr>
          <a:xfrm>
            <a:off x="11918752" y="6381750"/>
            <a:ext cx="1201500" cy="381000"/>
          </a:xfrm>
          <a:prstGeom prst="roundRect">
            <a:avLst>
              <a:gd fmla="val 50000"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23" name="Google Shape;1923;p49"/>
          <p:cNvPicPr preferRelativeResize="0"/>
          <p:nvPr/>
        </p:nvPicPr>
        <p:blipFill rotWithShape="1">
          <a:blip r:embed="rId6">
            <a:alphaModFix/>
          </a:blip>
          <a:srcRect b="0" l="0" r="0" t="0"/>
          <a:stretch/>
        </p:blipFill>
        <p:spPr>
          <a:xfrm>
            <a:off x="12071152" y="6438900"/>
            <a:ext cx="190500" cy="190500"/>
          </a:xfrm>
          <a:prstGeom prst="rect">
            <a:avLst/>
          </a:prstGeom>
          <a:noFill/>
          <a:ln>
            <a:noFill/>
          </a:ln>
        </p:spPr>
      </p:pic>
      <p:sp>
        <p:nvSpPr>
          <p:cNvPr id="1924" name="Google Shape;1924;p49"/>
          <p:cNvSpPr/>
          <p:nvPr/>
        </p:nvSpPr>
        <p:spPr>
          <a:xfrm>
            <a:off x="12261652" y="6438900"/>
            <a:ext cx="7824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Sắp tới</a:t>
            </a:r>
            <a:endParaRPr b="0" i="0" sz="1800" u="none" cap="none" strike="noStrike">
              <a:solidFill>
                <a:schemeClr val="dk1"/>
              </a:solidFill>
              <a:latin typeface="Calibri"/>
              <a:ea typeface="Calibri"/>
              <a:cs typeface="Calibri"/>
              <a:sym typeface="Calibri"/>
            </a:endParaRPr>
          </a:p>
        </p:txBody>
      </p:sp>
      <p:sp>
        <p:nvSpPr>
          <p:cNvPr id="1925" name="Google Shape;1925;p49"/>
          <p:cNvSpPr/>
          <p:nvPr/>
        </p:nvSpPr>
        <p:spPr>
          <a:xfrm>
            <a:off x="10725790" y="6838950"/>
            <a:ext cx="35877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[Hoạt động sắp tới]</a:t>
            </a:r>
            <a:endParaRPr b="0" i="0" sz="1800" u="none" cap="none" strike="noStrike">
              <a:solidFill>
                <a:schemeClr val="dk1"/>
              </a:solidFill>
              <a:latin typeface="Calibri"/>
              <a:ea typeface="Calibri"/>
              <a:cs typeface="Calibri"/>
              <a:sym typeface="Calibri"/>
            </a:endParaRPr>
          </a:p>
        </p:txBody>
      </p:sp>
      <p:sp>
        <p:nvSpPr>
          <p:cNvPr id="1926" name="Google Shape;1926;p49"/>
          <p:cNvSpPr/>
          <p:nvPr/>
        </p:nvSpPr>
        <p:spPr>
          <a:xfrm>
            <a:off x="15294471" y="6381750"/>
            <a:ext cx="1201500" cy="381000"/>
          </a:xfrm>
          <a:prstGeom prst="roundRect">
            <a:avLst>
              <a:gd fmla="val 50000"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27" name="Google Shape;1927;p49"/>
          <p:cNvPicPr preferRelativeResize="0"/>
          <p:nvPr/>
        </p:nvPicPr>
        <p:blipFill rotWithShape="1">
          <a:blip r:embed="rId7">
            <a:alphaModFix/>
          </a:blip>
          <a:srcRect b="0" l="0" r="0" t="0"/>
          <a:stretch/>
        </p:blipFill>
        <p:spPr>
          <a:xfrm>
            <a:off x="15446871" y="6438900"/>
            <a:ext cx="190500" cy="190500"/>
          </a:xfrm>
          <a:prstGeom prst="rect">
            <a:avLst/>
          </a:prstGeom>
          <a:noFill/>
          <a:ln>
            <a:noFill/>
          </a:ln>
        </p:spPr>
      </p:pic>
      <p:sp>
        <p:nvSpPr>
          <p:cNvPr id="1928" name="Google Shape;1928;p49"/>
          <p:cNvSpPr/>
          <p:nvPr/>
        </p:nvSpPr>
        <p:spPr>
          <a:xfrm>
            <a:off x="15637371" y="6438900"/>
            <a:ext cx="7824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Sắp tới</a:t>
            </a:r>
            <a:endParaRPr b="0" i="0" sz="1800" u="none" cap="none" strike="noStrike">
              <a:solidFill>
                <a:schemeClr val="dk1"/>
              </a:solidFill>
              <a:latin typeface="Calibri"/>
              <a:ea typeface="Calibri"/>
              <a:cs typeface="Calibri"/>
              <a:sym typeface="Calibri"/>
            </a:endParaRPr>
          </a:p>
        </p:txBody>
      </p:sp>
      <p:sp>
        <p:nvSpPr>
          <p:cNvPr id="1929" name="Google Shape;1929;p49"/>
          <p:cNvSpPr/>
          <p:nvPr/>
        </p:nvSpPr>
        <p:spPr>
          <a:xfrm>
            <a:off x="14101509" y="6838950"/>
            <a:ext cx="35877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[Hoạt động sắp tới]</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4" name="Shape 1934"/>
        <p:cNvGrpSpPr/>
        <p:nvPr/>
      </p:nvGrpSpPr>
      <p:grpSpPr>
        <a:xfrm>
          <a:off x="0" y="0"/>
          <a:ext cx="0" cy="0"/>
          <a:chOff x="0" y="0"/>
          <a:chExt cx="0" cy="0"/>
        </a:xfrm>
      </p:grpSpPr>
      <p:sp>
        <p:nvSpPr>
          <p:cNvPr id="1935" name="Google Shape;1935;p50"/>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GROWTH WEEKLY REPORT — [KHU VỰC A]</a:t>
            </a:r>
            <a:endParaRPr b="0" i="0" sz="3300" u="none" cap="none" strike="noStrike">
              <a:solidFill>
                <a:schemeClr val="dk1"/>
              </a:solidFill>
              <a:latin typeface="Calibri"/>
              <a:ea typeface="Calibri"/>
              <a:cs typeface="Calibri"/>
              <a:sym typeface="Calibri"/>
            </a:endParaRPr>
          </a:p>
        </p:txBody>
      </p:sp>
      <p:sp>
        <p:nvSpPr>
          <p:cNvPr id="1936" name="Google Shape;1936;p50"/>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Operation Growth</a:t>
            </a:r>
            <a:endParaRPr b="0" i="0" sz="1950" u="none" cap="none" strike="noStrike">
              <a:solidFill>
                <a:schemeClr val="dk1"/>
              </a:solidFill>
              <a:latin typeface="Calibri"/>
              <a:ea typeface="Calibri"/>
              <a:cs typeface="Calibri"/>
              <a:sym typeface="Calibri"/>
            </a:endParaRPr>
          </a:p>
        </p:txBody>
      </p:sp>
      <p:sp>
        <p:nvSpPr>
          <p:cNvPr id="1937" name="Google Shape;1937;p50"/>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38" name="Google Shape;1938;p50"/>
          <p:cNvPicPr preferRelativeResize="0"/>
          <p:nvPr/>
        </p:nvPicPr>
        <p:blipFill rotWithShape="1">
          <a:blip r:embed="rId3">
            <a:alphaModFix/>
          </a:blip>
          <a:srcRect b="0" l="0" r="0" t="0"/>
          <a:stretch/>
        </p:blipFill>
        <p:spPr>
          <a:xfrm>
            <a:off x="952500" y="1590675"/>
            <a:ext cx="209550" cy="209550"/>
          </a:xfrm>
          <a:prstGeom prst="rect">
            <a:avLst/>
          </a:prstGeom>
          <a:noFill/>
          <a:ln>
            <a:noFill/>
          </a:ln>
        </p:spPr>
      </p:pic>
      <p:sp>
        <p:nvSpPr>
          <p:cNvPr id="1939" name="Google Shape;1939;p50"/>
          <p:cNvSpPr/>
          <p:nvPr/>
        </p:nvSpPr>
        <p:spPr>
          <a:xfrm>
            <a:off x="1221581" y="15240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1940" name="Google Shape;1940;p50"/>
          <p:cNvSpPr/>
          <p:nvPr/>
        </p:nvSpPr>
        <p:spPr>
          <a:xfrm>
            <a:off x="3146375" y="1533525"/>
            <a:ext cx="52482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chính về capacity &amp; growth trong tuần.]</a:t>
            </a:r>
            <a:endParaRPr b="0" i="0" sz="1800" u="none" cap="none" strike="noStrike">
              <a:solidFill>
                <a:schemeClr val="dk1"/>
              </a:solidFill>
              <a:latin typeface="Calibri"/>
              <a:ea typeface="Calibri"/>
              <a:cs typeface="Calibri"/>
              <a:sym typeface="Calibri"/>
            </a:endParaRPr>
          </a:p>
        </p:txBody>
      </p:sp>
      <p:sp>
        <p:nvSpPr>
          <p:cNvPr id="1941" name="Google Shape;1941;p50"/>
          <p:cNvSpPr/>
          <p:nvPr/>
        </p:nvSpPr>
        <p:spPr>
          <a:xfrm>
            <a:off x="762000" y="2114550"/>
            <a:ext cx="5511600" cy="2438400"/>
          </a:xfrm>
          <a:prstGeom prst="roundRect">
            <a:avLst>
              <a:gd fmla="val 6250" name="adj"/>
            </a:avLst>
          </a:prstGeom>
          <a:solidFill>
            <a:srgbClr val="E4F2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50"/>
          <p:cNvSpPr/>
          <p:nvPr/>
        </p:nvSpPr>
        <p:spPr>
          <a:xfrm>
            <a:off x="2810463" y="2657475"/>
            <a:ext cx="14145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12749"/>
              </a:buClr>
              <a:buSzPts val="1800"/>
              <a:buFont typeface="Roboto"/>
              <a:buNone/>
            </a:pPr>
            <a:r>
              <a:rPr b="0" i="0" lang="en-US" sz="1800" u="none" cap="none" strike="noStrike">
                <a:solidFill>
                  <a:srgbClr val="012749"/>
                </a:solidFill>
                <a:latin typeface="Roboto"/>
                <a:ea typeface="Roboto"/>
                <a:cs typeface="Roboto"/>
                <a:sym typeface="Roboto"/>
              </a:rPr>
              <a:t>Capacity [kỳ]</a:t>
            </a:r>
            <a:endParaRPr b="0" i="0" sz="1800" u="none" cap="none" strike="noStrike">
              <a:solidFill>
                <a:schemeClr val="dk1"/>
              </a:solidFill>
              <a:latin typeface="Calibri"/>
              <a:ea typeface="Calibri"/>
              <a:cs typeface="Calibri"/>
              <a:sym typeface="Calibri"/>
            </a:endParaRPr>
          </a:p>
        </p:txBody>
      </p:sp>
      <p:sp>
        <p:nvSpPr>
          <p:cNvPr id="1943" name="Google Shape;1943;p50"/>
          <p:cNvSpPr/>
          <p:nvPr/>
        </p:nvSpPr>
        <p:spPr>
          <a:xfrm>
            <a:off x="2447017" y="3000375"/>
            <a:ext cx="2141700" cy="705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012749"/>
              </a:buClr>
              <a:buSzPts val="4200"/>
              <a:buFont typeface="Plus Jakarta Sans"/>
              <a:buNone/>
            </a:pPr>
            <a:r>
              <a:rPr b="1" i="0" lang="en-US" sz="4200" u="none" cap="none" strike="noStrike">
                <a:solidFill>
                  <a:srgbClr val="012749"/>
                </a:solidFill>
                <a:latin typeface="Plus Jakarta Sans"/>
                <a:ea typeface="Plus Jakarta Sans"/>
                <a:cs typeface="Plus Jakarta Sans"/>
                <a:sym typeface="Plus Jakarta Sans"/>
              </a:rPr>
              <a:t>[0,0]%</a:t>
            </a:r>
            <a:endParaRPr b="0" i="0" sz="4200" u="none" cap="none" strike="noStrike">
              <a:solidFill>
                <a:schemeClr val="dk1"/>
              </a:solidFill>
              <a:latin typeface="Calibri"/>
              <a:ea typeface="Calibri"/>
              <a:cs typeface="Calibri"/>
              <a:sym typeface="Calibri"/>
            </a:endParaRPr>
          </a:p>
        </p:txBody>
      </p:sp>
      <p:sp>
        <p:nvSpPr>
          <p:cNvPr id="1944" name="Google Shape;1944;p50"/>
          <p:cNvSpPr/>
          <p:nvPr/>
        </p:nvSpPr>
        <p:spPr>
          <a:xfrm>
            <a:off x="1954084" y="3743325"/>
            <a:ext cx="31275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[Ghi chú so với tiến độ MTD]</a:t>
            </a:r>
            <a:endParaRPr b="0" i="0" sz="1800" u="none" cap="none" strike="noStrike">
              <a:solidFill>
                <a:schemeClr val="dk1"/>
              </a:solidFill>
              <a:latin typeface="Calibri"/>
              <a:ea typeface="Calibri"/>
              <a:cs typeface="Calibri"/>
              <a:sym typeface="Calibri"/>
            </a:endParaRPr>
          </a:p>
        </p:txBody>
      </p:sp>
      <p:sp>
        <p:nvSpPr>
          <p:cNvPr id="1945" name="Google Shape;1945;p50"/>
          <p:cNvSpPr/>
          <p:nvPr/>
        </p:nvSpPr>
        <p:spPr>
          <a:xfrm>
            <a:off x="6502301" y="2114550"/>
            <a:ext cx="743100" cy="60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[Zone 1]</a:t>
            </a:r>
            <a:endParaRPr b="0" i="0" sz="1800" u="none" cap="none" strike="noStrike">
              <a:solidFill>
                <a:schemeClr val="dk1"/>
              </a:solidFill>
              <a:latin typeface="Calibri"/>
              <a:ea typeface="Calibri"/>
              <a:cs typeface="Calibri"/>
              <a:sym typeface="Calibri"/>
            </a:endParaRPr>
          </a:p>
        </p:txBody>
      </p:sp>
      <p:sp>
        <p:nvSpPr>
          <p:cNvPr id="1946" name="Google Shape;1946;p50"/>
          <p:cNvSpPr/>
          <p:nvPr/>
        </p:nvSpPr>
        <p:spPr>
          <a:xfrm>
            <a:off x="7321451" y="2295525"/>
            <a:ext cx="9195000" cy="209700"/>
          </a:xfrm>
          <a:prstGeom prst="roundRect">
            <a:avLst>
              <a:gd fmla="val 50000"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50"/>
          <p:cNvSpPr/>
          <p:nvPr/>
        </p:nvSpPr>
        <p:spPr>
          <a:xfrm>
            <a:off x="7321451" y="2295525"/>
            <a:ext cx="2758500" cy="2097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50"/>
          <p:cNvSpPr/>
          <p:nvPr/>
        </p:nvSpPr>
        <p:spPr>
          <a:xfrm>
            <a:off x="16592550" y="2257425"/>
            <a:ext cx="933600" cy="3240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DA1E28"/>
              </a:buClr>
              <a:buSzPts val="1800"/>
              <a:buFont typeface="Plus Jakarta Sans"/>
              <a:buNone/>
            </a:pPr>
            <a:r>
              <a:rPr b="1" i="0" lang="en-US" sz="1800" u="none" cap="none" strike="noStrike">
                <a:solidFill>
                  <a:srgbClr val="DA1E28"/>
                </a:solidFill>
                <a:latin typeface="Plus Jakarta Sans"/>
                <a:ea typeface="Plus Jakarta Sans"/>
                <a:cs typeface="Plus Jakarta Sans"/>
                <a:sym typeface="Plus Jakarta Sans"/>
              </a:rPr>
              <a:t>[0,0]%</a:t>
            </a:r>
            <a:endParaRPr b="0" i="0" sz="1800" u="none" cap="none" strike="noStrike">
              <a:solidFill>
                <a:schemeClr val="dk1"/>
              </a:solidFill>
              <a:latin typeface="Calibri"/>
              <a:ea typeface="Calibri"/>
              <a:cs typeface="Calibri"/>
              <a:sym typeface="Calibri"/>
            </a:endParaRPr>
          </a:p>
        </p:txBody>
      </p:sp>
      <p:sp>
        <p:nvSpPr>
          <p:cNvPr id="1949" name="Google Shape;1949;p50"/>
          <p:cNvSpPr/>
          <p:nvPr/>
        </p:nvSpPr>
        <p:spPr>
          <a:xfrm>
            <a:off x="6502301" y="2838450"/>
            <a:ext cx="743100" cy="60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[Zone 2]</a:t>
            </a:r>
            <a:endParaRPr b="0" i="0" sz="1800" u="none" cap="none" strike="noStrike">
              <a:solidFill>
                <a:schemeClr val="dk1"/>
              </a:solidFill>
              <a:latin typeface="Calibri"/>
              <a:ea typeface="Calibri"/>
              <a:cs typeface="Calibri"/>
              <a:sym typeface="Calibri"/>
            </a:endParaRPr>
          </a:p>
        </p:txBody>
      </p:sp>
      <p:sp>
        <p:nvSpPr>
          <p:cNvPr id="1950" name="Google Shape;1950;p50"/>
          <p:cNvSpPr/>
          <p:nvPr/>
        </p:nvSpPr>
        <p:spPr>
          <a:xfrm>
            <a:off x="7321451" y="3019425"/>
            <a:ext cx="9195000" cy="209700"/>
          </a:xfrm>
          <a:prstGeom prst="roundRect">
            <a:avLst>
              <a:gd fmla="val 50000"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50"/>
          <p:cNvSpPr/>
          <p:nvPr/>
        </p:nvSpPr>
        <p:spPr>
          <a:xfrm>
            <a:off x="7321451" y="3019425"/>
            <a:ext cx="5057100" cy="2097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50"/>
          <p:cNvSpPr/>
          <p:nvPr/>
        </p:nvSpPr>
        <p:spPr>
          <a:xfrm>
            <a:off x="16592550" y="2981325"/>
            <a:ext cx="933600" cy="3240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[0,0]%</a:t>
            </a:r>
            <a:endParaRPr b="0" i="0" sz="1800" u="none" cap="none" strike="noStrike">
              <a:solidFill>
                <a:schemeClr val="dk1"/>
              </a:solidFill>
              <a:latin typeface="Calibri"/>
              <a:ea typeface="Calibri"/>
              <a:cs typeface="Calibri"/>
              <a:sym typeface="Calibri"/>
            </a:endParaRPr>
          </a:p>
        </p:txBody>
      </p:sp>
      <p:sp>
        <p:nvSpPr>
          <p:cNvPr id="1953" name="Google Shape;1953;p50"/>
          <p:cNvSpPr/>
          <p:nvPr/>
        </p:nvSpPr>
        <p:spPr>
          <a:xfrm>
            <a:off x="6502301" y="3562350"/>
            <a:ext cx="743100" cy="60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[Zone 3]</a:t>
            </a:r>
            <a:endParaRPr b="0" i="0" sz="1800" u="none" cap="none" strike="noStrike">
              <a:solidFill>
                <a:schemeClr val="dk1"/>
              </a:solidFill>
              <a:latin typeface="Calibri"/>
              <a:ea typeface="Calibri"/>
              <a:cs typeface="Calibri"/>
              <a:sym typeface="Calibri"/>
            </a:endParaRPr>
          </a:p>
        </p:txBody>
      </p:sp>
      <p:sp>
        <p:nvSpPr>
          <p:cNvPr id="1954" name="Google Shape;1954;p50"/>
          <p:cNvSpPr/>
          <p:nvPr/>
        </p:nvSpPr>
        <p:spPr>
          <a:xfrm>
            <a:off x="7321451" y="3743325"/>
            <a:ext cx="9195000" cy="209700"/>
          </a:xfrm>
          <a:prstGeom prst="roundRect">
            <a:avLst>
              <a:gd fmla="val 50000"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50"/>
          <p:cNvSpPr/>
          <p:nvPr/>
        </p:nvSpPr>
        <p:spPr>
          <a:xfrm>
            <a:off x="7321451" y="3743325"/>
            <a:ext cx="5057100" cy="2097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50"/>
          <p:cNvSpPr/>
          <p:nvPr/>
        </p:nvSpPr>
        <p:spPr>
          <a:xfrm>
            <a:off x="16592550" y="3705225"/>
            <a:ext cx="933600" cy="3240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[0,0]%</a:t>
            </a:r>
            <a:endParaRPr b="0" i="0" sz="1800" u="none" cap="none" strike="noStrike">
              <a:solidFill>
                <a:schemeClr val="dk1"/>
              </a:solidFill>
              <a:latin typeface="Calibri"/>
              <a:ea typeface="Calibri"/>
              <a:cs typeface="Calibri"/>
              <a:sym typeface="Calibri"/>
            </a:endParaRPr>
          </a:p>
        </p:txBody>
      </p:sp>
      <p:sp>
        <p:nvSpPr>
          <p:cNvPr id="1957" name="Google Shape;1957;p50"/>
          <p:cNvSpPr/>
          <p:nvPr/>
        </p:nvSpPr>
        <p:spPr>
          <a:xfrm>
            <a:off x="6502301" y="4286250"/>
            <a:ext cx="121260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 Actual / Target theo zone</a:t>
            </a:r>
            <a:endParaRPr b="0" i="0" sz="1800" u="none" cap="none" strike="noStrike">
              <a:solidFill>
                <a:schemeClr val="dk1"/>
              </a:solidFill>
              <a:latin typeface="Calibri"/>
              <a:ea typeface="Calibri"/>
              <a:cs typeface="Calibri"/>
              <a:sym typeface="Calibri"/>
            </a:endParaRPr>
          </a:p>
        </p:txBody>
      </p:sp>
      <p:sp>
        <p:nvSpPr>
          <p:cNvPr id="1958" name="Google Shape;1958;p50"/>
          <p:cNvSpPr/>
          <p:nvPr/>
        </p:nvSpPr>
        <p:spPr>
          <a:xfrm>
            <a:off x="762000" y="474345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50"/>
          <p:cNvSpPr/>
          <p:nvPr/>
        </p:nvSpPr>
        <p:spPr>
          <a:xfrm>
            <a:off x="698502" y="493395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1]</a:t>
            </a:r>
            <a:endParaRPr b="0" i="0" sz="1800" u="none" cap="none" strike="noStrike">
              <a:solidFill>
                <a:schemeClr val="dk1"/>
              </a:solidFill>
              <a:latin typeface="Calibri"/>
              <a:ea typeface="Calibri"/>
              <a:cs typeface="Calibri"/>
              <a:sym typeface="Calibri"/>
            </a:endParaRPr>
          </a:p>
        </p:txBody>
      </p:sp>
      <p:sp>
        <p:nvSpPr>
          <p:cNvPr id="1960" name="Google Shape;1960;p50"/>
          <p:cNvSpPr/>
          <p:nvPr/>
        </p:nvSpPr>
        <p:spPr>
          <a:xfrm>
            <a:off x="698502" y="520065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[0,0]%</a:t>
            </a:r>
            <a:endParaRPr b="0" i="0" sz="2700" u="none" cap="none" strike="noStrike">
              <a:solidFill>
                <a:schemeClr val="dk1"/>
              </a:solidFill>
              <a:latin typeface="Calibri"/>
              <a:ea typeface="Calibri"/>
              <a:cs typeface="Calibri"/>
              <a:sym typeface="Calibri"/>
            </a:endParaRPr>
          </a:p>
        </p:txBody>
      </p:sp>
      <p:sp>
        <p:nvSpPr>
          <p:cNvPr id="1961" name="Google Shape;1961;p50"/>
          <p:cNvSpPr/>
          <p:nvPr/>
        </p:nvSpPr>
        <p:spPr>
          <a:xfrm>
            <a:off x="2736056" y="5686425"/>
            <a:ext cx="1512900" cy="342900"/>
          </a:xfrm>
          <a:prstGeom prst="roundRect">
            <a:avLst>
              <a:gd fmla="val 50000"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50"/>
          <p:cNvSpPr/>
          <p:nvPr/>
        </p:nvSpPr>
        <p:spPr>
          <a:xfrm>
            <a:off x="2793764" y="5724525"/>
            <a:ext cx="1397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[0,0]% target</a:t>
            </a:r>
            <a:endParaRPr b="0" i="0" sz="1800" u="none" cap="none" strike="noStrike">
              <a:solidFill>
                <a:schemeClr val="dk1"/>
              </a:solidFill>
              <a:latin typeface="Calibri"/>
              <a:ea typeface="Calibri"/>
              <a:cs typeface="Calibri"/>
              <a:sym typeface="Calibri"/>
            </a:endParaRPr>
          </a:p>
        </p:txBody>
      </p:sp>
      <p:sp>
        <p:nvSpPr>
          <p:cNvPr id="1963" name="Google Shape;1963;p50"/>
          <p:cNvSpPr/>
          <p:nvPr/>
        </p:nvSpPr>
        <p:spPr>
          <a:xfrm>
            <a:off x="6413450" y="474345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50"/>
          <p:cNvSpPr/>
          <p:nvPr/>
        </p:nvSpPr>
        <p:spPr>
          <a:xfrm>
            <a:off x="6349953" y="493395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2]</a:t>
            </a:r>
            <a:endParaRPr b="0" i="0" sz="1800" u="none" cap="none" strike="noStrike">
              <a:solidFill>
                <a:schemeClr val="dk1"/>
              </a:solidFill>
              <a:latin typeface="Calibri"/>
              <a:ea typeface="Calibri"/>
              <a:cs typeface="Calibri"/>
              <a:sym typeface="Calibri"/>
            </a:endParaRPr>
          </a:p>
        </p:txBody>
      </p:sp>
      <p:sp>
        <p:nvSpPr>
          <p:cNvPr id="1965" name="Google Shape;1965;p50"/>
          <p:cNvSpPr/>
          <p:nvPr/>
        </p:nvSpPr>
        <p:spPr>
          <a:xfrm>
            <a:off x="6349953" y="520065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[0,0]%</a:t>
            </a:r>
            <a:endParaRPr b="0" i="0" sz="2700" u="none" cap="none" strike="noStrike">
              <a:solidFill>
                <a:schemeClr val="dk1"/>
              </a:solidFill>
              <a:latin typeface="Calibri"/>
              <a:ea typeface="Calibri"/>
              <a:cs typeface="Calibri"/>
              <a:sym typeface="Calibri"/>
            </a:endParaRPr>
          </a:p>
        </p:txBody>
      </p:sp>
      <p:sp>
        <p:nvSpPr>
          <p:cNvPr id="1966" name="Google Shape;1966;p50"/>
          <p:cNvSpPr/>
          <p:nvPr/>
        </p:nvSpPr>
        <p:spPr>
          <a:xfrm>
            <a:off x="8387507" y="5686425"/>
            <a:ext cx="1512900" cy="342900"/>
          </a:xfrm>
          <a:prstGeom prst="roundRect">
            <a:avLst>
              <a:gd fmla="val 50000"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50"/>
          <p:cNvSpPr/>
          <p:nvPr/>
        </p:nvSpPr>
        <p:spPr>
          <a:xfrm>
            <a:off x="8445215" y="5724525"/>
            <a:ext cx="1397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[0,0]% target</a:t>
            </a:r>
            <a:endParaRPr b="0" i="0" sz="1800" u="none" cap="none" strike="noStrike">
              <a:solidFill>
                <a:schemeClr val="dk1"/>
              </a:solidFill>
              <a:latin typeface="Calibri"/>
              <a:ea typeface="Calibri"/>
              <a:cs typeface="Calibri"/>
              <a:sym typeface="Calibri"/>
            </a:endParaRPr>
          </a:p>
        </p:txBody>
      </p:sp>
      <p:sp>
        <p:nvSpPr>
          <p:cNvPr id="1968" name="Google Shape;1968;p50"/>
          <p:cNvSpPr/>
          <p:nvPr/>
        </p:nvSpPr>
        <p:spPr>
          <a:xfrm>
            <a:off x="12064901" y="474345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50"/>
          <p:cNvSpPr/>
          <p:nvPr/>
        </p:nvSpPr>
        <p:spPr>
          <a:xfrm>
            <a:off x="12001403" y="493395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3]</a:t>
            </a:r>
            <a:endParaRPr b="0" i="0" sz="1800" u="none" cap="none" strike="noStrike">
              <a:solidFill>
                <a:schemeClr val="dk1"/>
              </a:solidFill>
              <a:latin typeface="Calibri"/>
              <a:ea typeface="Calibri"/>
              <a:cs typeface="Calibri"/>
              <a:sym typeface="Calibri"/>
            </a:endParaRPr>
          </a:p>
        </p:txBody>
      </p:sp>
      <p:sp>
        <p:nvSpPr>
          <p:cNvPr id="1970" name="Google Shape;1970;p50"/>
          <p:cNvSpPr/>
          <p:nvPr/>
        </p:nvSpPr>
        <p:spPr>
          <a:xfrm>
            <a:off x="12001403" y="520065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[0,0]%</a:t>
            </a:r>
            <a:endParaRPr b="0" i="0" sz="2700" u="none" cap="none" strike="noStrike">
              <a:solidFill>
                <a:schemeClr val="dk1"/>
              </a:solidFill>
              <a:latin typeface="Calibri"/>
              <a:ea typeface="Calibri"/>
              <a:cs typeface="Calibri"/>
              <a:sym typeface="Calibri"/>
            </a:endParaRPr>
          </a:p>
        </p:txBody>
      </p:sp>
      <p:sp>
        <p:nvSpPr>
          <p:cNvPr id="1971" name="Google Shape;1971;p50"/>
          <p:cNvSpPr/>
          <p:nvPr/>
        </p:nvSpPr>
        <p:spPr>
          <a:xfrm>
            <a:off x="14038957" y="5686425"/>
            <a:ext cx="1512900" cy="342900"/>
          </a:xfrm>
          <a:prstGeom prst="roundRect">
            <a:avLst>
              <a:gd fmla="val 5000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50"/>
          <p:cNvSpPr/>
          <p:nvPr/>
        </p:nvSpPr>
        <p:spPr>
          <a:xfrm>
            <a:off x="14096665" y="5724525"/>
            <a:ext cx="1397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[0,0]% target</a:t>
            </a:r>
            <a:endParaRPr b="0" i="0" sz="1800" u="none" cap="none" strike="noStrike">
              <a:solidFill>
                <a:schemeClr val="dk1"/>
              </a:solidFill>
              <a:latin typeface="Calibri"/>
              <a:ea typeface="Calibri"/>
              <a:cs typeface="Calibri"/>
              <a:sym typeface="Calibri"/>
            </a:endParaRPr>
          </a:p>
        </p:txBody>
      </p:sp>
      <p:sp>
        <p:nvSpPr>
          <p:cNvPr id="1973" name="Google Shape;1973;p50"/>
          <p:cNvSpPr/>
          <p:nvPr/>
        </p:nvSpPr>
        <p:spPr>
          <a:xfrm>
            <a:off x="762000" y="6410325"/>
            <a:ext cx="16764000" cy="3381300"/>
          </a:xfrm>
          <a:prstGeom prst="roundRect">
            <a:avLst>
              <a:gd fmla="val 4507"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50"/>
          <p:cNvSpPr/>
          <p:nvPr/>
        </p:nvSpPr>
        <p:spPr>
          <a:xfrm>
            <a:off x="971550" y="6581775"/>
            <a:ext cx="16847700" cy="3076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[Diễn giải chi tiết nguyên nhân của các số liệu trên, kèm yếu tố bên ngoài (thời tiết, mùa vụ) nếu có.]</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9" name="Shape 1979"/>
        <p:cNvGrpSpPr/>
        <p:nvPr/>
      </p:nvGrpSpPr>
      <p:grpSpPr>
        <a:xfrm>
          <a:off x="0" y="0"/>
          <a:ext cx="0" cy="0"/>
          <a:chOff x="0" y="0"/>
          <a:chExt cx="0" cy="0"/>
        </a:xfrm>
      </p:grpSpPr>
      <p:sp>
        <p:nvSpPr>
          <p:cNvPr id="1980" name="Google Shape;1980;p51"/>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GROWTH WEEKLY REPORT — [KHU VỰC B]</a:t>
            </a:r>
            <a:endParaRPr b="0" i="0" sz="3300" u="none" cap="none" strike="noStrike">
              <a:solidFill>
                <a:schemeClr val="dk1"/>
              </a:solidFill>
              <a:latin typeface="Calibri"/>
              <a:ea typeface="Calibri"/>
              <a:cs typeface="Calibri"/>
              <a:sym typeface="Calibri"/>
            </a:endParaRPr>
          </a:p>
        </p:txBody>
      </p:sp>
      <p:sp>
        <p:nvSpPr>
          <p:cNvPr id="1981" name="Google Shape;1981;p51"/>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Operation Growth</a:t>
            </a:r>
            <a:endParaRPr b="0" i="0" sz="1950" u="none" cap="none" strike="noStrike">
              <a:solidFill>
                <a:schemeClr val="dk1"/>
              </a:solidFill>
              <a:latin typeface="Calibri"/>
              <a:ea typeface="Calibri"/>
              <a:cs typeface="Calibri"/>
              <a:sym typeface="Calibri"/>
            </a:endParaRPr>
          </a:p>
        </p:txBody>
      </p:sp>
      <p:sp>
        <p:nvSpPr>
          <p:cNvPr id="1982" name="Google Shape;1982;p51"/>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83" name="Google Shape;1983;p51"/>
          <p:cNvPicPr preferRelativeResize="0"/>
          <p:nvPr/>
        </p:nvPicPr>
        <p:blipFill rotWithShape="1">
          <a:blip r:embed="rId3">
            <a:alphaModFix/>
          </a:blip>
          <a:srcRect b="0" l="0" r="0" t="0"/>
          <a:stretch/>
        </p:blipFill>
        <p:spPr>
          <a:xfrm>
            <a:off x="952500" y="1590675"/>
            <a:ext cx="209550" cy="209550"/>
          </a:xfrm>
          <a:prstGeom prst="rect">
            <a:avLst/>
          </a:prstGeom>
          <a:noFill/>
          <a:ln>
            <a:noFill/>
          </a:ln>
        </p:spPr>
      </p:pic>
      <p:sp>
        <p:nvSpPr>
          <p:cNvPr id="1984" name="Google Shape;1984;p51"/>
          <p:cNvSpPr/>
          <p:nvPr/>
        </p:nvSpPr>
        <p:spPr>
          <a:xfrm>
            <a:off x="1221581" y="15240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1985" name="Google Shape;1985;p51"/>
          <p:cNvSpPr/>
          <p:nvPr/>
        </p:nvSpPr>
        <p:spPr>
          <a:xfrm>
            <a:off x="3146375" y="1533525"/>
            <a:ext cx="52482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chính về capacity &amp; growth trong tuần.]</a:t>
            </a:r>
            <a:endParaRPr b="0" i="0" sz="1800" u="none" cap="none" strike="noStrike">
              <a:solidFill>
                <a:schemeClr val="dk1"/>
              </a:solidFill>
              <a:latin typeface="Calibri"/>
              <a:ea typeface="Calibri"/>
              <a:cs typeface="Calibri"/>
              <a:sym typeface="Calibri"/>
            </a:endParaRPr>
          </a:p>
        </p:txBody>
      </p:sp>
      <p:sp>
        <p:nvSpPr>
          <p:cNvPr id="1986" name="Google Shape;1986;p51"/>
          <p:cNvSpPr/>
          <p:nvPr/>
        </p:nvSpPr>
        <p:spPr>
          <a:xfrm>
            <a:off x="762000" y="2114550"/>
            <a:ext cx="5511600" cy="2438400"/>
          </a:xfrm>
          <a:prstGeom prst="roundRect">
            <a:avLst>
              <a:gd fmla="val 625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51"/>
          <p:cNvSpPr/>
          <p:nvPr/>
        </p:nvSpPr>
        <p:spPr>
          <a:xfrm>
            <a:off x="2810463" y="2657475"/>
            <a:ext cx="14145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Capacity [kỳ]</a:t>
            </a:r>
            <a:endParaRPr b="0" i="0" sz="1800" u="none" cap="none" strike="noStrike">
              <a:solidFill>
                <a:schemeClr val="dk1"/>
              </a:solidFill>
              <a:latin typeface="Calibri"/>
              <a:ea typeface="Calibri"/>
              <a:cs typeface="Calibri"/>
              <a:sym typeface="Calibri"/>
            </a:endParaRPr>
          </a:p>
        </p:txBody>
      </p:sp>
      <p:sp>
        <p:nvSpPr>
          <p:cNvPr id="1988" name="Google Shape;1988;p51"/>
          <p:cNvSpPr/>
          <p:nvPr/>
        </p:nvSpPr>
        <p:spPr>
          <a:xfrm>
            <a:off x="2447017" y="3000375"/>
            <a:ext cx="2141700" cy="705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4200"/>
              <a:buFont typeface="Plus Jakarta Sans"/>
              <a:buNone/>
            </a:pPr>
            <a:r>
              <a:rPr b="1" i="0" lang="en-US" sz="4200" u="none" cap="none" strike="noStrike">
                <a:solidFill>
                  <a:srgbClr val="F55F00"/>
                </a:solidFill>
                <a:latin typeface="Plus Jakarta Sans"/>
                <a:ea typeface="Plus Jakarta Sans"/>
                <a:cs typeface="Plus Jakarta Sans"/>
                <a:sym typeface="Plus Jakarta Sans"/>
              </a:rPr>
              <a:t>[0,0]%</a:t>
            </a:r>
            <a:endParaRPr b="0" i="0" sz="4200" u="none" cap="none" strike="noStrike">
              <a:solidFill>
                <a:schemeClr val="dk1"/>
              </a:solidFill>
              <a:latin typeface="Calibri"/>
              <a:ea typeface="Calibri"/>
              <a:cs typeface="Calibri"/>
              <a:sym typeface="Calibri"/>
            </a:endParaRPr>
          </a:p>
        </p:txBody>
      </p:sp>
      <p:sp>
        <p:nvSpPr>
          <p:cNvPr id="1989" name="Google Shape;1989;p51"/>
          <p:cNvSpPr/>
          <p:nvPr/>
        </p:nvSpPr>
        <p:spPr>
          <a:xfrm>
            <a:off x="1954084" y="3743325"/>
            <a:ext cx="31275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[Ghi chú so với tiến độ MTD]</a:t>
            </a:r>
            <a:endParaRPr b="0" i="0" sz="1800" u="none" cap="none" strike="noStrike">
              <a:solidFill>
                <a:schemeClr val="dk1"/>
              </a:solidFill>
              <a:latin typeface="Calibri"/>
              <a:ea typeface="Calibri"/>
              <a:cs typeface="Calibri"/>
              <a:sym typeface="Calibri"/>
            </a:endParaRPr>
          </a:p>
        </p:txBody>
      </p:sp>
      <p:sp>
        <p:nvSpPr>
          <p:cNvPr id="1990" name="Google Shape;1990;p51"/>
          <p:cNvSpPr/>
          <p:nvPr/>
        </p:nvSpPr>
        <p:spPr>
          <a:xfrm>
            <a:off x="6502301" y="2114550"/>
            <a:ext cx="743100" cy="60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[Zone 1]</a:t>
            </a:r>
            <a:endParaRPr b="0" i="0" sz="1800" u="none" cap="none" strike="noStrike">
              <a:solidFill>
                <a:schemeClr val="dk1"/>
              </a:solidFill>
              <a:latin typeface="Calibri"/>
              <a:ea typeface="Calibri"/>
              <a:cs typeface="Calibri"/>
              <a:sym typeface="Calibri"/>
            </a:endParaRPr>
          </a:p>
        </p:txBody>
      </p:sp>
      <p:sp>
        <p:nvSpPr>
          <p:cNvPr id="1991" name="Google Shape;1991;p51"/>
          <p:cNvSpPr/>
          <p:nvPr/>
        </p:nvSpPr>
        <p:spPr>
          <a:xfrm>
            <a:off x="7321451" y="2295525"/>
            <a:ext cx="9195000" cy="209700"/>
          </a:xfrm>
          <a:prstGeom prst="roundRect">
            <a:avLst>
              <a:gd fmla="val 50000"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51"/>
          <p:cNvSpPr/>
          <p:nvPr/>
        </p:nvSpPr>
        <p:spPr>
          <a:xfrm>
            <a:off x="7321451" y="2295525"/>
            <a:ext cx="3218100" cy="2097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51"/>
          <p:cNvSpPr/>
          <p:nvPr/>
        </p:nvSpPr>
        <p:spPr>
          <a:xfrm>
            <a:off x="16592550" y="2257425"/>
            <a:ext cx="933600" cy="3240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DA1E28"/>
              </a:buClr>
              <a:buSzPts val="1800"/>
              <a:buFont typeface="Plus Jakarta Sans"/>
              <a:buNone/>
            </a:pPr>
            <a:r>
              <a:rPr b="1" i="0" lang="en-US" sz="1800" u="none" cap="none" strike="noStrike">
                <a:solidFill>
                  <a:srgbClr val="DA1E28"/>
                </a:solidFill>
                <a:latin typeface="Plus Jakarta Sans"/>
                <a:ea typeface="Plus Jakarta Sans"/>
                <a:cs typeface="Plus Jakarta Sans"/>
                <a:sym typeface="Plus Jakarta Sans"/>
              </a:rPr>
              <a:t>[0,0]%</a:t>
            </a:r>
            <a:endParaRPr b="0" i="0" sz="1800" u="none" cap="none" strike="noStrike">
              <a:solidFill>
                <a:schemeClr val="dk1"/>
              </a:solidFill>
              <a:latin typeface="Calibri"/>
              <a:ea typeface="Calibri"/>
              <a:cs typeface="Calibri"/>
              <a:sym typeface="Calibri"/>
            </a:endParaRPr>
          </a:p>
        </p:txBody>
      </p:sp>
      <p:sp>
        <p:nvSpPr>
          <p:cNvPr id="1994" name="Google Shape;1994;p51"/>
          <p:cNvSpPr/>
          <p:nvPr/>
        </p:nvSpPr>
        <p:spPr>
          <a:xfrm>
            <a:off x="6502301" y="2838450"/>
            <a:ext cx="743100" cy="60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[Zone 2]</a:t>
            </a:r>
            <a:endParaRPr b="0" i="0" sz="1800" u="none" cap="none" strike="noStrike">
              <a:solidFill>
                <a:schemeClr val="dk1"/>
              </a:solidFill>
              <a:latin typeface="Calibri"/>
              <a:ea typeface="Calibri"/>
              <a:cs typeface="Calibri"/>
              <a:sym typeface="Calibri"/>
            </a:endParaRPr>
          </a:p>
        </p:txBody>
      </p:sp>
      <p:sp>
        <p:nvSpPr>
          <p:cNvPr id="1995" name="Google Shape;1995;p51"/>
          <p:cNvSpPr/>
          <p:nvPr/>
        </p:nvSpPr>
        <p:spPr>
          <a:xfrm>
            <a:off x="7321451" y="3019425"/>
            <a:ext cx="9195000" cy="209700"/>
          </a:xfrm>
          <a:prstGeom prst="roundRect">
            <a:avLst>
              <a:gd fmla="val 50000"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51"/>
          <p:cNvSpPr/>
          <p:nvPr/>
        </p:nvSpPr>
        <p:spPr>
          <a:xfrm>
            <a:off x="7321451" y="3019425"/>
            <a:ext cx="5517000" cy="2097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51"/>
          <p:cNvSpPr/>
          <p:nvPr/>
        </p:nvSpPr>
        <p:spPr>
          <a:xfrm>
            <a:off x="16592550" y="2981325"/>
            <a:ext cx="933600" cy="3240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[0,0]%</a:t>
            </a:r>
            <a:endParaRPr b="0" i="0" sz="1800" u="none" cap="none" strike="noStrike">
              <a:solidFill>
                <a:schemeClr val="dk1"/>
              </a:solidFill>
              <a:latin typeface="Calibri"/>
              <a:ea typeface="Calibri"/>
              <a:cs typeface="Calibri"/>
              <a:sym typeface="Calibri"/>
            </a:endParaRPr>
          </a:p>
        </p:txBody>
      </p:sp>
      <p:sp>
        <p:nvSpPr>
          <p:cNvPr id="1998" name="Google Shape;1998;p51"/>
          <p:cNvSpPr/>
          <p:nvPr/>
        </p:nvSpPr>
        <p:spPr>
          <a:xfrm>
            <a:off x="6502301" y="3562350"/>
            <a:ext cx="743100" cy="6096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[Zone 3]</a:t>
            </a:r>
            <a:endParaRPr b="0" i="0" sz="1800" u="none" cap="none" strike="noStrike">
              <a:solidFill>
                <a:schemeClr val="dk1"/>
              </a:solidFill>
              <a:latin typeface="Calibri"/>
              <a:ea typeface="Calibri"/>
              <a:cs typeface="Calibri"/>
              <a:sym typeface="Calibri"/>
            </a:endParaRPr>
          </a:p>
        </p:txBody>
      </p:sp>
      <p:sp>
        <p:nvSpPr>
          <p:cNvPr id="1999" name="Google Shape;1999;p51"/>
          <p:cNvSpPr/>
          <p:nvPr/>
        </p:nvSpPr>
        <p:spPr>
          <a:xfrm>
            <a:off x="7321451" y="3743325"/>
            <a:ext cx="9195000" cy="209700"/>
          </a:xfrm>
          <a:prstGeom prst="roundRect">
            <a:avLst>
              <a:gd fmla="val 50000"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51"/>
          <p:cNvSpPr/>
          <p:nvPr/>
        </p:nvSpPr>
        <p:spPr>
          <a:xfrm>
            <a:off x="7321451" y="3743325"/>
            <a:ext cx="4597500" cy="209700"/>
          </a:xfrm>
          <a:prstGeom prst="roundRect">
            <a:avLst>
              <a:gd fmla="val 50000"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51"/>
          <p:cNvSpPr/>
          <p:nvPr/>
        </p:nvSpPr>
        <p:spPr>
          <a:xfrm>
            <a:off x="16592550" y="3705225"/>
            <a:ext cx="933600" cy="3240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[0,0]%</a:t>
            </a:r>
            <a:endParaRPr b="0" i="0" sz="1800" u="none" cap="none" strike="noStrike">
              <a:solidFill>
                <a:schemeClr val="dk1"/>
              </a:solidFill>
              <a:latin typeface="Calibri"/>
              <a:ea typeface="Calibri"/>
              <a:cs typeface="Calibri"/>
              <a:sym typeface="Calibri"/>
            </a:endParaRPr>
          </a:p>
        </p:txBody>
      </p:sp>
      <p:sp>
        <p:nvSpPr>
          <p:cNvPr id="2002" name="Google Shape;2002;p51"/>
          <p:cNvSpPr/>
          <p:nvPr/>
        </p:nvSpPr>
        <p:spPr>
          <a:xfrm>
            <a:off x="6502301" y="4286250"/>
            <a:ext cx="121260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 Actual / Target theo zone</a:t>
            </a:r>
            <a:endParaRPr b="0" i="0" sz="1800" u="none" cap="none" strike="noStrike">
              <a:solidFill>
                <a:schemeClr val="dk1"/>
              </a:solidFill>
              <a:latin typeface="Calibri"/>
              <a:ea typeface="Calibri"/>
              <a:cs typeface="Calibri"/>
              <a:sym typeface="Calibri"/>
            </a:endParaRPr>
          </a:p>
        </p:txBody>
      </p:sp>
      <p:sp>
        <p:nvSpPr>
          <p:cNvPr id="2003" name="Google Shape;2003;p51"/>
          <p:cNvSpPr/>
          <p:nvPr/>
        </p:nvSpPr>
        <p:spPr>
          <a:xfrm>
            <a:off x="762000" y="474345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51"/>
          <p:cNvSpPr/>
          <p:nvPr/>
        </p:nvSpPr>
        <p:spPr>
          <a:xfrm>
            <a:off x="698502" y="493395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1]</a:t>
            </a:r>
            <a:endParaRPr b="0" i="0" sz="1800" u="none" cap="none" strike="noStrike">
              <a:solidFill>
                <a:schemeClr val="dk1"/>
              </a:solidFill>
              <a:latin typeface="Calibri"/>
              <a:ea typeface="Calibri"/>
              <a:cs typeface="Calibri"/>
              <a:sym typeface="Calibri"/>
            </a:endParaRPr>
          </a:p>
        </p:txBody>
      </p:sp>
      <p:sp>
        <p:nvSpPr>
          <p:cNvPr id="2005" name="Google Shape;2005;p51"/>
          <p:cNvSpPr/>
          <p:nvPr/>
        </p:nvSpPr>
        <p:spPr>
          <a:xfrm>
            <a:off x="698502" y="520065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[0,0]%</a:t>
            </a:r>
            <a:endParaRPr b="0" i="0" sz="2700" u="none" cap="none" strike="noStrike">
              <a:solidFill>
                <a:schemeClr val="dk1"/>
              </a:solidFill>
              <a:latin typeface="Calibri"/>
              <a:ea typeface="Calibri"/>
              <a:cs typeface="Calibri"/>
              <a:sym typeface="Calibri"/>
            </a:endParaRPr>
          </a:p>
        </p:txBody>
      </p:sp>
      <p:sp>
        <p:nvSpPr>
          <p:cNvPr id="2006" name="Google Shape;2006;p51"/>
          <p:cNvSpPr/>
          <p:nvPr/>
        </p:nvSpPr>
        <p:spPr>
          <a:xfrm>
            <a:off x="2736056" y="5686425"/>
            <a:ext cx="1512900" cy="342900"/>
          </a:xfrm>
          <a:prstGeom prst="roundRect">
            <a:avLst>
              <a:gd fmla="val 50000"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51"/>
          <p:cNvSpPr/>
          <p:nvPr/>
        </p:nvSpPr>
        <p:spPr>
          <a:xfrm>
            <a:off x="2793764" y="5724525"/>
            <a:ext cx="1397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[0,0]% target</a:t>
            </a:r>
            <a:endParaRPr b="0" i="0" sz="1800" u="none" cap="none" strike="noStrike">
              <a:solidFill>
                <a:schemeClr val="dk1"/>
              </a:solidFill>
              <a:latin typeface="Calibri"/>
              <a:ea typeface="Calibri"/>
              <a:cs typeface="Calibri"/>
              <a:sym typeface="Calibri"/>
            </a:endParaRPr>
          </a:p>
        </p:txBody>
      </p:sp>
      <p:sp>
        <p:nvSpPr>
          <p:cNvPr id="2008" name="Google Shape;2008;p51"/>
          <p:cNvSpPr/>
          <p:nvPr/>
        </p:nvSpPr>
        <p:spPr>
          <a:xfrm>
            <a:off x="6413450" y="474345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51"/>
          <p:cNvSpPr/>
          <p:nvPr/>
        </p:nvSpPr>
        <p:spPr>
          <a:xfrm>
            <a:off x="6349953" y="493395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2]</a:t>
            </a:r>
            <a:endParaRPr b="0" i="0" sz="1800" u="none" cap="none" strike="noStrike">
              <a:solidFill>
                <a:schemeClr val="dk1"/>
              </a:solidFill>
              <a:latin typeface="Calibri"/>
              <a:ea typeface="Calibri"/>
              <a:cs typeface="Calibri"/>
              <a:sym typeface="Calibri"/>
            </a:endParaRPr>
          </a:p>
        </p:txBody>
      </p:sp>
      <p:sp>
        <p:nvSpPr>
          <p:cNvPr id="2010" name="Google Shape;2010;p51"/>
          <p:cNvSpPr/>
          <p:nvPr/>
        </p:nvSpPr>
        <p:spPr>
          <a:xfrm>
            <a:off x="6349953" y="520065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[0,0]%</a:t>
            </a:r>
            <a:endParaRPr b="0" i="0" sz="2700" u="none" cap="none" strike="noStrike">
              <a:solidFill>
                <a:schemeClr val="dk1"/>
              </a:solidFill>
              <a:latin typeface="Calibri"/>
              <a:ea typeface="Calibri"/>
              <a:cs typeface="Calibri"/>
              <a:sym typeface="Calibri"/>
            </a:endParaRPr>
          </a:p>
        </p:txBody>
      </p:sp>
      <p:sp>
        <p:nvSpPr>
          <p:cNvPr id="2011" name="Google Shape;2011;p51"/>
          <p:cNvSpPr/>
          <p:nvPr/>
        </p:nvSpPr>
        <p:spPr>
          <a:xfrm>
            <a:off x="8387507" y="5686425"/>
            <a:ext cx="1512900" cy="342900"/>
          </a:xfrm>
          <a:prstGeom prst="roundRect">
            <a:avLst>
              <a:gd fmla="val 5000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51"/>
          <p:cNvSpPr/>
          <p:nvPr/>
        </p:nvSpPr>
        <p:spPr>
          <a:xfrm>
            <a:off x="8445215" y="5724525"/>
            <a:ext cx="1397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[0,0]% target</a:t>
            </a:r>
            <a:endParaRPr b="0" i="0" sz="1800" u="none" cap="none" strike="noStrike">
              <a:solidFill>
                <a:schemeClr val="dk1"/>
              </a:solidFill>
              <a:latin typeface="Calibri"/>
              <a:ea typeface="Calibri"/>
              <a:cs typeface="Calibri"/>
              <a:sym typeface="Calibri"/>
            </a:endParaRPr>
          </a:p>
        </p:txBody>
      </p:sp>
      <p:sp>
        <p:nvSpPr>
          <p:cNvPr id="2013" name="Google Shape;2013;p51"/>
          <p:cNvSpPr/>
          <p:nvPr/>
        </p:nvSpPr>
        <p:spPr>
          <a:xfrm>
            <a:off x="12064901" y="4743450"/>
            <a:ext cx="5460900" cy="1476300"/>
          </a:xfrm>
          <a:prstGeom prst="roundRect">
            <a:avLst>
              <a:gd fmla="val 10323"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51"/>
          <p:cNvSpPr/>
          <p:nvPr/>
        </p:nvSpPr>
        <p:spPr>
          <a:xfrm>
            <a:off x="12001403" y="4933950"/>
            <a:ext cx="5587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[Chỉ số 3]</a:t>
            </a:r>
            <a:endParaRPr b="0" i="0" sz="1800" u="none" cap="none" strike="noStrike">
              <a:solidFill>
                <a:schemeClr val="dk1"/>
              </a:solidFill>
              <a:latin typeface="Calibri"/>
              <a:ea typeface="Calibri"/>
              <a:cs typeface="Calibri"/>
              <a:sym typeface="Calibri"/>
            </a:endParaRPr>
          </a:p>
        </p:txBody>
      </p:sp>
      <p:sp>
        <p:nvSpPr>
          <p:cNvPr id="2015" name="Google Shape;2015;p51"/>
          <p:cNvSpPr/>
          <p:nvPr/>
        </p:nvSpPr>
        <p:spPr>
          <a:xfrm>
            <a:off x="12001403" y="5200650"/>
            <a:ext cx="5587800" cy="466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700"/>
              <a:buFont typeface="Plus Jakarta Sans"/>
              <a:buNone/>
            </a:pPr>
            <a:r>
              <a:rPr b="1" i="0" lang="en-US" sz="2700" u="none" cap="none" strike="noStrike">
                <a:solidFill>
                  <a:srgbClr val="121619"/>
                </a:solidFill>
                <a:latin typeface="Plus Jakarta Sans"/>
                <a:ea typeface="Plus Jakarta Sans"/>
                <a:cs typeface="Plus Jakarta Sans"/>
                <a:sym typeface="Plus Jakarta Sans"/>
              </a:rPr>
              <a:t>[0,0]%</a:t>
            </a:r>
            <a:endParaRPr b="0" i="0" sz="2700" u="none" cap="none" strike="noStrike">
              <a:solidFill>
                <a:schemeClr val="dk1"/>
              </a:solidFill>
              <a:latin typeface="Calibri"/>
              <a:ea typeface="Calibri"/>
              <a:cs typeface="Calibri"/>
              <a:sym typeface="Calibri"/>
            </a:endParaRPr>
          </a:p>
        </p:txBody>
      </p:sp>
      <p:sp>
        <p:nvSpPr>
          <p:cNvPr id="2016" name="Google Shape;2016;p51"/>
          <p:cNvSpPr/>
          <p:nvPr/>
        </p:nvSpPr>
        <p:spPr>
          <a:xfrm>
            <a:off x="14038957" y="5686425"/>
            <a:ext cx="1512900" cy="342900"/>
          </a:xfrm>
          <a:prstGeom prst="roundRect">
            <a:avLst>
              <a:gd fmla="val 5000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51"/>
          <p:cNvSpPr/>
          <p:nvPr/>
        </p:nvSpPr>
        <p:spPr>
          <a:xfrm>
            <a:off x="14096665" y="5724525"/>
            <a:ext cx="1397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[0,0]% target</a:t>
            </a:r>
            <a:endParaRPr b="0" i="0" sz="1800" u="none" cap="none" strike="noStrike">
              <a:solidFill>
                <a:schemeClr val="dk1"/>
              </a:solidFill>
              <a:latin typeface="Calibri"/>
              <a:ea typeface="Calibri"/>
              <a:cs typeface="Calibri"/>
              <a:sym typeface="Calibri"/>
            </a:endParaRPr>
          </a:p>
        </p:txBody>
      </p:sp>
      <p:sp>
        <p:nvSpPr>
          <p:cNvPr id="2018" name="Google Shape;2018;p51"/>
          <p:cNvSpPr/>
          <p:nvPr/>
        </p:nvSpPr>
        <p:spPr>
          <a:xfrm>
            <a:off x="762000" y="6410325"/>
            <a:ext cx="16764000" cy="3381300"/>
          </a:xfrm>
          <a:prstGeom prst="roundRect">
            <a:avLst>
              <a:gd fmla="val 4507"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51"/>
          <p:cNvSpPr/>
          <p:nvPr/>
        </p:nvSpPr>
        <p:spPr>
          <a:xfrm>
            <a:off x="971550" y="6581775"/>
            <a:ext cx="16847700" cy="3076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[Diễn giải chi tiết nguyên nhân của các số liệu trên, kèm yếu tố bên ngoài nếu có.]</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4" name="Shape 2024"/>
        <p:cNvGrpSpPr/>
        <p:nvPr/>
      </p:nvGrpSpPr>
      <p:grpSpPr>
        <a:xfrm>
          <a:off x="0" y="0"/>
          <a:ext cx="0" cy="0"/>
          <a:chOff x="0" y="0"/>
          <a:chExt cx="0" cy="0"/>
        </a:xfrm>
      </p:grpSpPr>
      <p:sp>
        <p:nvSpPr>
          <p:cNvPr id="2025" name="Google Shape;2025;p52"/>
          <p:cNvSpPr/>
          <p:nvPr/>
        </p:nvSpPr>
        <p:spPr>
          <a:xfrm>
            <a:off x="762000" y="495300"/>
            <a:ext cx="95418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DRIVER JOURNEY: ONBOARDING [D0–DN]</a:t>
            </a:r>
            <a:endParaRPr b="0" i="0" sz="3300" u="none" cap="none" strike="noStrike">
              <a:solidFill>
                <a:schemeClr val="dk1"/>
              </a:solidFill>
              <a:latin typeface="Calibri"/>
              <a:ea typeface="Calibri"/>
              <a:cs typeface="Calibri"/>
              <a:sym typeface="Calibri"/>
            </a:endParaRPr>
          </a:p>
        </p:txBody>
      </p:sp>
      <p:sp>
        <p:nvSpPr>
          <p:cNvPr id="2026" name="Google Shape;2026;p52"/>
          <p:cNvSpPr/>
          <p:nvPr/>
        </p:nvSpPr>
        <p:spPr>
          <a:xfrm>
            <a:off x="762000" y="1028700"/>
            <a:ext cx="9541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Mục tiêu: [mô tả mục tiêu onboarding] · Tiến độ: [N/M] giai đoạn đúng tiến độ</a:t>
            </a:r>
            <a:endParaRPr b="0" i="0" sz="1950" u="none" cap="none" strike="noStrike">
              <a:solidFill>
                <a:schemeClr val="dk1"/>
              </a:solidFill>
              <a:latin typeface="Calibri"/>
              <a:ea typeface="Calibri"/>
              <a:cs typeface="Calibri"/>
              <a:sym typeface="Calibri"/>
            </a:endParaRPr>
          </a:p>
        </p:txBody>
      </p:sp>
      <p:sp>
        <p:nvSpPr>
          <p:cNvPr id="2027" name="Google Shape;2027;p52"/>
          <p:cNvSpPr/>
          <p:nvPr/>
        </p:nvSpPr>
        <p:spPr>
          <a:xfrm>
            <a:off x="762000" y="1409700"/>
            <a:ext cx="86745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28" name="Google Shape;2028;p52"/>
          <p:cNvPicPr preferRelativeResize="0"/>
          <p:nvPr/>
        </p:nvPicPr>
        <p:blipFill rotWithShape="1">
          <a:blip r:embed="rId3">
            <a:alphaModFix/>
          </a:blip>
          <a:srcRect b="0" l="0" r="0" t="0"/>
          <a:stretch/>
        </p:blipFill>
        <p:spPr>
          <a:xfrm>
            <a:off x="952500" y="1590675"/>
            <a:ext cx="209550" cy="209550"/>
          </a:xfrm>
          <a:prstGeom prst="rect">
            <a:avLst/>
          </a:prstGeom>
          <a:noFill/>
          <a:ln>
            <a:noFill/>
          </a:ln>
        </p:spPr>
      </p:pic>
      <p:sp>
        <p:nvSpPr>
          <p:cNvPr id="2029" name="Google Shape;2029;p52"/>
          <p:cNvSpPr/>
          <p:nvPr/>
        </p:nvSpPr>
        <p:spPr>
          <a:xfrm>
            <a:off x="1221581" y="15240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2030" name="Google Shape;2030;p52"/>
          <p:cNvSpPr/>
          <p:nvPr/>
        </p:nvSpPr>
        <p:spPr>
          <a:xfrm>
            <a:off x="3146375" y="1533525"/>
            <a:ext cx="45096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về tiến độ tổng thể của journey.]</a:t>
            </a:r>
            <a:endParaRPr b="0" i="0" sz="1800" u="none" cap="none" strike="noStrike">
              <a:solidFill>
                <a:schemeClr val="dk1"/>
              </a:solidFill>
              <a:latin typeface="Calibri"/>
              <a:ea typeface="Calibri"/>
              <a:cs typeface="Calibri"/>
              <a:sym typeface="Calibri"/>
            </a:endParaRPr>
          </a:p>
        </p:txBody>
      </p:sp>
      <p:sp>
        <p:nvSpPr>
          <p:cNvPr id="2031" name="Google Shape;2031;p52"/>
          <p:cNvSpPr/>
          <p:nvPr/>
        </p:nvSpPr>
        <p:spPr>
          <a:xfrm>
            <a:off x="762000" y="2114550"/>
            <a:ext cx="2714700" cy="1124100"/>
          </a:xfrm>
          <a:prstGeom prst="roundRect">
            <a:avLst>
              <a:gd fmla="val 1186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52"/>
          <p:cNvSpPr/>
          <p:nvPr/>
        </p:nvSpPr>
        <p:spPr>
          <a:xfrm>
            <a:off x="793909"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D0</a:t>
            </a:r>
            <a:endParaRPr b="0" i="0" sz="1800" u="none" cap="none" strike="noStrike">
              <a:solidFill>
                <a:schemeClr val="dk1"/>
              </a:solidFill>
              <a:latin typeface="Calibri"/>
              <a:ea typeface="Calibri"/>
              <a:cs typeface="Calibri"/>
              <a:sym typeface="Calibri"/>
            </a:endParaRPr>
          </a:p>
        </p:txBody>
      </p:sp>
      <p:sp>
        <p:nvSpPr>
          <p:cNvPr id="2033" name="Google Shape;2033;p52"/>
          <p:cNvSpPr/>
          <p:nvPr/>
        </p:nvSpPr>
        <p:spPr>
          <a:xfrm>
            <a:off x="793909" y="2552700"/>
            <a:ext cx="2650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[Nội dung giai đoạn]</a:t>
            </a:r>
            <a:endParaRPr b="0" i="0" sz="1800" u="none" cap="none" strike="noStrike">
              <a:solidFill>
                <a:schemeClr val="dk1"/>
              </a:solidFill>
              <a:latin typeface="Calibri"/>
              <a:ea typeface="Calibri"/>
              <a:cs typeface="Calibri"/>
              <a:sym typeface="Calibri"/>
            </a:endParaRPr>
          </a:p>
        </p:txBody>
      </p:sp>
      <p:pic>
        <p:nvPicPr>
          <p:cNvPr descr="preencoded.png" id="2034" name="Google Shape;2034;p52"/>
          <p:cNvPicPr preferRelativeResize="0"/>
          <p:nvPr/>
        </p:nvPicPr>
        <p:blipFill rotWithShape="1">
          <a:blip r:embed="rId4">
            <a:alphaModFix/>
          </a:blip>
          <a:srcRect b="0" l="0" r="0" t="0"/>
          <a:stretch/>
        </p:blipFill>
        <p:spPr>
          <a:xfrm>
            <a:off x="1406723" y="2876550"/>
            <a:ext cx="190500" cy="190500"/>
          </a:xfrm>
          <a:prstGeom prst="rect">
            <a:avLst/>
          </a:prstGeom>
          <a:noFill/>
          <a:ln>
            <a:noFill/>
          </a:ln>
        </p:spPr>
      </p:pic>
      <p:sp>
        <p:nvSpPr>
          <p:cNvPr id="2035" name="Google Shape;2035;p52"/>
          <p:cNvSpPr/>
          <p:nvPr/>
        </p:nvSpPr>
        <p:spPr>
          <a:xfrm>
            <a:off x="1653927" y="2819400"/>
            <a:ext cx="12543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Hoàn thành</a:t>
            </a:r>
            <a:endParaRPr b="0" i="0" sz="1800" u="none" cap="none" strike="noStrike">
              <a:solidFill>
                <a:schemeClr val="dk1"/>
              </a:solidFill>
              <a:latin typeface="Calibri"/>
              <a:ea typeface="Calibri"/>
              <a:cs typeface="Calibri"/>
              <a:sym typeface="Calibri"/>
            </a:endParaRPr>
          </a:p>
        </p:txBody>
      </p:sp>
      <p:sp>
        <p:nvSpPr>
          <p:cNvPr id="2036" name="Google Shape;2036;p52"/>
          <p:cNvSpPr/>
          <p:nvPr/>
        </p:nvSpPr>
        <p:spPr>
          <a:xfrm>
            <a:off x="3571875" y="2114550"/>
            <a:ext cx="2714700" cy="1124100"/>
          </a:xfrm>
          <a:prstGeom prst="roundRect">
            <a:avLst>
              <a:gd fmla="val 1186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52"/>
          <p:cNvSpPr/>
          <p:nvPr/>
        </p:nvSpPr>
        <p:spPr>
          <a:xfrm>
            <a:off x="3603784"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D1</a:t>
            </a:r>
            <a:endParaRPr b="0" i="0" sz="1800" u="none" cap="none" strike="noStrike">
              <a:solidFill>
                <a:schemeClr val="dk1"/>
              </a:solidFill>
              <a:latin typeface="Calibri"/>
              <a:ea typeface="Calibri"/>
              <a:cs typeface="Calibri"/>
              <a:sym typeface="Calibri"/>
            </a:endParaRPr>
          </a:p>
        </p:txBody>
      </p:sp>
      <p:sp>
        <p:nvSpPr>
          <p:cNvPr id="2038" name="Google Shape;2038;p52"/>
          <p:cNvSpPr/>
          <p:nvPr/>
        </p:nvSpPr>
        <p:spPr>
          <a:xfrm>
            <a:off x="3603784" y="2552700"/>
            <a:ext cx="2650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[Nội dung giai đoạn]</a:t>
            </a:r>
            <a:endParaRPr b="0" i="0" sz="1800" u="none" cap="none" strike="noStrike">
              <a:solidFill>
                <a:schemeClr val="dk1"/>
              </a:solidFill>
              <a:latin typeface="Calibri"/>
              <a:ea typeface="Calibri"/>
              <a:cs typeface="Calibri"/>
              <a:sym typeface="Calibri"/>
            </a:endParaRPr>
          </a:p>
        </p:txBody>
      </p:sp>
      <p:pic>
        <p:nvPicPr>
          <p:cNvPr descr="preencoded.png" id="2039" name="Google Shape;2039;p52"/>
          <p:cNvPicPr preferRelativeResize="0"/>
          <p:nvPr/>
        </p:nvPicPr>
        <p:blipFill rotWithShape="1">
          <a:blip r:embed="rId4">
            <a:alphaModFix/>
          </a:blip>
          <a:srcRect b="0" l="0" r="0" t="0"/>
          <a:stretch/>
        </p:blipFill>
        <p:spPr>
          <a:xfrm>
            <a:off x="4216598" y="2876550"/>
            <a:ext cx="190500" cy="190500"/>
          </a:xfrm>
          <a:prstGeom prst="rect">
            <a:avLst/>
          </a:prstGeom>
          <a:noFill/>
          <a:ln>
            <a:noFill/>
          </a:ln>
        </p:spPr>
      </p:pic>
      <p:sp>
        <p:nvSpPr>
          <p:cNvPr id="2040" name="Google Shape;2040;p52"/>
          <p:cNvSpPr/>
          <p:nvPr/>
        </p:nvSpPr>
        <p:spPr>
          <a:xfrm>
            <a:off x="4463802" y="2819400"/>
            <a:ext cx="12543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Hoàn thành</a:t>
            </a:r>
            <a:endParaRPr b="0" i="0" sz="1800" u="none" cap="none" strike="noStrike">
              <a:solidFill>
                <a:schemeClr val="dk1"/>
              </a:solidFill>
              <a:latin typeface="Calibri"/>
              <a:ea typeface="Calibri"/>
              <a:cs typeface="Calibri"/>
              <a:sym typeface="Calibri"/>
            </a:endParaRPr>
          </a:p>
        </p:txBody>
      </p:sp>
      <p:sp>
        <p:nvSpPr>
          <p:cNvPr id="2041" name="Google Shape;2041;p52"/>
          <p:cNvSpPr/>
          <p:nvPr/>
        </p:nvSpPr>
        <p:spPr>
          <a:xfrm>
            <a:off x="6381750" y="2114550"/>
            <a:ext cx="2714700" cy="1124100"/>
          </a:xfrm>
          <a:prstGeom prst="roundRect">
            <a:avLst>
              <a:gd fmla="val 11864"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52"/>
          <p:cNvSpPr/>
          <p:nvPr/>
        </p:nvSpPr>
        <p:spPr>
          <a:xfrm>
            <a:off x="6413659"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D2</a:t>
            </a:r>
            <a:endParaRPr b="0" i="0" sz="1800" u="none" cap="none" strike="noStrike">
              <a:solidFill>
                <a:schemeClr val="dk1"/>
              </a:solidFill>
              <a:latin typeface="Calibri"/>
              <a:ea typeface="Calibri"/>
              <a:cs typeface="Calibri"/>
              <a:sym typeface="Calibri"/>
            </a:endParaRPr>
          </a:p>
        </p:txBody>
      </p:sp>
      <p:sp>
        <p:nvSpPr>
          <p:cNvPr id="2043" name="Google Shape;2043;p52"/>
          <p:cNvSpPr/>
          <p:nvPr/>
        </p:nvSpPr>
        <p:spPr>
          <a:xfrm>
            <a:off x="6413659" y="2552700"/>
            <a:ext cx="2650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[Nội dung giai đoạn]</a:t>
            </a:r>
            <a:endParaRPr b="0" i="0" sz="1800" u="none" cap="none" strike="noStrike">
              <a:solidFill>
                <a:schemeClr val="dk1"/>
              </a:solidFill>
              <a:latin typeface="Calibri"/>
              <a:ea typeface="Calibri"/>
              <a:cs typeface="Calibri"/>
              <a:sym typeface="Calibri"/>
            </a:endParaRPr>
          </a:p>
        </p:txBody>
      </p:sp>
      <p:pic>
        <p:nvPicPr>
          <p:cNvPr descr="preencoded.png" id="2044" name="Google Shape;2044;p52"/>
          <p:cNvPicPr preferRelativeResize="0"/>
          <p:nvPr/>
        </p:nvPicPr>
        <p:blipFill rotWithShape="1">
          <a:blip r:embed="rId5">
            <a:alphaModFix/>
          </a:blip>
          <a:srcRect b="0" l="0" r="0" t="0"/>
          <a:stretch/>
        </p:blipFill>
        <p:spPr>
          <a:xfrm>
            <a:off x="6975425" y="2876550"/>
            <a:ext cx="190500" cy="190500"/>
          </a:xfrm>
          <a:prstGeom prst="rect">
            <a:avLst/>
          </a:prstGeom>
          <a:noFill/>
          <a:ln>
            <a:noFill/>
          </a:ln>
        </p:spPr>
      </p:pic>
      <p:sp>
        <p:nvSpPr>
          <p:cNvPr id="2045" name="Google Shape;2045;p52"/>
          <p:cNvSpPr/>
          <p:nvPr/>
        </p:nvSpPr>
        <p:spPr>
          <a:xfrm>
            <a:off x="7222629" y="2819400"/>
            <a:ext cx="13563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55F00"/>
              </a:buClr>
              <a:buSzPts val="1800"/>
              <a:buFont typeface="Roboto"/>
              <a:buNone/>
            </a:pPr>
            <a:r>
              <a:rPr b="0" i="0" lang="en-US" sz="1800" u="none" cap="none" strike="noStrike">
                <a:solidFill>
                  <a:srgbClr val="F55F00"/>
                </a:solidFill>
                <a:latin typeface="Roboto"/>
                <a:ea typeface="Roboto"/>
                <a:cs typeface="Roboto"/>
                <a:sym typeface="Roboto"/>
              </a:rPr>
              <a:t>Lên kịch bản</a:t>
            </a:r>
            <a:endParaRPr b="0" i="0" sz="1800" u="none" cap="none" strike="noStrike">
              <a:solidFill>
                <a:schemeClr val="dk1"/>
              </a:solidFill>
              <a:latin typeface="Calibri"/>
              <a:ea typeface="Calibri"/>
              <a:cs typeface="Calibri"/>
              <a:sym typeface="Calibri"/>
            </a:endParaRPr>
          </a:p>
        </p:txBody>
      </p:sp>
      <p:sp>
        <p:nvSpPr>
          <p:cNvPr id="2046" name="Google Shape;2046;p52"/>
          <p:cNvSpPr/>
          <p:nvPr/>
        </p:nvSpPr>
        <p:spPr>
          <a:xfrm>
            <a:off x="9191625" y="2114550"/>
            <a:ext cx="2714700" cy="1124100"/>
          </a:xfrm>
          <a:prstGeom prst="roundRect">
            <a:avLst>
              <a:gd fmla="val 1186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52"/>
          <p:cNvSpPr/>
          <p:nvPr/>
        </p:nvSpPr>
        <p:spPr>
          <a:xfrm>
            <a:off x="9223534"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D3</a:t>
            </a:r>
            <a:endParaRPr b="0" i="0" sz="1800" u="none" cap="none" strike="noStrike">
              <a:solidFill>
                <a:schemeClr val="dk1"/>
              </a:solidFill>
              <a:latin typeface="Calibri"/>
              <a:ea typeface="Calibri"/>
              <a:cs typeface="Calibri"/>
              <a:sym typeface="Calibri"/>
            </a:endParaRPr>
          </a:p>
        </p:txBody>
      </p:sp>
      <p:sp>
        <p:nvSpPr>
          <p:cNvPr id="2048" name="Google Shape;2048;p52"/>
          <p:cNvSpPr/>
          <p:nvPr/>
        </p:nvSpPr>
        <p:spPr>
          <a:xfrm>
            <a:off x="9223534" y="2552700"/>
            <a:ext cx="2650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[Nội dung giai đoạn]</a:t>
            </a:r>
            <a:endParaRPr b="0" i="0" sz="1800" u="none" cap="none" strike="noStrike">
              <a:solidFill>
                <a:schemeClr val="dk1"/>
              </a:solidFill>
              <a:latin typeface="Calibri"/>
              <a:ea typeface="Calibri"/>
              <a:cs typeface="Calibri"/>
              <a:sym typeface="Calibri"/>
            </a:endParaRPr>
          </a:p>
        </p:txBody>
      </p:sp>
      <p:pic>
        <p:nvPicPr>
          <p:cNvPr descr="preencoded.png" id="2049" name="Google Shape;2049;p52"/>
          <p:cNvPicPr preferRelativeResize="0"/>
          <p:nvPr/>
        </p:nvPicPr>
        <p:blipFill rotWithShape="1">
          <a:blip r:embed="rId4">
            <a:alphaModFix/>
          </a:blip>
          <a:srcRect b="0" l="0" r="0" t="0"/>
          <a:stretch/>
        </p:blipFill>
        <p:spPr>
          <a:xfrm>
            <a:off x="9836348" y="2876550"/>
            <a:ext cx="190500" cy="190500"/>
          </a:xfrm>
          <a:prstGeom prst="rect">
            <a:avLst/>
          </a:prstGeom>
          <a:noFill/>
          <a:ln>
            <a:noFill/>
          </a:ln>
        </p:spPr>
      </p:pic>
      <p:sp>
        <p:nvSpPr>
          <p:cNvPr id="2050" name="Google Shape;2050;p52"/>
          <p:cNvSpPr/>
          <p:nvPr/>
        </p:nvSpPr>
        <p:spPr>
          <a:xfrm>
            <a:off x="10083552" y="2819400"/>
            <a:ext cx="12543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Hoàn thành</a:t>
            </a:r>
            <a:endParaRPr b="0" i="0" sz="1800" u="none" cap="none" strike="noStrike">
              <a:solidFill>
                <a:schemeClr val="dk1"/>
              </a:solidFill>
              <a:latin typeface="Calibri"/>
              <a:ea typeface="Calibri"/>
              <a:cs typeface="Calibri"/>
              <a:sym typeface="Calibri"/>
            </a:endParaRPr>
          </a:p>
        </p:txBody>
      </p:sp>
      <p:sp>
        <p:nvSpPr>
          <p:cNvPr id="2051" name="Google Shape;2051;p52"/>
          <p:cNvSpPr/>
          <p:nvPr/>
        </p:nvSpPr>
        <p:spPr>
          <a:xfrm>
            <a:off x="12001500" y="2114550"/>
            <a:ext cx="2714700" cy="1124100"/>
          </a:xfrm>
          <a:prstGeom prst="roundRect">
            <a:avLst>
              <a:gd fmla="val 11864"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52"/>
          <p:cNvSpPr/>
          <p:nvPr/>
        </p:nvSpPr>
        <p:spPr>
          <a:xfrm>
            <a:off x="12033409"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800"/>
              <a:buFont typeface="Plus Jakarta Sans"/>
              <a:buNone/>
            </a:pPr>
            <a:r>
              <a:rPr b="1" i="0" lang="en-US" sz="1800" u="none" cap="none" strike="noStrike">
                <a:solidFill>
                  <a:srgbClr val="121619"/>
                </a:solidFill>
                <a:latin typeface="Plus Jakarta Sans"/>
                <a:ea typeface="Plus Jakarta Sans"/>
                <a:cs typeface="Plus Jakarta Sans"/>
                <a:sym typeface="Plus Jakarta Sans"/>
              </a:rPr>
              <a:t>D4</a:t>
            </a:r>
            <a:endParaRPr b="0" i="0" sz="1800" u="none" cap="none" strike="noStrike">
              <a:solidFill>
                <a:schemeClr val="dk1"/>
              </a:solidFill>
              <a:latin typeface="Calibri"/>
              <a:ea typeface="Calibri"/>
              <a:cs typeface="Calibri"/>
              <a:sym typeface="Calibri"/>
            </a:endParaRPr>
          </a:p>
        </p:txBody>
      </p:sp>
      <p:sp>
        <p:nvSpPr>
          <p:cNvPr id="2053" name="Google Shape;2053;p52"/>
          <p:cNvSpPr/>
          <p:nvPr/>
        </p:nvSpPr>
        <p:spPr>
          <a:xfrm>
            <a:off x="12033409" y="2552700"/>
            <a:ext cx="2650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[Nội dung giai đoạn]</a:t>
            </a:r>
            <a:endParaRPr b="0" i="0" sz="1800" u="none" cap="none" strike="noStrike">
              <a:solidFill>
                <a:schemeClr val="dk1"/>
              </a:solidFill>
              <a:latin typeface="Calibri"/>
              <a:ea typeface="Calibri"/>
              <a:cs typeface="Calibri"/>
              <a:sym typeface="Calibri"/>
            </a:endParaRPr>
          </a:p>
        </p:txBody>
      </p:sp>
      <p:pic>
        <p:nvPicPr>
          <p:cNvPr descr="preencoded.png" id="2054" name="Google Shape;2054;p52"/>
          <p:cNvPicPr preferRelativeResize="0"/>
          <p:nvPr/>
        </p:nvPicPr>
        <p:blipFill rotWithShape="1">
          <a:blip r:embed="rId4">
            <a:alphaModFix/>
          </a:blip>
          <a:srcRect b="0" l="0" r="0" t="0"/>
          <a:stretch/>
        </p:blipFill>
        <p:spPr>
          <a:xfrm>
            <a:off x="12646223" y="2876550"/>
            <a:ext cx="190500" cy="190500"/>
          </a:xfrm>
          <a:prstGeom prst="rect">
            <a:avLst/>
          </a:prstGeom>
          <a:noFill/>
          <a:ln>
            <a:noFill/>
          </a:ln>
        </p:spPr>
      </p:pic>
      <p:sp>
        <p:nvSpPr>
          <p:cNvPr id="2055" name="Google Shape;2055;p52"/>
          <p:cNvSpPr/>
          <p:nvPr/>
        </p:nvSpPr>
        <p:spPr>
          <a:xfrm>
            <a:off x="12893427" y="2819400"/>
            <a:ext cx="12543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7C3F"/>
              </a:buClr>
              <a:buSzPts val="1800"/>
              <a:buFont typeface="Roboto"/>
              <a:buNone/>
            </a:pPr>
            <a:r>
              <a:rPr b="0" i="0" lang="en-US" sz="1800" u="none" cap="none" strike="noStrike">
                <a:solidFill>
                  <a:srgbClr val="167C3F"/>
                </a:solidFill>
                <a:latin typeface="Roboto"/>
                <a:ea typeface="Roboto"/>
                <a:cs typeface="Roboto"/>
                <a:sym typeface="Roboto"/>
              </a:rPr>
              <a:t>Hoàn thành</a:t>
            </a:r>
            <a:endParaRPr b="0" i="0" sz="1800" u="none" cap="none" strike="noStrike">
              <a:solidFill>
                <a:schemeClr val="dk1"/>
              </a:solidFill>
              <a:latin typeface="Calibri"/>
              <a:ea typeface="Calibri"/>
              <a:cs typeface="Calibri"/>
              <a:sym typeface="Calibri"/>
            </a:endParaRPr>
          </a:p>
        </p:txBody>
      </p:sp>
      <p:sp>
        <p:nvSpPr>
          <p:cNvPr id="2056" name="Google Shape;2056;p52"/>
          <p:cNvSpPr/>
          <p:nvPr/>
        </p:nvSpPr>
        <p:spPr>
          <a:xfrm>
            <a:off x="14811375" y="2114550"/>
            <a:ext cx="2714700" cy="1124100"/>
          </a:xfrm>
          <a:prstGeom prst="roundRect">
            <a:avLst>
              <a:gd fmla="val 11864" name="adj"/>
            </a:avLst>
          </a:prstGeom>
          <a:solidFill>
            <a:srgbClr val="EA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52"/>
          <p:cNvSpPr/>
          <p:nvPr/>
        </p:nvSpPr>
        <p:spPr>
          <a:xfrm>
            <a:off x="14843284" y="2266950"/>
            <a:ext cx="2650800" cy="3240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Plus Jakarta Sans"/>
              <a:buNone/>
            </a:pPr>
            <a:r>
              <a:rPr b="1" i="0" lang="en-US" sz="1800" u="none" cap="none" strike="noStrike">
                <a:solidFill>
                  <a:srgbClr val="757D86"/>
                </a:solidFill>
                <a:latin typeface="Plus Jakarta Sans"/>
                <a:ea typeface="Plus Jakarta Sans"/>
                <a:cs typeface="Plus Jakarta Sans"/>
                <a:sym typeface="Plus Jakarta Sans"/>
              </a:rPr>
              <a:t>D5</a:t>
            </a:r>
            <a:endParaRPr b="0" i="0" sz="1800" u="none" cap="none" strike="noStrike">
              <a:solidFill>
                <a:schemeClr val="dk1"/>
              </a:solidFill>
              <a:latin typeface="Calibri"/>
              <a:ea typeface="Calibri"/>
              <a:cs typeface="Calibri"/>
              <a:sym typeface="Calibri"/>
            </a:endParaRPr>
          </a:p>
        </p:txBody>
      </p:sp>
      <p:sp>
        <p:nvSpPr>
          <p:cNvPr id="2058" name="Google Shape;2058;p52"/>
          <p:cNvSpPr/>
          <p:nvPr/>
        </p:nvSpPr>
        <p:spPr>
          <a:xfrm>
            <a:off x="14843284" y="2552700"/>
            <a:ext cx="26508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[Nội dung giai đoạn]</a:t>
            </a:r>
            <a:endParaRPr b="0" i="0" sz="1800" u="none" cap="none" strike="noStrike">
              <a:solidFill>
                <a:schemeClr val="dk1"/>
              </a:solidFill>
              <a:latin typeface="Calibri"/>
              <a:ea typeface="Calibri"/>
              <a:cs typeface="Calibri"/>
              <a:sym typeface="Calibri"/>
            </a:endParaRPr>
          </a:p>
        </p:txBody>
      </p:sp>
      <p:pic>
        <p:nvPicPr>
          <p:cNvPr descr="preencoded.png" id="2059" name="Google Shape;2059;p52"/>
          <p:cNvPicPr preferRelativeResize="0"/>
          <p:nvPr/>
        </p:nvPicPr>
        <p:blipFill rotWithShape="1">
          <a:blip r:embed="rId6">
            <a:alphaModFix/>
          </a:blip>
          <a:srcRect b="0" l="0" r="0" t="0"/>
          <a:stretch/>
        </p:blipFill>
        <p:spPr>
          <a:xfrm>
            <a:off x="15691842" y="2876550"/>
            <a:ext cx="190500" cy="190500"/>
          </a:xfrm>
          <a:prstGeom prst="rect">
            <a:avLst/>
          </a:prstGeom>
          <a:noFill/>
          <a:ln>
            <a:noFill/>
          </a:ln>
        </p:spPr>
      </p:pic>
      <p:sp>
        <p:nvSpPr>
          <p:cNvPr id="2060" name="Google Shape;2060;p52"/>
          <p:cNvSpPr/>
          <p:nvPr/>
        </p:nvSpPr>
        <p:spPr>
          <a:xfrm>
            <a:off x="15939046" y="2819400"/>
            <a:ext cx="782400" cy="304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Sắp tới</a:t>
            </a:r>
            <a:endParaRPr b="0" i="0" sz="1800" u="none" cap="none" strike="noStrike">
              <a:solidFill>
                <a:schemeClr val="dk1"/>
              </a:solidFill>
              <a:latin typeface="Calibri"/>
              <a:ea typeface="Calibri"/>
              <a:cs typeface="Calibri"/>
              <a:sym typeface="Calibri"/>
            </a:endParaRPr>
          </a:p>
        </p:txBody>
      </p:sp>
      <p:sp>
        <p:nvSpPr>
          <p:cNvPr id="2061" name="Google Shape;2061;p52"/>
          <p:cNvSpPr/>
          <p:nvPr/>
        </p:nvSpPr>
        <p:spPr>
          <a:xfrm>
            <a:off x="762000" y="3429000"/>
            <a:ext cx="8286900" cy="6362700"/>
          </a:xfrm>
          <a:prstGeom prst="roundRect">
            <a:avLst>
              <a:gd fmla="val 239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52"/>
          <p:cNvSpPr/>
          <p:nvPr/>
        </p:nvSpPr>
        <p:spPr>
          <a:xfrm>
            <a:off x="952500" y="3619500"/>
            <a:ext cx="86964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Khảo sát nhanh</a:t>
            </a:r>
            <a:endParaRPr b="0" i="0" sz="1950" u="none" cap="none" strike="noStrike">
              <a:solidFill>
                <a:schemeClr val="dk1"/>
              </a:solidFill>
              <a:latin typeface="Calibri"/>
              <a:ea typeface="Calibri"/>
              <a:cs typeface="Calibri"/>
              <a:sym typeface="Calibri"/>
            </a:endParaRPr>
          </a:p>
        </p:txBody>
      </p:sp>
      <p:sp>
        <p:nvSpPr>
          <p:cNvPr id="2063" name="Google Shape;2063;p52"/>
          <p:cNvSpPr/>
          <p:nvPr/>
        </p:nvSpPr>
        <p:spPr>
          <a:xfrm>
            <a:off x="952500" y="4029075"/>
            <a:ext cx="8696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[Mô tả cách thức khảo sát, số lượng tiếp cận &amp; kết nối được.]</a:t>
            </a:r>
            <a:endParaRPr b="0" i="0" sz="1800" u="none" cap="none" strike="noStrike">
              <a:solidFill>
                <a:schemeClr val="dk1"/>
              </a:solidFill>
              <a:latin typeface="Calibri"/>
              <a:ea typeface="Calibri"/>
              <a:cs typeface="Calibri"/>
              <a:sym typeface="Calibri"/>
            </a:endParaRPr>
          </a:p>
        </p:txBody>
      </p:sp>
      <p:sp>
        <p:nvSpPr>
          <p:cNvPr id="2064" name="Google Shape;2064;p52"/>
          <p:cNvSpPr/>
          <p:nvPr/>
        </p:nvSpPr>
        <p:spPr>
          <a:xfrm>
            <a:off x="952500" y="4391025"/>
            <a:ext cx="8696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Insight: </a:t>
            </a:r>
            <a:r>
              <a:rPr b="0" i="0" lang="en-US" sz="1800" u="none" cap="none" strike="noStrike">
                <a:solidFill>
                  <a:srgbClr val="4C5158"/>
                </a:solidFill>
                <a:latin typeface="Roboto"/>
                <a:ea typeface="Roboto"/>
                <a:cs typeface="Roboto"/>
                <a:sym typeface="Roboto"/>
              </a:rPr>
              <a:t>[Phát hiện chính từ khảo sát.]</a:t>
            </a:r>
            <a:endParaRPr b="0" i="0" sz="1800" u="none" cap="none" strike="noStrike">
              <a:solidFill>
                <a:schemeClr val="dk1"/>
              </a:solidFill>
              <a:latin typeface="Calibri"/>
              <a:ea typeface="Calibri"/>
              <a:cs typeface="Calibri"/>
              <a:sym typeface="Calibri"/>
            </a:endParaRPr>
          </a:p>
        </p:txBody>
      </p:sp>
      <p:sp>
        <p:nvSpPr>
          <p:cNvPr id="2065" name="Google Shape;2065;p52"/>
          <p:cNvSpPr/>
          <p:nvPr/>
        </p:nvSpPr>
        <p:spPr>
          <a:xfrm>
            <a:off x="9239250" y="3429000"/>
            <a:ext cx="8286900" cy="6362700"/>
          </a:xfrm>
          <a:prstGeom prst="roundRect">
            <a:avLst>
              <a:gd fmla="val 239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52"/>
          <p:cNvSpPr/>
          <p:nvPr/>
        </p:nvSpPr>
        <p:spPr>
          <a:xfrm>
            <a:off x="9429750" y="3619500"/>
            <a:ext cx="86964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Bước tiếp theo &amp; cần support</a:t>
            </a:r>
            <a:endParaRPr b="0" i="0" sz="1950" u="none" cap="none" strike="noStrike">
              <a:solidFill>
                <a:schemeClr val="dk1"/>
              </a:solidFill>
              <a:latin typeface="Calibri"/>
              <a:ea typeface="Calibri"/>
              <a:cs typeface="Calibri"/>
              <a:sym typeface="Calibri"/>
            </a:endParaRPr>
          </a:p>
        </p:txBody>
      </p:sp>
      <p:sp>
        <p:nvSpPr>
          <p:cNvPr id="2067" name="Google Shape;2067;p52"/>
          <p:cNvSpPr/>
          <p:nvPr/>
        </p:nvSpPr>
        <p:spPr>
          <a:xfrm>
            <a:off x="9429750" y="4029075"/>
            <a:ext cx="8696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[Các bước tiếp theo cụ thể.]</a:t>
            </a:r>
            <a:endParaRPr b="0" i="0" sz="1800" u="none" cap="none" strike="noStrike">
              <a:solidFill>
                <a:schemeClr val="dk1"/>
              </a:solidFill>
              <a:latin typeface="Calibri"/>
              <a:ea typeface="Calibri"/>
              <a:cs typeface="Calibri"/>
              <a:sym typeface="Calibri"/>
            </a:endParaRPr>
          </a:p>
        </p:txBody>
      </p:sp>
      <p:sp>
        <p:nvSpPr>
          <p:cNvPr id="2068" name="Google Shape;2068;p52"/>
          <p:cNvSpPr/>
          <p:nvPr/>
        </p:nvSpPr>
        <p:spPr>
          <a:xfrm>
            <a:off x="9429750" y="4391025"/>
            <a:ext cx="8696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Cần support từ [Team]: </a:t>
            </a:r>
            <a:r>
              <a:rPr b="0" i="0" lang="en-US" sz="1800" u="none" cap="none" strike="noStrike">
                <a:solidFill>
                  <a:srgbClr val="4C5158"/>
                </a:solidFill>
                <a:latin typeface="Roboto"/>
                <a:ea typeface="Roboto"/>
                <a:cs typeface="Roboto"/>
                <a:sym typeface="Roboto"/>
              </a:rPr>
              <a:t>[Nội dung cần hỗ trợ.]</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3" name="Shape 2073"/>
        <p:cNvGrpSpPr/>
        <p:nvPr/>
      </p:nvGrpSpPr>
      <p:grpSpPr>
        <a:xfrm>
          <a:off x="0" y="0"/>
          <a:ext cx="0" cy="0"/>
          <a:chOff x="0" y="0"/>
          <a:chExt cx="0" cy="0"/>
        </a:xfrm>
      </p:grpSpPr>
      <p:sp>
        <p:nvSpPr>
          <p:cNvPr id="2074" name="Google Shape;2074;p53"/>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MINIHUB — OVERVIEW &amp; COVERAGE</a:t>
            </a:r>
            <a:endParaRPr b="0" i="0" sz="3300" u="none" cap="none" strike="noStrike">
              <a:solidFill>
                <a:schemeClr val="dk1"/>
              </a:solidFill>
              <a:latin typeface="Calibri"/>
              <a:ea typeface="Calibri"/>
              <a:cs typeface="Calibri"/>
              <a:sym typeface="Calibri"/>
            </a:endParaRPr>
          </a:p>
        </p:txBody>
      </p:sp>
      <p:sp>
        <p:nvSpPr>
          <p:cNvPr id="2075" name="Google Shape;2075;p53"/>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[Khu vực A] &amp; [Khu vực B]</a:t>
            </a:r>
            <a:endParaRPr b="0" i="0" sz="1950" u="none" cap="none" strike="noStrike">
              <a:solidFill>
                <a:schemeClr val="dk1"/>
              </a:solidFill>
              <a:latin typeface="Calibri"/>
              <a:ea typeface="Calibri"/>
              <a:cs typeface="Calibri"/>
              <a:sym typeface="Calibri"/>
            </a:endParaRPr>
          </a:p>
        </p:txBody>
      </p:sp>
      <p:sp>
        <p:nvSpPr>
          <p:cNvPr id="2076" name="Google Shape;2076;p53"/>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77" name="Google Shape;2077;p53"/>
          <p:cNvPicPr preferRelativeResize="0"/>
          <p:nvPr/>
        </p:nvPicPr>
        <p:blipFill rotWithShape="1">
          <a:blip r:embed="rId3">
            <a:alphaModFix/>
          </a:blip>
          <a:srcRect b="0" l="0" r="0" t="0"/>
          <a:stretch/>
        </p:blipFill>
        <p:spPr>
          <a:xfrm>
            <a:off x="952500" y="1590675"/>
            <a:ext cx="209550" cy="209550"/>
          </a:xfrm>
          <a:prstGeom prst="rect">
            <a:avLst/>
          </a:prstGeom>
          <a:noFill/>
          <a:ln>
            <a:noFill/>
          </a:ln>
        </p:spPr>
      </p:pic>
      <p:sp>
        <p:nvSpPr>
          <p:cNvPr id="2078" name="Google Shape;2078;p53"/>
          <p:cNvSpPr/>
          <p:nvPr/>
        </p:nvSpPr>
        <p:spPr>
          <a:xfrm>
            <a:off x="1221581" y="15240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2079" name="Google Shape;2079;p53"/>
          <p:cNvSpPr/>
          <p:nvPr/>
        </p:nvSpPr>
        <p:spPr>
          <a:xfrm>
            <a:off x="3146375" y="1533525"/>
            <a:ext cx="71310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về online rate/coverage, chỉ ra zone cần ưu tiên theo dõi.]</a:t>
            </a:r>
            <a:endParaRPr b="0" i="0" sz="1800" u="none" cap="none" strike="noStrike">
              <a:solidFill>
                <a:schemeClr val="dk1"/>
              </a:solidFill>
              <a:latin typeface="Calibri"/>
              <a:ea typeface="Calibri"/>
              <a:cs typeface="Calibri"/>
              <a:sym typeface="Calibri"/>
            </a:endParaRPr>
          </a:p>
        </p:txBody>
      </p:sp>
      <p:sp>
        <p:nvSpPr>
          <p:cNvPr id="2080" name="Google Shape;2080;p53"/>
          <p:cNvSpPr/>
          <p:nvPr/>
        </p:nvSpPr>
        <p:spPr>
          <a:xfrm>
            <a:off x="762000" y="2114550"/>
            <a:ext cx="1764300" cy="438300"/>
          </a:xfrm>
          <a:prstGeom prst="roundRect">
            <a:avLst>
              <a:gd fmla="val 17391"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53"/>
          <p:cNvSpPr/>
          <p:nvPr/>
        </p:nvSpPr>
        <p:spPr>
          <a:xfrm>
            <a:off x="933450" y="2190750"/>
            <a:ext cx="14976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[KHU VỰC A]</a:t>
            </a:r>
            <a:endParaRPr b="0" i="0" sz="1800" u="none" cap="none" strike="noStrike">
              <a:solidFill>
                <a:schemeClr val="dk1"/>
              </a:solidFill>
              <a:latin typeface="Calibri"/>
              <a:ea typeface="Calibri"/>
              <a:cs typeface="Calibri"/>
              <a:sym typeface="Calibri"/>
            </a:endParaRPr>
          </a:p>
        </p:txBody>
      </p:sp>
      <p:sp>
        <p:nvSpPr>
          <p:cNvPr id="2082" name="Google Shape;2082;p53"/>
          <p:cNvSpPr/>
          <p:nvPr/>
        </p:nvSpPr>
        <p:spPr>
          <a:xfrm>
            <a:off x="762000" y="2686050"/>
            <a:ext cx="2679600" cy="1171500"/>
          </a:xfrm>
          <a:prstGeom prst="roundRect">
            <a:avLst>
              <a:gd fmla="val 813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53"/>
          <p:cNvSpPr/>
          <p:nvPr/>
        </p:nvSpPr>
        <p:spPr>
          <a:xfrm>
            <a:off x="774702" y="2819400"/>
            <a:ext cx="2654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Checkin</a:t>
            </a:r>
            <a:endParaRPr b="0" i="0" sz="1800" u="none" cap="none" strike="noStrike">
              <a:solidFill>
                <a:schemeClr val="dk1"/>
              </a:solidFill>
              <a:latin typeface="Calibri"/>
              <a:ea typeface="Calibri"/>
              <a:cs typeface="Calibri"/>
              <a:sym typeface="Calibri"/>
            </a:endParaRPr>
          </a:p>
        </p:txBody>
      </p:sp>
      <p:sp>
        <p:nvSpPr>
          <p:cNvPr id="2084" name="Google Shape;2084;p53"/>
          <p:cNvSpPr/>
          <p:nvPr/>
        </p:nvSpPr>
        <p:spPr>
          <a:xfrm>
            <a:off x="774702" y="3086100"/>
            <a:ext cx="26541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[0,0] ca</a:t>
            </a:r>
            <a:endParaRPr b="0" i="0" sz="2250" u="none" cap="none" strike="noStrike">
              <a:solidFill>
                <a:schemeClr val="dk1"/>
              </a:solidFill>
              <a:latin typeface="Calibri"/>
              <a:ea typeface="Calibri"/>
              <a:cs typeface="Calibri"/>
              <a:sym typeface="Calibri"/>
            </a:endParaRPr>
          </a:p>
        </p:txBody>
      </p:sp>
      <p:sp>
        <p:nvSpPr>
          <p:cNvPr id="2085" name="Google Shape;2085;p53"/>
          <p:cNvSpPr/>
          <p:nvPr/>
        </p:nvSpPr>
        <p:spPr>
          <a:xfrm>
            <a:off x="774702" y="3448050"/>
            <a:ext cx="2654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 MoM</a:t>
            </a:r>
            <a:endParaRPr b="0" i="0" sz="1800" u="none" cap="none" strike="noStrike">
              <a:solidFill>
                <a:schemeClr val="dk1"/>
              </a:solidFill>
              <a:latin typeface="Calibri"/>
              <a:ea typeface="Calibri"/>
              <a:cs typeface="Calibri"/>
              <a:sym typeface="Calibri"/>
            </a:endParaRPr>
          </a:p>
        </p:txBody>
      </p:sp>
      <p:sp>
        <p:nvSpPr>
          <p:cNvPr id="2086" name="Google Shape;2086;p53"/>
          <p:cNvSpPr/>
          <p:nvPr/>
        </p:nvSpPr>
        <p:spPr>
          <a:xfrm>
            <a:off x="3555950" y="2686050"/>
            <a:ext cx="2679600" cy="1171500"/>
          </a:xfrm>
          <a:prstGeom prst="roundRect">
            <a:avLst>
              <a:gd fmla="val 813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53"/>
          <p:cNvSpPr/>
          <p:nvPr/>
        </p:nvSpPr>
        <p:spPr>
          <a:xfrm>
            <a:off x="3568653" y="2819400"/>
            <a:ext cx="2654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Utilization</a:t>
            </a:r>
            <a:endParaRPr b="0" i="0" sz="1800" u="none" cap="none" strike="noStrike">
              <a:solidFill>
                <a:schemeClr val="dk1"/>
              </a:solidFill>
              <a:latin typeface="Calibri"/>
              <a:ea typeface="Calibri"/>
              <a:cs typeface="Calibri"/>
              <a:sym typeface="Calibri"/>
            </a:endParaRPr>
          </a:p>
        </p:txBody>
      </p:sp>
      <p:sp>
        <p:nvSpPr>
          <p:cNvPr id="2088" name="Google Shape;2088;p53"/>
          <p:cNvSpPr/>
          <p:nvPr/>
        </p:nvSpPr>
        <p:spPr>
          <a:xfrm>
            <a:off x="3568653" y="3086100"/>
            <a:ext cx="26541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[0,0]%</a:t>
            </a:r>
            <a:endParaRPr b="0" i="0" sz="2250" u="none" cap="none" strike="noStrike">
              <a:solidFill>
                <a:schemeClr val="dk1"/>
              </a:solidFill>
              <a:latin typeface="Calibri"/>
              <a:ea typeface="Calibri"/>
              <a:cs typeface="Calibri"/>
              <a:sym typeface="Calibri"/>
            </a:endParaRPr>
          </a:p>
        </p:txBody>
      </p:sp>
      <p:sp>
        <p:nvSpPr>
          <p:cNvPr id="2089" name="Google Shape;2089;p53"/>
          <p:cNvSpPr/>
          <p:nvPr/>
        </p:nvSpPr>
        <p:spPr>
          <a:xfrm>
            <a:off x="3568653" y="3448050"/>
            <a:ext cx="2654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 MoM</a:t>
            </a:r>
            <a:endParaRPr b="0" i="0" sz="1800" u="none" cap="none" strike="noStrike">
              <a:solidFill>
                <a:schemeClr val="dk1"/>
              </a:solidFill>
              <a:latin typeface="Calibri"/>
              <a:ea typeface="Calibri"/>
              <a:cs typeface="Calibri"/>
              <a:sym typeface="Calibri"/>
            </a:endParaRPr>
          </a:p>
        </p:txBody>
      </p:sp>
      <p:sp>
        <p:nvSpPr>
          <p:cNvPr id="2090" name="Google Shape;2090;p53"/>
          <p:cNvSpPr/>
          <p:nvPr/>
        </p:nvSpPr>
        <p:spPr>
          <a:xfrm>
            <a:off x="6349901" y="2686050"/>
            <a:ext cx="2679900" cy="1171500"/>
          </a:xfrm>
          <a:prstGeom prst="roundRect">
            <a:avLst>
              <a:gd fmla="val 8130"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53"/>
          <p:cNvSpPr/>
          <p:nvPr/>
        </p:nvSpPr>
        <p:spPr>
          <a:xfrm>
            <a:off x="6362596" y="2819400"/>
            <a:ext cx="2654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Online rate</a:t>
            </a:r>
            <a:endParaRPr b="0" i="0" sz="1800" u="none" cap="none" strike="noStrike">
              <a:solidFill>
                <a:schemeClr val="dk1"/>
              </a:solidFill>
              <a:latin typeface="Calibri"/>
              <a:ea typeface="Calibri"/>
              <a:cs typeface="Calibri"/>
              <a:sym typeface="Calibri"/>
            </a:endParaRPr>
          </a:p>
        </p:txBody>
      </p:sp>
      <p:sp>
        <p:nvSpPr>
          <p:cNvPr id="2092" name="Google Shape;2092;p53"/>
          <p:cNvSpPr/>
          <p:nvPr/>
        </p:nvSpPr>
        <p:spPr>
          <a:xfrm>
            <a:off x="6362596" y="3086100"/>
            <a:ext cx="26544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[0,0]%</a:t>
            </a:r>
            <a:endParaRPr b="0" i="0" sz="2250" u="none" cap="none" strike="noStrike">
              <a:solidFill>
                <a:schemeClr val="dk1"/>
              </a:solidFill>
              <a:latin typeface="Calibri"/>
              <a:ea typeface="Calibri"/>
              <a:cs typeface="Calibri"/>
              <a:sym typeface="Calibri"/>
            </a:endParaRPr>
          </a:p>
        </p:txBody>
      </p:sp>
      <p:sp>
        <p:nvSpPr>
          <p:cNvPr id="2093" name="Google Shape;2093;p53"/>
          <p:cNvSpPr/>
          <p:nvPr/>
        </p:nvSpPr>
        <p:spPr>
          <a:xfrm>
            <a:off x="6362596" y="3448050"/>
            <a:ext cx="26544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 MoM</a:t>
            </a:r>
            <a:endParaRPr b="0" i="0" sz="1800" u="none" cap="none" strike="noStrike">
              <a:solidFill>
                <a:schemeClr val="dk1"/>
              </a:solidFill>
              <a:latin typeface="Calibri"/>
              <a:ea typeface="Calibri"/>
              <a:cs typeface="Calibri"/>
              <a:sym typeface="Calibri"/>
            </a:endParaRPr>
          </a:p>
        </p:txBody>
      </p:sp>
      <p:sp>
        <p:nvSpPr>
          <p:cNvPr id="2094" name="Google Shape;2094;p53"/>
          <p:cNvSpPr/>
          <p:nvPr/>
        </p:nvSpPr>
        <p:spPr>
          <a:xfrm>
            <a:off x="762000" y="3990975"/>
            <a:ext cx="8267700" cy="838200"/>
          </a:xfrm>
          <a:prstGeom prst="roundRect">
            <a:avLst>
              <a:gd fmla="val 13636"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53"/>
          <p:cNvSpPr/>
          <p:nvPr/>
        </p:nvSpPr>
        <p:spPr>
          <a:xfrm>
            <a:off x="933450" y="4143375"/>
            <a:ext cx="817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highlight>
                  <a:srgbClr val="FFF1F1"/>
                </a:highlight>
                <a:latin typeface="Roboto"/>
                <a:ea typeface="Roboto"/>
                <a:cs typeface="Roboto"/>
                <a:sym typeface="Roboto"/>
              </a:rPr>
              <a:t>Cần theo dõi: </a:t>
            </a:r>
            <a:r>
              <a:rPr b="1" i="0" lang="en-US" sz="1800" u="none" cap="none" strike="noStrike">
                <a:solidFill>
                  <a:srgbClr val="121619"/>
                </a:solidFill>
                <a:latin typeface="Roboto"/>
                <a:ea typeface="Roboto"/>
                <a:cs typeface="Roboto"/>
                <a:sym typeface="Roboto"/>
              </a:rPr>
              <a:t>[Zone thấp nhất] </a:t>
            </a:r>
            <a:r>
              <a:rPr b="0" i="0" lang="en-US" sz="1800" u="none" cap="none" strike="noStrike">
                <a:solidFill>
                  <a:srgbClr val="121619"/>
                </a:solidFill>
                <a:highlight>
                  <a:srgbClr val="FFF1F1"/>
                </a:highlight>
                <a:latin typeface="Roboto"/>
                <a:ea typeface="Roboto"/>
                <a:cs typeface="Roboto"/>
                <a:sym typeface="Roboto"/>
              </a:rPr>
              <a:t>online rate thấp nhất [0,0]% — coverage WoW giảm ở một số zone.</a:t>
            </a:r>
            <a:endParaRPr b="0" i="0" sz="1800" u="none" cap="none" strike="noStrike">
              <a:solidFill>
                <a:schemeClr val="dk1"/>
              </a:solidFill>
              <a:latin typeface="Calibri"/>
              <a:ea typeface="Calibri"/>
              <a:cs typeface="Calibri"/>
              <a:sym typeface="Calibri"/>
            </a:endParaRPr>
          </a:p>
        </p:txBody>
      </p:sp>
      <p:sp>
        <p:nvSpPr>
          <p:cNvPr id="2096" name="Google Shape;2096;p53"/>
          <p:cNvSpPr/>
          <p:nvPr/>
        </p:nvSpPr>
        <p:spPr>
          <a:xfrm>
            <a:off x="9258300" y="2114550"/>
            <a:ext cx="1759200" cy="438300"/>
          </a:xfrm>
          <a:prstGeom prst="roundRect">
            <a:avLst>
              <a:gd fmla="val 17391"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53"/>
          <p:cNvSpPr/>
          <p:nvPr/>
        </p:nvSpPr>
        <p:spPr>
          <a:xfrm>
            <a:off x="9429750" y="2190750"/>
            <a:ext cx="1492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[KHU VỰC B]</a:t>
            </a:r>
            <a:endParaRPr b="0" i="0" sz="1800" u="none" cap="none" strike="noStrike">
              <a:solidFill>
                <a:schemeClr val="dk1"/>
              </a:solidFill>
              <a:latin typeface="Calibri"/>
              <a:ea typeface="Calibri"/>
              <a:cs typeface="Calibri"/>
              <a:sym typeface="Calibri"/>
            </a:endParaRPr>
          </a:p>
        </p:txBody>
      </p:sp>
      <p:sp>
        <p:nvSpPr>
          <p:cNvPr id="2098" name="Google Shape;2098;p53"/>
          <p:cNvSpPr/>
          <p:nvPr/>
        </p:nvSpPr>
        <p:spPr>
          <a:xfrm>
            <a:off x="9258300" y="2686050"/>
            <a:ext cx="2679600" cy="1171500"/>
          </a:xfrm>
          <a:prstGeom prst="roundRect">
            <a:avLst>
              <a:gd fmla="val 813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53"/>
          <p:cNvSpPr/>
          <p:nvPr/>
        </p:nvSpPr>
        <p:spPr>
          <a:xfrm>
            <a:off x="9271002" y="2819400"/>
            <a:ext cx="2654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Checkin</a:t>
            </a:r>
            <a:endParaRPr b="0" i="0" sz="1800" u="none" cap="none" strike="noStrike">
              <a:solidFill>
                <a:schemeClr val="dk1"/>
              </a:solidFill>
              <a:latin typeface="Calibri"/>
              <a:ea typeface="Calibri"/>
              <a:cs typeface="Calibri"/>
              <a:sym typeface="Calibri"/>
            </a:endParaRPr>
          </a:p>
        </p:txBody>
      </p:sp>
      <p:sp>
        <p:nvSpPr>
          <p:cNvPr id="2100" name="Google Shape;2100;p53"/>
          <p:cNvSpPr/>
          <p:nvPr/>
        </p:nvSpPr>
        <p:spPr>
          <a:xfrm>
            <a:off x="9271002" y="3086100"/>
            <a:ext cx="26541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[0,0] ca</a:t>
            </a:r>
            <a:endParaRPr b="0" i="0" sz="2250" u="none" cap="none" strike="noStrike">
              <a:solidFill>
                <a:schemeClr val="dk1"/>
              </a:solidFill>
              <a:latin typeface="Calibri"/>
              <a:ea typeface="Calibri"/>
              <a:cs typeface="Calibri"/>
              <a:sym typeface="Calibri"/>
            </a:endParaRPr>
          </a:p>
        </p:txBody>
      </p:sp>
      <p:sp>
        <p:nvSpPr>
          <p:cNvPr id="2101" name="Google Shape;2101;p53"/>
          <p:cNvSpPr/>
          <p:nvPr/>
        </p:nvSpPr>
        <p:spPr>
          <a:xfrm>
            <a:off x="9271002" y="3448050"/>
            <a:ext cx="2654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 MoM</a:t>
            </a:r>
            <a:endParaRPr b="0" i="0" sz="1800" u="none" cap="none" strike="noStrike">
              <a:solidFill>
                <a:schemeClr val="dk1"/>
              </a:solidFill>
              <a:latin typeface="Calibri"/>
              <a:ea typeface="Calibri"/>
              <a:cs typeface="Calibri"/>
              <a:sym typeface="Calibri"/>
            </a:endParaRPr>
          </a:p>
        </p:txBody>
      </p:sp>
      <p:sp>
        <p:nvSpPr>
          <p:cNvPr id="2102" name="Google Shape;2102;p53"/>
          <p:cNvSpPr/>
          <p:nvPr/>
        </p:nvSpPr>
        <p:spPr>
          <a:xfrm>
            <a:off x="12052250" y="2686050"/>
            <a:ext cx="2679600" cy="1171500"/>
          </a:xfrm>
          <a:prstGeom prst="roundRect">
            <a:avLst>
              <a:gd fmla="val 813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53"/>
          <p:cNvSpPr/>
          <p:nvPr/>
        </p:nvSpPr>
        <p:spPr>
          <a:xfrm>
            <a:off x="12064953" y="2819400"/>
            <a:ext cx="26541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Utilization</a:t>
            </a:r>
            <a:endParaRPr b="0" i="0" sz="1800" u="none" cap="none" strike="noStrike">
              <a:solidFill>
                <a:schemeClr val="dk1"/>
              </a:solidFill>
              <a:latin typeface="Calibri"/>
              <a:ea typeface="Calibri"/>
              <a:cs typeface="Calibri"/>
              <a:sym typeface="Calibri"/>
            </a:endParaRPr>
          </a:p>
        </p:txBody>
      </p:sp>
      <p:sp>
        <p:nvSpPr>
          <p:cNvPr id="2104" name="Google Shape;2104;p53"/>
          <p:cNvSpPr/>
          <p:nvPr/>
        </p:nvSpPr>
        <p:spPr>
          <a:xfrm>
            <a:off x="12064953" y="3086100"/>
            <a:ext cx="26541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[0,0]%</a:t>
            </a:r>
            <a:endParaRPr b="0" i="0" sz="2250" u="none" cap="none" strike="noStrike">
              <a:solidFill>
                <a:schemeClr val="dk1"/>
              </a:solidFill>
              <a:latin typeface="Calibri"/>
              <a:ea typeface="Calibri"/>
              <a:cs typeface="Calibri"/>
              <a:sym typeface="Calibri"/>
            </a:endParaRPr>
          </a:p>
        </p:txBody>
      </p:sp>
      <p:sp>
        <p:nvSpPr>
          <p:cNvPr id="2105" name="Google Shape;2105;p53"/>
          <p:cNvSpPr/>
          <p:nvPr/>
        </p:nvSpPr>
        <p:spPr>
          <a:xfrm>
            <a:off x="12064953" y="3448050"/>
            <a:ext cx="26541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DA1E28"/>
              </a:buClr>
              <a:buSzPts val="1800"/>
              <a:buFont typeface="Roboto"/>
              <a:buNone/>
            </a:pPr>
            <a:r>
              <a:rPr b="0" i="0" lang="en-US" sz="1800" u="none" cap="none" strike="noStrike">
                <a:solidFill>
                  <a:srgbClr val="DA1E28"/>
                </a:solidFill>
                <a:latin typeface="Roboto"/>
                <a:ea typeface="Roboto"/>
                <a:cs typeface="Roboto"/>
                <a:sym typeface="Roboto"/>
              </a:rPr>
              <a:t>▼[0,0]% MoM</a:t>
            </a:r>
            <a:endParaRPr b="0" i="0" sz="1800" u="none" cap="none" strike="noStrike">
              <a:solidFill>
                <a:schemeClr val="dk1"/>
              </a:solidFill>
              <a:latin typeface="Calibri"/>
              <a:ea typeface="Calibri"/>
              <a:cs typeface="Calibri"/>
              <a:sym typeface="Calibri"/>
            </a:endParaRPr>
          </a:p>
        </p:txBody>
      </p:sp>
      <p:sp>
        <p:nvSpPr>
          <p:cNvPr id="2106" name="Google Shape;2106;p53"/>
          <p:cNvSpPr/>
          <p:nvPr/>
        </p:nvSpPr>
        <p:spPr>
          <a:xfrm>
            <a:off x="14846201" y="2686050"/>
            <a:ext cx="2679900" cy="1171500"/>
          </a:xfrm>
          <a:prstGeom prst="roundRect">
            <a:avLst>
              <a:gd fmla="val 8130"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53"/>
          <p:cNvSpPr/>
          <p:nvPr/>
        </p:nvSpPr>
        <p:spPr>
          <a:xfrm>
            <a:off x="14858896" y="2819400"/>
            <a:ext cx="26544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Online rate</a:t>
            </a:r>
            <a:endParaRPr b="0" i="0" sz="1800" u="none" cap="none" strike="noStrike">
              <a:solidFill>
                <a:schemeClr val="dk1"/>
              </a:solidFill>
              <a:latin typeface="Calibri"/>
              <a:ea typeface="Calibri"/>
              <a:cs typeface="Calibri"/>
              <a:sym typeface="Calibri"/>
            </a:endParaRPr>
          </a:p>
        </p:txBody>
      </p:sp>
      <p:sp>
        <p:nvSpPr>
          <p:cNvPr id="2108" name="Google Shape;2108;p53"/>
          <p:cNvSpPr/>
          <p:nvPr/>
        </p:nvSpPr>
        <p:spPr>
          <a:xfrm>
            <a:off x="14858896" y="3086100"/>
            <a:ext cx="2654400" cy="4002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250"/>
              <a:buFont typeface="Plus Jakarta Sans"/>
              <a:buNone/>
            </a:pPr>
            <a:r>
              <a:rPr b="1" i="0" lang="en-US" sz="2250" u="none" cap="none" strike="noStrike">
                <a:solidFill>
                  <a:srgbClr val="121619"/>
                </a:solidFill>
                <a:latin typeface="Plus Jakarta Sans"/>
                <a:ea typeface="Plus Jakarta Sans"/>
                <a:cs typeface="Plus Jakarta Sans"/>
                <a:sym typeface="Plus Jakarta Sans"/>
              </a:rPr>
              <a:t>[0,0]%</a:t>
            </a:r>
            <a:endParaRPr b="0" i="0" sz="2250" u="none" cap="none" strike="noStrike">
              <a:solidFill>
                <a:schemeClr val="dk1"/>
              </a:solidFill>
              <a:latin typeface="Calibri"/>
              <a:ea typeface="Calibri"/>
              <a:cs typeface="Calibri"/>
              <a:sym typeface="Calibri"/>
            </a:endParaRPr>
          </a:p>
        </p:txBody>
      </p:sp>
      <p:sp>
        <p:nvSpPr>
          <p:cNvPr id="2109" name="Google Shape;2109;p53"/>
          <p:cNvSpPr/>
          <p:nvPr/>
        </p:nvSpPr>
        <p:spPr>
          <a:xfrm>
            <a:off x="14858896" y="3448050"/>
            <a:ext cx="2654400" cy="314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249F58"/>
              </a:buClr>
              <a:buSzPts val="1800"/>
              <a:buFont typeface="Roboto"/>
              <a:buNone/>
            </a:pPr>
            <a:r>
              <a:rPr b="0" i="0" lang="en-US" sz="1800" u="none" cap="none" strike="noStrike">
                <a:solidFill>
                  <a:srgbClr val="249F58"/>
                </a:solidFill>
                <a:latin typeface="Roboto"/>
                <a:ea typeface="Roboto"/>
                <a:cs typeface="Roboto"/>
                <a:sym typeface="Roboto"/>
              </a:rPr>
              <a:t>▲[0,0]% MoM</a:t>
            </a:r>
            <a:endParaRPr b="0" i="0" sz="1800" u="none" cap="none" strike="noStrike">
              <a:solidFill>
                <a:schemeClr val="dk1"/>
              </a:solidFill>
              <a:latin typeface="Calibri"/>
              <a:ea typeface="Calibri"/>
              <a:cs typeface="Calibri"/>
              <a:sym typeface="Calibri"/>
            </a:endParaRPr>
          </a:p>
        </p:txBody>
      </p:sp>
      <p:sp>
        <p:nvSpPr>
          <p:cNvPr id="2110" name="Google Shape;2110;p53"/>
          <p:cNvSpPr/>
          <p:nvPr/>
        </p:nvSpPr>
        <p:spPr>
          <a:xfrm>
            <a:off x="9258300" y="3990975"/>
            <a:ext cx="8267700" cy="838200"/>
          </a:xfrm>
          <a:prstGeom prst="roundRect">
            <a:avLst>
              <a:gd fmla="val 13636" name="adj"/>
            </a:avLst>
          </a:prstGeom>
          <a:solidFill>
            <a:srgbClr val="E8F5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53"/>
          <p:cNvSpPr/>
          <p:nvPr/>
        </p:nvSpPr>
        <p:spPr>
          <a:xfrm>
            <a:off x="9429750" y="4143375"/>
            <a:ext cx="81729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Coverage cải thiện ở đa số zone WoW; zone thấp nhất vẫn trên [0,0]% online rate.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6" name="Shape 2116"/>
        <p:cNvGrpSpPr/>
        <p:nvPr/>
      </p:nvGrpSpPr>
      <p:grpSpPr>
        <a:xfrm>
          <a:off x="0" y="0"/>
          <a:ext cx="0" cy="0"/>
          <a:chOff x="0" y="0"/>
          <a:chExt cx="0" cy="0"/>
        </a:xfrm>
      </p:grpSpPr>
      <p:sp>
        <p:nvSpPr>
          <p:cNvPr id="2117" name="Google Shape;2117;p54"/>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MINIHUB — DRIVER FUNNEL &amp; SANCTION</a:t>
            </a:r>
            <a:endParaRPr b="0" i="0" sz="3300" u="none" cap="none" strike="noStrike">
              <a:solidFill>
                <a:schemeClr val="dk1"/>
              </a:solidFill>
              <a:latin typeface="Calibri"/>
              <a:ea typeface="Calibri"/>
              <a:cs typeface="Calibri"/>
              <a:sym typeface="Calibri"/>
            </a:endParaRPr>
          </a:p>
        </p:txBody>
      </p:sp>
      <p:sp>
        <p:nvSpPr>
          <p:cNvPr id="2118" name="Google Shape;2118;p54"/>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[Khu vực A] &amp; [Khu vực B]</a:t>
            </a:r>
            <a:endParaRPr b="0" i="0" sz="1950" u="none" cap="none" strike="noStrike">
              <a:solidFill>
                <a:schemeClr val="dk1"/>
              </a:solidFill>
              <a:latin typeface="Calibri"/>
              <a:ea typeface="Calibri"/>
              <a:cs typeface="Calibri"/>
              <a:sym typeface="Calibri"/>
            </a:endParaRPr>
          </a:p>
        </p:txBody>
      </p:sp>
      <p:sp>
        <p:nvSpPr>
          <p:cNvPr id="2119" name="Google Shape;2119;p54"/>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20" name="Google Shape;2120;p54"/>
          <p:cNvPicPr preferRelativeResize="0"/>
          <p:nvPr/>
        </p:nvPicPr>
        <p:blipFill rotWithShape="1">
          <a:blip r:embed="rId3">
            <a:alphaModFix/>
          </a:blip>
          <a:srcRect b="0" l="0" r="0" t="0"/>
          <a:stretch/>
        </p:blipFill>
        <p:spPr>
          <a:xfrm>
            <a:off x="952500" y="1590675"/>
            <a:ext cx="209550" cy="209550"/>
          </a:xfrm>
          <a:prstGeom prst="rect">
            <a:avLst/>
          </a:prstGeom>
          <a:noFill/>
          <a:ln>
            <a:noFill/>
          </a:ln>
        </p:spPr>
      </p:pic>
      <p:sp>
        <p:nvSpPr>
          <p:cNvPr id="2121" name="Google Shape;2121;p54"/>
          <p:cNvSpPr/>
          <p:nvPr/>
        </p:nvSpPr>
        <p:spPr>
          <a:xfrm>
            <a:off x="1221581" y="15240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2122" name="Google Shape;2122;p54"/>
          <p:cNvSpPr/>
          <p:nvPr/>
        </p:nvSpPr>
        <p:spPr>
          <a:xfrm>
            <a:off x="3146375" y="1533525"/>
            <a:ext cx="65766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về chuyển đổi funnel &amp; nguyên nhân vi phạm chính.]</a:t>
            </a:r>
            <a:endParaRPr b="0" i="0" sz="1800" u="none" cap="none" strike="noStrike">
              <a:solidFill>
                <a:schemeClr val="dk1"/>
              </a:solidFill>
              <a:latin typeface="Calibri"/>
              <a:ea typeface="Calibri"/>
              <a:cs typeface="Calibri"/>
              <a:sym typeface="Calibri"/>
            </a:endParaRPr>
          </a:p>
        </p:txBody>
      </p:sp>
      <p:sp>
        <p:nvSpPr>
          <p:cNvPr id="2123" name="Google Shape;2123;p54"/>
          <p:cNvSpPr/>
          <p:nvPr/>
        </p:nvSpPr>
        <p:spPr>
          <a:xfrm>
            <a:off x="762000" y="2095500"/>
            <a:ext cx="1764300" cy="438300"/>
          </a:xfrm>
          <a:prstGeom prst="roundRect">
            <a:avLst>
              <a:gd fmla="val 17391" name="adj"/>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54"/>
          <p:cNvSpPr/>
          <p:nvPr/>
        </p:nvSpPr>
        <p:spPr>
          <a:xfrm>
            <a:off x="933450" y="2171700"/>
            <a:ext cx="14976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[KHU VỰC A]</a:t>
            </a:r>
            <a:endParaRPr b="0" i="0" sz="1800" u="none" cap="none" strike="noStrike">
              <a:solidFill>
                <a:schemeClr val="dk1"/>
              </a:solidFill>
              <a:latin typeface="Calibri"/>
              <a:ea typeface="Calibri"/>
              <a:cs typeface="Calibri"/>
              <a:sym typeface="Calibri"/>
            </a:endParaRPr>
          </a:p>
        </p:txBody>
      </p:sp>
      <p:sp>
        <p:nvSpPr>
          <p:cNvPr id="2125" name="Google Shape;2125;p54"/>
          <p:cNvSpPr/>
          <p:nvPr/>
        </p:nvSpPr>
        <p:spPr>
          <a:xfrm>
            <a:off x="762000" y="2647950"/>
            <a:ext cx="4076700" cy="1181100"/>
          </a:xfrm>
          <a:prstGeom prst="roundRect">
            <a:avLst>
              <a:gd fmla="val 80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54"/>
          <p:cNvSpPr/>
          <p:nvPr/>
        </p:nvSpPr>
        <p:spPr>
          <a:xfrm>
            <a:off x="704850" y="27813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Active/Registered</a:t>
            </a:r>
            <a:endParaRPr b="0" i="0" sz="1800" u="none" cap="none" strike="noStrike">
              <a:solidFill>
                <a:schemeClr val="dk1"/>
              </a:solidFill>
              <a:latin typeface="Calibri"/>
              <a:ea typeface="Calibri"/>
              <a:cs typeface="Calibri"/>
              <a:sym typeface="Calibri"/>
            </a:endParaRPr>
          </a:p>
        </p:txBody>
      </p:sp>
      <p:sp>
        <p:nvSpPr>
          <p:cNvPr id="2127" name="Google Shape;2127;p54"/>
          <p:cNvSpPr/>
          <p:nvPr/>
        </p:nvSpPr>
        <p:spPr>
          <a:xfrm>
            <a:off x="704850" y="3048000"/>
            <a:ext cx="4191000" cy="41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400"/>
              <a:buFont typeface="Plus Jakarta Sans"/>
              <a:buNone/>
            </a:pPr>
            <a:r>
              <a:rPr b="1" i="0" lang="en-US" sz="2400" u="none" cap="none" strike="noStrike">
                <a:solidFill>
                  <a:srgbClr val="121619"/>
                </a:solidFill>
                <a:latin typeface="Plus Jakarta Sans"/>
                <a:ea typeface="Plus Jakarta Sans"/>
                <a:cs typeface="Plus Jakarta Sans"/>
                <a:sym typeface="Plus Jakarta Sans"/>
              </a:rPr>
              <a:t>[0,0]%</a:t>
            </a:r>
            <a:endParaRPr b="0" i="0" sz="2400" u="none" cap="none" strike="noStrike">
              <a:solidFill>
                <a:schemeClr val="dk1"/>
              </a:solidFill>
              <a:latin typeface="Calibri"/>
              <a:ea typeface="Calibri"/>
              <a:cs typeface="Calibri"/>
              <a:sym typeface="Calibri"/>
            </a:endParaRPr>
          </a:p>
        </p:txBody>
      </p:sp>
      <p:sp>
        <p:nvSpPr>
          <p:cNvPr id="2128" name="Google Shape;2128;p54"/>
          <p:cNvSpPr/>
          <p:nvPr/>
        </p:nvSpPr>
        <p:spPr>
          <a:xfrm>
            <a:off x="4953000" y="2647950"/>
            <a:ext cx="4076700" cy="1181100"/>
          </a:xfrm>
          <a:prstGeom prst="roundRect">
            <a:avLst>
              <a:gd fmla="val 80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54"/>
          <p:cNvSpPr/>
          <p:nvPr/>
        </p:nvSpPr>
        <p:spPr>
          <a:xfrm>
            <a:off x="4895850" y="27813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Vi phạm (No Activity)</a:t>
            </a:r>
            <a:endParaRPr b="0" i="0" sz="1800" u="none" cap="none" strike="noStrike">
              <a:solidFill>
                <a:schemeClr val="dk1"/>
              </a:solidFill>
              <a:latin typeface="Calibri"/>
              <a:ea typeface="Calibri"/>
              <a:cs typeface="Calibri"/>
              <a:sym typeface="Calibri"/>
            </a:endParaRPr>
          </a:p>
        </p:txBody>
      </p:sp>
      <p:sp>
        <p:nvSpPr>
          <p:cNvPr id="2130" name="Google Shape;2130;p54"/>
          <p:cNvSpPr/>
          <p:nvPr/>
        </p:nvSpPr>
        <p:spPr>
          <a:xfrm>
            <a:off x="4895850" y="3048000"/>
            <a:ext cx="4191000" cy="41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400"/>
              <a:buFont typeface="Plus Jakarta Sans"/>
              <a:buNone/>
            </a:pPr>
            <a:r>
              <a:rPr b="1" i="0" lang="en-US" sz="2400" u="none" cap="none" strike="noStrike">
                <a:solidFill>
                  <a:srgbClr val="121619"/>
                </a:solidFill>
                <a:latin typeface="Plus Jakarta Sans"/>
                <a:ea typeface="Plus Jakarta Sans"/>
                <a:cs typeface="Plus Jakarta Sans"/>
                <a:sym typeface="Plus Jakarta Sans"/>
              </a:rPr>
              <a:t>[0,0]%</a:t>
            </a:r>
            <a:endParaRPr b="0" i="0" sz="2400" u="none" cap="none" strike="noStrike">
              <a:solidFill>
                <a:schemeClr val="dk1"/>
              </a:solidFill>
              <a:latin typeface="Calibri"/>
              <a:ea typeface="Calibri"/>
              <a:cs typeface="Calibri"/>
              <a:sym typeface="Calibri"/>
            </a:endParaRPr>
          </a:p>
        </p:txBody>
      </p:sp>
      <p:sp>
        <p:nvSpPr>
          <p:cNvPr id="2131" name="Google Shape;2131;p54"/>
          <p:cNvSpPr/>
          <p:nvPr/>
        </p:nvSpPr>
        <p:spPr>
          <a:xfrm>
            <a:off x="4895850" y="34290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2132" name="Google Shape;2132;p54"/>
          <p:cNvSpPr/>
          <p:nvPr/>
        </p:nvSpPr>
        <p:spPr>
          <a:xfrm>
            <a:off x="762000" y="3943350"/>
            <a:ext cx="8267700" cy="533400"/>
          </a:xfrm>
          <a:prstGeom prst="roundRect">
            <a:avLst>
              <a:gd fmla="val 21429"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54"/>
          <p:cNvSpPr/>
          <p:nvPr/>
        </p:nvSpPr>
        <p:spPr>
          <a:xfrm>
            <a:off x="933450" y="4076700"/>
            <a:ext cx="81729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highlight>
                  <a:srgbClr val="FFF1F1"/>
                </a:highlight>
                <a:latin typeface="Roboto"/>
                <a:ea typeface="Roboto"/>
                <a:cs typeface="Roboto"/>
                <a:sym typeface="Roboto"/>
              </a:rPr>
              <a:t>Ưu tiên theo dõi: </a:t>
            </a:r>
            <a:r>
              <a:rPr b="1" i="0" lang="en-US" sz="1800" u="none" cap="none" strike="noStrike">
                <a:solidFill>
                  <a:srgbClr val="121619"/>
                </a:solidFill>
                <a:latin typeface="Roboto"/>
                <a:ea typeface="Roboto"/>
                <a:cs typeface="Roboto"/>
                <a:sym typeface="Roboto"/>
              </a:rPr>
              <a:t>[Zone] </a:t>
            </a:r>
            <a:r>
              <a:rPr b="0" i="0" lang="en-US" sz="1800" u="none" cap="none" strike="noStrike">
                <a:solidFill>
                  <a:srgbClr val="121619"/>
                </a:solidFill>
                <a:highlight>
                  <a:srgbClr val="FFF1F1"/>
                </a:highlight>
                <a:latin typeface="Roboto"/>
                <a:ea typeface="Roboto"/>
                <a:cs typeface="Roboto"/>
                <a:sym typeface="Roboto"/>
              </a:rPr>
              <a:t>chuyển đổi thấp nhất.</a:t>
            </a:r>
            <a:endParaRPr b="0" i="0" sz="1800" u="none" cap="none" strike="noStrike">
              <a:solidFill>
                <a:schemeClr val="dk1"/>
              </a:solidFill>
              <a:latin typeface="Calibri"/>
              <a:ea typeface="Calibri"/>
              <a:cs typeface="Calibri"/>
              <a:sym typeface="Calibri"/>
            </a:endParaRPr>
          </a:p>
        </p:txBody>
      </p:sp>
      <p:sp>
        <p:nvSpPr>
          <p:cNvPr id="2134" name="Google Shape;2134;p54"/>
          <p:cNvSpPr/>
          <p:nvPr/>
        </p:nvSpPr>
        <p:spPr>
          <a:xfrm>
            <a:off x="762000" y="4591050"/>
            <a:ext cx="8267700" cy="552600"/>
          </a:xfrm>
          <a:prstGeom prst="roundRect">
            <a:avLst>
              <a:gd fmla="val 20690"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54"/>
          <p:cNvSpPr/>
          <p:nvPr/>
        </p:nvSpPr>
        <p:spPr>
          <a:xfrm>
            <a:off x="942975" y="4733925"/>
            <a:ext cx="81537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Next action: </a:t>
            </a:r>
            <a:r>
              <a:rPr b="0" i="0" lang="en-US" sz="1800" u="none" cap="none" strike="noStrike">
                <a:solidFill>
                  <a:srgbClr val="4C5158"/>
                </a:solidFill>
                <a:highlight>
                  <a:srgbClr val="FFFFFF"/>
                </a:highlight>
                <a:latin typeface="Roboto"/>
                <a:ea typeface="Roboto"/>
                <a:cs typeface="Roboto"/>
                <a:sym typeface="Roboto"/>
              </a:rPr>
              <a:t>[Hành động cụ thể tiếp theo.]</a:t>
            </a:r>
            <a:endParaRPr b="0" i="0" sz="1800" u="none" cap="none" strike="noStrike">
              <a:solidFill>
                <a:schemeClr val="dk1"/>
              </a:solidFill>
              <a:latin typeface="Calibri"/>
              <a:ea typeface="Calibri"/>
              <a:cs typeface="Calibri"/>
              <a:sym typeface="Calibri"/>
            </a:endParaRPr>
          </a:p>
        </p:txBody>
      </p:sp>
      <p:sp>
        <p:nvSpPr>
          <p:cNvPr id="2136" name="Google Shape;2136;p54"/>
          <p:cNvSpPr/>
          <p:nvPr/>
        </p:nvSpPr>
        <p:spPr>
          <a:xfrm>
            <a:off x="9258300" y="2095500"/>
            <a:ext cx="1759200" cy="438300"/>
          </a:xfrm>
          <a:prstGeom prst="roundRect">
            <a:avLst>
              <a:gd fmla="val 17391" name="adj"/>
            </a:avLst>
          </a:prstGeom>
          <a:solidFill>
            <a:srgbClr val="FF7F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54"/>
          <p:cNvSpPr/>
          <p:nvPr/>
        </p:nvSpPr>
        <p:spPr>
          <a:xfrm>
            <a:off x="9429750" y="2171700"/>
            <a:ext cx="14925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[KHU VỰC B]</a:t>
            </a:r>
            <a:endParaRPr b="0" i="0" sz="1800" u="none" cap="none" strike="noStrike">
              <a:solidFill>
                <a:schemeClr val="dk1"/>
              </a:solidFill>
              <a:latin typeface="Calibri"/>
              <a:ea typeface="Calibri"/>
              <a:cs typeface="Calibri"/>
              <a:sym typeface="Calibri"/>
            </a:endParaRPr>
          </a:p>
        </p:txBody>
      </p:sp>
      <p:sp>
        <p:nvSpPr>
          <p:cNvPr id="2138" name="Google Shape;2138;p54"/>
          <p:cNvSpPr/>
          <p:nvPr/>
        </p:nvSpPr>
        <p:spPr>
          <a:xfrm>
            <a:off x="9258300" y="2647950"/>
            <a:ext cx="4076700" cy="1181100"/>
          </a:xfrm>
          <a:prstGeom prst="roundRect">
            <a:avLst>
              <a:gd fmla="val 8065"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54"/>
          <p:cNvSpPr/>
          <p:nvPr/>
        </p:nvSpPr>
        <p:spPr>
          <a:xfrm>
            <a:off x="9201150" y="27813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Active/Registered</a:t>
            </a:r>
            <a:endParaRPr b="0" i="0" sz="1800" u="none" cap="none" strike="noStrike">
              <a:solidFill>
                <a:schemeClr val="dk1"/>
              </a:solidFill>
              <a:latin typeface="Calibri"/>
              <a:ea typeface="Calibri"/>
              <a:cs typeface="Calibri"/>
              <a:sym typeface="Calibri"/>
            </a:endParaRPr>
          </a:p>
        </p:txBody>
      </p:sp>
      <p:sp>
        <p:nvSpPr>
          <p:cNvPr id="2140" name="Google Shape;2140;p54"/>
          <p:cNvSpPr/>
          <p:nvPr/>
        </p:nvSpPr>
        <p:spPr>
          <a:xfrm>
            <a:off x="9201150" y="3048000"/>
            <a:ext cx="4191000" cy="41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400"/>
              <a:buFont typeface="Plus Jakarta Sans"/>
              <a:buNone/>
            </a:pPr>
            <a:r>
              <a:rPr b="1" i="0" lang="en-US" sz="2400" u="none" cap="none" strike="noStrike">
                <a:solidFill>
                  <a:srgbClr val="121619"/>
                </a:solidFill>
                <a:latin typeface="Plus Jakarta Sans"/>
                <a:ea typeface="Plus Jakarta Sans"/>
                <a:cs typeface="Plus Jakarta Sans"/>
                <a:sym typeface="Plus Jakarta Sans"/>
              </a:rPr>
              <a:t>[0,0]%</a:t>
            </a:r>
            <a:endParaRPr b="0" i="0" sz="2400" u="none" cap="none" strike="noStrike">
              <a:solidFill>
                <a:schemeClr val="dk1"/>
              </a:solidFill>
              <a:latin typeface="Calibri"/>
              <a:ea typeface="Calibri"/>
              <a:cs typeface="Calibri"/>
              <a:sym typeface="Calibri"/>
            </a:endParaRPr>
          </a:p>
        </p:txBody>
      </p:sp>
      <p:sp>
        <p:nvSpPr>
          <p:cNvPr id="2141" name="Google Shape;2141;p54"/>
          <p:cNvSpPr/>
          <p:nvPr/>
        </p:nvSpPr>
        <p:spPr>
          <a:xfrm>
            <a:off x="13449300" y="2647950"/>
            <a:ext cx="4076700" cy="1181100"/>
          </a:xfrm>
          <a:prstGeom prst="roundRect">
            <a:avLst>
              <a:gd fmla="val 8065"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54"/>
          <p:cNvSpPr/>
          <p:nvPr/>
        </p:nvSpPr>
        <p:spPr>
          <a:xfrm>
            <a:off x="13392150" y="27813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2nd violation</a:t>
            </a:r>
            <a:endParaRPr b="0" i="0" sz="1800" u="none" cap="none" strike="noStrike">
              <a:solidFill>
                <a:schemeClr val="dk1"/>
              </a:solidFill>
              <a:latin typeface="Calibri"/>
              <a:ea typeface="Calibri"/>
              <a:cs typeface="Calibri"/>
              <a:sym typeface="Calibri"/>
            </a:endParaRPr>
          </a:p>
        </p:txBody>
      </p:sp>
      <p:sp>
        <p:nvSpPr>
          <p:cNvPr id="2143" name="Google Shape;2143;p54"/>
          <p:cNvSpPr/>
          <p:nvPr/>
        </p:nvSpPr>
        <p:spPr>
          <a:xfrm>
            <a:off x="13392150" y="3048000"/>
            <a:ext cx="4191000" cy="4191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400"/>
              <a:buFont typeface="Plus Jakarta Sans"/>
              <a:buNone/>
            </a:pPr>
            <a:r>
              <a:rPr b="1" i="0" lang="en-US" sz="2400" u="none" cap="none" strike="noStrike">
                <a:solidFill>
                  <a:srgbClr val="121619"/>
                </a:solidFill>
                <a:latin typeface="Plus Jakarta Sans"/>
                <a:ea typeface="Plus Jakarta Sans"/>
                <a:cs typeface="Plus Jakarta Sans"/>
                <a:sym typeface="Plus Jakarta Sans"/>
              </a:rPr>
              <a:t>[0,0]%</a:t>
            </a:r>
            <a:endParaRPr b="0" i="0" sz="2400" u="none" cap="none" strike="noStrike">
              <a:solidFill>
                <a:schemeClr val="dk1"/>
              </a:solidFill>
              <a:latin typeface="Calibri"/>
              <a:ea typeface="Calibri"/>
              <a:cs typeface="Calibri"/>
              <a:sym typeface="Calibri"/>
            </a:endParaRPr>
          </a:p>
        </p:txBody>
      </p:sp>
      <p:sp>
        <p:nvSpPr>
          <p:cNvPr id="2144" name="Google Shape;2144;p54"/>
          <p:cNvSpPr/>
          <p:nvPr/>
        </p:nvSpPr>
        <p:spPr>
          <a:xfrm>
            <a:off x="13392150" y="3429000"/>
            <a:ext cx="4191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[0]/[0]</a:t>
            </a:r>
            <a:endParaRPr b="0" i="0" sz="1800" u="none" cap="none" strike="noStrike">
              <a:solidFill>
                <a:schemeClr val="dk1"/>
              </a:solidFill>
              <a:latin typeface="Calibri"/>
              <a:ea typeface="Calibri"/>
              <a:cs typeface="Calibri"/>
              <a:sym typeface="Calibri"/>
            </a:endParaRPr>
          </a:p>
        </p:txBody>
      </p:sp>
      <p:sp>
        <p:nvSpPr>
          <p:cNvPr id="2145" name="Google Shape;2145;p54"/>
          <p:cNvSpPr/>
          <p:nvPr/>
        </p:nvSpPr>
        <p:spPr>
          <a:xfrm>
            <a:off x="9258300" y="3943350"/>
            <a:ext cx="8267700" cy="533400"/>
          </a:xfrm>
          <a:prstGeom prst="roundRect">
            <a:avLst>
              <a:gd fmla="val 21429"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54"/>
          <p:cNvSpPr/>
          <p:nvPr/>
        </p:nvSpPr>
        <p:spPr>
          <a:xfrm>
            <a:off x="9429750" y="4076700"/>
            <a:ext cx="81729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highlight>
                  <a:srgbClr val="FFF1F1"/>
                </a:highlight>
                <a:latin typeface="Roboto"/>
                <a:ea typeface="Roboto"/>
                <a:cs typeface="Roboto"/>
                <a:sym typeface="Roboto"/>
              </a:rPr>
              <a:t>Ưu tiên theo dõi: </a:t>
            </a:r>
            <a:r>
              <a:rPr b="1" i="0" lang="en-US" sz="1800" u="none" cap="none" strike="noStrike">
                <a:solidFill>
                  <a:srgbClr val="121619"/>
                </a:solidFill>
                <a:latin typeface="Roboto"/>
                <a:ea typeface="Roboto"/>
                <a:cs typeface="Roboto"/>
                <a:sym typeface="Roboto"/>
              </a:rPr>
              <a:t>[Zone] </a:t>
            </a:r>
            <a:r>
              <a:rPr b="0" i="0" lang="en-US" sz="1800" u="none" cap="none" strike="noStrike">
                <a:solidFill>
                  <a:srgbClr val="121619"/>
                </a:solidFill>
                <a:highlight>
                  <a:srgbClr val="FFF1F1"/>
                </a:highlight>
                <a:latin typeface="Roboto"/>
                <a:ea typeface="Roboto"/>
                <a:cs typeface="Roboto"/>
                <a:sym typeface="Roboto"/>
              </a:rPr>
              <a:t>chuyển đổi thấp nhất.</a:t>
            </a:r>
            <a:endParaRPr b="0" i="0" sz="1800" u="none" cap="none" strike="noStrike">
              <a:solidFill>
                <a:schemeClr val="dk1"/>
              </a:solidFill>
              <a:latin typeface="Calibri"/>
              <a:ea typeface="Calibri"/>
              <a:cs typeface="Calibri"/>
              <a:sym typeface="Calibri"/>
            </a:endParaRPr>
          </a:p>
        </p:txBody>
      </p:sp>
      <p:sp>
        <p:nvSpPr>
          <p:cNvPr id="2147" name="Google Shape;2147;p54"/>
          <p:cNvSpPr/>
          <p:nvPr/>
        </p:nvSpPr>
        <p:spPr>
          <a:xfrm>
            <a:off x="9258300" y="4591050"/>
            <a:ext cx="8267700" cy="552600"/>
          </a:xfrm>
          <a:prstGeom prst="roundRect">
            <a:avLst>
              <a:gd fmla="val 20690" name="adj"/>
            </a:avLst>
          </a:prstGeom>
          <a:solidFill>
            <a:srgbClr val="FFFFFF"/>
          </a:solidFill>
          <a:ln cap="flat" cmpd="sng" w="9525">
            <a:solidFill>
              <a:srgbClr val="DDE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54"/>
          <p:cNvSpPr/>
          <p:nvPr/>
        </p:nvSpPr>
        <p:spPr>
          <a:xfrm>
            <a:off x="9439275" y="4733925"/>
            <a:ext cx="81537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1" i="0" lang="en-US" sz="1800" u="none" cap="none" strike="noStrike">
                <a:solidFill>
                  <a:srgbClr val="4C5158"/>
                </a:solidFill>
                <a:latin typeface="Roboto"/>
                <a:ea typeface="Roboto"/>
                <a:cs typeface="Roboto"/>
                <a:sym typeface="Roboto"/>
              </a:rPr>
              <a:t>Next action: </a:t>
            </a:r>
            <a:r>
              <a:rPr b="0" i="0" lang="en-US" sz="1800" u="none" cap="none" strike="noStrike">
                <a:solidFill>
                  <a:srgbClr val="4C5158"/>
                </a:solidFill>
                <a:highlight>
                  <a:srgbClr val="FFFFFF"/>
                </a:highlight>
                <a:latin typeface="Roboto"/>
                <a:ea typeface="Roboto"/>
                <a:cs typeface="Roboto"/>
                <a:sym typeface="Roboto"/>
              </a:rPr>
              <a:t>[Hành động cụ thể tiếp theo.]</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3" name="Shape 2153"/>
        <p:cNvGrpSpPr/>
        <p:nvPr/>
      </p:nvGrpSpPr>
      <p:grpSpPr>
        <a:xfrm>
          <a:off x="0" y="0"/>
          <a:ext cx="0" cy="0"/>
          <a:chOff x="0" y="0"/>
          <a:chExt cx="0" cy="0"/>
        </a:xfrm>
      </p:grpSpPr>
      <p:sp>
        <p:nvSpPr>
          <p:cNvPr id="2154" name="Google Shape;2154;p55"/>
          <p:cNvSpPr/>
          <p:nvPr/>
        </p:nvSpPr>
        <p:spPr>
          <a:xfrm>
            <a:off x="762000" y="4572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CITYZONE — REVIEW TÌNH HÌNH</a:t>
            </a:r>
            <a:endParaRPr b="0" i="0" sz="3300" u="none" cap="none" strike="noStrike">
              <a:solidFill>
                <a:schemeClr val="dk1"/>
              </a:solidFill>
              <a:latin typeface="Calibri"/>
              <a:ea typeface="Calibri"/>
              <a:cs typeface="Calibri"/>
              <a:sym typeface="Calibri"/>
            </a:endParaRPr>
          </a:p>
        </p:txBody>
      </p:sp>
      <p:sp>
        <p:nvSpPr>
          <p:cNvPr id="2155" name="Google Shape;2155;p55"/>
          <p:cNvSpPr/>
          <p:nvPr/>
        </p:nvSpPr>
        <p:spPr>
          <a:xfrm>
            <a:off x="762000" y="9906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Active Hub Funnel · Hiệu suất theo ca · Retention tài xế</a:t>
            </a:r>
            <a:endParaRPr b="0" i="0" sz="1950" u="none" cap="none" strike="noStrike">
              <a:solidFill>
                <a:schemeClr val="dk1"/>
              </a:solidFill>
              <a:latin typeface="Calibri"/>
              <a:ea typeface="Calibri"/>
              <a:cs typeface="Calibri"/>
              <a:sym typeface="Calibri"/>
            </a:endParaRPr>
          </a:p>
        </p:txBody>
      </p:sp>
      <p:sp>
        <p:nvSpPr>
          <p:cNvPr id="2156" name="Google Shape;2156;p55"/>
          <p:cNvSpPr/>
          <p:nvPr/>
        </p:nvSpPr>
        <p:spPr>
          <a:xfrm>
            <a:off x="762000" y="13716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57" name="Google Shape;2157;p55"/>
          <p:cNvPicPr preferRelativeResize="0"/>
          <p:nvPr/>
        </p:nvPicPr>
        <p:blipFill rotWithShape="1">
          <a:blip r:embed="rId3">
            <a:alphaModFix/>
          </a:blip>
          <a:srcRect b="0" l="0" r="0" t="0"/>
          <a:stretch/>
        </p:blipFill>
        <p:spPr>
          <a:xfrm>
            <a:off x="952500" y="1552575"/>
            <a:ext cx="209550" cy="209550"/>
          </a:xfrm>
          <a:prstGeom prst="rect">
            <a:avLst/>
          </a:prstGeom>
          <a:noFill/>
          <a:ln>
            <a:noFill/>
          </a:ln>
        </p:spPr>
      </p:pic>
      <p:sp>
        <p:nvSpPr>
          <p:cNvPr id="2158" name="Google Shape;2158;p55"/>
          <p:cNvSpPr/>
          <p:nvPr/>
        </p:nvSpPr>
        <p:spPr>
          <a:xfrm>
            <a:off x="1221581" y="14859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2159" name="Google Shape;2159;p55"/>
          <p:cNvSpPr/>
          <p:nvPr/>
        </p:nvSpPr>
        <p:spPr>
          <a:xfrm>
            <a:off x="3146375" y="1495425"/>
            <a:ext cx="56697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chính về nguyên nhân gốc của funnel loss.]</a:t>
            </a:r>
            <a:endParaRPr b="0" i="0" sz="1800" u="none" cap="none" strike="noStrike">
              <a:solidFill>
                <a:schemeClr val="dk1"/>
              </a:solidFill>
              <a:latin typeface="Calibri"/>
              <a:ea typeface="Calibri"/>
              <a:cs typeface="Calibri"/>
              <a:sym typeface="Calibri"/>
            </a:endParaRPr>
          </a:p>
        </p:txBody>
      </p:sp>
      <p:sp>
        <p:nvSpPr>
          <p:cNvPr id="2160" name="Google Shape;2160;p55"/>
          <p:cNvSpPr/>
          <p:nvPr/>
        </p:nvSpPr>
        <p:spPr>
          <a:xfrm>
            <a:off x="762000" y="2038350"/>
            <a:ext cx="3261300" cy="809700"/>
          </a:xfrm>
          <a:prstGeom prst="roundRect">
            <a:avLst>
              <a:gd fmla="val 117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55"/>
          <p:cNvSpPr/>
          <p:nvPr/>
        </p:nvSpPr>
        <p:spPr>
          <a:xfrm>
            <a:off x="724666" y="2152650"/>
            <a:ext cx="333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Đăng ký</a:t>
            </a:r>
            <a:endParaRPr b="0" i="0" sz="1800" u="none" cap="none" strike="noStrike">
              <a:solidFill>
                <a:schemeClr val="dk1"/>
              </a:solidFill>
              <a:latin typeface="Calibri"/>
              <a:ea typeface="Calibri"/>
              <a:cs typeface="Calibri"/>
              <a:sym typeface="Calibri"/>
            </a:endParaRPr>
          </a:p>
        </p:txBody>
      </p:sp>
      <p:sp>
        <p:nvSpPr>
          <p:cNvPr id="2162" name="Google Shape;2162;p55"/>
          <p:cNvSpPr/>
          <p:nvPr/>
        </p:nvSpPr>
        <p:spPr>
          <a:xfrm>
            <a:off x="724666" y="2419350"/>
            <a:ext cx="33360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[0,0]</a:t>
            </a:r>
            <a:endParaRPr b="0" i="0" sz="1950" u="none" cap="none" strike="noStrike">
              <a:solidFill>
                <a:schemeClr val="dk1"/>
              </a:solidFill>
              <a:latin typeface="Calibri"/>
              <a:ea typeface="Calibri"/>
              <a:cs typeface="Calibri"/>
              <a:sym typeface="Calibri"/>
            </a:endParaRPr>
          </a:p>
        </p:txBody>
      </p:sp>
      <p:sp>
        <p:nvSpPr>
          <p:cNvPr id="2163" name="Google Shape;2163;p55"/>
          <p:cNvSpPr/>
          <p:nvPr/>
        </p:nvSpPr>
        <p:spPr>
          <a:xfrm>
            <a:off x="4137571" y="2038350"/>
            <a:ext cx="3261300" cy="809700"/>
          </a:xfrm>
          <a:prstGeom prst="roundRect">
            <a:avLst>
              <a:gd fmla="val 117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55"/>
          <p:cNvSpPr/>
          <p:nvPr/>
        </p:nvSpPr>
        <p:spPr>
          <a:xfrm>
            <a:off x="4100230" y="2152650"/>
            <a:ext cx="333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Hủy ca</a:t>
            </a:r>
            <a:endParaRPr b="0" i="0" sz="1800" u="none" cap="none" strike="noStrike">
              <a:solidFill>
                <a:schemeClr val="dk1"/>
              </a:solidFill>
              <a:latin typeface="Calibri"/>
              <a:ea typeface="Calibri"/>
              <a:cs typeface="Calibri"/>
              <a:sym typeface="Calibri"/>
            </a:endParaRPr>
          </a:p>
        </p:txBody>
      </p:sp>
      <p:sp>
        <p:nvSpPr>
          <p:cNvPr id="2165" name="Google Shape;2165;p55"/>
          <p:cNvSpPr/>
          <p:nvPr/>
        </p:nvSpPr>
        <p:spPr>
          <a:xfrm>
            <a:off x="4100230" y="2419350"/>
            <a:ext cx="33360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[0,0]%</a:t>
            </a:r>
            <a:endParaRPr b="0" i="0" sz="1950" u="none" cap="none" strike="noStrike">
              <a:solidFill>
                <a:schemeClr val="dk1"/>
              </a:solidFill>
              <a:latin typeface="Calibri"/>
              <a:ea typeface="Calibri"/>
              <a:cs typeface="Calibri"/>
              <a:sym typeface="Calibri"/>
            </a:endParaRPr>
          </a:p>
        </p:txBody>
      </p:sp>
      <p:sp>
        <p:nvSpPr>
          <p:cNvPr id="2166" name="Google Shape;2166;p55"/>
          <p:cNvSpPr/>
          <p:nvPr/>
        </p:nvSpPr>
        <p:spPr>
          <a:xfrm>
            <a:off x="7513290" y="2038350"/>
            <a:ext cx="3261300" cy="809700"/>
          </a:xfrm>
          <a:prstGeom prst="roundRect">
            <a:avLst>
              <a:gd fmla="val 117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55"/>
          <p:cNvSpPr/>
          <p:nvPr/>
        </p:nvSpPr>
        <p:spPr>
          <a:xfrm>
            <a:off x="7475957" y="2152650"/>
            <a:ext cx="333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No-show</a:t>
            </a:r>
            <a:endParaRPr b="0" i="0" sz="1800" u="none" cap="none" strike="noStrike">
              <a:solidFill>
                <a:schemeClr val="dk1"/>
              </a:solidFill>
              <a:latin typeface="Calibri"/>
              <a:ea typeface="Calibri"/>
              <a:cs typeface="Calibri"/>
              <a:sym typeface="Calibri"/>
            </a:endParaRPr>
          </a:p>
        </p:txBody>
      </p:sp>
      <p:sp>
        <p:nvSpPr>
          <p:cNvPr id="2168" name="Google Shape;2168;p55"/>
          <p:cNvSpPr/>
          <p:nvPr/>
        </p:nvSpPr>
        <p:spPr>
          <a:xfrm>
            <a:off x="7475957" y="2419350"/>
            <a:ext cx="33360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[0,0]%</a:t>
            </a:r>
            <a:endParaRPr b="0" i="0" sz="1950" u="none" cap="none" strike="noStrike">
              <a:solidFill>
                <a:schemeClr val="dk1"/>
              </a:solidFill>
              <a:latin typeface="Calibri"/>
              <a:ea typeface="Calibri"/>
              <a:cs typeface="Calibri"/>
              <a:sym typeface="Calibri"/>
            </a:endParaRPr>
          </a:p>
        </p:txBody>
      </p:sp>
      <p:sp>
        <p:nvSpPr>
          <p:cNvPr id="2169" name="Google Shape;2169;p55"/>
          <p:cNvSpPr/>
          <p:nvPr/>
        </p:nvSpPr>
        <p:spPr>
          <a:xfrm>
            <a:off x="10888861" y="2038350"/>
            <a:ext cx="3261300" cy="809700"/>
          </a:xfrm>
          <a:prstGeom prst="roundRect">
            <a:avLst>
              <a:gd fmla="val 117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55"/>
          <p:cNvSpPr/>
          <p:nvPr/>
        </p:nvSpPr>
        <p:spPr>
          <a:xfrm>
            <a:off x="10851520" y="2152650"/>
            <a:ext cx="333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Check-in</a:t>
            </a:r>
            <a:endParaRPr b="0" i="0" sz="1800" u="none" cap="none" strike="noStrike">
              <a:solidFill>
                <a:schemeClr val="dk1"/>
              </a:solidFill>
              <a:latin typeface="Calibri"/>
              <a:ea typeface="Calibri"/>
              <a:cs typeface="Calibri"/>
              <a:sym typeface="Calibri"/>
            </a:endParaRPr>
          </a:p>
        </p:txBody>
      </p:sp>
      <p:sp>
        <p:nvSpPr>
          <p:cNvPr id="2171" name="Google Shape;2171;p55"/>
          <p:cNvSpPr/>
          <p:nvPr/>
        </p:nvSpPr>
        <p:spPr>
          <a:xfrm>
            <a:off x="10851520" y="2419350"/>
            <a:ext cx="33360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[0,0]%</a:t>
            </a:r>
            <a:endParaRPr b="0" i="0" sz="1950" u="none" cap="none" strike="noStrike">
              <a:solidFill>
                <a:schemeClr val="dk1"/>
              </a:solidFill>
              <a:latin typeface="Calibri"/>
              <a:ea typeface="Calibri"/>
              <a:cs typeface="Calibri"/>
              <a:sym typeface="Calibri"/>
            </a:endParaRPr>
          </a:p>
        </p:txBody>
      </p:sp>
      <p:sp>
        <p:nvSpPr>
          <p:cNvPr id="2172" name="Google Shape;2172;p55"/>
          <p:cNvSpPr/>
          <p:nvPr/>
        </p:nvSpPr>
        <p:spPr>
          <a:xfrm>
            <a:off x="14264580" y="2038350"/>
            <a:ext cx="3261300" cy="809700"/>
          </a:xfrm>
          <a:prstGeom prst="roundRect">
            <a:avLst>
              <a:gd fmla="val 11765"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55"/>
          <p:cNvSpPr/>
          <p:nvPr/>
        </p:nvSpPr>
        <p:spPr>
          <a:xfrm>
            <a:off x="14227247" y="2152650"/>
            <a:ext cx="3336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Check-in có đơn</a:t>
            </a:r>
            <a:endParaRPr b="0" i="0" sz="1800" u="none" cap="none" strike="noStrike">
              <a:solidFill>
                <a:schemeClr val="dk1"/>
              </a:solidFill>
              <a:latin typeface="Calibri"/>
              <a:ea typeface="Calibri"/>
              <a:cs typeface="Calibri"/>
              <a:sym typeface="Calibri"/>
            </a:endParaRPr>
          </a:p>
        </p:txBody>
      </p:sp>
      <p:sp>
        <p:nvSpPr>
          <p:cNvPr id="2174" name="Google Shape;2174;p55"/>
          <p:cNvSpPr/>
          <p:nvPr/>
        </p:nvSpPr>
        <p:spPr>
          <a:xfrm>
            <a:off x="14227247" y="2419350"/>
            <a:ext cx="3336000" cy="3525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[0,0]%</a:t>
            </a:r>
            <a:endParaRPr b="0" i="0" sz="1950" u="none" cap="none" strike="noStrike">
              <a:solidFill>
                <a:schemeClr val="dk1"/>
              </a:solidFill>
              <a:latin typeface="Calibri"/>
              <a:ea typeface="Calibri"/>
              <a:cs typeface="Calibri"/>
              <a:sym typeface="Calibri"/>
            </a:endParaRPr>
          </a:p>
        </p:txBody>
      </p:sp>
      <p:sp>
        <p:nvSpPr>
          <p:cNvPr id="2175" name="Google Shape;2175;p55"/>
          <p:cNvSpPr/>
          <p:nvPr/>
        </p:nvSpPr>
        <p:spPr>
          <a:xfrm>
            <a:off x="762000" y="3000375"/>
            <a:ext cx="16764000" cy="533400"/>
          </a:xfrm>
          <a:prstGeom prst="roundRect">
            <a:avLst>
              <a:gd fmla="val 21429" name="adj"/>
            </a:avLst>
          </a:prstGeom>
          <a:solidFill>
            <a:srgbClr val="FFF8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55"/>
          <p:cNvSpPr/>
          <p:nvPr/>
        </p:nvSpPr>
        <p:spPr>
          <a:xfrm>
            <a:off x="933450" y="3133725"/>
            <a:ext cx="169239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về gap giữa check-in và no-show/hủy, kèm bằng chứng số liệu.]</a:t>
            </a:r>
            <a:endParaRPr b="0" i="0" sz="1800" u="none" cap="none" strike="noStrike">
              <a:solidFill>
                <a:schemeClr val="dk1"/>
              </a:solidFill>
              <a:latin typeface="Calibri"/>
              <a:ea typeface="Calibri"/>
              <a:cs typeface="Calibri"/>
              <a:sym typeface="Calibri"/>
            </a:endParaRPr>
          </a:p>
        </p:txBody>
      </p:sp>
      <p:sp>
        <p:nvSpPr>
          <p:cNvPr id="2177" name="Google Shape;2177;p55"/>
          <p:cNvSpPr/>
          <p:nvPr/>
        </p:nvSpPr>
        <p:spPr>
          <a:xfrm>
            <a:off x="762000" y="3686175"/>
            <a:ext cx="91155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Hiệu suất theo ca</a:t>
            </a:r>
            <a:endParaRPr b="0" i="0" sz="1950" u="none" cap="none" strike="noStrike">
              <a:solidFill>
                <a:schemeClr val="dk1"/>
              </a:solidFill>
              <a:latin typeface="Calibri"/>
              <a:ea typeface="Calibri"/>
              <a:cs typeface="Calibri"/>
              <a:sym typeface="Calibri"/>
            </a:endParaRPr>
          </a:p>
        </p:txBody>
      </p:sp>
      <p:sp>
        <p:nvSpPr>
          <p:cNvPr id="2178" name="Google Shape;2178;p55"/>
          <p:cNvSpPr/>
          <p:nvPr/>
        </p:nvSpPr>
        <p:spPr>
          <a:xfrm>
            <a:off x="1649611" y="4762500"/>
            <a:ext cx="910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249F58"/>
              </a:buClr>
              <a:buSzPts val="1800"/>
              <a:buFont typeface="Plus Jakarta Sans"/>
              <a:buNone/>
            </a:pPr>
            <a:r>
              <a:rPr b="1" i="0" lang="en-US" sz="1800" u="none" cap="none" strike="noStrike">
                <a:solidFill>
                  <a:srgbClr val="249F58"/>
                </a:solidFill>
                <a:latin typeface="Plus Jakarta Sans"/>
                <a:ea typeface="Plus Jakarta Sans"/>
                <a:cs typeface="Plus Jakarta Sans"/>
                <a:sym typeface="Plus Jakarta Sans"/>
              </a:rPr>
              <a:t>[0,0]%</a:t>
            </a:r>
            <a:endParaRPr b="0" i="0" sz="1800" u="none" cap="none" strike="noStrike">
              <a:solidFill>
                <a:schemeClr val="dk1"/>
              </a:solidFill>
              <a:latin typeface="Calibri"/>
              <a:ea typeface="Calibri"/>
              <a:cs typeface="Calibri"/>
              <a:sym typeface="Calibri"/>
            </a:endParaRPr>
          </a:p>
        </p:txBody>
      </p:sp>
      <p:sp>
        <p:nvSpPr>
          <p:cNvPr id="2179" name="Google Shape;2179;p55"/>
          <p:cNvSpPr/>
          <p:nvPr/>
        </p:nvSpPr>
        <p:spPr>
          <a:xfrm>
            <a:off x="1777157" y="5162550"/>
            <a:ext cx="6558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[Ca 1]</a:t>
            </a:r>
            <a:endParaRPr b="0" i="0" sz="1800" u="none" cap="none" strike="noStrike">
              <a:solidFill>
                <a:schemeClr val="dk1"/>
              </a:solidFill>
              <a:latin typeface="Calibri"/>
              <a:ea typeface="Calibri"/>
              <a:cs typeface="Calibri"/>
              <a:sym typeface="Calibri"/>
            </a:endParaRPr>
          </a:p>
        </p:txBody>
      </p:sp>
      <p:sp>
        <p:nvSpPr>
          <p:cNvPr id="2180" name="Google Shape;2180;p55"/>
          <p:cNvSpPr/>
          <p:nvPr/>
        </p:nvSpPr>
        <p:spPr>
          <a:xfrm>
            <a:off x="4449961" y="4762500"/>
            <a:ext cx="910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Plus Jakarta Sans"/>
              <a:buNone/>
            </a:pPr>
            <a:r>
              <a:rPr b="1" i="0" lang="en-US" sz="1800" u="none" cap="none" strike="noStrike">
                <a:solidFill>
                  <a:srgbClr val="4C5158"/>
                </a:solidFill>
                <a:latin typeface="Plus Jakarta Sans"/>
                <a:ea typeface="Plus Jakarta Sans"/>
                <a:cs typeface="Plus Jakarta Sans"/>
                <a:sym typeface="Plus Jakarta Sans"/>
              </a:rPr>
              <a:t>[0,0]%</a:t>
            </a:r>
            <a:endParaRPr b="0" i="0" sz="1800" u="none" cap="none" strike="noStrike">
              <a:solidFill>
                <a:schemeClr val="dk1"/>
              </a:solidFill>
              <a:latin typeface="Calibri"/>
              <a:ea typeface="Calibri"/>
              <a:cs typeface="Calibri"/>
              <a:sym typeface="Calibri"/>
            </a:endParaRPr>
          </a:p>
        </p:txBody>
      </p:sp>
      <p:sp>
        <p:nvSpPr>
          <p:cNvPr id="2181" name="Google Shape;2181;p55"/>
          <p:cNvSpPr/>
          <p:nvPr/>
        </p:nvSpPr>
        <p:spPr>
          <a:xfrm>
            <a:off x="4577507" y="5162550"/>
            <a:ext cx="6558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[Ca 2]</a:t>
            </a:r>
            <a:endParaRPr b="0" i="0" sz="1800" u="none" cap="none" strike="noStrike">
              <a:solidFill>
                <a:schemeClr val="dk1"/>
              </a:solidFill>
              <a:latin typeface="Calibri"/>
              <a:ea typeface="Calibri"/>
              <a:cs typeface="Calibri"/>
              <a:sym typeface="Calibri"/>
            </a:endParaRPr>
          </a:p>
        </p:txBody>
      </p:sp>
      <p:sp>
        <p:nvSpPr>
          <p:cNvPr id="2182" name="Google Shape;2182;p55"/>
          <p:cNvSpPr/>
          <p:nvPr/>
        </p:nvSpPr>
        <p:spPr>
          <a:xfrm>
            <a:off x="7250311" y="4762500"/>
            <a:ext cx="9108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DA1E28"/>
              </a:buClr>
              <a:buSzPts val="1800"/>
              <a:buFont typeface="Plus Jakarta Sans"/>
              <a:buNone/>
            </a:pPr>
            <a:r>
              <a:rPr b="1" i="0" lang="en-US" sz="1800" u="none" cap="none" strike="noStrike">
                <a:solidFill>
                  <a:srgbClr val="DA1E28"/>
                </a:solidFill>
                <a:latin typeface="Plus Jakarta Sans"/>
                <a:ea typeface="Plus Jakarta Sans"/>
                <a:cs typeface="Plus Jakarta Sans"/>
                <a:sym typeface="Plus Jakarta Sans"/>
              </a:rPr>
              <a:t>[0,0]%</a:t>
            </a:r>
            <a:endParaRPr b="0" i="0" sz="1800" u="none" cap="none" strike="noStrike">
              <a:solidFill>
                <a:schemeClr val="dk1"/>
              </a:solidFill>
              <a:latin typeface="Calibri"/>
              <a:ea typeface="Calibri"/>
              <a:cs typeface="Calibri"/>
              <a:sym typeface="Calibri"/>
            </a:endParaRPr>
          </a:p>
        </p:txBody>
      </p:sp>
      <p:sp>
        <p:nvSpPr>
          <p:cNvPr id="2183" name="Google Shape;2183;p55"/>
          <p:cNvSpPr/>
          <p:nvPr/>
        </p:nvSpPr>
        <p:spPr>
          <a:xfrm>
            <a:off x="7377857" y="5162550"/>
            <a:ext cx="6558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[Ca 3]</a:t>
            </a:r>
            <a:endParaRPr b="0" i="0" sz="1800" u="none" cap="none" strike="noStrike">
              <a:solidFill>
                <a:schemeClr val="dk1"/>
              </a:solidFill>
              <a:latin typeface="Calibri"/>
              <a:ea typeface="Calibri"/>
              <a:cs typeface="Calibri"/>
              <a:sym typeface="Calibri"/>
            </a:endParaRPr>
          </a:p>
        </p:txBody>
      </p:sp>
      <p:sp>
        <p:nvSpPr>
          <p:cNvPr id="2184" name="Google Shape;2184;p55"/>
          <p:cNvSpPr/>
          <p:nvPr/>
        </p:nvSpPr>
        <p:spPr>
          <a:xfrm>
            <a:off x="762000" y="5524500"/>
            <a:ext cx="91155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[Nhận định ca nào hiệu quả nhất, so sánh với ca kém nhất.]</a:t>
            </a:r>
            <a:endParaRPr b="0" i="0" sz="1800" u="none" cap="none" strike="noStrike">
              <a:solidFill>
                <a:schemeClr val="dk1"/>
              </a:solidFill>
              <a:latin typeface="Calibri"/>
              <a:ea typeface="Calibri"/>
              <a:cs typeface="Calibri"/>
              <a:sym typeface="Calibri"/>
            </a:endParaRPr>
          </a:p>
        </p:txBody>
      </p:sp>
      <p:sp>
        <p:nvSpPr>
          <p:cNvPr id="2185" name="Google Shape;2185;p55"/>
          <p:cNvSpPr/>
          <p:nvPr/>
        </p:nvSpPr>
        <p:spPr>
          <a:xfrm>
            <a:off x="9239250" y="3686175"/>
            <a:ext cx="9115500" cy="352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Retention tài xế hub</a:t>
            </a:r>
            <a:endParaRPr b="0" i="0" sz="1950" u="none" cap="none" strike="noStrike">
              <a:solidFill>
                <a:schemeClr val="dk1"/>
              </a:solidFill>
              <a:latin typeface="Calibri"/>
              <a:ea typeface="Calibri"/>
              <a:cs typeface="Calibri"/>
              <a:sym typeface="Calibri"/>
            </a:endParaRPr>
          </a:p>
        </p:txBody>
      </p:sp>
      <p:sp>
        <p:nvSpPr>
          <p:cNvPr id="2186" name="Google Shape;2186;p55"/>
          <p:cNvSpPr/>
          <p:nvPr/>
        </p:nvSpPr>
        <p:spPr>
          <a:xfrm>
            <a:off x="9239250" y="4095750"/>
            <a:ext cx="4095900" cy="828600"/>
          </a:xfrm>
          <a:prstGeom prst="roundRect">
            <a:avLst>
              <a:gd fmla="val 11494"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55"/>
          <p:cNvSpPr/>
          <p:nvPr/>
        </p:nvSpPr>
        <p:spPr>
          <a:xfrm>
            <a:off x="9160193" y="4210050"/>
            <a:ext cx="42540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[0,0]%</a:t>
            </a:r>
            <a:endParaRPr b="0" i="0" sz="2100" u="none" cap="none" strike="noStrike">
              <a:solidFill>
                <a:schemeClr val="dk1"/>
              </a:solidFill>
              <a:latin typeface="Calibri"/>
              <a:ea typeface="Calibri"/>
              <a:cs typeface="Calibri"/>
              <a:sym typeface="Calibri"/>
            </a:endParaRPr>
          </a:p>
        </p:txBody>
      </p:sp>
      <p:sp>
        <p:nvSpPr>
          <p:cNvPr id="2188" name="Google Shape;2188;p55"/>
          <p:cNvSpPr/>
          <p:nvPr/>
        </p:nvSpPr>
        <p:spPr>
          <a:xfrm>
            <a:off x="9160193" y="4543425"/>
            <a:ext cx="4254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Chạy 1 ca rồi thôi</a:t>
            </a:r>
            <a:endParaRPr b="0" i="0" sz="1800" u="none" cap="none" strike="noStrike">
              <a:solidFill>
                <a:schemeClr val="dk1"/>
              </a:solidFill>
              <a:latin typeface="Calibri"/>
              <a:ea typeface="Calibri"/>
              <a:cs typeface="Calibri"/>
              <a:sym typeface="Calibri"/>
            </a:endParaRPr>
          </a:p>
        </p:txBody>
      </p:sp>
      <p:sp>
        <p:nvSpPr>
          <p:cNvPr id="2189" name="Google Shape;2189;p55"/>
          <p:cNvSpPr/>
          <p:nvPr/>
        </p:nvSpPr>
        <p:spPr>
          <a:xfrm>
            <a:off x="13430250" y="4095750"/>
            <a:ext cx="4095900" cy="828600"/>
          </a:xfrm>
          <a:prstGeom prst="roundRect">
            <a:avLst>
              <a:gd fmla="val 11494"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55"/>
          <p:cNvSpPr/>
          <p:nvPr/>
        </p:nvSpPr>
        <p:spPr>
          <a:xfrm>
            <a:off x="13351193" y="4210050"/>
            <a:ext cx="4254000" cy="3714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121619"/>
              </a:buClr>
              <a:buSzPts val="2100"/>
              <a:buFont typeface="Plus Jakarta Sans"/>
              <a:buNone/>
            </a:pPr>
            <a:r>
              <a:rPr b="1" i="0" lang="en-US" sz="2100" u="none" cap="none" strike="noStrike">
                <a:solidFill>
                  <a:srgbClr val="121619"/>
                </a:solidFill>
                <a:latin typeface="Plus Jakarta Sans"/>
                <a:ea typeface="Plus Jakarta Sans"/>
                <a:cs typeface="Plus Jakarta Sans"/>
                <a:sym typeface="Plus Jakarta Sans"/>
              </a:rPr>
              <a:t>[0,0]%</a:t>
            </a:r>
            <a:endParaRPr b="0" i="0" sz="2100" u="none" cap="none" strike="noStrike">
              <a:solidFill>
                <a:schemeClr val="dk1"/>
              </a:solidFill>
              <a:latin typeface="Calibri"/>
              <a:ea typeface="Calibri"/>
              <a:cs typeface="Calibri"/>
              <a:sym typeface="Calibri"/>
            </a:endParaRPr>
          </a:p>
        </p:txBody>
      </p:sp>
      <p:sp>
        <p:nvSpPr>
          <p:cNvPr id="2191" name="Google Shape;2191;p55"/>
          <p:cNvSpPr/>
          <p:nvPr/>
        </p:nvSpPr>
        <p:spPr>
          <a:xfrm>
            <a:off x="13351193" y="4543425"/>
            <a:ext cx="4254000" cy="304800"/>
          </a:xfrm>
          <a:prstGeom prst="rect">
            <a:avLst/>
          </a:prstGeom>
          <a:noFill/>
          <a:ln>
            <a:noFill/>
          </a:ln>
        </p:spPr>
        <p:txBody>
          <a:bodyPr anchorCtr="0" anchor="t" bIns="25400" lIns="25400" spcFirstLastPara="1" rIns="25400" wrap="square" tIns="25400">
            <a:noAutofit/>
          </a:bodyPr>
          <a:lstStyle/>
          <a:p>
            <a:pPr indent="0" lvl="0" marL="0" marR="0" rtl="0" algn="ctr">
              <a:spcBef>
                <a:spcPts val="0"/>
              </a:spcBef>
              <a:spcAft>
                <a:spcPts val="0"/>
              </a:spcAft>
              <a:buClr>
                <a:srgbClr val="757D86"/>
              </a:buClr>
              <a:buSzPts val="1800"/>
              <a:buFont typeface="Roboto"/>
              <a:buNone/>
            </a:pPr>
            <a:r>
              <a:rPr b="0" i="0" lang="en-US" sz="1800" u="none" cap="none" strike="noStrike">
                <a:solidFill>
                  <a:srgbClr val="757D86"/>
                </a:solidFill>
                <a:latin typeface="Roboto"/>
                <a:ea typeface="Roboto"/>
                <a:cs typeface="Roboto"/>
                <a:sym typeface="Roboto"/>
              </a:rPr>
              <a:t>Quay lại ≥2 ca</a:t>
            </a:r>
            <a:endParaRPr b="0" i="0" sz="1800" u="none" cap="none" strike="noStrike">
              <a:solidFill>
                <a:schemeClr val="dk1"/>
              </a:solidFill>
              <a:latin typeface="Calibri"/>
              <a:ea typeface="Calibri"/>
              <a:cs typeface="Calibri"/>
              <a:sym typeface="Calibri"/>
            </a:endParaRPr>
          </a:p>
        </p:txBody>
      </p:sp>
      <p:sp>
        <p:nvSpPr>
          <p:cNvPr id="2192" name="Google Shape;2192;p55"/>
          <p:cNvSpPr/>
          <p:nvPr/>
        </p:nvSpPr>
        <p:spPr>
          <a:xfrm>
            <a:off x="9288780" y="5019675"/>
            <a:ext cx="8313300" cy="9144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[Action 1]</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[Action 2]</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cần tìm hiểu thêm]</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7" name="Shape 2197"/>
        <p:cNvGrpSpPr/>
        <p:nvPr/>
      </p:nvGrpSpPr>
      <p:grpSpPr>
        <a:xfrm>
          <a:off x="0" y="0"/>
          <a:ext cx="0" cy="0"/>
          <a:chOff x="0" y="0"/>
          <a:chExt cx="0" cy="0"/>
        </a:xfrm>
      </p:grpSpPr>
      <p:sp>
        <p:nvSpPr>
          <p:cNvPr id="2198" name="Google Shape;2198;p56"/>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3300"/>
              <a:buFont typeface="Plus Jakarta Sans"/>
              <a:buNone/>
            </a:pPr>
            <a:r>
              <a:rPr b="1" i="0" lang="en-US" sz="3300" u="none" cap="none" strike="noStrike">
                <a:solidFill>
                  <a:srgbClr val="121619"/>
                </a:solidFill>
                <a:latin typeface="Plus Jakarta Sans"/>
                <a:ea typeface="Plus Jakarta Sans"/>
                <a:cs typeface="Plus Jakarta Sans"/>
                <a:sym typeface="Plus Jakarta Sans"/>
              </a:rPr>
              <a:t>[TÊN CHỦ ĐỀ] &amp; PARTNERSHIP</a:t>
            </a:r>
            <a:endParaRPr b="0" i="0" sz="3300" u="none" cap="none" strike="noStrike">
              <a:solidFill>
                <a:schemeClr val="dk1"/>
              </a:solidFill>
              <a:latin typeface="Calibri"/>
              <a:ea typeface="Calibri"/>
              <a:cs typeface="Calibri"/>
              <a:sym typeface="Calibri"/>
            </a:endParaRPr>
          </a:p>
        </p:txBody>
      </p:sp>
      <p:sp>
        <p:nvSpPr>
          <p:cNvPr id="2199" name="Google Shape;2199;p56"/>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Tổng hợp nhu cầu đối tác &amp; hoạt động hợp tác</a:t>
            </a:r>
            <a:endParaRPr b="0" i="0" sz="1950" u="none" cap="none" strike="noStrike">
              <a:solidFill>
                <a:schemeClr val="dk1"/>
              </a:solidFill>
              <a:latin typeface="Calibri"/>
              <a:ea typeface="Calibri"/>
              <a:cs typeface="Calibri"/>
              <a:sym typeface="Calibri"/>
            </a:endParaRPr>
          </a:p>
        </p:txBody>
      </p:sp>
      <p:sp>
        <p:nvSpPr>
          <p:cNvPr id="2200" name="Google Shape;2200;p56"/>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01" name="Google Shape;2201;p56"/>
          <p:cNvPicPr preferRelativeResize="0"/>
          <p:nvPr/>
        </p:nvPicPr>
        <p:blipFill rotWithShape="1">
          <a:blip r:embed="rId3">
            <a:alphaModFix/>
          </a:blip>
          <a:srcRect b="0" l="0" r="0" t="0"/>
          <a:stretch/>
        </p:blipFill>
        <p:spPr>
          <a:xfrm>
            <a:off x="952500" y="1590675"/>
            <a:ext cx="209550" cy="209550"/>
          </a:xfrm>
          <a:prstGeom prst="rect">
            <a:avLst/>
          </a:prstGeom>
          <a:noFill/>
          <a:ln>
            <a:noFill/>
          </a:ln>
        </p:spPr>
      </p:pic>
      <p:sp>
        <p:nvSpPr>
          <p:cNvPr id="2202" name="Google Shape;2202;p56"/>
          <p:cNvSpPr/>
          <p:nvPr/>
        </p:nvSpPr>
        <p:spPr>
          <a:xfrm>
            <a:off x="1221581" y="15240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2203" name="Google Shape;2203;p56"/>
          <p:cNvSpPr/>
          <p:nvPr/>
        </p:nvSpPr>
        <p:spPr>
          <a:xfrm>
            <a:off x="3146375" y="1533525"/>
            <a:ext cx="60333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chính về nhu cầu &amp; tiến độ hợp tác trong tuần.]</a:t>
            </a:r>
            <a:endParaRPr b="0" i="0" sz="1800" u="none" cap="none" strike="noStrike">
              <a:solidFill>
                <a:schemeClr val="dk1"/>
              </a:solidFill>
              <a:latin typeface="Calibri"/>
              <a:ea typeface="Calibri"/>
              <a:cs typeface="Calibri"/>
              <a:sym typeface="Calibri"/>
            </a:endParaRPr>
          </a:p>
        </p:txBody>
      </p:sp>
      <p:sp>
        <p:nvSpPr>
          <p:cNvPr id="2204" name="Google Shape;2204;p56"/>
          <p:cNvSpPr/>
          <p:nvPr/>
        </p:nvSpPr>
        <p:spPr>
          <a:xfrm>
            <a:off x="762000" y="2114550"/>
            <a:ext cx="8267700" cy="1457400"/>
          </a:xfrm>
          <a:prstGeom prst="roundRect">
            <a:avLst>
              <a:gd fmla="val 10458"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05" name="Google Shape;2205;p56"/>
          <p:cNvPicPr preferRelativeResize="0"/>
          <p:nvPr/>
        </p:nvPicPr>
        <p:blipFill rotWithShape="1">
          <a:blip r:embed="rId4">
            <a:alphaModFix/>
          </a:blip>
          <a:srcRect b="0" l="0" r="0" t="0"/>
          <a:stretch/>
        </p:blipFill>
        <p:spPr>
          <a:xfrm>
            <a:off x="971550" y="2381250"/>
            <a:ext cx="247650" cy="247650"/>
          </a:xfrm>
          <a:prstGeom prst="rect">
            <a:avLst/>
          </a:prstGeom>
          <a:noFill/>
          <a:ln>
            <a:noFill/>
          </a:ln>
        </p:spPr>
      </p:pic>
      <p:sp>
        <p:nvSpPr>
          <p:cNvPr id="2206" name="Google Shape;2206;p56"/>
          <p:cNvSpPr/>
          <p:nvPr/>
        </p:nvSpPr>
        <p:spPr>
          <a:xfrm>
            <a:off x="1301204" y="2324100"/>
            <a:ext cx="13494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[Chủ đề A]</a:t>
            </a:r>
            <a:endParaRPr b="0" i="0" sz="1950" u="none" cap="none" strike="noStrike">
              <a:solidFill>
                <a:schemeClr val="dk1"/>
              </a:solidFill>
              <a:latin typeface="Calibri"/>
              <a:ea typeface="Calibri"/>
              <a:cs typeface="Calibri"/>
              <a:sym typeface="Calibri"/>
            </a:endParaRPr>
          </a:p>
        </p:txBody>
      </p:sp>
      <p:sp>
        <p:nvSpPr>
          <p:cNvPr id="2207" name="Google Shape;2207;p56"/>
          <p:cNvSpPr/>
          <p:nvPr/>
        </p:nvSpPr>
        <p:spPr>
          <a:xfrm>
            <a:off x="971550" y="2733675"/>
            <a:ext cx="8633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1]</a:t>
            </a:r>
            <a:endParaRPr b="0" i="0" sz="1800" u="none" cap="none" strike="noStrike">
              <a:solidFill>
                <a:schemeClr val="dk1"/>
              </a:solidFill>
              <a:latin typeface="Calibri"/>
              <a:ea typeface="Calibri"/>
              <a:cs typeface="Calibri"/>
              <a:sym typeface="Calibri"/>
            </a:endParaRPr>
          </a:p>
        </p:txBody>
      </p:sp>
      <p:sp>
        <p:nvSpPr>
          <p:cNvPr id="2208" name="Google Shape;2208;p56"/>
          <p:cNvSpPr/>
          <p:nvPr/>
        </p:nvSpPr>
        <p:spPr>
          <a:xfrm>
            <a:off x="971550" y="3095625"/>
            <a:ext cx="8633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2]</a:t>
            </a:r>
            <a:endParaRPr b="0" i="0" sz="1800" u="none" cap="none" strike="noStrike">
              <a:solidFill>
                <a:schemeClr val="dk1"/>
              </a:solidFill>
              <a:latin typeface="Calibri"/>
              <a:ea typeface="Calibri"/>
              <a:cs typeface="Calibri"/>
              <a:sym typeface="Calibri"/>
            </a:endParaRPr>
          </a:p>
        </p:txBody>
      </p:sp>
      <p:sp>
        <p:nvSpPr>
          <p:cNvPr id="2209" name="Google Shape;2209;p56"/>
          <p:cNvSpPr/>
          <p:nvPr/>
        </p:nvSpPr>
        <p:spPr>
          <a:xfrm>
            <a:off x="9258300" y="2114550"/>
            <a:ext cx="8267700" cy="1457400"/>
          </a:xfrm>
          <a:prstGeom prst="roundRect">
            <a:avLst>
              <a:gd fmla="val 10458" name="adj"/>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10" name="Google Shape;2210;p56"/>
          <p:cNvPicPr preferRelativeResize="0"/>
          <p:nvPr/>
        </p:nvPicPr>
        <p:blipFill rotWithShape="1">
          <a:blip r:embed="rId5">
            <a:alphaModFix/>
          </a:blip>
          <a:srcRect b="0" l="0" r="0" t="0"/>
          <a:stretch/>
        </p:blipFill>
        <p:spPr>
          <a:xfrm>
            <a:off x="9467850" y="2381250"/>
            <a:ext cx="247650" cy="247650"/>
          </a:xfrm>
          <a:prstGeom prst="rect">
            <a:avLst/>
          </a:prstGeom>
          <a:noFill/>
          <a:ln>
            <a:noFill/>
          </a:ln>
        </p:spPr>
      </p:pic>
      <p:sp>
        <p:nvSpPr>
          <p:cNvPr id="2211" name="Google Shape;2211;p56"/>
          <p:cNvSpPr/>
          <p:nvPr/>
        </p:nvSpPr>
        <p:spPr>
          <a:xfrm>
            <a:off x="9797504" y="2324100"/>
            <a:ext cx="27261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950"/>
              <a:buFont typeface="Plus Jakarta Sans"/>
              <a:buNone/>
            </a:pPr>
            <a:r>
              <a:rPr b="1" i="0" lang="en-US" sz="1950" u="none" cap="none" strike="noStrike">
                <a:solidFill>
                  <a:srgbClr val="121619"/>
                </a:solidFill>
                <a:latin typeface="Plus Jakarta Sans"/>
                <a:ea typeface="Plus Jakarta Sans"/>
                <a:cs typeface="Plus Jakarta Sans"/>
                <a:sym typeface="Plus Jakarta Sans"/>
              </a:rPr>
              <a:t>Partnership Highlights</a:t>
            </a:r>
            <a:endParaRPr b="0" i="0" sz="1950" u="none" cap="none" strike="noStrike">
              <a:solidFill>
                <a:schemeClr val="dk1"/>
              </a:solidFill>
              <a:latin typeface="Calibri"/>
              <a:ea typeface="Calibri"/>
              <a:cs typeface="Calibri"/>
              <a:sym typeface="Calibri"/>
            </a:endParaRPr>
          </a:p>
        </p:txBody>
      </p:sp>
      <p:sp>
        <p:nvSpPr>
          <p:cNvPr id="2212" name="Google Shape;2212;p56"/>
          <p:cNvSpPr/>
          <p:nvPr/>
        </p:nvSpPr>
        <p:spPr>
          <a:xfrm>
            <a:off x="9467850" y="2733675"/>
            <a:ext cx="8633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[Hoạt động hợp tác 1]</a:t>
            </a:r>
            <a:endParaRPr b="0" i="0" sz="1800" u="none" cap="none" strike="noStrike">
              <a:solidFill>
                <a:schemeClr val="dk1"/>
              </a:solidFill>
              <a:latin typeface="Calibri"/>
              <a:ea typeface="Calibri"/>
              <a:cs typeface="Calibri"/>
              <a:sym typeface="Calibri"/>
            </a:endParaRPr>
          </a:p>
        </p:txBody>
      </p:sp>
      <p:sp>
        <p:nvSpPr>
          <p:cNvPr id="2213" name="Google Shape;2213;p56"/>
          <p:cNvSpPr/>
          <p:nvPr/>
        </p:nvSpPr>
        <p:spPr>
          <a:xfrm>
            <a:off x="9467850" y="3095625"/>
            <a:ext cx="8633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[Hoạt động hợp tác 2]</a:t>
            </a:r>
            <a:endParaRPr b="0" i="0" sz="1800" u="none" cap="none" strike="noStrike">
              <a:solidFill>
                <a:schemeClr val="dk1"/>
              </a:solidFill>
              <a:latin typeface="Calibri"/>
              <a:ea typeface="Calibri"/>
              <a:cs typeface="Calibri"/>
              <a:sym typeface="Calibri"/>
            </a:endParaRPr>
          </a:p>
        </p:txBody>
      </p:sp>
      <p:sp>
        <p:nvSpPr>
          <p:cNvPr id="2214" name="Google Shape;2214;p56"/>
          <p:cNvSpPr/>
          <p:nvPr/>
        </p:nvSpPr>
        <p:spPr>
          <a:xfrm>
            <a:off x="762000" y="3762375"/>
            <a:ext cx="16764000" cy="5145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56"/>
          <p:cNvSpPr/>
          <p:nvPr/>
        </p:nvSpPr>
        <p:spPr>
          <a:xfrm>
            <a:off x="914400" y="3876675"/>
            <a:ext cx="42906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HẠNG MỤC</a:t>
            </a:r>
            <a:endParaRPr b="0" i="0" sz="1800" u="none" cap="none" strike="noStrike">
              <a:solidFill>
                <a:schemeClr val="dk1"/>
              </a:solidFill>
              <a:latin typeface="Calibri"/>
              <a:ea typeface="Calibri"/>
              <a:cs typeface="Calibri"/>
              <a:sym typeface="Calibri"/>
            </a:endParaRPr>
          </a:p>
        </p:txBody>
      </p:sp>
      <p:sp>
        <p:nvSpPr>
          <p:cNvPr id="2216" name="Google Shape;2216;p56"/>
          <p:cNvSpPr/>
          <p:nvPr/>
        </p:nvSpPr>
        <p:spPr>
          <a:xfrm>
            <a:off x="5375821" y="3876675"/>
            <a:ext cx="58461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HÀNH ĐỘNG</a:t>
            </a:r>
            <a:endParaRPr b="0" i="0" sz="1800" u="none" cap="none" strike="noStrike">
              <a:solidFill>
                <a:schemeClr val="dk1"/>
              </a:solidFill>
              <a:latin typeface="Calibri"/>
              <a:ea typeface="Calibri"/>
              <a:cs typeface="Calibri"/>
              <a:sym typeface="Calibri"/>
            </a:endParaRPr>
          </a:p>
        </p:txBody>
      </p:sp>
      <p:sp>
        <p:nvSpPr>
          <p:cNvPr id="2217" name="Google Shape;2217;p56"/>
          <p:cNvSpPr/>
          <p:nvPr/>
        </p:nvSpPr>
        <p:spPr>
          <a:xfrm>
            <a:off x="11289925" y="3876675"/>
            <a:ext cx="36624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DEADLINE</a:t>
            </a:r>
            <a:endParaRPr b="0" i="0" sz="1800" u="none" cap="none" strike="noStrike">
              <a:solidFill>
                <a:schemeClr val="dk1"/>
              </a:solidFill>
              <a:latin typeface="Calibri"/>
              <a:ea typeface="Calibri"/>
              <a:cs typeface="Calibri"/>
              <a:sym typeface="Calibri"/>
            </a:endParaRPr>
          </a:p>
        </p:txBody>
      </p:sp>
      <p:sp>
        <p:nvSpPr>
          <p:cNvPr id="2218" name="Google Shape;2218;p56"/>
          <p:cNvSpPr/>
          <p:nvPr/>
        </p:nvSpPr>
        <p:spPr>
          <a:xfrm>
            <a:off x="15161121" y="3876675"/>
            <a:ext cx="22506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PIC</a:t>
            </a:r>
            <a:endParaRPr b="0" i="0" sz="1800" u="none" cap="none" strike="noStrike">
              <a:solidFill>
                <a:schemeClr val="dk1"/>
              </a:solidFill>
              <a:latin typeface="Calibri"/>
              <a:ea typeface="Calibri"/>
              <a:cs typeface="Calibri"/>
              <a:sym typeface="Calibri"/>
            </a:endParaRPr>
          </a:p>
        </p:txBody>
      </p:sp>
      <p:sp>
        <p:nvSpPr>
          <p:cNvPr id="2219" name="Google Shape;2219;p56"/>
          <p:cNvSpPr/>
          <p:nvPr/>
        </p:nvSpPr>
        <p:spPr>
          <a:xfrm>
            <a:off x="762000" y="4767263"/>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56"/>
          <p:cNvSpPr/>
          <p:nvPr/>
        </p:nvSpPr>
        <p:spPr>
          <a:xfrm>
            <a:off x="914400" y="4391025"/>
            <a:ext cx="42906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[Hạng mục 1]</a:t>
            </a:r>
            <a:endParaRPr b="0" i="0" sz="1800" u="none" cap="none" strike="noStrike">
              <a:solidFill>
                <a:schemeClr val="dk1"/>
              </a:solidFill>
              <a:latin typeface="Calibri"/>
              <a:ea typeface="Calibri"/>
              <a:cs typeface="Calibri"/>
              <a:sym typeface="Calibri"/>
            </a:endParaRPr>
          </a:p>
        </p:txBody>
      </p:sp>
      <p:sp>
        <p:nvSpPr>
          <p:cNvPr id="2221" name="Google Shape;2221;p56"/>
          <p:cNvSpPr/>
          <p:nvPr/>
        </p:nvSpPr>
        <p:spPr>
          <a:xfrm>
            <a:off x="5375821" y="4391025"/>
            <a:ext cx="58461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[Hành động cụ thể]</a:t>
            </a:r>
            <a:endParaRPr b="0" i="0" sz="1800" u="none" cap="none" strike="noStrike">
              <a:solidFill>
                <a:schemeClr val="dk1"/>
              </a:solidFill>
              <a:latin typeface="Calibri"/>
              <a:ea typeface="Calibri"/>
              <a:cs typeface="Calibri"/>
              <a:sym typeface="Calibri"/>
            </a:endParaRPr>
          </a:p>
        </p:txBody>
      </p:sp>
      <p:sp>
        <p:nvSpPr>
          <p:cNvPr id="2222" name="Google Shape;2222;p56"/>
          <p:cNvSpPr/>
          <p:nvPr/>
        </p:nvSpPr>
        <p:spPr>
          <a:xfrm>
            <a:off x="11147050" y="4286250"/>
            <a:ext cx="39480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[dd/mm]</a:t>
            </a:r>
            <a:endParaRPr b="0" i="0" sz="1800" u="none" cap="none" strike="noStrike">
              <a:solidFill>
                <a:schemeClr val="dk1"/>
              </a:solidFill>
              <a:latin typeface="Calibri"/>
              <a:ea typeface="Calibri"/>
              <a:cs typeface="Calibri"/>
              <a:sym typeface="Calibri"/>
            </a:endParaRPr>
          </a:p>
        </p:txBody>
      </p:sp>
      <p:sp>
        <p:nvSpPr>
          <p:cNvPr id="2223" name="Google Shape;2223;p56"/>
          <p:cNvSpPr/>
          <p:nvPr/>
        </p:nvSpPr>
        <p:spPr>
          <a:xfrm>
            <a:off x="15018246" y="4286250"/>
            <a:ext cx="25362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[Tên PIC]</a:t>
            </a:r>
            <a:endParaRPr b="0" i="0" sz="1800" u="none" cap="none" strike="noStrike">
              <a:solidFill>
                <a:schemeClr val="dk1"/>
              </a:solidFill>
              <a:latin typeface="Calibri"/>
              <a:ea typeface="Calibri"/>
              <a:cs typeface="Calibri"/>
              <a:sym typeface="Calibri"/>
            </a:endParaRPr>
          </a:p>
        </p:txBody>
      </p:sp>
      <p:sp>
        <p:nvSpPr>
          <p:cNvPr id="2224" name="Google Shape;2224;p56"/>
          <p:cNvSpPr/>
          <p:nvPr/>
        </p:nvSpPr>
        <p:spPr>
          <a:xfrm>
            <a:off x="762000" y="4776788"/>
            <a:ext cx="16764000" cy="5001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56"/>
          <p:cNvSpPr/>
          <p:nvPr/>
        </p:nvSpPr>
        <p:spPr>
          <a:xfrm>
            <a:off x="914400" y="4891088"/>
            <a:ext cx="42906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[Hạng mục 2]</a:t>
            </a:r>
            <a:endParaRPr b="0" i="0" sz="1800" u="none" cap="none" strike="noStrike">
              <a:solidFill>
                <a:schemeClr val="dk1"/>
              </a:solidFill>
              <a:latin typeface="Calibri"/>
              <a:ea typeface="Calibri"/>
              <a:cs typeface="Calibri"/>
              <a:sym typeface="Calibri"/>
            </a:endParaRPr>
          </a:p>
        </p:txBody>
      </p:sp>
      <p:sp>
        <p:nvSpPr>
          <p:cNvPr id="2226" name="Google Shape;2226;p56"/>
          <p:cNvSpPr/>
          <p:nvPr/>
        </p:nvSpPr>
        <p:spPr>
          <a:xfrm>
            <a:off x="5375821" y="4891088"/>
            <a:ext cx="58461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[Hành động cụ thể]</a:t>
            </a:r>
            <a:endParaRPr b="0" i="0" sz="1800" u="none" cap="none" strike="noStrike">
              <a:solidFill>
                <a:schemeClr val="dk1"/>
              </a:solidFill>
              <a:latin typeface="Calibri"/>
              <a:ea typeface="Calibri"/>
              <a:cs typeface="Calibri"/>
              <a:sym typeface="Calibri"/>
            </a:endParaRPr>
          </a:p>
        </p:txBody>
      </p:sp>
      <p:sp>
        <p:nvSpPr>
          <p:cNvPr id="2227" name="Google Shape;2227;p56"/>
          <p:cNvSpPr/>
          <p:nvPr/>
        </p:nvSpPr>
        <p:spPr>
          <a:xfrm>
            <a:off x="11147050" y="4786313"/>
            <a:ext cx="39480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[dd/mm]</a:t>
            </a:r>
            <a:endParaRPr b="0" i="0" sz="1800" u="none" cap="none" strike="noStrike">
              <a:solidFill>
                <a:schemeClr val="dk1"/>
              </a:solidFill>
              <a:latin typeface="Calibri"/>
              <a:ea typeface="Calibri"/>
              <a:cs typeface="Calibri"/>
              <a:sym typeface="Calibri"/>
            </a:endParaRPr>
          </a:p>
        </p:txBody>
      </p:sp>
      <p:sp>
        <p:nvSpPr>
          <p:cNvPr id="2228" name="Google Shape;2228;p56"/>
          <p:cNvSpPr/>
          <p:nvPr/>
        </p:nvSpPr>
        <p:spPr>
          <a:xfrm>
            <a:off x="15018246" y="4786313"/>
            <a:ext cx="25362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[Tên PIC]</a:t>
            </a:r>
            <a:endParaRPr b="0" i="0" sz="1800" u="none" cap="none" strike="noStrike">
              <a:solidFill>
                <a:schemeClr val="dk1"/>
              </a:solidFill>
              <a:latin typeface="Calibri"/>
              <a:ea typeface="Calibri"/>
              <a:cs typeface="Calibri"/>
              <a:sym typeface="Calibri"/>
            </a:endParaRPr>
          </a:p>
        </p:txBody>
      </p:sp>
      <p:sp>
        <p:nvSpPr>
          <p:cNvPr id="2229" name="Google Shape;2229;p56"/>
          <p:cNvSpPr/>
          <p:nvPr/>
        </p:nvSpPr>
        <p:spPr>
          <a:xfrm>
            <a:off x="762000" y="5467350"/>
            <a:ext cx="16764000" cy="533400"/>
          </a:xfrm>
          <a:prstGeom prst="roundRect">
            <a:avLst>
              <a:gd fmla="val 21429" name="adj"/>
            </a:avLst>
          </a:prstGeom>
          <a:solidFill>
            <a:srgbClr val="FF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56"/>
          <p:cNvSpPr/>
          <p:nvPr/>
        </p:nvSpPr>
        <p:spPr>
          <a:xfrm>
            <a:off x="933450" y="5600700"/>
            <a:ext cx="169239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Lowlights: </a:t>
            </a:r>
            <a:r>
              <a:rPr b="0" i="0" lang="en-US" sz="1800" u="none" cap="none" strike="noStrike">
                <a:solidFill>
                  <a:srgbClr val="121619"/>
                </a:solidFill>
                <a:highlight>
                  <a:srgbClr val="FFF1F1"/>
                </a:highlight>
                <a:latin typeface="Roboto"/>
                <a:ea typeface="Roboto"/>
                <a:cs typeface="Roboto"/>
                <a:sym typeface="Roboto"/>
              </a:rPr>
              <a:t>[Điểm chậm tiến độ cần lưu ý.]</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5" name="Shape 2235"/>
        <p:cNvGrpSpPr/>
        <p:nvPr/>
      </p:nvGrpSpPr>
      <p:grpSpPr>
        <a:xfrm>
          <a:off x="0" y="0"/>
          <a:ext cx="0" cy="0"/>
          <a:chOff x="0" y="0"/>
          <a:chExt cx="0" cy="0"/>
        </a:xfrm>
      </p:grpSpPr>
      <p:sp>
        <p:nvSpPr>
          <p:cNvPr id="2236" name="Google Shape;2236;p57"/>
          <p:cNvSpPr/>
          <p:nvPr/>
        </p:nvSpPr>
        <p:spPr>
          <a:xfrm>
            <a:off x="762000" y="495300"/>
            <a:ext cx="18440400" cy="571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12749"/>
              </a:buClr>
              <a:buSzPts val="3300"/>
              <a:buFont typeface="Plus Jakarta Sans"/>
              <a:buNone/>
            </a:pPr>
            <a:r>
              <a:rPr b="1" i="0" lang="en-US" sz="3300" u="none" cap="none" strike="noStrike">
                <a:solidFill>
                  <a:srgbClr val="012749"/>
                </a:solidFill>
                <a:latin typeface="Plus Jakarta Sans"/>
                <a:ea typeface="Plus Jakarta Sans"/>
                <a:cs typeface="Plus Jakarta Sans"/>
                <a:sym typeface="Plus Jakarta Sans"/>
              </a:rPr>
              <a:t>COMMUNICATIONS: </a:t>
            </a:r>
            <a:r>
              <a:rPr b="1" i="0" lang="en-US" sz="3300" u="none" cap="none" strike="noStrike">
                <a:solidFill>
                  <a:srgbClr val="FF7F32"/>
                </a:solidFill>
                <a:latin typeface="Plus Jakarta Sans"/>
                <a:ea typeface="Plus Jakarta Sans"/>
                <a:cs typeface="Plus Jakarta Sans"/>
                <a:sym typeface="Plus Jakarta Sans"/>
              </a:rPr>
              <a:t>HIGHLIGHTS &amp; LOWLIGHTS</a:t>
            </a:r>
            <a:endParaRPr b="0" i="0" sz="3300" u="none" cap="none" strike="noStrike">
              <a:solidFill>
                <a:schemeClr val="dk1"/>
              </a:solidFill>
              <a:latin typeface="Calibri"/>
              <a:ea typeface="Calibri"/>
              <a:cs typeface="Calibri"/>
              <a:sym typeface="Calibri"/>
            </a:endParaRPr>
          </a:p>
        </p:txBody>
      </p:sp>
      <p:sp>
        <p:nvSpPr>
          <p:cNvPr id="2237" name="Google Shape;2237;p57"/>
          <p:cNvSpPr/>
          <p:nvPr/>
        </p:nvSpPr>
        <p:spPr>
          <a:xfrm>
            <a:off x="762000" y="1028700"/>
            <a:ext cx="18440400" cy="324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4C5158"/>
              </a:buClr>
              <a:buSzPts val="1950"/>
              <a:buFont typeface="Roboto"/>
              <a:buNone/>
            </a:pPr>
            <a:r>
              <a:rPr b="0" i="0" lang="en-US" sz="1950" u="none" cap="none" strike="noStrike">
                <a:solidFill>
                  <a:srgbClr val="4C5158"/>
                </a:solidFill>
                <a:latin typeface="Roboto"/>
                <a:ea typeface="Roboto"/>
                <a:cs typeface="Roboto"/>
                <a:sym typeface="Roboto"/>
              </a:rPr>
              <a:t>Trọng tâm tuần — Kết quả thực thi &amp; Kế hoạch hành động</a:t>
            </a:r>
            <a:endParaRPr b="0" i="0" sz="1950" u="none" cap="none" strike="noStrike">
              <a:solidFill>
                <a:schemeClr val="dk1"/>
              </a:solidFill>
              <a:latin typeface="Calibri"/>
              <a:ea typeface="Calibri"/>
              <a:cs typeface="Calibri"/>
              <a:sym typeface="Calibri"/>
            </a:endParaRPr>
          </a:p>
        </p:txBody>
      </p:sp>
      <p:sp>
        <p:nvSpPr>
          <p:cNvPr id="2238" name="Google Shape;2238;p57"/>
          <p:cNvSpPr/>
          <p:nvPr/>
        </p:nvSpPr>
        <p:spPr>
          <a:xfrm>
            <a:off x="762000" y="1409700"/>
            <a:ext cx="16764000" cy="514500"/>
          </a:xfrm>
          <a:prstGeom prst="roundRect">
            <a:avLst>
              <a:gd fmla="val 18519" name="adj"/>
            </a:avLst>
          </a:prstGeom>
          <a:solidFill>
            <a:srgbClr val="FFF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39" name="Google Shape;2239;p57"/>
          <p:cNvPicPr preferRelativeResize="0"/>
          <p:nvPr/>
        </p:nvPicPr>
        <p:blipFill rotWithShape="1">
          <a:blip r:embed="rId3">
            <a:alphaModFix/>
          </a:blip>
          <a:srcRect b="0" l="0" r="0" t="0"/>
          <a:stretch/>
        </p:blipFill>
        <p:spPr>
          <a:xfrm>
            <a:off x="952500" y="1590675"/>
            <a:ext cx="209550" cy="209550"/>
          </a:xfrm>
          <a:prstGeom prst="rect">
            <a:avLst/>
          </a:prstGeom>
          <a:noFill/>
          <a:ln>
            <a:noFill/>
          </a:ln>
        </p:spPr>
      </p:pic>
      <p:sp>
        <p:nvSpPr>
          <p:cNvPr id="2240" name="Google Shape;2240;p57"/>
          <p:cNvSpPr/>
          <p:nvPr/>
        </p:nvSpPr>
        <p:spPr>
          <a:xfrm>
            <a:off x="1221581" y="1524000"/>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5F00"/>
              </a:buClr>
              <a:buSzPts val="1800"/>
              <a:buFont typeface="Plus Jakarta Sans"/>
              <a:buNone/>
            </a:pPr>
            <a:r>
              <a:rPr b="1" i="0" lang="en-US" sz="1800" u="none" cap="none" strike="noStrike">
                <a:solidFill>
                  <a:srgbClr val="F55F00"/>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2241" name="Google Shape;2241;p57"/>
          <p:cNvSpPr/>
          <p:nvPr/>
        </p:nvSpPr>
        <p:spPr>
          <a:xfrm>
            <a:off x="3146375" y="1533525"/>
            <a:ext cx="73746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[Nhận định tổng quan về tiến độ truyền thông &amp; tuyển dụng trong tuần.]</a:t>
            </a:r>
            <a:endParaRPr b="0" i="0" sz="1800" u="none" cap="none" strike="noStrike">
              <a:solidFill>
                <a:schemeClr val="dk1"/>
              </a:solidFill>
              <a:latin typeface="Calibri"/>
              <a:ea typeface="Calibri"/>
              <a:cs typeface="Calibri"/>
              <a:sym typeface="Calibri"/>
            </a:endParaRPr>
          </a:p>
        </p:txBody>
      </p:sp>
      <p:sp>
        <p:nvSpPr>
          <p:cNvPr id="2242" name="Google Shape;2242;p57"/>
          <p:cNvSpPr/>
          <p:nvPr/>
        </p:nvSpPr>
        <p:spPr>
          <a:xfrm>
            <a:off x="704850" y="2133600"/>
            <a:ext cx="8286900" cy="1781100"/>
          </a:xfrm>
          <a:prstGeom prst="roundRect">
            <a:avLst>
              <a:gd fmla="val 9626" name="adj"/>
            </a:avLst>
          </a:prstGeom>
          <a:solidFill>
            <a:srgbClr val="249F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57"/>
          <p:cNvSpPr/>
          <p:nvPr/>
        </p:nvSpPr>
        <p:spPr>
          <a:xfrm>
            <a:off x="762000" y="2133600"/>
            <a:ext cx="8286900" cy="1781100"/>
          </a:xfrm>
          <a:prstGeom prst="roundRect">
            <a:avLst>
              <a:gd fmla="val 641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44" name="Google Shape;2244;p57"/>
          <p:cNvPicPr preferRelativeResize="0"/>
          <p:nvPr/>
        </p:nvPicPr>
        <p:blipFill rotWithShape="1">
          <a:blip r:embed="rId4">
            <a:alphaModFix/>
          </a:blip>
          <a:srcRect b="0" l="0" r="0" t="0"/>
          <a:stretch/>
        </p:blipFill>
        <p:spPr>
          <a:xfrm>
            <a:off x="990600" y="2419350"/>
            <a:ext cx="247650" cy="247650"/>
          </a:xfrm>
          <a:prstGeom prst="rect">
            <a:avLst/>
          </a:prstGeom>
          <a:noFill/>
          <a:ln>
            <a:noFill/>
          </a:ln>
        </p:spPr>
      </p:pic>
      <p:sp>
        <p:nvSpPr>
          <p:cNvPr id="2245" name="Google Shape;2245;p57"/>
          <p:cNvSpPr/>
          <p:nvPr/>
        </p:nvSpPr>
        <p:spPr>
          <a:xfrm>
            <a:off x="1301204" y="2362200"/>
            <a:ext cx="15885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7C3F"/>
              </a:buClr>
              <a:buSzPts val="1950"/>
              <a:buFont typeface="Plus Jakarta Sans"/>
              <a:buNone/>
            </a:pPr>
            <a:r>
              <a:rPr b="1" i="0" lang="en-US" sz="1950" u="none" cap="none" strike="noStrike">
                <a:solidFill>
                  <a:srgbClr val="167C3F"/>
                </a:solidFill>
                <a:latin typeface="Plus Jakarta Sans"/>
                <a:ea typeface="Plus Jakarta Sans"/>
                <a:cs typeface="Plus Jakarta Sans"/>
                <a:sym typeface="Plus Jakarta Sans"/>
              </a:rPr>
              <a:t>HIGHLIGHTS</a:t>
            </a:r>
            <a:endParaRPr b="0" i="0" sz="1950" u="none" cap="none" strike="noStrike">
              <a:solidFill>
                <a:schemeClr val="dk1"/>
              </a:solidFill>
              <a:latin typeface="Calibri"/>
              <a:ea typeface="Calibri"/>
              <a:cs typeface="Calibri"/>
              <a:sym typeface="Calibri"/>
            </a:endParaRPr>
          </a:p>
        </p:txBody>
      </p:sp>
      <p:sp>
        <p:nvSpPr>
          <p:cNvPr id="2246" name="Google Shape;2246;p57"/>
          <p:cNvSpPr/>
          <p:nvPr/>
        </p:nvSpPr>
        <p:spPr>
          <a:xfrm>
            <a:off x="1040130" y="2771775"/>
            <a:ext cx="7856100" cy="9525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nổi bật 1]</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nổi bật 2]</a:t>
            </a:r>
            <a:endParaRPr b="0" i="0" sz="1800" u="none" cap="none" strike="noStrike">
              <a:solidFill>
                <a:schemeClr val="dk1"/>
              </a:solidFill>
              <a:latin typeface="Calibri"/>
              <a:ea typeface="Calibri"/>
              <a:cs typeface="Calibri"/>
              <a:sym typeface="Calibri"/>
            </a:endParaRPr>
          </a:p>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nổi bật 3]</a:t>
            </a:r>
            <a:endParaRPr b="0" i="0" sz="1800" u="none" cap="none" strike="noStrike">
              <a:solidFill>
                <a:schemeClr val="dk1"/>
              </a:solidFill>
              <a:latin typeface="Calibri"/>
              <a:ea typeface="Calibri"/>
              <a:cs typeface="Calibri"/>
              <a:sym typeface="Calibri"/>
            </a:endParaRPr>
          </a:p>
        </p:txBody>
      </p:sp>
      <p:sp>
        <p:nvSpPr>
          <p:cNvPr id="2247" name="Google Shape;2247;p57"/>
          <p:cNvSpPr/>
          <p:nvPr/>
        </p:nvSpPr>
        <p:spPr>
          <a:xfrm>
            <a:off x="9182100" y="2133600"/>
            <a:ext cx="8286900" cy="1781100"/>
          </a:xfrm>
          <a:prstGeom prst="roundRect">
            <a:avLst>
              <a:gd fmla="val 9626" name="adj"/>
            </a:avLst>
          </a:prstGeom>
          <a:solidFill>
            <a:srgbClr val="DA1E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57"/>
          <p:cNvSpPr/>
          <p:nvPr/>
        </p:nvSpPr>
        <p:spPr>
          <a:xfrm>
            <a:off x="9239250" y="2133600"/>
            <a:ext cx="8286900" cy="1781100"/>
          </a:xfrm>
          <a:prstGeom prst="roundRect">
            <a:avLst>
              <a:gd fmla="val 6417" name="adj"/>
            </a:avLst>
          </a:prstGeom>
          <a:solidFill>
            <a:srgbClr val="FFFFFF"/>
          </a:solidFill>
          <a:ln>
            <a:noFill/>
          </a:ln>
          <a:effectLst>
            <a:outerShdw blurRad="76200" rotWithShape="0" algn="bl" dir="54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49" name="Google Shape;2249;p57"/>
          <p:cNvPicPr preferRelativeResize="0"/>
          <p:nvPr/>
        </p:nvPicPr>
        <p:blipFill rotWithShape="1">
          <a:blip r:embed="rId5">
            <a:alphaModFix/>
          </a:blip>
          <a:srcRect b="0" l="0" r="0" t="0"/>
          <a:stretch/>
        </p:blipFill>
        <p:spPr>
          <a:xfrm>
            <a:off x="9467850" y="2419350"/>
            <a:ext cx="247650" cy="247650"/>
          </a:xfrm>
          <a:prstGeom prst="rect">
            <a:avLst/>
          </a:prstGeom>
          <a:noFill/>
          <a:ln>
            <a:noFill/>
          </a:ln>
        </p:spPr>
      </p:pic>
      <p:sp>
        <p:nvSpPr>
          <p:cNvPr id="2250" name="Google Shape;2250;p57"/>
          <p:cNvSpPr/>
          <p:nvPr/>
        </p:nvSpPr>
        <p:spPr>
          <a:xfrm>
            <a:off x="9778454" y="2362200"/>
            <a:ext cx="15507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A1E28"/>
              </a:buClr>
              <a:buSzPts val="1950"/>
              <a:buFont typeface="Plus Jakarta Sans"/>
              <a:buNone/>
            </a:pPr>
            <a:r>
              <a:rPr b="1" i="0" lang="en-US" sz="1950" u="none" cap="none" strike="noStrike">
                <a:solidFill>
                  <a:srgbClr val="DA1E28"/>
                </a:solidFill>
                <a:latin typeface="Plus Jakarta Sans"/>
                <a:ea typeface="Plus Jakarta Sans"/>
                <a:cs typeface="Plus Jakarta Sans"/>
                <a:sym typeface="Plus Jakarta Sans"/>
              </a:rPr>
              <a:t>LOWLIGHTS</a:t>
            </a:r>
            <a:endParaRPr b="0" i="0" sz="1950" u="none" cap="none" strike="noStrike">
              <a:solidFill>
                <a:schemeClr val="dk1"/>
              </a:solidFill>
              <a:latin typeface="Calibri"/>
              <a:ea typeface="Calibri"/>
              <a:cs typeface="Calibri"/>
              <a:sym typeface="Calibri"/>
            </a:endParaRPr>
          </a:p>
        </p:txBody>
      </p:sp>
      <p:sp>
        <p:nvSpPr>
          <p:cNvPr id="2251" name="Google Shape;2251;p57"/>
          <p:cNvSpPr/>
          <p:nvPr/>
        </p:nvSpPr>
        <p:spPr>
          <a:xfrm>
            <a:off x="9517380" y="2771775"/>
            <a:ext cx="7856100" cy="304800"/>
          </a:xfrm>
          <a:prstGeom prst="rect">
            <a:avLst/>
          </a:prstGeom>
          <a:noFill/>
          <a:ln>
            <a:noFill/>
          </a:ln>
        </p:spPr>
        <p:txBody>
          <a:bodyPr anchorCtr="0" anchor="t" bIns="25400" lIns="25400" spcFirstLastPara="1" rIns="25400" wrap="square" tIns="25400">
            <a:noAutofit/>
          </a:bodyPr>
          <a:lstStyle/>
          <a:p>
            <a:pPr indent="-160020" lvl="0" marL="160020" marR="0" rtl="0" algn="l">
              <a:spcBef>
                <a:spcPts val="0"/>
              </a:spcBef>
              <a:spcAft>
                <a:spcPts val="0"/>
              </a:spcAft>
              <a:buClr>
                <a:srgbClr val="121619"/>
              </a:buClr>
              <a:buSzPts val="1800"/>
              <a:buFont typeface="Roboto"/>
              <a:buChar char="•"/>
            </a:pPr>
            <a:r>
              <a:rPr b="0" i="0" lang="en-US" sz="1800" u="none" cap="none" strike="noStrike">
                <a:solidFill>
                  <a:srgbClr val="121619"/>
                </a:solidFill>
                <a:latin typeface="Roboto"/>
                <a:ea typeface="Roboto"/>
                <a:cs typeface="Roboto"/>
                <a:sym typeface="Roboto"/>
              </a:rPr>
              <a:t>[Điểm cần cải thiện 1]</a:t>
            </a:r>
            <a:endParaRPr b="0" i="0" sz="1800" u="none" cap="none" strike="noStrike">
              <a:solidFill>
                <a:schemeClr val="dk1"/>
              </a:solidFill>
              <a:latin typeface="Calibri"/>
              <a:ea typeface="Calibri"/>
              <a:cs typeface="Calibri"/>
              <a:sym typeface="Calibri"/>
            </a:endParaRPr>
          </a:p>
        </p:txBody>
      </p:sp>
      <p:sp>
        <p:nvSpPr>
          <p:cNvPr id="2252" name="Google Shape;2252;p57"/>
          <p:cNvSpPr/>
          <p:nvPr/>
        </p:nvSpPr>
        <p:spPr>
          <a:xfrm>
            <a:off x="762000" y="4124325"/>
            <a:ext cx="16764000" cy="514500"/>
          </a:xfrm>
          <a:prstGeom prst="rect">
            <a:avLst/>
          </a:prstGeom>
          <a:solidFill>
            <a:srgbClr val="0127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57"/>
          <p:cNvSpPr/>
          <p:nvPr/>
        </p:nvSpPr>
        <p:spPr>
          <a:xfrm>
            <a:off x="914400" y="4238625"/>
            <a:ext cx="27198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HẠNG MỤC</a:t>
            </a:r>
            <a:endParaRPr b="0" i="0" sz="1800" u="none" cap="none" strike="noStrike">
              <a:solidFill>
                <a:schemeClr val="dk1"/>
              </a:solidFill>
              <a:latin typeface="Calibri"/>
              <a:ea typeface="Calibri"/>
              <a:cs typeface="Calibri"/>
              <a:sym typeface="Calibri"/>
            </a:endParaRPr>
          </a:p>
        </p:txBody>
      </p:sp>
      <p:sp>
        <p:nvSpPr>
          <p:cNvPr id="2254" name="Google Shape;2254;p57"/>
          <p:cNvSpPr/>
          <p:nvPr/>
        </p:nvSpPr>
        <p:spPr>
          <a:xfrm>
            <a:off x="3850779" y="4238625"/>
            <a:ext cx="55974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NGUYÊN NHÂN/BỐI CẢNH</a:t>
            </a:r>
            <a:endParaRPr b="0" i="0" sz="1800" u="none" cap="none" strike="noStrike">
              <a:solidFill>
                <a:schemeClr val="dk1"/>
              </a:solidFill>
              <a:latin typeface="Calibri"/>
              <a:ea typeface="Calibri"/>
              <a:cs typeface="Calibri"/>
              <a:sym typeface="Calibri"/>
            </a:endParaRPr>
          </a:p>
        </p:txBody>
      </p:sp>
      <p:sp>
        <p:nvSpPr>
          <p:cNvPr id="2255" name="Google Shape;2255;p57"/>
          <p:cNvSpPr/>
          <p:nvPr/>
        </p:nvSpPr>
        <p:spPr>
          <a:xfrm>
            <a:off x="9581108" y="4238625"/>
            <a:ext cx="3743400" cy="3240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HÀNH ĐỘNG</a:t>
            </a:r>
            <a:endParaRPr b="0" i="0" sz="1800" u="none" cap="none" strike="noStrike">
              <a:solidFill>
                <a:schemeClr val="dk1"/>
              </a:solidFill>
              <a:latin typeface="Calibri"/>
              <a:ea typeface="Calibri"/>
              <a:cs typeface="Calibri"/>
              <a:sym typeface="Calibri"/>
            </a:endParaRPr>
          </a:p>
        </p:txBody>
      </p:sp>
      <p:sp>
        <p:nvSpPr>
          <p:cNvPr id="2256" name="Google Shape;2256;p57"/>
          <p:cNvSpPr/>
          <p:nvPr/>
        </p:nvSpPr>
        <p:spPr>
          <a:xfrm>
            <a:off x="13473410" y="4238625"/>
            <a:ext cx="23061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DEADLINE</a:t>
            </a:r>
            <a:endParaRPr b="0" i="0" sz="1800" u="none" cap="none" strike="noStrike">
              <a:solidFill>
                <a:schemeClr val="dk1"/>
              </a:solidFill>
              <a:latin typeface="Calibri"/>
              <a:ea typeface="Calibri"/>
              <a:cs typeface="Calibri"/>
              <a:sym typeface="Calibri"/>
            </a:endParaRPr>
          </a:p>
        </p:txBody>
      </p:sp>
      <p:sp>
        <p:nvSpPr>
          <p:cNvPr id="2257" name="Google Shape;2257;p57"/>
          <p:cNvSpPr/>
          <p:nvPr/>
        </p:nvSpPr>
        <p:spPr>
          <a:xfrm>
            <a:off x="16008251" y="4238625"/>
            <a:ext cx="1403400" cy="324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PIC</a:t>
            </a:r>
            <a:endParaRPr b="0" i="0" sz="1800" u="none" cap="none" strike="noStrike">
              <a:solidFill>
                <a:schemeClr val="dk1"/>
              </a:solidFill>
              <a:latin typeface="Calibri"/>
              <a:ea typeface="Calibri"/>
              <a:cs typeface="Calibri"/>
              <a:sym typeface="Calibri"/>
            </a:endParaRPr>
          </a:p>
        </p:txBody>
      </p:sp>
      <p:sp>
        <p:nvSpPr>
          <p:cNvPr id="2258" name="Google Shape;2258;p57"/>
          <p:cNvSpPr/>
          <p:nvPr/>
        </p:nvSpPr>
        <p:spPr>
          <a:xfrm>
            <a:off x="762000" y="5129213"/>
            <a:ext cx="16764000" cy="9600"/>
          </a:xfrm>
          <a:prstGeom prst="rect">
            <a:avLst/>
          </a:prstGeom>
          <a:solidFill>
            <a:srgbClr val="DDE1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57"/>
          <p:cNvSpPr/>
          <p:nvPr/>
        </p:nvSpPr>
        <p:spPr>
          <a:xfrm>
            <a:off x="914400" y="4752975"/>
            <a:ext cx="27198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[Hạng mục 1]</a:t>
            </a:r>
            <a:endParaRPr b="0" i="0" sz="1800" u="none" cap="none" strike="noStrike">
              <a:solidFill>
                <a:schemeClr val="dk1"/>
              </a:solidFill>
              <a:latin typeface="Calibri"/>
              <a:ea typeface="Calibri"/>
              <a:cs typeface="Calibri"/>
              <a:sym typeface="Calibri"/>
            </a:endParaRPr>
          </a:p>
        </p:txBody>
      </p:sp>
      <p:sp>
        <p:nvSpPr>
          <p:cNvPr id="2260" name="Google Shape;2260;p57"/>
          <p:cNvSpPr/>
          <p:nvPr/>
        </p:nvSpPr>
        <p:spPr>
          <a:xfrm>
            <a:off x="3850779" y="4752975"/>
            <a:ext cx="55974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[Nguyên nhân/bối cảnh]</a:t>
            </a:r>
            <a:endParaRPr b="0" i="0" sz="1800" u="none" cap="none" strike="noStrike">
              <a:solidFill>
                <a:schemeClr val="dk1"/>
              </a:solidFill>
              <a:latin typeface="Calibri"/>
              <a:ea typeface="Calibri"/>
              <a:cs typeface="Calibri"/>
              <a:sym typeface="Calibri"/>
            </a:endParaRPr>
          </a:p>
        </p:txBody>
      </p:sp>
      <p:sp>
        <p:nvSpPr>
          <p:cNvPr id="2261" name="Google Shape;2261;p57"/>
          <p:cNvSpPr/>
          <p:nvPr/>
        </p:nvSpPr>
        <p:spPr>
          <a:xfrm>
            <a:off x="9581108" y="4752975"/>
            <a:ext cx="37434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[Hành động cụ thể]</a:t>
            </a:r>
            <a:endParaRPr b="0" i="0" sz="1800" u="none" cap="none" strike="noStrike">
              <a:solidFill>
                <a:schemeClr val="dk1"/>
              </a:solidFill>
              <a:latin typeface="Calibri"/>
              <a:ea typeface="Calibri"/>
              <a:cs typeface="Calibri"/>
              <a:sym typeface="Calibri"/>
            </a:endParaRPr>
          </a:p>
        </p:txBody>
      </p:sp>
      <p:sp>
        <p:nvSpPr>
          <p:cNvPr id="2262" name="Google Shape;2262;p57"/>
          <p:cNvSpPr/>
          <p:nvPr/>
        </p:nvSpPr>
        <p:spPr>
          <a:xfrm>
            <a:off x="13330535" y="4648200"/>
            <a:ext cx="25920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[dd/mm]</a:t>
            </a:r>
            <a:endParaRPr b="0" i="0" sz="1800" u="none" cap="none" strike="noStrike">
              <a:solidFill>
                <a:schemeClr val="dk1"/>
              </a:solidFill>
              <a:latin typeface="Calibri"/>
              <a:ea typeface="Calibri"/>
              <a:cs typeface="Calibri"/>
              <a:sym typeface="Calibri"/>
            </a:endParaRPr>
          </a:p>
        </p:txBody>
      </p:sp>
      <p:sp>
        <p:nvSpPr>
          <p:cNvPr id="2263" name="Google Shape;2263;p57"/>
          <p:cNvSpPr/>
          <p:nvPr/>
        </p:nvSpPr>
        <p:spPr>
          <a:xfrm>
            <a:off x="15865376" y="4648200"/>
            <a:ext cx="16893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[Tên PIC]</a:t>
            </a:r>
            <a:endParaRPr b="0" i="0" sz="1800" u="none" cap="none" strike="noStrike">
              <a:solidFill>
                <a:schemeClr val="dk1"/>
              </a:solidFill>
              <a:latin typeface="Calibri"/>
              <a:ea typeface="Calibri"/>
              <a:cs typeface="Calibri"/>
              <a:sym typeface="Calibri"/>
            </a:endParaRPr>
          </a:p>
        </p:txBody>
      </p:sp>
      <p:sp>
        <p:nvSpPr>
          <p:cNvPr id="2264" name="Google Shape;2264;p57"/>
          <p:cNvSpPr/>
          <p:nvPr/>
        </p:nvSpPr>
        <p:spPr>
          <a:xfrm>
            <a:off x="762000" y="5138738"/>
            <a:ext cx="16764000" cy="500100"/>
          </a:xfrm>
          <a:prstGeom prst="rect">
            <a:avLst/>
          </a:prstGeom>
          <a:solidFill>
            <a:srgbClr val="F5F7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57"/>
          <p:cNvSpPr/>
          <p:nvPr/>
        </p:nvSpPr>
        <p:spPr>
          <a:xfrm>
            <a:off x="914400" y="5253038"/>
            <a:ext cx="27198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121619"/>
              </a:buClr>
              <a:buSzPts val="1800"/>
              <a:buFont typeface="Roboto"/>
              <a:buNone/>
            </a:pPr>
            <a:r>
              <a:rPr b="1" i="0" lang="en-US" sz="1800" u="none" cap="none" strike="noStrike">
                <a:solidFill>
                  <a:srgbClr val="121619"/>
                </a:solidFill>
                <a:latin typeface="Roboto"/>
                <a:ea typeface="Roboto"/>
                <a:cs typeface="Roboto"/>
                <a:sym typeface="Roboto"/>
              </a:rPr>
              <a:t>[Hạng mục 2]</a:t>
            </a:r>
            <a:endParaRPr b="0" i="0" sz="1800" u="none" cap="none" strike="noStrike">
              <a:solidFill>
                <a:schemeClr val="dk1"/>
              </a:solidFill>
              <a:latin typeface="Calibri"/>
              <a:ea typeface="Calibri"/>
              <a:cs typeface="Calibri"/>
              <a:sym typeface="Calibri"/>
            </a:endParaRPr>
          </a:p>
        </p:txBody>
      </p:sp>
      <p:sp>
        <p:nvSpPr>
          <p:cNvPr id="2266" name="Google Shape;2266;p57"/>
          <p:cNvSpPr/>
          <p:nvPr/>
        </p:nvSpPr>
        <p:spPr>
          <a:xfrm>
            <a:off x="3850779" y="5253038"/>
            <a:ext cx="55974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[Nguyên nhân/bối cảnh]</a:t>
            </a:r>
            <a:endParaRPr b="0" i="0" sz="1800" u="none" cap="none" strike="noStrike">
              <a:solidFill>
                <a:schemeClr val="dk1"/>
              </a:solidFill>
              <a:latin typeface="Calibri"/>
              <a:ea typeface="Calibri"/>
              <a:cs typeface="Calibri"/>
              <a:sym typeface="Calibri"/>
            </a:endParaRPr>
          </a:p>
        </p:txBody>
      </p:sp>
      <p:sp>
        <p:nvSpPr>
          <p:cNvPr id="2267" name="Google Shape;2267;p57"/>
          <p:cNvSpPr/>
          <p:nvPr/>
        </p:nvSpPr>
        <p:spPr>
          <a:xfrm>
            <a:off x="9581108" y="5253038"/>
            <a:ext cx="3743400" cy="3096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4C5158"/>
              </a:buClr>
              <a:buSzPts val="1800"/>
              <a:buFont typeface="Roboto"/>
              <a:buNone/>
            </a:pPr>
            <a:r>
              <a:rPr b="0" i="0" lang="en-US" sz="1800" u="none" cap="none" strike="noStrike">
                <a:solidFill>
                  <a:srgbClr val="4C5158"/>
                </a:solidFill>
                <a:latin typeface="Roboto"/>
                <a:ea typeface="Roboto"/>
                <a:cs typeface="Roboto"/>
                <a:sym typeface="Roboto"/>
              </a:rPr>
              <a:t>[Hành động cụ thể]</a:t>
            </a:r>
            <a:endParaRPr b="0" i="0" sz="1800" u="none" cap="none" strike="noStrike">
              <a:solidFill>
                <a:schemeClr val="dk1"/>
              </a:solidFill>
              <a:latin typeface="Calibri"/>
              <a:ea typeface="Calibri"/>
              <a:cs typeface="Calibri"/>
              <a:sym typeface="Calibri"/>
            </a:endParaRPr>
          </a:p>
        </p:txBody>
      </p:sp>
      <p:sp>
        <p:nvSpPr>
          <p:cNvPr id="2268" name="Google Shape;2268;p57"/>
          <p:cNvSpPr/>
          <p:nvPr/>
        </p:nvSpPr>
        <p:spPr>
          <a:xfrm>
            <a:off x="13330535" y="5148263"/>
            <a:ext cx="25920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[dd/mm]</a:t>
            </a:r>
            <a:endParaRPr b="0" i="0" sz="1800" u="none" cap="none" strike="noStrike">
              <a:solidFill>
                <a:schemeClr val="dk1"/>
              </a:solidFill>
              <a:latin typeface="Calibri"/>
              <a:ea typeface="Calibri"/>
              <a:cs typeface="Calibri"/>
              <a:sym typeface="Calibri"/>
            </a:endParaRPr>
          </a:p>
        </p:txBody>
      </p:sp>
      <p:sp>
        <p:nvSpPr>
          <p:cNvPr id="2269" name="Google Shape;2269;p57"/>
          <p:cNvSpPr/>
          <p:nvPr/>
        </p:nvSpPr>
        <p:spPr>
          <a:xfrm>
            <a:off x="15865376" y="5148263"/>
            <a:ext cx="1689300" cy="519000"/>
          </a:xfrm>
          <a:prstGeom prst="rect">
            <a:avLst/>
          </a:prstGeom>
          <a:noFill/>
          <a:ln>
            <a:noFill/>
          </a:ln>
        </p:spPr>
        <p:txBody>
          <a:bodyPr anchorCtr="0" anchor="ctr" bIns="25400" lIns="25400" spcFirstLastPara="1" rIns="25400" wrap="square" tIns="25400">
            <a:noAutofit/>
          </a:bodyPr>
          <a:lstStyle/>
          <a:p>
            <a:pPr indent="0" lvl="0" marL="0" marR="0" rtl="0" algn="ctr">
              <a:spcBef>
                <a:spcPts val="0"/>
              </a:spcBef>
              <a:spcAft>
                <a:spcPts val="0"/>
              </a:spcAft>
              <a:buClr>
                <a:srgbClr val="121619"/>
              </a:buClr>
              <a:buSzPts val="1800"/>
              <a:buFont typeface="Roboto"/>
              <a:buNone/>
            </a:pPr>
            <a:r>
              <a:rPr b="0" i="0" lang="en-US" sz="1800" u="none" cap="none" strike="noStrike">
                <a:solidFill>
                  <a:srgbClr val="121619"/>
                </a:solidFill>
                <a:latin typeface="Roboto"/>
                <a:ea typeface="Roboto"/>
                <a:cs typeface="Roboto"/>
                <a:sym typeface="Roboto"/>
              </a:rPr>
              <a:t>[Tên PIC]</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4" name="Shape 2274"/>
        <p:cNvGrpSpPr/>
        <p:nvPr/>
      </p:nvGrpSpPr>
      <p:grpSpPr>
        <a:xfrm>
          <a:off x="0" y="0"/>
          <a:ext cx="0" cy="0"/>
          <a:chOff x="0" y="0"/>
          <a:chExt cx="0" cy="0"/>
        </a:xfrm>
      </p:grpSpPr>
      <p:sp>
        <p:nvSpPr>
          <p:cNvPr id="2275" name="Google Shape;2275;p58"/>
          <p:cNvSpPr/>
          <p:nvPr/>
        </p:nvSpPr>
        <p:spPr>
          <a:xfrm>
            <a:off x="0" y="0"/>
            <a:ext cx="18288000" cy="10287000"/>
          </a:xfrm>
          <a:prstGeom prst="rect">
            <a:avLst/>
          </a:prstGeom>
          <a:gradFill>
            <a:gsLst>
              <a:gs pos="0">
                <a:srgbClr val="012749"/>
              </a:gs>
              <a:gs pos="100000">
                <a:srgbClr val="0E4174"/>
              </a:gs>
            </a:gsLst>
            <a:lin ang="1800004"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58"/>
          <p:cNvSpPr/>
          <p:nvPr/>
        </p:nvSpPr>
        <p:spPr>
          <a:xfrm>
            <a:off x="762000" y="3390900"/>
            <a:ext cx="18440400" cy="619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3600"/>
              <a:buFont typeface="Plus Jakarta Sans"/>
              <a:buNone/>
            </a:pPr>
            <a:r>
              <a:rPr b="1" i="0" lang="en-US" sz="3600" u="none" cap="none" strike="noStrike">
                <a:solidFill>
                  <a:srgbClr val="FFFFFF"/>
                </a:solidFill>
                <a:latin typeface="Plus Jakarta Sans"/>
                <a:ea typeface="Plus Jakarta Sans"/>
                <a:cs typeface="Plus Jakarta Sans"/>
                <a:sym typeface="Plus Jakarta Sans"/>
              </a:rPr>
              <a:t>DRIVER'S VOICES &amp; EVENT HIGHLIGHTS</a:t>
            </a:r>
            <a:endParaRPr b="0" i="0" sz="3600" u="none" cap="none" strike="noStrike">
              <a:solidFill>
                <a:schemeClr val="dk1"/>
              </a:solidFill>
              <a:latin typeface="Calibri"/>
              <a:ea typeface="Calibri"/>
              <a:cs typeface="Calibri"/>
              <a:sym typeface="Calibri"/>
            </a:endParaRPr>
          </a:p>
        </p:txBody>
      </p:sp>
      <p:sp>
        <p:nvSpPr>
          <p:cNvPr id="2277" name="Google Shape;2277;p58"/>
          <p:cNvSpPr/>
          <p:nvPr/>
        </p:nvSpPr>
        <p:spPr>
          <a:xfrm>
            <a:off x="762000" y="4276725"/>
            <a:ext cx="16764000" cy="514500"/>
          </a:xfrm>
          <a:prstGeom prst="roundRect">
            <a:avLst>
              <a:gd fmla="val 18519" name="adj"/>
            </a:avLst>
          </a:prstGeom>
          <a:solidFill>
            <a:srgbClr val="FFFFFF">
              <a:alpha val="1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78" name="Google Shape;2278;p58"/>
          <p:cNvPicPr preferRelativeResize="0"/>
          <p:nvPr/>
        </p:nvPicPr>
        <p:blipFill rotWithShape="1">
          <a:blip r:embed="rId3">
            <a:alphaModFix/>
          </a:blip>
          <a:srcRect b="0" l="0" r="0" t="0"/>
          <a:stretch/>
        </p:blipFill>
        <p:spPr>
          <a:xfrm>
            <a:off x="952500" y="4457700"/>
            <a:ext cx="209550" cy="209550"/>
          </a:xfrm>
          <a:prstGeom prst="rect">
            <a:avLst/>
          </a:prstGeom>
          <a:noFill/>
          <a:ln>
            <a:noFill/>
          </a:ln>
        </p:spPr>
      </p:pic>
      <p:sp>
        <p:nvSpPr>
          <p:cNvPr id="2279" name="Google Shape;2279;p58"/>
          <p:cNvSpPr/>
          <p:nvPr/>
        </p:nvSpPr>
        <p:spPr>
          <a:xfrm>
            <a:off x="1221581" y="4391025"/>
            <a:ext cx="18867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Plus Jakarta Sans"/>
              <a:buNone/>
            </a:pPr>
            <a:r>
              <a:rPr b="1" i="0" lang="en-US" sz="1800" u="none" cap="none" strike="noStrike">
                <a:solidFill>
                  <a:srgbClr val="FFFFFF"/>
                </a:solidFill>
                <a:latin typeface="Plus Jakarta Sans"/>
                <a:ea typeface="Plus Jakarta Sans"/>
                <a:cs typeface="Plus Jakarta Sans"/>
                <a:sym typeface="Plus Jakarta Sans"/>
              </a:rPr>
              <a:t>KEY TAKEAWAY:</a:t>
            </a:r>
            <a:endParaRPr b="0" i="0" sz="1800" u="none" cap="none" strike="noStrike">
              <a:solidFill>
                <a:schemeClr val="dk1"/>
              </a:solidFill>
              <a:latin typeface="Calibri"/>
              <a:ea typeface="Calibri"/>
              <a:cs typeface="Calibri"/>
              <a:sym typeface="Calibri"/>
            </a:endParaRPr>
          </a:p>
        </p:txBody>
      </p:sp>
      <p:sp>
        <p:nvSpPr>
          <p:cNvPr id="2280" name="Google Shape;2280;p58"/>
          <p:cNvSpPr/>
          <p:nvPr/>
        </p:nvSpPr>
        <p:spPr>
          <a:xfrm>
            <a:off x="3146375" y="4400550"/>
            <a:ext cx="54876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Roboto"/>
              <a:buNone/>
            </a:pPr>
            <a:r>
              <a:rPr b="0" i="0" lang="en-US" sz="1800" u="none" cap="none" strike="noStrike">
                <a:solidFill>
                  <a:srgbClr val="FFFFFF"/>
                </a:solidFill>
                <a:latin typeface="Roboto"/>
                <a:ea typeface="Roboto"/>
                <a:cs typeface="Roboto"/>
                <a:sym typeface="Roboto"/>
              </a:rPr>
              <a:t>[Nhận định chính rút ra từ phản hồi tài xế trong tuần.]</a:t>
            </a:r>
            <a:endParaRPr b="0" i="0" sz="1800" u="none" cap="none" strike="noStrike">
              <a:solidFill>
                <a:schemeClr val="dk1"/>
              </a:solidFill>
              <a:latin typeface="Calibri"/>
              <a:ea typeface="Calibri"/>
              <a:cs typeface="Calibri"/>
              <a:sym typeface="Calibri"/>
            </a:endParaRPr>
          </a:p>
        </p:txBody>
      </p:sp>
      <p:sp>
        <p:nvSpPr>
          <p:cNvPr id="2281" name="Google Shape;2281;p58"/>
          <p:cNvSpPr/>
          <p:nvPr/>
        </p:nvSpPr>
        <p:spPr>
          <a:xfrm>
            <a:off x="762000" y="5095875"/>
            <a:ext cx="8248800" cy="1228800"/>
          </a:xfrm>
          <a:prstGeom prst="roundRect">
            <a:avLst>
              <a:gd fmla="val 12403" name="adj"/>
            </a:avLst>
          </a:prstGeom>
          <a:solidFill>
            <a:srgbClr val="FFFFFF">
              <a:alpha val="1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82" name="Google Shape;2282;p58"/>
          <p:cNvPicPr preferRelativeResize="0"/>
          <p:nvPr/>
        </p:nvPicPr>
        <p:blipFill rotWithShape="1">
          <a:blip r:embed="rId4">
            <a:alphaModFix/>
          </a:blip>
          <a:srcRect b="0" l="0" r="0" t="0"/>
          <a:stretch/>
        </p:blipFill>
        <p:spPr>
          <a:xfrm>
            <a:off x="1028700" y="5376863"/>
            <a:ext cx="285750" cy="285750"/>
          </a:xfrm>
          <a:prstGeom prst="rect">
            <a:avLst/>
          </a:prstGeom>
          <a:noFill/>
          <a:ln>
            <a:noFill/>
          </a:ln>
        </p:spPr>
      </p:pic>
      <p:sp>
        <p:nvSpPr>
          <p:cNvPr id="2283" name="Google Shape;2283;p58"/>
          <p:cNvSpPr/>
          <p:nvPr/>
        </p:nvSpPr>
        <p:spPr>
          <a:xfrm>
            <a:off x="1409700" y="5362575"/>
            <a:ext cx="23535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[Chủ đề phản hồi 1]</a:t>
            </a:r>
            <a:endParaRPr b="0" i="0" sz="2100" u="none" cap="none" strike="noStrike">
              <a:solidFill>
                <a:schemeClr val="dk1"/>
              </a:solidFill>
              <a:latin typeface="Calibri"/>
              <a:ea typeface="Calibri"/>
              <a:cs typeface="Calibri"/>
              <a:sym typeface="Calibri"/>
            </a:endParaRPr>
          </a:p>
        </p:txBody>
      </p:sp>
      <p:sp>
        <p:nvSpPr>
          <p:cNvPr id="2284" name="Google Shape;2284;p58"/>
          <p:cNvSpPr/>
          <p:nvPr/>
        </p:nvSpPr>
        <p:spPr>
          <a:xfrm>
            <a:off x="1028700" y="5791200"/>
            <a:ext cx="84867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0" i="0" lang="en-US" sz="1800" u="none" cap="none" strike="noStrike">
                <a:solidFill>
                  <a:srgbClr val="FFFFFF"/>
                </a:solidFill>
                <a:latin typeface="Roboto"/>
                <a:ea typeface="Roboto"/>
                <a:cs typeface="Roboto"/>
                <a:sym typeface="Roboto"/>
              </a:rPr>
              <a:t>[Mô tả phản hồi &amp; mức độ ảnh hưởng.]</a:t>
            </a:r>
            <a:endParaRPr b="0" i="0" sz="1800" u="none" cap="none" strike="noStrike">
              <a:solidFill>
                <a:schemeClr val="dk1"/>
              </a:solidFill>
              <a:latin typeface="Calibri"/>
              <a:ea typeface="Calibri"/>
              <a:cs typeface="Calibri"/>
              <a:sym typeface="Calibri"/>
            </a:endParaRPr>
          </a:p>
        </p:txBody>
      </p:sp>
      <p:sp>
        <p:nvSpPr>
          <p:cNvPr id="2285" name="Google Shape;2285;p58"/>
          <p:cNvSpPr/>
          <p:nvPr/>
        </p:nvSpPr>
        <p:spPr>
          <a:xfrm>
            <a:off x="9277350" y="5095875"/>
            <a:ext cx="8248800" cy="1228800"/>
          </a:xfrm>
          <a:prstGeom prst="roundRect">
            <a:avLst>
              <a:gd fmla="val 12403" name="adj"/>
            </a:avLst>
          </a:prstGeom>
          <a:solidFill>
            <a:srgbClr val="FFFFFF">
              <a:alpha val="1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86" name="Google Shape;2286;p58"/>
          <p:cNvPicPr preferRelativeResize="0"/>
          <p:nvPr/>
        </p:nvPicPr>
        <p:blipFill rotWithShape="1">
          <a:blip r:embed="rId5">
            <a:alphaModFix/>
          </a:blip>
          <a:srcRect b="0" l="0" r="0" t="0"/>
          <a:stretch/>
        </p:blipFill>
        <p:spPr>
          <a:xfrm>
            <a:off x="9544050" y="5376863"/>
            <a:ext cx="285750" cy="285750"/>
          </a:xfrm>
          <a:prstGeom prst="rect">
            <a:avLst/>
          </a:prstGeom>
          <a:noFill/>
          <a:ln>
            <a:noFill/>
          </a:ln>
        </p:spPr>
      </p:pic>
      <p:sp>
        <p:nvSpPr>
          <p:cNvPr id="2287" name="Google Shape;2287;p58"/>
          <p:cNvSpPr/>
          <p:nvPr/>
        </p:nvSpPr>
        <p:spPr>
          <a:xfrm>
            <a:off x="9925050" y="5362575"/>
            <a:ext cx="2353500" cy="3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100"/>
              <a:buFont typeface="Roboto"/>
              <a:buNone/>
            </a:pPr>
            <a:r>
              <a:rPr b="0" i="0" lang="en-US" sz="2100" u="none" cap="none" strike="noStrike">
                <a:solidFill>
                  <a:srgbClr val="FFFFFF"/>
                </a:solidFill>
                <a:latin typeface="Roboto"/>
                <a:ea typeface="Roboto"/>
                <a:cs typeface="Roboto"/>
                <a:sym typeface="Roboto"/>
              </a:rPr>
              <a:t>[Chủ đề phản hồi 2]</a:t>
            </a:r>
            <a:endParaRPr b="0" i="0" sz="2100" u="none" cap="none" strike="noStrike">
              <a:solidFill>
                <a:schemeClr val="dk1"/>
              </a:solidFill>
              <a:latin typeface="Calibri"/>
              <a:ea typeface="Calibri"/>
              <a:cs typeface="Calibri"/>
              <a:sym typeface="Calibri"/>
            </a:endParaRPr>
          </a:p>
        </p:txBody>
      </p:sp>
      <p:sp>
        <p:nvSpPr>
          <p:cNvPr id="2288" name="Google Shape;2288;p58"/>
          <p:cNvSpPr/>
          <p:nvPr/>
        </p:nvSpPr>
        <p:spPr>
          <a:xfrm>
            <a:off x="9544050" y="5791200"/>
            <a:ext cx="84867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0" i="0" lang="en-US" sz="1800" u="none" cap="none" strike="noStrike">
                <a:solidFill>
                  <a:srgbClr val="FFFFFF"/>
                </a:solidFill>
                <a:latin typeface="Roboto"/>
                <a:ea typeface="Roboto"/>
                <a:cs typeface="Roboto"/>
                <a:sym typeface="Roboto"/>
              </a:rPr>
              <a:t>[Mô tả phản hồi &amp; cách xử lý.]</a:t>
            </a:r>
            <a:endParaRPr b="0" i="0" sz="1800" u="none" cap="none" strike="noStrike">
              <a:solidFill>
                <a:schemeClr val="dk1"/>
              </a:solidFill>
              <a:latin typeface="Calibri"/>
              <a:ea typeface="Calibri"/>
              <a:cs typeface="Calibri"/>
              <a:sym typeface="Calibri"/>
            </a:endParaRPr>
          </a:p>
        </p:txBody>
      </p:sp>
      <p:sp>
        <p:nvSpPr>
          <p:cNvPr id="2289" name="Google Shape;2289;p58"/>
          <p:cNvSpPr/>
          <p:nvPr/>
        </p:nvSpPr>
        <p:spPr>
          <a:xfrm>
            <a:off x="762000" y="6629400"/>
            <a:ext cx="18440400" cy="3048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FFFFFF"/>
              </a:buClr>
              <a:buSzPts val="1800"/>
              <a:buFont typeface="Roboto"/>
              <a:buNone/>
            </a:pPr>
            <a:r>
              <a:rPr b="0" i="0" lang="en-US" sz="1800" u="none" cap="none" strike="noStrike">
                <a:solidFill>
                  <a:srgbClr val="FFFFFF"/>
                </a:solidFill>
                <a:latin typeface="Roboto"/>
                <a:ea typeface="Roboto"/>
                <a:cs typeface="Roboto"/>
                <a:sym typeface="Roboto"/>
              </a:rPr>
              <a:t>Ahamove — Driver Management | Confidential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