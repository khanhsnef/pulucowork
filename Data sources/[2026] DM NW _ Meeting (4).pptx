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7" r:id="rId1"/>
    <p:sldMasterId id="2147483679" r:id="rId2"/>
  </p:sldMasterIdLst>
  <p:notesMasterIdLst>
    <p:notesMasterId r:id="rId32"/>
  </p:notesMasterIdLst>
  <p:sldIdLst>
    <p:sldId id="256" r:id="rId3"/>
    <p:sldId id="257" r:id="rId4"/>
    <p:sldId id="258" r:id="rId5"/>
    <p:sldId id="259" r:id="rId6"/>
    <p:sldId id="260" r:id="rId7"/>
    <p:sldId id="261" r:id="rId8"/>
    <p:sldId id="265" r:id="rId9"/>
    <p:sldId id="266" r:id="rId10"/>
    <p:sldId id="267" r:id="rId11"/>
    <p:sldId id="268" r:id="rId12"/>
    <p:sldId id="276" r:id="rId13"/>
    <p:sldId id="277" r:id="rId14"/>
    <p:sldId id="278" r:id="rId15"/>
    <p:sldId id="279" r:id="rId16"/>
    <p:sldId id="283" r:id="rId17"/>
    <p:sldId id="284" r:id="rId18"/>
    <p:sldId id="285" r:id="rId19"/>
    <p:sldId id="286" r:id="rId20"/>
    <p:sldId id="287" r:id="rId21"/>
    <p:sldId id="288" r:id="rId22"/>
    <p:sldId id="289" r:id="rId23"/>
    <p:sldId id="292" r:id="rId24"/>
    <p:sldId id="293" r:id="rId25"/>
    <p:sldId id="294" r:id="rId26"/>
    <p:sldId id="295" r:id="rId27"/>
    <p:sldId id="296" r:id="rId28"/>
    <p:sldId id="297" r:id="rId29"/>
    <p:sldId id="298" r:id="rId30"/>
    <p:sldId id="299" r:id="rId31"/>
  </p:sldIdLst>
  <p:sldSz cx="9144000" cy="5143500" type="screen16x9"/>
  <p:notesSz cx="6858000" cy="9144000"/>
  <p:embeddedFontLst>
    <p:embeddedFont>
      <p:font typeface="Bebas Neue" panose="020B0606020202050201" pitchFamily="34" charset="77"/>
      <p:regular r:id="rId33"/>
    </p:embeddedFont>
    <p:embeddedFont>
      <p:font typeface="Cambria" panose="02040503050406030204" pitchFamily="18" charset="0"/>
      <p:regular r:id="rId34"/>
      <p:bold r:id="rId35"/>
      <p:italic r:id="rId36"/>
      <p:boldItalic r:id="rId37"/>
    </p:embeddedFont>
    <p:embeddedFont>
      <p:font typeface="Helvetica Neue" panose="02000503000000020004" pitchFamily="2" charset="0"/>
      <p:regular r:id="rId38"/>
      <p:bold r:id="rId39"/>
      <p:italic r:id="rId40"/>
      <p:boldItalic r:id="rId41"/>
    </p:embeddedFont>
    <p:embeddedFont>
      <p:font typeface="Lexend" pitchFamily="2" charset="77"/>
      <p:regular r:id="rId42"/>
      <p:bold r:id="rId43"/>
    </p:embeddedFont>
    <p:embeddedFont>
      <p:font typeface="Lexend Light" pitchFamily="2" charset="77"/>
      <p:regular r:id="rId44"/>
      <p:bold r:id="rId45"/>
    </p:embeddedFont>
    <p:embeddedFont>
      <p:font typeface="Lexend Medium" pitchFamily="2" charset="77"/>
      <p:regular r:id="rId46"/>
      <p:bold r:id="rId47"/>
    </p:embeddedFont>
    <p:embeddedFont>
      <p:font typeface="Montserrat" pitchFamily="2" charset="77"/>
      <p:regular r:id="rId48"/>
      <p:bold r:id="rId49"/>
      <p:italic r:id="rId50"/>
      <p:boldItalic r:id="rId51"/>
    </p:embeddedFont>
    <p:embeddedFont>
      <p:font typeface="Montserrat Black" panose="020F0502020204030204" pitchFamily="34" charset="0"/>
      <p:bold r:id="rId52"/>
      <p:italic r:id="rId53"/>
      <p:boldItalic r:id="rId54"/>
    </p:embeddedFont>
    <p:embeddedFont>
      <p:font typeface="Nunito" pitchFamily="2" charset="77"/>
      <p:regular r:id="rId55"/>
      <p:bold r:id="rId56"/>
      <p:italic r:id="rId57"/>
      <p:boldItalic r:id="rId58"/>
    </p:embeddedFont>
    <p:embeddedFont>
      <p:font typeface="Nunito Black" panose="020F0502020204030204" pitchFamily="34" charset="0"/>
      <p:bold r:id="rId59"/>
      <p:italic r:id="rId60"/>
      <p:boldItalic r:id="rId61"/>
    </p:embeddedFont>
    <p:embeddedFont>
      <p:font typeface="Nunito ExtraBold" panose="020F0502020204030204" pitchFamily="34" charset="0"/>
      <p:bold r:id="rId62"/>
      <p:italic r:id="rId63"/>
      <p:boldItalic r:id="rId64"/>
    </p:embeddedFont>
    <p:embeddedFont>
      <p:font typeface="Raleway" pitchFamily="2" charset="77"/>
      <p:regular r:id="rId65"/>
      <p:bold r:id="rId66"/>
      <p:italic r:id="rId67"/>
      <p:boldItalic r:id="rId68"/>
    </p:embeddedFont>
    <p:embeddedFont>
      <p:font typeface="Work Sans Medium" panose="020F0502020204030204" pitchFamily="34" charset="0"/>
      <p:regular r:id="rId69"/>
      <p:bold r:id="rId70"/>
      <p:italic r:id="rId71"/>
      <p:boldItalic r:id="rId7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56">
          <p15:clr>
            <a:srgbClr val="747775"/>
          </p15:clr>
        </p15:guide>
        <p15:guide id="2" orient="horz" pos="296">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Khanh Lê Phương"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8498B5D-82F5-4DDD-BB04-C168985C330A}">
  <a:tblStyle styleId="{98498B5D-82F5-4DDD-BB04-C168985C330A}"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8B240536-D641-435C-B765-F4AE0D110795}"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E2E4EC69-8A55-444A-B20C-B842BE292503}" styleName="Table_2">
    <a:wholeTbl>
      <a:tcTxStyle b="off" i="off">
        <a:font>
          <a:latin typeface="Calibri"/>
          <a:ea typeface="Calibri"/>
          <a:cs typeface="Calibri"/>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rgbClr val="FFFFFF"/>
      </a:tcTxStyle>
      <a:tcStyle>
        <a:tcBdr/>
        <a:fill>
          <a:solidFill>
            <a:srgbClr val="4F81BD"/>
          </a:solidFill>
        </a:fill>
      </a:tcStyle>
    </a:lastCol>
    <a:firstCol>
      <a:tcTxStyle b="on" i="off">
        <a:font>
          <a:latin typeface="Calibri"/>
          <a:ea typeface="Calibri"/>
          <a:cs typeface="Calibri"/>
        </a:font>
        <a:srgbClr val="FFFFFF"/>
      </a:tcTxStyle>
      <a:tcStyle>
        <a:tcBdr/>
        <a:fill>
          <a:solidFill>
            <a:srgbClr val="4F81BD"/>
          </a:solidFill>
        </a:fill>
      </a:tcStyle>
    </a:firstCol>
    <a:lastRow>
      <a:tcTxStyle b="on" i="off">
        <a:font>
          <a:latin typeface="Calibri"/>
          <a:ea typeface="Calibri"/>
          <a:cs typeface="Calibri"/>
        </a:font>
        <a:srgbClr val="FFFFFF"/>
      </a:tcTxStyle>
      <a:tcStyle>
        <a:tcBdr>
          <a:top>
            <a:ln w="38100" cap="flat" cmpd="sng">
              <a:solidFill>
                <a:srgbClr val="FFFFFF"/>
              </a:solidFill>
              <a:prstDash val="solid"/>
              <a:round/>
              <a:headEnd type="none" w="sm" len="sm"/>
              <a:tailEnd type="none" w="sm" len="sm"/>
            </a:ln>
          </a:top>
        </a:tcBdr>
        <a:fill>
          <a:solidFill>
            <a:srgbClr val="4F81BD"/>
          </a:solidFill>
        </a:fill>
      </a:tcStyle>
    </a:lastRow>
    <a:seCell>
      <a:tcTxStyle/>
      <a:tcStyle>
        <a:tcBdr/>
      </a:tcStyle>
    </a:seCell>
    <a:swCell>
      <a:tcTxStyle/>
      <a:tcStyle>
        <a:tcBdr/>
      </a:tcStyle>
    </a:swCell>
    <a:firstRow>
      <a:tcTxStyle b="on" i="off">
        <a:font>
          <a:latin typeface="Calibri"/>
          <a:ea typeface="Calibri"/>
          <a:cs typeface="Calibri"/>
        </a:font>
        <a:srgbClr val="FFFFFF"/>
      </a:tcTxStyle>
      <a:tcStyle>
        <a:tcBdr>
          <a:bottom>
            <a:ln w="38100" cap="flat" cmpd="sng">
              <a:solidFill>
                <a:srgbClr val="FFFFFF"/>
              </a:solidFill>
              <a:prstDash val="solid"/>
              <a:round/>
              <a:headEnd type="none" w="sm" len="sm"/>
              <a:tailEnd type="none" w="sm" len="sm"/>
            </a:ln>
          </a:bottom>
        </a:tcBdr>
        <a:fill>
          <a:solidFill>
            <a:srgbClr val="4F81BD"/>
          </a:solidFill>
        </a:fill>
      </a:tcStyle>
    </a:firstRow>
    <a:neCell>
      <a:tcTxStyle/>
      <a:tcStyle>
        <a:tcBdr/>
      </a:tcStyle>
    </a:neCell>
    <a:nwCell>
      <a:tcTxStyle/>
      <a:tcStyle>
        <a:tcBdr/>
      </a:tcStyle>
    </a:nwCell>
  </a:tblStyle>
  <a:tblStyle styleId="{21F9E4B4-67C9-409E-9FDE-45CA2CD90C02}" styleName="Table_3">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161" d="100"/>
          <a:sy n="161" d="100"/>
        </p:scale>
        <p:origin x="264" y="200"/>
      </p:cViewPr>
      <p:guideLst>
        <p:guide orient="horz" pos="256"/>
        <p:guide orient="horz" pos="296"/>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font" Target="fonts/font10.fntdata"/><Relationship Id="rId47" Type="http://schemas.openxmlformats.org/officeDocument/2006/relationships/font" Target="fonts/font15.fntdata"/><Relationship Id="rId63" Type="http://schemas.openxmlformats.org/officeDocument/2006/relationships/font" Target="fonts/font31.fntdata"/><Relationship Id="rId68" Type="http://schemas.openxmlformats.org/officeDocument/2006/relationships/font" Target="fonts/font36.fntdata"/><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3" Type="http://schemas.openxmlformats.org/officeDocument/2006/relationships/font" Target="fonts/font21.fntdata"/><Relationship Id="rId58" Type="http://schemas.openxmlformats.org/officeDocument/2006/relationships/font" Target="fonts/font26.fntdata"/><Relationship Id="rId66" Type="http://schemas.openxmlformats.org/officeDocument/2006/relationships/font" Target="fonts/font34.fntdata"/><Relationship Id="rId74"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font" Target="fonts/font29.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font" Target="fonts/font16.fntdata"/><Relationship Id="rId56" Type="http://schemas.openxmlformats.org/officeDocument/2006/relationships/font" Target="fonts/font24.fntdata"/><Relationship Id="rId64" Type="http://schemas.openxmlformats.org/officeDocument/2006/relationships/font" Target="fonts/font32.fntdata"/><Relationship Id="rId69" Type="http://schemas.openxmlformats.org/officeDocument/2006/relationships/font" Target="fonts/font37.fntdata"/><Relationship Id="rId77"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font" Target="fonts/font19.fntdata"/><Relationship Id="rId72" Type="http://schemas.openxmlformats.org/officeDocument/2006/relationships/font" Target="fonts/font40.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59" Type="http://schemas.openxmlformats.org/officeDocument/2006/relationships/font" Target="fonts/font27.fntdata"/><Relationship Id="rId67" Type="http://schemas.openxmlformats.org/officeDocument/2006/relationships/font" Target="fonts/font35.fntdata"/><Relationship Id="rId20" Type="http://schemas.openxmlformats.org/officeDocument/2006/relationships/slide" Target="slides/slide18.xml"/><Relationship Id="rId41" Type="http://schemas.openxmlformats.org/officeDocument/2006/relationships/font" Target="fonts/font9.fntdata"/><Relationship Id="rId54" Type="http://schemas.openxmlformats.org/officeDocument/2006/relationships/font" Target="fonts/font22.fntdata"/><Relationship Id="rId62" Type="http://schemas.openxmlformats.org/officeDocument/2006/relationships/font" Target="fonts/font30.fntdata"/><Relationship Id="rId70" Type="http://schemas.openxmlformats.org/officeDocument/2006/relationships/font" Target="fonts/font38.fntdata"/><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4.fntdata"/><Relationship Id="rId49" Type="http://schemas.openxmlformats.org/officeDocument/2006/relationships/font" Target="fonts/font17.fntdata"/><Relationship Id="rId57" Type="http://schemas.openxmlformats.org/officeDocument/2006/relationships/font" Target="fonts/font25.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font" Target="fonts/font12.fntdata"/><Relationship Id="rId52" Type="http://schemas.openxmlformats.org/officeDocument/2006/relationships/font" Target="fonts/font20.fntdata"/><Relationship Id="rId60" Type="http://schemas.openxmlformats.org/officeDocument/2006/relationships/font" Target="fonts/font28.fntdata"/><Relationship Id="rId65" Type="http://schemas.openxmlformats.org/officeDocument/2006/relationships/font" Target="fonts/font33.fntdata"/><Relationship Id="rId73"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font" Target="fonts/font7.fntdata"/><Relationship Id="rId34" Type="http://schemas.openxmlformats.org/officeDocument/2006/relationships/font" Target="fonts/font2.fntdata"/><Relationship Id="rId50" Type="http://schemas.openxmlformats.org/officeDocument/2006/relationships/font" Target="fonts/font18.fntdata"/><Relationship Id="rId55" Type="http://schemas.openxmlformats.org/officeDocument/2006/relationships/font" Target="fonts/font23.fntdata"/><Relationship Id="rId76"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font" Target="fonts/font39.fntdata"/><Relationship Id="rId2" Type="http://schemas.openxmlformats.org/officeDocument/2006/relationships/slideMaster" Target="slideMasters/slideMaster2.xml"/><Relationship Id="rId29"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bi.ahamove.com/question/73944" TargetMode="External"/><Relationship Id="rId2" Type="http://schemas.openxmlformats.org/officeDocument/2006/relationships/slide" Target="../slides/slide4.xml"/><Relationship Id="rId1" Type="http://schemas.openxmlformats.org/officeDocument/2006/relationships/notesMaster" Target="../notesMasters/notesMaster1.xml"/><Relationship Id="rId4" Type="http://schemas.openxmlformats.org/officeDocument/2006/relationships/hyperlink" Target="https://bi.ahamove.com/question/79585"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f9b2aaf035_0_0: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 name="Google Shape;125;g3f9b2aaf035_0_0: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g3f9b2aaf035_0_0: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f9b2aaf035_0_137: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 name="Google Shape;143;g3f9b2aaf035_0_137: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g3f9b2aaf035_0_137: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f9b2aaf035_0_162: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9" name="Google Shape;169;g3f9b2aaf035_0_162: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 name="Google Shape;170;g3f9b2aaf035_0_162: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f9b2aaf035_0_181: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9" name="Google Shape;189;g3f9b2aaf035_0_181: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b="1"/>
              <a:t>Active Driver Segment by Month</a:t>
            </a:r>
            <a:r>
              <a:rPr lang="en"/>
              <a:t>: </a:t>
            </a:r>
            <a:r>
              <a:rPr lang="en" u="sng">
                <a:solidFill>
                  <a:schemeClr val="hlink"/>
                </a:solidFill>
                <a:hlinkClick r:id="rId3"/>
              </a:rPr>
              <a:t>https://bi.ahamove.com/question/73944</a:t>
            </a:r>
            <a:endParaRPr/>
          </a:p>
          <a:p>
            <a:pPr marL="0" lvl="0" indent="0" algn="l" rtl="0">
              <a:spcBef>
                <a:spcPts val="0"/>
              </a:spcBef>
              <a:spcAft>
                <a:spcPts val="0"/>
              </a:spcAft>
              <a:buNone/>
            </a:pPr>
            <a:r>
              <a:rPr lang="en"/>
              <a:t>Retention over 22: </a:t>
            </a:r>
            <a:r>
              <a:rPr lang="en" u="sng">
                <a:solidFill>
                  <a:schemeClr val="hlink"/>
                </a:solidFill>
                <a:hlinkClick r:id="rId4"/>
              </a:rPr>
              <a:t>https://bi.ahamove.com/question/79585</a:t>
            </a:r>
            <a:endParaRPr/>
          </a:p>
          <a:p>
            <a:pPr marL="0" lvl="0" indent="0" algn="l" rtl="0">
              <a:spcBef>
                <a:spcPts val="0"/>
              </a:spcBef>
              <a:spcAft>
                <a:spcPts val="0"/>
              </a:spcAft>
              <a:buNone/>
            </a:pPr>
            <a:endParaRPr/>
          </a:p>
        </p:txBody>
      </p:sp>
      <p:sp>
        <p:nvSpPr>
          <p:cNvPr id="190" name="Google Shape;190;g3f9b2aaf035_0_181: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f9b2aaf035_0_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3f9b2aaf035_0_2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3f9b2aaf035_0_203: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2" name="Google Shape;232;g3f9b2aaf035_0_203: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3" name="Google Shape;233;g3f9b2aaf035_0_203: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f9b2aaf035_6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3f9b2aaf035_6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3f9b2aaf035_6_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g3f9b2aaf035_6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f9b2aaf035_6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3f9b2aaf035_6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3f9b2aaf035_0_347:notes"/>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0" name="Google Shape;340;g3f9b2aaf035_0_347:notes"/>
          <p:cNvSpPr txBox="1">
            <a:spLocks noGrp="1"/>
          </p:cNvSpPr>
          <p:nvPr>
            <p:ph type="body" idx="1"/>
          </p:nvPr>
        </p:nvSpPr>
        <p:spPr>
          <a:xfrm>
            <a:off x="685800" y="3300413"/>
            <a:ext cx="5486400" cy="2700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1" name="Google Shape;341;g3f9b2aaf035_0_347:notes"/>
          <p:cNvSpPr txBox="1">
            <a:spLocks noGrp="1"/>
          </p:cNvSpPr>
          <p:nvPr>
            <p:ph type="sldNum" idx="12"/>
          </p:nvPr>
        </p:nvSpPr>
        <p:spPr>
          <a:xfrm>
            <a:off x="3884613" y="6513910"/>
            <a:ext cx="2971800" cy="3441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g3f9b2aaf035_0_473: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2" name="Google Shape;472;g3f9b2aaf035_0_473: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125 tx bị sus và nht</a:t>
            </a:r>
            <a:endParaRPr/>
          </a:p>
          <a:p>
            <a:pPr marL="0" lvl="0" indent="0" algn="l" rtl="0">
              <a:spcBef>
                <a:spcPts val="0"/>
              </a:spcBef>
              <a:spcAft>
                <a:spcPts val="0"/>
              </a:spcAft>
              <a:buNone/>
            </a:pPr>
            <a:r>
              <a:rPr lang="en"/>
              <a:t>685 tx chưa quay lại hoạt động</a:t>
            </a:r>
            <a:endParaRPr/>
          </a:p>
        </p:txBody>
      </p:sp>
      <p:sp>
        <p:nvSpPr>
          <p:cNvPr id="473" name="Google Shape;473;g3f9b2aaf035_0_473: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g3f9b2aaf035_0_533:notes"/>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3" name="Google Shape;533;g3f9b2aaf035_0_533:notes"/>
          <p:cNvSpPr txBox="1">
            <a:spLocks noGrp="1"/>
          </p:cNvSpPr>
          <p:nvPr>
            <p:ph type="body" idx="1"/>
          </p:nvPr>
        </p:nvSpPr>
        <p:spPr>
          <a:xfrm>
            <a:off x="685800" y="3300413"/>
            <a:ext cx="5486400" cy="2700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4" name="Google Shape;534;g3f9b2aaf035_0_533:notes"/>
          <p:cNvSpPr txBox="1">
            <a:spLocks noGrp="1"/>
          </p:cNvSpPr>
          <p:nvPr>
            <p:ph type="sldNum" idx="12"/>
          </p:nvPr>
        </p:nvSpPr>
        <p:spPr>
          <a:xfrm>
            <a:off x="3884613" y="6513910"/>
            <a:ext cx="2971800" cy="3441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g3f9b2aaf035_0_584:notes"/>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5" name="Google Shape;585;g3f9b2aaf035_0_584:notes"/>
          <p:cNvSpPr txBox="1">
            <a:spLocks noGrp="1"/>
          </p:cNvSpPr>
          <p:nvPr>
            <p:ph type="body" idx="1"/>
          </p:nvPr>
        </p:nvSpPr>
        <p:spPr>
          <a:xfrm>
            <a:off x="685800" y="3300413"/>
            <a:ext cx="5486400" cy="2700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6" name="Google Shape;586;g3f9b2aaf035_0_584:notes"/>
          <p:cNvSpPr txBox="1">
            <a:spLocks noGrp="1"/>
          </p:cNvSpPr>
          <p:nvPr>
            <p:ph type="sldNum" idx="12"/>
          </p:nvPr>
        </p:nvSpPr>
        <p:spPr>
          <a:xfrm>
            <a:off x="3884613" y="6513910"/>
            <a:ext cx="2971800" cy="3441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g3f9b2aaf035_0_627:notes"/>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9" name="Google Shape;629;g3f9b2aaf035_0_627:notes"/>
          <p:cNvSpPr txBox="1">
            <a:spLocks noGrp="1"/>
          </p:cNvSpPr>
          <p:nvPr>
            <p:ph type="body" idx="1"/>
          </p:nvPr>
        </p:nvSpPr>
        <p:spPr>
          <a:xfrm>
            <a:off x="685800" y="3300413"/>
            <a:ext cx="5486400" cy="2700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0" name="Google Shape;630;g3f9b2aaf035_0_627:notes"/>
          <p:cNvSpPr txBox="1">
            <a:spLocks noGrp="1"/>
          </p:cNvSpPr>
          <p:nvPr>
            <p:ph type="sldNum" idx="12"/>
          </p:nvPr>
        </p:nvSpPr>
        <p:spPr>
          <a:xfrm>
            <a:off x="3884613" y="6513910"/>
            <a:ext cx="2971800" cy="3441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4"/>
        <p:cNvGrpSpPr/>
        <p:nvPr/>
      </p:nvGrpSpPr>
      <p:grpSpPr>
        <a:xfrm>
          <a:off x="0" y="0"/>
          <a:ext cx="0" cy="0"/>
          <a:chOff x="0" y="0"/>
          <a:chExt cx="0" cy="0"/>
        </a:xfrm>
      </p:grpSpPr>
      <p:sp>
        <p:nvSpPr>
          <p:cNvPr id="715" name="Google Shape;715;g3f9b2aaf035_0_710: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6" name="Google Shape;716;g3f9b2aaf035_0_710: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7" name="Google Shape;717;g3f9b2aaf035_0_710: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3"/>
        <p:cNvGrpSpPr/>
        <p:nvPr/>
      </p:nvGrpSpPr>
      <p:grpSpPr>
        <a:xfrm>
          <a:off x="0" y="0"/>
          <a:ext cx="0" cy="0"/>
          <a:chOff x="0" y="0"/>
          <a:chExt cx="0" cy="0"/>
        </a:xfrm>
      </p:grpSpPr>
      <p:sp>
        <p:nvSpPr>
          <p:cNvPr id="724" name="Google Shape;724;g3f9b2aaf035_11_125: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5" name="Google Shape;725;g3f9b2aaf035_11_125: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6" name="Google Shape;726;g3f9b2aaf035_11_125: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4"/>
        <p:cNvGrpSpPr/>
        <p:nvPr/>
      </p:nvGrpSpPr>
      <p:grpSpPr>
        <a:xfrm>
          <a:off x="0" y="0"/>
          <a:ext cx="0" cy="0"/>
          <a:chOff x="0" y="0"/>
          <a:chExt cx="0" cy="0"/>
        </a:xfrm>
      </p:grpSpPr>
      <p:sp>
        <p:nvSpPr>
          <p:cNvPr id="775" name="Google Shape;775;g3f9b2aaf035_0_759: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6" name="Google Shape;776;g3f9b2aaf035_0_759: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7" name="Google Shape;777;g3f9b2aaf035_0_759: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4"/>
        <p:cNvGrpSpPr/>
        <p:nvPr/>
      </p:nvGrpSpPr>
      <p:grpSpPr>
        <a:xfrm>
          <a:off x="0" y="0"/>
          <a:ext cx="0" cy="0"/>
          <a:chOff x="0" y="0"/>
          <a:chExt cx="0" cy="0"/>
        </a:xfrm>
      </p:grpSpPr>
      <p:sp>
        <p:nvSpPr>
          <p:cNvPr id="795" name="Google Shape;795;g3f9b2aaf035_0_811: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6" name="Google Shape;796;g3f9b2aaf035_0_811: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7" name="Google Shape;797;g3f9b2aaf035_0_811: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g3f9b2aaf035_0_830: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7" name="Google Shape;817;g3f9b2aaf035_0_830: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8" name="Google Shape;818;g3f9b2aaf035_0_830: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5"/>
        <p:cNvGrpSpPr/>
        <p:nvPr/>
      </p:nvGrpSpPr>
      <p:grpSpPr>
        <a:xfrm>
          <a:off x="0" y="0"/>
          <a:ext cx="0" cy="0"/>
          <a:chOff x="0" y="0"/>
          <a:chExt cx="0" cy="0"/>
        </a:xfrm>
      </p:grpSpPr>
      <p:sp>
        <p:nvSpPr>
          <p:cNvPr id="836" name="Google Shape;836;g3f9b2aaf035_11_3: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7" name="Google Shape;837;g3f9b2aaf035_11_3: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8" name="Google Shape;838;g3f9b2aaf035_11_3: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g3f9b2aaf035_11_53: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9" name="Google Shape;859;g3f9b2aaf035_11_53: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0" name="Google Shape;860;g3f9b2aaf035_11_53: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g3f9b2aaf035_0_1251: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9" name="Google Shape;999;g3f9b2aaf035_0_1251: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0" name="Google Shape;1000;g3f9b2aaf035_0_1251: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6"/>
        <p:cNvGrpSpPr/>
        <p:nvPr/>
      </p:nvGrpSpPr>
      <p:grpSpPr>
        <a:xfrm>
          <a:off x="0" y="0"/>
          <a:ext cx="0" cy="0"/>
          <a:chOff x="0" y="0"/>
          <a:chExt cx="0" cy="0"/>
        </a:xfrm>
      </p:grpSpPr>
      <p:sp>
        <p:nvSpPr>
          <p:cNvPr id="1087" name="Google Shape;1087;g3f9b2aaf035_0_1339: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8" name="Google Shape;1088;g3f9b2aaf035_0_1339: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9" name="Google Shape;1089;g3f9b2aaf035_0_1339: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0"/>
        <p:cNvGrpSpPr/>
        <p:nvPr/>
      </p:nvGrpSpPr>
      <p:grpSpPr>
        <a:xfrm>
          <a:off x="0" y="0"/>
          <a:ext cx="0" cy="0"/>
          <a:chOff x="0" y="0"/>
          <a:chExt cx="0" cy="0"/>
        </a:xfrm>
      </p:grpSpPr>
      <p:sp>
        <p:nvSpPr>
          <p:cNvPr id="1181" name="Google Shape;1181;g3f9b2aaf035_0_1432: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2" name="Google Shape;1182;g3f9b2aaf035_0_1432: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3" name="Google Shape;1183;g3f9b2aaf035_0_1432: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9"/>
        <p:cNvGrpSpPr/>
        <p:nvPr/>
      </p:nvGrpSpPr>
      <p:grpSpPr>
        <a:xfrm>
          <a:off x="0" y="0"/>
          <a:ext cx="0" cy="0"/>
          <a:chOff x="0" y="0"/>
          <a:chExt cx="0" cy="0"/>
        </a:xfrm>
      </p:grpSpPr>
      <p:sp>
        <p:nvSpPr>
          <p:cNvPr id="1210" name="Google Shape;1210;g3f9b2aaf035_0_1460: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1" name="Google Shape;1211;g3f9b2aaf035_0_1460: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2" name="Google Shape;1212;g3f9b2aaf035_0_1460: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0"/>
        <p:cNvGrpSpPr/>
        <p:nvPr/>
      </p:nvGrpSpPr>
      <p:grpSpPr>
        <a:xfrm>
          <a:off x="0" y="0"/>
          <a:ext cx="0" cy="0"/>
          <a:chOff x="0" y="0"/>
          <a:chExt cx="0" cy="0"/>
        </a:xfrm>
      </p:grpSpPr>
      <p:sp>
        <p:nvSpPr>
          <p:cNvPr id="1231" name="Google Shape;1231;g3f9b2aaf035_5_79: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2" name="Google Shape;1232;g3f9b2aaf035_5_79: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3" name="Google Shape;1233;g3f9b2aaf035_5_79: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2"/>
        <p:cNvGrpSpPr/>
        <p:nvPr/>
      </p:nvGrpSpPr>
      <p:grpSpPr>
        <a:xfrm>
          <a:off x="0" y="0"/>
          <a:ext cx="0" cy="0"/>
          <a:chOff x="0" y="0"/>
          <a:chExt cx="0" cy="0"/>
        </a:xfrm>
      </p:grpSpPr>
      <p:sp>
        <p:nvSpPr>
          <p:cNvPr id="1263" name="Google Shape;1263;g3f9b2aaf035_5_110: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4" name="Google Shape;1264;g3f9b2aaf035_5_110: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5" name="Google Shape;1265;g3f9b2aaf035_5_110: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2"/>
        <p:cNvGrpSpPr/>
        <p:nvPr/>
      </p:nvGrpSpPr>
      <p:grpSpPr>
        <a:xfrm>
          <a:off x="0" y="0"/>
          <a:ext cx="0" cy="0"/>
          <a:chOff x="0" y="0"/>
          <a:chExt cx="0" cy="0"/>
        </a:xfrm>
      </p:grpSpPr>
      <p:sp>
        <p:nvSpPr>
          <p:cNvPr id="1293" name="Google Shape;1293;g3f9b2aaf035_5_139: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4" name="Google Shape;1294;g3f9b2aaf035_5_139: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5" name="Google Shape;1295;g3f9b2aaf035_5_139: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8"/>
        <p:cNvGrpSpPr/>
        <p:nvPr/>
      </p:nvGrpSpPr>
      <p:grpSpPr>
        <a:xfrm>
          <a:off x="0" y="0"/>
          <a:ext cx="0" cy="0"/>
          <a:chOff x="0" y="0"/>
          <a:chExt cx="0" cy="0"/>
        </a:xfrm>
      </p:grpSpPr>
      <p:sp>
        <p:nvSpPr>
          <p:cNvPr id="1309" name="Google Shape;1309;g3f9b2aaf035_5_154: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0" name="Google Shape;1310;g3f9b2aaf035_5_154: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1" name="Google Shape;1311;g3f9b2aaf035_5_154: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mp; Bullets 3">
  <p:cSld name="TITLE_AND_BODY_4">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2438" y="404813"/>
            <a:ext cx="8239200" cy="537300"/>
          </a:xfrm>
          <a:prstGeom prst="rect">
            <a:avLst/>
          </a:prstGeom>
          <a:noFill/>
          <a:ln>
            <a:noFill/>
          </a:ln>
        </p:spPr>
        <p:txBody>
          <a:bodyPr spcFirstLastPara="1" wrap="square" lIns="19050" tIns="19050" rIns="19050" bIns="19050" anchor="t" anchorCtr="0">
            <a:normAutofit/>
          </a:bodyPr>
          <a:lstStyle>
            <a:lvl1pPr lvl="0" algn="l">
              <a:lnSpc>
                <a:spcPct val="80000"/>
              </a:lnSpc>
              <a:spcBef>
                <a:spcPts val="0"/>
              </a:spcBef>
              <a:spcAft>
                <a:spcPts val="0"/>
              </a:spcAft>
              <a:buClr>
                <a:srgbClr val="000000"/>
              </a:buClr>
              <a:buSzPts val="700"/>
              <a:buNone/>
              <a:defRPr/>
            </a:lvl1pPr>
            <a:lvl2pPr lvl="1" algn="l">
              <a:lnSpc>
                <a:spcPct val="80000"/>
              </a:lnSpc>
              <a:spcBef>
                <a:spcPts val="0"/>
              </a:spcBef>
              <a:spcAft>
                <a:spcPts val="0"/>
              </a:spcAft>
              <a:buClr>
                <a:srgbClr val="000000"/>
              </a:buClr>
              <a:buSzPts val="700"/>
              <a:buNone/>
              <a:defRPr/>
            </a:lvl2pPr>
            <a:lvl3pPr lvl="2" algn="l">
              <a:lnSpc>
                <a:spcPct val="80000"/>
              </a:lnSpc>
              <a:spcBef>
                <a:spcPts val="0"/>
              </a:spcBef>
              <a:spcAft>
                <a:spcPts val="0"/>
              </a:spcAft>
              <a:buClr>
                <a:srgbClr val="000000"/>
              </a:buClr>
              <a:buSzPts val="700"/>
              <a:buNone/>
              <a:defRPr/>
            </a:lvl3pPr>
            <a:lvl4pPr lvl="3" algn="l">
              <a:lnSpc>
                <a:spcPct val="80000"/>
              </a:lnSpc>
              <a:spcBef>
                <a:spcPts val="0"/>
              </a:spcBef>
              <a:spcAft>
                <a:spcPts val="0"/>
              </a:spcAft>
              <a:buClr>
                <a:srgbClr val="000000"/>
              </a:buClr>
              <a:buSzPts val="700"/>
              <a:buNone/>
              <a:defRPr/>
            </a:lvl4pPr>
            <a:lvl5pPr lvl="4" algn="l">
              <a:lnSpc>
                <a:spcPct val="80000"/>
              </a:lnSpc>
              <a:spcBef>
                <a:spcPts val="0"/>
              </a:spcBef>
              <a:spcAft>
                <a:spcPts val="0"/>
              </a:spcAft>
              <a:buClr>
                <a:srgbClr val="000000"/>
              </a:buClr>
              <a:buSzPts val="700"/>
              <a:buNone/>
              <a:defRPr/>
            </a:lvl5pPr>
            <a:lvl6pPr lvl="5" algn="l">
              <a:lnSpc>
                <a:spcPct val="80000"/>
              </a:lnSpc>
              <a:spcBef>
                <a:spcPts val="0"/>
              </a:spcBef>
              <a:spcAft>
                <a:spcPts val="0"/>
              </a:spcAft>
              <a:buClr>
                <a:srgbClr val="000000"/>
              </a:buClr>
              <a:buSzPts val="700"/>
              <a:buNone/>
              <a:defRPr/>
            </a:lvl6pPr>
            <a:lvl7pPr lvl="6" algn="l">
              <a:lnSpc>
                <a:spcPct val="80000"/>
              </a:lnSpc>
              <a:spcBef>
                <a:spcPts val="0"/>
              </a:spcBef>
              <a:spcAft>
                <a:spcPts val="0"/>
              </a:spcAft>
              <a:buClr>
                <a:srgbClr val="000000"/>
              </a:buClr>
              <a:buSzPts val="700"/>
              <a:buNone/>
              <a:defRPr/>
            </a:lvl7pPr>
            <a:lvl8pPr lvl="7" algn="l">
              <a:lnSpc>
                <a:spcPct val="80000"/>
              </a:lnSpc>
              <a:spcBef>
                <a:spcPts val="0"/>
              </a:spcBef>
              <a:spcAft>
                <a:spcPts val="0"/>
              </a:spcAft>
              <a:buClr>
                <a:srgbClr val="000000"/>
              </a:buClr>
              <a:buSzPts val="700"/>
              <a:buNone/>
              <a:defRPr/>
            </a:lvl8pPr>
            <a:lvl9pPr lvl="8" algn="l">
              <a:lnSpc>
                <a:spcPct val="80000"/>
              </a:lnSpc>
              <a:spcBef>
                <a:spcPts val="0"/>
              </a:spcBef>
              <a:spcAft>
                <a:spcPts val="0"/>
              </a:spcAft>
              <a:buClr>
                <a:srgbClr val="000000"/>
              </a:buClr>
              <a:buSzPts val="700"/>
              <a:buNone/>
              <a:defRPr/>
            </a:lvl9pPr>
          </a:lstStyle>
          <a:p>
            <a:endParaRPr/>
          </a:p>
        </p:txBody>
      </p:sp>
      <p:sp>
        <p:nvSpPr>
          <p:cNvPr id="52" name="Google Shape;52;p13"/>
          <p:cNvSpPr txBox="1">
            <a:spLocks noGrp="1"/>
          </p:cNvSpPr>
          <p:nvPr>
            <p:ph type="body" idx="1"/>
          </p:nvPr>
        </p:nvSpPr>
        <p:spPr>
          <a:xfrm>
            <a:off x="452438" y="889861"/>
            <a:ext cx="8239200" cy="350700"/>
          </a:xfrm>
          <a:prstGeom prst="rect">
            <a:avLst/>
          </a:prstGeom>
          <a:noFill/>
          <a:ln>
            <a:noFill/>
          </a:ln>
        </p:spPr>
        <p:txBody>
          <a:bodyPr spcFirstLastPara="1" wrap="square" lIns="17150" tIns="17150" rIns="17150" bIns="17150" anchor="t" anchorCtr="0">
            <a:normAutofit/>
          </a:bodyPr>
          <a:lstStyle>
            <a:lvl1pPr marL="457200" lvl="0" indent="-228600" algn="l">
              <a:lnSpc>
                <a:spcPct val="100000"/>
              </a:lnSpc>
              <a:spcBef>
                <a:spcPts val="0"/>
              </a:spcBef>
              <a:spcAft>
                <a:spcPts val="0"/>
              </a:spcAft>
              <a:buClr>
                <a:srgbClr val="000000"/>
              </a:buClr>
              <a:buSzPts val="2100"/>
              <a:buFont typeface="Helvetica Neue"/>
              <a:buNone/>
              <a:defRPr sz="2100" b="1"/>
            </a:lvl1pPr>
            <a:lvl2pPr marL="914400" lvl="1" indent="-279400" algn="l">
              <a:lnSpc>
                <a:spcPct val="90000"/>
              </a:lnSpc>
              <a:spcBef>
                <a:spcPts val="1700"/>
              </a:spcBef>
              <a:spcAft>
                <a:spcPts val="0"/>
              </a:spcAft>
              <a:buClr>
                <a:srgbClr val="000000"/>
              </a:buClr>
              <a:buSzPts val="800"/>
              <a:buChar char="•"/>
              <a:defRPr/>
            </a:lvl2pPr>
            <a:lvl3pPr marL="1371600" lvl="2" indent="-279400" algn="l">
              <a:lnSpc>
                <a:spcPct val="90000"/>
              </a:lnSpc>
              <a:spcBef>
                <a:spcPts val="1700"/>
              </a:spcBef>
              <a:spcAft>
                <a:spcPts val="0"/>
              </a:spcAft>
              <a:buClr>
                <a:srgbClr val="000000"/>
              </a:buClr>
              <a:buSzPts val="800"/>
              <a:buChar char="•"/>
              <a:defRPr/>
            </a:lvl3pPr>
            <a:lvl4pPr marL="1828800" lvl="3" indent="-279400" algn="l">
              <a:lnSpc>
                <a:spcPct val="90000"/>
              </a:lnSpc>
              <a:spcBef>
                <a:spcPts val="1700"/>
              </a:spcBef>
              <a:spcAft>
                <a:spcPts val="0"/>
              </a:spcAft>
              <a:buClr>
                <a:srgbClr val="000000"/>
              </a:buClr>
              <a:buSzPts val="800"/>
              <a:buChar char="•"/>
              <a:defRPr/>
            </a:lvl4pPr>
            <a:lvl5pPr marL="2286000" lvl="4" indent="-279400" algn="l">
              <a:lnSpc>
                <a:spcPct val="90000"/>
              </a:lnSpc>
              <a:spcBef>
                <a:spcPts val="1700"/>
              </a:spcBef>
              <a:spcAft>
                <a:spcPts val="0"/>
              </a:spcAft>
              <a:buClr>
                <a:srgbClr val="000000"/>
              </a:buClr>
              <a:buSzPts val="800"/>
              <a:buChar char="•"/>
              <a:defRPr/>
            </a:lvl5pPr>
            <a:lvl6pPr marL="2743200" lvl="5" indent="-279400" algn="l">
              <a:lnSpc>
                <a:spcPct val="90000"/>
              </a:lnSpc>
              <a:spcBef>
                <a:spcPts val="1700"/>
              </a:spcBef>
              <a:spcAft>
                <a:spcPts val="0"/>
              </a:spcAft>
              <a:buClr>
                <a:srgbClr val="000000"/>
              </a:buClr>
              <a:buSzPts val="800"/>
              <a:buChar char="•"/>
              <a:defRPr/>
            </a:lvl6pPr>
            <a:lvl7pPr marL="3200400" lvl="6" indent="-279400" algn="l">
              <a:lnSpc>
                <a:spcPct val="90000"/>
              </a:lnSpc>
              <a:spcBef>
                <a:spcPts val="1700"/>
              </a:spcBef>
              <a:spcAft>
                <a:spcPts val="0"/>
              </a:spcAft>
              <a:buClr>
                <a:srgbClr val="000000"/>
              </a:buClr>
              <a:buSzPts val="800"/>
              <a:buChar char="•"/>
              <a:defRPr/>
            </a:lvl7pPr>
            <a:lvl8pPr marL="3657600" lvl="7" indent="-279400" algn="l">
              <a:lnSpc>
                <a:spcPct val="90000"/>
              </a:lnSpc>
              <a:spcBef>
                <a:spcPts val="1700"/>
              </a:spcBef>
              <a:spcAft>
                <a:spcPts val="0"/>
              </a:spcAft>
              <a:buClr>
                <a:srgbClr val="000000"/>
              </a:buClr>
              <a:buSzPts val="800"/>
              <a:buChar char="•"/>
              <a:defRPr/>
            </a:lvl8pPr>
            <a:lvl9pPr marL="4114800" lvl="8" indent="-279400" algn="l">
              <a:lnSpc>
                <a:spcPct val="90000"/>
              </a:lnSpc>
              <a:spcBef>
                <a:spcPts val="1700"/>
              </a:spcBef>
              <a:spcAft>
                <a:spcPts val="0"/>
              </a:spcAft>
              <a:buClr>
                <a:srgbClr val="000000"/>
              </a:buClr>
              <a:buSzPts val="800"/>
              <a:buChar char="•"/>
              <a:defRPr/>
            </a:lvl9pPr>
          </a:lstStyle>
          <a:p>
            <a:endParaRPr/>
          </a:p>
        </p:txBody>
      </p:sp>
      <p:sp>
        <p:nvSpPr>
          <p:cNvPr id="53" name="Google Shape;53;p13"/>
          <p:cNvSpPr txBox="1">
            <a:spLocks noGrp="1"/>
          </p:cNvSpPr>
          <p:nvPr>
            <p:ph type="body" idx="2"/>
          </p:nvPr>
        </p:nvSpPr>
        <p:spPr>
          <a:xfrm>
            <a:off x="452438" y="1593189"/>
            <a:ext cx="8239200" cy="3096000"/>
          </a:xfrm>
          <a:prstGeom prst="rect">
            <a:avLst/>
          </a:prstGeom>
          <a:noFill/>
          <a:ln>
            <a:noFill/>
          </a:ln>
        </p:spPr>
        <p:txBody>
          <a:bodyPr spcFirstLastPara="1" wrap="square" lIns="19050" tIns="19050" rIns="19050" bIns="19050" anchor="t" anchorCtr="0">
            <a:normAutofit/>
          </a:bodyPr>
          <a:lstStyle>
            <a:lvl1pPr marL="457200" lvl="0" indent="-279400" algn="l">
              <a:lnSpc>
                <a:spcPct val="90000"/>
              </a:lnSpc>
              <a:spcBef>
                <a:spcPts val="1700"/>
              </a:spcBef>
              <a:spcAft>
                <a:spcPts val="0"/>
              </a:spcAft>
              <a:buClr>
                <a:srgbClr val="000000"/>
              </a:buClr>
              <a:buSzPts val="800"/>
              <a:buChar char="•"/>
              <a:defRPr/>
            </a:lvl1pPr>
            <a:lvl2pPr marL="914400" lvl="1" indent="-279400" algn="l">
              <a:lnSpc>
                <a:spcPct val="90000"/>
              </a:lnSpc>
              <a:spcBef>
                <a:spcPts val="1700"/>
              </a:spcBef>
              <a:spcAft>
                <a:spcPts val="0"/>
              </a:spcAft>
              <a:buClr>
                <a:srgbClr val="000000"/>
              </a:buClr>
              <a:buSzPts val="800"/>
              <a:buChar char="•"/>
              <a:defRPr/>
            </a:lvl2pPr>
            <a:lvl3pPr marL="1371600" lvl="2" indent="-279400" algn="l">
              <a:lnSpc>
                <a:spcPct val="90000"/>
              </a:lnSpc>
              <a:spcBef>
                <a:spcPts val="1700"/>
              </a:spcBef>
              <a:spcAft>
                <a:spcPts val="0"/>
              </a:spcAft>
              <a:buClr>
                <a:srgbClr val="000000"/>
              </a:buClr>
              <a:buSzPts val="800"/>
              <a:buChar char="•"/>
              <a:defRPr/>
            </a:lvl3pPr>
            <a:lvl4pPr marL="1828800" lvl="3" indent="-279400" algn="l">
              <a:lnSpc>
                <a:spcPct val="90000"/>
              </a:lnSpc>
              <a:spcBef>
                <a:spcPts val="1700"/>
              </a:spcBef>
              <a:spcAft>
                <a:spcPts val="0"/>
              </a:spcAft>
              <a:buClr>
                <a:srgbClr val="000000"/>
              </a:buClr>
              <a:buSzPts val="800"/>
              <a:buChar char="•"/>
              <a:defRPr/>
            </a:lvl4pPr>
            <a:lvl5pPr marL="2286000" lvl="4" indent="-279400" algn="l">
              <a:lnSpc>
                <a:spcPct val="90000"/>
              </a:lnSpc>
              <a:spcBef>
                <a:spcPts val="1700"/>
              </a:spcBef>
              <a:spcAft>
                <a:spcPts val="0"/>
              </a:spcAft>
              <a:buClr>
                <a:srgbClr val="000000"/>
              </a:buClr>
              <a:buSzPts val="800"/>
              <a:buChar char="•"/>
              <a:defRPr/>
            </a:lvl5pPr>
            <a:lvl6pPr marL="2743200" lvl="5" indent="-279400" algn="l">
              <a:lnSpc>
                <a:spcPct val="90000"/>
              </a:lnSpc>
              <a:spcBef>
                <a:spcPts val="1700"/>
              </a:spcBef>
              <a:spcAft>
                <a:spcPts val="0"/>
              </a:spcAft>
              <a:buClr>
                <a:srgbClr val="000000"/>
              </a:buClr>
              <a:buSzPts val="800"/>
              <a:buChar char="•"/>
              <a:defRPr/>
            </a:lvl6pPr>
            <a:lvl7pPr marL="3200400" lvl="6" indent="-279400" algn="l">
              <a:lnSpc>
                <a:spcPct val="90000"/>
              </a:lnSpc>
              <a:spcBef>
                <a:spcPts val="1700"/>
              </a:spcBef>
              <a:spcAft>
                <a:spcPts val="0"/>
              </a:spcAft>
              <a:buClr>
                <a:srgbClr val="000000"/>
              </a:buClr>
              <a:buSzPts val="800"/>
              <a:buChar char="•"/>
              <a:defRPr/>
            </a:lvl7pPr>
            <a:lvl8pPr marL="3657600" lvl="7" indent="-279400" algn="l">
              <a:lnSpc>
                <a:spcPct val="90000"/>
              </a:lnSpc>
              <a:spcBef>
                <a:spcPts val="1700"/>
              </a:spcBef>
              <a:spcAft>
                <a:spcPts val="0"/>
              </a:spcAft>
              <a:buClr>
                <a:srgbClr val="000000"/>
              </a:buClr>
              <a:buSzPts val="800"/>
              <a:buChar char="•"/>
              <a:defRPr/>
            </a:lvl8pPr>
            <a:lvl9pPr marL="4114800" lvl="8" indent="-279400" algn="l">
              <a:lnSpc>
                <a:spcPct val="90000"/>
              </a:lnSpc>
              <a:spcBef>
                <a:spcPts val="1700"/>
              </a:spcBef>
              <a:spcAft>
                <a:spcPts val="0"/>
              </a:spcAft>
              <a:buClr>
                <a:srgbClr val="000000"/>
              </a:buClr>
              <a:buSzPts val="800"/>
              <a:buChar char="•"/>
              <a:defRPr/>
            </a:lvl9pPr>
          </a:lstStyle>
          <a:p>
            <a:endParaRPr/>
          </a:p>
        </p:txBody>
      </p:sp>
      <p:sp>
        <p:nvSpPr>
          <p:cNvPr id="54" name="Google Shape;54;p13"/>
          <p:cNvSpPr txBox="1">
            <a:spLocks noGrp="1"/>
          </p:cNvSpPr>
          <p:nvPr>
            <p:ph type="sldNum" idx="12"/>
          </p:nvPr>
        </p:nvSpPr>
        <p:spPr>
          <a:xfrm>
            <a:off x="4500562" y="4905375"/>
            <a:ext cx="138300" cy="146100"/>
          </a:xfrm>
          <a:prstGeom prst="rect">
            <a:avLst/>
          </a:prstGeom>
          <a:noFill/>
          <a:ln>
            <a:noFill/>
          </a:ln>
        </p:spPr>
        <p:txBody>
          <a:bodyPr spcFirstLastPara="1" wrap="square" lIns="19050" tIns="19050" rIns="19050" bIns="19050" anchor="b" anchorCtr="0">
            <a:spAutoFit/>
          </a:bodyPr>
          <a:lstStyle>
            <a:lvl1pPr marL="0" marR="0" lvl="0"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Helvetica Neue"/>
                <a:ea typeface="Helvetica Neue"/>
                <a:cs typeface="Helvetica Neue"/>
                <a:sym typeface="Helvetica Neue"/>
              </a:defRPr>
            </a:lvl1pPr>
            <a:lvl2pPr marL="0" marR="0" lvl="1"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Helvetica Neue"/>
                <a:ea typeface="Helvetica Neue"/>
                <a:cs typeface="Helvetica Neue"/>
                <a:sym typeface="Helvetica Neue"/>
              </a:defRPr>
            </a:lvl2pPr>
            <a:lvl3pPr marL="0" marR="0" lvl="2"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Helvetica Neue"/>
                <a:ea typeface="Helvetica Neue"/>
                <a:cs typeface="Helvetica Neue"/>
                <a:sym typeface="Helvetica Neue"/>
              </a:defRPr>
            </a:lvl3pPr>
            <a:lvl4pPr marL="0" marR="0" lvl="3"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Helvetica Neue"/>
                <a:ea typeface="Helvetica Neue"/>
                <a:cs typeface="Helvetica Neue"/>
                <a:sym typeface="Helvetica Neue"/>
              </a:defRPr>
            </a:lvl4pPr>
            <a:lvl5pPr marL="0" marR="0" lvl="4"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Helvetica Neue"/>
                <a:ea typeface="Helvetica Neue"/>
                <a:cs typeface="Helvetica Neue"/>
                <a:sym typeface="Helvetica Neue"/>
              </a:defRPr>
            </a:lvl5pPr>
            <a:lvl6pPr marL="0" marR="0" lvl="5"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Helvetica Neue"/>
                <a:ea typeface="Helvetica Neue"/>
                <a:cs typeface="Helvetica Neue"/>
                <a:sym typeface="Helvetica Neue"/>
              </a:defRPr>
            </a:lvl6pPr>
            <a:lvl7pPr marL="0" marR="0" lvl="6"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Helvetica Neue"/>
                <a:ea typeface="Helvetica Neue"/>
                <a:cs typeface="Helvetica Neue"/>
                <a:sym typeface="Helvetica Neue"/>
              </a:defRPr>
            </a:lvl7pPr>
            <a:lvl8pPr marL="0" marR="0" lvl="7"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Helvetica Neue"/>
                <a:ea typeface="Helvetica Neue"/>
                <a:cs typeface="Helvetica Neue"/>
                <a:sym typeface="Helvetica Neue"/>
              </a:defRPr>
            </a:lvl8pPr>
            <a:lvl9pPr marL="0" marR="0" lvl="8"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2">
  <p:cSld name="TITLE_2">
    <p:spTree>
      <p:nvGrpSpPr>
        <p:cNvPr id="1" name="Shape 55"/>
        <p:cNvGrpSpPr/>
        <p:nvPr/>
      </p:nvGrpSpPr>
      <p:grpSpPr>
        <a:xfrm>
          <a:off x="0" y="0"/>
          <a:ext cx="0" cy="0"/>
          <a:chOff x="0" y="0"/>
          <a:chExt cx="0" cy="0"/>
        </a:xfrm>
      </p:grpSpPr>
      <p:sp>
        <p:nvSpPr>
          <p:cNvPr id="56" name="Google Shape;56;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57" name="Google Shape;57;p14"/>
          <p:cNvPicPr preferRelativeResize="0"/>
          <p:nvPr/>
        </p:nvPicPr>
        <p:blipFill rotWithShape="1">
          <a:blip r:embed="rId2">
            <a:alphaModFix/>
          </a:blip>
          <a:srcRect t="89495"/>
          <a:stretch/>
        </p:blipFill>
        <p:spPr>
          <a:xfrm>
            <a:off x="0" y="-1"/>
            <a:ext cx="9144001" cy="538800"/>
          </a:xfrm>
          <a:prstGeom prst="rect">
            <a:avLst/>
          </a:prstGeom>
          <a:noFill/>
          <a:ln>
            <a:noFill/>
          </a:ln>
        </p:spPr>
      </p:pic>
      <p:sp>
        <p:nvSpPr>
          <p:cNvPr id="58" name="Google Shape;58;p14"/>
          <p:cNvSpPr txBox="1">
            <a:spLocks noGrp="1"/>
          </p:cNvSpPr>
          <p:nvPr>
            <p:ph type="title"/>
          </p:nvPr>
        </p:nvSpPr>
        <p:spPr>
          <a:xfrm>
            <a:off x="0" y="-16950"/>
            <a:ext cx="9144000" cy="5727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2300"/>
              <a:buFont typeface="Lexend"/>
              <a:buNone/>
              <a:defRPr sz="2300" b="1">
                <a:solidFill>
                  <a:schemeClr val="lt1"/>
                </a:solidFill>
                <a:latin typeface="Lexend"/>
                <a:ea typeface="Lexend"/>
                <a:cs typeface="Lexend"/>
                <a:sym typeface="Lexend"/>
              </a:defRPr>
            </a:lvl1pPr>
            <a:lvl2pPr lvl="1">
              <a:spcBef>
                <a:spcPts val="0"/>
              </a:spcBef>
              <a:spcAft>
                <a:spcPts val="0"/>
              </a:spcAft>
              <a:buSzPts val="2300"/>
              <a:buFont typeface="Lexend"/>
              <a:buNone/>
              <a:defRPr sz="2300" b="1">
                <a:latin typeface="Lexend"/>
                <a:ea typeface="Lexend"/>
                <a:cs typeface="Lexend"/>
                <a:sym typeface="Lexend"/>
              </a:defRPr>
            </a:lvl2pPr>
            <a:lvl3pPr lvl="2">
              <a:spcBef>
                <a:spcPts val="0"/>
              </a:spcBef>
              <a:spcAft>
                <a:spcPts val="0"/>
              </a:spcAft>
              <a:buSzPts val="2300"/>
              <a:buFont typeface="Lexend"/>
              <a:buNone/>
              <a:defRPr sz="2300" b="1">
                <a:latin typeface="Lexend"/>
                <a:ea typeface="Lexend"/>
                <a:cs typeface="Lexend"/>
                <a:sym typeface="Lexend"/>
              </a:defRPr>
            </a:lvl3pPr>
            <a:lvl4pPr lvl="3">
              <a:spcBef>
                <a:spcPts val="0"/>
              </a:spcBef>
              <a:spcAft>
                <a:spcPts val="0"/>
              </a:spcAft>
              <a:buSzPts val="2300"/>
              <a:buFont typeface="Lexend"/>
              <a:buNone/>
              <a:defRPr sz="2300" b="1">
                <a:latin typeface="Lexend"/>
                <a:ea typeface="Lexend"/>
                <a:cs typeface="Lexend"/>
                <a:sym typeface="Lexend"/>
              </a:defRPr>
            </a:lvl4pPr>
            <a:lvl5pPr lvl="4">
              <a:spcBef>
                <a:spcPts val="0"/>
              </a:spcBef>
              <a:spcAft>
                <a:spcPts val="0"/>
              </a:spcAft>
              <a:buSzPts val="2300"/>
              <a:buFont typeface="Lexend"/>
              <a:buNone/>
              <a:defRPr sz="2300" b="1">
                <a:latin typeface="Lexend"/>
                <a:ea typeface="Lexend"/>
                <a:cs typeface="Lexend"/>
                <a:sym typeface="Lexend"/>
              </a:defRPr>
            </a:lvl5pPr>
            <a:lvl6pPr lvl="5">
              <a:spcBef>
                <a:spcPts val="0"/>
              </a:spcBef>
              <a:spcAft>
                <a:spcPts val="0"/>
              </a:spcAft>
              <a:buSzPts val="2300"/>
              <a:buFont typeface="Lexend"/>
              <a:buNone/>
              <a:defRPr sz="2300" b="1">
                <a:latin typeface="Lexend"/>
                <a:ea typeface="Lexend"/>
                <a:cs typeface="Lexend"/>
                <a:sym typeface="Lexend"/>
              </a:defRPr>
            </a:lvl6pPr>
            <a:lvl7pPr lvl="6">
              <a:spcBef>
                <a:spcPts val="0"/>
              </a:spcBef>
              <a:spcAft>
                <a:spcPts val="0"/>
              </a:spcAft>
              <a:buSzPts val="2300"/>
              <a:buFont typeface="Lexend"/>
              <a:buNone/>
              <a:defRPr sz="2300" b="1">
                <a:latin typeface="Lexend"/>
                <a:ea typeface="Lexend"/>
                <a:cs typeface="Lexend"/>
                <a:sym typeface="Lexend"/>
              </a:defRPr>
            </a:lvl7pPr>
            <a:lvl8pPr lvl="7">
              <a:spcBef>
                <a:spcPts val="0"/>
              </a:spcBef>
              <a:spcAft>
                <a:spcPts val="0"/>
              </a:spcAft>
              <a:buSzPts val="2300"/>
              <a:buFont typeface="Lexend"/>
              <a:buNone/>
              <a:defRPr sz="2300" b="1">
                <a:latin typeface="Lexend"/>
                <a:ea typeface="Lexend"/>
                <a:cs typeface="Lexend"/>
                <a:sym typeface="Lexend"/>
              </a:defRPr>
            </a:lvl8pPr>
            <a:lvl9pPr lvl="8">
              <a:spcBef>
                <a:spcPts val="0"/>
              </a:spcBef>
              <a:spcAft>
                <a:spcPts val="0"/>
              </a:spcAft>
              <a:buSzPts val="2300"/>
              <a:buFont typeface="Lexend"/>
              <a:buNone/>
              <a:defRPr sz="2300" b="1">
                <a:latin typeface="Lexend"/>
                <a:ea typeface="Lexend"/>
                <a:cs typeface="Lexend"/>
                <a:sym typeface="Lexend"/>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1">
  <p:cSld name="TITLE_1">
    <p:spTree>
      <p:nvGrpSpPr>
        <p:cNvPr id="1" name="Shape 59"/>
        <p:cNvGrpSpPr/>
        <p:nvPr/>
      </p:nvGrpSpPr>
      <p:grpSpPr>
        <a:xfrm>
          <a:off x="0" y="0"/>
          <a:ext cx="0" cy="0"/>
          <a:chOff x="0" y="0"/>
          <a:chExt cx="0" cy="0"/>
        </a:xfrm>
      </p:grpSpPr>
      <p:sp>
        <p:nvSpPr>
          <p:cNvPr id="60" name="Google Shape;60;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61" name="Google Shape;61;p15"/>
          <p:cNvPicPr preferRelativeResize="0"/>
          <p:nvPr/>
        </p:nvPicPr>
        <p:blipFill rotWithShape="1">
          <a:blip r:embed="rId2">
            <a:alphaModFix/>
          </a:blip>
          <a:srcRect t="89495"/>
          <a:stretch/>
        </p:blipFill>
        <p:spPr>
          <a:xfrm>
            <a:off x="0" y="-1"/>
            <a:ext cx="9144001" cy="538800"/>
          </a:xfrm>
          <a:prstGeom prst="rect">
            <a:avLst/>
          </a:prstGeom>
          <a:noFill/>
          <a:ln>
            <a:noFill/>
          </a:ln>
        </p:spPr>
      </p:pic>
      <p:sp>
        <p:nvSpPr>
          <p:cNvPr id="62" name="Google Shape;62;p15"/>
          <p:cNvSpPr txBox="1">
            <a:spLocks noGrp="1"/>
          </p:cNvSpPr>
          <p:nvPr>
            <p:ph type="title"/>
          </p:nvPr>
        </p:nvSpPr>
        <p:spPr>
          <a:xfrm>
            <a:off x="0" y="-16950"/>
            <a:ext cx="9144000" cy="5727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2000"/>
              <a:buFont typeface="Montserrat Black"/>
              <a:buNone/>
              <a:defRPr sz="2000">
                <a:solidFill>
                  <a:schemeClr val="lt1"/>
                </a:solidFill>
                <a:latin typeface="Montserrat Black"/>
                <a:ea typeface="Montserrat Black"/>
                <a:cs typeface="Montserrat Black"/>
                <a:sym typeface="Montserrat Black"/>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1">
  <p:cSld name="SECTION_HEADER_3">
    <p:spTree>
      <p:nvGrpSpPr>
        <p:cNvPr id="1" name="Shape 63"/>
        <p:cNvGrpSpPr/>
        <p:nvPr/>
      </p:nvGrpSpPr>
      <p:grpSpPr>
        <a:xfrm>
          <a:off x="0" y="0"/>
          <a:ext cx="0" cy="0"/>
          <a:chOff x="0" y="0"/>
          <a:chExt cx="0" cy="0"/>
        </a:xfrm>
      </p:grpSpPr>
      <p:sp>
        <p:nvSpPr>
          <p:cNvPr id="64" name="Google Shape;64;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65" name="Google Shape;65;p16"/>
          <p:cNvPicPr preferRelativeResize="0"/>
          <p:nvPr/>
        </p:nvPicPr>
        <p:blipFill>
          <a:blip r:embed="rId2">
            <a:alphaModFix/>
          </a:blip>
          <a:stretch>
            <a:fillRect/>
          </a:stretch>
        </p:blipFill>
        <p:spPr>
          <a:xfrm>
            <a:off x="0" y="0"/>
            <a:ext cx="9144001" cy="5129112"/>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3">
  <p:cSld name="TITLE_3">
    <p:bg>
      <p:bgPr>
        <a:solidFill>
          <a:schemeClr val="dk1"/>
        </a:solidFill>
        <a:effectLst/>
      </p:bgPr>
    </p:bg>
    <p:spTree>
      <p:nvGrpSpPr>
        <p:cNvPr id="1" name="Shape 66"/>
        <p:cNvGrpSpPr/>
        <p:nvPr/>
      </p:nvGrpSpPr>
      <p:grpSpPr>
        <a:xfrm>
          <a:off x="0" y="0"/>
          <a:ext cx="0" cy="0"/>
          <a:chOff x="0" y="0"/>
          <a:chExt cx="0" cy="0"/>
        </a:xfrm>
      </p:grpSpPr>
      <p:sp>
        <p:nvSpPr>
          <p:cNvPr id="67" name="Google Shape;67;p17"/>
          <p:cNvSpPr txBox="1">
            <a:spLocks noGrp="1"/>
          </p:cNvSpPr>
          <p:nvPr>
            <p:ph type="ctrTitle"/>
          </p:nvPr>
        </p:nvSpPr>
        <p:spPr>
          <a:xfrm>
            <a:off x="713225" y="1090328"/>
            <a:ext cx="4855800" cy="22137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5200"/>
              <a:buNone/>
              <a:defRPr sz="6000" b="1">
                <a:solidFill>
                  <a:schemeClr val="lt1"/>
                </a:solidFill>
                <a:latin typeface="Raleway"/>
                <a:ea typeface="Raleway"/>
                <a:cs typeface="Raleway"/>
                <a:sym typeface="Raleway"/>
              </a:defRPr>
            </a:lvl1pPr>
            <a:lvl2pPr lvl="1" algn="ctr">
              <a:spcBef>
                <a:spcPts val="0"/>
              </a:spcBef>
              <a:spcAft>
                <a:spcPts val="0"/>
              </a:spcAft>
              <a:buClr>
                <a:schemeClr val="lt1"/>
              </a:buClr>
              <a:buSzPts val="5200"/>
              <a:buNone/>
              <a:defRPr sz="5200">
                <a:solidFill>
                  <a:schemeClr val="lt1"/>
                </a:solidFill>
              </a:defRPr>
            </a:lvl2pPr>
            <a:lvl3pPr lvl="2" algn="ctr">
              <a:spcBef>
                <a:spcPts val="0"/>
              </a:spcBef>
              <a:spcAft>
                <a:spcPts val="0"/>
              </a:spcAft>
              <a:buClr>
                <a:schemeClr val="lt1"/>
              </a:buClr>
              <a:buSzPts val="5200"/>
              <a:buNone/>
              <a:defRPr sz="5200">
                <a:solidFill>
                  <a:schemeClr val="lt1"/>
                </a:solidFill>
              </a:defRPr>
            </a:lvl3pPr>
            <a:lvl4pPr lvl="3" algn="ctr">
              <a:spcBef>
                <a:spcPts val="0"/>
              </a:spcBef>
              <a:spcAft>
                <a:spcPts val="0"/>
              </a:spcAft>
              <a:buClr>
                <a:schemeClr val="lt1"/>
              </a:buClr>
              <a:buSzPts val="5200"/>
              <a:buNone/>
              <a:defRPr sz="5200">
                <a:solidFill>
                  <a:schemeClr val="lt1"/>
                </a:solidFill>
              </a:defRPr>
            </a:lvl4pPr>
            <a:lvl5pPr lvl="4" algn="ctr">
              <a:spcBef>
                <a:spcPts val="0"/>
              </a:spcBef>
              <a:spcAft>
                <a:spcPts val="0"/>
              </a:spcAft>
              <a:buClr>
                <a:schemeClr val="lt1"/>
              </a:buClr>
              <a:buSzPts val="5200"/>
              <a:buNone/>
              <a:defRPr sz="5200">
                <a:solidFill>
                  <a:schemeClr val="lt1"/>
                </a:solidFill>
              </a:defRPr>
            </a:lvl5pPr>
            <a:lvl6pPr lvl="5" algn="ctr">
              <a:spcBef>
                <a:spcPts val="0"/>
              </a:spcBef>
              <a:spcAft>
                <a:spcPts val="0"/>
              </a:spcAft>
              <a:buClr>
                <a:schemeClr val="lt1"/>
              </a:buClr>
              <a:buSzPts val="5200"/>
              <a:buNone/>
              <a:defRPr sz="5200">
                <a:solidFill>
                  <a:schemeClr val="lt1"/>
                </a:solidFill>
              </a:defRPr>
            </a:lvl6pPr>
            <a:lvl7pPr lvl="6" algn="ctr">
              <a:spcBef>
                <a:spcPts val="0"/>
              </a:spcBef>
              <a:spcAft>
                <a:spcPts val="0"/>
              </a:spcAft>
              <a:buClr>
                <a:schemeClr val="lt1"/>
              </a:buClr>
              <a:buSzPts val="5200"/>
              <a:buNone/>
              <a:defRPr sz="5200">
                <a:solidFill>
                  <a:schemeClr val="lt1"/>
                </a:solidFill>
              </a:defRPr>
            </a:lvl7pPr>
            <a:lvl8pPr lvl="7" algn="ctr">
              <a:spcBef>
                <a:spcPts val="0"/>
              </a:spcBef>
              <a:spcAft>
                <a:spcPts val="0"/>
              </a:spcAft>
              <a:buClr>
                <a:schemeClr val="lt1"/>
              </a:buClr>
              <a:buSzPts val="5200"/>
              <a:buNone/>
              <a:defRPr sz="5200">
                <a:solidFill>
                  <a:schemeClr val="lt1"/>
                </a:solidFill>
              </a:defRPr>
            </a:lvl8pPr>
            <a:lvl9pPr lvl="8" algn="ctr">
              <a:spcBef>
                <a:spcPts val="0"/>
              </a:spcBef>
              <a:spcAft>
                <a:spcPts val="0"/>
              </a:spcAft>
              <a:buClr>
                <a:schemeClr val="lt1"/>
              </a:buClr>
              <a:buSzPts val="5200"/>
              <a:buNone/>
              <a:defRPr sz="5200">
                <a:solidFill>
                  <a:schemeClr val="lt1"/>
                </a:solidFill>
              </a:defRPr>
            </a:lvl9pPr>
          </a:lstStyle>
          <a:p>
            <a:endParaRPr/>
          </a:p>
        </p:txBody>
      </p:sp>
      <p:sp>
        <p:nvSpPr>
          <p:cNvPr id="68" name="Google Shape;68;p17"/>
          <p:cNvSpPr txBox="1">
            <a:spLocks noGrp="1"/>
          </p:cNvSpPr>
          <p:nvPr>
            <p:ph type="subTitle" idx="1"/>
          </p:nvPr>
        </p:nvSpPr>
        <p:spPr>
          <a:xfrm>
            <a:off x="713225" y="3663472"/>
            <a:ext cx="4855800" cy="3897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800"/>
              <a:buNone/>
              <a:defRPr sz="1600">
                <a:solidFill>
                  <a:schemeClr val="lt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69" name="Google Shape;69;p17"/>
          <p:cNvSpPr>
            <a:spLocks noGrp="1"/>
          </p:cNvSpPr>
          <p:nvPr>
            <p:ph type="pic" idx="2"/>
          </p:nvPr>
        </p:nvSpPr>
        <p:spPr>
          <a:xfrm flipH="1">
            <a:off x="5491800" y="0"/>
            <a:ext cx="3652200" cy="5143500"/>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four columns">
  <p:cSld name="BLANK_1_1_1_1">
    <p:bg>
      <p:bgPr>
        <a:solidFill>
          <a:srgbClr val="F3F3F3"/>
        </a:solidFill>
        <a:effectLst/>
      </p:bgPr>
    </p:bg>
    <p:spTree>
      <p:nvGrpSpPr>
        <p:cNvPr id="1" name="Shape 70"/>
        <p:cNvGrpSpPr/>
        <p:nvPr/>
      </p:nvGrpSpPr>
      <p:grpSpPr>
        <a:xfrm>
          <a:off x="0" y="0"/>
          <a:ext cx="0" cy="0"/>
          <a:chOff x="0" y="0"/>
          <a:chExt cx="0" cy="0"/>
        </a:xfrm>
      </p:grpSpPr>
      <p:sp>
        <p:nvSpPr>
          <p:cNvPr id="71" name="Google Shape;71;p18"/>
          <p:cNvSpPr/>
          <p:nvPr/>
        </p:nvSpPr>
        <p:spPr>
          <a:xfrm>
            <a:off x="0" y="0"/>
            <a:ext cx="9144000" cy="572700"/>
          </a:xfrm>
          <a:prstGeom prst="rect">
            <a:avLst/>
          </a:prstGeom>
          <a:solidFill>
            <a:srgbClr val="0E41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8"/>
          <p:cNvSpPr txBox="1">
            <a:spLocks noGrp="1"/>
          </p:cNvSpPr>
          <p:nvPr>
            <p:ph type="title"/>
          </p:nvPr>
        </p:nvSpPr>
        <p:spPr>
          <a:xfrm>
            <a:off x="657050" y="20050"/>
            <a:ext cx="7704000" cy="5727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000"/>
              <a:buNone/>
              <a:defRPr sz="3000">
                <a:solidFill>
                  <a:schemeClr val="lt1"/>
                </a:solidFill>
              </a:defRPr>
            </a:lvl1pPr>
            <a:lvl2pPr lvl="1">
              <a:spcBef>
                <a:spcPts val="0"/>
              </a:spcBef>
              <a:spcAft>
                <a:spcPts val="0"/>
              </a:spcAft>
              <a:buSzPts val="3400"/>
              <a:buNone/>
              <a:defRPr sz="3400"/>
            </a:lvl2pPr>
            <a:lvl3pPr lvl="2">
              <a:spcBef>
                <a:spcPts val="0"/>
              </a:spcBef>
              <a:spcAft>
                <a:spcPts val="0"/>
              </a:spcAft>
              <a:buSzPts val="3400"/>
              <a:buNone/>
              <a:defRPr sz="3400"/>
            </a:lvl3pPr>
            <a:lvl4pPr lvl="3">
              <a:spcBef>
                <a:spcPts val="0"/>
              </a:spcBef>
              <a:spcAft>
                <a:spcPts val="0"/>
              </a:spcAft>
              <a:buSzPts val="3400"/>
              <a:buNone/>
              <a:defRPr sz="3400"/>
            </a:lvl4pPr>
            <a:lvl5pPr lvl="4">
              <a:spcBef>
                <a:spcPts val="0"/>
              </a:spcBef>
              <a:spcAft>
                <a:spcPts val="0"/>
              </a:spcAft>
              <a:buSzPts val="3400"/>
              <a:buNone/>
              <a:defRPr sz="3400"/>
            </a:lvl5pPr>
            <a:lvl6pPr lvl="5">
              <a:spcBef>
                <a:spcPts val="0"/>
              </a:spcBef>
              <a:spcAft>
                <a:spcPts val="0"/>
              </a:spcAft>
              <a:buSzPts val="3400"/>
              <a:buNone/>
              <a:defRPr sz="3400"/>
            </a:lvl6pPr>
            <a:lvl7pPr lvl="6">
              <a:spcBef>
                <a:spcPts val="0"/>
              </a:spcBef>
              <a:spcAft>
                <a:spcPts val="0"/>
              </a:spcAft>
              <a:buSzPts val="3400"/>
              <a:buNone/>
              <a:defRPr sz="3400"/>
            </a:lvl7pPr>
            <a:lvl8pPr lvl="7">
              <a:spcBef>
                <a:spcPts val="0"/>
              </a:spcBef>
              <a:spcAft>
                <a:spcPts val="0"/>
              </a:spcAft>
              <a:buSzPts val="3400"/>
              <a:buNone/>
              <a:defRPr sz="3400"/>
            </a:lvl8pPr>
            <a:lvl9pPr lvl="8">
              <a:spcBef>
                <a:spcPts val="0"/>
              </a:spcBef>
              <a:spcAft>
                <a:spcPts val="0"/>
              </a:spcAft>
              <a:buSzPts val="3400"/>
              <a:buNone/>
              <a:defRPr sz="3400"/>
            </a:lvl9pPr>
          </a:lstStyle>
          <a:p>
            <a:endParaRPr/>
          </a:p>
        </p:txBody>
      </p:sp>
      <p:sp>
        <p:nvSpPr>
          <p:cNvPr id="73" name="Google Shape;73;p18"/>
          <p:cNvSpPr txBox="1">
            <a:spLocks noGrp="1"/>
          </p:cNvSpPr>
          <p:nvPr>
            <p:ph type="subTitle" idx="1"/>
          </p:nvPr>
        </p:nvSpPr>
        <p:spPr>
          <a:xfrm>
            <a:off x="726025" y="1668325"/>
            <a:ext cx="2991000" cy="843000"/>
          </a:xfrm>
          <a:prstGeom prst="rect">
            <a:avLst/>
          </a:prstGeom>
          <a:ln>
            <a:noFill/>
          </a:ln>
        </p:spPr>
        <p:txBody>
          <a:bodyPr spcFirstLastPara="1" wrap="square" lIns="91425" tIns="91425" rIns="91425" bIns="91425" anchor="t" anchorCtr="0">
            <a:normAutofit/>
          </a:bodyPr>
          <a:lstStyle>
            <a:lvl1pPr lvl="0">
              <a:lnSpc>
                <a:spcPct val="100000"/>
              </a:lnSpc>
              <a:spcBef>
                <a:spcPts val="0"/>
              </a:spcBef>
              <a:spcAft>
                <a:spcPts val="0"/>
              </a:spcAft>
              <a:buSzPts val="1400"/>
              <a:buNone/>
              <a:defRPr>
                <a:latin typeface="Work Sans Medium"/>
                <a:ea typeface="Work Sans Medium"/>
                <a:cs typeface="Work Sans Medium"/>
                <a:sym typeface="Work Sans Medium"/>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4" name="Google Shape;74;p18"/>
          <p:cNvSpPr txBox="1">
            <a:spLocks noGrp="1"/>
          </p:cNvSpPr>
          <p:nvPr>
            <p:ph type="subTitle" idx="2"/>
          </p:nvPr>
        </p:nvSpPr>
        <p:spPr>
          <a:xfrm>
            <a:off x="720000" y="1273875"/>
            <a:ext cx="2991000" cy="484800"/>
          </a:xfrm>
          <a:prstGeom prst="rect">
            <a:avLst/>
          </a:prstGeom>
          <a:ln>
            <a:noFill/>
          </a:ln>
        </p:spPr>
        <p:txBody>
          <a:bodyPr spcFirstLastPara="1" wrap="square" lIns="91425" tIns="91425" rIns="91425" bIns="91425" anchor="b" anchorCtr="0">
            <a:normAutofit/>
          </a:bodyPr>
          <a:lstStyle>
            <a:lvl1pPr lvl="0">
              <a:lnSpc>
                <a:spcPct val="100000"/>
              </a:lnSpc>
              <a:spcBef>
                <a:spcPts val="0"/>
              </a:spcBef>
              <a:spcAft>
                <a:spcPts val="0"/>
              </a:spcAft>
              <a:buClr>
                <a:schemeClr val="dk1"/>
              </a:buClr>
              <a:buSzPts val="2400"/>
              <a:buFont typeface="Bebas Neue"/>
              <a:buNone/>
              <a:defRPr sz="2000" b="1">
                <a:solidFill>
                  <a:schemeClr val="dk1"/>
                </a:solidFill>
                <a:latin typeface="Montserrat"/>
                <a:ea typeface="Montserrat"/>
                <a:cs typeface="Montserrat"/>
                <a:sym typeface="Montserrat"/>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75" name="Google Shape;75;p18"/>
          <p:cNvSpPr txBox="1">
            <a:spLocks noGrp="1"/>
          </p:cNvSpPr>
          <p:nvPr>
            <p:ph type="subTitle" idx="3"/>
          </p:nvPr>
        </p:nvSpPr>
        <p:spPr>
          <a:xfrm>
            <a:off x="4695427" y="1668325"/>
            <a:ext cx="2997300" cy="843000"/>
          </a:xfrm>
          <a:prstGeom prst="rect">
            <a:avLst/>
          </a:prstGeom>
          <a:ln>
            <a:noFill/>
          </a:ln>
        </p:spPr>
        <p:txBody>
          <a:bodyPr spcFirstLastPara="1" wrap="square" lIns="91425" tIns="91425" rIns="91425" bIns="91425" anchor="t" anchorCtr="0">
            <a:normAutofit/>
          </a:bodyPr>
          <a:lstStyle>
            <a:lvl1pPr lvl="0">
              <a:lnSpc>
                <a:spcPct val="100000"/>
              </a:lnSpc>
              <a:spcBef>
                <a:spcPts val="0"/>
              </a:spcBef>
              <a:spcAft>
                <a:spcPts val="0"/>
              </a:spcAft>
              <a:buSzPts val="1400"/>
              <a:buNone/>
              <a:defRPr>
                <a:latin typeface="Work Sans Medium"/>
                <a:ea typeface="Work Sans Medium"/>
                <a:cs typeface="Work Sans Medium"/>
                <a:sym typeface="Work Sans Medium"/>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6" name="Google Shape;76;p18"/>
          <p:cNvSpPr txBox="1">
            <a:spLocks noGrp="1"/>
          </p:cNvSpPr>
          <p:nvPr>
            <p:ph type="subTitle" idx="4"/>
          </p:nvPr>
        </p:nvSpPr>
        <p:spPr>
          <a:xfrm>
            <a:off x="4689399" y="1273875"/>
            <a:ext cx="2997300" cy="484800"/>
          </a:xfrm>
          <a:prstGeom prst="rect">
            <a:avLst/>
          </a:prstGeom>
          <a:ln>
            <a:noFill/>
          </a:ln>
        </p:spPr>
        <p:txBody>
          <a:bodyPr spcFirstLastPara="1" wrap="square" lIns="91425" tIns="91425" rIns="91425" bIns="91425" anchor="b" anchorCtr="0">
            <a:normAutofit/>
          </a:bodyPr>
          <a:lstStyle>
            <a:lvl1pPr lvl="0">
              <a:lnSpc>
                <a:spcPct val="100000"/>
              </a:lnSpc>
              <a:spcBef>
                <a:spcPts val="0"/>
              </a:spcBef>
              <a:spcAft>
                <a:spcPts val="0"/>
              </a:spcAft>
              <a:buClr>
                <a:schemeClr val="dk1"/>
              </a:buClr>
              <a:buSzPts val="2400"/>
              <a:buFont typeface="Bebas Neue"/>
              <a:buNone/>
              <a:defRPr sz="2000" b="1">
                <a:solidFill>
                  <a:schemeClr val="dk1"/>
                </a:solidFill>
                <a:latin typeface="Montserrat"/>
                <a:ea typeface="Montserrat"/>
                <a:cs typeface="Montserrat"/>
                <a:sym typeface="Montserrat"/>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77" name="Google Shape;77;p18"/>
          <p:cNvSpPr txBox="1">
            <a:spLocks noGrp="1"/>
          </p:cNvSpPr>
          <p:nvPr>
            <p:ph type="subTitle" idx="5"/>
          </p:nvPr>
        </p:nvSpPr>
        <p:spPr>
          <a:xfrm>
            <a:off x="726025" y="3403000"/>
            <a:ext cx="2991000" cy="843000"/>
          </a:xfrm>
          <a:prstGeom prst="rect">
            <a:avLst/>
          </a:prstGeom>
          <a:ln>
            <a:noFill/>
          </a:ln>
        </p:spPr>
        <p:txBody>
          <a:bodyPr spcFirstLastPara="1" wrap="square" lIns="91425" tIns="91425" rIns="91425" bIns="91425" anchor="t" anchorCtr="0">
            <a:normAutofit/>
          </a:bodyPr>
          <a:lstStyle>
            <a:lvl1pPr lvl="0">
              <a:lnSpc>
                <a:spcPct val="100000"/>
              </a:lnSpc>
              <a:spcBef>
                <a:spcPts val="0"/>
              </a:spcBef>
              <a:spcAft>
                <a:spcPts val="0"/>
              </a:spcAft>
              <a:buSzPts val="1400"/>
              <a:buNone/>
              <a:defRPr>
                <a:latin typeface="Work Sans Medium"/>
                <a:ea typeface="Work Sans Medium"/>
                <a:cs typeface="Work Sans Medium"/>
                <a:sym typeface="Work Sans Medium"/>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8" name="Google Shape;78;p18"/>
          <p:cNvSpPr txBox="1">
            <a:spLocks noGrp="1"/>
          </p:cNvSpPr>
          <p:nvPr>
            <p:ph type="subTitle" idx="6"/>
          </p:nvPr>
        </p:nvSpPr>
        <p:spPr>
          <a:xfrm>
            <a:off x="720000" y="3008550"/>
            <a:ext cx="2991000" cy="484800"/>
          </a:xfrm>
          <a:prstGeom prst="rect">
            <a:avLst/>
          </a:prstGeom>
          <a:ln>
            <a:noFill/>
          </a:ln>
        </p:spPr>
        <p:txBody>
          <a:bodyPr spcFirstLastPara="1" wrap="square" lIns="91425" tIns="91425" rIns="91425" bIns="91425" anchor="b" anchorCtr="0">
            <a:normAutofit/>
          </a:bodyPr>
          <a:lstStyle>
            <a:lvl1pPr lvl="0">
              <a:lnSpc>
                <a:spcPct val="100000"/>
              </a:lnSpc>
              <a:spcBef>
                <a:spcPts val="0"/>
              </a:spcBef>
              <a:spcAft>
                <a:spcPts val="0"/>
              </a:spcAft>
              <a:buClr>
                <a:schemeClr val="dk1"/>
              </a:buClr>
              <a:buSzPts val="2400"/>
              <a:buFont typeface="Bebas Neue"/>
              <a:buNone/>
              <a:defRPr sz="2000" b="1">
                <a:solidFill>
                  <a:schemeClr val="dk1"/>
                </a:solidFill>
                <a:latin typeface="Montserrat"/>
                <a:ea typeface="Montserrat"/>
                <a:cs typeface="Montserrat"/>
                <a:sym typeface="Montserrat"/>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79" name="Google Shape;79;p18"/>
          <p:cNvSpPr txBox="1">
            <a:spLocks noGrp="1"/>
          </p:cNvSpPr>
          <p:nvPr>
            <p:ph type="subTitle" idx="7"/>
          </p:nvPr>
        </p:nvSpPr>
        <p:spPr>
          <a:xfrm>
            <a:off x="4695427" y="3403000"/>
            <a:ext cx="2997300" cy="843000"/>
          </a:xfrm>
          <a:prstGeom prst="rect">
            <a:avLst/>
          </a:prstGeom>
          <a:ln>
            <a:noFill/>
          </a:ln>
        </p:spPr>
        <p:txBody>
          <a:bodyPr spcFirstLastPara="1" wrap="square" lIns="91425" tIns="91425" rIns="91425" bIns="91425" anchor="t" anchorCtr="0">
            <a:normAutofit/>
          </a:bodyPr>
          <a:lstStyle>
            <a:lvl1pPr lvl="0">
              <a:lnSpc>
                <a:spcPct val="100000"/>
              </a:lnSpc>
              <a:spcBef>
                <a:spcPts val="0"/>
              </a:spcBef>
              <a:spcAft>
                <a:spcPts val="0"/>
              </a:spcAft>
              <a:buSzPts val="1400"/>
              <a:buNone/>
              <a:defRPr>
                <a:latin typeface="Work Sans Medium"/>
                <a:ea typeface="Work Sans Medium"/>
                <a:cs typeface="Work Sans Medium"/>
                <a:sym typeface="Work Sans Medium"/>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0" name="Google Shape;80;p18"/>
          <p:cNvSpPr txBox="1">
            <a:spLocks noGrp="1"/>
          </p:cNvSpPr>
          <p:nvPr>
            <p:ph type="subTitle" idx="8"/>
          </p:nvPr>
        </p:nvSpPr>
        <p:spPr>
          <a:xfrm>
            <a:off x="4689399" y="3008550"/>
            <a:ext cx="2997300" cy="484800"/>
          </a:xfrm>
          <a:prstGeom prst="rect">
            <a:avLst/>
          </a:prstGeom>
          <a:ln>
            <a:noFill/>
          </a:ln>
        </p:spPr>
        <p:txBody>
          <a:bodyPr spcFirstLastPara="1" wrap="square" lIns="91425" tIns="91425" rIns="91425" bIns="91425" anchor="b" anchorCtr="0">
            <a:normAutofit/>
          </a:bodyPr>
          <a:lstStyle>
            <a:lvl1pPr lvl="0">
              <a:lnSpc>
                <a:spcPct val="100000"/>
              </a:lnSpc>
              <a:spcBef>
                <a:spcPts val="0"/>
              </a:spcBef>
              <a:spcAft>
                <a:spcPts val="0"/>
              </a:spcAft>
              <a:buClr>
                <a:schemeClr val="dk1"/>
              </a:buClr>
              <a:buSzPts val="2400"/>
              <a:buFont typeface="Bebas Neue"/>
              <a:buNone/>
              <a:defRPr sz="2000" b="1">
                <a:solidFill>
                  <a:schemeClr val="dk1"/>
                </a:solidFill>
                <a:latin typeface="Montserrat"/>
                <a:ea typeface="Montserrat"/>
                <a:cs typeface="Montserrat"/>
                <a:sym typeface="Montserrat"/>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cxnSp>
        <p:nvCxnSpPr>
          <p:cNvPr id="81" name="Google Shape;81;p18"/>
          <p:cNvCxnSpPr/>
          <p:nvPr/>
        </p:nvCxnSpPr>
        <p:spPr>
          <a:xfrm>
            <a:off x="254150" y="-48750"/>
            <a:ext cx="0" cy="5290200"/>
          </a:xfrm>
          <a:prstGeom prst="straightConnector1">
            <a:avLst/>
          </a:prstGeom>
          <a:noFill/>
          <a:ln w="9525" cap="flat" cmpd="sng">
            <a:solidFill>
              <a:schemeClr val="dk1"/>
            </a:solidFill>
            <a:prstDash val="solid"/>
            <a:round/>
            <a:headEnd type="none" w="med" len="med"/>
            <a:tailEnd type="none" w="med" len="med"/>
          </a:ln>
        </p:spPr>
      </p:cxnSp>
      <p:sp>
        <p:nvSpPr>
          <p:cNvPr id="82" name="Google Shape;82;p18"/>
          <p:cNvSpPr/>
          <p:nvPr/>
        </p:nvSpPr>
        <p:spPr>
          <a:xfrm>
            <a:off x="17260" y="77495"/>
            <a:ext cx="476700" cy="457800"/>
          </a:xfrm>
          <a:prstGeom prst="star4">
            <a:avLst>
              <a:gd name="adj" fmla="val 10202"/>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rang trình bày chứa tiêu đề 1 1">
  <p:cSld name="Trang trình bày chứa tiêu đề 1 1">
    <p:spTree>
      <p:nvGrpSpPr>
        <p:cNvPr id="1" name="Shape 83"/>
        <p:cNvGrpSpPr/>
        <p:nvPr/>
      </p:nvGrpSpPr>
      <p:grpSpPr>
        <a:xfrm>
          <a:off x="0" y="0"/>
          <a:ext cx="0" cy="0"/>
          <a:chOff x="0" y="0"/>
          <a:chExt cx="0" cy="0"/>
        </a:xfrm>
      </p:grpSpPr>
      <p:sp>
        <p:nvSpPr>
          <p:cNvPr id="84" name="Google Shape;84;p19"/>
          <p:cNvSpPr txBox="1">
            <a:spLocks noGrp="1"/>
          </p:cNvSpPr>
          <p:nvPr>
            <p:ph type="sldNum" idx="12"/>
          </p:nvPr>
        </p:nvSpPr>
        <p:spPr>
          <a:xfrm>
            <a:off x="8472458" y="4663217"/>
            <a:ext cx="548700" cy="393600"/>
          </a:xfrm>
          <a:prstGeom prst="rect">
            <a:avLst/>
          </a:prstGeom>
          <a:noFill/>
          <a:ln>
            <a:noFill/>
          </a:ln>
        </p:spPr>
        <p:txBody>
          <a:bodyPr spcFirstLastPara="1" wrap="square" lIns="68575" tIns="68575" rIns="68575" bIns="68575" anchor="ctr" anchorCtr="0">
            <a:normAutofit/>
          </a:bodyPr>
          <a:lstStyle>
            <a:lvl1pPr marL="0" marR="0" lvl="0"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85" name="Google Shape;85;p19"/>
          <p:cNvPicPr preferRelativeResize="0"/>
          <p:nvPr/>
        </p:nvPicPr>
        <p:blipFill rotWithShape="1">
          <a:blip r:embed="rId2">
            <a:alphaModFix/>
          </a:blip>
          <a:srcRect t="12165" r="1942"/>
          <a:stretch/>
        </p:blipFill>
        <p:spPr>
          <a:xfrm>
            <a:off x="0" y="1"/>
            <a:ext cx="9144010" cy="5143499"/>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mp; Bullets">
  <p:cSld name="TITLE_AND_BODY_1">
    <p:spTree>
      <p:nvGrpSpPr>
        <p:cNvPr id="1" name="Shape 86"/>
        <p:cNvGrpSpPr/>
        <p:nvPr/>
      </p:nvGrpSpPr>
      <p:grpSpPr>
        <a:xfrm>
          <a:off x="0" y="0"/>
          <a:ext cx="0" cy="0"/>
          <a:chOff x="0" y="0"/>
          <a:chExt cx="0" cy="0"/>
        </a:xfrm>
      </p:grpSpPr>
      <p:sp>
        <p:nvSpPr>
          <p:cNvPr id="87" name="Google Shape;87;p20"/>
          <p:cNvSpPr txBox="1">
            <a:spLocks noGrp="1"/>
          </p:cNvSpPr>
          <p:nvPr>
            <p:ph type="title"/>
          </p:nvPr>
        </p:nvSpPr>
        <p:spPr>
          <a:xfrm>
            <a:off x="452438" y="404813"/>
            <a:ext cx="8239200" cy="537300"/>
          </a:xfrm>
          <a:prstGeom prst="rect">
            <a:avLst/>
          </a:prstGeom>
          <a:noFill/>
          <a:ln>
            <a:noFill/>
          </a:ln>
        </p:spPr>
        <p:txBody>
          <a:bodyPr spcFirstLastPara="1" wrap="square" lIns="19050" tIns="19050" rIns="19050" bIns="19050" anchor="t" anchorCtr="0">
            <a:normAutofit/>
          </a:bodyPr>
          <a:lstStyle>
            <a:lvl1pPr lvl="0" algn="l">
              <a:lnSpc>
                <a:spcPct val="80000"/>
              </a:lnSpc>
              <a:spcBef>
                <a:spcPts val="0"/>
              </a:spcBef>
              <a:spcAft>
                <a:spcPts val="0"/>
              </a:spcAft>
              <a:buClr>
                <a:srgbClr val="000000"/>
              </a:buClr>
              <a:buSzPts val="700"/>
              <a:buNone/>
              <a:defRPr/>
            </a:lvl1pPr>
            <a:lvl2pPr lvl="1" algn="l">
              <a:lnSpc>
                <a:spcPct val="80000"/>
              </a:lnSpc>
              <a:spcBef>
                <a:spcPts val="0"/>
              </a:spcBef>
              <a:spcAft>
                <a:spcPts val="0"/>
              </a:spcAft>
              <a:buClr>
                <a:srgbClr val="000000"/>
              </a:buClr>
              <a:buSzPts val="700"/>
              <a:buNone/>
              <a:defRPr/>
            </a:lvl2pPr>
            <a:lvl3pPr lvl="2" algn="l">
              <a:lnSpc>
                <a:spcPct val="80000"/>
              </a:lnSpc>
              <a:spcBef>
                <a:spcPts val="0"/>
              </a:spcBef>
              <a:spcAft>
                <a:spcPts val="0"/>
              </a:spcAft>
              <a:buClr>
                <a:srgbClr val="000000"/>
              </a:buClr>
              <a:buSzPts val="700"/>
              <a:buNone/>
              <a:defRPr/>
            </a:lvl3pPr>
            <a:lvl4pPr lvl="3" algn="l">
              <a:lnSpc>
                <a:spcPct val="80000"/>
              </a:lnSpc>
              <a:spcBef>
                <a:spcPts val="0"/>
              </a:spcBef>
              <a:spcAft>
                <a:spcPts val="0"/>
              </a:spcAft>
              <a:buClr>
                <a:srgbClr val="000000"/>
              </a:buClr>
              <a:buSzPts val="700"/>
              <a:buNone/>
              <a:defRPr/>
            </a:lvl4pPr>
            <a:lvl5pPr lvl="4" algn="l">
              <a:lnSpc>
                <a:spcPct val="80000"/>
              </a:lnSpc>
              <a:spcBef>
                <a:spcPts val="0"/>
              </a:spcBef>
              <a:spcAft>
                <a:spcPts val="0"/>
              </a:spcAft>
              <a:buClr>
                <a:srgbClr val="000000"/>
              </a:buClr>
              <a:buSzPts val="700"/>
              <a:buNone/>
              <a:defRPr/>
            </a:lvl5pPr>
            <a:lvl6pPr lvl="5" algn="l">
              <a:lnSpc>
                <a:spcPct val="80000"/>
              </a:lnSpc>
              <a:spcBef>
                <a:spcPts val="0"/>
              </a:spcBef>
              <a:spcAft>
                <a:spcPts val="0"/>
              </a:spcAft>
              <a:buClr>
                <a:srgbClr val="000000"/>
              </a:buClr>
              <a:buSzPts val="700"/>
              <a:buNone/>
              <a:defRPr/>
            </a:lvl6pPr>
            <a:lvl7pPr lvl="6" algn="l">
              <a:lnSpc>
                <a:spcPct val="80000"/>
              </a:lnSpc>
              <a:spcBef>
                <a:spcPts val="0"/>
              </a:spcBef>
              <a:spcAft>
                <a:spcPts val="0"/>
              </a:spcAft>
              <a:buClr>
                <a:srgbClr val="000000"/>
              </a:buClr>
              <a:buSzPts val="700"/>
              <a:buNone/>
              <a:defRPr/>
            </a:lvl7pPr>
            <a:lvl8pPr lvl="7" algn="l">
              <a:lnSpc>
                <a:spcPct val="80000"/>
              </a:lnSpc>
              <a:spcBef>
                <a:spcPts val="0"/>
              </a:spcBef>
              <a:spcAft>
                <a:spcPts val="0"/>
              </a:spcAft>
              <a:buClr>
                <a:srgbClr val="000000"/>
              </a:buClr>
              <a:buSzPts val="700"/>
              <a:buNone/>
              <a:defRPr/>
            </a:lvl8pPr>
            <a:lvl9pPr lvl="8" algn="l">
              <a:lnSpc>
                <a:spcPct val="80000"/>
              </a:lnSpc>
              <a:spcBef>
                <a:spcPts val="0"/>
              </a:spcBef>
              <a:spcAft>
                <a:spcPts val="0"/>
              </a:spcAft>
              <a:buClr>
                <a:srgbClr val="000000"/>
              </a:buClr>
              <a:buSzPts val="700"/>
              <a:buNone/>
              <a:defRPr/>
            </a:lvl9pPr>
          </a:lstStyle>
          <a:p>
            <a:endParaRPr/>
          </a:p>
        </p:txBody>
      </p:sp>
      <p:sp>
        <p:nvSpPr>
          <p:cNvPr id="88" name="Google Shape;88;p20"/>
          <p:cNvSpPr txBox="1">
            <a:spLocks noGrp="1"/>
          </p:cNvSpPr>
          <p:nvPr>
            <p:ph type="body" idx="1"/>
          </p:nvPr>
        </p:nvSpPr>
        <p:spPr>
          <a:xfrm>
            <a:off x="452438" y="889861"/>
            <a:ext cx="8239200" cy="350700"/>
          </a:xfrm>
          <a:prstGeom prst="rect">
            <a:avLst/>
          </a:prstGeom>
          <a:noFill/>
          <a:ln>
            <a:noFill/>
          </a:ln>
        </p:spPr>
        <p:txBody>
          <a:bodyPr spcFirstLastPara="1" wrap="square" lIns="17150" tIns="17150" rIns="17150" bIns="17150" anchor="t" anchorCtr="0">
            <a:normAutofit/>
          </a:bodyPr>
          <a:lstStyle>
            <a:lvl1pPr marL="457200" lvl="0" indent="-228600" algn="l">
              <a:lnSpc>
                <a:spcPct val="100000"/>
              </a:lnSpc>
              <a:spcBef>
                <a:spcPts val="0"/>
              </a:spcBef>
              <a:spcAft>
                <a:spcPts val="0"/>
              </a:spcAft>
              <a:buClr>
                <a:srgbClr val="000000"/>
              </a:buClr>
              <a:buSzPts val="2100"/>
              <a:buFont typeface="Helvetica Neue"/>
              <a:buNone/>
              <a:defRPr sz="2100" b="1"/>
            </a:lvl1pPr>
            <a:lvl2pPr marL="914400" lvl="1" indent="-279400" algn="l">
              <a:lnSpc>
                <a:spcPct val="90000"/>
              </a:lnSpc>
              <a:spcBef>
                <a:spcPts val="1700"/>
              </a:spcBef>
              <a:spcAft>
                <a:spcPts val="0"/>
              </a:spcAft>
              <a:buClr>
                <a:srgbClr val="000000"/>
              </a:buClr>
              <a:buSzPts val="800"/>
              <a:buChar char="•"/>
              <a:defRPr/>
            </a:lvl2pPr>
            <a:lvl3pPr marL="1371600" lvl="2" indent="-279400" algn="l">
              <a:lnSpc>
                <a:spcPct val="90000"/>
              </a:lnSpc>
              <a:spcBef>
                <a:spcPts val="1700"/>
              </a:spcBef>
              <a:spcAft>
                <a:spcPts val="0"/>
              </a:spcAft>
              <a:buClr>
                <a:srgbClr val="000000"/>
              </a:buClr>
              <a:buSzPts val="800"/>
              <a:buChar char="•"/>
              <a:defRPr/>
            </a:lvl3pPr>
            <a:lvl4pPr marL="1828800" lvl="3" indent="-279400" algn="l">
              <a:lnSpc>
                <a:spcPct val="90000"/>
              </a:lnSpc>
              <a:spcBef>
                <a:spcPts val="1700"/>
              </a:spcBef>
              <a:spcAft>
                <a:spcPts val="0"/>
              </a:spcAft>
              <a:buClr>
                <a:srgbClr val="000000"/>
              </a:buClr>
              <a:buSzPts val="800"/>
              <a:buChar char="•"/>
              <a:defRPr/>
            </a:lvl4pPr>
            <a:lvl5pPr marL="2286000" lvl="4" indent="-279400" algn="l">
              <a:lnSpc>
                <a:spcPct val="90000"/>
              </a:lnSpc>
              <a:spcBef>
                <a:spcPts val="1700"/>
              </a:spcBef>
              <a:spcAft>
                <a:spcPts val="0"/>
              </a:spcAft>
              <a:buClr>
                <a:srgbClr val="000000"/>
              </a:buClr>
              <a:buSzPts val="800"/>
              <a:buChar char="•"/>
              <a:defRPr/>
            </a:lvl5pPr>
            <a:lvl6pPr marL="2743200" lvl="5" indent="-279400" algn="l">
              <a:lnSpc>
                <a:spcPct val="90000"/>
              </a:lnSpc>
              <a:spcBef>
                <a:spcPts val="1700"/>
              </a:spcBef>
              <a:spcAft>
                <a:spcPts val="0"/>
              </a:spcAft>
              <a:buClr>
                <a:srgbClr val="000000"/>
              </a:buClr>
              <a:buSzPts val="800"/>
              <a:buChar char="•"/>
              <a:defRPr/>
            </a:lvl6pPr>
            <a:lvl7pPr marL="3200400" lvl="6" indent="-279400" algn="l">
              <a:lnSpc>
                <a:spcPct val="90000"/>
              </a:lnSpc>
              <a:spcBef>
                <a:spcPts val="1700"/>
              </a:spcBef>
              <a:spcAft>
                <a:spcPts val="0"/>
              </a:spcAft>
              <a:buClr>
                <a:srgbClr val="000000"/>
              </a:buClr>
              <a:buSzPts val="800"/>
              <a:buChar char="•"/>
              <a:defRPr/>
            </a:lvl7pPr>
            <a:lvl8pPr marL="3657600" lvl="7" indent="-279400" algn="l">
              <a:lnSpc>
                <a:spcPct val="90000"/>
              </a:lnSpc>
              <a:spcBef>
                <a:spcPts val="1700"/>
              </a:spcBef>
              <a:spcAft>
                <a:spcPts val="0"/>
              </a:spcAft>
              <a:buClr>
                <a:srgbClr val="000000"/>
              </a:buClr>
              <a:buSzPts val="800"/>
              <a:buChar char="•"/>
              <a:defRPr/>
            </a:lvl8pPr>
            <a:lvl9pPr marL="4114800" lvl="8" indent="-279400" algn="l">
              <a:lnSpc>
                <a:spcPct val="90000"/>
              </a:lnSpc>
              <a:spcBef>
                <a:spcPts val="1700"/>
              </a:spcBef>
              <a:spcAft>
                <a:spcPts val="0"/>
              </a:spcAft>
              <a:buClr>
                <a:srgbClr val="000000"/>
              </a:buClr>
              <a:buSzPts val="800"/>
              <a:buChar char="•"/>
              <a:defRPr/>
            </a:lvl9pPr>
          </a:lstStyle>
          <a:p>
            <a:endParaRPr/>
          </a:p>
        </p:txBody>
      </p:sp>
      <p:sp>
        <p:nvSpPr>
          <p:cNvPr id="89" name="Google Shape;89;p20"/>
          <p:cNvSpPr txBox="1">
            <a:spLocks noGrp="1"/>
          </p:cNvSpPr>
          <p:nvPr>
            <p:ph type="body" idx="2"/>
          </p:nvPr>
        </p:nvSpPr>
        <p:spPr>
          <a:xfrm>
            <a:off x="452438" y="1593189"/>
            <a:ext cx="8239200" cy="3096000"/>
          </a:xfrm>
          <a:prstGeom prst="rect">
            <a:avLst/>
          </a:prstGeom>
          <a:noFill/>
          <a:ln>
            <a:noFill/>
          </a:ln>
        </p:spPr>
        <p:txBody>
          <a:bodyPr spcFirstLastPara="1" wrap="square" lIns="19050" tIns="19050" rIns="19050" bIns="19050" anchor="t" anchorCtr="0">
            <a:normAutofit/>
          </a:bodyPr>
          <a:lstStyle>
            <a:lvl1pPr marL="457200" lvl="0" indent="-279400" algn="l">
              <a:lnSpc>
                <a:spcPct val="90000"/>
              </a:lnSpc>
              <a:spcBef>
                <a:spcPts val="1700"/>
              </a:spcBef>
              <a:spcAft>
                <a:spcPts val="0"/>
              </a:spcAft>
              <a:buClr>
                <a:srgbClr val="000000"/>
              </a:buClr>
              <a:buSzPts val="800"/>
              <a:buChar char="•"/>
              <a:defRPr/>
            </a:lvl1pPr>
            <a:lvl2pPr marL="914400" lvl="1" indent="-279400" algn="l">
              <a:lnSpc>
                <a:spcPct val="90000"/>
              </a:lnSpc>
              <a:spcBef>
                <a:spcPts val="1700"/>
              </a:spcBef>
              <a:spcAft>
                <a:spcPts val="0"/>
              </a:spcAft>
              <a:buClr>
                <a:srgbClr val="000000"/>
              </a:buClr>
              <a:buSzPts val="800"/>
              <a:buChar char="•"/>
              <a:defRPr/>
            </a:lvl2pPr>
            <a:lvl3pPr marL="1371600" lvl="2" indent="-279400" algn="l">
              <a:lnSpc>
                <a:spcPct val="90000"/>
              </a:lnSpc>
              <a:spcBef>
                <a:spcPts val="1700"/>
              </a:spcBef>
              <a:spcAft>
                <a:spcPts val="0"/>
              </a:spcAft>
              <a:buClr>
                <a:srgbClr val="000000"/>
              </a:buClr>
              <a:buSzPts val="800"/>
              <a:buChar char="•"/>
              <a:defRPr/>
            </a:lvl3pPr>
            <a:lvl4pPr marL="1828800" lvl="3" indent="-279400" algn="l">
              <a:lnSpc>
                <a:spcPct val="90000"/>
              </a:lnSpc>
              <a:spcBef>
                <a:spcPts val="1700"/>
              </a:spcBef>
              <a:spcAft>
                <a:spcPts val="0"/>
              </a:spcAft>
              <a:buClr>
                <a:srgbClr val="000000"/>
              </a:buClr>
              <a:buSzPts val="800"/>
              <a:buChar char="•"/>
              <a:defRPr/>
            </a:lvl4pPr>
            <a:lvl5pPr marL="2286000" lvl="4" indent="-279400" algn="l">
              <a:lnSpc>
                <a:spcPct val="90000"/>
              </a:lnSpc>
              <a:spcBef>
                <a:spcPts val="1700"/>
              </a:spcBef>
              <a:spcAft>
                <a:spcPts val="0"/>
              </a:spcAft>
              <a:buClr>
                <a:srgbClr val="000000"/>
              </a:buClr>
              <a:buSzPts val="800"/>
              <a:buChar char="•"/>
              <a:defRPr/>
            </a:lvl5pPr>
            <a:lvl6pPr marL="2743200" lvl="5" indent="-279400" algn="l">
              <a:lnSpc>
                <a:spcPct val="90000"/>
              </a:lnSpc>
              <a:spcBef>
                <a:spcPts val="1700"/>
              </a:spcBef>
              <a:spcAft>
                <a:spcPts val="0"/>
              </a:spcAft>
              <a:buClr>
                <a:srgbClr val="000000"/>
              </a:buClr>
              <a:buSzPts val="800"/>
              <a:buChar char="•"/>
              <a:defRPr/>
            </a:lvl6pPr>
            <a:lvl7pPr marL="3200400" lvl="6" indent="-279400" algn="l">
              <a:lnSpc>
                <a:spcPct val="90000"/>
              </a:lnSpc>
              <a:spcBef>
                <a:spcPts val="1700"/>
              </a:spcBef>
              <a:spcAft>
                <a:spcPts val="0"/>
              </a:spcAft>
              <a:buClr>
                <a:srgbClr val="000000"/>
              </a:buClr>
              <a:buSzPts val="800"/>
              <a:buChar char="•"/>
              <a:defRPr/>
            </a:lvl7pPr>
            <a:lvl8pPr marL="3657600" lvl="7" indent="-279400" algn="l">
              <a:lnSpc>
                <a:spcPct val="90000"/>
              </a:lnSpc>
              <a:spcBef>
                <a:spcPts val="1700"/>
              </a:spcBef>
              <a:spcAft>
                <a:spcPts val="0"/>
              </a:spcAft>
              <a:buClr>
                <a:srgbClr val="000000"/>
              </a:buClr>
              <a:buSzPts val="800"/>
              <a:buChar char="•"/>
              <a:defRPr/>
            </a:lvl8pPr>
            <a:lvl9pPr marL="4114800" lvl="8" indent="-279400" algn="l">
              <a:lnSpc>
                <a:spcPct val="90000"/>
              </a:lnSpc>
              <a:spcBef>
                <a:spcPts val="1700"/>
              </a:spcBef>
              <a:spcAft>
                <a:spcPts val="0"/>
              </a:spcAft>
              <a:buClr>
                <a:srgbClr val="000000"/>
              </a:buClr>
              <a:buSzPts val="800"/>
              <a:buChar char="•"/>
              <a:defRPr/>
            </a:lvl9pPr>
          </a:lstStyle>
          <a:p>
            <a:endParaRPr/>
          </a:p>
        </p:txBody>
      </p:sp>
      <p:sp>
        <p:nvSpPr>
          <p:cNvPr id="90" name="Google Shape;90;p20"/>
          <p:cNvSpPr txBox="1">
            <a:spLocks noGrp="1"/>
          </p:cNvSpPr>
          <p:nvPr>
            <p:ph type="sldNum" idx="12"/>
          </p:nvPr>
        </p:nvSpPr>
        <p:spPr>
          <a:xfrm>
            <a:off x="4500562" y="4905375"/>
            <a:ext cx="138300" cy="146100"/>
          </a:xfrm>
          <a:prstGeom prst="rect">
            <a:avLst/>
          </a:prstGeom>
          <a:noFill/>
          <a:ln>
            <a:noFill/>
          </a:ln>
        </p:spPr>
        <p:txBody>
          <a:bodyPr spcFirstLastPara="1" wrap="square" lIns="19050" tIns="19050" rIns="19050" bIns="19050" anchor="b" anchorCtr="0">
            <a:spAutoFit/>
          </a:bodyPr>
          <a:lstStyle>
            <a:lvl1pPr marL="0" marR="0" lvl="0"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Helvetica Neue"/>
                <a:ea typeface="Helvetica Neue"/>
                <a:cs typeface="Helvetica Neue"/>
                <a:sym typeface="Helvetica Neue"/>
              </a:defRPr>
            </a:lvl1pPr>
            <a:lvl2pPr marL="0" marR="0" lvl="1"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Helvetica Neue"/>
                <a:ea typeface="Helvetica Neue"/>
                <a:cs typeface="Helvetica Neue"/>
                <a:sym typeface="Helvetica Neue"/>
              </a:defRPr>
            </a:lvl2pPr>
            <a:lvl3pPr marL="0" marR="0" lvl="2"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Helvetica Neue"/>
                <a:ea typeface="Helvetica Neue"/>
                <a:cs typeface="Helvetica Neue"/>
                <a:sym typeface="Helvetica Neue"/>
              </a:defRPr>
            </a:lvl3pPr>
            <a:lvl4pPr marL="0" marR="0" lvl="3"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Helvetica Neue"/>
                <a:ea typeface="Helvetica Neue"/>
                <a:cs typeface="Helvetica Neue"/>
                <a:sym typeface="Helvetica Neue"/>
              </a:defRPr>
            </a:lvl4pPr>
            <a:lvl5pPr marL="0" marR="0" lvl="4"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Helvetica Neue"/>
                <a:ea typeface="Helvetica Neue"/>
                <a:cs typeface="Helvetica Neue"/>
                <a:sym typeface="Helvetica Neue"/>
              </a:defRPr>
            </a:lvl5pPr>
            <a:lvl6pPr marL="0" marR="0" lvl="5"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Helvetica Neue"/>
                <a:ea typeface="Helvetica Neue"/>
                <a:cs typeface="Helvetica Neue"/>
                <a:sym typeface="Helvetica Neue"/>
              </a:defRPr>
            </a:lvl6pPr>
            <a:lvl7pPr marL="0" marR="0" lvl="6"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Helvetica Neue"/>
                <a:ea typeface="Helvetica Neue"/>
                <a:cs typeface="Helvetica Neue"/>
                <a:sym typeface="Helvetica Neue"/>
              </a:defRPr>
            </a:lvl7pPr>
            <a:lvl8pPr marL="0" marR="0" lvl="7"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Helvetica Neue"/>
                <a:ea typeface="Helvetica Neue"/>
                <a:cs typeface="Helvetica Neue"/>
                <a:sym typeface="Helvetica Neue"/>
              </a:defRPr>
            </a:lvl8pPr>
            <a:lvl9pPr marL="0" marR="0" lvl="8"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AHM 1">
  <p:cSld name="CUSTOM">
    <p:spTree>
      <p:nvGrpSpPr>
        <p:cNvPr id="1" name="Shape 91"/>
        <p:cNvGrpSpPr/>
        <p:nvPr/>
      </p:nvGrpSpPr>
      <p:grpSpPr>
        <a:xfrm>
          <a:off x="0" y="0"/>
          <a:ext cx="0" cy="0"/>
          <a:chOff x="0" y="0"/>
          <a:chExt cx="0" cy="0"/>
        </a:xfrm>
      </p:grpSpPr>
      <p:sp>
        <p:nvSpPr>
          <p:cNvPr id="92" name="Google Shape;92;p21"/>
          <p:cNvSpPr/>
          <p:nvPr/>
        </p:nvSpPr>
        <p:spPr>
          <a:xfrm>
            <a:off x="75" y="0"/>
            <a:ext cx="9144000" cy="5143500"/>
          </a:xfrm>
          <a:prstGeom prst="rect">
            <a:avLst/>
          </a:prstGeom>
          <a:solidFill>
            <a:srgbClr val="004A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3" name="Google Shape;93;p21"/>
          <p:cNvSpPr/>
          <p:nvPr/>
        </p:nvSpPr>
        <p:spPr>
          <a:xfrm>
            <a:off x="75" y="0"/>
            <a:ext cx="7447200" cy="5143500"/>
          </a:xfrm>
          <a:prstGeom prst="trapezoid">
            <a:avLst>
              <a:gd name="adj" fmla="val 68512"/>
            </a:avLst>
          </a:prstGeom>
          <a:solidFill>
            <a:srgbClr val="FF751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4" name="Google Shape;94;p21"/>
          <p:cNvSpPr/>
          <p:nvPr/>
        </p:nvSpPr>
        <p:spPr>
          <a:xfrm>
            <a:off x="283350" y="212100"/>
            <a:ext cx="8577300" cy="4719300"/>
          </a:xfrm>
          <a:prstGeom prst="roundRect">
            <a:avLst>
              <a:gd name="adj" fmla="val 5219"/>
            </a:avLst>
          </a:prstGeom>
          <a:solidFill>
            <a:srgbClr val="F9F9F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ố cục tùy chỉnh 1">
  <p:cSld name="CUSTOM_1">
    <p:spTree>
      <p:nvGrpSpPr>
        <p:cNvPr id="1" name="Shape 95"/>
        <p:cNvGrpSpPr/>
        <p:nvPr/>
      </p:nvGrpSpPr>
      <p:grpSpPr>
        <a:xfrm>
          <a:off x="0" y="0"/>
          <a:ext cx="0" cy="0"/>
          <a:chOff x="0" y="0"/>
          <a:chExt cx="0" cy="0"/>
        </a:xfrm>
      </p:grpSpPr>
      <p:sp>
        <p:nvSpPr>
          <p:cNvPr id="96" name="Google Shape;96;p22"/>
          <p:cNvSpPr/>
          <p:nvPr/>
        </p:nvSpPr>
        <p:spPr>
          <a:xfrm>
            <a:off x="75" y="0"/>
            <a:ext cx="9144000" cy="5143500"/>
          </a:xfrm>
          <a:prstGeom prst="rect">
            <a:avLst/>
          </a:prstGeom>
          <a:solidFill>
            <a:srgbClr val="004A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lide 2 master">
  <p:cSld name="Slide 2 master">
    <p:bg>
      <p:bgPr>
        <a:solidFill>
          <a:srgbClr val="000000"/>
        </a:solidFill>
        <a:effectLst/>
      </p:bgPr>
    </p:bg>
    <p:spTree>
      <p:nvGrpSpPr>
        <p:cNvPr id="1" name="Shape 97"/>
        <p:cNvGrpSpPr/>
        <p:nvPr/>
      </p:nvGrpSpPr>
      <p:grpSpPr>
        <a:xfrm>
          <a:off x="0" y="0"/>
          <a:ext cx="0" cy="0"/>
          <a:chOff x="0" y="0"/>
          <a:chExt cx="0" cy="0"/>
        </a:xfrm>
      </p:grpSpPr>
      <p:sp>
        <p:nvSpPr>
          <p:cNvPr id="98" name="Google Shape;98;p23"/>
          <p:cNvSpPr/>
          <p:nvPr/>
        </p:nvSpPr>
        <p:spPr>
          <a:xfrm>
            <a:off x="0" y="0"/>
            <a:ext cx="9144000" cy="5143500"/>
          </a:xfrm>
          <a:prstGeom prst="rect">
            <a:avLst/>
          </a:prstGeom>
          <a:solidFill>
            <a:srgbClr val="BFC9FF"/>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99" name="Google Shape;99;p23"/>
          <p:cNvSpPr/>
          <p:nvPr/>
        </p:nvSpPr>
        <p:spPr>
          <a:xfrm>
            <a:off x="0" y="0"/>
            <a:ext cx="9144000" cy="5143500"/>
          </a:xfrm>
          <a:prstGeom prst="rect">
            <a:avLst/>
          </a:prstGeom>
          <a:solidFill>
            <a:srgbClr val="F2F4FF"/>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100" name="Google Shape;100;p23" descr="preencoded.png">
            <a:hlinkClick r:id="rId2"/>
          </p:cNvPr>
          <p:cNvPicPr preferRelativeResize="0"/>
          <p:nvPr/>
        </p:nvPicPr>
        <p:blipFill rotWithShape="1">
          <a:blip r:embed="rId3">
            <a:alphaModFix/>
          </a:blip>
          <a:srcRect/>
          <a:stretch/>
        </p:blipFill>
        <p:spPr>
          <a:xfrm>
            <a:off x="8024509" y="4843463"/>
            <a:ext cx="1076628" cy="257175"/>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1"/>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6_Guide_white_Bg">
  <p:cSld name="6_Guide_white_Bg">
    <p:spTree>
      <p:nvGrpSpPr>
        <p:cNvPr id="1" name="Shape 102"/>
        <p:cNvGrpSpPr/>
        <p:nvPr/>
      </p:nvGrpSpPr>
      <p:grpSpPr>
        <a:xfrm>
          <a:off x="0" y="0"/>
          <a:ext cx="0" cy="0"/>
          <a:chOff x="0" y="0"/>
          <a:chExt cx="0" cy="0"/>
        </a:xfrm>
      </p:grpSpPr>
      <p:sp>
        <p:nvSpPr>
          <p:cNvPr id="103" name="Google Shape;103;p25" descr="A black background with a blue and red line&#10;&#10;AI-generated content may be incorrect."/>
          <p:cNvSpPr/>
          <p:nvPr/>
        </p:nvSpPr>
        <p:spPr>
          <a:xfrm>
            <a:off x="0" y="0"/>
            <a:ext cx="9144000" cy="898863"/>
          </a:xfrm>
          <a:prstGeom prst="rect">
            <a:avLst/>
          </a:prstGeom>
          <a:noFill/>
          <a:ln>
            <a:noFill/>
          </a:ln>
        </p:spPr>
      </p:sp>
      <p:sp>
        <p:nvSpPr>
          <p:cNvPr id="104" name="Google Shape;104;p25"/>
          <p:cNvSpPr>
            <a:spLocks noGrp="1"/>
          </p:cNvSpPr>
          <p:nvPr>
            <p:ph type="pic" idx="2"/>
          </p:nvPr>
        </p:nvSpPr>
        <p:spPr>
          <a:xfrm>
            <a:off x="5201841" y="0"/>
            <a:ext cx="3942300" cy="5143500"/>
          </a:xfrm>
          <a:prstGeom prst="rect">
            <a:avLst/>
          </a:prstGeom>
          <a:noFill/>
          <a:ln>
            <a:noFill/>
          </a:ln>
        </p:spPr>
      </p:sp>
      <p:sp>
        <p:nvSpPr>
          <p:cNvPr id="105" name="Google Shape;105;p25"/>
          <p:cNvSpPr txBox="1">
            <a:spLocks noGrp="1"/>
          </p:cNvSpPr>
          <p:nvPr>
            <p:ph type="sldNum" idx="12"/>
          </p:nvPr>
        </p:nvSpPr>
        <p:spPr>
          <a:xfrm>
            <a:off x="6840311" y="4667999"/>
            <a:ext cx="2057400" cy="273900"/>
          </a:xfrm>
          <a:prstGeom prst="rect">
            <a:avLst/>
          </a:prstGeom>
          <a:noFill/>
          <a:ln>
            <a:noFill/>
          </a:ln>
        </p:spPr>
        <p:txBody>
          <a:bodyPr spcFirstLastPara="1" wrap="square" lIns="68575" tIns="34275" rIns="68575" bIns="34275" anchor="ctr" anchorCtr="0">
            <a:norm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
        <p:nvSpPr>
          <p:cNvPr id="106" name="Google Shape;106;p25"/>
          <p:cNvSpPr txBox="1">
            <a:spLocks noGrp="1"/>
          </p:cNvSpPr>
          <p:nvPr>
            <p:ph type="title"/>
          </p:nvPr>
        </p:nvSpPr>
        <p:spPr>
          <a:xfrm>
            <a:off x="234083" y="0"/>
            <a:ext cx="7945500" cy="8178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800"/>
              <a:buFont typeface="Be Vietnam Pro SemiBold"/>
              <a:buNone/>
              <a:defRPr sz="18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Tree>
  </p:cSld>
  <p:clrMapOvr>
    <a:masterClrMapping/>
  </p:clrMapOvr>
  <p:extLst>
    <p:ext uri="{DCECCB84-F9BA-43D5-87BE-67443E8EF086}">
      <p15:sldGuideLst xmlns:p15="http://schemas.microsoft.com/office/powerpoint/2012/main">
        <p15:guide id="1" orient="horz" pos="209">
          <p15:clr>
            <a:srgbClr val="FBAE40"/>
          </p15:clr>
        </p15:guide>
        <p15:guide id="2" pos="209">
          <p15:clr>
            <a:srgbClr val="FBAE40"/>
          </p15:clr>
        </p15:guide>
        <p15:guide id="3" pos="5551">
          <p15:clr>
            <a:srgbClr val="FBAE40"/>
          </p15:clr>
        </p15:guide>
        <p15:guide id="4" orient="horz" pos="2929">
          <p15:clr>
            <a:srgbClr val="FBAE40"/>
          </p15:clr>
        </p15:guide>
        <p15:guide id="5" pos="567">
          <p15:clr>
            <a:srgbClr val="FBAE40"/>
          </p15:clr>
        </p15:guide>
        <p15:guide id="6" pos="669">
          <p15:clr>
            <a:srgbClr val="FBAE40"/>
          </p15:clr>
        </p15:guide>
        <p15:guide id="7" pos="1043">
          <p15:clr>
            <a:srgbClr val="FBAE40"/>
          </p15:clr>
        </p15:guide>
        <p15:guide id="8" pos="1111">
          <p15:clr>
            <a:srgbClr val="FBAE40"/>
          </p15:clr>
        </p15:guide>
        <p15:guide id="9" pos="1485">
          <p15:clr>
            <a:srgbClr val="FBAE40"/>
          </p15:clr>
        </p15:guide>
        <p15:guide id="10" pos="1571">
          <p15:clr>
            <a:srgbClr val="FBAE40"/>
          </p15:clr>
        </p15:guide>
        <p15:guide id="11" pos="1927">
          <p15:clr>
            <a:srgbClr val="FBAE40"/>
          </p15:clr>
        </p15:guide>
        <p15:guide id="12" pos="2029">
          <p15:clr>
            <a:srgbClr val="FBAE40"/>
          </p15:clr>
        </p15:guide>
        <p15:guide id="13" pos="2387">
          <p15:clr>
            <a:srgbClr val="FBAE40"/>
          </p15:clr>
        </p15:guide>
        <p15:guide id="14" pos="2472">
          <p15:clr>
            <a:srgbClr val="FBAE40"/>
          </p15:clr>
        </p15:guide>
        <p15:guide id="15" pos="2846">
          <p15:clr>
            <a:srgbClr val="FBAE40"/>
          </p15:clr>
        </p15:guide>
        <p15:guide id="16" pos="2914">
          <p15:clr>
            <a:srgbClr val="FBAE40"/>
          </p15:clr>
        </p15:guide>
        <p15:guide id="17" pos="3288">
          <p15:clr>
            <a:srgbClr val="FBAE40"/>
          </p15:clr>
        </p15:guide>
        <p15:guide id="18" pos="3363">
          <p15:clr>
            <a:srgbClr val="FBAE40"/>
          </p15:clr>
        </p15:guide>
        <p15:guide id="19" pos="3764">
          <p15:clr>
            <a:srgbClr val="FBAE40"/>
          </p15:clr>
        </p15:guide>
        <p15:guide id="20" pos="3833">
          <p15:clr>
            <a:srgbClr val="FBAE40"/>
          </p15:clr>
        </p15:guide>
        <p15:guide id="21" pos="4189">
          <p15:clr>
            <a:srgbClr val="FBAE40"/>
          </p15:clr>
        </p15:guide>
        <p15:guide id="22" pos="4258">
          <p15:clr>
            <a:srgbClr val="FBAE40"/>
          </p15:clr>
        </p15:guide>
        <p15:guide id="23" pos="4632">
          <p15:clr>
            <a:srgbClr val="FBAE40"/>
          </p15:clr>
        </p15:guide>
        <p15:guide id="24" pos="4717">
          <p15:clr>
            <a:srgbClr val="FBAE40"/>
          </p15:clr>
        </p15:guide>
        <p15:guide id="25" pos="5108">
          <p15:clr>
            <a:srgbClr val="FBAE40"/>
          </p15:clr>
        </p15:guide>
        <p15:guide id="26" pos="5166">
          <p15:clr>
            <a:srgbClr val="FBAE40"/>
          </p15:clr>
        </p15:guide>
        <p15:guide id="27" orient="horz" pos="752">
          <p15:clr>
            <a:srgbClr val="FBAE40"/>
          </p15:clr>
        </p15:guide>
        <p15:guide id="28" orient="horz" pos="838">
          <p15:clr>
            <a:srgbClr val="FBAE40"/>
          </p15:clr>
        </p15:guide>
        <p15:guide id="29" orient="horz" pos="1518">
          <p15:clr>
            <a:srgbClr val="FBAE40"/>
          </p15:clr>
        </p15:guide>
        <p15:guide id="30" orient="horz" pos="1593">
          <p15:clr>
            <a:srgbClr val="FBAE40"/>
          </p15:clr>
        </p15:guide>
        <p15:guide id="31" orient="horz" pos="2284">
          <p15:clr>
            <a:srgbClr val="FBAE40"/>
          </p15:clr>
        </p15:guide>
        <p15:guide id="32" orient="horz" pos="2335">
          <p15:clr>
            <a:srgbClr val="FBAE40"/>
          </p15:clr>
        </p15:guide>
        <p15:guide id="33" orient="horz" pos="3049">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14"/>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15"/>
        <p:cNvGrpSpPr/>
        <p:nvPr/>
      </p:nvGrpSpPr>
      <p:grpSpPr>
        <a:xfrm>
          <a:off x="0" y="0"/>
          <a:ext cx="0" cy="0"/>
          <a:chOff x="0" y="0"/>
          <a:chExt cx="0" cy="0"/>
        </a:xfrm>
      </p:grpSpPr>
      <p:sp>
        <p:nvSpPr>
          <p:cNvPr id="116" name="Google Shape;116;p3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
        <p:nvSpPr>
          <p:cNvPr id="117" name="Google Shape;117;p3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ctr"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18" name="Google Shape;118;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25.xml"/><Relationship Id="rId1"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113"/>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4" r:id="rId1"/>
    <p:sldLayoutId id="2147483675"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2.xml"/><Relationship Id="rId4" Type="http://schemas.openxmlformats.org/officeDocument/2006/relationships/hyperlink" Target="https://docs.google.com/presentation/d/1fo7sgyZylG4nNR12p5sGsfJEGazam9PoHH-iUNhvYEI/edit?usp=sharing"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4.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4.xml"/><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4.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4.xml"/><Relationship Id="rId4" Type="http://schemas.openxmlformats.org/officeDocument/2006/relationships/hyperlink" Target="https://weatherspark.com/h/m/116009/2026/8/Historical-Weather-in-August-2026-in-Hanoi-Vietnam#Figures-ObservedWeather"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4.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hyperlink" Target="https://docs.google.com/spreadsheets/d/1cqnYbVlrnq1baPi8OGIGkTSuo3f6N0IaNUfK4hGdnz4/edit?gid=1989307193#gid=1989307193"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hyperlink" Target="https://docs.google.com/spreadsheets/d/1sxPNM_PbP0b7AqzIptfND5DXi5zRa7Mmr-SJjtlT0z4/edit?gid=668139887#gid=668139887"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4.xml"/><Relationship Id="rId5" Type="http://schemas.openxmlformats.org/officeDocument/2006/relationships/image" Target="../media/image19.png"/><Relationship Id="rId4" Type="http://schemas.openxmlformats.org/officeDocument/2006/relationships/hyperlink" Target="https://app.notion.com/p/qmpedia/Task-PT-FT-3bb82b0d67e080078a99dffb4dddc904"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24.xml"/><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8" Type="http://schemas.openxmlformats.org/officeDocument/2006/relationships/hyperlink" Target="https://www.youtube.com/shorts/_OS7xixs328" TargetMode="External"/><Relationship Id="rId3" Type="http://schemas.openxmlformats.org/officeDocument/2006/relationships/hyperlink" Target="https://docs.google.com/spreadsheets/d/138HqIsjyZfETezqhJDMpmOaa3g-UaFczoALxZEqcCDs/edit?gid=298172217#gid=298172217" TargetMode="External"/><Relationship Id="rId7" Type="http://schemas.openxmlformats.org/officeDocument/2006/relationships/hyperlink" Target="https://www.youtube.com/watch?v=YvAbXYPB2Eo" TargetMode="External"/><Relationship Id="rId2" Type="http://schemas.openxmlformats.org/officeDocument/2006/relationships/notesSlide" Target="../notesSlides/notesSlide12.xml"/><Relationship Id="rId1" Type="http://schemas.openxmlformats.org/officeDocument/2006/relationships/slideLayout" Target="../slideLayouts/slideLayout24.xml"/><Relationship Id="rId6" Type="http://schemas.openxmlformats.org/officeDocument/2006/relationships/hyperlink" Target="https://www.youtube.com/watch?v=l76hjSHRk0k" TargetMode="External"/><Relationship Id="rId5" Type="http://schemas.openxmlformats.org/officeDocument/2006/relationships/hyperlink" Target="https://www.youtube.com/watch?v=YYB47UZQG-E" TargetMode="External"/><Relationship Id="rId4" Type="http://schemas.openxmlformats.org/officeDocument/2006/relationships/hyperlink" Target="https://docs.google.com/spreadsheets/d/1a5BZpOd8WRZrH7uOigFHv0xiKfy8s9fUSFdwZPJ_Qnk/edit?gid=530645369#gid=530645369"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bi.ahamove.com/question/76899" TargetMode="External"/><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4.xml"/><Relationship Id="rId5" Type="http://schemas.openxmlformats.org/officeDocument/2006/relationships/image" Target="../media/image26.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24.xml"/><Relationship Id="rId5" Type="http://schemas.openxmlformats.org/officeDocument/2006/relationships/image" Target="../media/image28.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24.xml"/><Relationship Id="rId5" Type="http://schemas.openxmlformats.org/officeDocument/2006/relationships/image" Target="../media/image30.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4.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24.xml"/><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8" Type="http://schemas.openxmlformats.org/officeDocument/2006/relationships/image" Target="../media/image42.jpg"/><Relationship Id="rId3" Type="http://schemas.openxmlformats.org/officeDocument/2006/relationships/image" Target="../media/image37.png"/><Relationship Id="rId7" Type="http://schemas.openxmlformats.org/officeDocument/2006/relationships/image" Target="../media/image41.jpg"/><Relationship Id="rId2" Type="http://schemas.openxmlformats.org/officeDocument/2006/relationships/notesSlide" Target="../notesSlides/notesSlide27.xml"/><Relationship Id="rId1" Type="http://schemas.openxmlformats.org/officeDocument/2006/relationships/slideLayout" Target="../slideLayouts/slideLayout24.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9" Type="http://schemas.openxmlformats.org/officeDocument/2006/relationships/image" Target="../media/image43.png"/></Relationships>
</file>

<file path=ppt/slides/_rels/slide28.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28.xml"/><Relationship Id="rId1" Type="http://schemas.openxmlformats.org/officeDocument/2006/relationships/slideLayout" Target="../slideLayouts/slideLayout24.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0.png"/><Relationship Id="rId2" Type="http://schemas.openxmlformats.org/officeDocument/2006/relationships/notesSlide" Target="../notesSlides/notesSlide29.xml"/><Relationship Id="rId1" Type="http://schemas.openxmlformats.org/officeDocument/2006/relationships/slideLayout" Target="../slideLayouts/slideLayout24.xml"/><Relationship Id="rId6" Type="http://schemas.openxmlformats.org/officeDocument/2006/relationships/image" Target="../media/image38.png"/><Relationship Id="rId5" Type="http://schemas.openxmlformats.org/officeDocument/2006/relationships/hyperlink" Target="https://docs.google.com/spreadsheets/d/12oi5ar_hqhsKXRsNGxB6xMxZCu_8mQ02/edit?usp=sharing&amp;ouid=101315636948776168586&amp;rtpof=true&amp;sd=true" TargetMode="External"/><Relationship Id="rId4"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E4174"/>
        </a:solidFill>
        <a:effectLst/>
      </p:bgPr>
    </p:bg>
    <p:spTree>
      <p:nvGrpSpPr>
        <p:cNvPr id="1" name="Shape 127"/>
        <p:cNvGrpSpPr/>
        <p:nvPr/>
      </p:nvGrpSpPr>
      <p:grpSpPr>
        <a:xfrm>
          <a:off x="0" y="0"/>
          <a:ext cx="0" cy="0"/>
          <a:chOff x="0" y="0"/>
          <a:chExt cx="0" cy="0"/>
        </a:xfrm>
      </p:grpSpPr>
      <p:sp>
        <p:nvSpPr>
          <p:cNvPr id="128" name="Google Shape;128;p33"/>
          <p:cNvSpPr/>
          <p:nvPr/>
        </p:nvSpPr>
        <p:spPr>
          <a:xfrm>
            <a:off x="5943600" y="0"/>
            <a:ext cx="3200400" cy="5143500"/>
          </a:xfrm>
          <a:prstGeom prst="rect">
            <a:avLst/>
          </a:prstGeom>
          <a:solidFill>
            <a:srgbClr val="0A2F54">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33"/>
          <p:cNvSpPr/>
          <p:nvPr/>
        </p:nvSpPr>
        <p:spPr>
          <a:xfrm>
            <a:off x="0" y="0"/>
            <a:ext cx="9144000" cy="915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33"/>
          <p:cNvSpPr/>
          <p:nvPr/>
        </p:nvSpPr>
        <p:spPr>
          <a:xfrm>
            <a:off x="548640" y="1097280"/>
            <a:ext cx="5486400" cy="731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200"/>
              <a:buFont typeface="Calibri"/>
              <a:buNone/>
            </a:pPr>
            <a:r>
              <a:rPr lang="en" sz="3200" b="1" i="0" u="none" strike="noStrike" cap="none">
                <a:solidFill>
                  <a:srgbClr val="FFFFFF"/>
                </a:solidFill>
                <a:latin typeface="Lexend"/>
                <a:ea typeface="Lexend"/>
                <a:cs typeface="Lexend"/>
                <a:sym typeface="Lexend"/>
              </a:rPr>
              <a:t>BÁO CÁO VẬN HÀNH DM</a:t>
            </a:r>
            <a:endParaRPr sz="3200" b="1" i="0" u="none" strike="noStrike" cap="none">
              <a:solidFill>
                <a:schemeClr val="dk1"/>
              </a:solidFill>
              <a:latin typeface="Lexend"/>
              <a:ea typeface="Lexend"/>
              <a:cs typeface="Lexend"/>
              <a:sym typeface="Lexend"/>
            </a:endParaRPr>
          </a:p>
        </p:txBody>
      </p:sp>
      <p:sp>
        <p:nvSpPr>
          <p:cNvPr id="131" name="Google Shape;131;p33"/>
          <p:cNvSpPr/>
          <p:nvPr/>
        </p:nvSpPr>
        <p:spPr>
          <a:xfrm>
            <a:off x="548640" y="1783080"/>
            <a:ext cx="5486400" cy="594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7F32"/>
              </a:buClr>
              <a:buSzPts val="2600"/>
              <a:buFont typeface="Calibri"/>
              <a:buNone/>
            </a:pPr>
            <a:r>
              <a:rPr lang="en" sz="2600" b="1" i="0" u="none" strike="noStrike" cap="none">
                <a:solidFill>
                  <a:srgbClr val="FF7F32"/>
                </a:solidFill>
                <a:latin typeface="Lexend"/>
                <a:ea typeface="Lexend"/>
                <a:cs typeface="Lexend"/>
                <a:sym typeface="Lexend"/>
              </a:rPr>
              <a:t>WEEKLY REVIEW</a:t>
            </a:r>
            <a:endParaRPr sz="2600" b="1" i="0" u="none" strike="noStrike" cap="none">
              <a:solidFill>
                <a:schemeClr val="dk1"/>
              </a:solidFill>
              <a:latin typeface="Lexend"/>
              <a:ea typeface="Lexend"/>
              <a:cs typeface="Lexend"/>
              <a:sym typeface="Lexend"/>
            </a:endParaRPr>
          </a:p>
        </p:txBody>
      </p:sp>
      <p:sp>
        <p:nvSpPr>
          <p:cNvPr id="132" name="Google Shape;132;p33"/>
          <p:cNvSpPr/>
          <p:nvPr/>
        </p:nvSpPr>
        <p:spPr>
          <a:xfrm>
            <a:off x="548640" y="2514600"/>
            <a:ext cx="1371600" cy="366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33"/>
          <p:cNvSpPr/>
          <p:nvPr/>
        </p:nvSpPr>
        <p:spPr>
          <a:xfrm>
            <a:off x="548640" y="2743200"/>
            <a:ext cx="45720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300"/>
              <a:buFont typeface="Calibri"/>
              <a:buNone/>
            </a:pPr>
            <a:r>
              <a:rPr lang="en" sz="1300" i="0" u="none" strike="noStrike" cap="none">
                <a:solidFill>
                  <a:srgbClr val="94A3B8"/>
                </a:solidFill>
                <a:latin typeface="Lexend"/>
                <a:ea typeface="Lexend"/>
                <a:cs typeface="Lexend"/>
                <a:sym typeface="Lexend"/>
              </a:rPr>
              <a:t>Tuần: </a:t>
            </a:r>
            <a:r>
              <a:rPr lang="en" sz="1300">
                <a:solidFill>
                  <a:schemeClr val="lt1"/>
                </a:solidFill>
                <a:latin typeface="Lexend"/>
                <a:ea typeface="Lexend"/>
                <a:cs typeface="Lexend"/>
                <a:sym typeface="Lexend"/>
              </a:rPr>
              <a:t>[Tuần 36 – 24-30/08/2026]</a:t>
            </a:r>
            <a:endParaRPr sz="1300" i="0" u="none" strike="noStrike" cap="none">
              <a:solidFill>
                <a:schemeClr val="dk1"/>
              </a:solidFill>
              <a:latin typeface="Lexend"/>
              <a:ea typeface="Lexend"/>
              <a:cs typeface="Lexend"/>
              <a:sym typeface="Lexend"/>
            </a:endParaRPr>
          </a:p>
        </p:txBody>
      </p:sp>
      <p:sp>
        <p:nvSpPr>
          <p:cNvPr id="134" name="Google Shape;134;p33"/>
          <p:cNvSpPr/>
          <p:nvPr/>
        </p:nvSpPr>
        <p:spPr>
          <a:xfrm>
            <a:off x="548640" y="3108960"/>
            <a:ext cx="45720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300"/>
              <a:buFont typeface="Calibri"/>
              <a:buNone/>
            </a:pPr>
            <a:r>
              <a:rPr lang="en" sz="1300" i="0" u="none" strike="noStrike" cap="none">
                <a:solidFill>
                  <a:srgbClr val="94A3B8"/>
                </a:solidFill>
                <a:latin typeface="Lexend"/>
                <a:ea typeface="Lexend"/>
                <a:cs typeface="Lexend"/>
                <a:sym typeface="Lexend"/>
              </a:rPr>
              <a:t>Khu vực: </a:t>
            </a:r>
            <a:r>
              <a:rPr lang="en" sz="1300" i="0" u="none" strike="noStrike" cap="none">
                <a:solidFill>
                  <a:srgbClr val="FFFFFF"/>
                </a:solidFill>
                <a:latin typeface="Lexend"/>
                <a:ea typeface="Lexend"/>
                <a:cs typeface="Lexend"/>
                <a:sym typeface="Lexend"/>
              </a:rPr>
              <a:t>SGN &amp; HAN</a:t>
            </a:r>
            <a:endParaRPr sz="1300" i="0" u="none" strike="noStrike" cap="none">
              <a:solidFill>
                <a:schemeClr val="dk1"/>
              </a:solidFill>
              <a:latin typeface="Lexend"/>
              <a:ea typeface="Lexend"/>
              <a:cs typeface="Lexend"/>
              <a:sym typeface="Lexend"/>
            </a:endParaRPr>
          </a:p>
        </p:txBody>
      </p:sp>
      <p:sp>
        <p:nvSpPr>
          <p:cNvPr id="135" name="Google Shape;135;p33"/>
          <p:cNvSpPr/>
          <p:nvPr/>
        </p:nvSpPr>
        <p:spPr>
          <a:xfrm>
            <a:off x="555936" y="3474720"/>
            <a:ext cx="45720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300"/>
              <a:buFont typeface="Calibri"/>
              <a:buNone/>
            </a:pPr>
            <a:r>
              <a:rPr lang="en" sz="1300" i="0" u="none" strike="noStrike" cap="none">
                <a:solidFill>
                  <a:srgbClr val="94A3B8"/>
                </a:solidFill>
                <a:latin typeface="Lexend"/>
                <a:ea typeface="Lexend"/>
                <a:cs typeface="Lexend"/>
                <a:sym typeface="Lexend"/>
              </a:rPr>
              <a:t>PIC: D</a:t>
            </a:r>
            <a:r>
              <a:rPr lang="en" sz="1300">
                <a:solidFill>
                  <a:srgbClr val="94A3B8"/>
                </a:solidFill>
                <a:latin typeface="Lexend"/>
                <a:ea typeface="Lexend"/>
                <a:cs typeface="Lexend"/>
                <a:sym typeface="Lexend"/>
              </a:rPr>
              <a:t>river Management Team</a:t>
            </a:r>
            <a:endParaRPr sz="1300" i="0" u="none" strike="noStrike" cap="none">
              <a:solidFill>
                <a:schemeClr val="dk1"/>
              </a:solidFill>
              <a:latin typeface="Lexend"/>
              <a:ea typeface="Lexend"/>
              <a:cs typeface="Lexend"/>
              <a:sym typeface="Lexend"/>
            </a:endParaRPr>
          </a:p>
        </p:txBody>
      </p:sp>
      <p:pic>
        <p:nvPicPr>
          <p:cNvPr id="136" name="Google Shape;136;p33" descr="preencoded.png"/>
          <p:cNvPicPr preferRelativeResize="0"/>
          <p:nvPr/>
        </p:nvPicPr>
        <p:blipFill rotWithShape="1">
          <a:blip r:embed="rId3">
            <a:alphaModFix/>
          </a:blip>
          <a:srcRect/>
          <a:stretch/>
        </p:blipFill>
        <p:spPr>
          <a:xfrm>
            <a:off x="6750325" y="1451032"/>
            <a:ext cx="1852850" cy="1852850"/>
          </a:xfrm>
          <a:prstGeom prst="rect">
            <a:avLst/>
          </a:prstGeom>
          <a:noFill/>
          <a:ln>
            <a:noFill/>
          </a:ln>
        </p:spPr>
      </p:pic>
      <p:sp>
        <p:nvSpPr>
          <p:cNvPr id="137" name="Google Shape;137;p33"/>
          <p:cNvSpPr/>
          <p:nvPr/>
        </p:nvSpPr>
        <p:spPr>
          <a:xfrm>
            <a:off x="0" y="4663440"/>
            <a:ext cx="9144000" cy="480000"/>
          </a:xfrm>
          <a:prstGeom prst="rect">
            <a:avLst/>
          </a:prstGeom>
          <a:solidFill>
            <a:srgbClr val="0A2F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33"/>
          <p:cNvSpPr/>
          <p:nvPr/>
        </p:nvSpPr>
        <p:spPr>
          <a:xfrm>
            <a:off x="8229600" y="4800600"/>
            <a:ext cx="7314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800"/>
              <a:buFont typeface="Calibri"/>
              <a:buNone/>
            </a:pPr>
            <a:r>
              <a:rPr lang="en" sz="800" b="0" i="0" u="none" strike="noStrike" cap="none">
                <a:solidFill>
                  <a:srgbClr val="94A3B8"/>
                </a:solidFill>
                <a:latin typeface="Calibri"/>
                <a:ea typeface="Calibri"/>
                <a:cs typeface="Calibri"/>
                <a:sym typeface="Calibri"/>
              </a:rPr>
              <a:t>1 / 11</a:t>
            </a:r>
            <a:endParaRPr sz="800" b="0" i="0" u="none" strike="noStrike" cap="none">
              <a:solidFill>
                <a:schemeClr val="dk1"/>
              </a:solidFill>
              <a:latin typeface="Calibri"/>
              <a:ea typeface="Calibri"/>
              <a:cs typeface="Calibri"/>
              <a:sym typeface="Calibri"/>
            </a:endParaRPr>
          </a:p>
        </p:txBody>
      </p:sp>
      <p:sp>
        <p:nvSpPr>
          <p:cNvPr id="139" name="Google Shape;139;p33"/>
          <p:cNvSpPr/>
          <p:nvPr/>
        </p:nvSpPr>
        <p:spPr>
          <a:xfrm>
            <a:off x="5486395" y="105508"/>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sp>
        <p:nvSpPr>
          <p:cNvPr id="140" name="Google Shape;140;p33"/>
          <p:cNvSpPr/>
          <p:nvPr/>
        </p:nvSpPr>
        <p:spPr>
          <a:xfrm>
            <a:off x="555936" y="4720595"/>
            <a:ext cx="45720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300"/>
              <a:buFont typeface="Calibri"/>
              <a:buNone/>
            </a:pPr>
            <a:r>
              <a:rPr lang="en" sz="1300" i="1" u="sng">
                <a:solidFill>
                  <a:schemeClr val="hlink"/>
                </a:solidFill>
                <a:latin typeface="Lexend"/>
                <a:ea typeface="Lexend"/>
                <a:cs typeface="Lexend"/>
                <a:sym typeface="Lexend"/>
                <a:hlinkClick r:id="rId4"/>
              </a:rPr>
              <a:t>Backup Slides Report (Aug 2026)</a:t>
            </a:r>
            <a:endParaRPr sz="1300" i="1" u="none" strike="noStrike" cap="none">
              <a:solidFill>
                <a:schemeClr val="dk1"/>
              </a:solidFill>
              <a:latin typeface="Lexend"/>
              <a:ea typeface="Lexend"/>
              <a:cs typeface="Lexend"/>
              <a:sym typeface="Lexen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45"/>
        <p:cNvGrpSpPr/>
        <p:nvPr/>
      </p:nvGrpSpPr>
      <p:grpSpPr>
        <a:xfrm>
          <a:off x="0" y="0"/>
          <a:ext cx="0" cy="0"/>
          <a:chOff x="0" y="0"/>
          <a:chExt cx="0" cy="0"/>
        </a:xfrm>
      </p:grpSpPr>
      <p:sp>
        <p:nvSpPr>
          <p:cNvPr id="146" name="Google Shape;146;p34"/>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7" name="Google Shape;147;p34" descr="preencoded.png"/>
          <p:cNvPicPr preferRelativeResize="0"/>
          <p:nvPr/>
        </p:nvPicPr>
        <p:blipFill rotWithShape="1">
          <a:blip r:embed="rId3">
            <a:alphaModFix/>
          </a:blip>
          <a:srcRect/>
          <a:stretch/>
        </p:blipFill>
        <p:spPr>
          <a:xfrm>
            <a:off x="365760" y="274320"/>
            <a:ext cx="274320" cy="274320"/>
          </a:xfrm>
          <a:prstGeom prst="rect">
            <a:avLst/>
          </a:prstGeom>
          <a:noFill/>
          <a:ln>
            <a:noFill/>
          </a:ln>
        </p:spPr>
      </p:pic>
      <p:sp>
        <p:nvSpPr>
          <p:cNvPr id="148" name="Google Shape;148;p34"/>
          <p:cNvSpPr/>
          <p:nvPr/>
        </p:nvSpPr>
        <p:spPr>
          <a:xfrm>
            <a:off x="731520" y="2011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i="0" u="none" strike="noStrike" cap="none">
                <a:solidFill>
                  <a:srgbClr val="0E4174"/>
                </a:solidFill>
                <a:latin typeface="Lexend"/>
                <a:ea typeface="Lexend"/>
                <a:cs typeface="Lexend"/>
                <a:sym typeface="Lexend"/>
              </a:rPr>
              <a:t>Summary: Highlights &amp; Lowlights</a:t>
            </a:r>
            <a:endParaRPr sz="2200" b="1" i="0" u="none" strike="noStrike" cap="none">
              <a:solidFill>
                <a:schemeClr val="dk1"/>
              </a:solidFill>
              <a:latin typeface="Lexend"/>
              <a:ea typeface="Lexend"/>
              <a:cs typeface="Lexend"/>
              <a:sym typeface="Lexend"/>
            </a:endParaRPr>
          </a:p>
        </p:txBody>
      </p:sp>
      <p:sp>
        <p:nvSpPr>
          <p:cNvPr id="149" name="Google Shape;149;p34"/>
          <p:cNvSpPr/>
          <p:nvPr/>
        </p:nvSpPr>
        <p:spPr>
          <a:xfrm>
            <a:off x="731520" y="594360"/>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 sz="1000" i="1" u="none" strike="noStrike" cap="none">
                <a:solidFill>
                  <a:srgbClr val="64748B"/>
                </a:solidFill>
                <a:latin typeface="Lexend"/>
                <a:ea typeface="Lexend"/>
                <a:cs typeface="Lexend"/>
                <a:sym typeface="Lexend"/>
              </a:rPr>
              <a:t>Trọng tâm tuần — Kết quả thực thi &amp; Kế hoạch hành động</a:t>
            </a:r>
            <a:endParaRPr sz="1000" i="0" u="none" strike="noStrike" cap="none">
              <a:solidFill>
                <a:schemeClr val="dk1"/>
              </a:solidFill>
              <a:latin typeface="Lexend"/>
              <a:ea typeface="Lexend"/>
              <a:cs typeface="Lexend"/>
              <a:sym typeface="Lexend"/>
            </a:endParaRPr>
          </a:p>
        </p:txBody>
      </p:sp>
      <p:cxnSp>
        <p:nvCxnSpPr>
          <p:cNvPr id="150" name="Google Shape;150;p34"/>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151" name="Google Shape;151;p34"/>
          <p:cNvSpPr/>
          <p:nvPr/>
        </p:nvSpPr>
        <p:spPr>
          <a:xfrm>
            <a:off x="144875" y="1051550"/>
            <a:ext cx="4282800" cy="23454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34"/>
          <p:cNvSpPr/>
          <p:nvPr/>
        </p:nvSpPr>
        <p:spPr>
          <a:xfrm>
            <a:off x="144875" y="1051550"/>
            <a:ext cx="59100" cy="2345400"/>
          </a:xfrm>
          <a:prstGeom prst="rect">
            <a:avLst/>
          </a:prstGeom>
          <a:solidFill>
            <a:srgbClr val="10B9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53" name="Google Shape;153;p34" descr="preencoded.png"/>
          <p:cNvPicPr preferRelativeResize="0"/>
          <p:nvPr/>
        </p:nvPicPr>
        <p:blipFill rotWithShape="1">
          <a:blip r:embed="rId4">
            <a:alphaModFix/>
          </a:blip>
          <a:srcRect/>
          <a:stretch/>
        </p:blipFill>
        <p:spPr>
          <a:xfrm>
            <a:off x="336169" y="1143000"/>
            <a:ext cx="210412" cy="201168"/>
          </a:xfrm>
          <a:prstGeom prst="rect">
            <a:avLst/>
          </a:prstGeom>
          <a:noFill/>
          <a:ln>
            <a:noFill/>
          </a:ln>
        </p:spPr>
      </p:pic>
      <p:sp>
        <p:nvSpPr>
          <p:cNvPr id="154" name="Google Shape;154;p34"/>
          <p:cNvSpPr/>
          <p:nvPr/>
        </p:nvSpPr>
        <p:spPr>
          <a:xfrm>
            <a:off x="603965" y="1097280"/>
            <a:ext cx="2869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0B981"/>
              </a:buClr>
              <a:buSzPts val="1200"/>
              <a:buFont typeface="Calibri"/>
              <a:buNone/>
            </a:pPr>
            <a:r>
              <a:rPr lang="en" sz="1200" i="0" u="none" strike="noStrike" cap="none">
                <a:solidFill>
                  <a:srgbClr val="10B981"/>
                </a:solidFill>
                <a:latin typeface="Lexend"/>
                <a:ea typeface="Lexend"/>
                <a:cs typeface="Lexend"/>
                <a:sym typeface="Lexend"/>
              </a:rPr>
              <a:t>HIGHLIGHTS</a:t>
            </a:r>
            <a:endParaRPr sz="1200" i="0" u="none" strike="noStrike" cap="none">
              <a:solidFill>
                <a:schemeClr val="dk1"/>
              </a:solidFill>
              <a:latin typeface="Lexend"/>
              <a:ea typeface="Lexend"/>
              <a:cs typeface="Lexend"/>
              <a:sym typeface="Lexend"/>
            </a:endParaRPr>
          </a:p>
        </p:txBody>
      </p:sp>
      <p:sp>
        <p:nvSpPr>
          <p:cNvPr id="155" name="Google Shape;155;p34"/>
          <p:cNvSpPr/>
          <p:nvPr/>
        </p:nvSpPr>
        <p:spPr>
          <a:xfrm>
            <a:off x="341775" y="1343575"/>
            <a:ext cx="3889500" cy="2004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1100"/>
              <a:buFont typeface="Arial"/>
              <a:buNone/>
            </a:pPr>
            <a:r>
              <a:rPr lang="en" sz="1000" b="1">
                <a:solidFill>
                  <a:srgbClr val="F56C1F"/>
                </a:solidFill>
                <a:latin typeface="Lexend"/>
                <a:ea typeface="Lexend"/>
                <a:cs typeface="Lexend"/>
                <a:sym typeface="Lexend"/>
              </a:rPr>
              <a:t>HAN</a:t>
            </a:r>
            <a:r>
              <a:rPr lang="en" sz="1000" b="1">
                <a:solidFill>
                  <a:srgbClr val="1E293B"/>
                </a:solidFill>
                <a:latin typeface="Lexend"/>
                <a:ea typeface="Lexend"/>
                <a:cs typeface="Lexend"/>
                <a:sym typeface="Lexend"/>
              </a:rPr>
              <a:t>:</a:t>
            </a:r>
            <a:br>
              <a:rPr lang="en" sz="1000" b="1">
                <a:solidFill>
                  <a:srgbClr val="1E293B"/>
                </a:solidFill>
                <a:latin typeface="Lexend"/>
                <a:ea typeface="Lexend"/>
                <a:cs typeface="Lexend"/>
                <a:sym typeface="Lexend"/>
              </a:rPr>
            </a:br>
            <a:r>
              <a:rPr lang="en" sz="1000">
                <a:solidFill>
                  <a:srgbClr val="1E293B"/>
                </a:solidFill>
                <a:latin typeface="Lexend"/>
                <a:ea typeface="Lexend"/>
                <a:cs typeface="Lexend"/>
                <a:sym typeface="Lexend"/>
              </a:rPr>
              <a:t>1. Retention rate &gt;= 22 đạt 78.7%, gap nhẹ MoM/YoY 0.8-1%</a:t>
            </a:r>
            <a:br>
              <a:rPr lang="en" sz="1000">
                <a:solidFill>
                  <a:srgbClr val="1E293B"/>
                </a:solidFill>
                <a:latin typeface="Lexend"/>
                <a:ea typeface="Lexend"/>
                <a:cs typeface="Lexend"/>
                <a:sym typeface="Lexend"/>
              </a:rPr>
            </a:br>
            <a:r>
              <a:rPr lang="en" sz="1000">
                <a:solidFill>
                  <a:srgbClr val="1E293B"/>
                </a:solidFill>
                <a:latin typeface="Lexend"/>
                <a:ea typeface="Lexend"/>
                <a:cs typeface="Lexend"/>
                <a:sym typeface="Lexend"/>
              </a:rPr>
              <a:t>2. CR PoC chung giảm 0.4% WoW</a:t>
            </a:r>
            <a:endParaRPr sz="1000">
              <a:solidFill>
                <a:srgbClr val="1E293B"/>
              </a:solidFill>
              <a:latin typeface="Lexend"/>
              <a:ea typeface="Lexend"/>
              <a:cs typeface="Lexend"/>
              <a:sym typeface="Lexend"/>
            </a:endParaRPr>
          </a:p>
          <a:p>
            <a:pPr marL="0" lvl="0" indent="0" algn="l" rtl="0">
              <a:spcBef>
                <a:spcPts val="0"/>
              </a:spcBef>
              <a:spcAft>
                <a:spcPts val="0"/>
              </a:spcAft>
              <a:buClr>
                <a:schemeClr val="dk1"/>
              </a:buClr>
              <a:buSzPts val="1100"/>
              <a:buFont typeface="Arial"/>
              <a:buNone/>
            </a:pPr>
            <a:endParaRPr sz="1000">
              <a:solidFill>
                <a:srgbClr val="1E293B"/>
              </a:solidFill>
              <a:latin typeface="Lexend"/>
              <a:ea typeface="Lexend"/>
              <a:cs typeface="Lexend"/>
              <a:sym typeface="Lexend"/>
            </a:endParaRPr>
          </a:p>
          <a:p>
            <a:pPr marL="0" lvl="0" indent="0" algn="l" rtl="0">
              <a:spcBef>
                <a:spcPts val="0"/>
              </a:spcBef>
              <a:spcAft>
                <a:spcPts val="0"/>
              </a:spcAft>
              <a:buClr>
                <a:schemeClr val="dk1"/>
              </a:buClr>
              <a:buSzPts val="1100"/>
              <a:buFont typeface="Arial"/>
              <a:buNone/>
            </a:pPr>
            <a:r>
              <a:rPr lang="en" sz="1000" b="1">
                <a:solidFill>
                  <a:srgbClr val="F56C1F"/>
                </a:solidFill>
                <a:latin typeface="Lexend"/>
                <a:ea typeface="Lexend"/>
                <a:cs typeface="Lexend"/>
                <a:sym typeface="Lexend"/>
              </a:rPr>
              <a:t>NW:</a:t>
            </a:r>
            <a:endParaRPr sz="1000" b="1">
              <a:solidFill>
                <a:srgbClr val="F56C1F"/>
              </a:solidFill>
              <a:latin typeface="Lexend"/>
              <a:ea typeface="Lexend"/>
              <a:cs typeface="Lexend"/>
              <a:sym typeface="Lexend"/>
            </a:endParaRPr>
          </a:p>
          <a:p>
            <a:pPr marL="0" lvl="0" indent="0" algn="l" rtl="0">
              <a:spcBef>
                <a:spcPts val="0"/>
              </a:spcBef>
              <a:spcAft>
                <a:spcPts val="0"/>
              </a:spcAft>
              <a:buNone/>
            </a:pPr>
            <a:r>
              <a:rPr lang="en" sz="1000">
                <a:solidFill>
                  <a:srgbClr val="1E293B"/>
                </a:solidFill>
                <a:latin typeface="Lexend"/>
                <a:ea typeface="Lexend"/>
                <a:cs typeface="Lexend"/>
                <a:sym typeface="Lexend"/>
              </a:rPr>
              <a:t>1. CTR đạt 78.03%, đạt 130% target</a:t>
            </a:r>
            <a:endParaRPr sz="1000">
              <a:solidFill>
                <a:srgbClr val="1E293B"/>
              </a:solidFill>
              <a:latin typeface="Lexend"/>
              <a:ea typeface="Lexend"/>
              <a:cs typeface="Lexend"/>
              <a:sym typeface="Lexend"/>
            </a:endParaRPr>
          </a:p>
          <a:p>
            <a:pPr marL="0" lvl="0" indent="0" algn="l" rtl="0">
              <a:spcBef>
                <a:spcPts val="0"/>
              </a:spcBef>
              <a:spcAft>
                <a:spcPts val="0"/>
              </a:spcAft>
              <a:buNone/>
            </a:pPr>
            <a:r>
              <a:rPr lang="en" sz="1000">
                <a:solidFill>
                  <a:srgbClr val="1E293B"/>
                </a:solidFill>
                <a:latin typeface="Lexend"/>
                <a:ea typeface="Lexend"/>
                <a:cs typeface="Lexend"/>
                <a:sym typeface="Lexend"/>
              </a:rPr>
              <a:t>2. GDR đạt 94.64%, đạt 110% target</a:t>
            </a:r>
            <a:endParaRPr sz="1000">
              <a:solidFill>
                <a:srgbClr val="F56C1F"/>
              </a:solidFill>
              <a:latin typeface="Lexend"/>
              <a:ea typeface="Lexend"/>
              <a:cs typeface="Lexend"/>
              <a:sym typeface="Lexend"/>
            </a:endParaRPr>
          </a:p>
        </p:txBody>
      </p:sp>
      <p:sp>
        <p:nvSpPr>
          <p:cNvPr id="156" name="Google Shape;156;p34"/>
          <p:cNvSpPr/>
          <p:nvPr/>
        </p:nvSpPr>
        <p:spPr>
          <a:xfrm>
            <a:off x="4678325" y="1051550"/>
            <a:ext cx="4282800" cy="23454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34"/>
          <p:cNvSpPr/>
          <p:nvPr/>
        </p:nvSpPr>
        <p:spPr>
          <a:xfrm>
            <a:off x="4678325" y="1051550"/>
            <a:ext cx="59100" cy="2345400"/>
          </a:xfrm>
          <a:prstGeom prst="rect">
            <a:avLst/>
          </a:prstGeom>
          <a:solidFill>
            <a:srgbClr val="EF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58" name="Google Shape;158;p34" descr="preencoded.png"/>
          <p:cNvPicPr preferRelativeResize="0"/>
          <p:nvPr/>
        </p:nvPicPr>
        <p:blipFill rotWithShape="1">
          <a:blip r:embed="rId5">
            <a:alphaModFix/>
          </a:blip>
          <a:srcRect/>
          <a:stretch/>
        </p:blipFill>
        <p:spPr>
          <a:xfrm>
            <a:off x="4991886" y="1163236"/>
            <a:ext cx="210415" cy="245709"/>
          </a:xfrm>
          <a:prstGeom prst="rect">
            <a:avLst/>
          </a:prstGeom>
          <a:noFill/>
          <a:ln>
            <a:noFill/>
          </a:ln>
        </p:spPr>
      </p:pic>
      <p:sp>
        <p:nvSpPr>
          <p:cNvPr id="159" name="Google Shape;159;p34"/>
          <p:cNvSpPr/>
          <p:nvPr/>
        </p:nvSpPr>
        <p:spPr>
          <a:xfrm>
            <a:off x="5259687" y="1107393"/>
            <a:ext cx="2869200" cy="335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4444"/>
              </a:buClr>
              <a:buSzPts val="1200"/>
              <a:buFont typeface="Calibri"/>
              <a:buNone/>
            </a:pPr>
            <a:r>
              <a:rPr lang="en" sz="1200" i="0" u="none" strike="noStrike" cap="none">
                <a:solidFill>
                  <a:srgbClr val="EF4444"/>
                </a:solidFill>
                <a:latin typeface="Lexend"/>
                <a:ea typeface="Lexend"/>
                <a:cs typeface="Lexend"/>
                <a:sym typeface="Lexend"/>
              </a:rPr>
              <a:t>LOWLIGHTS</a:t>
            </a:r>
            <a:endParaRPr sz="1200" i="0" u="none" strike="noStrike" cap="none">
              <a:solidFill>
                <a:schemeClr val="dk1"/>
              </a:solidFill>
              <a:latin typeface="Lexend"/>
              <a:ea typeface="Lexend"/>
              <a:cs typeface="Lexend"/>
              <a:sym typeface="Lexend"/>
            </a:endParaRPr>
          </a:p>
        </p:txBody>
      </p:sp>
      <p:sp>
        <p:nvSpPr>
          <p:cNvPr id="160" name="Google Shape;160;p34"/>
          <p:cNvSpPr/>
          <p:nvPr/>
        </p:nvSpPr>
        <p:spPr>
          <a:xfrm>
            <a:off x="4832475" y="1427875"/>
            <a:ext cx="4089600" cy="1920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1000" b="1">
                <a:solidFill>
                  <a:srgbClr val="F56C1F"/>
                </a:solidFill>
                <a:latin typeface="Lexend"/>
                <a:ea typeface="Lexend"/>
                <a:cs typeface="Lexend"/>
                <a:sym typeface="Lexend"/>
              </a:rPr>
              <a:t>HAN</a:t>
            </a:r>
            <a:r>
              <a:rPr lang="en" sz="1000" b="1">
                <a:solidFill>
                  <a:srgbClr val="1E293B"/>
                </a:solidFill>
                <a:latin typeface="Lexend"/>
                <a:ea typeface="Lexend"/>
                <a:cs typeface="Lexend"/>
                <a:sym typeface="Lexend"/>
              </a:rPr>
              <a:t>:</a:t>
            </a:r>
            <a:br>
              <a:rPr lang="en" sz="1000">
                <a:solidFill>
                  <a:srgbClr val="1E293B"/>
                </a:solidFill>
                <a:latin typeface="Lexend"/>
                <a:ea typeface="Lexend"/>
                <a:cs typeface="Lexend"/>
                <a:sym typeface="Lexend"/>
              </a:rPr>
            </a:br>
            <a:r>
              <a:rPr lang="en" sz="1000">
                <a:solidFill>
                  <a:srgbClr val="1E293B"/>
                </a:solidFill>
                <a:latin typeface="Lexend"/>
                <a:ea typeface="Lexend"/>
                <a:cs typeface="Lexend"/>
                <a:sym typeface="Lexend"/>
              </a:rPr>
              <a:t>1. RPH đạt 2.07, FR gap target ~5%</a:t>
            </a:r>
            <a:endParaRPr sz="1000">
              <a:solidFill>
                <a:srgbClr val="1E293B"/>
              </a:solidFill>
              <a:latin typeface="Lexend"/>
              <a:ea typeface="Lexend"/>
              <a:cs typeface="Lexend"/>
              <a:sym typeface="Lexend"/>
            </a:endParaRPr>
          </a:p>
          <a:p>
            <a:pPr marL="0" marR="0" lvl="0" indent="0" algn="l" rtl="0">
              <a:spcBef>
                <a:spcPts val="0"/>
              </a:spcBef>
              <a:spcAft>
                <a:spcPts val="0"/>
              </a:spcAft>
              <a:buNone/>
            </a:pPr>
            <a:br>
              <a:rPr lang="en" sz="1000">
                <a:solidFill>
                  <a:srgbClr val="1E293B"/>
                </a:solidFill>
                <a:latin typeface="Lexend"/>
                <a:ea typeface="Lexend"/>
                <a:cs typeface="Lexend"/>
                <a:sym typeface="Lexend"/>
              </a:rPr>
            </a:br>
            <a:br>
              <a:rPr lang="en" sz="1000">
                <a:solidFill>
                  <a:srgbClr val="1E293B"/>
                </a:solidFill>
                <a:latin typeface="Lexend"/>
                <a:ea typeface="Lexend"/>
                <a:cs typeface="Lexend"/>
                <a:sym typeface="Lexend"/>
              </a:rPr>
            </a:br>
            <a:br>
              <a:rPr lang="en" sz="1000">
                <a:solidFill>
                  <a:srgbClr val="1E293B"/>
                </a:solidFill>
                <a:latin typeface="Lexend"/>
                <a:ea typeface="Lexend"/>
                <a:cs typeface="Lexend"/>
                <a:sym typeface="Lexend"/>
              </a:rPr>
            </a:br>
            <a:r>
              <a:rPr lang="en" sz="1000" b="1">
                <a:solidFill>
                  <a:srgbClr val="F56C1F"/>
                </a:solidFill>
                <a:latin typeface="Lexend"/>
                <a:ea typeface="Lexend"/>
                <a:cs typeface="Lexend"/>
                <a:sym typeface="Lexend"/>
              </a:rPr>
              <a:t>SGN</a:t>
            </a:r>
            <a:r>
              <a:rPr lang="en" sz="1000">
                <a:solidFill>
                  <a:srgbClr val="1E293B"/>
                </a:solidFill>
                <a:latin typeface="Lexend"/>
                <a:ea typeface="Lexend"/>
                <a:cs typeface="Lexend"/>
                <a:sym typeface="Lexend"/>
              </a:rPr>
              <a:t>:</a:t>
            </a:r>
            <a:endParaRPr sz="1000">
              <a:solidFill>
                <a:srgbClr val="1E293B"/>
              </a:solidFill>
              <a:latin typeface="Lexend"/>
              <a:ea typeface="Lexend"/>
              <a:cs typeface="Lexend"/>
              <a:sym typeface="Lexend"/>
            </a:endParaRPr>
          </a:p>
          <a:p>
            <a:pPr marL="0" marR="0" lvl="0" indent="0" algn="l" rtl="0">
              <a:spcBef>
                <a:spcPts val="0"/>
              </a:spcBef>
              <a:spcAft>
                <a:spcPts val="0"/>
              </a:spcAft>
              <a:buNone/>
            </a:pPr>
            <a:r>
              <a:rPr lang="en" sz="1000">
                <a:solidFill>
                  <a:srgbClr val="1E293B"/>
                </a:solidFill>
                <a:latin typeface="Lexend"/>
                <a:ea typeface="Lexend"/>
                <a:cs typeface="Lexend"/>
                <a:sym typeface="Lexend"/>
              </a:rPr>
              <a:t>1. RR hụt ~2% MoM, 0.8% YoY</a:t>
            </a:r>
            <a:endParaRPr sz="1000">
              <a:solidFill>
                <a:srgbClr val="1E293B"/>
              </a:solidFill>
              <a:latin typeface="Lexend"/>
              <a:ea typeface="Lexend"/>
              <a:cs typeface="Lexend"/>
              <a:sym typeface="Lexend"/>
            </a:endParaRPr>
          </a:p>
          <a:p>
            <a:pPr marL="0" marR="0" lvl="0" indent="0" algn="l" rtl="0">
              <a:spcBef>
                <a:spcPts val="0"/>
              </a:spcBef>
              <a:spcAft>
                <a:spcPts val="0"/>
              </a:spcAft>
              <a:buNone/>
            </a:pPr>
            <a:r>
              <a:rPr lang="en" sz="1000">
                <a:solidFill>
                  <a:srgbClr val="1E293B"/>
                </a:solidFill>
                <a:latin typeface="Lexend"/>
                <a:ea typeface="Lexend"/>
                <a:cs typeface="Lexend"/>
                <a:sym typeface="Lexend"/>
              </a:rPr>
              <a:t>2. Request tăng mạnh ~6% WoW nhưng bị ảnh hưởng bởi bóng đá ngày 26/8 -&gt; AR, FR bị giảm mạnh làm ảnh hưởng AR, FR cả tuần giảm 1% WoW</a:t>
            </a:r>
            <a:endParaRPr sz="1000">
              <a:solidFill>
                <a:srgbClr val="1E293B"/>
              </a:solidFill>
              <a:latin typeface="Lexend"/>
              <a:ea typeface="Lexend"/>
              <a:cs typeface="Lexend"/>
              <a:sym typeface="Lexend"/>
            </a:endParaRPr>
          </a:p>
          <a:p>
            <a:pPr marL="0" marR="0" lvl="0" indent="0" algn="l" rtl="0">
              <a:spcBef>
                <a:spcPts val="0"/>
              </a:spcBef>
              <a:spcAft>
                <a:spcPts val="0"/>
              </a:spcAft>
              <a:buNone/>
            </a:pPr>
            <a:r>
              <a:rPr lang="en" sz="1000">
                <a:solidFill>
                  <a:srgbClr val="1E293B"/>
                </a:solidFill>
                <a:latin typeface="Lexend"/>
                <a:ea typeface="Lexend"/>
                <a:cs typeface="Lexend"/>
                <a:sym typeface="Lexend"/>
              </a:rPr>
              <a:t>3. SH hụt nhẹ ~1% so với planning, hụt mạnh nhất ở nhóm FT/PT hơn 5%</a:t>
            </a:r>
            <a:endParaRPr sz="1000">
              <a:solidFill>
                <a:srgbClr val="1E293B"/>
              </a:solidFill>
              <a:latin typeface="Lexend"/>
              <a:ea typeface="Lexend"/>
              <a:cs typeface="Lexend"/>
              <a:sym typeface="Lexend"/>
            </a:endParaRPr>
          </a:p>
        </p:txBody>
      </p:sp>
      <p:sp>
        <p:nvSpPr>
          <p:cNvPr id="161" name="Google Shape;161;p34"/>
          <p:cNvSpPr/>
          <p:nvPr/>
        </p:nvSpPr>
        <p:spPr>
          <a:xfrm>
            <a:off x="144875" y="3496450"/>
            <a:ext cx="8816100" cy="15921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34"/>
          <p:cNvSpPr/>
          <p:nvPr/>
        </p:nvSpPr>
        <p:spPr>
          <a:xfrm>
            <a:off x="144875" y="3496450"/>
            <a:ext cx="59400" cy="1541400"/>
          </a:xfrm>
          <a:prstGeom prst="rect">
            <a:avLst/>
          </a:prstGeom>
          <a:solidFill>
            <a:srgbClr val="0E41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3" name="Google Shape;163;p34" descr="preencoded.png"/>
          <p:cNvPicPr preferRelativeResize="0"/>
          <p:nvPr/>
        </p:nvPicPr>
        <p:blipFill rotWithShape="1">
          <a:blip r:embed="rId6">
            <a:alphaModFix/>
          </a:blip>
          <a:srcRect/>
          <a:stretch/>
        </p:blipFill>
        <p:spPr>
          <a:xfrm>
            <a:off x="365790" y="3583810"/>
            <a:ext cx="182880" cy="182880"/>
          </a:xfrm>
          <a:prstGeom prst="rect">
            <a:avLst/>
          </a:prstGeom>
          <a:noFill/>
          <a:ln>
            <a:noFill/>
          </a:ln>
        </p:spPr>
      </p:pic>
      <p:sp>
        <p:nvSpPr>
          <p:cNvPr id="164" name="Google Shape;164;p34"/>
          <p:cNvSpPr/>
          <p:nvPr/>
        </p:nvSpPr>
        <p:spPr>
          <a:xfrm>
            <a:off x="621822" y="3547234"/>
            <a:ext cx="36576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r>
              <a:rPr lang="en" sz="1100" i="0" u="none" strike="noStrike" cap="none">
                <a:solidFill>
                  <a:srgbClr val="0E4174"/>
                </a:solidFill>
                <a:latin typeface="Lexend"/>
                <a:ea typeface="Lexend"/>
                <a:cs typeface="Lexend"/>
                <a:sym typeface="Lexend"/>
              </a:rPr>
              <a:t>ACTIONS ĐÃ THỰC THI TUẦN QUA</a:t>
            </a:r>
            <a:endParaRPr sz="1100" i="0" u="none" strike="noStrike" cap="none">
              <a:solidFill>
                <a:schemeClr val="dk1"/>
              </a:solidFill>
              <a:latin typeface="Lexend"/>
              <a:ea typeface="Lexend"/>
              <a:cs typeface="Lexend"/>
              <a:sym typeface="Lexend"/>
            </a:endParaRPr>
          </a:p>
        </p:txBody>
      </p:sp>
      <p:graphicFrame>
        <p:nvGraphicFramePr>
          <p:cNvPr id="165" name="Google Shape;165;p34"/>
          <p:cNvGraphicFramePr/>
          <p:nvPr/>
        </p:nvGraphicFramePr>
        <p:xfrm>
          <a:off x="365790" y="3803347"/>
          <a:ext cx="8412500" cy="1237315"/>
        </p:xfrm>
        <a:graphic>
          <a:graphicData uri="http://schemas.openxmlformats.org/drawingml/2006/table">
            <a:tbl>
              <a:tblPr>
                <a:noFill/>
                <a:tableStyleId>{98498B5D-82F5-4DDD-BB04-C168985C330A}</a:tableStyleId>
              </a:tblPr>
              <a:tblGrid>
                <a:gridCol w="2832875">
                  <a:extLst>
                    <a:ext uri="{9D8B030D-6E8A-4147-A177-3AD203B41FA5}">
                      <a16:colId xmlns:a16="http://schemas.microsoft.com/office/drawing/2014/main" val="20000"/>
                    </a:ext>
                  </a:extLst>
                </a:gridCol>
                <a:gridCol w="1911175">
                  <a:extLst>
                    <a:ext uri="{9D8B030D-6E8A-4147-A177-3AD203B41FA5}">
                      <a16:colId xmlns:a16="http://schemas.microsoft.com/office/drawing/2014/main" val="20001"/>
                    </a:ext>
                  </a:extLst>
                </a:gridCol>
                <a:gridCol w="3119825">
                  <a:extLst>
                    <a:ext uri="{9D8B030D-6E8A-4147-A177-3AD203B41FA5}">
                      <a16:colId xmlns:a16="http://schemas.microsoft.com/office/drawing/2014/main" val="20002"/>
                    </a:ext>
                  </a:extLst>
                </a:gridCol>
                <a:gridCol w="548625">
                  <a:extLst>
                    <a:ext uri="{9D8B030D-6E8A-4147-A177-3AD203B41FA5}">
                      <a16:colId xmlns:a16="http://schemas.microsoft.com/office/drawing/2014/main" val="20003"/>
                    </a:ext>
                  </a:extLst>
                </a:gridCol>
              </a:tblGrid>
              <a:tr h="212050">
                <a:tc>
                  <a:txBody>
                    <a:bodyPr/>
                    <a:lstStyle/>
                    <a:p>
                      <a:pPr marL="0" marR="0" lvl="0" indent="0" algn="ctr" rtl="0">
                        <a:spcBef>
                          <a:spcPts val="0"/>
                        </a:spcBef>
                        <a:spcAft>
                          <a:spcPts val="0"/>
                        </a:spcAft>
                        <a:buClr>
                          <a:srgbClr val="FFFFFF"/>
                        </a:buClr>
                        <a:buSzPts val="800"/>
                        <a:buFont typeface="Calibri"/>
                        <a:buNone/>
                      </a:pPr>
                      <a:r>
                        <a:rPr lang="en" sz="800" u="none" strike="noStrike" cap="none">
                          <a:solidFill>
                            <a:srgbClr val="FFFFFF"/>
                          </a:solidFill>
                          <a:latin typeface="Lexend"/>
                          <a:ea typeface="Lexend"/>
                          <a:cs typeface="Lexend"/>
                          <a:sym typeface="Lexend"/>
                        </a:rPr>
                        <a:t>Action</a:t>
                      </a:r>
                      <a:endParaRPr sz="800" u="none" strike="noStrike" cap="none">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0E4174"/>
                    </a:solidFill>
                  </a:tcPr>
                </a:tc>
                <a:tc>
                  <a:txBody>
                    <a:bodyPr/>
                    <a:lstStyle/>
                    <a:p>
                      <a:pPr marL="0" marR="0" lvl="0" indent="0" algn="ctr" rtl="0">
                        <a:spcBef>
                          <a:spcPts val="0"/>
                        </a:spcBef>
                        <a:spcAft>
                          <a:spcPts val="0"/>
                        </a:spcAft>
                        <a:buClr>
                          <a:srgbClr val="FFFFFF"/>
                        </a:buClr>
                        <a:buSzPts val="800"/>
                        <a:buFont typeface="Calibri"/>
                        <a:buNone/>
                      </a:pPr>
                      <a:r>
                        <a:rPr lang="en" sz="800" u="none" strike="noStrike" cap="none">
                          <a:solidFill>
                            <a:srgbClr val="FFFFFF"/>
                          </a:solidFill>
                          <a:latin typeface="Lexend"/>
                          <a:ea typeface="Lexend"/>
                          <a:cs typeface="Lexend"/>
                          <a:sym typeface="Lexend"/>
                        </a:rPr>
                        <a:t>Kết quả</a:t>
                      </a:r>
                      <a:endParaRPr sz="800" u="none" strike="noStrike" cap="none">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0E4174"/>
                    </a:solidFill>
                  </a:tcPr>
                </a:tc>
                <a:tc>
                  <a:txBody>
                    <a:bodyPr/>
                    <a:lstStyle/>
                    <a:p>
                      <a:pPr marL="0" marR="0" lvl="0" indent="0" algn="ctr" rtl="0">
                        <a:spcBef>
                          <a:spcPts val="0"/>
                        </a:spcBef>
                        <a:spcAft>
                          <a:spcPts val="0"/>
                        </a:spcAft>
                        <a:buClr>
                          <a:srgbClr val="FFFFFF"/>
                        </a:buClr>
                        <a:buSzPts val="800"/>
                        <a:buFont typeface="Calibri"/>
                        <a:buNone/>
                      </a:pPr>
                      <a:r>
                        <a:rPr lang="en" sz="800" u="none" strike="noStrike" cap="none">
                          <a:solidFill>
                            <a:srgbClr val="FFFFFF"/>
                          </a:solidFill>
                          <a:latin typeface="Lexend"/>
                          <a:ea typeface="Lexend"/>
                          <a:cs typeface="Lexend"/>
                          <a:sym typeface="Lexend"/>
                        </a:rPr>
                        <a:t>Impact (KPI)</a:t>
                      </a:r>
                      <a:endParaRPr sz="800" u="none" strike="noStrike" cap="none">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0E4174"/>
                    </a:solidFill>
                  </a:tcPr>
                </a:tc>
                <a:tc>
                  <a:txBody>
                    <a:bodyPr/>
                    <a:lstStyle/>
                    <a:p>
                      <a:pPr marL="0" marR="0" lvl="0" indent="0" algn="ctr" rtl="0">
                        <a:spcBef>
                          <a:spcPts val="0"/>
                        </a:spcBef>
                        <a:spcAft>
                          <a:spcPts val="0"/>
                        </a:spcAft>
                        <a:buClr>
                          <a:srgbClr val="FFFFFF"/>
                        </a:buClr>
                        <a:buSzPts val="800"/>
                        <a:buFont typeface="Calibri"/>
                        <a:buNone/>
                      </a:pPr>
                      <a:r>
                        <a:rPr lang="en" sz="800" u="none" strike="noStrike" cap="none">
                          <a:solidFill>
                            <a:srgbClr val="FFFFFF"/>
                          </a:solidFill>
                          <a:latin typeface="Lexend"/>
                          <a:ea typeface="Lexend"/>
                          <a:cs typeface="Lexend"/>
                          <a:sym typeface="Lexend"/>
                        </a:rPr>
                        <a:t>Status</a:t>
                      </a:r>
                      <a:endParaRPr sz="800" u="none" strike="noStrike" cap="none">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0E4174"/>
                    </a:solidFill>
                  </a:tcPr>
                </a:tc>
                <a:extLst>
                  <a:ext uri="{0D108BD9-81ED-4DB2-BD59-A6C34878D82A}">
                    <a16:rowId xmlns:a16="http://schemas.microsoft.com/office/drawing/2014/main" val="10000"/>
                  </a:ext>
                </a:extLst>
              </a:tr>
              <a:tr h="246875">
                <a:tc>
                  <a:txBody>
                    <a:bodyPr/>
                    <a:lstStyle/>
                    <a:p>
                      <a:pPr marL="0" lvl="0" indent="0" algn="l" rtl="0">
                        <a:spcBef>
                          <a:spcPts val="0"/>
                        </a:spcBef>
                        <a:spcAft>
                          <a:spcPts val="0"/>
                        </a:spcAft>
                        <a:buNone/>
                      </a:pPr>
                      <a:r>
                        <a:rPr lang="en" sz="800">
                          <a:latin typeface="Lexend"/>
                          <a:ea typeface="Lexend"/>
                          <a:cs typeface="Lexend"/>
                          <a:sym typeface="Lexend"/>
                        </a:rPr>
                        <a:t>[Baga bulky] Truyền thông form đăng ký tham gia chương trình GĐ 2</a:t>
                      </a:r>
                      <a:endParaRPr sz="800">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r>
                        <a:rPr lang="en" sz="800">
                          <a:latin typeface="Lexend"/>
                          <a:ea typeface="Lexend"/>
                          <a:cs typeface="Lexend"/>
                          <a:sym typeface="Lexend"/>
                        </a:rPr>
                        <a:t>HAN: 83 tx</a:t>
                      </a:r>
                      <a:br>
                        <a:rPr lang="en" sz="800">
                          <a:latin typeface="Lexend"/>
                          <a:ea typeface="Lexend"/>
                          <a:cs typeface="Lexend"/>
                          <a:sym typeface="Lexend"/>
                        </a:rPr>
                      </a:br>
                      <a:r>
                        <a:rPr lang="en" sz="800">
                          <a:latin typeface="Lexend"/>
                          <a:ea typeface="Lexend"/>
                          <a:cs typeface="Lexend"/>
                          <a:sym typeface="Lexend"/>
                        </a:rPr>
                        <a:t>SGN: 241 tx</a:t>
                      </a:r>
                      <a:br>
                        <a:rPr lang="en" sz="800">
                          <a:latin typeface="Lexend"/>
                          <a:ea typeface="Lexend"/>
                          <a:cs typeface="Lexend"/>
                          <a:sym typeface="Lexend"/>
                        </a:rPr>
                      </a:br>
                      <a:r>
                        <a:rPr lang="en" sz="800">
                          <a:latin typeface="Lexend"/>
                          <a:ea typeface="Lexend"/>
                          <a:cs typeface="Lexend"/>
                          <a:sym typeface="Lexend"/>
                        </a:rPr>
                        <a:t>Push mass</a:t>
                      </a:r>
                      <a:endParaRPr sz="800">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800">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Clr>
                          <a:srgbClr val="64748B"/>
                        </a:buClr>
                        <a:buSzPts val="800"/>
                        <a:buFont typeface="Calibri"/>
                        <a:buNone/>
                      </a:pPr>
                      <a:r>
                        <a:rPr lang="en" sz="800">
                          <a:solidFill>
                            <a:srgbClr val="64748B"/>
                          </a:solidFill>
                          <a:latin typeface="Lexend"/>
                          <a:ea typeface="Lexend"/>
                          <a:cs typeface="Lexend"/>
                          <a:sym typeface="Lexend"/>
                        </a:rPr>
                        <a:t>✅/⚠️</a:t>
                      </a:r>
                      <a:endParaRPr sz="800" u="none" strike="noStrike" cap="none">
                        <a:solidFill>
                          <a:srgbClr val="64748B"/>
                        </a:solidFill>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232625">
                <a:tc>
                  <a:txBody>
                    <a:bodyPr/>
                    <a:lstStyle/>
                    <a:p>
                      <a:pPr marL="0" lvl="0" indent="0" algn="l" rtl="0">
                        <a:spcBef>
                          <a:spcPts val="0"/>
                        </a:spcBef>
                        <a:spcAft>
                          <a:spcPts val="0"/>
                        </a:spcAft>
                        <a:buNone/>
                      </a:pPr>
                      <a:endParaRPr sz="800"/>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800">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800">
                          <a:solidFill>
                            <a:srgbClr val="64748B"/>
                          </a:solidFill>
                          <a:latin typeface="Lexend"/>
                          <a:ea typeface="Lexend"/>
                          <a:cs typeface="Lexend"/>
                          <a:sym typeface="Lexend"/>
                        </a:rPr>
                        <a:t>✅/⚠️</a:t>
                      </a:r>
                      <a:endParaRPr sz="800">
                        <a:solidFill>
                          <a:srgbClr val="64748B"/>
                        </a:solidFill>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261925">
                <a:tc>
                  <a:txBody>
                    <a:bodyPr/>
                    <a:lstStyle/>
                    <a:p>
                      <a:pPr marL="0" lvl="0" indent="0" algn="l" rtl="0">
                        <a:spcBef>
                          <a:spcPts val="0"/>
                        </a:spcBef>
                        <a:spcAft>
                          <a:spcPts val="0"/>
                        </a:spcAft>
                        <a:buNone/>
                      </a:pPr>
                      <a:endParaRPr sz="800">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800">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800">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800">
                        <a:solidFill>
                          <a:srgbClr val="64748B"/>
                        </a:solidFill>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bl>
          </a:graphicData>
        </a:graphic>
      </p:graphicFrame>
      <p:sp>
        <p:nvSpPr>
          <p:cNvPr id="166" name="Google Shape;166;p34"/>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71"/>
        <p:cNvGrpSpPr/>
        <p:nvPr/>
      </p:nvGrpSpPr>
      <p:grpSpPr>
        <a:xfrm>
          <a:off x="0" y="0"/>
          <a:ext cx="0" cy="0"/>
          <a:chOff x="0" y="0"/>
          <a:chExt cx="0" cy="0"/>
        </a:xfrm>
      </p:grpSpPr>
      <p:sp>
        <p:nvSpPr>
          <p:cNvPr id="172" name="Google Shape;172;p35"/>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3" name="Google Shape;173;p35" descr="preencoded.png"/>
          <p:cNvPicPr preferRelativeResize="0"/>
          <p:nvPr/>
        </p:nvPicPr>
        <p:blipFill rotWithShape="1">
          <a:blip r:embed="rId3">
            <a:alphaModFix/>
          </a:blip>
          <a:srcRect/>
          <a:stretch/>
        </p:blipFill>
        <p:spPr>
          <a:xfrm>
            <a:off x="155235" y="175295"/>
            <a:ext cx="274320" cy="274320"/>
          </a:xfrm>
          <a:prstGeom prst="rect">
            <a:avLst/>
          </a:prstGeom>
          <a:noFill/>
          <a:ln>
            <a:noFill/>
          </a:ln>
        </p:spPr>
      </p:pic>
      <p:sp>
        <p:nvSpPr>
          <p:cNvPr id="174" name="Google Shape;174;p35"/>
          <p:cNvSpPr/>
          <p:nvPr/>
        </p:nvSpPr>
        <p:spPr>
          <a:xfrm>
            <a:off x="520995" y="102143"/>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i="0" u="none" strike="noStrike" cap="none">
                <a:solidFill>
                  <a:srgbClr val="0E4174"/>
                </a:solidFill>
                <a:latin typeface="Lexend"/>
                <a:ea typeface="Lexend"/>
                <a:cs typeface="Lexend"/>
                <a:sym typeface="Lexend"/>
              </a:rPr>
              <a:t>Retention </a:t>
            </a:r>
            <a:r>
              <a:rPr lang="en" sz="2200" b="1">
                <a:solidFill>
                  <a:srgbClr val="0E4174"/>
                </a:solidFill>
                <a:latin typeface="Lexend"/>
                <a:ea typeface="Lexend"/>
                <a:cs typeface="Lexend"/>
                <a:sym typeface="Lexend"/>
              </a:rPr>
              <a:t>Rate - </a:t>
            </a:r>
            <a:r>
              <a:rPr lang="en" sz="2200" b="1">
                <a:solidFill>
                  <a:srgbClr val="F56C1F"/>
                </a:solidFill>
                <a:latin typeface="Lexend"/>
                <a:ea typeface="Lexend"/>
                <a:cs typeface="Lexend"/>
                <a:sym typeface="Lexend"/>
              </a:rPr>
              <a:t>HAN</a:t>
            </a:r>
            <a:endParaRPr sz="2200" b="1" i="0" u="none" strike="noStrike" cap="none">
              <a:solidFill>
                <a:srgbClr val="F56C1F"/>
              </a:solidFill>
              <a:latin typeface="Lexend"/>
              <a:ea typeface="Lexend"/>
              <a:cs typeface="Lexend"/>
              <a:sym typeface="Lexend"/>
            </a:endParaRPr>
          </a:p>
        </p:txBody>
      </p:sp>
      <p:sp>
        <p:nvSpPr>
          <p:cNvPr id="175" name="Google Shape;175;p35"/>
          <p:cNvSpPr/>
          <p:nvPr/>
        </p:nvSpPr>
        <p:spPr>
          <a:xfrm>
            <a:off x="520995" y="495335"/>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 sz="1000" i="1" u="none" strike="noStrike" cap="none">
                <a:solidFill>
                  <a:srgbClr val="64748B"/>
                </a:solidFill>
                <a:latin typeface="Lexend"/>
                <a:ea typeface="Lexend"/>
                <a:cs typeface="Lexend"/>
                <a:sym typeface="Lexend"/>
              </a:rPr>
              <a:t>Tỷ lệ giữ chân tài xế &gt;=22</a:t>
            </a:r>
            <a:r>
              <a:rPr lang="en" sz="1000" i="1">
                <a:solidFill>
                  <a:srgbClr val="64748B"/>
                </a:solidFill>
                <a:latin typeface="Lexend"/>
                <a:ea typeface="Lexend"/>
                <a:cs typeface="Lexend"/>
                <a:sym typeface="Lexend"/>
              </a:rPr>
              <a:t>t</a:t>
            </a:r>
            <a:r>
              <a:rPr lang="en" sz="1000" i="1" u="none" strike="noStrike" cap="none">
                <a:solidFill>
                  <a:srgbClr val="64748B"/>
                </a:solidFill>
                <a:latin typeface="Lexend"/>
                <a:ea typeface="Lexend"/>
                <a:cs typeface="Lexend"/>
                <a:sym typeface="Lexend"/>
              </a:rPr>
              <a:t> — Bóc tách biến động theo thời điểm &amp; segment</a:t>
            </a:r>
            <a:endParaRPr sz="1000" i="0" u="none" strike="noStrike" cap="none">
              <a:solidFill>
                <a:schemeClr val="dk1"/>
              </a:solidFill>
              <a:latin typeface="Lexend"/>
              <a:ea typeface="Lexend"/>
              <a:cs typeface="Lexend"/>
              <a:sym typeface="Lexend"/>
            </a:endParaRPr>
          </a:p>
        </p:txBody>
      </p:sp>
      <p:sp>
        <p:nvSpPr>
          <p:cNvPr id="176" name="Google Shape;176;p35"/>
          <p:cNvSpPr/>
          <p:nvPr/>
        </p:nvSpPr>
        <p:spPr>
          <a:xfrm>
            <a:off x="176535" y="900397"/>
            <a:ext cx="4846200" cy="22860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35"/>
          <p:cNvSpPr/>
          <p:nvPr/>
        </p:nvSpPr>
        <p:spPr>
          <a:xfrm>
            <a:off x="155225" y="3520450"/>
            <a:ext cx="8871300" cy="15546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35"/>
          <p:cNvSpPr/>
          <p:nvPr/>
        </p:nvSpPr>
        <p:spPr>
          <a:xfrm>
            <a:off x="155225" y="3520450"/>
            <a:ext cx="56400" cy="1554600"/>
          </a:xfrm>
          <a:prstGeom prst="rect">
            <a:avLst/>
          </a:prstGeom>
          <a:solidFill>
            <a:srgbClr val="EF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35"/>
          <p:cNvSpPr/>
          <p:nvPr/>
        </p:nvSpPr>
        <p:spPr>
          <a:xfrm>
            <a:off x="369250" y="4079400"/>
            <a:ext cx="8523000" cy="871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900">
                <a:solidFill>
                  <a:srgbClr val="1E293B"/>
                </a:solidFill>
                <a:latin typeface="Lexend"/>
                <a:ea typeface="Lexend"/>
                <a:cs typeface="Lexend"/>
                <a:sym typeface="Lexend"/>
              </a:rPr>
              <a:t>- Mức </a:t>
            </a:r>
            <a:r>
              <a:rPr lang="en" sz="900" b="1">
                <a:solidFill>
                  <a:srgbClr val="1E293B"/>
                </a:solidFill>
                <a:latin typeface="Lexend"/>
                <a:ea typeface="Lexend"/>
                <a:cs typeface="Lexend"/>
                <a:sym typeface="Lexend"/>
              </a:rPr>
              <a:t>RR MoM tiếp tục duy trì ổn định vượt so với tháng trước, RR YOY đã vượt lên. </a:t>
            </a:r>
            <a:r>
              <a:rPr lang="en" sz="900">
                <a:solidFill>
                  <a:srgbClr val="1B2A4A"/>
                </a:solidFill>
                <a:latin typeface="Montserrat"/>
                <a:ea typeface="Montserrat"/>
                <a:cs typeface="Montserrat"/>
                <a:sym typeface="Montserrat"/>
              </a:rPr>
              <a:t>do chạy ct ân xá nhóm tx bị remove dịch vụ (có 442 tx trong tập ân xá active trong M8), thêm vào đó là nhiều chương trình thưởng để kéo active</a:t>
            </a:r>
            <a:endParaRPr sz="900">
              <a:solidFill>
                <a:srgbClr val="1B2A4A"/>
              </a:solidFill>
              <a:latin typeface="Montserrat"/>
              <a:ea typeface="Montserrat"/>
              <a:cs typeface="Montserrat"/>
              <a:sym typeface="Montserrat"/>
            </a:endParaRPr>
          </a:p>
          <a:p>
            <a:pPr marL="0" marR="0" lvl="0" indent="0" algn="l" rtl="0">
              <a:spcBef>
                <a:spcPts val="0"/>
              </a:spcBef>
              <a:spcAft>
                <a:spcPts val="0"/>
              </a:spcAft>
              <a:buNone/>
            </a:pPr>
            <a:endParaRPr sz="900" b="1">
              <a:solidFill>
                <a:srgbClr val="1E293B"/>
              </a:solidFill>
              <a:latin typeface="Lexend"/>
              <a:ea typeface="Lexend"/>
              <a:cs typeface="Lexend"/>
              <a:sym typeface="Lexend"/>
            </a:endParaRPr>
          </a:p>
          <a:p>
            <a:pPr marL="0" marR="0" lvl="0" indent="0" algn="l" rtl="0">
              <a:spcBef>
                <a:spcPts val="0"/>
              </a:spcBef>
              <a:spcAft>
                <a:spcPts val="0"/>
              </a:spcAft>
              <a:buNone/>
            </a:pPr>
            <a:r>
              <a:rPr lang="en" sz="900">
                <a:solidFill>
                  <a:srgbClr val="1E293B"/>
                </a:solidFill>
                <a:latin typeface="Lexend"/>
                <a:ea typeface="Lexend"/>
                <a:cs typeface="Lexend"/>
                <a:sym typeface="Lexend"/>
              </a:rPr>
              <a:t>- Nhóm FT và NLM 2 nhóm có gap YoY lớn dao động </a:t>
            </a:r>
            <a:r>
              <a:rPr lang="en" sz="900">
                <a:solidFill>
                  <a:srgbClr val="DC2626"/>
                </a:solidFill>
                <a:latin typeface="Lexend"/>
                <a:ea typeface="Lexend"/>
                <a:cs typeface="Lexend"/>
                <a:sym typeface="Lexend"/>
              </a:rPr>
              <a:t>-1.5-7% </a:t>
            </a:r>
            <a:endParaRPr sz="900">
              <a:solidFill>
                <a:srgbClr val="DC2626"/>
              </a:solidFill>
              <a:latin typeface="Lexend"/>
              <a:ea typeface="Lexend"/>
              <a:cs typeface="Lexend"/>
              <a:sym typeface="Lexend"/>
            </a:endParaRPr>
          </a:p>
          <a:p>
            <a:pPr marL="0" lvl="0" indent="0" algn="l" rtl="0">
              <a:spcBef>
                <a:spcPts val="0"/>
              </a:spcBef>
              <a:spcAft>
                <a:spcPts val="0"/>
              </a:spcAft>
              <a:buClr>
                <a:schemeClr val="dk1"/>
              </a:buClr>
              <a:buSzPts val="1100"/>
              <a:buFont typeface="Arial"/>
              <a:buNone/>
            </a:pPr>
            <a:endParaRPr sz="900">
              <a:solidFill>
                <a:srgbClr val="1E293B"/>
              </a:solidFill>
              <a:latin typeface="Lexend"/>
              <a:ea typeface="Lexend"/>
              <a:cs typeface="Lexend"/>
              <a:sym typeface="Lexend"/>
            </a:endParaRPr>
          </a:p>
          <a:p>
            <a:pPr marL="0" marR="0" lvl="0" indent="0" algn="l" rtl="0">
              <a:spcBef>
                <a:spcPts val="0"/>
              </a:spcBef>
              <a:spcAft>
                <a:spcPts val="0"/>
              </a:spcAft>
              <a:buNone/>
            </a:pPr>
            <a:endParaRPr sz="900">
              <a:solidFill>
                <a:srgbClr val="1E293B"/>
              </a:solidFill>
              <a:latin typeface="Lexend"/>
              <a:ea typeface="Lexend"/>
              <a:cs typeface="Lexend"/>
              <a:sym typeface="Lexend"/>
            </a:endParaRPr>
          </a:p>
        </p:txBody>
      </p:sp>
      <p:sp>
        <p:nvSpPr>
          <p:cNvPr id="180" name="Google Shape;180;p35"/>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pic>
        <p:nvPicPr>
          <p:cNvPr id="181" name="Google Shape;181;p35" descr="preencoded.png"/>
          <p:cNvPicPr preferRelativeResize="0"/>
          <p:nvPr/>
        </p:nvPicPr>
        <p:blipFill rotWithShape="1">
          <a:blip r:embed="rId4">
            <a:alphaModFix/>
          </a:blip>
          <a:srcRect/>
          <a:stretch/>
        </p:blipFill>
        <p:spPr>
          <a:xfrm>
            <a:off x="277523" y="3612554"/>
            <a:ext cx="274325" cy="373067"/>
          </a:xfrm>
          <a:prstGeom prst="rect">
            <a:avLst/>
          </a:prstGeom>
          <a:noFill/>
          <a:ln>
            <a:noFill/>
          </a:ln>
        </p:spPr>
      </p:pic>
      <p:sp>
        <p:nvSpPr>
          <p:cNvPr id="182" name="Google Shape;182;p35"/>
          <p:cNvSpPr/>
          <p:nvPr/>
        </p:nvSpPr>
        <p:spPr>
          <a:xfrm>
            <a:off x="533563" y="3550361"/>
            <a:ext cx="2743200" cy="348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4444"/>
              </a:buClr>
              <a:buSzPts val="1100"/>
              <a:buFont typeface="Calibri"/>
              <a:buNone/>
            </a:pPr>
            <a:r>
              <a:rPr lang="en" sz="1100" i="0" u="none" strike="noStrike" cap="none">
                <a:solidFill>
                  <a:srgbClr val="EF4444"/>
                </a:solidFill>
                <a:latin typeface="Lexend"/>
                <a:ea typeface="Lexend"/>
                <a:cs typeface="Lexend"/>
                <a:sym typeface="Lexend"/>
              </a:rPr>
              <a:t>ROOT CAUSE ANALYSIS</a:t>
            </a:r>
            <a:endParaRPr sz="1100" i="0" u="none" strike="noStrike" cap="none">
              <a:solidFill>
                <a:schemeClr val="dk1"/>
              </a:solidFill>
              <a:latin typeface="Lexend"/>
              <a:ea typeface="Lexend"/>
              <a:cs typeface="Lexend"/>
              <a:sym typeface="Lexend"/>
            </a:endParaRPr>
          </a:p>
        </p:txBody>
      </p:sp>
      <p:pic>
        <p:nvPicPr>
          <p:cNvPr id="183" name="Google Shape;183;p35" title="Chart"/>
          <p:cNvPicPr preferRelativeResize="0"/>
          <p:nvPr/>
        </p:nvPicPr>
        <p:blipFill>
          <a:blip r:embed="rId5">
            <a:alphaModFix/>
          </a:blip>
          <a:stretch>
            <a:fillRect/>
          </a:stretch>
        </p:blipFill>
        <p:spPr>
          <a:xfrm>
            <a:off x="176525" y="900400"/>
            <a:ext cx="4846198" cy="2263295"/>
          </a:xfrm>
          <a:prstGeom prst="rect">
            <a:avLst/>
          </a:prstGeom>
          <a:noFill/>
          <a:ln>
            <a:noFill/>
          </a:ln>
        </p:spPr>
      </p:pic>
      <p:cxnSp>
        <p:nvCxnSpPr>
          <p:cNvPr id="184" name="Google Shape;184;p35"/>
          <p:cNvCxnSpPr/>
          <p:nvPr/>
        </p:nvCxnSpPr>
        <p:spPr>
          <a:xfrm flipH="1">
            <a:off x="4689075" y="1421675"/>
            <a:ext cx="6900" cy="1446600"/>
          </a:xfrm>
          <a:prstGeom prst="straightConnector1">
            <a:avLst/>
          </a:prstGeom>
          <a:noFill/>
          <a:ln w="8150" cap="flat" cmpd="sng">
            <a:solidFill>
              <a:schemeClr val="dk2"/>
            </a:solidFill>
            <a:prstDash val="dot"/>
            <a:round/>
            <a:headEnd type="none" w="med" len="med"/>
            <a:tailEnd type="none" w="med" len="med"/>
          </a:ln>
        </p:spPr>
      </p:cxnSp>
      <p:sp>
        <p:nvSpPr>
          <p:cNvPr id="185" name="Google Shape;185;p35"/>
          <p:cNvSpPr/>
          <p:nvPr/>
        </p:nvSpPr>
        <p:spPr>
          <a:xfrm flipH="1">
            <a:off x="3857475" y="1689275"/>
            <a:ext cx="767100" cy="465000"/>
          </a:xfrm>
          <a:prstGeom prst="wedgeRoundRectCallout">
            <a:avLst>
              <a:gd name="adj1" fmla="val -50392"/>
              <a:gd name="adj2" fmla="val -88140"/>
              <a:gd name="adj3" fmla="val 0"/>
            </a:avLst>
          </a:prstGeom>
          <a:solidFill>
            <a:srgbClr val="63A7FF">
              <a:alpha val="49380"/>
            </a:srgbClr>
          </a:solidFill>
          <a:ln w="6700" cap="flat" cmpd="sng">
            <a:solidFill>
              <a:srgbClr val="D2E0F9"/>
            </a:solidFill>
            <a:prstDash val="solid"/>
            <a:round/>
            <a:headEnd type="none" w="sm" len="sm"/>
            <a:tailEnd type="none" w="sm" len="sm"/>
          </a:ln>
        </p:spPr>
        <p:txBody>
          <a:bodyPr spcFirstLastPara="1" wrap="square" lIns="64275" tIns="64275" rIns="64275" bIns="64275" anchor="ctr" anchorCtr="0">
            <a:noAutofit/>
          </a:bodyPr>
          <a:lstStyle/>
          <a:p>
            <a:pPr marL="0" lvl="0" indent="0" algn="l" rtl="0">
              <a:lnSpc>
                <a:spcPct val="115000"/>
              </a:lnSpc>
              <a:spcBef>
                <a:spcPts val="0"/>
              </a:spcBef>
              <a:spcAft>
                <a:spcPts val="0"/>
              </a:spcAft>
              <a:buNone/>
            </a:pPr>
            <a:r>
              <a:rPr lang="en" sz="733" b="1">
                <a:solidFill>
                  <a:srgbClr val="008000"/>
                </a:solidFill>
                <a:latin typeface="Lexend"/>
                <a:ea typeface="Lexend"/>
                <a:cs typeface="Lexend"/>
                <a:sym typeface="Lexend"/>
              </a:rPr>
              <a:t>78.73%</a:t>
            </a:r>
            <a:br>
              <a:rPr lang="en" sz="733" b="1">
                <a:solidFill>
                  <a:srgbClr val="008000"/>
                </a:solidFill>
                <a:latin typeface="Lexend"/>
                <a:ea typeface="Lexend"/>
                <a:cs typeface="Lexend"/>
                <a:sym typeface="Lexend"/>
              </a:rPr>
            </a:br>
            <a:r>
              <a:rPr lang="en" sz="633">
                <a:solidFill>
                  <a:srgbClr val="38761D"/>
                </a:solidFill>
                <a:latin typeface="Lexend"/>
                <a:ea typeface="Lexend"/>
                <a:cs typeface="Lexend"/>
                <a:sym typeface="Lexend"/>
              </a:rPr>
              <a:t>+0.7% MoM</a:t>
            </a:r>
            <a:endParaRPr sz="733" b="1">
              <a:solidFill>
                <a:srgbClr val="38761D"/>
              </a:solidFill>
              <a:latin typeface="Lexend"/>
              <a:ea typeface="Lexend"/>
              <a:cs typeface="Lexend"/>
              <a:sym typeface="Lexend"/>
            </a:endParaRPr>
          </a:p>
          <a:p>
            <a:pPr marL="0" lvl="0" indent="0" algn="l" rtl="0">
              <a:lnSpc>
                <a:spcPct val="115000"/>
              </a:lnSpc>
              <a:spcBef>
                <a:spcPts val="0"/>
              </a:spcBef>
              <a:spcAft>
                <a:spcPts val="0"/>
              </a:spcAft>
              <a:buNone/>
            </a:pPr>
            <a:r>
              <a:rPr lang="en" sz="633">
                <a:solidFill>
                  <a:srgbClr val="0B8043"/>
                </a:solidFill>
                <a:latin typeface="Lexend"/>
                <a:ea typeface="Lexend"/>
                <a:cs typeface="Lexend"/>
                <a:sym typeface="Lexend"/>
              </a:rPr>
              <a:t>+1.08% YoY </a:t>
            </a:r>
            <a:endParaRPr sz="633">
              <a:solidFill>
                <a:srgbClr val="0B8043"/>
              </a:solidFill>
              <a:latin typeface="Lexend"/>
              <a:ea typeface="Lexend"/>
              <a:cs typeface="Lexend"/>
              <a:sym typeface="Lexend"/>
            </a:endParaRPr>
          </a:p>
        </p:txBody>
      </p:sp>
      <p:graphicFrame>
        <p:nvGraphicFramePr>
          <p:cNvPr id="186" name="Google Shape;186;p35"/>
          <p:cNvGraphicFramePr/>
          <p:nvPr/>
        </p:nvGraphicFramePr>
        <p:xfrm>
          <a:off x="5231875" y="887050"/>
          <a:ext cx="3611900" cy="941642"/>
        </p:xfrm>
        <a:graphic>
          <a:graphicData uri="http://schemas.openxmlformats.org/drawingml/2006/table">
            <a:tbl>
              <a:tblPr>
                <a:noFill/>
                <a:tableStyleId>{98498B5D-82F5-4DDD-BB04-C168985C330A}</a:tableStyleId>
              </a:tblPr>
              <a:tblGrid>
                <a:gridCol w="592100">
                  <a:extLst>
                    <a:ext uri="{9D8B030D-6E8A-4147-A177-3AD203B41FA5}">
                      <a16:colId xmlns:a16="http://schemas.microsoft.com/office/drawing/2014/main" val="20000"/>
                    </a:ext>
                  </a:extLst>
                </a:gridCol>
                <a:gridCol w="583650">
                  <a:extLst>
                    <a:ext uri="{9D8B030D-6E8A-4147-A177-3AD203B41FA5}">
                      <a16:colId xmlns:a16="http://schemas.microsoft.com/office/drawing/2014/main" val="20001"/>
                    </a:ext>
                  </a:extLst>
                </a:gridCol>
                <a:gridCol w="583650">
                  <a:extLst>
                    <a:ext uri="{9D8B030D-6E8A-4147-A177-3AD203B41FA5}">
                      <a16:colId xmlns:a16="http://schemas.microsoft.com/office/drawing/2014/main" val="20002"/>
                    </a:ext>
                  </a:extLst>
                </a:gridCol>
                <a:gridCol w="583650">
                  <a:extLst>
                    <a:ext uri="{9D8B030D-6E8A-4147-A177-3AD203B41FA5}">
                      <a16:colId xmlns:a16="http://schemas.microsoft.com/office/drawing/2014/main" val="20003"/>
                    </a:ext>
                  </a:extLst>
                </a:gridCol>
                <a:gridCol w="634425">
                  <a:extLst>
                    <a:ext uri="{9D8B030D-6E8A-4147-A177-3AD203B41FA5}">
                      <a16:colId xmlns:a16="http://schemas.microsoft.com/office/drawing/2014/main" val="20004"/>
                    </a:ext>
                  </a:extLst>
                </a:gridCol>
                <a:gridCol w="634425">
                  <a:extLst>
                    <a:ext uri="{9D8B030D-6E8A-4147-A177-3AD203B41FA5}">
                      <a16:colId xmlns:a16="http://schemas.microsoft.com/office/drawing/2014/main" val="20005"/>
                    </a:ext>
                  </a:extLst>
                </a:gridCol>
              </a:tblGrid>
              <a:tr h="314325">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Segment</a:t>
                      </a:r>
                      <a:endParaRPr sz="900" b="1">
                        <a:solidFill>
                          <a:srgbClr val="FFFFFF"/>
                        </a:solidFill>
                        <a:latin typeface="Lexend"/>
                        <a:ea typeface="Lexend"/>
                        <a:cs typeface="Lexend"/>
                        <a:sym typeface="Lexend"/>
                      </a:endParaRPr>
                    </a:p>
                  </a:txBody>
                  <a:tcPr marL="28575" marR="28575" marT="19050" marB="19050" anchor="ctr">
                    <a:lnL w="12700" cap="flat" cmpd="sng">
                      <a:solidFill>
                        <a:srgbClr val="000000"/>
                      </a:solidFill>
                      <a:prstDash val="solid"/>
                      <a:round/>
                      <a:headEnd type="none" w="sm" len="sm"/>
                      <a:tailEnd type="none" w="sm" len="sm"/>
                    </a:lnL>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Segment driver</a:t>
                      </a:r>
                      <a:endParaRPr sz="900" b="1">
                        <a:solidFill>
                          <a:srgbClr val="FFFFFF"/>
                        </a:solidFill>
                        <a:latin typeface="Lexend"/>
                        <a:ea typeface="Lexend"/>
                        <a:cs typeface="Lexend"/>
                        <a:sym typeface="Lexend"/>
                      </a:endParaRPr>
                    </a:p>
                  </a:txBody>
                  <a:tcPr marL="28575" marR="28575" marT="19050" marB="19050" anchor="ct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Active driver</a:t>
                      </a:r>
                      <a:endParaRPr sz="900" b="1">
                        <a:solidFill>
                          <a:srgbClr val="FFFFFF"/>
                        </a:solidFill>
                        <a:latin typeface="Lexend"/>
                        <a:ea typeface="Lexend"/>
                        <a:cs typeface="Lexend"/>
                        <a:sym typeface="Lexend"/>
                      </a:endParaRPr>
                    </a:p>
                  </a:txBody>
                  <a:tcPr marL="28575" marR="28575" marT="19050" marB="19050" anchor="ct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RR_this month</a:t>
                      </a:r>
                      <a:endParaRPr sz="900" b="1">
                        <a:solidFill>
                          <a:srgbClr val="FFFFFF"/>
                        </a:solidFill>
                        <a:latin typeface="Lexend"/>
                        <a:ea typeface="Lexend"/>
                        <a:cs typeface="Lexend"/>
                        <a:sym typeface="Lexend"/>
                      </a:endParaRPr>
                    </a:p>
                  </a:txBody>
                  <a:tcPr marL="28575" marR="28575" marT="19050" marB="19050" anchor="ct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MoM</a:t>
                      </a:r>
                      <a:endParaRPr sz="900" b="1">
                        <a:solidFill>
                          <a:srgbClr val="FFFFFF"/>
                        </a:solidFill>
                        <a:latin typeface="Lexend"/>
                        <a:ea typeface="Lexend"/>
                        <a:cs typeface="Lexend"/>
                        <a:sym typeface="Lexend"/>
                      </a:endParaRPr>
                    </a:p>
                  </a:txBody>
                  <a:tcPr marL="28575" marR="28575" marT="19050" marB="19050" anchor="ct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6D01"/>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YoY</a:t>
                      </a:r>
                      <a:endParaRPr sz="900" b="1">
                        <a:solidFill>
                          <a:srgbClr val="FFFFFF"/>
                        </a:solidFill>
                        <a:latin typeface="Lexend"/>
                        <a:ea typeface="Lexend"/>
                        <a:cs typeface="Lexend"/>
                        <a:sym typeface="Lexend"/>
                      </a:endParaRPr>
                    </a:p>
                  </a:txBody>
                  <a:tcPr marL="28575" marR="28575" marT="19050" marB="19050" anchor="ctr">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6D01"/>
                    </a:solidFill>
                  </a:tcPr>
                </a:tc>
                <a:extLst>
                  <a:ext uri="{0D108BD9-81ED-4DB2-BD59-A6C34878D82A}">
                    <a16:rowId xmlns:a16="http://schemas.microsoft.com/office/drawing/2014/main" val="10000"/>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FT</a:t>
                      </a:r>
                      <a:endParaRPr sz="900">
                        <a:latin typeface="Lexend"/>
                        <a:ea typeface="Lexend"/>
                        <a:cs typeface="Lexend"/>
                        <a:sym typeface="Lexend"/>
                      </a:endParaRPr>
                    </a:p>
                  </a:txBody>
                  <a:tcPr marL="28575" marR="28575" marT="19050" marB="19050" anchor="ctr">
                    <a:lnL w="12700" cap="flat" cmpd="sng">
                      <a:solidFill>
                        <a:srgbClr val="000000"/>
                      </a:solidFill>
                      <a:prstDash val="solid"/>
                      <a:round/>
                      <a:headEnd type="none" w="sm" len="sm"/>
                      <a:tailEnd type="none" w="sm" len="sm"/>
                    </a:lnL>
                    <a:lnR w="12700" cap="flat" cmpd="sng">
                      <a:solidFill>
                        <a:srgbClr val="000000"/>
                      </a:solidFill>
                      <a:prstDash val="dot"/>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1,259</a:t>
                      </a:r>
                      <a:endParaRPr sz="900">
                        <a:latin typeface="Lexend"/>
                        <a:ea typeface="Lexend"/>
                        <a:cs typeface="Lexend"/>
                        <a:sym typeface="Lexend"/>
                      </a:endParaRPr>
                    </a:p>
                  </a:txBody>
                  <a:tcPr marL="28575" marR="28575" marT="19050" marB="19050" anchor="ctr">
                    <a:lnL w="12700" cap="flat" cmpd="sng">
                      <a:solidFill>
                        <a:srgbClr val="000000"/>
                      </a:solidFill>
                      <a:prstDash val="dot"/>
                      <a:round/>
                      <a:headEnd type="none" w="sm" len="sm"/>
                      <a:tailEnd type="none" w="sm" len="sm"/>
                    </a:lnL>
                    <a:lnR w="12700" cap="flat" cmpd="sng">
                      <a:solidFill>
                        <a:srgbClr val="000000"/>
                      </a:solidFill>
                      <a:prstDash val="dot"/>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1,210</a:t>
                      </a:r>
                      <a:endParaRPr sz="900">
                        <a:latin typeface="Lexend"/>
                        <a:ea typeface="Lexend"/>
                        <a:cs typeface="Lexend"/>
                        <a:sym typeface="Lexend"/>
                      </a:endParaRPr>
                    </a:p>
                  </a:txBody>
                  <a:tcPr marL="28575" marR="28575" marT="19050" marB="19050" anchor="ctr">
                    <a:lnL w="12700" cap="flat" cmpd="sng">
                      <a:solidFill>
                        <a:srgbClr val="000000"/>
                      </a:solidFill>
                      <a:prstDash val="dot"/>
                      <a:round/>
                      <a:headEnd type="none" w="sm" len="sm"/>
                      <a:tailEnd type="none" w="sm" len="sm"/>
                    </a:lnL>
                    <a:lnR w="12700" cap="flat" cmpd="sng">
                      <a:solidFill>
                        <a:srgbClr val="000000"/>
                      </a:solidFill>
                      <a:prstDash val="dot"/>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96.11%</a:t>
                      </a:r>
                      <a:endParaRPr sz="900">
                        <a:latin typeface="Lexend"/>
                        <a:ea typeface="Lexend"/>
                        <a:cs typeface="Lexend"/>
                        <a:sym typeface="Lexend"/>
                      </a:endParaRPr>
                    </a:p>
                  </a:txBody>
                  <a:tcPr marL="28575" marR="28575" marT="19050" marB="19050" anchor="ctr">
                    <a:lnL w="12700" cap="flat" cmpd="sng">
                      <a:solidFill>
                        <a:srgbClr val="000000"/>
                      </a:solidFill>
                      <a:prstDash val="dot"/>
                      <a:round/>
                      <a:headEnd type="none" w="sm" len="sm"/>
                      <a:tailEnd type="none" w="sm" len="sm"/>
                    </a:lnL>
                    <a:lnR w="12700" cap="flat" cmpd="sng">
                      <a:solidFill>
                        <a:srgbClr val="000000"/>
                      </a:solidFill>
                      <a:prstDash val="dot"/>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900" b="1">
                          <a:solidFill>
                            <a:srgbClr val="CC0000"/>
                          </a:solidFill>
                          <a:latin typeface="Lexend"/>
                          <a:ea typeface="Lexend"/>
                          <a:cs typeface="Lexend"/>
                          <a:sym typeface="Lexend"/>
                        </a:rPr>
                        <a:t>-0.15%</a:t>
                      </a:r>
                      <a:endParaRPr sz="900" b="1">
                        <a:solidFill>
                          <a:srgbClr val="CC0000"/>
                        </a:solidFill>
                        <a:latin typeface="Lexend"/>
                        <a:ea typeface="Lexend"/>
                        <a:cs typeface="Lexend"/>
                        <a:sym typeface="Lexend"/>
                      </a:endParaRPr>
                    </a:p>
                  </a:txBody>
                  <a:tcPr marL="28575" marR="28575" marT="19050" marB="19050" anchor="ctr">
                    <a:lnL w="12700" cap="flat" cmpd="sng">
                      <a:solidFill>
                        <a:srgbClr val="000000"/>
                      </a:solidFill>
                      <a:prstDash val="dot"/>
                      <a:round/>
                      <a:headEnd type="none" w="sm" len="sm"/>
                      <a:tailEnd type="none" w="sm" len="sm"/>
                    </a:lnL>
                    <a:lnR w="12700" cap="flat" cmpd="sng">
                      <a:solidFill>
                        <a:srgbClr val="000000"/>
                      </a:solidFill>
                      <a:prstDash val="dot"/>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dot"/>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900" b="1">
                          <a:solidFill>
                            <a:srgbClr val="CC0000"/>
                          </a:solidFill>
                          <a:latin typeface="Lexend"/>
                          <a:ea typeface="Lexend"/>
                          <a:cs typeface="Lexend"/>
                          <a:sym typeface="Lexend"/>
                        </a:rPr>
                        <a:t>-1.41%</a:t>
                      </a:r>
                      <a:endParaRPr sz="900" b="1">
                        <a:solidFill>
                          <a:srgbClr val="CC0000"/>
                        </a:solidFill>
                        <a:latin typeface="Lexend"/>
                        <a:ea typeface="Lexend"/>
                        <a:cs typeface="Lexend"/>
                        <a:sym typeface="Lexend"/>
                      </a:endParaRPr>
                    </a:p>
                  </a:txBody>
                  <a:tcPr marL="28575" marR="28575" marT="19050" marB="19050" anchor="ctr">
                    <a:lnL w="12700" cap="flat" cmpd="sng">
                      <a:solidFill>
                        <a:srgbClr val="000000"/>
                      </a:solidFill>
                      <a:prstDash val="dot"/>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dot"/>
                      <a:round/>
                      <a:headEnd type="none" w="sm" len="sm"/>
                      <a:tailEnd type="none" w="sm" len="sm"/>
                    </a:lnB>
                    <a:solidFill>
                      <a:srgbClr val="F4CCCC"/>
                    </a:solidFill>
                  </a:tcPr>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PT</a:t>
                      </a:r>
                      <a:endParaRPr sz="900">
                        <a:latin typeface="Lexend"/>
                        <a:ea typeface="Lexend"/>
                        <a:cs typeface="Lexend"/>
                        <a:sym typeface="Lexend"/>
                      </a:endParaRPr>
                    </a:p>
                  </a:txBody>
                  <a:tcPr marL="28575" marR="28575" marT="19050" marB="19050" anchor="ctr">
                    <a:lnL w="12700" cap="flat" cmpd="sng">
                      <a:solidFill>
                        <a:srgbClr val="000000"/>
                      </a:solidFill>
                      <a:prstDash val="solid"/>
                      <a:round/>
                      <a:headEnd type="none" w="sm" len="sm"/>
                      <a:tailEnd type="none" w="sm" len="sm"/>
                    </a:lnL>
                    <a:lnR w="12700" cap="flat" cmpd="sng">
                      <a:solidFill>
                        <a:srgbClr val="000000"/>
                      </a:solidFill>
                      <a:prstDash val="dot"/>
                      <a:round/>
                      <a:headEnd type="none" w="sm" len="sm"/>
                      <a:tailEnd type="none" w="sm" len="sm"/>
                    </a:lnR>
                    <a:lnT w="12700" cap="flat" cmpd="sng">
                      <a:solidFill>
                        <a:srgbClr val="000000"/>
                      </a:solidFill>
                      <a:prstDash val="dot"/>
                      <a:round/>
                      <a:headEnd type="none" w="sm" len="sm"/>
                      <a:tailEnd type="none" w="sm" len="sm"/>
                    </a:lnT>
                    <a:lnB w="1270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7,040</a:t>
                      </a:r>
                      <a:endParaRPr sz="900">
                        <a:latin typeface="Lexend"/>
                        <a:ea typeface="Lexend"/>
                        <a:cs typeface="Lexend"/>
                        <a:sym typeface="Lexend"/>
                      </a:endParaRPr>
                    </a:p>
                  </a:txBody>
                  <a:tcPr marL="28575" marR="28575" marT="19050" marB="19050" anchor="ctr">
                    <a:lnL w="12700" cap="flat" cmpd="sng">
                      <a:solidFill>
                        <a:srgbClr val="000000"/>
                      </a:solidFill>
                      <a:prstDash val="dot"/>
                      <a:round/>
                      <a:headEnd type="none" w="sm" len="sm"/>
                      <a:tailEnd type="none" w="sm" len="sm"/>
                    </a:lnL>
                    <a:lnR w="12700" cap="flat" cmpd="sng">
                      <a:solidFill>
                        <a:srgbClr val="000000"/>
                      </a:solidFill>
                      <a:prstDash val="dot"/>
                      <a:round/>
                      <a:headEnd type="none" w="sm" len="sm"/>
                      <a:tailEnd type="none" w="sm" len="sm"/>
                    </a:lnR>
                    <a:lnT w="12700" cap="flat" cmpd="sng">
                      <a:solidFill>
                        <a:srgbClr val="000000"/>
                      </a:solidFill>
                      <a:prstDash val="dot"/>
                      <a:round/>
                      <a:headEnd type="none" w="sm" len="sm"/>
                      <a:tailEnd type="none" w="sm" len="sm"/>
                    </a:lnT>
                    <a:lnB w="1270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5,324</a:t>
                      </a:r>
                      <a:endParaRPr sz="900">
                        <a:latin typeface="Lexend"/>
                        <a:ea typeface="Lexend"/>
                        <a:cs typeface="Lexend"/>
                        <a:sym typeface="Lexend"/>
                      </a:endParaRPr>
                    </a:p>
                  </a:txBody>
                  <a:tcPr marL="28575" marR="28575" marT="19050" marB="19050" anchor="ctr">
                    <a:lnL w="12700" cap="flat" cmpd="sng">
                      <a:solidFill>
                        <a:srgbClr val="000000"/>
                      </a:solidFill>
                      <a:prstDash val="dot"/>
                      <a:round/>
                      <a:headEnd type="none" w="sm" len="sm"/>
                      <a:tailEnd type="none" w="sm" len="sm"/>
                    </a:lnL>
                    <a:lnR w="12700" cap="flat" cmpd="sng">
                      <a:solidFill>
                        <a:srgbClr val="000000"/>
                      </a:solidFill>
                      <a:prstDash val="dot"/>
                      <a:round/>
                      <a:headEnd type="none" w="sm" len="sm"/>
                      <a:tailEnd type="none" w="sm" len="sm"/>
                    </a:lnR>
                    <a:lnT w="12700" cap="flat" cmpd="sng">
                      <a:solidFill>
                        <a:srgbClr val="000000"/>
                      </a:solidFill>
                      <a:prstDash val="dot"/>
                      <a:round/>
                      <a:headEnd type="none" w="sm" len="sm"/>
                      <a:tailEnd type="none" w="sm" len="sm"/>
                    </a:lnT>
                    <a:lnB w="1270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75.63%</a:t>
                      </a:r>
                      <a:endParaRPr sz="900">
                        <a:latin typeface="Lexend"/>
                        <a:ea typeface="Lexend"/>
                        <a:cs typeface="Lexend"/>
                        <a:sym typeface="Lexend"/>
                      </a:endParaRPr>
                    </a:p>
                  </a:txBody>
                  <a:tcPr marL="28575" marR="28575" marT="19050" marB="19050" anchor="ctr">
                    <a:lnL w="12700" cap="flat" cmpd="sng">
                      <a:solidFill>
                        <a:srgbClr val="000000"/>
                      </a:solidFill>
                      <a:prstDash val="dot"/>
                      <a:round/>
                      <a:headEnd type="none" w="sm" len="sm"/>
                      <a:tailEnd type="none" w="sm" len="sm"/>
                    </a:lnL>
                    <a:lnR w="12700" cap="flat" cmpd="sng">
                      <a:solidFill>
                        <a:srgbClr val="000000"/>
                      </a:solidFill>
                      <a:prstDash val="dot"/>
                      <a:round/>
                      <a:headEnd type="none" w="sm" len="sm"/>
                      <a:tailEnd type="none" w="sm" len="sm"/>
                    </a:lnR>
                    <a:lnT w="12700" cap="flat" cmpd="sng">
                      <a:solidFill>
                        <a:srgbClr val="000000"/>
                      </a:solidFill>
                      <a:prstDash val="dot"/>
                      <a:round/>
                      <a:headEnd type="none" w="sm" len="sm"/>
                      <a:tailEnd type="none" w="sm" len="sm"/>
                    </a:lnT>
                    <a:lnB w="1270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900" b="1">
                          <a:solidFill>
                            <a:srgbClr val="CC0000"/>
                          </a:solidFill>
                          <a:latin typeface="Lexend"/>
                          <a:ea typeface="Lexend"/>
                          <a:cs typeface="Lexend"/>
                          <a:sym typeface="Lexend"/>
                        </a:rPr>
                        <a:t>-0.02%</a:t>
                      </a:r>
                      <a:endParaRPr sz="900" b="1">
                        <a:solidFill>
                          <a:srgbClr val="CC0000"/>
                        </a:solidFill>
                        <a:latin typeface="Lexend"/>
                        <a:ea typeface="Lexend"/>
                        <a:cs typeface="Lexend"/>
                        <a:sym typeface="Lexend"/>
                      </a:endParaRPr>
                    </a:p>
                  </a:txBody>
                  <a:tcPr marL="28575" marR="28575" marT="19050" marB="19050" anchor="ctr">
                    <a:lnL w="12700" cap="flat" cmpd="sng">
                      <a:solidFill>
                        <a:srgbClr val="000000"/>
                      </a:solidFill>
                      <a:prstDash val="dot"/>
                      <a:round/>
                      <a:headEnd type="none" w="sm" len="sm"/>
                      <a:tailEnd type="none" w="sm" len="sm"/>
                    </a:lnL>
                    <a:lnR w="12700" cap="flat" cmpd="sng">
                      <a:solidFill>
                        <a:srgbClr val="000000"/>
                      </a:solidFill>
                      <a:prstDash val="dot"/>
                      <a:round/>
                      <a:headEnd type="none" w="sm" len="sm"/>
                      <a:tailEnd type="none" w="sm" len="sm"/>
                    </a:lnR>
                    <a:lnT w="12700" cap="flat" cmpd="sng">
                      <a:solidFill>
                        <a:srgbClr val="000000"/>
                      </a:solidFill>
                      <a:prstDash val="dot"/>
                      <a:round/>
                      <a:headEnd type="none" w="sm" len="sm"/>
                      <a:tailEnd type="none" w="sm" len="sm"/>
                    </a:lnT>
                    <a:lnB w="12700" cap="flat" cmpd="sng">
                      <a:solidFill>
                        <a:srgbClr val="000000"/>
                      </a:solidFill>
                      <a:prstDash val="dot"/>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900" b="1">
                          <a:solidFill>
                            <a:srgbClr val="38761D"/>
                          </a:solidFill>
                          <a:latin typeface="Lexend"/>
                          <a:ea typeface="Lexend"/>
                          <a:cs typeface="Lexend"/>
                          <a:sym typeface="Lexend"/>
                        </a:rPr>
                        <a:t>1.86%</a:t>
                      </a:r>
                      <a:endParaRPr sz="900" b="1">
                        <a:solidFill>
                          <a:srgbClr val="38761D"/>
                        </a:solidFill>
                        <a:latin typeface="Lexend"/>
                        <a:ea typeface="Lexend"/>
                        <a:cs typeface="Lexend"/>
                        <a:sym typeface="Lexend"/>
                      </a:endParaRPr>
                    </a:p>
                  </a:txBody>
                  <a:tcPr marL="28575" marR="28575" marT="19050" marB="19050" anchor="ctr">
                    <a:lnL w="12700" cap="flat" cmpd="sng">
                      <a:solidFill>
                        <a:srgbClr val="000000"/>
                      </a:solidFill>
                      <a:prstDash val="dot"/>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dot"/>
                      <a:round/>
                      <a:headEnd type="none" w="sm" len="sm"/>
                      <a:tailEnd type="none" w="sm" len="sm"/>
                    </a:lnT>
                    <a:lnB w="12700" cap="flat" cmpd="sng">
                      <a:solidFill>
                        <a:srgbClr val="000000"/>
                      </a:solidFill>
                      <a:prstDash val="dot"/>
                      <a:round/>
                      <a:headEnd type="none" w="sm" len="sm"/>
                      <a:tailEnd type="none" w="sm" len="sm"/>
                    </a:lnB>
                    <a:solidFill>
                      <a:srgbClr val="D9EAD3"/>
                    </a:solidFill>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NLM</a:t>
                      </a:r>
                      <a:endParaRPr sz="900">
                        <a:latin typeface="Lexend"/>
                        <a:ea typeface="Lexend"/>
                        <a:cs typeface="Lexend"/>
                        <a:sym typeface="Lexend"/>
                      </a:endParaRPr>
                    </a:p>
                  </a:txBody>
                  <a:tcPr marL="28575" marR="28575" marT="19050" marB="19050" anchor="ctr">
                    <a:lnL w="12700" cap="flat" cmpd="sng">
                      <a:solidFill>
                        <a:srgbClr val="000000"/>
                      </a:solidFill>
                      <a:prstDash val="solid"/>
                      <a:round/>
                      <a:headEnd type="none" w="sm" len="sm"/>
                      <a:tailEnd type="none" w="sm" len="sm"/>
                    </a:lnL>
                    <a:lnR w="12700" cap="flat" cmpd="sng">
                      <a:solidFill>
                        <a:srgbClr val="000000"/>
                      </a:solidFill>
                      <a:prstDash val="dot"/>
                      <a:round/>
                      <a:headEnd type="none" w="sm" len="sm"/>
                      <a:tailEnd type="none" w="sm" len="sm"/>
                    </a:lnR>
                    <a:lnT w="12700" cap="flat" cmpd="sng">
                      <a:solidFill>
                        <a:srgbClr val="000000"/>
                      </a:solidFill>
                      <a:prstDash val="dot"/>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854</a:t>
                      </a:r>
                      <a:endParaRPr sz="900">
                        <a:latin typeface="Lexend"/>
                        <a:ea typeface="Lexend"/>
                        <a:cs typeface="Lexend"/>
                        <a:sym typeface="Lexend"/>
                      </a:endParaRPr>
                    </a:p>
                  </a:txBody>
                  <a:tcPr marL="28575" marR="28575" marT="19050" marB="19050" anchor="ctr">
                    <a:lnL w="12700" cap="flat" cmpd="sng">
                      <a:solidFill>
                        <a:srgbClr val="000000"/>
                      </a:solidFill>
                      <a:prstDash val="dot"/>
                      <a:round/>
                      <a:headEnd type="none" w="sm" len="sm"/>
                      <a:tailEnd type="none" w="sm" len="sm"/>
                    </a:lnL>
                    <a:lnR w="12700" cap="flat" cmpd="sng">
                      <a:solidFill>
                        <a:srgbClr val="000000"/>
                      </a:solidFill>
                      <a:prstDash val="dot"/>
                      <a:round/>
                      <a:headEnd type="none" w="sm" len="sm"/>
                      <a:tailEnd type="none" w="sm" len="sm"/>
                    </a:lnR>
                    <a:lnT w="12700" cap="flat" cmpd="sng">
                      <a:solidFill>
                        <a:srgbClr val="000000"/>
                      </a:solidFill>
                      <a:prstDash val="dot"/>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614</a:t>
                      </a:r>
                      <a:endParaRPr sz="900">
                        <a:latin typeface="Lexend"/>
                        <a:ea typeface="Lexend"/>
                        <a:cs typeface="Lexend"/>
                        <a:sym typeface="Lexend"/>
                      </a:endParaRPr>
                    </a:p>
                  </a:txBody>
                  <a:tcPr marL="28575" marR="28575" marT="19050" marB="19050" anchor="ctr">
                    <a:lnL w="12700" cap="flat" cmpd="sng">
                      <a:solidFill>
                        <a:srgbClr val="000000"/>
                      </a:solidFill>
                      <a:prstDash val="dot"/>
                      <a:round/>
                      <a:headEnd type="none" w="sm" len="sm"/>
                      <a:tailEnd type="none" w="sm" len="sm"/>
                    </a:lnL>
                    <a:lnR w="12700" cap="flat" cmpd="sng">
                      <a:solidFill>
                        <a:srgbClr val="000000"/>
                      </a:solidFill>
                      <a:prstDash val="dot"/>
                      <a:round/>
                      <a:headEnd type="none" w="sm" len="sm"/>
                      <a:tailEnd type="none" w="sm" len="sm"/>
                    </a:lnR>
                    <a:lnT w="12700" cap="flat" cmpd="sng">
                      <a:solidFill>
                        <a:srgbClr val="000000"/>
                      </a:solidFill>
                      <a:prstDash val="dot"/>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71.90%</a:t>
                      </a:r>
                      <a:endParaRPr sz="900">
                        <a:latin typeface="Lexend"/>
                        <a:ea typeface="Lexend"/>
                        <a:cs typeface="Lexend"/>
                        <a:sym typeface="Lexend"/>
                      </a:endParaRPr>
                    </a:p>
                  </a:txBody>
                  <a:tcPr marL="28575" marR="28575" marT="19050" marB="19050" anchor="ctr">
                    <a:lnL w="12700" cap="flat" cmpd="sng">
                      <a:solidFill>
                        <a:srgbClr val="000000"/>
                      </a:solidFill>
                      <a:prstDash val="dot"/>
                      <a:round/>
                      <a:headEnd type="none" w="sm" len="sm"/>
                      <a:tailEnd type="none" w="sm" len="sm"/>
                    </a:lnL>
                    <a:lnR w="12700" cap="flat" cmpd="sng">
                      <a:solidFill>
                        <a:srgbClr val="000000"/>
                      </a:solidFill>
                      <a:prstDash val="dot"/>
                      <a:round/>
                      <a:headEnd type="none" w="sm" len="sm"/>
                      <a:tailEnd type="none" w="sm" len="sm"/>
                    </a:lnR>
                    <a:lnT w="12700" cap="flat" cmpd="sng">
                      <a:solidFill>
                        <a:srgbClr val="000000"/>
                      </a:solidFill>
                      <a:prstDash val="dot"/>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b="1">
                          <a:solidFill>
                            <a:srgbClr val="38761D"/>
                          </a:solidFill>
                          <a:latin typeface="Lexend"/>
                          <a:ea typeface="Lexend"/>
                          <a:cs typeface="Lexend"/>
                          <a:sym typeface="Lexend"/>
                        </a:rPr>
                        <a:t>3.04%</a:t>
                      </a:r>
                      <a:endParaRPr sz="900" b="1">
                        <a:solidFill>
                          <a:srgbClr val="38761D"/>
                        </a:solidFill>
                        <a:latin typeface="Lexend"/>
                        <a:ea typeface="Lexend"/>
                        <a:cs typeface="Lexend"/>
                        <a:sym typeface="Lexend"/>
                      </a:endParaRPr>
                    </a:p>
                  </a:txBody>
                  <a:tcPr marL="28575" marR="28575" marT="19050" marB="19050" anchor="ctr">
                    <a:lnL w="12700" cap="flat" cmpd="sng">
                      <a:solidFill>
                        <a:srgbClr val="000000"/>
                      </a:solidFill>
                      <a:prstDash val="dot"/>
                      <a:round/>
                      <a:headEnd type="none" w="sm" len="sm"/>
                      <a:tailEnd type="none" w="sm" len="sm"/>
                    </a:lnL>
                    <a:lnR w="12700" cap="flat" cmpd="sng">
                      <a:solidFill>
                        <a:srgbClr val="000000"/>
                      </a:solidFill>
                      <a:prstDash val="dot"/>
                      <a:round/>
                      <a:headEnd type="none" w="sm" len="sm"/>
                      <a:tailEnd type="none" w="sm" len="sm"/>
                    </a:lnR>
                    <a:lnT w="12700" cap="flat" cmpd="sng">
                      <a:solidFill>
                        <a:srgbClr val="000000"/>
                      </a:solidFill>
                      <a:prstDash val="dot"/>
                      <a:round/>
                      <a:headEnd type="none" w="sm" len="sm"/>
                      <a:tailEnd type="none" w="sm" len="sm"/>
                    </a:lnT>
                    <a:lnB w="12700" cap="flat" cmpd="sng">
                      <a:solidFill>
                        <a:srgbClr val="000000"/>
                      </a:solidFill>
                      <a:prstDash val="solid"/>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900" b="1">
                          <a:solidFill>
                            <a:srgbClr val="CC0000"/>
                          </a:solidFill>
                          <a:latin typeface="Lexend"/>
                          <a:ea typeface="Lexend"/>
                          <a:cs typeface="Lexend"/>
                          <a:sym typeface="Lexend"/>
                        </a:rPr>
                        <a:t>-7.87%</a:t>
                      </a:r>
                      <a:endParaRPr sz="900" b="1">
                        <a:solidFill>
                          <a:srgbClr val="CC0000"/>
                        </a:solidFill>
                        <a:latin typeface="Lexend"/>
                        <a:ea typeface="Lexend"/>
                        <a:cs typeface="Lexend"/>
                        <a:sym typeface="Lexend"/>
                      </a:endParaRPr>
                    </a:p>
                  </a:txBody>
                  <a:tcPr marL="28575" marR="28575" marT="19050" marB="19050" anchor="ctr">
                    <a:lnL w="12700" cap="flat" cmpd="sng">
                      <a:solidFill>
                        <a:srgbClr val="000000"/>
                      </a:solidFill>
                      <a:prstDash val="dot"/>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dot"/>
                      <a:round/>
                      <a:headEnd type="none" w="sm" len="sm"/>
                      <a:tailEnd type="none" w="sm" len="sm"/>
                    </a:lnT>
                    <a:lnB w="12700" cap="flat" cmpd="sng">
                      <a:solidFill>
                        <a:srgbClr val="000000"/>
                      </a:solidFill>
                      <a:prstDash val="solid"/>
                      <a:round/>
                      <a:headEnd type="none" w="sm" len="sm"/>
                      <a:tailEnd type="none" w="sm" len="sm"/>
                    </a:lnB>
                    <a:solidFill>
                      <a:srgbClr val="F4CCCC"/>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91"/>
        <p:cNvGrpSpPr/>
        <p:nvPr/>
      </p:nvGrpSpPr>
      <p:grpSpPr>
        <a:xfrm>
          <a:off x="0" y="0"/>
          <a:ext cx="0" cy="0"/>
          <a:chOff x="0" y="0"/>
          <a:chExt cx="0" cy="0"/>
        </a:xfrm>
      </p:grpSpPr>
      <p:sp>
        <p:nvSpPr>
          <p:cNvPr id="192" name="Google Shape;192;p36"/>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93" name="Google Shape;193;p36" descr="preencoded.png"/>
          <p:cNvPicPr preferRelativeResize="0"/>
          <p:nvPr/>
        </p:nvPicPr>
        <p:blipFill rotWithShape="1">
          <a:blip r:embed="rId3">
            <a:alphaModFix/>
          </a:blip>
          <a:srcRect/>
          <a:stretch/>
        </p:blipFill>
        <p:spPr>
          <a:xfrm>
            <a:off x="365760" y="274320"/>
            <a:ext cx="274320" cy="274320"/>
          </a:xfrm>
          <a:prstGeom prst="rect">
            <a:avLst/>
          </a:prstGeom>
          <a:noFill/>
          <a:ln>
            <a:noFill/>
          </a:ln>
        </p:spPr>
      </p:pic>
      <p:sp>
        <p:nvSpPr>
          <p:cNvPr id="194" name="Google Shape;194;p36"/>
          <p:cNvSpPr/>
          <p:nvPr/>
        </p:nvSpPr>
        <p:spPr>
          <a:xfrm>
            <a:off x="731520" y="2011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i="0" u="none" strike="noStrike" cap="none">
                <a:solidFill>
                  <a:srgbClr val="0E4174"/>
                </a:solidFill>
                <a:latin typeface="Lexend"/>
                <a:ea typeface="Lexend"/>
                <a:cs typeface="Lexend"/>
                <a:sym typeface="Lexend"/>
              </a:rPr>
              <a:t>Retention </a:t>
            </a:r>
            <a:r>
              <a:rPr lang="en" sz="2200" b="1">
                <a:solidFill>
                  <a:srgbClr val="0E4174"/>
                </a:solidFill>
                <a:latin typeface="Lexend"/>
                <a:ea typeface="Lexend"/>
                <a:cs typeface="Lexend"/>
                <a:sym typeface="Lexend"/>
              </a:rPr>
              <a:t>Rate - </a:t>
            </a:r>
            <a:r>
              <a:rPr lang="en" sz="2200" b="1">
                <a:solidFill>
                  <a:srgbClr val="F56C1F"/>
                </a:solidFill>
                <a:latin typeface="Lexend"/>
                <a:ea typeface="Lexend"/>
                <a:cs typeface="Lexend"/>
                <a:sym typeface="Lexend"/>
              </a:rPr>
              <a:t>SGN</a:t>
            </a:r>
            <a:endParaRPr sz="2200" b="1" i="0" u="none" strike="noStrike" cap="none">
              <a:solidFill>
                <a:srgbClr val="F56C1F"/>
              </a:solidFill>
              <a:latin typeface="Lexend"/>
              <a:ea typeface="Lexend"/>
              <a:cs typeface="Lexend"/>
              <a:sym typeface="Lexend"/>
            </a:endParaRPr>
          </a:p>
        </p:txBody>
      </p:sp>
      <p:sp>
        <p:nvSpPr>
          <p:cNvPr id="195" name="Google Shape;195;p36"/>
          <p:cNvSpPr/>
          <p:nvPr/>
        </p:nvSpPr>
        <p:spPr>
          <a:xfrm>
            <a:off x="731520" y="594360"/>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 sz="1000" i="1" u="none" strike="noStrike" cap="none">
                <a:solidFill>
                  <a:srgbClr val="64748B"/>
                </a:solidFill>
                <a:latin typeface="Lexend"/>
                <a:ea typeface="Lexend"/>
                <a:cs typeface="Lexend"/>
                <a:sym typeface="Lexend"/>
              </a:rPr>
              <a:t>Tỷ lệ giữ chân tài xế</a:t>
            </a:r>
            <a:r>
              <a:rPr lang="en" sz="1000" i="1">
                <a:solidFill>
                  <a:srgbClr val="64748B"/>
                </a:solidFill>
                <a:latin typeface="Lexend"/>
                <a:ea typeface="Lexend"/>
                <a:cs typeface="Lexend"/>
                <a:sym typeface="Lexend"/>
              </a:rPr>
              <a:t> &gt;=22t </a:t>
            </a:r>
            <a:r>
              <a:rPr lang="en" sz="1000" i="1" u="none" strike="noStrike" cap="none">
                <a:solidFill>
                  <a:srgbClr val="64748B"/>
                </a:solidFill>
                <a:latin typeface="Lexend"/>
                <a:ea typeface="Lexend"/>
                <a:cs typeface="Lexend"/>
                <a:sym typeface="Lexend"/>
              </a:rPr>
              <a:t>— Bóc tách biến động theo thời điểm &amp; segment</a:t>
            </a:r>
            <a:endParaRPr sz="1000" i="0" u="none" strike="noStrike" cap="none">
              <a:solidFill>
                <a:schemeClr val="dk1"/>
              </a:solidFill>
              <a:latin typeface="Lexend"/>
              <a:ea typeface="Lexend"/>
              <a:cs typeface="Lexend"/>
              <a:sym typeface="Lexend"/>
            </a:endParaRPr>
          </a:p>
        </p:txBody>
      </p:sp>
      <p:cxnSp>
        <p:nvCxnSpPr>
          <p:cNvPr id="196" name="Google Shape;196;p36"/>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197" name="Google Shape;197;p36"/>
          <p:cNvSpPr/>
          <p:nvPr/>
        </p:nvSpPr>
        <p:spPr>
          <a:xfrm>
            <a:off x="365760" y="933195"/>
            <a:ext cx="4846200" cy="22860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36"/>
          <p:cNvSpPr/>
          <p:nvPr/>
        </p:nvSpPr>
        <p:spPr>
          <a:xfrm>
            <a:off x="365750" y="3354250"/>
            <a:ext cx="8412600" cy="17208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36"/>
          <p:cNvSpPr/>
          <p:nvPr/>
        </p:nvSpPr>
        <p:spPr>
          <a:xfrm>
            <a:off x="365750" y="3439441"/>
            <a:ext cx="54900" cy="1635600"/>
          </a:xfrm>
          <a:prstGeom prst="rect">
            <a:avLst/>
          </a:prstGeom>
          <a:solidFill>
            <a:srgbClr val="EF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36"/>
          <p:cNvSpPr/>
          <p:nvPr/>
        </p:nvSpPr>
        <p:spPr>
          <a:xfrm>
            <a:off x="528450" y="3468425"/>
            <a:ext cx="8066700" cy="1579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1B2A4A"/>
              </a:buClr>
              <a:buSzPts val="897"/>
              <a:buFont typeface="Cambria"/>
              <a:buNone/>
            </a:pPr>
            <a:r>
              <a:rPr lang="en" sz="900" b="1">
                <a:solidFill>
                  <a:srgbClr val="1B2A4A"/>
                </a:solidFill>
                <a:latin typeface="Montserrat"/>
                <a:ea typeface="Montserrat"/>
                <a:cs typeface="Montserrat"/>
                <a:sym typeface="Montserrat"/>
              </a:rPr>
              <a:t>- Insight</a:t>
            </a:r>
            <a:endParaRPr sz="900" b="1">
              <a:solidFill>
                <a:srgbClr val="1B2A4A"/>
              </a:solidFill>
              <a:latin typeface="Montserrat"/>
              <a:ea typeface="Montserrat"/>
              <a:cs typeface="Montserrat"/>
              <a:sym typeface="Montserrat"/>
            </a:endParaRPr>
          </a:p>
          <a:p>
            <a:pPr marL="0" lvl="0" indent="0" algn="l" rtl="0">
              <a:spcBef>
                <a:spcPts val="0"/>
              </a:spcBef>
              <a:spcAft>
                <a:spcPts val="0"/>
              </a:spcAft>
              <a:buClr>
                <a:srgbClr val="1B2A4A"/>
              </a:buClr>
              <a:buSzPts val="897"/>
              <a:buFont typeface="Cambria"/>
              <a:buNone/>
            </a:pPr>
            <a:r>
              <a:rPr lang="en" sz="900">
                <a:solidFill>
                  <a:srgbClr val="1B2A4A"/>
                </a:solidFill>
                <a:latin typeface="Montserrat"/>
                <a:ea typeface="Montserrat"/>
                <a:cs typeface="Montserrat"/>
                <a:sym typeface="Montserrat"/>
              </a:rPr>
              <a:t>+ SGN vẫn hụt MoM, YoY (1% - 1.9%) do hụt mạnh RR từ nhóm NLM -&gt; Nhóm NLM có performance tệ khi tài xế chỉ active để ra DFD sau đó churn luôn</a:t>
            </a:r>
            <a:endParaRPr sz="900">
              <a:solidFill>
                <a:srgbClr val="1B2A4A"/>
              </a:solidFill>
              <a:latin typeface="Montserrat"/>
              <a:ea typeface="Montserrat"/>
              <a:cs typeface="Montserrat"/>
              <a:sym typeface="Montserrat"/>
            </a:endParaRPr>
          </a:p>
          <a:p>
            <a:pPr marL="0" lvl="0" indent="0" algn="l" rtl="0">
              <a:spcBef>
                <a:spcPts val="0"/>
              </a:spcBef>
              <a:spcAft>
                <a:spcPts val="0"/>
              </a:spcAft>
              <a:buClr>
                <a:srgbClr val="1B2A4A"/>
              </a:buClr>
              <a:buSzPts val="897"/>
              <a:buFont typeface="Cambria"/>
              <a:buNone/>
            </a:pPr>
            <a:r>
              <a:rPr lang="en" sz="900">
                <a:solidFill>
                  <a:srgbClr val="1B2A4A"/>
                </a:solidFill>
                <a:latin typeface="Montserrat"/>
                <a:ea typeface="Montserrat"/>
                <a:cs typeface="Montserrat"/>
                <a:sym typeface="Montserrat"/>
              </a:rPr>
              <a:t>+ Có khảo sát nhóm NIM M8 tại SGN (đánh giá perf nhóm tx mới tác động đến nhóm NLM sau 30d) thì đã có 18% tài xế churn sau khi có DFD (312/1770)</a:t>
            </a:r>
            <a:endParaRPr sz="900">
              <a:solidFill>
                <a:srgbClr val="1B2A4A"/>
              </a:solidFill>
              <a:latin typeface="Montserrat"/>
              <a:ea typeface="Montserrat"/>
              <a:cs typeface="Montserrat"/>
              <a:sym typeface="Montserrat"/>
            </a:endParaRPr>
          </a:p>
          <a:p>
            <a:pPr marL="0" lvl="0" indent="0" algn="l" rtl="0">
              <a:spcBef>
                <a:spcPts val="0"/>
              </a:spcBef>
              <a:spcAft>
                <a:spcPts val="0"/>
              </a:spcAft>
              <a:buClr>
                <a:srgbClr val="1B2A4A"/>
              </a:buClr>
              <a:buSzPts val="897"/>
              <a:buFont typeface="Cambria"/>
              <a:buNone/>
            </a:pPr>
            <a:endParaRPr sz="900">
              <a:solidFill>
                <a:srgbClr val="1B2A4A"/>
              </a:solidFill>
              <a:latin typeface="Montserrat"/>
              <a:ea typeface="Montserrat"/>
              <a:cs typeface="Montserrat"/>
              <a:sym typeface="Montserrat"/>
            </a:endParaRPr>
          </a:p>
          <a:p>
            <a:pPr marL="0" lvl="0" indent="0" algn="l" rtl="0">
              <a:spcBef>
                <a:spcPts val="0"/>
              </a:spcBef>
              <a:spcAft>
                <a:spcPts val="0"/>
              </a:spcAft>
              <a:buNone/>
            </a:pPr>
            <a:r>
              <a:rPr lang="en" sz="900">
                <a:solidFill>
                  <a:srgbClr val="1B2A4A"/>
                </a:solidFill>
                <a:latin typeface="Montserrat"/>
                <a:ea typeface="Montserrat"/>
                <a:cs typeface="Montserrat"/>
                <a:sym typeface="Montserrat"/>
              </a:rPr>
              <a:t>=&gt; Cần work với GR đánh giá lại lead tx tuyển dụng để đảm bảo RR cho NLM</a:t>
            </a:r>
            <a:endParaRPr sz="900">
              <a:solidFill>
                <a:srgbClr val="1B2A4A"/>
              </a:solidFill>
              <a:latin typeface="Montserrat"/>
              <a:ea typeface="Montserrat"/>
              <a:cs typeface="Montserrat"/>
              <a:sym typeface="Montserrat"/>
            </a:endParaRPr>
          </a:p>
          <a:p>
            <a:pPr marL="0" lvl="0" indent="0" algn="l" rtl="0">
              <a:spcBef>
                <a:spcPts val="0"/>
              </a:spcBef>
              <a:spcAft>
                <a:spcPts val="0"/>
              </a:spcAft>
              <a:buNone/>
            </a:pPr>
            <a:r>
              <a:rPr lang="en" sz="900">
                <a:solidFill>
                  <a:srgbClr val="1B2A4A"/>
                </a:solidFill>
                <a:latin typeface="Montserrat"/>
                <a:ea typeface="Montserrat"/>
                <a:cs typeface="Montserrat"/>
                <a:sym typeface="Montserrat"/>
              </a:rPr>
              <a:t>- Next action:</a:t>
            </a:r>
            <a:endParaRPr sz="900">
              <a:solidFill>
                <a:srgbClr val="1B2A4A"/>
              </a:solidFill>
              <a:latin typeface="Montserrat"/>
              <a:ea typeface="Montserrat"/>
              <a:cs typeface="Montserrat"/>
              <a:sym typeface="Montserrat"/>
            </a:endParaRPr>
          </a:p>
          <a:p>
            <a:pPr marL="0" lvl="0" indent="0" algn="l" rtl="0">
              <a:spcBef>
                <a:spcPts val="0"/>
              </a:spcBef>
              <a:spcAft>
                <a:spcPts val="0"/>
              </a:spcAft>
              <a:buNone/>
            </a:pPr>
            <a:r>
              <a:rPr lang="en" sz="900">
                <a:solidFill>
                  <a:srgbClr val="1B2A4A"/>
                </a:solidFill>
                <a:latin typeface="Montserrat"/>
                <a:ea typeface="Montserrat"/>
                <a:cs typeface="Montserrat"/>
                <a:sym typeface="Montserrat"/>
              </a:rPr>
              <a:t>+ DM GR cần take care tài xế ở giai đoạn D3 - D7 - D14 để đảm bảo RR</a:t>
            </a:r>
            <a:endParaRPr sz="900">
              <a:solidFill>
                <a:srgbClr val="1B2A4A"/>
              </a:solidFill>
              <a:latin typeface="Montserrat"/>
              <a:ea typeface="Montserrat"/>
              <a:cs typeface="Montserrat"/>
              <a:sym typeface="Montserrat"/>
            </a:endParaRPr>
          </a:p>
          <a:p>
            <a:pPr marL="0" lvl="0" indent="0" algn="l" rtl="0">
              <a:spcBef>
                <a:spcPts val="0"/>
              </a:spcBef>
              <a:spcAft>
                <a:spcPts val="0"/>
              </a:spcAft>
              <a:buNone/>
            </a:pPr>
            <a:r>
              <a:rPr lang="en" sz="900">
                <a:solidFill>
                  <a:srgbClr val="1B2A4A"/>
                </a:solidFill>
                <a:latin typeface="Montserrat"/>
                <a:ea typeface="Montserrat"/>
                <a:cs typeface="Montserrat"/>
                <a:sym typeface="Montserrat"/>
              </a:rPr>
              <a:t>+ Triển khai mô hình city zone cho nhóm NIM (có ctt ĐBTN)</a:t>
            </a:r>
            <a:endParaRPr sz="900">
              <a:solidFill>
                <a:srgbClr val="1B2A4A"/>
              </a:solidFill>
              <a:latin typeface="Montserrat"/>
              <a:ea typeface="Montserrat"/>
              <a:cs typeface="Montserrat"/>
              <a:sym typeface="Montserrat"/>
            </a:endParaRPr>
          </a:p>
          <a:p>
            <a:pPr marL="0" marR="0" lvl="0" indent="0" algn="l" rtl="0">
              <a:spcBef>
                <a:spcPts val="300"/>
              </a:spcBef>
              <a:spcAft>
                <a:spcPts val="0"/>
              </a:spcAft>
              <a:buNone/>
            </a:pPr>
            <a:endParaRPr sz="900">
              <a:solidFill>
                <a:srgbClr val="1E293B"/>
              </a:solidFill>
              <a:latin typeface="Lexend"/>
              <a:ea typeface="Lexend"/>
              <a:cs typeface="Lexend"/>
              <a:sym typeface="Lexend"/>
            </a:endParaRPr>
          </a:p>
        </p:txBody>
      </p:sp>
      <p:sp>
        <p:nvSpPr>
          <p:cNvPr id="201" name="Google Shape;201;p36"/>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pic>
        <p:nvPicPr>
          <p:cNvPr id="202" name="Google Shape;202;p36" title="Biểu đồ"/>
          <p:cNvPicPr preferRelativeResize="0"/>
          <p:nvPr/>
        </p:nvPicPr>
        <p:blipFill>
          <a:blip r:embed="rId4">
            <a:alphaModFix/>
          </a:blip>
          <a:stretch>
            <a:fillRect/>
          </a:stretch>
        </p:blipFill>
        <p:spPr>
          <a:xfrm>
            <a:off x="367725" y="933185"/>
            <a:ext cx="4846198" cy="2356574"/>
          </a:xfrm>
          <a:prstGeom prst="rect">
            <a:avLst/>
          </a:prstGeom>
          <a:solidFill>
            <a:srgbClr val="FFFFFF"/>
          </a:solidFill>
          <a:ln w="9525" cap="flat" cmpd="sng">
            <a:solidFill>
              <a:srgbClr val="E2E8F0"/>
            </a:solidFill>
            <a:prstDash val="solid"/>
            <a:round/>
            <a:headEnd type="none" w="sm" len="sm"/>
            <a:tailEnd type="none" w="sm" len="sm"/>
          </a:ln>
        </p:spPr>
      </p:pic>
      <p:cxnSp>
        <p:nvCxnSpPr>
          <p:cNvPr id="203" name="Google Shape;203;p36"/>
          <p:cNvCxnSpPr/>
          <p:nvPr/>
        </p:nvCxnSpPr>
        <p:spPr>
          <a:xfrm flipH="1">
            <a:off x="4878200" y="1236001"/>
            <a:ext cx="7500" cy="1865100"/>
          </a:xfrm>
          <a:prstGeom prst="straightConnector1">
            <a:avLst/>
          </a:prstGeom>
          <a:noFill/>
          <a:ln w="9525" cap="flat" cmpd="sng">
            <a:solidFill>
              <a:schemeClr val="dk2"/>
            </a:solidFill>
            <a:prstDash val="dot"/>
            <a:round/>
            <a:headEnd type="none" w="med" len="med"/>
            <a:tailEnd type="none" w="med" len="med"/>
          </a:ln>
        </p:spPr>
      </p:cxnSp>
      <p:sp>
        <p:nvSpPr>
          <p:cNvPr id="204" name="Google Shape;204;p36"/>
          <p:cNvSpPr/>
          <p:nvPr/>
        </p:nvSpPr>
        <p:spPr>
          <a:xfrm>
            <a:off x="4015324" y="1758067"/>
            <a:ext cx="599100" cy="373200"/>
          </a:xfrm>
          <a:prstGeom prst="wedgeRoundRectCallout">
            <a:avLst>
              <a:gd name="adj1" fmla="val 77446"/>
              <a:gd name="adj2" fmla="val -111011"/>
              <a:gd name="adj3" fmla="val 0"/>
            </a:avLst>
          </a:prstGeom>
          <a:solidFill>
            <a:srgbClr val="63A7FF">
              <a:alpha val="49380"/>
            </a:srgbClr>
          </a:solidFill>
          <a:ln w="7000" cap="flat" cmpd="sng">
            <a:solidFill>
              <a:srgbClr val="D2E0F9"/>
            </a:solidFill>
            <a:prstDash val="solid"/>
            <a:round/>
            <a:headEnd type="none" w="sm" len="sm"/>
            <a:tailEnd type="none" w="sm" len="sm"/>
          </a:ln>
        </p:spPr>
        <p:txBody>
          <a:bodyPr spcFirstLastPara="1" wrap="square" lIns="67125" tIns="67125" rIns="67125" bIns="67125" anchor="ctr" anchorCtr="0">
            <a:noAutofit/>
          </a:bodyPr>
          <a:lstStyle/>
          <a:p>
            <a:pPr marL="0" lvl="0" indent="0" algn="ctr" rtl="0">
              <a:lnSpc>
                <a:spcPct val="115000"/>
              </a:lnSpc>
              <a:spcBef>
                <a:spcPts val="0"/>
              </a:spcBef>
              <a:spcAft>
                <a:spcPts val="0"/>
              </a:spcAft>
              <a:buNone/>
            </a:pPr>
            <a:r>
              <a:rPr lang="en" sz="867" b="1">
                <a:solidFill>
                  <a:srgbClr val="0B8043"/>
                </a:solidFill>
                <a:latin typeface="Lexend"/>
                <a:ea typeface="Lexend"/>
                <a:cs typeface="Lexend"/>
                <a:sym typeface="Lexend"/>
              </a:rPr>
              <a:t>79.24%</a:t>
            </a:r>
            <a:endParaRPr sz="867" b="1">
              <a:solidFill>
                <a:srgbClr val="0B8043"/>
              </a:solidFill>
              <a:latin typeface="Lexend"/>
              <a:ea typeface="Lexend"/>
              <a:cs typeface="Lexend"/>
              <a:sym typeface="Lexend"/>
            </a:endParaRPr>
          </a:p>
          <a:p>
            <a:pPr marL="0" lvl="0" indent="0" algn="ctr" rtl="0">
              <a:lnSpc>
                <a:spcPct val="115000"/>
              </a:lnSpc>
              <a:spcBef>
                <a:spcPts val="0"/>
              </a:spcBef>
              <a:spcAft>
                <a:spcPts val="0"/>
              </a:spcAft>
              <a:buNone/>
            </a:pPr>
            <a:r>
              <a:rPr lang="en" sz="567">
                <a:solidFill>
                  <a:srgbClr val="EF4444"/>
                </a:solidFill>
                <a:latin typeface="Lexend"/>
                <a:ea typeface="Lexend"/>
                <a:cs typeface="Lexend"/>
                <a:sym typeface="Lexend"/>
              </a:rPr>
              <a:t>-1.9% MoM</a:t>
            </a:r>
            <a:endParaRPr sz="567">
              <a:solidFill>
                <a:srgbClr val="EF4444"/>
              </a:solidFill>
              <a:latin typeface="Lexend"/>
              <a:ea typeface="Lexend"/>
              <a:cs typeface="Lexend"/>
              <a:sym typeface="Lexend"/>
            </a:endParaRPr>
          </a:p>
          <a:p>
            <a:pPr marL="0" lvl="0" indent="0" algn="ctr" rtl="0">
              <a:lnSpc>
                <a:spcPct val="115000"/>
              </a:lnSpc>
              <a:spcBef>
                <a:spcPts val="0"/>
              </a:spcBef>
              <a:spcAft>
                <a:spcPts val="0"/>
              </a:spcAft>
              <a:buNone/>
            </a:pPr>
            <a:r>
              <a:rPr lang="en" sz="567">
                <a:solidFill>
                  <a:srgbClr val="EF4444"/>
                </a:solidFill>
                <a:latin typeface="Lexend"/>
                <a:ea typeface="Lexend"/>
                <a:cs typeface="Lexend"/>
                <a:sym typeface="Lexend"/>
              </a:rPr>
              <a:t>-0.8% YoY</a:t>
            </a:r>
            <a:endParaRPr sz="567">
              <a:solidFill>
                <a:srgbClr val="EF4444"/>
              </a:solidFill>
              <a:latin typeface="Lexend"/>
              <a:ea typeface="Lexend"/>
              <a:cs typeface="Lexend"/>
              <a:sym typeface="Lexend"/>
            </a:endParaRPr>
          </a:p>
        </p:txBody>
      </p:sp>
      <p:graphicFrame>
        <p:nvGraphicFramePr>
          <p:cNvPr id="205" name="Google Shape;205;p36"/>
          <p:cNvGraphicFramePr/>
          <p:nvPr/>
        </p:nvGraphicFramePr>
        <p:xfrm>
          <a:off x="5332000" y="933185"/>
          <a:ext cx="3000000" cy="3000000"/>
        </p:xfrm>
        <a:graphic>
          <a:graphicData uri="http://schemas.openxmlformats.org/drawingml/2006/table">
            <a:tbl>
              <a:tblPr>
                <a:noFill/>
                <a:tableStyleId>{98498B5D-82F5-4DDD-BB04-C168985C330A}</a:tableStyleId>
              </a:tblPr>
              <a:tblGrid>
                <a:gridCol w="826250">
                  <a:extLst>
                    <a:ext uri="{9D8B030D-6E8A-4147-A177-3AD203B41FA5}">
                      <a16:colId xmlns:a16="http://schemas.microsoft.com/office/drawing/2014/main" val="20000"/>
                    </a:ext>
                  </a:extLst>
                </a:gridCol>
                <a:gridCol w="577800">
                  <a:extLst>
                    <a:ext uri="{9D8B030D-6E8A-4147-A177-3AD203B41FA5}">
                      <a16:colId xmlns:a16="http://schemas.microsoft.com/office/drawing/2014/main" val="20001"/>
                    </a:ext>
                  </a:extLst>
                </a:gridCol>
                <a:gridCol w="577800">
                  <a:extLst>
                    <a:ext uri="{9D8B030D-6E8A-4147-A177-3AD203B41FA5}">
                      <a16:colId xmlns:a16="http://schemas.microsoft.com/office/drawing/2014/main" val="20002"/>
                    </a:ext>
                  </a:extLst>
                </a:gridCol>
                <a:gridCol w="577800">
                  <a:extLst>
                    <a:ext uri="{9D8B030D-6E8A-4147-A177-3AD203B41FA5}">
                      <a16:colId xmlns:a16="http://schemas.microsoft.com/office/drawing/2014/main" val="20003"/>
                    </a:ext>
                  </a:extLst>
                </a:gridCol>
                <a:gridCol w="577800">
                  <a:extLst>
                    <a:ext uri="{9D8B030D-6E8A-4147-A177-3AD203B41FA5}">
                      <a16:colId xmlns:a16="http://schemas.microsoft.com/office/drawing/2014/main" val="20004"/>
                    </a:ext>
                  </a:extLst>
                </a:gridCol>
                <a:gridCol w="577800">
                  <a:extLst>
                    <a:ext uri="{9D8B030D-6E8A-4147-A177-3AD203B41FA5}">
                      <a16:colId xmlns:a16="http://schemas.microsoft.com/office/drawing/2014/main" val="20005"/>
                    </a:ext>
                  </a:extLst>
                </a:gridCol>
              </a:tblGrid>
              <a:tr h="342900">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Segment</a:t>
                      </a:r>
                      <a:endParaRPr sz="900" b="1">
                        <a:solidFill>
                          <a:srgbClr val="FFFFFF"/>
                        </a:solidFill>
                        <a:latin typeface="Lexend"/>
                        <a:ea typeface="Lexend"/>
                        <a:cs typeface="Lexend"/>
                        <a:sym typeface="Lexend"/>
                      </a:endParaRPr>
                    </a:p>
                  </a:txBody>
                  <a:tcPr marL="28575" marR="28575" marT="19050" marB="190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Segment driver</a:t>
                      </a:r>
                      <a:endParaRPr sz="900" b="1">
                        <a:solidFill>
                          <a:srgbClr val="FFFFFF"/>
                        </a:solidFill>
                        <a:latin typeface="Lexend"/>
                        <a:ea typeface="Lexend"/>
                        <a:cs typeface="Lexend"/>
                        <a:sym typeface="Lexend"/>
                      </a:endParaRPr>
                    </a:p>
                  </a:txBody>
                  <a:tcPr marL="28575" marR="28575" marT="19050" marB="190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Active driver</a:t>
                      </a:r>
                      <a:endParaRPr sz="900" b="1">
                        <a:solidFill>
                          <a:srgbClr val="FFFFFF"/>
                        </a:solidFill>
                        <a:latin typeface="Lexend"/>
                        <a:ea typeface="Lexend"/>
                        <a:cs typeface="Lexend"/>
                        <a:sym typeface="Lexend"/>
                      </a:endParaRPr>
                    </a:p>
                  </a:txBody>
                  <a:tcPr marL="28575" marR="28575" marT="19050" marB="190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RR_this month</a:t>
                      </a:r>
                      <a:endParaRPr sz="900" b="1">
                        <a:solidFill>
                          <a:srgbClr val="FFFFFF"/>
                        </a:solidFill>
                        <a:latin typeface="Lexend"/>
                        <a:ea typeface="Lexend"/>
                        <a:cs typeface="Lexend"/>
                        <a:sym typeface="Lexend"/>
                      </a:endParaRPr>
                    </a:p>
                  </a:txBody>
                  <a:tcPr marL="28575" marR="28575" marT="19050" marB="190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MoM</a:t>
                      </a:r>
                      <a:endParaRPr sz="900" b="1">
                        <a:solidFill>
                          <a:srgbClr val="FFFFFF"/>
                        </a:solidFill>
                        <a:latin typeface="Lexend"/>
                        <a:ea typeface="Lexend"/>
                        <a:cs typeface="Lexend"/>
                        <a:sym typeface="Lexend"/>
                      </a:endParaRPr>
                    </a:p>
                  </a:txBody>
                  <a:tcPr marL="28575" marR="28575" marT="19050" marB="190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6D01"/>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YoY</a:t>
                      </a:r>
                      <a:endParaRPr sz="900" b="1">
                        <a:solidFill>
                          <a:srgbClr val="FFFFFF"/>
                        </a:solidFill>
                        <a:latin typeface="Lexend"/>
                        <a:ea typeface="Lexend"/>
                        <a:cs typeface="Lexend"/>
                        <a:sym typeface="Lexend"/>
                      </a:endParaRPr>
                    </a:p>
                  </a:txBody>
                  <a:tcPr marL="28575" marR="28575" marT="19050" marB="190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6D01"/>
                    </a:solidFill>
                  </a:tcPr>
                </a:tc>
                <a:extLst>
                  <a:ext uri="{0D108BD9-81ED-4DB2-BD59-A6C34878D82A}">
                    <a16:rowId xmlns:a16="http://schemas.microsoft.com/office/drawing/2014/main" val="10000"/>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FT</a:t>
                      </a:r>
                      <a:endParaRPr sz="900">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3,272</a:t>
                      </a:r>
                      <a:endParaRPr sz="900">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3,166</a:t>
                      </a:r>
                      <a:endParaRPr sz="900">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96.76%</a:t>
                      </a:r>
                      <a:endParaRPr sz="900">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rgbClr val="FF0000"/>
                          </a:solidFill>
                          <a:latin typeface="Lexend"/>
                          <a:ea typeface="Lexend"/>
                          <a:cs typeface="Lexend"/>
                          <a:sym typeface="Lexend"/>
                        </a:rPr>
                        <a:t>-0.69%</a:t>
                      </a:r>
                      <a:endParaRPr sz="900">
                        <a:solidFill>
                          <a:srgbClr val="FF0000"/>
                        </a:solidFill>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rgbClr val="008000"/>
                          </a:solidFill>
                          <a:latin typeface="Lexend"/>
                          <a:ea typeface="Lexend"/>
                          <a:cs typeface="Lexend"/>
                          <a:sym typeface="Lexend"/>
                        </a:rPr>
                        <a:t>0.01%</a:t>
                      </a:r>
                      <a:endParaRPr sz="900">
                        <a:solidFill>
                          <a:srgbClr val="008000"/>
                        </a:solidFill>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PT</a:t>
                      </a:r>
                      <a:endParaRPr sz="900">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9,936</a:t>
                      </a:r>
                      <a:endParaRPr sz="900">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7,303</a:t>
                      </a:r>
                      <a:endParaRPr sz="900">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73.50%</a:t>
                      </a:r>
                      <a:endParaRPr sz="900">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rgbClr val="EA4335"/>
                          </a:solidFill>
                          <a:latin typeface="Lexend"/>
                          <a:ea typeface="Lexend"/>
                          <a:cs typeface="Lexend"/>
                          <a:sym typeface="Lexend"/>
                        </a:rPr>
                        <a:t>-3.08%</a:t>
                      </a:r>
                      <a:endParaRPr sz="900">
                        <a:solidFill>
                          <a:srgbClr val="EA4335"/>
                        </a:solidFill>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rgbClr val="EA4335"/>
                          </a:solidFill>
                          <a:latin typeface="Lexend"/>
                          <a:ea typeface="Lexend"/>
                          <a:cs typeface="Lexend"/>
                          <a:sym typeface="Lexend"/>
                        </a:rPr>
                        <a:t>-1.10%</a:t>
                      </a:r>
                      <a:endParaRPr sz="900">
                        <a:solidFill>
                          <a:srgbClr val="EA4335"/>
                        </a:solidFill>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NLM</a:t>
                      </a:r>
                      <a:endParaRPr sz="900">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2,060</a:t>
                      </a:r>
                      <a:endParaRPr sz="900">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1,437</a:t>
                      </a:r>
                      <a:endParaRPr sz="900">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69.76%</a:t>
                      </a:r>
                      <a:endParaRPr sz="900">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rgbClr val="EA4335"/>
                          </a:solidFill>
                          <a:latin typeface="Lexend"/>
                          <a:ea typeface="Lexend"/>
                          <a:cs typeface="Lexend"/>
                          <a:sym typeface="Lexend"/>
                        </a:rPr>
                        <a:t>-3.94%</a:t>
                      </a:r>
                      <a:endParaRPr sz="900">
                        <a:solidFill>
                          <a:srgbClr val="EA4335"/>
                        </a:solidFill>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rgbClr val="EA4335"/>
                          </a:solidFill>
                          <a:latin typeface="Lexend"/>
                          <a:ea typeface="Lexend"/>
                          <a:cs typeface="Lexend"/>
                          <a:sym typeface="Lexend"/>
                        </a:rPr>
                        <a:t>-4.38%</a:t>
                      </a:r>
                      <a:endParaRPr sz="900">
                        <a:solidFill>
                          <a:srgbClr val="EA4335"/>
                        </a:solidFill>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7"/>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11" name="Google Shape;211;p37" descr="preencoded.png"/>
          <p:cNvPicPr preferRelativeResize="0"/>
          <p:nvPr/>
        </p:nvPicPr>
        <p:blipFill rotWithShape="1">
          <a:blip r:embed="rId3">
            <a:alphaModFix/>
          </a:blip>
          <a:srcRect/>
          <a:stretch/>
        </p:blipFill>
        <p:spPr>
          <a:xfrm>
            <a:off x="365710" y="152533"/>
            <a:ext cx="274320" cy="274320"/>
          </a:xfrm>
          <a:prstGeom prst="rect">
            <a:avLst/>
          </a:prstGeom>
          <a:noFill/>
          <a:ln>
            <a:noFill/>
          </a:ln>
        </p:spPr>
      </p:pic>
      <p:sp>
        <p:nvSpPr>
          <p:cNvPr id="212" name="Google Shape;212;p37"/>
          <p:cNvSpPr/>
          <p:nvPr/>
        </p:nvSpPr>
        <p:spPr>
          <a:xfrm>
            <a:off x="731470" y="79380"/>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a:solidFill>
                  <a:srgbClr val="0E4174"/>
                </a:solidFill>
                <a:latin typeface="Lexend"/>
                <a:ea typeface="Lexend"/>
                <a:cs typeface="Lexend"/>
                <a:sym typeface="Lexend"/>
              </a:rPr>
              <a:t>Supply Hours</a:t>
            </a:r>
            <a:endParaRPr sz="2200" b="1" i="0" u="none" strike="noStrike" cap="none">
              <a:solidFill>
                <a:srgbClr val="F56C1F"/>
              </a:solidFill>
              <a:latin typeface="Lexend"/>
              <a:ea typeface="Lexend"/>
              <a:cs typeface="Lexend"/>
              <a:sym typeface="Lexend"/>
            </a:endParaRPr>
          </a:p>
        </p:txBody>
      </p:sp>
      <p:sp>
        <p:nvSpPr>
          <p:cNvPr id="213" name="Google Shape;213;p37"/>
          <p:cNvSpPr/>
          <p:nvPr/>
        </p:nvSpPr>
        <p:spPr>
          <a:xfrm>
            <a:off x="731470" y="472573"/>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 sz="1000" i="1">
                <a:solidFill>
                  <a:srgbClr val="64748B"/>
                </a:solidFill>
                <a:latin typeface="Lexend"/>
                <a:ea typeface="Lexend"/>
                <a:cs typeface="Lexend"/>
                <a:sym typeface="Lexend"/>
              </a:rPr>
              <a:t>Thời gian hoạt động của tài xế</a:t>
            </a:r>
            <a:endParaRPr sz="1000" i="0" u="none" strike="noStrike" cap="none">
              <a:solidFill>
                <a:schemeClr val="dk1"/>
              </a:solidFill>
              <a:latin typeface="Lexend"/>
              <a:ea typeface="Lexend"/>
              <a:cs typeface="Lexend"/>
              <a:sym typeface="Lexend"/>
            </a:endParaRPr>
          </a:p>
        </p:txBody>
      </p:sp>
      <p:cxnSp>
        <p:nvCxnSpPr>
          <p:cNvPr id="214" name="Google Shape;214;p37"/>
          <p:cNvCxnSpPr/>
          <p:nvPr/>
        </p:nvCxnSpPr>
        <p:spPr>
          <a:xfrm>
            <a:off x="365710" y="746893"/>
            <a:ext cx="8412600" cy="0"/>
          </a:xfrm>
          <a:prstGeom prst="straightConnector1">
            <a:avLst/>
          </a:prstGeom>
          <a:noFill/>
          <a:ln w="9525" cap="flat" cmpd="sng">
            <a:solidFill>
              <a:srgbClr val="E2E8F0"/>
            </a:solidFill>
            <a:prstDash val="solid"/>
            <a:round/>
            <a:headEnd type="none" w="sm" len="sm"/>
            <a:tailEnd type="none" w="sm" len="sm"/>
          </a:ln>
        </p:spPr>
      </p:cxnSp>
      <p:sp>
        <p:nvSpPr>
          <p:cNvPr id="215" name="Google Shape;215;p37"/>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sp>
        <p:nvSpPr>
          <p:cNvPr id="216" name="Google Shape;216;p37"/>
          <p:cNvSpPr/>
          <p:nvPr/>
        </p:nvSpPr>
        <p:spPr>
          <a:xfrm>
            <a:off x="4630650" y="960850"/>
            <a:ext cx="4345800" cy="4127400"/>
          </a:xfrm>
          <a:prstGeom prst="rect">
            <a:avLst/>
          </a:prstGeom>
          <a:solidFill>
            <a:srgbClr val="FFFFFF"/>
          </a:solidFill>
          <a:ln w="8550" cap="flat" cmpd="sng">
            <a:solidFill>
              <a:srgbClr val="E2E8F0"/>
            </a:solidFill>
            <a:prstDash val="solid"/>
            <a:round/>
            <a:headEnd type="none" w="sm" len="sm"/>
            <a:tailEnd type="none" w="sm" len="sm"/>
          </a:ln>
          <a:effectLst>
            <a:outerShdw blurRad="68332" dist="22777" dir="8100000" algn="bl" rotWithShape="0">
              <a:srgbClr val="000000">
                <a:alpha val="10200"/>
              </a:srgbClr>
            </a:outerShdw>
          </a:effectLst>
        </p:spPr>
        <p:txBody>
          <a:bodyPr spcFirstLastPara="1" wrap="square" lIns="81975" tIns="81975" rIns="81975" bIns="81975" anchor="ctr" anchorCtr="0">
            <a:noAutofit/>
          </a:bodyPr>
          <a:lstStyle/>
          <a:p>
            <a:pPr marL="0" lvl="0" indent="0" algn="l" rtl="0">
              <a:spcBef>
                <a:spcPts val="0"/>
              </a:spcBef>
              <a:spcAft>
                <a:spcPts val="0"/>
              </a:spcAft>
              <a:buNone/>
            </a:pPr>
            <a:endParaRPr sz="1255"/>
          </a:p>
        </p:txBody>
      </p:sp>
      <p:sp>
        <p:nvSpPr>
          <p:cNvPr id="217" name="Google Shape;217;p37"/>
          <p:cNvSpPr txBox="1"/>
          <p:nvPr/>
        </p:nvSpPr>
        <p:spPr>
          <a:xfrm>
            <a:off x="100488" y="700400"/>
            <a:ext cx="8046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solidFill>
                  <a:srgbClr val="F56C1F"/>
                </a:solidFill>
                <a:latin typeface="Lexend"/>
                <a:ea typeface="Lexend"/>
                <a:cs typeface="Lexend"/>
                <a:sym typeface="Lexend"/>
              </a:rPr>
              <a:t>HAN</a:t>
            </a:r>
            <a:endParaRPr sz="1200"/>
          </a:p>
        </p:txBody>
      </p:sp>
      <p:sp>
        <p:nvSpPr>
          <p:cNvPr id="218" name="Google Shape;218;p37"/>
          <p:cNvSpPr txBox="1"/>
          <p:nvPr/>
        </p:nvSpPr>
        <p:spPr>
          <a:xfrm>
            <a:off x="4630513" y="700650"/>
            <a:ext cx="8046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solidFill>
                  <a:srgbClr val="F56C1F"/>
                </a:solidFill>
                <a:latin typeface="Lexend"/>
                <a:ea typeface="Lexend"/>
                <a:cs typeface="Lexend"/>
                <a:sym typeface="Lexend"/>
              </a:rPr>
              <a:t>SGN</a:t>
            </a:r>
            <a:endParaRPr sz="1200"/>
          </a:p>
        </p:txBody>
      </p:sp>
      <p:sp>
        <p:nvSpPr>
          <p:cNvPr id="219" name="Google Shape;219;p37"/>
          <p:cNvSpPr txBox="1"/>
          <p:nvPr/>
        </p:nvSpPr>
        <p:spPr>
          <a:xfrm>
            <a:off x="73875" y="920525"/>
            <a:ext cx="30000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b="1">
                <a:solidFill>
                  <a:srgbClr val="4C7DA4"/>
                </a:solidFill>
                <a:latin typeface="Lexend"/>
                <a:ea typeface="Lexend"/>
                <a:cs typeface="Lexend"/>
                <a:sym typeface="Lexend"/>
              </a:rPr>
              <a:t>Total SH by segment</a:t>
            </a:r>
            <a:endParaRPr sz="1100">
              <a:solidFill>
                <a:srgbClr val="0E4174"/>
              </a:solidFill>
              <a:latin typeface="Lexend"/>
              <a:ea typeface="Lexend"/>
              <a:cs typeface="Lexend"/>
              <a:sym typeface="Lexend"/>
            </a:endParaRPr>
          </a:p>
        </p:txBody>
      </p:sp>
      <p:sp>
        <p:nvSpPr>
          <p:cNvPr id="220" name="Google Shape;220;p37"/>
          <p:cNvSpPr txBox="1"/>
          <p:nvPr/>
        </p:nvSpPr>
        <p:spPr>
          <a:xfrm>
            <a:off x="100500" y="2774775"/>
            <a:ext cx="18492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solidFill>
                  <a:srgbClr val="4C7DA4"/>
                </a:solidFill>
                <a:latin typeface="Lexend"/>
                <a:ea typeface="Lexend"/>
                <a:cs typeface="Lexend"/>
                <a:sym typeface="Lexend"/>
              </a:rPr>
              <a:t>Demand </a:t>
            </a:r>
            <a:endParaRPr sz="1200">
              <a:solidFill>
                <a:srgbClr val="0E4174"/>
              </a:solidFill>
              <a:latin typeface="Lexend"/>
              <a:ea typeface="Lexend"/>
              <a:cs typeface="Lexend"/>
              <a:sym typeface="Lexend"/>
            </a:endParaRPr>
          </a:p>
        </p:txBody>
      </p:sp>
      <p:sp>
        <p:nvSpPr>
          <p:cNvPr id="221" name="Google Shape;221;p37"/>
          <p:cNvSpPr txBox="1"/>
          <p:nvPr/>
        </p:nvSpPr>
        <p:spPr>
          <a:xfrm>
            <a:off x="100625" y="4448975"/>
            <a:ext cx="4273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800">
              <a:solidFill>
                <a:schemeClr val="dk1"/>
              </a:solidFill>
              <a:latin typeface="Lexend"/>
              <a:ea typeface="Lexend"/>
              <a:cs typeface="Lexend"/>
              <a:sym typeface="Lexend"/>
            </a:endParaRPr>
          </a:p>
          <a:p>
            <a:pPr marL="0" lvl="0" indent="0" algn="l" rtl="0">
              <a:spcBef>
                <a:spcPts val="0"/>
              </a:spcBef>
              <a:spcAft>
                <a:spcPts val="0"/>
              </a:spcAft>
              <a:buNone/>
            </a:pPr>
            <a:endParaRPr sz="800">
              <a:solidFill>
                <a:schemeClr val="dk1"/>
              </a:solidFill>
              <a:latin typeface="Lexend"/>
              <a:ea typeface="Lexend"/>
              <a:cs typeface="Lexend"/>
              <a:sym typeface="Lexend"/>
            </a:endParaRPr>
          </a:p>
        </p:txBody>
      </p:sp>
      <p:sp>
        <p:nvSpPr>
          <p:cNvPr id="222" name="Google Shape;222;p37"/>
          <p:cNvSpPr txBox="1"/>
          <p:nvPr/>
        </p:nvSpPr>
        <p:spPr>
          <a:xfrm>
            <a:off x="4649025" y="935818"/>
            <a:ext cx="17754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solidFill>
                  <a:srgbClr val="4C7DA4"/>
                </a:solidFill>
                <a:latin typeface="Lexend"/>
                <a:ea typeface="Lexend"/>
                <a:cs typeface="Lexend"/>
                <a:sym typeface="Lexend"/>
              </a:rPr>
              <a:t>Total SH by segment</a:t>
            </a:r>
            <a:endParaRPr sz="1000">
              <a:solidFill>
                <a:srgbClr val="0E4174"/>
              </a:solidFill>
              <a:latin typeface="Lexend"/>
              <a:ea typeface="Lexend"/>
              <a:cs typeface="Lexend"/>
              <a:sym typeface="Lexend"/>
            </a:endParaRPr>
          </a:p>
        </p:txBody>
      </p:sp>
      <p:sp>
        <p:nvSpPr>
          <p:cNvPr id="223" name="Google Shape;223;p37"/>
          <p:cNvSpPr txBox="1"/>
          <p:nvPr/>
        </p:nvSpPr>
        <p:spPr>
          <a:xfrm>
            <a:off x="4716125" y="4352100"/>
            <a:ext cx="4273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b="1">
                <a:solidFill>
                  <a:schemeClr val="dk1"/>
                </a:solidFill>
                <a:latin typeface="Lexend"/>
                <a:ea typeface="Lexend"/>
                <a:cs typeface="Lexend"/>
                <a:sym typeface="Lexend"/>
              </a:rPr>
              <a:t>INSIGHT:</a:t>
            </a:r>
            <a:endParaRPr sz="900" b="1">
              <a:solidFill>
                <a:schemeClr val="dk1"/>
              </a:solidFill>
              <a:latin typeface="Lexend"/>
              <a:ea typeface="Lexend"/>
              <a:cs typeface="Lexend"/>
              <a:sym typeface="Lexend"/>
            </a:endParaRPr>
          </a:p>
          <a:p>
            <a:pPr marL="0" lvl="0" indent="0" algn="l" rtl="0">
              <a:spcBef>
                <a:spcPts val="0"/>
              </a:spcBef>
              <a:spcAft>
                <a:spcPts val="0"/>
              </a:spcAft>
              <a:buNone/>
            </a:pPr>
            <a:r>
              <a:rPr lang="en" sz="900">
                <a:solidFill>
                  <a:srgbClr val="1E293B"/>
                </a:solidFill>
                <a:latin typeface="Lexend"/>
                <a:ea typeface="Lexend"/>
                <a:cs typeface="Lexend"/>
                <a:sym typeface="Lexend"/>
              </a:rPr>
              <a:t>- SH gap nhẹ ~1% so với planning, hụt ở nhóm FT/PT</a:t>
            </a:r>
            <a:endParaRPr sz="900">
              <a:solidFill>
                <a:srgbClr val="1E293B"/>
              </a:solidFill>
              <a:latin typeface="Lexend"/>
              <a:ea typeface="Lexend"/>
              <a:cs typeface="Lexend"/>
              <a:sym typeface="Lexend"/>
            </a:endParaRPr>
          </a:p>
        </p:txBody>
      </p:sp>
      <p:sp>
        <p:nvSpPr>
          <p:cNvPr id="224" name="Google Shape;224;p37"/>
          <p:cNvSpPr txBox="1"/>
          <p:nvPr/>
        </p:nvSpPr>
        <p:spPr>
          <a:xfrm>
            <a:off x="150225" y="4359075"/>
            <a:ext cx="44064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a:solidFill>
                  <a:schemeClr val="dk1"/>
                </a:solidFill>
                <a:latin typeface="Lexend"/>
                <a:ea typeface="Lexend"/>
                <a:cs typeface="Lexend"/>
                <a:sym typeface="Lexend"/>
              </a:rPr>
              <a:t>INSIGHT: </a:t>
            </a:r>
            <a:endParaRPr sz="800">
              <a:solidFill>
                <a:schemeClr val="dk1"/>
              </a:solidFill>
              <a:latin typeface="Lexend"/>
              <a:ea typeface="Lexend"/>
              <a:cs typeface="Lexend"/>
              <a:sym typeface="Lexend"/>
            </a:endParaRPr>
          </a:p>
          <a:p>
            <a:pPr marL="0" lvl="0" indent="0" algn="l" rtl="0">
              <a:spcBef>
                <a:spcPts val="0"/>
              </a:spcBef>
              <a:spcAft>
                <a:spcPts val="0"/>
              </a:spcAft>
              <a:buNone/>
            </a:pPr>
            <a:r>
              <a:rPr lang="en" sz="800">
                <a:solidFill>
                  <a:schemeClr val="dk1"/>
                </a:solidFill>
                <a:latin typeface="Lexend"/>
                <a:ea typeface="Lexend"/>
                <a:cs typeface="Lexend"/>
                <a:sym typeface="Lexend"/>
              </a:rPr>
              <a:t>- </a:t>
            </a:r>
            <a:r>
              <a:rPr lang="en" sz="800" b="1">
                <a:solidFill>
                  <a:srgbClr val="EA4335"/>
                </a:solidFill>
                <a:latin typeface="Lexend"/>
                <a:ea typeface="Lexend"/>
                <a:cs typeface="Lexend"/>
                <a:sym typeface="Lexend"/>
              </a:rPr>
              <a:t>SH gap 15.6% so với planning</a:t>
            </a:r>
            <a:r>
              <a:rPr lang="en" sz="800">
                <a:solidFill>
                  <a:schemeClr val="dk1"/>
                </a:solidFill>
                <a:latin typeface="Lexend"/>
                <a:ea typeface="Lexend"/>
                <a:cs typeface="Lexend"/>
                <a:sym typeface="Lexend"/>
              </a:rPr>
              <a:t>, hụt chủ yếu ở nhóm FT/PT</a:t>
            </a:r>
            <a:br>
              <a:rPr lang="en" sz="800" b="1">
                <a:solidFill>
                  <a:schemeClr val="dk1"/>
                </a:solidFill>
                <a:latin typeface="Lexend"/>
                <a:ea typeface="Lexend"/>
                <a:cs typeface="Lexend"/>
                <a:sym typeface="Lexend"/>
              </a:rPr>
            </a:br>
            <a:r>
              <a:rPr lang="en" sz="800">
                <a:solidFill>
                  <a:schemeClr val="dk1"/>
                </a:solidFill>
                <a:latin typeface="Lexend"/>
                <a:ea typeface="Lexend"/>
                <a:cs typeface="Lexend"/>
                <a:sym typeface="Lexend"/>
              </a:rPr>
              <a:t>- RPH tăng</a:t>
            </a:r>
            <a:r>
              <a:rPr lang="en" sz="800">
                <a:solidFill>
                  <a:srgbClr val="1255CC"/>
                </a:solidFill>
                <a:latin typeface="Lexend"/>
                <a:ea typeface="Lexend"/>
                <a:cs typeface="Lexend"/>
                <a:sym typeface="Lexend"/>
              </a:rPr>
              <a:t> 5.3%</a:t>
            </a:r>
            <a:r>
              <a:rPr lang="en" sz="800">
                <a:solidFill>
                  <a:schemeClr val="dk1"/>
                </a:solidFill>
                <a:latin typeface="Lexend"/>
                <a:ea typeface="Lexend"/>
                <a:cs typeface="Lexend"/>
                <a:sym typeface="Lexend"/>
              </a:rPr>
              <a:t> WoW, AR-FR tăng trở ~ 2% tuy nhiên vẫn còn thấp do ảnh hưởng từ Demand Bulky và các ngày cận nghỉ lễ . Details </a:t>
            </a:r>
            <a:r>
              <a:rPr lang="en" sz="800" u="sng">
                <a:solidFill>
                  <a:schemeClr val="hlink"/>
                </a:solidFill>
                <a:latin typeface="Lexend"/>
                <a:ea typeface="Lexend"/>
                <a:cs typeface="Lexend"/>
                <a:sym typeface="Lexend"/>
                <a:hlinkClick r:id="rId4"/>
              </a:rPr>
              <a:t>link thời tiết</a:t>
            </a:r>
            <a:endParaRPr sz="800">
              <a:solidFill>
                <a:schemeClr val="dk1"/>
              </a:solidFill>
              <a:latin typeface="Lexend"/>
              <a:ea typeface="Lexend"/>
              <a:cs typeface="Lexend"/>
              <a:sym typeface="Lexend"/>
            </a:endParaRPr>
          </a:p>
          <a:p>
            <a:pPr marL="0" lvl="0" indent="0" algn="l" rtl="0">
              <a:spcBef>
                <a:spcPts val="0"/>
              </a:spcBef>
              <a:spcAft>
                <a:spcPts val="0"/>
              </a:spcAft>
              <a:buNone/>
            </a:pPr>
            <a:endParaRPr sz="800">
              <a:solidFill>
                <a:schemeClr val="dk1"/>
              </a:solidFill>
              <a:latin typeface="Lexend"/>
              <a:ea typeface="Lexend"/>
              <a:cs typeface="Lexend"/>
              <a:sym typeface="Lexend"/>
            </a:endParaRPr>
          </a:p>
        </p:txBody>
      </p:sp>
      <p:sp>
        <p:nvSpPr>
          <p:cNvPr id="225" name="Google Shape;225;p37"/>
          <p:cNvSpPr txBox="1"/>
          <p:nvPr/>
        </p:nvSpPr>
        <p:spPr>
          <a:xfrm>
            <a:off x="4716125" y="2782425"/>
            <a:ext cx="8547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b="1">
                <a:solidFill>
                  <a:srgbClr val="4C7DA4"/>
                </a:solidFill>
                <a:latin typeface="Lexend"/>
                <a:ea typeface="Lexend"/>
                <a:cs typeface="Lexend"/>
                <a:sym typeface="Lexend"/>
              </a:rPr>
              <a:t>Demand </a:t>
            </a:r>
            <a:endParaRPr sz="1100">
              <a:solidFill>
                <a:srgbClr val="0E4174"/>
              </a:solidFill>
              <a:latin typeface="Lexend"/>
              <a:ea typeface="Lexend"/>
              <a:cs typeface="Lexend"/>
              <a:sym typeface="Lexend"/>
            </a:endParaRPr>
          </a:p>
        </p:txBody>
      </p:sp>
      <p:graphicFrame>
        <p:nvGraphicFramePr>
          <p:cNvPr id="226" name="Google Shape;226;p37"/>
          <p:cNvGraphicFramePr/>
          <p:nvPr/>
        </p:nvGraphicFramePr>
        <p:xfrm>
          <a:off x="1028325" y="2894775"/>
          <a:ext cx="3000000" cy="3000000"/>
        </p:xfrm>
        <a:graphic>
          <a:graphicData uri="http://schemas.openxmlformats.org/drawingml/2006/table">
            <a:tbl>
              <a:tblPr>
                <a:noFill/>
                <a:tableStyleId>{98498B5D-82F5-4DDD-BB04-C168985C330A}</a:tableStyleId>
              </a:tblPr>
              <a:tblGrid>
                <a:gridCol w="962025">
                  <a:extLst>
                    <a:ext uri="{9D8B030D-6E8A-4147-A177-3AD203B41FA5}">
                      <a16:colId xmlns:a16="http://schemas.microsoft.com/office/drawing/2014/main" val="20000"/>
                    </a:ext>
                  </a:extLst>
                </a:gridCol>
                <a:gridCol w="809625">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tblGrid>
              <a:tr h="200025">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Metric</a:t>
                      </a:r>
                      <a:endParaRPr sz="900" b="1">
                        <a:solidFill>
                          <a:srgbClr val="FFFFFF"/>
                        </a:solidFill>
                        <a:latin typeface="Lexend"/>
                        <a:ea typeface="Lexend"/>
                        <a:cs typeface="Lexend"/>
                        <a:sym typeface="Lexend"/>
                      </a:endParaRPr>
                    </a:p>
                  </a:txBody>
                  <a:tcPr marL="28575" marR="28575" marT="19050" marB="19050" anchor="ctr">
                    <a:lnL w="6350" cap="flat" cmpd="sng">
                      <a:solidFill>
                        <a:srgbClr val="000000"/>
                      </a:solidFill>
                      <a:prstDash val="solid"/>
                      <a:round/>
                      <a:headEnd type="none" w="sm" len="sm"/>
                      <a:tailEnd type="none" w="sm" len="sm"/>
                    </a:lnL>
                    <a:lnT w="6350" cap="flat" cmpd="sng">
                      <a:solidFill>
                        <a:srgbClr val="000000"/>
                      </a:solidFill>
                      <a:prstDash val="solid"/>
                      <a:round/>
                      <a:headEnd type="none" w="sm" len="sm"/>
                      <a:tailEnd type="none" w="sm" len="sm"/>
                    </a:lnT>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This Week</a:t>
                      </a:r>
                      <a:endParaRPr sz="900" b="1">
                        <a:solidFill>
                          <a:srgbClr val="FFFFFF"/>
                        </a:solidFill>
                        <a:latin typeface="Lexend"/>
                        <a:ea typeface="Lexend"/>
                        <a:cs typeface="Lexend"/>
                        <a:sym typeface="Lexend"/>
                      </a:endParaRPr>
                    </a:p>
                  </a:txBody>
                  <a:tcPr marL="28575" marR="28575" marT="19050" marB="19050" anchor="ctr">
                    <a:lnT w="6350" cap="flat" cmpd="sng">
                      <a:solidFill>
                        <a:srgbClr val="000000"/>
                      </a:solidFill>
                      <a:prstDash val="solid"/>
                      <a:round/>
                      <a:headEnd type="none" w="sm" len="sm"/>
                      <a:tailEnd type="none" w="sm" len="sm"/>
                    </a:lnT>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WoW</a:t>
                      </a:r>
                      <a:endParaRPr sz="900" b="1">
                        <a:solidFill>
                          <a:srgbClr val="FFFFFF"/>
                        </a:solidFill>
                        <a:latin typeface="Lexend"/>
                        <a:ea typeface="Lexend"/>
                        <a:cs typeface="Lexend"/>
                        <a:sym typeface="Lexend"/>
                      </a:endParaRPr>
                    </a:p>
                  </a:txBody>
                  <a:tcPr marL="28575" marR="28575" marT="19050" marB="19050" anchor="ctr">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solidFill>
                      <a:srgbClr val="FF6D01"/>
                    </a:solidFill>
                  </a:tcPr>
                </a:tc>
                <a:extLst>
                  <a:ext uri="{0D108BD9-81ED-4DB2-BD59-A6C34878D82A}">
                    <a16:rowId xmlns:a16="http://schemas.microsoft.com/office/drawing/2014/main" val="10000"/>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RPH</a:t>
                      </a:r>
                      <a:endParaRPr sz="900">
                        <a:latin typeface="Lexend"/>
                        <a:ea typeface="Lexend"/>
                        <a:cs typeface="Lexend"/>
                        <a:sym typeface="Lexend"/>
                      </a:endParaRPr>
                    </a:p>
                  </a:txBody>
                  <a:tcPr marL="28575" marR="28575" marT="19050" marB="19050" anchor="ctr">
                    <a:lnL w="6350" cap="flat" cmpd="sng">
                      <a:solidFill>
                        <a:srgbClr val="000000"/>
                      </a:solidFill>
                      <a:prstDash val="solid"/>
                      <a:round/>
                      <a:headEnd type="none" w="sm" len="sm"/>
                      <a:tailEnd type="none" w="sm" len="sm"/>
                    </a:lnL>
                    <a:lnR w="6350" cap="flat" cmpd="sng">
                      <a:solidFill>
                        <a:srgbClr val="000000"/>
                      </a:solidFill>
                      <a:prstDash val="dot"/>
                      <a:round/>
                      <a:headEnd type="none" w="sm" len="sm"/>
                      <a:tailEnd type="none" w="sm" len="sm"/>
                    </a:lnR>
                    <a:lnB w="63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2.18</a:t>
                      </a:r>
                      <a:endParaRPr sz="1000"/>
                    </a:p>
                  </a:txBody>
                  <a:tcPr marL="28575" marR="28575" marT="19050" marB="19050" anchor="b">
                    <a:lnL w="6350" cap="flat" cmpd="sng">
                      <a:solidFill>
                        <a:srgbClr val="000000"/>
                      </a:solidFill>
                      <a:prstDash val="dot"/>
                      <a:round/>
                      <a:headEnd type="none" w="sm" len="sm"/>
                      <a:tailEnd type="none" w="sm" len="sm"/>
                    </a:lnL>
                    <a:lnR w="6350" cap="flat" cmpd="sng">
                      <a:solidFill>
                        <a:srgbClr val="000000"/>
                      </a:solidFill>
                      <a:prstDash val="dot"/>
                      <a:round/>
                      <a:headEnd type="none" w="sm" len="sm"/>
                      <a:tailEnd type="none" w="sm" len="sm"/>
                    </a:lnR>
                    <a:lnB w="63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339966"/>
                          </a:solidFill>
                        </a:rPr>
                        <a:t>▲ 5.3%</a:t>
                      </a:r>
                      <a:endParaRPr sz="1000" b="1">
                        <a:solidFill>
                          <a:srgbClr val="339966"/>
                        </a:solidFill>
                      </a:endParaRPr>
                    </a:p>
                  </a:txBody>
                  <a:tcPr marL="28575" marR="28575" marT="19050" marB="19050" anchor="b">
                    <a:lnL w="6350" cap="flat" cmpd="sng">
                      <a:solidFill>
                        <a:srgbClr val="000000"/>
                      </a:solidFill>
                      <a:prstDash val="dot"/>
                      <a:round/>
                      <a:headEnd type="none" w="sm" len="sm"/>
                      <a:tailEnd type="none" w="sm" len="sm"/>
                    </a:lnL>
                    <a:lnR w="6350" cap="flat" cmpd="sng">
                      <a:solidFill>
                        <a:srgbClr val="000000"/>
                      </a:solidFill>
                      <a:prstDash val="solid"/>
                      <a:round/>
                      <a:headEnd type="none" w="sm" len="sm"/>
                      <a:tailEnd type="none" w="sm" len="sm"/>
                    </a:lnR>
                    <a:lnB w="6350" cap="flat" cmpd="sng">
                      <a:solidFill>
                        <a:srgbClr val="000000"/>
                      </a:solidFill>
                      <a:prstDash val="dot"/>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Request_stp</a:t>
                      </a:r>
                      <a:endParaRPr sz="900">
                        <a:latin typeface="Lexend"/>
                        <a:ea typeface="Lexend"/>
                        <a:cs typeface="Lexend"/>
                        <a:sym typeface="Lexend"/>
                      </a:endParaRPr>
                    </a:p>
                  </a:txBody>
                  <a:tcPr marL="28575" marR="28575" marT="19050" marB="19050" anchor="ctr">
                    <a:lnL w="6350" cap="flat" cmpd="sng">
                      <a:solidFill>
                        <a:srgbClr val="000000"/>
                      </a:solidFill>
                      <a:prstDash val="solid"/>
                      <a:round/>
                      <a:headEnd type="none" w="sm" len="sm"/>
                      <a:tailEnd type="none" w="sm" len="sm"/>
                    </a:lnL>
                    <a:lnR w="6350" cap="flat" cmpd="sng">
                      <a:solidFill>
                        <a:srgbClr val="000000"/>
                      </a:solidFill>
                      <a:prstDash val="dot"/>
                      <a:round/>
                      <a:headEnd type="none" w="sm" len="sm"/>
                      <a:tailEnd type="none" w="sm" len="sm"/>
                    </a:lnR>
                    <a:lnT w="6350" cap="flat" cmpd="sng">
                      <a:solidFill>
                        <a:srgbClr val="000000"/>
                      </a:solidFill>
                      <a:prstDash val="dot"/>
                      <a:round/>
                      <a:headEnd type="none" w="sm" len="sm"/>
                      <a:tailEnd type="none" w="sm" len="sm"/>
                    </a:lnT>
                    <a:lnB w="63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407K</a:t>
                      </a:r>
                      <a:endParaRPr sz="1000"/>
                    </a:p>
                  </a:txBody>
                  <a:tcPr marL="28575" marR="28575" marT="19050" marB="19050" anchor="b">
                    <a:lnL w="6350" cap="flat" cmpd="sng">
                      <a:solidFill>
                        <a:srgbClr val="000000"/>
                      </a:solidFill>
                      <a:prstDash val="dot"/>
                      <a:round/>
                      <a:headEnd type="none" w="sm" len="sm"/>
                      <a:tailEnd type="none" w="sm" len="sm"/>
                    </a:lnL>
                    <a:lnR w="6350" cap="flat" cmpd="sng">
                      <a:solidFill>
                        <a:srgbClr val="000000"/>
                      </a:solidFill>
                      <a:prstDash val="dot"/>
                      <a:round/>
                      <a:headEnd type="none" w="sm" len="sm"/>
                      <a:tailEnd type="none" w="sm" len="sm"/>
                    </a:lnR>
                    <a:lnT w="6350" cap="flat" cmpd="sng">
                      <a:solidFill>
                        <a:srgbClr val="000000"/>
                      </a:solidFill>
                      <a:prstDash val="dot"/>
                      <a:round/>
                      <a:headEnd type="none" w="sm" len="sm"/>
                      <a:tailEnd type="none" w="sm" len="sm"/>
                    </a:lnT>
                    <a:lnB w="63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339966"/>
                          </a:solidFill>
                        </a:rPr>
                        <a:t>▲ 8.0%</a:t>
                      </a:r>
                      <a:endParaRPr sz="1000" b="1">
                        <a:solidFill>
                          <a:srgbClr val="339966"/>
                        </a:solidFill>
                      </a:endParaRPr>
                    </a:p>
                  </a:txBody>
                  <a:tcPr marL="28575" marR="28575" marT="19050" marB="19050" anchor="b">
                    <a:lnL w="6350" cap="flat" cmpd="sng">
                      <a:solidFill>
                        <a:srgbClr val="000000"/>
                      </a:solidFill>
                      <a:prstDash val="dot"/>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dot"/>
                      <a:round/>
                      <a:headEnd type="none" w="sm" len="sm"/>
                      <a:tailEnd type="none" w="sm" len="sm"/>
                    </a:lnT>
                    <a:lnB w="6350" cap="flat" cmpd="sng">
                      <a:solidFill>
                        <a:srgbClr val="000000"/>
                      </a:solidFill>
                      <a:prstDash val="dot"/>
                      <a:round/>
                      <a:headEnd type="none" w="sm" len="sm"/>
                      <a:tailEnd type="none" w="sm" len="sm"/>
                    </a:lnB>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Accept_stp</a:t>
                      </a:r>
                      <a:endParaRPr sz="900">
                        <a:latin typeface="Lexend"/>
                        <a:ea typeface="Lexend"/>
                        <a:cs typeface="Lexend"/>
                        <a:sym typeface="Lexend"/>
                      </a:endParaRPr>
                    </a:p>
                  </a:txBody>
                  <a:tcPr marL="28575" marR="28575" marT="19050" marB="19050" anchor="ctr">
                    <a:lnL w="6350" cap="flat" cmpd="sng">
                      <a:solidFill>
                        <a:srgbClr val="000000"/>
                      </a:solidFill>
                      <a:prstDash val="solid"/>
                      <a:round/>
                      <a:headEnd type="none" w="sm" len="sm"/>
                      <a:tailEnd type="none" w="sm" len="sm"/>
                    </a:lnL>
                    <a:lnR w="6350" cap="flat" cmpd="sng">
                      <a:solidFill>
                        <a:srgbClr val="000000"/>
                      </a:solidFill>
                      <a:prstDash val="dot"/>
                      <a:round/>
                      <a:headEnd type="none" w="sm" len="sm"/>
                      <a:tailEnd type="none" w="sm" len="sm"/>
                    </a:lnR>
                    <a:lnT w="6350" cap="flat" cmpd="sng">
                      <a:solidFill>
                        <a:srgbClr val="000000"/>
                      </a:solidFill>
                      <a:prstDash val="dot"/>
                      <a:round/>
                      <a:headEnd type="none" w="sm" len="sm"/>
                      <a:tailEnd type="none" w="sm" len="sm"/>
                    </a:lnT>
                    <a:lnB w="63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332K</a:t>
                      </a:r>
                      <a:endParaRPr sz="1000"/>
                    </a:p>
                  </a:txBody>
                  <a:tcPr marL="28575" marR="28575" marT="19050" marB="19050" anchor="b">
                    <a:lnL w="6350" cap="flat" cmpd="sng">
                      <a:solidFill>
                        <a:srgbClr val="000000"/>
                      </a:solidFill>
                      <a:prstDash val="dot"/>
                      <a:round/>
                      <a:headEnd type="none" w="sm" len="sm"/>
                      <a:tailEnd type="none" w="sm" len="sm"/>
                    </a:lnL>
                    <a:lnR w="6350" cap="flat" cmpd="sng">
                      <a:solidFill>
                        <a:srgbClr val="000000"/>
                      </a:solidFill>
                      <a:prstDash val="dot"/>
                      <a:round/>
                      <a:headEnd type="none" w="sm" len="sm"/>
                      <a:tailEnd type="none" w="sm" len="sm"/>
                    </a:lnR>
                    <a:lnT w="6350" cap="flat" cmpd="sng">
                      <a:solidFill>
                        <a:srgbClr val="000000"/>
                      </a:solidFill>
                      <a:prstDash val="dot"/>
                      <a:round/>
                      <a:headEnd type="none" w="sm" len="sm"/>
                      <a:tailEnd type="none" w="sm" len="sm"/>
                    </a:lnT>
                    <a:lnB w="63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339966"/>
                          </a:solidFill>
                        </a:rPr>
                        <a:t>▲ 9.7%</a:t>
                      </a:r>
                      <a:endParaRPr sz="1000" b="1">
                        <a:solidFill>
                          <a:srgbClr val="339966"/>
                        </a:solidFill>
                      </a:endParaRPr>
                    </a:p>
                  </a:txBody>
                  <a:tcPr marL="28575" marR="28575" marT="19050" marB="19050" anchor="b">
                    <a:lnL w="6350" cap="flat" cmpd="sng">
                      <a:solidFill>
                        <a:srgbClr val="000000"/>
                      </a:solidFill>
                      <a:prstDash val="dot"/>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dot"/>
                      <a:round/>
                      <a:headEnd type="none" w="sm" len="sm"/>
                      <a:tailEnd type="none" w="sm" len="sm"/>
                    </a:lnT>
                    <a:lnB w="6350" cap="flat" cmpd="sng">
                      <a:solidFill>
                        <a:srgbClr val="000000"/>
                      </a:solidFill>
                      <a:prstDash val="dot"/>
                      <a:round/>
                      <a:headEnd type="none" w="sm" len="sm"/>
                      <a:tailEnd type="none" w="sm" len="sm"/>
                    </a:lnB>
                  </a:tcPr>
                </a:tc>
                <a:extLst>
                  <a:ext uri="{0D108BD9-81ED-4DB2-BD59-A6C34878D82A}">
                    <a16:rowId xmlns:a16="http://schemas.microsoft.com/office/drawing/2014/main" val="10003"/>
                  </a:ext>
                </a:extLst>
              </a:tr>
              <a:tr h="200025">
                <a:tc>
                  <a:txBody>
                    <a:bodyPr/>
                    <a:lstStyle/>
                    <a:p>
                      <a:pPr marL="0" marR="0" lvl="0" indent="0" algn="ctr" rtl="0">
                        <a:lnSpc>
                          <a:spcPct val="115000"/>
                        </a:lnSpc>
                        <a:spcBef>
                          <a:spcPts val="0"/>
                        </a:spcBef>
                        <a:spcAft>
                          <a:spcPts val="0"/>
                        </a:spcAft>
                        <a:buNone/>
                      </a:pPr>
                      <a:r>
                        <a:rPr lang="en" sz="900">
                          <a:latin typeface="Lexend"/>
                          <a:ea typeface="Lexend"/>
                          <a:cs typeface="Lexend"/>
                          <a:sym typeface="Lexend"/>
                        </a:rPr>
                        <a:t>Completed_stp</a:t>
                      </a:r>
                      <a:endParaRPr sz="900">
                        <a:latin typeface="Lexend"/>
                        <a:ea typeface="Lexend"/>
                        <a:cs typeface="Lexend"/>
                        <a:sym typeface="Lexend"/>
                      </a:endParaRPr>
                    </a:p>
                  </a:txBody>
                  <a:tcPr marL="91425" marR="91425" marT="19050" marB="19050" anchor="ctr">
                    <a:lnL w="6350" cap="flat" cmpd="sng">
                      <a:solidFill>
                        <a:srgbClr val="000000"/>
                      </a:solidFill>
                      <a:prstDash val="solid"/>
                      <a:round/>
                      <a:headEnd type="none" w="sm" len="sm"/>
                      <a:tailEnd type="none" w="sm" len="sm"/>
                    </a:lnL>
                    <a:lnR w="6350" cap="flat" cmpd="sng">
                      <a:solidFill>
                        <a:srgbClr val="000000"/>
                      </a:solidFill>
                      <a:prstDash val="dot"/>
                      <a:round/>
                      <a:headEnd type="none" w="sm" len="sm"/>
                      <a:tailEnd type="none" w="sm" len="sm"/>
                    </a:lnR>
                    <a:lnT w="6350" cap="flat" cmpd="sng">
                      <a:solidFill>
                        <a:srgbClr val="000000"/>
                      </a:solidFill>
                      <a:prstDash val="dot"/>
                      <a:round/>
                      <a:headEnd type="none" w="sm" len="sm"/>
                      <a:tailEnd type="none" w="sm" len="sm"/>
                    </a:lnT>
                    <a:lnB w="63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292K</a:t>
                      </a:r>
                      <a:endParaRPr sz="1000"/>
                    </a:p>
                  </a:txBody>
                  <a:tcPr marL="28575" marR="28575" marT="19050" marB="19050" anchor="b">
                    <a:lnL w="6350" cap="flat" cmpd="sng">
                      <a:solidFill>
                        <a:srgbClr val="000000"/>
                      </a:solidFill>
                      <a:prstDash val="dot"/>
                      <a:round/>
                      <a:headEnd type="none" w="sm" len="sm"/>
                      <a:tailEnd type="none" w="sm" len="sm"/>
                    </a:lnL>
                    <a:lnR w="6350" cap="flat" cmpd="sng">
                      <a:solidFill>
                        <a:srgbClr val="000000"/>
                      </a:solidFill>
                      <a:prstDash val="dot"/>
                      <a:round/>
                      <a:headEnd type="none" w="sm" len="sm"/>
                      <a:tailEnd type="none" w="sm" len="sm"/>
                    </a:lnR>
                    <a:lnT w="6350" cap="flat" cmpd="sng">
                      <a:solidFill>
                        <a:srgbClr val="000000"/>
                      </a:solidFill>
                      <a:prstDash val="dot"/>
                      <a:round/>
                      <a:headEnd type="none" w="sm" len="sm"/>
                      <a:tailEnd type="none" w="sm" len="sm"/>
                    </a:lnT>
                    <a:lnB w="63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339966"/>
                          </a:solidFill>
                        </a:rPr>
                        <a:t>▲ 10.6%</a:t>
                      </a:r>
                      <a:endParaRPr sz="1000" b="1">
                        <a:solidFill>
                          <a:srgbClr val="339966"/>
                        </a:solidFill>
                      </a:endParaRPr>
                    </a:p>
                  </a:txBody>
                  <a:tcPr marL="28575" marR="28575" marT="19050" marB="19050" anchor="b">
                    <a:lnL w="6350" cap="flat" cmpd="sng">
                      <a:solidFill>
                        <a:srgbClr val="000000"/>
                      </a:solidFill>
                      <a:prstDash val="dot"/>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dot"/>
                      <a:round/>
                      <a:headEnd type="none" w="sm" len="sm"/>
                      <a:tailEnd type="none" w="sm" len="sm"/>
                    </a:lnT>
                    <a:lnB w="6350" cap="flat" cmpd="sng">
                      <a:solidFill>
                        <a:srgbClr val="000000"/>
                      </a:solidFill>
                      <a:prstDash val="dot"/>
                      <a:round/>
                      <a:headEnd type="none" w="sm" len="sm"/>
                      <a:tailEnd type="none" w="sm" len="sm"/>
                    </a:lnB>
                  </a:tcPr>
                </a:tc>
                <a:extLst>
                  <a:ext uri="{0D108BD9-81ED-4DB2-BD59-A6C34878D82A}">
                    <a16:rowId xmlns:a16="http://schemas.microsoft.com/office/drawing/2014/main" val="10004"/>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AR</a:t>
                      </a:r>
                      <a:endParaRPr sz="900">
                        <a:latin typeface="Lexend"/>
                        <a:ea typeface="Lexend"/>
                        <a:cs typeface="Lexend"/>
                        <a:sym typeface="Lexend"/>
                      </a:endParaRPr>
                    </a:p>
                  </a:txBody>
                  <a:tcPr marL="28575" marR="28575" marT="19050" marB="19050" anchor="ctr">
                    <a:lnL w="6350" cap="flat" cmpd="sng">
                      <a:solidFill>
                        <a:srgbClr val="000000"/>
                      </a:solidFill>
                      <a:prstDash val="solid"/>
                      <a:round/>
                      <a:headEnd type="none" w="sm" len="sm"/>
                      <a:tailEnd type="none" w="sm" len="sm"/>
                    </a:lnL>
                    <a:lnR w="6350" cap="flat" cmpd="sng">
                      <a:solidFill>
                        <a:srgbClr val="000000"/>
                      </a:solidFill>
                      <a:prstDash val="dot"/>
                      <a:round/>
                      <a:headEnd type="none" w="sm" len="sm"/>
                      <a:tailEnd type="none" w="sm" len="sm"/>
                    </a:lnR>
                    <a:lnT w="6350" cap="flat" cmpd="sng">
                      <a:solidFill>
                        <a:srgbClr val="000000"/>
                      </a:solidFill>
                      <a:prstDash val="dot"/>
                      <a:round/>
                      <a:headEnd type="none" w="sm" len="sm"/>
                      <a:tailEnd type="none" w="sm" len="sm"/>
                    </a:lnT>
                    <a:lnB w="63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81.0%</a:t>
                      </a:r>
                      <a:endParaRPr sz="1000"/>
                    </a:p>
                  </a:txBody>
                  <a:tcPr marL="28575" marR="28575" marT="19050" marB="19050" anchor="b">
                    <a:lnL w="6350" cap="flat" cmpd="sng">
                      <a:solidFill>
                        <a:srgbClr val="000000"/>
                      </a:solidFill>
                      <a:prstDash val="dot"/>
                      <a:round/>
                      <a:headEnd type="none" w="sm" len="sm"/>
                      <a:tailEnd type="none" w="sm" len="sm"/>
                    </a:lnL>
                    <a:lnR w="6350" cap="flat" cmpd="sng">
                      <a:solidFill>
                        <a:srgbClr val="000000"/>
                      </a:solidFill>
                      <a:prstDash val="dot"/>
                      <a:round/>
                      <a:headEnd type="none" w="sm" len="sm"/>
                      <a:tailEnd type="none" w="sm" len="sm"/>
                    </a:lnR>
                    <a:lnT w="6350" cap="flat" cmpd="sng">
                      <a:solidFill>
                        <a:srgbClr val="000000"/>
                      </a:solidFill>
                      <a:prstDash val="dot"/>
                      <a:round/>
                      <a:headEnd type="none" w="sm" len="sm"/>
                      <a:tailEnd type="none" w="sm" len="sm"/>
                    </a:lnT>
                    <a:lnB w="63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339966"/>
                          </a:solidFill>
                        </a:rPr>
                        <a:t>▲ 1.0%</a:t>
                      </a:r>
                      <a:endParaRPr sz="1000" b="1">
                        <a:solidFill>
                          <a:srgbClr val="339966"/>
                        </a:solidFill>
                      </a:endParaRPr>
                    </a:p>
                  </a:txBody>
                  <a:tcPr marL="28575" marR="28575" marT="19050" marB="19050" anchor="b">
                    <a:lnL w="6350" cap="flat" cmpd="sng">
                      <a:solidFill>
                        <a:srgbClr val="000000"/>
                      </a:solidFill>
                      <a:prstDash val="dot"/>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dot"/>
                      <a:round/>
                      <a:headEnd type="none" w="sm" len="sm"/>
                      <a:tailEnd type="none" w="sm" len="sm"/>
                    </a:lnT>
                    <a:lnB w="6350" cap="flat" cmpd="sng">
                      <a:solidFill>
                        <a:srgbClr val="000000"/>
                      </a:solidFill>
                      <a:prstDash val="dot"/>
                      <a:round/>
                      <a:headEnd type="none" w="sm" len="sm"/>
                      <a:tailEnd type="none" w="sm" len="sm"/>
                    </a:lnB>
                  </a:tcPr>
                </a:tc>
                <a:extLst>
                  <a:ext uri="{0D108BD9-81ED-4DB2-BD59-A6C34878D82A}">
                    <a16:rowId xmlns:a16="http://schemas.microsoft.com/office/drawing/2014/main" val="10005"/>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FR</a:t>
                      </a:r>
                      <a:endParaRPr sz="900">
                        <a:latin typeface="Lexend"/>
                        <a:ea typeface="Lexend"/>
                        <a:cs typeface="Lexend"/>
                        <a:sym typeface="Lexend"/>
                      </a:endParaRPr>
                    </a:p>
                  </a:txBody>
                  <a:tcPr marL="28575" marR="28575" marT="19050" marB="19050" anchor="ctr">
                    <a:lnL w="6350" cap="flat" cmpd="sng">
                      <a:solidFill>
                        <a:srgbClr val="000000"/>
                      </a:solidFill>
                      <a:prstDash val="solid"/>
                      <a:round/>
                      <a:headEnd type="none" w="sm" len="sm"/>
                      <a:tailEnd type="none" w="sm" len="sm"/>
                    </a:lnL>
                    <a:lnR w="6350" cap="flat" cmpd="sng">
                      <a:solidFill>
                        <a:srgbClr val="000000"/>
                      </a:solidFill>
                      <a:prstDash val="dot"/>
                      <a:round/>
                      <a:headEnd type="none" w="sm" len="sm"/>
                      <a:tailEnd type="none" w="sm" len="sm"/>
                    </a:lnR>
                    <a:lnT w="6350" cap="flat" cmpd="sng">
                      <a:solidFill>
                        <a:srgbClr val="000000"/>
                      </a:solidFill>
                      <a:prstDash val="dot"/>
                      <a:round/>
                      <a:headEnd type="none" w="sm" len="sm"/>
                      <a:tailEnd type="none" w="sm" len="sm"/>
                    </a:lnT>
                    <a:lnB w="63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72.0%</a:t>
                      </a:r>
                      <a:endParaRPr sz="1000"/>
                    </a:p>
                  </a:txBody>
                  <a:tcPr marL="28575" marR="28575" marT="19050" marB="19050" anchor="b">
                    <a:lnL w="6350" cap="flat" cmpd="sng">
                      <a:solidFill>
                        <a:srgbClr val="000000"/>
                      </a:solidFill>
                      <a:prstDash val="dot"/>
                      <a:round/>
                      <a:headEnd type="none" w="sm" len="sm"/>
                      <a:tailEnd type="none" w="sm" len="sm"/>
                    </a:lnL>
                    <a:lnR w="6350" cap="flat" cmpd="sng">
                      <a:solidFill>
                        <a:srgbClr val="000000"/>
                      </a:solidFill>
                      <a:prstDash val="dot"/>
                      <a:round/>
                      <a:headEnd type="none" w="sm" len="sm"/>
                      <a:tailEnd type="none" w="sm" len="sm"/>
                    </a:lnR>
                    <a:lnT w="6350" cap="flat" cmpd="sng">
                      <a:solidFill>
                        <a:srgbClr val="000000"/>
                      </a:solidFill>
                      <a:prstDash val="dot"/>
                      <a:round/>
                      <a:headEnd type="none" w="sm" len="sm"/>
                      <a:tailEnd type="none" w="sm" len="sm"/>
                    </a:lnT>
                    <a:lnB w="63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339966"/>
                          </a:solidFill>
                        </a:rPr>
                        <a:t>▲ 2.0%</a:t>
                      </a:r>
                      <a:endParaRPr sz="1000" b="1">
                        <a:solidFill>
                          <a:srgbClr val="339966"/>
                        </a:solidFill>
                      </a:endParaRPr>
                    </a:p>
                  </a:txBody>
                  <a:tcPr marL="28575" marR="28575" marT="19050" marB="19050" anchor="b">
                    <a:lnL w="6350" cap="flat" cmpd="sng">
                      <a:solidFill>
                        <a:srgbClr val="000000"/>
                      </a:solidFill>
                      <a:prstDash val="dot"/>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dot"/>
                      <a:round/>
                      <a:headEnd type="none" w="sm" len="sm"/>
                      <a:tailEnd type="none" w="sm" len="sm"/>
                    </a:lnT>
                    <a:lnB w="6350"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graphicFrame>
        <p:nvGraphicFramePr>
          <p:cNvPr id="227" name="Google Shape;227;p37"/>
          <p:cNvGraphicFramePr/>
          <p:nvPr/>
        </p:nvGraphicFramePr>
        <p:xfrm>
          <a:off x="640025" y="1214313"/>
          <a:ext cx="3000000" cy="3000000"/>
        </p:xfrm>
        <a:graphic>
          <a:graphicData uri="http://schemas.openxmlformats.org/drawingml/2006/table">
            <a:tbl>
              <a:tblPr>
                <a:noFill/>
                <a:tableStyleId>{98498B5D-82F5-4DDD-BB04-C168985C330A}</a:tableStyleId>
              </a:tblPr>
              <a:tblGrid>
                <a:gridCol w="704675">
                  <a:extLst>
                    <a:ext uri="{9D8B030D-6E8A-4147-A177-3AD203B41FA5}">
                      <a16:colId xmlns:a16="http://schemas.microsoft.com/office/drawing/2014/main" val="20000"/>
                    </a:ext>
                  </a:extLst>
                </a:gridCol>
                <a:gridCol w="704675">
                  <a:extLst>
                    <a:ext uri="{9D8B030D-6E8A-4147-A177-3AD203B41FA5}">
                      <a16:colId xmlns:a16="http://schemas.microsoft.com/office/drawing/2014/main" val="20001"/>
                    </a:ext>
                  </a:extLst>
                </a:gridCol>
                <a:gridCol w="784075">
                  <a:extLst>
                    <a:ext uri="{9D8B030D-6E8A-4147-A177-3AD203B41FA5}">
                      <a16:colId xmlns:a16="http://schemas.microsoft.com/office/drawing/2014/main" val="20002"/>
                    </a:ext>
                  </a:extLst>
                </a:gridCol>
                <a:gridCol w="704675">
                  <a:extLst>
                    <a:ext uri="{9D8B030D-6E8A-4147-A177-3AD203B41FA5}">
                      <a16:colId xmlns:a16="http://schemas.microsoft.com/office/drawing/2014/main" val="20003"/>
                    </a:ext>
                  </a:extLst>
                </a:gridCol>
                <a:gridCol w="704675">
                  <a:extLst>
                    <a:ext uri="{9D8B030D-6E8A-4147-A177-3AD203B41FA5}">
                      <a16:colId xmlns:a16="http://schemas.microsoft.com/office/drawing/2014/main" val="20004"/>
                    </a:ext>
                  </a:extLst>
                </a:gridCol>
              </a:tblGrid>
              <a:tr h="324400">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Segment</a:t>
                      </a:r>
                      <a:endParaRPr sz="900" b="1">
                        <a:solidFill>
                          <a:srgbClr val="FFFFFF"/>
                        </a:solidFill>
                        <a:latin typeface="Lexend"/>
                        <a:ea typeface="Lexend"/>
                        <a:cs typeface="Lexend"/>
                        <a:sym typeface="Lexend"/>
                      </a:endParaRPr>
                    </a:p>
                  </a:txBody>
                  <a:tcPr marL="28575" marR="28575" marT="19050" marB="19050" anchor="ctr">
                    <a:lnL w="10150" cap="flat" cmpd="sng">
                      <a:solidFill>
                        <a:srgbClr val="000000"/>
                      </a:solidFill>
                      <a:prstDash val="solid"/>
                      <a:round/>
                      <a:headEnd type="none" w="sm" len="sm"/>
                      <a:tailEnd type="none" w="sm" len="sm"/>
                    </a:lnL>
                    <a:lnT w="10150" cap="flat" cmpd="sng">
                      <a:solidFill>
                        <a:srgbClr val="000000"/>
                      </a:solidFill>
                      <a:prstDash val="solid"/>
                      <a:round/>
                      <a:headEnd type="none" w="sm" len="sm"/>
                      <a:tailEnd type="none" w="sm" len="sm"/>
                    </a:lnT>
                    <a:lnB w="10150" cap="flat" cmpd="sng">
                      <a:solidFill>
                        <a:srgbClr val="000000"/>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SH</a:t>
                      </a:r>
                      <a:endParaRPr sz="900" b="1">
                        <a:solidFill>
                          <a:srgbClr val="FFFFFF"/>
                        </a:solidFill>
                        <a:latin typeface="Lexend"/>
                        <a:ea typeface="Lexend"/>
                        <a:cs typeface="Lexend"/>
                        <a:sym typeface="Lexend"/>
                      </a:endParaRPr>
                    </a:p>
                  </a:txBody>
                  <a:tcPr marL="28575" marR="28575" marT="19050" marB="19050" anchor="ctr">
                    <a:lnT w="10150" cap="flat" cmpd="sng">
                      <a:solidFill>
                        <a:srgbClr val="000000"/>
                      </a:solidFill>
                      <a:prstDash val="solid"/>
                      <a:round/>
                      <a:headEnd type="none" w="sm" len="sm"/>
                      <a:tailEnd type="none" w="sm" len="sm"/>
                    </a:lnT>
                    <a:lnB w="10150" cap="flat" cmpd="sng">
                      <a:solidFill>
                        <a:srgbClr val="000000"/>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800" b="1">
                          <a:solidFill>
                            <a:srgbClr val="FFFFFF"/>
                          </a:solidFill>
                          <a:latin typeface="Lexend"/>
                          <a:ea typeface="Lexend"/>
                          <a:cs typeface="Lexend"/>
                          <a:sym typeface="Lexend"/>
                        </a:rPr>
                        <a:t>Gap Planning</a:t>
                      </a:r>
                      <a:endParaRPr sz="800" b="1">
                        <a:solidFill>
                          <a:srgbClr val="FFFFFF"/>
                        </a:solidFill>
                        <a:latin typeface="Lexend"/>
                        <a:ea typeface="Lexend"/>
                        <a:cs typeface="Lexend"/>
                        <a:sym typeface="Lexend"/>
                      </a:endParaRPr>
                    </a:p>
                  </a:txBody>
                  <a:tcPr marL="28575" marR="28575" marT="19050" marB="19050" anchor="ctr">
                    <a:lnT w="10150" cap="flat" cmpd="sng">
                      <a:solidFill>
                        <a:srgbClr val="000000"/>
                      </a:solidFill>
                      <a:prstDash val="solid"/>
                      <a:round/>
                      <a:headEnd type="none" w="sm" len="sm"/>
                      <a:tailEnd type="none" w="sm" len="sm"/>
                    </a:lnT>
                    <a:lnB w="10150" cap="flat" cmpd="sng">
                      <a:solidFill>
                        <a:srgbClr val="000000"/>
                      </a:solidFill>
                      <a:prstDash val="solid"/>
                      <a:round/>
                      <a:headEnd type="none" w="sm" len="sm"/>
                      <a:tailEnd type="none" w="sm" len="sm"/>
                    </a:lnB>
                    <a:solidFill>
                      <a:srgbClr val="FF6D01"/>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SH-WoW</a:t>
                      </a:r>
                      <a:endParaRPr sz="900" b="1">
                        <a:solidFill>
                          <a:srgbClr val="FFFFFF"/>
                        </a:solidFill>
                        <a:latin typeface="Lexend"/>
                        <a:ea typeface="Lexend"/>
                        <a:cs typeface="Lexend"/>
                        <a:sym typeface="Lexend"/>
                      </a:endParaRPr>
                    </a:p>
                  </a:txBody>
                  <a:tcPr marL="28575" marR="28575" marT="19050" marB="19050" anchor="ctr">
                    <a:lnT w="10150" cap="flat" cmpd="sng">
                      <a:solidFill>
                        <a:srgbClr val="000000"/>
                      </a:solidFill>
                      <a:prstDash val="solid"/>
                      <a:round/>
                      <a:headEnd type="none" w="sm" len="sm"/>
                      <a:tailEnd type="none" w="sm" len="sm"/>
                    </a:lnT>
                    <a:lnB w="10150" cap="flat" cmpd="sng">
                      <a:solidFill>
                        <a:srgbClr val="000000"/>
                      </a:solidFill>
                      <a:prstDash val="solid"/>
                      <a:round/>
                      <a:headEnd type="none" w="sm" len="sm"/>
                      <a:tailEnd type="none" w="sm" len="sm"/>
                    </a:lnB>
                    <a:solidFill>
                      <a:srgbClr val="FF6D01"/>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Prod</a:t>
                      </a:r>
                      <a:endParaRPr sz="900" b="1">
                        <a:solidFill>
                          <a:srgbClr val="FFFFFF"/>
                        </a:solidFill>
                        <a:latin typeface="Lexend"/>
                        <a:ea typeface="Lexend"/>
                        <a:cs typeface="Lexend"/>
                        <a:sym typeface="Lexend"/>
                      </a:endParaRPr>
                    </a:p>
                  </a:txBody>
                  <a:tcPr marL="28575" marR="28575" marT="19050" marB="19050" anchor="ctr">
                    <a:lnT w="10150" cap="flat" cmpd="sng">
                      <a:solidFill>
                        <a:srgbClr val="000000"/>
                      </a:solidFill>
                      <a:prstDash val="solid"/>
                      <a:round/>
                      <a:headEnd type="none" w="sm" len="sm"/>
                      <a:tailEnd type="none" w="sm" len="sm"/>
                    </a:lnT>
                    <a:lnB w="10150" cap="flat" cmpd="sng">
                      <a:solidFill>
                        <a:srgbClr val="000000"/>
                      </a:solidFill>
                      <a:prstDash val="solid"/>
                      <a:round/>
                      <a:headEnd type="none" w="sm" len="sm"/>
                      <a:tailEnd type="none" w="sm" len="sm"/>
                    </a:lnB>
                    <a:solidFill>
                      <a:srgbClr val="073763"/>
                    </a:solidFill>
                  </a:tcPr>
                </a:tc>
                <a:extLst>
                  <a:ext uri="{0D108BD9-81ED-4DB2-BD59-A6C34878D82A}">
                    <a16:rowId xmlns:a16="http://schemas.microsoft.com/office/drawing/2014/main" val="10000"/>
                  </a:ext>
                </a:extLst>
              </a:tr>
              <a:tr h="2099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FT</a:t>
                      </a:r>
                      <a:endParaRPr sz="900">
                        <a:latin typeface="Lexend"/>
                        <a:ea typeface="Lexend"/>
                        <a:cs typeface="Lexend"/>
                        <a:sym typeface="Lexend"/>
                      </a:endParaRPr>
                    </a:p>
                  </a:txBody>
                  <a:tcPr marL="28575" marR="28575" marT="19050" marB="19050" anchor="ctr">
                    <a:lnL w="10150" cap="flat" cmpd="sng">
                      <a:solidFill>
                        <a:srgbClr val="000000"/>
                      </a:solidFill>
                      <a:prstDash val="solid"/>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solid"/>
                      <a:round/>
                      <a:headEnd type="none" w="sm" len="sm"/>
                      <a:tailEnd type="none" w="sm" len="sm"/>
                    </a:lnT>
                    <a:lnB w="101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44K</a:t>
                      </a:r>
                      <a:endParaRPr sz="1000"/>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solid"/>
                      <a:round/>
                      <a:headEnd type="none" w="sm" len="sm"/>
                      <a:tailEnd type="none" w="sm" len="sm"/>
                    </a:lnT>
                    <a:lnB w="101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CC0000"/>
                          </a:solidFill>
                        </a:rPr>
                        <a:t>-22.70%</a:t>
                      </a:r>
                      <a:endParaRPr sz="1000" b="1">
                        <a:solidFill>
                          <a:srgbClr val="CC0000"/>
                        </a:solidFill>
                      </a:endParaRPr>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solid"/>
                      <a:round/>
                      <a:headEnd type="none" w="sm" len="sm"/>
                      <a:tailEnd type="none" w="sm" len="sm"/>
                    </a:lnT>
                    <a:lnB w="10150" cap="flat" cmpd="sng">
                      <a:solidFill>
                        <a:srgbClr val="000000"/>
                      </a:solidFill>
                      <a:prstDash val="dot"/>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1000" b="1">
                          <a:solidFill>
                            <a:srgbClr val="FF0000"/>
                          </a:solidFill>
                        </a:rPr>
                        <a:t>▼ -0.7%</a:t>
                      </a:r>
                      <a:endParaRPr sz="1000" b="1">
                        <a:solidFill>
                          <a:srgbClr val="FF0000"/>
                        </a:solidFill>
                      </a:endParaRPr>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solid"/>
                      <a:round/>
                      <a:headEnd type="none" w="sm" len="sm"/>
                      <a:tailEnd type="none" w="sm" len="sm"/>
                    </a:lnT>
                    <a:lnB w="101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69.1</a:t>
                      </a:r>
                      <a:endParaRPr sz="1000"/>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solid"/>
                      <a:round/>
                      <a:headEnd type="none" w="sm" len="sm"/>
                      <a:tailEnd type="none" w="sm" len="sm"/>
                    </a:lnT>
                    <a:lnB w="10150" cap="flat" cmpd="sng">
                      <a:solidFill>
                        <a:srgbClr val="000000"/>
                      </a:solidFill>
                      <a:prstDash val="dot"/>
                      <a:round/>
                      <a:headEnd type="none" w="sm" len="sm"/>
                      <a:tailEnd type="none" w="sm" len="sm"/>
                    </a:lnB>
                  </a:tcPr>
                </a:tc>
                <a:extLst>
                  <a:ext uri="{0D108BD9-81ED-4DB2-BD59-A6C34878D82A}">
                    <a16:rowId xmlns:a16="http://schemas.microsoft.com/office/drawing/2014/main" val="10001"/>
                  </a:ext>
                </a:extLst>
              </a:tr>
              <a:tr h="2099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NIM</a:t>
                      </a:r>
                      <a:endParaRPr sz="900">
                        <a:latin typeface="Lexend"/>
                        <a:ea typeface="Lexend"/>
                        <a:cs typeface="Lexend"/>
                        <a:sym typeface="Lexend"/>
                      </a:endParaRPr>
                    </a:p>
                  </a:txBody>
                  <a:tcPr marL="28575" marR="28575" marT="19050" marB="19050" anchor="ctr">
                    <a:lnL w="10150" cap="flat" cmpd="sng">
                      <a:solidFill>
                        <a:srgbClr val="000000"/>
                      </a:solidFill>
                      <a:prstDash val="solid"/>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18K</a:t>
                      </a:r>
                      <a:endParaRPr sz="1000"/>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CC0000"/>
                          </a:solidFill>
                        </a:rPr>
                        <a:t>-19.70%</a:t>
                      </a:r>
                      <a:endParaRPr sz="1000" b="1">
                        <a:solidFill>
                          <a:srgbClr val="CC0000"/>
                        </a:solidFill>
                      </a:endParaRPr>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dot"/>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1000" b="1">
                          <a:solidFill>
                            <a:srgbClr val="339966"/>
                          </a:solidFill>
                        </a:rPr>
                        <a:t>▲ 34.3%</a:t>
                      </a:r>
                      <a:endParaRPr sz="1000" b="1">
                        <a:solidFill>
                          <a:srgbClr val="339966"/>
                        </a:solidFill>
                      </a:endParaRPr>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21.2</a:t>
                      </a:r>
                      <a:endParaRPr sz="1000"/>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dot"/>
                      <a:round/>
                      <a:headEnd type="none" w="sm" len="sm"/>
                      <a:tailEnd type="none" w="sm" len="sm"/>
                    </a:lnB>
                  </a:tcPr>
                </a:tc>
                <a:extLst>
                  <a:ext uri="{0D108BD9-81ED-4DB2-BD59-A6C34878D82A}">
                    <a16:rowId xmlns:a16="http://schemas.microsoft.com/office/drawing/2014/main" val="10002"/>
                  </a:ext>
                </a:extLst>
              </a:tr>
              <a:tr h="10787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NLM</a:t>
                      </a:r>
                      <a:endParaRPr sz="900">
                        <a:latin typeface="Lexend"/>
                        <a:ea typeface="Lexend"/>
                        <a:cs typeface="Lexend"/>
                        <a:sym typeface="Lexend"/>
                      </a:endParaRPr>
                    </a:p>
                  </a:txBody>
                  <a:tcPr marL="28575" marR="28575" marT="19050" marB="19050" anchor="ctr">
                    <a:lnL w="10150" cap="flat" cmpd="sng">
                      <a:solidFill>
                        <a:srgbClr val="000000"/>
                      </a:solidFill>
                      <a:prstDash val="solid"/>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12K</a:t>
                      </a:r>
                      <a:endParaRPr sz="1000"/>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CC0000"/>
                          </a:solidFill>
                        </a:rPr>
                        <a:t>-20.13%</a:t>
                      </a:r>
                      <a:endParaRPr sz="1000" b="1">
                        <a:solidFill>
                          <a:srgbClr val="CC0000"/>
                        </a:solidFill>
                      </a:endParaRPr>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dot"/>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1000" b="1">
                          <a:solidFill>
                            <a:srgbClr val="FF0000"/>
                          </a:solidFill>
                        </a:rPr>
                        <a:t>▼ -0.2%</a:t>
                      </a:r>
                      <a:endParaRPr sz="1000" b="1">
                        <a:solidFill>
                          <a:srgbClr val="FF0000"/>
                        </a:solidFill>
                      </a:endParaRPr>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25.1</a:t>
                      </a:r>
                      <a:endParaRPr sz="1000"/>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dot"/>
                      <a:round/>
                      <a:headEnd type="none" w="sm" len="sm"/>
                      <a:tailEnd type="none" w="sm" len="sm"/>
                    </a:lnB>
                  </a:tcPr>
                </a:tc>
                <a:extLst>
                  <a:ext uri="{0D108BD9-81ED-4DB2-BD59-A6C34878D82A}">
                    <a16:rowId xmlns:a16="http://schemas.microsoft.com/office/drawing/2014/main" val="10003"/>
                  </a:ext>
                </a:extLst>
              </a:tr>
              <a:tr h="2099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PT</a:t>
                      </a:r>
                      <a:endParaRPr sz="900">
                        <a:latin typeface="Lexend"/>
                        <a:ea typeface="Lexend"/>
                        <a:cs typeface="Lexend"/>
                        <a:sym typeface="Lexend"/>
                      </a:endParaRPr>
                    </a:p>
                  </a:txBody>
                  <a:tcPr marL="28575" marR="28575" marT="19050" marB="19050" anchor="ctr">
                    <a:lnL w="10150" cap="flat" cmpd="sng">
                      <a:solidFill>
                        <a:srgbClr val="000000"/>
                      </a:solidFill>
                      <a:prstDash val="solid"/>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90K</a:t>
                      </a:r>
                      <a:endParaRPr sz="1000"/>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CC0000"/>
                          </a:solidFill>
                        </a:rPr>
                        <a:t>-13.80%</a:t>
                      </a:r>
                      <a:endParaRPr sz="1000" b="1">
                        <a:solidFill>
                          <a:srgbClr val="CC0000"/>
                        </a:solidFill>
                      </a:endParaRPr>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dot"/>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1000" b="1">
                          <a:solidFill>
                            <a:srgbClr val="339966"/>
                          </a:solidFill>
                        </a:rPr>
                        <a:t>▲ 7.0%</a:t>
                      </a:r>
                      <a:endParaRPr sz="1000" b="1">
                        <a:solidFill>
                          <a:srgbClr val="339966"/>
                        </a:solidFill>
                      </a:endParaRPr>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25.6</a:t>
                      </a:r>
                      <a:endParaRPr sz="1000"/>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dot"/>
                      <a:round/>
                      <a:headEnd type="none" w="sm" len="sm"/>
                      <a:tailEnd type="none" w="sm" len="sm"/>
                    </a:lnB>
                  </a:tcPr>
                </a:tc>
                <a:extLst>
                  <a:ext uri="{0D108BD9-81ED-4DB2-BD59-A6C34878D82A}">
                    <a16:rowId xmlns:a16="http://schemas.microsoft.com/office/drawing/2014/main" val="10004"/>
                  </a:ext>
                </a:extLst>
              </a:tr>
              <a:tr h="2099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Return</a:t>
                      </a:r>
                      <a:endParaRPr sz="900">
                        <a:latin typeface="Lexend"/>
                        <a:ea typeface="Lexend"/>
                        <a:cs typeface="Lexend"/>
                        <a:sym typeface="Lexend"/>
                      </a:endParaRPr>
                    </a:p>
                  </a:txBody>
                  <a:tcPr marL="28575" marR="28575" marT="19050" marB="19050" anchor="ctr">
                    <a:lnL w="10150" cap="flat" cmpd="sng">
                      <a:solidFill>
                        <a:srgbClr val="000000"/>
                      </a:solidFill>
                      <a:prstDash val="solid"/>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12K</a:t>
                      </a:r>
                      <a:endParaRPr sz="1000"/>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38761D"/>
                          </a:solidFill>
                        </a:rPr>
                        <a:t>24.27%</a:t>
                      </a:r>
                      <a:endParaRPr sz="1000" b="1">
                        <a:solidFill>
                          <a:srgbClr val="38761D"/>
                        </a:solidFill>
                      </a:endParaRPr>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solid"/>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1000" b="1">
                          <a:solidFill>
                            <a:srgbClr val="339966"/>
                          </a:solidFill>
                        </a:rPr>
                        <a:t>▲ 21.3%</a:t>
                      </a:r>
                      <a:endParaRPr sz="1000" b="1">
                        <a:solidFill>
                          <a:srgbClr val="339966"/>
                        </a:solidFill>
                      </a:endParaRPr>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18.9</a:t>
                      </a:r>
                      <a:endParaRPr sz="1000"/>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209925">
                <a:tc>
                  <a:txBody>
                    <a:bodyPr/>
                    <a:lstStyle/>
                    <a:p>
                      <a:pPr marL="0" lvl="0" indent="0" algn="ctr" rtl="0">
                        <a:lnSpc>
                          <a:spcPct val="115000"/>
                        </a:lnSpc>
                        <a:spcBef>
                          <a:spcPts val="0"/>
                        </a:spcBef>
                        <a:spcAft>
                          <a:spcPts val="0"/>
                        </a:spcAft>
                        <a:buNone/>
                      </a:pPr>
                      <a:r>
                        <a:rPr lang="en" sz="1000" b="1"/>
                        <a:t>Total</a:t>
                      </a:r>
                      <a:endParaRPr sz="1000" b="1"/>
                    </a:p>
                  </a:txBody>
                  <a:tcPr marL="28575" marR="28575" marT="19050" marB="19050" anchor="b">
                    <a:lnL w="10150" cap="flat" cmpd="sng">
                      <a:solidFill>
                        <a:srgbClr val="000000"/>
                      </a:solidFill>
                      <a:prstDash val="dash"/>
                      <a:round/>
                      <a:headEnd type="none" w="sm" len="sm"/>
                      <a:tailEnd type="none" w="sm" len="sm"/>
                    </a:lnL>
                    <a:lnT w="10150" cap="flat" cmpd="sng">
                      <a:solidFill>
                        <a:srgbClr val="000000"/>
                      </a:solidFill>
                      <a:prstDash val="solid"/>
                      <a:round/>
                      <a:headEnd type="none" w="sm" len="sm"/>
                      <a:tailEnd type="none" w="sm" len="sm"/>
                    </a:lnT>
                    <a:lnB w="10150" cap="flat" cmpd="sng">
                      <a:solidFill>
                        <a:srgbClr val="000000"/>
                      </a:solidFill>
                      <a:prstDash val="dash"/>
                      <a:round/>
                      <a:headEnd type="none" w="sm" len="sm"/>
                      <a:tailEnd type="none" w="sm" len="sm"/>
                    </a:lnB>
                  </a:tcPr>
                </a:tc>
                <a:tc>
                  <a:txBody>
                    <a:bodyPr/>
                    <a:lstStyle/>
                    <a:p>
                      <a:pPr marL="0" lvl="0" indent="0" algn="ctr" rtl="0">
                        <a:lnSpc>
                          <a:spcPct val="115000"/>
                        </a:lnSpc>
                        <a:spcBef>
                          <a:spcPts val="0"/>
                        </a:spcBef>
                        <a:spcAft>
                          <a:spcPts val="0"/>
                        </a:spcAft>
                        <a:buNone/>
                      </a:pPr>
                      <a:r>
                        <a:rPr lang="en" sz="1000" b="1"/>
                        <a:t>176K</a:t>
                      </a:r>
                      <a:endParaRPr sz="1000" b="1"/>
                    </a:p>
                  </a:txBody>
                  <a:tcPr marL="28575" marR="28575" marT="19050" marB="19050" anchor="b">
                    <a:lnR w="10150" cap="flat" cmpd="sng">
                      <a:solidFill>
                        <a:srgbClr val="000000"/>
                      </a:solidFill>
                      <a:prstDash val="dot"/>
                      <a:round/>
                      <a:headEnd type="none" w="sm" len="sm"/>
                      <a:tailEnd type="none" w="sm" len="sm"/>
                    </a:lnR>
                    <a:lnT w="10150" cap="flat" cmpd="sng">
                      <a:solidFill>
                        <a:srgbClr val="000000"/>
                      </a:solidFill>
                      <a:prstDash val="solid"/>
                      <a:round/>
                      <a:headEnd type="none" w="sm" len="sm"/>
                      <a:tailEnd type="none" w="sm" len="sm"/>
                    </a:lnT>
                    <a:lnB w="10150" cap="flat" cmpd="sng">
                      <a:solidFill>
                        <a:srgbClr val="000000"/>
                      </a:solidFill>
                      <a:prstDash val="dash"/>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CC0000"/>
                          </a:solidFill>
                        </a:rPr>
                        <a:t>-15.61%</a:t>
                      </a:r>
                      <a:endParaRPr sz="1000" b="1">
                        <a:solidFill>
                          <a:srgbClr val="CC0000"/>
                        </a:solidFill>
                      </a:endParaRPr>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solid"/>
                      <a:round/>
                      <a:headEnd type="none" w="sm" len="sm"/>
                      <a:tailEnd type="none" w="sm" len="sm"/>
                    </a:lnT>
                    <a:lnB w="10150" cap="flat" cmpd="sng">
                      <a:solidFill>
                        <a:srgbClr val="000000"/>
                      </a:solidFill>
                      <a:prstDash val="dash"/>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1000" b="1">
                          <a:solidFill>
                            <a:srgbClr val="339966"/>
                          </a:solidFill>
                        </a:rPr>
                        <a:t>▲ 7.4%</a:t>
                      </a:r>
                      <a:endParaRPr sz="1000" b="1">
                        <a:solidFill>
                          <a:srgbClr val="339966"/>
                        </a:solidFill>
                      </a:endParaRPr>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solid"/>
                      <a:round/>
                      <a:headEnd type="none" w="sm" len="sm"/>
                      <a:tailEnd type="none" w="sm" len="sm"/>
                    </a:lnT>
                    <a:lnB w="10150" cap="flat" cmpd="sng">
                      <a:solidFill>
                        <a:srgbClr val="000000"/>
                      </a:solidFill>
                      <a:prstDash val="dash"/>
                      <a:round/>
                      <a:headEnd type="none" w="sm" len="sm"/>
                      <a:tailEnd type="none" w="sm" len="sm"/>
                    </a:lnB>
                  </a:tcPr>
                </a:tc>
                <a:tc>
                  <a:txBody>
                    <a:bodyPr/>
                    <a:lstStyle/>
                    <a:p>
                      <a:pPr marL="0" lvl="0" indent="0" algn="ctr" rtl="0">
                        <a:lnSpc>
                          <a:spcPct val="115000"/>
                        </a:lnSpc>
                        <a:spcBef>
                          <a:spcPts val="0"/>
                        </a:spcBef>
                        <a:spcAft>
                          <a:spcPts val="0"/>
                        </a:spcAft>
                        <a:buNone/>
                      </a:pPr>
                      <a:endParaRPr sz="1000" b="1">
                        <a:solidFill>
                          <a:srgbClr val="FF0000"/>
                        </a:solidFill>
                      </a:endParaRPr>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solid"/>
                      <a:round/>
                      <a:headEnd type="none" w="sm" len="sm"/>
                      <a:tailEnd type="none" w="sm" len="sm"/>
                    </a:lnT>
                    <a:lnB w="10150" cap="flat" cmpd="sng">
                      <a:solidFill>
                        <a:srgbClr val="000000"/>
                      </a:solidFill>
                      <a:prstDash val="dash"/>
                      <a:round/>
                      <a:headEnd type="none" w="sm" len="sm"/>
                      <a:tailEnd type="none" w="sm" len="sm"/>
                    </a:lnB>
                  </a:tcPr>
                </a:tc>
                <a:extLst>
                  <a:ext uri="{0D108BD9-81ED-4DB2-BD59-A6C34878D82A}">
                    <a16:rowId xmlns:a16="http://schemas.microsoft.com/office/drawing/2014/main" val="10006"/>
                  </a:ext>
                </a:extLst>
              </a:tr>
            </a:tbl>
          </a:graphicData>
        </a:graphic>
      </p:graphicFrame>
      <p:graphicFrame>
        <p:nvGraphicFramePr>
          <p:cNvPr id="228" name="Google Shape;228;p37"/>
          <p:cNvGraphicFramePr/>
          <p:nvPr/>
        </p:nvGraphicFramePr>
        <p:xfrm>
          <a:off x="4898550" y="1215125"/>
          <a:ext cx="3000000" cy="3000000"/>
        </p:xfrm>
        <a:graphic>
          <a:graphicData uri="http://schemas.openxmlformats.org/drawingml/2006/table">
            <a:tbl>
              <a:tblPr>
                <a:noFill/>
                <a:tableStyleId>{98498B5D-82F5-4DDD-BB04-C168985C330A}</a:tableStyleId>
              </a:tblPr>
              <a:tblGrid>
                <a:gridCol w="952500">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gridCol w="952500">
                  <a:extLst>
                    <a:ext uri="{9D8B030D-6E8A-4147-A177-3AD203B41FA5}">
                      <a16:colId xmlns:a16="http://schemas.microsoft.com/office/drawing/2014/main" val="20002"/>
                    </a:ext>
                  </a:extLst>
                </a:gridCol>
                <a:gridCol w="952500">
                  <a:extLst>
                    <a:ext uri="{9D8B030D-6E8A-4147-A177-3AD203B41FA5}">
                      <a16:colId xmlns:a16="http://schemas.microsoft.com/office/drawing/2014/main" val="20003"/>
                    </a:ext>
                  </a:extLst>
                </a:gridCol>
              </a:tblGrid>
              <a:tr h="200025">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Segment</a:t>
                      </a:r>
                      <a:endParaRPr sz="900" b="1">
                        <a:solidFill>
                          <a:srgbClr val="FFFFFF"/>
                        </a:solidFill>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Supply hour</a:t>
                      </a:r>
                      <a:endParaRPr sz="900" b="1">
                        <a:solidFill>
                          <a:srgbClr val="FFFFFF"/>
                        </a:solidFill>
                        <a:latin typeface="Lexend"/>
                        <a:ea typeface="Lexend"/>
                        <a:cs typeface="Lexend"/>
                        <a:sym typeface="Lexend"/>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SH-Planning</a:t>
                      </a:r>
                      <a:endParaRPr sz="900" b="1">
                        <a:solidFill>
                          <a:srgbClr val="FFFFFF"/>
                        </a:solidFill>
                        <a:latin typeface="Lexend"/>
                        <a:ea typeface="Lexend"/>
                        <a:cs typeface="Lexend"/>
                        <a:sym typeface="Lexend"/>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6D01"/>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Prod</a:t>
                      </a:r>
                      <a:endParaRPr sz="900" b="1">
                        <a:solidFill>
                          <a:srgbClr val="FFFFFF"/>
                        </a:solidFill>
                        <a:latin typeface="Lexend"/>
                        <a:ea typeface="Lexend"/>
                        <a:cs typeface="Lexend"/>
                        <a:sym typeface="Lexend"/>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73763"/>
                    </a:solidFill>
                  </a:tcPr>
                </a:tc>
                <a:extLst>
                  <a:ext uri="{0D108BD9-81ED-4DB2-BD59-A6C34878D82A}">
                    <a16:rowId xmlns:a16="http://schemas.microsoft.com/office/drawing/2014/main" val="10000"/>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FT</a:t>
                      </a:r>
                      <a:endParaRPr sz="900">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121,743</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FF0000"/>
                          </a:solidFill>
                        </a:rPr>
                        <a:t>▼ -5.3%</a:t>
                      </a:r>
                      <a:endParaRPr sz="1000" b="1">
                        <a:solidFill>
                          <a:srgbClr val="FF0000"/>
                        </a:solidFill>
                      </a:endParaRPr>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63.0</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dot"/>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PT</a:t>
                      </a:r>
                      <a:endParaRPr sz="900">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98,037</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FF0000"/>
                          </a:solidFill>
                        </a:rPr>
                        <a:t>▼ -5.0%</a:t>
                      </a:r>
                      <a:endParaRPr sz="1000" b="1">
                        <a:solidFill>
                          <a:srgbClr val="FF0000"/>
                        </a:solidFill>
                      </a:endParaRPr>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26.9</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NLM</a:t>
                      </a:r>
                      <a:endParaRPr sz="900">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17,799</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339966"/>
                          </a:solidFill>
                        </a:rPr>
                        <a:t>▲ 12.3%</a:t>
                      </a:r>
                      <a:endParaRPr sz="1000" b="1">
                        <a:solidFill>
                          <a:srgbClr val="339966"/>
                        </a:solidFill>
                      </a:endParaRPr>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32.4</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extLst>
                  <a:ext uri="{0D108BD9-81ED-4DB2-BD59-A6C34878D82A}">
                    <a16:rowId xmlns:a16="http://schemas.microsoft.com/office/drawing/2014/main" val="10003"/>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NIM</a:t>
                      </a:r>
                      <a:endParaRPr sz="900">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25,735</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339966"/>
                          </a:solidFill>
                        </a:rPr>
                        <a:t>▲ 23.1%</a:t>
                      </a:r>
                      <a:endParaRPr sz="1000" b="1">
                        <a:solidFill>
                          <a:srgbClr val="339966"/>
                        </a:solidFill>
                      </a:endParaRPr>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27.3</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extLst>
                  <a:ext uri="{0D108BD9-81ED-4DB2-BD59-A6C34878D82A}">
                    <a16:rowId xmlns:a16="http://schemas.microsoft.com/office/drawing/2014/main" val="10004"/>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Return</a:t>
                      </a:r>
                      <a:endParaRPr sz="900">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9,563</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339966"/>
                          </a:solidFill>
                        </a:rPr>
                        <a:t>▲ 39.7%</a:t>
                      </a:r>
                      <a:endParaRPr sz="1000" b="1">
                        <a:solidFill>
                          <a:srgbClr val="339966"/>
                        </a:solidFill>
                      </a:endParaRPr>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24.4</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200025">
                <a:tc>
                  <a:txBody>
                    <a:bodyPr/>
                    <a:lstStyle/>
                    <a:p>
                      <a:pPr marL="0" lvl="0" indent="0" algn="ctr" rtl="0">
                        <a:lnSpc>
                          <a:spcPct val="115000"/>
                        </a:lnSpc>
                        <a:spcBef>
                          <a:spcPts val="0"/>
                        </a:spcBef>
                        <a:spcAft>
                          <a:spcPts val="0"/>
                        </a:spcAft>
                        <a:buNone/>
                      </a:pPr>
                      <a:r>
                        <a:rPr lang="en" sz="1000" b="1"/>
                        <a:t>Total</a:t>
                      </a:r>
                      <a:endParaRPr sz="1000" b="1"/>
                    </a:p>
                  </a:txBody>
                  <a:tcPr marL="28575" marR="28575" marT="19050" marB="19050" anchor="b">
                    <a:lnL w="9525" cap="flat" cmpd="sng">
                      <a:solidFill>
                        <a:srgbClr val="000000"/>
                      </a:solidFill>
                      <a:prstDash val="dash"/>
                      <a:round/>
                      <a:headEnd type="none" w="sm" len="sm"/>
                      <a:tailEnd type="none" w="sm" len="sm"/>
                    </a:lnL>
                    <a:lnR w="9525" cap="flat" cmpd="sng">
                      <a:solidFill>
                        <a:srgbClr val="CCCCCC"/>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000000"/>
                      </a:solidFill>
                      <a:prstDash val="dash"/>
                      <a:round/>
                      <a:headEnd type="none" w="sm" len="sm"/>
                      <a:tailEnd type="none" w="sm" len="sm"/>
                    </a:lnB>
                  </a:tcPr>
                </a:tc>
                <a:tc>
                  <a:txBody>
                    <a:bodyPr/>
                    <a:lstStyle/>
                    <a:p>
                      <a:pPr marL="0" lvl="0" indent="0" algn="ctr" rtl="0">
                        <a:lnSpc>
                          <a:spcPct val="115000"/>
                        </a:lnSpc>
                        <a:spcBef>
                          <a:spcPts val="0"/>
                        </a:spcBef>
                        <a:spcAft>
                          <a:spcPts val="0"/>
                        </a:spcAft>
                        <a:buNone/>
                      </a:pPr>
                      <a:r>
                        <a:rPr lang="en" sz="1000" b="1"/>
                        <a:t>272,877</a:t>
                      </a:r>
                      <a:endParaRPr sz="1000" b="1"/>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dot"/>
                      <a:round/>
                      <a:headEnd type="none" w="sm" len="sm"/>
                      <a:tailEnd type="none" w="sm" len="sm"/>
                    </a:lnR>
                    <a:lnT w="19050" cap="flat" cmpd="sng">
                      <a:solidFill>
                        <a:srgbClr val="000000"/>
                      </a:solidFill>
                      <a:prstDash val="solid"/>
                      <a:round/>
                      <a:headEnd type="none" w="sm" len="sm"/>
                      <a:tailEnd type="none" w="sm" len="sm"/>
                    </a:lnT>
                    <a:lnB w="9525" cap="flat" cmpd="sng">
                      <a:solidFill>
                        <a:srgbClr val="000000"/>
                      </a:solidFill>
                      <a:prstDash val="dash"/>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FF0000"/>
                          </a:solidFill>
                        </a:rPr>
                        <a:t>▼ -0.9%</a:t>
                      </a:r>
                      <a:endParaRPr sz="1000" b="1">
                        <a:solidFill>
                          <a:srgbClr val="FF0000"/>
                        </a:solidFill>
                      </a:endParaRPr>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19050" cap="flat" cmpd="sng">
                      <a:solidFill>
                        <a:srgbClr val="000000"/>
                      </a:solidFill>
                      <a:prstDash val="solid"/>
                      <a:round/>
                      <a:headEnd type="none" w="sm" len="sm"/>
                      <a:tailEnd type="none" w="sm" len="sm"/>
                    </a:lnT>
                    <a:lnB w="9525" cap="flat" cmpd="sng">
                      <a:solidFill>
                        <a:srgbClr val="000000"/>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000000"/>
                      </a:solidFill>
                      <a:prstDash val="dot"/>
                      <a:round/>
                      <a:headEnd type="none" w="sm" len="sm"/>
                      <a:tailEnd type="none" w="sm" len="sm"/>
                    </a:lnL>
                    <a:lnR w="9525" cap="flat" cmpd="sng">
                      <a:solidFill>
                        <a:srgbClr val="CCCCCC"/>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graphicFrame>
        <p:nvGraphicFramePr>
          <p:cNvPr id="229" name="Google Shape;229;p37"/>
          <p:cNvGraphicFramePr/>
          <p:nvPr/>
        </p:nvGraphicFramePr>
        <p:xfrm>
          <a:off x="5570825" y="2949750"/>
          <a:ext cx="3000000" cy="3000000"/>
        </p:xfrm>
        <a:graphic>
          <a:graphicData uri="http://schemas.openxmlformats.org/drawingml/2006/table">
            <a:tbl>
              <a:tblPr>
                <a:noFill/>
                <a:tableStyleId>{98498B5D-82F5-4DDD-BB04-C168985C330A}</a:tableStyleId>
              </a:tblPr>
              <a:tblGrid>
                <a:gridCol w="952500">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gridCol w="952500">
                  <a:extLst>
                    <a:ext uri="{9D8B030D-6E8A-4147-A177-3AD203B41FA5}">
                      <a16:colId xmlns:a16="http://schemas.microsoft.com/office/drawing/2014/main" val="20002"/>
                    </a:ext>
                  </a:extLst>
                </a:gridCol>
              </a:tblGrid>
              <a:tr h="200025">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Metric</a:t>
                      </a:r>
                      <a:endParaRPr sz="900" b="1">
                        <a:solidFill>
                          <a:srgbClr val="FFFFFF"/>
                        </a:solidFill>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Total</a:t>
                      </a:r>
                      <a:endParaRPr sz="900" b="1">
                        <a:solidFill>
                          <a:srgbClr val="FFFFFF"/>
                        </a:solidFill>
                        <a:latin typeface="Lexend"/>
                        <a:ea typeface="Lexend"/>
                        <a:cs typeface="Lexend"/>
                        <a:sym typeface="Lexend"/>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SS WoW</a:t>
                      </a:r>
                      <a:endParaRPr sz="900" b="1">
                        <a:solidFill>
                          <a:srgbClr val="FFFFFF"/>
                        </a:solidFill>
                        <a:latin typeface="Lexend"/>
                        <a:ea typeface="Lexend"/>
                        <a:cs typeface="Lexend"/>
                        <a:sym typeface="Lexend"/>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6D01"/>
                    </a:solidFill>
                  </a:tcPr>
                </a:tc>
                <a:extLst>
                  <a:ext uri="{0D108BD9-81ED-4DB2-BD59-A6C34878D82A}">
                    <a16:rowId xmlns:a16="http://schemas.microsoft.com/office/drawing/2014/main" val="10000"/>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RPH</a:t>
                      </a:r>
                      <a:endParaRPr sz="900">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1.57</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339966"/>
                          </a:solidFill>
                        </a:rPr>
                        <a:t>▲ 8.0%</a:t>
                      </a:r>
                      <a:endParaRPr sz="1000" b="1">
                        <a:solidFill>
                          <a:srgbClr val="339966"/>
                        </a:solidFill>
                      </a:endParaRPr>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dot"/>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Request_stp</a:t>
                      </a:r>
                      <a:endParaRPr sz="900">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456,920</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339966"/>
                          </a:solidFill>
                        </a:rPr>
                        <a:t>▲ 5.8%</a:t>
                      </a:r>
                      <a:endParaRPr sz="1000" b="1">
                        <a:solidFill>
                          <a:srgbClr val="339966"/>
                        </a:solidFill>
                      </a:endParaRPr>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Accept_stp</a:t>
                      </a:r>
                      <a:endParaRPr sz="900">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431,987</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339966"/>
                          </a:solidFill>
                        </a:rPr>
                        <a:t>▲ 4.6%</a:t>
                      </a:r>
                      <a:endParaRPr sz="1000" b="1">
                        <a:solidFill>
                          <a:srgbClr val="339966"/>
                        </a:solidFill>
                      </a:endParaRPr>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extLst>
                  <a:ext uri="{0D108BD9-81ED-4DB2-BD59-A6C34878D82A}">
                    <a16:rowId xmlns:a16="http://schemas.microsoft.com/office/drawing/2014/main" val="10003"/>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Completed_stp</a:t>
                      </a:r>
                      <a:endParaRPr sz="900">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392,444</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339966"/>
                          </a:solidFill>
                        </a:rPr>
                        <a:t>▲ 4.5%</a:t>
                      </a:r>
                      <a:endParaRPr sz="1000" b="1">
                        <a:solidFill>
                          <a:srgbClr val="339966"/>
                        </a:solidFill>
                      </a:endParaRPr>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extLst>
                  <a:ext uri="{0D108BD9-81ED-4DB2-BD59-A6C34878D82A}">
                    <a16:rowId xmlns:a16="http://schemas.microsoft.com/office/drawing/2014/main" val="10004"/>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AR</a:t>
                      </a:r>
                      <a:endParaRPr sz="900">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94.5%</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FF0000"/>
                          </a:solidFill>
                        </a:rPr>
                        <a:t>▼ -1.00%</a:t>
                      </a:r>
                      <a:endParaRPr sz="1000" b="1">
                        <a:solidFill>
                          <a:srgbClr val="FF0000"/>
                        </a:solidFill>
                      </a:endParaRPr>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extLst>
                  <a:ext uri="{0D108BD9-81ED-4DB2-BD59-A6C34878D82A}">
                    <a16:rowId xmlns:a16="http://schemas.microsoft.com/office/drawing/2014/main" val="10005"/>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FR</a:t>
                      </a:r>
                      <a:endParaRPr sz="900">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85.9%</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FF0000"/>
                          </a:solidFill>
                        </a:rPr>
                        <a:t>▼ -1.01%</a:t>
                      </a:r>
                      <a:endParaRPr sz="1000" b="1">
                        <a:solidFill>
                          <a:srgbClr val="FF0000"/>
                        </a:solidFill>
                      </a:endParaRPr>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234"/>
        <p:cNvGrpSpPr/>
        <p:nvPr/>
      </p:nvGrpSpPr>
      <p:grpSpPr>
        <a:xfrm>
          <a:off x="0" y="0"/>
          <a:ext cx="0" cy="0"/>
          <a:chOff x="0" y="0"/>
          <a:chExt cx="0" cy="0"/>
        </a:xfrm>
      </p:grpSpPr>
      <p:sp>
        <p:nvSpPr>
          <p:cNvPr id="235" name="Google Shape;235;p38"/>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36" name="Google Shape;236;p38" descr="preencoded.png"/>
          <p:cNvPicPr preferRelativeResize="0"/>
          <p:nvPr/>
        </p:nvPicPr>
        <p:blipFill rotWithShape="1">
          <a:blip r:embed="rId3">
            <a:alphaModFix/>
          </a:blip>
          <a:srcRect/>
          <a:stretch/>
        </p:blipFill>
        <p:spPr>
          <a:xfrm>
            <a:off x="365760" y="155520"/>
            <a:ext cx="274320" cy="274320"/>
          </a:xfrm>
          <a:prstGeom prst="rect">
            <a:avLst/>
          </a:prstGeom>
          <a:noFill/>
          <a:ln>
            <a:noFill/>
          </a:ln>
        </p:spPr>
      </p:pic>
      <p:sp>
        <p:nvSpPr>
          <p:cNvPr id="237" name="Google Shape;237;p38"/>
          <p:cNvSpPr/>
          <p:nvPr/>
        </p:nvSpPr>
        <p:spPr>
          <a:xfrm>
            <a:off x="725120" y="73193"/>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i="0" u="none" strike="noStrike" cap="none">
                <a:solidFill>
                  <a:srgbClr val="0E4174"/>
                </a:solidFill>
                <a:latin typeface="Lexend"/>
                <a:ea typeface="Lexend"/>
                <a:cs typeface="Lexend"/>
                <a:sym typeface="Lexend"/>
              </a:rPr>
              <a:t>Cancel Rate- </a:t>
            </a:r>
            <a:r>
              <a:rPr lang="en" sz="2200" b="1">
                <a:solidFill>
                  <a:srgbClr val="F56C1F"/>
                </a:solidFill>
                <a:latin typeface="Lexend"/>
                <a:ea typeface="Lexend"/>
                <a:cs typeface="Lexend"/>
                <a:sym typeface="Lexend"/>
              </a:rPr>
              <a:t>HAN</a:t>
            </a:r>
            <a:endParaRPr sz="2200" b="1" i="0" u="none" strike="noStrike" cap="none">
              <a:solidFill>
                <a:srgbClr val="F56C1F"/>
              </a:solidFill>
              <a:latin typeface="Lexend"/>
              <a:ea typeface="Lexend"/>
              <a:cs typeface="Lexend"/>
              <a:sym typeface="Lexend"/>
            </a:endParaRPr>
          </a:p>
        </p:txBody>
      </p:sp>
      <p:sp>
        <p:nvSpPr>
          <p:cNvPr id="238" name="Google Shape;238;p38"/>
          <p:cNvSpPr/>
          <p:nvPr/>
        </p:nvSpPr>
        <p:spPr>
          <a:xfrm>
            <a:off x="4668780" y="151050"/>
            <a:ext cx="24417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endParaRPr sz="1300" b="1" i="0" u="none" strike="noStrike" cap="none">
              <a:solidFill>
                <a:srgbClr val="1155CC"/>
              </a:solidFill>
              <a:latin typeface="Lexend"/>
              <a:ea typeface="Lexend"/>
              <a:cs typeface="Lexend"/>
              <a:sym typeface="Lexend"/>
            </a:endParaRPr>
          </a:p>
        </p:txBody>
      </p:sp>
      <p:sp>
        <p:nvSpPr>
          <p:cNvPr id="239" name="Google Shape;239;p38"/>
          <p:cNvSpPr/>
          <p:nvPr/>
        </p:nvSpPr>
        <p:spPr>
          <a:xfrm>
            <a:off x="161050" y="4028575"/>
            <a:ext cx="8734800" cy="10884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8"/>
          <p:cNvSpPr/>
          <p:nvPr/>
        </p:nvSpPr>
        <p:spPr>
          <a:xfrm>
            <a:off x="161050" y="4052566"/>
            <a:ext cx="54900" cy="1040400"/>
          </a:xfrm>
          <a:prstGeom prst="rect">
            <a:avLst/>
          </a:prstGeom>
          <a:solidFill>
            <a:srgbClr val="EF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8"/>
          <p:cNvSpPr txBox="1"/>
          <p:nvPr/>
        </p:nvSpPr>
        <p:spPr>
          <a:xfrm>
            <a:off x="276200" y="4052575"/>
            <a:ext cx="8432400" cy="1154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solidFill>
                  <a:srgbClr val="FF7F32"/>
                </a:solidFill>
                <a:latin typeface="Lexend"/>
                <a:ea typeface="Lexend"/>
                <a:cs typeface="Lexend"/>
                <a:sym typeface="Lexend"/>
              </a:rPr>
              <a:t>INSIGHT: </a:t>
            </a:r>
            <a:endParaRPr sz="900">
              <a:solidFill>
                <a:srgbClr val="FF7F32"/>
              </a:solidFill>
              <a:latin typeface="Lexend"/>
              <a:ea typeface="Lexend"/>
              <a:cs typeface="Lexend"/>
              <a:sym typeface="Lexend"/>
            </a:endParaRPr>
          </a:p>
          <a:p>
            <a:pPr marL="0" lvl="0" indent="0" algn="l" rtl="0">
              <a:spcBef>
                <a:spcPts val="0"/>
              </a:spcBef>
              <a:spcAft>
                <a:spcPts val="0"/>
              </a:spcAft>
              <a:buNone/>
            </a:pPr>
            <a:r>
              <a:rPr lang="en" sz="900">
                <a:solidFill>
                  <a:schemeClr val="dk1"/>
                </a:solidFill>
                <a:latin typeface="Lexend"/>
                <a:ea typeface="Lexend"/>
                <a:cs typeface="Lexend"/>
                <a:sym typeface="Lexend"/>
              </a:rPr>
              <a:t>- CR PoC chung </a:t>
            </a:r>
            <a:r>
              <a:rPr lang="en" sz="900" b="1">
                <a:solidFill>
                  <a:srgbClr val="0D8000"/>
                </a:solidFill>
                <a:latin typeface="Lexend"/>
                <a:ea typeface="Lexend"/>
                <a:cs typeface="Lexend"/>
                <a:sym typeface="Lexend"/>
              </a:rPr>
              <a:t>giảm 0.4%</a:t>
            </a:r>
            <a:r>
              <a:rPr lang="en" sz="900">
                <a:solidFill>
                  <a:schemeClr val="dk1"/>
                </a:solidFill>
                <a:latin typeface="Lexend"/>
                <a:ea typeface="Lexend"/>
                <a:cs typeface="Lexend"/>
                <a:sym typeface="Lexend"/>
              </a:rPr>
              <a:t>, đạt mốc </a:t>
            </a:r>
            <a:r>
              <a:rPr lang="en" sz="900" b="1">
                <a:solidFill>
                  <a:schemeClr val="dk1"/>
                </a:solidFill>
                <a:latin typeface="Lexend"/>
                <a:ea typeface="Lexend"/>
                <a:cs typeface="Lexend"/>
                <a:sym typeface="Lexend"/>
              </a:rPr>
              <a:t>13.9%</a:t>
            </a:r>
            <a:r>
              <a:rPr lang="en" sz="900">
                <a:solidFill>
                  <a:schemeClr val="dk1"/>
                </a:solidFill>
                <a:latin typeface="Lexend"/>
                <a:ea typeface="Lexend"/>
                <a:cs typeface="Lexend"/>
                <a:sym typeface="Lexend"/>
              </a:rPr>
              <a:t>. </a:t>
            </a:r>
            <a:endParaRPr sz="900">
              <a:solidFill>
                <a:schemeClr val="dk1"/>
              </a:solidFill>
              <a:latin typeface="Lexend"/>
              <a:ea typeface="Lexend"/>
              <a:cs typeface="Lexend"/>
              <a:sym typeface="Lexend"/>
            </a:endParaRPr>
          </a:p>
          <a:p>
            <a:pPr marL="0" lvl="0" indent="0" algn="l" rtl="0">
              <a:spcBef>
                <a:spcPts val="0"/>
              </a:spcBef>
              <a:spcAft>
                <a:spcPts val="0"/>
              </a:spcAft>
              <a:buNone/>
            </a:pPr>
            <a:r>
              <a:rPr lang="en" sz="900">
                <a:solidFill>
                  <a:schemeClr val="dk1"/>
                </a:solidFill>
                <a:latin typeface="Lexend"/>
                <a:ea typeface="Lexend"/>
                <a:cs typeface="Lexend"/>
                <a:sym typeface="Lexend"/>
              </a:rPr>
              <a:t>- CR đều giảm ở các tập, Retention giảm nhẹ 0.2%</a:t>
            </a:r>
            <a:endParaRPr sz="900" b="1">
              <a:solidFill>
                <a:srgbClr val="EF4444"/>
              </a:solidFill>
              <a:latin typeface="Lexend"/>
              <a:ea typeface="Lexend"/>
              <a:cs typeface="Lexend"/>
              <a:sym typeface="Lexend"/>
            </a:endParaRPr>
          </a:p>
          <a:p>
            <a:pPr marL="0" lvl="0" indent="0" algn="l" rtl="0">
              <a:spcBef>
                <a:spcPts val="0"/>
              </a:spcBef>
              <a:spcAft>
                <a:spcPts val="0"/>
              </a:spcAft>
              <a:buClr>
                <a:schemeClr val="dk1"/>
              </a:buClr>
              <a:buSzPts val="1100"/>
              <a:buFont typeface="Arial"/>
              <a:buNone/>
            </a:pPr>
            <a:endParaRPr sz="900">
              <a:solidFill>
                <a:schemeClr val="dk1"/>
              </a:solidFill>
              <a:latin typeface="Lexend"/>
              <a:ea typeface="Lexend"/>
              <a:cs typeface="Lexend"/>
              <a:sym typeface="Lexend"/>
            </a:endParaRPr>
          </a:p>
          <a:p>
            <a:pPr marL="0" lvl="0" indent="0" algn="l" rtl="0">
              <a:spcBef>
                <a:spcPts val="0"/>
              </a:spcBef>
              <a:spcAft>
                <a:spcPts val="0"/>
              </a:spcAft>
              <a:buClr>
                <a:schemeClr val="dk1"/>
              </a:buClr>
              <a:buSzPts val="1100"/>
              <a:buFont typeface="Arial"/>
              <a:buNone/>
            </a:pPr>
            <a:endParaRPr sz="900">
              <a:solidFill>
                <a:schemeClr val="dk1"/>
              </a:solidFill>
              <a:latin typeface="Lexend"/>
              <a:ea typeface="Lexend"/>
              <a:cs typeface="Lexend"/>
              <a:sym typeface="Lexend"/>
            </a:endParaRPr>
          </a:p>
          <a:p>
            <a:pPr marL="0" lvl="0" indent="0" algn="l" rtl="0">
              <a:spcBef>
                <a:spcPts val="0"/>
              </a:spcBef>
              <a:spcAft>
                <a:spcPts val="0"/>
              </a:spcAft>
              <a:buClr>
                <a:schemeClr val="dk1"/>
              </a:buClr>
              <a:buSzPts val="1100"/>
              <a:buFont typeface="Arial"/>
              <a:buNone/>
            </a:pPr>
            <a:endParaRPr sz="900">
              <a:solidFill>
                <a:schemeClr val="dk1"/>
              </a:solidFill>
              <a:latin typeface="Lexend"/>
              <a:ea typeface="Lexend"/>
              <a:cs typeface="Lexend"/>
              <a:sym typeface="Lexend"/>
            </a:endParaRPr>
          </a:p>
          <a:p>
            <a:pPr marL="0" lvl="0" indent="0" algn="l" rtl="0">
              <a:spcBef>
                <a:spcPts val="0"/>
              </a:spcBef>
              <a:spcAft>
                <a:spcPts val="0"/>
              </a:spcAft>
              <a:buNone/>
            </a:pPr>
            <a:endParaRPr sz="900">
              <a:solidFill>
                <a:schemeClr val="dk1"/>
              </a:solidFill>
              <a:latin typeface="Lexend"/>
              <a:ea typeface="Lexend"/>
              <a:cs typeface="Lexend"/>
              <a:sym typeface="Lexend"/>
            </a:endParaRPr>
          </a:p>
        </p:txBody>
      </p:sp>
      <p:sp>
        <p:nvSpPr>
          <p:cNvPr id="242" name="Google Shape;242;p38"/>
          <p:cNvSpPr/>
          <p:nvPr/>
        </p:nvSpPr>
        <p:spPr>
          <a:xfrm>
            <a:off x="75322" y="622886"/>
            <a:ext cx="45720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r>
              <a:rPr lang="en" sz="1100" b="1">
                <a:solidFill>
                  <a:srgbClr val="0E4174"/>
                </a:solidFill>
                <a:latin typeface="Lexend"/>
                <a:ea typeface="Lexend"/>
                <a:cs typeface="Lexend"/>
                <a:sym typeface="Lexend"/>
              </a:rPr>
              <a:t>Overview CR by Segment</a:t>
            </a:r>
            <a:endParaRPr sz="1100" b="1" i="0" u="none" strike="noStrike" cap="none">
              <a:solidFill>
                <a:schemeClr val="dk1"/>
              </a:solidFill>
              <a:latin typeface="Lexend"/>
              <a:ea typeface="Lexend"/>
              <a:cs typeface="Lexend"/>
              <a:sym typeface="Lexend"/>
            </a:endParaRPr>
          </a:p>
        </p:txBody>
      </p:sp>
      <p:sp>
        <p:nvSpPr>
          <p:cNvPr id="243" name="Google Shape;243;p38"/>
          <p:cNvSpPr/>
          <p:nvPr/>
        </p:nvSpPr>
        <p:spPr>
          <a:xfrm>
            <a:off x="5419573" y="622886"/>
            <a:ext cx="45720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r>
              <a:rPr lang="en" sz="1100" b="1">
                <a:solidFill>
                  <a:srgbClr val="0E4174"/>
                </a:solidFill>
                <a:latin typeface="Lexend"/>
                <a:ea typeface="Lexend"/>
                <a:cs typeface="Lexend"/>
                <a:sym typeface="Lexend"/>
              </a:rPr>
              <a:t>CR</a:t>
            </a:r>
            <a:r>
              <a:rPr lang="en" sz="1100" b="1">
                <a:solidFill>
                  <a:srgbClr val="9E9E9E"/>
                </a:solidFill>
                <a:latin typeface="Lexend"/>
                <a:ea typeface="Lexend"/>
                <a:cs typeface="Lexend"/>
                <a:sym typeface="Lexend"/>
              </a:rPr>
              <a:t>(Rule PoC)</a:t>
            </a:r>
            <a:r>
              <a:rPr lang="en" sz="1100" b="1">
                <a:solidFill>
                  <a:srgbClr val="0E4174"/>
                </a:solidFill>
                <a:latin typeface="Lexend"/>
                <a:ea typeface="Lexend"/>
                <a:cs typeface="Lexend"/>
                <a:sym typeface="Lexend"/>
              </a:rPr>
              <a:t> by Segment</a:t>
            </a:r>
            <a:endParaRPr sz="1100" b="1" i="0" u="none" strike="noStrike" cap="none">
              <a:solidFill>
                <a:schemeClr val="dk1"/>
              </a:solidFill>
              <a:latin typeface="Lexend"/>
              <a:ea typeface="Lexend"/>
              <a:cs typeface="Lexend"/>
              <a:sym typeface="Lexend"/>
            </a:endParaRPr>
          </a:p>
        </p:txBody>
      </p:sp>
      <p:graphicFrame>
        <p:nvGraphicFramePr>
          <p:cNvPr id="244" name="Google Shape;244;p38"/>
          <p:cNvGraphicFramePr/>
          <p:nvPr/>
        </p:nvGraphicFramePr>
        <p:xfrm>
          <a:off x="84850" y="898150"/>
          <a:ext cx="3000000" cy="3000000"/>
        </p:xfrm>
        <a:graphic>
          <a:graphicData uri="http://schemas.openxmlformats.org/drawingml/2006/table">
            <a:tbl>
              <a:tblPr>
                <a:noFill/>
                <a:tableStyleId>{98498B5D-82F5-4DDD-BB04-C168985C330A}</a:tableStyleId>
              </a:tblPr>
              <a:tblGrid>
                <a:gridCol w="776300">
                  <a:extLst>
                    <a:ext uri="{9D8B030D-6E8A-4147-A177-3AD203B41FA5}">
                      <a16:colId xmlns:a16="http://schemas.microsoft.com/office/drawing/2014/main" val="20000"/>
                    </a:ext>
                  </a:extLst>
                </a:gridCol>
                <a:gridCol w="505050">
                  <a:extLst>
                    <a:ext uri="{9D8B030D-6E8A-4147-A177-3AD203B41FA5}">
                      <a16:colId xmlns:a16="http://schemas.microsoft.com/office/drawing/2014/main" val="20001"/>
                    </a:ext>
                  </a:extLst>
                </a:gridCol>
                <a:gridCol w="483575">
                  <a:extLst>
                    <a:ext uri="{9D8B030D-6E8A-4147-A177-3AD203B41FA5}">
                      <a16:colId xmlns:a16="http://schemas.microsoft.com/office/drawing/2014/main" val="20002"/>
                    </a:ext>
                  </a:extLst>
                </a:gridCol>
                <a:gridCol w="451725">
                  <a:extLst>
                    <a:ext uri="{9D8B030D-6E8A-4147-A177-3AD203B41FA5}">
                      <a16:colId xmlns:a16="http://schemas.microsoft.com/office/drawing/2014/main" val="20003"/>
                    </a:ext>
                  </a:extLst>
                </a:gridCol>
                <a:gridCol w="467650">
                  <a:extLst>
                    <a:ext uri="{9D8B030D-6E8A-4147-A177-3AD203B41FA5}">
                      <a16:colId xmlns:a16="http://schemas.microsoft.com/office/drawing/2014/main" val="20004"/>
                    </a:ext>
                  </a:extLst>
                </a:gridCol>
                <a:gridCol w="636000">
                  <a:extLst>
                    <a:ext uri="{9D8B030D-6E8A-4147-A177-3AD203B41FA5}">
                      <a16:colId xmlns:a16="http://schemas.microsoft.com/office/drawing/2014/main" val="20005"/>
                    </a:ext>
                  </a:extLst>
                </a:gridCol>
                <a:gridCol w="738875">
                  <a:extLst>
                    <a:ext uri="{9D8B030D-6E8A-4147-A177-3AD203B41FA5}">
                      <a16:colId xmlns:a16="http://schemas.microsoft.com/office/drawing/2014/main" val="20006"/>
                    </a:ext>
                  </a:extLst>
                </a:gridCol>
                <a:gridCol w="851125">
                  <a:extLst>
                    <a:ext uri="{9D8B030D-6E8A-4147-A177-3AD203B41FA5}">
                      <a16:colId xmlns:a16="http://schemas.microsoft.com/office/drawing/2014/main" val="20007"/>
                    </a:ext>
                  </a:extLst>
                </a:gridCol>
              </a:tblGrid>
              <a:tr h="361250">
                <a:tc>
                  <a:txBody>
                    <a:bodyPr/>
                    <a:lstStyle/>
                    <a:p>
                      <a:pPr marL="0" lvl="0" indent="0" algn="ctr" rtl="0">
                        <a:lnSpc>
                          <a:spcPct val="115000"/>
                        </a:lnSpc>
                        <a:spcBef>
                          <a:spcPts val="0"/>
                        </a:spcBef>
                        <a:spcAft>
                          <a:spcPts val="0"/>
                        </a:spcAft>
                        <a:buNone/>
                      </a:pPr>
                      <a:r>
                        <a:rPr lang="en" sz="900" b="1">
                          <a:solidFill>
                            <a:srgbClr val="FFFFFF"/>
                          </a:solidFill>
                        </a:rPr>
                        <a:t>segment</a:t>
                      </a:r>
                      <a:endParaRPr sz="900" b="1">
                        <a:solidFill>
                          <a:srgbClr val="FFFFFF"/>
                        </a:solidFill>
                      </a:endParaRPr>
                    </a:p>
                  </a:txBody>
                  <a:tcPr marL="28575" marR="28575" marT="19050" marB="19050" anchor="ctr">
                    <a:lnL w="7150" cap="flat" cmpd="sng">
                      <a:solidFill>
                        <a:srgbClr val="000000"/>
                      </a:solidFill>
                      <a:prstDash val="solid"/>
                      <a:round/>
                      <a:headEnd type="none" w="sm" len="sm"/>
                      <a:tailEnd type="none" w="sm" len="sm"/>
                    </a:lnL>
                    <a:lnR w="7150" cap="flat" cmpd="sng">
                      <a:solidFill>
                        <a:srgbClr val="000000"/>
                      </a:solidFill>
                      <a:prstDash val="solid"/>
                      <a:round/>
                      <a:headEnd type="none" w="sm" len="sm"/>
                      <a:tailEnd type="none" w="sm" len="sm"/>
                    </a:lnR>
                    <a:lnT w="7150" cap="flat" cmpd="sng">
                      <a:solidFill>
                        <a:srgbClr val="000000"/>
                      </a:solidFill>
                      <a:prstDash val="solid"/>
                      <a:round/>
                      <a:headEnd type="none" w="sm" len="sm"/>
                      <a:tailEnd type="none" w="sm" len="sm"/>
                    </a:lnT>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rPr>
                        <a:t>accept</a:t>
                      </a:r>
                      <a:endParaRPr sz="900" b="1">
                        <a:solidFill>
                          <a:srgbClr val="FFFFFF"/>
                        </a:solidFill>
                      </a:endParaRPr>
                    </a:p>
                    <a:p>
                      <a:pPr marL="0" lvl="0" indent="0" algn="ctr" rtl="0">
                        <a:lnSpc>
                          <a:spcPct val="115000"/>
                        </a:lnSpc>
                        <a:spcBef>
                          <a:spcPts val="0"/>
                        </a:spcBef>
                        <a:spcAft>
                          <a:spcPts val="0"/>
                        </a:spcAft>
                        <a:buNone/>
                      </a:pPr>
                      <a:r>
                        <a:rPr lang="en" sz="900" b="1">
                          <a:solidFill>
                            <a:srgbClr val="FFFFFF"/>
                          </a:solidFill>
                        </a:rPr>
                        <a:t>_order</a:t>
                      </a:r>
                      <a:endParaRPr sz="900" b="1">
                        <a:solidFill>
                          <a:srgbClr val="FFFFFF"/>
                        </a:solidFill>
                      </a:endParaRPr>
                    </a:p>
                  </a:txBody>
                  <a:tcPr marL="28575" marR="28575" marT="19050" marB="19050" anchor="ctr">
                    <a:lnL w="7150" cap="flat" cmpd="sng">
                      <a:solidFill>
                        <a:srgbClr val="000000"/>
                      </a:solidFill>
                      <a:prstDash val="solid"/>
                      <a:round/>
                      <a:headEnd type="none" w="sm" len="sm"/>
                      <a:tailEnd type="none" w="sm" len="sm"/>
                    </a:lnL>
                    <a:lnT w="7150" cap="flat" cmpd="sng">
                      <a:solidFill>
                        <a:srgbClr val="000000"/>
                      </a:solidFill>
                      <a:prstDash val="solid"/>
                      <a:round/>
                      <a:headEnd type="none" w="sm" len="sm"/>
                      <a:tailEnd type="none" w="sm" len="sm"/>
                    </a:lnT>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rPr>
                        <a:t>cancel</a:t>
                      </a:r>
                      <a:endParaRPr sz="900" b="1">
                        <a:solidFill>
                          <a:srgbClr val="FFFFFF"/>
                        </a:solidFill>
                      </a:endParaRPr>
                    </a:p>
                    <a:p>
                      <a:pPr marL="0" lvl="0" indent="0" algn="ctr" rtl="0">
                        <a:lnSpc>
                          <a:spcPct val="115000"/>
                        </a:lnSpc>
                        <a:spcBef>
                          <a:spcPts val="0"/>
                        </a:spcBef>
                        <a:spcAft>
                          <a:spcPts val="0"/>
                        </a:spcAft>
                        <a:buNone/>
                      </a:pPr>
                      <a:r>
                        <a:rPr lang="en" sz="900" b="1">
                          <a:solidFill>
                            <a:srgbClr val="FFFFFF"/>
                          </a:solidFill>
                        </a:rPr>
                        <a:t>_order</a:t>
                      </a:r>
                      <a:endParaRPr sz="900" b="1">
                        <a:solidFill>
                          <a:srgbClr val="FFFFFF"/>
                        </a:solidFill>
                      </a:endParaRPr>
                    </a:p>
                  </a:txBody>
                  <a:tcPr marL="28575" marR="28575" marT="19050" marB="19050" anchor="ctr">
                    <a:lnT w="7150" cap="flat" cmpd="sng">
                      <a:solidFill>
                        <a:srgbClr val="000000"/>
                      </a:solidFill>
                      <a:prstDash val="solid"/>
                      <a:round/>
                      <a:headEnd type="none" w="sm" len="sm"/>
                      <a:tailEnd type="none" w="sm" len="sm"/>
                    </a:lnT>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rPr>
                        <a:t>CR</a:t>
                      </a:r>
                      <a:endParaRPr sz="900" b="1">
                        <a:solidFill>
                          <a:srgbClr val="FFFFFF"/>
                        </a:solidFill>
                      </a:endParaRPr>
                    </a:p>
                  </a:txBody>
                  <a:tcPr marL="28575" marR="28575" marT="19050" marB="19050" anchor="ctr">
                    <a:lnT w="7150" cap="flat" cmpd="sng">
                      <a:solidFill>
                        <a:srgbClr val="000000"/>
                      </a:solidFill>
                      <a:prstDash val="solid"/>
                      <a:round/>
                      <a:headEnd type="none" w="sm" len="sm"/>
                      <a:tailEnd type="none" w="sm" len="sm"/>
                    </a:lnT>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rPr>
                        <a:t>Active</a:t>
                      </a:r>
                      <a:endParaRPr sz="900" b="1">
                        <a:solidFill>
                          <a:srgbClr val="FFFFFF"/>
                        </a:solidFill>
                      </a:endParaRPr>
                    </a:p>
                  </a:txBody>
                  <a:tcPr marL="28575" marR="28575" marT="19050" marB="19050" anchor="ctr">
                    <a:lnT w="7150" cap="flat" cmpd="sng">
                      <a:solidFill>
                        <a:srgbClr val="000000"/>
                      </a:solidFill>
                      <a:prstDash val="solid"/>
                      <a:round/>
                      <a:headEnd type="none" w="sm" len="sm"/>
                      <a:tailEnd type="none" w="sm" len="sm"/>
                    </a:lnT>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rPr>
                        <a:t>cancel_</a:t>
                      </a:r>
                      <a:endParaRPr sz="900" b="1">
                        <a:solidFill>
                          <a:srgbClr val="FFFFFF"/>
                        </a:solidFill>
                      </a:endParaRPr>
                    </a:p>
                    <a:p>
                      <a:pPr marL="0" lvl="0" indent="0" algn="ctr" rtl="0">
                        <a:lnSpc>
                          <a:spcPct val="115000"/>
                        </a:lnSpc>
                        <a:spcBef>
                          <a:spcPts val="0"/>
                        </a:spcBef>
                        <a:spcAft>
                          <a:spcPts val="0"/>
                        </a:spcAft>
                        <a:buNone/>
                      </a:pPr>
                      <a:r>
                        <a:rPr lang="en" sz="900" b="1">
                          <a:solidFill>
                            <a:srgbClr val="FFFFFF"/>
                          </a:solidFill>
                        </a:rPr>
                        <a:t>per_active</a:t>
                      </a:r>
                      <a:endParaRPr sz="900" b="1">
                        <a:solidFill>
                          <a:srgbClr val="FFFFFF"/>
                        </a:solidFill>
                      </a:endParaRPr>
                    </a:p>
                  </a:txBody>
                  <a:tcPr marL="28575" marR="28575" marT="19050" marB="19050" anchor="ctr">
                    <a:lnT w="7150" cap="flat" cmpd="sng">
                      <a:solidFill>
                        <a:srgbClr val="000000"/>
                      </a:solidFill>
                      <a:prstDash val="solid"/>
                      <a:round/>
                      <a:headEnd type="none" w="sm" len="sm"/>
                      <a:tailEnd type="none" w="sm" len="sm"/>
                    </a:lnT>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rPr>
                        <a:t>Gap avg</a:t>
                      </a:r>
                      <a:endParaRPr sz="900" b="1">
                        <a:solidFill>
                          <a:srgbClr val="FFFFFF"/>
                        </a:solidFill>
                      </a:endParaRPr>
                    </a:p>
                    <a:p>
                      <a:pPr marL="0" lvl="0" indent="0" algn="ctr" rtl="0">
                        <a:lnSpc>
                          <a:spcPct val="115000"/>
                        </a:lnSpc>
                        <a:spcBef>
                          <a:spcPts val="0"/>
                        </a:spcBef>
                        <a:spcAft>
                          <a:spcPts val="0"/>
                        </a:spcAft>
                        <a:buNone/>
                      </a:pPr>
                      <a:r>
                        <a:rPr lang="en" sz="900" b="1">
                          <a:solidFill>
                            <a:srgbClr val="FFFFFF"/>
                          </a:solidFill>
                        </a:rPr>
                        <a:t>cancel WoW</a:t>
                      </a:r>
                      <a:endParaRPr sz="900" b="1">
                        <a:solidFill>
                          <a:srgbClr val="FFFFFF"/>
                        </a:solidFill>
                      </a:endParaRPr>
                    </a:p>
                  </a:txBody>
                  <a:tcPr marL="28575" marR="28575" marT="19050" marB="19050" anchor="ctr">
                    <a:lnT w="7150" cap="flat" cmpd="sng">
                      <a:solidFill>
                        <a:srgbClr val="000000"/>
                      </a:solidFill>
                      <a:prstDash val="solid"/>
                      <a:round/>
                      <a:headEnd type="none" w="sm" len="sm"/>
                      <a:tailEnd type="none" w="sm" len="sm"/>
                    </a:lnT>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rPr>
                        <a:t>Gap % contrib cancel WoW</a:t>
                      </a:r>
                      <a:endParaRPr sz="900" b="1">
                        <a:solidFill>
                          <a:srgbClr val="FFFFFF"/>
                        </a:solidFill>
                      </a:endParaRPr>
                    </a:p>
                  </a:txBody>
                  <a:tcPr marL="28575" marR="28575" marT="19050" marB="19050" anchor="ctr">
                    <a:lnR w="7150" cap="flat" cmpd="sng">
                      <a:solidFill>
                        <a:srgbClr val="000000"/>
                      </a:solidFill>
                      <a:prstDash val="solid"/>
                      <a:round/>
                      <a:headEnd type="none" w="sm" len="sm"/>
                      <a:tailEnd type="none" w="sm" len="sm"/>
                    </a:lnR>
                    <a:lnT w="7150" cap="flat" cmpd="sng">
                      <a:solidFill>
                        <a:srgbClr val="000000"/>
                      </a:solidFill>
                      <a:prstDash val="solid"/>
                      <a:round/>
                      <a:headEnd type="none" w="sm" len="sm"/>
                      <a:tailEnd type="none" w="sm" len="sm"/>
                    </a:lnT>
                    <a:solidFill>
                      <a:srgbClr val="073763"/>
                    </a:solidFill>
                  </a:tcPr>
                </a:tc>
                <a:extLst>
                  <a:ext uri="{0D108BD9-81ED-4DB2-BD59-A6C34878D82A}">
                    <a16:rowId xmlns:a16="http://schemas.microsoft.com/office/drawing/2014/main" val="10000"/>
                  </a:ext>
                </a:extLst>
              </a:tr>
              <a:tr h="199625">
                <a:tc>
                  <a:txBody>
                    <a:bodyPr/>
                    <a:lstStyle/>
                    <a:p>
                      <a:pPr marL="0" lvl="0" indent="0" algn="l" rtl="0">
                        <a:lnSpc>
                          <a:spcPct val="115000"/>
                        </a:lnSpc>
                        <a:spcBef>
                          <a:spcPts val="0"/>
                        </a:spcBef>
                        <a:spcAft>
                          <a:spcPts val="0"/>
                        </a:spcAft>
                        <a:buNone/>
                      </a:pPr>
                      <a:r>
                        <a:rPr lang="en" sz="900"/>
                        <a:t>FT</a:t>
                      </a:r>
                      <a:endParaRPr sz="900"/>
                    </a:p>
                  </a:txBody>
                  <a:tcPr marL="28575" marR="28575" marT="19050" marB="19050" anchor="b">
                    <a:lnL w="7150" cap="flat" cmpd="sng">
                      <a:solidFill>
                        <a:srgbClr val="000000"/>
                      </a:solidFill>
                      <a:prstDash val="solid"/>
                      <a:round/>
                      <a:headEnd type="none" w="sm" len="sm"/>
                      <a:tailEnd type="none" w="sm" len="sm"/>
                    </a:lnL>
                    <a:lnR w="7150" cap="flat" cmpd="sng">
                      <a:solidFill>
                        <a:srgbClr val="000000"/>
                      </a:solidFill>
                      <a:prstDash val="solid"/>
                      <a:round/>
                      <a:headEnd type="none" w="sm" len="sm"/>
                      <a:tailEnd type="none" w="sm" len="sm"/>
                    </a:lnR>
                  </a:tcPr>
                </a:tc>
                <a:tc>
                  <a:txBody>
                    <a:bodyPr/>
                    <a:lstStyle/>
                    <a:p>
                      <a:pPr marL="0" lvl="0" indent="0" algn="ctr" rtl="0">
                        <a:lnSpc>
                          <a:spcPct val="115000"/>
                        </a:lnSpc>
                        <a:spcBef>
                          <a:spcPts val="0"/>
                        </a:spcBef>
                        <a:spcAft>
                          <a:spcPts val="0"/>
                        </a:spcAft>
                        <a:buNone/>
                      </a:pPr>
                      <a:r>
                        <a:rPr lang="en" sz="900"/>
                        <a:t>103.66K</a:t>
                      </a:r>
                      <a:endParaRPr sz="900"/>
                    </a:p>
                  </a:txBody>
                  <a:tcPr marL="28575" marR="28575" marT="19050" marB="19050" anchor="b">
                    <a:lnL w="7150" cap="flat" cmpd="sng">
                      <a:solidFill>
                        <a:srgbClr val="000000"/>
                      </a:solidFill>
                      <a:prstDash val="solid"/>
                      <a:round/>
                      <a:headEnd type="none" w="sm" len="sm"/>
                      <a:tailEnd type="none" w="sm" len="sm"/>
                    </a:lnL>
                  </a:tcPr>
                </a:tc>
                <a:tc>
                  <a:txBody>
                    <a:bodyPr/>
                    <a:lstStyle/>
                    <a:p>
                      <a:pPr marL="0" lvl="0" indent="0" algn="ctr" rtl="0">
                        <a:lnSpc>
                          <a:spcPct val="115000"/>
                        </a:lnSpc>
                        <a:spcBef>
                          <a:spcPts val="0"/>
                        </a:spcBef>
                        <a:spcAft>
                          <a:spcPts val="0"/>
                        </a:spcAft>
                        <a:buNone/>
                      </a:pPr>
                      <a:r>
                        <a:rPr lang="en" sz="900"/>
                        <a:t>15.34K</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a:t>10.09%</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a:t>1,185</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a:t>12.95</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b="1">
                          <a:solidFill>
                            <a:srgbClr val="FF0000"/>
                          </a:solidFill>
                        </a:rPr>
                        <a:t>0.29</a:t>
                      </a:r>
                      <a:endParaRPr sz="900" b="1">
                        <a:solidFill>
                          <a:srgbClr val="FF0000"/>
                        </a:solidFill>
                      </a:endParaRPr>
                    </a:p>
                  </a:txBody>
                  <a:tcPr marL="28575" marR="28575" marT="19050" marB="19050" anchor="b">
                    <a:solidFill>
                      <a:srgbClr val="F4CCCC"/>
                    </a:solidFill>
                  </a:tcPr>
                </a:tc>
                <a:tc>
                  <a:txBody>
                    <a:bodyPr/>
                    <a:lstStyle/>
                    <a:p>
                      <a:pPr marL="0" lvl="0" indent="0" algn="ctr" rtl="0">
                        <a:lnSpc>
                          <a:spcPct val="115000"/>
                        </a:lnSpc>
                        <a:spcBef>
                          <a:spcPts val="0"/>
                        </a:spcBef>
                        <a:spcAft>
                          <a:spcPts val="0"/>
                        </a:spcAft>
                        <a:buNone/>
                      </a:pPr>
                      <a:r>
                        <a:rPr lang="en" sz="900" b="1">
                          <a:solidFill>
                            <a:srgbClr val="6AA84F"/>
                          </a:solidFill>
                        </a:rPr>
                        <a:t>-1.16%</a:t>
                      </a:r>
                      <a:endParaRPr sz="900" b="1">
                        <a:solidFill>
                          <a:srgbClr val="6AA84F"/>
                        </a:solidFill>
                      </a:endParaRPr>
                    </a:p>
                  </a:txBody>
                  <a:tcPr marL="28575" marR="28575" marT="19050" marB="19050" anchor="b">
                    <a:lnR w="7150" cap="flat" cmpd="sng">
                      <a:solidFill>
                        <a:srgbClr val="000000"/>
                      </a:solidFill>
                      <a:prstDash val="solid"/>
                      <a:round/>
                      <a:headEnd type="none" w="sm" len="sm"/>
                      <a:tailEnd type="none" w="sm" len="sm"/>
                    </a:lnR>
                    <a:solidFill>
                      <a:srgbClr val="D9EAD3"/>
                    </a:solidFill>
                  </a:tcPr>
                </a:tc>
                <a:extLst>
                  <a:ext uri="{0D108BD9-81ED-4DB2-BD59-A6C34878D82A}">
                    <a16:rowId xmlns:a16="http://schemas.microsoft.com/office/drawing/2014/main" val="10001"/>
                  </a:ext>
                </a:extLst>
              </a:tr>
              <a:tr h="199625">
                <a:tc>
                  <a:txBody>
                    <a:bodyPr/>
                    <a:lstStyle/>
                    <a:p>
                      <a:pPr marL="0" lvl="0" indent="0" algn="l" rtl="0">
                        <a:lnSpc>
                          <a:spcPct val="115000"/>
                        </a:lnSpc>
                        <a:spcBef>
                          <a:spcPts val="0"/>
                        </a:spcBef>
                        <a:spcAft>
                          <a:spcPts val="0"/>
                        </a:spcAft>
                        <a:buNone/>
                      </a:pPr>
                      <a:r>
                        <a:rPr lang="en" sz="900"/>
                        <a:t>NIM</a:t>
                      </a:r>
                      <a:endParaRPr sz="900"/>
                    </a:p>
                  </a:txBody>
                  <a:tcPr marL="28575" marR="28575" marT="19050" marB="19050" anchor="b">
                    <a:lnL w="7150" cap="flat" cmpd="sng">
                      <a:solidFill>
                        <a:srgbClr val="000000"/>
                      </a:solidFill>
                      <a:prstDash val="solid"/>
                      <a:round/>
                      <a:headEnd type="none" w="sm" len="sm"/>
                      <a:tailEnd type="none" w="sm" len="sm"/>
                    </a:lnL>
                    <a:lnR w="7150" cap="flat" cmpd="sng">
                      <a:solidFill>
                        <a:srgbClr val="000000"/>
                      </a:solidFill>
                      <a:prstDash val="solid"/>
                      <a:round/>
                      <a:headEnd type="none" w="sm" len="sm"/>
                      <a:tailEnd type="none" w="sm" len="sm"/>
                    </a:lnR>
                  </a:tcPr>
                </a:tc>
                <a:tc>
                  <a:txBody>
                    <a:bodyPr/>
                    <a:lstStyle/>
                    <a:p>
                      <a:pPr marL="0" lvl="0" indent="0" algn="ctr" rtl="0">
                        <a:lnSpc>
                          <a:spcPct val="115000"/>
                        </a:lnSpc>
                        <a:spcBef>
                          <a:spcPts val="0"/>
                        </a:spcBef>
                        <a:spcAft>
                          <a:spcPts val="0"/>
                        </a:spcAft>
                        <a:buNone/>
                      </a:pPr>
                      <a:r>
                        <a:rPr lang="en" sz="900"/>
                        <a:t>35.02K</a:t>
                      </a:r>
                      <a:endParaRPr sz="900"/>
                    </a:p>
                  </a:txBody>
                  <a:tcPr marL="28575" marR="28575" marT="19050" marB="19050" anchor="b">
                    <a:lnL w="7150" cap="flat" cmpd="sng">
                      <a:solidFill>
                        <a:srgbClr val="000000"/>
                      </a:solidFill>
                      <a:prstDash val="solid"/>
                      <a:round/>
                      <a:headEnd type="none" w="sm" len="sm"/>
                      <a:tailEnd type="none" w="sm" len="sm"/>
                    </a:lnL>
                  </a:tcPr>
                </a:tc>
                <a:tc>
                  <a:txBody>
                    <a:bodyPr/>
                    <a:lstStyle/>
                    <a:p>
                      <a:pPr marL="0" lvl="0" indent="0" algn="ctr" rtl="0">
                        <a:lnSpc>
                          <a:spcPct val="115000"/>
                        </a:lnSpc>
                        <a:spcBef>
                          <a:spcPts val="0"/>
                        </a:spcBef>
                        <a:spcAft>
                          <a:spcPts val="0"/>
                        </a:spcAft>
                        <a:buNone/>
                      </a:pPr>
                      <a:r>
                        <a:rPr lang="en" sz="900"/>
                        <a:t>6.43K</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a:t>13.82%</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a:t>1,242</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a:t>5.18</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b="1">
                          <a:solidFill>
                            <a:srgbClr val="FF0000"/>
                          </a:solidFill>
                        </a:rPr>
                        <a:t>0.10</a:t>
                      </a:r>
                      <a:endParaRPr sz="900" b="1">
                        <a:solidFill>
                          <a:srgbClr val="FF0000"/>
                        </a:solidFill>
                      </a:endParaRPr>
                    </a:p>
                  </a:txBody>
                  <a:tcPr marL="28575" marR="28575" marT="19050" marB="19050" anchor="b">
                    <a:solidFill>
                      <a:srgbClr val="F4CCCC"/>
                    </a:solidFill>
                  </a:tcPr>
                </a:tc>
                <a:tc>
                  <a:txBody>
                    <a:bodyPr/>
                    <a:lstStyle/>
                    <a:p>
                      <a:pPr marL="0" lvl="0" indent="0" algn="ctr" rtl="0">
                        <a:lnSpc>
                          <a:spcPct val="115000"/>
                        </a:lnSpc>
                        <a:spcBef>
                          <a:spcPts val="0"/>
                        </a:spcBef>
                        <a:spcAft>
                          <a:spcPts val="0"/>
                        </a:spcAft>
                        <a:buNone/>
                      </a:pPr>
                      <a:r>
                        <a:rPr lang="en" sz="900" b="1">
                          <a:solidFill>
                            <a:srgbClr val="FF0000"/>
                          </a:solidFill>
                        </a:rPr>
                        <a:t>1.48%</a:t>
                      </a:r>
                      <a:endParaRPr sz="900" b="1">
                        <a:solidFill>
                          <a:srgbClr val="FF0000"/>
                        </a:solidFill>
                      </a:endParaRPr>
                    </a:p>
                  </a:txBody>
                  <a:tcPr marL="28575" marR="28575" marT="19050" marB="19050" anchor="b">
                    <a:lnR w="7150" cap="flat" cmpd="sng">
                      <a:solidFill>
                        <a:srgbClr val="000000"/>
                      </a:solidFill>
                      <a:prstDash val="solid"/>
                      <a:round/>
                      <a:headEnd type="none" w="sm" len="sm"/>
                      <a:tailEnd type="none" w="sm" len="sm"/>
                    </a:lnR>
                    <a:solidFill>
                      <a:srgbClr val="F4CCCC"/>
                    </a:solidFill>
                  </a:tcPr>
                </a:tc>
                <a:extLst>
                  <a:ext uri="{0D108BD9-81ED-4DB2-BD59-A6C34878D82A}">
                    <a16:rowId xmlns:a16="http://schemas.microsoft.com/office/drawing/2014/main" val="10002"/>
                  </a:ext>
                </a:extLst>
              </a:tr>
              <a:tr h="199625">
                <a:tc>
                  <a:txBody>
                    <a:bodyPr/>
                    <a:lstStyle/>
                    <a:p>
                      <a:pPr marL="0" lvl="0" indent="0" algn="l" rtl="0">
                        <a:lnSpc>
                          <a:spcPct val="115000"/>
                        </a:lnSpc>
                        <a:spcBef>
                          <a:spcPts val="0"/>
                        </a:spcBef>
                        <a:spcAft>
                          <a:spcPts val="0"/>
                        </a:spcAft>
                        <a:buNone/>
                      </a:pPr>
                      <a:r>
                        <a:rPr lang="en" sz="900"/>
                        <a:t>NLM</a:t>
                      </a:r>
                      <a:endParaRPr sz="900"/>
                    </a:p>
                  </a:txBody>
                  <a:tcPr marL="28575" marR="28575" marT="19050" marB="19050" anchor="b">
                    <a:lnL w="7150" cap="flat" cmpd="sng">
                      <a:solidFill>
                        <a:srgbClr val="000000"/>
                      </a:solidFill>
                      <a:prstDash val="solid"/>
                      <a:round/>
                      <a:headEnd type="none" w="sm" len="sm"/>
                      <a:tailEnd type="none" w="sm" len="sm"/>
                    </a:lnL>
                    <a:lnR w="7150" cap="flat" cmpd="sng">
                      <a:solidFill>
                        <a:srgbClr val="000000"/>
                      </a:solidFill>
                      <a:prstDash val="solid"/>
                      <a:round/>
                      <a:headEnd type="none" w="sm" len="sm"/>
                      <a:tailEnd type="none" w="sm" len="sm"/>
                    </a:lnR>
                  </a:tcPr>
                </a:tc>
                <a:tc>
                  <a:txBody>
                    <a:bodyPr/>
                    <a:lstStyle/>
                    <a:p>
                      <a:pPr marL="0" lvl="0" indent="0" algn="ctr" rtl="0">
                        <a:lnSpc>
                          <a:spcPct val="115000"/>
                        </a:lnSpc>
                        <a:spcBef>
                          <a:spcPts val="0"/>
                        </a:spcBef>
                        <a:spcAft>
                          <a:spcPts val="0"/>
                        </a:spcAft>
                        <a:buNone/>
                      </a:pPr>
                      <a:r>
                        <a:rPr lang="en" sz="900"/>
                        <a:t>26.08K</a:t>
                      </a:r>
                      <a:endParaRPr sz="900"/>
                    </a:p>
                  </a:txBody>
                  <a:tcPr marL="28575" marR="28575" marT="19050" marB="19050" anchor="b">
                    <a:lnL w="7150" cap="flat" cmpd="sng">
                      <a:solidFill>
                        <a:srgbClr val="000000"/>
                      </a:solidFill>
                      <a:prstDash val="solid"/>
                      <a:round/>
                      <a:headEnd type="none" w="sm" len="sm"/>
                      <a:tailEnd type="none" w="sm" len="sm"/>
                    </a:lnL>
                  </a:tcPr>
                </a:tc>
                <a:tc>
                  <a:txBody>
                    <a:bodyPr/>
                    <a:lstStyle/>
                    <a:p>
                      <a:pPr marL="0" lvl="0" indent="0" algn="ctr" rtl="0">
                        <a:lnSpc>
                          <a:spcPct val="115000"/>
                        </a:lnSpc>
                        <a:spcBef>
                          <a:spcPts val="0"/>
                        </a:spcBef>
                        <a:spcAft>
                          <a:spcPts val="0"/>
                        </a:spcAft>
                        <a:buNone/>
                      </a:pPr>
                      <a:r>
                        <a:rPr lang="en" sz="900"/>
                        <a:t>5.16K</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a:t>14.86%</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a:t>766</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a:t>6.74</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b="1">
                          <a:solidFill>
                            <a:srgbClr val="FF0000"/>
                          </a:solidFill>
                        </a:rPr>
                        <a:t>0.58</a:t>
                      </a:r>
                      <a:endParaRPr sz="900" b="1">
                        <a:solidFill>
                          <a:srgbClr val="FF0000"/>
                        </a:solidFill>
                      </a:endParaRPr>
                    </a:p>
                  </a:txBody>
                  <a:tcPr marL="28575" marR="28575" marT="19050" marB="19050" anchor="b">
                    <a:solidFill>
                      <a:srgbClr val="F4CCCC"/>
                    </a:solidFill>
                  </a:tcPr>
                </a:tc>
                <a:tc>
                  <a:txBody>
                    <a:bodyPr/>
                    <a:lstStyle/>
                    <a:p>
                      <a:pPr marL="0" lvl="0" indent="0" algn="ctr" rtl="0">
                        <a:lnSpc>
                          <a:spcPct val="115000"/>
                        </a:lnSpc>
                        <a:spcBef>
                          <a:spcPts val="0"/>
                        </a:spcBef>
                        <a:spcAft>
                          <a:spcPts val="0"/>
                        </a:spcAft>
                        <a:buNone/>
                      </a:pPr>
                      <a:r>
                        <a:rPr lang="en" sz="900" b="1">
                          <a:solidFill>
                            <a:srgbClr val="6AA84F"/>
                          </a:solidFill>
                        </a:rPr>
                        <a:t>-0.31%</a:t>
                      </a:r>
                      <a:endParaRPr sz="900" b="1">
                        <a:solidFill>
                          <a:srgbClr val="6AA84F"/>
                        </a:solidFill>
                      </a:endParaRPr>
                    </a:p>
                  </a:txBody>
                  <a:tcPr marL="28575" marR="28575" marT="19050" marB="19050" anchor="b">
                    <a:lnR w="7150" cap="flat" cmpd="sng">
                      <a:solidFill>
                        <a:srgbClr val="000000"/>
                      </a:solidFill>
                      <a:prstDash val="solid"/>
                      <a:round/>
                      <a:headEnd type="none" w="sm" len="sm"/>
                      <a:tailEnd type="none" w="sm" len="sm"/>
                    </a:lnR>
                    <a:solidFill>
                      <a:srgbClr val="D9EAD3"/>
                    </a:solidFill>
                  </a:tcPr>
                </a:tc>
                <a:extLst>
                  <a:ext uri="{0D108BD9-81ED-4DB2-BD59-A6C34878D82A}">
                    <a16:rowId xmlns:a16="http://schemas.microsoft.com/office/drawing/2014/main" val="10003"/>
                  </a:ext>
                </a:extLst>
              </a:tr>
              <a:tr h="199625">
                <a:tc>
                  <a:txBody>
                    <a:bodyPr/>
                    <a:lstStyle/>
                    <a:p>
                      <a:pPr marL="0" lvl="0" indent="0" algn="l" rtl="0">
                        <a:lnSpc>
                          <a:spcPct val="115000"/>
                        </a:lnSpc>
                        <a:spcBef>
                          <a:spcPts val="0"/>
                        </a:spcBef>
                        <a:spcAft>
                          <a:spcPts val="0"/>
                        </a:spcAft>
                        <a:buNone/>
                      </a:pPr>
                      <a:r>
                        <a:rPr lang="en" sz="900"/>
                        <a:t>PT</a:t>
                      </a:r>
                      <a:endParaRPr sz="900"/>
                    </a:p>
                  </a:txBody>
                  <a:tcPr marL="28575" marR="28575" marT="19050" marB="19050" anchor="b">
                    <a:lnL w="7150" cap="flat" cmpd="sng">
                      <a:solidFill>
                        <a:srgbClr val="000000"/>
                      </a:solidFill>
                      <a:prstDash val="solid"/>
                      <a:round/>
                      <a:headEnd type="none" w="sm" len="sm"/>
                      <a:tailEnd type="none" w="sm" len="sm"/>
                    </a:lnL>
                    <a:lnR w="7150" cap="flat" cmpd="sng">
                      <a:solidFill>
                        <a:srgbClr val="000000"/>
                      </a:solidFill>
                      <a:prstDash val="solid"/>
                      <a:round/>
                      <a:headEnd type="none" w="sm" len="sm"/>
                      <a:tailEnd type="none" w="sm" len="sm"/>
                    </a:lnR>
                  </a:tcPr>
                </a:tc>
                <a:tc>
                  <a:txBody>
                    <a:bodyPr/>
                    <a:lstStyle/>
                    <a:p>
                      <a:pPr marL="0" lvl="0" indent="0" algn="ctr" rtl="0">
                        <a:lnSpc>
                          <a:spcPct val="115000"/>
                        </a:lnSpc>
                        <a:spcBef>
                          <a:spcPts val="0"/>
                        </a:spcBef>
                        <a:spcAft>
                          <a:spcPts val="0"/>
                        </a:spcAft>
                        <a:buNone/>
                      </a:pPr>
                      <a:r>
                        <a:rPr lang="en" sz="900"/>
                        <a:t>196.92K</a:t>
                      </a:r>
                      <a:endParaRPr sz="900"/>
                    </a:p>
                  </a:txBody>
                  <a:tcPr marL="28575" marR="28575" marT="19050" marB="19050" anchor="b">
                    <a:lnL w="7150" cap="flat" cmpd="sng">
                      <a:solidFill>
                        <a:srgbClr val="000000"/>
                      </a:solidFill>
                      <a:prstDash val="solid"/>
                      <a:round/>
                      <a:headEnd type="none" w="sm" len="sm"/>
                      <a:tailEnd type="none" w="sm" len="sm"/>
                    </a:lnL>
                  </a:tcPr>
                </a:tc>
                <a:tc>
                  <a:txBody>
                    <a:bodyPr/>
                    <a:lstStyle/>
                    <a:p>
                      <a:pPr marL="0" lvl="0" indent="0" algn="ctr" rtl="0">
                        <a:lnSpc>
                          <a:spcPct val="115000"/>
                        </a:lnSpc>
                        <a:spcBef>
                          <a:spcPts val="0"/>
                        </a:spcBef>
                        <a:spcAft>
                          <a:spcPts val="0"/>
                        </a:spcAft>
                        <a:buNone/>
                      </a:pPr>
                      <a:r>
                        <a:rPr lang="en" sz="900"/>
                        <a:t>40.51K</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a:t>15.11%</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a:t>5,782</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a:t>7.01</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b="1">
                          <a:solidFill>
                            <a:srgbClr val="FF0000"/>
                          </a:solidFill>
                        </a:rPr>
                        <a:t>0.35</a:t>
                      </a:r>
                      <a:endParaRPr sz="900" b="1">
                        <a:solidFill>
                          <a:srgbClr val="FF0000"/>
                        </a:solidFill>
                      </a:endParaRPr>
                    </a:p>
                  </a:txBody>
                  <a:tcPr marL="28575" marR="28575" marT="19050" marB="19050" anchor="b">
                    <a:solidFill>
                      <a:srgbClr val="F4CCCC"/>
                    </a:solidFill>
                  </a:tcPr>
                </a:tc>
                <a:tc>
                  <a:txBody>
                    <a:bodyPr/>
                    <a:lstStyle/>
                    <a:p>
                      <a:pPr marL="0" lvl="0" indent="0" algn="ctr" rtl="0">
                        <a:lnSpc>
                          <a:spcPct val="115000"/>
                        </a:lnSpc>
                        <a:spcBef>
                          <a:spcPts val="0"/>
                        </a:spcBef>
                        <a:spcAft>
                          <a:spcPts val="0"/>
                        </a:spcAft>
                        <a:buNone/>
                      </a:pPr>
                      <a:r>
                        <a:rPr lang="en" sz="900" b="1">
                          <a:solidFill>
                            <a:srgbClr val="6AA84F"/>
                          </a:solidFill>
                        </a:rPr>
                        <a:t>-1.46%</a:t>
                      </a:r>
                      <a:endParaRPr sz="900" b="1">
                        <a:solidFill>
                          <a:srgbClr val="6AA84F"/>
                        </a:solidFill>
                      </a:endParaRPr>
                    </a:p>
                  </a:txBody>
                  <a:tcPr marL="28575" marR="28575" marT="19050" marB="19050" anchor="b">
                    <a:lnR w="7150" cap="flat" cmpd="sng">
                      <a:solidFill>
                        <a:srgbClr val="000000"/>
                      </a:solidFill>
                      <a:prstDash val="solid"/>
                      <a:round/>
                      <a:headEnd type="none" w="sm" len="sm"/>
                      <a:tailEnd type="none" w="sm" len="sm"/>
                    </a:lnR>
                    <a:solidFill>
                      <a:srgbClr val="D9EAD3"/>
                    </a:solidFill>
                  </a:tcPr>
                </a:tc>
                <a:extLst>
                  <a:ext uri="{0D108BD9-81ED-4DB2-BD59-A6C34878D82A}">
                    <a16:rowId xmlns:a16="http://schemas.microsoft.com/office/drawing/2014/main" val="10004"/>
                  </a:ext>
                </a:extLst>
              </a:tr>
              <a:tr h="199625">
                <a:tc>
                  <a:txBody>
                    <a:bodyPr/>
                    <a:lstStyle/>
                    <a:p>
                      <a:pPr marL="0" lvl="0" indent="0" algn="l" rtl="0">
                        <a:lnSpc>
                          <a:spcPct val="115000"/>
                        </a:lnSpc>
                        <a:spcBef>
                          <a:spcPts val="0"/>
                        </a:spcBef>
                        <a:spcAft>
                          <a:spcPts val="0"/>
                        </a:spcAft>
                        <a:buNone/>
                      </a:pPr>
                      <a:r>
                        <a:rPr lang="en" sz="900"/>
                        <a:t>Return</a:t>
                      </a:r>
                      <a:endParaRPr sz="900"/>
                    </a:p>
                  </a:txBody>
                  <a:tcPr marL="28575" marR="28575" marT="19050" marB="19050" anchor="b">
                    <a:lnL w="7150" cap="flat" cmpd="sng">
                      <a:solidFill>
                        <a:srgbClr val="000000"/>
                      </a:solidFill>
                      <a:prstDash val="solid"/>
                      <a:round/>
                      <a:headEnd type="none" w="sm" len="sm"/>
                      <a:tailEnd type="none" w="sm" len="sm"/>
                    </a:lnL>
                    <a:lnR w="7150" cap="flat" cmpd="sng">
                      <a:solidFill>
                        <a:srgbClr val="000000"/>
                      </a:solidFill>
                      <a:prstDash val="solid"/>
                      <a:round/>
                      <a:headEnd type="none" w="sm" len="sm"/>
                      <a:tailEnd type="none" w="sm" len="sm"/>
                    </a:lnR>
                    <a:lnB w="71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t>27.09K</a:t>
                      </a:r>
                      <a:endParaRPr sz="900"/>
                    </a:p>
                  </a:txBody>
                  <a:tcPr marL="28575" marR="28575" marT="19050" marB="19050" anchor="b">
                    <a:lnL w="7150" cap="flat" cmpd="sng">
                      <a:solidFill>
                        <a:srgbClr val="000000"/>
                      </a:solidFill>
                      <a:prstDash val="solid"/>
                      <a:round/>
                      <a:headEnd type="none" w="sm" len="sm"/>
                      <a:tailEnd type="none" w="sm" len="sm"/>
                    </a:lnL>
                    <a:lnB w="71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t>6.60K</a:t>
                      </a:r>
                      <a:endParaRPr sz="900"/>
                    </a:p>
                  </a:txBody>
                  <a:tcPr marL="28575" marR="28575" marT="19050" marB="19050" anchor="b">
                    <a:lnB w="71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t>18.75%</a:t>
                      </a:r>
                      <a:endParaRPr sz="900"/>
                    </a:p>
                  </a:txBody>
                  <a:tcPr marL="28575" marR="28575" marT="19050" marB="19050" anchor="b">
                    <a:lnB w="71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t>1,003</a:t>
                      </a:r>
                      <a:endParaRPr sz="900"/>
                    </a:p>
                  </a:txBody>
                  <a:tcPr marL="28575" marR="28575" marT="19050" marB="19050" anchor="b">
                    <a:lnB w="71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t>6.58</a:t>
                      </a:r>
                      <a:endParaRPr sz="900"/>
                    </a:p>
                  </a:txBody>
                  <a:tcPr marL="28575" marR="28575" marT="19050" marB="19050" anchor="b">
                    <a:lnB w="71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b="1">
                          <a:solidFill>
                            <a:srgbClr val="FF0000"/>
                          </a:solidFill>
                        </a:rPr>
                        <a:t>0.82</a:t>
                      </a:r>
                      <a:endParaRPr sz="900" b="1">
                        <a:solidFill>
                          <a:srgbClr val="FF0000"/>
                        </a:solidFill>
                      </a:endParaRPr>
                    </a:p>
                  </a:txBody>
                  <a:tcPr marL="28575" marR="28575" marT="19050" marB="19050" anchor="b">
                    <a:lnB w="7150" cap="flat" cmpd="sng">
                      <a:solidFill>
                        <a:srgbClr val="000000"/>
                      </a:solidFill>
                      <a:prstDash val="solid"/>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900" b="1">
                          <a:solidFill>
                            <a:srgbClr val="FF0000"/>
                          </a:solidFill>
                        </a:rPr>
                        <a:t>1.44%</a:t>
                      </a:r>
                      <a:endParaRPr sz="900" b="1">
                        <a:solidFill>
                          <a:srgbClr val="FF0000"/>
                        </a:solidFill>
                      </a:endParaRPr>
                    </a:p>
                  </a:txBody>
                  <a:tcPr marL="28575" marR="28575" marT="19050" marB="19050" anchor="b">
                    <a:lnR w="7150" cap="flat" cmpd="sng">
                      <a:solidFill>
                        <a:srgbClr val="000000"/>
                      </a:solidFill>
                      <a:prstDash val="solid"/>
                      <a:round/>
                      <a:headEnd type="none" w="sm" len="sm"/>
                      <a:tailEnd type="none" w="sm" len="sm"/>
                    </a:lnR>
                    <a:lnB w="7150" cap="flat" cmpd="sng">
                      <a:solidFill>
                        <a:srgbClr val="000000"/>
                      </a:solidFill>
                      <a:prstDash val="solid"/>
                      <a:round/>
                      <a:headEnd type="none" w="sm" len="sm"/>
                      <a:tailEnd type="none" w="sm" len="sm"/>
                    </a:lnB>
                    <a:solidFill>
                      <a:srgbClr val="F4CCCC"/>
                    </a:solidFill>
                  </a:tcPr>
                </a:tc>
                <a:extLst>
                  <a:ext uri="{0D108BD9-81ED-4DB2-BD59-A6C34878D82A}">
                    <a16:rowId xmlns:a16="http://schemas.microsoft.com/office/drawing/2014/main" val="10005"/>
                  </a:ext>
                </a:extLst>
              </a:tr>
              <a:tr h="250950">
                <a:tc>
                  <a:txBody>
                    <a:bodyPr/>
                    <a:lstStyle/>
                    <a:p>
                      <a:pPr marL="0" lvl="0" indent="0" algn="l" rtl="0">
                        <a:lnSpc>
                          <a:spcPct val="115000"/>
                        </a:lnSpc>
                        <a:spcBef>
                          <a:spcPts val="0"/>
                        </a:spcBef>
                        <a:spcAft>
                          <a:spcPts val="0"/>
                        </a:spcAft>
                        <a:buNone/>
                      </a:pPr>
                      <a:r>
                        <a:rPr lang="en" sz="900" b="1"/>
                        <a:t>Total</a:t>
                      </a:r>
                      <a:endParaRPr sz="900" b="1"/>
                    </a:p>
                  </a:txBody>
                  <a:tcPr marL="28575" marR="28575" marT="19050" marB="19050" anchor="b">
                    <a:lnT w="7150" cap="flat" cmpd="sng">
                      <a:solidFill>
                        <a:srgbClr val="000000"/>
                      </a:solidFill>
                      <a:prstDash val="solid"/>
                      <a:round/>
                      <a:headEnd type="none" w="sm" len="sm"/>
                      <a:tailEnd type="none" w="sm" len="sm"/>
                    </a:lnT>
                  </a:tcPr>
                </a:tc>
                <a:tc>
                  <a:txBody>
                    <a:bodyPr/>
                    <a:lstStyle/>
                    <a:p>
                      <a:pPr marL="0" lvl="0" indent="0" algn="ctr" rtl="0">
                        <a:lnSpc>
                          <a:spcPct val="115000"/>
                        </a:lnSpc>
                        <a:spcBef>
                          <a:spcPts val="0"/>
                        </a:spcBef>
                        <a:spcAft>
                          <a:spcPts val="0"/>
                        </a:spcAft>
                        <a:buNone/>
                      </a:pPr>
                      <a:r>
                        <a:rPr lang="en" sz="900" b="1"/>
                        <a:t>0.39M</a:t>
                      </a:r>
                      <a:endParaRPr sz="900" b="1"/>
                    </a:p>
                  </a:txBody>
                  <a:tcPr marL="28575" marR="28575" marT="19050" marB="19050" anchor="b">
                    <a:lnT w="7150" cap="flat" cmpd="sng">
                      <a:solidFill>
                        <a:srgbClr val="000000"/>
                      </a:solidFill>
                      <a:prstDash val="solid"/>
                      <a:round/>
                      <a:headEnd type="none" w="sm" len="sm"/>
                      <a:tailEnd type="none" w="sm" len="sm"/>
                    </a:lnT>
                  </a:tcPr>
                </a:tc>
                <a:tc>
                  <a:txBody>
                    <a:bodyPr/>
                    <a:lstStyle/>
                    <a:p>
                      <a:pPr marL="0" lvl="0" indent="0" algn="ctr" rtl="0">
                        <a:lnSpc>
                          <a:spcPct val="115000"/>
                        </a:lnSpc>
                        <a:spcBef>
                          <a:spcPts val="0"/>
                        </a:spcBef>
                        <a:spcAft>
                          <a:spcPts val="0"/>
                        </a:spcAft>
                        <a:buNone/>
                      </a:pPr>
                      <a:r>
                        <a:rPr lang="en" sz="900" b="1"/>
                        <a:t>74.04K</a:t>
                      </a:r>
                      <a:endParaRPr sz="900" b="1"/>
                    </a:p>
                  </a:txBody>
                  <a:tcPr marL="28575" marR="28575" marT="19050" marB="19050" anchor="b">
                    <a:lnT w="7150" cap="flat" cmpd="sng">
                      <a:solidFill>
                        <a:srgbClr val="000000"/>
                      </a:solidFill>
                      <a:prstDash val="solid"/>
                      <a:round/>
                      <a:headEnd type="none" w="sm" len="sm"/>
                      <a:tailEnd type="none" w="sm" len="sm"/>
                    </a:lnT>
                  </a:tcPr>
                </a:tc>
                <a:tc>
                  <a:txBody>
                    <a:bodyPr/>
                    <a:lstStyle/>
                    <a:p>
                      <a:pPr marL="0" lvl="0" indent="0" algn="ctr" rtl="0">
                        <a:lnSpc>
                          <a:spcPct val="115000"/>
                        </a:lnSpc>
                        <a:spcBef>
                          <a:spcPts val="0"/>
                        </a:spcBef>
                        <a:spcAft>
                          <a:spcPts val="0"/>
                        </a:spcAft>
                        <a:buNone/>
                      </a:pPr>
                      <a:r>
                        <a:rPr lang="en" sz="900" b="1"/>
                        <a:t>13.89%</a:t>
                      </a:r>
                      <a:endParaRPr sz="900" b="1"/>
                    </a:p>
                  </a:txBody>
                  <a:tcPr marL="28575" marR="28575" marT="19050" marB="19050" anchor="b">
                    <a:lnT w="7150"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endParaRPr/>
                    </a:p>
                  </a:txBody>
                  <a:tcPr marL="28575" marR="28575" marT="19050" marB="19050" anchor="b">
                    <a:lnT w="7150"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endParaRPr/>
                    </a:p>
                  </a:txBody>
                  <a:tcPr marL="28575" marR="28575" marT="19050" marB="19050" anchor="b">
                    <a:lnT w="7150"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endParaRPr/>
                    </a:p>
                  </a:txBody>
                  <a:tcPr marL="28575" marR="28575" marT="19050" marB="19050" anchor="b">
                    <a:lnT w="7150"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endParaRPr/>
                    </a:p>
                  </a:txBody>
                  <a:tcPr marL="28575" marR="28575" marT="19050" marB="19050" anchor="b">
                    <a:lnT w="7150" cap="flat" cmpd="sng">
                      <a:solidFill>
                        <a:srgbClr val="000000"/>
                      </a:solidFill>
                      <a:prstDash val="solid"/>
                      <a:round/>
                      <a:headEnd type="none" w="sm" len="sm"/>
                      <a:tailEnd type="none" w="sm" len="sm"/>
                    </a:lnT>
                  </a:tcPr>
                </a:tc>
                <a:extLst>
                  <a:ext uri="{0D108BD9-81ED-4DB2-BD59-A6C34878D82A}">
                    <a16:rowId xmlns:a16="http://schemas.microsoft.com/office/drawing/2014/main" val="10006"/>
                  </a:ext>
                </a:extLst>
              </a:tr>
              <a:tr h="250950">
                <a:tc>
                  <a:txBody>
                    <a:bodyPr/>
                    <a:lstStyle/>
                    <a:p>
                      <a:pPr marL="0" lvl="0" indent="0" algn="l" rtl="0">
                        <a:lnSpc>
                          <a:spcPct val="115000"/>
                        </a:lnSpc>
                        <a:spcBef>
                          <a:spcPts val="0"/>
                        </a:spcBef>
                        <a:spcAft>
                          <a:spcPts val="0"/>
                        </a:spcAft>
                        <a:buNone/>
                      </a:pPr>
                      <a:r>
                        <a:rPr lang="en" sz="900"/>
                        <a:t>WoW (%)</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b="1">
                          <a:solidFill>
                            <a:srgbClr val="38761D"/>
                          </a:solidFill>
                        </a:rPr>
                        <a:t>9.36%</a:t>
                      </a:r>
                      <a:endParaRPr sz="900" b="1">
                        <a:solidFill>
                          <a:srgbClr val="38761D"/>
                        </a:solidFill>
                      </a:endParaRPr>
                    </a:p>
                  </a:txBody>
                  <a:tcPr marL="28575" marR="28575" marT="19050" marB="19050" anchor="b">
                    <a:solidFill>
                      <a:srgbClr val="FFFFFF"/>
                    </a:solidFill>
                  </a:tcPr>
                </a:tc>
                <a:tc>
                  <a:txBody>
                    <a:bodyPr/>
                    <a:lstStyle/>
                    <a:p>
                      <a:pPr marL="0" lvl="0" indent="0" algn="ctr" rtl="0">
                        <a:lnSpc>
                          <a:spcPct val="115000"/>
                        </a:lnSpc>
                        <a:spcBef>
                          <a:spcPts val="0"/>
                        </a:spcBef>
                        <a:spcAft>
                          <a:spcPts val="0"/>
                        </a:spcAft>
                        <a:buNone/>
                      </a:pPr>
                      <a:r>
                        <a:rPr lang="en" sz="900" b="1">
                          <a:solidFill>
                            <a:srgbClr val="FF0000"/>
                          </a:solidFill>
                        </a:rPr>
                        <a:t>6.36%</a:t>
                      </a:r>
                      <a:endParaRPr sz="900" b="1">
                        <a:solidFill>
                          <a:srgbClr val="FF0000"/>
                        </a:solidFill>
                      </a:endParaRPr>
                    </a:p>
                  </a:txBody>
                  <a:tcPr marL="28575" marR="28575" marT="19050" marB="19050" anchor="b">
                    <a:solidFill>
                      <a:srgbClr val="FFFFFF"/>
                    </a:solidFill>
                  </a:tcPr>
                </a:tc>
                <a:tc>
                  <a:txBody>
                    <a:bodyPr/>
                    <a:lstStyle/>
                    <a:p>
                      <a:pPr marL="0" lvl="0" indent="0" algn="ctr" rtl="0">
                        <a:lnSpc>
                          <a:spcPct val="115000"/>
                        </a:lnSpc>
                        <a:spcBef>
                          <a:spcPts val="0"/>
                        </a:spcBef>
                        <a:spcAft>
                          <a:spcPts val="0"/>
                        </a:spcAft>
                        <a:buNone/>
                      </a:pPr>
                      <a:r>
                        <a:rPr lang="en" sz="900" b="1">
                          <a:solidFill>
                            <a:srgbClr val="38761D"/>
                          </a:solidFill>
                        </a:rPr>
                        <a:t>-0.40%</a:t>
                      </a:r>
                      <a:endParaRPr sz="900" b="1">
                        <a:solidFill>
                          <a:srgbClr val="38761D"/>
                        </a:solidFill>
                      </a:endParaRPr>
                    </a:p>
                  </a:txBody>
                  <a:tcPr marL="28575" marR="28575" marT="19050" marB="19050" anchor="b">
                    <a:solidFill>
                      <a:srgbClr val="FFFFFF"/>
                    </a:solidFill>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extLst>
                  <a:ext uri="{0D108BD9-81ED-4DB2-BD59-A6C34878D82A}">
                    <a16:rowId xmlns:a16="http://schemas.microsoft.com/office/drawing/2014/main" val="10007"/>
                  </a:ext>
                </a:extLst>
              </a:tr>
              <a:tr h="250950">
                <a:tc>
                  <a:txBody>
                    <a:bodyPr/>
                    <a:lstStyle/>
                    <a:p>
                      <a:pPr marL="0" lvl="0" indent="0" algn="l" rtl="0">
                        <a:lnSpc>
                          <a:spcPct val="115000"/>
                        </a:lnSpc>
                        <a:spcBef>
                          <a:spcPts val="0"/>
                        </a:spcBef>
                        <a:spcAft>
                          <a:spcPts val="0"/>
                        </a:spcAft>
                        <a:buNone/>
                      </a:pPr>
                      <a:r>
                        <a:rPr lang="en" sz="900"/>
                        <a:t>WoW (Actual)</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b="1">
                          <a:solidFill>
                            <a:srgbClr val="38761D"/>
                          </a:solidFill>
                        </a:rPr>
                        <a:t>33.29K</a:t>
                      </a:r>
                      <a:endParaRPr sz="900" b="1">
                        <a:solidFill>
                          <a:srgbClr val="38761D"/>
                        </a:solidFill>
                      </a:endParaRPr>
                    </a:p>
                  </a:txBody>
                  <a:tcPr marL="28575" marR="28575" marT="19050" marB="19050" anchor="b">
                    <a:solidFill>
                      <a:srgbClr val="FFFFFF"/>
                    </a:solidFill>
                  </a:tcPr>
                </a:tc>
                <a:tc>
                  <a:txBody>
                    <a:bodyPr/>
                    <a:lstStyle/>
                    <a:p>
                      <a:pPr marL="0" lvl="0" indent="0" algn="ctr" rtl="0">
                        <a:lnSpc>
                          <a:spcPct val="115000"/>
                        </a:lnSpc>
                        <a:spcBef>
                          <a:spcPts val="0"/>
                        </a:spcBef>
                        <a:spcAft>
                          <a:spcPts val="0"/>
                        </a:spcAft>
                        <a:buNone/>
                      </a:pPr>
                      <a:r>
                        <a:rPr lang="en" sz="900" b="1">
                          <a:solidFill>
                            <a:srgbClr val="FF0000"/>
                          </a:solidFill>
                        </a:rPr>
                        <a:t>4.43K</a:t>
                      </a:r>
                      <a:endParaRPr sz="900" b="1">
                        <a:solidFill>
                          <a:srgbClr val="FF0000"/>
                        </a:solidFill>
                      </a:endParaRPr>
                    </a:p>
                  </a:txBody>
                  <a:tcPr marL="28575" marR="28575" marT="19050" marB="19050" anchor="b">
                    <a:solidFill>
                      <a:srgbClr val="FFFFFF"/>
                    </a:solidFill>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extLst>
                  <a:ext uri="{0D108BD9-81ED-4DB2-BD59-A6C34878D82A}">
                    <a16:rowId xmlns:a16="http://schemas.microsoft.com/office/drawing/2014/main" val="10008"/>
                  </a:ext>
                </a:extLst>
              </a:tr>
            </a:tbl>
          </a:graphicData>
        </a:graphic>
      </p:graphicFrame>
      <p:pic>
        <p:nvPicPr>
          <p:cNvPr id="245" name="Google Shape;245;p38" title="Chart"/>
          <p:cNvPicPr preferRelativeResize="0"/>
          <p:nvPr/>
        </p:nvPicPr>
        <p:blipFill rotWithShape="1">
          <a:blip r:embed="rId4">
            <a:alphaModFix/>
          </a:blip>
          <a:srcRect l="14669" r="7715"/>
          <a:stretch/>
        </p:blipFill>
        <p:spPr>
          <a:xfrm>
            <a:off x="5447800" y="859200"/>
            <a:ext cx="3476274" cy="276943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42"/>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09" name="Google Shape;309;p42" descr="preencoded.png"/>
          <p:cNvPicPr preferRelativeResize="0"/>
          <p:nvPr/>
        </p:nvPicPr>
        <p:blipFill rotWithShape="1">
          <a:blip r:embed="rId3">
            <a:alphaModFix/>
          </a:blip>
          <a:srcRect/>
          <a:stretch/>
        </p:blipFill>
        <p:spPr>
          <a:xfrm>
            <a:off x="365760" y="274320"/>
            <a:ext cx="274320" cy="274320"/>
          </a:xfrm>
          <a:prstGeom prst="rect">
            <a:avLst/>
          </a:prstGeom>
          <a:noFill/>
          <a:ln>
            <a:noFill/>
          </a:ln>
        </p:spPr>
      </p:pic>
      <p:sp>
        <p:nvSpPr>
          <p:cNvPr id="310" name="Google Shape;310;p42"/>
          <p:cNvSpPr/>
          <p:nvPr/>
        </p:nvSpPr>
        <p:spPr>
          <a:xfrm>
            <a:off x="731520" y="201168"/>
            <a:ext cx="7315200" cy="411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0E4174"/>
              </a:buClr>
              <a:buSzPts val="2200"/>
              <a:buFont typeface="Calibri"/>
              <a:buNone/>
            </a:pPr>
            <a:r>
              <a:rPr lang="en" sz="2200" b="1">
                <a:solidFill>
                  <a:srgbClr val="0E4174"/>
                </a:solidFill>
                <a:latin typeface="Lexend"/>
                <a:ea typeface="Lexend"/>
                <a:cs typeface="Lexend"/>
                <a:sym typeface="Lexend"/>
              </a:rPr>
              <a:t>CORE 2H/BULKY</a:t>
            </a:r>
            <a:endParaRPr sz="2200" b="1">
              <a:solidFill>
                <a:srgbClr val="0E4174"/>
              </a:solidFill>
              <a:latin typeface="Lexend"/>
              <a:ea typeface="Lexend"/>
              <a:cs typeface="Lexend"/>
              <a:sym typeface="Lexend"/>
            </a:endParaRPr>
          </a:p>
        </p:txBody>
      </p:sp>
      <p:sp>
        <p:nvSpPr>
          <p:cNvPr id="311" name="Google Shape;311;p42"/>
          <p:cNvSpPr/>
          <p:nvPr/>
        </p:nvSpPr>
        <p:spPr>
          <a:xfrm>
            <a:off x="731520" y="594360"/>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 sz="1000" i="1">
                <a:solidFill>
                  <a:srgbClr val="64748B"/>
                </a:solidFill>
                <a:latin typeface="Lexend"/>
                <a:ea typeface="Lexend"/>
                <a:cs typeface="Lexend"/>
                <a:sym typeface="Lexend"/>
              </a:rPr>
              <a:t>Đội core chuyên chạy đơn 2H, 2H - Cỡ Lớn - </a:t>
            </a:r>
            <a:r>
              <a:rPr lang="en" sz="1000" i="1" u="sng">
                <a:solidFill>
                  <a:schemeClr val="hlink"/>
                </a:solidFill>
                <a:latin typeface="Lexend"/>
                <a:ea typeface="Lexend"/>
                <a:cs typeface="Lexend"/>
                <a:sym typeface="Lexend"/>
                <a:hlinkClick r:id="rId4"/>
              </a:rPr>
              <a:t>Plan Core 2H</a:t>
            </a:r>
            <a:endParaRPr sz="1000" i="1">
              <a:solidFill>
                <a:srgbClr val="64748B"/>
              </a:solidFill>
              <a:latin typeface="Lexend"/>
              <a:ea typeface="Lexend"/>
              <a:cs typeface="Lexend"/>
              <a:sym typeface="Lexend"/>
            </a:endParaRPr>
          </a:p>
        </p:txBody>
      </p:sp>
      <p:cxnSp>
        <p:nvCxnSpPr>
          <p:cNvPr id="312" name="Google Shape;312;p42"/>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pic>
        <p:nvPicPr>
          <p:cNvPr id="313" name="Google Shape;313;p42"/>
          <p:cNvPicPr preferRelativeResize="0"/>
          <p:nvPr/>
        </p:nvPicPr>
        <p:blipFill rotWithShape="1">
          <a:blip r:embed="rId5">
            <a:alphaModFix/>
          </a:blip>
          <a:srcRect l="2314" t="17932" r="2448"/>
          <a:stretch/>
        </p:blipFill>
        <p:spPr>
          <a:xfrm>
            <a:off x="0" y="924475"/>
            <a:ext cx="9144003" cy="4219024"/>
          </a:xfrm>
          <a:prstGeom prst="rect">
            <a:avLst/>
          </a:prstGeom>
          <a:noFill/>
          <a:ln>
            <a:noFill/>
          </a:ln>
        </p:spPr>
      </p:pic>
      <p:pic>
        <p:nvPicPr>
          <p:cNvPr id="314" name="Google Shape;314;p42" title="Chart"/>
          <p:cNvPicPr preferRelativeResize="0"/>
          <p:nvPr/>
        </p:nvPicPr>
        <p:blipFill>
          <a:blip r:embed="rId6">
            <a:alphaModFix/>
          </a:blip>
          <a:stretch>
            <a:fillRect/>
          </a:stretch>
        </p:blipFill>
        <p:spPr>
          <a:xfrm>
            <a:off x="5681375" y="924475"/>
            <a:ext cx="1991200" cy="3966898"/>
          </a:xfrm>
          <a:prstGeom prst="rect">
            <a:avLst/>
          </a:prstGeom>
          <a:noFill/>
          <a:ln>
            <a:noFill/>
          </a:ln>
        </p:spPr>
      </p:pic>
      <p:pic>
        <p:nvPicPr>
          <p:cNvPr id="315" name="Google Shape;315;p42" title="Chart"/>
          <p:cNvPicPr preferRelativeResize="0"/>
          <p:nvPr/>
        </p:nvPicPr>
        <p:blipFill>
          <a:blip r:embed="rId7">
            <a:alphaModFix/>
          </a:blip>
          <a:stretch>
            <a:fillRect/>
          </a:stretch>
        </p:blipFill>
        <p:spPr>
          <a:xfrm>
            <a:off x="7327680" y="1006619"/>
            <a:ext cx="2034845" cy="388475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43"/>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21" name="Google Shape;321;p43" descr="preencoded.png"/>
          <p:cNvPicPr preferRelativeResize="0"/>
          <p:nvPr/>
        </p:nvPicPr>
        <p:blipFill rotWithShape="1">
          <a:blip r:embed="rId3">
            <a:alphaModFix/>
          </a:blip>
          <a:srcRect/>
          <a:stretch/>
        </p:blipFill>
        <p:spPr>
          <a:xfrm>
            <a:off x="365760" y="274320"/>
            <a:ext cx="274320" cy="274320"/>
          </a:xfrm>
          <a:prstGeom prst="rect">
            <a:avLst/>
          </a:prstGeom>
          <a:noFill/>
          <a:ln>
            <a:noFill/>
          </a:ln>
        </p:spPr>
      </p:pic>
      <p:sp>
        <p:nvSpPr>
          <p:cNvPr id="322" name="Google Shape;322;p43"/>
          <p:cNvSpPr/>
          <p:nvPr/>
        </p:nvSpPr>
        <p:spPr>
          <a:xfrm>
            <a:off x="731520" y="201168"/>
            <a:ext cx="7315200" cy="411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0E4174"/>
              </a:buClr>
              <a:buSzPts val="2200"/>
              <a:buFont typeface="Calibri"/>
              <a:buNone/>
            </a:pPr>
            <a:r>
              <a:rPr lang="en" sz="2200" b="1" u="sng">
                <a:solidFill>
                  <a:schemeClr val="hlink"/>
                </a:solidFill>
                <a:latin typeface="Lexend"/>
                <a:ea typeface="Lexend"/>
                <a:cs typeface="Lexend"/>
                <a:sym typeface="Lexend"/>
                <a:hlinkClick r:id="rId4"/>
              </a:rPr>
              <a:t>Plan Active tài xế Ân xá 13.8</a:t>
            </a:r>
            <a:endParaRPr sz="2200" b="1">
              <a:solidFill>
                <a:srgbClr val="0E4174"/>
              </a:solidFill>
              <a:latin typeface="Lexend"/>
              <a:ea typeface="Lexend"/>
              <a:cs typeface="Lexend"/>
              <a:sym typeface="Lexend"/>
            </a:endParaRPr>
          </a:p>
        </p:txBody>
      </p:sp>
      <p:sp>
        <p:nvSpPr>
          <p:cNvPr id="323" name="Google Shape;323;p43"/>
          <p:cNvSpPr/>
          <p:nvPr/>
        </p:nvSpPr>
        <p:spPr>
          <a:xfrm>
            <a:off x="731520" y="594360"/>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endParaRPr sz="1000" i="1">
              <a:solidFill>
                <a:srgbClr val="64748B"/>
              </a:solidFill>
              <a:latin typeface="Lexend"/>
              <a:ea typeface="Lexend"/>
              <a:cs typeface="Lexend"/>
              <a:sym typeface="Lexend"/>
            </a:endParaRPr>
          </a:p>
        </p:txBody>
      </p:sp>
      <p:cxnSp>
        <p:nvCxnSpPr>
          <p:cNvPr id="324" name="Google Shape;324;p43"/>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pic>
        <p:nvPicPr>
          <p:cNvPr id="325" name="Google Shape;325;p43"/>
          <p:cNvPicPr preferRelativeResize="0"/>
          <p:nvPr/>
        </p:nvPicPr>
        <p:blipFill>
          <a:blip r:embed="rId5">
            <a:alphaModFix/>
          </a:blip>
          <a:stretch>
            <a:fillRect/>
          </a:stretch>
        </p:blipFill>
        <p:spPr>
          <a:xfrm rot="10800000">
            <a:off x="8324790" y="1775290"/>
            <a:ext cx="336750" cy="336750"/>
          </a:xfrm>
          <a:prstGeom prst="rect">
            <a:avLst/>
          </a:prstGeom>
          <a:noFill/>
          <a:ln>
            <a:noFill/>
          </a:ln>
        </p:spPr>
      </p:pic>
      <p:pic>
        <p:nvPicPr>
          <p:cNvPr id="326" name="Google Shape;326;p43"/>
          <p:cNvPicPr preferRelativeResize="0"/>
          <p:nvPr/>
        </p:nvPicPr>
        <p:blipFill>
          <a:blip r:embed="rId6">
            <a:alphaModFix/>
          </a:blip>
          <a:stretch>
            <a:fillRect/>
          </a:stretch>
        </p:blipFill>
        <p:spPr>
          <a:xfrm>
            <a:off x="50" y="701500"/>
            <a:ext cx="9144000" cy="44795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44"/>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32" name="Google Shape;332;p44" descr="preencoded.png"/>
          <p:cNvPicPr preferRelativeResize="0"/>
          <p:nvPr/>
        </p:nvPicPr>
        <p:blipFill rotWithShape="1">
          <a:blip r:embed="rId3">
            <a:alphaModFix/>
          </a:blip>
          <a:srcRect/>
          <a:stretch/>
        </p:blipFill>
        <p:spPr>
          <a:xfrm>
            <a:off x="365760" y="274320"/>
            <a:ext cx="274320" cy="274320"/>
          </a:xfrm>
          <a:prstGeom prst="rect">
            <a:avLst/>
          </a:prstGeom>
          <a:noFill/>
          <a:ln>
            <a:noFill/>
          </a:ln>
        </p:spPr>
      </p:pic>
      <p:sp>
        <p:nvSpPr>
          <p:cNvPr id="333" name="Google Shape;333;p44"/>
          <p:cNvSpPr/>
          <p:nvPr/>
        </p:nvSpPr>
        <p:spPr>
          <a:xfrm>
            <a:off x="731520" y="201168"/>
            <a:ext cx="7315200" cy="411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0E4174"/>
              </a:buClr>
              <a:buSzPts val="2200"/>
              <a:buFont typeface="Calibri"/>
              <a:buNone/>
            </a:pPr>
            <a:r>
              <a:rPr lang="en" sz="2200" b="1" u="sng">
                <a:solidFill>
                  <a:schemeClr val="hlink"/>
                </a:solidFill>
                <a:latin typeface="Lexend"/>
                <a:ea typeface="Lexend"/>
                <a:cs typeface="Lexend"/>
                <a:sym typeface="Lexend"/>
                <a:hlinkClick r:id="rId4"/>
              </a:rPr>
              <a:t>Plan chuyển đổi PT high prod </a:t>
            </a:r>
            <a:r>
              <a:rPr lang="en" sz="2500" u="sng">
                <a:solidFill>
                  <a:schemeClr val="hlink"/>
                </a:solidFill>
                <a:latin typeface="Lexend"/>
                <a:ea typeface="Lexend"/>
                <a:cs typeface="Lexend"/>
                <a:sym typeface="Lexend"/>
                <a:hlinkClick r:id="rId4"/>
              </a:rPr>
              <a:t>→</a:t>
            </a:r>
            <a:r>
              <a:rPr lang="en" sz="2200" b="1" u="sng">
                <a:solidFill>
                  <a:schemeClr val="hlink"/>
                </a:solidFill>
                <a:latin typeface="Lexend"/>
                <a:ea typeface="Lexend"/>
                <a:cs typeface="Lexend"/>
                <a:sym typeface="Lexend"/>
                <a:hlinkClick r:id="rId4"/>
              </a:rPr>
              <a:t>  FT</a:t>
            </a:r>
            <a:endParaRPr sz="2200" b="1">
              <a:solidFill>
                <a:srgbClr val="0E4174"/>
              </a:solidFill>
              <a:latin typeface="Lexend"/>
              <a:ea typeface="Lexend"/>
              <a:cs typeface="Lexend"/>
              <a:sym typeface="Lexend"/>
            </a:endParaRPr>
          </a:p>
        </p:txBody>
      </p:sp>
      <p:sp>
        <p:nvSpPr>
          <p:cNvPr id="334" name="Google Shape;334;p44"/>
          <p:cNvSpPr/>
          <p:nvPr/>
        </p:nvSpPr>
        <p:spPr>
          <a:xfrm>
            <a:off x="731520" y="594360"/>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endParaRPr sz="1000" i="1">
              <a:solidFill>
                <a:srgbClr val="64748B"/>
              </a:solidFill>
              <a:latin typeface="Lexend"/>
              <a:ea typeface="Lexend"/>
              <a:cs typeface="Lexend"/>
              <a:sym typeface="Lexend"/>
            </a:endParaRPr>
          </a:p>
        </p:txBody>
      </p:sp>
      <p:cxnSp>
        <p:nvCxnSpPr>
          <p:cNvPr id="335" name="Google Shape;335;p44"/>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pic>
        <p:nvPicPr>
          <p:cNvPr id="336" name="Google Shape;336;p44"/>
          <p:cNvPicPr preferRelativeResize="0"/>
          <p:nvPr/>
        </p:nvPicPr>
        <p:blipFill>
          <a:blip r:embed="rId5">
            <a:alphaModFix/>
          </a:blip>
          <a:stretch>
            <a:fillRect/>
          </a:stretch>
        </p:blipFill>
        <p:spPr>
          <a:xfrm>
            <a:off x="152400" y="1277103"/>
            <a:ext cx="5979972" cy="2380497"/>
          </a:xfrm>
          <a:prstGeom prst="rect">
            <a:avLst/>
          </a:prstGeom>
          <a:noFill/>
          <a:ln>
            <a:noFill/>
          </a:ln>
        </p:spPr>
      </p:pic>
      <p:pic>
        <p:nvPicPr>
          <p:cNvPr id="337" name="Google Shape;337;p44"/>
          <p:cNvPicPr preferRelativeResize="0"/>
          <p:nvPr/>
        </p:nvPicPr>
        <p:blipFill>
          <a:blip r:embed="rId5">
            <a:alphaModFix/>
          </a:blip>
          <a:stretch>
            <a:fillRect/>
          </a:stretch>
        </p:blipFill>
        <p:spPr>
          <a:xfrm>
            <a:off x="0" y="868550"/>
            <a:ext cx="9144001" cy="42749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342"/>
        <p:cNvGrpSpPr/>
        <p:nvPr/>
      </p:nvGrpSpPr>
      <p:grpSpPr>
        <a:xfrm>
          <a:off x="0" y="0"/>
          <a:ext cx="0" cy="0"/>
          <a:chOff x="0" y="0"/>
          <a:chExt cx="0" cy="0"/>
        </a:xfrm>
      </p:grpSpPr>
      <p:sp>
        <p:nvSpPr>
          <p:cNvPr id="343" name="Google Shape;343;p45"/>
          <p:cNvSpPr/>
          <p:nvPr/>
        </p:nvSpPr>
        <p:spPr>
          <a:xfrm>
            <a:off x="86830" y="140875"/>
            <a:ext cx="393600" cy="393600"/>
          </a:xfrm>
          <a:prstGeom prst="roundRect">
            <a:avLst>
              <a:gd name="adj" fmla="val 16667"/>
            </a:avLst>
          </a:prstGeom>
          <a:solidFill>
            <a:srgbClr val="C77700"/>
          </a:solidFill>
          <a:ln>
            <a:noFill/>
          </a:ln>
        </p:spPr>
        <p:txBody>
          <a:bodyPr spcFirstLastPara="1" wrap="square" lIns="71600" tIns="35800" rIns="71600" bIns="35800" anchor="t" anchorCtr="0">
            <a:noAutofit/>
          </a:bodyPr>
          <a:lstStyle/>
          <a:p>
            <a:pPr marL="0" marR="0" lvl="0" indent="0" algn="l" rtl="0">
              <a:spcBef>
                <a:spcPts val="0"/>
              </a:spcBef>
              <a:spcAft>
                <a:spcPts val="0"/>
              </a:spcAft>
              <a:buNone/>
            </a:pPr>
            <a:endParaRPr sz="1462" i="0" u="none" strike="noStrike" cap="none">
              <a:solidFill>
                <a:srgbClr val="000000"/>
              </a:solidFill>
              <a:latin typeface="Montserrat"/>
              <a:ea typeface="Montserrat"/>
              <a:cs typeface="Montserrat"/>
              <a:sym typeface="Montserrat"/>
            </a:endParaRPr>
          </a:p>
        </p:txBody>
      </p:sp>
      <p:sp>
        <p:nvSpPr>
          <p:cNvPr id="344" name="Google Shape;344;p45"/>
          <p:cNvSpPr/>
          <p:nvPr/>
        </p:nvSpPr>
        <p:spPr>
          <a:xfrm>
            <a:off x="86830" y="140875"/>
            <a:ext cx="393600" cy="393600"/>
          </a:xfrm>
          <a:prstGeom prst="roundRect">
            <a:avLst>
              <a:gd name="adj" fmla="val 16667"/>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34155"/>
              </a:buClr>
              <a:buSzPts val="1044"/>
              <a:buFont typeface="Helvetica Neue"/>
              <a:buNone/>
            </a:pPr>
            <a:r>
              <a:rPr lang="en" sz="1044" i="0" u="none" strike="noStrike" cap="none">
                <a:solidFill>
                  <a:srgbClr val="334155"/>
                </a:solidFill>
                <a:latin typeface="Montserrat"/>
                <a:ea typeface="Montserrat"/>
                <a:cs typeface="Montserrat"/>
                <a:sym typeface="Montserrat"/>
              </a:rPr>
              <a:t>BB</a:t>
            </a:r>
            <a:endParaRPr sz="1044" i="0" u="none" strike="noStrike" cap="none">
              <a:solidFill>
                <a:srgbClr val="000000"/>
              </a:solidFill>
              <a:latin typeface="Montserrat"/>
              <a:ea typeface="Montserrat"/>
              <a:cs typeface="Montserrat"/>
              <a:sym typeface="Montserrat"/>
            </a:endParaRPr>
          </a:p>
        </p:txBody>
      </p:sp>
      <p:sp>
        <p:nvSpPr>
          <p:cNvPr id="345" name="Google Shape;345;p45"/>
          <p:cNvSpPr/>
          <p:nvPr/>
        </p:nvSpPr>
        <p:spPr>
          <a:xfrm>
            <a:off x="588092" y="140875"/>
            <a:ext cx="8070000" cy="393600"/>
          </a:xfrm>
          <a:prstGeom prst="roundRect">
            <a:avLst>
              <a:gd name="adj" fmla="val 16667"/>
            </a:avLst>
          </a:prstGeom>
          <a:noFill/>
          <a:ln w="9525" cap="flat" cmpd="sng">
            <a:solidFill>
              <a:srgbClr val="E7E6E6"/>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172A"/>
              </a:buClr>
              <a:buSzPts val="1357"/>
              <a:buFont typeface="Helvetica Neue"/>
              <a:buNone/>
            </a:pPr>
            <a:r>
              <a:rPr lang="en" sz="1357" b="1">
                <a:solidFill>
                  <a:srgbClr val="0F172A"/>
                </a:solidFill>
                <a:latin typeface="Montserrat"/>
                <a:ea typeface="Montserrat"/>
                <a:cs typeface="Montserrat"/>
                <a:sym typeface="Montserrat"/>
              </a:rPr>
              <a:t>Baga Bulky: Giai đoạn triển khai lần đầu (GĐ 1 - 15/8 đến 30/8)</a:t>
            </a:r>
            <a:endParaRPr sz="1357" b="1">
              <a:solidFill>
                <a:srgbClr val="0F172A"/>
              </a:solidFill>
              <a:latin typeface="Montserrat"/>
              <a:ea typeface="Montserrat"/>
              <a:cs typeface="Montserrat"/>
              <a:sym typeface="Montserrat"/>
            </a:endParaRPr>
          </a:p>
        </p:txBody>
      </p:sp>
      <p:sp>
        <p:nvSpPr>
          <p:cNvPr id="346" name="Google Shape;346;p45"/>
          <p:cNvSpPr/>
          <p:nvPr/>
        </p:nvSpPr>
        <p:spPr>
          <a:xfrm>
            <a:off x="152696" y="609200"/>
            <a:ext cx="1570200" cy="255900"/>
          </a:xfrm>
          <a:prstGeom prst="rect">
            <a:avLst/>
          </a:prstGeom>
          <a:noFill/>
          <a:ln w="9525" cap="flat" cmpd="sng">
            <a:solidFill>
              <a:srgbClr val="D12B2B"/>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Clr>
                <a:srgbClr val="0E4174"/>
              </a:buClr>
              <a:buSzPts val="1100"/>
              <a:buFont typeface="Calibri"/>
              <a:buNone/>
            </a:pPr>
            <a:r>
              <a:rPr lang="en" sz="1200" b="1">
                <a:solidFill>
                  <a:srgbClr val="0E4174"/>
                </a:solidFill>
                <a:latin typeface="Lexend"/>
                <a:ea typeface="Lexend"/>
                <a:cs typeface="Lexend"/>
                <a:sym typeface="Lexend"/>
              </a:rPr>
              <a:t> GĐ 1 (15/8 - 30/8)</a:t>
            </a:r>
            <a:endParaRPr sz="1200" b="1" i="0" u="none" strike="noStrike" cap="none">
              <a:solidFill>
                <a:srgbClr val="000000"/>
              </a:solidFill>
              <a:latin typeface="Lexend"/>
              <a:ea typeface="Lexend"/>
              <a:cs typeface="Lexend"/>
              <a:sym typeface="Lexend"/>
            </a:endParaRPr>
          </a:p>
        </p:txBody>
      </p:sp>
      <p:sp>
        <p:nvSpPr>
          <p:cNvPr id="347" name="Google Shape;347;p45"/>
          <p:cNvSpPr/>
          <p:nvPr/>
        </p:nvSpPr>
        <p:spPr>
          <a:xfrm>
            <a:off x="86821" y="3024592"/>
            <a:ext cx="1570200" cy="255900"/>
          </a:xfrm>
          <a:prstGeom prst="rect">
            <a:avLst/>
          </a:prstGeom>
          <a:noFill/>
          <a:ln w="9525" cap="flat" cmpd="sng">
            <a:solidFill>
              <a:srgbClr val="D12B2B"/>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Clr>
                <a:srgbClr val="0E4174"/>
              </a:buClr>
              <a:buSzPts val="1100"/>
              <a:buFont typeface="Calibri"/>
              <a:buNone/>
            </a:pPr>
            <a:r>
              <a:rPr lang="en" sz="1200" b="1">
                <a:solidFill>
                  <a:srgbClr val="0E4174"/>
                </a:solidFill>
                <a:latin typeface="Lexend"/>
                <a:ea typeface="Lexend"/>
                <a:cs typeface="Lexend"/>
                <a:sym typeface="Lexend"/>
              </a:rPr>
              <a:t>GĐ 2 (1/9 - 14/9)</a:t>
            </a:r>
            <a:endParaRPr sz="1200" b="1" i="0" u="none" strike="noStrike" cap="none">
              <a:solidFill>
                <a:srgbClr val="000000"/>
              </a:solidFill>
              <a:latin typeface="Lexend"/>
              <a:ea typeface="Lexend"/>
              <a:cs typeface="Lexend"/>
              <a:sym typeface="Lexend"/>
            </a:endParaRPr>
          </a:p>
        </p:txBody>
      </p:sp>
      <p:pic>
        <p:nvPicPr>
          <p:cNvPr id="348" name="Google Shape;348;p45" title="Chart"/>
          <p:cNvPicPr preferRelativeResize="0"/>
          <p:nvPr/>
        </p:nvPicPr>
        <p:blipFill rotWithShape="1">
          <a:blip r:embed="rId3">
            <a:alphaModFix/>
          </a:blip>
          <a:srcRect l="12395" r="9253"/>
          <a:stretch/>
        </p:blipFill>
        <p:spPr>
          <a:xfrm>
            <a:off x="86825" y="1078150"/>
            <a:ext cx="3055949" cy="1903400"/>
          </a:xfrm>
          <a:prstGeom prst="rect">
            <a:avLst/>
          </a:prstGeom>
          <a:noFill/>
          <a:ln>
            <a:noFill/>
          </a:ln>
        </p:spPr>
      </p:pic>
      <p:pic>
        <p:nvPicPr>
          <p:cNvPr id="349" name="Google Shape;349;p45" title="Chart"/>
          <p:cNvPicPr preferRelativeResize="0"/>
          <p:nvPr/>
        </p:nvPicPr>
        <p:blipFill rotWithShape="1">
          <a:blip r:embed="rId4">
            <a:alphaModFix/>
          </a:blip>
          <a:srcRect l="11996" r="9653"/>
          <a:stretch/>
        </p:blipFill>
        <p:spPr>
          <a:xfrm>
            <a:off x="3390563" y="1078187"/>
            <a:ext cx="3055949" cy="1903325"/>
          </a:xfrm>
          <a:prstGeom prst="rect">
            <a:avLst/>
          </a:prstGeom>
          <a:noFill/>
          <a:ln>
            <a:noFill/>
          </a:ln>
        </p:spPr>
      </p:pic>
      <p:sp>
        <p:nvSpPr>
          <p:cNvPr id="350" name="Google Shape;350;p45"/>
          <p:cNvSpPr/>
          <p:nvPr/>
        </p:nvSpPr>
        <p:spPr>
          <a:xfrm>
            <a:off x="86817" y="865100"/>
            <a:ext cx="5265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r>
              <a:rPr lang="en" sz="1100" b="1">
                <a:solidFill>
                  <a:srgbClr val="0E4174"/>
                </a:solidFill>
                <a:latin typeface="Lexend"/>
                <a:ea typeface="Lexend"/>
                <a:cs typeface="Lexend"/>
                <a:sym typeface="Lexend"/>
              </a:rPr>
              <a:t>HAN</a:t>
            </a:r>
            <a:endParaRPr sz="1100" b="1" i="0" u="none" strike="noStrike" cap="none">
              <a:solidFill>
                <a:srgbClr val="000000"/>
              </a:solidFill>
              <a:latin typeface="Lexend"/>
              <a:ea typeface="Lexend"/>
              <a:cs typeface="Lexend"/>
              <a:sym typeface="Lexend"/>
            </a:endParaRPr>
          </a:p>
        </p:txBody>
      </p:sp>
      <p:sp>
        <p:nvSpPr>
          <p:cNvPr id="351" name="Google Shape;351;p45"/>
          <p:cNvSpPr/>
          <p:nvPr/>
        </p:nvSpPr>
        <p:spPr>
          <a:xfrm>
            <a:off x="3456617" y="865100"/>
            <a:ext cx="5265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r>
              <a:rPr lang="en" sz="1100" b="1">
                <a:solidFill>
                  <a:srgbClr val="0E4174"/>
                </a:solidFill>
                <a:latin typeface="Lexend"/>
                <a:ea typeface="Lexend"/>
                <a:cs typeface="Lexend"/>
                <a:sym typeface="Lexend"/>
              </a:rPr>
              <a:t>SGN</a:t>
            </a:r>
            <a:endParaRPr sz="1100" b="1" i="0" u="none" strike="noStrike" cap="none">
              <a:solidFill>
                <a:srgbClr val="000000"/>
              </a:solidFill>
              <a:latin typeface="Lexend"/>
              <a:ea typeface="Lexend"/>
              <a:cs typeface="Lexend"/>
              <a:sym typeface="Lexend"/>
            </a:endParaRPr>
          </a:p>
        </p:txBody>
      </p:sp>
      <p:sp>
        <p:nvSpPr>
          <p:cNvPr id="352" name="Google Shape;352;p45"/>
          <p:cNvSpPr/>
          <p:nvPr/>
        </p:nvSpPr>
        <p:spPr>
          <a:xfrm>
            <a:off x="6651150" y="865100"/>
            <a:ext cx="2393700" cy="1903500"/>
          </a:xfrm>
          <a:prstGeom prst="rect">
            <a:avLst/>
          </a:prstGeom>
          <a:solidFill>
            <a:srgbClr val="EEEEEE"/>
          </a:solidFill>
          <a:ln>
            <a:noFill/>
          </a:ln>
        </p:spPr>
        <p:txBody>
          <a:bodyPr spcFirstLastPara="1" wrap="square" lIns="0" tIns="0" rIns="0" bIns="0" anchor="t" anchorCtr="0">
            <a:noAutofit/>
          </a:bodyPr>
          <a:lstStyle/>
          <a:p>
            <a:pPr marL="0" marR="0" lvl="0" indent="0" algn="l" rtl="0">
              <a:spcBef>
                <a:spcPts val="0"/>
              </a:spcBef>
              <a:spcAft>
                <a:spcPts val="0"/>
              </a:spcAft>
              <a:buClr>
                <a:srgbClr val="1B2A4A"/>
              </a:buClr>
              <a:buSzPts val="897"/>
              <a:buFont typeface="Cambria"/>
              <a:buNone/>
            </a:pPr>
            <a:endParaRPr sz="800">
              <a:solidFill>
                <a:srgbClr val="1B2A4A"/>
              </a:solidFill>
              <a:latin typeface="Montserrat"/>
              <a:ea typeface="Montserrat"/>
              <a:cs typeface="Montserrat"/>
              <a:sym typeface="Montserrat"/>
            </a:endParaRPr>
          </a:p>
          <a:p>
            <a:pPr marL="0" marR="0" lvl="0" indent="0" algn="l" rtl="0">
              <a:spcBef>
                <a:spcPts val="0"/>
              </a:spcBef>
              <a:spcAft>
                <a:spcPts val="0"/>
              </a:spcAft>
              <a:buClr>
                <a:srgbClr val="1B2A4A"/>
              </a:buClr>
              <a:buSzPts val="897"/>
              <a:buFont typeface="Cambria"/>
              <a:buNone/>
            </a:pPr>
            <a:r>
              <a:rPr lang="en" sz="800" b="1">
                <a:solidFill>
                  <a:srgbClr val="1B2A4A"/>
                </a:solidFill>
                <a:latin typeface="Montserrat"/>
                <a:ea typeface="Montserrat"/>
                <a:cs typeface="Montserrat"/>
                <a:sym typeface="Montserrat"/>
              </a:rPr>
              <a:t>- Highlight</a:t>
            </a:r>
            <a:endParaRPr sz="800" b="1">
              <a:solidFill>
                <a:srgbClr val="1B2A4A"/>
              </a:solidFill>
              <a:latin typeface="Montserrat"/>
              <a:ea typeface="Montserrat"/>
              <a:cs typeface="Montserrat"/>
              <a:sym typeface="Montserrat"/>
            </a:endParaRPr>
          </a:p>
          <a:p>
            <a:pPr marL="0" marR="0" lvl="0" indent="0" algn="l" rtl="0">
              <a:spcBef>
                <a:spcPts val="0"/>
              </a:spcBef>
              <a:spcAft>
                <a:spcPts val="0"/>
              </a:spcAft>
              <a:buNone/>
            </a:pPr>
            <a:r>
              <a:rPr lang="en" sz="800">
                <a:solidFill>
                  <a:srgbClr val="1B2A4A"/>
                </a:solidFill>
                <a:latin typeface="Montserrat"/>
                <a:ea typeface="Montserrat"/>
                <a:cs typeface="Montserrat"/>
                <a:sym typeface="Montserrat"/>
              </a:rPr>
              <a:t>+ Cả về active, capacity bulky và số ngày tick baga đều tăng khi tài xế tham gia ctt baga</a:t>
            </a:r>
            <a:endParaRPr sz="800">
              <a:solidFill>
                <a:srgbClr val="1B2A4A"/>
              </a:solidFill>
              <a:latin typeface="Montserrat"/>
              <a:ea typeface="Montserrat"/>
              <a:cs typeface="Montserrat"/>
              <a:sym typeface="Montserrat"/>
            </a:endParaRPr>
          </a:p>
          <a:p>
            <a:pPr marL="0" marR="0" lvl="0" indent="0" algn="l" rtl="0">
              <a:spcBef>
                <a:spcPts val="0"/>
              </a:spcBef>
              <a:spcAft>
                <a:spcPts val="0"/>
              </a:spcAft>
              <a:buNone/>
            </a:pPr>
            <a:r>
              <a:rPr lang="en" sz="800">
                <a:solidFill>
                  <a:srgbClr val="1B2A4A"/>
                </a:solidFill>
                <a:latin typeface="Montserrat"/>
                <a:ea typeface="Montserrat"/>
                <a:cs typeface="Montserrat"/>
                <a:sym typeface="Montserrat"/>
              </a:rPr>
              <a:t>+ SGN vượt target về số lượng tài xế tham gia chương trình, HAN hụt nhẹ khoảng 20 tài xế accept chl</a:t>
            </a:r>
            <a:endParaRPr sz="800">
              <a:solidFill>
                <a:srgbClr val="1B2A4A"/>
              </a:solidFill>
              <a:latin typeface="Montserrat"/>
              <a:ea typeface="Montserrat"/>
              <a:cs typeface="Montserrat"/>
              <a:sym typeface="Montserrat"/>
            </a:endParaRPr>
          </a:p>
          <a:p>
            <a:pPr marL="0" marR="0" lvl="0" indent="0" algn="l" rtl="0">
              <a:spcBef>
                <a:spcPts val="0"/>
              </a:spcBef>
              <a:spcAft>
                <a:spcPts val="0"/>
              </a:spcAft>
              <a:buNone/>
            </a:pPr>
            <a:endParaRPr sz="800">
              <a:solidFill>
                <a:srgbClr val="1B2A4A"/>
              </a:solidFill>
              <a:latin typeface="Montserrat"/>
              <a:ea typeface="Montserrat"/>
              <a:cs typeface="Montserrat"/>
              <a:sym typeface="Montserrat"/>
            </a:endParaRPr>
          </a:p>
          <a:p>
            <a:pPr marL="0" marR="0" lvl="0" indent="0" algn="l" rtl="0">
              <a:spcBef>
                <a:spcPts val="0"/>
              </a:spcBef>
              <a:spcAft>
                <a:spcPts val="0"/>
              </a:spcAft>
              <a:buClr>
                <a:srgbClr val="1B2A4A"/>
              </a:buClr>
              <a:buSzPts val="897"/>
              <a:buFont typeface="Cambria"/>
              <a:buNone/>
            </a:pPr>
            <a:r>
              <a:rPr lang="en" sz="800" b="1">
                <a:solidFill>
                  <a:srgbClr val="1B2A4A"/>
                </a:solidFill>
                <a:latin typeface="Montserrat"/>
                <a:ea typeface="Montserrat"/>
                <a:cs typeface="Montserrat"/>
                <a:sym typeface="Montserrat"/>
              </a:rPr>
              <a:t>- Lowlight</a:t>
            </a:r>
            <a:endParaRPr sz="800" b="1">
              <a:solidFill>
                <a:srgbClr val="1B2A4A"/>
              </a:solidFill>
              <a:latin typeface="Montserrat"/>
              <a:ea typeface="Montserrat"/>
              <a:cs typeface="Montserrat"/>
              <a:sym typeface="Montserrat"/>
            </a:endParaRPr>
          </a:p>
          <a:p>
            <a:pPr marL="0" marR="0" lvl="0" indent="0" algn="l" rtl="0">
              <a:spcBef>
                <a:spcPts val="0"/>
              </a:spcBef>
              <a:spcAft>
                <a:spcPts val="0"/>
              </a:spcAft>
              <a:buClr>
                <a:srgbClr val="1B2A4A"/>
              </a:buClr>
              <a:buSzPts val="897"/>
              <a:buFont typeface="Cambria"/>
              <a:buNone/>
            </a:pPr>
            <a:r>
              <a:rPr lang="en" sz="800">
                <a:solidFill>
                  <a:srgbClr val="1B2A4A"/>
                </a:solidFill>
                <a:latin typeface="Montserrat"/>
                <a:ea typeface="Montserrat"/>
                <a:cs typeface="Montserrat"/>
                <a:sym typeface="Montserrat"/>
              </a:rPr>
              <a:t>+ Tỉ lệ tuân thủ baga còn thấp (view từ ngày 17/8 - 22/8): SGN đạt 63%, HAN đạt 51% </a:t>
            </a:r>
            <a:endParaRPr sz="800">
              <a:solidFill>
                <a:srgbClr val="1B2A4A"/>
              </a:solidFill>
              <a:latin typeface="Montserrat"/>
              <a:ea typeface="Montserrat"/>
              <a:cs typeface="Montserrat"/>
              <a:sym typeface="Montserrat"/>
            </a:endParaRPr>
          </a:p>
        </p:txBody>
      </p:sp>
      <p:pic>
        <p:nvPicPr>
          <p:cNvPr id="353" name="Google Shape;353;p45" title="Chart"/>
          <p:cNvPicPr preferRelativeResize="0"/>
          <p:nvPr/>
        </p:nvPicPr>
        <p:blipFill rotWithShape="1">
          <a:blip r:embed="rId5">
            <a:alphaModFix/>
          </a:blip>
          <a:srcRect l="12884" r="10698" b="4771"/>
          <a:stretch/>
        </p:blipFill>
        <p:spPr>
          <a:xfrm>
            <a:off x="86850" y="3323534"/>
            <a:ext cx="3055926" cy="1768550"/>
          </a:xfrm>
          <a:prstGeom prst="rect">
            <a:avLst/>
          </a:prstGeom>
          <a:noFill/>
          <a:ln>
            <a:noFill/>
          </a:ln>
        </p:spPr>
      </p:pic>
      <p:sp>
        <p:nvSpPr>
          <p:cNvPr id="354" name="Google Shape;354;p45"/>
          <p:cNvSpPr/>
          <p:nvPr/>
        </p:nvSpPr>
        <p:spPr>
          <a:xfrm>
            <a:off x="3521800" y="3300375"/>
            <a:ext cx="2202600" cy="1768500"/>
          </a:xfrm>
          <a:prstGeom prst="rect">
            <a:avLst/>
          </a:prstGeom>
          <a:solidFill>
            <a:srgbClr val="EEEEEE"/>
          </a:solidFill>
          <a:ln>
            <a:noFill/>
          </a:ln>
        </p:spPr>
        <p:txBody>
          <a:bodyPr spcFirstLastPara="1" wrap="square" lIns="0" tIns="0" rIns="0" bIns="0" anchor="t" anchorCtr="0">
            <a:noAutofit/>
          </a:bodyPr>
          <a:lstStyle/>
          <a:p>
            <a:pPr marL="0" marR="0" lvl="0" indent="0" algn="l" rtl="0">
              <a:spcBef>
                <a:spcPts val="0"/>
              </a:spcBef>
              <a:spcAft>
                <a:spcPts val="0"/>
              </a:spcAft>
              <a:buClr>
                <a:srgbClr val="1B2A4A"/>
              </a:buClr>
              <a:buSzPts val="897"/>
              <a:buFont typeface="Cambria"/>
              <a:buNone/>
            </a:pPr>
            <a:endParaRPr sz="800" b="1">
              <a:solidFill>
                <a:srgbClr val="1B2A4A"/>
              </a:solidFill>
              <a:latin typeface="Montserrat"/>
              <a:ea typeface="Montserrat"/>
              <a:cs typeface="Montserrat"/>
              <a:sym typeface="Montserrat"/>
            </a:endParaRPr>
          </a:p>
          <a:p>
            <a:pPr marL="0" marR="0" lvl="0" indent="0" algn="l" rtl="0">
              <a:spcBef>
                <a:spcPts val="0"/>
              </a:spcBef>
              <a:spcAft>
                <a:spcPts val="0"/>
              </a:spcAft>
              <a:buClr>
                <a:srgbClr val="1B2A4A"/>
              </a:buClr>
              <a:buSzPts val="897"/>
              <a:buFont typeface="Cambria"/>
              <a:buNone/>
            </a:pPr>
            <a:r>
              <a:rPr lang="en" sz="800" b="1">
                <a:solidFill>
                  <a:srgbClr val="1B2A4A"/>
                </a:solidFill>
                <a:latin typeface="Montserrat"/>
                <a:ea typeface="Montserrat"/>
                <a:cs typeface="Montserrat"/>
                <a:sym typeface="Montserrat"/>
              </a:rPr>
              <a:t>- Highlight</a:t>
            </a:r>
            <a:endParaRPr sz="800" b="1">
              <a:solidFill>
                <a:srgbClr val="1B2A4A"/>
              </a:solidFill>
              <a:latin typeface="Montserrat"/>
              <a:ea typeface="Montserrat"/>
              <a:cs typeface="Montserrat"/>
              <a:sym typeface="Montserrat"/>
            </a:endParaRPr>
          </a:p>
          <a:p>
            <a:pPr marL="0" marR="0" lvl="0" indent="0" algn="l" rtl="0">
              <a:spcBef>
                <a:spcPts val="0"/>
              </a:spcBef>
              <a:spcAft>
                <a:spcPts val="0"/>
              </a:spcAft>
              <a:buClr>
                <a:srgbClr val="1B2A4A"/>
              </a:buClr>
              <a:buSzPts val="897"/>
              <a:buFont typeface="Cambria"/>
              <a:buNone/>
            </a:pPr>
            <a:r>
              <a:rPr lang="en" sz="800">
                <a:solidFill>
                  <a:srgbClr val="1B2A4A"/>
                </a:solidFill>
                <a:latin typeface="Montserrat"/>
                <a:ea typeface="Montserrat"/>
                <a:cs typeface="Montserrat"/>
                <a:sym typeface="Montserrat"/>
              </a:rPr>
              <a:t>+ SGN đã đạt số lượng tài xế đăng ký &amp; pass điều kiện</a:t>
            </a:r>
            <a:endParaRPr sz="800">
              <a:solidFill>
                <a:srgbClr val="1B2A4A"/>
              </a:solidFill>
              <a:latin typeface="Montserrat"/>
              <a:ea typeface="Montserrat"/>
              <a:cs typeface="Montserrat"/>
              <a:sym typeface="Montserrat"/>
            </a:endParaRPr>
          </a:p>
          <a:p>
            <a:pPr marL="0" marR="0" lvl="0" indent="0" algn="l" rtl="0">
              <a:spcBef>
                <a:spcPts val="0"/>
              </a:spcBef>
              <a:spcAft>
                <a:spcPts val="0"/>
              </a:spcAft>
              <a:buClr>
                <a:srgbClr val="1B2A4A"/>
              </a:buClr>
              <a:buSzPts val="897"/>
              <a:buFont typeface="Cambria"/>
              <a:buNone/>
            </a:pPr>
            <a:endParaRPr sz="800" b="1">
              <a:solidFill>
                <a:srgbClr val="1B2A4A"/>
              </a:solidFill>
              <a:latin typeface="Montserrat"/>
              <a:ea typeface="Montserrat"/>
              <a:cs typeface="Montserrat"/>
              <a:sym typeface="Montserrat"/>
            </a:endParaRPr>
          </a:p>
          <a:p>
            <a:pPr marL="0" marR="0" lvl="0" indent="0" algn="l" rtl="0">
              <a:spcBef>
                <a:spcPts val="0"/>
              </a:spcBef>
              <a:spcAft>
                <a:spcPts val="0"/>
              </a:spcAft>
              <a:buClr>
                <a:srgbClr val="1B2A4A"/>
              </a:buClr>
              <a:buSzPts val="897"/>
              <a:buFont typeface="Cambria"/>
              <a:buNone/>
            </a:pPr>
            <a:endParaRPr sz="800" b="1">
              <a:solidFill>
                <a:srgbClr val="1B2A4A"/>
              </a:solidFill>
              <a:latin typeface="Montserrat"/>
              <a:ea typeface="Montserrat"/>
              <a:cs typeface="Montserrat"/>
              <a:sym typeface="Montserrat"/>
            </a:endParaRPr>
          </a:p>
          <a:p>
            <a:pPr marL="0" marR="0" lvl="0" indent="0" algn="l" rtl="0">
              <a:spcBef>
                <a:spcPts val="0"/>
              </a:spcBef>
              <a:spcAft>
                <a:spcPts val="0"/>
              </a:spcAft>
              <a:buClr>
                <a:srgbClr val="1B2A4A"/>
              </a:buClr>
              <a:buSzPts val="897"/>
              <a:buFont typeface="Cambria"/>
              <a:buNone/>
            </a:pPr>
            <a:r>
              <a:rPr lang="en" sz="800" b="1">
                <a:solidFill>
                  <a:srgbClr val="1B2A4A"/>
                </a:solidFill>
                <a:latin typeface="Montserrat"/>
                <a:ea typeface="Montserrat"/>
                <a:cs typeface="Montserrat"/>
                <a:sym typeface="Montserrat"/>
              </a:rPr>
              <a:t>- Lowlight</a:t>
            </a:r>
            <a:endParaRPr sz="800" b="1">
              <a:solidFill>
                <a:srgbClr val="1B2A4A"/>
              </a:solidFill>
              <a:latin typeface="Montserrat"/>
              <a:ea typeface="Montserrat"/>
              <a:cs typeface="Montserrat"/>
              <a:sym typeface="Montserrat"/>
            </a:endParaRPr>
          </a:p>
          <a:p>
            <a:pPr marL="0" marR="0" lvl="0" indent="0" algn="l" rtl="0">
              <a:spcBef>
                <a:spcPts val="0"/>
              </a:spcBef>
              <a:spcAft>
                <a:spcPts val="0"/>
              </a:spcAft>
              <a:buClr>
                <a:srgbClr val="1B2A4A"/>
              </a:buClr>
              <a:buSzPts val="897"/>
              <a:buFont typeface="Cambria"/>
              <a:buNone/>
            </a:pPr>
            <a:r>
              <a:rPr lang="en" sz="800">
                <a:solidFill>
                  <a:srgbClr val="1B2A4A"/>
                </a:solidFill>
                <a:latin typeface="Montserrat"/>
                <a:ea typeface="Montserrat"/>
                <a:cs typeface="Montserrat"/>
                <a:sym typeface="Montserrat"/>
              </a:rPr>
              <a:t>+ Số lượng tài xế HAN đăng ký tham gia vào chương trình còn rất thấp, mặc dù đã push mass nhưng chỉ mới đạt 1/4 target số tài xế cần join vào ctt</a:t>
            </a:r>
            <a:endParaRPr sz="800">
              <a:solidFill>
                <a:srgbClr val="1B2A4A"/>
              </a:solidFill>
              <a:latin typeface="Montserrat"/>
              <a:ea typeface="Montserrat"/>
              <a:cs typeface="Montserrat"/>
              <a:sym typeface="Montserrat"/>
            </a:endParaRPr>
          </a:p>
          <a:p>
            <a:pPr marL="0" marR="0" lvl="0" indent="0" algn="l" rtl="0">
              <a:spcBef>
                <a:spcPts val="0"/>
              </a:spcBef>
              <a:spcAft>
                <a:spcPts val="0"/>
              </a:spcAft>
              <a:buClr>
                <a:srgbClr val="1B2A4A"/>
              </a:buClr>
              <a:buSzPts val="897"/>
              <a:buFont typeface="Cambria"/>
              <a:buNone/>
            </a:pPr>
            <a:r>
              <a:rPr lang="en" sz="800">
                <a:solidFill>
                  <a:srgbClr val="1B2A4A"/>
                </a:solidFill>
                <a:latin typeface="Montserrat"/>
                <a:ea typeface="Montserrat"/>
                <a:cs typeface="Montserrat"/>
                <a:sym typeface="Montserrat"/>
              </a:rPr>
              <a:t>+ Accept chl còn thấp ở cả 2 city: SGN đạt 51%, HAN chỉ đạt 34%</a:t>
            </a:r>
            <a:endParaRPr sz="800">
              <a:solidFill>
                <a:srgbClr val="1B2A4A"/>
              </a:solidFill>
              <a:latin typeface="Montserrat"/>
              <a:ea typeface="Montserrat"/>
              <a:cs typeface="Montserrat"/>
              <a:sym typeface="Montserrat"/>
            </a:endParaRPr>
          </a:p>
        </p:txBody>
      </p:sp>
      <p:sp>
        <p:nvSpPr>
          <p:cNvPr id="355" name="Google Shape;355;p45"/>
          <p:cNvSpPr/>
          <p:nvPr/>
        </p:nvSpPr>
        <p:spPr>
          <a:xfrm>
            <a:off x="5988925" y="3230526"/>
            <a:ext cx="3055800" cy="1768500"/>
          </a:xfrm>
          <a:prstGeom prst="rect">
            <a:avLst/>
          </a:prstGeom>
          <a:noFill/>
          <a:ln w="9525" cap="flat" cmpd="sng">
            <a:solidFill>
              <a:srgbClr val="0B539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Clr>
                <a:srgbClr val="1B2A4A"/>
              </a:buClr>
              <a:buSzPts val="897"/>
              <a:buFont typeface="Cambria"/>
              <a:buNone/>
            </a:pPr>
            <a:endParaRPr sz="800">
              <a:solidFill>
                <a:srgbClr val="1B2A4A"/>
              </a:solidFill>
              <a:latin typeface="Montserrat"/>
              <a:ea typeface="Montserrat"/>
              <a:cs typeface="Montserrat"/>
              <a:sym typeface="Montserrat"/>
            </a:endParaRPr>
          </a:p>
          <a:p>
            <a:pPr marL="0" marR="0" lvl="0" indent="0" algn="l" rtl="0">
              <a:spcBef>
                <a:spcPts val="0"/>
              </a:spcBef>
              <a:spcAft>
                <a:spcPts val="0"/>
              </a:spcAft>
              <a:buClr>
                <a:srgbClr val="1B2A4A"/>
              </a:buClr>
              <a:buSzPts val="897"/>
              <a:buFont typeface="Cambria"/>
              <a:buNone/>
            </a:pPr>
            <a:r>
              <a:rPr lang="en" sz="900" b="1">
                <a:solidFill>
                  <a:srgbClr val="1B2A4A"/>
                </a:solidFill>
                <a:latin typeface="Montserrat"/>
                <a:ea typeface="Montserrat"/>
                <a:cs typeface="Montserrat"/>
                <a:sym typeface="Montserrat"/>
              </a:rPr>
              <a:t>    NEXT ACTION</a:t>
            </a:r>
            <a:endParaRPr sz="900" b="1">
              <a:solidFill>
                <a:srgbClr val="1B2A4A"/>
              </a:solidFill>
              <a:latin typeface="Montserrat"/>
              <a:ea typeface="Montserrat"/>
              <a:cs typeface="Montserrat"/>
              <a:sym typeface="Montserrat"/>
            </a:endParaRPr>
          </a:p>
          <a:p>
            <a:pPr marL="0" marR="0" lvl="0" indent="0" algn="l" rtl="0">
              <a:spcBef>
                <a:spcPts val="0"/>
              </a:spcBef>
              <a:spcAft>
                <a:spcPts val="0"/>
              </a:spcAft>
              <a:buClr>
                <a:srgbClr val="1B2A4A"/>
              </a:buClr>
              <a:buSzPts val="897"/>
              <a:buFont typeface="Cambria"/>
              <a:buNone/>
            </a:pPr>
            <a:r>
              <a:rPr lang="en" sz="900" b="1">
                <a:solidFill>
                  <a:srgbClr val="1B2A4A"/>
                </a:solidFill>
                <a:latin typeface="Montserrat"/>
                <a:ea typeface="Montserrat"/>
                <a:cs typeface="Montserrat"/>
                <a:sym typeface="Montserrat"/>
              </a:rPr>
              <a:t> 1</a:t>
            </a:r>
            <a:r>
              <a:rPr lang="en" sz="900">
                <a:solidFill>
                  <a:srgbClr val="1B2A4A"/>
                </a:solidFill>
                <a:latin typeface="Montserrat"/>
                <a:ea typeface="Montserrat"/>
                <a:cs typeface="Montserrat"/>
                <a:sym typeface="Montserrat"/>
              </a:rPr>
              <a:t>. Work với DS đẩy mạnh truyền thông đến tài xế HAN để tăng số lượng tài xế đăng ký</a:t>
            </a:r>
            <a:endParaRPr sz="900">
              <a:solidFill>
                <a:srgbClr val="1B2A4A"/>
              </a:solidFill>
              <a:latin typeface="Montserrat"/>
              <a:ea typeface="Montserrat"/>
              <a:cs typeface="Montserrat"/>
              <a:sym typeface="Montserrat"/>
            </a:endParaRPr>
          </a:p>
          <a:p>
            <a:pPr marL="0" marR="0" lvl="0" indent="0" algn="l" rtl="0">
              <a:spcBef>
                <a:spcPts val="0"/>
              </a:spcBef>
              <a:spcAft>
                <a:spcPts val="0"/>
              </a:spcAft>
              <a:buClr>
                <a:srgbClr val="1B2A4A"/>
              </a:buClr>
              <a:buSzPts val="897"/>
              <a:buFont typeface="Cambria"/>
              <a:buNone/>
            </a:pPr>
            <a:endParaRPr sz="900">
              <a:solidFill>
                <a:srgbClr val="1B2A4A"/>
              </a:solidFill>
              <a:latin typeface="Montserrat"/>
              <a:ea typeface="Montserrat"/>
              <a:cs typeface="Montserrat"/>
              <a:sym typeface="Montserrat"/>
            </a:endParaRPr>
          </a:p>
          <a:p>
            <a:pPr marL="0" marR="0" lvl="0" indent="0" algn="l" rtl="0">
              <a:spcBef>
                <a:spcPts val="0"/>
              </a:spcBef>
              <a:spcAft>
                <a:spcPts val="0"/>
              </a:spcAft>
              <a:buClr>
                <a:srgbClr val="1B2A4A"/>
              </a:buClr>
              <a:buSzPts val="897"/>
              <a:buFont typeface="Cambria"/>
              <a:buNone/>
            </a:pPr>
            <a:r>
              <a:rPr lang="en" sz="900">
                <a:solidFill>
                  <a:srgbClr val="1B2A4A"/>
                </a:solidFill>
                <a:latin typeface="Montserrat"/>
                <a:ea typeface="Montserrat"/>
                <a:cs typeface="Montserrat"/>
                <a:sym typeface="Montserrat"/>
              </a:rPr>
              <a:t> 2. Work với GR (admin) kết hợp với ct bán baga của GR -&gt; đẩy tài xế tham gia chương trình</a:t>
            </a:r>
            <a:endParaRPr sz="900">
              <a:solidFill>
                <a:srgbClr val="1B2A4A"/>
              </a:solidFill>
              <a:latin typeface="Montserrat"/>
              <a:ea typeface="Montserrat"/>
              <a:cs typeface="Montserrat"/>
              <a:sym typeface="Montserrat"/>
            </a:endParaRPr>
          </a:p>
          <a:p>
            <a:pPr marL="0" marR="0" lvl="0" indent="0" algn="l" rtl="0">
              <a:spcBef>
                <a:spcPts val="0"/>
              </a:spcBef>
              <a:spcAft>
                <a:spcPts val="0"/>
              </a:spcAft>
              <a:buClr>
                <a:srgbClr val="1B2A4A"/>
              </a:buClr>
              <a:buSzPts val="897"/>
              <a:buFont typeface="Cambria"/>
              <a:buNone/>
            </a:pPr>
            <a:endParaRPr sz="900" b="1">
              <a:solidFill>
                <a:srgbClr val="1B2A4A"/>
              </a:solidFill>
              <a:latin typeface="Montserrat"/>
              <a:ea typeface="Montserrat"/>
              <a:cs typeface="Montserrat"/>
              <a:sym typeface="Montserrat"/>
            </a:endParaRPr>
          </a:p>
          <a:p>
            <a:pPr marL="0" marR="0" lvl="0" indent="0" algn="l" rtl="0">
              <a:spcBef>
                <a:spcPts val="0"/>
              </a:spcBef>
              <a:spcAft>
                <a:spcPts val="0"/>
              </a:spcAft>
              <a:buClr>
                <a:srgbClr val="1B2A4A"/>
              </a:buClr>
              <a:buSzPts val="897"/>
              <a:buFont typeface="Cambria"/>
              <a:buNone/>
            </a:pPr>
            <a:r>
              <a:rPr lang="en" sz="900" b="1">
                <a:solidFill>
                  <a:srgbClr val="1B2A4A"/>
                </a:solidFill>
                <a:latin typeface="Montserrat"/>
                <a:ea typeface="Montserrat"/>
                <a:cs typeface="Montserrat"/>
                <a:sym typeface="Montserrat"/>
              </a:rPr>
              <a:t> 3</a:t>
            </a:r>
            <a:r>
              <a:rPr lang="en" sz="900">
                <a:solidFill>
                  <a:srgbClr val="1B2A4A"/>
                </a:solidFill>
                <a:latin typeface="Montserrat"/>
                <a:ea typeface="Montserrat"/>
                <a:cs typeface="Montserrat"/>
                <a:sym typeface="Montserrat"/>
              </a:rPr>
              <a:t>. Kết hợp với các ctt sau lễ/CP để đẩy tài xế đạt thưởng nhanh chóng</a:t>
            </a:r>
            <a:endParaRPr sz="900">
              <a:solidFill>
                <a:srgbClr val="1B2A4A"/>
              </a:solidFill>
              <a:latin typeface="Montserrat"/>
              <a:ea typeface="Montserrat"/>
              <a:cs typeface="Montserrat"/>
              <a:sym typeface="Montserrat"/>
            </a:endParaRPr>
          </a:p>
          <a:p>
            <a:pPr marL="0" marR="0" lvl="0" indent="0" algn="l" rtl="0">
              <a:spcBef>
                <a:spcPts val="0"/>
              </a:spcBef>
              <a:spcAft>
                <a:spcPts val="0"/>
              </a:spcAft>
              <a:buClr>
                <a:srgbClr val="1B2A4A"/>
              </a:buClr>
              <a:buSzPts val="897"/>
              <a:buFont typeface="Cambria"/>
              <a:buNone/>
            </a:pPr>
            <a:endParaRPr sz="900">
              <a:solidFill>
                <a:srgbClr val="1B2A4A"/>
              </a:solidFill>
              <a:latin typeface="Montserrat"/>
              <a:ea typeface="Montserrat"/>
              <a:cs typeface="Montserrat"/>
              <a:sym typeface="Montserrat"/>
            </a:endParaRPr>
          </a:p>
          <a:p>
            <a:pPr marL="0" marR="0" lvl="0" indent="0" algn="l" rtl="0">
              <a:spcBef>
                <a:spcPts val="0"/>
              </a:spcBef>
              <a:spcAft>
                <a:spcPts val="0"/>
              </a:spcAft>
              <a:buClr>
                <a:srgbClr val="1B2A4A"/>
              </a:buClr>
              <a:buSzPts val="897"/>
              <a:buFont typeface="Cambria"/>
              <a:buNone/>
            </a:pPr>
            <a:r>
              <a:rPr lang="en" sz="900">
                <a:solidFill>
                  <a:srgbClr val="1B2A4A"/>
                </a:solidFill>
                <a:latin typeface="Montserrat"/>
                <a:ea typeface="Montserrat"/>
                <a:cs typeface="Montserrat"/>
                <a:sym typeface="Montserrat"/>
              </a:rPr>
              <a:t> 4. Chuẩn bị qua lễ đẩy lead đăng ký cho GĐ 3  </a:t>
            </a:r>
            <a:endParaRPr sz="900">
              <a:solidFill>
                <a:srgbClr val="1B2A4A"/>
              </a:solidFill>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74"/>
        <p:cNvGrpSpPr/>
        <p:nvPr/>
      </p:nvGrpSpPr>
      <p:grpSpPr>
        <a:xfrm>
          <a:off x="0" y="0"/>
          <a:ext cx="0" cy="0"/>
          <a:chOff x="0" y="0"/>
          <a:chExt cx="0" cy="0"/>
        </a:xfrm>
      </p:grpSpPr>
      <p:sp>
        <p:nvSpPr>
          <p:cNvPr id="475" name="Google Shape;475;p53"/>
          <p:cNvSpPr/>
          <p:nvPr/>
        </p:nvSpPr>
        <p:spPr>
          <a:xfrm>
            <a:off x="182880" y="91440"/>
            <a:ext cx="420600" cy="420600"/>
          </a:xfrm>
          <a:prstGeom prst="ellipse">
            <a:avLst/>
          </a:prstGeom>
          <a:solidFill>
            <a:srgbClr val="F561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53"/>
          <p:cNvSpPr/>
          <p:nvPr/>
        </p:nvSpPr>
        <p:spPr>
          <a:xfrm>
            <a:off x="182880" y="91440"/>
            <a:ext cx="420600" cy="420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libri"/>
              <a:buNone/>
            </a:pPr>
            <a:r>
              <a:rPr lang="en" sz="1600" b="1" i="0" u="none" strike="noStrike" cap="none">
                <a:solidFill>
                  <a:srgbClr val="FFFFFF"/>
                </a:solidFill>
                <a:latin typeface="Calibri"/>
                <a:ea typeface="Calibri"/>
                <a:cs typeface="Calibri"/>
                <a:sym typeface="Calibri"/>
              </a:rPr>
              <a:t>★</a:t>
            </a:r>
            <a:endParaRPr sz="1600" b="0" i="0" u="none" strike="noStrike" cap="none">
              <a:solidFill>
                <a:schemeClr val="dk1"/>
              </a:solidFill>
              <a:latin typeface="Calibri"/>
              <a:ea typeface="Calibri"/>
              <a:cs typeface="Calibri"/>
              <a:sym typeface="Calibri"/>
            </a:endParaRPr>
          </a:p>
        </p:txBody>
      </p:sp>
      <p:sp>
        <p:nvSpPr>
          <p:cNvPr id="477" name="Google Shape;477;p53"/>
          <p:cNvSpPr/>
          <p:nvPr/>
        </p:nvSpPr>
        <p:spPr>
          <a:xfrm>
            <a:off x="694944" y="91440"/>
            <a:ext cx="6583800" cy="384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700"/>
              <a:buFont typeface="Calibri"/>
              <a:buNone/>
            </a:pPr>
            <a:r>
              <a:rPr lang="en" sz="1700" b="1">
                <a:solidFill>
                  <a:srgbClr val="16233F"/>
                </a:solidFill>
              </a:rPr>
              <a:t>Tình hình tài xế NLM SGN — Báo cáo Call-out</a:t>
            </a:r>
            <a:endParaRPr sz="1700" b="1">
              <a:solidFill>
                <a:srgbClr val="16233F"/>
              </a:solidFill>
            </a:endParaRPr>
          </a:p>
        </p:txBody>
      </p:sp>
      <p:sp>
        <p:nvSpPr>
          <p:cNvPr id="478" name="Google Shape;478;p53"/>
          <p:cNvSpPr/>
          <p:nvPr/>
        </p:nvSpPr>
        <p:spPr>
          <a:xfrm>
            <a:off x="6858000" y="182880"/>
            <a:ext cx="2103000" cy="2376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64748B"/>
              </a:buClr>
              <a:buSzPts val="700"/>
              <a:buFont typeface="Helvetica Neue"/>
              <a:buNone/>
            </a:pPr>
            <a:r>
              <a:rPr lang="en" sz="700" i="1">
                <a:solidFill>
                  <a:srgbClr val="64748B"/>
                </a:solidFill>
                <a:latin typeface="Helvetica Neue"/>
                <a:ea typeface="Helvetica Neue"/>
                <a:cs typeface="Helvetica Neue"/>
                <a:sym typeface="Helvetica Neue"/>
              </a:rPr>
              <a:t>Ahamove  ·  Driver Management  ·  Weekly Report</a:t>
            </a:r>
            <a:endParaRPr sz="900">
              <a:solidFill>
                <a:srgbClr val="C2C9D6"/>
              </a:solidFill>
              <a:latin typeface="Calibri"/>
              <a:ea typeface="Calibri"/>
              <a:cs typeface="Calibri"/>
              <a:sym typeface="Calibri"/>
            </a:endParaRPr>
          </a:p>
        </p:txBody>
      </p:sp>
      <p:sp>
        <p:nvSpPr>
          <p:cNvPr id="479" name="Google Shape;479;p53"/>
          <p:cNvSpPr/>
          <p:nvPr/>
        </p:nvSpPr>
        <p:spPr>
          <a:xfrm>
            <a:off x="164592" y="749808"/>
            <a:ext cx="23775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2044"/>
              </a:buClr>
              <a:buSzPts val="1000"/>
              <a:buFont typeface="Calibri"/>
              <a:buNone/>
            </a:pPr>
            <a:r>
              <a:rPr lang="en" sz="1000" b="1" i="0" u="none" strike="noStrike" cap="none">
                <a:solidFill>
                  <a:srgbClr val="0F2044"/>
                </a:solidFill>
                <a:latin typeface="Calibri"/>
                <a:ea typeface="Calibri"/>
                <a:cs typeface="Calibri"/>
                <a:sym typeface="Calibri"/>
              </a:rPr>
              <a:t>TỔNG QUAN NLM</a:t>
            </a:r>
            <a:endParaRPr sz="1000" b="0" i="0" u="none" strike="noStrike" cap="none">
              <a:solidFill>
                <a:schemeClr val="dk1"/>
              </a:solidFill>
              <a:latin typeface="Calibri"/>
              <a:ea typeface="Calibri"/>
              <a:cs typeface="Calibri"/>
              <a:sym typeface="Calibri"/>
            </a:endParaRPr>
          </a:p>
        </p:txBody>
      </p:sp>
      <p:sp>
        <p:nvSpPr>
          <p:cNvPr id="480" name="Google Shape;480;p53"/>
          <p:cNvSpPr/>
          <p:nvPr/>
        </p:nvSpPr>
        <p:spPr>
          <a:xfrm>
            <a:off x="164592" y="1060704"/>
            <a:ext cx="2377500" cy="932700"/>
          </a:xfrm>
          <a:prstGeom prst="rect">
            <a:avLst/>
          </a:prstGeom>
          <a:solidFill>
            <a:srgbClr val="0F2044"/>
          </a:solidFill>
          <a:ln>
            <a:noFill/>
          </a:ln>
          <a:effectLst>
            <a:outerShdw blurRad="127000" dist="38100" dir="87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53"/>
          <p:cNvSpPr/>
          <p:nvPr/>
        </p:nvSpPr>
        <p:spPr>
          <a:xfrm>
            <a:off x="164592" y="1097280"/>
            <a:ext cx="2377500" cy="530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5610D"/>
              </a:buClr>
              <a:buSzPts val="4400"/>
              <a:buFont typeface="Calibri"/>
              <a:buNone/>
            </a:pPr>
            <a:r>
              <a:rPr lang="en" sz="4400" b="1" i="0" u="none" strike="noStrike" cap="none">
                <a:solidFill>
                  <a:srgbClr val="F5610D"/>
                </a:solidFill>
                <a:latin typeface="Calibri"/>
                <a:ea typeface="Calibri"/>
                <a:cs typeface="Calibri"/>
                <a:sym typeface="Calibri"/>
              </a:rPr>
              <a:t>1.954</a:t>
            </a:r>
            <a:endParaRPr sz="4400" b="0" i="0" u="none" strike="noStrike" cap="none">
              <a:solidFill>
                <a:schemeClr val="dk1"/>
              </a:solidFill>
              <a:latin typeface="Calibri"/>
              <a:ea typeface="Calibri"/>
              <a:cs typeface="Calibri"/>
              <a:sym typeface="Calibri"/>
            </a:endParaRPr>
          </a:p>
        </p:txBody>
      </p:sp>
      <p:sp>
        <p:nvSpPr>
          <p:cNvPr id="482" name="Google Shape;482;p53"/>
          <p:cNvSpPr/>
          <p:nvPr/>
        </p:nvSpPr>
        <p:spPr>
          <a:xfrm>
            <a:off x="164592" y="1609344"/>
            <a:ext cx="2377500" cy="2925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2C9D6"/>
              </a:buClr>
              <a:buSzPts val="1000"/>
              <a:buFont typeface="Calibri"/>
              <a:buNone/>
            </a:pPr>
            <a:r>
              <a:rPr lang="en" sz="1000" b="0" i="0" u="none" strike="noStrike" cap="none">
                <a:solidFill>
                  <a:srgbClr val="C2C9D6"/>
                </a:solidFill>
                <a:latin typeface="Calibri"/>
                <a:ea typeface="Calibri"/>
                <a:cs typeface="Calibri"/>
                <a:sym typeface="Calibri"/>
              </a:rPr>
              <a:t>Tổng tài xế NLM</a:t>
            </a:r>
            <a:endParaRPr sz="1000" b="0" i="0" u="none" strike="noStrike" cap="none">
              <a:solidFill>
                <a:schemeClr val="dk1"/>
              </a:solidFill>
              <a:latin typeface="Calibri"/>
              <a:ea typeface="Calibri"/>
              <a:cs typeface="Calibri"/>
              <a:sym typeface="Calibri"/>
            </a:endParaRPr>
          </a:p>
        </p:txBody>
      </p:sp>
      <p:sp>
        <p:nvSpPr>
          <p:cNvPr id="483" name="Google Shape;483;p53"/>
          <p:cNvSpPr/>
          <p:nvPr/>
        </p:nvSpPr>
        <p:spPr>
          <a:xfrm>
            <a:off x="164592" y="2084832"/>
            <a:ext cx="2377500" cy="457200"/>
          </a:xfrm>
          <a:prstGeom prst="rect">
            <a:avLst/>
          </a:prstGeom>
          <a:solidFill>
            <a:srgbClr val="D0F2F4"/>
          </a:solidFill>
          <a:ln>
            <a:noFill/>
          </a:ln>
          <a:effectLst>
            <a:outerShdw blurRad="127000" dist="38100" dir="87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53"/>
          <p:cNvSpPr/>
          <p:nvPr/>
        </p:nvSpPr>
        <p:spPr>
          <a:xfrm>
            <a:off x="274320" y="2084832"/>
            <a:ext cx="7314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B7A84"/>
              </a:buClr>
              <a:buSzPts val="2000"/>
              <a:buFont typeface="Calibri"/>
              <a:buNone/>
            </a:pPr>
            <a:r>
              <a:rPr lang="en" sz="2000" b="1" i="0" u="none" strike="noStrike" cap="none">
                <a:solidFill>
                  <a:srgbClr val="0B7A84"/>
                </a:solidFill>
                <a:latin typeface="Calibri"/>
                <a:ea typeface="Calibri"/>
                <a:cs typeface="Calibri"/>
                <a:sym typeface="Calibri"/>
              </a:rPr>
              <a:t>1.570</a:t>
            </a:r>
            <a:endParaRPr sz="2000" b="0" i="0" u="none" strike="noStrike" cap="none">
              <a:solidFill>
                <a:schemeClr val="dk1"/>
              </a:solidFill>
              <a:latin typeface="Calibri"/>
              <a:ea typeface="Calibri"/>
              <a:cs typeface="Calibri"/>
              <a:sym typeface="Calibri"/>
            </a:endParaRPr>
          </a:p>
        </p:txBody>
      </p:sp>
      <p:sp>
        <p:nvSpPr>
          <p:cNvPr id="485" name="Google Shape;485;p53"/>
          <p:cNvSpPr/>
          <p:nvPr/>
        </p:nvSpPr>
        <p:spPr>
          <a:xfrm>
            <a:off x="1042416" y="2139696"/>
            <a:ext cx="1408200" cy="347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A4256"/>
              </a:buClr>
              <a:buSzPts val="950"/>
              <a:buFont typeface="Calibri"/>
              <a:buNone/>
            </a:pPr>
            <a:r>
              <a:rPr lang="en" sz="950" b="0" i="0" u="none" strike="noStrike" cap="none">
                <a:solidFill>
                  <a:srgbClr val="3A4256"/>
                </a:solidFill>
                <a:latin typeface="Calibri"/>
                <a:ea typeface="Calibri"/>
                <a:cs typeface="Calibri"/>
                <a:sym typeface="Calibri"/>
              </a:rPr>
              <a:t>Activated</a:t>
            </a:r>
            <a:endParaRPr sz="950" b="0" i="0" u="none" strike="noStrike" cap="none">
              <a:solidFill>
                <a:schemeClr val="dk1"/>
              </a:solidFill>
              <a:latin typeface="Calibri"/>
              <a:ea typeface="Calibri"/>
              <a:cs typeface="Calibri"/>
              <a:sym typeface="Calibri"/>
            </a:endParaRPr>
          </a:p>
        </p:txBody>
      </p:sp>
      <p:sp>
        <p:nvSpPr>
          <p:cNvPr id="486" name="Google Shape;486;p53"/>
          <p:cNvSpPr/>
          <p:nvPr/>
        </p:nvSpPr>
        <p:spPr>
          <a:xfrm>
            <a:off x="164592" y="2633472"/>
            <a:ext cx="2377500" cy="457200"/>
          </a:xfrm>
          <a:prstGeom prst="rect">
            <a:avLst/>
          </a:prstGeom>
          <a:solidFill>
            <a:srgbClr val="FEF3E2"/>
          </a:solidFill>
          <a:ln>
            <a:noFill/>
          </a:ln>
          <a:effectLst>
            <a:outerShdw blurRad="127000" dist="38100" dir="87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53"/>
          <p:cNvSpPr/>
          <p:nvPr/>
        </p:nvSpPr>
        <p:spPr>
          <a:xfrm>
            <a:off x="274320" y="2633472"/>
            <a:ext cx="7314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7B06"/>
              </a:buClr>
              <a:buSzPts val="2000"/>
              <a:buFont typeface="Calibri"/>
              <a:buNone/>
            </a:pPr>
            <a:r>
              <a:rPr lang="en" sz="2000" b="1" i="0" u="none" strike="noStrike" cap="none">
                <a:solidFill>
                  <a:srgbClr val="D97B06"/>
                </a:solidFill>
                <a:latin typeface="Calibri"/>
                <a:ea typeface="Calibri"/>
                <a:cs typeface="Calibri"/>
                <a:sym typeface="Calibri"/>
              </a:rPr>
              <a:t>259</a:t>
            </a:r>
            <a:endParaRPr sz="2000" b="0" i="0" u="none" strike="noStrike" cap="none">
              <a:solidFill>
                <a:schemeClr val="dk1"/>
              </a:solidFill>
              <a:latin typeface="Calibri"/>
              <a:ea typeface="Calibri"/>
              <a:cs typeface="Calibri"/>
              <a:sym typeface="Calibri"/>
            </a:endParaRPr>
          </a:p>
        </p:txBody>
      </p:sp>
      <p:sp>
        <p:nvSpPr>
          <p:cNvPr id="488" name="Google Shape;488;p53"/>
          <p:cNvSpPr/>
          <p:nvPr/>
        </p:nvSpPr>
        <p:spPr>
          <a:xfrm>
            <a:off x="1042416" y="2688336"/>
            <a:ext cx="1408200" cy="347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A4256"/>
              </a:buClr>
              <a:buSzPts val="950"/>
              <a:buFont typeface="Calibri"/>
              <a:buNone/>
            </a:pPr>
            <a:r>
              <a:rPr lang="en" sz="950">
                <a:solidFill>
                  <a:srgbClr val="3A4256"/>
                </a:solidFill>
                <a:latin typeface="Calibri"/>
                <a:ea typeface="Calibri"/>
                <a:cs typeface="Calibri"/>
                <a:sym typeface="Calibri"/>
              </a:rPr>
              <a:t>Pending </a:t>
            </a:r>
            <a:r>
              <a:rPr lang="en" sz="950" b="0" i="0" u="none" strike="noStrike" cap="none">
                <a:solidFill>
                  <a:srgbClr val="3A4256"/>
                </a:solidFill>
                <a:latin typeface="Calibri"/>
                <a:ea typeface="Calibri"/>
                <a:cs typeface="Calibri"/>
                <a:sym typeface="Calibri"/>
              </a:rPr>
              <a:t>Uniform</a:t>
            </a:r>
            <a:endParaRPr sz="950" b="0" i="0" u="none" strike="noStrike" cap="none">
              <a:solidFill>
                <a:schemeClr val="dk1"/>
              </a:solidFill>
              <a:latin typeface="Calibri"/>
              <a:ea typeface="Calibri"/>
              <a:cs typeface="Calibri"/>
              <a:sym typeface="Calibri"/>
            </a:endParaRPr>
          </a:p>
        </p:txBody>
      </p:sp>
      <p:sp>
        <p:nvSpPr>
          <p:cNvPr id="489" name="Google Shape;489;p53"/>
          <p:cNvSpPr/>
          <p:nvPr/>
        </p:nvSpPr>
        <p:spPr>
          <a:xfrm>
            <a:off x="164592" y="3182112"/>
            <a:ext cx="2377500" cy="457200"/>
          </a:xfrm>
          <a:prstGeom prst="rect">
            <a:avLst/>
          </a:prstGeom>
          <a:solidFill>
            <a:srgbClr val="DCF5E9"/>
          </a:solidFill>
          <a:ln>
            <a:noFill/>
          </a:ln>
          <a:effectLst>
            <a:outerShdw blurRad="127000" dist="38100" dir="87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53"/>
          <p:cNvSpPr/>
          <p:nvPr/>
        </p:nvSpPr>
        <p:spPr>
          <a:xfrm>
            <a:off x="274320" y="3182112"/>
            <a:ext cx="7314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9449"/>
              </a:buClr>
              <a:buSzPts val="2000"/>
              <a:buFont typeface="Calibri"/>
              <a:buNone/>
            </a:pPr>
            <a:r>
              <a:rPr lang="en" sz="2000" b="1" i="0" u="none" strike="noStrike" cap="none">
                <a:solidFill>
                  <a:srgbClr val="0F9449"/>
                </a:solidFill>
                <a:latin typeface="Calibri"/>
                <a:ea typeface="Calibri"/>
                <a:cs typeface="Calibri"/>
                <a:sym typeface="Calibri"/>
              </a:rPr>
              <a:t>1.829</a:t>
            </a:r>
            <a:endParaRPr sz="2000" b="0" i="0" u="none" strike="noStrike" cap="none">
              <a:solidFill>
                <a:schemeClr val="dk1"/>
              </a:solidFill>
              <a:latin typeface="Calibri"/>
              <a:ea typeface="Calibri"/>
              <a:cs typeface="Calibri"/>
              <a:sym typeface="Calibri"/>
            </a:endParaRPr>
          </a:p>
        </p:txBody>
      </p:sp>
      <p:sp>
        <p:nvSpPr>
          <p:cNvPr id="491" name="Google Shape;491;p53"/>
          <p:cNvSpPr/>
          <p:nvPr/>
        </p:nvSpPr>
        <p:spPr>
          <a:xfrm>
            <a:off x="1042416" y="3236976"/>
            <a:ext cx="1408200" cy="347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A4256"/>
              </a:buClr>
              <a:buSzPts val="950"/>
              <a:buFont typeface="Calibri"/>
              <a:buNone/>
            </a:pPr>
            <a:r>
              <a:rPr lang="en" sz="950">
                <a:solidFill>
                  <a:srgbClr val="3A4256"/>
                </a:solidFill>
                <a:latin typeface="Calibri"/>
                <a:ea typeface="Calibri"/>
                <a:cs typeface="Calibri"/>
                <a:sym typeface="Calibri"/>
              </a:rPr>
              <a:t>Total</a:t>
            </a:r>
            <a:endParaRPr sz="950" b="0" i="0" u="none" strike="noStrike" cap="none">
              <a:solidFill>
                <a:schemeClr val="dk1"/>
              </a:solidFill>
              <a:latin typeface="Calibri"/>
              <a:ea typeface="Calibri"/>
              <a:cs typeface="Calibri"/>
              <a:sym typeface="Calibri"/>
            </a:endParaRPr>
          </a:p>
        </p:txBody>
      </p:sp>
      <p:sp>
        <p:nvSpPr>
          <p:cNvPr id="492" name="Google Shape;492;p53"/>
          <p:cNvSpPr/>
          <p:nvPr/>
        </p:nvSpPr>
        <p:spPr>
          <a:xfrm>
            <a:off x="164592" y="3794760"/>
            <a:ext cx="2377500" cy="329100"/>
          </a:xfrm>
          <a:prstGeom prst="roundRect">
            <a:avLst>
              <a:gd name="adj" fmla="val 16667"/>
            </a:avLst>
          </a:prstGeom>
          <a:solidFill>
            <a:srgbClr val="FFFFFF"/>
          </a:solidFill>
          <a:ln>
            <a:noFill/>
          </a:ln>
          <a:effectLst>
            <a:outerShdw blurRad="127000" dist="38100" dir="87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53"/>
          <p:cNvSpPr/>
          <p:nvPr/>
        </p:nvSpPr>
        <p:spPr>
          <a:xfrm>
            <a:off x="256032" y="3849624"/>
            <a:ext cx="219600" cy="219600"/>
          </a:xfrm>
          <a:prstGeom prst="ellipse">
            <a:avLst/>
          </a:prstGeom>
          <a:solidFill>
            <a:srgbClr val="0F9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53"/>
          <p:cNvSpPr/>
          <p:nvPr/>
        </p:nvSpPr>
        <p:spPr>
          <a:xfrm>
            <a:off x="512064" y="3794760"/>
            <a:ext cx="585300" cy="329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9449"/>
              </a:buClr>
              <a:buSzPts val="1400"/>
              <a:buFont typeface="Calibri"/>
              <a:buNone/>
            </a:pPr>
            <a:r>
              <a:rPr lang="en" b="1">
                <a:solidFill>
                  <a:srgbClr val="0F9449"/>
                </a:solidFill>
                <a:latin typeface="Calibri"/>
                <a:ea typeface="Calibri"/>
                <a:cs typeface="Calibri"/>
                <a:sym typeface="Calibri"/>
              </a:rPr>
              <a:t>1144</a:t>
            </a:r>
            <a:endParaRPr sz="1400" b="0" i="0" u="none" strike="noStrike" cap="none">
              <a:solidFill>
                <a:schemeClr val="dk1"/>
              </a:solidFill>
              <a:latin typeface="Calibri"/>
              <a:ea typeface="Calibri"/>
              <a:cs typeface="Calibri"/>
              <a:sym typeface="Calibri"/>
            </a:endParaRPr>
          </a:p>
        </p:txBody>
      </p:sp>
      <p:sp>
        <p:nvSpPr>
          <p:cNvPr id="495" name="Google Shape;495;p53"/>
          <p:cNvSpPr/>
          <p:nvPr/>
        </p:nvSpPr>
        <p:spPr>
          <a:xfrm>
            <a:off x="1133856" y="3840480"/>
            <a:ext cx="13167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A4256"/>
              </a:buClr>
              <a:buSzPts val="900"/>
              <a:buFont typeface="Calibri"/>
              <a:buNone/>
            </a:pPr>
            <a:r>
              <a:rPr lang="en" sz="900">
                <a:solidFill>
                  <a:srgbClr val="3A4256"/>
                </a:solidFill>
                <a:latin typeface="Calibri"/>
                <a:ea typeface="Calibri"/>
                <a:cs typeface="Calibri"/>
                <a:sym typeface="Calibri"/>
              </a:rPr>
              <a:t>Đã hoạt</a:t>
            </a:r>
            <a:r>
              <a:rPr lang="en" sz="900" b="0" i="0" u="none" strike="noStrike" cap="none">
                <a:solidFill>
                  <a:srgbClr val="3A4256"/>
                </a:solidFill>
                <a:latin typeface="Calibri"/>
                <a:ea typeface="Calibri"/>
                <a:cs typeface="Calibri"/>
                <a:sym typeface="Calibri"/>
              </a:rPr>
              <a:t> động</a:t>
            </a:r>
            <a:endParaRPr sz="900" b="0" i="0" u="none" strike="noStrike" cap="none">
              <a:solidFill>
                <a:schemeClr val="dk1"/>
              </a:solidFill>
              <a:latin typeface="Calibri"/>
              <a:ea typeface="Calibri"/>
              <a:cs typeface="Calibri"/>
              <a:sym typeface="Calibri"/>
            </a:endParaRPr>
          </a:p>
        </p:txBody>
      </p:sp>
      <p:sp>
        <p:nvSpPr>
          <p:cNvPr id="496" name="Google Shape;496;p53"/>
          <p:cNvSpPr/>
          <p:nvPr/>
        </p:nvSpPr>
        <p:spPr>
          <a:xfrm>
            <a:off x="164592" y="4197096"/>
            <a:ext cx="2377500" cy="329100"/>
          </a:xfrm>
          <a:prstGeom prst="roundRect">
            <a:avLst>
              <a:gd name="adj" fmla="val 16667"/>
            </a:avLst>
          </a:prstGeom>
          <a:solidFill>
            <a:srgbClr val="FFFFFF"/>
          </a:solidFill>
          <a:ln>
            <a:noFill/>
          </a:ln>
          <a:effectLst>
            <a:outerShdw blurRad="127000" dist="38100" dir="87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53"/>
          <p:cNvSpPr/>
          <p:nvPr/>
        </p:nvSpPr>
        <p:spPr>
          <a:xfrm>
            <a:off x="256032" y="4251960"/>
            <a:ext cx="219600" cy="219600"/>
          </a:xfrm>
          <a:prstGeom prst="ellipse">
            <a:avLst/>
          </a:prstGeom>
          <a:solidFill>
            <a:srgbClr val="D12B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53"/>
          <p:cNvSpPr/>
          <p:nvPr/>
        </p:nvSpPr>
        <p:spPr>
          <a:xfrm>
            <a:off x="512064" y="4197096"/>
            <a:ext cx="585300" cy="329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12B2B"/>
              </a:buClr>
              <a:buSzPts val="1400"/>
              <a:buFont typeface="Calibri"/>
              <a:buNone/>
            </a:pPr>
            <a:r>
              <a:rPr lang="en" sz="1400" b="1" i="0" u="none" strike="noStrike" cap="none">
                <a:solidFill>
                  <a:srgbClr val="D12B2B"/>
                </a:solidFill>
                <a:latin typeface="Calibri"/>
                <a:ea typeface="Calibri"/>
                <a:cs typeface="Calibri"/>
                <a:sym typeface="Calibri"/>
              </a:rPr>
              <a:t>555</a:t>
            </a:r>
            <a:endParaRPr sz="1400" b="0" i="0" u="none" strike="noStrike" cap="none">
              <a:solidFill>
                <a:schemeClr val="dk1"/>
              </a:solidFill>
              <a:latin typeface="Calibri"/>
              <a:ea typeface="Calibri"/>
              <a:cs typeface="Calibri"/>
              <a:sym typeface="Calibri"/>
            </a:endParaRPr>
          </a:p>
        </p:txBody>
      </p:sp>
      <p:sp>
        <p:nvSpPr>
          <p:cNvPr id="499" name="Google Shape;499;p53"/>
          <p:cNvSpPr/>
          <p:nvPr/>
        </p:nvSpPr>
        <p:spPr>
          <a:xfrm>
            <a:off x="1133856" y="4242816"/>
            <a:ext cx="13167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A4256"/>
              </a:buClr>
              <a:buSzPts val="900"/>
              <a:buFont typeface="Calibri"/>
              <a:buNone/>
            </a:pPr>
            <a:r>
              <a:rPr lang="en" sz="900">
                <a:solidFill>
                  <a:srgbClr val="3A4256"/>
                </a:solidFill>
                <a:latin typeface="Calibri"/>
                <a:ea typeface="Calibri"/>
                <a:cs typeface="Calibri"/>
                <a:sym typeface="Calibri"/>
              </a:rPr>
              <a:t>Đã</a:t>
            </a:r>
            <a:r>
              <a:rPr lang="en" sz="900" b="0" i="0" u="none" strike="noStrike" cap="none">
                <a:solidFill>
                  <a:srgbClr val="3A4256"/>
                </a:solidFill>
                <a:latin typeface="Calibri"/>
                <a:ea typeface="Calibri"/>
                <a:cs typeface="Calibri"/>
                <a:sym typeface="Calibri"/>
              </a:rPr>
              <a:t> call (lần 1)</a:t>
            </a:r>
            <a:endParaRPr sz="900" b="0" i="0" u="none" strike="noStrike" cap="none">
              <a:solidFill>
                <a:schemeClr val="dk1"/>
              </a:solidFill>
              <a:latin typeface="Calibri"/>
              <a:ea typeface="Calibri"/>
              <a:cs typeface="Calibri"/>
              <a:sym typeface="Calibri"/>
            </a:endParaRPr>
          </a:p>
        </p:txBody>
      </p:sp>
      <p:sp>
        <p:nvSpPr>
          <p:cNvPr id="500" name="Google Shape;500;p53"/>
          <p:cNvSpPr/>
          <p:nvPr/>
        </p:nvSpPr>
        <p:spPr>
          <a:xfrm>
            <a:off x="164592" y="4599432"/>
            <a:ext cx="2377500" cy="329100"/>
          </a:xfrm>
          <a:prstGeom prst="roundRect">
            <a:avLst>
              <a:gd name="adj" fmla="val 16667"/>
            </a:avLst>
          </a:prstGeom>
          <a:solidFill>
            <a:srgbClr val="FFFFFF"/>
          </a:solidFill>
          <a:ln>
            <a:noFill/>
          </a:ln>
          <a:effectLst>
            <a:outerShdw blurRad="127000" dist="38100" dir="87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53"/>
          <p:cNvSpPr/>
          <p:nvPr/>
        </p:nvSpPr>
        <p:spPr>
          <a:xfrm>
            <a:off x="256032" y="4654296"/>
            <a:ext cx="219600" cy="219600"/>
          </a:xfrm>
          <a:prstGeom prst="ellipse">
            <a:avLst/>
          </a:prstGeom>
          <a:solidFill>
            <a:srgbClr val="D97B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53"/>
          <p:cNvSpPr/>
          <p:nvPr/>
        </p:nvSpPr>
        <p:spPr>
          <a:xfrm>
            <a:off x="512064" y="4599432"/>
            <a:ext cx="585300" cy="329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7B06"/>
              </a:buClr>
              <a:buSzPts val="1400"/>
              <a:buFont typeface="Calibri"/>
              <a:buNone/>
            </a:pPr>
            <a:r>
              <a:rPr lang="en" sz="1400" b="1" i="0" u="none" strike="noStrike" cap="none">
                <a:solidFill>
                  <a:srgbClr val="D97B06"/>
                </a:solidFill>
                <a:latin typeface="Calibri"/>
                <a:ea typeface="Calibri"/>
                <a:cs typeface="Calibri"/>
                <a:sym typeface="Calibri"/>
              </a:rPr>
              <a:t>130</a:t>
            </a:r>
            <a:endParaRPr sz="1400" b="0" i="0" u="none" strike="noStrike" cap="none">
              <a:solidFill>
                <a:schemeClr val="dk1"/>
              </a:solidFill>
              <a:latin typeface="Calibri"/>
              <a:ea typeface="Calibri"/>
              <a:cs typeface="Calibri"/>
              <a:sym typeface="Calibri"/>
            </a:endParaRPr>
          </a:p>
        </p:txBody>
      </p:sp>
      <p:sp>
        <p:nvSpPr>
          <p:cNvPr id="503" name="Google Shape;503;p53"/>
          <p:cNvSpPr/>
          <p:nvPr/>
        </p:nvSpPr>
        <p:spPr>
          <a:xfrm>
            <a:off x="1133856" y="4645152"/>
            <a:ext cx="13167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A4256"/>
              </a:buClr>
              <a:buSzPts val="900"/>
              <a:buFont typeface="Calibri"/>
              <a:buNone/>
            </a:pPr>
            <a:r>
              <a:rPr lang="en" sz="900" b="0" i="0" u="none" strike="noStrike" cap="none">
                <a:solidFill>
                  <a:srgbClr val="3A4256"/>
                </a:solidFill>
                <a:latin typeface="Calibri"/>
                <a:ea typeface="Calibri"/>
                <a:cs typeface="Calibri"/>
                <a:sym typeface="Calibri"/>
              </a:rPr>
              <a:t>Call lần 2</a:t>
            </a:r>
            <a:endParaRPr sz="900" b="0" i="0" u="none" strike="noStrike" cap="none">
              <a:solidFill>
                <a:schemeClr val="dk1"/>
              </a:solidFill>
              <a:latin typeface="Calibri"/>
              <a:ea typeface="Calibri"/>
              <a:cs typeface="Calibri"/>
              <a:sym typeface="Calibri"/>
            </a:endParaRPr>
          </a:p>
        </p:txBody>
      </p:sp>
      <p:sp>
        <p:nvSpPr>
          <p:cNvPr id="504" name="Google Shape;504;p53"/>
          <p:cNvSpPr/>
          <p:nvPr/>
        </p:nvSpPr>
        <p:spPr>
          <a:xfrm>
            <a:off x="2706624" y="749808"/>
            <a:ext cx="32919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2044"/>
              </a:buClr>
              <a:buSzPts val="1000"/>
              <a:buFont typeface="Calibri"/>
              <a:buNone/>
            </a:pPr>
            <a:r>
              <a:rPr lang="en" sz="1000" b="1" i="0" u="none" strike="noStrike" cap="none">
                <a:solidFill>
                  <a:srgbClr val="0F2044"/>
                </a:solidFill>
                <a:latin typeface="Calibri"/>
                <a:ea typeface="Calibri"/>
                <a:cs typeface="Calibri"/>
                <a:sym typeface="Calibri"/>
              </a:rPr>
              <a:t>NGUYÊN NHÂN KHÔNG HOẠT ĐỘNG</a:t>
            </a:r>
            <a:endParaRPr sz="1000" b="0" i="0" u="none" strike="noStrike" cap="none">
              <a:solidFill>
                <a:schemeClr val="dk1"/>
              </a:solidFill>
              <a:latin typeface="Calibri"/>
              <a:ea typeface="Calibri"/>
              <a:cs typeface="Calibri"/>
              <a:sym typeface="Calibri"/>
            </a:endParaRPr>
          </a:p>
        </p:txBody>
      </p:sp>
      <p:sp>
        <p:nvSpPr>
          <p:cNvPr id="505" name="Google Shape;505;p53"/>
          <p:cNvSpPr/>
          <p:nvPr/>
        </p:nvSpPr>
        <p:spPr>
          <a:xfrm>
            <a:off x="2706624" y="1060704"/>
            <a:ext cx="3291900" cy="274200"/>
          </a:xfrm>
          <a:prstGeom prst="rect">
            <a:avLst/>
          </a:prstGeom>
          <a:solidFill>
            <a:srgbClr val="3A42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53"/>
          <p:cNvSpPr/>
          <p:nvPr/>
        </p:nvSpPr>
        <p:spPr>
          <a:xfrm>
            <a:off x="2816352" y="1060704"/>
            <a:ext cx="3127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50"/>
              <a:buFont typeface="Calibri"/>
              <a:buNone/>
            </a:pPr>
            <a:r>
              <a:rPr lang="en" sz="950" b="1" i="0" u="none" strike="noStrike" cap="none">
                <a:solidFill>
                  <a:srgbClr val="FFFFFF"/>
                </a:solidFill>
                <a:latin typeface="Calibri"/>
                <a:ea typeface="Calibri"/>
                <a:cs typeface="Calibri"/>
                <a:sym typeface="Calibri"/>
              </a:rPr>
              <a:t>📵  Không liên lạc được</a:t>
            </a:r>
            <a:endParaRPr sz="950" b="0" i="0" u="none" strike="noStrike" cap="none">
              <a:solidFill>
                <a:schemeClr val="dk1"/>
              </a:solidFill>
              <a:latin typeface="Calibri"/>
              <a:ea typeface="Calibri"/>
              <a:cs typeface="Calibri"/>
              <a:sym typeface="Calibri"/>
            </a:endParaRPr>
          </a:p>
        </p:txBody>
      </p:sp>
      <p:sp>
        <p:nvSpPr>
          <p:cNvPr id="507" name="Google Shape;507;p53"/>
          <p:cNvSpPr/>
          <p:nvPr/>
        </p:nvSpPr>
        <p:spPr>
          <a:xfrm>
            <a:off x="2871216" y="1371600"/>
            <a:ext cx="30357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A4256"/>
              </a:buClr>
              <a:buSzPts val="880"/>
              <a:buFont typeface="Calibri"/>
              <a:buNone/>
            </a:pPr>
            <a:r>
              <a:rPr lang="en" sz="880" b="0" i="0" u="none" strike="noStrike" cap="none">
                <a:solidFill>
                  <a:srgbClr val="3A4256"/>
                </a:solidFill>
                <a:latin typeface="Calibri"/>
                <a:ea typeface="Calibri"/>
                <a:cs typeface="Calibri"/>
                <a:sym typeface="Calibri"/>
              </a:rPr>
              <a:t>▸  Đổ chuông / chặn số lạ</a:t>
            </a:r>
            <a:endParaRPr sz="880" b="0" i="0" u="none" strike="noStrike" cap="none">
              <a:solidFill>
                <a:schemeClr val="dk1"/>
              </a:solidFill>
              <a:latin typeface="Calibri"/>
              <a:ea typeface="Calibri"/>
              <a:cs typeface="Calibri"/>
              <a:sym typeface="Calibri"/>
            </a:endParaRPr>
          </a:p>
        </p:txBody>
      </p:sp>
      <p:sp>
        <p:nvSpPr>
          <p:cNvPr id="508" name="Google Shape;508;p53"/>
          <p:cNvSpPr/>
          <p:nvPr/>
        </p:nvSpPr>
        <p:spPr>
          <a:xfrm>
            <a:off x="2871216" y="1664208"/>
            <a:ext cx="30357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A4256"/>
              </a:buClr>
              <a:buSzPts val="880"/>
              <a:buFont typeface="Calibri"/>
              <a:buNone/>
            </a:pPr>
            <a:r>
              <a:rPr lang="en" sz="880" b="0" i="0" u="none" strike="noStrike" cap="none">
                <a:solidFill>
                  <a:srgbClr val="3A4256"/>
                </a:solidFill>
                <a:latin typeface="Calibri"/>
                <a:ea typeface="Calibri"/>
                <a:cs typeface="Calibri"/>
                <a:sym typeface="Calibri"/>
              </a:rPr>
              <a:t>▸  Thuê bao / tắt máy / trợ lý ảo</a:t>
            </a:r>
            <a:endParaRPr sz="880" b="0" i="0" u="none" strike="noStrike" cap="none">
              <a:solidFill>
                <a:schemeClr val="dk1"/>
              </a:solidFill>
              <a:latin typeface="Calibri"/>
              <a:ea typeface="Calibri"/>
              <a:cs typeface="Calibri"/>
              <a:sym typeface="Calibri"/>
            </a:endParaRPr>
          </a:p>
        </p:txBody>
      </p:sp>
      <p:sp>
        <p:nvSpPr>
          <p:cNvPr id="509" name="Google Shape;509;p53"/>
          <p:cNvSpPr/>
          <p:nvPr/>
        </p:nvSpPr>
        <p:spPr>
          <a:xfrm>
            <a:off x="2871216" y="1956816"/>
            <a:ext cx="30357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A4256"/>
              </a:buClr>
              <a:buSzPts val="880"/>
              <a:buFont typeface="Calibri"/>
              <a:buNone/>
            </a:pPr>
            <a:r>
              <a:rPr lang="en" sz="880" b="0" i="0" u="none" strike="noStrike" cap="none">
                <a:solidFill>
                  <a:srgbClr val="3A4256"/>
                </a:solidFill>
                <a:latin typeface="Calibri"/>
                <a:ea typeface="Calibri"/>
                <a:cs typeface="Calibri"/>
                <a:sym typeface="Calibri"/>
              </a:rPr>
              <a:t>▸  Tiếp tục không kết nối được qua lần 2</a:t>
            </a:r>
            <a:endParaRPr sz="880" b="0" i="0" u="none" strike="noStrike" cap="none">
              <a:solidFill>
                <a:schemeClr val="dk1"/>
              </a:solidFill>
              <a:latin typeface="Calibri"/>
              <a:ea typeface="Calibri"/>
              <a:cs typeface="Calibri"/>
              <a:sym typeface="Calibri"/>
            </a:endParaRPr>
          </a:p>
        </p:txBody>
      </p:sp>
      <p:sp>
        <p:nvSpPr>
          <p:cNvPr id="510" name="Google Shape;510;p53"/>
          <p:cNvSpPr/>
          <p:nvPr/>
        </p:nvSpPr>
        <p:spPr>
          <a:xfrm>
            <a:off x="2706624" y="2340864"/>
            <a:ext cx="3291900" cy="274200"/>
          </a:xfrm>
          <a:prstGeom prst="rect">
            <a:avLst/>
          </a:prstGeom>
          <a:solidFill>
            <a:srgbClr val="D97B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53"/>
          <p:cNvSpPr/>
          <p:nvPr/>
        </p:nvSpPr>
        <p:spPr>
          <a:xfrm>
            <a:off x="2816352" y="2340864"/>
            <a:ext cx="3127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50"/>
              <a:buFont typeface="Calibri"/>
              <a:buNone/>
            </a:pPr>
            <a:r>
              <a:rPr lang="en" sz="950" b="1" i="0" u="none" strike="noStrike" cap="none">
                <a:solidFill>
                  <a:srgbClr val="FFFFFF"/>
                </a:solidFill>
                <a:latin typeface="Calibri"/>
                <a:ea typeface="Calibri"/>
                <a:cs typeface="Calibri"/>
                <a:sym typeface="Calibri"/>
              </a:rPr>
              <a:t>📋  Đã liên lạc — có lý do</a:t>
            </a:r>
            <a:endParaRPr sz="950" b="0" i="0" u="none" strike="noStrike" cap="none">
              <a:solidFill>
                <a:schemeClr val="dk1"/>
              </a:solidFill>
              <a:latin typeface="Calibri"/>
              <a:ea typeface="Calibri"/>
              <a:cs typeface="Calibri"/>
              <a:sym typeface="Calibri"/>
            </a:endParaRPr>
          </a:p>
        </p:txBody>
      </p:sp>
      <p:sp>
        <p:nvSpPr>
          <p:cNvPr id="512" name="Google Shape;512;p53"/>
          <p:cNvSpPr/>
          <p:nvPr/>
        </p:nvSpPr>
        <p:spPr>
          <a:xfrm>
            <a:off x="2871216" y="2651760"/>
            <a:ext cx="30357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A4256"/>
              </a:buClr>
              <a:buSzPts val="880"/>
              <a:buFont typeface="Calibri"/>
              <a:buNone/>
            </a:pPr>
            <a:r>
              <a:rPr lang="en" sz="880" b="0" i="0" u="none" strike="noStrike" cap="none">
                <a:solidFill>
                  <a:srgbClr val="3A4256"/>
                </a:solidFill>
                <a:latin typeface="Calibri"/>
                <a:ea typeface="Calibri"/>
                <a:cs typeface="Calibri"/>
                <a:sym typeface="Calibri"/>
              </a:rPr>
              <a:t>▸  Hẹn chạy tuần này / đang sắp xếp thời gian</a:t>
            </a:r>
            <a:endParaRPr sz="880" b="0" i="0" u="none" strike="noStrike" cap="none">
              <a:solidFill>
                <a:schemeClr val="dk1"/>
              </a:solidFill>
              <a:latin typeface="Calibri"/>
              <a:ea typeface="Calibri"/>
              <a:cs typeface="Calibri"/>
              <a:sym typeface="Calibri"/>
            </a:endParaRPr>
          </a:p>
        </p:txBody>
      </p:sp>
      <p:sp>
        <p:nvSpPr>
          <p:cNvPr id="513" name="Google Shape;513;p53"/>
          <p:cNvSpPr/>
          <p:nvPr/>
        </p:nvSpPr>
        <p:spPr>
          <a:xfrm>
            <a:off x="2871216" y="2944368"/>
            <a:ext cx="30357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A4256"/>
              </a:buClr>
              <a:buSzPts val="880"/>
              <a:buFont typeface="Calibri"/>
              <a:buNone/>
            </a:pPr>
            <a:r>
              <a:rPr lang="en" sz="880" b="0" i="0" u="none" strike="noStrike" cap="none">
                <a:solidFill>
                  <a:srgbClr val="3A4256"/>
                </a:solidFill>
                <a:latin typeface="Calibri"/>
                <a:ea typeface="Calibri"/>
                <a:cs typeface="Calibri"/>
                <a:sym typeface="Calibri"/>
              </a:rPr>
              <a:t>▸  Về quê, đi tỉnh, bận việc, đi học, bệnh</a:t>
            </a:r>
            <a:endParaRPr sz="880" b="0" i="0" u="none" strike="noStrike" cap="none">
              <a:solidFill>
                <a:schemeClr val="dk1"/>
              </a:solidFill>
              <a:latin typeface="Calibri"/>
              <a:ea typeface="Calibri"/>
              <a:cs typeface="Calibri"/>
              <a:sym typeface="Calibri"/>
            </a:endParaRPr>
          </a:p>
        </p:txBody>
      </p:sp>
      <p:sp>
        <p:nvSpPr>
          <p:cNvPr id="514" name="Google Shape;514;p53"/>
          <p:cNvSpPr/>
          <p:nvPr/>
        </p:nvSpPr>
        <p:spPr>
          <a:xfrm>
            <a:off x="2871216" y="3236976"/>
            <a:ext cx="30357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A4256"/>
              </a:buClr>
              <a:buSzPts val="880"/>
              <a:buFont typeface="Calibri"/>
              <a:buNone/>
            </a:pPr>
            <a:r>
              <a:rPr lang="en" sz="880" b="0" i="0" u="none" strike="noStrike" cap="none">
                <a:solidFill>
                  <a:srgbClr val="3A4256"/>
                </a:solidFill>
                <a:latin typeface="Calibri"/>
                <a:ea typeface="Calibri"/>
                <a:cs typeface="Calibri"/>
                <a:sym typeface="Calibri"/>
              </a:rPr>
              <a:t>▸  Có công việc khác, muốn ngưng hoặc rút ký quỹ</a:t>
            </a:r>
            <a:endParaRPr sz="880" b="0" i="0" u="none" strike="noStrike" cap="none">
              <a:solidFill>
                <a:schemeClr val="dk1"/>
              </a:solidFill>
              <a:latin typeface="Calibri"/>
              <a:ea typeface="Calibri"/>
              <a:cs typeface="Calibri"/>
              <a:sym typeface="Calibri"/>
            </a:endParaRPr>
          </a:p>
        </p:txBody>
      </p:sp>
      <p:sp>
        <p:nvSpPr>
          <p:cNvPr id="515" name="Google Shape;515;p53"/>
          <p:cNvSpPr/>
          <p:nvPr/>
        </p:nvSpPr>
        <p:spPr>
          <a:xfrm>
            <a:off x="2706624" y="3584448"/>
            <a:ext cx="3291900" cy="274200"/>
          </a:xfrm>
          <a:prstGeom prst="rect">
            <a:avLst/>
          </a:prstGeom>
          <a:solidFill>
            <a:srgbClr val="D12B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53"/>
          <p:cNvSpPr/>
          <p:nvPr/>
        </p:nvSpPr>
        <p:spPr>
          <a:xfrm>
            <a:off x="2816352" y="3584448"/>
            <a:ext cx="3127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50"/>
              <a:buFont typeface="Calibri"/>
              <a:buNone/>
            </a:pPr>
            <a:r>
              <a:rPr lang="en" sz="950" b="1" i="0" u="none" strike="noStrike" cap="none">
                <a:solidFill>
                  <a:srgbClr val="FFFFFF"/>
                </a:solidFill>
                <a:latin typeface="Calibri"/>
                <a:ea typeface="Calibri"/>
                <a:cs typeface="Calibri"/>
                <a:sym typeface="Calibri"/>
              </a:rPr>
              <a:t>⚙️  Vấn đề app &amp; vận hành</a:t>
            </a:r>
            <a:endParaRPr sz="950" b="0" i="0" u="none" strike="noStrike" cap="none">
              <a:solidFill>
                <a:schemeClr val="dk1"/>
              </a:solidFill>
              <a:latin typeface="Calibri"/>
              <a:ea typeface="Calibri"/>
              <a:cs typeface="Calibri"/>
              <a:sym typeface="Calibri"/>
            </a:endParaRPr>
          </a:p>
        </p:txBody>
      </p:sp>
      <p:sp>
        <p:nvSpPr>
          <p:cNvPr id="517" name="Google Shape;517;p53"/>
          <p:cNvSpPr/>
          <p:nvPr/>
        </p:nvSpPr>
        <p:spPr>
          <a:xfrm>
            <a:off x="2871216" y="3895344"/>
            <a:ext cx="30357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A4256"/>
              </a:buClr>
              <a:buSzPts val="850"/>
              <a:buFont typeface="Calibri"/>
              <a:buNone/>
            </a:pPr>
            <a:r>
              <a:rPr lang="en" sz="850" b="0" i="0" u="none" strike="noStrike" cap="none">
                <a:solidFill>
                  <a:srgbClr val="3A4256"/>
                </a:solidFill>
                <a:latin typeface="Calibri"/>
                <a:ea typeface="Calibri"/>
                <a:cs typeface="Calibri"/>
                <a:sym typeface="Calibri"/>
              </a:rPr>
              <a:t>▸  Ít đơn / đơn ít tiền / TMĐT nhiều điểm</a:t>
            </a:r>
            <a:endParaRPr sz="850" b="0" i="0" u="none" strike="noStrike" cap="none">
              <a:solidFill>
                <a:schemeClr val="dk1"/>
              </a:solidFill>
              <a:latin typeface="Calibri"/>
              <a:ea typeface="Calibri"/>
              <a:cs typeface="Calibri"/>
              <a:sym typeface="Calibri"/>
            </a:endParaRPr>
          </a:p>
        </p:txBody>
      </p:sp>
      <p:sp>
        <p:nvSpPr>
          <p:cNvPr id="518" name="Google Shape;518;p53"/>
          <p:cNvSpPr/>
          <p:nvPr/>
        </p:nvSpPr>
        <p:spPr>
          <a:xfrm>
            <a:off x="2871216" y="4169664"/>
            <a:ext cx="30357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A4256"/>
              </a:buClr>
              <a:buSzPts val="850"/>
              <a:buFont typeface="Calibri"/>
              <a:buNone/>
            </a:pPr>
            <a:r>
              <a:rPr lang="en" sz="850" b="0" i="0" u="none" strike="noStrike" cap="none">
                <a:solidFill>
                  <a:srgbClr val="3A4256"/>
                </a:solidFill>
                <a:latin typeface="Calibri"/>
                <a:ea typeface="Calibri"/>
                <a:cs typeface="Calibri"/>
                <a:sym typeface="Calibri"/>
              </a:rPr>
              <a:t>▸  TK chính chỉ còn 3k–6k, không muốn ký quỹ</a:t>
            </a:r>
            <a:endParaRPr sz="850" b="0" i="0" u="none" strike="noStrike" cap="none">
              <a:solidFill>
                <a:schemeClr val="dk1"/>
              </a:solidFill>
              <a:latin typeface="Calibri"/>
              <a:ea typeface="Calibri"/>
              <a:cs typeface="Calibri"/>
              <a:sym typeface="Calibri"/>
            </a:endParaRPr>
          </a:p>
        </p:txBody>
      </p:sp>
      <p:sp>
        <p:nvSpPr>
          <p:cNvPr id="519" name="Google Shape;519;p53"/>
          <p:cNvSpPr/>
          <p:nvPr/>
        </p:nvSpPr>
        <p:spPr>
          <a:xfrm>
            <a:off x="2871216" y="4443984"/>
            <a:ext cx="30357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A4256"/>
              </a:buClr>
              <a:buSzPts val="850"/>
              <a:buFont typeface="Calibri"/>
              <a:buNone/>
            </a:pPr>
            <a:r>
              <a:rPr lang="en" sz="850" b="0" i="0" u="none" strike="noStrike" cap="none">
                <a:solidFill>
                  <a:srgbClr val="3A4256"/>
                </a:solidFill>
                <a:latin typeface="Calibri"/>
                <a:ea typeface="Calibri"/>
                <a:cs typeface="Calibri"/>
                <a:sym typeface="Calibri"/>
              </a:rPr>
              <a:t>▸  </a:t>
            </a:r>
            <a:r>
              <a:rPr lang="en" sz="850">
                <a:solidFill>
                  <a:srgbClr val="3A4256"/>
                </a:solidFill>
                <a:latin typeface="Calibri"/>
                <a:ea typeface="Calibri"/>
                <a:cs typeface="Calibri"/>
                <a:sym typeface="Calibri"/>
              </a:rPr>
              <a:t>Phàn nàn </a:t>
            </a:r>
            <a:r>
              <a:rPr lang="en" sz="850" b="0" i="0" u="none" strike="noStrike" cap="none">
                <a:solidFill>
                  <a:srgbClr val="3A4256"/>
                </a:solidFill>
                <a:latin typeface="Calibri"/>
                <a:ea typeface="Calibri"/>
                <a:cs typeface="Calibri"/>
                <a:sym typeface="Calibri"/>
              </a:rPr>
              <a:t>App t</a:t>
            </a:r>
            <a:r>
              <a:rPr lang="en" sz="850">
                <a:solidFill>
                  <a:srgbClr val="3A4256"/>
                </a:solidFill>
                <a:latin typeface="Calibri"/>
                <a:ea typeface="Calibri"/>
                <a:cs typeface="Calibri"/>
                <a:sym typeface="Calibri"/>
              </a:rPr>
              <a:t>ự động gán </a:t>
            </a:r>
            <a:r>
              <a:rPr lang="en" sz="850" b="0" i="0" u="none" strike="noStrike" cap="none">
                <a:solidFill>
                  <a:srgbClr val="3A4256"/>
                </a:solidFill>
                <a:latin typeface="Calibri"/>
                <a:ea typeface="Calibri"/>
                <a:cs typeface="Calibri"/>
                <a:sym typeface="Calibri"/>
              </a:rPr>
              <a:t>đơn/che COD phức tạp</a:t>
            </a:r>
            <a:endParaRPr sz="850" b="0" i="0" u="none" strike="noStrike" cap="none">
              <a:solidFill>
                <a:schemeClr val="dk1"/>
              </a:solidFill>
              <a:latin typeface="Calibri"/>
              <a:ea typeface="Calibri"/>
              <a:cs typeface="Calibri"/>
              <a:sym typeface="Calibri"/>
            </a:endParaRPr>
          </a:p>
        </p:txBody>
      </p:sp>
      <p:sp>
        <p:nvSpPr>
          <p:cNvPr id="520" name="Google Shape;520;p53"/>
          <p:cNvSpPr/>
          <p:nvPr/>
        </p:nvSpPr>
        <p:spPr>
          <a:xfrm>
            <a:off x="2871216" y="4718304"/>
            <a:ext cx="30357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A4256"/>
              </a:buClr>
              <a:buSzPts val="850"/>
              <a:buFont typeface="Calibri"/>
              <a:buNone/>
            </a:pPr>
            <a:r>
              <a:rPr lang="en" sz="850" b="0" i="0" u="none" strike="noStrike" cap="none">
                <a:solidFill>
                  <a:srgbClr val="3A4256"/>
                </a:solidFill>
                <a:latin typeface="Calibri"/>
                <a:ea typeface="Calibri"/>
                <a:cs typeface="Calibri"/>
                <a:sym typeface="Calibri"/>
              </a:rPr>
              <a:t>▸  Không biết cần </a:t>
            </a:r>
            <a:r>
              <a:rPr lang="en" sz="850">
                <a:solidFill>
                  <a:srgbClr val="3A4256"/>
                </a:solidFill>
                <a:latin typeface="Calibri"/>
                <a:ea typeface="Calibri"/>
                <a:cs typeface="Calibri"/>
                <a:sym typeface="Calibri"/>
              </a:rPr>
              <a:t>duy trì số dư tkc</a:t>
            </a:r>
            <a:r>
              <a:rPr lang="en" sz="850" b="0" i="0" u="none" strike="noStrike" cap="none">
                <a:solidFill>
                  <a:srgbClr val="3A4256"/>
                </a:solidFill>
                <a:latin typeface="Calibri"/>
                <a:ea typeface="Calibri"/>
                <a:cs typeface="Calibri"/>
                <a:sym typeface="Calibri"/>
              </a:rPr>
              <a:t> để nhận đơn, ch</a:t>
            </a:r>
            <a:r>
              <a:rPr lang="en" sz="850">
                <a:solidFill>
                  <a:srgbClr val="3A4256"/>
                </a:solidFill>
                <a:latin typeface="Calibri"/>
                <a:ea typeface="Calibri"/>
                <a:cs typeface="Calibri"/>
                <a:sym typeface="Calibri"/>
              </a:rPr>
              <a:t>ỉ chạy 1 đơn từ khi đăng ký,  chạy song song 2 app</a:t>
            </a:r>
            <a:endParaRPr sz="850">
              <a:solidFill>
                <a:schemeClr val="dk1"/>
              </a:solidFill>
              <a:latin typeface="Calibri"/>
              <a:ea typeface="Calibri"/>
              <a:cs typeface="Calibri"/>
              <a:sym typeface="Calibri"/>
            </a:endParaRPr>
          </a:p>
          <a:p>
            <a:pPr marL="0" marR="0" lvl="0" indent="0" algn="l" rtl="0">
              <a:spcBef>
                <a:spcPts val="0"/>
              </a:spcBef>
              <a:spcAft>
                <a:spcPts val="0"/>
              </a:spcAft>
              <a:buClr>
                <a:srgbClr val="3A4256"/>
              </a:buClr>
              <a:buSzPts val="850"/>
              <a:buFont typeface="Calibri"/>
              <a:buNone/>
            </a:pPr>
            <a:endParaRPr sz="850">
              <a:solidFill>
                <a:srgbClr val="3A4256"/>
              </a:solidFill>
              <a:latin typeface="Calibri"/>
              <a:ea typeface="Calibri"/>
              <a:cs typeface="Calibri"/>
              <a:sym typeface="Calibri"/>
            </a:endParaRPr>
          </a:p>
        </p:txBody>
      </p:sp>
      <p:sp>
        <p:nvSpPr>
          <p:cNvPr id="521" name="Google Shape;521;p53"/>
          <p:cNvSpPr/>
          <p:nvPr/>
        </p:nvSpPr>
        <p:spPr>
          <a:xfrm>
            <a:off x="6163056" y="749808"/>
            <a:ext cx="28164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2044"/>
              </a:buClr>
              <a:buSzPts val="1000"/>
              <a:buFont typeface="Calibri"/>
              <a:buNone/>
            </a:pPr>
            <a:r>
              <a:rPr lang="en" sz="1000" b="1" i="0" u="none" strike="noStrike" cap="none">
                <a:solidFill>
                  <a:srgbClr val="0F2044"/>
                </a:solidFill>
                <a:latin typeface="Calibri"/>
                <a:ea typeface="Calibri"/>
                <a:cs typeface="Calibri"/>
                <a:sym typeface="Calibri"/>
              </a:rPr>
              <a:t>INSIGHT &amp; HƯỚNG XỬ LÝ</a:t>
            </a:r>
            <a:endParaRPr sz="1000" b="0" i="0" u="none" strike="noStrike" cap="none">
              <a:solidFill>
                <a:schemeClr val="dk1"/>
              </a:solidFill>
              <a:latin typeface="Calibri"/>
              <a:ea typeface="Calibri"/>
              <a:cs typeface="Calibri"/>
              <a:sym typeface="Calibri"/>
            </a:endParaRPr>
          </a:p>
        </p:txBody>
      </p:sp>
      <p:sp>
        <p:nvSpPr>
          <p:cNvPr id="522" name="Google Shape;522;p53"/>
          <p:cNvSpPr/>
          <p:nvPr/>
        </p:nvSpPr>
        <p:spPr>
          <a:xfrm>
            <a:off x="6163056" y="1060704"/>
            <a:ext cx="2816400" cy="1353300"/>
          </a:xfrm>
          <a:prstGeom prst="rect">
            <a:avLst/>
          </a:prstGeom>
          <a:solidFill>
            <a:srgbClr val="D6E4F7"/>
          </a:solidFill>
          <a:ln>
            <a:noFill/>
          </a:ln>
          <a:effectLst>
            <a:outerShdw blurRad="127000" dist="38100" dir="87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53"/>
          <p:cNvSpPr/>
          <p:nvPr/>
        </p:nvSpPr>
        <p:spPr>
          <a:xfrm>
            <a:off x="6163056" y="1060704"/>
            <a:ext cx="54900" cy="1353300"/>
          </a:xfrm>
          <a:prstGeom prst="rect">
            <a:avLst/>
          </a:prstGeom>
          <a:solidFill>
            <a:srgbClr val="1B5F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53"/>
          <p:cNvSpPr/>
          <p:nvPr/>
        </p:nvSpPr>
        <p:spPr>
          <a:xfrm>
            <a:off x="6291072" y="1115568"/>
            <a:ext cx="26334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5FA8"/>
              </a:buClr>
              <a:buSzPts val="950"/>
              <a:buFont typeface="Calibri"/>
              <a:buNone/>
            </a:pPr>
            <a:r>
              <a:rPr lang="en" sz="950" b="1" i="0" u="none" strike="noStrike" cap="none">
                <a:solidFill>
                  <a:srgbClr val="1B5FA8"/>
                </a:solidFill>
                <a:latin typeface="Calibri"/>
                <a:ea typeface="Calibri"/>
                <a:cs typeface="Calibri"/>
                <a:sym typeface="Calibri"/>
              </a:rPr>
              <a:t>💡  Đặc điểm cốt lõi</a:t>
            </a:r>
            <a:endParaRPr sz="950" b="0" i="0" u="none" strike="noStrike" cap="none">
              <a:solidFill>
                <a:schemeClr val="dk1"/>
              </a:solidFill>
              <a:latin typeface="Calibri"/>
              <a:ea typeface="Calibri"/>
              <a:cs typeface="Calibri"/>
              <a:sym typeface="Calibri"/>
            </a:endParaRPr>
          </a:p>
        </p:txBody>
      </p:sp>
      <p:sp>
        <p:nvSpPr>
          <p:cNvPr id="525" name="Google Shape;525;p53"/>
          <p:cNvSpPr/>
          <p:nvPr/>
        </p:nvSpPr>
        <p:spPr>
          <a:xfrm>
            <a:off x="6291072" y="1389888"/>
            <a:ext cx="2615100" cy="96930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3A4256"/>
              </a:buClr>
              <a:buSzPts val="880"/>
              <a:buFont typeface="Calibri"/>
              <a:buNone/>
            </a:pPr>
            <a:r>
              <a:rPr lang="en" sz="880">
                <a:solidFill>
                  <a:srgbClr val="3A4256"/>
                </a:solidFill>
                <a:latin typeface="Calibri"/>
                <a:ea typeface="Calibri"/>
                <a:cs typeface="Calibri"/>
                <a:sym typeface="Calibri"/>
              </a:rPr>
              <a:t>NLM SGN phần lớn là nhóm TX &gt;40 tuổi, hoạt động mang tính bổ sung thu nhập nên mức độ duy trì chưa cao. Khi công việc chính ổn định hoặc thu nhập trên app chưa đủ hấp dẫn, tx dễ nản dẫn đến churn.</a:t>
            </a:r>
            <a:endParaRPr sz="880" b="0" i="0" u="none" strike="noStrike" cap="none">
              <a:solidFill>
                <a:schemeClr val="dk1"/>
              </a:solidFill>
              <a:latin typeface="Calibri"/>
              <a:ea typeface="Calibri"/>
              <a:cs typeface="Calibri"/>
              <a:sym typeface="Calibri"/>
            </a:endParaRPr>
          </a:p>
        </p:txBody>
      </p:sp>
      <p:sp>
        <p:nvSpPr>
          <p:cNvPr id="526" name="Google Shape;526;p53"/>
          <p:cNvSpPr/>
          <p:nvPr/>
        </p:nvSpPr>
        <p:spPr>
          <a:xfrm>
            <a:off x="6163050" y="2523759"/>
            <a:ext cx="2816400" cy="2432100"/>
          </a:xfrm>
          <a:prstGeom prst="rect">
            <a:avLst/>
          </a:prstGeom>
          <a:solidFill>
            <a:srgbClr val="DCF5E9"/>
          </a:solidFill>
          <a:ln>
            <a:noFill/>
          </a:ln>
          <a:effectLst>
            <a:outerShdw blurRad="127000" dist="38100" dir="87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53"/>
          <p:cNvSpPr/>
          <p:nvPr/>
        </p:nvSpPr>
        <p:spPr>
          <a:xfrm>
            <a:off x="6163054" y="2523759"/>
            <a:ext cx="54900" cy="2432100"/>
          </a:xfrm>
          <a:prstGeom prst="rect">
            <a:avLst/>
          </a:prstGeom>
          <a:solidFill>
            <a:srgbClr val="0F9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53"/>
          <p:cNvSpPr/>
          <p:nvPr/>
        </p:nvSpPr>
        <p:spPr>
          <a:xfrm>
            <a:off x="6291072" y="2578608"/>
            <a:ext cx="26334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9449"/>
              </a:buClr>
              <a:buSzPts val="950"/>
              <a:buFont typeface="Calibri"/>
              <a:buNone/>
            </a:pPr>
            <a:r>
              <a:rPr lang="en" sz="950" b="1">
                <a:solidFill>
                  <a:srgbClr val="0F9449"/>
                </a:solidFill>
                <a:latin typeface="Calibri"/>
                <a:ea typeface="Calibri"/>
                <a:cs typeface="Calibri"/>
                <a:sym typeface="Calibri"/>
              </a:rPr>
              <a:t> 🎯  Hướng xử lý</a:t>
            </a:r>
            <a:endParaRPr sz="950" b="0" i="0" u="none" strike="noStrike" cap="none">
              <a:solidFill>
                <a:schemeClr val="dk1"/>
              </a:solidFill>
              <a:latin typeface="Calibri"/>
              <a:ea typeface="Calibri"/>
              <a:cs typeface="Calibri"/>
              <a:sym typeface="Calibri"/>
            </a:endParaRPr>
          </a:p>
        </p:txBody>
      </p:sp>
      <p:sp>
        <p:nvSpPr>
          <p:cNvPr id="529" name="Google Shape;529;p53"/>
          <p:cNvSpPr/>
          <p:nvPr/>
        </p:nvSpPr>
        <p:spPr>
          <a:xfrm>
            <a:off x="6291075" y="2852896"/>
            <a:ext cx="2615100" cy="2021100"/>
          </a:xfrm>
          <a:prstGeom prst="rect">
            <a:avLst/>
          </a:prstGeom>
          <a:noFill/>
          <a:ln>
            <a:noFill/>
          </a:ln>
        </p:spPr>
        <p:txBody>
          <a:bodyPr spcFirstLastPara="1" wrap="square" lIns="0" tIns="0" rIns="0" bIns="0" anchor="ctr" anchorCtr="0">
            <a:noAutofit/>
          </a:bodyPr>
          <a:lstStyle/>
          <a:p>
            <a:pPr marL="228600" marR="0" lvl="0" indent="-168275" algn="l" rtl="0">
              <a:spcBef>
                <a:spcPts val="0"/>
              </a:spcBef>
              <a:spcAft>
                <a:spcPts val="0"/>
              </a:spcAft>
              <a:buClr>
                <a:srgbClr val="3A4256"/>
              </a:buClr>
              <a:buSzPts val="850"/>
              <a:buFont typeface="Calibri"/>
              <a:buChar char="➔"/>
            </a:pPr>
            <a:r>
              <a:rPr lang="en" sz="850">
                <a:solidFill>
                  <a:srgbClr val="3A4256"/>
                </a:solidFill>
                <a:latin typeface="Calibri"/>
                <a:ea typeface="Calibri"/>
                <a:cs typeface="Calibri"/>
                <a:sym typeface="Calibri"/>
              </a:rPr>
              <a:t>Call lần 2: Ưu tiên nhóm có khả năng quay lại → Khảo sát nhu cầu khi đăng ký, cố gắng hẹn thời điểm hoạt động theo sát hỗ trợ.</a:t>
            </a:r>
            <a:br>
              <a:rPr lang="en" sz="850">
                <a:solidFill>
                  <a:srgbClr val="3A4256"/>
                </a:solidFill>
                <a:latin typeface="Calibri"/>
                <a:ea typeface="Calibri"/>
                <a:cs typeface="Calibri"/>
                <a:sym typeface="Calibri"/>
              </a:rPr>
            </a:br>
            <a:endParaRPr sz="850">
              <a:solidFill>
                <a:srgbClr val="3A4256"/>
              </a:solidFill>
              <a:latin typeface="Calibri"/>
              <a:ea typeface="Calibri"/>
              <a:cs typeface="Calibri"/>
              <a:sym typeface="Calibri"/>
            </a:endParaRPr>
          </a:p>
          <a:p>
            <a:pPr marL="228600" marR="0" lvl="0" indent="-168275" algn="l" rtl="0">
              <a:spcBef>
                <a:spcPts val="0"/>
              </a:spcBef>
              <a:spcAft>
                <a:spcPts val="0"/>
              </a:spcAft>
              <a:buClr>
                <a:srgbClr val="3A4256"/>
              </a:buClr>
              <a:buSzPts val="850"/>
              <a:buFont typeface="Calibri"/>
              <a:buChar char="➔"/>
            </a:pPr>
            <a:r>
              <a:rPr lang="en" sz="850">
                <a:solidFill>
                  <a:srgbClr val="3A4256"/>
                </a:solidFill>
                <a:latin typeface="Calibri"/>
                <a:ea typeface="Calibri"/>
                <a:cs typeface="Calibri"/>
                <a:sym typeface="Calibri"/>
              </a:rPr>
              <a:t>Tăng động lực: Offer tặng áo thun / áo mưa nếu quay lại chạy trong T8.</a:t>
            </a:r>
            <a:br>
              <a:rPr lang="en" sz="850">
                <a:solidFill>
                  <a:srgbClr val="3A4256"/>
                </a:solidFill>
                <a:latin typeface="Calibri"/>
                <a:ea typeface="Calibri"/>
                <a:cs typeface="Calibri"/>
                <a:sym typeface="Calibri"/>
              </a:rPr>
            </a:br>
            <a:endParaRPr sz="850">
              <a:solidFill>
                <a:srgbClr val="3A4256"/>
              </a:solidFill>
              <a:latin typeface="Calibri"/>
              <a:ea typeface="Calibri"/>
              <a:cs typeface="Calibri"/>
              <a:sym typeface="Calibri"/>
            </a:endParaRPr>
          </a:p>
          <a:p>
            <a:pPr marL="228600" marR="0" lvl="0" indent="-168275" algn="l" rtl="0">
              <a:spcBef>
                <a:spcPts val="0"/>
              </a:spcBef>
              <a:spcAft>
                <a:spcPts val="0"/>
              </a:spcAft>
              <a:buClr>
                <a:srgbClr val="3A4256"/>
              </a:buClr>
              <a:buSzPts val="850"/>
              <a:buFont typeface="Calibri"/>
              <a:buChar char="➔"/>
            </a:pPr>
            <a:r>
              <a:rPr lang="en" sz="850">
                <a:solidFill>
                  <a:srgbClr val="3A4256"/>
                </a:solidFill>
                <a:latin typeface="Calibri"/>
                <a:ea typeface="Calibri"/>
                <a:cs typeface="Calibri"/>
                <a:sym typeface="Calibri"/>
              </a:rPr>
              <a:t>Giải quyết vướng mắc: Hướng dẫn nạp duy trì 50k để nhận đơn và giải đáp thắc mắc.</a:t>
            </a:r>
            <a:br>
              <a:rPr lang="en" sz="850">
                <a:solidFill>
                  <a:srgbClr val="3A4256"/>
                </a:solidFill>
                <a:latin typeface="Calibri"/>
                <a:ea typeface="Calibri"/>
                <a:cs typeface="Calibri"/>
                <a:sym typeface="Calibri"/>
              </a:rPr>
            </a:br>
            <a:endParaRPr sz="850">
              <a:solidFill>
                <a:srgbClr val="3A4256"/>
              </a:solidFill>
              <a:latin typeface="Calibri"/>
              <a:ea typeface="Calibri"/>
              <a:cs typeface="Calibri"/>
              <a:sym typeface="Calibri"/>
            </a:endParaRPr>
          </a:p>
          <a:p>
            <a:pPr marL="228600" marR="0" lvl="0" indent="-168275" algn="l" rtl="0">
              <a:spcBef>
                <a:spcPts val="0"/>
              </a:spcBef>
              <a:spcAft>
                <a:spcPts val="0"/>
              </a:spcAft>
              <a:buClr>
                <a:srgbClr val="3A4256"/>
              </a:buClr>
              <a:buSzPts val="850"/>
              <a:buFont typeface="Calibri"/>
              <a:buChar char="➔"/>
            </a:pPr>
            <a:r>
              <a:rPr lang="en" sz="850">
                <a:solidFill>
                  <a:srgbClr val="3A4256"/>
                </a:solidFill>
                <a:latin typeface="Calibri"/>
                <a:ea typeface="Calibri"/>
                <a:cs typeface="Calibri"/>
                <a:sym typeface="Calibri"/>
              </a:rPr>
              <a:t>Theo dõi nhóm hẹn chạy: Call lại và confirm khả năng quay lại hoạt động.</a:t>
            </a:r>
            <a:br>
              <a:rPr lang="en" sz="850">
                <a:solidFill>
                  <a:srgbClr val="3A4256"/>
                </a:solidFill>
                <a:latin typeface="Calibri"/>
                <a:ea typeface="Calibri"/>
                <a:cs typeface="Calibri"/>
                <a:sym typeface="Calibri"/>
              </a:rPr>
            </a:br>
            <a:endParaRPr sz="850">
              <a:solidFill>
                <a:srgbClr val="3A4256"/>
              </a:solidFill>
              <a:latin typeface="Calibri"/>
              <a:ea typeface="Calibri"/>
              <a:cs typeface="Calibri"/>
              <a:sym typeface="Calibri"/>
            </a:endParaRPr>
          </a:p>
          <a:p>
            <a:pPr marL="228600" marR="0" lvl="0" indent="-168275" algn="l" rtl="0">
              <a:spcBef>
                <a:spcPts val="0"/>
              </a:spcBef>
              <a:spcAft>
                <a:spcPts val="0"/>
              </a:spcAft>
              <a:buClr>
                <a:srgbClr val="3A4256"/>
              </a:buClr>
              <a:buSzPts val="850"/>
              <a:buFont typeface="Calibri"/>
              <a:buChar char="➔"/>
            </a:pPr>
            <a:r>
              <a:rPr lang="en" sz="850">
                <a:solidFill>
                  <a:srgbClr val="3A4256"/>
                </a:solidFill>
                <a:latin typeface="Calibri"/>
                <a:ea typeface="Calibri"/>
                <a:cs typeface="Calibri"/>
                <a:sym typeface="Calibri"/>
              </a:rPr>
              <a:t>Nhắc retention: 60 ngày không hoạt động → khóa app.</a:t>
            </a:r>
            <a:endParaRPr sz="850">
              <a:solidFill>
                <a:srgbClr val="3A4256"/>
              </a:solidFill>
              <a:latin typeface="Calibri"/>
              <a:ea typeface="Calibri"/>
              <a:cs typeface="Calibri"/>
              <a:sym typeface="Calibri"/>
            </a:endParaRPr>
          </a:p>
        </p:txBody>
      </p:sp>
      <p:sp>
        <p:nvSpPr>
          <p:cNvPr id="530" name="Google Shape;530;p53"/>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535"/>
        <p:cNvGrpSpPr/>
        <p:nvPr/>
      </p:nvGrpSpPr>
      <p:grpSpPr>
        <a:xfrm>
          <a:off x="0" y="0"/>
          <a:ext cx="0" cy="0"/>
          <a:chOff x="0" y="0"/>
          <a:chExt cx="0" cy="0"/>
        </a:xfrm>
      </p:grpSpPr>
      <p:sp>
        <p:nvSpPr>
          <p:cNvPr id="536" name="Google Shape;536;p54"/>
          <p:cNvSpPr/>
          <p:nvPr/>
        </p:nvSpPr>
        <p:spPr>
          <a:xfrm>
            <a:off x="411480" y="341465"/>
            <a:ext cx="377100" cy="377100"/>
          </a:xfrm>
          <a:prstGeom prst="roundRect">
            <a:avLst>
              <a:gd name="adj" fmla="val 16667"/>
            </a:avLst>
          </a:prstGeom>
          <a:solidFill>
            <a:srgbClr val="1B8A5A"/>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37" name="Google Shape;537;p54"/>
          <p:cNvSpPr/>
          <p:nvPr/>
        </p:nvSpPr>
        <p:spPr>
          <a:xfrm>
            <a:off x="411480" y="341465"/>
            <a:ext cx="377100" cy="377100"/>
          </a:xfrm>
          <a:prstGeom prst="roundRect">
            <a:avLst>
              <a:gd name="adj" fmla="val 16667"/>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34155"/>
              </a:buClr>
              <a:buSzPts val="1000"/>
              <a:buFont typeface="Helvetica Neue"/>
              <a:buNone/>
            </a:pPr>
            <a:r>
              <a:rPr lang="en" sz="1000" b="1" i="0" u="none" strike="noStrike" cap="none">
                <a:solidFill>
                  <a:srgbClr val="334155"/>
                </a:solidFill>
                <a:latin typeface="Helvetica Neue"/>
                <a:ea typeface="Helvetica Neue"/>
                <a:cs typeface="Helvetica Neue"/>
                <a:sym typeface="Helvetica Neue"/>
              </a:rPr>
              <a:t>DJ</a:t>
            </a:r>
            <a:endParaRPr sz="1000" b="0" i="0" u="none" strike="noStrike" cap="none">
              <a:solidFill>
                <a:schemeClr val="dk1"/>
              </a:solidFill>
              <a:latin typeface="Calibri"/>
              <a:ea typeface="Calibri"/>
              <a:cs typeface="Calibri"/>
              <a:sym typeface="Calibri"/>
            </a:endParaRPr>
          </a:p>
        </p:txBody>
      </p:sp>
      <p:sp>
        <p:nvSpPr>
          <p:cNvPr id="538" name="Google Shape;538;p54"/>
          <p:cNvSpPr/>
          <p:nvPr/>
        </p:nvSpPr>
        <p:spPr>
          <a:xfrm>
            <a:off x="891550" y="341465"/>
            <a:ext cx="6583800" cy="377100"/>
          </a:xfrm>
          <a:prstGeom prst="roundRect">
            <a:avLst>
              <a:gd name="adj" fmla="val 16667"/>
            </a:avLst>
          </a:prstGeom>
          <a:noFill/>
          <a:ln w="9525" cap="flat" cmpd="sng">
            <a:solidFill>
              <a:schemeClr val="lt2"/>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172A"/>
              </a:buClr>
              <a:buSzPts val="1300"/>
              <a:buFont typeface="Helvetica Neue"/>
              <a:buNone/>
            </a:pPr>
            <a:r>
              <a:rPr lang="en" sz="1300" b="1" i="0" u="none" strike="noStrike" cap="none">
                <a:solidFill>
                  <a:srgbClr val="0F172A"/>
                </a:solidFill>
                <a:latin typeface="Helvetica Neue"/>
                <a:ea typeface="Helvetica Neue"/>
                <a:cs typeface="Helvetica Neue"/>
                <a:sym typeface="Helvetica Neue"/>
              </a:rPr>
              <a:t>Driver Journey: M</a:t>
            </a:r>
            <a:r>
              <a:rPr lang="en" sz="1300" b="1">
                <a:solidFill>
                  <a:srgbClr val="0F172A"/>
                </a:solidFill>
                <a:latin typeface="Helvetica Neue"/>
                <a:ea typeface="Helvetica Neue"/>
                <a:cs typeface="Helvetica Neue"/>
                <a:sym typeface="Helvetica Neue"/>
              </a:rPr>
              <a:t>ô hình</a:t>
            </a:r>
            <a:r>
              <a:rPr lang="en" sz="1300" b="1" i="0" u="none" strike="noStrike" cap="none">
                <a:solidFill>
                  <a:srgbClr val="0F172A"/>
                </a:solidFill>
                <a:latin typeface="Helvetica Neue"/>
                <a:ea typeface="Helvetica Neue"/>
                <a:cs typeface="Helvetica Neue"/>
                <a:sym typeface="Helvetica Neue"/>
              </a:rPr>
              <a:t> onboarding theo giai đoạn D0 - D60</a:t>
            </a:r>
            <a:endParaRPr sz="1300" b="1">
              <a:solidFill>
                <a:srgbClr val="0F172A"/>
              </a:solidFill>
              <a:latin typeface="Helvetica Neue"/>
              <a:ea typeface="Helvetica Neue"/>
              <a:cs typeface="Helvetica Neue"/>
              <a:sym typeface="Helvetica Neue"/>
            </a:endParaRPr>
          </a:p>
        </p:txBody>
      </p:sp>
      <p:sp>
        <p:nvSpPr>
          <p:cNvPr id="539" name="Google Shape;539;p54"/>
          <p:cNvSpPr/>
          <p:nvPr/>
        </p:nvSpPr>
        <p:spPr>
          <a:xfrm>
            <a:off x="411480" y="836620"/>
            <a:ext cx="754500" cy="34200"/>
          </a:xfrm>
          <a:prstGeom prst="roundRect">
            <a:avLst>
              <a:gd name="adj" fmla="val 16667"/>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40" name="Google Shape;540;p54"/>
          <p:cNvSpPr/>
          <p:nvPr/>
        </p:nvSpPr>
        <p:spPr>
          <a:xfrm>
            <a:off x="404580" y="788533"/>
            <a:ext cx="2263200" cy="41100"/>
          </a:xfrm>
          <a:prstGeom prst="roundRect">
            <a:avLst>
              <a:gd name="adj" fmla="val 16667"/>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41" name="Google Shape;541;p54"/>
          <p:cNvSpPr/>
          <p:nvPr/>
        </p:nvSpPr>
        <p:spPr>
          <a:xfrm>
            <a:off x="404575" y="829675"/>
            <a:ext cx="2263200" cy="1341900"/>
          </a:xfrm>
          <a:prstGeom prst="roundRect">
            <a:avLst>
              <a:gd name="adj" fmla="val 5617"/>
            </a:avLst>
          </a:prstGeom>
          <a:solidFill>
            <a:srgbClr val="FFFFFF"/>
          </a:solidFill>
          <a:ln w="12700" cap="flat" cmpd="sng">
            <a:solidFill>
              <a:srgbClr val="CBD5E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42" name="Google Shape;542;p54"/>
          <p:cNvSpPr/>
          <p:nvPr/>
        </p:nvSpPr>
        <p:spPr>
          <a:xfrm>
            <a:off x="507450" y="889644"/>
            <a:ext cx="1611600" cy="471300"/>
          </a:xfrm>
          <a:prstGeom prst="roundRect">
            <a:avLst>
              <a:gd name="adj" fmla="val 16667"/>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172A"/>
              </a:buClr>
              <a:buSzPts val="1800"/>
              <a:buFont typeface="Helvetica Neue"/>
              <a:buNone/>
            </a:pPr>
            <a:r>
              <a:rPr lang="en" sz="1800" b="1">
                <a:solidFill>
                  <a:srgbClr val="0F172A"/>
                </a:solidFill>
                <a:latin typeface="Helvetica Neue"/>
                <a:ea typeface="Helvetica Neue"/>
                <a:cs typeface="Helvetica Neue"/>
                <a:sym typeface="Helvetica Neue"/>
              </a:rPr>
              <a:t>5</a:t>
            </a:r>
            <a:r>
              <a:rPr lang="en" sz="1800" b="1" i="0" u="none" strike="noStrike" cap="none">
                <a:solidFill>
                  <a:srgbClr val="0F172A"/>
                </a:solidFill>
                <a:latin typeface="Helvetica Neue"/>
                <a:ea typeface="Helvetica Neue"/>
                <a:cs typeface="Helvetica Neue"/>
                <a:sym typeface="Helvetica Neue"/>
              </a:rPr>
              <a:t> / </a:t>
            </a:r>
            <a:r>
              <a:rPr lang="en" sz="1800" b="1">
                <a:solidFill>
                  <a:srgbClr val="0F172A"/>
                </a:solidFill>
                <a:latin typeface="Helvetica Neue"/>
                <a:ea typeface="Helvetica Neue"/>
                <a:cs typeface="Helvetica Neue"/>
                <a:sym typeface="Helvetica Neue"/>
              </a:rPr>
              <a:t>9</a:t>
            </a:r>
            <a:endParaRPr sz="1800" b="0" i="0" u="none" strike="noStrike" cap="none">
              <a:solidFill>
                <a:schemeClr val="dk1"/>
              </a:solidFill>
              <a:latin typeface="Calibri"/>
              <a:ea typeface="Calibri"/>
              <a:cs typeface="Calibri"/>
              <a:sym typeface="Calibri"/>
            </a:endParaRPr>
          </a:p>
        </p:txBody>
      </p:sp>
      <p:sp>
        <p:nvSpPr>
          <p:cNvPr id="543" name="Google Shape;543;p54"/>
          <p:cNvSpPr/>
          <p:nvPr/>
        </p:nvSpPr>
        <p:spPr>
          <a:xfrm>
            <a:off x="464408" y="1308236"/>
            <a:ext cx="1783200" cy="214500"/>
          </a:xfrm>
          <a:prstGeom prst="roundRect">
            <a:avLst>
              <a:gd name="adj" fmla="val 16667"/>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4155"/>
              </a:buClr>
              <a:buSzPts val="700"/>
              <a:buFont typeface="Helvetica Neue"/>
              <a:buNone/>
            </a:pPr>
            <a:r>
              <a:rPr lang="en" sz="700">
                <a:solidFill>
                  <a:srgbClr val="334155"/>
                </a:solidFill>
                <a:latin typeface="Helvetica Neue"/>
                <a:ea typeface="Helvetica Neue"/>
                <a:cs typeface="Helvetica Neue"/>
                <a:sym typeface="Helvetica Neue"/>
              </a:rPr>
              <a:t>Giai đoạn D0–D8 đang triển khai đúng tiến độ.</a:t>
            </a:r>
            <a:endParaRPr sz="700" b="0" i="0" u="none" strike="noStrike" cap="none">
              <a:solidFill>
                <a:schemeClr val="dk1"/>
              </a:solidFill>
              <a:latin typeface="Calibri"/>
              <a:ea typeface="Calibri"/>
              <a:cs typeface="Calibri"/>
              <a:sym typeface="Calibri"/>
            </a:endParaRPr>
          </a:p>
        </p:txBody>
      </p:sp>
      <p:sp>
        <p:nvSpPr>
          <p:cNvPr id="544" name="Google Shape;544;p54"/>
          <p:cNvSpPr/>
          <p:nvPr/>
        </p:nvSpPr>
        <p:spPr>
          <a:xfrm>
            <a:off x="2290530" y="949614"/>
            <a:ext cx="281100" cy="428400"/>
          </a:xfrm>
          <a:prstGeom prst="roundRect">
            <a:avLst>
              <a:gd name="adj" fmla="val 4878"/>
            </a:avLst>
          </a:prstGeom>
          <a:solidFill>
            <a:srgbClr val="D9631A"/>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45" name="Google Shape;545;p54"/>
          <p:cNvSpPr/>
          <p:nvPr/>
        </p:nvSpPr>
        <p:spPr>
          <a:xfrm>
            <a:off x="2338536" y="1043852"/>
            <a:ext cx="185100" cy="25800"/>
          </a:xfrm>
          <a:prstGeom prst="roundRect">
            <a:avLst>
              <a:gd name="adj" fmla="val 2500"/>
            </a:avLst>
          </a:prstGeom>
          <a:solidFill>
            <a:srgbClr val="FFFFFF"/>
          </a:solidFill>
          <a:ln w="12700" cap="flat" cmpd="sng">
            <a:solidFill>
              <a:srgbClr val="CBD5E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46" name="Google Shape;546;p54"/>
          <p:cNvSpPr/>
          <p:nvPr/>
        </p:nvSpPr>
        <p:spPr>
          <a:xfrm>
            <a:off x="2338536" y="1142373"/>
            <a:ext cx="185100" cy="25800"/>
          </a:xfrm>
          <a:prstGeom prst="roundRect">
            <a:avLst>
              <a:gd name="adj" fmla="val 2500"/>
            </a:avLst>
          </a:prstGeom>
          <a:solidFill>
            <a:srgbClr val="FFFFFF"/>
          </a:solidFill>
          <a:ln w="12700" cap="flat" cmpd="sng">
            <a:solidFill>
              <a:srgbClr val="CBD5E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47" name="Google Shape;547;p54"/>
          <p:cNvSpPr/>
          <p:nvPr/>
        </p:nvSpPr>
        <p:spPr>
          <a:xfrm>
            <a:off x="2338536" y="1240894"/>
            <a:ext cx="185100" cy="25800"/>
          </a:xfrm>
          <a:prstGeom prst="roundRect">
            <a:avLst>
              <a:gd name="adj" fmla="val 2500"/>
            </a:avLst>
          </a:prstGeom>
          <a:solidFill>
            <a:srgbClr val="FFFFFF"/>
          </a:solidFill>
          <a:ln w="12700" cap="flat" cmpd="sng">
            <a:solidFill>
              <a:srgbClr val="CBD5E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48" name="Google Shape;548;p54"/>
          <p:cNvSpPr/>
          <p:nvPr/>
        </p:nvSpPr>
        <p:spPr>
          <a:xfrm>
            <a:off x="404575" y="1609249"/>
            <a:ext cx="2263200" cy="562200"/>
          </a:xfrm>
          <a:prstGeom prst="roundRect">
            <a:avLst>
              <a:gd name="adj" fmla="val 2500"/>
            </a:avLst>
          </a:prstGeom>
          <a:solidFill>
            <a:srgbClr val="FFFFFF"/>
          </a:solidFill>
          <a:ln w="12700" cap="flat" cmpd="sng">
            <a:solidFill>
              <a:srgbClr val="CBD5E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49" name="Google Shape;549;p54"/>
          <p:cNvSpPr/>
          <p:nvPr/>
        </p:nvSpPr>
        <p:spPr>
          <a:xfrm>
            <a:off x="404574" y="1609248"/>
            <a:ext cx="34200" cy="562200"/>
          </a:xfrm>
          <a:prstGeom prst="roundRect">
            <a:avLst>
              <a:gd name="adj" fmla="val 16667"/>
            </a:avLst>
          </a:prstGeom>
          <a:solidFill>
            <a:srgbClr val="1B8A5A"/>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50" name="Google Shape;550;p54"/>
          <p:cNvSpPr/>
          <p:nvPr/>
        </p:nvSpPr>
        <p:spPr>
          <a:xfrm>
            <a:off x="528024" y="1626412"/>
            <a:ext cx="2057400" cy="153900"/>
          </a:xfrm>
          <a:prstGeom prst="roundRect">
            <a:avLst>
              <a:gd name="adj" fmla="val 16667"/>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34155"/>
              </a:buClr>
              <a:buSzPts val="600"/>
              <a:buFont typeface="Helvetica Neue"/>
              <a:buNone/>
            </a:pPr>
            <a:r>
              <a:rPr lang="en" sz="700" b="1" i="0" u="none" strike="noStrike" cap="none">
                <a:solidFill>
                  <a:srgbClr val="334155"/>
                </a:solidFill>
                <a:latin typeface="Helvetica Neue"/>
                <a:ea typeface="Helvetica Neue"/>
                <a:cs typeface="Helvetica Neue"/>
                <a:sym typeface="Helvetica Neue"/>
              </a:rPr>
              <a:t>MỤC TIÊU</a:t>
            </a:r>
            <a:endParaRPr sz="700" b="0" i="0" u="none" strike="noStrike" cap="none">
              <a:solidFill>
                <a:schemeClr val="dk1"/>
              </a:solidFill>
              <a:latin typeface="Calibri"/>
              <a:ea typeface="Calibri"/>
              <a:cs typeface="Calibri"/>
              <a:sym typeface="Calibri"/>
            </a:endParaRPr>
          </a:p>
        </p:txBody>
      </p:sp>
      <p:sp>
        <p:nvSpPr>
          <p:cNvPr id="551" name="Google Shape;551;p54"/>
          <p:cNvSpPr/>
          <p:nvPr/>
        </p:nvSpPr>
        <p:spPr>
          <a:xfrm>
            <a:off x="528025" y="1763474"/>
            <a:ext cx="2057400" cy="291600"/>
          </a:xfrm>
          <a:prstGeom prst="roundRect">
            <a:avLst>
              <a:gd name="adj" fmla="val 16667"/>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8A5A"/>
              </a:buClr>
              <a:buSzPts val="800"/>
              <a:buFont typeface="Helvetica Neue"/>
              <a:buNone/>
            </a:pPr>
            <a:r>
              <a:rPr lang="en" sz="900" b="1" i="0" u="none" strike="noStrike" cap="none">
                <a:solidFill>
                  <a:srgbClr val="1B8A5A"/>
                </a:solidFill>
                <a:latin typeface="Helvetica Neue"/>
                <a:ea typeface="Helvetica Neue"/>
                <a:cs typeface="Helvetica Neue"/>
                <a:sym typeface="Helvetica Neue"/>
              </a:rPr>
              <a:t>Hoàn thành Video training D2-D</a:t>
            </a:r>
            <a:r>
              <a:rPr lang="en" sz="900" b="1">
                <a:solidFill>
                  <a:srgbClr val="1B8A5A"/>
                </a:solidFill>
                <a:latin typeface="Helvetica Neue"/>
                <a:ea typeface="Helvetica Neue"/>
                <a:cs typeface="Helvetica Neue"/>
                <a:sym typeface="Helvetica Neue"/>
              </a:rPr>
              <a:t>5</a:t>
            </a:r>
            <a:r>
              <a:rPr lang="en" sz="900" b="1" i="0" u="none" strike="noStrike" cap="none">
                <a:solidFill>
                  <a:srgbClr val="1B8A5A"/>
                </a:solidFill>
                <a:latin typeface="Helvetica Neue"/>
                <a:ea typeface="Helvetica Neue"/>
                <a:cs typeface="Helvetica Neue"/>
                <a:sym typeface="Helvetica Neue"/>
              </a:rPr>
              <a:t> trong tháng 8</a:t>
            </a:r>
            <a:endParaRPr sz="900" b="0" i="0" u="none" strike="noStrike" cap="none">
              <a:solidFill>
                <a:schemeClr val="dk1"/>
              </a:solidFill>
              <a:latin typeface="Calibri"/>
              <a:ea typeface="Calibri"/>
              <a:cs typeface="Calibri"/>
              <a:sym typeface="Calibri"/>
            </a:endParaRPr>
          </a:p>
        </p:txBody>
      </p:sp>
      <p:sp>
        <p:nvSpPr>
          <p:cNvPr id="552" name="Google Shape;552;p54"/>
          <p:cNvSpPr/>
          <p:nvPr/>
        </p:nvSpPr>
        <p:spPr>
          <a:xfrm>
            <a:off x="404580" y="2171573"/>
            <a:ext cx="2263200" cy="49200"/>
          </a:xfrm>
          <a:prstGeom prst="roundRect">
            <a:avLst>
              <a:gd name="adj" fmla="val 16667"/>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53" name="Google Shape;553;p54"/>
          <p:cNvSpPr/>
          <p:nvPr/>
        </p:nvSpPr>
        <p:spPr>
          <a:xfrm>
            <a:off x="404500" y="2252250"/>
            <a:ext cx="2263200" cy="2496900"/>
          </a:xfrm>
          <a:prstGeom prst="roundRect">
            <a:avLst>
              <a:gd name="adj" fmla="val 2500"/>
            </a:avLst>
          </a:prstGeom>
          <a:solidFill>
            <a:srgbClr val="FFFFFF"/>
          </a:solidFill>
          <a:ln w="12700" cap="flat" cmpd="sng">
            <a:solidFill>
              <a:srgbClr val="CBD5E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F172A"/>
              </a:buClr>
              <a:buSzPts val="800"/>
              <a:buFont typeface="Helvetica Neue"/>
              <a:buNone/>
            </a:pPr>
            <a:endParaRPr sz="900" b="1">
              <a:solidFill>
                <a:srgbClr val="0F172A"/>
              </a:solidFill>
              <a:latin typeface="Helvetica Neue"/>
              <a:ea typeface="Helvetica Neue"/>
              <a:cs typeface="Helvetica Neue"/>
              <a:sym typeface="Helvetica Neue"/>
            </a:endParaRPr>
          </a:p>
        </p:txBody>
      </p:sp>
      <p:sp>
        <p:nvSpPr>
          <p:cNvPr id="554" name="Google Shape;554;p54"/>
          <p:cNvSpPr/>
          <p:nvPr/>
        </p:nvSpPr>
        <p:spPr>
          <a:xfrm>
            <a:off x="541750" y="2326603"/>
            <a:ext cx="1988700" cy="262200"/>
          </a:xfrm>
          <a:prstGeom prst="roundRect">
            <a:avLst>
              <a:gd name="adj" fmla="val 16667"/>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172A"/>
              </a:buClr>
              <a:buSzPts val="800"/>
              <a:buFont typeface="Helvetica Neue"/>
              <a:buNone/>
            </a:pPr>
            <a:r>
              <a:rPr lang="en" sz="900" b="1">
                <a:solidFill>
                  <a:srgbClr val="0F172A"/>
                </a:solidFill>
                <a:latin typeface="Helvetica Neue"/>
                <a:ea typeface="Helvetica Neue"/>
                <a:cs typeface="Helvetica Neue"/>
                <a:sym typeface="Helvetica Neue"/>
              </a:rPr>
              <a:t>TIẾN ĐỘ</a:t>
            </a:r>
            <a:endParaRPr sz="900" b="1">
              <a:solidFill>
                <a:srgbClr val="0F172A"/>
              </a:solidFill>
              <a:latin typeface="Helvetica Neue"/>
              <a:ea typeface="Helvetica Neue"/>
              <a:cs typeface="Helvetica Neue"/>
              <a:sym typeface="Helvetica Neue"/>
            </a:endParaRPr>
          </a:p>
        </p:txBody>
      </p:sp>
      <p:sp>
        <p:nvSpPr>
          <p:cNvPr id="555" name="Google Shape;555;p54"/>
          <p:cNvSpPr/>
          <p:nvPr/>
        </p:nvSpPr>
        <p:spPr>
          <a:xfrm>
            <a:off x="2839170" y="788533"/>
            <a:ext cx="2894100" cy="41100"/>
          </a:xfrm>
          <a:prstGeom prst="roundRect">
            <a:avLst>
              <a:gd name="adj" fmla="val 16667"/>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56" name="Google Shape;556;p54"/>
          <p:cNvSpPr/>
          <p:nvPr/>
        </p:nvSpPr>
        <p:spPr>
          <a:xfrm>
            <a:off x="2839170" y="829675"/>
            <a:ext cx="2894100" cy="1962000"/>
          </a:xfrm>
          <a:prstGeom prst="roundRect">
            <a:avLst>
              <a:gd name="adj" fmla="val 2500"/>
            </a:avLst>
          </a:prstGeom>
          <a:solidFill>
            <a:srgbClr val="FFFFFF"/>
          </a:solidFill>
          <a:ln w="12700" cap="flat" cmpd="sng">
            <a:solidFill>
              <a:srgbClr val="CBD5E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57" name="Google Shape;557;p54"/>
          <p:cNvSpPr/>
          <p:nvPr/>
        </p:nvSpPr>
        <p:spPr>
          <a:xfrm>
            <a:off x="2962614" y="966748"/>
            <a:ext cx="233100" cy="291600"/>
          </a:xfrm>
          <a:prstGeom prst="roundRect">
            <a:avLst>
              <a:gd name="adj" fmla="val 16667"/>
            </a:avLst>
          </a:prstGeom>
          <a:solidFill>
            <a:srgbClr val="6B6B6B"/>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58" name="Google Shape;558;p54"/>
          <p:cNvSpPr/>
          <p:nvPr/>
        </p:nvSpPr>
        <p:spPr>
          <a:xfrm>
            <a:off x="2962614" y="966748"/>
            <a:ext cx="233100" cy="291600"/>
          </a:xfrm>
          <a:prstGeom prst="roundRect">
            <a:avLst>
              <a:gd name="adj" fmla="val 16667"/>
            </a:avLst>
          </a:prstGeom>
          <a:solidFill>
            <a:srgbClr val="1255CC"/>
          </a:solidFill>
          <a:ln>
            <a:noFill/>
          </a:ln>
        </p:spPr>
        <p:txBody>
          <a:bodyPr spcFirstLastPara="1" wrap="square" lIns="0" tIns="0" rIns="0" bIns="0" anchor="ctr" anchorCtr="0">
            <a:noAutofit/>
          </a:bodyPr>
          <a:lstStyle/>
          <a:p>
            <a:pPr marL="0" marR="0" lvl="0" indent="0" algn="ctr" rtl="0">
              <a:spcBef>
                <a:spcPts val="0"/>
              </a:spcBef>
              <a:spcAft>
                <a:spcPts val="0"/>
              </a:spcAft>
              <a:buClr>
                <a:srgbClr val="334155"/>
              </a:buClr>
              <a:buSzPts val="800"/>
              <a:buFont typeface="Helvetica Neue"/>
              <a:buNone/>
            </a:pPr>
            <a:r>
              <a:rPr lang="en" sz="800" b="1" i="0" u="none" strike="noStrike" cap="none">
                <a:solidFill>
                  <a:schemeClr val="lt1"/>
                </a:solidFill>
                <a:latin typeface="Helvetica Neue"/>
                <a:ea typeface="Helvetica Neue"/>
                <a:cs typeface="Helvetica Neue"/>
                <a:sym typeface="Helvetica Neue"/>
              </a:rPr>
              <a:t>1</a:t>
            </a:r>
            <a:endParaRPr sz="800" b="0" i="0" u="none" strike="noStrike" cap="none">
              <a:solidFill>
                <a:schemeClr val="lt1"/>
              </a:solidFill>
              <a:latin typeface="Calibri"/>
              <a:ea typeface="Calibri"/>
              <a:cs typeface="Calibri"/>
              <a:sym typeface="Calibri"/>
            </a:endParaRPr>
          </a:p>
        </p:txBody>
      </p:sp>
      <p:sp>
        <p:nvSpPr>
          <p:cNvPr id="559" name="Google Shape;559;p54"/>
          <p:cNvSpPr/>
          <p:nvPr/>
        </p:nvSpPr>
        <p:spPr>
          <a:xfrm>
            <a:off x="3264367" y="983882"/>
            <a:ext cx="2345400" cy="274500"/>
          </a:xfrm>
          <a:prstGeom prst="roundRect">
            <a:avLst>
              <a:gd name="adj" fmla="val 16667"/>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172A"/>
              </a:buClr>
              <a:buSzPts val="800"/>
              <a:buFont typeface="Helvetica Neue"/>
              <a:buNone/>
            </a:pPr>
            <a:r>
              <a:rPr lang="en" sz="900" b="1">
                <a:solidFill>
                  <a:srgbClr val="0F172A"/>
                </a:solidFill>
                <a:latin typeface="Helvetica Neue"/>
                <a:ea typeface="Helvetica Neue"/>
                <a:cs typeface="Helvetica Neue"/>
                <a:sym typeface="Helvetica Neue"/>
              </a:rPr>
              <a:t>Action</a:t>
            </a:r>
            <a:endParaRPr sz="900" b="0" i="0" u="none" strike="noStrike" cap="none">
              <a:solidFill>
                <a:schemeClr val="dk1"/>
              </a:solidFill>
              <a:latin typeface="Calibri"/>
              <a:ea typeface="Calibri"/>
              <a:cs typeface="Calibri"/>
              <a:sym typeface="Calibri"/>
            </a:endParaRPr>
          </a:p>
        </p:txBody>
      </p:sp>
      <p:sp>
        <p:nvSpPr>
          <p:cNvPr id="560" name="Google Shape;560;p54"/>
          <p:cNvSpPr/>
          <p:nvPr/>
        </p:nvSpPr>
        <p:spPr>
          <a:xfrm>
            <a:off x="2990050" y="1318886"/>
            <a:ext cx="2592300" cy="1356600"/>
          </a:xfrm>
          <a:prstGeom prst="roundRect">
            <a:avLst>
              <a:gd name="adj" fmla="val 16667"/>
            </a:avLst>
          </a:prstGeom>
          <a:noFill/>
          <a:ln>
            <a:noFill/>
          </a:ln>
        </p:spPr>
        <p:txBody>
          <a:bodyPr spcFirstLastPara="1" wrap="square" lIns="0" tIns="0" rIns="0" bIns="0" anchor="t" anchorCtr="0">
            <a:noAutofit/>
          </a:bodyPr>
          <a:lstStyle/>
          <a:p>
            <a:pPr marL="114300" marR="0" lvl="0" indent="-171450" algn="l" rtl="0">
              <a:spcBef>
                <a:spcPts val="0"/>
              </a:spcBef>
              <a:spcAft>
                <a:spcPts val="0"/>
              </a:spcAft>
              <a:buClr>
                <a:srgbClr val="334155"/>
              </a:buClr>
              <a:buSzPts val="900"/>
              <a:buFont typeface="Helvetica Neue"/>
              <a:buChar char="-"/>
            </a:pPr>
            <a:r>
              <a:rPr lang="en" sz="900">
                <a:solidFill>
                  <a:srgbClr val="334155"/>
                </a:solidFill>
                <a:latin typeface="Helvetica Neue"/>
                <a:ea typeface="Helvetica Neue"/>
                <a:cs typeface="Helvetica Neue"/>
                <a:sym typeface="Helvetica Neue"/>
              </a:rPr>
              <a:t>Hoàn thành luồng noti tự động đến đúng nhóm tài xế theo giai đoạn (chạy từ t4 19/8).</a:t>
            </a:r>
            <a:endParaRPr sz="900">
              <a:solidFill>
                <a:srgbClr val="334155"/>
              </a:solidFill>
              <a:latin typeface="Helvetica Neue"/>
              <a:ea typeface="Helvetica Neue"/>
              <a:cs typeface="Helvetica Neue"/>
              <a:sym typeface="Helvetica Neue"/>
            </a:endParaRPr>
          </a:p>
          <a:p>
            <a:pPr marL="114300" marR="0" lvl="0" indent="-171450" algn="l" rtl="0">
              <a:spcBef>
                <a:spcPts val="0"/>
              </a:spcBef>
              <a:spcAft>
                <a:spcPts val="0"/>
              </a:spcAft>
              <a:buClr>
                <a:srgbClr val="334155"/>
              </a:buClr>
              <a:buSzPts val="900"/>
              <a:buFont typeface="Helvetica Neue"/>
              <a:buChar char="-"/>
            </a:pPr>
            <a:r>
              <a:rPr lang="en" sz="900">
                <a:solidFill>
                  <a:srgbClr val="334155"/>
                </a:solidFill>
                <a:latin typeface="Helvetica Neue"/>
                <a:ea typeface="Helvetica Neue"/>
                <a:cs typeface="Helvetica Neue"/>
                <a:sym typeface="Helvetica Neue"/>
              </a:rPr>
              <a:t>Xem danh sách push daily </a:t>
            </a:r>
            <a:r>
              <a:rPr lang="en" sz="900" u="sng">
                <a:solidFill>
                  <a:schemeClr val="hlink"/>
                </a:solidFill>
                <a:latin typeface="Helvetica Neue"/>
                <a:ea typeface="Helvetica Neue"/>
                <a:cs typeface="Helvetica Neue"/>
                <a:sym typeface="Helvetica Neue"/>
                <a:hlinkClick r:id="rId3"/>
              </a:rPr>
              <a:t>LINK</a:t>
            </a:r>
            <a:r>
              <a:rPr lang="en" sz="900">
                <a:solidFill>
                  <a:srgbClr val="334155"/>
                </a:solidFill>
                <a:latin typeface="Helvetica Neue"/>
                <a:ea typeface="Helvetica Neue"/>
                <a:cs typeface="Helvetica Neue"/>
                <a:sym typeface="Helvetica Neue"/>
              </a:rPr>
              <a:t>.</a:t>
            </a:r>
            <a:br>
              <a:rPr lang="en" sz="900">
                <a:solidFill>
                  <a:srgbClr val="334155"/>
                </a:solidFill>
                <a:latin typeface="Helvetica Neue"/>
                <a:ea typeface="Helvetica Neue"/>
                <a:cs typeface="Helvetica Neue"/>
                <a:sym typeface="Helvetica Neue"/>
              </a:rPr>
            </a:br>
            <a:endParaRPr sz="900">
              <a:solidFill>
                <a:srgbClr val="334155"/>
              </a:solidFill>
              <a:latin typeface="Helvetica Neue"/>
              <a:ea typeface="Helvetica Neue"/>
              <a:cs typeface="Helvetica Neue"/>
              <a:sym typeface="Helvetica Neue"/>
            </a:endParaRPr>
          </a:p>
          <a:p>
            <a:pPr marL="114300" marR="0" lvl="0" indent="-171450" algn="l" rtl="0">
              <a:spcBef>
                <a:spcPts val="0"/>
              </a:spcBef>
              <a:spcAft>
                <a:spcPts val="0"/>
              </a:spcAft>
              <a:buClr>
                <a:srgbClr val="334155"/>
              </a:buClr>
              <a:buSzPts val="900"/>
              <a:buFont typeface="Helvetica Neue"/>
              <a:buChar char="-"/>
            </a:pPr>
            <a:r>
              <a:rPr lang="en" sz="900">
                <a:solidFill>
                  <a:srgbClr val="334155"/>
                </a:solidFill>
                <a:latin typeface="Helvetica Neue"/>
                <a:ea typeface="Helvetica Neue"/>
                <a:cs typeface="Helvetica Neue"/>
                <a:sym typeface="Helvetica Neue"/>
              </a:rPr>
              <a:t>Video D2 đang trong giai đoạn điều chỉnh nội dung trình chiếu.</a:t>
            </a:r>
            <a:endParaRPr sz="900">
              <a:solidFill>
                <a:srgbClr val="334155"/>
              </a:solidFill>
              <a:latin typeface="Helvetica Neue"/>
              <a:ea typeface="Helvetica Neue"/>
              <a:cs typeface="Helvetica Neue"/>
              <a:sym typeface="Helvetica Neue"/>
            </a:endParaRPr>
          </a:p>
        </p:txBody>
      </p:sp>
      <p:sp>
        <p:nvSpPr>
          <p:cNvPr id="561" name="Google Shape;561;p54"/>
          <p:cNvSpPr/>
          <p:nvPr/>
        </p:nvSpPr>
        <p:spPr>
          <a:xfrm>
            <a:off x="5842974" y="788533"/>
            <a:ext cx="2894100" cy="41100"/>
          </a:xfrm>
          <a:prstGeom prst="roundRect">
            <a:avLst>
              <a:gd name="adj" fmla="val 16667"/>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62" name="Google Shape;562;p54"/>
          <p:cNvSpPr/>
          <p:nvPr/>
        </p:nvSpPr>
        <p:spPr>
          <a:xfrm>
            <a:off x="5842975" y="829675"/>
            <a:ext cx="2894100" cy="1962000"/>
          </a:xfrm>
          <a:prstGeom prst="roundRect">
            <a:avLst>
              <a:gd name="adj" fmla="val 2500"/>
            </a:avLst>
          </a:prstGeom>
          <a:solidFill>
            <a:srgbClr val="FFFFFF"/>
          </a:solidFill>
          <a:ln w="12700" cap="flat" cmpd="sng">
            <a:solidFill>
              <a:srgbClr val="CBD5E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63" name="Google Shape;563;p54"/>
          <p:cNvSpPr/>
          <p:nvPr/>
        </p:nvSpPr>
        <p:spPr>
          <a:xfrm>
            <a:off x="5966419" y="966748"/>
            <a:ext cx="233100" cy="291600"/>
          </a:xfrm>
          <a:prstGeom prst="roundRect">
            <a:avLst>
              <a:gd name="adj" fmla="val 16667"/>
            </a:avLst>
          </a:prstGeom>
          <a:solidFill>
            <a:srgbClr val="1B8A5A"/>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64" name="Google Shape;564;p54"/>
          <p:cNvSpPr/>
          <p:nvPr/>
        </p:nvSpPr>
        <p:spPr>
          <a:xfrm>
            <a:off x="5966419" y="966748"/>
            <a:ext cx="233100" cy="291600"/>
          </a:xfrm>
          <a:prstGeom prst="roundRect">
            <a:avLst>
              <a:gd name="adj" fmla="val 16667"/>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34155"/>
              </a:buClr>
              <a:buSzPts val="800"/>
              <a:buFont typeface="Helvetica Neue"/>
              <a:buNone/>
            </a:pPr>
            <a:r>
              <a:rPr lang="en" sz="800" b="1" i="0" u="none" strike="noStrike" cap="none">
                <a:solidFill>
                  <a:schemeClr val="lt1"/>
                </a:solidFill>
                <a:latin typeface="Helvetica Neue"/>
                <a:ea typeface="Helvetica Neue"/>
                <a:cs typeface="Helvetica Neue"/>
                <a:sym typeface="Helvetica Neue"/>
              </a:rPr>
              <a:t>!</a:t>
            </a:r>
            <a:endParaRPr sz="800" b="0" i="0" u="none" strike="noStrike" cap="none">
              <a:solidFill>
                <a:schemeClr val="lt1"/>
              </a:solidFill>
              <a:latin typeface="Calibri"/>
              <a:ea typeface="Calibri"/>
              <a:cs typeface="Calibri"/>
              <a:sym typeface="Calibri"/>
            </a:endParaRPr>
          </a:p>
        </p:txBody>
      </p:sp>
      <p:sp>
        <p:nvSpPr>
          <p:cNvPr id="565" name="Google Shape;565;p54"/>
          <p:cNvSpPr/>
          <p:nvPr/>
        </p:nvSpPr>
        <p:spPr>
          <a:xfrm>
            <a:off x="6268171" y="983882"/>
            <a:ext cx="2345400" cy="274500"/>
          </a:xfrm>
          <a:prstGeom prst="roundRect">
            <a:avLst>
              <a:gd name="adj" fmla="val 16667"/>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C2626"/>
              </a:buClr>
              <a:buSzPts val="800"/>
              <a:buFont typeface="Helvetica Neue"/>
              <a:buNone/>
            </a:pPr>
            <a:r>
              <a:rPr lang="en" sz="900" b="1" u="sng">
                <a:solidFill>
                  <a:schemeClr val="hlink"/>
                </a:solidFill>
                <a:latin typeface="Helvetica Neue"/>
                <a:ea typeface="Helvetica Neue"/>
                <a:cs typeface="Helvetica Neue"/>
                <a:sym typeface="Helvetica Neue"/>
                <a:hlinkClick r:id="rId4"/>
              </a:rPr>
              <a:t>Khảo sát nhanh</a:t>
            </a:r>
            <a:endParaRPr sz="900" b="0" i="0" u="none" strike="noStrike" cap="none">
              <a:solidFill>
                <a:schemeClr val="dk1"/>
              </a:solidFill>
              <a:latin typeface="Calibri"/>
              <a:ea typeface="Calibri"/>
              <a:cs typeface="Calibri"/>
              <a:sym typeface="Calibri"/>
            </a:endParaRPr>
          </a:p>
        </p:txBody>
      </p:sp>
      <p:sp>
        <p:nvSpPr>
          <p:cNvPr id="566" name="Google Shape;566;p54"/>
          <p:cNvSpPr/>
          <p:nvPr/>
        </p:nvSpPr>
        <p:spPr>
          <a:xfrm>
            <a:off x="5993850" y="1295800"/>
            <a:ext cx="2736300" cy="1341900"/>
          </a:xfrm>
          <a:prstGeom prst="roundRect">
            <a:avLst>
              <a:gd name="adj" fmla="val 16667"/>
            </a:avLst>
          </a:prstGeom>
          <a:noFill/>
          <a:ln>
            <a:noFill/>
          </a:ln>
        </p:spPr>
        <p:txBody>
          <a:bodyPr spcFirstLastPara="1" wrap="square" lIns="0" tIns="0" rIns="0" bIns="0" anchor="t" anchorCtr="0">
            <a:noAutofit/>
          </a:bodyPr>
          <a:lstStyle/>
          <a:p>
            <a:pPr marL="0" marR="0" lvl="0" indent="-171450" algn="l" rtl="0">
              <a:spcBef>
                <a:spcPts val="0"/>
              </a:spcBef>
              <a:spcAft>
                <a:spcPts val="0"/>
              </a:spcAft>
              <a:buClr>
                <a:srgbClr val="334155"/>
              </a:buClr>
              <a:buSzPts val="900"/>
              <a:buFont typeface="Helvetica Neue"/>
              <a:buChar char="-"/>
            </a:pPr>
            <a:r>
              <a:rPr lang="en" sz="900">
                <a:solidFill>
                  <a:srgbClr val="334155"/>
                </a:solidFill>
                <a:latin typeface="Helvetica Neue"/>
                <a:ea typeface="Helvetica Neue"/>
                <a:cs typeface="Helvetica Neue"/>
                <a:sym typeface="Helvetica Neue"/>
              </a:rPr>
              <a:t>Tiếp cận: </a:t>
            </a:r>
            <a:endParaRPr sz="900">
              <a:solidFill>
                <a:srgbClr val="334155"/>
              </a:solidFill>
              <a:latin typeface="Helvetica Neue"/>
              <a:ea typeface="Helvetica Neue"/>
              <a:cs typeface="Helvetica Neue"/>
              <a:sym typeface="Helvetica Neue"/>
            </a:endParaRPr>
          </a:p>
          <a:p>
            <a:pPr marL="0" marR="0" lvl="0" indent="-171450" algn="l" rtl="0">
              <a:spcBef>
                <a:spcPts val="0"/>
              </a:spcBef>
              <a:spcAft>
                <a:spcPts val="0"/>
              </a:spcAft>
              <a:buClr>
                <a:srgbClr val="334155"/>
              </a:buClr>
              <a:buSzPts val="900"/>
              <a:buFont typeface="Helvetica Neue"/>
              <a:buChar char="-"/>
            </a:pPr>
            <a:r>
              <a:rPr lang="en" sz="900">
                <a:solidFill>
                  <a:srgbClr val="334155"/>
                </a:solidFill>
                <a:latin typeface="Helvetica Neue"/>
                <a:ea typeface="Helvetica Neue"/>
                <a:cs typeface="Helvetica Neue"/>
                <a:sym typeface="Helvetica Neue"/>
              </a:rPr>
              <a:t>Insight: </a:t>
            </a:r>
            <a:endParaRPr sz="900">
              <a:solidFill>
                <a:srgbClr val="334155"/>
              </a:solidFill>
              <a:latin typeface="Helvetica Neue"/>
              <a:ea typeface="Helvetica Neue"/>
              <a:cs typeface="Helvetica Neue"/>
              <a:sym typeface="Helvetica Neue"/>
            </a:endParaRPr>
          </a:p>
        </p:txBody>
      </p:sp>
      <p:sp>
        <p:nvSpPr>
          <p:cNvPr id="567" name="Google Shape;567;p54"/>
          <p:cNvSpPr/>
          <p:nvPr/>
        </p:nvSpPr>
        <p:spPr>
          <a:xfrm>
            <a:off x="2839170" y="2826157"/>
            <a:ext cx="2894100" cy="49200"/>
          </a:xfrm>
          <a:prstGeom prst="roundRect">
            <a:avLst>
              <a:gd name="adj" fmla="val 16667"/>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68" name="Google Shape;568;p54"/>
          <p:cNvSpPr/>
          <p:nvPr/>
        </p:nvSpPr>
        <p:spPr>
          <a:xfrm>
            <a:off x="2839170" y="2875251"/>
            <a:ext cx="2894100" cy="1873800"/>
          </a:xfrm>
          <a:prstGeom prst="roundRect">
            <a:avLst>
              <a:gd name="adj" fmla="val 2500"/>
            </a:avLst>
          </a:prstGeom>
          <a:solidFill>
            <a:srgbClr val="FFFFFF"/>
          </a:solidFill>
          <a:ln w="12700" cap="flat" cmpd="sng">
            <a:solidFill>
              <a:srgbClr val="CBD5E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69" name="Google Shape;569;p54"/>
          <p:cNvSpPr/>
          <p:nvPr/>
        </p:nvSpPr>
        <p:spPr>
          <a:xfrm>
            <a:off x="2962614" y="3006168"/>
            <a:ext cx="233100" cy="278400"/>
          </a:xfrm>
          <a:prstGeom prst="roundRect">
            <a:avLst>
              <a:gd name="adj" fmla="val 16667"/>
            </a:avLst>
          </a:prstGeom>
          <a:solidFill>
            <a:srgbClr val="FF7F3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70" name="Google Shape;570;p54"/>
          <p:cNvSpPr/>
          <p:nvPr/>
        </p:nvSpPr>
        <p:spPr>
          <a:xfrm>
            <a:off x="2962614" y="3006168"/>
            <a:ext cx="233100" cy="278400"/>
          </a:xfrm>
          <a:prstGeom prst="roundRect">
            <a:avLst>
              <a:gd name="adj" fmla="val 16667"/>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34155"/>
              </a:buClr>
              <a:buSzPts val="800"/>
              <a:buFont typeface="Helvetica Neue"/>
              <a:buNone/>
            </a:pPr>
            <a:r>
              <a:rPr lang="en" sz="800" b="1" i="0" u="none" strike="noStrike" cap="none">
                <a:solidFill>
                  <a:srgbClr val="334155"/>
                </a:solidFill>
                <a:latin typeface="Helvetica Neue"/>
                <a:ea typeface="Helvetica Neue"/>
                <a:cs typeface="Helvetica Neue"/>
                <a:sym typeface="Helvetica Neue"/>
              </a:rPr>
              <a:t>→</a:t>
            </a:r>
            <a:endParaRPr sz="800" b="0" i="0" u="none" strike="noStrike" cap="none">
              <a:solidFill>
                <a:schemeClr val="dk1"/>
              </a:solidFill>
              <a:latin typeface="Calibri"/>
              <a:ea typeface="Calibri"/>
              <a:cs typeface="Calibri"/>
              <a:sym typeface="Calibri"/>
            </a:endParaRPr>
          </a:p>
        </p:txBody>
      </p:sp>
      <p:sp>
        <p:nvSpPr>
          <p:cNvPr id="571" name="Google Shape;571;p54"/>
          <p:cNvSpPr/>
          <p:nvPr/>
        </p:nvSpPr>
        <p:spPr>
          <a:xfrm>
            <a:off x="3264366" y="3022532"/>
            <a:ext cx="2345400" cy="262200"/>
          </a:xfrm>
          <a:prstGeom prst="roundRect">
            <a:avLst>
              <a:gd name="adj" fmla="val 16667"/>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172A"/>
              </a:buClr>
              <a:buSzPts val="800"/>
              <a:buFont typeface="Helvetica Neue"/>
              <a:buNone/>
            </a:pPr>
            <a:r>
              <a:rPr lang="en" sz="900" b="1" i="0" u="none" strike="noStrike" cap="none">
                <a:solidFill>
                  <a:srgbClr val="0F172A"/>
                </a:solidFill>
                <a:latin typeface="Helvetica Neue"/>
                <a:ea typeface="Helvetica Neue"/>
                <a:cs typeface="Helvetica Neue"/>
                <a:sym typeface="Helvetica Neue"/>
              </a:rPr>
              <a:t>BƯỚC TIẾP THEO</a:t>
            </a:r>
            <a:endParaRPr sz="900" b="0" i="0" u="none" strike="noStrike" cap="none">
              <a:solidFill>
                <a:schemeClr val="dk1"/>
              </a:solidFill>
              <a:latin typeface="Calibri"/>
              <a:ea typeface="Calibri"/>
              <a:cs typeface="Calibri"/>
              <a:sym typeface="Calibri"/>
            </a:endParaRPr>
          </a:p>
        </p:txBody>
      </p:sp>
      <p:sp>
        <p:nvSpPr>
          <p:cNvPr id="572" name="Google Shape;572;p54"/>
          <p:cNvSpPr/>
          <p:nvPr/>
        </p:nvSpPr>
        <p:spPr>
          <a:xfrm>
            <a:off x="2990046" y="3415283"/>
            <a:ext cx="2592300" cy="1186800"/>
          </a:xfrm>
          <a:prstGeom prst="roundRect">
            <a:avLst>
              <a:gd name="adj" fmla="val 16667"/>
            </a:avLst>
          </a:prstGeom>
          <a:noFill/>
          <a:ln>
            <a:noFill/>
          </a:ln>
        </p:spPr>
        <p:txBody>
          <a:bodyPr spcFirstLastPara="1" wrap="square" lIns="0" tIns="0" rIns="0" bIns="0" anchor="t" anchorCtr="0">
            <a:noAutofit/>
          </a:bodyPr>
          <a:lstStyle/>
          <a:p>
            <a:pPr marL="114300" marR="0" lvl="0" indent="-171450" algn="l" rtl="0">
              <a:spcBef>
                <a:spcPts val="0"/>
              </a:spcBef>
              <a:spcAft>
                <a:spcPts val="0"/>
              </a:spcAft>
              <a:buClr>
                <a:srgbClr val="334155"/>
              </a:buClr>
              <a:buSzPts val="900"/>
              <a:buFont typeface="Helvetica Neue"/>
              <a:buChar char="-"/>
            </a:pPr>
            <a:r>
              <a:rPr lang="en" sz="900">
                <a:solidFill>
                  <a:srgbClr val="334155"/>
                </a:solidFill>
                <a:latin typeface="Helvetica Neue"/>
                <a:ea typeface="Helvetica Neue"/>
                <a:cs typeface="Helvetica Neue"/>
                <a:sym typeface="Helvetica Neue"/>
              </a:rPr>
              <a:t>Tiếp tục hoàn thiện nội dung training.</a:t>
            </a:r>
            <a:endParaRPr sz="900">
              <a:solidFill>
                <a:srgbClr val="334155"/>
              </a:solidFill>
              <a:latin typeface="Helvetica Neue"/>
              <a:ea typeface="Helvetica Neue"/>
              <a:cs typeface="Helvetica Neue"/>
              <a:sym typeface="Helvetica Neue"/>
            </a:endParaRPr>
          </a:p>
          <a:p>
            <a:pPr marL="114300" marR="0" lvl="0" indent="-114300" algn="l" rtl="0">
              <a:spcBef>
                <a:spcPts val="0"/>
              </a:spcBef>
              <a:spcAft>
                <a:spcPts val="0"/>
              </a:spcAft>
              <a:buClr>
                <a:srgbClr val="334155"/>
              </a:buClr>
              <a:buSzPts val="800"/>
              <a:buFont typeface="Helvetica Neue"/>
              <a:buNone/>
            </a:pPr>
            <a:endParaRPr sz="900">
              <a:solidFill>
                <a:srgbClr val="334155"/>
              </a:solidFill>
              <a:latin typeface="Helvetica Neue"/>
              <a:ea typeface="Helvetica Neue"/>
              <a:cs typeface="Helvetica Neue"/>
              <a:sym typeface="Helvetica Neue"/>
            </a:endParaRPr>
          </a:p>
          <a:p>
            <a:pPr marL="114300" marR="0" lvl="0" indent="-171450" algn="l" rtl="0">
              <a:spcBef>
                <a:spcPts val="0"/>
              </a:spcBef>
              <a:spcAft>
                <a:spcPts val="0"/>
              </a:spcAft>
              <a:buClr>
                <a:srgbClr val="334155"/>
              </a:buClr>
              <a:buSzPts val="900"/>
              <a:buFont typeface="Helvetica Neue"/>
              <a:buChar char="-"/>
            </a:pPr>
            <a:r>
              <a:rPr lang="en" sz="900">
                <a:solidFill>
                  <a:srgbClr val="334155"/>
                </a:solidFill>
                <a:latin typeface="Helvetica Neue"/>
                <a:ea typeface="Helvetica Neue"/>
                <a:cs typeface="Helvetica Neue"/>
                <a:sym typeface="Helvetica Neue"/>
              </a:rPr>
              <a:t>Hoàn tất feedback và chốt video D2.</a:t>
            </a:r>
            <a:endParaRPr sz="900">
              <a:solidFill>
                <a:srgbClr val="334155"/>
              </a:solidFill>
              <a:latin typeface="Helvetica Neue"/>
              <a:ea typeface="Helvetica Neue"/>
              <a:cs typeface="Helvetica Neue"/>
              <a:sym typeface="Helvetica Neue"/>
            </a:endParaRPr>
          </a:p>
          <a:p>
            <a:pPr marL="114300" marR="0" lvl="0" indent="-114300" algn="l" rtl="0">
              <a:spcBef>
                <a:spcPts val="0"/>
              </a:spcBef>
              <a:spcAft>
                <a:spcPts val="0"/>
              </a:spcAft>
              <a:buClr>
                <a:srgbClr val="334155"/>
              </a:buClr>
              <a:buSzPts val="800"/>
              <a:buFont typeface="Helvetica Neue"/>
              <a:buNone/>
            </a:pPr>
            <a:endParaRPr sz="900">
              <a:solidFill>
                <a:srgbClr val="334155"/>
              </a:solidFill>
              <a:latin typeface="Helvetica Neue"/>
              <a:ea typeface="Helvetica Neue"/>
              <a:cs typeface="Helvetica Neue"/>
              <a:sym typeface="Helvetica Neue"/>
            </a:endParaRPr>
          </a:p>
          <a:p>
            <a:pPr marL="114300" marR="0" lvl="0" indent="-171450" algn="l" rtl="0">
              <a:spcBef>
                <a:spcPts val="0"/>
              </a:spcBef>
              <a:spcAft>
                <a:spcPts val="0"/>
              </a:spcAft>
              <a:buClr>
                <a:srgbClr val="334155"/>
              </a:buClr>
              <a:buSzPts val="900"/>
              <a:buFont typeface="Helvetica Neue"/>
              <a:buChar char="-"/>
            </a:pPr>
            <a:r>
              <a:rPr lang="en" sz="900">
                <a:solidFill>
                  <a:srgbClr val="334155"/>
                </a:solidFill>
                <a:latin typeface="Helvetica Neue"/>
                <a:ea typeface="Helvetica Neue"/>
                <a:cs typeface="Helvetica Neue"/>
                <a:sym typeface="Helvetica Neue"/>
              </a:rPr>
              <a:t>Xây dựng kịch bản D5.</a:t>
            </a:r>
            <a:br>
              <a:rPr lang="en" sz="900">
                <a:solidFill>
                  <a:srgbClr val="334155"/>
                </a:solidFill>
                <a:latin typeface="Helvetica Neue"/>
                <a:ea typeface="Helvetica Neue"/>
                <a:cs typeface="Helvetica Neue"/>
                <a:sym typeface="Helvetica Neue"/>
              </a:rPr>
            </a:br>
            <a:endParaRPr sz="900">
              <a:solidFill>
                <a:srgbClr val="334155"/>
              </a:solidFill>
              <a:latin typeface="Helvetica Neue"/>
              <a:ea typeface="Helvetica Neue"/>
              <a:cs typeface="Helvetica Neue"/>
              <a:sym typeface="Helvetica Neue"/>
            </a:endParaRPr>
          </a:p>
          <a:p>
            <a:pPr marL="114300" marR="0" lvl="0" indent="-171450" algn="l" rtl="0">
              <a:spcBef>
                <a:spcPts val="0"/>
              </a:spcBef>
              <a:spcAft>
                <a:spcPts val="0"/>
              </a:spcAft>
              <a:buClr>
                <a:srgbClr val="334155"/>
              </a:buClr>
              <a:buSzPts val="900"/>
              <a:buFont typeface="Helvetica Neue"/>
              <a:buChar char="-"/>
            </a:pPr>
            <a:r>
              <a:rPr lang="en" sz="900">
                <a:solidFill>
                  <a:srgbClr val="334155"/>
                </a:solidFill>
                <a:latin typeface="Helvetica Neue"/>
                <a:ea typeface="Helvetica Neue"/>
                <a:cs typeface="Helvetica Neue"/>
                <a:sym typeface="Helvetica Neue"/>
              </a:rPr>
              <a:t>Follow hoạt động của luồng noti duy trì ổn định.</a:t>
            </a:r>
            <a:endParaRPr sz="900">
              <a:solidFill>
                <a:srgbClr val="334155"/>
              </a:solidFill>
              <a:latin typeface="Helvetica Neue"/>
              <a:ea typeface="Helvetica Neue"/>
              <a:cs typeface="Helvetica Neue"/>
              <a:sym typeface="Helvetica Neue"/>
            </a:endParaRPr>
          </a:p>
        </p:txBody>
      </p:sp>
      <p:sp>
        <p:nvSpPr>
          <p:cNvPr id="573" name="Google Shape;573;p54"/>
          <p:cNvSpPr/>
          <p:nvPr/>
        </p:nvSpPr>
        <p:spPr>
          <a:xfrm>
            <a:off x="5842975" y="2826157"/>
            <a:ext cx="2894100" cy="49200"/>
          </a:xfrm>
          <a:prstGeom prst="roundRect">
            <a:avLst>
              <a:gd name="adj" fmla="val 16667"/>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74" name="Google Shape;574;p54"/>
          <p:cNvSpPr/>
          <p:nvPr/>
        </p:nvSpPr>
        <p:spPr>
          <a:xfrm>
            <a:off x="5842975" y="2875251"/>
            <a:ext cx="2894100" cy="1873800"/>
          </a:xfrm>
          <a:prstGeom prst="roundRect">
            <a:avLst>
              <a:gd name="adj" fmla="val 2500"/>
            </a:avLst>
          </a:prstGeom>
          <a:solidFill>
            <a:srgbClr val="FFFFFF"/>
          </a:solidFill>
          <a:ln w="12700" cap="flat" cmpd="sng">
            <a:solidFill>
              <a:srgbClr val="CBD5E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75" name="Google Shape;575;p54"/>
          <p:cNvSpPr/>
          <p:nvPr/>
        </p:nvSpPr>
        <p:spPr>
          <a:xfrm>
            <a:off x="5966419" y="3006168"/>
            <a:ext cx="233100" cy="278400"/>
          </a:xfrm>
          <a:prstGeom prst="roundRect">
            <a:avLst>
              <a:gd name="adj" fmla="val 2500"/>
            </a:avLst>
          </a:prstGeom>
          <a:solidFill>
            <a:srgbClr val="FFFFFF"/>
          </a:solidFill>
          <a:ln w="12700" cap="flat" cmpd="sng">
            <a:solidFill>
              <a:srgbClr val="CBD5E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76" name="Google Shape;576;p54"/>
          <p:cNvSpPr/>
          <p:nvPr/>
        </p:nvSpPr>
        <p:spPr>
          <a:xfrm>
            <a:off x="5966419" y="3006168"/>
            <a:ext cx="233100" cy="278400"/>
          </a:xfrm>
          <a:prstGeom prst="roundRect">
            <a:avLst>
              <a:gd name="adj" fmla="val 16667"/>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34155"/>
              </a:buClr>
              <a:buSzPts val="800"/>
              <a:buFont typeface="Helvetica Neue"/>
              <a:buNone/>
            </a:pPr>
            <a:r>
              <a:rPr lang="en" sz="800" b="1" i="0" u="none" strike="noStrike" cap="none">
                <a:solidFill>
                  <a:srgbClr val="334155"/>
                </a:solidFill>
                <a:latin typeface="Helvetica Neue"/>
                <a:ea typeface="Helvetica Neue"/>
                <a:cs typeface="Helvetica Neue"/>
                <a:sym typeface="Helvetica Neue"/>
              </a:rPr>
              <a:t>◆</a:t>
            </a:r>
            <a:endParaRPr sz="800" b="0" i="0" u="none" strike="noStrike" cap="none">
              <a:solidFill>
                <a:schemeClr val="dk1"/>
              </a:solidFill>
              <a:latin typeface="Calibri"/>
              <a:ea typeface="Calibri"/>
              <a:cs typeface="Calibri"/>
              <a:sym typeface="Calibri"/>
            </a:endParaRPr>
          </a:p>
        </p:txBody>
      </p:sp>
      <p:sp>
        <p:nvSpPr>
          <p:cNvPr id="577" name="Google Shape;577;p54"/>
          <p:cNvSpPr/>
          <p:nvPr/>
        </p:nvSpPr>
        <p:spPr>
          <a:xfrm>
            <a:off x="6268171" y="3022532"/>
            <a:ext cx="2345400" cy="262200"/>
          </a:xfrm>
          <a:prstGeom prst="roundRect">
            <a:avLst>
              <a:gd name="adj" fmla="val 16667"/>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172A"/>
              </a:buClr>
              <a:buSzPts val="800"/>
              <a:buFont typeface="Helvetica Neue"/>
              <a:buNone/>
            </a:pPr>
            <a:r>
              <a:rPr lang="en" sz="900" b="1" i="0" u="none" strike="noStrike" cap="none">
                <a:solidFill>
                  <a:srgbClr val="0F172A"/>
                </a:solidFill>
                <a:latin typeface="Helvetica Neue"/>
                <a:ea typeface="Helvetica Neue"/>
                <a:cs typeface="Helvetica Neue"/>
                <a:sym typeface="Helvetica Neue"/>
              </a:rPr>
              <a:t>CẦN SUPPORT TỪ</a:t>
            </a:r>
            <a:endParaRPr sz="900" b="0" i="0" u="none" strike="noStrike" cap="none">
              <a:solidFill>
                <a:schemeClr val="dk1"/>
              </a:solidFill>
              <a:latin typeface="Calibri"/>
              <a:ea typeface="Calibri"/>
              <a:cs typeface="Calibri"/>
              <a:sym typeface="Calibri"/>
            </a:endParaRPr>
          </a:p>
        </p:txBody>
      </p:sp>
      <p:sp>
        <p:nvSpPr>
          <p:cNvPr id="578" name="Google Shape;578;p54"/>
          <p:cNvSpPr/>
          <p:nvPr/>
        </p:nvSpPr>
        <p:spPr>
          <a:xfrm>
            <a:off x="5993851" y="3415283"/>
            <a:ext cx="2592300" cy="1186800"/>
          </a:xfrm>
          <a:prstGeom prst="roundRect">
            <a:avLst>
              <a:gd name="adj" fmla="val 16667"/>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4155"/>
              </a:buClr>
              <a:buSzPts val="800"/>
              <a:buFont typeface="Helvetica Neue"/>
              <a:buNone/>
            </a:pPr>
            <a:endParaRPr sz="900">
              <a:solidFill>
                <a:srgbClr val="334155"/>
              </a:solidFill>
              <a:latin typeface="Helvetica Neue"/>
              <a:ea typeface="Helvetica Neue"/>
              <a:cs typeface="Helvetica Neue"/>
              <a:sym typeface="Helvetica Neue"/>
            </a:endParaRPr>
          </a:p>
        </p:txBody>
      </p:sp>
      <p:cxnSp>
        <p:nvCxnSpPr>
          <p:cNvPr id="579" name="Google Shape;579;p54"/>
          <p:cNvCxnSpPr/>
          <p:nvPr/>
        </p:nvCxnSpPr>
        <p:spPr>
          <a:xfrm>
            <a:off x="411480" y="4882896"/>
            <a:ext cx="8318700" cy="0"/>
          </a:xfrm>
          <a:prstGeom prst="straightConnector1">
            <a:avLst/>
          </a:prstGeom>
          <a:noFill/>
          <a:ln w="15875" cap="flat" cmpd="sng">
            <a:solidFill>
              <a:srgbClr val="FF7F32"/>
            </a:solidFill>
            <a:prstDash val="solid"/>
            <a:round/>
            <a:headEnd type="none" w="sm" len="sm"/>
            <a:tailEnd type="none" w="sm" len="sm"/>
          </a:ln>
        </p:spPr>
      </p:cxnSp>
      <p:sp>
        <p:nvSpPr>
          <p:cNvPr id="580" name="Google Shape;580;p54"/>
          <p:cNvSpPr/>
          <p:nvPr/>
        </p:nvSpPr>
        <p:spPr>
          <a:xfrm>
            <a:off x="5829300" y="55301"/>
            <a:ext cx="2901000" cy="150900"/>
          </a:xfrm>
          <a:prstGeom prst="roundRect">
            <a:avLst>
              <a:gd name="adj" fmla="val 16667"/>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64748B"/>
              </a:buClr>
              <a:buSzPts val="700"/>
              <a:buFont typeface="Helvetica Neue"/>
              <a:buNone/>
            </a:pPr>
            <a:r>
              <a:rPr lang="en" sz="700" i="1">
                <a:solidFill>
                  <a:srgbClr val="64748B"/>
                </a:solidFill>
                <a:latin typeface="Helvetica Neue"/>
                <a:ea typeface="Helvetica Neue"/>
                <a:cs typeface="Helvetica Neue"/>
                <a:sym typeface="Helvetica Neue"/>
              </a:rPr>
              <a:t>Ahamove  ·  Driver Management  ·  Weekly Report</a:t>
            </a:r>
            <a:endParaRPr sz="600" b="0" i="0" u="none" strike="noStrike" cap="none">
              <a:solidFill>
                <a:schemeClr val="dk1"/>
              </a:solidFill>
              <a:latin typeface="Calibri"/>
              <a:ea typeface="Calibri"/>
              <a:cs typeface="Calibri"/>
              <a:sym typeface="Calibri"/>
            </a:endParaRPr>
          </a:p>
        </p:txBody>
      </p:sp>
      <p:sp>
        <p:nvSpPr>
          <p:cNvPr id="581" name="Google Shape;581;p54"/>
          <p:cNvSpPr/>
          <p:nvPr/>
        </p:nvSpPr>
        <p:spPr>
          <a:xfrm>
            <a:off x="425125" y="2590275"/>
            <a:ext cx="2263200" cy="1873800"/>
          </a:xfrm>
          <a:prstGeom prst="roundRect">
            <a:avLst>
              <a:gd name="adj" fmla="val 16667"/>
            </a:avLst>
          </a:prstGeom>
          <a:noFill/>
          <a:ln>
            <a:noFill/>
          </a:ln>
        </p:spPr>
        <p:txBody>
          <a:bodyPr spcFirstLastPara="1" wrap="square" lIns="0" tIns="0" rIns="0" bIns="0" anchor="t" anchorCtr="0">
            <a:noAutofit/>
          </a:bodyPr>
          <a:lstStyle/>
          <a:p>
            <a:pPr marL="171450" marR="0" lvl="0" indent="-171450" algn="l" rtl="0">
              <a:lnSpc>
                <a:spcPct val="100000"/>
              </a:lnSpc>
              <a:spcBef>
                <a:spcPts val="0"/>
              </a:spcBef>
              <a:spcAft>
                <a:spcPts val="0"/>
              </a:spcAft>
              <a:buSzPts val="900"/>
              <a:buFont typeface="Helvetica Neue"/>
              <a:buChar char="●"/>
            </a:pPr>
            <a:r>
              <a:rPr lang="en" sz="900">
                <a:solidFill>
                  <a:srgbClr val="334155"/>
                </a:solidFill>
                <a:latin typeface="Helvetica Neue"/>
                <a:ea typeface="Helvetica Neue"/>
                <a:cs typeface="Helvetica Neue"/>
                <a:sym typeface="Helvetica Neue"/>
              </a:rPr>
              <a:t>D0: Hướng dẫn xem số tiền cần thu ứng → ✅ </a:t>
            </a:r>
            <a:r>
              <a:rPr lang="en" sz="900" u="sng">
                <a:solidFill>
                  <a:srgbClr val="1255CC"/>
                </a:solidFill>
                <a:latin typeface="Helvetica Neue"/>
                <a:ea typeface="Helvetica Neue"/>
                <a:cs typeface="Helvetica Neue"/>
                <a:sym typeface="Helvetica Neue"/>
                <a:hlinkClick r:id="rId5">
                  <a:extLst>
                    <a:ext uri="{A12FA001-AC4F-418D-AE19-62706E023703}">
                      <ahyp:hlinkClr xmlns:ahyp="http://schemas.microsoft.com/office/drawing/2018/hyperlinkcolor" val="tx"/>
                    </a:ext>
                  </a:extLst>
                </a:hlinkClick>
              </a:rPr>
              <a:t>Hoàn thành</a:t>
            </a:r>
            <a:br>
              <a:rPr lang="en" sz="900" u="sng">
                <a:solidFill>
                  <a:srgbClr val="1255CC"/>
                </a:solidFill>
                <a:latin typeface="Helvetica Neue"/>
                <a:ea typeface="Helvetica Neue"/>
                <a:cs typeface="Helvetica Neue"/>
                <a:sym typeface="Helvetica Neue"/>
              </a:rPr>
            </a:br>
            <a:endParaRPr sz="900" u="sng">
              <a:solidFill>
                <a:srgbClr val="1255CC"/>
              </a:solidFill>
              <a:latin typeface="Helvetica Neue"/>
              <a:ea typeface="Helvetica Neue"/>
              <a:cs typeface="Helvetica Neue"/>
              <a:sym typeface="Helvetica Neue"/>
            </a:endParaRPr>
          </a:p>
          <a:p>
            <a:pPr marL="171450" marR="0" lvl="0" indent="-171450" algn="l" rtl="0">
              <a:lnSpc>
                <a:spcPct val="100000"/>
              </a:lnSpc>
              <a:spcBef>
                <a:spcPts val="0"/>
              </a:spcBef>
              <a:spcAft>
                <a:spcPts val="0"/>
              </a:spcAft>
              <a:buSzPts val="900"/>
              <a:buFont typeface="Helvetica Neue"/>
              <a:buChar char="●"/>
            </a:pPr>
            <a:r>
              <a:rPr lang="en" sz="900">
                <a:solidFill>
                  <a:srgbClr val="334155"/>
                </a:solidFill>
                <a:latin typeface="Helvetica Neue"/>
                <a:ea typeface="Helvetica Neue"/>
                <a:cs typeface="Helvetica Neue"/>
                <a:sym typeface="Helvetica Neue"/>
              </a:rPr>
              <a:t>D1: Xử lý hủy đơn → ✅ </a:t>
            </a:r>
            <a:r>
              <a:rPr lang="en" sz="900" u="sng">
                <a:solidFill>
                  <a:srgbClr val="1255CC"/>
                </a:solidFill>
                <a:latin typeface="Helvetica Neue"/>
                <a:ea typeface="Helvetica Neue"/>
                <a:cs typeface="Helvetica Neue"/>
                <a:sym typeface="Helvetica Neue"/>
                <a:hlinkClick r:id="rId6">
                  <a:extLst>
                    <a:ext uri="{A12FA001-AC4F-418D-AE19-62706E023703}">
                      <ahyp:hlinkClr xmlns:ahyp="http://schemas.microsoft.com/office/drawing/2018/hyperlinkcolor" val="tx"/>
                    </a:ext>
                  </a:extLst>
                </a:hlinkClick>
              </a:rPr>
              <a:t>Hoàn thành</a:t>
            </a:r>
            <a:br>
              <a:rPr lang="en" sz="900">
                <a:solidFill>
                  <a:srgbClr val="334155"/>
                </a:solidFill>
                <a:latin typeface="Helvetica Neue"/>
                <a:ea typeface="Helvetica Neue"/>
                <a:cs typeface="Helvetica Neue"/>
                <a:sym typeface="Helvetica Neue"/>
              </a:rPr>
            </a:br>
            <a:endParaRPr sz="900">
              <a:solidFill>
                <a:srgbClr val="334155"/>
              </a:solidFill>
              <a:latin typeface="Helvetica Neue"/>
              <a:ea typeface="Helvetica Neue"/>
              <a:cs typeface="Helvetica Neue"/>
              <a:sym typeface="Helvetica Neue"/>
            </a:endParaRPr>
          </a:p>
          <a:p>
            <a:pPr marL="171450" marR="0" lvl="0" indent="-171450" algn="l" rtl="0">
              <a:lnSpc>
                <a:spcPct val="100000"/>
              </a:lnSpc>
              <a:spcBef>
                <a:spcPts val="0"/>
              </a:spcBef>
              <a:spcAft>
                <a:spcPts val="0"/>
              </a:spcAft>
              <a:buClr>
                <a:srgbClr val="334155"/>
              </a:buClr>
              <a:buSzPts val="900"/>
              <a:buFont typeface="Helvetica Neue"/>
              <a:buChar char="●"/>
            </a:pPr>
            <a:r>
              <a:rPr lang="en" sz="900">
                <a:solidFill>
                  <a:srgbClr val="334155"/>
                </a:solidFill>
                <a:latin typeface="Helvetica Neue"/>
                <a:ea typeface="Helvetica Neue"/>
                <a:cs typeface="Helvetica Neue"/>
                <a:sym typeface="Helvetica Neue"/>
              </a:rPr>
              <a:t>D2: Phòng tránh &amp; xử lý khiếu nại → 🔄 Đang hoàn thiện feedback</a:t>
            </a:r>
            <a:endParaRPr sz="900">
              <a:solidFill>
                <a:srgbClr val="334155"/>
              </a:solidFill>
              <a:latin typeface="Helvetica Neue"/>
              <a:ea typeface="Helvetica Neue"/>
              <a:cs typeface="Helvetica Neue"/>
              <a:sym typeface="Helvetica Neue"/>
            </a:endParaRPr>
          </a:p>
          <a:p>
            <a:pPr marL="0" marR="0" lvl="0" indent="0" algn="l" rtl="0">
              <a:lnSpc>
                <a:spcPct val="100000"/>
              </a:lnSpc>
              <a:spcBef>
                <a:spcPts val="0"/>
              </a:spcBef>
              <a:spcAft>
                <a:spcPts val="0"/>
              </a:spcAft>
              <a:buNone/>
            </a:pPr>
            <a:endParaRPr sz="900">
              <a:solidFill>
                <a:srgbClr val="334155"/>
              </a:solidFill>
              <a:latin typeface="Helvetica Neue"/>
              <a:ea typeface="Helvetica Neue"/>
              <a:cs typeface="Helvetica Neue"/>
              <a:sym typeface="Helvetica Neue"/>
            </a:endParaRPr>
          </a:p>
          <a:p>
            <a:pPr marL="171450" marR="0" lvl="0" indent="-171450" algn="l" rtl="0">
              <a:lnSpc>
                <a:spcPct val="100000"/>
              </a:lnSpc>
              <a:spcBef>
                <a:spcPts val="0"/>
              </a:spcBef>
              <a:spcAft>
                <a:spcPts val="0"/>
              </a:spcAft>
              <a:buSzPts val="900"/>
              <a:buFont typeface="Helvetica Neue"/>
              <a:buChar char="●"/>
            </a:pPr>
            <a:r>
              <a:rPr lang="en" sz="900">
                <a:solidFill>
                  <a:srgbClr val="334155"/>
                </a:solidFill>
                <a:latin typeface="Helvetica Neue"/>
                <a:ea typeface="Helvetica Neue"/>
                <a:cs typeface="Helvetica Neue"/>
                <a:sym typeface="Helvetica Neue"/>
              </a:rPr>
              <a:t>D3: Bật tắt ngưng gán đơn/ cài đặt dịch vụ → ✅ </a:t>
            </a:r>
            <a:r>
              <a:rPr lang="en" sz="900" u="sng">
                <a:solidFill>
                  <a:srgbClr val="1255CC"/>
                </a:solidFill>
                <a:latin typeface="Helvetica Neue"/>
                <a:ea typeface="Helvetica Neue"/>
                <a:cs typeface="Helvetica Neue"/>
                <a:sym typeface="Helvetica Neue"/>
                <a:hlinkClick r:id="rId7">
                  <a:extLst>
                    <a:ext uri="{A12FA001-AC4F-418D-AE19-62706E023703}">
                      <ahyp:hlinkClr xmlns:ahyp="http://schemas.microsoft.com/office/drawing/2018/hyperlinkcolor" val="tx"/>
                    </a:ext>
                  </a:extLst>
                </a:hlinkClick>
              </a:rPr>
              <a:t>Hoàn thành</a:t>
            </a:r>
            <a:br>
              <a:rPr lang="en" sz="900">
                <a:solidFill>
                  <a:srgbClr val="334155"/>
                </a:solidFill>
                <a:latin typeface="Helvetica Neue"/>
                <a:ea typeface="Helvetica Neue"/>
                <a:cs typeface="Helvetica Neue"/>
                <a:sym typeface="Helvetica Neue"/>
              </a:rPr>
            </a:br>
            <a:endParaRPr sz="900">
              <a:solidFill>
                <a:srgbClr val="334155"/>
              </a:solidFill>
              <a:latin typeface="Helvetica Neue"/>
              <a:ea typeface="Helvetica Neue"/>
              <a:cs typeface="Helvetica Neue"/>
              <a:sym typeface="Helvetica Neue"/>
            </a:endParaRPr>
          </a:p>
          <a:p>
            <a:pPr marL="171450" marR="0" lvl="0" indent="-171450" algn="l" rtl="0">
              <a:lnSpc>
                <a:spcPct val="100000"/>
              </a:lnSpc>
              <a:spcBef>
                <a:spcPts val="0"/>
              </a:spcBef>
              <a:spcAft>
                <a:spcPts val="0"/>
              </a:spcAft>
              <a:buSzPts val="900"/>
              <a:buFont typeface="Helvetica Neue"/>
              <a:buChar char="●"/>
            </a:pPr>
            <a:r>
              <a:rPr lang="en" sz="900">
                <a:solidFill>
                  <a:srgbClr val="334155"/>
                </a:solidFill>
                <a:latin typeface="Helvetica Neue"/>
                <a:ea typeface="Helvetica Neue"/>
                <a:cs typeface="Helvetica Neue"/>
                <a:sym typeface="Helvetica Neue"/>
              </a:rPr>
              <a:t>D4: Sử dụng điều hướng → ✅ </a:t>
            </a:r>
            <a:r>
              <a:rPr lang="en" sz="900" u="sng">
                <a:solidFill>
                  <a:srgbClr val="1255CC"/>
                </a:solidFill>
                <a:latin typeface="Helvetica Neue"/>
                <a:ea typeface="Helvetica Neue"/>
                <a:cs typeface="Helvetica Neue"/>
                <a:sym typeface="Helvetica Neue"/>
                <a:hlinkClick r:id="rId8">
                  <a:extLst>
                    <a:ext uri="{A12FA001-AC4F-418D-AE19-62706E023703}">
                      <ahyp:hlinkClr xmlns:ahyp="http://schemas.microsoft.com/office/drawing/2018/hyperlinkcolor" val="tx"/>
                    </a:ext>
                  </a:extLst>
                </a:hlinkClick>
              </a:rPr>
              <a:t>Hoàn thành</a:t>
            </a:r>
            <a:endParaRPr sz="900">
              <a:solidFill>
                <a:srgbClr val="334155"/>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334155"/>
              </a:buClr>
              <a:buSzPts val="800"/>
              <a:buFont typeface="Helvetica Neue"/>
              <a:buNone/>
            </a:pPr>
            <a:endParaRPr sz="900">
              <a:solidFill>
                <a:srgbClr val="334155"/>
              </a:solidFill>
              <a:latin typeface="Helvetica Neue"/>
              <a:ea typeface="Helvetica Neue"/>
              <a:cs typeface="Helvetica Neue"/>
              <a:sym typeface="Helvetica Neue"/>
            </a:endParaRPr>
          </a:p>
        </p:txBody>
      </p:sp>
      <p:sp>
        <p:nvSpPr>
          <p:cNvPr id="582" name="Google Shape;582;p54"/>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587"/>
        <p:cNvGrpSpPr/>
        <p:nvPr/>
      </p:nvGrpSpPr>
      <p:grpSpPr>
        <a:xfrm>
          <a:off x="0" y="0"/>
          <a:ext cx="0" cy="0"/>
          <a:chOff x="0" y="0"/>
          <a:chExt cx="0" cy="0"/>
        </a:xfrm>
      </p:grpSpPr>
      <p:sp>
        <p:nvSpPr>
          <p:cNvPr id="588" name="Google Shape;588;p55"/>
          <p:cNvSpPr/>
          <p:nvPr/>
        </p:nvSpPr>
        <p:spPr>
          <a:xfrm>
            <a:off x="411480" y="341465"/>
            <a:ext cx="377100" cy="377100"/>
          </a:xfrm>
          <a:prstGeom prst="roundRect">
            <a:avLst>
              <a:gd name="adj" fmla="val 16667"/>
            </a:avLst>
          </a:prstGeom>
          <a:solidFill>
            <a:srgbClr val="1B8A5A"/>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89" name="Google Shape;589;p55"/>
          <p:cNvSpPr/>
          <p:nvPr/>
        </p:nvSpPr>
        <p:spPr>
          <a:xfrm>
            <a:off x="411480" y="341465"/>
            <a:ext cx="377100" cy="377100"/>
          </a:xfrm>
          <a:prstGeom prst="roundRect">
            <a:avLst>
              <a:gd name="adj" fmla="val 16667"/>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34155"/>
              </a:buClr>
              <a:buSzPts val="1000"/>
              <a:buFont typeface="Helvetica Neue"/>
              <a:buNone/>
            </a:pPr>
            <a:r>
              <a:rPr lang="en" sz="1000" b="1">
                <a:solidFill>
                  <a:schemeClr val="lt1"/>
                </a:solidFill>
                <a:latin typeface="Helvetica Neue"/>
                <a:ea typeface="Helvetica Neue"/>
                <a:cs typeface="Helvetica Neue"/>
                <a:sym typeface="Helvetica Neue"/>
              </a:rPr>
              <a:t>De</a:t>
            </a:r>
            <a:endParaRPr sz="1000" b="0" i="0" u="none" strike="noStrike" cap="none">
              <a:solidFill>
                <a:schemeClr val="lt1"/>
              </a:solidFill>
              <a:latin typeface="Calibri"/>
              <a:ea typeface="Calibri"/>
              <a:cs typeface="Calibri"/>
              <a:sym typeface="Calibri"/>
            </a:endParaRPr>
          </a:p>
        </p:txBody>
      </p:sp>
      <p:sp>
        <p:nvSpPr>
          <p:cNvPr id="590" name="Google Shape;590;p55"/>
          <p:cNvSpPr/>
          <p:nvPr/>
        </p:nvSpPr>
        <p:spPr>
          <a:xfrm>
            <a:off x="891550" y="341465"/>
            <a:ext cx="6583800" cy="377100"/>
          </a:xfrm>
          <a:prstGeom prst="roundRect">
            <a:avLst>
              <a:gd name="adj" fmla="val 16667"/>
            </a:avLst>
          </a:prstGeom>
          <a:noFill/>
          <a:ln w="9525" cap="flat" cmpd="sng">
            <a:solidFill>
              <a:schemeClr val="lt2"/>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Clr>
                <a:srgbClr val="1E293B"/>
              </a:buClr>
              <a:buSzPts val="1923"/>
              <a:buFont typeface="Arial"/>
              <a:buNone/>
            </a:pPr>
            <a:r>
              <a:rPr lang="en" sz="1923" b="1" u="sng">
                <a:solidFill>
                  <a:schemeClr val="hlink"/>
                </a:solidFill>
                <a:hlinkClick r:id="rId3"/>
              </a:rPr>
              <a:t>Thực trạng ký quỹ tài xế mới</a:t>
            </a:r>
            <a:endParaRPr sz="1300" b="1">
              <a:solidFill>
                <a:srgbClr val="0F172A"/>
              </a:solidFill>
              <a:latin typeface="Helvetica Neue"/>
              <a:ea typeface="Helvetica Neue"/>
              <a:cs typeface="Helvetica Neue"/>
              <a:sym typeface="Helvetica Neue"/>
            </a:endParaRPr>
          </a:p>
        </p:txBody>
      </p:sp>
      <p:sp>
        <p:nvSpPr>
          <p:cNvPr id="591" name="Google Shape;591;p55"/>
          <p:cNvSpPr/>
          <p:nvPr/>
        </p:nvSpPr>
        <p:spPr>
          <a:xfrm>
            <a:off x="404580" y="788533"/>
            <a:ext cx="2263200" cy="41100"/>
          </a:xfrm>
          <a:prstGeom prst="roundRect">
            <a:avLst>
              <a:gd name="adj" fmla="val 16667"/>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92" name="Google Shape;592;p55"/>
          <p:cNvSpPr/>
          <p:nvPr/>
        </p:nvSpPr>
        <p:spPr>
          <a:xfrm>
            <a:off x="2839170" y="788533"/>
            <a:ext cx="2894100" cy="41100"/>
          </a:xfrm>
          <a:prstGeom prst="roundRect">
            <a:avLst>
              <a:gd name="adj" fmla="val 16667"/>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cxnSp>
        <p:nvCxnSpPr>
          <p:cNvPr id="593" name="Google Shape;593;p55"/>
          <p:cNvCxnSpPr/>
          <p:nvPr/>
        </p:nvCxnSpPr>
        <p:spPr>
          <a:xfrm>
            <a:off x="411480" y="4882896"/>
            <a:ext cx="8318700" cy="0"/>
          </a:xfrm>
          <a:prstGeom prst="straightConnector1">
            <a:avLst/>
          </a:prstGeom>
          <a:noFill/>
          <a:ln w="15875" cap="flat" cmpd="sng">
            <a:solidFill>
              <a:srgbClr val="FF7F32"/>
            </a:solidFill>
            <a:prstDash val="solid"/>
            <a:round/>
            <a:headEnd type="none" w="sm" len="sm"/>
            <a:tailEnd type="none" w="sm" len="sm"/>
          </a:ln>
        </p:spPr>
      </p:cxnSp>
      <p:sp>
        <p:nvSpPr>
          <p:cNvPr id="594" name="Google Shape;594;p55"/>
          <p:cNvSpPr/>
          <p:nvPr/>
        </p:nvSpPr>
        <p:spPr>
          <a:xfrm>
            <a:off x="5829300" y="55301"/>
            <a:ext cx="2901000" cy="150900"/>
          </a:xfrm>
          <a:prstGeom prst="roundRect">
            <a:avLst>
              <a:gd name="adj" fmla="val 16667"/>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64748B"/>
              </a:buClr>
              <a:buSzPts val="700"/>
              <a:buFont typeface="Helvetica Neue"/>
              <a:buNone/>
            </a:pPr>
            <a:r>
              <a:rPr lang="en" sz="700" i="1">
                <a:solidFill>
                  <a:srgbClr val="64748B"/>
                </a:solidFill>
                <a:latin typeface="Helvetica Neue"/>
                <a:ea typeface="Helvetica Neue"/>
                <a:cs typeface="Helvetica Neue"/>
                <a:sym typeface="Helvetica Neue"/>
              </a:rPr>
              <a:t>Ahamove  ·  Driver Management  ·  Weekly Report</a:t>
            </a:r>
            <a:endParaRPr sz="600" b="0" i="0" u="none" strike="noStrike" cap="none">
              <a:solidFill>
                <a:schemeClr val="dk1"/>
              </a:solidFill>
              <a:latin typeface="Calibri"/>
              <a:ea typeface="Calibri"/>
              <a:cs typeface="Calibri"/>
              <a:sym typeface="Calibri"/>
            </a:endParaRPr>
          </a:p>
        </p:txBody>
      </p:sp>
      <p:sp>
        <p:nvSpPr>
          <p:cNvPr id="595" name="Google Shape;595;p55"/>
          <p:cNvSpPr/>
          <p:nvPr/>
        </p:nvSpPr>
        <p:spPr>
          <a:xfrm>
            <a:off x="412650" y="930918"/>
            <a:ext cx="8318700" cy="270300"/>
          </a:xfrm>
          <a:prstGeom prst="rect">
            <a:avLst/>
          </a:prstGeom>
          <a:noFill/>
          <a:ln>
            <a:noFill/>
          </a:ln>
        </p:spPr>
        <p:txBody>
          <a:bodyPr spcFirstLastPara="1" wrap="square" lIns="67625" tIns="33800" rIns="67625" bIns="33800" anchor="ctr" anchorCtr="0">
            <a:noAutofit/>
          </a:bodyPr>
          <a:lstStyle/>
          <a:p>
            <a:pPr marL="0" marR="0" lvl="0" indent="0" algn="l" rtl="0">
              <a:spcBef>
                <a:spcPts val="0"/>
              </a:spcBef>
              <a:spcAft>
                <a:spcPts val="0"/>
              </a:spcAft>
              <a:buClr>
                <a:srgbClr val="64748B"/>
              </a:buClr>
              <a:buSzPts val="962"/>
              <a:buFont typeface="Arial"/>
              <a:buNone/>
            </a:pPr>
            <a:r>
              <a:rPr lang="en" sz="962" b="0" i="0" u="none" strike="noStrike" cap="none">
                <a:solidFill>
                  <a:srgbClr val="64748B"/>
                </a:solidFill>
                <a:latin typeface="Arial"/>
                <a:ea typeface="Arial"/>
                <a:cs typeface="Arial"/>
                <a:sym typeface="Arial"/>
              </a:rPr>
              <a:t>Tỷ lệ hoàn thành ký quỹ ngày càng giảm dù yêu cầu đã giảm từ 1.000.000đ xuống 500.000đ trong khi th</a:t>
            </a:r>
            <a:r>
              <a:rPr lang="en" sz="962">
                <a:solidFill>
                  <a:srgbClr val="64748B"/>
                </a:solidFill>
              </a:rPr>
              <a:t>ời hạn hoàn thành từ 30 lên 60 ngày.</a:t>
            </a:r>
            <a:endParaRPr sz="962" b="0" i="0" u="none" strike="noStrike" cap="none">
              <a:solidFill>
                <a:srgbClr val="000000"/>
              </a:solidFill>
              <a:latin typeface="Calibri"/>
              <a:ea typeface="Calibri"/>
              <a:cs typeface="Calibri"/>
              <a:sym typeface="Calibri"/>
            </a:endParaRPr>
          </a:p>
        </p:txBody>
      </p:sp>
      <p:sp>
        <p:nvSpPr>
          <p:cNvPr id="596" name="Google Shape;596;p55"/>
          <p:cNvSpPr/>
          <p:nvPr/>
        </p:nvSpPr>
        <p:spPr>
          <a:xfrm>
            <a:off x="412650" y="1302894"/>
            <a:ext cx="1961400" cy="1014300"/>
          </a:xfrm>
          <a:prstGeom prst="rect">
            <a:avLst/>
          </a:prstGeom>
          <a:solidFill>
            <a:srgbClr val="F1F5F9"/>
          </a:solidFill>
          <a:ln w="9375" cap="flat" cmpd="sng">
            <a:solidFill>
              <a:srgbClr val="E2E8F0"/>
            </a:solidFill>
            <a:prstDash val="solid"/>
            <a:round/>
            <a:headEnd type="none" w="sm" len="sm"/>
            <a:tailEnd type="none" w="sm" len="sm"/>
          </a:ln>
        </p:spPr>
        <p:txBody>
          <a:bodyPr spcFirstLastPara="1" wrap="square" lIns="67625" tIns="67625" rIns="67625" bIns="67625" anchor="ctr" anchorCtr="0">
            <a:noAutofit/>
          </a:bodyPr>
          <a:lstStyle/>
          <a:p>
            <a:pPr marL="0" lvl="0" indent="0" algn="l" rtl="0">
              <a:spcBef>
                <a:spcPts val="0"/>
              </a:spcBef>
              <a:spcAft>
                <a:spcPts val="0"/>
              </a:spcAft>
              <a:buNone/>
            </a:pPr>
            <a:endParaRPr/>
          </a:p>
        </p:txBody>
      </p:sp>
      <p:sp>
        <p:nvSpPr>
          <p:cNvPr id="597" name="Google Shape;597;p55"/>
          <p:cNvSpPr/>
          <p:nvPr/>
        </p:nvSpPr>
        <p:spPr>
          <a:xfrm>
            <a:off x="514098" y="1404342"/>
            <a:ext cx="1758300" cy="270300"/>
          </a:xfrm>
          <a:prstGeom prst="rect">
            <a:avLst/>
          </a:prstGeom>
          <a:noFill/>
          <a:ln>
            <a:noFill/>
          </a:ln>
        </p:spPr>
        <p:txBody>
          <a:bodyPr spcFirstLastPara="1" wrap="square" lIns="67625" tIns="33800" rIns="67625" bIns="33800" anchor="ctr" anchorCtr="0">
            <a:noAutofit/>
          </a:bodyPr>
          <a:lstStyle/>
          <a:p>
            <a:pPr marL="0" marR="0" lvl="0" indent="0" algn="l" rtl="0">
              <a:spcBef>
                <a:spcPts val="0"/>
              </a:spcBef>
              <a:spcAft>
                <a:spcPts val="0"/>
              </a:spcAft>
              <a:buClr>
                <a:srgbClr val="64748B"/>
              </a:buClr>
              <a:buSzPts val="814"/>
              <a:buFont typeface="Arial"/>
              <a:buNone/>
            </a:pPr>
            <a:r>
              <a:rPr lang="en" sz="814" b="0" i="0" u="none" strike="noStrike" cap="none">
                <a:solidFill>
                  <a:srgbClr val="64748B"/>
                </a:solidFill>
                <a:latin typeface="Arial"/>
                <a:ea typeface="Arial"/>
                <a:cs typeface="Arial"/>
                <a:sym typeface="Arial"/>
              </a:rPr>
              <a:t>Yêu cầu ký quỹ cũ</a:t>
            </a:r>
            <a:endParaRPr sz="814" b="0" i="0" u="none" strike="noStrike" cap="none">
              <a:solidFill>
                <a:srgbClr val="000000"/>
              </a:solidFill>
              <a:latin typeface="Calibri"/>
              <a:ea typeface="Calibri"/>
              <a:cs typeface="Calibri"/>
              <a:sym typeface="Calibri"/>
            </a:endParaRPr>
          </a:p>
        </p:txBody>
      </p:sp>
      <p:sp>
        <p:nvSpPr>
          <p:cNvPr id="598" name="Google Shape;598;p55"/>
          <p:cNvSpPr/>
          <p:nvPr/>
        </p:nvSpPr>
        <p:spPr>
          <a:xfrm>
            <a:off x="514098" y="1674870"/>
            <a:ext cx="1758300" cy="372000"/>
          </a:xfrm>
          <a:prstGeom prst="rect">
            <a:avLst/>
          </a:prstGeom>
          <a:noFill/>
          <a:ln>
            <a:noFill/>
          </a:ln>
        </p:spPr>
        <p:txBody>
          <a:bodyPr spcFirstLastPara="1" wrap="square" lIns="67625" tIns="33800" rIns="67625" bIns="33800" anchor="ctr" anchorCtr="0">
            <a:noAutofit/>
          </a:bodyPr>
          <a:lstStyle/>
          <a:p>
            <a:pPr marL="0" marR="0" lvl="0" indent="0" algn="l" rtl="0">
              <a:spcBef>
                <a:spcPts val="0"/>
              </a:spcBef>
              <a:spcAft>
                <a:spcPts val="0"/>
              </a:spcAft>
              <a:buClr>
                <a:srgbClr val="334155"/>
              </a:buClr>
              <a:buSzPts val="1627"/>
              <a:buFont typeface="Arial"/>
              <a:buNone/>
            </a:pPr>
            <a:r>
              <a:rPr lang="en" sz="1627" b="1" i="0" u="none" strike="noStrike" cap="none">
                <a:solidFill>
                  <a:srgbClr val="334155"/>
                </a:solidFill>
                <a:latin typeface="Arial"/>
                <a:ea typeface="Arial"/>
                <a:cs typeface="Arial"/>
                <a:sym typeface="Arial"/>
              </a:rPr>
              <a:t>1.000.000đ</a:t>
            </a:r>
            <a:endParaRPr sz="1627" b="0" i="0" u="none" strike="noStrike" cap="none">
              <a:solidFill>
                <a:srgbClr val="000000"/>
              </a:solidFill>
              <a:latin typeface="Calibri"/>
              <a:ea typeface="Calibri"/>
              <a:cs typeface="Calibri"/>
              <a:sym typeface="Calibri"/>
            </a:endParaRPr>
          </a:p>
        </p:txBody>
      </p:sp>
      <p:sp>
        <p:nvSpPr>
          <p:cNvPr id="599" name="Google Shape;599;p55"/>
          <p:cNvSpPr/>
          <p:nvPr/>
        </p:nvSpPr>
        <p:spPr>
          <a:xfrm>
            <a:off x="514098" y="2067136"/>
            <a:ext cx="1758300" cy="189300"/>
          </a:xfrm>
          <a:prstGeom prst="rect">
            <a:avLst/>
          </a:prstGeom>
          <a:noFill/>
          <a:ln>
            <a:noFill/>
          </a:ln>
        </p:spPr>
        <p:txBody>
          <a:bodyPr spcFirstLastPara="1" wrap="square" lIns="67625" tIns="33800" rIns="67625" bIns="33800" anchor="ctr" anchorCtr="0">
            <a:noAutofit/>
          </a:bodyPr>
          <a:lstStyle/>
          <a:p>
            <a:pPr marL="0" marR="0" lvl="0" indent="0" algn="l" rtl="0">
              <a:spcBef>
                <a:spcPts val="0"/>
              </a:spcBef>
              <a:spcAft>
                <a:spcPts val="0"/>
              </a:spcAft>
              <a:buClr>
                <a:srgbClr val="64748B"/>
              </a:buClr>
              <a:buSzPts val="740"/>
              <a:buFont typeface="Arial"/>
              <a:buNone/>
            </a:pPr>
            <a:r>
              <a:rPr lang="en" sz="740" b="0" i="0" u="none" strike="noStrike" cap="none">
                <a:solidFill>
                  <a:srgbClr val="64748B"/>
                </a:solidFill>
                <a:latin typeface="Arial"/>
                <a:ea typeface="Arial"/>
                <a:cs typeface="Arial"/>
                <a:sym typeface="Arial"/>
              </a:rPr>
              <a:t>Đã giảm xuống</a:t>
            </a:r>
            <a:endParaRPr sz="740" b="0" i="0" u="none" strike="noStrike" cap="none">
              <a:solidFill>
                <a:srgbClr val="000000"/>
              </a:solidFill>
              <a:latin typeface="Calibri"/>
              <a:ea typeface="Calibri"/>
              <a:cs typeface="Calibri"/>
              <a:sym typeface="Calibri"/>
            </a:endParaRPr>
          </a:p>
        </p:txBody>
      </p:sp>
      <p:sp>
        <p:nvSpPr>
          <p:cNvPr id="600" name="Google Shape;600;p55"/>
          <p:cNvSpPr/>
          <p:nvPr/>
        </p:nvSpPr>
        <p:spPr>
          <a:xfrm>
            <a:off x="2475433" y="1302894"/>
            <a:ext cx="1961400" cy="1014300"/>
          </a:xfrm>
          <a:prstGeom prst="rect">
            <a:avLst/>
          </a:prstGeom>
          <a:solidFill>
            <a:srgbClr val="DBEAFE"/>
          </a:solidFill>
          <a:ln w="9375" cap="flat" cmpd="sng">
            <a:solidFill>
              <a:srgbClr val="E2E8F0"/>
            </a:solidFill>
            <a:prstDash val="solid"/>
            <a:round/>
            <a:headEnd type="none" w="sm" len="sm"/>
            <a:tailEnd type="none" w="sm" len="sm"/>
          </a:ln>
        </p:spPr>
        <p:txBody>
          <a:bodyPr spcFirstLastPara="1" wrap="square" lIns="67625" tIns="67625" rIns="67625" bIns="67625" anchor="ctr" anchorCtr="0">
            <a:noAutofit/>
          </a:bodyPr>
          <a:lstStyle/>
          <a:p>
            <a:pPr marL="0" lvl="0" indent="0" algn="l" rtl="0">
              <a:spcBef>
                <a:spcPts val="0"/>
              </a:spcBef>
              <a:spcAft>
                <a:spcPts val="0"/>
              </a:spcAft>
              <a:buNone/>
            </a:pPr>
            <a:endParaRPr/>
          </a:p>
        </p:txBody>
      </p:sp>
      <p:sp>
        <p:nvSpPr>
          <p:cNvPr id="601" name="Google Shape;601;p55"/>
          <p:cNvSpPr/>
          <p:nvPr/>
        </p:nvSpPr>
        <p:spPr>
          <a:xfrm>
            <a:off x="2576881" y="1404342"/>
            <a:ext cx="1758300" cy="270300"/>
          </a:xfrm>
          <a:prstGeom prst="rect">
            <a:avLst/>
          </a:prstGeom>
          <a:noFill/>
          <a:ln>
            <a:noFill/>
          </a:ln>
        </p:spPr>
        <p:txBody>
          <a:bodyPr spcFirstLastPara="1" wrap="square" lIns="67625" tIns="33800" rIns="67625" bIns="33800" anchor="ctr" anchorCtr="0">
            <a:noAutofit/>
          </a:bodyPr>
          <a:lstStyle/>
          <a:p>
            <a:pPr marL="0" marR="0" lvl="0" indent="0" algn="l" rtl="0">
              <a:spcBef>
                <a:spcPts val="0"/>
              </a:spcBef>
              <a:spcAft>
                <a:spcPts val="0"/>
              </a:spcAft>
              <a:buClr>
                <a:srgbClr val="64748B"/>
              </a:buClr>
              <a:buSzPts val="814"/>
              <a:buFont typeface="Arial"/>
              <a:buNone/>
            </a:pPr>
            <a:r>
              <a:rPr lang="en" sz="814" b="0" i="0" u="none" strike="noStrike" cap="none">
                <a:solidFill>
                  <a:srgbClr val="64748B"/>
                </a:solidFill>
                <a:latin typeface="Arial"/>
                <a:ea typeface="Arial"/>
                <a:cs typeface="Arial"/>
                <a:sym typeface="Arial"/>
              </a:rPr>
              <a:t>Yêu cầu ký quỹ hiện tại</a:t>
            </a:r>
            <a:endParaRPr sz="814" b="0" i="0" u="none" strike="noStrike" cap="none">
              <a:solidFill>
                <a:srgbClr val="000000"/>
              </a:solidFill>
              <a:latin typeface="Calibri"/>
              <a:ea typeface="Calibri"/>
              <a:cs typeface="Calibri"/>
              <a:sym typeface="Calibri"/>
            </a:endParaRPr>
          </a:p>
        </p:txBody>
      </p:sp>
      <p:sp>
        <p:nvSpPr>
          <p:cNvPr id="602" name="Google Shape;602;p55"/>
          <p:cNvSpPr/>
          <p:nvPr/>
        </p:nvSpPr>
        <p:spPr>
          <a:xfrm>
            <a:off x="2576881" y="1674870"/>
            <a:ext cx="1758300" cy="372000"/>
          </a:xfrm>
          <a:prstGeom prst="rect">
            <a:avLst/>
          </a:prstGeom>
          <a:noFill/>
          <a:ln>
            <a:noFill/>
          </a:ln>
        </p:spPr>
        <p:txBody>
          <a:bodyPr spcFirstLastPara="1" wrap="square" lIns="67625" tIns="33800" rIns="67625" bIns="33800" anchor="ctr" anchorCtr="0">
            <a:noAutofit/>
          </a:bodyPr>
          <a:lstStyle/>
          <a:p>
            <a:pPr marL="0" marR="0" lvl="0" indent="0" algn="l" rtl="0">
              <a:spcBef>
                <a:spcPts val="0"/>
              </a:spcBef>
              <a:spcAft>
                <a:spcPts val="0"/>
              </a:spcAft>
              <a:buClr>
                <a:srgbClr val="2563EB"/>
              </a:buClr>
              <a:buSzPts val="1627"/>
              <a:buFont typeface="Arial"/>
              <a:buNone/>
            </a:pPr>
            <a:r>
              <a:rPr lang="en" sz="1627" b="1" i="0" u="none" strike="noStrike" cap="none">
                <a:solidFill>
                  <a:srgbClr val="2563EB"/>
                </a:solidFill>
                <a:latin typeface="Arial"/>
                <a:ea typeface="Arial"/>
                <a:cs typeface="Arial"/>
                <a:sym typeface="Arial"/>
              </a:rPr>
              <a:t>500.000đ</a:t>
            </a:r>
            <a:endParaRPr sz="1627" b="0" i="0" u="none" strike="noStrike" cap="none">
              <a:solidFill>
                <a:srgbClr val="000000"/>
              </a:solidFill>
              <a:latin typeface="Calibri"/>
              <a:ea typeface="Calibri"/>
              <a:cs typeface="Calibri"/>
              <a:sym typeface="Calibri"/>
            </a:endParaRPr>
          </a:p>
        </p:txBody>
      </p:sp>
      <p:sp>
        <p:nvSpPr>
          <p:cNvPr id="603" name="Google Shape;603;p55"/>
          <p:cNvSpPr/>
          <p:nvPr/>
        </p:nvSpPr>
        <p:spPr>
          <a:xfrm>
            <a:off x="2576881" y="2067136"/>
            <a:ext cx="1758300" cy="189300"/>
          </a:xfrm>
          <a:prstGeom prst="rect">
            <a:avLst/>
          </a:prstGeom>
          <a:noFill/>
          <a:ln>
            <a:noFill/>
          </a:ln>
        </p:spPr>
        <p:txBody>
          <a:bodyPr spcFirstLastPara="1" wrap="square" lIns="67625" tIns="33800" rIns="67625" bIns="33800" anchor="ctr" anchorCtr="0">
            <a:noAutofit/>
          </a:bodyPr>
          <a:lstStyle/>
          <a:p>
            <a:pPr marL="0" marR="0" lvl="0" indent="0" algn="l" rtl="0">
              <a:spcBef>
                <a:spcPts val="0"/>
              </a:spcBef>
              <a:spcAft>
                <a:spcPts val="0"/>
              </a:spcAft>
              <a:buClr>
                <a:srgbClr val="64748B"/>
              </a:buClr>
              <a:buSzPts val="740"/>
              <a:buFont typeface="Arial"/>
              <a:buNone/>
            </a:pPr>
            <a:r>
              <a:rPr lang="en" sz="740" b="0" i="0" u="none" strike="noStrike" cap="none">
                <a:solidFill>
                  <a:srgbClr val="64748B"/>
                </a:solidFill>
                <a:latin typeface="Arial"/>
                <a:ea typeface="Arial"/>
                <a:cs typeface="Arial"/>
                <a:sym typeface="Arial"/>
              </a:rPr>
              <a:t>Giảm 50%</a:t>
            </a:r>
            <a:endParaRPr sz="740" b="0" i="0" u="none" strike="noStrike" cap="none">
              <a:solidFill>
                <a:srgbClr val="000000"/>
              </a:solidFill>
              <a:latin typeface="Calibri"/>
              <a:ea typeface="Calibri"/>
              <a:cs typeface="Calibri"/>
              <a:sym typeface="Calibri"/>
            </a:endParaRPr>
          </a:p>
        </p:txBody>
      </p:sp>
      <p:sp>
        <p:nvSpPr>
          <p:cNvPr id="604" name="Google Shape;604;p55"/>
          <p:cNvSpPr/>
          <p:nvPr/>
        </p:nvSpPr>
        <p:spPr>
          <a:xfrm>
            <a:off x="4538215" y="1302894"/>
            <a:ext cx="1961400" cy="1014300"/>
          </a:xfrm>
          <a:prstGeom prst="rect">
            <a:avLst/>
          </a:prstGeom>
          <a:solidFill>
            <a:srgbClr val="FEF3C7"/>
          </a:solidFill>
          <a:ln w="9375" cap="flat" cmpd="sng">
            <a:solidFill>
              <a:srgbClr val="E2E8F0"/>
            </a:solidFill>
            <a:prstDash val="solid"/>
            <a:round/>
            <a:headEnd type="none" w="sm" len="sm"/>
            <a:tailEnd type="none" w="sm" len="sm"/>
          </a:ln>
        </p:spPr>
        <p:txBody>
          <a:bodyPr spcFirstLastPara="1" wrap="square" lIns="67625" tIns="67625" rIns="67625" bIns="67625" anchor="ctr" anchorCtr="0">
            <a:noAutofit/>
          </a:bodyPr>
          <a:lstStyle/>
          <a:p>
            <a:pPr marL="0" lvl="0" indent="0" algn="l" rtl="0">
              <a:spcBef>
                <a:spcPts val="0"/>
              </a:spcBef>
              <a:spcAft>
                <a:spcPts val="0"/>
              </a:spcAft>
              <a:buNone/>
            </a:pPr>
            <a:endParaRPr/>
          </a:p>
        </p:txBody>
      </p:sp>
      <p:sp>
        <p:nvSpPr>
          <p:cNvPr id="605" name="Google Shape;605;p55"/>
          <p:cNvSpPr/>
          <p:nvPr/>
        </p:nvSpPr>
        <p:spPr>
          <a:xfrm>
            <a:off x="4639663" y="1404342"/>
            <a:ext cx="1758300" cy="270300"/>
          </a:xfrm>
          <a:prstGeom prst="rect">
            <a:avLst/>
          </a:prstGeom>
          <a:noFill/>
          <a:ln>
            <a:noFill/>
          </a:ln>
        </p:spPr>
        <p:txBody>
          <a:bodyPr spcFirstLastPara="1" wrap="square" lIns="67625" tIns="33800" rIns="67625" bIns="33800" anchor="ctr" anchorCtr="0">
            <a:noAutofit/>
          </a:bodyPr>
          <a:lstStyle/>
          <a:p>
            <a:pPr marL="0" marR="0" lvl="0" indent="0" algn="l" rtl="0">
              <a:spcBef>
                <a:spcPts val="0"/>
              </a:spcBef>
              <a:spcAft>
                <a:spcPts val="0"/>
              </a:spcAft>
              <a:buClr>
                <a:srgbClr val="64748B"/>
              </a:buClr>
              <a:buSzPts val="814"/>
              <a:buFont typeface="Arial"/>
              <a:buNone/>
            </a:pPr>
            <a:r>
              <a:rPr lang="en" sz="814" b="0" i="0" u="none" strike="noStrike" cap="none">
                <a:solidFill>
                  <a:srgbClr val="64748B"/>
                </a:solidFill>
                <a:latin typeface="Arial"/>
                <a:ea typeface="Arial"/>
                <a:cs typeface="Arial"/>
                <a:sym typeface="Arial"/>
              </a:rPr>
              <a:t>Tỷ lệ </a:t>
            </a:r>
            <a:r>
              <a:rPr lang="en" sz="814">
                <a:solidFill>
                  <a:srgbClr val="64748B"/>
                </a:solidFill>
              </a:rPr>
              <a:t>hoàn thành</a:t>
            </a:r>
            <a:r>
              <a:rPr lang="en" sz="814" b="0" i="0" u="none" strike="noStrike" cap="none">
                <a:solidFill>
                  <a:srgbClr val="64748B"/>
                </a:solidFill>
                <a:latin typeface="Arial"/>
                <a:ea typeface="Arial"/>
                <a:cs typeface="Arial"/>
                <a:sym typeface="Arial"/>
              </a:rPr>
              <a:t> ký quỹ trước đây</a:t>
            </a:r>
            <a:endParaRPr sz="814" b="0" i="0" u="none" strike="noStrike" cap="none">
              <a:solidFill>
                <a:srgbClr val="000000"/>
              </a:solidFill>
              <a:latin typeface="Calibri"/>
              <a:ea typeface="Calibri"/>
              <a:cs typeface="Calibri"/>
              <a:sym typeface="Calibri"/>
            </a:endParaRPr>
          </a:p>
        </p:txBody>
      </p:sp>
      <p:sp>
        <p:nvSpPr>
          <p:cNvPr id="606" name="Google Shape;606;p55"/>
          <p:cNvSpPr/>
          <p:nvPr/>
        </p:nvSpPr>
        <p:spPr>
          <a:xfrm>
            <a:off x="4639663" y="1674870"/>
            <a:ext cx="1758300" cy="372000"/>
          </a:xfrm>
          <a:prstGeom prst="rect">
            <a:avLst/>
          </a:prstGeom>
          <a:noFill/>
          <a:ln>
            <a:noFill/>
          </a:ln>
        </p:spPr>
        <p:txBody>
          <a:bodyPr spcFirstLastPara="1" wrap="square" lIns="67625" tIns="33800" rIns="67625" bIns="33800" anchor="ctr" anchorCtr="0">
            <a:noAutofit/>
          </a:bodyPr>
          <a:lstStyle/>
          <a:p>
            <a:pPr marL="0" marR="0" lvl="0" indent="0" algn="l" rtl="0">
              <a:spcBef>
                <a:spcPts val="0"/>
              </a:spcBef>
              <a:spcAft>
                <a:spcPts val="0"/>
              </a:spcAft>
              <a:buClr>
                <a:srgbClr val="D97706"/>
              </a:buClr>
              <a:buSzPts val="1627"/>
              <a:buFont typeface="Arial"/>
              <a:buNone/>
            </a:pPr>
            <a:r>
              <a:rPr lang="en" sz="1627" b="1" i="0" u="none" strike="noStrike" cap="none">
                <a:solidFill>
                  <a:srgbClr val="D97706"/>
                </a:solidFill>
                <a:latin typeface="Arial"/>
                <a:ea typeface="Arial"/>
                <a:cs typeface="Arial"/>
                <a:sym typeface="Arial"/>
              </a:rPr>
              <a:t>5</a:t>
            </a:r>
            <a:r>
              <a:rPr lang="en" sz="1627" b="1">
                <a:solidFill>
                  <a:srgbClr val="D97706"/>
                </a:solidFill>
              </a:rPr>
              <a:t>3</a:t>
            </a:r>
            <a:r>
              <a:rPr lang="en" sz="1627" b="1" i="0" u="none" strike="noStrike" cap="none">
                <a:solidFill>
                  <a:srgbClr val="D97706"/>
                </a:solidFill>
                <a:latin typeface="Arial"/>
                <a:ea typeface="Arial"/>
                <a:cs typeface="Arial"/>
                <a:sym typeface="Arial"/>
              </a:rPr>
              <a:t>–6</a:t>
            </a:r>
            <a:r>
              <a:rPr lang="en" sz="1627" b="1">
                <a:solidFill>
                  <a:srgbClr val="D97706"/>
                </a:solidFill>
              </a:rPr>
              <a:t>3</a:t>
            </a:r>
            <a:r>
              <a:rPr lang="en" sz="1627" b="1" i="0" u="none" strike="noStrike" cap="none">
                <a:solidFill>
                  <a:srgbClr val="D97706"/>
                </a:solidFill>
                <a:latin typeface="Arial"/>
                <a:ea typeface="Arial"/>
                <a:cs typeface="Arial"/>
                <a:sym typeface="Arial"/>
              </a:rPr>
              <a:t>%</a:t>
            </a:r>
            <a:endParaRPr sz="1627" b="0" i="0" u="none" strike="noStrike" cap="none">
              <a:solidFill>
                <a:srgbClr val="000000"/>
              </a:solidFill>
              <a:latin typeface="Calibri"/>
              <a:ea typeface="Calibri"/>
              <a:cs typeface="Calibri"/>
              <a:sym typeface="Calibri"/>
            </a:endParaRPr>
          </a:p>
        </p:txBody>
      </p:sp>
      <p:sp>
        <p:nvSpPr>
          <p:cNvPr id="607" name="Google Shape;607;p55"/>
          <p:cNvSpPr/>
          <p:nvPr/>
        </p:nvSpPr>
        <p:spPr>
          <a:xfrm>
            <a:off x="4639663" y="2067136"/>
            <a:ext cx="1758300" cy="189300"/>
          </a:xfrm>
          <a:prstGeom prst="rect">
            <a:avLst/>
          </a:prstGeom>
          <a:noFill/>
          <a:ln>
            <a:noFill/>
          </a:ln>
        </p:spPr>
        <p:txBody>
          <a:bodyPr spcFirstLastPara="1" wrap="square" lIns="67625" tIns="33800" rIns="67625" bIns="33800" anchor="ctr" anchorCtr="0">
            <a:noAutofit/>
          </a:bodyPr>
          <a:lstStyle/>
          <a:p>
            <a:pPr marL="0" marR="0" lvl="0" indent="0" algn="l" rtl="0">
              <a:spcBef>
                <a:spcPts val="0"/>
              </a:spcBef>
              <a:spcAft>
                <a:spcPts val="0"/>
              </a:spcAft>
              <a:buClr>
                <a:srgbClr val="64748B"/>
              </a:buClr>
              <a:buSzPts val="740"/>
              <a:buFont typeface="Arial"/>
              <a:buNone/>
            </a:pPr>
            <a:r>
              <a:rPr lang="en" sz="740">
                <a:solidFill>
                  <a:srgbClr val="64748B"/>
                </a:solidFill>
              </a:rPr>
              <a:t>Mức trung bình</a:t>
            </a:r>
            <a:endParaRPr sz="740" b="0" i="0" u="none" strike="noStrike" cap="none">
              <a:solidFill>
                <a:srgbClr val="000000"/>
              </a:solidFill>
              <a:latin typeface="Calibri"/>
              <a:ea typeface="Calibri"/>
              <a:cs typeface="Calibri"/>
              <a:sym typeface="Calibri"/>
            </a:endParaRPr>
          </a:p>
        </p:txBody>
      </p:sp>
      <p:sp>
        <p:nvSpPr>
          <p:cNvPr id="608" name="Google Shape;608;p55"/>
          <p:cNvSpPr/>
          <p:nvPr/>
        </p:nvSpPr>
        <p:spPr>
          <a:xfrm>
            <a:off x="6600998" y="1302894"/>
            <a:ext cx="1961400" cy="1014300"/>
          </a:xfrm>
          <a:prstGeom prst="rect">
            <a:avLst/>
          </a:prstGeom>
          <a:solidFill>
            <a:srgbClr val="FEE2E2"/>
          </a:solidFill>
          <a:ln w="9375" cap="flat" cmpd="sng">
            <a:solidFill>
              <a:srgbClr val="E2E8F0"/>
            </a:solidFill>
            <a:prstDash val="solid"/>
            <a:round/>
            <a:headEnd type="none" w="sm" len="sm"/>
            <a:tailEnd type="none" w="sm" len="sm"/>
          </a:ln>
        </p:spPr>
        <p:txBody>
          <a:bodyPr spcFirstLastPara="1" wrap="square" lIns="67625" tIns="67625" rIns="67625" bIns="67625" anchor="ctr" anchorCtr="0">
            <a:noAutofit/>
          </a:bodyPr>
          <a:lstStyle/>
          <a:p>
            <a:pPr marL="0" lvl="0" indent="0" algn="l" rtl="0">
              <a:spcBef>
                <a:spcPts val="0"/>
              </a:spcBef>
              <a:spcAft>
                <a:spcPts val="0"/>
              </a:spcAft>
              <a:buNone/>
            </a:pPr>
            <a:endParaRPr/>
          </a:p>
        </p:txBody>
      </p:sp>
      <p:sp>
        <p:nvSpPr>
          <p:cNvPr id="609" name="Google Shape;609;p55"/>
          <p:cNvSpPr/>
          <p:nvPr/>
        </p:nvSpPr>
        <p:spPr>
          <a:xfrm>
            <a:off x="6702446" y="1404342"/>
            <a:ext cx="1758300" cy="270300"/>
          </a:xfrm>
          <a:prstGeom prst="rect">
            <a:avLst/>
          </a:prstGeom>
          <a:noFill/>
          <a:ln>
            <a:noFill/>
          </a:ln>
        </p:spPr>
        <p:txBody>
          <a:bodyPr spcFirstLastPara="1" wrap="square" lIns="67625" tIns="33800" rIns="67625" bIns="33800" anchor="ctr" anchorCtr="0">
            <a:noAutofit/>
          </a:bodyPr>
          <a:lstStyle/>
          <a:p>
            <a:pPr marL="0" marR="0" lvl="0" indent="0" algn="l" rtl="0">
              <a:spcBef>
                <a:spcPts val="0"/>
              </a:spcBef>
              <a:spcAft>
                <a:spcPts val="0"/>
              </a:spcAft>
              <a:buClr>
                <a:srgbClr val="64748B"/>
              </a:buClr>
              <a:buSzPts val="814"/>
              <a:buFont typeface="Arial"/>
              <a:buNone/>
            </a:pPr>
            <a:r>
              <a:rPr lang="en" sz="814" b="0" i="0" u="none" strike="noStrike" cap="none">
                <a:solidFill>
                  <a:srgbClr val="64748B"/>
                </a:solidFill>
                <a:latin typeface="Arial"/>
                <a:ea typeface="Arial"/>
                <a:cs typeface="Arial"/>
                <a:sym typeface="Arial"/>
              </a:rPr>
              <a:t>Tỷ lệ </a:t>
            </a:r>
            <a:r>
              <a:rPr lang="en" sz="814">
                <a:solidFill>
                  <a:srgbClr val="64748B"/>
                </a:solidFill>
              </a:rPr>
              <a:t>hoàn thành</a:t>
            </a:r>
            <a:r>
              <a:rPr lang="en" sz="814" b="0" i="0" u="none" strike="noStrike" cap="none">
                <a:solidFill>
                  <a:srgbClr val="64748B"/>
                </a:solidFill>
                <a:latin typeface="Arial"/>
                <a:ea typeface="Arial"/>
                <a:cs typeface="Arial"/>
                <a:sym typeface="Arial"/>
              </a:rPr>
              <a:t> ký quỹ hiện tại</a:t>
            </a:r>
            <a:endParaRPr sz="814" b="0" i="0" u="none" strike="noStrike" cap="none">
              <a:solidFill>
                <a:srgbClr val="000000"/>
              </a:solidFill>
              <a:latin typeface="Calibri"/>
              <a:ea typeface="Calibri"/>
              <a:cs typeface="Calibri"/>
              <a:sym typeface="Calibri"/>
            </a:endParaRPr>
          </a:p>
        </p:txBody>
      </p:sp>
      <p:sp>
        <p:nvSpPr>
          <p:cNvPr id="610" name="Google Shape;610;p55"/>
          <p:cNvSpPr/>
          <p:nvPr/>
        </p:nvSpPr>
        <p:spPr>
          <a:xfrm>
            <a:off x="6702446" y="1674870"/>
            <a:ext cx="1758300" cy="372000"/>
          </a:xfrm>
          <a:prstGeom prst="rect">
            <a:avLst/>
          </a:prstGeom>
          <a:noFill/>
          <a:ln>
            <a:noFill/>
          </a:ln>
        </p:spPr>
        <p:txBody>
          <a:bodyPr spcFirstLastPara="1" wrap="square" lIns="67625" tIns="33800" rIns="67625" bIns="33800" anchor="ctr" anchorCtr="0">
            <a:noAutofit/>
          </a:bodyPr>
          <a:lstStyle/>
          <a:p>
            <a:pPr marL="0" marR="0" lvl="0" indent="0" algn="l" rtl="0">
              <a:spcBef>
                <a:spcPts val="0"/>
              </a:spcBef>
              <a:spcAft>
                <a:spcPts val="0"/>
              </a:spcAft>
              <a:buClr>
                <a:srgbClr val="DC2626"/>
              </a:buClr>
              <a:buSzPts val="1627"/>
              <a:buFont typeface="Arial"/>
              <a:buNone/>
            </a:pPr>
            <a:r>
              <a:rPr lang="en" sz="1627" b="1">
                <a:solidFill>
                  <a:srgbClr val="DC2626"/>
                </a:solidFill>
              </a:rPr>
              <a:t>36</a:t>
            </a:r>
            <a:r>
              <a:rPr lang="en" sz="1627" b="1" i="0" u="none" strike="noStrike" cap="none">
                <a:solidFill>
                  <a:srgbClr val="DC2626"/>
                </a:solidFill>
                <a:latin typeface="Arial"/>
                <a:ea typeface="Arial"/>
                <a:cs typeface="Arial"/>
                <a:sym typeface="Arial"/>
              </a:rPr>
              <a:t>–</a:t>
            </a:r>
            <a:r>
              <a:rPr lang="en" sz="1627" b="1">
                <a:solidFill>
                  <a:srgbClr val="DC2626"/>
                </a:solidFill>
              </a:rPr>
              <a:t>49</a:t>
            </a:r>
            <a:r>
              <a:rPr lang="en" sz="1627" b="1" i="0" u="none" strike="noStrike" cap="none">
                <a:solidFill>
                  <a:srgbClr val="DC2626"/>
                </a:solidFill>
                <a:latin typeface="Arial"/>
                <a:ea typeface="Arial"/>
                <a:cs typeface="Arial"/>
                <a:sym typeface="Arial"/>
              </a:rPr>
              <a:t>%</a:t>
            </a:r>
            <a:endParaRPr sz="1627" b="0" i="0" u="none" strike="noStrike" cap="none">
              <a:solidFill>
                <a:srgbClr val="000000"/>
              </a:solidFill>
              <a:latin typeface="Calibri"/>
              <a:ea typeface="Calibri"/>
              <a:cs typeface="Calibri"/>
              <a:sym typeface="Calibri"/>
            </a:endParaRPr>
          </a:p>
        </p:txBody>
      </p:sp>
      <p:sp>
        <p:nvSpPr>
          <p:cNvPr id="611" name="Google Shape;611;p55"/>
          <p:cNvSpPr/>
          <p:nvPr/>
        </p:nvSpPr>
        <p:spPr>
          <a:xfrm>
            <a:off x="6702446" y="2067136"/>
            <a:ext cx="1758300" cy="189300"/>
          </a:xfrm>
          <a:prstGeom prst="rect">
            <a:avLst/>
          </a:prstGeom>
          <a:noFill/>
          <a:ln>
            <a:noFill/>
          </a:ln>
        </p:spPr>
        <p:txBody>
          <a:bodyPr spcFirstLastPara="1" wrap="square" lIns="67625" tIns="33800" rIns="67625" bIns="33800" anchor="ctr" anchorCtr="0">
            <a:noAutofit/>
          </a:bodyPr>
          <a:lstStyle/>
          <a:p>
            <a:pPr marL="0" marR="0" lvl="0" indent="0" algn="l" rtl="0">
              <a:spcBef>
                <a:spcPts val="0"/>
              </a:spcBef>
              <a:spcAft>
                <a:spcPts val="0"/>
              </a:spcAft>
              <a:buClr>
                <a:srgbClr val="64748B"/>
              </a:buClr>
              <a:buSzPts val="740"/>
              <a:buFont typeface="Arial"/>
              <a:buNone/>
            </a:pPr>
            <a:r>
              <a:rPr lang="en" sz="740">
                <a:solidFill>
                  <a:srgbClr val="64748B"/>
                </a:solidFill>
              </a:rPr>
              <a:t>Giảm sâu</a:t>
            </a:r>
            <a:endParaRPr sz="740" b="0" i="0" u="none" strike="noStrike" cap="none">
              <a:solidFill>
                <a:srgbClr val="000000"/>
              </a:solidFill>
              <a:latin typeface="Calibri"/>
              <a:ea typeface="Calibri"/>
              <a:cs typeface="Calibri"/>
              <a:sym typeface="Calibri"/>
            </a:endParaRPr>
          </a:p>
        </p:txBody>
      </p:sp>
      <p:sp>
        <p:nvSpPr>
          <p:cNvPr id="612" name="Google Shape;612;p55"/>
          <p:cNvSpPr/>
          <p:nvPr/>
        </p:nvSpPr>
        <p:spPr>
          <a:xfrm>
            <a:off x="412650" y="2418822"/>
            <a:ext cx="8318700" cy="40500"/>
          </a:xfrm>
          <a:prstGeom prst="rect">
            <a:avLst/>
          </a:prstGeom>
          <a:solidFill>
            <a:srgbClr val="E2E8F0"/>
          </a:solidFill>
          <a:ln w="9375" cap="flat" cmpd="sng">
            <a:solidFill>
              <a:srgbClr val="E2E8F0"/>
            </a:solidFill>
            <a:prstDash val="solid"/>
            <a:round/>
            <a:headEnd type="none" w="sm" len="sm"/>
            <a:tailEnd type="none" w="sm" len="sm"/>
          </a:ln>
        </p:spPr>
        <p:txBody>
          <a:bodyPr spcFirstLastPara="1" wrap="square" lIns="67625" tIns="67625" rIns="67625" bIns="67625" anchor="ctr" anchorCtr="0">
            <a:noAutofit/>
          </a:bodyPr>
          <a:lstStyle/>
          <a:p>
            <a:pPr marL="0" lvl="0" indent="0" algn="l" rtl="0">
              <a:spcBef>
                <a:spcPts val="0"/>
              </a:spcBef>
              <a:spcAft>
                <a:spcPts val="0"/>
              </a:spcAft>
              <a:buNone/>
            </a:pPr>
            <a:endParaRPr/>
          </a:p>
        </p:txBody>
      </p:sp>
      <p:sp>
        <p:nvSpPr>
          <p:cNvPr id="613" name="Google Shape;613;p55"/>
          <p:cNvSpPr/>
          <p:nvPr/>
        </p:nvSpPr>
        <p:spPr>
          <a:xfrm>
            <a:off x="412650" y="2587902"/>
            <a:ext cx="8318700" cy="256800"/>
          </a:xfrm>
          <a:prstGeom prst="rect">
            <a:avLst/>
          </a:prstGeom>
          <a:noFill/>
          <a:ln>
            <a:noFill/>
          </a:ln>
        </p:spPr>
        <p:txBody>
          <a:bodyPr spcFirstLastPara="1" wrap="square" lIns="67625" tIns="33800" rIns="67625" bIns="33800" anchor="ctr" anchorCtr="0">
            <a:noAutofit/>
          </a:bodyPr>
          <a:lstStyle/>
          <a:p>
            <a:pPr marL="0" marR="0" lvl="0" indent="0" algn="l" rtl="0">
              <a:spcBef>
                <a:spcPts val="0"/>
              </a:spcBef>
              <a:spcAft>
                <a:spcPts val="0"/>
              </a:spcAft>
              <a:buClr>
                <a:srgbClr val="1E293B"/>
              </a:buClr>
              <a:buSzPts val="1109"/>
              <a:buFont typeface="Arial"/>
              <a:buNone/>
            </a:pPr>
            <a:r>
              <a:rPr lang="en" sz="1109" b="1">
                <a:solidFill>
                  <a:srgbClr val="1E293B"/>
                </a:solidFill>
              </a:rPr>
              <a:t>Các nguyên nhân có thể tác động</a:t>
            </a:r>
            <a:endParaRPr sz="1109" b="0" i="0" u="none" strike="noStrike" cap="none">
              <a:solidFill>
                <a:srgbClr val="000000"/>
              </a:solidFill>
              <a:latin typeface="Calibri"/>
              <a:ea typeface="Calibri"/>
              <a:cs typeface="Calibri"/>
              <a:sym typeface="Calibri"/>
            </a:endParaRPr>
          </a:p>
        </p:txBody>
      </p:sp>
      <p:sp>
        <p:nvSpPr>
          <p:cNvPr id="614" name="Google Shape;614;p55"/>
          <p:cNvSpPr/>
          <p:nvPr/>
        </p:nvSpPr>
        <p:spPr>
          <a:xfrm>
            <a:off x="412650" y="2926065"/>
            <a:ext cx="2671500" cy="1656600"/>
          </a:xfrm>
          <a:prstGeom prst="rect">
            <a:avLst/>
          </a:prstGeom>
          <a:solidFill>
            <a:srgbClr val="FEE2E2"/>
          </a:solidFill>
          <a:ln w="9375" cap="flat" cmpd="sng">
            <a:solidFill>
              <a:srgbClr val="E2E8F0"/>
            </a:solidFill>
            <a:prstDash val="solid"/>
            <a:round/>
            <a:headEnd type="none" w="sm" len="sm"/>
            <a:tailEnd type="none" w="sm" len="sm"/>
          </a:ln>
        </p:spPr>
        <p:txBody>
          <a:bodyPr spcFirstLastPara="1" wrap="square" lIns="67625" tIns="67625" rIns="67625" bIns="67625" anchor="ctr" anchorCtr="0">
            <a:noAutofit/>
          </a:bodyPr>
          <a:lstStyle/>
          <a:p>
            <a:pPr marL="0" lvl="0" indent="0" algn="l" rtl="0">
              <a:spcBef>
                <a:spcPts val="0"/>
              </a:spcBef>
              <a:spcAft>
                <a:spcPts val="0"/>
              </a:spcAft>
              <a:buNone/>
            </a:pPr>
            <a:endParaRPr/>
          </a:p>
        </p:txBody>
      </p:sp>
      <p:sp>
        <p:nvSpPr>
          <p:cNvPr id="615" name="Google Shape;615;p55"/>
          <p:cNvSpPr/>
          <p:nvPr/>
        </p:nvSpPr>
        <p:spPr>
          <a:xfrm>
            <a:off x="514098" y="3027510"/>
            <a:ext cx="304200" cy="30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C2626"/>
              </a:buClr>
              <a:buSzPts val="1479"/>
              <a:buFont typeface="Arial"/>
              <a:buNone/>
            </a:pPr>
            <a:r>
              <a:rPr lang="en" sz="1479" b="1" i="0" u="none" strike="noStrike" cap="none">
                <a:solidFill>
                  <a:srgbClr val="DC2626"/>
                </a:solidFill>
                <a:latin typeface="Arial"/>
                <a:ea typeface="Arial"/>
                <a:cs typeface="Arial"/>
                <a:sym typeface="Arial"/>
              </a:rPr>
              <a:t>↓</a:t>
            </a:r>
            <a:endParaRPr sz="1479" b="0" i="0" u="none" strike="noStrike" cap="none">
              <a:solidFill>
                <a:srgbClr val="000000"/>
              </a:solidFill>
              <a:latin typeface="Calibri"/>
              <a:ea typeface="Calibri"/>
              <a:cs typeface="Calibri"/>
              <a:sym typeface="Calibri"/>
            </a:endParaRPr>
          </a:p>
        </p:txBody>
      </p:sp>
      <p:sp>
        <p:nvSpPr>
          <p:cNvPr id="616" name="Google Shape;616;p55"/>
          <p:cNvSpPr/>
          <p:nvPr/>
        </p:nvSpPr>
        <p:spPr>
          <a:xfrm>
            <a:off x="514098" y="3399486"/>
            <a:ext cx="2468700" cy="304200"/>
          </a:xfrm>
          <a:prstGeom prst="rect">
            <a:avLst/>
          </a:prstGeom>
          <a:noFill/>
          <a:ln>
            <a:noFill/>
          </a:ln>
        </p:spPr>
        <p:txBody>
          <a:bodyPr spcFirstLastPara="1" wrap="square" lIns="67625" tIns="33800" rIns="67625" bIns="33800" anchor="ctr" anchorCtr="0">
            <a:noAutofit/>
          </a:bodyPr>
          <a:lstStyle/>
          <a:p>
            <a:pPr marL="0" marR="0" lvl="0" indent="0" algn="l" rtl="0">
              <a:spcBef>
                <a:spcPts val="0"/>
              </a:spcBef>
              <a:spcAft>
                <a:spcPts val="0"/>
              </a:spcAft>
              <a:buClr>
                <a:srgbClr val="1E293B"/>
              </a:buClr>
              <a:buSzPts val="888"/>
              <a:buFont typeface="Arial"/>
              <a:buNone/>
            </a:pPr>
            <a:r>
              <a:rPr lang="en" sz="888" b="1" i="0" u="none" strike="noStrike" cap="none">
                <a:solidFill>
                  <a:srgbClr val="1E293B"/>
                </a:solidFill>
                <a:latin typeface="Arial"/>
                <a:ea typeface="Arial"/>
                <a:cs typeface="Arial"/>
                <a:sym typeface="Arial"/>
              </a:rPr>
              <a:t>Rút tiền trước thời điểm thu</a:t>
            </a:r>
            <a:endParaRPr sz="888" b="0" i="0" u="none" strike="noStrike" cap="none">
              <a:solidFill>
                <a:srgbClr val="000000"/>
              </a:solidFill>
              <a:latin typeface="Calibri"/>
              <a:ea typeface="Calibri"/>
              <a:cs typeface="Calibri"/>
              <a:sym typeface="Calibri"/>
            </a:endParaRPr>
          </a:p>
        </p:txBody>
      </p:sp>
      <p:sp>
        <p:nvSpPr>
          <p:cNvPr id="617" name="Google Shape;617;p55"/>
          <p:cNvSpPr/>
          <p:nvPr/>
        </p:nvSpPr>
        <p:spPr>
          <a:xfrm>
            <a:off x="514091" y="3737646"/>
            <a:ext cx="2468700" cy="781200"/>
          </a:xfrm>
          <a:prstGeom prst="rect">
            <a:avLst/>
          </a:prstGeom>
          <a:noFill/>
          <a:ln>
            <a:noFill/>
          </a:ln>
        </p:spPr>
        <p:txBody>
          <a:bodyPr spcFirstLastPara="1" wrap="square" lIns="67625" tIns="33800" rIns="67625" bIns="33800" anchor="ctr" anchorCtr="0">
            <a:noAutofit/>
          </a:bodyPr>
          <a:lstStyle/>
          <a:p>
            <a:pPr marL="0" marR="0" lvl="0" indent="0" algn="l" rtl="0">
              <a:lnSpc>
                <a:spcPct val="130000"/>
              </a:lnSpc>
              <a:spcBef>
                <a:spcPts val="0"/>
              </a:spcBef>
              <a:spcAft>
                <a:spcPts val="0"/>
              </a:spcAft>
              <a:buClr>
                <a:srgbClr val="334155"/>
              </a:buClr>
              <a:buSzPts val="814"/>
              <a:buFont typeface="Arial"/>
              <a:buNone/>
            </a:pPr>
            <a:r>
              <a:rPr lang="en" sz="814">
                <a:solidFill>
                  <a:srgbClr val="334155"/>
                </a:solidFill>
              </a:rPr>
              <a:t>Tài xế chủ động rút tiền trước thời điểm hệ thống thực hiện lệnh ký quỹ tự động → không đủ số dư để trích nộp.</a:t>
            </a:r>
            <a:endParaRPr sz="814" b="0" i="0" u="none" strike="noStrike" cap="none">
              <a:solidFill>
                <a:srgbClr val="000000"/>
              </a:solidFill>
              <a:latin typeface="Calibri"/>
              <a:ea typeface="Calibri"/>
              <a:cs typeface="Calibri"/>
              <a:sym typeface="Calibri"/>
            </a:endParaRPr>
          </a:p>
        </p:txBody>
      </p:sp>
      <p:sp>
        <p:nvSpPr>
          <p:cNvPr id="618" name="Google Shape;618;p55"/>
          <p:cNvSpPr/>
          <p:nvPr/>
        </p:nvSpPr>
        <p:spPr>
          <a:xfrm>
            <a:off x="3185568" y="2926065"/>
            <a:ext cx="2671500" cy="1656600"/>
          </a:xfrm>
          <a:prstGeom prst="rect">
            <a:avLst/>
          </a:prstGeom>
          <a:solidFill>
            <a:srgbClr val="FEF3C7"/>
          </a:solidFill>
          <a:ln w="9375" cap="flat" cmpd="sng">
            <a:solidFill>
              <a:srgbClr val="E2E8F0"/>
            </a:solidFill>
            <a:prstDash val="solid"/>
            <a:round/>
            <a:headEnd type="none" w="sm" len="sm"/>
            <a:tailEnd type="none" w="sm" len="sm"/>
          </a:ln>
        </p:spPr>
        <p:txBody>
          <a:bodyPr spcFirstLastPara="1" wrap="square" lIns="67625" tIns="67625" rIns="67625" bIns="67625" anchor="ctr" anchorCtr="0">
            <a:noAutofit/>
          </a:bodyPr>
          <a:lstStyle/>
          <a:p>
            <a:pPr marL="0" lvl="0" indent="0" algn="l" rtl="0">
              <a:spcBef>
                <a:spcPts val="0"/>
              </a:spcBef>
              <a:spcAft>
                <a:spcPts val="0"/>
              </a:spcAft>
              <a:buNone/>
            </a:pPr>
            <a:endParaRPr/>
          </a:p>
        </p:txBody>
      </p:sp>
      <p:sp>
        <p:nvSpPr>
          <p:cNvPr id="619" name="Google Shape;619;p55"/>
          <p:cNvSpPr/>
          <p:nvPr/>
        </p:nvSpPr>
        <p:spPr>
          <a:xfrm>
            <a:off x="3287019" y="3027510"/>
            <a:ext cx="304200" cy="30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7706"/>
              </a:buClr>
              <a:buSzPts val="1479"/>
              <a:buFont typeface="Arial"/>
              <a:buNone/>
            </a:pPr>
            <a:r>
              <a:rPr lang="en" sz="1479" b="1" i="0" u="none" strike="noStrike" cap="none">
                <a:solidFill>
                  <a:srgbClr val="D97706"/>
                </a:solidFill>
                <a:latin typeface="Arial"/>
                <a:ea typeface="Arial"/>
                <a:cs typeface="Arial"/>
                <a:sym typeface="Arial"/>
              </a:rPr>
              <a:t>↔</a:t>
            </a:r>
            <a:endParaRPr sz="1479" b="0" i="0" u="none" strike="noStrike" cap="none">
              <a:solidFill>
                <a:srgbClr val="000000"/>
              </a:solidFill>
              <a:latin typeface="Calibri"/>
              <a:ea typeface="Calibri"/>
              <a:cs typeface="Calibri"/>
              <a:sym typeface="Calibri"/>
            </a:endParaRPr>
          </a:p>
        </p:txBody>
      </p:sp>
      <p:sp>
        <p:nvSpPr>
          <p:cNvPr id="620" name="Google Shape;620;p55"/>
          <p:cNvSpPr/>
          <p:nvPr/>
        </p:nvSpPr>
        <p:spPr>
          <a:xfrm>
            <a:off x="3287019" y="3399486"/>
            <a:ext cx="2468700" cy="304200"/>
          </a:xfrm>
          <a:prstGeom prst="rect">
            <a:avLst/>
          </a:prstGeom>
          <a:noFill/>
          <a:ln>
            <a:noFill/>
          </a:ln>
        </p:spPr>
        <p:txBody>
          <a:bodyPr spcFirstLastPara="1" wrap="square" lIns="67625" tIns="33800" rIns="67625" bIns="33800" anchor="ctr" anchorCtr="0">
            <a:noAutofit/>
          </a:bodyPr>
          <a:lstStyle/>
          <a:p>
            <a:pPr marL="0" marR="0" lvl="0" indent="0" algn="l" rtl="0">
              <a:spcBef>
                <a:spcPts val="0"/>
              </a:spcBef>
              <a:spcAft>
                <a:spcPts val="0"/>
              </a:spcAft>
              <a:buClr>
                <a:srgbClr val="1E293B"/>
              </a:buClr>
              <a:buSzPts val="888"/>
              <a:buFont typeface="Arial"/>
              <a:buNone/>
            </a:pPr>
            <a:r>
              <a:rPr lang="en" sz="888" b="1" i="0" u="none" strike="noStrike" cap="none">
                <a:solidFill>
                  <a:srgbClr val="1E293B"/>
                </a:solidFill>
                <a:latin typeface="Arial"/>
                <a:ea typeface="Arial"/>
                <a:cs typeface="Arial"/>
                <a:sym typeface="Arial"/>
              </a:rPr>
              <a:t>Trùng ngày lệnh chuyển tiền (thứ 5)</a:t>
            </a:r>
            <a:endParaRPr sz="888" b="0" i="0" u="none" strike="noStrike" cap="none">
              <a:solidFill>
                <a:srgbClr val="000000"/>
              </a:solidFill>
              <a:latin typeface="Calibri"/>
              <a:ea typeface="Calibri"/>
              <a:cs typeface="Calibri"/>
              <a:sym typeface="Calibri"/>
            </a:endParaRPr>
          </a:p>
        </p:txBody>
      </p:sp>
      <p:sp>
        <p:nvSpPr>
          <p:cNvPr id="621" name="Google Shape;621;p55"/>
          <p:cNvSpPr/>
          <p:nvPr/>
        </p:nvSpPr>
        <p:spPr>
          <a:xfrm>
            <a:off x="3287014" y="3737646"/>
            <a:ext cx="2468700" cy="781200"/>
          </a:xfrm>
          <a:prstGeom prst="rect">
            <a:avLst/>
          </a:prstGeom>
          <a:noFill/>
          <a:ln>
            <a:noFill/>
          </a:ln>
        </p:spPr>
        <p:txBody>
          <a:bodyPr spcFirstLastPara="1" wrap="square" lIns="67625" tIns="33800" rIns="67625" bIns="33800" anchor="ctr" anchorCtr="0">
            <a:noAutofit/>
          </a:bodyPr>
          <a:lstStyle/>
          <a:p>
            <a:pPr marL="0" marR="0" lvl="0" indent="0" algn="l" rtl="0">
              <a:lnSpc>
                <a:spcPct val="130000"/>
              </a:lnSpc>
              <a:spcBef>
                <a:spcPts val="0"/>
              </a:spcBef>
              <a:spcAft>
                <a:spcPts val="0"/>
              </a:spcAft>
              <a:buClr>
                <a:srgbClr val="334155"/>
              </a:buClr>
              <a:buSzPts val="814"/>
              <a:buFont typeface="Arial"/>
              <a:buNone/>
            </a:pPr>
            <a:r>
              <a:rPr lang="en" sz="814">
                <a:solidFill>
                  <a:srgbClr val="334155"/>
                </a:solidFill>
              </a:rPr>
              <a:t>Hệ thống chuyển tiền về ngân hàng vào thứ 5, trong khi lệnh ký quỹ tự động cũng được thực hiện trong ngày → có thể không đủ số dư để trích nộp.</a:t>
            </a:r>
            <a:endParaRPr sz="814" b="0" i="0" u="none" strike="noStrike" cap="none">
              <a:solidFill>
                <a:srgbClr val="000000"/>
              </a:solidFill>
              <a:latin typeface="Calibri"/>
              <a:ea typeface="Calibri"/>
              <a:cs typeface="Calibri"/>
              <a:sym typeface="Calibri"/>
            </a:endParaRPr>
          </a:p>
        </p:txBody>
      </p:sp>
      <p:sp>
        <p:nvSpPr>
          <p:cNvPr id="622" name="Google Shape;622;p55"/>
          <p:cNvSpPr/>
          <p:nvPr/>
        </p:nvSpPr>
        <p:spPr>
          <a:xfrm>
            <a:off x="5958487" y="2926065"/>
            <a:ext cx="2671500" cy="1656600"/>
          </a:xfrm>
          <a:prstGeom prst="rect">
            <a:avLst/>
          </a:prstGeom>
          <a:solidFill>
            <a:srgbClr val="F1F5F9"/>
          </a:solidFill>
          <a:ln w="9375" cap="flat" cmpd="sng">
            <a:solidFill>
              <a:srgbClr val="E2E8F0"/>
            </a:solidFill>
            <a:prstDash val="solid"/>
            <a:round/>
            <a:headEnd type="none" w="sm" len="sm"/>
            <a:tailEnd type="none" w="sm" len="sm"/>
          </a:ln>
        </p:spPr>
        <p:txBody>
          <a:bodyPr spcFirstLastPara="1" wrap="square" lIns="67625" tIns="67625" rIns="67625" bIns="67625" anchor="ctr" anchorCtr="0">
            <a:noAutofit/>
          </a:bodyPr>
          <a:lstStyle/>
          <a:p>
            <a:pPr marL="0" lvl="0" indent="0" algn="l" rtl="0">
              <a:spcBef>
                <a:spcPts val="0"/>
              </a:spcBef>
              <a:spcAft>
                <a:spcPts val="0"/>
              </a:spcAft>
              <a:buNone/>
            </a:pPr>
            <a:endParaRPr/>
          </a:p>
        </p:txBody>
      </p:sp>
      <p:sp>
        <p:nvSpPr>
          <p:cNvPr id="623" name="Google Shape;623;p55"/>
          <p:cNvSpPr/>
          <p:nvPr/>
        </p:nvSpPr>
        <p:spPr>
          <a:xfrm>
            <a:off x="6059940" y="3027510"/>
            <a:ext cx="304200" cy="30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479"/>
              <a:buFont typeface="Arial"/>
              <a:buNone/>
            </a:pPr>
            <a:r>
              <a:rPr lang="en" sz="1479" b="1">
                <a:solidFill>
                  <a:srgbClr val="64748B"/>
                </a:solidFill>
              </a:rPr>
              <a:t>🔺</a:t>
            </a:r>
            <a:endParaRPr sz="1479" b="0" i="0" u="none" strike="noStrike" cap="none">
              <a:solidFill>
                <a:srgbClr val="000000"/>
              </a:solidFill>
              <a:latin typeface="Calibri"/>
              <a:ea typeface="Calibri"/>
              <a:cs typeface="Calibri"/>
              <a:sym typeface="Calibri"/>
            </a:endParaRPr>
          </a:p>
        </p:txBody>
      </p:sp>
      <p:sp>
        <p:nvSpPr>
          <p:cNvPr id="624" name="Google Shape;624;p55"/>
          <p:cNvSpPr/>
          <p:nvPr/>
        </p:nvSpPr>
        <p:spPr>
          <a:xfrm>
            <a:off x="6059940" y="3399486"/>
            <a:ext cx="2468700" cy="304200"/>
          </a:xfrm>
          <a:prstGeom prst="rect">
            <a:avLst/>
          </a:prstGeom>
          <a:noFill/>
          <a:ln>
            <a:noFill/>
          </a:ln>
        </p:spPr>
        <p:txBody>
          <a:bodyPr spcFirstLastPara="1" wrap="square" lIns="67625" tIns="33800" rIns="67625" bIns="33800" anchor="ctr" anchorCtr="0">
            <a:noAutofit/>
          </a:bodyPr>
          <a:lstStyle/>
          <a:p>
            <a:pPr marL="0" marR="0" lvl="0" indent="0" algn="l" rtl="0">
              <a:spcBef>
                <a:spcPts val="0"/>
              </a:spcBef>
              <a:spcAft>
                <a:spcPts val="0"/>
              </a:spcAft>
              <a:buClr>
                <a:srgbClr val="1E293B"/>
              </a:buClr>
              <a:buSzPts val="888"/>
              <a:buFont typeface="Arial"/>
              <a:buNone/>
            </a:pPr>
            <a:r>
              <a:rPr lang="en" sz="888" b="1">
                <a:solidFill>
                  <a:srgbClr val="1E293B"/>
                </a:solidFill>
              </a:rPr>
              <a:t>Dữ liệu cần kiểm chứng</a:t>
            </a:r>
            <a:endParaRPr sz="888" b="0" i="0" u="none" strike="noStrike" cap="none">
              <a:solidFill>
                <a:srgbClr val="000000"/>
              </a:solidFill>
              <a:latin typeface="Calibri"/>
              <a:ea typeface="Calibri"/>
              <a:cs typeface="Calibri"/>
              <a:sym typeface="Calibri"/>
            </a:endParaRPr>
          </a:p>
        </p:txBody>
      </p:sp>
      <p:sp>
        <p:nvSpPr>
          <p:cNvPr id="625" name="Google Shape;625;p55"/>
          <p:cNvSpPr/>
          <p:nvPr/>
        </p:nvSpPr>
        <p:spPr>
          <a:xfrm>
            <a:off x="6059938" y="3737646"/>
            <a:ext cx="2468700" cy="781200"/>
          </a:xfrm>
          <a:prstGeom prst="rect">
            <a:avLst/>
          </a:prstGeom>
          <a:noFill/>
          <a:ln>
            <a:noFill/>
          </a:ln>
        </p:spPr>
        <p:txBody>
          <a:bodyPr spcFirstLastPara="1" wrap="square" lIns="67625" tIns="33800" rIns="67625" bIns="33800" anchor="ctr" anchorCtr="0">
            <a:noAutofit/>
          </a:bodyPr>
          <a:lstStyle/>
          <a:p>
            <a:pPr marL="0" marR="0" lvl="0" indent="0" algn="l" rtl="0">
              <a:lnSpc>
                <a:spcPct val="130000"/>
              </a:lnSpc>
              <a:spcBef>
                <a:spcPts val="0"/>
              </a:spcBef>
              <a:spcAft>
                <a:spcPts val="0"/>
              </a:spcAft>
              <a:buClr>
                <a:srgbClr val="334155"/>
              </a:buClr>
              <a:buSzPts val="814"/>
              <a:buFont typeface="Arial"/>
              <a:buNone/>
            </a:pPr>
            <a:r>
              <a:rPr lang="en" sz="814" b="0" i="0" u="none" strike="noStrike" cap="none">
                <a:solidFill>
                  <a:srgbClr val="334155"/>
                </a:solidFill>
                <a:latin typeface="Arial"/>
                <a:ea typeface="Arial"/>
                <a:cs typeface="Arial"/>
                <a:sym typeface="Arial"/>
              </a:rPr>
              <a:t>% TX có số dư = 0đ tại thời điểm hệ thống thu</a:t>
            </a:r>
            <a:endParaRPr sz="814" b="0" i="0" u="none" strike="noStrike" cap="none">
              <a:solidFill>
                <a:srgbClr val="000000"/>
              </a:solidFill>
              <a:latin typeface="Calibri"/>
              <a:ea typeface="Calibri"/>
              <a:cs typeface="Calibri"/>
              <a:sym typeface="Calibri"/>
            </a:endParaRPr>
          </a:p>
          <a:p>
            <a:pPr marL="0" marR="0" lvl="0" indent="0" algn="l" rtl="0">
              <a:lnSpc>
                <a:spcPct val="130000"/>
              </a:lnSpc>
              <a:spcBef>
                <a:spcPts val="0"/>
              </a:spcBef>
              <a:spcAft>
                <a:spcPts val="0"/>
              </a:spcAft>
              <a:buClr>
                <a:srgbClr val="334155"/>
              </a:buClr>
              <a:buSzPts val="814"/>
              <a:buFont typeface="Arial"/>
              <a:buNone/>
            </a:pPr>
            <a:r>
              <a:rPr lang="en" sz="814" b="0" i="0" u="none" strike="noStrike" cap="none">
                <a:solidFill>
                  <a:srgbClr val="334155"/>
                </a:solidFill>
                <a:latin typeface="Arial"/>
                <a:ea typeface="Arial"/>
                <a:cs typeface="Arial"/>
                <a:sym typeface="Arial"/>
              </a:rPr>
              <a:t>% TX rút tiền đúng ngày ký quỹ</a:t>
            </a:r>
            <a:endParaRPr sz="814" b="0" i="0" u="none" strike="noStrike" cap="none">
              <a:solidFill>
                <a:srgbClr val="000000"/>
              </a:solidFill>
              <a:latin typeface="Calibri"/>
              <a:ea typeface="Calibri"/>
              <a:cs typeface="Calibri"/>
              <a:sym typeface="Calibri"/>
            </a:endParaRPr>
          </a:p>
        </p:txBody>
      </p:sp>
      <p:sp>
        <p:nvSpPr>
          <p:cNvPr id="626" name="Google Shape;626;p55"/>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631"/>
        <p:cNvGrpSpPr/>
        <p:nvPr/>
      </p:nvGrpSpPr>
      <p:grpSpPr>
        <a:xfrm>
          <a:off x="0" y="0"/>
          <a:ext cx="0" cy="0"/>
          <a:chOff x="0" y="0"/>
          <a:chExt cx="0" cy="0"/>
        </a:xfrm>
      </p:grpSpPr>
      <p:sp>
        <p:nvSpPr>
          <p:cNvPr id="632" name="Google Shape;632;p56"/>
          <p:cNvSpPr/>
          <p:nvPr/>
        </p:nvSpPr>
        <p:spPr>
          <a:xfrm>
            <a:off x="411480" y="341465"/>
            <a:ext cx="377100" cy="377100"/>
          </a:xfrm>
          <a:prstGeom prst="roundRect">
            <a:avLst>
              <a:gd name="adj" fmla="val 16667"/>
            </a:avLst>
          </a:prstGeom>
          <a:solidFill>
            <a:srgbClr val="1B8A5A"/>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633" name="Google Shape;633;p56"/>
          <p:cNvSpPr/>
          <p:nvPr/>
        </p:nvSpPr>
        <p:spPr>
          <a:xfrm>
            <a:off x="411480" y="341465"/>
            <a:ext cx="377100" cy="377100"/>
          </a:xfrm>
          <a:prstGeom prst="roundRect">
            <a:avLst>
              <a:gd name="adj" fmla="val 16667"/>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34155"/>
              </a:buClr>
              <a:buSzPts val="1000"/>
              <a:buFont typeface="Helvetica Neue"/>
              <a:buNone/>
            </a:pPr>
            <a:r>
              <a:rPr lang="en" sz="1000" b="1">
                <a:solidFill>
                  <a:schemeClr val="lt1"/>
                </a:solidFill>
                <a:latin typeface="Helvetica Neue"/>
                <a:ea typeface="Helvetica Neue"/>
                <a:cs typeface="Helvetica Neue"/>
                <a:sym typeface="Helvetica Neue"/>
              </a:rPr>
              <a:t>De</a:t>
            </a:r>
            <a:endParaRPr sz="1000" b="0" i="0" u="none" strike="noStrike" cap="none">
              <a:solidFill>
                <a:schemeClr val="lt1"/>
              </a:solidFill>
              <a:latin typeface="Calibri"/>
              <a:ea typeface="Calibri"/>
              <a:cs typeface="Calibri"/>
              <a:sym typeface="Calibri"/>
            </a:endParaRPr>
          </a:p>
        </p:txBody>
      </p:sp>
      <p:sp>
        <p:nvSpPr>
          <p:cNvPr id="634" name="Google Shape;634;p56"/>
          <p:cNvSpPr/>
          <p:nvPr/>
        </p:nvSpPr>
        <p:spPr>
          <a:xfrm>
            <a:off x="891550" y="341465"/>
            <a:ext cx="6583800" cy="377100"/>
          </a:xfrm>
          <a:prstGeom prst="roundRect">
            <a:avLst>
              <a:gd name="adj" fmla="val 16667"/>
            </a:avLst>
          </a:prstGeom>
          <a:noFill/>
          <a:ln w="9525" cap="flat" cmpd="sng">
            <a:solidFill>
              <a:schemeClr val="lt2"/>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Clr>
                <a:srgbClr val="1E293B"/>
              </a:buClr>
              <a:buSzPts val="1923"/>
              <a:buFont typeface="Arial"/>
              <a:buNone/>
            </a:pPr>
            <a:r>
              <a:rPr lang="en" sz="1923" b="1">
                <a:solidFill>
                  <a:srgbClr val="1E293B"/>
                </a:solidFill>
              </a:rPr>
              <a:t>Đề xuất thực hiện</a:t>
            </a:r>
            <a:endParaRPr sz="1300" b="1">
              <a:solidFill>
                <a:srgbClr val="0F172A"/>
              </a:solidFill>
              <a:latin typeface="Helvetica Neue"/>
              <a:ea typeface="Helvetica Neue"/>
              <a:cs typeface="Helvetica Neue"/>
              <a:sym typeface="Helvetica Neue"/>
            </a:endParaRPr>
          </a:p>
        </p:txBody>
      </p:sp>
      <p:sp>
        <p:nvSpPr>
          <p:cNvPr id="635" name="Google Shape;635;p56"/>
          <p:cNvSpPr/>
          <p:nvPr/>
        </p:nvSpPr>
        <p:spPr>
          <a:xfrm>
            <a:off x="404580" y="788533"/>
            <a:ext cx="2263200" cy="41100"/>
          </a:xfrm>
          <a:prstGeom prst="roundRect">
            <a:avLst>
              <a:gd name="adj" fmla="val 16667"/>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cxnSp>
        <p:nvCxnSpPr>
          <p:cNvPr id="636" name="Google Shape;636;p56"/>
          <p:cNvCxnSpPr/>
          <p:nvPr/>
        </p:nvCxnSpPr>
        <p:spPr>
          <a:xfrm>
            <a:off x="411480" y="4882896"/>
            <a:ext cx="8318700" cy="0"/>
          </a:xfrm>
          <a:prstGeom prst="straightConnector1">
            <a:avLst/>
          </a:prstGeom>
          <a:noFill/>
          <a:ln w="15875" cap="flat" cmpd="sng">
            <a:solidFill>
              <a:srgbClr val="FF7F32"/>
            </a:solidFill>
            <a:prstDash val="solid"/>
            <a:round/>
            <a:headEnd type="none" w="sm" len="sm"/>
            <a:tailEnd type="none" w="sm" len="sm"/>
          </a:ln>
        </p:spPr>
      </p:cxnSp>
      <p:sp>
        <p:nvSpPr>
          <p:cNvPr id="637" name="Google Shape;637;p56"/>
          <p:cNvSpPr/>
          <p:nvPr/>
        </p:nvSpPr>
        <p:spPr>
          <a:xfrm>
            <a:off x="5829300" y="55301"/>
            <a:ext cx="2901000" cy="150900"/>
          </a:xfrm>
          <a:prstGeom prst="roundRect">
            <a:avLst>
              <a:gd name="adj" fmla="val 16667"/>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64748B"/>
              </a:buClr>
              <a:buSzPts val="700"/>
              <a:buFont typeface="Helvetica Neue"/>
              <a:buNone/>
            </a:pPr>
            <a:r>
              <a:rPr lang="en" sz="700" i="1">
                <a:solidFill>
                  <a:srgbClr val="64748B"/>
                </a:solidFill>
                <a:latin typeface="Helvetica Neue"/>
                <a:ea typeface="Helvetica Neue"/>
                <a:cs typeface="Helvetica Neue"/>
                <a:sym typeface="Helvetica Neue"/>
              </a:rPr>
              <a:t>Ahamove  ·  Driver Management  ·  Weekly Report</a:t>
            </a:r>
            <a:endParaRPr sz="600" b="0" i="0" u="none" strike="noStrike" cap="none">
              <a:solidFill>
                <a:schemeClr val="dk1"/>
              </a:solidFill>
              <a:latin typeface="Calibri"/>
              <a:ea typeface="Calibri"/>
              <a:cs typeface="Calibri"/>
              <a:sym typeface="Calibri"/>
            </a:endParaRPr>
          </a:p>
        </p:txBody>
      </p:sp>
      <p:sp>
        <p:nvSpPr>
          <p:cNvPr id="638" name="Google Shape;638;p56"/>
          <p:cNvSpPr/>
          <p:nvPr/>
        </p:nvSpPr>
        <p:spPr>
          <a:xfrm>
            <a:off x="334412" y="826511"/>
            <a:ext cx="8475000" cy="261900"/>
          </a:xfrm>
          <a:prstGeom prst="rect">
            <a:avLst/>
          </a:prstGeom>
          <a:noFill/>
          <a:ln>
            <a:noFill/>
          </a:ln>
        </p:spPr>
        <p:txBody>
          <a:bodyPr spcFirstLastPara="1" wrap="square" lIns="68900" tIns="34425" rIns="68900" bIns="34425" anchor="ctr" anchorCtr="0">
            <a:noAutofit/>
          </a:bodyPr>
          <a:lstStyle/>
          <a:p>
            <a:pPr marL="0" marR="0" lvl="0" indent="0" algn="l" rtl="0">
              <a:spcBef>
                <a:spcPts val="0"/>
              </a:spcBef>
              <a:spcAft>
                <a:spcPts val="0"/>
              </a:spcAft>
              <a:buClr>
                <a:srgbClr val="64748B"/>
              </a:buClr>
              <a:buSzPts val="980"/>
              <a:buFont typeface="Arial"/>
              <a:buNone/>
            </a:pPr>
            <a:r>
              <a:rPr lang="en" sz="980">
                <a:solidFill>
                  <a:srgbClr val="64748B"/>
                </a:solidFill>
              </a:rPr>
              <a:t>Duy trì số dư tối thiểu 80.000đ trong 60 ngày kể từ FAT</a:t>
            </a:r>
            <a:endParaRPr sz="980" b="0" i="0" u="none" strike="noStrike" cap="none">
              <a:solidFill>
                <a:srgbClr val="000000"/>
              </a:solidFill>
              <a:latin typeface="Calibri"/>
              <a:ea typeface="Calibri"/>
              <a:cs typeface="Calibri"/>
              <a:sym typeface="Calibri"/>
            </a:endParaRPr>
          </a:p>
        </p:txBody>
      </p:sp>
      <p:sp>
        <p:nvSpPr>
          <p:cNvPr id="639" name="Google Shape;639;p56"/>
          <p:cNvSpPr/>
          <p:nvPr/>
        </p:nvSpPr>
        <p:spPr>
          <a:xfrm>
            <a:off x="334412" y="1171031"/>
            <a:ext cx="4065300" cy="310200"/>
          </a:xfrm>
          <a:prstGeom prst="rect">
            <a:avLst/>
          </a:prstGeom>
          <a:solidFill>
            <a:srgbClr val="DC2626"/>
          </a:solidFill>
          <a:ln w="9575" cap="flat" cmpd="sng">
            <a:solidFill>
              <a:srgbClr val="DC2626"/>
            </a:solidFill>
            <a:prstDash val="solid"/>
            <a:round/>
            <a:headEnd type="none" w="sm" len="sm"/>
            <a:tailEnd type="none" w="sm" len="sm"/>
          </a:ln>
        </p:spPr>
        <p:txBody>
          <a:bodyPr spcFirstLastPara="1" wrap="square" lIns="68900" tIns="68900" rIns="68900" bIns="68900" anchor="ctr" anchorCtr="0">
            <a:noAutofit/>
          </a:bodyPr>
          <a:lstStyle/>
          <a:p>
            <a:pPr marL="0" lvl="0" indent="0" algn="l" rtl="0">
              <a:spcBef>
                <a:spcPts val="0"/>
              </a:spcBef>
              <a:spcAft>
                <a:spcPts val="0"/>
              </a:spcAft>
              <a:buNone/>
            </a:pPr>
            <a:endParaRPr/>
          </a:p>
        </p:txBody>
      </p:sp>
      <p:sp>
        <p:nvSpPr>
          <p:cNvPr id="640" name="Google Shape;640;p56"/>
          <p:cNvSpPr/>
          <p:nvPr/>
        </p:nvSpPr>
        <p:spPr>
          <a:xfrm>
            <a:off x="403317" y="1184812"/>
            <a:ext cx="3927600" cy="275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80"/>
              <a:buFont typeface="Arial"/>
              <a:buNone/>
            </a:pPr>
            <a:r>
              <a:rPr lang="en" sz="980" b="1">
                <a:solidFill>
                  <a:srgbClr val="FFFFFF"/>
                </a:solidFill>
              </a:rPr>
              <a:t>HIỆN TRẠNG</a:t>
            </a:r>
            <a:endParaRPr sz="980" i="0" u="none" strike="noStrike" cap="none">
              <a:solidFill>
                <a:srgbClr val="000000"/>
              </a:solidFill>
            </a:endParaRPr>
          </a:p>
        </p:txBody>
      </p:sp>
      <p:sp>
        <p:nvSpPr>
          <p:cNvPr id="641" name="Google Shape;641;p56"/>
          <p:cNvSpPr/>
          <p:nvPr/>
        </p:nvSpPr>
        <p:spPr>
          <a:xfrm>
            <a:off x="334412" y="1550003"/>
            <a:ext cx="4065300" cy="606600"/>
          </a:xfrm>
          <a:prstGeom prst="rect">
            <a:avLst/>
          </a:prstGeom>
          <a:solidFill>
            <a:srgbClr val="FEF2F2"/>
          </a:solidFill>
          <a:ln w="9575" cap="flat" cmpd="sng">
            <a:solidFill>
              <a:srgbClr val="E2E8F0"/>
            </a:solidFill>
            <a:prstDash val="solid"/>
            <a:round/>
            <a:headEnd type="none" w="sm" len="sm"/>
            <a:tailEnd type="none" w="sm" len="sm"/>
          </a:ln>
        </p:spPr>
        <p:txBody>
          <a:bodyPr spcFirstLastPara="1" wrap="square" lIns="68900" tIns="68900" rIns="68900" bIns="68900" anchor="ctr" anchorCtr="0">
            <a:noAutofit/>
          </a:bodyPr>
          <a:lstStyle/>
          <a:p>
            <a:pPr marL="0" lvl="0" indent="0" algn="l" rtl="0">
              <a:spcBef>
                <a:spcPts val="0"/>
              </a:spcBef>
              <a:spcAft>
                <a:spcPts val="0"/>
              </a:spcAft>
              <a:buNone/>
            </a:pPr>
            <a:endParaRPr/>
          </a:p>
        </p:txBody>
      </p:sp>
      <p:sp>
        <p:nvSpPr>
          <p:cNvPr id="642" name="Google Shape;642;p56"/>
          <p:cNvSpPr/>
          <p:nvPr/>
        </p:nvSpPr>
        <p:spPr>
          <a:xfrm>
            <a:off x="437769" y="1605127"/>
            <a:ext cx="3858900" cy="192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754"/>
              <a:buFont typeface="Arial"/>
              <a:buNone/>
            </a:pPr>
            <a:r>
              <a:rPr lang="en" sz="754" b="1" i="0" u="none" strike="noStrike" cap="none">
                <a:solidFill>
                  <a:srgbClr val="64748B"/>
                </a:solidFill>
                <a:latin typeface="Arial"/>
                <a:ea typeface="Arial"/>
                <a:cs typeface="Arial"/>
                <a:sym typeface="Arial"/>
              </a:rPr>
              <a:t>Kiểm soát số dư</a:t>
            </a:r>
            <a:endParaRPr sz="754" b="0" i="0" u="none" strike="noStrike" cap="none">
              <a:solidFill>
                <a:srgbClr val="000000"/>
              </a:solidFill>
              <a:latin typeface="Calibri"/>
              <a:ea typeface="Calibri"/>
              <a:cs typeface="Calibri"/>
              <a:sym typeface="Calibri"/>
            </a:endParaRPr>
          </a:p>
        </p:txBody>
      </p:sp>
      <p:sp>
        <p:nvSpPr>
          <p:cNvPr id="643" name="Google Shape;643;p56"/>
          <p:cNvSpPr/>
          <p:nvPr/>
        </p:nvSpPr>
        <p:spPr>
          <a:xfrm>
            <a:off x="437769" y="1791168"/>
            <a:ext cx="3858900" cy="310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904"/>
              <a:buFont typeface="Arial"/>
              <a:buNone/>
            </a:pPr>
            <a:r>
              <a:rPr lang="en" sz="904">
                <a:solidFill>
                  <a:srgbClr val="1E293B"/>
                </a:solidFill>
              </a:rPr>
              <a:t>Không có → Tài xế có thể rút số dư bất kỳ lúc nào</a:t>
            </a:r>
            <a:endParaRPr sz="904" i="0" u="none" strike="noStrike" cap="none">
              <a:solidFill>
                <a:srgbClr val="000000"/>
              </a:solidFill>
            </a:endParaRPr>
          </a:p>
        </p:txBody>
      </p:sp>
      <p:sp>
        <p:nvSpPr>
          <p:cNvPr id="644" name="Google Shape;644;p56"/>
          <p:cNvSpPr/>
          <p:nvPr/>
        </p:nvSpPr>
        <p:spPr>
          <a:xfrm>
            <a:off x="334412" y="2204592"/>
            <a:ext cx="4065300" cy="606600"/>
          </a:xfrm>
          <a:prstGeom prst="rect">
            <a:avLst/>
          </a:prstGeom>
          <a:solidFill>
            <a:srgbClr val="FEF2F2"/>
          </a:solidFill>
          <a:ln w="9575" cap="flat" cmpd="sng">
            <a:solidFill>
              <a:srgbClr val="E2E8F0"/>
            </a:solidFill>
            <a:prstDash val="solid"/>
            <a:round/>
            <a:headEnd type="none" w="sm" len="sm"/>
            <a:tailEnd type="none" w="sm" len="sm"/>
          </a:ln>
        </p:spPr>
        <p:txBody>
          <a:bodyPr spcFirstLastPara="1" wrap="square" lIns="68900" tIns="68900" rIns="68900" bIns="68900" anchor="ctr" anchorCtr="0">
            <a:noAutofit/>
          </a:bodyPr>
          <a:lstStyle/>
          <a:p>
            <a:pPr marL="0" lvl="0" indent="0" algn="l" rtl="0">
              <a:spcBef>
                <a:spcPts val="0"/>
              </a:spcBef>
              <a:spcAft>
                <a:spcPts val="0"/>
              </a:spcAft>
              <a:buNone/>
            </a:pPr>
            <a:endParaRPr/>
          </a:p>
        </p:txBody>
      </p:sp>
      <p:sp>
        <p:nvSpPr>
          <p:cNvPr id="645" name="Google Shape;645;p56"/>
          <p:cNvSpPr/>
          <p:nvPr/>
        </p:nvSpPr>
        <p:spPr>
          <a:xfrm>
            <a:off x="437769" y="2259715"/>
            <a:ext cx="3858900" cy="192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754"/>
              <a:buFont typeface="Arial"/>
              <a:buNone/>
            </a:pPr>
            <a:r>
              <a:rPr lang="en" sz="754" b="1" i="0" u="none" strike="noStrike" cap="none">
                <a:solidFill>
                  <a:srgbClr val="64748B"/>
                </a:solidFill>
              </a:rPr>
              <a:t>Ký quỹ tự động</a:t>
            </a:r>
            <a:endParaRPr sz="754" i="0" u="none" strike="noStrike" cap="none">
              <a:solidFill>
                <a:srgbClr val="000000"/>
              </a:solidFill>
            </a:endParaRPr>
          </a:p>
        </p:txBody>
      </p:sp>
      <p:sp>
        <p:nvSpPr>
          <p:cNvPr id="646" name="Google Shape;646;p56"/>
          <p:cNvSpPr/>
          <p:nvPr/>
        </p:nvSpPr>
        <p:spPr>
          <a:xfrm>
            <a:off x="437769" y="2445756"/>
            <a:ext cx="3858900" cy="310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904"/>
              <a:buFont typeface="Arial"/>
              <a:buNone/>
            </a:pPr>
            <a:r>
              <a:rPr lang="en" sz="904" i="0" u="none" strike="noStrike" cap="none">
                <a:solidFill>
                  <a:srgbClr val="1E293B"/>
                </a:solidFill>
              </a:rPr>
              <a:t>Thường xuyên thất bại do số dư = 0đ ho</a:t>
            </a:r>
            <a:r>
              <a:rPr lang="en" sz="904">
                <a:solidFill>
                  <a:srgbClr val="1E293B"/>
                </a:solidFill>
              </a:rPr>
              <a:t>ặc &lt; 60.000</a:t>
            </a:r>
            <a:endParaRPr sz="904" i="0" u="none" strike="noStrike" cap="none">
              <a:solidFill>
                <a:srgbClr val="000000"/>
              </a:solidFill>
            </a:endParaRPr>
          </a:p>
        </p:txBody>
      </p:sp>
      <p:sp>
        <p:nvSpPr>
          <p:cNvPr id="647" name="Google Shape;647;p56"/>
          <p:cNvSpPr/>
          <p:nvPr/>
        </p:nvSpPr>
        <p:spPr>
          <a:xfrm>
            <a:off x="334412" y="2859180"/>
            <a:ext cx="4065300" cy="606600"/>
          </a:xfrm>
          <a:prstGeom prst="rect">
            <a:avLst/>
          </a:prstGeom>
          <a:solidFill>
            <a:srgbClr val="FEF2F2"/>
          </a:solidFill>
          <a:ln w="9575" cap="flat" cmpd="sng">
            <a:solidFill>
              <a:srgbClr val="E2E8F0"/>
            </a:solidFill>
            <a:prstDash val="solid"/>
            <a:round/>
            <a:headEnd type="none" w="sm" len="sm"/>
            <a:tailEnd type="none" w="sm" len="sm"/>
          </a:ln>
        </p:spPr>
        <p:txBody>
          <a:bodyPr spcFirstLastPara="1" wrap="square" lIns="68900" tIns="68900" rIns="68900" bIns="68900" anchor="ctr" anchorCtr="0">
            <a:noAutofit/>
          </a:bodyPr>
          <a:lstStyle/>
          <a:p>
            <a:pPr marL="0" lvl="0" indent="0" algn="l" rtl="0">
              <a:spcBef>
                <a:spcPts val="0"/>
              </a:spcBef>
              <a:spcAft>
                <a:spcPts val="0"/>
              </a:spcAft>
              <a:buNone/>
            </a:pPr>
            <a:endParaRPr/>
          </a:p>
        </p:txBody>
      </p:sp>
      <p:sp>
        <p:nvSpPr>
          <p:cNvPr id="648" name="Google Shape;648;p56"/>
          <p:cNvSpPr/>
          <p:nvPr/>
        </p:nvSpPr>
        <p:spPr>
          <a:xfrm>
            <a:off x="437769" y="2914303"/>
            <a:ext cx="3858900" cy="192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754"/>
              <a:buFont typeface="Arial"/>
              <a:buNone/>
            </a:pPr>
            <a:r>
              <a:rPr lang="en" sz="754" b="1" i="0" u="none" strike="noStrike" cap="none">
                <a:solidFill>
                  <a:srgbClr val="64748B"/>
                </a:solidFill>
              </a:rPr>
              <a:t>Tỷ lệ </a:t>
            </a:r>
            <a:r>
              <a:rPr lang="en" sz="754" b="1">
                <a:solidFill>
                  <a:srgbClr val="64748B"/>
                </a:solidFill>
              </a:rPr>
              <a:t>hoàn thành</a:t>
            </a:r>
            <a:r>
              <a:rPr lang="en" sz="754" b="1" i="0" u="none" strike="noStrike" cap="none">
                <a:solidFill>
                  <a:srgbClr val="64748B"/>
                </a:solidFill>
              </a:rPr>
              <a:t> ký quỹ</a:t>
            </a:r>
            <a:endParaRPr sz="754" i="0" u="none" strike="noStrike" cap="none">
              <a:solidFill>
                <a:srgbClr val="000000"/>
              </a:solidFill>
            </a:endParaRPr>
          </a:p>
        </p:txBody>
      </p:sp>
      <p:sp>
        <p:nvSpPr>
          <p:cNvPr id="649" name="Google Shape;649;p56"/>
          <p:cNvSpPr/>
          <p:nvPr/>
        </p:nvSpPr>
        <p:spPr>
          <a:xfrm>
            <a:off x="437769" y="3100344"/>
            <a:ext cx="3858900" cy="310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904"/>
              <a:buFont typeface="Arial"/>
              <a:buNone/>
            </a:pPr>
            <a:r>
              <a:rPr lang="en" sz="904">
                <a:solidFill>
                  <a:srgbClr val="1E293B"/>
                </a:solidFill>
              </a:rPr>
              <a:t>36% - 40%</a:t>
            </a:r>
            <a:endParaRPr sz="904" i="0" u="none" strike="noStrike" cap="none">
              <a:solidFill>
                <a:srgbClr val="000000"/>
              </a:solidFill>
            </a:endParaRPr>
          </a:p>
        </p:txBody>
      </p:sp>
      <p:sp>
        <p:nvSpPr>
          <p:cNvPr id="650" name="Google Shape;650;p56"/>
          <p:cNvSpPr/>
          <p:nvPr/>
        </p:nvSpPr>
        <p:spPr>
          <a:xfrm>
            <a:off x="334412" y="3513768"/>
            <a:ext cx="4065300" cy="606600"/>
          </a:xfrm>
          <a:prstGeom prst="rect">
            <a:avLst/>
          </a:prstGeom>
          <a:solidFill>
            <a:srgbClr val="FEF2F2"/>
          </a:solidFill>
          <a:ln w="9575" cap="flat" cmpd="sng">
            <a:solidFill>
              <a:srgbClr val="E2E8F0"/>
            </a:solidFill>
            <a:prstDash val="solid"/>
            <a:round/>
            <a:headEnd type="none" w="sm" len="sm"/>
            <a:tailEnd type="none" w="sm" len="sm"/>
          </a:ln>
        </p:spPr>
        <p:txBody>
          <a:bodyPr spcFirstLastPara="1" wrap="square" lIns="68900" tIns="68900" rIns="68900" bIns="68900" anchor="ctr" anchorCtr="0">
            <a:noAutofit/>
          </a:bodyPr>
          <a:lstStyle/>
          <a:p>
            <a:pPr marL="0" lvl="0" indent="0" algn="l" rtl="0">
              <a:spcBef>
                <a:spcPts val="0"/>
              </a:spcBef>
              <a:spcAft>
                <a:spcPts val="0"/>
              </a:spcAft>
              <a:buNone/>
            </a:pPr>
            <a:endParaRPr/>
          </a:p>
        </p:txBody>
      </p:sp>
      <p:sp>
        <p:nvSpPr>
          <p:cNvPr id="651" name="Google Shape;651;p56"/>
          <p:cNvSpPr/>
          <p:nvPr/>
        </p:nvSpPr>
        <p:spPr>
          <a:xfrm>
            <a:off x="437769" y="3568891"/>
            <a:ext cx="3858900" cy="192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754"/>
              <a:buFont typeface="Arial"/>
              <a:buNone/>
            </a:pPr>
            <a:r>
              <a:rPr lang="en" sz="754" b="1" i="0" u="none" strike="noStrike" cap="none">
                <a:solidFill>
                  <a:srgbClr val="64748B"/>
                </a:solidFill>
              </a:rPr>
              <a:t>Trải nghiệm TX</a:t>
            </a:r>
            <a:endParaRPr sz="754" i="0" u="none" strike="noStrike" cap="none">
              <a:solidFill>
                <a:srgbClr val="000000"/>
              </a:solidFill>
            </a:endParaRPr>
          </a:p>
        </p:txBody>
      </p:sp>
      <p:sp>
        <p:nvSpPr>
          <p:cNvPr id="652" name="Google Shape;652;p56"/>
          <p:cNvSpPr/>
          <p:nvPr/>
        </p:nvSpPr>
        <p:spPr>
          <a:xfrm>
            <a:off x="437769" y="3754932"/>
            <a:ext cx="3858900" cy="310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904"/>
              <a:buFont typeface="Arial"/>
              <a:buNone/>
            </a:pPr>
            <a:r>
              <a:rPr lang="en" sz="904">
                <a:solidFill>
                  <a:srgbClr val="1E293B"/>
                </a:solidFill>
              </a:rPr>
              <a:t>Dễ quên/ bỏ lỡ hạn ký quỹ dù đã có luồng tự động nộp tiền</a:t>
            </a:r>
            <a:endParaRPr sz="904" b="0" i="0" u="none" strike="noStrike" cap="none">
              <a:solidFill>
                <a:srgbClr val="000000"/>
              </a:solidFill>
              <a:latin typeface="Calibri"/>
              <a:ea typeface="Calibri"/>
              <a:cs typeface="Calibri"/>
              <a:sym typeface="Calibri"/>
            </a:endParaRPr>
          </a:p>
        </p:txBody>
      </p:sp>
      <p:sp>
        <p:nvSpPr>
          <p:cNvPr id="653" name="Google Shape;653;p56"/>
          <p:cNvSpPr/>
          <p:nvPr/>
        </p:nvSpPr>
        <p:spPr>
          <a:xfrm>
            <a:off x="334412" y="4168356"/>
            <a:ext cx="4065300" cy="606600"/>
          </a:xfrm>
          <a:prstGeom prst="rect">
            <a:avLst/>
          </a:prstGeom>
          <a:solidFill>
            <a:srgbClr val="FEF2F2"/>
          </a:solidFill>
          <a:ln w="9575" cap="flat" cmpd="sng">
            <a:solidFill>
              <a:srgbClr val="E2E8F0"/>
            </a:solidFill>
            <a:prstDash val="solid"/>
            <a:round/>
            <a:headEnd type="none" w="sm" len="sm"/>
            <a:tailEnd type="none" w="sm" len="sm"/>
          </a:ln>
        </p:spPr>
        <p:txBody>
          <a:bodyPr spcFirstLastPara="1" wrap="square" lIns="68900" tIns="68900" rIns="68900" bIns="68900" anchor="ctr" anchorCtr="0">
            <a:noAutofit/>
          </a:bodyPr>
          <a:lstStyle/>
          <a:p>
            <a:pPr marL="0" lvl="0" indent="0" algn="l" rtl="0">
              <a:spcBef>
                <a:spcPts val="0"/>
              </a:spcBef>
              <a:spcAft>
                <a:spcPts val="0"/>
              </a:spcAft>
              <a:buNone/>
            </a:pPr>
            <a:endParaRPr/>
          </a:p>
        </p:txBody>
      </p:sp>
      <p:sp>
        <p:nvSpPr>
          <p:cNvPr id="654" name="Google Shape;654;p56"/>
          <p:cNvSpPr/>
          <p:nvPr/>
        </p:nvSpPr>
        <p:spPr>
          <a:xfrm>
            <a:off x="437769" y="4223480"/>
            <a:ext cx="3858900" cy="192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754"/>
              <a:buFont typeface="Arial"/>
              <a:buNone/>
            </a:pPr>
            <a:r>
              <a:rPr lang="en" sz="754" b="1" i="0" u="none" strike="noStrike" cap="none">
                <a:solidFill>
                  <a:srgbClr val="64748B"/>
                </a:solidFill>
              </a:rPr>
              <a:t>Workload ops</a:t>
            </a:r>
            <a:endParaRPr sz="754" i="0" u="none" strike="noStrike" cap="none">
              <a:solidFill>
                <a:srgbClr val="000000"/>
              </a:solidFill>
            </a:endParaRPr>
          </a:p>
        </p:txBody>
      </p:sp>
      <p:sp>
        <p:nvSpPr>
          <p:cNvPr id="655" name="Google Shape;655;p56"/>
          <p:cNvSpPr/>
          <p:nvPr/>
        </p:nvSpPr>
        <p:spPr>
          <a:xfrm>
            <a:off x="437769" y="4409520"/>
            <a:ext cx="3858900" cy="310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904"/>
              <a:buFont typeface="Arial"/>
              <a:buNone/>
            </a:pPr>
            <a:r>
              <a:rPr lang="en" sz="904">
                <a:solidFill>
                  <a:srgbClr val="1E293B"/>
                </a:solidFill>
              </a:rPr>
              <a:t>Nhắc nhở</a:t>
            </a:r>
            <a:r>
              <a:rPr lang="en" sz="904" i="0" u="none" strike="noStrike" cap="none">
                <a:solidFill>
                  <a:srgbClr val="1E293B"/>
                </a:solidFill>
              </a:rPr>
              <a:t> thủ công </a:t>
            </a:r>
            <a:r>
              <a:rPr lang="en" sz="904">
                <a:solidFill>
                  <a:srgbClr val="1E293B"/>
                </a:solidFill>
              </a:rPr>
              <a:t>- không có ràng buộc</a:t>
            </a:r>
            <a:endParaRPr sz="904" i="0" u="none" strike="noStrike" cap="none">
              <a:solidFill>
                <a:srgbClr val="000000"/>
              </a:solidFill>
            </a:endParaRPr>
          </a:p>
        </p:txBody>
      </p:sp>
      <p:sp>
        <p:nvSpPr>
          <p:cNvPr id="656" name="Google Shape;656;p56"/>
          <p:cNvSpPr/>
          <p:nvPr/>
        </p:nvSpPr>
        <p:spPr>
          <a:xfrm>
            <a:off x="4744298" y="1171031"/>
            <a:ext cx="4065300" cy="310200"/>
          </a:xfrm>
          <a:prstGeom prst="rect">
            <a:avLst/>
          </a:prstGeom>
          <a:solidFill>
            <a:srgbClr val="15803D"/>
          </a:solidFill>
          <a:ln w="9575" cap="flat" cmpd="sng">
            <a:solidFill>
              <a:srgbClr val="15803D"/>
            </a:solidFill>
            <a:prstDash val="solid"/>
            <a:round/>
            <a:headEnd type="none" w="sm" len="sm"/>
            <a:tailEnd type="none" w="sm" len="sm"/>
          </a:ln>
        </p:spPr>
        <p:txBody>
          <a:bodyPr spcFirstLastPara="1" wrap="square" lIns="68900" tIns="68900" rIns="68900" bIns="68900" anchor="ctr" anchorCtr="0">
            <a:noAutofit/>
          </a:bodyPr>
          <a:lstStyle/>
          <a:p>
            <a:pPr marL="0" lvl="0" indent="0" algn="l" rtl="0">
              <a:spcBef>
                <a:spcPts val="0"/>
              </a:spcBef>
              <a:spcAft>
                <a:spcPts val="0"/>
              </a:spcAft>
              <a:buNone/>
            </a:pPr>
            <a:endParaRPr/>
          </a:p>
        </p:txBody>
      </p:sp>
      <p:sp>
        <p:nvSpPr>
          <p:cNvPr id="657" name="Google Shape;657;p56"/>
          <p:cNvSpPr/>
          <p:nvPr/>
        </p:nvSpPr>
        <p:spPr>
          <a:xfrm>
            <a:off x="4813203" y="1184812"/>
            <a:ext cx="3927600" cy="275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80"/>
              <a:buFont typeface="Arial"/>
              <a:buNone/>
            </a:pPr>
            <a:r>
              <a:rPr lang="en" sz="980" b="1">
                <a:solidFill>
                  <a:srgbClr val="FFFFFF"/>
                </a:solidFill>
              </a:rPr>
              <a:t>ĐỀ XUẤT</a:t>
            </a:r>
            <a:endParaRPr sz="980" b="0" i="0" u="none" strike="noStrike" cap="none">
              <a:solidFill>
                <a:srgbClr val="000000"/>
              </a:solidFill>
              <a:latin typeface="Calibri"/>
              <a:ea typeface="Calibri"/>
              <a:cs typeface="Calibri"/>
              <a:sym typeface="Calibri"/>
            </a:endParaRPr>
          </a:p>
        </p:txBody>
      </p:sp>
      <p:sp>
        <p:nvSpPr>
          <p:cNvPr id="658" name="Google Shape;658;p56"/>
          <p:cNvSpPr/>
          <p:nvPr/>
        </p:nvSpPr>
        <p:spPr>
          <a:xfrm>
            <a:off x="4744298" y="1550003"/>
            <a:ext cx="4065300" cy="606600"/>
          </a:xfrm>
          <a:prstGeom prst="rect">
            <a:avLst/>
          </a:prstGeom>
          <a:solidFill>
            <a:srgbClr val="F0FDF4"/>
          </a:solidFill>
          <a:ln w="9575" cap="flat" cmpd="sng">
            <a:solidFill>
              <a:srgbClr val="E2E8F0"/>
            </a:solidFill>
            <a:prstDash val="solid"/>
            <a:round/>
            <a:headEnd type="none" w="sm" len="sm"/>
            <a:tailEnd type="none" w="sm" len="sm"/>
          </a:ln>
        </p:spPr>
        <p:txBody>
          <a:bodyPr spcFirstLastPara="1" wrap="square" lIns="68900" tIns="68900" rIns="68900" bIns="68900" anchor="ctr" anchorCtr="0">
            <a:noAutofit/>
          </a:bodyPr>
          <a:lstStyle/>
          <a:p>
            <a:pPr marL="0" lvl="0" indent="0" algn="l" rtl="0">
              <a:spcBef>
                <a:spcPts val="0"/>
              </a:spcBef>
              <a:spcAft>
                <a:spcPts val="0"/>
              </a:spcAft>
              <a:buNone/>
            </a:pPr>
            <a:endParaRPr/>
          </a:p>
        </p:txBody>
      </p:sp>
      <p:sp>
        <p:nvSpPr>
          <p:cNvPr id="659" name="Google Shape;659;p56"/>
          <p:cNvSpPr/>
          <p:nvPr/>
        </p:nvSpPr>
        <p:spPr>
          <a:xfrm>
            <a:off x="4847655" y="1605127"/>
            <a:ext cx="3858900" cy="192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754"/>
              <a:buFont typeface="Arial"/>
              <a:buNone/>
            </a:pPr>
            <a:r>
              <a:rPr lang="en" sz="754" b="1" i="0" u="none" strike="noStrike" cap="none">
                <a:solidFill>
                  <a:srgbClr val="64748B"/>
                </a:solidFill>
              </a:rPr>
              <a:t>Kiểm soát số dư</a:t>
            </a:r>
            <a:endParaRPr sz="754" i="0" u="none" strike="noStrike" cap="none">
              <a:solidFill>
                <a:srgbClr val="000000"/>
              </a:solidFill>
            </a:endParaRPr>
          </a:p>
        </p:txBody>
      </p:sp>
      <p:sp>
        <p:nvSpPr>
          <p:cNvPr id="660" name="Google Shape;660;p56"/>
          <p:cNvSpPr/>
          <p:nvPr/>
        </p:nvSpPr>
        <p:spPr>
          <a:xfrm>
            <a:off x="4847655" y="1791168"/>
            <a:ext cx="3858900" cy="310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904"/>
              <a:buFont typeface="Arial"/>
              <a:buNone/>
            </a:pPr>
            <a:r>
              <a:rPr lang="en" sz="904">
                <a:solidFill>
                  <a:srgbClr val="1E293B"/>
                </a:solidFill>
              </a:rPr>
              <a:t>Duy trì số dư tối thiểu 80.000đ trong 60 ngày</a:t>
            </a:r>
            <a:endParaRPr sz="904" b="0" i="0" u="none" strike="noStrike" cap="none">
              <a:solidFill>
                <a:srgbClr val="000000"/>
              </a:solidFill>
              <a:latin typeface="Calibri"/>
              <a:ea typeface="Calibri"/>
              <a:cs typeface="Calibri"/>
              <a:sym typeface="Calibri"/>
            </a:endParaRPr>
          </a:p>
        </p:txBody>
      </p:sp>
      <p:sp>
        <p:nvSpPr>
          <p:cNvPr id="661" name="Google Shape;661;p56"/>
          <p:cNvSpPr/>
          <p:nvPr/>
        </p:nvSpPr>
        <p:spPr>
          <a:xfrm>
            <a:off x="4744298" y="2204592"/>
            <a:ext cx="4065300" cy="606600"/>
          </a:xfrm>
          <a:prstGeom prst="rect">
            <a:avLst/>
          </a:prstGeom>
          <a:solidFill>
            <a:srgbClr val="F0FDF4"/>
          </a:solidFill>
          <a:ln w="9575" cap="flat" cmpd="sng">
            <a:solidFill>
              <a:srgbClr val="E2E8F0"/>
            </a:solidFill>
            <a:prstDash val="solid"/>
            <a:round/>
            <a:headEnd type="none" w="sm" len="sm"/>
            <a:tailEnd type="none" w="sm" len="sm"/>
          </a:ln>
        </p:spPr>
        <p:txBody>
          <a:bodyPr spcFirstLastPara="1" wrap="square" lIns="68900" tIns="68900" rIns="68900" bIns="68900" anchor="ctr" anchorCtr="0">
            <a:noAutofit/>
          </a:bodyPr>
          <a:lstStyle/>
          <a:p>
            <a:pPr marL="0" lvl="0" indent="0" algn="l" rtl="0">
              <a:spcBef>
                <a:spcPts val="0"/>
              </a:spcBef>
              <a:spcAft>
                <a:spcPts val="0"/>
              </a:spcAft>
              <a:buNone/>
            </a:pPr>
            <a:endParaRPr/>
          </a:p>
        </p:txBody>
      </p:sp>
      <p:sp>
        <p:nvSpPr>
          <p:cNvPr id="662" name="Google Shape;662;p56"/>
          <p:cNvSpPr/>
          <p:nvPr/>
        </p:nvSpPr>
        <p:spPr>
          <a:xfrm>
            <a:off x="4847655" y="2259715"/>
            <a:ext cx="3858900" cy="192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754"/>
              <a:buFont typeface="Arial"/>
              <a:buNone/>
            </a:pPr>
            <a:r>
              <a:rPr lang="en" sz="754" b="1" i="0" u="none" strike="noStrike" cap="none">
                <a:solidFill>
                  <a:srgbClr val="64748B"/>
                </a:solidFill>
              </a:rPr>
              <a:t>Ký quỹ tự động</a:t>
            </a:r>
            <a:endParaRPr sz="754" i="0" u="none" strike="noStrike" cap="none">
              <a:solidFill>
                <a:srgbClr val="000000"/>
              </a:solidFill>
            </a:endParaRPr>
          </a:p>
        </p:txBody>
      </p:sp>
      <p:sp>
        <p:nvSpPr>
          <p:cNvPr id="663" name="Google Shape;663;p56"/>
          <p:cNvSpPr/>
          <p:nvPr/>
        </p:nvSpPr>
        <p:spPr>
          <a:xfrm>
            <a:off x="4847655" y="2445756"/>
            <a:ext cx="3858900" cy="310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904"/>
              <a:buFont typeface="Arial"/>
              <a:buNone/>
            </a:pPr>
            <a:r>
              <a:rPr lang="en" sz="904">
                <a:solidFill>
                  <a:srgbClr val="1E293B"/>
                </a:solidFill>
              </a:rPr>
              <a:t>Đảm bảo đủ số dư cho mỗi đợt thu 60.000đ/7 ngày</a:t>
            </a:r>
            <a:endParaRPr sz="904" i="0" u="none" strike="noStrike" cap="none">
              <a:solidFill>
                <a:srgbClr val="000000"/>
              </a:solidFill>
            </a:endParaRPr>
          </a:p>
        </p:txBody>
      </p:sp>
      <p:sp>
        <p:nvSpPr>
          <p:cNvPr id="664" name="Google Shape;664;p56"/>
          <p:cNvSpPr/>
          <p:nvPr/>
        </p:nvSpPr>
        <p:spPr>
          <a:xfrm>
            <a:off x="4744298" y="2859180"/>
            <a:ext cx="4065300" cy="606600"/>
          </a:xfrm>
          <a:prstGeom prst="rect">
            <a:avLst/>
          </a:prstGeom>
          <a:solidFill>
            <a:srgbClr val="F0FDF4"/>
          </a:solidFill>
          <a:ln w="9575" cap="flat" cmpd="sng">
            <a:solidFill>
              <a:srgbClr val="E2E8F0"/>
            </a:solidFill>
            <a:prstDash val="solid"/>
            <a:round/>
            <a:headEnd type="none" w="sm" len="sm"/>
            <a:tailEnd type="none" w="sm" len="sm"/>
          </a:ln>
        </p:spPr>
        <p:txBody>
          <a:bodyPr spcFirstLastPara="1" wrap="square" lIns="68900" tIns="68900" rIns="68900" bIns="68900" anchor="ctr" anchorCtr="0">
            <a:noAutofit/>
          </a:bodyPr>
          <a:lstStyle/>
          <a:p>
            <a:pPr marL="0" lvl="0" indent="0" algn="l" rtl="0">
              <a:spcBef>
                <a:spcPts val="0"/>
              </a:spcBef>
              <a:spcAft>
                <a:spcPts val="0"/>
              </a:spcAft>
              <a:buNone/>
            </a:pPr>
            <a:endParaRPr/>
          </a:p>
        </p:txBody>
      </p:sp>
      <p:sp>
        <p:nvSpPr>
          <p:cNvPr id="665" name="Google Shape;665;p56"/>
          <p:cNvSpPr/>
          <p:nvPr/>
        </p:nvSpPr>
        <p:spPr>
          <a:xfrm>
            <a:off x="4847655" y="2914303"/>
            <a:ext cx="3858900" cy="192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754"/>
              <a:buFont typeface="Arial"/>
              <a:buNone/>
            </a:pPr>
            <a:r>
              <a:rPr lang="en" sz="754" b="1" i="0" u="none" strike="noStrike" cap="none">
                <a:solidFill>
                  <a:srgbClr val="64748B"/>
                </a:solidFill>
                <a:latin typeface="Arial"/>
                <a:ea typeface="Arial"/>
                <a:cs typeface="Arial"/>
                <a:sym typeface="Arial"/>
              </a:rPr>
              <a:t>Tỷ lệ </a:t>
            </a:r>
            <a:r>
              <a:rPr lang="en" sz="754" b="1">
                <a:solidFill>
                  <a:srgbClr val="64748B"/>
                </a:solidFill>
              </a:rPr>
              <a:t>hoàn thành</a:t>
            </a:r>
            <a:r>
              <a:rPr lang="en" sz="754" b="1" i="0" u="none" strike="noStrike" cap="none">
                <a:solidFill>
                  <a:srgbClr val="64748B"/>
                </a:solidFill>
                <a:latin typeface="Arial"/>
                <a:ea typeface="Arial"/>
                <a:cs typeface="Arial"/>
                <a:sym typeface="Arial"/>
              </a:rPr>
              <a:t> ký quỹ</a:t>
            </a:r>
            <a:endParaRPr sz="754" b="0" i="0" u="none" strike="noStrike" cap="none">
              <a:solidFill>
                <a:srgbClr val="000000"/>
              </a:solidFill>
              <a:latin typeface="Calibri"/>
              <a:ea typeface="Calibri"/>
              <a:cs typeface="Calibri"/>
              <a:sym typeface="Calibri"/>
            </a:endParaRPr>
          </a:p>
        </p:txBody>
      </p:sp>
      <p:sp>
        <p:nvSpPr>
          <p:cNvPr id="666" name="Google Shape;666;p56"/>
          <p:cNvSpPr/>
          <p:nvPr/>
        </p:nvSpPr>
        <p:spPr>
          <a:xfrm>
            <a:off x="4847655" y="3100344"/>
            <a:ext cx="3858900" cy="310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904"/>
              <a:buFont typeface="Arial"/>
              <a:buNone/>
            </a:pPr>
            <a:r>
              <a:rPr lang="en" sz="904">
                <a:solidFill>
                  <a:srgbClr val="000000"/>
                </a:solidFill>
              </a:rPr>
              <a:t>&gt; 50%</a:t>
            </a:r>
            <a:endParaRPr sz="904" i="0" u="none" strike="noStrike" cap="none">
              <a:solidFill>
                <a:srgbClr val="000000"/>
              </a:solidFill>
            </a:endParaRPr>
          </a:p>
        </p:txBody>
      </p:sp>
      <p:sp>
        <p:nvSpPr>
          <p:cNvPr id="667" name="Google Shape;667;p56"/>
          <p:cNvSpPr/>
          <p:nvPr/>
        </p:nvSpPr>
        <p:spPr>
          <a:xfrm>
            <a:off x="4744298" y="3513768"/>
            <a:ext cx="4065300" cy="606600"/>
          </a:xfrm>
          <a:prstGeom prst="rect">
            <a:avLst/>
          </a:prstGeom>
          <a:solidFill>
            <a:srgbClr val="F0FDF4"/>
          </a:solidFill>
          <a:ln w="9575" cap="flat" cmpd="sng">
            <a:solidFill>
              <a:srgbClr val="E2E8F0"/>
            </a:solidFill>
            <a:prstDash val="solid"/>
            <a:round/>
            <a:headEnd type="none" w="sm" len="sm"/>
            <a:tailEnd type="none" w="sm" len="sm"/>
          </a:ln>
        </p:spPr>
        <p:txBody>
          <a:bodyPr spcFirstLastPara="1" wrap="square" lIns="68900" tIns="68900" rIns="68900" bIns="68900" anchor="ctr" anchorCtr="0">
            <a:noAutofit/>
          </a:bodyPr>
          <a:lstStyle/>
          <a:p>
            <a:pPr marL="0" lvl="0" indent="0" algn="l" rtl="0">
              <a:spcBef>
                <a:spcPts val="0"/>
              </a:spcBef>
              <a:spcAft>
                <a:spcPts val="0"/>
              </a:spcAft>
              <a:buNone/>
            </a:pPr>
            <a:endParaRPr/>
          </a:p>
        </p:txBody>
      </p:sp>
      <p:sp>
        <p:nvSpPr>
          <p:cNvPr id="668" name="Google Shape;668;p56"/>
          <p:cNvSpPr/>
          <p:nvPr/>
        </p:nvSpPr>
        <p:spPr>
          <a:xfrm>
            <a:off x="4847655" y="3568891"/>
            <a:ext cx="3858900" cy="192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754"/>
              <a:buFont typeface="Arial"/>
              <a:buNone/>
            </a:pPr>
            <a:r>
              <a:rPr lang="en" sz="754" b="1" i="0" u="none" strike="noStrike" cap="none">
                <a:solidFill>
                  <a:srgbClr val="64748B"/>
                </a:solidFill>
                <a:latin typeface="Arial"/>
                <a:ea typeface="Arial"/>
                <a:cs typeface="Arial"/>
                <a:sym typeface="Arial"/>
              </a:rPr>
              <a:t>Trải nghiệm TX</a:t>
            </a:r>
            <a:endParaRPr sz="754" b="0" i="0" u="none" strike="noStrike" cap="none">
              <a:solidFill>
                <a:srgbClr val="000000"/>
              </a:solidFill>
              <a:latin typeface="Calibri"/>
              <a:ea typeface="Calibri"/>
              <a:cs typeface="Calibri"/>
              <a:sym typeface="Calibri"/>
            </a:endParaRPr>
          </a:p>
        </p:txBody>
      </p:sp>
      <p:sp>
        <p:nvSpPr>
          <p:cNvPr id="669" name="Google Shape;669;p56"/>
          <p:cNvSpPr/>
          <p:nvPr/>
        </p:nvSpPr>
        <p:spPr>
          <a:xfrm>
            <a:off x="4847655" y="3754932"/>
            <a:ext cx="3858900" cy="310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904"/>
              <a:buFont typeface="Arial"/>
              <a:buNone/>
            </a:pPr>
            <a:r>
              <a:rPr lang="en" sz="904"/>
              <a:t>Được chuẩn bị sẵn số dư và tự động thực hiện ký quỹ</a:t>
            </a:r>
            <a:endParaRPr sz="904" i="0" u="none" strike="noStrike" cap="none">
              <a:solidFill>
                <a:srgbClr val="000000"/>
              </a:solidFill>
            </a:endParaRPr>
          </a:p>
        </p:txBody>
      </p:sp>
      <p:sp>
        <p:nvSpPr>
          <p:cNvPr id="670" name="Google Shape;670;p56"/>
          <p:cNvSpPr/>
          <p:nvPr/>
        </p:nvSpPr>
        <p:spPr>
          <a:xfrm>
            <a:off x="4744298" y="4168356"/>
            <a:ext cx="4065300" cy="606600"/>
          </a:xfrm>
          <a:prstGeom prst="rect">
            <a:avLst/>
          </a:prstGeom>
          <a:solidFill>
            <a:srgbClr val="F0FDF4"/>
          </a:solidFill>
          <a:ln w="9575" cap="flat" cmpd="sng">
            <a:solidFill>
              <a:srgbClr val="E2E8F0"/>
            </a:solidFill>
            <a:prstDash val="solid"/>
            <a:round/>
            <a:headEnd type="none" w="sm" len="sm"/>
            <a:tailEnd type="none" w="sm" len="sm"/>
          </a:ln>
        </p:spPr>
        <p:txBody>
          <a:bodyPr spcFirstLastPara="1" wrap="square" lIns="68900" tIns="68900" rIns="68900" bIns="68900" anchor="ctr" anchorCtr="0">
            <a:noAutofit/>
          </a:bodyPr>
          <a:lstStyle/>
          <a:p>
            <a:pPr marL="0" lvl="0" indent="0" algn="l" rtl="0">
              <a:spcBef>
                <a:spcPts val="0"/>
              </a:spcBef>
              <a:spcAft>
                <a:spcPts val="0"/>
              </a:spcAft>
              <a:buNone/>
            </a:pPr>
            <a:endParaRPr/>
          </a:p>
        </p:txBody>
      </p:sp>
      <p:sp>
        <p:nvSpPr>
          <p:cNvPr id="671" name="Google Shape;671;p56"/>
          <p:cNvSpPr/>
          <p:nvPr/>
        </p:nvSpPr>
        <p:spPr>
          <a:xfrm>
            <a:off x="4847655" y="4223480"/>
            <a:ext cx="3858900" cy="192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754"/>
              <a:buFont typeface="Arial"/>
              <a:buNone/>
            </a:pPr>
            <a:r>
              <a:rPr lang="en" sz="754" b="1" i="0" u="none" strike="noStrike" cap="none">
                <a:solidFill>
                  <a:srgbClr val="64748B"/>
                </a:solidFill>
              </a:rPr>
              <a:t>Workload ops</a:t>
            </a:r>
            <a:endParaRPr sz="754" i="0" u="none" strike="noStrike" cap="none">
              <a:solidFill>
                <a:srgbClr val="000000"/>
              </a:solidFill>
            </a:endParaRPr>
          </a:p>
        </p:txBody>
      </p:sp>
      <p:sp>
        <p:nvSpPr>
          <p:cNvPr id="672" name="Google Shape;672;p56"/>
          <p:cNvSpPr/>
          <p:nvPr/>
        </p:nvSpPr>
        <p:spPr>
          <a:xfrm>
            <a:off x="4847655" y="4409520"/>
            <a:ext cx="3858900" cy="310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904"/>
              <a:buFont typeface="Arial"/>
              <a:buNone/>
            </a:pPr>
            <a:r>
              <a:rPr lang="en" sz="904">
                <a:solidFill>
                  <a:srgbClr val="1E293B"/>
                </a:solidFill>
              </a:rPr>
              <a:t>Tự động hóa – có ràng buộc</a:t>
            </a:r>
            <a:endParaRPr sz="904" i="0" u="none" strike="noStrike" cap="none">
              <a:solidFill>
                <a:srgbClr val="000000"/>
              </a:solidFill>
            </a:endParaRPr>
          </a:p>
        </p:txBody>
      </p:sp>
      <p:sp>
        <p:nvSpPr>
          <p:cNvPr id="673" name="Google Shape;673;p56"/>
          <p:cNvSpPr/>
          <p:nvPr/>
        </p:nvSpPr>
        <p:spPr>
          <a:xfrm>
            <a:off x="4434228" y="1205483"/>
            <a:ext cx="275400" cy="3513900"/>
          </a:xfrm>
          <a:prstGeom prst="rect">
            <a:avLst/>
          </a:prstGeom>
          <a:solidFill>
            <a:srgbClr val="F1F5F9"/>
          </a:solidFill>
          <a:ln w="9575" cap="flat" cmpd="sng">
            <a:solidFill>
              <a:srgbClr val="F1F5F9"/>
            </a:solidFill>
            <a:prstDash val="solid"/>
            <a:round/>
            <a:headEnd type="none" w="sm" len="sm"/>
            <a:tailEnd type="none" w="sm" len="sm"/>
          </a:ln>
        </p:spPr>
        <p:txBody>
          <a:bodyPr spcFirstLastPara="1" wrap="square" lIns="68900" tIns="68900" rIns="68900" bIns="68900" anchor="ctr" anchorCtr="0">
            <a:noAutofit/>
          </a:bodyPr>
          <a:lstStyle/>
          <a:p>
            <a:pPr marL="0" lvl="0" indent="0" algn="l" rtl="0">
              <a:spcBef>
                <a:spcPts val="0"/>
              </a:spcBef>
              <a:spcAft>
                <a:spcPts val="0"/>
              </a:spcAft>
              <a:buNone/>
            </a:pPr>
            <a:endParaRPr/>
          </a:p>
        </p:txBody>
      </p:sp>
      <p:sp>
        <p:nvSpPr>
          <p:cNvPr id="674" name="Google Shape;674;p56"/>
          <p:cNvSpPr/>
          <p:nvPr/>
        </p:nvSpPr>
        <p:spPr>
          <a:xfrm>
            <a:off x="4365324" y="2755824"/>
            <a:ext cx="413400" cy="275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980"/>
              <a:buFont typeface="Arial"/>
              <a:buNone/>
            </a:pPr>
            <a:r>
              <a:rPr lang="en" sz="980" b="1" i="0" u="none" strike="noStrike" cap="none">
                <a:solidFill>
                  <a:srgbClr val="64748B"/>
                </a:solidFill>
                <a:latin typeface="Arial"/>
                <a:ea typeface="Arial"/>
                <a:cs typeface="Arial"/>
                <a:sym typeface="Arial"/>
              </a:rPr>
              <a:t>VS</a:t>
            </a:r>
            <a:endParaRPr sz="980" b="0" i="0" u="none" strike="noStrike" cap="none">
              <a:solidFill>
                <a:srgbClr val="00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3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3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3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3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3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3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3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4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4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4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4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4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4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4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4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4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4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5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5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5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65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654"/>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65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656"/>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657"/>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658"/>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659"/>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660"/>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661"/>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662"/>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663"/>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664"/>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665"/>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666"/>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667"/>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668"/>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669"/>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670"/>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671"/>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672"/>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673"/>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6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718"/>
        <p:cNvGrpSpPr/>
        <p:nvPr/>
      </p:nvGrpSpPr>
      <p:grpSpPr>
        <a:xfrm>
          <a:off x="0" y="0"/>
          <a:ext cx="0" cy="0"/>
          <a:chOff x="0" y="0"/>
          <a:chExt cx="0" cy="0"/>
        </a:xfrm>
      </p:grpSpPr>
      <p:sp>
        <p:nvSpPr>
          <p:cNvPr id="719" name="Google Shape;719;p60"/>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20" name="Google Shape;720;p60"/>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721" name="Google Shape;721;p60"/>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pic>
        <p:nvPicPr>
          <p:cNvPr id="722" name="Google Shape;722;p60"/>
          <p:cNvPicPr preferRelativeResize="0"/>
          <p:nvPr/>
        </p:nvPicPr>
        <p:blipFill>
          <a:blip r:embed="rId3">
            <a:alphaModFix/>
          </a:blip>
          <a:stretch>
            <a:fillRect/>
          </a:stretch>
        </p:blipFill>
        <p:spPr>
          <a:xfrm>
            <a:off x="-37400" y="0"/>
            <a:ext cx="9181399" cy="51462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727"/>
        <p:cNvGrpSpPr/>
        <p:nvPr/>
      </p:nvGrpSpPr>
      <p:grpSpPr>
        <a:xfrm>
          <a:off x="0" y="0"/>
          <a:ext cx="0" cy="0"/>
          <a:chOff x="0" y="0"/>
          <a:chExt cx="0" cy="0"/>
        </a:xfrm>
      </p:grpSpPr>
      <p:sp>
        <p:nvSpPr>
          <p:cNvPr id="728" name="Google Shape;728;p61"/>
          <p:cNvSpPr/>
          <p:nvPr/>
        </p:nvSpPr>
        <p:spPr>
          <a:xfrm>
            <a:off x="947275" y="3091225"/>
            <a:ext cx="7741200" cy="19914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61"/>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61"/>
          <p:cNvSpPr/>
          <p:nvPr/>
        </p:nvSpPr>
        <p:spPr>
          <a:xfrm>
            <a:off x="947200" y="984250"/>
            <a:ext cx="7741200" cy="19914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31" name="Google Shape;731;p61"/>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732" name="Google Shape;732;p61"/>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sp>
        <p:nvSpPr>
          <p:cNvPr id="733" name="Google Shape;733;p61"/>
          <p:cNvSpPr/>
          <p:nvPr/>
        </p:nvSpPr>
        <p:spPr>
          <a:xfrm>
            <a:off x="6367437" y="1191928"/>
            <a:ext cx="1374900" cy="413100"/>
          </a:xfrm>
          <a:prstGeom prst="roundRect">
            <a:avLst>
              <a:gd name="adj" fmla="val 16667"/>
            </a:avLst>
          </a:prstGeom>
          <a:solidFill>
            <a:srgbClr val="FFFFFF"/>
          </a:solidFill>
          <a:ln w="11875" cap="flat" cmpd="sng">
            <a:solidFill>
              <a:srgbClr val="FFFFFF"/>
            </a:solidFill>
            <a:prstDash val="solid"/>
            <a:round/>
            <a:headEnd type="none" w="sm" len="sm"/>
            <a:tailEnd type="none" w="sm" len="sm"/>
          </a:ln>
          <a:effectLst>
            <a:outerShdw blurRad="231572" dist="23751" dir="5400000" algn="bl" rotWithShape="0">
              <a:srgbClr val="999999">
                <a:alpha val="50000"/>
              </a:srgbClr>
            </a:outerShdw>
          </a:effectLst>
        </p:spPr>
        <p:txBody>
          <a:bodyPr spcFirstLastPara="1" wrap="square" lIns="113975" tIns="113975" rIns="113975" bIns="113975" anchor="ctr" anchorCtr="0">
            <a:noAutofit/>
          </a:bodyPr>
          <a:lstStyle/>
          <a:p>
            <a:pPr marL="0" lvl="0" indent="0" algn="ctr" rtl="0">
              <a:spcBef>
                <a:spcPts val="0"/>
              </a:spcBef>
              <a:spcAft>
                <a:spcPts val="0"/>
              </a:spcAft>
              <a:buNone/>
            </a:pPr>
            <a:endParaRPr sz="1745">
              <a:latin typeface="Nunito ExtraBold"/>
              <a:ea typeface="Nunito ExtraBold"/>
              <a:cs typeface="Nunito ExtraBold"/>
              <a:sym typeface="Nunito ExtraBold"/>
            </a:endParaRPr>
          </a:p>
        </p:txBody>
      </p:sp>
      <p:sp>
        <p:nvSpPr>
          <p:cNvPr id="734" name="Google Shape;734;p61"/>
          <p:cNvSpPr/>
          <p:nvPr/>
        </p:nvSpPr>
        <p:spPr>
          <a:xfrm>
            <a:off x="6367434" y="1186636"/>
            <a:ext cx="622500" cy="413100"/>
          </a:xfrm>
          <a:prstGeom prst="roundRect">
            <a:avLst>
              <a:gd name="adj" fmla="val 16667"/>
            </a:avLst>
          </a:prstGeom>
          <a:solidFill>
            <a:srgbClr val="F66000"/>
          </a:solidFill>
          <a:ln w="11875" cap="flat" cmpd="sng">
            <a:solidFill>
              <a:srgbClr val="FFFFFF"/>
            </a:solidFill>
            <a:prstDash val="solid"/>
            <a:round/>
            <a:headEnd type="none" w="sm" len="sm"/>
            <a:tailEnd type="none" w="sm" len="sm"/>
          </a:ln>
          <a:effectLst>
            <a:outerShdw blurRad="231572" dist="23751" dir="5400000" algn="bl" rotWithShape="0">
              <a:srgbClr val="999999">
                <a:alpha val="50000"/>
              </a:srgbClr>
            </a:outerShdw>
          </a:effectLst>
        </p:spPr>
        <p:txBody>
          <a:bodyPr spcFirstLastPara="1" wrap="square" lIns="113975" tIns="113975" rIns="113975" bIns="113975" anchor="ctr" anchorCtr="0">
            <a:noAutofit/>
          </a:bodyPr>
          <a:lstStyle/>
          <a:p>
            <a:pPr marL="0" lvl="0" indent="0" algn="ctr" rtl="0">
              <a:spcBef>
                <a:spcPts val="0"/>
              </a:spcBef>
              <a:spcAft>
                <a:spcPts val="0"/>
              </a:spcAft>
              <a:buNone/>
            </a:pPr>
            <a:endParaRPr sz="1745">
              <a:latin typeface="Nunito ExtraBold"/>
              <a:ea typeface="Nunito ExtraBold"/>
              <a:cs typeface="Nunito ExtraBold"/>
              <a:sym typeface="Nunito ExtraBold"/>
            </a:endParaRPr>
          </a:p>
        </p:txBody>
      </p:sp>
      <p:sp>
        <p:nvSpPr>
          <p:cNvPr id="735" name="Google Shape;735;p61"/>
          <p:cNvSpPr txBox="1"/>
          <p:nvPr/>
        </p:nvSpPr>
        <p:spPr>
          <a:xfrm>
            <a:off x="6913644" y="1171719"/>
            <a:ext cx="871200" cy="413100"/>
          </a:xfrm>
          <a:prstGeom prst="rect">
            <a:avLst/>
          </a:prstGeom>
          <a:noFill/>
          <a:ln>
            <a:noFill/>
          </a:ln>
        </p:spPr>
        <p:txBody>
          <a:bodyPr spcFirstLastPara="1" wrap="square" lIns="113975" tIns="113975" rIns="113975" bIns="113975" anchor="ctr" anchorCtr="0">
            <a:noAutofit/>
          </a:bodyPr>
          <a:lstStyle/>
          <a:p>
            <a:pPr marL="0" lvl="0" indent="0" algn="ctr" rtl="0">
              <a:spcBef>
                <a:spcPts val="0"/>
              </a:spcBef>
              <a:spcAft>
                <a:spcPts val="0"/>
              </a:spcAft>
              <a:buNone/>
            </a:pPr>
            <a:r>
              <a:rPr lang="en" sz="1150">
                <a:solidFill>
                  <a:srgbClr val="1255CC"/>
                </a:solidFill>
                <a:latin typeface="Nunito ExtraBold"/>
                <a:ea typeface="Nunito ExtraBold"/>
                <a:cs typeface="Nunito ExtraBold"/>
                <a:sym typeface="Nunito ExtraBold"/>
              </a:rPr>
              <a:t>1,851 ca</a:t>
            </a:r>
            <a:endParaRPr sz="1150">
              <a:solidFill>
                <a:srgbClr val="1255CC"/>
              </a:solidFill>
              <a:latin typeface="Nunito ExtraBold"/>
              <a:ea typeface="Nunito ExtraBold"/>
              <a:cs typeface="Nunito ExtraBold"/>
              <a:sym typeface="Nunito ExtraBold"/>
            </a:endParaRPr>
          </a:p>
        </p:txBody>
      </p:sp>
      <p:sp>
        <p:nvSpPr>
          <p:cNvPr id="736" name="Google Shape;736;p61"/>
          <p:cNvSpPr txBox="1"/>
          <p:nvPr/>
        </p:nvSpPr>
        <p:spPr>
          <a:xfrm>
            <a:off x="6253887" y="1227380"/>
            <a:ext cx="847200" cy="299700"/>
          </a:xfrm>
          <a:prstGeom prst="rect">
            <a:avLst/>
          </a:prstGeom>
          <a:noFill/>
          <a:ln>
            <a:noFill/>
          </a:ln>
        </p:spPr>
        <p:txBody>
          <a:bodyPr spcFirstLastPara="1" wrap="square" lIns="113975" tIns="113975" rIns="113975" bIns="113975" anchor="ctr" anchorCtr="0">
            <a:noAutofit/>
          </a:bodyPr>
          <a:lstStyle/>
          <a:p>
            <a:pPr marL="0" lvl="0" indent="0" algn="ctr" rtl="0">
              <a:spcBef>
                <a:spcPts val="0"/>
              </a:spcBef>
              <a:spcAft>
                <a:spcPts val="0"/>
              </a:spcAft>
              <a:buNone/>
            </a:pPr>
            <a:r>
              <a:rPr lang="en" sz="800">
                <a:solidFill>
                  <a:srgbClr val="FFFFFF"/>
                </a:solidFill>
                <a:latin typeface="Nunito ExtraBold"/>
                <a:ea typeface="Nunito ExtraBold"/>
                <a:cs typeface="Nunito ExtraBold"/>
                <a:sym typeface="Nunito ExtraBold"/>
              </a:rPr>
              <a:t>Checkin</a:t>
            </a:r>
            <a:endParaRPr sz="800">
              <a:solidFill>
                <a:srgbClr val="FFFFFF"/>
              </a:solidFill>
              <a:latin typeface="Nunito ExtraBold"/>
              <a:ea typeface="Nunito ExtraBold"/>
              <a:cs typeface="Nunito ExtraBold"/>
              <a:sym typeface="Nunito ExtraBold"/>
            </a:endParaRPr>
          </a:p>
        </p:txBody>
      </p:sp>
      <p:sp>
        <p:nvSpPr>
          <p:cNvPr id="737" name="Google Shape;737;p61"/>
          <p:cNvSpPr/>
          <p:nvPr/>
        </p:nvSpPr>
        <p:spPr>
          <a:xfrm>
            <a:off x="6363784" y="1800111"/>
            <a:ext cx="1374900" cy="413100"/>
          </a:xfrm>
          <a:prstGeom prst="roundRect">
            <a:avLst>
              <a:gd name="adj" fmla="val 16667"/>
            </a:avLst>
          </a:prstGeom>
          <a:solidFill>
            <a:srgbClr val="FFFFFF"/>
          </a:solidFill>
          <a:ln w="11875" cap="flat" cmpd="sng">
            <a:solidFill>
              <a:srgbClr val="FFFFFF"/>
            </a:solidFill>
            <a:prstDash val="solid"/>
            <a:round/>
            <a:headEnd type="none" w="sm" len="sm"/>
            <a:tailEnd type="none" w="sm" len="sm"/>
          </a:ln>
          <a:effectLst>
            <a:outerShdw blurRad="231572" dist="23751" dir="5400000" algn="bl" rotWithShape="0">
              <a:srgbClr val="999999">
                <a:alpha val="50000"/>
              </a:srgbClr>
            </a:outerShdw>
          </a:effectLst>
        </p:spPr>
        <p:txBody>
          <a:bodyPr spcFirstLastPara="1" wrap="square" lIns="113975" tIns="113975" rIns="113975" bIns="113975" anchor="ctr" anchorCtr="0">
            <a:noAutofit/>
          </a:bodyPr>
          <a:lstStyle/>
          <a:p>
            <a:pPr marL="0" lvl="0" indent="0" algn="ctr" rtl="0">
              <a:spcBef>
                <a:spcPts val="0"/>
              </a:spcBef>
              <a:spcAft>
                <a:spcPts val="0"/>
              </a:spcAft>
              <a:buNone/>
            </a:pPr>
            <a:endParaRPr sz="1745">
              <a:latin typeface="Nunito ExtraBold"/>
              <a:ea typeface="Nunito ExtraBold"/>
              <a:cs typeface="Nunito ExtraBold"/>
              <a:sym typeface="Nunito ExtraBold"/>
            </a:endParaRPr>
          </a:p>
        </p:txBody>
      </p:sp>
      <p:sp>
        <p:nvSpPr>
          <p:cNvPr id="738" name="Google Shape;738;p61"/>
          <p:cNvSpPr/>
          <p:nvPr/>
        </p:nvSpPr>
        <p:spPr>
          <a:xfrm>
            <a:off x="6363782" y="1794820"/>
            <a:ext cx="622500" cy="413100"/>
          </a:xfrm>
          <a:prstGeom prst="roundRect">
            <a:avLst>
              <a:gd name="adj" fmla="val 16667"/>
            </a:avLst>
          </a:prstGeom>
          <a:solidFill>
            <a:srgbClr val="F66000"/>
          </a:solidFill>
          <a:ln w="11875" cap="flat" cmpd="sng">
            <a:solidFill>
              <a:srgbClr val="FFFFFF"/>
            </a:solidFill>
            <a:prstDash val="solid"/>
            <a:round/>
            <a:headEnd type="none" w="sm" len="sm"/>
            <a:tailEnd type="none" w="sm" len="sm"/>
          </a:ln>
          <a:effectLst>
            <a:outerShdw blurRad="231572" dist="23751" dir="5400000" algn="bl" rotWithShape="0">
              <a:srgbClr val="999999">
                <a:alpha val="50000"/>
              </a:srgbClr>
            </a:outerShdw>
          </a:effectLst>
        </p:spPr>
        <p:txBody>
          <a:bodyPr spcFirstLastPara="1" wrap="square" lIns="113975" tIns="113975" rIns="113975" bIns="113975" anchor="ctr" anchorCtr="0">
            <a:noAutofit/>
          </a:bodyPr>
          <a:lstStyle/>
          <a:p>
            <a:pPr marL="0" lvl="0" indent="0" algn="ctr" rtl="0">
              <a:spcBef>
                <a:spcPts val="0"/>
              </a:spcBef>
              <a:spcAft>
                <a:spcPts val="0"/>
              </a:spcAft>
              <a:buNone/>
            </a:pPr>
            <a:endParaRPr sz="1745">
              <a:latin typeface="Nunito ExtraBold"/>
              <a:ea typeface="Nunito ExtraBold"/>
              <a:cs typeface="Nunito ExtraBold"/>
              <a:sym typeface="Nunito ExtraBold"/>
            </a:endParaRPr>
          </a:p>
        </p:txBody>
      </p:sp>
      <p:sp>
        <p:nvSpPr>
          <p:cNvPr id="739" name="Google Shape;739;p61"/>
          <p:cNvSpPr txBox="1"/>
          <p:nvPr/>
        </p:nvSpPr>
        <p:spPr>
          <a:xfrm>
            <a:off x="6909991" y="1769319"/>
            <a:ext cx="871200" cy="413100"/>
          </a:xfrm>
          <a:prstGeom prst="rect">
            <a:avLst/>
          </a:prstGeom>
          <a:noFill/>
          <a:ln>
            <a:noFill/>
          </a:ln>
        </p:spPr>
        <p:txBody>
          <a:bodyPr spcFirstLastPara="1" wrap="square" lIns="113975" tIns="113975" rIns="113975" bIns="113975" anchor="ctr" anchorCtr="0">
            <a:noAutofit/>
          </a:bodyPr>
          <a:lstStyle/>
          <a:p>
            <a:pPr marL="0" lvl="0" indent="0" algn="ctr" rtl="0">
              <a:spcBef>
                <a:spcPts val="0"/>
              </a:spcBef>
              <a:spcAft>
                <a:spcPts val="0"/>
              </a:spcAft>
              <a:buNone/>
            </a:pPr>
            <a:r>
              <a:rPr lang="en" sz="1250">
                <a:solidFill>
                  <a:srgbClr val="1255CC"/>
                </a:solidFill>
                <a:latin typeface="Nunito ExtraBold"/>
                <a:ea typeface="Nunito ExtraBold"/>
                <a:cs typeface="Nunito ExtraBold"/>
                <a:sym typeface="Nunito ExtraBold"/>
              </a:rPr>
              <a:t>94.52%</a:t>
            </a:r>
            <a:endParaRPr sz="1250">
              <a:solidFill>
                <a:srgbClr val="1255CC"/>
              </a:solidFill>
              <a:latin typeface="Nunito ExtraBold"/>
              <a:ea typeface="Nunito ExtraBold"/>
              <a:cs typeface="Nunito ExtraBold"/>
              <a:sym typeface="Nunito ExtraBold"/>
            </a:endParaRPr>
          </a:p>
        </p:txBody>
      </p:sp>
      <p:sp>
        <p:nvSpPr>
          <p:cNvPr id="740" name="Google Shape;740;p61"/>
          <p:cNvSpPr txBox="1"/>
          <p:nvPr/>
        </p:nvSpPr>
        <p:spPr>
          <a:xfrm>
            <a:off x="6250234" y="1824980"/>
            <a:ext cx="847200" cy="299700"/>
          </a:xfrm>
          <a:prstGeom prst="rect">
            <a:avLst/>
          </a:prstGeom>
          <a:noFill/>
          <a:ln>
            <a:noFill/>
          </a:ln>
        </p:spPr>
        <p:txBody>
          <a:bodyPr spcFirstLastPara="1" wrap="square" lIns="113975" tIns="113975" rIns="113975" bIns="113975" anchor="ctr" anchorCtr="0">
            <a:noAutofit/>
          </a:bodyPr>
          <a:lstStyle/>
          <a:p>
            <a:pPr marL="0" lvl="0" indent="0" algn="ctr" rtl="0">
              <a:spcBef>
                <a:spcPts val="0"/>
              </a:spcBef>
              <a:spcAft>
                <a:spcPts val="0"/>
              </a:spcAft>
              <a:buNone/>
            </a:pPr>
            <a:r>
              <a:rPr lang="en" sz="800">
                <a:solidFill>
                  <a:srgbClr val="FFFFFF"/>
                </a:solidFill>
                <a:latin typeface="Nunito ExtraBold"/>
                <a:ea typeface="Nunito ExtraBold"/>
                <a:cs typeface="Nunito ExtraBold"/>
                <a:sym typeface="Nunito ExtraBold"/>
              </a:rPr>
              <a:t>Utlz</a:t>
            </a:r>
            <a:endParaRPr sz="800">
              <a:solidFill>
                <a:srgbClr val="FFFFFF"/>
              </a:solidFill>
              <a:latin typeface="Nunito ExtraBold"/>
              <a:ea typeface="Nunito ExtraBold"/>
              <a:cs typeface="Nunito ExtraBold"/>
              <a:sym typeface="Nunito ExtraBold"/>
            </a:endParaRPr>
          </a:p>
        </p:txBody>
      </p:sp>
      <p:sp>
        <p:nvSpPr>
          <p:cNvPr id="741" name="Google Shape;741;p61"/>
          <p:cNvSpPr/>
          <p:nvPr/>
        </p:nvSpPr>
        <p:spPr>
          <a:xfrm>
            <a:off x="6363784" y="2388078"/>
            <a:ext cx="1374900" cy="413100"/>
          </a:xfrm>
          <a:prstGeom prst="roundRect">
            <a:avLst>
              <a:gd name="adj" fmla="val 16667"/>
            </a:avLst>
          </a:prstGeom>
          <a:solidFill>
            <a:srgbClr val="FFFFFF"/>
          </a:solidFill>
          <a:ln w="11875" cap="flat" cmpd="sng">
            <a:solidFill>
              <a:srgbClr val="FFFFFF"/>
            </a:solidFill>
            <a:prstDash val="solid"/>
            <a:round/>
            <a:headEnd type="none" w="sm" len="sm"/>
            <a:tailEnd type="none" w="sm" len="sm"/>
          </a:ln>
          <a:effectLst>
            <a:outerShdw blurRad="231572" dist="23751" dir="5400000" algn="bl" rotWithShape="0">
              <a:srgbClr val="999999">
                <a:alpha val="50000"/>
              </a:srgbClr>
            </a:outerShdw>
          </a:effectLst>
        </p:spPr>
        <p:txBody>
          <a:bodyPr spcFirstLastPara="1" wrap="square" lIns="113975" tIns="113975" rIns="113975" bIns="113975" anchor="ctr" anchorCtr="0">
            <a:noAutofit/>
          </a:bodyPr>
          <a:lstStyle/>
          <a:p>
            <a:pPr marL="0" lvl="0" indent="0" algn="ctr" rtl="0">
              <a:spcBef>
                <a:spcPts val="0"/>
              </a:spcBef>
              <a:spcAft>
                <a:spcPts val="0"/>
              </a:spcAft>
              <a:buNone/>
            </a:pPr>
            <a:endParaRPr sz="1745">
              <a:latin typeface="Nunito ExtraBold"/>
              <a:ea typeface="Nunito ExtraBold"/>
              <a:cs typeface="Nunito ExtraBold"/>
              <a:sym typeface="Nunito ExtraBold"/>
            </a:endParaRPr>
          </a:p>
        </p:txBody>
      </p:sp>
      <p:sp>
        <p:nvSpPr>
          <p:cNvPr id="742" name="Google Shape;742;p61"/>
          <p:cNvSpPr/>
          <p:nvPr/>
        </p:nvSpPr>
        <p:spPr>
          <a:xfrm>
            <a:off x="6363782" y="2388078"/>
            <a:ext cx="622500" cy="413100"/>
          </a:xfrm>
          <a:prstGeom prst="roundRect">
            <a:avLst>
              <a:gd name="adj" fmla="val 16667"/>
            </a:avLst>
          </a:prstGeom>
          <a:solidFill>
            <a:srgbClr val="F66000"/>
          </a:solidFill>
          <a:ln w="11875" cap="flat" cmpd="sng">
            <a:solidFill>
              <a:srgbClr val="FFFFFF"/>
            </a:solidFill>
            <a:prstDash val="solid"/>
            <a:round/>
            <a:headEnd type="none" w="sm" len="sm"/>
            <a:tailEnd type="none" w="sm" len="sm"/>
          </a:ln>
          <a:effectLst>
            <a:outerShdw blurRad="231572" dist="23751" dir="5400000" algn="bl" rotWithShape="0">
              <a:srgbClr val="999999">
                <a:alpha val="50000"/>
              </a:srgbClr>
            </a:outerShdw>
          </a:effectLst>
        </p:spPr>
        <p:txBody>
          <a:bodyPr spcFirstLastPara="1" wrap="square" lIns="113975" tIns="113975" rIns="113975" bIns="113975" anchor="ctr" anchorCtr="0">
            <a:noAutofit/>
          </a:bodyPr>
          <a:lstStyle/>
          <a:p>
            <a:pPr marL="0" lvl="0" indent="0" algn="ctr" rtl="0">
              <a:spcBef>
                <a:spcPts val="0"/>
              </a:spcBef>
              <a:spcAft>
                <a:spcPts val="0"/>
              </a:spcAft>
              <a:buNone/>
            </a:pPr>
            <a:endParaRPr sz="1745">
              <a:latin typeface="Nunito ExtraBold"/>
              <a:ea typeface="Nunito ExtraBold"/>
              <a:cs typeface="Nunito ExtraBold"/>
              <a:sym typeface="Nunito ExtraBold"/>
            </a:endParaRPr>
          </a:p>
        </p:txBody>
      </p:sp>
      <p:sp>
        <p:nvSpPr>
          <p:cNvPr id="743" name="Google Shape;743;p61"/>
          <p:cNvSpPr txBox="1"/>
          <p:nvPr/>
        </p:nvSpPr>
        <p:spPr>
          <a:xfrm>
            <a:off x="6909991" y="2367869"/>
            <a:ext cx="871200" cy="413100"/>
          </a:xfrm>
          <a:prstGeom prst="rect">
            <a:avLst/>
          </a:prstGeom>
          <a:noFill/>
          <a:ln>
            <a:noFill/>
          </a:ln>
        </p:spPr>
        <p:txBody>
          <a:bodyPr spcFirstLastPara="1" wrap="square" lIns="113975" tIns="113975" rIns="113975" bIns="113975" anchor="ctr" anchorCtr="0">
            <a:noAutofit/>
          </a:bodyPr>
          <a:lstStyle/>
          <a:p>
            <a:pPr marL="0" lvl="0" indent="0" algn="ctr" rtl="0">
              <a:spcBef>
                <a:spcPts val="0"/>
              </a:spcBef>
              <a:spcAft>
                <a:spcPts val="0"/>
              </a:spcAft>
              <a:buNone/>
            </a:pPr>
            <a:r>
              <a:rPr lang="en" sz="1250">
                <a:solidFill>
                  <a:srgbClr val="1255CC"/>
                </a:solidFill>
                <a:latin typeface="Nunito ExtraBold"/>
                <a:ea typeface="Nunito ExtraBold"/>
                <a:cs typeface="Nunito ExtraBold"/>
                <a:sym typeface="Nunito ExtraBold"/>
              </a:rPr>
              <a:t>88.72%</a:t>
            </a:r>
            <a:endParaRPr sz="1250">
              <a:solidFill>
                <a:srgbClr val="1255CC"/>
              </a:solidFill>
              <a:latin typeface="Nunito ExtraBold"/>
              <a:ea typeface="Nunito ExtraBold"/>
              <a:cs typeface="Nunito ExtraBold"/>
              <a:sym typeface="Nunito ExtraBold"/>
            </a:endParaRPr>
          </a:p>
        </p:txBody>
      </p:sp>
      <p:sp>
        <p:nvSpPr>
          <p:cNvPr id="744" name="Google Shape;744;p61"/>
          <p:cNvSpPr txBox="1"/>
          <p:nvPr/>
        </p:nvSpPr>
        <p:spPr>
          <a:xfrm>
            <a:off x="6255084" y="2413102"/>
            <a:ext cx="847200" cy="299700"/>
          </a:xfrm>
          <a:prstGeom prst="rect">
            <a:avLst/>
          </a:prstGeom>
          <a:noFill/>
          <a:ln>
            <a:noFill/>
          </a:ln>
        </p:spPr>
        <p:txBody>
          <a:bodyPr spcFirstLastPara="1" wrap="square" lIns="113975" tIns="113975" rIns="113975" bIns="113975" anchor="ctr" anchorCtr="0">
            <a:noAutofit/>
          </a:bodyPr>
          <a:lstStyle/>
          <a:p>
            <a:pPr marL="0" lvl="0" indent="0" algn="ctr" rtl="0">
              <a:spcBef>
                <a:spcPts val="0"/>
              </a:spcBef>
              <a:spcAft>
                <a:spcPts val="0"/>
              </a:spcAft>
              <a:buNone/>
            </a:pPr>
            <a:r>
              <a:rPr lang="en" sz="800">
                <a:solidFill>
                  <a:srgbClr val="FFFFFF"/>
                </a:solidFill>
                <a:latin typeface="Nunito ExtraBold"/>
                <a:ea typeface="Nunito ExtraBold"/>
                <a:cs typeface="Nunito ExtraBold"/>
                <a:sym typeface="Nunito ExtraBold"/>
              </a:rPr>
              <a:t>Online</a:t>
            </a:r>
            <a:br>
              <a:rPr lang="en" sz="800">
                <a:solidFill>
                  <a:srgbClr val="FFFFFF"/>
                </a:solidFill>
                <a:latin typeface="Nunito ExtraBold"/>
                <a:ea typeface="Nunito ExtraBold"/>
                <a:cs typeface="Nunito ExtraBold"/>
                <a:sym typeface="Nunito ExtraBold"/>
              </a:rPr>
            </a:br>
            <a:r>
              <a:rPr lang="en" sz="800">
                <a:solidFill>
                  <a:srgbClr val="FFFFFF"/>
                </a:solidFill>
                <a:latin typeface="Nunito ExtraBold"/>
                <a:ea typeface="Nunito ExtraBold"/>
                <a:cs typeface="Nunito ExtraBold"/>
                <a:sym typeface="Nunito ExtraBold"/>
              </a:rPr>
              <a:t>rate</a:t>
            </a:r>
            <a:endParaRPr sz="800">
              <a:solidFill>
                <a:srgbClr val="FFFFFF"/>
              </a:solidFill>
              <a:latin typeface="Nunito ExtraBold"/>
              <a:ea typeface="Nunito ExtraBold"/>
              <a:cs typeface="Nunito ExtraBold"/>
              <a:sym typeface="Nunito ExtraBold"/>
            </a:endParaRPr>
          </a:p>
        </p:txBody>
      </p:sp>
      <p:sp>
        <p:nvSpPr>
          <p:cNvPr id="745" name="Google Shape;745;p61"/>
          <p:cNvSpPr txBox="1"/>
          <p:nvPr/>
        </p:nvSpPr>
        <p:spPr>
          <a:xfrm>
            <a:off x="7701617" y="1215680"/>
            <a:ext cx="1500600" cy="323100"/>
          </a:xfrm>
          <a:prstGeom prst="rect">
            <a:avLst/>
          </a:prstGeom>
          <a:noFill/>
          <a:ln>
            <a:noFill/>
          </a:ln>
        </p:spPr>
        <p:txBody>
          <a:bodyPr spcFirstLastPara="1" wrap="square" lIns="91425" tIns="91425" rIns="91425" bIns="91425" anchor="t" anchorCtr="0">
            <a:spAutoFit/>
          </a:bodyPr>
          <a:lstStyle/>
          <a:p>
            <a:pPr marL="0" lvl="0" indent="0" algn="l" rtl="0">
              <a:spcBef>
                <a:spcPts val="400"/>
              </a:spcBef>
              <a:spcAft>
                <a:spcPts val="0"/>
              </a:spcAft>
              <a:buNone/>
            </a:pPr>
            <a:r>
              <a:rPr lang="en" sz="900">
                <a:solidFill>
                  <a:srgbClr val="1E293B"/>
                </a:solidFill>
                <a:latin typeface="Lexend"/>
                <a:ea typeface="Lexend"/>
                <a:cs typeface="Lexend"/>
                <a:sym typeface="Lexend"/>
              </a:rPr>
              <a:t>WoW: - 0.38%</a:t>
            </a:r>
            <a:endParaRPr/>
          </a:p>
        </p:txBody>
      </p:sp>
      <p:sp>
        <p:nvSpPr>
          <p:cNvPr id="746" name="Google Shape;746;p61"/>
          <p:cNvSpPr txBox="1"/>
          <p:nvPr/>
        </p:nvSpPr>
        <p:spPr>
          <a:xfrm>
            <a:off x="7701617" y="1814305"/>
            <a:ext cx="1500600" cy="323100"/>
          </a:xfrm>
          <a:prstGeom prst="rect">
            <a:avLst/>
          </a:prstGeom>
          <a:noFill/>
          <a:ln>
            <a:noFill/>
          </a:ln>
        </p:spPr>
        <p:txBody>
          <a:bodyPr spcFirstLastPara="1" wrap="square" lIns="91425" tIns="91425" rIns="91425" bIns="91425" anchor="t" anchorCtr="0">
            <a:spAutoFit/>
          </a:bodyPr>
          <a:lstStyle/>
          <a:p>
            <a:pPr marL="0" lvl="0" indent="0" algn="l" rtl="0">
              <a:spcBef>
                <a:spcPts val="400"/>
              </a:spcBef>
              <a:spcAft>
                <a:spcPts val="0"/>
              </a:spcAft>
              <a:buNone/>
            </a:pPr>
            <a:r>
              <a:rPr lang="en" sz="900">
                <a:solidFill>
                  <a:srgbClr val="1E293B"/>
                </a:solidFill>
                <a:latin typeface="Lexend"/>
                <a:ea typeface="Lexend"/>
                <a:cs typeface="Lexend"/>
                <a:sym typeface="Lexend"/>
              </a:rPr>
              <a:t>WoW: + 0.57%</a:t>
            </a:r>
            <a:endParaRPr/>
          </a:p>
        </p:txBody>
      </p:sp>
      <p:sp>
        <p:nvSpPr>
          <p:cNvPr id="747" name="Google Shape;747;p61"/>
          <p:cNvSpPr txBox="1"/>
          <p:nvPr/>
        </p:nvSpPr>
        <p:spPr>
          <a:xfrm>
            <a:off x="7701617" y="2412635"/>
            <a:ext cx="1500600" cy="323100"/>
          </a:xfrm>
          <a:prstGeom prst="rect">
            <a:avLst/>
          </a:prstGeom>
          <a:noFill/>
          <a:ln>
            <a:noFill/>
          </a:ln>
        </p:spPr>
        <p:txBody>
          <a:bodyPr spcFirstLastPara="1" wrap="square" lIns="91425" tIns="91425" rIns="91425" bIns="91425" anchor="t" anchorCtr="0">
            <a:spAutoFit/>
          </a:bodyPr>
          <a:lstStyle/>
          <a:p>
            <a:pPr marL="0" lvl="0" indent="0" algn="l" rtl="0">
              <a:spcBef>
                <a:spcPts val="400"/>
              </a:spcBef>
              <a:spcAft>
                <a:spcPts val="0"/>
              </a:spcAft>
              <a:buNone/>
            </a:pPr>
            <a:r>
              <a:rPr lang="en" sz="900">
                <a:solidFill>
                  <a:srgbClr val="1E293B"/>
                </a:solidFill>
                <a:latin typeface="Lexend"/>
                <a:ea typeface="Lexend"/>
                <a:cs typeface="Lexend"/>
                <a:sym typeface="Lexend"/>
              </a:rPr>
              <a:t>WoW: - 0.56%</a:t>
            </a:r>
            <a:endParaRPr/>
          </a:p>
        </p:txBody>
      </p:sp>
      <p:pic>
        <p:nvPicPr>
          <p:cNvPr id="748" name="Google Shape;748;p61" descr="preencoded.png"/>
          <p:cNvPicPr preferRelativeResize="0"/>
          <p:nvPr/>
        </p:nvPicPr>
        <p:blipFill rotWithShape="1">
          <a:blip r:embed="rId3">
            <a:alphaModFix/>
          </a:blip>
          <a:srcRect/>
          <a:stretch/>
        </p:blipFill>
        <p:spPr>
          <a:xfrm>
            <a:off x="365760" y="337820"/>
            <a:ext cx="274320" cy="274320"/>
          </a:xfrm>
          <a:prstGeom prst="rect">
            <a:avLst/>
          </a:prstGeom>
          <a:noFill/>
          <a:ln>
            <a:noFill/>
          </a:ln>
        </p:spPr>
      </p:pic>
      <p:sp>
        <p:nvSpPr>
          <p:cNvPr id="749" name="Google Shape;749;p61"/>
          <p:cNvSpPr/>
          <p:nvPr/>
        </p:nvSpPr>
        <p:spPr>
          <a:xfrm>
            <a:off x="731520" y="2646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i="0" u="none" strike="noStrike" cap="none">
                <a:solidFill>
                  <a:srgbClr val="0E4174"/>
                </a:solidFill>
                <a:latin typeface="Lexend"/>
                <a:ea typeface="Lexend"/>
                <a:cs typeface="Lexend"/>
                <a:sym typeface="Lexend"/>
              </a:rPr>
              <a:t>MiniHub</a:t>
            </a:r>
            <a:r>
              <a:rPr lang="en" sz="2200" b="1">
                <a:solidFill>
                  <a:srgbClr val="0E4174"/>
                </a:solidFill>
                <a:latin typeface="Lexend"/>
                <a:ea typeface="Lexend"/>
                <a:cs typeface="Lexend"/>
                <a:sym typeface="Lexend"/>
              </a:rPr>
              <a:t> </a:t>
            </a:r>
            <a:r>
              <a:rPr lang="en" sz="2200" b="1" i="0" u="none" strike="noStrike" cap="none">
                <a:solidFill>
                  <a:srgbClr val="0E4174"/>
                </a:solidFill>
                <a:latin typeface="Lexend"/>
                <a:ea typeface="Lexend"/>
                <a:cs typeface="Lexend"/>
                <a:sym typeface="Lexend"/>
              </a:rPr>
              <a:t>- </a:t>
            </a:r>
            <a:r>
              <a:rPr lang="en" sz="2200" b="1">
                <a:solidFill>
                  <a:srgbClr val="F56C1F"/>
                </a:solidFill>
                <a:latin typeface="Lexend"/>
                <a:ea typeface="Lexend"/>
                <a:cs typeface="Lexend"/>
                <a:sym typeface="Lexend"/>
              </a:rPr>
              <a:t>OPERATIONS</a:t>
            </a:r>
            <a:endParaRPr sz="2200" b="1" i="0" u="none" strike="noStrike" cap="none">
              <a:solidFill>
                <a:srgbClr val="F56C1F"/>
              </a:solidFill>
              <a:latin typeface="Lexend"/>
              <a:ea typeface="Lexend"/>
              <a:cs typeface="Lexend"/>
              <a:sym typeface="Lexend"/>
            </a:endParaRPr>
          </a:p>
        </p:txBody>
      </p:sp>
      <p:sp>
        <p:nvSpPr>
          <p:cNvPr id="750" name="Google Shape;750;p61"/>
          <p:cNvSpPr txBox="1"/>
          <p:nvPr/>
        </p:nvSpPr>
        <p:spPr>
          <a:xfrm>
            <a:off x="6347337" y="3326956"/>
            <a:ext cx="847200" cy="299700"/>
          </a:xfrm>
          <a:prstGeom prst="rect">
            <a:avLst/>
          </a:prstGeom>
          <a:noFill/>
          <a:ln>
            <a:noFill/>
          </a:ln>
        </p:spPr>
        <p:txBody>
          <a:bodyPr spcFirstLastPara="1" wrap="square" lIns="113975" tIns="113975" rIns="113975" bIns="113975" anchor="ctr" anchorCtr="0">
            <a:noAutofit/>
          </a:bodyPr>
          <a:lstStyle/>
          <a:p>
            <a:pPr marL="0" lvl="0" indent="0" algn="ctr" rtl="0">
              <a:spcBef>
                <a:spcPts val="0"/>
              </a:spcBef>
              <a:spcAft>
                <a:spcPts val="0"/>
              </a:spcAft>
              <a:buNone/>
            </a:pPr>
            <a:r>
              <a:rPr lang="en" sz="800">
                <a:solidFill>
                  <a:srgbClr val="FFFFFF"/>
                </a:solidFill>
                <a:latin typeface="Nunito ExtraBold"/>
                <a:ea typeface="Nunito ExtraBold"/>
                <a:cs typeface="Nunito ExtraBold"/>
                <a:sym typeface="Nunito ExtraBold"/>
              </a:rPr>
              <a:t>Checkin</a:t>
            </a:r>
            <a:endParaRPr sz="800">
              <a:solidFill>
                <a:srgbClr val="FFFFFF"/>
              </a:solidFill>
              <a:latin typeface="Nunito ExtraBold"/>
              <a:ea typeface="Nunito ExtraBold"/>
              <a:cs typeface="Nunito ExtraBold"/>
              <a:sym typeface="Nunito ExtraBold"/>
            </a:endParaRPr>
          </a:p>
        </p:txBody>
      </p:sp>
      <p:sp>
        <p:nvSpPr>
          <p:cNvPr id="751" name="Google Shape;751;p61"/>
          <p:cNvSpPr txBox="1"/>
          <p:nvPr/>
        </p:nvSpPr>
        <p:spPr>
          <a:xfrm>
            <a:off x="6343684" y="3924556"/>
            <a:ext cx="847200" cy="299700"/>
          </a:xfrm>
          <a:prstGeom prst="rect">
            <a:avLst/>
          </a:prstGeom>
          <a:noFill/>
          <a:ln>
            <a:noFill/>
          </a:ln>
        </p:spPr>
        <p:txBody>
          <a:bodyPr spcFirstLastPara="1" wrap="square" lIns="113975" tIns="113975" rIns="113975" bIns="113975" anchor="ctr" anchorCtr="0">
            <a:noAutofit/>
          </a:bodyPr>
          <a:lstStyle/>
          <a:p>
            <a:pPr marL="0" lvl="0" indent="0" algn="ctr" rtl="0">
              <a:spcBef>
                <a:spcPts val="0"/>
              </a:spcBef>
              <a:spcAft>
                <a:spcPts val="0"/>
              </a:spcAft>
              <a:buNone/>
            </a:pPr>
            <a:r>
              <a:rPr lang="en" sz="800">
                <a:solidFill>
                  <a:srgbClr val="FFFFFF"/>
                </a:solidFill>
                <a:latin typeface="Nunito ExtraBold"/>
                <a:ea typeface="Nunito ExtraBold"/>
                <a:cs typeface="Nunito ExtraBold"/>
                <a:sym typeface="Nunito ExtraBold"/>
              </a:rPr>
              <a:t>Checkin </a:t>
            </a:r>
            <a:endParaRPr sz="800">
              <a:solidFill>
                <a:srgbClr val="FFFFFF"/>
              </a:solidFill>
              <a:latin typeface="Nunito ExtraBold"/>
              <a:ea typeface="Nunito ExtraBold"/>
              <a:cs typeface="Nunito ExtraBold"/>
              <a:sym typeface="Nunito ExtraBold"/>
            </a:endParaRPr>
          </a:p>
          <a:p>
            <a:pPr marL="0" lvl="0" indent="0" algn="ctr" rtl="0">
              <a:spcBef>
                <a:spcPts val="0"/>
              </a:spcBef>
              <a:spcAft>
                <a:spcPts val="0"/>
              </a:spcAft>
              <a:buNone/>
            </a:pPr>
            <a:r>
              <a:rPr lang="en" sz="800">
                <a:solidFill>
                  <a:srgbClr val="FFFFFF"/>
                </a:solidFill>
                <a:latin typeface="Nunito ExtraBold"/>
                <a:ea typeface="Nunito ExtraBold"/>
                <a:cs typeface="Nunito ExtraBold"/>
                <a:sym typeface="Nunito ExtraBold"/>
              </a:rPr>
              <a:t>rate</a:t>
            </a:r>
            <a:endParaRPr sz="800">
              <a:solidFill>
                <a:srgbClr val="FFFFFF"/>
              </a:solidFill>
              <a:latin typeface="Nunito ExtraBold"/>
              <a:ea typeface="Nunito ExtraBold"/>
              <a:cs typeface="Nunito ExtraBold"/>
              <a:sym typeface="Nunito ExtraBold"/>
            </a:endParaRPr>
          </a:p>
        </p:txBody>
      </p:sp>
      <p:sp>
        <p:nvSpPr>
          <p:cNvPr id="752" name="Google Shape;752;p61"/>
          <p:cNvSpPr txBox="1"/>
          <p:nvPr/>
        </p:nvSpPr>
        <p:spPr>
          <a:xfrm>
            <a:off x="6343684" y="4523106"/>
            <a:ext cx="847200" cy="299700"/>
          </a:xfrm>
          <a:prstGeom prst="rect">
            <a:avLst/>
          </a:prstGeom>
          <a:noFill/>
          <a:ln>
            <a:noFill/>
          </a:ln>
        </p:spPr>
        <p:txBody>
          <a:bodyPr spcFirstLastPara="1" wrap="square" lIns="113975" tIns="113975" rIns="113975" bIns="113975" anchor="ctr" anchorCtr="0">
            <a:noAutofit/>
          </a:bodyPr>
          <a:lstStyle/>
          <a:p>
            <a:pPr marL="0" lvl="0" indent="0" algn="ctr" rtl="0">
              <a:spcBef>
                <a:spcPts val="0"/>
              </a:spcBef>
              <a:spcAft>
                <a:spcPts val="0"/>
              </a:spcAft>
              <a:buNone/>
            </a:pPr>
            <a:r>
              <a:rPr lang="en" sz="800">
                <a:solidFill>
                  <a:srgbClr val="FFFFFF"/>
                </a:solidFill>
                <a:latin typeface="Nunito ExtraBold"/>
                <a:ea typeface="Nunito ExtraBold"/>
                <a:cs typeface="Nunito ExtraBold"/>
                <a:sym typeface="Nunito ExtraBold"/>
              </a:rPr>
              <a:t>Coverage</a:t>
            </a:r>
            <a:endParaRPr sz="800">
              <a:solidFill>
                <a:srgbClr val="FFFFFF"/>
              </a:solidFill>
              <a:latin typeface="Nunito ExtraBold"/>
              <a:ea typeface="Nunito ExtraBold"/>
              <a:cs typeface="Nunito ExtraBold"/>
              <a:sym typeface="Nunito ExtraBold"/>
            </a:endParaRPr>
          </a:p>
        </p:txBody>
      </p:sp>
      <p:sp>
        <p:nvSpPr>
          <p:cNvPr id="753" name="Google Shape;753;p61"/>
          <p:cNvSpPr/>
          <p:nvPr/>
        </p:nvSpPr>
        <p:spPr>
          <a:xfrm>
            <a:off x="6460891" y="3270325"/>
            <a:ext cx="1297200" cy="413100"/>
          </a:xfrm>
          <a:prstGeom prst="roundRect">
            <a:avLst>
              <a:gd name="adj" fmla="val 16667"/>
            </a:avLst>
          </a:prstGeom>
          <a:solidFill>
            <a:srgbClr val="FFFFFF"/>
          </a:solidFill>
          <a:ln w="11875" cap="flat" cmpd="sng">
            <a:solidFill>
              <a:srgbClr val="FFFFFF"/>
            </a:solidFill>
            <a:prstDash val="solid"/>
            <a:round/>
            <a:headEnd type="none" w="sm" len="sm"/>
            <a:tailEnd type="none" w="sm" len="sm"/>
          </a:ln>
          <a:effectLst>
            <a:outerShdw blurRad="231572" dist="23751" dir="5400000" algn="bl" rotWithShape="0">
              <a:srgbClr val="999999">
                <a:alpha val="50000"/>
              </a:srgbClr>
            </a:outerShdw>
          </a:effectLst>
        </p:spPr>
        <p:txBody>
          <a:bodyPr spcFirstLastPara="1" wrap="square" lIns="113975" tIns="113975" rIns="113975" bIns="113975" anchor="ctr" anchorCtr="0">
            <a:noAutofit/>
          </a:bodyPr>
          <a:lstStyle/>
          <a:p>
            <a:pPr marL="0" lvl="0" indent="0" algn="ctr" rtl="0">
              <a:spcBef>
                <a:spcPts val="0"/>
              </a:spcBef>
              <a:spcAft>
                <a:spcPts val="0"/>
              </a:spcAft>
              <a:buNone/>
            </a:pPr>
            <a:endParaRPr sz="1745">
              <a:latin typeface="Nunito ExtraBold"/>
              <a:ea typeface="Nunito ExtraBold"/>
              <a:cs typeface="Nunito ExtraBold"/>
              <a:sym typeface="Nunito ExtraBold"/>
            </a:endParaRPr>
          </a:p>
        </p:txBody>
      </p:sp>
      <p:sp>
        <p:nvSpPr>
          <p:cNvPr id="754" name="Google Shape;754;p61"/>
          <p:cNvSpPr/>
          <p:nvPr/>
        </p:nvSpPr>
        <p:spPr>
          <a:xfrm>
            <a:off x="6392093" y="3270337"/>
            <a:ext cx="622500" cy="413100"/>
          </a:xfrm>
          <a:prstGeom prst="roundRect">
            <a:avLst>
              <a:gd name="adj" fmla="val 16667"/>
            </a:avLst>
          </a:prstGeom>
          <a:solidFill>
            <a:srgbClr val="F66000"/>
          </a:solidFill>
          <a:ln w="11875" cap="flat" cmpd="sng">
            <a:solidFill>
              <a:srgbClr val="FFFFFF"/>
            </a:solidFill>
            <a:prstDash val="solid"/>
            <a:round/>
            <a:headEnd type="none" w="sm" len="sm"/>
            <a:tailEnd type="none" w="sm" len="sm"/>
          </a:ln>
          <a:effectLst>
            <a:outerShdw blurRad="231572" dist="23751" dir="5400000" algn="bl" rotWithShape="0">
              <a:srgbClr val="999999">
                <a:alpha val="50000"/>
              </a:srgbClr>
            </a:outerShdw>
          </a:effectLst>
        </p:spPr>
        <p:txBody>
          <a:bodyPr spcFirstLastPara="1" wrap="square" lIns="113975" tIns="113975" rIns="113975" bIns="113975" anchor="ctr" anchorCtr="0">
            <a:noAutofit/>
          </a:bodyPr>
          <a:lstStyle/>
          <a:p>
            <a:pPr marL="0" lvl="0" indent="0" algn="ctr" rtl="0">
              <a:spcBef>
                <a:spcPts val="0"/>
              </a:spcBef>
              <a:spcAft>
                <a:spcPts val="0"/>
              </a:spcAft>
              <a:buNone/>
            </a:pPr>
            <a:endParaRPr sz="1745">
              <a:latin typeface="Nunito ExtraBold"/>
              <a:ea typeface="Nunito ExtraBold"/>
              <a:cs typeface="Nunito ExtraBold"/>
              <a:sym typeface="Nunito ExtraBold"/>
            </a:endParaRPr>
          </a:p>
        </p:txBody>
      </p:sp>
      <p:sp>
        <p:nvSpPr>
          <p:cNvPr id="755" name="Google Shape;755;p61"/>
          <p:cNvSpPr/>
          <p:nvPr/>
        </p:nvSpPr>
        <p:spPr>
          <a:xfrm>
            <a:off x="6457241" y="3867925"/>
            <a:ext cx="1297200" cy="413100"/>
          </a:xfrm>
          <a:prstGeom prst="roundRect">
            <a:avLst>
              <a:gd name="adj" fmla="val 16667"/>
            </a:avLst>
          </a:prstGeom>
          <a:solidFill>
            <a:srgbClr val="FFFFFF"/>
          </a:solidFill>
          <a:ln w="11875" cap="flat" cmpd="sng">
            <a:solidFill>
              <a:srgbClr val="FFFFFF"/>
            </a:solidFill>
            <a:prstDash val="solid"/>
            <a:round/>
            <a:headEnd type="none" w="sm" len="sm"/>
            <a:tailEnd type="none" w="sm" len="sm"/>
          </a:ln>
          <a:effectLst>
            <a:outerShdw blurRad="231572" dist="23751" dir="5400000" algn="bl" rotWithShape="0">
              <a:srgbClr val="999999">
                <a:alpha val="50000"/>
              </a:srgbClr>
            </a:outerShdw>
          </a:effectLst>
        </p:spPr>
        <p:txBody>
          <a:bodyPr spcFirstLastPara="1" wrap="square" lIns="113975" tIns="113975" rIns="113975" bIns="113975" anchor="ctr" anchorCtr="0">
            <a:noAutofit/>
          </a:bodyPr>
          <a:lstStyle/>
          <a:p>
            <a:pPr marL="0" lvl="0" indent="0" algn="ctr" rtl="0">
              <a:spcBef>
                <a:spcPts val="0"/>
              </a:spcBef>
              <a:spcAft>
                <a:spcPts val="0"/>
              </a:spcAft>
              <a:buNone/>
            </a:pPr>
            <a:endParaRPr sz="1745">
              <a:latin typeface="Nunito ExtraBold"/>
              <a:ea typeface="Nunito ExtraBold"/>
              <a:cs typeface="Nunito ExtraBold"/>
              <a:sym typeface="Nunito ExtraBold"/>
            </a:endParaRPr>
          </a:p>
        </p:txBody>
      </p:sp>
      <p:sp>
        <p:nvSpPr>
          <p:cNvPr id="756" name="Google Shape;756;p61"/>
          <p:cNvSpPr/>
          <p:nvPr/>
        </p:nvSpPr>
        <p:spPr>
          <a:xfrm>
            <a:off x="6388440" y="3867937"/>
            <a:ext cx="622500" cy="413100"/>
          </a:xfrm>
          <a:prstGeom prst="roundRect">
            <a:avLst>
              <a:gd name="adj" fmla="val 16667"/>
            </a:avLst>
          </a:prstGeom>
          <a:solidFill>
            <a:srgbClr val="F66000"/>
          </a:solidFill>
          <a:ln w="11875" cap="flat" cmpd="sng">
            <a:solidFill>
              <a:srgbClr val="FFFFFF"/>
            </a:solidFill>
            <a:prstDash val="solid"/>
            <a:round/>
            <a:headEnd type="none" w="sm" len="sm"/>
            <a:tailEnd type="none" w="sm" len="sm"/>
          </a:ln>
          <a:effectLst>
            <a:outerShdw blurRad="231572" dist="23751" dir="5400000" algn="bl" rotWithShape="0">
              <a:srgbClr val="999999">
                <a:alpha val="50000"/>
              </a:srgbClr>
            </a:outerShdw>
          </a:effectLst>
        </p:spPr>
        <p:txBody>
          <a:bodyPr spcFirstLastPara="1" wrap="square" lIns="113975" tIns="113975" rIns="113975" bIns="113975" anchor="ctr" anchorCtr="0">
            <a:noAutofit/>
          </a:bodyPr>
          <a:lstStyle/>
          <a:p>
            <a:pPr marL="0" lvl="0" indent="0" algn="ctr" rtl="0">
              <a:spcBef>
                <a:spcPts val="0"/>
              </a:spcBef>
              <a:spcAft>
                <a:spcPts val="0"/>
              </a:spcAft>
              <a:buNone/>
            </a:pPr>
            <a:endParaRPr sz="1745">
              <a:latin typeface="Nunito ExtraBold"/>
              <a:ea typeface="Nunito ExtraBold"/>
              <a:cs typeface="Nunito ExtraBold"/>
              <a:sym typeface="Nunito ExtraBold"/>
            </a:endParaRPr>
          </a:p>
        </p:txBody>
      </p:sp>
      <p:sp>
        <p:nvSpPr>
          <p:cNvPr id="757" name="Google Shape;757;p61"/>
          <p:cNvSpPr/>
          <p:nvPr/>
        </p:nvSpPr>
        <p:spPr>
          <a:xfrm>
            <a:off x="6457241" y="4466475"/>
            <a:ext cx="1297200" cy="413100"/>
          </a:xfrm>
          <a:prstGeom prst="roundRect">
            <a:avLst>
              <a:gd name="adj" fmla="val 16667"/>
            </a:avLst>
          </a:prstGeom>
          <a:solidFill>
            <a:srgbClr val="FFFFFF"/>
          </a:solidFill>
          <a:ln w="11875" cap="flat" cmpd="sng">
            <a:solidFill>
              <a:srgbClr val="FFFFFF"/>
            </a:solidFill>
            <a:prstDash val="solid"/>
            <a:round/>
            <a:headEnd type="none" w="sm" len="sm"/>
            <a:tailEnd type="none" w="sm" len="sm"/>
          </a:ln>
          <a:effectLst>
            <a:outerShdw blurRad="231572" dist="23751" dir="5400000" algn="bl" rotWithShape="0">
              <a:srgbClr val="999999">
                <a:alpha val="50000"/>
              </a:srgbClr>
            </a:outerShdw>
          </a:effectLst>
        </p:spPr>
        <p:txBody>
          <a:bodyPr spcFirstLastPara="1" wrap="square" lIns="113975" tIns="113975" rIns="113975" bIns="113975" anchor="ctr" anchorCtr="0">
            <a:noAutofit/>
          </a:bodyPr>
          <a:lstStyle/>
          <a:p>
            <a:pPr marL="0" lvl="0" indent="0" algn="ctr" rtl="0">
              <a:spcBef>
                <a:spcPts val="0"/>
              </a:spcBef>
              <a:spcAft>
                <a:spcPts val="0"/>
              </a:spcAft>
              <a:buNone/>
            </a:pPr>
            <a:endParaRPr sz="1745">
              <a:latin typeface="Nunito ExtraBold"/>
              <a:ea typeface="Nunito ExtraBold"/>
              <a:cs typeface="Nunito ExtraBold"/>
              <a:sym typeface="Nunito ExtraBold"/>
            </a:endParaRPr>
          </a:p>
        </p:txBody>
      </p:sp>
      <p:sp>
        <p:nvSpPr>
          <p:cNvPr id="758" name="Google Shape;758;p61"/>
          <p:cNvSpPr/>
          <p:nvPr/>
        </p:nvSpPr>
        <p:spPr>
          <a:xfrm>
            <a:off x="6388440" y="4466487"/>
            <a:ext cx="622500" cy="413100"/>
          </a:xfrm>
          <a:prstGeom prst="roundRect">
            <a:avLst>
              <a:gd name="adj" fmla="val 16667"/>
            </a:avLst>
          </a:prstGeom>
          <a:solidFill>
            <a:srgbClr val="F66000"/>
          </a:solidFill>
          <a:ln w="11875" cap="flat" cmpd="sng">
            <a:solidFill>
              <a:srgbClr val="FFFFFF"/>
            </a:solidFill>
            <a:prstDash val="solid"/>
            <a:round/>
            <a:headEnd type="none" w="sm" len="sm"/>
            <a:tailEnd type="none" w="sm" len="sm"/>
          </a:ln>
          <a:effectLst>
            <a:outerShdw blurRad="231572" dist="23751" dir="5400000" algn="bl" rotWithShape="0">
              <a:srgbClr val="999999">
                <a:alpha val="50000"/>
              </a:srgbClr>
            </a:outerShdw>
          </a:effectLst>
        </p:spPr>
        <p:txBody>
          <a:bodyPr spcFirstLastPara="1" wrap="square" lIns="113975" tIns="113975" rIns="113975" bIns="113975" anchor="ctr" anchorCtr="0">
            <a:noAutofit/>
          </a:bodyPr>
          <a:lstStyle/>
          <a:p>
            <a:pPr marL="0" lvl="0" indent="0" algn="ctr" rtl="0">
              <a:spcBef>
                <a:spcPts val="0"/>
              </a:spcBef>
              <a:spcAft>
                <a:spcPts val="0"/>
              </a:spcAft>
              <a:buNone/>
            </a:pPr>
            <a:endParaRPr sz="1745">
              <a:latin typeface="Nunito ExtraBold"/>
              <a:ea typeface="Nunito ExtraBold"/>
              <a:cs typeface="Nunito ExtraBold"/>
              <a:sym typeface="Nunito ExtraBold"/>
            </a:endParaRPr>
          </a:p>
        </p:txBody>
      </p:sp>
      <p:sp>
        <p:nvSpPr>
          <p:cNvPr id="759" name="Google Shape;759;p61"/>
          <p:cNvSpPr txBox="1"/>
          <p:nvPr/>
        </p:nvSpPr>
        <p:spPr>
          <a:xfrm>
            <a:off x="6279737" y="3326464"/>
            <a:ext cx="847200" cy="299700"/>
          </a:xfrm>
          <a:prstGeom prst="rect">
            <a:avLst/>
          </a:prstGeom>
          <a:noFill/>
          <a:ln>
            <a:noFill/>
          </a:ln>
        </p:spPr>
        <p:txBody>
          <a:bodyPr spcFirstLastPara="1" wrap="square" lIns="113975" tIns="113975" rIns="113975" bIns="113975" anchor="ctr" anchorCtr="0">
            <a:noAutofit/>
          </a:bodyPr>
          <a:lstStyle/>
          <a:p>
            <a:pPr marL="0" lvl="0" indent="0" algn="ctr" rtl="0">
              <a:spcBef>
                <a:spcPts val="0"/>
              </a:spcBef>
              <a:spcAft>
                <a:spcPts val="0"/>
              </a:spcAft>
              <a:buNone/>
            </a:pPr>
            <a:r>
              <a:rPr lang="en" sz="800">
                <a:solidFill>
                  <a:srgbClr val="FFFFFF"/>
                </a:solidFill>
                <a:latin typeface="Nunito ExtraBold"/>
                <a:ea typeface="Nunito ExtraBold"/>
                <a:cs typeface="Nunito ExtraBold"/>
                <a:sym typeface="Nunito ExtraBold"/>
              </a:rPr>
              <a:t>Checkin</a:t>
            </a:r>
            <a:endParaRPr sz="800">
              <a:solidFill>
                <a:srgbClr val="FFFFFF"/>
              </a:solidFill>
              <a:latin typeface="Nunito ExtraBold"/>
              <a:ea typeface="Nunito ExtraBold"/>
              <a:cs typeface="Nunito ExtraBold"/>
              <a:sym typeface="Nunito ExtraBold"/>
            </a:endParaRPr>
          </a:p>
        </p:txBody>
      </p:sp>
      <p:sp>
        <p:nvSpPr>
          <p:cNvPr id="760" name="Google Shape;760;p61"/>
          <p:cNvSpPr txBox="1"/>
          <p:nvPr/>
        </p:nvSpPr>
        <p:spPr>
          <a:xfrm>
            <a:off x="6276084" y="3925089"/>
            <a:ext cx="847200" cy="299700"/>
          </a:xfrm>
          <a:prstGeom prst="rect">
            <a:avLst/>
          </a:prstGeom>
          <a:noFill/>
          <a:ln>
            <a:noFill/>
          </a:ln>
        </p:spPr>
        <p:txBody>
          <a:bodyPr spcFirstLastPara="1" wrap="square" lIns="113975" tIns="113975" rIns="113975" bIns="113975" anchor="ctr" anchorCtr="0">
            <a:noAutofit/>
          </a:bodyPr>
          <a:lstStyle/>
          <a:p>
            <a:pPr marL="0" lvl="0" indent="0" algn="ctr" rtl="0">
              <a:spcBef>
                <a:spcPts val="0"/>
              </a:spcBef>
              <a:spcAft>
                <a:spcPts val="0"/>
              </a:spcAft>
              <a:buNone/>
            </a:pPr>
            <a:r>
              <a:rPr lang="en" sz="800">
                <a:solidFill>
                  <a:srgbClr val="FFFFFF"/>
                </a:solidFill>
                <a:latin typeface="Nunito ExtraBold"/>
                <a:ea typeface="Nunito ExtraBold"/>
                <a:cs typeface="Nunito ExtraBold"/>
                <a:sym typeface="Nunito ExtraBold"/>
              </a:rPr>
              <a:t>Utlz</a:t>
            </a:r>
            <a:endParaRPr sz="800">
              <a:solidFill>
                <a:srgbClr val="FFFFFF"/>
              </a:solidFill>
              <a:latin typeface="Nunito ExtraBold"/>
              <a:ea typeface="Nunito ExtraBold"/>
              <a:cs typeface="Nunito ExtraBold"/>
              <a:sym typeface="Nunito ExtraBold"/>
            </a:endParaRPr>
          </a:p>
        </p:txBody>
      </p:sp>
      <p:sp>
        <p:nvSpPr>
          <p:cNvPr id="761" name="Google Shape;761;p61"/>
          <p:cNvSpPr txBox="1"/>
          <p:nvPr/>
        </p:nvSpPr>
        <p:spPr>
          <a:xfrm>
            <a:off x="6279734" y="4522310"/>
            <a:ext cx="847200" cy="299700"/>
          </a:xfrm>
          <a:prstGeom prst="rect">
            <a:avLst/>
          </a:prstGeom>
          <a:noFill/>
          <a:ln>
            <a:noFill/>
          </a:ln>
        </p:spPr>
        <p:txBody>
          <a:bodyPr spcFirstLastPara="1" wrap="square" lIns="113975" tIns="113975" rIns="113975" bIns="113975" anchor="ctr" anchorCtr="0">
            <a:noAutofit/>
          </a:bodyPr>
          <a:lstStyle/>
          <a:p>
            <a:pPr marL="0" lvl="0" indent="0" algn="ctr" rtl="0">
              <a:spcBef>
                <a:spcPts val="0"/>
              </a:spcBef>
              <a:spcAft>
                <a:spcPts val="0"/>
              </a:spcAft>
              <a:buNone/>
            </a:pPr>
            <a:r>
              <a:rPr lang="en" sz="800">
                <a:solidFill>
                  <a:srgbClr val="FFFFFF"/>
                </a:solidFill>
                <a:latin typeface="Nunito ExtraBold"/>
                <a:ea typeface="Nunito ExtraBold"/>
                <a:cs typeface="Nunito ExtraBold"/>
                <a:sym typeface="Nunito ExtraBold"/>
              </a:rPr>
              <a:t>Online</a:t>
            </a:r>
            <a:br>
              <a:rPr lang="en" sz="800">
                <a:solidFill>
                  <a:srgbClr val="FFFFFF"/>
                </a:solidFill>
                <a:latin typeface="Nunito ExtraBold"/>
                <a:ea typeface="Nunito ExtraBold"/>
                <a:cs typeface="Nunito ExtraBold"/>
                <a:sym typeface="Nunito ExtraBold"/>
              </a:rPr>
            </a:br>
            <a:r>
              <a:rPr lang="en" sz="800">
                <a:solidFill>
                  <a:srgbClr val="FFFFFF"/>
                </a:solidFill>
                <a:latin typeface="Nunito ExtraBold"/>
                <a:ea typeface="Nunito ExtraBold"/>
                <a:cs typeface="Nunito ExtraBold"/>
                <a:sym typeface="Nunito ExtraBold"/>
              </a:rPr>
              <a:t>rate</a:t>
            </a:r>
            <a:endParaRPr sz="800">
              <a:solidFill>
                <a:srgbClr val="FFFFFF"/>
              </a:solidFill>
              <a:latin typeface="Nunito ExtraBold"/>
              <a:ea typeface="Nunito ExtraBold"/>
              <a:cs typeface="Nunito ExtraBold"/>
              <a:sym typeface="Nunito ExtraBold"/>
            </a:endParaRPr>
          </a:p>
        </p:txBody>
      </p:sp>
      <p:sp>
        <p:nvSpPr>
          <p:cNvPr id="762" name="Google Shape;762;p61"/>
          <p:cNvSpPr txBox="1"/>
          <p:nvPr/>
        </p:nvSpPr>
        <p:spPr>
          <a:xfrm>
            <a:off x="6929517" y="3269375"/>
            <a:ext cx="897000" cy="413100"/>
          </a:xfrm>
          <a:prstGeom prst="rect">
            <a:avLst/>
          </a:prstGeom>
          <a:noFill/>
          <a:ln>
            <a:noFill/>
          </a:ln>
        </p:spPr>
        <p:txBody>
          <a:bodyPr spcFirstLastPara="1" wrap="square" lIns="113975" tIns="113975" rIns="113975" bIns="113975" anchor="ctr" anchorCtr="0">
            <a:noAutofit/>
          </a:bodyPr>
          <a:lstStyle/>
          <a:p>
            <a:pPr marL="0" lvl="0" indent="0" algn="ctr" rtl="0">
              <a:spcBef>
                <a:spcPts val="0"/>
              </a:spcBef>
              <a:spcAft>
                <a:spcPts val="0"/>
              </a:spcAft>
              <a:buNone/>
            </a:pPr>
            <a:r>
              <a:rPr lang="en" sz="1150">
                <a:solidFill>
                  <a:srgbClr val="1255CC"/>
                </a:solidFill>
                <a:latin typeface="Nunito ExtraBold"/>
                <a:ea typeface="Nunito ExtraBold"/>
                <a:cs typeface="Nunito ExtraBold"/>
                <a:sym typeface="Nunito ExtraBold"/>
              </a:rPr>
              <a:t>3,670 ca</a:t>
            </a:r>
            <a:endParaRPr sz="1150">
              <a:solidFill>
                <a:srgbClr val="1255CC"/>
              </a:solidFill>
              <a:latin typeface="Nunito ExtraBold"/>
              <a:ea typeface="Nunito ExtraBold"/>
              <a:cs typeface="Nunito ExtraBold"/>
              <a:sym typeface="Nunito ExtraBold"/>
            </a:endParaRPr>
          </a:p>
        </p:txBody>
      </p:sp>
      <p:sp>
        <p:nvSpPr>
          <p:cNvPr id="763" name="Google Shape;763;p61"/>
          <p:cNvSpPr txBox="1"/>
          <p:nvPr/>
        </p:nvSpPr>
        <p:spPr>
          <a:xfrm>
            <a:off x="6925866" y="3868402"/>
            <a:ext cx="871200" cy="413100"/>
          </a:xfrm>
          <a:prstGeom prst="rect">
            <a:avLst/>
          </a:prstGeom>
          <a:noFill/>
          <a:ln>
            <a:noFill/>
          </a:ln>
        </p:spPr>
        <p:txBody>
          <a:bodyPr spcFirstLastPara="1" wrap="square" lIns="113975" tIns="113975" rIns="113975" bIns="113975" anchor="ctr" anchorCtr="0">
            <a:noAutofit/>
          </a:bodyPr>
          <a:lstStyle/>
          <a:p>
            <a:pPr marL="0" lvl="0" indent="0" algn="ctr" rtl="0">
              <a:spcBef>
                <a:spcPts val="0"/>
              </a:spcBef>
              <a:spcAft>
                <a:spcPts val="0"/>
              </a:spcAft>
              <a:buNone/>
            </a:pPr>
            <a:r>
              <a:rPr lang="en" sz="1250">
                <a:solidFill>
                  <a:srgbClr val="1255CC"/>
                </a:solidFill>
                <a:latin typeface="Nunito ExtraBold"/>
                <a:ea typeface="Nunito ExtraBold"/>
                <a:cs typeface="Nunito ExtraBold"/>
                <a:sym typeface="Nunito ExtraBold"/>
              </a:rPr>
              <a:t>88.22%</a:t>
            </a:r>
            <a:endParaRPr sz="1250">
              <a:solidFill>
                <a:srgbClr val="1255CC"/>
              </a:solidFill>
              <a:latin typeface="Nunito ExtraBold"/>
              <a:ea typeface="Nunito ExtraBold"/>
              <a:cs typeface="Nunito ExtraBold"/>
              <a:sym typeface="Nunito ExtraBold"/>
            </a:endParaRPr>
          </a:p>
        </p:txBody>
      </p:sp>
      <p:sp>
        <p:nvSpPr>
          <p:cNvPr id="764" name="Google Shape;764;p61"/>
          <p:cNvSpPr txBox="1"/>
          <p:nvPr/>
        </p:nvSpPr>
        <p:spPr>
          <a:xfrm>
            <a:off x="6929516" y="4466477"/>
            <a:ext cx="871200" cy="413100"/>
          </a:xfrm>
          <a:prstGeom prst="rect">
            <a:avLst/>
          </a:prstGeom>
          <a:noFill/>
          <a:ln>
            <a:noFill/>
          </a:ln>
        </p:spPr>
        <p:txBody>
          <a:bodyPr spcFirstLastPara="1" wrap="square" lIns="113975" tIns="113975" rIns="113975" bIns="113975" anchor="ctr" anchorCtr="0">
            <a:noAutofit/>
          </a:bodyPr>
          <a:lstStyle/>
          <a:p>
            <a:pPr marL="0" lvl="0" indent="0" algn="ctr" rtl="0">
              <a:spcBef>
                <a:spcPts val="0"/>
              </a:spcBef>
              <a:spcAft>
                <a:spcPts val="0"/>
              </a:spcAft>
              <a:buNone/>
            </a:pPr>
            <a:r>
              <a:rPr lang="en" sz="1250">
                <a:solidFill>
                  <a:srgbClr val="1255CC"/>
                </a:solidFill>
                <a:latin typeface="Nunito ExtraBold"/>
                <a:ea typeface="Nunito ExtraBold"/>
                <a:cs typeface="Nunito ExtraBold"/>
                <a:sym typeface="Nunito ExtraBold"/>
              </a:rPr>
              <a:t>91.64%</a:t>
            </a:r>
            <a:endParaRPr sz="1250">
              <a:solidFill>
                <a:srgbClr val="1255CC"/>
              </a:solidFill>
              <a:latin typeface="Nunito ExtraBold"/>
              <a:ea typeface="Nunito ExtraBold"/>
              <a:cs typeface="Nunito ExtraBold"/>
              <a:sym typeface="Nunito ExtraBold"/>
            </a:endParaRPr>
          </a:p>
        </p:txBody>
      </p:sp>
      <p:sp>
        <p:nvSpPr>
          <p:cNvPr id="765" name="Google Shape;765;p61"/>
          <p:cNvSpPr txBox="1"/>
          <p:nvPr/>
        </p:nvSpPr>
        <p:spPr>
          <a:xfrm>
            <a:off x="7717492" y="3307355"/>
            <a:ext cx="1500600" cy="323100"/>
          </a:xfrm>
          <a:prstGeom prst="rect">
            <a:avLst/>
          </a:prstGeom>
          <a:noFill/>
          <a:ln>
            <a:noFill/>
          </a:ln>
        </p:spPr>
        <p:txBody>
          <a:bodyPr spcFirstLastPara="1" wrap="square" lIns="91425" tIns="91425" rIns="91425" bIns="91425" anchor="t" anchorCtr="0">
            <a:spAutoFit/>
          </a:bodyPr>
          <a:lstStyle/>
          <a:p>
            <a:pPr marL="0" lvl="0" indent="0" algn="l" rtl="0">
              <a:spcBef>
                <a:spcPts val="400"/>
              </a:spcBef>
              <a:spcAft>
                <a:spcPts val="0"/>
              </a:spcAft>
              <a:buNone/>
            </a:pPr>
            <a:r>
              <a:rPr lang="en" sz="900">
                <a:solidFill>
                  <a:srgbClr val="1E293B"/>
                </a:solidFill>
                <a:latin typeface="Lexend"/>
                <a:ea typeface="Lexend"/>
                <a:cs typeface="Lexend"/>
                <a:sym typeface="Lexend"/>
              </a:rPr>
              <a:t>WoW: + 5.58%</a:t>
            </a:r>
            <a:endParaRPr/>
          </a:p>
        </p:txBody>
      </p:sp>
      <p:sp>
        <p:nvSpPr>
          <p:cNvPr id="766" name="Google Shape;766;p61"/>
          <p:cNvSpPr txBox="1"/>
          <p:nvPr/>
        </p:nvSpPr>
        <p:spPr>
          <a:xfrm>
            <a:off x="7717492" y="3905980"/>
            <a:ext cx="1500600" cy="323100"/>
          </a:xfrm>
          <a:prstGeom prst="rect">
            <a:avLst/>
          </a:prstGeom>
          <a:noFill/>
          <a:ln>
            <a:noFill/>
          </a:ln>
        </p:spPr>
        <p:txBody>
          <a:bodyPr spcFirstLastPara="1" wrap="square" lIns="91425" tIns="91425" rIns="91425" bIns="91425" anchor="t" anchorCtr="0">
            <a:spAutoFit/>
          </a:bodyPr>
          <a:lstStyle/>
          <a:p>
            <a:pPr marL="0" lvl="0" indent="0" algn="l" rtl="0">
              <a:spcBef>
                <a:spcPts val="400"/>
              </a:spcBef>
              <a:spcAft>
                <a:spcPts val="0"/>
              </a:spcAft>
              <a:buNone/>
            </a:pPr>
            <a:r>
              <a:rPr lang="en" sz="900">
                <a:solidFill>
                  <a:srgbClr val="1E293B"/>
                </a:solidFill>
                <a:latin typeface="Lexend"/>
                <a:ea typeface="Lexend"/>
                <a:cs typeface="Lexend"/>
                <a:sym typeface="Lexend"/>
              </a:rPr>
              <a:t>WoW: + 0.99%</a:t>
            </a:r>
            <a:endParaRPr/>
          </a:p>
        </p:txBody>
      </p:sp>
      <p:sp>
        <p:nvSpPr>
          <p:cNvPr id="767" name="Google Shape;767;p61"/>
          <p:cNvSpPr txBox="1"/>
          <p:nvPr/>
        </p:nvSpPr>
        <p:spPr>
          <a:xfrm>
            <a:off x="7717492" y="4504310"/>
            <a:ext cx="1500600" cy="323100"/>
          </a:xfrm>
          <a:prstGeom prst="rect">
            <a:avLst/>
          </a:prstGeom>
          <a:noFill/>
          <a:ln>
            <a:noFill/>
          </a:ln>
        </p:spPr>
        <p:txBody>
          <a:bodyPr spcFirstLastPara="1" wrap="square" lIns="91425" tIns="91425" rIns="91425" bIns="91425" anchor="t" anchorCtr="0">
            <a:spAutoFit/>
          </a:bodyPr>
          <a:lstStyle/>
          <a:p>
            <a:pPr marL="0" lvl="0" indent="0" algn="l" rtl="0">
              <a:spcBef>
                <a:spcPts val="400"/>
              </a:spcBef>
              <a:spcAft>
                <a:spcPts val="0"/>
              </a:spcAft>
              <a:buNone/>
            </a:pPr>
            <a:r>
              <a:rPr lang="en" sz="900">
                <a:solidFill>
                  <a:srgbClr val="1E293B"/>
                </a:solidFill>
                <a:latin typeface="Lexend"/>
                <a:ea typeface="Lexend"/>
                <a:cs typeface="Lexend"/>
                <a:sym typeface="Lexend"/>
              </a:rPr>
              <a:t>WoW: + 1.48%</a:t>
            </a:r>
            <a:endParaRPr/>
          </a:p>
        </p:txBody>
      </p:sp>
      <p:cxnSp>
        <p:nvCxnSpPr>
          <p:cNvPr id="768" name="Google Shape;768;p61"/>
          <p:cNvCxnSpPr/>
          <p:nvPr/>
        </p:nvCxnSpPr>
        <p:spPr>
          <a:xfrm rot="10800000" flipH="1">
            <a:off x="380992" y="3037500"/>
            <a:ext cx="8307900" cy="10500"/>
          </a:xfrm>
          <a:prstGeom prst="straightConnector1">
            <a:avLst/>
          </a:prstGeom>
          <a:noFill/>
          <a:ln w="9525" cap="flat" cmpd="sng">
            <a:solidFill>
              <a:srgbClr val="0E4174"/>
            </a:solidFill>
            <a:prstDash val="dash"/>
            <a:round/>
            <a:headEnd type="none" w="med" len="med"/>
            <a:tailEnd type="none" w="med" len="med"/>
          </a:ln>
        </p:spPr>
      </p:cxnSp>
      <p:sp>
        <p:nvSpPr>
          <p:cNvPr id="769" name="Google Shape;769;p61"/>
          <p:cNvSpPr/>
          <p:nvPr/>
        </p:nvSpPr>
        <p:spPr>
          <a:xfrm>
            <a:off x="365583" y="984250"/>
            <a:ext cx="548700" cy="1991400"/>
          </a:xfrm>
          <a:prstGeom prst="rect">
            <a:avLst/>
          </a:prstGeom>
          <a:solidFill>
            <a:srgbClr val="0B467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latin typeface="Lexend"/>
                <a:ea typeface="Lexend"/>
                <a:cs typeface="Lexend"/>
                <a:sym typeface="Lexend"/>
              </a:rPr>
              <a:t>HAN</a:t>
            </a:r>
            <a:endParaRPr sz="1200" b="1">
              <a:solidFill>
                <a:schemeClr val="lt1"/>
              </a:solidFill>
              <a:latin typeface="Lexend"/>
              <a:ea typeface="Lexend"/>
              <a:cs typeface="Lexend"/>
              <a:sym typeface="Lexend"/>
            </a:endParaRPr>
          </a:p>
        </p:txBody>
      </p:sp>
      <p:sp>
        <p:nvSpPr>
          <p:cNvPr id="770" name="Google Shape;770;p61"/>
          <p:cNvSpPr/>
          <p:nvPr/>
        </p:nvSpPr>
        <p:spPr>
          <a:xfrm>
            <a:off x="369508" y="3091225"/>
            <a:ext cx="548700" cy="2004600"/>
          </a:xfrm>
          <a:prstGeom prst="rect">
            <a:avLst/>
          </a:prstGeom>
          <a:solidFill>
            <a:srgbClr val="0B467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latin typeface="Lexend"/>
                <a:ea typeface="Lexend"/>
                <a:cs typeface="Lexend"/>
                <a:sym typeface="Lexend"/>
              </a:rPr>
              <a:t>SGN</a:t>
            </a:r>
            <a:endParaRPr sz="1200" b="1">
              <a:solidFill>
                <a:schemeClr val="lt1"/>
              </a:solidFill>
              <a:latin typeface="Lexend"/>
              <a:ea typeface="Lexend"/>
              <a:cs typeface="Lexend"/>
              <a:sym typeface="Lexend"/>
            </a:endParaRPr>
          </a:p>
        </p:txBody>
      </p:sp>
      <p:graphicFrame>
        <p:nvGraphicFramePr>
          <p:cNvPr id="771" name="Google Shape;771;p61"/>
          <p:cNvGraphicFramePr/>
          <p:nvPr/>
        </p:nvGraphicFramePr>
        <p:xfrm>
          <a:off x="1017988" y="1186660"/>
          <a:ext cx="3000000" cy="3000000"/>
        </p:xfrm>
        <a:graphic>
          <a:graphicData uri="http://schemas.openxmlformats.org/drawingml/2006/table">
            <a:tbl>
              <a:tblPr>
                <a:noFill/>
                <a:tableStyleId>{98498B5D-82F5-4DDD-BB04-C168985C330A}</a:tableStyleId>
              </a:tblPr>
              <a:tblGrid>
                <a:gridCol w="797275">
                  <a:extLst>
                    <a:ext uri="{9D8B030D-6E8A-4147-A177-3AD203B41FA5}">
                      <a16:colId xmlns:a16="http://schemas.microsoft.com/office/drawing/2014/main" val="20000"/>
                    </a:ext>
                  </a:extLst>
                </a:gridCol>
                <a:gridCol w="442050">
                  <a:extLst>
                    <a:ext uri="{9D8B030D-6E8A-4147-A177-3AD203B41FA5}">
                      <a16:colId xmlns:a16="http://schemas.microsoft.com/office/drawing/2014/main" val="20001"/>
                    </a:ext>
                  </a:extLst>
                </a:gridCol>
                <a:gridCol w="442050">
                  <a:extLst>
                    <a:ext uri="{9D8B030D-6E8A-4147-A177-3AD203B41FA5}">
                      <a16:colId xmlns:a16="http://schemas.microsoft.com/office/drawing/2014/main" val="20002"/>
                    </a:ext>
                  </a:extLst>
                </a:gridCol>
                <a:gridCol w="442050">
                  <a:extLst>
                    <a:ext uri="{9D8B030D-6E8A-4147-A177-3AD203B41FA5}">
                      <a16:colId xmlns:a16="http://schemas.microsoft.com/office/drawing/2014/main" val="20003"/>
                    </a:ext>
                  </a:extLst>
                </a:gridCol>
                <a:gridCol w="442050">
                  <a:extLst>
                    <a:ext uri="{9D8B030D-6E8A-4147-A177-3AD203B41FA5}">
                      <a16:colId xmlns:a16="http://schemas.microsoft.com/office/drawing/2014/main" val="20004"/>
                    </a:ext>
                  </a:extLst>
                </a:gridCol>
                <a:gridCol w="442050">
                  <a:extLst>
                    <a:ext uri="{9D8B030D-6E8A-4147-A177-3AD203B41FA5}">
                      <a16:colId xmlns:a16="http://schemas.microsoft.com/office/drawing/2014/main" val="20005"/>
                    </a:ext>
                  </a:extLst>
                </a:gridCol>
                <a:gridCol w="442050">
                  <a:extLst>
                    <a:ext uri="{9D8B030D-6E8A-4147-A177-3AD203B41FA5}">
                      <a16:colId xmlns:a16="http://schemas.microsoft.com/office/drawing/2014/main" val="20006"/>
                    </a:ext>
                  </a:extLst>
                </a:gridCol>
                <a:gridCol w="418125">
                  <a:extLst>
                    <a:ext uri="{9D8B030D-6E8A-4147-A177-3AD203B41FA5}">
                      <a16:colId xmlns:a16="http://schemas.microsoft.com/office/drawing/2014/main" val="20007"/>
                    </a:ext>
                  </a:extLst>
                </a:gridCol>
                <a:gridCol w="500950">
                  <a:extLst>
                    <a:ext uri="{9D8B030D-6E8A-4147-A177-3AD203B41FA5}">
                      <a16:colId xmlns:a16="http://schemas.microsoft.com/office/drawing/2014/main" val="20008"/>
                    </a:ext>
                  </a:extLst>
                </a:gridCol>
                <a:gridCol w="407075">
                  <a:extLst>
                    <a:ext uri="{9D8B030D-6E8A-4147-A177-3AD203B41FA5}">
                      <a16:colId xmlns:a16="http://schemas.microsoft.com/office/drawing/2014/main" val="20009"/>
                    </a:ext>
                  </a:extLst>
                </a:gridCol>
                <a:gridCol w="442050">
                  <a:extLst>
                    <a:ext uri="{9D8B030D-6E8A-4147-A177-3AD203B41FA5}">
                      <a16:colId xmlns:a16="http://schemas.microsoft.com/office/drawing/2014/main" val="20010"/>
                    </a:ext>
                  </a:extLst>
                </a:gridCol>
              </a:tblGrid>
              <a:tr h="288600">
                <a:tc>
                  <a:txBody>
                    <a:bodyPr/>
                    <a:lstStyle/>
                    <a:p>
                      <a:pPr marL="0" lvl="0" indent="0" algn="ctr" rtl="0">
                        <a:lnSpc>
                          <a:spcPct val="115000"/>
                        </a:lnSpc>
                        <a:spcBef>
                          <a:spcPts val="0"/>
                        </a:spcBef>
                        <a:spcAft>
                          <a:spcPts val="0"/>
                        </a:spcAft>
                        <a:buNone/>
                      </a:pPr>
                      <a:r>
                        <a:rPr lang="en" sz="700" b="1">
                          <a:solidFill>
                            <a:srgbClr val="FFFFFF"/>
                          </a:solidFill>
                          <a:latin typeface="Lexend"/>
                          <a:ea typeface="Lexend"/>
                          <a:cs typeface="Lexend"/>
                          <a:sym typeface="Lexend"/>
                        </a:rPr>
                        <a:t>Metrics</a:t>
                      </a:r>
                      <a:endParaRPr sz="700" b="1">
                        <a:solidFill>
                          <a:srgbClr val="FFFFFF"/>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B467F"/>
                    </a:solidFill>
                  </a:tcPr>
                </a:tc>
                <a:tc>
                  <a:txBody>
                    <a:bodyPr/>
                    <a:lstStyle/>
                    <a:p>
                      <a:pPr marL="0" lvl="0" indent="0" algn="ctr" rtl="0">
                        <a:lnSpc>
                          <a:spcPct val="115000"/>
                        </a:lnSpc>
                        <a:spcBef>
                          <a:spcPts val="0"/>
                        </a:spcBef>
                        <a:spcAft>
                          <a:spcPts val="0"/>
                        </a:spcAft>
                        <a:buNone/>
                      </a:pPr>
                      <a:r>
                        <a:rPr lang="en" sz="700" b="1">
                          <a:solidFill>
                            <a:srgbClr val="FFFFFF"/>
                          </a:solidFill>
                          <a:latin typeface="Lexend"/>
                          <a:ea typeface="Lexend"/>
                          <a:cs typeface="Lexend"/>
                          <a:sym typeface="Lexend"/>
                        </a:rPr>
                        <a:t>DD</a:t>
                      </a:r>
                      <a:endParaRPr sz="700" b="1">
                        <a:solidFill>
                          <a:srgbClr val="FFFFFF"/>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B467F"/>
                    </a:solidFill>
                  </a:tcPr>
                </a:tc>
                <a:tc>
                  <a:txBody>
                    <a:bodyPr/>
                    <a:lstStyle/>
                    <a:p>
                      <a:pPr marL="0" lvl="0" indent="0" algn="ctr" rtl="0">
                        <a:lnSpc>
                          <a:spcPct val="115000"/>
                        </a:lnSpc>
                        <a:spcBef>
                          <a:spcPts val="0"/>
                        </a:spcBef>
                        <a:spcAft>
                          <a:spcPts val="0"/>
                        </a:spcAft>
                        <a:buNone/>
                      </a:pPr>
                      <a:r>
                        <a:rPr lang="en" sz="700" b="1">
                          <a:solidFill>
                            <a:srgbClr val="FFFFFF"/>
                          </a:solidFill>
                          <a:latin typeface="Lexend"/>
                          <a:ea typeface="Lexend"/>
                          <a:cs typeface="Lexend"/>
                          <a:sym typeface="Lexend"/>
                        </a:rPr>
                        <a:t>HK</a:t>
                      </a:r>
                      <a:endParaRPr sz="700" b="1">
                        <a:solidFill>
                          <a:srgbClr val="FFFFFF"/>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B467F"/>
                    </a:solidFill>
                  </a:tcPr>
                </a:tc>
                <a:tc>
                  <a:txBody>
                    <a:bodyPr/>
                    <a:lstStyle/>
                    <a:p>
                      <a:pPr marL="0" lvl="0" indent="0" algn="ctr" rtl="0">
                        <a:lnSpc>
                          <a:spcPct val="115000"/>
                        </a:lnSpc>
                        <a:spcBef>
                          <a:spcPts val="0"/>
                        </a:spcBef>
                        <a:spcAft>
                          <a:spcPts val="0"/>
                        </a:spcAft>
                        <a:buNone/>
                      </a:pPr>
                      <a:r>
                        <a:rPr lang="en" sz="700" b="1">
                          <a:solidFill>
                            <a:srgbClr val="FFFFFF"/>
                          </a:solidFill>
                          <a:latin typeface="Lexend"/>
                          <a:ea typeface="Lexend"/>
                          <a:cs typeface="Lexend"/>
                          <a:sym typeface="Lexend"/>
                        </a:rPr>
                        <a:t>HBT</a:t>
                      </a:r>
                      <a:endParaRPr sz="700" b="1">
                        <a:solidFill>
                          <a:srgbClr val="FFFFFF"/>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B467F"/>
                    </a:solidFill>
                  </a:tcPr>
                </a:tc>
                <a:tc>
                  <a:txBody>
                    <a:bodyPr/>
                    <a:lstStyle/>
                    <a:p>
                      <a:pPr marL="0" lvl="0" indent="0" algn="ctr" rtl="0">
                        <a:lnSpc>
                          <a:spcPct val="115000"/>
                        </a:lnSpc>
                        <a:spcBef>
                          <a:spcPts val="0"/>
                        </a:spcBef>
                        <a:spcAft>
                          <a:spcPts val="0"/>
                        </a:spcAft>
                        <a:buNone/>
                      </a:pPr>
                      <a:r>
                        <a:rPr lang="en" sz="700" b="1">
                          <a:solidFill>
                            <a:srgbClr val="FFFFFF"/>
                          </a:solidFill>
                          <a:latin typeface="Lexend"/>
                          <a:ea typeface="Lexend"/>
                          <a:cs typeface="Lexend"/>
                          <a:sym typeface="Lexend"/>
                        </a:rPr>
                        <a:t>CG</a:t>
                      </a:r>
                      <a:endParaRPr sz="700" b="1">
                        <a:solidFill>
                          <a:srgbClr val="FFFFFF"/>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B467F"/>
                    </a:solidFill>
                  </a:tcPr>
                </a:tc>
                <a:tc>
                  <a:txBody>
                    <a:bodyPr/>
                    <a:lstStyle/>
                    <a:p>
                      <a:pPr marL="0" lvl="0" indent="0" algn="ctr" rtl="0">
                        <a:lnSpc>
                          <a:spcPct val="115000"/>
                        </a:lnSpc>
                        <a:spcBef>
                          <a:spcPts val="0"/>
                        </a:spcBef>
                        <a:spcAft>
                          <a:spcPts val="0"/>
                        </a:spcAft>
                        <a:buNone/>
                      </a:pPr>
                      <a:r>
                        <a:rPr lang="en" sz="700" b="1">
                          <a:solidFill>
                            <a:srgbClr val="FFFFFF"/>
                          </a:solidFill>
                          <a:latin typeface="Lexend"/>
                          <a:ea typeface="Lexend"/>
                          <a:cs typeface="Lexend"/>
                          <a:sym typeface="Lexend"/>
                        </a:rPr>
                        <a:t>BD</a:t>
                      </a:r>
                      <a:endParaRPr sz="700" b="1">
                        <a:solidFill>
                          <a:srgbClr val="FFFFFF"/>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B467F"/>
                    </a:solidFill>
                  </a:tcPr>
                </a:tc>
                <a:tc>
                  <a:txBody>
                    <a:bodyPr/>
                    <a:lstStyle/>
                    <a:p>
                      <a:pPr marL="0" lvl="0" indent="0" algn="ctr" rtl="0">
                        <a:lnSpc>
                          <a:spcPct val="115000"/>
                        </a:lnSpc>
                        <a:spcBef>
                          <a:spcPts val="0"/>
                        </a:spcBef>
                        <a:spcAft>
                          <a:spcPts val="0"/>
                        </a:spcAft>
                        <a:buNone/>
                      </a:pPr>
                      <a:r>
                        <a:rPr lang="en" sz="700" b="1">
                          <a:solidFill>
                            <a:srgbClr val="FFFFFF"/>
                          </a:solidFill>
                          <a:latin typeface="Lexend"/>
                          <a:ea typeface="Lexend"/>
                          <a:cs typeface="Lexend"/>
                          <a:sym typeface="Lexend"/>
                        </a:rPr>
                        <a:t>TX</a:t>
                      </a:r>
                      <a:endParaRPr sz="700" b="1">
                        <a:solidFill>
                          <a:srgbClr val="FFFFFF"/>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B467F"/>
                    </a:solidFill>
                  </a:tcPr>
                </a:tc>
                <a:tc>
                  <a:txBody>
                    <a:bodyPr/>
                    <a:lstStyle/>
                    <a:p>
                      <a:pPr marL="0" lvl="0" indent="0" algn="ctr" rtl="0">
                        <a:lnSpc>
                          <a:spcPct val="115000"/>
                        </a:lnSpc>
                        <a:spcBef>
                          <a:spcPts val="0"/>
                        </a:spcBef>
                        <a:spcAft>
                          <a:spcPts val="0"/>
                        </a:spcAft>
                        <a:buNone/>
                      </a:pPr>
                      <a:r>
                        <a:rPr lang="en" sz="700" b="1">
                          <a:solidFill>
                            <a:srgbClr val="FFFFFF"/>
                          </a:solidFill>
                          <a:latin typeface="Lexend"/>
                          <a:ea typeface="Lexend"/>
                          <a:cs typeface="Lexend"/>
                          <a:sym typeface="Lexend"/>
                        </a:rPr>
                        <a:t>136</a:t>
                      </a:r>
                      <a:endParaRPr sz="700" b="1">
                        <a:solidFill>
                          <a:srgbClr val="FFFFFF"/>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B467F"/>
                    </a:solidFill>
                  </a:tcPr>
                </a:tc>
                <a:tc>
                  <a:txBody>
                    <a:bodyPr/>
                    <a:lstStyle/>
                    <a:p>
                      <a:pPr marL="0" lvl="0" indent="0" algn="ctr" rtl="0">
                        <a:lnSpc>
                          <a:spcPct val="115000"/>
                        </a:lnSpc>
                        <a:spcBef>
                          <a:spcPts val="0"/>
                        </a:spcBef>
                        <a:spcAft>
                          <a:spcPts val="0"/>
                        </a:spcAft>
                        <a:buNone/>
                      </a:pPr>
                      <a:r>
                        <a:rPr lang="en" sz="700" b="1">
                          <a:solidFill>
                            <a:srgbClr val="FFFFFF"/>
                          </a:solidFill>
                          <a:latin typeface="Lexend"/>
                          <a:ea typeface="Lexend"/>
                          <a:cs typeface="Lexend"/>
                          <a:sym typeface="Lexend"/>
                        </a:rPr>
                        <a:t>BIGZONE</a:t>
                      </a:r>
                      <a:endParaRPr sz="700" b="1">
                        <a:solidFill>
                          <a:srgbClr val="FFFFFF"/>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B467F"/>
                    </a:solidFill>
                  </a:tcPr>
                </a:tc>
                <a:tc>
                  <a:txBody>
                    <a:bodyPr/>
                    <a:lstStyle/>
                    <a:p>
                      <a:pPr marL="0" lvl="0" indent="0" algn="ctr" rtl="0">
                        <a:lnSpc>
                          <a:spcPct val="115000"/>
                        </a:lnSpc>
                        <a:spcBef>
                          <a:spcPts val="0"/>
                        </a:spcBef>
                        <a:spcAft>
                          <a:spcPts val="0"/>
                        </a:spcAft>
                        <a:buNone/>
                      </a:pPr>
                      <a:r>
                        <a:rPr lang="en" sz="700" b="1">
                          <a:solidFill>
                            <a:srgbClr val="FFFFFF"/>
                          </a:solidFill>
                          <a:latin typeface="Lexend"/>
                          <a:ea typeface="Lexend"/>
                          <a:cs typeface="Lexend"/>
                          <a:sym typeface="Lexend"/>
                        </a:rPr>
                        <a:t>Z24</a:t>
                      </a:r>
                      <a:endParaRPr sz="700" b="1">
                        <a:solidFill>
                          <a:srgbClr val="FFFFFF"/>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B467F"/>
                    </a:solidFill>
                  </a:tcPr>
                </a:tc>
                <a:tc>
                  <a:txBody>
                    <a:bodyPr/>
                    <a:lstStyle/>
                    <a:p>
                      <a:pPr marL="0" lvl="0" indent="0" algn="ctr" rtl="0">
                        <a:lnSpc>
                          <a:spcPct val="115000"/>
                        </a:lnSpc>
                        <a:spcBef>
                          <a:spcPts val="0"/>
                        </a:spcBef>
                        <a:spcAft>
                          <a:spcPts val="0"/>
                        </a:spcAft>
                        <a:buNone/>
                      </a:pPr>
                      <a:r>
                        <a:rPr lang="en" sz="700" b="1">
                          <a:solidFill>
                            <a:srgbClr val="FFFFFF"/>
                          </a:solidFill>
                          <a:latin typeface="Lexend"/>
                          <a:ea typeface="Lexend"/>
                          <a:cs typeface="Lexend"/>
                          <a:sym typeface="Lexend"/>
                        </a:rPr>
                        <a:t>Z578</a:t>
                      </a:r>
                      <a:endParaRPr sz="700" b="1">
                        <a:solidFill>
                          <a:srgbClr val="FFFFFF"/>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B467F"/>
                    </a:solidFill>
                  </a:tcPr>
                </a:tc>
                <a:extLst>
                  <a:ext uri="{0D108BD9-81ED-4DB2-BD59-A6C34878D82A}">
                    <a16:rowId xmlns:a16="http://schemas.microsoft.com/office/drawing/2014/main" val="10000"/>
                  </a:ext>
                </a:extLst>
              </a:tr>
              <a:tr h="178250">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Active</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CFE2F3"/>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12</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20</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42</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60</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30</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14</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extLst>
                  <a:ext uri="{0D108BD9-81ED-4DB2-BD59-A6C34878D82A}">
                    <a16:rowId xmlns:a16="http://schemas.microsoft.com/office/drawing/2014/main" val="10001"/>
                  </a:ext>
                </a:extLst>
              </a:tr>
              <a:tr h="285225">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Online rate</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CFE2F3"/>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90.34%</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96.35%</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94.06%</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91.50%</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85.59%</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90.77%</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85.74%</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86.28%</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74.27%</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extLst>
                  <a:ext uri="{0D108BD9-81ED-4DB2-BD59-A6C34878D82A}">
                    <a16:rowId xmlns:a16="http://schemas.microsoft.com/office/drawing/2014/main" val="10002"/>
                  </a:ext>
                </a:extLst>
              </a:tr>
              <a:tr h="285225">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Utilization</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CFE2F3"/>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94.66%</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87.94%</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85.31%</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95.78%</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94.39%</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96.22%</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94.06%</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97.36%</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95.92%</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extLst>
                  <a:ext uri="{0D108BD9-81ED-4DB2-BD59-A6C34878D82A}">
                    <a16:rowId xmlns:a16="http://schemas.microsoft.com/office/drawing/2014/main" val="10003"/>
                  </a:ext>
                </a:extLst>
              </a:tr>
              <a:tr h="288600">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Prod per hour</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CFE2F3"/>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4.06</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3.99</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3.54</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4.05</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3.80</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3.83</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2.76</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3.17</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2.84</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extLst>
                  <a:ext uri="{0D108BD9-81ED-4DB2-BD59-A6C34878D82A}">
                    <a16:rowId xmlns:a16="http://schemas.microsoft.com/office/drawing/2014/main" val="10004"/>
                  </a:ext>
                </a:extLst>
              </a:tr>
              <a:tr h="288600">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Earning per hour</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CFE2F3"/>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64.0K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64.7K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59.3K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76.8K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84.1K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73.4K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76.7K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73.7K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67.1K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extLst>
                  <a:ext uri="{0D108BD9-81ED-4DB2-BD59-A6C34878D82A}">
                    <a16:rowId xmlns:a16="http://schemas.microsoft.com/office/drawing/2014/main" val="10005"/>
                  </a:ext>
                </a:extLst>
              </a:tr>
            </a:tbl>
          </a:graphicData>
        </a:graphic>
      </p:graphicFrame>
      <p:graphicFrame>
        <p:nvGraphicFramePr>
          <p:cNvPr id="772" name="Google Shape;772;p61"/>
          <p:cNvGraphicFramePr/>
          <p:nvPr/>
        </p:nvGraphicFramePr>
        <p:xfrm>
          <a:off x="1018000" y="3270275"/>
          <a:ext cx="3000000" cy="3000000"/>
        </p:xfrm>
        <a:graphic>
          <a:graphicData uri="http://schemas.openxmlformats.org/drawingml/2006/table">
            <a:tbl>
              <a:tblPr>
                <a:noFill/>
                <a:tableStyleId>{98498B5D-82F5-4DDD-BB04-C168985C330A}</a:tableStyleId>
              </a:tblPr>
              <a:tblGrid>
                <a:gridCol w="1014750">
                  <a:extLst>
                    <a:ext uri="{9D8B030D-6E8A-4147-A177-3AD203B41FA5}">
                      <a16:colId xmlns:a16="http://schemas.microsoft.com/office/drawing/2014/main" val="20000"/>
                    </a:ext>
                  </a:extLst>
                </a:gridCol>
                <a:gridCol w="600450">
                  <a:extLst>
                    <a:ext uri="{9D8B030D-6E8A-4147-A177-3AD203B41FA5}">
                      <a16:colId xmlns:a16="http://schemas.microsoft.com/office/drawing/2014/main" val="20001"/>
                    </a:ext>
                  </a:extLst>
                </a:gridCol>
                <a:gridCol w="600450">
                  <a:extLst>
                    <a:ext uri="{9D8B030D-6E8A-4147-A177-3AD203B41FA5}">
                      <a16:colId xmlns:a16="http://schemas.microsoft.com/office/drawing/2014/main" val="20002"/>
                    </a:ext>
                  </a:extLst>
                </a:gridCol>
                <a:gridCol w="600450">
                  <a:extLst>
                    <a:ext uri="{9D8B030D-6E8A-4147-A177-3AD203B41FA5}">
                      <a16:colId xmlns:a16="http://schemas.microsoft.com/office/drawing/2014/main" val="20003"/>
                    </a:ext>
                  </a:extLst>
                </a:gridCol>
                <a:gridCol w="600450">
                  <a:extLst>
                    <a:ext uri="{9D8B030D-6E8A-4147-A177-3AD203B41FA5}">
                      <a16:colId xmlns:a16="http://schemas.microsoft.com/office/drawing/2014/main" val="20004"/>
                    </a:ext>
                  </a:extLst>
                </a:gridCol>
                <a:gridCol w="600450">
                  <a:extLst>
                    <a:ext uri="{9D8B030D-6E8A-4147-A177-3AD203B41FA5}">
                      <a16:colId xmlns:a16="http://schemas.microsoft.com/office/drawing/2014/main" val="20005"/>
                    </a:ext>
                  </a:extLst>
                </a:gridCol>
                <a:gridCol w="600450">
                  <a:extLst>
                    <a:ext uri="{9D8B030D-6E8A-4147-A177-3AD203B41FA5}">
                      <a16:colId xmlns:a16="http://schemas.microsoft.com/office/drawing/2014/main" val="20006"/>
                    </a:ext>
                  </a:extLst>
                </a:gridCol>
                <a:gridCol w="600450">
                  <a:extLst>
                    <a:ext uri="{9D8B030D-6E8A-4147-A177-3AD203B41FA5}">
                      <a16:colId xmlns:a16="http://schemas.microsoft.com/office/drawing/2014/main" val="20007"/>
                    </a:ext>
                  </a:extLst>
                </a:gridCol>
              </a:tblGrid>
              <a:tr h="269075">
                <a:tc>
                  <a:txBody>
                    <a:bodyPr/>
                    <a:lstStyle/>
                    <a:p>
                      <a:pPr marL="0" lvl="0" indent="0" algn="ctr" rtl="0">
                        <a:lnSpc>
                          <a:spcPct val="115000"/>
                        </a:lnSpc>
                        <a:spcBef>
                          <a:spcPts val="0"/>
                        </a:spcBef>
                        <a:spcAft>
                          <a:spcPts val="0"/>
                        </a:spcAft>
                        <a:buNone/>
                      </a:pPr>
                      <a:r>
                        <a:rPr lang="en" sz="800" b="1">
                          <a:solidFill>
                            <a:srgbClr val="FFFFFF"/>
                          </a:solidFill>
                          <a:latin typeface="Lexend"/>
                          <a:ea typeface="Lexend"/>
                          <a:cs typeface="Lexend"/>
                          <a:sym typeface="Lexend"/>
                        </a:rPr>
                        <a:t>Metrics</a:t>
                      </a:r>
                      <a:endParaRPr sz="800" b="1">
                        <a:solidFill>
                          <a:srgbClr val="FFFFFF"/>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C4587"/>
                    </a:solidFill>
                  </a:tcPr>
                </a:tc>
                <a:tc>
                  <a:txBody>
                    <a:bodyPr/>
                    <a:lstStyle/>
                    <a:p>
                      <a:pPr marL="0" lvl="0" indent="0" algn="ctr" rtl="0">
                        <a:lnSpc>
                          <a:spcPct val="115000"/>
                        </a:lnSpc>
                        <a:spcBef>
                          <a:spcPts val="0"/>
                        </a:spcBef>
                        <a:spcAft>
                          <a:spcPts val="0"/>
                        </a:spcAft>
                        <a:buNone/>
                      </a:pPr>
                      <a:r>
                        <a:rPr lang="en" sz="800" b="1">
                          <a:solidFill>
                            <a:srgbClr val="FFFFFF"/>
                          </a:solidFill>
                          <a:latin typeface="Lexend"/>
                          <a:ea typeface="Lexend"/>
                          <a:cs typeface="Lexend"/>
                          <a:sym typeface="Lexend"/>
                        </a:rPr>
                        <a:t>ZONE 1</a:t>
                      </a:r>
                      <a:endParaRPr sz="800" b="1">
                        <a:solidFill>
                          <a:srgbClr val="FFFFFF"/>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C4587"/>
                    </a:solidFill>
                  </a:tcPr>
                </a:tc>
                <a:tc>
                  <a:txBody>
                    <a:bodyPr/>
                    <a:lstStyle/>
                    <a:p>
                      <a:pPr marL="0" lvl="0" indent="0" algn="ctr" rtl="0">
                        <a:lnSpc>
                          <a:spcPct val="115000"/>
                        </a:lnSpc>
                        <a:spcBef>
                          <a:spcPts val="0"/>
                        </a:spcBef>
                        <a:spcAft>
                          <a:spcPts val="0"/>
                        </a:spcAft>
                        <a:buNone/>
                      </a:pPr>
                      <a:r>
                        <a:rPr lang="en" sz="800" b="1">
                          <a:solidFill>
                            <a:srgbClr val="FFFFFF"/>
                          </a:solidFill>
                          <a:latin typeface="Lexend"/>
                          <a:ea typeface="Lexend"/>
                          <a:cs typeface="Lexend"/>
                          <a:sym typeface="Lexend"/>
                        </a:rPr>
                        <a:t>ZONE 2</a:t>
                      </a:r>
                      <a:endParaRPr sz="800" b="1">
                        <a:solidFill>
                          <a:srgbClr val="FFFFFF"/>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C4587"/>
                    </a:solidFill>
                  </a:tcPr>
                </a:tc>
                <a:tc>
                  <a:txBody>
                    <a:bodyPr/>
                    <a:lstStyle/>
                    <a:p>
                      <a:pPr marL="0" lvl="0" indent="0" algn="ctr" rtl="0">
                        <a:lnSpc>
                          <a:spcPct val="115000"/>
                        </a:lnSpc>
                        <a:spcBef>
                          <a:spcPts val="0"/>
                        </a:spcBef>
                        <a:spcAft>
                          <a:spcPts val="0"/>
                        </a:spcAft>
                        <a:buNone/>
                      </a:pPr>
                      <a:r>
                        <a:rPr lang="en" sz="800" b="1">
                          <a:solidFill>
                            <a:srgbClr val="FFFFFF"/>
                          </a:solidFill>
                          <a:latin typeface="Lexend"/>
                          <a:ea typeface="Lexend"/>
                          <a:cs typeface="Lexend"/>
                          <a:sym typeface="Lexend"/>
                        </a:rPr>
                        <a:t>ZONE 3</a:t>
                      </a:r>
                      <a:endParaRPr sz="800" b="1">
                        <a:solidFill>
                          <a:srgbClr val="FFFFFF"/>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C4587"/>
                    </a:solidFill>
                  </a:tcPr>
                </a:tc>
                <a:tc>
                  <a:txBody>
                    <a:bodyPr/>
                    <a:lstStyle/>
                    <a:p>
                      <a:pPr marL="0" lvl="0" indent="0" algn="ctr" rtl="0">
                        <a:lnSpc>
                          <a:spcPct val="115000"/>
                        </a:lnSpc>
                        <a:spcBef>
                          <a:spcPts val="0"/>
                        </a:spcBef>
                        <a:spcAft>
                          <a:spcPts val="0"/>
                        </a:spcAft>
                        <a:buNone/>
                      </a:pPr>
                      <a:r>
                        <a:rPr lang="en" sz="800" b="1">
                          <a:solidFill>
                            <a:srgbClr val="FFFFFF"/>
                          </a:solidFill>
                          <a:latin typeface="Lexend"/>
                          <a:ea typeface="Lexend"/>
                          <a:cs typeface="Lexend"/>
                          <a:sym typeface="Lexend"/>
                        </a:rPr>
                        <a:t>ZONE 4</a:t>
                      </a:r>
                      <a:endParaRPr sz="800" b="1">
                        <a:solidFill>
                          <a:srgbClr val="FFFFFF"/>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C4587"/>
                    </a:solidFill>
                  </a:tcPr>
                </a:tc>
                <a:tc>
                  <a:txBody>
                    <a:bodyPr/>
                    <a:lstStyle/>
                    <a:p>
                      <a:pPr marL="0" lvl="0" indent="0" algn="ctr" rtl="0">
                        <a:lnSpc>
                          <a:spcPct val="115000"/>
                        </a:lnSpc>
                        <a:spcBef>
                          <a:spcPts val="0"/>
                        </a:spcBef>
                        <a:spcAft>
                          <a:spcPts val="0"/>
                        </a:spcAft>
                        <a:buNone/>
                      </a:pPr>
                      <a:r>
                        <a:rPr lang="en" sz="800" b="1">
                          <a:solidFill>
                            <a:srgbClr val="FFFFFF"/>
                          </a:solidFill>
                          <a:latin typeface="Lexend"/>
                          <a:ea typeface="Lexend"/>
                          <a:cs typeface="Lexend"/>
                          <a:sym typeface="Lexend"/>
                        </a:rPr>
                        <a:t>ZONE 5</a:t>
                      </a:r>
                      <a:endParaRPr sz="800" b="1">
                        <a:solidFill>
                          <a:srgbClr val="FFFFFF"/>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C4587"/>
                    </a:solidFill>
                  </a:tcPr>
                </a:tc>
                <a:tc>
                  <a:txBody>
                    <a:bodyPr/>
                    <a:lstStyle/>
                    <a:p>
                      <a:pPr marL="0" lvl="0" indent="0" algn="ctr" rtl="0">
                        <a:lnSpc>
                          <a:spcPct val="115000"/>
                        </a:lnSpc>
                        <a:spcBef>
                          <a:spcPts val="0"/>
                        </a:spcBef>
                        <a:spcAft>
                          <a:spcPts val="0"/>
                        </a:spcAft>
                        <a:buNone/>
                      </a:pPr>
                      <a:r>
                        <a:rPr lang="en" sz="800" b="1">
                          <a:solidFill>
                            <a:srgbClr val="FFFFFF"/>
                          </a:solidFill>
                          <a:latin typeface="Lexend"/>
                          <a:ea typeface="Lexend"/>
                          <a:cs typeface="Lexend"/>
                          <a:sym typeface="Lexend"/>
                        </a:rPr>
                        <a:t>ZONE 6</a:t>
                      </a:r>
                      <a:endParaRPr sz="800" b="1">
                        <a:solidFill>
                          <a:srgbClr val="FFFFFF"/>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C4587"/>
                    </a:solidFill>
                  </a:tcPr>
                </a:tc>
                <a:tc>
                  <a:txBody>
                    <a:bodyPr/>
                    <a:lstStyle/>
                    <a:p>
                      <a:pPr marL="0" lvl="0" indent="0" algn="ctr" rtl="0">
                        <a:lnSpc>
                          <a:spcPct val="115000"/>
                        </a:lnSpc>
                        <a:spcBef>
                          <a:spcPts val="0"/>
                        </a:spcBef>
                        <a:spcAft>
                          <a:spcPts val="0"/>
                        </a:spcAft>
                        <a:buNone/>
                      </a:pPr>
                      <a:r>
                        <a:rPr lang="en" sz="800" b="1">
                          <a:solidFill>
                            <a:srgbClr val="FFFFFF"/>
                          </a:solidFill>
                          <a:latin typeface="Lexend"/>
                          <a:ea typeface="Lexend"/>
                          <a:cs typeface="Lexend"/>
                          <a:sym typeface="Lexend"/>
                        </a:rPr>
                        <a:t>ZONE 7</a:t>
                      </a:r>
                      <a:endParaRPr sz="800" b="1">
                        <a:solidFill>
                          <a:srgbClr val="FFFFFF"/>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C4587"/>
                    </a:solidFill>
                  </a:tcPr>
                </a:tc>
                <a:extLst>
                  <a:ext uri="{0D108BD9-81ED-4DB2-BD59-A6C34878D82A}">
                    <a16:rowId xmlns:a16="http://schemas.microsoft.com/office/drawing/2014/main" val="10000"/>
                  </a:ext>
                </a:extLst>
              </a:tr>
              <a:tr h="269075">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Active</a:t>
                      </a:r>
                      <a:endParaRPr sz="8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CFE2F3"/>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70</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69</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82</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34</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69</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63</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34</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extLst>
                  <a:ext uri="{0D108BD9-81ED-4DB2-BD59-A6C34878D82A}">
                    <a16:rowId xmlns:a16="http://schemas.microsoft.com/office/drawing/2014/main" val="10001"/>
                  </a:ext>
                </a:extLst>
              </a:tr>
              <a:tr h="269075">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Online rate</a:t>
                      </a:r>
                      <a:endParaRPr sz="8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CFE2F3"/>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88.45%</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93.80%</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92.96%</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92.73%</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89.29%</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90.73%</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95.02%</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extLst>
                  <a:ext uri="{0D108BD9-81ED-4DB2-BD59-A6C34878D82A}">
                    <a16:rowId xmlns:a16="http://schemas.microsoft.com/office/drawing/2014/main" val="10002"/>
                  </a:ext>
                </a:extLst>
              </a:tr>
              <a:tr h="269075">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Utilization</a:t>
                      </a:r>
                      <a:endParaRPr sz="8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CFE2F3"/>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89.17%</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89.96%</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88.56%</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87.21%</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83.12%</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93.07%</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81.52%</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extLst>
                  <a:ext uri="{0D108BD9-81ED-4DB2-BD59-A6C34878D82A}">
                    <a16:rowId xmlns:a16="http://schemas.microsoft.com/office/drawing/2014/main" val="10003"/>
                  </a:ext>
                </a:extLst>
              </a:tr>
              <a:tr h="269075">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Prod per hour</a:t>
                      </a:r>
                      <a:endParaRPr sz="8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CFE2F3"/>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3.32</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3.16</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3.24</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3.03</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3.12</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3.29</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3.19</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extLst>
                  <a:ext uri="{0D108BD9-81ED-4DB2-BD59-A6C34878D82A}">
                    <a16:rowId xmlns:a16="http://schemas.microsoft.com/office/drawing/2014/main" val="10004"/>
                  </a:ext>
                </a:extLst>
              </a:tr>
              <a:tr h="269075">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Earning per hour</a:t>
                      </a:r>
                      <a:endParaRPr sz="8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CFE2F3"/>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49.8K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48.8K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46.5K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47.6K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45.9K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51.8K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48.4K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9F8F8"/>
                    </a:solidFill>
                  </a:tcPr>
                </a:tc>
                <a:extLst>
                  <a:ext uri="{0D108BD9-81ED-4DB2-BD59-A6C34878D82A}">
                    <a16:rowId xmlns:a16="http://schemas.microsoft.com/office/drawing/2014/main" val="10005"/>
                  </a:ext>
                </a:extLst>
              </a:tr>
            </a:tbl>
          </a:graphicData>
        </a:graphic>
      </p:graphicFrame>
      <p:sp>
        <p:nvSpPr>
          <p:cNvPr id="773" name="Google Shape;773;p61"/>
          <p:cNvSpPr txBox="1"/>
          <p:nvPr/>
        </p:nvSpPr>
        <p:spPr>
          <a:xfrm>
            <a:off x="365675" y="605593"/>
            <a:ext cx="8412600" cy="323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00" i="1">
                <a:solidFill>
                  <a:schemeClr val="dk1"/>
                </a:solidFill>
                <a:latin typeface="Lexend"/>
                <a:ea typeface="Lexend"/>
                <a:cs typeface="Lexend"/>
                <a:sym typeface="Lexend"/>
              </a:rPr>
              <a:t>SGN shows positive WoW momentum across key operational KPIs, while HAN remains stable with slight declines in Check-in and Online Rate</a:t>
            </a:r>
            <a:endParaRPr sz="900" i="1">
              <a:latin typeface="Lexend"/>
              <a:ea typeface="Lexend"/>
              <a:cs typeface="Lexend"/>
              <a:sym typeface="Lexen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778"/>
        <p:cNvGrpSpPr/>
        <p:nvPr/>
      </p:nvGrpSpPr>
      <p:grpSpPr>
        <a:xfrm>
          <a:off x="0" y="0"/>
          <a:ext cx="0" cy="0"/>
          <a:chOff x="0" y="0"/>
          <a:chExt cx="0" cy="0"/>
        </a:xfrm>
      </p:grpSpPr>
      <p:sp>
        <p:nvSpPr>
          <p:cNvPr id="779" name="Google Shape;779;p62"/>
          <p:cNvSpPr/>
          <p:nvPr/>
        </p:nvSpPr>
        <p:spPr>
          <a:xfrm>
            <a:off x="957775" y="3091225"/>
            <a:ext cx="7884600" cy="19914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62"/>
          <p:cNvSpPr/>
          <p:nvPr/>
        </p:nvSpPr>
        <p:spPr>
          <a:xfrm>
            <a:off x="957775" y="984250"/>
            <a:ext cx="7884600" cy="19914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62"/>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82" name="Google Shape;782;p62"/>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783" name="Google Shape;783;p62"/>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pic>
        <p:nvPicPr>
          <p:cNvPr id="784" name="Google Shape;784;p62" descr="preencoded.png"/>
          <p:cNvPicPr preferRelativeResize="0"/>
          <p:nvPr/>
        </p:nvPicPr>
        <p:blipFill rotWithShape="1">
          <a:blip r:embed="rId3">
            <a:alphaModFix/>
          </a:blip>
          <a:srcRect/>
          <a:stretch/>
        </p:blipFill>
        <p:spPr>
          <a:xfrm>
            <a:off x="365760" y="337820"/>
            <a:ext cx="274320" cy="274320"/>
          </a:xfrm>
          <a:prstGeom prst="rect">
            <a:avLst/>
          </a:prstGeom>
          <a:noFill/>
          <a:ln>
            <a:noFill/>
          </a:ln>
        </p:spPr>
      </p:pic>
      <p:sp>
        <p:nvSpPr>
          <p:cNvPr id="785" name="Google Shape;785;p62"/>
          <p:cNvSpPr/>
          <p:nvPr/>
        </p:nvSpPr>
        <p:spPr>
          <a:xfrm>
            <a:off x="731520" y="2646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i="0" u="none" strike="noStrike" cap="none">
                <a:solidFill>
                  <a:srgbClr val="0E4174"/>
                </a:solidFill>
                <a:latin typeface="Lexend"/>
                <a:ea typeface="Lexend"/>
                <a:cs typeface="Lexend"/>
                <a:sym typeface="Lexend"/>
              </a:rPr>
              <a:t>MiniHub</a:t>
            </a:r>
            <a:r>
              <a:rPr lang="en" sz="2200" b="1">
                <a:solidFill>
                  <a:srgbClr val="0E4174"/>
                </a:solidFill>
                <a:latin typeface="Lexend"/>
                <a:ea typeface="Lexend"/>
                <a:cs typeface="Lexend"/>
                <a:sym typeface="Lexend"/>
              </a:rPr>
              <a:t> </a:t>
            </a:r>
            <a:r>
              <a:rPr lang="en" sz="2200" b="1" i="0" u="none" strike="noStrike" cap="none">
                <a:solidFill>
                  <a:srgbClr val="0E4174"/>
                </a:solidFill>
                <a:latin typeface="Lexend"/>
                <a:ea typeface="Lexend"/>
                <a:cs typeface="Lexend"/>
                <a:sym typeface="Lexend"/>
              </a:rPr>
              <a:t>- </a:t>
            </a:r>
            <a:r>
              <a:rPr lang="en" sz="2200" b="1">
                <a:solidFill>
                  <a:srgbClr val="F56C1F"/>
                </a:solidFill>
                <a:latin typeface="Lexend"/>
                <a:ea typeface="Lexend"/>
                <a:cs typeface="Lexend"/>
                <a:sym typeface="Lexend"/>
              </a:rPr>
              <a:t>COVERAGE</a:t>
            </a:r>
            <a:endParaRPr sz="2200" b="1" i="0" u="none" strike="noStrike" cap="none">
              <a:solidFill>
                <a:srgbClr val="F56C1F"/>
              </a:solidFill>
              <a:latin typeface="Lexend"/>
              <a:ea typeface="Lexend"/>
              <a:cs typeface="Lexend"/>
              <a:sym typeface="Lexend"/>
            </a:endParaRPr>
          </a:p>
        </p:txBody>
      </p:sp>
      <p:sp>
        <p:nvSpPr>
          <p:cNvPr id="786" name="Google Shape;786;p62"/>
          <p:cNvSpPr/>
          <p:nvPr/>
        </p:nvSpPr>
        <p:spPr>
          <a:xfrm>
            <a:off x="365742" y="973650"/>
            <a:ext cx="548700" cy="1991400"/>
          </a:xfrm>
          <a:prstGeom prst="rect">
            <a:avLst/>
          </a:prstGeom>
          <a:solidFill>
            <a:srgbClr val="0B467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latin typeface="Lexend"/>
                <a:ea typeface="Lexend"/>
                <a:cs typeface="Lexend"/>
                <a:sym typeface="Lexend"/>
              </a:rPr>
              <a:t>HAN</a:t>
            </a:r>
            <a:endParaRPr sz="1200" b="1">
              <a:solidFill>
                <a:schemeClr val="lt1"/>
              </a:solidFill>
              <a:latin typeface="Lexend"/>
              <a:ea typeface="Lexend"/>
              <a:cs typeface="Lexend"/>
              <a:sym typeface="Lexend"/>
            </a:endParaRPr>
          </a:p>
        </p:txBody>
      </p:sp>
      <p:sp>
        <p:nvSpPr>
          <p:cNvPr id="787" name="Google Shape;787;p62"/>
          <p:cNvSpPr/>
          <p:nvPr/>
        </p:nvSpPr>
        <p:spPr>
          <a:xfrm>
            <a:off x="369667" y="3080625"/>
            <a:ext cx="548700" cy="2004600"/>
          </a:xfrm>
          <a:prstGeom prst="rect">
            <a:avLst/>
          </a:prstGeom>
          <a:solidFill>
            <a:srgbClr val="0B467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latin typeface="Lexend"/>
                <a:ea typeface="Lexend"/>
                <a:cs typeface="Lexend"/>
                <a:sym typeface="Lexend"/>
              </a:rPr>
              <a:t>SGN</a:t>
            </a:r>
            <a:endParaRPr sz="1200" b="1">
              <a:solidFill>
                <a:schemeClr val="lt1"/>
              </a:solidFill>
              <a:latin typeface="Lexend"/>
              <a:ea typeface="Lexend"/>
              <a:cs typeface="Lexend"/>
              <a:sym typeface="Lexend"/>
            </a:endParaRPr>
          </a:p>
        </p:txBody>
      </p:sp>
      <p:cxnSp>
        <p:nvCxnSpPr>
          <p:cNvPr id="788" name="Google Shape;788;p62"/>
          <p:cNvCxnSpPr/>
          <p:nvPr/>
        </p:nvCxnSpPr>
        <p:spPr>
          <a:xfrm rot="10800000" flipH="1">
            <a:off x="381000" y="3032025"/>
            <a:ext cx="8466600" cy="5400"/>
          </a:xfrm>
          <a:prstGeom prst="straightConnector1">
            <a:avLst/>
          </a:prstGeom>
          <a:noFill/>
          <a:ln w="9525" cap="flat" cmpd="sng">
            <a:solidFill>
              <a:srgbClr val="0E4174"/>
            </a:solidFill>
            <a:prstDash val="dash"/>
            <a:round/>
            <a:headEnd type="none" w="med" len="med"/>
            <a:tailEnd type="none" w="med" len="med"/>
          </a:ln>
        </p:spPr>
      </p:cxnSp>
      <p:pic>
        <p:nvPicPr>
          <p:cNvPr id="789" name="Google Shape;789;p62" title="Chart"/>
          <p:cNvPicPr preferRelativeResize="0"/>
          <p:nvPr/>
        </p:nvPicPr>
        <p:blipFill>
          <a:blip r:embed="rId4">
            <a:alphaModFix/>
          </a:blip>
          <a:stretch>
            <a:fillRect/>
          </a:stretch>
        </p:blipFill>
        <p:spPr>
          <a:xfrm>
            <a:off x="989525" y="1131450"/>
            <a:ext cx="7260175" cy="1763300"/>
          </a:xfrm>
          <a:prstGeom prst="rect">
            <a:avLst/>
          </a:prstGeom>
          <a:noFill/>
          <a:ln>
            <a:noFill/>
          </a:ln>
        </p:spPr>
      </p:pic>
      <p:pic>
        <p:nvPicPr>
          <p:cNvPr id="790" name="Google Shape;790;p62" title="Chart"/>
          <p:cNvPicPr preferRelativeResize="0"/>
          <p:nvPr/>
        </p:nvPicPr>
        <p:blipFill>
          <a:blip r:embed="rId5">
            <a:alphaModFix/>
          </a:blip>
          <a:stretch>
            <a:fillRect/>
          </a:stretch>
        </p:blipFill>
        <p:spPr>
          <a:xfrm>
            <a:off x="1026400" y="3174700"/>
            <a:ext cx="7223301" cy="1815875"/>
          </a:xfrm>
          <a:prstGeom prst="rect">
            <a:avLst/>
          </a:prstGeom>
          <a:noFill/>
          <a:ln>
            <a:noFill/>
          </a:ln>
        </p:spPr>
      </p:pic>
      <p:graphicFrame>
        <p:nvGraphicFramePr>
          <p:cNvPr id="791" name="Google Shape;791;p62"/>
          <p:cNvGraphicFramePr/>
          <p:nvPr/>
        </p:nvGraphicFramePr>
        <p:xfrm>
          <a:off x="8249700" y="1254628"/>
          <a:ext cx="3000000" cy="3000000"/>
        </p:xfrm>
        <a:graphic>
          <a:graphicData uri="http://schemas.openxmlformats.org/drawingml/2006/table">
            <a:tbl>
              <a:tblPr>
                <a:noFill/>
                <a:tableStyleId>{98498B5D-82F5-4DDD-BB04-C168985C330A}</a:tableStyleId>
              </a:tblPr>
              <a:tblGrid>
                <a:gridCol w="548700">
                  <a:extLst>
                    <a:ext uri="{9D8B030D-6E8A-4147-A177-3AD203B41FA5}">
                      <a16:colId xmlns:a16="http://schemas.microsoft.com/office/drawing/2014/main" val="20000"/>
                    </a:ext>
                  </a:extLst>
                </a:gridCol>
              </a:tblGrid>
              <a:tr h="127850">
                <a:tc>
                  <a:txBody>
                    <a:bodyPr/>
                    <a:lstStyle/>
                    <a:p>
                      <a:pPr marL="0" lvl="0" indent="0" algn="ctr" rtl="0">
                        <a:lnSpc>
                          <a:spcPct val="115000"/>
                        </a:lnSpc>
                        <a:spcBef>
                          <a:spcPts val="0"/>
                        </a:spcBef>
                        <a:spcAft>
                          <a:spcPts val="0"/>
                        </a:spcAft>
                        <a:buNone/>
                      </a:pPr>
                      <a:r>
                        <a:rPr lang="en" sz="500" b="1">
                          <a:latin typeface="Lexend"/>
                          <a:ea typeface="Lexend"/>
                          <a:cs typeface="Lexend"/>
                          <a:sym typeface="Lexend"/>
                        </a:rPr>
                        <a:t>WoW</a:t>
                      </a:r>
                      <a:endParaRPr sz="500" b="1">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127850">
                <a:tc>
                  <a:txBody>
                    <a:bodyPr/>
                    <a:lstStyle/>
                    <a:p>
                      <a:pPr marL="0" lvl="0" indent="0" algn="ctr" rtl="0">
                        <a:lnSpc>
                          <a:spcPct val="115000"/>
                        </a:lnSpc>
                        <a:spcBef>
                          <a:spcPts val="0"/>
                        </a:spcBef>
                        <a:spcAft>
                          <a:spcPts val="0"/>
                        </a:spcAft>
                        <a:buNone/>
                      </a:pPr>
                      <a:r>
                        <a:rPr lang="en" sz="500" b="1">
                          <a:solidFill>
                            <a:srgbClr val="34A853"/>
                          </a:solidFill>
                          <a:latin typeface="Lexend"/>
                          <a:ea typeface="Lexend"/>
                          <a:cs typeface="Lexend"/>
                          <a:sym typeface="Lexend"/>
                        </a:rPr>
                        <a:t>2.11%</a:t>
                      </a:r>
                      <a:endParaRPr sz="500" b="1">
                        <a:solidFill>
                          <a:srgbClr val="34A853"/>
                        </a:solidFill>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127850">
                <a:tc>
                  <a:txBody>
                    <a:bodyPr/>
                    <a:lstStyle/>
                    <a:p>
                      <a:pPr marL="0" lvl="0" indent="0" algn="ctr" rtl="0">
                        <a:lnSpc>
                          <a:spcPct val="115000"/>
                        </a:lnSpc>
                        <a:spcBef>
                          <a:spcPts val="0"/>
                        </a:spcBef>
                        <a:spcAft>
                          <a:spcPts val="0"/>
                        </a:spcAft>
                        <a:buNone/>
                      </a:pPr>
                      <a:r>
                        <a:rPr lang="en" sz="500" b="1">
                          <a:solidFill>
                            <a:srgbClr val="34A853"/>
                          </a:solidFill>
                          <a:latin typeface="Lexend"/>
                          <a:ea typeface="Lexend"/>
                          <a:cs typeface="Lexend"/>
                          <a:sym typeface="Lexend"/>
                        </a:rPr>
                        <a:t>3.32%</a:t>
                      </a:r>
                      <a:endParaRPr sz="500" b="1">
                        <a:solidFill>
                          <a:srgbClr val="34A853"/>
                        </a:solidFill>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127850">
                <a:tc>
                  <a:txBody>
                    <a:bodyPr/>
                    <a:lstStyle/>
                    <a:p>
                      <a:pPr marL="0" lvl="0" indent="0" algn="ctr" rtl="0">
                        <a:lnSpc>
                          <a:spcPct val="115000"/>
                        </a:lnSpc>
                        <a:spcBef>
                          <a:spcPts val="0"/>
                        </a:spcBef>
                        <a:spcAft>
                          <a:spcPts val="0"/>
                        </a:spcAft>
                        <a:buNone/>
                      </a:pPr>
                      <a:r>
                        <a:rPr lang="en" sz="500" b="1">
                          <a:solidFill>
                            <a:srgbClr val="EA4335"/>
                          </a:solidFill>
                          <a:latin typeface="Lexend"/>
                          <a:ea typeface="Lexend"/>
                          <a:cs typeface="Lexend"/>
                          <a:sym typeface="Lexend"/>
                        </a:rPr>
                        <a:t>-10.91%</a:t>
                      </a:r>
                      <a:endParaRPr sz="500" b="1">
                        <a:solidFill>
                          <a:srgbClr val="EA4335"/>
                        </a:solidFill>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127850">
                <a:tc>
                  <a:txBody>
                    <a:bodyPr/>
                    <a:lstStyle/>
                    <a:p>
                      <a:pPr marL="0" lvl="0" indent="0" algn="ctr" rtl="0">
                        <a:lnSpc>
                          <a:spcPct val="115000"/>
                        </a:lnSpc>
                        <a:spcBef>
                          <a:spcPts val="0"/>
                        </a:spcBef>
                        <a:spcAft>
                          <a:spcPts val="0"/>
                        </a:spcAft>
                        <a:buNone/>
                      </a:pPr>
                      <a:r>
                        <a:rPr lang="en" sz="500" b="1">
                          <a:solidFill>
                            <a:srgbClr val="EA4335"/>
                          </a:solidFill>
                          <a:latin typeface="Lexend"/>
                          <a:ea typeface="Lexend"/>
                          <a:cs typeface="Lexend"/>
                          <a:sym typeface="Lexend"/>
                        </a:rPr>
                        <a:t>-1.15%</a:t>
                      </a:r>
                      <a:endParaRPr sz="500" b="1">
                        <a:solidFill>
                          <a:srgbClr val="EA4335"/>
                        </a:solidFill>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r h="127850">
                <a:tc>
                  <a:txBody>
                    <a:bodyPr/>
                    <a:lstStyle/>
                    <a:p>
                      <a:pPr marL="0" lvl="0" indent="0" algn="ctr" rtl="0">
                        <a:lnSpc>
                          <a:spcPct val="115000"/>
                        </a:lnSpc>
                        <a:spcBef>
                          <a:spcPts val="0"/>
                        </a:spcBef>
                        <a:spcAft>
                          <a:spcPts val="0"/>
                        </a:spcAft>
                        <a:buNone/>
                      </a:pPr>
                      <a:r>
                        <a:rPr lang="en" sz="500" b="1">
                          <a:solidFill>
                            <a:srgbClr val="34A853"/>
                          </a:solidFill>
                          <a:latin typeface="Lexend"/>
                          <a:ea typeface="Lexend"/>
                          <a:cs typeface="Lexend"/>
                          <a:sym typeface="Lexend"/>
                        </a:rPr>
                        <a:t>13.41%</a:t>
                      </a:r>
                      <a:endParaRPr sz="500" b="1">
                        <a:solidFill>
                          <a:srgbClr val="34A853"/>
                        </a:solidFill>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extLst>
                  <a:ext uri="{0D108BD9-81ED-4DB2-BD59-A6C34878D82A}">
                    <a16:rowId xmlns:a16="http://schemas.microsoft.com/office/drawing/2014/main" val="10005"/>
                  </a:ext>
                </a:extLst>
              </a:tr>
              <a:tr h="127850">
                <a:tc>
                  <a:txBody>
                    <a:bodyPr/>
                    <a:lstStyle/>
                    <a:p>
                      <a:pPr marL="0" lvl="0" indent="0" algn="ctr" rtl="0">
                        <a:lnSpc>
                          <a:spcPct val="115000"/>
                        </a:lnSpc>
                        <a:spcBef>
                          <a:spcPts val="0"/>
                        </a:spcBef>
                        <a:spcAft>
                          <a:spcPts val="0"/>
                        </a:spcAft>
                        <a:buNone/>
                      </a:pPr>
                      <a:r>
                        <a:rPr lang="en" sz="500" b="1">
                          <a:solidFill>
                            <a:srgbClr val="EA4335"/>
                          </a:solidFill>
                          <a:latin typeface="Lexend"/>
                          <a:ea typeface="Lexend"/>
                          <a:cs typeface="Lexend"/>
                          <a:sym typeface="Lexend"/>
                        </a:rPr>
                        <a:t>-1.37%</a:t>
                      </a:r>
                      <a:endParaRPr sz="500" b="1">
                        <a:solidFill>
                          <a:srgbClr val="EA4335"/>
                        </a:solidFill>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extLst>
                  <a:ext uri="{0D108BD9-81ED-4DB2-BD59-A6C34878D82A}">
                    <a16:rowId xmlns:a16="http://schemas.microsoft.com/office/drawing/2014/main" val="10006"/>
                  </a:ext>
                </a:extLst>
              </a:tr>
              <a:tr h="127850">
                <a:tc>
                  <a:txBody>
                    <a:bodyPr/>
                    <a:lstStyle/>
                    <a:p>
                      <a:pPr marL="0" lvl="0" indent="0" algn="ctr" rtl="0">
                        <a:lnSpc>
                          <a:spcPct val="115000"/>
                        </a:lnSpc>
                        <a:spcBef>
                          <a:spcPts val="0"/>
                        </a:spcBef>
                        <a:spcAft>
                          <a:spcPts val="0"/>
                        </a:spcAft>
                        <a:buNone/>
                      </a:pPr>
                      <a:r>
                        <a:rPr lang="en" sz="500" b="1">
                          <a:solidFill>
                            <a:srgbClr val="34A853"/>
                          </a:solidFill>
                          <a:latin typeface="Lexend"/>
                          <a:ea typeface="Lexend"/>
                          <a:cs typeface="Lexend"/>
                          <a:sym typeface="Lexend"/>
                        </a:rPr>
                        <a:t>1.54%</a:t>
                      </a:r>
                      <a:endParaRPr sz="500" b="1">
                        <a:solidFill>
                          <a:srgbClr val="34A853"/>
                        </a:solidFill>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extLst>
                  <a:ext uri="{0D108BD9-81ED-4DB2-BD59-A6C34878D82A}">
                    <a16:rowId xmlns:a16="http://schemas.microsoft.com/office/drawing/2014/main" val="10007"/>
                  </a:ext>
                </a:extLst>
              </a:tr>
              <a:tr h="127850">
                <a:tc>
                  <a:txBody>
                    <a:bodyPr/>
                    <a:lstStyle/>
                    <a:p>
                      <a:pPr marL="0" lvl="0" indent="0" algn="ctr" rtl="0">
                        <a:lnSpc>
                          <a:spcPct val="115000"/>
                        </a:lnSpc>
                        <a:spcBef>
                          <a:spcPts val="0"/>
                        </a:spcBef>
                        <a:spcAft>
                          <a:spcPts val="0"/>
                        </a:spcAft>
                        <a:buNone/>
                      </a:pPr>
                      <a:r>
                        <a:rPr lang="en" sz="500" b="1">
                          <a:solidFill>
                            <a:srgbClr val="EA4335"/>
                          </a:solidFill>
                          <a:latin typeface="Lexend"/>
                          <a:ea typeface="Lexend"/>
                          <a:cs typeface="Lexend"/>
                          <a:sym typeface="Lexend"/>
                        </a:rPr>
                        <a:t>-0.24%</a:t>
                      </a:r>
                      <a:endParaRPr sz="500" b="1">
                        <a:solidFill>
                          <a:srgbClr val="EA4335"/>
                        </a:solidFill>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extLst>
                  <a:ext uri="{0D108BD9-81ED-4DB2-BD59-A6C34878D82A}">
                    <a16:rowId xmlns:a16="http://schemas.microsoft.com/office/drawing/2014/main" val="10008"/>
                  </a:ext>
                </a:extLst>
              </a:tr>
              <a:tr h="127850">
                <a:tc>
                  <a:txBody>
                    <a:bodyPr/>
                    <a:lstStyle/>
                    <a:p>
                      <a:pPr marL="0" lvl="0" indent="0" algn="ctr" rtl="0">
                        <a:lnSpc>
                          <a:spcPct val="115000"/>
                        </a:lnSpc>
                        <a:spcBef>
                          <a:spcPts val="0"/>
                        </a:spcBef>
                        <a:spcAft>
                          <a:spcPts val="0"/>
                        </a:spcAft>
                        <a:buNone/>
                      </a:pPr>
                      <a:r>
                        <a:rPr lang="en" sz="500" b="1">
                          <a:solidFill>
                            <a:srgbClr val="EA4335"/>
                          </a:solidFill>
                          <a:latin typeface="Lexend"/>
                          <a:ea typeface="Lexend"/>
                          <a:cs typeface="Lexend"/>
                          <a:sym typeface="Lexend"/>
                        </a:rPr>
                        <a:t>-2.65%</a:t>
                      </a:r>
                      <a:endParaRPr sz="500" b="1">
                        <a:solidFill>
                          <a:srgbClr val="EA4335"/>
                        </a:solidFill>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extLst>
                  <a:ext uri="{0D108BD9-81ED-4DB2-BD59-A6C34878D82A}">
                    <a16:rowId xmlns:a16="http://schemas.microsoft.com/office/drawing/2014/main" val="10009"/>
                  </a:ext>
                </a:extLst>
              </a:tr>
              <a:tr h="127850">
                <a:tc>
                  <a:txBody>
                    <a:bodyPr/>
                    <a:lstStyle/>
                    <a:p>
                      <a:pPr marL="0" lvl="0" indent="0" algn="ctr" rtl="0">
                        <a:lnSpc>
                          <a:spcPct val="115000"/>
                        </a:lnSpc>
                        <a:spcBef>
                          <a:spcPts val="0"/>
                        </a:spcBef>
                        <a:spcAft>
                          <a:spcPts val="0"/>
                        </a:spcAft>
                        <a:buNone/>
                      </a:pPr>
                      <a:r>
                        <a:rPr lang="en" sz="500" b="1">
                          <a:solidFill>
                            <a:srgbClr val="34A853"/>
                          </a:solidFill>
                          <a:latin typeface="Lexend"/>
                          <a:ea typeface="Lexend"/>
                          <a:cs typeface="Lexend"/>
                          <a:sym typeface="Lexend"/>
                        </a:rPr>
                        <a:t>0.19%</a:t>
                      </a:r>
                      <a:endParaRPr sz="500" b="1">
                        <a:solidFill>
                          <a:srgbClr val="34A853"/>
                        </a:solidFill>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extLst>
                  <a:ext uri="{0D108BD9-81ED-4DB2-BD59-A6C34878D82A}">
                    <a16:rowId xmlns:a16="http://schemas.microsoft.com/office/drawing/2014/main" val="10010"/>
                  </a:ext>
                </a:extLst>
              </a:tr>
            </a:tbl>
          </a:graphicData>
        </a:graphic>
      </p:graphicFrame>
      <p:graphicFrame>
        <p:nvGraphicFramePr>
          <p:cNvPr id="792" name="Google Shape;792;p62"/>
          <p:cNvGraphicFramePr/>
          <p:nvPr/>
        </p:nvGraphicFramePr>
        <p:xfrm>
          <a:off x="8199225" y="3258296"/>
          <a:ext cx="3000000" cy="3000000"/>
        </p:xfrm>
        <a:graphic>
          <a:graphicData uri="http://schemas.openxmlformats.org/drawingml/2006/table">
            <a:tbl>
              <a:tblPr>
                <a:noFill/>
                <a:tableStyleId>{98498B5D-82F5-4DDD-BB04-C168985C330A}</a:tableStyleId>
              </a:tblPr>
              <a:tblGrid>
                <a:gridCol w="579125">
                  <a:extLst>
                    <a:ext uri="{9D8B030D-6E8A-4147-A177-3AD203B41FA5}">
                      <a16:colId xmlns:a16="http://schemas.microsoft.com/office/drawing/2014/main" val="20000"/>
                    </a:ext>
                  </a:extLst>
                </a:gridCol>
              </a:tblGrid>
              <a:tr h="189500">
                <a:tc>
                  <a:txBody>
                    <a:bodyPr/>
                    <a:lstStyle/>
                    <a:p>
                      <a:pPr marL="0" lvl="0" indent="0" algn="ctr" rtl="0">
                        <a:lnSpc>
                          <a:spcPct val="115000"/>
                        </a:lnSpc>
                        <a:spcBef>
                          <a:spcPts val="0"/>
                        </a:spcBef>
                        <a:spcAft>
                          <a:spcPts val="0"/>
                        </a:spcAft>
                        <a:buNone/>
                      </a:pPr>
                      <a:r>
                        <a:rPr lang="en" sz="700" b="1">
                          <a:latin typeface="Lexend"/>
                          <a:ea typeface="Lexend"/>
                          <a:cs typeface="Lexend"/>
                          <a:sym typeface="Lexend"/>
                        </a:rPr>
                        <a:t>WoW</a:t>
                      </a:r>
                      <a:endParaRPr sz="700" b="1">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189500">
                <a:tc>
                  <a:txBody>
                    <a:bodyPr/>
                    <a:lstStyle/>
                    <a:p>
                      <a:pPr marL="0" lvl="0" indent="0" algn="ctr" rtl="0">
                        <a:lnSpc>
                          <a:spcPct val="115000"/>
                        </a:lnSpc>
                        <a:spcBef>
                          <a:spcPts val="0"/>
                        </a:spcBef>
                        <a:spcAft>
                          <a:spcPts val="0"/>
                        </a:spcAft>
                        <a:buNone/>
                      </a:pPr>
                      <a:r>
                        <a:rPr lang="en" sz="700">
                          <a:solidFill>
                            <a:srgbClr val="34A853"/>
                          </a:solidFill>
                          <a:latin typeface="Lexend"/>
                          <a:ea typeface="Lexend"/>
                          <a:cs typeface="Lexend"/>
                          <a:sym typeface="Lexend"/>
                        </a:rPr>
                        <a:t>10.97%</a:t>
                      </a:r>
                      <a:endParaRPr sz="700">
                        <a:solidFill>
                          <a:srgbClr val="34A853"/>
                        </a:solidFill>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189500">
                <a:tc>
                  <a:txBody>
                    <a:bodyPr/>
                    <a:lstStyle/>
                    <a:p>
                      <a:pPr marL="0" lvl="0" indent="0" algn="ctr" rtl="0">
                        <a:lnSpc>
                          <a:spcPct val="115000"/>
                        </a:lnSpc>
                        <a:spcBef>
                          <a:spcPts val="0"/>
                        </a:spcBef>
                        <a:spcAft>
                          <a:spcPts val="0"/>
                        </a:spcAft>
                        <a:buNone/>
                      </a:pPr>
                      <a:r>
                        <a:rPr lang="en" sz="700">
                          <a:solidFill>
                            <a:srgbClr val="34A853"/>
                          </a:solidFill>
                          <a:latin typeface="Lexend"/>
                          <a:ea typeface="Lexend"/>
                          <a:cs typeface="Lexend"/>
                          <a:sym typeface="Lexend"/>
                        </a:rPr>
                        <a:t>25.99%</a:t>
                      </a:r>
                      <a:endParaRPr sz="700">
                        <a:solidFill>
                          <a:srgbClr val="34A853"/>
                        </a:solidFill>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189500">
                <a:tc>
                  <a:txBody>
                    <a:bodyPr/>
                    <a:lstStyle/>
                    <a:p>
                      <a:pPr marL="0" lvl="0" indent="0" algn="ctr" rtl="0">
                        <a:lnSpc>
                          <a:spcPct val="115000"/>
                        </a:lnSpc>
                        <a:spcBef>
                          <a:spcPts val="0"/>
                        </a:spcBef>
                        <a:spcAft>
                          <a:spcPts val="0"/>
                        </a:spcAft>
                        <a:buNone/>
                      </a:pPr>
                      <a:r>
                        <a:rPr lang="en" sz="700">
                          <a:solidFill>
                            <a:srgbClr val="EA4335"/>
                          </a:solidFill>
                          <a:latin typeface="Lexend"/>
                          <a:ea typeface="Lexend"/>
                          <a:cs typeface="Lexend"/>
                          <a:sym typeface="Lexend"/>
                        </a:rPr>
                        <a:t>-1.76%</a:t>
                      </a:r>
                      <a:endParaRPr sz="700">
                        <a:solidFill>
                          <a:srgbClr val="EA4335"/>
                        </a:solidFill>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189500">
                <a:tc>
                  <a:txBody>
                    <a:bodyPr/>
                    <a:lstStyle/>
                    <a:p>
                      <a:pPr marL="0" lvl="0" indent="0" algn="ctr" rtl="0">
                        <a:lnSpc>
                          <a:spcPct val="115000"/>
                        </a:lnSpc>
                        <a:spcBef>
                          <a:spcPts val="0"/>
                        </a:spcBef>
                        <a:spcAft>
                          <a:spcPts val="0"/>
                        </a:spcAft>
                        <a:buNone/>
                      </a:pPr>
                      <a:r>
                        <a:rPr lang="en" sz="700">
                          <a:solidFill>
                            <a:srgbClr val="EA4335"/>
                          </a:solidFill>
                          <a:latin typeface="Lexend"/>
                          <a:ea typeface="Lexend"/>
                          <a:cs typeface="Lexend"/>
                          <a:sym typeface="Lexend"/>
                        </a:rPr>
                        <a:t>-1.25%</a:t>
                      </a:r>
                      <a:endParaRPr sz="700">
                        <a:solidFill>
                          <a:srgbClr val="EA4335"/>
                        </a:solidFill>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r h="189500">
                <a:tc>
                  <a:txBody>
                    <a:bodyPr/>
                    <a:lstStyle/>
                    <a:p>
                      <a:pPr marL="0" lvl="0" indent="0" algn="ctr" rtl="0">
                        <a:lnSpc>
                          <a:spcPct val="115000"/>
                        </a:lnSpc>
                        <a:spcBef>
                          <a:spcPts val="0"/>
                        </a:spcBef>
                        <a:spcAft>
                          <a:spcPts val="0"/>
                        </a:spcAft>
                        <a:buNone/>
                      </a:pPr>
                      <a:r>
                        <a:rPr lang="en" sz="700">
                          <a:solidFill>
                            <a:srgbClr val="EA4335"/>
                          </a:solidFill>
                          <a:latin typeface="Lexend"/>
                          <a:ea typeface="Lexend"/>
                          <a:cs typeface="Lexend"/>
                          <a:sym typeface="Lexend"/>
                        </a:rPr>
                        <a:t>-2.95%</a:t>
                      </a:r>
                      <a:endParaRPr sz="700">
                        <a:solidFill>
                          <a:srgbClr val="EA4335"/>
                        </a:solidFill>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extLst>
                  <a:ext uri="{0D108BD9-81ED-4DB2-BD59-A6C34878D82A}">
                    <a16:rowId xmlns:a16="http://schemas.microsoft.com/office/drawing/2014/main" val="10005"/>
                  </a:ext>
                </a:extLst>
              </a:tr>
              <a:tr h="189500">
                <a:tc>
                  <a:txBody>
                    <a:bodyPr/>
                    <a:lstStyle/>
                    <a:p>
                      <a:pPr marL="0" lvl="0" indent="0" algn="ctr" rtl="0">
                        <a:lnSpc>
                          <a:spcPct val="115000"/>
                        </a:lnSpc>
                        <a:spcBef>
                          <a:spcPts val="0"/>
                        </a:spcBef>
                        <a:spcAft>
                          <a:spcPts val="0"/>
                        </a:spcAft>
                        <a:buNone/>
                      </a:pPr>
                      <a:r>
                        <a:rPr lang="en" sz="700">
                          <a:solidFill>
                            <a:srgbClr val="34A853"/>
                          </a:solidFill>
                          <a:latin typeface="Lexend"/>
                          <a:ea typeface="Lexend"/>
                          <a:cs typeface="Lexend"/>
                          <a:sym typeface="Lexend"/>
                        </a:rPr>
                        <a:t>3.42%</a:t>
                      </a:r>
                      <a:endParaRPr sz="700">
                        <a:solidFill>
                          <a:srgbClr val="34A853"/>
                        </a:solidFill>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
        <p:nvSpPr>
          <p:cNvPr id="793" name="Google Shape;793;p62"/>
          <p:cNvSpPr txBox="1"/>
          <p:nvPr/>
        </p:nvSpPr>
        <p:spPr>
          <a:xfrm>
            <a:off x="395125" y="663875"/>
            <a:ext cx="8284200" cy="192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00" i="1">
                <a:latin typeface="Lexend"/>
                <a:ea typeface="Lexend"/>
                <a:cs typeface="Lexend"/>
                <a:sym typeface="Lexend"/>
              </a:rPr>
              <a:t>Coverage continues to expand in key HAN routes and SGN Zones 1–2, while HAN Z24 and SGN Zones 3–5 remain key areas for improvement</a:t>
            </a:r>
            <a:endParaRPr sz="900" i="1">
              <a:latin typeface="Lexend"/>
              <a:ea typeface="Lexend"/>
              <a:cs typeface="Lexend"/>
              <a:sym typeface="Lexen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798"/>
        <p:cNvGrpSpPr/>
        <p:nvPr/>
      </p:nvGrpSpPr>
      <p:grpSpPr>
        <a:xfrm>
          <a:off x="0" y="0"/>
          <a:ext cx="0" cy="0"/>
          <a:chOff x="0" y="0"/>
          <a:chExt cx="0" cy="0"/>
        </a:xfrm>
      </p:grpSpPr>
      <p:sp>
        <p:nvSpPr>
          <p:cNvPr id="799" name="Google Shape;799;p63"/>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00" name="Google Shape;800;p63"/>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801" name="Google Shape;801;p63"/>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pic>
        <p:nvPicPr>
          <p:cNvPr id="802" name="Google Shape;802;p63" descr="preencoded.png"/>
          <p:cNvPicPr preferRelativeResize="0"/>
          <p:nvPr/>
        </p:nvPicPr>
        <p:blipFill rotWithShape="1">
          <a:blip r:embed="rId3">
            <a:alphaModFix/>
          </a:blip>
          <a:srcRect/>
          <a:stretch/>
        </p:blipFill>
        <p:spPr>
          <a:xfrm>
            <a:off x="365760" y="337820"/>
            <a:ext cx="274320" cy="274320"/>
          </a:xfrm>
          <a:prstGeom prst="rect">
            <a:avLst/>
          </a:prstGeom>
          <a:noFill/>
          <a:ln>
            <a:noFill/>
          </a:ln>
        </p:spPr>
      </p:pic>
      <p:sp>
        <p:nvSpPr>
          <p:cNvPr id="803" name="Google Shape;803;p63"/>
          <p:cNvSpPr/>
          <p:nvPr/>
        </p:nvSpPr>
        <p:spPr>
          <a:xfrm>
            <a:off x="731520" y="2646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i="0" u="none" strike="noStrike" cap="none">
                <a:solidFill>
                  <a:srgbClr val="0E4174"/>
                </a:solidFill>
                <a:latin typeface="Lexend"/>
                <a:ea typeface="Lexend"/>
                <a:cs typeface="Lexend"/>
                <a:sym typeface="Lexend"/>
              </a:rPr>
              <a:t>MiniHub</a:t>
            </a:r>
            <a:r>
              <a:rPr lang="en" sz="2200" b="1">
                <a:solidFill>
                  <a:srgbClr val="0E4174"/>
                </a:solidFill>
                <a:latin typeface="Lexend"/>
                <a:ea typeface="Lexend"/>
                <a:cs typeface="Lexend"/>
                <a:sym typeface="Lexend"/>
              </a:rPr>
              <a:t> </a:t>
            </a:r>
            <a:r>
              <a:rPr lang="en" sz="2200" b="1" i="0" u="none" strike="noStrike" cap="none">
                <a:solidFill>
                  <a:srgbClr val="0E4174"/>
                </a:solidFill>
                <a:latin typeface="Lexend"/>
                <a:ea typeface="Lexend"/>
                <a:cs typeface="Lexend"/>
                <a:sym typeface="Lexend"/>
              </a:rPr>
              <a:t>- </a:t>
            </a:r>
            <a:r>
              <a:rPr lang="en" sz="2200" b="1">
                <a:solidFill>
                  <a:srgbClr val="F56C1F"/>
                </a:solidFill>
                <a:latin typeface="Lexend"/>
                <a:ea typeface="Lexend"/>
                <a:cs typeface="Lexend"/>
                <a:sym typeface="Lexend"/>
              </a:rPr>
              <a:t>DRIVER IN-OUT FUNNEL</a:t>
            </a:r>
            <a:endParaRPr sz="2200" b="1" i="0" u="none" strike="noStrike" cap="none">
              <a:solidFill>
                <a:srgbClr val="F56C1F"/>
              </a:solidFill>
              <a:latin typeface="Lexend"/>
              <a:ea typeface="Lexend"/>
              <a:cs typeface="Lexend"/>
              <a:sym typeface="Lexend"/>
            </a:endParaRPr>
          </a:p>
        </p:txBody>
      </p:sp>
      <p:graphicFrame>
        <p:nvGraphicFramePr>
          <p:cNvPr id="804" name="Google Shape;804;p63"/>
          <p:cNvGraphicFramePr/>
          <p:nvPr/>
        </p:nvGraphicFramePr>
        <p:xfrm>
          <a:off x="4570025" y="1031847"/>
          <a:ext cx="3000000" cy="3000000"/>
        </p:xfrm>
        <a:graphic>
          <a:graphicData uri="http://schemas.openxmlformats.org/drawingml/2006/table">
            <a:tbl>
              <a:tblPr>
                <a:noFill/>
                <a:tableStyleId>{98498B5D-82F5-4DDD-BB04-C168985C330A}</a:tableStyleId>
              </a:tblPr>
              <a:tblGrid>
                <a:gridCol w="598750">
                  <a:extLst>
                    <a:ext uri="{9D8B030D-6E8A-4147-A177-3AD203B41FA5}">
                      <a16:colId xmlns:a16="http://schemas.microsoft.com/office/drawing/2014/main" val="20000"/>
                    </a:ext>
                  </a:extLst>
                </a:gridCol>
                <a:gridCol w="426875">
                  <a:extLst>
                    <a:ext uri="{9D8B030D-6E8A-4147-A177-3AD203B41FA5}">
                      <a16:colId xmlns:a16="http://schemas.microsoft.com/office/drawing/2014/main" val="20001"/>
                    </a:ext>
                  </a:extLst>
                </a:gridCol>
                <a:gridCol w="378775">
                  <a:extLst>
                    <a:ext uri="{9D8B030D-6E8A-4147-A177-3AD203B41FA5}">
                      <a16:colId xmlns:a16="http://schemas.microsoft.com/office/drawing/2014/main" val="20002"/>
                    </a:ext>
                  </a:extLst>
                </a:gridCol>
                <a:gridCol w="402825">
                  <a:extLst>
                    <a:ext uri="{9D8B030D-6E8A-4147-A177-3AD203B41FA5}">
                      <a16:colId xmlns:a16="http://schemas.microsoft.com/office/drawing/2014/main" val="20003"/>
                    </a:ext>
                  </a:extLst>
                </a:gridCol>
                <a:gridCol w="456975">
                  <a:extLst>
                    <a:ext uri="{9D8B030D-6E8A-4147-A177-3AD203B41FA5}">
                      <a16:colId xmlns:a16="http://schemas.microsoft.com/office/drawing/2014/main" val="20004"/>
                    </a:ext>
                  </a:extLst>
                </a:gridCol>
                <a:gridCol w="469025">
                  <a:extLst>
                    <a:ext uri="{9D8B030D-6E8A-4147-A177-3AD203B41FA5}">
                      <a16:colId xmlns:a16="http://schemas.microsoft.com/office/drawing/2014/main" val="20005"/>
                    </a:ext>
                  </a:extLst>
                </a:gridCol>
                <a:gridCol w="463000">
                  <a:extLst>
                    <a:ext uri="{9D8B030D-6E8A-4147-A177-3AD203B41FA5}">
                      <a16:colId xmlns:a16="http://schemas.microsoft.com/office/drawing/2014/main" val="20006"/>
                    </a:ext>
                  </a:extLst>
                </a:gridCol>
                <a:gridCol w="475000">
                  <a:extLst>
                    <a:ext uri="{9D8B030D-6E8A-4147-A177-3AD203B41FA5}">
                      <a16:colId xmlns:a16="http://schemas.microsoft.com/office/drawing/2014/main" val="20007"/>
                    </a:ext>
                  </a:extLst>
                </a:gridCol>
                <a:gridCol w="601350">
                  <a:extLst>
                    <a:ext uri="{9D8B030D-6E8A-4147-A177-3AD203B41FA5}">
                      <a16:colId xmlns:a16="http://schemas.microsoft.com/office/drawing/2014/main" val="20008"/>
                    </a:ext>
                  </a:extLst>
                </a:gridCol>
              </a:tblGrid>
              <a:tr h="427975">
                <a:tc>
                  <a:txBody>
                    <a:bodyPr/>
                    <a:lstStyle/>
                    <a:p>
                      <a:pPr marL="0" lvl="0" indent="0" algn="ctr" rtl="0">
                        <a:lnSpc>
                          <a:spcPct val="115000"/>
                        </a:lnSpc>
                        <a:spcBef>
                          <a:spcPts val="0"/>
                        </a:spcBef>
                        <a:spcAft>
                          <a:spcPts val="0"/>
                        </a:spcAft>
                        <a:buNone/>
                      </a:pPr>
                      <a:r>
                        <a:rPr lang="en" sz="700" b="1">
                          <a:solidFill>
                            <a:srgbClr val="FFFFFF"/>
                          </a:solidFill>
                          <a:latin typeface="Lexend"/>
                          <a:ea typeface="Lexend"/>
                          <a:cs typeface="Lexend"/>
                          <a:sym typeface="Lexend"/>
                        </a:rPr>
                        <a:t>Tuần (bắt đầu T2)</a:t>
                      </a:r>
                      <a:endParaRPr sz="700" b="1">
                        <a:solidFill>
                          <a:srgbClr val="FFFFFF"/>
                        </a:solidFill>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solidFill>
                      <a:srgbClr val="1C4587"/>
                    </a:solidFill>
                  </a:tcPr>
                </a:tc>
                <a:tc>
                  <a:txBody>
                    <a:bodyPr/>
                    <a:lstStyle/>
                    <a:p>
                      <a:pPr marL="0" lvl="0" indent="0" algn="ctr" rtl="0">
                        <a:lnSpc>
                          <a:spcPct val="115000"/>
                        </a:lnSpc>
                        <a:spcBef>
                          <a:spcPts val="0"/>
                        </a:spcBef>
                        <a:spcAft>
                          <a:spcPts val="0"/>
                        </a:spcAft>
                        <a:buNone/>
                      </a:pPr>
                      <a:r>
                        <a:rPr lang="en" sz="700" b="1">
                          <a:solidFill>
                            <a:srgbClr val="FFFFFF"/>
                          </a:solidFill>
                          <a:latin typeface="Lexend"/>
                          <a:ea typeface="Lexend"/>
                          <a:cs typeface="Lexend"/>
                          <a:sym typeface="Lexend"/>
                        </a:rPr>
                        <a:t>City</a:t>
                      </a:r>
                      <a:endParaRPr sz="700" b="1">
                        <a:solidFill>
                          <a:srgbClr val="FFFFFF"/>
                        </a:solidFill>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solidFill>
                      <a:srgbClr val="1C4587"/>
                    </a:solidFill>
                  </a:tcPr>
                </a:tc>
                <a:tc>
                  <a:txBody>
                    <a:bodyPr/>
                    <a:lstStyle/>
                    <a:p>
                      <a:pPr marL="0" lvl="0" indent="0" algn="ctr" rtl="0">
                        <a:lnSpc>
                          <a:spcPct val="115000"/>
                        </a:lnSpc>
                        <a:spcBef>
                          <a:spcPts val="0"/>
                        </a:spcBef>
                        <a:spcAft>
                          <a:spcPts val="0"/>
                        </a:spcAft>
                        <a:buNone/>
                      </a:pPr>
                      <a:r>
                        <a:rPr lang="en" sz="700" b="1">
                          <a:solidFill>
                            <a:srgbClr val="FFFFFF"/>
                          </a:solidFill>
                          <a:latin typeface="Lexend"/>
                          <a:ea typeface="Lexend"/>
                          <a:cs typeface="Lexend"/>
                          <a:sym typeface="Lexend"/>
                        </a:rPr>
                        <a:t>New</a:t>
                      </a:r>
                      <a:endParaRPr sz="700" b="1">
                        <a:solidFill>
                          <a:srgbClr val="FFFFFF"/>
                        </a:solidFill>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solidFill>
                      <a:srgbClr val="1C4587"/>
                    </a:solidFill>
                  </a:tcPr>
                </a:tc>
                <a:tc>
                  <a:txBody>
                    <a:bodyPr/>
                    <a:lstStyle/>
                    <a:p>
                      <a:pPr marL="0" lvl="0" indent="0" algn="ctr" rtl="0">
                        <a:lnSpc>
                          <a:spcPct val="115000"/>
                        </a:lnSpc>
                        <a:spcBef>
                          <a:spcPts val="0"/>
                        </a:spcBef>
                        <a:spcAft>
                          <a:spcPts val="0"/>
                        </a:spcAft>
                        <a:buNone/>
                      </a:pPr>
                      <a:r>
                        <a:rPr lang="en" sz="700" b="1">
                          <a:solidFill>
                            <a:srgbClr val="FFFFFF"/>
                          </a:solidFill>
                          <a:latin typeface="Lexend"/>
                          <a:ea typeface="Lexend"/>
                          <a:cs typeface="Lexend"/>
                          <a:sym typeface="Lexend"/>
                        </a:rPr>
                        <a:t>Rejoin</a:t>
                      </a:r>
                      <a:endParaRPr sz="700" b="1">
                        <a:solidFill>
                          <a:srgbClr val="FFFFFF"/>
                        </a:solidFill>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solidFill>
                      <a:srgbClr val="1C4587"/>
                    </a:solidFill>
                  </a:tcPr>
                </a:tc>
                <a:tc>
                  <a:txBody>
                    <a:bodyPr/>
                    <a:lstStyle/>
                    <a:p>
                      <a:pPr marL="0" lvl="0" indent="0" algn="ctr" rtl="0">
                        <a:lnSpc>
                          <a:spcPct val="115000"/>
                        </a:lnSpc>
                        <a:spcBef>
                          <a:spcPts val="0"/>
                        </a:spcBef>
                        <a:spcAft>
                          <a:spcPts val="0"/>
                        </a:spcAft>
                        <a:buNone/>
                      </a:pPr>
                      <a:r>
                        <a:rPr lang="en" sz="700" b="1">
                          <a:solidFill>
                            <a:srgbClr val="FFFFFF"/>
                          </a:solidFill>
                          <a:latin typeface="Lexend"/>
                          <a:ea typeface="Lexend"/>
                          <a:cs typeface="Lexend"/>
                          <a:sym typeface="Lexend"/>
                        </a:rPr>
                        <a:t>Tổng vào (In)</a:t>
                      </a:r>
                      <a:endParaRPr sz="700" b="1">
                        <a:solidFill>
                          <a:srgbClr val="FFFFFF"/>
                        </a:solidFill>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solidFill>
                      <a:srgbClr val="1C4587"/>
                    </a:solidFill>
                  </a:tcPr>
                </a:tc>
                <a:tc>
                  <a:txBody>
                    <a:bodyPr/>
                    <a:lstStyle/>
                    <a:p>
                      <a:pPr marL="0" lvl="0" indent="0" algn="ctr" rtl="0">
                        <a:lnSpc>
                          <a:spcPct val="115000"/>
                        </a:lnSpc>
                        <a:spcBef>
                          <a:spcPts val="0"/>
                        </a:spcBef>
                        <a:spcAft>
                          <a:spcPts val="0"/>
                        </a:spcAft>
                        <a:buNone/>
                      </a:pPr>
                      <a:r>
                        <a:rPr lang="en" sz="700" b="1">
                          <a:solidFill>
                            <a:srgbClr val="FFFFFF"/>
                          </a:solidFill>
                          <a:latin typeface="Lexend"/>
                          <a:ea typeface="Lexend"/>
                          <a:cs typeface="Lexend"/>
                          <a:sym typeface="Lexend"/>
                        </a:rPr>
                        <a:t>Out</a:t>
                      </a:r>
                      <a:endParaRPr sz="700" b="1">
                        <a:solidFill>
                          <a:srgbClr val="FFFFFF"/>
                        </a:solidFill>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solidFill>
                      <a:srgbClr val="1C4587"/>
                    </a:solidFill>
                  </a:tcPr>
                </a:tc>
                <a:tc>
                  <a:txBody>
                    <a:bodyPr/>
                    <a:lstStyle/>
                    <a:p>
                      <a:pPr marL="0" lvl="0" indent="0" algn="ctr" rtl="0">
                        <a:lnSpc>
                          <a:spcPct val="115000"/>
                        </a:lnSpc>
                        <a:spcBef>
                          <a:spcPts val="0"/>
                        </a:spcBef>
                        <a:spcAft>
                          <a:spcPts val="0"/>
                        </a:spcAft>
                        <a:buNone/>
                      </a:pPr>
                      <a:r>
                        <a:rPr lang="en" sz="700" b="1">
                          <a:solidFill>
                            <a:srgbClr val="FFFFFF"/>
                          </a:solidFill>
                          <a:latin typeface="Lexend"/>
                          <a:ea typeface="Lexend"/>
                          <a:cs typeface="Lexend"/>
                          <a:sym typeface="Lexend"/>
                        </a:rPr>
                        <a:t>Net (In-Out)</a:t>
                      </a:r>
                      <a:endParaRPr sz="700" b="1">
                        <a:solidFill>
                          <a:srgbClr val="FFFFFF"/>
                        </a:solidFill>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solidFill>
                      <a:srgbClr val="1C4587"/>
                    </a:solidFill>
                  </a:tcPr>
                </a:tc>
                <a:tc>
                  <a:txBody>
                    <a:bodyPr/>
                    <a:lstStyle/>
                    <a:p>
                      <a:pPr marL="0" lvl="0" indent="0" algn="ctr" rtl="0">
                        <a:lnSpc>
                          <a:spcPct val="115000"/>
                        </a:lnSpc>
                        <a:spcBef>
                          <a:spcPts val="0"/>
                        </a:spcBef>
                        <a:spcAft>
                          <a:spcPts val="0"/>
                        </a:spcAft>
                        <a:buNone/>
                      </a:pPr>
                      <a:r>
                        <a:rPr lang="en" sz="700" b="1">
                          <a:solidFill>
                            <a:srgbClr val="FFFFFF"/>
                          </a:solidFill>
                          <a:latin typeface="Lexend"/>
                          <a:ea typeface="Lexend"/>
                          <a:cs typeface="Lexend"/>
                          <a:sym typeface="Lexend"/>
                        </a:rPr>
                        <a:t>Total cộng dồn</a:t>
                      </a:r>
                      <a:endParaRPr sz="700" b="1">
                        <a:solidFill>
                          <a:srgbClr val="FFFFFF"/>
                        </a:solidFill>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solidFill>
                      <a:srgbClr val="1C4587"/>
                    </a:solidFill>
                  </a:tcPr>
                </a:tc>
                <a:tc>
                  <a:txBody>
                    <a:bodyPr/>
                    <a:lstStyle/>
                    <a:p>
                      <a:pPr marL="0" lvl="0" indent="0" algn="ctr" rtl="0">
                        <a:lnSpc>
                          <a:spcPct val="115000"/>
                        </a:lnSpc>
                        <a:spcBef>
                          <a:spcPts val="0"/>
                        </a:spcBef>
                        <a:spcAft>
                          <a:spcPts val="0"/>
                        </a:spcAft>
                        <a:buNone/>
                      </a:pPr>
                      <a:r>
                        <a:rPr lang="en" sz="700" b="1">
                          <a:solidFill>
                            <a:srgbClr val="FFFFFF"/>
                          </a:solidFill>
                          <a:latin typeface="Lexend"/>
                          <a:ea typeface="Lexend"/>
                          <a:cs typeface="Lexend"/>
                          <a:sym typeface="Lexend"/>
                        </a:rPr>
                        <a:t>Balance Ratio (In/Out)</a:t>
                      </a:r>
                      <a:endParaRPr sz="700" b="1">
                        <a:solidFill>
                          <a:srgbClr val="FFFFFF"/>
                        </a:solidFill>
                        <a:latin typeface="Lexend"/>
                        <a:ea typeface="Lexend"/>
                        <a:cs typeface="Lexend"/>
                        <a:sym typeface="Lexend"/>
                      </a:endParaRPr>
                    </a:p>
                  </a:txBody>
                  <a:tcPr marL="91425" marR="91425" marT="19050" marB="19050" anchor="ctr">
                    <a:lnL w="9525" cap="flat" cmpd="sng">
                      <a:solidFill>
                        <a:schemeClr val="accent3"/>
                      </a:solidFill>
                      <a:prstDash val="dot"/>
                      <a:round/>
                      <a:headEnd type="none" w="sm" len="sm"/>
                      <a:tailEnd type="none" w="sm" len="sm"/>
                    </a:lnL>
                    <a:lnR w="9525" cap="flat" cmpd="sng">
                      <a:solidFill>
                        <a:schemeClr val="accent3"/>
                      </a:solidFill>
                      <a:prstDash val="solid"/>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solidFill>
                      <a:srgbClr val="1C4587"/>
                    </a:solidFill>
                  </a:tcPr>
                </a:tc>
                <a:extLst>
                  <a:ext uri="{0D108BD9-81ED-4DB2-BD59-A6C34878D82A}">
                    <a16:rowId xmlns:a16="http://schemas.microsoft.com/office/drawing/2014/main" val="10000"/>
                  </a:ext>
                </a:extLst>
              </a:tr>
              <a:tr h="155800">
                <a:tc>
                  <a:txBody>
                    <a:bodyPr/>
                    <a:lstStyle/>
                    <a:p>
                      <a:pPr marL="0" lvl="0" indent="0" algn="r" rtl="0">
                        <a:lnSpc>
                          <a:spcPct val="115000"/>
                        </a:lnSpc>
                        <a:spcBef>
                          <a:spcPts val="0"/>
                        </a:spcBef>
                        <a:spcAft>
                          <a:spcPts val="0"/>
                        </a:spcAft>
                        <a:buNone/>
                      </a:pPr>
                      <a:r>
                        <a:rPr lang="en" sz="700">
                          <a:latin typeface="Lexend"/>
                          <a:ea typeface="Lexend"/>
                          <a:cs typeface="Lexend"/>
                          <a:sym typeface="Lexend"/>
                        </a:rPr>
                        <a:t>8/10/2026</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HAN</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12</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0</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12</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0</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12</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347</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extLst>
                  <a:ext uri="{0D108BD9-81ED-4DB2-BD59-A6C34878D82A}">
                    <a16:rowId xmlns:a16="http://schemas.microsoft.com/office/drawing/2014/main" val="10001"/>
                  </a:ext>
                </a:extLst>
              </a:tr>
              <a:tr h="155800">
                <a:tc>
                  <a:txBody>
                    <a:bodyPr/>
                    <a:lstStyle/>
                    <a:p>
                      <a:pPr marL="0" lvl="0" indent="0" algn="r" rtl="0">
                        <a:lnSpc>
                          <a:spcPct val="115000"/>
                        </a:lnSpc>
                        <a:spcBef>
                          <a:spcPts val="0"/>
                        </a:spcBef>
                        <a:spcAft>
                          <a:spcPts val="0"/>
                        </a:spcAft>
                        <a:buNone/>
                      </a:pPr>
                      <a:r>
                        <a:rPr lang="en" sz="700">
                          <a:latin typeface="Lexend"/>
                          <a:ea typeface="Lexend"/>
                          <a:cs typeface="Lexend"/>
                          <a:sym typeface="Lexend"/>
                        </a:rPr>
                        <a:t>8/10/2026</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SGN</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73</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2</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75</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11</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64</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275</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solidFill>
                            <a:srgbClr val="1B8A5A"/>
                          </a:solidFill>
                          <a:latin typeface="Lexend"/>
                          <a:ea typeface="Lexend"/>
                          <a:cs typeface="Lexend"/>
                          <a:sym typeface="Lexend"/>
                        </a:rPr>
                        <a:t>6.82</a:t>
                      </a:r>
                      <a:endParaRPr sz="700">
                        <a:solidFill>
                          <a:srgbClr val="1B8A5A"/>
                        </a:solidFill>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extLst>
                  <a:ext uri="{0D108BD9-81ED-4DB2-BD59-A6C34878D82A}">
                    <a16:rowId xmlns:a16="http://schemas.microsoft.com/office/drawing/2014/main" val="10002"/>
                  </a:ext>
                </a:extLst>
              </a:tr>
              <a:tr h="155800">
                <a:tc>
                  <a:txBody>
                    <a:bodyPr/>
                    <a:lstStyle/>
                    <a:p>
                      <a:pPr marL="0" lvl="0" indent="0" algn="r" rtl="0">
                        <a:lnSpc>
                          <a:spcPct val="115000"/>
                        </a:lnSpc>
                        <a:spcBef>
                          <a:spcPts val="0"/>
                        </a:spcBef>
                        <a:spcAft>
                          <a:spcPts val="0"/>
                        </a:spcAft>
                        <a:buNone/>
                      </a:pPr>
                      <a:r>
                        <a:rPr lang="en" sz="700">
                          <a:latin typeface="Lexend"/>
                          <a:ea typeface="Lexend"/>
                          <a:cs typeface="Lexend"/>
                          <a:sym typeface="Lexend"/>
                        </a:rPr>
                        <a:t>8/17/2026</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HAN</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14</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0</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14</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0</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14</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361</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endParaRPr sz="700">
                        <a:solidFill>
                          <a:srgbClr val="1B8A5A"/>
                        </a:solidFill>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extLst>
                  <a:ext uri="{0D108BD9-81ED-4DB2-BD59-A6C34878D82A}">
                    <a16:rowId xmlns:a16="http://schemas.microsoft.com/office/drawing/2014/main" val="10003"/>
                  </a:ext>
                </a:extLst>
              </a:tr>
              <a:tr h="155800">
                <a:tc>
                  <a:txBody>
                    <a:bodyPr/>
                    <a:lstStyle/>
                    <a:p>
                      <a:pPr marL="0" lvl="0" indent="0" algn="r" rtl="0">
                        <a:lnSpc>
                          <a:spcPct val="115000"/>
                        </a:lnSpc>
                        <a:spcBef>
                          <a:spcPts val="0"/>
                        </a:spcBef>
                        <a:spcAft>
                          <a:spcPts val="0"/>
                        </a:spcAft>
                        <a:buNone/>
                      </a:pPr>
                      <a:r>
                        <a:rPr lang="en" sz="700">
                          <a:latin typeface="Lexend"/>
                          <a:ea typeface="Lexend"/>
                          <a:cs typeface="Lexend"/>
                          <a:sym typeface="Lexend"/>
                        </a:rPr>
                        <a:t>8/17/2026</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SGN</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35</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10</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45</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44</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276</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solidFill>
                            <a:srgbClr val="1B8A5A"/>
                          </a:solidFill>
                          <a:latin typeface="Lexend"/>
                          <a:ea typeface="Lexend"/>
                          <a:cs typeface="Lexend"/>
                          <a:sym typeface="Lexend"/>
                        </a:rPr>
                        <a:t>1.02</a:t>
                      </a:r>
                      <a:endParaRPr sz="700">
                        <a:solidFill>
                          <a:srgbClr val="1B8A5A"/>
                        </a:solidFill>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extLst>
                  <a:ext uri="{0D108BD9-81ED-4DB2-BD59-A6C34878D82A}">
                    <a16:rowId xmlns:a16="http://schemas.microsoft.com/office/drawing/2014/main" val="10004"/>
                  </a:ext>
                </a:extLst>
              </a:tr>
              <a:tr h="155800">
                <a:tc>
                  <a:txBody>
                    <a:bodyPr/>
                    <a:lstStyle/>
                    <a:p>
                      <a:pPr marL="0" lvl="0" indent="0" algn="r" rtl="0">
                        <a:lnSpc>
                          <a:spcPct val="115000"/>
                        </a:lnSpc>
                        <a:spcBef>
                          <a:spcPts val="0"/>
                        </a:spcBef>
                        <a:spcAft>
                          <a:spcPts val="0"/>
                        </a:spcAft>
                        <a:buNone/>
                      </a:pPr>
                      <a:r>
                        <a:rPr lang="en" sz="700">
                          <a:latin typeface="Lexend"/>
                          <a:ea typeface="Lexend"/>
                          <a:cs typeface="Lexend"/>
                          <a:sym typeface="Lexend"/>
                        </a:rPr>
                        <a:t>8/24/2026</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HAN</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19</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0</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19</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255</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-236</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125</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solidFill>
                            <a:srgbClr val="DC2626"/>
                          </a:solidFill>
                          <a:latin typeface="Lexend"/>
                          <a:ea typeface="Lexend"/>
                          <a:cs typeface="Lexend"/>
                          <a:sym typeface="Lexend"/>
                        </a:rPr>
                        <a:t>0.07</a:t>
                      </a:r>
                      <a:endParaRPr sz="700">
                        <a:solidFill>
                          <a:srgbClr val="DC2626"/>
                        </a:solidFill>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extLst>
                  <a:ext uri="{0D108BD9-81ED-4DB2-BD59-A6C34878D82A}">
                    <a16:rowId xmlns:a16="http://schemas.microsoft.com/office/drawing/2014/main" val="10005"/>
                  </a:ext>
                </a:extLst>
              </a:tr>
              <a:tr h="155800">
                <a:tc>
                  <a:txBody>
                    <a:bodyPr/>
                    <a:lstStyle/>
                    <a:p>
                      <a:pPr marL="0" lvl="0" indent="0" algn="r" rtl="0">
                        <a:lnSpc>
                          <a:spcPct val="115000"/>
                        </a:lnSpc>
                        <a:spcBef>
                          <a:spcPts val="0"/>
                        </a:spcBef>
                        <a:spcAft>
                          <a:spcPts val="0"/>
                        </a:spcAft>
                        <a:buNone/>
                      </a:pPr>
                      <a:r>
                        <a:rPr lang="en" sz="700">
                          <a:latin typeface="Lexend"/>
                          <a:ea typeface="Lexend"/>
                          <a:cs typeface="Lexend"/>
                          <a:sym typeface="Lexend"/>
                        </a:rPr>
                        <a:t>8/24/2026</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SGN</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75</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20</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95</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11</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84</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360</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700">
                          <a:solidFill>
                            <a:srgbClr val="1B8A5A"/>
                          </a:solidFill>
                          <a:latin typeface="Lexend"/>
                          <a:ea typeface="Lexend"/>
                          <a:cs typeface="Lexend"/>
                          <a:sym typeface="Lexend"/>
                        </a:rPr>
                        <a:t>8.64</a:t>
                      </a:r>
                      <a:endParaRPr sz="700">
                        <a:solidFill>
                          <a:srgbClr val="1B8A5A"/>
                        </a:solidFill>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tcPr>
                </a:tc>
                <a:extLst>
                  <a:ext uri="{0D108BD9-81ED-4DB2-BD59-A6C34878D82A}">
                    <a16:rowId xmlns:a16="http://schemas.microsoft.com/office/drawing/2014/main" val="10006"/>
                  </a:ext>
                </a:extLst>
              </a:tr>
              <a:tr h="155800">
                <a:tc>
                  <a:txBody>
                    <a:bodyPr/>
                    <a:lstStyle/>
                    <a:p>
                      <a:pPr marL="0" lvl="0" indent="0" algn="r" rtl="0">
                        <a:lnSpc>
                          <a:spcPct val="115000"/>
                        </a:lnSpc>
                        <a:spcBef>
                          <a:spcPts val="0"/>
                        </a:spcBef>
                        <a:spcAft>
                          <a:spcPts val="0"/>
                        </a:spcAft>
                        <a:buNone/>
                      </a:pPr>
                      <a:r>
                        <a:rPr lang="en" sz="700">
                          <a:latin typeface="Lexend"/>
                          <a:ea typeface="Lexend"/>
                          <a:cs typeface="Lexend"/>
                          <a:sym typeface="Lexend"/>
                        </a:rPr>
                        <a:t>8/31/2026</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HAN</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7</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2</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10</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124</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solidFill>
                      <a:srgbClr val="D9EAD3"/>
                    </a:solidFill>
                  </a:tcPr>
                </a:tc>
                <a:tc>
                  <a:txBody>
                    <a:bodyPr/>
                    <a:lstStyle/>
                    <a:p>
                      <a:pPr marL="0" lvl="0" indent="0" algn="ctr" rtl="0">
                        <a:spcBef>
                          <a:spcPts val="0"/>
                        </a:spcBef>
                        <a:spcAft>
                          <a:spcPts val="0"/>
                        </a:spcAft>
                        <a:buNone/>
                      </a:pPr>
                      <a:r>
                        <a:rPr lang="en" sz="700">
                          <a:solidFill>
                            <a:srgbClr val="DC2626"/>
                          </a:solidFill>
                          <a:latin typeface="Lexend"/>
                          <a:ea typeface="Lexend"/>
                          <a:cs typeface="Lexend"/>
                          <a:sym typeface="Lexend"/>
                        </a:rPr>
                        <a:t>0.9</a:t>
                      </a:r>
                      <a:endParaRPr sz="700">
                        <a:solidFill>
                          <a:srgbClr val="DC2626"/>
                        </a:solidFill>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solidFill>
                      <a:srgbClr val="D9EAD3"/>
                    </a:solidFill>
                  </a:tcPr>
                </a:tc>
                <a:extLst>
                  <a:ext uri="{0D108BD9-81ED-4DB2-BD59-A6C34878D82A}">
                    <a16:rowId xmlns:a16="http://schemas.microsoft.com/office/drawing/2014/main" val="10007"/>
                  </a:ext>
                </a:extLst>
              </a:tr>
              <a:tr h="155800">
                <a:tc>
                  <a:txBody>
                    <a:bodyPr/>
                    <a:lstStyle/>
                    <a:p>
                      <a:pPr marL="0" lvl="0" indent="0" algn="r" rtl="0">
                        <a:lnSpc>
                          <a:spcPct val="115000"/>
                        </a:lnSpc>
                        <a:spcBef>
                          <a:spcPts val="0"/>
                        </a:spcBef>
                        <a:spcAft>
                          <a:spcPts val="0"/>
                        </a:spcAft>
                        <a:buNone/>
                      </a:pPr>
                      <a:r>
                        <a:rPr lang="en" sz="700">
                          <a:latin typeface="Lexend"/>
                          <a:ea typeface="Lexend"/>
                          <a:cs typeface="Lexend"/>
                          <a:sym typeface="Lexend"/>
                        </a:rPr>
                        <a:t>8/31/2026</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SGN</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53</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62</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85</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-23</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337</a:t>
                      </a:r>
                      <a:endParaRPr sz="700">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solidFill>
                      <a:srgbClr val="D9EAD3"/>
                    </a:solidFill>
                  </a:tcPr>
                </a:tc>
                <a:tc>
                  <a:txBody>
                    <a:bodyPr/>
                    <a:lstStyle/>
                    <a:p>
                      <a:pPr marL="0" lvl="0" indent="0" algn="ctr" rtl="0">
                        <a:spcBef>
                          <a:spcPts val="0"/>
                        </a:spcBef>
                        <a:spcAft>
                          <a:spcPts val="0"/>
                        </a:spcAft>
                        <a:buNone/>
                      </a:pPr>
                      <a:r>
                        <a:rPr lang="en" sz="700">
                          <a:solidFill>
                            <a:srgbClr val="DC2626"/>
                          </a:solidFill>
                          <a:latin typeface="Lexend"/>
                          <a:ea typeface="Lexend"/>
                          <a:cs typeface="Lexend"/>
                          <a:sym typeface="Lexend"/>
                        </a:rPr>
                        <a:t>0.73</a:t>
                      </a:r>
                      <a:endParaRPr sz="700">
                        <a:solidFill>
                          <a:srgbClr val="DC2626"/>
                        </a:solidFill>
                        <a:latin typeface="Lexend"/>
                        <a:ea typeface="Lexend"/>
                        <a:cs typeface="Lexend"/>
                        <a:sym typeface="Lexend"/>
                      </a:endParaRPr>
                    </a:p>
                  </a:txBody>
                  <a:tcPr marL="28575" marR="28575" marT="19050" marB="19050" anchor="ctr">
                    <a:lnL w="9525" cap="flat" cmpd="sng">
                      <a:solidFill>
                        <a:schemeClr val="accent3"/>
                      </a:solidFill>
                      <a:prstDash val="dot"/>
                      <a:round/>
                      <a:headEnd type="none" w="sm" len="sm"/>
                      <a:tailEnd type="none" w="sm" len="sm"/>
                    </a:lnL>
                    <a:lnR w="9525" cap="flat" cmpd="sng">
                      <a:solidFill>
                        <a:schemeClr val="accent3"/>
                      </a:solidFill>
                      <a:prstDash val="dot"/>
                      <a:round/>
                      <a:headEnd type="none" w="sm" len="sm"/>
                      <a:tailEnd type="none" w="sm" len="sm"/>
                    </a:lnR>
                    <a:lnT w="9525" cap="flat" cmpd="sng">
                      <a:solidFill>
                        <a:schemeClr val="accent3"/>
                      </a:solidFill>
                      <a:prstDash val="dot"/>
                      <a:round/>
                      <a:headEnd type="none" w="sm" len="sm"/>
                      <a:tailEnd type="none" w="sm" len="sm"/>
                    </a:lnT>
                    <a:lnB w="9525" cap="flat" cmpd="sng">
                      <a:solidFill>
                        <a:schemeClr val="accent3"/>
                      </a:solidFill>
                      <a:prstDash val="dot"/>
                      <a:round/>
                      <a:headEnd type="none" w="sm" len="sm"/>
                      <a:tailEnd type="none" w="sm" len="sm"/>
                    </a:lnB>
                    <a:solidFill>
                      <a:srgbClr val="D9EAD3"/>
                    </a:solidFill>
                  </a:tcPr>
                </a:tc>
                <a:extLst>
                  <a:ext uri="{0D108BD9-81ED-4DB2-BD59-A6C34878D82A}">
                    <a16:rowId xmlns:a16="http://schemas.microsoft.com/office/drawing/2014/main" val="10008"/>
                  </a:ext>
                </a:extLst>
              </a:tr>
            </a:tbl>
          </a:graphicData>
        </a:graphic>
      </p:graphicFrame>
      <p:sp>
        <p:nvSpPr>
          <p:cNvPr id="805" name="Google Shape;805;p63"/>
          <p:cNvSpPr/>
          <p:nvPr/>
        </p:nvSpPr>
        <p:spPr>
          <a:xfrm>
            <a:off x="957775" y="984250"/>
            <a:ext cx="3441900" cy="19914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63"/>
          <p:cNvSpPr/>
          <p:nvPr/>
        </p:nvSpPr>
        <p:spPr>
          <a:xfrm>
            <a:off x="365742" y="973650"/>
            <a:ext cx="548700" cy="1991400"/>
          </a:xfrm>
          <a:prstGeom prst="rect">
            <a:avLst/>
          </a:prstGeom>
          <a:solidFill>
            <a:srgbClr val="0B467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latin typeface="Lexend"/>
                <a:ea typeface="Lexend"/>
                <a:cs typeface="Lexend"/>
                <a:sym typeface="Lexend"/>
              </a:rPr>
              <a:t>HAN</a:t>
            </a:r>
            <a:endParaRPr sz="1200" b="1">
              <a:solidFill>
                <a:schemeClr val="lt1"/>
              </a:solidFill>
              <a:latin typeface="Lexend"/>
              <a:ea typeface="Lexend"/>
              <a:cs typeface="Lexend"/>
              <a:sym typeface="Lexend"/>
            </a:endParaRPr>
          </a:p>
        </p:txBody>
      </p:sp>
      <p:sp>
        <p:nvSpPr>
          <p:cNvPr id="807" name="Google Shape;807;p63"/>
          <p:cNvSpPr/>
          <p:nvPr/>
        </p:nvSpPr>
        <p:spPr>
          <a:xfrm>
            <a:off x="957775" y="3091225"/>
            <a:ext cx="3441900" cy="19914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63"/>
          <p:cNvSpPr/>
          <p:nvPr/>
        </p:nvSpPr>
        <p:spPr>
          <a:xfrm>
            <a:off x="369667" y="3080625"/>
            <a:ext cx="548700" cy="2004600"/>
          </a:xfrm>
          <a:prstGeom prst="rect">
            <a:avLst/>
          </a:prstGeom>
          <a:solidFill>
            <a:srgbClr val="0B467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latin typeface="Lexend"/>
                <a:ea typeface="Lexend"/>
                <a:cs typeface="Lexend"/>
                <a:sym typeface="Lexend"/>
              </a:rPr>
              <a:t>SGN</a:t>
            </a:r>
            <a:endParaRPr sz="1200" b="1">
              <a:solidFill>
                <a:schemeClr val="lt1"/>
              </a:solidFill>
              <a:latin typeface="Lexend"/>
              <a:ea typeface="Lexend"/>
              <a:cs typeface="Lexend"/>
              <a:sym typeface="Lexend"/>
            </a:endParaRPr>
          </a:p>
        </p:txBody>
      </p:sp>
      <p:pic>
        <p:nvPicPr>
          <p:cNvPr id="809" name="Google Shape;809;p63" title="Chart"/>
          <p:cNvPicPr preferRelativeResize="0"/>
          <p:nvPr/>
        </p:nvPicPr>
        <p:blipFill>
          <a:blip r:embed="rId4">
            <a:alphaModFix/>
          </a:blip>
          <a:stretch>
            <a:fillRect/>
          </a:stretch>
        </p:blipFill>
        <p:spPr>
          <a:xfrm>
            <a:off x="1015263" y="974642"/>
            <a:ext cx="3326915" cy="2057375"/>
          </a:xfrm>
          <a:prstGeom prst="rect">
            <a:avLst/>
          </a:prstGeom>
          <a:noFill/>
          <a:ln>
            <a:noFill/>
          </a:ln>
        </p:spPr>
      </p:pic>
      <p:pic>
        <p:nvPicPr>
          <p:cNvPr id="810" name="Google Shape;810;p63" title="Chart"/>
          <p:cNvPicPr preferRelativeResize="0"/>
          <p:nvPr/>
        </p:nvPicPr>
        <p:blipFill>
          <a:blip r:embed="rId5">
            <a:alphaModFix/>
          </a:blip>
          <a:stretch>
            <a:fillRect/>
          </a:stretch>
        </p:blipFill>
        <p:spPr>
          <a:xfrm>
            <a:off x="1015275" y="3029454"/>
            <a:ext cx="3380973" cy="2090840"/>
          </a:xfrm>
          <a:prstGeom prst="rect">
            <a:avLst/>
          </a:prstGeom>
          <a:noFill/>
          <a:ln>
            <a:noFill/>
          </a:ln>
        </p:spPr>
      </p:pic>
      <p:sp>
        <p:nvSpPr>
          <p:cNvPr id="811" name="Google Shape;811;p63"/>
          <p:cNvSpPr/>
          <p:nvPr/>
        </p:nvSpPr>
        <p:spPr>
          <a:xfrm>
            <a:off x="4646690" y="3231125"/>
            <a:ext cx="4224300" cy="1806600"/>
          </a:xfrm>
          <a:prstGeom prst="rect">
            <a:avLst/>
          </a:prstGeom>
          <a:solidFill>
            <a:srgbClr val="F4F6F9"/>
          </a:solidFill>
          <a:ln>
            <a:noFill/>
          </a:ln>
        </p:spPr>
        <p:txBody>
          <a:bodyPr spcFirstLastPara="1" wrap="square" lIns="57925" tIns="57925" rIns="57925" bIns="57925" anchor="t" anchorCtr="0">
            <a:noAutofit/>
          </a:bodyPr>
          <a:lstStyle/>
          <a:p>
            <a:pPr marL="0" lvl="0" indent="0" algn="l" rtl="0">
              <a:lnSpc>
                <a:spcPct val="115000"/>
              </a:lnSpc>
              <a:spcBef>
                <a:spcPts val="0"/>
              </a:spcBef>
              <a:spcAft>
                <a:spcPts val="0"/>
              </a:spcAft>
              <a:buNone/>
            </a:pPr>
            <a:r>
              <a:rPr lang="en" sz="800">
                <a:solidFill>
                  <a:srgbClr val="F66600"/>
                </a:solidFill>
                <a:latin typeface="Lexend"/>
                <a:ea typeface="Lexend"/>
                <a:cs typeface="Lexend"/>
                <a:sym typeface="Lexend"/>
              </a:rPr>
              <a:t>HIGHLIGHT</a:t>
            </a:r>
            <a:endParaRPr sz="800">
              <a:solidFill>
                <a:srgbClr val="F66600"/>
              </a:solidFill>
              <a:latin typeface="Lexend"/>
              <a:ea typeface="Lexend"/>
              <a:cs typeface="Lexend"/>
              <a:sym typeface="Lexend"/>
            </a:endParaRPr>
          </a:p>
          <a:p>
            <a:pPr marL="0" lvl="0" indent="0" algn="l" rtl="0">
              <a:lnSpc>
                <a:spcPct val="115000"/>
              </a:lnSpc>
              <a:spcBef>
                <a:spcPts val="0"/>
              </a:spcBef>
              <a:spcAft>
                <a:spcPts val="0"/>
              </a:spcAft>
              <a:buNone/>
            </a:pPr>
            <a:endParaRPr sz="800">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Cả 2 city đều có số lượng tài xế out ra cao hơn tài xế join vào</a:t>
            </a:r>
            <a:endParaRPr sz="800">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Balance ration HAN chỉ đạt 0.9 và SGN chỉ đạt 0.73, cho thấy 1 tài xế out ra thì cả 2 city đều không tuyển lại đủ 1 số xế thay thế</a:t>
            </a:r>
            <a:endParaRPr sz="800">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HAN có sự tăng trưởng hơn WoW, ngược lại SGN có sự sụt giảm WoW</a:t>
            </a:r>
            <a:endParaRPr sz="800">
              <a:latin typeface="Lexend"/>
              <a:ea typeface="Lexend"/>
              <a:cs typeface="Lexend"/>
              <a:sym typeface="Lexend"/>
            </a:endParaRPr>
          </a:p>
          <a:p>
            <a:pPr marL="0" lvl="0" indent="0" algn="l" rtl="0">
              <a:lnSpc>
                <a:spcPct val="115000"/>
              </a:lnSpc>
              <a:spcBef>
                <a:spcPts val="0"/>
              </a:spcBef>
              <a:spcAft>
                <a:spcPts val="0"/>
              </a:spcAft>
              <a:buNone/>
            </a:pPr>
            <a:endParaRPr sz="800">
              <a:latin typeface="Lexend"/>
              <a:ea typeface="Lexend"/>
              <a:cs typeface="Lexend"/>
              <a:sym typeface="Lexend"/>
            </a:endParaRPr>
          </a:p>
          <a:p>
            <a:pPr marL="0" lvl="0" indent="0" algn="l" rtl="0">
              <a:lnSpc>
                <a:spcPct val="115000"/>
              </a:lnSpc>
              <a:spcBef>
                <a:spcPts val="0"/>
              </a:spcBef>
              <a:spcAft>
                <a:spcPts val="0"/>
              </a:spcAft>
              <a:buNone/>
            </a:pPr>
            <a:r>
              <a:rPr lang="en" sz="800">
                <a:solidFill>
                  <a:srgbClr val="F56C1F"/>
                </a:solidFill>
                <a:latin typeface="Lexend"/>
                <a:ea typeface="Lexend"/>
                <a:cs typeface="Lexend"/>
                <a:sym typeface="Lexend"/>
              </a:rPr>
              <a:t>KEY TAKEAWAY:</a:t>
            </a:r>
            <a:r>
              <a:rPr lang="en" sz="800">
                <a:latin typeface="Lexend"/>
                <a:ea typeface="Lexend"/>
                <a:cs typeface="Lexend"/>
                <a:sym typeface="Lexend"/>
              </a:rPr>
              <a:t> Cả 2 city cần focus on driver retention &amp; acquisition</a:t>
            </a:r>
            <a:endParaRPr sz="800">
              <a:latin typeface="Lexend"/>
              <a:ea typeface="Lexend"/>
              <a:cs typeface="Lexend"/>
              <a:sym typeface="Lexend"/>
            </a:endParaRPr>
          </a:p>
        </p:txBody>
      </p:sp>
      <p:sp>
        <p:nvSpPr>
          <p:cNvPr id="812" name="Google Shape;812;p63"/>
          <p:cNvSpPr/>
          <p:nvPr/>
        </p:nvSpPr>
        <p:spPr>
          <a:xfrm>
            <a:off x="4570025" y="3231125"/>
            <a:ext cx="76500" cy="1806600"/>
          </a:xfrm>
          <a:prstGeom prst="rect">
            <a:avLst/>
          </a:prstGeom>
          <a:solidFill>
            <a:srgbClr val="FF7F32"/>
          </a:solidFill>
          <a:ln>
            <a:noFill/>
          </a:ln>
        </p:spPr>
        <p:txBody>
          <a:bodyPr spcFirstLastPara="1" wrap="square" lIns="57925" tIns="57925" rIns="57925" bIns="57925" anchor="ctr" anchorCtr="0">
            <a:noAutofit/>
          </a:bodyPr>
          <a:lstStyle/>
          <a:p>
            <a:pPr marL="0" lvl="0" indent="0" algn="l" rtl="0">
              <a:spcBef>
                <a:spcPts val="0"/>
              </a:spcBef>
              <a:spcAft>
                <a:spcPts val="0"/>
              </a:spcAft>
              <a:buNone/>
            </a:pPr>
            <a:endParaRPr/>
          </a:p>
        </p:txBody>
      </p:sp>
      <p:sp>
        <p:nvSpPr>
          <p:cNvPr id="813" name="Google Shape;813;p63"/>
          <p:cNvSpPr txBox="1"/>
          <p:nvPr/>
        </p:nvSpPr>
        <p:spPr>
          <a:xfrm>
            <a:off x="4570000" y="2786255"/>
            <a:ext cx="4272600" cy="4116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500">
                <a:latin typeface="Lexend"/>
                <a:ea typeface="Lexend"/>
                <a:cs typeface="Lexend"/>
                <a:sym typeface="Lexend"/>
              </a:rPr>
              <a:t>**Balance Ratio = Tổng vào (In) / Out. Là tỷ lệ giữa số vào (New+Rejoin) và số ra (Out) trong cùng 1 tuần</a:t>
            </a:r>
            <a:br>
              <a:rPr lang="en" sz="500">
                <a:latin typeface="Lexend"/>
                <a:ea typeface="Lexend"/>
                <a:cs typeface="Lexend"/>
                <a:sym typeface="Lexend"/>
              </a:rPr>
            </a:br>
            <a:r>
              <a:rPr lang="en" sz="500">
                <a:latin typeface="Lexend"/>
                <a:ea typeface="Lexend"/>
                <a:cs typeface="Lexend"/>
                <a:sym typeface="Lexend"/>
              </a:rPr>
              <a:t>**Total cộng dồn = Total tài xế tuần trước + Net (In - Out) tuần này. Là tổng số tài xế trong mô hình tính lũy kế đến hết tuần đó</a:t>
            </a:r>
            <a:endParaRPr sz="500">
              <a:latin typeface="Lexend"/>
              <a:ea typeface="Lexend"/>
              <a:cs typeface="Lexend"/>
              <a:sym typeface="Lexend"/>
            </a:endParaRPr>
          </a:p>
        </p:txBody>
      </p:sp>
      <p:sp>
        <p:nvSpPr>
          <p:cNvPr id="814" name="Google Shape;814;p63"/>
          <p:cNvSpPr txBox="1"/>
          <p:nvPr/>
        </p:nvSpPr>
        <p:spPr>
          <a:xfrm>
            <a:off x="280800" y="656809"/>
            <a:ext cx="8823900" cy="197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i="1">
                <a:latin typeface="Lexend"/>
                <a:ea typeface="Lexend"/>
                <a:cs typeface="Lexend"/>
                <a:sym typeface="Lexend"/>
              </a:rPr>
              <a:t>Both HAN &amp; SGN are experiencing net driver outflow, with Balance Ratio falling below 1.0x — highlighting the need to strengthen driver acquisition and retention</a:t>
            </a:r>
            <a:endParaRPr sz="800" i="1">
              <a:latin typeface="Lexend"/>
              <a:ea typeface="Lexend"/>
              <a:cs typeface="Lexend"/>
              <a:sym typeface="Lexen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819"/>
        <p:cNvGrpSpPr/>
        <p:nvPr/>
      </p:nvGrpSpPr>
      <p:grpSpPr>
        <a:xfrm>
          <a:off x="0" y="0"/>
          <a:ext cx="0" cy="0"/>
          <a:chOff x="0" y="0"/>
          <a:chExt cx="0" cy="0"/>
        </a:xfrm>
      </p:grpSpPr>
      <p:sp>
        <p:nvSpPr>
          <p:cNvPr id="820" name="Google Shape;820;p64"/>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21" name="Google Shape;821;p64"/>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822" name="Google Shape;822;p64"/>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pic>
        <p:nvPicPr>
          <p:cNvPr id="823" name="Google Shape;823;p64" descr="preencoded.png"/>
          <p:cNvPicPr preferRelativeResize="0"/>
          <p:nvPr/>
        </p:nvPicPr>
        <p:blipFill rotWithShape="1">
          <a:blip r:embed="rId3">
            <a:alphaModFix/>
          </a:blip>
          <a:srcRect/>
          <a:stretch/>
        </p:blipFill>
        <p:spPr>
          <a:xfrm>
            <a:off x="365760" y="337820"/>
            <a:ext cx="274320" cy="274320"/>
          </a:xfrm>
          <a:prstGeom prst="rect">
            <a:avLst/>
          </a:prstGeom>
          <a:noFill/>
          <a:ln>
            <a:noFill/>
          </a:ln>
        </p:spPr>
      </p:pic>
      <p:sp>
        <p:nvSpPr>
          <p:cNvPr id="824" name="Google Shape;824;p64"/>
          <p:cNvSpPr/>
          <p:nvPr/>
        </p:nvSpPr>
        <p:spPr>
          <a:xfrm>
            <a:off x="731520" y="2646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i="0" u="none" strike="noStrike" cap="none">
                <a:solidFill>
                  <a:srgbClr val="0E4174"/>
                </a:solidFill>
                <a:latin typeface="Lexend"/>
                <a:ea typeface="Lexend"/>
                <a:cs typeface="Lexend"/>
                <a:sym typeface="Lexend"/>
              </a:rPr>
              <a:t>MiniHub</a:t>
            </a:r>
            <a:r>
              <a:rPr lang="en" sz="2200" b="1">
                <a:solidFill>
                  <a:srgbClr val="0E4174"/>
                </a:solidFill>
                <a:latin typeface="Lexend"/>
                <a:ea typeface="Lexend"/>
                <a:cs typeface="Lexend"/>
                <a:sym typeface="Lexend"/>
              </a:rPr>
              <a:t> </a:t>
            </a:r>
            <a:r>
              <a:rPr lang="en" sz="2200" b="1" i="0" u="none" strike="noStrike" cap="none">
                <a:solidFill>
                  <a:srgbClr val="0E4174"/>
                </a:solidFill>
                <a:latin typeface="Lexend"/>
                <a:ea typeface="Lexend"/>
                <a:cs typeface="Lexend"/>
                <a:sym typeface="Lexend"/>
              </a:rPr>
              <a:t>- </a:t>
            </a:r>
            <a:r>
              <a:rPr lang="en" sz="2200" b="1">
                <a:solidFill>
                  <a:srgbClr val="F56C1F"/>
                </a:solidFill>
                <a:latin typeface="Lexend"/>
                <a:ea typeface="Lexend"/>
                <a:cs typeface="Lexend"/>
                <a:sym typeface="Lexend"/>
              </a:rPr>
              <a:t>EARNING PER HOUR</a:t>
            </a:r>
            <a:endParaRPr sz="2200" b="1" i="0" u="none" strike="noStrike" cap="none">
              <a:solidFill>
                <a:srgbClr val="F56C1F"/>
              </a:solidFill>
              <a:latin typeface="Lexend"/>
              <a:ea typeface="Lexend"/>
              <a:cs typeface="Lexend"/>
              <a:sym typeface="Lexend"/>
            </a:endParaRPr>
          </a:p>
        </p:txBody>
      </p:sp>
      <p:sp>
        <p:nvSpPr>
          <p:cNvPr id="825" name="Google Shape;825;p64"/>
          <p:cNvSpPr/>
          <p:nvPr/>
        </p:nvSpPr>
        <p:spPr>
          <a:xfrm>
            <a:off x="957775" y="3091225"/>
            <a:ext cx="4495200" cy="19914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64"/>
          <p:cNvSpPr/>
          <p:nvPr/>
        </p:nvSpPr>
        <p:spPr>
          <a:xfrm>
            <a:off x="957775" y="984250"/>
            <a:ext cx="4495200" cy="19914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64"/>
          <p:cNvSpPr/>
          <p:nvPr/>
        </p:nvSpPr>
        <p:spPr>
          <a:xfrm>
            <a:off x="365742" y="973650"/>
            <a:ext cx="548700" cy="1991400"/>
          </a:xfrm>
          <a:prstGeom prst="rect">
            <a:avLst/>
          </a:prstGeom>
          <a:solidFill>
            <a:srgbClr val="0B467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latin typeface="Lexend"/>
                <a:ea typeface="Lexend"/>
                <a:cs typeface="Lexend"/>
                <a:sym typeface="Lexend"/>
              </a:rPr>
              <a:t>HAN</a:t>
            </a:r>
            <a:endParaRPr sz="1200" b="1">
              <a:solidFill>
                <a:schemeClr val="lt1"/>
              </a:solidFill>
              <a:latin typeface="Lexend"/>
              <a:ea typeface="Lexend"/>
              <a:cs typeface="Lexend"/>
              <a:sym typeface="Lexend"/>
            </a:endParaRPr>
          </a:p>
        </p:txBody>
      </p:sp>
      <p:sp>
        <p:nvSpPr>
          <p:cNvPr id="828" name="Google Shape;828;p64"/>
          <p:cNvSpPr/>
          <p:nvPr/>
        </p:nvSpPr>
        <p:spPr>
          <a:xfrm>
            <a:off x="369667" y="3080625"/>
            <a:ext cx="548700" cy="2004600"/>
          </a:xfrm>
          <a:prstGeom prst="rect">
            <a:avLst/>
          </a:prstGeom>
          <a:solidFill>
            <a:srgbClr val="0B467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latin typeface="Lexend"/>
                <a:ea typeface="Lexend"/>
                <a:cs typeface="Lexend"/>
                <a:sym typeface="Lexend"/>
              </a:rPr>
              <a:t>SGN</a:t>
            </a:r>
            <a:endParaRPr sz="1200" b="1">
              <a:solidFill>
                <a:schemeClr val="lt1"/>
              </a:solidFill>
              <a:latin typeface="Lexend"/>
              <a:ea typeface="Lexend"/>
              <a:cs typeface="Lexend"/>
              <a:sym typeface="Lexend"/>
            </a:endParaRPr>
          </a:p>
        </p:txBody>
      </p:sp>
      <p:cxnSp>
        <p:nvCxnSpPr>
          <p:cNvPr id="829" name="Google Shape;829;p64"/>
          <p:cNvCxnSpPr/>
          <p:nvPr/>
        </p:nvCxnSpPr>
        <p:spPr>
          <a:xfrm rot="10800000" flipH="1">
            <a:off x="381000" y="3032625"/>
            <a:ext cx="5084400" cy="4800"/>
          </a:xfrm>
          <a:prstGeom prst="straightConnector1">
            <a:avLst/>
          </a:prstGeom>
          <a:noFill/>
          <a:ln w="9525" cap="flat" cmpd="sng">
            <a:solidFill>
              <a:srgbClr val="0E4174"/>
            </a:solidFill>
            <a:prstDash val="dash"/>
            <a:round/>
            <a:headEnd type="none" w="med" len="med"/>
            <a:tailEnd type="none" w="med" len="med"/>
          </a:ln>
        </p:spPr>
      </p:cxnSp>
      <p:sp>
        <p:nvSpPr>
          <p:cNvPr id="830" name="Google Shape;830;p64"/>
          <p:cNvSpPr/>
          <p:nvPr/>
        </p:nvSpPr>
        <p:spPr>
          <a:xfrm>
            <a:off x="5614664" y="1010700"/>
            <a:ext cx="3175800" cy="4026900"/>
          </a:xfrm>
          <a:prstGeom prst="rect">
            <a:avLst/>
          </a:prstGeom>
          <a:solidFill>
            <a:srgbClr val="F4F6F9"/>
          </a:solidFill>
          <a:ln>
            <a:noFill/>
          </a:ln>
        </p:spPr>
        <p:txBody>
          <a:bodyPr spcFirstLastPara="1" wrap="square" lIns="57925" tIns="57925" rIns="57925" bIns="57925" anchor="t" anchorCtr="0">
            <a:noAutofit/>
          </a:bodyPr>
          <a:lstStyle/>
          <a:p>
            <a:pPr marL="0" lvl="0" indent="0" algn="l" rtl="0">
              <a:lnSpc>
                <a:spcPct val="115000"/>
              </a:lnSpc>
              <a:spcBef>
                <a:spcPts val="0"/>
              </a:spcBef>
              <a:spcAft>
                <a:spcPts val="0"/>
              </a:spcAft>
              <a:buNone/>
            </a:pPr>
            <a:r>
              <a:rPr lang="en" sz="800">
                <a:solidFill>
                  <a:srgbClr val="F66600"/>
                </a:solidFill>
                <a:latin typeface="Lexend"/>
                <a:ea typeface="Lexend"/>
                <a:cs typeface="Lexend"/>
                <a:sym typeface="Lexend"/>
              </a:rPr>
              <a:t>HIGHLIGHT</a:t>
            </a:r>
            <a:endParaRPr sz="800">
              <a:solidFill>
                <a:srgbClr val="F66600"/>
              </a:solidFill>
              <a:latin typeface="Lexend"/>
              <a:ea typeface="Lexend"/>
              <a:cs typeface="Lexend"/>
              <a:sym typeface="Lexend"/>
            </a:endParaRPr>
          </a:p>
          <a:p>
            <a:pPr marL="0" lvl="0" indent="0" algn="l" rtl="0">
              <a:lnSpc>
                <a:spcPct val="115000"/>
              </a:lnSpc>
              <a:spcBef>
                <a:spcPts val="0"/>
              </a:spcBef>
              <a:spcAft>
                <a:spcPts val="0"/>
              </a:spcAft>
              <a:buNone/>
            </a:pPr>
            <a:endParaRPr sz="800">
              <a:latin typeface="Lexend"/>
              <a:ea typeface="Lexend"/>
              <a:cs typeface="Lexend"/>
              <a:sym typeface="Lexend"/>
            </a:endParaRPr>
          </a:p>
          <a:p>
            <a:pPr marL="0" lvl="0" indent="0" algn="l" rtl="0">
              <a:lnSpc>
                <a:spcPct val="115000"/>
              </a:lnSpc>
              <a:spcBef>
                <a:spcPts val="0"/>
              </a:spcBef>
              <a:spcAft>
                <a:spcPts val="0"/>
              </a:spcAft>
              <a:buNone/>
            </a:pPr>
            <a:r>
              <a:rPr lang="en" sz="800" b="1">
                <a:latin typeface="Lexend"/>
                <a:ea typeface="Lexend"/>
                <a:cs typeface="Lexend"/>
                <a:sym typeface="Lexend"/>
              </a:rPr>
              <a:t>HAN:</a:t>
            </a:r>
            <a:endParaRPr sz="800" b="1">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EPH tuần 24/8 đi ngang so với WoW</a:t>
            </a:r>
            <a:endParaRPr sz="800">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Tỷ lệ surge giá vẫn duy trì</a:t>
            </a:r>
            <a:endParaRPr sz="800">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EPH cao nhất đạt 84K tại zone TX</a:t>
            </a:r>
            <a:endParaRPr sz="800">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Các zone còn lại duy trì trên mức 59K</a:t>
            </a:r>
            <a:endParaRPr sz="800">
              <a:latin typeface="Lexend"/>
              <a:ea typeface="Lexend"/>
              <a:cs typeface="Lexend"/>
              <a:sym typeface="Lexend"/>
            </a:endParaRPr>
          </a:p>
          <a:p>
            <a:pPr marL="0" lvl="0" indent="0" algn="l" rtl="0">
              <a:lnSpc>
                <a:spcPct val="115000"/>
              </a:lnSpc>
              <a:spcBef>
                <a:spcPts val="0"/>
              </a:spcBef>
              <a:spcAft>
                <a:spcPts val="0"/>
              </a:spcAft>
              <a:buNone/>
            </a:pPr>
            <a:endParaRPr sz="800">
              <a:latin typeface="Lexend"/>
              <a:ea typeface="Lexend"/>
              <a:cs typeface="Lexend"/>
              <a:sym typeface="Lexend"/>
            </a:endParaRPr>
          </a:p>
          <a:p>
            <a:pPr marL="0" lvl="0" indent="0" algn="l" rtl="0">
              <a:lnSpc>
                <a:spcPct val="115000"/>
              </a:lnSpc>
              <a:spcBef>
                <a:spcPts val="0"/>
              </a:spcBef>
              <a:spcAft>
                <a:spcPts val="0"/>
              </a:spcAft>
              <a:buNone/>
            </a:pPr>
            <a:endParaRPr sz="800">
              <a:latin typeface="Lexend"/>
              <a:ea typeface="Lexend"/>
              <a:cs typeface="Lexend"/>
              <a:sym typeface="Lexend"/>
            </a:endParaRPr>
          </a:p>
          <a:p>
            <a:pPr marL="0" lvl="0" indent="0" algn="l" rtl="0">
              <a:lnSpc>
                <a:spcPct val="115000"/>
              </a:lnSpc>
              <a:spcBef>
                <a:spcPts val="0"/>
              </a:spcBef>
              <a:spcAft>
                <a:spcPts val="0"/>
              </a:spcAft>
              <a:buNone/>
            </a:pPr>
            <a:r>
              <a:rPr lang="en" sz="800" b="1">
                <a:latin typeface="Lexend"/>
                <a:ea typeface="Lexend"/>
                <a:cs typeface="Lexend"/>
                <a:sym typeface="Lexend"/>
              </a:rPr>
              <a:t>SGN:</a:t>
            </a:r>
            <a:endParaRPr sz="800" b="1">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EPH nhìn chung không có sự tăng trưởng mạnh mẽ ở hầu hết các zone</a:t>
            </a:r>
            <a:endParaRPr sz="800">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Riêng zone 6 vượt bậc, đạt 51.8K</a:t>
            </a:r>
            <a:endParaRPr sz="800">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Còn lại vẫn duy trình quanh mức 45 - 48K</a:t>
            </a:r>
            <a:endParaRPr sz="800">
              <a:latin typeface="Lexend"/>
              <a:ea typeface="Lexend"/>
              <a:cs typeface="Lexend"/>
              <a:sym typeface="Lexend"/>
            </a:endParaRPr>
          </a:p>
        </p:txBody>
      </p:sp>
      <p:sp>
        <p:nvSpPr>
          <p:cNvPr id="831" name="Google Shape;831;p64"/>
          <p:cNvSpPr/>
          <p:nvPr/>
        </p:nvSpPr>
        <p:spPr>
          <a:xfrm>
            <a:off x="5557026" y="1010700"/>
            <a:ext cx="57300" cy="4026900"/>
          </a:xfrm>
          <a:prstGeom prst="rect">
            <a:avLst/>
          </a:prstGeom>
          <a:solidFill>
            <a:srgbClr val="FF7F32"/>
          </a:solidFill>
          <a:ln>
            <a:noFill/>
          </a:ln>
        </p:spPr>
        <p:txBody>
          <a:bodyPr spcFirstLastPara="1" wrap="square" lIns="57925" tIns="57925" rIns="57925" bIns="57925" anchor="ctr" anchorCtr="0">
            <a:noAutofit/>
          </a:bodyPr>
          <a:lstStyle/>
          <a:p>
            <a:pPr marL="0" lvl="0" indent="0" algn="l" rtl="0">
              <a:spcBef>
                <a:spcPts val="0"/>
              </a:spcBef>
              <a:spcAft>
                <a:spcPts val="0"/>
              </a:spcAft>
              <a:buNone/>
            </a:pPr>
            <a:endParaRPr/>
          </a:p>
        </p:txBody>
      </p:sp>
      <p:pic>
        <p:nvPicPr>
          <p:cNvPr id="832" name="Google Shape;832;p64" title="Chart"/>
          <p:cNvPicPr preferRelativeResize="0"/>
          <p:nvPr/>
        </p:nvPicPr>
        <p:blipFill>
          <a:blip r:embed="rId4">
            <a:alphaModFix/>
          </a:blip>
          <a:stretch>
            <a:fillRect/>
          </a:stretch>
        </p:blipFill>
        <p:spPr>
          <a:xfrm>
            <a:off x="957850" y="1004325"/>
            <a:ext cx="4495040" cy="1951275"/>
          </a:xfrm>
          <a:prstGeom prst="rect">
            <a:avLst/>
          </a:prstGeom>
          <a:noFill/>
          <a:ln>
            <a:noFill/>
          </a:ln>
        </p:spPr>
      </p:pic>
      <p:pic>
        <p:nvPicPr>
          <p:cNvPr id="833" name="Google Shape;833;p64" title="Chart"/>
          <p:cNvPicPr preferRelativeResize="0"/>
          <p:nvPr/>
        </p:nvPicPr>
        <p:blipFill>
          <a:blip r:embed="rId5">
            <a:alphaModFix/>
          </a:blip>
          <a:stretch>
            <a:fillRect/>
          </a:stretch>
        </p:blipFill>
        <p:spPr>
          <a:xfrm>
            <a:off x="957775" y="3123210"/>
            <a:ext cx="4513802" cy="1959415"/>
          </a:xfrm>
          <a:prstGeom prst="rect">
            <a:avLst/>
          </a:prstGeom>
          <a:noFill/>
          <a:ln>
            <a:noFill/>
          </a:ln>
        </p:spPr>
      </p:pic>
      <p:sp>
        <p:nvSpPr>
          <p:cNvPr id="834" name="Google Shape;834;p64"/>
          <p:cNvSpPr txBox="1"/>
          <p:nvPr/>
        </p:nvSpPr>
        <p:spPr>
          <a:xfrm>
            <a:off x="383225" y="656825"/>
            <a:ext cx="8501700" cy="219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i="1">
                <a:latin typeface="Lexend"/>
                <a:ea typeface="Lexend"/>
                <a:cs typeface="Lexend"/>
                <a:sym typeface="Lexend"/>
              </a:rPr>
              <a:t>Earning per Hour remains broadly stable across both cities, with HAN maintaining a strong level led by TX, while SGN shows a notable improvement in Zone 6</a:t>
            </a:r>
            <a:endParaRPr sz="800" i="1">
              <a:latin typeface="Lexend"/>
              <a:ea typeface="Lexend"/>
              <a:cs typeface="Lexend"/>
              <a:sym typeface="Lexen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839"/>
        <p:cNvGrpSpPr/>
        <p:nvPr/>
      </p:nvGrpSpPr>
      <p:grpSpPr>
        <a:xfrm>
          <a:off x="0" y="0"/>
          <a:ext cx="0" cy="0"/>
          <a:chOff x="0" y="0"/>
          <a:chExt cx="0" cy="0"/>
        </a:xfrm>
      </p:grpSpPr>
      <p:sp>
        <p:nvSpPr>
          <p:cNvPr id="840" name="Google Shape;840;p65"/>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41" name="Google Shape;841;p65"/>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842" name="Google Shape;842;p65"/>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pic>
        <p:nvPicPr>
          <p:cNvPr id="843" name="Google Shape;843;p65" descr="preencoded.png"/>
          <p:cNvPicPr preferRelativeResize="0"/>
          <p:nvPr/>
        </p:nvPicPr>
        <p:blipFill rotWithShape="1">
          <a:blip r:embed="rId3">
            <a:alphaModFix/>
          </a:blip>
          <a:srcRect/>
          <a:stretch/>
        </p:blipFill>
        <p:spPr>
          <a:xfrm>
            <a:off x="365760" y="337820"/>
            <a:ext cx="274320" cy="274320"/>
          </a:xfrm>
          <a:prstGeom prst="rect">
            <a:avLst/>
          </a:prstGeom>
          <a:noFill/>
          <a:ln>
            <a:noFill/>
          </a:ln>
        </p:spPr>
      </p:pic>
      <p:sp>
        <p:nvSpPr>
          <p:cNvPr id="844" name="Google Shape;844;p65"/>
          <p:cNvSpPr/>
          <p:nvPr/>
        </p:nvSpPr>
        <p:spPr>
          <a:xfrm>
            <a:off x="731520" y="2646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i="0" u="none" strike="noStrike" cap="none">
                <a:solidFill>
                  <a:srgbClr val="0E4174"/>
                </a:solidFill>
                <a:latin typeface="Lexend"/>
                <a:ea typeface="Lexend"/>
                <a:cs typeface="Lexend"/>
                <a:sym typeface="Lexend"/>
              </a:rPr>
              <a:t>MiniHub</a:t>
            </a:r>
            <a:r>
              <a:rPr lang="en" sz="2200" b="1">
                <a:solidFill>
                  <a:srgbClr val="0E4174"/>
                </a:solidFill>
                <a:latin typeface="Lexend"/>
                <a:ea typeface="Lexend"/>
                <a:cs typeface="Lexend"/>
                <a:sym typeface="Lexend"/>
              </a:rPr>
              <a:t> </a:t>
            </a:r>
            <a:r>
              <a:rPr lang="en" sz="2200" b="1" i="0" u="none" strike="noStrike" cap="none">
                <a:solidFill>
                  <a:srgbClr val="0E4174"/>
                </a:solidFill>
                <a:latin typeface="Lexend"/>
                <a:ea typeface="Lexend"/>
                <a:cs typeface="Lexend"/>
                <a:sym typeface="Lexend"/>
              </a:rPr>
              <a:t>- </a:t>
            </a:r>
            <a:r>
              <a:rPr lang="en" sz="2200" b="1">
                <a:solidFill>
                  <a:srgbClr val="F56C1F"/>
                </a:solidFill>
                <a:latin typeface="Lexend"/>
                <a:ea typeface="Lexend"/>
                <a:cs typeface="Lexend"/>
                <a:sym typeface="Lexend"/>
              </a:rPr>
              <a:t>SANCTION</a:t>
            </a:r>
            <a:endParaRPr sz="2200" b="1" i="0" u="none" strike="noStrike" cap="none">
              <a:solidFill>
                <a:srgbClr val="F56C1F"/>
              </a:solidFill>
              <a:latin typeface="Lexend"/>
              <a:ea typeface="Lexend"/>
              <a:cs typeface="Lexend"/>
              <a:sym typeface="Lexend"/>
            </a:endParaRPr>
          </a:p>
        </p:txBody>
      </p:sp>
      <p:sp>
        <p:nvSpPr>
          <p:cNvPr id="845" name="Google Shape;845;p65"/>
          <p:cNvSpPr txBox="1"/>
          <p:nvPr/>
        </p:nvSpPr>
        <p:spPr>
          <a:xfrm>
            <a:off x="1299025" y="1971500"/>
            <a:ext cx="559800" cy="307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chemeClr val="lt1"/>
                </a:solidFill>
                <a:latin typeface="Lexend"/>
                <a:ea typeface="Lexend"/>
                <a:cs typeface="Lexend"/>
                <a:sym typeface="Lexend"/>
              </a:rPr>
              <a:t>88.41%</a:t>
            </a:r>
            <a:endParaRPr sz="800">
              <a:solidFill>
                <a:schemeClr val="lt1"/>
              </a:solidFill>
              <a:latin typeface="Lexend"/>
              <a:ea typeface="Lexend"/>
              <a:cs typeface="Lexend"/>
              <a:sym typeface="Lexend"/>
            </a:endParaRPr>
          </a:p>
        </p:txBody>
      </p:sp>
      <p:sp>
        <p:nvSpPr>
          <p:cNvPr id="846" name="Google Shape;846;p65"/>
          <p:cNvSpPr txBox="1"/>
          <p:nvPr/>
        </p:nvSpPr>
        <p:spPr>
          <a:xfrm>
            <a:off x="5912625" y="1971500"/>
            <a:ext cx="559800" cy="307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chemeClr val="lt1"/>
                </a:solidFill>
                <a:latin typeface="Lexend"/>
                <a:ea typeface="Lexend"/>
                <a:cs typeface="Lexend"/>
                <a:sym typeface="Lexend"/>
              </a:rPr>
              <a:t>2.95%</a:t>
            </a:r>
            <a:endParaRPr sz="800">
              <a:solidFill>
                <a:schemeClr val="lt1"/>
              </a:solidFill>
              <a:latin typeface="Lexend"/>
              <a:ea typeface="Lexend"/>
              <a:cs typeface="Lexend"/>
              <a:sym typeface="Lexend"/>
            </a:endParaRPr>
          </a:p>
        </p:txBody>
      </p:sp>
      <p:pic>
        <p:nvPicPr>
          <p:cNvPr id="847" name="Google Shape;847;p65"/>
          <p:cNvPicPr preferRelativeResize="0"/>
          <p:nvPr/>
        </p:nvPicPr>
        <p:blipFill>
          <a:blip r:embed="rId4">
            <a:alphaModFix/>
          </a:blip>
          <a:stretch>
            <a:fillRect/>
          </a:stretch>
        </p:blipFill>
        <p:spPr>
          <a:xfrm>
            <a:off x="2564279" y="910634"/>
            <a:ext cx="4182050" cy="175025"/>
          </a:xfrm>
          <a:prstGeom prst="rect">
            <a:avLst/>
          </a:prstGeom>
          <a:noFill/>
          <a:ln>
            <a:noFill/>
          </a:ln>
        </p:spPr>
      </p:pic>
      <p:pic>
        <p:nvPicPr>
          <p:cNvPr id="848" name="Google Shape;848;p65"/>
          <p:cNvPicPr preferRelativeResize="0"/>
          <p:nvPr/>
        </p:nvPicPr>
        <p:blipFill>
          <a:blip r:embed="rId5">
            <a:alphaModFix/>
          </a:blip>
          <a:stretch>
            <a:fillRect/>
          </a:stretch>
        </p:blipFill>
        <p:spPr>
          <a:xfrm>
            <a:off x="265239" y="1127614"/>
            <a:ext cx="4297616" cy="3061474"/>
          </a:xfrm>
          <a:prstGeom prst="rect">
            <a:avLst/>
          </a:prstGeom>
          <a:noFill/>
          <a:ln>
            <a:noFill/>
          </a:ln>
        </p:spPr>
      </p:pic>
      <p:pic>
        <p:nvPicPr>
          <p:cNvPr id="849" name="Google Shape;849;p65"/>
          <p:cNvPicPr preferRelativeResize="0"/>
          <p:nvPr/>
        </p:nvPicPr>
        <p:blipFill>
          <a:blip r:embed="rId6">
            <a:alphaModFix/>
          </a:blip>
          <a:stretch>
            <a:fillRect/>
          </a:stretch>
        </p:blipFill>
        <p:spPr>
          <a:xfrm>
            <a:off x="4679425" y="1127625"/>
            <a:ext cx="4182050" cy="3061474"/>
          </a:xfrm>
          <a:prstGeom prst="rect">
            <a:avLst/>
          </a:prstGeom>
          <a:noFill/>
          <a:ln>
            <a:noFill/>
          </a:ln>
        </p:spPr>
      </p:pic>
      <p:sp>
        <p:nvSpPr>
          <p:cNvPr id="850" name="Google Shape;850;p65"/>
          <p:cNvSpPr/>
          <p:nvPr/>
        </p:nvSpPr>
        <p:spPr>
          <a:xfrm>
            <a:off x="334501" y="4197550"/>
            <a:ext cx="4228500" cy="931200"/>
          </a:xfrm>
          <a:prstGeom prst="rect">
            <a:avLst/>
          </a:prstGeom>
          <a:solidFill>
            <a:srgbClr val="F4F6F9"/>
          </a:solidFill>
          <a:ln>
            <a:noFill/>
          </a:ln>
        </p:spPr>
        <p:txBody>
          <a:bodyPr spcFirstLastPara="1" wrap="square" lIns="57925" tIns="57925" rIns="57925" bIns="57925" anchor="t" anchorCtr="0">
            <a:noAutofit/>
          </a:bodyPr>
          <a:lstStyle/>
          <a:p>
            <a:pPr marL="0" lvl="0" indent="0" algn="l" rtl="0">
              <a:lnSpc>
                <a:spcPct val="115000"/>
              </a:lnSpc>
              <a:spcBef>
                <a:spcPts val="0"/>
              </a:spcBef>
              <a:spcAft>
                <a:spcPts val="0"/>
              </a:spcAft>
              <a:buNone/>
            </a:pPr>
            <a:r>
              <a:rPr lang="en" sz="800" b="1">
                <a:solidFill>
                  <a:srgbClr val="F66600"/>
                </a:solidFill>
                <a:latin typeface="Lexend"/>
                <a:ea typeface="Lexend"/>
                <a:cs typeface="Lexend"/>
                <a:sym typeface="Lexend"/>
              </a:rPr>
              <a:t>HIGHLIGHT</a:t>
            </a:r>
            <a:endParaRPr sz="800" b="1">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856 tài xế vi phạm 3rd_violation</a:t>
            </a:r>
            <a:endParaRPr sz="800">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2nd_violation tăng 94% (32 → 62), xu hướng tái phạm cao</a:t>
            </a:r>
            <a:endParaRPr sz="800">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Valid giảm nhẹ 7% (113 → 105)</a:t>
            </a:r>
            <a:endParaRPr sz="800">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First_week_minihub giảm mạnh (37 → 3) do lượng tài xế mới join mô hình thấp</a:t>
            </a:r>
            <a:endParaRPr sz="800">
              <a:latin typeface="Lexend"/>
              <a:ea typeface="Lexend"/>
              <a:cs typeface="Lexend"/>
              <a:sym typeface="Lexend"/>
            </a:endParaRPr>
          </a:p>
        </p:txBody>
      </p:sp>
      <p:sp>
        <p:nvSpPr>
          <p:cNvPr id="851" name="Google Shape;851;p65"/>
          <p:cNvSpPr/>
          <p:nvPr/>
        </p:nvSpPr>
        <p:spPr>
          <a:xfrm>
            <a:off x="265250" y="4197562"/>
            <a:ext cx="69000" cy="931200"/>
          </a:xfrm>
          <a:prstGeom prst="rect">
            <a:avLst/>
          </a:prstGeom>
          <a:solidFill>
            <a:srgbClr val="FF7F32"/>
          </a:solidFill>
          <a:ln>
            <a:noFill/>
          </a:ln>
        </p:spPr>
        <p:txBody>
          <a:bodyPr spcFirstLastPara="1" wrap="square" lIns="57925" tIns="57925" rIns="57925" bIns="57925" anchor="ctr" anchorCtr="0">
            <a:noAutofit/>
          </a:bodyPr>
          <a:lstStyle/>
          <a:p>
            <a:pPr marL="0" lvl="0" indent="0" algn="l" rtl="0">
              <a:spcBef>
                <a:spcPts val="0"/>
              </a:spcBef>
              <a:spcAft>
                <a:spcPts val="0"/>
              </a:spcAft>
              <a:buNone/>
            </a:pPr>
            <a:endParaRPr/>
          </a:p>
        </p:txBody>
      </p:sp>
      <p:sp>
        <p:nvSpPr>
          <p:cNvPr id="852" name="Google Shape;852;p65"/>
          <p:cNvSpPr/>
          <p:nvPr/>
        </p:nvSpPr>
        <p:spPr>
          <a:xfrm>
            <a:off x="4753975" y="4212300"/>
            <a:ext cx="4107600" cy="916500"/>
          </a:xfrm>
          <a:prstGeom prst="rect">
            <a:avLst/>
          </a:prstGeom>
          <a:solidFill>
            <a:srgbClr val="F4F6F9"/>
          </a:solidFill>
          <a:ln>
            <a:noFill/>
          </a:ln>
        </p:spPr>
        <p:txBody>
          <a:bodyPr spcFirstLastPara="1" wrap="square" lIns="57925" tIns="57925" rIns="57925" bIns="57925" anchor="t" anchorCtr="0">
            <a:noAutofit/>
          </a:bodyPr>
          <a:lstStyle/>
          <a:p>
            <a:pPr marL="0" lvl="0" indent="0" algn="l" rtl="0">
              <a:lnSpc>
                <a:spcPct val="115000"/>
              </a:lnSpc>
              <a:spcBef>
                <a:spcPts val="0"/>
              </a:spcBef>
              <a:spcAft>
                <a:spcPts val="0"/>
              </a:spcAft>
              <a:buNone/>
            </a:pPr>
            <a:r>
              <a:rPr lang="en" sz="800" b="1">
                <a:solidFill>
                  <a:srgbClr val="F66600"/>
                </a:solidFill>
                <a:latin typeface="Lexend"/>
                <a:ea typeface="Lexend"/>
                <a:cs typeface="Lexend"/>
                <a:sym typeface="Lexend"/>
              </a:rPr>
              <a:t>HIGHLIGHT</a:t>
            </a:r>
            <a:endParaRPr sz="800" b="1">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Valid tăng 5% (258 → 271), cho thấy duy trì tốt số lượng TX commit</a:t>
            </a:r>
            <a:endParaRPr sz="800">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1st_violation tăng 51% (71 → 107), cần focus prevention ngay từ tuần đầu tiên tham gia mô hình</a:t>
            </a:r>
            <a:endParaRPr sz="800">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In_sanction_2nd giảm mạnh 79% (140 → 30)</a:t>
            </a:r>
            <a:endParaRPr sz="800">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3rd_violation phát sinh 121 cases</a:t>
            </a:r>
            <a:endParaRPr sz="800">
              <a:latin typeface="Lexend"/>
              <a:ea typeface="Lexend"/>
              <a:cs typeface="Lexend"/>
              <a:sym typeface="Lexend"/>
            </a:endParaRPr>
          </a:p>
        </p:txBody>
      </p:sp>
      <p:sp>
        <p:nvSpPr>
          <p:cNvPr id="853" name="Google Shape;853;p65"/>
          <p:cNvSpPr/>
          <p:nvPr/>
        </p:nvSpPr>
        <p:spPr>
          <a:xfrm>
            <a:off x="4679426" y="4212300"/>
            <a:ext cx="74400" cy="931200"/>
          </a:xfrm>
          <a:prstGeom prst="rect">
            <a:avLst/>
          </a:prstGeom>
          <a:solidFill>
            <a:srgbClr val="FF7F32"/>
          </a:solidFill>
          <a:ln>
            <a:noFill/>
          </a:ln>
        </p:spPr>
        <p:txBody>
          <a:bodyPr spcFirstLastPara="1" wrap="square" lIns="57925" tIns="57925" rIns="57925" bIns="57925" anchor="ctr" anchorCtr="0">
            <a:noAutofit/>
          </a:bodyPr>
          <a:lstStyle/>
          <a:p>
            <a:pPr marL="0" lvl="0" indent="0" algn="l" rtl="0">
              <a:spcBef>
                <a:spcPts val="0"/>
              </a:spcBef>
              <a:spcAft>
                <a:spcPts val="0"/>
              </a:spcAft>
              <a:buNone/>
            </a:pPr>
            <a:endParaRPr/>
          </a:p>
        </p:txBody>
      </p:sp>
      <p:sp>
        <p:nvSpPr>
          <p:cNvPr id="854" name="Google Shape;854;p65"/>
          <p:cNvSpPr txBox="1"/>
          <p:nvPr/>
        </p:nvSpPr>
        <p:spPr>
          <a:xfrm>
            <a:off x="265240" y="1125096"/>
            <a:ext cx="683700" cy="274200"/>
          </a:xfrm>
          <a:prstGeom prst="rect">
            <a:avLst/>
          </a:prstGeom>
          <a:solidFill>
            <a:srgbClr val="0B467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latin typeface="Lexend"/>
                <a:ea typeface="Lexend"/>
                <a:cs typeface="Lexend"/>
                <a:sym typeface="Lexend"/>
              </a:rPr>
              <a:t>HAN</a:t>
            </a:r>
            <a:endParaRPr sz="1200" b="1">
              <a:solidFill>
                <a:schemeClr val="lt1"/>
              </a:solidFill>
              <a:latin typeface="Lexend"/>
              <a:ea typeface="Lexend"/>
              <a:cs typeface="Lexend"/>
              <a:sym typeface="Lexend"/>
            </a:endParaRPr>
          </a:p>
        </p:txBody>
      </p:sp>
      <p:sp>
        <p:nvSpPr>
          <p:cNvPr id="855" name="Google Shape;855;p65"/>
          <p:cNvSpPr txBox="1"/>
          <p:nvPr/>
        </p:nvSpPr>
        <p:spPr>
          <a:xfrm>
            <a:off x="4679430" y="1127594"/>
            <a:ext cx="683700" cy="274200"/>
          </a:xfrm>
          <a:prstGeom prst="rect">
            <a:avLst/>
          </a:prstGeom>
          <a:solidFill>
            <a:srgbClr val="0B467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latin typeface="Lexend"/>
                <a:ea typeface="Lexend"/>
                <a:cs typeface="Lexend"/>
                <a:sym typeface="Lexend"/>
              </a:rPr>
              <a:t>SGN</a:t>
            </a:r>
            <a:endParaRPr sz="1200" b="1">
              <a:solidFill>
                <a:schemeClr val="lt1"/>
              </a:solidFill>
              <a:latin typeface="Lexend"/>
              <a:ea typeface="Lexend"/>
              <a:cs typeface="Lexend"/>
              <a:sym typeface="Lexend"/>
            </a:endParaRPr>
          </a:p>
        </p:txBody>
      </p:sp>
      <p:sp>
        <p:nvSpPr>
          <p:cNvPr id="856" name="Google Shape;856;p65"/>
          <p:cNvSpPr txBox="1"/>
          <p:nvPr/>
        </p:nvSpPr>
        <p:spPr>
          <a:xfrm>
            <a:off x="388475" y="623950"/>
            <a:ext cx="8503800" cy="246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i="1">
                <a:latin typeface="Lexend"/>
                <a:ea typeface="Lexend"/>
                <a:cs typeface="Lexend"/>
                <a:sym typeface="Lexend"/>
              </a:rPr>
              <a:t>Sanction performance shows mixed trends — HAN faces a sharp increase in severe violations, while SGN maintains Valid growth but sees rising 1st &amp; 3rd violations, highlighting the need for stronger violation prevention across both cities</a:t>
            </a:r>
            <a:endParaRPr sz="800" i="1">
              <a:latin typeface="Lexend"/>
              <a:ea typeface="Lexend"/>
              <a:cs typeface="Lexend"/>
              <a:sym typeface="Lexen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861"/>
        <p:cNvGrpSpPr/>
        <p:nvPr/>
      </p:nvGrpSpPr>
      <p:grpSpPr>
        <a:xfrm>
          <a:off x="0" y="0"/>
          <a:ext cx="0" cy="0"/>
          <a:chOff x="0" y="0"/>
          <a:chExt cx="0" cy="0"/>
        </a:xfrm>
      </p:grpSpPr>
      <p:sp>
        <p:nvSpPr>
          <p:cNvPr id="862" name="Google Shape;862;p66"/>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63" name="Google Shape;863;p66"/>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864" name="Google Shape;864;p66"/>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pic>
        <p:nvPicPr>
          <p:cNvPr id="865" name="Google Shape;865;p66" descr="preencoded.png"/>
          <p:cNvPicPr preferRelativeResize="0"/>
          <p:nvPr/>
        </p:nvPicPr>
        <p:blipFill rotWithShape="1">
          <a:blip r:embed="rId3">
            <a:alphaModFix/>
          </a:blip>
          <a:srcRect/>
          <a:stretch/>
        </p:blipFill>
        <p:spPr>
          <a:xfrm>
            <a:off x="365760" y="337820"/>
            <a:ext cx="274320" cy="274320"/>
          </a:xfrm>
          <a:prstGeom prst="rect">
            <a:avLst/>
          </a:prstGeom>
          <a:noFill/>
          <a:ln>
            <a:noFill/>
          </a:ln>
        </p:spPr>
      </p:pic>
      <p:sp>
        <p:nvSpPr>
          <p:cNvPr id="866" name="Google Shape;866;p66"/>
          <p:cNvSpPr/>
          <p:nvPr/>
        </p:nvSpPr>
        <p:spPr>
          <a:xfrm>
            <a:off x="731520" y="2646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i="0" u="none" strike="noStrike" cap="none">
                <a:solidFill>
                  <a:srgbClr val="0E4174"/>
                </a:solidFill>
                <a:latin typeface="Lexend"/>
                <a:ea typeface="Lexend"/>
                <a:cs typeface="Lexend"/>
                <a:sym typeface="Lexend"/>
              </a:rPr>
              <a:t>MiniHub</a:t>
            </a:r>
            <a:r>
              <a:rPr lang="en" sz="2200" b="1">
                <a:solidFill>
                  <a:srgbClr val="0E4174"/>
                </a:solidFill>
                <a:latin typeface="Lexend"/>
                <a:ea typeface="Lexend"/>
                <a:cs typeface="Lexend"/>
                <a:sym typeface="Lexend"/>
              </a:rPr>
              <a:t> </a:t>
            </a:r>
            <a:r>
              <a:rPr lang="en" sz="2200" b="1" i="0" u="none" strike="noStrike" cap="none">
                <a:solidFill>
                  <a:srgbClr val="0E4174"/>
                </a:solidFill>
                <a:latin typeface="Lexend"/>
                <a:ea typeface="Lexend"/>
                <a:cs typeface="Lexend"/>
                <a:sym typeface="Lexend"/>
              </a:rPr>
              <a:t>- </a:t>
            </a:r>
            <a:r>
              <a:rPr lang="en" sz="2200" b="1">
                <a:solidFill>
                  <a:srgbClr val="F56C1F"/>
                </a:solidFill>
                <a:latin typeface="Lexend"/>
                <a:ea typeface="Lexend"/>
                <a:cs typeface="Lexend"/>
                <a:sym typeface="Lexend"/>
              </a:rPr>
              <a:t>SANCTION</a:t>
            </a:r>
            <a:endParaRPr sz="2200" b="1" i="0" u="none" strike="noStrike" cap="none">
              <a:solidFill>
                <a:srgbClr val="F56C1F"/>
              </a:solidFill>
              <a:latin typeface="Lexend"/>
              <a:ea typeface="Lexend"/>
              <a:cs typeface="Lexend"/>
              <a:sym typeface="Lexend"/>
            </a:endParaRPr>
          </a:p>
        </p:txBody>
      </p:sp>
      <p:sp>
        <p:nvSpPr>
          <p:cNvPr id="867" name="Google Shape;867;p66"/>
          <p:cNvSpPr/>
          <p:nvPr/>
        </p:nvSpPr>
        <p:spPr>
          <a:xfrm>
            <a:off x="5093818" y="3229507"/>
            <a:ext cx="3815400" cy="1625700"/>
          </a:xfrm>
          <a:prstGeom prst="rect">
            <a:avLst/>
          </a:prstGeom>
          <a:solidFill>
            <a:srgbClr val="F4F6F9"/>
          </a:solidFill>
          <a:ln>
            <a:noFill/>
          </a:ln>
        </p:spPr>
        <p:txBody>
          <a:bodyPr spcFirstLastPara="1" wrap="square" lIns="57925" tIns="57925" rIns="57925" bIns="57925" anchor="t" anchorCtr="0">
            <a:noAutofit/>
          </a:bodyPr>
          <a:lstStyle/>
          <a:p>
            <a:pPr marL="0" lvl="0" indent="0" algn="l" rtl="0">
              <a:lnSpc>
                <a:spcPct val="115000"/>
              </a:lnSpc>
              <a:spcBef>
                <a:spcPts val="0"/>
              </a:spcBef>
              <a:spcAft>
                <a:spcPts val="0"/>
              </a:spcAft>
              <a:buNone/>
            </a:pPr>
            <a:r>
              <a:rPr lang="en" sz="800" b="1">
                <a:solidFill>
                  <a:srgbClr val="F66600"/>
                </a:solidFill>
                <a:latin typeface="Lexend"/>
                <a:ea typeface="Lexend"/>
                <a:cs typeface="Lexend"/>
                <a:sym typeface="Lexend"/>
              </a:rPr>
              <a:t>SGN</a:t>
            </a:r>
            <a:endParaRPr sz="800" b="1">
              <a:solidFill>
                <a:srgbClr val="F66600"/>
              </a:solidFill>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Pass drivers giữ ổn định: 236 drivers, trong khi Total drivers tăng 4% (550 → 574)</a:t>
            </a:r>
            <a:endParaRPr sz="800">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First-week drivers giảm 31%: 80 → 55, nhưng vẫn cao hơn nhiều so với HAN</a:t>
            </a:r>
            <a:endParaRPr sz="800">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No-activity tăng 32%: 114 → 150 drivers, cho thấy activation đang có dấu hiệu giảm dù quy mô driver tăng</a:t>
            </a:r>
            <a:endParaRPr sz="800">
              <a:latin typeface="Lexend"/>
              <a:ea typeface="Lexend"/>
              <a:cs typeface="Lexend"/>
              <a:sym typeface="Lexend"/>
            </a:endParaRPr>
          </a:p>
          <a:p>
            <a:pPr marL="0" lvl="0" indent="0" algn="l" rtl="0">
              <a:lnSpc>
                <a:spcPct val="115000"/>
              </a:lnSpc>
              <a:spcBef>
                <a:spcPts val="0"/>
              </a:spcBef>
              <a:spcAft>
                <a:spcPts val="0"/>
              </a:spcAft>
              <a:buNone/>
            </a:pPr>
            <a:endParaRPr sz="800">
              <a:latin typeface="Lexend"/>
              <a:ea typeface="Lexend"/>
              <a:cs typeface="Lexend"/>
              <a:sym typeface="Lexend"/>
            </a:endParaRPr>
          </a:p>
        </p:txBody>
      </p:sp>
      <p:sp>
        <p:nvSpPr>
          <p:cNvPr id="868" name="Google Shape;868;p66"/>
          <p:cNvSpPr/>
          <p:nvPr/>
        </p:nvSpPr>
        <p:spPr>
          <a:xfrm>
            <a:off x="5024575" y="3229507"/>
            <a:ext cx="69000" cy="1625700"/>
          </a:xfrm>
          <a:prstGeom prst="rect">
            <a:avLst/>
          </a:prstGeom>
          <a:solidFill>
            <a:srgbClr val="FF7F32"/>
          </a:solidFill>
          <a:ln>
            <a:noFill/>
          </a:ln>
        </p:spPr>
        <p:txBody>
          <a:bodyPr spcFirstLastPara="1" wrap="square" lIns="57925" tIns="57925" rIns="57925" bIns="57925" anchor="ctr" anchorCtr="0">
            <a:noAutofit/>
          </a:bodyPr>
          <a:lstStyle/>
          <a:p>
            <a:pPr marL="0" lvl="0" indent="0" algn="l" rtl="0">
              <a:spcBef>
                <a:spcPts val="0"/>
              </a:spcBef>
              <a:spcAft>
                <a:spcPts val="0"/>
              </a:spcAft>
              <a:buNone/>
            </a:pPr>
            <a:endParaRPr/>
          </a:p>
        </p:txBody>
      </p:sp>
      <p:sp>
        <p:nvSpPr>
          <p:cNvPr id="869" name="Google Shape;869;p66"/>
          <p:cNvSpPr/>
          <p:nvPr/>
        </p:nvSpPr>
        <p:spPr>
          <a:xfrm>
            <a:off x="456468" y="3229507"/>
            <a:ext cx="3815400" cy="1653000"/>
          </a:xfrm>
          <a:prstGeom prst="rect">
            <a:avLst/>
          </a:prstGeom>
          <a:solidFill>
            <a:srgbClr val="F4F6F9"/>
          </a:solidFill>
          <a:ln>
            <a:noFill/>
          </a:ln>
        </p:spPr>
        <p:txBody>
          <a:bodyPr spcFirstLastPara="1" wrap="square" lIns="57925" tIns="57925" rIns="57925" bIns="57925" anchor="t" anchorCtr="0">
            <a:noAutofit/>
          </a:bodyPr>
          <a:lstStyle/>
          <a:p>
            <a:pPr marL="0" lvl="0" indent="0" algn="l" rtl="0">
              <a:lnSpc>
                <a:spcPct val="115000"/>
              </a:lnSpc>
              <a:spcBef>
                <a:spcPts val="0"/>
              </a:spcBef>
              <a:spcAft>
                <a:spcPts val="0"/>
              </a:spcAft>
              <a:buNone/>
            </a:pPr>
            <a:r>
              <a:rPr lang="en" sz="800" b="1">
                <a:solidFill>
                  <a:srgbClr val="F66600"/>
                </a:solidFill>
                <a:latin typeface="Lexend"/>
                <a:ea typeface="Lexend"/>
                <a:cs typeface="Lexend"/>
                <a:sym typeface="Lexend"/>
              </a:rPr>
              <a:t>HAN</a:t>
            </a:r>
            <a:endParaRPr sz="800" b="1">
              <a:solidFill>
                <a:srgbClr val="F66600"/>
              </a:solidFill>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Pass rate giảm nhẹ: 102 → 96 drivers, trong khi Fail tăng lên 992 → conversion vào nhóm Pass tiếp tục thấp</a:t>
            </a:r>
            <a:endParaRPr sz="800">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First-week drivers giảm mạnh: 37 → 3 drivers (-92%), cho thấy lượng driver mới tham gia MiniHub giảm đáng kể</a:t>
            </a:r>
            <a:endParaRPr sz="800">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No-activity chiếm tỷ trọng rất cao: 893/1,091 drivers (~82%) → đây là key issue cần ưu tiên cải thiện activation</a:t>
            </a:r>
            <a:endParaRPr sz="800">
              <a:latin typeface="Lexend"/>
              <a:ea typeface="Lexend"/>
              <a:cs typeface="Lexend"/>
              <a:sym typeface="Lexend"/>
            </a:endParaRPr>
          </a:p>
          <a:p>
            <a:pPr marL="0" lvl="0" indent="0" algn="l" rtl="0">
              <a:lnSpc>
                <a:spcPct val="115000"/>
              </a:lnSpc>
              <a:spcBef>
                <a:spcPts val="0"/>
              </a:spcBef>
              <a:spcAft>
                <a:spcPts val="0"/>
              </a:spcAft>
              <a:buNone/>
            </a:pPr>
            <a:endParaRPr sz="800">
              <a:latin typeface="Lexend"/>
              <a:ea typeface="Lexend"/>
              <a:cs typeface="Lexend"/>
              <a:sym typeface="Lexend"/>
            </a:endParaRPr>
          </a:p>
          <a:p>
            <a:pPr marL="0" lvl="0" indent="0" algn="l" rtl="0">
              <a:lnSpc>
                <a:spcPct val="115000"/>
              </a:lnSpc>
              <a:spcBef>
                <a:spcPts val="0"/>
              </a:spcBef>
              <a:spcAft>
                <a:spcPts val="0"/>
              </a:spcAft>
              <a:buNone/>
            </a:pPr>
            <a:endParaRPr sz="800">
              <a:latin typeface="Lexend"/>
              <a:ea typeface="Lexend"/>
              <a:cs typeface="Lexend"/>
              <a:sym typeface="Lexend"/>
            </a:endParaRPr>
          </a:p>
        </p:txBody>
      </p:sp>
      <p:sp>
        <p:nvSpPr>
          <p:cNvPr id="870" name="Google Shape;870;p66"/>
          <p:cNvSpPr/>
          <p:nvPr/>
        </p:nvSpPr>
        <p:spPr>
          <a:xfrm>
            <a:off x="387225" y="3229507"/>
            <a:ext cx="69000" cy="1653000"/>
          </a:xfrm>
          <a:prstGeom prst="rect">
            <a:avLst/>
          </a:prstGeom>
          <a:solidFill>
            <a:srgbClr val="FF7F32"/>
          </a:solidFill>
          <a:ln>
            <a:noFill/>
          </a:ln>
        </p:spPr>
        <p:txBody>
          <a:bodyPr spcFirstLastPara="1" wrap="square" lIns="57925" tIns="57925" rIns="57925" bIns="57925" anchor="ctr" anchorCtr="0">
            <a:noAutofit/>
          </a:bodyPr>
          <a:lstStyle/>
          <a:p>
            <a:pPr marL="0" lvl="0" indent="0" algn="l" rtl="0">
              <a:spcBef>
                <a:spcPts val="0"/>
              </a:spcBef>
              <a:spcAft>
                <a:spcPts val="0"/>
              </a:spcAft>
              <a:buNone/>
            </a:pPr>
            <a:endParaRPr/>
          </a:p>
        </p:txBody>
      </p:sp>
      <p:sp>
        <p:nvSpPr>
          <p:cNvPr id="871" name="Google Shape;871;p66"/>
          <p:cNvSpPr txBox="1"/>
          <p:nvPr/>
        </p:nvSpPr>
        <p:spPr>
          <a:xfrm>
            <a:off x="1299025" y="1971500"/>
            <a:ext cx="559800" cy="307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chemeClr val="lt1"/>
                </a:solidFill>
                <a:latin typeface="Lexend"/>
                <a:ea typeface="Lexend"/>
                <a:cs typeface="Lexend"/>
                <a:sym typeface="Lexend"/>
              </a:rPr>
              <a:t>88.41%</a:t>
            </a:r>
            <a:endParaRPr sz="800">
              <a:solidFill>
                <a:schemeClr val="lt1"/>
              </a:solidFill>
              <a:latin typeface="Lexend"/>
              <a:ea typeface="Lexend"/>
              <a:cs typeface="Lexend"/>
              <a:sym typeface="Lexend"/>
            </a:endParaRPr>
          </a:p>
        </p:txBody>
      </p:sp>
      <p:sp>
        <p:nvSpPr>
          <p:cNvPr id="872" name="Google Shape;872;p66"/>
          <p:cNvSpPr txBox="1"/>
          <p:nvPr/>
        </p:nvSpPr>
        <p:spPr>
          <a:xfrm>
            <a:off x="5912625" y="1971500"/>
            <a:ext cx="559800" cy="307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chemeClr val="lt1"/>
                </a:solidFill>
                <a:latin typeface="Lexend"/>
                <a:ea typeface="Lexend"/>
                <a:cs typeface="Lexend"/>
                <a:sym typeface="Lexend"/>
              </a:rPr>
              <a:t>52.95%</a:t>
            </a:r>
            <a:endParaRPr sz="800">
              <a:solidFill>
                <a:schemeClr val="lt1"/>
              </a:solidFill>
              <a:latin typeface="Lexend"/>
              <a:ea typeface="Lexend"/>
              <a:cs typeface="Lexend"/>
              <a:sym typeface="Lexend"/>
            </a:endParaRPr>
          </a:p>
        </p:txBody>
      </p:sp>
      <p:graphicFrame>
        <p:nvGraphicFramePr>
          <p:cNvPr id="873" name="Google Shape;873;p66"/>
          <p:cNvGraphicFramePr/>
          <p:nvPr/>
        </p:nvGraphicFramePr>
        <p:xfrm>
          <a:off x="392005" y="1050818"/>
          <a:ext cx="3000000" cy="3000000"/>
        </p:xfrm>
        <a:graphic>
          <a:graphicData uri="http://schemas.openxmlformats.org/drawingml/2006/table">
            <a:tbl>
              <a:tblPr>
                <a:noFill/>
                <a:tableStyleId>{98498B5D-82F5-4DDD-BB04-C168985C330A}</a:tableStyleId>
              </a:tblPr>
              <a:tblGrid>
                <a:gridCol w="434525">
                  <a:extLst>
                    <a:ext uri="{9D8B030D-6E8A-4147-A177-3AD203B41FA5}">
                      <a16:colId xmlns:a16="http://schemas.microsoft.com/office/drawing/2014/main" val="20000"/>
                    </a:ext>
                  </a:extLst>
                </a:gridCol>
                <a:gridCol w="732175">
                  <a:extLst>
                    <a:ext uri="{9D8B030D-6E8A-4147-A177-3AD203B41FA5}">
                      <a16:colId xmlns:a16="http://schemas.microsoft.com/office/drawing/2014/main" val="20001"/>
                    </a:ext>
                  </a:extLst>
                </a:gridCol>
                <a:gridCol w="651950">
                  <a:extLst>
                    <a:ext uri="{9D8B030D-6E8A-4147-A177-3AD203B41FA5}">
                      <a16:colId xmlns:a16="http://schemas.microsoft.com/office/drawing/2014/main" val="20002"/>
                    </a:ext>
                  </a:extLst>
                </a:gridCol>
                <a:gridCol w="603650">
                  <a:extLst>
                    <a:ext uri="{9D8B030D-6E8A-4147-A177-3AD203B41FA5}">
                      <a16:colId xmlns:a16="http://schemas.microsoft.com/office/drawing/2014/main" val="20003"/>
                    </a:ext>
                  </a:extLst>
                </a:gridCol>
                <a:gridCol w="610550">
                  <a:extLst>
                    <a:ext uri="{9D8B030D-6E8A-4147-A177-3AD203B41FA5}">
                      <a16:colId xmlns:a16="http://schemas.microsoft.com/office/drawing/2014/main" val="20004"/>
                    </a:ext>
                  </a:extLst>
                </a:gridCol>
                <a:gridCol w="495125">
                  <a:extLst>
                    <a:ext uri="{9D8B030D-6E8A-4147-A177-3AD203B41FA5}">
                      <a16:colId xmlns:a16="http://schemas.microsoft.com/office/drawing/2014/main" val="20005"/>
                    </a:ext>
                  </a:extLst>
                </a:gridCol>
                <a:gridCol w="596975">
                  <a:extLst>
                    <a:ext uri="{9D8B030D-6E8A-4147-A177-3AD203B41FA5}">
                      <a16:colId xmlns:a16="http://schemas.microsoft.com/office/drawing/2014/main" val="20006"/>
                    </a:ext>
                  </a:extLst>
                </a:gridCol>
                <a:gridCol w="596975">
                  <a:extLst>
                    <a:ext uri="{9D8B030D-6E8A-4147-A177-3AD203B41FA5}">
                      <a16:colId xmlns:a16="http://schemas.microsoft.com/office/drawing/2014/main" val="20007"/>
                    </a:ext>
                  </a:extLst>
                </a:gridCol>
                <a:gridCol w="596975">
                  <a:extLst>
                    <a:ext uri="{9D8B030D-6E8A-4147-A177-3AD203B41FA5}">
                      <a16:colId xmlns:a16="http://schemas.microsoft.com/office/drawing/2014/main" val="20008"/>
                    </a:ext>
                  </a:extLst>
                </a:gridCol>
                <a:gridCol w="596975">
                  <a:extLst>
                    <a:ext uri="{9D8B030D-6E8A-4147-A177-3AD203B41FA5}">
                      <a16:colId xmlns:a16="http://schemas.microsoft.com/office/drawing/2014/main" val="20009"/>
                    </a:ext>
                  </a:extLst>
                </a:gridCol>
                <a:gridCol w="596975">
                  <a:extLst>
                    <a:ext uri="{9D8B030D-6E8A-4147-A177-3AD203B41FA5}">
                      <a16:colId xmlns:a16="http://schemas.microsoft.com/office/drawing/2014/main" val="20010"/>
                    </a:ext>
                  </a:extLst>
                </a:gridCol>
                <a:gridCol w="637700">
                  <a:extLst>
                    <a:ext uri="{9D8B030D-6E8A-4147-A177-3AD203B41FA5}">
                      <a16:colId xmlns:a16="http://schemas.microsoft.com/office/drawing/2014/main" val="20011"/>
                    </a:ext>
                  </a:extLst>
                </a:gridCol>
                <a:gridCol w="590150">
                  <a:extLst>
                    <a:ext uri="{9D8B030D-6E8A-4147-A177-3AD203B41FA5}">
                      <a16:colId xmlns:a16="http://schemas.microsoft.com/office/drawing/2014/main" val="20012"/>
                    </a:ext>
                  </a:extLst>
                </a:gridCol>
                <a:gridCol w="612375">
                  <a:extLst>
                    <a:ext uri="{9D8B030D-6E8A-4147-A177-3AD203B41FA5}">
                      <a16:colId xmlns:a16="http://schemas.microsoft.com/office/drawing/2014/main" val="20013"/>
                    </a:ext>
                  </a:extLst>
                </a:gridCol>
              </a:tblGrid>
              <a:tr h="186125">
                <a:tc>
                  <a:txBody>
                    <a:bodyPr/>
                    <a:lstStyle/>
                    <a:p>
                      <a:pPr marL="0" lvl="0" indent="0" algn="ctr" rtl="0">
                        <a:lnSpc>
                          <a:spcPct val="115000"/>
                        </a:lnSpc>
                        <a:spcBef>
                          <a:spcPts val="0"/>
                        </a:spcBef>
                        <a:spcAft>
                          <a:spcPts val="0"/>
                        </a:spcAft>
                        <a:buNone/>
                      </a:pPr>
                      <a:r>
                        <a:rPr lang="en" sz="700" b="1">
                          <a:solidFill>
                            <a:srgbClr val="FFFFFF"/>
                          </a:solidFill>
                          <a:latin typeface="Lexend"/>
                          <a:ea typeface="Lexend"/>
                          <a:cs typeface="Lexend"/>
                          <a:sym typeface="Lexend"/>
                        </a:rPr>
                        <a:t>city_id</a:t>
                      </a:r>
                      <a:endParaRPr sz="700" b="1">
                        <a:solidFill>
                          <a:srgbClr val="FFFFFF"/>
                        </a:solidFill>
                        <a:latin typeface="Lexend"/>
                        <a:ea typeface="Lexend"/>
                        <a:cs typeface="Lexend"/>
                        <a:sym typeface="Lexend"/>
                      </a:endParaRPr>
                    </a:p>
                  </a:txBody>
                  <a:tcPr marL="28575" marR="28575" marT="19050" marB="19050" anchor="ctr">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3D72C4"/>
                    </a:solidFill>
                  </a:tcPr>
                </a:tc>
                <a:tc>
                  <a:txBody>
                    <a:bodyPr/>
                    <a:lstStyle/>
                    <a:p>
                      <a:pPr marL="0" lvl="0" indent="0" algn="ctr" rtl="0">
                        <a:lnSpc>
                          <a:spcPct val="115000"/>
                        </a:lnSpc>
                        <a:spcBef>
                          <a:spcPts val="0"/>
                        </a:spcBef>
                        <a:spcAft>
                          <a:spcPts val="0"/>
                        </a:spcAft>
                        <a:buNone/>
                      </a:pPr>
                      <a:r>
                        <a:rPr lang="en" sz="700" b="1">
                          <a:solidFill>
                            <a:srgbClr val="FFFFFF"/>
                          </a:solidFill>
                          <a:latin typeface="Lexend"/>
                          <a:ea typeface="Lexend"/>
                          <a:cs typeface="Lexend"/>
                          <a:sym typeface="Lexend"/>
                        </a:rPr>
                        <a:t>tuan</a:t>
                      </a:r>
                      <a:endParaRPr sz="700" b="1">
                        <a:solidFill>
                          <a:srgbClr val="FFFFFF"/>
                        </a:solidFill>
                        <a:latin typeface="Lexend"/>
                        <a:ea typeface="Lexend"/>
                        <a:cs typeface="Lexend"/>
                        <a:sym typeface="Lexend"/>
                      </a:endParaRPr>
                    </a:p>
                  </a:txBody>
                  <a:tcPr marL="28575" marR="28575" marT="19050" marB="19050" anchor="ctr">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3D72C4"/>
                    </a:solidFill>
                  </a:tcPr>
                </a:tc>
                <a:tc>
                  <a:txBody>
                    <a:bodyPr/>
                    <a:lstStyle/>
                    <a:p>
                      <a:pPr marL="0" lvl="0" indent="0" algn="ctr" rtl="0">
                        <a:lnSpc>
                          <a:spcPct val="115000"/>
                        </a:lnSpc>
                        <a:spcBef>
                          <a:spcPts val="0"/>
                        </a:spcBef>
                        <a:spcAft>
                          <a:spcPts val="0"/>
                        </a:spcAft>
                        <a:buNone/>
                      </a:pPr>
                      <a:r>
                        <a:rPr lang="en" sz="700" b="1">
                          <a:solidFill>
                            <a:srgbClr val="FFFFFF"/>
                          </a:solidFill>
                          <a:latin typeface="Lexend"/>
                          <a:ea typeface="Lexend"/>
                          <a:cs typeface="Lexend"/>
                          <a:sym typeface="Lexend"/>
                        </a:rPr>
                        <a:t>total_drivers</a:t>
                      </a:r>
                      <a:endParaRPr sz="700" b="1">
                        <a:solidFill>
                          <a:srgbClr val="FFFFFF"/>
                        </a:solidFill>
                        <a:latin typeface="Lexend"/>
                        <a:ea typeface="Lexend"/>
                        <a:cs typeface="Lexend"/>
                        <a:sym typeface="Lexend"/>
                      </a:endParaRPr>
                    </a:p>
                  </a:txBody>
                  <a:tcPr marL="28575" marR="28575" marT="19050" marB="19050" anchor="ctr">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3D72C4"/>
                    </a:solidFill>
                  </a:tcPr>
                </a:tc>
                <a:tc>
                  <a:txBody>
                    <a:bodyPr/>
                    <a:lstStyle/>
                    <a:p>
                      <a:pPr marL="0" lvl="0" indent="0" algn="ctr" rtl="0">
                        <a:lnSpc>
                          <a:spcPct val="115000"/>
                        </a:lnSpc>
                        <a:spcBef>
                          <a:spcPts val="0"/>
                        </a:spcBef>
                        <a:spcAft>
                          <a:spcPts val="0"/>
                        </a:spcAft>
                        <a:buNone/>
                      </a:pPr>
                      <a:r>
                        <a:rPr lang="en" sz="700" b="1">
                          <a:solidFill>
                            <a:srgbClr val="FFFFFF"/>
                          </a:solidFill>
                          <a:latin typeface="Lexend"/>
                          <a:ea typeface="Lexend"/>
                          <a:cs typeface="Lexend"/>
                          <a:sym typeface="Lexend"/>
                        </a:rPr>
                        <a:t>first_week_drivers</a:t>
                      </a:r>
                      <a:endParaRPr sz="700" b="1">
                        <a:solidFill>
                          <a:srgbClr val="FFFFFF"/>
                        </a:solidFill>
                        <a:latin typeface="Lexend"/>
                        <a:ea typeface="Lexend"/>
                        <a:cs typeface="Lexend"/>
                        <a:sym typeface="Lexend"/>
                      </a:endParaRPr>
                    </a:p>
                  </a:txBody>
                  <a:tcPr marL="28575" marR="28575" marT="19050" marB="19050" anchor="ctr">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3D72C4"/>
                    </a:solidFill>
                  </a:tcPr>
                </a:tc>
                <a:tc>
                  <a:txBody>
                    <a:bodyPr/>
                    <a:lstStyle/>
                    <a:p>
                      <a:pPr marL="0" lvl="0" indent="0" algn="ctr" rtl="0">
                        <a:lnSpc>
                          <a:spcPct val="115000"/>
                        </a:lnSpc>
                        <a:spcBef>
                          <a:spcPts val="0"/>
                        </a:spcBef>
                        <a:spcAft>
                          <a:spcPts val="0"/>
                        </a:spcAft>
                        <a:buNone/>
                      </a:pPr>
                      <a:r>
                        <a:rPr lang="en" sz="700" b="1">
                          <a:solidFill>
                            <a:srgbClr val="FFFFFF"/>
                          </a:solidFill>
                          <a:latin typeface="Lexend"/>
                          <a:ea typeface="Lexend"/>
                          <a:cs typeface="Lexend"/>
                          <a:sym typeface="Lexend"/>
                        </a:rPr>
                        <a:t>Pass_</a:t>
                      </a:r>
                      <a:br>
                        <a:rPr lang="en" sz="700" b="1">
                          <a:solidFill>
                            <a:srgbClr val="FFFFFF"/>
                          </a:solidFill>
                          <a:latin typeface="Lexend"/>
                          <a:ea typeface="Lexend"/>
                          <a:cs typeface="Lexend"/>
                          <a:sym typeface="Lexend"/>
                        </a:rPr>
                      </a:br>
                      <a:r>
                        <a:rPr lang="en" sz="700" b="1">
                          <a:solidFill>
                            <a:srgbClr val="FFFFFF"/>
                          </a:solidFill>
                          <a:latin typeface="Lexend"/>
                          <a:ea typeface="Lexend"/>
                          <a:cs typeface="Lexend"/>
                          <a:sym typeface="Lexend"/>
                        </a:rPr>
                        <a:t>drivers</a:t>
                      </a:r>
                      <a:endParaRPr sz="700" b="1">
                        <a:solidFill>
                          <a:srgbClr val="FFFFFF"/>
                        </a:solidFill>
                        <a:latin typeface="Lexend"/>
                        <a:ea typeface="Lexend"/>
                        <a:cs typeface="Lexend"/>
                        <a:sym typeface="Lexend"/>
                      </a:endParaRPr>
                    </a:p>
                  </a:txBody>
                  <a:tcPr marL="28575" marR="28575" marT="19050" marB="19050" anchor="ctr">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3D72C4"/>
                    </a:solidFill>
                  </a:tcPr>
                </a:tc>
                <a:tc>
                  <a:txBody>
                    <a:bodyPr/>
                    <a:lstStyle/>
                    <a:p>
                      <a:pPr marL="0" lvl="0" indent="0" algn="ctr" rtl="0">
                        <a:lnSpc>
                          <a:spcPct val="115000"/>
                        </a:lnSpc>
                        <a:spcBef>
                          <a:spcPts val="0"/>
                        </a:spcBef>
                        <a:spcAft>
                          <a:spcPts val="0"/>
                        </a:spcAft>
                        <a:buNone/>
                      </a:pPr>
                      <a:r>
                        <a:rPr lang="en" sz="700" b="1">
                          <a:solidFill>
                            <a:srgbClr val="FFFFFF"/>
                          </a:solidFill>
                          <a:latin typeface="Lexend"/>
                          <a:ea typeface="Lexend"/>
                          <a:cs typeface="Lexend"/>
                          <a:sym typeface="Lexend"/>
                        </a:rPr>
                        <a:t>Fail</a:t>
                      </a:r>
                      <a:endParaRPr sz="700" b="1">
                        <a:solidFill>
                          <a:srgbClr val="FFFFFF"/>
                        </a:solidFill>
                        <a:latin typeface="Lexend"/>
                        <a:ea typeface="Lexend"/>
                        <a:cs typeface="Lexend"/>
                        <a:sym typeface="Lexend"/>
                      </a:endParaRPr>
                    </a:p>
                    <a:p>
                      <a:pPr marL="0" lvl="0" indent="0" algn="ctr" rtl="0">
                        <a:lnSpc>
                          <a:spcPct val="115000"/>
                        </a:lnSpc>
                        <a:spcBef>
                          <a:spcPts val="0"/>
                        </a:spcBef>
                        <a:spcAft>
                          <a:spcPts val="0"/>
                        </a:spcAft>
                        <a:buNone/>
                      </a:pPr>
                      <a:r>
                        <a:rPr lang="en" sz="700" b="1">
                          <a:solidFill>
                            <a:srgbClr val="FFFFFF"/>
                          </a:solidFill>
                          <a:latin typeface="Lexend"/>
                          <a:ea typeface="Lexend"/>
                          <a:cs typeface="Lexend"/>
                          <a:sym typeface="Lexend"/>
                        </a:rPr>
                        <a:t>_drivers</a:t>
                      </a:r>
                      <a:endParaRPr sz="700" b="1">
                        <a:solidFill>
                          <a:srgbClr val="FFFFFF"/>
                        </a:solidFill>
                        <a:latin typeface="Lexend"/>
                        <a:ea typeface="Lexend"/>
                        <a:cs typeface="Lexend"/>
                        <a:sym typeface="Lexend"/>
                      </a:endParaRPr>
                    </a:p>
                  </a:txBody>
                  <a:tcPr marL="28575" marR="28575" marT="19050" marB="19050" anchor="ctr">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3D72C4"/>
                    </a:solidFill>
                  </a:tcPr>
                </a:tc>
                <a:tc>
                  <a:txBody>
                    <a:bodyPr/>
                    <a:lstStyle/>
                    <a:p>
                      <a:pPr marL="0" lvl="0" indent="0" algn="ctr" rtl="0">
                        <a:lnSpc>
                          <a:spcPct val="115000"/>
                        </a:lnSpc>
                        <a:spcBef>
                          <a:spcPts val="0"/>
                        </a:spcBef>
                        <a:spcAft>
                          <a:spcPts val="0"/>
                        </a:spcAft>
                        <a:buNone/>
                      </a:pPr>
                      <a:r>
                        <a:rPr lang="en" sz="700" b="1">
                          <a:solidFill>
                            <a:srgbClr val="FFFFFF"/>
                          </a:solidFill>
                          <a:latin typeface="Lexend"/>
                          <a:ea typeface="Lexend"/>
                          <a:cs typeface="Lexend"/>
                          <a:sym typeface="Lexend"/>
                        </a:rPr>
                        <a:t>no_activity_drivers</a:t>
                      </a:r>
                      <a:endParaRPr sz="700" b="1">
                        <a:solidFill>
                          <a:srgbClr val="FFFFFF"/>
                        </a:solidFill>
                        <a:latin typeface="Lexend"/>
                        <a:ea typeface="Lexend"/>
                        <a:cs typeface="Lexend"/>
                        <a:sym typeface="Lexend"/>
                      </a:endParaRPr>
                    </a:p>
                  </a:txBody>
                  <a:tcPr marL="28575" marR="28575" marT="19050" marB="19050" anchor="ctr">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3D72C4"/>
                    </a:solidFill>
                  </a:tcPr>
                </a:tc>
                <a:tc>
                  <a:txBody>
                    <a:bodyPr/>
                    <a:lstStyle/>
                    <a:p>
                      <a:pPr marL="0" lvl="0" indent="0" algn="ctr" rtl="0">
                        <a:lnSpc>
                          <a:spcPct val="115000"/>
                        </a:lnSpc>
                        <a:spcBef>
                          <a:spcPts val="0"/>
                        </a:spcBef>
                        <a:spcAft>
                          <a:spcPts val="0"/>
                        </a:spcAft>
                        <a:buNone/>
                      </a:pPr>
                      <a:r>
                        <a:rPr lang="en" sz="700" b="1">
                          <a:solidFill>
                            <a:srgbClr val="FFFFFF"/>
                          </a:solidFill>
                          <a:latin typeface="Lexend"/>
                          <a:ea typeface="Lexend"/>
                          <a:cs typeface="Lexend"/>
                          <a:sym typeface="Lexend"/>
                        </a:rPr>
                        <a:t>fail_onl</a:t>
                      </a:r>
                      <a:endParaRPr sz="700" b="1">
                        <a:solidFill>
                          <a:srgbClr val="FFFFFF"/>
                        </a:solidFill>
                        <a:latin typeface="Lexend"/>
                        <a:ea typeface="Lexend"/>
                        <a:cs typeface="Lexend"/>
                        <a:sym typeface="Lexend"/>
                      </a:endParaRPr>
                    </a:p>
                  </a:txBody>
                  <a:tcPr marL="28575" marR="28575" marT="19050" marB="19050" anchor="ctr">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3D72C4"/>
                    </a:solidFill>
                  </a:tcPr>
                </a:tc>
                <a:tc>
                  <a:txBody>
                    <a:bodyPr/>
                    <a:lstStyle/>
                    <a:p>
                      <a:pPr marL="0" lvl="0" indent="0" algn="ctr" rtl="0">
                        <a:lnSpc>
                          <a:spcPct val="115000"/>
                        </a:lnSpc>
                        <a:spcBef>
                          <a:spcPts val="0"/>
                        </a:spcBef>
                        <a:spcAft>
                          <a:spcPts val="0"/>
                        </a:spcAft>
                        <a:buNone/>
                      </a:pPr>
                      <a:r>
                        <a:rPr lang="en" sz="700" b="1">
                          <a:solidFill>
                            <a:srgbClr val="FFFFFF"/>
                          </a:solidFill>
                          <a:latin typeface="Lexend"/>
                          <a:ea typeface="Lexend"/>
                          <a:cs typeface="Lexend"/>
                          <a:sym typeface="Lexend"/>
                        </a:rPr>
                        <a:t>fail_cr</a:t>
                      </a:r>
                      <a:endParaRPr sz="700" b="1">
                        <a:solidFill>
                          <a:srgbClr val="FFFFFF"/>
                        </a:solidFill>
                        <a:latin typeface="Lexend"/>
                        <a:ea typeface="Lexend"/>
                        <a:cs typeface="Lexend"/>
                        <a:sym typeface="Lexend"/>
                      </a:endParaRPr>
                    </a:p>
                  </a:txBody>
                  <a:tcPr marL="28575" marR="28575" marT="19050" marB="19050" anchor="ctr">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3D72C4"/>
                    </a:solidFill>
                  </a:tcPr>
                </a:tc>
                <a:tc>
                  <a:txBody>
                    <a:bodyPr/>
                    <a:lstStyle/>
                    <a:p>
                      <a:pPr marL="0" lvl="0" indent="0" algn="ctr" rtl="0">
                        <a:lnSpc>
                          <a:spcPct val="115000"/>
                        </a:lnSpc>
                        <a:spcBef>
                          <a:spcPts val="0"/>
                        </a:spcBef>
                        <a:spcAft>
                          <a:spcPts val="0"/>
                        </a:spcAft>
                        <a:buNone/>
                      </a:pPr>
                      <a:r>
                        <a:rPr lang="en" sz="700" b="1">
                          <a:solidFill>
                            <a:srgbClr val="FFFFFF"/>
                          </a:solidFill>
                          <a:latin typeface="Lexend"/>
                          <a:ea typeface="Lexend"/>
                          <a:cs typeface="Lexend"/>
                          <a:sym typeface="Lexend"/>
                        </a:rPr>
                        <a:t>fail_stp</a:t>
                      </a:r>
                      <a:endParaRPr sz="700" b="1">
                        <a:solidFill>
                          <a:srgbClr val="FFFFFF"/>
                        </a:solidFill>
                        <a:latin typeface="Lexend"/>
                        <a:ea typeface="Lexend"/>
                        <a:cs typeface="Lexend"/>
                        <a:sym typeface="Lexend"/>
                      </a:endParaRPr>
                    </a:p>
                  </a:txBody>
                  <a:tcPr marL="28575" marR="28575" marT="19050" marB="19050" anchor="ctr">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3D72C4"/>
                    </a:solidFill>
                  </a:tcPr>
                </a:tc>
                <a:tc>
                  <a:txBody>
                    <a:bodyPr/>
                    <a:lstStyle/>
                    <a:p>
                      <a:pPr marL="0" lvl="0" indent="0" algn="ctr" rtl="0">
                        <a:lnSpc>
                          <a:spcPct val="115000"/>
                        </a:lnSpc>
                        <a:spcBef>
                          <a:spcPts val="0"/>
                        </a:spcBef>
                        <a:spcAft>
                          <a:spcPts val="0"/>
                        </a:spcAft>
                        <a:buNone/>
                      </a:pPr>
                      <a:r>
                        <a:rPr lang="en" sz="700" b="1">
                          <a:solidFill>
                            <a:srgbClr val="FFFFFF"/>
                          </a:solidFill>
                          <a:latin typeface="Lexend"/>
                          <a:ea typeface="Lexend"/>
                          <a:cs typeface="Lexend"/>
                          <a:sym typeface="Lexend"/>
                        </a:rPr>
                        <a:t>fail_onl_cr</a:t>
                      </a:r>
                      <a:endParaRPr sz="700" b="1">
                        <a:solidFill>
                          <a:srgbClr val="FFFFFF"/>
                        </a:solidFill>
                        <a:latin typeface="Lexend"/>
                        <a:ea typeface="Lexend"/>
                        <a:cs typeface="Lexend"/>
                        <a:sym typeface="Lexend"/>
                      </a:endParaRPr>
                    </a:p>
                  </a:txBody>
                  <a:tcPr marL="28575" marR="28575" marT="19050" marB="19050" anchor="ctr">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3D72C4"/>
                    </a:solidFill>
                  </a:tcPr>
                </a:tc>
                <a:tc>
                  <a:txBody>
                    <a:bodyPr/>
                    <a:lstStyle/>
                    <a:p>
                      <a:pPr marL="0" lvl="0" indent="0" algn="ctr" rtl="0">
                        <a:lnSpc>
                          <a:spcPct val="115000"/>
                        </a:lnSpc>
                        <a:spcBef>
                          <a:spcPts val="0"/>
                        </a:spcBef>
                        <a:spcAft>
                          <a:spcPts val="0"/>
                        </a:spcAft>
                        <a:buNone/>
                      </a:pPr>
                      <a:r>
                        <a:rPr lang="en" sz="700" b="1">
                          <a:solidFill>
                            <a:srgbClr val="FFFFFF"/>
                          </a:solidFill>
                          <a:latin typeface="Lexend"/>
                          <a:ea typeface="Lexend"/>
                          <a:cs typeface="Lexend"/>
                          <a:sym typeface="Lexend"/>
                        </a:rPr>
                        <a:t>fail_onl_stp</a:t>
                      </a:r>
                      <a:endParaRPr sz="700" b="1">
                        <a:solidFill>
                          <a:srgbClr val="FFFFFF"/>
                        </a:solidFill>
                        <a:latin typeface="Lexend"/>
                        <a:ea typeface="Lexend"/>
                        <a:cs typeface="Lexend"/>
                        <a:sym typeface="Lexend"/>
                      </a:endParaRPr>
                    </a:p>
                  </a:txBody>
                  <a:tcPr marL="28575" marR="28575" marT="19050" marB="19050" anchor="ctr">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3D72C4"/>
                    </a:solidFill>
                  </a:tcPr>
                </a:tc>
                <a:tc>
                  <a:txBody>
                    <a:bodyPr/>
                    <a:lstStyle/>
                    <a:p>
                      <a:pPr marL="0" lvl="0" indent="0" algn="ctr" rtl="0">
                        <a:lnSpc>
                          <a:spcPct val="115000"/>
                        </a:lnSpc>
                        <a:spcBef>
                          <a:spcPts val="0"/>
                        </a:spcBef>
                        <a:spcAft>
                          <a:spcPts val="0"/>
                        </a:spcAft>
                        <a:buNone/>
                      </a:pPr>
                      <a:r>
                        <a:rPr lang="en" sz="700" b="1">
                          <a:solidFill>
                            <a:srgbClr val="FFFFFF"/>
                          </a:solidFill>
                          <a:latin typeface="Lexend"/>
                          <a:ea typeface="Lexend"/>
                          <a:cs typeface="Lexend"/>
                          <a:sym typeface="Lexend"/>
                        </a:rPr>
                        <a:t>fail_cr_stp</a:t>
                      </a:r>
                      <a:endParaRPr sz="700" b="1">
                        <a:solidFill>
                          <a:srgbClr val="FFFFFF"/>
                        </a:solidFill>
                        <a:latin typeface="Lexend"/>
                        <a:ea typeface="Lexend"/>
                        <a:cs typeface="Lexend"/>
                        <a:sym typeface="Lexend"/>
                      </a:endParaRPr>
                    </a:p>
                  </a:txBody>
                  <a:tcPr marL="28575" marR="28575" marT="19050" marB="19050" anchor="ctr">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3D72C4"/>
                    </a:solidFill>
                  </a:tcPr>
                </a:tc>
                <a:tc>
                  <a:txBody>
                    <a:bodyPr/>
                    <a:lstStyle/>
                    <a:p>
                      <a:pPr marL="0" lvl="0" indent="0" algn="ctr" rtl="0">
                        <a:lnSpc>
                          <a:spcPct val="115000"/>
                        </a:lnSpc>
                        <a:spcBef>
                          <a:spcPts val="0"/>
                        </a:spcBef>
                        <a:spcAft>
                          <a:spcPts val="0"/>
                        </a:spcAft>
                        <a:buNone/>
                      </a:pPr>
                      <a:r>
                        <a:rPr lang="en" sz="700" b="1">
                          <a:solidFill>
                            <a:srgbClr val="FFFFFF"/>
                          </a:solidFill>
                          <a:latin typeface="Lexend"/>
                          <a:ea typeface="Lexend"/>
                          <a:cs typeface="Lexend"/>
                          <a:sym typeface="Lexend"/>
                        </a:rPr>
                        <a:t>fail_onl_cr_stp</a:t>
                      </a:r>
                      <a:endParaRPr sz="700" b="1">
                        <a:solidFill>
                          <a:srgbClr val="FFFFFF"/>
                        </a:solidFill>
                        <a:latin typeface="Lexend"/>
                        <a:ea typeface="Lexend"/>
                        <a:cs typeface="Lexend"/>
                        <a:sym typeface="Lexend"/>
                      </a:endParaRPr>
                    </a:p>
                  </a:txBody>
                  <a:tcPr marL="28575" marR="28575" marT="19050" marB="19050" anchor="ctr">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3D72C4"/>
                    </a:solidFill>
                  </a:tcPr>
                </a:tc>
                <a:extLst>
                  <a:ext uri="{0D108BD9-81ED-4DB2-BD59-A6C34878D82A}">
                    <a16:rowId xmlns:a16="http://schemas.microsoft.com/office/drawing/2014/main" val="10000"/>
                  </a:ext>
                </a:extLst>
              </a:tr>
              <a:tr h="242375">
                <a:tc rowSpan="3">
                  <a:txBody>
                    <a:bodyPr/>
                    <a:lstStyle/>
                    <a:p>
                      <a:pPr marL="0" lvl="0" indent="0" algn="ctr" rtl="0">
                        <a:lnSpc>
                          <a:spcPct val="115000"/>
                        </a:lnSpc>
                        <a:spcBef>
                          <a:spcPts val="0"/>
                        </a:spcBef>
                        <a:spcAft>
                          <a:spcPts val="0"/>
                        </a:spcAft>
                        <a:buNone/>
                      </a:pPr>
                      <a:r>
                        <a:rPr lang="en" sz="700" b="1">
                          <a:latin typeface="Lexend"/>
                          <a:ea typeface="Lexend"/>
                          <a:cs typeface="Lexend"/>
                          <a:sym typeface="Lexend"/>
                        </a:rPr>
                        <a:t>HAN</a:t>
                      </a:r>
                      <a:endParaRPr sz="700" b="1">
                        <a:latin typeface="Lexend"/>
                        <a:ea typeface="Lexend"/>
                        <a:cs typeface="Lexend"/>
                        <a:sym typeface="Lexend"/>
                      </a:endParaRPr>
                    </a:p>
                  </a:txBody>
                  <a:tcPr marL="28575" marR="28575" marT="19050" marB="19050" anchor="ctr">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10/08 - 16/08</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1,069</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42</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111</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916</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819</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34</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10</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21</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14</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extLst>
                  <a:ext uri="{0D108BD9-81ED-4DB2-BD59-A6C34878D82A}">
                    <a16:rowId xmlns:a16="http://schemas.microsoft.com/office/drawing/2014/main" val="10001"/>
                  </a:ext>
                </a:extLst>
              </a:tr>
              <a:tr h="242375">
                <a:tc vMerge="1">
                  <a:txBody>
                    <a:bodyPr/>
                    <a:lstStyle/>
                    <a:p>
                      <a:endParaRPr lang="en-VN"/>
                    </a:p>
                  </a:txBody>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17/08 - 23/08</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1,095</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37</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102</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956</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861</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27</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10</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5</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27</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5</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18</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extLst>
                  <a:ext uri="{0D108BD9-81ED-4DB2-BD59-A6C34878D82A}">
                    <a16:rowId xmlns:a16="http://schemas.microsoft.com/office/drawing/2014/main" val="10002"/>
                  </a:ext>
                </a:extLst>
              </a:tr>
              <a:tr h="242375">
                <a:tc vMerge="1">
                  <a:txBody>
                    <a:bodyPr/>
                    <a:lstStyle/>
                    <a:p>
                      <a:endParaRPr lang="en-VN"/>
                    </a:p>
                  </a:txBody>
                  <a:tcPr/>
                </a:tc>
                <a:tc>
                  <a:txBody>
                    <a:bodyPr/>
                    <a:lstStyle/>
                    <a:p>
                      <a:pPr marL="0" lvl="0" indent="0" algn="ctr" rtl="0">
                        <a:lnSpc>
                          <a:spcPct val="115000"/>
                        </a:lnSpc>
                        <a:spcBef>
                          <a:spcPts val="0"/>
                        </a:spcBef>
                        <a:spcAft>
                          <a:spcPts val="0"/>
                        </a:spcAft>
                        <a:buNone/>
                      </a:pPr>
                      <a:r>
                        <a:rPr lang="en" sz="700" b="1">
                          <a:latin typeface="Lexend"/>
                          <a:ea typeface="Lexend"/>
                          <a:cs typeface="Lexend"/>
                          <a:sym typeface="Lexend"/>
                        </a:rPr>
                        <a:t>24/08 - 30/08</a:t>
                      </a:r>
                      <a:endParaRPr sz="700" b="1">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b="1">
                          <a:latin typeface="Lexend"/>
                          <a:ea typeface="Lexend"/>
                          <a:cs typeface="Lexend"/>
                          <a:sym typeface="Lexend"/>
                        </a:rPr>
                        <a:t>1,091</a:t>
                      </a:r>
                      <a:endParaRPr sz="700" b="1">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700" b="1">
                          <a:latin typeface="Lexend"/>
                          <a:ea typeface="Lexend"/>
                          <a:cs typeface="Lexend"/>
                          <a:sym typeface="Lexend"/>
                        </a:rPr>
                        <a:t>3</a:t>
                      </a:r>
                      <a:endParaRPr sz="700" b="1">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b="1">
                          <a:latin typeface="Lexend"/>
                          <a:ea typeface="Lexend"/>
                          <a:cs typeface="Lexend"/>
                          <a:sym typeface="Lexend"/>
                        </a:rPr>
                        <a:t>96</a:t>
                      </a:r>
                      <a:endParaRPr sz="700" b="1">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700" b="1">
                          <a:latin typeface="Lexend"/>
                          <a:ea typeface="Lexend"/>
                          <a:cs typeface="Lexend"/>
                          <a:sym typeface="Lexend"/>
                        </a:rPr>
                        <a:t>992</a:t>
                      </a:r>
                      <a:endParaRPr sz="700" b="1">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700" b="1">
                          <a:latin typeface="Lexend"/>
                          <a:ea typeface="Lexend"/>
                          <a:cs typeface="Lexend"/>
                          <a:sym typeface="Lexend"/>
                        </a:rPr>
                        <a:t>893</a:t>
                      </a:r>
                      <a:endParaRPr sz="700" b="1">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b="1">
                          <a:latin typeface="Lexend"/>
                          <a:ea typeface="Lexend"/>
                          <a:cs typeface="Lexend"/>
                          <a:sym typeface="Lexend"/>
                        </a:rPr>
                        <a:t>27</a:t>
                      </a:r>
                      <a:endParaRPr sz="700" b="1">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b="1">
                          <a:latin typeface="Lexend"/>
                          <a:ea typeface="Lexend"/>
                          <a:cs typeface="Lexend"/>
                          <a:sym typeface="Lexend"/>
                        </a:rPr>
                        <a:t>7</a:t>
                      </a:r>
                      <a:endParaRPr sz="700" b="1">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b="1">
                          <a:latin typeface="Lexend"/>
                          <a:ea typeface="Lexend"/>
                          <a:cs typeface="Lexend"/>
                          <a:sym typeface="Lexend"/>
                        </a:rPr>
                        <a:t>13</a:t>
                      </a:r>
                      <a:endParaRPr sz="700" b="1">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b="1">
                          <a:latin typeface="Lexend"/>
                          <a:ea typeface="Lexend"/>
                          <a:cs typeface="Lexend"/>
                          <a:sym typeface="Lexend"/>
                        </a:rPr>
                        <a:t>9</a:t>
                      </a:r>
                      <a:endParaRPr sz="700" b="1">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b="1">
                          <a:latin typeface="Lexend"/>
                          <a:ea typeface="Lexend"/>
                          <a:cs typeface="Lexend"/>
                          <a:sym typeface="Lexend"/>
                        </a:rPr>
                        <a:t>21</a:t>
                      </a:r>
                      <a:endParaRPr sz="700" b="1">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b="1">
                          <a:latin typeface="Lexend"/>
                          <a:ea typeface="Lexend"/>
                          <a:cs typeface="Lexend"/>
                          <a:sym typeface="Lexend"/>
                        </a:rPr>
                        <a:t>5</a:t>
                      </a:r>
                      <a:endParaRPr sz="700" b="1">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b="1">
                          <a:latin typeface="Lexend"/>
                          <a:ea typeface="Lexend"/>
                          <a:cs typeface="Lexend"/>
                          <a:sym typeface="Lexend"/>
                        </a:rPr>
                        <a:t>17</a:t>
                      </a:r>
                      <a:endParaRPr sz="700" b="1">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extLst>
                  <a:ext uri="{0D108BD9-81ED-4DB2-BD59-A6C34878D82A}">
                    <a16:rowId xmlns:a16="http://schemas.microsoft.com/office/drawing/2014/main" val="10003"/>
                  </a:ext>
                </a:extLst>
              </a:tr>
              <a:tr h="242375">
                <a:tc rowSpan="3">
                  <a:txBody>
                    <a:bodyPr/>
                    <a:lstStyle/>
                    <a:p>
                      <a:pPr marL="0" lvl="0" indent="0" algn="ctr" rtl="0">
                        <a:lnSpc>
                          <a:spcPct val="115000"/>
                        </a:lnSpc>
                        <a:spcBef>
                          <a:spcPts val="0"/>
                        </a:spcBef>
                        <a:spcAft>
                          <a:spcPts val="0"/>
                        </a:spcAft>
                        <a:buNone/>
                      </a:pPr>
                      <a:r>
                        <a:rPr lang="en" sz="700" b="1">
                          <a:latin typeface="Lexend"/>
                          <a:ea typeface="Lexend"/>
                          <a:cs typeface="Lexend"/>
                          <a:sym typeface="Lexend"/>
                        </a:rPr>
                        <a:t>SGN</a:t>
                      </a:r>
                      <a:endParaRPr sz="700" b="1">
                        <a:latin typeface="Lexend"/>
                        <a:ea typeface="Lexend"/>
                        <a:cs typeface="Lexend"/>
                        <a:sym typeface="Lexend"/>
                      </a:endParaRPr>
                    </a:p>
                  </a:txBody>
                  <a:tcPr marL="28575" marR="28575" marT="19050" marB="19050" anchor="ctr">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10/08 - 16/08</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538</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38</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235</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265</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144</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63</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16</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10</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20</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10</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extLst>
                  <a:ext uri="{0D108BD9-81ED-4DB2-BD59-A6C34878D82A}">
                    <a16:rowId xmlns:a16="http://schemas.microsoft.com/office/drawing/2014/main" val="10004"/>
                  </a:ext>
                </a:extLst>
              </a:tr>
              <a:tr h="242375">
                <a:tc vMerge="1">
                  <a:txBody>
                    <a:bodyPr/>
                    <a:lstStyle/>
                    <a:p>
                      <a:endParaRPr lang="en-VN"/>
                    </a:p>
                  </a:txBody>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17/08 - 23/08</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550</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80</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236</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234</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114</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65</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6</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10</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19</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10</a:t>
                      </a:r>
                      <a:endParaRPr sz="700">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extLst>
                  <a:ext uri="{0D108BD9-81ED-4DB2-BD59-A6C34878D82A}">
                    <a16:rowId xmlns:a16="http://schemas.microsoft.com/office/drawing/2014/main" val="10005"/>
                  </a:ext>
                </a:extLst>
              </a:tr>
              <a:tr h="242375">
                <a:tc vMerge="1">
                  <a:txBody>
                    <a:bodyPr/>
                    <a:lstStyle/>
                    <a:p>
                      <a:endParaRPr lang="en-VN"/>
                    </a:p>
                  </a:txBody>
                  <a:tcPr/>
                </a:tc>
                <a:tc>
                  <a:txBody>
                    <a:bodyPr/>
                    <a:lstStyle/>
                    <a:p>
                      <a:pPr marL="0" lvl="0" indent="0" algn="ctr" rtl="0">
                        <a:lnSpc>
                          <a:spcPct val="115000"/>
                        </a:lnSpc>
                        <a:spcBef>
                          <a:spcPts val="0"/>
                        </a:spcBef>
                        <a:spcAft>
                          <a:spcPts val="0"/>
                        </a:spcAft>
                        <a:buNone/>
                      </a:pPr>
                      <a:r>
                        <a:rPr lang="en" sz="700" b="1">
                          <a:latin typeface="Lexend"/>
                          <a:ea typeface="Lexend"/>
                          <a:cs typeface="Lexend"/>
                          <a:sym typeface="Lexend"/>
                        </a:rPr>
                        <a:t>24/08 - 30/08</a:t>
                      </a:r>
                      <a:endParaRPr sz="700" b="1">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b="1">
                          <a:latin typeface="Lexend"/>
                          <a:ea typeface="Lexend"/>
                          <a:cs typeface="Lexend"/>
                          <a:sym typeface="Lexend"/>
                        </a:rPr>
                        <a:t>574</a:t>
                      </a:r>
                      <a:endParaRPr sz="700" b="1">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700" b="1">
                          <a:latin typeface="Lexend"/>
                          <a:ea typeface="Lexend"/>
                          <a:cs typeface="Lexend"/>
                          <a:sym typeface="Lexend"/>
                        </a:rPr>
                        <a:t>55</a:t>
                      </a:r>
                      <a:endParaRPr sz="700" b="1">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b="1">
                          <a:latin typeface="Lexend"/>
                          <a:ea typeface="Lexend"/>
                          <a:cs typeface="Lexend"/>
                          <a:sym typeface="Lexend"/>
                        </a:rPr>
                        <a:t>236</a:t>
                      </a:r>
                      <a:endParaRPr sz="700" b="1">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700" b="1">
                          <a:latin typeface="Lexend"/>
                          <a:ea typeface="Lexend"/>
                          <a:cs typeface="Lexend"/>
                          <a:sym typeface="Lexend"/>
                        </a:rPr>
                        <a:t>283</a:t>
                      </a:r>
                      <a:endParaRPr sz="700" b="1">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700" b="1">
                          <a:latin typeface="Lexend"/>
                          <a:ea typeface="Lexend"/>
                          <a:cs typeface="Lexend"/>
                          <a:sym typeface="Lexend"/>
                        </a:rPr>
                        <a:t>150</a:t>
                      </a:r>
                      <a:endParaRPr sz="700" b="1">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b="1">
                          <a:latin typeface="Lexend"/>
                          <a:ea typeface="Lexend"/>
                          <a:cs typeface="Lexend"/>
                          <a:sym typeface="Lexend"/>
                        </a:rPr>
                        <a:t>61</a:t>
                      </a:r>
                      <a:endParaRPr sz="700" b="1">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b="1">
                          <a:latin typeface="Lexend"/>
                          <a:ea typeface="Lexend"/>
                          <a:cs typeface="Lexend"/>
                          <a:sym typeface="Lexend"/>
                        </a:rPr>
                        <a:t>4</a:t>
                      </a:r>
                      <a:endParaRPr sz="700" b="1">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b="1">
                          <a:latin typeface="Lexend"/>
                          <a:ea typeface="Lexend"/>
                          <a:cs typeface="Lexend"/>
                          <a:sym typeface="Lexend"/>
                        </a:rPr>
                        <a:t>21</a:t>
                      </a:r>
                      <a:endParaRPr sz="700" b="1">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b="1">
                          <a:latin typeface="Lexend"/>
                          <a:ea typeface="Lexend"/>
                          <a:cs typeface="Lexend"/>
                          <a:sym typeface="Lexend"/>
                        </a:rPr>
                        <a:t>6</a:t>
                      </a:r>
                      <a:endParaRPr sz="700" b="1">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b="1">
                          <a:latin typeface="Lexend"/>
                          <a:ea typeface="Lexend"/>
                          <a:cs typeface="Lexend"/>
                          <a:sym typeface="Lexend"/>
                        </a:rPr>
                        <a:t>20</a:t>
                      </a:r>
                      <a:endParaRPr sz="700" b="1">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b="1">
                          <a:latin typeface="Lexend"/>
                          <a:ea typeface="Lexend"/>
                          <a:cs typeface="Lexend"/>
                          <a:sym typeface="Lexend"/>
                        </a:rPr>
                        <a:t>2</a:t>
                      </a:r>
                      <a:endParaRPr sz="700" b="1">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tc>
                  <a:txBody>
                    <a:bodyPr/>
                    <a:lstStyle/>
                    <a:p>
                      <a:pPr marL="0" lvl="0" indent="0" algn="ctr" rtl="0">
                        <a:lnSpc>
                          <a:spcPct val="115000"/>
                        </a:lnSpc>
                        <a:spcBef>
                          <a:spcPts val="0"/>
                        </a:spcBef>
                        <a:spcAft>
                          <a:spcPts val="0"/>
                        </a:spcAft>
                        <a:buNone/>
                      </a:pPr>
                      <a:r>
                        <a:rPr lang="en" sz="700" b="1">
                          <a:latin typeface="Lexend"/>
                          <a:ea typeface="Lexend"/>
                          <a:cs typeface="Lexend"/>
                          <a:sym typeface="Lexend"/>
                        </a:rPr>
                        <a:t>19</a:t>
                      </a:r>
                      <a:endParaRPr sz="700" b="1">
                        <a:latin typeface="Lexend"/>
                        <a:ea typeface="Lexend"/>
                        <a:cs typeface="Lexend"/>
                        <a:sym typeface="Lexend"/>
                      </a:endParaRPr>
                    </a:p>
                  </a:txBody>
                  <a:tcPr marL="28575" marR="28575" marT="19050" marB="19050" anchor="b">
                    <a:lnL w="9525" cap="flat" cmpd="sng">
                      <a:solidFill>
                        <a:schemeClr val="dk2"/>
                      </a:solidFill>
                      <a:prstDash val="dot"/>
                      <a:round/>
                      <a:headEnd type="none" w="sm" len="sm"/>
                      <a:tailEnd type="none" w="sm" len="sm"/>
                    </a:lnL>
                    <a:lnR w="9525" cap="flat" cmpd="sng">
                      <a:solidFill>
                        <a:schemeClr val="dk2"/>
                      </a:solidFill>
                      <a:prstDash val="dot"/>
                      <a:round/>
                      <a:headEnd type="none" w="sm" len="sm"/>
                      <a:tailEnd type="none" w="sm" len="sm"/>
                    </a:lnR>
                    <a:lnT w="9525" cap="flat" cmpd="sng">
                      <a:solidFill>
                        <a:schemeClr val="dk2"/>
                      </a:solidFill>
                      <a:prstDash val="dot"/>
                      <a:round/>
                      <a:headEnd type="none" w="sm" len="sm"/>
                      <a:tailEnd type="none" w="sm" len="sm"/>
                    </a:lnT>
                    <a:lnB w="9525" cap="flat" cmpd="sng">
                      <a:solidFill>
                        <a:schemeClr val="dk2"/>
                      </a:solidFill>
                      <a:prstDash val="dot"/>
                      <a:round/>
                      <a:headEnd type="none" w="sm" len="sm"/>
                      <a:tailEnd type="none" w="sm" len="sm"/>
                    </a:lnB>
                    <a:solidFill>
                      <a:srgbClr val="000000">
                        <a:alpha val="0"/>
                      </a:srgbClr>
                    </a:solidFill>
                  </a:tcPr>
                </a:tc>
                <a:extLst>
                  <a:ext uri="{0D108BD9-81ED-4DB2-BD59-A6C34878D82A}">
                    <a16:rowId xmlns:a16="http://schemas.microsoft.com/office/drawing/2014/main" val="10006"/>
                  </a:ext>
                </a:extLst>
              </a:tr>
            </a:tbl>
          </a:graphicData>
        </a:graphic>
      </p:graphicFrame>
      <p:sp>
        <p:nvSpPr>
          <p:cNvPr id="874" name="Google Shape;874;p66"/>
          <p:cNvSpPr txBox="1"/>
          <p:nvPr/>
        </p:nvSpPr>
        <p:spPr>
          <a:xfrm>
            <a:off x="390550" y="620225"/>
            <a:ext cx="8384700" cy="241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i="1">
                <a:latin typeface="Lexend"/>
                <a:ea typeface="Lexend"/>
                <a:cs typeface="Lexend"/>
                <a:sym typeface="Lexend"/>
              </a:rPr>
              <a:t>Both cities show a growing driver base, but declining first-week participation and rising no-activity drivers indicate that MiniHub activation remains the key challenge</a:t>
            </a:r>
            <a:endParaRPr sz="800" i="1">
              <a:latin typeface="Lexend"/>
              <a:ea typeface="Lexend"/>
              <a:cs typeface="Lexend"/>
              <a:sym typeface="Lexen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001"/>
        <p:cNvGrpSpPr/>
        <p:nvPr/>
      </p:nvGrpSpPr>
      <p:grpSpPr>
        <a:xfrm>
          <a:off x="0" y="0"/>
          <a:ext cx="0" cy="0"/>
          <a:chOff x="0" y="0"/>
          <a:chExt cx="0" cy="0"/>
        </a:xfrm>
      </p:grpSpPr>
      <p:sp>
        <p:nvSpPr>
          <p:cNvPr id="1002" name="Google Shape;1002;p69"/>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69"/>
          <p:cNvSpPr/>
          <p:nvPr/>
        </p:nvSpPr>
        <p:spPr>
          <a:xfrm>
            <a:off x="731520" y="2011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a:solidFill>
                  <a:srgbClr val="0E4174"/>
                </a:solidFill>
                <a:latin typeface="Lexend"/>
                <a:ea typeface="Lexend"/>
                <a:cs typeface="Lexend"/>
                <a:sym typeface="Lexend"/>
              </a:rPr>
              <a:t>Cityzone</a:t>
            </a:r>
            <a:endParaRPr sz="2200" b="1" i="0" u="none" strike="noStrike" cap="none">
              <a:solidFill>
                <a:srgbClr val="F56C1F"/>
              </a:solidFill>
              <a:highlight>
                <a:schemeClr val="lt1"/>
              </a:highlight>
              <a:latin typeface="Lexend"/>
              <a:ea typeface="Lexend"/>
              <a:cs typeface="Lexend"/>
              <a:sym typeface="Lexend"/>
            </a:endParaRPr>
          </a:p>
        </p:txBody>
      </p:sp>
      <p:sp>
        <p:nvSpPr>
          <p:cNvPr id="1004" name="Google Shape;1004;p69"/>
          <p:cNvSpPr/>
          <p:nvPr/>
        </p:nvSpPr>
        <p:spPr>
          <a:xfrm>
            <a:off x="731520" y="594360"/>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 sz="1000" i="1">
                <a:solidFill>
                  <a:schemeClr val="accent3"/>
                </a:solidFill>
                <a:latin typeface="Lexend"/>
                <a:ea typeface="Lexend"/>
                <a:cs typeface="Lexend"/>
                <a:sym typeface="Lexend"/>
              </a:rPr>
              <a:t>Review lại tình hình cityzone</a:t>
            </a:r>
            <a:endParaRPr sz="1000" i="1">
              <a:solidFill>
                <a:schemeClr val="accent3"/>
              </a:solidFill>
              <a:latin typeface="Lexend"/>
              <a:ea typeface="Lexend"/>
              <a:cs typeface="Lexend"/>
              <a:sym typeface="Lexend"/>
            </a:endParaRPr>
          </a:p>
        </p:txBody>
      </p:sp>
      <p:cxnSp>
        <p:nvCxnSpPr>
          <p:cNvPr id="1005" name="Google Shape;1005;p69"/>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1006" name="Google Shape;1006;p69"/>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sp>
        <p:nvSpPr>
          <p:cNvPr id="1007" name="Google Shape;1007;p69"/>
          <p:cNvSpPr/>
          <p:nvPr/>
        </p:nvSpPr>
        <p:spPr>
          <a:xfrm>
            <a:off x="430475" y="285363"/>
            <a:ext cx="229284" cy="243216"/>
          </a:xfrm>
          <a:prstGeom prst="lightningBolt">
            <a:avLst/>
          </a:prstGeom>
          <a:solidFill>
            <a:srgbClr val="FF7F3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08" name="Google Shape;1008;p69"/>
          <p:cNvSpPr/>
          <p:nvPr/>
        </p:nvSpPr>
        <p:spPr>
          <a:xfrm>
            <a:off x="380713" y="242300"/>
            <a:ext cx="328800" cy="328800"/>
          </a:xfrm>
          <a:prstGeom prst="roundRect">
            <a:avLst>
              <a:gd name="adj" fmla="val 28261"/>
            </a:avLst>
          </a:prstGeom>
          <a:gradFill>
            <a:gsLst>
              <a:gs pos="0">
                <a:srgbClr val="FF9A50"/>
              </a:gs>
              <a:gs pos="100000">
                <a:srgbClr val="FF7F32"/>
              </a:gs>
            </a:gsLst>
            <a:lin ang="2700006"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009" name="Google Shape;1009;p69"/>
          <p:cNvSpPr/>
          <p:nvPr/>
        </p:nvSpPr>
        <p:spPr>
          <a:xfrm>
            <a:off x="365738" y="991125"/>
            <a:ext cx="3764700" cy="3254100"/>
          </a:xfrm>
          <a:prstGeom prst="roundRect">
            <a:avLst>
              <a:gd name="adj" fmla="val 8938"/>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900">
              <a:latin typeface="Lexend"/>
              <a:ea typeface="Lexend"/>
              <a:cs typeface="Lexend"/>
              <a:sym typeface="Lexend"/>
            </a:endParaRPr>
          </a:p>
        </p:txBody>
      </p:sp>
      <p:sp>
        <p:nvSpPr>
          <p:cNvPr id="1010" name="Google Shape;1010;p69"/>
          <p:cNvSpPr/>
          <p:nvPr/>
        </p:nvSpPr>
        <p:spPr>
          <a:xfrm>
            <a:off x="1542402" y="2093276"/>
            <a:ext cx="1573636" cy="533982"/>
          </a:xfrm>
          <a:custGeom>
            <a:avLst/>
            <a:gdLst/>
            <a:ahLst/>
            <a:cxnLst/>
            <a:rect l="l" t="t" r="r" b="b"/>
            <a:pathLst>
              <a:path w="1823" h="841" extrusionOk="0">
                <a:moveTo>
                  <a:pt x="1401" y="841"/>
                </a:moveTo>
                <a:lnTo>
                  <a:pt x="1790" y="68"/>
                </a:lnTo>
                <a:lnTo>
                  <a:pt x="1823" y="0"/>
                </a:lnTo>
                <a:lnTo>
                  <a:pt x="0" y="0"/>
                </a:lnTo>
                <a:lnTo>
                  <a:pt x="0" y="0"/>
                </a:lnTo>
                <a:lnTo>
                  <a:pt x="423" y="841"/>
                </a:lnTo>
                <a:lnTo>
                  <a:pt x="423" y="841"/>
                </a:lnTo>
                <a:lnTo>
                  <a:pt x="1401" y="841"/>
                </a:lnTo>
                <a:close/>
              </a:path>
            </a:pathLst>
          </a:custGeom>
          <a:solidFill>
            <a:srgbClr val="34A853"/>
          </a:solidFill>
          <a:ln>
            <a:noFill/>
          </a:ln>
        </p:spPr>
        <p:txBody>
          <a:bodyPr spcFirstLastPara="1" wrap="square" lIns="29875" tIns="14925" rIns="29875" bIns="14925" anchor="t" anchorCtr="0">
            <a:noAutofit/>
          </a:bodyPr>
          <a:lstStyle/>
          <a:p>
            <a:pPr marL="0" marR="0" lvl="0" indent="0" algn="l" rtl="0">
              <a:spcBef>
                <a:spcPts val="0"/>
              </a:spcBef>
              <a:spcAft>
                <a:spcPts val="0"/>
              </a:spcAft>
              <a:buNone/>
            </a:pPr>
            <a:endParaRPr sz="588">
              <a:solidFill>
                <a:srgbClr val="000000"/>
              </a:solidFill>
              <a:latin typeface="Calibri"/>
              <a:ea typeface="Calibri"/>
              <a:cs typeface="Calibri"/>
              <a:sym typeface="Calibri"/>
            </a:endParaRPr>
          </a:p>
        </p:txBody>
      </p:sp>
      <p:sp>
        <p:nvSpPr>
          <p:cNvPr id="1011" name="Google Shape;1011;p69"/>
          <p:cNvSpPr txBox="1"/>
          <p:nvPr/>
        </p:nvSpPr>
        <p:spPr>
          <a:xfrm>
            <a:off x="449529" y="1208325"/>
            <a:ext cx="25728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b="1">
                <a:solidFill>
                  <a:srgbClr val="0E4174"/>
                </a:solidFill>
                <a:latin typeface="Lexend"/>
                <a:ea typeface="Lexend"/>
                <a:cs typeface="Lexend"/>
                <a:sym typeface="Lexend"/>
              </a:rPr>
              <a:t>ACTIVE HUB FUNNEL</a:t>
            </a:r>
            <a:endParaRPr sz="1100"/>
          </a:p>
        </p:txBody>
      </p:sp>
      <p:sp>
        <p:nvSpPr>
          <p:cNvPr id="1012" name="Google Shape;1012;p69"/>
          <p:cNvSpPr txBox="1"/>
          <p:nvPr/>
        </p:nvSpPr>
        <p:spPr>
          <a:xfrm>
            <a:off x="1562846" y="2139329"/>
            <a:ext cx="1532700" cy="533400"/>
          </a:xfrm>
          <a:prstGeom prst="rect">
            <a:avLst/>
          </a:prstGeom>
          <a:noFill/>
          <a:ln>
            <a:noFill/>
          </a:ln>
        </p:spPr>
        <p:txBody>
          <a:bodyPr spcFirstLastPara="1" wrap="square" lIns="68175" tIns="68175" rIns="68175" bIns="68175" anchor="ctr" anchorCtr="0">
            <a:noAutofit/>
          </a:bodyPr>
          <a:lstStyle/>
          <a:p>
            <a:pPr marL="0" lvl="0" indent="0" algn="ctr" rtl="0">
              <a:lnSpc>
                <a:spcPct val="115000"/>
              </a:lnSpc>
              <a:spcBef>
                <a:spcPts val="0"/>
              </a:spcBef>
              <a:spcAft>
                <a:spcPts val="0"/>
              </a:spcAft>
              <a:buNone/>
            </a:pPr>
            <a:r>
              <a:rPr lang="en" sz="1164">
                <a:solidFill>
                  <a:srgbClr val="FFFFFF"/>
                </a:solidFill>
                <a:latin typeface="Nunito Black"/>
                <a:ea typeface="Nunito Black"/>
                <a:cs typeface="Nunito Black"/>
                <a:sym typeface="Nunito Black"/>
              </a:rPr>
              <a:t>1,177</a:t>
            </a:r>
            <a:endParaRPr sz="1164">
              <a:solidFill>
                <a:srgbClr val="FFFFFF"/>
              </a:solidFill>
              <a:latin typeface="Nunito Black"/>
              <a:ea typeface="Nunito Black"/>
              <a:cs typeface="Nunito Black"/>
              <a:sym typeface="Nunito Black"/>
            </a:endParaRPr>
          </a:p>
          <a:p>
            <a:pPr marL="0" lvl="0" indent="0" algn="ctr" rtl="0">
              <a:lnSpc>
                <a:spcPct val="115000"/>
              </a:lnSpc>
              <a:spcBef>
                <a:spcPts val="0"/>
              </a:spcBef>
              <a:spcAft>
                <a:spcPts val="0"/>
              </a:spcAft>
              <a:buNone/>
            </a:pPr>
            <a:endParaRPr sz="671">
              <a:solidFill>
                <a:srgbClr val="FFFFFF"/>
              </a:solidFill>
              <a:latin typeface="Nunito Black"/>
              <a:ea typeface="Nunito Black"/>
              <a:cs typeface="Nunito Black"/>
              <a:sym typeface="Nunito Black"/>
            </a:endParaRPr>
          </a:p>
        </p:txBody>
      </p:sp>
      <p:sp>
        <p:nvSpPr>
          <p:cNvPr id="1013" name="Google Shape;1013;p69"/>
          <p:cNvSpPr/>
          <p:nvPr/>
        </p:nvSpPr>
        <p:spPr>
          <a:xfrm>
            <a:off x="1215651" y="1551370"/>
            <a:ext cx="2226225" cy="533358"/>
          </a:xfrm>
          <a:custGeom>
            <a:avLst/>
            <a:gdLst/>
            <a:ahLst/>
            <a:cxnLst/>
            <a:rect l="l" t="t" r="r" b="b"/>
            <a:pathLst>
              <a:path w="3086" h="1007" extrusionOk="0">
                <a:moveTo>
                  <a:pt x="2635" y="1007"/>
                </a:moveTo>
                <a:cubicBezTo>
                  <a:pt x="2636" y="1007"/>
                  <a:pt x="2636" y="1007"/>
                  <a:pt x="2636" y="1007"/>
                </a:cubicBezTo>
                <a:cubicBezTo>
                  <a:pt x="3038" y="208"/>
                  <a:pt x="3038" y="208"/>
                  <a:pt x="3038" y="208"/>
                </a:cubicBezTo>
                <a:cubicBezTo>
                  <a:pt x="3086" y="113"/>
                  <a:pt x="3019" y="0"/>
                  <a:pt x="2916" y="0"/>
                </a:cubicBezTo>
                <a:cubicBezTo>
                  <a:pt x="170" y="0"/>
                  <a:pt x="170" y="0"/>
                  <a:pt x="170" y="0"/>
                </a:cubicBezTo>
                <a:cubicBezTo>
                  <a:pt x="67" y="0"/>
                  <a:pt x="0" y="113"/>
                  <a:pt x="48" y="208"/>
                </a:cubicBezTo>
                <a:cubicBezTo>
                  <a:pt x="450" y="1007"/>
                  <a:pt x="450" y="1007"/>
                  <a:pt x="450" y="1007"/>
                </a:cubicBezTo>
                <a:cubicBezTo>
                  <a:pt x="450" y="1007"/>
                  <a:pt x="450" y="1007"/>
                  <a:pt x="450" y="1007"/>
                </a:cubicBezTo>
                <a:lnTo>
                  <a:pt x="2635" y="1007"/>
                </a:lnTo>
                <a:close/>
              </a:path>
            </a:pathLst>
          </a:custGeom>
          <a:solidFill>
            <a:srgbClr val="27598E"/>
          </a:solidFill>
          <a:ln>
            <a:noFill/>
          </a:ln>
        </p:spPr>
        <p:txBody>
          <a:bodyPr spcFirstLastPara="1" wrap="square" lIns="29875" tIns="14925" rIns="29875" bIns="14925" anchor="t" anchorCtr="0">
            <a:noAutofit/>
          </a:bodyPr>
          <a:lstStyle/>
          <a:p>
            <a:pPr marL="0" marR="0" lvl="0" indent="0" algn="l" rtl="0">
              <a:spcBef>
                <a:spcPts val="0"/>
              </a:spcBef>
              <a:spcAft>
                <a:spcPts val="0"/>
              </a:spcAft>
              <a:buNone/>
            </a:pPr>
            <a:endParaRPr sz="588">
              <a:solidFill>
                <a:srgbClr val="000000"/>
              </a:solidFill>
              <a:latin typeface="Calibri"/>
              <a:ea typeface="Calibri"/>
              <a:cs typeface="Calibri"/>
              <a:sym typeface="Calibri"/>
            </a:endParaRPr>
          </a:p>
        </p:txBody>
      </p:sp>
      <p:sp>
        <p:nvSpPr>
          <p:cNvPr id="1014" name="Google Shape;1014;p69"/>
          <p:cNvSpPr txBox="1"/>
          <p:nvPr/>
        </p:nvSpPr>
        <p:spPr>
          <a:xfrm>
            <a:off x="1562386" y="1579895"/>
            <a:ext cx="1532700" cy="580800"/>
          </a:xfrm>
          <a:prstGeom prst="rect">
            <a:avLst/>
          </a:prstGeom>
          <a:noFill/>
          <a:ln>
            <a:noFill/>
          </a:ln>
        </p:spPr>
        <p:txBody>
          <a:bodyPr spcFirstLastPara="1" wrap="square" lIns="68175" tIns="68175" rIns="68175" bIns="68175" anchor="ctr" anchorCtr="0">
            <a:noAutofit/>
          </a:bodyPr>
          <a:lstStyle/>
          <a:p>
            <a:pPr marL="0" lvl="0" indent="0" algn="ctr" rtl="0">
              <a:lnSpc>
                <a:spcPct val="115000"/>
              </a:lnSpc>
              <a:spcBef>
                <a:spcPts val="0"/>
              </a:spcBef>
              <a:spcAft>
                <a:spcPts val="0"/>
              </a:spcAft>
              <a:buNone/>
            </a:pPr>
            <a:r>
              <a:rPr lang="en" sz="1164">
                <a:solidFill>
                  <a:srgbClr val="FFFFFF"/>
                </a:solidFill>
                <a:latin typeface="Nunito Black"/>
                <a:ea typeface="Nunito Black"/>
                <a:cs typeface="Nunito Black"/>
                <a:sym typeface="Nunito Black"/>
              </a:rPr>
              <a:t>1,243</a:t>
            </a:r>
            <a:endParaRPr sz="1164">
              <a:solidFill>
                <a:srgbClr val="FFFFFF"/>
              </a:solidFill>
              <a:latin typeface="Nunito Black"/>
              <a:ea typeface="Nunito Black"/>
              <a:cs typeface="Nunito Black"/>
              <a:sym typeface="Nunito Black"/>
            </a:endParaRPr>
          </a:p>
          <a:p>
            <a:pPr marL="0" lvl="0" indent="0" algn="ctr" rtl="0">
              <a:lnSpc>
                <a:spcPct val="115000"/>
              </a:lnSpc>
              <a:spcBef>
                <a:spcPts val="0"/>
              </a:spcBef>
              <a:spcAft>
                <a:spcPts val="0"/>
              </a:spcAft>
              <a:buNone/>
            </a:pPr>
            <a:endParaRPr sz="671">
              <a:solidFill>
                <a:srgbClr val="FFFFFF"/>
              </a:solidFill>
              <a:latin typeface="Nunito Black"/>
              <a:ea typeface="Nunito Black"/>
              <a:cs typeface="Nunito Black"/>
              <a:sym typeface="Nunito Black"/>
            </a:endParaRPr>
          </a:p>
        </p:txBody>
      </p:sp>
      <p:sp>
        <p:nvSpPr>
          <p:cNvPr id="1015" name="Google Shape;1015;p69"/>
          <p:cNvSpPr txBox="1"/>
          <p:nvPr/>
        </p:nvSpPr>
        <p:spPr>
          <a:xfrm>
            <a:off x="746795" y="2162441"/>
            <a:ext cx="691200" cy="404700"/>
          </a:xfrm>
          <a:prstGeom prst="rect">
            <a:avLst/>
          </a:prstGeom>
          <a:noFill/>
          <a:ln>
            <a:noFill/>
          </a:ln>
        </p:spPr>
        <p:txBody>
          <a:bodyPr spcFirstLastPara="1" wrap="square" lIns="68175" tIns="68175" rIns="68175" bIns="68175" anchor="ctr" anchorCtr="0">
            <a:noAutofit/>
          </a:bodyPr>
          <a:lstStyle/>
          <a:p>
            <a:pPr marL="0" lvl="0" indent="0" algn="ctr" rtl="0">
              <a:lnSpc>
                <a:spcPct val="115000"/>
              </a:lnSpc>
              <a:spcBef>
                <a:spcPts val="0"/>
              </a:spcBef>
              <a:spcAft>
                <a:spcPts val="0"/>
              </a:spcAft>
              <a:buNone/>
            </a:pPr>
            <a:r>
              <a:rPr lang="en" sz="803">
                <a:solidFill>
                  <a:srgbClr val="0B8043"/>
                </a:solidFill>
                <a:latin typeface="Montserrat Black"/>
                <a:ea typeface="Montserrat Black"/>
                <a:cs typeface="Montserrat Black"/>
                <a:sym typeface="Montserrat Black"/>
              </a:rPr>
              <a:t>94,4%</a:t>
            </a:r>
            <a:endParaRPr sz="803" b="1">
              <a:solidFill>
                <a:srgbClr val="0B8043"/>
              </a:solidFill>
              <a:latin typeface="Montserrat"/>
              <a:ea typeface="Montserrat"/>
              <a:cs typeface="Montserrat"/>
              <a:sym typeface="Montserrat"/>
            </a:endParaRPr>
          </a:p>
        </p:txBody>
      </p:sp>
      <p:sp>
        <p:nvSpPr>
          <p:cNvPr id="1016" name="Google Shape;1016;p69"/>
          <p:cNvSpPr txBox="1"/>
          <p:nvPr/>
        </p:nvSpPr>
        <p:spPr>
          <a:xfrm>
            <a:off x="844767" y="1647075"/>
            <a:ext cx="495300" cy="404700"/>
          </a:xfrm>
          <a:prstGeom prst="rect">
            <a:avLst/>
          </a:prstGeom>
          <a:noFill/>
          <a:ln>
            <a:noFill/>
          </a:ln>
        </p:spPr>
        <p:txBody>
          <a:bodyPr spcFirstLastPara="1" wrap="square" lIns="68175" tIns="68175" rIns="68175" bIns="68175" anchor="ctr" anchorCtr="0">
            <a:noAutofit/>
          </a:bodyPr>
          <a:lstStyle/>
          <a:p>
            <a:pPr marL="0" lvl="0" indent="0" algn="ctr" rtl="0">
              <a:lnSpc>
                <a:spcPct val="115000"/>
              </a:lnSpc>
              <a:spcBef>
                <a:spcPts val="0"/>
              </a:spcBef>
              <a:spcAft>
                <a:spcPts val="0"/>
              </a:spcAft>
              <a:buNone/>
            </a:pPr>
            <a:r>
              <a:rPr lang="en" sz="803">
                <a:solidFill>
                  <a:srgbClr val="666666"/>
                </a:solidFill>
                <a:latin typeface="Montserrat"/>
                <a:ea typeface="Montserrat"/>
                <a:cs typeface="Montserrat"/>
                <a:sym typeface="Montserrat"/>
              </a:rPr>
              <a:t>100%</a:t>
            </a:r>
            <a:endParaRPr sz="803">
              <a:solidFill>
                <a:srgbClr val="666666"/>
              </a:solidFill>
              <a:latin typeface="Montserrat"/>
              <a:ea typeface="Montserrat"/>
              <a:cs typeface="Montserrat"/>
              <a:sym typeface="Montserrat"/>
            </a:endParaRPr>
          </a:p>
        </p:txBody>
      </p:sp>
      <p:sp>
        <p:nvSpPr>
          <p:cNvPr id="1017" name="Google Shape;1017;p69"/>
          <p:cNvSpPr/>
          <p:nvPr/>
        </p:nvSpPr>
        <p:spPr>
          <a:xfrm>
            <a:off x="1909439" y="2631658"/>
            <a:ext cx="843043" cy="445513"/>
          </a:xfrm>
          <a:prstGeom prst="flowChartManualOperation">
            <a:avLst/>
          </a:prstGeom>
          <a:solidFill>
            <a:srgbClr val="E69138"/>
          </a:solidFill>
          <a:ln>
            <a:noFill/>
          </a:ln>
        </p:spPr>
        <p:txBody>
          <a:bodyPr spcFirstLastPara="1" wrap="square" lIns="81575" tIns="81575" rIns="81575" bIns="81575" anchor="ctr" anchorCtr="0">
            <a:noAutofit/>
          </a:bodyPr>
          <a:lstStyle/>
          <a:p>
            <a:pPr marL="0" lvl="0" indent="0" algn="ctr" rtl="0">
              <a:spcBef>
                <a:spcPts val="0"/>
              </a:spcBef>
              <a:spcAft>
                <a:spcPts val="0"/>
              </a:spcAft>
              <a:buNone/>
            </a:pPr>
            <a:endParaRPr sz="1249"/>
          </a:p>
        </p:txBody>
      </p:sp>
      <p:sp>
        <p:nvSpPr>
          <p:cNvPr id="1018" name="Google Shape;1018;p69"/>
          <p:cNvSpPr/>
          <p:nvPr/>
        </p:nvSpPr>
        <p:spPr>
          <a:xfrm>
            <a:off x="2080376" y="3090382"/>
            <a:ext cx="503243" cy="329517"/>
          </a:xfrm>
          <a:prstGeom prst="flowChartManualOperation">
            <a:avLst/>
          </a:prstGeom>
          <a:solidFill>
            <a:srgbClr val="EF4444"/>
          </a:solidFill>
          <a:ln>
            <a:noFill/>
          </a:ln>
        </p:spPr>
        <p:txBody>
          <a:bodyPr spcFirstLastPara="1" wrap="square" lIns="81575" tIns="81575" rIns="81575" bIns="81575" anchor="ctr" anchorCtr="0">
            <a:noAutofit/>
          </a:bodyPr>
          <a:lstStyle/>
          <a:p>
            <a:pPr marL="0" lvl="0" indent="0" algn="ctr" rtl="0">
              <a:spcBef>
                <a:spcPts val="0"/>
              </a:spcBef>
              <a:spcAft>
                <a:spcPts val="0"/>
              </a:spcAft>
              <a:buNone/>
            </a:pPr>
            <a:endParaRPr sz="535"/>
          </a:p>
        </p:txBody>
      </p:sp>
      <p:sp>
        <p:nvSpPr>
          <p:cNvPr id="1019" name="Google Shape;1019;p69"/>
          <p:cNvSpPr txBox="1"/>
          <p:nvPr/>
        </p:nvSpPr>
        <p:spPr>
          <a:xfrm>
            <a:off x="1909439" y="2722930"/>
            <a:ext cx="843000" cy="386400"/>
          </a:xfrm>
          <a:prstGeom prst="rect">
            <a:avLst/>
          </a:prstGeom>
          <a:noFill/>
          <a:ln>
            <a:noFill/>
          </a:ln>
        </p:spPr>
        <p:txBody>
          <a:bodyPr spcFirstLastPara="1" wrap="square" lIns="68175" tIns="68175" rIns="68175" bIns="68175" anchor="ctr" anchorCtr="0">
            <a:noAutofit/>
          </a:bodyPr>
          <a:lstStyle/>
          <a:p>
            <a:pPr marL="0" lvl="0" indent="0" algn="ctr" rtl="0">
              <a:lnSpc>
                <a:spcPct val="115000"/>
              </a:lnSpc>
              <a:spcBef>
                <a:spcPts val="0"/>
              </a:spcBef>
              <a:spcAft>
                <a:spcPts val="0"/>
              </a:spcAft>
              <a:buNone/>
            </a:pPr>
            <a:r>
              <a:rPr lang="en" sz="1164">
                <a:solidFill>
                  <a:srgbClr val="FFFFFF"/>
                </a:solidFill>
                <a:latin typeface="Nunito Black"/>
                <a:ea typeface="Nunito Black"/>
                <a:cs typeface="Nunito Black"/>
                <a:sym typeface="Nunito Black"/>
              </a:rPr>
              <a:t>497</a:t>
            </a:r>
            <a:endParaRPr sz="1164">
              <a:solidFill>
                <a:srgbClr val="FFFFFF"/>
              </a:solidFill>
              <a:latin typeface="Nunito Black"/>
              <a:ea typeface="Nunito Black"/>
              <a:cs typeface="Nunito Black"/>
              <a:sym typeface="Nunito Black"/>
            </a:endParaRPr>
          </a:p>
          <a:p>
            <a:pPr marL="0" lvl="0" indent="0" algn="ctr" rtl="0">
              <a:lnSpc>
                <a:spcPct val="115000"/>
              </a:lnSpc>
              <a:spcBef>
                <a:spcPts val="0"/>
              </a:spcBef>
              <a:spcAft>
                <a:spcPts val="0"/>
              </a:spcAft>
              <a:buNone/>
            </a:pPr>
            <a:endParaRPr sz="671">
              <a:solidFill>
                <a:srgbClr val="FFFFFF"/>
              </a:solidFill>
              <a:latin typeface="Nunito Black"/>
              <a:ea typeface="Nunito Black"/>
              <a:cs typeface="Nunito Black"/>
              <a:sym typeface="Nunito Black"/>
            </a:endParaRPr>
          </a:p>
        </p:txBody>
      </p:sp>
      <p:sp>
        <p:nvSpPr>
          <p:cNvPr id="1020" name="Google Shape;1020;p69"/>
          <p:cNvSpPr txBox="1"/>
          <p:nvPr/>
        </p:nvSpPr>
        <p:spPr>
          <a:xfrm>
            <a:off x="2074613" y="3177920"/>
            <a:ext cx="503100" cy="270900"/>
          </a:xfrm>
          <a:prstGeom prst="rect">
            <a:avLst/>
          </a:prstGeom>
          <a:noFill/>
          <a:ln>
            <a:noFill/>
          </a:ln>
        </p:spPr>
        <p:txBody>
          <a:bodyPr spcFirstLastPara="1" wrap="square" lIns="68175" tIns="68175" rIns="68175" bIns="68175" anchor="ctr" anchorCtr="0">
            <a:noAutofit/>
          </a:bodyPr>
          <a:lstStyle/>
          <a:p>
            <a:pPr marL="0" lvl="0" indent="0" algn="ctr" rtl="0">
              <a:lnSpc>
                <a:spcPct val="115000"/>
              </a:lnSpc>
              <a:spcBef>
                <a:spcPts val="0"/>
              </a:spcBef>
              <a:spcAft>
                <a:spcPts val="0"/>
              </a:spcAft>
              <a:buNone/>
            </a:pPr>
            <a:r>
              <a:rPr lang="en" sz="1014">
                <a:solidFill>
                  <a:srgbClr val="FFFFFF"/>
                </a:solidFill>
                <a:latin typeface="Nunito Black"/>
                <a:ea typeface="Nunito Black"/>
                <a:cs typeface="Nunito Black"/>
                <a:sym typeface="Nunito Black"/>
              </a:rPr>
              <a:t>229</a:t>
            </a:r>
            <a:endParaRPr sz="1014">
              <a:solidFill>
                <a:srgbClr val="FFFFFF"/>
              </a:solidFill>
              <a:latin typeface="Nunito Black"/>
              <a:ea typeface="Nunito Black"/>
              <a:cs typeface="Nunito Black"/>
              <a:sym typeface="Nunito Black"/>
            </a:endParaRPr>
          </a:p>
          <a:p>
            <a:pPr marL="0" lvl="0" indent="0" algn="ctr" rtl="0">
              <a:lnSpc>
                <a:spcPct val="115000"/>
              </a:lnSpc>
              <a:spcBef>
                <a:spcPts val="0"/>
              </a:spcBef>
              <a:spcAft>
                <a:spcPts val="0"/>
              </a:spcAft>
              <a:buNone/>
            </a:pPr>
            <a:endParaRPr sz="614">
              <a:solidFill>
                <a:srgbClr val="FFFFFF"/>
              </a:solidFill>
              <a:latin typeface="Nunito Black"/>
              <a:ea typeface="Nunito Black"/>
              <a:cs typeface="Nunito Black"/>
              <a:sym typeface="Nunito Black"/>
            </a:endParaRPr>
          </a:p>
        </p:txBody>
      </p:sp>
      <p:sp>
        <p:nvSpPr>
          <p:cNvPr id="1021" name="Google Shape;1021;p69"/>
          <p:cNvSpPr txBox="1"/>
          <p:nvPr/>
        </p:nvSpPr>
        <p:spPr>
          <a:xfrm>
            <a:off x="670907" y="2705165"/>
            <a:ext cx="843000" cy="309600"/>
          </a:xfrm>
          <a:prstGeom prst="rect">
            <a:avLst/>
          </a:prstGeom>
          <a:noFill/>
          <a:ln>
            <a:noFill/>
          </a:ln>
        </p:spPr>
        <p:txBody>
          <a:bodyPr spcFirstLastPara="1" wrap="square" lIns="68175" tIns="68175" rIns="68175" bIns="68175" anchor="ctr" anchorCtr="0">
            <a:noAutofit/>
          </a:bodyPr>
          <a:lstStyle/>
          <a:p>
            <a:pPr marL="0" lvl="0" indent="0" algn="ctr" rtl="0">
              <a:lnSpc>
                <a:spcPct val="115000"/>
              </a:lnSpc>
              <a:spcBef>
                <a:spcPts val="0"/>
              </a:spcBef>
              <a:spcAft>
                <a:spcPts val="0"/>
              </a:spcAft>
              <a:buNone/>
            </a:pPr>
            <a:r>
              <a:rPr lang="en" sz="803">
                <a:solidFill>
                  <a:srgbClr val="F66000"/>
                </a:solidFill>
                <a:latin typeface="Montserrat Black"/>
                <a:ea typeface="Montserrat Black"/>
                <a:cs typeface="Montserrat Black"/>
                <a:sym typeface="Montserrat Black"/>
              </a:rPr>
              <a:t>30.1%</a:t>
            </a:r>
            <a:endParaRPr sz="803">
              <a:solidFill>
                <a:srgbClr val="F66000"/>
              </a:solidFill>
              <a:latin typeface="Montserrat Black"/>
              <a:ea typeface="Montserrat Black"/>
              <a:cs typeface="Montserrat Black"/>
              <a:sym typeface="Montserrat Black"/>
            </a:endParaRPr>
          </a:p>
        </p:txBody>
      </p:sp>
      <p:sp>
        <p:nvSpPr>
          <p:cNvPr id="1022" name="Google Shape;1022;p69"/>
          <p:cNvSpPr txBox="1"/>
          <p:nvPr/>
        </p:nvSpPr>
        <p:spPr>
          <a:xfrm>
            <a:off x="648824" y="3063481"/>
            <a:ext cx="887100" cy="309600"/>
          </a:xfrm>
          <a:prstGeom prst="rect">
            <a:avLst/>
          </a:prstGeom>
          <a:noFill/>
          <a:ln>
            <a:noFill/>
          </a:ln>
        </p:spPr>
        <p:txBody>
          <a:bodyPr spcFirstLastPara="1" wrap="square" lIns="68175" tIns="68175" rIns="68175" bIns="68175" anchor="ctr" anchorCtr="0">
            <a:noAutofit/>
          </a:bodyPr>
          <a:lstStyle/>
          <a:p>
            <a:pPr marL="0" lvl="0" indent="0" algn="ctr" rtl="0">
              <a:lnSpc>
                <a:spcPct val="115000"/>
              </a:lnSpc>
              <a:spcBef>
                <a:spcPts val="0"/>
              </a:spcBef>
              <a:spcAft>
                <a:spcPts val="0"/>
              </a:spcAft>
              <a:buNone/>
            </a:pPr>
            <a:r>
              <a:rPr lang="en" sz="803">
                <a:solidFill>
                  <a:srgbClr val="DC2626"/>
                </a:solidFill>
                <a:latin typeface="Montserrat Black"/>
                <a:ea typeface="Montserrat Black"/>
                <a:cs typeface="Montserrat Black"/>
                <a:sym typeface="Montserrat Black"/>
              </a:rPr>
              <a:t>13.5%</a:t>
            </a:r>
            <a:endParaRPr sz="803">
              <a:solidFill>
                <a:srgbClr val="DC2626"/>
              </a:solidFill>
              <a:latin typeface="Montserrat Black"/>
              <a:ea typeface="Montserrat Black"/>
              <a:cs typeface="Montserrat Black"/>
              <a:sym typeface="Montserrat Black"/>
            </a:endParaRPr>
          </a:p>
        </p:txBody>
      </p:sp>
      <p:sp>
        <p:nvSpPr>
          <p:cNvPr id="1023" name="Google Shape;1023;p69"/>
          <p:cNvSpPr/>
          <p:nvPr/>
        </p:nvSpPr>
        <p:spPr>
          <a:xfrm>
            <a:off x="2186081" y="3436125"/>
            <a:ext cx="294325" cy="215400"/>
          </a:xfrm>
          <a:prstGeom prst="flowChartManualOperation">
            <a:avLst/>
          </a:prstGeom>
          <a:solidFill>
            <a:srgbClr val="EF4444"/>
          </a:solidFill>
          <a:ln>
            <a:noFill/>
          </a:ln>
        </p:spPr>
        <p:txBody>
          <a:bodyPr spcFirstLastPara="1" wrap="square" lIns="81575" tIns="81575" rIns="81575" bIns="81575" anchor="ctr" anchorCtr="0">
            <a:noAutofit/>
          </a:bodyPr>
          <a:lstStyle/>
          <a:p>
            <a:pPr marL="0" lvl="0" indent="0" algn="ctr" rtl="0">
              <a:spcBef>
                <a:spcPts val="0"/>
              </a:spcBef>
              <a:spcAft>
                <a:spcPts val="0"/>
              </a:spcAft>
              <a:buNone/>
            </a:pPr>
            <a:endParaRPr sz="335" b="1">
              <a:latin typeface="Nunito"/>
              <a:ea typeface="Nunito"/>
              <a:cs typeface="Nunito"/>
              <a:sym typeface="Nunito"/>
            </a:endParaRPr>
          </a:p>
        </p:txBody>
      </p:sp>
      <p:sp>
        <p:nvSpPr>
          <p:cNvPr id="1024" name="Google Shape;1024;p69"/>
          <p:cNvSpPr txBox="1"/>
          <p:nvPr/>
        </p:nvSpPr>
        <p:spPr>
          <a:xfrm>
            <a:off x="2137669" y="3378313"/>
            <a:ext cx="4953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solidFill>
                  <a:schemeClr val="lt1"/>
                </a:solidFill>
                <a:latin typeface="Nunito Black"/>
                <a:ea typeface="Nunito Black"/>
                <a:cs typeface="Nunito Black"/>
                <a:sym typeface="Nunito Black"/>
              </a:rPr>
              <a:t>215</a:t>
            </a:r>
            <a:endParaRPr sz="900">
              <a:solidFill>
                <a:schemeClr val="lt1"/>
              </a:solidFill>
            </a:endParaRPr>
          </a:p>
        </p:txBody>
      </p:sp>
      <p:sp>
        <p:nvSpPr>
          <p:cNvPr id="1025" name="Google Shape;1025;p69"/>
          <p:cNvSpPr/>
          <p:nvPr/>
        </p:nvSpPr>
        <p:spPr>
          <a:xfrm>
            <a:off x="682470" y="3754349"/>
            <a:ext cx="3235800" cy="386400"/>
          </a:xfrm>
          <a:prstGeom prst="roundRect">
            <a:avLst>
              <a:gd name="adj" fmla="val 20690"/>
            </a:avLst>
          </a:prstGeom>
          <a:solidFill>
            <a:srgbClr val="FFF3EB"/>
          </a:solidFill>
          <a:ln>
            <a:noFill/>
          </a:ln>
        </p:spPr>
        <p:txBody>
          <a:bodyPr spcFirstLastPara="1" wrap="square" lIns="63900" tIns="63900" rIns="63900" bIns="63900" anchor="ctr" anchorCtr="0">
            <a:noAutofit/>
          </a:bodyPr>
          <a:lstStyle/>
          <a:p>
            <a:pPr marL="0" lvl="0" indent="0" algn="l" rtl="0">
              <a:spcBef>
                <a:spcPts val="0"/>
              </a:spcBef>
              <a:spcAft>
                <a:spcPts val="0"/>
              </a:spcAft>
              <a:buNone/>
            </a:pPr>
            <a:endParaRPr/>
          </a:p>
        </p:txBody>
      </p:sp>
      <p:sp>
        <p:nvSpPr>
          <p:cNvPr id="1026" name="Google Shape;1026;p69"/>
          <p:cNvSpPr/>
          <p:nvPr/>
        </p:nvSpPr>
        <p:spPr>
          <a:xfrm>
            <a:off x="743382" y="3902168"/>
            <a:ext cx="66900" cy="66900"/>
          </a:xfrm>
          <a:prstGeom prst="ellipse">
            <a:avLst/>
          </a:prstGeom>
          <a:solidFill>
            <a:srgbClr val="FF7F32"/>
          </a:solidFill>
          <a:ln>
            <a:noFill/>
          </a:ln>
        </p:spPr>
        <p:txBody>
          <a:bodyPr spcFirstLastPara="1" wrap="square" lIns="63900" tIns="63900" rIns="63900" bIns="63900" anchor="ctr" anchorCtr="0">
            <a:noAutofit/>
          </a:bodyPr>
          <a:lstStyle/>
          <a:p>
            <a:pPr marL="0" lvl="0" indent="0" algn="l" rtl="0">
              <a:spcBef>
                <a:spcPts val="0"/>
              </a:spcBef>
              <a:spcAft>
                <a:spcPts val="0"/>
              </a:spcAft>
              <a:buNone/>
            </a:pPr>
            <a:endParaRPr/>
          </a:p>
        </p:txBody>
      </p:sp>
      <p:sp>
        <p:nvSpPr>
          <p:cNvPr id="1027" name="Google Shape;1027;p69"/>
          <p:cNvSpPr txBox="1"/>
          <p:nvPr/>
        </p:nvSpPr>
        <p:spPr>
          <a:xfrm>
            <a:off x="932147" y="3889863"/>
            <a:ext cx="2853900" cy="200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652" b="1">
                <a:solidFill>
                  <a:srgbClr val="B4531A"/>
                </a:solidFill>
                <a:latin typeface="Lexend"/>
                <a:ea typeface="Lexend"/>
                <a:cs typeface="Lexend"/>
                <a:sym typeface="Lexend"/>
              </a:rPr>
              <a:t>53,9% tài xế đã đăng ký (268/497) chưa từng check-in lần nào.</a:t>
            </a:r>
            <a:endParaRPr sz="652" b="1">
              <a:solidFill>
                <a:srgbClr val="B4531A"/>
              </a:solidFill>
              <a:latin typeface="Lexend"/>
              <a:ea typeface="Lexend"/>
              <a:cs typeface="Lexend"/>
              <a:sym typeface="Lexend"/>
            </a:endParaRPr>
          </a:p>
          <a:p>
            <a:pPr marL="0" marR="0" lvl="0" indent="0" algn="l" rtl="0">
              <a:spcBef>
                <a:spcPts val="0"/>
              </a:spcBef>
              <a:spcAft>
                <a:spcPts val="0"/>
              </a:spcAft>
              <a:buNone/>
            </a:pPr>
            <a:endParaRPr sz="652" b="1">
              <a:solidFill>
                <a:srgbClr val="B4531A"/>
              </a:solidFill>
              <a:latin typeface="Lexend"/>
              <a:ea typeface="Lexend"/>
              <a:cs typeface="Lexend"/>
              <a:sym typeface="Lexend"/>
            </a:endParaRPr>
          </a:p>
        </p:txBody>
      </p:sp>
      <p:sp>
        <p:nvSpPr>
          <p:cNvPr id="1028" name="Google Shape;1028;p69"/>
          <p:cNvSpPr txBox="1"/>
          <p:nvPr/>
        </p:nvSpPr>
        <p:spPr>
          <a:xfrm>
            <a:off x="3317375" y="1697075"/>
            <a:ext cx="10176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a:solidFill>
                  <a:srgbClr val="0B467F"/>
                </a:solidFill>
                <a:latin typeface="Montserrat"/>
                <a:ea typeface="Montserrat"/>
                <a:cs typeface="Montserrat"/>
                <a:sym typeface="Montserrat"/>
              </a:rPr>
              <a:t>Zone added</a:t>
            </a:r>
            <a:endParaRPr sz="800" b="1">
              <a:solidFill>
                <a:srgbClr val="0B467F"/>
              </a:solidFill>
              <a:latin typeface="Montserrat"/>
              <a:ea typeface="Montserrat"/>
              <a:cs typeface="Montserrat"/>
              <a:sym typeface="Montserrat"/>
            </a:endParaRPr>
          </a:p>
        </p:txBody>
      </p:sp>
      <p:sp>
        <p:nvSpPr>
          <p:cNvPr id="1029" name="Google Shape;1029;p69"/>
          <p:cNvSpPr txBox="1"/>
          <p:nvPr/>
        </p:nvSpPr>
        <p:spPr>
          <a:xfrm>
            <a:off x="3317375" y="2209875"/>
            <a:ext cx="4953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a:solidFill>
                  <a:srgbClr val="0B467F"/>
                </a:solidFill>
                <a:latin typeface="Montserrat"/>
                <a:ea typeface="Montserrat"/>
                <a:cs typeface="Montserrat"/>
                <a:sym typeface="Montserrat"/>
              </a:rPr>
              <a:t>Fct</a:t>
            </a:r>
            <a:endParaRPr sz="800" b="1">
              <a:solidFill>
                <a:srgbClr val="0B467F"/>
              </a:solidFill>
              <a:latin typeface="Montserrat"/>
              <a:ea typeface="Montserrat"/>
              <a:cs typeface="Montserrat"/>
              <a:sym typeface="Montserrat"/>
            </a:endParaRPr>
          </a:p>
        </p:txBody>
      </p:sp>
      <p:sp>
        <p:nvSpPr>
          <p:cNvPr id="1030" name="Google Shape;1030;p69"/>
          <p:cNvSpPr txBox="1"/>
          <p:nvPr/>
        </p:nvSpPr>
        <p:spPr>
          <a:xfrm>
            <a:off x="3317375" y="2690625"/>
            <a:ext cx="10851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a:solidFill>
                  <a:srgbClr val="0B467F"/>
                </a:solidFill>
                <a:latin typeface="Montserrat"/>
                <a:ea typeface="Montserrat"/>
                <a:cs typeface="Montserrat"/>
                <a:sym typeface="Montserrat"/>
              </a:rPr>
              <a:t>Registered</a:t>
            </a:r>
            <a:endParaRPr sz="800" b="1">
              <a:solidFill>
                <a:srgbClr val="0B467F"/>
              </a:solidFill>
              <a:latin typeface="Montserrat"/>
              <a:ea typeface="Montserrat"/>
              <a:cs typeface="Montserrat"/>
              <a:sym typeface="Montserrat"/>
            </a:endParaRPr>
          </a:p>
        </p:txBody>
      </p:sp>
      <p:sp>
        <p:nvSpPr>
          <p:cNvPr id="1031" name="Google Shape;1031;p69"/>
          <p:cNvSpPr txBox="1"/>
          <p:nvPr/>
        </p:nvSpPr>
        <p:spPr>
          <a:xfrm>
            <a:off x="3317375" y="3085775"/>
            <a:ext cx="10851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a:solidFill>
                  <a:srgbClr val="0B467F"/>
                </a:solidFill>
                <a:latin typeface="Montserrat"/>
                <a:ea typeface="Montserrat"/>
                <a:cs typeface="Montserrat"/>
                <a:sym typeface="Montserrat"/>
              </a:rPr>
              <a:t>Checkin</a:t>
            </a:r>
            <a:endParaRPr sz="800" b="1">
              <a:solidFill>
                <a:srgbClr val="0B467F"/>
              </a:solidFill>
              <a:latin typeface="Montserrat"/>
              <a:ea typeface="Montserrat"/>
              <a:cs typeface="Montserrat"/>
              <a:sym typeface="Montserrat"/>
            </a:endParaRPr>
          </a:p>
        </p:txBody>
      </p:sp>
      <p:sp>
        <p:nvSpPr>
          <p:cNvPr id="1032" name="Google Shape;1032;p69"/>
          <p:cNvSpPr txBox="1"/>
          <p:nvPr/>
        </p:nvSpPr>
        <p:spPr>
          <a:xfrm>
            <a:off x="3317375" y="3370525"/>
            <a:ext cx="10851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a:solidFill>
                  <a:srgbClr val="0B467F"/>
                </a:solidFill>
                <a:latin typeface="Montserrat"/>
                <a:ea typeface="Montserrat"/>
                <a:cs typeface="Montserrat"/>
                <a:sym typeface="Montserrat"/>
              </a:rPr>
              <a:t>Active</a:t>
            </a:r>
            <a:endParaRPr sz="800" b="1">
              <a:solidFill>
                <a:srgbClr val="0B467F"/>
              </a:solidFill>
              <a:latin typeface="Montserrat"/>
              <a:ea typeface="Montserrat"/>
              <a:cs typeface="Montserrat"/>
              <a:sym typeface="Montserrat"/>
            </a:endParaRPr>
          </a:p>
        </p:txBody>
      </p:sp>
      <p:sp>
        <p:nvSpPr>
          <p:cNvPr id="1033" name="Google Shape;1033;p69"/>
          <p:cNvSpPr txBox="1"/>
          <p:nvPr/>
        </p:nvSpPr>
        <p:spPr>
          <a:xfrm>
            <a:off x="647440" y="3385081"/>
            <a:ext cx="887100" cy="309600"/>
          </a:xfrm>
          <a:prstGeom prst="rect">
            <a:avLst/>
          </a:prstGeom>
          <a:noFill/>
          <a:ln>
            <a:noFill/>
          </a:ln>
        </p:spPr>
        <p:txBody>
          <a:bodyPr spcFirstLastPara="1" wrap="square" lIns="68175" tIns="68175" rIns="68175" bIns="68175" anchor="ctr" anchorCtr="0">
            <a:noAutofit/>
          </a:bodyPr>
          <a:lstStyle/>
          <a:p>
            <a:pPr marL="0" lvl="0" indent="0" algn="ctr" rtl="0">
              <a:lnSpc>
                <a:spcPct val="115000"/>
              </a:lnSpc>
              <a:spcBef>
                <a:spcPts val="0"/>
              </a:spcBef>
              <a:spcAft>
                <a:spcPts val="0"/>
              </a:spcAft>
              <a:buNone/>
            </a:pPr>
            <a:r>
              <a:rPr lang="en" sz="803">
                <a:solidFill>
                  <a:srgbClr val="DC2626"/>
                </a:solidFill>
                <a:latin typeface="Montserrat Black"/>
                <a:ea typeface="Montserrat Black"/>
                <a:cs typeface="Montserrat Black"/>
                <a:sym typeface="Montserrat Black"/>
              </a:rPr>
              <a:t>12.6%</a:t>
            </a:r>
            <a:endParaRPr sz="803">
              <a:solidFill>
                <a:srgbClr val="DC2626"/>
              </a:solidFill>
              <a:latin typeface="Montserrat Black"/>
              <a:ea typeface="Montserrat Black"/>
              <a:cs typeface="Montserrat Black"/>
              <a:sym typeface="Montserrat Black"/>
            </a:endParaRPr>
          </a:p>
        </p:txBody>
      </p:sp>
      <p:sp>
        <p:nvSpPr>
          <p:cNvPr id="1034" name="Google Shape;1034;p69"/>
          <p:cNvSpPr/>
          <p:nvPr/>
        </p:nvSpPr>
        <p:spPr>
          <a:xfrm>
            <a:off x="4334975" y="991125"/>
            <a:ext cx="4503600" cy="1861500"/>
          </a:xfrm>
          <a:prstGeom prst="roundRect">
            <a:avLst>
              <a:gd name="adj" fmla="val 6451"/>
            </a:avLst>
          </a:prstGeom>
          <a:solidFill>
            <a:srgbClr val="FFFFFF"/>
          </a:solidFill>
          <a:ln w="11250" cap="flat" cmpd="sng">
            <a:solidFill>
              <a:srgbClr val="E9EDF3"/>
            </a:solidFill>
            <a:prstDash val="solid"/>
            <a:round/>
            <a:headEnd type="none" w="sm" len="sm"/>
            <a:tailEnd type="none" w="sm" len="sm"/>
          </a:ln>
          <a:effectLst>
            <a:outerShdw blurRad="75062" dist="30025" dir="5400000" rotWithShape="0">
              <a:srgbClr val="0E4174">
                <a:alpha val="10200"/>
              </a:srgbClr>
            </a:outerShdw>
          </a:effectLst>
        </p:spPr>
        <p:txBody>
          <a:bodyPr spcFirstLastPara="1" wrap="square" lIns="72050" tIns="36025" rIns="72050" bIns="36025" anchor="ctr" anchorCtr="0">
            <a:noAutofit/>
          </a:bodyPr>
          <a:lstStyle/>
          <a:p>
            <a:pPr marL="0" marR="0" lvl="0" indent="0" algn="l" rtl="0">
              <a:spcBef>
                <a:spcPts val="0"/>
              </a:spcBef>
              <a:spcAft>
                <a:spcPts val="0"/>
              </a:spcAft>
              <a:buNone/>
            </a:pPr>
            <a:endParaRPr sz="1418">
              <a:solidFill>
                <a:srgbClr val="000000"/>
              </a:solidFill>
              <a:latin typeface="Calibri"/>
              <a:ea typeface="Calibri"/>
              <a:cs typeface="Calibri"/>
              <a:sym typeface="Calibri"/>
            </a:endParaRPr>
          </a:p>
        </p:txBody>
      </p:sp>
      <p:sp>
        <p:nvSpPr>
          <p:cNvPr id="1035" name="Google Shape;1035;p69"/>
          <p:cNvSpPr txBox="1"/>
          <p:nvPr/>
        </p:nvSpPr>
        <p:spPr>
          <a:xfrm>
            <a:off x="4545148" y="1071554"/>
            <a:ext cx="4083300" cy="235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 sz="975" b="1">
                <a:solidFill>
                  <a:srgbClr val="0E4174"/>
                </a:solidFill>
                <a:latin typeface="Lexend"/>
                <a:ea typeface="Lexend"/>
                <a:cs typeface="Lexend"/>
                <a:sym typeface="Lexend"/>
              </a:rPr>
              <a:t>Số lượng tiếp tục tăng nhưng chưa tăng chất lượng</a:t>
            </a:r>
            <a:endParaRPr sz="1103"/>
          </a:p>
        </p:txBody>
      </p:sp>
      <p:sp>
        <p:nvSpPr>
          <p:cNvPr id="1036" name="Google Shape;1036;p69"/>
          <p:cNvSpPr txBox="1"/>
          <p:nvPr/>
        </p:nvSpPr>
        <p:spPr>
          <a:xfrm>
            <a:off x="4545148" y="1270093"/>
            <a:ext cx="4083300" cy="164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 sz="679" b="0" i="0">
                <a:solidFill>
                  <a:srgbClr val="6B7280"/>
                </a:solidFill>
                <a:latin typeface="Lexend"/>
                <a:ea typeface="Lexend"/>
                <a:cs typeface="Lexend"/>
                <a:sym typeface="Lexend"/>
              </a:rPr>
              <a:t>Tuần 1 (10–16/8) so với tuần 2 (17–23/8)</a:t>
            </a:r>
            <a:endParaRPr sz="1103"/>
          </a:p>
        </p:txBody>
      </p:sp>
      <p:sp>
        <p:nvSpPr>
          <p:cNvPr id="1037" name="Google Shape;1037;p69"/>
          <p:cNvSpPr txBox="1"/>
          <p:nvPr/>
        </p:nvSpPr>
        <p:spPr>
          <a:xfrm>
            <a:off x="4545148" y="1474936"/>
            <a:ext cx="1501200" cy="149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 sz="620" b="1" i="0">
                <a:solidFill>
                  <a:srgbClr val="9CA3AF"/>
                </a:solidFill>
                <a:latin typeface="Lexend"/>
                <a:ea typeface="Lexend"/>
                <a:cs typeface="Lexend"/>
                <a:sym typeface="Lexend"/>
              </a:rPr>
              <a:t>CHỈ SỐ</a:t>
            </a:r>
            <a:endParaRPr sz="1103"/>
          </a:p>
        </p:txBody>
      </p:sp>
      <p:sp>
        <p:nvSpPr>
          <p:cNvPr id="1038" name="Google Shape;1038;p69"/>
          <p:cNvSpPr txBox="1"/>
          <p:nvPr/>
        </p:nvSpPr>
        <p:spPr>
          <a:xfrm>
            <a:off x="6511767" y="1474936"/>
            <a:ext cx="600300" cy="149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620" b="1" i="0">
                <a:solidFill>
                  <a:srgbClr val="9CA3AF"/>
                </a:solidFill>
                <a:latin typeface="Lexend"/>
                <a:ea typeface="Lexend"/>
                <a:cs typeface="Lexend"/>
                <a:sym typeface="Lexend"/>
              </a:rPr>
              <a:t>T1</a:t>
            </a:r>
            <a:endParaRPr sz="1103"/>
          </a:p>
        </p:txBody>
      </p:sp>
      <p:sp>
        <p:nvSpPr>
          <p:cNvPr id="1039" name="Google Shape;1039;p69"/>
          <p:cNvSpPr txBox="1"/>
          <p:nvPr/>
        </p:nvSpPr>
        <p:spPr>
          <a:xfrm>
            <a:off x="7367472" y="1474936"/>
            <a:ext cx="600300" cy="149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620" b="1" i="0">
                <a:solidFill>
                  <a:srgbClr val="9CA3AF"/>
                </a:solidFill>
                <a:latin typeface="Lexend"/>
                <a:ea typeface="Lexend"/>
                <a:cs typeface="Lexend"/>
                <a:sym typeface="Lexend"/>
              </a:rPr>
              <a:t>T2</a:t>
            </a:r>
            <a:endParaRPr sz="1103"/>
          </a:p>
        </p:txBody>
      </p:sp>
      <p:sp>
        <p:nvSpPr>
          <p:cNvPr id="1040" name="Google Shape;1040;p69"/>
          <p:cNvSpPr/>
          <p:nvPr/>
        </p:nvSpPr>
        <p:spPr>
          <a:xfrm>
            <a:off x="4545148" y="1647917"/>
            <a:ext cx="4083300" cy="7500"/>
          </a:xfrm>
          <a:prstGeom prst="rect">
            <a:avLst/>
          </a:prstGeom>
          <a:solidFill>
            <a:srgbClr val="EDF1F6"/>
          </a:solidFill>
          <a:ln>
            <a:noFill/>
          </a:ln>
        </p:spPr>
        <p:txBody>
          <a:bodyPr spcFirstLastPara="1" wrap="square" lIns="72050" tIns="36025" rIns="72050" bIns="36025" anchor="ctr" anchorCtr="0">
            <a:noAutofit/>
          </a:bodyPr>
          <a:lstStyle/>
          <a:p>
            <a:pPr marL="0" marR="0" lvl="0" indent="0" algn="l" rtl="0">
              <a:spcBef>
                <a:spcPts val="0"/>
              </a:spcBef>
              <a:spcAft>
                <a:spcPts val="0"/>
              </a:spcAft>
              <a:buNone/>
            </a:pPr>
            <a:endParaRPr sz="1418">
              <a:solidFill>
                <a:srgbClr val="000000"/>
              </a:solidFill>
              <a:latin typeface="Calibri"/>
              <a:ea typeface="Calibri"/>
              <a:cs typeface="Calibri"/>
              <a:sym typeface="Calibri"/>
            </a:endParaRPr>
          </a:p>
        </p:txBody>
      </p:sp>
      <p:sp>
        <p:nvSpPr>
          <p:cNvPr id="1041" name="Google Shape;1041;p69"/>
          <p:cNvSpPr txBox="1"/>
          <p:nvPr/>
        </p:nvSpPr>
        <p:spPr>
          <a:xfrm>
            <a:off x="4545148" y="1740805"/>
            <a:ext cx="1575900" cy="178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 sz="738" b="1" i="0">
                <a:solidFill>
                  <a:srgbClr val="374151"/>
                </a:solidFill>
                <a:latin typeface="Lexend"/>
                <a:ea typeface="Lexend"/>
                <a:cs typeface="Lexend"/>
                <a:sym typeface="Lexend"/>
              </a:rPr>
              <a:t>Ca đăng ký / ngày</a:t>
            </a:r>
            <a:endParaRPr sz="1103"/>
          </a:p>
        </p:txBody>
      </p:sp>
      <p:sp>
        <p:nvSpPr>
          <p:cNvPr id="1042" name="Google Shape;1042;p69"/>
          <p:cNvSpPr txBox="1"/>
          <p:nvPr/>
        </p:nvSpPr>
        <p:spPr>
          <a:xfrm>
            <a:off x="6511767" y="1735964"/>
            <a:ext cx="600300" cy="185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768" b="0" i="0">
                <a:solidFill>
                  <a:srgbClr val="6B7280"/>
                </a:solidFill>
                <a:latin typeface="Lexend"/>
                <a:ea typeface="Lexend"/>
                <a:cs typeface="Lexend"/>
                <a:sym typeface="Lexend"/>
              </a:rPr>
              <a:t>57,1</a:t>
            </a:r>
            <a:endParaRPr sz="1103"/>
          </a:p>
        </p:txBody>
      </p:sp>
      <p:sp>
        <p:nvSpPr>
          <p:cNvPr id="1043" name="Google Shape;1043;p69"/>
          <p:cNvSpPr txBox="1"/>
          <p:nvPr/>
        </p:nvSpPr>
        <p:spPr>
          <a:xfrm>
            <a:off x="7367472" y="1731122"/>
            <a:ext cx="600300" cy="192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798" b="1" i="0">
                <a:solidFill>
                  <a:srgbClr val="B4531A"/>
                </a:solidFill>
                <a:latin typeface="Lexend"/>
                <a:ea typeface="Lexend"/>
                <a:cs typeface="Lexend"/>
                <a:sym typeface="Lexend"/>
              </a:rPr>
              <a:t>124,0</a:t>
            </a:r>
            <a:endParaRPr sz="1103"/>
          </a:p>
        </p:txBody>
      </p:sp>
      <p:sp>
        <p:nvSpPr>
          <p:cNvPr id="1044" name="Google Shape;1044;p69"/>
          <p:cNvSpPr/>
          <p:nvPr/>
        </p:nvSpPr>
        <p:spPr>
          <a:xfrm>
            <a:off x="8098273" y="1741744"/>
            <a:ext cx="400200" cy="180000"/>
          </a:xfrm>
          <a:prstGeom prst="roundRect">
            <a:avLst>
              <a:gd name="adj" fmla="val 50000"/>
            </a:avLst>
          </a:prstGeom>
          <a:solidFill>
            <a:srgbClr val="FFF3EB"/>
          </a:solidFill>
          <a:ln w="7500" cap="flat" cmpd="sng">
            <a:solidFill>
              <a:srgbClr val="F3C4A0"/>
            </a:solidFill>
            <a:prstDash val="solid"/>
            <a:round/>
            <a:headEnd type="none" w="sm" len="sm"/>
            <a:tailEnd type="none" w="sm" len="sm"/>
          </a:ln>
        </p:spPr>
        <p:txBody>
          <a:bodyPr spcFirstLastPara="1" wrap="square" lIns="72050" tIns="36025" rIns="72050" bIns="36025" anchor="ctr" anchorCtr="0">
            <a:noAutofit/>
          </a:bodyPr>
          <a:lstStyle/>
          <a:p>
            <a:pPr marL="0" marR="0" lvl="0" indent="0" algn="l" rtl="0">
              <a:spcBef>
                <a:spcPts val="0"/>
              </a:spcBef>
              <a:spcAft>
                <a:spcPts val="0"/>
              </a:spcAft>
              <a:buNone/>
            </a:pPr>
            <a:endParaRPr sz="1418">
              <a:solidFill>
                <a:srgbClr val="000000"/>
              </a:solidFill>
              <a:latin typeface="Calibri"/>
              <a:ea typeface="Calibri"/>
              <a:cs typeface="Calibri"/>
              <a:sym typeface="Calibri"/>
            </a:endParaRPr>
          </a:p>
        </p:txBody>
      </p:sp>
      <p:sp>
        <p:nvSpPr>
          <p:cNvPr id="1045" name="Google Shape;1045;p69"/>
          <p:cNvSpPr txBox="1"/>
          <p:nvPr/>
        </p:nvSpPr>
        <p:spPr>
          <a:xfrm>
            <a:off x="8098273" y="1755330"/>
            <a:ext cx="400200" cy="156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650" b="1" i="0">
                <a:solidFill>
                  <a:srgbClr val="E0641A"/>
                </a:solidFill>
                <a:latin typeface="Lexend"/>
                <a:ea typeface="Lexend"/>
                <a:cs typeface="Lexend"/>
                <a:sym typeface="Lexend"/>
              </a:rPr>
              <a:t>×2,2</a:t>
            </a:r>
            <a:endParaRPr sz="1103"/>
          </a:p>
        </p:txBody>
      </p:sp>
      <p:sp>
        <p:nvSpPr>
          <p:cNvPr id="1046" name="Google Shape;1046;p69"/>
          <p:cNvSpPr/>
          <p:nvPr/>
        </p:nvSpPr>
        <p:spPr>
          <a:xfrm>
            <a:off x="4545148" y="1933152"/>
            <a:ext cx="4083300" cy="7500"/>
          </a:xfrm>
          <a:prstGeom prst="rect">
            <a:avLst/>
          </a:prstGeom>
          <a:solidFill>
            <a:srgbClr val="EDF1F6"/>
          </a:solidFill>
          <a:ln>
            <a:noFill/>
          </a:ln>
        </p:spPr>
        <p:txBody>
          <a:bodyPr spcFirstLastPara="1" wrap="square" lIns="72050" tIns="36025" rIns="72050" bIns="36025" anchor="ctr" anchorCtr="0">
            <a:noAutofit/>
          </a:bodyPr>
          <a:lstStyle/>
          <a:p>
            <a:pPr marL="0" marR="0" lvl="0" indent="0" algn="l" rtl="0">
              <a:spcBef>
                <a:spcPts val="0"/>
              </a:spcBef>
              <a:spcAft>
                <a:spcPts val="0"/>
              </a:spcAft>
              <a:buNone/>
            </a:pPr>
            <a:endParaRPr sz="1418">
              <a:solidFill>
                <a:srgbClr val="000000"/>
              </a:solidFill>
              <a:latin typeface="Calibri"/>
              <a:ea typeface="Calibri"/>
              <a:cs typeface="Calibri"/>
              <a:sym typeface="Calibri"/>
            </a:endParaRPr>
          </a:p>
        </p:txBody>
      </p:sp>
      <p:sp>
        <p:nvSpPr>
          <p:cNvPr id="1047" name="Google Shape;1047;p69"/>
          <p:cNvSpPr txBox="1"/>
          <p:nvPr/>
        </p:nvSpPr>
        <p:spPr>
          <a:xfrm>
            <a:off x="4545148" y="1973497"/>
            <a:ext cx="1575900" cy="178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 sz="738" b="1" i="0">
                <a:solidFill>
                  <a:srgbClr val="374151"/>
                </a:solidFill>
                <a:latin typeface="Lexend"/>
                <a:ea typeface="Lexend"/>
                <a:cs typeface="Lexend"/>
                <a:sym typeface="Lexend"/>
              </a:rPr>
              <a:t>Tài xế tham gia</a:t>
            </a:r>
            <a:endParaRPr sz="1103"/>
          </a:p>
        </p:txBody>
      </p:sp>
      <p:sp>
        <p:nvSpPr>
          <p:cNvPr id="1048" name="Google Shape;1048;p69"/>
          <p:cNvSpPr txBox="1"/>
          <p:nvPr/>
        </p:nvSpPr>
        <p:spPr>
          <a:xfrm>
            <a:off x="6511767" y="1968656"/>
            <a:ext cx="600300" cy="185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768" b="0" i="0">
                <a:solidFill>
                  <a:srgbClr val="6B7280"/>
                </a:solidFill>
                <a:latin typeface="Lexend"/>
                <a:ea typeface="Lexend"/>
                <a:cs typeface="Lexend"/>
                <a:sym typeface="Lexend"/>
              </a:rPr>
              <a:t>195</a:t>
            </a:r>
            <a:endParaRPr sz="1103"/>
          </a:p>
        </p:txBody>
      </p:sp>
      <p:sp>
        <p:nvSpPr>
          <p:cNvPr id="1049" name="Google Shape;1049;p69"/>
          <p:cNvSpPr txBox="1"/>
          <p:nvPr/>
        </p:nvSpPr>
        <p:spPr>
          <a:xfrm>
            <a:off x="7367472" y="1963814"/>
            <a:ext cx="600300" cy="192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798" b="1" i="0">
                <a:solidFill>
                  <a:srgbClr val="B4531A"/>
                </a:solidFill>
                <a:latin typeface="Lexend"/>
                <a:ea typeface="Lexend"/>
                <a:cs typeface="Lexend"/>
                <a:sym typeface="Lexend"/>
              </a:rPr>
              <a:t>358</a:t>
            </a:r>
            <a:endParaRPr sz="1103"/>
          </a:p>
        </p:txBody>
      </p:sp>
      <p:sp>
        <p:nvSpPr>
          <p:cNvPr id="1050" name="Google Shape;1050;p69"/>
          <p:cNvSpPr/>
          <p:nvPr/>
        </p:nvSpPr>
        <p:spPr>
          <a:xfrm>
            <a:off x="8098273" y="1974436"/>
            <a:ext cx="400200" cy="180000"/>
          </a:xfrm>
          <a:prstGeom prst="roundRect">
            <a:avLst>
              <a:gd name="adj" fmla="val 50000"/>
            </a:avLst>
          </a:prstGeom>
          <a:solidFill>
            <a:srgbClr val="FFF3EB"/>
          </a:solidFill>
          <a:ln w="7500" cap="flat" cmpd="sng">
            <a:solidFill>
              <a:srgbClr val="F3C4A0"/>
            </a:solidFill>
            <a:prstDash val="solid"/>
            <a:round/>
            <a:headEnd type="none" w="sm" len="sm"/>
            <a:tailEnd type="none" w="sm" len="sm"/>
          </a:ln>
        </p:spPr>
        <p:txBody>
          <a:bodyPr spcFirstLastPara="1" wrap="square" lIns="72050" tIns="36025" rIns="72050" bIns="36025" anchor="ctr" anchorCtr="0">
            <a:noAutofit/>
          </a:bodyPr>
          <a:lstStyle/>
          <a:p>
            <a:pPr marL="0" marR="0" lvl="0" indent="0" algn="l" rtl="0">
              <a:spcBef>
                <a:spcPts val="0"/>
              </a:spcBef>
              <a:spcAft>
                <a:spcPts val="0"/>
              </a:spcAft>
              <a:buNone/>
            </a:pPr>
            <a:endParaRPr sz="1418">
              <a:solidFill>
                <a:srgbClr val="000000"/>
              </a:solidFill>
              <a:latin typeface="Calibri"/>
              <a:ea typeface="Calibri"/>
              <a:cs typeface="Calibri"/>
              <a:sym typeface="Calibri"/>
            </a:endParaRPr>
          </a:p>
        </p:txBody>
      </p:sp>
      <p:sp>
        <p:nvSpPr>
          <p:cNvPr id="1051" name="Google Shape;1051;p69"/>
          <p:cNvSpPr txBox="1"/>
          <p:nvPr/>
        </p:nvSpPr>
        <p:spPr>
          <a:xfrm>
            <a:off x="8098273" y="1988022"/>
            <a:ext cx="400200" cy="156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650" b="1" i="0">
                <a:solidFill>
                  <a:srgbClr val="E0641A"/>
                </a:solidFill>
                <a:latin typeface="Lexend"/>
                <a:ea typeface="Lexend"/>
                <a:cs typeface="Lexend"/>
                <a:sym typeface="Lexend"/>
              </a:rPr>
              <a:t>×1,8</a:t>
            </a:r>
            <a:endParaRPr sz="1103"/>
          </a:p>
        </p:txBody>
      </p:sp>
      <p:sp>
        <p:nvSpPr>
          <p:cNvPr id="1052" name="Google Shape;1052;p69"/>
          <p:cNvSpPr/>
          <p:nvPr/>
        </p:nvSpPr>
        <p:spPr>
          <a:xfrm>
            <a:off x="4545148" y="2165843"/>
            <a:ext cx="4083300" cy="7500"/>
          </a:xfrm>
          <a:prstGeom prst="rect">
            <a:avLst/>
          </a:prstGeom>
          <a:solidFill>
            <a:srgbClr val="EDF1F6"/>
          </a:solidFill>
          <a:ln>
            <a:noFill/>
          </a:ln>
        </p:spPr>
        <p:txBody>
          <a:bodyPr spcFirstLastPara="1" wrap="square" lIns="72050" tIns="36025" rIns="72050" bIns="36025" anchor="ctr" anchorCtr="0">
            <a:noAutofit/>
          </a:bodyPr>
          <a:lstStyle/>
          <a:p>
            <a:pPr marL="0" marR="0" lvl="0" indent="0" algn="l" rtl="0">
              <a:spcBef>
                <a:spcPts val="0"/>
              </a:spcBef>
              <a:spcAft>
                <a:spcPts val="0"/>
              </a:spcAft>
              <a:buNone/>
            </a:pPr>
            <a:endParaRPr sz="1418">
              <a:solidFill>
                <a:srgbClr val="000000"/>
              </a:solidFill>
              <a:latin typeface="Calibri"/>
              <a:ea typeface="Calibri"/>
              <a:cs typeface="Calibri"/>
              <a:sym typeface="Calibri"/>
            </a:endParaRPr>
          </a:p>
        </p:txBody>
      </p:sp>
      <p:sp>
        <p:nvSpPr>
          <p:cNvPr id="1053" name="Google Shape;1053;p69"/>
          <p:cNvSpPr txBox="1"/>
          <p:nvPr/>
        </p:nvSpPr>
        <p:spPr>
          <a:xfrm>
            <a:off x="4545148" y="2206189"/>
            <a:ext cx="1575900" cy="178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 sz="738" b="0" i="0">
                <a:solidFill>
                  <a:srgbClr val="374151"/>
                </a:solidFill>
                <a:latin typeface="Lexend"/>
                <a:ea typeface="Lexend"/>
                <a:cs typeface="Lexend"/>
                <a:sym typeface="Lexend"/>
              </a:rPr>
              <a:t>Check-in rate</a:t>
            </a:r>
            <a:endParaRPr sz="1103"/>
          </a:p>
        </p:txBody>
      </p:sp>
      <p:sp>
        <p:nvSpPr>
          <p:cNvPr id="1054" name="Google Shape;1054;p69"/>
          <p:cNvSpPr txBox="1"/>
          <p:nvPr/>
        </p:nvSpPr>
        <p:spPr>
          <a:xfrm>
            <a:off x="6511767" y="2201348"/>
            <a:ext cx="600300" cy="185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768" b="0" i="0">
                <a:solidFill>
                  <a:srgbClr val="6B7280"/>
                </a:solidFill>
                <a:latin typeface="Lexend"/>
                <a:ea typeface="Lexend"/>
                <a:cs typeface="Lexend"/>
                <a:sym typeface="Lexend"/>
              </a:rPr>
              <a:t>50,3%</a:t>
            </a:r>
            <a:endParaRPr sz="1103"/>
          </a:p>
        </p:txBody>
      </p:sp>
      <p:sp>
        <p:nvSpPr>
          <p:cNvPr id="1055" name="Google Shape;1055;p69"/>
          <p:cNvSpPr txBox="1"/>
          <p:nvPr/>
        </p:nvSpPr>
        <p:spPr>
          <a:xfrm>
            <a:off x="7367472" y="2196506"/>
            <a:ext cx="600300" cy="192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798" b="1" i="0">
                <a:solidFill>
                  <a:srgbClr val="0E4174"/>
                </a:solidFill>
                <a:latin typeface="Lexend"/>
                <a:ea typeface="Lexend"/>
                <a:cs typeface="Lexend"/>
                <a:sym typeface="Lexend"/>
              </a:rPr>
              <a:t>49,8%</a:t>
            </a:r>
            <a:endParaRPr sz="1103"/>
          </a:p>
        </p:txBody>
      </p:sp>
      <p:sp>
        <p:nvSpPr>
          <p:cNvPr id="1056" name="Google Shape;1056;p69"/>
          <p:cNvSpPr/>
          <p:nvPr/>
        </p:nvSpPr>
        <p:spPr>
          <a:xfrm>
            <a:off x="8098268" y="2207123"/>
            <a:ext cx="400200" cy="180000"/>
          </a:xfrm>
          <a:prstGeom prst="roundRect">
            <a:avLst>
              <a:gd name="adj" fmla="val 50000"/>
            </a:avLst>
          </a:prstGeom>
          <a:solidFill>
            <a:srgbClr val="F1F3F5"/>
          </a:solidFill>
          <a:ln w="7500" cap="flat" cmpd="sng">
            <a:solidFill>
              <a:srgbClr val="E5E9EF"/>
            </a:solidFill>
            <a:prstDash val="solid"/>
            <a:round/>
            <a:headEnd type="none" w="sm" len="sm"/>
            <a:tailEnd type="none" w="sm" len="sm"/>
          </a:ln>
        </p:spPr>
        <p:txBody>
          <a:bodyPr spcFirstLastPara="1" wrap="square" lIns="72050" tIns="36025" rIns="72050" bIns="36025" anchor="ctr" anchorCtr="0">
            <a:noAutofit/>
          </a:bodyPr>
          <a:lstStyle/>
          <a:p>
            <a:pPr marL="0" marR="0" lvl="0" indent="0" algn="l" rtl="0">
              <a:spcBef>
                <a:spcPts val="0"/>
              </a:spcBef>
              <a:spcAft>
                <a:spcPts val="0"/>
              </a:spcAft>
              <a:buNone/>
            </a:pPr>
            <a:endParaRPr sz="1418">
              <a:solidFill>
                <a:srgbClr val="000000"/>
              </a:solidFill>
              <a:latin typeface="Calibri"/>
              <a:ea typeface="Calibri"/>
              <a:cs typeface="Calibri"/>
              <a:sym typeface="Calibri"/>
            </a:endParaRPr>
          </a:p>
        </p:txBody>
      </p:sp>
      <p:sp>
        <p:nvSpPr>
          <p:cNvPr id="1057" name="Google Shape;1057;p69"/>
          <p:cNvSpPr txBox="1"/>
          <p:nvPr/>
        </p:nvSpPr>
        <p:spPr>
          <a:xfrm>
            <a:off x="8005197" y="2225555"/>
            <a:ext cx="585900" cy="149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620" b="1">
                <a:solidFill>
                  <a:srgbClr val="6B7280"/>
                </a:solidFill>
                <a:latin typeface="Lexend"/>
                <a:ea typeface="Lexend"/>
                <a:cs typeface="Lexend"/>
                <a:sym typeface="Lexend"/>
              </a:rPr>
              <a:t>~</a:t>
            </a:r>
            <a:endParaRPr sz="1103"/>
          </a:p>
        </p:txBody>
      </p:sp>
      <p:sp>
        <p:nvSpPr>
          <p:cNvPr id="1058" name="Google Shape;1058;p69"/>
          <p:cNvSpPr/>
          <p:nvPr/>
        </p:nvSpPr>
        <p:spPr>
          <a:xfrm>
            <a:off x="4545148" y="2398536"/>
            <a:ext cx="4083300" cy="7500"/>
          </a:xfrm>
          <a:prstGeom prst="rect">
            <a:avLst/>
          </a:prstGeom>
          <a:solidFill>
            <a:srgbClr val="EDF1F6"/>
          </a:solidFill>
          <a:ln>
            <a:noFill/>
          </a:ln>
        </p:spPr>
        <p:txBody>
          <a:bodyPr spcFirstLastPara="1" wrap="square" lIns="72050" tIns="36025" rIns="72050" bIns="36025" anchor="ctr" anchorCtr="0">
            <a:noAutofit/>
          </a:bodyPr>
          <a:lstStyle/>
          <a:p>
            <a:pPr marL="0" marR="0" lvl="0" indent="0" algn="l" rtl="0">
              <a:spcBef>
                <a:spcPts val="0"/>
              </a:spcBef>
              <a:spcAft>
                <a:spcPts val="0"/>
              </a:spcAft>
              <a:buNone/>
            </a:pPr>
            <a:endParaRPr sz="1418">
              <a:solidFill>
                <a:srgbClr val="000000"/>
              </a:solidFill>
              <a:latin typeface="Calibri"/>
              <a:ea typeface="Calibri"/>
              <a:cs typeface="Calibri"/>
              <a:sym typeface="Calibri"/>
            </a:endParaRPr>
          </a:p>
        </p:txBody>
      </p:sp>
      <p:sp>
        <p:nvSpPr>
          <p:cNvPr id="1059" name="Google Shape;1059;p69"/>
          <p:cNvSpPr txBox="1"/>
          <p:nvPr/>
        </p:nvSpPr>
        <p:spPr>
          <a:xfrm>
            <a:off x="4545148" y="2438881"/>
            <a:ext cx="1575900" cy="178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 sz="738" b="0" i="0">
                <a:solidFill>
                  <a:srgbClr val="374151"/>
                </a:solidFill>
                <a:latin typeface="Lexend"/>
                <a:ea typeface="Lexend"/>
                <a:cs typeface="Lexend"/>
                <a:sym typeface="Lexend"/>
              </a:rPr>
              <a:t>Năng suất (đơn/giờ)</a:t>
            </a:r>
            <a:endParaRPr sz="1103"/>
          </a:p>
        </p:txBody>
      </p:sp>
      <p:sp>
        <p:nvSpPr>
          <p:cNvPr id="1060" name="Google Shape;1060;p69"/>
          <p:cNvSpPr txBox="1"/>
          <p:nvPr/>
        </p:nvSpPr>
        <p:spPr>
          <a:xfrm>
            <a:off x="6511767" y="2434040"/>
            <a:ext cx="600300" cy="185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768" b="0" i="0">
                <a:solidFill>
                  <a:srgbClr val="6B7280"/>
                </a:solidFill>
                <a:latin typeface="Lexend"/>
                <a:ea typeface="Lexend"/>
                <a:cs typeface="Lexend"/>
                <a:sym typeface="Lexend"/>
              </a:rPr>
              <a:t>2,02</a:t>
            </a:r>
            <a:endParaRPr sz="1103"/>
          </a:p>
        </p:txBody>
      </p:sp>
      <p:sp>
        <p:nvSpPr>
          <p:cNvPr id="1061" name="Google Shape;1061;p69"/>
          <p:cNvSpPr txBox="1"/>
          <p:nvPr/>
        </p:nvSpPr>
        <p:spPr>
          <a:xfrm>
            <a:off x="7367472" y="2429198"/>
            <a:ext cx="600300" cy="192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798" b="1" i="0">
                <a:solidFill>
                  <a:srgbClr val="0E4174"/>
                </a:solidFill>
                <a:latin typeface="Lexend"/>
                <a:ea typeface="Lexend"/>
                <a:cs typeface="Lexend"/>
                <a:sym typeface="Lexend"/>
              </a:rPr>
              <a:t>1,94</a:t>
            </a:r>
            <a:endParaRPr sz="1103"/>
          </a:p>
        </p:txBody>
      </p:sp>
      <p:sp>
        <p:nvSpPr>
          <p:cNvPr id="1062" name="Google Shape;1062;p69"/>
          <p:cNvSpPr/>
          <p:nvPr/>
        </p:nvSpPr>
        <p:spPr>
          <a:xfrm>
            <a:off x="8098268" y="2439816"/>
            <a:ext cx="400200" cy="180000"/>
          </a:xfrm>
          <a:prstGeom prst="roundRect">
            <a:avLst>
              <a:gd name="adj" fmla="val 50000"/>
            </a:avLst>
          </a:prstGeom>
          <a:solidFill>
            <a:srgbClr val="FDECEC"/>
          </a:solidFill>
          <a:ln w="7500" cap="flat" cmpd="sng">
            <a:solidFill>
              <a:srgbClr val="F3B7B7"/>
            </a:solidFill>
            <a:prstDash val="solid"/>
            <a:round/>
            <a:headEnd type="none" w="sm" len="sm"/>
            <a:tailEnd type="none" w="sm" len="sm"/>
          </a:ln>
        </p:spPr>
        <p:txBody>
          <a:bodyPr spcFirstLastPara="1" wrap="square" lIns="72050" tIns="36025" rIns="72050" bIns="36025" anchor="ctr" anchorCtr="0">
            <a:noAutofit/>
          </a:bodyPr>
          <a:lstStyle/>
          <a:p>
            <a:pPr marL="0" marR="0" lvl="0" indent="0" algn="l" rtl="0">
              <a:spcBef>
                <a:spcPts val="0"/>
              </a:spcBef>
              <a:spcAft>
                <a:spcPts val="0"/>
              </a:spcAft>
              <a:buNone/>
            </a:pPr>
            <a:endParaRPr sz="1418">
              <a:solidFill>
                <a:srgbClr val="000000"/>
              </a:solidFill>
              <a:latin typeface="Calibri"/>
              <a:ea typeface="Calibri"/>
              <a:cs typeface="Calibri"/>
              <a:sym typeface="Calibri"/>
            </a:endParaRPr>
          </a:p>
        </p:txBody>
      </p:sp>
      <p:sp>
        <p:nvSpPr>
          <p:cNvPr id="1063" name="Google Shape;1063;p69"/>
          <p:cNvSpPr txBox="1"/>
          <p:nvPr/>
        </p:nvSpPr>
        <p:spPr>
          <a:xfrm>
            <a:off x="8054062" y="2458247"/>
            <a:ext cx="488400" cy="149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620" b="1" i="0">
                <a:solidFill>
                  <a:srgbClr val="C0392B"/>
                </a:solidFill>
                <a:latin typeface="Lexend"/>
                <a:ea typeface="Lexend"/>
                <a:cs typeface="Lexend"/>
                <a:sym typeface="Lexend"/>
              </a:rPr>
              <a:t>↓ giảm</a:t>
            </a:r>
            <a:endParaRPr sz="1103"/>
          </a:p>
        </p:txBody>
      </p:sp>
      <p:sp>
        <p:nvSpPr>
          <p:cNvPr id="1064" name="Google Shape;1064;p69"/>
          <p:cNvSpPr/>
          <p:nvPr/>
        </p:nvSpPr>
        <p:spPr>
          <a:xfrm>
            <a:off x="4545148" y="2631227"/>
            <a:ext cx="4083300" cy="7500"/>
          </a:xfrm>
          <a:prstGeom prst="rect">
            <a:avLst/>
          </a:prstGeom>
          <a:solidFill>
            <a:srgbClr val="EDF1F6"/>
          </a:solidFill>
          <a:ln>
            <a:noFill/>
          </a:ln>
        </p:spPr>
        <p:txBody>
          <a:bodyPr spcFirstLastPara="1" wrap="square" lIns="72050" tIns="36025" rIns="72050" bIns="36025" anchor="ctr" anchorCtr="0">
            <a:noAutofit/>
          </a:bodyPr>
          <a:lstStyle/>
          <a:p>
            <a:pPr marL="0" marR="0" lvl="0" indent="0" algn="l" rtl="0">
              <a:spcBef>
                <a:spcPts val="0"/>
              </a:spcBef>
              <a:spcAft>
                <a:spcPts val="0"/>
              </a:spcAft>
              <a:buNone/>
            </a:pPr>
            <a:endParaRPr sz="1418">
              <a:solidFill>
                <a:srgbClr val="000000"/>
              </a:solidFill>
              <a:latin typeface="Calibri"/>
              <a:ea typeface="Calibri"/>
              <a:cs typeface="Calibri"/>
              <a:sym typeface="Calibri"/>
            </a:endParaRPr>
          </a:p>
        </p:txBody>
      </p:sp>
      <p:sp>
        <p:nvSpPr>
          <p:cNvPr id="1065" name="Google Shape;1065;p69"/>
          <p:cNvSpPr txBox="1"/>
          <p:nvPr/>
        </p:nvSpPr>
        <p:spPr>
          <a:xfrm>
            <a:off x="4545148" y="2671573"/>
            <a:ext cx="1575900" cy="178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 sz="738">
                <a:solidFill>
                  <a:srgbClr val="374151"/>
                </a:solidFill>
                <a:latin typeface="Lexend"/>
                <a:ea typeface="Lexend"/>
                <a:cs typeface="Lexend"/>
                <a:sym typeface="Lexend"/>
              </a:rPr>
              <a:t>Online </a:t>
            </a:r>
            <a:r>
              <a:rPr lang="en" sz="738" b="0" i="0">
                <a:solidFill>
                  <a:srgbClr val="374151"/>
                </a:solidFill>
                <a:latin typeface="Lexend"/>
                <a:ea typeface="Lexend"/>
                <a:cs typeface="Lexend"/>
                <a:sym typeface="Lexend"/>
              </a:rPr>
              <a:t>rate</a:t>
            </a:r>
            <a:endParaRPr sz="1103"/>
          </a:p>
        </p:txBody>
      </p:sp>
      <p:sp>
        <p:nvSpPr>
          <p:cNvPr id="1066" name="Google Shape;1066;p69"/>
          <p:cNvSpPr txBox="1"/>
          <p:nvPr/>
        </p:nvSpPr>
        <p:spPr>
          <a:xfrm>
            <a:off x="6511767" y="2666732"/>
            <a:ext cx="600300" cy="185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768" b="0" i="0">
                <a:solidFill>
                  <a:srgbClr val="6B7280"/>
                </a:solidFill>
                <a:latin typeface="Lexend"/>
                <a:ea typeface="Lexend"/>
                <a:cs typeface="Lexend"/>
                <a:sym typeface="Lexend"/>
              </a:rPr>
              <a:t>79,6%</a:t>
            </a:r>
            <a:endParaRPr sz="1103"/>
          </a:p>
        </p:txBody>
      </p:sp>
      <p:sp>
        <p:nvSpPr>
          <p:cNvPr id="1067" name="Google Shape;1067;p69"/>
          <p:cNvSpPr txBox="1"/>
          <p:nvPr/>
        </p:nvSpPr>
        <p:spPr>
          <a:xfrm>
            <a:off x="7367472" y="2661890"/>
            <a:ext cx="600300" cy="192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798" b="1" i="0">
                <a:solidFill>
                  <a:srgbClr val="0E4174"/>
                </a:solidFill>
                <a:latin typeface="Lexend"/>
                <a:ea typeface="Lexend"/>
                <a:cs typeface="Lexend"/>
                <a:sym typeface="Lexend"/>
              </a:rPr>
              <a:t>76,5%</a:t>
            </a:r>
            <a:endParaRPr sz="1103"/>
          </a:p>
        </p:txBody>
      </p:sp>
      <p:sp>
        <p:nvSpPr>
          <p:cNvPr id="1068" name="Google Shape;1068;p69"/>
          <p:cNvSpPr txBox="1"/>
          <p:nvPr/>
        </p:nvSpPr>
        <p:spPr>
          <a:xfrm>
            <a:off x="7997997" y="1466234"/>
            <a:ext cx="600300" cy="149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620" b="1">
                <a:solidFill>
                  <a:srgbClr val="9CA3AF"/>
                </a:solidFill>
                <a:latin typeface="Lexend"/>
                <a:ea typeface="Lexend"/>
                <a:cs typeface="Lexend"/>
                <a:sym typeface="Lexend"/>
              </a:rPr>
              <a:t>WoW</a:t>
            </a:r>
            <a:endParaRPr sz="1103"/>
          </a:p>
        </p:txBody>
      </p:sp>
      <p:sp>
        <p:nvSpPr>
          <p:cNvPr id="1069" name="Google Shape;1069;p69"/>
          <p:cNvSpPr/>
          <p:nvPr/>
        </p:nvSpPr>
        <p:spPr>
          <a:xfrm>
            <a:off x="8098436" y="2650128"/>
            <a:ext cx="400200" cy="180000"/>
          </a:xfrm>
          <a:prstGeom prst="roundRect">
            <a:avLst>
              <a:gd name="adj" fmla="val 50000"/>
            </a:avLst>
          </a:prstGeom>
          <a:solidFill>
            <a:srgbClr val="F1F3F5"/>
          </a:solidFill>
          <a:ln w="7500" cap="flat" cmpd="sng">
            <a:solidFill>
              <a:srgbClr val="E5E9EF"/>
            </a:solidFill>
            <a:prstDash val="solid"/>
            <a:round/>
            <a:headEnd type="none" w="sm" len="sm"/>
            <a:tailEnd type="none" w="sm" len="sm"/>
          </a:ln>
        </p:spPr>
        <p:txBody>
          <a:bodyPr spcFirstLastPara="1" wrap="square" lIns="72050" tIns="36025" rIns="72050" bIns="36025" anchor="ctr" anchorCtr="0">
            <a:noAutofit/>
          </a:bodyPr>
          <a:lstStyle/>
          <a:p>
            <a:pPr marL="0" marR="0" lvl="0" indent="0" algn="l" rtl="0">
              <a:spcBef>
                <a:spcPts val="0"/>
              </a:spcBef>
              <a:spcAft>
                <a:spcPts val="0"/>
              </a:spcAft>
              <a:buNone/>
            </a:pPr>
            <a:endParaRPr sz="1418">
              <a:solidFill>
                <a:srgbClr val="000000"/>
              </a:solidFill>
              <a:latin typeface="Calibri"/>
              <a:ea typeface="Calibri"/>
              <a:cs typeface="Calibri"/>
              <a:sym typeface="Calibri"/>
            </a:endParaRPr>
          </a:p>
        </p:txBody>
      </p:sp>
      <p:sp>
        <p:nvSpPr>
          <p:cNvPr id="1070" name="Google Shape;1070;p69"/>
          <p:cNvSpPr txBox="1"/>
          <p:nvPr/>
        </p:nvSpPr>
        <p:spPr>
          <a:xfrm>
            <a:off x="8005365" y="2668560"/>
            <a:ext cx="585900" cy="149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620" b="1">
                <a:solidFill>
                  <a:srgbClr val="6B7280"/>
                </a:solidFill>
                <a:latin typeface="Lexend"/>
                <a:ea typeface="Lexend"/>
                <a:cs typeface="Lexend"/>
                <a:sym typeface="Lexend"/>
              </a:rPr>
              <a:t>~</a:t>
            </a:r>
            <a:endParaRPr sz="1103"/>
          </a:p>
        </p:txBody>
      </p:sp>
      <p:sp>
        <p:nvSpPr>
          <p:cNvPr id="1071" name="Google Shape;1071;p69"/>
          <p:cNvSpPr/>
          <p:nvPr/>
        </p:nvSpPr>
        <p:spPr>
          <a:xfrm>
            <a:off x="4334975" y="2970523"/>
            <a:ext cx="4503600" cy="1366200"/>
          </a:xfrm>
          <a:prstGeom prst="roundRect">
            <a:avLst>
              <a:gd name="adj" fmla="val 8791"/>
            </a:avLst>
          </a:prstGeom>
          <a:solidFill>
            <a:srgbClr val="FFFFFF"/>
          </a:solidFill>
          <a:ln w="11250" cap="flat" cmpd="sng">
            <a:solidFill>
              <a:srgbClr val="E9EDF3"/>
            </a:solidFill>
            <a:prstDash val="solid"/>
            <a:round/>
            <a:headEnd type="none" w="sm" len="sm"/>
            <a:tailEnd type="none" w="sm" len="sm"/>
          </a:ln>
          <a:effectLst>
            <a:outerShdw blurRad="75061" dist="30024" dir="5400000" rotWithShape="0">
              <a:srgbClr val="0E4174">
                <a:alpha val="10200"/>
              </a:srgbClr>
            </a:outerShdw>
          </a:effectLst>
        </p:spPr>
        <p:txBody>
          <a:bodyPr spcFirstLastPara="1" wrap="square" lIns="72050" tIns="36025" rIns="72050" bIns="36025" anchor="ctr" anchorCtr="0">
            <a:noAutofit/>
          </a:bodyPr>
          <a:lstStyle/>
          <a:p>
            <a:pPr marL="0" marR="0" lvl="0" indent="0" algn="l" rtl="0">
              <a:spcBef>
                <a:spcPts val="0"/>
              </a:spcBef>
              <a:spcAft>
                <a:spcPts val="0"/>
              </a:spcAft>
              <a:buNone/>
            </a:pPr>
            <a:endParaRPr sz="1418">
              <a:solidFill>
                <a:srgbClr val="000000"/>
              </a:solidFill>
              <a:latin typeface="Calibri"/>
              <a:ea typeface="Calibri"/>
              <a:cs typeface="Calibri"/>
              <a:sym typeface="Calibri"/>
            </a:endParaRPr>
          </a:p>
        </p:txBody>
      </p:sp>
      <p:sp>
        <p:nvSpPr>
          <p:cNvPr id="1072" name="Google Shape;1072;p69"/>
          <p:cNvSpPr txBox="1"/>
          <p:nvPr/>
        </p:nvSpPr>
        <p:spPr>
          <a:xfrm>
            <a:off x="4545146" y="3050951"/>
            <a:ext cx="4083300" cy="235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 sz="975" b="1" i="0">
                <a:solidFill>
                  <a:srgbClr val="0E4174"/>
                </a:solidFill>
                <a:latin typeface="Lexend"/>
                <a:ea typeface="Lexend"/>
                <a:cs typeface="Lexend"/>
                <a:sym typeface="Lexend"/>
              </a:rPr>
              <a:t>Rò rỉ: 21,1% đơn chạy ngoài ca</a:t>
            </a:r>
            <a:endParaRPr sz="1103"/>
          </a:p>
        </p:txBody>
      </p:sp>
      <p:sp>
        <p:nvSpPr>
          <p:cNvPr id="1073" name="Google Shape;1073;p69"/>
          <p:cNvSpPr/>
          <p:nvPr/>
        </p:nvSpPr>
        <p:spPr>
          <a:xfrm>
            <a:off x="4545146" y="3300791"/>
            <a:ext cx="1275900" cy="525600"/>
          </a:xfrm>
          <a:prstGeom prst="roundRect">
            <a:avLst>
              <a:gd name="adj" fmla="val 17142"/>
            </a:avLst>
          </a:prstGeom>
          <a:solidFill>
            <a:srgbClr val="F9FAFB"/>
          </a:solidFill>
          <a:ln w="7500" cap="flat" cmpd="sng">
            <a:solidFill>
              <a:srgbClr val="E9EDF3"/>
            </a:solidFill>
            <a:prstDash val="solid"/>
            <a:round/>
            <a:headEnd type="none" w="sm" len="sm"/>
            <a:tailEnd type="none" w="sm" len="sm"/>
          </a:ln>
        </p:spPr>
        <p:txBody>
          <a:bodyPr spcFirstLastPara="1" wrap="square" lIns="72050" tIns="36025" rIns="72050" bIns="36025" anchor="ctr" anchorCtr="0">
            <a:noAutofit/>
          </a:bodyPr>
          <a:lstStyle/>
          <a:p>
            <a:pPr marL="0" marR="0" lvl="0" indent="0" algn="l" rtl="0">
              <a:spcBef>
                <a:spcPts val="0"/>
              </a:spcBef>
              <a:spcAft>
                <a:spcPts val="0"/>
              </a:spcAft>
              <a:buNone/>
            </a:pPr>
            <a:endParaRPr sz="1418">
              <a:solidFill>
                <a:srgbClr val="000000"/>
              </a:solidFill>
              <a:latin typeface="Calibri"/>
              <a:ea typeface="Calibri"/>
              <a:cs typeface="Calibri"/>
              <a:sym typeface="Calibri"/>
            </a:endParaRPr>
          </a:p>
        </p:txBody>
      </p:sp>
      <p:sp>
        <p:nvSpPr>
          <p:cNvPr id="1074" name="Google Shape;1074;p69"/>
          <p:cNvSpPr txBox="1"/>
          <p:nvPr/>
        </p:nvSpPr>
        <p:spPr>
          <a:xfrm>
            <a:off x="4665244" y="3297939"/>
            <a:ext cx="1050900" cy="313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 sz="1300" b="1" i="0">
                <a:solidFill>
                  <a:srgbClr val="EF4444"/>
                </a:solidFill>
                <a:latin typeface="Lexend"/>
                <a:ea typeface="Lexend"/>
                <a:cs typeface="Lexend"/>
                <a:sym typeface="Lexend"/>
              </a:rPr>
              <a:t>745</a:t>
            </a:r>
            <a:endParaRPr sz="1103">
              <a:solidFill>
                <a:srgbClr val="EF4444"/>
              </a:solidFill>
            </a:endParaRPr>
          </a:p>
        </p:txBody>
      </p:sp>
      <p:sp>
        <p:nvSpPr>
          <p:cNvPr id="1075" name="Google Shape;1075;p69"/>
          <p:cNvSpPr txBox="1"/>
          <p:nvPr/>
        </p:nvSpPr>
        <p:spPr>
          <a:xfrm>
            <a:off x="4665244" y="3555999"/>
            <a:ext cx="1065900" cy="240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 sz="620" b="0" i="0">
                <a:solidFill>
                  <a:srgbClr val="6B7280"/>
                </a:solidFill>
                <a:latin typeface="Lexend"/>
                <a:ea typeface="Lexend"/>
                <a:cs typeface="Lexend"/>
                <a:sym typeface="Lexend"/>
              </a:rPr>
              <a:t>đơn phát sinh ngoài ca</a:t>
            </a:r>
            <a:endParaRPr sz="1103"/>
          </a:p>
        </p:txBody>
      </p:sp>
      <p:sp>
        <p:nvSpPr>
          <p:cNvPr id="1076" name="Google Shape;1076;p69"/>
          <p:cNvSpPr/>
          <p:nvPr/>
        </p:nvSpPr>
        <p:spPr>
          <a:xfrm>
            <a:off x="5926269" y="3300791"/>
            <a:ext cx="1275900" cy="525600"/>
          </a:xfrm>
          <a:prstGeom prst="roundRect">
            <a:avLst>
              <a:gd name="adj" fmla="val 17142"/>
            </a:avLst>
          </a:prstGeom>
          <a:solidFill>
            <a:srgbClr val="F9FAFB"/>
          </a:solidFill>
          <a:ln w="7500" cap="flat" cmpd="sng">
            <a:solidFill>
              <a:srgbClr val="E9EDF3"/>
            </a:solidFill>
            <a:prstDash val="solid"/>
            <a:round/>
            <a:headEnd type="none" w="sm" len="sm"/>
            <a:tailEnd type="none" w="sm" len="sm"/>
          </a:ln>
        </p:spPr>
        <p:txBody>
          <a:bodyPr spcFirstLastPara="1" wrap="square" lIns="72050" tIns="36025" rIns="72050" bIns="36025" anchor="ctr" anchorCtr="0">
            <a:noAutofit/>
          </a:bodyPr>
          <a:lstStyle/>
          <a:p>
            <a:pPr marL="0" marR="0" lvl="0" indent="0" algn="l" rtl="0">
              <a:spcBef>
                <a:spcPts val="0"/>
              </a:spcBef>
              <a:spcAft>
                <a:spcPts val="0"/>
              </a:spcAft>
              <a:buNone/>
            </a:pPr>
            <a:endParaRPr sz="1418">
              <a:solidFill>
                <a:srgbClr val="000000"/>
              </a:solidFill>
              <a:latin typeface="Calibri"/>
              <a:ea typeface="Calibri"/>
              <a:cs typeface="Calibri"/>
              <a:sym typeface="Calibri"/>
            </a:endParaRPr>
          </a:p>
        </p:txBody>
      </p:sp>
      <p:sp>
        <p:nvSpPr>
          <p:cNvPr id="1077" name="Google Shape;1077;p69"/>
          <p:cNvSpPr txBox="1"/>
          <p:nvPr/>
        </p:nvSpPr>
        <p:spPr>
          <a:xfrm>
            <a:off x="6046367" y="3297939"/>
            <a:ext cx="1050900" cy="313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 sz="1300" b="1" i="0">
                <a:solidFill>
                  <a:srgbClr val="EA4335"/>
                </a:solidFill>
                <a:latin typeface="Lexend"/>
                <a:ea typeface="Lexend"/>
                <a:cs typeface="Lexend"/>
                <a:sym typeface="Lexend"/>
              </a:rPr>
              <a:t>204</a:t>
            </a:r>
            <a:endParaRPr sz="1103">
              <a:solidFill>
                <a:srgbClr val="EA4335"/>
              </a:solidFill>
            </a:endParaRPr>
          </a:p>
        </p:txBody>
      </p:sp>
      <p:sp>
        <p:nvSpPr>
          <p:cNvPr id="1078" name="Google Shape;1078;p69"/>
          <p:cNvSpPr txBox="1"/>
          <p:nvPr/>
        </p:nvSpPr>
        <p:spPr>
          <a:xfrm>
            <a:off x="6046367" y="3555999"/>
            <a:ext cx="1065900" cy="240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 sz="620" b="0" i="0">
                <a:solidFill>
                  <a:srgbClr val="6B7280"/>
                </a:solidFill>
                <a:latin typeface="Lexend"/>
                <a:ea typeface="Lexend"/>
                <a:cs typeface="Lexend"/>
                <a:sym typeface="Lexend"/>
              </a:rPr>
              <a:t>ca no-show / hủy vẫn có đơn</a:t>
            </a:r>
            <a:endParaRPr sz="1103"/>
          </a:p>
        </p:txBody>
      </p:sp>
      <p:sp>
        <p:nvSpPr>
          <p:cNvPr id="1079" name="Google Shape;1079;p69"/>
          <p:cNvSpPr/>
          <p:nvPr/>
        </p:nvSpPr>
        <p:spPr>
          <a:xfrm>
            <a:off x="7307392" y="3300791"/>
            <a:ext cx="1275900" cy="525600"/>
          </a:xfrm>
          <a:prstGeom prst="roundRect">
            <a:avLst>
              <a:gd name="adj" fmla="val 17142"/>
            </a:avLst>
          </a:prstGeom>
          <a:solidFill>
            <a:srgbClr val="F9FAFB"/>
          </a:solidFill>
          <a:ln w="7500" cap="flat" cmpd="sng">
            <a:solidFill>
              <a:srgbClr val="E9EDF3"/>
            </a:solidFill>
            <a:prstDash val="solid"/>
            <a:round/>
            <a:headEnd type="none" w="sm" len="sm"/>
            <a:tailEnd type="none" w="sm" len="sm"/>
          </a:ln>
        </p:spPr>
        <p:txBody>
          <a:bodyPr spcFirstLastPara="1" wrap="square" lIns="72050" tIns="36025" rIns="72050" bIns="36025" anchor="ctr" anchorCtr="0">
            <a:noAutofit/>
          </a:bodyPr>
          <a:lstStyle/>
          <a:p>
            <a:pPr marL="0" marR="0" lvl="0" indent="0" algn="l" rtl="0">
              <a:spcBef>
                <a:spcPts val="0"/>
              </a:spcBef>
              <a:spcAft>
                <a:spcPts val="0"/>
              </a:spcAft>
              <a:buNone/>
            </a:pPr>
            <a:endParaRPr sz="1418">
              <a:solidFill>
                <a:srgbClr val="000000"/>
              </a:solidFill>
              <a:latin typeface="Calibri"/>
              <a:ea typeface="Calibri"/>
              <a:cs typeface="Calibri"/>
              <a:sym typeface="Calibri"/>
            </a:endParaRPr>
          </a:p>
        </p:txBody>
      </p:sp>
      <p:sp>
        <p:nvSpPr>
          <p:cNvPr id="1080" name="Google Shape;1080;p69"/>
          <p:cNvSpPr txBox="1"/>
          <p:nvPr/>
        </p:nvSpPr>
        <p:spPr>
          <a:xfrm>
            <a:off x="7427490" y="3297939"/>
            <a:ext cx="1050900" cy="313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 sz="1300" b="1" i="0">
                <a:solidFill>
                  <a:srgbClr val="FF0000"/>
                </a:solidFill>
                <a:latin typeface="Lexend"/>
                <a:ea typeface="Lexend"/>
                <a:cs typeface="Lexend"/>
                <a:sym typeface="Lexend"/>
              </a:rPr>
              <a:t>81</a:t>
            </a:r>
            <a:endParaRPr sz="1103">
              <a:solidFill>
                <a:srgbClr val="FF0000"/>
              </a:solidFill>
            </a:endParaRPr>
          </a:p>
        </p:txBody>
      </p:sp>
      <p:sp>
        <p:nvSpPr>
          <p:cNvPr id="1081" name="Google Shape;1081;p69"/>
          <p:cNvSpPr txBox="1"/>
          <p:nvPr/>
        </p:nvSpPr>
        <p:spPr>
          <a:xfrm>
            <a:off x="7427490" y="3555999"/>
            <a:ext cx="1065900" cy="240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 sz="620" b="0" i="0">
                <a:solidFill>
                  <a:srgbClr val="6B7280"/>
                </a:solidFill>
                <a:latin typeface="Lexend"/>
                <a:ea typeface="Lexend"/>
                <a:cs typeface="Lexend"/>
                <a:sym typeface="Lexend"/>
              </a:rPr>
              <a:t>TX chưa check-in vẫn chạy (</a:t>
            </a:r>
            <a:r>
              <a:rPr lang="en" sz="620">
                <a:solidFill>
                  <a:srgbClr val="6B7280"/>
                </a:solidFill>
                <a:latin typeface="Lexend"/>
                <a:ea typeface="Lexend"/>
                <a:cs typeface="Lexend"/>
                <a:sym typeface="Lexend"/>
              </a:rPr>
              <a:t>16</a:t>
            </a:r>
            <a:r>
              <a:rPr lang="en" sz="620" b="0" i="0">
                <a:solidFill>
                  <a:srgbClr val="6B7280"/>
                </a:solidFill>
                <a:latin typeface="Lexend"/>
                <a:ea typeface="Lexend"/>
                <a:cs typeface="Lexend"/>
                <a:sym typeface="Lexend"/>
              </a:rPr>
              <a:t>,</a:t>
            </a:r>
            <a:r>
              <a:rPr lang="en" sz="620">
                <a:solidFill>
                  <a:srgbClr val="6B7280"/>
                </a:solidFill>
                <a:latin typeface="Lexend"/>
                <a:ea typeface="Lexend"/>
                <a:cs typeface="Lexend"/>
                <a:sym typeface="Lexend"/>
              </a:rPr>
              <a:t>3</a:t>
            </a:r>
            <a:r>
              <a:rPr lang="en" sz="620" b="0" i="0">
                <a:solidFill>
                  <a:srgbClr val="6B7280"/>
                </a:solidFill>
                <a:latin typeface="Lexend"/>
                <a:ea typeface="Lexend"/>
                <a:cs typeface="Lexend"/>
                <a:sym typeface="Lexend"/>
              </a:rPr>
              <a:t>%)</a:t>
            </a:r>
            <a:endParaRPr sz="1103"/>
          </a:p>
        </p:txBody>
      </p:sp>
      <p:sp>
        <p:nvSpPr>
          <p:cNvPr id="1082" name="Google Shape;1082;p69"/>
          <p:cNvSpPr/>
          <p:nvPr/>
        </p:nvSpPr>
        <p:spPr>
          <a:xfrm>
            <a:off x="4545146" y="3886267"/>
            <a:ext cx="4083300" cy="360300"/>
          </a:xfrm>
          <a:prstGeom prst="roundRect">
            <a:avLst>
              <a:gd name="adj" fmla="val 20833"/>
            </a:avLst>
          </a:prstGeom>
          <a:solidFill>
            <a:srgbClr val="FFF3EB"/>
          </a:solidFill>
          <a:ln w="7500" cap="flat" cmpd="sng">
            <a:solidFill>
              <a:srgbClr val="F3C4A0"/>
            </a:solidFill>
            <a:prstDash val="solid"/>
            <a:round/>
            <a:headEnd type="none" w="sm" len="sm"/>
            <a:tailEnd type="none" w="sm" len="sm"/>
          </a:ln>
        </p:spPr>
        <p:txBody>
          <a:bodyPr spcFirstLastPara="1" wrap="square" lIns="72050" tIns="36025" rIns="72050" bIns="36025" anchor="ctr" anchorCtr="0">
            <a:noAutofit/>
          </a:bodyPr>
          <a:lstStyle/>
          <a:p>
            <a:pPr marL="0" marR="0" lvl="0" indent="0" algn="l" rtl="0">
              <a:spcBef>
                <a:spcPts val="0"/>
              </a:spcBef>
              <a:spcAft>
                <a:spcPts val="0"/>
              </a:spcAft>
              <a:buNone/>
            </a:pPr>
            <a:endParaRPr sz="1418">
              <a:solidFill>
                <a:srgbClr val="000000"/>
              </a:solidFill>
              <a:latin typeface="Calibri"/>
              <a:ea typeface="Calibri"/>
              <a:cs typeface="Calibri"/>
              <a:sym typeface="Calibri"/>
            </a:endParaRPr>
          </a:p>
        </p:txBody>
      </p:sp>
      <p:sp>
        <p:nvSpPr>
          <p:cNvPr id="1083" name="Google Shape;1083;p69"/>
          <p:cNvSpPr/>
          <p:nvPr/>
        </p:nvSpPr>
        <p:spPr>
          <a:xfrm>
            <a:off x="4665240" y="3977829"/>
            <a:ext cx="70200" cy="70200"/>
          </a:xfrm>
          <a:prstGeom prst="ellipse">
            <a:avLst/>
          </a:prstGeom>
          <a:solidFill>
            <a:srgbClr val="FF7F32"/>
          </a:solidFill>
          <a:ln>
            <a:noFill/>
          </a:ln>
        </p:spPr>
        <p:txBody>
          <a:bodyPr spcFirstLastPara="1" wrap="square" lIns="74925" tIns="37450" rIns="74925" bIns="37450" anchor="ctr" anchorCtr="0">
            <a:noAutofit/>
          </a:bodyPr>
          <a:lstStyle/>
          <a:p>
            <a:pPr marL="0" marR="0" lvl="0" indent="0" algn="ctr" rtl="0">
              <a:spcBef>
                <a:spcPts val="0"/>
              </a:spcBef>
              <a:spcAft>
                <a:spcPts val="0"/>
              </a:spcAft>
              <a:buNone/>
            </a:pPr>
            <a:endParaRPr sz="1475">
              <a:solidFill>
                <a:srgbClr val="000000"/>
              </a:solidFill>
              <a:latin typeface="Calibri"/>
              <a:ea typeface="Calibri"/>
              <a:cs typeface="Calibri"/>
              <a:sym typeface="Calibri"/>
            </a:endParaRPr>
          </a:p>
        </p:txBody>
      </p:sp>
      <p:sp>
        <p:nvSpPr>
          <p:cNvPr id="1084" name="Google Shape;1084;p69"/>
          <p:cNvSpPr txBox="1"/>
          <p:nvPr/>
        </p:nvSpPr>
        <p:spPr>
          <a:xfrm>
            <a:off x="4815366" y="3951148"/>
            <a:ext cx="3648000" cy="27030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None/>
            </a:pPr>
            <a:r>
              <a:rPr lang="en" sz="709" b="1">
                <a:solidFill>
                  <a:srgbClr val="B4531A"/>
                </a:solidFill>
                <a:latin typeface="Lexend"/>
                <a:ea typeface="Lexend"/>
                <a:cs typeface="Lexend"/>
                <a:sym typeface="Lexend"/>
              </a:rPr>
              <a:t>Tài xế </a:t>
            </a:r>
            <a:r>
              <a:rPr lang="en" sz="709" b="1" i="0">
                <a:solidFill>
                  <a:srgbClr val="B4531A"/>
                </a:solidFill>
                <a:latin typeface="Lexend"/>
                <a:ea typeface="Lexend"/>
                <a:cs typeface="Lexend"/>
                <a:sym typeface="Lexend"/>
              </a:rPr>
              <a:t>có làm việc, chỉ là không bấm check-in. </a:t>
            </a:r>
            <a:r>
              <a:rPr lang="en" sz="709">
                <a:solidFill>
                  <a:srgbClr val="374151"/>
                </a:solidFill>
                <a:latin typeface="Lexend"/>
                <a:ea typeface="Lexend"/>
                <a:cs typeface="Lexend"/>
                <a:sym typeface="Lexend"/>
              </a:rPr>
              <a:t>Tính năng auto checkin dự kiến release vào giữa tháng 9</a:t>
            </a:r>
            <a:endParaRPr sz="1103"/>
          </a:p>
        </p:txBody>
      </p:sp>
      <p:sp>
        <p:nvSpPr>
          <p:cNvPr id="1085" name="Google Shape;1085;p69"/>
          <p:cNvSpPr/>
          <p:nvPr/>
        </p:nvSpPr>
        <p:spPr>
          <a:xfrm>
            <a:off x="430525" y="293442"/>
            <a:ext cx="229200" cy="225300"/>
          </a:xfrm>
          <a:prstGeom prst="wave">
            <a:avLst>
              <a:gd name="adj1" fmla="val 125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090"/>
        <p:cNvGrpSpPr/>
        <p:nvPr/>
      </p:nvGrpSpPr>
      <p:grpSpPr>
        <a:xfrm>
          <a:off x="0" y="0"/>
          <a:ext cx="0" cy="0"/>
          <a:chOff x="0" y="0"/>
          <a:chExt cx="0" cy="0"/>
        </a:xfrm>
      </p:grpSpPr>
      <p:sp>
        <p:nvSpPr>
          <p:cNvPr id="1091" name="Google Shape;1091;p70"/>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70"/>
          <p:cNvSpPr/>
          <p:nvPr/>
        </p:nvSpPr>
        <p:spPr>
          <a:xfrm>
            <a:off x="731520" y="2011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a:solidFill>
                  <a:srgbClr val="0E4174"/>
                </a:solidFill>
                <a:latin typeface="Lexend"/>
                <a:ea typeface="Lexend"/>
                <a:cs typeface="Lexend"/>
                <a:sym typeface="Lexend"/>
              </a:rPr>
              <a:t>Cityzone</a:t>
            </a:r>
            <a:endParaRPr sz="2200" b="1" i="0" u="none" strike="noStrike" cap="none">
              <a:solidFill>
                <a:srgbClr val="F56C1F"/>
              </a:solidFill>
              <a:highlight>
                <a:schemeClr val="lt1"/>
              </a:highlight>
              <a:latin typeface="Lexend"/>
              <a:ea typeface="Lexend"/>
              <a:cs typeface="Lexend"/>
              <a:sym typeface="Lexend"/>
            </a:endParaRPr>
          </a:p>
        </p:txBody>
      </p:sp>
      <p:sp>
        <p:nvSpPr>
          <p:cNvPr id="1093" name="Google Shape;1093;p70"/>
          <p:cNvSpPr/>
          <p:nvPr/>
        </p:nvSpPr>
        <p:spPr>
          <a:xfrm>
            <a:off x="731520" y="594360"/>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 sz="1000" i="1">
                <a:solidFill>
                  <a:schemeClr val="accent3"/>
                </a:solidFill>
                <a:latin typeface="Lexend"/>
                <a:ea typeface="Lexend"/>
                <a:cs typeface="Lexend"/>
                <a:sym typeface="Lexend"/>
              </a:rPr>
              <a:t>Perf tài xế </a:t>
            </a:r>
            <a:endParaRPr sz="1000" i="1">
              <a:solidFill>
                <a:schemeClr val="accent3"/>
              </a:solidFill>
              <a:latin typeface="Lexend"/>
              <a:ea typeface="Lexend"/>
              <a:cs typeface="Lexend"/>
              <a:sym typeface="Lexend"/>
            </a:endParaRPr>
          </a:p>
        </p:txBody>
      </p:sp>
      <p:cxnSp>
        <p:nvCxnSpPr>
          <p:cNvPr id="1094" name="Google Shape;1094;p70"/>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1095" name="Google Shape;1095;p70"/>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sp>
        <p:nvSpPr>
          <p:cNvPr id="1096" name="Google Shape;1096;p70"/>
          <p:cNvSpPr/>
          <p:nvPr/>
        </p:nvSpPr>
        <p:spPr>
          <a:xfrm>
            <a:off x="430475" y="285363"/>
            <a:ext cx="229284" cy="243216"/>
          </a:xfrm>
          <a:prstGeom prst="lightningBolt">
            <a:avLst/>
          </a:prstGeom>
          <a:solidFill>
            <a:srgbClr val="FF7F3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97" name="Google Shape;1097;p70"/>
          <p:cNvSpPr/>
          <p:nvPr/>
        </p:nvSpPr>
        <p:spPr>
          <a:xfrm>
            <a:off x="380713" y="242300"/>
            <a:ext cx="328800" cy="328800"/>
          </a:xfrm>
          <a:prstGeom prst="roundRect">
            <a:avLst>
              <a:gd name="adj" fmla="val 28261"/>
            </a:avLst>
          </a:prstGeom>
          <a:gradFill>
            <a:gsLst>
              <a:gs pos="0">
                <a:srgbClr val="FF9A50"/>
              </a:gs>
              <a:gs pos="100000">
                <a:srgbClr val="FF7F32"/>
              </a:gs>
            </a:gsLst>
            <a:lin ang="2700006"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098" name="Google Shape;1098;p70"/>
          <p:cNvSpPr/>
          <p:nvPr/>
        </p:nvSpPr>
        <p:spPr>
          <a:xfrm>
            <a:off x="373188" y="1067400"/>
            <a:ext cx="4372800" cy="1798200"/>
          </a:xfrm>
          <a:prstGeom prst="roundRect">
            <a:avLst>
              <a:gd name="adj" fmla="val 6400"/>
            </a:avLst>
          </a:prstGeom>
          <a:solidFill>
            <a:srgbClr val="FFFFFF"/>
          </a:solidFill>
          <a:ln w="10775" cap="flat" cmpd="sng">
            <a:solidFill>
              <a:srgbClr val="E9EDF3"/>
            </a:solidFill>
            <a:prstDash val="solid"/>
            <a:round/>
            <a:headEnd type="none" w="sm" len="sm"/>
            <a:tailEnd type="none" w="sm" len="sm"/>
          </a:ln>
          <a:effectLst>
            <a:outerShdw blurRad="71923" dist="28769" dir="5400000" rotWithShape="0">
              <a:srgbClr val="0E4174">
                <a:alpha val="10200"/>
              </a:srgbClr>
            </a:outerShdw>
          </a:effectLst>
        </p:spPr>
        <p:txBody>
          <a:bodyPr spcFirstLastPara="1" wrap="square" lIns="69025" tIns="34500" rIns="69025" bIns="34500" anchor="ctr" anchorCtr="0">
            <a:noAutofit/>
          </a:bodyPr>
          <a:lstStyle/>
          <a:p>
            <a:pPr marL="0" marR="0" lvl="0" indent="0" algn="l" rtl="0">
              <a:spcBef>
                <a:spcPts val="0"/>
              </a:spcBef>
              <a:spcAft>
                <a:spcPts val="0"/>
              </a:spcAft>
              <a:buNone/>
            </a:pPr>
            <a:endParaRPr sz="1359">
              <a:solidFill>
                <a:srgbClr val="000000"/>
              </a:solidFill>
              <a:latin typeface="Calibri"/>
              <a:ea typeface="Calibri"/>
              <a:cs typeface="Calibri"/>
              <a:sym typeface="Calibri"/>
            </a:endParaRPr>
          </a:p>
        </p:txBody>
      </p:sp>
      <p:sp>
        <p:nvSpPr>
          <p:cNvPr id="1099" name="Google Shape;1099;p70"/>
          <p:cNvSpPr txBox="1"/>
          <p:nvPr/>
        </p:nvSpPr>
        <p:spPr>
          <a:xfrm>
            <a:off x="508424" y="1144465"/>
            <a:ext cx="3970200" cy="225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 sz="934" b="1">
                <a:solidFill>
                  <a:srgbClr val="0E4174"/>
                </a:solidFill>
                <a:latin typeface="Lexend"/>
                <a:ea typeface="Lexend"/>
                <a:cs typeface="Lexend"/>
                <a:sym typeface="Lexend"/>
              </a:rPr>
              <a:t>Chất lượng hoạt động theo ca</a:t>
            </a:r>
            <a:endParaRPr sz="1057"/>
          </a:p>
        </p:txBody>
      </p:sp>
      <p:sp>
        <p:nvSpPr>
          <p:cNvPr id="1100" name="Google Shape;1100;p70"/>
          <p:cNvSpPr txBox="1"/>
          <p:nvPr/>
        </p:nvSpPr>
        <p:spPr>
          <a:xfrm>
            <a:off x="508424" y="1334702"/>
            <a:ext cx="3970200" cy="1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 sz="651" b="0" i="0">
                <a:solidFill>
                  <a:srgbClr val="6B7280"/>
                </a:solidFill>
                <a:latin typeface="Lexend"/>
                <a:ea typeface="Lexend"/>
                <a:cs typeface="Lexend"/>
                <a:sym typeface="Lexend"/>
              </a:rPr>
              <a:t>Cùng năng suất/giờ, nhưng cam kết đến ca thì khác hẳn</a:t>
            </a:r>
            <a:endParaRPr sz="1057"/>
          </a:p>
        </p:txBody>
      </p:sp>
      <p:sp>
        <p:nvSpPr>
          <p:cNvPr id="1101" name="Google Shape;1101;p70"/>
          <p:cNvSpPr txBox="1"/>
          <p:nvPr/>
        </p:nvSpPr>
        <p:spPr>
          <a:xfrm>
            <a:off x="574570" y="1530979"/>
            <a:ext cx="719400" cy="143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 sz="594" b="1" i="0">
                <a:solidFill>
                  <a:srgbClr val="9CA3AF"/>
                </a:solidFill>
                <a:latin typeface="Lexend"/>
                <a:ea typeface="Lexend"/>
                <a:cs typeface="Lexend"/>
                <a:sym typeface="Lexend"/>
              </a:rPr>
              <a:t>ĐỘ DÀI CA</a:t>
            </a:r>
            <a:endParaRPr sz="1057"/>
          </a:p>
        </p:txBody>
      </p:sp>
      <p:sp>
        <p:nvSpPr>
          <p:cNvPr id="1102" name="Google Shape;1102;p70"/>
          <p:cNvSpPr txBox="1"/>
          <p:nvPr/>
        </p:nvSpPr>
        <p:spPr>
          <a:xfrm>
            <a:off x="1142758" y="1530979"/>
            <a:ext cx="503700" cy="143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594" b="1" i="0">
                <a:solidFill>
                  <a:srgbClr val="9CA3AF"/>
                </a:solidFill>
                <a:latin typeface="Lexend"/>
                <a:ea typeface="Lexend"/>
                <a:cs typeface="Lexend"/>
                <a:sym typeface="Lexend"/>
              </a:rPr>
              <a:t>CA ĐK</a:t>
            </a:r>
            <a:endParaRPr sz="1057"/>
          </a:p>
        </p:txBody>
      </p:sp>
      <p:sp>
        <p:nvSpPr>
          <p:cNvPr id="1103" name="Google Shape;1103;p70"/>
          <p:cNvSpPr txBox="1"/>
          <p:nvPr/>
        </p:nvSpPr>
        <p:spPr>
          <a:xfrm>
            <a:off x="1761290" y="1530979"/>
            <a:ext cx="1079100" cy="143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594" b="1" i="0">
                <a:solidFill>
                  <a:srgbClr val="9CA3AF"/>
                </a:solidFill>
                <a:latin typeface="Lexend"/>
                <a:ea typeface="Lexend"/>
                <a:cs typeface="Lexend"/>
                <a:sym typeface="Lexend"/>
              </a:rPr>
              <a:t>CHECK-IN RATE</a:t>
            </a:r>
            <a:endParaRPr sz="1057"/>
          </a:p>
        </p:txBody>
      </p:sp>
      <p:sp>
        <p:nvSpPr>
          <p:cNvPr id="1104" name="Google Shape;1104;p70"/>
          <p:cNvSpPr txBox="1"/>
          <p:nvPr/>
        </p:nvSpPr>
        <p:spPr>
          <a:xfrm>
            <a:off x="3214124" y="1530979"/>
            <a:ext cx="503700" cy="143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594" b="1" i="0">
                <a:solidFill>
                  <a:srgbClr val="9CA3AF"/>
                </a:solidFill>
                <a:latin typeface="Lexend"/>
                <a:ea typeface="Lexend"/>
                <a:cs typeface="Lexend"/>
                <a:sym typeface="Lexend"/>
              </a:rPr>
              <a:t>ĐƠN/CA</a:t>
            </a:r>
            <a:endParaRPr sz="1057"/>
          </a:p>
        </p:txBody>
      </p:sp>
      <p:sp>
        <p:nvSpPr>
          <p:cNvPr id="1105" name="Google Shape;1105;p70"/>
          <p:cNvSpPr txBox="1"/>
          <p:nvPr/>
        </p:nvSpPr>
        <p:spPr>
          <a:xfrm>
            <a:off x="3918964" y="1530979"/>
            <a:ext cx="503700" cy="143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594" b="1" i="0">
                <a:solidFill>
                  <a:srgbClr val="9CA3AF"/>
                </a:solidFill>
                <a:latin typeface="Lexend"/>
                <a:ea typeface="Lexend"/>
                <a:cs typeface="Lexend"/>
                <a:sym typeface="Lexend"/>
              </a:rPr>
              <a:t>ĐƠN/GIỜ</a:t>
            </a:r>
            <a:endParaRPr sz="1057"/>
          </a:p>
        </p:txBody>
      </p:sp>
      <p:sp>
        <p:nvSpPr>
          <p:cNvPr id="1106" name="Google Shape;1106;p70"/>
          <p:cNvSpPr/>
          <p:nvPr/>
        </p:nvSpPr>
        <p:spPr>
          <a:xfrm>
            <a:off x="574570" y="1696725"/>
            <a:ext cx="3970200" cy="7200"/>
          </a:xfrm>
          <a:prstGeom prst="rect">
            <a:avLst/>
          </a:prstGeom>
          <a:solidFill>
            <a:srgbClr val="EDF1F6"/>
          </a:solidFill>
          <a:ln>
            <a:noFill/>
          </a:ln>
        </p:spPr>
        <p:txBody>
          <a:bodyPr spcFirstLastPara="1" wrap="square" lIns="69025" tIns="34500" rIns="69025" bIns="34500" anchor="ctr" anchorCtr="0">
            <a:noAutofit/>
          </a:bodyPr>
          <a:lstStyle/>
          <a:p>
            <a:pPr marL="0" marR="0" lvl="0" indent="0" algn="l" rtl="0">
              <a:spcBef>
                <a:spcPts val="0"/>
              </a:spcBef>
              <a:spcAft>
                <a:spcPts val="0"/>
              </a:spcAft>
              <a:buNone/>
            </a:pPr>
            <a:endParaRPr sz="1359">
              <a:solidFill>
                <a:srgbClr val="000000"/>
              </a:solidFill>
              <a:latin typeface="Calibri"/>
              <a:ea typeface="Calibri"/>
              <a:cs typeface="Calibri"/>
              <a:sym typeface="Calibri"/>
            </a:endParaRPr>
          </a:p>
        </p:txBody>
      </p:sp>
      <p:sp>
        <p:nvSpPr>
          <p:cNvPr id="1107" name="Google Shape;1107;p70"/>
          <p:cNvSpPr/>
          <p:nvPr/>
        </p:nvSpPr>
        <p:spPr>
          <a:xfrm>
            <a:off x="502648" y="1736283"/>
            <a:ext cx="4113900" cy="237300"/>
          </a:xfrm>
          <a:prstGeom prst="roundRect">
            <a:avLst>
              <a:gd name="adj" fmla="val 24242"/>
            </a:avLst>
          </a:prstGeom>
          <a:solidFill>
            <a:srgbClr val="FDECEC"/>
          </a:solidFill>
          <a:ln>
            <a:noFill/>
          </a:ln>
        </p:spPr>
        <p:txBody>
          <a:bodyPr spcFirstLastPara="1" wrap="square" lIns="69025" tIns="34500" rIns="69025" bIns="34500" anchor="ctr" anchorCtr="0">
            <a:noAutofit/>
          </a:bodyPr>
          <a:lstStyle/>
          <a:p>
            <a:pPr marL="0" marR="0" lvl="0" indent="0" algn="l" rtl="0">
              <a:spcBef>
                <a:spcPts val="0"/>
              </a:spcBef>
              <a:spcAft>
                <a:spcPts val="0"/>
              </a:spcAft>
              <a:buNone/>
            </a:pPr>
            <a:endParaRPr sz="1359">
              <a:solidFill>
                <a:srgbClr val="000000"/>
              </a:solidFill>
              <a:latin typeface="Calibri"/>
              <a:ea typeface="Calibri"/>
              <a:cs typeface="Calibri"/>
              <a:sym typeface="Calibri"/>
            </a:endParaRPr>
          </a:p>
        </p:txBody>
      </p:sp>
      <p:sp>
        <p:nvSpPr>
          <p:cNvPr id="1108" name="Google Shape;1108;p70"/>
          <p:cNvSpPr txBox="1"/>
          <p:nvPr/>
        </p:nvSpPr>
        <p:spPr>
          <a:xfrm>
            <a:off x="574570" y="1790836"/>
            <a:ext cx="647400" cy="184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 sz="764" b="1" i="0">
                <a:solidFill>
                  <a:srgbClr val="C0392B"/>
                </a:solidFill>
                <a:latin typeface="Lexend"/>
                <a:ea typeface="Lexend"/>
                <a:cs typeface="Lexend"/>
                <a:sym typeface="Lexend"/>
              </a:rPr>
              <a:t>2,00h</a:t>
            </a:r>
            <a:endParaRPr sz="1057"/>
          </a:p>
        </p:txBody>
      </p:sp>
      <p:sp>
        <p:nvSpPr>
          <p:cNvPr id="1109" name="Google Shape;1109;p70"/>
          <p:cNvSpPr txBox="1"/>
          <p:nvPr/>
        </p:nvSpPr>
        <p:spPr>
          <a:xfrm>
            <a:off x="1142758" y="1800114"/>
            <a:ext cx="503700" cy="170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708" b="0" i="0">
                <a:solidFill>
                  <a:srgbClr val="6B7280"/>
                </a:solidFill>
                <a:latin typeface="Lexend"/>
                <a:ea typeface="Lexend"/>
                <a:cs typeface="Lexend"/>
                <a:sym typeface="Lexend"/>
              </a:rPr>
              <a:t>458</a:t>
            </a:r>
            <a:endParaRPr sz="1057"/>
          </a:p>
        </p:txBody>
      </p:sp>
      <p:sp>
        <p:nvSpPr>
          <p:cNvPr id="1110" name="Google Shape;1110;p70"/>
          <p:cNvSpPr/>
          <p:nvPr/>
        </p:nvSpPr>
        <p:spPr>
          <a:xfrm>
            <a:off x="1696560" y="1833378"/>
            <a:ext cx="891900" cy="108000"/>
          </a:xfrm>
          <a:prstGeom prst="roundRect">
            <a:avLst>
              <a:gd name="adj" fmla="val 50000"/>
            </a:avLst>
          </a:prstGeom>
          <a:solidFill>
            <a:srgbClr val="FFFFFF"/>
          </a:solidFill>
          <a:ln>
            <a:noFill/>
          </a:ln>
        </p:spPr>
        <p:txBody>
          <a:bodyPr spcFirstLastPara="1" wrap="square" lIns="69025" tIns="34500" rIns="69025" bIns="34500" anchor="ctr" anchorCtr="0">
            <a:noAutofit/>
          </a:bodyPr>
          <a:lstStyle/>
          <a:p>
            <a:pPr marL="0" marR="0" lvl="0" indent="0" algn="l" rtl="0">
              <a:spcBef>
                <a:spcPts val="0"/>
              </a:spcBef>
              <a:spcAft>
                <a:spcPts val="0"/>
              </a:spcAft>
              <a:buNone/>
            </a:pPr>
            <a:endParaRPr sz="1359">
              <a:solidFill>
                <a:srgbClr val="000000"/>
              </a:solidFill>
              <a:latin typeface="Calibri"/>
              <a:ea typeface="Calibri"/>
              <a:cs typeface="Calibri"/>
              <a:sym typeface="Calibri"/>
            </a:endParaRPr>
          </a:p>
        </p:txBody>
      </p:sp>
      <p:sp>
        <p:nvSpPr>
          <p:cNvPr id="1111" name="Google Shape;1111;p70"/>
          <p:cNvSpPr/>
          <p:nvPr/>
        </p:nvSpPr>
        <p:spPr>
          <a:xfrm>
            <a:off x="1696560" y="1833378"/>
            <a:ext cx="358800" cy="108000"/>
          </a:xfrm>
          <a:prstGeom prst="roundRect">
            <a:avLst>
              <a:gd name="adj" fmla="val 50000"/>
            </a:avLst>
          </a:prstGeom>
          <a:solidFill>
            <a:srgbClr val="C0392B"/>
          </a:solidFill>
          <a:ln>
            <a:noFill/>
          </a:ln>
        </p:spPr>
        <p:txBody>
          <a:bodyPr spcFirstLastPara="1" wrap="square" lIns="69025" tIns="34500" rIns="69025" bIns="34500" anchor="ctr" anchorCtr="0">
            <a:noAutofit/>
          </a:bodyPr>
          <a:lstStyle/>
          <a:p>
            <a:pPr marL="0" marR="0" lvl="0" indent="0" algn="l" rtl="0">
              <a:spcBef>
                <a:spcPts val="0"/>
              </a:spcBef>
              <a:spcAft>
                <a:spcPts val="0"/>
              </a:spcAft>
              <a:buNone/>
            </a:pPr>
            <a:endParaRPr sz="1359">
              <a:solidFill>
                <a:srgbClr val="000000"/>
              </a:solidFill>
              <a:latin typeface="Calibri"/>
              <a:ea typeface="Calibri"/>
              <a:cs typeface="Calibri"/>
              <a:sym typeface="Calibri"/>
            </a:endParaRPr>
          </a:p>
        </p:txBody>
      </p:sp>
      <p:sp>
        <p:nvSpPr>
          <p:cNvPr id="1112" name="Google Shape;1112;p70"/>
          <p:cNvSpPr txBox="1"/>
          <p:nvPr/>
        </p:nvSpPr>
        <p:spPr>
          <a:xfrm>
            <a:off x="2689090" y="1795475"/>
            <a:ext cx="431700" cy="177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736" b="1" i="0">
                <a:solidFill>
                  <a:srgbClr val="C0392B"/>
                </a:solidFill>
                <a:latin typeface="Lexend"/>
                <a:ea typeface="Lexend"/>
                <a:cs typeface="Lexend"/>
                <a:sym typeface="Lexend"/>
              </a:rPr>
              <a:t>40,2%</a:t>
            </a:r>
            <a:endParaRPr sz="1057"/>
          </a:p>
        </p:txBody>
      </p:sp>
      <p:sp>
        <p:nvSpPr>
          <p:cNvPr id="1113" name="Google Shape;1113;p70"/>
          <p:cNvSpPr txBox="1"/>
          <p:nvPr/>
        </p:nvSpPr>
        <p:spPr>
          <a:xfrm>
            <a:off x="3214124" y="1795475"/>
            <a:ext cx="503700" cy="177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736" b="1" i="0">
                <a:solidFill>
                  <a:srgbClr val="374151"/>
                </a:solidFill>
                <a:latin typeface="Lexend"/>
                <a:ea typeface="Lexend"/>
                <a:cs typeface="Lexend"/>
                <a:sym typeface="Lexend"/>
              </a:rPr>
              <a:t>3,07</a:t>
            </a:r>
            <a:endParaRPr sz="1057"/>
          </a:p>
        </p:txBody>
      </p:sp>
      <p:sp>
        <p:nvSpPr>
          <p:cNvPr id="1114" name="Google Shape;1114;p70"/>
          <p:cNvSpPr txBox="1"/>
          <p:nvPr/>
        </p:nvSpPr>
        <p:spPr>
          <a:xfrm>
            <a:off x="3918964" y="1795475"/>
            <a:ext cx="503700" cy="177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736" b="0" i="0">
                <a:solidFill>
                  <a:srgbClr val="6B7280"/>
                </a:solidFill>
                <a:latin typeface="Lexend"/>
                <a:ea typeface="Lexend"/>
                <a:cs typeface="Lexend"/>
                <a:sym typeface="Lexend"/>
              </a:rPr>
              <a:t>1,99</a:t>
            </a:r>
            <a:endParaRPr sz="1057"/>
          </a:p>
        </p:txBody>
      </p:sp>
      <p:sp>
        <p:nvSpPr>
          <p:cNvPr id="1115" name="Google Shape;1115;p70"/>
          <p:cNvSpPr txBox="1"/>
          <p:nvPr/>
        </p:nvSpPr>
        <p:spPr>
          <a:xfrm>
            <a:off x="574570" y="2049758"/>
            <a:ext cx="647400" cy="184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 sz="764" b="1" i="0">
                <a:solidFill>
                  <a:srgbClr val="0E4174"/>
                </a:solidFill>
                <a:latin typeface="Lexend"/>
                <a:ea typeface="Lexend"/>
                <a:cs typeface="Lexend"/>
                <a:sym typeface="Lexend"/>
              </a:rPr>
              <a:t>2,98h</a:t>
            </a:r>
            <a:endParaRPr sz="1057"/>
          </a:p>
        </p:txBody>
      </p:sp>
      <p:sp>
        <p:nvSpPr>
          <p:cNvPr id="1116" name="Google Shape;1116;p70"/>
          <p:cNvSpPr txBox="1"/>
          <p:nvPr/>
        </p:nvSpPr>
        <p:spPr>
          <a:xfrm>
            <a:off x="1142758" y="2059036"/>
            <a:ext cx="503700" cy="170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708" b="0" i="0">
                <a:solidFill>
                  <a:srgbClr val="6B7280"/>
                </a:solidFill>
                <a:latin typeface="Lexend"/>
                <a:ea typeface="Lexend"/>
                <a:cs typeface="Lexend"/>
                <a:sym typeface="Lexend"/>
              </a:rPr>
              <a:t>216</a:t>
            </a:r>
            <a:endParaRPr sz="1057"/>
          </a:p>
        </p:txBody>
      </p:sp>
      <p:sp>
        <p:nvSpPr>
          <p:cNvPr id="1117" name="Google Shape;1117;p70"/>
          <p:cNvSpPr/>
          <p:nvPr/>
        </p:nvSpPr>
        <p:spPr>
          <a:xfrm>
            <a:off x="1696560" y="2092301"/>
            <a:ext cx="891900" cy="108000"/>
          </a:xfrm>
          <a:prstGeom prst="roundRect">
            <a:avLst>
              <a:gd name="adj" fmla="val 50000"/>
            </a:avLst>
          </a:prstGeom>
          <a:solidFill>
            <a:srgbClr val="F1F3F5"/>
          </a:solidFill>
          <a:ln>
            <a:noFill/>
          </a:ln>
        </p:spPr>
        <p:txBody>
          <a:bodyPr spcFirstLastPara="1" wrap="square" lIns="69025" tIns="34500" rIns="69025" bIns="34500" anchor="ctr" anchorCtr="0">
            <a:noAutofit/>
          </a:bodyPr>
          <a:lstStyle/>
          <a:p>
            <a:pPr marL="0" marR="0" lvl="0" indent="0" algn="l" rtl="0">
              <a:spcBef>
                <a:spcPts val="0"/>
              </a:spcBef>
              <a:spcAft>
                <a:spcPts val="0"/>
              </a:spcAft>
              <a:buNone/>
            </a:pPr>
            <a:endParaRPr sz="1359">
              <a:solidFill>
                <a:srgbClr val="000000"/>
              </a:solidFill>
              <a:latin typeface="Calibri"/>
              <a:ea typeface="Calibri"/>
              <a:cs typeface="Calibri"/>
              <a:sym typeface="Calibri"/>
            </a:endParaRPr>
          </a:p>
        </p:txBody>
      </p:sp>
      <p:sp>
        <p:nvSpPr>
          <p:cNvPr id="1118" name="Google Shape;1118;p70"/>
          <p:cNvSpPr/>
          <p:nvPr/>
        </p:nvSpPr>
        <p:spPr>
          <a:xfrm>
            <a:off x="1696560" y="2092301"/>
            <a:ext cx="429000" cy="108000"/>
          </a:xfrm>
          <a:prstGeom prst="roundRect">
            <a:avLst>
              <a:gd name="adj" fmla="val 50000"/>
            </a:avLst>
          </a:prstGeom>
          <a:solidFill>
            <a:srgbClr val="1A5490"/>
          </a:solidFill>
          <a:ln>
            <a:noFill/>
          </a:ln>
        </p:spPr>
        <p:txBody>
          <a:bodyPr spcFirstLastPara="1" wrap="square" lIns="69025" tIns="34500" rIns="69025" bIns="34500" anchor="ctr" anchorCtr="0">
            <a:noAutofit/>
          </a:bodyPr>
          <a:lstStyle/>
          <a:p>
            <a:pPr marL="0" marR="0" lvl="0" indent="0" algn="l" rtl="0">
              <a:spcBef>
                <a:spcPts val="0"/>
              </a:spcBef>
              <a:spcAft>
                <a:spcPts val="0"/>
              </a:spcAft>
              <a:buNone/>
            </a:pPr>
            <a:endParaRPr sz="1359">
              <a:solidFill>
                <a:srgbClr val="000000"/>
              </a:solidFill>
              <a:latin typeface="Calibri"/>
              <a:ea typeface="Calibri"/>
              <a:cs typeface="Calibri"/>
              <a:sym typeface="Calibri"/>
            </a:endParaRPr>
          </a:p>
        </p:txBody>
      </p:sp>
      <p:sp>
        <p:nvSpPr>
          <p:cNvPr id="1119" name="Google Shape;1119;p70"/>
          <p:cNvSpPr txBox="1"/>
          <p:nvPr/>
        </p:nvSpPr>
        <p:spPr>
          <a:xfrm>
            <a:off x="2689090" y="2054398"/>
            <a:ext cx="431700" cy="177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736" b="1" i="0">
                <a:solidFill>
                  <a:srgbClr val="0E4174"/>
                </a:solidFill>
                <a:latin typeface="Lexend"/>
                <a:ea typeface="Lexend"/>
                <a:cs typeface="Lexend"/>
                <a:sym typeface="Lexend"/>
              </a:rPr>
              <a:t>48,1%</a:t>
            </a:r>
            <a:endParaRPr sz="1057"/>
          </a:p>
        </p:txBody>
      </p:sp>
      <p:sp>
        <p:nvSpPr>
          <p:cNvPr id="1120" name="Google Shape;1120;p70"/>
          <p:cNvSpPr txBox="1"/>
          <p:nvPr/>
        </p:nvSpPr>
        <p:spPr>
          <a:xfrm>
            <a:off x="3214124" y="2054398"/>
            <a:ext cx="503700" cy="177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736" b="0" i="0">
                <a:solidFill>
                  <a:srgbClr val="374151"/>
                </a:solidFill>
                <a:latin typeface="Lexend"/>
                <a:ea typeface="Lexend"/>
                <a:cs typeface="Lexend"/>
                <a:sym typeface="Lexend"/>
              </a:rPr>
              <a:t>3,86</a:t>
            </a:r>
            <a:endParaRPr sz="1057"/>
          </a:p>
        </p:txBody>
      </p:sp>
      <p:sp>
        <p:nvSpPr>
          <p:cNvPr id="1121" name="Google Shape;1121;p70"/>
          <p:cNvSpPr txBox="1"/>
          <p:nvPr/>
        </p:nvSpPr>
        <p:spPr>
          <a:xfrm>
            <a:off x="3918964" y="2054398"/>
            <a:ext cx="503700" cy="177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736" b="0" i="0">
                <a:solidFill>
                  <a:srgbClr val="6B7280"/>
                </a:solidFill>
                <a:latin typeface="Lexend"/>
                <a:ea typeface="Lexend"/>
                <a:cs typeface="Lexend"/>
                <a:sym typeface="Lexend"/>
              </a:rPr>
              <a:t>1,75</a:t>
            </a:r>
            <a:endParaRPr sz="1057"/>
          </a:p>
        </p:txBody>
      </p:sp>
      <p:sp>
        <p:nvSpPr>
          <p:cNvPr id="1122" name="Google Shape;1122;p70"/>
          <p:cNvSpPr txBox="1"/>
          <p:nvPr/>
        </p:nvSpPr>
        <p:spPr>
          <a:xfrm>
            <a:off x="574570" y="2308681"/>
            <a:ext cx="647400" cy="184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 sz="764" b="1" i="0">
                <a:solidFill>
                  <a:srgbClr val="0E4174"/>
                </a:solidFill>
                <a:latin typeface="Lexend"/>
                <a:ea typeface="Lexend"/>
                <a:cs typeface="Lexend"/>
                <a:sym typeface="Lexend"/>
              </a:rPr>
              <a:t>3,00h</a:t>
            </a:r>
            <a:endParaRPr sz="1057"/>
          </a:p>
        </p:txBody>
      </p:sp>
      <p:sp>
        <p:nvSpPr>
          <p:cNvPr id="1123" name="Google Shape;1123;p70"/>
          <p:cNvSpPr txBox="1"/>
          <p:nvPr/>
        </p:nvSpPr>
        <p:spPr>
          <a:xfrm>
            <a:off x="1142758" y="2317959"/>
            <a:ext cx="503700" cy="170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708" b="0" i="0">
                <a:solidFill>
                  <a:srgbClr val="6B7280"/>
                </a:solidFill>
                <a:latin typeface="Lexend"/>
                <a:ea typeface="Lexend"/>
                <a:cs typeface="Lexend"/>
                <a:sym typeface="Lexend"/>
              </a:rPr>
              <a:t>401</a:t>
            </a:r>
            <a:endParaRPr sz="1057"/>
          </a:p>
        </p:txBody>
      </p:sp>
      <p:sp>
        <p:nvSpPr>
          <p:cNvPr id="1124" name="Google Shape;1124;p70"/>
          <p:cNvSpPr/>
          <p:nvPr/>
        </p:nvSpPr>
        <p:spPr>
          <a:xfrm>
            <a:off x="1696560" y="2351223"/>
            <a:ext cx="891900" cy="108000"/>
          </a:xfrm>
          <a:prstGeom prst="roundRect">
            <a:avLst>
              <a:gd name="adj" fmla="val 50000"/>
            </a:avLst>
          </a:prstGeom>
          <a:solidFill>
            <a:srgbClr val="F1F3F5"/>
          </a:solidFill>
          <a:ln>
            <a:noFill/>
          </a:ln>
        </p:spPr>
        <p:txBody>
          <a:bodyPr spcFirstLastPara="1" wrap="square" lIns="69025" tIns="34500" rIns="69025" bIns="34500" anchor="ctr" anchorCtr="0">
            <a:noAutofit/>
          </a:bodyPr>
          <a:lstStyle/>
          <a:p>
            <a:pPr marL="0" marR="0" lvl="0" indent="0" algn="l" rtl="0">
              <a:spcBef>
                <a:spcPts val="0"/>
              </a:spcBef>
              <a:spcAft>
                <a:spcPts val="0"/>
              </a:spcAft>
              <a:buNone/>
            </a:pPr>
            <a:endParaRPr sz="1359">
              <a:solidFill>
                <a:srgbClr val="000000"/>
              </a:solidFill>
              <a:latin typeface="Calibri"/>
              <a:ea typeface="Calibri"/>
              <a:cs typeface="Calibri"/>
              <a:sym typeface="Calibri"/>
            </a:endParaRPr>
          </a:p>
        </p:txBody>
      </p:sp>
      <p:sp>
        <p:nvSpPr>
          <p:cNvPr id="1125" name="Google Shape;1125;p70"/>
          <p:cNvSpPr/>
          <p:nvPr/>
        </p:nvSpPr>
        <p:spPr>
          <a:xfrm>
            <a:off x="1696560" y="2351223"/>
            <a:ext cx="500400" cy="108000"/>
          </a:xfrm>
          <a:prstGeom prst="roundRect">
            <a:avLst>
              <a:gd name="adj" fmla="val 50000"/>
            </a:avLst>
          </a:prstGeom>
          <a:solidFill>
            <a:srgbClr val="1A5490"/>
          </a:solidFill>
          <a:ln>
            <a:noFill/>
          </a:ln>
        </p:spPr>
        <p:txBody>
          <a:bodyPr spcFirstLastPara="1" wrap="square" lIns="69025" tIns="34500" rIns="69025" bIns="34500" anchor="ctr" anchorCtr="0">
            <a:noAutofit/>
          </a:bodyPr>
          <a:lstStyle/>
          <a:p>
            <a:pPr marL="0" marR="0" lvl="0" indent="0" algn="l" rtl="0">
              <a:spcBef>
                <a:spcPts val="0"/>
              </a:spcBef>
              <a:spcAft>
                <a:spcPts val="0"/>
              </a:spcAft>
              <a:buNone/>
            </a:pPr>
            <a:endParaRPr sz="1359">
              <a:solidFill>
                <a:srgbClr val="000000"/>
              </a:solidFill>
              <a:latin typeface="Calibri"/>
              <a:ea typeface="Calibri"/>
              <a:cs typeface="Calibri"/>
              <a:sym typeface="Calibri"/>
            </a:endParaRPr>
          </a:p>
        </p:txBody>
      </p:sp>
      <p:sp>
        <p:nvSpPr>
          <p:cNvPr id="1126" name="Google Shape;1126;p70"/>
          <p:cNvSpPr txBox="1"/>
          <p:nvPr/>
        </p:nvSpPr>
        <p:spPr>
          <a:xfrm>
            <a:off x="2689090" y="2313320"/>
            <a:ext cx="431700" cy="177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736" b="1" i="0">
                <a:solidFill>
                  <a:srgbClr val="0E4174"/>
                </a:solidFill>
                <a:latin typeface="Lexend"/>
                <a:ea typeface="Lexend"/>
                <a:cs typeface="Lexend"/>
                <a:sym typeface="Lexend"/>
              </a:rPr>
              <a:t>56,1%</a:t>
            </a:r>
            <a:endParaRPr sz="1057"/>
          </a:p>
        </p:txBody>
      </p:sp>
      <p:sp>
        <p:nvSpPr>
          <p:cNvPr id="1127" name="Google Shape;1127;p70"/>
          <p:cNvSpPr txBox="1"/>
          <p:nvPr/>
        </p:nvSpPr>
        <p:spPr>
          <a:xfrm>
            <a:off x="3214124" y="2313320"/>
            <a:ext cx="503700" cy="177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736" b="0" i="0">
                <a:solidFill>
                  <a:srgbClr val="374151"/>
                </a:solidFill>
                <a:latin typeface="Lexend"/>
                <a:ea typeface="Lexend"/>
                <a:cs typeface="Lexend"/>
                <a:sym typeface="Lexend"/>
              </a:rPr>
              <a:t>4,77</a:t>
            </a:r>
            <a:endParaRPr sz="1057"/>
          </a:p>
        </p:txBody>
      </p:sp>
      <p:sp>
        <p:nvSpPr>
          <p:cNvPr id="1128" name="Google Shape;1128;p70"/>
          <p:cNvSpPr txBox="1"/>
          <p:nvPr/>
        </p:nvSpPr>
        <p:spPr>
          <a:xfrm>
            <a:off x="3918964" y="2313320"/>
            <a:ext cx="503700" cy="177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736" b="0" i="0">
                <a:solidFill>
                  <a:srgbClr val="6B7280"/>
                </a:solidFill>
                <a:latin typeface="Lexend"/>
                <a:ea typeface="Lexend"/>
                <a:cs typeface="Lexend"/>
                <a:sym typeface="Lexend"/>
              </a:rPr>
              <a:t>1,99</a:t>
            </a:r>
            <a:endParaRPr sz="1057"/>
          </a:p>
        </p:txBody>
      </p:sp>
      <p:sp>
        <p:nvSpPr>
          <p:cNvPr id="1129" name="Google Shape;1129;p70"/>
          <p:cNvSpPr/>
          <p:nvPr/>
        </p:nvSpPr>
        <p:spPr>
          <a:xfrm>
            <a:off x="502648" y="2513050"/>
            <a:ext cx="4113900" cy="237300"/>
          </a:xfrm>
          <a:prstGeom prst="roundRect">
            <a:avLst>
              <a:gd name="adj" fmla="val 24242"/>
            </a:avLst>
          </a:prstGeom>
          <a:solidFill>
            <a:srgbClr val="ECFDF5"/>
          </a:solidFill>
          <a:ln>
            <a:noFill/>
          </a:ln>
        </p:spPr>
        <p:txBody>
          <a:bodyPr spcFirstLastPara="1" wrap="square" lIns="69025" tIns="34500" rIns="69025" bIns="34500" anchor="ctr" anchorCtr="0">
            <a:noAutofit/>
          </a:bodyPr>
          <a:lstStyle/>
          <a:p>
            <a:pPr marL="0" marR="0" lvl="0" indent="0" algn="l" rtl="0">
              <a:spcBef>
                <a:spcPts val="0"/>
              </a:spcBef>
              <a:spcAft>
                <a:spcPts val="0"/>
              </a:spcAft>
              <a:buNone/>
            </a:pPr>
            <a:endParaRPr sz="1359">
              <a:solidFill>
                <a:srgbClr val="000000"/>
              </a:solidFill>
              <a:latin typeface="Calibri"/>
              <a:ea typeface="Calibri"/>
              <a:cs typeface="Calibri"/>
              <a:sym typeface="Calibri"/>
            </a:endParaRPr>
          </a:p>
        </p:txBody>
      </p:sp>
      <p:sp>
        <p:nvSpPr>
          <p:cNvPr id="1130" name="Google Shape;1130;p70"/>
          <p:cNvSpPr txBox="1"/>
          <p:nvPr/>
        </p:nvSpPr>
        <p:spPr>
          <a:xfrm>
            <a:off x="574570" y="2567603"/>
            <a:ext cx="647400" cy="184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 sz="764" b="1" i="0">
                <a:solidFill>
                  <a:srgbClr val="0F7A5A"/>
                </a:solidFill>
                <a:latin typeface="Lexend"/>
                <a:ea typeface="Lexend"/>
                <a:cs typeface="Lexend"/>
                <a:sym typeface="Lexend"/>
              </a:rPr>
              <a:t>4,00h</a:t>
            </a:r>
            <a:endParaRPr sz="1057"/>
          </a:p>
        </p:txBody>
      </p:sp>
      <p:sp>
        <p:nvSpPr>
          <p:cNvPr id="1131" name="Google Shape;1131;p70"/>
          <p:cNvSpPr txBox="1"/>
          <p:nvPr/>
        </p:nvSpPr>
        <p:spPr>
          <a:xfrm>
            <a:off x="1142758" y="2576881"/>
            <a:ext cx="503700" cy="170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708" b="0" i="0">
                <a:solidFill>
                  <a:srgbClr val="6B7280"/>
                </a:solidFill>
                <a:latin typeface="Lexend"/>
                <a:ea typeface="Lexend"/>
                <a:cs typeface="Lexend"/>
                <a:sym typeface="Lexend"/>
              </a:rPr>
              <a:t>193</a:t>
            </a:r>
            <a:endParaRPr sz="1057"/>
          </a:p>
        </p:txBody>
      </p:sp>
      <p:sp>
        <p:nvSpPr>
          <p:cNvPr id="1132" name="Google Shape;1132;p70"/>
          <p:cNvSpPr/>
          <p:nvPr/>
        </p:nvSpPr>
        <p:spPr>
          <a:xfrm>
            <a:off x="1696560" y="2610145"/>
            <a:ext cx="891900" cy="108000"/>
          </a:xfrm>
          <a:prstGeom prst="roundRect">
            <a:avLst>
              <a:gd name="adj" fmla="val 50000"/>
            </a:avLst>
          </a:prstGeom>
          <a:solidFill>
            <a:srgbClr val="FFFFFF"/>
          </a:solidFill>
          <a:ln>
            <a:noFill/>
          </a:ln>
        </p:spPr>
        <p:txBody>
          <a:bodyPr spcFirstLastPara="1" wrap="square" lIns="69025" tIns="34500" rIns="69025" bIns="34500" anchor="ctr" anchorCtr="0">
            <a:noAutofit/>
          </a:bodyPr>
          <a:lstStyle/>
          <a:p>
            <a:pPr marL="0" marR="0" lvl="0" indent="0" algn="l" rtl="0">
              <a:spcBef>
                <a:spcPts val="0"/>
              </a:spcBef>
              <a:spcAft>
                <a:spcPts val="0"/>
              </a:spcAft>
              <a:buNone/>
            </a:pPr>
            <a:endParaRPr sz="1359">
              <a:solidFill>
                <a:srgbClr val="000000"/>
              </a:solidFill>
              <a:latin typeface="Calibri"/>
              <a:ea typeface="Calibri"/>
              <a:cs typeface="Calibri"/>
              <a:sym typeface="Calibri"/>
            </a:endParaRPr>
          </a:p>
        </p:txBody>
      </p:sp>
      <p:sp>
        <p:nvSpPr>
          <p:cNvPr id="1133" name="Google Shape;1133;p70"/>
          <p:cNvSpPr/>
          <p:nvPr/>
        </p:nvSpPr>
        <p:spPr>
          <a:xfrm>
            <a:off x="1696560" y="2610145"/>
            <a:ext cx="554700" cy="108000"/>
          </a:xfrm>
          <a:prstGeom prst="roundRect">
            <a:avLst>
              <a:gd name="adj" fmla="val 50000"/>
            </a:avLst>
          </a:prstGeom>
          <a:solidFill>
            <a:srgbClr val="10B981"/>
          </a:solidFill>
          <a:ln>
            <a:noFill/>
          </a:ln>
        </p:spPr>
        <p:txBody>
          <a:bodyPr spcFirstLastPara="1" wrap="square" lIns="69025" tIns="34500" rIns="69025" bIns="34500" anchor="ctr" anchorCtr="0">
            <a:noAutofit/>
          </a:bodyPr>
          <a:lstStyle/>
          <a:p>
            <a:pPr marL="0" marR="0" lvl="0" indent="0" algn="l" rtl="0">
              <a:spcBef>
                <a:spcPts val="0"/>
              </a:spcBef>
              <a:spcAft>
                <a:spcPts val="0"/>
              </a:spcAft>
              <a:buNone/>
            </a:pPr>
            <a:endParaRPr sz="1359">
              <a:solidFill>
                <a:srgbClr val="000000"/>
              </a:solidFill>
              <a:latin typeface="Calibri"/>
              <a:ea typeface="Calibri"/>
              <a:cs typeface="Calibri"/>
              <a:sym typeface="Calibri"/>
            </a:endParaRPr>
          </a:p>
        </p:txBody>
      </p:sp>
      <p:sp>
        <p:nvSpPr>
          <p:cNvPr id="1134" name="Google Shape;1134;p70"/>
          <p:cNvSpPr txBox="1"/>
          <p:nvPr/>
        </p:nvSpPr>
        <p:spPr>
          <a:xfrm>
            <a:off x="2689090" y="2572242"/>
            <a:ext cx="431700" cy="177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736" b="1" i="0">
                <a:solidFill>
                  <a:srgbClr val="0F7A5A"/>
                </a:solidFill>
                <a:latin typeface="Lexend"/>
                <a:ea typeface="Lexend"/>
                <a:cs typeface="Lexend"/>
                <a:sym typeface="Lexend"/>
              </a:rPr>
              <a:t>62,2%</a:t>
            </a:r>
            <a:endParaRPr sz="1057"/>
          </a:p>
        </p:txBody>
      </p:sp>
      <p:sp>
        <p:nvSpPr>
          <p:cNvPr id="1135" name="Google Shape;1135;p70"/>
          <p:cNvSpPr txBox="1"/>
          <p:nvPr/>
        </p:nvSpPr>
        <p:spPr>
          <a:xfrm>
            <a:off x="3214124" y="2572242"/>
            <a:ext cx="503700" cy="177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736" b="1" i="0">
                <a:solidFill>
                  <a:srgbClr val="374151"/>
                </a:solidFill>
                <a:latin typeface="Lexend"/>
                <a:ea typeface="Lexend"/>
                <a:cs typeface="Lexend"/>
                <a:sym typeface="Lexend"/>
              </a:rPr>
              <a:t>6,27</a:t>
            </a:r>
            <a:endParaRPr sz="1057"/>
          </a:p>
        </p:txBody>
      </p:sp>
      <p:sp>
        <p:nvSpPr>
          <p:cNvPr id="1136" name="Google Shape;1136;p70"/>
          <p:cNvSpPr txBox="1"/>
          <p:nvPr/>
        </p:nvSpPr>
        <p:spPr>
          <a:xfrm>
            <a:off x="3918964" y="2572242"/>
            <a:ext cx="503700" cy="177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736" b="0" i="0">
                <a:solidFill>
                  <a:srgbClr val="6B7280"/>
                </a:solidFill>
                <a:latin typeface="Lexend"/>
                <a:ea typeface="Lexend"/>
                <a:cs typeface="Lexend"/>
                <a:sym typeface="Lexend"/>
              </a:rPr>
              <a:t>2,05</a:t>
            </a:r>
            <a:endParaRPr sz="1057"/>
          </a:p>
        </p:txBody>
      </p:sp>
      <p:sp>
        <p:nvSpPr>
          <p:cNvPr id="1137" name="Google Shape;1137;p70"/>
          <p:cNvSpPr/>
          <p:nvPr/>
        </p:nvSpPr>
        <p:spPr>
          <a:xfrm>
            <a:off x="959600" y="3085450"/>
            <a:ext cx="3012000" cy="1294500"/>
          </a:xfrm>
          <a:prstGeom prst="roundRect">
            <a:avLst>
              <a:gd name="adj" fmla="val 8888"/>
            </a:avLst>
          </a:prstGeom>
          <a:solidFill>
            <a:srgbClr val="FFFFFF"/>
          </a:solidFill>
          <a:ln w="10775" cap="flat" cmpd="sng">
            <a:solidFill>
              <a:srgbClr val="E9EDF3"/>
            </a:solidFill>
            <a:prstDash val="solid"/>
            <a:round/>
            <a:headEnd type="none" w="sm" len="sm"/>
            <a:tailEnd type="none" w="sm" len="sm"/>
          </a:ln>
          <a:effectLst>
            <a:outerShdw blurRad="71921" dist="28768" dir="5400000" rotWithShape="0">
              <a:srgbClr val="0E4174">
                <a:alpha val="10200"/>
              </a:srgbClr>
            </a:outerShdw>
          </a:effectLst>
        </p:spPr>
        <p:txBody>
          <a:bodyPr spcFirstLastPara="1" wrap="square" lIns="69025" tIns="34500" rIns="69025" bIns="34500" anchor="ctr" anchorCtr="0">
            <a:noAutofit/>
          </a:bodyPr>
          <a:lstStyle/>
          <a:p>
            <a:pPr marL="0" marR="0" lvl="0" indent="0" algn="l" rtl="0">
              <a:spcBef>
                <a:spcPts val="0"/>
              </a:spcBef>
              <a:spcAft>
                <a:spcPts val="0"/>
              </a:spcAft>
              <a:buNone/>
            </a:pPr>
            <a:endParaRPr sz="1359">
              <a:solidFill>
                <a:srgbClr val="000000"/>
              </a:solidFill>
              <a:latin typeface="Calibri"/>
              <a:ea typeface="Calibri"/>
              <a:cs typeface="Calibri"/>
              <a:sym typeface="Calibri"/>
            </a:endParaRPr>
          </a:p>
        </p:txBody>
      </p:sp>
      <p:sp>
        <p:nvSpPr>
          <p:cNvPr id="1138" name="Google Shape;1138;p70"/>
          <p:cNvSpPr txBox="1"/>
          <p:nvPr/>
        </p:nvSpPr>
        <p:spPr>
          <a:xfrm>
            <a:off x="1160979" y="3162513"/>
            <a:ext cx="3969900" cy="225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 sz="934" b="1" i="0">
                <a:solidFill>
                  <a:srgbClr val="0E4174"/>
                </a:solidFill>
                <a:latin typeface="Lexend"/>
                <a:ea typeface="Lexend"/>
                <a:cs typeface="Lexend"/>
                <a:sym typeface="Lexend"/>
              </a:rPr>
              <a:t>Ca dài </a:t>
            </a:r>
            <a:r>
              <a:rPr lang="en" sz="934" b="1">
                <a:solidFill>
                  <a:srgbClr val="0E4174"/>
                </a:solidFill>
                <a:latin typeface="Lexend"/>
                <a:ea typeface="Lexend"/>
                <a:cs typeface="Lexend"/>
                <a:sym typeface="Lexend"/>
              </a:rPr>
              <a:t>làm tài xế cam kết </a:t>
            </a:r>
            <a:endParaRPr sz="1057"/>
          </a:p>
        </p:txBody>
      </p:sp>
      <p:sp>
        <p:nvSpPr>
          <p:cNvPr id="1139" name="Google Shape;1139;p70"/>
          <p:cNvSpPr txBox="1"/>
          <p:nvPr/>
        </p:nvSpPr>
        <p:spPr>
          <a:xfrm>
            <a:off x="1160976" y="3445050"/>
            <a:ext cx="2640300" cy="33090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None/>
            </a:pPr>
            <a:r>
              <a:rPr lang="en" sz="708" b="1" i="0">
                <a:solidFill>
                  <a:srgbClr val="B4531A"/>
                </a:solidFill>
                <a:latin typeface="Lexend"/>
                <a:ea typeface="Lexend"/>
                <a:cs typeface="Lexend"/>
                <a:sym typeface="Lexend"/>
              </a:rPr>
              <a:t>Nó làm họ CAM KẾT ĐẾN CA. </a:t>
            </a:r>
            <a:r>
              <a:rPr lang="en" sz="708" b="0" i="0">
                <a:solidFill>
                  <a:srgbClr val="374151"/>
                </a:solidFill>
                <a:latin typeface="Lexend"/>
                <a:ea typeface="Lexend"/>
                <a:cs typeface="Lexend"/>
                <a:sym typeface="Lexend"/>
              </a:rPr>
              <a:t>Đơn/giờ ~2,0 ở </a:t>
            </a:r>
            <a:r>
              <a:rPr lang="en" sz="708">
                <a:solidFill>
                  <a:srgbClr val="374151"/>
                </a:solidFill>
                <a:latin typeface="Lexend"/>
                <a:ea typeface="Lexend"/>
                <a:cs typeface="Lexend"/>
                <a:sym typeface="Lexend"/>
              </a:rPr>
              <a:t>tất cả các ca, riêng ca dài tài xế có</a:t>
            </a:r>
            <a:r>
              <a:rPr lang="en" sz="708" b="1">
                <a:solidFill>
                  <a:srgbClr val="374151"/>
                </a:solidFill>
                <a:latin typeface="Lexend"/>
                <a:ea typeface="Lexend"/>
                <a:cs typeface="Lexend"/>
                <a:sym typeface="Lexend"/>
              </a:rPr>
              <a:t> ý thức điểm danh hơn</a:t>
            </a:r>
            <a:endParaRPr sz="1057" b="1"/>
          </a:p>
        </p:txBody>
      </p:sp>
      <p:sp>
        <p:nvSpPr>
          <p:cNvPr id="1140" name="Google Shape;1140;p70"/>
          <p:cNvSpPr/>
          <p:nvPr/>
        </p:nvSpPr>
        <p:spPr>
          <a:xfrm>
            <a:off x="1160979" y="3761508"/>
            <a:ext cx="1280400" cy="474900"/>
          </a:xfrm>
          <a:prstGeom prst="roundRect">
            <a:avLst>
              <a:gd name="adj" fmla="val 18181"/>
            </a:avLst>
          </a:prstGeom>
          <a:solidFill>
            <a:srgbClr val="F9FAFB"/>
          </a:solidFill>
          <a:ln w="7200" cap="flat" cmpd="sng">
            <a:solidFill>
              <a:srgbClr val="E9EDF3"/>
            </a:solidFill>
            <a:prstDash val="solid"/>
            <a:round/>
            <a:headEnd type="none" w="sm" len="sm"/>
            <a:tailEnd type="none" w="sm" len="sm"/>
          </a:ln>
        </p:spPr>
        <p:txBody>
          <a:bodyPr spcFirstLastPara="1" wrap="square" lIns="69025" tIns="34500" rIns="69025" bIns="34500" anchor="ctr" anchorCtr="0">
            <a:noAutofit/>
          </a:bodyPr>
          <a:lstStyle/>
          <a:p>
            <a:pPr marL="0" marR="0" lvl="0" indent="0" algn="l" rtl="0">
              <a:spcBef>
                <a:spcPts val="0"/>
              </a:spcBef>
              <a:spcAft>
                <a:spcPts val="0"/>
              </a:spcAft>
              <a:buNone/>
            </a:pPr>
            <a:endParaRPr sz="1359">
              <a:solidFill>
                <a:srgbClr val="000000"/>
              </a:solidFill>
              <a:latin typeface="Calibri"/>
              <a:ea typeface="Calibri"/>
              <a:cs typeface="Calibri"/>
              <a:sym typeface="Calibri"/>
            </a:endParaRPr>
          </a:p>
        </p:txBody>
      </p:sp>
      <p:sp>
        <p:nvSpPr>
          <p:cNvPr id="1141" name="Google Shape;1141;p70"/>
          <p:cNvSpPr txBox="1"/>
          <p:nvPr/>
        </p:nvSpPr>
        <p:spPr>
          <a:xfrm>
            <a:off x="1268861" y="3807933"/>
            <a:ext cx="1078800" cy="143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 sz="594" b="1" i="0">
                <a:solidFill>
                  <a:srgbClr val="9CA3AF"/>
                </a:solidFill>
                <a:latin typeface="Lexend"/>
                <a:ea typeface="Lexend"/>
                <a:cs typeface="Lexend"/>
                <a:sym typeface="Lexend"/>
              </a:rPr>
              <a:t>Check-in rate</a:t>
            </a:r>
            <a:endParaRPr sz="1057"/>
          </a:p>
        </p:txBody>
      </p:sp>
      <p:sp>
        <p:nvSpPr>
          <p:cNvPr id="1142" name="Google Shape;1142;p70"/>
          <p:cNvSpPr txBox="1"/>
          <p:nvPr/>
        </p:nvSpPr>
        <p:spPr>
          <a:xfrm>
            <a:off x="1268861" y="3924409"/>
            <a:ext cx="1078800" cy="204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 sz="849" b="1" i="0">
                <a:solidFill>
                  <a:srgbClr val="0E4174"/>
                </a:solidFill>
                <a:latin typeface="Lexend"/>
                <a:ea typeface="Lexend"/>
                <a:cs typeface="Lexend"/>
                <a:sym typeface="Lexend"/>
              </a:rPr>
              <a:t>40,2% → 62,2%</a:t>
            </a:r>
            <a:endParaRPr sz="1057"/>
          </a:p>
        </p:txBody>
      </p:sp>
      <p:sp>
        <p:nvSpPr>
          <p:cNvPr id="1143" name="Google Shape;1143;p70"/>
          <p:cNvSpPr txBox="1"/>
          <p:nvPr/>
        </p:nvSpPr>
        <p:spPr>
          <a:xfrm>
            <a:off x="1268861" y="4085872"/>
            <a:ext cx="1078800" cy="136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 sz="566" b="0" i="0">
                <a:solidFill>
                  <a:srgbClr val="6B7280"/>
                </a:solidFill>
                <a:latin typeface="Lexend"/>
                <a:ea typeface="Lexend"/>
                <a:cs typeface="Lexend"/>
                <a:sym typeface="Lexend"/>
              </a:rPr>
              <a:t>ca 2h → ca 4h</a:t>
            </a:r>
            <a:endParaRPr sz="1057"/>
          </a:p>
        </p:txBody>
      </p:sp>
      <p:sp>
        <p:nvSpPr>
          <p:cNvPr id="1144" name="Google Shape;1144;p70"/>
          <p:cNvSpPr/>
          <p:nvPr/>
        </p:nvSpPr>
        <p:spPr>
          <a:xfrm>
            <a:off x="2520842" y="3771508"/>
            <a:ext cx="1280400" cy="474900"/>
          </a:xfrm>
          <a:prstGeom prst="roundRect">
            <a:avLst>
              <a:gd name="adj" fmla="val 18181"/>
            </a:avLst>
          </a:prstGeom>
          <a:solidFill>
            <a:srgbClr val="F9FAFB"/>
          </a:solidFill>
          <a:ln w="7200" cap="flat" cmpd="sng">
            <a:solidFill>
              <a:srgbClr val="E9EDF3"/>
            </a:solidFill>
            <a:prstDash val="solid"/>
            <a:round/>
            <a:headEnd type="none" w="sm" len="sm"/>
            <a:tailEnd type="none" w="sm" len="sm"/>
          </a:ln>
        </p:spPr>
        <p:txBody>
          <a:bodyPr spcFirstLastPara="1" wrap="square" lIns="69025" tIns="34500" rIns="69025" bIns="34500" anchor="ctr" anchorCtr="0">
            <a:noAutofit/>
          </a:bodyPr>
          <a:lstStyle/>
          <a:p>
            <a:pPr marL="0" marR="0" lvl="0" indent="0" algn="l" rtl="0">
              <a:spcBef>
                <a:spcPts val="0"/>
              </a:spcBef>
              <a:spcAft>
                <a:spcPts val="0"/>
              </a:spcAft>
              <a:buNone/>
            </a:pPr>
            <a:endParaRPr sz="1359">
              <a:solidFill>
                <a:srgbClr val="000000"/>
              </a:solidFill>
              <a:latin typeface="Calibri"/>
              <a:ea typeface="Calibri"/>
              <a:cs typeface="Calibri"/>
              <a:sym typeface="Calibri"/>
            </a:endParaRPr>
          </a:p>
        </p:txBody>
      </p:sp>
      <p:sp>
        <p:nvSpPr>
          <p:cNvPr id="1145" name="Google Shape;1145;p70"/>
          <p:cNvSpPr txBox="1"/>
          <p:nvPr/>
        </p:nvSpPr>
        <p:spPr>
          <a:xfrm>
            <a:off x="2628724" y="3817933"/>
            <a:ext cx="1078800" cy="143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 sz="594" b="1" i="0">
                <a:solidFill>
                  <a:srgbClr val="9CA3AF"/>
                </a:solidFill>
                <a:latin typeface="Lexend"/>
                <a:ea typeface="Lexend"/>
                <a:cs typeface="Lexend"/>
                <a:sym typeface="Lexend"/>
              </a:rPr>
              <a:t>Đơn / giờ</a:t>
            </a:r>
            <a:endParaRPr sz="1057"/>
          </a:p>
        </p:txBody>
      </p:sp>
      <p:sp>
        <p:nvSpPr>
          <p:cNvPr id="1146" name="Google Shape;1146;p70"/>
          <p:cNvSpPr txBox="1"/>
          <p:nvPr/>
        </p:nvSpPr>
        <p:spPr>
          <a:xfrm>
            <a:off x="2628724" y="3934409"/>
            <a:ext cx="1078800" cy="204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 sz="849" b="1" i="0">
                <a:solidFill>
                  <a:srgbClr val="0E4174"/>
                </a:solidFill>
                <a:latin typeface="Lexend"/>
                <a:ea typeface="Lexend"/>
                <a:cs typeface="Lexend"/>
                <a:sym typeface="Lexend"/>
              </a:rPr>
              <a:t>1,99 → 2,05</a:t>
            </a:r>
            <a:endParaRPr sz="1057"/>
          </a:p>
        </p:txBody>
      </p:sp>
      <p:sp>
        <p:nvSpPr>
          <p:cNvPr id="1147" name="Google Shape;1147;p70"/>
          <p:cNvSpPr txBox="1"/>
          <p:nvPr/>
        </p:nvSpPr>
        <p:spPr>
          <a:xfrm>
            <a:off x="2628724" y="4095872"/>
            <a:ext cx="1078800" cy="136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 sz="566" b="0" i="0">
                <a:solidFill>
                  <a:srgbClr val="6B7280"/>
                </a:solidFill>
                <a:latin typeface="Lexend"/>
                <a:ea typeface="Lexend"/>
                <a:cs typeface="Lexend"/>
                <a:sym typeface="Lexend"/>
              </a:rPr>
              <a:t>gần như không đổi</a:t>
            </a:r>
            <a:endParaRPr sz="1057"/>
          </a:p>
        </p:txBody>
      </p:sp>
      <p:sp>
        <p:nvSpPr>
          <p:cNvPr id="1148" name="Google Shape;1148;p70"/>
          <p:cNvSpPr/>
          <p:nvPr/>
        </p:nvSpPr>
        <p:spPr>
          <a:xfrm>
            <a:off x="4868213" y="1067400"/>
            <a:ext cx="3902700" cy="3312600"/>
          </a:xfrm>
          <a:prstGeom prst="roundRect">
            <a:avLst>
              <a:gd name="adj" fmla="val 5298"/>
            </a:avLst>
          </a:prstGeom>
          <a:solidFill>
            <a:srgbClr val="FFFFFF"/>
          </a:solidFill>
          <a:ln w="10450" cap="flat" cmpd="sng">
            <a:solidFill>
              <a:srgbClr val="E9EDF3"/>
            </a:solidFill>
            <a:prstDash val="solid"/>
            <a:round/>
            <a:headEnd type="none" w="sm" len="sm"/>
            <a:tailEnd type="none" w="sm" len="sm"/>
          </a:ln>
          <a:effectLst>
            <a:outerShdw blurRad="69689" dist="27876" dir="5400000" rotWithShape="0">
              <a:srgbClr val="0E4174">
                <a:alpha val="10200"/>
              </a:srgbClr>
            </a:outerShdw>
          </a:effectLst>
        </p:spPr>
        <p:txBody>
          <a:bodyPr spcFirstLastPara="1" wrap="square" lIns="66900" tIns="33425" rIns="66900" bIns="33425" anchor="ctr" anchorCtr="0">
            <a:noAutofit/>
          </a:bodyPr>
          <a:lstStyle/>
          <a:p>
            <a:pPr marL="0" marR="0" lvl="0" indent="0" algn="l" rtl="0">
              <a:spcBef>
                <a:spcPts val="0"/>
              </a:spcBef>
              <a:spcAft>
                <a:spcPts val="0"/>
              </a:spcAft>
              <a:buNone/>
            </a:pPr>
            <a:endParaRPr sz="1317">
              <a:solidFill>
                <a:srgbClr val="000000"/>
              </a:solidFill>
              <a:latin typeface="Calibri"/>
              <a:ea typeface="Calibri"/>
              <a:cs typeface="Calibri"/>
              <a:sym typeface="Calibri"/>
            </a:endParaRPr>
          </a:p>
        </p:txBody>
      </p:sp>
      <p:sp>
        <p:nvSpPr>
          <p:cNvPr id="1149" name="Google Shape;1149;p70"/>
          <p:cNvSpPr txBox="1"/>
          <p:nvPr/>
        </p:nvSpPr>
        <p:spPr>
          <a:xfrm>
            <a:off x="5063343" y="1142072"/>
            <a:ext cx="3512400" cy="218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 sz="905" b="1">
                <a:solidFill>
                  <a:srgbClr val="0E4174"/>
                </a:solidFill>
                <a:latin typeface="Lexend"/>
                <a:ea typeface="Lexend"/>
                <a:cs typeface="Lexend"/>
                <a:sym typeface="Lexend"/>
              </a:rPr>
              <a:t>Retention</a:t>
            </a:r>
            <a:endParaRPr sz="1024"/>
          </a:p>
        </p:txBody>
      </p:sp>
      <p:sp>
        <p:nvSpPr>
          <p:cNvPr id="1150" name="Google Shape;1150;p70"/>
          <p:cNvSpPr txBox="1"/>
          <p:nvPr/>
        </p:nvSpPr>
        <p:spPr>
          <a:xfrm>
            <a:off x="5063343" y="1424418"/>
            <a:ext cx="1393800" cy="172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 sz="713" b="1" i="0">
                <a:solidFill>
                  <a:srgbClr val="E0641A"/>
                </a:solidFill>
                <a:latin typeface="Lexend"/>
                <a:ea typeface="Lexend"/>
                <a:cs typeface="Lexend"/>
                <a:sym typeface="Lexend"/>
              </a:rPr>
              <a:t>One-and-done</a:t>
            </a:r>
            <a:endParaRPr sz="1024"/>
          </a:p>
        </p:txBody>
      </p:sp>
      <p:sp>
        <p:nvSpPr>
          <p:cNvPr id="1151" name="Google Shape;1151;p70"/>
          <p:cNvSpPr txBox="1"/>
          <p:nvPr/>
        </p:nvSpPr>
        <p:spPr>
          <a:xfrm>
            <a:off x="7181897" y="1442398"/>
            <a:ext cx="1393800" cy="1458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r>
              <a:rPr lang="en" sz="604" b="0" i="0">
                <a:solidFill>
                  <a:srgbClr val="9CA3AF"/>
                </a:solidFill>
                <a:latin typeface="Lexend"/>
                <a:ea typeface="Lexend"/>
                <a:cs typeface="Lexend"/>
                <a:sym typeface="Lexend"/>
              </a:rPr>
              <a:t>124 / 229 tài xế có chạy</a:t>
            </a:r>
            <a:endParaRPr sz="1024"/>
          </a:p>
        </p:txBody>
      </p:sp>
      <p:sp>
        <p:nvSpPr>
          <p:cNvPr id="1152" name="Google Shape;1152;p70"/>
          <p:cNvSpPr txBox="1"/>
          <p:nvPr/>
        </p:nvSpPr>
        <p:spPr>
          <a:xfrm>
            <a:off x="5063343" y="1670352"/>
            <a:ext cx="1045500" cy="159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 sz="658" b="1" i="0">
                <a:solidFill>
                  <a:srgbClr val="374151"/>
                </a:solidFill>
                <a:latin typeface="Lexend"/>
                <a:ea typeface="Lexend"/>
                <a:cs typeface="Lexend"/>
                <a:sym typeface="Lexend"/>
              </a:rPr>
              <a:t>Chạy 1 ca rồi thôi</a:t>
            </a:r>
            <a:endParaRPr sz="1024"/>
          </a:p>
        </p:txBody>
      </p:sp>
      <p:sp>
        <p:nvSpPr>
          <p:cNvPr id="1153" name="Google Shape;1153;p70"/>
          <p:cNvSpPr/>
          <p:nvPr/>
        </p:nvSpPr>
        <p:spPr>
          <a:xfrm>
            <a:off x="6178371" y="1698088"/>
            <a:ext cx="1672500" cy="104400"/>
          </a:xfrm>
          <a:prstGeom prst="roundRect">
            <a:avLst>
              <a:gd name="adj" fmla="val 50000"/>
            </a:avLst>
          </a:prstGeom>
          <a:solidFill>
            <a:srgbClr val="F1F3F5"/>
          </a:solidFill>
          <a:ln>
            <a:noFill/>
          </a:ln>
        </p:spPr>
        <p:txBody>
          <a:bodyPr spcFirstLastPara="1" wrap="square" lIns="66900" tIns="33425" rIns="66900" bIns="33425" anchor="ctr" anchorCtr="0">
            <a:noAutofit/>
          </a:bodyPr>
          <a:lstStyle/>
          <a:p>
            <a:pPr marL="0" marR="0" lvl="0" indent="0" algn="l" rtl="0">
              <a:spcBef>
                <a:spcPts val="0"/>
              </a:spcBef>
              <a:spcAft>
                <a:spcPts val="0"/>
              </a:spcAft>
              <a:buNone/>
            </a:pPr>
            <a:endParaRPr sz="1317">
              <a:solidFill>
                <a:srgbClr val="000000"/>
              </a:solidFill>
              <a:latin typeface="Calibri"/>
              <a:ea typeface="Calibri"/>
              <a:cs typeface="Calibri"/>
              <a:sym typeface="Calibri"/>
            </a:endParaRPr>
          </a:p>
        </p:txBody>
      </p:sp>
      <p:sp>
        <p:nvSpPr>
          <p:cNvPr id="1154" name="Google Shape;1154;p70"/>
          <p:cNvSpPr/>
          <p:nvPr/>
        </p:nvSpPr>
        <p:spPr>
          <a:xfrm>
            <a:off x="6178371" y="1698088"/>
            <a:ext cx="904800" cy="104400"/>
          </a:xfrm>
          <a:prstGeom prst="roundRect">
            <a:avLst>
              <a:gd name="adj" fmla="val 50000"/>
            </a:avLst>
          </a:prstGeom>
          <a:solidFill>
            <a:srgbClr val="FF7F32"/>
          </a:solidFill>
          <a:ln>
            <a:noFill/>
          </a:ln>
        </p:spPr>
        <p:txBody>
          <a:bodyPr spcFirstLastPara="1" wrap="square" lIns="66900" tIns="33425" rIns="66900" bIns="33425" anchor="ctr" anchorCtr="0">
            <a:noAutofit/>
          </a:bodyPr>
          <a:lstStyle/>
          <a:p>
            <a:pPr marL="0" marR="0" lvl="0" indent="0" algn="l" rtl="0">
              <a:spcBef>
                <a:spcPts val="0"/>
              </a:spcBef>
              <a:spcAft>
                <a:spcPts val="0"/>
              </a:spcAft>
              <a:buNone/>
            </a:pPr>
            <a:endParaRPr sz="1317">
              <a:solidFill>
                <a:srgbClr val="000000"/>
              </a:solidFill>
              <a:latin typeface="Calibri"/>
              <a:ea typeface="Calibri"/>
              <a:cs typeface="Calibri"/>
              <a:sym typeface="Calibri"/>
            </a:endParaRPr>
          </a:p>
        </p:txBody>
      </p:sp>
      <p:sp>
        <p:nvSpPr>
          <p:cNvPr id="1155" name="Google Shape;1155;p70"/>
          <p:cNvSpPr txBox="1"/>
          <p:nvPr/>
        </p:nvSpPr>
        <p:spPr>
          <a:xfrm>
            <a:off x="8087858" y="1661362"/>
            <a:ext cx="487800" cy="1722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r>
              <a:rPr lang="en" sz="713" b="1" i="0">
                <a:solidFill>
                  <a:srgbClr val="B4531A"/>
                </a:solidFill>
                <a:latin typeface="Lexend"/>
                <a:ea typeface="Lexend"/>
                <a:cs typeface="Lexend"/>
                <a:sym typeface="Lexend"/>
              </a:rPr>
              <a:t>54,1%</a:t>
            </a:r>
            <a:endParaRPr sz="1024"/>
          </a:p>
        </p:txBody>
      </p:sp>
      <p:sp>
        <p:nvSpPr>
          <p:cNvPr id="1156" name="Google Shape;1156;p70"/>
          <p:cNvSpPr txBox="1"/>
          <p:nvPr/>
        </p:nvSpPr>
        <p:spPr>
          <a:xfrm>
            <a:off x="5063343" y="1893357"/>
            <a:ext cx="1045500" cy="159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 sz="658" b="0" i="0">
                <a:solidFill>
                  <a:srgbClr val="374151"/>
                </a:solidFill>
                <a:latin typeface="Lexend"/>
                <a:ea typeface="Lexend"/>
                <a:cs typeface="Lexend"/>
                <a:sym typeface="Lexend"/>
              </a:rPr>
              <a:t>Chạy ≥3 ngày</a:t>
            </a:r>
            <a:endParaRPr sz="1024"/>
          </a:p>
        </p:txBody>
      </p:sp>
      <p:sp>
        <p:nvSpPr>
          <p:cNvPr id="1157" name="Google Shape;1157;p70"/>
          <p:cNvSpPr/>
          <p:nvPr/>
        </p:nvSpPr>
        <p:spPr>
          <a:xfrm>
            <a:off x="6178371" y="1921093"/>
            <a:ext cx="1672500" cy="104400"/>
          </a:xfrm>
          <a:prstGeom prst="roundRect">
            <a:avLst>
              <a:gd name="adj" fmla="val 50000"/>
            </a:avLst>
          </a:prstGeom>
          <a:solidFill>
            <a:srgbClr val="F1F3F5"/>
          </a:solidFill>
          <a:ln>
            <a:noFill/>
          </a:ln>
        </p:spPr>
        <p:txBody>
          <a:bodyPr spcFirstLastPara="1" wrap="square" lIns="66900" tIns="33425" rIns="66900" bIns="33425" anchor="ctr" anchorCtr="0">
            <a:noAutofit/>
          </a:bodyPr>
          <a:lstStyle/>
          <a:p>
            <a:pPr marL="0" marR="0" lvl="0" indent="0" algn="l" rtl="0">
              <a:spcBef>
                <a:spcPts val="0"/>
              </a:spcBef>
              <a:spcAft>
                <a:spcPts val="0"/>
              </a:spcAft>
              <a:buNone/>
            </a:pPr>
            <a:endParaRPr sz="1317">
              <a:solidFill>
                <a:srgbClr val="000000"/>
              </a:solidFill>
              <a:latin typeface="Calibri"/>
              <a:ea typeface="Calibri"/>
              <a:cs typeface="Calibri"/>
              <a:sym typeface="Calibri"/>
            </a:endParaRPr>
          </a:p>
        </p:txBody>
      </p:sp>
      <p:sp>
        <p:nvSpPr>
          <p:cNvPr id="1158" name="Google Shape;1158;p70"/>
          <p:cNvSpPr/>
          <p:nvPr/>
        </p:nvSpPr>
        <p:spPr>
          <a:xfrm>
            <a:off x="6178371" y="1921093"/>
            <a:ext cx="416400" cy="104400"/>
          </a:xfrm>
          <a:prstGeom prst="roundRect">
            <a:avLst>
              <a:gd name="adj" fmla="val 50000"/>
            </a:avLst>
          </a:prstGeom>
          <a:solidFill>
            <a:srgbClr val="C9D3E0"/>
          </a:solidFill>
          <a:ln>
            <a:noFill/>
          </a:ln>
        </p:spPr>
        <p:txBody>
          <a:bodyPr spcFirstLastPara="1" wrap="square" lIns="66900" tIns="33425" rIns="66900" bIns="33425" anchor="ctr" anchorCtr="0">
            <a:noAutofit/>
          </a:bodyPr>
          <a:lstStyle/>
          <a:p>
            <a:pPr marL="0" marR="0" lvl="0" indent="0" algn="l" rtl="0">
              <a:spcBef>
                <a:spcPts val="0"/>
              </a:spcBef>
              <a:spcAft>
                <a:spcPts val="0"/>
              </a:spcAft>
              <a:buNone/>
            </a:pPr>
            <a:endParaRPr sz="1317">
              <a:solidFill>
                <a:srgbClr val="000000"/>
              </a:solidFill>
              <a:latin typeface="Calibri"/>
              <a:ea typeface="Calibri"/>
              <a:cs typeface="Calibri"/>
              <a:sym typeface="Calibri"/>
            </a:endParaRPr>
          </a:p>
        </p:txBody>
      </p:sp>
      <p:sp>
        <p:nvSpPr>
          <p:cNvPr id="1159" name="Google Shape;1159;p70"/>
          <p:cNvSpPr txBox="1"/>
          <p:nvPr/>
        </p:nvSpPr>
        <p:spPr>
          <a:xfrm>
            <a:off x="8087858" y="1884368"/>
            <a:ext cx="487800" cy="1722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r>
              <a:rPr lang="en" sz="713" b="0" i="0">
                <a:solidFill>
                  <a:srgbClr val="6B7280"/>
                </a:solidFill>
                <a:latin typeface="Lexend"/>
                <a:ea typeface="Lexend"/>
                <a:cs typeface="Lexend"/>
                <a:sym typeface="Lexend"/>
              </a:rPr>
              <a:t>24,9%</a:t>
            </a:r>
            <a:endParaRPr sz="1024"/>
          </a:p>
        </p:txBody>
      </p:sp>
      <p:sp>
        <p:nvSpPr>
          <p:cNvPr id="1160" name="Google Shape;1160;p70"/>
          <p:cNvSpPr txBox="1"/>
          <p:nvPr/>
        </p:nvSpPr>
        <p:spPr>
          <a:xfrm>
            <a:off x="5063343" y="2116363"/>
            <a:ext cx="1045500" cy="159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 sz="658" b="0" i="0">
                <a:solidFill>
                  <a:srgbClr val="374151"/>
                </a:solidFill>
                <a:latin typeface="Lexend"/>
                <a:ea typeface="Lexend"/>
                <a:cs typeface="Lexend"/>
                <a:sym typeface="Lexend"/>
              </a:rPr>
              <a:t>Chạy ≥5 ngày</a:t>
            </a:r>
            <a:endParaRPr sz="1024"/>
          </a:p>
        </p:txBody>
      </p:sp>
      <p:sp>
        <p:nvSpPr>
          <p:cNvPr id="1161" name="Google Shape;1161;p70"/>
          <p:cNvSpPr/>
          <p:nvPr/>
        </p:nvSpPr>
        <p:spPr>
          <a:xfrm>
            <a:off x="6178371" y="2144099"/>
            <a:ext cx="1672500" cy="104400"/>
          </a:xfrm>
          <a:prstGeom prst="roundRect">
            <a:avLst>
              <a:gd name="adj" fmla="val 50000"/>
            </a:avLst>
          </a:prstGeom>
          <a:solidFill>
            <a:srgbClr val="F1F3F5"/>
          </a:solidFill>
          <a:ln>
            <a:noFill/>
          </a:ln>
        </p:spPr>
        <p:txBody>
          <a:bodyPr spcFirstLastPara="1" wrap="square" lIns="66900" tIns="33425" rIns="66900" bIns="33425" anchor="ctr" anchorCtr="0">
            <a:noAutofit/>
          </a:bodyPr>
          <a:lstStyle/>
          <a:p>
            <a:pPr marL="0" marR="0" lvl="0" indent="0" algn="l" rtl="0">
              <a:spcBef>
                <a:spcPts val="0"/>
              </a:spcBef>
              <a:spcAft>
                <a:spcPts val="0"/>
              </a:spcAft>
              <a:buNone/>
            </a:pPr>
            <a:endParaRPr sz="1317">
              <a:solidFill>
                <a:srgbClr val="000000"/>
              </a:solidFill>
              <a:latin typeface="Calibri"/>
              <a:ea typeface="Calibri"/>
              <a:cs typeface="Calibri"/>
              <a:sym typeface="Calibri"/>
            </a:endParaRPr>
          </a:p>
        </p:txBody>
      </p:sp>
      <p:sp>
        <p:nvSpPr>
          <p:cNvPr id="1162" name="Google Shape;1162;p70"/>
          <p:cNvSpPr/>
          <p:nvPr/>
        </p:nvSpPr>
        <p:spPr>
          <a:xfrm>
            <a:off x="6178371" y="2144099"/>
            <a:ext cx="182400" cy="104400"/>
          </a:xfrm>
          <a:prstGeom prst="roundRect">
            <a:avLst>
              <a:gd name="adj" fmla="val 50000"/>
            </a:avLst>
          </a:prstGeom>
          <a:solidFill>
            <a:srgbClr val="C9D3E0"/>
          </a:solidFill>
          <a:ln>
            <a:noFill/>
          </a:ln>
        </p:spPr>
        <p:txBody>
          <a:bodyPr spcFirstLastPara="1" wrap="square" lIns="66900" tIns="33425" rIns="66900" bIns="33425" anchor="ctr" anchorCtr="0">
            <a:noAutofit/>
          </a:bodyPr>
          <a:lstStyle/>
          <a:p>
            <a:pPr marL="0" marR="0" lvl="0" indent="0" algn="l" rtl="0">
              <a:spcBef>
                <a:spcPts val="0"/>
              </a:spcBef>
              <a:spcAft>
                <a:spcPts val="0"/>
              </a:spcAft>
              <a:buNone/>
            </a:pPr>
            <a:endParaRPr sz="1317">
              <a:solidFill>
                <a:srgbClr val="000000"/>
              </a:solidFill>
              <a:latin typeface="Calibri"/>
              <a:ea typeface="Calibri"/>
              <a:cs typeface="Calibri"/>
              <a:sym typeface="Calibri"/>
            </a:endParaRPr>
          </a:p>
        </p:txBody>
      </p:sp>
      <p:sp>
        <p:nvSpPr>
          <p:cNvPr id="1163" name="Google Shape;1163;p70"/>
          <p:cNvSpPr txBox="1"/>
          <p:nvPr/>
        </p:nvSpPr>
        <p:spPr>
          <a:xfrm>
            <a:off x="8087858" y="2107373"/>
            <a:ext cx="487800" cy="1722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r>
              <a:rPr lang="en" sz="713" b="0" i="0">
                <a:solidFill>
                  <a:srgbClr val="6B7280"/>
                </a:solidFill>
                <a:latin typeface="Lexend"/>
                <a:ea typeface="Lexend"/>
                <a:cs typeface="Lexend"/>
                <a:sym typeface="Lexend"/>
              </a:rPr>
              <a:t>10,9%</a:t>
            </a:r>
            <a:endParaRPr sz="1024"/>
          </a:p>
        </p:txBody>
      </p:sp>
      <p:sp>
        <p:nvSpPr>
          <p:cNvPr id="1164" name="Google Shape;1164;p70"/>
          <p:cNvSpPr/>
          <p:nvPr/>
        </p:nvSpPr>
        <p:spPr>
          <a:xfrm>
            <a:off x="5063343" y="2664171"/>
            <a:ext cx="3512400" cy="6900"/>
          </a:xfrm>
          <a:prstGeom prst="rect">
            <a:avLst/>
          </a:prstGeom>
          <a:solidFill>
            <a:srgbClr val="EDF1F6"/>
          </a:solidFill>
          <a:ln>
            <a:noFill/>
          </a:ln>
        </p:spPr>
        <p:txBody>
          <a:bodyPr spcFirstLastPara="1" wrap="square" lIns="66900" tIns="33425" rIns="66900" bIns="33425" anchor="ctr" anchorCtr="0">
            <a:noAutofit/>
          </a:bodyPr>
          <a:lstStyle/>
          <a:p>
            <a:pPr marL="0" marR="0" lvl="0" indent="0" algn="l" rtl="0">
              <a:spcBef>
                <a:spcPts val="0"/>
              </a:spcBef>
              <a:spcAft>
                <a:spcPts val="0"/>
              </a:spcAft>
              <a:buNone/>
            </a:pPr>
            <a:endParaRPr sz="1317">
              <a:solidFill>
                <a:srgbClr val="000000"/>
              </a:solidFill>
              <a:latin typeface="Calibri"/>
              <a:ea typeface="Calibri"/>
              <a:cs typeface="Calibri"/>
              <a:sym typeface="Calibri"/>
            </a:endParaRPr>
          </a:p>
        </p:txBody>
      </p:sp>
      <p:sp>
        <p:nvSpPr>
          <p:cNvPr id="1165" name="Google Shape;1165;p70"/>
          <p:cNvSpPr txBox="1"/>
          <p:nvPr/>
        </p:nvSpPr>
        <p:spPr>
          <a:xfrm>
            <a:off x="5063348" y="3023103"/>
            <a:ext cx="975600" cy="138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 sz="576" b="1" i="0">
                <a:solidFill>
                  <a:srgbClr val="9CA3AF"/>
                </a:solidFill>
                <a:latin typeface="Lexend"/>
                <a:ea typeface="Lexend"/>
                <a:cs typeface="Lexend"/>
                <a:sym typeface="Lexend"/>
              </a:rPr>
              <a:t>COHORT</a:t>
            </a:r>
            <a:endParaRPr sz="1024"/>
          </a:p>
        </p:txBody>
      </p:sp>
      <p:sp>
        <p:nvSpPr>
          <p:cNvPr id="1166" name="Google Shape;1166;p70"/>
          <p:cNvSpPr txBox="1"/>
          <p:nvPr/>
        </p:nvSpPr>
        <p:spPr>
          <a:xfrm>
            <a:off x="6380509" y="3023103"/>
            <a:ext cx="487800" cy="138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576" b="1" i="0">
                <a:solidFill>
                  <a:srgbClr val="9CA3AF"/>
                </a:solidFill>
                <a:latin typeface="Lexend"/>
                <a:ea typeface="Lexend"/>
                <a:cs typeface="Lexend"/>
                <a:sym typeface="Lexend"/>
              </a:rPr>
              <a:t>SỐ TX</a:t>
            </a:r>
            <a:endParaRPr sz="1024"/>
          </a:p>
        </p:txBody>
      </p:sp>
      <p:sp>
        <p:nvSpPr>
          <p:cNvPr id="1167" name="Google Shape;1167;p70"/>
          <p:cNvSpPr txBox="1"/>
          <p:nvPr/>
        </p:nvSpPr>
        <p:spPr>
          <a:xfrm>
            <a:off x="7680151" y="3026478"/>
            <a:ext cx="696900" cy="138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576" b="1" i="0">
                <a:solidFill>
                  <a:srgbClr val="9CA3AF"/>
                </a:solidFill>
                <a:latin typeface="Lexend"/>
                <a:ea typeface="Lexend"/>
                <a:cs typeface="Lexend"/>
                <a:sym typeface="Lexend"/>
              </a:rPr>
              <a:t>≥2 NGÀY</a:t>
            </a:r>
            <a:endParaRPr sz="1024"/>
          </a:p>
        </p:txBody>
      </p:sp>
      <p:sp>
        <p:nvSpPr>
          <p:cNvPr id="1168" name="Google Shape;1168;p70"/>
          <p:cNvSpPr/>
          <p:nvPr/>
        </p:nvSpPr>
        <p:spPr>
          <a:xfrm>
            <a:off x="5063348" y="3183706"/>
            <a:ext cx="3512400" cy="6900"/>
          </a:xfrm>
          <a:prstGeom prst="rect">
            <a:avLst/>
          </a:prstGeom>
          <a:solidFill>
            <a:srgbClr val="EDF1F6"/>
          </a:solidFill>
          <a:ln>
            <a:noFill/>
          </a:ln>
        </p:spPr>
        <p:txBody>
          <a:bodyPr spcFirstLastPara="1" wrap="square" lIns="66900" tIns="33425" rIns="66900" bIns="33425" anchor="ctr" anchorCtr="0">
            <a:noAutofit/>
          </a:bodyPr>
          <a:lstStyle/>
          <a:p>
            <a:pPr marL="0" marR="0" lvl="0" indent="0" algn="l" rtl="0">
              <a:spcBef>
                <a:spcPts val="0"/>
              </a:spcBef>
              <a:spcAft>
                <a:spcPts val="0"/>
              </a:spcAft>
              <a:buNone/>
            </a:pPr>
            <a:endParaRPr sz="1317">
              <a:solidFill>
                <a:srgbClr val="000000"/>
              </a:solidFill>
              <a:latin typeface="Calibri"/>
              <a:ea typeface="Calibri"/>
              <a:cs typeface="Calibri"/>
              <a:sym typeface="Calibri"/>
            </a:endParaRPr>
          </a:p>
        </p:txBody>
      </p:sp>
      <p:sp>
        <p:nvSpPr>
          <p:cNvPr id="1169" name="Google Shape;1169;p70"/>
          <p:cNvSpPr txBox="1"/>
          <p:nvPr/>
        </p:nvSpPr>
        <p:spPr>
          <a:xfrm>
            <a:off x="5063348" y="3269948"/>
            <a:ext cx="1045500" cy="165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 sz="686" b="1" i="0">
                <a:solidFill>
                  <a:srgbClr val="0E4174"/>
                </a:solidFill>
                <a:latin typeface="Lexend"/>
                <a:ea typeface="Lexend"/>
                <a:cs typeface="Lexend"/>
                <a:sym typeface="Lexend"/>
              </a:rPr>
              <a:t>T1 (10–16/8)</a:t>
            </a:r>
            <a:endParaRPr sz="1024"/>
          </a:p>
        </p:txBody>
      </p:sp>
      <p:sp>
        <p:nvSpPr>
          <p:cNvPr id="1170" name="Google Shape;1170;p70"/>
          <p:cNvSpPr txBox="1"/>
          <p:nvPr/>
        </p:nvSpPr>
        <p:spPr>
          <a:xfrm>
            <a:off x="6380509" y="3269948"/>
            <a:ext cx="487800" cy="165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686" b="0" i="0">
                <a:solidFill>
                  <a:srgbClr val="6B7280"/>
                </a:solidFill>
                <a:latin typeface="Lexend"/>
                <a:ea typeface="Lexend"/>
                <a:cs typeface="Lexend"/>
                <a:sym typeface="Lexend"/>
              </a:rPr>
              <a:t>90</a:t>
            </a:r>
            <a:endParaRPr sz="1024"/>
          </a:p>
        </p:txBody>
      </p:sp>
      <p:sp>
        <p:nvSpPr>
          <p:cNvPr id="1171" name="Google Shape;1171;p70"/>
          <p:cNvSpPr txBox="1"/>
          <p:nvPr/>
        </p:nvSpPr>
        <p:spPr>
          <a:xfrm>
            <a:off x="7784687" y="3273323"/>
            <a:ext cx="487800" cy="165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686" b="0" i="0">
                <a:solidFill>
                  <a:srgbClr val="9CA3AF"/>
                </a:solidFill>
                <a:latin typeface="Lexend"/>
                <a:ea typeface="Lexend"/>
                <a:cs typeface="Lexend"/>
                <a:sym typeface="Lexend"/>
              </a:rPr>
              <a:t>56,7%</a:t>
            </a:r>
            <a:endParaRPr sz="1024"/>
          </a:p>
        </p:txBody>
      </p:sp>
      <p:sp>
        <p:nvSpPr>
          <p:cNvPr id="1172" name="Google Shape;1172;p70"/>
          <p:cNvSpPr/>
          <p:nvPr/>
        </p:nvSpPr>
        <p:spPr>
          <a:xfrm>
            <a:off x="5063348" y="3462470"/>
            <a:ext cx="3512400" cy="6900"/>
          </a:xfrm>
          <a:prstGeom prst="rect">
            <a:avLst/>
          </a:prstGeom>
          <a:solidFill>
            <a:srgbClr val="EDF1F6"/>
          </a:solidFill>
          <a:ln>
            <a:noFill/>
          </a:ln>
        </p:spPr>
        <p:txBody>
          <a:bodyPr spcFirstLastPara="1" wrap="square" lIns="66900" tIns="33425" rIns="66900" bIns="33425" anchor="ctr" anchorCtr="0">
            <a:noAutofit/>
          </a:bodyPr>
          <a:lstStyle/>
          <a:p>
            <a:pPr marL="0" marR="0" lvl="0" indent="0" algn="l" rtl="0">
              <a:spcBef>
                <a:spcPts val="0"/>
              </a:spcBef>
              <a:spcAft>
                <a:spcPts val="0"/>
              </a:spcAft>
              <a:buNone/>
            </a:pPr>
            <a:endParaRPr sz="1317">
              <a:solidFill>
                <a:srgbClr val="000000"/>
              </a:solidFill>
              <a:latin typeface="Calibri"/>
              <a:ea typeface="Calibri"/>
              <a:cs typeface="Calibri"/>
              <a:sym typeface="Calibri"/>
            </a:endParaRPr>
          </a:p>
        </p:txBody>
      </p:sp>
      <p:sp>
        <p:nvSpPr>
          <p:cNvPr id="1173" name="Google Shape;1173;p70"/>
          <p:cNvSpPr txBox="1"/>
          <p:nvPr/>
        </p:nvSpPr>
        <p:spPr>
          <a:xfrm>
            <a:off x="5063348" y="3506898"/>
            <a:ext cx="1045500" cy="165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 sz="686" b="1" i="0">
                <a:solidFill>
                  <a:srgbClr val="0E4174"/>
                </a:solidFill>
                <a:latin typeface="Lexend"/>
                <a:ea typeface="Lexend"/>
                <a:cs typeface="Lexend"/>
                <a:sym typeface="Lexend"/>
              </a:rPr>
              <a:t>T2 (17–23/8)</a:t>
            </a:r>
            <a:endParaRPr sz="1024"/>
          </a:p>
        </p:txBody>
      </p:sp>
      <p:sp>
        <p:nvSpPr>
          <p:cNvPr id="1174" name="Google Shape;1174;p70"/>
          <p:cNvSpPr txBox="1"/>
          <p:nvPr/>
        </p:nvSpPr>
        <p:spPr>
          <a:xfrm>
            <a:off x="6380509" y="3506898"/>
            <a:ext cx="487800" cy="165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686" b="0" i="0">
                <a:solidFill>
                  <a:srgbClr val="6B7280"/>
                </a:solidFill>
                <a:latin typeface="Lexend"/>
                <a:ea typeface="Lexend"/>
                <a:cs typeface="Lexend"/>
                <a:sym typeface="Lexend"/>
              </a:rPr>
              <a:t>139</a:t>
            </a:r>
            <a:endParaRPr sz="1024"/>
          </a:p>
        </p:txBody>
      </p:sp>
      <p:sp>
        <p:nvSpPr>
          <p:cNvPr id="1175" name="Google Shape;1175;p70"/>
          <p:cNvSpPr txBox="1"/>
          <p:nvPr/>
        </p:nvSpPr>
        <p:spPr>
          <a:xfrm>
            <a:off x="7784687" y="3510273"/>
            <a:ext cx="487800" cy="165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686" b="0" i="0">
                <a:solidFill>
                  <a:srgbClr val="9CA3AF"/>
                </a:solidFill>
                <a:latin typeface="Lexend"/>
                <a:ea typeface="Lexend"/>
                <a:cs typeface="Lexend"/>
                <a:sym typeface="Lexend"/>
              </a:rPr>
              <a:t>34,5%</a:t>
            </a:r>
            <a:endParaRPr sz="1024"/>
          </a:p>
        </p:txBody>
      </p:sp>
      <p:sp>
        <p:nvSpPr>
          <p:cNvPr id="1176" name="Google Shape;1176;p70"/>
          <p:cNvSpPr/>
          <p:nvPr/>
        </p:nvSpPr>
        <p:spPr>
          <a:xfrm>
            <a:off x="5063373" y="3831698"/>
            <a:ext cx="3512400" cy="390300"/>
          </a:xfrm>
          <a:prstGeom prst="roundRect">
            <a:avLst>
              <a:gd name="adj" fmla="val 17857"/>
            </a:avLst>
          </a:prstGeom>
          <a:solidFill>
            <a:srgbClr val="FFF3EB"/>
          </a:solidFill>
          <a:ln w="6975" cap="flat" cmpd="sng">
            <a:solidFill>
              <a:srgbClr val="F3C4A0"/>
            </a:solidFill>
            <a:prstDash val="solid"/>
            <a:round/>
            <a:headEnd type="none" w="sm" len="sm"/>
            <a:tailEnd type="none" w="sm" len="sm"/>
          </a:ln>
        </p:spPr>
        <p:txBody>
          <a:bodyPr spcFirstLastPara="1" wrap="square" lIns="66900" tIns="33425" rIns="66900" bIns="33425" anchor="ctr" anchorCtr="0">
            <a:noAutofit/>
          </a:bodyPr>
          <a:lstStyle/>
          <a:p>
            <a:pPr marL="0" marR="0" lvl="0" indent="0" algn="l" rtl="0">
              <a:spcBef>
                <a:spcPts val="0"/>
              </a:spcBef>
              <a:spcAft>
                <a:spcPts val="0"/>
              </a:spcAft>
              <a:buNone/>
            </a:pPr>
            <a:endParaRPr sz="1317">
              <a:solidFill>
                <a:srgbClr val="000000"/>
              </a:solidFill>
              <a:latin typeface="Calibri"/>
              <a:ea typeface="Calibri"/>
              <a:cs typeface="Calibri"/>
              <a:sym typeface="Calibri"/>
            </a:endParaRPr>
          </a:p>
        </p:txBody>
      </p:sp>
      <p:sp>
        <p:nvSpPr>
          <p:cNvPr id="1177" name="Google Shape;1177;p70"/>
          <p:cNvSpPr/>
          <p:nvPr/>
        </p:nvSpPr>
        <p:spPr>
          <a:xfrm>
            <a:off x="5171394" y="3995473"/>
            <a:ext cx="62700" cy="62700"/>
          </a:xfrm>
          <a:prstGeom prst="ellipse">
            <a:avLst/>
          </a:prstGeom>
          <a:solidFill>
            <a:srgbClr val="FF7F32"/>
          </a:solidFill>
          <a:ln>
            <a:noFill/>
          </a:ln>
        </p:spPr>
        <p:txBody>
          <a:bodyPr spcFirstLastPara="1" wrap="square" lIns="66900" tIns="33425" rIns="66900" bIns="33425" anchor="ctr" anchorCtr="0">
            <a:noAutofit/>
          </a:bodyPr>
          <a:lstStyle/>
          <a:p>
            <a:pPr marL="0" marR="0" lvl="0" indent="0" algn="ctr" rtl="0">
              <a:spcBef>
                <a:spcPts val="0"/>
              </a:spcBef>
              <a:spcAft>
                <a:spcPts val="0"/>
              </a:spcAft>
              <a:buNone/>
            </a:pPr>
            <a:endParaRPr sz="1317">
              <a:solidFill>
                <a:srgbClr val="000000"/>
              </a:solidFill>
              <a:latin typeface="Calibri"/>
              <a:ea typeface="Calibri"/>
              <a:cs typeface="Calibri"/>
              <a:sym typeface="Calibri"/>
            </a:endParaRPr>
          </a:p>
        </p:txBody>
      </p:sp>
      <p:sp>
        <p:nvSpPr>
          <p:cNvPr id="1178" name="Google Shape;1178;p70"/>
          <p:cNvSpPr txBox="1"/>
          <p:nvPr/>
        </p:nvSpPr>
        <p:spPr>
          <a:xfrm>
            <a:off x="5314260" y="3873513"/>
            <a:ext cx="3108300" cy="30660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None/>
            </a:pPr>
            <a:r>
              <a:rPr lang="en" sz="631" b="1">
                <a:solidFill>
                  <a:srgbClr val="B4531A"/>
                </a:solidFill>
                <a:latin typeface="Lexend"/>
                <a:ea typeface="Lexend"/>
                <a:cs typeface="Lexend"/>
                <a:sym typeface="Lexend"/>
              </a:rPr>
              <a:t>Đa phần tài xế vẫn thử chạy 1 ca rồi thôi</a:t>
            </a:r>
            <a:r>
              <a:rPr lang="en" sz="631" b="0" i="0">
                <a:solidFill>
                  <a:srgbClr val="374151"/>
                </a:solidFill>
                <a:latin typeface="Lexend"/>
                <a:ea typeface="Lexend"/>
                <a:cs typeface="Lexend"/>
                <a:sym typeface="Lexend"/>
              </a:rPr>
              <a:t>.</a:t>
            </a:r>
            <a:endParaRPr sz="1024"/>
          </a:p>
        </p:txBody>
      </p:sp>
      <p:sp>
        <p:nvSpPr>
          <p:cNvPr id="1179" name="Google Shape;1179;p70"/>
          <p:cNvSpPr/>
          <p:nvPr/>
        </p:nvSpPr>
        <p:spPr>
          <a:xfrm>
            <a:off x="430525" y="293442"/>
            <a:ext cx="229200" cy="225300"/>
          </a:xfrm>
          <a:prstGeom prst="wave">
            <a:avLst>
              <a:gd name="adj1" fmla="val 12500"/>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184"/>
        <p:cNvGrpSpPr/>
        <p:nvPr/>
      </p:nvGrpSpPr>
      <p:grpSpPr>
        <a:xfrm>
          <a:off x="0" y="0"/>
          <a:ext cx="0" cy="0"/>
          <a:chOff x="0" y="0"/>
          <a:chExt cx="0" cy="0"/>
        </a:xfrm>
      </p:grpSpPr>
      <p:sp>
        <p:nvSpPr>
          <p:cNvPr id="1185" name="Google Shape;1185;p71"/>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71"/>
          <p:cNvSpPr/>
          <p:nvPr/>
        </p:nvSpPr>
        <p:spPr>
          <a:xfrm>
            <a:off x="731520" y="2011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a:solidFill>
                  <a:srgbClr val="0E4174"/>
                </a:solidFill>
                <a:latin typeface="Lexend"/>
                <a:ea typeface="Lexend"/>
                <a:cs typeface="Lexend"/>
                <a:sym typeface="Lexend"/>
              </a:rPr>
              <a:t>Cityzone</a:t>
            </a:r>
            <a:endParaRPr sz="2200" b="1" i="0" u="none" strike="noStrike" cap="none">
              <a:solidFill>
                <a:srgbClr val="F56C1F"/>
              </a:solidFill>
              <a:highlight>
                <a:schemeClr val="lt1"/>
              </a:highlight>
              <a:latin typeface="Lexend"/>
              <a:ea typeface="Lexend"/>
              <a:cs typeface="Lexend"/>
              <a:sym typeface="Lexend"/>
            </a:endParaRPr>
          </a:p>
        </p:txBody>
      </p:sp>
      <p:sp>
        <p:nvSpPr>
          <p:cNvPr id="1187" name="Google Shape;1187;p71"/>
          <p:cNvSpPr/>
          <p:nvPr/>
        </p:nvSpPr>
        <p:spPr>
          <a:xfrm>
            <a:off x="731520" y="594360"/>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 sz="1000" i="1">
                <a:solidFill>
                  <a:schemeClr val="accent3"/>
                </a:solidFill>
                <a:latin typeface="Lexend"/>
                <a:ea typeface="Lexend"/>
                <a:cs typeface="Lexend"/>
                <a:sym typeface="Lexend"/>
              </a:rPr>
              <a:t>Next </a:t>
            </a:r>
            <a:endParaRPr sz="1000" i="1">
              <a:solidFill>
                <a:schemeClr val="accent3"/>
              </a:solidFill>
              <a:latin typeface="Lexend"/>
              <a:ea typeface="Lexend"/>
              <a:cs typeface="Lexend"/>
              <a:sym typeface="Lexend"/>
            </a:endParaRPr>
          </a:p>
        </p:txBody>
      </p:sp>
      <p:cxnSp>
        <p:nvCxnSpPr>
          <p:cNvPr id="1188" name="Google Shape;1188;p71"/>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1189" name="Google Shape;1189;p71"/>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sp>
        <p:nvSpPr>
          <p:cNvPr id="1190" name="Google Shape;1190;p71"/>
          <p:cNvSpPr/>
          <p:nvPr/>
        </p:nvSpPr>
        <p:spPr>
          <a:xfrm>
            <a:off x="430475" y="285363"/>
            <a:ext cx="229284" cy="243216"/>
          </a:xfrm>
          <a:prstGeom prst="lightningBolt">
            <a:avLst/>
          </a:prstGeom>
          <a:solidFill>
            <a:srgbClr val="FF7F3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91" name="Google Shape;1191;p71"/>
          <p:cNvSpPr/>
          <p:nvPr/>
        </p:nvSpPr>
        <p:spPr>
          <a:xfrm>
            <a:off x="380713" y="242300"/>
            <a:ext cx="328800" cy="328800"/>
          </a:xfrm>
          <a:prstGeom prst="roundRect">
            <a:avLst>
              <a:gd name="adj" fmla="val 28261"/>
            </a:avLst>
          </a:prstGeom>
          <a:gradFill>
            <a:gsLst>
              <a:gs pos="0">
                <a:srgbClr val="FF9A50"/>
              </a:gs>
              <a:gs pos="100000">
                <a:srgbClr val="FF7F32"/>
              </a:gs>
            </a:gsLst>
            <a:lin ang="2700006"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192" name="Google Shape;1192;p71"/>
          <p:cNvSpPr/>
          <p:nvPr/>
        </p:nvSpPr>
        <p:spPr>
          <a:xfrm>
            <a:off x="466438" y="299450"/>
            <a:ext cx="171450" cy="257175"/>
          </a:xfrm>
          <a:custGeom>
            <a:avLst/>
            <a:gdLst/>
            <a:ahLst/>
            <a:cxnLst/>
            <a:rect l="l" t="t" r="r" b="b"/>
            <a:pathLst>
              <a:path w="228600" h="342900" extrusionOk="0">
                <a:moveTo>
                  <a:pt x="152400" y="0"/>
                </a:moveTo>
                <a:lnTo>
                  <a:pt x="0" y="200025"/>
                </a:lnTo>
                <a:lnTo>
                  <a:pt x="104775" y="200025"/>
                </a:lnTo>
                <a:lnTo>
                  <a:pt x="66675" y="342900"/>
                </a:lnTo>
                <a:lnTo>
                  <a:pt x="228600" y="133350"/>
                </a:lnTo>
                <a:lnTo>
                  <a:pt x="114300" y="133350"/>
                </a:lnTo>
                <a:close/>
              </a:path>
            </a:pathLst>
          </a:custGeom>
          <a:solidFill>
            <a:srgbClr val="FFFFFF"/>
          </a:solidFill>
          <a:ln>
            <a:noFill/>
          </a:ln>
        </p:spPr>
      </p:sp>
      <p:sp>
        <p:nvSpPr>
          <p:cNvPr id="1193" name="Google Shape;1193;p71"/>
          <p:cNvSpPr/>
          <p:nvPr/>
        </p:nvSpPr>
        <p:spPr>
          <a:xfrm>
            <a:off x="365750" y="1166250"/>
            <a:ext cx="4405800" cy="793200"/>
          </a:xfrm>
          <a:prstGeom prst="roundRect">
            <a:avLst>
              <a:gd name="adj" fmla="val 8421"/>
            </a:avLst>
          </a:prstGeom>
          <a:solidFill>
            <a:srgbClr val="FFF3EB"/>
          </a:solidFill>
          <a:ln w="11000" cap="flat" cmpd="sng">
            <a:solidFill>
              <a:srgbClr val="F3C4A0"/>
            </a:solidFill>
            <a:prstDash val="solid"/>
            <a:round/>
            <a:headEnd type="none" w="sm" len="sm"/>
            <a:tailEnd type="none" w="sm" len="sm"/>
          </a:ln>
        </p:spPr>
        <p:txBody>
          <a:bodyPr spcFirstLastPara="1" wrap="square" lIns="70475" tIns="35225" rIns="70475" bIns="35225" anchor="ctr" anchorCtr="0">
            <a:noAutofit/>
          </a:bodyPr>
          <a:lstStyle/>
          <a:p>
            <a:pPr marL="0" marR="0" lvl="0" indent="0" algn="l" rtl="0">
              <a:spcBef>
                <a:spcPts val="0"/>
              </a:spcBef>
              <a:spcAft>
                <a:spcPts val="0"/>
              </a:spcAft>
              <a:buNone/>
            </a:pPr>
            <a:endParaRPr sz="1388">
              <a:solidFill>
                <a:srgbClr val="000000"/>
              </a:solidFill>
              <a:latin typeface="Calibri"/>
              <a:ea typeface="Calibri"/>
              <a:cs typeface="Calibri"/>
              <a:sym typeface="Calibri"/>
            </a:endParaRPr>
          </a:p>
        </p:txBody>
      </p:sp>
      <p:sp>
        <p:nvSpPr>
          <p:cNvPr id="1194" name="Google Shape;1194;p71"/>
          <p:cNvSpPr/>
          <p:nvPr/>
        </p:nvSpPr>
        <p:spPr>
          <a:xfrm>
            <a:off x="549325" y="1305767"/>
            <a:ext cx="220500" cy="220500"/>
          </a:xfrm>
          <a:prstGeom prst="ellipse">
            <a:avLst/>
          </a:prstGeom>
          <a:solidFill>
            <a:srgbClr val="FF7F32"/>
          </a:solidFill>
          <a:ln>
            <a:noFill/>
          </a:ln>
        </p:spPr>
        <p:txBody>
          <a:bodyPr spcFirstLastPara="1" wrap="square" lIns="70475" tIns="35225" rIns="70475" bIns="35225" anchor="ctr" anchorCtr="0">
            <a:noAutofit/>
          </a:bodyPr>
          <a:lstStyle/>
          <a:p>
            <a:pPr marL="0" marR="0" lvl="0" indent="0" algn="ctr" rtl="0">
              <a:spcBef>
                <a:spcPts val="0"/>
              </a:spcBef>
              <a:spcAft>
                <a:spcPts val="0"/>
              </a:spcAft>
              <a:buNone/>
            </a:pPr>
            <a:endParaRPr sz="1388">
              <a:solidFill>
                <a:srgbClr val="000000"/>
              </a:solidFill>
              <a:latin typeface="Calibri"/>
              <a:ea typeface="Calibri"/>
              <a:cs typeface="Calibri"/>
              <a:sym typeface="Calibri"/>
            </a:endParaRPr>
          </a:p>
        </p:txBody>
      </p:sp>
      <p:sp>
        <p:nvSpPr>
          <p:cNvPr id="1195" name="Google Shape;1195;p71"/>
          <p:cNvSpPr txBox="1"/>
          <p:nvPr/>
        </p:nvSpPr>
        <p:spPr>
          <a:xfrm>
            <a:off x="512610" y="1315277"/>
            <a:ext cx="293700" cy="2025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838" b="1" i="0">
                <a:solidFill>
                  <a:srgbClr val="FFFFFF"/>
                </a:solidFill>
                <a:latin typeface="Lexend"/>
                <a:ea typeface="Lexend"/>
                <a:cs typeface="Lexend"/>
                <a:sym typeface="Lexend"/>
              </a:rPr>
              <a:t>1</a:t>
            </a:r>
            <a:endParaRPr sz="1079"/>
          </a:p>
        </p:txBody>
      </p:sp>
      <p:sp>
        <p:nvSpPr>
          <p:cNvPr id="1196" name="Google Shape;1196;p71"/>
          <p:cNvSpPr txBox="1"/>
          <p:nvPr/>
        </p:nvSpPr>
        <p:spPr>
          <a:xfrm>
            <a:off x="865074" y="1305804"/>
            <a:ext cx="3671400" cy="216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 sz="896" b="1">
                <a:solidFill>
                  <a:srgbClr val="B4531A"/>
                </a:solidFill>
                <a:latin typeface="Lexend"/>
                <a:ea typeface="Lexend"/>
                <a:cs typeface="Lexend"/>
                <a:sym typeface="Lexend"/>
              </a:rPr>
              <a:t>Noti cảnh báo tới các tài xế chỉ chạy 1 ca </a:t>
            </a:r>
            <a:endParaRPr sz="1079"/>
          </a:p>
        </p:txBody>
      </p:sp>
      <p:sp>
        <p:nvSpPr>
          <p:cNvPr id="1197" name="Google Shape;1197;p71"/>
          <p:cNvSpPr txBox="1"/>
          <p:nvPr/>
        </p:nvSpPr>
        <p:spPr>
          <a:xfrm>
            <a:off x="865074" y="1577459"/>
            <a:ext cx="3700800" cy="3819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None/>
            </a:pPr>
            <a:r>
              <a:rPr lang="en" sz="694">
                <a:solidFill>
                  <a:srgbClr val="374151"/>
                </a:solidFill>
                <a:latin typeface="Lexend"/>
                <a:ea typeface="Lexend"/>
                <a:cs typeface="Lexend"/>
                <a:sym typeface="Lexend"/>
              </a:rPr>
              <a:t> 54,1%</a:t>
            </a:r>
            <a:r>
              <a:rPr lang="en" sz="694" b="0" i="0">
                <a:solidFill>
                  <a:srgbClr val="374151"/>
                </a:solidFill>
                <a:latin typeface="Lexend"/>
                <a:ea typeface="Lexend"/>
                <a:cs typeface="Lexend"/>
                <a:sym typeface="Lexend"/>
              </a:rPr>
              <a:t> bỏ </a:t>
            </a:r>
            <a:r>
              <a:rPr lang="en" sz="694">
                <a:solidFill>
                  <a:srgbClr val="374151"/>
                </a:solidFill>
                <a:latin typeface="Lexend"/>
                <a:ea typeface="Lexend"/>
                <a:cs typeface="Lexend"/>
                <a:sym typeface="Lexend"/>
              </a:rPr>
              <a:t>sau lần </a:t>
            </a:r>
            <a:r>
              <a:rPr lang="en" sz="694" b="0" i="0">
                <a:solidFill>
                  <a:srgbClr val="374151"/>
                </a:solidFill>
                <a:latin typeface="Lexend"/>
                <a:ea typeface="Lexend"/>
                <a:cs typeface="Lexend"/>
                <a:sym typeface="Lexend"/>
              </a:rPr>
              <a:t>đầu</a:t>
            </a:r>
            <a:r>
              <a:rPr lang="en" sz="694">
                <a:solidFill>
                  <a:srgbClr val="374151"/>
                </a:solidFill>
                <a:latin typeface="Lexend"/>
                <a:ea typeface="Lexend"/>
                <a:cs typeface="Lexend"/>
                <a:sym typeface="Lexend"/>
              </a:rPr>
              <a:t>, và 16% không checkin nhưng vẫn chạy  </a:t>
            </a:r>
            <a:endParaRPr sz="1079"/>
          </a:p>
        </p:txBody>
      </p:sp>
      <p:sp>
        <p:nvSpPr>
          <p:cNvPr id="1198" name="Google Shape;1198;p71"/>
          <p:cNvSpPr/>
          <p:nvPr/>
        </p:nvSpPr>
        <p:spPr>
          <a:xfrm>
            <a:off x="365750" y="2072104"/>
            <a:ext cx="4405800" cy="824100"/>
          </a:xfrm>
          <a:prstGeom prst="roundRect">
            <a:avLst>
              <a:gd name="adj" fmla="val 9523"/>
            </a:avLst>
          </a:prstGeom>
          <a:solidFill>
            <a:srgbClr val="FFFFFF"/>
          </a:solidFill>
          <a:ln w="11000" cap="flat" cmpd="sng">
            <a:solidFill>
              <a:srgbClr val="E9EDF3"/>
            </a:solidFill>
            <a:prstDash val="solid"/>
            <a:round/>
            <a:headEnd type="none" w="sm" len="sm"/>
            <a:tailEnd type="none" w="sm" len="sm"/>
          </a:ln>
          <a:effectLst>
            <a:outerShdw blurRad="73430" dist="29372" dir="5400000" rotWithShape="0">
              <a:srgbClr val="0E4174">
                <a:alpha val="10200"/>
              </a:srgbClr>
            </a:outerShdw>
          </a:effectLst>
        </p:spPr>
        <p:txBody>
          <a:bodyPr spcFirstLastPara="1" wrap="square" lIns="70475" tIns="35225" rIns="70475" bIns="35225" anchor="ctr" anchorCtr="0">
            <a:noAutofit/>
          </a:bodyPr>
          <a:lstStyle/>
          <a:p>
            <a:pPr marL="0" marR="0" lvl="0" indent="0" algn="l" rtl="0">
              <a:spcBef>
                <a:spcPts val="0"/>
              </a:spcBef>
              <a:spcAft>
                <a:spcPts val="0"/>
              </a:spcAft>
              <a:buNone/>
            </a:pPr>
            <a:endParaRPr sz="1388">
              <a:solidFill>
                <a:srgbClr val="000000"/>
              </a:solidFill>
              <a:latin typeface="Calibri"/>
              <a:ea typeface="Calibri"/>
              <a:cs typeface="Calibri"/>
              <a:sym typeface="Calibri"/>
            </a:endParaRPr>
          </a:p>
        </p:txBody>
      </p:sp>
      <p:sp>
        <p:nvSpPr>
          <p:cNvPr id="1199" name="Google Shape;1199;p71"/>
          <p:cNvSpPr/>
          <p:nvPr/>
        </p:nvSpPr>
        <p:spPr>
          <a:xfrm>
            <a:off x="365750" y="3008854"/>
            <a:ext cx="4405800" cy="824100"/>
          </a:xfrm>
          <a:prstGeom prst="roundRect">
            <a:avLst>
              <a:gd name="adj" fmla="val 9523"/>
            </a:avLst>
          </a:prstGeom>
          <a:solidFill>
            <a:srgbClr val="FFFFFF"/>
          </a:solidFill>
          <a:ln w="11000" cap="flat" cmpd="sng">
            <a:solidFill>
              <a:srgbClr val="E9EDF3"/>
            </a:solidFill>
            <a:prstDash val="solid"/>
            <a:round/>
            <a:headEnd type="none" w="sm" len="sm"/>
            <a:tailEnd type="none" w="sm" len="sm"/>
          </a:ln>
          <a:effectLst>
            <a:outerShdw blurRad="73430" dist="29372" dir="5400000" rotWithShape="0">
              <a:srgbClr val="0E4174">
                <a:alpha val="10200"/>
              </a:srgbClr>
            </a:outerShdw>
          </a:effectLst>
        </p:spPr>
        <p:txBody>
          <a:bodyPr spcFirstLastPara="1" wrap="square" lIns="70475" tIns="35225" rIns="70475" bIns="35225" anchor="ctr" anchorCtr="0">
            <a:noAutofit/>
          </a:bodyPr>
          <a:lstStyle/>
          <a:p>
            <a:pPr marL="0" marR="0" lvl="0" indent="0" algn="l" rtl="0">
              <a:spcBef>
                <a:spcPts val="0"/>
              </a:spcBef>
              <a:spcAft>
                <a:spcPts val="0"/>
              </a:spcAft>
              <a:buNone/>
            </a:pPr>
            <a:endParaRPr sz="1388">
              <a:solidFill>
                <a:srgbClr val="000000"/>
              </a:solidFill>
              <a:latin typeface="Calibri"/>
              <a:ea typeface="Calibri"/>
              <a:cs typeface="Calibri"/>
              <a:sym typeface="Calibri"/>
            </a:endParaRPr>
          </a:p>
        </p:txBody>
      </p:sp>
      <p:sp>
        <p:nvSpPr>
          <p:cNvPr id="1200" name="Google Shape;1200;p71"/>
          <p:cNvSpPr/>
          <p:nvPr/>
        </p:nvSpPr>
        <p:spPr>
          <a:xfrm>
            <a:off x="549325" y="2211628"/>
            <a:ext cx="220500" cy="220500"/>
          </a:xfrm>
          <a:prstGeom prst="ellipse">
            <a:avLst/>
          </a:prstGeom>
          <a:solidFill>
            <a:srgbClr val="1A5490"/>
          </a:solidFill>
          <a:ln>
            <a:noFill/>
          </a:ln>
        </p:spPr>
        <p:txBody>
          <a:bodyPr spcFirstLastPara="1" wrap="square" lIns="70475" tIns="35225" rIns="70475" bIns="35225" anchor="ctr" anchorCtr="0">
            <a:noAutofit/>
          </a:bodyPr>
          <a:lstStyle/>
          <a:p>
            <a:pPr marL="0" marR="0" lvl="0" indent="0" algn="ctr" rtl="0">
              <a:spcBef>
                <a:spcPts val="0"/>
              </a:spcBef>
              <a:spcAft>
                <a:spcPts val="0"/>
              </a:spcAft>
              <a:buNone/>
            </a:pPr>
            <a:endParaRPr sz="1388">
              <a:solidFill>
                <a:srgbClr val="000000"/>
              </a:solidFill>
              <a:latin typeface="Calibri"/>
              <a:ea typeface="Calibri"/>
              <a:cs typeface="Calibri"/>
              <a:sym typeface="Calibri"/>
            </a:endParaRPr>
          </a:p>
        </p:txBody>
      </p:sp>
      <p:sp>
        <p:nvSpPr>
          <p:cNvPr id="1201" name="Google Shape;1201;p71"/>
          <p:cNvSpPr txBox="1"/>
          <p:nvPr/>
        </p:nvSpPr>
        <p:spPr>
          <a:xfrm>
            <a:off x="512610" y="2221137"/>
            <a:ext cx="293700" cy="2025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838" b="1" i="0">
                <a:solidFill>
                  <a:srgbClr val="FFFFFF"/>
                </a:solidFill>
                <a:latin typeface="Lexend"/>
                <a:ea typeface="Lexend"/>
                <a:cs typeface="Lexend"/>
                <a:sym typeface="Lexend"/>
              </a:rPr>
              <a:t>2</a:t>
            </a:r>
            <a:endParaRPr sz="1079"/>
          </a:p>
        </p:txBody>
      </p:sp>
      <p:sp>
        <p:nvSpPr>
          <p:cNvPr id="1202" name="Google Shape;1202;p71"/>
          <p:cNvSpPr txBox="1"/>
          <p:nvPr/>
        </p:nvSpPr>
        <p:spPr>
          <a:xfrm>
            <a:off x="865074" y="2211665"/>
            <a:ext cx="3671400" cy="216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 sz="896" b="1">
                <a:solidFill>
                  <a:srgbClr val="0E4174"/>
                </a:solidFill>
                <a:latin typeface="Lexend"/>
                <a:ea typeface="Lexend"/>
                <a:cs typeface="Lexend"/>
                <a:sym typeface="Lexend"/>
              </a:rPr>
              <a:t>Bổ sung thêm điểm chạm trong thời gian chờ kích hoạt</a:t>
            </a:r>
            <a:endParaRPr sz="1079"/>
          </a:p>
        </p:txBody>
      </p:sp>
      <p:sp>
        <p:nvSpPr>
          <p:cNvPr id="1203" name="Google Shape;1203;p71"/>
          <p:cNvSpPr txBox="1"/>
          <p:nvPr/>
        </p:nvSpPr>
        <p:spPr>
          <a:xfrm>
            <a:off x="865074" y="2483319"/>
            <a:ext cx="3700800" cy="3819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None/>
            </a:pPr>
            <a:r>
              <a:rPr lang="en" sz="694">
                <a:solidFill>
                  <a:srgbClr val="374151"/>
                </a:solidFill>
                <a:latin typeface="Lexend"/>
                <a:ea typeface="Lexend"/>
                <a:cs typeface="Lexend"/>
                <a:sym typeface="Lexend"/>
              </a:rPr>
              <a:t>Trong khoảng thời gian 15-20p tài xế không làm gì đây là thời điểm vàng để gửi thêm thông tin về mô hình</a:t>
            </a:r>
            <a:endParaRPr sz="694">
              <a:solidFill>
                <a:srgbClr val="374151"/>
              </a:solidFill>
              <a:latin typeface="Lexend"/>
              <a:ea typeface="Lexend"/>
              <a:cs typeface="Lexend"/>
              <a:sym typeface="Lexend"/>
            </a:endParaRPr>
          </a:p>
          <a:p>
            <a:pPr marL="0" marR="0" lvl="0" indent="0" algn="l" rtl="0">
              <a:lnSpc>
                <a:spcPct val="140000"/>
              </a:lnSpc>
              <a:spcBef>
                <a:spcPts val="0"/>
              </a:spcBef>
              <a:spcAft>
                <a:spcPts val="0"/>
              </a:spcAft>
              <a:buNone/>
            </a:pPr>
            <a:endParaRPr sz="694">
              <a:solidFill>
                <a:srgbClr val="374151"/>
              </a:solidFill>
              <a:latin typeface="Lexend"/>
              <a:ea typeface="Lexend"/>
              <a:cs typeface="Lexend"/>
              <a:sym typeface="Lexend"/>
            </a:endParaRPr>
          </a:p>
        </p:txBody>
      </p:sp>
      <p:sp>
        <p:nvSpPr>
          <p:cNvPr id="1204" name="Google Shape;1204;p71"/>
          <p:cNvSpPr txBox="1"/>
          <p:nvPr/>
        </p:nvSpPr>
        <p:spPr>
          <a:xfrm>
            <a:off x="880049" y="3190629"/>
            <a:ext cx="3671400" cy="216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 sz="896" b="1">
                <a:solidFill>
                  <a:srgbClr val="0E4174"/>
                </a:solidFill>
                <a:latin typeface="Lexend"/>
                <a:ea typeface="Lexend"/>
                <a:cs typeface="Lexend"/>
                <a:sym typeface="Lexend"/>
              </a:rPr>
              <a:t>Kế hoạch phân luồng ONB, thay đổi working type trên ứng dụng</a:t>
            </a:r>
            <a:endParaRPr sz="1079"/>
          </a:p>
        </p:txBody>
      </p:sp>
      <p:sp>
        <p:nvSpPr>
          <p:cNvPr id="1205" name="Google Shape;1205;p71"/>
          <p:cNvSpPr txBox="1"/>
          <p:nvPr/>
        </p:nvSpPr>
        <p:spPr>
          <a:xfrm>
            <a:off x="880049" y="3462284"/>
            <a:ext cx="3700800" cy="3819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None/>
            </a:pPr>
            <a:r>
              <a:rPr lang="en" sz="694">
                <a:solidFill>
                  <a:srgbClr val="374151"/>
                </a:solidFill>
                <a:latin typeface="Lexend"/>
                <a:ea typeface="Lexend"/>
                <a:cs typeface="Lexend"/>
                <a:sym typeface="Lexend"/>
              </a:rPr>
              <a:t>Thiết kế riêng luồng ONB cho NIM chạy HUB tư vấn riêng về HUB cho tập tài xế mới</a:t>
            </a:r>
            <a:endParaRPr sz="694">
              <a:solidFill>
                <a:srgbClr val="374151"/>
              </a:solidFill>
              <a:latin typeface="Lexend"/>
              <a:ea typeface="Lexend"/>
              <a:cs typeface="Lexend"/>
              <a:sym typeface="Lexend"/>
            </a:endParaRPr>
          </a:p>
          <a:p>
            <a:pPr marL="0" marR="0" lvl="0" indent="0" algn="l" rtl="0">
              <a:lnSpc>
                <a:spcPct val="140000"/>
              </a:lnSpc>
              <a:spcBef>
                <a:spcPts val="0"/>
              </a:spcBef>
              <a:spcAft>
                <a:spcPts val="0"/>
              </a:spcAft>
              <a:buNone/>
            </a:pPr>
            <a:endParaRPr sz="694">
              <a:solidFill>
                <a:srgbClr val="374151"/>
              </a:solidFill>
              <a:latin typeface="Lexend"/>
              <a:ea typeface="Lexend"/>
              <a:cs typeface="Lexend"/>
              <a:sym typeface="Lexend"/>
            </a:endParaRPr>
          </a:p>
        </p:txBody>
      </p:sp>
      <p:sp>
        <p:nvSpPr>
          <p:cNvPr id="1206" name="Google Shape;1206;p71"/>
          <p:cNvSpPr/>
          <p:nvPr/>
        </p:nvSpPr>
        <p:spPr>
          <a:xfrm>
            <a:off x="549325" y="3157165"/>
            <a:ext cx="220500" cy="220500"/>
          </a:xfrm>
          <a:prstGeom prst="ellipse">
            <a:avLst/>
          </a:prstGeom>
          <a:solidFill>
            <a:srgbClr val="1A5490"/>
          </a:solidFill>
          <a:ln>
            <a:noFill/>
          </a:ln>
        </p:spPr>
        <p:txBody>
          <a:bodyPr spcFirstLastPara="1" wrap="square" lIns="70475" tIns="35225" rIns="70475" bIns="35225" anchor="ctr" anchorCtr="0">
            <a:noAutofit/>
          </a:bodyPr>
          <a:lstStyle/>
          <a:p>
            <a:pPr marL="0" marR="0" lvl="0" indent="0" algn="ctr" rtl="0">
              <a:spcBef>
                <a:spcPts val="0"/>
              </a:spcBef>
              <a:spcAft>
                <a:spcPts val="0"/>
              </a:spcAft>
              <a:buNone/>
            </a:pPr>
            <a:endParaRPr sz="1388">
              <a:solidFill>
                <a:srgbClr val="000000"/>
              </a:solidFill>
              <a:latin typeface="Calibri"/>
              <a:ea typeface="Calibri"/>
              <a:cs typeface="Calibri"/>
              <a:sym typeface="Calibri"/>
            </a:endParaRPr>
          </a:p>
        </p:txBody>
      </p:sp>
      <p:sp>
        <p:nvSpPr>
          <p:cNvPr id="1207" name="Google Shape;1207;p71"/>
          <p:cNvSpPr txBox="1"/>
          <p:nvPr/>
        </p:nvSpPr>
        <p:spPr>
          <a:xfrm>
            <a:off x="512610" y="3166675"/>
            <a:ext cx="293700" cy="2025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838" b="1">
                <a:solidFill>
                  <a:srgbClr val="FFFFFF"/>
                </a:solidFill>
                <a:latin typeface="Lexend"/>
                <a:ea typeface="Lexend"/>
                <a:cs typeface="Lexend"/>
                <a:sym typeface="Lexend"/>
              </a:rPr>
              <a:t>3</a:t>
            </a:r>
            <a:endParaRPr sz="1079"/>
          </a:p>
        </p:txBody>
      </p:sp>
      <p:pic>
        <p:nvPicPr>
          <p:cNvPr id="1208" name="Google Shape;1208;p71"/>
          <p:cNvPicPr preferRelativeResize="0"/>
          <p:nvPr/>
        </p:nvPicPr>
        <p:blipFill>
          <a:blip r:embed="rId3">
            <a:alphaModFix/>
          </a:blip>
          <a:stretch>
            <a:fillRect/>
          </a:stretch>
        </p:blipFill>
        <p:spPr>
          <a:xfrm>
            <a:off x="4917350" y="1503587"/>
            <a:ext cx="3861001" cy="196113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213"/>
        <p:cNvGrpSpPr/>
        <p:nvPr/>
      </p:nvGrpSpPr>
      <p:grpSpPr>
        <a:xfrm>
          <a:off x="0" y="0"/>
          <a:ext cx="0" cy="0"/>
          <a:chOff x="0" y="0"/>
          <a:chExt cx="0" cy="0"/>
        </a:xfrm>
      </p:grpSpPr>
      <p:sp>
        <p:nvSpPr>
          <p:cNvPr id="1214" name="Google Shape;1214;p72"/>
          <p:cNvSpPr/>
          <p:nvPr/>
        </p:nvSpPr>
        <p:spPr>
          <a:xfrm>
            <a:off x="359950" y="969832"/>
            <a:ext cx="3378600" cy="3119700"/>
          </a:xfrm>
          <a:prstGeom prst="roundRect">
            <a:avLst>
              <a:gd name="adj" fmla="val 16667"/>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15" name="Google Shape;1215;p72"/>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72"/>
          <p:cNvSpPr/>
          <p:nvPr/>
        </p:nvSpPr>
        <p:spPr>
          <a:xfrm>
            <a:off x="731520" y="2011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a:solidFill>
                  <a:srgbClr val="0E4174"/>
                </a:solidFill>
                <a:latin typeface="Lexend"/>
                <a:ea typeface="Lexend"/>
                <a:cs typeface="Lexend"/>
                <a:sym typeface="Lexend"/>
              </a:rPr>
              <a:t>EV </a:t>
            </a:r>
            <a:endParaRPr sz="2200" b="1" i="0" u="none" strike="noStrike" cap="none">
              <a:solidFill>
                <a:srgbClr val="F56C1F"/>
              </a:solidFill>
              <a:highlight>
                <a:schemeClr val="lt1"/>
              </a:highlight>
              <a:latin typeface="Lexend"/>
              <a:ea typeface="Lexend"/>
              <a:cs typeface="Lexend"/>
              <a:sym typeface="Lexend"/>
            </a:endParaRPr>
          </a:p>
        </p:txBody>
      </p:sp>
      <p:sp>
        <p:nvSpPr>
          <p:cNvPr id="1217" name="Google Shape;1217;p72"/>
          <p:cNvSpPr/>
          <p:nvPr/>
        </p:nvSpPr>
        <p:spPr>
          <a:xfrm>
            <a:off x="731520" y="594360"/>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 sz="1000" i="1">
                <a:solidFill>
                  <a:schemeClr val="accent3"/>
                </a:solidFill>
                <a:latin typeface="Lexend"/>
                <a:ea typeface="Lexend"/>
                <a:cs typeface="Lexend"/>
                <a:sym typeface="Lexend"/>
              </a:rPr>
              <a:t>Tổng hợp nhu cầu đối tác</a:t>
            </a:r>
            <a:endParaRPr sz="1000" i="1">
              <a:solidFill>
                <a:schemeClr val="accent3"/>
              </a:solidFill>
              <a:latin typeface="Lexend"/>
              <a:ea typeface="Lexend"/>
              <a:cs typeface="Lexend"/>
              <a:sym typeface="Lexend"/>
            </a:endParaRPr>
          </a:p>
        </p:txBody>
      </p:sp>
      <p:cxnSp>
        <p:nvCxnSpPr>
          <p:cNvPr id="1218" name="Google Shape;1218;p72"/>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1219" name="Google Shape;1219;p72"/>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sp>
        <p:nvSpPr>
          <p:cNvPr id="1220" name="Google Shape;1220;p72"/>
          <p:cNvSpPr/>
          <p:nvPr/>
        </p:nvSpPr>
        <p:spPr>
          <a:xfrm>
            <a:off x="430475" y="285363"/>
            <a:ext cx="229284" cy="243216"/>
          </a:xfrm>
          <a:prstGeom prst="lightningBolt">
            <a:avLst/>
          </a:prstGeom>
          <a:solidFill>
            <a:srgbClr val="FF7F3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21" name="Google Shape;1221;p72"/>
          <p:cNvSpPr/>
          <p:nvPr/>
        </p:nvSpPr>
        <p:spPr>
          <a:xfrm>
            <a:off x="380713" y="242300"/>
            <a:ext cx="328800" cy="328800"/>
          </a:xfrm>
          <a:prstGeom prst="roundRect">
            <a:avLst>
              <a:gd name="adj" fmla="val 28261"/>
            </a:avLst>
          </a:prstGeom>
          <a:gradFill>
            <a:gsLst>
              <a:gs pos="0">
                <a:srgbClr val="FF9A50"/>
              </a:gs>
              <a:gs pos="100000">
                <a:srgbClr val="FF7F32"/>
              </a:gs>
            </a:gsLst>
            <a:lin ang="2700006"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222" name="Google Shape;1222;p72"/>
          <p:cNvSpPr/>
          <p:nvPr/>
        </p:nvSpPr>
        <p:spPr>
          <a:xfrm>
            <a:off x="466438" y="299450"/>
            <a:ext cx="171450" cy="257175"/>
          </a:xfrm>
          <a:custGeom>
            <a:avLst/>
            <a:gdLst/>
            <a:ahLst/>
            <a:cxnLst/>
            <a:rect l="l" t="t" r="r" b="b"/>
            <a:pathLst>
              <a:path w="228600" h="342900" extrusionOk="0">
                <a:moveTo>
                  <a:pt x="152400" y="0"/>
                </a:moveTo>
                <a:lnTo>
                  <a:pt x="0" y="200025"/>
                </a:lnTo>
                <a:lnTo>
                  <a:pt x="104775" y="200025"/>
                </a:lnTo>
                <a:lnTo>
                  <a:pt x="66675" y="342900"/>
                </a:lnTo>
                <a:lnTo>
                  <a:pt x="228600" y="133350"/>
                </a:lnTo>
                <a:lnTo>
                  <a:pt x="114300" y="133350"/>
                </a:lnTo>
                <a:close/>
              </a:path>
            </a:pathLst>
          </a:custGeom>
          <a:solidFill>
            <a:srgbClr val="FFFFFF"/>
          </a:solidFill>
          <a:ln>
            <a:noFill/>
          </a:ln>
        </p:spPr>
      </p:sp>
      <p:pic>
        <p:nvPicPr>
          <p:cNvPr id="1223" name="Google Shape;1223;p72" title="Biểu đồ"/>
          <p:cNvPicPr preferRelativeResize="0"/>
          <p:nvPr/>
        </p:nvPicPr>
        <p:blipFill rotWithShape="1">
          <a:blip r:embed="rId3">
            <a:alphaModFix/>
          </a:blip>
          <a:srcRect b="11567"/>
          <a:stretch/>
        </p:blipFill>
        <p:spPr>
          <a:xfrm>
            <a:off x="365750" y="935907"/>
            <a:ext cx="3455525" cy="3045925"/>
          </a:xfrm>
          <a:prstGeom prst="rect">
            <a:avLst/>
          </a:prstGeom>
          <a:noFill/>
          <a:ln>
            <a:noFill/>
          </a:ln>
        </p:spPr>
      </p:pic>
      <p:pic>
        <p:nvPicPr>
          <p:cNvPr id="1224" name="Google Shape;1224;p72" title="Biểu đồ"/>
          <p:cNvPicPr preferRelativeResize="0"/>
          <p:nvPr/>
        </p:nvPicPr>
        <p:blipFill>
          <a:blip r:embed="rId4">
            <a:alphaModFix/>
          </a:blip>
          <a:stretch>
            <a:fillRect/>
          </a:stretch>
        </p:blipFill>
        <p:spPr>
          <a:xfrm>
            <a:off x="4441025" y="1499176"/>
            <a:ext cx="3994032" cy="1852221"/>
          </a:xfrm>
          <a:prstGeom prst="rect">
            <a:avLst/>
          </a:prstGeom>
          <a:noFill/>
          <a:ln>
            <a:noFill/>
          </a:ln>
        </p:spPr>
      </p:pic>
      <p:cxnSp>
        <p:nvCxnSpPr>
          <p:cNvPr id="1225" name="Google Shape;1225;p72"/>
          <p:cNvCxnSpPr/>
          <p:nvPr/>
        </p:nvCxnSpPr>
        <p:spPr>
          <a:xfrm>
            <a:off x="3494825" y="3646075"/>
            <a:ext cx="621000" cy="0"/>
          </a:xfrm>
          <a:prstGeom prst="straightConnector1">
            <a:avLst/>
          </a:prstGeom>
          <a:noFill/>
          <a:ln w="9525" cap="flat" cmpd="sng">
            <a:solidFill>
              <a:schemeClr val="dk2"/>
            </a:solidFill>
            <a:prstDash val="dash"/>
            <a:round/>
            <a:headEnd type="none" w="med" len="med"/>
            <a:tailEnd type="none" w="med" len="med"/>
          </a:ln>
        </p:spPr>
      </p:cxnSp>
      <p:cxnSp>
        <p:nvCxnSpPr>
          <p:cNvPr id="1226" name="Google Shape;1226;p72"/>
          <p:cNvCxnSpPr/>
          <p:nvPr/>
        </p:nvCxnSpPr>
        <p:spPr>
          <a:xfrm rot="10800000">
            <a:off x="4104375" y="2479150"/>
            <a:ext cx="0" cy="1155300"/>
          </a:xfrm>
          <a:prstGeom prst="straightConnector1">
            <a:avLst/>
          </a:prstGeom>
          <a:noFill/>
          <a:ln w="9525" cap="flat" cmpd="sng">
            <a:solidFill>
              <a:schemeClr val="dk2"/>
            </a:solidFill>
            <a:prstDash val="dash"/>
            <a:round/>
            <a:headEnd type="none" w="med" len="med"/>
            <a:tailEnd type="none" w="med" len="med"/>
          </a:ln>
        </p:spPr>
      </p:cxnSp>
      <p:cxnSp>
        <p:nvCxnSpPr>
          <p:cNvPr id="1227" name="Google Shape;1227;p72"/>
          <p:cNvCxnSpPr/>
          <p:nvPr/>
        </p:nvCxnSpPr>
        <p:spPr>
          <a:xfrm>
            <a:off x="4121800" y="2479209"/>
            <a:ext cx="522600" cy="0"/>
          </a:xfrm>
          <a:prstGeom prst="straightConnector1">
            <a:avLst/>
          </a:prstGeom>
          <a:noFill/>
          <a:ln w="9525" cap="flat" cmpd="sng">
            <a:solidFill>
              <a:schemeClr val="dk2"/>
            </a:solidFill>
            <a:prstDash val="dash"/>
            <a:round/>
            <a:headEnd type="none" w="med" len="med"/>
            <a:tailEnd type="none" w="med" len="med"/>
          </a:ln>
        </p:spPr>
      </p:cxnSp>
      <p:sp>
        <p:nvSpPr>
          <p:cNvPr id="1228" name="Google Shape;1228;p72"/>
          <p:cNvSpPr/>
          <p:nvPr/>
        </p:nvSpPr>
        <p:spPr>
          <a:xfrm>
            <a:off x="543075" y="4248025"/>
            <a:ext cx="7060800" cy="465900"/>
          </a:xfrm>
          <a:prstGeom prst="roundRect">
            <a:avLst>
              <a:gd name="adj" fmla="val 20690"/>
            </a:avLst>
          </a:prstGeom>
          <a:solidFill>
            <a:srgbClr val="FFF3EB"/>
          </a:solidFill>
          <a:ln>
            <a:noFill/>
          </a:ln>
        </p:spPr>
        <p:txBody>
          <a:bodyPr spcFirstLastPara="1" wrap="square" lIns="63900" tIns="63900" rIns="63900" bIns="63900" anchor="ctr" anchorCtr="0">
            <a:noAutofit/>
          </a:bodyPr>
          <a:lstStyle/>
          <a:p>
            <a:pPr marL="0" lvl="0" indent="0" algn="l" rtl="0">
              <a:spcBef>
                <a:spcPts val="0"/>
              </a:spcBef>
              <a:spcAft>
                <a:spcPts val="0"/>
              </a:spcAft>
              <a:buNone/>
            </a:pPr>
            <a:endParaRPr/>
          </a:p>
        </p:txBody>
      </p:sp>
      <p:sp>
        <p:nvSpPr>
          <p:cNvPr id="1229" name="Google Shape;1229;p72"/>
          <p:cNvSpPr txBox="1"/>
          <p:nvPr/>
        </p:nvSpPr>
        <p:spPr>
          <a:xfrm>
            <a:off x="637900" y="4346625"/>
            <a:ext cx="8007300" cy="262500"/>
          </a:xfrm>
          <a:prstGeom prst="rect">
            <a:avLst/>
          </a:prstGeom>
          <a:noFill/>
          <a:ln>
            <a:noFill/>
          </a:ln>
        </p:spPr>
        <p:txBody>
          <a:bodyPr spcFirstLastPara="1" wrap="square" lIns="0" tIns="0" rIns="0" bIns="0" anchor="t" anchorCtr="0">
            <a:spAutoFit/>
          </a:bodyPr>
          <a:lstStyle/>
          <a:p>
            <a:pPr marL="457200" marR="0" lvl="0" indent="-282727" algn="l" rtl="0">
              <a:spcBef>
                <a:spcPts val="0"/>
              </a:spcBef>
              <a:spcAft>
                <a:spcPts val="0"/>
              </a:spcAft>
              <a:buClr>
                <a:srgbClr val="B4531A"/>
              </a:buClr>
              <a:buSzPts val="852"/>
              <a:buFont typeface="Lexend"/>
              <a:buChar char="-"/>
            </a:pPr>
            <a:r>
              <a:rPr lang="en" sz="852" b="1">
                <a:solidFill>
                  <a:srgbClr val="B4531A"/>
                </a:solidFill>
                <a:latin typeface="Lexend"/>
                <a:ea typeface="Lexend"/>
                <a:cs typeface="Lexend"/>
                <a:sym typeface="Lexend"/>
              </a:rPr>
              <a:t>Lượng lead đổ về khu vực SGN tăng GẤP ĐÔI WoW, Số lượng lead đổ về tại HAN tăng thêm 30 tài xế</a:t>
            </a:r>
            <a:endParaRPr sz="852" b="1">
              <a:solidFill>
                <a:srgbClr val="B4531A"/>
              </a:solidFill>
              <a:latin typeface="Lexend"/>
              <a:ea typeface="Lexend"/>
              <a:cs typeface="Lexend"/>
              <a:sym typeface="Lexend"/>
            </a:endParaRPr>
          </a:p>
          <a:p>
            <a:pPr marL="457200" marR="0" lvl="0" indent="-282727" algn="l" rtl="0">
              <a:spcBef>
                <a:spcPts val="0"/>
              </a:spcBef>
              <a:spcAft>
                <a:spcPts val="0"/>
              </a:spcAft>
              <a:buClr>
                <a:srgbClr val="B4531A"/>
              </a:buClr>
              <a:buSzPts val="852"/>
              <a:buFont typeface="Lexend"/>
              <a:buChar char="-"/>
            </a:pPr>
            <a:r>
              <a:rPr lang="en" sz="852" b="1">
                <a:solidFill>
                  <a:srgbClr val="B4531A"/>
                </a:solidFill>
                <a:latin typeface="Lexend"/>
                <a:ea typeface="Lexend"/>
                <a:cs typeface="Lexend"/>
                <a:sym typeface="Lexend"/>
              </a:rPr>
              <a:t>Nhu cầu mua datbike tại SGN rất cao / ngược lại ở HAN tài xế chủ yếu quan tâm đến chính sách thuê sở hữu  </a:t>
            </a:r>
            <a:endParaRPr sz="852" b="1">
              <a:solidFill>
                <a:srgbClr val="B4531A"/>
              </a:solidFill>
              <a:latin typeface="Lexend"/>
              <a:ea typeface="Lexend"/>
              <a:cs typeface="Lexend"/>
              <a:sym typeface="Lexen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234"/>
        <p:cNvGrpSpPr/>
        <p:nvPr/>
      </p:nvGrpSpPr>
      <p:grpSpPr>
        <a:xfrm>
          <a:off x="0" y="0"/>
          <a:ext cx="0" cy="0"/>
          <a:chOff x="0" y="0"/>
          <a:chExt cx="0" cy="0"/>
        </a:xfrm>
      </p:grpSpPr>
      <p:sp>
        <p:nvSpPr>
          <p:cNvPr id="1235" name="Google Shape;1235;p73"/>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36" name="Google Shape;1236;p73" descr="preencoded.png"/>
          <p:cNvPicPr preferRelativeResize="0"/>
          <p:nvPr/>
        </p:nvPicPr>
        <p:blipFill rotWithShape="1">
          <a:blip r:embed="rId3">
            <a:alphaModFix/>
          </a:blip>
          <a:srcRect/>
          <a:stretch/>
        </p:blipFill>
        <p:spPr>
          <a:xfrm>
            <a:off x="365760" y="274320"/>
            <a:ext cx="274320" cy="274320"/>
          </a:xfrm>
          <a:prstGeom prst="rect">
            <a:avLst/>
          </a:prstGeom>
          <a:noFill/>
          <a:ln>
            <a:noFill/>
          </a:ln>
        </p:spPr>
      </p:pic>
      <p:sp>
        <p:nvSpPr>
          <p:cNvPr id="1237" name="Google Shape;1237;p73"/>
          <p:cNvSpPr/>
          <p:nvPr/>
        </p:nvSpPr>
        <p:spPr>
          <a:xfrm>
            <a:off x="731520" y="2011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i="0" u="none" strike="noStrike" cap="none">
                <a:solidFill>
                  <a:srgbClr val="0E4174"/>
                </a:solidFill>
                <a:latin typeface="Lexend"/>
                <a:ea typeface="Lexend"/>
                <a:cs typeface="Lexend"/>
                <a:sym typeface="Lexend"/>
              </a:rPr>
              <a:t>CTR · GDR</a:t>
            </a:r>
            <a:endParaRPr sz="2200" b="1" i="0" u="none" strike="noStrike" cap="none">
              <a:solidFill>
                <a:srgbClr val="F56C1F"/>
              </a:solidFill>
              <a:highlight>
                <a:schemeClr val="lt1"/>
              </a:highlight>
              <a:latin typeface="Lexend"/>
              <a:ea typeface="Lexend"/>
              <a:cs typeface="Lexend"/>
              <a:sym typeface="Lexend"/>
            </a:endParaRPr>
          </a:p>
        </p:txBody>
      </p:sp>
      <p:sp>
        <p:nvSpPr>
          <p:cNvPr id="1238" name="Google Shape;1238;p73"/>
          <p:cNvSpPr/>
          <p:nvPr/>
        </p:nvSpPr>
        <p:spPr>
          <a:xfrm>
            <a:off x="731520" y="594360"/>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 sz="1000" i="1">
                <a:solidFill>
                  <a:srgbClr val="64748B"/>
                </a:solidFill>
                <a:latin typeface="Lexend"/>
                <a:ea typeface="Lexend"/>
                <a:cs typeface="Lexend"/>
                <a:sym typeface="Lexend"/>
              </a:rPr>
              <a:t>Compliance True Rate</a:t>
            </a:r>
            <a:r>
              <a:rPr lang="en" sz="1000" i="1" u="none" strike="noStrike" cap="none">
                <a:solidFill>
                  <a:srgbClr val="64748B"/>
                </a:solidFill>
                <a:latin typeface="Lexend"/>
                <a:ea typeface="Lexend"/>
                <a:cs typeface="Lexend"/>
                <a:sym typeface="Lexend"/>
              </a:rPr>
              <a:t> · Good </a:t>
            </a:r>
            <a:r>
              <a:rPr lang="en" sz="1000" i="1">
                <a:solidFill>
                  <a:srgbClr val="64748B"/>
                </a:solidFill>
                <a:latin typeface="Lexend"/>
                <a:ea typeface="Lexend"/>
                <a:cs typeface="Lexend"/>
                <a:sym typeface="Lexend"/>
              </a:rPr>
              <a:t>Driver</a:t>
            </a:r>
            <a:r>
              <a:rPr lang="en" sz="1000" i="1" u="none" strike="noStrike" cap="none">
                <a:solidFill>
                  <a:srgbClr val="64748B"/>
                </a:solidFill>
                <a:latin typeface="Lexend"/>
                <a:ea typeface="Lexend"/>
                <a:cs typeface="Lexend"/>
                <a:sym typeface="Lexend"/>
              </a:rPr>
              <a:t> Rate </a:t>
            </a:r>
            <a:endParaRPr sz="1000" i="0" u="none" strike="noStrike" cap="none">
              <a:solidFill>
                <a:schemeClr val="dk1"/>
              </a:solidFill>
              <a:latin typeface="Lexend"/>
              <a:ea typeface="Lexend"/>
              <a:cs typeface="Lexend"/>
              <a:sym typeface="Lexend"/>
            </a:endParaRPr>
          </a:p>
        </p:txBody>
      </p:sp>
      <p:cxnSp>
        <p:nvCxnSpPr>
          <p:cNvPr id="1239" name="Google Shape;1239;p73"/>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1240" name="Google Shape;1240;p73"/>
          <p:cNvSpPr/>
          <p:nvPr/>
        </p:nvSpPr>
        <p:spPr>
          <a:xfrm>
            <a:off x="365750" y="1993002"/>
            <a:ext cx="3977700" cy="15339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73"/>
          <p:cNvSpPr/>
          <p:nvPr/>
        </p:nvSpPr>
        <p:spPr>
          <a:xfrm>
            <a:off x="502910" y="2112989"/>
            <a:ext cx="3657600" cy="277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r>
              <a:rPr lang="en" sz="1100" i="0" u="none" strike="noStrike" cap="none">
                <a:solidFill>
                  <a:srgbClr val="0E4174"/>
                </a:solidFill>
                <a:latin typeface="Lexend"/>
                <a:ea typeface="Lexend"/>
                <a:cs typeface="Lexend"/>
                <a:sym typeface="Lexend"/>
              </a:rPr>
              <a:t>CTR (Compl</a:t>
            </a:r>
            <a:r>
              <a:rPr lang="en" sz="1100">
                <a:solidFill>
                  <a:srgbClr val="0E4174"/>
                </a:solidFill>
                <a:latin typeface="Lexend"/>
                <a:ea typeface="Lexend"/>
                <a:cs typeface="Lexend"/>
                <a:sym typeface="Lexend"/>
              </a:rPr>
              <a:t>iance</a:t>
            </a:r>
            <a:r>
              <a:rPr lang="en" sz="1100" i="0" u="none" strike="noStrike" cap="none">
                <a:solidFill>
                  <a:srgbClr val="0E4174"/>
                </a:solidFill>
                <a:latin typeface="Lexend"/>
                <a:ea typeface="Lexend"/>
                <a:cs typeface="Lexend"/>
                <a:sym typeface="Lexend"/>
              </a:rPr>
              <a:t> T</a:t>
            </a:r>
            <a:r>
              <a:rPr lang="en" sz="1100">
                <a:solidFill>
                  <a:srgbClr val="0E4174"/>
                </a:solidFill>
                <a:latin typeface="Lexend"/>
                <a:ea typeface="Lexend"/>
                <a:cs typeface="Lexend"/>
                <a:sym typeface="Lexend"/>
              </a:rPr>
              <a:t>rue</a:t>
            </a:r>
            <a:r>
              <a:rPr lang="en" sz="1100" i="0" u="none" strike="noStrike" cap="none">
                <a:solidFill>
                  <a:srgbClr val="0E4174"/>
                </a:solidFill>
                <a:latin typeface="Lexend"/>
                <a:ea typeface="Lexend"/>
                <a:cs typeface="Lexend"/>
                <a:sym typeface="Lexend"/>
              </a:rPr>
              <a:t> Rate)</a:t>
            </a:r>
            <a:endParaRPr sz="1100" i="0" u="none" strike="noStrike" cap="none">
              <a:solidFill>
                <a:schemeClr val="dk1"/>
              </a:solidFill>
              <a:latin typeface="Lexend"/>
              <a:ea typeface="Lexend"/>
              <a:cs typeface="Lexend"/>
              <a:sym typeface="Lexend"/>
            </a:endParaRPr>
          </a:p>
        </p:txBody>
      </p:sp>
      <p:sp>
        <p:nvSpPr>
          <p:cNvPr id="1242" name="Google Shape;1242;p73"/>
          <p:cNvSpPr/>
          <p:nvPr/>
        </p:nvSpPr>
        <p:spPr>
          <a:xfrm>
            <a:off x="4800600" y="1993002"/>
            <a:ext cx="3977700" cy="15339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73"/>
          <p:cNvSpPr/>
          <p:nvPr/>
        </p:nvSpPr>
        <p:spPr>
          <a:xfrm>
            <a:off x="4937761" y="2112989"/>
            <a:ext cx="3657600" cy="277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r>
              <a:rPr lang="en" sz="1100" i="0" u="none" strike="noStrike" cap="none">
                <a:solidFill>
                  <a:srgbClr val="0E4174"/>
                </a:solidFill>
                <a:latin typeface="Lexend"/>
                <a:ea typeface="Lexend"/>
                <a:cs typeface="Lexend"/>
                <a:sym typeface="Lexend"/>
              </a:rPr>
              <a:t>GDR (Good D</a:t>
            </a:r>
            <a:r>
              <a:rPr lang="en" sz="1100">
                <a:solidFill>
                  <a:srgbClr val="0E4174"/>
                </a:solidFill>
                <a:latin typeface="Lexend"/>
                <a:ea typeface="Lexend"/>
                <a:cs typeface="Lexend"/>
                <a:sym typeface="Lexend"/>
              </a:rPr>
              <a:t>river</a:t>
            </a:r>
            <a:r>
              <a:rPr lang="en" sz="1100" i="0" u="none" strike="noStrike" cap="none">
                <a:solidFill>
                  <a:srgbClr val="0E4174"/>
                </a:solidFill>
                <a:latin typeface="Lexend"/>
                <a:ea typeface="Lexend"/>
                <a:cs typeface="Lexend"/>
                <a:sym typeface="Lexend"/>
              </a:rPr>
              <a:t> Rate)</a:t>
            </a:r>
            <a:endParaRPr sz="1100" i="0" u="none" strike="noStrike" cap="none">
              <a:solidFill>
                <a:schemeClr val="dk1"/>
              </a:solidFill>
              <a:latin typeface="Lexend"/>
              <a:ea typeface="Lexend"/>
              <a:cs typeface="Lexend"/>
              <a:sym typeface="Lexend"/>
            </a:endParaRPr>
          </a:p>
        </p:txBody>
      </p:sp>
      <p:sp>
        <p:nvSpPr>
          <p:cNvPr id="1244" name="Google Shape;1244;p73"/>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sp>
        <p:nvSpPr>
          <p:cNvPr id="1245" name="Google Shape;1245;p73"/>
          <p:cNvSpPr/>
          <p:nvPr/>
        </p:nvSpPr>
        <p:spPr>
          <a:xfrm>
            <a:off x="502900" y="2391625"/>
            <a:ext cx="3657600" cy="1058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900"/>
              <a:buFont typeface="Calibri"/>
              <a:buNone/>
            </a:pPr>
            <a:r>
              <a:rPr lang="en" sz="1100" b="1">
                <a:solidFill>
                  <a:srgbClr val="F56C1F"/>
                </a:solidFill>
                <a:latin typeface="Lexend"/>
                <a:ea typeface="Lexend"/>
                <a:cs typeface="Lexend"/>
                <a:sym typeface="Lexend"/>
              </a:rPr>
              <a:t>HAN CTR</a:t>
            </a:r>
            <a:r>
              <a:rPr lang="en" sz="1100" b="1" i="0" u="none" strike="noStrike" cap="none">
                <a:solidFill>
                  <a:srgbClr val="F56C1F"/>
                </a:solidFill>
                <a:latin typeface="Lexend"/>
                <a:ea typeface="Lexend"/>
                <a:cs typeface="Lexend"/>
                <a:sym typeface="Lexend"/>
              </a:rPr>
              <a:t>: </a:t>
            </a:r>
            <a:r>
              <a:rPr lang="en" sz="1300" b="1">
                <a:solidFill>
                  <a:srgbClr val="1E293B"/>
                </a:solidFill>
                <a:latin typeface="Lexend"/>
                <a:ea typeface="Lexend"/>
                <a:cs typeface="Lexend"/>
                <a:sym typeface="Lexend"/>
              </a:rPr>
              <a:t>74.46%</a:t>
            </a:r>
            <a:r>
              <a:rPr lang="en" sz="1100" i="0" u="none" strike="noStrike" cap="none">
                <a:solidFill>
                  <a:srgbClr val="1E293B"/>
                </a:solidFill>
                <a:latin typeface="Lexend"/>
                <a:ea typeface="Lexend"/>
                <a:cs typeface="Lexend"/>
                <a:sym typeface="Lexend"/>
              </a:rPr>
              <a:t> |  Target: </a:t>
            </a:r>
            <a:r>
              <a:rPr lang="en" b="1" i="0" u="none" strike="noStrike" cap="none">
                <a:solidFill>
                  <a:srgbClr val="1E293B"/>
                </a:solidFill>
                <a:latin typeface="Lexend"/>
                <a:ea typeface="Lexend"/>
                <a:cs typeface="Lexend"/>
                <a:sym typeface="Lexend"/>
              </a:rPr>
              <a:t>1</a:t>
            </a:r>
            <a:r>
              <a:rPr lang="en" b="1">
                <a:solidFill>
                  <a:srgbClr val="1E293B"/>
                </a:solidFill>
                <a:latin typeface="Lexend"/>
                <a:ea typeface="Lexend"/>
                <a:cs typeface="Lexend"/>
                <a:sym typeface="Lexend"/>
              </a:rPr>
              <a:t>3</a:t>
            </a:r>
            <a:r>
              <a:rPr lang="en" b="1" i="0" u="none" strike="noStrike" cap="none">
                <a:solidFill>
                  <a:srgbClr val="1E293B"/>
                </a:solidFill>
                <a:latin typeface="Lexend"/>
                <a:ea typeface="Lexend"/>
                <a:cs typeface="Lexend"/>
                <a:sym typeface="Lexend"/>
              </a:rPr>
              <a:t>0%</a:t>
            </a:r>
            <a:endParaRPr b="1" i="0" u="none" strike="noStrike" cap="none">
              <a:solidFill>
                <a:schemeClr val="dk1"/>
              </a:solidFill>
              <a:latin typeface="Lexend"/>
              <a:ea typeface="Lexend"/>
              <a:cs typeface="Lexend"/>
              <a:sym typeface="Lexend"/>
            </a:endParaRPr>
          </a:p>
          <a:p>
            <a:pPr marL="0" marR="0" lvl="0" indent="0" algn="l" rtl="0">
              <a:spcBef>
                <a:spcPts val="400"/>
              </a:spcBef>
              <a:spcAft>
                <a:spcPts val="0"/>
              </a:spcAft>
              <a:buClr>
                <a:srgbClr val="1E293B"/>
              </a:buClr>
              <a:buSzPts val="900"/>
              <a:buFont typeface="Calibri"/>
              <a:buNone/>
            </a:pPr>
            <a:r>
              <a:rPr lang="en" sz="1100" i="0" u="none" strike="noStrike" cap="none">
                <a:solidFill>
                  <a:srgbClr val="1E293B"/>
                </a:solidFill>
                <a:latin typeface="Lexend"/>
                <a:ea typeface="Lexend"/>
                <a:cs typeface="Lexend"/>
                <a:sym typeface="Lexend"/>
              </a:rPr>
              <a:t>WoW: </a:t>
            </a:r>
            <a:r>
              <a:rPr lang="en" sz="1100">
                <a:solidFill>
                  <a:srgbClr val="1B8A5A"/>
                </a:solidFill>
                <a:latin typeface="Lexend"/>
                <a:ea typeface="Lexend"/>
                <a:cs typeface="Lexend"/>
                <a:sym typeface="Lexend"/>
              </a:rPr>
              <a:t>+0,57%</a:t>
            </a:r>
            <a:r>
              <a:rPr lang="en" sz="1100" i="0" u="none" strike="noStrike" cap="none">
                <a:solidFill>
                  <a:srgbClr val="1E293B"/>
                </a:solidFill>
                <a:latin typeface="Lexend"/>
                <a:ea typeface="Lexend"/>
                <a:cs typeface="Lexend"/>
                <a:sym typeface="Lexend"/>
              </a:rPr>
              <a:t>  |  Trend: </a:t>
            </a:r>
            <a:r>
              <a:rPr lang="en" sz="1100">
                <a:solidFill>
                  <a:srgbClr val="1B8A5A"/>
                </a:solidFill>
                <a:latin typeface="Lexend"/>
                <a:ea typeface="Lexend"/>
                <a:cs typeface="Lexend"/>
                <a:sym typeface="Lexend"/>
              </a:rPr>
              <a:t>↑</a:t>
            </a:r>
            <a:endParaRPr sz="1200">
              <a:solidFill>
                <a:schemeClr val="dk1"/>
              </a:solidFill>
              <a:highlight>
                <a:schemeClr val="lt1"/>
              </a:highlight>
            </a:endParaRPr>
          </a:p>
        </p:txBody>
      </p:sp>
      <p:sp>
        <p:nvSpPr>
          <p:cNvPr id="1246" name="Google Shape;1246;p73"/>
          <p:cNvSpPr/>
          <p:nvPr/>
        </p:nvSpPr>
        <p:spPr>
          <a:xfrm>
            <a:off x="4960650" y="2521922"/>
            <a:ext cx="3657600" cy="607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900"/>
              <a:buFont typeface="Calibri"/>
              <a:buNone/>
            </a:pPr>
            <a:r>
              <a:rPr lang="en" sz="1100" b="1">
                <a:solidFill>
                  <a:srgbClr val="F56C1F"/>
                </a:solidFill>
                <a:latin typeface="Lexend"/>
                <a:ea typeface="Lexend"/>
                <a:cs typeface="Lexend"/>
                <a:sym typeface="Lexend"/>
              </a:rPr>
              <a:t>HAN GDR</a:t>
            </a:r>
            <a:r>
              <a:rPr lang="en" sz="1100" b="1" i="0" u="none" strike="noStrike" cap="none">
                <a:solidFill>
                  <a:srgbClr val="F56C1F"/>
                </a:solidFill>
                <a:latin typeface="Lexend"/>
                <a:ea typeface="Lexend"/>
                <a:cs typeface="Lexend"/>
                <a:sym typeface="Lexend"/>
              </a:rPr>
              <a:t>: </a:t>
            </a:r>
            <a:r>
              <a:rPr lang="en" sz="1300" b="1">
                <a:solidFill>
                  <a:srgbClr val="1E293B"/>
                </a:solidFill>
                <a:latin typeface="Lexend"/>
                <a:ea typeface="Lexend"/>
                <a:cs typeface="Lexend"/>
                <a:sym typeface="Lexend"/>
              </a:rPr>
              <a:t>93.06%  </a:t>
            </a:r>
            <a:r>
              <a:rPr lang="en" sz="1100" i="0" u="none" strike="noStrike" cap="none">
                <a:solidFill>
                  <a:srgbClr val="1E293B"/>
                </a:solidFill>
                <a:latin typeface="Lexend"/>
                <a:ea typeface="Lexend"/>
                <a:cs typeface="Lexend"/>
                <a:sym typeface="Lexend"/>
              </a:rPr>
              <a:t> |  Target: </a:t>
            </a:r>
            <a:r>
              <a:rPr lang="en" b="1" i="0" u="none" strike="noStrike" cap="none">
                <a:solidFill>
                  <a:srgbClr val="1E293B"/>
                </a:solidFill>
                <a:latin typeface="Lexend"/>
                <a:ea typeface="Lexend"/>
                <a:cs typeface="Lexend"/>
                <a:sym typeface="Lexend"/>
              </a:rPr>
              <a:t>1</a:t>
            </a:r>
            <a:r>
              <a:rPr lang="en" b="1">
                <a:solidFill>
                  <a:srgbClr val="1E293B"/>
                </a:solidFill>
                <a:latin typeface="Lexend"/>
                <a:ea typeface="Lexend"/>
                <a:cs typeface="Lexend"/>
                <a:sym typeface="Lexend"/>
              </a:rPr>
              <a:t>0</a:t>
            </a:r>
            <a:r>
              <a:rPr lang="en" b="1" i="0" u="none" strike="noStrike" cap="none">
                <a:solidFill>
                  <a:srgbClr val="1E293B"/>
                </a:solidFill>
                <a:latin typeface="Lexend"/>
                <a:ea typeface="Lexend"/>
                <a:cs typeface="Lexend"/>
                <a:sym typeface="Lexend"/>
              </a:rPr>
              <a:t>0%</a:t>
            </a:r>
            <a:endParaRPr b="1" i="0" u="none" strike="noStrike" cap="none">
              <a:solidFill>
                <a:schemeClr val="dk1"/>
              </a:solidFill>
              <a:latin typeface="Lexend"/>
              <a:ea typeface="Lexend"/>
              <a:cs typeface="Lexend"/>
              <a:sym typeface="Lexend"/>
            </a:endParaRPr>
          </a:p>
          <a:p>
            <a:pPr marL="0" marR="0" lvl="0" indent="0" algn="l" rtl="0">
              <a:spcBef>
                <a:spcPts val="400"/>
              </a:spcBef>
              <a:spcAft>
                <a:spcPts val="0"/>
              </a:spcAft>
              <a:buClr>
                <a:srgbClr val="1E293B"/>
              </a:buClr>
              <a:buSzPts val="900"/>
              <a:buFont typeface="Calibri"/>
              <a:buNone/>
            </a:pPr>
            <a:r>
              <a:rPr lang="en" sz="1100" i="0" u="none" strike="noStrike" cap="none">
                <a:solidFill>
                  <a:srgbClr val="1E293B"/>
                </a:solidFill>
                <a:latin typeface="Lexend"/>
                <a:ea typeface="Lexend"/>
                <a:cs typeface="Lexend"/>
                <a:sym typeface="Lexend"/>
              </a:rPr>
              <a:t>WoW: </a:t>
            </a:r>
            <a:r>
              <a:rPr lang="en" sz="1100">
                <a:solidFill>
                  <a:srgbClr val="EF4444"/>
                </a:solidFill>
                <a:latin typeface="Lexend"/>
                <a:ea typeface="Lexend"/>
                <a:cs typeface="Lexend"/>
                <a:sym typeface="Lexend"/>
              </a:rPr>
              <a:t>-0.47%</a:t>
            </a:r>
            <a:r>
              <a:rPr lang="en" sz="1100" i="0" u="none" strike="noStrike" cap="none">
                <a:solidFill>
                  <a:srgbClr val="1E293B"/>
                </a:solidFill>
                <a:latin typeface="Lexend"/>
                <a:ea typeface="Lexend"/>
                <a:cs typeface="Lexend"/>
                <a:sym typeface="Lexend"/>
              </a:rPr>
              <a:t>  |  Trend: </a:t>
            </a:r>
            <a:r>
              <a:rPr lang="en" sz="1100">
                <a:solidFill>
                  <a:srgbClr val="EF4444"/>
                </a:solidFill>
                <a:latin typeface="Lexend"/>
                <a:ea typeface="Lexend"/>
                <a:cs typeface="Lexend"/>
                <a:sym typeface="Lexend"/>
              </a:rPr>
              <a:t>↓</a:t>
            </a:r>
            <a:endParaRPr sz="1100">
              <a:solidFill>
                <a:srgbClr val="1E293B"/>
              </a:solidFill>
              <a:latin typeface="Lexend"/>
              <a:ea typeface="Lexend"/>
              <a:cs typeface="Lexend"/>
              <a:sym typeface="Lexend"/>
            </a:endParaRPr>
          </a:p>
        </p:txBody>
      </p:sp>
      <p:sp>
        <p:nvSpPr>
          <p:cNvPr id="1247" name="Google Shape;1247;p73"/>
          <p:cNvSpPr/>
          <p:nvPr/>
        </p:nvSpPr>
        <p:spPr>
          <a:xfrm>
            <a:off x="368825" y="3683100"/>
            <a:ext cx="3940200" cy="12900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73"/>
          <p:cNvSpPr/>
          <p:nvPr/>
        </p:nvSpPr>
        <p:spPr>
          <a:xfrm>
            <a:off x="463150" y="3834462"/>
            <a:ext cx="2488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r>
              <a:rPr lang="en" sz="1100" i="0" u="none" strike="noStrike" cap="none">
                <a:solidFill>
                  <a:srgbClr val="0E4174"/>
                </a:solidFill>
                <a:latin typeface="Lexend"/>
                <a:ea typeface="Lexend"/>
                <a:cs typeface="Lexend"/>
                <a:sym typeface="Lexend"/>
              </a:rPr>
              <a:t>CTR </a:t>
            </a:r>
            <a:r>
              <a:rPr lang="en" sz="1100">
                <a:solidFill>
                  <a:srgbClr val="0E4174"/>
                </a:solidFill>
                <a:latin typeface="Lexend"/>
                <a:ea typeface="Lexend"/>
                <a:cs typeface="Lexend"/>
                <a:sym typeface="Lexend"/>
              </a:rPr>
              <a:t>(Compliance True Rate)</a:t>
            </a:r>
            <a:endParaRPr sz="1100" i="0" u="none" strike="noStrike" cap="none">
              <a:solidFill>
                <a:schemeClr val="dk1"/>
              </a:solidFill>
              <a:latin typeface="Lexend"/>
              <a:ea typeface="Lexend"/>
              <a:cs typeface="Lexend"/>
              <a:sym typeface="Lexend"/>
            </a:endParaRPr>
          </a:p>
        </p:txBody>
      </p:sp>
      <p:sp>
        <p:nvSpPr>
          <p:cNvPr id="1249" name="Google Shape;1249;p73"/>
          <p:cNvSpPr/>
          <p:nvPr/>
        </p:nvSpPr>
        <p:spPr>
          <a:xfrm>
            <a:off x="463150" y="4050988"/>
            <a:ext cx="2601900" cy="786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900"/>
              <a:buFont typeface="Calibri"/>
              <a:buNone/>
            </a:pPr>
            <a:r>
              <a:rPr lang="en" sz="1100" b="1" i="0" u="none" strike="noStrike" cap="none">
                <a:solidFill>
                  <a:srgbClr val="F56C1F"/>
                </a:solidFill>
                <a:latin typeface="Lexend"/>
                <a:ea typeface="Lexend"/>
                <a:cs typeface="Lexend"/>
                <a:sym typeface="Lexend"/>
              </a:rPr>
              <a:t>SGN CTR:</a:t>
            </a:r>
            <a:r>
              <a:rPr lang="en" sz="1100" i="0" u="none" strike="noStrike" cap="none">
                <a:solidFill>
                  <a:srgbClr val="1E293B"/>
                </a:solidFill>
                <a:latin typeface="Lexend"/>
                <a:ea typeface="Lexend"/>
                <a:cs typeface="Lexend"/>
                <a:sym typeface="Lexend"/>
              </a:rPr>
              <a:t> </a:t>
            </a:r>
            <a:r>
              <a:rPr lang="en" sz="1300" b="1">
                <a:solidFill>
                  <a:srgbClr val="1E293B"/>
                </a:solidFill>
                <a:latin typeface="Lexend"/>
                <a:ea typeface="Lexend"/>
                <a:cs typeface="Lexend"/>
                <a:sym typeface="Lexend"/>
              </a:rPr>
              <a:t>80.4% </a:t>
            </a:r>
            <a:r>
              <a:rPr lang="en" sz="1100" i="0" u="none" strike="noStrike" cap="none">
                <a:solidFill>
                  <a:srgbClr val="1E293B"/>
                </a:solidFill>
                <a:latin typeface="Lexend"/>
                <a:ea typeface="Lexend"/>
                <a:cs typeface="Lexend"/>
                <a:sym typeface="Lexend"/>
              </a:rPr>
              <a:t> |  Target: </a:t>
            </a:r>
            <a:r>
              <a:rPr lang="en" b="1" i="0" u="none" strike="noStrike" cap="none">
                <a:solidFill>
                  <a:srgbClr val="1E293B"/>
                </a:solidFill>
                <a:latin typeface="Lexend"/>
                <a:ea typeface="Lexend"/>
                <a:cs typeface="Lexend"/>
                <a:sym typeface="Lexend"/>
              </a:rPr>
              <a:t>130%</a:t>
            </a:r>
            <a:endParaRPr b="1" i="0" u="none" strike="noStrike" cap="none">
              <a:solidFill>
                <a:schemeClr val="dk1"/>
              </a:solidFill>
              <a:latin typeface="Lexend"/>
              <a:ea typeface="Lexend"/>
              <a:cs typeface="Lexend"/>
              <a:sym typeface="Lexend"/>
            </a:endParaRPr>
          </a:p>
          <a:p>
            <a:pPr marL="0" marR="0" lvl="0" indent="0" algn="l" rtl="0">
              <a:spcBef>
                <a:spcPts val="400"/>
              </a:spcBef>
              <a:spcAft>
                <a:spcPts val="0"/>
              </a:spcAft>
              <a:buClr>
                <a:srgbClr val="1E293B"/>
              </a:buClr>
              <a:buSzPts val="900"/>
              <a:buFont typeface="Calibri"/>
              <a:buNone/>
            </a:pPr>
            <a:r>
              <a:rPr lang="en" sz="1100" i="0" u="none" strike="noStrike" cap="none">
                <a:solidFill>
                  <a:srgbClr val="1E293B"/>
                </a:solidFill>
                <a:latin typeface="Lexend"/>
                <a:ea typeface="Lexend"/>
                <a:cs typeface="Lexend"/>
                <a:sym typeface="Lexend"/>
              </a:rPr>
              <a:t>WoW: </a:t>
            </a:r>
            <a:r>
              <a:rPr lang="en" sz="1100">
                <a:solidFill>
                  <a:srgbClr val="1B8A5A"/>
                </a:solidFill>
                <a:latin typeface="Lexend"/>
                <a:ea typeface="Lexend"/>
                <a:cs typeface="Lexend"/>
                <a:sym typeface="Lexend"/>
              </a:rPr>
              <a:t>+0,44%</a:t>
            </a:r>
            <a:r>
              <a:rPr lang="en" sz="1100">
                <a:solidFill>
                  <a:srgbClr val="1E293B"/>
                </a:solidFill>
                <a:latin typeface="Lexend"/>
                <a:ea typeface="Lexend"/>
                <a:cs typeface="Lexend"/>
                <a:sym typeface="Lexend"/>
              </a:rPr>
              <a:t> </a:t>
            </a:r>
            <a:r>
              <a:rPr lang="en" sz="1100" i="0" u="none" strike="noStrike" cap="none">
                <a:solidFill>
                  <a:srgbClr val="1E293B"/>
                </a:solidFill>
                <a:latin typeface="Lexend"/>
                <a:ea typeface="Lexend"/>
                <a:cs typeface="Lexend"/>
                <a:sym typeface="Lexend"/>
              </a:rPr>
              <a:t> |  Trend: </a:t>
            </a:r>
            <a:r>
              <a:rPr lang="en" sz="1100">
                <a:solidFill>
                  <a:srgbClr val="1B8A5A"/>
                </a:solidFill>
                <a:latin typeface="Lexend"/>
                <a:ea typeface="Lexend"/>
                <a:cs typeface="Lexend"/>
                <a:sym typeface="Lexend"/>
              </a:rPr>
              <a:t>↑</a:t>
            </a:r>
            <a:endParaRPr sz="1100">
              <a:solidFill>
                <a:srgbClr val="1E293B"/>
              </a:solidFill>
              <a:latin typeface="Lexend"/>
              <a:ea typeface="Lexend"/>
              <a:cs typeface="Lexend"/>
              <a:sym typeface="Lexend"/>
            </a:endParaRPr>
          </a:p>
        </p:txBody>
      </p:sp>
      <p:sp>
        <p:nvSpPr>
          <p:cNvPr id="1250" name="Google Shape;1250;p73"/>
          <p:cNvSpPr/>
          <p:nvPr/>
        </p:nvSpPr>
        <p:spPr>
          <a:xfrm>
            <a:off x="4788650" y="3683175"/>
            <a:ext cx="3977700" cy="12900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73"/>
          <p:cNvSpPr/>
          <p:nvPr/>
        </p:nvSpPr>
        <p:spPr>
          <a:xfrm>
            <a:off x="4886225" y="3843387"/>
            <a:ext cx="2601900" cy="265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r>
              <a:rPr lang="en" sz="1100" i="0" u="none" strike="noStrike" cap="none">
                <a:solidFill>
                  <a:srgbClr val="0E4174"/>
                </a:solidFill>
                <a:latin typeface="Lexend"/>
                <a:ea typeface="Lexend"/>
                <a:cs typeface="Lexend"/>
                <a:sym typeface="Lexend"/>
              </a:rPr>
              <a:t>GDR (Good </a:t>
            </a:r>
            <a:r>
              <a:rPr lang="en" sz="1100">
                <a:solidFill>
                  <a:srgbClr val="0E4174"/>
                </a:solidFill>
                <a:latin typeface="Lexend"/>
                <a:ea typeface="Lexend"/>
                <a:cs typeface="Lexend"/>
                <a:sym typeface="Lexend"/>
              </a:rPr>
              <a:t>Driver </a:t>
            </a:r>
            <a:r>
              <a:rPr lang="en" sz="1100" i="0" u="none" strike="noStrike" cap="none">
                <a:solidFill>
                  <a:srgbClr val="0E4174"/>
                </a:solidFill>
                <a:latin typeface="Lexend"/>
                <a:ea typeface="Lexend"/>
                <a:cs typeface="Lexend"/>
                <a:sym typeface="Lexend"/>
              </a:rPr>
              <a:t>Rate)</a:t>
            </a:r>
            <a:endParaRPr sz="1100" i="0" u="none" strike="noStrike" cap="none">
              <a:solidFill>
                <a:schemeClr val="dk1"/>
              </a:solidFill>
              <a:latin typeface="Lexend"/>
              <a:ea typeface="Lexend"/>
              <a:cs typeface="Lexend"/>
              <a:sym typeface="Lexend"/>
            </a:endParaRPr>
          </a:p>
        </p:txBody>
      </p:sp>
      <p:sp>
        <p:nvSpPr>
          <p:cNvPr id="1252" name="Google Shape;1252;p73"/>
          <p:cNvSpPr/>
          <p:nvPr/>
        </p:nvSpPr>
        <p:spPr>
          <a:xfrm>
            <a:off x="4886225" y="4099495"/>
            <a:ext cx="2702400" cy="719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900"/>
              <a:buFont typeface="Calibri"/>
              <a:buNone/>
            </a:pPr>
            <a:r>
              <a:rPr lang="en" sz="1100" b="1" i="0" u="none" strike="noStrike" cap="none">
                <a:solidFill>
                  <a:srgbClr val="F56C1F"/>
                </a:solidFill>
                <a:latin typeface="Lexend"/>
                <a:ea typeface="Lexend"/>
                <a:cs typeface="Lexend"/>
                <a:sym typeface="Lexend"/>
              </a:rPr>
              <a:t>SGN GDR:</a:t>
            </a:r>
            <a:r>
              <a:rPr lang="en" sz="1100" i="0" u="none" strike="noStrike" cap="none">
                <a:solidFill>
                  <a:srgbClr val="1E293B"/>
                </a:solidFill>
                <a:latin typeface="Lexend"/>
                <a:ea typeface="Lexend"/>
                <a:cs typeface="Lexend"/>
                <a:sym typeface="Lexend"/>
              </a:rPr>
              <a:t> </a:t>
            </a:r>
            <a:r>
              <a:rPr lang="en" b="1">
                <a:solidFill>
                  <a:srgbClr val="1E293B"/>
                </a:solidFill>
                <a:latin typeface="Lexend"/>
                <a:ea typeface="Lexend"/>
                <a:cs typeface="Lexend"/>
                <a:sym typeface="Lexend"/>
              </a:rPr>
              <a:t>96.03%</a:t>
            </a:r>
            <a:r>
              <a:rPr lang="en" sz="1100" i="0" u="none" strike="noStrike" cap="none">
                <a:solidFill>
                  <a:srgbClr val="1E293B"/>
                </a:solidFill>
                <a:latin typeface="Lexend"/>
                <a:ea typeface="Lexend"/>
                <a:cs typeface="Lexend"/>
                <a:sym typeface="Lexend"/>
              </a:rPr>
              <a:t>   |  Target: </a:t>
            </a:r>
            <a:r>
              <a:rPr lang="en" b="1" i="0" u="none" strike="noStrike" cap="none">
                <a:solidFill>
                  <a:srgbClr val="1E293B"/>
                </a:solidFill>
                <a:latin typeface="Lexend"/>
                <a:ea typeface="Lexend"/>
                <a:cs typeface="Lexend"/>
                <a:sym typeface="Lexend"/>
              </a:rPr>
              <a:t>1</a:t>
            </a:r>
            <a:r>
              <a:rPr lang="en" b="1">
                <a:solidFill>
                  <a:srgbClr val="1E293B"/>
                </a:solidFill>
                <a:latin typeface="Lexend"/>
                <a:ea typeface="Lexend"/>
                <a:cs typeface="Lexend"/>
                <a:sym typeface="Lexend"/>
              </a:rPr>
              <a:t>10</a:t>
            </a:r>
            <a:r>
              <a:rPr lang="en" b="1" i="0" u="none" strike="noStrike" cap="none">
                <a:solidFill>
                  <a:srgbClr val="1E293B"/>
                </a:solidFill>
                <a:latin typeface="Lexend"/>
                <a:ea typeface="Lexend"/>
                <a:cs typeface="Lexend"/>
                <a:sym typeface="Lexend"/>
              </a:rPr>
              <a:t>%</a:t>
            </a:r>
            <a:endParaRPr b="1" i="0" u="none" strike="noStrike" cap="none">
              <a:solidFill>
                <a:schemeClr val="dk1"/>
              </a:solidFill>
              <a:latin typeface="Lexend"/>
              <a:ea typeface="Lexend"/>
              <a:cs typeface="Lexend"/>
              <a:sym typeface="Lexend"/>
            </a:endParaRPr>
          </a:p>
          <a:p>
            <a:pPr marL="0" marR="0" lvl="0" indent="0" algn="l" rtl="0">
              <a:spcBef>
                <a:spcPts val="400"/>
              </a:spcBef>
              <a:spcAft>
                <a:spcPts val="0"/>
              </a:spcAft>
              <a:buClr>
                <a:srgbClr val="1E293B"/>
              </a:buClr>
              <a:buSzPts val="900"/>
              <a:buFont typeface="Calibri"/>
              <a:buNone/>
            </a:pPr>
            <a:r>
              <a:rPr lang="en" sz="1100" i="0" u="none" strike="noStrike" cap="none">
                <a:solidFill>
                  <a:srgbClr val="1E293B"/>
                </a:solidFill>
                <a:latin typeface="Lexend"/>
                <a:ea typeface="Lexend"/>
                <a:cs typeface="Lexend"/>
                <a:sym typeface="Lexend"/>
              </a:rPr>
              <a:t>WoW: </a:t>
            </a:r>
            <a:r>
              <a:rPr lang="en" sz="1100">
                <a:solidFill>
                  <a:srgbClr val="DC2626"/>
                </a:solidFill>
                <a:latin typeface="Lexend"/>
                <a:ea typeface="Lexend"/>
                <a:cs typeface="Lexend"/>
                <a:sym typeface="Lexend"/>
              </a:rPr>
              <a:t>-0</a:t>
            </a:r>
            <a:r>
              <a:rPr lang="en" sz="1100">
                <a:solidFill>
                  <a:srgbClr val="EF4444"/>
                </a:solidFill>
                <a:latin typeface="Lexend"/>
                <a:ea typeface="Lexend"/>
                <a:cs typeface="Lexend"/>
                <a:sym typeface="Lexend"/>
              </a:rPr>
              <a:t>.22%</a:t>
            </a:r>
            <a:r>
              <a:rPr lang="en" sz="1100" i="0" u="none" strike="noStrike" cap="none">
                <a:solidFill>
                  <a:srgbClr val="1E293B"/>
                </a:solidFill>
                <a:latin typeface="Lexend"/>
                <a:ea typeface="Lexend"/>
                <a:cs typeface="Lexend"/>
                <a:sym typeface="Lexend"/>
              </a:rPr>
              <a:t>  |  Trend: </a:t>
            </a:r>
            <a:r>
              <a:rPr lang="en" sz="1100">
                <a:solidFill>
                  <a:srgbClr val="EF4444"/>
                </a:solidFill>
                <a:latin typeface="Lexend"/>
                <a:ea typeface="Lexend"/>
                <a:cs typeface="Lexend"/>
                <a:sym typeface="Lexend"/>
              </a:rPr>
              <a:t>↓</a:t>
            </a:r>
            <a:endParaRPr sz="1100" i="0" u="none" strike="noStrike" cap="none">
              <a:solidFill>
                <a:srgbClr val="EF4444"/>
              </a:solidFill>
              <a:latin typeface="Lexend"/>
              <a:ea typeface="Lexend"/>
              <a:cs typeface="Lexend"/>
              <a:sym typeface="Lexend"/>
            </a:endParaRPr>
          </a:p>
        </p:txBody>
      </p:sp>
      <p:sp>
        <p:nvSpPr>
          <p:cNvPr id="1253" name="Google Shape;1253;p73"/>
          <p:cNvSpPr/>
          <p:nvPr/>
        </p:nvSpPr>
        <p:spPr>
          <a:xfrm>
            <a:off x="4754700" y="3687300"/>
            <a:ext cx="37500" cy="1290000"/>
          </a:xfrm>
          <a:prstGeom prst="rect">
            <a:avLst/>
          </a:prstGeom>
          <a:solidFill>
            <a:srgbClr val="1C4587"/>
          </a:solidFill>
          <a:ln>
            <a:noFill/>
          </a:ln>
        </p:spPr>
        <p:txBody>
          <a:bodyPr spcFirstLastPara="1" wrap="square" lIns="75550" tIns="75550" rIns="75550" bIns="75550" anchor="ctr" anchorCtr="0">
            <a:noAutofit/>
          </a:bodyPr>
          <a:lstStyle/>
          <a:p>
            <a:pPr marL="0" lvl="0" indent="0" algn="l" rtl="0">
              <a:spcBef>
                <a:spcPts val="0"/>
              </a:spcBef>
              <a:spcAft>
                <a:spcPts val="0"/>
              </a:spcAft>
              <a:buNone/>
            </a:pPr>
            <a:endParaRPr/>
          </a:p>
        </p:txBody>
      </p:sp>
      <p:sp>
        <p:nvSpPr>
          <p:cNvPr id="1254" name="Google Shape;1254;p73"/>
          <p:cNvSpPr/>
          <p:nvPr/>
        </p:nvSpPr>
        <p:spPr>
          <a:xfrm>
            <a:off x="331321" y="3683100"/>
            <a:ext cx="37500" cy="1294200"/>
          </a:xfrm>
          <a:prstGeom prst="rect">
            <a:avLst/>
          </a:prstGeom>
          <a:solidFill>
            <a:srgbClr val="1C4587"/>
          </a:solidFill>
          <a:ln>
            <a:noFill/>
          </a:ln>
        </p:spPr>
        <p:txBody>
          <a:bodyPr spcFirstLastPara="1" wrap="square" lIns="75550" tIns="75550" rIns="75550" bIns="75550" anchor="ctr" anchorCtr="0">
            <a:noAutofit/>
          </a:bodyPr>
          <a:lstStyle/>
          <a:p>
            <a:pPr marL="0" lvl="0" indent="0" algn="l" rtl="0">
              <a:spcBef>
                <a:spcPts val="0"/>
              </a:spcBef>
              <a:spcAft>
                <a:spcPts val="0"/>
              </a:spcAft>
              <a:buNone/>
            </a:pPr>
            <a:endParaRPr/>
          </a:p>
        </p:txBody>
      </p:sp>
      <p:sp>
        <p:nvSpPr>
          <p:cNvPr id="1255" name="Google Shape;1255;p73"/>
          <p:cNvSpPr/>
          <p:nvPr/>
        </p:nvSpPr>
        <p:spPr>
          <a:xfrm>
            <a:off x="4763101" y="1997200"/>
            <a:ext cx="37500" cy="1518000"/>
          </a:xfrm>
          <a:prstGeom prst="rect">
            <a:avLst/>
          </a:prstGeom>
          <a:solidFill>
            <a:srgbClr val="F56C1F"/>
          </a:solidFill>
          <a:ln>
            <a:noFill/>
          </a:ln>
        </p:spPr>
        <p:txBody>
          <a:bodyPr spcFirstLastPara="1" wrap="square" lIns="75550" tIns="75550" rIns="75550" bIns="75550" anchor="ctr" anchorCtr="0">
            <a:noAutofit/>
          </a:bodyPr>
          <a:lstStyle/>
          <a:p>
            <a:pPr marL="0" lvl="0" indent="0" algn="l" rtl="0">
              <a:spcBef>
                <a:spcPts val="0"/>
              </a:spcBef>
              <a:spcAft>
                <a:spcPts val="0"/>
              </a:spcAft>
              <a:buNone/>
            </a:pPr>
            <a:endParaRPr/>
          </a:p>
        </p:txBody>
      </p:sp>
      <p:sp>
        <p:nvSpPr>
          <p:cNvPr id="1256" name="Google Shape;1256;p73"/>
          <p:cNvSpPr/>
          <p:nvPr/>
        </p:nvSpPr>
        <p:spPr>
          <a:xfrm>
            <a:off x="328250" y="1993000"/>
            <a:ext cx="37500" cy="1518000"/>
          </a:xfrm>
          <a:prstGeom prst="rect">
            <a:avLst/>
          </a:prstGeom>
          <a:solidFill>
            <a:srgbClr val="F56C1F"/>
          </a:solidFill>
          <a:ln>
            <a:noFill/>
          </a:ln>
        </p:spPr>
        <p:txBody>
          <a:bodyPr spcFirstLastPara="1" wrap="square" lIns="75550" tIns="75550" rIns="75550" bIns="75550" anchor="ctr" anchorCtr="0">
            <a:noAutofit/>
          </a:bodyPr>
          <a:lstStyle/>
          <a:p>
            <a:pPr marL="0" lvl="0" indent="0" algn="l" rtl="0">
              <a:spcBef>
                <a:spcPts val="0"/>
              </a:spcBef>
              <a:spcAft>
                <a:spcPts val="0"/>
              </a:spcAft>
              <a:buNone/>
            </a:pPr>
            <a:endParaRPr/>
          </a:p>
        </p:txBody>
      </p:sp>
      <p:sp>
        <p:nvSpPr>
          <p:cNvPr id="1257" name="Google Shape;1257;p73"/>
          <p:cNvSpPr/>
          <p:nvPr/>
        </p:nvSpPr>
        <p:spPr>
          <a:xfrm>
            <a:off x="365750" y="1024357"/>
            <a:ext cx="8412600" cy="828300"/>
          </a:xfrm>
          <a:prstGeom prst="rect">
            <a:avLst/>
          </a:prstGeom>
          <a:solidFill>
            <a:srgbClr val="E8F0FE"/>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Lexend Medium"/>
              <a:ea typeface="Lexend Medium"/>
              <a:cs typeface="Lexend Medium"/>
              <a:sym typeface="Lexend Medium"/>
            </a:endParaRPr>
          </a:p>
        </p:txBody>
      </p:sp>
      <p:sp>
        <p:nvSpPr>
          <p:cNvPr id="1258" name="Google Shape;1258;p73"/>
          <p:cNvSpPr txBox="1"/>
          <p:nvPr/>
        </p:nvSpPr>
        <p:spPr>
          <a:xfrm>
            <a:off x="502900" y="1101376"/>
            <a:ext cx="3248100" cy="89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latin typeface="Lexend Medium"/>
                <a:ea typeface="Lexend Medium"/>
                <a:cs typeface="Lexend Medium"/>
                <a:sym typeface="Lexend Medium"/>
              </a:rPr>
              <a:t>[NW] CTR: </a:t>
            </a:r>
            <a:r>
              <a:rPr lang="en" sz="1500" b="1">
                <a:solidFill>
                  <a:srgbClr val="34A853"/>
                </a:solidFill>
                <a:latin typeface="Lexend"/>
                <a:ea typeface="Lexend"/>
                <a:cs typeface="Lexend"/>
                <a:sym typeface="Lexend"/>
              </a:rPr>
              <a:t>78.03%</a:t>
            </a:r>
            <a:r>
              <a:rPr lang="en">
                <a:solidFill>
                  <a:schemeClr val="dk1"/>
                </a:solidFill>
                <a:latin typeface="Lexend Medium"/>
                <a:ea typeface="Lexend Medium"/>
                <a:cs typeface="Lexend Medium"/>
                <a:sym typeface="Lexend Medium"/>
              </a:rPr>
              <a:t> | </a:t>
            </a:r>
            <a:r>
              <a:rPr lang="en">
                <a:solidFill>
                  <a:schemeClr val="dk1"/>
                </a:solidFill>
                <a:latin typeface="Lexend Light"/>
                <a:ea typeface="Lexend Light"/>
                <a:cs typeface="Lexend Light"/>
                <a:sym typeface="Lexend Light"/>
              </a:rPr>
              <a:t>Target</a:t>
            </a:r>
            <a:r>
              <a:rPr lang="en">
                <a:solidFill>
                  <a:schemeClr val="dk1"/>
                </a:solidFill>
                <a:latin typeface="Lexend Medium"/>
                <a:ea typeface="Lexend Medium"/>
                <a:cs typeface="Lexend Medium"/>
                <a:sym typeface="Lexend Medium"/>
              </a:rPr>
              <a:t>: </a:t>
            </a:r>
            <a:r>
              <a:rPr lang="en" sz="1600" b="1">
                <a:solidFill>
                  <a:srgbClr val="34A853"/>
                </a:solidFill>
                <a:latin typeface="Lexend"/>
                <a:ea typeface="Lexend"/>
                <a:cs typeface="Lexend"/>
                <a:sym typeface="Lexend"/>
              </a:rPr>
              <a:t>130%</a:t>
            </a:r>
            <a:endParaRPr sz="1600" b="1">
              <a:solidFill>
                <a:srgbClr val="34A853"/>
              </a:solidFill>
              <a:latin typeface="Lexend"/>
              <a:ea typeface="Lexend"/>
              <a:cs typeface="Lexend"/>
              <a:sym typeface="Lexend"/>
            </a:endParaRPr>
          </a:p>
          <a:p>
            <a:pPr marL="0" lvl="0" indent="0" algn="l" rtl="0">
              <a:spcBef>
                <a:spcPts val="400"/>
              </a:spcBef>
              <a:spcAft>
                <a:spcPts val="0"/>
              </a:spcAft>
              <a:buClr>
                <a:srgbClr val="1E293B"/>
              </a:buClr>
              <a:buSzPts val="900"/>
              <a:buFont typeface="Calibri"/>
              <a:buNone/>
            </a:pPr>
            <a:r>
              <a:rPr lang="en" sz="1100">
                <a:solidFill>
                  <a:srgbClr val="1E293B"/>
                </a:solidFill>
                <a:latin typeface="Lexend"/>
                <a:ea typeface="Lexend"/>
                <a:cs typeface="Lexend"/>
                <a:sym typeface="Lexend"/>
              </a:rPr>
              <a:t>WoW: </a:t>
            </a:r>
            <a:r>
              <a:rPr lang="en" sz="1100">
                <a:solidFill>
                  <a:srgbClr val="1B8A5A"/>
                </a:solidFill>
                <a:latin typeface="Lexend"/>
                <a:ea typeface="Lexend"/>
                <a:cs typeface="Lexend"/>
                <a:sym typeface="Lexend"/>
              </a:rPr>
              <a:t>+0.48%</a:t>
            </a:r>
            <a:r>
              <a:rPr lang="en" sz="1100">
                <a:solidFill>
                  <a:srgbClr val="1E293B"/>
                </a:solidFill>
                <a:latin typeface="Lexend"/>
                <a:ea typeface="Lexend"/>
                <a:cs typeface="Lexend"/>
                <a:sym typeface="Lexend"/>
              </a:rPr>
              <a:t>  |  Trend: </a:t>
            </a:r>
            <a:r>
              <a:rPr lang="en" sz="1100">
                <a:solidFill>
                  <a:srgbClr val="1B8A5A"/>
                </a:solidFill>
                <a:latin typeface="Lexend"/>
                <a:ea typeface="Lexend"/>
                <a:cs typeface="Lexend"/>
                <a:sym typeface="Lexend"/>
              </a:rPr>
              <a:t>↑</a:t>
            </a:r>
            <a:endParaRPr sz="1100">
              <a:solidFill>
                <a:srgbClr val="1B8A5A"/>
              </a:solidFill>
              <a:latin typeface="Lexend"/>
              <a:ea typeface="Lexend"/>
              <a:cs typeface="Lexend"/>
              <a:sym typeface="Lexend"/>
            </a:endParaRPr>
          </a:p>
          <a:p>
            <a:pPr marL="0" lvl="0" indent="0" algn="l" rtl="0">
              <a:spcBef>
                <a:spcPts val="0"/>
              </a:spcBef>
              <a:spcAft>
                <a:spcPts val="0"/>
              </a:spcAft>
              <a:buNone/>
            </a:pPr>
            <a:endParaRPr sz="1600">
              <a:solidFill>
                <a:srgbClr val="34A853"/>
              </a:solidFill>
              <a:latin typeface="Lexend Medium"/>
              <a:ea typeface="Lexend Medium"/>
              <a:cs typeface="Lexend Medium"/>
              <a:sym typeface="Lexend Medium"/>
            </a:endParaRPr>
          </a:p>
        </p:txBody>
      </p:sp>
      <p:sp>
        <p:nvSpPr>
          <p:cNvPr id="1259" name="Google Shape;1259;p73"/>
          <p:cNvSpPr/>
          <p:nvPr/>
        </p:nvSpPr>
        <p:spPr>
          <a:xfrm>
            <a:off x="328250" y="1024350"/>
            <a:ext cx="37500" cy="828300"/>
          </a:xfrm>
          <a:prstGeom prst="rect">
            <a:avLst/>
          </a:prstGeom>
          <a:solidFill>
            <a:srgbClr val="F56C1F"/>
          </a:solidFill>
          <a:ln>
            <a:noFill/>
          </a:ln>
        </p:spPr>
        <p:txBody>
          <a:bodyPr spcFirstLastPara="1" wrap="square" lIns="75550" tIns="75550" rIns="75550" bIns="75550" anchor="ctr" anchorCtr="0">
            <a:noAutofit/>
          </a:bodyPr>
          <a:lstStyle/>
          <a:p>
            <a:pPr marL="0" lvl="0" indent="0" algn="l" rtl="0">
              <a:spcBef>
                <a:spcPts val="0"/>
              </a:spcBef>
              <a:spcAft>
                <a:spcPts val="0"/>
              </a:spcAft>
              <a:buNone/>
            </a:pPr>
            <a:endParaRPr/>
          </a:p>
        </p:txBody>
      </p:sp>
      <p:sp>
        <p:nvSpPr>
          <p:cNvPr id="1260" name="Google Shape;1260;p73"/>
          <p:cNvSpPr/>
          <p:nvPr/>
        </p:nvSpPr>
        <p:spPr>
          <a:xfrm>
            <a:off x="368823" y="1024350"/>
            <a:ext cx="37500" cy="828300"/>
          </a:xfrm>
          <a:prstGeom prst="rect">
            <a:avLst/>
          </a:prstGeom>
          <a:solidFill>
            <a:srgbClr val="1C4587"/>
          </a:solidFill>
          <a:ln>
            <a:noFill/>
          </a:ln>
        </p:spPr>
        <p:txBody>
          <a:bodyPr spcFirstLastPara="1" wrap="square" lIns="75550" tIns="75550" rIns="75550" bIns="75550" anchor="ctr" anchorCtr="0">
            <a:noAutofit/>
          </a:bodyPr>
          <a:lstStyle/>
          <a:p>
            <a:pPr marL="0" lvl="0" indent="0" algn="l" rtl="0">
              <a:spcBef>
                <a:spcPts val="0"/>
              </a:spcBef>
              <a:spcAft>
                <a:spcPts val="0"/>
              </a:spcAft>
              <a:buNone/>
            </a:pPr>
            <a:endParaRPr/>
          </a:p>
        </p:txBody>
      </p:sp>
      <p:sp>
        <p:nvSpPr>
          <p:cNvPr id="1261" name="Google Shape;1261;p73"/>
          <p:cNvSpPr txBox="1"/>
          <p:nvPr/>
        </p:nvSpPr>
        <p:spPr>
          <a:xfrm>
            <a:off x="4833675" y="1082575"/>
            <a:ext cx="3657600" cy="688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a:solidFill>
                  <a:schemeClr val="dk1"/>
                </a:solidFill>
                <a:latin typeface="Lexend Medium"/>
                <a:ea typeface="Lexend Medium"/>
                <a:cs typeface="Lexend Medium"/>
                <a:sym typeface="Lexend Medium"/>
              </a:rPr>
              <a:t>[NW] GDR: </a:t>
            </a:r>
            <a:r>
              <a:rPr lang="en" sz="1500" b="1">
                <a:solidFill>
                  <a:srgbClr val="34A853"/>
                </a:solidFill>
                <a:latin typeface="Lexend"/>
                <a:ea typeface="Lexend"/>
                <a:cs typeface="Lexend"/>
                <a:sym typeface="Lexend"/>
              </a:rPr>
              <a:t>94.64%</a:t>
            </a:r>
            <a:r>
              <a:rPr lang="en">
                <a:solidFill>
                  <a:schemeClr val="dk1"/>
                </a:solidFill>
                <a:latin typeface="Lexend Medium"/>
                <a:ea typeface="Lexend Medium"/>
                <a:cs typeface="Lexend Medium"/>
                <a:sym typeface="Lexend Medium"/>
              </a:rPr>
              <a:t> | </a:t>
            </a:r>
            <a:r>
              <a:rPr lang="en">
                <a:solidFill>
                  <a:schemeClr val="dk1"/>
                </a:solidFill>
                <a:latin typeface="Lexend Light"/>
                <a:ea typeface="Lexend Light"/>
                <a:cs typeface="Lexend Light"/>
                <a:sym typeface="Lexend Light"/>
              </a:rPr>
              <a:t>Target</a:t>
            </a:r>
            <a:r>
              <a:rPr lang="en">
                <a:solidFill>
                  <a:schemeClr val="dk1"/>
                </a:solidFill>
                <a:latin typeface="Lexend Medium"/>
                <a:ea typeface="Lexend Medium"/>
                <a:cs typeface="Lexend Medium"/>
                <a:sym typeface="Lexend Medium"/>
              </a:rPr>
              <a:t>: </a:t>
            </a:r>
            <a:r>
              <a:rPr lang="en" sz="1600" b="1">
                <a:solidFill>
                  <a:srgbClr val="34A853"/>
                </a:solidFill>
                <a:latin typeface="Lexend"/>
                <a:ea typeface="Lexend"/>
                <a:cs typeface="Lexend"/>
                <a:sym typeface="Lexend"/>
              </a:rPr>
              <a:t>110%</a:t>
            </a:r>
            <a:endParaRPr sz="1600" b="1">
              <a:solidFill>
                <a:srgbClr val="34A853"/>
              </a:solidFill>
              <a:latin typeface="Lexend"/>
              <a:ea typeface="Lexend"/>
              <a:cs typeface="Lexend"/>
              <a:sym typeface="Lexend"/>
            </a:endParaRPr>
          </a:p>
          <a:p>
            <a:pPr marL="0" lvl="0" indent="0" algn="l" rtl="0">
              <a:spcBef>
                <a:spcPts val="400"/>
              </a:spcBef>
              <a:spcAft>
                <a:spcPts val="0"/>
              </a:spcAft>
              <a:buNone/>
            </a:pPr>
            <a:r>
              <a:rPr lang="en" sz="1100">
                <a:solidFill>
                  <a:srgbClr val="1E293B"/>
                </a:solidFill>
                <a:latin typeface="Lexend"/>
                <a:ea typeface="Lexend"/>
                <a:cs typeface="Lexend"/>
                <a:sym typeface="Lexend"/>
              </a:rPr>
              <a:t>WoW: </a:t>
            </a:r>
            <a:r>
              <a:rPr lang="en" sz="1100">
                <a:solidFill>
                  <a:srgbClr val="EF4444"/>
                </a:solidFill>
                <a:latin typeface="Lexend"/>
                <a:ea typeface="Lexend"/>
                <a:cs typeface="Lexend"/>
                <a:sym typeface="Lexend"/>
              </a:rPr>
              <a:t>-0.52%</a:t>
            </a:r>
            <a:r>
              <a:rPr lang="en" sz="1100">
                <a:solidFill>
                  <a:srgbClr val="1E293B"/>
                </a:solidFill>
                <a:latin typeface="Lexend"/>
                <a:ea typeface="Lexend"/>
                <a:cs typeface="Lexend"/>
                <a:sym typeface="Lexend"/>
              </a:rPr>
              <a:t> |  Trend: </a:t>
            </a:r>
            <a:r>
              <a:rPr lang="en" sz="1100">
                <a:solidFill>
                  <a:srgbClr val="EF4444"/>
                </a:solidFill>
                <a:latin typeface="Lexend"/>
                <a:ea typeface="Lexend"/>
                <a:cs typeface="Lexend"/>
                <a:sym typeface="Lexend"/>
              </a:rPr>
              <a:t>↓</a:t>
            </a:r>
            <a:endParaRPr sz="1600">
              <a:solidFill>
                <a:srgbClr val="EF4444"/>
              </a:solidFill>
              <a:latin typeface="Lexend Medium"/>
              <a:ea typeface="Lexend Medium"/>
              <a:cs typeface="Lexend Medium"/>
              <a:sym typeface="Lexend Medium"/>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266"/>
        <p:cNvGrpSpPr/>
        <p:nvPr/>
      </p:nvGrpSpPr>
      <p:grpSpPr>
        <a:xfrm>
          <a:off x="0" y="0"/>
          <a:ext cx="0" cy="0"/>
          <a:chOff x="0" y="0"/>
          <a:chExt cx="0" cy="0"/>
        </a:xfrm>
      </p:grpSpPr>
      <p:sp>
        <p:nvSpPr>
          <p:cNvPr id="1267" name="Google Shape;1267;p74"/>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68" name="Google Shape;1268;p74" descr="preencoded.png"/>
          <p:cNvPicPr preferRelativeResize="0"/>
          <p:nvPr/>
        </p:nvPicPr>
        <p:blipFill rotWithShape="1">
          <a:blip r:embed="rId3">
            <a:alphaModFix/>
          </a:blip>
          <a:srcRect/>
          <a:stretch/>
        </p:blipFill>
        <p:spPr>
          <a:xfrm>
            <a:off x="365760" y="274320"/>
            <a:ext cx="274320" cy="274320"/>
          </a:xfrm>
          <a:prstGeom prst="rect">
            <a:avLst/>
          </a:prstGeom>
          <a:noFill/>
          <a:ln>
            <a:noFill/>
          </a:ln>
        </p:spPr>
      </p:pic>
      <p:sp>
        <p:nvSpPr>
          <p:cNvPr id="1269" name="Google Shape;1269;p74"/>
          <p:cNvSpPr/>
          <p:nvPr/>
        </p:nvSpPr>
        <p:spPr>
          <a:xfrm>
            <a:off x="731524" y="201175"/>
            <a:ext cx="59034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a:solidFill>
                  <a:srgbClr val="0E4174"/>
                </a:solidFill>
                <a:latin typeface="Lexend"/>
                <a:ea typeface="Lexend"/>
                <a:cs typeface="Lexend"/>
                <a:sym typeface="Lexend"/>
              </a:rPr>
              <a:t>Communications</a:t>
            </a:r>
            <a:r>
              <a:rPr lang="en" sz="2200" b="1" i="0" u="none" strike="noStrike" cap="none">
                <a:solidFill>
                  <a:srgbClr val="0E4174"/>
                </a:solidFill>
                <a:latin typeface="Lexend"/>
                <a:ea typeface="Lexend"/>
                <a:cs typeface="Lexend"/>
                <a:sym typeface="Lexend"/>
              </a:rPr>
              <a:t>: Highlights &amp; Lowlights</a:t>
            </a:r>
            <a:endParaRPr sz="2200" b="1" i="0" u="none" strike="noStrike" cap="none">
              <a:solidFill>
                <a:schemeClr val="dk1"/>
              </a:solidFill>
              <a:latin typeface="Lexend"/>
              <a:ea typeface="Lexend"/>
              <a:cs typeface="Lexend"/>
              <a:sym typeface="Lexend"/>
            </a:endParaRPr>
          </a:p>
        </p:txBody>
      </p:sp>
      <p:sp>
        <p:nvSpPr>
          <p:cNvPr id="1270" name="Google Shape;1270;p74"/>
          <p:cNvSpPr/>
          <p:nvPr/>
        </p:nvSpPr>
        <p:spPr>
          <a:xfrm>
            <a:off x="731520" y="594360"/>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 sz="1000" i="1" u="none" strike="noStrike" cap="none">
                <a:solidFill>
                  <a:srgbClr val="64748B"/>
                </a:solidFill>
                <a:latin typeface="Lexend"/>
                <a:ea typeface="Lexend"/>
                <a:cs typeface="Lexend"/>
                <a:sym typeface="Lexend"/>
              </a:rPr>
              <a:t>Trọng tâm tuần — Kết quả thực thi &amp; Kế hoạch hành động</a:t>
            </a:r>
            <a:endParaRPr sz="1000" i="0" u="none" strike="noStrike" cap="none">
              <a:solidFill>
                <a:schemeClr val="dk1"/>
              </a:solidFill>
              <a:latin typeface="Lexend"/>
              <a:ea typeface="Lexend"/>
              <a:cs typeface="Lexend"/>
              <a:sym typeface="Lexend"/>
            </a:endParaRPr>
          </a:p>
        </p:txBody>
      </p:sp>
      <p:cxnSp>
        <p:nvCxnSpPr>
          <p:cNvPr id="1271" name="Google Shape;1271;p74"/>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1272" name="Google Shape;1272;p74"/>
          <p:cNvSpPr/>
          <p:nvPr/>
        </p:nvSpPr>
        <p:spPr>
          <a:xfrm>
            <a:off x="145125" y="957450"/>
            <a:ext cx="4494000" cy="16758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74"/>
          <p:cNvSpPr/>
          <p:nvPr/>
        </p:nvSpPr>
        <p:spPr>
          <a:xfrm>
            <a:off x="144875" y="968478"/>
            <a:ext cx="59100" cy="1675800"/>
          </a:xfrm>
          <a:prstGeom prst="rect">
            <a:avLst/>
          </a:prstGeom>
          <a:solidFill>
            <a:srgbClr val="10B9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74"/>
          <p:cNvSpPr/>
          <p:nvPr/>
        </p:nvSpPr>
        <p:spPr>
          <a:xfrm>
            <a:off x="603965" y="1044411"/>
            <a:ext cx="2869200" cy="133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0B981"/>
              </a:buClr>
              <a:buSzPts val="1200"/>
              <a:buFont typeface="Calibri"/>
              <a:buNone/>
            </a:pPr>
            <a:r>
              <a:rPr lang="en" sz="1200" i="0" u="none" strike="noStrike" cap="none">
                <a:solidFill>
                  <a:srgbClr val="10B981"/>
                </a:solidFill>
                <a:latin typeface="Lexend"/>
                <a:ea typeface="Lexend"/>
                <a:cs typeface="Lexend"/>
                <a:sym typeface="Lexend"/>
              </a:rPr>
              <a:t>HIGHLIGHTS</a:t>
            </a:r>
            <a:endParaRPr sz="1200" i="0" u="none" strike="noStrike" cap="none">
              <a:solidFill>
                <a:schemeClr val="dk1"/>
              </a:solidFill>
              <a:latin typeface="Lexend"/>
              <a:ea typeface="Lexend"/>
              <a:cs typeface="Lexend"/>
              <a:sym typeface="Lexend"/>
            </a:endParaRPr>
          </a:p>
        </p:txBody>
      </p:sp>
      <p:sp>
        <p:nvSpPr>
          <p:cNvPr id="1275" name="Google Shape;1275;p74"/>
          <p:cNvSpPr/>
          <p:nvPr/>
        </p:nvSpPr>
        <p:spPr>
          <a:xfrm>
            <a:off x="312025" y="1205550"/>
            <a:ext cx="4297200" cy="1387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00" b="1">
                <a:solidFill>
                  <a:srgbClr val="0E4174"/>
                </a:solidFill>
                <a:latin typeface="Lexend"/>
                <a:ea typeface="Lexend"/>
                <a:cs typeface="Lexend"/>
                <a:sym typeface="Lexend"/>
              </a:rPr>
              <a:t>EV</a:t>
            </a:r>
            <a:endParaRPr sz="900" b="1">
              <a:solidFill>
                <a:srgbClr val="0E4174"/>
              </a:solidFill>
              <a:latin typeface="Lexend"/>
              <a:ea typeface="Lexend"/>
              <a:cs typeface="Lexend"/>
              <a:sym typeface="Lexend"/>
            </a:endParaRPr>
          </a:p>
          <a:p>
            <a:pPr marL="0" lvl="0" indent="0" algn="l" rtl="0">
              <a:spcBef>
                <a:spcPts val="0"/>
              </a:spcBef>
              <a:spcAft>
                <a:spcPts val="0"/>
              </a:spcAft>
              <a:buNone/>
            </a:pPr>
            <a:r>
              <a:rPr lang="en" sz="900">
                <a:solidFill>
                  <a:srgbClr val="0E4174"/>
                </a:solidFill>
                <a:latin typeface="Lexend"/>
                <a:ea typeface="Lexend"/>
                <a:cs typeface="Lexend"/>
                <a:sym typeface="Lexend"/>
              </a:rPr>
              <a:t>- Comms Lịch nhân điểm đặc biệt 26-28/8</a:t>
            </a:r>
            <a:endParaRPr sz="900">
              <a:solidFill>
                <a:srgbClr val="0E4174"/>
              </a:solidFill>
              <a:latin typeface="Lexend"/>
              <a:ea typeface="Lexend"/>
              <a:cs typeface="Lexend"/>
              <a:sym typeface="Lexend"/>
            </a:endParaRPr>
          </a:p>
          <a:p>
            <a:pPr marL="0" lvl="0" indent="0" algn="l" rtl="0">
              <a:spcBef>
                <a:spcPts val="0"/>
              </a:spcBef>
              <a:spcAft>
                <a:spcPts val="0"/>
              </a:spcAft>
              <a:buNone/>
            </a:pPr>
            <a:r>
              <a:rPr lang="en" sz="900">
                <a:solidFill>
                  <a:srgbClr val="0E4174"/>
                </a:solidFill>
                <a:latin typeface="Lexend"/>
                <a:ea typeface="Lexend"/>
                <a:cs typeface="Lexend"/>
                <a:sym typeface="Lexend"/>
              </a:rPr>
              <a:t>- Remind CTT EV, mua/thuê EV với tần suất dày đặc</a:t>
            </a:r>
            <a:endParaRPr sz="900">
              <a:solidFill>
                <a:srgbClr val="0E4174"/>
              </a:solidFill>
              <a:latin typeface="Lexend"/>
              <a:ea typeface="Lexend"/>
              <a:cs typeface="Lexend"/>
              <a:sym typeface="Lexend"/>
            </a:endParaRPr>
          </a:p>
          <a:p>
            <a:pPr marL="0" lvl="0" indent="0" algn="l" rtl="0">
              <a:spcBef>
                <a:spcPts val="0"/>
              </a:spcBef>
              <a:spcAft>
                <a:spcPts val="0"/>
              </a:spcAft>
              <a:buNone/>
            </a:pPr>
            <a:endParaRPr sz="900">
              <a:solidFill>
                <a:srgbClr val="0E4174"/>
              </a:solidFill>
              <a:latin typeface="Lexend"/>
              <a:ea typeface="Lexend"/>
              <a:cs typeface="Lexend"/>
              <a:sym typeface="Lexend"/>
            </a:endParaRPr>
          </a:p>
          <a:p>
            <a:pPr marL="0" lvl="0" indent="0" algn="l" rtl="0">
              <a:spcBef>
                <a:spcPts val="0"/>
              </a:spcBef>
              <a:spcAft>
                <a:spcPts val="0"/>
              </a:spcAft>
              <a:buNone/>
            </a:pPr>
            <a:r>
              <a:rPr lang="en" sz="900" b="1">
                <a:solidFill>
                  <a:srgbClr val="0E4174"/>
                </a:solidFill>
                <a:latin typeface="Lexend"/>
                <a:ea typeface="Lexend"/>
                <a:cs typeface="Lexend"/>
                <a:sym typeface="Lexend"/>
              </a:rPr>
              <a:t>Khác</a:t>
            </a:r>
            <a:endParaRPr sz="900" b="1">
              <a:solidFill>
                <a:srgbClr val="0E4174"/>
              </a:solidFill>
              <a:latin typeface="Lexend"/>
              <a:ea typeface="Lexend"/>
              <a:cs typeface="Lexend"/>
              <a:sym typeface="Lexend"/>
            </a:endParaRPr>
          </a:p>
          <a:p>
            <a:pPr marL="0" lvl="0" indent="0" algn="l" rtl="0">
              <a:spcBef>
                <a:spcPts val="0"/>
              </a:spcBef>
              <a:spcAft>
                <a:spcPts val="0"/>
              </a:spcAft>
              <a:buNone/>
            </a:pPr>
            <a:r>
              <a:rPr lang="en" sz="900">
                <a:solidFill>
                  <a:srgbClr val="0E4174"/>
                </a:solidFill>
                <a:latin typeface="Lexend"/>
                <a:ea typeface="Lexend"/>
                <a:cs typeface="Lexend"/>
                <a:sym typeface="Lexend"/>
              </a:rPr>
              <a:t>- Comms bán Baga tại vp SGN + HAN</a:t>
            </a:r>
            <a:endParaRPr sz="900" b="1">
              <a:solidFill>
                <a:srgbClr val="0E4174"/>
              </a:solidFill>
              <a:latin typeface="Lexend"/>
              <a:ea typeface="Lexend"/>
              <a:cs typeface="Lexend"/>
              <a:sym typeface="Lexend"/>
            </a:endParaRPr>
          </a:p>
          <a:p>
            <a:pPr marL="0" lvl="0" indent="0" algn="l" rtl="0">
              <a:spcBef>
                <a:spcPts val="0"/>
              </a:spcBef>
              <a:spcAft>
                <a:spcPts val="0"/>
              </a:spcAft>
              <a:buNone/>
            </a:pPr>
            <a:r>
              <a:rPr lang="en" sz="900">
                <a:solidFill>
                  <a:srgbClr val="0E4174"/>
                </a:solidFill>
                <a:latin typeface="Lexend"/>
                <a:ea typeface="Lexend"/>
                <a:cs typeface="Lexend"/>
                <a:sym typeface="Lexend"/>
              </a:rPr>
              <a:t>- Comms CTT cận 2.9</a:t>
            </a:r>
            <a:endParaRPr sz="900">
              <a:solidFill>
                <a:srgbClr val="0E4174"/>
              </a:solidFill>
              <a:latin typeface="Lexend"/>
              <a:ea typeface="Lexend"/>
              <a:cs typeface="Lexend"/>
              <a:sym typeface="Lexend"/>
            </a:endParaRPr>
          </a:p>
          <a:p>
            <a:pPr marL="0" lvl="0" indent="0" algn="l" rtl="0">
              <a:spcBef>
                <a:spcPts val="0"/>
              </a:spcBef>
              <a:spcAft>
                <a:spcPts val="0"/>
              </a:spcAft>
              <a:buNone/>
            </a:pPr>
            <a:r>
              <a:rPr lang="en" sz="900">
                <a:solidFill>
                  <a:srgbClr val="0E4174"/>
                </a:solidFill>
                <a:latin typeface="Lexend"/>
                <a:ea typeface="Lexend"/>
                <a:cs typeface="Lexend"/>
                <a:sym typeface="Lexend"/>
              </a:rPr>
              <a:t>- Build materials Chương trình RANKING 2026 </a:t>
            </a:r>
            <a:endParaRPr sz="900">
              <a:solidFill>
                <a:srgbClr val="0E4174"/>
              </a:solidFill>
              <a:latin typeface="Lexend"/>
              <a:ea typeface="Lexend"/>
              <a:cs typeface="Lexend"/>
              <a:sym typeface="Lexend"/>
            </a:endParaRPr>
          </a:p>
          <a:p>
            <a:pPr marL="0" lvl="0" indent="0" algn="l" rtl="0">
              <a:spcBef>
                <a:spcPts val="0"/>
              </a:spcBef>
              <a:spcAft>
                <a:spcPts val="0"/>
              </a:spcAft>
              <a:buNone/>
            </a:pPr>
            <a:r>
              <a:rPr lang="en" sz="900">
                <a:solidFill>
                  <a:srgbClr val="0E4174"/>
                </a:solidFill>
                <a:latin typeface="Lexend"/>
                <a:ea typeface="Lexend"/>
                <a:cs typeface="Lexend"/>
                <a:sym typeface="Lexend"/>
              </a:rPr>
              <a:t>- Comms các chương trình thưởng Thời tiết/baga/lễ</a:t>
            </a:r>
            <a:endParaRPr sz="900">
              <a:solidFill>
                <a:srgbClr val="0E4174"/>
              </a:solidFill>
              <a:latin typeface="Lexend"/>
              <a:ea typeface="Lexend"/>
              <a:cs typeface="Lexend"/>
              <a:sym typeface="Lexend"/>
            </a:endParaRPr>
          </a:p>
        </p:txBody>
      </p:sp>
      <p:sp>
        <p:nvSpPr>
          <p:cNvPr id="1276" name="Google Shape;1276;p74"/>
          <p:cNvSpPr/>
          <p:nvPr/>
        </p:nvSpPr>
        <p:spPr>
          <a:xfrm>
            <a:off x="145125" y="2746796"/>
            <a:ext cx="4494000" cy="8256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74"/>
          <p:cNvSpPr/>
          <p:nvPr/>
        </p:nvSpPr>
        <p:spPr>
          <a:xfrm>
            <a:off x="145125" y="2746846"/>
            <a:ext cx="59100" cy="825600"/>
          </a:xfrm>
          <a:prstGeom prst="rect">
            <a:avLst/>
          </a:prstGeom>
          <a:solidFill>
            <a:srgbClr val="EF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74"/>
          <p:cNvSpPr/>
          <p:nvPr/>
        </p:nvSpPr>
        <p:spPr>
          <a:xfrm>
            <a:off x="625634" y="2846859"/>
            <a:ext cx="2869200" cy="151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4444"/>
              </a:buClr>
              <a:buSzPts val="1200"/>
              <a:buFont typeface="Calibri"/>
              <a:buNone/>
            </a:pPr>
            <a:r>
              <a:rPr lang="en" sz="1200" i="0" u="none" strike="noStrike" cap="none">
                <a:solidFill>
                  <a:srgbClr val="EF4444"/>
                </a:solidFill>
                <a:latin typeface="Lexend"/>
                <a:ea typeface="Lexend"/>
                <a:cs typeface="Lexend"/>
                <a:sym typeface="Lexend"/>
              </a:rPr>
              <a:t>LOWLIGHTS</a:t>
            </a:r>
            <a:endParaRPr sz="1200" i="0" u="none" strike="noStrike" cap="none">
              <a:solidFill>
                <a:schemeClr val="dk1"/>
              </a:solidFill>
              <a:latin typeface="Lexend"/>
              <a:ea typeface="Lexend"/>
              <a:cs typeface="Lexend"/>
              <a:sym typeface="Lexend"/>
            </a:endParaRPr>
          </a:p>
        </p:txBody>
      </p:sp>
      <p:sp>
        <p:nvSpPr>
          <p:cNvPr id="1279" name="Google Shape;1279;p74"/>
          <p:cNvSpPr/>
          <p:nvPr/>
        </p:nvSpPr>
        <p:spPr>
          <a:xfrm>
            <a:off x="182861" y="3639099"/>
            <a:ext cx="8778300" cy="14523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74"/>
          <p:cNvSpPr/>
          <p:nvPr/>
        </p:nvSpPr>
        <p:spPr>
          <a:xfrm>
            <a:off x="157300" y="3641132"/>
            <a:ext cx="59100" cy="1452300"/>
          </a:xfrm>
          <a:prstGeom prst="rect">
            <a:avLst/>
          </a:prstGeom>
          <a:solidFill>
            <a:srgbClr val="0E41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81" name="Google Shape;1281;p74" descr="preencoded.png"/>
          <p:cNvPicPr preferRelativeResize="0"/>
          <p:nvPr/>
        </p:nvPicPr>
        <p:blipFill rotWithShape="1">
          <a:blip r:embed="rId4">
            <a:alphaModFix/>
          </a:blip>
          <a:srcRect/>
          <a:stretch/>
        </p:blipFill>
        <p:spPr>
          <a:xfrm>
            <a:off x="365790" y="3745001"/>
            <a:ext cx="182880" cy="182880"/>
          </a:xfrm>
          <a:prstGeom prst="rect">
            <a:avLst/>
          </a:prstGeom>
          <a:noFill/>
          <a:ln>
            <a:noFill/>
          </a:ln>
        </p:spPr>
      </p:pic>
      <p:sp>
        <p:nvSpPr>
          <p:cNvPr id="1282" name="Google Shape;1282;p74"/>
          <p:cNvSpPr/>
          <p:nvPr/>
        </p:nvSpPr>
        <p:spPr>
          <a:xfrm>
            <a:off x="621822" y="3708491"/>
            <a:ext cx="36576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r>
              <a:rPr lang="en" sz="1100" b="1">
                <a:solidFill>
                  <a:srgbClr val="0E4174"/>
                </a:solidFill>
                <a:latin typeface="Lexend"/>
                <a:ea typeface="Lexend"/>
                <a:cs typeface="Lexend"/>
                <a:sym typeface="Lexend"/>
              </a:rPr>
              <a:t>NEXT ACTION:</a:t>
            </a:r>
            <a:r>
              <a:rPr lang="en" sz="1100" i="1">
                <a:solidFill>
                  <a:srgbClr val="0E4174"/>
                </a:solidFill>
                <a:latin typeface="Lexend"/>
                <a:ea typeface="Lexend"/>
                <a:cs typeface="Lexend"/>
                <a:sym typeface="Lexend"/>
              </a:rPr>
              <a:t> (Solutions &amp; upcoming activities)</a:t>
            </a:r>
            <a:endParaRPr sz="1100" i="1" u="none" strike="noStrike" cap="none">
              <a:solidFill>
                <a:schemeClr val="dk1"/>
              </a:solidFill>
              <a:latin typeface="Lexend"/>
              <a:ea typeface="Lexend"/>
              <a:cs typeface="Lexend"/>
              <a:sym typeface="Lexend"/>
            </a:endParaRPr>
          </a:p>
        </p:txBody>
      </p:sp>
      <p:sp>
        <p:nvSpPr>
          <p:cNvPr id="1283" name="Google Shape;1283;p74"/>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pic>
        <p:nvPicPr>
          <p:cNvPr id="1284" name="Google Shape;1284;p74" descr="preencoded.png"/>
          <p:cNvPicPr preferRelativeResize="0"/>
          <p:nvPr/>
        </p:nvPicPr>
        <p:blipFill rotWithShape="1">
          <a:blip r:embed="rId5">
            <a:alphaModFix/>
          </a:blip>
          <a:srcRect/>
          <a:stretch/>
        </p:blipFill>
        <p:spPr>
          <a:xfrm>
            <a:off x="336169" y="1004382"/>
            <a:ext cx="210412" cy="201168"/>
          </a:xfrm>
          <a:prstGeom prst="rect">
            <a:avLst/>
          </a:prstGeom>
          <a:noFill/>
          <a:ln>
            <a:noFill/>
          </a:ln>
        </p:spPr>
      </p:pic>
      <p:pic>
        <p:nvPicPr>
          <p:cNvPr id="1285" name="Google Shape;1285;p74" descr="preencoded.png"/>
          <p:cNvPicPr preferRelativeResize="0"/>
          <p:nvPr/>
        </p:nvPicPr>
        <p:blipFill rotWithShape="1">
          <a:blip r:embed="rId6">
            <a:alphaModFix/>
          </a:blip>
          <a:srcRect/>
          <a:stretch/>
        </p:blipFill>
        <p:spPr>
          <a:xfrm>
            <a:off x="382597" y="2808278"/>
            <a:ext cx="182875" cy="199054"/>
          </a:xfrm>
          <a:prstGeom prst="rect">
            <a:avLst/>
          </a:prstGeom>
          <a:noFill/>
          <a:ln>
            <a:noFill/>
          </a:ln>
        </p:spPr>
      </p:pic>
      <p:graphicFrame>
        <p:nvGraphicFramePr>
          <p:cNvPr id="1286" name="Google Shape;1286;p74"/>
          <p:cNvGraphicFramePr/>
          <p:nvPr/>
        </p:nvGraphicFramePr>
        <p:xfrm>
          <a:off x="369736" y="3988454"/>
          <a:ext cx="3000000" cy="3000000"/>
        </p:xfrm>
        <a:graphic>
          <a:graphicData uri="http://schemas.openxmlformats.org/drawingml/2006/table">
            <a:tbl>
              <a:tblPr>
                <a:noFill/>
                <a:tableStyleId>{98498B5D-82F5-4DDD-BB04-C168985C330A}</a:tableStyleId>
              </a:tblPr>
              <a:tblGrid>
                <a:gridCol w="771175">
                  <a:extLst>
                    <a:ext uri="{9D8B030D-6E8A-4147-A177-3AD203B41FA5}">
                      <a16:colId xmlns:a16="http://schemas.microsoft.com/office/drawing/2014/main" val="20000"/>
                    </a:ext>
                  </a:extLst>
                </a:gridCol>
                <a:gridCol w="2975550">
                  <a:extLst>
                    <a:ext uri="{9D8B030D-6E8A-4147-A177-3AD203B41FA5}">
                      <a16:colId xmlns:a16="http://schemas.microsoft.com/office/drawing/2014/main" val="20001"/>
                    </a:ext>
                  </a:extLst>
                </a:gridCol>
                <a:gridCol w="2824675">
                  <a:extLst>
                    <a:ext uri="{9D8B030D-6E8A-4147-A177-3AD203B41FA5}">
                      <a16:colId xmlns:a16="http://schemas.microsoft.com/office/drawing/2014/main" val="20002"/>
                    </a:ext>
                  </a:extLst>
                </a:gridCol>
                <a:gridCol w="855475">
                  <a:extLst>
                    <a:ext uri="{9D8B030D-6E8A-4147-A177-3AD203B41FA5}">
                      <a16:colId xmlns:a16="http://schemas.microsoft.com/office/drawing/2014/main" val="20003"/>
                    </a:ext>
                  </a:extLst>
                </a:gridCol>
                <a:gridCol w="985725">
                  <a:extLst>
                    <a:ext uri="{9D8B030D-6E8A-4147-A177-3AD203B41FA5}">
                      <a16:colId xmlns:a16="http://schemas.microsoft.com/office/drawing/2014/main" val="20004"/>
                    </a:ext>
                  </a:extLst>
                </a:gridCol>
              </a:tblGrid>
              <a:tr h="206400">
                <a:tc>
                  <a:txBody>
                    <a:bodyPr/>
                    <a:lstStyle/>
                    <a:p>
                      <a:pPr marL="0" marR="0" lvl="0" indent="0" algn="ctr" rtl="0">
                        <a:spcBef>
                          <a:spcPts val="0"/>
                        </a:spcBef>
                        <a:spcAft>
                          <a:spcPts val="0"/>
                        </a:spcAft>
                        <a:buClr>
                          <a:srgbClr val="FFFFFF"/>
                        </a:buClr>
                        <a:buSzPts val="800"/>
                        <a:buFont typeface="Calibri"/>
                        <a:buNone/>
                      </a:pPr>
                      <a:r>
                        <a:rPr lang="en" sz="900">
                          <a:solidFill>
                            <a:srgbClr val="FFFFFF"/>
                          </a:solidFill>
                          <a:latin typeface="Lexend"/>
                          <a:ea typeface="Lexend"/>
                          <a:cs typeface="Lexend"/>
                          <a:sym typeface="Lexend"/>
                        </a:rPr>
                        <a:t>Hạng mục</a:t>
                      </a:r>
                      <a:endParaRPr sz="900" u="none" strike="noStrike" cap="none">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0E4174"/>
                    </a:solidFill>
                  </a:tcPr>
                </a:tc>
                <a:tc>
                  <a:txBody>
                    <a:bodyPr/>
                    <a:lstStyle/>
                    <a:p>
                      <a:pPr marL="0" marR="0" lvl="0" indent="0" algn="ctr" rtl="0">
                        <a:spcBef>
                          <a:spcPts val="0"/>
                        </a:spcBef>
                        <a:spcAft>
                          <a:spcPts val="0"/>
                        </a:spcAft>
                        <a:buNone/>
                      </a:pPr>
                      <a:r>
                        <a:rPr lang="en" sz="900">
                          <a:solidFill>
                            <a:srgbClr val="FFFFFF"/>
                          </a:solidFill>
                          <a:latin typeface="Lexend"/>
                          <a:ea typeface="Lexend"/>
                          <a:cs typeface="Lexend"/>
                          <a:sym typeface="Lexend"/>
                        </a:rPr>
                        <a:t>Nguyên nhân/Bối cảnh</a:t>
                      </a:r>
                      <a:endParaRPr sz="900" u="none" strike="noStrike" cap="none">
                        <a:solidFill>
                          <a:srgbClr val="FFFFFF"/>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0E4174"/>
                    </a:solidFill>
                  </a:tcPr>
                </a:tc>
                <a:tc>
                  <a:txBody>
                    <a:bodyPr/>
                    <a:lstStyle/>
                    <a:p>
                      <a:pPr marL="0" marR="0" lvl="0" indent="0" algn="ctr" rtl="0">
                        <a:spcBef>
                          <a:spcPts val="0"/>
                        </a:spcBef>
                        <a:spcAft>
                          <a:spcPts val="0"/>
                        </a:spcAft>
                        <a:buClr>
                          <a:srgbClr val="FFFFFF"/>
                        </a:buClr>
                        <a:buSzPts val="800"/>
                        <a:buFont typeface="Calibri"/>
                        <a:buNone/>
                      </a:pPr>
                      <a:r>
                        <a:rPr lang="en" sz="900" u="none" strike="noStrike" cap="none">
                          <a:solidFill>
                            <a:srgbClr val="FFFFFF"/>
                          </a:solidFill>
                          <a:latin typeface="Lexend"/>
                          <a:ea typeface="Lexend"/>
                          <a:cs typeface="Lexend"/>
                          <a:sym typeface="Lexend"/>
                        </a:rPr>
                        <a:t>Hành động</a:t>
                      </a:r>
                      <a:endParaRPr sz="900" u="none" strike="noStrike" cap="none">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0E4174"/>
                    </a:solidFill>
                  </a:tcPr>
                </a:tc>
                <a:tc>
                  <a:txBody>
                    <a:bodyPr/>
                    <a:lstStyle/>
                    <a:p>
                      <a:pPr marL="0" marR="0" lvl="0" indent="0" algn="ctr" rtl="0">
                        <a:spcBef>
                          <a:spcPts val="0"/>
                        </a:spcBef>
                        <a:spcAft>
                          <a:spcPts val="0"/>
                        </a:spcAft>
                        <a:buClr>
                          <a:srgbClr val="FFFFFF"/>
                        </a:buClr>
                        <a:buSzPts val="800"/>
                        <a:buFont typeface="Calibri"/>
                        <a:buNone/>
                      </a:pPr>
                      <a:r>
                        <a:rPr lang="en" sz="900">
                          <a:solidFill>
                            <a:srgbClr val="FFFFFF"/>
                          </a:solidFill>
                          <a:latin typeface="Lexend"/>
                          <a:ea typeface="Lexend"/>
                          <a:cs typeface="Lexend"/>
                          <a:sym typeface="Lexend"/>
                        </a:rPr>
                        <a:t>Deadline</a:t>
                      </a:r>
                      <a:endParaRPr sz="900" u="none" strike="noStrike" cap="none">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0E4174"/>
                    </a:solidFill>
                  </a:tcPr>
                </a:tc>
                <a:tc>
                  <a:txBody>
                    <a:bodyPr/>
                    <a:lstStyle/>
                    <a:p>
                      <a:pPr marL="0" marR="0" lvl="0" indent="0" algn="ctr" rtl="0">
                        <a:spcBef>
                          <a:spcPts val="0"/>
                        </a:spcBef>
                        <a:spcAft>
                          <a:spcPts val="0"/>
                        </a:spcAft>
                        <a:buClr>
                          <a:srgbClr val="FFFFFF"/>
                        </a:buClr>
                        <a:buSzPts val="800"/>
                        <a:buFont typeface="Calibri"/>
                        <a:buNone/>
                      </a:pPr>
                      <a:r>
                        <a:rPr lang="en" sz="900" u="none" strike="noStrike" cap="none">
                          <a:solidFill>
                            <a:srgbClr val="FFFFFF"/>
                          </a:solidFill>
                          <a:latin typeface="Lexend"/>
                          <a:ea typeface="Lexend"/>
                          <a:cs typeface="Lexend"/>
                          <a:sym typeface="Lexend"/>
                        </a:rPr>
                        <a:t>PIC</a:t>
                      </a:r>
                      <a:endParaRPr sz="900" u="none" strike="noStrike" cap="none">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0E4174"/>
                    </a:solidFill>
                  </a:tcPr>
                </a:tc>
                <a:extLst>
                  <a:ext uri="{0D108BD9-81ED-4DB2-BD59-A6C34878D82A}">
                    <a16:rowId xmlns:a16="http://schemas.microsoft.com/office/drawing/2014/main" val="10000"/>
                  </a:ext>
                </a:extLst>
              </a:tr>
              <a:tr h="302700">
                <a:tc>
                  <a:txBody>
                    <a:bodyPr/>
                    <a:lstStyle/>
                    <a:p>
                      <a:pPr marL="0" marR="0" lvl="0" indent="0" algn="ctr" rtl="0">
                        <a:spcBef>
                          <a:spcPts val="0"/>
                        </a:spcBef>
                        <a:spcAft>
                          <a:spcPts val="0"/>
                        </a:spcAft>
                        <a:buClr>
                          <a:schemeClr val="dk1"/>
                        </a:buClr>
                        <a:buSzPts val="1100"/>
                        <a:buFont typeface="Arial"/>
                        <a:buNone/>
                      </a:pPr>
                      <a:r>
                        <a:rPr lang="en" sz="800">
                          <a:solidFill>
                            <a:schemeClr val="dk1"/>
                          </a:solidFill>
                          <a:latin typeface="Lexend"/>
                          <a:ea typeface="Lexend"/>
                          <a:cs typeface="Lexend"/>
                          <a:sym typeface="Lexend"/>
                        </a:rPr>
                        <a:t>CT Baga</a:t>
                      </a:r>
                      <a:endParaRPr sz="8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 sz="800">
                          <a:solidFill>
                            <a:schemeClr val="dk1"/>
                          </a:solidFill>
                          <a:latin typeface="Lexend"/>
                          <a:ea typeface="Lexend"/>
                          <a:cs typeface="Lexend"/>
                          <a:sym typeface="Lexend"/>
                        </a:rPr>
                        <a:t>Lead tại HAN và SGN chưa đạt target</a:t>
                      </a:r>
                      <a:endParaRPr sz="8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 sz="800">
                          <a:solidFill>
                            <a:schemeClr val="dk1"/>
                          </a:solidFill>
                          <a:latin typeface="Lexend"/>
                          <a:ea typeface="Lexend"/>
                          <a:cs typeface="Lexend"/>
                          <a:sym typeface="Lexend"/>
                        </a:rPr>
                        <a:t>Comms thêm trên các kênh social/zalo</a:t>
                      </a:r>
                      <a:endParaRPr sz="800">
                        <a:solidFill>
                          <a:schemeClr val="dk1"/>
                        </a:solidFill>
                        <a:latin typeface="Lexend"/>
                        <a:ea typeface="Lexend"/>
                        <a:cs typeface="Lexend"/>
                        <a:sym typeface="Lexend"/>
                      </a:endParaRPr>
                    </a:p>
                    <a:p>
                      <a:pPr marL="0" marR="0" lvl="0" indent="0" algn="l" rtl="0">
                        <a:spcBef>
                          <a:spcPts val="0"/>
                        </a:spcBef>
                        <a:spcAft>
                          <a:spcPts val="0"/>
                        </a:spcAft>
                        <a:buNone/>
                      </a:pPr>
                      <a:r>
                        <a:rPr lang="en" sz="800">
                          <a:solidFill>
                            <a:schemeClr val="dk1"/>
                          </a:solidFill>
                          <a:latin typeface="Lexend"/>
                          <a:ea typeface="Lexend"/>
                          <a:cs typeface="Lexend"/>
                          <a:sym typeface="Lexend"/>
                        </a:rPr>
                        <a:t>Seeding chương trình khi tx mới đăng ký</a:t>
                      </a:r>
                      <a:endParaRPr sz="8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Clr>
                          <a:schemeClr val="dk1"/>
                        </a:buClr>
                        <a:buSzPts val="1100"/>
                        <a:buFont typeface="Arial"/>
                        <a:buNone/>
                      </a:pPr>
                      <a:endParaRPr sz="8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64748B"/>
                        </a:buClr>
                        <a:buSzPts val="800"/>
                        <a:buFont typeface="Calibri"/>
                        <a:buNone/>
                      </a:pPr>
                      <a:r>
                        <a:rPr lang="en" sz="800">
                          <a:solidFill>
                            <a:schemeClr val="dk1"/>
                          </a:solidFill>
                          <a:latin typeface="Lexend"/>
                          <a:ea typeface="Lexend"/>
                          <a:cs typeface="Lexend"/>
                          <a:sym typeface="Lexend"/>
                        </a:rPr>
                        <a:t>Hoa/ Khoa</a:t>
                      </a:r>
                      <a:endParaRPr sz="800" u="none" strike="noStrike" cap="none">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12800">
                <a:tc>
                  <a:txBody>
                    <a:bodyPr/>
                    <a:lstStyle/>
                    <a:p>
                      <a:pPr marL="0" lvl="0" indent="0" algn="ctr" rtl="0">
                        <a:spcBef>
                          <a:spcPts val="0"/>
                        </a:spcBef>
                        <a:spcAft>
                          <a:spcPts val="0"/>
                        </a:spcAft>
                        <a:buNone/>
                      </a:pPr>
                      <a:r>
                        <a:rPr lang="en" sz="800">
                          <a:solidFill>
                            <a:schemeClr val="dk1"/>
                          </a:solidFill>
                          <a:latin typeface="Lexend"/>
                          <a:ea typeface="Lexend"/>
                          <a:cs typeface="Lexend"/>
                          <a:sym typeface="Lexend"/>
                        </a:rPr>
                        <a:t>EV Aizen</a:t>
                      </a:r>
                      <a:endParaRPr sz="8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 sz="800">
                          <a:solidFill>
                            <a:schemeClr val="dk1"/>
                          </a:solidFill>
                          <a:latin typeface="Lexend"/>
                          <a:ea typeface="Lexend"/>
                          <a:cs typeface="Lexend"/>
                          <a:sym typeface="Lexend"/>
                        </a:rPr>
                        <a:t>- Cần đẩy mạnh lượng chuyển đổi EV, nhất là thuê RTO với đối tác Aizen</a:t>
                      </a:r>
                      <a:endParaRPr sz="8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 sz="800">
                          <a:solidFill>
                            <a:schemeClr val="dk1"/>
                          </a:solidFill>
                          <a:latin typeface="Lexend"/>
                          <a:ea typeface="Lexend"/>
                          <a:cs typeface="Lexend"/>
                          <a:sym typeface="Lexend"/>
                        </a:rPr>
                        <a:t>- Brief comms/design idea với Aizen</a:t>
                      </a:r>
                      <a:endParaRPr sz="800">
                        <a:solidFill>
                          <a:schemeClr val="dk1"/>
                        </a:solidFill>
                        <a:latin typeface="Lexend"/>
                        <a:ea typeface="Lexend"/>
                        <a:cs typeface="Lexend"/>
                        <a:sym typeface="Lexend"/>
                      </a:endParaRPr>
                    </a:p>
                    <a:p>
                      <a:pPr marL="0" marR="0" lvl="0" indent="0" algn="l" rtl="0">
                        <a:spcBef>
                          <a:spcPts val="0"/>
                        </a:spcBef>
                        <a:spcAft>
                          <a:spcPts val="0"/>
                        </a:spcAft>
                        <a:buNone/>
                      </a:pPr>
                      <a:r>
                        <a:rPr lang="en" sz="800">
                          <a:solidFill>
                            <a:schemeClr val="dk1"/>
                          </a:solidFill>
                          <a:latin typeface="Lexend"/>
                          <a:ea typeface="Lexend"/>
                          <a:cs typeface="Lexend"/>
                          <a:sym typeface="Lexend"/>
                        </a:rPr>
                        <a:t>- QC lại content và build plan comms hiệu quả</a:t>
                      </a:r>
                      <a:endParaRPr sz="8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endParaRPr sz="8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 sz="800">
                          <a:solidFill>
                            <a:schemeClr val="dk1"/>
                          </a:solidFill>
                          <a:latin typeface="Lexend"/>
                          <a:ea typeface="Lexend"/>
                          <a:cs typeface="Lexend"/>
                          <a:sym typeface="Lexend"/>
                        </a:rPr>
                        <a:t>Hoa/Khoa/Vân</a:t>
                      </a:r>
                      <a:endParaRPr sz="8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bl>
          </a:graphicData>
        </a:graphic>
      </p:graphicFrame>
      <p:sp>
        <p:nvSpPr>
          <p:cNvPr id="1287" name="Google Shape;1287;p74"/>
          <p:cNvSpPr/>
          <p:nvPr/>
        </p:nvSpPr>
        <p:spPr>
          <a:xfrm>
            <a:off x="341775" y="2998649"/>
            <a:ext cx="4183800" cy="492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900">
              <a:solidFill>
                <a:srgbClr val="0E4174"/>
              </a:solidFill>
              <a:latin typeface="Lexend"/>
              <a:ea typeface="Lexend"/>
              <a:cs typeface="Lexend"/>
              <a:sym typeface="Lexend"/>
            </a:endParaRPr>
          </a:p>
        </p:txBody>
      </p:sp>
      <p:pic>
        <p:nvPicPr>
          <p:cNvPr id="1288" name="Google Shape;1288;p74" title="783374866_1571964094969921_4729289422501520329_n.jpg"/>
          <p:cNvPicPr preferRelativeResize="0"/>
          <p:nvPr/>
        </p:nvPicPr>
        <p:blipFill>
          <a:blip r:embed="rId7">
            <a:alphaModFix/>
          </a:blip>
          <a:stretch>
            <a:fillRect/>
          </a:stretch>
        </p:blipFill>
        <p:spPr>
          <a:xfrm>
            <a:off x="4730826" y="980300"/>
            <a:ext cx="2208103" cy="2208103"/>
          </a:xfrm>
          <a:prstGeom prst="rect">
            <a:avLst/>
          </a:prstGeom>
          <a:noFill/>
          <a:ln>
            <a:noFill/>
          </a:ln>
        </p:spPr>
      </p:pic>
      <p:pic>
        <p:nvPicPr>
          <p:cNvPr id="1289" name="Google Shape;1289;p74" title="780981846_1570797231753274_2292071621108893117_n.jpg"/>
          <p:cNvPicPr preferRelativeResize="0"/>
          <p:nvPr/>
        </p:nvPicPr>
        <p:blipFill>
          <a:blip r:embed="rId8">
            <a:alphaModFix/>
          </a:blip>
          <a:stretch>
            <a:fillRect/>
          </a:stretch>
        </p:blipFill>
        <p:spPr>
          <a:xfrm>
            <a:off x="7058579" y="996783"/>
            <a:ext cx="1856046" cy="1031158"/>
          </a:xfrm>
          <a:prstGeom prst="rect">
            <a:avLst/>
          </a:prstGeom>
          <a:noFill/>
          <a:ln>
            <a:noFill/>
          </a:ln>
        </p:spPr>
      </p:pic>
      <p:pic>
        <p:nvPicPr>
          <p:cNvPr id="1290" name="Google Shape;1290;p74" title="noti Chiến đơn lễ - thưởng về liền tay.png"/>
          <p:cNvPicPr preferRelativeResize="0"/>
          <p:nvPr/>
        </p:nvPicPr>
        <p:blipFill>
          <a:blip r:embed="rId9">
            <a:alphaModFix/>
          </a:blip>
          <a:stretch>
            <a:fillRect/>
          </a:stretch>
        </p:blipFill>
        <p:spPr>
          <a:xfrm>
            <a:off x="7048179" y="2105891"/>
            <a:ext cx="1856053" cy="1099011"/>
          </a:xfrm>
          <a:prstGeom prst="rect">
            <a:avLst/>
          </a:prstGeom>
          <a:noFill/>
          <a:ln>
            <a:noFill/>
          </a:ln>
        </p:spPr>
      </p:pic>
      <p:sp>
        <p:nvSpPr>
          <p:cNvPr id="1291" name="Google Shape;1291;p74"/>
          <p:cNvSpPr/>
          <p:nvPr/>
        </p:nvSpPr>
        <p:spPr>
          <a:xfrm>
            <a:off x="285075" y="2929925"/>
            <a:ext cx="4297200" cy="561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00">
                <a:solidFill>
                  <a:srgbClr val="0E4174"/>
                </a:solidFill>
                <a:latin typeface="Lexend"/>
                <a:ea typeface="Lexend"/>
                <a:cs typeface="Lexend"/>
                <a:sym typeface="Lexend"/>
              </a:rPr>
              <a:t>Lead đăng ký chương trình baga chưa đạt target, còn hụt nhiều ở HAN</a:t>
            </a:r>
            <a:endParaRPr sz="900">
              <a:solidFill>
                <a:srgbClr val="0E4174"/>
              </a:solidFill>
              <a:latin typeface="Lexend"/>
              <a:ea typeface="Lexend"/>
              <a:cs typeface="Lexend"/>
              <a:sym typeface="Lexen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296"/>
        <p:cNvGrpSpPr/>
        <p:nvPr/>
      </p:nvGrpSpPr>
      <p:grpSpPr>
        <a:xfrm>
          <a:off x="0" y="0"/>
          <a:ext cx="0" cy="0"/>
          <a:chOff x="0" y="0"/>
          <a:chExt cx="0" cy="0"/>
        </a:xfrm>
      </p:grpSpPr>
      <p:sp>
        <p:nvSpPr>
          <p:cNvPr id="1297" name="Google Shape;1297;p75"/>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98" name="Google Shape;1298;p75" descr="preencoded.png"/>
          <p:cNvPicPr preferRelativeResize="0"/>
          <p:nvPr/>
        </p:nvPicPr>
        <p:blipFill rotWithShape="1">
          <a:blip r:embed="rId3">
            <a:alphaModFix/>
          </a:blip>
          <a:srcRect/>
          <a:stretch/>
        </p:blipFill>
        <p:spPr>
          <a:xfrm>
            <a:off x="365760" y="274320"/>
            <a:ext cx="274320" cy="274320"/>
          </a:xfrm>
          <a:prstGeom prst="rect">
            <a:avLst/>
          </a:prstGeom>
          <a:noFill/>
          <a:ln>
            <a:noFill/>
          </a:ln>
        </p:spPr>
      </p:pic>
      <p:sp>
        <p:nvSpPr>
          <p:cNvPr id="1299" name="Google Shape;1299;p75"/>
          <p:cNvSpPr/>
          <p:nvPr/>
        </p:nvSpPr>
        <p:spPr>
          <a:xfrm>
            <a:off x="731520" y="2011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a:solidFill>
                  <a:srgbClr val="0E4174"/>
                </a:solidFill>
                <a:latin typeface="Lexend"/>
                <a:ea typeface="Lexend"/>
                <a:cs typeface="Lexend"/>
                <a:sym typeface="Lexend"/>
              </a:rPr>
              <a:t>HIGHLIGHTS DRIVER’s VOICES</a:t>
            </a:r>
            <a:r>
              <a:rPr lang="en" sz="2200" b="1" i="0" u="none" strike="noStrike" cap="none">
                <a:solidFill>
                  <a:srgbClr val="0E4174"/>
                </a:solidFill>
                <a:latin typeface="Lexend"/>
                <a:ea typeface="Lexend"/>
                <a:cs typeface="Lexend"/>
                <a:sym typeface="Lexend"/>
              </a:rPr>
              <a:t> &amp; E</a:t>
            </a:r>
            <a:r>
              <a:rPr lang="en" sz="2200" b="1">
                <a:solidFill>
                  <a:srgbClr val="0E4174"/>
                </a:solidFill>
                <a:latin typeface="Lexend"/>
                <a:ea typeface="Lexend"/>
                <a:cs typeface="Lexend"/>
                <a:sym typeface="Lexend"/>
              </a:rPr>
              <a:t>VENT </a:t>
            </a:r>
            <a:r>
              <a:rPr lang="en" sz="2200" b="1" i="0" u="none" strike="noStrike" cap="none">
                <a:solidFill>
                  <a:srgbClr val="0E4174"/>
                </a:solidFill>
                <a:latin typeface="Lexend"/>
                <a:ea typeface="Lexend"/>
                <a:cs typeface="Lexend"/>
                <a:sym typeface="Lexend"/>
              </a:rPr>
              <a:t>- </a:t>
            </a:r>
            <a:r>
              <a:rPr lang="en" sz="2200" b="1">
                <a:solidFill>
                  <a:srgbClr val="F56C1F"/>
                </a:solidFill>
                <a:latin typeface="Lexend"/>
                <a:ea typeface="Lexend"/>
                <a:cs typeface="Lexend"/>
                <a:sym typeface="Lexend"/>
              </a:rPr>
              <a:t>NW</a:t>
            </a:r>
            <a:endParaRPr sz="2200" b="1" i="0" u="none" strike="noStrike" cap="none">
              <a:solidFill>
                <a:srgbClr val="F56C1F"/>
              </a:solidFill>
              <a:latin typeface="Lexend"/>
              <a:ea typeface="Lexend"/>
              <a:cs typeface="Lexend"/>
              <a:sym typeface="Lexend"/>
            </a:endParaRPr>
          </a:p>
        </p:txBody>
      </p:sp>
      <p:sp>
        <p:nvSpPr>
          <p:cNvPr id="1300" name="Google Shape;1300;p75"/>
          <p:cNvSpPr/>
          <p:nvPr/>
        </p:nvSpPr>
        <p:spPr>
          <a:xfrm>
            <a:off x="731520" y="594360"/>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 sz="1000" i="1">
                <a:solidFill>
                  <a:srgbClr val="64748B"/>
                </a:solidFill>
                <a:latin typeface="Lexend"/>
                <a:ea typeface="Lexend"/>
                <a:cs typeface="Lexend"/>
                <a:sym typeface="Lexend"/>
              </a:rPr>
              <a:t>Driver’s Voices - Community - Event Highlight</a:t>
            </a:r>
            <a:endParaRPr sz="1000" i="0" u="none" strike="noStrike" cap="none">
              <a:solidFill>
                <a:schemeClr val="dk1"/>
              </a:solidFill>
              <a:latin typeface="Lexend"/>
              <a:ea typeface="Lexend"/>
              <a:cs typeface="Lexend"/>
              <a:sym typeface="Lexend"/>
            </a:endParaRPr>
          </a:p>
        </p:txBody>
      </p:sp>
      <p:cxnSp>
        <p:nvCxnSpPr>
          <p:cNvPr id="1301" name="Google Shape;1301;p75"/>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1302" name="Google Shape;1302;p75"/>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sp>
        <p:nvSpPr>
          <p:cNvPr id="1303" name="Google Shape;1303;p75"/>
          <p:cNvSpPr/>
          <p:nvPr/>
        </p:nvSpPr>
        <p:spPr>
          <a:xfrm>
            <a:off x="324850" y="980750"/>
            <a:ext cx="8453400" cy="1158000"/>
          </a:xfrm>
          <a:prstGeom prst="rect">
            <a:avLst/>
          </a:prstGeom>
          <a:solidFill>
            <a:srgbClr val="D2E0F9"/>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457200" lvl="0" indent="-304800" algn="l" rtl="0">
              <a:lnSpc>
                <a:spcPct val="115000"/>
              </a:lnSpc>
              <a:spcBef>
                <a:spcPts val="0"/>
              </a:spcBef>
              <a:spcAft>
                <a:spcPts val="0"/>
              </a:spcAft>
              <a:buClr>
                <a:srgbClr val="083F89"/>
              </a:buClr>
              <a:buSzPts val="1200"/>
              <a:buFont typeface="Lexend"/>
              <a:buAutoNum type="arabicPeriod"/>
            </a:pPr>
            <a:r>
              <a:rPr lang="en" sz="1200">
                <a:solidFill>
                  <a:srgbClr val="083F89"/>
                </a:solidFill>
                <a:latin typeface="Lexend"/>
                <a:ea typeface="Lexend"/>
                <a:cs typeface="Lexend"/>
                <a:sym typeface="Lexend"/>
              </a:rPr>
              <a:t>Từ ngày 25/8 áp dụng chế tài luồng khóa không hoàn thành đơn trong 5h -&gt; Nhiều tài xế bị khóa</a:t>
            </a:r>
            <a:endParaRPr sz="1200">
              <a:solidFill>
                <a:srgbClr val="083F89"/>
              </a:solidFill>
              <a:latin typeface="Lexend"/>
              <a:ea typeface="Lexend"/>
              <a:cs typeface="Lexend"/>
              <a:sym typeface="Lexend"/>
            </a:endParaRPr>
          </a:p>
          <a:p>
            <a:pPr marL="457200" lvl="0" indent="-304800" algn="l" rtl="0">
              <a:lnSpc>
                <a:spcPct val="115000"/>
              </a:lnSpc>
              <a:spcBef>
                <a:spcPts val="0"/>
              </a:spcBef>
              <a:spcAft>
                <a:spcPts val="0"/>
              </a:spcAft>
              <a:buClr>
                <a:srgbClr val="083F89"/>
              </a:buClr>
              <a:buSzPts val="1200"/>
              <a:buFont typeface="Lexend"/>
              <a:buAutoNum type="arabicPeriod"/>
            </a:pPr>
            <a:r>
              <a:rPr lang="en" sz="1200">
                <a:solidFill>
                  <a:srgbClr val="083F89"/>
                </a:solidFill>
                <a:latin typeface="Lexend"/>
                <a:ea typeface="Lexend"/>
                <a:cs typeface="Lexend"/>
                <a:sym typeface="Lexend"/>
              </a:rPr>
              <a:t>Nhiều tài xế bị hạn chế đơn hàng, app không nổ đơn</a:t>
            </a:r>
            <a:endParaRPr sz="1200">
              <a:solidFill>
                <a:srgbClr val="083F89"/>
              </a:solidFill>
              <a:latin typeface="Lexend"/>
              <a:ea typeface="Lexend"/>
              <a:cs typeface="Lexend"/>
              <a:sym typeface="Lexend"/>
            </a:endParaRPr>
          </a:p>
          <a:p>
            <a:pPr marL="457200" lvl="0" indent="-304800" algn="l" rtl="0">
              <a:lnSpc>
                <a:spcPct val="115000"/>
              </a:lnSpc>
              <a:spcBef>
                <a:spcPts val="0"/>
              </a:spcBef>
              <a:spcAft>
                <a:spcPts val="0"/>
              </a:spcAft>
              <a:buClr>
                <a:srgbClr val="083F89"/>
              </a:buClr>
              <a:buSzPts val="1200"/>
              <a:buFont typeface="Lexend"/>
              <a:buAutoNum type="arabicPeriod"/>
            </a:pPr>
            <a:r>
              <a:rPr lang="en" sz="1200">
                <a:solidFill>
                  <a:srgbClr val="083F89"/>
                </a:solidFill>
                <a:latin typeface="Lexend"/>
                <a:ea typeface="Lexend"/>
                <a:cs typeface="Lexend"/>
                <a:sym typeface="Lexend"/>
              </a:rPr>
              <a:t>Một nhóm Tx vẫn </a:t>
            </a:r>
            <a:r>
              <a:rPr lang="en" sz="1200" b="1">
                <a:solidFill>
                  <a:srgbClr val="083F89"/>
                </a:solidFill>
                <a:latin typeface="Lexend"/>
                <a:ea typeface="Lexend"/>
                <a:cs typeface="Lexend"/>
                <a:sym typeface="Lexend"/>
              </a:rPr>
              <a:t>bị lỗi rút tiền</a:t>
            </a:r>
            <a:r>
              <a:rPr lang="en" sz="1200">
                <a:solidFill>
                  <a:srgbClr val="083F89"/>
                </a:solidFill>
                <a:latin typeface="Lexend"/>
                <a:ea typeface="Lexend"/>
                <a:cs typeface="Lexend"/>
                <a:sym typeface="Lexend"/>
              </a:rPr>
              <a:t> vào 27/8 =&gt; Đã noti sẽ hỗ trợ chi tiền vào 28/8</a:t>
            </a:r>
            <a:endParaRPr sz="1200">
              <a:solidFill>
                <a:srgbClr val="083F89"/>
              </a:solidFill>
              <a:latin typeface="Lexend"/>
              <a:ea typeface="Lexend"/>
              <a:cs typeface="Lexend"/>
              <a:sym typeface="Lexend"/>
            </a:endParaRPr>
          </a:p>
        </p:txBody>
      </p:sp>
      <p:pic>
        <p:nvPicPr>
          <p:cNvPr id="1304" name="Google Shape;1304;p75"/>
          <p:cNvPicPr preferRelativeResize="0"/>
          <p:nvPr/>
        </p:nvPicPr>
        <p:blipFill>
          <a:blip r:embed="rId4">
            <a:alphaModFix/>
          </a:blip>
          <a:stretch>
            <a:fillRect/>
          </a:stretch>
        </p:blipFill>
        <p:spPr>
          <a:xfrm>
            <a:off x="324850" y="2322510"/>
            <a:ext cx="1944255" cy="2587383"/>
          </a:xfrm>
          <a:prstGeom prst="rect">
            <a:avLst/>
          </a:prstGeom>
          <a:noFill/>
          <a:ln>
            <a:noFill/>
          </a:ln>
        </p:spPr>
      </p:pic>
      <p:pic>
        <p:nvPicPr>
          <p:cNvPr id="1305" name="Google Shape;1305;p75"/>
          <p:cNvPicPr preferRelativeResize="0"/>
          <p:nvPr/>
        </p:nvPicPr>
        <p:blipFill>
          <a:blip r:embed="rId5">
            <a:alphaModFix/>
          </a:blip>
          <a:stretch>
            <a:fillRect/>
          </a:stretch>
        </p:blipFill>
        <p:spPr>
          <a:xfrm>
            <a:off x="2311396" y="2322510"/>
            <a:ext cx="2248198" cy="2587384"/>
          </a:xfrm>
          <a:prstGeom prst="rect">
            <a:avLst/>
          </a:prstGeom>
          <a:noFill/>
          <a:ln>
            <a:noFill/>
          </a:ln>
        </p:spPr>
      </p:pic>
      <p:pic>
        <p:nvPicPr>
          <p:cNvPr id="1306" name="Google Shape;1306;p75"/>
          <p:cNvPicPr preferRelativeResize="0"/>
          <p:nvPr/>
        </p:nvPicPr>
        <p:blipFill>
          <a:blip r:embed="rId6">
            <a:alphaModFix/>
          </a:blip>
          <a:stretch>
            <a:fillRect/>
          </a:stretch>
        </p:blipFill>
        <p:spPr>
          <a:xfrm>
            <a:off x="4601885" y="2322510"/>
            <a:ext cx="2029322" cy="2587386"/>
          </a:xfrm>
          <a:prstGeom prst="rect">
            <a:avLst/>
          </a:prstGeom>
          <a:noFill/>
          <a:ln>
            <a:noFill/>
          </a:ln>
        </p:spPr>
      </p:pic>
      <p:pic>
        <p:nvPicPr>
          <p:cNvPr id="1307" name="Google Shape;1307;p75"/>
          <p:cNvPicPr preferRelativeResize="0"/>
          <p:nvPr/>
        </p:nvPicPr>
        <p:blipFill>
          <a:blip r:embed="rId7">
            <a:alphaModFix/>
          </a:blip>
          <a:stretch>
            <a:fillRect/>
          </a:stretch>
        </p:blipFill>
        <p:spPr>
          <a:xfrm>
            <a:off x="6673498" y="2322510"/>
            <a:ext cx="2104752" cy="197118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312"/>
        <p:cNvGrpSpPr/>
        <p:nvPr/>
      </p:nvGrpSpPr>
      <p:grpSpPr>
        <a:xfrm>
          <a:off x="0" y="0"/>
          <a:ext cx="0" cy="0"/>
          <a:chOff x="0" y="0"/>
          <a:chExt cx="0" cy="0"/>
        </a:xfrm>
      </p:grpSpPr>
      <p:sp>
        <p:nvSpPr>
          <p:cNvPr id="1313" name="Google Shape;1313;p76"/>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14" name="Google Shape;1314;p76" descr="preencoded.png"/>
          <p:cNvPicPr preferRelativeResize="0"/>
          <p:nvPr/>
        </p:nvPicPr>
        <p:blipFill rotWithShape="1">
          <a:blip r:embed="rId3">
            <a:alphaModFix/>
          </a:blip>
          <a:srcRect/>
          <a:stretch/>
        </p:blipFill>
        <p:spPr>
          <a:xfrm>
            <a:off x="365760" y="274320"/>
            <a:ext cx="274320" cy="274320"/>
          </a:xfrm>
          <a:prstGeom prst="rect">
            <a:avLst/>
          </a:prstGeom>
          <a:noFill/>
          <a:ln>
            <a:noFill/>
          </a:ln>
        </p:spPr>
      </p:pic>
      <p:sp>
        <p:nvSpPr>
          <p:cNvPr id="1315" name="Google Shape;1315;p76"/>
          <p:cNvSpPr/>
          <p:nvPr/>
        </p:nvSpPr>
        <p:spPr>
          <a:xfrm>
            <a:off x="731520" y="2011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a:solidFill>
                  <a:srgbClr val="0E4174"/>
                </a:solidFill>
                <a:latin typeface="Lexend"/>
                <a:ea typeface="Lexend"/>
                <a:cs typeface="Lexend"/>
                <a:sym typeface="Lexend"/>
              </a:rPr>
              <a:t>Event &amp; Partnership</a:t>
            </a:r>
            <a:r>
              <a:rPr lang="en" sz="2200" b="1" i="0" u="none" strike="noStrike" cap="none">
                <a:solidFill>
                  <a:srgbClr val="0E4174"/>
                </a:solidFill>
                <a:latin typeface="Lexend"/>
                <a:ea typeface="Lexend"/>
                <a:cs typeface="Lexend"/>
                <a:sym typeface="Lexend"/>
              </a:rPr>
              <a:t>: Highlights &amp; Lowlights</a:t>
            </a:r>
            <a:endParaRPr sz="2200" b="1" i="0" u="none" strike="noStrike" cap="none">
              <a:solidFill>
                <a:schemeClr val="dk1"/>
              </a:solidFill>
              <a:latin typeface="Lexend"/>
              <a:ea typeface="Lexend"/>
              <a:cs typeface="Lexend"/>
              <a:sym typeface="Lexend"/>
            </a:endParaRPr>
          </a:p>
        </p:txBody>
      </p:sp>
      <p:sp>
        <p:nvSpPr>
          <p:cNvPr id="1316" name="Google Shape;1316;p76"/>
          <p:cNvSpPr/>
          <p:nvPr/>
        </p:nvSpPr>
        <p:spPr>
          <a:xfrm>
            <a:off x="731520" y="594360"/>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 sz="1000" i="1" u="none" strike="noStrike" cap="none">
                <a:solidFill>
                  <a:srgbClr val="64748B"/>
                </a:solidFill>
                <a:latin typeface="Lexend"/>
                <a:ea typeface="Lexend"/>
                <a:cs typeface="Lexend"/>
                <a:sym typeface="Lexend"/>
              </a:rPr>
              <a:t>Trọng tâm tuần — Kết quả thực thi &amp; Kế hoạch hành động</a:t>
            </a:r>
            <a:endParaRPr sz="1000" i="0" u="none" strike="noStrike" cap="none">
              <a:solidFill>
                <a:schemeClr val="dk1"/>
              </a:solidFill>
              <a:latin typeface="Lexend"/>
              <a:ea typeface="Lexend"/>
              <a:cs typeface="Lexend"/>
              <a:sym typeface="Lexend"/>
            </a:endParaRPr>
          </a:p>
        </p:txBody>
      </p:sp>
      <p:cxnSp>
        <p:nvCxnSpPr>
          <p:cNvPr id="1317" name="Google Shape;1317;p76"/>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1318" name="Google Shape;1318;p76"/>
          <p:cNvSpPr/>
          <p:nvPr/>
        </p:nvSpPr>
        <p:spPr>
          <a:xfrm>
            <a:off x="144875" y="960900"/>
            <a:ext cx="4576200" cy="19830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319" name="Google Shape;1319;p76"/>
          <p:cNvSpPr/>
          <p:nvPr/>
        </p:nvSpPr>
        <p:spPr>
          <a:xfrm>
            <a:off x="149722" y="960900"/>
            <a:ext cx="47400" cy="1983000"/>
          </a:xfrm>
          <a:prstGeom prst="rect">
            <a:avLst/>
          </a:prstGeom>
          <a:solidFill>
            <a:srgbClr val="10B9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20" name="Google Shape;1320;p76" descr="preencoded.png"/>
          <p:cNvPicPr preferRelativeResize="0"/>
          <p:nvPr/>
        </p:nvPicPr>
        <p:blipFill rotWithShape="1">
          <a:blip r:embed="rId4">
            <a:alphaModFix/>
          </a:blip>
          <a:srcRect/>
          <a:stretch/>
        </p:blipFill>
        <p:spPr>
          <a:xfrm>
            <a:off x="336169" y="1022729"/>
            <a:ext cx="227052" cy="227052"/>
          </a:xfrm>
          <a:prstGeom prst="rect">
            <a:avLst/>
          </a:prstGeom>
          <a:noFill/>
          <a:ln>
            <a:noFill/>
          </a:ln>
        </p:spPr>
      </p:pic>
      <p:sp>
        <p:nvSpPr>
          <p:cNvPr id="1321" name="Google Shape;1321;p76"/>
          <p:cNvSpPr/>
          <p:nvPr/>
        </p:nvSpPr>
        <p:spPr>
          <a:xfrm>
            <a:off x="603965" y="981514"/>
            <a:ext cx="2869200" cy="309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0B981"/>
              </a:buClr>
              <a:buSzPts val="1200"/>
              <a:buFont typeface="Calibri"/>
              <a:buNone/>
            </a:pPr>
            <a:r>
              <a:rPr lang="en" sz="1200" b="1" i="0" u="none" strike="noStrike" cap="none">
                <a:solidFill>
                  <a:srgbClr val="10B981"/>
                </a:solidFill>
                <a:latin typeface="Lexend"/>
                <a:ea typeface="Lexend"/>
                <a:cs typeface="Lexend"/>
                <a:sym typeface="Lexend"/>
              </a:rPr>
              <a:t>HIGHLIGHTS</a:t>
            </a:r>
            <a:endParaRPr sz="1200" b="1" i="0" u="none" strike="noStrike" cap="none">
              <a:solidFill>
                <a:schemeClr val="dk1"/>
              </a:solidFill>
              <a:latin typeface="Lexend"/>
              <a:ea typeface="Lexend"/>
              <a:cs typeface="Lexend"/>
              <a:sym typeface="Lexend"/>
            </a:endParaRPr>
          </a:p>
        </p:txBody>
      </p:sp>
      <p:sp>
        <p:nvSpPr>
          <p:cNvPr id="1322" name="Google Shape;1322;p76"/>
          <p:cNvSpPr/>
          <p:nvPr/>
        </p:nvSpPr>
        <p:spPr>
          <a:xfrm>
            <a:off x="341775" y="1334326"/>
            <a:ext cx="4313700" cy="1401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100" b="1">
                <a:solidFill>
                  <a:srgbClr val="F56C1F"/>
                </a:solidFill>
                <a:latin typeface="Lexend"/>
                <a:ea typeface="Lexend"/>
                <a:cs typeface="Lexend"/>
                <a:sym typeface="Lexend"/>
              </a:rPr>
              <a:t>Partnership: </a:t>
            </a:r>
            <a:endParaRPr sz="1100">
              <a:solidFill>
                <a:schemeClr val="dk1"/>
              </a:solidFill>
              <a:latin typeface="Lexend"/>
              <a:ea typeface="Lexend"/>
              <a:cs typeface="Lexend"/>
              <a:sym typeface="Lexend"/>
            </a:endParaRPr>
          </a:p>
          <a:p>
            <a:pPr marL="0" lvl="0" indent="0" algn="l" rtl="0">
              <a:spcBef>
                <a:spcPts val="0"/>
              </a:spcBef>
              <a:spcAft>
                <a:spcPts val="0"/>
              </a:spcAft>
              <a:buNone/>
            </a:pPr>
            <a:r>
              <a:rPr lang="en" sz="1100">
                <a:solidFill>
                  <a:schemeClr val="dk1"/>
                </a:solidFill>
                <a:latin typeface="Lexend"/>
                <a:ea typeface="Lexend"/>
                <a:cs typeface="Lexend"/>
                <a:sym typeface="Lexend"/>
              </a:rPr>
              <a:t>- Đã ký Phụ lục 04 extend thời gian mượn xe Selex đến 11/09</a:t>
            </a:r>
            <a:endParaRPr sz="1100">
              <a:solidFill>
                <a:schemeClr val="dk1"/>
              </a:solidFill>
              <a:latin typeface="Lexend"/>
              <a:ea typeface="Lexend"/>
              <a:cs typeface="Lexend"/>
              <a:sym typeface="Lexend"/>
            </a:endParaRPr>
          </a:p>
          <a:p>
            <a:pPr marL="0" lvl="0" indent="0" algn="l" rtl="0">
              <a:spcBef>
                <a:spcPts val="0"/>
              </a:spcBef>
              <a:spcAft>
                <a:spcPts val="0"/>
              </a:spcAft>
              <a:buNone/>
            </a:pPr>
            <a:r>
              <a:rPr lang="en" sz="1100">
                <a:solidFill>
                  <a:schemeClr val="dk1"/>
                </a:solidFill>
                <a:latin typeface="Lexend"/>
                <a:ea typeface="Lexend"/>
                <a:cs typeface="Lexend"/>
                <a:sym typeface="Lexend"/>
              </a:rPr>
              <a:t>- Done hợp đồng mượn xe Dat Bike</a:t>
            </a:r>
            <a:endParaRPr sz="1100">
              <a:solidFill>
                <a:schemeClr val="dk1"/>
              </a:solidFill>
              <a:latin typeface="Lexend"/>
              <a:ea typeface="Lexend"/>
              <a:cs typeface="Lexend"/>
              <a:sym typeface="Lexend"/>
            </a:endParaRPr>
          </a:p>
          <a:p>
            <a:pPr marL="0" lvl="0" indent="0" algn="l" rtl="0">
              <a:spcBef>
                <a:spcPts val="0"/>
              </a:spcBef>
              <a:spcAft>
                <a:spcPts val="0"/>
              </a:spcAft>
              <a:buNone/>
            </a:pPr>
            <a:r>
              <a:rPr lang="en" sz="1100">
                <a:solidFill>
                  <a:schemeClr val="dk1"/>
                </a:solidFill>
                <a:latin typeface="Lexend"/>
                <a:ea typeface="Lexend"/>
                <a:cs typeface="Lexend"/>
                <a:sym typeface="Lexend"/>
              </a:rPr>
              <a:t>- [HAN] GASY đề xuất deal cho TX, áp dụng từ T9 » Phân bổ theo ranking mới.</a:t>
            </a:r>
            <a:endParaRPr sz="1100">
              <a:solidFill>
                <a:schemeClr val="dk1"/>
              </a:solidFill>
              <a:latin typeface="Lexend"/>
              <a:ea typeface="Lexend"/>
              <a:cs typeface="Lexend"/>
              <a:sym typeface="Lexend"/>
            </a:endParaRPr>
          </a:p>
          <a:p>
            <a:pPr marL="0" lvl="0" indent="0" algn="l" rtl="0">
              <a:spcBef>
                <a:spcPts val="0"/>
              </a:spcBef>
              <a:spcAft>
                <a:spcPts val="0"/>
              </a:spcAft>
              <a:buNone/>
            </a:pPr>
            <a:r>
              <a:rPr lang="en" sz="1100">
                <a:solidFill>
                  <a:schemeClr val="dk1"/>
                </a:solidFill>
                <a:latin typeface="Lexend"/>
                <a:ea typeface="Lexend"/>
                <a:cs typeface="Lexend"/>
                <a:sym typeface="Lexend"/>
              </a:rPr>
              <a:t>- [HAN] HTX Nam Anh &amp; Vạn Xuân: Vận hành Fleet + Thuê xe (ngắn hạn + sở hữu) » Process HĐ + Working file chung</a:t>
            </a:r>
            <a:endParaRPr sz="1100">
              <a:solidFill>
                <a:schemeClr val="dk1"/>
              </a:solidFill>
              <a:latin typeface="Lexend"/>
              <a:ea typeface="Lexend"/>
              <a:cs typeface="Lexend"/>
              <a:sym typeface="Lexend"/>
            </a:endParaRPr>
          </a:p>
          <a:p>
            <a:pPr marL="0" lvl="0" indent="0" algn="l" rtl="0">
              <a:spcBef>
                <a:spcPts val="0"/>
              </a:spcBef>
              <a:spcAft>
                <a:spcPts val="0"/>
              </a:spcAft>
              <a:buNone/>
            </a:pPr>
            <a:r>
              <a:rPr lang="en" sz="1100">
                <a:solidFill>
                  <a:schemeClr val="dk1"/>
                </a:solidFill>
                <a:latin typeface="Lexend"/>
                <a:ea typeface="Lexend"/>
                <a:cs typeface="Lexend"/>
                <a:sym typeface="Lexend"/>
              </a:rPr>
              <a:t>- M150 đề xuất hợp tác trạm tiếp nước txe (1.500 lon nước)</a:t>
            </a:r>
            <a:endParaRPr sz="1100">
              <a:solidFill>
                <a:schemeClr val="dk1"/>
              </a:solidFill>
              <a:latin typeface="Lexend"/>
              <a:ea typeface="Lexend"/>
              <a:cs typeface="Lexend"/>
              <a:sym typeface="Lexend"/>
            </a:endParaRPr>
          </a:p>
          <a:p>
            <a:pPr marL="0" lvl="0" indent="0" algn="l" rtl="0">
              <a:spcBef>
                <a:spcPts val="0"/>
              </a:spcBef>
              <a:spcAft>
                <a:spcPts val="0"/>
              </a:spcAft>
              <a:buNone/>
            </a:pPr>
            <a:r>
              <a:rPr lang="en" sz="1100">
                <a:solidFill>
                  <a:schemeClr val="dk1"/>
                </a:solidFill>
                <a:latin typeface="Lexend"/>
                <a:ea typeface="Lexend"/>
                <a:cs typeface="Lexend"/>
                <a:sym typeface="Lexend"/>
              </a:rPr>
              <a:t>- Vinfast đã gửi danh sách các showroom </a:t>
            </a:r>
            <a:r>
              <a:rPr lang="en" sz="1100" u="sng">
                <a:solidFill>
                  <a:schemeClr val="hlink"/>
                </a:solidFill>
                <a:latin typeface="Lexend"/>
                <a:ea typeface="Lexend"/>
                <a:cs typeface="Lexend"/>
                <a:sym typeface="Lexend"/>
                <a:hlinkClick r:id="rId5"/>
              </a:rPr>
              <a:t>LINK</a:t>
            </a:r>
            <a:endParaRPr sz="1100">
              <a:solidFill>
                <a:schemeClr val="dk1"/>
              </a:solidFill>
              <a:latin typeface="Lexend"/>
              <a:ea typeface="Lexend"/>
              <a:cs typeface="Lexend"/>
              <a:sym typeface="Lexend"/>
            </a:endParaRPr>
          </a:p>
        </p:txBody>
      </p:sp>
      <p:sp>
        <p:nvSpPr>
          <p:cNvPr id="1323" name="Google Shape;1323;p76"/>
          <p:cNvSpPr/>
          <p:nvPr/>
        </p:nvSpPr>
        <p:spPr>
          <a:xfrm>
            <a:off x="174325" y="3014865"/>
            <a:ext cx="8607900" cy="20379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76"/>
          <p:cNvSpPr/>
          <p:nvPr/>
        </p:nvSpPr>
        <p:spPr>
          <a:xfrm>
            <a:off x="147675" y="3014850"/>
            <a:ext cx="59100" cy="2037900"/>
          </a:xfrm>
          <a:prstGeom prst="rect">
            <a:avLst/>
          </a:prstGeom>
          <a:solidFill>
            <a:srgbClr val="0E41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25" name="Google Shape;1325;p76" descr="preencoded.png"/>
          <p:cNvPicPr preferRelativeResize="0"/>
          <p:nvPr/>
        </p:nvPicPr>
        <p:blipFill rotWithShape="1">
          <a:blip r:embed="rId6">
            <a:alphaModFix/>
          </a:blip>
          <a:srcRect/>
          <a:stretch/>
        </p:blipFill>
        <p:spPr>
          <a:xfrm>
            <a:off x="357286" y="3144561"/>
            <a:ext cx="182880" cy="206415"/>
          </a:xfrm>
          <a:prstGeom prst="rect">
            <a:avLst/>
          </a:prstGeom>
          <a:noFill/>
          <a:ln>
            <a:noFill/>
          </a:ln>
        </p:spPr>
      </p:pic>
      <p:sp>
        <p:nvSpPr>
          <p:cNvPr id="1326" name="Google Shape;1326;p76"/>
          <p:cNvSpPr/>
          <p:nvPr/>
        </p:nvSpPr>
        <p:spPr>
          <a:xfrm>
            <a:off x="613318" y="3103278"/>
            <a:ext cx="3657600" cy="28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r>
              <a:rPr lang="en" sz="1100" b="1">
                <a:solidFill>
                  <a:srgbClr val="0E4174"/>
                </a:solidFill>
                <a:latin typeface="Lexend"/>
                <a:ea typeface="Lexend"/>
                <a:cs typeface="Lexend"/>
                <a:sym typeface="Lexend"/>
              </a:rPr>
              <a:t>NEXT ACTION: </a:t>
            </a:r>
            <a:r>
              <a:rPr lang="en" sz="1100" i="1">
                <a:solidFill>
                  <a:srgbClr val="0E4174"/>
                </a:solidFill>
                <a:latin typeface="Lexend"/>
                <a:ea typeface="Lexend"/>
                <a:cs typeface="Lexend"/>
                <a:sym typeface="Lexend"/>
              </a:rPr>
              <a:t>(upcoming activities)</a:t>
            </a:r>
            <a:endParaRPr sz="1100" i="1" u="none" strike="noStrike" cap="none">
              <a:solidFill>
                <a:schemeClr val="dk1"/>
              </a:solidFill>
              <a:latin typeface="Lexend"/>
              <a:ea typeface="Lexend"/>
              <a:cs typeface="Lexend"/>
              <a:sym typeface="Lexend"/>
            </a:endParaRPr>
          </a:p>
        </p:txBody>
      </p:sp>
      <p:sp>
        <p:nvSpPr>
          <p:cNvPr id="1327" name="Google Shape;1327;p76"/>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graphicFrame>
        <p:nvGraphicFramePr>
          <p:cNvPr id="1328" name="Google Shape;1328;p76"/>
          <p:cNvGraphicFramePr/>
          <p:nvPr/>
        </p:nvGraphicFramePr>
        <p:xfrm>
          <a:off x="369736" y="3466912"/>
          <a:ext cx="8100225" cy="1508115"/>
        </p:xfrm>
        <a:graphic>
          <a:graphicData uri="http://schemas.openxmlformats.org/drawingml/2006/table">
            <a:tbl>
              <a:tblPr>
                <a:noFill/>
                <a:tableStyleId>{98498B5D-82F5-4DDD-BB04-C168985C330A}</a:tableStyleId>
              </a:tblPr>
              <a:tblGrid>
                <a:gridCol w="2038550">
                  <a:extLst>
                    <a:ext uri="{9D8B030D-6E8A-4147-A177-3AD203B41FA5}">
                      <a16:colId xmlns:a16="http://schemas.microsoft.com/office/drawing/2014/main" val="20000"/>
                    </a:ext>
                  </a:extLst>
                </a:gridCol>
                <a:gridCol w="3459750">
                  <a:extLst>
                    <a:ext uri="{9D8B030D-6E8A-4147-A177-3AD203B41FA5}">
                      <a16:colId xmlns:a16="http://schemas.microsoft.com/office/drawing/2014/main" val="20001"/>
                    </a:ext>
                  </a:extLst>
                </a:gridCol>
                <a:gridCol w="1147475">
                  <a:extLst>
                    <a:ext uri="{9D8B030D-6E8A-4147-A177-3AD203B41FA5}">
                      <a16:colId xmlns:a16="http://schemas.microsoft.com/office/drawing/2014/main" val="20002"/>
                    </a:ext>
                  </a:extLst>
                </a:gridCol>
                <a:gridCol w="1454450">
                  <a:extLst>
                    <a:ext uri="{9D8B030D-6E8A-4147-A177-3AD203B41FA5}">
                      <a16:colId xmlns:a16="http://schemas.microsoft.com/office/drawing/2014/main" val="20003"/>
                    </a:ext>
                  </a:extLst>
                </a:gridCol>
              </a:tblGrid>
              <a:tr h="377850">
                <a:tc>
                  <a:txBody>
                    <a:bodyPr/>
                    <a:lstStyle/>
                    <a:p>
                      <a:pPr marL="0" marR="0" lvl="0" indent="0" algn="ctr" rtl="0">
                        <a:spcBef>
                          <a:spcPts val="0"/>
                        </a:spcBef>
                        <a:spcAft>
                          <a:spcPts val="0"/>
                        </a:spcAft>
                        <a:buClr>
                          <a:srgbClr val="FFFFFF"/>
                        </a:buClr>
                        <a:buSzPts val="800"/>
                        <a:buFont typeface="Calibri"/>
                        <a:buNone/>
                      </a:pPr>
                      <a:r>
                        <a:rPr lang="en" sz="1000">
                          <a:solidFill>
                            <a:srgbClr val="FFFFFF"/>
                          </a:solidFill>
                          <a:latin typeface="Lexend"/>
                          <a:ea typeface="Lexend"/>
                          <a:cs typeface="Lexend"/>
                          <a:sym typeface="Lexend"/>
                        </a:rPr>
                        <a:t>Hạng mục</a:t>
                      </a:r>
                      <a:endParaRPr sz="1000" u="none" strike="noStrike" cap="none">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0E4174"/>
                    </a:solidFill>
                  </a:tcPr>
                </a:tc>
                <a:tc>
                  <a:txBody>
                    <a:bodyPr/>
                    <a:lstStyle/>
                    <a:p>
                      <a:pPr marL="0" marR="0" lvl="0" indent="0" algn="ctr" rtl="0">
                        <a:spcBef>
                          <a:spcPts val="0"/>
                        </a:spcBef>
                        <a:spcAft>
                          <a:spcPts val="0"/>
                        </a:spcAft>
                        <a:buClr>
                          <a:srgbClr val="FFFFFF"/>
                        </a:buClr>
                        <a:buSzPts val="800"/>
                        <a:buFont typeface="Calibri"/>
                        <a:buNone/>
                      </a:pPr>
                      <a:r>
                        <a:rPr lang="en" sz="1000" u="none" strike="noStrike" cap="none">
                          <a:solidFill>
                            <a:srgbClr val="FFFFFF"/>
                          </a:solidFill>
                          <a:latin typeface="Lexend"/>
                          <a:ea typeface="Lexend"/>
                          <a:cs typeface="Lexend"/>
                          <a:sym typeface="Lexend"/>
                        </a:rPr>
                        <a:t>Hành động</a:t>
                      </a:r>
                      <a:endParaRPr sz="1000" u="none" strike="noStrike" cap="none">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0E4174"/>
                    </a:solidFill>
                  </a:tcPr>
                </a:tc>
                <a:tc>
                  <a:txBody>
                    <a:bodyPr/>
                    <a:lstStyle/>
                    <a:p>
                      <a:pPr marL="0" marR="0" lvl="0" indent="0" algn="ctr" rtl="0">
                        <a:spcBef>
                          <a:spcPts val="0"/>
                        </a:spcBef>
                        <a:spcAft>
                          <a:spcPts val="0"/>
                        </a:spcAft>
                        <a:buClr>
                          <a:srgbClr val="FFFFFF"/>
                        </a:buClr>
                        <a:buSzPts val="800"/>
                        <a:buFont typeface="Calibri"/>
                        <a:buNone/>
                      </a:pPr>
                      <a:r>
                        <a:rPr lang="en" sz="1000">
                          <a:solidFill>
                            <a:srgbClr val="FFFFFF"/>
                          </a:solidFill>
                          <a:latin typeface="Lexend"/>
                          <a:ea typeface="Lexend"/>
                          <a:cs typeface="Lexend"/>
                          <a:sym typeface="Lexend"/>
                        </a:rPr>
                        <a:t>Deadline</a:t>
                      </a:r>
                      <a:endParaRPr sz="1000" u="none" strike="noStrike" cap="none">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0E4174"/>
                    </a:solidFill>
                  </a:tcPr>
                </a:tc>
                <a:tc>
                  <a:txBody>
                    <a:bodyPr/>
                    <a:lstStyle/>
                    <a:p>
                      <a:pPr marL="0" marR="0" lvl="0" indent="0" algn="ctr" rtl="0">
                        <a:spcBef>
                          <a:spcPts val="0"/>
                        </a:spcBef>
                        <a:spcAft>
                          <a:spcPts val="0"/>
                        </a:spcAft>
                        <a:buClr>
                          <a:srgbClr val="FFFFFF"/>
                        </a:buClr>
                        <a:buSzPts val="800"/>
                        <a:buFont typeface="Calibri"/>
                        <a:buNone/>
                      </a:pPr>
                      <a:r>
                        <a:rPr lang="en" sz="1000" u="none" strike="noStrike" cap="none">
                          <a:solidFill>
                            <a:srgbClr val="FFFFFF"/>
                          </a:solidFill>
                          <a:latin typeface="Lexend"/>
                          <a:ea typeface="Lexend"/>
                          <a:cs typeface="Lexend"/>
                          <a:sym typeface="Lexend"/>
                        </a:rPr>
                        <a:t>PIC</a:t>
                      </a:r>
                      <a:endParaRPr sz="1000" u="none" strike="noStrike" cap="none">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0E4174"/>
                    </a:solidFill>
                  </a:tcPr>
                </a:tc>
                <a:extLst>
                  <a:ext uri="{0D108BD9-81ED-4DB2-BD59-A6C34878D82A}">
                    <a16:rowId xmlns:a16="http://schemas.microsoft.com/office/drawing/2014/main" val="10000"/>
                  </a:ext>
                </a:extLst>
              </a:tr>
              <a:tr h="253725">
                <a:tc>
                  <a:txBody>
                    <a:bodyPr/>
                    <a:lstStyle/>
                    <a:p>
                      <a:pPr marL="0" marR="0" lvl="0" indent="0" algn="ctr" rtl="0">
                        <a:spcBef>
                          <a:spcPts val="0"/>
                        </a:spcBef>
                        <a:spcAft>
                          <a:spcPts val="0"/>
                        </a:spcAft>
                        <a:buNone/>
                      </a:pPr>
                      <a:r>
                        <a:rPr lang="en" sz="900">
                          <a:solidFill>
                            <a:schemeClr val="dk1"/>
                          </a:solidFill>
                          <a:latin typeface="Lexend"/>
                          <a:ea typeface="Lexend"/>
                          <a:cs typeface="Lexend"/>
                          <a:sym typeface="Lexend"/>
                        </a:rPr>
                        <a:t>Vinh danh Quý &amp; Trung thu</a:t>
                      </a:r>
                      <a:endParaRPr sz="9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 sz="900">
                          <a:solidFill>
                            <a:schemeClr val="dk1"/>
                          </a:solidFill>
                          <a:latin typeface="Lexend"/>
                          <a:ea typeface="Lexend"/>
                          <a:cs typeface="Lexend"/>
                          <a:sym typeface="Lexend"/>
                        </a:rPr>
                        <a:t>- Hoàn thành plan các sự kiện sắp tới</a:t>
                      </a:r>
                      <a:endParaRPr sz="900">
                        <a:solidFill>
                          <a:schemeClr val="dk1"/>
                        </a:solidFill>
                        <a:latin typeface="Lexend"/>
                        <a:ea typeface="Lexend"/>
                        <a:cs typeface="Lexend"/>
                        <a:sym typeface="Lexend"/>
                      </a:endParaRPr>
                    </a:p>
                    <a:p>
                      <a:pPr marL="0" marR="0" lvl="0" indent="0" algn="l" rtl="0">
                        <a:spcBef>
                          <a:spcPts val="0"/>
                        </a:spcBef>
                        <a:spcAft>
                          <a:spcPts val="0"/>
                        </a:spcAft>
                        <a:buNone/>
                      </a:pPr>
                      <a:r>
                        <a:rPr lang="en" sz="900">
                          <a:solidFill>
                            <a:schemeClr val="dk1"/>
                          </a:solidFill>
                          <a:latin typeface="Lexend"/>
                          <a:ea typeface="Lexend"/>
                          <a:cs typeface="Lexend"/>
                          <a:sym typeface="Lexend"/>
                        </a:rPr>
                        <a:t>- Planning &amp; proposal sponsorship</a:t>
                      </a:r>
                      <a:endParaRPr sz="9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 sz="900">
                          <a:solidFill>
                            <a:schemeClr val="dk1"/>
                          </a:solidFill>
                          <a:latin typeface="Lexend"/>
                          <a:ea typeface="Lexend"/>
                          <a:cs typeface="Lexend"/>
                          <a:sym typeface="Lexend"/>
                        </a:rPr>
                        <a:t>28/8</a:t>
                      </a:r>
                      <a:endParaRPr sz="9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900">
                          <a:solidFill>
                            <a:schemeClr val="dk1"/>
                          </a:solidFill>
                          <a:latin typeface="Lexend"/>
                          <a:ea typeface="Lexend"/>
                          <a:cs typeface="Lexend"/>
                          <a:sym typeface="Lexend"/>
                        </a:rPr>
                        <a:t>Vân/Thúy</a:t>
                      </a:r>
                      <a:endParaRPr sz="9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253725">
                <a:tc>
                  <a:txBody>
                    <a:bodyPr/>
                    <a:lstStyle/>
                    <a:p>
                      <a:pPr marL="0" marR="0" lvl="0" indent="0" algn="ctr" rtl="0">
                        <a:spcBef>
                          <a:spcPts val="0"/>
                        </a:spcBef>
                        <a:spcAft>
                          <a:spcPts val="0"/>
                        </a:spcAft>
                        <a:buNone/>
                      </a:pPr>
                      <a:r>
                        <a:rPr lang="en" sz="900">
                          <a:solidFill>
                            <a:schemeClr val="dk1"/>
                          </a:solidFill>
                          <a:latin typeface="Lexend"/>
                          <a:ea typeface="Lexend"/>
                          <a:cs typeface="Lexend"/>
                          <a:sym typeface="Lexend"/>
                        </a:rPr>
                        <a:t>Review proposal partner</a:t>
                      </a:r>
                      <a:endParaRPr sz="9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 sz="900">
                          <a:solidFill>
                            <a:schemeClr val="dk1"/>
                          </a:solidFill>
                          <a:latin typeface="Lexend"/>
                          <a:ea typeface="Lexend"/>
                          <a:cs typeface="Lexend"/>
                          <a:sym typeface="Lexend"/>
                        </a:rPr>
                        <a:t>- Review các proposal partner còn tồn động: HOME CREDIT, MOVE, MOBIFONE</a:t>
                      </a:r>
                      <a:endParaRPr sz="9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endParaRPr sz="9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9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98725">
                <a:tc>
                  <a:txBody>
                    <a:bodyPr/>
                    <a:lstStyle/>
                    <a:p>
                      <a:pPr marL="0" marR="0" lvl="0" indent="0" algn="ctr" rtl="0">
                        <a:spcBef>
                          <a:spcPts val="0"/>
                        </a:spcBef>
                        <a:spcAft>
                          <a:spcPts val="0"/>
                        </a:spcAft>
                        <a:buNone/>
                      </a:pPr>
                      <a:r>
                        <a:rPr lang="en" sz="900">
                          <a:solidFill>
                            <a:schemeClr val="dk1"/>
                          </a:solidFill>
                          <a:latin typeface="Lexend"/>
                          <a:ea typeface="Lexend"/>
                          <a:cs typeface="Lexend"/>
                          <a:sym typeface="Lexend"/>
                        </a:rPr>
                        <a:t>Aha benefit</a:t>
                      </a:r>
                      <a:endParaRPr sz="9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 sz="900">
                          <a:solidFill>
                            <a:schemeClr val="dk1"/>
                          </a:solidFill>
                          <a:latin typeface="Lexend"/>
                          <a:ea typeface="Lexend"/>
                          <a:cs typeface="Lexend"/>
                          <a:sym typeface="Lexend"/>
                        </a:rPr>
                        <a:t>- Liên hệ lại các partner có deal FREE</a:t>
                      </a:r>
                      <a:endParaRPr sz="900">
                        <a:solidFill>
                          <a:schemeClr val="dk1"/>
                        </a:solidFill>
                        <a:latin typeface="Lexend"/>
                        <a:ea typeface="Lexend"/>
                        <a:cs typeface="Lexend"/>
                        <a:sym typeface="Lexend"/>
                      </a:endParaRPr>
                    </a:p>
                    <a:p>
                      <a:pPr marL="0" marR="0" lvl="0" indent="0" algn="l" rtl="0">
                        <a:spcBef>
                          <a:spcPts val="0"/>
                        </a:spcBef>
                        <a:spcAft>
                          <a:spcPts val="0"/>
                        </a:spcAft>
                        <a:buNone/>
                      </a:pPr>
                      <a:r>
                        <a:rPr lang="en" sz="900">
                          <a:solidFill>
                            <a:schemeClr val="dk1"/>
                          </a:solidFill>
                          <a:latin typeface="Lexend"/>
                          <a:ea typeface="Lexend"/>
                          <a:cs typeface="Lexend"/>
                          <a:sym typeface="Lexend"/>
                        </a:rPr>
                        <a:t>- Xem lại các cate partner SMEs</a:t>
                      </a:r>
                      <a:endParaRPr sz="9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endParaRPr sz="9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900">
                          <a:solidFill>
                            <a:schemeClr val="dk1"/>
                          </a:solidFill>
                          <a:latin typeface="Lexend"/>
                          <a:ea typeface="Lexend"/>
                          <a:cs typeface="Lexend"/>
                          <a:sym typeface="Lexend"/>
                        </a:rPr>
                        <a:t>Vân/Khoa</a:t>
                      </a:r>
                      <a:endParaRPr sz="9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bl>
          </a:graphicData>
        </a:graphic>
      </p:graphicFrame>
      <p:sp>
        <p:nvSpPr>
          <p:cNvPr id="1329" name="Google Shape;1329;p76"/>
          <p:cNvSpPr/>
          <p:nvPr/>
        </p:nvSpPr>
        <p:spPr>
          <a:xfrm>
            <a:off x="4772700" y="961050"/>
            <a:ext cx="4056600" cy="12255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76"/>
          <p:cNvSpPr/>
          <p:nvPr/>
        </p:nvSpPr>
        <p:spPr>
          <a:xfrm>
            <a:off x="4772700" y="961133"/>
            <a:ext cx="47400" cy="1225500"/>
          </a:xfrm>
          <a:prstGeom prst="rect">
            <a:avLst/>
          </a:prstGeom>
          <a:solidFill>
            <a:srgbClr val="EF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76"/>
          <p:cNvSpPr/>
          <p:nvPr/>
        </p:nvSpPr>
        <p:spPr>
          <a:xfrm>
            <a:off x="5157052" y="1060722"/>
            <a:ext cx="2295000" cy="151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4444"/>
              </a:buClr>
              <a:buSzPts val="1200"/>
              <a:buFont typeface="Calibri"/>
              <a:buNone/>
            </a:pPr>
            <a:r>
              <a:rPr lang="en" sz="1200" b="1" i="0" u="none" strike="noStrike" cap="none">
                <a:solidFill>
                  <a:srgbClr val="EF4444"/>
                </a:solidFill>
                <a:latin typeface="Lexend"/>
                <a:ea typeface="Lexend"/>
                <a:cs typeface="Lexend"/>
                <a:sym typeface="Lexend"/>
              </a:rPr>
              <a:t>LOWLIGHTS</a:t>
            </a:r>
            <a:endParaRPr sz="1200" b="1" i="0" u="none" strike="noStrike" cap="none">
              <a:solidFill>
                <a:schemeClr val="dk1"/>
              </a:solidFill>
              <a:latin typeface="Lexend"/>
              <a:ea typeface="Lexend"/>
              <a:cs typeface="Lexend"/>
              <a:sym typeface="Lexend"/>
            </a:endParaRPr>
          </a:p>
        </p:txBody>
      </p:sp>
      <p:pic>
        <p:nvPicPr>
          <p:cNvPr id="1332" name="Google Shape;1332;p76" descr="preencoded.png"/>
          <p:cNvPicPr preferRelativeResize="0"/>
          <p:nvPr/>
        </p:nvPicPr>
        <p:blipFill rotWithShape="1">
          <a:blip r:embed="rId7">
            <a:alphaModFix/>
          </a:blip>
          <a:srcRect/>
          <a:stretch/>
        </p:blipFill>
        <p:spPr>
          <a:xfrm>
            <a:off x="4962647" y="1037095"/>
            <a:ext cx="146282" cy="199054"/>
          </a:xfrm>
          <a:prstGeom prst="rect">
            <a:avLst/>
          </a:prstGeom>
          <a:noFill/>
          <a:ln>
            <a:noFill/>
          </a:ln>
        </p:spPr>
      </p:pic>
      <p:sp>
        <p:nvSpPr>
          <p:cNvPr id="1333" name="Google Shape;1333;p76"/>
          <p:cNvSpPr/>
          <p:nvPr/>
        </p:nvSpPr>
        <p:spPr>
          <a:xfrm>
            <a:off x="4941825" y="1308931"/>
            <a:ext cx="3829800" cy="825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000">
                <a:solidFill>
                  <a:schemeClr val="dk1"/>
                </a:solidFill>
                <a:latin typeface="Lexend"/>
                <a:ea typeface="Lexend"/>
                <a:cs typeface="Lexend"/>
                <a:sym typeface="Lexend"/>
              </a:rPr>
              <a:t>- </a:t>
            </a:r>
            <a:r>
              <a:rPr lang="en" sz="1100">
                <a:solidFill>
                  <a:schemeClr val="dk1"/>
                </a:solidFill>
                <a:latin typeface="Lexend"/>
                <a:ea typeface="Lexend"/>
                <a:cs typeface="Lexend"/>
                <a:sym typeface="Lexend"/>
              </a:rPr>
              <a:t>Luồng data từ partner chưa được quản lý và hệ thống rõ ràng, gây ra việc txe ko được tư vấn kịp thời  </a:t>
            </a:r>
            <a:endParaRPr sz="1100">
              <a:solidFill>
                <a:schemeClr val="dk1"/>
              </a:solidFill>
              <a:latin typeface="Lexend"/>
              <a:ea typeface="Lexend"/>
              <a:cs typeface="Lexend"/>
              <a:sym typeface="Lexend"/>
            </a:endParaRPr>
          </a:p>
          <a:p>
            <a:pPr marL="0" lvl="0" indent="0" algn="l" rtl="0">
              <a:spcBef>
                <a:spcPts val="0"/>
              </a:spcBef>
              <a:spcAft>
                <a:spcPts val="0"/>
              </a:spcAft>
              <a:buNone/>
            </a:pPr>
            <a:r>
              <a:rPr lang="en" sz="1100">
                <a:solidFill>
                  <a:schemeClr val="dk1"/>
                </a:solidFill>
                <a:latin typeface="Lexend"/>
                <a:ea typeface="Lexend"/>
                <a:cs typeface="Lexend"/>
                <a:sym typeface="Lexend"/>
              </a:rPr>
              <a:t>- Event: phát quà tại HAN gặp khó khăn bởi thời tiết</a:t>
            </a:r>
            <a:endParaRPr sz="1100">
              <a:solidFill>
                <a:schemeClr val="dk1"/>
              </a:solidFill>
              <a:latin typeface="Lexend"/>
              <a:ea typeface="Lexend"/>
              <a:cs typeface="Lexend"/>
              <a:sym typeface="Lexend"/>
            </a:endParaRPr>
          </a:p>
          <a:p>
            <a:pPr marL="0" lvl="0" indent="0" algn="l" rtl="0">
              <a:spcBef>
                <a:spcPts val="0"/>
              </a:spcBef>
              <a:spcAft>
                <a:spcPts val="0"/>
              </a:spcAft>
              <a:buNone/>
            </a:pPr>
            <a:r>
              <a:rPr lang="en" sz="1100">
                <a:solidFill>
                  <a:schemeClr val="dk1"/>
                </a:solidFill>
                <a:latin typeface="Lexend"/>
                <a:ea typeface="Lexend"/>
                <a:cs typeface="Lexend"/>
                <a:sym typeface="Lexend"/>
              </a:rPr>
              <a:t>   </a:t>
            </a:r>
            <a:endParaRPr sz="1100">
              <a:solidFill>
                <a:schemeClr val="dk1"/>
              </a:solidFill>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4792</Words>
  <Application>Microsoft Macintosh PowerPoint</Application>
  <PresentationFormat>On-screen Show (16:9)</PresentationFormat>
  <Paragraphs>1096</Paragraphs>
  <Slides>29</Slides>
  <Notes>29</Notes>
  <HiddenSlides>0</HiddenSlides>
  <MMClips>0</MMClips>
  <ScaleCrop>false</ScaleCrop>
  <HeadingPairs>
    <vt:vector size="6" baseType="variant">
      <vt:variant>
        <vt:lpstr>Fonts Used</vt:lpstr>
      </vt:variant>
      <vt:variant>
        <vt:i4>16</vt:i4>
      </vt:variant>
      <vt:variant>
        <vt:lpstr>Theme</vt:lpstr>
      </vt:variant>
      <vt:variant>
        <vt:i4>2</vt:i4>
      </vt:variant>
      <vt:variant>
        <vt:lpstr>Slide Titles</vt:lpstr>
      </vt:variant>
      <vt:variant>
        <vt:i4>29</vt:i4>
      </vt:variant>
    </vt:vector>
  </HeadingPairs>
  <TitlesOfParts>
    <vt:vector size="47" baseType="lpstr">
      <vt:lpstr>Nunito ExtraBold</vt:lpstr>
      <vt:lpstr>Lexend Medium</vt:lpstr>
      <vt:lpstr>Montserrat Black</vt:lpstr>
      <vt:lpstr>Helvetica Neue</vt:lpstr>
      <vt:lpstr>Arial</vt:lpstr>
      <vt:lpstr>Raleway</vt:lpstr>
      <vt:lpstr>Lexend Light</vt:lpstr>
      <vt:lpstr>Nunito</vt:lpstr>
      <vt:lpstr>Bebas Neue</vt:lpstr>
      <vt:lpstr>Nunito Black</vt:lpstr>
      <vt:lpstr>Be Vietnam Pro SemiBold</vt:lpstr>
      <vt:lpstr>Work Sans Medium</vt:lpstr>
      <vt:lpstr>Lexend</vt:lpstr>
      <vt:lpstr>Calibri</vt:lpstr>
      <vt:lpstr>Cambria</vt:lpstr>
      <vt:lpstr>Montserrat</vt:lpstr>
      <vt:lpstr>Simple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sNef</cp:lastModifiedBy>
  <cp:revision>1</cp:revision>
  <dcterms:modified xsi:type="dcterms:W3CDTF">2026-09-03T03:32:25Z</dcterms:modified>
</cp:coreProperties>
</file>