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C"/>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7F32"/>
          </a:solidFill>
          <a:ln/>
        </p:spPr>
        <p:txBody>
          <a:bodyPr/>
          <a:p/>
        </p:txBody>
      </p:sp>
      <p:sp>
        <p:nvSpPr>
          <p:cNvPr id="3" name="Shape 1"/>
          <p:cNvSpPr/>
          <p:nvPr/>
        </p:nvSpPr>
        <p:spPr>
          <a:xfrm>
            <a:off x="8503920" y="502920"/>
            <a:ext cx="2377440" cy="2377440"/>
          </a:xfrm>
          <a:prstGeom prst="ellipse">
            <a:avLst/>
          </a:prstGeom>
          <a:solidFill>
            <a:srgbClr val="FF7F32">
              <a:alpha val="15000"/>
            </a:srgbClr>
          </a:solidFill>
          <a:ln/>
        </p:spPr>
        <p:txBody>
          <a:bodyPr/>
          <a:p/>
        </p:txBody>
      </p:sp>
      <p:sp>
        <p:nvSpPr>
          <p:cNvPr id="4" name="Shape 2"/>
          <p:cNvSpPr/>
          <p:nvPr/>
        </p:nvSpPr>
        <p:spPr>
          <a:xfrm>
            <a:off x="9509760" y="1051560"/>
            <a:ext cx="1554480" cy="1554480"/>
          </a:xfrm>
          <a:prstGeom prst="ellipse">
            <a:avLst/>
          </a:prstGeom>
          <a:solidFill>
            <a:srgbClr val="FF7F32">
              <a:alpha val="40000"/>
            </a:srgbClr>
          </a:solidFill>
          <a:ln/>
        </p:spPr>
        <p:txBody>
          <a:bodyPr/>
          <a:p/>
        </p:txBody>
      </p:sp>
      <p:sp>
        <p:nvSpPr>
          <p:cNvPr id="5" name="Shape 3"/>
          <p:cNvSpPr/>
          <p:nvPr/>
        </p:nvSpPr>
        <p:spPr>
          <a:xfrm>
            <a:off x="9966960" y="2286000"/>
            <a:ext cx="1463040" cy="548640"/>
          </a:xfrm>
          <a:prstGeom prst="roundRect">
            <a:avLst>
              <a:gd name="adj" fmla="val 50000"/>
            </a:avLst>
          </a:prstGeom>
          <a:solidFill>
            <a:srgbClr val="FF7F32">
              <a:alpha val="70000"/>
            </a:srgbClr>
          </a:solidFill>
          <a:ln/>
        </p:spPr>
        <p:txBody>
          <a:bodyPr/>
          <a:p/>
        </p:txBody>
      </p:sp>
      <p:sp>
        <p:nvSpPr>
          <p:cNvPr id="6" name="Shape 4"/>
          <p:cNvSpPr/>
          <p:nvPr/>
        </p:nvSpPr>
        <p:spPr>
          <a:xfrm>
            <a:off x="10698480" y="685800"/>
            <a:ext cx="822960" cy="822960"/>
          </a:xfrm>
          <a:prstGeom prst="ellipse">
            <a:avLst/>
          </a:prstGeom>
          <a:solidFill>
            <a:srgbClr val="FF7F32"/>
          </a:solidFill>
          <a:ln/>
        </p:spPr>
        <p:txBody>
          <a:bodyPr/>
          <a:p/>
        </p:txBody>
      </p:sp>
      <p:sp>
        <p:nvSpPr>
          <p:cNvPr id="7" name="Text 5"/>
          <p:cNvSpPr/>
          <p:nvPr/>
        </p:nvSpPr>
        <p:spPr>
          <a:xfrm>
            <a:off x="731520" y="2103120"/>
            <a:ext cx="10725912"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BÁO CÁO THÁNG 7 / 2026</a:t>
            </a:r>
            <a:endParaRPr lang="en-US" sz="4000" dirty="0"/>
          </a:p>
        </p:txBody>
      </p:sp>
      <p:sp>
        <p:nvSpPr>
          <p:cNvPr id="8" name="Text 6"/>
          <p:cNvSpPr/>
          <p:nvPr/>
        </p:nvSpPr>
        <p:spPr>
          <a:xfrm>
            <a:off x="731520" y="2971800"/>
            <a:ext cx="10725912" cy="457200"/>
          </a:xfrm>
          <a:prstGeom prst="rect">
            <a:avLst/>
          </a:prstGeom>
          <a:noFill/>
          <a:ln/>
        </p:spPr>
        <p:txBody>
          <a:bodyPr wrap="square" lIns="0" tIns="0" rIns="0" bIns="0" rtlCol="0" anchor="ctr"/>
          <a:lstStyle/>
          <a:p>
            <a:pPr indent="0" marL="0">
              <a:buNone/>
            </a:pPr>
            <a:r>
              <a:rPr lang="en-US" sz="1700" dirty="0">
                <a:solidFill>
                  <a:srgbClr val="B8BCC4"/>
                </a:solidFill>
                <a:latin typeface="Arial" pitchFamily="34" charset="0"/>
                <a:ea typeface="Arial" pitchFamily="34" charset="-122"/>
                <a:cs typeface="Arial" pitchFamily="34" charset="-120"/>
              </a:rPr>
              <a:t>Driver Management  |  Khu vực: SGN &amp; HAN</a:t>
            </a:r>
            <a:endParaRPr lang="en-US" sz="1700" dirty="0"/>
          </a:p>
        </p:txBody>
      </p:sp>
      <p:sp>
        <p:nvSpPr>
          <p:cNvPr id="9" name="Shape 7"/>
          <p:cNvSpPr/>
          <p:nvPr/>
        </p:nvSpPr>
        <p:spPr>
          <a:xfrm>
            <a:off x="731520" y="3520440"/>
            <a:ext cx="1005840" cy="45720"/>
          </a:xfrm>
          <a:prstGeom prst="rect">
            <a:avLst/>
          </a:prstGeom>
          <a:solidFill>
            <a:srgbClr val="FF7F32"/>
          </a:solidFill>
          <a:ln/>
        </p:spPr>
        <p:txBody>
          <a:bodyPr/>
          <a:p/>
        </p:txBody>
      </p:sp>
      <p:sp>
        <p:nvSpPr>
          <p:cNvPr id="10" name="Text 8"/>
          <p:cNvSpPr/>
          <p:nvPr/>
        </p:nvSpPr>
        <p:spPr>
          <a:xfrm>
            <a:off x="731520" y="3703320"/>
            <a:ext cx="9875520" cy="457200"/>
          </a:xfrm>
          <a:prstGeom prst="rect">
            <a:avLst/>
          </a:prstGeom>
          <a:noFill/>
          <a:ln/>
        </p:spPr>
        <p:txBody>
          <a:bodyPr wrap="square" lIns="0" tIns="0" rIns="0" bIns="0" rtlCol="0" anchor="ctr"/>
          <a:lstStyle/>
          <a:p>
            <a:pPr indent="0" marL="0">
              <a:buNone/>
            </a:pPr>
            <a:r>
              <a:rPr lang="en-US" sz="1200" dirty="0">
                <a:solidFill>
                  <a:srgbClr val="8A8F99"/>
                </a:solidFill>
                <a:latin typeface="Arial" pitchFamily="34" charset="0"/>
                <a:ea typeface="Arial" pitchFamily="34" charset="-122"/>
                <a:cs typeface="Arial" pitchFamily="34" charset="-120"/>
              </a:rPr>
              <a:t>Core deck — theme màu Ahamove, thiết kế tối giản: card viền mỏng, tiêu đề nhận định, icon minh hoạ</a:t>
            </a:r>
            <a:endParaRPr lang="en-US" sz="1200" dirty="0"/>
          </a:p>
        </p:txBody>
      </p:sp>
      <p:sp>
        <p:nvSpPr>
          <p:cNvPr id="11" name="Text 9"/>
          <p:cNvSpPr/>
          <p:nvPr/>
        </p:nvSpPr>
        <p:spPr>
          <a:xfrm>
            <a:off x="731520" y="4343400"/>
            <a:ext cx="7772400" cy="1280160"/>
          </a:xfrm>
          <a:prstGeom prst="rect">
            <a:avLst/>
          </a:prstGeom>
          <a:noFill/>
          <a:ln/>
        </p:spPr>
        <p:txBody>
          <a:bodyPr wrap="square" lIns="0" tIns="0" rIns="0" bIns="0" rtlCol="0" anchor="t"/>
          <a:lstStyle/>
          <a:p>
            <a:pPr indent="0" marL="0">
              <a:buNone/>
            </a:pPr>
            <a:r>
              <a:rPr lang="en-US" sz="1100" dirty="0">
                <a:solidFill>
                  <a:srgbClr val="8A8F99"/>
                </a:solidFill>
                <a:latin typeface="Arial" pitchFamily="34" charset="0"/>
                <a:ea typeface="Arial" pitchFamily="34" charset="-122"/>
                <a:cs typeface="Arial" pitchFamily="34" charset="-120"/>
              </a:rPr>
              <a:t>3 câu hỏi sẽ được trả lời trong báo cáo này:</a:t>
            </a:r>
            <a:endParaRPr lang="en-US" sz="1100" dirty="0"/>
          </a:p>
          <a:p>
            <a:pPr indent="0" marL="0">
              <a:buNone/>
            </a:pPr>
            <a:r>
              <a:rPr lang="en-US" sz="1100" dirty="0">
                <a:solidFill>
                  <a:srgbClr val="8A8F99"/>
                </a:solidFill>
                <a:latin typeface="Arial" pitchFamily="34" charset="0"/>
                <a:ea typeface="Arial" pitchFamily="34" charset="-122"/>
                <a:cs typeface="Arial" pitchFamily="34" charset="-120"/>
              </a:rPr>
              <a:t>1. Vì sao FT active HAN giảm dù retention cải thiện?</a:t>
            </a:r>
            <a:endParaRPr lang="en-US" sz="1100" dirty="0"/>
          </a:p>
          <a:p>
            <a:pPr indent="0" marL="0">
              <a:buNone/>
            </a:pPr>
            <a:r>
              <a:rPr lang="en-US" sz="1100" dirty="0">
                <a:solidFill>
                  <a:srgbClr val="8A8F99"/>
                </a:solidFill>
                <a:latin typeface="Arial" pitchFamily="34" charset="0"/>
                <a:ea typeface="Arial" pitchFamily="34" charset="-122"/>
                <a:cs typeface="Arial" pitchFamily="34" charset="-120"/>
              </a:rPr>
              <a:t>2. MiniHub có đáng scale tiếp không?</a:t>
            </a:r>
            <a:endParaRPr lang="en-US" sz="1100" dirty="0"/>
          </a:p>
          <a:p>
            <a:pPr indent="0" marL="0">
              <a:buNone/>
            </a:pPr>
            <a:r>
              <a:rPr lang="en-US" sz="1100" dirty="0">
                <a:solidFill>
                  <a:srgbClr val="8A8F99"/>
                </a:solidFill>
                <a:latin typeface="Arial" pitchFamily="34" charset="0"/>
                <a:ea typeface="Arial" pitchFamily="34" charset="-122"/>
                <a:cs typeface="Arial" pitchFamily="34" charset="-120"/>
              </a:rPr>
              <a:t>3. Ngân sách EV tháng 8 nên ưu tiên gì?</a:t>
            </a:r>
            <a:endParaRPr lang="en-US" sz="1100" dirty="0"/>
          </a:p>
        </p:txBody>
      </p:sp>
      <p:sp>
        <p:nvSpPr>
          <p:cNvPr id="12" name="Text 10"/>
          <p:cNvSpPr/>
          <p:nvPr/>
        </p:nvSpPr>
        <p:spPr>
          <a:xfrm>
            <a:off x="731520" y="6263640"/>
            <a:ext cx="7315200" cy="365760"/>
          </a:xfrm>
          <a:prstGeom prst="rect">
            <a:avLst/>
          </a:prstGeom>
          <a:noFill/>
          <a:ln/>
        </p:spPr>
        <p:txBody>
          <a:bodyPr wrap="square" lIns="0" tIns="0" rIns="0" bIns="0" rtlCol="0" anchor="ctr"/>
          <a:lstStyle/>
          <a:p>
            <a:pPr indent="0" marL="0">
              <a:buNone/>
            </a:pPr>
            <a:r>
              <a:rPr lang="en-US" sz="1100" dirty="0">
                <a:solidFill>
                  <a:srgbClr val="8A8F99"/>
                </a:solidFill>
                <a:latin typeface="Arial" pitchFamily="34" charset="0"/>
                <a:ea typeface="Arial" pitchFamily="34" charset="-122"/>
                <a:cs typeface="Arial" pitchFamily="34" charset="-120"/>
              </a:rPr>
              <a:t>Chủ trì report: Trang + Khanh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TỔNG KẾT THÁNG 7 · 3 CÂU HỎI MỞ</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Tháng 7: chất lượng tốt, nhưng quy mô &amp; giữ chân tài xế đang chậm lại</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133856"/>
            <a:ext cx="45720" cy="512064"/>
          </a:xfrm>
          <a:prstGeom prst="rect">
            <a:avLst/>
          </a:prstGeom>
          <a:solidFill>
            <a:srgbClr val="FF7F32"/>
          </a:solidFill>
          <a:ln/>
        </p:spPr>
        <p:txBody>
          <a:body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pPr>
            <a:r>
              <a:rPr lang="en-US" sz="1100" b="1" dirty="0">
                <a:solidFill>
                  <a:srgbClr val="D9631A"/>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CTR/GDR tốt ở cả 2 khu vực, nhưng CR nhóm PT/GR và retention SGN là 2 điểm nghẽn kéo dài cần xử lý trước tháng 8.</a:t>
            </a:r>
            <a:endParaRPr lang="en-US" sz="1100" dirty="0"/>
          </a:p>
        </p:txBody>
      </p:sp>
      <p:sp>
        <p:nvSpPr>
          <p:cNvPr id="9" name="Shape 7"/>
          <p:cNvSpPr/>
          <p:nvPr/>
        </p:nvSpPr>
        <p:spPr>
          <a:xfrm>
            <a:off x="548640" y="1874520"/>
            <a:ext cx="5349240" cy="54864"/>
          </a:xfrm>
          <a:prstGeom prst="rect">
            <a:avLst/>
          </a:prstGeom>
          <a:solidFill>
            <a:srgbClr val="1B8A5A"/>
          </a:solidFill>
          <a:ln/>
        </p:spPr>
        <p:txBody>
          <a:bodyPr/>
          <a:p/>
        </p:txBody>
      </p:sp>
      <p:sp>
        <p:nvSpPr>
          <p:cNvPr id="10" name="Shape 8"/>
          <p:cNvSpPr/>
          <p:nvPr/>
        </p:nvSpPr>
        <p:spPr>
          <a:xfrm>
            <a:off x="548640" y="1929384"/>
            <a:ext cx="5349240" cy="2551176"/>
          </a:xfrm>
          <a:prstGeom prst="rect">
            <a:avLst/>
          </a:prstGeom>
          <a:solidFill>
            <a:srgbClr val="16213E"/>
          </a:solidFill>
          <a:ln w="12700">
            <a:solidFill>
              <a:srgbClr val="283C5F"/>
            </a:solidFill>
            <a:prstDash val="solid"/>
          </a:ln>
        </p:spPr>
        <p:txBody>
          <a:bodyPr/>
          <a:p/>
        </p:txBody>
      </p:sp>
      <p:sp>
        <p:nvSpPr>
          <p:cNvPr id="11" name="Text 9"/>
          <p:cNvSpPr/>
          <p:nvPr/>
        </p:nvSpPr>
        <p:spPr>
          <a:xfrm>
            <a:off x="777240" y="2057400"/>
            <a:ext cx="4892040" cy="320040"/>
          </a:xfrm>
          <a:prstGeom prst="rect">
            <a:avLst/>
          </a:prstGeom>
          <a:noFill/>
          <a:ln/>
        </p:spPr>
        <p:txBody>
          <a:bodyPr wrap="square" lIns="0" tIns="0" rIns="0" bIns="0" rtlCol="0" anchor="ctr"/>
          <a:lstStyle/>
          <a:p>
            <a:pPr indent="0" marL="0">
              <a:buNone/>
            </a:pPr>
            <a:r>
              <a:rPr lang="en-US" sz="1300" b="1" dirty="0">
                <a:solidFill>
                  <a:srgbClr val="E2E8F0"/>
                </a:solidFill>
                <a:latin typeface="Arial" pitchFamily="34" charset="0"/>
                <a:ea typeface="Arial" pitchFamily="34" charset="-122"/>
                <a:cs typeface="Arial" pitchFamily="34" charset="-120"/>
              </a:rPr>
              <a:t>HIGHLIGHTS</a:t>
            </a:r>
            <a:endParaRPr lang="en-US" sz="1300" dirty="0"/>
          </a:p>
        </p:txBody>
      </p:sp>
      <p:sp>
        <p:nvSpPr>
          <p:cNvPr id="12" name="Text 10"/>
          <p:cNvSpPr/>
          <p:nvPr/>
        </p:nvSpPr>
        <p:spPr>
          <a:xfrm>
            <a:off x="777240" y="2404872"/>
            <a:ext cx="4892040" cy="1874520"/>
          </a:xfrm>
          <a:prstGeom prst="rect">
            <a:avLst/>
          </a:prstGeom>
          <a:noFill/>
          <a:ln/>
        </p:spPr>
        <p:txBody>
          <a:bodyPr wrap="square" lIns="0" tIns="0" rIns="0" bIns="0" rtlCol="0" anchor="t"/>
          <a:lstStyle/>
          <a:p>
            <a:pPr indent="0" marL="0">
              <a:buNone/>
            </a:pPr>
            <a:r>
              <a:rPr lang="en-US" sz="1100" b="1" dirty="0">
                <a:solidFill>
                  <a:srgbClr val="E2E8F0"/>
                </a:solidFill>
                <a:latin typeface="Arial" pitchFamily="34" charset="0"/>
                <a:ea typeface="Arial" pitchFamily="34" charset="-122"/>
                <a:cs typeface="Arial" pitchFamily="34" charset="-120"/>
              </a:rPr>
              <a:t>HAN  </a:t>
            </a:r>
            <a:pPr indent="0" marL="0">
              <a:buNone/>
            </a:pPr>
            <a:r>
              <a:rPr lang="en-US" sz="1100" dirty="0">
                <a:solidFill>
                  <a:srgbClr val="6B6B6B"/>
                </a:solidFill>
                <a:latin typeface="Arial" pitchFamily="34" charset="0"/>
                <a:ea typeface="Arial" pitchFamily="34" charset="-122"/>
                <a:cs typeface="Arial" pitchFamily="34" charset="-120"/>
              </a:rPr>
              <a:t>SH tăng nhẹ, FR ~80%; checkin rate Hub đạt đỉnh </a:t>
            </a:r>
            <a:pPr indent="0" marL="0">
              <a:buNone/>
            </a:pPr>
            <a:r>
              <a:rPr lang="en-US" sz="1100" b="1" dirty="0">
                <a:solidFill>
                  <a:srgbClr val="E2E8F0"/>
                </a:solidFill>
                <a:latin typeface="Arial" pitchFamily="34" charset="0"/>
                <a:ea typeface="Arial" pitchFamily="34" charset="-122"/>
                <a:cs typeface="Arial" pitchFamily="34" charset="-120"/>
              </a:rPr>
              <a:t>86%</a:t>
            </a:r>
            <a:pPr indent="0" marL="0">
              <a:buNone/>
            </a:pPr>
            <a:r>
              <a:rPr lang="en-US" sz="1100" dirty="0">
                <a:solidFill>
                  <a:srgbClr val="6B6B6B"/>
                </a:solidFill>
                <a:latin typeface="Arial" pitchFamily="34" charset="0"/>
                <a:ea typeface="Arial" pitchFamily="34" charset="-122"/>
                <a:cs typeface="Arial" pitchFamily="34" charset="-120"/>
              </a:rPr>
              <a:t>; CTR/GDR duy trì </a:t>
            </a:r>
            <a:pPr indent="0" marL="0">
              <a:buNone/>
            </a:pPr>
            <a:r>
              <a:rPr lang="en-US" sz="1100" b="1" dirty="0">
                <a:solidFill>
                  <a:srgbClr val="E2E8F0"/>
                </a:solidFill>
                <a:latin typeface="Arial" pitchFamily="34" charset="0"/>
                <a:ea typeface="Arial" pitchFamily="34" charset="-122"/>
                <a:cs typeface="Arial" pitchFamily="34" charset="-120"/>
              </a:rPr>
              <a:t>100% target</a:t>
            </a:r>
            <a:pPr indent="0" marL="0">
              <a:spcAft>
                <a:spcPts val="800"/>
              </a:spcAft>
              <a:buNone/>
            </a:pPr>
            <a:r>
              <a:rPr lang="en-US" sz="1100" dirty="0">
                <a:solidFill>
                  <a:srgbClr val="6B6B6B"/>
                </a:solidFill>
                <a:latin typeface="Arial" pitchFamily="34" charset="0"/>
                <a:ea typeface="Arial" pitchFamily="34" charset="-122"/>
                <a:cs typeface="Arial" pitchFamily="34" charset="-120"/>
              </a:rPr>
              <a:t>.</a:t>
            </a:r>
            <a:endParaRPr lang="en-US" sz="1100" dirty="0"/>
          </a:p>
          <a:p>
            <a:pPr indent="0" marL="0">
              <a:buNone/>
            </a:pPr>
            <a:r>
              <a:rPr lang="en-US" sz="1100" b="1" dirty="0">
                <a:solidFill>
                  <a:srgbClr val="E2E8F0"/>
                </a:solidFill>
                <a:latin typeface="Arial" pitchFamily="34" charset="0"/>
                <a:ea typeface="Arial" pitchFamily="34" charset="-122"/>
                <a:cs typeface="Arial" pitchFamily="34" charset="-120"/>
              </a:rPr>
              <a:t>SGN  </a:t>
            </a:r>
            <a:pPr indent="0" marL="0">
              <a:buNone/>
            </a:pPr>
            <a:r>
              <a:rPr lang="en-US" sz="1100" dirty="0">
                <a:solidFill>
                  <a:srgbClr val="6B6B6B"/>
                </a:solidFill>
                <a:latin typeface="Arial" pitchFamily="34" charset="0"/>
                <a:ea typeface="Arial" pitchFamily="34" charset="-122"/>
                <a:cs typeface="Arial" pitchFamily="34" charset="-120"/>
              </a:rPr>
              <a:t>SH tăng </a:t>
            </a:r>
            <a:pPr indent="0" marL="0">
              <a:buNone/>
            </a:pPr>
            <a:r>
              <a:rPr lang="en-US" sz="1100" b="1" dirty="0">
                <a:solidFill>
                  <a:srgbClr val="E2E8F0"/>
                </a:solidFill>
                <a:latin typeface="Arial" pitchFamily="34" charset="0"/>
                <a:ea typeface="Arial" pitchFamily="34" charset="-122"/>
                <a:cs typeface="Arial" pitchFamily="34" charset="-120"/>
              </a:rPr>
              <a:t>5.6% MoM</a:t>
            </a:r>
            <a:pPr indent="0" marL="0">
              <a:buNone/>
            </a:pPr>
            <a:r>
              <a:rPr lang="en-US" sz="1100" dirty="0">
                <a:solidFill>
                  <a:srgbClr val="6B6B6B"/>
                </a:solidFill>
                <a:latin typeface="Arial" pitchFamily="34" charset="0"/>
                <a:ea typeface="Arial" pitchFamily="34" charset="-122"/>
                <a:cs typeface="Arial" pitchFamily="34" charset="-120"/>
              </a:rPr>
              <a:t>; retention vượt MoM &amp; YoY nhưng chưa đạt target </a:t>
            </a:r>
            <a:pPr indent="0" marL="0">
              <a:buNone/>
            </a:pPr>
            <a:r>
              <a:rPr lang="en-US" sz="1100" b="1" dirty="0">
                <a:solidFill>
                  <a:srgbClr val="E2E8F0"/>
                </a:solidFill>
                <a:latin typeface="Arial" pitchFamily="34" charset="0"/>
                <a:ea typeface="Arial" pitchFamily="34" charset="-122"/>
                <a:cs typeface="Arial" pitchFamily="34" charset="-120"/>
              </a:rPr>
              <a:t>82%</a:t>
            </a:r>
            <a:pPr indent="0" marL="0">
              <a:spcAft>
                <a:spcPts val="800"/>
              </a:spcAft>
              <a:buNone/>
            </a:pPr>
            <a:r>
              <a:rPr lang="en-US" sz="1100" dirty="0">
                <a:solidFill>
                  <a:srgbClr val="6B6B6B"/>
                </a:solidFill>
                <a:latin typeface="Arial" pitchFamily="34" charset="0"/>
                <a:ea typeface="Arial" pitchFamily="34" charset="-122"/>
                <a:cs typeface="Arial" pitchFamily="34" charset="-120"/>
              </a:rPr>
              <a:t>.</a:t>
            </a:r>
            <a:endParaRPr lang="en-US" sz="1100" dirty="0"/>
          </a:p>
          <a:p>
            <a:pPr indent="0" marL="0">
              <a:buNone/>
            </a:pPr>
            <a:r>
              <a:rPr lang="en-US" sz="1100" b="1" dirty="0">
                <a:solidFill>
                  <a:srgbClr val="E2E8F0"/>
                </a:solidFill>
                <a:latin typeface="Arial" pitchFamily="34" charset="0"/>
                <a:ea typeface="Arial" pitchFamily="34" charset="-122"/>
                <a:cs typeface="Arial" pitchFamily="34" charset="-120"/>
              </a:rPr>
              <a:t>NW  </a:t>
            </a:r>
            <a:pPr indent="0" marL="0">
              <a:buNone/>
            </a:pPr>
            <a:r>
              <a:rPr lang="en-US" sz="1100" dirty="0">
                <a:solidFill>
                  <a:srgbClr val="6B6B6B"/>
                </a:solidFill>
                <a:latin typeface="Arial" pitchFamily="34" charset="0"/>
                <a:ea typeface="Arial" pitchFamily="34" charset="-122"/>
                <a:cs typeface="Arial" pitchFamily="34" charset="-120"/>
              </a:rPr>
              <a:t>GDR </a:t>
            </a:r>
            <a:pPr indent="0" marL="0">
              <a:buNone/>
            </a:pPr>
            <a:r>
              <a:rPr lang="en-US" sz="1100" b="1" dirty="0">
                <a:solidFill>
                  <a:srgbClr val="E2E8F0"/>
                </a:solidFill>
                <a:latin typeface="Arial" pitchFamily="34" charset="0"/>
                <a:ea typeface="Arial" pitchFamily="34" charset="-122"/>
                <a:cs typeface="Arial" pitchFamily="34" charset="-120"/>
              </a:rPr>
              <a:t>94.82%</a:t>
            </a:r>
            <a:pPr indent="0" marL="0">
              <a:buNone/>
            </a:pPr>
            <a:r>
              <a:rPr lang="en-US" sz="1100" dirty="0">
                <a:solidFill>
                  <a:srgbClr val="6B6B6B"/>
                </a:solidFill>
                <a:latin typeface="Arial" pitchFamily="34" charset="0"/>
                <a:ea typeface="Arial" pitchFamily="34" charset="-122"/>
                <a:cs typeface="Arial" pitchFamily="34" charset="-120"/>
              </a:rPr>
              <a:t> (100% target, +0.17% MoM); CTR </a:t>
            </a:r>
            <a:pPr indent="0" marL="0">
              <a:buNone/>
            </a:pPr>
            <a:r>
              <a:rPr lang="en-US" sz="1100" b="1" dirty="0">
                <a:solidFill>
                  <a:srgbClr val="E2E8F0"/>
                </a:solidFill>
                <a:latin typeface="Arial" pitchFamily="34" charset="0"/>
                <a:ea typeface="Arial" pitchFamily="34" charset="-122"/>
                <a:cs typeface="Arial" pitchFamily="34" charset="-120"/>
              </a:rPr>
              <a:t>77.69%</a:t>
            </a:r>
            <a:pPr indent="0" marL="0">
              <a:buNone/>
            </a:pPr>
            <a:r>
              <a:rPr lang="en-US" sz="1100" dirty="0">
                <a:solidFill>
                  <a:srgbClr val="6B6B6B"/>
                </a:solidFill>
                <a:latin typeface="Arial" pitchFamily="34" charset="0"/>
                <a:ea typeface="Arial" pitchFamily="34" charset="-122"/>
                <a:cs typeface="Arial" pitchFamily="34" charset="-120"/>
              </a:rPr>
              <a:t> (130% target, +0.48% MoM).</a:t>
            </a:r>
            <a:endParaRPr lang="en-US" sz="1100" dirty="0"/>
          </a:p>
        </p:txBody>
      </p:sp>
      <p:sp>
        <p:nvSpPr>
          <p:cNvPr id="13" name="Shape 11"/>
          <p:cNvSpPr/>
          <p:nvPr/>
        </p:nvSpPr>
        <p:spPr>
          <a:xfrm>
            <a:off x="6263640" y="1874520"/>
            <a:ext cx="5349240" cy="54864"/>
          </a:xfrm>
          <a:prstGeom prst="rect">
            <a:avLst/>
          </a:prstGeom>
          <a:solidFill>
            <a:srgbClr val="E5342E"/>
          </a:solidFill>
          <a:ln/>
        </p:spPr>
        <p:txBody>
          <a:bodyPr/>
          <a:p/>
        </p:txBody>
      </p:sp>
      <p:sp>
        <p:nvSpPr>
          <p:cNvPr id="14" name="Shape 12"/>
          <p:cNvSpPr/>
          <p:nvPr/>
        </p:nvSpPr>
        <p:spPr>
          <a:xfrm>
            <a:off x="6263640" y="1929384"/>
            <a:ext cx="5349240" cy="2551176"/>
          </a:xfrm>
          <a:prstGeom prst="rect">
            <a:avLst/>
          </a:prstGeom>
          <a:solidFill>
            <a:srgbClr val="16213E"/>
          </a:solidFill>
          <a:ln w="12700">
            <a:solidFill>
              <a:srgbClr val="283C5F"/>
            </a:solidFill>
            <a:prstDash val="solid"/>
          </a:ln>
        </p:spPr>
        <p:txBody>
          <a:bodyPr/>
          <a:p/>
        </p:txBody>
      </p:sp>
      <p:sp>
        <p:nvSpPr>
          <p:cNvPr id="15" name="Text 13"/>
          <p:cNvSpPr/>
          <p:nvPr/>
        </p:nvSpPr>
        <p:spPr>
          <a:xfrm>
            <a:off x="6492240" y="2057400"/>
            <a:ext cx="4892040" cy="320040"/>
          </a:xfrm>
          <a:prstGeom prst="rect">
            <a:avLst/>
          </a:prstGeom>
          <a:noFill/>
          <a:ln/>
        </p:spPr>
        <p:txBody>
          <a:bodyPr wrap="square" lIns="0" tIns="0" rIns="0" bIns="0" rtlCol="0" anchor="ctr"/>
          <a:lstStyle/>
          <a:p>
            <a:pPr indent="0" marL="0">
              <a:buNone/>
            </a:pPr>
            <a:r>
              <a:rPr lang="en-US" sz="1300" b="1" dirty="0">
                <a:solidFill>
                  <a:srgbClr val="E2E8F0"/>
                </a:solidFill>
                <a:latin typeface="Arial" pitchFamily="34" charset="0"/>
                <a:ea typeface="Arial" pitchFamily="34" charset="-122"/>
                <a:cs typeface="Arial" pitchFamily="34" charset="-120"/>
              </a:rPr>
              <a:t>LOWLIGHTS</a:t>
            </a:r>
            <a:endParaRPr lang="en-US" sz="1300" dirty="0"/>
          </a:p>
        </p:txBody>
      </p:sp>
      <p:sp>
        <p:nvSpPr>
          <p:cNvPr id="16" name="Text 14"/>
          <p:cNvSpPr/>
          <p:nvPr/>
        </p:nvSpPr>
        <p:spPr>
          <a:xfrm>
            <a:off x="6492240" y="2404872"/>
            <a:ext cx="4892040" cy="1874520"/>
          </a:xfrm>
          <a:prstGeom prst="rect">
            <a:avLst/>
          </a:prstGeom>
          <a:noFill/>
          <a:ln/>
        </p:spPr>
        <p:txBody>
          <a:bodyPr wrap="square" lIns="0" tIns="0" rIns="0" bIns="0" rtlCol="0" anchor="t"/>
          <a:lstStyle/>
          <a:p>
            <a:pPr indent="0" marL="0">
              <a:buNone/>
            </a:pPr>
            <a:r>
              <a:rPr lang="en-US" sz="1100" b="1" dirty="0">
                <a:solidFill>
                  <a:srgbClr val="E2E8F0"/>
                </a:solidFill>
                <a:latin typeface="Arial" pitchFamily="34" charset="0"/>
                <a:ea typeface="Arial" pitchFamily="34" charset="-122"/>
                <a:cs typeface="Arial" pitchFamily="34" charset="-120"/>
              </a:rPr>
              <a:t>HAN  </a:t>
            </a:r>
            <a:pPr indent="0" marL="0">
              <a:buNone/>
            </a:pPr>
            <a:r>
              <a:rPr lang="en-US" sz="1100" dirty="0">
                <a:solidFill>
                  <a:srgbClr val="6B6B6B"/>
                </a:solidFill>
                <a:latin typeface="Arial" pitchFamily="34" charset="0"/>
                <a:ea typeface="Arial" pitchFamily="34" charset="-122"/>
                <a:cs typeface="Arial" pitchFamily="34" charset="-120"/>
              </a:rPr>
              <a:t>CR Poc chung tăng </a:t>
            </a:r>
            <a:pPr indent="0" marL="0">
              <a:buNone/>
            </a:pPr>
            <a:r>
              <a:rPr lang="en-US" sz="1100" b="1" dirty="0">
                <a:solidFill>
                  <a:srgbClr val="E2E8F0"/>
                </a:solidFill>
                <a:latin typeface="Arial" pitchFamily="34" charset="0"/>
                <a:ea typeface="Arial" pitchFamily="34" charset="-122"/>
                <a:cs typeface="Arial" pitchFamily="34" charset="-120"/>
              </a:rPr>
              <a:t>0.13% MoM</a:t>
            </a:r>
            <a:pPr indent="0" marL="0">
              <a:spcAft>
                <a:spcPts val="800"/>
              </a:spcAft>
              <a:buNone/>
            </a:pPr>
            <a:r>
              <a:rPr lang="en-US" sz="1100" dirty="0">
                <a:solidFill>
                  <a:srgbClr val="6B6B6B"/>
                </a:solidFill>
                <a:latin typeface="Arial" pitchFamily="34" charset="0"/>
                <a:ea typeface="Arial" pitchFamily="34" charset="-122"/>
                <a:cs typeface="Arial" pitchFamily="34" charset="-120"/>
              </a:rPr>
              <a:t>, chưa đảo chiều.</a:t>
            </a:r>
            <a:endParaRPr lang="en-US" sz="1100" dirty="0"/>
          </a:p>
          <a:p>
            <a:pPr indent="0" marL="0">
              <a:buNone/>
            </a:pPr>
            <a:r>
              <a:rPr lang="en-US" sz="1100" b="1" dirty="0">
                <a:solidFill>
                  <a:srgbClr val="E2E8F0"/>
                </a:solidFill>
                <a:latin typeface="Arial" pitchFamily="34" charset="0"/>
                <a:ea typeface="Arial" pitchFamily="34" charset="-122"/>
                <a:cs typeface="Arial" pitchFamily="34" charset="-120"/>
              </a:rPr>
              <a:t>SGN  </a:t>
            </a:r>
            <a:pPr indent="0" marL="0">
              <a:buNone/>
            </a:pPr>
            <a:r>
              <a:rPr lang="en-US" sz="1100" dirty="0">
                <a:solidFill>
                  <a:srgbClr val="6B6B6B"/>
                </a:solidFill>
                <a:latin typeface="Arial" pitchFamily="34" charset="0"/>
                <a:ea typeface="Arial" pitchFamily="34" charset="-122"/>
                <a:cs typeface="Arial" pitchFamily="34" charset="-120"/>
              </a:rPr>
              <a:t>CR nhóm GR (NIM, NLM) vẫn cao, NLM </a:t>
            </a:r>
            <a:pPr indent="0" marL="0">
              <a:buNone/>
            </a:pPr>
            <a:r>
              <a:rPr lang="en-US" sz="1100" b="1" dirty="0">
                <a:solidFill>
                  <a:srgbClr val="E2E8F0"/>
                </a:solidFill>
                <a:latin typeface="Arial" pitchFamily="34" charset="0"/>
                <a:ea typeface="Arial" pitchFamily="34" charset="-122"/>
                <a:cs typeface="Arial" pitchFamily="34" charset="-120"/>
              </a:rPr>
              <a:t>&gt;14%</a:t>
            </a:r>
            <a:pPr indent="0" marL="0">
              <a:spcAft>
                <a:spcPts val="800"/>
              </a:spcAft>
              <a:buNone/>
            </a:pPr>
            <a:r>
              <a:rPr lang="en-US" sz="1100" dirty="0">
                <a:solidFill>
                  <a:srgbClr val="6B6B6B"/>
                </a:solidFill>
                <a:latin typeface="Arial" pitchFamily="34" charset="0"/>
                <a:ea typeface="Arial" pitchFamily="34" charset="-122"/>
                <a:cs typeface="Arial" pitchFamily="34" charset="-120"/>
              </a:rPr>
              <a:t> — cao nhất trong các segment.</a:t>
            </a:r>
            <a:endParaRPr lang="en-US" sz="1100" dirty="0"/>
          </a:p>
          <a:p>
            <a:pPr indent="0" marL="0">
              <a:buNone/>
            </a:pPr>
            <a:r>
              <a:rPr lang="en-US" sz="1100" b="1" dirty="0">
                <a:solidFill>
                  <a:srgbClr val="E2E8F0"/>
                </a:solidFill>
                <a:latin typeface="Arial" pitchFamily="34" charset="0"/>
                <a:ea typeface="Arial" pitchFamily="34" charset="-122"/>
                <a:cs typeface="Arial" pitchFamily="34" charset="-120"/>
              </a:rPr>
              <a:t>Action T7  </a:t>
            </a:r>
            <a:pPr indent="0" marL="0">
              <a:buNone/>
            </a:pPr>
            <a:r>
              <a:rPr lang="en-US" sz="1100" dirty="0">
                <a:solidFill>
                  <a:srgbClr val="6B6B6B"/>
                </a:solidFill>
                <a:latin typeface="Arial" pitchFamily="34" charset="0"/>
                <a:ea typeface="Arial" pitchFamily="34" charset="-122"/>
                <a:cs typeface="Arial" pitchFamily="34" charset="-120"/>
              </a:rPr>
              <a:t>Đã triển khai </a:t>
            </a:r>
            <a:pPr indent="0" marL="0">
              <a:buNone/>
            </a:pPr>
            <a:r>
              <a:rPr lang="en-US" sz="1100" b="1" dirty="0">
                <a:solidFill>
                  <a:srgbClr val="E2E8F0"/>
                </a:solidFill>
                <a:latin typeface="Arial" pitchFamily="34" charset="0"/>
                <a:ea typeface="Arial" pitchFamily="34" charset="-122"/>
                <a:cs typeface="Arial" pitchFamily="34" charset="-120"/>
              </a:rPr>
              <a:t>2 chương trình</a:t>
            </a:r>
            <a:pPr indent="0" marL="0">
              <a:buNone/>
            </a:pPr>
            <a:r>
              <a:rPr lang="en-US" sz="1100" dirty="0">
                <a:solidFill>
                  <a:srgbClr val="6B6B6B"/>
                </a:solidFill>
                <a:latin typeface="Arial" pitchFamily="34" charset="0"/>
                <a:ea typeface="Arial" pitchFamily="34" charset="-122"/>
                <a:cs typeface="Arial" pitchFamily="34" charset="-120"/>
              </a:rPr>
              <a:t> retention trong tháng.</a:t>
            </a:r>
            <a:endParaRPr lang="en-US" sz="1100" dirty="0"/>
          </a:p>
        </p:txBody>
      </p:sp>
      <p:sp>
        <p:nvSpPr>
          <p:cNvPr id="17" name="Shape 15"/>
          <p:cNvSpPr/>
          <p:nvPr/>
        </p:nvSpPr>
        <p:spPr>
          <a:xfrm>
            <a:off x="548640" y="4709160"/>
            <a:ext cx="11091672" cy="54864"/>
          </a:xfrm>
          <a:prstGeom prst="rect">
            <a:avLst/>
          </a:prstGeom>
          <a:solidFill>
            <a:srgbClr val="FF7F32"/>
          </a:solidFill>
          <a:ln/>
        </p:spPr>
        <p:txBody>
          <a:bodyPr/>
          <a:p/>
        </p:txBody>
      </p:sp>
      <p:sp>
        <p:nvSpPr>
          <p:cNvPr id="18" name="Shape 16"/>
          <p:cNvSpPr/>
          <p:nvPr/>
        </p:nvSpPr>
        <p:spPr>
          <a:xfrm>
            <a:off x="548640" y="4764024"/>
            <a:ext cx="11091672" cy="1316736"/>
          </a:xfrm>
          <a:prstGeom prst="rect">
            <a:avLst/>
          </a:prstGeom>
          <a:solidFill>
            <a:srgbClr val="1E3A8A"/>
          </a:solidFill>
          <a:ln w="12700">
            <a:solidFill>
              <a:srgbClr val="FF7300"/>
            </a:solidFill>
            <a:prstDash val="solid"/>
          </a:ln>
        </p:spPr>
        <p:txBody>
          <a:bodyPr/>
          <a:p/>
        </p:txBody>
      </p:sp>
      <p:sp>
        <p:nvSpPr>
          <p:cNvPr id="19" name="Text 17"/>
          <p:cNvSpPr/>
          <p:nvPr/>
        </p:nvSpPr>
        <p:spPr>
          <a:xfrm>
            <a:off x="777240" y="4864608"/>
            <a:ext cx="10607040" cy="274320"/>
          </a:xfrm>
          <a:prstGeom prst="rect">
            <a:avLst/>
          </a:prstGeom>
          <a:noFill/>
          <a:ln/>
        </p:spPr>
        <p:txBody>
          <a:bodyPr wrap="square" lIns="0" tIns="0" rIns="0" bIns="0" rtlCol="0" anchor="ctr"/>
          <a:lstStyle/>
          <a:p>
            <a:pPr indent="0" marL="0">
              <a:buNone/>
            </a:pPr>
            <a:r>
              <a:rPr lang="en-US" sz="1050" b="1" dirty="0">
                <a:solidFill>
                  <a:srgbClr val="8A8F99"/>
                </a:solidFill>
                <a:latin typeface="Arial" pitchFamily="34" charset="0"/>
                <a:ea typeface="Arial" pitchFamily="34" charset="-122"/>
                <a:cs typeface="Arial" pitchFamily="34" charset="-120"/>
              </a:rPr>
              <a:t>3 CÂU HỎI BÁO CÁO NÀY SẼ TRẢ LỜI (XEM LẠI Ở SLIDE CUỐI)</a:t>
            </a:r>
            <a:endParaRPr lang="en-US" sz="1050" dirty="0"/>
          </a:p>
        </p:txBody>
      </p:sp>
      <p:sp>
        <p:nvSpPr>
          <p:cNvPr id="20" name="Text 18"/>
          <p:cNvSpPr/>
          <p:nvPr/>
        </p:nvSpPr>
        <p:spPr>
          <a:xfrm>
            <a:off x="777240" y="5138928"/>
            <a:ext cx="10607040" cy="822960"/>
          </a:xfrm>
          <a:prstGeom prst="rect">
            <a:avLst/>
          </a:prstGeom>
          <a:noFill/>
          <a:ln/>
        </p:spPr>
        <p:txBody>
          <a:bodyPr wrap="square" lIns="0" tIns="0" rIns="0" bIns="0" rtlCol="0" anchor="t"/>
          <a:lstStyle/>
          <a:p>
            <a:pPr indent="0" marL="0">
              <a:buNone/>
            </a:pPr>
            <a:r>
              <a:rPr lang="en-US" sz="1150" b="1" dirty="0">
                <a:solidFill>
                  <a:srgbClr val="FF7F32"/>
                </a:solidFill>
                <a:latin typeface="Arial" pitchFamily="34" charset="0"/>
                <a:ea typeface="Arial" pitchFamily="34" charset="-122"/>
                <a:cs typeface="Arial" pitchFamily="34" charset="-120"/>
              </a:rPr>
              <a:t>1  </a:t>
            </a:r>
            <a:pPr indent="0" marL="0">
              <a:buNone/>
            </a:pPr>
            <a:r>
              <a:rPr lang="en-US" sz="1150" dirty="0">
                <a:solidFill>
                  <a:srgbClr val="FFFFFF"/>
                </a:solidFill>
                <a:latin typeface="Arial" pitchFamily="34" charset="0"/>
                <a:ea typeface="Arial" pitchFamily="34" charset="-122"/>
                <a:cs typeface="Arial" pitchFamily="34" charset="-120"/>
              </a:rPr>
              <a:t>Vì sao FT active HAN giảm dù retention đã cải thiện?     </a:t>
            </a:r>
            <a:pPr indent="0" marL="0">
              <a:buNone/>
            </a:pPr>
            <a:r>
              <a:rPr lang="en-US" sz="1150" b="1" dirty="0">
                <a:solidFill>
                  <a:srgbClr val="FF7F32"/>
                </a:solidFill>
                <a:latin typeface="Arial" pitchFamily="34" charset="0"/>
                <a:ea typeface="Arial" pitchFamily="34" charset="-122"/>
                <a:cs typeface="Arial" pitchFamily="34" charset="-120"/>
              </a:rPr>
              <a:t>2  </a:t>
            </a:r>
            <a:pPr indent="0" marL="0">
              <a:buNone/>
            </a:pPr>
            <a:r>
              <a:rPr lang="en-US" sz="1150" dirty="0">
                <a:solidFill>
                  <a:srgbClr val="FFFFFF"/>
                </a:solidFill>
                <a:latin typeface="Arial" pitchFamily="34" charset="0"/>
                <a:ea typeface="Arial" pitchFamily="34" charset="-122"/>
                <a:cs typeface="Arial" pitchFamily="34" charset="-120"/>
              </a:rPr>
              <a:t>MiniHub có đáng scale tiếp không?     </a:t>
            </a:r>
            <a:pPr indent="0" marL="0">
              <a:buNone/>
            </a:pPr>
            <a:r>
              <a:rPr lang="en-US" sz="1150" b="1" dirty="0">
                <a:solidFill>
                  <a:srgbClr val="FF7F32"/>
                </a:solidFill>
                <a:latin typeface="Arial" pitchFamily="34" charset="0"/>
                <a:ea typeface="Arial" pitchFamily="34" charset="-122"/>
                <a:cs typeface="Arial" pitchFamily="34" charset="-120"/>
              </a:rPr>
              <a:t>3  </a:t>
            </a:r>
            <a:pPr indent="0" marL="0">
              <a:buNone/>
            </a:pPr>
            <a:r>
              <a:rPr lang="en-US" sz="1150" dirty="0">
                <a:solidFill>
                  <a:srgbClr val="FFFFFF"/>
                </a:solidFill>
                <a:latin typeface="Arial" pitchFamily="34" charset="0"/>
                <a:ea typeface="Arial" pitchFamily="34" charset="-122"/>
                <a:cs typeface="Arial" pitchFamily="34" charset="-120"/>
              </a:rPr>
              <a:t>Ngân sách EV tháng 8 nên ưu tiên gì?</a:t>
            </a:r>
            <a:endParaRPr lang="en-US" sz="115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OKR SCORECARD · QUÝ 3</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OKR Quý 3: Baga vượt target, nhưng 4/6 Objective đang ở mức Đỏ</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133856"/>
            <a:ext cx="45720" cy="512064"/>
          </a:xfrm>
          <a:prstGeom prst="rect">
            <a:avLst/>
          </a:prstGeom>
          <a:solidFill>
            <a:srgbClr val="FF7F32"/>
          </a:solidFill>
          <a:ln/>
        </p:spPr>
        <p:txBody>
          <a:body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pPr>
            <a:r>
              <a:rPr lang="en-US" sz="1100" b="1" dirty="0">
                <a:solidFill>
                  <a:srgbClr val="D9631A"/>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Gộp từ 4 bảng OKR riêng lẻ (DM, Project, DE, Ops Growth) về 1 hệ RAG duy nhất để so sánh trên cùng một view.</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434840"/>
        </p:xfrm>
        <a:graphic>
          <a:graphicData uri="http://schemas.openxmlformats.org/drawingml/2006/table">
            <a:tbl>
              <a:tblPr/>
              <a:tblGrid>
                <a:gridCol w="2743200"/>
                <a:gridCol w="3840480"/>
                <a:gridCol w="822960"/>
                <a:gridCol w="3685032"/>
              </a:tblGrid>
              <a:tr h="633549">
                <a:tc>
                  <a:txBody>
                    <a:bodyPr/>
                    <a:lstStyle/>
                    <a:p>
                      <a:pPr indent="0" marL="0">
                        <a:buNone/>
                      </a:pPr>
                      <a:r>
                        <a:rPr lang="en-US" sz="1100" b="1" dirty="0">
                          <a:solidFill>
                            <a:srgbClr val="FFFFFF"/>
                          </a:solidFill>
                          <a:latin typeface="Arial" pitchFamily="34" charset="0"/>
                          <a:ea typeface="Arial" pitchFamily="34" charset="-122"/>
                          <a:cs typeface="Arial" pitchFamily="34" charset="-120"/>
                        </a:rPr>
                        <a:t>Objective</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Tiến độ nổi bật tháng 7</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RAG</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Ghi chú</a:t>
                      </a:r>
                      <a:endParaRPr lang="en-US" sz="11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Củng cố Driver Moat (Baga, FT, DQS ranking)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Baga active đạt 68.2% (50% KR); FT active chỉ đạt 10% KR; DQS ranking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E5342E"/>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Baga tiến triển tốt nhất, FT &amp; ranking chậm nhất</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Bứt phá chuyển đổi EV</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EV active đạt 66% KR (HAN 539/1006, SGN 706/873); ký partner mới chưa có actual</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C77700"/>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Active tăng tốt, lead conversion &amp; partner cần đẩy nhanh</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Scale MiniHub</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Online rate 95% KR, PPH 96% KR; Volume chỉ 36% KR, Cityzone 30% KR, chuẩn hoá Captain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E5342E"/>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Chất lượng tốt nhưng tốc độ mở rộng chậm</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Ứng dụng AI &amp; automation</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Cả 2 KR (align Tech roadmap, xác định source AI) đều chưa bắt đầu</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E5342E"/>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Cần chốt kế hoạch phối hợp Tech trong tháng 8</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Đối tác &amp; Benefit tài xế (DE)</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3 partner mới đang đàm phán; package Ahabenefit đang thiết kế nhưng redeem rate chưa cải thiện</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C77700"/>
                          </a:solidFill>
                          <a:latin typeface="Arial" pitchFamily="34" charset="0"/>
                          <a:ea typeface="Arial" pitchFamily="34" charset="-122"/>
                          <a:cs typeface="Arial" pitchFamily="34" charset="-120"/>
                        </a:rPr>
                        <a:t>■  VÀNG</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Move/VF/Shinhan đang ở giai đoạn proposal/survey</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633549">
                <a:tc>
                  <a:txBody>
                    <a:bodyPr/>
                    <a:lstStyle/>
                    <a:p>
                      <a:pPr indent="0" marL="0">
                        <a:buNone/>
                      </a:pPr>
                      <a:r>
                        <a:rPr lang="en-US" sz="1000" b="1" dirty="0">
                          <a:solidFill>
                            <a:srgbClr val="141414"/>
                          </a:solidFill>
                          <a:latin typeface="Arial" pitchFamily="34" charset="0"/>
                          <a:ea typeface="Arial" pitchFamily="34" charset="-122"/>
                          <a:cs typeface="Arial" pitchFamily="34" charset="-120"/>
                        </a:rPr>
                        <a:t>Ops Growth (Onboarding, Retention, Phân loại)</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6B6B6B"/>
                          </a:solidFill>
                          <a:latin typeface="Arial" pitchFamily="34" charset="0"/>
                          <a:ea typeface="Arial" pitchFamily="34" charset="-122"/>
                          <a:cs typeface="Arial" pitchFamily="34" charset="-120"/>
                        </a:rPr>
                        <a:t>Chuẩn hoá Onboarding 35%, cải thiện Retention 10%, phân loại FT/PT 0%</a:t>
                      </a:r>
                      <a:endParaRPr lang="en-US" sz="95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1000" b="1" dirty="0">
                          <a:solidFill>
                            <a:srgbClr val="E5342E"/>
                          </a:solidFill>
                          <a:latin typeface="Arial" pitchFamily="34" charset="0"/>
                          <a:ea typeface="Arial" pitchFamily="34" charset="-122"/>
                          <a:cs typeface="Arial" pitchFamily="34" charset="-120"/>
                        </a:rPr>
                        <a:t>■  ĐỎ</a:t>
                      </a:r>
                      <a:endParaRPr lang="en-US" sz="10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Cả 3 KR đều dưới 40% tiến độ</a:t>
                      </a:r>
                      <a:endParaRPr lang="en-US" sz="900" dirty="0">
                        <a:latin typeface="Arial" charset="0"/>
                        <a:ea typeface="Arial" charset="0"/>
                        <a:cs typeface="Arial" charset="0"/>
                      </a:endParaRPr>
                    </a:p>
                  </a:txBody>
                  <a:tcPr marL="63500" marR="63500" marT="38100" marB="3810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bl>
          </a:graphicData>
        </a:graphic>
      </p:graphicFrame>
      <p:sp>
        <p:nvSpPr>
          <p:cNvPr id="10" name="Shape 7"/>
          <p:cNvSpPr/>
          <p:nvPr/>
        </p:nvSpPr>
        <p:spPr>
          <a:xfrm>
            <a:off x="548640" y="6510528"/>
            <a:ext cx="11091672" cy="0"/>
          </a:xfrm>
          <a:prstGeom prst="line">
            <a:avLst/>
          </a:prstGeom>
          <a:noFill/>
          <a:ln w="15875">
            <a:solidFill>
              <a:srgbClr val="FF7F32"/>
            </a:solidFill>
            <a:prstDash val="solid"/>
          </a:ln>
        </p:spPr>
        <p:txBody>
          <a:bodyPr/>
          <a:p/>
        </p:txBody>
      </p:sp>
      <p:sp>
        <p:nvSpPr>
          <p:cNvPr id="11" name="Text 8"/>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12" name="Text 9"/>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pPr>
            <a:r>
              <a:rPr lang="en-US" sz="850" i="1" dirty="0">
                <a:solidFill>
                  <a:srgbClr val="6B6B6B"/>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E3A8A"/>
          </a:solidFill>
          <a:ln w="12700">
            <a:solidFill>
              <a:srgbClr val="FF7300"/>
            </a:solidFill>
          </a:ln>
        </p:spPr>
        <p:txBody>
          <a:bodyPr/>
          <a:p/>
        </p:txBody>
      </p:sp>
      <p:sp>
        <p:nvSpPr>
          <p:cNvPr id="4" name="Shape 2"/>
          <p:cNvSpPr/>
          <p:nvPr/>
        </p:nvSpPr>
        <p:spPr>
          <a:xfrm>
            <a:off x="548640" y="320040"/>
            <a:ext cx="2718054" cy="45720"/>
          </a:xfrm>
          <a:prstGeom prst="rect">
            <a:avLst/>
          </a:prstGeom>
          <a:solidFill>
            <a:srgbClr val="FF7F32"/>
          </a:solidFill>
          <a:ln/>
        </p:spPr>
        <p:txBody>
          <a:bodyPr/>
          <a:p/>
        </p:txBody>
      </p:sp>
      <p:sp>
        <p:nvSpPr>
          <p:cNvPr id="5" name="Text 3"/>
          <p:cNvSpPr/>
          <p:nvPr/>
        </p:nvSpPr>
        <p:spPr>
          <a:xfrm>
            <a:off x="548640" y="365760"/>
            <a:ext cx="271805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MiniHub</a:t>
            </a:r>
            <a:endParaRPr lang="en-US" sz="1100" dirty="0"/>
          </a:p>
        </p:txBody>
      </p:sp>
      <p:sp>
        <p:nvSpPr>
          <p:cNvPr id="6" name="Shape 4"/>
          <p:cNvSpPr/>
          <p:nvPr/>
        </p:nvSpPr>
        <p:spPr>
          <a:xfrm>
            <a:off x="3339846" y="365760"/>
            <a:ext cx="2718054" cy="365760"/>
          </a:xfrm>
          <a:prstGeom prst="rect">
            <a:avLst/>
          </a:prstGeom>
          <a:solidFill>
            <a:srgbClr val="16213E"/>
          </a:solidFill>
          <a:ln w="12700">
            <a:solidFill>
              <a:srgbClr val="283C5F"/>
            </a:solidFill>
          </a:ln>
        </p:spPr>
        <p:txBody>
          <a:body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6213E"/>
          </a:solidFill>
          <a:ln w="12700">
            <a:solidFill>
              <a:srgbClr val="283C5F"/>
            </a:solidFill>
          </a:ln>
        </p:spPr>
        <p:txBody>
          <a:body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E5342E"/>
          </a:solidFill>
          <a:ln/>
        </p:spPr>
        <p:txBody>
          <a:body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MH</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pPr>
            <a:r>
              <a:rPr lang="en-US" sz="1700" b="1" dirty="0">
                <a:solidFill>
                  <a:srgbClr val="E5342E"/>
                </a:solidFill>
                <a:latin typeface="Arial" pitchFamily="34" charset="0"/>
                <a:ea typeface="Arial" pitchFamily="34" charset="-122"/>
                <a:cs typeface="Arial" pitchFamily="34" charset="-120"/>
              </a:rPr>
              <a:t>MiniHub:</a:t>
            </a:r>
            <a:pPr indent="0" marL="0">
              <a:buNone/>
            </a:pPr>
            <a:r>
              <a:rPr lang="en-US" sz="1700" b="1" dirty="0">
                <a:solidFill>
                  <a:srgbClr val="E2E8F0"/>
                </a:solidFill>
                <a:latin typeface="Arial" pitchFamily="34" charset="0"/>
                <a:ea typeface="Arial" pitchFamily="34" charset="-122"/>
                <a:cs typeface="Arial" pitchFamily="34" charset="-120"/>
              </a:rPr>
              <a:t> chất lượng vận hành tốt, nhưng tốc độ scale đang chậm hơn kế hoạch</a:t>
            </a:r>
            <a:endParaRPr lang="en-US" sz="1700" dirty="0"/>
          </a:p>
        </p:txBody>
      </p:sp>
      <p:sp>
        <p:nvSpPr>
          <p:cNvPr id="15" name="Shape 13"/>
          <p:cNvSpPr/>
          <p:nvPr/>
        </p:nvSpPr>
        <p:spPr>
          <a:xfrm>
            <a:off x="10332720" y="1051560"/>
            <a:ext cx="146304" cy="146304"/>
          </a:xfrm>
          <a:prstGeom prst="rect">
            <a:avLst/>
          </a:prstGeom>
          <a:solidFill>
            <a:srgbClr val="E5342E"/>
          </a:solidFill>
          <a:ln/>
        </p:spPr>
        <p:txBody>
          <a:body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ĐỎ</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p:txBody>
      </p:sp>
      <p:sp>
        <p:nvSpPr>
          <p:cNvPr id="18" name="Shape 16"/>
          <p:cNvSpPr/>
          <p:nvPr/>
        </p:nvSpPr>
        <p:spPr>
          <a:xfrm>
            <a:off x="548640" y="1783080"/>
            <a:ext cx="3017520" cy="54864"/>
          </a:xfrm>
          <a:prstGeom prst="rect">
            <a:avLst/>
          </a:prstGeom>
          <a:solidFill>
            <a:srgbClr val="1E3A8A"/>
          </a:solidFill>
          <a:ln w="12700">
            <a:solidFill>
              <a:srgbClr val="FF7300"/>
            </a:solidFill>
          </a:ln>
        </p:spPr>
        <p:txBody>
          <a:body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~2x</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PPH của Hub cao gấp ~2 lần Mass ở cả 2 thành phố</a:t>
            </a:r>
            <a:endParaRPr lang="en-US" sz="900" dirty="0"/>
          </a:p>
        </p:txBody>
      </p:sp>
      <p:sp>
        <p:nvSpPr>
          <p:cNvPr id="22" name="Shape 20"/>
          <p:cNvSpPr/>
          <p:nvPr/>
        </p:nvSpPr>
        <p:spPr>
          <a:xfrm>
            <a:off x="3063240" y="1965960"/>
            <a:ext cx="457200" cy="192024"/>
          </a:xfrm>
          <a:prstGeom prst="triangle">
            <a:avLst/>
          </a:prstGeom>
          <a:solidFill>
            <a:srgbClr val="D9631A"/>
          </a:solidFill>
          <a:ln/>
        </p:spPr>
        <p:txBody>
          <a:bodyPr/>
          <a:p/>
        </p:txBody>
      </p:sp>
      <p:sp>
        <p:nvSpPr>
          <p:cNvPr id="23" name="Shape 21"/>
          <p:cNvSpPr/>
          <p:nvPr/>
        </p:nvSpPr>
        <p:spPr>
          <a:xfrm>
            <a:off x="3099816" y="2148840"/>
            <a:ext cx="384048" cy="251460"/>
          </a:xfrm>
          <a:prstGeom prst="rect">
            <a:avLst/>
          </a:prstGeom>
          <a:solidFill>
            <a:srgbClr val="D9631A"/>
          </a:solidFill>
          <a:ln/>
        </p:spPr>
        <p:txBody>
          <a:bodyPr/>
          <a:p/>
        </p:txBody>
      </p:sp>
      <p:sp>
        <p:nvSpPr>
          <p:cNvPr id="24" name="Shape 22"/>
          <p:cNvSpPr/>
          <p:nvPr/>
        </p:nvSpPr>
        <p:spPr>
          <a:xfrm>
            <a:off x="3246120" y="2263140"/>
            <a:ext cx="91440" cy="137160"/>
          </a:xfrm>
          <a:prstGeom prst="rect">
            <a:avLst/>
          </a:prstGeom>
          <a:solidFill>
            <a:srgbClr val="16213E"/>
          </a:solidFill>
          <a:ln w="12700">
            <a:solidFill>
              <a:srgbClr val="283C5F"/>
            </a:solidFill>
          </a:ln>
        </p:spPr>
        <p:txBody>
          <a:bodyPr/>
          <a:p/>
        </p:txBody>
      </p:sp>
      <p:sp>
        <p:nvSpPr>
          <p:cNvPr id="25" name="Shape 23"/>
          <p:cNvSpPr/>
          <p:nvPr/>
        </p:nvSpPr>
        <p:spPr>
          <a:xfrm>
            <a:off x="548640" y="2670048"/>
            <a:ext cx="3017520" cy="347472"/>
          </a:xfrm>
          <a:prstGeom prst="rect">
            <a:avLst/>
          </a:prstGeom>
          <a:solidFill>
            <a:srgbClr val="16213E"/>
          </a:solidFill>
          <a:ln w="12700">
            <a:solidFill>
              <a:srgbClr val="283C5F"/>
            </a:solidFill>
          </a:ln>
        </p:spPr>
        <p:txBody>
          <a:bodyPr/>
          <a:p/>
        </p:txBody>
      </p:sp>
      <p:sp>
        <p:nvSpPr>
          <p:cNvPr id="26" name="Shape 24"/>
          <p:cNvSpPr/>
          <p:nvPr/>
        </p:nvSpPr>
        <p:spPr>
          <a:xfrm>
            <a:off x="548640" y="2670048"/>
            <a:ext cx="45720" cy="347472"/>
          </a:xfrm>
          <a:prstGeom prst="rect">
            <a:avLst/>
          </a:prstGeom>
          <a:solidFill>
            <a:srgbClr val="E5342E"/>
          </a:solidFill>
          <a:ln/>
        </p:spPr>
        <p:txBody>
          <a:bodyPr/>
          <a:p/>
        </p:txBody>
      </p:sp>
      <p:sp>
        <p:nvSpPr>
          <p:cNvPr id="27" name="Text 25"/>
          <p:cNvSpPr/>
          <p:nvPr/>
        </p:nvSpPr>
        <p:spPr>
          <a:xfrm>
            <a:off x="713232" y="2688336"/>
            <a:ext cx="274320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8" name="Text 26"/>
          <p:cNvSpPr/>
          <p:nvPr/>
        </p:nvSpPr>
        <p:spPr>
          <a:xfrm>
            <a:off x="713232" y="2834640"/>
            <a:ext cx="2743200" cy="182880"/>
          </a:xfrm>
          <a:prstGeom prst="rect">
            <a:avLst/>
          </a:prstGeom>
          <a:noFill/>
          <a:ln/>
        </p:spPr>
        <p:txBody>
          <a:bodyPr wrap="square" lIns="0" tIns="0" rIns="0" bIns="0" rtlCol="0" anchor="ctr"/>
          <a:lstStyle/>
          <a:p>
            <a:pPr indent="0" marL="0">
              <a:buNone/>
            </a:pPr>
            <a:r>
              <a:rPr lang="en-US" sz="1000" b="1" dirty="0">
                <a:solidFill>
                  <a:srgbClr val="E5342E"/>
                </a:solidFill>
                <a:latin typeface="Arial" pitchFamily="34" charset="0"/>
                <a:ea typeface="Arial" pitchFamily="34" charset="-122"/>
                <a:cs typeface="Arial" pitchFamily="34" charset="-120"/>
              </a:rPr>
              <a:t>Go/no-go PnL trước 15/8</a:t>
            </a:r>
            <a:endParaRPr lang="en-US" sz="1000" dirty="0"/>
          </a:p>
        </p:txBody>
      </p:sp>
      <p:sp>
        <p:nvSpPr>
          <p:cNvPr id="29" name="Shape 27"/>
          <p:cNvSpPr/>
          <p:nvPr/>
        </p:nvSpPr>
        <p:spPr>
          <a:xfrm>
            <a:off x="548640" y="3337560"/>
            <a:ext cx="3017520" cy="54864"/>
          </a:xfrm>
          <a:prstGeom prst="rect">
            <a:avLst/>
          </a:prstGeom>
          <a:solidFill>
            <a:srgbClr val="FF7F32"/>
          </a:solidFill>
          <a:ln/>
        </p:spPr>
        <p:txBody>
          <a:bodyPr/>
          <a:p/>
        </p:txBody>
      </p:sp>
      <p:sp>
        <p:nvSpPr>
          <p:cNvPr id="30" name="Shape 28"/>
          <p:cNvSpPr/>
          <p:nvPr/>
        </p:nvSpPr>
        <p:spPr>
          <a:xfrm>
            <a:off x="548640" y="3392424"/>
            <a:ext cx="3017520" cy="2779776"/>
          </a:xfrm>
          <a:prstGeom prst="rect">
            <a:avLst/>
          </a:prstGeom>
          <a:solidFill>
            <a:srgbClr val="16213E"/>
          </a:solidFill>
          <a:ln w="12700">
            <a:solidFill>
              <a:srgbClr val="283C5F"/>
            </a:solidFill>
            <a:prstDash val="solid"/>
          </a:ln>
        </p:spPr>
        <p:txBody>
          <a:bodyPr/>
          <a:p/>
        </p:txBody>
      </p:sp>
      <p:sp>
        <p:nvSpPr>
          <p:cNvPr id="31" name="Text 29"/>
          <p:cNvSpPr/>
          <p:nvPr/>
        </p:nvSpPr>
        <p:spPr>
          <a:xfrm>
            <a:off x="731520" y="3474720"/>
            <a:ext cx="2651760" cy="228600"/>
          </a:xfrm>
          <a:prstGeom prst="rect">
            <a:avLst/>
          </a:prstGeom>
          <a:noFill/>
          <a:ln/>
        </p:spPr>
        <p:txBody>
          <a:bodyPr wrap="square" lIns="0" tIns="0" rIns="0" bIns="0" rtlCol="0" anchor="ctr"/>
          <a:lstStyle/>
          <a:p>
            <a:pPr indent="0" marL="0">
              <a:buNone/>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2" name="Text 30"/>
          <p:cNvSpPr/>
          <p:nvPr/>
        </p:nvSpPr>
        <p:spPr>
          <a:xfrm>
            <a:off x="731520" y="3721608"/>
            <a:ext cx="2651760" cy="914400"/>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Zone theo ranh giới cũ; KPI Leader chưa tách riêng theo từng khu vực; dispatch dùng chung 1 layer cho cả zone.</a:t>
            </a:r>
            <a:endParaRPr lang="en-US" sz="950" dirty="0"/>
          </a:p>
        </p:txBody>
      </p:sp>
      <p:sp>
        <p:nvSpPr>
          <p:cNvPr id="33" name="Text 31"/>
          <p:cNvSpPr/>
          <p:nvPr/>
        </p:nvSpPr>
        <p:spPr>
          <a:xfrm>
            <a:off x="731520" y="4617720"/>
            <a:ext cx="2651760" cy="228600"/>
          </a:xfrm>
          <a:prstGeom prst="rect">
            <a:avLst/>
          </a:prstGeom>
          <a:noFill/>
          <a:ln/>
        </p:spPr>
        <p:txBody>
          <a:bodyPr wrap="square" lIns="0" tIns="0" rIns="0" bIns="0" rtlCol="0" anchor="ctr"/>
          <a:lstStyle/>
          <a:p>
            <a:pPr algn="ctr" indent="0" marL="0">
              <a:buNone/>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4" name="Text 32"/>
          <p:cNvSpPr/>
          <p:nvPr/>
        </p:nvSpPr>
        <p:spPr>
          <a:xfrm>
            <a:off x="731520" y="4873752"/>
            <a:ext cx="26517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5" name="Text 33"/>
          <p:cNvSpPr/>
          <p:nvPr/>
        </p:nvSpPr>
        <p:spPr>
          <a:xfrm>
            <a:off x="731520" y="5120640"/>
            <a:ext cx="2651760" cy="914400"/>
          </a:xfrm>
          <a:prstGeom prst="rect">
            <a:avLst/>
          </a:prstGeom>
          <a:noFill/>
          <a:ln/>
        </p:spPr>
        <p:txBody>
          <a:bodyPr wrap="square" lIns="0" tIns="0" rIns="0" bIns="0" rtlCol="0" anchor="t"/>
          <a:lstStyle/>
          <a:p>
            <a:pPr indent="0" marL="0">
              <a:buNone/>
            </a:pPr>
            <a:r>
              <a:rPr lang="en-US" sz="950" dirty="0">
                <a:solidFill>
                  <a:srgbClr val="E2E8F0"/>
                </a:solidFill>
                <a:latin typeface="Arial" pitchFamily="34" charset="0"/>
                <a:ea typeface="Arial" pitchFamily="34" charset="-122"/>
                <a:cs typeface="Arial" pitchFamily="34" charset="-120"/>
              </a:rPr>
              <a:t>Từ 6/7: HAN chuyển sang mô hình Hub quận, mở thêm Bigzone &amp; Z24; NW áp dụng combine rule mới &amp; dispatch layer riêng; KPI Leader đánh giá theo từng zone.</a:t>
            </a:r>
            <a:endParaRPr lang="en-US" sz="950" dirty="0"/>
          </a:p>
        </p:txBody>
      </p:sp>
      <p:sp>
        <p:nvSpPr>
          <p:cNvPr id="36" name="Shape 34"/>
          <p:cNvSpPr/>
          <p:nvPr/>
        </p:nvSpPr>
        <p:spPr>
          <a:xfrm>
            <a:off x="3794760" y="1783080"/>
            <a:ext cx="3858768" cy="54864"/>
          </a:xfrm>
          <a:prstGeom prst="rect">
            <a:avLst/>
          </a:prstGeom>
          <a:solidFill>
            <a:srgbClr val="6B6B6B"/>
          </a:solidFill>
          <a:ln/>
        </p:spPr>
        <p:txBody>
          <a:bodyPr/>
          <a:p/>
        </p:txBody>
      </p:sp>
      <p:sp>
        <p:nvSpPr>
          <p:cNvPr id="37" name="Shape 35"/>
          <p:cNvSpPr/>
          <p:nvPr/>
        </p:nvSpPr>
        <p:spPr>
          <a:xfrm>
            <a:off x="3794760" y="1837944"/>
            <a:ext cx="3858768" cy="2093976"/>
          </a:xfrm>
          <a:prstGeom prst="rect">
            <a:avLst/>
          </a:prstGeom>
          <a:solidFill>
            <a:srgbClr val="16213E"/>
          </a:solidFill>
          <a:ln w="12700">
            <a:solidFill>
              <a:srgbClr val="283C5F"/>
            </a:solidFill>
            <a:prstDash val="solid"/>
          </a:ln>
        </p:spPr>
        <p:txBody>
          <a:bodyPr/>
          <a:p/>
        </p:txBody>
      </p:sp>
      <p:sp>
        <p:nvSpPr>
          <p:cNvPr id="38" name="Shape 36"/>
          <p:cNvSpPr/>
          <p:nvPr/>
        </p:nvSpPr>
        <p:spPr>
          <a:xfrm>
            <a:off x="3959352" y="1984248"/>
            <a:ext cx="310896" cy="310896"/>
          </a:xfrm>
          <a:prstGeom prst="rect">
            <a:avLst/>
          </a:prstGeom>
          <a:solidFill>
            <a:srgbClr val="6B6B6B"/>
          </a:solidFill>
          <a:ln/>
        </p:spPr>
        <p:txBody>
          <a:bodyPr/>
          <a:p/>
        </p:txBody>
      </p:sp>
      <p:sp>
        <p:nvSpPr>
          <p:cNvPr id="39" name="Text 37"/>
          <p:cNvSpPr/>
          <p:nvPr/>
        </p:nvSpPr>
        <p:spPr>
          <a:xfrm>
            <a:off x="3959352"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0" name="Text 38"/>
          <p:cNvSpPr/>
          <p:nvPr/>
        </p:nvSpPr>
        <p:spPr>
          <a:xfrm>
            <a:off x="4361688"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1" name="Text 39"/>
          <p:cNvSpPr/>
          <p:nvPr/>
        </p:nvSpPr>
        <p:spPr>
          <a:xfrm>
            <a:off x="3995928"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Mở rộng zone theo mô hình mới; đánh giá KPI Leader theo từng zone.</a:t>
            </a:r>
            <a:endParaRPr lang="en-US" sz="1050" dirty="0"/>
          </a:p>
        </p:txBody>
      </p:sp>
      <p:sp>
        <p:nvSpPr>
          <p:cNvPr id="42" name="Shape 40"/>
          <p:cNvSpPr/>
          <p:nvPr/>
        </p:nvSpPr>
        <p:spPr>
          <a:xfrm>
            <a:off x="7799832" y="1783080"/>
            <a:ext cx="3858768" cy="54864"/>
          </a:xfrm>
          <a:prstGeom prst="rect">
            <a:avLst/>
          </a:prstGeom>
          <a:solidFill>
            <a:srgbClr val="E5342E"/>
          </a:solidFill>
          <a:ln/>
        </p:spPr>
        <p:txBody>
          <a:bodyPr/>
          <a:p/>
        </p:txBody>
      </p:sp>
      <p:sp>
        <p:nvSpPr>
          <p:cNvPr id="43" name="Shape 41"/>
          <p:cNvSpPr/>
          <p:nvPr/>
        </p:nvSpPr>
        <p:spPr>
          <a:xfrm>
            <a:off x="7799832" y="1837944"/>
            <a:ext cx="3858768" cy="2093976"/>
          </a:xfrm>
          <a:prstGeom prst="rect">
            <a:avLst/>
          </a:prstGeom>
          <a:solidFill>
            <a:srgbClr val="16213E"/>
          </a:solidFill>
          <a:ln w="12700">
            <a:solidFill>
              <a:srgbClr val="283C5F"/>
            </a:solidFill>
            <a:prstDash val="solid"/>
          </a:ln>
        </p:spPr>
        <p:txBody>
          <a:bodyPr/>
          <a:p/>
        </p:txBody>
      </p:sp>
      <p:sp>
        <p:nvSpPr>
          <p:cNvPr id="44" name="Shape 42"/>
          <p:cNvSpPr/>
          <p:nvPr/>
        </p:nvSpPr>
        <p:spPr>
          <a:xfrm>
            <a:off x="7964424" y="1984248"/>
            <a:ext cx="310896" cy="310896"/>
          </a:xfrm>
          <a:prstGeom prst="rect">
            <a:avLst/>
          </a:prstGeom>
          <a:solidFill>
            <a:srgbClr val="E5342E"/>
          </a:solidFill>
          <a:ln/>
        </p:spPr>
        <p:txBody>
          <a:bodyPr/>
          <a:p/>
        </p:txBody>
      </p:sp>
      <p:sp>
        <p:nvSpPr>
          <p:cNvPr id="45" name="Text 43"/>
          <p:cNvSpPr/>
          <p:nvPr/>
        </p:nvSpPr>
        <p:spPr>
          <a:xfrm>
            <a:off x="7964424"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4"/>
          <p:cNvSpPr/>
          <p:nvPr/>
        </p:nvSpPr>
        <p:spPr>
          <a:xfrm>
            <a:off x="8366760"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7" name="Text 45"/>
          <p:cNvSpPr/>
          <p:nvPr/>
        </p:nvSpPr>
        <p:spPr>
          <a:xfrm>
            <a:off x="8001000"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Active tăng </a:t>
            </a:r>
            <a:pPr indent="0" marL="0">
              <a:buNone/>
            </a:pPr>
            <a:r>
              <a:rPr lang="en-US" sz="1050" b="1" dirty="0">
                <a:solidFill>
                  <a:srgbClr val="E2E8F0"/>
                </a:solidFill>
                <a:latin typeface="Arial" pitchFamily="34" charset="0"/>
                <a:ea typeface="Arial" pitchFamily="34" charset="-122"/>
                <a:cs typeface="Arial" pitchFamily="34" charset="-120"/>
              </a:rPr>
              <a:t>14% MoM</a:t>
            </a:r>
            <a:pPr indent="0" marL="0">
              <a:buNone/>
            </a:pPr>
            <a:r>
              <a:rPr lang="en-US" sz="1050" dirty="0">
                <a:solidFill>
                  <a:srgbClr val="6B6B6B"/>
                </a:solidFill>
                <a:latin typeface="Arial" pitchFamily="34" charset="0"/>
                <a:ea typeface="Arial" pitchFamily="34" charset="-122"/>
                <a:cs typeface="Arial" pitchFamily="34" charset="-120"/>
              </a:rPr>
              <a:t> tại HAN nhưng retention giảm 5%, chỉ đạt </a:t>
            </a:r>
            <a:pPr indent="0" marL="0">
              <a:buNone/>
            </a:pPr>
            <a:r>
              <a:rPr lang="en-US" sz="1050" b="1" dirty="0">
                <a:solidFill>
                  <a:srgbClr val="E2E8F0"/>
                </a:solidFill>
                <a:latin typeface="Arial" pitchFamily="34" charset="0"/>
                <a:ea typeface="Arial" pitchFamily="34" charset="-122"/>
                <a:cs typeface="Arial" pitchFamily="34" charset="-120"/>
              </a:rPr>
              <a:t>65%</a:t>
            </a:r>
            <a:pPr indent="0" marL="0">
              <a:buNone/>
            </a:pPr>
            <a:r>
              <a:rPr lang="en-US" sz="1050" dirty="0">
                <a:solidFill>
                  <a:srgbClr val="6B6B6B"/>
                </a:solidFill>
                <a:latin typeface="Arial" pitchFamily="34" charset="0"/>
                <a:ea typeface="Arial" pitchFamily="34" charset="-122"/>
                <a:cs typeface="Arial" pitchFamily="34" charset="-120"/>
              </a:rPr>
              <a:t> (giảm mạnh nhất ở Z24, Thanh Xuân). Volume NW đạt </a:t>
            </a:r>
            <a:pPr indent="0" marL="0">
              <a:buNone/>
            </a:pPr>
            <a:r>
              <a:rPr lang="en-US" sz="1050" b="1" dirty="0">
                <a:solidFill>
                  <a:srgbClr val="E2E8F0"/>
                </a:solidFill>
                <a:latin typeface="Arial" pitchFamily="34" charset="0"/>
                <a:ea typeface="Arial" pitchFamily="34" charset="-122"/>
                <a:cs typeface="Arial" pitchFamily="34" charset="-120"/>
              </a:rPr>
              <a:t>215.1K</a:t>
            </a:r>
            <a:pPr indent="0" marL="0">
              <a:buNone/>
            </a:pPr>
            <a:r>
              <a:rPr lang="en-US" sz="1050" dirty="0">
                <a:solidFill>
                  <a:srgbClr val="6B6B6B"/>
                </a:solidFill>
                <a:latin typeface="Arial" pitchFamily="34" charset="0"/>
                <a:ea typeface="Arial" pitchFamily="34" charset="-122"/>
                <a:cs typeface="Arial" pitchFamily="34" charset="-120"/>
              </a:rPr>
              <a:t> (+17% MoM) nhưng mới chạm </a:t>
            </a:r>
            <a:pPr indent="0" marL="0">
              <a:buNone/>
            </a:pPr>
            <a:r>
              <a:rPr lang="en-US" sz="1050" b="1" dirty="0">
                <a:solidFill>
                  <a:srgbClr val="E2E8F0"/>
                </a:solidFill>
                <a:latin typeface="Arial" pitchFamily="34" charset="0"/>
                <a:ea typeface="Arial" pitchFamily="34" charset="-122"/>
                <a:cs typeface="Arial" pitchFamily="34" charset="-120"/>
              </a:rPr>
              <a:t>36% KR</a:t>
            </a:r>
            <a:pPr indent="0" marL="0">
              <a:buNone/>
            </a:pPr>
            <a:r>
              <a:rPr lang="en-US" sz="1050" dirty="0">
                <a:solidFill>
                  <a:srgbClr val="6B6B6B"/>
                </a:solidFill>
                <a:latin typeface="Arial" pitchFamily="34" charset="0"/>
                <a:ea typeface="Arial" pitchFamily="34" charset="-122"/>
                <a:cs typeface="Arial" pitchFamily="34" charset="-120"/>
              </a:rPr>
              <a:t> Q3; Cityzone chỉ </a:t>
            </a:r>
            <a:pPr indent="0" marL="0">
              <a:buNone/>
            </a:pPr>
            <a:r>
              <a:rPr lang="en-US" sz="1050" b="1" dirty="0">
                <a:solidFill>
                  <a:srgbClr val="E2E8F0"/>
                </a:solidFill>
                <a:latin typeface="Arial" pitchFamily="34" charset="0"/>
                <a:ea typeface="Arial" pitchFamily="34" charset="-122"/>
                <a:cs typeface="Arial" pitchFamily="34" charset="-120"/>
              </a:rPr>
              <a:t>30% KR</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zone mới rộng hơn kéo giãn mật độ tương tác, vùng mới mở chưa đủ đơn giữ chân tài xế.</a:t>
            </a:r>
            <a:endParaRPr lang="en-US" sz="1050" dirty="0"/>
          </a:p>
        </p:txBody>
      </p:sp>
      <p:sp>
        <p:nvSpPr>
          <p:cNvPr id="48" name="Shape 46"/>
          <p:cNvSpPr/>
          <p:nvPr/>
        </p:nvSpPr>
        <p:spPr>
          <a:xfrm>
            <a:off x="3794760" y="4069080"/>
            <a:ext cx="3858768" cy="54864"/>
          </a:xfrm>
          <a:prstGeom prst="rect">
            <a:avLst/>
          </a:prstGeom>
          <a:solidFill>
            <a:srgbClr val="FF7F32"/>
          </a:solidFill>
          <a:ln/>
        </p:spPr>
        <p:txBody>
          <a:bodyPr/>
          <a:p/>
        </p:txBody>
      </p:sp>
      <p:sp>
        <p:nvSpPr>
          <p:cNvPr id="49" name="Shape 47"/>
          <p:cNvSpPr/>
          <p:nvPr/>
        </p:nvSpPr>
        <p:spPr>
          <a:xfrm>
            <a:off x="3794760" y="4123944"/>
            <a:ext cx="3858768" cy="2093976"/>
          </a:xfrm>
          <a:prstGeom prst="rect">
            <a:avLst/>
          </a:prstGeom>
          <a:solidFill>
            <a:srgbClr val="16213E"/>
          </a:solidFill>
          <a:ln w="12700">
            <a:solidFill>
              <a:srgbClr val="283C5F"/>
            </a:solidFill>
            <a:prstDash val="solid"/>
          </a:ln>
        </p:spPr>
        <p:txBody>
          <a:bodyPr/>
          <a:p/>
        </p:txBody>
      </p:sp>
      <p:sp>
        <p:nvSpPr>
          <p:cNvPr id="50" name="Shape 48"/>
          <p:cNvSpPr/>
          <p:nvPr/>
        </p:nvSpPr>
        <p:spPr>
          <a:xfrm>
            <a:off x="3959352" y="4270248"/>
            <a:ext cx="310896" cy="310896"/>
          </a:xfrm>
          <a:prstGeom prst="rect">
            <a:avLst/>
          </a:prstGeom>
          <a:solidFill>
            <a:srgbClr val="FF7F32"/>
          </a:solidFill>
          <a:ln/>
        </p:spPr>
        <p:txBody>
          <a:bodyPr/>
          <a:p/>
        </p:txBody>
      </p:sp>
      <p:sp>
        <p:nvSpPr>
          <p:cNvPr id="51" name="Text 49"/>
          <p:cNvSpPr/>
          <p:nvPr/>
        </p:nvSpPr>
        <p:spPr>
          <a:xfrm>
            <a:off x="3959352"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2" name="Text 50"/>
          <p:cNvSpPr/>
          <p:nvPr/>
        </p:nvSpPr>
        <p:spPr>
          <a:xfrm>
            <a:off x="4361688"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3" name="Text 51"/>
          <p:cNvSpPr/>
          <p:nvPr/>
        </p:nvSpPr>
        <p:spPr>
          <a:xfrm>
            <a:off x="3995928"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Review target KPI theo baseline zone mới (tính từ 6/7); đánh giá PnL mô hình MiniHub Leader (ROI vs chi phí </a:t>
            </a:r>
            <a:pPr indent="0" marL="0">
              <a:buNone/>
            </a:pPr>
            <a:r>
              <a:rPr lang="en-US" sz="1050" b="1" dirty="0">
                <a:solidFill>
                  <a:srgbClr val="E2E8F0"/>
                </a:solidFill>
                <a:latin typeface="Arial" pitchFamily="34" charset="0"/>
                <a:ea typeface="Arial" pitchFamily="34" charset="-122"/>
                <a:cs typeface="Arial" pitchFamily="34" charset="-120"/>
              </a:rPr>
              <a:t>36-50tr/tháng</a:t>
            </a:r>
            <a:pPr indent="0" marL="0">
              <a:buNone/>
            </a:pPr>
            <a:r>
              <a:rPr lang="en-US" sz="1050" dirty="0">
                <a:solidFill>
                  <a:srgbClr val="6B6B6B"/>
                </a:solidFill>
                <a:latin typeface="Arial" pitchFamily="34" charset="0"/>
                <a:ea typeface="Arial" pitchFamily="34" charset="-122"/>
                <a:cs typeface="Arial" pitchFamily="34" charset="-120"/>
              </a:rPr>
              <a:t>) để quyết định go/no-go scale trước </a:t>
            </a:r>
            <a:pPr indent="0" marL="0">
              <a:buNone/>
            </a:pPr>
            <a:r>
              <a:rPr lang="en-US" sz="1050" b="1" dirty="0">
                <a:solidFill>
                  <a:srgbClr val="E2E8F0"/>
                </a:solidFill>
                <a:latin typeface="Arial" pitchFamily="34" charset="0"/>
                <a:ea typeface="Arial" pitchFamily="34" charset="-122"/>
                <a:cs typeface="Arial" pitchFamily="34" charset="-120"/>
              </a:rPr>
              <a:t>15/8</a:t>
            </a:r>
            <a:pPr indent="0" marL="0">
              <a:buNone/>
            </a:pPr>
            <a:r>
              <a:rPr lang="en-US" sz="1050" dirty="0">
                <a:solidFill>
                  <a:srgbClr val="6B6B6B"/>
                </a:solidFill>
                <a:latin typeface="Arial" pitchFamily="34" charset="0"/>
                <a:ea typeface="Arial" pitchFamily="34" charset="-122"/>
                <a:cs typeface="Arial" pitchFamily="34" charset="-120"/>
              </a:rPr>
              <a:t>.</a:t>
            </a:r>
            <a:endParaRPr lang="en-US" sz="1050" dirty="0"/>
          </a:p>
        </p:txBody>
      </p:sp>
      <p:sp>
        <p:nvSpPr>
          <p:cNvPr id="54" name="Shape 52"/>
          <p:cNvSpPr/>
          <p:nvPr/>
        </p:nvSpPr>
        <p:spPr>
          <a:xfrm>
            <a:off x="7799832" y="4069080"/>
            <a:ext cx="3858768" cy="54864"/>
          </a:xfrm>
          <a:prstGeom prst="rect">
            <a:avLst/>
          </a:prstGeom>
          <a:solidFill>
            <a:srgbClr val="1E3A8A"/>
          </a:solidFill>
          <a:ln w="12700">
            <a:solidFill>
              <a:srgbClr val="FF7300"/>
            </a:solidFill>
          </a:ln>
        </p:spPr>
        <p:txBody>
          <a:bodyPr/>
          <a:p/>
        </p:txBody>
      </p:sp>
      <p:sp>
        <p:nvSpPr>
          <p:cNvPr id="55" name="Shape 53"/>
          <p:cNvSpPr/>
          <p:nvPr/>
        </p:nvSpPr>
        <p:spPr>
          <a:xfrm>
            <a:off x="7799832" y="4123944"/>
            <a:ext cx="3858768" cy="2093976"/>
          </a:xfrm>
          <a:prstGeom prst="rect">
            <a:avLst/>
          </a:prstGeom>
          <a:solidFill>
            <a:srgbClr val="16213E"/>
          </a:solidFill>
          <a:ln w="12700">
            <a:solidFill>
              <a:srgbClr val="283C5F"/>
            </a:solidFill>
            <a:prstDash val="solid"/>
          </a:ln>
        </p:spPr>
        <p:txBody>
          <a:bodyPr/>
          <a:p/>
        </p:txBody>
      </p:sp>
      <p:sp>
        <p:nvSpPr>
          <p:cNvPr id="56" name="Shape 54"/>
          <p:cNvSpPr/>
          <p:nvPr/>
        </p:nvSpPr>
        <p:spPr>
          <a:xfrm>
            <a:off x="7964424" y="4270248"/>
            <a:ext cx="310896" cy="310896"/>
          </a:xfrm>
          <a:prstGeom prst="rect">
            <a:avLst/>
          </a:prstGeom>
          <a:solidFill>
            <a:srgbClr val="1E3A8A"/>
          </a:solidFill>
          <a:ln w="12700">
            <a:solidFill>
              <a:srgbClr val="FF7300"/>
            </a:solidFill>
          </a:ln>
        </p:spPr>
        <p:txBody>
          <a:bodyPr/>
          <a:p/>
        </p:txBody>
      </p:sp>
      <p:sp>
        <p:nvSpPr>
          <p:cNvPr id="57" name="Text 55"/>
          <p:cNvSpPr/>
          <p:nvPr/>
        </p:nvSpPr>
        <p:spPr>
          <a:xfrm>
            <a:off x="7964424"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8" name="Text 56"/>
          <p:cNvSpPr/>
          <p:nvPr/>
        </p:nvSpPr>
        <p:spPr>
          <a:xfrm>
            <a:off x="8366760"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59" name="Text 57"/>
          <p:cNvSpPr/>
          <p:nvPr/>
        </p:nvSpPr>
        <p:spPr>
          <a:xfrm>
            <a:off x="8001000"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S&amp;P (đánh giá PnL, baseline/control group), OE (theo dõi coverage &amp; chế tài)</a:t>
            </a:r>
            <a:endParaRPr lang="en-US" sz="1050" dirty="0"/>
          </a:p>
        </p:txBody>
      </p:sp>
      <p:sp>
        <p:nvSpPr>
          <p:cNvPr id="60" name="Shape 58"/>
          <p:cNvSpPr/>
          <p:nvPr/>
        </p:nvSpPr>
        <p:spPr>
          <a:xfrm>
            <a:off x="548640" y="6510528"/>
            <a:ext cx="11091672" cy="0"/>
          </a:xfrm>
          <a:prstGeom prst="line">
            <a:avLst/>
          </a:prstGeom>
          <a:noFill/>
          <a:ln w="15875">
            <a:solidFill>
              <a:srgbClr val="FF7F32"/>
            </a:solidFill>
            <a:prstDash val="solid"/>
          </a:ln>
        </p:spPr>
        <p:txBody>
          <a:bodyPr/>
          <a:p/>
        </p:txBody>
      </p:sp>
      <p:sp>
        <p:nvSpPr>
          <p:cNvPr id="61" name="Text 59"/>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2" name="Text 60"/>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pPr>
            <a:r>
              <a:rPr lang="en-US" sz="850" i="1" dirty="0">
                <a:solidFill>
                  <a:srgbClr val="6B6B6B"/>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E3A8A"/>
          </a:solidFill>
          <a:ln w="12700">
            <a:solidFill>
              <a:srgbClr val="FF7300"/>
            </a:solidFill>
          </a:ln>
        </p:spPr>
        <p:txBody>
          <a:bodyPr/>
          <a:p/>
        </p:txBody>
      </p:sp>
      <p:sp>
        <p:nvSpPr>
          <p:cNvPr id="6" name="Shape 4"/>
          <p:cNvSpPr/>
          <p:nvPr/>
        </p:nvSpPr>
        <p:spPr>
          <a:xfrm>
            <a:off x="3339846" y="320040"/>
            <a:ext cx="2718054" cy="45720"/>
          </a:xfrm>
          <a:prstGeom prst="rect">
            <a:avLst/>
          </a:prstGeom>
          <a:solidFill>
            <a:srgbClr val="FF7F32"/>
          </a:solidFill>
          <a:ln/>
        </p:spPr>
        <p:txBody>
          <a:bodyPr/>
          <a:p/>
        </p:txBody>
      </p:sp>
      <p:sp>
        <p:nvSpPr>
          <p:cNvPr id="7" name="Text 5"/>
          <p:cNvSpPr/>
          <p:nvPr/>
        </p:nvSpPr>
        <p:spPr>
          <a:xfrm>
            <a:off x="3339846" y="365760"/>
            <a:ext cx="271805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EV</a:t>
            </a:r>
            <a:endParaRPr lang="en-US" sz="1100" dirty="0"/>
          </a:p>
        </p:txBody>
      </p:sp>
      <p:sp>
        <p:nvSpPr>
          <p:cNvPr id="8" name="Shape 6"/>
          <p:cNvSpPr/>
          <p:nvPr/>
        </p:nvSpPr>
        <p:spPr>
          <a:xfrm>
            <a:off x="6131052" y="365760"/>
            <a:ext cx="2718054" cy="365760"/>
          </a:xfrm>
          <a:prstGeom prst="rect">
            <a:avLst/>
          </a:prstGeom>
          <a:solidFill>
            <a:srgbClr val="16213E"/>
          </a:solidFill>
          <a:ln w="12700">
            <a:solidFill>
              <a:srgbClr val="283C5F"/>
            </a:solidFill>
          </a:ln>
        </p:spPr>
        <p:txBody>
          <a:body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EV</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pPr>
            <a:r>
              <a:rPr lang="en-US" sz="1700" b="1" dirty="0">
                <a:solidFill>
                  <a:srgbClr val="C77700"/>
                </a:solidFill>
                <a:latin typeface="Arial" pitchFamily="34" charset="0"/>
                <a:ea typeface="Arial" pitchFamily="34" charset="-122"/>
                <a:cs typeface="Arial" pitchFamily="34" charset="-120"/>
              </a:rPr>
              <a:t>EV:</a:t>
            </a:r>
            <a:pPr indent="0" marL="0">
              <a:buNone/>
            </a:pPr>
            <a:r>
              <a:rPr lang="en-US" sz="1700" b="1" dirty="0">
                <a:solidFill>
                  <a:srgbClr val="E2E8F0"/>
                </a:solidFill>
                <a:latin typeface="Arial" pitchFamily="34" charset="0"/>
                <a:ea typeface="Arial" pitchFamily="34" charset="-122"/>
                <a:cs typeface="Arial" pitchFamily="34" charset="-120"/>
              </a:rPr>
              <a:t> active tăng tốt nhờ retention, nhưng phễu lead đang rò rỉ</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p:txBody>
      </p:sp>
      <p:sp>
        <p:nvSpPr>
          <p:cNvPr id="18" name="Shape 16"/>
          <p:cNvSpPr/>
          <p:nvPr/>
        </p:nvSpPr>
        <p:spPr>
          <a:xfrm>
            <a:off x="548640" y="1783080"/>
            <a:ext cx="3017520" cy="54864"/>
          </a:xfrm>
          <a:prstGeom prst="rect">
            <a:avLst/>
          </a:prstGeom>
          <a:solidFill>
            <a:srgbClr val="1E3A8A"/>
          </a:solidFill>
          <a:ln w="12700">
            <a:solidFill>
              <a:srgbClr val="FF7300"/>
            </a:solidFill>
          </a:ln>
        </p:spPr>
        <p:txBody>
          <a:body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-10%</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Lead đổ về giảm MoM dù nhu cầu tìm hiểu tăng 30%</a:t>
            </a:r>
            <a:endParaRPr lang="en-US" sz="900" dirty="0"/>
          </a:p>
        </p:txBody>
      </p:sp>
      <p:sp>
        <p:nvSpPr>
          <p:cNvPr id="22" name="Shape 20"/>
          <p:cNvSpPr/>
          <p:nvPr/>
        </p:nvSpPr>
        <p:spPr>
          <a:xfrm>
            <a:off x="3063240" y="2048256"/>
            <a:ext cx="356616" cy="292608"/>
          </a:xfrm>
          <a:prstGeom prst="roundRect">
            <a:avLst>
              <a:gd name="adj" fmla="val 4688"/>
            </a:avLst>
          </a:prstGeom>
          <a:solidFill>
            <a:srgbClr val="D9631A"/>
          </a:solidFill>
          <a:ln/>
        </p:spPr>
        <p:txBody>
          <a:bodyPr/>
          <a:p/>
        </p:txBody>
      </p:sp>
      <p:sp>
        <p:nvSpPr>
          <p:cNvPr id="23" name="Shape 21"/>
          <p:cNvSpPr/>
          <p:nvPr/>
        </p:nvSpPr>
        <p:spPr>
          <a:xfrm>
            <a:off x="3419856" y="2130552"/>
            <a:ext cx="54864" cy="128016"/>
          </a:xfrm>
          <a:prstGeom prst="rect">
            <a:avLst/>
          </a:prstGeom>
          <a:solidFill>
            <a:srgbClr val="D9631A"/>
          </a:solidFill>
          <a:ln/>
        </p:spPr>
        <p:txBody>
          <a:bodyPr/>
          <a:p/>
        </p:txBody>
      </p:sp>
      <p:sp>
        <p:nvSpPr>
          <p:cNvPr id="24" name="Shape 22"/>
          <p:cNvSpPr/>
          <p:nvPr/>
        </p:nvSpPr>
        <p:spPr>
          <a:xfrm>
            <a:off x="3145536" y="2103120"/>
            <a:ext cx="36576" cy="182880"/>
          </a:xfrm>
          <a:prstGeom prst="rect">
            <a:avLst/>
          </a:prstGeom>
          <a:solidFill>
            <a:srgbClr val="16213E"/>
          </a:solidFill>
          <a:ln w="12700">
            <a:solidFill>
              <a:srgbClr val="283C5F"/>
            </a:solidFill>
          </a:ln>
        </p:spPr>
        <p:txBody>
          <a:bodyPr/>
          <a:p/>
        </p:txBody>
      </p:sp>
      <p:sp>
        <p:nvSpPr>
          <p:cNvPr id="25" name="Shape 23"/>
          <p:cNvSpPr/>
          <p:nvPr/>
        </p:nvSpPr>
        <p:spPr>
          <a:xfrm>
            <a:off x="3227832" y="2103120"/>
            <a:ext cx="36576" cy="182880"/>
          </a:xfrm>
          <a:prstGeom prst="rect">
            <a:avLst/>
          </a:prstGeom>
          <a:solidFill>
            <a:srgbClr val="16213E"/>
          </a:solidFill>
          <a:ln w="12700">
            <a:solidFill>
              <a:srgbClr val="283C5F"/>
            </a:solidFill>
          </a:ln>
        </p:spPr>
        <p:txBody>
          <a:bodyPr/>
          <a:p/>
        </p:txBody>
      </p:sp>
      <p:sp>
        <p:nvSpPr>
          <p:cNvPr id="26" name="Shape 24"/>
          <p:cNvSpPr/>
          <p:nvPr/>
        </p:nvSpPr>
        <p:spPr>
          <a:xfrm>
            <a:off x="548640" y="2670048"/>
            <a:ext cx="3017520" cy="347472"/>
          </a:xfrm>
          <a:prstGeom prst="rect">
            <a:avLst/>
          </a:prstGeom>
          <a:solidFill>
            <a:srgbClr val="16213E"/>
          </a:solidFill>
          <a:ln w="12700">
            <a:solidFill>
              <a:srgbClr val="283C5F"/>
            </a:solidFill>
          </a:ln>
        </p:spPr>
        <p:txBody>
          <a:bodyPr/>
          <a:p/>
        </p:txBody>
      </p:sp>
      <p:sp>
        <p:nvSpPr>
          <p:cNvPr id="27" name="Shape 25"/>
          <p:cNvSpPr/>
          <p:nvPr/>
        </p:nvSpPr>
        <p:spPr>
          <a:xfrm>
            <a:off x="548640" y="2670048"/>
            <a:ext cx="45720" cy="347472"/>
          </a:xfrm>
          <a:prstGeom prst="rect">
            <a:avLst/>
          </a:prstGeom>
          <a:solidFill>
            <a:srgbClr val="C77700"/>
          </a:solidFill>
          <a:ln/>
        </p:spPr>
        <p:txBody>
          <a:body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pPr>
            <a:r>
              <a:rPr lang="en-US" sz="1000" b="1" dirty="0">
                <a:solidFill>
                  <a:srgbClr val="C77700"/>
                </a:solidFill>
                <a:latin typeface="Arial" pitchFamily="34" charset="0"/>
                <a:ea typeface="Arial" pitchFamily="34" charset="-122"/>
                <a:cs typeface="Arial" pitchFamily="34" charset="-120"/>
              </a:rPr>
              <a:t>Rút ngắn thời gian phản hồi lead trong T8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p:txBody>
      </p:sp>
      <p:sp>
        <p:nvSpPr>
          <p:cNvPr id="31" name="Shape 29"/>
          <p:cNvSpPr/>
          <p:nvPr/>
        </p:nvSpPr>
        <p:spPr>
          <a:xfrm>
            <a:off x="548640" y="3392424"/>
            <a:ext cx="3017520" cy="2779776"/>
          </a:xfrm>
          <a:prstGeom prst="rect">
            <a:avLst/>
          </a:prstGeom>
          <a:solidFill>
            <a:srgbClr val="16213E"/>
          </a:solidFill>
          <a:ln w="12700">
            <a:solidFill>
              <a:srgbClr val="283C5F"/>
            </a:solidFill>
            <a:prstDash val="solid"/>
          </a:ln>
        </p:spPr>
        <p:txBody>
          <a:body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Lead được DM tiếp nhận và xử lý thủ công, thời gian phản hồi chậm, chưa tối ưu tỉ lệ chuyển đổi.</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pPr>
            <a:r>
              <a:rPr lang="en-US" sz="950" dirty="0">
                <a:solidFill>
                  <a:srgbClr val="E2E8F0"/>
                </a:solidFill>
                <a:latin typeface="Arial" pitchFamily="34" charset="0"/>
                <a:ea typeface="Arial" pitchFamily="34" charset="-122"/>
                <a:cs typeface="Arial" pitchFamily="34" charset="-120"/>
              </a:rPr>
              <a:t>Đề xuất tháng 8: chuyển thẳng lead qua phía partner xử lý, rút ngắn thời gian phản hồi; chốt chính sách thưởng đua top thuê xe.</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p:txBody>
      </p:sp>
      <p:sp>
        <p:nvSpPr>
          <p:cNvPr id="38" name="Shape 36"/>
          <p:cNvSpPr/>
          <p:nvPr/>
        </p:nvSpPr>
        <p:spPr>
          <a:xfrm>
            <a:off x="3794760" y="1837944"/>
            <a:ext cx="3858768" cy="2093976"/>
          </a:xfrm>
          <a:prstGeom prst="rect">
            <a:avLst/>
          </a:prstGeom>
          <a:solidFill>
            <a:srgbClr val="16213E"/>
          </a:solidFill>
          <a:ln w="12700">
            <a:solidFill>
              <a:srgbClr val="283C5F"/>
            </a:solidFill>
            <a:prstDash val="solid"/>
          </a:ln>
        </p:spPr>
        <p:txBody>
          <a:bodyPr/>
          <a:p/>
        </p:txBody>
      </p:sp>
      <p:sp>
        <p:nvSpPr>
          <p:cNvPr id="39" name="Shape 37"/>
          <p:cNvSpPr/>
          <p:nvPr/>
        </p:nvSpPr>
        <p:spPr>
          <a:xfrm>
            <a:off x="3959352" y="1984248"/>
            <a:ext cx="310896" cy="310896"/>
          </a:xfrm>
          <a:prstGeom prst="rect">
            <a:avLst/>
          </a:prstGeom>
          <a:solidFill>
            <a:srgbClr val="6B6B6B"/>
          </a:solidFill>
          <a:ln/>
        </p:spPr>
        <p:txBody>
          <a:body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Triển khai chương trình thuê xe điện &amp; theo dõi retention; theo dõi nguồn lead đổ về chương trình.</a:t>
            </a:r>
            <a:endParaRPr lang="en-US" sz="1050" dirty="0"/>
          </a:p>
        </p:txBody>
      </p:sp>
      <p:sp>
        <p:nvSpPr>
          <p:cNvPr id="43" name="Shape 41"/>
          <p:cNvSpPr/>
          <p:nvPr/>
        </p:nvSpPr>
        <p:spPr>
          <a:xfrm>
            <a:off x="7799832" y="1783080"/>
            <a:ext cx="3858768" cy="54864"/>
          </a:xfrm>
          <a:prstGeom prst="rect">
            <a:avLst/>
          </a:prstGeom>
          <a:solidFill>
            <a:srgbClr val="C77700"/>
          </a:solidFill>
          <a:ln/>
        </p:spPr>
        <p:txBody>
          <a:bodyPr/>
          <a:p/>
        </p:txBody>
      </p:sp>
      <p:sp>
        <p:nvSpPr>
          <p:cNvPr id="44" name="Shape 42"/>
          <p:cNvSpPr/>
          <p:nvPr/>
        </p:nvSpPr>
        <p:spPr>
          <a:xfrm>
            <a:off x="7799832" y="1837944"/>
            <a:ext cx="3858768" cy="2093976"/>
          </a:xfrm>
          <a:prstGeom prst="rect">
            <a:avLst/>
          </a:prstGeom>
          <a:solidFill>
            <a:srgbClr val="16213E"/>
          </a:solidFill>
          <a:ln w="12700">
            <a:solidFill>
              <a:srgbClr val="283C5F"/>
            </a:solidFill>
            <a:prstDash val="solid"/>
          </a:ln>
        </p:spPr>
        <p:txBody>
          <a:bodyPr/>
          <a:p/>
        </p:txBody>
      </p:sp>
      <p:sp>
        <p:nvSpPr>
          <p:cNvPr id="45" name="Shape 43"/>
          <p:cNvSpPr/>
          <p:nvPr/>
        </p:nvSpPr>
        <p:spPr>
          <a:xfrm>
            <a:off x="7964424" y="1984248"/>
            <a:ext cx="310896" cy="310896"/>
          </a:xfrm>
          <a:prstGeom prst="rect">
            <a:avLst/>
          </a:prstGeom>
          <a:solidFill>
            <a:srgbClr val="C77700"/>
          </a:solidFill>
          <a:ln/>
        </p:spPr>
        <p:txBody>
          <a:body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Retention active HAN đạt </a:t>
            </a:r>
            <a:pPr indent="0" marL="0">
              <a:buNone/>
            </a:pPr>
            <a:r>
              <a:rPr lang="en-US" sz="1050" b="1" dirty="0">
                <a:solidFill>
                  <a:srgbClr val="E2E8F0"/>
                </a:solidFill>
                <a:latin typeface="Arial" pitchFamily="34" charset="0"/>
                <a:ea typeface="Arial" pitchFamily="34" charset="-122"/>
                <a:cs typeface="Arial" pitchFamily="34" charset="-120"/>
              </a:rPr>
              <a:t>406 tài xế</a:t>
            </a:r>
            <a:pPr indent="0" marL="0">
              <a:buNone/>
            </a:pPr>
            <a:r>
              <a:rPr lang="en-US" sz="1050" dirty="0">
                <a:solidFill>
                  <a:srgbClr val="6B6B6B"/>
                </a:solidFill>
                <a:latin typeface="Arial" pitchFamily="34" charset="0"/>
                <a:ea typeface="Arial" pitchFamily="34" charset="-122"/>
                <a:cs typeface="Arial" pitchFamily="34" charset="-120"/>
              </a:rPr>
              <a:t> (+1.87% MoM), SGN đạt </a:t>
            </a:r>
            <a:pPr indent="0" marL="0">
              <a:buNone/>
            </a:pPr>
            <a:r>
              <a:rPr lang="en-US" sz="1050" b="1" dirty="0">
                <a:solidFill>
                  <a:srgbClr val="E2E8F0"/>
                </a:solidFill>
                <a:latin typeface="Arial" pitchFamily="34" charset="0"/>
                <a:ea typeface="Arial" pitchFamily="34" charset="-122"/>
                <a:cs typeface="Arial" pitchFamily="34" charset="-120"/>
              </a:rPr>
              <a:t>488 tài xế</a:t>
            </a:r>
            <a:pPr indent="0" marL="0">
              <a:buNone/>
            </a:pPr>
            <a:r>
              <a:rPr lang="en-US" sz="1050" dirty="0">
                <a:solidFill>
                  <a:srgbClr val="6B6B6B"/>
                </a:solidFill>
                <a:latin typeface="Arial" pitchFamily="34" charset="0"/>
                <a:ea typeface="Arial" pitchFamily="34" charset="-122"/>
                <a:cs typeface="Arial" pitchFamily="34" charset="-120"/>
              </a:rPr>
              <a:t> (-1.16% MoM). Lead giảm </a:t>
            </a:r>
            <a:pPr indent="0" marL="0">
              <a:buNone/>
            </a:pPr>
            <a:r>
              <a:rPr lang="en-US" sz="1050" b="1" dirty="0">
                <a:solidFill>
                  <a:srgbClr val="E2E8F0"/>
                </a:solidFill>
                <a:latin typeface="Arial" pitchFamily="34" charset="0"/>
                <a:ea typeface="Arial" pitchFamily="34" charset="-122"/>
                <a:cs typeface="Arial" pitchFamily="34" charset="-120"/>
              </a:rPr>
              <a:t>10% MoM</a:t>
            </a:r>
            <a:pPr indent="0" marL="0">
              <a:buNone/>
            </a:pPr>
            <a:r>
              <a:rPr lang="en-US" sz="1050" dirty="0">
                <a:solidFill>
                  <a:srgbClr val="6B6B6B"/>
                </a:solidFill>
                <a:latin typeface="Arial" pitchFamily="34" charset="0"/>
                <a:ea typeface="Arial" pitchFamily="34" charset="-122"/>
                <a:cs typeface="Arial" pitchFamily="34" charset="-120"/>
              </a:rPr>
              <a:t> dù demand tăng </a:t>
            </a:r>
            <a:pPr indent="0" marL="0">
              <a:buNone/>
            </a:pPr>
            <a:r>
              <a:rPr lang="en-US" sz="1050" b="1" dirty="0">
                <a:solidFill>
                  <a:srgbClr val="E2E8F0"/>
                </a:solidFill>
                <a:latin typeface="Arial" pitchFamily="34" charset="0"/>
                <a:ea typeface="Arial" pitchFamily="34" charset="-122"/>
                <a:cs typeface="Arial" pitchFamily="34" charset="-120"/>
              </a:rPr>
              <a:t>30%</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lead xử lý thủ công qua DM tạo độ trễ phản hồi, khách có xu hướng rời đi trước khi được liên hệ.</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p:txBody>
      </p:sp>
      <p:sp>
        <p:nvSpPr>
          <p:cNvPr id="50" name="Shape 48"/>
          <p:cNvSpPr/>
          <p:nvPr/>
        </p:nvSpPr>
        <p:spPr>
          <a:xfrm>
            <a:off x="3794760" y="4123944"/>
            <a:ext cx="3858768" cy="2093976"/>
          </a:xfrm>
          <a:prstGeom prst="rect">
            <a:avLst/>
          </a:prstGeom>
          <a:solidFill>
            <a:srgbClr val="16213E"/>
          </a:solidFill>
          <a:ln w="12700">
            <a:solidFill>
              <a:srgbClr val="283C5F"/>
            </a:solidFill>
            <a:prstDash val="solid"/>
          </a:ln>
        </p:spPr>
        <p:txBody>
          <a:bodyPr/>
          <a:p/>
        </p:txBody>
      </p:sp>
      <p:sp>
        <p:nvSpPr>
          <p:cNvPr id="51" name="Shape 49"/>
          <p:cNvSpPr/>
          <p:nvPr/>
        </p:nvSpPr>
        <p:spPr>
          <a:xfrm>
            <a:off x="3959352" y="4270248"/>
            <a:ext cx="310896" cy="310896"/>
          </a:xfrm>
          <a:prstGeom prst="rect">
            <a:avLst/>
          </a:prstGeom>
          <a:solidFill>
            <a:srgbClr val="FF7F32"/>
          </a:solidFill>
          <a:ln/>
        </p:spPr>
        <p:txBody>
          <a:body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Quy hoạch lại luồng tiếp nhận lead; chốt chính sách thưởng tháng 8 để đẩy mạnh truyền thông mục thuê xe.</a:t>
            </a:r>
            <a:endParaRPr lang="en-US" sz="1050" dirty="0"/>
          </a:p>
        </p:txBody>
      </p:sp>
      <p:sp>
        <p:nvSpPr>
          <p:cNvPr id="55" name="Shape 53"/>
          <p:cNvSpPr/>
          <p:nvPr/>
        </p:nvSpPr>
        <p:spPr>
          <a:xfrm>
            <a:off x="7799832" y="4069080"/>
            <a:ext cx="3858768" cy="54864"/>
          </a:xfrm>
          <a:prstGeom prst="rect">
            <a:avLst/>
          </a:prstGeom>
          <a:solidFill>
            <a:srgbClr val="1E3A8A"/>
          </a:solidFill>
          <a:ln w="12700">
            <a:solidFill>
              <a:srgbClr val="FF7300"/>
            </a:solidFill>
          </a:ln>
        </p:spPr>
        <p:txBody>
          <a:bodyPr/>
          <a:p/>
        </p:txBody>
      </p:sp>
      <p:sp>
        <p:nvSpPr>
          <p:cNvPr id="56" name="Shape 54"/>
          <p:cNvSpPr/>
          <p:nvPr/>
        </p:nvSpPr>
        <p:spPr>
          <a:xfrm>
            <a:off x="7799832" y="4123944"/>
            <a:ext cx="3858768" cy="2093976"/>
          </a:xfrm>
          <a:prstGeom prst="rect">
            <a:avLst/>
          </a:prstGeom>
          <a:solidFill>
            <a:srgbClr val="16213E"/>
          </a:solidFill>
          <a:ln w="12700">
            <a:solidFill>
              <a:srgbClr val="283C5F"/>
            </a:solidFill>
            <a:prstDash val="solid"/>
          </a:ln>
        </p:spPr>
        <p:txBody>
          <a:bodyPr/>
          <a:p/>
        </p:txBody>
      </p:sp>
      <p:sp>
        <p:nvSpPr>
          <p:cNvPr id="57" name="Shape 55"/>
          <p:cNvSpPr/>
          <p:nvPr/>
        </p:nvSpPr>
        <p:spPr>
          <a:xfrm>
            <a:off x="7964424" y="4270248"/>
            <a:ext cx="310896" cy="310896"/>
          </a:xfrm>
          <a:prstGeom prst="rect">
            <a:avLst/>
          </a:prstGeom>
          <a:solidFill>
            <a:srgbClr val="1E3A8A"/>
          </a:solidFill>
          <a:ln w="12700">
            <a:solidFill>
              <a:srgbClr val="FF7300"/>
            </a:solidFill>
          </a:ln>
        </p:spPr>
        <p:txBody>
          <a:body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S&amp;P (chốt card tính thưởng đua top EV), GR (truyền thông &amp; tổ chức cafe talk)</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pPr>
            <a:r>
              <a:rPr lang="en-US" sz="850" i="1" dirty="0">
                <a:solidFill>
                  <a:srgbClr val="6B6B6B"/>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6213E"/>
          </a:solidFill>
          <a:ln w="12700">
            <a:solidFill>
              <a:srgbClr val="283C5F"/>
            </a:solidFill>
          </a:ln>
        </p:spPr>
        <p:txBody>
          <a:body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1E3A8A"/>
          </a:solidFill>
          <a:ln w="12700">
            <a:solidFill>
              <a:srgbClr val="FF7300"/>
            </a:solidFill>
          </a:ln>
        </p:spPr>
        <p:txBody>
          <a:bodyPr/>
          <a:p/>
        </p:txBody>
      </p:sp>
      <p:sp>
        <p:nvSpPr>
          <p:cNvPr id="8" name="Shape 6"/>
          <p:cNvSpPr/>
          <p:nvPr/>
        </p:nvSpPr>
        <p:spPr>
          <a:xfrm>
            <a:off x="6131052" y="320040"/>
            <a:ext cx="2718054" cy="45720"/>
          </a:xfrm>
          <a:prstGeom prst="rect">
            <a:avLst/>
          </a:prstGeom>
          <a:solidFill>
            <a:srgbClr val="FF7F32"/>
          </a:solidFill>
          <a:ln/>
        </p:spPr>
        <p:txBody>
          <a:bodyPr/>
          <a:p/>
        </p:txBody>
      </p:sp>
      <p:sp>
        <p:nvSpPr>
          <p:cNvPr id="9" name="Text 7"/>
          <p:cNvSpPr/>
          <p:nvPr/>
        </p:nvSpPr>
        <p:spPr>
          <a:xfrm>
            <a:off x="6131052" y="365760"/>
            <a:ext cx="271805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Baga Bulky</a:t>
            </a:r>
            <a:endParaRPr lang="en-US" sz="1100" dirty="0"/>
          </a:p>
        </p:txBody>
      </p:sp>
      <p:sp>
        <p:nvSpPr>
          <p:cNvPr id="10" name="Shape 8"/>
          <p:cNvSpPr/>
          <p:nvPr/>
        </p:nvSpPr>
        <p:spPr>
          <a:xfrm>
            <a:off x="8922258" y="365760"/>
            <a:ext cx="2718054" cy="365760"/>
          </a:xfrm>
          <a:prstGeom prst="rect">
            <a:avLst/>
          </a:prstGeom>
          <a:solidFill>
            <a:srgbClr val="16213E"/>
          </a:solidFill>
          <a:ln w="12700">
            <a:solidFill>
              <a:srgbClr val="283C5F"/>
            </a:solidFill>
          </a:ln>
        </p:spPr>
        <p:txBody>
          <a:body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C77700"/>
          </a:solidFill>
          <a:ln/>
        </p:spPr>
        <p:txBody>
          <a:body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BB</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pPr>
            <a:r>
              <a:rPr lang="en-US" sz="1700" b="1" dirty="0">
                <a:solidFill>
                  <a:srgbClr val="C77700"/>
                </a:solidFill>
                <a:latin typeface="Arial" pitchFamily="34" charset="0"/>
                <a:ea typeface="Arial" pitchFamily="34" charset="-122"/>
                <a:cs typeface="Arial" pitchFamily="34" charset="-120"/>
              </a:rPr>
              <a:t>Baga Bulky:</a:t>
            </a:r>
            <a:pPr indent="0" marL="0">
              <a:buNone/>
            </a:pPr>
            <a:r>
              <a:rPr lang="en-US" sz="1700" b="1" dirty="0">
                <a:solidFill>
                  <a:srgbClr val="E2E8F0"/>
                </a:solidFill>
                <a:latin typeface="Arial" pitchFamily="34" charset="0"/>
                <a:ea typeface="Arial" pitchFamily="34" charset="-122"/>
                <a:cs typeface="Arial" pitchFamily="34" charset="-120"/>
              </a:rPr>
              <a:t> đang trong giai đoạn lên kế hoạch, cần chốt truyền thông trước 24/7</a:t>
            </a:r>
            <a:endParaRPr lang="en-US" sz="1700" dirty="0"/>
          </a:p>
        </p:txBody>
      </p:sp>
      <p:sp>
        <p:nvSpPr>
          <p:cNvPr id="15" name="Shape 13"/>
          <p:cNvSpPr/>
          <p:nvPr/>
        </p:nvSpPr>
        <p:spPr>
          <a:xfrm>
            <a:off x="10332720" y="1051560"/>
            <a:ext cx="146304" cy="146304"/>
          </a:xfrm>
          <a:prstGeom prst="rect">
            <a:avLst/>
          </a:prstGeom>
          <a:solidFill>
            <a:srgbClr val="C77700"/>
          </a:solidFill>
          <a:ln/>
        </p:spPr>
        <p:txBody>
          <a:body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VÀNG</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p:txBody>
      </p:sp>
      <p:sp>
        <p:nvSpPr>
          <p:cNvPr id="18" name="Shape 16"/>
          <p:cNvSpPr/>
          <p:nvPr/>
        </p:nvSpPr>
        <p:spPr>
          <a:xfrm>
            <a:off x="548640" y="1783080"/>
            <a:ext cx="3017520" cy="54864"/>
          </a:xfrm>
          <a:prstGeom prst="rect">
            <a:avLst/>
          </a:prstGeom>
          <a:solidFill>
            <a:srgbClr val="1E3A8A"/>
          </a:solidFill>
          <a:ln w="12700">
            <a:solidFill>
              <a:srgbClr val="FF7300"/>
            </a:solidFill>
          </a:ln>
        </p:spPr>
        <p:txBody>
          <a:body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68.2%</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Baga active hiện tại (đạt 50% KR Q3: mục tiêu 63.5%)</a:t>
            </a:r>
            <a:endParaRPr lang="en-US" sz="900" dirty="0"/>
          </a:p>
        </p:txBody>
      </p:sp>
      <p:sp>
        <p:nvSpPr>
          <p:cNvPr id="22" name="Shape 20"/>
          <p:cNvSpPr/>
          <p:nvPr/>
        </p:nvSpPr>
        <p:spPr>
          <a:xfrm>
            <a:off x="3090672" y="2112264"/>
            <a:ext cx="402336" cy="283464"/>
          </a:xfrm>
          <a:prstGeom prst="roundRect">
            <a:avLst>
              <a:gd name="adj" fmla="val 9677"/>
            </a:avLst>
          </a:prstGeom>
          <a:solidFill>
            <a:srgbClr val="D9631A"/>
          </a:solidFill>
          <a:ln/>
        </p:spPr>
        <p:txBody>
          <a:bodyPr/>
          <a:p/>
        </p:txBody>
      </p:sp>
      <p:sp>
        <p:nvSpPr>
          <p:cNvPr id="23" name="Shape 21"/>
          <p:cNvSpPr/>
          <p:nvPr/>
        </p:nvSpPr>
        <p:spPr>
          <a:xfrm>
            <a:off x="3191256" y="1988820"/>
            <a:ext cx="201168" cy="146304"/>
          </a:xfrm>
          <a:prstGeom prst="roundRect">
            <a:avLst>
              <a:gd name="adj" fmla="val 37500"/>
            </a:avLst>
          </a:prstGeom>
          <a:ln w="25400">
            <a:solidFill>
              <a:srgbClr val="D9631A"/>
            </a:solidFill>
            <a:prstDash val="solid"/>
          </a:ln>
        </p:spPr>
        <p:txBody>
          <a:bodyPr/>
          <a:p/>
        </p:txBody>
      </p:sp>
      <p:sp>
        <p:nvSpPr>
          <p:cNvPr id="24" name="Shape 22"/>
          <p:cNvSpPr/>
          <p:nvPr/>
        </p:nvSpPr>
        <p:spPr>
          <a:xfrm>
            <a:off x="548640" y="2670048"/>
            <a:ext cx="3017520" cy="347472"/>
          </a:xfrm>
          <a:prstGeom prst="rect">
            <a:avLst/>
          </a:prstGeom>
          <a:solidFill>
            <a:srgbClr val="16213E"/>
          </a:solidFill>
          <a:ln w="12700">
            <a:solidFill>
              <a:srgbClr val="283C5F"/>
            </a:solidFill>
          </a:ln>
        </p:spPr>
        <p:txBody>
          <a:bodyPr/>
          <a:p/>
        </p:txBody>
      </p:sp>
      <p:sp>
        <p:nvSpPr>
          <p:cNvPr id="25" name="Shape 23"/>
          <p:cNvSpPr/>
          <p:nvPr/>
        </p:nvSpPr>
        <p:spPr>
          <a:xfrm>
            <a:off x="548640" y="2670048"/>
            <a:ext cx="45720" cy="347472"/>
          </a:xfrm>
          <a:prstGeom prst="rect">
            <a:avLst/>
          </a:prstGeom>
          <a:solidFill>
            <a:srgbClr val="C77700"/>
          </a:solidFill>
          <a:ln/>
        </p:spPr>
        <p:txBody>
          <a:bodyPr/>
          <a:p/>
        </p:txBody>
      </p:sp>
      <p:sp>
        <p:nvSpPr>
          <p:cNvPr id="26" name="Text 24"/>
          <p:cNvSpPr/>
          <p:nvPr/>
        </p:nvSpPr>
        <p:spPr>
          <a:xfrm>
            <a:off x="713232" y="2688336"/>
            <a:ext cx="274320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7" name="Text 25"/>
          <p:cNvSpPr/>
          <p:nvPr/>
        </p:nvSpPr>
        <p:spPr>
          <a:xfrm>
            <a:off x="713232" y="2834640"/>
            <a:ext cx="2743200" cy="182880"/>
          </a:xfrm>
          <a:prstGeom prst="rect">
            <a:avLst/>
          </a:prstGeom>
          <a:noFill/>
          <a:ln/>
        </p:spPr>
        <p:txBody>
          <a:bodyPr wrap="square" lIns="0" tIns="0" rIns="0" bIns="0" rtlCol="0" anchor="ctr"/>
          <a:lstStyle/>
          <a:p>
            <a:pPr indent="0" marL="0">
              <a:buNone/>
            </a:pPr>
            <a:r>
              <a:rPr lang="en-US" sz="1000" b="1" dirty="0">
                <a:solidFill>
                  <a:srgbClr val="C77700"/>
                </a:solidFill>
                <a:latin typeface="Arial" pitchFamily="34" charset="0"/>
                <a:ea typeface="Arial" pitchFamily="34" charset="-122"/>
                <a:cs typeface="Arial" pitchFamily="34" charset="-120"/>
              </a:rPr>
              <a:t>≥600 TX HAN + 300 TX SGN tham gia thưởng</a:t>
            </a:r>
            <a:endParaRPr lang="en-US" sz="1000" dirty="0"/>
          </a:p>
        </p:txBody>
      </p:sp>
      <p:sp>
        <p:nvSpPr>
          <p:cNvPr id="28" name="Shape 26"/>
          <p:cNvSpPr/>
          <p:nvPr/>
        </p:nvSpPr>
        <p:spPr>
          <a:xfrm>
            <a:off x="548640" y="3337560"/>
            <a:ext cx="3017520" cy="54864"/>
          </a:xfrm>
          <a:prstGeom prst="rect">
            <a:avLst/>
          </a:prstGeom>
          <a:solidFill>
            <a:srgbClr val="FF7F32"/>
          </a:solidFill>
          <a:ln/>
        </p:spPr>
        <p:txBody>
          <a:bodyPr/>
          <a:p/>
        </p:txBody>
      </p:sp>
      <p:sp>
        <p:nvSpPr>
          <p:cNvPr id="29" name="Shape 27"/>
          <p:cNvSpPr/>
          <p:nvPr/>
        </p:nvSpPr>
        <p:spPr>
          <a:xfrm>
            <a:off x="548640" y="3392424"/>
            <a:ext cx="3017520" cy="2779776"/>
          </a:xfrm>
          <a:prstGeom prst="rect">
            <a:avLst/>
          </a:prstGeom>
          <a:solidFill>
            <a:srgbClr val="16213E"/>
          </a:solidFill>
          <a:ln w="12700">
            <a:solidFill>
              <a:srgbClr val="283C5F"/>
            </a:solidFill>
            <a:prstDash val="solid"/>
          </a:ln>
        </p:spPr>
        <p:txBody>
          <a:bodyPr/>
          <a:p/>
        </p:txBody>
      </p:sp>
      <p:sp>
        <p:nvSpPr>
          <p:cNvPr id="30" name="Text 28"/>
          <p:cNvSpPr/>
          <p:nvPr/>
        </p:nvSpPr>
        <p:spPr>
          <a:xfrm>
            <a:off x="731520" y="3474720"/>
            <a:ext cx="2651760" cy="228600"/>
          </a:xfrm>
          <a:prstGeom prst="rect">
            <a:avLst/>
          </a:prstGeom>
          <a:noFill/>
          <a:ln/>
        </p:spPr>
        <p:txBody>
          <a:bodyPr wrap="square" lIns="0" tIns="0" rIns="0" bIns="0" rtlCol="0" anchor="ctr"/>
          <a:lstStyle/>
          <a:p>
            <a:pPr indent="0" marL="0">
              <a:buNone/>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1" name="Text 29"/>
          <p:cNvSpPr/>
          <p:nvPr/>
        </p:nvSpPr>
        <p:spPr>
          <a:xfrm>
            <a:off x="731520" y="3721608"/>
            <a:ext cx="2651760" cy="914400"/>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Chưa có chương trình thưởng chuyên biệt cho nhóm baga; tăng trưởng chủ yếu tự nhiên.</a:t>
            </a:r>
            <a:endParaRPr lang="en-US" sz="950" dirty="0"/>
          </a:p>
        </p:txBody>
      </p:sp>
      <p:sp>
        <p:nvSpPr>
          <p:cNvPr id="32" name="Text 30"/>
          <p:cNvSpPr/>
          <p:nvPr/>
        </p:nvSpPr>
        <p:spPr>
          <a:xfrm>
            <a:off x="731520" y="4617720"/>
            <a:ext cx="2651760" cy="228600"/>
          </a:xfrm>
          <a:prstGeom prst="rect">
            <a:avLst/>
          </a:prstGeom>
          <a:noFill/>
          <a:ln/>
        </p:spPr>
        <p:txBody>
          <a:bodyPr wrap="square" lIns="0" tIns="0" rIns="0" bIns="0" rtlCol="0" anchor="ctr"/>
          <a:lstStyle/>
          <a:p>
            <a:pPr algn="ctr" indent="0" marL="0">
              <a:buNone/>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3" name="Text 31"/>
          <p:cNvSpPr/>
          <p:nvPr/>
        </p:nvSpPr>
        <p:spPr>
          <a:xfrm>
            <a:off x="731520" y="4873752"/>
            <a:ext cx="26517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4" name="Text 32"/>
          <p:cNvSpPr/>
          <p:nvPr/>
        </p:nvSpPr>
        <p:spPr>
          <a:xfrm>
            <a:off x="731520" y="5120640"/>
            <a:ext cx="2651760" cy="914400"/>
          </a:xfrm>
          <a:prstGeom prst="rect">
            <a:avLst/>
          </a:prstGeom>
          <a:noFill/>
          <a:ln/>
        </p:spPr>
        <p:txBody>
          <a:bodyPr wrap="square" lIns="0" tIns="0" rIns="0" bIns="0" rtlCol="0" anchor="t"/>
          <a:lstStyle/>
          <a:p>
            <a:pPr indent="0" marL="0">
              <a:buNone/>
            </a:pPr>
            <a:r>
              <a:rPr lang="en-US" sz="950" dirty="0">
                <a:solidFill>
                  <a:srgbClr val="E2E8F0"/>
                </a:solidFill>
                <a:latin typeface="Arial" pitchFamily="34" charset="0"/>
                <a:ea typeface="Arial" pitchFamily="34" charset="-122"/>
                <a:cs typeface="Arial" pitchFamily="34" charset="-120"/>
              </a:rPr>
              <a:t>Chuỗi thưởng "Trang bị baga - Hoàn tiền thả ga" tại 2 main city, target tối thiểu 600 tài xế HAN + 300 tài xế SGN tham gia.</a:t>
            </a:r>
            <a:endParaRPr lang="en-US" sz="950" dirty="0"/>
          </a:p>
        </p:txBody>
      </p:sp>
      <p:sp>
        <p:nvSpPr>
          <p:cNvPr id="35" name="Shape 33"/>
          <p:cNvSpPr/>
          <p:nvPr/>
        </p:nvSpPr>
        <p:spPr>
          <a:xfrm>
            <a:off x="3794760" y="1783080"/>
            <a:ext cx="3858768" cy="54864"/>
          </a:xfrm>
          <a:prstGeom prst="rect">
            <a:avLst/>
          </a:prstGeom>
          <a:solidFill>
            <a:srgbClr val="6B6B6B"/>
          </a:solidFill>
          <a:ln/>
        </p:spPr>
        <p:txBody>
          <a:bodyPr/>
          <a:p/>
        </p:txBody>
      </p:sp>
      <p:sp>
        <p:nvSpPr>
          <p:cNvPr id="36" name="Shape 34"/>
          <p:cNvSpPr/>
          <p:nvPr/>
        </p:nvSpPr>
        <p:spPr>
          <a:xfrm>
            <a:off x="3794760" y="1837944"/>
            <a:ext cx="3858768" cy="2093976"/>
          </a:xfrm>
          <a:prstGeom prst="rect">
            <a:avLst/>
          </a:prstGeom>
          <a:solidFill>
            <a:srgbClr val="16213E"/>
          </a:solidFill>
          <a:ln w="12700">
            <a:solidFill>
              <a:srgbClr val="283C5F"/>
            </a:solidFill>
            <a:prstDash val="solid"/>
          </a:ln>
        </p:spPr>
        <p:txBody>
          <a:bodyPr/>
          <a:p/>
        </p:txBody>
      </p:sp>
      <p:sp>
        <p:nvSpPr>
          <p:cNvPr id="37" name="Shape 35"/>
          <p:cNvSpPr/>
          <p:nvPr/>
        </p:nvSpPr>
        <p:spPr>
          <a:xfrm>
            <a:off x="3959352" y="1984248"/>
            <a:ext cx="310896" cy="310896"/>
          </a:xfrm>
          <a:prstGeom prst="rect">
            <a:avLst/>
          </a:prstGeom>
          <a:solidFill>
            <a:srgbClr val="6B6B6B"/>
          </a:solidFill>
          <a:ln/>
        </p:spPr>
        <p:txBody>
          <a:bodyPr/>
          <a:p/>
        </p:txBody>
      </p:sp>
      <p:sp>
        <p:nvSpPr>
          <p:cNvPr id="38" name="Text 36"/>
          <p:cNvSpPr/>
          <p:nvPr/>
        </p:nvSpPr>
        <p:spPr>
          <a:xfrm>
            <a:off x="3959352"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9" name="Text 37"/>
          <p:cNvSpPr/>
          <p:nvPr/>
        </p:nvSpPr>
        <p:spPr>
          <a:xfrm>
            <a:off x="4361688"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0" name="Text 38"/>
          <p:cNvSpPr/>
          <p:nvPr/>
        </p:nvSpPr>
        <p:spPr>
          <a:xfrm>
            <a:off x="3995928"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Lên kế hoạch chuỗi chương trình thưởng; xác định target tối thiểu tài xế tham gia &amp; nhận thưởng.</a:t>
            </a:r>
            <a:endParaRPr lang="en-US" sz="1050" dirty="0"/>
          </a:p>
        </p:txBody>
      </p:sp>
      <p:sp>
        <p:nvSpPr>
          <p:cNvPr id="41" name="Shape 39"/>
          <p:cNvSpPr/>
          <p:nvPr/>
        </p:nvSpPr>
        <p:spPr>
          <a:xfrm>
            <a:off x="7799832" y="1783080"/>
            <a:ext cx="3858768" cy="54864"/>
          </a:xfrm>
          <a:prstGeom prst="rect">
            <a:avLst/>
          </a:prstGeom>
          <a:solidFill>
            <a:srgbClr val="C77700"/>
          </a:solidFill>
          <a:ln/>
        </p:spPr>
        <p:txBody>
          <a:bodyPr/>
          <a:p/>
        </p:txBody>
      </p:sp>
      <p:sp>
        <p:nvSpPr>
          <p:cNvPr id="42" name="Shape 40"/>
          <p:cNvSpPr/>
          <p:nvPr/>
        </p:nvSpPr>
        <p:spPr>
          <a:xfrm>
            <a:off x="7799832" y="1837944"/>
            <a:ext cx="3858768" cy="2093976"/>
          </a:xfrm>
          <a:prstGeom prst="rect">
            <a:avLst/>
          </a:prstGeom>
          <a:solidFill>
            <a:srgbClr val="16213E"/>
          </a:solidFill>
          <a:ln w="12700">
            <a:solidFill>
              <a:srgbClr val="283C5F"/>
            </a:solidFill>
            <a:prstDash val="solid"/>
          </a:ln>
        </p:spPr>
        <p:txBody>
          <a:bodyPr/>
          <a:p/>
        </p:txBody>
      </p:sp>
      <p:sp>
        <p:nvSpPr>
          <p:cNvPr id="43" name="Shape 41"/>
          <p:cNvSpPr/>
          <p:nvPr/>
        </p:nvSpPr>
        <p:spPr>
          <a:xfrm>
            <a:off x="7964424" y="1984248"/>
            <a:ext cx="310896" cy="310896"/>
          </a:xfrm>
          <a:prstGeom prst="rect">
            <a:avLst/>
          </a:prstGeom>
          <a:solidFill>
            <a:srgbClr val="C77700"/>
          </a:solidFill>
          <a:ln/>
        </p:spPr>
        <p:txBody>
          <a:bodyPr/>
          <a:p/>
        </p:txBody>
      </p:sp>
      <p:sp>
        <p:nvSpPr>
          <p:cNvPr id="44" name="Text 42"/>
          <p:cNvSpPr/>
          <p:nvPr/>
        </p:nvSpPr>
        <p:spPr>
          <a:xfrm>
            <a:off x="7964424"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5" name="Text 43"/>
          <p:cNvSpPr/>
          <p:nvPr/>
        </p:nvSpPr>
        <p:spPr>
          <a:xfrm>
            <a:off x="8366760"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6" name="Text 44"/>
          <p:cNvSpPr/>
          <p:nvPr/>
        </p:nvSpPr>
        <p:spPr>
          <a:xfrm>
            <a:off x="8001000"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Dự án đang ở giai đoạn planning, chưa phát sinh actual thực thi. Baga active hiện đạt </a:t>
            </a:r>
            <a:pPr indent="0" marL="0">
              <a:buNone/>
            </a:pPr>
            <a:r>
              <a:rPr lang="en-US" sz="1050" b="1" dirty="0">
                <a:solidFill>
                  <a:srgbClr val="E2E8F0"/>
                </a:solidFill>
                <a:latin typeface="Arial" pitchFamily="34" charset="0"/>
                <a:ea typeface="Arial" pitchFamily="34" charset="-122"/>
                <a:cs typeface="Arial" pitchFamily="34" charset="-120"/>
              </a:rPr>
              <a:t>68.2%</a:t>
            </a:r>
            <a:pPr indent="0" marL="0">
              <a:buNone/>
            </a:pPr>
            <a:r>
              <a:rPr lang="en-US" sz="1050" dirty="0">
                <a:solidFill>
                  <a:srgbClr val="6B6B6B"/>
                </a:solidFill>
                <a:latin typeface="Arial" pitchFamily="34" charset="0"/>
                <a:ea typeface="Arial" pitchFamily="34" charset="-122"/>
                <a:cs typeface="Arial" pitchFamily="34" charset="-120"/>
              </a:rPr>
              <a:t>, cải thiện so với baseline nhưng vẫn cách target Q3 (</a:t>
            </a:r>
            <a:pPr indent="0" marL="0">
              <a:buNone/>
            </a:pPr>
            <a:r>
              <a:rPr lang="en-US" sz="1050" b="1" dirty="0">
                <a:solidFill>
                  <a:srgbClr val="E2E8F0"/>
                </a:solidFill>
                <a:latin typeface="Arial" pitchFamily="34" charset="0"/>
                <a:ea typeface="Arial" pitchFamily="34" charset="-122"/>
                <a:cs typeface="Arial" pitchFamily="34" charset="-120"/>
              </a:rPr>
              <a:t>63.5%</a:t>
            </a:r>
            <a:pPr indent="0" marL="0">
              <a:buNone/>
            </a:pPr>
            <a:r>
              <a:rPr lang="en-US" sz="1050" dirty="0">
                <a:solidFill>
                  <a:srgbClr val="6B6B6B"/>
                </a:solidFill>
                <a:latin typeface="Arial" pitchFamily="34" charset="0"/>
                <a:ea typeface="Arial" pitchFamily="34" charset="-122"/>
                <a:cs typeface="Arial" pitchFamily="34" charset="-120"/>
              </a:rPr>
              <a:t>). </a:t>
            </a:r>
            <a:pPr indent="0" marL="0">
              <a:buNone/>
            </a:pPr>
            <a:r>
              <a:rPr lang="en-US" sz="1050" b="1" dirty="0">
                <a:solidFill>
                  <a:srgbClr val="E2E8F0"/>
                </a:solidFill>
                <a:latin typeface="Arial" pitchFamily="34" charset="0"/>
                <a:ea typeface="Arial" pitchFamily="34" charset="-122"/>
                <a:cs typeface="Arial" pitchFamily="34" charset="-120"/>
              </a:rPr>
              <a:t>Cơ chế kỳ vọng:</a:t>
            </a:r>
            <a:pPr indent="0" marL="0">
              <a:buNone/>
            </a:pPr>
            <a:r>
              <a:rPr lang="en-US" sz="1050" dirty="0">
                <a:solidFill>
                  <a:srgbClr val="6B6B6B"/>
                </a:solidFill>
                <a:latin typeface="Arial" pitchFamily="34" charset="0"/>
                <a:ea typeface="Arial" pitchFamily="34" charset="-122"/>
                <a:cs typeface="Arial" pitchFamily="34" charset="-120"/>
              </a:rPr>
              <a:t> thưởng tài chính trực tiếp tạo động lực ngắn hạn, đặt đúng lúc nhu cầu bulky tăng theo mùa.</a:t>
            </a:r>
            <a:endParaRPr lang="en-US" sz="1050" dirty="0"/>
          </a:p>
        </p:txBody>
      </p:sp>
      <p:sp>
        <p:nvSpPr>
          <p:cNvPr id="47" name="Shape 45"/>
          <p:cNvSpPr/>
          <p:nvPr/>
        </p:nvSpPr>
        <p:spPr>
          <a:xfrm>
            <a:off x="3794760" y="4069080"/>
            <a:ext cx="3858768" cy="54864"/>
          </a:xfrm>
          <a:prstGeom prst="rect">
            <a:avLst/>
          </a:prstGeom>
          <a:solidFill>
            <a:srgbClr val="FF7F32"/>
          </a:solidFill>
          <a:ln/>
        </p:spPr>
        <p:txBody>
          <a:bodyPr/>
          <a:p/>
        </p:txBody>
      </p:sp>
      <p:sp>
        <p:nvSpPr>
          <p:cNvPr id="48" name="Shape 46"/>
          <p:cNvSpPr/>
          <p:nvPr/>
        </p:nvSpPr>
        <p:spPr>
          <a:xfrm>
            <a:off x="3794760" y="4123944"/>
            <a:ext cx="3858768" cy="2093976"/>
          </a:xfrm>
          <a:prstGeom prst="rect">
            <a:avLst/>
          </a:prstGeom>
          <a:solidFill>
            <a:srgbClr val="16213E"/>
          </a:solidFill>
          <a:ln w="12700">
            <a:solidFill>
              <a:srgbClr val="283C5F"/>
            </a:solidFill>
            <a:prstDash val="solid"/>
          </a:ln>
        </p:spPr>
        <p:txBody>
          <a:bodyPr/>
          <a:p/>
        </p:txBody>
      </p:sp>
      <p:sp>
        <p:nvSpPr>
          <p:cNvPr id="49" name="Shape 47"/>
          <p:cNvSpPr/>
          <p:nvPr/>
        </p:nvSpPr>
        <p:spPr>
          <a:xfrm>
            <a:off x="3959352" y="4270248"/>
            <a:ext cx="310896" cy="310896"/>
          </a:xfrm>
          <a:prstGeom prst="rect">
            <a:avLst/>
          </a:prstGeom>
          <a:solidFill>
            <a:srgbClr val="FF7F32"/>
          </a:solidFill>
          <a:ln/>
        </p:spPr>
        <p:txBody>
          <a:bodyPr/>
          <a:p/>
        </p:txBody>
      </p:sp>
      <p:sp>
        <p:nvSpPr>
          <p:cNvPr id="50" name="Text 48"/>
          <p:cNvSpPr/>
          <p:nvPr/>
        </p:nvSpPr>
        <p:spPr>
          <a:xfrm>
            <a:off x="3959352"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1" name="Text 49"/>
          <p:cNvSpPr/>
          <p:nvPr/>
        </p:nvSpPr>
        <p:spPr>
          <a:xfrm>
            <a:off x="4361688"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2" name="Text 50"/>
          <p:cNvSpPr/>
          <p:nvPr/>
        </p:nvSpPr>
        <p:spPr>
          <a:xfrm>
            <a:off x="3995928"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Chốt plan &amp; công bố lên nhóm chung Supply (</a:t>
            </a:r>
            <a:pPr indent="0" marL="0">
              <a:buNone/>
            </a:pPr>
            <a:r>
              <a:rPr lang="en-US" sz="1050" b="1" dirty="0">
                <a:solidFill>
                  <a:srgbClr val="E2E8F0"/>
                </a:solidFill>
                <a:latin typeface="Arial" pitchFamily="34" charset="0"/>
                <a:ea typeface="Arial" pitchFamily="34" charset="-122"/>
                <a:cs typeface="Arial" pitchFamily="34" charset="-120"/>
              </a:rPr>
              <a:t>22-24/7</a:t>
            </a:r>
            <a:pPr indent="0" marL="0">
              <a:buNone/>
            </a:pPr>
            <a:r>
              <a:rPr lang="en-US" sz="1050" dirty="0">
                <a:solidFill>
                  <a:srgbClr val="6B6B6B"/>
                </a:solidFill>
                <a:latin typeface="Arial" pitchFamily="34" charset="0"/>
                <a:ea typeface="Arial" pitchFamily="34" charset="-122"/>
                <a:cs typeface="Arial" pitchFamily="34" charset="-120"/>
              </a:rPr>
              <a:t>); meeting DS hoàn thiện plan truyền thông (26-30/7); PA setup thưởng + flow noti (26/7-10/8); truyền thông tài xế mới (1-14/8).</a:t>
            </a:r>
            <a:endParaRPr lang="en-US" sz="1050" dirty="0"/>
          </a:p>
        </p:txBody>
      </p:sp>
      <p:sp>
        <p:nvSpPr>
          <p:cNvPr id="53" name="Shape 51"/>
          <p:cNvSpPr/>
          <p:nvPr/>
        </p:nvSpPr>
        <p:spPr>
          <a:xfrm>
            <a:off x="7799832" y="4069080"/>
            <a:ext cx="3858768" cy="54864"/>
          </a:xfrm>
          <a:prstGeom prst="rect">
            <a:avLst/>
          </a:prstGeom>
          <a:solidFill>
            <a:srgbClr val="1E3A8A"/>
          </a:solidFill>
          <a:ln w="12700">
            <a:solidFill>
              <a:srgbClr val="FF7300"/>
            </a:solidFill>
          </a:ln>
        </p:spPr>
        <p:txBody>
          <a:bodyPr/>
          <a:p/>
        </p:txBody>
      </p:sp>
      <p:sp>
        <p:nvSpPr>
          <p:cNvPr id="54" name="Shape 52"/>
          <p:cNvSpPr/>
          <p:nvPr/>
        </p:nvSpPr>
        <p:spPr>
          <a:xfrm>
            <a:off x="7799832" y="4123944"/>
            <a:ext cx="3858768" cy="2093976"/>
          </a:xfrm>
          <a:prstGeom prst="rect">
            <a:avLst/>
          </a:prstGeom>
          <a:solidFill>
            <a:srgbClr val="16213E"/>
          </a:solidFill>
          <a:ln w="12700">
            <a:solidFill>
              <a:srgbClr val="283C5F"/>
            </a:solidFill>
            <a:prstDash val="solid"/>
          </a:ln>
        </p:spPr>
        <p:txBody>
          <a:bodyPr/>
          <a:p/>
        </p:txBody>
      </p:sp>
      <p:sp>
        <p:nvSpPr>
          <p:cNvPr id="55" name="Shape 53"/>
          <p:cNvSpPr/>
          <p:nvPr/>
        </p:nvSpPr>
        <p:spPr>
          <a:xfrm>
            <a:off x="7964424" y="4270248"/>
            <a:ext cx="310896" cy="310896"/>
          </a:xfrm>
          <a:prstGeom prst="rect">
            <a:avLst/>
          </a:prstGeom>
          <a:solidFill>
            <a:srgbClr val="1E3A8A"/>
          </a:solidFill>
          <a:ln w="12700">
            <a:solidFill>
              <a:srgbClr val="FF7300"/>
            </a:solidFill>
          </a:ln>
        </p:spPr>
        <p:txBody>
          <a:bodyPr/>
          <a:p/>
        </p:txBody>
      </p:sp>
      <p:sp>
        <p:nvSpPr>
          <p:cNvPr id="56" name="Text 54"/>
          <p:cNvSpPr/>
          <p:nvPr/>
        </p:nvSpPr>
        <p:spPr>
          <a:xfrm>
            <a:off x="7964424"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7" name="Text 55"/>
          <p:cNvSpPr/>
          <p:nvPr/>
        </p:nvSpPr>
        <p:spPr>
          <a:xfrm>
            <a:off x="8366760"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58" name="Text 56"/>
          <p:cNvSpPr/>
          <p:nvPr/>
        </p:nvSpPr>
        <p:spPr>
          <a:xfrm>
            <a:off x="8001000"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DS (truyền thông &amp; branding), PA (setup thưởng, flow noti), GR (truyền thông tài xế mới)</a:t>
            </a:r>
            <a:endParaRPr lang="en-US" sz="1050" dirty="0"/>
          </a:p>
        </p:txBody>
      </p:sp>
      <p:sp>
        <p:nvSpPr>
          <p:cNvPr id="59" name="Shape 57"/>
          <p:cNvSpPr/>
          <p:nvPr/>
        </p:nvSpPr>
        <p:spPr>
          <a:xfrm>
            <a:off x="548640" y="6510528"/>
            <a:ext cx="11091672" cy="0"/>
          </a:xfrm>
          <a:prstGeom prst="line">
            <a:avLst/>
          </a:prstGeom>
          <a:noFill/>
          <a:ln w="15875">
            <a:solidFill>
              <a:srgbClr val="FF7F32"/>
            </a:solidFill>
            <a:prstDash val="solid"/>
          </a:ln>
        </p:spPr>
        <p:txBody>
          <a:bodyPr/>
          <a:p/>
        </p:txBody>
      </p:sp>
      <p:sp>
        <p:nvSpPr>
          <p:cNvPr id="60" name="Text 58"/>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1" name="Text 59"/>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7772400" y="36576"/>
            <a:ext cx="3867912" cy="201168"/>
          </a:xfrm>
          <a:prstGeom prst="rect">
            <a:avLst/>
          </a:prstGeom>
          <a:noFill/>
          <a:ln/>
        </p:spPr>
        <p:txBody>
          <a:bodyPr wrap="square" lIns="0" tIns="0" rIns="0" bIns="0" rtlCol="0" anchor="ctr"/>
          <a:lstStyle/>
          <a:p>
            <a:pPr algn="r" indent="0" marL="0">
              <a:buNone/>
            </a:pPr>
            <a:r>
              <a:rPr lang="en-US" sz="850" i="1" dirty="0">
                <a:solidFill>
                  <a:srgbClr val="6B6B6B"/>
                </a:solidFill>
                <a:latin typeface="Arial" pitchFamily="34" charset="0"/>
                <a:ea typeface="Arial" pitchFamily="34" charset="-122"/>
                <a:cs typeface="Arial" pitchFamily="34" charset="-120"/>
              </a:rPr>
              <a:t>Ahamove  ·  Driver Management  ·  Báo cáo T7</a:t>
            </a:r>
            <a:endParaRPr lang="en-US" sz="850" dirty="0"/>
          </a:p>
        </p:txBody>
      </p:sp>
      <p:sp>
        <p:nvSpPr>
          <p:cNvPr id="3" name="Shape 1"/>
          <p:cNvSpPr/>
          <p:nvPr/>
        </p:nvSpPr>
        <p:spPr>
          <a:xfrm>
            <a:off x="548640" y="365760"/>
            <a:ext cx="2718054" cy="365760"/>
          </a:xfrm>
          <a:prstGeom prst="rect">
            <a:avLst/>
          </a:prstGeom>
          <a:solidFill>
            <a:srgbClr val="16213E"/>
          </a:solidFill>
          <a:ln w="12700">
            <a:solidFill>
              <a:srgbClr val="283C5F"/>
            </a:solidFill>
          </a:ln>
        </p:spPr>
        <p:txBody>
          <a:bodyPr/>
          <a:p/>
        </p:txBody>
      </p:sp>
      <p:sp>
        <p:nvSpPr>
          <p:cNvPr id="4" name="Text 2"/>
          <p:cNvSpPr/>
          <p:nvPr/>
        </p:nvSpPr>
        <p:spPr>
          <a:xfrm>
            <a:off x="548640"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MiniHub</a:t>
            </a:r>
            <a:endParaRPr lang="en-US" sz="1100" dirty="0"/>
          </a:p>
        </p:txBody>
      </p:sp>
      <p:sp>
        <p:nvSpPr>
          <p:cNvPr id="5" name="Shape 3"/>
          <p:cNvSpPr/>
          <p:nvPr/>
        </p:nvSpPr>
        <p:spPr>
          <a:xfrm>
            <a:off x="3339846" y="365760"/>
            <a:ext cx="2718054" cy="365760"/>
          </a:xfrm>
          <a:prstGeom prst="rect">
            <a:avLst/>
          </a:prstGeom>
          <a:solidFill>
            <a:srgbClr val="16213E"/>
          </a:solidFill>
          <a:ln w="12700">
            <a:solidFill>
              <a:srgbClr val="283C5F"/>
            </a:solidFill>
          </a:ln>
        </p:spPr>
        <p:txBody>
          <a:bodyPr/>
          <a:p/>
        </p:txBody>
      </p:sp>
      <p:sp>
        <p:nvSpPr>
          <p:cNvPr id="6" name="Text 4"/>
          <p:cNvSpPr/>
          <p:nvPr/>
        </p:nvSpPr>
        <p:spPr>
          <a:xfrm>
            <a:off x="3339846"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EV</a:t>
            </a:r>
            <a:endParaRPr lang="en-US" sz="1100" dirty="0"/>
          </a:p>
        </p:txBody>
      </p:sp>
      <p:sp>
        <p:nvSpPr>
          <p:cNvPr id="7" name="Shape 5"/>
          <p:cNvSpPr/>
          <p:nvPr/>
        </p:nvSpPr>
        <p:spPr>
          <a:xfrm>
            <a:off x="6131052" y="365760"/>
            <a:ext cx="2718054" cy="365760"/>
          </a:xfrm>
          <a:prstGeom prst="rect">
            <a:avLst/>
          </a:prstGeom>
          <a:solidFill>
            <a:srgbClr val="16213E"/>
          </a:solidFill>
          <a:ln w="12700">
            <a:solidFill>
              <a:srgbClr val="283C5F"/>
            </a:solidFill>
          </a:ln>
        </p:spPr>
        <p:txBody>
          <a:bodyPr/>
          <a:p/>
        </p:txBody>
      </p:sp>
      <p:sp>
        <p:nvSpPr>
          <p:cNvPr id="8" name="Text 6"/>
          <p:cNvSpPr/>
          <p:nvPr/>
        </p:nvSpPr>
        <p:spPr>
          <a:xfrm>
            <a:off x="6131052" y="365760"/>
            <a:ext cx="2718054" cy="365760"/>
          </a:xfrm>
          <a:prstGeom prst="rect">
            <a:avLst/>
          </a:prstGeom>
          <a:noFill/>
          <a:ln/>
        </p:spPr>
        <p:txBody>
          <a:bodyPr wrap="square" lIns="0" tIns="0" rIns="0" bIns="0" rtlCol="0" anchor="ctr"/>
          <a:lstStyle/>
          <a:p>
            <a:pPr algn="ctr" indent="0" marL="0">
              <a:buNone/>
            </a:pPr>
            <a:r>
              <a:rPr lang="en-US" sz="1100" dirty="0">
                <a:solidFill>
                  <a:srgbClr val="6B6B6B"/>
                </a:solidFill>
                <a:latin typeface="Arial" pitchFamily="34" charset="0"/>
                <a:ea typeface="Arial" pitchFamily="34" charset="-122"/>
                <a:cs typeface="Arial" pitchFamily="34" charset="-120"/>
              </a:rPr>
              <a:t>Baga Bulky</a:t>
            </a:r>
            <a:endParaRPr lang="en-US" sz="1100" dirty="0"/>
          </a:p>
        </p:txBody>
      </p:sp>
      <p:sp>
        <p:nvSpPr>
          <p:cNvPr id="9" name="Shape 7"/>
          <p:cNvSpPr/>
          <p:nvPr/>
        </p:nvSpPr>
        <p:spPr>
          <a:xfrm>
            <a:off x="8922258" y="365760"/>
            <a:ext cx="2718054" cy="365760"/>
          </a:xfrm>
          <a:prstGeom prst="rect">
            <a:avLst/>
          </a:prstGeom>
          <a:solidFill>
            <a:srgbClr val="1E3A8A"/>
          </a:solidFill>
          <a:ln w="12700">
            <a:solidFill>
              <a:srgbClr val="FF7300"/>
            </a:solidFill>
          </a:ln>
        </p:spPr>
        <p:txBody>
          <a:bodyPr/>
          <a:p/>
        </p:txBody>
      </p:sp>
      <p:sp>
        <p:nvSpPr>
          <p:cNvPr id="10" name="Shape 8"/>
          <p:cNvSpPr/>
          <p:nvPr/>
        </p:nvSpPr>
        <p:spPr>
          <a:xfrm>
            <a:off x="8922258" y="320040"/>
            <a:ext cx="2718054" cy="45720"/>
          </a:xfrm>
          <a:prstGeom prst="rect">
            <a:avLst/>
          </a:prstGeom>
          <a:solidFill>
            <a:srgbClr val="FF7F32"/>
          </a:solidFill>
          <a:ln/>
        </p:spPr>
        <p:txBody>
          <a:bodyPr/>
          <a:p/>
        </p:txBody>
      </p:sp>
      <p:sp>
        <p:nvSpPr>
          <p:cNvPr id="11" name="Text 9"/>
          <p:cNvSpPr/>
          <p:nvPr/>
        </p:nvSpPr>
        <p:spPr>
          <a:xfrm>
            <a:off x="8922258" y="365760"/>
            <a:ext cx="271805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Driver Journey</a:t>
            </a:r>
            <a:endParaRPr lang="en-US" sz="1100" dirty="0"/>
          </a:p>
        </p:txBody>
      </p:sp>
      <p:sp>
        <p:nvSpPr>
          <p:cNvPr id="12" name="Shape 10"/>
          <p:cNvSpPr/>
          <p:nvPr/>
        </p:nvSpPr>
        <p:spPr>
          <a:xfrm>
            <a:off x="548640" y="914400"/>
            <a:ext cx="502920" cy="502920"/>
          </a:xfrm>
          <a:prstGeom prst="rect">
            <a:avLst/>
          </a:prstGeom>
          <a:solidFill>
            <a:srgbClr val="1B8A5A"/>
          </a:solidFill>
          <a:ln/>
        </p:spPr>
        <p:txBody>
          <a:bodyPr/>
          <a:p/>
        </p:txBody>
      </p:sp>
      <p:sp>
        <p:nvSpPr>
          <p:cNvPr id="13" name="Text 11"/>
          <p:cNvSpPr/>
          <p:nvPr/>
        </p:nvSpPr>
        <p:spPr>
          <a:xfrm>
            <a:off x="548640" y="9144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DJ</a:t>
            </a:r>
            <a:endParaRPr lang="en-US" sz="1300" dirty="0"/>
          </a:p>
        </p:txBody>
      </p:sp>
      <p:sp>
        <p:nvSpPr>
          <p:cNvPr id="14" name="Text 12"/>
          <p:cNvSpPr/>
          <p:nvPr/>
        </p:nvSpPr>
        <p:spPr>
          <a:xfrm>
            <a:off x="1188720" y="868680"/>
            <a:ext cx="8778240" cy="594360"/>
          </a:xfrm>
          <a:prstGeom prst="rect">
            <a:avLst/>
          </a:prstGeom>
          <a:noFill/>
          <a:ln/>
        </p:spPr>
        <p:txBody>
          <a:bodyPr wrap="square" lIns="0" tIns="0" rIns="0" bIns="0" rtlCol="0" anchor="t"/>
          <a:lstStyle/>
          <a:p>
            <a:pPr indent="0" marL="0">
              <a:buNone/>
            </a:pPr>
            <a:r>
              <a:rPr lang="en-US" sz="1700" b="1" dirty="0">
                <a:solidFill>
                  <a:srgbClr val="1B8A5A"/>
                </a:solidFill>
                <a:latin typeface="Arial" pitchFamily="34" charset="0"/>
                <a:ea typeface="Arial" pitchFamily="34" charset="-122"/>
                <a:cs typeface="Arial" pitchFamily="34" charset="-120"/>
              </a:rPr>
              <a:t>Driver Journey:</a:t>
            </a:r>
            <a:pPr indent="0" marL="0">
              <a:buNone/>
            </a:pPr>
            <a:r>
              <a:rPr lang="en-US" sz="1700" b="1" dirty="0">
                <a:solidFill>
                  <a:srgbClr val="E2E8F0"/>
                </a:solidFill>
                <a:latin typeface="Arial" pitchFamily="34" charset="0"/>
                <a:ea typeface="Arial" pitchFamily="34" charset="-122"/>
                <a:cs typeface="Arial" pitchFamily="34" charset="-120"/>
              </a:rPr>
              <a:t> case study chứng minh mô hình onboarding theo giai đoạn đang work</a:t>
            </a:r>
            <a:endParaRPr lang="en-US" sz="1700" dirty="0"/>
          </a:p>
        </p:txBody>
      </p:sp>
      <p:sp>
        <p:nvSpPr>
          <p:cNvPr id="15" name="Shape 13"/>
          <p:cNvSpPr/>
          <p:nvPr/>
        </p:nvSpPr>
        <p:spPr>
          <a:xfrm>
            <a:off x="10332720" y="1051560"/>
            <a:ext cx="146304" cy="146304"/>
          </a:xfrm>
          <a:prstGeom prst="rect">
            <a:avLst/>
          </a:prstGeom>
          <a:solidFill>
            <a:srgbClr val="1B8A5A"/>
          </a:solidFill>
          <a:ln/>
        </p:spPr>
        <p:txBody>
          <a:bodyPr/>
          <a:p/>
        </p:txBody>
      </p:sp>
      <p:sp>
        <p:nvSpPr>
          <p:cNvPr id="16" name="Text 14"/>
          <p:cNvSpPr/>
          <p:nvPr/>
        </p:nvSpPr>
        <p:spPr>
          <a:xfrm>
            <a:off x="10533888" y="996696"/>
            <a:ext cx="914400" cy="256032"/>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XANH</a:t>
            </a:r>
            <a:endParaRPr lang="en-US" sz="1100" dirty="0"/>
          </a:p>
        </p:txBody>
      </p:sp>
      <p:sp>
        <p:nvSpPr>
          <p:cNvPr id="17" name="Shape 15"/>
          <p:cNvSpPr/>
          <p:nvPr/>
        </p:nvSpPr>
        <p:spPr>
          <a:xfrm>
            <a:off x="548640" y="1572768"/>
            <a:ext cx="1005840" cy="36576"/>
          </a:xfrm>
          <a:prstGeom prst="rect">
            <a:avLst/>
          </a:prstGeom>
          <a:solidFill>
            <a:srgbClr val="FF7F32"/>
          </a:solidFill>
          <a:ln/>
        </p:spPr>
        <p:txBody>
          <a:bodyPr/>
          <a:p/>
        </p:txBody>
      </p:sp>
      <p:sp>
        <p:nvSpPr>
          <p:cNvPr id="18" name="Shape 16"/>
          <p:cNvSpPr/>
          <p:nvPr/>
        </p:nvSpPr>
        <p:spPr>
          <a:xfrm>
            <a:off x="548640" y="1783080"/>
            <a:ext cx="3017520" cy="54864"/>
          </a:xfrm>
          <a:prstGeom prst="rect">
            <a:avLst/>
          </a:prstGeom>
          <a:solidFill>
            <a:srgbClr val="1E3A8A"/>
          </a:solidFill>
          <a:ln w="12700">
            <a:solidFill>
              <a:srgbClr val="FF7300"/>
            </a:solidFill>
          </a:ln>
        </p:spPr>
        <p:txBody>
          <a:bodyPr/>
          <a:p/>
        </p:txBody>
      </p:sp>
      <p:sp>
        <p:nvSpPr>
          <p:cNvPr id="19" name="Shape 17"/>
          <p:cNvSpPr/>
          <p:nvPr/>
        </p:nvSpPr>
        <p:spPr>
          <a:xfrm>
            <a:off x="548640" y="1837944"/>
            <a:ext cx="3017520" cy="1362456"/>
          </a:xfrm>
          <a:prstGeom prst="rect">
            <a:avLst/>
          </a:prstGeom>
          <a:solidFill>
            <a:srgbClr val="16213E"/>
          </a:solidFill>
          <a:ln w="12700">
            <a:solidFill>
              <a:srgbClr val="283C5F"/>
            </a:solidFill>
            <a:prstDash val="solid"/>
          </a:ln>
        </p:spPr>
        <p:txBody>
          <a:bodyPr/>
          <a:p/>
        </p:txBody>
      </p:sp>
      <p:sp>
        <p:nvSpPr>
          <p:cNvPr id="20" name="Text 18"/>
          <p:cNvSpPr/>
          <p:nvPr/>
        </p:nvSpPr>
        <p:spPr>
          <a:xfrm>
            <a:off x="685800" y="1901952"/>
            <a:ext cx="2148840" cy="50292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2 / 9</a:t>
            </a:r>
            <a:endParaRPr lang="en-US" sz="2400" dirty="0"/>
          </a:p>
        </p:txBody>
      </p:sp>
      <p:sp>
        <p:nvSpPr>
          <p:cNvPr id="21" name="Text 19"/>
          <p:cNvSpPr/>
          <p:nvPr/>
        </p:nvSpPr>
        <p:spPr>
          <a:xfrm>
            <a:off x="685800" y="2377440"/>
            <a:ext cx="2148840" cy="2743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Giai đoạn (D0-D8) hoàn thành đúng tiến độ — dự án duy nhất RAG Xanh</a:t>
            </a:r>
            <a:endParaRPr lang="en-US" sz="900" dirty="0"/>
          </a:p>
        </p:txBody>
      </p:sp>
      <p:sp>
        <p:nvSpPr>
          <p:cNvPr id="22" name="Shape 20"/>
          <p:cNvSpPr/>
          <p:nvPr/>
        </p:nvSpPr>
        <p:spPr>
          <a:xfrm>
            <a:off x="3063240" y="1965960"/>
            <a:ext cx="374904" cy="457200"/>
          </a:xfrm>
          <a:prstGeom prst="roundRect">
            <a:avLst>
              <a:gd name="adj" fmla="val 4878"/>
            </a:avLst>
          </a:prstGeom>
          <a:solidFill>
            <a:srgbClr val="D9631A"/>
          </a:solidFill>
          <a:ln/>
        </p:spPr>
        <p:txBody>
          <a:bodyPr/>
          <a:p/>
        </p:txBody>
      </p:sp>
      <p:sp>
        <p:nvSpPr>
          <p:cNvPr id="23" name="Shape 21"/>
          <p:cNvSpPr/>
          <p:nvPr/>
        </p:nvSpPr>
        <p:spPr>
          <a:xfrm>
            <a:off x="3127248" y="2066544"/>
            <a:ext cx="246888" cy="27432"/>
          </a:xfrm>
          <a:prstGeom prst="rect">
            <a:avLst/>
          </a:prstGeom>
          <a:solidFill>
            <a:srgbClr val="16213E"/>
          </a:solidFill>
          <a:ln w="12700">
            <a:solidFill>
              <a:srgbClr val="283C5F"/>
            </a:solidFill>
          </a:ln>
        </p:spPr>
        <p:txBody>
          <a:bodyPr/>
          <a:p/>
        </p:txBody>
      </p:sp>
      <p:sp>
        <p:nvSpPr>
          <p:cNvPr id="24" name="Shape 22"/>
          <p:cNvSpPr/>
          <p:nvPr/>
        </p:nvSpPr>
        <p:spPr>
          <a:xfrm>
            <a:off x="3127248" y="2171700"/>
            <a:ext cx="246888" cy="27432"/>
          </a:xfrm>
          <a:prstGeom prst="rect">
            <a:avLst/>
          </a:prstGeom>
          <a:solidFill>
            <a:srgbClr val="16213E"/>
          </a:solidFill>
          <a:ln w="12700">
            <a:solidFill>
              <a:srgbClr val="283C5F"/>
            </a:solidFill>
          </a:ln>
        </p:spPr>
        <p:txBody>
          <a:bodyPr/>
          <a:p/>
        </p:txBody>
      </p:sp>
      <p:sp>
        <p:nvSpPr>
          <p:cNvPr id="25" name="Shape 23"/>
          <p:cNvSpPr/>
          <p:nvPr/>
        </p:nvSpPr>
        <p:spPr>
          <a:xfrm>
            <a:off x="3127248" y="2276856"/>
            <a:ext cx="246888" cy="27432"/>
          </a:xfrm>
          <a:prstGeom prst="rect">
            <a:avLst/>
          </a:prstGeom>
          <a:solidFill>
            <a:srgbClr val="16213E"/>
          </a:solidFill>
          <a:ln w="12700">
            <a:solidFill>
              <a:srgbClr val="283C5F"/>
            </a:solidFill>
          </a:ln>
        </p:spPr>
        <p:txBody>
          <a:bodyPr/>
          <a:p/>
        </p:txBody>
      </p:sp>
      <p:sp>
        <p:nvSpPr>
          <p:cNvPr id="26" name="Shape 24"/>
          <p:cNvSpPr/>
          <p:nvPr/>
        </p:nvSpPr>
        <p:spPr>
          <a:xfrm>
            <a:off x="548640" y="2670048"/>
            <a:ext cx="3017520" cy="347472"/>
          </a:xfrm>
          <a:prstGeom prst="rect">
            <a:avLst/>
          </a:prstGeom>
          <a:solidFill>
            <a:srgbClr val="16213E"/>
          </a:solidFill>
          <a:ln w="12700">
            <a:solidFill>
              <a:srgbClr val="283C5F"/>
            </a:solidFill>
          </a:ln>
        </p:spPr>
        <p:txBody>
          <a:bodyPr/>
          <a:p/>
        </p:txBody>
      </p:sp>
      <p:sp>
        <p:nvSpPr>
          <p:cNvPr id="27" name="Shape 25"/>
          <p:cNvSpPr/>
          <p:nvPr/>
        </p:nvSpPr>
        <p:spPr>
          <a:xfrm>
            <a:off x="548640" y="2670048"/>
            <a:ext cx="45720" cy="347472"/>
          </a:xfrm>
          <a:prstGeom prst="rect">
            <a:avLst/>
          </a:prstGeom>
          <a:solidFill>
            <a:srgbClr val="1B8A5A"/>
          </a:solidFill>
          <a:ln/>
        </p:spPr>
        <p:txBody>
          <a:bodyPr/>
          <a:p/>
        </p:txBody>
      </p:sp>
      <p:sp>
        <p:nvSpPr>
          <p:cNvPr id="28" name="Text 26"/>
          <p:cNvSpPr/>
          <p:nvPr/>
        </p:nvSpPr>
        <p:spPr>
          <a:xfrm>
            <a:off x="713232" y="2688336"/>
            <a:ext cx="274320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MỤC TIÊU</a:t>
            </a:r>
            <a:endParaRPr lang="en-US" sz="750" dirty="0"/>
          </a:p>
        </p:txBody>
      </p:sp>
      <p:sp>
        <p:nvSpPr>
          <p:cNvPr id="29" name="Text 27"/>
          <p:cNvSpPr/>
          <p:nvPr/>
        </p:nvSpPr>
        <p:spPr>
          <a:xfrm>
            <a:off x="713232" y="2834640"/>
            <a:ext cx="2743200" cy="182880"/>
          </a:xfrm>
          <a:prstGeom prst="rect">
            <a:avLst/>
          </a:prstGeom>
          <a:noFill/>
          <a:ln/>
        </p:spPr>
        <p:txBody>
          <a:bodyPr wrap="square" lIns="0" tIns="0" rIns="0" bIns="0" rtlCol="0" anchor="ctr"/>
          <a:lstStyle/>
          <a:p>
            <a:pPr indent="0" marL="0">
              <a:buNone/>
            </a:pPr>
            <a:r>
              <a:rPr lang="en-US" sz="1000" b="1" dirty="0">
                <a:solidFill>
                  <a:srgbClr val="1B8A5A"/>
                </a:solidFill>
                <a:latin typeface="Arial" pitchFamily="34" charset="0"/>
                <a:ea typeface="Arial" pitchFamily="34" charset="-122"/>
                <a:cs typeface="Arial" pitchFamily="34" charset="-120"/>
              </a:rPr>
              <a:t>Hoàn thành D2-D3 trong tháng 8</a:t>
            </a:r>
            <a:endParaRPr lang="en-US" sz="1000" dirty="0"/>
          </a:p>
        </p:txBody>
      </p:sp>
      <p:sp>
        <p:nvSpPr>
          <p:cNvPr id="30" name="Shape 28"/>
          <p:cNvSpPr/>
          <p:nvPr/>
        </p:nvSpPr>
        <p:spPr>
          <a:xfrm>
            <a:off x="548640" y="3337560"/>
            <a:ext cx="3017520" cy="54864"/>
          </a:xfrm>
          <a:prstGeom prst="rect">
            <a:avLst/>
          </a:prstGeom>
          <a:solidFill>
            <a:srgbClr val="FF7F32"/>
          </a:solidFill>
          <a:ln/>
        </p:spPr>
        <p:txBody>
          <a:bodyPr/>
          <a:p/>
        </p:txBody>
      </p:sp>
      <p:sp>
        <p:nvSpPr>
          <p:cNvPr id="31" name="Shape 29"/>
          <p:cNvSpPr/>
          <p:nvPr/>
        </p:nvSpPr>
        <p:spPr>
          <a:xfrm>
            <a:off x="548640" y="3392424"/>
            <a:ext cx="3017520" cy="2779776"/>
          </a:xfrm>
          <a:prstGeom prst="rect">
            <a:avLst/>
          </a:prstGeom>
          <a:solidFill>
            <a:srgbClr val="16213E"/>
          </a:solidFill>
          <a:ln w="12700">
            <a:solidFill>
              <a:srgbClr val="283C5F"/>
            </a:solidFill>
            <a:prstDash val="solid"/>
          </a:ln>
        </p:spPr>
        <p:txBody>
          <a:bodyPr/>
          <a:p/>
        </p:txBody>
      </p:sp>
      <p:sp>
        <p:nvSpPr>
          <p:cNvPr id="32" name="Text 30"/>
          <p:cNvSpPr/>
          <p:nvPr/>
        </p:nvSpPr>
        <p:spPr>
          <a:xfrm>
            <a:off x="731520" y="3474720"/>
            <a:ext cx="2651760" cy="228600"/>
          </a:xfrm>
          <a:prstGeom prst="rect">
            <a:avLst/>
          </a:prstGeom>
          <a:noFill/>
          <a:ln/>
        </p:spPr>
        <p:txBody>
          <a:bodyPr wrap="square" lIns="0" tIns="0" rIns="0" bIns="0" rtlCol="0" anchor="ctr"/>
          <a:lstStyle/>
          <a:p>
            <a:pPr indent="0" marL="0">
              <a:buNone/>
            </a:pPr>
            <a:r>
              <a:rPr lang="en-US" sz="950" b="1" dirty="0">
                <a:solidFill>
                  <a:srgbClr val="6B6B6B"/>
                </a:solidFill>
                <a:latin typeface="Arial" pitchFamily="34" charset="0"/>
                <a:ea typeface="Arial" pitchFamily="34" charset="-122"/>
                <a:cs typeface="Arial" pitchFamily="34" charset="-120"/>
              </a:rPr>
              <a:t>TRƯỚC</a:t>
            </a:r>
            <a:endParaRPr lang="en-US" sz="950" dirty="0"/>
          </a:p>
        </p:txBody>
      </p:sp>
      <p:sp>
        <p:nvSpPr>
          <p:cNvPr id="33" name="Text 31"/>
          <p:cNvSpPr/>
          <p:nvPr/>
        </p:nvSpPr>
        <p:spPr>
          <a:xfrm>
            <a:off x="731520" y="3721608"/>
            <a:ext cx="2651760" cy="914400"/>
          </a:xfrm>
          <a:prstGeom prst="rect">
            <a:avLst/>
          </a:prstGeom>
          <a:noFill/>
          <a:ln/>
        </p:spPr>
        <p:txBody>
          <a:bodyPr wrap="square" lIns="0" tIns="0" rIns="0" bIns="0" rtlCol="0" anchor="t"/>
          <a:lstStyle/>
          <a:p>
            <a:pPr indent="0" marL="0">
              <a:buNone/>
            </a:pPr>
            <a:r>
              <a:rPr lang="en-US" sz="950" dirty="0">
                <a:solidFill>
                  <a:srgbClr val="6B6B6B"/>
                </a:solidFill>
                <a:latin typeface="Arial" pitchFamily="34" charset="0"/>
                <a:ea typeface="Arial" pitchFamily="34" charset="-122"/>
                <a:cs typeface="Arial" pitchFamily="34" charset="-120"/>
              </a:rPr>
              <a:t>Tài xế mới nhận thông tin dồn 1 lần khi onboarding, không phân theo giai đoạn sử dụng thực tế → dễ bỏ sót, dễ phát sinh lỗi thao tác.</a:t>
            </a:r>
            <a:endParaRPr lang="en-US" sz="950" dirty="0"/>
          </a:p>
        </p:txBody>
      </p:sp>
      <p:sp>
        <p:nvSpPr>
          <p:cNvPr id="34" name="Text 32"/>
          <p:cNvSpPr/>
          <p:nvPr/>
        </p:nvSpPr>
        <p:spPr>
          <a:xfrm>
            <a:off x="731520" y="4617720"/>
            <a:ext cx="2651760" cy="228600"/>
          </a:xfrm>
          <a:prstGeom prst="rect">
            <a:avLst/>
          </a:prstGeom>
          <a:noFill/>
          <a:ln/>
        </p:spPr>
        <p:txBody>
          <a:bodyPr wrap="square" lIns="0" tIns="0" rIns="0" bIns="0" rtlCol="0" anchor="ctr"/>
          <a:lstStyle/>
          <a:p>
            <a:pPr algn="ctr" indent="0" marL="0">
              <a:buNone/>
            </a:pPr>
            <a:r>
              <a:rPr lang="en-US" sz="1400" b="1" dirty="0">
                <a:solidFill>
                  <a:srgbClr val="FF7F32"/>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731520" y="4873752"/>
            <a:ext cx="26517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SAU</a:t>
            </a:r>
            <a:endParaRPr lang="en-US" sz="950" dirty="0"/>
          </a:p>
        </p:txBody>
      </p:sp>
      <p:sp>
        <p:nvSpPr>
          <p:cNvPr id="36" name="Text 34"/>
          <p:cNvSpPr/>
          <p:nvPr/>
        </p:nvSpPr>
        <p:spPr>
          <a:xfrm>
            <a:off x="731520" y="5120640"/>
            <a:ext cx="2651760" cy="914400"/>
          </a:xfrm>
          <a:prstGeom prst="rect">
            <a:avLst/>
          </a:prstGeom>
          <a:noFill/>
          <a:ln/>
        </p:spPr>
        <p:txBody>
          <a:bodyPr wrap="square" lIns="0" tIns="0" rIns="0" bIns="0" rtlCol="0" anchor="t"/>
          <a:lstStyle/>
          <a:p>
            <a:pPr indent="0" marL="0">
              <a:buNone/>
            </a:pPr>
            <a:r>
              <a:rPr lang="en-US" sz="950" dirty="0">
                <a:solidFill>
                  <a:srgbClr val="E2E8F0"/>
                </a:solidFill>
                <a:latin typeface="Arial" pitchFamily="34" charset="0"/>
                <a:ea typeface="Arial" pitchFamily="34" charset="-122"/>
                <a:cs typeface="Arial" pitchFamily="34" charset="-120"/>
              </a:rPr>
              <a:t>Chia theo vòng đời D0-D8, mỗi giai đoạn 1 nội dung + push notification đúng lúc — D0, D1 đã hoàn thành, D2/D3 đang chuẩn bị.</a:t>
            </a:r>
            <a:endParaRPr lang="en-US" sz="950" dirty="0"/>
          </a:p>
        </p:txBody>
      </p:sp>
      <p:sp>
        <p:nvSpPr>
          <p:cNvPr id="37" name="Shape 35"/>
          <p:cNvSpPr/>
          <p:nvPr/>
        </p:nvSpPr>
        <p:spPr>
          <a:xfrm>
            <a:off x="3794760" y="1783080"/>
            <a:ext cx="3858768" cy="54864"/>
          </a:xfrm>
          <a:prstGeom prst="rect">
            <a:avLst/>
          </a:prstGeom>
          <a:solidFill>
            <a:srgbClr val="6B6B6B"/>
          </a:solidFill>
          <a:ln/>
        </p:spPr>
        <p:txBody>
          <a:bodyPr/>
          <a:p/>
        </p:txBody>
      </p:sp>
      <p:sp>
        <p:nvSpPr>
          <p:cNvPr id="38" name="Shape 36"/>
          <p:cNvSpPr/>
          <p:nvPr/>
        </p:nvSpPr>
        <p:spPr>
          <a:xfrm>
            <a:off x="3794760" y="1837944"/>
            <a:ext cx="3858768" cy="2093976"/>
          </a:xfrm>
          <a:prstGeom prst="rect">
            <a:avLst/>
          </a:prstGeom>
          <a:solidFill>
            <a:srgbClr val="16213E"/>
          </a:solidFill>
          <a:ln w="12700">
            <a:solidFill>
              <a:srgbClr val="283C5F"/>
            </a:solidFill>
            <a:prstDash val="solid"/>
          </a:ln>
        </p:spPr>
        <p:txBody>
          <a:bodyPr/>
          <a:p/>
        </p:txBody>
      </p:sp>
      <p:sp>
        <p:nvSpPr>
          <p:cNvPr id="39" name="Shape 37"/>
          <p:cNvSpPr/>
          <p:nvPr/>
        </p:nvSpPr>
        <p:spPr>
          <a:xfrm>
            <a:off x="3959352" y="1984248"/>
            <a:ext cx="310896" cy="310896"/>
          </a:xfrm>
          <a:prstGeom prst="rect">
            <a:avLst/>
          </a:prstGeom>
          <a:solidFill>
            <a:srgbClr val="6B6B6B"/>
          </a:solidFill>
          <a:ln/>
        </p:spPr>
        <p:txBody>
          <a:bodyPr/>
          <a:p/>
        </p:txBody>
      </p:sp>
      <p:sp>
        <p:nvSpPr>
          <p:cNvPr id="40" name="Text 38"/>
          <p:cNvSpPr/>
          <p:nvPr/>
        </p:nvSpPr>
        <p:spPr>
          <a:xfrm>
            <a:off x="3959352"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1" name="Text 39"/>
          <p:cNvSpPr/>
          <p:nvPr/>
        </p:nvSpPr>
        <p:spPr>
          <a:xfrm>
            <a:off x="4361688"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ĐÃ LÀM GÌ (T7)</a:t>
            </a:r>
            <a:endParaRPr lang="en-US" sz="1100" dirty="0"/>
          </a:p>
        </p:txBody>
      </p:sp>
      <p:sp>
        <p:nvSpPr>
          <p:cNvPr id="42" name="Text 40"/>
          <p:cNvSpPr/>
          <p:nvPr/>
        </p:nvSpPr>
        <p:spPr>
          <a:xfrm>
            <a:off x="3995928"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Hoàn thành </a:t>
            </a:r>
            <a:pPr indent="0" marL="0">
              <a:buNone/>
            </a:pPr>
            <a:r>
              <a:rPr lang="en-US" sz="1050" b="1" dirty="0">
                <a:solidFill>
                  <a:srgbClr val="E2E8F0"/>
                </a:solidFill>
                <a:latin typeface="Arial" pitchFamily="34" charset="0"/>
                <a:ea typeface="Arial" pitchFamily="34" charset="-122"/>
                <a:cs typeface="Arial" pitchFamily="34" charset="-120"/>
              </a:rPr>
              <a:t>D0</a:t>
            </a:r>
            <a:pPr indent="0" marL="0">
              <a:buNone/>
            </a:pPr>
            <a:r>
              <a:rPr lang="en-US" sz="1050" dirty="0">
                <a:solidFill>
                  <a:srgbClr val="6B6B6B"/>
                </a:solidFill>
                <a:latin typeface="Arial" pitchFamily="34" charset="0"/>
                <a:ea typeface="Arial" pitchFamily="34" charset="-122"/>
                <a:cs typeface="Arial" pitchFamily="34" charset="-120"/>
              </a:rPr>
              <a:t> (số tiền cần thu ứng), </a:t>
            </a:r>
            <a:pPr indent="0" marL="0">
              <a:buNone/>
            </a:pPr>
            <a:r>
              <a:rPr lang="en-US" sz="1050" b="1" dirty="0">
                <a:solidFill>
                  <a:srgbClr val="E2E8F0"/>
                </a:solidFill>
                <a:latin typeface="Arial" pitchFamily="34" charset="0"/>
                <a:ea typeface="Arial" pitchFamily="34" charset="-122"/>
                <a:cs typeface="Arial" pitchFamily="34" charset="-120"/>
              </a:rPr>
              <a:t>D1</a:t>
            </a:r>
            <a:pPr indent="0" marL="0">
              <a:buNone/>
            </a:pPr>
            <a:r>
              <a:rPr lang="en-US" sz="1050" dirty="0">
                <a:solidFill>
                  <a:srgbClr val="6B6B6B"/>
                </a:solidFill>
                <a:latin typeface="Arial" pitchFamily="34" charset="0"/>
                <a:ea typeface="Arial" pitchFamily="34" charset="-122"/>
                <a:cs typeface="Arial" pitchFamily="34" charset="-120"/>
              </a:rPr>
              <a:t> (xử lý huỷ đơn); pilot push notification training D0; hoàn thành video D2, confirm nội dung D3.</a:t>
            </a:r>
            <a:endParaRPr lang="en-US" sz="1050" dirty="0"/>
          </a:p>
        </p:txBody>
      </p:sp>
      <p:sp>
        <p:nvSpPr>
          <p:cNvPr id="43" name="Shape 41"/>
          <p:cNvSpPr/>
          <p:nvPr/>
        </p:nvSpPr>
        <p:spPr>
          <a:xfrm>
            <a:off x="7799832" y="1783080"/>
            <a:ext cx="3858768" cy="54864"/>
          </a:xfrm>
          <a:prstGeom prst="rect">
            <a:avLst/>
          </a:prstGeom>
          <a:solidFill>
            <a:srgbClr val="1B8A5A"/>
          </a:solidFill>
          <a:ln/>
        </p:spPr>
        <p:txBody>
          <a:bodyPr/>
          <a:p/>
        </p:txBody>
      </p:sp>
      <p:sp>
        <p:nvSpPr>
          <p:cNvPr id="44" name="Shape 42"/>
          <p:cNvSpPr/>
          <p:nvPr/>
        </p:nvSpPr>
        <p:spPr>
          <a:xfrm>
            <a:off x="7799832" y="1837944"/>
            <a:ext cx="3858768" cy="2093976"/>
          </a:xfrm>
          <a:prstGeom prst="rect">
            <a:avLst/>
          </a:prstGeom>
          <a:solidFill>
            <a:srgbClr val="16213E"/>
          </a:solidFill>
          <a:ln w="12700">
            <a:solidFill>
              <a:srgbClr val="283C5F"/>
            </a:solidFill>
            <a:prstDash val="solid"/>
          </a:ln>
        </p:spPr>
        <p:txBody>
          <a:bodyPr/>
          <a:p/>
        </p:txBody>
      </p:sp>
      <p:sp>
        <p:nvSpPr>
          <p:cNvPr id="45" name="Shape 43"/>
          <p:cNvSpPr/>
          <p:nvPr/>
        </p:nvSpPr>
        <p:spPr>
          <a:xfrm>
            <a:off x="7964424" y="1984248"/>
            <a:ext cx="310896" cy="310896"/>
          </a:xfrm>
          <a:prstGeom prst="rect">
            <a:avLst/>
          </a:prstGeom>
          <a:solidFill>
            <a:srgbClr val="1B8A5A"/>
          </a:solidFill>
          <a:ln/>
        </p:spPr>
        <p:txBody>
          <a:bodyPr/>
          <a:p/>
        </p:txBody>
      </p:sp>
      <p:sp>
        <p:nvSpPr>
          <p:cNvPr id="46" name="Text 44"/>
          <p:cNvSpPr/>
          <p:nvPr/>
        </p:nvSpPr>
        <p:spPr>
          <a:xfrm>
            <a:off x="7964424" y="1984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7" name="Text 45"/>
          <p:cNvSpPr/>
          <p:nvPr/>
        </p:nvSpPr>
        <p:spPr>
          <a:xfrm>
            <a:off x="8366760" y="2002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TÁC ĐỘNG</a:t>
            </a:r>
            <a:endParaRPr lang="en-US" sz="1100" dirty="0"/>
          </a:p>
        </p:txBody>
      </p:sp>
      <p:sp>
        <p:nvSpPr>
          <p:cNvPr id="48" name="Text 46"/>
          <p:cNvSpPr/>
          <p:nvPr/>
        </p:nvSpPr>
        <p:spPr>
          <a:xfrm>
            <a:off x="8001000" y="2441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Đây là dự án </a:t>
            </a:r>
            <a:pPr indent="0" marL="0">
              <a:buNone/>
            </a:pPr>
            <a:r>
              <a:rPr lang="en-US" sz="1050" b="1" dirty="0">
                <a:solidFill>
                  <a:srgbClr val="E2E8F0"/>
                </a:solidFill>
                <a:latin typeface="Arial" pitchFamily="34" charset="0"/>
                <a:ea typeface="Arial" pitchFamily="34" charset="-122"/>
                <a:cs typeface="Arial" pitchFamily="34" charset="-120"/>
              </a:rPr>
              <a:t>duy nhất đạt RAG Xanh</a:t>
            </a:r>
            <a:pPr indent="0" marL="0">
              <a:buNone/>
            </a:pPr>
            <a:r>
              <a:rPr lang="en-US" sz="1050" dirty="0">
                <a:solidFill>
                  <a:srgbClr val="6B6B6B"/>
                </a:solidFill>
                <a:latin typeface="Arial" pitchFamily="34" charset="0"/>
                <a:ea typeface="Arial" pitchFamily="34" charset="-122"/>
                <a:cs typeface="Arial" pitchFamily="34" charset="-120"/>
              </a:rPr>
              <a:t> trong 4 trọng điểm. </a:t>
            </a:r>
            <a:pPr indent="0" marL="0">
              <a:buNone/>
            </a:pPr>
            <a:r>
              <a:rPr lang="en-US" sz="1050" b="1" dirty="0">
                <a:solidFill>
                  <a:srgbClr val="E2E8F0"/>
                </a:solidFill>
                <a:latin typeface="Arial" pitchFamily="34" charset="0"/>
                <a:ea typeface="Arial" pitchFamily="34" charset="-122"/>
                <a:cs typeface="Arial" pitchFamily="34" charset="-120"/>
              </a:rPr>
              <a:t>Cơ chế:</a:t>
            </a:r>
            <a:pPr indent="0" marL="0">
              <a:buNone/>
            </a:pPr>
            <a:r>
              <a:rPr lang="en-US" sz="1050" dirty="0">
                <a:solidFill>
                  <a:srgbClr val="6B6B6B"/>
                </a:solidFill>
                <a:latin typeface="Arial" pitchFamily="34" charset="0"/>
                <a:ea typeface="Arial" pitchFamily="34" charset="-122"/>
                <a:cs typeface="Arial" pitchFamily="34" charset="-120"/>
              </a:rPr>
              <a:t> chia nội dung theo đúng giai đoạn sử dụng giảm tải nhận thức cho tài xế mới, thay vì dồn thông tin 1 lần lúc onboarding — có thể nhân rộng sang Baga Bulky, EV đang ở giai đoạn thiết kế truyền thông.</a:t>
            </a:r>
            <a:endParaRPr lang="en-US" sz="1050" dirty="0"/>
          </a:p>
        </p:txBody>
      </p:sp>
      <p:sp>
        <p:nvSpPr>
          <p:cNvPr id="49" name="Shape 47"/>
          <p:cNvSpPr/>
          <p:nvPr/>
        </p:nvSpPr>
        <p:spPr>
          <a:xfrm>
            <a:off x="3794760" y="4069080"/>
            <a:ext cx="3858768" cy="54864"/>
          </a:xfrm>
          <a:prstGeom prst="rect">
            <a:avLst/>
          </a:prstGeom>
          <a:solidFill>
            <a:srgbClr val="FF7F32"/>
          </a:solidFill>
          <a:ln/>
        </p:spPr>
        <p:txBody>
          <a:bodyPr/>
          <a:p/>
        </p:txBody>
      </p:sp>
      <p:sp>
        <p:nvSpPr>
          <p:cNvPr id="50" name="Shape 48"/>
          <p:cNvSpPr/>
          <p:nvPr/>
        </p:nvSpPr>
        <p:spPr>
          <a:xfrm>
            <a:off x="3794760" y="4123944"/>
            <a:ext cx="3858768" cy="2093976"/>
          </a:xfrm>
          <a:prstGeom prst="rect">
            <a:avLst/>
          </a:prstGeom>
          <a:solidFill>
            <a:srgbClr val="16213E"/>
          </a:solidFill>
          <a:ln w="12700">
            <a:solidFill>
              <a:srgbClr val="283C5F"/>
            </a:solidFill>
            <a:prstDash val="solid"/>
          </a:ln>
        </p:spPr>
        <p:txBody>
          <a:bodyPr/>
          <a:p/>
        </p:txBody>
      </p:sp>
      <p:sp>
        <p:nvSpPr>
          <p:cNvPr id="51" name="Shape 49"/>
          <p:cNvSpPr/>
          <p:nvPr/>
        </p:nvSpPr>
        <p:spPr>
          <a:xfrm>
            <a:off x="3959352" y="4270248"/>
            <a:ext cx="310896" cy="310896"/>
          </a:xfrm>
          <a:prstGeom prst="rect">
            <a:avLst/>
          </a:prstGeom>
          <a:solidFill>
            <a:srgbClr val="FF7F32"/>
          </a:solidFill>
          <a:ln/>
        </p:spPr>
        <p:txBody>
          <a:bodyPr/>
          <a:p/>
        </p:txBody>
      </p:sp>
      <p:sp>
        <p:nvSpPr>
          <p:cNvPr id="52" name="Text 50"/>
          <p:cNvSpPr/>
          <p:nvPr/>
        </p:nvSpPr>
        <p:spPr>
          <a:xfrm>
            <a:off x="3959352"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3" name="Text 51"/>
          <p:cNvSpPr/>
          <p:nvPr/>
        </p:nvSpPr>
        <p:spPr>
          <a:xfrm>
            <a:off x="4361688"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BƯỚC TIẾP THEO</a:t>
            </a:r>
            <a:endParaRPr lang="en-US" sz="1100" dirty="0"/>
          </a:p>
        </p:txBody>
      </p:sp>
      <p:sp>
        <p:nvSpPr>
          <p:cNvPr id="54" name="Text 52"/>
          <p:cNvSpPr/>
          <p:nvPr/>
        </p:nvSpPr>
        <p:spPr>
          <a:xfrm>
            <a:off x="3995928"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D2 (khiếu nại) đang thu thập thông tin cho nội dung tuần tới; D3 chuẩn bị sản xuất video; cần SP hỗ trợ viết card xác định danh sách tài xế theo từng giai đoạn D0-D2.</a:t>
            </a:r>
            <a:endParaRPr lang="en-US" sz="1050" dirty="0"/>
          </a:p>
        </p:txBody>
      </p:sp>
      <p:sp>
        <p:nvSpPr>
          <p:cNvPr id="55" name="Shape 53"/>
          <p:cNvSpPr/>
          <p:nvPr/>
        </p:nvSpPr>
        <p:spPr>
          <a:xfrm>
            <a:off x="7799832" y="4069080"/>
            <a:ext cx="3858768" cy="54864"/>
          </a:xfrm>
          <a:prstGeom prst="rect">
            <a:avLst/>
          </a:prstGeom>
          <a:solidFill>
            <a:srgbClr val="1E3A8A"/>
          </a:solidFill>
          <a:ln w="12700">
            <a:solidFill>
              <a:srgbClr val="FF7300"/>
            </a:solidFill>
          </a:ln>
        </p:spPr>
        <p:txBody>
          <a:bodyPr/>
          <a:p/>
        </p:txBody>
      </p:sp>
      <p:sp>
        <p:nvSpPr>
          <p:cNvPr id="56" name="Shape 54"/>
          <p:cNvSpPr/>
          <p:nvPr/>
        </p:nvSpPr>
        <p:spPr>
          <a:xfrm>
            <a:off x="7799832" y="4123944"/>
            <a:ext cx="3858768" cy="2093976"/>
          </a:xfrm>
          <a:prstGeom prst="rect">
            <a:avLst/>
          </a:prstGeom>
          <a:solidFill>
            <a:srgbClr val="16213E"/>
          </a:solidFill>
          <a:ln w="12700">
            <a:solidFill>
              <a:srgbClr val="283C5F"/>
            </a:solidFill>
            <a:prstDash val="solid"/>
          </a:ln>
        </p:spPr>
        <p:txBody>
          <a:bodyPr/>
          <a:p/>
        </p:txBody>
      </p:sp>
      <p:sp>
        <p:nvSpPr>
          <p:cNvPr id="57" name="Shape 55"/>
          <p:cNvSpPr/>
          <p:nvPr/>
        </p:nvSpPr>
        <p:spPr>
          <a:xfrm>
            <a:off x="7964424" y="4270248"/>
            <a:ext cx="310896" cy="310896"/>
          </a:xfrm>
          <a:prstGeom prst="rect">
            <a:avLst/>
          </a:prstGeom>
          <a:solidFill>
            <a:srgbClr val="1E3A8A"/>
          </a:solidFill>
          <a:ln w="12700">
            <a:solidFill>
              <a:srgbClr val="FF7300"/>
            </a:solidFill>
          </a:ln>
        </p:spPr>
        <p:txBody>
          <a:bodyPr/>
          <a:p/>
        </p:txBody>
      </p:sp>
      <p:sp>
        <p:nvSpPr>
          <p:cNvPr id="58" name="Text 56"/>
          <p:cNvSpPr/>
          <p:nvPr/>
        </p:nvSpPr>
        <p:spPr>
          <a:xfrm>
            <a:off x="7964424" y="42702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59" name="Text 57"/>
          <p:cNvSpPr/>
          <p:nvPr/>
        </p:nvSpPr>
        <p:spPr>
          <a:xfrm>
            <a:off x="8366760" y="4288536"/>
            <a:ext cx="3127248" cy="292608"/>
          </a:xfrm>
          <a:prstGeom prst="rect">
            <a:avLst/>
          </a:prstGeom>
          <a:noFill/>
          <a:ln/>
        </p:spPr>
        <p:txBody>
          <a:bodyPr wrap="square" lIns="0" tIns="0" rIns="0" bIns="0" rtlCol="0" anchor="ctr"/>
          <a:lstStyle/>
          <a:p>
            <a:pPr indent="0" marL="0">
              <a:buNone/>
            </a:pPr>
            <a:r>
              <a:rPr lang="en-US" sz="1100" b="1" dirty="0">
                <a:solidFill>
                  <a:srgbClr val="E2E8F0"/>
                </a:solidFill>
                <a:latin typeface="Arial" pitchFamily="34" charset="0"/>
                <a:ea typeface="Arial" pitchFamily="34" charset="-122"/>
                <a:cs typeface="Arial" pitchFamily="34" charset="-120"/>
              </a:rPr>
              <a:t>CẦN SUPPORT TỪ</a:t>
            </a:r>
            <a:endParaRPr lang="en-US" sz="1100" dirty="0"/>
          </a:p>
        </p:txBody>
      </p:sp>
      <p:sp>
        <p:nvSpPr>
          <p:cNvPr id="60" name="Text 58"/>
          <p:cNvSpPr/>
          <p:nvPr/>
        </p:nvSpPr>
        <p:spPr>
          <a:xfrm>
            <a:off x="8001000" y="4727448"/>
            <a:ext cx="3456432" cy="132588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SP (card xác định danh sách tài xế theo giai đoạn)</a:t>
            </a:r>
            <a:endParaRPr lang="en-US" sz="1050" dirty="0"/>
          </a:p>
        </p:txBody>
      </p:sp>
      <p:sp>
        <p:nvSpPr>
          <p:cNvPr id="61" name="Shape 59"/>
          <p:cNvSpPr/>
          <p:nvPr/>
        </p:nvSpPr>
        <p:spPr>
          <a:xfrm>
            <a:off x="548640" y="6510528"/>
            <a:ext cx="11091672" cy="0"/>
          </a:xfrm>
          <a:prstGeom prst="line">
            <a:avLst/>
          </a:prstGeom>
          <a:noFill/>
          <a:ln w="15875">
            <a:solidFill>
              <a:srgbClr val="FF7F32"/>
            </a:solidFill>
            <a:prstDash val="solid"/>
          </a:ln>
        </p:spPr>
        <p:txBody>
          <a:bodyPr/>
          <a:p/>
        </p:txBody>
      </p:sp>
      <p:sp>
        <p:nvSpPr>
          <p:cNvPr id="62" name="Text 60"/>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3" name="Text 61"/>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SO SÁNH CHẾ ĐỘ · 2 DỰ ÁN</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MiniHub cần dừng lại đánh giá, Driver Journey đã sẵn sàng nhân rộng</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133856"/>
            <a:ext cx="45720" cy="512064"/>
          </a:xfrm>
          <a:prstGeom prst="rect">
            <a:avLst/>
          </a:prstGeom>
          <a:solidFill>
            <a:srgbClr val="FF7F32"/>
          </a:solidFill>
          <a:ln/>
        </p:spPr>
        <p:txBody>
          <a:body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pPr>
            <a:r>
              <a:rPr lang="en-US" sz="1100" b="1" dirty="0">
                <a:solidFill>
                  <a:srgbClr val="D9631A"/>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Cùng là dự án vận hành nhưng đang ở 2 giai đoạn vòng đời khác nhau — MiniHub cần chứng minh ROI trước khi mở rộng, Driver Journey đã có bằng chứng để chuyển giao cách làm sang dự án khác.</a:t>
            </a:r>
            <a:endParaRPr lang="en-US" sz="1100" dirty="0"/>
          </a:p>
        </p:txBody>
      </p:sp>
      <p:sp>
        <p:nvSpPr>
          <p:cNvPr id="9" name="Shape 7"/>
          <p:cNvSpPr/>
          <p:nvPr/>
        </p:nvSpPr>
        <p:spPr>
          <a:xfrm>
            <a:off x="548640" y="1874520"/>
            <a:ext cx="54864" cy="3566160"/>
          </a:xfrm>
          <a:prstGeom prst="rect">
            <a:avLst/>
          </a:prstGeom>
          <a:solidFill>
            <a:srgbClr val="E5342E"/>
          </a:solidFill>
          <a:ln/>
        </p:spPr>
        <p:txBody>
          <a:bodyPr/>
          <a:p/>
        </p:txBody>
      </p:sp>
      <p:sp>
        <p:nvSpPr>
          <p:cNvPr id="10" name="Shape 8"/>
          <p:cNvSpPr/>
          <p:nvPr/>
        </p:nvSpPr>
        <p:spPr>
          <a:xfrm>
            <a:off x="603504" y="1874520"/>
            <a:ext cx="5294376" cy="3566160"/>
          </a:xfrm>
          <a:prstGeom prst="rect">
            <a:avLst/>
          </a:prstGeom>
          <a:solidFill>
            <a:srgbClr val="16213E"/>
          </a:solidFill>
          <a:ln w="12700">
            <a:solidFill>
              <a:srgbClr val="283C5F"/>
            </a:solidFill>
            <a:prstDash val="solid"/>
          </a:ln>
        </p:spPr>
        <p:txBody>
          <a:bodyPr/>
          <a:p/>
        </p:txBody>
      </p:sp>
      <p:sp>
        <p:nvSpPr>
          <p:cNvPr id="11" name="Text 9"/>
          <p:cNvSpPr/>
          <p:nvPr/>
        </p:nvSpPr>
        <p:spPr>
          <a:xfrm>
            <a:off x="822960" y="2057400"/>
            <a:ext cx="4800600" cy="365760"/>
          </a:xfrm>
          <a:prstGeom prst="rect">
            <a:avLst/>
          </a:prstGeom>
          <a:noFill/>
          <a:ln/>
        </p:spPr>
        <p:txBody>
          <a:bodyPr wrap="square" lIns="0" tIns="0" rIns="0" bIns="0" rtlCol="0" anchor="ctr"/>
          <a:lstStyle/>
          <a:p>
            <a:pPr indent="0" marL="0">
              <a:buNone/>
            </a:pPr>
            <a:r>
              <a:rPr lang="en-US" sz="1800" b="1" dirty="0">
                <a:solidFill>
                  <a:srgbClr val="E5342E"/>
                </a:solidFill>
                <a:latin typeface="Arial" pitchFamily="34" charset="0"/>
                <a:ea typeface="Arial" pitchFamily="34" charset="-122"/>
                <a:cs typeface="Arial" pitchFamily="34" charset="-120"/>
              </a:rPr>
              <a:t>MiniHub</a:t>
            </a:r>
            <a:endParaRPr lang="en-US" sz="1800" dirty="0"/>
          </a:p>
        </p:txBody>
      </p:sp>
      <p:sp>
        <p:nvSpPr>
          <p:cNvPr id="12" name="Text 10"/>
          <p:cNvSpPr/>
          <p:nvPr/>
        </p:nvSpPr>
        <p:spPr>
          <a:xfrm>
            <a:off x="822960" y="2441448"/>
            <a:ext cx="4800600" cy="320040"/>
          </a:xfrm>
          <a:prstGeom prst="rect">
            <a:avLst/>
          </a:prstGeom>
          <a:noFill/>
          <a:ln/>
        </p:spPr>
        <p:txBody>
          <a:bodyPr wrap="square" lIns="0" tIns="0" rIns="0" bIns="0" rtlCol="0" anchor="ctr"/>
          <a:lstStyle/>
          <a:p>
            <a:pPr indent="0" marL="0">
              <a:buNone/>
            </a:pPr>
            <a:r>
              <a:rPr lang="en-US" sz="1100" i="1" dirty="0">
                <a:solidFill>
                  <a:srgbClr val="6B6B6B"/>
                </a:solidFill>
                <a:latin typeface="Arial" pitchFamily="34" charset="0"/>
                <a:ea typeface="Arial" pitchFamily="34" charset="-122"/>
                <a:cs typeface="Arial" pitchFamily="34" charset="-120"/>
              </a:rPr>
              <a:t>Chất lượng vận hành tốt, quy mô chưa rõ ROI</a:t>
            </a:r>
            <a:endParaRPr lang="en-US" sz="1100" dirty="0"/>
          </a:p>
        </p:txBody>
      </p:sp>
      <p:sp>
        <p:nvSpPr>
          <p:cNvPr id="13" name="Shape 11"/>
          <p:cNvSpPr/>
          <p:nvPr/>
        </p:nvSpPr>
        <p:spPr>
          <a:xfrm>
            <a:off x="822960" y="2834640"/>
            <a:ext cx="4526280" cy="0"/>
          </a:xfrm>
          <a:prstGeom prst="line">
            <a:avLst/>
          </a:prstGeom>
          <a:noFill/>
          <a:ln w="12700">
            <a:solidFill>
              <a:srgbClr val="E2E2E2"/>
            </a:solidFill>
            <a:prstDash val="solid"/>
          </a:ln>
        </p:spPr>
        <p:txBody>
          <a:bodyPr/>
          <a:p/>
        </p:txBody>
      </p:sp>
      <p:sp>
        <p:nvSpPr>
          <p:cNvPr id="14" name="Shape 12"/>
          <p:cNvSpPr/>
          <p:nvPr/>
        </p:nvSpPr>
        <p:spPr>
          <a:xfrm>
            <a:off x="822960" y="3081528"/>
            <a:ext cx="64008" cy="64008"/>
          </a:xfrm>
          <a:prstGeom prst="ellipse">
            <a:avLst/>
          </a:prstGeom>
          <a:solidFill>
            <a:srgbClr val="E5342E"/>
          </a:solidFill>
          <a:ln/>
        </p:spPr>
        <p:txBody>
          <a:bodyPr/>
          <a:p/>
        </p:txBody>
      </p:sp>
      <p:sp>
        <p:nvSpPr>
          <p:cNvPr id="15" name="Text 13"/>
          <p:cNvSpPr/>
          <p:nvPr/>
        </p:nvSpPr>
        <p:spPr>
          <a:xfrm>
            <a:off x="987552" y="3017520"/>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Volume mới đạt 36% KR Q3, cần đánh giá PnL trước khi quyết định scale thêm</a:t>
            </a:r>
            <a:endParaRPr lang="en-US" sz="1100" dirty="0"/>
          </a:p>
        </p:txBody>
      </p:sp>
      <p:sp>
        <p:nvSpPr>
          <p:cNvPr id="16" name="Shape 14"/>
          <p:cNvSpPr/>
          <p:nvPr/>
        </p:nvSpPr>
        <p:spPr>
          <a:xfrm>
            <a:off x="822960" y="3703320"/>
            <a:ext cx="64008" cy="64008"/>
          </a:xfrm>
          <a:prstGeom prst="ellipse">
            <a:avLst/>
          </a:prstGeom>
          <a:solidFill>
            <a:srgbClr val="E5342E"/>
          </a:solidFill>
          <a:ln/>
        </p:spPr>
        <p:txBody>
          <a:bodyPr/>
          <a:p/>
        </p:txBody>
      </p:sp>
      <p:sp>
        <p:nvSpPr>
          <p:cNvPr id="17" name="Text 15"/>
          <p:cNvSpPr/>
          <p:nvPr/>
        </p:nvSpPr>
        <p:spPr>
          <a:xfrm>
            <a:off x="987552" y="3639312"/>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Retention giảm ở đúng những zone mới mở (Z24, Thanh Xuân)</a:t>
            </a:r>
            <a:endParaRPr lang="en-US" sz="1100" dirty="0"/>
          </a:p>
        </p:txBody>
      </p:sp>
      <p:sp>
        <p:nvSpPr>
          <p:cNvPr id="18" name="Shape 16"/>
          <p:cNvSpPr/>
          <p:nvPr/>
        </p:nvSpPr>
        <p:spPr>
          <a:xfrm>
            <a:off x="822960" y="4325112"/>
            <a:ext cx="64008" cy="64008"/>
          </a:xfrm>
          <a:prstGeom prst="ellipse">
            <a:avLst/>
          </a:prstGeom>
          <a:solidFill>
            <a:srgbClr val="E5342E"/>
          </a:solidFill>
          <a:ln/>
        </p:spPr>
        <p:txBody>
          <a:bodyPr/>
          <a:p/>
        </p:txBody>
      </p:sp>
      <p:sp>
        <p:nvSpPr>
          <p:cNvPr id="19" name="Text 17"/>
          <p:cNvSpPr/>
          <p:nvPr/>
        </p:nvSpPr>
        <p:spPr>
          <a:xfrm>
            <a:off x="987552" y="4261104"/>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Rủi ro: tiếp tục scale khi chưa rõ hiệu quả tài chính</a:t>
            </a:r>
            <a:endParaRPr lang="en-US" sz="1100" dirty="0"/>
          </a:p>
        </p:txBody>
      </p:sp>
      <p:sp>
        <p:nvSpPr>
          <p:cNvPr id="20" name="Shape 18"/>
          <p:cNvSpPr/>
          <p:nvPr/>
        </p:nvSpPr>
        <p:spPr>
          <a:xfrm>
            <a:off x="822960" y="4937760"/>
            <a:ext cx="4800600" cy="347472"/>
          </a:xfrm>
          <a:prstGeom prst="rect">
            <a:avLst/>
          </a:prstGeom>
          <a:solidFill>
            <a:srgbClr val="16213E"/>
          </a:solidFill>
          <a:ln w="12700">
            <a:solidFill>
              <a:srgbClr val="283C5F"/>
            </a:solidFill>
          </a:ln>
        </p:spPr>
        <p:txBody>
          <a:bodyPr/>
          <a:p/>
        </p:txBody>
      </p:sp>
      <p:sp>
        <p:nvSpPr>
          <p:cNvPr id="21" name="Shape 19"/>
          <p:cNvSpPr/>
          <p:nvPr/>
        </p:nvSpPr>
        <p:spPr>
          <a:xfrm>
            <a:off x="822960" y="4937760"/>
            <a:ext cx="45720" cy="347472"/>
          </a:xfrm>
          <a:prstGeom prst="rect">
            <a:avLst/>
          </a:prstGeom>
          <a:solidFill>
            <a:srgbClr val="E5342E"/>
          </a:solidFill>
          <a:ln/>
        </p:spPr>
        <p:txBody>
          <a:bodyPr/>
          <a:p/>
        </p:txBody>
      </p:sp>
      <p:sp>
        <p:nvSpPr>
          <p:cNvPr id="22" name="Text 20"/>
          <p:cNvSpPr/>
          <p:nvPr/>
        </p:nvSpPr>
        <p:spPr>
          <a:xfrm>
            <a:off x="987552" y="4956048"/>
            <a:ext cx="452628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CHẾ ĐỘ</a:t>
            </a:r>
            <a:endParaRPr lang="en-US" sz="750" dirty="0"/>
          </a:p>
        </p:txBody>
      </p:sp>
      <p:sp>
        <p:nvSpPr>
          <p:cNvPr id="23" name="Text 21"/>
          <p:cNvSpPr/>
          <p:nvPr/>
        </p:nvSpPr>
        <p:spPr>
          <a:xfrm>
            <a:off x="987552" y="5102352"/>
            <a:ext cx="4526280" cy="182880"/>
          </a:xfrm>
          <a:prstGeom prst="rect">
            <a:avLst/>
          </a:prstGeom>
          <a:noFill/>
          <a:ln/>
        </p:spPr>
        <p:txBody>
          <a:bodyPr wrap="square" lIns="0" tIns="0" rIns="0" bIns="0" rtlCol="0" anchor="ctr"/>
          <a:lstStyle/>
          <a:p>
            <a:pPr indent="0" marL="0">
              <a:buNone/>
            </a:pPr>
            <a:r>
              <a:rPr lang="en-US" sz="1000" b="1" dirty="0">
                <a:solidFill>
                  <a:srgbClr val="E5342E"/>
                </a:solidFill>
                <a:latin typeface="Arial" pitchFamily="34" charset="0"/>
                <a:ea typeface="Arial" pitchFamily="34" charset="-122"/>
                <a:cs typeface="Arial" pitchFamily="34" charset="-120"/>
              </a:rPr>
              <a:t>REVIEW — tạm dừng đánh giá trước khi mở rộng</a:t>
            </a:r>
            <a:endParaRPr lang="en-US" sz="1000" dirty="0"/>
          </a:p>
        </p:txBody>
      </p:sp>
      <p:sp>
        <p:nvSpPr>
          <p:cNvPr id="24" name="Shape 22"/>
          <p:cNvSpPr/>
          <p:nvPr/>
        </p:nvSpPr>
        <p:spPr>
          <a:xfrm>
            <a:off x="6263640" y="1874520"/>
            <a:ext cx="54864" cy="3566160"/>
          </a:xfrm>
          <a:prstGeom prst="rect">
            <a:avLst/>
          </a:prstGeom>
          <a:solidFill>
            <a:srgbClr val="1B8A5A"/>
          </a:solidFill>
          <a:ln/>
        </p:spPr>
        <p:txBody>
          <a:bodyPr/>
          <a:p/>
        </p:txBody>
      </p:sp>
      <p:sp>
        <p:nvSpPr>
          <p:cNvPr id="25" name="Shape 23"/>
          <p:cNvSpPr/>
          <p:nvPr/>
        </p:nvSpPr>
        <p:spPr>
          <a:xfrm>
            <a:off x="6318504" y="1874520"/>
            <a:ext cx="5294376" cy="3566160"/>
          </a:xfrm>
          <a:prstGeom prst="rect">
            <a:avLst/>
          </a:prstGeom>
          <a:solidFill>
            <a:srgbClr val="16213E"/>
          </a:solidFill>
          <a:ln w="12700">
            <a:solidFill>
              <a:srgbClr val="283C5F"/>
            </a:solidFill>
            <a:prstDash val="solid"/>
          </a:ln>
        </p:spPr>
        <p:txBody>
          <a:bodyPr/>
          <a:p/>
        </p:txBody>
      </p:sp>
      <p:sp>
        <p:nvSpPr>
          <p:cNvPr id="26" name="Text 24"/>
          <p:cNvSpPr/>
          <p:nvPr/>
        </p:nvSpPr>
        <p:spPr>
          <a:xfrm>
            <a:off x="6537960" y="2057400"/>
            <a:ext cx="4800600" cy="365760"/>
          </a:xfrm>
          <a:prstGeom prst="rect">
            <a:avLst/>
          </a:prstGeom>
          <a:noFill/>
          <a:ln/>
        </p:spPr>
        <p:txBody>
          <a:bodyPr wrap="square" lIns="0" tIns="0" rIns="0" bIns="0" rtlCol="0" anchor="ctr"/>
          <a:lstStyle/>
          <a:p>
            <a:pPr indent="0" marL="0">
              <a:buNone/>
            </a:pPr>
            <a:r>
              <a:rPr lang="en-US" sz="1800" b="1" dirty="0">
                <a:solidFill>
                  <a:srgbClr val="1B8A5A"/>
                </a:solidFill>
                <a:latin typeface="Arial" pitchFamily="34" charset="0"/>
                <a:ea typeface="Arial" pitchFamily="34" charset="-122"/>
                <a:cs typeface="Arial" pitchFamily="34" charset="-120"/>
              </a:rPr>
              <a:t>Driver Journey</a:t>
            </a:r>
            <a:endParaRPr lang="en-US" sz="1800" dirty="0"/>
          </a:p>
        </p:txBody>
      </p:sp>
      <p:sp>
        <p:nvSpPr>
          <p:cNvPr id="27" name="Text 25"/>
          <p:cNvSpPr/>
          <p:nvPr/>
        </p:nvSpPr>
        <p:spPr>
          <a:xfrm>
            <a:off x="6537960" y="2441448"/>
            <a:ext cx="4800600" cy="320040"/>
          </a:xfrm>
          <a:prstGeom prst="rect">
            <a:avLst/>
          </a:prstGeom>
          <a:noFill/>
          <a:ln/>
        </p:spPr>
        <p:txBody>
          <a:bodyPr wrap="square" lIns="0" tIns="0" rIns="0" bIns="0" rtlCol="0" anchor="ctr"/>
          <a:lstStyle/>
          <a:p>
            <a:pPr indent="0" marL="0">
              <a:buNone/>
            </a:pPr>
            <a:r>
              <a:rPr lang="en-US" sz="1100" i="1" dirty="0">
                <a:solidFill>
                  <a:srgbClr val="6B6B6B"/>
                </a:solidFill>
                <a:latin typeface="Arial" pitchFamily="34" charset="0"/>
                <a:ea typeface="Arial" pitchFamily="34" charset="-122"/>
                <a:cs typeface="Arial" pitchFamily="34" charset="-120"/>
              </a:rPr>
              <a:t>Case study đã chứng minh hiệu quả</a:t>
            </a:r>
            <a:endParaRPr lang="en-US" sz="1100" dirty="0"/>
          </a:p>
        </p:txBody>
      </p:sp>
      <p:sp>
        <p:nvSpPr>
          <p:cNvPr id="28" name="Shape 26"/>
          <p:cNvSpPr/>
          <p:nvPr/>
        </p:nvSpPr>
        <p:spPr>
          <a:xfrm>
            <a:off x="6537960" y="2834640"/>
            <a:ext cx="4526280" cy="0"/>
          </a:xfrm>
          <a:prstGeom prst="line">
            <a:avLst/>
          </a:prstGeom>
          <a:noFill/>
          <a:ln w="12700">
            <a:solidFill>
              <a:srgbClr val="E2E2E2"/>
            </a:solidFill>
            <a:prstDash val="solid"/>
          </a:ln>
        </p:spPr>
        <p:txBody>
          <a:bodyPr/>
          <a:p/>
        </p:txBody>
      </p:sp>
      <p:sp>
        <p:nvSpPr>
          <p:cNvPr id="29" name="Shape 27"/>
          <p:cNvSpPr/>
          <p:nvPr/>
        </p:nvSpPr>
        <p:spPr>
          <a:xfrm>
            <a:off x="6537960" y="3081528"/>
            <a:ext cx="64008" cy="64008"/>
          </a:xfrm>
          <a:prstGeom prst="ellipse">
            <a:avLst/>
          </a:prstGeom>
          <a:solidFill>
            <a:srgbClr val="1B8A5A"/>
          </a:solidFill>
          <a:ln/>
        </p:spPr>
        <p:txBody>
          <a:bodyPr/>
          <a:p/>
        </p:txBody>
      </p:sp>
      <p:sp>
        <p:nvSpPr>
          <p:cNvPr id="30" name="Text 28"/>
          <p:cNvSpPr/>
          <p:nvPr/>
        </p:nvSpPr>
        <p:spPr>
          <a:xfrm>
            <a:off x="6702552" y="3017520"/>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D0, D1 hoàn thành đúng tiến độ — dự án duy nhất RAG Xanh tháng 7</a:t>
            </a:r>
            <a:endParaRPr lang="en-US" sz="1100" dirty="0"/>
          </a:p>
        </p:txBody>
      </p:sp>
      <p:sp>
        <p:nvSpPr>
          <p:cNvPr id="31" name="Shape 29"/>
          <p:cNvSpPr/>
          <p:nvPr/>
        </p:nvSpPr>
        <p:spPr>
          <a:xfrm>
            <a:off x="6537960" y="3703320"/>
            <a:ext cx="64008" cy="64008"/>
          </a:xfrm>
          <a:prstGeom prst="ellipse">
            <a:avLst/>
          </a:prstGeom>
          <a:solidFill>
            <a:srgbClr val="1B8A5A"/>
          </a:solidFill>
          <a:ln/>
        </p:spPr>
        <p:txBody>
          <a:bodyPr/>
          <a:p/>
        </p:txBody>
      </p:sp>
      <p:sp>
        <p:nvSpPr>
          <p:cNvPr id="32" name="Text 30"/>
          <p:cNvSpPr/>
          <p:nvPr/>
        </p:nvSpPr>
        <p:spPr>
          <a:xfrm>
            <a:off x="6702552" y="3639312"/>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Giảm lỗi thao tác nhờ đúng nội dung, đúng giai đoạn onboarding</a:t>
            </a:r>
            <a:endParaRPr lang="en-US" sz="1100" dirty="0"/>
          </a:p>
        </p:txBody>
      </p:sp>
      <p:sp>
        <p:nvSpPr>
          <p:cNvPr id="33" name="Shape 31"/>
          <p:cNvSpPr/>
          <p:nvPr/>
        </p:nvSpPr>
        <p:spPr>
          <a:xfrm>
            <a:off x="6537960" y="4325112"/>
            <a:ext cx="64008" cy="64008"/>
          </a:xfrm>
          <a:prstGeom prst="ellipse">
            <a:avLst/>
          </a:prstGeom>
          <a:solidFill>
            <a:srgbClr val="1B8A5A"/>
          </a:solidFill>
          <a:ln/>
        </p:spPr>
        <p:txBody>
          <a:bodyPr/>
          <a:p/>
        </p:txBody>
      </p:sp>
      <p:sp>
        <p:nvSpPr>
          <p:cNvPr id="34" name="Text 32"/>
          <p:cNvSpPr/>
          <p:nvPr/>
        </p:nvSpPr>
        <p:spPr>
          <a:xfrm>
            <a:off x="6702552" y="4261104"/>
            <a:ext cx="4526280" cy="548640"/>
          </a:xfrm>
          <a:prstGeom prst="rect">
            <a:avLst/>
          </a:prstGeom>
          <a:noFill/>
          <a:ln/>
        </p:spPr>
        <p:txBody>
          <a:bodyPr wrap="square" lIns="0" tIns="0" rIns="0" bIns="0" rtlCol="0" anchor="t"/>
          <a:lstStyle/>
          <a:p>
            <a:pPr indent="0" marL="0">
              <a:buNone/>
            </a:pPr>
            <a:r>
              <a:rPr lang="en-US" sz="1100" dirty="0">
                <a:solidFill>
                  <a:srgbClr val="E2E8F0"/>
                </a:solidFill>
                <a:latin typeface="Arial" pitchFamily="34" charset="0"/>
                <a:ea typeface="Arial" pitchFamily="34" charset="-122"/>
                <a:cs typeface="Arial" pitchFamily="34" charset="-120"/>
              </a:rPr>
              <a:t>Cơ hội: chuyển giao cách tiếp cận sang Baga Bulky, EV</a:t>
            </a:r>
            <a:endParaRPr lang="en-US" sz="1100" dirty="0"/>
          </a:p>
        </p:txBody>
      </p:sp>
      <p:sp>
        <p:nvSpPr>
          <p:cNvPr id="35" name="Shape 33"/>
          <p:cNvSpPr/>
          <p:nvPr/>
        </p:nvSpPr>
        <p:spPr>
          <a:xfrm>
            <a:off x="6537960" y="4937760"/>
            <a:ext cx="4800600" cy="347472"/>
          </a:xfrm>
          <a:prstGeom prst="rect">
            <a:avLst/>
          </a:prstGeom>
          <a:solidFill>
            <a:srgbClr val="16213E"/>
          </a:solidFill>
          <a:ln w="12700">
            <a:solidFill>
              <a:srgbClr val="283C5F"/>
            </a:solidFill>
          </a:ln>
        </p:spPr>
        <p:txBody>
          <a:bodyPr/>
          <a:p/>
        </p:txBody>
      </p:sp>
      <p:sp>
        <p:nvSpPr>
          <p:cNvPr id="36" name="Shape 34"/>
          <p:cNvSpPr/>
          <p:nvPr/>
        </p:nvSpPr>
        <p:spPr>
          <a:xfrm>
            <a:off x="6537960" y="4937760"/>
            <a:ext cx="45720" cy="347472"/>
          </a:xfrm>
          <a:prstGeom prst="rect">
            <a:avLst/>
          </a:prstGeom>
          <a:solidFill>
            <a:srgbClr val="1B8A5A"/>
          </a:solidFill>
          <a:ln/>
        </p:spPr>
        <p:txBody>
          <a:bodyPr/>
          <a:p/>
        </p:txBody>
      </p:sp>
      <p:sp>
        <p:nvSpPr>
          <p:cNvPr id="37" name="Text 35"/>
          <p:cNvSpPr/>
          <p:nvPr/>
        </p:nvSpPr>
        <p:spPr>
          <a:xfrm>
            <a:off x="6702552" y="4956048"/>
            <a:ext cx="4526280" cy="164592"/>
          </a:xfrm>
          <a:prstGeom prst="rect">
            <a:avLst/>
          </a:prstGeom>
          <a:noFill/>
          <a:ln/>
        </p:spPr>
        <p:txBody>
          <a:bodyPr wrap="square" lIns="0" tIns="0" rIns="0" bIns="0" rtlCol="0" anchor="ctr"/>
          <a:lstStyle/>
          <a:p>
            <a:pPr indent="0" marL="0">
              <a:buNone/>
            </a:pPr>
            <a:r>
              <a:rPr lang="en-US" sz="750" b="1" dirty="0">
                <a:solidFill>
                  <a:srgbClr val="6B6B6B"/>
                </a:solidFill>
                <a:latin typeface="Arial" pitchFamily="34" charset="0"/>
                <a:ea typeface="Arial" pitchFamily="34" charset="-122"/>
                <a:cs typeface="Arial" pitchFamily="34" charset="-120"/>
              </a:rPr>
              <a:t>CHẾ ĐỘ</a:t>
            </a:r>
            <a:endParaRPr lang="en-US" sz="750" dirty="0"/>
          </a:p>
        </p:txBody>
      </p:sp>
      <p:sp>
        <p:nvSpPr>
          <p:cNvPr id="38" name="Text 36"/>
          <p:cNvSpPr/>
          <p:nvPr/>
        </p:nvSpPr>
        <p:spPr>
          <a:xfrm>
            <a:off x="6702552" y="5102352"/>
            <a:ext cx="4526280" cy="182880"/>
          </a:xfrm>
          <a:prstGeom prst="rect">
            <a:avLst/>
          </a:prstGeom>
          <a:noFill/>
          <a:ln/>
        </p:spPr>
        <p:txBody>
          <a:bodyPr wrap="square" lIns="0" tIns="0" rIns="0" bIns="0" rtlCol="0" anchor="ctr"/>
          <a:lstStyle/>
          <a:p>
            <a:pPr indent="0" marL="0">
              <a:buNone/>
            </a:pPr>
            <a:r>
              <a:rPr lang="en-US" sz="1000" b="1" dirty="0">
                <a:solidFill>
                  <a:srgbClr val="1B8A5A"/>
                </a:solidFill>
                <a:latin typeface="Arial" pitchFamily="34" charset="0"/>
                <a:ea typeface="Arial" pitchFamily="34" charset="-122"/>
                <a:cs typeface="Arial" pitchFamily="34" charset="-120"/>
              </a:rPr>
              <a:t>SCALE — nhân rộng cách làm sang dự án khác</a:t>
            </a:r>
            <a:endParaRPr lang="en-US" sz="1000" dirty="0"/>
          </a:p>
        </p:txBody>
      </p:sp>
      <p:sp>
        <p:nvSpPr>
          <p:cNvPr id="39" name="Text 37"/>
          <p:cNvSpPr/>
          <p:nvPr/>
        </p:nvSpPr>
        <p:spPr>
          <a:xfrm>
            <a:off x="548640" y="5623560"/>
            <a:ext cx="11091672" cy="548640"/>
          </a:xfrm>
          <a:prstGeom prst="rect">
            <a:avLst/>
          </a:prstGeom>
          <a:noFill/>
          <a:ln/>
        </p:spPr>
        <p:txBody>
          <a:bodyPr wrap="square" lIns="0" tIns="0" rIns="0" bIns="0" rtlCol="0" anchor="t"/>
          <a:lstStyle/>
          <a:p>
            <a:pPr indent="0" marL="0">
              <a:buNone/>
            </a:pPr>
            <a:r>
              <a:rPr lang="en-US" sz="1050" b="1" dirty="0">
                <a:solidFill>
                  <a:srgbClr val="D9631A"/>
                </a:solidFill>
                <a:latin typeface="Arial" pitchFamily="34" charset="0"/>
                <a:ea typeface="Arial" pitchFamily="34" charset="-122"/>
                <a:cs typeface="Arial" pitchFamily="34" charset="-120"/>
              </a:rPr>
              <a:t>Bài học chuyển giao:  </a:t>
            </a:r>
            <a:pPr indent="0" marL="0">
              <a:buNone/>
            </a:pPr>
            <a:r>
              <a:rPr lang="en-US" sz="1050" dirty="0">
                <a:solidFill>
                  <a:srgbClr val="6B6B6B"/>
                </a:solidFill>
                <a:latin typeface="Arial" pitchFamily="34" charset="0"/>
                <a:ea typeface="Arial" pitchFamily="34" charset="-122"/>
                <a:cs typeface="Arial" pitchFamily="34" charset="-120"/>
              </a:rPr>
              <a:t>cách tiếp cận 'đúng nội dung, đúng giai đoạn' của Driver Journey có thể áp dụng cho truyền thông theo giai đoạn tham gia thưởng của Baga Bulky, và truyền thông onboarding tài xế mới khi MiniHub scale trở lại.</a:t>
            </a:r>
            <a:endParaRPr lang="en-US" sz="1050" dirty="0"/>
          </a:p>
        </p:txBody>
      </p:sp>
      <p:sp>
        <p:nvSpPr>
          <p:cNvPr id="40" name="Shape 38"/>
          <p:cNvSpPr/>
          <p:nvPr/>
        </p:nvSpPr>
        <p:spPr>
          <a:xfrm>
            <a:off x="548640" y="6510528"/>
            <a:ext cx="11091672" cy="0"/>
          </a:xfrm>
          <a:prstGeom prst="line">
            <a:avLst/>
          </a:prstGeom>
          <a:noFill/>
          <a:ln w="15875">
            <a:solidFill>
              <a:srgbClr val="FF7F32"/>
            </a:solidFill>
            <a:prstDash val="solid"/>
          </a:ln>
        </p:spPr>
        <p:txBody>
          <a:bodyPr/>
          <a:p/>
        </p:txBody>
      </p:sp>
      <p:sp>
        <p:nvSpPr>
          <p:cNvPr id="41" name="Text 39"/>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42" name="Text 40"/>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RISK &amp; ACTION · TỔNG HỢP</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6 rủi ro đang mở, mỗi rủi ro có đúng 1 owner</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133856"/>
            <a:ext cx="45720" cy="512064"/>
          </a:xfrm>
          <a:prstGeom prst="rect">
            <a:avLst/>
          </a:prstGeom>
          <a:solidFill>
            <a:srgbClr val="FF7F32"/>
          </a:solidFill>
          <a:ln/>
        </p:spPr>
        <p:txBody>
          <a:body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pPr>
            <a:r>
              <a:rPr lang="en-US" sz="1100" b="1" dirty="0">
                <a:solidFill>
                  <a:srgbClr val="D9631A"/>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Gộp toàn bộ next action/issue rải rác theo từng dự án về 1 bảng duy nhất — không để trạng thái chung chung kiểu 'cả team đang xử lý'.</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3749040"/>
        </p:xfrm>
        <a:graphic>
          <a:graphicData uri="http://schemas.openxmlformats.org/drawingml/2006/table">
            <a:tbl>
              <a:tblPr/>
              <a:tblGrid>
                <a:gridCol w="3931920"/>
                <a:gridCol w="1188720"/>
                <a:gridCol w="1188720"/>
                <a:gridCol w="1581912"/>
                <a:gridCol w="3200400"/>
              </a:tblGrid>
              <a:tr h="535577">
                <a:tc>
                  <a:txBody>
                    <a:bodyPr/>
                    <a:lstStyle/>
                    <a:p>
                      <a:pPr indent="0" marL="0">
                        <a:buNone/>
                      </a:pPr>
                      <a:r>
                        <a:rPr lang="en-US" sz="1050" b="1" dirty="0">
                          <a:solidFill>
                            <a:srgbClr val="FFFFFF"/>
                          </a:solidFill>
                          <a:latin typeface="Arial" pitchFamily="34" charset="0"/>
                          <a:ea typeface="Arial" pitchFamily="34" charset="-122"/>
                          <a:cs typeface="Arial" pitchFamily="34" charset="-120"/>
                        </a:rPr>
                        <a:t>Rủi ro / Issue</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Khả năng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Tác động</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13294B"/>
                    </a:solidFill>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CR nhóm PT/GR vẫn cao (NLM &gt;14%; TTS SGN 57% đơn hủy do KH KNM)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OE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Đã chạy model mới cho TTS, đánh giá lại sau 1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Retention SGN chưa đạt target 82%</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Cải thiện MoM/YoY nhưng chưa chạm target</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Retention MiniHub giảm ở HAN (Z24, Thanh Xuân)</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Cao</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MiniHub team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Cần review target KPI theo baseline zone mới</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EV lead conversion thấp dù demand tăng 30%</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EV + Hub</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Đang quy hoạch lại luồng tiếp nhận lead</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Core driver SGN giảm do lọc thành viên, chưa tuyển bổ sung</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Thấp</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Driver Perf</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Đã tuyển bổ sung 49 tài xế trong T7</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r h="535577">
                <a:tc>
                  <a:txBody>
                    <a:bodyPr/>
                    <a:lstStyle/>
                    <a:p>
                      <a:pPr indent="0" marL="0">
                        <a:buNone/>
                      </a:pPr>
                      <a:r>
                        <a:rPr lang="en-US" sz="950" b="1" dirty="0">
                          <a:solidFill>
                            <a:srgbClr val="141414"/>
                          </a:solidFill>
                          <a:latin typeface="Arial" pitchFamily="34" charset="0"/>
                          <a:ea typeface="Arial" pitchFamily="34" charset="-122"/>
                          <a:cs typeface="Arial" pitchFamily="34" charset="-120"/>
                        </a:rPr>
                        <a:t>GDR/CTR giảm ở tập New driver (đổi logic tính điểm)</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algn="ctr" indent="0" marL="0">
                        <a:buNone/>
                      </a:pPr>
                      <a:r>
                        <a:rPr lang="en-US" sz="950" dirty="0">
                          <a:solidFill>
                            <a:srgbClr val="6B6B6B"/>
                          </a:solidFill>
                          <a:latin typeface="Arial" pitchFamily="34" charset="0"/>
                          <a:ea typeface="Arial" pitchFamily="34" charset="-122"/>
                          <a:cs typeface="Arial" pitchFamily="34" charset="-120"/>
                        </a:rPr>
                        <a:t>Trung bình</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50" dirty="0">
                          <a:solidFill>
                            <a:srgbClr val="141414"/>
                          </a:solidFill>
                          <a:latin typeface="Arial" pitchFamily="34" charset="0"/>
                          <a:ea typeface="Arial" pitchFamily="34" charset="-122"/>
                          <a:cs typeface="Arial" pitchFamily="34" charset="-120"/>
                        </a:rPr>
                        <a:t>QM / DE</a:t>
                      </a:r>
                      <a:endParaRPr lang="en-US" sz="95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c>
                  <a:txBody>
                    <a:bodyPr/>
                    <a:lstStyle/>
                    <a:p>
                      <a:pPr indent="0" marL="0">
                        <a:buNone/>
                      </a:pPr>
                      <a:r>
                        <a:rPr lang="en-US" sz="900" dirty="0">
                          <a:solidFill>
                            <a:srgbClr val="6B6B6B"/>
                          </a:solidFill>
                          <a:latin typeface="Arial" pitchFamily="34" charset="0"/>
                          <a:ea typeface="Arial" pitchFamily="34" charset="-122"/>
                          <a:cs typeface="Arial" pitchFamily="34" charset="-120"/>
                        </a:rPr>
                        <a:t>Đã retrain, ghi nhận cải thiện 2 tuần cuối tháng</a:t>
                      </a:r>
                      <a:endParaRPr lang="en-US" sz="900" dirty="0">
                        <a:latin typeface="Arial" charset="0"/>
                        <a:ea typeface="Arial" charset="0"/>
                        <a:cs typeface="Arial" charset="0"/>
                      </a:endParaRPr>
                    </a:p>
                  </a:txBody>
                  <a:tcPr marL="91440" marR="91440" marT="45720" marB="4572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tcPr>
                </a:tc>
              </a:tr>
            </a:tbl>
          </a:graphicData>
        </a:graphic>
      </p:graphicFrame>
      <p:sp>
        <p:nvSpPr>
          <p:cNvPr id="10" name="Shape 7"/>
          <p:cNvSpPr/>
          <p:nvPr/>
        </p:nvSpPr>
        <p:spPr>
          <a:xfrm>
            <a:off x="548640" y="5760720"/>
            <a:ext cx="11091672" cy="54864"/>
          </a:xfrm>
          <a:prstGeom prst="rect">
            <a:avLst/>
          </a:prstGeom>
          <a:solidFill>
            <a:srgbClr val="FF7F32"/>
          </a:solidFill>
          <a:ln/>
        </p:spPr>
        <p:txBody>
          <a:bodyPr/>
          <a:p/>
        </p:txBody>
      </p:sp>
      <p:sp>
        <p:nvSpPr>
          <p:cNvPr id="11" name="Shape 8"/>
          <p:cNvSpPr/>
          <p:nvPr/>
        </p:nvSpPr>
        <p:spPr>
          <a:xfrm>
            <a:off x="548640" y="5815584"/>
            <a:ext cx="11091672" cy="539496"/>
          </a:xfrm>
          <a:prstGeom prst="rect">
            <a:avLst/>
          </a:prstGeom>
          <a:solidFill>
            <a:srgbClr val="16213E"/>
          </a:solidFill>
          <a:ln w="12700">
            <a:solidFill>
              <a:srgbClr val="283C5F"/>
            </a:solidFill>
            <a:prstDash val="solid"/>
          </a:ln>
        </p:spPr>
        <p:txBody>
          <a:bodyPr/>
          <a:p/>
        </p:txBody>
      </p:sp>
      <p:sp>
        <p:nvSpPr>
          <p:cNvPr id="12" name="Text 9"/>
          <p:cNvSpPr/>
          <p:nvPr/>
        </p:nvSpPr>
        <p:spPr>
          <a:xfrm>
            <a:off x="777240" y="5861304"/>
            <a:ext cx="10607040" cy="411480"/>
          </a:xfrm>
          <a:prstGeom prst="rect">
            <a:avLst/>
          </a:prstGeom>
          <a:noFill/>
          <a:ln/>
        </p:spPr>
        <p:txBody>
          <a:bodyPr wrap="square" lIns="0" tIns="0" rIns="0" bIns="0" rtlCol="0" anchor="t"/>
          <a:lstStyle/>
          <a:p>
            <a:pPr indent="0" marL="0">
              <a:buNone/>
            </a:pPr>
            <a:r>
              <a:rPr lang="en-US" sz="1000" b="1" dirty="0">
                <a:solidFill>
                  <a:srgbClr val="E2E8F0"/>
                </a:solidFill>
                <a:latin typeface="Arial" pitchFamily="34" charset="0"/>
                <a:ea typeface="Arial" pitchFamily="34" charset="-122"/>
                <a:cs typeface="Arial" pitchFamily="34" charset="-120"/>
              </a:rPr>
              <a:t>Gap còn thiếu:  </a:t>
            </a:r>
            <a:pPr indent="0" marL="0">
              <a:buNone/>
            </a:pPr>
            <a:r>
              <a:rPr lang="en-US" sz="1000" dirty="0">
                <a:solidFill>
                  <a:srgbClr val="6B6B6B"/>
                </a:solidFill>
                <a:latin typeface="Arial" pitchFamily="34" charset="0"/>
                <a:ea typeface="Arial" pitchFamily="34" charset="-122"/>
                <a:cs typeface="Arial" pitchFamily="34" charset="-120"/>
              </a:rPr>
              <a:t>Chưa có benchmark so với đối thủ ngành (Grab, Be...) cho các chỉ số retention/FT growth — đề xuất bổ sung ở kỳ báo cáo sau.</a:t>
            </a:r>
            <a:endParaRPr lang="en-US" sz="1000" dirty="0"/>
          </a:p>
        </p:txBody>
      </p:sp>
      <p:sp>
        <p:nvSpPr>
          <p:cNvPr id="13" name="Shape 10"/>
          <p:cNvSpPr/>
          <p:nvPr/>
        </p:nvSpPr>
        <p:spPr>
          <a:xfrm>
            <a:off x="548640" y="6510528"/>
            <a:ext cx="11091672" cy="0"/>
          </a:xfrm>
          <a:prstGeom prst="line">
            <a:avLst/>
          </a:prstGeom>
          <a:noFill/>
          <a:ln w="15875">
            <a:solidFill>
              <a:srgbClr val="FF7F32"/>
            </a:solidFill>
            <a:prstDash val="solid"/>
          </a:ln>
        </p:spPr>
        <p:txBody>
          <a:bodyPr/>
          <a:p/>
        </p:txBody>
      </p:sp>
      <p:sp>
        <p:nvSpPr>
          <p:cNvPr id="14" name="Text 11"/>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15" name="Text 12"/>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QUYẾT ĐỊNH · TUẦN NÀY</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3 quyết định cần chốt trong tuần này</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133856"/>
            <a:ext cx="45720" cy="512064"/>
          </a:xfrm>
          <a:prstGeom prst="rect">
            <a:avLst/>
          </a:prstGeom>
          <a:solidFill>
            <a:srgbClr val="FF7F32"/>
          </a:solidFill>
          <a:ln/>
        </p:spPr>
        <p:txBody>
          <a:bodyPr/>
          <a:p/>
        </p:txBody>
      </p:sp>
      <p:sp>
        <p:nvSpPr>
          <p:cNvPr id="7" name="Shape 5"/>
          <p:cNvSpPr/>
          <p:nvPr/>
        </p:nvSpPr>
        <p:spPr>
          <a:xfrm>
            <a:off x="594360" y="1133856"/>
            <a:ext cx="11045952" cy="512064"/>
          </a:xfrm>
          <a:prstGeom prst="rect">
            <a:avLst/>
          </a:prstGeom>
          <a:solidFill>
            <a:srgbClr val="16213E"/>
          </a:solidFill>
          <a:ln w="12700">
            <a:solidFill>
              <a:srgbClr val="283C5F"/>
            </a:solidFill>
          </a:ln>
        </p:spPr>
        <p:txBody>
          <a:bodyPr/>
          <a:p/>
        </p:txBody>
      </p:sp>
      <p:sp>
        <p:nvSpPr>
          <p:cNvPr id="8" name="Text 6"/>
          <p:cNvSpPr/>
          <p:nvPr/>
        </p:nvSpPr>
        <p:spPr>
          <a:xfrm>
            <a:off x="777240" y="1133856"/>
            <a:ext cx="10607040" cy="512064"/>
          </a:xfrm>
          <a:prstGeom prst="rect">
            <a:avLst/>
          </a:prstGeom>
          <a:noFill/>
          <a:ln/>
        </p:spPr>
        <p:txBody>
          <a:bodyPr wrap="square" lIns="0" tIns="0" rIns="0" bIns="0" rtlCol="0" anchor="ctr"/>
          <a:lstStyle/>
          <a:p>
            <a:pPr indent="0" marL="0">
              <a:buNone/>
            </a:pPr>
            <a:r>
              <a:rPr lang="en-US" sz="1100" b="1" dirty="0">
                <a:solidFill>
                  <a:srgbClr val="D9631A"/>
                </a:solidFill>
                <a:latin typeface="Arial" pitchFamily="34" charset="0"/>
                <a:ea typeface="Arial" pitchFamily="34" charset="-122"/>
                <a:cs typeface="Arial" pitchFamily="34" charset="-120"/>
              </a:rPr>
              <a:t>Key Takeaway  </a:t>
            </a:r>
            <a:pPr indent="0" marL="0">
              <a:buNone/>
            </a:pPr>
            <a:r>
              <a:rPr lang="en-US" sz="1100" dirty="0">
                <a:solidFill>
                  <a:srgbClr val="E2E8F0"/>
                </a:solidFill>
                <a:latin typeface="Arial" pitchFamily="34" charset="0"/>
                <a:ea typeface="Arial" pitchFamily="34" charset="-122"/>
                <a:cs typeface="Arial" pitchFamily="34" charset="-120"/>
              </a:rPr>
              <a:t>Cả 3 quyết định đều ảnh hưởng trực tiếp tới scale MiniHub, target KPI zone, và ngân sách EV tháng 8 — chốt trễ đồng nghĩa mất momentum.</a:t>
            </a:r>
            <a:endParaRPr lang="en-US" sz="1100" dirty="0"/>
          </a:p>
        </p:txBody>
      </p:sp>
      <p:sp>
        <p:nvSpPr>
          <p:cNvPr id="9" name="Text 7"/>
          <p:cNvSpPr/>
          <p:nvPr/>
        </p:nvSpPr>
        <p:spPr>
          <a:xfrm>
            <a:off x="548640" y="1737360"/>
            <a:ext cx="11091672" cy="274320"/>
          </a:xfrm>
          <a:prstGeom prst="rect">
            <a:avLst/>
          </a:prstGeom>
          <a:noFill/>
          <a:ln/>
        </p:spPr>
        <p:txBody>
          <a:bodyPr wrap="square" lIns="0" tIns="0" rIns="0" bIns="0" rtlCol="0" anchor="ctr"/>
          <a:lstStyle/>
          <a:p>
            <a:pPr indent="0" marL="0">
              <a:buNone/>
            </a:pPr>
            <a:r>
              <a:rPr lang="en-US" sz="1050" i="1" dirty="0">
                <a:solidFill>
                  <a:srgbClr val="6B6B6B"/>
                </a:solidFill>
                <a:latin typeface="Arial" pitchFamily="34" charset="0"/>
                <a:ea typeface="Arial" pitchFamily="34" charset="-122"/>
                <a:cs typeface="Arial" pitchFamily="34" charset="-120"/>
              </a:rPr>
              <a:t>Vấn đề  +  Rủi ro nếu không quyết  =  Quyết định cần chốt ngay</a:t>
            </a:r>
            <a:endParaRPr lang="en-US" sz="1050" dirty="0"/>
          </a:p>
        </p:txBody>
      </p:sp>
      <p:sp>
        <p:nvSpPr>
          <p:cNvPr id="10" name="Shape 8"/>
          <p:cNvSpPr/>
          <p:nvPr/>
        </p:nvSpPr>
        <p:spPr>
          <a:xfrm>
            <a:off x="128016" y="2587752"/>
            <a:ext cx="310896" cy="310896"/>
          </a:xfrm>
          <a:prstGeom prst="ellipse">
            <a:avLst/>
          </a:prstGeom>
          <a:solidFill>
            <a:srgbClr val="FF7F32"/>
          </a:solidFill>
          <a:ln/>
        </p:spPr>
        <p:txBody>
          <a:bodyPr/>
          <a:p/>
        </p:txBody>
      </p:sp>
      <p:sp>
        <p:nvSpPr>
          <p:cNvPr id="11" name="Text 9"/>
          <p:cNvSpPr/>
          <p:nvPr/>
        </p:nvSpPr>
        <p:spPr>
          <a:xfrm>
            <a:off x="128016" y="2587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Shape 10"/>
          <p:cNvSpPr/>
          <p:nvPr/>
        </p:nvSpPr>
        <p:spPr>
          <a:xfrm>
            <a:off x="548640" y="2103120"/>
            <a:ext cx="3246120" cy="54864"/>
          </a:xfrm>
          <a:prstGeom prst="rect">
            <a:avLst/>
          </a:prstGeom>
          <a:solidFill>
            <a:srgbClr val="6B6B6B"/>
          </a:solidFill>
          <a:ln/>
        </p:spPr>
        <p:txBody>
          <a:bodyPr/>
          <a:p/>
        </p:txBody>
      </p:sp>
      <p:sp>
        <p:nvSpPr>
          <p:cNvPr id="13" name="Shape 11"/>
          <p:cNvSpPr/>
          <p:nvPr/>
        </p:nvSpPr>
        <p:spPr>
          <a:xfrm>
            <a:off x="548640" y="2157984"/>
            <a:ext cx="3246120" cy="1225296"/>
          </a:xfrm>
          <a:prstGeom prst="rect">
            <a:avLst/>
          </a:prstGeom>
          <a:solidFill>
            <a:srgbClr val="16213E"/>
          </a:solidFill>
          <a:ln w="12700">
            <a:solidFill>
              <a:srgbClr val="283C5F"/>
            </a:solidFill>
            <a:prstDash val="solid"/>
          </a:ln>
        </p:spPr>
        <p:txBody>
          <a:bodyPr/>
          <a:p/>
        </p:txBody>
      </p:sp>
      <p:sp>
        <p:nvSpPr>
          <p:cNvPr id="14" name="Text 12"/>
          <p:cNvSpPr/>
          <p:nvPr/>
        </p:nvSpPr>
        <p:spPr>
          <a:xfrm>
            <a:off x="731520" y="2231136"/>
            <a:ext cx="28803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15" name="Text 13"/>
          <p:cNvSpPr/>
          <p:nvPr/>
        </p:nvSpPr>
        <p:spPr>
          <a:xfrm>
            <a:off x="731520" y="248716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Retention MiniHub giảm ở HAN, chưa rõ ROI mô hình Leader</a:t>
            </a:r>
            <a:endParaRPr lang="en-US" sz="1000" dirty="0"/>
          </a:p>
        </p:txBody>
      </p:sp>
      <p:sp>
        <p:nvSpPr>
          <p:cNvPr id="16" name="Text 14"/>
          <p:cNvSpPr/>
          <p:nvPr/>
        </p:nvSpPr>
        <p:spPr>
          <a:xfrm>
            <a:off x="3794760" y="254203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17" name="Shape 15"/>
          <p:cNvSpPr/>
          <p:nvPr/>
        </p:nvSpPr>
        <p:spPr>
          <a:xfrm>
            <a:off x="4361688" y="2103120"/>
            <a:ext cx="3246120" cy="54864"/>
          </a:xfrm>
          <a:prstGeom prst="rect">
            <a:avLst/>
          </a:prstGeom>
          <a:solidFill>
            <a:srgbClr val="E5342E"/>
          </a:solidFill>
          <a:ln/>
        </p:spPr>
        <p:txBody>
          <a:bodyPr/>
          <a:p/>
        </p:txBody>
      </p:sp>
      <p:sp>
        <p:nvSpPr>
          <p:cNvPr id="18" name="Shape 16"/>
          <p:cNvSpPr/>
          <p:nvPr/>
        </p:nvSpPr>
        <p:spPr>
          <a:xfrm>
            <a:off x="4361688" y="2157984"/>
            <a:ext cx="3246120" cy="1225296"/>
          </a:xfrm>
          <a:prstGeom prst="rect">
            <a:avLst/>
          </a:prstGeom>
          <a:solidFill>
            <a:srgbClr val="16213E"/>
          </a:solidFill>
          <a:ln w="12700">
            <a:solidFill>
              <a:srgbClr val="283C5F"/>
            </a:solidFill>
            <a:prstDash val="solid"/>
          </a:ln>
        </p:spPr>
        <p:txBody>
          <a:bodyPr/>
          <a:p/>
        </p:txBody>
      </p:sp>
      <p:sp>
        <p:nvSpPr>
          <p:cNvPr id="19" name="Text 17"/>
          <p:cNvSpPr/>
          <p:nvPr/>
        </p:nvSpPr>
        <p:spPr>
          <a:xfrm>
            <a:off x="4544568" y="2231136"/>
            <a:ext cx="2880360" cy="228600"/>
          </a:xfrm>
          <a:prstGeom prst="rect">
            <a:avLst/>
          </a:prstGeom>
          <a:noFill/>
          <a:ln/>
        </p:spPr>
        <p:txBody>
          <a:bodyPr wrap="square" lIns="0" tIns="0" rIns="0" bIns="0" rtlCol="0" anchor="ctr"/>
          <a:lstStyle/>
          <a:p>
            <a:pPr indent="0" marL="0">
              <a:buNone/>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20" name="Text 18"/>
          <p:cNvSpPr/>
          <p:nvPr/>
        </p:nvSpPr>
        <p:spPr>
          <a:xfrm>
            <a:off x="4544568" y="248716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Scale tiếp mà không rõ hiệu quả tài chính, hoặc lỡ momentum nếu trì hoãn quá lâu</a:t>
            </a:r>
            <a:endParaRPr lang="en-US" sz="1000" dirty="0"/>
          </a:p>
        </p:txBody>
      </p:sp>
      <p:sp>
        <p:nvSpPr>
          <p:cNvPr id="21" name="Text 19"/>
          <p:cNvSpPr/>
          <p:nvPr/>
        </p:nvSpPr>
        <p:spPr>
          <a:xfrm>
            <a:off x="7607808" y="254203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8174736" y="2103120"/>
            <a:ext cx="3246120" cy="54864"/>
          </a:xfrm>
          <a:prstGeom prst="rect">
            <a:avLst/>
          </a:prstGeom>
          <a:solidFill>
            <a:srgbClr val="FF7F32"/>
          </a:solidFill>
          <a:ln/>
        </p:spPr>
        <p:txBody>
          <a:bodyPr/>
          <a:p/>
        </p:txBody>
      </p:sp>
      <p:sp>
        <p:nvSpPr>
          <p:cNvPr id="23" name="Shape 21"/>
          <p:cNvSpPr/>
          <p:nvPr/>
        </p:nvSpPr>
        <p:spPr>
          <a:xfrm>
            <a:off x="8174736" y="2157984"/>
            <a:ext cx="3246120" cy="1225296"/>
          </a:xfrm>
          <a:prstGeom prst="rect">
            <a:avLst/>
          </a:prstGeom>
          <a:solidFill>
            <a:srgbClr val="1E3A8A"/>
          </a:solidFill>
          <a:ln w="12700">
            <a:solidFill>
              <a:srgbClr val="FF7300"/>
            </a:solidFill>
            <a:prstDash val="solid"/>
          </a:ln>
        </p:spPr>
        <p:txBody>
          <a:bodyPr/>
          <a:p/>
        </p:txBody>
      </p:sp>
      <p:sp>
        <p:nvSpPr>
          <p:cNvPr id="24" name="Text 22"/>
          <p:cNvSpPr/>
          <p:nvPr/>
        </p:nvSpPr>
        <p:spPr>
          <a:xfrm>
            <a:off x="8357616" y="2231136"/>
            <a:ext cx="2880360" cy="228600"/>
          </a:xfrm>
          <a:prstGeom prst="rect">
            <a:avLst/>
          </a:prstGeom>
          <a:noFill/>
          <a:ln/>
        </p:spPr>
        <p:txBody>
          <a:bodyPr wrap="square" lIns="0" tIns="0" rIns="0" bIns="0" rtlCol="0" anchor="ctr"/>
          <a:lstStyle/>
          <a:p>
            <a:pPr indent="0" marL="0">
              <a:buNone/>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25" name="Text 23"/>
          <p:cNvSpPr/>
          <p:nvPr/>
        </p:nvSpPr>
        <p:spPr>
          <a:xfrm>
            <a:off x="8357616" y="2487168"/>
            <a:ext cx="2880360" cy="77724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Duyệt đánh giá PnL trước 15/8, chốt go/no-go ngay sau đó</a:t>
            </a:r>
            <a:endParaRPr lang="en-US" sz="1000" dirty="0"/>
          </a:p>
        </p:txBody>
      </p:sp>
      <p:sp>
        <p:nvSpPr>
          <p:cNvPr id="26" name="Shape 24"/>
          <p:cNvSpPr/>
          <p:nvPr/>
        </p:nvSpPr>
        <p:spPr>
          <a:xfrm>
            <a:off x="128016" y="4005072"/>
            <a:ext cx="310896" cy="310896"/>
          </a:xfrm>
          <a:prstGeom prst="ellipse">
            <a:avLst/>
          </a:prstGeom>
          <a:solidFill>
            <a:srgbClr val="FF7F32"/>
          </a:solidFill>
          <a:ln/>
        </p:spPr>
        <p:txBody>
          <a:bodyPr/>
          <a:p/>
        </p:txBody>
      </p:sp>
      <p:sp>
        <p:nvSpPr>
          <p:cNvPr id="27" name="Text 25"/>
          <p:cNvSpPr/>
          <p:nvPr/>
        </p:nvSpPr>
        <p:spPr>
          <a:xfrm>
            <a:off x="128016" y="40050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8" name="Shape 26"/>
          <p:cNvSpPr/>
          <p:nvPr/>
        </p:nvSpPr>
        <p:spPr>
          <a:xfrm>
            <a:off x="548640" y="3520440"/>
            <a:ext cx="3246120" cy="54864"/>
          </a:xfrm>
          <a:prstGeom prst="rect">
            <a:avLst/>
          </a:prstGeom>
          <a:solidFill>
            <a:srgbClr val="6B6B6B"/>
          </a:solidFill>
          <a:ln/>
        </p:spPr>
        <p:txBody>
          <a:bodyPr/>
          <a:p/>
        </p:txBody>
      </p:sp>
      <p:sp>
        <p:nvSpPr>
          <p:cNvPr id="29" name="Shape 27"/>
          <p:cNvSpPr/>
          <p:nvPr/>
        </p:nvSpPr>
        <p:spPr>
          <a:xfrm>
            <a:off x="548640" y="3575304"/>
            <a:ext cx="3246120" cy="1225296"/>
          </a:xfrm>
          <a:prstGeom prst="rect">
            <a:avLst/>
          </a:prstGeom>
          <a:solidFill>
            <a:srgbClr val="16213E"/>
          </a:solidFill>
          <a:ln w="12700">
            <a:solidFill>
              <a:srgbClr val="283C5F"/>
            </a:solidFill>
            <a:prstDash val="solid"/>
          </a:ln>
        </p:spPr>
        <p:txBody>
          <a:bodyPr/>
          <a:p/>
        </p:txBody>
      </p:sp>
      <p:sp>
        <p:nvSpPr>
          <p:cNvPr id="30" name="Text 28"/>
          <p:cNvSpPr/>
          <p:nvPr/>
        </p:nvSpPr>
        <p:spPr>
          <a:xfrm>
            <a:off x="731520" y="3648456"/>
            <a:ext cx="28803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31" name="Text 29"/>
          <p:cNvSpPr/>
          <p:nvPr/>
        </p:nvSpPr>
        <p:spPr>
          <a:xfrm>
            <a:off x="731520" y="390448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Target KPI đang tính theo zone cũ, không còn khớp mô hình mới</a:t>
            </a:r>
            <a:endParaRPr lang="en-US" sz="1000" dirty="0"/>
          </a:p>
        </p:txBody>
      </p:sp>
      <p:sp>
        <p:nvSpPr>
          <p:cNvPr id="32" name="Text 30"/>
          <p:cNvSpPr/>
          <p:nvPr/>
        </p:nvSpPr>
        <p:spPr>
          <a:xfrm>
            <a:off x="3794760" y="395935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33" name="Shape 31"/>
          <p:cNvSpPr/>
          <p:nvPr/>
        </p:nvSpPr>
        <p:spPr>
          <a:xfrm>
            <a:off x="4361688" y="3520440"/>
            <a:ext cx="3246120" cy="54864"/>
          </a:xfrm>
          <a:prstGeom prst="rect">
            <a:avLst/>
          </a:prstGeom>
          <a:solidFill>
            <a:srgbClr val="E5342E"/>
          </a:solidFill>
          <a:ln/>
        </p:spPr>
        <p:txBody>
          <a:bodyPr/>
          <a:p/>
        </p:txBody>
      </p:sp>
      <p:sp>
        <p:nvSpPr>
          <p:cNvPr id="34" name="Shape 32"/>
          <p:cNvSpPr/>
          <p:nvPr/>
        </p:nvSpPr>
        <p:spPr>
          <a:xfrm>
            <a:off x="4361688" y="3575304"/>
            <a:ext cx="3246120" cy="1225296"/>
          </a:xfrm>
          <a:prstGeom prst="rect">
            <a:avLst/>
          </a:prstGeom>
          <a:solidFill>
            <a:srgbClr val="16213E"/>
          </a:solidFill>
          <a:ln w="12700">
            <a:solidFill>
              <a:srgbClr val="283C5F"/>
            </a:solidFill>
            <a:prstDash val="solid"/>
          </a:ln>
        </p:spPr>
        <p:txBody>
          <a:bodyPr/>
          <a:p/>
        </p:txBody>
      </p:sp>
      <p:sp>
        <p:nvSpPr>
          <p:cNvPr id="35" name="Text 33"/>
          <p:cNvSpPr/>
          <p:nvPr/>
        </p:nvSpPr>
        <p:spPr>
          <a:xfrm>
            <a:off x="4544568" y="3648456"/>
            <a:ext cx="2880360" cy="228600"/>
          </a:xfrm>
          <a:prstGeom prst="rect">
            <a:avLst/>
          </a:prstGeom>
          <a:noFill/>
          <a:ln/>
        </p:spPr>
        <p:txBody>
          <a:bodyPr wrap="square" lIns="0" tIns="0" rIns="0" bIns="0" rtlCol="0" anchor="ctr"/>
          <a:lstStyle/>
          <a:p>
            <a:pPr indent="0" marL="0">
              <a:buNone/>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36" name="Text 34"/>
          <p:cNvSpPr/>
          <p:nvPr/>
        </p:nvSpPr>
        <p:spPr>
          <a:xfrm>
            <a:off x="4544568" y="390448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Đánh giá sai hiệu suất, demotivate team nếu giữ nguyên target cũ</a:t>
            </a:r>
            <a:endParaRPr lang="en-US" sz="1000" dirty="0"/>
          </a:p>
        </p:txBody>
      </p:sp>
      <p:sp>
        <p:nvSpPr>
          <p:cNvPr id="37" name="Text 35"/>
          <p:cNvSpPr/>
          <p:nvPr/>
        </p:nvSpPr>
        <p:spPr>
          <a:xfrm>
            <a:off x="7607808" y="395935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38" name="Shape 36"/>
          <p:cNvSpPr/>
          <p:nvPr/>
        </p:nvSpPr>
        <p:spPr>
          <a:xfrm>
            <a:off x="8174736" y="3520440"/>
            <a:ext cx="3246120" cy="54864"/>
          </a:xfrm>
          <a:prstGeom prst="rect">
            <a:avLst/>
          </a:prstGeom>
          <a:solidFill>
            <a:srgbClr val="FF7F32"/>
          </a:solidFill>
          <a:ln/>
        </p:spPr>
        <p:txBody>
          <a:bodyPr/>
          <a:p/>
        </p:txBody>
      </p:sp>
      <p:sp>
        <p:nvSpPr>
          <p:cNvPr id="39" name="Shape 37"/>
          <p:cNvSpPr/>
          <p:nvPr/>
        </p:nvSpPr>
        <p:spPr>
          <a:xfrm>
            <a:off x="8174736" y="3575304"/>
            <a:ext cx="3246120" cy="1225296"/>
          </a:xfrm>
          <a:prstGeom prst="rect">
            <a:avLst/>
          </a:prstGeom>
          <a:solidFill>
            <a:srgbClr val="1E3A8A"/>
          </a:solidFill>
          <a:ln w="12700">
            <a:solidFill>
              <a:srgbClr val="FF7300"/>
            </a:solidFill>
            <a:prstDash val="solid"/>
          </a:ln>
        </p:spPr>
        <p:txBody>
          <a:bodyPr/>
          <a:p/>
        </p:txBody>
      </p:sp>
      <p:sp>
        <p:nvSpPr>
          <p:cNvPr id="40" name="Text 38"/>
          <p:cNvSpPr/>
          <p:nvPr/>
        </p:nvSpPr>
        <p:spPr>
          <a:xfrm>
            <a:off x="8357616" y="3648456"/>
            <a:ext cx="2880360" cy="228600"/>
          </a:xfrm>
          <a:prstGeom prst="rect">
            <a:avLst/>
          </a:prstGeom>
          <a:noFill/>
          <a:ln/>
        </p:spPr>
        <p:txBody>
          <a:bodyPr wrap="square" lIns="0" tIns="0" rIns="0" bIns="0" rtlCol="0" anchor="ctr"/>
          <a:lstStyle/>
          <a:p>
            <a:pPr indent="0" marL="0">
              <a:buNone/>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41" name="Text 39"/>
          <p:cNvSpPr/>
          <p:nvPr/>
        </p:nvSpPr>
        <p:spPr>
          <a:xfrm>
            <a:off x="8357616" y="3904488"/>
            <a:ext cx="2880360" cy="77724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Điều chỉnh target theo baseline mới ngay tháng 8</a:t>
            </a:r>
            <a:endParaRPr lang="en-US" sz="1000" dirty="0"/>
          </a:p>
        </p:txBody>
      </p:sp>
      <p:sp>
        <p:nvSpPr>
          <p:cNvPr id="42" name="Shape 40"/>
          <p:cNvSpPr/>
          <p:nvPr/>
        </p:nvSpPr>
        <p:spPr>
          <a:xfrm>
            <a:off x="128016" y="5422392"/>
            <a:ext cx="310896" cy="310896"/>
          </a:xfrm>
          <a:prstGeom prst="ellipse">
            <a:avLst/>
          </a:prstGeom>
          <a:solidFill>
            <a:srgbClr val="FF7F32"/>
          </a:solidFill>
          <a:ln/>
        </p:spPr>
        <p:txBody>
          <a:bodyPr/>
          <a:p/>
        </p:txBody>
      </p:sp>
      <p:sp>
        <p:nvSpPr>
          <p:cNvPr id="43" name="Text 41"/>
          <p:cNvSpPr/>
          <p:nvPr/>
        </p:nvSpPr>
        <p:spPr>
          <a:xfrm>
            <a:off x="128016" y="54223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4" name="Shape 42"/>
          <p:cNvSpPr/>
          <p:nvPr/>
        </p:nvSpPr>
        <p:spPr>
          <a:xfrm>
            <a:off x="548640" y="4937760"/>
            <a:ext cx="3246120" cy="54864"/>
          </a:xfrm>
          <a:prstGeom prst="rect">
            <a:avLst/>
          </a:prstGeom>
          <a:solidFill>
            <a:srgbClr val="6B6B6B"/>
          </a:solidFill>
          <a:ln/>
        </p:spPr>
        <p:txBody>
          <a:bodyPr/>
          <a:p/>
        </p:txBody>
      </p:sp>
      <p:sp>
        <p:nvSpPr>
          <p:cNvPr id="45" name="Shape 43"/>
          <p:cNvSpPr/>
          <p:nvPr/>
        </p:nvSpPr>
        <p:spPr>
          <a:xfrm>
            <a:off x="548640" y="4992624"/>
            <a:ext cx="3246120" cy="1225296"/>
          </a:xfrm>
          <a:prstGeom prst="rect">
            <a:avLst/>
          </a:prstGeom>
          <a:solidFill>
            <a:srgbClr val="16213E"/>
          </a:solidFill>
          <a:ln w="12700">
            <a:solidFill>
              <a:srgbClr val="283C5F"/>
            </a:solidFill>
            <a:prstDash val="solid"/>
          </a:ln>
        </p:spPr>
        <p:txBody>
          <a:bodyPr/>
          <a:p/>
        </p:txBody>
      </p:sp>
      <p:sp>
        <p:nvSpPr>
          <p:cNvPr id="46" name="Text 44"/>
          <p:cNvSpPr/>
          <p:nvPr/>
        </p:nvSpPr>
        <p:spPr>
          <a:xfrm>
            <a:off x="731520" y="5065776"/>
            <a:ext cx="2880360" cy="228600"/>
          </a:xfrm>
          <a:prstGeom prst="rect">
            <a:avLst/>
          </a:prstGeom>
          <a:noFill/>
          <a:ln/>
        </p:spPr>
        <p:txBody>
          <a:bodyPr wrap="square" lIns="0" tIns="0" rIns="0" bIns="0" rtlCol="0" anchor="ctr"/>
          <a:lstStyle/>
          <a:p>
            <a:pPr indent="0" marL="0">
              <a:buNone/>
            </a:pPr>
            <a:r>
              <a:rPr lang="en-US" sz="950" b="1" dirty="0">
                <a:solidFill>
                  <a:srgbClr val="E2E8F0"/>
                </a:solidFill>
                <a:latin typeface="Arial" pitchFamily="34" charset="0"/>
                <a:ea typeface="Arial" pitchFamily="34" charset="-122"/>
                <a:cs typeface="Arial" pitchFamily="34" charset="-120"/>
              </a:rPr>
              <a:t>VẤN ĐỀ</a:t>
            </a:r>
            <a:endParaRPr lang="en-US" sz="950" dirty="0"/>
          </a:p>
        </p:txBody>
      </p:sp>
      <p:sp>
        <p:nvSpPr>
          <p:cNvPr id="47" name="Text 45"/>
          <p:cNvSpPr/>
          <p:nvPr/>
        </p:nvSpPr>
        <p:spPr>
          <a:xfrm>
            <a:off x="731520" y="532180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Lead EV giảm 10% dù demand tăng 30% — phễu đang rò rỉ</a:t>
            </a:r>
            <a:endParaRPr lang="en-US" sz="1000" dirty="0"/>
          </a:p>
        </p:txBody>
      </p:sp>
      <p:sp>
        <p:nvSpPr>
          <p:cNvPr id="48" name="Text 46"/>
          <p:cNvSpPr/>
          <p:nvPr/>
        </p:nvSpPr>
        <p:spPr>
          <a:xfrm>
            <a:off x="3794760" y="537667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49" name="Shape 47"/>
          <p:cNvSpPr/>
          <p:nvPr/>
        </p:nvSpPr>
        <p:spPr>
          <a:xfrm>
            <a:off x="4361688" y="4937760"/>
            <a:ext cx="3246120" cy="54864"/>
          </a:xfrm>
          <a:prstGeom prst="rect">
            <a:avLst/>
          </a:prstGeom>
          <a:solidFill>
            <a:srgbClr val="E5342E"/>
          </a:solidFill>
          <a:ln/>
        </p:spPr>
        <p:txBody>
          <a:bodyPr/>
          <a:p/>
        </p:txBody>
      </p:sp>
      <p:sp>
        <p:nvSpPr>
          <p:cNvPr id="50" name="Shape 48"/>
          <p:cNvSpPr/>
          <p:nvPr/>
        </p:nvSpPr>
        <p:spPr>
          <a:xfrm>
            <a:off x="4361688" y="4992624"/>
            <a:ext cx="3246120" cy="1225296"/>
          </a:xfrm>
          <a:prstGeom prst="rect">
            <a:avLst/>
          </a:prstGeom>
          <a:solidFill>
            <a:srgbClr val="16213E"/>
          </a:solidFill>
          <a:ln w="12700">
            <a:solidFill>
              <a:srgbClr val="283C5F"/>
            </a:solidFill>
            <a:prstDash val="solid"/>
          </a:ln>
        </p:spPr>
        <p:txBody>
          <a:bodyPr/>
          <a:p/>
        </p:txBody>
      </p:sp>
      <p:sp>
        <p:nvSpPr>
          <p:cNvPr id="51" name="Text 49"/>
          <p:cNvSpPr/>
          <p:nvPr/>
        </p:nvSpPr>
        <p:spPr>
          <a:xfrm>
            <a:off x="4544568" y="5065776"/>
            <a:ext cx="2880360" cy="228600"/>
          </a:xfrm>
          <a:prstGeom prst="rect">
            <a:avLst/>
          </a:prstGeom>
          <a:noFill/>
          <a:ln/>
        </p:spPr>
        <p:txBody>
          <a:bodyPr wrap="square" lIns="0" tIns="0" rIns="0" bIns="0" rtlCol="0" anchor="ctr"/>
          <a:lstStyle/>
          <a:p>
            <a:pPr indent="0" marL="0">
              <a:buNone/>
            </a:pPr>
            <a:r>
              <a:rPr lang="en-US" sz="950" b="1" dirty="0">
                <a:solidFill>
                  <a:srgbClr val="E5342E"/>
                </a:solidFill>
                <a:latin typeface="Arial" pitchFamily="34" charset="0"/>
                <a:ea typeface="Arial" pitchFamily="34" charset="-122"/>
                <a:cs typeface="Arial" pitchFamily="34" charset="-120"/>
              </a:rPr>
              <a:t>RỦI RO NẾU KHÔNG QUYẾT</a:t>
            </a:r>
            <a:endParaRPr lang="en-US" sz="950" dirty="0"/>
          </a:p>
        </p:txBody>
      </p:sp>
      <p:sp>
        <p:nvSpPr>
          <p:cNvPr id="52" name="Text 50"/>
          <p:cNvSpPr/>
          <p:nvPr/>
        </p:nvSpPr>
        <p:spPr>
          <a:xfrm>
            <a:off x="4544568" y="5321808"/>
            <a:ext cx="2880360" cy="777240"/>
          </a:xfrm>
          <a:prstGeom prst="rect">
            <a:avLst/>
          </a:prstGeom>
          <a:noFill/>
          <a:ln/>
        </p:spPr>
        <p:txBody>
          <a:bodyPr wrap="square" lIns="0" tIns="0" rIns="0" bIns="0" rtlCol="0" anchor="t"/>
          <a:lstStyle/>
          <a:p>
            <a:pPr indent="0" marL="0">
              <a:buNone/>
            </a:pPr>
            <a:r>
              <a:rPr lang="en-US" sz="1000" dirty="0">
                <a:solidFill>
                  <a:srgbClr val="6B6B6B"/>
                </a:solidFill>
                <a:latin typeface="Arial" pitchFamily="34" charset="0"/>
                <a:ea typeface="Arial" pitchFamily="34" charset="-122"/>
                <a:cs typeface="Arial" pitchFamily="34" charset="-120"/>
              </a:rPr>
              <a:t>Mất cơ hội mùa cao điểm chuyển đổi nếu chờ thêm 1 tháng</a:t>
            </a:r>
            <a:endParaRPr lang="en-US" sz="1000" dirty="0"/>
          </a:p>
        </p:txBody>
      </p:sp>
      <p:sp>
        <p:nvSpPr>
          <p:cNvPr id="53" name="Text 51"/>
          <p:cNvSpPr/>
          <p:nvPr/>
        </p:nvSpPr>
        <p:spPr>
          <a:xfrm>
            <a:off x="7607808" y="5376672"/>
            <a:ext cx="292608" cy="402336"/>
          </a:xfrm>
          <a:prstGeom prst="rect">
            <a:avLst/>
          </a:prstGeom>
          <a:noFill/>
          <a:ln/>
        </p:spPr>
        <p:txBody>
          <a:bodyPr wrap="square" lIns="0" tIns="0" rIns="0" bIns="0" rtlCol="0" anchor="ctr"/>
          <a:lstStyle/>
          <a:p>
            <a:pPr algn="ctr" indent="0" marL="0">
              <a:buNone/>
            </a:pPr>
            <a:r>
              <a:rPr lang="en-US" sz="2000" b="1" dirty="0">
                <a:solidFill>
                  <a:srgbClr val="E2E8F0"/>
                </a:solidFill>
                <a:latin typeface="Arial" pitchFamily="34" charset="0"/>
                <a:ea typeface="Arial" pitchFamily="34" charset="-122"/>
                <a:cs typeface="Arial" pitchFamily="34" charset="-120"/>
              </a:rPr>
              <a:t>=</a:t>
            </a:r>
            <a:endParaRPr lang="en-US" sz="2000" dirty="0"/>
          </a:p>
        </p:txBody>
      </p:sp>
      <p:sp>
        <p:nvSpPr>
          <p:cNvPr id="54" name="Shape 52"/>
          <p:cNvSpPr/>
          <p:nvPr/>
        </p:nvSpPr>
        <p:spPr>
          <a:xfrm>
            <a:off x="8174736" y="4937760"/>
            <a:ext cx="3246120" cy="54864"/>
          </a:xfrm>
          <a:prstGeom prst="rect">
            <a:avLst/>
          </a:prstGeom>
          <a:solidFill>
            <a:srgbClr val="FF7F32"/>
          </a:solidFill>
          <a:ln/>
        </p:spPr>
        <p:txBody>
          <a:bodyPr/>
          <a:p/>
        </p:txBody>
      </p:sp>
      <p:sp>
        <p:nvSpPr>
          <p:cNvPr id="55" name="Shape 53"/>
          <p:cNvSpPr/>
          <p:nvPr/>
        </p:nvSpPr>
        <p:spPr>
          <a:xfrm>
            <a:off x="8174736" y="4992624"/>
            <a:ext cx="3246120" cy="1225296"/>
          </a:xfrm>
          <a:prstGeom prst="rect">
            <a:avLst/>
          </a:prstGeom>
          <a:solidFill>
            <a:srgbClr val="1E3A8A"/>
          </a:solidFill>
          <a:ln w="12700">
            <a:solidFill>
              <a:srgbClr val="FF7300"/>
            </a:solidFill>
            <a:prstDash val="solid"/>
          </a:ln>
        </p:spPr>
        <p:txBody>
          <a:bodyPr/>
          <a:p/>
        </p:txBody>
      </p:sp>
      <p:sp>
        <p:nvSpPr>
          <p:cNvPr id="56" name="Text 54"/>
          <p:cNvSpPr/>
          <p:nvPr/>
        </p:nvSpPr>
        <p:spPr>
          <a:xfrm>
            <a:off x="8357616" y="5065776"/>
            <a:ext cx="2880360" cy="228600"/>
          </a:xfrm>
          <a:prstGeom prst="rect">
            <a:avLst/>
          </a:prstGeom>
          <a:noFill/>
          <a:ln/>
        </p:spPr>
        <p:txBody>
          <a:bodyPr wrap="square" lIns="0" tIns="0" rIns="0" bIns="0" rtlCol="0" anchor="ctr"/>
          <a:lstStyle/>
          <a:p>
            <a:pPr indent="0" marL="0">
              <a:buNone/>
            </a:pPr>
            <a:r>
              <a:rPr lang="en-US" sz="950" b="1" dirty="0">
                <a:solidFill>
                  <a:srgbClr val="8A8F99"/>
                </a:solidFill>
                <a:latin typeface="Arial" pitchFamily="34" charset="0"/>
                <a:ea typeface="Arial" pitchFamily="34" charset="-122"/>
                <a:cs typeface="Arial" pitchFamily="34" charset="-120"/>
              </a:rPr>
              <a:t>QUYẾT ĐỊNH</a:t>
            </a:r>
            <a:endParaRPr lang="en-US" sz="950" dirty="0"/>
          </a:p>
        </p:txBody>
      </p:sp>
      <p:sp>
        <p:nvSpPr>
          <p:cNvPr id="57" name="Text 55"/>
          <p:cNvSpPr/>
          <p:nvPr/>
        </p:nvSpPr>
        <p:spPr>
          <a:xfrm>
            <a:off x="8357616" y="5321808"/>
            <a:ext cx="2880360" cy="77724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Duyệt ngân sách CTT đua top theo đề xuất S&amp;P trong tuần này</a:t>
            </a:r>
            <a:endParaRPr lang="en-US" sz="1000" dirty="0"/>
          </a:p>
        </p:txBody>
      </p:sp>
      <p:sp>
        <p:nvSpPr>
          <p:cNvPr id="58" name="Shape 56"/>
          <p:cNvSpPr/>
          <p:nvPr/>
        </p:nvSpPr>
        <p:spPr>
          <a:xfrm>
            <a:off x="548640" y="6510528"/>
            <a:ext cx="11091672" cy="0"/>
          </a:xfrm>
          <a:prstGeom prst="line">
            <a:avLst/>
          </a:prstGeom>
          <a:noFill/>
          <a:ln w="15875">
            <a:solidFill>
              <a:srgbClr val="FF7F32"/>
            </a:solidFill>
            <a:prstDash val="solid"/>
          </a:ln>
        </p:spPr>
        <p:txBody>
          <a:bodyPr/>
          <a:p/>
        </p:txBody>
      </p:sp>
      <p:sp>
        <p:nvSpPr>
          <p:cNvPr id="59" name="Text 57"/>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60" name="Text 58"/>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C"/>
        </a:solidFill>
      </p:bgPr>
    </p:bg>
    <p:spTree>
      <p:nvGrpSpPr>
        <p:cNvPr id="1" name=""/>
        <p:cNvGrpSpPr/>
        <p:nvPr/>
      </p:nvGrpSpPr>
      <p:grpSpPr>
        <a:xfrm>
          <a:off x="0" y="0"/>
          <a:ext cx="0" cy="0"/>
          <a:chOff x="0" y="0"/>
          <a:chExt cx="0" cy="0"/>
        </a:xfrm>
      </p:grpSpPr>
      <p:sp>
        <p:nvSpPr>
          <p:cNvPr id="2" name="Text 0"/>
          <p:cNvSpPr/>
          <p:nvPr/>
        </p:nvSpPr>
        <p:spPr>
          <a:xfrm>
            <a:off x="548640" y="128016"/>
            <a:ext cx="7315200" cy="219456"/>
          </a:xfrm>
          <a:prstGeom prst="rect">
            <a:avLst/>
          </a:prstGeom>
          <a:noFill/>
          <a:ln/>
        </p:spPr>
        <p:txBody>
          <a:bodyPr wrap="square" lIns="0" tIns="0" rIns="0" bIns="0" rtlCol="0" anchor="ctr"/>
          <a:lstStyle/>
          <a:p>
            <a:pPr indent="0" marL="0">
              <a:buNone/>
            </a:pPr>
            <a:r>
              <a:rPr lang="en-US" sz="950" b="1" dirty="0">
                <a:solidFill>
                  <a:srgbClr val="D9631A"/>
                </a:solidFill>
                <a:latin typeface="Arial" pitchFamily="34" charset="0"/>
                <a:ea typeface="Arial" pitchFamily="34" charset="-122"/>
                <a:cs typeface="Arial" pitchFamily="34" charset="-120"/>
              </a:rPr>
              <a:t>TỔNG KẾT · BOOKEND</a:t>
            </a:r>
            <a:endParaRPr lang="en-US" sz="950" dirty="0"/>
          </a:p>
        </p:txBody>
      </p:sp>
      <p:sp>
        <p:nvSpPr>
          <p:cNvPr id="3" name="Text 1"/>
          <p:cNvSpPr/>
          <p:nvPr/>
        </p:nvSpPr>
        <p:spPr>
          <a:xfrm>
            <a:off x="7772400" y="128016"/>
            <a:ext cx="3867912" cy="219456"/>
          </a:xfrm>
          <a:prstGeom prst="rect">
            <a:avLst/>
          </a:prstGeom>
          <a:noFill/>
          <a:ln/>
        </p:spPr>
        <p:txBody>
          <a:bodyPr wrap="square" lIns="0" tIns="0" rIns="0" bIns="0" rtlCol="0" anchor="ctr"/>
          <a:lstStyle/>
          <a:p>
            <a:pPr algn="r" indent="0" marL="0">
              <a:buNone/>
            </a:pPr>
            <a:r>
              <a:rPr lang="en-US" sz="900" i="1" dirty="0">
                <a:solidFill>
                  <a:srgbClr val="6B6B6B"/>
                </a:solidFill>
                <a:latin typeface="Arial" pitchFamily="34" charset="0"/>
                <a:ea typeface="Arial" pitchFamily="34" charset="-122"/>
                <a:cs typeface="Arial" pitchFamily="34" charset="-120"/>
              </a:rPr>
              <a:t>Ahamove  ·  Driver Management  ·  Báo cáo T7</a:t>
            </a:r>
            <a:endParaRPr lang="en-US" sz="900" dirty="0"/>
          </a:p>
        </p:txBody>
      </p:sp>
      <p:sp>
        <p:nvSpPr>
          <p:cNvPr id="4" name="Text 2"/>
          <p:cNvSpPr/>
          <p:nvPr/>
        </p:nvSpPr>
        <p:spPr>
          <a:xfrm>
            <a:off x="548640" y="384048"/>
            <a:ext cx="11091672" cy="594360"/>
          </a:xfrm>
          <a:prstGeom prst="rect">
            <a:avLst/>
          </a:prstGeom>
          <a:noFill/>
          <a:ln/>
        </p:spPr>
        <p:txBody>
          <a:bodyPr wrap="square" lIns="0" tIns="0" rIns="0" bIns="0" rtlCol="0" anchor="ctr"/>
          <a:lstStyle/>
          <a:p>
            <a:pPr indent="0" marL="0">
              <a:buNone/>
            </a:pPr>
            <a:r>
              <a:rPr lang="en-US" sz="2400" b="1" dirty="0">
                <a:solidFill>
                  <a:srgbClr val="E2E8F0"/>
                </a:solidFill>
                <a:latin typeface="Arial" pitchFamily="34" charset="0"/>
                <a:ea typeface="Arial" pitchFamily="34" charset="-122"/>
                <a:cs typeface="Arial" pitchFamily="34" charset="-120"/>
              </a:rPr>
              <a:t>Tổng kết — quay lại 3 câu hỏi đầu báo cáo</a:t>
            </a:r>
            <a:endParaRPr lang="en-US" sz="2400" dirty="0"/>
          </a:p>
        </p:txBody>
      </p:sp>
      <p:sp>
        <p:nvSpPr>
          <p:cNvPr id="5" name="Shape 3"/>
          <p:cNvSpPr/>
          <p:nvPr/>
        </p:nvSpPr>
        <p:spPr>
          <a:xfrm>
            <a:off x="548640" y="1005840"/>
            <a:ext cx="1005840" cy="36576"/>
          </a:xfrm>
          <a:prstGeom prst="rect">
            <a:avLst/>
          </a:prstGeom>
          <a:solidFill>
            <a:srgbClr val="FF7F32"/>
          </a:solidFill>
          <a:ln/>
        </p:spPr>
        <p:txBody>
          <a:bodyPr/>
          <a:p/>
        </p:txBody>
      </p:sp>
      <p:sp>
        <p:nvSpPr>
          <p:cNvPr id="6" name="Shape 4"/>
          <p:cNvSpPr/>
          <p:nvPr/>
        </p:nvSpPr>
        <p:spPr>
          <a:xfrm>
            <a:off x="548640" y="1609344"/>
            <a:ext cx="292608" cy="292608"/>
          </a:xfrm>
          <a:prstGeom prst="ellipse">
            <a:avLst/>
          </a:prstGeom>
          <a:solidFill>
            <a:srgbClr val="1E3A8A"/>
          </a:solidFill>
          <a:ln w="12700">
            <a:solidFill>
              <a:srgbClr val="FF7300"/>
            </a:solidFill>
          </a:ln>
        </p:spPr>
        <p:txBody>
          <a:bodyPr/>
          <a:p/>
        </p:txBody>
      </p:sp>
      <p:sp>
        <p:nvSpPr>
          <p:cNvPr id="7" name="Text 5"/>
          <p:cNvSpPr/>
          <p:nvPr/>
        </p:nvSpPr>
        <p:spPr>
          <a:xfrm>
            <a:off x="548640" y="16093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51560" y="1600200"/>
            <a:ext cx="10607040" cy="320040"/>
          </a:xfrm>
          <a:prstGeom prst="rect">
            <a:avLst/>
          </a:prstGeom>
          <a:noFill/>
          <a:ln/>
        </p:spPr>
        <p:txBody>
          <a:bodyPr wrap="square" lIns="0" tIns="0" rIns="0" bIns="0" rtlCol="0" anchor="ctr"/>
          <a:lstStyle/>
          <a:p>
            <a:pPr indent="0" marL="0">
              <a:buNone/>
            </a:pPr>
            <a:r>
              <a:rPr lang="en-US" sz="1250" b="1" dirty="0">
                <a:solidFill>
                  <a:srgbClr val="E2E8F0"/>
                </a:solidFill>
                <a:latin typeface="Arial" pitchFamily="34" charset="0"/>
                <a:ea typeface="Arial" pitchFamily="34" charset="-122"/>
                <a:cs typeface="Arial" pitchFamily="34" charset="-120"/>
              </a:rPr>
              <a:t>1. Vì sao FT active HAN giảm dù retention cải thiện?</a:t>
            </a:r>
            <a:endParaRPr lang="en-US" sz="1250" dirty="0"/>
          </a:p>
        </p:txBody>
      </p:sp>
      <p:sp>
        <p:nvSpPr>
          <p:cNvPr id="9" name="Text 7"/>
          <p:cNvSpPr/>
          <p:nvPr/>
        </p:nvSpPr>
        <p:spPr>
          <a:xfrm>
            <a:off x="1051560" y="1929384"/>
            <a:ext cx="10607040" cy="4572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Vấn đề nằm ở chất lượng nguồn tuyển, không phải chương trình giữ chân — cần điều tra nguyên nhân tuyển dụng trong tháng 8.</a:t>
            </a:r>
            <a:endParaRPr lang="en-US" sz="1100" dirty="0"/>
          </a:p>
        </p:txBody>
      </p:sp>
      <p:sp>
        <p:nvSpPr>
          <p:cNvPr id="10" name="Shape 8"/>
          <p:cNvSpPr/>
          <p:nvPr/>
        </p:nvSpPr>
        <p:spPr>
          <a:xfrm>
            <a:off x="548640" y="2523744"/>
            <a:ext cx="292608" cy="292608"/>
          </a:xfrm>
          <a:prstGeom prst="ellipse">
            <a:avLst/>
          </a:prstGeom>
          <a:solidFill>
            <a:srgbClr val="1E3A8A"/>
          </a:solidFill>
          <a:ln w="12700">
            <a:solidFill>
              <a:srgbClr val="FF7300"/>
            </a:solidFill>
          </a:ln>
        </p:spPr>
        <p:txBody>
          <a:bodyPr/>
          <a:p/>
        </p:txBody>
      </p:sp>
      <p:sp>
        <p:nvSpPr>
          <p:cNvPr id="11" name="Text 9"/>
          <p:cNvSpPr/>
          <p:nvPr/>
        </p:nvSpPr>
        <p:spPr>
          <a:xfrm>
            <a:off x="548640" y="25237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51560" y="2514600"/>
            <a:ext cx="10607040" cy="320040"/>
          </a:xfrm>
          <a:prstGeom prst="rect">
            <a:avLst/>
          </a:prstGeom>
          <a:noFill/>
          <a:ln/>
        </p:spPr>
        <p:txBody>
          <a:bodyPr wrap="square" lIns="0" tIns="0" rIns="0" bIns="0" rtlCol="0" anchor="ctr"/>
          <a:lstStyle/>
          <a:p>
            <a:pPr indent="0" marL="0">
              <a:buNone/>
            </a:pPr>
            <a:r>
              <a:rPr lang="en-US" sz="1250" b="1" dirty="0">
                <a:solidFill>
                  <a:srgbClr val="E2E8F0"/>
                </a:solidFill>
                <a:latin typeface="Arial" pitchFamily="34" charset="0"/>
                <a:ea typeface="Arial" pitchFamily="34" charset="-122"/>
                <a:cs typeface="Arial" pitchFamily="34" charset="-120"/>
              </a:rPr>
              <a:t>2. MiniHub có đáng scale tiếp không?</a:t>
            </a:r>
            <a:endParaRPr lang="en-US" sz="1250" dirty="0"/>
          </a:p>
        </p:txBody>
      </p:sp>
      <p:sp>
        <p:nvSpPr>
          <p:cNvPr id="13" name="Text 11"/>
          <p:cNvSpPr/>
          <p:nvPr/>
        </p:nvSpPr>
        <p:spPr>
          <a:xfrm>
            <a:off x="1051560" y="2843784"/>
            <a:ext cx="10607040" cy="4572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Chưa đủ dữ liệu để kết luận — quyết định go/no-go sẽ chốt sau khi có đánh giá PnL trước 15/8.</a:t>
            </a:r>
            <a:endParaRPr lang="en-US" sz="1100" dirty="0"/>
          </a:p>
        </p:txBody>
      </p:sp>
      <p:sp>
        <p:nvSpPr>
          <p:cNvPr id="14" name="Shape 12"/>
          <p:cNvSpPr/>
          <p:nvPr/>
        </p:nvSpPr>
        <p:spPr>
          <a:xfrm>
            <a:off x="548640" y="3438144"/>
            <a:ext cx="292608" cy="292608"/>
          </a:xfrm>
          <a:prstGeom prst="ellipse">
            <a:avLst/>
          </a:prstGeom>
          <a:solidFill>
            <a:srgbClr val="1E3A8A"/>
          </a:solidFill>
          <a:ln w="12700">
            <a:solidFill>
              <a:srgbClr val="FF7300"/>
            </a:solidFill>
          </a:ln>
        </p:spPr>
        <p:txBody>
          <a:bodyPr/>
          <a:p/>
        </p:txBody>
      </p:sp>
      <p:sp>
        <p:nvSpPr>
          <p:cNvPr id="15" name="Text 13"/>
          <p:cNvSpPr/>
          <p:nvPr/>
        </p:nvSpPr>
        <p:spPr>
          <a:xfrm>
            <a:off x="548640"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51560" y="3429000"/>
            <a:ext cx="10607040" cy="320040"/>
          </a:xfrm>
          <a:prstGeom prst="rect">
            <a:avLst/>
          </a:prstGeom>
          <a:noFill/>
          <a:ln/>
        </p:spPr>
        <p:txBody>
          <a:bodyPr wrap="square" lIns="0" tIns="0" rIns="0" bIns="0" rtlCol="0" anchor="ctr"/>
          <a:lstStyle/>
          <a:p>
            <a:pPr indent="0" marL="0">
              <a:buNone/>
            </a:pPr>
            <a:r>
              <a:rPr lang="en-US" sz="1250" b="1" dirty="0">
                <a:solidFill>
                  <a:srgbClr val="E2E8F0"/>
                </a:solidFill>
                <a:latin typeface="Arial" pitchFamily="34" charset="0"/>
                <a:ea typeface="Arial" pitchFamily="34" charset="-122"/>
                <a:cs typeface="Arial" pitchFamily="34" charset="-120"/>
              </a:rPr>
              <a:t>3. Ngân sách EV tháng 8 nên ưu tiên gì?</a:t>
            </a:r>
            <a:endParaRPr lang="en-US" sz="1250" dirty="0"/>
          </a:p>
        </p:txBody>
      </p:sp>
      <p:sp>
        <p:nvSpPr>
          <p:cNvPr id="17" name="Text 15"/>
          <p:cNvSpPr/>
          <p:nvPr/>
        </p:nvSpPr>
        <p:spPr>
          <a:xfrm>
            <a:off x="1051560" y="3758184"/>
            <a:ext cx="10607040" cy="45720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Đề xuất duyệt ngân sách CTT đua top thuê xe theo đề xuất S&amp;P ngay trong tuần này.</a:t>
            </a:r>
            <a:endParaRPr lang="en-US" sz="1100" dirty="0"/>
          </a:p>
        </p:txBody>
      </p:sp>
      <p:sp>
        <p:nvSpPr>
          <p:cNvPr id="18" name="Shape 16"/>
          <p:cNvSpPr/>
          <p:nvPr/>
        </p:nvSpPr>
        <p:spPr>
          <a:xfrm>
            <a:off x="548640" y="4480560"/>
            <a:ext cx="11091672" cy="54864"/>
          </a:xfrm>
          <a:prstGeom prst="rect">
            <a:avLst/>
          </a:prstGeom>
          <a:solidFill>
            <a:srgbClr val="FF7F32"/>
          </a:solidFill>
          <a:ln/>
        </p:spPr>
        <p:txBody>
          <a:bodyPr/>
          <a:p/>
        </p:txBody>
      </p:sp>
      <p:sp>
        <p:nvSpPr>
          <p:cNvPr id="19" name="Shape 17"/>
          <p:cNvSpPr/>
          <p:nvPr/>
        </p:nvSpPr>
        <p:spPr>
          <a:xfrm>
            <a:off x="548640" y="4535424"/>
            <a:ext cx="11091672" cy="950976"/>
          </a:xfrm>
          <a:prstGeom prst="rect">
            <a:avLst/>
          </a:prstGeom>
          <a:solidFill>
            <a:srgbClr val="1E3A8A"/>
          </a:solidFill>
          <a:ln w="12700">
            <a:solidFill>
              <a:srgbClr val="FF7300"/>
            </a:solidFill>
            <a:prstDash val="solid"/>
          </a:ln>
        </p:spPr>
        <p:txBody>
          <a:bodyPr/>
          <a:p/>
        </p:txBody>
      </p:sp>
      <p:sp>
        <p:nvSpPr>
          <p:cNvPr id="20" name="Text 18"/>
          <p:cNvSpPr/>
          <p:nvPr/>
        </p:nvSpPr>
        <p:spPr>
          <a:xfrm>
            <a:off x="777240" y="4480560"/>
            <a:ext cx="1060704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Tháng 8: đẩy tốc độ scale mà không đánh đổi chất lượng vận hành.</a:t>
            </a:r>
            <a:endParaRPr lang="en-US" sz="1600" dirty="0"/>
          </a:p>
        </p:txBody>
      </p:sp>
      <p:sp>
        <p:nvSpPr>
          <p:cNvPr id="21" name="Shape 19"/>
          <p:cNvSpPr/>
          <p:nvPr/>
        </p:nvSpPr>
        <p:spPr>
          <a:xfrm>
            <a:off x="548640" y="6510528"/>
            <a:ext cx="11091672" cy="0"/>
          </a:xfrm>
          <a:prstGeom prst="line">
            <a:avLst/>
          </a:prstGeom>
          <a:noFill/>
          <a:ln w="15875">
            <a:solidFill>
              <a:srgbClr val="FF7F32"/>
            </a:solidFill>
            <a:prstDash val="solid"/>
          </a:ln>
        </p:spPr>
        <p:txBody>
          <a:bodyPr/>
          <a:p/>
        </p:txBody>
      </p:sp>
      <p:sp>
        <p:nvSpPr>
          <p:cNvPr id="22" name="Text 20"/>
          <p:cNvSpPr/>
          <p:nvPr/>
        </p:nvSpPr>
        <p:spPr>
          <a:xfrm>
            <a:off x="548640" y="6565392"/>
            <a:ext cx="7315200" cy="256032"/>
          </a:xfrm>
          <a:prstGeom prst="rect">
            <a:avLst/>
          </a:prstGeom>
          <a:noFill/>
          <a:ln/>
        </p:spPr>
        <p:txBody>
          <a:bodyPr wrap="square" lIns="0" tIns="0" rIns="0" bIns="0" rtlCol="0" anchor="ctr"/>
          <a:lstStyle/>
          <a:p>
            <a:pPr indent="0" marL="0">
              <a:buNone/>
            </a:pPr>
            <a:r>
              <a:rPr lang="en-US" sz="850" dirty="0">
                <a:solidFill>
                  <a:srgbClr val="6B6B6B"/>
                </a:solidFill>
                <a:latin typeface="Arial" pitchFamily="34" charset="0"/>
                <a:ea typeface="Arial" pitchFamily="34" charset="-122"/>
                <a:cs typeface="Arial" pitchFamily="34" charset="-120"/>
              </a:rPr>
              <a:t>DM Monthly Report — Tháng 7/2026</a:t>
            </a:r>
            <a:endParaRPr lang="en-US" sz="850" dirty="0"/>
          </a:p>
        </p:txBody>
      </p:sp>
      <p:sp>
        <p:nvSpPr>
          <p:cNvPr id="23" name="Text 21"/>
          <p:cNvSpPr/>
          <p:nvPr/>
        </p:nvSpPr>
        <p:spPr>
          <a:xfrm>
            <a:off x="11155680" y="6565392"/>
            <a:ext cx="484632" cy="256032"/>
          </a:xfrm>
          <a:prstGeom prst="rect">
            <a:avLst/>
          </a:prstGeom>
          <a:noFill/>
          <a:ln/>
        </p:spPr>
        <p:txBody>
          <a:bodyPr wrap="square" lIns="0" tIns="0" rIns="0" bIns="0" rtlCol="0" anchor="ctr"/>
          <a:lstStyle/>
          <a:p>
            <a:pPr algn="r" indent="0" marL="0">
              <a:buNone/>
            </a:pPr>
            <a:r>
              <a:rPr lang="en-US" sz="850" dirty="0">
                <a:solidFill>
                  <a:srgbClr val="6B6B6B"/>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2026-08-04T07:19:34Z</dcterms:created>
  <dcterms:modified xsi:type="dcterms:W3CDTF">2026-08-04T07:19:34Z</dcterms:modified>
</cp:coreProperties>
</file>