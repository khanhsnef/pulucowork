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oundRect">
            <a:avLst>
              <a:gd name="adj" fmla="val 3000"/>
            </a:avLst>
          </a:prstGeom>
          <a:solidFill>
            <a:srgbClr val="FF7F32"/>
          </a:solidFill>
          <a:ln/>
        </p:spPr>
        <p:txBody>
          <a:bodyPr/>
          <a:p>
            <a:pPr>
              <a:defRPr>
                <a:latin typeface="Helvetica Neue"/>
              </a:defRPr>
            </a:pPr>
          </a:p>
        </p:txBody>
      </p:sp>
      <p:sp>
        <p:nvSpPr>
          <p:cNvPr id="3" name="Shape 1"/>
          <p:cNvSpPr/>
          <p:nvPr/>
        </p:nvSpPr>
        <p:spPr>
          <a:xfrm>
            <a:off x="8503920" y="502920"/>
            <a:ext cx="2377440" cy="2377440"/>
          </a:xfrm>
          <a:prstGeom prst="roundRect">
            <a:avLst>
              <a:gd name="adj" fmla="val 3000"/>
            </a:avLst>
          </a:prstGeom>
          <a:solidFill>
            <a:srgbClr val="FF7F32">
              <a:alpha val="15000"/>
            </a:srgbClr>
          </a:solidFill>
          <a:ln/>
        </p:spPr>
        <p:txBody>
          <a:bodyPr/>
          <a:p>
            <a:pPr>
              <a:defRPr b="1">
                <a:latin typeface="Helvetica Neue"/>
              </a:defRPr>
            </a:pPr>
          </a:p>
        </p:txBody>
      </p:sp>
      <p:sp>
        <p:nvSpPr>
          <p:cNvPr id="4" name="Shape 2"/>
          <p:cNvSpPr/>
          <p:nvPr/>
        </p:nvSpPr>
        <p:spPr>
          <a:xfrm>
            <a:off x="9509760" y="1051560"/>
            <a:ext cx="1554480" cy="1554480"/>
          </a:xfrm>
          <a:prstGeom prst="roundRect">
            <a:avLst>
              <a:gd name="adj" fmla="val 3000"/>
            </a:avLst>
          </a:prstGeom>
          <a:solidFill>
            <a:srgbClr val="FF7F32">
              <a:alpha val="40000"/>
            </a:srgbClr>
          </a:solidFill>
          <a:ln/>
        </p:spPr>
        <p:txBody>
          <a:bodyPr/>
          <a:p>
            <a:pPr>
              <a:defRPr>
                <a:latin typeface="Helvetica Neue"/>
              </a:defRPr>
            </a:pPr>
          </a:p>
        </p:txBody>
      </p:sp>
      <p:sp>
        <p:nvSpPr>
          <p:cNvPr id="5" name="Shape 3"/>
          <p:cNvSpPr/>
          <p:nvPr/>
        </p:nvSpPr>
        <p:spPr>
          <a:xfrm>
            <a:off x="9966960" y="2286000"/>
            <a:ext cx="1463040" cy="548640"/>
          </a:xfrm>
          <a:prstGeom prst="roundRect">
            <a:avLst>
              <a:gd name="adj" fmla="val 3000"/>
            </a:avLst>
          </a:prstGeom>
          <a:solidFill>
            <a:srgbClr val="FF7F32">
              <a:alpha val="70000"/>
            </a:srgbClr>
          </a:solidFill>
          <a:ln/>
        </p:spPr>
        <p:txBody>
          <a:bodyPr/>
          <a:p>
            <a:pPr>
              <a:defRPr>
                <a:latin typeface="Helvetica Neue"/>
              </a:defRPr>
            </a:pPr>
          </a:p>
        </p:txBody>
      </p:sp>
      <p:sp>
        <p:nvSpPr>
          <p:cNvPr id="6" name="Shape 4"/>
          <p:cNvSpPr/>
          <p:nvPr/>
        </p:nvSpPr>
        <p:spPr>
          <a:xfrm>
            <a:off x="10698480" y="685800"/>
            <a:ext cx="822960" cy="822960"/>
          </a:xfrm>
          <a:prstGeom prst="roundRect">
            <a:avLst>
              <a:gd name="adj" fmla="val 3000"/>
            </a:avLst>
          </a:prstGeom>
          <a:solidFill>
            <a:srgbClr val="FF7F32"/>
          </a:solidFill>
          <a:ln/>
        </p:spPr>
        <p:txBody>
          <a:bodyPr/>
          <a:p>
            <a:pPr>
              <a:defRPr b="1">
                <a:latin typeface="Helvetica Neue"/>
              </a:defRPr>
            </a:pPr>
          </a:p>
        </p:txBody>
      </p:sp>
      <p:sp>
        <p:nvSpPr>
          <p:cNvPr id="7" name="Text 5"/>
          <p:cNvSpPr/>
          <p:nvPr/>
        </p:nvSpPr>
        <p:spPr>
          <a:xfrm>
            <a:off x="731520" y="2103120"/>
            <a:ext cx="10725912" cy="914400"/>
          </a:xfrm>
          <a:prstGeom prst="roundRect">
            <a:avLst>
              <a:gd name="adj" fmla="val 3000"/>
            </a:avLst>
          </a:prstGeom>
          <a:noFill/>
          <a:ln/>
        </p:spPr>
        <p:txBody>
          <a:bodyPr wrap="square" lIns="0" tIns="0" rIns="0" bIns="0" rtlCol="0" anchor="ctr"/>
          <a:lstStyle/>
          <a:p>
            <a:pPr indent="0" marL="0">
              <a:buNone/>
              <a:defRPr>
                <a:latin typeface="Helvetica Neue"/>
              </a:defRPr>
            </a:pPr>
            <a:r>
              <a:rPr lang="en-US" sz="4000" b="1" dirty="0">
                <a:solidFill>
                  <a:srgbClr val="334155"/>
                </a:solidFill>
                <a:latin typeface="Helvetica Neue" pitchFamily="34" charset="0"/>
                <a:ea typeface="Arial" pitchFamily="34" charset="-122"/>
                <a:cs typeface="Arial" pitchFamily="34" charset="-120"/>
              </a:rPr>
              <a:t>BÁO CÁO THÁNG 7 / 2026</a:t>
            </a:r>
            <a:endParaRPr lang="en-US" sz="4000" dirty="0"/>
          </a:p>
        </p:txBody>
      </p:sp>
      <p:sp>
        <p:nvSpPr>
          <p:cNvPr id="8" name="Text 6"/>
          <p:cNvSpPr/>
          <p:nvPr/>
        </p:nvSpPr>
        <p:spPr>
          <a:xfrm>
            <a:off x="731520" y="2971800"/>
            <a:ext cx="10725912" cy="457200"/>
          </a:xfrm>
          <a:prstGeom prst="roundRect">
            <a:avLst>
              <a:gd name="adj" fmla="val 3000"/>
            </a:avLst>
          </a:prstGeom>
          <a:noFill/>
          <a:ln/>
        </p:spPr>
        <p:txBody>
          <a:bodyPr wrap="square" lIns="0" tIns="0" rIns="0" bIns="0" rtlCol="0" anchor="ctr"/>
          <a:lstStyle/>
          <a:p>
            <a:pPr indent="0" marL="0">
              <a:buNone/>
              <a:defRPr>
                <a:latin typeface="Helvetica Neue"/>
              </a:defRPr>
            </a:pPr>
            <a:r>
              <a:rPr lang="en-US" sz="1700" dirty="0">
                <a:solidFill>
                  <a:srgbClr val="334155"/>
                </a:solidFill>
                <a:latin typeface="Helvetica Neue" pitchFamily="34" charset="0"/>
                <a:ea typeface="Arial" pitchFamily="34" charset="-122"/>
                <a:cs typeface="Arial" pitchFamily="34" charset="-120"/>
              </a:rPr>
              <a:t>Driver Management  |  Khu vực: SGN &amp; HAN</a:t>
            </a:r>
            <a:endParaRPr lang="en-US" sz="1700" dirty="0"/>
          </a:p>
        </p:txBody>
      </p:sp>
      <p:sp>
        <p:nvSpPr>
          <p:cNvPr id="9" name="Shape 7"/>
          <p:cNvSpPr/>
          <p:nvPr/>
        </p:nvSpPr>
        <p:spPr>
          <a:xfrm>
            <a:off x="731520" y="3520440"/>
            <a:ext cx="1005840" cy="45720"/>
          </a:xfrm>
          <a:prstGeom prst="roundRect">
            <a:avLst>
              <a:gd name="adj" fmla="val 3000"/>
            </a:avLst>
          </a:prstGeom>
          <a:solidFill>
            <a:srgbClr val="FF7F32"/>
          </a:solidFill>
          <a:ln/>
        </p:spPr>
        <p:txBody>
          <a:bodyPr/>
          <a:p>
            <a:pPr>
              <a:defRPr>
                <a:latin typeface="Helvetica Neue"/>
              </a:defRPr>
            </a:pPr>
          </a:p>
        </p:txBody>
      </p:sp>
      <p:sp>
        <p:nvSpPr>
          <p:cNvPr id="10" name="Text 8"/>
          <p:cNvSpPr/>
          <p:nvPr/>
        </p:nvSpPr>
        <p:spPr>
          <a:xfrm>
            <a:off x="731520" y="3703320"/>
            <a:ext cx="9875520" cy="457200"/>
          </a:xfrm>
          <a:prstGeom prst="roundRect">
            <a:avLst>
              <a:gd name="adj" fmla="val 3000"/>
            </a:avLst>
          </a:prstGeom>
          <a:noFill/>
          <a:ln/>
        </p:spPr>
        <p:txBody>
          <a:bodyPr wrap="square" lIns="0" tIns="0" rIns="0" bIns="0" rtlCol="0" anchor="ctr"/>
          <a:lstStyle/>
          <a:p>
            <a:pPr indent="0" marL="0">
              <a:buNone/>
              <a:defRPr>
                <a:latin typeface="Helvetica Neue"/>
              </a:defRPr>
            </a:pPr>
            <a:r>
              <a:rPr lang="en-US" sz="1200" dirty="0">
                <a:solidFill>
                  <a:srgbClr val="8A8F99"/>
                </a:solidFill>
                <a:latin typeface="Helvetica Neue" pitchFamily="34" charset="0"/>
                <a:ea typeface="Arial" pitchFamily="34" charset="-122"/>
                <a:cs typeface="Arial" pitchFamily="34" charset="-120"/>
              </a:rPr>
              <a:t>Core deck — theme màu Ahamove, thiết kế tối giản: card viền mỏng, tiêu đề nhận định, icon minh hoạ</a:t>
            </a:r>
            <a:endParaRPr lang="en-US" sz="1200" dirty="0"/>
          </a:p>
        </p:txBody>
      </p:sp>
      <p:sp>
        <p:nvSpPr>
          <p:cNvPr id="11" name="Text 9"/>
          <p:cNvSpPr/>
          <p:nvPr/>
        </p:nvSpPr>
        <p:spPr>
          <a:xfrm>
            <a:off x="731520" y="4343400"/>
            <a:ext cx="7772400" cy="1280160"/>
          </a:xfrm>
          <a:prstGeom prst="roundRect">
            <a:avLst>
              <a:gd name="adj" fmla="val 3000"/>
            </a:avLst>
          </a:prstGeom>
          <a:noFill/>
          <a:ln/>
        </p:spPr>
        <p:txBody>
          <a:bodyPr wrap="square" lIns="0" tIns="0" rIns="0" bIns="0" rtlCol="0" anchor="t"/>
          <a:lstStyle/>
          <a:p>
            <a:pPr indent="0" marL="0">
              <a:buNone/>
              <a:defRPr>
                <a:latin typeface="Helvetica Neue"/>
              </a:defRPr>
            </a:pPr>
            <a:r>
              <a:rPr lang="en-US" sz="1100" dirty="0">
                <a:solidFill>
                  <a:srgbClr val="8A8F99"/>
                </a:solidFill>
                <a:latin typeface="Helvetica Neue" pitchFamily="34" charset="0"/>
                <a:ea typeface="Arial" pitchFamily="34" charset="-122"/>
                <a:cs typeface="Arial" pitchFamily="34" charset="-120"/>
              </a:rPr>
              <a:t>3 câu hỏi sẽ được trả lời trong báo cáo này:</a:t>
            </a:r>
            <a:endParaRPr lang="en-US" sz="1100" dirty="0"/>
          </a:p>
          <a:p>
            <a:pPr indent="0" marL="0">
              <a:buNone/>
              <a:defRPr>
                <a:latin typeface="Helvetica Neue"/>
              </a:defRPr>
            </a:pPr>
            <a:r>
              <a:rPr lang="en-US" sz="1100" dirty="0">
                <a:solidFill>
                  <a:srgbClr val="8A8F99"/>
                </a:solidFill>
                <a:latin typeface="Helvetica Neue" pitchFamily="34" charset="0"/>
                <a:ea typeface="Arial" pitchFamily="34" charset="-122"/>
                <a:cs typeface="Arial" pitchFamily="34" charset="-120"/>
              </a:rPr>
              <a:t>1. Vì sao FT active HAN giảm dù retention cải thiện?</a:t>
            </a:r>
            <a:endParaRPr lang="en-US" sz="1100" dirty="0"/>
          </a:p>
          <a:p>
            <a:pPr indent="0" marL="0">
              <a:buNone/>
              <a:defRPr>
                <a:latin typeface="Helvetica Neue"/>
              </a:defRPr>
            </a:pPr>
            <a:r>
              <a:rPr lang="en-US" sz="1100" dirty="0">
                <a:solidFill>
                  <a:srgbClr val="8A8F99"/>
                </a:solidFill>
                <a:latin typeface="Helvetica Neue" pitchFamily="34" charset="0"/>
                <a:ea typeface="Arial" pitchFamily="34" charset="-122"/>
                <a:cs typeface="Arial" pitchFamily="34" charset="-120"/>
              </a:rPr>
              <a:t>2. MiniHub có đáng scale tiếp không?</a:t>
            </a:r>
            <a:endParaRPr lang="en-US" sz="1100" dirty="0"/>
          </a:p>
          <a:p>
            <a:pPr indent="0" marL="0">
              <a:buNone/>
              <a:defRPr>
                <a:latin typeface="Helvetica Neue"/>
              </a:defRPr>
            </a:pPr>
            <a:r>
              <a:rPr lang="en-US" sz="1100" dirty="0">
                <a:solidFill>
                  <a:srgbClr val="8A8F99"/>
                </a:solidFill>
                <a:latin typeface="Helvetica Neue" pitchFamily="34" charset="0"/>
                <a:ea typeface="Arial" pitchFamily="34" charset="-122"/>
                <a:cs typeface="Arial" pitchFamily="34" charset="-120"/>
              </a:rPr>
              <a:t>3. Ngân sách EV tháng 8 nên ưu tiên gì?</a:t>
            </a:r>
            <a:endParaRPr lang="en-US" sz="1100" dirty="0"/>
          </a:p>
        </p:txBody>
      </p:sp>
      <p:sp>
        <p:nvSpPr>
          <p:cNvPr id="12" name="Text 10"/>
          <p:cNvSpPr/>
          <p:nvPr/>
        </p:nvSpPr>
        <p:spPr>
          <a:xfrm>
            <a:off x="731520" y="6263640"/>
            <a:ext cx="7315200" cy="365760"/>
          </a:xfrm>
          <a:prstGeom prst="roundRect">
            <a:avLst>
              <a:gd name="adj" fmla="val 3000"/>
            </a:avLst>
          </a:prstGeom>
          <a:noFill/>
          <a:ln/>
        </p:spPr>
        <p:txBody>
          <a:bodyPr wrap="square" lIns="0" tIns="0" rIns="0" bIns="0" rtlCol="0" anchor="ctr"/>
          <a:lstStyle/>
          <a:p>
            <a:pPr indent="0" marL="0">
              <a:buNone/>
              <a:defRPr>
                <a:latin typeface="Helvetica Neue"/>
              </a:defRPr>
            </a:pPr>
            <a:r>
              <a:rPr lang="en-US" sz="1100" dirty="0">
                <a:solidFill>
                  <a:srgbClr val="8A8F99"/>
                </a:solidFill>
                <a:latin typeface="Helvetica Neue" pitchFamily="34" charset="0"/>
                <a:ea typeface="Arial" pitchFamily="34" charset="-122"/>
                <a:cs typeface="Arial" pitchFamily="34" charset="-120"/>
              </a:rPr>
              <a:t>Chủ trì report: Trang + Khanh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950" b="1" dirty="0">
                <a:solidFill>
                  <a:srgbClr val="FF6600"/>
                </a:solidFill>
                <a:latin typeface="Helvetica Neue" pitchFamily="34" charset="0"/>
                <a:ea typeface="Arial" pitchFamily="34" charset="-122"/>
                <a:cs typeface="Arial" pitchFamily="34" charset="-120"/>
              </a:rPr>
              <a:t>TỔNG KẾT THÁNG 7 · 3 CÂU HỎI MỞ</a:t>
            </a:r>
            <a:endParaRPr lang="en-US" sz="950" dirty="0"/>
          </a:p>
        </p:txBody>
      </p:sp>
      <p:sp>
        <p:nvSpPr>
          <p:cNvPr id="3" name="Text 1"/>
          <p:cNvSpPr/>
          <p:nvPr/>
        </p:nvSpPr>
        <p:spPr>
          <a:xfrm>
            <a:off x="7772400" y="128016"/>
            <a:ext cx="3867912" cy="219456"/>
          </a:xfrm>
          <a:prstGeom prst="roundRect">
            <a:avLst>
              <a:gd name="adj" fmla="val 3000"/>
            </a:avLst>
          </a:prstGeom>
          <a:noFill/>
          <a:ln/>
        </p:spPr>
        <p:txBody>
          <a:bodyPr wrap="square" lIns="0" tIns="0" rIns="0" bIns="0" rtlCol="0" anchor="ctr"/>
          <a:lstStyle/>
          <a:p>
            <a:pPr algn="r" indent="0" marL="0">
              <a:buNone/>
              <a:defRPr>
                <a:latin typeface="Helvetica Neue"/>
              </a:defRPr>
            </a:pPr>
            <a:r>
              <a:rPr lang="en-US" sz="900" i="1" dirty="0">
                <a:solidFill>
                  <a:srgbClr val="64748B"/>
                </a:solidFill>
                <a:latin typeface="Helvetica Neue"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2400" b="1" dirty="0">
                <a:solidFill>
                  <a:srgbClr val="0F172A"/>
                </a:solidFill>
                <a:latin typeface="Helvetica Neue" pitchFamily="34" charset="0"/>
                <a:ea typeface="Arial" pitchFamily="34" charset="-122"/>
                <a:cs typeface="Arial" pitchFamily="34" charset="-120"/>
              </a:rPr>
              <a:t>Tháng 7: chất lượng tốt, nhưng quy mô &amp; giữ chân tài xế đang chậm lại</a:t>
            </a:r>
            <a:endParaRPr lang="en-US" sz="2400" dirty="0"/>
          </a:p>
        </p:txBody>
      </p:sp>
      <p:sp>
        <p:nvSpPr>
          <p:cNvPr id="5" name="Shape 3"/>
          <p:cNvSpPr/>
          <p:nvPr/>
        </p:nvSpPr>
        <p:spPr>
          <a:xfrm>
            <a:off x="548640" y="1005840"/>
            <a:ext cx="1005840" cy="36576"/>
          </a:xfrm>
          <a:prstGeom prst="roundRect">
            <a:avLst>
              <a:gd name="adj" fmla="val 3000"/>
            </a:avLst>
          </a:prstGeom>
          <a:solidFill>
            <a:srgbClr val="FF7F32"/>
          </a:solidFill>
          <a:ln/>
        </p:spPr>
        <p:txBody>
          <a:bodyPr/>
          <a:p>
            <a:pPr>
              <a:defRPr>
                <a:latin typeface="Helvetica Neue"/>
              </a:defRPr>
            </a:pPr>
          </a:p>
        </p:txBody>
      </p:sp>
      <p:sp>
        <p:nvSpPr>
          <p:cNvPr id="6" name="Shape 4"/>
          <p:cNvSpPr/>
          <p:nvPr/>
        </p:nvSpPr>
        <p:spPr>
          <a:xfrm>
            <a:off x="548640" y="1133856"/>
            <a:ext cx="45720" cy="512064"/>
          </a:xfrm>
          <a:prstGeom prst="roundRect">
            <a:avLst>
              <a:gd name="adj" fmla="val 3000"/>
            </a:avLst>
          </a:prstGeom>
          <a:solidFill>
            <a:srgbClr val="FF7F32"/>
          </a:solidFill>
          <a:ln/>
        </p:spPr>
        <p:txBody>
          <a:bodyPr/>
          <a:p>
            <a:pPr>
              <a:defRPr>
                <a:latin typeface="Helvetica Neue"/>
              </a:defRPr>
            </a:pPr>
          </a:p>
        </p:txBody>
      </p:sp>
      <p:sp>
        <p:nvSpPr>
          <p:cNvPr id="7" name="Shape 5"/>
          <p:cNvSpPr/>
          <p:nvPr/>
        </p:nvSpPr>
        <p:spPr>
          <a:xfrm>
            <a:off x="594360" y="1133856"/>
            <a:ext cx="11045952" cy="512064"/>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8" name="Text 6"/>
          <p:cNvSpPr/>
          <p:nvPr/>
        </p:nvSpPr>
        <p:spPr>
          <a:xfrm>
            <a:off x="777240" y="1133856"/>
            <a:ext cx="10607040" cy="512064"/>
          </a:xfrm>
          <a:prstGeom prst="roundRect">
            <a:avLst>
              <a:gd name="adj" fmla="val 3000"/>
            </a:avLst>
          </a:prstGeom>
          <a:noFill/>
          <a:ln/>
        </p:spPr>
        <p:txBody>
          <a:bodyPr wrap="square" lIns="0" tIns="0" rIns="0" bIns="0" rtlCol="0" anchor="ctr"/>
          <a:lstStyle/>
          <a:p>
            <a:pPr indent="0" marL="0">
              <a:buNone/>
              <a:defRPr>
                <a:latin typeface="Helvetica Neue"/>
              </a:defRPr>
            </a:pPr>
            <a:r>
              <a:rPr lang="en-US" sz="1100" b="1" dirty="0">
                <a:solidFill>
                  <a:srgbClr val="FF6600"/>
                </a:solidFill>
                <a:latin typeface="Helvetica Neue" pitchFamily="34" charset="0"/>
                <a:ea typeface="Arial" pitchFamily="34" charset="-122"/>
                <a:cs typeface="Arial" pitchFamily="34" charset="-120"/>
              </a:rPr>
              <a:t>Key Takeaway  </a:t>
            </a:r>
            <a:pPr indent="0" marL="0">
              <a:buNone/>
            </a:pPr>
            <a:r>
              <a:rPr lang="en-US" sz="1100" dirty="0">
                <a:solidFill>
                  <a:srgbClr val="334155"/>
                </a:solidFill>
                <a:latin typeface="Helvetica Neue" pitchFamily="34" charset="0"/>
                <a:ea typeface="Arial" pitchFamily="34" charset="-122"/>
                <a:cs typeface="Arial" pitchFamily="34" charset="-120"/>
              </a:rPr>
              <a:t>CTR/GDR tốt ở cả 2 khu vực, nhưng CR nhóm PT/GR và retention SGN là 2 điểm nghẽn kéo dài cần xử lý trước tháng 8.</a:t>
            </a:r>
            <a:endParaRPr lang="en-US" sz="1100" dirty="0"/>
          </a:p>
        </p:txBody>
      </p:sp>
      <p:sp>
        <p:nvSpPr>
          <p:cNvPr id="9" name="Shape 7"/>
          <p:cNvSpPr/>
          <p:nvPr/>
        </p:nvSpPr>
        <p:spPr>
          <a:xfrm>
            <a:off x="548640" y="1874520"/>
            <a:ext cx="5349240" cy="54864"/>
          </a:xfrm>
          <a:prstGeom prst="roundRect">
            <a:avLst>
              <a:gd name="adj" fmla="val 3000"/>
            </a:avLst>
          </a:prstGeom>
          <a:solidFill>
            <a:srgbClr val="1B8A5A"/>
          </a:solidFill>
          <a:ln/>
        </p:spPr>
        <p:txBody>
          <a:bodyPr/>
          <a:p>
            <a:pPr>
              <a:defRPr>
                <a:latin typeface="Helvetica Neue"/>
              </a:defRPr>
            </a:pPr>
          </a:p>
        </p:txBody>
      </p:sp>
      <p:sp>
        <p:nvSpPr>
          <p:cNvPr id="10" name="Shape 8"/>
          <p:cNvSpPr/>
          <p:nvPr/>
        </p:nvSpPr>
        <p:spPr>
          <a:xfrm>
            <a:off x="548640" y="1929384"/>
            <a:ext cx="5349240" cy="25511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11" name="Text 9"/>
          <p:cNvSpPr/>
          <p:nvPr/>
        </p:nvSpPr>
        <p:spPr>
          <a:xfrm>
            <a:off x="777240" y="2057400"/>
            <a:ext cx="4892040" cy="320040"/>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1300" b="1" dirty="0">
                <a:solidFill>
                  <a:srgbClr val="059669"/>
                </a:solidFill>
                <a:latin typeface="Helvetica Neue" pitchFamily="34" charset="0"/>
                <a:ea typeface="Arial" pitchFamily="34" charset="-122"/>
                <a:cs typeface="Arial" pitchFamily="34" charset="-120"/>
              </a:rPr>
              <a:t>HIGHLIGHTS</a:t>
            </a:r>
            <a:endParaRPr lang="en-US" sz="1300" dirty="0"/>
          </a:p>
        </p:txBody>
      </p:sp>
      <p:sp>
        <p:nvSpPr>
          <p:cNvPr id="12" name="Text 10"/>
          <p:cNvSpPr/>
          <p:nvPr/>
        </p:nvSpPr>
        <p:spPr>
          <a:xfrm>
            <a:off x="777240" y="2404872"/>
            <a:ext cx="4892040" cy="1874520"/>
          </a:xfrm>
          <a:prstGeom prst="roundRect">
            <a:avLst>
              <a:gd name="adj" fmla="val 3000"/>
            </a:avLst>
          </a:prstGeom>
          <a:noFill/>
          <a:ln/>
        </p:spPr>
        <p:txBody>
          <a:bodyPr wrap="square" lIns="0" tIns="0" rIns="0" bIns="0" rtlCol="0" anchor="t"/>
          <a:lstStyle/>
          <a:p>
            <a:pP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HAN  </a:t>
            </a:r>
            <a:pPr indent="0" marL="0">
              <a:buNone/>
            </a:pPr>
            <a:r>
              <a:rPr lang="en-US" sz="1100" dirty="0">
                <a:solidFill>
                  <a:srgbClr val="334155"/>
                </a:solidFill>
                <a:latin typeface="Helvetica Neue" pitchFamily="34" charset="0"/>
                <a:ea typeface="Arial" pitchFamily="34" charset="-122"/>
                <a:cs typeface="Arial" pitchFamily="34" charset="-120"/>
              </a:rPr>
              <a:t>SH tăng nhẹ, FR ~80%; checkin rate Hub đạt đỉnh </a:t>
            </a:r>
            <a:pPr indent="0" marL="0">
              <a:buNone/>
            </a:pPr>
            <a:r>
              <a:rPr lang="en-US" sz="1100" b="1" dirty="0">
                <a:solidFill>
                  <a:srgbClr val="334155"/>
                </a:solidFill>
                <a:latin typeface="Helvetica Neue" pitchFamily="34" charset="0"/>
                <a:ea typeface="Arial" pitchFamily="34" charset="-122"/>
                <a:cs typeface="Arial" pitchFamily="34" charset="-120"/>
              </a:rPr>
              <a:t>86%</a:t>
            </a:r>
            <a:pPr indent="0" marL="0">
              <a:buNone/>
            </a:pPr>
            <a:r>
              <a:rPr lang="en-US" sz="1100" dirty="0">
                <a:solidFill>
                  <a:srgbClr val="334155"/>
                </a:solidFill>
                <a:latin typeface="Helvetica Neue" pitchFamily="34" charset="0"/>
                <a:ea typeface="Arial" pitchFamily="34" charset="-122"/>
                <a:cs typeface="Arial" pitchFamily="34" charset="-120"/>
              </a:rPr>
              <a:t>; CTR/GDR duy trì </a:t>
            </a:r>
            <a:pPr indent="0" marL="0">
              <a:buNone/>
            </a:pPr>
            <a:r>
              <a:rPr lang="en-US" sz="1100" b="1" dirty="0">
                <a:solidFill>
                  <a:srgbClr val="334155"/>
                </a:solidFill>
                <a:latin typeface="Helvetica Neue" pitchFamily="34" charset="0"/>
                <a:ea typeface="Arial" pitchFamily="34" charset="-122"/>
                <a:cs typeface="Arial" pitchFamily="34" charset="-120"/>
              </a:rPr>
              <a:t>100% target</a:t>
            </a:r>
            <a:pPr indent="0" marL="0">
              <a:spcAft>
                <a:spcPts val="800"/>
              </a:spcAft>
              <a:buNone/>
            </a:pPr>
            <a:r>
              <a:rPr lang="en-US" sz="1100" dirty="0">
                <a:solidFill>
                  <a:srgbClr val="334155"/>
                </a:solidFill>
                <a:latin typeface="Helvetica Neue" pitchFamily="34" charset="0"/>
                <a:ea typeface="Arial" pitchFamily="34" charset="-122"/>
                <a:cs typeface="Arial" pitchFamily="34" charset="-120"/>
              </a:rPr>
              <a:t>.</a:t>
            </a:r>
            <a:endParaRPr lang="en-US" sz="1100" dirty="0"/>
          </a:p>
          <a:p>
            <a:pP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SGN  </a:t>
            </a:r>
            <a:pPr indent="0" marL="0">
              <a:buNone/>
            </a:pPr>
            <a:r>
              <a:rPr lang="en-US" sz="1100" dirty="0">
                <a:solidFill>
                  <a:srgbClr val="334155"/>
                </a:solidFill>
                <a:latin typeface="Helvetica Neue" pitchFamily="34" charset="0"/>
                <a:ea typeface="Arial" pitchFamily="34" charset="-122"/>
                <a:cs typeface="Arial" pitchFamily="34" charset="-120"/>
              </a:rPr>
              <a:t>SH tăng </a:t>
            </a:r>
            <a:pPr indent="0" marL="0">
              <a:buNone/>
            </a:pPr>
            <a:r>
              <a:rPr lang="en-US" sz="1100" b="1" dirty="0">
                <a:solidFill>
                  <a:srgbClr val="334155"/>
                </a:solidFill>
                <a:latin typeface="Helvetica Neue" pitchFamily="34" charset="0"/>
                <a:ea typeface="Arial" pitchFamily="34" charset="-122"/>
                <a:cs typeface="Arial" pitchFamily="34" charset="-120"/>
              </a:rPr>
              <a:t>5.6% MoM</a:t>
            </a:r>
            <a:pPr indent="0" marL="0">
              <a:buNone/>
            </a:pPr>
            <a:r>
              <a:rPr lang="en-US" sz="1100" dirty="0">
                <a:solidFill>
                  <a:srgbClr val="334155"/>
                </a:solidFill>
                <a:latin typeface="Helvetica Neue" pitchFamily="34" charset="0"/>
                <a:ea typeface="Arial" pitchFamily="34" charset="-122"/>
                <a:cs typeface="Arial" pitchFamily="34" charset="-120"/>
              </a:rPr>
              <a:t>; retention vượt MoM &amp; YoY nhưng chưa đạt target </a:t>
            </a:r>
            <a:pPr indent="0" marL="0">
              <a:buNone/>
            </a:pPr>
            <a:r>
              <a:rPr lang="en-US" sz="1100" b="1" dirty="0">
                <a:solidFill>
                  <a:srgbClr val="334155"/>
                </a:solidFill>
                <a:latin typeface="Helvetica Neue" pitchFamily="34" charset="0"/>
                <a:ea typeface="Arial" pitchFamily="34" charset="-122"/>
                <a:cs typeface="Arial" pitchFamily="34" charset="-120"/>
              </a:rPr>
              <a:t>82%</a:t>
            </a:r>
            <a:pPr indent="0" marL="0">
              <a:spcAft>
                <a:spcPts val="800"/>
              </a:spcAft>
              <a:buNone/>
            </a:pPr>
            <a:r>
              <a:rPr lang="en-US" sz="1100" dirty="0">
                <a:solidFill>
                  <a:srgbClr val="334155"/>
                </a:solidFill>
                <a:latin typeface="Helvetica Neue" pitchFamily="34" charset="0"/>
                <a:ea typeface="Arial" pitchFamily="34" charset="-122"/>
                <a:cs typeface="Arial" pitchFamily="34" charset="-120"/>
              </a:rPr>
              <a:t>.</a:t>
            </a:r>
            <a:endParaRPr lang="en-US" sz="1100" dirty="0"/>
          </a:p>
          <a:p>
            <a:pP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NW  </a:t>
            </a:r>
            <a:pPr indent="0" marL="0">
              <a:buNone/>
            </a:pPr>
            <a:r>
              <a:rPr lang="en-US" sz="1100" dirty="0">
                <a:solidFill>
                  <a:srgbClr val="334155"/>
                </a:solidFill>
                <a:latin typeface="Helvetica Neue" pitchFamily="34" charset="0"/>
                <a:ea typeface="Arial" pitchFamily="34" charset="-122"/>
                <a:cs typeface="Arial" pitchFamily="34" charset="-120"/>
              </a:rPr>
              <a:t>GDR </a:t>
            </a:r>
            <a:pPr indent="0" marL="0">
              <a:buNone/>
            </a:pPr>
            <a:r>
              <a:rPr lang="en-US" sz="1100" b="1" dirty="0">
                <a:solidFill>
                  <a:srgbClr val="334155"/>
                </a:solidFill>
                <a:latin typeface="Helvetica Neue" pitchFamily="34" charset="0"/>
                <a:ea typeface="Arial" pitchFamily="34" charset="-122"/>
                <a:cs typeface="Arial" pitchFamily="34" charset="-120"/>
              </a:rPr>
              <a:t>94.82%</a:t>
            </a:r>
            <a:pPr indent="0" marL="0">
              <a:buNone/>
            </a:pPr>
            <a:r>
              <a:rPr lang="en-US" sz="1100" dirty="0">
                <a:solidFill>
                  <a:srgbClr val="334155"/>
                </a:solidFill>
                <a:latin typeface="Helvetica Neue" pitchFamily="34" charset="0"/>
                <a:ea typeface="Arial" pitchFamily="34" charset="-122"/>
                <a:cs typeface="Arial" pitchFamily="34" charset="-120"/>
              </a:rPr>
              <a:t> (100% target, +0.17% MoM); CTR </a:t>
            </a:r>
            <a:pPr indent="0" marL="0">
              <a:buNone/>
            </a:pPr>
            <a:r>
              <a:rPr lang="en-US" sz="1100" b="1" dirty="0">
                <a:solidFill>
                  <a:srgbClr val="334155"/>
                </a:solidFill>
                <a:latin typeface="Helvetica Neue" pitchFamily="34" charset="0"/>
                <a:ea typeface="Arial" pitchFamily="34" charset="-122"/>
                <a:cs typeface="Arial" pitchFamily="34" charset="-120"/>
              </a:rPr>
              <a:t>77.69%</a:t>
            </a:r>
            <a:pPr indent="0" marL="0">
              <a:buNone/>
            </a:pPr>
            <a:r>
              <a:rPr lang="en-US" sz="1100" dirty="0">
                <a:solidFill>
                  <a:srgbClr val="334155"/>
                </a:solidFill>
                <a:latin typeface="Helvetica Neue" pitchFamily="34" charset="0"/>
                <a:ea typeface="Arial" pitchFamily="34" charset="-122"/>
                <a:cs typeface="Arial" pitchFamily="34" charset="-120"/>
              </a:rPr>
              <a:t> (130% target, +0.48% MoM).</a:t>
            </a:r>
            <a:endParaRPr lang="en-US" sz="1100" dirty="0"/>
          </a:p>
        </p:txBody>
      </p:sp>
      <p:sp>
        <p:nvSpPr>
          <p:cNvPr id="13" name="Shape 11"/>
          <p:cNvSpPr/>
          <p:nvPr/>
        </p:nvSpPr>
        <p:spPr>
          <a:xfrm>
            <a:off x="6263640" y="1874520"/>
            <a:ext cx="5349240" cy="54864"/>
          </a:xfrm>
          <a:prstGeom prst="roundRect">
            <a:avLst>
              <a:gd name="adj" fmla="val 3000"/>
            </a:avLst>
          </a:prstGeom>
          <a:solidFill>
            <a:srgbClr val="DC2626"/>
          </a:solidFill>
          <a:ln>
            <a:noFill/>
          </a:ln>
        </p:spPr>
        <p:txBody>
          <a:bodyPr/>
          <a:p>
            <a:pPr>
              <a:defRPr>
                <a:latin typeface="Helvetica Neue"/>
              </a:defRPr>
            </a:pPr>
          </a:p>
        </p:txBody>
      </p:sp>
      <p:sp>
        <p:nvSpPr>
          <p:cNvPr id="14" name="Shape 12"/>
          <p:cNvSpPr/>
          <p:nvPr/>
        </p:nvSpPr>
        <p:spPr>
          <a:xfrm>
            <a:off x="6263640" y="1929384"/>
            <a:ext cx="5349240" cy="25511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15" name="Text 13"/>
          <p:cNvSpPr/>
          <p:nvPr/>
        </p:nvSpPr>
        <p:spPr>
          <a:xfrm>
            <a:off x="6492240" y="2057400"/>
            <a:ext cx="4892040" cy="320040"/>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1300" b="1" dirty="0">
                <a:solidFill>
                  <a:srgbClr val="DC2626"/>
                </a:solidFill>
                <a:latin typeface="Helvetica Neue" pitchFamily="34" charset="0"/>
                <a:ea typeface="Arial" pitchFamily="34" charset="-122"/>
                <a:cs typeface="Arial" pitchFamily="34" charset="-120"/>
              </a:rPr>
              <a:t>LOWLIGHTS</a:t>
            </a:r>
            <a:endParaRPr lang="en-US" sz="1300" dirty="0"/>
          </a:p>
        </p:txBody>
      </p:sp>
      <p:sp>
        <p:nvSpPr>
          <p:cNvPr id="16" name="Text 14"/>
          <p:cNvSpPr/>
          <p:nvPr/>
        </p:nvSpPr>
        <p:spPr>
          <a:xfrm>
            <a:off x="6492240" y="2404872"/>
            <a:ext cx="4892040" cy="1874520"/>
          </a:xfrm>
          <a:prstGeom prst="roundRect">
            <a:avLst>
              <a:gd name="adj" fmla="val 3000"/>
            </a:avLst>
          </a:prstGeom>
          <a:noFill/>
          <a:ln/>
        </p:spPr>
        <p:txBody>
          <a:bodyPr wrap="square" lIns="0" tIns="0" rIns="0" bIns="0" rtlCol="0" anchor="t"/>
          <a:lstStyle/>
          <a:p>
            <a:pP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HAN  </a:t>
            </a:r>
            <a:pPr indent="0" marL="0">
              <a:buNone/>
            </a:pPr>
            <a:r>
              <a:rPr lang="en-US" sz="1100" dirty="0">
                <a:solidFill>
                  <a:srgbClr val="334155"/>
                </a:solidFill>
                <a:latin typeface="Helvetica Neue" pitchFamily="34" charset="0"/>
                <a:ea typeface="Arial" pitchFamily="34" charset="-122"/>
                <a:cs typeface="Arial" pitchFamily="34" charset="-120"/>
              </a:rPr>
              <a:t>CR Poc chung tăng </a:t>
            </a:r>
            <a:pPr indent="0" marL="0">
              <a:buNone/>
            </a:pPr>
            <a:r>
              <a:rPr lang="en-US" sz="1100" b="1" dirty="0">
                <a:solidFill>
                  <a:srgbClr val="334155"/>
                </a:solidFill>
                <a:latin typeface="Helvetica Neue" pitchFamily="34" charset="0"/>
                <a:ea typeface="Arial" pitchFamily="34" charset="-122"/>
                <a:cs typeface="Arial" pitchFamily="34" charset="-120"/>
              </a:rPr>
              <a:t>0.13% MoM</a:t>
            </a:r>
            <a:pPr indent="0" marL="0">
              <a:spcAft>
                <a:spcPts val="800"/>
              </a:spcAft>
              <a:buNone/>
            </a:pPr>
            <a:r>
              <a:rPr lang="en-US" sz="1100" dirty="0">
                <a:solidFill>
                  <a:srgbClr val="334155"/>
                </a:solidFill>
                <a:latin typeface="Helvetica Neue" pitchFamily="34" charset="0"/>
                <a:ea typeface="Arial" pitchFamily="34" charset="-122"/>
                <a:cs typeface="Arial" pitchFamily="34" charset="-120"/>
              </a:rPr>
              <a:t>, chưa đảo chiều.</a:t>
            </a:r>
            <a:endParaRPr lang="en-US" sz="1100" dirty="0"/>
          </a:p>
          <a:p>
            <a:pP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SGN  </a:t>
            </a:r>
            <a:pPr indent="0" marL="0">
              <a:buNone/>
            </a:pPr>
            <a:r>
              <a:rPr lang="en-US" sz="1100" dirty="0">
                <a:solidFill>
                  <a:srgbClr val="334155"/>
                </a:solidFill>
                <a:latin typeface="Helvetica Neue" pitchFamily="34" charset="0"/>
                <a:ea typeface="Arial" pitchFamily="34" charset="-122"/>
                <a:cs typeface="Arial" pitchFamily="34" charset="-120"/>
              </a:rPr>
              <a:t>CR nhóm GR (NIM, NLM) vẫn cao, NLM </a:t>
            </a:r>
            <a:pPr indent="0" marL="0">
              <a:buNone/>
            </a:pPr>
            <a:r>
              <a:rPr lang="en-US" sz="1100" b="1" dirty="0">
                <a:solidFill>
                  <a:srgbClr val="334155"/>
                </a:solidFill>
                <a:latin typeface="Helvetica Neue" pitchFamily="34" charset="0"/>
                <a:ea typeface="Arial" pitchFamily="34" charset="-122"/>
                <a:cs typeface="Arial" pitchFamily="34" charset="-120"/>
              </a:rPr>
              <a:t>&gt;14%</a:t>
            </a:r>
            <a:pPr indent="0" marL="0">
              <a:spcAft>
                <a:spcPts val="800"/>
              </a:spcAft>
              <a:buNone/>
            </a:pPr>
            <a:r>
              <a:rPr lang="en-US" sz="1100" dirty="0">
                <a:solidFill>
                  <a:srgbClr val="334155"/>
                </a:solidFill>
                <a:latin typeface="Helvetica Neue" pitchFamily="34" charset="0"/>
                <a:ea typeface="Arial" pitchFamily="34" charset="-122"/>
                <a:cs typeface="Arial" pitchFamily="34" charset="-120"/>
              </a:rPr>
              <a:t> — cao nhất trong các segment.</a:t>
            </a:r>
            <a:endParaRPr lang="en-US" sz="1100" dirty="0"/>
          </a:p>
          <a:p>
            <a:pP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Action T7  </a:t>
            </a:r>
            <a:pPr indent="0" marL="0">
              <a:buNone/>
            </a:pPr>
            <a:r>
              <a:rPr lang="en-US" sz="1100" dirty="0">
                <a:solidFill>
                  <a:srgbClr val="334155"/>
                </a:solidFill>
                <a:latin typeface="Helvetica Neue" pitchFamily="34" charset="0"/>
                <a:ea typeface="Arial" pitchFamily="34" charset="-122"/>
                <a:cs typeface="Arial" pitchFamily="34" charset="-120"/>
              </a:rPr>
              <a:t>Đã triển khai </a:t>
            </a:r>
            <a:pPr indent="0" marL="0">
              <a:buNone/>
            </a:pPr>
            <a:r>
              <a:rPr lang="en-US" sz="1100" b="1" dirty="0">
                <a:solidFill>
                  <a:srgbClr val="334155"/>
                </a:solidFill>
                <a:latin typeface="Helvetica Neue" pitchFamily="34" charset="0"/>
                <a:ea typeface="Arial" pitchFamily="34" charset="-122"/>
                <a:cs typeface="Arial" pitchFamily="34" charset="-120"/>
              </a:rPr>
              <a:t>2 chương trình</a:t>
            </a:r>
            <a:pPr indent="0" marL="0">
              <a:buNone/>
            </a:pPr>
            <a:r>
              <a:rPr lang="en-US" sz="1100" dirty="0">
                <a:solidFill>
                  <a:srgbClr val="334155"/>
                </a:solidFill>
                <a:latin typeface="Helvetica Neue" pitchFamily="34" charset="0"/>
                <a:ea typeface="Arial" pitchFamily="34" charset="-122"/>
                <a:cs typeface="Arial" pitchFamily="34" charset="-120"/>
              </a:rPr>
              <a:t> retention trong tháng.</a:t>
            </a:r>
            <a:endParaRPr lang="en-US" sz="1100" dirty="0"/>
          </a:p>
        </p:txBody>
      </p:sp>
      <p:sp>
        <p:nvSpPr>
          <p:cNvPr id="17" name="Shape 15"/>
          <p:cNvSpPr/>
          <p:nvPr/>
        </p:nvSpPr>
        <p:spPr>
          <a:xfrm>
            <a:off x="548640" y="4709160"/>
            <a:ext cx="11091672" cy="54864"/>
          </a:xfrm>
          <a:prstGeom prst="roundRect">
            <a:avLst>
              <a:gd name="adj" fmla="val 3000"/>
            </a:avLst>
          </a:prstGeom>
          <a:solidFill>
            <a:srgbClr val="FF7F32"/>
          </a:solidFill>
          <a:ln/>
        </p:spPr>
        <p:txBody>
          <a:bodyPr/>
          <a:p>
            <a:pPr>
              <a:defRPr>
                <a:latin typeface="Helvetica Neue"/>
              </a:defRPr>
            </a:pPr>
          </a:p>
        </p:txBody>
      </p:sp>
      <p:sp>
        <p:nvSpPr>
          <p:cNvPr id="18" name="Shape 16"/>
          <p:cNvSpPr/>
          <p:nvPr/>
        </p:nvSpPr>
        <p:spPr>
          <a:xfrm>
            <a:off x="548640" y="4764024"/>
            <a:ext cx="11091672" cy="131673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19" name="Text 17"/>
          <p:cNvSpPr/>
          <p:nvPr/>
        </p:nvSpPr>
        <p:spPr>
          <a:xfrm>
            <a:off x="777240" y="4864608"/>
            <a:ext cx="10607040" cy="274320"/>
          </a:xfrm>
          <a:prstGeom prst="roundRect">
            <a:avLst>
              <a:gd name="adj" fmla="val 3000"/>
            </a:avLst>
          </a:prstGeom>
          <a:noFill/>
          <a:ln/>
        </p:spPr>
        <p:txBody>
          <a:bodyPr wrap="square" lIns="0" tIns="0" rIns="0" bIns="0" rtlCol="0" anchor="ctr"/>
          <a:lstStyle/>
          <a:p>
            <a:pPr indent="0" marL="0">
              <a:buNone/>
              <a:defRPr>
                <a:latin typeface="Helvetica Neue"/>
              </a:defRPr>
            </a:pPr>
            <a:r>
              <a:rPr lang="en-US" sz="1050" b="1" dirty="0">
                <a:solidFill>
                  <a:srgbClr val="8A8F99"/>
                </a:solidFill>
                <a:latin typeface="Helvetica Neue" pitchFamily="34" charset="0"/>
                <a:ea typeface="Arial" pitchFamily="34" charset="-122"/>
                <a:cs typeface="Arial" pitchFamily="34" charset="-120"/>
              </a:rPr>
              <a:t>3 CÂU HỎI BÁO CÁO NÀY SẼ TRẢ LỜI (XEM LẠI Ở SLIDE CUỐI)</a:t>
            </a:r>
            <a:endParaRPr lang="en-US" sz="1050" dirty="0"/>
          </a:p>
        </p:txBody>
      </p:sp>
      <p:sp>
        <p:nvSpPr>
          <p:cNvPr id="20" name="Text 18"/>
          <p:cNvSpPr/>
          <p:nvPr/>
        </p:nvSpPr>
        <p:spPr>
          <a:xfrm>
            <a:off x="777240" y="5138928"/>
            <a:ext cx="10607040" cy="822960"/>
          </a:xfrm>
          <a:prstGeom prst="roundRect">
            <a:avLst>
              <a:gd name="adj" fmla="val 3000"/>
            </a:avLst>
          </a:prstGeom>
          <a:noFill/>
          <a:ln/>
        </p:spPr>
        <p:txBody>
          <a:bodyPr wrap="square" lIns="0" tIns="0" rIns="0" bIns="0" rtlCol="0" anchor="t"/>
          <a:lstStyle/>
          <a:p>
            <a:pPr indent="0" marL="0">
              <a:buNone/>
              <a:defRPr>
                <a:latin typeface="Helvetica Neue"/>
              </a:defRPr>
            </a:pPr>
            <a:r>
              <a:rPr lang="en-US" sz="1150" b="1" dirty="0">
                <a:solidFill>
                  <a:srgbClr val="FF7F32"/>
                </a:solidFill>
                <a:latin typeface="Helvetica Neue" pitchFamily="34" charset="0"/>
                <a:ea typeface="Arial" pitchFamily="34" charset="-122"/>
                <a:cs typeface="Arial" pitchFamily="34" charset="-120"/>
              </a:rPr>
              <a:t>1  </a:t>
            </a:r>
            <a:pPr indent="0" marL="0">
              <a:buNone/>
            </a:pPr>
            <a:r>
              <a:rPr lang="en-US" sz="1150" dirty="0">
                <a:solidFill>
                  <a:srgbClr val="334155"/>
                </a:solidFill>
                <a:latin typeface="Helvetica Neue" pitchFamily="34" charset="0"/>
                <a:ea typeface="Arial" pitchFamily="34" charset="-122"/>
                <a:cs typeface="Arial" pitchFamily="34" charset="-120"/>
              </a:rPr>
              <a:t>Vì sao FT active HAN giảm dù retention đã cải thiện?     </a:t>
            </a:r>
            <a:pPr indent="0" marL="0">
              <a:buNone/>
            </a:pPr>
            <a:r>
              <a:rPr lang="en-US" sz="1150" b="1" dirty="0">
                <a:solidFill>
                  <a:srgbClr val="FF7F32"/>
                </a:solidFill>
                <a:latin typeface="Helvetica Neue" pitchFamily="34" charset="0"/>
                <a:ea typeface="Arial" pitchFamily="34" charset="-122"/>
                <a:cs typeface="Arial" pitchFamily="34" charset="-120"/>
              </a:rPr>
              <a:t>2  </a:t>
            </a:r>
            <a:pPr indent="0" marL="0">
              <a:buNone/>
            </a:pPr>
            <a:r>
              <a:rPr lang="en-US" sz="1150" dirty="0">
                <a:solidFill>
                  <a:srgbClr val="334155"/>
                </a:solidFill>
                <a:latin typeface="Helvetica Neue" pitchFamily="34" charset="0"/>
                <a:ea typeface="Arial" pitchFamily="34" charset="-122"/>
                <a:cs typeface="Arial" pitchFamily="34" charset="-120"/>
              </a:rPr>
              <a:t>MiniHub có đáng scale tiếp không?     </a:t>
            </a:r>
            <a:pPr indent="0" marL="0">
              <a:buNone/>
            </a:pPr>
            <a:r>
              <a:rPr lang="en-US" sz="1150" b="1" dirty="0">
                <a:solidFill>
                  <a:srgbClr val="FF7F32"/>
                </a:solidFill>
                <a:latin typeface="Helvetica Neue" pitchFamily="34" charset="0"/>
                <a:ea typeface="Arial" pitchFamily="34" charset="-122"/>
                <a:cs typeface="Arial" pitchFamily="34" charset="-120"/>
              </a:rPr>
              <a:t>3  </a:t>
            </a:r>
            <a:pPr indent="0" marL="0">
              <a:buNone/>
            </a:pPr>
            <a:r>
              <a:rPr lang="en-US" sz="1150" dirty="0">
                <a:solidFill>
                  <a:srgbClr val="334155"/>
                </a:solidFill>
                <a:latin typeface="Helvetica Neue" pitchFamily="34" charset="0"/>
                <a:ea typeface="Arial" pitchFamily="34" charset="-122"/>
                <a:cs typeface="Arial" pitchFamily="34" charset="-120"/>
              </a:rPr>
              <a:t>Ngân sách EV tháng 8 nên ưu tiên gì?</a:t>
            </a:r>
            <a:endParaRPr lang="en-US" sz="1150" dirty="0"/>
          </a:p>
        </p:txBody>
      </p:sp>
      <p:sp>
        <p:nvSpPr>
          <p:cNvPr id="21" name="Shape 19"/>
          <p:cNvSpPr/>
          <p:nvPr/>
        </p:nvSpPr>
        <p:spPr>
          <a:xfrm>
            <a:off x="548640" y="6510528"/>
            <a:ext cx="11091672" cy="0"/>
          </a:xfrm>
          <a:prstGeom prst="roundRect">
            <a:avLst>
              <a:gd name="adj" fmla="val 3000"/>
            </a:avLst>
          </a:prstGeom>
          <a:noFill/>
          <a:ln w="15875">
            <a:solidFill>
              <a:srgbClr val="FF7F32"/>
            </a:solidFill>
            <a:prstDash val="solid"/>
          </a:ln>
        </p:spPr>
        <p:txBody>
          <a:bodyPr/>
          <a:p>
            <a:pPr>
              <a:defRPr>
                <a:latin typeface="Helvetica Neue"/>
              </a:defRPr>
            </a:pPr>
          </a:p>
        </p:txBody>
      </p:sp>
      <p:sp>
        <p:nvSpPr>
          <p:cNvPr id="22" name="Text 20"/>
          <p:cNvSpPr/>
          <p:nvPr/>
        </p:nvSpPr>
        <p:spPr>
          <a:xfrm>
            <a:off x="548640" y="6565392"/>
            <a:ext cx="7315200" cy="256032"/>
          </a:xfrm>
          <a:prstGeom prst="roundRect">
            <a:avLst>
              <a:gd name="adj" fmla="val 3000"/>
            </a:avLst>
          </a:prstGeom>
          <a:noFill/>
          <a:ln/>
        </p:spPr>
        <p:txBody>
          <a:bodyPr wrap="square" lIns="0" tIns="0" rIns="0" bIns="0" rtlCol="0" anchor="ctr"/>
          <a:lstStyle/>
          <a:p>
            <a:pPr indent="0" marL="0">
              <a:buNone/>
              <a:defRPr>
                <a:latin typeface="Helvetica Neue"/>
              </a:defRPr>
            </a:pPr>
            <a:r>
              <a:rPr lang="en-US" sz="850" dirty="0">
                <a:solidFill>
                  <a:srgbClr val="334155"/>
                </a:solidFill>
                <a:latin typeface="Helvetica Neue" pitchFamily="34" charset="0"/>
                <a:ea typeface="Arial" pitchFamily="34" charset="-122"/>
                <a:cs typeface="Arial" pitchFamily="34" charset="-120"/>
              </a:rPr>
              <a:t>DM Monthly Report — Tháng 7/2026</a:t>
            </a:r>
            <a:endParaRPr lang="en-US" sz="850" dirty="0"/>
          </a:p>
        </p:txBody>
      </p:sp>
      <p:sp>
        <p:nvSpPr>
          <p:cNvPr id="23" name="Text 21"/>
          <p:cNvSpPr/>
          <p:nvPr/>
        </p:nvSpPr>
        <p:spPr>
          <a:xfrm>
            <a:off x="11155680" y="6565392"/>
            <a:ext cx="484632" cy="256032"/>
          </a:xfrm>
          <a:prstGeom prst="roundRect">
            <a:avLst>
              <a:gd name="adj" fmla="val 3000"/>
            </a:avLst>
          </a:prstGeom>
          <a:noFill/>
          <a:ln/>
        </p:spPr>
        <p:txBody>
          <a:bodyPr wrap="square" lIns="0" tIns="0" rIns="0" bIns="0" rtlCol="0" anchor="ctr"/>
          <a:lstStyle/>
          <a:p>
            <a:pPr algn="r" indent="0" marL="0">
              <a:buNone/>
              <a:defRPr>
                <a:latin typeface="Helvetica Neue"/>
              </a:defRPr>
            </a:pPr>
            <a:r>
              <a:rPr lang="en-US" sz="850" dirty="0">
                <a:solidFill>
                  <a:srgbClr val="334155"/>
                </a:solidFill>
                <a:latin typeface="Helvetica Neue" pitchFamily="34" charset="0"/>
                <a:ea typeface="Arial" pitchFamily="34" charset="-122"/>
                <a:cs typeface="Arial" pitchFamily="34" charset="-120"/>
              </a:rPr>
              <a:t>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950" b="1" dirty="0">
                <a:solidFill>
                  <a:srgbClr val="FF6600"/>
                </a:solidFill>
                <a:latin typeface="Helvetica Neue" pitchFamily="34" charset="0"/>
                <a:ea typeface="Arial" pitchFamily="34" charset="-122"/>
                <a:cs typeface="Arial" pitchFamily="34" charset="-120"/>
              </a:rPr>
              <a:t>OKR SCORECARD · QUÝ 3</a:t>
            </a:r>
            <a:endParaRPr lang="en-US" sz="950" dirty="0"/>
          </a:p>
        </p:txBody>
      </p:sp>
      <p:sp>
        <p:nvSpPr>
          <p:cNvPr id="3" name="Text 1"/>
          <p:cNvSpPr/>
          <p:nvPr/>
        </p:nvSpPr>
        <p:spPr>
          <a:xfrm>
            <a:off x="7772400" y="128016"/>
            <a:ext cx="3867912" cy="219456"/>
          </a:xfrm>
          <a:prstGeom prst="roundRect">
            <a:avLst>
              <a:gd name="adj" fmla="val 3000"/>
            </a:avLst>
          </a:prstGeom>
          <a:noFill/>
          <a:ln/>
        </p:spPr>
        <p:txBody>
          <a:bodyPr wrap="square" lIns="0" tIns="0" rIns="0" bIns="0" rtlCol="0" anchor="ctr"/>
          <a:lstStyle/>
          <a:p>
            <a:pPr algn="r" indent="0" marL="0">
              <a:buNone/>
              <a:defRPr>
                <a:latin typeface="Helvetica Neue"/>
              </a:defRPr>
            </a:pPr>
            <a:r>
              <a:rPr lang="en-US" sz="900" i="1" dirty="0">
                <a:solidFill>
                  <a:srgbClr val="64748B"/>
                </a:solidFill>
                <a:latin typeface="Helvetica Neue"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2400" b="1" dirty="0">
                <a:solidFill>
                  <a:srgbClr val="0F172A"/>
                </a:solidFill>
                <a:latin typeface="Helvetica Neue" pitchFamily="34" charset="0"/>
                <a:ea typeface="Arial" pitchFamily="34" charset="-122"/>
                <a:cs typeface="Arial" pitchFamily="34" charset="-120"/>
              </a:rPr>
              <a:t>OKR Quý 3: Baga vượt target, nhưng 4/6 Objective đang ở mức Đỏ</a:t>
            </a:r>
            <a:endParaRPr lang="en-US" sz="2400" dirty="0"/>
          </a:p>
        </p:txBody>
      </p:sp>
      <p:sp>
        <p:nvSpPr>
          <p:cNvPr id="5" name="Shape 3"/>
          <p:cNvSpPr/>
          <p:nvPr/>
        </p:nvSpPr>
        <p:spPr>
          <a:xfrm>
            <a:off x="548640" y="1005840"/>
            <a:ext cx="1005840" cy="36576"/>
          </a:xfrm>
          <a:prstGeom prst="roundRect">
            <a:avLst>
              <a:gd name="adj" fmla="val 3000"/>
            </a:avLst>
          </a:prstGeom>
          <a:solidFill>
            <a:srgbClr val="FF7F32"/>
          </a:solidFill>
          <a:ln/>
        </p:spPr>
        <p:txBody>
          <a:bodyPr/>
          <a:p>
            <a:pPr>
              <a:defRPr>
                <a:latin typeface="Helvetica Neue"/>
              </a:defRPr>
            </a:pPr>
          </a:p>
        </p:txBody>
      </p:sp>
      <p:sp>
        <p:nvSpPr>
          <p:cNvPr id="6" name="Shape 4"/>
          <p:cNvSpPr/>
          <p:nvPr/>
        </p:nvSpPr>
        <p:spPr>
          <a:xfrm>
            <a:off x="548640" y="1133856"/>
            <a:ext cx="45720" cy="512064"/>
          </a:xfrm>
          <a:prstGeom prst="roundRect">
            <a:avLst>
              <a:gd name="adj" fmla="val 3000"/>
            </a:avLst>
          </a:prstGeom>
          <a:solidFill>
            <a:srgbClr val="FF7F32"/>
          </a:solidFill>
          <a:ln/>
        </p:spPr>
        <p:txBody>
          <a:bodyPr/>
          <a:p>
            <a:pPr>
              <a:defRPr>
                <a:latin typeface="Helvetica Neue"/>
              </a:defRPr>
            </a:pPr>
          </a:p>
        </p:txBody>
      </p:sp>
      <p:sp>
        <p:nvSpPr>
          <p:cNvPr id="7" name="Shape 5"/>
          <p:cNvSpPr/>
          <p:nvPr/>
        </p:nvSpPr>
        <p:spPr>
          <a:xfrm>
            <a:off x="594360" y="1133856"/>
            <a:ext cx="11045952" cy="512064"/>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8" name="Text 6"/>
          <p:cNvSpPr/>
          <p:nvPr/>
        </p:nvSpPr>
        <p:spPr>
          <a:xfrm>
            <a:off x="777240" y="1133856"/>
            <a:ext cx="10607040" cy="512064"/>
          </a:xfrm>
          <a:prstGeom prst="roundRect">
            <a:avLst>
              <a:gd name="adj" fmla="val 3000"/>
            </a:avLst>
          </a:prstGeom>
          <a:noFill/>
          <a:ln/>
        </p:spPr>
        <p:txBody>
          <a:bodyPr wrap="square" lIns="0" tIns="0" rIns="0" bIns="0" rtlCol="0" anchor="ctr"/>
          <a:lstStyle/>
          <a:p>
            <a:pPr indent="0" marL="0">
              <a:buNone/>
              <a:defRPr>
                <a:latin typeface="Helvetica Neue"/>
              </a:defRPr>
            </a:pPr>
            <a:r>
              <a:rPr lang="en-US" sz="1100" b="1" dirty="0">
                <a:solidFill>
                  <a:srgbClr val="FF6600"/>
                </a:solidFill>
                <a:latin typeface="Helvetica Neue" pitchFamily="34" charset="0"/>
                <a:ea typeface="Arial" pitchFamily="34" charset="-122"/>
                <a:cs typeface="Arial" pitchFamily="34" charset="-120"/>
              </a:rPr>
              <a:t>Key Takeaway  </a:t>
            </a:r>
            <a:pPr indent="0" marL="0">
              <a:buNone/>
            </a:pPr>
            <a:r>
              <a:rPr lang="en-US" sz="1100" dirty="0">
                <a:solidFill>
                  <a:srgbClr val="334155"/>
                </a:solidFill>
                <a:latin typeface="Helvetica Neue" pitchFamily="34" charset="0"/>
                <a:ea typeface="Arial" pitchFamily="34" charset="-122"/>
                <a:cs typeface="Arial" pitchFamily="34" charset="-120"/>
              </a:rPr>
              <a:t>Gộp từ 4 bảng OKR riêng lẻ (DM, Project, DE, Ops Growth) về 1 hệ RAG duy nhất để so sánh trên cùng một view.</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4434840"/>
        </p:xfrm>
        <a:graphic>
          <a:graphicData uri="http://schemas.openxmlformats.org/drawingml/2006/table">
            <a:tbl>
              <a:tblPr/>
              <a:tblGrid>
                <a:gridCol w="2743200"/>
                <a:gridCol w="3840480"/>
                <a:gridCol w="822960"/>
                <a:gridCol w="3685032"/>
              </a:tblGrid>
              <a:tr h="633549">
                <a:tc>
                  <a:txBody>
                    <a:bodyPr/>
                    <a:lstStyle/>
                    <a:p>
                      <a:pPr indent="0" marL="0" algn="l">
                        <a:buNone/>
                        <a:defRPr b="1">
                          <a:latin typeface="Helvetica Neue"/>
                        </a:defRPr>
                      </a:pPr>
                      <a:r>
                        <a:rPr lang="en-US" sz="1100" b="1" dirty="0">
                          <a:solidFill>
                            <a:srgbClr val="FFFFFF"/>
                          </a:solidFill>
                          <a:latin typeface="Helvetica Neue" pitchFamily="34" charset="0"/>
                          <a:ea typeface="Arial" pitchFamily="34" charset="-122"/>
                          <a:cs typeface="Arial" pitchFamily="34" charset="-120"/>
                        </a:rPr>
                        <a:t>Objective</a:t>
                      </a:r>
                      <a:endParaRPr lang="en-US" sz="11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lgn="l">
                        <a:buNone/>
                        <a:defRPr b="1">
                          <a:latin typeface="Helvetica Neue"/>
                        </a:defRPr>
                      </a:pPr>
                      <a:r>
                        <a:rPr lang="en-US" sz="1100" b="1" dirty="0">
                          <a:solidFill>
                            <a:srgbClr val="FFFFFF"/>
                          </a:solidFill>
                          <a:latin typeface="Helvetica Neue" pitchFamily="34" charset="0"/>
                          <a:ea typeface="Arial" pitchFamily="34" charset="-122"/>
                          <a:cs typeface="Arial" pitchFamily="34" charset="-120"/>
                        </a:rPr>
                        <a:t>Tiến độ nổi bật tháng 7</a:t>
                      </a:r>
                      <a:endParaRPr lang="en-US" sz="11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lgn="l">
                        <a:buNone/>
                        <a:defRPr b="1">
                          <a:latin typeface="Helvetica Neue"/>
                        </a:defRPr>
                      </a:pPr>
                      <a:r>
                        <a:rPr lang="en-US" sz="1100" b="1" dirty="0">
                          <a:solidFill>
                            <a:srgbClr val="FFFFFF"/>
                          </a:solidFill>
                          <a:latin typeface="Helvetica Neue" pitchFamily="34" charset="0"/>
                          <a:ea typeface="Arial" pitchFamily="34" charset="-122"/>
                          <a:cs typeface="Arial" pitchFamily="34" charset="-120"/>
                        </a:rPr>
                        <a:t>RAG</a:t>
                      </a:r>
                      <a:endParaRPr lang="en-US" sz="11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lgn="l">
                        <a:buNone/>
                        <a:defRPr b="1">
                          <a:latin typeface="Helvetica Neue"/>
                        </a:defRPr>
                      </a:pPr>
                      <a:r>
                        <a:rPr lang="en-US" sz="1100" b="1" dirty="0">
                          <a:solidFill>
                            <a:srgbClr val="FFFFFF"/>
                          </a:solidFill>
                          <a:latin typeface="Helvetica Neue" pitchFamily="34" charset="0"/>
                          <a:ea typeface="Arial" pitchFamily="34" charset="-122"/>
                          <a:cs typeface="Arial" pitchFamily="34" charset="-120"/>
                        </a:rPr>
                        <a:t>Ghi chú</a:t>
                      </a:r>
                      <a:endParaRPr lang="en-US" sz="11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r>
              <a:tr h="633549">
                <a:tc>
                  <a:txBody>
                    <a:bodyPr/>
                    <a:lstStyle/>
                    <a:p>
                      <a:pPr indent="0" marL="0" algn="l">
                        <a:buNone/>
                        <a:defRPr>
                          <a:latin typeface="Helvetica Neue"/>
                        </a:defRPr>
                      </a:pPr>
                      <a:r>
                        <a:rPr lang="en-US" sz="1000" b="1" dirty="0">
                          <a:solidFill>
                            <a:srgbClr val="334155"/>
                          </a:solidFill>
                          <a:latin typeface="Helvetica Neue" pitchFamily="34" charset="0"/>
                          <a:ea typeface="Arial" pitchFamily="34" charset="-122"/>
                          <a:cs typeface="Arial" pitchFamily="34" charset="-120"/>
                        </a:rPr>
                        <a:t>Củng cố Driver Moat (Baga, FT, DQS ranking)</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lgn="l">
                        <a:buNone/>
                        <a:defRPr>
                          <a:latin typeface="Helvetica Neue"/>
                        </a:defRPr>
                      </a:pPr>
                      <a:r>
                        <a:rPr lang="en-US" sz="950" dirty="0">
                          <a:solidFill>
                            <a:srgbClr val="334155"/>
                          </a:solidFill>
                          <a:latin typeface="Helvetica Neue" pitchFamily="34" charset="0"/>
                          <a:ea typeface="Arial" pitchFamily="34" charset="-122"/>
                          <a:cs typeface="Arial" pitchFamily="34" charset="-120"/>
                        </a:rPr>
                        <a:t>Baga active đạt 68.2% (50% KR); FT active chỉ đạt 10% KR; DQS ranking chưa có actual</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lgn="l">
                        <a:buNone/>
                        <a:defRPr>
                          <a:latin typeface="Helvetica Neue"/>
                        </a:defRPr>
                      </a:pPr>
                      <a:r>
                        <a:rPr lang="en-US" sz="1000" b="1" dirty="0">
                          <a:solidFill>
                            <a:srgbClr val="DC2626"/>
                          </a:solidFill>
                          <a:latin typeface="Helvetica Neue" pitchFamily="34" charset="0"/>
                          <a:ea typeface="Arial" pitchFamily="34" charset="-122"/>
                          <a:cs typeface="Arial" pitchFamily="34" charset="-120"/>
                        </a:rPr>
                        <a:t>■  ĐỎ</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lgn="l">
                        <a:buNone/>
                        <a:defRPr>
                          <a:latin typeface="Helvetica Neue"/>
                        </a:defRPr>
                      </a:pPr>
                      <a:r>
                        <a:rPr lang="en-US" sz="900" dirty="0">
                          <a:solidFill>
                            <a:srgbClr val="334155"/>
                          </a:solidFill>
                          <a:latin typeface="Helvetica Neue" pitchFamily="34" charset="0"/>
                          <a:ea typeface="Arial" pitchFamily="34" charset="-122"/>
                          <a:cs typeface="Arial" pitchFamily="34" charset="-120"/>
                        </a:rPr>
                        <a:t>Baga tiến triển tốt nhất, FT &amp; ranking chậm nhất</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r>
              <a:tr h="633549">
                <a:tc>
                  <a:txBody>
                    <a:bodyPr/>
                    <a:lstStyle/>
                    <a:p>
                      <a:pPr indent="0" marL="0" algn="l">
                        <a:buNone/>
                        <a:defRPr>
                          <a:latin typeface="Helvetica Neue"/>
                        </a:defRPr>
                      </a:pPr>
                      <a:r>
                        <a:rPr lang="en-US" sz="1000" b="1" dirty="0">
                          <a:solidFill>
                            <a:srgbClr val="334155"/>
                          </a:solidFill>
                          <a:latin typeface="Helvetica Neue" pitchFamily="34" charset="0"/>
                          <a:ea typeface="Arial" pitchFamily="34" charset="-122"/>
                          <a:cs typeface="Arial" pitchFamily="34" charset="-120"/>
                        </a:rPr>
                        <a:t>Bứt phá chuyển đổi EV</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c>
                  <a:txBody>
                    <a:bodyPr/>
                    <a:lstStyle/>
                    <a:p>
                      <a:pPr indent="0" marL="0" algn="l">
                        <a:buNone/>
                        <a:defRPr>
                          <a:latin typeface="Helvetica Neue"/>
                        </a:defRPr>
                      </a:pPr>
                      <a:r>
                        <a:rPr lang="en-US" sz="950" dirty="0">
                          <a:solidFill>
                            <a:srgbClr val="334155"/>
                          </a:solidFill>
                          <a:latin typeface="Helvetica Neue" pitchFamily="34" charset="0"/>
                          <a:ea typeface="Arial" pitchFamily="34" charset="-122"/>
                          <a:cs typeface="Arial" pitchFamily="34" charset="-120"/>
                        </a:rPr>
                        <a:t>EV active đạt 66% KR (HAN 539/1006, SGN 706/873); ký partner mới chưa có actual</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c>
                  <a:txBody>
                    <a:bodyPr/>
                    <a:lstStyle/>
                    <a:p>
                      <a:pPr indent="0" marL="0" algn="l">
                        <a:buNone/>
                        <a:defRPr>
                          <a:latin typeface="Helvetica Neue"/>
                        </a:defRPr>
                      </a:pPr>
                      <a:r>
                        <a:rPr lang="en-US" sz="1000" b="1" dirty="0">
                          <a:solidFill>
                            <a:srgbClr val="D97706"/>
                          </a:solidFill>
                          <a:latin typeface="Helvetica Neue" pitchFamily="34" charset="0"/>
                          <a:ea typeface="Arial" pitchFamily="34" charset="-122"/>
                          <a:cs typeface="Arial" pitchFamily="34" charset="-120"/>
                        </a:rPr>
                        <a:t>■  VÀNG</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c>
                  <a:txBody>
                    <a:bodyPr/>
                    <a:lstStyle/>
                    <a:p>
                      <a:pPr indent="0" marL="0" algn="l">
                        <a:buNone/>
                        <a:defRPr>
                          <a:latin typeface="Helvetica Neue"/>
                        </a:defRPr>
                      </a:pPr>
                      <a:r>
                        <a:rPr lang="en-US" sz="900" dirty="0">
                          <a:solidFill>
                            <a:srgbClr val="334155"/>
                          </a:solidFill>
                          <a:latin typeface="Helvetica Neue" pitchFamily="34" charset="0"/>
                          <a:ea typeface="Arial" pitchFamily="34" charset="-122"/>
                          <a:cs typeface="Arial" pitchFamily="34" charset="-120"/>
                        </a:rPr>
                        <a:t>Active tăng tốt, lead conversion &amp; partner cần đẩy nhanh</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r>
              <a:tr h="633549">
                <a:tc>
                  <a:txBody>
                    <a:bodyPr/>
                    <a:lstStyle/>
                    <a:p>
                      <a:pPr indent="0" marL="0" algn="l">
                        <a:buNone/>
                        <a:defRPr>
                          <a:latin typeface="Helvetica Neue"/>
                        </a:defRPr>
                      </a:pPr>
                      <a:r>
                        <a:rPr lang="en-US" sz="1000" b="1" dirty="0">
                          <a:solidFill>
                            <a:srgbClr val="334155"/>
                          </a:solidFill>
                          <a:latin typeface="Helvetica Neue" pitchFamily="34" charset="0"/>
                          <a:ea typeface="Arial" pitchFamily="34" charset="-122"/>
                          <a:cs typeface="Arial" pitchFamily="34" charset="-120"/>
                        </a:rPr>
                        <a:t>Scale MiniHub</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lgn="l">
                        <a:buNone/>
                        <a:defRPr>
                          <a:latin typeface="Helvetica Neue"/>
                        </a:defRPr>
                      </a:pPr>
                      <a:r>
                        <a:rPr lang="en-US" sz="950" dirty="0">
                          <a:solidFill>
                            <a:srgbClr val="334155"/>
                          </a:solidFill>
                          <a:latin typeface="Helvetica Neue" pitchFamily="34" charset="0"/>
                          <a:ea typeface="Arial" pitchFamily="34" charset="-122"/>
                          <a:cs typeface="Arial" pitchFamily="34" charset="-120"/>
                        </a:rPr>
                        <a:t>Online rate 95% KR, PPH 96% KR; Volume chỉ 36% KR, Cityzone 30% KR, chuẩn hoá Captain chưa bắt đầu</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lgn="l">
                        <a:buNone/>
                        <a:defRPr>
                          <a:latin typeface="Helvetica Neue"/>
                        </a:defRPr>
                      </a:pPr>
                      <a:r>
                        <a:rPr lang="en-US" sz="1000" b="1" dirty="0">
                          <a:solidFill>
                            <a:srgbClr val="DC2626"/>
                          </a:solidFill>
                          <a:latin typeface="Helvetica Neue" pitchFamily="34" charset="0"/>
                          <a:ea typeface="Arial" pitchFamily="34" charset="-122"/>
                          <a:cs typeface="Arial" pitchFamily="34" charset="-120"/>
                        </a:rPr>
                        <a:t>■  ĐỎ</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lgn="l">
                        <a:buNone/>
                        <a:defRPr>
                          <a:latin typeface="Helvetica Neue"/>
                        </a:defRPr>
                      </a:pPr>
                      <a:r>
                        <a:rPr lang="en-US" sz="900" dirty="0">
                          <a:solidFill>
                            <a:srgbClr val="334155"/>
                          </a:solidFill>
                          <a:latin typeface="Helvetica Neue" pitchFamily="34" charset="0"/>
                          <a:ea typeface="Arial" pitchFamily="34" charset="-122"/>
                          <a:cs typeface="Arial" pitchFamily="34" charset="-120"/>
                        </a:rPr>
                        <a:t>Chất lượng tốt nhưng tốc độ mở rộng chậm</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r>
              <a:tr h="633549">
                <a:tc>
                  <a:txBody>
                    <a:bodyPr/>
                    <a:lstStyle/>
                    <a:p>
                      <a:pPr indent="0" marL="0" algn="l">
                        <a:buNone/>
                        <a:defRPr>
                          <a:latin typeface="Helvetica Neue"/>
                        </a:defRPr>
                      </a:pPr>
                      <a:r>
                        <a:rPr lang="en-US" sz="1000" b="1" dirty="0">
                          <a:solidFill>
                            <a:srgbClr val="334155"/>
                          </a:solidFill>
                          <a:latin typeface="Helvetica Neue" pitchFamily="34" charset="0"/>
                          <a:ea typeface="Arial" pitchFamily="34" charset="-122"/>
                          <a:cs typeface="Arial" pitchFamily="34" charset="-120"/>
                        </a:rPr>
                        <a:t>Ứng dụng AI &amp; automation</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c>
                  <a:txBody>
                    <a:bodyPr/>
                    <a:lstStyle/>
                    <a:p>
                      <a:pPr indent="0" marL="0" algn="l">
                        <a:buNone/>
                        <a:defRPr>
                          <a:latin typeface="Helvetica Neue"/>
                        </a:defRPr>
                      </a:pPr>
                      <a:r>
                        <a:rPr lang="en-US" sz="950" dirty="0">
                          <a:solidFill>
                            <a:srgbClr val="334155"/>
                          </a:solidFill>
                          <a:latin typeface="Helvetica Neue" pitchFamily="34" charset="0"/>
                          <a:ea typeface="Arial" pitchFamily="34" charset="-122"/>
                          <a:cs typeface="Arial" pitchFamily="34" charset="-120"/>
                        </a:rPr>
                        <a:t>Cả 2 KR (align Tech roadmap, xác định source AI) đều chưa bắt đầu</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c>
                  <a:txBody>
                    <a:bodyPr/>
                    <a:lstStyle/>
                    <a:p>
                      <a:pPr indent="0" marL="0" algn="l">
                        <a:buNone/>
                        <a:defRPr>
                          <a:latin typeface="Helvetica Neue"/>
                        </a:defRPr>
                      </a:pPr>
                      <a:r>
                        <a:rPr lang="en-US" sz="1000" b="1" dirty="0">
                          <a:solidFill>
                            <a:srgbClr val="DC2626"/>
                          </a:solidFill>
                          <a:latin typeface="Helvetica Neue" pitchFamily="34" charset="0"/>
                          <a:ea typeface="Arial" pitchFamily="34" charset="-122"/>
                          <a:cs typeface="Arial" pitchFamily="34" charset="-120"/>
                        </a:rPr>
                        <a:t>■  ĐỎ</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c>
                  <a:txBody>
                    <a:bodyPr/>
                    <a:lstStyle/>
                    <a:p>
                      <a:pPr indent="0" marL="0" algn="l">
                        <a:buNone/>
                        <a:defRPr>
                          <a:latin typeface="Helvetica Neue"/>
                        </a:defRPr>
                      </a:pPr>
                      <a:r>
                        <a:rPr lang="en-US" sz="900" dirty="0">
                          <a:solidFill>
                            <a:srgbClr val="334155"/>
                          </a:solidFill>
                          <a:latin typeface="Helvetica Neue" pitchFamily="34" charset="0"/>
                          <a:ea typeface="Arial" pitchFamily="34" charset="-122"/>
                          <a:cs typeface="Arial" pitchFamily="34" charset="-120"/>
                        </a:rPr>
                        <a:t>Cần chốt kế hoạch phối hợp Tech trong tháng 8</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r>
              <a:tr h="633549">
                <a:tc>
                  <a:txBody>
                    <a:bodyPr/>
                    <a:lstStyle/>
                    <a:p>
                      <a:pPr indent="0" marL="0" algn="l">
                        <a:buNone/>
                        <a:defRPr>
                          <a:latin typeface="Helvetica Neue"/>
                        </a:defRPr>
                      </a:pPr>
                      <a:r>
                        <a:rPr lang="en-US" sz="1000" b="1" dirty="0">
                          <a:solidFill>
                            <a:srgbClr val="334155"/>
                          </a:solidFill>
                          <a:latin typeface="Helvetica Neue" pitchFamily="34" charset="0"/>
                          <a:ea typeface="Arial" pitchFamily="34" charset="-122"/>
                          <a:cs typeface="Arial" pitchFamily="34" charset="-120"/>
                        </a:rPr>
                        <a:t>Đối tác &amp; Benefit tài xế (DE)</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lgn="l">
                        <a:buNone/>
                        <a:defRPr>
                          <a:latin typeface="Helvetica Neue"/>
                        </a:defRPr>
                      </a:pPr>
                      <a:r>
                        <a:rPr lang="en-US" sz="950" dirty="0">
                          <a:solidFill>
                            <a:srgbClr val="334155"/>
                          </a:solidFill>
                          <a:latin typeface="Helvetica Neue" pitchFamily="34" charset="0"/>
                          <a:ea typeface="Arial" pitchFamily="34" charset="-122"/>
                          <a:cs typeface="Arial" pitchFamily="34" charset="-120"/>
                        </a:rPr>
                        <a:t>3 partner mới đang đàm phán; package Ahabenefit đang thiết kế nhưng redeem rate chưa cải thiện</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lgn="l">
                        <a:buNone/>
                        <a:defRPr>
                          <a:latin typeface="Helvetica Neue"/>
                        </a:defRPr>
                      </a:pPr>
                      <a:r>
                        <a:rPr lang="en-US" sz="1000" b="1" dirty="0">
                          <a:solidFill>
                            <a:srgbClr val="D97706"/>
                          </a:solidFill>
                          <a:latin typeface="Helvetica Neue" pitchFamily="34" charset="0"/>
                          <a:ea typeface="Arial" pitchFamily="34" charset="-122"/>
                          <a:cs typeface="Arial" pitchFamily="34" charset="-120"/>
                        </a:rPr>
                        <a:t>■  VÀNG</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lgn="l">
                        <a:buNone/>
                        <a:defRPr>
                          <a:latin typeface="Helvetica Neue"/>
                        </a:defRPr>
                      </a:pPr>
                      <a:r>
                        <a:rPr lang="en-US" sz="900" dirty="0">
                          <a:solidFill>
                            <a:srgbClr val="334155"/>
                          </a:solidFill>
                          <a:latin typeface="Helvetica Neue" pitchFamily="34" charset="0"/>
                          <a:ea typeface="Arial" pitchFamily="34" charset="-122"/>
                          <a:cs typeface="Arial" pitchFamily="34" charset="-120"/>
                        </a:rPr>
                        <a:t>Move/VF/Shinhan đang ở giai đoạn proposal/survey</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r>
              <a:tr h="633549">
                <a:tc>
                  <a:txBody>
                    <a:bodyPr/>
                    <a:lstStyle/>
                    <a:p>
                      <a:pPr indent="0" marL="0" algn="l">
                        <a:buNone/>
                        <a:defRPr>
                          <a:latin typeface="Helvetica Neue"/>
                        </a:defRPr>
                      </a:pPr>
                      <a:r>
                        <a:rPr lang="en-US" sz="1000" b="1" dirty="0">
                          <a:solidFill>
                            <a:srgbClr val="334155"/>
                          </a:solidFill>
                          <a:latin typeface="Helvetica Neue" pitchFamily="34" charset="0"/>
                          <a:ea typeface="Arial" pitchFamily="34" charset="-122"/>
                          <a:cs typeface="Arial" pitchFamily="34" charset="-120"/>
                        </a:rPr>
                        <a:t>Ops Growth (Onboarding, Retention, Phân loại)</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c>
                  <a:txBody>
                    <a:bodyPr/>
                    <a:lstStyle/>
                    <a:p>
                      <a:pPr indent="0" marL="0" algn="l">
                        <a:buNone/>
                        <a:defRPr>
                          <a:latin typeface="Helvetica Neue"/>
                        </a:defRPr>
                      </a:pPr>
                      <a:r>
                        <a:rPr lang="en-US" sz="950" dirty="0">
                          <a:solidFill>
                            <a:srgbClr val="334155"/>
                          </a:solidFill>
                          <a:latin typeface="Helvetica Neue" pitchFamily="34" charset="0"/>
                          <a:ea typeface="Arial" pitchFamily="34" charset="-122"/>
                          <a:cs typeface="Arial" pitchFamily="34" charset="-120"/>
                        </a:rPr>
                        <a:t>Chuẩn hoá Onboarding 35%, cải thiện Retention 10%, phân loại FT/PT 0%</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c>
                  <a:txBody>
                    <a:bodyPr/>
                    <a:lstStyle/>
                    <a:p>
                      <a:pPr indent="0" marL="0" algn="l">
                        <a:buNone/>
                        <a:defRPr>
                          <a:latin typeface="Helvetica Neue"/>
                        </a:defRPr>
                      </a:pPr>
                      <a:r>
                        <a:rPr lang="en-US" sz="1000" b="1" dirty="0">
                          <a:solidFill>
                            <a:srgbClr val="DC2626"/>
                          </a:solidFill>
                          <a:latin typeface="Helvetica Neue" pitchFamily="34" charset="0"/>
                          <a:ea typeface="Arial" pitchFamily="34" charset="-122"/>
                          <a:cs typeface="Arial" pitchFamily="34" charset="-120"/>
                        </a:rPr>
                        <a:t>■  ĐỎ</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c>
                  <a:txBody>
                    <a:bodyPr/>
                    <a:lstStyle/>
                    <a:p>
                      <a:pPr indent="0" marL="0" algn="l">
                        <a:buNone/>
                        <a:defRPr>
                          <a:latin typeface="Helvetica Neue"/>
                        </a:defRPr>
                      </a:pPr>
                      <a:r>
                        <a:rPr lang="en-US" sz="900" dirty="0">
                          <a:solidFill>
                            <a:srgbClr val="334155"/>
                          </a:solidFill>
                          <a:latin typeface="Helvetica Neue" pitchFamily="34" charset="0"/>
                          <a:ea typeface="Arial" pitchFamily="34" charset="-122"/>
                          <a:cs typeface="Arial" pitchFamily="34" charset="-120"/>
                        </a:rPr>
                        <a:t>Cả 3 KR đều dưới 40% tiến độ</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r>
            </a:tbl>
          </a:graphicData>
        </a:graphic>
      </p:graphicFrame>
      <p:sp>
        <p:nvSpPr>
          <p:cNvPr id="10" name="Shape 7"/>
          <p:cNvSpPr/>
          <p:nvPr/>
        </p:nvSpPr>
        <p:spPr>
          <a:xfrm>
            <a:off x="548640" y="6510528"/>
            <a:ext cx="11091672" cy="0"/>
          </a:xfrm>
          <a:prstGeom prst="roundRect">
            <a:avLst>
              <a:gd name="adj" fmla="val 3000"/>
            </a:avLst>
          </a:prstGeom>
          <a:noFill/>
          <a:ln w="15875">
            <a:solidFill>
              <a:srgbClr val="FF7F32"/>
            </a:solidFill>
            <a:prstDash val="solid"/>
          </a:ln>
        </p:spPr>
        <p:txBody>
          <a:bodyPr/>
          <a:p>
            <a:pPr>
              <a:defRPr>
                <a:latin typeface="Helvetica Neue"/>
              </a:defRPr>
            </a:pPr>
          </a:p>
        </p:txBody>
      </p:sp>
      <p:sp>
        <p:nvSpPr>
          <p:cNvPr id="11" name="Text 8"/>
          <p:cNvSpPr/>
          <p:nvPr/>
        </p:nvSpPr>
        <p:spPr>
          <a:xfrm>
            <a:off x="548640" y="6565392"/>
            <a:ext cx="7315200" cy="256032"/>
          </a:xfrm>
          <a:prstGeom prst="roundRect">
            <a:avLst>
              <a:gd name="adj" fmla="val 3000"/>
            </a:avLst>
          </a:prstGeom>
          <a:noFill/>
          <a:ln/>
        </p:spPr>
        <p:txBody>
          <a:bodyPr wrap="square" lIns="0" tIns="0" rIns="0" bIns="0" rtlCol="0" anchor="ctr"/>
          <a:lstStyle/>
          <a:p>
            <a:pPr indent="0" marL="0">
              <a:buNone/>
              <a:defRPr>
                <a:latin typeface="Helvetica Neue"/>
              </a:defRPr>
            </a:pPr>
            <a:r>
              <a:rPr lang="en-US" sz="850" dirty="0">
                <a:solidFill>
                  <a:srgbClr val="334155"/>
                </a:solidFill>
                <a:latin typeface="Helvetica Neue" pitchFamily="34" charset="0"/>
                <a:ea typeface="Arial" pitchFamily="34" charset="-122"/>
                <a:cs typeface="Arial" pitchFamily="34" charset="-120"/>
              </a:rPr>
              <a:t>DM Monthly Report — Tháng 7/2026</a:t>
            </a:r>
            <a:endParaRPr lang="en-US" sz="850" dirty="0"/>
          </a:p>
        </p:txBody>
      </p:sp>
      <p:sp>
        <p:nvSpPr>
          <p:cNvPr id="12" name="Text 9"/>
          <p:cNvSpPr/>
          <p:nvPr/>
        </p:nvSpPr>
        <p:spPr>
          <a:xfrm>
            <a:off x="11155680" y="6565392"/>
            <a:ext cx="484632" cy="256032"/>
          </a:xfrm>
          <a:prstGeom prst="roundRect">
            <a:avLst>
              <a:gd name="adj" fmla="val 3000"/>
            </a:avLst>
          </a:prstGeom>
          <a:noFill/>
          <a:ln/>
        </p:spPr>
        <p:txBody>
          <a:bodyPr wrap="square" lIns="0" tIns="0" rIns="0" bIns="0" rtlCol="0" anchor="ctr"/>
          <a:lstStyle/>
          <a:p>
            <a:pPr algn="r" indent="0" marL="0">
              <a:buNone/>
              <a:defRPr>
                <a:latin typeface="Helvetica Neue"/>
              </a:defRPr>
            </a:pPr>
            <a:r>
              <a:rPr lang="en-US" sz="850" dirty="0">
                <a:solidFill>
                  <a:srgbClr val="334155"/>
                </a:solidFill>
                <a:latin typeface="Helvetica Neue" pitchFamily="34" charset="0"/>
                <a:ea typeface="Arial" pitchFamily="34" charset="-122"/>
                <a:cs typeface="Arial" pitchFamily="34" charset="-120"/>
              </a:rPr>
              <a:t>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772400" y="36576"/>
            <a:ext cx="3867912" cy="201168"/>
          </a:xfrm>
          <a:prstGeom prst="roundRect">
            <a:avLst>
              <a:gd name="adj" fmla="val 3000"/>
            </a:avLst>
          </a:prstGeom>
          <a:noFill/>
          <a:ln/>
        </p:spPr>
        <p:txBody>
          <a:bodyPr wrap="square" lIns="0" tIns="0" rIns="0" bIns="0" rtlCol="0" anchor="ctr"/>
          <a:lstStyle/>
          <a:p>
            <a:pPr algn="r" indent="0" marL="0">
              <a:buNone/>
              <a:defRPr>
                <a:latin typeface="Helvetica Neue"/>
              </a:defRPr>
            </a:pPr>
            <a:r>
              <a:rPr lang="en-US" sz="850" i="1" dirty="0">
                <a:solidFill>
                  <a:srgbClr val="64748B"/>
                </a:solidFill>
                <a:latin typeface="Helvetica Neue" pitchFamily="34" charset="0"/>
                <a:ea typeface="Arial" pitchFamily="34" charset="-122"/>
                <a:cs typeface="Arial" pitchFamily="34" charset="-120"/>
              </a:rPr>
              <a:t>Ahamove  ·  Driver Management  ·  Báo cáo T7</a:t>
            </a:r>
            <a:endParaRPr lang="en-US" sz="850" dirty="0"/>
          </a:p>
        </p:txBody>
      </p:sp>
      <p:sp>
        <p:nvSpPr>
          <p:cNvPr id="3" name="Shape 1"/>
          <p:cNvSpPr/>
          <p:nvPr/>
        </p:nvSpPr>
        <p:spPr>
          <a:xfrm>
            <a:off x="548640" y="365760"/>
            <a:ext cx="2718054" cy="365760"/>
          </a:xfrm>
          <a:prstGeom prst="roundRect">
            <a:avLst>
              <a:gd name="adj" fmla="val 3000"/>
            </a:avLst>
          </a:prstGeom>
          <a:solidFill>
            <a:srgbClr val="FF6600"/>
          </a:solidFill>
          <a:ln w="12700">
            <a:solidFill>
              <a:srgbClr val="FF6600"/>
            </a:solidFill>
          </a:ln>
        </p:spPr>
        <p:txBody>
          <a:bodyPr/>
          <a:p>
            <a:pPr>
              <a:defRPr b="1">
                <a:latin typeface="Helvetica Neue"/>
              </a:defRPr>
            </a:pPr>
          </a:p>
        </p:txBody>
      </p:sp>
      <p:sp>
        <p:nvSpPr>
          <p:cNvPr id="4" name="Shape 2"/>
          <p:cNvSpPr/>
          <p:nvPr/>
        </p:nvSpPr>
        <p:spPr>
          <a:xfrm>
            <a:off x="548640" y="320040"/>
            <a:ext cx="2718054" cy="45720"/>
          </a:xfrm>
          <a:prstGeom prst="roundRect">
            <a:avLst>
              <a:gd name="adj" fmla="val 3000"/>
            </a:avLst>
          </a:prstGeom>
          <a:solidFill>
            <a:srgbClr val="FF6600"/>
          </a:solidFill>
          <a:ln w="12700">
            <a:solidFill>
              <a:srgbClr val="FF6600"/>
            </a:solidFill>
          </a:ln>
        </p:spPr>
        <p:txBody>
          <a:bodyPr/>
          <a:p>
            <a:pPr>
              <a:defRPr b="1">
                <a:latin typeface="Helvetica Neue"/>
              </a:defRPr>
            </a:pPr>
          </a:p>
        </p:txBody>
      </p:sp>
      <p:sp>
        <p:nvSpPr>
          <p:cNvPr id="5" name="Text 3"/>
          <p:cNvSpPr/>
          <p:nvPr/>
        </p:nvSpPr>
        <p:spPr>
          <a:xfrm>
            <a:off x="548640" y="365760"/>
            <a:ext cx="2718054" cy="365760"/>
          </a:xfrm>
          <a:prstGeom prst="roundRect">
            <a:avLst>
              <a:gd name="adj" fmla="val 3000"/>
            </a:avLst>
          </a:prstGeom>
          <a:noFill/>
          <a:ln/>
        </p:spPr>
        <p:txBody>
          <a:bodyPr wrap="square" lIns="0" tIns="0" rIns="0" bIns="0" rtlCol="0" anchor="ctr"/>
          <a:lstStyle/>
          <a:p>
            <a:pPr algn="ctr" indent="0" marL="0">
              <a:buNone/>
              <a:defRPr b="1">
                <a:latin typeface="Helvetica Neue"/>
              </a:defRPr>
            </a:pPr>
            <a:r>
              <a:rPr lang="en-US" sz="1100" b="1" dirty="0">
                <a:solidFill>
                  <a:srgbClr val="FFFFFF"/>
                </a:solidFill>
                <a:latin typeface="Helvetica Neue" pitchFamily="34" charset="0"/>
                <a:ea typeface="Arial" pitchFamily="34" charset="-122"/>
                <a:cs typeface="Arial" pitchFamily="34" charset="-120"/>
              </a:rPr>
              <a:t>MiniHub</a:t>
            </a:r>
            <a:endParaRPr lang="en-US" sz="1100" dirty="0"/>
          </a:p>
        </p:txBody>
      </p:sp>
      <p:sp>
        <p:nvSpPr>
          <p:cNvPr id="6" name="Shape 4"/>
          <p:cNvSpPr/>
          <p:nvPr/>
        </p:nvSpPr>
        <p:spPr>
          <a:xfrm>
            <a:off x="3339846" y="365760"/>
            <a:ext cx="2718054" cy="365760"/>
          </a:xfrm>
          <a:prstGeom prst="roundRect">
            <a:avLst>
              <a:gd name="adj" fmla="val 3000"/>
            </a:avLst>
          </a:prstGeom>
          <a:solidFill>
            <a:srgbClr val="E2E8F0"/>
          </a:solidFill>
          <a:ln w="12700">
            <a:solidFill>
              <a:srgbClr val="CBD5E1"/>
            </a:solidFill>
          </a:ln>
        </p:spPr>
        <p:txBody>
          <a:bodyPr/>
          <a:p>
            <a:pPr>
              <a:defRPr b="1">
                <a:latin typeface="Helvetica Neue"/>
              </a:defRPr>
            </a:pPr>
          </a:p>
        </p:txBody>
      </p:sp>
      <p:sp>
        <p:nvSpPr>
          <p:cNvPr id="7" name="Text 5"/>
          <p:cNvSpPr/>
          <p:nvPr/>
        </p:nvSpPr>
        <p:spPr>
          <a:xfrm>
            <a:off x="3339846" y="365760"/>
            <a:ext cx="2718054" cy="365760"/>
          </a:xfrm>
          <a:prstGeom prst="roundRect">
            <a:avLst>
              <a:gd name="adj" fmla="val 3000"/>
            </a:avLst>
          </a:prstGeom>
          <a:noFill/>
          <a:ln/>
        </p:spPr>
        <p:txBody>
          <a:bodyPr wrap="square" lIns="0" tIns="0" rIns="0" bIns="0" rtlCol="0" anchor="ctr"/>
          <a:lstStyle/>
          <a:p>
            <a:pPr algn="ctr" indent="0" marL="0">
              <a:buNone/>
              <a:defRPr b="1">
                <a:latin typeface="Helvetica Neue"/>
              </a:defRPr>
            </a:pPr>
            <a:r>
              <a:rPr lang="en-US" sz="1100" dirty="0">
                <a:solidFill>
                  <a:srgbClr val="64748B"/>
                </a:solidFill>
                <a:latin typeface="Helvetica Neue" pitchFamily="34" charset="0"/>
                <a:ea typeface="Arial" pitchFamily="34" charset="-122"/>
                <a:cs typeface="Arial" pitchFamily="34" charset="-120"/>
              </a:rPr>
              <a:t>EV</a:t>
            </a:r>
            <a:endParaRPr lang="en-US" sz="1100" dirty="0"/>
          </a:p>
        </p:txBody>
      </p:sp>
      <p:sp>
        <p:nvSpPr>
          <p:cNvPr id="8" name="Shape 6"/>
          <p:cNvSpPr/>
          <p:nvPr/>
        </p:nvSpPr>
        <p:spPr>
          <a:xfrm>
            <a:off x="6131052" y="365760"/>
            <a:ext cx="2718054" cy="365760"/>
          </a:xfrm>
          <a:prstGeom prst="roundRect">
            <a:avLst>
              <a:gd name="adj" fmla="val 3000"/>
            </a:avLst>
          </a:prstGeom>
          <a:solidFill>
            <a:srgbClr val="E2E8F0"/>
          </a:solidFill>
          <a:ln w="12700">
            <a:solidFill>
              <a:srgbClr val="CBD5E1"/>
            </a:solidFill>
          </a:ln>
        </p:spPr>
        <p:txBody>
          <a:bodyPr/>
          <a:p>
            <a:pPr>
              <a:defRPr b="1">
                <a:latin typeface="Helvetica Neue"/>
              </a:defRPr>
            </a:pPr>
          </a:p>
        </p:txBody>
      </p:sp>
      <p:sp>
        <p:nvSpPr>
          <p:cNvPr id="9" name="Text 7"/>
          <p:cNvSpPr/>
          <p:nvPr/>
        </p:nvSpPr>
        <p:spPr>
          <a:xfrm>
            <a:off x="6131052" y="365760"/>
            <a:ext cx="2718054" cy="365760"/>
          </a:xfrm>
          <a:prstGeom prst="roundRect">
            <a:avLst>
              <a:gd name="adj" fmla="val 3000"/>
            </a:avLst>
          </a:prstGeom>
          <a:noFill/>
          <a:ln/>
        </p:spPr>
        <p:txBody>
          <a:bodyPr wrap="square" lIns="0" tIns="0" rIns="0" bIns="0" rtlCol="0" anchor="ctr"/>
          <a:lstStyle/>
          <a:p>
            <a:pPr algn="ctr" indent="0" marL="0">
              <a:buNone/>
              <a:defRPr b="1">
                <a:latin typeface="Helvetica Neue"/>
              </a:defRPr>
            </a:pPr>
            <a:r>
              <a:rPr lang="en-US" sz="1100" dirty="0">
                <a:solidFill>
                  <a:srgbClr val="64748B"/>
                </a:solidFill>
                <a:latin typeface="Helvetica Neue" pitchFamily="34" charset="0"/>
                <a:ea typeface="Arial" pitchFamily="34" charset="-122"/>
                <a:cs typeface="Arial" pitchFamily="34" charset="-120"/>
              </a:rPr>
              <a:t>Baga Bulky</a:t>
            </a:r>
            <a:endParaRPr lang="en-US" sz="1100" dirty="0"/>
          </a:p>
        </p:txBody>
      </p:sp>
      <p:sp>
        <p:nvSpPr>
          <p:cNvPr id="10" name="Shape 8"/>
          <p:cNvSpPr/>
          <p:nvPr/>
        </p:nvSpPr>
        <p:spPr>
          <a:xfrm>
            <a:off x="8922258" y="365760"/>
            <a:ext cx="2718054" cy="365760"/>
          </a:xfrm>
          <a:prstGeom prst="roundRect">
            <a:avLst>
              <a:gd name="adj" fmla="val 3000"/>
            </a:avLst>
          </a:prstGeom>
          <a:solidFill>
            <a:srgbClr val="E2E8F0"/>
          </a:solidFill>
          <a:ln w="12700">
            <a:solidFill>
              <a:srgbClr val="CBD5E1"/>
            </a:solidFill>
          </a:ln>
        </p:spPr>
        <p:txBody>
          <a:bodyPr/>
          <a:p>
            <a:pPr>
              <a:defRPr b="1">
                <a:latin typeface="Helvetica Neue"/>
              </a:defRPr>
            </a:pPr>
          </a:p>
        </p:txBody>
      </p:sp>
      <p:sp>
        <p:nvSpPr>
          <p:cNvPr id="11" name="Text 9"/>
          <p:cNvSpPr/>
          <p:nvPr/>
        </p:nvSpPr>
        <p:spPr>
          <a:xfrm>
            <a:off x="8922258" y="365760"/>
            <a:ext cx="2718054" cy="365760"/>
          </a:xfrm>
          <a:prstGeom prst="roundRect">
            <a:avLst>
              <a:gd name="adj" fmla="val 3000"/>
            </a:avLst>
          </a:prstGeom>
          <a:noFill/>
          <a:ln/>
        </p:spPr>
        <p:txBody>
          <a:bodyPr wrap="square" lIns="0" tIns="0" rIns="0" bIns="0" rtlCol="0" anchor="ctr"/>
          <a:lstStyle/>
          <a:p>
            <a:pPr algn="ctr" indent="0" marL="0">
              <a:buNone/>
              <a:defRPr b="1">
                <a:latin typeface="Helvetica Neue"/>
              </a:defRPr>
            </a:pPr>
            <a:r>
              <a:rPr lang="en-US" sz="1100" dirty="0">
                <a:solidFill>
                  <a:srgbClr val="64748B"/>
                </a:solidFill>
                <a:latin typeface="Helvetica Neue" pitchFamily="34" charset="0"/>
                <a:ea typeface="Arial" pitchFamily="34" charset="-122"/>
                <a:cs typeface="Arial" pitchFamily="34" charset="-120"/>
              </a:rPr>
              <a:t>Driver Journey</a:t>
            </a:r>
            <a:endParaRPr lang="en-US" sz="1100" dirty="0"/>
          </a:p>
        </p:txBody>
      </p:sp>
      <p:sp>
        <p:nvSpPr>
          <p:cNvPr id="12" name="Shape 10"/>
          <p:cNvSpPr/>
          <p:nvPr/>
        </p:nvSpPr>
        <p:spPr>
          <a:xfrm>
            <a:off x="548640" y="914400"/>
            <a:ext cx="502920" cy="502920"/>
          </a:xfrm>
          <a:prstGeom prst="roundRect">
            <a:avLst>
              <a:gd name="adj" fmla="val 3000"/>
            </a:avLst>
          </a:prstGeom>
          <a:solidFill>
            <a:srgbClr val="DC2626"/>
          </a:solidFill>
          <a:ln>
            <a:noFill/>
          </a:ln>
        </p:spPr>
        <p:txBody>
          <a:bodyPr/>
          <a:p>
            <a:pPr>
              <a:defRPr>
                <a:latin typeface="Helvetica Neue"/>
              </a:defRPr>
            </a:pPr>
          </a:p>
        </p:txBody>
      </p:sp>
      <p:sp>
        <p:nvSpPr>
          <p:cNvPr id="13" name="Text 11"/>
          <p:cNvSpPr/>
          <p:nvPr/>
        </p:nvSpPr>
        <p:spPr>
          <a:xfrm>
            <a:off x="548640" y="914400"/>
            <a:ext cx="502920" cy="502920"/>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300" b="1" dirty="0">
                <a:solidFill>
                  <a:srgbClr val="334155"/>
                </a:solidFill>
                <a:latin typeface="Helvetica Neue" pitchFamily="34" charset="0"/>
                <a:ea typeface="Arial" pitchFamily="34" charset="-122"/>
                <a:cs typeface="Arial" pitchFamily="34" charset="-120"/>
              </a:rPr>
              <a:t>MH</a:t>
            </a:r>
            <a:endParaRPr lang="en-US" sz="1300" dirty="0"/>
          </a:p>
        </p:txBody>
      </p:sp>
      <p:sp>
        <p:nvSpPr>
          <p:cNvPr id="14" name="Text 12"/>
          <p:cNvSpPr/>
          <p:nvPr/>
        </p:nvSpPr>
        <p:spPr>
          <a:xfrm>
            <a:off x="1188720" y="868680"/>
            <a:ext cx="8778240" cy="594360"/>
          </a:xfrm>
          <a:prstGeom prst="roundRect">
            <a:avLst>
              <a:gd name="adj" fmla="val 3000"/>
            </a:avLst>
          </a:prstGeom>
          <a:noFill/>
          <a:ln/>
        </p:spPr>
        <p:txBody>
          <a:bodyPr wrap="square" lIns="0" tIns="0" rIns="0" bIns="0" rtlCol="0" anchor="t"/>
          <a:lstStyle/>
          <a:p>
            <a:pPr indent="0" marL="0">
              <a:buNone/>
              <a:defRPr b="1">
                <a:latin typeface="Helvetica Neue"/>
              </a:defRPr>
            </a:pPr>
            <a:r>
              <a:rPr lang="en-US" sz="1700" b="1" dirty="0">
                <a:solidFill>
                  <a:srgbClr val="0F172A"/>
                </a:solidFill>
                <a:latin typeface="Helvetica Neue" pitchFamily="34" charset="0"/>
                <a:ea typeface="Arial" pitchFamily="34" charset="-122"/>
                <a:cs typeface="Arial" pitchFamily="34" charset="-120"/>
              </a:rPr>
              <a:t>MiniHub:</a:t>
            </a:r>
            <a:pPr indent="0" marL="0">
              <a:buNone/>
            </a:pPr>
            <a:r>
              <a:rPr lang="en-US" sz="1700" b="1" dirty="0">
                <a:solidFill>
                  <a:srgbClr val="0F172A"/>
                </a:solidFill>
                <a:latin typeface="Helvetica Neue" pitchFamily="34" charset="0"/>
                <a:ea typeface="Arial" pitchFamily="34" charset="-122"/>
                <a:cs typeface="Arial" pitchFamily="34" charset="-120"/>
              </a:rPr>
              <a:t> chất lượng vận hành tốt, nhưng tốc độ scale đang chậm hơn kế hoạch</a:t>
            </a:r>
            <a:endParaRPr lang="en-US" sz="1700" dirty="0"/>
          </a:p>
        </p:txBody>
      </p:sp>
      <p:sp>
        <p:nvSpPr>
          <p:cNvPr id="15" name="Shape 13"/>
          <p:cNvSpPr/>
          <p:nvPr/>
        </p:nvSpPr>
        <p:spPr>
          <a:xfrm>
            <a:off x="10332720" y="1051560"/>
            <a:ext cx="146304" cy="146304"/>
          </a:xfrm>
          <a:prstGeom prst="roundRect">
            <a:avLst>
              <a:gd name="adj" fmla="val 3000"/>
            </a:avLst>
          </a:prstGeom>
          <a:solidFill>
            <a:srgbClr val="DC2626"/>
          </a:solidFill>
          <a:ln>
            <a:noFill/>
          </a:ln>
        </p:spPr>
        <p:txBody>
          <a:bodyPr/>
          <a:p>
            <a:pPr>
              <a:defRPr>
                <a:latin typeface="Helvetica Neue"/>
              </a:defRPr>
            </a:pPr>
          </a:p>
        </p:txBody>
      </p:sp>
      <p:sp>
        <p:nvSpPr>
          <p:cNvPr id="16" name="Text 14"/>
          <p:cNvSpPr/>
          <p:nvPr/>
        </p:nvSpPr>
        <p:spPr>
          <a:xfrm>
            <a:off x="10533888" y="996696"/>
            <a:ext cx="914400" cy="256032"/>
          </a:xfrm>
          <a:prstGeom prst="roundRect">
            <a:avLst>
              <a:gd name="adj" fmla="val 3000"/>
            </a:avLst>
          </a:prstGeom>
          <a:noFill/>
          <a:ln/>
        </p:spPr>
        <p:txBody>
          <a:bodyPr wrap="square" lIns="0" tIns="0" rIns="0" bIns="0" rtlCol="0" anchor="ctr"/>
          <a:lstStyle/>
          <a:p>
            <a:pP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ĐỎ</a:t>
            </a:r>
            <a:endParaRPr lang="en-US" sz="1100" dirty="0"/>
          </a:p>
        </p:txBody>
      </p:sp>
      <p:sp>
        <p:nvSpPr>
          <p:cNvPr id="17" name="Shape 15"/>
          <p:cNvSpPr/>
          <p:nvPr/>
        </p:nvSpPr>
        <p:spPr>
          <a:xfrm>
            <a:off x="548640" y="1572768"/>
            <a:ext cx="1005840" cy="36576"/>
          </a:xfrm>
          <a:prstGeom prst="roundRect">
            <a:avLst>
              <a:gd name="adj" fmla="val 3000"/>
            </a:avLst>
          </a:prstGeom>
          <a:solidFill>
            <a:srgbClr val="FF7F32"/>
          </a:solidFill>
          <a:ln/>
        </p:spPr>
        <p:txBody>
          <a:bodyPr/>
          <a:p>
            <a:pPr>
              <a:defRPr>
                <a:latin typeface="Helvetica Neue"/>
              </a:defRPr>
            </a:pPr>
          </a:p>
        </p:txBody>
      </p:sp>
      <p:sp>
        <p:nvSpPr>
          <p:cNvPr id="18" name="Shape 16"/>
          <p:cNvSpPr/>
          <p:nvPr/>
        </p:nvSpPr>
        <p:spPr>
          <a:xfrm>
            <a:off x="548640" y="1783080"/>
            <a:ext cx="3017520" cy="54864"/>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19" name="Shape 17"/>
          <p:cNvSpPr/>
          <p:nvPr/>
        </p:nvSpPr>
        <p:spPr>
          <a:xfrm>
            <a:off x="548640" y="1837944"/>
            <a:ext cx="3017520" cy="136245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20" name="Text 18"/>
          <p:cNvSpPr/>
          <p:nvPr/>
        </p:nvSpPr>
        <p:spPr>
          <a:xfrm>
            <a:off x="685800" y="1901952"/>
            <a:ext cx="2148840" cy="502920"/>
          </a:xfrm>
          <a:prstGeom prst="roundRect">
            <a:avLst>
              <a:gd name="adj" fmla="val 3000"/>
            </a:avLst>
          </a:prstGeom>
          <a:noFill/>
          <a:ln/>
        </p:spPr>
        <p:txBody>
          <a:bodyPr wrap="square" lIns="0" tIns="0" rIns="0" bIns="0" rtlCol="0" anchor="ctr"/>
          <a:lstStyle/>
          <a:p>
            <a:pPr indent="0" marL="0">
              <a:buNone/>
              <a:defRPr sz="3800" b="1">
                <a:latin typeface="Helvetica Neue"/>
              </a:defRPr>
            </a:pPr>
            <a:r>
              <a:rPr lang="en-US" sz="2400" b="1" dirty="0">
                <a:solidFill>
                  <a:srgbClr val="0F172A"/>
                </a:solidFill>
                <a:latin typeface="Helvetica Neue" pitchFamily="34" charset="0"/>
                <a:ea typeface="Arial" pitchFamily="34" charset="-122"/>
                <a:cs typeface="Arial" pitchFamily="34" charset="-120"/>
              </a:rPr>
              <a:t>~2x</a:t>
            </a:r>
            <a:endParaRPr lang="en-US" sz="2400" dirty="0"/>
          </a:p>
        </p:txBody>
      </p:sp>
      <p:sp>
        <p:nvSpPr>
          <p:cNvPr id="21" name="Text 19"/>
          <p:cNvSpPr/>
          <p:nvPr/>
        </p:nvSpPr>
        <p:spPr>
          <a:xfrm>
            <a:off x="685800" y="2377440"/>
            <a:ext cx="2148840" cy="274320"/>
          </a:xfrm>
          <a:prstGeom prst="roundRect">
            <a:avLst>
              <a:gd name="adj" fmla="val 3000"/>
            </a:avLst>
          </a:prstGeom>
          <a:noFill/>
          <a:ln/>
        </p:spPr>
        <p:txBody>
          <a:bodyPr wrap="square" lIns="0" tIns="0" rIns="0" bIns="0" rtlCol="0" anchor="t"/>
          <a:lstStyle/>
          <a:p>
            <a:pPr indent="0" marL="0">
              <a:buNone/>
              <a:defRPr>
                <a:latin typeface="Helvetica Neue"/>
              </a:defRPr>
            </a:pPr>
            <a:r>
              <a:rPr lang="en-US" sz="900" dirty="0">
                <a:solidFill>
                  <a:srgbClr val="334155"/>
                </a:solidFill>
                <a:latin typeface="Helvetica Neue" pitchFamily="34" charset="0"/>
                <a:ea typeface="Arial" pitchFamily="34" charset="-122"/>
                <a:cs typeface="Arial" pitchFamily="34" charset="-120"/>
              </a:rPr>
              <a:t>PPH của Hub cao gấp ~2 lần Mass ở cả 2 thành phố</a:t>
            </a:r>
            <a:endParaRPr lang="en-US" sz="900" dirty="0"/>
          </a:p>
        </p:txBody>
      </p:sp>
      <p:sp>
        <p:nvSpPr>
          <p:cNvPr id="22" name="Shape 20"/>
          <p:cNvSpPr/>
          <p:nvPr/>
        </p:nvSpPr>
        <p:spPr>
          <a:xfrm>
            <a:off x="3063240" y="1965960"/>
            <a:ext cx="457200" cy="192024"/>
          </a:xfrm>
          <a:prstGeom prst="roundRect">
            <a:avLst>
              <a:gd name="adj" fmla="val 3000"/>
            </a:avLst>
          </a:prstGeom>
          <a:solidFill>
            <a:srgbClr val="D9631A"/>
          </a:solidFill>
          <a:ln/>
        </p:spPr>
        <p:txBody>
          <a:bodyPr/>
          <a:p>
            <a:pPr>
              <a:defRPr>
                <a:latin typeface="Helvetica Neue"/>
              </a:defRPr>
            </a:pPr>
          </a:p>
        </p:txBody>
      </p:sp>
      <p:sp>
        <p:nvSpPr>
          <p:cNvPr id="23" name="Shape 21"/>
          <p:cNvSpPr/>
          <p:nvPr/>
        </p:nvSpPr>
        <p:spPr>
          <a:xfrm>
            <a:off x="3099816" y="2148840"/>
            <a:ext cx="384048" cy="251460"/>
          </a:xfrm>
          <a:prstGeom prst="roundRect">
            <a:avLst>
              <a:gd name="adj" fmla="val 3000"/>
            </a:avLst>
          </a:prstGeom>
          <a:solidFill>
            <a:srgbClr val="D9631A"/>
          </a:solidFill>
          <a:ln/>
        </p:spPr>
        <p:txBody>
          <a:bodyPr/>
          <a:p>
            <a:pPr>
              <a:defRPr>
                <a:latin typeface="Helvetica Neue"/>
              </a:defRPr>
            </a:pPr>
          </a:p>
        </p:txBody>
      </p:sp>
      <p:sp>
        <p:nvSpPr>
          <p:cNvPr id="24" name="Shape 22"/>
          <p:cNvSpPr/>
          <p:nvPr/>
        </p:nvSpPr>
        <p:spPr>
          <a:xfrm>
            <a:off x="3246120" y="2263140"/>
            <a:ext cx="91440" cy="137160"/>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25" name="Shape 23"/>
          <p:cNvSpPr/>
          <p:nvPr/>
        </p:nvSpPr>
        <p:spPr>
          <a:xfrm>
            <a:off x="548640" y="2670048"/>
            <a:ext cx="3017520" cy="347472"/>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26" name="Shape 24"/>
          <p:cNvSpPr/>
          <p:nvPr/>
        </p:nvSpPr>
        <p:spPr>
          <a:xfrm>
            <a:off x="548640" y="2670048"/>
            <a:ext cx="45720" cy="347472"/>
          </a:xfrm>
          <a:prstGeom prst="roundRect">
            <a:avLst>
              <a:gd name="adj" fmla="val 3000"/>
            </a:avLst>
          </a:prstGeom>
          <a:solidFill>
            <a:srgbClr val="DC2626"/>
          </a:solidFill>
          <a:ln>
            <a:noFill/>
          </a:ln>
        </p:spPr>
        <p:txBody>
          <a:bodyPr/>
          <a:p>
            <a:pPr>
              <a:defRPr>
                <a:latin typeface="Helvetica Neue"/>
              </a:defRPr>
            </a:pPr>
          </a:p>
        </p:txBody>
      </p:sp>
      <p:sp>
        <p:nvSpPr>
          <p:cNvPr id="27" name="Text 25"/>
          <p:cNvSpPr/>
          <p:nvPr/>
        </p:nvSpPr>
        <p:spPr>
          <a:xfrm>
            <a:off x="713232" y="2688336"/>
            <a:ext cx="2743200" cy="164592"/>
          </a:xfrm>
          <a:prstGeom prst="roundRect">
            <a:avLst>
              <a:gd name="adj" fmla="val 3000"/>
            </a:avLst>
          </a:prstGeom>
          <a:noFill/>
          <a:ln/>
        </p:spPr>
        <p:txBody>
          <a:bodyPr wrap="square" lIns="0" tIns="0" rIns="0" bIns="0" rtlCol="0" anchor="ctr"/>
          <a:lstStyle/>
          <a:p>
            <a:pPr indent="0" marL="0">
              <a:buNone/>
              <a:defRPr>
                <a:latin typeface="Helvetica Neue"/>
              </a:defRPr>
            </a:pPr>
            <a:r>
              <a:rPr lang="en-US" sz="750" b="1" dirty="0">
                <a:solidFill>
                  <a:srgbClr val="334155"/>
                </a:solidFill>
                <a:latin typeface="Helvetica Neue" pitchFamily="34" charset="0"/>
                <a:ea typeface="Arial" pitchFamily="34" charset="-122"/>
                <a:cs typeface="Arial" pitchFamily="34" charset="-120"/>
              </a:rPr>
              <a:t>MỤC TIÊU</a:t>
            </a:r>
            <a:endParaRPr lang="en-US" sz="750" dirty="0"/>
          </a:p>
        </p:txBody>
      </p:sp>
      <p:sp>
        <p:nvSpPr>
          <p:cNvPr id="28" name="Text 26"/>
          <p:cNvSpPr/>
          <p:nvPr/>
        </p:nvSpPr>
        <p:spPr>
          <a:xfrm>
            <a:off x="713232" y="2834640"/>
            <a:ext cx="2743200" cy="182880"/>
          </a:xfrm>
          <a:prstGeom prst="roundRect">
            <a:avLst>
              <a:gd name="adj" fmla="val 3000"/>
            </a:avLst>
          </a:prstGeom>
          <a:noFill/>
          <a:ln/>
        </p:spPr>
        <p:txBody>
          <a:bodyPr wrap="square" lIns="0" tIns="0" rIns="0" bIns="0" rtlCol="0" anchor="ctr"/>
          <a:lstStyle/>
          <a:p>
            <a:pPr indent="0" marL="0">
              <a:buNone/>
              <a:defRPr>
                <a:latin typeface="Helvetica Neue"/>
              </a:defRPr>
            </a:pPr>
            <a:r>
              <a:rPr lang="en-US" sz="1000" b="1" dirty="0">
                <a:solidFill>
                  <a:srgbClr val="E5342E"/>
                </a:solidFill>
                <a:latin typeface="Helvetica Neue" pitchFamily="34" charset="0"/>
                <a:ea typeface="Arial" pitchFamily="34" charset="-122"/>
                <a:cs typeface="Arial" pitchFamily="34" charset="-120"/>
              </a:rPr>
              <a:t>Go/no-go PnL trước 15/8</a:t>
            </a:r>
            <a:endParaRPr lang="en-US" sz="1000" dirty="0"/>
          </a:p>
        </p:txBody>
      </p:sp>
      <p:sp>
        <p:nvSpPr>
          <p:cNvPr id="29" name="Shape 27"/>
          <p:cNvSpPr/>
          <p:nvPr/>
        </p:nvSpPr>
        <p:spPr>
          <a:xfrm>
            <a:off x="548640" y="3337560"/>
            <a:ext cx="3017520" cy="54864"/>
          </a:xfrm>
          <a:prstGeom prst="roundRect">
            <a:avLst>
              <a:gd name="adj" fmla="val 3000"/>
            </a:avLst>
          </a:prstGeom>
          <a:solidFill>
            <a:srgbClr val="FF7F32"/>
          </a:solidFill>
          <a:ln/>
        </p:spPr>
        <p:txBody>
          <a:bodyPr/>
          <a:p>
            <a:pPr>
              <a:defRPr>
                <a:latin typeface="Helvetica Neue"/>
              </a:defRPr>
            </a:pPr>
          </a:p>
        </p:txBody>
      </p:sp>
      <p:sp>
        <p:nvSpPr>
          <p:cNvPr id="30" name="Shape 28"/>
          <p:cNvSpPr/>
          <p:nvPr/>
        </p:nvSpPr>
        <p:spPr>
          <a:xfrm>
            <a:off x="548640" y="3392424"/>
            <a:ext cx="3017520" cy="27797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31" name="Text 29"/>
          <p:cNvSpPr/>
          <p:nvPr/>
        </p:nvSpPr>
        <p:spPr>
          <a:xfrm>
            <a:off x="731520" y="3474720"/>
            <a:ext cx="2651760" cy="228600"/>
          </a:xfrm>
          <a:prstGeom prst="roundRect">
            <a:avLst>
              <a:gd name="adj" fmla="val 3000"/>
            </a:avLst>
          </a:prstGeom>
          <a:noFill/>
          <a:ln/>
        </p:spPr>
        <p:txBody>
          <a:bodyPr wrap="square" lIns="0" tIns="0" rIns="0" bIns="0" rtlCol="0" anchor="ctr"/>
          <a:lstStyle/>
          <a:p>
            <a:pPr indent="0" marL="0">
              <a:buNone/>
              <a:defRPr>
                <a:latin typeface="Helvetica Neue"/>
              </a:defRPr>
            </a:pPr>
            <a:r>
              <a:rPr lang="en-US" sz="950" b="1" dirty="0">
                <a:solidFill>
                  <a:srgbClr val="334155"/>
                </a:solidFill>
                <a:latin typeface="Helvetica Neue" pitchFamily="34" charset="0"/>
                <a:ea typeface="Arial" pitchFamily="34" charset="-122"/>
                <a:cs typeface="Arial" pitchFamily="34" charset="-120"/>
              </a:rPr>
              <a:t>TRƯỚC</a:t>
            </a:r>
            <a:endParaRPr lang="en-US" sz="950" dirty="0"/>
          </a:p>
        </p:txBody>
      </p:sp>
      <p:sp>
        <p:nvSpPr>
          <p:cNvPr id="32" name="Text 30"/>
          <p:cNvSpPr/>
          <p:nvPr/>
        </p:nvSpPr>
        <p:spPr>
          <a:xfrm>
            <a:off x="731520" y="3721608"/>
            <a:ext cx="2651760" cy="914400"/>
          </a:xfrm>
          <a:prstGeom prst="roundRect">
            <a:avLst>
              <a:gd name="adj" fmla="val 3000"/>
            </a:avLst>
          </a:prstGeom>
          <a:noFill/>
          <a:ln/>
        </p:spPr>
        <p:txBody>
          <a:bodyPr wrap="square" lIns="0" tIns="0" rIns="0" bIns="0" rtlCol="0" anchor="t"/>
          <a:lstStyle/>
          <a:p>
            <a:pPr indent="0" marL="0">
              <a:buNone/>
              <a:defRPr>
                <a:latin typeface="Helvetica Neue"/>
              </a:defRPr>
            </a:pPr>
            <a:r>
              <a:rPr lang="en-US" sz="950" dirty="0">
                <a:solidFill>
                  <a:srgbClr val="334155"/>
                </a:solidFill>
                <a:latin typeface="Helvetica Neue" pitchFamily="34" charset="0"/>
                <a:ea typeface="Arial" pitchFamily="34" charset="-122"/>
                <a:cs typeface="Arial" pitchFamily="34" charset="-120"/>
              </a:rPr>
              <a:t>Zone theo ranh giới cũ; KPI Leader chưa tách riêng theo từng khu vực; dispatch dùng chung 1 layer cho cả zone.</a:t>
            </a:r>
            <a:endParaRPr lang="en-US" sz="950" dirty="0"/>
          </a:p>
        </p:txBody>
      </p:sp>
      <p:sp>
        <p:nvSpPr>
          <p:cNvPr id="33" name="Text 31"/>
          <p:cNvSpPr/>
          <p:nvPr/>
        </p:nvSpPr>
        <p:spPr>
          <a:xfrm>
            <a:off x="731520" y="4617720"/>
            <a:ext cx="2651760" cy="228600"/>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400" b="1" dirty="0">
                <a:solidFill>
                  <a:srgbClr val="FF7F32"/>
                </a:solidFill>
                <a:latin typeface="Helvetica Neue" pitchFamily="34" charset="0"/>
                <a:ea typeface="Arial" pitchFamily="34" charset="-122"/>
                <a:cs typeface="Arial" pitchFamily="34" charset="-120"/>
              </a:rPr>
              <a:t>↓</a:t>
            </a:r>
            <a:endParaRPr lang="en-US" sz="1400" dirty="0"/>
          </a:p>
        </p:txBody>
      </p:sp>
      <p:sp>
        <p:nvSpPr>
          <p:cNvPr id="34" name="Text 32"/>
          <p:cNvSpPr/>
          <p:nvPr/>
        </p:nvSpPr>
        <p:spPr>
          <a:xfrm>
            <a:off x="731520" y="4873752"/>
            <a:ext cx="2651760" cy="228600"/>
          </a:xfrm>
          <a:prstGeom prst="roundRect">
            <a:avLst>
              <a:gd name="adj" fmla="val 3000"/>
            </a:avLst>
          </a:prstGeom>
          <a:noFill/>
          <a:ln/>
        </p:spPr>
        <p:txBody>
          <a:bodyPr wrap="square" lIns="0" tIns="0" rIns="0" bIns="0" rtlCol="0" anchor="ctr"/>
          <a:lstStyle/>
          <a:p>
            <a:pPr indent="0" marL="0">
              <a:buNone/>
              <a:defRPr>
                <a:latin typeface="Helvetica Neue"/>
              </a:defRPr>
            </a:pPr>
            <a:r>
              <a:rPr lang="en-US" sz="950" b="1" dirty="0">
                <a:solidFill>
                  <a:srgbClr val="334155"/>
                </a:solidFill>
                <a:latin typeface="Helvetica Neue" pitchFamily="34" charset="0"/>
                <a:ea typeface="Arial" pitchFamily="34" charset="-122"/>
                <a:cs typeface="Arial" pitchFamily="34" charset="-120"/>
              </a:rPr>
              <a:t>SAU</a:t>
            </a:r>
            <a:endParaRPr lang="en-US" sz="950" dirty="0"/>
          </a:p>
        </p:txBody>
      </p:sp>
      <p:sp>
        <p:nvSpPr>
          <p:cNvPr id="35" name="Text 33"/>
          <p:cNvSpPr/>
          <p:nvPr/>
        </p:nvSpPr>
        <p:spPr>
          <a:xfrm>
            <a:off x="731520" y="5120640"/>
            <a:ext cx="2651760" cy="914400"/>
          </a:xfrm>
          <a:prstGeom prst="roundRect">
            <a:avLst>
              <a:gd name="adj" fmla="val 3000"/>
            </a:avLst>
          </a:prstGeom>
          <a:noFill/>
          <a:ln/>
        </p:spPr>
        <p:txBody>
          <a:bodyPr wrap="square" lIns="0" tIns="0" rIns="0" bIns="0" rtlCol="0" anchor="t"/>
          <a:lstStyle/>
          <a:p>
            <a:pPr indent="0" marL="0">
              <a:buNone/>
              <a:defRPr>
                <a:latin typeface="Helvetica Neue"/>
              </a:defRPr>
            </a:pPr>
            <a:r>
              <a:rPr lang="en-US" sz="950" dirty="0">
                <a:solidFill>
                  <a:srgbClr val="334155"/>
                </a:solidFill>
                <a:latin typeface="Helvetica Neue" pitchFamily="34" charset="0"/>
                <a:ea typeface="Arial" pitchFamily="34" charset="-122"/>
                <a:cs typeface="Arial" pitchFamily="34" charset="-120"/>
              </a:rPr>
              <a:t>Từ 6/7: HAN chuyển sang mô hình Hub quận, mở thêm Bigzone &amp; Z24; NW áp dụng combine rule mới &amp; dispatch layer riêng; KPI Leader đánh giá theo từng zone.</a:t>
            </a:r>
            <a:endParaRPr lang="en-US" sz="950" dirty="0"/>
          </a:p>
        </p:txBody>
      </p:sp>
      <p:sp>
        <p:nvSpPr>
          <p:cNvPr id="36" name="Shape 34"/>
          <p:cNvSpPr/>
          <p:nvPr/>
        </p:nvSpPr>
        <p:spPr>
          <a:xfrm>
            <a:off x="3794760" y="1783080"/>
            <a:ext cx="3858768" cy="54864"/>
          </a:xfrm>
          <a:prstGeom prst="roundRect">
            <a:avLst>
              <a:gd name="adj" fmla="val 3000"/>
            </a:avLst>
          </a:prstGeom>
          <a:solidFill>
            <a:srgbClr val="6B6B6B"/>
          </a:solidFill>
          <a:ln/>
        </p:spPr>
        <p:txBody>
          <a:bodyPr/>
          <a:p>
            <a:pPr>
              <a:defRPr>
                <a:latin typeface="Helvetica Neue"/>
              </a:defRPr>
            </a:pPr>
          </a:p>
        </p:txBody>
      </p:sp>
      <p:sp>
        <p:nvSpPr>
          <p:cNvPr id="37" name="Shape 35"/>
          <p:cNvSpPr/>
          <p:nvPr/>
        </p:nvSpPr>
        <p:spPr>
          <a:xfrm>
            <a:off x="3794760" y="1837944"/>
            <a:ext cx="3858768" cy="20939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38" name="Shape 36"/>
          <p:cNvSpPr/>
          <p:nvPr/>
        </p:nvSpPr>
        <p:spPr>
          <a:xfrm>
            <a:off x="3959352" y="1984248"/>
            <a:ext cx="310896" cy="310896"/>
          </a:xfrm>
          <a:prstGeom prst="roundRect">
            <a:avLst>
              <a:gd name="adj" fmla="val 3000"/>
            </a:avLst>
          </a:prstGeom>
          <a:solidFill>
            <a:srgbClr val="6B6B6B"/>
          </a:solidFill>
          <a:ln/>
        </p:spPr>
        <p:txBody>
          <a:bodyPr/>
          <a:p>
            <a:pPr>
              <a:defRPr>
                <a:latin typeface="Helvetica Neue"/>
              </a:defRPr>
            </a:pPr>
          </a:p>
        </p:txBody>
      </p:sp>
      <p:sp>
        <p:nvSpPr>
          <p:cNvPr id="39" name="Text 37"/>
          <p:cNvSpPr/>
          <p:nvPr/>
        </p:nvSpPr>
        <p:spPr>
          <a:xfrm>
            <a:off x="3959352" y="1984248"/>
            <a:ext cx="310896" cy="31089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1</a:t>
            </a:r>
            <a:endParaRPr lang="en-US" sz="1100" dirty="0"/>
          </a:p>
        </p:txBody>
      </p:sp>
      <p:sp>
        <p:nvSpPr>
          <p:cNvPr id="40" name="Text 38"/>
          <p:cNvSpPr/>
          <p:nvPr/>
        </p:nvSpPr>
        <p:spPr>
          <a:xfrm>
            <a:off x="4361688" y="2002536"/>
            <a:ext cx="3127248" cy="292608"/>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1100" b="1" dirty="0">
                <a:solidFill>
                  <a:srgbClr val="0F172A"/>
                </a:solidFill>
                <a:latin typeface="Helvetica Neue" pitchFamily="34" charset="0"/>
                <a:ea typeface="Arial" pitchFamily="34" charset="-122"/>
                <a:cs typeface="Arial" pitchFamily="34" charset="-120"/>
              </a:rPr>
              <a:t>ĐÃ LÀM GÌ (T7)</a:t>
            </a:r>
            <a:endParaRPr lang="en-US" sz="1100" dirty="0"/>
          </a:p>
        </p:txBody>
      </p:sp>
      <p:sp>
        <p:nvSpPr>
          <p:cNvPr id="41" name="Text 39"/>
          <p:cNvSpPr/>
          <p:nvPr/>
        </p:nvSpPr>
        <p:spPr>
          <a:xfrm>
            <a:off x="3995928" y="2441448"/>
            <a:ext cx="3456432" cy="1325880"/>
          </a:xfrm>
          <a:prstGeom prst="roundRect">
            <a:avLst>
              <a:gd name="adj" fmla="val 3000"/>
            </a:avLst>
          </a:prstGeom>
          <a:noFill/>
          <a:ln/>
        </p:spPr>
        <p:txBody>
          <a:bodyPr wrap="square" lIns="0" tIns="0" rIns="0" bIns="0" rtlCol="0" anchor="t"/>
          <a:lstStyle/>
          <a:p>
            <a:pPr indent="0" marL="0">
              <a:buNone/>
              <a:defRPr>
                <a:latin typeface="Helvetica Neue"/>
              </a:defRPr>
            </a:pPr>
            <a:r>
              <a:rPr lang="en-US" sz="1050" dirty="0">
                <a:solidFill>
                  <a:srgbClr val="334155"/>
                </a:solidFill>
                <a:latin typeface="Helvetica Neue" pitchFamily="34" charset="0"/>
                <a:ea typeface="Arial" pitchFamily="34" charset="-122"/>
                <a:cs typeface="Arial" pitchFamily="34" charset="-120"/>
              </a:rPr>
              <a:t>Mở rộng zone theo mô hình mới; đánh giá KPI Leader theo từng zone.</a:t>
            </a:r>
            <a:endParaRPr lang="en-US" sz="1050" dirty="0"/>
          </a:p>
        </p:txBody>
      </p:sp>
      <p:sp>
        <p:nvSpPr>
          <p:cNvPr id="42" name="Shape 40"/>
          <p:cNvSpPr/>
          <p:nvPr/>
        </p:nvSpPr>
        <p:spPr>
          <a:xfrm>
            <a:off x="7799832" y="1783080"/>
            <a:ext cx="3858768" cy="54864"/>
          </a:xfrm>
          <a:prstGeom prst="roundRect">
            <a:avLst>
              <a:gd name="adj" fmla="val 3000"/>
            </a:avLst>
          </a:prstGeom>
          <a:solidFill>
            <a:srgbClr val="DC2626"/>
          </a:solidFill>
          <a:ln>
            <a:noFill/>
          </a:ln>
        </p:spPr>
        <p:txBody>
          <a:bodyPr/>
          <a:p>
            <a:pPr>
              <a:defRPr>
                <a:latin typeface="Helvetica Neue"/>
              </a:defRPr>
            </a:pPr>
          </a:p>
        </p:txBody>
      </p:sp>
      <p:sp>
        <p:nvSpPr>
          <p:cNvPr id="43" name="Shape 41"/>
          <p:cNvSpPr/>
          <p:nvPr/>
        </p:nvSpPr>
        <p:spPr>
          <a:xfrm>
            <a:off x="7799832" y="1837944"/>
            <a:ext cx="3858768" cy="20939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44" name="Shape 42"/>
          <p:cNvSpPr/>
          <p:nvPr/>
        </p:nvSpPr>
        <p:spPr>
          <a:xfrm>
            <a:off x="7964424" y="1984248"/>
            <a:ext cx="310896" cy="310896"/>
          </a:xfrm>
          <a:prstGeom prst="roundRect">
            <a:avLst>
              <a:gd name="adj" fmla="val 3000"/>
            </a:avLst>
          </a:prstGeom>
          <a:solidFill>
            <a:srgbClr val="DC2626"/>
          </a:solidFill>
          <a:ln>
            <a:noFill/>
          </a:ln>
        </p:spPr>
        <p:txBody>
          <a:bodyPr/>
          <a:p>
            <a:pPr>
              <a:defRPr>
                <a:latin typeface="Helvetica Neue"/>
              </a:defRPr>
            </a:pPr>
          </a:p>
        </p:txBody>
      </p:sp>
      <p:sp>
        <p:nvSpPr>
          <p:cNvPr id="45" name="Text 43"/>
          <p:cNvSpPr/>
          <p:nvPr/>
        </p:nvSpPr>
        <p:spPr>
          <a:xfrm>
            <a:off x="7964424" y="1984248"/>
            <a:ext cx="310896" cy="31089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a:t>
            </a:r>
            <a:endParaRPr lang="en-US" sz="1100" dirty="0"/>
          </a:p>
        </p:txBody>
      </p:sp>
      <p:sp>
        <p:nvSpPr>
          <p:cNvPr id="46" name="Text 44"/>
          <p:cNvSpPr/>
          <p:nvPr/>
        </p:nvSpPr>
        <p:spPr>
          <a:xfrm>
            <a:off x="8366760" y="2002536"/>
            <a:ext cx="3127248" cy="292608"/>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1100" b="1" dirty="0">
                <a:solidFill>
                  <a:srgbClr val="DC2626"/>
                </a:solidFill>
                <a:latin typeface="Helvetica Neue" pitchFamily="34" charset="0"/>
                <a:ea typeface="Arial" pitchFamily="34" charset="-122"/>
                <a:cs typeface="Arial" pitchFamily="34" charset="-120"/>
              </a:rPr>
              <a:t>TÁC ĐỘNG</a:t>
            </a:r>
            <a:endParaRPr lang="en-US" sz="1100" dirty="0"/>
          </a:p>
        </p:txBody>
      </p:sp>
      <p:sp>
        <p:nvSpPr>
          <p:cNvPr id="47" name="Text 45"/>
          <p:cNvSpPr/>
          <p:nvPr/>
        </p:nvSpPr>
        <p:spPr>
          <a:xfrm>
            <a:off x="8001000" y="2441448"/>
            <a:ext cx="3456432" cy="1325880"/>
          </a:xfrm>
          <a:prstGeom prst="roundRect">
            <a:avLst>
              <a:gd name="adj" fmla="val 3000"/>
            </a:avLst>
          </a:prstGeom>
          <a:noFill/>
          <a:ln/>
        </p:spPr>
        <p:txBody>
          <a:bodyPr wrap="square" lIns="0" tIns="0" rIns="0" bIns="0" rtlCol="0" anchor="t"/>
          <a:lstStyle/>
          <a:p>
            <a:pPr indent="0" marL="0">
              <a:buNone/>
              <a:defRPr>
                <a:latin typeface="Helvetica Neue"/>
              </a:defRPr>
            </a:pPr>
            <a:r>
              <a:rPr lang="en-US" sz="1050" dirty="0">
                <a:solidFill>
                  <a:srgbClr val="334155"/>
                </a:solidFill>
                <a:latin typeface="Helvetica Neue" pitchFamily="34" charset="0"/>
                <a:ea typeface="Arial" pitchFamily="34" charset="-122"/>
                <a:cs typeface="Arial" pitchFamily="34" charset="-120"/>
              </a:rPr>
              <a:t>Active tăng </a:t>
            </a:r>
            <a:pPr indent="0" marL="0">
              <a:buNone/>
            </a:pPr>
            <a:r>
              <a:rPr lang="en-US" sz="1050" b="1" dirty="0">
                <a:solidFill>
                  <a:srgbClr val="334155"/>
                </a:solidFill>
                <a:latin typeface="Helvetica Neue" pitchFamily="34" charset="0"/>
                <a:ea typeface="Arial" pitchFamily="34" charset="-122"/>
                <a:cs typeface="Arial" pitchFamily="34" charset="-120"/>
              </a:rPr>
              <a:t>14% MoM</a:t>
            </a:r>
            <a:pPr indent="0" marL="0">
              <a:buNone/>
            </a:pPr>
            <a:r>
              <a:rPr lang="en-US" sz="1050" dirty="0">
                <a:solidFill>
                  <a:srgbClr val="334155"/>
                </a:solidFill>
                <a:latin typeface="Helvetica Neue" pitchFamily="34" charset="0"/>
                <a:ea typeface="Arial" pitchFamily="34" charset="-122"/>
                <a:cs typeface="Arial" pitchFamily="34" charset="-120"/>
              </a:rPr>
              <a:t> tại HAN nhưng retention giảm 5%, chỉ đạt </a:t>
            </a:r>
            <a:pPr indent="0" marL="0">
              <a:buNone/>
            </a:pPr>
            <a:r>
              <a:rPr lang="en-US" sz="1050" b="1" dirty="0">
                <a:solidFill>
                  <a:srgbClr val="334155"/>
                </a:solidFill>
                <a:latin typeface="Helvetica Neue" pitchFamily="34" charset="0"/>
                <a:ea typeface="Arial" pitchFamily="34" charset="-122"/>
                <a:cs typeface="Arial" pitchFamily="34" charset="-120"/>
              </a:rPr>
              <a:t>65%</a:t>
            </a:r>
            <a:pPr indent="0" marL="0">
              <a:buNone/>
            </a:pPr>
            <a:r>
              <a:rPr lang="en-US" sz="1050" dirty="0">
                <a:solidFill>
                  <a:srgbClr val="334155"/>
                </a:solidFill>
                <a:latin typeface="Helvetica Neue" pitchFamily="34" charset="0"/>
                <a:ea typeface="Arial" pitchFamily="34" charset="-122"/>
                <a:cs typeface="Arial" pitchFamily="34" charset="-120"/>
              </a:rPr>
              <a:t> (giảm mạnh nhất ở Z24, Thanh Xuân). Volume NW đạt </a:t>
            </a:r>
            <a:pPr indent="0" marL="0">
              <a:buNone/>
            </a:pPr>
            <a:r>
              <a:rPr lang="en-US" sz="1050" b="1" dirty="0">
                <a:solidFill>
                  <a:srgbClr val="334155"/>
                </a:solidFill>
                <a:latin typeface="Helvetica Neue" pitchFamily="34" charset="0"/>
                <a:ea typeface="Arial" pitchFamily="34" charset="-122"/>
                <a:cs typeface="Arial" pitchFamily="34" charset="-120"/>
              </a:rPr>
              <a:t>215.1K</a:t>
            </a:r>
            <a:pPr indent="0" marL="0">
              <a:buNone/>
            </a:pPr>
            <a:r>
              <a:rPr lang="en-US" sz="1050" dirty="0">
                <a:solidFill>
                  <a:srgbClr val="334155"/>
                </a:solidFill>
                <a:latin typeface="Helvetica Neue" pitchFamily="34" charset="0"/>
                <a:ea typeface="Arial" pitchFamily="34" charset="-122"/>
                <a:cs typeface="Arial" pitchFamily="34" charset="-120"/>
              </a:rPr>
              <a:t> (+17% MoM) nhưng mới chạm </a:t>
            </a:r>
            <a:pPr indent="0" marL="0">
              <a:buNone/>
            </a:pPr>
            <a:r>
              <a:rPr lang="en-US" sz="1050" b="1" dirty="0">
                <a:solidFill>
                  <a:srgbClr val="334155"/>
                </a:solidFill>
                <a:latin typeface="Helvetica Neue" pitchFamily="34" charset="0"/>
                <a:ea typeface="Arial" pitchFamily="34" charset="-122"/>
                <a:cs typeface="Arial" pitchFamily="34" charset="-120"/>
              </a:rPr>
              <a:t>36% KR</a:t>
            </a:r>
            <a:pPr indent="0" marL="0">
              <a:buNone/>
            </a:pPr>
            <a:r>
              <a:rPr lang="en-US" sz="1050" dirty="0">
                <a:solidFill>
                  <a:srgbClr val="334155"/>
                </a:solidFill>
                <a:latin typeface="Helvetica Neue" pitchFamily="34" charset="0"/>
                <a:ea typeface="Arial" pitchFamily="34" charset="-122"/>
                <a:cs typeface="Arial" pitchFamily="34" charset="-120"/>
              </a:rPr>
              <a:t> Q3; Cityzone chỉ </a:t>
            </a:r>
            <a:pPr indent="0" marL="0">
              <a:buNone/>
            </a:pPr>
            <a:r>
              <a:rPr lang="en-US" sz="1050" b="1" dirty="0">
                <a:solidFill>
                  <a:srgbClr val="334155"/>
                </a:solidFill>
                <a:latin typeface="Helvetica Neue" pitchFamily="34" charset="0"/>
                <a:ea typeface="Arial" pitchFamily="34" charset="-122"/>
                <a:cs typeface="Arial" pitchFamily="34" charset="-120"/>
              </a:rPr>
              <a:t>30% KR</a:t>
            </a:r>
            <a:pPr indent="0" marL="0">
              <a:buNone/>
            </a:pPr>
            <a:r>
              <a:rPr lang="en-US" sz="1050" dirty="0">
                <a:solidFill>
                  <a:srgbClr val="334155"/>
                </a:solidFill>
                <a:latin typeface="Helvetica Neue" pitchFamily="34" charset="0"/>
                <a:ea typeface="Arial" pitchFamily="34" charset="-122"/>
                <a:cs typeface="Arial" pitchFamily="34" charset="-120"/>
              </a:rPr>
              <a:t>. </a:t>
            </a:r>
            <a:pPr indent="0" marL="0">
              <a:buNone/>
            </a:pPr>
            <a:r>
              <a:rPr lang="en-US" sz="1050" b="1" dirty="0">
                <a:solidFill>
                  <a:srgbClr val="334155"/>
                </a:solidFill>
                <a:latin typeface="Helvetica Neue" pitchFamily="34" charset="0"/>
                <a:ea typeface="Arial" pitchFamily="34" charset="-122"/>
                <a:cs typeface="Arial" pitchFamily="34" charset="-120"/>
              </a:rPr>
              <a:t>Cơ chế:</a:t>
            </a:r>
            <a:pPr indent="0" marL="0">
              <a:buNone/>
            </a:pPr>
            <a:r>
              <a:rPr lang="en-US" sz="1050" dirty="0">
                <a:solidFill>
                  <a:srgbClr val="334155"/>
                </a:solidFill>
                <a:latin typeface="Helvetica Neue" pitchFamily="34" charset="0"/>
                <a:ea typeface="Arial" pitchFamily="34" charset="-122"/>
                <a:cs typeface="Arial" pitchFamily="34" charset="-120"/>
              </a:rPr>
              <a:t> zone mới rộng hơn kéo giãn mật độ tương tác, vùng mới mở chưa đủ đơn giữ chân tài xế.</a:t>
            </a:r>
            <a:endParaRPr lang="en-US" sz="1050" dirty="0"/>
          </a:p>
        </p:txBody>
      </p:sp>
      <p:sp>
        <p:nvSpPr>
          <p:cNvPr id="48" name="Shape 46"/>
          <p:cNvSpPr/>
          <p:nvPr/>
        </p:nvSpPr>
        <p:spPr>
          <a:xfrm>
            <a:off x="3794760" y="4069080"/>
            <a:ext cx="3858768" cy="54864"/>
          </a:xfrm>
          <a:prstGeom prst="roundRect">
            <a:avLst>
              <a:gd name="adj" fmla="val 3000"/>
            </a:avLst>
          </a:prstGeom>
          <a:solidFill>
            <a:srgbClr val="FF7F32"/>
          </a:solidFill>
          <a:ln/>
        </p:spPr>
        <p:txBody>
          <a:bodyPr/>
          <a:p>
            <a:pPr>
              <a:defRPr>
                <a:latin typeface="Helvetica Neue"/>
              </a:defRPr>
            </a:pPr>
          </a:p>
        </p:txBody>
      </p:sp>
      <p:sp>
        <p:nvSpPr>
          <p:cNvPr id="49" name="Shape 47"/>
          <p:cNvSpPr/>
          <p:nvPr/>
        </p:nvSpPr>
        <p:spPr>
          <a:xfrm>
            <a:off x="3794760" y="4123944"/>
            <a:ext cx="3858768" cy="20939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50" name="Shape 48"/>
          <p:cNvSpPr/>
          <p:nvPr/>
        </p:nvSpPr>
        <p:spPr>
          <a:xfrm>
            <a:off x="3959352" y="4270248"/>
            <a:ext cx="310896" cy="310896"/>
          </a:xfrm>
          <a:prstGeom prst="roundRect">
            <a:avLst>
              <a:gd name="adj" fmla="val 3000"/>
            </a:avLst>
          </a:prstGeom>
          <a:solidFill>
            <a:srgbClr val="FF7F32"/>
          </a:solidFill>
          <a:ln/>
        </p:spPr>
        <p:txBody>
          <a:bodyPr/>
          <a:p>
            <a:pPr>
              <a:defRPr>
                <a:latin typeface="Helvetica Neue"/>
              </a:defRPr>
            </a:pPr>
          </a:p>
        </p:txBody>
      </p:sp>
      <p:sp>
        <p:nvSpPr>
          <p:cNvPr id="51" name="Text 49"/>
          <p:cNvSpPr/>
          <p:nvPr/>
        </p:nvSpPr>
        <p:spPr>
          <a:xfrm>
            <a:off x="3959352" y="4270248"/>
            <a:ext cx="310896" cy="31089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a:t>
            </a:r>
            <a:endParaRPr lang="en-US" sz="1100" dirty="0"/>
          </a:p>
        </p:txBody>
      </p:sp>
      <p:sp>
        <p:nvSpPr>
          <p:cNvPr id="52" name="Text 50"/>
          <p:cNvSpPr/>
          <p:nvPr/>
        </p:nvSpPr>
        <p:spPr>
          <a:xfrm>
            <a:off x="4361688" y="4288536"/>
            <a:ext cx="3127248" cy="292608"/>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1100" b="1" dirty="0">
                <a:solidFill>
                  <a:srgbClr val="0F172A"/>
                </a:solidFill>
                <a:latin typeface="Helvetica Neue" pitchFamily="34" charset="0"/>
                <a:ea typeface="Arial" pitchFamily="34" charset="-122"/>
                <a:cs typeface="Arial" pitchFamily="34" charset="-120"/>
              </a:rPr>
              <a:t>BƯỚC TIẾP THEO</a:t>
            </a:r>
            <a:endParaRPr lang="en-US" sz="1100" dirty="0"/>
          </a:p>
        </p:txBody>
      </p:sp>
      <p:sp>
        <p:nvSpPr>
          <p:cNvPr id="53" name="Text 51"/>
          <p:cNvSpPr/>
          <p:nvPr/>
        </p:nvSpPr>
        <p:spPr>
          <a:xfrm>
            <a:off x="3995928" y="4727448"/>
            <a:ext cx="3456432" cy="1325880"/>
          </a:xfrm>
          <a:prstGeom prst="roundRect">
            <a:avLst>
              <a:gd name="adj" fmla="val 3000"/>
            </a:avLst>
          </a:prstGeom>
          <a:noFill/>
          <a:ln/>
        </p:spPr>
        <p:txBody>
          <a:bodyPr wrap="square" lIns="0" tIns="0" rIns="0" bIns="0" rtlCol="0" anchor="t"/>
          <a:lstStyle/>
          <a:p>
            <a:pPr indent="0" marL="0">
              <a:buNone/>
              <a:defRPr>
                <a:latin typeface="Helvetica Neue"/>
              </a:defRPr>
            </a:pPr>
            <a:r>
              <a:rPr lang="en-US" sz="1050" dirty="0">
                <a:solidFill>
                  <a:srgbClr val="334155"/>
                </a:solidFill>
                <a:latin typeface="Helvetica Neue" pitchFamily="34" charset="0"/>
                <a:ea typeface="Arial" pitchFamily="34" charset="-122"/>
                <a:cs typeface="Arial" pitchFamily="34" charset="-120"/>
              </a:rPr>
              <a:t>Review target KPI theo baseline zone mới (tính từ 6/7); đánh giá PnL mô hình MiniHub Leader (ROI vs chi phí </a:t>
            </a:r>
            <a:pPr indent="0" marL="0">
              <a:buNone/>
            </a:pPr>
            <a:r>
              <a:rPr lang="en-US" sz="1050" b="1" dirty="0">
                <a:solidFill>
                  <a:srgbClr val="334155"/>
                </a:solidFill>
                <a:latin typeface="Helvetica Neue" pitchFamily="34" charset="0"/>
                <a:ea typeface="Arial" pitchFamily="34" charset="-122"/>
                <a:cs typeface="Arial" pitchFamily="34" charset="-120"/>
              </a:rPr>
              <a:t>36-50tr/tháng</a:t>
            </a:r>
            <a:pPr indent="0" marL="0">
              <a:buNone/>
            </a:pPr>
            <a:r>
              <a:rPr lang="en-US" sz="1050" dirty="0">
                <a:solidFill>
                  <a:srgbClr val="334155"/>
                </a:solidFill>
                <a:latin typeface="Helvetica Neue" pitchFamily="34" charset="0"/>
                <a:ea typeface="Arial" pitchFamily="34" charset="-122"/>
                <a:cs typeface="Arial" pitchFamily="34" charset="-120"/>
              </a:rPr>
              <a:t>) để quyết định go/no-go scale trước </a:t>
            </a:r>
            <a:pPr indent="0" marL="0">
              <a:buNone/>
            </a:pPr>
            <a:r>
              <a:rPr lang="en-US" sz="1050" b="1" dirty="0">
                <a:solidFill>
                  <a:srgbClr val="334155"/>
                </a:solidFill>
                <a:latin typeface="Helvetica Neue" pitchFamily="34" charset="0"/>
                <a:ea typeface="Arial" pitchFamily="34" charset="-122"/>
                <a:cs typeface="Arial" pitchFamily="34" charset="-120"/>
              </a:rPr>
              <a:t>15/8</a:t>
            </a:r>
            <a:pPr indent="0" marL="0">
              <a:buNone/>
            </a:pPr>
            <a:r>
              <a:rPr lang="en-US" sz="1050" dirty="0">
                <a:solidFill>
                  <a:srgbClr val="334155"/>
                </a:solidFill>
                <a:latin typeface="Helvetica Neue" pitchFamily="34" charset="0"/>
                <a:ea typeface="Arial" pitchFamily="34" charset="-122"/>
                <a:cs typeface="Arial" pitchFamily="34" charset="-120"/>
              </a:rPr>
              <a:t>.</a:t>
            </a:r>
            <a:endParaRPr lang="en-US" sz="1050" dirty="0"/>
          </a:p>
        </p:txBody>
      </p:sp>
      <p:sp>
        <p:nvSpPr>
          <p:cNvPr id="54" name="Shape 52"/>
          <p:cNvSpPr/>
          <p:nvPr/>
        </p:nvSpPr>
        <p:spPr>
          <a:xfrm>
            <a:off x="7799832" y="4069080"/>
            <a:ext cx="3858768" cy="54864"/>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55" name="Shape 53"/>
          <p:cNvSpPr/>
          <p:nvPr/>
        </p:nvSpPr>
        <p:spPr>
          <a:xfrm>
            <a:off x="7799832" y="4123944"/>
            <a:ext cx="3858768" cy="20939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56" name="Shape 54"/>
          <p:cNvSpPr/>
          <p:nvPr/>
        </p:nvSpPr>
        <p:spPr>
          <a:xfrm>
            <a:off x="7964424" y="4270248"/>
            <a:ext cx="310896" cy="310896"/>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57" name="Text 55"/>
          <p:cNvSpPr/>
          <p:nvPr/>
        </p:nvSpPr>
        <p:spPr>
          <a:xfrm>
            <a:off x="7964424" y="4270248"/>
            <a:ext cx="310896" cy="31089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a:t>
            </a:r>
            <a:endParaRPr lang="en-US" sz="1100" dirty="0"/>
          </a:p>
        </p:txBody>
      </p:sp>
      <p:sp>
        <p:nvSpPr>
          <p:cNvPr id="58" name="Text 56"/>
          <p:cNvSpPr/>
          <p:nvPr/>
        </p:nvSpPr>
        <p:spPr>
          <a:xfrm>
            <a:off x="8366760" y="4288536"/>
            <a:ext cx="3127248" cy="292608"/>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1100" b="1" dirty="0">
                <a:solidFill>
                  <a:srgbClr val="0F172A"/>
                </a:solidFill>
                <a:latin typeface="Helvetica Neue" pitchFamily="34" charset="0"/>
                <a:ea typeface="Arial" pitchFamily="34" charset="-122"/>
                <a:cs typeface="Arial" pitchFamily="34" charset="-120"/>
              </a:rPr>
              <a:t>CẦN SUPPORT TỪ</a:t>
            </a:r>
            <a:endParaRPr lang="en-US" sz="1100" dirty="0"/>
          </a:p>
        </p:txBody>
      </p:sp>
      <p:sp>
        <p:nvSpPr>
          <p:cNvPr id="59" name="Text 57"/>
          <p:cNvSpPr/>
          <p:nvPr/>
        </p:nvSpPr>
        <p:spPr>
          <a:xfrm>
            <a:off x="8001000" y="4727448"/>
            <a:ext cx="3456432" cy="1325880"/>
          </a:xfrm>
          <a:prstGeom prst="roundRect">
            <a:avLst>
              <a:gd name="adj" fmla="val 3000"/>
            </a:avLst>
          </a:prstGeom>
          <a:noFill/>
          <a:ln/>
        </p:spPr>
        <p:txBody>
          <a:bodyPr wrap="square" lIns="0" tIns="0" rIns="0" bIns="0" rtlCol="0" anchor="t"/>
          <a:lstStyle/>
          <a:p>
            <a:pPr indent="0" marL="0">
              <a:buNone/>
              <a:defRPr>
                <a:latin typeface="Helvetica Neue"/>
              </a:defRPr>
            </a:pPr>
            <a:r>
              <a:rPr lang="en-US" sz="1050" dirty="0">
                <a:solidFill>
                  <a:srgbClr val="334155"/>
                </a:solidFill>
                <a:latin typeface="Helvetica Neue" pitchFamily="34" charset="0"/>
                <a:ea typeface="Arial" pitchFamily="34" charset="-122"/>
                <a:cs typeface="Arial" pitchFamily="34" charset="-120"/>
              </a:rPr>
              <a:t>S&amp;P (đánh giá PnL, baseline/control group), OE (theo dõi coverage &amp; chế tài)</a:t>
            </a:r>
            <a:endParaRPr lang="en-US" sz="1050" dirty="0"/>
          </a:p>
        </p:txBody>
      </p:sp>
      <p:sp>
        <p:nvSpPr>
          <p:cNvPr id="60" name="Shape 58"/>
          <p:cNvSpPr/>
          <p:nvPr/>
        </p:nvSpPr>
        <p:spPr>
          <a:xfrm>
            <a:off x="548640" y="6510528"/>
            <a:ext cx="11091672" cy="0"/>
          </a:xfrm>
          <a:prstGeom prst="roundRect">
            <a:avLst>
              <a:gd name="adj" fmla="val 3000"/>
            </a:avLst>
          </a:prstGeom>
          <a:noFill/>
          <a:ln w="15875">
            <a:solidFill>
              <a:srgbClr val="FF7F32"/>
            </a:solidFill>
            <a:prstDash val="solid"/>
          </a:ln>
        </p:spPr>
        <p:txBody>
          <a:bodyPr/>
          <a:p>
            <a:pPr>
              <a:defRPr>
                <a:latin typeface="Helvetica Neue"/>
              </a:defRPr>
            </a:pPr>
          </a:p>
        </p:txBody>
      </p:sp>
      <p:sp>
        <p:nvSpPr>
          <p:cNvPr id="61" name="Text 59"/>
          <p:cNvSpPr/>
          <p:nvPr/>
        </p:nvSpPr>
        <p:spPr>
          <a:xfrm>
            <a:off x="548640" y="6565392"/>
            <a:ext cx="7315200" cy="256032"/>
          </a:xfrm>
          <a:prstGeom prst="roundRect">
            <a:avLst>
              <a:gd name="adj" fmla="val 3000"/>
            </a:avLst>
          </a:prstGeom>
          <a:noFill/>
          <a:ln/>
        </p:spPr>
        <p:txBody>
          <a:bodyPr wrap="square" lIns="0" tIns="0" rIns="0" bIns="0" rtlCol="0" anchor="ctr"/>
          <a:lstStyle/>
          <a:p>
            <a:pPr indent="0" marL="0">
              <a:buNone/>
              <a:defRPr>
                <a:latin typeface="Helvetica Neue"/>
              </a:defRPr>
            </a:pPr>
            <a:r>
              <a:rPr lang="en-US" sz="850" dirty="0">
                <a:solidFill>
                  <a:srgbClr val="334155"/>
                </a:solidFill>
                <a:latin typeface="Helvetica Neue" pitchFamily="34" charset="0"/>
                <a:ea typeface="Arial" pitchFamily="34" charset="-122"/>
                <a:cs typeface="Arial" pitchFamily="34" charset="-120"/>
              </a:rPr>
              <a:t>DM Monthly Report — Tháng 7/2026</a:t>
            </a:r>
            <a:endParaRPr lang="en-US" sz="850" dirty="0"/>
          </a:p>
        </p:txBody>
      </p:sp>
      <p:sp>
        <p:nvSpPr>
          <p:cNvPr id="62" name="Text 60"/>
          <p:cNvSpPr/>
          <p:nvPr/>
        </p:nvSpPr>
        <p:spPr>
          <a:xfrm>
            <a:off x="11155680" y="6565392"/>
            <a:ext cx="484632" cy="256032"/>
          </a:xfrm>
          <a:prstGeom prst="roundRect">
            <a:avLst>
              <a:gd name="adj" fmla="val 3000"/>
            </a:avLst>
          </a:prstGeom>
          <a:noFill/>
          <a:ln/>
        </p:spPr>
        <p:txBody>
          <a:bodyPr wrap="square" lIns="0" tIns="0" rIns="0" bIns="0" rtlCol="0" anchor="ctr"/>
          <a:lstStyle/>
          <a:p>
            <a:pPr algn="r" indent="0" marL="0">
              <a:buNone/>
              <a:defRPr>
                <a:latin typeface="Helvetica Neue"/>
              </a:defRPr>
            </a:pPr>
            <a:r>
              <a:rPr lang="en-US" sz="850" dirty="0">
                <a:solidFill>
                  <a:srgbClr val="334155"/>
                </a:solidFill>
                <a:latin typeface="Helvetica Neue" pitchFamily="34" charset="0"/>
                <a:ea typeface="Arial" pitchFamily="34" charset="-122"/>
                <a:cs typeface="Arial" pitchFamily="34" charset="-120"/>
              </a:rPr>
              <a:t>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772400" y="36576"/>
            <a:ext cx="3867912" cy="201168"/>
          </a:xfrm>
          <a:prstGeom prst="roundRect">
            <a:avLst>
              <a:gd name="adj" fmla="val 3000"/>
            </a:avLst>
          </a:prstGeom>
          <a:noFill/>
          <a:ln/>
        </p:spPr>
        <p:txBody>
          <a:bodyPr wrap="square" lIns="0" tIns="0" rIns="0" bIns="0" rtlCol="0" anchor="ctr"/>
          <a:lstStyle/>
          <a:p>
            <a:pPr algn="r" indent="0" marL="0">
              <a:buNone/>
              <a:defRPr>
                <a:latin typeface="Helvetica Neue"/>
              </a:defRPr>
            </a:pPr>
            <a:r>
              <a:rPr lang="en-US" sz="850" i="1" dirty="0">
                <a:solidFill>
                  <a:srgbClr val="64748B"/>
                </a:solidFill>
                <a:latin typeface="Helvetica Neue" pitchFamily="34" charset="0"/>
                <a:ea typeface="Arial" pitchFamily="34" charset="-122"/>
                <a:cs typeface="Arial" pitchFamily="34" charset="-120"/>
              </a:rPr>
              <a:t>Ahamove  ·  Driver Management  ·  Báo cáo T7</a:t>
            </a:r>
            <a:endParaRPr lang="en-US" sz="850" dirty="0"/>
          </a:p>
        </p:txBody>
      </p:sp>
      <p:sp>
        <p:nvSpPr>
          <p:cNvPr id="3" name="Shape 1"/>
          <p:cNvSpPr/>
          <p:nvPr/>
        </p:nvSpPr>
        <p:spPr>
          <a:xfrm>
            <a:off x="548640" y="365760"/>
            <a:ext cx="2718054" cy="365760"/>
          </a:xfrm>
          <a:prstGeom prst="roundRect">
            <a:avLst>
              <a:gd name="adj" fmla="val 3000"/>
            </a:avLst>
          </a:prstGeom>
          <a:solidFill>
            <a:srgbClr val="FF6600"/>
          </a:solidFill>
          <a:ln w="12700">
            <a:solidFill>
              <a:srgbClr val="FF6600"/>
            </a:solidFill>
          </a:ln>
        </p:spPr>
        <p:txBody>
          <a:bodyPr/>
          <a:p>
            <a:pPr>
              <a:defRPr b="1">
                <a:latin typeface="Helvetica Neue"/>
              </a:defRPr>
            </a:pPr>
          </a:p>
        </p:txBody>
      </p:sp>
      <p:sp>
        <p:nvSpPr>
          <p:cNvPr id="4" name="Text 2"/>
          <p:cNvSpPr/>
          <p:nvPr/>
        </p:nvSpPr>
        <p:spPr>
          <a:xfrm>
            <a:off x="548640" y="365760"/>
            <a:ext cx="2718054" cy="365760"/>
          </a:xfrm>
          <a:prstGeom prst="roundRect">
            <a:avLst>
              <a:gd name="adj" fmla="val 3000"/>
            </a:avLst>
          </a:prstGeom>
          <a:noFill/>
          <a:ln/>
        </p:spPr>
        <p:txBody>
          <a:bodyPr wrap="square" lIns="0" tIns="0" rIns="0" bIns="0" rtlCol="0" anchor="ctr"/>
          <a:lstStyle/>
          <a:p>
            <a:pPr algn="ctr" indent="0" marL="0">
              <a:buNone/>
              <a:defRPr b="1">
                <a:latin typeface="Helvetica Neue"/>
              </a:defRPr>
            </a:pPr>
            <a:r>
              <a:rPr lang="en-US" sz="1100" dirty="0">
                <a:solidFill>
                  <a:srgbClr val="FFFFFF"/>
                </a:solidFill>
                <a:latin typeface="Helvetica Neue" pitchFamily="34" charset="0"/>
                <a:ea typeface="Arial" pitchFamily="34" charset="-122"/>
                <a:cs typeface="Arial" pitchFamily="34" charset="-120"/>
              </a:rPr>
              <a:t>MiniHub</a:t>
            </a:r>
            <a:endParaRPr lang="en-US" sz="1100" dirty="0"/>
          </a:p>
        </p:txBody>
      </p:sp>
      <p:sp>
        <p:nvSpPr>
          <p:cNvPr id="5" name="Shape 3"/>
          <p:cNvSpPr/>
          <p:nvPr/>
        </p:nvSpPr>
        <p:spPr>
          <a:xfrm>
            <a:off x="3339846" y="365760"/>
            <a:ext cx="2718054" cy="365760"/>
          </a:xfrm>
          <a:prstGeom prst="roundRect">
            <a:avLst>
              <a:gd name="adj" fmla="val 3000"/>
            </a:avLst>
          </a:prstGeom>
          <a:solidFill>
            <a:srgbClr val="E2E8F0"/>
          </a:solidFill>
          <a:ln w="12700">
            <a:solidFill>
              <a:srgbClr val="CBD5E1"/>
            </a:solidFill>
          </a:ln>
        </p:spPr>
        <p:txBody>
          <a:bodyPr/>
          <a:p>
            <a:pPr>
              <a:defRPr b="1">
                <a:latin typeface="Helvetica Neue"/>
              </a:defRPr>
            </a:pPr>
          </a:p>
        </p:txBody>
      </p:sp>
      <p:sp>
        <p:nvSpPr>
          <p:cNvPr id="6" name="Shape 4"/>
          <p:cNvSpPr/>
          <p:nvPr/>
        </p:nvSpPr>
        <p:spPr>
          <a:xfrm>
            <a:off x="3339846" y="320040"/>
            <a:ext cx="2718054" cy="45720"/>
          </a:xfrm>
          <a:prstGeom prst="roundRect">
            <a:avLst>
              <a:gd name="adj" fmla="val 3000"/>
            </a:avLst>
          </a:prstGeom>
          <a:solidFill>
            <a:srgbClr val="E2E8F0"/>
          </a:solidFill>
          <a:ln w="12700">
            <a:solidFill>
              <a:srgbClr val="CBD5E1"/>
            </a:solidFill>
          </a:ln>
        </p:spPr>
        <p:txBody>
          <a:bodyPr/>
          <a:p>
            <a:pPr>
              <a:defRPr b="1">
                <a:latin typeface="Helvetica Neue"/>
              </a:defRPr>
            </a:pPr>
          </a:p>
        </p:txBody>
      </p:sp>
      <p:sp>
        <p:nvSpPr>
          <p:cNvPr id="7" name="Text 5"/>
          <p:cNvSpPr/>
          <p:nvPr/>
        </p:nvSpPr>
        <p:spPr>
          <a:xfrm>
            <a:off x="3339846" y="365760"/>
            <a:ext cx="2718054" cy="365760"/>
          </a:xfrm>
          <a:prstGeom prst="roundRect">
            <a:avLst>
              <a:gd name="adj" fmla="val 3000"/>
            </a:avLst>
          </a:prstGeom>
          <a:noFill/>
          <a:ln/>
        </p:spPr>
        <p:txBody>
          <a:bodyPr wrap="square" lIns="0" tIns="0" rIns="0" bIns="0" rtlCol="0" anchor="ctr"/>
          <a:lstStyle/>
          <a:p>
            <a:pPr algn="ctr" indent="0" marL="0">
              <a:buNone/>
              <a:defRPr b="1">
                <a:latin typeface="Helvetica Neue"/>
              </a:defRPr>
            </a:pPr>
            <a:r>
              <a:rPr lang="en-US" sz="1100" b="1" dirty="0">
                <a:solidFill>
                  <a:srgbClr val="64748B"/>
                </a:solidFill>
                <a:latin typeface="Helvetica Neue" pitchFamily="34" charset="0"/>
                <a:ea typeface="Arial" pitchFamily="34" charset="-122"/>
                <a:cs typeface="Arial" pitchFamily="34" charset="-120"/>
              </a:rPr>
              <a:t>EV</a:t>
            </a:r>
            <a:endParaRPr lang="en-US" sz="1100" dirty="0"/>
          </a:p>
        </p:txBody>
      </p:sp>
      <p:sp>
        <p:nvSpPr>
          <p:cNvPr id="8" name="Shape 6"/>
          <p:cNvSpPr/>
          <p:nvPr/>
        </p:nvSpPr>
        <p:spPr>
          <a:xfrm>
            <a:off x="6131052" y="365760"/>
            <a:ext cx="2718054" cy="365760"/>
          </a:xfrm>
          <a:prstGeom prst="roundRect">
            <a:avLst>
              <a:gd name="adj" fmla="val 3000"/>
            </a:avLst>
          </a:prstGeom>
          <a:solidFill>
            <a:srgbClr val="E2E8F0"/>
          </a:solidFill>
          <a:ln w="12700">
            <a:solidFill>
              <a:srgbClr val="CBD5E1"/>
            </a:solidFill>
          </a:ln>
        </p:spPr>
        <p:txBody>
          <a:bodyPr/>
          <a:p>
            <a:pPr>
              <a:defRPr b="1">
                <a:latin typeface="Helvetica Neue"/>
              </a:defRPr>
            </a:pPr>
          </a:p>
        </p:txBody>
      </p:sp>
      <p:sp>
        <p:nvSpPr>
          <p:cNvPr id="9" name="Text 7"/>
          <p:cNvSpPr/>
          <p:nvPr/>
        </p:nvSpPr>
        <p:spPr>
          <a:xfrm>
            <a:off x="6131052" y="365760"/>
            <a:ext cx="2718054" cy="365760"/>
          </a:xfrm>
          <a:prstGeom prst="roundRect">
            <a:avLst>
              <a:gd name="adj" fmla="val 3000"/>
            </a:avLst>
          </a:prstGeom>
          <a:noFill/>
          <a:ln/>
        </p:spPr>
        <p:txBody>
          <a:bodyPr wrap="square" lIns="0" tIns="0" rIns="0" bIns="0" rtlCol="0" anchor="ctr"/>
          <a:lstStyle/>
          <a:p>
            <a:pPr algn="ctr" indent="0" marL="0">
              <a:buNone/>
              <a:defRPr b="1">
                <a:latin typeface="Helvetica Neue"/>
              </a:defRPr>
            </a:pPr>
            <a:r>
              <a:rPr lang="en-US" sz="1100" dirty="0">
                <a:solidFill>
                  <a:srgbClr val="64748B"/>
                </a:solidFill>
                <a:latin typeface="Helvetica Neue" pitchFamily="34" charset="0"/>
                <a:ea typeface="Arial" pitchFamily="34" charset="-122"/>
                <a:cs typeface="Arial" pitchFamily="34" charset="-120"/>
              </a:rPr>
              <a:t>Baga Bulky</a:t>
            </a:r>
            <a:endParaRPr lang="en-US" sz="1100" dirty="0"/>
          </a:p>
        </p:txBody>
      </p:sp>
      <p:sp>
        <p:nvSpPr>
          <p:cNvPr id="10" name="Shape 8"/>
          <p:cNvSpPr/>
          <p:nvPr/>
        </p:nvSpPr>
        <p:spPr>
          <a:xfrm>
            <a:off x="8922258" y="365760"/>
            <a:ext cx="2718054" cy="365760"/>
          </a:xfrm>
          <a:prstGeom prst="roundRect">
            <a:avLst>
              <a:gd name="adj" fmla="val 3000"/>
            </a:avLst>
          </a:prstGeom>
          <a:solidFill>
            <a:srgbClr val="E2E8F0"/>
          </a:solidFill>
          <a:ln w="12700">
            <a:solidFill>
              <a:srgbClr val="CBD5E1"/>
            </a:solidFill>
          </a:ln>
        </p:spPr>
        <p:txBody>
          <a:bodyPr/>
          <a:p>
            <a:pPr>
              <a:defRPr b="1">
                <a:latin typeface="Helvetica Neue"/>
              </a:defRPr>
            </a:pPr>
          </a:p>
        </p:txBody>
      </p:sp>
      <p:sp>
        <p:nvSpPr>
          <p:cNvPr id="11" name="Text 9"/>
          <p:cNvSpPr/>
          <p:nvPr/>
        </p:nvSpPr>
        <p:spPr>
          <a:xfrm>
            <a:off x="8922258" y="365760"/>
            <a:ext cx="2718054" cy="365760"/>
          </a:xfrm>
          <a:prstGeom prst="roundRect">
            <a:avLst>
              <a:gd name="adj" fmla="val 3000"/>
            </a:avLst>
          </a:prstGeom>
          <a:noFill/>
          <a:ln/>
        </p:spPr>
        <p:txBody>
          <a:bodyPr wrap="square" lIns="0" tIns="0" rIns="0" bIns="0" rtlCol="0" anchor="ctr"/>
          <a:lstStyle/>
          <a:p>
            <a:pPr algn="ctr" indent="0" marL="0">
              <a:buNone/>
              <a:defRPr b="1">
                <a:latin typeface="Helvetica Neue"/>
              </a:defRPr>
            </a:pPr>
            <a:r>
              <a:rPr lang="en-US" sz="1100" dirty="0">
                <a:solidFill>
                  <a:srgbClr val="64748B"/>
                </a:solidFill>
                <a:latin typeface="Helvetica Neue" pitchFamily="34" charset="0"/>
                <a:ea typeface="Arial" pitchFamily="34" charset="-122"/>
                <a:cs typeface="Arial" pitchFamily="34" charset="-120"/>
              </a:rPr>
              <a:t>Driver Journey</a:t>
            </a:r>
            <a:endParaRPr lang="en-US" sz="1100" dirty="0"/>
          </a:p>
        </p:txBody>
      </p:sp>
      <p:sp>
        <p:nvSpPr>
          <p:cNvPr id="12" name="Shape 10"/>
          <p:cNvSpPr/>
          <p:nvPr/>
        </p:nvSpPr>
        <p:spPr>
          <a:xfrm>
            <a:off x="548640" y="914400"/>
            <a:ext cx="502920" cy="502920"/>
          </a:xfrm>
          <a:prstGeom prst="roundRect">
            <a:avLst>
              <a:gd name="adj" fmla="val 3000"/>
            </a:avLst>
          </a:prstGeom>
          <a:solidFill>
            <a:srgbClr val="C77700"/>
          </a:solidFill>
          <a:ln/>
        </p:spPr>
        <p:txBody>
          <a:bodyPr/>
          <a:p>
            <a:pPr>
              <a:defRPr>
                <a:latin typeface="Helvetica Neue"/>
              </a:defRPr>
            </a:pPr>
          </a:p>
        </p:txBody>
      </p:sp>
      <p:sp>
        <p:nvSpPr>
          <p:cNvPr id="13" name="Text 11"/>
          <p:cNvSpPr/>
          <p:nvPr/>
        </p:nvSpPr>
        <p:spPr>
          <a:xfrm>
            <a:off x="548640" y="914400"/>
            <a:ext cx="502920" cy="502920"/>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300" b="1" dirty="0">
                <a:solidFill>
                  <a:srgbClr val="334155"/>
                </a:solidFill>
                <a:latin typeface="Helvetica Neue" pitchFamily="34" charset="0"/>
                <a:ea typeface="Arial" pitchFamily="34" charset="-122"/>
                <a:cs typeface="Arial" pitchFamily="34" charset="-120"/>
              </a:rPr>
              <a:t>EV</a:t>
            </a:r>
            <a:endParaRPr lang="en-US" sz="1300" dirty="0"/>
          </a:p>
        </p:txBody>
      </p:sp>
      <p:sp>
        <p:nvSpPr>
          <p:cNvPr id="14" name="Text 12"/>
          <p:cNvSpPr/>
          <p:nvPr/>
        </p:nvSpPr>
        <p:spPr>
          <a:xfrm>
            <a:off x="1188720" y="868680"/>
            <a:ext cx="8778240" cy="594360"/>
          </a:xfrm>
          <a:prstGeom prst="roundRect">
            <a:avLst>
              <a:gd name="adj" fmla="val 3000"/>
            </a:avLst>
          </a:prstGeom>
          <a:noFill/>
          <a:ln/>
        </p:spPr>
        <p:txBody>
          <a:bodyPr wrap="square" lIns="0" tIns="0" rIns="0" bIns="0" rtlCol="0" anchor="t"/>
          <a:lstStyle/>
          <a:p>
            <a:pPr indent="0" marL="0">
              <a:buNone/>
              <a:defRPr b="1">
                <a:latin typeface="Helvetica Neue"/>
              </a:defRPr>
            </a:pPr>
            <a:r>
              <a:rPr lang="en-US" sz="1700" b="1" dirty="0">
                <a:solidFill>
                  <a:srgbClr val="0F172A"/>
                </a:solidFill>
                <a:latin typeface="Helvetica Neue" pitchFamily="34" charset="0"/>
                <a:ea typeface="Arial" pitchFamily="34" charset="-122"/>
                <a:cs typeface="Arial" pitchFamily="34" charset="-120"/>
              </a:rPr>
              <a:t>EV:</a:t>
            </a:r>
            <a:pPr indent="0" marL="0">
              <a:buNone/>
            </a:pPr>
            <a:r>
              <a:rPr lang="en-US" sz="1700" b="1" dirty="0">
                <a:solidFill>
                  <a:srgbClr val="0F172A"/>
                </a:solidFill>
                <a:latin typeface="Helvetica Neue" pitchFamily="34" charset="0"/>
                <a:ea typeface="Arial" pitchFamily="34" charset="-122"/>
                <a:cs typeface="Arial" pitchFamily="34" charset="-120"/>
              </a:rPr>
              <a:t> active tăng tốt nhờ retention, nhưng phễu lead đang rò rỉ</a:t>
            </a:r>
            <a:endParaRPr lang="en-US" sz="1700" dirty="0"/>
          </a:p>
        </p:txBody>
      </p:sp>
      <p:sp>
        <p:nvSpPr>
          <p:cNvPr id="15" name="Shape 13"/>
          <p:cNvSpPr/>
          <p:nvPr/>
        </p:nvSpPr>
        <p:spPr>
          <a:xfrm>
            <a:off x="10332720" y="1051560"/>
            <a:ext cx="146304" cy="146304"/>
          </a:xfrm>
          <a:prstGeom prst="roundRect">
            <a:avLst>
              <a:gd name="adj" fmla="val 3000"/>
            </a:avLst>
          </a:prstGeom>
          <a:solidFill>
            <a:srgbClr val="C77700"/>
          </a:solidFill>
          <a:ln/>
        </p:spPr>
        <p:txBody>
          <a:bodyPr/>
          <a:p>
            <a:pPr>
              <a:defRPr>
                <a:latin typeface="Helvetica Neue"/>
              </a:defRPr>
            </a:pPr>
          </a:p>
        </p:txBody>
      </p:sp>
      <p:sp>
        <p:nvSpPr>
          <p:cNvPr id="16" name="Text 14"/>
          <p:cNvSpPr/>
          <p:nvPr/>
        </p:nvSpPr>
        <p:spPr>
          <a:xfrm>
            <a:off x="10533888" y="996696"/>
            <a:ext cx="914400" cy="256032"/>
          </a:xfrm>
          <a:prstGeom prst="roundRect">
            <a:avLst>
              <a:gd name="adj" fmla="val 3000"/>
            </a:avLst>
          </a:prstGeom>
          <a:noFill/>
          <a:ln/>
        </p:spPr>
        <p:txBody>
          <a:bodyPr wrap="square" lIns="0" tIns="0" rIns="0" bIns="0" rtlCol="0" anchor="ctr"/>
          <a:lstStyle/>
          <a:p>
            <a:pP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VÀNG</a:t>
            </a:r>
            <a:endParaRPr lang="en-US" sz="1100" dirty="0"/>
          </a:p>
        </p:txBody>
      </p:sp>
      <p:sp>
        <p:nvSpPr>
          <p:cNvPr id="17" name="Shape 15"/>
          <p:cNvSpPr/>
          <p:nvPr/>
        </p:nvSpPr>
        <p:spPr>
          <a:xfrm>
            <a:off x="548640" y="1572768"/>
            <a:ext cx="1005840" cy="36576"/>
          </a:xfrm>
          <a:prstGeom prst="roundRect">
            <a:avLst>
              <a:gd name="adj" fmla="val 3000"/>
            </a:avLst>
          </a:prstGeom>
          <a:solidFill>
            <a:srgbClr val="FF7F32"/>
          </a:solidFill>
          <a:ln/>
        </p:spPr>
        <p:txBody>
          <a:bodyPr/>
          <a:p>
            <a:pPr>
              <a:defRPr>
                <a:latin typeface="Helvetica Neue"/>
              </a:defRPr>
            </a:pPr>
          </a:p>
        </p:txBody>
      </p:sp>
      <p:sp>
        <p:nvSpPr>
          <p:cNvPr id="18" name="Shape 16"/>
          <p:cNvSpPr/>
          <p:nvPr/>
        </p:nvSpPr>
        <p:spPr>
          <a:xfrm>
            <a:off x="548640" y="1783080"/>
            <a:ext cx="3017520" cy="54864"/>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19" name="Shape 17"/>
          <p:cNvSpPr/>
          <p:nvPr/>
        </p:nvSpPr>
        <p:spPr>
          <a:xfrm>
            <a:off x="548640" y="1837944"/>
            <a:ext cx="3017520" cy="136245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20" name="Text 18"/>
          <p:cNvSpPr/>
          <p:nvPr/>
        </p:nvSpPr>
        <p:spPr>
          <a:xfrm>
            <a:off x="685800" y="1901952"/>
            <a:ext cx="2148840" cy="502920"/>
          </a:xfrm>
          <a:prstGeom prst="roundRect">
            <a:avLst>
              <a:gd name="adj" fmla="val 3000"/>
            </a:avLst>
          </a:prstGeom>
          <a:noFill/>
          <a:ln/>
        </p:spPr>
        <p:txBody>
          <a:bodyPr wrap="square" lIns="0" tIns="0" rIns="0" bIns="0" rtlCol="0" anchor="ctr"/>
          <a:lstStyle/>
          <a:p>
            <a:pPr indent="0" marL="0">
              <a:buNone/>
              <a:defRPr sz="3800" b="1">
                <a:latin typeface="Helvetica Neue"/>
              </a:defRPr>
            </a:pPr>
            <a:r>
              <a:rPr lang="en-US" sz="2400" b="1" dirty="0">
                <a:solidFill>
                  <a:srgbClr val="0F172A"/>
                </a:solidFill>
                <a:latin typeface="Helvetica Neue" pitchFamily="34" charset="0"/>
                <a:ea typeface="Arial" pitchFamily="34" charset="-122"/>
                <a:cs typeface="Arial" pitchFamily="34" charset="-120"/>
              </a:rPr>
              <a:t>-10%</a:t>
            </a:r>
            <a:endParaRPr lang="en-US" sz="2400" dirty="0"/>
          </a:p>
        </p:txBody>
      </p:sp>
      <p:sp>
        <p:nvSpPr>
          <p:cNvPr id="21" name="Text 19"/>
          <p:cNvSpPr/>
          <p:nvPr/>
        </p:nvSpPr>
        <p:spPr>
          <a:xfrm>
            <a:off x="685800" y="2377440"/>
            <a:ext cx="2148840" cy="274320"/>
          </a:xfrm>
          <a:prstGeom prst="roundRect">
            <a:avLst>
              <a:gd name="adj" fmla="val 3000"/>
            </a:avLst>
          </a:prstGeom>
          <a:noFill/>
          <a:ln/>
        </p:spPr>
        <p:txBody>
          <a:bodyPr wrap="square" lIns="0" tIns="0" rIns="0" bIns="0" rtlCol="0" anchor="t"/>
          <a:lstStyle/>
          <a:p>
            <a:pPr indent="0" marL="0">
              <a:buNone/>
              <a:defRPr>
                <a:latin typeface="Helvetica Neue"/>
              </a:defRPr>
            </a:pPr>
            <a:r>
              <a:rPr lang="en-US" sz="900" dirty="0">
                <a:solidFill>
                  <a:srgbClr val="334155"/>
                </a:solidFill>
                <a:latin typeface="Helvetica Neue" pitchFamily="34" charset="0"/>
                <a:ea typeface="Arial" pitchFamily="34" charset="-122"/>
                <a:cs typeface="Arial" pitchFamily="34" charset="-120"/>
              </a:rPr>
              <a:t>Lead đổ về giảm MoM dù nhu cầu tìm hiểu tăng 30%</a:t>
            </a:r>
            <a:endParaRPr lang="en-US" sz="900" dirty="0"/>
          </a:p>
        </p:txBody>
      </p:sp>
      <p:sp>
        <p:nvSpPr>
          <p:cNvPr id="22" name="Shape 20"/>
          <p:cNvSpPr/>
          <p:nvPr/>
        </p:nvSpPr>
        <p:spPr>
          <a:xfrm>
            <a:off x="3063240" y="2048256"/>
            <a:ext cx="356616" cy="292608"/>
          </a:xfrm>
          <a:prstGeom prst="roundRect">
            <a:avLst>
              <a:gd name="adj" fmla="val 3000"/>
            </a:avLst>
          </a:prstGeom>
          <a:solidFill>
            <a:srgbClr val="D9631A"/>
          </a:solidFill>
          <a:ln/>
        </p:spPr>
        <p:txBody>
          <a:bodyPr/>
          <a:p>
            <a:pPr>
              <a:defRPr>
                <a:latin typeface="Helvetica Neue"/>
              </a:defRPr>
            </a:pPr>
          </a:p>
        </p:txBody>
      </p:sp>
      <p:sp>
        <p:nvSpPr>
          <p:cNvPr id="23" name="Shape 21"/>
          <p:cNvSpPr/>
          <p:nvPr/>
        </p:nvSpPr>
        <p:spPr>
          <a:xfrm>
            <a:off x="3419856" y="2130552"/>
            <a:ext cx="54864" cy="128016"/>
          </a:xfrm>
          <a:prstGeom prst="roundRect">
            <a:avLst>
              <a:gd name="adj" fmla="val 3000"/>
            </a:avLst>
          </a:prstGeom>
          <a:solidFill>
            <a:srgbClr val="D9631A"/>
          </a:solidFill>
          <a:ln/>
        </p:spPr>
        <p:txBody>
          <a:bodyPr/>
          <a:p>
            <a:pPr>
              <a:defRPr>
                <a:latin typeface="Helvetica Neue"/>
              </a:defRPr>
            </a:pPr>
          </a:p>
        </p:txBody>
      </p:sp>
      <p:sp>
        <p:nvSpPr>
          <p:cNvPr id="24" name="Shape 22"/>
          <p:cNvSpPr/>
          <p:nvPr/>
        </p:nvSpPr>
        <p:spPr>
          <a:xfrm>
            <a:off x="3145536" y="2103120"/>
            <a:ext cx="36576" cy="182880"/>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25" name="Shape 23"/>
          <p:cNvSpPr/>
          <p:nvPr/>
        </p:nvSpPr>
        <p:spPr>
          <a:xfrm>
            <a:off x="3227832" y="2103120"/>
            <a:ext cx="36576" cy="182880"/>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26" name="Shape 24"/>
          <p:cNvSpPr/>
          <p:nvPr/>
        </p:nvSpPr>
        <p:spPr>
          <a:xfrm>
            <a:off x="548640" y="2670048"/>
            <a:ext cx="3017520" cy="347472"/>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27" name="Shape 25"/>
          <p:cNvSpPr/>
          <p:nvPr/>
        </p:nvSpPr>
        <p:spPr>
          <a:xfrm>
            <a:off x="548640" y="2670048"/>
            <a:ext cx="45720" cy="347472"/>
          </a:xfrm>
          <a:prstGeom prst="roundRect">
            <a:avLst>
              <a:gd name="adj" fmla="val 3000"/>
            </a:avLst>
          </a:prstGeom>
          <a:solidFill>
            <a:srgbClr val="C77700"/>
          </a:solidFill>
          <a:ln/>
        </p:spPr>
        <p:txBody>
          <a:bodyPr/>
          <a:p>
            <a:pPr>
              <a:defRPr>
                <a:latin typeface="Helvetica Neue"/>
              </a:defRPr>
            </a:pPr>
          </a:p>
        </p:txBody>
      </p:sp>
      <p:sp>
        <p:nvSpPr>
          <p:cNvPr id="28" name="Text 26"/>
          <p:cNvSpPr/>
          <p:nvPr/>
        </p:nvSpPr>
        <p:spPr>
          <a:xfrm>
            <a:off x="713232" y="2688336"/>
            <a:ext cx="2743200" cy="164592"/>
          </a:xfrm>
          <a:prstGeom prst="roundRect">
            <a:avLst>
              <a:gd name="adj" fmla="val 3000"/>
            </a:avLst>
          </a:prstGeom>
          <a:noFill/>
          <a:ln/>
        </p:spPr>
        <p:txBody>
          <a:bodyPr wrap="square" lIns="0" tIns="0" rIns="0" bIns="0" rtlCol="0" anchor="ctr"/>
          <a:lstStyle/>
          <a:p>
            <a:pPr indent="0" marL="0">
              <a:buNone/>
              <a:defRPr>
                <a:latin typeface="Helvetica Neue"/>
              </a:defRPr>
            </a:pPr>
            <a:r>
              <a:rPr lang="en-US" sz="750" b="1" dirty="0">
                <a:solidFill>
                  <a:srgbClr val="334155"/>
                </a:solidFill>
                <a:latin typeface="Helvetica Neue" pitchFamily="34" charset="0"/>
                <a:ea typeface="Arial" pitchFamily="34" charset="-122"/>
                <a:cs typeface="Arial" pitchFamily="34" charset="-120"/>
              </a:rPr>
              <a:t>MỤC TIÊU</a:t>
            </a:r>
            <a:endParaRPr lang="en-US" sz="750" dirty="0"/>
          </a:p>
        </p:txBody>
      </p:sp>
      <p:sp>
        <p:nvSpPr>
          <p:cNvPr id="29" name="Text 27"/>
          <p:cNvSpPr/>
          <p:nvPr/>
        </p:nvSpPr>
        <p:spPr>
          <a:xfrm>
            <a:off x="713232" y="2834640"/>
            <a:ext cx="2743200" cy="182880"/>
          </a:xfrm>
          <a:prstGeom prst="roundRect">
            <a:avLst>
              <a:gd name="adj" fmla="val 3000"/>
            </a:avLst>
          </a:prstGeom>
          <a:noFill/>
          <a:ln/>
        </p:spPr>
        <p:txBody>
          <a:bodyPr wrap="square" lIns="0" tIns="0" rIns="0" bIns="0" rtlCol="0" anchor="ctr"/>
          <a:lstStyle/>
          <a:p>
            <a:pPr indent="0" marL="0">
              <a:buNone/>
              <a:defRPr>
                <a:latin typeface="Helvetica Neue"/>
              </a:defRPr>
            </a:pPr>
            <a:r>
              <a:rPr lang="en-US" sz="1000" b="1" dirty="0">
                <a:solidFill>
                  <a:srgbClr val="C77700"/>
                </a:solidFill>
                <a:latin typeface="Helvetica Neue" pitchFamily="34" charset="0"/>
                <a:ea typeface="Arial" pitchFamily="34" charset="-122"/>
                <a:cs typeface="Arial" pitchFamily="34" charset="-120"/>
              </a:rPr>
              <a:t>Rút ngắn thời gian phản hồi lead trong T8</a:t>
            </a:r>
            <a:endParaRPr lang="en-US" sz="1000" dirty="0"/>
          </a:p>
        </p:txBody>
      </p:sp>
      <p:sp>
        <p:nvSpPr>
          <p:cNvPr id="30" name="Shape 28"/>
          <p:cNvSpPr/>
          <p:nvPr/>
        </p:nvSpPr>
        <p:spPr>
          <a:xfrm>
            <a:off x="548640" y="3337560"/>
            <a:ext cx="3017520" cy="54864"/>
          </a:xfrm>
          <a:prstGeom prst="roundRect">
            <a:avLst>
              <a:gd name="adj" fmla="val 3000"/>
            </a:avLst>
          </a:prstGeom>
          <a:solidFill>
            <a:srgbClr val="FF7F32"/>
          </a:solidFill>
          <a:ln/>
        </p:spPr>
        <p:txBody>
          <a:bodyPr/>
          <a:p>
            <a:pPr>
              <a:defRPr>
                <a:latin typeface="Helvetica Neue"/>
              </a:defRPr>
            </a:pPr>
          </a:p>
        </p:txBody>
      </p:sp>
      <p:sp>
        <p:nvSpPr>
          <p:cNvPr id="31" name="Shape 29"/>
          <p:cNvSpPr/>
          <p:nvPr/>
        </p:nvSpPr>
        <p:spPr>
          <a:xfrm>
            <a:off x="548640" y="3392424"/>
            <a:ext cx="3017520" cy="27797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32" name="Text 30"/>
          <p:cNvSpPr/>
          <p:nvPr/>
        </p:nvSpPr>
        <p:spPr>
          <a:xfrm>
            <a:off x="731520" y="3474720"/>
            <a:ext cx="2651760" cy="228600"/>
          </a:xfrm>
          <a:prstGeom prst="roundRect">
            <a:avLst>
              <a:gd name="adj" fmla="val 3000"/>
            </a:avLst>
          </a:prstGeom>
          <a:noFill/>
          <a:ln/>
        </p:spPr>
        <p:txBody>
          <a:bodyPr wrap="square" lIns="0" tIns="0" rIns="0" bIns="0" rtlCol="0" anchor="ctr"/>
          <a:lstStyle/>
          <a:p>
            <a:pPr indent="0" marL="0">
              <a:buNone/>
              <a:defRPr>
                <a:latin typeface="Helvetica Neue"/>
              </a:defRPr>
            </a:pPr>
            <a:r>
              <a:rPr lang="en-US" sz="950" b="1" dirty="0">
                <a:solidFill>
                  <a:srgbClr val="334155"/>
                </a:solidFill>
                <a:latin typeface="Helvetica Neue" pitchFamily="34" charset="0"/>
                <a:ea typeface="Arial" pitchFamily="34" charset="-122"/>
                <a:cs typeface="Arial" pitchFamily="34" charset="-120"/>
              </a:rPr>
              <a:t>TRƯỚC</a:t>
            </a:r>
            <a:endParaRPr lang="en-US" sz="950" dirty="0"/>
          </a:p>
        </p:txBody>
      </p:sp>
      <p:sp>
        <p:nvSpPr>
          <p:cNvPr id="33" name="Text 31"/>
          <p:cNvSpPr/>
          <p:nvPr/>
        </p:nvSpPr>
        <p:spPr>
          <a:xfrm>
            <a:off x="731520" y="3721608"/>
            <a:ext cx="2651760" cy="914400"/>
          </a:xfrm>
          <a:prstGeom prst="roundRect">
            <a:avLst>
              <a:gd name="adj" fmla="val 3000"/>
            </a:avLst>
          </a:prstGeom>
          <a:noFill/>
          <a:ln/>
        </p:spPr>
        <p:txBody>
          <a:bodyPr wrap="square" lIns="0" tIns="0" rIns="0" bIns="0" rtlCol="0" anchor="t"/>
          <a:lstStyle/>
          <a:p>
            <a:pPr indent="0" marL="0">
              <a:buNone/>
              <a:defRPr>
                <a:latin typeface="Helvetica Neue"/>
              </a:defRPr>
            </a:pPr>
            <a:r>
              <a:rPr lang="en-US" sz="950" dirty="0">
                <a:solidFill>
                  <a:srgbClr val="334155"/>
                </a:solidFill>
                <a:latin typeface="Helvetica Neue" pitchFamily="34" charset="0"/>
                <a:ea typeface="Arial" pitchFamily="34" charset="-122"/>
                <a:cs typeface="Arial" pitchFamily="34" charset="-120"/>
              </a:rPr>
              <a:t>Lead được DM tiếp nhận và xử lý thủ công, thời gian phản hồi chậm, chưa tối ưu tỉ lệ chuyển đổi.</a:t>
            </a:r>
            <a:endParaRPr lang="en-US" sz="950" dirty="0"/>
          </a:p>
        </p:txBody>
      </p:sp>
      <p:sp>
        <p:nvSpPr>
          <p:cNvPr id="34" name="Text 32"/>
          <p:cNvSpPr/>
          <p:nvPr/>
        </p:nvSpPr>
        <p:spPr>
          <a:xfrm>
            <a:off x="731520" y="4617720"/>
            <a:ext cx="2651760" cy="228600"/>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400" b="1" dirty="0">
                <a:solidFill>
                  <a:srgbClr val="FF7F32"/>
                </a:solidFill>
                <a:latin typeface="Helvetica Neue" pitchFamily="34" charset="0"/>
                <a:ea typeface="Arial" pitchFamily="34" charset="-122"/>
                <a:cs typeface="Arial" pitchFamily="34" charset="-120"/>
              </a:rPr>
              <a:t>↓</a:t>
            </a:r>
            <a:endParaRPr lang="en-US" sz="1400" dirty="0"/>
          </a:p>
        </p:txBody>
      </p:sp>
      <p:sp>
        <p:nvSpPr>
          <p:cNvPr id="35" name="Text 33"/>
          <p:cNvSpPr/>
          <p:nvPr/>
        </p:nvSpPr>
        <p:spPr>
          <a:xfrm>
            <a:off x="731520" y="4873752"/>
            <a:ext cx="2651760" cy="228600"/>
          </a:xfrm>
          <a:prstGeom prst="roundRect">
            <a:avLst>
              <a:gd name="adj" fmla="val 3000"/>
            </a:avLst>
          </a:prstGeom>
          <a:noFill/>
          <a:ln/>
        </p:spPr>
        <p:txBody>
          <a:bodyPr wrap="square" lIns="0" tIns="0" rIns="0" bIns="0" rtlCol="0" anchor="ctr"/>
          <a:lstStyle/>
          <a:p>
            <a:pPr indent="0" marL="0">
              <a:buNone/>
              <a:defRPr>
                <a:latin typeface="Helvetica Neue"/>
              </a:defRPr>
            </a:pPr>
            <a:r>
              <a:rPr lang="en-US" sz="950" b="1" dirty="0">
                <a:solidFill>
                  <a:srgbClr val="334155"/>
                </a:solidFill>
                <a:latin typeface="Helvetica Neue" pitchFamily="34" charset="0"/>
                <a:ea typeface="Arial" pitchFamily="34" charset="-122"/>
                <a:cs typeface="Arial" pitchFamily="34" charset="-120"/>
              </a:rPr>
              <a:t>SAU</a:t>
            </a:r>
            <a:endParaRPr lang="en-US" sz="950" dirty="0"/>
          </a:p>
        </p:txBody>
      </p:sp>
      <p:sp>
        <p:nvSpPr>
          <p:cNvPr id="36" name="Text 34"/>
          <p:cNvSpPr/>
          <p:nvPr/>
        </p:nvSpPr>
        <p:spPr>
          <a:xfrm>
            <a:off x="731520" y="5120640"/>
            <a:ext cx="2651760" cy="914400"/>
          </a:xfrm>
          <a:prstGeom prst="roundRect">
            <a:avLst>
              <a:gd name="adj" fmla="val 3000"/>
            </a:avLst>
          </a:prstGeom>
          <a:noFill/>
          <a:ln/>
        </p:spPr>
        <p:txBody>
          <a:bodyPr wrap="square" lIns="0" tIns="0" rIns="0" bIns="0" rtlCol="0" anchor="t"/>
          <a:lstStyle/>
          <a:p>
            <a:pPr indent="0" marL="0">
              <a:buNone/>
              <a:defRPr>
                <a:latin typeface="Helvetica Neue"/>
              </a:defRPr>
            </a:pPr>
            <a:r>
              <a:rPr lang="en-US" sz="950" dirty="0">
                <a:solidFill>
                  <a:srgbClr val="334155"/>
                </a:solidFill>
                <a:latin typeface="Helvetica Neue" pitchFamily="34" charset="0"/>
                <a:ea typeface="Arial" pitchFamily="34" charset="-122"/>
                <a:cs typeface="Arial" pitchFamily="34" charset="-120"/>
              </a:rPr>
              <a:t>Đề xuất tháng 8: chuyển thẳng lead qua phía partner xử lý, rút ngắn thời gian phản hồi; chốt chính sách thưởng đua top thuê xe.</a:t>
            </a:r>
            <a:endParaRPr lang="en-US" sz="950" dirty="0"/>
          </a:p>
        </p:txBody>
      </p:sp>
      <p:sp>
        <p:nvSpPr>
          <p:cNvPr id="37" name="Shape 35"/>
          <p:cNvSpPr/>
          <p:nvPr/>
        </p:nvSpPr>
        <p:spPr>
          <a:xfrm>
            <a:off x="3794760" y="1783080"/>
            <a:ext cx="3858768" cy="54864"/>
          </a:xfrm>
          <a:prstGeom prst="roundRect">
            <a:avLst>
              <a:gd name="adj" fmla="val 3000"/>
            </a:avLst>
          </a:prstGeom>
          <a:solidFill>
            <a:srgbClr val="6B6B6B"/>
          </a:solidFill>
          <a:ln/>
        </p:spPr>
        <p:txBody>
          <a:bodyPr/>
          <a:p>
            <a:pPr>
              <a:defRPr>
                <a:latin typeface="Helvetica Neue"/>
              </a:defRPr>
            </a:pPr>
          </a:p>
        </p:txBody>
      </p:sp>
      <p:sp>
        <p:nvSpPr>
          <p:cNvPr id="38" name="Shape 36"/>
          <p:cNvSpPr/>
          <p:nvPr/>
        </p:nvSpPr>
        <p:spPr>
          <a:xfrm>
            <a:off x="3794760" y="1837944"/>
            <a:ext cx="3858768" cy="20939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39" name="Shape 37"/>
          <p:cNvSpPr/>
          <p:nvPr/>
        </p:nvSpPr>
        <p:spPr>
          <a:xfrm>
            <a:off x="3959352" y="1984248"/>
            <a:ext cx="310896" cy="310896"/>
          </a:xfrm>
          <a:prstGeom prst="roundRect">
            <a:avLst>
              <a:gd name="adj" fmla="val 3000"/>
            </a:avLst>
          </a:prstGeom>
          <a:solidFill>
            <a:srgbClr val="6B6B6B"/>
          </a:solidFill>
          <a:ln/>
        </p:spPr>
        <p:txBody>
          <a:bodyPr/>
          <a:p>
            <a:pPr>
              <a:defRPr>
                <a:latin typeface="Helvetica Neue"/>
              </a:defRPr>
            </a:pPr>
          </a:p>
        </p:txBody>
      </p:sp>
      <p:sp>
        <p:nvSpPr>
          <p:cNvPr id="40" name="Text 38"/>
          <p:cNvSpPr/>
          <p:nvPr/>
        </p:nvSpPr>
        <p:spPr>
          <a:xfrm>
            <a:off x="3959352" y="1984248"/>
            <a:ext cx="310896" cy="31089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1</a:t>
            </a:r>
            <a:endParaRPr lang="en-US" sz="1100" dirty="0"/>
          </a:p>
        </p:txBody>
      </p:sp>
      <p:sp>
        <p:nvSpPr>
          <p:cNvPr id="41" name="Text 39"/>
          <p:cNvSpPr/>
          <p:nvPr/>
        </p:nvSpPr>
        <p:spPr>
          <a:xfrm>
            <a:off x="4361688" y="2002536"/>
            <a:ext cx="3127248" cy="292608"/>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1100" b="1" dirty="0">
                <a:solidFill>
                  <a:srgbClr val="0F172A"/>
                </a:solidFill>
                <a:latin typeface="Helvetica Neue" pitchFamily="34" charset="0"/>
                <a:ea typeface="Arial" pitchFamily="34" charset="-122"/>
                <a:cs typeface="Arial" pitchFamily="34" charset="-120"/>
              </a:rPr>
              <a:t>ĐÃ LÀM GÌ (T7)</a:t>
            </a:r>
            <a:endParaRPr lang="en-US" sz="1100" dirty="0"/>
          </a:p>
        </p:txBody>
      </p:sp>
      <p:sp>
        <p:nvSpPr>
          <p:cNvPr id="42" name="Text 40"/>
          <p:cNvSpPr/>
          <p:nvPr/>
        </p:nvSpPr>
        <p:spPr>
          <a:xfrm>
            <a:off x="3995928" y="2441448"/>
            <a:ext cx="3456432" cy="1325880"/>
          </a:xfrm>
          <a:prstGeom prst="roundRect">
            <a:avLst>
              <a:gd name="adj" fmla="val 3000"/>
            </a:avLst>
          </a:prstGeom>
          <a:noFill/>
          <a:ln/>
        </p:spPr>
        <p:txBody>
          <a:bodyPr wrap="square" lIns="0" tIns="0" rIns="0" bIns="0" rtlCol="0" anchor="t"/>
          <a:lstStyle/>
          <a:p>
            <a:pPr indent="0" marL="0">
              <a:buNone/>
              <a:defRPr>
                <a:latin typeface="Helvetica Neue"/>
              </a:defRPr>
            </a:pPr>
            <a:r>
              <a:rPr lang="en-US" sz="1050" dirty="0">
                <a:solidFill>
                  <a:srgbClr val="334155"/>
                </a:solidFill>
                <a:latin typeface="Helvetica Neue" pitchFamily="34" charset="0"/>
                <a:ea typeface="Arial" pitchFamily="34" charset="-122"/>
                <a:cs typeface="Arial" pitchFamily="34" charset="-120"/>
              </a:rPr>
              <a:t>Triển khai chương trình thuê xe điện &amp; theo dõi retention; theo dõi nguồn lead đổ về chương trình.</a:t>
            </a:r>
            <a:endParaRPr lang="en-US" sz="1050" dirty="0"/>
          </a:p>
        </p:txBody>
      </p:sp>
      <p:sp>
        <p:nvSpPr>
          <p:cNvPr id="43" name="Shape 41"/>
          <p:cNvSpPr/>
          <p:nvPr/>
        </p:nvSpPr>
        <p:spPr>
          <a:xfrm>
            <a:off x="7799832" y="1783080"/>
            <a:ext cx="3858768" cy="54864"/>
          </a:xfrm>
          <a:prstGeom prst="roundRect">
            <a:avLst>
              <a:gd name="adj" fmla="val 3000"/>
            </a:avLst>
          </a:prstGeom>
          <a:solidFill>
            <a:srgbClr val="C77700"/>
          </a:solidFill>
          <a:ln/>
        </p:spPr>
        <p:txBody>
          <a:bodyPr/>
          <a:p>
            <a:pPr>
              <a:defRPr>
                <a:latin typeface="Helvetica Neue"/>
              </a:defRPr>
            </a:pPr>
          </a:p>
        </p:txBody>
      </p:sp>
      <p:sp>
        <p:nvSpPr>
          <p:cNvPr id="44" name="Shape 42"/>
          <p:cNvSpPr/>
          <p:nvPr/>
        </p:nvSpPr>
        <p:spPr>
          <a:xfrm>
            <a:off x="7799832" y="1837944"/>
            <a:ext cx="3858768" cy="20939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45" name="Shape 43"/>
          <p:cNvSpPr/>
          <p:nvPr/>
        </p:nvSpPr>
        <p:spPr>
          <a:xfrm>
            <a:off x="7964424" y="1984248"/>
            <a:ext cx="310896" cy="310896"/>
          </a:xfrm>
          <a:prstGeom prst="roundRect">
            <a:avLst>
              <a:gd name="adj" fmla="val 3000"/>
            </a:avLst>
          </a:prstGeom>
          <a:solidFill>
            <a:srgbClr val="C77700"/>
          </a:solidFill>
          <a:ln/>
        </p:spPr>
        <p:txBody>
          <a:bodyPr/>
          <a:p>
            <a:pPr>
              <a:defRPr>
                <a:latin typeface="Helvetica Neue"/>
              </a:defRPr>
            </a:pPr>
          </a:p>
        </p:txBody>
      </p:sp>
      <p:sp>
        <p:nvSpPr>
          <p:cNvPr id="46" name="Text 44"/>
          <p:cNvSpPr/>
          <p:nvPr/>
        </p:nvSpPr>
        <p:spPr>
          <a:xfrm>
            <a:off x="7964424" y="1984248"/>
            <a:ext cx="310896" cy="31089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a:t>
            </a:r>
            <a:endParaRPr lang="en-US" sz="1100" dirty="0"/>
          </a:p>
        </p:txBody>
      </p:sp>
      <p:sp>
        <p:nvSpPr>
          <p:cNvPr id="47" name="Text 45"/>
          <p:cNvSpPr/>
          <p:nvPr/>
        </p:nvSpPr>
        <p:spPr>
          <a:xfrm>
            <a:off x="8366760" y="2002536"/>
            <a:ext cx="3127248" cy="292608"/>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1100" b="1" dirty="0">
                <a:solidFill>
                  <a:srgbClr val="DC2626"/>
                </a:solidFill>
                <a:latin typeface="Helvetica Neue" pitchFamily="34" charset="0"/>
                <a:ea typeface="Arial" pitchFamily="34" charset="-122"/>
                <a:cs typeface="Arial" pitchFamily="34" charset="-120"/>
              </a:rPr>
              <a:t>TÁC ĐỘNG</a:t>
            </a:r>
            <a:endParaRPr lang="en-US" sz="1100" dirty="0"/>
          </a:p>
        </p:txBody>
      </p:sp>
      <p:sp>
        <p:nvSpPr>
          <p:cNvPr id="48" name="Text 46"/>
          <p:cNvSpPr/>
          <p:nvPr/>
        </p:nvSpPr>
        <p:spPr>
          <a:xfrm>
            <a:off x="8001000" y="2441448"/>
            <a:ext cx="3456432" cy="1325880"/>
          </a:xfrm>
          <a:prstGeom prst="roundRect">
            <a:avLst>
              <a:gd name="adj" fmla="val 3000"/>
            </a:avLst>
          </a:prstGeom>
          <a:noFill/>
          <a:ln/>
        </p:spPr>
        <p:txBody>
          <a:bodyPr wrap="square" lIns="0" tIns="0" rIns="0" bIns="0" rtlCol="0" anchor="t"/>
          <a:lstStyle/>
          <a:p>
            <a:pPr indent="0" marL="0">
              <a:buNone/>
              <a:defRPr>
                <a:latin typeface="Helvetica Neue"/>
              </a:defRPr>
            </a:pPr>
            <a:r>
              <a:rPr lang="en-US" sz="1050" dirty="0">
                <a:solidFill>
                  <a:srgbClr val="334155"/>
                </a:solidFill>
                <a:latin typeface="Helvetica Neue" pitchFamily="34" charset="0"/>
                <a:ea typeface="Arial" pitchFamily="34" charset="-122"/>
                <a:cs typeface="Arial" pitchFamily="34" charset="-120"/>
              </a:rPr>
              <a:t>Retention active HAN đạt </a:t>
            </a:r>
            <a:pPr indent="0" marL="0">
              <a:buNone/>
            </a:pPr>
            <a:r>
              <a:rPr lang="en-US" sz="1050" b="1" dirty="0">
                <a:solidFill>
                  <a:srgbClr val="334155"/>
                </a:solidFill>
                <a:latin typeface="Helvetica Neue" pitchFamily="34" charset="0"/>
                <a:ea typeface="Arial" pitchFamily="34" charset="-122"/>
                <a:cs typeface="Arial" pitchFamily="34" charset="-120"/>
              </a:rPr>
              <a:t>406 tài xế</a:t>
            </a:r>
            <a:pPr indent="0" marL="0">
              <a:buNone/>
            </a:pPr>
            <a:r>
              <a:rPr lang="en-US" sz="1050" dirty="0">
                <a:solidFill>
                  <a:srgbClr val="334155"/>
                </a:solidFill>
                <a:latin typeface="Helvetica Neue" pitchFamily="34" charset="0"/>
                <a:ea typeface="Arial" pitchFamily="34" charset="-122"/>
                <a:cs typeface="Arial" pitchFamily="34" charset="-120"/>
              </a:rPr>
              <a:t> (+1.87% MoM), SGN đạt </a:t>
            </a:r>
            <a:pPr indent="0" marL="0">
              <a:buNone/>
            </a:pPr>
            <a:r>
              <a:rPr lang="en-US" sz="1050" b="1" dirty="0">
                <a:solidFill>
                  <a:srgbClr val="334155"/>
                </a:solidFill>
                <a:latin typeface="Helvetica Neue" pitchFamily="34" charset="0"/>
                <a:ea typeface="Arial" pitchFamily="34" charset="-122"/>
                <a:cs typeface="Arial" pitchFamily="34" charset="-120"/>
              </a:rPr>
              <a:t>488 tài xế</a:t>
            </a:r>
            <a:pPr indent="0" marL="0">
              <a:buNone/>
            </a:pPr>
            <a:r>
              <a:rPr lang="en-US" sz="1050" dirty="0">
                <a:solidFill>
                  <a:srgbClr val="334155"/>
                </a:solidFill>
                <a:latin typeface="Helvetica Neue" pitchFamily="34" charset="0"/>
                <a:ea typeface="Arial" pitchFamily="34" charset="-122"/>
                <a:cs typeface="Arial" pitchFamily="34" charset="-120"/>
              </a:rPr>
              <a:t> (-1.16% MoM). Lead giảm </a:t>
            </a:r>
            <a:pPr indent="0" marL="0">
              <a:buNone/>
            </a:pPr>
            <a:r>
              <a:rPr lang="en-US" sz="1050" b="1" dirty="0">
                <a:solidFill>
                  <a:srgbClr val="334155"/>
                </a:solidFill>
                <a:latin typeface="Helvetica Neue" pitchFamily="34" charset="0"/>
                <a:ea typeface="Arial" pitchFamily="34" charset="-122"/>
                <a:cs typeface="Arial" pitchFamily="34" charset="-120"/>
              </a:rPr>
              <a:t>10% MoM</a:t>
            </a:r>
            <a:pPr indent="0" marL="0">
              <a:buNone/>
            </a:pPr>
            <a:r>
              <a:rPr lang="en-US" sz="1050" dirty="0">
                <a:solidFill>
                  <a:srgbClr val="334155"/>
                </a:solidFill>
                <a:latin typeface="Helvetica Neue" pitchFamily="34" charset="0"/>
                <a:ea typeface="Arial" pitchFamily="34" charset="-122"/>
                <a:cs typeface="Arial" pitchFamily="34" charset="-120"/>
              </a:rPr>
              <a:t> dù demand tăng </a:t>
            </a:r>
            <a:pPr indent="0" marL="0">
              <a:buNone/>
            </a:pPr>
            <a:r>
              <a:rPr lang="en-US" sz="1050" b="1" dirty="0">
                <a:solidFill>
                  <a:srgbClr val="334155"/>
                </a:solidFill>
                <a:latin typeface="Helvetica Neue" pitchFamily="34" charset="0"/>
                <a:ea typeface="Arial" pitchFamily="34" charset="-122"/>
                <a:cs typeface="Arial" pitchFamily="34" charset="-120"/>
              </a:rPr>
              <a:t>30%</a:t>
            </a:r>
            <a:pPr indent="0" marL="0">
              <a:buNone/>
            </a:pPr>
            <a:r>
              <a:rPr lang="en-US" sz="1050" dirty="0">
                <a:solidFill>
                  <a:srgbClr val="334155"/>
                </a:solidFill>
                <a:latin typeface="Helvetica Neue" pitchFamily="34" charset="0"/>
                <a:ea typeface="Arial" pitchFamily="34" charset="-122"/>
                <a:cs typeface="Arial" pitchFamily="34" charset="-120"/>
              </a:rPr>
              <a:t>. </a:t>
            </a:r>
            <a:pPr indent="0" marL="0">
              <a:buNone/>
            </a:pPr>
            <a:r>
              <a:rPr lang="en-US" sz="1050" b="1" dirty="0">
                <a:solidFill>
                  <a:srgbClr val="334155"/>
                </a:solidFill>
                <a:latin typeface="Helvetica Neue" pitchFamily="34" charset="0"/>
                <a:ea typeface="Arial" pitchFamily="34" charset="-122"/>
                <a:cs typeface="Arial" pitchFamily="34" charset="-120"/>
              </a:rPr>
              <a:t>Cơ chế:</a:t>
            </a:r>
            <a:pPr indent="0" marL="0">
              <a:buNone/>
            </a:pPr>
            <a:r>
              <a:rPr lang="en-US" sz="1050" dirty="0">
                <a:solidFill>
                  <a:srgbClr val="334155"/>
                </a:solidFill>
                <a:latin typeface="Helvetica Neue" pitchFamily="34" charset="0"/>
                <a:ea typeface="Arial" pitchFamily="34" charset="-122"/>
                <a:cs typeface="Arial" pitchFamily="34" charset="-120"/>
              </a:rPr>
              <a:t> lead xử lý thủ công qua DM tạo độ trễ phản hồi, khách có xu hướng rời đi trước khi được liên hệ.</a:t>
            </a:r>
            <a:endParaRPr lang="en-US" sz="1050" dirty="0"/>
          </a:p>
        </p:txBody>
      </p:sp>
      <p:sp>
        <p:nvSpPr>
          <p:cNvPr id="49" name="Shape 47"/>
          <p:cNvSpPr/>
          <p:nvPr/>
        </p:nvSpPr>
        <p:spPr>
          <a:xfrm>
            <a:off x="3794760" y="4069080"/>
            <a:ext cx="3858768" cy="54864"/>
          </a:xfrm>
          <a:prstGeom prst="roundRect">
            <a:avLst>
              <a:gd name="adj" fmla="val 3000"/>
            </a:avLst>
          </a:prstGeom>
          <a:solidFill>
            <a:srgbClr val="FF7F32"/>
          </a:solidFill>
          <a:ln/>
        </p:spPr>
        <p:txBody>
          <a:bodyPr/>
          <a:p>
            <a:pPr>
              <a:defRPr>
                <a:latin typeface="Helvetica Neue"/>
              </a:defRPr>
            </a:pPr>
          </a:p>
        </p:txBody>
      </p:sp>
      <p:sp>
        <p:nvSpPr>
          <p:cNvPr id="50" name="Shape 48"/>
          <p:cNvSpPr/>
          <p:nvPr/>
        </p:nvSpPr>
        <p:spPr>
          <a:xfrm>
            <a:off x="3794760" y="4123944"/>
            <a:ext cx="3858768" cy="20939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51" name="Shape 49"/>
          <p:cNvSpPr/>
          <p:nvPr/>
        </p:nvSpPr>
        <p:spPr>
          <a:xfrm>
            <a:off x="3959352" y="4270248"/>
            <a:ext cx="310896" cy="310896"/>
          </a:xfrm>
          <a:prstGeom prst="roundRect">
            <a:avLst>
              <a:gd name="adj" fmla="val 3000"/>
            </a:avLst>
          </a:prstGeom>
          <a:solidFill>
            <a:srgbClr val="FF7F32"/>
          </a:solidFill>
          <a:ln/>
        </p:spPr>
        <p:txBody>
          <a:bodyPr/>
          <a:p>
            <a:pPr>
              <a:defRPr>
                <a:latin typeface="Helvetica Neue"/>
              </a:defRPr>
            </a:pPr>
          </a:p>
        </p:txBody>
      </p:sp>
      <p:sp>
        <p:nvSpPr>
          <p:cNvPr id="52" name="Text 50"/>
          <p:cNvSpPr/>
          <p:nvPr/>
        </p:nvSpPr>
        <p:spPr>
          <a:xfrm>
            <a:off x="3959352" y="4270248"/>
            <a:ext cx="310896" cy="31089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a:t>
            </a:r>
            <a:endParaRPr lang="en-US" sz="1100" dirty="0"/>
          </a:p>
        </p:txBody>
      </p:sp>
      <p:sp>
        <p:nvSpPr>
          <p:cNvPr id="53" name="Text 51"/>
          <p:cNvSpPr/>
          <p:nvPr/>
        </p:nvSpPr>
        <p:spPr>
          <a:xfrm>
            <a:off x="4361688" y="4288536"/>
            <a:ext cx="3127248" cy="292608"/>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1100" b="1" dirty="0">
                <a:solidFill>
                  <a:srgbClr val="0F172A"/>
                </a:solidFill>
                <a:latin typeface="Helvetica Neue" pitchFamily="34" charset="0"/>
                <a:ea typeface="Arial" pitchFamily="34" charset="-122"/>
                <a:cs typeface="Arial" pitchFamily="34" charset="-120"/>
              </a:rPr>
              <a:t>BƯỚC TIẾP THEO</a:t>
            </a:r>
            <a:endParaRPr lang="en-US" sz="1100" dirty="0"/>
          </a:p>
        </p:txBody>
      </p:sp>
      <p:sp>
        <p:nvSpPr>
          <p:cNvPr id="54" name="Text 52"/>
          <p:cNvSpPr/>
          <p:nvPr/>
        </p:nvSpPr>
        <p:spPr>
          <a:xfrm>
            <a:off x="3995928" y="4727448"/>
            <a:ext cx="3456432" cy="1325880"/>
          </a:xfrm>
          <a:prstGeom prst="roundRect">
            <a:avLst>
              <a:gd name="adj" fmla="val 3000"/>
            </a:avLst>
          </a:prstGeom>
          <a:noFill/>
          <a:ln/>
        </p:spPr>
        <p:txBody>
          <a:bodyPr wrap="square" lIns="0" tIns="0" rIns="0" bIns="0" rtlCol="0" anchor="t"/>
          <a:lstStyle/>
          <a:p>
            <a:pPr indent="0" marL="0">
              <a:buNone/>
              <a:defRPr>
                <a:latin typeface="Helvetica Neue"/>
              </a:defRPr>
            </a:pPr>
            <a:r>
              <a:rPr lang="en-US" sz="1050" dirty="0">
                <a:solidFill>
                  <a:srgbClr val="334155"/>
                </a:solidFill>
                <a:latin typeface="Helvetica Neue" pitchFamily="34" charset="0"/>
                <a:ea typeface="Arial" pitchFamily="34" charset="-122"/>
                <a:cs typeface="Arial" pitchFamily="34" charset="-120"/>
              </a:rPr>
              <a:t>Quy hoạch lại luồng tiếp nhận lead; chốt chính sách thưởng tháng 8 để đẩy mạnh truyền thông mục thuê xe.</a:t>
            </a:r>
            <a:endParaRPr lang="en-US" sz="1050" dirty="0"/>
          </a:p>
        </p:txBody>
      </p:sp>
      <p:sp>
        <p:nvSpPr>
          <p:cNvPr id="55" name="Shape 53"/>
          <p:cNvSpPr/>
          <p:nvPr/>
        </p:nvSpPr>
        <p:spPr>
          <a:xfrm>
            <a:off x="7799832" y="4069080"/>
            <a:ext cx="3858768" cy="54864"/>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56" name="Shape 54"/>
          <p:cNvSpPr/>
          <p:nvPr/>
        </p:nvSpPr>
        <p:spPr>
          <a:xfrm>
            <a:off x="7799832" y="4123944"/>
            <a:ext cx="3858768" cy="20939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57" name="Shape 55"/>
          <p:cNvSpPr/>
          <p:nvPr/>
        </p:nvSpPr>
        <p:spPr>
          <a:xfrm>
            <a:off x="7964424" y="4270248"/>
            <a:ext cx="310896" cy="310896"/>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58" name="Text 56"/>
          <p:cNvSpPr/>
          <p:nvPr/>
        </p:nvSpPr>
        <p:spPr>
          <a:xfrm>
            <a:off x="7964424" y="4270248"/>
            <a:ext cx="310896" cy="31089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a:t>
            </a:r>
            <a:endParaRPr lang="en-US" sz="1100" dirty="0"/>
          </a:p>
        </p:txBody>
      </p:sp>
      <p:sp>
        <p:nvSpPr>
          <p:cNvPr id="59" name="Text 57"/>
          <p:cNvSpPr/>
          <p:nvPr/>
        </p:nvSpPr>
        <p:spPr>
          <a:xfrm>
            <a:off x="8366760" y="4288536"/>
            <a:ext cx="3127248" cy="292608"/>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1100" b="1" dirty="0">
                <a:solidFill>
                  <a:srgbClr val="0F172A"/>
                </a:solidFill>
                <a:latin typeface="Helvetica Neue" pitchFamily="34" charset="0"/>
                <a:ea typeface="Arial" pitchFamily="34" charset="-122"/>
                <a:cs typeface="Arial" pitchFamily="34" charset="-120"/>
              </a:rPr>
              <a:t>CẦN SUPPORT TỪ</a:t>
            </a:r>
            <a:endParaRPr lang="en-US" sz="1100" dirty="0"/>
          </a:p>
        </p:txBody>
      </p:sp>
      <p:sp>
        <p:nvSpPr>
          <p:cNvPr id="60" name="Text 58"/>
          <p:cNvSpPr/>
          <p:nvPr/>
        </p:nvSpPr>
        <p:spPr>
          <a:xfrm>
            <a:off x="8001000" y="4727448"/>
            <a:ext cx="3456432" cy="1325880"/>
          </a:xfrm>
          <a:prstGeom prst="roundRect">
            <a:avLst>
              <a:gd name="adj" fmla="val 3000"/>
            </a:avLst>
          </a:prstGeom>
          <a:noFill/>
          <a:ln/>
        </p:spPr>
        <p:txBody>
          <a:bodyPr wrap="square" lIns="0" tIns="0" rIns="0" bIns="0" rtlCol="0" anchor="t"/>
          <a:lstStyle/>
          <a:p>
            <a:pPr indent="0" marL="0">
              <a:buNone/>
              <a:defRPr>
                <a:latin typeface="Helvetica Neue"/>
              </a:defRPr>
            </a:pPr>
            <a:r>
              <a:rPr lang="en-US" sz="1050" dirty="0">
                <a:solidFill>
                  <a:srgbClr val="334155"/>
                </a:solidFill>
                <a:latin typeface="Helvetica Neue" pitchFamily="34" charset="0"/>
                <a:ea typeface="Arial" pitchFamily="34" charset="-122"/>
                <a:cs typeface="Arial" pitchFamily="34" charset="-120"/>
              </a:rPr>
              <a:t>S&amp;P (chốt card tính thưởng đua top EV), GR (truyền thông &amp; tổ chức cafe talk)</a:t>
            </a:r>
            <a:endParaRPr lang="en-US" sz="1050" dirty="0"/>
          </a:p>
        </p:txBody>
      </p:sp>
      <p:sp>
        <p:nvSpPr>
          <p:cNvPr id="61" name="Shape 59"/>
          <p:cNvSpPr/>
          <p:nvPr/>
        </p:nvSpPr>
        <p:spPr>
          <a:xfrm>
            <a:off x="548640" y="6510528"/>
            <a:ext cx="11091672" cy="0"/>
          </a:xfrm>
          <a:prstGeom prst="roundRect">
            <a:avLst>
              <a:gd name="adj" fmla="val 3000"/>
            </a:avLst>
          </a:prstGeom>
          <a:noFill/>
          <a:ln w="15875">
            <a:solidFill>
              <a:srgbClr val="FF7F32"/>
            </a:solidFill>
            <a:prstDash val="solid"/>
          </a:ln>
        </p:spPr>
        <p:txBody>
          <a:bodyPr/>
          <a:p>
            <a:pPr>
              <a:defRPr>
                <a:latin typeface="Helvetica Neue"/>
              </a:defRPr>
            </a:pPr>
          </a:p>
        </p:txBody>
      </p:sp>
      <p:sp>
        <p:nvSpPr>
          <p:cNvPr id="62" name="Text 60"/>
          <p:cNvSpPr/>
          <p:nvPr/>
        </p:nvSpPr>
        <p:spPr>
          <a:xfrm>
            <a:off x="548640" y="6565392"/>
            <a:ext cx="7315200" cy="256032"/>
          </a:xfrm>
          <a:prstGeom prst="roundRect">
            <a:avLst>
              <a:gd name="adj" fmla="val 3000"/>
            </a:avLst>
          </a:prstGeom>
          <a:noFill/>
          <a:ln/>
        </p:spPr>
        <p:txBody>
          <a:bodyPr wrap="square" lIns="0" tIns="0" rIns="0" bIns="0" rtlCol="0" anchor="ctr"/>
          <a:lstStyle/>
          <a:p>
            <a:pPr indent="0" marL="0">
              <a:buNone/>
              <a:defRPr>
                <a:latin typeface="Helvetica Neue"/>
              </a:defRPr>
            </a:pPr>
            <a:r>
              <a:rPr lang="en-US" sz="850" dirty="0">
                <a:solidFill>
                  <a:srgbClr val="334155"/>
                </a:solidFill>
                <a:latin typeface="Helvetica Neue" pitchFamily="34" charset="0"/>
                <a:ea typeface="Arial" pitchFamily="34" charset="-122"/>
                <a:cs typeface="Arial" pitchFamily="34" charset="-120"/>
              </a:rPr>
              <a:t>DM Monthly Report — Tháng 7/2026</a:t>
            </a:r>
            <a:endParaRPr lang="en-US" sz="850" dirty="0"/>
          </a:p>
        </p:txBody>
      </p:sp>
      <p:sp>
        <p:nvSpPr>
          <p:cNvPr id="63" name="Text 61"/>
          <p:cNvSpPr/>
          <p:nvPr/>
        </p:nvSpPr>
        <p:spPr>
          <a:xfrm>
            <a:off x="11155680" y="6565392"/>
            <a:ext cx="484632" cy="256032"/>
          </a:xfrm>
          <a:prstGeom prst="roundRect">
            <a:avLst>
              <a:gd name="adj" fmla="val 3000"/>
            </a:avLst>
          </a:prstGeom>
          <a:noFill/>
          <a:ln/>
        </p:spPr>
        <p:txBody>
          <a:bodyPr wrap="square" lIns="0" tIns="0" rIns="0" bIns="0" rtlCol="0" anchor="ctr"/>
          <a:lstStyle/>
          <a:p>
            <a:pPr algn="r" indent="0" marL="0">
              <a:buNone/>
              <a:defRPr>
                <a:latin typeface="Helvetica Neue"/>
              </a:defRPr>
            </a:pPr>
            <a:r>
              <a:rPr lang="en-US" sz="850" dirty="0">
                <a:solidFill>
                  <a:srgbClr val="334155"/>
                </a:solidFill>
                <a:latin typeface="Helvetica Neue" pitchFamily="34" charset="0"/>
                <a:ea typeface="Arial" pitchFamily="34" charset="-122"/>
                <a:cs typeface="Arial" pitchFamily="34" charset="-120"/>
              </a:rPr>
              <a:t>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772400" y="36576"/>
            <a:ext cx="3867912" cy="201168"/>
          </a:xfrm>
          <a:prstGeom prst="roundRect">
            <a:avLst>
              <a:gd name="adj" fmla="val 3000"/>
            </a:avLst>
          </a:prstGeom>
          <a:noFill/>
          <a:ln/>
        </p:spPr>
        <p:txBody>
          <a:bodyPr wrap="square" lIns="0" tIns="0" rIns="0" bIns="0" rtlCol="0" anchor="ctr"/>
          <a:lstStyle/>
          <a:p>
            <a:pPr algn="r" indent="0" marL="0">
              <a:buNone/>
              <a:defRPr>
                <a:latin typeface="Helvetica Neue"/>
              </a:defRPr>
            </a:pPr>
            <a:r>
              <a:rPr lang="en-US" sz="850" i="1" dirty="0">
                <a:solidFill>
                  <a:srgbClr val="64748B"/>
                </a:solidFill>
                <a:latin typeface="Helvetica Neue" pitchFamily="34" charset="0"/>
                <a:ea typeface="Arial" pitchFamily="34" charset="-122"/>
                <a:cs typeface="Arial" pitchFamily="34" charset="-120"/>
              </a:rPr>
              <a:t>Ahamove  ·  Driver Management  ·  Báo cáo T7</a:t>
            </a:r>
            <a:endParaRPr lang="en-US" sz="850" dirty="0"/>
          </a:p>
        </p:txBody>
      </p:sp>
      <p:sp>
        <p:nvSpPr>
          <p:cNvPr id="3" name="Shape 1"/>
          <p:cNvSpPr/>
          <p:nvPr/>
        </p:nvSpPr>
        <p:spPr>
          <a:xfrm>
            <a:off x="548640" y="365760"/>
            <a:ext cx="2718054" cy="365760"/>
          </a:xfrm>
          <a:prstGeom prst="roundRect">
            <a:avLst>
              <a:gd name="adj" fmla="val 3000"/>
            </a:avLst>
          </a:prstGeom>
          <a:solidFill>
            <a:srgbClr val="FF6600"/>
          </a:solidFill>
          <a:ln w="12700">
            <a:solidFill>
              <a:srgbClr val="FF6600"/>
            </a:solidFill>
          </a:ln>
        </p:spPr>
        <p:txBody>
          <a:bodyPr/>
          <a:p>
            <a:pPr>
              <a:defRPr b="1">
                <a:latin typeface="Helvetica Neue"/>
              </a:defRPr>
            </a:pPr>
          </a:p>
        </p:txBody>
      </p:sp>
      <p:sp>
        <p:nvSpPr>
          <p:cNvPr id="4" name="Text 2"/>
          <p:cNvSpPr/>
          <p:nvPr/>
        </p:nvSpPr>
        <p:spPr>
          <a:xfrm>
            <a:off x="548640" y="365760"/>
            <a:ext cx="2718054" cy="365760"/>
          </a:xfrm>
          <a:prstGeom prst="roundRect">
            <a:avLst>
              <a:gd name="adj" fmla="val 3000"/>
            </a:avLst>
          </a:prstGeom>
          <a:noFill/>
          <a:ln/>
        </p:spPr>
        <p:txBody>
          <a:bodyPr wrap="square" lIns="0" tIns="0" rIns="0" bIns="0" rtlCol="0" anchor="ctr"/>
          <a:lstStyle/>
          <a:p>
            <a:pPr algn="ctr" indent="0" marL="0">
              <a:buNone/>
              <a:defRPr b="1">
                <a:latin typeface="Helvetica Neue"/>
              </a:defRPr>
            </a:pPr>
            <a:r>
              <a:rPr lang="en-US" sz="1100" dirty="0">
                <a:solidFill>
                  <a:srgbClr val="FFFFFF"/>
                </a:solidFill>
                <a:latin typeface="Helvetica Neue" pitchFamily="34" charset="0"/>
                <a:ea typeface="Arial" pitchFamily="34" charset="-122"/>
                <a:cs typeface="Arial" pitchFamily="34" charset="-120"/>
              </a:rPr>
              <a:t>MiniHub</a:t>
            </a:r>
            <a:endParaRPr lang="en-US" sz="1100" dirty="0"/>
          </a:p>
        </p:txBody>
      </p:sp>
      <p:sp>
        <p:nvSpPr>
          <p:cNvPr id="5" name="Shape 3"/>
          <p:cNvSpPr/>
          <p:nvPr/>
        </p:nvSpPr>
        <p:spPr>
          <a:xfrm>
            <a:off x="3339846" y="365760"/>
            <a:ext cx="2718054" cy="365760"/>
          </a:xfrm>
          <a:prstGeom prst="roundRect">
            <a:avLst>
              <a:gd name="adj" fmla="val 3000"/>
            </a:avLst>
          </a:prstGeom>
          <a:solidFill>
            <a:srgbClr val="E2E8F0"/>
          </a:solidFill>
          <a:ln w="12700">
            <a:solidFill>
              <a:srgbClr val="CBD5E1"/>
            </a:solidFill>
          </a:ln>
        </p:spPr>
        <p:txBody>
          <a:bodyPr/>
          <a:p>
            <a:pPr>
              <a:defRPr b="1">
                <a:latin typeface="Helvetica Neue"/>
              </a:defRPr>
            </a:pPr>
          </a:p>
        </p:txBody>
      </p:sp>
      <p:sp>
        <p:nvSpPr>
          <p:cNvPr id="6" name="Text 4"/>
          <p:cNvSpPr/>
          <p:nvPr/>
        </p:nvSpPr>
        <p:spPr>
          <a:xfrm>
            <a:off x="3339846" y="365760"/>
            <a:ext cx="2718054" cy="365760"/>
          </a:xfrm>
          <a:prstGeom prst="roundRect">
            <a:avLst>
              <a:gd name="adj" fmla="val 3000"/>
            </a:avLst>
          </a:prstGeom>
          <a:noFill/>
          <a:ln/>
        </p:spPr>
        <p:txBody>
          <a:bodyPr wrap="square" lIns="0" tIns="0" rIns="0" bIns="0" rtlCol="0" anchor="ctr"/>
          <a:lstStyle/>
          <a:p>
            <a:pPr algn="ctr" indent="0" marL="0">
              <a:buNone/>
              <a:defRPr b="1">
                <a:latin typeface="Helvetica Neue"/>
              </a:defRPr>
            </a:pPr>
            <a:r>
              <a:rPr lang="en-US" sz="1100" dirty="0">
                <a:solidFill>
                  <a:srgbClr val="64748B"/>
                </a:solidFill>
                <a:latin typeface="Helvetica Neue" pitchFamily="34" charset="0"/>
                <a:ea typeface="Arial" pitchFamily="34" charset="-122"/>
                <a:cs typeface="Arial" pitchFamily="34" charset="-120"/>
              </a:rPr>
              <a:t>EV</a:t>
            </a:r>
            <a:endParaRPr lang="en-US" sz="1100" dirty="0"/>
          </a:p>
        </p:txBody>
      </p:sp>
      <p:sp>
        <p:nvSpPr>
          <p:cNvPr id="7" name="Shape 5"/>
          <p:cNvSpPr/>
          <p:nvPr/>
        </p:nvSpPr>
        <p:spPr>
          <a:xfrm>
            <a:off x="6131052" y="365760"/>
            <a:ext cx="2718054" cy="365760"/>
          </a:xfrm>
          <a:prstGeom prst="roundRect">
            <a:avLst>
              <a:gd name="adj" fmla="val 3000"/>
            </a:avLst>
          </a:prstGeom>
          <a:solidFill>
            <a:srgbClr val="E2E8F0"/>
          </a:solidFill>
          <a:ln w="12700">
            <a:solidFill>
              <a:srgbClr val="CBD5E1"/>
            </a:solidFill>
          </a:ln>
        </p:spPr>
        <p:txBody>
          <a:bodyPr/>
          <a:p>
            <a:pPr>
              <a:defRPr b="1">
                <a:latin typeface="Helvetica Neue"/>
              </a:defRPr>
            </a:pPr>
          </a:p>
        </p:txBody>
      </p:sp>
      <p:sp>
        <p:nvSpPr>
          <p:cNvPr id="8" name="Shape 6"/>
          <p:cNvSpPr/>
          <p:nvPr/>
        </p:nvSpPr>
        <p:spPr>
          <a:xfrm>
            <a:off x="6131052" y="320040"/>
            <a:ext cx="2718054" cy="45720"/>
          </a:xfrm>
          <a:prstGeom prst="roundRect">
            <a:avLst>
              <a:gd name="adj" fmla="val 3000"/>
            </a:avLst>
          </a:prstGeom>
          <a:solidFill>
            <a:srgbClr val="E2E8F0"/>
          </a:solidFill>
          <a:ln w="12700">
            <a:solidFill>
              <a:srgbClr val="CBD5E1"/>
            </a:solidFill>
          </a:ln>
        </p:spPr>
        <p:txBody>
          <a:bodyPr/>
          <a:p>
            <a:pPr>
              <a:defRPr b="1">
                <a:latin typeface="Helvetica Neue"/>
              </a:defRPr>
            </a:pPr>
          </a:p>
        </p:txBody>
      </p:sp>
      <p:sp>
        <p:nvSpPr>
          <p:cNvPr id="9" name="Text 7"/>
          <p:cNvSpPr/>
          <p:nvPr/>
        </p:nvSpPr>
        <p:spPr>
          <a:xfrm>
            <a:off x="6131052" y="365760"/>
            <a:ext cx="2718054" cy="365760"/>
          </a:xfrm>
          <a:prstGeom prst="roundRect">
            <a:avLst>
              <a:gd name="adj" fmla="val 3000"/>
            </a:avLst>
          </a:prstGeom>
          <a:noFill/>
          <a:ln/>
        </p:spPr>
        <p:txBody>
          <a:bodyPr wrap="square" lIns="0" tIns="0" rIns="0" bIns="0" rtlCol="0" anchor="ctr"/>
          <a:lstStyle/>
          <a:p>
            <a:pPr algn="ctr" indent="0" marL="0">
              <a:buNone/>
              <a:defRPr b="1">
                <a:latin typeface="Helvetica Neue"/>
              </a:defRPr>
            </a:pPr>
            <a:r>
              <a:rPr lang="en-US" sz="1100" b="1" dirty="0">
                <a:solidFill>
                  <a:srgbClr val="64748B"/>
                </a:solidFill>
                <a:latin typeface="Helvetica Neue" pitchFamily="34" charset="0"/>
                <a:ea typeface="Arial" pitchFamily="34" charset="-122"/>
                <a:cs typeface="Arial" pitchFamily="34" charset="-120"/>
              </a:rPr>
              <a:t>Baga Bulky</a:t>
            </a:r>
            <a:endParaRPr lang="en-US" sz="1100" dirty="0"/>
          </a:p>
        </p:txBody>
      </p:sp>
      <p:sp>
        <p:nvSpPr>
          <p:cNvPr id="10" name="Shape 8"/>
          <p:cNvSpPr/>
          <p:nvPr/>
        </p:nvSpPr>
        <p:spPr>
          <a:xfrm>
            <a:off x="8922258" y="365760"/>
            <a:ext cx="2718054" cy="365760"/>
          </a:xfrm>
          <a:prstGeom prst="roundRect">
            <a:avLst>
              <a:gd name="adj" fmla="val 3000"/>
            </a:avLst>
          </a:prstGeom>
          <a:solidFill>
            <a:srgbClr val="E2E8F0"/>
          </a:solidFill>
          <a:ln w="12700">
            <a:solidFill>
              <a:srgbClr val="CBD5E1"/>
            </a:solidFill>
          </a:ln>
        </p:spPr>
        <p:txBody>
          <a:bodyPr/>
          <a:p>
            <a:pPr>
              <a:defRPr b="1">
                <a:latin typeface="Helvetica Neue"/>
              </a:defRPr>
            </a:pPr>
          </a:p>
        </p:txBody>
      </p:sp>
      <p:sp>
        <p:nvSpPr>
          <p:cNvPr id="11" name="Text 9"/>
          <p:cNvSpPr/>
          <p:nvPr/>
        </p:nvSpPr>
        <p:spPr>
          <a:xfrm>
            <a:off x="8922258" y="365760"/>
            <a:ext cx="2718054" cy="365760"/>
          </a:xfrm>
          <a:prstGeom prst="roundRect">
            <a:avLst>
              <a:gd name="adj" fmla="val 3000"/>
            </a:avLst>
          </a:prstGeom>
          <a:noFill/>
          <a:ln/>
        </p:spPr>
        <p:txBody>
          <a:bodyPr wrap="square" lIns="0" tIns="0" rIns="0" bIns="0" rtlCol="0" anchor="ctr"/>
          <a:lstStyle/>
          <a:p>
            <a:pPr algn="ctr" indent="0" marL="0">
              <a:buNone/>
              <a:defRPr b="1">
                <a:latin typeface="Helvetica Neue"/>
              </a:defRPr>
            </a:pPr>
            <a:r>
              <a:rPr lang="en-US" sz="1100" dirty="0">
                <a:solidFill>
                  <a:srgbClr val="64748B"/>
                </a:solidFill>
                <a:latin typeface="Helvetica Neue" pitchFamily="34" charset="0"/>
                <a:ea typeface="Arial" pitchFamily="34" charset="-122"/>
                <a:cs typeface="Arial" pitchFamily="34" charset="-120"/>
              </a:rPr>
              <a:t>Driver Journey</a:t>
            </a:r>
            <a:endParaRPr lang="en-US" sz="1100" dirty="0"/>
          </a:p>
        </p:txBody>
      </p:sp>
      <p:sp>
        <p:nvSpPr>
          <p:cNvPr id="12" name="Shape 10"/>
          <p:cNvSpPr/>
          <p:nvPr/>
        </p:nvSpPr>
        <p:spPr>
          <a:xfrm>
            <a:off x="548640" y="914400"/>
            <a:ext cx="502920" cy="502920"/>
          </a:xfrm>
          <a:prstGeom prst="roundRect">
            <a:avLst>
              <a:gd name="adj" fmla="val 3000"/>
            </a:avLst>
          </a:prstGeom>
          <a:solidFill>
            <a:srgbClr val="C77700"/>
          </a:solidFill>
          <a:ln/>
        </p:spPr>
        <p:txBody>
          <a:bodyPr/>
          <a:p>
            <a:pPr>
              <a:defRPr>
                <a:latin typeface="Helvetica Neue"/>
              </a:defRPr>
            </a:pPr>
          </a:p>
        </p:txBody>
      </p:sp>
      <p:sp>
        <p:nvSpPr>
          <p:cNvPr id="13" name="Text 11"/>
          <p:cNvSpPr/>
          <p:nvPr/>
        </p:nvSpPr>
        <p:spPr>
          <a:xfrm>
            <a:off x="548640" y="914400"/>
            <a:ext cx="502920" cy="502920"/>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300" b="1" dirty="0">
                <a:solidFill>
                  <a:srgbClr val="334155"/>
                </a:solidFill>
                <a:latin typeface="Helvetica Neue" pitchFamily="34" charset="0"/>
                <a:ea typeface="Arial" pitchFamily="34" charset="-122"/>
                <a:cs typeface="Arial" pitchFamily="34" charset="-120"/>
              </a:rPr>
              <a:t>BB</a:t>
            </a:r>
            <a:endParaRPr lang="en-US" sz="1300" dirty="0"/>
          </a:p>
        </p:txBody>
      </p:sp>
      <p:sp>
        <p:nvSpPr>
          <p:cNvPr id="14" name="Text 12"/>
          <p:cNvSpPr/>
          <p:nvPr/>
        </p:nvSpPr>
        <p:spPr>
          <a:xfrm>
            <a:off x="1188720" y="868680"/>
            <a:ext cx="8778240" cy="594360"/>
          </a:xfrm>
          <a:prstGeom prst="roundRect">
            <a:avLst>
              <a:gd name="adj" fmla="val 3000"/>
            </a:avLst>
          </a:prstGeom>
          <a:noFill/>
          <a:ln/>
        </p:spPr>
        <p:txBody>
          <a:bodyPr wrap="square" lIns="0" tIns="0" rIns="0" bIns="0" rtlCol="0" anchor="t"/>
          <a:lstStyle/>
          <a:p>
            <a:pPr indent="0" marL="0">
              <a:buNone/>
              <a:defRPr b="1">
                <a:latin typeface="Helvetica Neue"/>
              </a:defRPr>
            </a:pPr>
            <a:r>
              <a:rPr lang="en-US" sz="1700" b="1" dirty="0">
                <a:solidFill>
                  <a:srgbClr val="0F172A"/>
                </a:solidFill>
                <a:latin typeface="Helvetica Neue" pitchFamily="34" charset="0"/>
                <a:ea typeface="Arial" pitchFamily="34" charset="-122"/>
                <a:cs typeface="Arial" pitchFamily="34" charset="-120"/>
              </a:rPr>
              <a:t>Baga Bulky:</a:t>
            </a:r>
            <a:pPr indent="0" marL="0">
              <a:buNone/>
            </a:pPr>
            <a:r>
              <a:rPr lang="en-US" sz="1700" b="1" dirty="0">
                <a:solidFill>
                  <a:srgbClr val="0F172A"/>
                </a:solidFill>
                <a:latin typeface="Helvetica Neue" pitchFamily="34" charset="0"/>
                <a:ea typeface="Arial" pitchFamily="34" charset="-122"/>
                <a:cs typeface="Arial" pitchFamily="34" charset="-120"/>
              </a:rPr>
              <a:t> đang trong giai đoạn lên kế hoạch, cần chốt truyền thông trước 24/7</a:t>
            </a:r>
            <a:endParaRPr lang="en-US" sz="1700" dirty="0"/>
          </a:p>
        </p:txBody>
      </p:sp>
      <p:sp>
        <p:nvSpPr>
          <p:cNvPr id="15" name="Shape 13"/>
          <p:cNvSpPr/>
          <p:nvPr/>
        </p:nvSpPr>
        <p:spPr>
          <a:xfrm>
            <a:off x="10332720" y="1051560"/>
            <a:ext cx="146304" cy="146304"/>
          </a:xfrm>
          <a:prstGeom prst="roundRect">
            <a:avLst>
              <a:gd name="adj" fmla="val 3000"/>
            </a:avLst>
          </a:prstGeom>
          <a:solidFill>
            <a:srgbClr val="C77700"/>
          </a:solidFill>
          <a:ln/>
        </p:spPr>
        <p:txBody>
          <a:bodyPr/>
          <a:p>
            <a:pPr>
              <a:defRPr>
                <a:latin typeface="Helvetica Neue"/>
              </a:defRPr>
            </a:pPr>
          </a:p>
        </p:txBody>
      </p:sp>
      <p:sp>
        <p:nvSpPr>
          <p:cNvPr id="16" name="Text 14"/>
          <p:cNvSpPr/>
          <p:nvPr/>
        </p:nvSpPr>
        <p:spPr>
          <a:xfrm>
            <a:off x="10533888" y="996696"/>
            <a:ext cx="914400" cy="256032"/>
          </a:xfrm>
          <a:prstGeom prst="roundRect">
            <a:avLst>
              <a:gd name="adj" fmla="val 3000"/>
            </a:avLst>
          </a:prstGeom>
          <a:noFill/>
          <a:ln/>
        </p:spPr>
        <p:txBody>
          <a:bodyPr wrap="square" lIns="0" tIns="0" rIns="0" bIns="0" rtlCol="0" anchor="ctr"/>
          <a:lstStyle/>
          <a:p>
            <a:pP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VÀNG</a:t>
            </a:r>
            <a:endParaRPr lang="en-US" sz="1100" dirty="0"/>
          </a:p>
        </p:txBody>
      </p:sp>
      <p:sp>
        <p:nvSpPr>
          <p:cNvPr id="17" name="Shape 15"/>
          <p:cNvSpPr/>
          <p:nvPr/>
        </p:nvSpPr>
        <p:spPr>
          <a:xfrm>
            <a:off x="548640" y="1572768"/>
            <a:ext cx="1005840" cy="36576"/>
          </a:xfrm>
          <a:prstGeom prst="roundRect">
            <a:avLst>
              <a:gd name="adj" fmla="val 3000"/>
            </a:avLst>
          </a:prstGeom>
          <a:solidFill>
            <a:srgbClr val="FF7F32"/>
          </a:solidFill>
          <a:ln/>
        </p:spPr>
        <p:txBody>
          <a:bodyPr/>
          <a:p>
            <a:pPr>
              <a:defRPr>
                <a:latin typeface="Helvetica Neue"/>
              </a:defRPr>
            </a:pPr>
          </a:p>
        </p:txBody>
      </p:sp>
      <p:sp>
        <p:nvSpPr>
          <p:cNvPr id="18" name="Shape 16"/>
          <p:cNvSpPr/>
          <p:nvPr/>
        </p:nvSpPr>
        <p:spPr>
          <a:xfrm>
            <a:off x="548640" y="1783080"/>
            <a:ext cx="3017520" cy="54864"/>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19" name="Shape 17"/>
          <p:cNvSpPr/>
          <p:nvPr/>
        </p:nvSpPr>
        <p:spPr>
          <a:xfrm>
            <a:off x="548640" y="1837944"/>
            <a:ext cx="3017520" cy="136245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20" name="Text 18"/>
          <p:cNvSpPr/>
          <p:nvPr/>
        </p:nvSpPr>
        <p:spPr>
          <a:xfrm>
            <a:off x="685800" y="1901952"/>
            <a:ext cx="2148840" cy="502920"/>
          </a:xfrm>
          <a:prstGeom prst="roundRect">
            <a:avLst>
              <a:gd name="adj" fmla="val 3000"/>
            </a:avLst>
          </a:prstGeom>
          <a:noFill/>
          <a:ln/>
        </p:spPr>
        <p:txBody>
          <a:bodyPr wrap="square" lIns="0" tIns="0" rIns="0" bIns="0" rtlCol="0" anchor="ctr"/>
          <a:lstStyle/>
          <a:p>
            <a:pPr indent="0" marL="0">
              <a:buNone/>
              <a:defRPr sz="3800" b="1">
                <a:latin typeface="Helvetica Neue"/>
              </a:defRPr>
            </a:pPr>
            <a:r>
              <a:rPr lang="en-US" sz="2400" b="1" dirty="0">
                <a:solidFill>
                  <a:srgbClr val="0F172A"/>
                </a:solidFill>
                <a:latin typeface="Helvetica Neue" pitchFamily="34" charset="0"/>
                <a:ea typeface="Arial" pitchFamily="34" charset="-122"/>
                <a:cs typeface="Arial" pitchFamily="34" charset="-120"/>
              </a:rPr>
              <a:t>68.2%</a:t>
            </a:r>
            <a:endParaRPr lang="en-US" sz="2400" dirty="0"/>
          </a:p>
        </p:txBody>
      </p:sp>
      <p:sp>
        <p:nvSpPr>
          <p:cNvPr id="21" name="Text 19"/>
          <p:cNvSpPr/>
          <p:nvPr/>
        </p:nvSpPr>
        <p:spPr>
          <a:xfrm>
            <a:off x="685800" y="2377440"/>
            <a:ext cx="2148840" cy="274320"/>
          </a:xfrm>
          <a:prstGeom prst="roundRect">
            <a:avLst>
              <a:gd name="adj" fmla="val 3000"/>
            </a:avLst>
          </a:prstGeom>
          <a:noFill/>
          <a:ln/>
        </p:spPr>
        <p:txBody>
          <a:bodyPr wrap="square" lIns="0" tIns="0" rIns="0" bIns="0" rtlCol="0" anchor="t"/>
          <a:lstStyle/>
          <a:p>
            <a:pPr indent="0" marL="0">
              <a:buNone/>
              <a:defRPr>
                <a:latin typeface="Helvetica Neue"/>
              </a:defRPr>
            </a:pPr>
            <a:r>
              <a:rPr lang="en-US" sz="900" dirty="0">
                <a:solidFill>
                  <a:srgbClr val="334155"/>
                </a:solidFill>
                <a:latin typeface="Helvetica Neue" pitchFamily="34" charset="0"/>
                <a:ea typeface="Arial" pitchFamily="34" charset="-122"/>
                <a:cs typeface="Arial" pitchFamily="34" charset="-120"/>
              </a:rPr>
              <a:t>Baga active hiện tại (đạt 50% KR Q3: mục tiêu 63.5%)</a:t>
            </a:r>
            <a:endParaRPr lang="en-US" sz="900" dirty="0"/>
          </a:p>
        </p:txBody>
      </p:sp>
      <p:sp>
        <p:nvSpPr>
          <p:cNvPr id="22" name="Shape 20"/>
          <p:cNvSpPr/>
          <p:nvPr/>
        </p:nvSpPr>
        <p:spPr>
          <a:xfrm>
            <a:off x="3090672" y="2112264"/>
            <a:ext cx="402336" cy="283464"/>
          </a:xfrm>
          <a:prstGeom prst="roundRect">
            <a:avLst>
              <a:gd name="adj" fmla="val 3000"/>
            </a:avLst>
          </a:prstGeom>
          <a:solidFill>
            <a:srgbClr val="D9631A"/>
          </a:solidFill>
          <a:ln/>
        </p:spPr>
        <p:txBody>
          <a:bodyPr/>
          <a:p>
            <a:pPr>
              <a:defRPr>
                <a:latin typeface="Helvetica Neue"/>
              </a:defRPr>
            </a:pPr>
          </a:p>
        </p:txBody>
      </p:sp>
      <p:sp>
        <p:nvSpPr>
          <p:cNvPr id="23" name="Shape 21"/>
          <p:cNvSpPr/>
          <p:nvPr/>
        </p:nvSpPr>
        <p:spPr>
          <a:xfrm>
            <a:off x="3191256" y="1988820"/>
            <a:ext cx="201168" cy="146304"/>
          </a:xfrm>
          <a:prstGeom prst="roundRect">
            <a:avLst>
              <a:gd name="adj" fmla="val 3000"/>
            </a:avLst>
          </a:prstGeom>
          <a:ln w="25400">
            <a:solidFill>
              <a:srgbClr val="D9631A"/>
            </a:solidFill>
            <a:prstDash val="solid"/>
          </a:ln>
        </p:spPr>
        <p:txBody>
          <a:bodyPr/>
          <a:p>
            <a:pPr>
              <a:defRPr>
                <a:latin typeface="Helvetica Neue"/>
              </a:defRPr>
            </a:pPr>
          </a:p>
        </p:txBody>
      </p:sp>
      <p:sp>
        <p:nvSpPr>
          <p:cNvPr id="24" name="Shape 22"/>
          <p:cNvSpPr/>
          <p:nvPr/>
        </p:nvSpPr>
        <p:spPr>
          <a:xfrm>
            <a:off x="548640" y="2670048"/>
            <a:ext cx="3017520" cy="347472"/>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25" name="Shape 23"/>
          <p:cNvSpPr/>
          <p:nvPr/>
        </p:nvSpPr>
        <p:spPr>
          <a:xfrm>
            <a:off x="548640" y="2670048"/>
            <a:ext cx="45720" cy="347472"/>
          </a:xfrm>
          <a:prstGeom prst="roundRect">
            <a:avLst>
              <a:gd name="adj" fmla="val 3000"/>
            </a:avLst>
          </a:prstGeom>
          <a:solidFill>
            <a:srgbClr val="C77700"/>
          </a:solidFill>
          <a:ln/>
        </p:spPr>
        <p:txBody>
          <a:bodyPr/>
          <a:p>
            <a:pPr>
              <a:defRPr>
                <a:latin typeface="Helvetica Neue"/>
              </a:defRPr>
            </a:pPr>
          </a:p>
        </p:txBody>
      </p:sp>
      <p:sp>
        <p:nvSpPr>
          <p:cNvPr id="26" name="Text 24"/>
          <p:cNvSpPr/>
          <p:nvPr/>
        </p:nvSpPr>
        <p:spPr>
          <a:xfrm>
            <a:off x="713232" y="2688336"/>
            <a:ext cx="2743200" cy="164592"/>
          </a:xfrm>
          <a:prstGeom prst="roundRect">
            <a:avLst>
              <a:gd name="adj" fmla="val 3000"/>
            </a:avLst>
          </a:prstGeom>
          <a:noFill/>
          <a:ln/>
        </p:spPr>
        <p:txBody>
          <a:bodyPr wrap="square" lIns="0" tIns="0" rIns="0" bIns="0" rtlCol="0" anchor="ctr"/>
          <a:lstStyle/>
          <a:p>
            <a:pPr indent="0" marL="0">
              <a:buNone/>
              <a:defRPr>
                <a:latin typeface="Helvetica Neue"/>
              </a:defRPr>
            </a:pPr>
            <a:r>
              <a:rPr lang="en-US" sz="750" b="1" dirty="0">
                <a:solidFill>
                  <a:srgbClr val="334155"/>
                </a:solidFill>
                <a:latin typeface="Helvetica Neue" pitchFamily="34" charset="0"/>
                <a:ea typeface="Arial" pitchFamily="34" charset="-122"/>
                <a:cs typeface="Arial" pitchFamily="34" charset="-120"/>
              </a:rPr>
              <a:t>MỤC TIÊU</a:t>
            </a:r>
            <a:endParaRPr lang="en-US" sz="750" dirty="0"/>
          </a:p>
        </p:txBody>
      </p:sp>
      <p:sp>
        <p:nvSpPr>
          <p:cNvPr id="27" name="Text 25"/>
          <p:cNvSpPr/>
          <p:nvPr/>
        </p:nvSpPr>
        <p:spPr>
          <a:xfrm>
            <a:off x="713232" y="2834640"/>
            <a:ext cx="2743200" cy="182880"/>
          </a:xfrm>
          <a:prstGeom prst="roundRect">
            <a:avLst>
              <a:gd name="adj" fmla="val 3000"/>
            </a:avLst>
          </a:prstGeom>
          <a:noFill/>
          <a:ln/>
        </p:spPr>
        <p:txBody>
          <a:bodyPr wrap="square" lIns="0" tIns="0" rIns="0" bIns="0" rtlCol="0" anchor="ctr"/>
          <a:lstStyle/>
          <a:p>
            <a:pPr indent="0" marL="0">
              <a:buNone/>
              <a:defRPr>
                <a:latin typeface="Helvetica Neue"/>
              </a:defRPr>
            </a:pPr>
            <a:r>
              <a:rPr lang="en-US" sz="1000" b="1" dirty="0">
                <a:solidFill>
                  <a:srgbClr val="C77700"/>
                </a:solidFill>
                <a:latin typeface="Helvetica Neue" pitchFamily="34" charset="0"/>
                <a:ea typeface="Arial" pitchFamily="34" charset="-122"/>
                <a:cs typeface="Arial" pitchFamily="34" charset="-120"/>
              </a:rPr>
              <a:t>≥600 TX HAN + 300 TX SGN tham gia thưởng</a:t>
            </a:r>
            <a:endParaRPr lang="en-US" sz="1000" dirty="0"/>
          </a:p>
        </p:txBody>
      </p:sp>
      <p:sp>
        <p:nvSpPr>
          <p:cNvPr id="28" name="Shape 26"/>
          <p:cNvSpPr/>
          <p:nvPr/>
        </p:nvSpPr>
        <p:spPr>
          <a:xfrm>
            <a:off x="548640" y="3337560"/>
            <a:ext cx="3017520" cy="54864"/>
          </a:xfrm>
          <a:prstGeom prst="roundRect">
            <a:avLst>
              <a:gd name="adj" fmla="val 3000"/>
            </a:avLst>
          </a:prstGeom>
          <a:solidFill>
            <a:srgbClr val="FF7F32"/>
          </a:solidFill>
          <a:ln/>
        </p:spPr>
        <p:txBody>
          <a:bodyPr/>
          <a:p>
            <a:pPr>
              <a:defRPr>
                <a:latin typeface="Helvetica Neue"/>
              </a:defRPr>
            </a:pPr>
          </a:p>
        </p:txBody>
      </p:sp>
      <p:sp>
        <p:nvSpPr>
          <p:cNvPr id="29" name="Shape 27"/>
          <p:cNvSpPr/>
          <p:nvPr/>
        </p:nvSpPr>
        <p:spPr>
          <a:xfrm>
            <a:off x="548640" y="3392424"/>
            <a:ext cx="3017520" cy="27797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30" name="Text 28"/>
          <p:cNvSpPr/>
          <p:nvPr/>
        </p:nvSpPr>
        <p:spPr>
          <a:xfrm>
            <a:off x="731520" y="3474720"/>
            <a:ext cx="2651760" cy="228600"/>
          </a:xfrm>
          <a:prstGeom prst="roundRect">
            <a:avLst>
              <a:gd name="adj" fmla="val 3000"/>
            </a:avLst>
          </a:prstGeom>
          <a:noFill/>
          <a:ln/>
        </p:spPr>
        <p:txBody>
          <a:bodyPr wrap="square" lIns="0" tIns="0" rIns="0" bIns="0" rtlCol="0" anchor="ctr"/>
          <a:lstStyle/>
          <a:p>
            <a:pPr indent="0" marL="0">
              <a:buNone/>
              <a:defRPr>
                <a:latin typeface="Helvetica Neue"/>
              </a:defRPr>
            </a:pPr>
            <a:r>
              <a:rPr lang="en-US" sz="950" b="1" dirty="0">
                <a:solidFill>
                  <a:srgbClr val="334155"/>
                </a:solidFill>
                <a:latin typeface="Helvetica Neue" pitchFamily="34" charset="0"/>
                <a:ea typeface="Arial" pitchFamily="34" charset="-122"/>
                <a:cs typeface="Arial" pitchFamily="34" charset="-120"/>
              </a:rPr>
              <a:t>TRƯỚC</a:t>
            </a:r>
            <a:endParaRPr lang="en-US" sz="950" dirty="0"/>
          </a:p>
        </p:txBody>
      </p:sp>
      <p:sp>
        <p:nvSpPr>
          <p:cNvPr id="31" name="Text 29"/>
          <p:cNvSpPr/>
          <p:nvPr/>
        </p:nvSpPr>
        <p:spPr>
          <a:xfrm>
            <a:off x="731520" y="3721608"/>
            <a:ext cx="2651760" cy="914400"/>
          </a:xfrm>
          <a:prstGeom prst="roundRect">
            <a:avLst>
              <a:gd name="adj" fmla="val 3000"/>
            </a:avLst>
          </a:prstGeom>
          <a:noFill/>
          <a:ln/>
        </p:spPr>
        <p:txBody>
          <a:bodyPr wrap="square" lIns="0" tIns="0" rIns="0" bIns="0" rtlCol="0" anchor="t"/>
          <a:lstStyle/>
          <a:p>
            <a:pPr indent="0" marL="0">
              <a:buNone/>
              <a:defRPr>
                <a:latin typeface="Helvetica Neue"/>
              </a:defRPr>
            </a:pPr>
            <a:r>
              <a:rPr lang="en-US" sz="950" dirty="0">
                <a:solidFill>
                  <a:srgbClr val="334155"/>
                </a:solidFill>
                <a:latin typeface="Helvetica Neue" pitchFamily="34" charset="0"/>
                <a:ea typeface="Arial" pitchFamily="34" charset="-122"/>
                <a:cs typeface="Arial" pitchFamily="34" charset="-120"/>
              </a:rPr>
              <a:t>Chưa có chương trình thưởng chuyên biệt cho nhóm baga; tăng trưởng chủ yếu tự nhiên.</a:t>
            </a:r>
            <a:endParaRPr lang="en-US" sz="950" dirty="0"/>
          </a:p>
        </p:txBody>
      </p:sp>
      <p:sp>
        <p:nvSpPr>
          <p:cNvPr id="32" name="Text 30"/>
          <p:cNvSpPr/>
          <p:nvPr/>
        </p:nvSpPr>
        <p:spPr>
          <a:xfrm>
            <a:off x="731520" y="4617720"/>
            <a:ext cx="2651760" cy="228600"/>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400" b="1" dirty="0">
                <a:solidFill>
                  <a:srgbClr val="FF7F32"/>
                </a:solidFill>
                <a:latin typeface="Helvetica Neue" pitchFamily="34" charset="0"/>
                <a:ea typeface="Arial" pitchFamily="34" charset="-122"/>
                <a:cs typeface="Arial" pitchFamily="34" charset="-120"/>
              </a:rPr>
              <a:t>↓</a:t>
            </a:r>
            <a:endParaRPr lang="en-US" sz="1400" dirty="0"/>
          </a:p>
        </p:txBody>
      </p:sp>
      <p:sp>
        <p:nvSpPr>
          <p:cNvPr id="33" name="Text 31"/>
          <p:cNvSpPr/>
          <p:nvPr/>
        </p:nvSpPr>
        <p:spPr>
          <a:xfrm>
            <a:off x="731520" y="4873752"/>
            <a:ext cx="2651760" cy="228600"/>
          </a:xfrm>
          <a:prstGeom prst="roundRect">
            <a:avLst>
              <a:gd name="adj" fmla="val 3000"/>
            </a:avLst>
          </a:prstGeom>
          <a:noFill/>
          <a:ln/>
        </p:spPr>
        <p:txBody>
          <a:bodyPr wrap="square" lIns="0" tIns="0" rIns="0" bIns="0" rtlCol="0" anchor="ctr"/>
          <a:lstStyle/>
          <a:p>
            <a:pPr indent="0" marL="0">
              <a:buNone/>
              <a:defRPr>
                <a:latin typeface="Helvetica Neue"/>
              </a:defRPr>
            </a:pPr>
            <a:r>
              <a:rPr lang="en-US" sz="950" b="1" dirty="0">
                <a:solidFill>
                  <a:srgbClr val="334155"/>
                </a:solidFill>
                <a:latin typeface="Helvetica Neue" pitchFamily="34" charset="0"/>
                <a:ea typeface="Arial" pitchFamily="34" charset="-122"/>
                <a:cs typeface="Arial" pitchFamily="34" charset="-120"/>
              </a:rPr>
              <a:t>SAU</a:t>
            </a:r>
            <a:endParaRPr lang="en-US" sz="950" dirty="0"/>
          </a:p>
        </p:txBody>
      </p:sp>
      <p:sp>
        <p:nvSpPr>
          <p:cNvPr id="34" name="Text 32"/>
          <p:cNvSpPr/>
          <p:nvPr/>
        </p:nvSpPr>
        <p:spPr>
          <a:xfrm>
            <a:off x="731520" y="5120640"/>
            <a:ext cx="2651760" cy="914400"/>
          </a:xfrm>
          <a:prstGeom prst="roundRect">
            <a:avLst>
              <a:gd name="adj" fmla="val 3000"/>
            </a:avLst>
          </a:prstGeom>
          <a:noFill/>
          <a:ln/>
        </p:spPr>
        <p:txBody>
          <a:bodyPr wrap="square" lIns="0" tIns="0" rIns="0" bIns="0" rtlCol="0" anchor="t"/>
          <a:lstStyle/>
          <a:p>
            <a:pPr indent="0" marL="0">
              <a:buNone/>
              <a:defRPr>
                <a:latin typeface="Helvetica Neue"/>
              </a:defRPr>
            </a:pPr>
            <a:r>
              <a:rPr lang="en-US" sz="950" dirty="0">
                <a:solidFill>
                  <a:srgbClr val="334155"/>
                </a:solidFill>
                <a:latin typeface="Helvetica Neue" pitchFamily="34" charset="0"/>
                <a:ea typeface="Arial" pitchFamily="34" charset="-122"/>
                <a:cs typeface="Arial" pitchFamily="34" charset="-120"/>
              </a:rPr>
              <a:t>Chuỗi thưởng "Trang bị baga - Hoàn tiền thả ga" tại 2 main city, target tối thiểu 600 tài xế HAN + 300 tài xế SGN tham gia.</a:t>
            </a:r>
            <a:endParaRPr lang="en-US" sz="950" dirty="0"/>
          </a:p>
        </p:txBody>
      </p:sp>
      <p:sp>
        <p:nvSpPr>
          <p:cNvPr id="35" name="Shape 33"/>
          <p:cNvSpPr/>
          <p:nvPr/>
        </p:nvSpPr>
        <p:spPr>
          <a:xfrm>
            <a:off x="3794760" y="1783080"/>
            <a:ext cx="3858768" cy="54864"/>
          </a:xfrm>
          <a:prstGeom prst="roundRect">
            <a:avLst>
              <a:gd name="adj" fmla="val 3000"/>
            </a:avLst>
          </a:prstGeom>
          <a:solidFill>
            <a:srgbClr val="6B6B6B"/>
          </a:solidFill>
          <a:ln/>
        </p:spPr>
        <p:txBody>
          <a:bodyPr/>
          <a:p>
            <a:pPr>
              <a:defRPr>
                <a:latin typeface="Helvetica Neue"/>
              </a:defRPr>
            </a:pPr>
          </a:p>
        </p:txBody>
      </p:sp>
      <p:sp>
        <p:nvSpPr>
          <p:cNvPr id="36" name="Shape 34"/>
          <p:cNvSpPr/>
          <p:nvPr/>
        </p:nvSpPr>
        <p:spPr>
          <a:xfrm>
            <a:off x="3794760" y="1837944"/>
            <a:ext cx="3858768" cy="20939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37" name="Shape 35"/>
          <p:cNvSpPr/>
          <p:nvPr/>
        </p:nvSpPr>
        <p:spPr>
          <a:xfrm>
            <a:off x="3959352" y="1984248"/>
            <a:ext cx="310896" cy="310896"/>
          </a:xfrm>
          <a:prstGeom prst="roundRect">
            <a:avLst>
              <a:gd name="adj" fmla="val 3000"/>
            </a:avLst>
          </a:prstGeom>
          <a:solidFill>
            <a:srgbClr val="6B6B6B"/>
          </a:solidFill>
          <a:ln/>
        </p:spPr>
        <p:txBody>
          <a:bodyPr/>
          <a:p>
            <a:pPr>
              <a:defRPr>
                <a:latin typeface="Helvetica Neue"/>
              </a:defRPr>
            </a:pPr>
          </a:p>
        </p:txBody>
      </p:sp>
      <p:sp>
        <p:nvSpPr>
          <p:cNvPr id="38" name="Text 36"/>
          <p:cNvSpPr/>
          <p:nvPr/>
        </p:nvSpPr>
        <p:spPr>
          <a:xfrm>
            <a:off x="3959352" y="1984248"/>
            <a:ext cx="310896" cy="31089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1</a:t>
            </a:r>
            <a:endParaRPr lang="en-US" sz="1100" dirty="0"/>
          </a:p>
        </p:txBody>
      </p:sp>
      <p:sp>
        <p:nvSpPr>
          <p:cNvPr id="39" name="Text 37"/>
          <p:cNvSpPr/>
          <p:nvPr/>
        </p:nvSpPr>
        <p:spPr>
          <a:xfrm>
            <a:off x="4361688" y="2002536"/>
            <a:ext cx="3127248" cy="292608"/>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1100" b="1" dirty="0">
                <a:solidFill>
                  <a:srgbClr val="0F172A"/>
                </a:solidFill>
                <a:latin typeface="Helvetica Neue" pitchFamily="34" charset="0"/>
                <a:ea typeface="Arial" pitchFamily="34" charset="-122"/>
                <a:cs typeface="Arial" pitchFamily="34" charset="-120"/>
              </a:rPr>
              <a:t>ĐÃ LÀM GÌ (T7)</a:t>
            </a:r>
            <a:endParaRPr lang="en-US" sz="1100" dirty="0"/>
          </a:p>
        </p:txBody>
      </p:sp>
      <p:sp>
        <p:nvSpPr>
          <p:cNvPr id="40" name="Text 38"/>
          <p:cNvSpPr/>
          <p:nvPr/>
        </p:nvSpPr>
        <p:spPr>
          <a:xfrm>
            <a:off x="3995928" y="2441448"/>
            <a:ext cx="3456432" cy="1325880"/>
          </a:xfrm>
          <a:prstGeom prst="roundRect">
            <a:avLst>
              <a:gd name="adj" fmla="val 3000"/>
            </a:avLst>
          </a:prstGeom>
          <a:noFill/>
          <a:ln/>
        </p:spPr>
        <p:txBody>
          <a:bodyPr wrap="square" lIns="0" tIns="0" rIns="0" bIns="0" rtlCol="0" anchor="t"/>
          <a:lstStyle/>
          <a:p>
            <a:pPr indent="0" marL="0">
              <a:buNone/>
              <a:defRPr>
                <a:latin typeface="Helvetica Neue"/>
              </a:defRPr>
            </a:pPr>
            <a:r>
              <a:rPr lang="en-US" sz="1050" dirty="0">
                <a:solidFill>
                  <a:srgbClr val="334155"/>
                </a:solidFill>
                <a:latin typeface="Helvetica Neue" pitchFamily="34" charset="0"/>
                <a:ea typeface="Arial" pitchFamily="34" charset="-122"/>
                <a:cs typeface="Arial" pitchFamily="34" charset="-120"/>
              </a:rPr>
              <a:t>Lên kế hoạch chuỗi chương trình thưởng; xác định target tối thiểu tài xế tham gia &amp; nhận thưởng.</a:t>
            </a:r>
            <a:endParaRPr lang="en-US" sz="1050" dirty="0"/>
          </a:p>
        </p:txBody>
      </p:sp>
      <p:sp>
        <p:nvSpPr>
          <p:cNvPr id="41" name="Shape 39"/>
          <p:cNvSpPr/>
          <p:nvPr/>
        </p:nvSpPr>
        <p:spPr>
          <a:xfrm>
            <a:off x="7799832" y="1783080"/>
            <a:ext cx="3858768" cy="54864"/>
          </a:xfrm>
          <a:prstGeom prst="roundRect">
            <a:avLst>
              <a:gd name="adj" fmla="val 3000"/>
            </a:avLst>
          </a:prstGeom>
          <a:solidFill>
            <a:srgbClr val="C77700"/>
          </a:solidFill>
          <a:ln/>
        </p:spPr>
        <p:txBody>
          <a:bodyPr/>
          <a:p>
            <a:pPr>
              <a:defRPr>
                <a:latin typeface="Helvetica Neue"/>
              </a:defRPr>
            </a:pPr>
          </a:p>
        </p:txBody>
      </p:sp>
      <p:sp>
        <p:nvSpPr>
          <p:cNvPr id="42" name="Shape 40"/>
          <p:cNvSpPr/>
          <p:nvPr/>
        </p:nvSpPr>
        <p:spPr>
          <a:xfrm>
            <a:off x="7799832" y="1837944"/>
            <a:ext cx="3858768" cy="20939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43" name="Shape 41"/>
          <p:cNvSpPr/>
          <p:nvPr/>
        </p:nvSpPr>
        <p:spPr>
          <a:xfrm>
            <a:off x="7964424" y="1984248"/>
            <a:ext cx="310896" cy="310896"/>
          </a:xfrm>
          <a:prstGeom prst="roundRect">
            <a:avLst>
              <a:gd name="adj" fmla="val 3000"/>
            </a:avLst>
          </a:prstGeom>
          <a:solidFill>
            <a:srgbClr val="C77700"/>
          </a:solidFill>
          <a:ln/>
        </p:spPr>
        <p:txBody>
          <a:bodyPr/>
          <a:p>
            <a:pPr>
              <a:defRPr>
                <a:latin typeface="Helvetica Neue"/>
              </a:defRPr>
            </a:pPr>
          </a:p>
        </p:txBody>
      </p:sp>
      <p:sp>
        <p:nvSpPr>
          <p:cNvPr id="44" name="Text 42"/>
          <p:cNvSpPr/>
          <p:nvPr/>
        </p:nvSpPr>
        <p:spPr>
          <a:xfrm>
            <a:off x="7964424" y="1984248"/>
            <a:ext cx="310896" cy="31089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a:t>
            </a:r>
            <a:endParaRPr lang="en-US" sz="1100" dirty="0"/>
          </a:p>
        </p:txBody>
      </p:sp>
      <p:sp>
        <p:nvSpPr>
          <p:cNvPr id="45" name="Text 43"/>
          <p:cNvSpPr/>
          <p:nvPr/>
        </p:nvSpPr>
        <p:spPr>
          <a:xfrm>
            <a:off x="8366760" y="2002536"/>
            <a:ext cx="3127248" cy="292608"/>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1100" b="1" dirty="0">
                <a:solidFill>
                  <a:srgbClr val="DC2626"/>
                </a:solidFill>
                <a:latin typeface="Helvetica Neue" pitchFamily="34" charset="0"/>
                <a:ea typeface="Arial" pitchFamily="34" charset="-122"/>
                <a:cs typeface="Arial" pitchFamily="34" charset="-120"/>
              </a:rPr>
              <a:t>TÁC ĐỘNG</a:t>
            </a:r>
            <a:endParaRPr lang="en-US" sz="1100" dirty="0"/>
          </a:p>
        </p:txBody>
      </p:sp>
      <p:sp>
        <p:nvSpPr>
          <p:cNvPr id="46" name="Text 44"/>
          <p:cNvSpPr/>
          <p:nvPr/>
        </p:nvSpPr>
        <p:spPr>
          <a:xfrm>
            <a:off x="8001000" y="2441448"/>
            <a:ext cx="3456432" cy="1325880"/>
          </a:xfrm>
          <a:prstGeom prst="roundRect">
            <a:avLst>
              <a:gd name="adj" fmla="val 3000"/>
            </a:avLst>
          </a:prstGeom>
          <a:noFill/>
          <a:ln/>
        </p:spPr>
        <p:txBody>
          <a:bodyPr wrap="square" lIns="0" tIns="0" rIns="0" bIns="0" rtlCol="0" anchor="t"/>
          <a:lstStyle/>
          <a:p>
            <a:pPr indent="0" marL="0">
              <a:buNone/>
              <a:defRPr>
                <a:latin typeface="Helvetica Neue"/>
              </a:defRPr>
            </a:pPr>
            <a:r>
              <a:rPr lang="en-US" sz="1050" dirty="0">
                <a:solidFill>
                  <a:srgbClr val="334155"/>
                </a:solidFill>
                <a:latin typeface="Helvetica Neue" pitchFamily="34" charset="0"/>
                <a:ea typeface="Arial" pitchFamily="34" charset="-122"/>
                <a:cs typeface="Arial" pitchFamily="34" charset="-120"/>
              </a:rPr>
              <a:t>Dự án đang ở giai đoạn planning, chưa phát sinh actual thực thi. Baga active hiện đạt </a:t>
            </a:r>
            <a:pPr indent="0" marL="0">
              <a:buNone/>
            </a:pPr>
            <a:r>
              <a:rPr lang="en-US" sz="1050" b="1" dirty="0">
                <a:solidFill>
                  <a:srgbClr val="334155"/>
                </a:solidFill>
                <a:latin typeface="Helvetica Neue" pitchFamily="34" charset="0"/>
                <a:ea typeface="Arial" pitchFamily="34" charset="-122"/>
                <a:cs typeface="Arial" pitchFamily="34" charset="-120"/>
              </a:rPr>
              <a:t>68.2%</a:t>
            </a:r>
            <a:pPr indent="0" marL="0">
              <a:buNone/>
            </a:pPr>
            <a:r>
              <a:rPr lang="en-US" sz="1050" dirty="0">
                <a:solidFill>
                  <a:srgbClr val="334155"/>
                </a:solidFill>
                <a:latin typeface="Helvetica Neue" pitchFamily="34" charset="0"/>
                <a:ea typeface="Arial" pitchFamily="34" charset="-122"/>
                <a:cs typeface="Arial" pitchFamily="34" charset="-120"/>
              </a:rPr>
              <a:t>, cải thiện so với baseline nhưng vẫn cách target Q3 (</a:t>
            </a:r>
            <a:pPr indent="0" marL="0">
              <a:buNone/>
            </a:pPr>
            <a:r>
              <a:rPr lang="en-US" sz="1050" b="1" dirty="0">
                <a:solidFill>
                  <a:srgbClr val="334155"/>
                </a:solidFill>
                <a:latin typeface="Helvetica Neue" pitchFamily="34" charset="0"/>
                <a:ea typeface="Arial" pitchFamily="34" charset="-122"/>
                <a:cs typeface="Arial" pitchFamily="34" charset="-120"/>
              </a:rPr>
              <a:t>63.5%</a:t>
            </a:r>
            <a:pPr indent="0" marL="0">
              <a:buNone/>
            </a:pPr>
            <a:r>
              <a:rPr lang="en-US" sz="1050" dirty="0">
                <a:solidFill>
                  <a:srgbClr val="334155"/>
                </a:solidFill>
                <a:latin typeface="Helvetica Neue" pitchFamily="34" charset="0"/>
                <a:ea typeface="Arial" pitchFamily="34" charset="-122"/>
                <a:cs typeface="Arial" pitchFamily="34" charset="-120"/>
              </a:rPr>
              <a:t>). </a:t>
            </a:r>
            <a:pPr indent="0" marL="0">
              <a:buNone/>
            </a:pPr>
            <a:r>
              <a:rPr lang="en-US" sz="1050" b="1" dirty="0">
                <a:solidFill>
                  <a:srgbClr val="334155"/>
                </a:solidFill>
                <a:latin typeface="Helvetica Neue" pitchFamily="34" charset="0"/>
                <a:ea typeface="Arial" pitchFamily="34" charset="-122"/>
                <a:cs typeface="Arial" pitchFamily="34" charset="-120"/>
              </a:rPr>
              <a:t>Cơ chế kỳ vọng:</a:t>
            </a:r>
            <a:pPr indent="0" marL="0">
              <a:buNone/>
            </a:pPr>
            <a:r>
              <a:rPr lang="en-US" sz="1050" dirty="0">
                <a:solidFill>
                  <a:srgbClr val="334155"/>
                </a:solidFill>
                <a:latin typeface="Helvetica Neue" pitchFamily="34" charset="0"/>
                <a:ea typeface="Arial" pitchFamily="34" charset="-122"/>
                <a:cs typeface="Arial" pitchFamily="34" charset="-120"/>
              </a:rPr>
              <a:t> thưởng tài chính trực tiếp tạo động lực ngắn hạn, đặt đúng lúc nhu cầu bulky tăng theo mùa.</a:t>
            </a:r>
            <a:endParaRPr lang="en-US" sz="1050" dirty="0"/>
          </a:p>
        </p:txBody>
      </p:sp>
      <p:sp>
        <p:nvSpPr>
          <p:cNvPr id="47" name="Shape 45"/>
          <p:cNvSpPr/>
          <p:nvPr/>
        </p:nvSpPr>
        <p:spPr>
          <a:xfrm>
            <a:off x="3794760" y="4069080"/>
            <a:ext cx="3858768" cy="54864"/>
          </a:xfrm>
          <a:prstGeom prst="roundRect">
            <a:avLst>
              <a:gd name="adj" fmla="val 3000"/>
            </a:avLst>
          </a:prstGeom>
          <a:solidFill>
            <a:srgbClr val="FF7F32"/>
          </a:solidFill>
          <a:ln/>
        </p:spPr>
        <p:txBody>
          <a:bodyPr/>
          <a:p>
            <a:pPr>
              <a:defRPr>
                <a:latin typeface="Helvetica Neue"/>
              </a:defRPr>
            </a:pPr>
          </a:p>
        </p:txBody>
      </p:sp>
      <p:sp>
        <p:nvSpPr>
          <p:cNvPr id="48" name="Shape 46"/>
          <p:cNvSpPr/>
          <p:nvPr/>
        </p:nvSpPr>
        <p:spPr>
          <a:xfrm>
            <a:off x="3794760" y="4123944"/>
            <a:ext cx="3858768" cy="20939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49" name="Shape 47"/>
          <p:cNvSpPr/>
          <p:nvPr/>
        </p:nvSpPr>
        <p:spPr>
          <a:xfrm>
            <a:off x="3959352" y="4270248"/>
            <a:ext cx="310896" cy="310896"/>
          </a:xfrm>
          <a:prstGeom prst="roundRect">
            <a:avLst>
              <a:gd name="adj" fmla="val 3000"/>
            </a:avLst>
          </a:prstGeom>
          <a:solidFill>
            <a:srgbClr val="FF7F32"/>
          </a:solidFill>
          <a:ln/>
        </p:spPr>
        <p:txBody>
          <a:bodyPr/>
          <a:p>
            <a:pPr>
              <a:defRPr>
                <a:latin typeface="Helvetica Neue"/>
              </a:defRPr>
            </a:pPr>
          </a:p>
        </p:txBody>
      </p:sp>
      <p:sp>
        <p:nvSpPr>
          <p:cNvPr id="50" name="Text 48"/>
          <p:cNvSpPr/>
          <p:nvPr/>
        </p:nvSpPr>
        <p:spPr>
          <a:xfrm>
            <a:off x="3959352" y="4270248"/>
            <a:ext cx="310896" cy="31089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a:t>
            </a:r>
            <a:endParaRPr lang="en-US" sz="1100" dirty="0"/>
          </a:p>
        </p:txBody>
      </p:sp>
      <p:sp>
        <p:nvSpPr>
          <p:cNvPr id="51" name="Text 49"/>
          <p:cNvSpPr/>
          <p:nvPr/>
        </p:nvSpPr>
        <p:spPr>
          <a:xfrm>
            <a:off x="4361688" y="4288536"/>
            <a:ext cx="3127248" cy="292608"/>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1100" b="1" dirty="0">
                <a:solidFill>
                  <a:srgbClr val="0F172A"/>
                </a:solidFill>
                <a:latin typeface="Helvetica Neue" pitchFamily="34" charset="0"/>
                <a:ea typeface="Arial" pitchFamily="34" charset="-122"/>
                <a:cs typeface="Arial" pitchFamily="34" charset="-120"/>
              </a:rPr>
              <a:t>BƯỚC TIẾP THEO</a:t>
            </a:r>
            <a:endParaRPr lang="en-US" sz="1100" dirty="0"/>
          </a:p>
        </p:txBody>
      </p:sp>
      <p:sp>
        <p:nvSpPr>
          <p:cNvPr id="52" name="Text 50"/>
          <p:cNvSpPr/>
          <p:nvPr/>
        </p:nvSpPr>
        <p:spPr>
          <a:xfrm>
            <a:off x="3995928" y="4727448"/>
            <a:ext cx="3456432" cy="1325880"/>
          </a:xfrm>
          <a:prstGeom prst="roundRect">
            <a:avLst>
              <a:gd name="adj" fmla="val 3000"/>
            </a:avLst>
          </a:prstGeom>
          <a:noFill/>
          <a:ln/>
        </p:spPr>
        <p:txBody>
          <a:bodyPr wrap="square" lIns="0" tIns="0" rIns="0" bIns="0" rtlCol="0" anchor="t"/>
          <a:lstStyle/>
          <a:p>
            <a:pPr indent="0" marL="0">
              <a:buNone/>
              <a:defRPr>
                <a:latin typeface="Helvetica Neue"/>
              </a:defRPr>
            </a:pPr>
            <a:r>
              <a:rPr lang="en-US" sz="1050" dirty="0">
                <a:solidFill>
                  <a:srgbClr val="334155"/>
                </a:solidFill>
                <a:latin typeface="Helvetica Neue" pitchFamily="34" charset="0"/>
                <a:ea typeface="Arial" pitchFamily="34" charset="-122"/>
                <a:cs typeface="Arial" pitchFamily="34" charset="-120"/>
              </a:rPr>
              <a:t>Chốt plan &amp; công bố lên nhóm chung Supply (</a:t>
            </a:r>
            <a:pPr indent="0" marL="0">
              <a:buNone/>
            </a:pPr>
            <a:r>
              <a:rPr lang="en-US" sz="1050" b="1" dirty="0">
                <a:solidFill>
                  <a:srgbClr val="334155"/>
                </a:solidFill>
                <a:latin typeface="Helvetica Neue" pitchFamily="34" charset="0"/>
                <a:ea typeface="Arial" pitchFamily="34" charset="-122"/>
                <a:cs typeface="Arial" pitchFamily="34" charset="-120"/>
              </a:rPr>
              <a:t>22-24/7</a:t>
            </a:r>
            <a:pPr indent="0" marL="0">
              <a:buNone/>
            </a:pPr>
            <a:r>
              <a:rPr lang="en-US" sz="1050" dirty="0">
                <a:solidFill>
                  <a:srgbClr val="334155"/>
                </a:solidFill>
                <a:latin typeface="Helvetica Neue" pitchFamily="34" charset="0"/>
                <a:ea typeface="Arial" pitchFamily="34" charset="-122"/>
                <a:cs typeface="Arial" pitchFamily="34" charset="-120"/>
              </a:rPr>
              <a:t>); meeting DS hoàn thiện plan truyền thông (26-30/7); PA setup thưởng + flow noti (26/7-10/8); truyền thông tài xế mới (1-14/8).</a:t>
            </a:r>
            <a:endParaRPr lang="en-US" sz="1050" dirty="0"/>
          </a:p>
        </p:txBody>
      </p:sp>
      <p:sp>
        <p:nvSpPr>
          <p:cNvPr id="53" name="Shape 51"/>
          <p:cNvSpPr/>
          <p:nvPr/>
        </p:nvSpPr>
        <p:spPr>
          <a:xfrm>
            <a:off x="7799832" y="4069080"/>
            <a:ext cx="3858768" cy="54864"/>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54" name="Shape 52"/>
          <p:cNvSpPr/>
          <p:nvPr/>
        </p:nvSpPr>
        <p:spPr>
          <a:xfrm>
            <a:off x="7799832" y="4123944"/>
            <a:ext cx="3858768" cy="20939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55" name="Shape 53"/>
          <p:cNvSpPr/>
          <p:nvPr/>
        </p:nvSpPr>
        <p:spPr>
          <a:xfrm>
            <a:off x="7964424" y="4270248"/>
            <a:ext cx="310896" cy="310896"/>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56" name="Text 54"/>
          <p:cNvSpPr/>
          <p:nvPr/>
        </p:nvSpPr>
        <p:spPr>
          <a:xfrm>
            <a:off x="7964424" y="4270248"/>
            <a:ext cx="310896" cy="31089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a:t>
            </a:r>
            <a:endParaRPr lang="en-US" sz="1100" dirty="0"/>
          </a:p>
        </p:txBody>
      </p:sp>
      <p:sp>
        <p:nvSpPr>
          <p:cNvPr id="57" name="Text 55"/>
          <p:cNvSpPr/>
          <p:nvPr/>
        </p:nvSpPr>
        <p:spPr>
          <a:xfrm>
            <a:off x="8366760" y="4288536"/>
            <a:ext cx="3127248" cy="292608"/>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1100" b="1" dirty="0">
                <a:solidFill>
                  <a:srgbClr val="0F172A"/>
                </a:solidFill>
                <a:latin typeface="Helvetica Neue" pitchFamily="34" charset="0"/>
                <a:ea typeface="Arial" pitchFamily="34" charset="-122"/>
                <a:cs typeface="Arial" pitchFamily="34" charset="-120"/>
              </a:rPr>
              <a:t>CẦN SUPPORT TỪ</a:t>
            </a:r>
            <a:endParaRPr lang="en-US" sz="1100" dirty="0"/>
          </a:p>
        </p:txBody>
      </p:sp>
      <p:sp>
        <p:nvSpPr>
          <p:cNvPr id="58" name="Text 56"/>
          <p:cNvSpPr/>
          <p:nvPr/>
        </p:nvSpPr>
        <p:spPr>
          <a:xfrm>
            <a:off x="8001000" y="4727448"/>
            <a:ext cx="3456432" cy="1325880"/>
          </a:xfrm>
          <a:prstGeom prst="roundRect">
            <a:avLst>
              <a:gd name="adj" fmla="val 3000"/>
            </a:avLst>
          </a:prstGeom>
          <a:noFill/>
          <a:ln/>
        </p:spPr>
        <p:txBody>
          <a:bodyPr wrap="square" lIns="0" tIns="0" rIns="0" bIns="0" rtlCol="0" anchor="t"/>
          <a:lstStyle/>
          <a:p>
            <a:pPr indent="0" marL="0">
              <a:buNone/>
              <a:defRPr>
                <a:latin typeface="Helvetica Neue"/>
              </a:defRPr>
            </a:pPr>
            <a:r>
              <a:rPr lang="en-US" sz="1050" dirty="0">
                <a:solidFill>
                  <a:srgbClr val="334155"/>
                </a:solidFill>
                <a:latin typeface="Helvetica Neue" pitchFamily="34" charset="0"/>
                <a:ea typeface="Arial" pitchFamily="34" charset="-122"/>
                <a:cs typeface="Arial" pitchFamily="34" charset="-120"/>
              </a:rPr>
              <a:t>DS (truyền thông &amp; branding), PA (setup thưởng, flow noti), GR (truyền thông tài xế mới)</a:t>
            </a:r>
            <a:endParaRPr lang="en-US" sz="1050" dirty="0"/>
          </a:p>
        </p:txBody>
      </p:sp>
      <p:sp>
        <p:nvSpPr>
          <p:cNvPr id="59" name="Shape 57"/>
          <p:cNvSpPr/>
          <p:nvPr/>
        </p:nvSpPr>
        <p:spPr>
          <a:xfrm>
            <a:off x="548640" y="6510528"/>
            <a:ext cx="11091672" cy="0"/>
          </a:xfrm>
          <a:prstGeom prst="roundRect">
            <a:avLst>
              <a:gd name="adj" fmla="val 3000"/>
            </a:avLst>
          </a:prstGeom>
          <a:noFill/>
          <a:ln w="15875">
            <a:solidFill>
              <a:srgbClr val="FF7F32"/>
            </a:solidFill>
            <a:prstDash val="solid"/>
          </a:ln>
        </p:spPr>
        <p:txBody>
          <a:bodyPr/>
          <a:p>
            <a:pPr>
              <a:defRPr>
                <a:latin typeface="Helvetica Neue"/>
              </a:defRPr>
            </a:pPr>
          </a:p>
        </p:txBody>
      </p:sp>
      <p:sp>
        <p:nvSpPr>
          <p:cNvPr id="60" name="Text 58"/>
          <p:cNvSpPr/>
          <p:nvPr/>
        </p:nvSpPr>
        <p:spPr>
          <a:xfrm>
            <a:off x="548640" y="6565392"/>
            <a:ext cx="7315200" cy="256032"/>
          </a:xfrm>
          <a:prstGeom prst="roundRect">
            <a:avLst>
              <a:gd name="adj" fmla="val 3000"/>
            </a:avLst>
          </a:prstGeom>
          <a:noFill/>
          <a:ln/>
        </p:spPr>
        <p:txBody>
          <a:bodyPr wrap="square" lIns="0" tIns="0" rIns="0" bIns="0" rtlCol="0" anchor="ctr"/>
          <a:lstStyle/>
          <a:p>
            <a:pPr indent="0" marL="0">
              <a:buNone/>
              <a:defRPr>
                <a:latin typeface="Helvetica Neue"/>
              </a:defRPr>
            </a:pPr>
            <a:r>
              <a:rPr lang="en-US" sz="850" dirty="0">
                <a:solidFill>
                  <a:srgbClr val="334155"/>
                </a:solidFill>
                <a:latin typeface="Helvetica Neue" pitchFamily="34" charset="0"/>
                <a:ea typeface="Arial" pitchFamily="34" charset="-122"/>
                <a:cs typeface="Arial" pitchFamily="34" charset="-120"/>
              </a:rPr>
              <a:t>DM Monthly Report — Tháng 7/2026</a:t>
            </a:r>
            <a:endParaRPr lang="en-US" sz="850" dirty="0"/>
          </a:p>
        </p:txBody>
      </p:sp>
      <p:sp>
        <p:nvSpPr>
          <p:cNvPr id="61" name="Text 59"/>
          <p:cNvSpPr/>
          <p:nvPr/>
        </p:nvSpPr>
        <p:spPr>
          <a:xfrm>
            <a:off x="11155680" y="6565392"/>
            <a:ext cx="484632" cy="256032"/>
          </a:xfrm>
          <a:prstGeom prst="roundRect">
            <a:avLst>
              <a:gd name="adj" fmla="val 3000"/>
            </a:avLst>
          </a:prstGeom>
          <a:noFill/>
          <a:ln/>
        </p:spPr>
        <p:txBody>
          <a:bodyPr wrap="square" lIns="0" tIns="0" rIns="0" bIns="0" rtlCol="0" anchor="ctr"/>
          <a:lstStyle/>
          <a:p>
            <a:pPr algn="r" indent="0" marL="0">
              <a:buNone/>
              <a:defRPr>
                <a:latin typeface="Helvetica Neue"/>
              </a:defRPr>
            </a:pPr>
            <a:r>
              <a:rPr lang="en-US" sz="850" dirty="0">
                <a:solidFill>
                  <a:srgbClr val="334155"/>
                </a:solidFill>
                <a:latin typeface="Helvetica Neue" pitchFamily="34" charset="0"/>
                <a:ea typeface="Arial" pitchFamily="34" charset="-122"/>
                <a:cs typeface="Arial" pitchFamily="34" charset="-120"/>
              </a:rPr>
              <a:t>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772400" y="36576"/>
            <a:ext cx="3867912" cy="201168"/>
          </a:xfrm>
          <a:prstGeom prst="roundRect">
            <a:avLst>
              <a:gd name="adj" fmla="val 3000"/>
            </a:avLst>
          </a:prstGeom>
          <a:noFill/>
          <a:ln/>
        </p:spPr>
        <p:txBody>
          <a:bodyPr wrap="square" lIns="0" tIns="0" rIns="0" bIns="0" rtlCol="0" anchor="ctr"/>
          <a:lstStyle/>
          <a:p>
            <a:pPr algn="r" indent="0" marL="0">
              <a:buNone/>
              <a:defRPr>
                <a:latin typeface="Helvetica Neue"/>
              </a:defRPr>
            </a:pPr>
            <a:r>
              <a:rPr lang="en-US" sz="850" i="1" dirty="0">
                <a:solidFill>
                  <a:srgbClr val="64748B"/>
                </a:solidFill>
                <a:latin typeface="Helvetica Neue" pitchFamily="34" charset="0"/>
                <a:ea typeface="Arial" pitchFamily="34" charset="-122"/>
                <a:cs typeface="Arial" pitchFamily="34" charset="-120"/>
              </a:rPr>
              <a:t>Ahamove  ·  Driver Management  ·  Báo cáo T7</a:t>
            </a:r>
            <a:endParaRPr lang="en-US" sz="850" dirty="0"/>
          </a:p>
        </p:txBody>
      </p:sp>
      <p:sp>
        <p:nvSpPr>
          <p:cNvPr id="3" name="Shape 1"/>
          <p:cNvSpPr/>
          <p:nvPr/>
        </p:nvSpPr>
        <p:spPr>
          <a:xfrm>
            <a:off x="548640" y="365760"/>
            <a:ext cx="2718054" cy="365760"/>
          </a:xfrm>
          <a:prstGeom prst="roundRect">
            <a:avLst>
              <a:gd name="adj" fmla="val 3000"/>
            </a:avLst>
          </a:prstGeom>
          <a:solidFill>
            <a:srgbClr val="FF6600"/>
          </a:solidFill>
          <a:ln w="12700">
            <a:solidFill>
              <a:srgbClr val="FF6600"/>
            </a:solidFill>
          </a:ln>
        </p:spPr>
        <p:txBody>
          <a:bodyPr/>
          <a:p>
            <a:pPr>
              <a:defRPr b="1">
                <a:latin typeface="Helvetica Neue"/>
              </a:defRPr>
            </a:pPr>
          </a:p>
        </p:txBody>
      </p:sp>
      <p:sp>
        <p:nvSpPr>
          <p:cNvPr id="4" name="Text 2"/>
          <p:cNvSpPr/>
          <p:nvPr/>
        </p:nvSpPr>
        <p:spPr>
          <a:xfrm>
            <a:off x="548640" y="365760"/>
            <a:ext cx="2718054" cy="365760"/>
          </a:xfrm>
          <a:prstGeom prst="roundRect">
            <a:avLst>
              <a:gd name="adj" fmla="val 3000"/>
            </a:avLst>
          </a:prstGeom>
          <a:noFill/>
          <a:ln/>
        </p:spPr>
        <p:txBody>
          <a:bodyPr wrap="square" lIns="0" tIns="0" rIns="0" bIns="0" rtlCol="0" anchor="ctr"/>
          <a:lstStyle/>
          <a:p>
            <a:pPr algn="ctr" indent="0" marL="0">
              <a:buNone/>
              <a:defRPr b="1">
                <a:latin typeface="Helvetica Neue"/>
              </a:defRPr>
            </a:pPr>
            <a:r>
              <a:rPr lang="en-US" sz="1100" dirty="0">
                <a:solidFill>
                  <a:srgbClr val="FFFFFF"/>
                </a:solidFill>
                <a:latin typeface="Helvetica Neue" pitchFamily="34" charset="0"/>
                <a:ea typeface="Arial" pitchFamily="34" charset="-122"/>
                <a:cs typeface="Arial" pitchFamily="34" charset="-120"/>
              </a:rPr>
              <a:t>MiniHub</a:t>
            </a:r>
            <a:endParaRPr lang="en-US" sz="1100" dirty="0"/>
          </a:p>
        </p:txBody>
      </p:sp>
      <p:sp>
        <p:nvSpPr>
          <p:cNvPr id="5" name="Shape 3"/>
          <p:cNvSpPr/>
          <p:nvPr/>
        </p:nvSpPr>
        <p:spPr>
          <a:xfrm>
            <a:off x="3339846" y="365760"/>
            <a:ext cx="2718054" cy="365760"/>
          </a:xfrm>
          <a:prstGeom prst="roundRect">
            <a:avLst>
              <a:gd name="adj" fmla="val 3000"/>
            </a:avLst>
          </a:prstGeom>
          <a:solidFill>
            <a:srgbClr val="E2E8F0"/>
          </a:solidFill>
          <a:ln w="12700">
            <a:solidFill>
              <a:srgbClr val="CBD5E1"/>
            </a:solidFill>
          </a:ln>
        </p:spPr>
        <p:txBody>
          <a:bodyPr/>
          <a:p>
            <a:pPr>
              <a:defRPr b="1">
                <a:latin typeface="Helvetica Neue"/>
              </a:defRPr>
            </a:pPr>
          </a:p>
        </p:txBody>
      </p:sp>
      <p:sp>
        <p:nvSpPr>
          <p:cNvPr id="6" name="Text 4"/>
          <p:cNvSpPr/>
          <p:nvPr/>
        </p:nvSpPr>
        <p:spPr>
          <a:xfrm>
            <a:off x="3339846" y="365760"/>
            <a:ext cx="2718054" cy="365760"/>
          </a:xfrm>
          <a:prstGeom prst="roundRect">
            <a:avLst>
              <a:gd name="adj" fmla="val 3000"/>
            </a:avLst>
          </a:prstGeom>
          <a:noFill/>
          <a:ln/>
        </p:spPr>
        <p:txBody>
          <a:bodyPr wrap="square" lIns="0" tIns="0" rIns="0" bIns="0" rtlCol="0" anchor="ctr"/>
          <a:lstStyle/>
          <a:p>
            <a:pPr algn="ctr" indent="0" marL="0">
              <a:buNone/>
              <a:defRPr b="1">
                <a:latin typeface="Helvetica Neue"/>
              </a:defRPr>
            </a:pPr>
            <a:r>
              <a:rPr lang="en-US" sz="1100" dirty="0">
                <a:solidFill>
                  <a:srgbClr val="64748B"/>
                </a:solidFill>
                <a:latin typeface="Helvetica Neue" pitchFamily="34" charset="0"/>
                <a:ea typeface="Arial" pitchFamily="34" charset="-122"/>
                <a:cs typeface="Arial" pitchFamily="34" charset="-120"/>
              </a:rPr>
              <a:t>EV</a:t>
            </a:r>
            <a:endParaRPr lang="en-US" sz="1100" dirty="0"/>
          </a:p>
        </p:txBody>
      </p:sp>
      <p:sp>
        <p:nvSpPr>
          <p:cNvPr id="7" name="Shape 5"/>
          <p:cNvSpPr/>
          <p:nvPr/>
        </p:nvSpPr>
        <p:spPr>
          <a:xfrm>
            <a:off x="6131052" y="365760"/>
            <a:ext cx="2718054" cy="365760"/>
          </a:xfrm>
          <a:prstGeom prst="roundRect">
            <a:avLst>
              <a:gd name="adj" fmla="val 3000"/>
            </a:avLst>
          </a:prstGeom>
          <a:solidFill>
            <a:srgbClr val="E2E8F0"/>
          </a:solidFill>
          <a:ln w="12700">
            <a:solidFill>
              <a:srgbClr val="CBD5E1"/>
            </a:solidFill>
          </a:ln>
        </p:spPr>
        <p:txBody>
          <a:bodyPr/>
          <a:p>
            <a:pPr>
              <a:defRPr b="1">
                <a:latin typeface="Helvetica Neue"/>
              </a:defRPr>
            </a:pPr>
          </a:p>
        </p:txBody>
      </p:sp>
      <p:sp>
        <p:nvSpPr>
          <p:cNvPr id="8" name="Text 6"/>
          <p:cNvSpPr/>
          <p:nvPr/>
        </p:nvSpPr>
        <p:spPr>
          <a:xfrm>
            <a:off x="6131052" y="365760"/>
            <a:ext cx="2718054" cy="365760"/>
          </a:xfrm>
          <a:prstGeom prst="roundRect">
            <a:avLst>
              <a:gd name="adj" fmla="val 3000"/>
            </a:avLst>
          </a:prstGeom>
          <a:noFill/>
          <a:ln/>
        </p:spPr>
        <p:txBody>
          <a:bodyPr wrap="square" lIns="0" tIns="0" rIns="0" bIns="0" rtlCol="0" anchor="ctr"/>
          <a:lstStyle/>
          <a:p>
            <a:pPr algn="ctr" indent="0" marL="0">
              <a:buNone/>
              <a:defRPr b="1">
                <a:latin typeface="Helvetica Neue"/>
              </a:defRPr>
            </a:pPr>
            <a:r>
              <a:rPr lang="en-US" sz="1100" dirty="0">
                <a:solidFill>
                  <a:srgbClr val="64748B"/>
                </a:solidFill>
                <a:latin typeface="Helvetica Neue" pitchFamily="34" charset="0"/>
                <a:ea typeface="Arial" pitchFamily="34" charset="-122"/>
                <a:cs typeface="Arial" pitchFamily="34" charset="-120"/>
              </a:rPr>
              <a:t>Baga Bulky</a:t>
            </a:r>
            <a:endParaRPr lang="en-US" sz="1100" dirty="0"/>
          </a:p>
        </p:txBody>
      </p:sp>
      <p:sp>
        <p:nvSpPr>
          <p:cNvPr id="9" name="Shape 7"/>
          <p:cNvSpPr/>
          <p:nvPr/>
        </p:nvSpPr>
        <p:spPr>
          <a:xfrm>
            <a:off x="8922258" y="365760"/>
            <a:ext cx="2718054" cy="365760"/>
          </a:xfrm>
          <a:prstGeom prst="roundRect">
            <a:avLst>
              <a:gd name="adj" fmla="val 3000"/>
            </a:avLst>
          </a:prstGeom>
          <a:solidFill>
            <a:srgbClr val="E2E8F0"/>
          </a:solidFill>
          <a:ln w="12700">
            <a:solidFill>
              <a:srgbClr val="CBD5E1"/>
            </a:solidFill>
          </a:ln>
        </p:spPr>
        <p:txBody>
          <a:bodyPr/>
          <a:p>
            <a:pPr>
              <a:defRPr b="1">
                <a:latin typeface="Helvetica Neue"/>
              </a:defRPr>
            </a:pPr>
          </a:p>
        </p:txBody>
      </p:sp>
      <p:sp>
        <p:nvSpPr>
          <p:cNvPr id="10" name="Shape 8"/>
          <p:cNvSpPr/>
          <p:nvPr/>
        </p:nvSpPr>
        <p:spPr>
          <a:xfrm>
            <a:off x="8922258" y="320040"/>
            <a:ext cx="2718054" cy="45720"/>
          </a:xfrm>
          <a:prstGeom prst="roundRect">
            <a:avLst>
              <a:gd name="adj" fmla="val 3000"/>
            </a:avLst>
          </a:prstGeom>
          <a:solidFill>
            <a:srgbClr val="E2E8F0"/>
          </a:solidFill>
          <a:ln w="12700">
            <a:solidFill>
              <a:srgbClr val="CBD5E1"/>
            </a:solidFill>
          </a:ln>
        </p:spPr>
        <p:txBody>
          <a:bodyPr/>
          <a:p>
            <a:pPr>
              <a:defRPr b="1">
                <a:latin typeface="Helvetica Neue"/>
              </a:defRPr>
            </a:pPr>
          </a:p>
        </p:txBody>
      </p:sp>
      <p:sp>
        <p:nvSpPr>
          <p:cNvPr id="11" name="Text 9"/>
          <p:cNvSpPr/>
          <p:nvPr/>
        </p:nvSpPr>
        <p:spPr>
          <a:xfrm>
            <a:off x="8922258" y="365760"/>
            <a:ext cx="2718054" cy="365760"/>
          </a:xfrm>
          <a:prstGeom prst="roundRect">
            <a:avLst>
              <a:gd name="adj" fmla="val 3000"/>
            </a:avLst>
          </a:prstGeom>
          <a:noFill/>
          <a:ln/>
        </p:spPr>
        <p:txBody>
          <a:bodyPr wrap="square" lIns="0" tIns="0" rIns="0" bIns="0" rtlCol="0" anchor="ctr"/>
          <a:lstStyle/>
          <a:p>
            <a:pPr algn="ctr" indent="0" marL="0">
              <a:buNone/>
              <a:defRPr b="1">
                <a:latin typeface="Helvetica Neue"/>
              </a:defRPr>
            </a:pPr>
            <a:r>
              <a:rPr lang="en-US" sz="1100" b="1" dirty="0">
                <a:solidFill>
                  <a:srgbClr val="64748B"/>
                </a:solidFill>
                <a:latin typeface="Helvetica Neue" pitchFamily="34" charset="0"/>
                <a:ea typeface="Arial" pitchFamily="34" charset="-122"/>
                <a:cs typeface="Arial" pitchFamily="34" charset="-120"/>
              </a:rPr>
              <a:t>Driver Journey</a:t>
            </a:r>
            <a:endParaRPr lang="en-US" sz="1100" dirty="0"/>
          </a:p>
        </p:txBody>
      </p:sp>
      <p:sp>
        <p:nvSpPr>
          <p:cNvPr id="12" name="Shape 10"/>
          <p:cNvSpPr/>
          <p:nvPr/>
        </p:nvSpPr>
        <p:spPr>
          <a:xfrm>
            <a:off x="548640" y="914400"/>
            <a:ext cx="502920" cy="502920"/>
          </a:xfrm>
          <a:prstGeom prst="roundRect">
            <a:avLst>
              <a:gd name="adj" fmla="val 3000"/>
            </a:avLst>
          </a:prstGeom>
          <a:solidFill>
            <a:srgbClr val="1B8A5A"/>
          </a:solidFill>
          <a:ln/>
        </p:spPr>
        <p:txBody>
          <a:bodyPr/>
          <a:p>
            <a:pPr>
              <a:defRPr>
                <a:latin typeface="Helvetica Neue"/>
              </a:defRPr>
            </a:pPr>
          </a:p>
        </p:txBody>
      </p:sp>
      <p:sp>
        <p:nvSpPr>
          <p:cNvPr id="13" name="Text 11"/>
          <p:cNvSpPr/>
          <p:nvPr/>
        </p:nvSpPr>
        <p:spPr>
          <a:xfrm>
            <a:off x="548640" y="914400"/>
            <a:ext cx="502920" cy="502920"/>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300" b="1" dirty="0">
                <a:solidFill>
                  <a:srgbClr val="334155"/>
                </a:solidFill>
                <a:latin typeface="Helvetica Neue" pitchFamily="34" charset="0"/>
                <a:ea typeface="Arial" pitchFamily="34" charset="-122"/>
                <a:cs typeface="Arial" pitchFamily="34" charset="-120"/>
              </a:rPr>
              <a:t>DJ</a:t>
            </a:r>
            <a:endParaRPr lang="en-US" sz="1300" dirty="0"/>
          </a:p>
        </p:txBody>
      </p:sp>
      <p:sp>
        <p:nvSpPr>
          <p:cNvPr id="14" name="Text 12"/>
          <p:cNvSpPr/>
          <p:nvPr/>
        </p:nvSpPr>
        <p:spPr>
          <a:xfrm>
            <a:off x="1188720" y="868680"/>
            <a:ext cx="8778240" cy="594360"/>
          </a:xfrm>
          <a:prstGeom prst="roundRect">
            <a:avLst>
              <a:gd name="adj" fmla="val 3000"/>
            </a:avLst>
          </a:prstGeom>
          <a:noFill/>
          <a:ln/>
        </p:spPr>
        <p:txBody>
          <a:bodyPr wrap="square" lIns="0" tIns="0" rIns="0" bIns="0" rtlCol="0" anchor="t"/>
          <a:lstStyle/>
          <a:p>
            <a:pPr indent="0" marL="0">
              <a:buNone/>
              <a:defRPr b="1">
                <a:latin typeface="Helvetica Neue"/>
              </a:defRPr>
            </a:pPr>
            <a:r>
              <a:rPr lang="en-US" sz="1700" b="1" dirty="0">
                <a:solidFill>
                  <a:srgbClr val="0F172A"/>
                </a:solidFill>
                <a:latin typeface="Helvetica Neue" pitchFamily="34" charset="0"/>
                <a:ea typeface="Arial" pitchFamily="34" charset="-122"/>
                <a:cs typeface="Arial" pitchFamily="34" charset="-120"/>
              </a:rPr>
              <a:t>Driver Journey:</a:t>
            </a:r>
            <a:pPr indent="0" marL="0">
              <a:buNone/>
            </a:pPr>
            <a:r>
              <a:rPr lang="en-US" sz="1700" b="1" dirty="0">
                <a:solidFill>
                  <a:srgbClr val="0F172A"/>
                </a:solidFill>
                <a:latin typeface="Helvetica Neue" pitchFamily="34" charset="0"/>
                <a:ea typeface="Arial" pitchFamily="34" charset="-122"/>
                <a:cs typeface="Arial" pitchFamily="34" charset="-120"/>
              </a:rPr>
              <a:t> case study chứng minh mô hình onboarding theo giai đoạn đang work</a:t>
            </a:r>
            <a:endParaRPr lang="en-US" sz="1700" dirty="0"/>
          </a:p>
        </p:txBody>
      </p:sp>
      <p:sp>
        <p:nvSpPr>
          <p:cNvPr id="15" name="Shape 13"/>
          <p:cNvSpPr/>
          <p:nvPr/>
        </p:nvSpPr>
        <p:spPr>
          <a:xfrm>
            <a:off x="10332720" y="1051560"/>
            <a:ext cx="146304" cy="146304"/>
          </a:xfrm>
          <a:prstGeom prst="roundRect">
            <a:avLst>
              <a:gd name="adj" fmla="val 3000"/>
            </a:avLst>
          </a:prstGeom>
          <a:solidFill>
            <a:srgbClr val="1B8A5A"/>
          </a:solidFill>
          <a:ln/>
        </p:spPr>
        <p:txBody>
          <a:bodyPr/>
          <a:p>
            <a:pPr>
              <a:defRPr>
                <a:latin typeface="Helvetica Neue"/>
              </a:defRPr>
            </a:pPr>
          </a:p>
        </p:txBody>
      </p:sp>
      <p:sp>
        <p:nvSpPr>
          <p:cNvPr id="16" name="Text 14"/>
          <p:cNvSpPr/>
          <p:nvPr/>
        </p:nvSpPr>
        <p:spPr>
          <a:xfrm>
            <a:off x="10533888" y="996696"/>
            <a:ext cx="914400" cy="256032"/>
          </a:xfrm>
          <a:prstGeom prst="roundRect">
            <a:avLst>
              <a:gd name="adj" fmla="val 3000"/>
            </a:avLst>
          </a:prstGeom>
          <a:noFill/>
          <a:ln/>
        </p:spPr>
        <p:txBody>
          <a:bodyPr wrap="square" lIns="0" tIns="0" rIns="0" bIns="0" rtlCol="0" anchor="ctr"/>
          <a:lstStyle/>
          <a:p>
            <a:pP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XANH</a:t>
            </a:r>
            <a:endParaRPr lang="en-US" sz="1100" dirty="0"/>
          </a:p>
        </p:txBody>
      </p:sp>
      <p:sp>
        <p:nvSpPr>
          <p:cNvPr id="17" name="Shape 15"/>
          <p:cNvSpPr/>
          <p:nvPr/>
        </p:nvSpPr>
        <p:spPr>
          <a:xfrm>
            <a:off x="548640" y="1572768"/>
            <a:ext cx="1005840" cy="36576"/>
          </a:xfrm>
          <a:prstGeom prst="roundRect">
            <a:avLst>
              <a:gd name="adj" fmla="val 3000"/>
            </a:avLst>
          </a:prstGeom>
          <a:solidFill>
            <a:srgbClr val="FF7F32"/>
          </a:solidFill>
          <a:ln/>
        </p:spPr>
        <p:txBody>
          <a:bodyPr/>
          <a:p>
            <a:pPr>
              <a:defRPr>
                <a:latin typeface="Helvetica Neue"/>
              </a:defRPr>
            </a:pPr>
          </a:p>
        </p:txBody>
      </p:sp>
      <p:sp>
        <p:nvSpPr>
          <p:cNvPr id="18" name="Shape 16"/>
          <p:cNvSpPr/>
          <p:nvPr/>
        </p:nvSpPr>
        <p:spPr>
          <a:xfrm>
            <a:off x="548640" y="1783080"/>
            <a:ext cx="3017520" cy="54864"/>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19" name="Shape 17"/>
          <p:cNvSpPr/>
          <p:nvPr/>
        </p:nvSpPr>
        <p:spPr>
          <a:xfrm>
            <a:off x="548640" y="1837944"/>
            <a:ext cx="3017520" cy="136245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20" name="Text 18"/>
          <p:cNvSpPr/>
          <p:nvPr/>
        </p:nvSpPr>
        <p:spPr>
          <a:xfrm>
            <a:off x="685800" y="1901952"/>
            <a:ext cx="2148840" cy="502920"/>
          </a:xfrm>
          <a:prstGeom prst="roundRect">
            <a:avLst>
              <a:gd name="adj" fmla="val 3000"/>
            </a:avLst>
          </a:prstGeom>
          <a:noFill/>
          <a:ln/>
        </p:spPr>
        <p:txBody>
          <a:bodyPr wrap="square" lIns="0" tIns="0" rIns="0" bIns="0" rtlCol="0" anchor="ctr"/>
          <a:lstStyle/>
          <a:p>
            <a:pPr indent="0" marL="0">
              <a:buNone/>
              <a:defRPr>
                <a:latin typeface="Helvetica Neue"/>
              </a:defRPr>
            </a:pPr>
            <a:r>
              <a:rPr lang="en-US" sz="2400" b="1" dirty="0">
                <a:solidFill>
                  <a:srgbClr val="334155"/>
                </a:solidFill>
                <a:latin typeface="Helvetica Neue" pitchFamily="34" charset="0"/>
                <a:ea typeface="Arial" pitchFamily="34" charset="-122"/>
                <a:cs typeface="Arial" pitchFamily="34" charset="-120"/>
              </a:rPr>
              <a:t>2 / 9</a:t>
            </a:r>
            <a:endParaRPr lang="en-US" sz="2400" dirty="0"/>
          </a:p>
        </p:txBody>
      </p:sp>
      <p:sp>
        <p:nvSpPr>
          <p:cNvPr id="21" name="Text 19"/>
          <p:cNvSpPr/>
          <p:nvPr/>
        </p:nvSpPr>
        <p:spPr>
          <a:xfrm>
            <a:off x="685800" y="2377440"/>
            <a:ext cx="2148840" cy="274320"/>
          </a:xfrm>
          <a:prstGeom prst="roundRect">
            <a:avLst>
              <a:gd name="adj" fmla="val 3000"/>
            </a:avLst>
          </a:prstGeom>
          <a:noFill/>
          <a:ln/>
        </p:spPr>
        <p:txBody>
          <a:bodyPr wrap="square" lIns="0" tIns="0" rIns="0" bIns="0" rtlCol="0" anchor="t"/>
          <a:lstStyle/>
          <a:p>
            <a:pPr indent="0" marL="0">
              <a:buNone/>
              <a:defRPr>
                <a:latin typeface="Helvetica Neue"/>
              </a:defRPr>
            </a:pPr>
            <a:r>
              <a:rPr lang="en-US" sz="900" dirty="0">
                <a:solidFill>
                  <a:srgbClr val="334155"/>
                </a:solidFill>
                <a:latin typeface="Helvetica Neue" pitchFamily="34" charset="0"/>
                <a:ea typeface="Arial" pitchFamily="34" charset="-122"/>
                <a:cs typeface="Arial" pitchFamily="34" charset="-120"/>
              </a:rPr>
              <a:t>Giai đoạn (D0-D8) hoàn thành đúng tiến độ — dự án duy nhất RAG Xanh</a:t>
            </a:r>
            <a:endParaRPr lang="en-US" sz="900" dirty="0"/>
          </a:p>
        </p:txBody>
      </p:sp>
      <p:sp>
        <p:nvSpPr>
          <p:cNvPr id="22" name="Shape 20"/>
          <p:cNvSpPr/>
          <p:nvPr/>
        </p:nvSpPr>
        <p:spPr>
          <a:xfrm>
            <a:off x="3063240" y="1965960"/>
            <a:ext cx="374904" cy="457200"/>
          </a:xfrm>
          <a:prstGeom prst="roundRect">
            <a:avLst>
              <a:gd name="adj" fmla="val 3000"/>
            </a:avLst>
          </a:prstGeom>
          <a:solidFill>
            <a:srgbClr val="D9631A"/>
          </a:solidFill>
          <a:ln/>
        </p:spPr>
        <p:txBody>
          <a:bodyPr/>
          <a:p>
            <a:pPr>
              <a:defRPr>
                <a:latin typeface="Helvetica Neue"/>
              </a:defRPr>
            </a:pPr>
          </a:p>
        </p:txBody>
      </p:sp>
      <p:sp>
        <p:nvSpPr>
          <p:cNvPr id="23" name="Shape 21"/>
          <p:cNvSpPr/>
          <p:nvPr/>
        </p:nvSpPr>
        <p:spPr>
          <a:xfrm>
            <a:off x="3127248" y="2066544"/>
            <a:ext cx="246888" cy="27432"/>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24" name="Shape 22"/>
          <p:cNvSpPr/>
          <p:nvPr/>
        </p:nvSpPr>
        <p:spPr>
          <a:xfrm>
            <a:off x="3127248" y="2171700"/>
            <a:ext cx="246888" cy="27432"/>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25" name="Shape 23"/>
          <p:cNvSpPr/>
          <p:nvPr/>
        </p:nvSpPr>
        <p:spPr>
          <a:xfrm>
            <a:off x="3127248" y="2276856"/>
            <a:ext cx="246888" cy="27432"/>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26" name="Shape 24"/>
          <p:cNvSpPr/>
          <p:nvPr/>
        </p:nvSpPr>
        <p:spPr>
          <a:xfrm>
            <a:off x="548640" y="2670048"/>
            <a:ext cx="3017520" cy="347472"/>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27" name="Shape 25"/>
          <p:cNvSpPr/>
          <p:nvPr/>
        </p:nvSpPr>
        <p:spPr>
          <a:xfrm>
            <a:off x="548640" y="2670048"/>
            <a:ext cx="45720" cy="347472"/>
          </a:xfrm>
          <a:prstGeom prst="roundRect">
            <a:avLst>
              <a:gd name="adj" fmla="val 3000"/>
            </a:avLst>
          </a:prstGeom>
          <a:solidFill>
            <a:srgbClr val="1B8A5A"/>
          </a:solidFill>
          <a:ln/>
        </p:spPr>
        <p:txBody>
          <a:bodyPr/>
          <a:p>
            <a:pPr>
              <a:defRPr>
                <a:latin typeface="Helvetica Neue"/>
              </a:defRPr>
            </a:pPr>
          </a:p>
        </p:txBody>
      </p:sp>
      <p:sp>
        <p:nvSpPr>
          <p:cNvPr id="28" name="Text 26"/>
          <p:cNvSpPr/>
          <p:nvPr/>
        </p:nvSpPr>
        <p:spPr>
          <a:xfrm>
            <a:off x="713232" y="2688336"/>
            <a:ext cx="2743200" cy="164592"/>
          </a:xfrm>
          <a:prstGeom prst="roundRect">
            <a:avLst>
              <a:gd name="adj" fmla="val 3000"/>
            </a:avLst>
          </a:prstGeom>
          <a:noFill/>
          <a:ln/>
        </p:spPr>
        <p:txBody>
          <a:bodyPr wrap="square" lIns="0" tIns="0" rIns="0" bIns="0" rtlCol="0" anchor="ctr"/>
          <a:lstStyle/>
          <a:p>
            <a:pPr indent="0" marL="0">
              <a:buNone/>
              <a:defRPr>
                <a:latin typeface="Helvetica Neue"/>
              </a:defRPr>
            </a:pPr>
            <a:r>
              <a:rPr lang="en-US" sz="750" b="1" dirty="0">
                <a:solidFill>
                  <a:srgbClr val="334155"/>
                </a:solidFill>
                <a:latin typeface="Helvetica Neue" pitchFamily="34" charset="0"/>
                <a:ea typeface="Arial" pitchFamily="34" charset="-122"/>
                <a:cs typeface="Arial" pitchFamily="34" charset="-120"/>
              </a:rPr>
              <a:t>MỤC TIÊU</a:t>
            </a:r>
            <a:endParaRPr lang="en-US" sz="750" dirty="0"/>
          </a:p>
        </p:txBody>
      </p:sp>
      <p:sp>
        <p:nvSpPr>
          <p:cNvPr id="29" name="Text 27"/>
          <p:cNvSpPr/>
          <p:nvPr/>
        </p:nvSpPr>
        <p:spPr>
          <a:xfrm>
            <a:off x="713232" y="2834640"/>
            <a:ext cx="2743200" cy="182880"/>
          </a:xfrm>
          <a:prstGeom prst="roundRect">
            <a:avLst>
              <a:gd name="adj" fmla="val 3000"/>
            </a:avLst>
          </a:prstGeom>
          <a:noFill/>
          <a:ln/>
        </p:spPr>
        <p:txBody>
          <a:bodyPr wrap="square" lIns="0" tIns="0" rIns="0" bIns="0" rtlCol="0" anchor="ctr"/>
          <a:lstStyle/>
          <a:p>
            <a:pPr indent="0" marL="0">
              <a:buNone/>
              <a:defRPr>
                <a:latin typeface="Helvetica Neue"/>
              </a:defRPr>
            </a:pPr>
            <a:r>
              <a:rPr lang="en-US" sz="1000" b="1" dirty="0">
                <a:solidFill>
                  <a:srgbClr val="1B8A5A"/>
                </a:solidFill>
                <a:latin typeface="Helvetica Neue" pitchFamily="34" charset="0"/>
                <a:ea typeface="Arial" pitchFamily="34" charset="-122"/>
                <a:cs typeface="Arial" pitchFamily="34" charset="-120"/>
              </a:rPr>
              <a:t>Hoàn thành D2-D3 trong tháng 8</a:t>
            </a:r>
            <a:endParaRPr lang="en-US" sz="1000" dirty="0"/>
          </a:p>
        </p:txBody>
      </p:sp>
      <p:sp>
        <p:nvSpPr>
          <p:cNvPr id="30" name="Shape 28"/>
          <p:cNvSpPr/>
          <p:nvPr/>
        </p:nvSpPr>
        <p:spPr>
          <a:xfrm>
            <a:off x="548640" y="3337560"/>
            <a:ext cx="3017520" cy="54864"/>
          </a:xfrm>
          <a:prstGeom prst="roundRect">
            <a:avLst>
              <a:gd name="adj" fmla="val 3000"/>
            </a:avLst>
          </a:prstGeom>
          <a:solidFill>
            <a:srgbClr val="FF7F32"/>
          </a:solidFill>
          <a:ln/>
        </p:spPr>
        <p:txBody>
          <a:bodyPr/>
          <a:p>
            <a:pPr>
              <a:defRPr>
                <a:latin typeface="Helvetica Neue"/>
              </a:defRPr>
            </a:pPr>
          </a:p>
        </p:txBody>
      </p:sp>
      <p:sp>
        <p:nvSpPr>
          <p:cNvPr id="31" name="Shape 29"/>
          <p:cNvSpPr/>
          <p:nvPr/>
        </p:nvSpPr>
        <p:spPr>
          <a:xfrm>
            <a:off x="548640" y="3392424"/>
            <a:ext cx="3017520" cy="27797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32" name="Text 30"/>
          <p:cNvSpPr/>
          <p:nvPr/>
        </p:nvSpPr>
        <p:spPr>
          <a:xfrm>
            <a:off x="731520" y="3474720"/>
            <a:ext cx="2651760" cy="228600"/>
          </a:xfrm>
          <a:prstGeom prst="roundRect">
            <a:avLst>
              <a:gd name="adj" fmla="val 3000"/>
            </a:avLst>
          </a:prstGeom>
          <a:noFill/>
          <a:ln/>
        </p:spPr>
        <p:txBody>
          <a:bodyPr wrap="square" lIns="0" tIns="0" rIns="0" bIns="0" rtlCol="0" anchor="ctr"/>
          <a:lstStyle/>
          <a:p>
            <a:pPr indent="0" marL="0">
              <a:buNone/>
              <a:defRPr>
                <a:latin typeface="Helvetica Neue"/>
              </a:defRPr>
            </a:pPr>
            <a:r>
              <a:rPr lang="en-US" sz="950" b="1" dirty="0">
                <a:solidFill>
                  <a:srgbClr val="334155"/>
                </a:solidFill>
                <a:latin typeface="Helvetica Neue" pitchFamily="34" charset="0"/>
                <a:ea typeface="Arial" pitchFamily="34" charset="-122"/>
                <a:cs typeface="Arial" pitchFamily="34" charset="-120"/>
              </a:rPr>
              <a:t>TRƯỚC</a:t>
            </a:r>
            <a:endParaRPr lang="en-US" sz="950" dirty="0"/>
          </a:p>
        </p:txBody>
      </p:sp>
      <p:sp>
        <p:nvSpPr>
          <p:cNvPr id="33" name="Text 31"/>
          <p:cNvSpPr/>
          <p:nvPr/>
        </p:nvSpPr>
        <p:spPr>
          <a:xfrm>
            <a:off x="731520" y="3721608"/>
            <a:ext cx="2651760" cy="914400"/>
          </a:xfrm>
          <a:prstGeom prst="roundRect">
            <a:avLst>
              <a:gd name="adj" fmla="val 3000"/>
            </a:avLst>
          </a:prstGeom>
          <a:noFill/>
          <a:ln/>
        </p:spPr>
        <p:txBody>
          <a:bodyPr wrap="square" lIns="0" tIns="0" rIns="0" bIns="0" rtlCol="0" anchor="t"/>
          <a:lstStyle/>
          <a:p>
            <a:pPr indent="0" marL="0">
              <a:buNone/>
              <a:defRPr>
                <a:latin typeface="Helvetica Neue"/>
              </a:defRPr>
            </a:pPr>
            <a:r>
              <a:rPr lang="en-US" sz="950" dirty="0">
                <a:solidFill>
                  <a:srgbClr val="334155"/>
                </a:solidFill>
                <a:latin typeface="Helvetica Neue" pitchFamily="34" charset="0"/>
                <a:ea typeface="Arial" pitchFamily="34" charset="-122"/>
                <a:cs typeface="Arial" pitchFamily="34" charset="-120"/>
              </a:rPr>
              <a:t>Tài xế mới nhận thông tin dồn 1 lần khi onboarding, không phân theo giai đoạn sử dụng thực tế → dễ bỏ sót, dễ phát sinh lỗi thao tác.</a:t>
            </a:r>
            <a:endParaRPr lang="en-US" sz="950" dirty="0"/>
          </a:p>
        </p:txBody>
      </p:sp>
      <p:sp>
        <p:nvSpPr>
          <p:cNvPr id="34" name="Text 32"/>
          <p:cNvSpPr/>
          <p:nvPr/>
        </p:nvSpPr>
        <p:spPr>
          <a:xfrm>
            <a:off x="731520" y="4617720"/>
            <a:ext cx="2651760" cy="228600"/>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400" b="1" dirty="0">
                <a:solidFill>
                  <a:srgbClr val="FF7F32"/>
                </a:solidFill>
                <a:latin typeface="Helvetica Neue" pitchFamily="34" charset="0"/>
                <a:ea typeface="Arial" pitchFamily="34" charset="-122"/>
                <a:cs typeface="Arial" pitchFamily="34" charset="-120"/>
              </a:rPr>
              <a:t>↓</a:t>
            </a:r>
            <a:endParaRPr lang="en-US" sz="1400" dirty="0"/>
          </a:p>
        </p:txBody>
      </p:sp>
      <p:sp>
        <p:nvSpPr>
          <p:cNvPr id="35" name="Text 33"/>
          <p:cNvSpPr/>
          <p:nvPr/>
        </p:nvSpPr>
        <p:spPr>
          <a:xfrm>
            <a:off x="731520" y="4873752"/>
            <a:ext cx="2651760" cy="228600"/>
          </a:xfrm>
          <a:prstGeom prst="roundRect">
            <a:avLst>
              <a:gd name="adj" fmla="val 3000"/>
            </a:avLst>
          </a:prstGeom>
          <a:noFill/>
          <a:ln/>
        </p:spPr>
        <p:txBody>
          <a:bodyPr wrap="square" lIns="0" tIns="0" rIns="0" bIns="0" rtlCol="0" anchor="ctr"/>
          <a:lstStyle/>
          <a:p>
            <a:pPr indent="0" marL="0">
              <a:buNone/>
              <a:defRPr>
                <a:latin typeface="Helvetica Neue"/>
              </a:defRPr>
            </a:pPr>
            <a:r>
              <a:rPr lang="en-US" sz="950" b="1" dirty="0">
                <a:solidFill>
                  <a:srgbClr val="334155"/>
                </a:solidFill>
                <a:latin typeface="Helvetica Neue" pitchFamily="34" charset="0"/>
                <a:ea typeface="Arial" pitchFamily="34" charset="-122"/>
                <a:cs typeface="Arial" pitchFamily="34" charset="-120"/>
              </a:rPr>
              <a:t>SAU</a:t>
            </a:r>
            <a:endParaRPr lang="en-US" sz="950" dirty="0"/>
          </a:p>
        </p:txBody>
      </p:sp>
      <p:sp>
        <p:nvSpPr>
          <p:cNvPr id="36" name="Text 34"/>
          <p:cNvSpPr/>
          <p:nvPr/>
        </p:nvSpPr>
        <p:spPr>
          <a:xfrm>
            <a:off x="731520" y="5120640"/>
            <a:ext cx="2651760" cy="914400"/>
          </a:xfrm>
          <a:prstGeom prst="roundRect">
            <a:avLst>
              <a:gd name="adj" fmla="val 3000"/>
            </a:avLst>
          </a:prstGeom>
          <a:noFill/>
          <a:ln/>
        </p:spPr>
        <p:txBody>
          <a:bodyPr wrap="square" lIns="0" tIns="0" rIns="0" bIns="0" rtlCol="0" anchor="t"/>
          <a:lstStyle/>
          <a:p>
            <a:pPr indent="0" marL="0">
              <a:buNone/>
              <a:defRPr>
                <a:latin typeface="Helvetica Neue"/>
              </a:defRPr>
            </a:pPr>
            <a:r>
              <a:rPr lang="en-US" sz="950" dirty="0">
                <a:solidFill>
                  <a:srgbClr val="334155"/>
                </a:solidFill>
                <a:latin typeface="Helvetica Neue" pitchFamily="34" charset="0"/>
                <a:ea typeface="Arial" pitchFamily="34" charset="-122"/>
                <a:cs typeface="Arial" pitchFamily="34" charset="-120"/>
              </a:rPr>
              <a:t>Chia theo vòng đời D0-D8, mỗi giai đoạn 1 nội dung + push notification đúng lúc — D0, D1 đã hoàn thành, D2/D3 đang chuẩn bị.</a:t>
            </a:r>
            <a:endParaRPr lang="en-US" sz="950" dirty="0"/>
          </a:p>
        </p:txBody>
      </p:sp>
      <p:sp>
        <p:nvSpPr>
          <p:cNvPr id="37" name="Shape 35"/>
          <p:cNvSpPr/>
          <p:nvPr/>
        </p:nvSpPr>
        <p:spPr>
          <a:xfrm>
            <a:off x="3794760" y="1783080"/>
            <a:ext cx="3858768" cy="54864"/>
          </a:xfrm>
          <a:prstGeom prst="roundRect">
            <a:avLst>
              <a:gd name="adj" fmla="val 3000"/>
            </a:avLst>
          </a:prstGeom>
          <a:solidFill>
            <a:srgbClr val="6B6B6B"/>
          </a:solidFill>
          <a:ln/>
        </p:spPr>
        <p:txBody>
          <a:bodyPr/>
          <a:p>
            <a:pPr>
              <a:defRPr>
                <a:latin typeface="Helvetica Neue"/>
              </a:defRPr>
            </a:pPr>
          </a:p>
        </p:txBody>
      </p:sp>
      <p:sp>
        <p:nvSpPr>
          <p:cNvPr id="38" name="Shape 36"/>
          <p:cNvSpPr/>
          <p:nvPr/>
        </p:nvSpPr>
        <p:spPr>
          <a:xfrm>
            <a:off x="3794760" y="1837944"/>
            <a:ext cx="3858768" cy="20939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39" name="Shape 37"/>
          <p:cNvSpPr/>
          <p:nvPr/>
        </p:nvSpPr>
        <p:spPr>
          <a:xfrm>
            <a:off x="3959352" y="1984248"/>
            <a:ext cx="310896" cy="310896"/>
          </a:xfrm>
          <a:prstGeom prst="roundRect">
            <a:avLst>
              <a:gd name="adj" fmla="val 3000"/>
            </a:avLst>
          </a:prstGeom>
          <a:solidFill>
            <a:srgbClr val="6B6B6B"/>
          </a:solidFill>
          <a:ln/>
        </p:spPr>
        <p:txBody>
          <a:bodyPr/>
          <a:p>
            <a:pPr>
              <a:defRPr>
                <a:latin typeface="Helvetica Neue"/>
              </a:defRPr>
            </a:pPr>
          </a:p>
        </p:txBody>
      </p:sp>
      <p:sp>
        <p:nvSpPr>
          <p:cNvPr id="40" name="Text 38"/>
          <p:cNvSpPr/>
          <p:nvPr/>
        </p:nvSpPr>
        <p:spPr>
          <a:xfrm>
            <a:off x="3959352" y="1984248"/>
            <a:ext cx="310896" cy="31089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1</a:t>
            </a:r>
            <a:endParaRPr lang="en-US" sz="1100" dirty="0"/>
          </a:p>
        </p:txBody>
      </p:sp>
      <p:sp>
        <p:nvSpPr>
          <p:cNvPr id="41" name="Text 39"/>
          <p:cNvSpPr/>
          <p:nvPr/>
        </p:nvSpPr>
        <p:spPr>
          <a:xfrm>
            <a:off x="4361688" y="2002536"/>
            <a:ext cx="3127248" cy="292608"/>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1100" b="1" dirty="0">
                <a:solidFill>
                  <a:srgbClr val="0F172A"/>
                </a:solidFill>
                <a:latin typeface="Helvetica Neue" pitchFamily="34" charset="0"/>
                <a:ea typeface="Arial" pitchFamily="34" charset="-122"/>
                <a:cs typeface="Arial" pitchFamily="34" charset="-120"/>
              </a:rPr>
              <a:t>ĐÃ LÀM GÌ (T7)</a:t>
            </a:r>
            <a:endParaRPr lang="en-US" sz="1100" dirty="0"/>
          </a:p>
        </p:txBody>
      </p:sp>
      <p:sp>
        <p:nvSpPr>
          <p:cNvPr id="42" name="Text 40"/>
          <p:cNvSpPr/>
          <p:nvPr/>
        </p:nvSpPr>
        <p:spPr>
          <a:xfrm>
            <a:off x="3995928" y="2441448"/>
            <a:ext cx="3456432" cy="1325880"/>
          </a:xfrm>
          <a:prstGeom prst="roundRect">
            <a:avLst>
              <a:gd name="adj" fmla="val 3000"/>
            </a:avLst>
          </a:prstGeom>
          <a:noFill/>
          <a:ln/>
        </p:spPr>
        <p:txBody>
          <a:bodyPr wrap="square" lIns="0" tIns="0" rIns="0" bIns="0" rtlCol="0" anchor="t"/>
          <a:lstStyle/>
          <a:p>
            <a:pPr indent="0" marL="0">
              <a:buNone/>
              <a:defRPr>
                <a:latin typeface="Helvetica Neue"/>
              </a:defRPr>
            </a:pPr>
            <a:r>
              <a:rPr lang="en-US" sz="1050" dirty="0">
                <a:solidFill>
                  <a:srgbClr val="334155"/>
                </a:solidFill>
                <a:latin typeface="Helvetica Neue" pitchFamily="34" charset="0"/>
                <a:ea typeface="Arial" pitchFamily="34" charset="-122"/>
                <a:cs typeface="Arial" pitchFamily="34" charset="-120"/>
              </a:rPr>
              <a:t>Hoàn thành </a:t>
            </a:r>
            <a:pPr indent="0" marL="0">
              <a:buNone/>
            </a:pPr>
            <a:r>
              <a:rPr lang="en-US" sz="1050" b="1" dirty="0">
                <a:solidFill>
                  <a:srgbClr val="334155"/>
                </a:solidFill>
                <a:latin typeface="Helvetica Neue" pitchFamily="34" charset="0"/>
                <a:ea typeface="Arial" pitchFamily="34" charset="-122"/>
                <a:cs typeface="Arial" pitchFamily="34" charset="-120"/>
              </a:rPr>
              <a:t>D0</a:t>
            </a:r>
            <a:pPr indent="0" marL="0">
              <a:buNone/>
            </a:pPr>
            <a:r>
              <a:rPr lang="en-US" sz="1050" dirty="0">
                <a:solidFill>
                  <a:srgbClr val="334155"/>
                </a:solidFill>
                <a:latin typeface="Helvetica Neue" pitchFamily="34" charset="0"/>
                <a:ea typeface="Arial" pitchFamily="34" charset="-122"/>
                <a:cs typeface="Arial" pitchFamily="34" charset="-120"/>
              </a:rPr>
              <a:t> (số tiền cần thu ứng), </a:t>
            </a:r>
            <a:pPr indent="0" marL="0">
              <a:buNone/>
            </a:pPr>
            <a:r>
              <a:rPr lang="en-US" sz="1050" b="1" dirty="0">
                <a:solidFill>
                  <a:srgbClr val="334155"/>
                </a:solidFill>
                <a:latin typeface="Helvetica Neue" pitchFamily="34" charset="0"/>
                <a:ea typeface="Arial" pitchFamily="34" charset="-122"/>
                <a:cs typeface="Arial" pitchFamily="34" charset="-120"/>
              </a:rPr>
              <a:t>D1</a:t>
            </a:r>
            <a:pPr indent="0" marL="0">
              <a:buNone/>
            </a:pPr>
            <a:r>
              <a:rPr lang="en-US" sz="1050" dirty="0">
                <a:solidFill>
                  <a:srgbClr val="334155"/>
                </a:solidFill>
                <a:latin typeface="Helvetica Neue" pitchFamily="34" charset="0"/>
                <a:ea typeface="Arial" pitchFamily="34" charset="-122"/>
                <a:cs typeface="Arial" pitchFamily="34" charset="-120"/>
              </a:rPr>
              <a:t> (xử lý huỷ đơn); pilot push notification training D0; hoàn thành video D2, confirm nội dung D3.</a:t>
            </a:r>
            <a:endParaRPr lang="en-US" sz="1050" dirty="0"/>
          </a:p>
        </p:txBody>
      </p:sp>
      <p:sp>
        <p:nvSpPr>
          <p:cNvPr id="43" name="Shape 41"/>
          <p:cNvSpPr/>
          <p:nvPr/>
        </p:nvSpPr>
        <p:spPr>
          <a:xfrm>
            <a:off x="7799832" y="1783080"/>
            <a:ext cx="3858768" cy="54864"/>
          </a:xfrm>
          <a:prstGeom prst="roundRect">
            <a:avLst>
              <a:gd name="adj" fmla="val 3000"/>
            </a:avLst>
          </a:prstGeom>
          <a:solidFill>
            <a:srgbClr val="1B8A5A"/>
          </a:solidFill>
          <a:ln/>
        </p:spPr>
        <p:txBody>
          <a:bodyPr/>
          <a:p>
            <a:pPr>
              <a:defRPr>
                <a:latin typeface="Helvetica Neue"/>
              </a:defRPr>
            </a:pPr>
          </a:p>
        </p:txBody>
      </p:sp>
      <p:sp>
        <p:nvSpPr>
          <p:cNvPr id="44" name="Shape 42"/>
          <p:cNvSpPr/>
          <p:nvPr/>
        </p:nvSpPr>
        <p:spPr>
          <a:xfrm>
            <a:off x="7799832" y="1837944"/>
            <a:ext cx="3858768" cy="20939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45" name="Shape 43"/>
          <p:cNvSpPr/>
          <p:nvPr/>
        </p:nvSpPr>
        <p:spPr>
          <a:xfrm>
            <a:off x="7964424" y="1984248"/>
            <a:ext cx="310896" cy="310896"/>
          </a:xfrm>
          <a:prstGeom prst="roundRect">
            <a:avLst>
              <a:gd name="adj" fmla="val 3000"/>
            </a:avLst>
          </a:prstGeom>
          <a:solidFill>
            <a:srgbClr val="1B8A5A"/>
          </a:solidFill>
          <a:ln/>
        </p:spPr>
        <p:txBody>
          <a:bodyPr/>
          <a:p>
            <a:pPr>
              <a:defRPr>
                <a:latin typeface="Helvetica Neue"/>
              </a:defRPr>
            </a:pPr>
          </a:p>
        </p:txBody>
      </p:sp>
      <p:sp>
        <p:nvSpPr>
          <p:cNvPr id="46" name="Text 44"/>
          <p:cNvSpPr/>
          <p:nvPr/>
        </p:nvSpPr>
        <p:spPr>
          <a:xfrm>
            <a:off x="7964424" y="1984248"/>
            <a:ext cx="310896" cy="31089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a:t>
            </a:r>
            <a:endParaRPr lang="en-US" sz="1100" dirty="0"/>
          </a:p>
        </p:txBody>
      </p:sp>
      <p:sp>
        <p:nvSpPr>
          <p:cNvPr id="47" name="Text 45"/>
          <p:cNvSpPr/>
          <p:nvPr/>
        </p:nvSpPr>
        <p:spPr>
          <a:xfrm>
            <a:off x="8366760" y="2002536"/>
            <a:ext cx="3127248" cy="292608"/>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1100" b="1" dirty="0">
                <a:solidFill>
                  <a:srgbClr val="DC2626"/>
                </a:solidFill>
                <a:latin typeface="Helvetica Neue" pitchFamily="34" charset="0"/>
                <a:ea typeface="Arial" pitchFamily="34" charset="-122"/>
                <a:cs typeface="Arial" pitchFamily="34" charset="-120"/>
              </a:rPr>
              <a:t>TÁC ĐỘNG</a:t>
            </a:r>
            <a:endParaRPr lang="en-US" sz="1100" dirty="0"/>
          </a:p>
        </p:txBody>
      </p:sp>
      <p:sp>
        <p:nvSpPr>
          <p:cNvPr id="48" name="Text 46"/>
          <p:cNvSpPr/>
          <p:nvPr/>
        </p:nvSpPr>
        <p:spPr>
          <a:xfrm>
            <a:off x="8001000" y="2441448"/>
            <a:ext cx="3456432" cy="1325880"/>
          </a:xfrm>
          <a:prstGeom prst="roundRect">
            <a:avLst>
              <a:gd name="adj" fmla="val 3000"/>
            </a:avLst>
          </a:prstGeom>
          <a:noFill/>
          <a:ln/>
        </p:spPr>
        <p:txBody>
          <a:bodyPr wrap="square" lIns="0" tIns="0" rIns="0" bIns="0" rtlCol="0" anchor="t"/>
          <a:lstStyle/>
          <a:p>
            <a:pPr indent="0" marL="0">
              <a:buNone/>
              <a:defRPr>
                <a:latin typeface="Helvetica Neue"/>
              </a:defRPr>
            </a:pPr>
            <a:r>
              <a:rPr lang="en-US" sz="1050" dirty="0">
                <a:solidFill>
                  <a:srgbClr val="334155"/>
                </a:solidFill>
                <a:latin typeface="Helvetica Neue" pitchFamily="34" charset="0"/>
                <a:ea typeface="Arial" pitchFamily="34" charset="-122"/>
                <a:cs typeface="Arial" pitchFamily="34" charset="-120"/>
              </a:rPr>
              <a:t>Đây là dự án </a:t>
            </a:r>
            <a:pPr indent="0" marL="0">
              <a:buNone/>
            </a:pPr>
            <a:r>
              <a:rPr lang="en-US" sz="1050" b="1" dirty="0">
                <a:solidFill>
                  <a:srgbClr val="334155"/>
                </a:solidFill>
                <a:latin typeface="Helvetica Neue" pitchFamily="34" charset="0"/>
                <a:ea typeface="Arial" pitchFamily="34" charset="-122"/>
                <a:cs typeface="Arial" pitchFamily="34" charset="-120"/>
              </a:rPr>
              <a:t>duy nhất đạt RAG Xanh</a:t>
            </a:r>
            <a:pPr indent="0" marL="0">
              <a:buNone/>
            </a:pPr>
            <a:r>
              <a:rPr lang="en-US" sz="1050" dirty="0">
                <a:solidFill>
                  <a:srgbClr val="334155"/>
                </a:solidFill>
                <a:latin typeface="Helvetica Neue" pitchFamily="34" charset="0"/>
                <a:ea typeface="Arial" pitchFamily="34" charset="-122"/>
                <a:cs typeface="Arial" pitchFamily="34" charset="-120"/>
              </a:rPr>
              <a:t> trong 4 trọng điểm. </a:t>
            </a:r>
            <a:pPr indent="0" marL="0">
              <a:buNone/>
            </a:pPr>
            <a:r>
              <a:rPr lang="en-US" sz="1050" b="1" dirty="0">
                <a:solidFill>
                  <a:srgbClr val="334155"/>
                </a:solidFill>
                <a:latin typeface="Helvetica Neue" pitchFamily="34" charset="0"/>
                <a:ea typeface="Arial" pitchFamily="34" charset="-122"/>
                <a:cs typeface="Arial" pitchFamily="34" charset="-120"/>
              </a:rPr>
              <a:t>Cơ chế:</a:t>
            </a:r>
            <a:pPr indent="0" marL="0">
              <a:buNone/>
            </a:pPr>
            <a:r>
              <a:rPr lang="en-US" sz="1050" dirty="0">
                <a:solidFill>
                  <a:srgbClr val="334155"/>
                </a:solidFill>
                <a:latin typeface="Helvetica Neue" pitchFamily="34" charset="0"/>
                <a:ea typeface="Arial" pitchFamily="34" charset="-122"/>
                <a:cs typeface="Arial" pitchFamily="34" charset="-120"/>
              </a:rPr>
              <a:t> chia nội dung theo đúng giai đoạn sử dụng giảm tải nhận thức cho tài xế mới, thay vì dồn thông tin 1 lần lúc onboarding — có thể nhân rộng sang Baga Bulky, EV đang ở giai đoạn thiết kế truyền thông.</a:t>
            </a:r>
            <a:endParaRPr lang="en-US" sz="1050" dirty="0"/>
          </a:p>
        </p:txBody>
      </p:sp>
      <p:sp>
        <p:nvSpPr>
          <p:cNvPr id="49" name="Shape 47"/>
          <p:cNvSpPr/>
          <p:nvPr/>
        </p:nvSpPr>
        <p:spPr>
          <a:xfrm>
            <a:off x="3794760" y="4069080"/>
            <a:ext cx="3858768" cy="54864"/>
          </a:xfrm>
          <a:prstGeom prst="roundRect">
            <a:avLst>
              <a:gd name="adj" fmla="val 3000"/>
            </a:avLst>
          </a:prstGeom>
          <a:solidFill>
            <a:srgbClr val="FF7F32"/>
          </a:solidFill>
          <a:ln/>
        </p:spPr>
        <p:txBody>
          <a:bodyPr/>
          <a:p>
            <a:pPr>
              <a:defRPr>
                <a:latin typeface="Helvetica Neue"/>
              </a:defRPr>
            </a:pPr>
          </a:p>
        </p:txBody>
      </p:sp>
      <p:sp>
        <p:nvSpPr>
          <p:cNvPr id="50" name="Shape 48"/>
          <p:cNvSpPr/>
          <p:nvPr/>
        </p:nvSpPr>
        <p:spPr>
          <a:xfrm>
            <a:off x="3794760" y="4123944"/>
            <a:ext cx="3858768" cy="20939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51" name="Shape 49"/>
          <p:cNvSpPr/>
          <p:nvPr/>
        </p:nvSpPr>
        <p:spPr>
          <a:xfrm>
            <a:off x="3959352" y="4270248"/>
            <a:ext cx="310896" cy="310896"/>
          </a:xfrm>
          <a:prstGeom prst="roundRect">
            <a:avLst>
              <a:gd name="adj" fmla="val 3000"/>
            </a:avLst>
          </a:prstGeom>
          <a:solidFill>
            <a:srgbClr val="FF7F32"/>
          </a:solidFill>
          <a:ln/>
        </p:spPr>
        <p:txBody>
          <a:bodyPr/>
          <a:p>
            <a:pPr>
              <a:defRPr>
                <a:latin typeface="Helvetica Neue"/>
              </a:defRPr>
            </a:pPr>
          </a:p>
        </p:txBody>
      </p:sp>
      <p:sp>
        <p:nvSpPr>
          <p:cNvPr id="52" name="Text 50"/>
          <p:cNvSpPr/>
          <p:nvPr/>
        </p:nvSpPr>
        <p:spPr>
          <a:xfrm>
            <a:off x="3959352" y="4270248"/>
            <a:ext cx="310896" cy="31089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a:t>
            </a:r>
            <a:endParaRPr lang="en-US" sz="1100" dirty="0"/>
          </a:p>
        </p:txBody>
      </p:sp>
      <p:sp>
        <p:nvSpPr>
          <p:cNvPr id="53" name="Text 51"/>
          <p:cNvSpPr/>
          <p:nvPr/>
        </p:nvSpPr>
        <p:spPr>
          <a:xfrm>
            <a:off x="4361688" y="4288536"/>
            <a:ext cx="3127248" cy="292608"/>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1100" b="1" dirty="0">
                <a:solidFill>
                  <a:srgbClr val="0F172A"/>
                </a:solidFill>
                <a:latin typeface="Helvetica Neue" pitchFamily="34" charset="0"/>
                <a:ea typeface="Arial" pitchFamily="34" charset="-122"/>
                <a:cs typeface="Arial" pitchFamily="34" charset="-120"/>
              </a:rPr>
              <a:t>BƯỚC TIẾP THEO</a:t>
            </a:r>
            <a:endParaRPr lang="en-US" sz="1100" dirty="0"/>
          </a:p>
        </p:txBody>
      </p:sp>
      <p:sp>
        <p:nvSpPr>
          <p:cNvPr id="54" name="Text 52"/>
          <p:cNvSpPr/>
          <p:nvPr/>
        </p:nvSpPr>
        <p:spPr>
          <a:xfrm>
            <a:off x="3995928" y="4727448"/>
            <a:ext cx="3456432" cy="1325880"/>
          </a:xfrm>
          <a:prstGeom prst="roundRect">
            <a:avLst>
              <a:gd name="adj" fmla="val 3000"/>
            </a:avLst>
          </a:prstGeom>
          <a:noFill/>
          <a:ln/>
        </p:spPr>
        <p:txBody>
          <a:bodyPr wrap="square" lIns="0" tIns="0" rIns="0" bIns="0" rtlCol="0" anchor="t"/>
          <a:lstStyle/>
          <a:p>
            <a:pPr indent="0" marL="0">
              <a:buNone/>
              <a:defRPr>
                <a:latin typeface="Helvetica Neue"/>
              </a:defRPr>
            </a:pPr>
            <a:r>
              <a:rPr lang="en-US" sz="1050" dirty="0">
                <a:solidFill>
                  <a:srgbClr val="334155"/>
                </a:solidFill>
                <a:latin typeface="Helvetica Neue" pitchFamily="34" charset="0"/>
                <a:ea typeface="Arial" pitchFamily="34" charset="-122"/>
                <a:cs typeface="Arial" pitchFamily="34" charset="-120"/>
              </a:rPr>
              <a:t>D2 (khiếu nại) đang thu thập thông tin cho nội dung tuần tới; D3 chuẩn bị sản xuất video; cần SP hỗ trợ viết card xác định danh sách tài xế theo từng giai đoạn D0-D2.</a:t>
            </a:r>
            <a:endParaRPr lang="en-US" sz="1050" dirty="0"/>
          </a:p>
        </p:txBody>
      </p:sp>
      <p:sp>
        <p:nvSpPr>
          <p:cNvPr id="55" name="Shape 53"/>
          <p:cNvSpPr/>
          <p:nvPr/>
        </p:nvSpPr>
        <p:spPr>
          <a:xfrm>
            <a:off x="7799832" y="4069080"/>
            <a:ext cx="3858768" cy="54864"/>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56" name="Shape 54"/>
          <p:cNvSpPr/>
          <p:nvPr/>
        </p:nvSpPr>
        <p:spPr>
          <a:xfrm>
            <a:off x="7799832" y="4123944"/>
            <a:ext cx="3858768" cy="20939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57" name="Shape 55"/>
          <p:cNvSpPr/>
          <p:nvPr/>
        </p:nvSpPr>
        <p:spPr>
          <a:xfrm>
            <a:off x="7964424" y="4270248"/>
            <a:ext cx="310896" cy="310896"/>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58" name="Text 56"/>
          <p:cNvSpPr/>
          <p:nvPr/>
        </p:nvSpPr>
        <p:spPr>
          <a:xfrm>
            <a:off x="7964424" y="4270248"/>
            <a:ext cx="310896" cy="31089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a:t>
            </a:r>
            <a:endParaRPr lang="en-US" sz="1100" dirty="0"/>
          </a:p>
        </p:txBody>
      </p:sp>
      <p:sp>
        <p:nvSpPr>
          <p:cNvPr id="59" name="Text 57"/>
          <p:cNvSpPr/>
          <p:nvPr/>
        </p:nvSpPr>
        <p:spPr>
          <a:xfrm>
            <a:off x="8366760" y="4288536"/>
            <a:ext cx="3127248" cy="292608"/>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1100" b="1" dirty="0">
                <a:solidFill>
                  <a:srgbClr val="0F172A"/>
                </a:solidFill>
                <a:latin typeface="Helvetica Neue" pitchFamily="34" charset="0"/>
                <a:ea typeface="Arial" pitchFamily="34" charset="-122"/>
                <a:cs typeface="Arial" pitchFamily="34" charset="-120"/>
              </a:rPr>
              <a:t>CẦN SUPPORT TỪ</a:t>
            </a:r>
            <a:endParaRPr lang="en-US" sz="1100" dirty="0"/>
          </a:p>
        </p:txBody>
      </p:sp>
      <p:sp>
        <p:nvSpPr>
          <p:cNvPr id="60" name="Text 58"/>
          <p:cNvSpPr/>
          <p:nvPr/>
        </p:nvSpPr>
        <p:spPr>
          <a:xfrm>
            <a:off x="8001000" y="4727448"/>
            <a:ext cx="3456432" cy="1325880"/>
          </a:xfrm>
          <a:prstGeom prst="roundRect">
            <a:avLst>
              <a:gd name="adj" fmla="val 3000"/>
            </a:avLst>
          </a:prstGeom>
          <a:noFill/>
          <a:ln/>
        </p:spPr>
        <p:txBody>
          <a:bodyPr wrap="square" lIns="0" tIns="0" rIns="0" bIns="0" rtlCol="0" anchor="t"/>
          <a:lstStyle/>
          <a:p>
            <a:pPr indent="0" marL="0">
              <a:buNone/>
              <a:defRPr>
                <a:latin typeface="Helvetica Neue"/>
              </a:defRPr>
            </a:pPr>
            <a:r>
              <a:rPr lang="en-US" sz="1050" dirty="0">
                <a:solidFill>
                  <a:srgbClr val="334155"/>
                </a:solidFill>
                <a:latin typeface="Helvetica Neue" pitchFamily="34" charset="0"/>
                <a:ea typeface="Arial" pitchFamily="34" charset="-122"/>
                <a:cs typeface="Arial" pitchFamily="34" charset="-120"/>
              </a:rPr>
              <a:t>SP (card xác định danh sách tài xế theo giai đoạn)</a:t>
            </a:r>
            <a:endParaRPr lang="en-US" sz="1050" dirty="0"/>
          </a:p>
        </p:txBody>
      </p:sp>
      <p:sp>
        <p:nvSpPr>
          <p:cNvPr id="61" name="Shape 59"/>
          <p:cNvSpPr/>
          <p:nvPr/>
        </p:nvSpPr>
        <p:spPr>
          <a:xfrm>
            <a:off x="548640" y="6510528"/>
            <a:ext cx="11091672" cy="0"/>
          </a:xfrm>
          <a:prstGeom prst="roundRect">
            <a:avLst>
              <a:gd name="adj" fmla="val 3000"/>
            </a:avLst>
          </a:prstGeom>
          <a:noFill/>
          <a:ln w="15875">
            <a:solidFill>
              <a:srgbClr val="FF7F32"/>
            </a:solidFill>
            <a:prstDash val="solid"/>
          </a:ln>
        </p:spPr>
        <p:txBody>
          <a:bodyPr/>
          <a:p>
            <a:pPr>
              <a:defRPr>
                <a:latin typeface="Helvetica Neue"/>
              </a:defRPr>
            </a:pPr>
          </a:p>
        </p:txBody>
      </p:sp>
      <p:sp>
        <p:nvSpPr>
          <p:cNvPr id="62" name="Text 60"/>
          <p:cNvSpPr/>
          <p:nvPr/>
        </p:nvSpPr>
        <p:spPr>
          <a:xfrm>
            <a:off x="548640" y="6565392"/>
            <a:ext cx="7315200" cy="256032"/>
          </a:xfrm>
          <a:prstGeom prst="roundRect">
            <a:avLst>
              <a:gd name="adj" fmla="val 3000"/>
            </a:avLst>
          </a:prstGeom>
          <a:noFill/>
          <a:ln/>
        </p:spPr>
        <p:txBody>
          <a:bodyPr wrap="square" lIns="0" tIns="0" rIns="0" bIns="0" rtlCol="0" anchor="ctr"/>
          <a:lstStyle/>
          <a:p>
            <a:pPr indent="0" marL="0">
              <a:buNone/>
              <a:defRPr>
                <a:latin typeface="Helvetica Neue"/>
              </a:defRPr>
            </a:pPr>
            <a:r>
              <a:rPr lang="en-US" sz="850" dirty="0">
                <a:solidFill>
                  <a:srgbClr val="334155"/>
                </a:solidFill>
                <a:latin typeface="Helvetica Neue" pitchFamily="34" charset="0"/>
                <a:ea typeface="Arial" pitchFamily="34" charset="-122"/>
                <a:cs typeface="Arial" pitchFamily="34" charset="-120"/>
              </a:rPr>
              <a:t>DM Monthly Report — Tháng 7/2026</a:t>
            </a:r>
            <a:endParaRPr lang="en-US" sz="850" dirty="0"/>
          </a:p>
        </p:txBody>
      </p:sp>
      <p:sp>
        <p:nvSpPr>
          <p:cNvPr id="63" name="Text 61"/>
          <p:cNvSpPr/>
          <p:nvPr/>
        </p:nvSpPr>
        <p:spPr>
          <a:xfrm>
            <a:off x="11155680" y="6565392"/>
            <a:ext cx="484632" cy="256032"/>
          </a:xfrm>
          <a:prstGeom prst="roundRect">
            <a:avLst>
              <a:gd name="adj" fmla="val 3000"/>
            </a:avLst>
          </a:prstGeom>
          <a:noFill/>
          <a:ln/>
        </p:spPr>
        <p:txBody>
          <a:bodyPr wrap="square" lIns="0" tIns="0" rIns="0" bIns="0" rtlCol="0" anchor="ctr"/>
          <a:lstStyle/>
          <a:p>
            <a:pPr algn="r" indent="0" marL="0">
              <a:buNone/>
              <a:defRPr>
                <a:latin typeface="Helvetica Neue"/>
              </a:defRPr>
            </a:pPr>
            <a:r>
              <a:rPr lang="en-US" sz="850" dirty="0">
                <a:solidFill>
                  <a:srgbClr val="334155"/>
                </a:solidFill>
                <a:latin typeface="Helvetica Neue" pitchFamily="34" charset="0"/>
                <a:ea typeface="Arial" pitchFamily="34" charset="-122"/>
                <a:cs typeface="Arial" pitchFamily="34" charset="-120"/>
              </a:rPr>
              <a:t>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950" b="1" dirty="0">
                <a:solidFill>
                  <a:srgbClr val="FF6600"/>
                </a:solidFill>
                <a:latin typeface="Helvetica Neue" pitchFamily="34" charset="0"/>
                <a:ea typeface="Arial" pitchFamily="34" charset="-122"/>
                <a:cs typeface="Arial" pitchFamily="34" charset="-120"/>
              </a:rPr>
              <a:t>SO SÁNH CHẾ ĐỘ · 2 DỰ ÁN</a:t>
            </a:r>
            <a:endParaRPr lang="en-US" sz="950" dirty="0"/>
          </a:p>
        </p:txBody>
      </p:sp>
      <p:sp>
        <p:nvSpPr>
          <p:cNvPr id="3" name="Text 1"/>
          <p:cNvSpPr/>
          <p:nvPr/>
        </p:nvSpPr>
        <p:spPr>
          <a:xfrm>
            <a:off x="7772400" y="128016"/>
            <a:ext cx="3867912" cy="219456"/>
          </a:xfrm>
          <a:prstGeom prst="roundRect">
            <a:avLst>
              <a:gd name="adj" fmla="val 3000"/>
            </a:avLst>
          </a:prstGeom>
          <a:noFill/>
          <a:ln/>
        </p:spPr>
        <p:txBody>
          <a:bodyPr wrap="square" lIns="0" tIns="0" rIns="0" bIns="0" rtlCol="0" anchor="ctr"/>
          <a:lstStyle/>
          <a:p>
            <a:pPr algn="r" indent="0" marL="0">
              <a:buNone/>
              <a:defRPr>
                <a:latin typeface="Helvetica Neue"/>
              </a:defRPr>
            </a:pPr>
            <a:r>
              <a:rPr lang="en-US" sz="900" i="1" dirty="0">
                <a:solidFill>
                  <a:srgbClr val="64748B"/>
                </a:solidFill>
                <a:latin typeface="Helvetica Neue"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2400" b="1" dirty="0">
                <a:solidFill>
                  <a:srgbClr val="0F172A"/>
                </a:solidFill>
                <a:latin typeface="Helvetica Neue" pitchFamily="34" charset="0"/>
                <a:ea typeface="Arial" pitchFamily="34" charset="-122"/>
                <a:cs typeface="Arial" pitchFamily="34" charset="-120"/>
              </a:rPr>
              <a:t>MiniHub cần dừng lại đánh giá, Driver Journey đã sẵn sàng nhân rộng</a:t>
            </a:r>
            <a:endParaRPr lang="en-US" sz="2400" dirty="0"/>
          </a:p>
        </p:txBody>
      </p:sp>
      <p:sp>
        <p:nvSpPr>
          <p:cNvPr id="5" name="Shape 3"/>
          <p:cNvSpPr/>
          <p:nvPr/>
        </p:nvSpPr>
        <p:spPr>
          <a:xfrm>
            <a:off x="548640" y="1005840"/>
            <a:ext cx="1005840" cy="36576"/>
          </a:xfrm>
          <a:prstGeom prst="roundRect">
            <a:avLst>
              <a:gd name="adj" fmla="val 3000"/>
            </a:avLst>
          </a:prstGeom>
          <a:solidFill>
            <a:srgbClr val="FF7F32"/>
          </a:solidFill>
          <a:ln/>
        </p:spPr>
        <p:txBody>
          <a:bodyPr/>
          <a:p>
            <a:pPr>
              <a:defRPr>
                <a:latin typeface="Helvetica Neue"/>
              </a:defRPr>
            </a:pPr>
          </a:p>
        </p:txBody>
      </p:sp>
      <p:sp>
        <p:nvSpPr>
          <p:cNvPr id="6" name="Shape 4"/>
          <p:cNvSpPr/>
          <p:nvPr/>
        </p:nvSpPr>
        <p:spPr>
          <a:xfrm>
            <a:off x="548640" y="1133856"/>
            <a:ext cx="45720" cy="512064"/>
          </a:xfrm>
          <a:prstGeom prst="roundRect">
            <a:avLst>
              <a:gd name="adj" fmla="val 3000"/>
            </a:avLst>
          </a:prstGeom>
          <a:solidFill>
            <a:srgbClr val="FF7F32"/>
          </a:solidFill>
          <a:ln/>
        </p:spPr>
        <p:txBody>
          <a:bodyPr/>
          <a:p>
            <a:pPr>
              <a:defRPr>
                <a:latin typeface="Helvetica Neue"/>
              </a:defRPr>
            </a:pPr>
          </a:p>
        </p:txBody>
      </p:sp>
      <p:sp>
        <p:nvSpPr>
          <p:cNvPr id="7" name="Shape 5"/>
          <p:cNvSpPr/>
          <p:nvPr/>
        </p:nvSpPr>
        <p:spPr>
          <a:xfrm>
            <a:off x="594360" y="1133856"/>
            <a:ext cx="11045952" cy="512064"/>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8" name="Text 6"/>
          <p:cNvSpPr/>
          <p:nvPr/>
        </p:nvSpPr>
        <p:spPr>
          <a:xfrm>
            <a:off x="777240" y="1133856"/>
            <a:ext cx="10607040" cy="512064"/>
          </a:xfrm>
          <a:prstGeom prst="roundRect">
            <a:avLst>
              <a:gd name="adj" fmla="val 3000"/>
            </a:avLst>
          </a:prstGeom>
          <a:noFill/>
          <a:ln/>
        </p:spPr>
        <p:txBody>
          <a:bodyPr wrap="square" lIns="0" tIns="0" rIns="0" bIns="0" rtlCol="0" anchor="ctr"/>
          <a:lstStyle/>
          <a:p>
            <a:pPr indent="0" marL="0">
              <a:buNone/>
              <a:defRPr>
                <a:latin typeface="Helvetica Neue"/>
              </a:defRPr>
            </a:pPr>
            <a:r>
              <a:rPr lang="en-US" sz="1100" b="1" dirty="0">
                <a:solidFill>
                  <a:srgbClr val="FF6600"/>
                </a:solidFill>
                <a:latin typeface="Helvetica Neue" pitchFamily="34" charset="0"/>
                <a:ea typeface="Arial" pitchFamily="34" charset="-122"/>
                <a:cs typeface="Arial" pitchFamily="34" charset="-120"/>
              </a:rPr>
              <a:t>Key Takeaway  </a:t>
            </a:r>
            <a:pPr indent="0" marL="0">
              <a:buNone/>
            </a:pPr>
            <a:r>
              <a:rPr lang="en-US" sz="1100" dirty="0">
                <a:solidFill>
                  <a:srgbClr val="334155"/>
                </a:solidFill>
                <a:latin typeface="Helvetica Neue" pitchFamily="34" charset="0"/>
                <a:ea typeface="Arial" pitchFamily="34" charset="-122"/>
                <a:cs typeface="Arial" pitchFamily="34" charset="-120"/>
              </a:rPr>
              <a:t>Cùng là dự án vận hành nhưng đang ở 2 giai đoạn vòng đời khác nhau — MiniHub cần chứng minh ROI trước khi mở rộng, Driver Journey đã có bằng chứng để chuyển giao cách làm sang dự án khác.</a:t>
            </a:r>
            <a:endParaRPr lang="en-US" sz="1100" dirty="0"/>
          </a:p>
        </p:txBody>
      </p:sp>
      <p:sp>
        <p:nvSpPr>
          <p:cNvPr id="9" name="Shape 7"/>
          <p:cNvSpPr/>
          <p:nvPr/>
        </p:nvSpPr>
        <p:spPr>
          <a:xfrm>
            <a:off x="548640" y="1874520"/>
            <a:ext cx="54864" cy="3566160"/>
          </a:xfrm>
          <a:prstGeom prst="roundRect">
            <a:avLst>
              <a:gd name="adj" fmla="val 3000"/>
            </a:avLst>
          </a:prstGeom>
          <a:solidFill>
            <a:srgbClr val="DC2626"/>
          </a:solidFill>
          <a:ln>
            <a:noFill/>
          </a:ln>
        </p:spPr>
        <p:txBody>
          <a:bodyPr/>
          <a:p>
            <a:pPr>
              <a:defRPr>
                <a:latin typeface="Helvetica Neue"/>
              </a:defRPr>
            </a:pPr>
          </a:p>
        </p:txBody>
      </p:sp>
      <p:sp>
        <p:nvSpPr>
          <p:cNvPr id="10" name="Shape 8"/>
          <p:cNvSpPr/>
          <p:nvPr/>
        </p:nvSpPr>
        <p:spPr>
          <a:xfrm>
            <a:off x="603504" y="1874520"/>
            <a:ext cx="5294376" cy="3566160"/>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11" name="Text 9"/>
          <p:cNvSpPr/>
          <p:nvPr/>
        </p:nvSpPr>
        <p:spPr>
          <a:xfrm>
            <a:off x="822960" y="2057400"/>
            <a:ext cx="4800600" cy="365760"/>
          </a:xfrm>
          <a:prstGeom prst="roundRect">
            <a:avLst>
              <a:gd name="adj" fmla="val 3000"/>
            </a:avLst>
          </a:prstGeom>
          <a:noFill/>
          <a:ln/>
        </p:spPr>
        <p:txBody>
          <a:bodyPr wrap="square" lIns="0" tIns="0" rIns="0" bIns="0" rtlCol="0" anchor="ctr"/>
          <a:lstStyle/>
          <a:p>
            <a:pPr indent="0" marL="0">
              <a:buNone/>
              <a:defRPr>
                <a:latin typeface="Helvetica Neue"/>
              </a:defRPr>
            </a:pPr>
            <a:r>
              <a:rPr lang="en-US" sz="1800" b="1" dirty="0">
                <a:solidFill>
                  <a:srgbClr val="E5342E"/>
                </a:solidFill>
                <a:latin typeface="Helvetica Neue" pitchFamily="34" charset="0"/>
                <a:ea typeface="Arial" pitchFamily="34" charset="-122"/>
                <a:cs typeface="Arial" pitchFamily="34" charset="-120"/>
              </a:rPr>
              <a:t>MiniHub</a:t>
            </a:r>
            <a:endParaRPr lang="en-US" sz="1800" dirty="0"/>
          </a:p>
        </p:txBody>
      </p:sp>
      <p:sp>
        <p:nvSpPr>
          <p:cNvPr id="12" name="Text 10"/>
          <p:cNvSpPr/>
          <p:nvPr/>
        </p:nvSpPr>
        <p:spPr>
          <a:xfrm>
            <a:off x="822960" y="2441448"/>
            <a:ext cx="4800600" cy="320040"/>
          </a:xfrm>
          <a:prstGeom prst="roundRect">
            <a:avLst>
              <a:gd name="adj" fmla="val 3000"/>
            </a:avLst>
          </a:prstGeom>
          <a:noFill/>
          <a:ln/>
        </p:spPr>
        <p:txBody>
          <a:bodyPr wrap="square" lIns="0" tIns="0" rIns="0" bIns="0" rtlCol="0" anchor="ctr"/>
          <a:lstStyle/>
          <a:p>
            <a:pPr indent="0" marL="0">
              <a:buNone/>
              <a:defRPr>
                <a:latin typeface="Helvetica Neue"/>
              </a:defRPr>
            </a:pPr>
            <a:r>
              <a:rPr lang="en-US" sz="1100" i="1" dirty="0">
                <a:solidFill>
                  <a:srgbClr val="334155"/>
                </a:solidFill>
                <a:latin typeface="Helvetica Neue" pitchFamily="34" charset="0"/>
                <a:ea typeface="Arial" pitchFamily="34" charset="-122"/>
                <a:cs typeface="Arial" pitchFamily="34" charset="-120"/>
              </a:rPr>
              <a:t>Chất lượng vận hành tốt, quy mô chưa rõ ROI</a:t>
            </a:r>
            <a:endParaRPr lang="en-US" sz="1100" dirty="0"/>
          </a:p>
        </p:txBody>
      </p:sp>
      <p:sp>
        <p:nvSpPr>
          <p:cNvPr id="13" name="Shape 11"/>
          <p:cNvSpPr/>
          <p:nvPr/>
        </p:nvSpPr>
        <p:spPr>
          <a:xfrm>
            <a:off x="822960" y="2834640"/>
            <a:ext cx="4526280" cy="0"/>
          </a:xfrm>
          <a:prstGeom prst="roundRect">
            <a:avLst>
              <a:gd name="adj" fmla="val 3000"/>
            </a:avLst>
          </a:prstGeom>
          <a:noFill/>
          <a:ln w="12700">
            <a:solidFill>
              <a:srgbClr val="E2E2E2"/>
            </a:solidFill>
            <a:prstDash val="solid"/>
          </a:ln>
        </p:spPr>
        <p:txBody>
          <a:bodyPr/>
          <a:p>
            <a:pPr>
              <a:defRPr>
                <a:latin typeface="Helvetica Neue"/>
              </a:defRPr>
            </a:pPr>
          </a:p>
        </p:txBody>
      </p:sp>
      <p:sp>
        <p:nvSpPr>
          <p:cNvPr id="14" name="Shape 12"/>
          <p:cNvSpPr/>
          <p:nvPr/>
        </p:nvSpPr>
        <p:spPr>
          <a:xfrm>
            <a:off x="822960" y="3081528"/>
            <a:ext cx="64008" cy="64008"/>
          </a:xfrm>
          <a:prstGeom prst="roundRect">
            <a:avLst>
              <a:gd name="adj" fmla="val 3000"/>
            </a:avLst>
          </a:prstGeom>
          <a:solidFill>
            <a:srgbClr val="DC2626"/>
          </a:solidFill>
          <a:ln>
            <a:noFill/>
          </a:ln>
        </p:spPr>
        <p:txBody>
          <a:bodyPr/>
          <a:p>
            <a:pPr>
              <a:defRPr>
                <a:latin typeface="Helvetica Neue"/>
              </a:defRPr>
            </a:pPr>
          </a:p>
        </p:txBody>
      </p:sp>
      <p:sp>
        <p:nvSpPr>
          <p:cNvPr id="15" name="Text 13"/>
          <p:cNvSpPr/>
          <p:nvPr/>
        </p:nvSpPr>
        <p:spPr>
          <a:xfrm>
            <a:off x="987552" y="3017520"/>
            <a:ext cx="4526280" cy="548640"/>
          </a:xfrm>
          <a:prstGeom prst="roundRect">
            <a:avLst>
              <a:gd name="adj" fmla="val 3000"/>
            </a:avLst>
          </a:prstGeom>
          <a:noFill/>
          <a:ln/>
        </p:spPr>
        <p:txBody>
          <a:bodyPr wrap="square" lIns="0" tIns="0" rIns="0" bIns="0" rtlCol="0" anchor="t"/>
          <a:lstStyle/>
          <a:p>
            <a:pPr indent="0" marL="0">
              <a:buNone/>
              <a:defRPr>
                <a:latin typeface="Helvetica Neue"/>
              </a:defRPr>
            </a:pPr>
            <a:r>
              <a:rPr lang="en-US" sz="1100" dirty="0">
                <a:solidFill>
                  <a:srgbClr val="334155"/>
                </a:solidFill>
                <a:latin typeface="Helvetica Neue" pitchFamily="34" charset="0"/>
                <a:ea typeface="Arial" pitchFamily="34" charset="-122"/>
                <a:cs typeface="Arial" pitchFamily="34" charset="-120"/>
              </a:rPr>
              <a:t>Volume mới đạt 36% KR Q3, cần đánh giá PnL trước khi quyết định scale thêm</a:t>
            </a:r>
            <a:endParaRPr lang="en-US" sz="1100" dirty="0"/>
          </a:p>
        </p:txBody>
      </p:sp>
      <p:sp>
        <p:nvSpPr>
          <p:cNvPr id="16" name="Shape 14"/>
          <p:cNvSpPr/>
          <p:nvPr/>
        </p:nvSpPr>
        <p:spPr>
          <a:xfrm>
            <a:off x="822960" y="3703320"/>
            <a:ext cx="64008" cy="64008"/>
          </a:xfrm>
          <a:prstGeom prst="roundRect">
            <a:avLst>
              <a:gd name="adj" fmla="val 3000"/>
            </a:avLst>
          </a:prstGeom>
          <a:solidFill>
            <a:srgbClr val="DC2626"/>
          </a:solidFill>
          <a:ln>
            <a:noFill/>
          </a:ln>
        </p:spPr>
        <p:txBody>
          <a:bodyPr/>
          <a:p>
            <a:pPr>
              <a:defRPr>
                <a:latin typeface="Helvetica Neue"/>
              </a:defRPr>
            </a:pPr>
          </a:p>
        </p:txBody>
      </p:sp>
      <p:sp>
        <p:nvSpPr>
          <p:cNvPr id="17" name="Text 15"/>
          <p:cNvSpPr/>
          <p:nvPr/>
        </p:nvSpPr>
        <p:spPr>
          <a:xfrm>
            <a:off x="987552" y="3639312"/>
            <a:ext cx="4526280" cy="548640"/>
          </a:xfrm>
          <a:prstGeom prst="roundRect">
            <a:avLst>
              <a:gd name="adj" fmla="val 3000"/>
            </a:avLst>
          </a:prstGeom>
          <a:noFill/>
          <a:ln/>
        </p:spPr>
        <p:txBody>
          <a:bodyPr wrap="square" lIns="0" tIns="0" rIns="0" bIns="0" rtlCol="0" anchor="t"/>
          <a:lstStyle/>
          <a:p>
            <a:pPr indent="0" marL="0">
              <a:buNone/>
              <a:defRPr>
                <a:latin typeface="Helvetica Neue"/>
              </a:defRPr>
            </a:pPr>
            <a:r>
              <a:rPr lang="en-US" sz="1100" dirty="0">
                <a:solidFill>
                  <a:srgbClr val="334155"/>
                </a:solidFill>
                <a:latin typeface="Helvetica Neue" pitchFamily="34" charset="0"/>
                <a:ea typeface="Arial" pitchFamily="34" charset="-122"/>
                <a:cs typeface="Arial" pitchFamily="34" charset="-120"/>
              </a:rPr>
              <a:t>Retention giảm ở đúng những zone mới mở (Z24, Thanh Xuân)</a:t>
            </a:r>
            <a:endParaRPr lang="en-US" sz="1100" dirty="0"/>
          </a:p>
        </p:txBody>
      </p:sp>
      <p:sp>
        <p:nvSpPr>
          <p:cNvPr id="18" name="Shape 16"/>
          <p:cNvSpPr/>
          <p:nvPr/>
        </p:nvSpPr>
        <p:spPr>
          <a:xfrm>
            <a:off x="822960" y="4325112"/>
            <a:ext cx="64008" cy="64008"/>
          </a:xfrm>
          <a:prstGeom prst="roundRect">
            <a:avLst>
              <a:gd name="adj" fmla="val 3000"/>
            </a:avLst>
          </a:prstGeom>
          <a:solidFill>
            <a:srgbClr val="DC2626"/>
          </a:solidFill>
          <a:ln>
            <a:noFill/>
          </a:ln>
        </p:spPr>
        <p:txBody>
          <a:bodyPr/>
          <a:p>
            <a:pPr>
              <a:defRPr>
                <a:latin typeface="Helvetica Neue"/>
              </a:defRPr>
            </a:pPr>
          </a:p>
        </p:txBody>
      </p:sp>
      <p:sp>
        <p:nvSpPr>
          <p:cNvPr id="19" name="Text 17"/>
          <p:cNvSpPr/>
          <p:nvPr/>
        </p:nvSpPr>
        <p:spPr>
          <a:xfrm>
            <a:off x="987552" y="4261104"/>
            <a:ext cx="4526280" cy="548640"/>
          </a:xfrm>
          <a:prstGeom prst="roundRect">
            <a:avLst>
              <a:gd name="adj" fmla="val 3000"/>
            </a:avLst>
          </a:prstGeom>
          <a:noFill/>
          <a:ln/>
        </p:spPr>
        <p:txBody>
          <a:bodyPr wrap="square" lIns="0" tIns="0" rIns="0" bIns="0" rtlCol="0" anchor="t"/>
          <a:lstStyle/>
          <a:p>
            <a:pPr indent="0" marL="0">
              <a:buNone/>
              <a:defRPr>
                <a:latin typeface="Helvetica Neue"/>
              </a:defRPr>
            </a:pPr>
            <a:r>
              <a:rPr lang="en-US" sz="1100" dirty="0">
                <a:solidFill>
                  <a:srgbClr val="334155"/>
                </a:solidFill>
                <a:latin typeface="Helvetica Neue" pitchFamily="34" charset="0"/>
                <a:ea typeface="Arial" pitchFamily="34" charset="-122"/>
                <a:cs typeface="Arial" pitchFamily="34" charset="-120"/>
              </a:rPr>
              <a:t>Rủi ro: tiếp tục scale khi chưa rõ hiệu quả tài chính</a:t>
            </a:r>
            <a:endParaRPr lang="en-US" sz="1100" dirty="0"/>
          </a:p>
        </p:txBody>
      </p:sp>
      <p:sp>
        <p:nvSpPr>
          <p:cNvPr id="20" name="Shape 18"/>
          <p:cNvSpPr/>
          <p:nvPr/>
        </p:nvSpPr>
        <p:spPr>
          <a:xfrm>
            <a:off x="822960" y="4937760"/>
            <a:ext cx="4800600" cy="347472"/>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21" name="Shape 19"/>
          <p:cNvSpPr/>
          <p:nvPr/>
        </p:nvSpPr>
        <p:spPr>
          <a:xfrm>
            <a:off x="822960" y="4937760"/>
            <a:ext cx="45720" cy="347472"/>
          </a:xfrm>
          <a:prstGeom prst="roundRect">
            <a:avLst>
              <a:gd name="adj" fmla="val 3000"/>
            </a:avLst>
          </a:prstGeom>
          <a:solidFill>
            <a:srgbClr val="DC2626"/>
          </a:solidFill>
          <a:ln>
            <a:noFill/>
          </a:ln>
        </p:spPr>
        <p:txBody>
          <a:bodyPr/>
          <a:p>
            <a:pPr>
              <a:defRPr>
                <a:latin typeface="Helvetica Neue"/>
              </a:defRPr>
            </a:pPr>
          </a:p>
        </p:txBody>
      </p:sp>
      <p:sp>
        <p:nvSpPr>
          <p:cNvPr id="22" name="Text 20"/>
          <p:cNvSpPr/>
          <p:nvPr/>
        </p:nvSpPr>
        <p:spPr>
          <a:xfrm>
            <a:off x="987552" y="4956048"/>
            <a:ext cx="4526280" cy="164592"/>
          </a:xfrm>
          <a:prstGeom prst="roundRect">
            <a:avLst>
              <a:gd name="adj" fmla="val 3000"/>
            </a:avLst>
          </a:prstGeom>
          <a:noFill/>
          <a:ln/>
        </p:spPr>
        <p:txBody>
          <a:bodyPr wrap="square" lIns="0" tIns="0" rIns="0" bIns="0" rtlCol="0" anchor="ctr"/>
          <a:lstStyle/>
          <a:p>
            <a:pPr indent="0" marL="0">
              <a:buNone/>
              <a:defRPr>
                <a:latin typeface="Helvetica Neue"/>
              </a:defRPr>
            </a:pPr>
            <a:r>
              <a:rPr lang="en-US" sz="750" b="1" dirty="0">
                <a:solidFill>
                  <a:srgbClr val="334155"/>
                </a:solidFill>
                <a:latin typeface="Helvetica Neue" pitchFamily="34" charset="0"/>
                <a:ea typeface="Arial" pitchFamily="34" charset="-122"/>
                <a:cs typeface="Arial" pitchFamily="34" charset="-120"/>
              </a:rPr>
              <a:t>CHẾ ĐỘ</a:t>
            </a:r>
            <a:endParaRPr lang="en-US" sz="750" dirty="0"/>
          </a:p>
        </p:txBody>
      </p:sp>
      <p:sp>
        <p:nvSpPr>
          <p:cNvPr id="23" name="Text 21"/>
          <p:cNvSpPr/>
          <p:nvPr/>
        </p:nvSpPr>
        <p:spPr>
          <a:xfrm>
            <a:off x="987552" y="5102352"/>
            <a:ext cx="4526280" cy="182880"/>
          </a:xfrm>
          <a:prstGeom prst="roundRect">
            <a:avLst>
              <a:gd name="adj" fmla="val 3000"/>
            </a:avLst>
          </a:prstGeom>
          <a:noFill/>
          <a:ln/>
        </p:spPr>
        <p:txBody>
          <a:bodyPr wrap="square" lIns="0" tIns="0" rIns="0" bIns="0" rtlCol="0" anchor="ctr"/>
          <a:lstStyle/>
          <a:p>
            <a:pPr indent="0" marL="0">
              <a:buNone/>
              <a:defRPr>
                <a:latin typeface="Helvetica Neue"/>
              </a:defRPr>
            </a:pPr>
            <a:r>
              <a:rPr lang="en-US" sz="1000" b="1" dirty="0">
                <a:solidFill>
                  <a:srgbClr val="E5342E"/>
                </a:solidFill>
                <a:latin typeface="Helvetica Neue" pitchFamily="34" charset="0"/>
                <a:ea typeface="Arial" pitchFamily="34" charset="-122"/>
                <a:cs typeface="Arial" pitchFamily="34" charset="-120"/>
              </a:rPr>
              <a:t>REVIEW — tạm dừng đánh giá trước khi mở rộng</a:t>
            </a:r>
            <a:endParaRPr lang="en-US" sz="1000" dirty="0"/>
          </a:p>
        </p:txBody>
      </p:sp>
      <p:sp>
        <p:nvSpPr>
          <p:cNvPr id="24" name="Shape 22"/>
          <p:cNvSpPr/>
          <p:nvPr/>
        </p:nvSpPr>
        <p:spPr>
          <a:xfrm>
            <a:off x="6263640" y="1874520"/>
            <a:ext cx="54864" cy="3566160"/>
          </a:xfrm>
          <a:prstGeom prst="roundRect">
            <a:avLst>
              <a:gd name="adj" fmla="val 3000"/>
            </a:avLst>
          </a:prstGeom>
          <a:solidFill>
            <a:srgbClr val="1B8A5A"/>
          </a:solidFill>
          <a:ln/>
        </p:spPr>
        <p:txBody>
          <a:bodyPr/>
          <a:p>
            <a:pPr>
              <a:defRPr>
                <a:latin typeface="Helvetica Neue"/>
              </a:defRPr>
            </a:pPr>
          </a:p>
        </p:txBody>
      </p:sp>
      <p:sp>
        <p:nvSpPr>
          <p:cNvPr id="25" name="Shape 23"/>
          <p:cNvSpPr/>
          <p:nvPr/>
        </p:nvSpPr>
        <p:spPr>
          <a:xfrm>
            <a:off x="6318504" y="1874520"/>
            <a:ext cx="5294376" cy="3566160"/>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26" name="Text 24"/>
          <p:cNvSpPr/>
          <p:nvPr/>
        </p:nvSpPr>
        <p:spPr>
          <a:xfrm>
            <a:off x="6537960" y="2057400"/>
            <a:ext cx="4800600" cy="365760"/>
          </a:xfrm>
          <a:prstGeom prst="roundRect">
            <a:avLst>
              <a:gd name="adj" fmla="val 3000"/>
            </a:avLst>
          </a:prstGeom>
          <a:noFill/>
          <a:ln/>
        </p:spPr>
        <p:txBody>
          <a:bodyPr wrap="square" lIns="0" tIns="0" rIns="0" bIns="0" rtlCol="0" anchor="ctr"/>
          <a:lstStyle/>
          <a:p>
            <a:pPr indent="0" marL="0">
              <a:buNone/>
              <a:defRPr>
                <a:latin typeface="Helvetica Neue"/>
              </a:defRPr>
            </a:pPr>
            <a:r>
              <a:rPr lang="en-US" sz="1800" b="1" dirty="0">
                <a:solidFill>
                  <a:srgbClr val="1B8A5A"/>
                </a:solidFill>
                <a:latin typeface="Helvetica Neue" pitchFamily="34" charset="0"/>
                <a:ea typeface="Arial" pitchFamily="34" charset="-122"/>
                <a:cs typeface="Arial" pitchFamily="34" charset="-120"/>
              </a:rPr>
              <a:t>Driver Journey</a:t>
            </a:r>
            <a:endParaRPr lang="en-US" sz="1800" dirty="0"/>
          </a:p>
        </p:txBody>
      </p:sp>
      <p:sp>
        <p:nvSpPr>
          <p:cNvPr id="27" name="Text 25"/>
          <p:cNvSpPr/>
          <p:nvPr/>
        </p:nvSpPr>
        <p:spPr>
          <a:xfrm>
            <a:off x="6537960" y="2441448"/>
            <a:ext cx="4800600" cy="320040"/>
          </a:xfrm>
          <a:prstGeom prst="roundRect">
            <a:avLst>
              <a:gd name="adj" fmla="val 3000"/>
            </a:avLst>
          </a:prstGeom>
          <a:noFill/>
          <a:ln/>
        </p:spPr>
        <p:txBody>
          <a:bodyPr wrap="square" lIns="0" tIns="0" rIns="0" bIns="0" rtlCol="0" anchor="ctr"/>
          <a:lstStyle/>
          <a:p>
            <a:pPr indent="0" marL="0">
              <a:buNone/>
              <a:defRPr>
                <a:latin typeface="Helvetica Neue"/>
              </a:defRPr>
            </a:pPr>
            <a:r>
              <a:rPr lang="en-US" sz="1100" i="1" dirty="0">
                <a:solidFill>
                  <a:srgbClr val="334155"/>
                </a:solidFill>
                <a:latin typeface="Helvetica Neue" pitchFamily="34" charset="0"/>
                <a:ea typeface="Arial" pitchFamily="34" charset="-122"/>
                <a:cs typeface="Arial" pitchFamily="34" charset="-120"/>
              </a:rPr>
              <a:t>Case study đã chứng minh hiệu quả</a:t>
            </a:r>
            <a:endParaRPr lang="en-US" sz="1100" dirty="0"/>
          </a:p>
        </p:txBody>
      </p:sp>
      <p:sp>
        <p:nvSpPr>
          <p:cNvPr id="28" name="Shape 26"/>
          <p:cNvSpPr/>
          <p:nvPr/>
        </p:nvSpPr>
        <p:spPr>
          <a:xfrm>
            <a:off x="6537960" y="2834640"/>
            <a:ext cx="4526280" cy="0"/>
          </a:xfrm>
          <a:prstGeom prst="roundRect">
            <a:avLst>
              <a:gd name="adj" fmla="val 3000"/>
            </a:avLst>
          </a:prstGeom>
          <a:noFill/>
          <a:ln w="12700">
            <a:solidFill>
              <a:srgbClr val="E2E2E2"/>
            </a:solidFill>
            <a:prstDash val="solid"/>
          </a:ln>
        </p:spPr>
        <p:txBody>
          <a:bodyPr/>
          <a:p>
            <a:pPr>
              <a:defRPr>
                <a:latin typeface="Helvetica Neue"/>
              </a:defRPr>
            </a:pPr>
          </a:p>
        </p:txBody>
      </p:sp>
      <p:sp>
        <p:nvSpPr>
          <p:cNvPr id="29" name="Shape 27"/>
          <p:cNvSpPr/>
          <p:nvPr/>
        </p:nvSpPr>
        <p:spPr>
          <a:xfrm>
            <a:off x="6537960" y="3081528"/>
            <a:ext cx="64008" cy="64008"/>
          </a:xfrm>
          <a:prstGeom prst="roundRect">
            <a:avLst>
              <a:gd name="adj" fmla="val 3000"/>
            </a:avLst>
          </a:prstGeom>
          <a:solidFill>
            <a:srgbClr val="1B8A5A"/>
          </a:solidFill>
          <a:ln/>
        </p:spPr>
        <p:txBody>
          <a:bodyPr/>
          <a:p>
            <a:pPr>
              <a:defRPr>
                <a:latin typeface="Helvetica Neue"/>
              </a:defRPr>
            </a:pPr>
          </a:p>
        </p:txBody>
      </p:sp>
      <p:sp>
        <p:nvSpPr>
          <p:cNvPr id="30" name="Text 28"/>
          <p:cNvSpPr/>
          <p:nvPr/>
        </p:nvSpPr>
        <p:spPr>
          <a:xfrm>
            <a:off x="6702552" y="3017520"/>
            <a:ext cx="4526280" cy="548640"/>
          </a:xfrm>
          <a:prstGeom prst="roundRect">
            <a:avLst>
              <a:gd name="adj" fmla="val 3000"/>
            </a:avLst>
          </a:prstGeom>
          <a:noFill/>
          <a:ln/>
        </p:spPr>
        <p:txBody>
          <a:bodyPr wrap="square" lIns="0" tIns="0" rIns="0" bIns="0" rtlCol="0" anchor="t"/>
          <a:lstStyle/>
          <a:p>
            <a:pPr indent="0" marL="0">
              <a:buNone/>
              <a:defRPr>
                <a:latin typeface="Helvetica Neue"/>
              </a:defRPr>
            </a:pPr>
            <a:r>
              <a:rPr lang="en-US" sz="1100" dirty="0">
                <a:solidFill>
                  <a:srgbClr val="334155"/>
                </a:solidFill>
                <a:latin typeface="Helvetica Neue" pitchFamily="34" charset="0"/>
                <a:ea typeface="Arial" pitchFamily="34" charset="-122"/>
                <a:cs typeface="Arial" pitchFamily="34" charset="-120"/>
              </a:rPr>
              <a:t>D0, D1 hoàn thành đúng tiến độ — dự án duy nhất RAG Xanh tháng 7</a:t>
            </a:r>
            <a:endParaRPr lang="en-US" sz="1100" dirty="0"/>
          </a:p>
        </p:txBody>
      </p:sp>
      <p:sp>
        <p:nvSpPr>
          <p:cNvPr id="31" name="Shape 29"/>
          <p:cNvSpPr/>
          <p:nvPr/>
        </p:nvSpPr>
        <p:spPr>
          <a:xfrm>
            <a:off x="6537960" y="3703320"/>
            <a:ext cx="64008" cy="64008"/>
          </a:xfrm>
          <a:prstGeom prst="roundRect">
            <a:avLst>
              <a:gd name="adj" fmla="val 3000"/>
            </a:avLst>
          </a:prstGeom>
          <a:solidFill>
            <a:srgbClr val="1B8A5A"/>
          </a:solidFill>
          <a:ln/>
        </p:spPr>
        <p:txBody>
          <a:bodyPr/>
          <a:p>
            <a:pPr>
              <a:defRPr>
                <a:latin typeface="Helvetica Neue"/>
              </a:defRPr>
            </a:pPr>
          </a:p>
        </p:txBody>
      </p:sp>
      <p:sp>
        <p:nvSpPr>
          <p:cNvPr id="32" name="Text 30"/>
          <p:cNvSpPr/>
          <p:nvPr/>
        </p:nvSpPr>
        <p:spPr>
          <a:xfrm>
            <a:off x="6702552" y="3639312"/>
            <a:ext cx="4526280" cy="548640"/>
          </a:xfrm>
          <a:prstGeom prst="roundRect">
            <a:avLst>
              <a:gd name="adj" fmla="val 3000"/>
            </a:avLst>
          </a:prstGeom>
          <a:noFill/>
          <a:ln/>
        </p:spPr>
        <p:txBody>
          <a:bodyPr wrap="square" lIns="0" tIns="0" rIns="0" bIns="0" rtlCol="0" anchor="t"/>
          <a:lstStyle/>
          <a:p>
            <a:pPr indent="0" marL="0">
              <a:buNone/>
              <a:defRPr>
                <a:latin typeface="Helvetica Neue"/>
              </a:defRPr>
            </a:pPr>
            <a:r>
              <a:rPr lang="en-US" sz="1100" dirty="0">
                <a:solidFill>
                  <a:srgbClr val="334155"/>
                </a:solidFill>
                <a:latin typeface="Helvetica Neue" pitchFamily="34" charset="0"/>
                <a:ea typeface="Arial" pitchFamily="34" charset="-122"/>
                <a:cs typeface="Arial" pitchFamily="34" charset="-120"/>
              </a:rPr>
              <a:t>Giảm lỗi thao tác nhờ đúng nội dung, đúng giai đoạn onboarding</a:t>
            </a:r>
            <a:endParaRPr lang="en-US" sz="1100" dirty="0"/>
          </a:p>
        </p:txBody>
      </p:sp>
      <p:sp>
        <p:nvSpPr>
          <p:cNvPr id="33" name="Shape 31"/>
          <p:cNvSpPr/>
          <p:nvPr/>
        </p:nvSpPr>
        <p:spPr>
          <a:xfrm>
            <a:off x="6537960" y="4325112"/>
            <a:ext cx="64008" cy="64008"/>
          </a:xfrm>
          <a:prstGeom prst="roundRect">
            <a:avLst>
              <a:gd name="adj" fmla="val 3000"/>
            </a:avLst>
          </a:prstGeom>
          <a:solidFill>
            <a:srgbClr val="1B8A5A"/>
          </a:solidFill>
          <a:ln/>
        </p:spPr>
        <p:txBody>
          <a:bodyPr/>
          <a:p>
            <a:pPr>
              <a:defRPr>
                <a:latin typeface="Helvetica Neue"/>
              </a:defRPr>
            </a:pPr>
          </a:p>
        </p:txBody>
      </p:sp>
      <p:sp>
        <p:nvSpPr>
          <p:cNvPr id="34" name="Text 32"/>
          <p:cNvSpPr/>
          <p:nvPr/>
        </p:nvSpPr>
        <p:spPr>
          <a:xfrm>
            <a:off x="6702552" y="4261104"/>
            <a:ext cx="4526280" cy="548640"/>
          </a:xfrm>
          <a:prstGeom prst="roundRect">
            <a:avLst>
              <a:gd name="adj" fmla="val 3000"/>
            </a:avLst>
          </a:prstGeom>
          <a:noFill/>
          <a:ln/>
        </p:spPr>
        <p:txBody>
          <a:bodyPr wrap="square" lIns="0" tIns="0" rIns="0" bIns="0" rtlCol="0" anchor="t"/>
          <a:lstStyle/>
          <a:p>
            <a:pPr indent="0" marL="0">
              <a:buNone/>
              <a:defRPr>
                <a:latin typeface="Helvetica Neue"/>
              </a:defRPr>
            </a:pPr>
            <a:r>
              <a:rPr lang="en-US" sz="1100" dirty="0">
                <a:solidFill>
                  <a:srgbClr val="334155"/>
                </a:solidFill>
                <a:latin typeface="Helvetica Neue" pitchFamily="34" charset="0"/>
                <a:ea typeface="Arial" pitchFamily="34" charset="-122"/>
                <a:cs typeface="Arial" pitchFamily="34" charset="-120"/>
              </a:rPr>
              <a:t>Cơ hội: chuyển giao cách tiếp cận sang Baga Bulky, EV</a:t>
            </a:r>
            <a:endParaRPr lang="en-US" sz="1100" dirty="0"/>
          </a:p>
        </p:txBody>
      </p:sp>
      <p:sp>
        <p:nvSpPr>
          <p:cNvPr id="35" name="Shape 33"/>
          <p:cNvSpPr/>
          <p:nvPr/>
        </p:nvSpPr>
        <p:spPr>
          <a:xfrm>
            <a:off x="6537960" y="4937760"/>
            <a:ext cx="4800600" cy="347472"/>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36" name="Shape 34"/>
          <p:cNvSpPr/>
          <p:nvPr/>
        </p:nvSpPr>
        <p:spPr>
          <a:xfrm>
            <a:off x="6537960" y="4937760"/>
            <a:ext cx="45720" cy="347472"/>
          </a:xfrm>
          <a:prstGeom prst="roundRect">
            <a:avLst>
              <a:gd name="adj" fmla="val 3000"/>
            </a:avLst>
          </a:prstGeom>
          <a:solidFill>
            <a:srgbClr val="1B8A5A"/>
          </a:solidFill>
          <a:ln/>
        </p:spPr>
        <p:txBody>
          <a:bodyPr/>
          <a:p>
            <a:pPr>
              <a:defRPr>
                <a:latin typeface="Helvetica Neue"/>
              </a:defRPr>
            </a:pPr>
          </a:p>
        </p:txBody>
      </p:sp>
      <p:sp>
        <p:nvSpPr>
          <p:cNvPr id="37" name="Text 35"/>
          <p:cNvSpPr/>
          <p:nvPr/>
        </p:nvSpPr>
        <p:spPr>
          <a:xfrm>
            <a:off x="6702552" y="4956048"/>
            <a:ext cx="4526280" cy="164592"/>
          </a:xfrm>
          <a:prstGeom prst="roundRect">
            <a:avLst>
              <a:gd name="adj" fmla="val 3000"/>
            </a:avLst>
          </a:prstGeom>
          <a:noFill/>
          <a:ln/>
        </p:spPr>
        <p:txBody>
          <a:bodyPr wrap="square" lIns="0" tIns="0" rIns="0" bIns="0" rtlCol="0" anchor="ctr"/>
          <a:lstStyle/>
          <a:p>
            <a:pPr indent="0" marL="0">
              <a:buNone/>
              <a:defRPr>
                <a:latin typeface="Helvetica Neue"/>
              </a:defRPr>
            </a:pPr>
            <a:r>
              <a:rPr lang="en-US" sz="750" b="1" dirty="0">
                <a:solidFill>
                  <a:srgbClr val="334155"/>
                </a:solidFill>
                <a:latin typeface="Helvetica Neue" pitchFamily="34" charset="0"/>
                <a:ea typeface="Arial" pitchFamily="34" charset="-122"/>
                <a:cs typeface="Arial" pitchFamily="34" charset="-120"/>
              </a:rPr>
              <a:t>CHẾ ĐỘ</a:t>
            </a:r>
            <a:endParaRPr lang="en-US" sz="750" dirty="0"/>
          </a:p>
        </p:txBody>
      </p:sp>
      <p:sp>
        <p:nvSpPr>
          <p:cNvPr id="38" name="Text 36"/>
          <p:cNvSpPr/>
          <p:nvPr/>
        </p:nvSpPr>
        <p:spPr>
          <a:xfrm>
            <a:off x="6702552" y="5102352"/>
            <a:ext cx="4526280" cy="182880"/>
          </a:xfrm>
          <a:prstGeom prst="roundRect">
            <a:avLst>
              <a:gd name="adj" fmla="val 3000"/>
            </a:avLst>
          </a:prstGeom>
          <a:noFill/>
          <a:ln/>
        </p:spPr>
        <p:txBody>
          <a:bodyPr wrap="square" lIns="0" tIns="0" rIns="0" bIns="0" rtlCol="0" anchor="ctr"/>
          <a:lstStyle/>
          <a:p>
            <a:pPr indent="0" marL="0">
              <a:buNone/>
              <a:defRPr>
                <a:latin typeface="Helvetica Neue"/>
              </a:defRPr>
            </a:pPr>
            <a:r>
              <a:rPr lang="en-US" sz="1000" b="1" dirty="0">
                <a:solidFill>
                  <a:srgbClr val="1B8A5A"/>
                </a:solidFill>
                <a:latin typeface="Helvetica Neue" pitchFamily="34" charset="0"/>
                <a:ea typeface="Arial" pitchFamily="34" charset="-122"/>
                <a:cs typeface="Arial" pitchFamily="34" charset="-120"/>
              </a:rPr>
              <a:t>SCALE — nhân rộng cách làm sang dự án khác</a:t>
            </a:r>
            <a:endParaRPr lang="en-US" sz="1000" dirty="0"/>
          </a:p>
        </p:txBody>
      </p:sp>
      <p:sp>
        <p:nvSpPr>
          <p:cNvPr id="39" name="Text 37"/>
          <p:cNvSpPr/>
          <p:nvPr/>
        </p:nvSpPr>
        <p:spPr>
          <a:xfrm>
            <a:off x="548640" y="5623560"/>
            <a:ext cx="11091672" cy="548640"/>
          </a:xfrm>
          <a:prstGeom prst="roundRect">
            <a:avLst>
              <a:gd name="adj" fmla="val 3000"/>
            </a:avLst>
          </a:prstGeom>
          <a:noFill/>
          <a:ln/>
        </p:spPr>
        <p:txBody>
          <a:bodyPr wrap="square" lIns="0" tIns="0" rIns="0" bIns="0" rtlCol="0" anchor="t"/>
          <a:lstStyle/>
          <a:p>
            <a:pPr indent="0" marL="0">
              <a:buNone/>
              <a:defRPr>
                <a:latin typeface="Helvetica Neue"/>
              </a:defRPr>
            </a:pPr>
            <a:r>
              <a:rPr lang="en-US" sz="1050" b="1" dirty="0">
                <a:solidFill>
                  <a:srgbClr val="D9631A"/>
                </a:solidFill>
                <a:latin typeface="Helvetica Neue" pitchFamily="34" charset="0"/>
                <a:ea typeface="Arial" pitchFamily="34" charset="-122"/>
                <a:cs typeface="Arial" pitchFamily="34" charset="-120"/>
              </a:rPr>
              <a:t>Bài học chuyển giao:  </a:t>
            </a:r>
            <a:pPr indent="0" marL="0">
              <a:buNone/>
            </a:pPr>
            <a:r>
              <a:rPr lang="en-US" sz="1050" dirty="0">
                <a:solidFill>
                  <a:srgbClr val="334155"/>
                </a:solidFill>
                <a:latin typeface="Helvetica Neue" pitchFamily="34" charset="0"/>
                <a:ea typeface="Arial" pitchFamily="34" charset="-122"/>
                <a:cs typeface="Arial" pitchFamily="34" charset="-120"/>
              </a:rPr>
              <a:t>cách tiếp cận 'đúng nội dung, đúng giai đoạn' của Driver Journey có thể áp dụng cho truyền thông theo giai đoạn tham gia thưởng của Baga Bulky, và truyền thông onboarding tài xế mới khi MiniHub scale trở lại.</a:t>
            </a:r>
            <a:endParaRPr lang="en-US" sz="1050" dirty="0"/>
          </a:p>
        </p:txBody>
      </p:sp>
      <p:sp>
        <p:nvSpPr>
          <p:cNvPr id="40" name="Shape 38"/>
          <p:cNvSpPr/>
          <p:nvPr/>
        </p:nvSpPr>
        <p:spPr>
          <a:xfrm>
            <a:off x="548640" y="6510528"/>
            <a:ext cx="11091672" cy="0"/>
          </a:xfrm>
          <a:prstGeom prst="roundRect">
            <a:avLst>
              <a:gd name="adj" fmla="val 3000"/>
            </a:avLst>
          </a:prstGeom>
          <a:noFill/>
          <a:ln w="15875">
            <a:solidFill>
              <a:srgbClr val="FF7F32"/>
            </a:solidFill>
            <a:prstDash val="solid"/>
          </a:ln>
        </p:spPr>
        <p:txBody>
          <a:bodyPr/>
          <a:p>
            <a:pPr>
              <a:defRPr>
                <a:latin typeface="Helvetica Neue"/>
              </a:defRPr>
            </a:pPr>
          </a:p>
        </p:txBody>
      </p:sp>
      <p:sp>
        <p:nvSpPr>
          <p:cNvPr id="41" name="Text 39"/>
          <p:cNvSpPr/>
          <p:nvPr/>
        </p:nvSpPr>
        <p:spPr>
          <a:xfrm>
            <a:off x="548640" y="6565392"/>
            <a:ext cx="7315200" cy="256032"/>
          </a:xfrm>
          <a:prstGeom prst="roundRect">
            <a:avLst>
              <a:gd name="adj" fmla="val 3000"/>
            </a:avLst>
          </a:prstGeom>
          <a:noFill/>
          <a:ln/>
        </p:spPr>
        <p:txBody>
          <a:bodyPr wrap="square" lIns="0" tIns="0" rIns="0" bIns="0" rtlCol="0" anchor="ctr"/>
          <a:lstStyle/>
          <a:p>
            <a:pPr indent="0" marL="0">
              <a:buNone/>
              <a:defRPr>
                <a:latin typeface="Helvetica Neue"/>
              </a:defRPr>
            </a:pPr>
            <a:r>
              <a:rPr lang="en-US" sz="850" dirty="0">
                <a:solidFill>
                  <a:srgbClr val="334155"/>
                </a:solidFill>
                <a:latin typeface="Helvetica Neue" pitchFamily="34" charset="0"/>
                <a:ea typeface="Arial" pitchFamily="34" charset="-122"/>
                <a:cs typeface="Arial" pitchFamily="34" charset="-120"/>
              </a:rPr>
              <a:t>DM Monthly Report — Tháng 7/2026</a:t>
            </a:r>
            <a:endParaRPr lang="en-US" sz="850" dirty="0"/>
          </a:p>
        </p:txBody>
      </p:sp>
      <p:sp>
        <p:nvSpPr>
          <p:cNvPr id="42" name="Text 40"/>
          <p:cNvSpPr/>
          <p:nvPr/>
        </p:nvSpPr>
        <p:spPr>
          <a:xfrm>
            <a:off x="11155680" y="6565392"/>
            <a:ext cx="484632" cy="256032"/>
          </a:xfrm>
          <a:prstGeom prst="roundRect">
            <a:avLst>
              <a:gd name="adj" fmla="val 3000"/>
            </a:avLst>
          </a:prstGeom>
          <a:noFill/>
          <a:ln/>
        </p:spPr>
        <p:txBody>
          <a:bodyPr wrap="square" lIns="0" tIns="0" rIns="0" bIns="0" rtlCol="0" anchor="ctr"/>
          <a:lstStyle/>
          <a:p>
            <a:pPr algn="r" indent="0" marL="0">
              <a:buNone/>
              <a:defRPr>
                <a:latin typeface="Helvetica Neue"/>
              </a:defRPr>
            </a:pPr>
            <a:r>
              <a:rPr lang="en-US" sz="850" dirty="0">
                <a:solidFill>
                  <a:srgbClr val="334155"/>
                </a:solidFill>
                <a:latin typeface="Helvetica Neue" pitchFamily="34" charset="0"/>
                <a:ea typeface="Arial" pitchFamily="34" charset="-122"/>
                <a:cs typeface="Arial" pitchFamily="34" charset="-120"/>
              </a:rPr>
              <a:t>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950" b="1" dirty="0">
                <a:solidFill>
                  <a:srgbClr val="FF6600"/>
                </a:solidFill>
                <a:latin typeface="Helvetica Neue" pitchFamily="34" charset="0"/>
                <a:ea typeface="Arial" pitchFamily="34" charset="-122"/>
                <a:cs typeface="Arial" pitchFamily="34" charset="-120"/>
              </a:rPr>
              <a:t>RISK &amp; ACTION · TỔNG HỢP</a:t>
            </a:r>
            <a:endParaRPr lang="en-US" sz="950" dirty="0"/>
          </a:p>
        </p:txBody>
      </p:sp>
      <p:sp>
        <p:nvSpPr>
          <p:cNvPr id="3" name="Text 1"/>
          <p:cNvSpPr/>
          <p:nvPr/>
        </p:nvSpPr>
        <p:spPr>
          <a:xfrm>
            <a:off x="7772400" y="128016"/>
            <a:ext cx="3867912" cy="219456"/>
          </a:xfrm>
          <a:prstGeom prst="roundRect">
            <a:avLst>
              <a:gd name="adj" fmla="val 3000"/>
            </a:avLst>
          </a:prstGeom>
          <a:noFill/>
          <a:ln/>
        </p:spPr>
        <p:txBody>
          <a:bodyPr wrap="square" lIns="0" tIns="0" rIns="0" bIns="0" rtlCol="0" anchor="ctr"/>
          <a:lstStyle/>
          <a:p>
            <a:pPr algn="r" indent="0" marL="0">
              <a:buNone/>
              <a:defRPr>
                <a:latin typeface="Helvetica Neue"/>
              </a:defRPr>
            </a:pPr>
            <a:r>
              <a:rPr lang="en-US" sz="900" i="1" dirty="0">
                <a:solidFill>
                  <a:srgbClr val="64748B"/>
                </a:solidFill>
                <a:latin typeface="Helvetica Neue"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2400" b="1" dirty="0">
                <a:solidFill>
                  <a:srgbClr val="0F172A"/>
                </a:solidFill>
                <a:latin typeface="Helvetica Neue" pitchFamily="34" charset="0"/>
                <a:ea typeface="Arial" pitchFamily="34" charset="-122"/>
                <a:cs typeface="Arial" pitchFamily="34" charset="-120"/>
              </a:rPr>
              <a:t>6 rủi ro đang mở, mỗi rủi ro có đúng 1 owner</a:t>
            </a:r>
            <a:endParaRPr lang="en-US" sz="2400" dirty="0"/>
          </a:p>
        </p:txBody>
      </p:sp>
      <p:sp>
        <p:nvSpPr>
          <p:cNvPr id="5" name="Shape 3"/>
          <p:cNvSpPr/>
          <p:nvPr/>
        </p:nvSpPr>
        <p:spPr>
          <a:xfrm>
            <a:off x="548640" y="1005840"/>
            <a:ext cx="1005840" cy="36576"/>
          </a:xfrm>
          <a:prstGeom prst="roundRect">
            <a:avLst>
              <a:gd name="adj" fmla="val 3000"/>
            </a:avLst>
          </a:prstGeom>
          <a:solidFill>
            <a:srgbClr val="FF7F32"/>
          </a:solidFill>
          <a:ln/>
        </p:spPr>
        <p:txBody>
          <a:bodyPr/>
          <a:p>
            <a:pPr>
              <a:defRPr>
                <a:latin typeface="Helvetica Neue"/>
              </a:defRPr>
            </a:pPr>
          </a:p>
        </p:txBody>
      </p:sp>
      <p:sp>
        <p:nvSpPr>
          <p:cNvPr id="6" name="Shape 4"/>
          <p:cNvSpPr/>
          <p:nvPr/>
        </p:nvSpPr>
        <p:spPr>
          <a:xfrm>
            <a:off x="548640" y="1133856"/>
            <a:ext cx="45720" cy="512064"/>
          </a:xfrm>
          <a:prstGeom prst="roundRect">
            <a:avLst>
              <a:gd name="adj" fmla="val 3000"/>
            </a:avLst>
          </a:prstGeom>
          <a:solidFill>
            <a:srgbClr val="FF7F32"/>
          </a:solidFill>
          <a:ln/>
        </p:spPr>
        <p:txBody>
          <a:bodyPr/>
          <a:p>
            <a:pPr>
              <a:defRPr>
                <a:latin typeface="Helvetica Neue"/>
              </a:defRPr>
            </a:pPr>
          </a:p>
        </p:txBody>
      </p:sp>
      <p:sp>
        <p:nvSpPr>
          <p:cNvPr id="7" name="Shape 5"/>
          <p:cNvSpPr/>
          <p:nvPr/>
        </p:nvSpPr>
        <p:spPr>
          <a:xfrm>
            <a:off x="594360" y="1133856"/>
            <a:ext cx="11045952" cy="512064"/>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8" name="Text 6"/>
          <p:cNvSpPr/>
          <p:nvPr/>
        </p:nvSpPr>
        <p:spPr>
          <a:xfrm>
            <a:off x="777240" y="1133856"/>
            <a:ext cx="10607040" cy="512064"/>
          </a:xfrm>
          <a:prstGeom prst="roundRect">
            <a:avLst>
              <a:gd name="adj" fmla="val 3000"/>
            </a:avLst>
          </a:prstGeom>
          <a:noFill/>
          <a:ln/>
        </p:spPr>
        <p:txBody>
          <a:bodyPr wrap="square" lIns="0" tIns="0" rIns="0" bIns="0" rtlCol="0" anchor="ctr"/>
          <a:lstStyle/>
          <a:p>
            <a:pPr indent="0" marL="0">
              <a:buNone/>
              <a:defRPr>
                <a:latin typeface="Helvetica Neue"/>
              </a:defRPr>
            </a:pPr>
            <a:r>
              <a:rPr lang="en-US" sz="1100" b="1" dirty="0">
                <a:solidFill>
                  <a:srgbClr val="FF6600"/>
                </a:solidFill>
                <a:latin typeface="Helvetica Neue" pitchFamily="34" charset="0"/>
                <a:ea typeface="Arial" pitchFamily="34" charset="-122"/>
                <a:cs typeface="Arial" pitchFamily="34" charset="-120"/>
              </a:rPr>
              <a:t>Key Takeaway  </a:t>
            </a:r>
            <a:pPr indent="0" marL="0">
              <a:buNone/>
            </a:pPr>
            <a:r>
              <a:rPr lang="en-US" sz="1100" dirty="0">
                <a:solidFill>
                  <a:srgbClr val="334155"/>
                </a:solidFill>
                <a:latin typeface="Helvetica Neue" pitchFamily="34" charset="0"/>
                <a:ea typeface="Arial" pitchFamily="34" charset="-122"/>
                <a:cs typeface="Arial" pitchFamily="34" charset="-120"/>
              </a:rPr>
              <a:t>Gộp toàn bộ next action/issue rải rác theo từng dự án về 1 bảng duy nhất — không để trạng thái chung chung kiểu 'cả team đang xử lý'.</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3749040"/>
        </p:xfrm>
        <a:graphic>
          <a:graphicData uri="http://schemas.openxmlformats.org/drawingml/2006/table">
            <a:tbl>
              <a:tblPr/>
              <a:tblGrid>
                <a:gridCol w="3931920"/>
                <a:gridCol w="1188720"/>
                <a:gridCol w="1188720"/>
                <a:gridCol w="1581912"/>
                <a:gridCol w="3200400"/>
              </a:tblGrid>
              <a:tr h="535577">
                <a:tc>
                  <a:txBody>
                    <a:bodyPr/>
                    <a:lstStyle/>
                    <a:p>
                      <a:pPr indent="0" marL="0" algn="l">
                        <a:buNone/>
                        <a:defRPr b="1">
                          <a:latin typeface="Helvetica Neue"/>
                        </a:defRPr>
                      </a:pPr>
                      <a:r>
                        <a:rPr lang="en-US" sz="1050" b="1" dirty="0">
                          <a:solidFill>
                            <a:srgbClr val="FFFFFF"/>
                          </a:solidFill>
                          <a:latin typeface="Helvetica Neue" pitchFamily="34" charset="0"/>
                          <a:ea typeface="Arial" pitchFamily="34" charset="-122"/>
                          <a:cs typeface="Arial" pitchFamily="34" charset="-120"/>
                        </a:rPr>
                        <a:t>Rủi ro / Issue</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lgn="l">
                        <a:buNone/>
                        <a:defRPr b="1">
                          <a:latin typeface="Helvetica Neue"/>
                        </a:defRPr>
                      </a:pPr>
                      <a:r>
                        <a:rPr lang="en-US" sz="1050" b="1" dirty="0">
                          <a:solidFill>
                            <a:srgbClr val="FFFFFF"/>
                          </a:solidFill>
                          <a:latin typeface="Helvetica Neue" pitchFamily="34" charset="0"/>
                          <a:ea typeface="Arial" pitchFamily="34" charset="-122"/>
                          <a:cs typeface="Arial" pitchFamily="34" charset="-120"/>
                        </a:rPr>
                        <a:t>Khả năng</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lgn="l">
                        <a:buNone/>
                        <a:defRPr b="1">
                          <a:latin typeface="Helvetica Neue"/>
                        </a:defRPr>
                      </a:pPr>
                      <a:r>
                        <a:rPr lang="en-US" sz="1050" b="1" dirty="0">
                          <a:solidFill>
                            <a:srgbClr val="FFFFFF"/>
                          </a:solidFill>
                          <a:latin typeface="Helvetica Neue" pitchFamily="34" charset="0"/>
                          <a:ea typeface="Arial" pitchFamily="34" charset="-122"/>
                          <a:cs typeface="Arial" pitchFamily="34" charset="-120"/>
                        </a:rPr>
                        <a:t>Tác động</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lgn="l">
                        <a:buNone/>
                        <a:defRPr b="1">
                          <a:latin typeface="Helvetica Neue"/>
                        </a:defRPr>
                      </a:pPr>
                      <a:r>
                        <a:rPr lang="en-US" sz="1050" b="1" dirty="0">
                          <a:solidFill>
                            <a:srgbClr val="FFFFFF"/>
                          </a:solidFill>
                          <a:latin typeface="Helvetica Neue" pitchFamily="34" charset="0"/>
                          <a:ea typeface="Arial" pitchFamily="34" charset="-122"/>
                          <a:cs typeface="Arial" pitchFamily="34" charset="-120"/>
                        </a:rPr>
                        <a:t>Owner</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c>
                  <a:txBody>
                    <a:bodyPr/>
                    <a:lstStyle/>
                    <a:p>
                      <a:pPr indent="0" marL="0" algn="l">
                        <a:buNone/>
                        <a:defRPr b="1">
                          <a:latin typeface="Helvetica Neue"/>
                        </a:defRPr>
                      </a:pPr>
                      <a:r>
                        <a:rPr lang="en-US" sz="1050" b="1" dirty="0">
                          <a:solidFill>
                            <a:srgbClr val="FFFFFF"/>
                          </a:solidFill>
                          <a:latin typeface="Helvetica Neue" pitchFamily="34" charset="0"/>
                          <a:ea typeface="Arial" pitchFamily="34" charset="-122"/>
                          <a:cs typeface="Arial" pitchFamily="34" charset="-120"/>
                        </a:rPr>
                        <a:t>Trạng thái</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0F172A"/>
                    </a:solidFill>
                  </a:tcPr>
                </a:tc>
              </a:tr>
              <a:tr h="535577">
                <a:tc>
                  <a:txBody>
                    <a:bodyPr/>
                    <a:lstStyle/>
                    <a:p>
                      <a:pPr indent="0" marL="0" algn="l">
                        <a:buNone/>
                        <a:defRPr>
                          <a:latin typeface="Helvetica Neue"/>
                        </a:defRPr>
                      </a:pPr>
                      <a:r>
                        <a:rPr lang="en-US" sz="950" b="1" dirty="0">
                          <a:solidFill>
                            <a:srgbClr val="334155"/>
                          </a:solidFill>
                          <a:latin typeface="Helvetica Neue" pitchFamily="34" charset="0"/>
                          <a:ea typeface="Arial" pitchFamily="34" charset="-122"/>
                          <a:cs typeface="Arial" pitchFamily="34" charset="-120"/>
                        </a:rPr>
                        <a:t>CR nhóm PT/GR vẫn cao (NLM &gt;14%; TTS SGN 57% đơn hủy do KH KNM)</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l" indent="0" marL="0">
                        <a:buNone/>
                        <a:defRPr>
                          <a:latin typeface="Helvetica Neue"/>
                        </a:defRPr>
                      </a:pPr>
                      <a:r>
                        <a:rPr lang="en-US" sz="950" dirty="0">
                          <a:solidFill>
                            <a:srgbClr val="334155"/>
                          </a:solidFill>
                          <a:latin typeface="Helvetica Neue" pitchFamily="34" charset="0"/>
                          <a:ea typeface="Arial" pitchFamily="34" charset="-122"/>
                          <a:cs typeface="Arial" pitchFamily="34" charset="-120"/>
                        </a:rPr>
                        <a:t>Cao</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l" indent="0" marL="0">
                        <a:buNone/>
                        <a:defRPr>
                          <a:latin typeface="Helvetica Neue"/>
                        </a:defRPr>
                      </a:pPr>
                      <a:r>
                        <a:rPr lang="en-US" sz="950" dirty="0">
                          <a:solidFill>
                            <a:srgbClr val="334155"/>
                          </a:solidFill>
                          <a:latin typeface="Helvetica Neue" pitchFamily="34" charset="0"/>
                          <a:ea typeface="Arial" pitchFamily="34" charset="-122"/>
                          <a:cs typeface="Arial" pitchFamily="34" charset="-120"/>
                        </a:rPr>
                        <a:t>Cao</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lgn="l">
                        <a:buNone/>
                        <a:defRPr>
                          <a:latin typeface="Helvetica Neue"/>
                        </a:defRPr>
                      </a:pPr>
                      <a:r>
                        <a:rPr lang="en-US" sz="950" dirty="0">
                          <a:solidFill>
                            <a:srgbClr val="334155"/>
                          </a:solidFill>
                          <a:latin typeface="Helvetica Neue" pitchFamily="34" charset="0"/>
                          <a:ea typeface="Arial" pitchFamily="34" charset="-122"/>
                          <a:cs typeface="Arial" pitchFamily="34" charset="-120"/>
                        </a:rPr>
                        <a:t>OE</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lgn="l">
                        <a:buNone/>
                        <a:defRPr>
                          <a:latin typeface="Helvetica Neue"/>
                        </a:defRPr>
                      </a:pPr>
                      <a:r>
                        <a:rPr lang="en-US" sz="900" dirty="0">
                          <a:solidFill>
                            <a:srgbClr val="334155"/>
                          </a:solidFill>
                          <a:latin typeface="Helvetica Neue" pitchFamily="34" charset="0"/>
                          <a:ea typeface="Arial" pitchFamily="34" charset="-122"/>
                          <a:cs typeface="Arial" pitchFamily="34" charset="-120"/>
                        </a:rPr>
                        <a:t>Đã chạy model mới cho TTS, đánh giá lại sau 1 tháng</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r>
              <a:tr h="535577">
                <a:tc>
                  <a:txBody>
                    <a:bodyPr/>
                    <a:lstStyle/>
                    <a:p>
                      <a:pPr indent="0" marL="0" algn="l">
                        <a:buNone/>
                        <a:defRPr>
                          <a:latin typeface="Helvetica Neue"/>
                        </a:defRPr>
                      </a:pPr>
                      <a:r>
                        <a:rPr lang="en-US" sz="950" b="1" dirty="0">
                          <a:solidFill>
                            <a:srgbClr val="334155"/>
                          </a:solidFill>
                          <a:latin typeface="Helvetica Neue" pitchFamily="34" charset="0"/>
                          <a:ea typeface="Arial" pitchFamily="34" charset="-122"/>
                          <a:cs typeface="Arial" pitchFamily="34" charset="-120"/>
                        </a:rPr>
                        <a:t>Retention SGN chưa đạt target 82%</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c>
                  <a:txBody>
                    <a:bodyPr/>
                    <a:lstStyle/>
                    <a:p>
                      <a:pPr algn="l" indent="0" marL="0">
                        <a:buNone/>
                        <a:defRPr>
                          <a:latin typeface="Helvetica Neue"/>
                        </a:defRPr>
                      </a:pPr>
                      <a:r>
                        <a:rPr lang="en-US" sz="950" dirty="0">
                          <a:solidFill>
                            <a:srgbClr val="334155"/>
                          </a:solidFill>
                          <a:latin typeface="Helvetica Neue"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c>
                  <a:txBody>
                    <a:bodyPr/>
                    <a:lstStyle/>
                    <a:p>
                      <a:pPr algn="l" indent="0" marL="0">
                        <a:buNone/>
                        <a:defRPr>
                          <a:latin typeface="Helvetica Neue"/>
                        </a:defRPr>
                      </a:pPr>
                      <a:r>
                        <a:rPr lang="en-US" sz="950" dirty="0">
                          <a:solidFill>
                            <a:srgbClr val="334155"/>
                          </a:solidFill>
                          <a:latin typeface="Helvetica Neue" pitchFamily="34" charset="0"/>
                          <a:ea typeface="Arial" pitchFamily="34" charset="-122"/>
                          <a:cs typeface="Arial" pitchFamily="34" charset="-120"/>
                        </a:rPr>
                        <a:t>Cao</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c>
                  <a:txBody>
                    <a:bodyPr/>
                    <a:lstStyle/>
                    <a:p>
                      <a:pPr indent="0" marL="0" algn="l">
                        <a:buNone/>
                        <a:defRPr>
                          <a:latin typeface="Helvetica Neue"/>
                        </a:defRPr>
                      </a:pPr>
                      <a:r>
                        <a:rPr lang="en-US" sz="950" dirty="0">
                          <a:solidFill>
                            <a:srgbClr val="334155"/>
                          </a:solidFill>
                          <a:latin typeface="Helvetica Neue" pitchFamily="34" charset="0"/>
                          <a:ea typeface="Arial" pitchFamily="34" charset="-122"/>
                          <a:cs typeface="Arial" pitchFamily="34" charset="-120"/>
                        </a:rPr>
                        <a:t>Driver Perf</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c>
                  <a:txBody>
                    <a:bodyPr/>
                    <a:lstStyle/>
                    <a:p>
                      <a:pPr indent="0" marL="0" algn="l">
                        <a:buNone/>
                        <a:defRPr>
                          <a:latin typeface="Helvetica Neue"/>
                        </a:defRPr>
                      </a:pPr>
                      <a:r>
                        <a:rPr lang="en-US" sz="900" dirty="0">
                          <a:solidFill>
                            <a:srgbClr val="334155"/>
                          </a:solidFill>
                          <a:latin typeface="Helvetica Neue" pitchFamily="34" charset="0"/>
                          <a:ea typeface="Arial" pitchFamily="34" charset="-122"/>
                          <a:cs typeface="Arial" pitchFamily="34" charset="-120"/>
                        </a:rPr>
                        <a:t>Cải thiện MoM/YoY nhưng chưa chạm target</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r>
              <a:tr h="535577">
                <a:tc>
                  <a:txBody>
                    <a:bodyPr/>
                    <a:lstStyle/>
                    <a:p>
                      <a:pPr indent="0" marL="0" algn="l">
                        <a:buNone/>
                        <a:defRPr>
                          <a:latin typeface="Helvetica Neue"/>
                        </a:defRPr>
                      </a:pPr>
                      <a:r>
                        <a:rPr lang="en-US" sz="950" b="1" dirty="0">
                          <a:solidFill>
                            <a:srgbClr val="334155"/>
                          </a:solidFill>
                          <a:latin typeface="Helvetica Neue" pitchFamily="34" charset="0"/>
                          <a:ea typeface="Arial" pitchFamily="34" charset="-122"/>
                          <a:cs typeface="Arial" pitchFamily="34" charset="-120"/>
                        </a:rPr>
                        <a:t>Retention MiniHub giảm ở HAN (Z24, Thanh Xuân)</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l" indent="0" marL="0">
                        <a:buNone/>
                        <a:defRPr>
                          <a:latin typeface="Helvetica Neue"/>
                        </a:defRPr>
                      </a:pPr>
                      <a:r>
                        <a:rPr lang="en-US" sz="950" dirty="0">
                          <a:solidFill>
                            <a:srgbClr val="334155"/>
                          </a:solidFill>
                          <a:latin typeface="Helvetica Neue" pitchFamily="34" charset="0"/>
                          <a:ea typeface="Arial" pitchFamily="34" charset="-122"/>
                          <a:cs typeface="Arial" pitchFamily="34" charset="-120"/>
                        </a:rPr>
                        <a:t>Cao</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l" indent="0" marL="0">
                        <a:buNone/>
                        <a:defRPr>
                          <a:latin typeface="Helvetica Neue"/>
                        </a:defRPr>
                      </a:pPr>
                      <a:r>
                        <a:rPr lang="en-US" sz="950" dirty="0">
                          <a:solidFill>
                            <a:srgbClr val="334155"/>
                          </a:solidFill>
                          <a:latin typeface="Helvetica Neue"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lgn="l">
                        <a:buNone/>
                        <a:defRPr>
                          <a:latin typeface="Helvetica Neue"/>
                        </a:defRPr>
                      </a:pPr>
                      <a:r>
                        <a:rPr lang="en-US" sz="950" dirty="0">
                          <a:solidFill>
                            <a:srgbClr val="334155"/>
                          </a:solidFill>
                          <a:latin typeface="Helvetica Neue" pitchFamily="34" charset="0"/>
                          <a:ea typeface="Arial" pitchFamily="34" charset="-122"/>
                          <a:cs typeface="Arial" pitchFamily="34" charset="-120"/>
                        </a:rPr>
                        <a:t>MiniHub team</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lgn="l">
                        <a:buNone/>
                        <a:defRPr>
                          <a:latin typeface="Helvetica Neue"/>
                        </a:defRPr>
                      </a:pPr>
                      <a:r>
                        <a:rPr lang="en-US" sz="900" dirty="0">
                          <a:solidFill>
                            <a:srgbClr val="334155"/>
                          </a:solidFill>
                          <a:latin typeface="Helvetica Neue" pitchFamily="34" charset="0"/>
                          <a:ea typeface="Arial" pitchFamily="34" charset="-122"/>
                          <a:cs typeface="Arial" pitchFamily="34" charset="-120"/>
                        </a:rPr>
                        <a:t>Cần review target KPI theo baseline zone mới</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r>
              <a:tr h="535577">
                <a:tc>
                  <a:txBody>
                    <a:bodyPr/>
                    <a:lstStyle/>
                    <a:p>
                      <a:pPr indent="0" marL="0" algn="l">
                        <a:buNone/>
                        <a:defRPr>
                          <a:latin typeface="Helvetica Neue"/>
                        </a:defRPr>
                      </a:pPr>
                      <a:r>
                        <a:rPr lang="en-US" sz="950" b="1" dirty="0">
                          <a:solidFill>
                            <a:srgbClr val="334155"/>
                          </a:solidFill>
                          <a:latin typeface="Helvetica Neue" pitchFamily="34" charset="0"/>
                          <a:ea typeface="Arial" pitchFamily="34" charset="-122"/>
                          <a:cs typeface="Arial" pitchFamily="34" charset="-120"/>
                        </a:rPr>
                        <a:t>EV lead conversion thấp dù demand tăng 30%</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c>
                  <a:txBody>
                    <a:bodyPr/>
                    <a:lstStyle/>
                    <a:p>
                      <a:pPr algn="l" indent="0" marL="0">
                        <a:buNone/>
                        <a:defRPr>
                          <a:latin typeface="Helvetica Neue"/>
                        </a:defRPr>
                      </a:pPr>
                      <a:r>
                        <a:rPr lang="en-US" sz="950" dirty="0">
                          <a:solidFill>
                            <a:srgbClr val="334155"/>
                          </a:solidFill>
                          <a:latin typeface="Helvetica Neue"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c>
                  <a:txBody>
                    <a:bodyPr/>
                    <a:lstStyle/>
                    <a:p>
                      <a:pPr algn="l" indent="0" marL="0">
                        <a:buNone/>
                        <a:defRPr>
                          <a:latin typeface="Helvetica Neue"/>
                        </a:defRPr>
                      </a:pPr>
                      <a:r>
                        <a:rPr lang="en-US" sz="950" dirty="0">
                          <a:solidFill>
                            <a:srgbClr val="334155"/>
                          </a:solidFill>
                          <a:latin typeface="Helvetica Neue"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c>
                  <a:txBody>
                    <a:bodyPr/>
                    <a:lstStyle/>
                    <a:p>
                      <a:pPr indent="0" marL="0" algn="l">
                        <a:buNone/>
                        <a:defRPr>
                          <a:latin typeface="Helvetica Neue"/>
                        </a:defRPr>
                      </a:pPr>
                      <a:r>
                        <a:rPr lang="en-US" sz="950" dirty="0">
                          <a:solidFill>
                            <a:srgbClr val="334155"/>
                          </a:solidFill>
                          <a:latin typeface="Helvetica Neue" pitchFamily="34" charset="0"/>
                          <a:ea typeface="Arial" pitchFamily="34" charset="-122"/>
                          <a:cs typeface="Arial" pitchFamily="34" charset="-120"/>
                        </a:rPr>
                        <a:t>EV + Hub</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c>
                  <a:txBody>
                    <a:bodyPr/>
                    <a:lstStyle/>
                    <a:p>
                      <a:pPr indent="0" marL="0" algn="l">
                        <a:buNone/>
                        <a:defRPr>
                          <a:latin typeface="Helvetica Neue"/>
                        </a:defRPr>
                      </a:pPr>
                      <a:r>
                        <a:rPr lang="en-US" sz="900" dirty="0">
                          <a:solidFill>
                            <a:srgbClr val="334155"/>
                          </a:solidFill>
                          <a:latin typeface="Helvetica Neue" pitchFamily="34" charset="0"/>
                          <a:ea typeface="Arial" pitchFamily="34" charset="-122"/>
                          <a:cs typeface="Arial" pitchFamily="34" charset="-120"/>
                        </a:rPr>
                        <a:t>Đang quy hoạch lại luồng tiếp nhận lead</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r>
              <a:tr h="535577">
                <a:tc>
                  <a:txBody>
                    <a:bodyPr/>
                    <a:lstStyle/>
                    <a:p>
                      <a:pPr indent="0" marL="0" algn="l">
                        <a:buNone/>
                        <a:defRPr>
                          <a:latin typeface="Helvetica Neue"/>
                        </a:defRPr>
                      </a:pPr>
                      <a:r>
                        <a:rPr lang="en-US" sz="950" b="1" dirty="0">
                          <a:solidFill>
                            <a:srgbClr val="334155"/>
                          </a:solidFill>
                          <a:latin typeface="Helvetica Neue" pitchFamily="34" charset="0"/>
                          <a:ea typeface="Arial" pitchFamily="34" charset="-122"/>
                          <a:cs typeface="Arial" pitchFamily="34" charset="-120"/>
                        </a:rPr>
                        <a:t>Core driver SGN giảm do lọc thành viên, chưa tuyển bổ sung</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l" indent="0" marL="0">
                        <a:buNone/>
                        <a:defRPr>
                          <a:latin typeface="Helvetica Neue"/>
                        </a:defRPr>
                      </a:pPr>
                      <a:r>
                        <a:rPr lang="en-US" sz="950" dirty="0">
                          <a:solidFill>
                            <a:srgbClr val="334155"/>
                          </a:solidFill>
                          <a:latin typeface="Helvetica Neue"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l" indent="0" marL="0">
                        <a:buNone/>
                        <a:defRPr>
                          <a:latin typeface="Helvetica Neue"/>
                        </a:defRPr>
                      </a:pPr>
                      <a:r>
                        <a:rPr lang="en-US" sz="950" dirty="0">
                          <a:solidFill>
                            <a:srgbClr val="334155"/>
                          </a:solidFill>
                          <a:latin typeface="Helvetica Neue" pitchFamily="34" charset="0"/>
                          <a:ea typeface="Arial" pitchFamily="34" charset="-122"/>
                          <a:cs typeface="Arial" pitchFamily="34" charset="-120"/>
                        </a:rPr>
                        <a:t>Thấp</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lgn="l">
                        <a:buNone/>
                        <a:defRPr>
                          <a:latin typeface="Helvetica Neue"/>
                        </a:defRPr>
                      </a:pPr>
                      <a:r>
                        <a:rPr lang="en-US" sz="950" dirty="0">
                          <a:solidFill>
                            <a:srgbClr val="334155"/>
                          </a:solidFill>
                          <a:latin typeface="Helvetica Neue" pitchFamily="34" charset="0"/>
                          <a:ea typeface="Arial" pitchFamily="34" charset="-122"/>
                          <a:cs typeface="Arial" pitchFamily="34" charset="-120"/>
                        </a:rPr>
                        <a:t>Driver Perf</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indent="0" marL="0" algn="l">
                        <a:buNone/>
                        <a:defRPr>
                          <a:latin typeface="Helvetica Neue"/>
                        </a:defRPr>
                      </a:pPr>
                      <a:r>
                        <a:rPr lang="en-US" sz="900" dirty="0">
                          <a:solidFill>
                            <a:srgbClr val="334155"/>
                          </a:solidFill>
                          <a:latin typeface="Helvetica Neue" pitchFamily="34" charset="0"/>
                          <a:ea typeface="Arial" pitchFamily="34" charset="-122"/>
                          <a:cs typeface="Arial" pitchFamily="34" charset="-120"/>
                        </a:rPr>
                        <a:t>Đã tuyển bổ sung 49 tài xế trong T7</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r>
              <a:tr h="535577">
                <a:tc>
                  <a:txBody>
                    <a:bodyPr/>
                    <a:lstStyle/>
                    <a:p>
                      <a:pPr indent="0" marL="0" algn="l">
                        <a:buNone/>
                        <a:defRPr>
                          <a:latin typeface="Helvetica Neue"/>
                        </a:defRPr>
                      </a:pPr>
                      <a:r>
                        <a:rPr lang="en-US" sz="950" b="1" dirty="0">
                          <a:solidFill>
                            <a:srgbClr val="334155"/>
                          </a:solidFill>
                          <a:latin typeface="Helvetica Neue" pitchFamily="34" charset="0"/>
                          <a:ea typeface="Arial" pitchFamily="34" charset="-122"/>
                          <a:cs typeface="Arial" pitchFamily="34" charset="-120"/>
                        </a:rPr>
                        <a:t>GDR/CTR giảm ở tập New driver (đổi logic tính điểm)</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c>
                  <a:txBody>
                    <a:bodyPr/>
                    <a:lstStyle/>
                    <a:p>
                      <a:pPr algn="l" indent="0" marL="0">
                        <a:buNone/>
                        <a:defRPr>
                          <a:latin typeface="Helvetica Neue"/>
                        </a:defRPr>
                      </a:pPr>
                      <a:r>
                        <a:rPr lang="en-US" sz="950" dirty="0">
                          <a:solidFill>
                            <a:srgbClr val="334155"/>
                          </a:solidFill>
                          <a:latin typeface="Helvetica Neue"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c>
                  <a:txBody>
                    <a:bodyPr/>
                    <a:lstStyle/>
                    <a:p>
                      <a:pPr algn="l" indent="0" marL="0">
                        <a:buNone/>
                        <a:defRPr>
                          <a:latin typeface="Helvetica Neue"/>
                        </a:defRPr>
                      </a:pPr>
                      <a:r>
                        <a:rPr lang="en-US" sz="950" dirty="0">
                          <a:solidFill>
                            <a:srgbClr val="334155"/>
                          </a:solidFill>
                          <a:latin typeface="Helvetica Neue"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c>
                  <a:txBody>
                    <a:bodyPr/>
                    <a:lstStyle/>
                    <a:p>
                      <a:pPr indent="0" marL="0" algn="l">
                        <a:buNone/>
                        <a:defRPr>
                          <a:latin typeface="Helvetica Neue"/>
                        </a:defRPr>
                      </a:pPr>
                      <a:r>
                        <a:rPr lang="en-US" sz="950" dirty="0">
                          <a:solidFill>
                            <a:srgbClr val="334155"/>
                          </a:solidFill>
                          <a:latin typeface="Helvetica Neue" pitchFamily="34" charset="0"/>
                          <a:ea typeface="Arial" pitchFamily="34" charset="-122"/>
                          <a:cs typeface="Arial" pitchFamily="34" charset="-120"/>
                        </a:rPr>
                        <a:t>QM / DE</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c>
                  <a:txBody>
                    <a:bodyPr/>
                    <a:lstStyle/>
                    <a:p>
                      <a:pPr indent="0" marL="0" algn="l">
                        <a:buNone/>
                        <a:defRPr>
                          <a:latin typeface="Helvetica Neue"/>
                        </a:defRPr>
                      </a:pPr>
                      <a:r>
                        <a:rPr lang="en-US" sz="900" dirty="0">
                          <a:solidFill>
                            <a:srgbClr val="334155"/>
                          </a:solidFill>
                          <a:latin typeface="Helvetica Neue" pitchFamily="34" charset="0"/>
                          <a:ea typeface="Arial" pitchFamily="34" charset="-122"/>
                          <a:cs typeface="Arial" pitchFamily="34" charset="-120"/>
                        </a:rPr>
                        <a:t>Đã retrain, ghi nhận cải thiện 2 tuần cuối tháng</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8FAFC"/>
                    </a:solidFill>
                  </a:tcPr>
                </a:tc>
              </a:tr>
            </a:tbl>
          </a:graphicData>
        </a:graphic>
      </p:graphicFrame>
      <p:sp>
        <p:nvSpPr>
          <p:cNvPr id="10" name="Shape 7"/>
          <p:cNvSpPr/>
          <p:nvPr/>
        </p:nvSpPr>
        <p:spPr>
          <a:xfrm>
            <a:off x="548640" y="5760720"/>
            <a:ext cx="11091672" cy="54864"/>
          </a:xfrm>
          <a:prstGeom prst="roundRect">
            <a:avLst>
              <a:gd name="adj" fmla="val 3000"/>
            </a:avLst>
          </a:prstGeom>
          <a:solidFill>
            <a:srgbClr val="FF7F32"/>
          </a:solidFill>
          <a:ln/>
        </p:spPr>
        <p:txBody>
          <a:bodyPr/>
          <a:p>
            <a:pPr>
              <a:defRPr>
                <a:latin typeface="Helvetica Neue"/>
              </a:defRPr>
            </a:pPr>
          </a:p>
        </p:txBody>
      </p:sp>
      <p:sp>
        <p:nvSpPr>
          <p:cNvPr id="11" name="Shape 8"/>
          <p:cNvSpPr/>
          <p:nvPr/>
        </p:nvSpPr>
        <p:spPr>
          <a:xfrm>
            <a:off x="548640" y="5815584"/>
            <a:ext cx="11091672" cy="53949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12" name="Text 9"/>
          <p:cNvSpPr/>
          <p:nvPr/>
        </p:nvSpPr>
        <p:spPr>
          <a:xfrm>
            <a:off x="777240" y="5861304"/>
            <a:ext cx="10607040" cy="411480"/>
          </a:xfrm>
          <a:prstGeom prst="roundRect">
            <a:avLst>
              <a:gd name="adj" fmla="val 3000"/>
            </a:avLst>
          </a:prstGeom>
          <a:noFill/>
          <a:ln/>
        </p:spPr>
        <p:txBody>
          <a:bodyPr wrap="square" lIns="0" tIns="0" rIns="0" bIns="0" rtlCol="0" anchor="t"/>
          <a:lstStyle/>
          <a:p>
            <a:pPr indent="0" marL="0">
              <a:buNone/>
              <a:defRPr>
                <a:latin typeface="Helvetica Neue"/>
              </a:defRPr>
            </a:pPr>
            <a:r>
              <a:rPr lang="en-US" sz="1000" b="1" dirty="0">
                <a:solidFill>
                  <a:srgbClr val="334155"/>
                </a:solidFill>
                <a:latin typeface="Helvetica Neue" pitchFamily="34" charset="0"/>
                <a:ea typeface="Arial" pitchFamily="34" charset="-122"/>
                <a:cs typeface="Arial" pitchFamily="34" charset="-120"/>
              </a:rPr>
              <a:t>Gap còn thiếu:  </a:t>
            </a:r>
            <a:pPr indent="0" marL="0">
              <a:buNone/>
            </a:pPr>
            <a:r>
              <a:rPr lang="en-US" sz="1000" dirty="0">
                <a:solidFill>
                  <a:srgbClr val="334155"/>
                </a:solidFill>
                <a:latin typeface="Helvetica Neue" pitchFamily="34" charset="0"/>
                <a:ea typeface="Arial" pitchFamily="34" charset="-122"/>
                <a:cs typeface="Arial" pitchFamily="34" charset="-120"/>
              </a:rPr>
              <a:t>Chưa có benchmark so với đối thủ ngành (Grab, Be...) cho các chỉ số retention/FT growth — đề xuất bổ sung ở kỳ báo cáo sau.</a:t>
            </a:r>
            <a:endParaRPr lang="en-US" sz="1000" dirty="0"/>
          </a:p>
        </p:txBody>
      </p:sp>
      <p:sp>
        <p:nvSpPr>
          <p:cNvPr id="13" name="Shape 10"/>
          <p:cNvSpPr/>
          <p:nvPr/>
        </p:nvSpPr>
        <p:spPr>
          <a:xfrm>
            <a:off x="548640" y="6510528"/>
            <a:ext cx="11091672" cy="0"/>
          </a:xfrm>
          <a:prstGeom prst="roundRect">
            <a:avLst>
              <a:gd name="adj" fmla="val 3000"/>
            </a:avLst>
          </a:prstGeom>
          <a:noFill/>
          <a:ln w="15875">
            <a:solidFill>
              <a:srgbClr val="FF7F32"/>
            </a:solidFill>
            <a:prstDash val="solid"/>
          </a:ln>
        </p:spPr>
        <p:txBody>
          <a:bodyPr/>
          <a:p>
            <a:pPr>
              <a:defRPr>
                <a:latin typeface="Helvetica Neue"/>
              </a:defRPr>
            </a:pPr>
          </a:p>
        </p:txBody>
      </p:sp>
      <p:sp>
        <p:nvSpPr>
          <p:cNvPr id="14" name="Text 11"/>
          <p:cNvSpPr/>
          <p:nvPr/>
        </p:nvSpPr>
        <p:spPr>
          <a:xfrm>
            <a:off x="548640" y="6565392"/>
            <a:ext cx="7315200" cy="256032"/>
          </a:xfrm>
          <a:prstGeom prst="roundRect">
            <a:avLst>
              <a:gd name="adj" fmla="val 3000"/>
            </a:avLst>
          </a:prstGeom>
          <a:noFill/>
          <a:ln/>
        </p:spPr>
        <p:txBody>
          <a:bodyPr wrap="square" lIns="0" tIns="0" rIns="0" bIns="0" rtlCol="0" anchor="ctr"/>
          <a:lstStyle/>
          <a:p>
            <a:pPr indent="0" marL="0">
              <a:buNone/>
              <a:defRPr>
                <a:latin typeface="Helvetica Neue"/>
              </a:defRPr>
            </a:pPr>
            <a:r>
              <a:rPr lang="en-US" sz="850" dirty="0">
                <a:solidFill>
                  <a:srgbClr val="334155"/>
                </a:solidFill>
                <a:latin typeface="Helvetica Neue" pitchFamily="34" charset="0"/>
                <a:ea typeface="Arial" pitchFamily="34" charset="-122"/>
                <a:cs typeface="Arial" pitchFamily="34" charset="-120"/>
              </a:rPr>
              <a:t>DM Monthly Report — Tháng 7/2026</a:t>
            </a:r>
            <a:endParaRPr lang="en-US" sz="850" dirty="0"/>
          </a:p>
        </p:txBody>
      </p:sp>
      <p:sp>
        <p:nvSpPr>
          <p:cNvPr id="15" name="Text 12"/>
          <p:cNvSpPr/>
          <p:nvPr/>
        </p:nvSpPr>
        <p:spPr>
          <a:xfrm>
            <a:off x="11155680" y="6565392"/>
            <a:ext cx="484632" cy="256032"/>
          </a:xfrm>
          <a:prstGeom prst="roundRect">
            <a:avLst>
              <a:gd name="adj" fmla="val 3000"/>
            </a:avLst>
          </a:prstGeom>
          <a:noFill/>
          <a:ln/>
        </p:spPr>
        <p:txBody>
          <a:bodyPr wrap="square" lIns="0" tIns="0" rIns="0" bIns="0" rtlCol="0" anchor="ctr"/>
          <a:lstStyle/>
          <a:p>
            <a:pPr algn="r" indent="0" marL="0">
              <a:buNone/>
              <a:defRPr>
                <a:latin typeface="Helvetica Neue"/>
              </a:defRPr>
            </a:pPr>
            <a:r>
              <a:rPr lang="en-US" sz="850" dirty="0">
                <a:solidFill>
                  <a:srgbClr val="334155"/>
                </a:solidFill>
                <a:latin typeface="Helvetica Neue" pitchFamily="34" charset="0"/>
                <a:ea typeface="Arial" pitchFamily="34" charset="-122"/>
                <a:cs typeface="Arial" pitchFamily="34" charset="-120"/>
              </a:rPr>
              <a:t>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950" b="1" dirty="0">
                <a:solidFill>
                  <a:srgbClr val="FF6600"/>
                </a:solidFill>
                <a:latin typeface="Helvetica Neue" pitchFamily="34" charset="0"/>
                <a:ea typeface="Arial" pitchFamily="34" charset="-122"/>
                <a:cs typeface="Arial" pitchFamily="34" charset="-120"/>
              </a:rPr>
              <a:t>QUYẾT ĐỊNH · TUẦN NÀY</a:t>
            </a:r>
            <a:endParaRPr lang="en-US" sz="950" dirty="0"/>
          </a:p>
        </p:txBody>
      </p:sp>
      <p:sp>
        <p:nvSpPr>
          <p:cNvPr id="3" name="Text 1"/>
          <p:cNvSpPr/>
          <p:nvPr/>
        </p:nvSpPr>
        <p:spPr>
          <a:xfrm>
            <a:off x="7772400" y="128016"/>
            <a:ext cx="3867912" cy="219456"/>
          </a:xfrm>
          <a:prstGeom prst="roundRect">
            <a:avLst>
              <a:gd name="adj" fmla="val 3000"/>
            </a:avLst>
          </a:prstGeom>
          <a:noFill/>
          <a:ln/>
        </p:spPr>
        <p:txBody>
          <a:bodyPr wrap="square" lIns="0" tIns="0" rIns="0" bIns="0" rtlCol="0" anchor="ctr"/>
          <a:lstStyle/>
          <a:p>
            <a:pPr algn="r" indent="0" marL="0">
              <a:buNone/>
              <a:defRPr>
                <a:latin typeface="Helvetica Neue"/>
              </a:defRPr>
            </a:pPr>
            <a:r>
              <a:rPr lang="en-US" sz="900" i="1" dirty="0">
                <a:solidFill>
                  <a:srgbClr val="64748B"/>
                </a:solidFill>
                <a:latin typeface="Helvetica Neue"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2400" b="1" dirty="0">
                <a:solidFill>
                  <a:srgbClr val="0F172A"/>
                </a:solidFill>
                <a:latin typeface="Helvetica Neue" pitchFamily="34" charset="0"/>
                <a:ea typeface="Arial" pitchFamily="34" charset="-122"/>
                <a:cs typeface="Arial" pitchFamily="34" charset="-120"/>
              </a:rPr>
              <a:t>3 quyết định cần chốt trong tuần này</a:t>
            </a:r>
            <a:endParaRPr lang="en-US" sz="2400" dirty="0"/>
          </a:p>
        </p:txBody>
      </p:sp>
      <p:sp>
        <p:nvSpPr>
          <p:cNvPr id="5" name="Shape 3"/>
          <p:cNvSpPr/>
          <p:nvPr/>
        </p:nvSpPr>
        <p:spPr>
          <a:xfrm>
            <a:off x="548640" y="1005840"/>
            <a:ext cx="1005840" cy="36576"/>
          </a:xfrm>
          <a:prstGeom prst="roundRect">
            <a:avLst>
              <a:gd name="adj" fmla="val 3000"/>
            </a:avLst>
          </a:prstGeom>
          <a:solidFill>
            <a:srgbClr val="FF7F32"/>
          </a:solidFill>
          <a:ln/>
        </p:spPr>
        <p:txBody>
          <a:bodyPr/>
          <a:p>
            <a:pPr>
              <a:defRPr>
                <a:latin typeface="Helvetica Neue"/>
              </a:defRPr>
            </a:pPr>
          </a:p>
        </p:txBody>
      </p:sp>
      <p:sp>
        <p:nvSpPr>
          <p:cNvPr id="6" name="Shape 4"/>
          <p:cNvSpPr/>
          <p:nvPr/>
        </p:nvSpPr>
        <p:spPr>
          <a:xfrm>
            <a:off x="548640" y="1133856"/>
            <a:ext cx="45720" cy="512064"/>
          </a:xfrm>
          <a:prstGeom prst="roundRect">
            <a:avLst>
              <a:gd name="adj" fmla="val 3000"/>
            </a:avLst>
          </a:prstGeom>
          <a:solidFill>
            <a:srgbClr val="FF7F32"/>
          </a:solidFill>
          <a:ln/>
        </p:spPr>
        <p:txBody>
          <a:bodyPr/>
          <a:p>
            <a:pPr>
              <a:defRPr>
                <a:latin typeface="Helvetica Neue"/>
              </a:defRPr>
            </a:pPr>
          </a:p>
        </p:txBody>
      </p:sp>
      <p:sp>
        <p:nvSpPr>
          <p:cNvPr id="7" name="Shape 5"/>
          <p:cNvSpPr/>
          <p:nvPr/>
        </p:nvSpPr>
        <p:spPr>
          <a:xfrm>
            <a:off x="594360" y="1133856"/>
            <a:ext cx="11045952" cy="512064"/>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8" name="Text 6"/>
          <p:cNvSpPr/>
          <p:nvPr/>
        </p:nvSpPr>
        <p:spPr>
          <a:xfrm>
            <a:off x="777240" y="1133856"/>
            <a:ext cx="10607040" cy="512064"/>
          </a:xfrm>
          <a:prstGeom prst="roundRect">
            <a:avLst>
              <a:gd name="adj" fmla="val 3000"/>
            </a:avLst>
          </a:prstGeom>
          <a:noFill/>
          <a:ln/>
        </p:spPr>
        <p:txBody>
          <a:bodyPr wrap="square" lIns="0" tIns="0" rIns="0" bIns="0" rtlCol="0" anchor="ctr"/>
          <a:lstStyle/>
          <a:p>
            <a:pPr indent="0" marL="0">
              <a:buNone/>
              <a:defRPr>
                <a:latin typeface="Helvetica Neue"/>
              </a:defRPr>
            </a:pPr>
            <a:r>
              <a:rPr lang="en-US" sz="1100" b="1" dirty="0">
                <a:solidFill>
                  <a:srgbClr val="FF6600"/>
                </a:solidFill>
                <a:latin typeface="Helvetica Neue" pitchFamily="34" charset="0"/>
                <a:ea typeface="Arial" pitchFamily="34" charset="-122"/>
                <a:cs typeface="Arial" pitchFamily="34" charset="-120"/>
              </a:rPr>
              <a:t>Key Takeaway  </a:t>
            </a:r>
            <a:pPr indent="0" marL="0">
              <a:buNone/>
            </a:pPr>
            <a:r>
              <a:rPr lang="en-US" sz="1100" dirty="0">
                <a:solidFill>
                  <a:srgbClr val="334155"/>
                </a:solidFill>
                <a:latin typeface="Helvetica Neue" pitchFamily="34" charset="0"/>
                <a:ea typeface="Arial" pitchFamily="34" charset="-122"/>
                <a:cs typeface="Arial" pitchFamily="34" charset="-120"/>
              </a:rPr>
              <a:t>Cả 3 quyết định đều ảnh hưởng trực tiếp tới scale MiniHub, target KPI zone, và ngân sách EV tháng 8 — chốt trễ đồng nghĩa mất momentum.</a:t>
            </a:r>
            <a:endParaRPr lang="en-US" sz="1100" dirty="0"/>
          </a:p>
        </p:txBody>
      </p:sp>
      <p:sp>
        <p:nvSpPr>
          <p:cNvPr id="9" name="Text 7"/>
          <p:cNvSpPr/>
          <p:nvPr/>
        </p:nvSpPr>
        <p:spPr>
          <a:xfrm>
            <a:off x="548640" y="1737360"/>
            <a:ext cx="11091672" cy="274320"/>
          </a:xfrm>
          <a:prstGeom prst="roundRect">
            <a:avLst>
              <a:gd name="adj" fmla="val 3000"/>
            </a:avLst>
          </a:prstGeom>
          <a:noFill/>
          <a:ln/>
        </p:spPr>
        <p:txBody>
          <a:bodyPr wrap="square" lIns="0" tIns="0" rIns="0" bIns="0" rtlCol="0" anchor="ctr"/>
          <a:lstStyle/>
          <a:p>
            <a:pPr indent="0" marL="0">
              <a:buNone/>
              <a:defRPr>
                <a:latin typeface="Helvetica Neue"/>
              </a:defRPr>
            </a:pPr>
            <a:r>
              <a:rPr lang="en-US" sz="1050" i="1" dirty="0">
                <a:solidFill>
                  <a:srgbClr val="334155"/>
                </a:solidFill>
                <a:latin typeface="Helvetica Neue" pitchFamily="34" charset="0"/>
                <a:ea typeface="Arial" pitchFamily="34" charset="-122"/>
                <a:cs typeface="Arial" pitchFamily="34" charset="-120"/>
              </a:rPr>
              <a:t>Vấn đề  +  Rủi ro nếu không quyết  =  Quyết định cần chốt ngay</a:t>
            </a:r>
            <a:endParaRPr lang="en-US" sz="1050" dirty="0"/>
          </a:p>
        </p:txBody>
      </p:sp>
      <p:sp>
        <p:nvSpPr>
          <p:cNvPr id="10" name="Shape 8"/>
          <p:cNvSpPr/>
          <p:nvPr/>
        </p:nvSpPr>
        <p:spPr>
          <a:xfrm>
            <a:off x="128016" y="2587752"/>
            <a:ext cx="310896" cy="310896"/>
          </a:xfrm>
          <a:prstGeom prst="roundRect">
            <a:avLst>
              <a:gd name="adj" fmla="val 3000"/>
            </a:avLst>
          </a:prstGeom>
          <a:solidFill>
            <a:srgbClr val="FF7F32"/>
          </a:solidFill>
          <a:ln/>
        </p:spPr>
        <p:txBody>
          <a:bodyPr/>
          <a:p>
            <a:pPr>
              <a:defRPr>
                <a:latin typeface="Helvetica Neue"/>
              </a:defRPr>
            </a:pPr>
          </a:p>
        </p:txBody>
      </p:sp>
      <p:sp>
        <p:nvSpPr>
          <p:cNvPr id="11" name="Text 9"/>
          <p:cNvSpPr/>
          <p:nvPr/>
        </p:nvSpPr>
        <p:spPr>
          <a:xfrm>
            <a:off x="128016" y="2587752"/>
            <a:ext cx="310896" cy="31089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1</a:t>
            </a:r>
            <a:endParaRPr lang="en-US" sz="1100" dirty="0"/>
          </a:p>
        </p:txBody>
      </p:sp>
      <p:sp>
        <p:nvSpPr>
          <p:cNvPr id="12" name="Shape 10"/>
          <p:cNvSpPr/>
          <p:nvPr/>
        </p:nvSpPr>
        <p:spPr>
          <a:xfrm>
            <a:off x="548640" y="2103120"/>
            <a:ext cx="3246120" cy="54864"/>
          </a:xfrm>
          <a:prstGeom prst="roundRect">
            <a:avLst>
              <a:gd name="adj" fmla="val 3000"/>
            </a:avLst>
          </a:prstGeom>
          <a:solidFill>
            <a:srgbClr val="6B6B6B"/>
          </a:solidFill>
          <a:ln/>
        </p:spPr>
        <p:txBody>
          <a:bodyPr/>
          <a:p>
            <a:pPr>
              <a:defRPr>
                <a:latin typeface="Helvetica Neue"/>
              </a:defRPr>
            </a:pPr>
          </a:p>
        </p:txBody>
      </p:sp>
      <p:sp>
        <p:nvSpPr>
          <p:cNvPr id="13" name="Shape 11"/>
          <p:cNvSpPr/>
          <p:nvPr/>
        </p:nvSpPr>
        <p:spPr>
          <a:xfrm>
            <a:off x="548640" y="2157984"/>
            <a:ext cx="3246120" cy="122529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14" name="Text 12"/>
          <p:cNvSpPr/>
          <p:nvPr/>
        </p:nvSpPr>
        <p:spPr>
          <a:xfrm>
            <a:off x="731520" y="2231136"/>
            <a:ext cx="2880360" cy="228600"/>
          </a:xfrm>
          <a:prstGeom prst="roundRect">
            <a:avLst>
              <a:gd name="adj" fmla="val 3000"/>
            </a:avLst>
          </a:prstGeom>
          <a:noFill/>
          <a:ln/>
        </p:spPr>
        <p:txBody>
          <a:bodyPr wrap="square" lIns="0" tIns="0" rIns="0" bIns="0" rtlCol="0" anchor="ctr"/>
          <a:lstStyle/>
          <a:p>
            <a:pPr indent="0" marL="0">
              <a:buNone/>
              <a:defRPr>
                <a:latin typeface="Helvetica Neue"/>
              </a:defRPr>
            </a:pPr>
            <a:r>
              <a:rPr lang="en-US" sz="950" b="1" dirty="0">
                <a:solidFill>
                  <a:srgbClr val="334155"/>
                </a:solidFill>
                <a:latin typeface="Helvetica Neue" pitchFamily="34" charset="0"/>
                <a:ea typeface="Arial" pitchFamily="34" charset="-122"/>
                <a:cs typeface="Arial" pitchFamily="34" charset="-120"/>
              </a:rPr>
              <a:t>VẤN ĐỀ</a:t>
            </a:r>
            <a:endParaRPr lang="en-US" sz="950" dirty="0"/>
          </a:p>
        </p:txBody>
      </p:sp>
      <p:sp>
        <p:nvSpPr>
          <p:cNvPr id="15" name="Text 13"/>
          <p:cNvSpPr/>
          <p:nvPr/>
        </p:nvSpPr>
        <p:spPr>
          <a:xfrm>
            <a:off x="731520" y="2487168"/>
            <a:ext cx="2880360" cy="777240"/>
          </a:xfrm>
          <a:prstGeom prst="roundRect">
            <a:avLst>
              <a:gd name="adj" fmla="val 3000"/>
            </a:avLst>
          </a:prstGeom>
          <a:noFill/>
          <a:ln/>
        </p:spPr>
        <p:txBody>
          <a:bodyPr wrap="square" lIns="0" tIns="0" rIns="0" bIns="0" rtlCol="0" anchor="t"/>
          <a:lstStyle/>
          <a:p>
            <a:pPr indent="0" marL="0">
              <a:buNone/>
              <a:defRPr>
                <a:latin typeface="Helvetica Neue"/>
              </a:defRPr>
            </a:pPr>
            <a:r>
              <a:rPr lang="en-US" sz="1000" dirty="0">
                <a:solidFill>
                  <a:srgbClr val="334155"/>
                </a:solidFill>
                <a:latin typeface="Helvetica Neue" pitchFamily="34" charset="0"/>
                <a:ea typeface="Arial" pitchFamily="34" charset="-122"/>
                <a:cs typeface="Arial" pitchFamily="34" charset="-120"/>
              </a:rPr>
              <a:t>Retention MiniHub giảm ở HAN, chưa rõ ROI mô hình Leader</a:t>
            </a:r>
            <a:endParaRPr lang="en-US" sz="1000" dirty="0"/>
          </a:p>
        </p:txBody>
      </p:sp>
      <p:sp>
        <p:nvSpPr>
          <p:cNvPr id="16" name="Text 14"/>
          <p:cNvSpPr/>
          <p:nvPr/>
        </p:nvSpPr>
        <p:spPr>
          <a:xfrm>
            <a:off x="3794760" y="2542032"/>
            <a:ext cx="292608" cy="40233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2000" b="1" dirty="0">
                <a:solidFill>
                  <a:srgbClr val="334155"/>
                </a:solidFill>
                <a:latin typeface="Helvetica Neue" pitchFamily="34" charset="0"/>
                <a:ea typeface="Arial" pitchFamily="34" charset="-122"/>
                <a:cs typeface="Arial" pitchFamily="34" charset="-120"/>
              </a:rPr>
              <a:t>+</a:t>
            </a:r>
            <a:endParaRPr lang="en-US" sz="2000" dirty="0"/>
          </a:p>
        </p:txBody>
      </p:sp>
      <p:sp>
        <p:nvSpPr>
          <p:cNvPr id="17" name="Shape 15"/>
          <p:cNvSpPr/>
          <p:nvPr/>
        </p:nvSpPr>
        <p:spPr>
          <a:xfrm>
            <a:off x="4361688" y="2103120"/>
            <a:ext cx="3246120" cy="54864"/>
          </a:xfrm>
          <a:prstGeom prst="roundRect">
            <a:avLst>
              <a:gd name="adj" fmla="val 3000"/>
            </a:avLst>
          </a:prstGeom>
          <a:solidFill>
            <a:srgbClr val="DC2626"/>
          </a:solidFill>
          <a:ln>
            <a:noFill/>
          </a:ln>
        </p:spPr>
        <p:txBody>
          <a:bodyPr/>
          <a:p>
            <a:pPr>
              <a:defRPr>
                <a:latin typeface="Helvetica Neue"/>
              </a:defRPr>
            </a:pPr>
          </a:p>
        </p:txBody>
      </p:sp>
      <p:sp>
        <p:nvSpPr>
          <p:cNvPr id="18" name="Shape 16"/>
          <p:cNvSpPr/>
          <p:nvPr/>
        </p:nvSpPr>
        <p:spPr>
          <a:xfrm>
            <a:off x="4361688" y="2157984"/>
            <a:ext cx="3246120" cy="122529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19" name="Text 17"/>
          <p:cNvSpPr/>
          <p:nvPr/>
        </p:nvSpPr>
        <p:spPr>
          <a:xfrm>
            <a:off x="4544568" y="2231136"/>
            <a:ext cx="2880360" cy="228600"/>
          </a:xfrm>
          <a:prstGeom prst="roundRect">
            <a:avLst>
              <a:gd name="adj" fmla="val 3000"/>
            </a:avLst>
          </a:prstGeom>
          <a:noFill/>
          <a:ln/>
        </p:spPr>
        <p:txBody>
          <a:bodyPr wrap="square" lIns="0" tIns="0" rIns="0" bIns="0" rtlCol="0" anchor="ctr"/>
          <a:lstStyle/>
          <a:p>
            <a:pPr indent="0" marL="0">
              <a:buNone/>
              <a:defRPr>
                <a:latin typeface="Helvetica Neue"/>
              </a:defRPr>
            </a:pPr>
            <a:r>
              <a:rPr lang="en-US" sz="950" b="1" dirty="0">
                <a:solidFill>
                  <a:srgbClr val="E5342E"/>
                </a:solidFill>
                <a:latin typeface="Helvetica Neue" pitchFamily="34" charset="0"/>
                <a:ea typeface="Arial" pitchFamily="34" charset="-122"/>
                <a:cs typeface="Arial" pitchFamily="34" charset="-120"/>
              </a:rPr>
              <a:t>RỦI RO NẾU KHÔNG QUYẾT</a:t>
            </a:r>
            <a:endParaRPr lang="en-US" sz="950" dirty="0"/>
          </a:p>
        </p:txBody>
      </p:sp>
      <p:sp>
        <p:nvSpPr>
          <p:cNvPr id="20" name="Text 18"/>
          <p:cNvSpPr/>
          <p:nvPr/>
        </p:nvSpPr>
        <p:spPr>
          <a:xfrm>
            <a:off x="4544568" y="2487168"/>
            <a:ext cx="2880360" cy="777240"/>
          </a:xfrm>
          <a:prstGeom prst="roundRect">
            <a:avLst>
              <a:gd name="adj" fmla="val 3000"/>
            </a:avLst>
          </a:prstGeom>
          <a:noFill/>
          <a:ln/>
        </p:spPr>
        <p:txBody>
          <a:bodyPr wrap="square" lIns="0" tIns="0" rIns="0" bIns="0" rtlCol="0" anchor="t"/>
          <a:lstStyle/>
          <a:p>
            <a:pPr indent="0" marL="0">
              <a:buNone/>
              <a:defRPr>
                <a:latin typeface="Helvetica Neue"/>
              </a:defRPr>
            </a:pPr>
            <a:r>
              <a:rPr lang="en-US" sz="1000" dirty="0">
                <a:solidFill>
                  <a:srgbClr val="334155"/>
                </a:solidFill>
                <a:latin typeface="Helvetica Neue" pitchFamily="34" charset="0"/>
                <a:ea typeface="Arial" pitchFamily="34" charset="-122"/>
                <a:cs typeface="Arial" pitchFamily="34" charset="-120"/>
              </a:rPr>
              <a:t>Scale tiếp mà không rõ hiệu quả tài chính, hoặc lỡ momentum nếu trì hoãn quá lâu</a:t>
            </a:r>
            <a:endParaRPr lang="en-US" sz="1000" dirty="0"/>
          </a:p>
        </p:txBody>
      </p:sp>
      <p:sp>
        <p:nvSpPr>
          <p:cNvPr id="21" name="Text 19"/>
          <p:cNvSpPr/>
          <p:nvPr/>
        </p:nvSpPr>
        <p:spPr>
          <a:xfrm>
            <a:off x="7607808" y="2542032"/>
            <a:ext cx="292608" cy="40233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2000" b="1" dirty="0">
                <a:solidFill>
                  <a:srgbClr val="334155"/>
                </a:solidFill>
                <a:latin typeface="Helvetica Neue" pitchFamily="34" charset="0"/>
                <a:ea typeface="Arial" pitchFamily="34" charset="-122"/>
                <a:cs typeface="Arial" pitchFamily="34" charset="-120"/>
              </a:rPr>
              <a:t>=</a:t>
            </a:r>
            <a:endParaRPr lang="en-US" sz="2000" dirty="0"/>
          </a:p>
        </p:txBody>
      </p:sp>
      <p:sp>
        <p:nvSpPr>
          <p:cNvPr id="22" name="Shape 20"/>
          <p:cNvSpPr/>
          <p:nvPr/>
        </p:nvSpPr>
        <p:spPr>
          <a:xfrm>
            <a:off x="8174736" y="2103120"/>
            <a:ext cx="3246120" cy="54864"/>
          </a:xfrm>
          <a:prstGeom prst="roundRect">
            <a:avLst>
              <a:gd name="adj" fmla="val 3000"/>
            </a:avLst>
          </a:prstGeom>
          <a:solidFill>
            <a:srgbClr val="FF7F32"/>
          </a:solidFill>
          <a:ln/>
        </p:spPr>
        <p:txBody>
          <a:bodyPr/>
          <a:p>
            <a:pPr>
              <a:defRPr>
                <a:latin typeface="Helvetica Neue"/>
              </a:defRPr>
            </a:pPr>
          </a:p>
        </p:txBody>
      </p:sp>
      <p:sp>
        <p:nvSpPr>
          <p:cNvPr id="23" name="Shape 21"/>
          <p:cNvSpPr/>
          <p:nvPr/>
        </p:nvSpPr>
        <p:spPr>
          <a:xfrm>
            <a:off x="8174736" y="2157984"/>
            <a:ext cx="3246120" cy="122529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24" name="Text 22"/>
          <p:cNvSpPr/>
          <p:nvPr/>
        </p:nvSpPr>
        <p:spPr>
          <a:xfrm>
            <a:off x="8357616" y="2231136"/>
            <a:ext cx="2880360" cy="228600"/>
          </a:xfrm>
          <a:prstGeom prst="roundRect">
            <a:avLst>
              <a:gd name="adj" fmla="val 3000"/>
            </a:avLst>
          </a:prstGeom>
          <a:noFill/>
          <a:ln/>
        </p:spPr>
        <p:txBody>
          <a:bodyPr wrap="square" lIns="0" tIns="0" rIns="0" bIns="0" rtlCol="0" anchor="ctr"/>
          <a:lstStyle/>
          <a:p>
            <a:pPr indent="0" marL="0">
              <a:buNone/>
              <a:defRPr>
                <a:latin typeface="Helvetica Neue"/>
              </a:defRPr>
            </a:pPr>
            <a:r>
              <a:rPr lang="en-US" sz="950" b="1" dirty="0">
                <a:solidFill>
                  <a:srgbClr val="8A8F99"/>
                </a:solidFill>
                <a:latin typeface="Helvetica Neue" pitchFamily="34" charset="0"/>
                <a:ea typeface="Arial" pitchFamily="34" charset="-122"/>
                <a:cs typeface="Arial" pitchFamily="34" charset="-120"/>
              </a:rPr>
              <a:t>QUYẾT ĐỊNH</a:t>
            </a:r>
            <a:endParaRPr lang="en-US" sz="950" dirty="0"/>
          </a:p>
        </p:txBody>
      </p:sp>
      <p:sp>
        <p:nvSpPr>
          <p:cNvPr id="25" name="Text 23"/>
          <p:cNvSpPr/>
          <p:nvPr/>
        </p:nvSpPr>
        <p:spPr>
          <a:xfrm>
            <a:off x="8357616" y="2487168"/>
            <a:ext cx="2880360" cy="777240"/>
          </a:xfrm>
          <a:prstGeom prst="roundRect">
            <a:avLst>
              <a:gd name="adj" fmla="val 3000"/>
            </a:avLst>
          </a:prstGeom>
          <a:noFill/>
          <a:ln/>
        </p:spPr>
        <p:txBody>
          <a:bodyPr wrap="square" lIns="0" tIns="0" rIns="0" bIns="0" rtlCol="0" anchor="t"/>
          <a:lstStyle/>
          <a:p>
            <a:pPr indent="0" marL="0">
              <a:buNone/>
              <a:defRPr>
                <a:latin typeface="Helvetica Neue"/>
              </a:defRPr>
            </a:pPr>
            <a:r>
              <a:rPr lang="en-US" sz="1000" b="1" dirty="0">
                <a:solidFill>
                  <a:srgbClr val="334155"/>
                </a:solidFill>
                <a:latin typeface="Helvetica Neue" pitchFamily="34" charset="0"/>
                <a:ea typeface="Arial" pitchFamily="34" charset="-122"/>
                <a:cs typeface="Arial" pitchFamily="34" charset="-120"/>
              </a:rPr>
              <a:t>Duyệt đánh giá PnL trước 15/8, chốt go/no-go ngay sau đó</a:t>
            </a:r>
            <a:endParaRPr lang="en-US" sz="1000" dirty="0"/>
          </a:p>
        </p:txBody>
      </p:sp>
      <p:sp>
        <p:nvSpPr>
          <p:cNvPr id="26" name="Shape 24"/>
          <p:cNvSpPr/>
          <p:nvPr/>
        </p:nvSpPr>
        <p:spPr>
          <a:xfrm>
            <a:off x="128016" y="4005072"/>
            <a:ext cx="310896" cy="310896"/>
          </a:xfrm>
          <a:prstGeom prst="roundRect">
            <a:avLst>
              <a:gd name="adj" fmla="val 3000"/>
            </a:avLst>
          </a:prstGeom>
          <a:solidFill>
            <a:srgbClr val="FF7F32"/>
          </a:solidFill>
          <a:ln/>
        </p:spPr>
        <p:txBody>
          <a:bodyPr/>
          <a:p>
            <a:pPr>
              <a:defRPr>
                <a:latin typeface="Helvetica Neue"/>
              </a:defRPr>
            </a:pPr>
          </a:p>
        </p:txBody>
      </p:sp>
      <p:sp>
        <p:nvSpPr>
          <p:cNvPr id="27" name="Text 25"/>
          <p:cNvSpPr/>
          <p:nvPr/>
        </p:nvSpPr>
        <p:spPr>
          <a:xfrm>
            <a:off x="128016" y="4005072"/>
            <a:ext cx="310896" cy="31089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2</a:t>
            </a:r>
            <a:endParaRPr lang="en-US" sz="1100" dirty="0"/>
          </a:p>
        </p:txBody>
      </p:sp>
      <p:sp>
        <p:nvSpPr>
          <p:cNvPr id="28" name="Shape 26"/>
          <p:cNvSpPr/>
          <p:nvPr/>
        </p:nvSpPr>
        <p:spPr>
          <a:xfrm>
            <a:off x="548640" y="3520440"/>
            <a:ext cx="3246120" cy="54864"/>
          </a:xfrm>
          <a:prstGeom prst="roundRect">
            <a:avLst>
              <a:gd name="adj" fmla="val 3000"/>
            </a:avLst>
          </a:prstGeom>
          <a:solidFill>
            <a:srgbClr val="6B6B6B"/>
          </a:solidFill>
          <a:ln/>
        </p:spPr>
        <p:txBody>
          <a:bodyPr/>
          <a:p>
            <a:pPr>
              <a:defRPr>
                <a:latin typeface="Helvetica Neue"/>
              </a:defRPr>
            </a:pPr>
          </a:p>
        </p:txBody>
      </p:sp>
      <p:sp>
        <p:nvSpPr>
          <p:cNvPr id="29" name="Shape 27"/>
          <p:cNvSpPr/>
          <p:nvPr/>
        </p:nvSpPr>
        <p:spPr>
          <a:xfrm>
            <a:off x="548640" y="3575304"/>
            <a:ext cx="3246120" cy="122529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30" name="Text 28"/>
          <p:cNvSpPr/>
          <p:nvPr/>
        </p:nvSpPr>
        <p:spPr>
          <a:xfrm>
            <a:off x="731520" y="3648456"/>
            <a:ext cx="2880360" cy="228600"/>
          </a:xfrm>
          <a:prstGeom prst="roundRect">
            <a:avLst>
              <a:gd name="adj" fmla="val 3000"/>
            </a:avLst>
          </a:prstGeom>
          <a:noFill/>
          <a:ln/>
        </p:spPr>
        <p:txBody>
          <a:bodyPr wrap="square" lIns="0" tIns="0" rIns="0" bIns="0" rtlCol="0" anchor="ctr"/>
          <a:lstStyle/>
          <a:p>
            <a:pPr indent="0" marL="0">
              <a:buNone/>
              <a:defRPr>
                <a:latin typeface="Helvetica Neue"/>
              </a:defRPr>
            </a:pPr>
            <a:r>
              <a:rPr lang="en-US" sz="950" b="1" dirty="0">
                <a:solidFill>
                  <a:srgbClr val="334155"/>
                </a:solidFill>
                <a:latin typeface="Helvetica Neue" pitchFamily="34" charset="0"/>
                <a:ea typeface="Arial" pitchFamily="34" charset="-122"/>
                <a:cs typeface="Arial" pitchFamily="34" charset="-120"/>
              </a:rPr>
              <a:t>VẤN ĐỀ</a:t>
            </a:r>
            <a:endParaRPr lang="en-US" sz="950" dirty="0"/>
          </a:p>
        </p:txBody>
      </p:sp>
      <p:sp>
        <p:nvSpPr>
          <p:cNvPr id="31" name="Text 29"/>
          <p:cNvSpPr/>
          <p:nvPr/>
        </p:nvSpPr>
        <p:spPr>
          <a:xfrm>
            <a:off x="731520" y="3904488"/>
            <a:ext cx="2880360" cy="777240"/>
          </a:xfrm>
          <a:prstGeom prst="roundRect">
            <a:avLst>
              <a:gd name="adj" fmla="val 3000"/>
            </a:avLst>
          </a:prstGeom>
          <a:noFill/>
          <a:ln/>
        </p:spPr>
        <p:txBody>
          <a:bodyPr wrap="square" lIns="0" tIns="0" rIns="0" bIns="0" rtlCol="0" anchor="t"/>
          <a:lstStyle/>
          <a:p>
            <a:pPr indent="0" marL="0">
              <a:buNone/>
              <a:defRPr>
                <a:latin typeface="Helvetica Neue"/>
              </a:defRPr>
            </a:pPr>
            <a:r>
              <a:rPr lang="en-US" sz="1000" dirty="0">
                <a:solidFill>
                  <a:srgbClr val="334155"/>
                </a:solidFill>
                <a:latin typeface="Helvetica Neue" pitchFamily="34" charset="0"/>
                <a:ea typeface="Arial" pitchFamily="34" charset="-122"/>
                <a:cs typeface="Arial" pitchFamily="34" charset="-120"/>
              </a:rPr>
              <a:t>Target KPI đang tính theo zone cũ, không còn khớp mô hình mới</a:t>
            </a:r>
            <a:endParaRPr lang="en-US" sz="1000" dirty="0"/>
          </a:p>
        </p:txBody>
      </p:sp>
      <p:sp>
        <p:nvSpPr>
          <p:cNvPr id="32" name="Text 30"/>
          <p:cNvSpPr/>
          <p:nvPr/>
        </p:nvSpPr>
        <p:spPr>
          <a:xfrm>
            <a:off x="3794760" y="3959352"/>
            <a:ext cx="292608" cy="40233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2000" b="1" dirty="0">
                <a:solidFill>
                  <a:srgbClr val="334155"/>
                </a:solidFill>
                <a:latin typeface="Helvetica Neue" pitchFamily="34" charset="0"/>
                <a:ea typeface="Arial" pitchFamily="34" charset="-122"/>
                <a:cs typeface="Arial" pitchFamily="34" charset="-120"/>
              </a:rPr>
              <a:t>+</a:t>
            </a:r>
            <a:endParaRPr lang="en-US" sz="2000" dirty="0"/>
          </a:p>
        </p:txBody>
      </p:sp>
      <p:sp>
        <p:nvSpPr>
          <p:cNvPr id="33" name="Shape 31"/>
          <p:cNvSpPr/>
          <p:nvPr/>
        </p:nvSpPr>
        <p:spPr>
          <a:xfrm>
            <a:off x="4361688" y="3520440"/>
            <a:ext cx="3246120" cy="54864"/>
          </a:xfrm>
          <a:prstGeom prst="roundRect">
            <a:avLst>
              <a:gd name="adj" fmla="val 3000"/>
            </a:avLst>
          </a:prstGeom>
          <a:solidFill>
            <a:srgbClr val="DC2626"/>
          </a:solidFill>
          <a:ln>
            <a:noFill/>
          </a:ln>
        </p:spPr>
        <p:txBody>
          <a:bodyPr/>
          <a:p>
            <a:pPr>
              <a:defRPr>
                <a:latin typeface="Helvetica Neue"/>
              </a:defRPr>
            </a:pPr>
          </a:p>
        </p:txBody>
      </p:sp>
      <p:sp>
        <p:nvSpPr>
          <p:cNvPr id="34" name="Shape 32"/>
          <p:cNvSpPr/>
          <p:nvPr/>
        </p:nvSpPr>
        <p:spPr>
          <a:xfrm>
            <a:off x="4361688" y="3575304"/>
            <a:ext cx="3246120" cy="122529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35" name="Text 33"/>
          <p:cNvSpPr/>
          <p:nvPr/>
        </p:nvSpPr>
        <p:spPr>
          <a:xfrm>
            <a:off x="4544568" y="3648456"/>
            <a:ext cx="2880360" cy="228600"/>
          </a:xfrm>
          <a:prstGeom prst="roundRect">
            <a:avLst>
              <a:gd name="adj" fmla="val 3000"/>
            </a:avLst>
          </a:prstGeom>
          <a:noFill/>
          <a:ln/>
        </p:spPr>
        <p:txBody>
          <a:bodyPr wrap="square" lIns="0" tIns="0" rIns="0" bIns="0" rtlCol="0" anchor="ctr"/>
          <a:lstStyle/>
          <a:p>
            <a:pPr indent="0" marL="0">
              <a:buNone/>
              <a:defRPr>
                <a:latin typeface="Helvetica Neue"/>
              </a:defRPr>
            </a:pPr>
            <a:r>
              <a:rPr lang="en-US" sz="950" b="1" dirty="0">
                <a:solidFill>
                  <a:srgbClr val="E5342E"/>
                </a:solidFill>
                <a:latin typeface="Helvetica Neue" pitchFamily="34" charset="0"/>
                <a:ea typeface="Arial" pitchFamily="34" charset="-122"/>
                <a:cs typeface="Arial" pitchFamily="34" charset="-120"/>
              </a:rPr>
              <a:t>RỦI RO NẾU KHÔNG QUYẾT</a:t>
            </a:r>
            <a:endParaRPr lang="en-US" sz="950" dirty="0"/>
          </a:p>
        </p:txBody>
      </p:sp>
      <p:sp>
        <p:nvSpPr>
          <p:cNvPr id="36" name="Text 34"/>
          <p:cNvSpPr/>
          <p:nvPr/>
        </p:nvSpPr>
        <p:spPr>
          <a:xfrm>
            <a:off x="4544568" y="3904488"/>
            <a:ext cx="2880360" cy="777240"/>
          </a:xfrm>
          <a:prstGeom prst="roundRect">
            <a:avLst>
              <a:gd name="adj" fmla="val 3000"/>
            </a:avLst>
          </a:prstGeom>
          <a:noFill/>
          <a:ln/>
        </p:spPr>
        <p:txBody>
          <a:bodyPr wrap="square" lIns="0" tIns="0" rIns="0" bIns="0" rtlCol="0" anchor="t"/>
          <a:lstStyle/>
          <a:p>
            <a:pPr indent="0" marL="0">
              <a:buNone/>
              <a:defRPr>
                <a:latin typeface="Helvetica Neue"/>
              </a:defRPr>
            </a:pPr>
            <a:r>
              <a:rPr lang="en-US" sz="1000" dirty="0">
                <a:solidFill>
                  <a:srgbClr val="334155"/>
                </a:solidFill>
                <a:latin typeface="Helvetica Neue" pitchFamily="34" charset="0"/>
                <a:ea typeface="Arial" pitchFamily="34" charset="-122"/>
                <a:cs typeface="Arial" pitchFamily="34" charset="-120"/>
              </a:rPr>
              <a:t>Đánh giá sai hiệu suất, demotivate team nếu giữ nguyên target cũ</a:t>
            </a:r>
            <a:endParaRPr lang="en-US" sz="1000" dirty="0"/>
          </a:p>
        </p:txBody>
      </p:sp>
      <p:sp>
        <p:nvSpPr>
          <p:cNvPr id="37" name="Text 35"/>
          <p:cNvSpPr/>
          <p:nvPr/>
        </p:nvSpPr>
        <p:spPr>
          <a:xfrm>
            <a:off x="7607808" y="3959352"/>
            <a:ext cx="292608" cy="40233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2000" b="1" dirty="0">
                <a:solidFill>
                  <a:srgbClr val="334155"/>
                </a:solidFill>
                <a:latin typeface="Helvetica Neue" pitchFamily="34" charset="0"/>
                <a:ea typeface="Arial" pitchFamily="34" charset="-122"/>
                <a:cs typeface="Arial" pitchFamily="34" charset="-120"/>
              </a:rPr>
              <a:t>=</a:t>
            </a:r>
            <a:endParaRPr lang="en-US" sz="2000" dirty="0"/>
          </a:p>
        </p:txBody>
      </p:sp>
      <p:sp>
        <p:nvSpPr>
          <p:cNvPr id="38" name="Shape 36"/>
          <p:cNvSpPr/>
          <p:nvPr/>
        </p:nvSpPr>
        <p:spPr>
          <a:xfrm>
            <a:off x="8174736" y="3520440"/>
            <a:ext cx="3246120" cy="54864"/>
          </a:xfrm>
          <a:prstGeom prst="roundRect">
            <a:avLst>
              <a:gd name="adj" fmla="val 3000"/>
            </a:avLst>
          </a:prstGeom>
          <a:solidFill>
            <a:srgbClr val="FF7F32"/>
          </a:solidFill>
          <a:ln/>
        </p:spPr>
        <p:txBody>
          <a:bodyPr/>
          <a:p>
            <a:pPr>
              <a:defRPr>
                <a:latin typeface="Helvetica Neue"/>
              </a:defRPr>
            </a:pPr>
          </a:p>
        </p:txBody>
      </p:sp>
      <p:sp>
        <p:nvSpPr>
          <p:cNvPr id="39" name="Shape 37"/>
          <p:cNvSpPr/>
          <p:nvPr/>
        </p:nvSpPr>
        <p:spPr>
          <a:xfrm>
            <a:off x="8174736" y="3575304"/>
            <a:ext cx="3246120" cy="122529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40" name="Text 38"/>
          <p:cNvSpPr/>
          <p:nvPr/>
        </p:nvSpPr>
        <p:spPr>
          <a:xfrm>
            <a:off x="8357616" y="3648456"/>
            <a:ext cx="2880360" cy="228600"/>
          </a:xfrm>
          <a:prstGeom prst="roundRect">
            <a:avLst>
              <a:gd name="adj" fmla="val 3000"/>
            </a:avLst>
          </a:prstGeom>
          <a:noFill/>
          <a:ln/>
        </p:spPr>
        <p:txBody>
          <a:bodyPr wrap="square" lIns="0" tIns="0" rIns="0" bIns="0" rtlCol="0" anchor="ctr"/>
          <a:lstStyle/>
          <a:p>
            <a:pPr indent="0" marL="0">
              <a:buNone/>
              <a:defRPr>
                <a:latin typeface="Helvetica Neue"/>
              </a:defRPr>
            </a:pPr>
            <a:r>
              <a:rPr lang="en-US" sz="950" b="1" dirty="0">
                <a:solidFill>
                  <a:srgbClr val="8A8F99"/>
                </a:solidFill>
                <a:latin typeface="Helvetica Neue" pitchFamily="34" charset="0"/>
                <a:ea typeface="Arial" pitchFamily="34" charset="-122"/>
                <a:cs typeface="Arial" pitchFamily="34" charset="-120"/>
              </a:rPr>
              <a:t>QUYẾT ĐỊNH</a:t>
            </a:r>
            <a:endParaRPr lang="en-US" sz="950" dirty="0"/>
          </a:p>
        </p:txBody>
      </p:sp>
      <p:sp>
        <p:nvSpPr>
          <p:cNvPr id="41" name="Text 39"/>
          <p:cNvSpPr/>
          <p:nvPr/>
        </p:nvSpPr>
        <p:spPr>
          <a:xfrm>
            <a:off x="8357616" y="3904488"/>
            <a:ext cx="2880360" cy="777240"/>
          </a:xfrm>
          <a:prstGeom prst="roundRect">
            <a:avLst>
              <a:gd name="adj" fmla="val 3000"/>
            </a:avLst>
          </a:prstGeom>
          <a:noFill/>
          <a:ln/>
        </p:spPr>
        <p:txBody>
          <a:bodyPr wrap="square" lIns="0" tIns="0" rIns="0" bIns="0" rtlCol="0" anchor="t"/>
          <a:lstStyle/>
          <a:p>
            <a:pPr indent="0" marL="0">
              <a:buNone/>
              <a:defRPr>
                <a:latin typeface="Helvetica Neue"/>
              </a:defRPr>
            </a:pPr>
            <a:r>
              <a:rPr lang="en-US" sz="1000" b="1" dirty="0">
                <a:solidFill>
                  <a:srgbClr val="334155"/>
                </a:solidFill>
                <a:latin typeface="Helvetica Neue" pitchFamily="34" charset="0"/>
                <a:ea typeface="Arial" pitchFamily="34" charset="-122"/>
                <a:cs typeface="Arial" pitchFamily="34" charset="-120"/>
              </a:rPr>
              <a:t>Điều chỉnh target theo baseline mới ngay tháng 8</a:t>
            </a:r>
            <a:endParaRPr lang="en-US" sz="1000" dirty="0"/>
          </a:p>
        </p:txBody>
      </p:sp>
      <p:sp>
        <p:nvSpPr>
          <p:cNvPr id="42" name="Shape 40"/>
          <p:cNvSpPr/>
          <p:nvPr/>
        </p:nvSpPr>
        <p:spPr>
          <a:xfrm>
            <a:off x="128016" y="5422392"/>
            <a:ext cx="310896" cy="310896"/>
          </a:xfrm>
          <a:prstGeom prst="roundRect">
            <a:avLst>
              <a:gd name="adj" fmla="val 3000"/>
            </a:avLst>
          </a:prstGeom>
          <a:solidFill>
            <a:srgbClr val="FF7F32"/>
          </a:solidFill>
          <a:ln/>
        </p:spPr>
        <p:txBody>
          <a:bodyPr/>
          <a:p>
            <a:pPr>
              <a:defRPr>
                <a:latin typeface="Helvetica Neue"/>
              </a:defRPr>
            </a:pPr>
          </a:p>
        </p:txBody>
      </p:sp>
      <p:sp>
        <p:nvSpPr>
          <p:cNvPr id="43" name="Text 41"/>
          <p:cNvSpPr/>
          <p:nvPr/>
        </p:nvSpPr>
        <p:spPr>
          <a:xfrm>
            <a:off x="128016" y="5422392"/>
            <a:ext cx="310896" cy="31089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3</a:t>
            </a:r>
            <a:endParaRPr lang="en-US" sz="1100" dirty="0"/>
          </a:p>
        </p:txBody>
      </p:sp>
      <p:sp>
        <p:nvSpPr>
          <p:cNvPr id="44" name="Shape 42"/>
          <p:cNvSpPr/>
          <p:nvPr/>
        </p:nvSpPr>
        <p:spPr>
          <a:xfrm>
            <a:off x="548640" y="4937760"/>
            <a:ext cx="3246120" cy="54864"/>
          </a:xfrm>
          <a:prstGeom prst="roundRect">
            <a:avLst>
              <a:gd name="adj" fmla="val 3000"/>
            </a:avLst>
          </a:prstGeom>
          <a:solidFill>
            <a:srgbClr val="6B6B6B"/>
          </a:solidFill>
          <a:ln/>
        </p:spPr>
        <p:txBody>
          <a:bodyPr/>
          <a:p>
            <a:pPr>
              <a:defRPr>
                <a:latin typeface="Helvetica Neue"/>
              </a:defRPr>
            </a:pPr>
          </a:p>
        </p:txBody>
      </p:sp>
      <p:sp>
        <p:nvSpPr>
          <p:cNvPr id="45" name="Shape 43"/>
          <p:cNvSpPr/>
          <p:nvPr/>
        </p:nvSpPr>
        <p:spPr>
          <a:xfrm>
            <a:off x="548640" y="4992624"/>
            <a:ext cx="3246120" cy="122529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46" name="Text 44"/>
          <p:cNvSpPr/>
          <p:nvPr/>
        </p:nvSpPr>
        <p:spPr>
          <a:xfrm>
            <a:off x="731520" y="5065776"/>
            <a:ext cx="2880360" cy="228600"/>
          </a:xfrm>
          <a:prstGeom prst="roundRect">
            <a:avLst>
              <a:gd name="adj" fmla="val 3000"/>
            </a:avLst>
          </a:prstGeom>
          <a:noFill/>
          <a:ln/>
        </p:spPr>
        <p:txBody>
          <a:bodyPr wrap="square" lIns="0" tIns="0" rIns="0" bIns="0" rtlCol="0" anchor="ctr"/>
          <a:lstStyle/>
          <a:p>
            <a:pPr indent="0" marL="0">
              <a:buNone/>
              <a:defRPr>
                <a:latin typeface="Helvetica Neue"/>
              </a:defRPr>
            </a:pPr>
            <a:r>
              <a:rPr lang="en-US" sz="950" b="1" dirty="0">
                <a:solidFill>
                  <a:srgbClr val="334155"/>
                </a:solidFill>
                <a:latin typeface="Helvetica Neue" pitchFamily="34" charset="0"/>
                <a:ea typeface="Arial" pitchFamily="34" charset="-122"/>
                <a:cs typeface="Arial" pitchFamily="34" charset="-120"/>
              </a:rPr>
              <a:t>VẤN ĐỀ</a:t>
            </a:r>
            <a:endParaRPr lang="en-US" sz="950" dirty="0"/>
          </a:p>
        </p:txBody>
      </p:sp>
      <p:sp>
        <p:nvSpPr>
          <p:cNvPr id="47" name="Text 45"/>
          <p:cNvSpPr/>
          <p:nvPr/>
        </p:nvSpPr>
        <p:spPr>
          <a:xfrm>
            <a:off x="731520" y="5321808"/>
            <a:ext cx="2880360" cy="777240"/>
          </a:xfrm>
          <a:prstGeom prst="roundRect">
            <a:avLst>
              <a:gd name="adj" fmla="val 3000"/>
            </a:avLst>
          </a:prstGeom>
          <a:noFill/>
          <a:ln/>
        </p:spPr>
        <p:txBody>
          <a:bodyPr wrap="square" lIns="0" tIns="0" rIns="0" bIns="0" rtlCol="0" anchor="t"/>
          <a:lstStyle/>
          <a:p>
            <a:pPr indent="0" marL="0">
              <a:buNone/>
              <a:defRPr>
                <a:latin typeface="Helvetica Neue"/>
              </a:defRPr>
            </a:pPr>
            <a:r>
              <a:rPr lang="en-US" sz="1000" dirty="0">
                <a:solidFill>
                  <a:srgbClr val="334155"/>
                </a:solidFill>
                <a:latin typeface="Helvetica Neue" pitchFamily="34" charset="0"/>
                <a:ea typeface="Arial" pitchFamily="34" charset="-122"/>
                <a:cs typeface="Arial" pitchFamily="34" charset="-120"/>
              </a:rPr>
              <a:t>Lead EV giảm 10% dù demand tăng 30% — phễu đang rò rỉ</a:t>
            </a:r>
            <a:endParaRPr lang="en-US" sz="1000" dirty="0"/>
          </a:p>
        </p:txBody>
      </p:sp>
      <p:sp>
        <p:nvSpPr>
          <p:cNvPr id="48" name="Text 46"/>
          <p:cNvSpPr/>
          <p:nvPr/>
        </p:nvSpPr>
        <p:spPr>
          <a:xfrm>
            <a:off x="3794760" y="5376672"/>
            <a:ext cx="292608" cy="40233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2000" b="1" dirty="0">
                <a:solidFill>
                  <a:srgbClr val="334155"/>
                </a:solidFill>
                <a:latin typeface="Helvetica Neue" pitchFamily="34" charset="0"/>
                <a:ea typeface="Arial" pitchFamily="34" charset="-122"/>
                <a:cs typeface="Arial" pitchFamily="34" charset="-120"/>
              </a:rPr>
              <a:t>+</a:t>
            </a:r>
            <a:endParaRPr lang="en-US" sz="2000" dirty="0"/>
          </a:p>
        </p:txBody>
      </p:sp>
      <p:sp>
        <p:nvSpPr>
          <p:cNvPr id="49" name="Shape 47"/>
          <p:cNvSpPr/>
          <p:nvPr/>
        </p:nvSpPr>
        <p:spPr>
          <a:xfrm>
            <a:off x="4361688" y="4937760"/>
            <a:ext cx="3246120" cy="54864"/>
          </a:xfrm>
          <a:prstGeom prst="roundRect">
            <a:avLst>
              <a:gd name="adj" fmla="val 3000"/>
            </a:avLst>
          </a:prstGeom>
          <a:solidFill>
            <a:srgbClr val="DC2626"/>
          </a:solidFill>
          <a:ln>
            <a:noFill/>
          </a:ln>
        </p:spPr>
        <p:txBody>
          <a:bodyPr/>
          <a:p>
            <a:pPr>
              <a:defRPr>
                <a:latin typeface="Helvetica Neue"/>
              </a:defRPr>
            </a:pPr>
          </a:p>
        </p:txBody>
      </p:sp>
      <p:sp>
        <p:nvSpPr>
          <p:cNvPr id="50" name="Shape 48"/>
          <p:cNvSpPr/>
          <p:nvPr/>
        </p:nvSpPr>
        <p:spPr>
          <a:xfrm>
            <a:off x="4361688" y="4992624"/>
            <a:ext cx="3246120" cy="122529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51" name="Text 49"/>
          <p:cNvSpPr/>
          <p:nvPr/>
        </p:nvSpPr>
        <p:spPr>
          <a:xfrm>
            <a:off x="4544568" y="5065776"/>
            <a:ext cx="2880360" cy="228600"/>
          </a:xfrm>
          <a:prstGeom prst="roundRect">
            <a:avLst>
              <a:gd name="adj" fmla="val 3000"/>
            </a:avLst>
          </a:prstGeom>
          <a:noFill/>
          <a:ln/>
        </p:spPr>
        <p:txBody>
          <a:bodyPr wrap="square" lIns="0" tIns="0" rIns="0" bIns="0" rtlCol="0" anchor="ctr"/>
          <a:lstStyle/>
          <a:p>
            <a:pPr indent="0" marL="0">
              <a:buNone/>
              <a:defRPr>
                <a:latin typeface="Helvetica Neue"/>
              </a:defRPr>
            </a:pPr>
            <a:r>
              <a:rPr lang="en-US" sz="950" b="1" dirty="0">
                <a:solidFill>
                  <a:srgbClr val="E5342E"/>
                </a:solidFill>
                <a:latin typeface="Helvetica Neue" pitchFamily="34" charset="0"/>
                <a:ea typeface="Arial" pitchFamily="34" charset="-122"/>
                <a:cs typeface="Arial" pitchFamily="34" charset="-120"/>
              </a:rPr>
              <a:t>RỦI RO NẾU KHÔNG QUYẾT</a:t>
            </a:r>
            <a:endParaRPr lang="en-US" sz="950" dirty="0"/>
          </a:p>
        </p:txBody>
      </p:sp>
      <p:sp>
        <p:nvSpPr>
          <p:cNvPr id="52" name="Text 50"/>
          <p:cNvSpPr/>
          <p:nvPr/>
        </p:nvSpPr>
        <p:spPr>
          <a:xfrm>
            <a:off x="4544568" y="5321808"/>
            <a:ext cx="2880360" cy="777240"/>
          </a:xfrm>
          <a:prstGeom prst="roundRect">
            <a:avLst>
              <a:gd name="adj" fmla="val 3000"/>
            </a:avLst>
          </a:prstGeom>
          <a:noFill/>
          <a:ln/>
        </p:spPr>
        <p:txBody>
          <a:bodyPr wrap="square" lIns="0" tIns="0" rIns="0" bIns="0" rtlCol="0" anchor="t"/>
          <a:lstStyle/>
          <a:p>
            <a:pPr indent="0" marL="0">
              <a:buNone/>
              <a:defRPr>
                <a:latin typeface="Helvetica Neue"/>
              </a:defRPr>
            </a:pPr>
            <a:r>
              <a:rPr lang="en-US" sz="1000" dirty="0">
                <a:solidFill>
                  <a:srgbClr val="334155"/>
                </a:solidFill>
                <a:latin typeface="Helvetica Neue" pitchFamily="34" charset="0"/>
                <a:ea typeface="Arial" pitchFamily="34" charset="-122"/>
                <a:cs typeface="Arial" pitchFamily="34" charset="-120"/>
              </a:rPr>
              <a:t>Mất cơ hội mùa cao điểm chuyển đổi nếu chờ thêm 1 tháng</a:t>
            </a:r>
            <a:endParaRPr lang="en-US" sz="1000" dirty="0"/>
          </a:p>
        </p:txBody>
      </p:sp>
      <p:sp>
        <p:nvSpPr>
          <p:cNvPr id="53" name="Text 51"/>
          <p:cNvSpPr/>
          <p:nvPr/>
        </p:nvSpPr>
        <p:spPr>
          <a:xfrm>
            <a:off x="7607808" y="5376672"/>
            <a:ext cx="292608" cy="402336"/>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2000" b="1" dirty="0">
                <a:solidFill>
                  <a:srgbClr val="334155"/>
                </a:solidFill>
                <a:latin typeface="Helvetica Neue" pitchFamily="34" charset="0"/>
                <a:ea typeface="Arial" pitchFamily="34" charset="-122"/>
                <a:cs typeface="Arial" pitchFamily="34" charset="-120"/>
              </a:rPr>
              <a:t>=</a:t>
            </a:r>
            <a:endParaRPr lang="en-US" sz="2000" dirty="0"/>
          </a:p>
        </p:txBody>
      </p:sp>
      <p:sp>
        <p:nvSpPr>
          <p:cNvPr id="54" name="Shape 52"/>
          <p:cNvSpPr/>
          <p:nvPr/>
        </p:nvSpPr>
        <p:spPr>
          <a:xfrm>
            <a:off x="8174736" y="4937760"/>
            <a:ext cx="3246120" cy="54864"/>
          </a:xfrm>
          <a:prstGeom prst="roundRect">
            <a:avLst>
              <a:gd name="adj" fmla="val 3000"/>
            </a:avLst>
          </a:prstGeom>
          <a:solidFill>
            <a:srgbClr val="FF7F32"/>
          </a:solidFill>
          <a:ln/>
        </p:spPr>
        <p:txBody>
          <a:bodyPr/>
          <a:p>
            <a:pPr>
              <a:defRPr>
                <a:latin typeface="Helvetica Neue"/>
              </a:defRPr>
            </a:pPr>
          </a:p>
        </p:txBody>
      </p:sp>
      <p:sp>
        <p:nvSpPr>
          <p:cNvPr id="55" name="Shape 53"/>
          <p:cNvSpPr/>
          <p:nvPr/>
        </p:nvSpPr>
        <p:spPr>
          <a:xfrm>
            <a:off x="8174736" y="4992624"/>
            <a:ext cx="3246120" cy="122529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56" name="Text 54"/>
          <p:cNvSpPr/>
          <p:nvPr/>
        </p:nvSpPr>
        <p:spPr>
          <a:xfrm>
            <a:off x="8357616" y="5065776"/>
            <a:ext cx="2880360" cy="228600"/>
          </a:xfrm>
          <a:prstGeom prst="roundRect">
            <a:avLst>
              <a:gd name="adj" fmla="val 3000"/>
            </a:avLst>
          </a:prstGeom>
          <a:noFill/>
          <a:ln/>
        </p:spPr>
        <p:txBody>
          <a:bodyPr wrap="square" lIns="0" tIns="0" rIns="0" bIns="0" rtlCol="0" anchor="ctr"/>
          <a:lstStyle/>
          <a:p>
            <a:pPr indent="0" marL="0">
              <a:buNone/>
              <a:defRPr>
                <a:latin typeface="Helvetica Neue"/>
              </a:defRPr>
            </a:pPr>
            <a:r>
              <a:rPr lang="en-US" sz="950" b="1" dirty="0">
                <a:solidFill>
                  <a:srgbClr val="8A8F99"/>
                </a:solidFill>
                <a:latin typeface="Helvetica Neue" pitchFamily="34" charset="0"/>
                <a:ea typeface="Arial" pitchFamily="34" charset="-122"/>
                <a:cs typeface="Arial" pitchFamily="34" charset="-120"/>
              </a:rPr>
              <a:t>QUYẾT ĐỊNH</a:t>
            </a:r>
            <a:endParaRPr lang="en-US" sz="950" dirty="0"/>
          </a:p>
        </p:txBody>
      </p:sp>
      <p:sp>
        <p:nvSpPr>
          <p:cNvPr id="57" name="Text 55"/>
          <p:cNvSpPr/>
          <p:nvPr/>
        </p:nvSpPr>
        <p:spPr>
          <a:xfrm>
            <a:off x="8357616" y="5321808"/>
            <a:ext cx="2880360" cy="777240"/>
          </a:xfrm>
          <a:prstGeom prst="roundRect">
            <a:avLst>
              <a:gd name="adj" fmla="val 3000"/>
            </a:avLst>
          </a:prstGeom>
          <a:noFill/>
          <a:ln/>
        </p:spPr>
        <p:txBody>
          <a:bodyPr wrap="square" lIns="0" tIns="0" rIns="0" bIns="0" rtlCol="0" anchor="t"/>
          <a:lstStyle/>
          <a:p>
            <a:pPr indent="0" marL="0">
              <a:buNone/>
              <a:defRPr>
                <a:latin typeface="Helvetica Neue"/>
              </a:defRPr>
            </a:pPr>
            <a:r>
              <a:rPr lang="en-US" sz="1000" b="1" dirty="0">
                <a:solidFill>
                  <a:srgbClr val="334155"/>
                </a:solidFill>
                <a:latin typeface="Helvetica Neue" pitchFamily="34" charset="0"/>
                <a:ea typeface="Arial" pitchFamily="34" charset="-122"/>
                <a:cs typeface="Arial" pitchFamily="34" charset="-120"/>
              </a:rPr>
              <a:t>Duyệt ngân sách CTT đua top theo đề xuất S&amp;P trong tuần này</a:t>
            </a:r>
            <a:endParaRPr lang="en-US" sz="1000" dirty="0"/>
          </a:p>
        </p:txBody>
      </p:sp>
      <p:sp>
        <p:nvSpPr>
          <p:cNvPr id="58" name="Shape 56"/>
          <p:cNvSpPr/>
          <p:nvPr/>
        </p:nvSpPr>
        <p:spPr>
          <a:xfrm>
            <a:off x="548640" y="6510528"/>
            <a:ext cx="11091672" cy="0"/>
          </a:xfrm>
          <a:prstGeom prst="roundRect">
            <a:avLst>
              <a:gd name="adj" fmla="val 3000"/>
            </a:avLst>
          </a:prstGeom>
          <a:noFill/>
          <a:ln w="15875">
            <a:solidFill>
              <a:srgbClr val="FF7F32"/>
            </a:solidFill>
            <a:prstDash val="solid"/>
          </a:ln>
        </p:spPr>
        <p:txBody>
          <a:bodyPr/>
          <a:p>
            <a:pPr>
              <a:defRPr>
                <a:latin typeface="Helvetica Neue"/>
              </a:defRPr>
            </a:pPr>
          </a:p>
        </p:txBody>
      </p:sp>
      <p:sp>
        <p:nvSpPr>
          <p:cNvPr id="59" name="Text 57"/>
          <p:cNvSpPr/>
          <p:nvPr/>
        </p:nvSpPr>
        <p:spPr>
          <a:xfrm>
            <a:off x="548640" y="6565392"/>
            <a:ext cx="7315200" cy="256032"/>
          </a:xfrm>
          <a:prstGeom prst="roundRect">
            <a:avLst>
              <a:gd name="adj" fmla="val 3000"/>
            </a:avLst>
          </a:prstGeom>
          <a:noFill/>
          <a:ln/>
        </p:spPr>
        <p:txBody>
          <a:bodyPr wrap="square" lIns="0" tIns="0" rIns="0" bIns="0" rtlCol="0" anchor="ctr"/>
          <a:lstStyle/>
          <a:p>
            <a:pPr indent="0" marL="0">
              <a:buNone/>
              <a:defRPr>
                <a:latin typeface="Helvetica Neue"/>
              </a:defRPr>
            </a:pPr>
            <a:r>
              <a:rPr lang="en-US" sz="850" dirty="0">
                <a:solidFill>
                  <a:srgbClr val="334155"/>
                </a:solidFill>
                <a:latin typeface="Helvetica Neue" pitchFamily="34" charset="0"/>
                <a:ea typeface="Arial" pitchFamily="34" charset="-122"/>
                <a:cs typeface="Arial" pitchFamily="34" charset="-120"/>
              </a:rPr>
              <a:t>DM Monthly Report — Tháng 7/2026</a:t>
            </a:r>
            <a:endParaRPr lang="en-US" sz="850" dirty="0"/>
          </a:p>
        </p:txBody>
      </p:sp>
      <p:sp>
        <p:nvSpPr>
          <p:cNvPr id="60" name="Text 58"/>
          <p:cNvSpPr/>
          <p:nvPr/>
        </p:nvSpPr>
        <p:spPr>
          <a:xfrm>
            <a:off x="11155680" y="6565392"/>
            <a:ext cx="484632" cy="256032"/>
          </a:xfrm>
          <a:prstGeom prst="roundRect">
            <a:avLst>
              <a:gd name="adj" fmla="val 3000"/>
            </a:avLst>
          </a:prstGeom>
          <a:noFill/>
          <a:ln/>
        </p:spPr>
        <p:txBody>
          <a:bodyPr wrap="square" lIns="0" tIns="0" rIns="0" bIns="0" rtlCol="0" anchor="ctr"/>
          <a:lstStyle/>
          <a:p>
            <a:pPr algn="r" indent="0" marL="0">
              <a:buNone/>
              <a:defRPr>
                <a:latin typeface="Helvetica Neue"/>
              </a:defRPr>
            </a:pPr>
            <a:r>
              <a:rPr lang="en-US" sz="850" dirty="0">
                <a:solidFill>
                  <a:srgbClr val="334155"/>
                </a:solidFill>
                <a:latin typeface="Helvetica Neue" pitchFamily="34" charset="0"/>
                <a:ea typeface="Arial" pitchFamily="34" charset="-122"/>
                <a:cs typeface="Arial" pitchFamily="34" charset="-120"/>
              </a:rPr>
              <a:t>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950" b="1" dirty="0">
                <a:solidFill>
                  <a:srgbClr val="FF6600"/>
                </a:solidFill>
                <a:latin typeface="Helvetica Neue" pitchFamily="34" charset="0"/>
                <a:ea typeface="Arial" pitchFamily="34" charset="-122"/>
                <a:cs typeface="Arial" pitchFamily="34" charset="-120"/>
              </a:rPr>
              <a:t>TỔNG KẾT · BOOKEND</a:t>
            </a:r>
            <a:endParaRPr lang="en-US" sz="950" dirty="0"/>
          </a:p>
        </p:txBody>
      </p:sp>
      <p:sp>
        <p:nvSpPr>
          <p:cNvPr id="3" name="Text 1"/>
          <p:cNvSpPr/>
          <p:nvPr/>
        </p:nvSpPr>
        <p:spPr>
          <a:xfrm>
            <a:off x="7772400" y="128016"/>
            <a:ext cx="3867912" cy="219456"/>
          </a:xfrm>
          <a:prstGeom prst="roundRect">
            <a:avLst>
              <a:gd name="adj" fmla="val 3000"/>
            </a:avLst>
          </a:prstGeom>
          <a:noFill/>
          <a:ln/>
        </p:spPr>
        <p:txBody>
          <a:bodyPr wrap="square" lIns="0" tIns="0" rIns="0" bIns="0" rtlCol="0" anchor="ctr"/>
          <a:lstStyle/>
          <a:p>
            <a:pPr algn="r" indent="0" marL="0">
              <a:buNone/>
              <a:defRPr>
                <a:latin typeface="Helvetica Neue"/>
              </a:defRPr>
            </a:pPr>
            <a:r>
              <a:rPr lang="en-US" sz="900" i="1" dirty="0">
                <a:solidFill>
                  <a:srgbClr val="64748B"/>
                </a:solidFill>
                <a:latin typeface="Helvetica Neue"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oundRect">
            <a:avLst>
              <a:gd name="adj" fmla="val 3000"/>
            </a:avLst>
          </a:prstGeom>
          <a:noFill/>
          <a:ln/>
        </p:spPr>
        <p:txBody>
          <a:bodyPr wrap="square" lIns="0" tIns="0" rIns="0" bIns="0" rtlCol="0" anchor="ctr"/>
          <a:lstStyle/>
          <a:p>
            <a:pPr indent="0" marL="0">
              <a:buNone/>
              <a:defRPr b="1">
                <a:latin typeface="Helvetica Neue"/>
              </a:defRPr>
            </a:pPr>
            <a:r>
              <a:rPr lang="en-US" sz="2400" b="1" dirty="0">
                <a:solidFill>
                  <a:srgbClr val="0F172A"/>
                </a:solidFill>
                <a:latin typeface="Helvetica Neue" pitchFamily="34" charset="0"/>
                <a:ea typeface="Arial" pitchFamily="34" charset="-122"/>
                <a:cs typeface="Arial" pitchFamily="34" charset="-120"/>
              </a:rPr>
              <a:t>Tổng kết — quay lại 3 câu hỏi đầu báo cáo</a:t>
            </a:r>
            <a:endParaRPr lang="en-US" sz="2400" dirty="0"/>
          </a:p>
        </p:txBody>
      </p:sp>
      <p:sp>
        <p:nvSpPr>
          <p:cNvPr id="5" name="Shape 3"/>
          <p:cNvSpPr/>
          <p:nvPr/>
        </p:nvSpPr>
        <p:spPr>
          <a:xfrm>
            <a:off x="548640" y="1005840"/>
            <a:ext cx="1005840" cy="36576"/>
          </a:xfrm>
          <a:prstGeom prst="roundRect">
            <a:avLst>
              <a:gd name="adj" fmla="val 3000"/>
            </a:avLst>
          </a:prstGeom>
          <a:solidFill>
            <a:srgbClr val="FF7F32"/>
          </a:solidFill>
          <a:ln/>
        </p:spPr>
        <p:txBody>
          <a:bodyPr/>
          <a:p>
            <a:pPr>
              <a:defRPr>
                <a:latin typeface="Helvetica Neue"/>
              </a:defRPr>
            </a:pPr>
          </a:p>
        </p:txBody>
      </p:sp>
      <p:sp>
        <p:nvSpPr>
          <p:cNvPr id="6" name="Shape 4"/>
          <p:cNvSpPr/>
          <p:nvPr/>
        </p:nvSpPr>
        <p:spPr>
          <a:xfrm>
            <a:off x="548640" y="1609344"/>
            <a:ext cx="292608" cy="292608"/>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7" name="Text 5"/>
          <p:cNvSpPr/>
          <p:nvPr/>
        </p:nvSpPr>
        <p:spPr>
          <a:xfrm>
            <a:off x="548640" y="1609344"/>
            <a:ext cx="292608" cy="292608"/>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1</a:t>
            </a:r>
            <a:endParaRPr lang="en-US" sz="1100" dirty="0"/>
          </a:p>
        </p:txBody>
      </p:sp>
      <p:sp>
        <p:nvSpPr>
          <p:cNvPr id="8" name="Text 6"/>
          <p:cNvSpPr/>
          <p:nvPr/>
        </p:nvSpPr>
        <p:spPr>
          <a:xfrm>
            <a:off x="1051560" y="1600200"/>
            <a:ext cx="10607040" cy="320040"/>
          </a:xfrm>
          <a:prstGeom prst="roundRect">
            <a:avLst>
              <a:gd name="adj" fmla="val 3000"/>
            </a:avLst>
          </a:prstGeom>
          <a:noFill/>
          <a:ln/>
        </p:spPr>
        <p:txBody>
          <a:bodyPr wrap="square" lIns="0" tIns="0" rIns="0" bIns="0" rtlCol="0" anchor="ctr"/>
          <a:lstStyle/>
          <a:p>
            <a:pPr indent="0" marL="0">
              <a:buNone/>
              <a:defRPr>
                <a:latin typeface="Helvetica Neue"/>
              </a:defRPr>
            </a:pPr>
            <a:r>
              <a:rPr lang="en-US" sz="1250" b="1" dirty="0">
                <a:solidFill>
                  <a:srgbClr val="334155"/>
                </a:solidFill>
                <a:latin typeface="Helvetica Neue" pitchFamily="34" charset="0"/>
                <a:ea typeface="Arial" pitchFamily="34" charset="-122"/>
                <a:cs typeface="Arial" pitchFamily="34" charset="-120"/>
              </a:rPr>
              <a:t>1. Vì sao FT active HAN giảm dù retention cải thiện?</a:t>
            </a:r>
            <a:endParaRPr lang="en-US" sz="1250" dirty="0"/>
          </a:p>
        </p:txBody>
      </p:sp>
      <p:sp>
        <p:nvSpPr>
          <p:cNvPr id="9" name="Text 7"/>
          <p:cNvSpPr/>
          <p:nvPr/>
        </p:nvSpPr>
        <p:spPr>
          <a:xfrm>
            <a:off x="1051560" y="1929384"/>
            <a:ext cx="10607040" cy="457200"/>
          </a:xfrm>
          <a:prstGeom prst="roundRect">
            <a:avLst>
              <a:gd name="adj" fmla="val 3000"/>
            </a:avLst>
          </a:prstGeom>
          <a:noFill/>
          <a:ln/>
        </p:spPr>
        <p:txBody>
          <a:bodyPr wrap="square" lIns="0" tIns="0" rIns="0" bIns="0" rtlCol="0" anchor="t"/>
          <a:lstStyle/>
          <a:p>
            <a:pPr indent="0" marL="0">
              <a:buNone/>
              <a:defRPr>
                <a:latin typeface="Helvetica Neue"/>
              </a:defRPr>
            </a:pPr>
            <a:r>
              <a:rPr lang="en-US" sz="1100" dirty="0">
                <a:solidFill>
                  <a:srgbClr val="334155"/>
                </a:solidFill>
                <a:latin typeface="Helvetica Neue" pitchFamily="34" charset="0"/>
                <a:ea typeface="Arial" pitchFamily="34" charset="-122"/>
                <a:cs typeface="Arial" pitchFamily="34" charset="-120"/>
              </a:rPr>
              <a:t>Vấn đề nằm ở chất lượng nguồn tuyển, không phải chương trình giữ chân — cần điều tra nguyên nhân tuyển dụng trong tháng 8.</a:t>
            </a:r>
            <a:endParaRPr lang="en-US" sz="1100" dirty="0"/>
          </a:p>
        </p:txBody>
      </p:sp>
      <p:sp>
        <p:nvSpPr>
          <p:cNvPr id="10" name="Shape 8"/>
          <p:cNvSpPr/>
          <p:nvPr/>
        </p:nvSpPr>
        <p:spPr>
          <a:xfrm>
            <a:off x="548640" y="2523744"/>
            <a:ext cx="292608" cy="292608"/>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11" name="Text 9"/>
          <p:cNvSpPr/>
          <p:nvPr/>
        </p:nvSpPr>
        <p:spPr>
          <a:xfrm>
            <a:off x="548640" y="2523744"/>
            <a:ext cx="292608" cy="292608"/>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2</a:t>
            </a:r>
            <a:endParaRPr lang="en-US" sz="1100" dirty="0"/>
          </a:p>
        </p:txBody>
      </p:sp>
      <p:sp>
        <p:nvSpPr>
          <p:cNvPr id="12" name="Text 10"/>
          <p:cNvSpPr/>
          <p:nvPr/>
        </p:nvSpPr>
        <p:spPr>
          <a:xfrm>
            <a:off x="1051560" y="2514600"/>
            <a:ext cx="10607040" cy="320040"/>
          </a:xfrm>
          <a:prstGeom prst="roundRect">
            <a:avLst>
              <a:gd name="adj" fmla="val 3000"/>
            </a:avLst>
          </a:prstGeom>
          <a:noFill/>
          <a:ln/>
        </p:spPr>
        <p:txBody>
          <a:bodyPr wrap="square" lIns="0" tIns="0" rIns="0" bIns="0" rtlCol="0" anchor="ctr"/>
          <a:lstStyle/>
          <a:p>
            <a:pPr indent="0" marL="0">
              <a:buNone/>
              <a:defRPr>
                <a:latin typeface="Helvetica Neue"/>
              </a:defRPr>
            </a:pPr>
            <a:r>
              <a:rPr lang="en-US" sz="1250" b="1" dirty="0">
                <a:solidFill>
                  <a:srgbClr val="334155"/>
                </a:solidFill>
                <a:latin typeface="Helvetica Neue" pitchFamily="34" charset="0"/>
                <a:ea typeface="Arial" pitchFamily="34" charset="-122"/>
                <a:cs typeface="Arial" pitchFamily="34" charset="-120"/>
              </a:rPr>
              <a:t>2. MiniHub có đáng scale tiếp không?</a:t>
            </a:r>
            <a:endParaRPr lang="en-US" sz="1250" dirty="0"/>
          </a:p>
        </p:txBody>
      </p:sp>
      <p:sp>
        <p:nvSpPr>
          <p:cNvPr id="13" name="Text 11"/>
          <p:cNvSpPr/>
          <p:nvPr/>
        </p:nvSpPr>
        <p:spPr>
          <a:xfrm>
            <a:off x="1051560" y="2843784"/>
            <a:ext cx="10607040" cy="457200"/>
          </a:xfrm>
          <a:prstGeom prst="roundRect">
            <a:avLst>
              <a:gd name="adj" fmla="val 3000"/>
            </a:avLst>
          </a:prstGeom>
          <a:noFill/>
          <a:ln/>
        </p:spPr>
        <p:txBody>
          <a:bodyPr wrap="square" lIns="0" tIns="0" rIns="0" bIns="0" rtlCol="0" anchor="t"/>
          <a:lstStyle/>
          <a:p>
            <a:pPr indent="0" marL="0">
              <a:buNone/>
              <a:defRPr>
                <a:latin typeface="Helvetica Neue"/>
              </a:defRPr>
            </a:pPr>
            <a:r>
              <a:rPr lang="en-US" sz="1100" dirty="0">
                <a:solidFill>
                  <a:srgbClr val="334155"/>
                </a:solidFill>
                <a:latin typeface="Helvetica Neue" pitchFamily="34" charset="0"/>
                <a:ea typeface="Arial" pitchFamily="34" charset="-122"/>
                <a:cs typeface="Arial" pitchFamily="34" charset="-120"/>
              </a:rPr>
              <a:t>Chưa đủ dữ liệu để kết luận — quyết định go/no-go sẽ chốt sau khi có đánh giá PnL trước 15/8.</a:t>
            </a:r>
            <a:endParaRPr lang="en-US" sz="1100" dirty="0"/>
          </a:p>
        </p:txBody>
      </p:sp>
      <p:sp>
        <p:nvSpPr>
          <p:cNvPr id="14" name="Shape 12"/>
          <p:cNvSpPr/>
          <p:nvPr/>
        </p:nvSpPr>
        <p:spPr>
          <a:xfrm>
            <a:off x="548640" y="3438144"/>
            <a:ext cx="292608" cy="292608"/>
          </a:xfrm>
          <a:prstGeom prst="roundRect">
            <a:avLst>
              <a:gd name="adj" fmla="val 3000"/>
            </a:avLst>
          </a:prstGeom>
          <a:solidFill>
            <a:srgbClr val="FFFFFF"/>
          </a:solidFill>
          <a:ln w="12700">
            <a:solidFill>
              <a:srgbClr val="CBD5E1"/>
            </a:solidFill>
          </a:ln>
        </p:spPr>
        <p:txBody>
          <a:bodyPr/>
          <a:p>
            <a:pPr>
              <a:defRPr>
                <a:latin typeface="Helvetica Neue"/>
              </a:defRPr>
            </a:pPr>
          </a:p>
        </p:txBody>
      </p:sp>
      <p:sp>
        <p:nvSpPr>
          <p:cNvPr id="15" name="Text 13"/>
          <p:cNvSpPr/>
          <p:nvPr/>
        </p:nvSpPr>
        <p:spPr>
          <a:xfrm>
            <a:off x="548640" y="3438144"/>
            <a:ext cx="292608" cy="292608"/>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100" b="1" dirty="0">
                <a:solidFill>
                  <a:srgbClr val="334155"/>
                </a:solidFill>
                <a:latin typeface="Helvetica Neue" pitchFamily="34" charset="0"/>
                <a:ea typeface="Arial" pitchFamily="34" charset="-122"/>
                <a:cs typeface="Arial" pitchFamily="34" charset="-120"/>
              </a:rPr>
              <a:t>3</a:t>
            </a:r>
            <a:endParaRPr lang="en-US" sz="1100" dirty="0"/>
          </a:p>
        </p:txBody>
      </p:sp>
      <p:sp>
        <p:nvSpPr>
          <p:cNvPr id="16" name="Text 14"/>
          <p:cNvSpPr/>
          <p:nvPr/>
        </p:nvSpPr>
        <p:spPr>
          <a:xfrm>
            <a:off x="1051560" y="3429000"/>
            <a:ext cx="10607040" cy="320040"/>
          </a:xfrm>
          <a:prstGeom prst="roundRect">
            <a:avLst>
              <a:gd name="adj" fmla="val 3000"/>
            </a:avLst>
          </a:prstGeom>
          <a:noFill/>
          <a:ln/>
        </p:spPr>
        <p:txBody>
          <a:bodyPr wrap="square" lIns="0" tIns="0" rIns="0" bIns="0" rtlCol="0" anchor="ctr"/>
          <a:lstStyle/>
          <a:p>
            <a:pPr indent="0" marL="0">
              <a:buNone/>
              <a:defRPr>
                <a:latin typeface="Helvetica Neue"/>
              </a:defRPr>
            </a:pPr>
            <a:r>
              <a:rPr lang="en-US" sz="1250" b="1" dirty="0">
                <a:solidFill>
                  <a:srgbClr val="334155"/>
                </a:solidFill>
                <a:latin typeface="Helvetica Neue" pitchFamily="34" charset="0"/>
                <a:ea typeface="Arial" pitchFamily="34" charset="-122"/>
                <a:cs typeface="Arial" pitchFamily="34" charset="-120"/>
              </a:rPr>
              <a:t>3. Ngân sách EV tháng 8 nên ưu tiên gì?</a:t>
            </a:r>
            <a:endParaRPr lang="en-US" sz="1250" dirty="0"/>
          </a:p>
        </p:txBody>
      </p:sp>
      <p:sp>
        <p:nvSpPr>
          <p:cNvPr id="17" name="Text 15"/>
          <p:cNvSpPr/>
          <p:nvPr/>
        </p:nvSpPr>
        <p:spPr>
          <a:xfrm>
            <a:off x="1051560" y="3758184"/>
            <a:ext cx="10607040" cy="457200"/>
          </a:xfrm>
          <a:prstGeom prst="roundRect">
            <a:avLst>
              <a:gd name="adj" fmla="val 3000"/>
            </a:avLst>
          </a:prstGeom>
          <a:noFill/>
          <a:ln/>
        </p:spPr>
        <p:txBody>
          <a:bodyPr wrap="square" lIns="0" tIns="0" rIns="0" bIns="0" rtlCol="0" anchor="t"/>
          <a:lstStyle/>
          <a:p>
            <a:pPr indent="0" marL="0">
              <a:buNone/>
              <a:defRPr>
                <a:latin typeface="Helvetica Neue"/>
              </a:defRPr>
            </a:pPr>
            <a:r>
              <a:rPr lang="en-US" sz="1100" dirty="0">
                <a:solidFill>
                  <a:srgbClr val="334155"/>
                </a:solidFill>
                <a:latin typeface="Helvetica Neue" pitchFamily="34" charset="0"/>
                <a:ea typeface="Arial" pitchFamily="34" charset="-122"/>
                <a:cs typeface="Arial" pitchFamily="34" charset="-120"/>
              </a:rPr>
              <a:t>Đề xuất duyệt ngân sách CTT đua top thuê xe theo đề xuất S&amp;P ngay trong tuần này.</a:t>
            </a:r>
            <a:endParaRPr lang="en-US" sz="1100" dirty="0"/>
          </a:p>
        </p:txBody>
      </p:sp>
      <p:sp>
        <p:nvSpPr>
          <p:cNvPr id="18" name="Shape 16"/>
          <p:cNvSpPr/>
          <p:nvPr/>
        </p:nvSpPr>
        <p:spPr>
          <a:xfrm>
            <a:off x="548640" y="4480560"/>
            <a:ext cx="11091672" cy="54864"/>
          </a:xfrm>
          <a:prstGeom prst="roundRect">
            <a:avLst>
              <a:gd name="adj" fmla="val 3000"/>
            </a:avLst>
          </a:prstGeom>
          <a:solidFill>
            <a:srgbClr val="FF7F32"/>
          </a:solidFill>
          <a:ln/>
        </p:spPr>
        <p:txBody>
          <a:bodyPr/>
          <a:p>
            <a:pPr>
              <a:defRPr>
                <a:latin typeface="Helvetica Neue"/>
              </a:defRPr>
            </a:pPr>
          </a:p>
        </p:txBody>
      </p:sp>
      <p:sp>
        <p:nvSpPr>
          <p:cNvPr id="19" name="Shape 17"/>
          <p:cNvSpPr/>
          <p:nvPr/>
        </p:nvSpPr>
        <p:spPr>
          <a:xfrm>
            <a:off x="548640" y="4535424"/>
            <a:ext cx="11091672" cy="950976"/>
          </a:xfrm>
          <a:prstGeom prst="roundRect">
            <a:avLst>
              <a:gd name="adj" fmla="val 3000"/>
            </a:avLst>
          </a:prstGeom>
          <a:solidFill>
            <a:srgbClr val="FFFFFF"/>
          </a:solidFill>
          <a:ln w="12700">
            <a:solidFill>
              <a:srgbClr val="CBD5E1"/>
            </a:solidFill>
            <a:prstDash val="solid"/>
          </a:ln>
        </p:spPr>
        <p:txBody>
          <a:bodyPr/>
          <a:p>
            <a:pPr>
              <a:defRPr>
                <a:latin typeface="Helvetica Neue"/>
              </a:defRPr>
            </a:pPr>
          </a:p>
        </p:txBody>
      </p:sp>
      <p:sp>
        <p:nvSpPr>
          <p:cNvPr id="20" name="Text 18"/>
          <p:cNvSpPr/>
          <p:nvPr/>
        </p:nvSpPr>
        <p:spPr>
          <a:xfrm>
            <a:off x="777240" y="4480560"/>
            <a:ext cx="10607040" cy="1005840"/>
          </a:xfrm>
          <a:prstGeom prst="roundRect">
            <a:avLst>
              <a:gd name="adj" fmla="val 3000"/>
            </a:avLst>
          </a:prstGeom>
          <a:noFill/>
          <a:ln/>
        </p:spPr>
        <p:txBody>
          <a:bodyPr wrap="square" lIns="0" tIns="0" rIns="0" bIns="0" rtlCol="0" anchor="ctr"/>
          <a:lstStyle/>
          <a:p>
            <a:pPr algn="ctr" indent="0" marL="0">
              <a:buNone/>
              <a:defRPr>
                <a:latin typeface="Helvetica Neue"/>
              </a:defRPr>
            </a:pPr>
            <a:r>
              <a:rPr lang="en-US" sz="1600" b="1" dirty="0">
                <a:solidFill>
                  <a:srgbClr val="334155"/>
                </a:solidFill>
                <a:latin typeface="Helvetica Neue" pitchFamily="34" charset="0"/>
                <a:ea typeface="Arial" pitchFamily="34" charset="-122"/>
                <a:cs typeface="Arial" pitchFamily="34" charset="-120"/>
              </a:rPr>
              <a:t>Tháng 8: đẩy tốc độ scale mà không đánh đổi chất lượng vận hành.</a:t>
            </a:r>
            <a:endParaRPr lang="en-US" sz="1600" dirty="0"/>
          </a:p>
        </p:txBody>
      </p:sp>
      <p:sp>
        <p:nvSpPr>
          <p:cNvPr id="21" name="Shape 19"/>
          <p:cNvSpPr/>
          <p:nvPr/>
        </p:nvSpPr>
        <p:spPr>
          <a:xfrm>
            <a:off x="548640" y="6510528"/>
            <a:ext cx="11091672" cy="0"/>
          </a:xfrm>
          <a:prstGeom prst="roundRect">
            <a:avLst>
              <a:gd name="adj" fmla="val 3000"/>
            </a:avLst>
          </a:prstGeom>
          <a:noFill/>
          <a:ln w="15875">
            <a:solidFill>
              <a:srgbClr val="FF7F32"/>
            </a:solidFill>
            <a:prstDash val="solid"/>
          </a:ln>
        </p:spPr>
        <p:txBody>
          <a:bodyPr/>
          <a:p>
            <a:pPr>
              <a:defRPr>
                <a:latin typeface="Helvetica Neue"/>
              </a:defRPr>
            </a:pPr>
          </a:p>
        </p:txBody>
      </p:sp>
      <p:sp>
        <p:nvSpPr>
          <p:cNvPr id="22" name="Text 20"/>
          <p:cNvSpPr/>
          <p:nvPr/>
        </p:nvSpPr>
        <p:spPr>
          <a:xfrm>
            <a:off x="548640" y="6565392"/>
            <a:ext cx="7315200" cy="256032"/>
          </a:xfrm>
          <a:prstGeom prst="roundRect">
            <a:avLst>
              <a:gd name="adj" fmla="val 3000"/>
            </a:avLst>
          </a:prstGeom>
          <a:noFill/>
          <a:ln/>
        </p:spPr>
        <p:txBody>
          <a:bodyPr wrap="square" lIns="0" tIns="0" rIns="0" bIns="0" rtlCol="0" anchor="ctr"/>
          <a:lstStyle/>
          <a:p>
            <a:pPr indent="0" marL="0">
              <a:buNone/>
              <a:defRPr>
                <a:latin typeface="Helvetica Neue"/>
              </a:defRPr>
            </a:pPr>
            <a:r>
              <a:rPr lang="en-US" sz="850" dirty="0">
                <a:solidFill>
                  <a:srgbClr val="334155"/>
                </a:solidFill>
                <a:latin typeface="Helvetica Neue" pitchFamily="34" charset="0"/>
                <a:ea typeface="Arial" pitchFamily="34" charset="-122"/>
                <a:cs typeface="Arial" pitchFamily="34" charset="-120"/>
              </a:rPr>
              <a:t>DM Monthly Report — Tháng 7/2026</a:t>
            </a:r>
            <a:endParaRPr lang="en-US" sz="850" dirty="0"/>
          </a:p>
        </p:txBody>
      </p:sp>
      <p:sp>
        <p:nvSpPr>
          <p:cNvPr id="23" name="Text 21"/>
          <p:cNvSpPr/>
          <p:nvPr/>
        </p:nvSpPr>
        <p:spPr>
          <a:xfrm>
            <a:off x="11155680" y="6565392"/>
            <a:ext cx="484632" cy="256032"/>
          </a:xfrm>
          <a:prstGeom prst="roundRect">
            <a:avLst>
              <a:gd name="adj" fmla="val 3000"/>
            </a:avLst>
          </a:prstGeom>
          <a:noFill/>
          <a:ln/>
        </p:spPr>
        <p:txBody>
          <a:bodyPr wrap="square" lIns="0" tIns="0" rIns="0" bIns="0" rtlCol="0" anchor="ctr"/>
          <a:lstStyle/>
          <a:p>
            <a:pPr algn="r" indent="0" marL="0">
              <a:buNone/>
              <a:defRPr>
                <a:latin typeface="Helvetica Neue"/>
              </a:defRPr>
            </a:pPr>
            <a:r>
              <a:rPr lang="en-US" sz="850" dirty="0">
                <a:solidFill>
                  <a:srgbClr val="334155"/>
                </a:solidFill>
                <a:latin typeface="Helvetica Neue" pitchFamily="34" charset="0"/>
                <a:ea typeface="Arial" pitchFamily="34" charset="-122"/>
                <a:cs typeface="Arial" pitchFamily="34" charset="-120"/>
              </a:rPr>
              <a:t>10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2026-08-04T07:19:34Z</dcterms:created>
  <dcterms:modified xsi:type="dcterms:W3CDTF">2026-08-04T07:19:34Z</dcterms:modified>
</cp:coreProperties>
</file>