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a:t>
            </a:r>
          </a:p>
          <a:p>
            <a:pPr>
              <a:defRPr sz="2200" b="1">
                <a:solidFill>
                  <a:srgbClr val="0E4174"/>
                </a:solidFill>
              </a:defRPr>
            </a:pPr>
            <a:r>
              <a:t>Summary: Highlights &amp; Lowlights</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a:t>
            </a:r>
          </a:p>
          <a:p>
            <a:pPr>
              <a:defRPr sz="2800" b="1">
                <a:solidFill>
                  <a:srgbClr val="0E4174"/>
                </a:solidFill>
              </a:defRPr>
            </a:pPr>
            <a:r>
              <a:t>74.2%</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a:t>
            </a:r>
          </a:p>
          <a:p>
            <a:pPr>
              <a:defRPr sz="2800" b="1">
                <a:solidFill>
                  <a:srgbClr val="0E4174"/>
                </a:solidFill>
              </a:defRPr>
            </a:pPr>
            <a:r>
              <a:t>0.7%</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a:t>
            </a:r>
          </a:p>
          <a:p>
            <a:pPr>
              <a:defRPr sz="2800" b="1">
                <a:solidFill>
                  <a:srgbClr val="0E4174"/>
                </a:solidFill>
              </a:defRPr>
            </a:pPr>
            <a:r>
              <a:t>0.5%</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a:t>
            </a:r>
          </a:p>
          <a:p>
            <a:pPr>
              <a:defRPr sz="2800" b="1">
                <a:solidFill>
                  <a:srgbClr val="0E4174"/>
                </a:solidFill>
              </a:defRPr>
            </a:pPr>
            <a:r>
              <a:t>77.38%</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HIGHLIGHTS</a:t>
            </a:r>
          </a:p>
          <a:p>
            <a:pPr>
              <a:defRPr sz="1200">
                <a:solidFill>
                  <a:srgbClr val="0F172A"/>
                </a:solidFill>
              </a:defRPr>
            </a:pPr>
            <a:r>
              <a:t>• ACTIONS ĐÃ THỰC THI TUẦN QUA</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LOWLIGHTS</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a:t>
            </a:r>
          </a:p>
          <a:p>
            <a:pPr>
              <a:defRPr sz="2200" b="1">
                <a:solidFill>
                  <a:srgbClr val="0E4174"/>
                </a:solidFill>
              </a:defRPr>
            </a:pPr>
            <a:r>
              <a:t>Retention Rate - HAN</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6.08%</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74.17%</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0.7%</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0.17%</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 Mức RR MoM đã có sự cải thiện so với tháng trước, bên cạnh đó RR YoY </a:t>
            </a:r>
            <a:br/>
            <a:r>
              <a:t>- Nhóm FT và NLM 2 nhóm có gap YoY lớn dao động -1.9-6.08%</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Tỷ lệ giữ chân tài xế &gt;=22t — Bóc tách biến động theo thời điểm &amp; segment</a:t>
            </a:r>
          </a:p>
          <a:p>
            <a:pPr>
              <a:defRPr sz="1200">
                <a:solidFill>
                  <a:srgbClr val="0F172A"/>
                </a:solidFill>
              </a:defRPr>
            </a:pPr>
            <a:r>
              <a:t>• ROOT CAUSE ANALYSIS</a:t>
            </a:r>
          </a:p>
          <a:p>
            <a:pPr>
              <a:defRPr sz="1200">
                <a:solidFill>
                  <a:srgbClr val="0F172A"/>
                </a:solidFill>
              </a:defRPr>
            </a:pPr>
            <a:r>
              <a:t>• 74.17%</a:t>
            </a:r>
            <a:br/>
            <a:r>
              <a:t>+0.7% MoM</a:t>
            </a:r>
            <a:br/>
            <a:r>
              <a:t>-0.17% YoY</a:t>
            </a:r>
          </a:p>
          <a:p>
            <a:pPr>
              <a:defRPr sz="1200">
                <a:solidFill>
                  <a:srgbClr val="0F172A"/>
                </a:solidFill>
              </a:defRPr>
            </a:pPr>
            <a:r>
              <a:t>• 78.76%</a:t>
            </a:r>
          </a:p>
          <a:p>
            <a:pPr>
              <a:defRPr sz="1200">
                <a:solidFill>
                  <a:srgbClr val="0F172A"/>
                </a:solidFill>
              </a:defRPr>
            </a:pPr>
            <a:r>
              <a:t>• 80.09%</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3</a:t>
            </a:r>
          </a:p>
          <a:p>
            <a:pPr>
              <a:defRPr sz="2200" b="1">
                <a:solidFill>
                  <a:srgbClr val="0E4174"/>
                </a:solidFill>
              </a:defRPr>
            </a:pPr>
            <a:r>
              <a:t>Retention Rate - SGN</a:t>
            </a:r>
          </a:p>
        </p:txBody>
      </p:sp>
      <p:sp>
        <p:nvSpPr>
          <p:cNvPr id="3" name="Rounded Rectangle 2"/>
          <p:cNvSpPr/>
          <p:nvPr/>
        </p:nvSpPr>
        <p:spPr>
          <a:xfrm>
            <a:off x="548640"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76.13%</a:t>
            </a:r>
          </a:p>
        </p:txBody>
      </p:sp>
      <p:sp>
        <p:nvSpPr>
          <p:cNvPr id="4" name="Rounded Rectangle 3"/>
          <p:cNvSpPr/>
          <p:nvPr/>
        </p:nvSpPr>
        <p:spPr>
          <a:xfrm>
            <a:off x="4246778"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1.4%</a:t>
            </a:r>
          </a:p>
        </p:txBody>
      </p:sp>
      <p:sp>
        <p:nvSpPr>
          <p:cNvPr id="5" name="Rounded Rectangle 4"/>
          <p:cNvSpPr/>
          <p:nvPr/>
        </p:nvSpPr>
        <p:spPr>
          <a:xfrm>
            <a:off x="7944916"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1.06%</a:t>
            </a:r>
          </a:p>
        </p:txBody>
      </p:sp>
      <p:sp>
        <p:nvSpPr>
          <p:cNvPr id="6" name="Rounded Rectangle 5"/>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Tỷ lệ giữ chân tài xế &gt;=22t — Bóc tách biến động theo thời điểm &amp; segment</a:t>
            </a:r>
          </a:p>
          <a:p>
            <a:pPr>
              <a:defRPr sz="1200">
                <a:solidFill>
                  <a:srgbClr val="0F172A"/>
                </a:solidFill>
              </a:defRPr>
            </a:pPr>
            <a:r>
              <a:t>• ROOT CAUSE ANALYSIS</a:t>
            </a:r>
          </a:p>
        </p:txBody>
      </p:sp>
      <p:sp>
        <p:nvSpPr>
          <p:cNvPr id="7" name="Rounded Rectangle 6"/>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 RR hụt MoM, YoY. Hụt mạnh nhất ở nhóm NLM</a:t>
            </a:r>
            <a:br/>
            <a:r>
              <a:t>Next action:</a:t>
            </a:r>
            <a:br/>
            <a:r>
              <a:t>- Work với GR để lên plan khảo sát nhóm tx churn tìm hiểu mục đích đăng ký app, lí do vì sao không tiếp tục hoạt động -&gt; tìm ra phương án hỗ trợ sớm</a:t>
            </a:r>
          </a:p>
          <a:p>
            <a:pPr>
              <a:defRPr sz="1200">
                <a:solidFill>
                  <a:srgbClr val="0F172A"/>
                </a:solidFill>
              </a:defRPr>
            </a:pPr>
            <a:r>
              <a:t>• 76.13%</a:t>
            </a:r>
            <a:br/>
            <a:r>
              <a:t>-1.4% MoM</a:t>
            </a:r>
            <a:br/>
            <a:r>
              <a:t>-1.06% YoY</a:t>
            </a:r>
          </a:p>
        </p:txBody>
      </p:sp>
      <p:sp>
        <p:nvSpPr>
          <p:cNvPr id="8" name="TextBox 7"/>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4</a:t>
            </a:r>
          </a:p>
          <a:p>
            <a:pPr>
              <a:defRPr sz="2200" b="1">
                <a:solidFill>
                  <a:srgbClr val="0E4174"/>
                </a:solidFill>
              </a:defRPr>
            </a:pPr>
            <a:r>
              <a:t>Supply Hours</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2.6%</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10.5%</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11.5%</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2.5%</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Thời gian hoạt động của tài xế</a:t>
            </a:r>
          </a:p>
          <a:p>
            <a:pPr>
              <a:defRPr sz="1200">
                <a:solidFill>
                  <a:srgbClr val="0F172A"/>
                </a:solidFill>
              </a:defRPr>
            </a:pPr>
            <a:r>
              <a:t>• HAN</a:t>
            </a:r>
          </a:p>
          <a:p>
            <a:pPr>
              <a:defRPr sz="1200">
                <a:solidFill>
                  <a:srgbClr val="0F172A"/>
                </a:solidFill>
              </a:defRPr>
            </a:pPr>
            <a:r>
              <a:t>• SGN</a:t>
            </a:r>
          </a:p>
          <a:p>
            <a:pPr>
              <a:defRPr sz="1200">
                <a:solidFill>
                  <a:srgbClr val="0F172A"/>
                </a:solidFill>
              </a:defRPr>
            </a:pPr>
            <a:r>
              <a:t>• Total SH by segment</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Demand</a:t>
            </a:r>
          </a:p>
          <a:p>
            <a:pPr>
              <a:defRPr sz="1200">
                <a:solidFill>
                  <a:srgbClr val="0F172A"/>
                </a:solidFill>
              </a:defRPr>
            </a:pPr>
            <a:r>
              <a:t>• Total SH by segment</a:t>
            </a:r>
          </a:p>
          <a:p>
            <a:pPr>
              <a:defRPr sz="1200">
                <a:solidFill>
                  <a:srgbClr val="0F172A"/>
                </a:solidFill>
              </a:defRPr>
            </a:pPr>
            <a:r>
              <a:t>• INSIGHT:</a:t>
            </a:r>
            <a:br/>
            <a:r>
              <a:t>- SH gap 2.6% so với planning, hụt ở nhóm FT/PT và NIM</a:t>
            </a:r>
          </a:p>
          <a:p>
            <a:pPr>
              <a:defRPr sz="1200">
                <a:solidFill>
                  <a:srgbClr val="0F172A"/>
                </a:solidFill>
              </a:defRPr>
            </a:pPr>
            <a:r>
              <a:t>• INSIGHT: </a:t>
            </a:r>
            <a:br/>
            <a:r>
              <a:t>- SH gap 10.5% so với planning, hụt chủ yếu ở nhóm FT/PT</a:t>
            </a:r>
            <a:br/>
            <a:r>
              <a:t>- RPH tăng11.5% WoW, AR-FR giảm mạnh ~2.5% do ảnh hưởng do thời tiết xấu (nắng gắt + mưa giông) + tăng mạnh demand nhánh bulky. Details link thời tiết</a:t>
            </a:r>
          </a:p>
          <a:p>
            <a:pPr>
              <a:defRPr sz="1200">
                <a:solidFill>
                  <a:srgbClr val="0F172A"/>
                </a:solidFill>
              </a:defRPr>
            </a:pPr>
            <a:r>
              <a:t>• Demand</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5</a:t>
            </a:r>
          </a:p>
          <a:p>
            <a:pPr>
              <a:defRPr sz="2200" b="1">
                <a:solidFill>
                  <a:srgbClr val="0E4174"/>
                </a:solidFill>
              </a:defRPr>
            </a:pPr>
            <a:r>
              <a:t>Cancel Rate- HAN</a:t>
            </a:r>
          </a:p>
        </p:txBody>
      </p:sp>
      <p:sp>
        <p:nvSpPr>
          <p:cNvPr id="3" name="Rounded Rectangle 2"/>
          <p:cNvSpPr/>
          <p:nvPr/>
        </p:nvSpPr>
        <p:spPr>
          <a:xfrm>
            <a:off x="548640"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0.6%</a:t>
            </a:r>
          </a:p>
        </p:txBody>
      </p:sp>
      <p:sp>
        <p:nvSpPr>
          <p:cNvPr id="4" name="Rounded Rectangle 3"/>
          <p:cNvSpPr/>
          <p:nvPr/>
        </p:nvSpPr>
        <p:spPr>
          <a:xfrm>
            <a:off x="4246778"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13%</a:t>
            </a:r>
          </a:p>
        </p:txBody>
      </p:sp>
      <p:sp>
        <p:nvSpPr>
          <p:cNvPr id="5" name="Rounded Rectangle 4"/>
          <p:cNvSpPr/>
          <p:nvPr/>
        </p:nvSpPr>
        <p:spPr>
          <a:xfrm>
            <a:off x="7944916"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0.7%</a:t>
            </a:r>
          </a:p>
        </p:txBody>
      </p:sp>
      <p:sp>
        <p:nvSpPr>
          <p:cNvPr id="6" name="Rounded Rectangle 5"/>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INSIGHT: </a:t>
            </a:r>
            <a:br/>
            <a:r>
              <a:t>- CR PoC chung giảm 0.6% trong, đạt mốc 13%. </a:t>
            </a:r>
            <a:br/>
            <a:r>
              <a:t>- CR đều giảm ở các tập, Retention giảm từ 0.2-0.7%</a:t>
            </a:r>
          </a:p>
        </p:txBody>
      </p:sp>
      <p:sp>
        <p:nvSpPr>
          <p:cNvPr id="7" name="Rounded Rectangle 6"/>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Overview CR by Segment</a:t>
            </a:r>
          </a:p>
          <a:p>
            <a:pPr>
              <a:defRPr sz="1200">
                <a:solidFill>
                  <a:srgbClr val="0F172A"/>
                </a:solidFill>
              </a:defRPr>
            </a:pPr>
            <a:r>
              <a:t>• CR(Rule PoC) by Segment</a:t>
            </a:r>
          </a:p>
        </p:txBody>
      </p:sp>
      <p:sp>
        <p:nvSpPr>
          <p:cNvPr id="8" name="TextBox 7"/>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6</a:t>
            </a:r>
          </a:p>
          <a:p>
            <a:pPr>
              <a:defRPr sz="2200" b="1">
                <a:solidFill>
                  <a:srgbClr val="0E4174"/>
                </a:solidFill>
              </a:defRPr>
            </a:pPr>
            <a:r>
              <a:t>Bulky performance</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1M</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60%</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10M</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INSIGHT</a:t>
            </a:r>
          </a:p>
          <a:p>
            <a:pPr>
              <a:defRPr sz="2800" b="1">
                <a:solidFill>
                  <a:srgbClr val="0E4174"/>
                </a:solidFill>
              </a:defRPr>
            </a:pPr>
            <a:r>
              <a:t>15M</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Demand Bulky &amp; Active by Total COD đơn cha</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INSIGHT: </a:t>
            </a:r>
            <a:br/>
            <a:r>
              <a:t>- Tỷ trọng đơn Bulky high COD (total_cod &gt;=1M) tăng mạnh trong 2 tuần gần nhất, chiếm 50-60%</a:t>
            </a:r>
            <a:br/>
            <a:r>
              <a:t>- Active bulky chung cũng tăng theo trend. SL TX có hoàn thành tối thiểu 1 trip Bulky high COD tăng gấp 1.3-3 lần</a:t>
            </a:r>
            <a:br/>
            <a:br/>
            <a:r>
              <a:t>NEXT ACTION:</a:t>
            </a:r>
            <a:br/>
            <a:r>
              <a:t>- Review perform nhóm được tăng COD balance 10M-&gt;15M</a:t>
            </a:r>
            <a:br/>
            <a:r>
              <a:t>- Đẩy tuyển dụng TX COD balance cao vào đội chuyển</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7</a:t>
            </a:r>
          </a:p>
          <a:p>
            <a:pPr>
              <a:defRPr sz="2200" b="1">
                <a:solidFill>
                  <a:srgbClr val="0E4174"/>
                </a:solidFill>
              </a:defRPr>
            </a:pPr>
            <a:r>
              <a:t>CORE 2H/BULKY</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Action</a:t>
            </a:r>
            <a:br/>
            <a:r>
              <a:t>- Phát hiện các tài khoản không chính chủ trong đội=&gt; Gửi list QM để rà soát và xử lý =&gt; 9 tài xế ngưng hợp tác ( 7 case không đảm bảo hiệu suất)</a:t>
            </a:r>
            <a:br/>
            <a:r>
              <a:t>- Tiến hành tuyển mới để bổ sung tài xế xử lý C.P. Bổ sung thêm 5 tài xế</a:t>
            </a:r>
            <a:br/>
            <a:r>
              <a:t>- Số lượng tài xế Active đã cải thiện tuy nhiên biến động không ổn định, các ngày chỉ duy trì được 50-70 tài xế hoạt động</a:t>
            </a:r>
            <a:br/>
            <a:r>
              <a:t>- Sau khi tiến hành nhắc nhở đội về việc đảm bảo lead-time đơn hàng số, lượng tài xế vi phạm đã giảm 1 nửa.</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Đội core chuyên chạy đơn 2H, 2H - Cỡ Lớn - Plan Core 2H</a:t>
            </a:r>
          </a:p>
          <a:p>
            <a:pPr>
              <a:defRPr sz="1200">
                <a:solidFill>
                  <a:srgbClr val="0F172A"/>
                </a:solidFill>
              </a:defRPr>
            </a:pPr>
            <a:r>
              <a:t>• Issue/Next Action:</a:t>
            </a:r>
            <a:br/>
            <a:r>
              <a:t>-Rà soát lại các tài xế lead-time 12h =&gt; Gửi QM tiến hành chế tài và yêu cầu rời khỏi đội.</a:t>
            </a:r>
            <a:br/>
            <a:r>
              <a:t>- Chặn lệnh bot gán đơn sau 18h </a:t>
            </a:r>
            <a:br/>
            <a:r>
              <a:t>- Tiếp tục rà soát và thúc đẩy hiệu suất đội</a:t>
            </a:r>
          </a:p>
          <a:p>
            <a:pPr>
              <a:defRPr sz="1200">
                <a:solidFill>
                  <a:srgbClr val="0F172A"/>
                </a:solidFill>
              </a:defRPr>
            </a:pPr>
            <a:r>
              <a:t>• Tình hình nhân sự của đội</a:t>
            </a:r>
          </a:p>
          <a:p>
            <a:pPr>
              <a:defRPr sz="1200">
                <a:solidFill>
                  <a:srgbClr val="0F172A"/>
                </a:solidFill>
              </a:defRPr>
            </a:pPr>
            <a:r>
              <a:t>• Hiệu suất của đội</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8</a:t>
            </a:r>
          </a:p>
          <a:p>
            <a:pPr>
              <a:defRPr sz="2200" b="1">
                <a:solidFill>
                  <a:srgbClr val="0E4174"/>
                </a:solidFill>
              </a:defRPr>
            </a:pPr>
            <a:r>
              <a:t>Plan Active tài xế Ân xá 13.8</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Action</a:t>
            </a:r>
            <a:br/>
            <a:r>
              <a:t>Ân xá: Hoàn tất danh sách tài xế và gửi QM gán tag hỗ trợ — 14/8.</a:t>
            </a:r>
            <a:br/>
            <a:r>
              <a:t>Truyền thông kích hoạt: Triển khai từ 14/8, đạt 220/200 tài xế active trở lại.</a:t>
            </a:r>
            <a:br/>
            <a:r>
              <a:t>Gap: 32/ 63 đã ful dịch vụ  thời tiết cực đoan (nắng nóng, mưa dông cuối tuần).</a:t>
            </a:r>
            <a:br/>
            <a:r>
              <a:t>Next Action </a:t>
            </a:r>
            <a:br/>
            <a:r>
              <a:t>Tiếp tục push Noti, đồng thời loại trừ nhóm tài xế đã active để tránh spam.</a:t>
            </a:r>
            <a:br/>
            <a:r>
              <a:t>Từ 26/8: Gửi cảnh báo đến nhóm đã active nhưng chưa ký quỹ đủ, thúc đẩy hoàn tất ký quỹ để duy trì hoạt động.</a:t>
            </a:r>
            <a:br/>
            <a:r>
              <a:t>Call-out trực tiếp: Gọi điện nhắc nhở và thúc đẩy tài xế ký quỹ đủ điều kiện hoạt động trước khi kết thúc hạn ân xá.</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Action</a:t>
            </a:r>
            <a:br/>
            <a:r>
              <a:t>Ân xá: Hoàn tất danh sách tài xế và gửi QM gán tag hỗ trợ — 14/8.</a:t>
            </a:r>
            <a:br/>
            <a:r>
              <a:t>Truyền thông kích hoạt: Triển khai từ 14/8, đạt 220/200 tài xế active trở lại.</a:t>
            </a:r>
            <a:br/>
            <a:r>
              <a:t>Gap: 32/ 63 đã ful dịch vụ  thời tiết cực đoan (nắng nóng, mưa dông cuối tuần).</a:t>
            </a:r>
            <a:br/>
            <a:r>
              <a:t>Next Action </a:t>
            </a:r>
            <a:br/>
            <a:r>
              <a:t>Tiếp tục push Noti, đồng thời loại trừ nhóm tài xế đã active để tránh spam.</a:t>
            </a:r>
            <a:br/>
            <a:r>
              <a:t>Từ 26/8: Gửi cảnh báo đến nhóm đã active nhưng chưa ký quỹ đủ, thúc đẩy hoàn tất ký quỹ để duy trì hoạt động.</a:t>
            </a:r>
            <a:br/>
            <a:r>
              <a:t>Call-out trực tiếp: Gọi điện nhắc nhở và thúc đẩy tài xế ký quỹ đủ điều kiện hoạt động trước khi kết thúc hạn ân xá.</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9</a:t>
            </a:r>
          </a:p>
          <a:p>
            <a:pPr>
              <a:defRPr sz="2200" b="1">
                <a:solidFill>
                  <a:srgbClr val="0E4174"/>
                </a:solidFill>
              </a:defRPr>
            </a:pPr>
            <a:r>
              <a:t>BB</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Baga Bulky: Giai đoạn triển khai lần đầu (GĐ 1 - 15/8 đến 30/8)</a:t>
            </a:r>
          </a:p>
          <a:p>
            <a:pPr>
              <a:defRPr sz="1200">
                <a:solidFill>
                  <a:srgbClr val="0F172A"/>
                </a:solidFill>
              </a:defRPr>
            </a:pPr>
            <a:r>
              <a:t>• 5</a:t>
            </a:r>
          </a:p>
          <a:p>
            <a:pPr>
              <a:defRPr sz="1200">
                <a:solidFill>
                  <a:srgbClr val="0F172A"/>
                </a:solidFill>
              </a:defRPr>
            </a:pPr>
            <a:r>
              <a:t>• BƯỚC 1</a:t>
            </a:r>
          </a:p>
          <a:p>
            <a:pPr>
              <a:defRPr sz="1200">
                <a:solidFill>
                  <a:srgbClr val="0F172A"/>
                </a:solidFill>
              </a:defRPr>
            </a:pPr>
            <a:r>
              <a:t>• Đăng ký</a:t>
            </a:r>
          </a:p>
          <a:p>
            <a:pPr>
              <a:defRPr sz="1200">
                <a:solidFill>
                  <a:srgbClr val="0F172A"/>
                </a:solidFill>
              </a:defRPr>
            </a:pPr>
            <a:r>
              <a:t>• Tài xế đăng ký tham gia chương trình qua form/app</a:t>
            </a:r>
          </a:p>
          <a:p>
            <a:pPr>
              <a:defRPr sz="1200">
                <a:solidFill>
                  <a:srgbClr val="0F172A"/>
                </a:solidFill>
              </a:defRPr>
            </a:pPr>
            <a:r>
              <a:t>• BƯỚC 2</a:t>
            </a:r>
          </a:p>
          <a:p>
            <a:pPr>
              <a:defRPr sz="1200">
                <a:solidFill>
                  <a:srgbClr val="0F172A"/>
                </a:solidFill>
              </a:defRPr>
            </a:pPr>
            <a:r>
              <a:t>• Mua &amp; lắp baga</a:t>
            </a:r>
          </a:p>
          <a:p>
            <a:pPr>
              <a:defRPr sz="1200">
                <a:solidFill>
                  <a:srgbClr val="0F172A"/>
                </a:solidFill>
              </a:defRPr>
            </a:pPr>
            <a:r>
              <a:t>• Tài xế tự mua và lắp đặt baga chở hàng cồng kềnh</a:t>
            </a:r>
          </a:p>
          <a:p>
            <a:pPr>
              <a:defRPr sz="1200">
                <a:solidFill>
                  <a:srgbClr val="0F172A"/>
                </a:solidFill>
              </a:defRPr>
            </a:pPr>
            <a:r>
              <a:t>• BƯỚC 3</a:t>
            </a:r>
          </a:p>
          <a:p>
            <a:pPr>
              <a:defRPr sz="1200">
                <a:solidFill>
                  <a:srgbClr val="0F172A"/>
                </a:solidFill>
              </a:defRPr>
            </a:pPr>
            <a:r>
              <a:t>• Xác nhận</a:t>
            </a:r>
          </a:p>
          <a:p>
            <a:pPr>
              <a:defRPr sz="1200">
                <a:solidFill>
                  <a:srgbClr val="0F172A"/>
                </a:solidFill>
              </a:defRPr>
            </a:pPr>
            <a:r>
              <a:t>• Tài xế xác nhận tham gia chương trình thưởng &amp; thực hiện xác thực in app</a:t>
            </a:r>
          </a:p>
          <a:p>
            <a:pPr>
              <a:defRPr sz="1200">
                <a:solidFill>
                  <a:srgbClr val="0F172A"/>
                </a:solidFill>
              </a:defRPr>
            </a:pPr>
            <a:r>
              <a:t>• BƯỚC 4</a:t>
            </a:r>
          </a:p>
          <a:p>
            <a:pPr>
              <a:defRPr sz="1200">
                <a:solidFill>
                  <a:srgbClr val="0F172A"/>
                </a:solidFill>
              </a:defRPr>
            </a:pPr>
            <a:r>
              <a:t>• Hoàn phí</a:t>
            </a:r>
          </a:p>
          <a:p>
            <a:pPr>
              <a:defRPr sz="1200">
                <a:solidFill>
                  <a:srgbClr val="0F172A"/>
                </a:solidFill>
              </a:defRPr>
            </a:pPr>
            <a:r>
              <a:t>• Nhận tiền hoàn phí nếu hoàn thành nhiệm vụ</a:t>
            </a:r>
          </a:p>
          <a:p>
            <a:pPr>
              <a:defRPr sz="1200">
                <a:solidFill>
                  <a:srgbClr val="0F172A"/>
                </a:solidFill>
              </a:defRPr>
            </a:pPr>
            <a:r>
              <a:t>• ➜</a:t>
            </a:r>
          </a:p>
          <a:p>
            <a:pPr>
              <a:defRPr sz="1200">
                <a:solidFill>
                  <a:srgbClr val="0F172A"/>
                </a:solidFill>
              </a:defRPr>
            </a:pPr>
            <a:r>
              <a:t>• ➜</a:t>
            </a:r>
          </a:p>
          <a:p>
            <a:pPr>
              <a:defRPr sz="1200">
                <a:solidFill>
                  <a:srgbClr val="0F172A"/>
                </a:solidFill>
              </a:defRPr>
            </a:pPr>
            <a:r>
              <a:t>• ➜</a:t>
            </a:r>
          </a:p>
          <a:p>
            <a:pPr>
              <a:defRPr sz="1200">
                <a:solidFill>
                  <a:srgbClr val="0F172A"/>
                </a:solidFill>
              </a:defRPr>
            </a:pPr>
            <a:r>
              <a:t>• Quy trình vận hành</a:t>
            </a:r>
          </a:p>
          <a:p>
            <a:pPr>
              <a:defRPr sz="1200">
                <a:solidFill>
                  <a:srgbClr val="0F172A"/>
                </a:solidFill>
              </a:defRPr>
            </a:pPr>
            <a:r>
              <a:t>• Timeline</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Giai đoạn</a:t>
            </a:r>
            <a:br/>
            <a:r>
              <a:t>Chuẩn bị</a:t>
            </a:r>
          </a:p>
          <a:p>
            <a:pPr>
              <a:defRPr sz="1200">
                <a:solidFill>
                  <a:srgbClr val="0F172A"/>
                </a:solidFill>
              </a:defRPr>
            </a:pPr>
            <a:r>
              <a:t>• [23/7–1/8]</a:t>
            </a:r>
          </a:p>
          <a:p>
            <a:pPr>
              <a:defRPr sz="1200">
                <a:solidFill>
                  <a:srgbClr val="0F172A"/>
                </a:solidFill>
              </a:defRPr>
            </a:pPr>
            <a:r>
              <a:t>• Hoàn thành</a:t>
            </a:r>
          </a:p>
          <a:p>
            <a:pPr>
              <a:defRPr sz="1200">
                <a:solidFill>
                  <a:srgbClr val="0F172A"/>
                </a:solidFill>
              </a:defRPr>
            </a:pPr>
            <a:r>
              <a:t>• [3/8–14/8]</a:t>
            </a:r>
          </a:p>
          <a:p>
            <a:pPr>
              <a:defRPr sz="1200">
                <a:solidFill>
                  <a:srgbClr val="0F172A"/>
                </a:solidFill>
              </a:defRPr>
            </a:pPr>
            <a:r>
              <a:t>• Hoàn thành</a:t>
            </a:r>
          </a:p>
          <a:p>
            <a:pPr>
              <a:defRPr sz="1200">
                <a:solidFill>
                  <a:srgbClr val="0F172A"/>
                </a:solidFill>
              </a:defRPr>
            </a:pPr>
            <a:r>
              <a:t>• [15/8–30/8]</a:t>
            </a:r>
          </a:p>
          <a:p>
            <a:pPr>
              <a:defRPr sz="1200">
                <a:solidFill>
                  <a:srgbClr val="0F172A"/>
                </a:solidFill>
              </a:defRPr>
            </a:pPr>
            <a:r>
              <a:t>• Đang triển khai</a:t>
            </a:r>
          </a:p>
          <a:p>
            <a:pPr>
              <a:defRPr sz="1200">
                <a:solidFill>
                  <a:srgbClr val="0F172A"/>
                </a:solidFill>
              </a:defRPr>
            </a:pPr>
            <a:r>
              <a:t>• [16/8 – 30/8]</a:t>
            </a:r>
          </a:p>
          <a:p>
            <a:pPr>
              <a:defRPr sz="1200">
                <a:solidFill>
                  <a:srgbClr val="0F172A"/>
                </a:solidFill>
              </a:defRPr>
            </a:pPr>
            <a:r>
              <a:t>• Sắp tới</a:t>
            </a:r>
          </a:p>
          <a:p>
            <a:pPr>
              <a:defRPr sz="1200">
                <a:solidFill>
                  <a:srgbClr val="0F172A"/>
                </a:solidFill>
              </a:defRPr>
            </a:pPr>
            <a:r>
              <a:t>• PA: Build &amp; set up chl in app</a:t>
            </a:r>
            <a:br/>
            <a:r>
              <a:t>QM: Flow xác thực baga</a:t>
            </a:r>
            <a:br/>
            <a:r>
              <a:t>DS: Plan truyền thông form tham gia chương trình</a:t>
            </a:r>
          </a:p>
          <a:p>
            <a:pPr>
              <a:defRPr sz="1200">
                <a:solidFill>
                  <a:srgbClr val="0F172A"/>
                </a:solidFill>
              </a:defRPr>
            </a:pPr>
            <a:r>
              <a:t>• Giai đoạn</a:t>
            </a:r>
            <a:br/>
            <a:r>
              <a:t>Đăng ký</a:t>
            </a:r>
          </a:p>
          <a:p>
            <a:pPr>
              <a:defRPr sz="1200">
                <a:solidFill>
                  <a:srgbClr val="0F172A"/>
                </a:solidFill>
              </a:defRPr>
            </a:pPr>
            <a:r>
              <a:t>• Push notifications form đăng ký tham gia chương trình</a:t>
            </a:r>
            <a:br/>
            <a:r>
              <a:t>Confirm flow xác thực baga với QM</a:t>
            </a:r>
          </a:p>
          <a:p>
            <a:pPr>
              <a:defRPr sz="1200">
                <a:solidFill>
                  <a:srgbClr val="0F172A"/>
                </a:solidFill>
              </a:defRPr>
            </a:pPr>
            <a:r>
              <a:t>• Giai đoạn</a:t>
            </a:r>
            <a:br/>
            <a:r>
              <a:t>Triển khai</a:t>
            </a:r>
          </a:p>
          <a:p>
            <a:pPr>
              <a:defRPr sz="1200">
                <a:solidFill>
                  <a:srgbClr val="0F172A"/>
                </a:solidFill>
              </a:defRPr>
            </a:pPr>
            <a:r>
              <a:t>• Triển khai flow thưởng GĐ 1 </a:t>
            </a:r>
            <a:br/>
            <a:r>
              <a:t>+ HAN: 178 tx, SGN: 336 tx</a:t>
            </a:r>
            <a:br/>
            <a:r>
              <a:t>Hoàn thành quy trình 1Of cf cost với PA -&gt; chuẩn bị cho GĐ 2, 3</a:t>
            </a:r>
          </a:p>
          <a:p>
            <a:pPr>
              <a:defRPr sz="1200">
                <a:solidFill>
                  <a:srgbClr val="0F172A"/>
                </a:solidFill>
              </a:defRPr>
            </a:pPr>
            <a:r>
              <a:t>• Giai đoạn</a:t>
            </a:r>
            <a:br/>
            <a:r>
              <a:t>Theo dõi</a:t>
            </a:r>
          </a:p>
          <a:p>
            <a:pPr>
              <a:defRPr sz="1200">
                <a:solidFill>
                  <a:srgbClr val="0F172A"/>
                </a:solidFill>
              </a:defRPr>
            </a:pPr>
            <a:r>
              <a:t>• Follow timeline truyền thông, tiếp tục push lead đăng ký GĐ 2, 3</a:t>
            </a:r>
            <a:br/>
            <a:r>
              <a:t>Follow quá trình tham gia thưởng + xác thực baga -&gt; ghi nhận driver voice</a:t>
            </a:r>
          </a:p>
          <a:p>
            <a:pPr>
              <a:defRPr sz="1200">
                <a:solidFill>
                  <a:srgbClr val="0F172A"/>
                </a:solidFill>
              </a:defRPr>
            </a:pPr>
            <a:r>
              <a:t>• Giai đoạn</a:t>
            </a:r>
            <a:br/>
            <a:r>
              <a:t>Hoàn tất</a:t>
            </a:r>
          </a:p>
          <a:p>
            <a:pPr>
              <a:defRPr sz="1200">
                <a:solidFill>
                  <a:srgbClr val="0F172A"/>
                </a:solidFill>
              </a:defRPr>
            </a:pPr>
            <a:r>
              <a:t>• Sắp tới</a:t>
            </a:r>
          </a:p>
          <a:p>
            <a:pPr>
              <a:defRPr sz="1200">
                <a:solidFill>
                  <a:srgbClr val="0F172A"/>
                </a:solidFill>
              </a:defRPr>
            </a:pPr>
            <a:r>
              <a:t>• [1/9 – 30/9]</a:t>
            </a:r>
          </a:p>
          <a:p>
            <a:pPr>
              <a:defRPr sz="1200">
                <a:solidFill>
                  <a:srgbClr val="0F172A"/>
                </a:solidFill>
              </a:defRPr>
            </a:pPr>
            <a:r>
              <a:t>• Follow &amp; push số lượng tài xế tick baga/bulky</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10</a:t>
            </a:r>
          </a:p>
          <a:p>
            <a:pPr>
              <a:defRPr sz="2200" b="1">
                <a:solidFill>
                  <a:srgbClr val="0E4174"/>
                </a:solidFill>
              </a:defRPr>
            </a:pPr>
            <a:r>
              <a:t>Growth Weekly Report</a:t>
            </a:r>
          </a:p>
        </p:txBody>
      </p:sp>
      <p:sp>
        <p:nvSpPr>
          <p:cNvPr id="3" name="Rounded Rectangle 2"/>
          <p:cNvSpPr/>
          <p:nvPr/>
        </p:nvSpPr>
        <p:spPr>
          <a:xfrm>
            <a:off x="548640"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44.2%</a:t>
            </a:r>
          </a:p>
        </p:txBody>
      </p:sp>
      <p:sp>
        <p:nvSpPr>
          <p:cNvPr id="4" name="Rounded Rectangle 3"/>
          <p:cNvSpPr/>
          <p:nvPr/>
        </p:nvSpPr>
        <p:spPr>
          <a:xfrm>
            <a:off x="4246778"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7.4%</a:t>
            </a:r>
          </a:p>
        </p:txBody>
      </p:sp>
      <p:sp>
        <p:nvSpPr>
          <p:cNvPr id="5" name="Rounded Rectangle 4"/>
          <p:cNvSpPr/>
          <p:nvPr/>
        </p:nvSpPr>
        <p:spPr>
          <a:xfrm>
            <a:off x="7944916"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65%</a:t>
            </a:r>
          </a:p>
        </p:txBody>
      </p:sp>
      <p:sp>
        <p:nvSpPr>
          <p:cNvPr id="6" name="Rounded Rectangle 5"/>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Total Capacity đang hụt 7.4% so với tiến độ MTD, chủ yếu do Active NIM tăng chậm, hiện chỉ đạt ~65% so với cùng kỳ tháng trước. Productivity của các tập vẫn duy trì ổn định.</a:t>
            </a:r>
          </a:p>
        </p:txBody>
      </p:sp>
      <p:sp>
        <p:nvSpPr>
          <p:cNvPr id="7" name="Rounded Rectangle 6"/>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[HAN] OPERATION GROWTH</a:t>
            </a:r>
          </a:p>
          <a:p>
            <a:pPr>
              <a:defRPr sz="1200">
                <a:solidFill>
                  <a:srgbClr val="0F172A"/>
                </a:solidFill>
              </a:defRPr>
            </a:pPr>
            <a:r>
              <a:t>• 44.2%</a:t>
            </a:r>
          </a:p>
          <a:p>
            <a:pPr>
              <a:defRPr sz="1200">
                <a:solidFill>
                  <a:srgbClr val="0F172A"/>
                </a:solidFill>
              </a:defRPr>
            </a:pPr>
            <a:r>
              <a:t>• Capacity HAN M8</a:t>
            </a:r>
          </a:p>
        </p:txBody>
      </p:sp>
      <p:sp>
        <p:nvSpPr>
          <p:cNvPr id="8" name="TextBox 7"/>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11</a:t>
            </a:r>
          </a:p>
          <a:p>
            <a:pPr>
              <a:defRPr sz="2200" b="1">
                <a:solidFill>
                  <a:srgbClr val="0E4174"/>
                </a:solidFill>
              </a:defRPr>
            </a:pPr>
            <a:r>
              <a:t>Growth Weekly Report</a:t>
            </a:r>
          </a:p>
        </p:txBody>
      </p:sp>
      <p:sp>
        <p:nvSpPr>
          <p:cNvPr id="3" name="Rounded Rectangle 2"/>
          <p:cNvSpPr/>
          <p:nvPr/>
        </p:nvSpPr>
        <p:spPr>
          <a:xfrm>
            <a:off x="548640" y="1645920"/>
            <a:ext cx="10911535"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51.8%</a:t>
            </a:r>
          </a:p>
        </p:txBody>
      </p:sp>
      <p:sp>
        <p:nvSpPr>
          <p:cNvPr id="4" name="Rounded Rectangle 3"/>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Total Capacity đã theo kịp tiến độ MTD. Tương tự HAN, Active NIM vẫn tăng trưởng chậm; bù lại, NLM đang duy trì hoạt động tốt với Active giảm không đáng kể theo trend tự nhiên, đồng thời Productivity được bảo toàn.</a:t>
            </a:r>
          </a:p>
        </p:txBody>
      </p:sp>
      <p:sp>
        <p:nvSpPr>
          <p:cNvPr id="5" name="Rounded Rectangle 4"/>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Total Capacity đã theo kịp tiến độ MTD. Tương tự HAN, Active NIM vẫn tăng trưởng chậm; bù lại, NLM đang duy trì hoạt động tốt với Active giảm không đáng kể theo trend tự nhiên, đồng thời Productivity được bảo toàn.</a:t>
            </a:r>
          </a:p>
        </p:txBody>
      </p:sp>
      <p:sp>
        <p:nvSpPr>
          <p:cNvPr id="6" name="TextBox 5"/>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12</a:t>
            </a:r>
          </a:p>
          <a:p>
            <a:pPr>
              <a:defRPr sz="2200" b="1">
                <a:solidFill>
                  <a:srgbClr val="0E4174"/>
                </a:solidFill>
              </a:defRPr>
            </a:pPr>
            <a:r>
              <a:t>Growth Weekly Report</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100%</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93.17%</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100%</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12.57%</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GDR đạt 100%.</a:t>
            </a:r>
            <a:br/>
            <a:r>
              <a:t>CR không biến động quá nhiều WoW. </a:t>
            </a:r>
            <a:br/>
            <a:r>
              <a:t>DFD Retention đã vượt tỷ lệ tháng trước, nhờ nhóm tài xế trẻ bắt đầu quay lại hoạt động sau kỳ hè. Tuy nhiên, thời tiết vẫn ảnh hưởng đến khả năng hoạt động, khiến tỷ lệ tăng hằng ngày còn khá chậm.</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GDR đạt 100%.</a:t>
            </a:r>
            <a:br/>
            <a:r>
              <a:t>CR không biến động quá nhiều WoW. </a:t>
            </a:r>
            <a:br/>
            <a:r>
              <a:t>DFD Retention đã vượt tỷ lệ tháng trước, nhờ nhóm tài xế trẻ bắt đầu quay lại hoạt động sau kỳ hè. Tuy nhiên, thời tiết vẫn ảnh hưởng đến khả năng hoạt động, khiến tỷ lệ tăng hằng ngày còn khá chậm.</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13</a:t>
            </a:r>
          </a:p>
          <a:p>
            <a:pPr>
              <a:defRPr sz="2200" b="1">
                <a:solidFill>
                  <a:srgbClr val="0E4174"/>
                </a:solidFill>
              </a:defRPr>
            </a:pPr>
            <a:r>
              <a:t>Growth Weekly Report</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110%</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96.34%</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85%</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11.10%</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[SGN] OPERATION GROWTH</a:t>
            </a:r>
          </a:p>
          <a:p>
            <a:pPr>
              <a:defRPr sz="1200">
                <a:solidFill>
                  <a:srgbClr val="0F172A"/>
                </a:solidFill>
              </a:defRPr>
            </a:pPr>
            <a:r>
              <a:t>• 110%</a:t>
            </a:r>
          </a:p>
          <a:p>
            <a:pPr>
              <a:defRPr sz="1200">
                <a:solidFill>
                  <a:srgbClr val="0F172A"/>
                </a:solidFill>
              </a:defRPr>
            </a:pPr>
            <a:r>
              <a:t>• Achieved</a:t>
            </a:r>
          </a:p>
          <a:p>
            <a:pPr>
              <a:defRPr sz="1200">
                <a:solidFill>
                  <a:srgbClr val="0F172A"/>
                </a:solidFill>
              </a:defRPr>
            </a:pPr>
            <a:r>
              <a:t>• Actual</a:t>
            </a:r>
            <a:br/>
            <a:r>
              <a:t>96.34%</a:t>
            </a:r>
          </a:p>
          <a:p>
            <a:pPr>
              <a:defRPr sz="1200">
                <a:solidFill>
                  <a:srgbClr val="0F172A"/>
                </a:solidFill>
              </a:defRPr>
            </a:pPr>
            <a:r>
              <a:t>• 85%</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Achieved</a:t>
            </a:r>
          </a:p>
          <a:p>
            <a:pPr>
              <a:defRPr sz="1200">
                <a:solidFill>
                  <a:srgbClr val="0F172A"/>
                </a:solidFill>
              </a:defRPr>
            </a:pPr>
            <a:r>
              <a:t>• Actual</a:t>
            </a:r>
            <a:br/>
            <a:r>
              <a:t>11.10%</a:t>
            </a:r>
          </a:p>
          <a:p>
            <a:pPr>
              <a:defRPr sz="1200">
                <a:solidFill>
                  <a:srgbClr val="0F172A"/>
                </a:solidFill>
              </a:defRPr>
            </a:pPr>
            <a:r>
              <a:t>• 80%</a:t>
            </a:r>
          </a:p>
          <a:p>
            <a:pPr>
              <a:defRPr sz="1200">
                <a:solidFill>
                  <a:srgbClr val="0F172A"/>
                </a:solidFill>
              </a:defRPr>
            </a:pPr>
            <a:r>
              <a:t>• Achieved</a:t>
            </a:r>
          </a:p>
          <a:p>
            <a:pPr>
              <a:defRPr sz="1200">
                <a:solidFill>
                  <a:srgbClr val="0F172A"/>
                </a:solidFill>
              </a:defRPr>
            </a:pPr>
            <a:r>
              <a:t>• Actual</a:t>
            </a:r>
            <a:br/>
            <a:r>
              <a:t>65.34%</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14</a:t>
            </a:r>
          </a:p>
          <a:p>
            <a:pPr>
              <a:defRPr sz="2200" b="1">
                <a:solidFill>
                  <a:srgbClr val="0E4174"/>
                </a:solidFill>
              </a:defRPr>
            </a:pPr>
            <a:r>
              <a:t>DJ</a:t>
            </a:r>
          </a:p>
        </p:txBody>
      </p:sp>
      <p:sp>
        <p:nvSpPr>
          <p:cNvPr id="3" name="Rounded Rectangle 2"/>
          <p:cNvSpPr/>
          <p:nvPr/>
        </p:nvSpPr>
        <p:spPr>
          <a:xfrm>
            <a:off x="548640" y="1645920"/>
            <a:ext cx="10911535"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TIẾP CẬN</a:t>
            </a:r>
          </a:p>
          <a:p>
            <a:pPr>
              <a:defRPr sz="2800" b="1">
                <a:solidFill>
                  <a:srgbClr val="0E4174"/>
                </a:solidFill>
              </a:defRPr>
            </a:pPr>
            <a:r>
              <a:t>60%</a:t>
            </a:r>
          </a:p>
        </p:txBody>
      </p:sp>
      <p:sp>
        <p:nvSpPr>
          <p:cNvPr id="4" name="Rounded Rectangle 3"/>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Tiếp cận: Với 100 TX có FCT từ 3-7/8, team đã tiếp cận 84 TX, trong đó kết nối được 50 TX (~60%).</a:t>
            </a:r>
            <a:br/>
            <a:r>
              <a:t>Feedback: 26/50 TX đã xem video đánh giá nội dung trực quan, dễ hiểu và có thể áp dụng ngay, những tx chưa xem được kết bạn gửi lại qua zalo.</a:t>
            </a:r>
            <a:br/>
            <a:r>
              <a:t>Insight: TX phát sinh thêm các nhu cầu về sai vị trí đơn, hủy đơn khi không liên lạc được người nhận, rút tiền... → phù hợp với các nội dung training trong plan tiếp theo.</a:t>
            </a:r>
          </a:p>
          <a:p>
            <a:pPr>
              <a:defRPr sz="1200">
                <a:solidFill>
                  <a:srgbClr val="0F172A"/>
                </a:solidFill>
              </a:defRPr>
            </a:pPr>
            <a:r>
              <a:t>• Tiếp tục follow hoàn thiện nội dung training, và luồng automation.</a:t>
            </a:r>
            <a:br/>
            <a:br/>
            <a:r>
              <a:t>D2 – Hướng dẫn phòng tránh &amp; xử lý khiếu nại đúng cách - hoàn thành các feedback.</a:t>
            </a:r>
            <a:br/>
            <a:br/>
            <a:r>
              <a:t>D5: Đã có thông tin đầu vào, chuẩn bị kịch bản.</a:t>
            </a:r>
          </a:p>
        </p:txBody>
      </p:sp>
      <p:sp>
        <p:nvSpPr>
          <p:cNvPr id="5" name="Rounded Rectangle 4"/>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Tiếp cận: Với 100 TX có FCT từ 3-7/8, team đã tiếp cận 84 TX, trong đó kết nối được 50 TX (~60%).</a:t>
            </a:r>
            <a:br/>
            <a:r>
              <a:t>Feedback: 26/50 TX đã xem video đánh giá nội dung trực quan, dễ hiểu và có thể áp dụng ngay, những tx chưa xem được kết bạn gửi lại qua zalo.</a:t>
            </a:r>
            <a:br/>
            <a:r>
              <a:t>Insight: TX phát sinh thêm các nhu cầu về sai vị trí đơn, hủy đơn khi không liên lạc được người nhận, rút tiền... → phù hợp với các nội dung training trong plan tiếp theo.</a:t>
            </a:r>
          </a:p>
        </p:txBody>
      </p:sp>
      <p:sp>
        <p:nvSpPr>
          <p:cNvPr id="6" name="TextBox 5"/>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15</a:t>
            </a:r>
          </a:p>
          <a:p>
            <a:pPr>
              <a:defRPr sz="2200" b="1">
                <a:solidFill>
                  <a:srgbClr val="0E4174"/>
                </a:solidFill>
              </a:defRPr>
            </a:pPr>
            <a:r>
              <a:t>Slide 15</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92.54%</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89.09%</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MOM</a:t>
            </a:r>
          </a:p>
          <a:p>
            <a:pPr>
              <a:defRPr sz="2800" b="1">
                <a:solidFill>
                  <a:srgbClr val="0E4174"/>
                </a:solidFill>
              </a:defRPr>
            </a:pPr>
            <a:r>
              <a:t>7.77%</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MOM</a:t>
            </a:r>
          </a:p>
          <a:p>
            <a:pPr>
              <a:defRPr sz="2800" b="1">
                <a:solidFill>
                  <a:srgbClr val="0E4174"/>
                </a:solidFill>
              </a:defRPr>
            </a:pPr>
            <a:r>
              <a:t>2.28%</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2,017 ca</a:t>
            </a:r>
          </a:p>
          <a:p>
            <a:pPr>
              <a:defRPr sz="1200">
                <a:solidFill>
                  <a:srgbClr val="0F172A"/>
                </a:solidFill>
              </a:defRPr>
            </a:pPr>
            <a:r>
              <a:t>• Checkin</a:t>
            </a:r>
          </a:p>
          <a:p>
            <a:pPr>
              <a:defRPr sz="1200">
                <a:solidFill>
                  <a:srgbClr val="0F172A"/>
                </a:solidFill>
              </a:defRPr>
            </a:pPr>
            <a:r>
              <a:t>• 92.54%</a:t>
            </a:r>
          </a:p>
          <a:p>
            <a:pPr>
              <a:defRPr sz="1200">
                <a:solidFill>
                  <a:srgbClr val="0F172A"/>
                </a:solidFill>
              </a:defRPr>
            </a:pPr>
            <a:r>
              <a:t>• Utlz</a:t>
            </a:r>
          </a:p>
          <a:p>
            <a:pPr>
              <a:defRPr sz="1200">
                <a:solidFill>
                  <a:srgbClr val="0F172A"/>
                </a:solidFill>
              </a:defRPr>
            </a:pPr>
            <a:r>
              <a:t>• 89.09%</a:t>
            </a:r>
          </a:p>
          <a:p>
            <a:pPr>
              <a:defRPr sz="1200">
                <a:solidFill>
                  <a:srgbClr val="0F172A"/>
                </a:solidFill>
              </a:defRPr>
            </a:pPr>
            <a:r>
              <a:t>• Online</a:t>
            </a:r>
            <a:br/>
            <a:r>
              <a:t>rate</a:t>
            </a:r>
          </a:p>
          <a:p>
            <a:pPr>
              <a:defRPr sz="1200">
                <a:solidFill>
                  <a:srgbClr val="0F172A"/>
                </a:solidFill>
              </a:defRPr>
            </a:pPr>
            <a:r>
              <a:t>• MoM: - 7.77%</a:t>
            </a:r>
          </a:p>
          <a:p>
            <a:pPr>
              <a:defRPr sz="1200">
                <a:solidFill>
                  <a:srgbClr val="0F172A"/>
                </a:solidFill>
              </a:defRPr>
            </a:pPr>
            <a:r>
              <a:t>• MoM: + 2.28%</a:t>
            </a:r>
          </a:p>
          <a:p>
            <a:pPr>
              <a:defRPr sz="1200">
                <a:solidFill>
                  <a:srgbClr val="0F172A"/>
                </a:solidFill>
              </a:defRPr>
            </a:pPr>
            <a:r>
              <a:t>• MoM: + 0.27%</a:t>
            </a:r>
          </a:p>
          <a:p>
            <a:pPr>
              <a:defRPr sz="1200">
                <a:solidFill>
                  <a:srgbClr val="0F172A"/>
                </a:solidFill>
              </a:defRPr>
            </a:pPr>
            <a:r>
              <a:t>• MiniHub - OPERATIONS</a:t>
            </a:r>
          </a:p>
          <a:p>
            <a:pPr>
              <a:defRPr sz="1200">
                <a:solidFill>
                  <a:srgbClr val="0F172A"/>
                </a:solidFill>
              </a:defRPr>
            </a:pPr>
            <a:r>
              <a:t>• Checkin</a:t>
            </a:r>
          </a:p>
          <a:p>
            <a:pPr>
              <a:defRPr sz="1200">
                <a:solidFill>
                  <a:srgbClr val="0F172A"/>
                </a:solidFill>
              </a:defRPr>
            </a:pPr>
            <a:r>
              <a:t>• Checkin </a:t>
            </a:r>
            <a:br/>
            <a:r>
              <a:t>rate</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Coverage</a:t>
            </a:r>
          </a:p>
          <a:p>
            <a:pPr>
              <a:defRPr sz="1200">
                <a:solidFill>
                  <a:srgbClr val="0F172A"/>
                </a:solidFill>
              </a:defRPr>
            </a:pPr>
            <a:r>
              <a:t>• Checkin</a:t>
            </a:r>
          </a:p>
          <a:p>
            <a:pPr>
              <a:defRPr sz="1200">
                <a:solidFill>
                  <a:srgbClr val="0F172A"/>
                </a:solidFill>
              </a:defRPr>
            </a:pPr>
            <a:r>
              <a:t>• Utlz</a:t>
            </a:r>
          </a:p>
          <a:p>
            <a:pPr>
              <a:defRPr sz="1200">
                <a:solidFill>
                  <a:srgbClr val="0F172A"/>
                </a:solidFill>
              </a:defRPr>
            </a:pPr>
            <a:r>
              <a:t>• Online</a:t>
            </a:r>
            <a:br/>
            <a:r>
              <a:t>rate</a:t>
            </a:r>
          </a:p>
          <a:p>
            <a:pPr>
              <a:defRPr sz="1200">
                <a:solidFill>
                  <a:srgbClr val="0F172A"/>
                </a:solidFill>
              </a:defRPr>
            </a:pPr>
            <a:r>
              <a:t>• 3,447 ca</a:t>
            </a:r>
          </a:p>
          <a:p>
            <a:pPr>
              <a:defRPr sz="1200">
                <a:solidFill>
                  <a:srgbClr val="0F172A"/>
                </a:solidFill>
              </a:defRPr>
            </a:pPr>
            <a:r>
              <a:t>• 85.91%</a:t>
            </a:r>
          </a:p>
          <a:p>
            <a:pPr>
              <a:defRPr sz="1200">
                <a:solidFill>
                  <a:srgbClr val="0F172A"/>
                </a:solidFill>
              </a:defRPr>
            </a:pPr>
            <a:r>
              <a:t>• 89.61%</a:t>
            </a:r>
          </a:p>
          <a:p>
            <a:pPr>
              <a:defRPr sz="1200">
                <a:solidFill>
                  <a:srgbClr val="0F172A"/>
                </a:solidFill>
              </a:defRPr>
            </a:pPr>
            <a:r>
              <a:t>• MoM: + 2.10%</a:t>
            </a:r>
          </a:p>
          <a:p>
            <a:pPr>
              <a:defRPr sz="1200">
                <a:solidFill>
                  <a:srgbClr val="0F172A"/>
                </a:solidFill>
              </a:defRPr>
            </a:pPr>
            <a:r>
              <a:t>• MoM: - 0.39%</a:t>
            </a:r>
          </a:p>
          <a:p>
            <a:pPr>
              <a:defRPr sz="1200">
                <a:solidFill>
                  <a:srgbClr val="0F172A"/>
                </a:solidFill>
              </a:defRPr>
            </a:pPr>
            <a:r>
              <a:t>• MoM: + 3.30%</a:t>
            </a:r>
          </a:p>
          <a:p>
            <a:pPr>
              <a:defRPr sz="1200">
                <a:solidFill>
                  <a:srgbClr val="0F172A"/>
                </a:solidFill>
              </a:defRPr>
            </a:pPr>
            <a:r>
              <a:t>• HAN</a:t>
            </a:r>
          </a:p>
          <a:p>
            <a:pPr>
              <a:defRPr sz="1200">
                <a:solidFill>
                  <a:srgbClr val="0F172A"/>
                </a:solidFill>
              </a:defRPr>
            </a:pPr>
            <a:r>
              <a:t>• SGN</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16</a:t>
            </a:r>
          </a:p>
          <a:p>
            <a:pPr>
              <a:defRPr sz="2200" b="1">
                <a:solidFill>
                  <a:srgbClr val="0E4174"/>
                </a:solidFill>
              </a:defRPr>
            </a:pPr>
            <a:r>
              <a:t>Slide 16</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MiniHub - COVERAGE</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HAN</a:t>
            </a:r>
          </a:p>
          <a:p>
            <a:pPr>
              <a:defRPr sz="1200">
                <a:solidFill>
                  <a:srgbClr val="0F172A"/>
                </a:solidFill>
              </a:defRPr>
            </a:pPr>
            <a:r>
              <a:t>• SGN</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17</a:t>
            </a:r>
          </a:p>
          <a:p>
            <a:pPr>
              <a:defRPr sz="2200" b="1">
                <a:solidFill>
                  <a:srgbClr val="0E4174"/>
                </a:solidFill>
              </a:defRPr>
            </a:pPr>
            <a:r>
              <a:t>Slide 17</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90.61%</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100%</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94.67%</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91.30%</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a:t>
            </a:r>
            <a:br/>
            <a:br/>
            <a:r>
              <a:t>HAN:</a:t>
            </a:r>
            <a:br/>
            <a:r>
              <a:t>Tỷ lệ Active/Registered đạt 90.61% (222/245), cho thấy khả năng chuyển đổi từ tài xế đăng ký sang active đang ở mức tốt, vẫn còn khả năng chuyển đổi thêm.</a:t>
            </a:r>
            <a:br/>
            <a:r>
              <a:t>DD, HK và HBT đạt 100%, trong khi BIGZONE (94.67%) duy trì tỷ lệ chuyển đổi tốt trên quy mô lớn; CG (91.30%), TX và Zone 136 (91.67%) cũng ghi nhận hiệu quả tích cực.</a:t>
            </a:r>
            <a:br/>
            <a:r>
              <a:t>Z24 (78.57%) và Z578 (66.67%) là các khu vực cần ưu tiên theo dõi, đặc biệt Z578 có tỷ lệ chuyển đổi thấp nhất, trong khi Z24 ghi nhận số lượng hụt lớn nhất với 6 tài xế (28 Registered → 22 Active), ảnh hưởng đến hiệu quả chung của HAN.</a:t>
            </a:r>
            <a:br/>
            <a:br/>
            <a:br/>
            <a:r>
              <a:t>SGN:</a:t>
            </a:r>
            <a:br/>
            <a:r>
              <a:t>Tỷ lệ Active/Registered đạt 96.72% (383/396), cho thấy khả năng chuyển đổi từ tài xế đăng ký sang active đang ở mức rất tốt, với mức hụt chỉ 13 tài xế.</a:t>
            </a:r>
            <a:br/>
            <a:r>
              <a:t>Zone 4 (100%), Zone 3 (98.77%) và Zone 5 (97.22%) duy trì tỷ lệ chuyển đổi tốt; trong đó Zone 3 có quy mô lớn nhất (81 Registered → 80 Active) nhưng vẫn đảm bảo hiệu quả chuyển đổi cao.</a:t>
            </a:r>
            <a:br/>
            <a:r>
              <a:t>Zone 6 (93.55%) và Zone 1 (95.95%) là các khu vực cần ưu tiên theo dõi, đặc biệt Zone 6 có tỷ lệ chuyển đổi thấp nhất, với 4 tài xế chưa chuyển đổi từ Registered sang Active.</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HIGHLIGHT</a:t>
            </a:r>
            <a:br/>
            <a:br/>
            <a:r>
              <a:t>HAN:</a:t>
            </a:r>
            <a:br/>
            <a:r>
              <a:t>Tỷ lệ Active/Registered đạt 90.61% (222/245), cho thấy khả năng chuyển đổi từ tài xế đăng ký sang active đang ở mức tốt, vẫn còn khả năng chuyển đổi thêm.</a:t>
            </a:r>
            <a:br/>
            <a:r>
              <a:t>DD, HK và HBT đạt 100%, trong khi BIGZONE (94.67%) duy trì tỷ lệ chuyển đổi tốt trên quy mô lớn; CG (91.30%), TX và Zone 136 (91.67%) cũng ghi nhận hiệu quả tích cực.</a:t>
            </a:r>
            <a:br/>
            <a:r>
              <a:t>Z24 (78.57%) và Z578 (66.67%) là các khu vực cần ưu tiên theo dõi, đặc biệt Z578 có tỷ lệ chuyển đổi thấp nhất, trong khi Z24 ghi nhận số lượng hụt lớn nhất với 6 tài xế (28 Registered → 22 Active), ảnh hưởng đến hiệu quả chung của HAN.</a:t>
            </a:r>
            <a:br/>
            <a:br/>
            <a:br/>
            <a:r>
              <a:t>SGN:</a:t>
            </a:r>
            <a:br/>
            <a:r>
              <a:t>Tỷ lệ Active/Registered đạt 96.72% (383/396), cho thấy khả năng chuyển đổi từ tài xế đăng ký sang active đang ở mức rất tốt, với mức hụt chỉ 13 tài xế.</a:t>
            </a:r>
            <a:br/>
            <a:r>
              <a:t>Zone 4 (100%), Zone 3 (98.77%) và Zone 5 (97.22%) duy trì tỷ lệ chuyển đổi tốt; trong đó Zone 3 có quy mô lớn nhất (81 Registered → 80 Active) nhưng vẫn đảm bảo hiệu quả chuyển đổi cao.</a:t>
            </a:r>
            <a:br/>
            <a:r>
              <a:t>Zone 6 (93.55%) và Zone 1 (95.95%) là các khu vực cần ưu tiên theo dõi, đặc biệt Zone 6 có tỷ lệ chuyển đổi thấp nhất, với 4 tài xế chưa chuyển đổi từ Registered sang Active.</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18</a:t>
            </a:r>
          </a:p>
          <a:p>
            <a:pPr>
              <a:defRPr sz="2200" b="1">
                <a:solidFill>
                  <a:srgbClr val="0E4174"/>
                </a:solidFill>
              </a:defRPr>
            </a:pPr>
            <a:r>
              <a:t>Slide 18</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72.6K</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72.3K</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70.2K</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58.4K</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a:t>
            </a:r>
            <a:br/>
            <a:br/>
            <a:r>
              <a:t>HAN:</a:t>
            </a:r>
            <a:br/>
            <a:r>
              <a:t>EPH tuần 10/08 tăng mạnh, hầu hết các Zone đều cải thiện so với tuần 03/08.</a:t>
            </a:r>
            <a:br/>
            <a:r>
              <a:t>TX (72.6K), CG (72.3K) và BIGZONE (70.2K) đạt EPH cao nhất; TX và CG có mức tăng nổi bật.</a:t>
            </a:r>
            <a:br/>
            <a:r>
              <a:t>Z24 (58.4K) và HBT (55.8K) vẫn là 2 khu vực có EPH thấp nhất, cần tiếp tục theo dõi và cải thiện.</a:t>
            </a:r>
            <a:br/>
            <a:br/>
            <a:br/>
            <a:r>
              <a:t>SGN:</a:t>
            </a:r>
            <a:br/>
            <a:r>
              <a:t>EPH tuần 10/08 phân hóa giữa các Zone: Zone 6 đạt cao nhất 50.7K, tăng nhẹ so với tuần trước.</a:t>
            </a:r>
            <a:br/>
            <a:r>
              <a:t>Zone 1 (49.5K) và Zone 2 (49.1K) tiếp tục duy trì EPH tốt; Zone 4 ổn định ở 47.5K.</a:t>
            </a:r>
            <a:br/>
            <a:r>
              <a:t>Zone 3 (45.8K) giảm mạnh 4.4% WoW, là khu vực có EPH thấp nhất và cần ưu tiên theo dõi.</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MiniHub - EARNING PER HOUR</a:t>
            </a:r>
          </a:p>
          <a:p>
            <a:pPr>
              <a:defRPr sz="1200">
                <a:solidFill>
                  <a:srgbClr val="0F172A"/>
                </a:solidFill>
              </a:defRPr>
            </a:pPr>
            <a:r>
              <a:t>• HAN</a:t>
            </a:r>
          </a:p>
          <a:p>
            <a:pPr>
              <a:defRPr sz="1200">
                <a:solidFill>
                  <a:srgbClr val="0F172A"/>
                </a:solidFill>
              </a:defRPr>
            </a:pPr>
            <a:r>
              <a:t>• SGN</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19</a:t>
            </a:r>
          </a:p>
          <a:p>
            <a:pPr>
              <a:defRPr sz="2200" b="1">
                <a:solidFill>
                  <a:srgbClr val="0E4174"/>
                </a:solidFill>
              </a:defRPr>
            </a:pPr>
            <a:r>
              <a:t>Slide 19</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34.23%</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34.23%</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13.69%</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6.85%</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a:t>
            </a:r>
            <a:br/>
            <a:r>
              <a:t>34.23% driver thuộc nhóm Valid (251/555), là nhóm chiếm tỷ trọng cao nhất; 34.23% thuộc nhóm 2nd violation (190 driver).</a:t>
            </a:r>
            <a:br/>
            <a:r>
              <a:t>13.69% driver thuộc nhóm 1st violation (76 driver), trong khi 6.85% đang ở tuần đầu tham gia MiniHub (38 driver).</a:t>
            </a:r>
            <a:br/>
            <a:r>
              <a:t>Tỷ lệ driver vi phạm vẫn ở mức đáng lưu ý → cần tiếp tục rà soát và cải thiện chất lượng hoạt động, đặc biệt nhóm 1st &amp; 2nd violation.</a:t>
            </a:r>
          </a:p>
          <a:p>
            <a:pPr>
              <a:defRPr sz="1200">
                <a:solidFill>
                  <a:srgbClr val="0F172A"/>
                </a:solidFill>
              </a:defRPr>
            </a:pPr>
            <a:r>
              <a:t>• HIGHLIGHT</a:t>
            </a:r>
            <a:br/>
            <a:r>
              <a:t>79.84% driver thuộc nhóm 2nd violation (820/1,027), tỷ lệ vi phạm cao và là nhóm chiếm tỷ trọng lớn nhất.</a:t>
            </a:r>
            <a:br/>
            <a:r>
              <a:t>11.98% driver đạt Valid, trong khi 4.09% đang ở tuần đầu tham gia Hub và 4.09% thuộc nhóm 1st violation.</a:t>
            </a:r>
            <a:br/>
            <a:r>
              <a:t>Tỷ trọng driver vi phạm vẫn ở mức cao → cần tập trung rà soát và cải thiện chất lượng hoạt động, đặc biệt nhóm 2nd violation.</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MiniHub - SANCTION</a:t>
            </a:r>
          </a:p>
          <a:p>
            <a:pPr>
              <a:defRPr sz="1200">
                <a:solidFill>
                  <a:srgbClr val="0F172A"/>
                </a:solidFill>
              </a:defRPr>
            </a:pPr>
            <a:r>
              <a:t>• HAN</a:t>
            </a:r>
          </a:p>
          <a:p>
            <a:pPr>
              <a:defRPr sz="1200">
                <a:solidFill>
                  <a:srgbClr val="0F172A"/>
                </a:solidFill>
              </a:defRPr>
            </a:pPr>
            <a:r>
              <a:t>• SGN</a:t>
            </a:r>
          </a:p>
          <a:p>
            <a:pPr>
              <a:defRPr sz="1200">
                <a:solidFill>
                  <a:srgbClr val="0F172A"/>
                </a:solidFill>
              </a:defRPr>
            </a:pPr>
            <a:r>
              <a:t>• Total_drivers: 1,027</a:t>
            </a:r>
          </a:p>
          <a:p>
            <a:pPr>
              <a:defRPr sz="1200">
                <a:solidFill>
                  <a:srgbClr val="0F172A"/>
                </a:solidFill>
              </a:defRPr>
            </a:pPr>
            <a:r>
              <a:t>• Total_drivers: 555</a:t>
            </a:r>
          </a:p>
          <a:p>
            <a:pPr>
              <a:defRPr sz="1200">
                <a:solidFill>
                  <a:srgbClr val="0F172A"/>
                </a:solidFill>
              </a:defRPr>
            </a:pPr>
            <a:r>
              <a:t>• 88.41%</a:t>
            </a:r>
          </a:p>
          <a:p>
            <a:pPr>
              <a:defRPr sz="1200">
                <a:solidFill>
                  <a:srgbClr val="0F172A"/>
                </a:solidFill>
              </a:defRPr>
            </a:pPr>
            <a:r>
              <a:t>• 52.95%</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20</a:t>
            </a:r>
          </a:p>
          <a:p>
            <a:pPr>
              <a:defRPr sz="2200" b="1">
                <a:solidFill>
                  <a:srgbClr val="0E4174"/>
                </a:solidFill>
              </a:defRPr>
            </a:pPr>
            <a:r>
              <a:t>Slide 20</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86.62%</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63.78%</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86.89%</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br/>
            <a:br/>
            <a:r>
              <a:t>HAN</a:t>
            </a:r>
          </a:p>
          <a:p>
            <a:pPr>
              <a:defRPr sz="2800" b="1">
                <a:solidFill>
                  <a:srgbClr val="0E4174"/>
                </a:solidFill>
              </a:defRPr>
            </a:pPr>
            <a:r>
              <a:t>46.62%</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a:t>
            </a:r>
            <a:br/>
            <a:br/>
            <a:r>
              <a:t>HAN: 86.89% tài xế vi phạm do không phát sinh hoạt động (749/862), chiếm áp đảo trong tổng số vi phạm.</a:t>
            </a:r>
            <a:br/>
            <a:r>
              <a:t>SGN: 46.62% tài xế không phát sinh hoạt động (124/266); nhóm Fail Online chiếm 23.68% (63 driver) là lỗi nổi bật nhất.</a:t>
            </a:r>
            <a:br/>
            <a:r>
              <a:t>Tổng số tài xế vi phạm tại HAN (862) cao hơn đáng kể so với SGN (266), cần ưu tiên xử lý nhóm không hoạt động tại HAN.</a:t>
            </a:r>
            <a:br/>
            <a:br/>
            <a:r>
              <a:t>👉 Key takeaway: No Activity là nguyên nhân vi phạm chính tại HAN, trong khi SGN nổi bật ở nhóm Fail Online → cần có hướng xử lý khác nhau theo từng khu vực.</a:t>
            </a:r>
            <a:br/>
            <a:br/>
            <a:r>
              <a:t>NEXT ACTION</a:t>
            </a:r>
            <a:br/>
            <a:r>
              <a:t>HAN: Gửi list No Activity cho Đội trưởng → remind và rà soát nguyên nhân không hoạt động.</a:t>
            </a:r>
            <a:br/>
            <a:r>
              <a:t>SGN: Gửi cảnh báo nhóm Fail Online và các nhóm vi phạm Online/CR/STP → remind tiêu chuẩn hoạt động.</a:t>
            </a:r>
            <a:br/>
            <a:r>
              <a:t>Follow-up: Theo dõi tỷ lệ vi phạm sau remind và ưu tiên nhóm tái vi phạm.</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MiniHub - SANCTION</a:t>
            </a:r>
          </a:p>
          <a:p>
            <a:pPr>
              <a:defRPr sz="1200">
                <a:solidFill>
                  <a:srgbClr val="0F172A"/>
                </a:solidFill>
              </a:defRPr>
            </a:pPr>
            <a:r>
              <a:t>• 86.62%</a:t>
            </a:r>
          </a:p>
          <a:p>
            <a:pPr>
              <a:defRPr sz="1200">
                <a:solidFill>
                  <a:srgbClr val="0F172A"/>
                </a:solidFill>
              </a:defRPr>
            </a:pPr>
            <a:r>
              <a:t>• 63.78%</a:t>
            </a:r>
          </a:p>
          <a:p>
            <a:pPr>
              <a:defRPr sz="1200">
                <a:solidFill>
                  <a:srgbClr val="0F172A"/>
                </a:solidFill>
              </a:defRPr>
            </a:pPr>
            <a:r>
              <a:t>• Total: 862 tài xế vi phạm</a:t>
            </a:r>
          </a:p>
          <a:p>
            <a:pPr>
              <a:defRPr sz="1200">
                <a:solidFill>
                  <a:srgbClr val="0F172A"/>
                </a:solidFill>
              </a:defRPr>
            </a:pPr>
            <a:r>
              <a:t>• Total: 266 tài xế vi phạm</a:t>
            </a:r>
          </a:p>
          <a:p>
            <a:pPr>
              <a:defRPr sz="1200">
                <a:solidFill>
                  <a:srgbClr val="0F172A"/>
                </a:solidFill>
              </a:defRPr>
            </a:pPr>
            <a:r>
              <a:t>• 86.89%</a:t>
            </a:r>
          </a:p>
          <a:p>
            <a:pPr>
              <a:defRPr sz="1200">
                <a:solidFill>
                  <a:srgbClr val="0F172A"/>
                </a:solidFill>
              </a:defRPr>
            </a:pPr>
            <a:r>
              <a:t>• 13.11%</a:t>
            </a:r>
          </a:p>
          <a:p>
            <a:pPr>
              <a:defRPr sz="1200">
                <a:solidFill>
                  <a:srgbClr val="0F172A"/>
                </a:solidFill>
              </a:defRPr>
            </a:pPr>
            <a:r>
              <a:t>• 46.62%</a:t>
            </a:r>
          </a:p>
          <a:p>
            <a:pPr>
              <a:defRPr sz="1200">
                <a:solidFill>
                  <a:srgbClr val="0F172A"/>
                </a:solidFill>
              </a:defRPr>
            </a:pPr>
            <a:r>
              <a:t>• 26.7%</a:t>
            </a:r>
          </a:p>
          <a:p>
            <a:pPr>
              <a:defRPr sz="1200">
                <a:solidFill>
                  <a:srgbClr val="0F172A"/>
                </a:solidFill>
              </a:defRPr>
            </a:pPr>
            <a:r>
              <a:t>• 23.68%</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21</a:t>
            </a:r>
          </a:p>
          <a:p>
            <a:pPr>
              <a:defRPr sz="2200" b="1">
                <a:solidFill>
                  <a:srgbClr val="0E4174"/>
                </a:solidFill>
              </a:defRPr>
            </a:pPr>
            <a:r>
              <a:t>MiniHub Leader</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p>
          <a:p>
            <a:pPr>
              <a:defRPr sz="2800" b="1">
                <a:solidFill>
                  <a:srgbClr val="0E4174"/>
                </a:solidFill>
              </a:defRPr>
            </a:pPr>
            <a:r>
              <a:t>1.19%</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p>
          <a:p>
            <a:pPr>
              <a:defRPr sz="2800" b="1">
                <a:solidFill>
                  <a:srgbClr val="0E4174"/>
                </a:solidFill>
              </a:defRPr>
            </a:pPr>
            <a:r>
              <a:t>5.51%</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p>
          <a:p>
            <a:pPr>
              <a:defRPr sz="2800" b="1">
                <a:solidFill>
                  <a:srgbClr val="0E4174"/>
                </a:solidFill>
              </a:defRPr>
            </a:pPr>
            <a:r>
              <a:t>80%</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HIGHLIGHT</a:t>
            </a:r>
          </a:p>
          <a:p>
            <a:pPr>
              <a:defRPr sz="2800" b="1">
                <a:solidFill>
                  <a:srgbClr val="0E4174"/>
                </a:solidFill>
              </a:defRPr>
            </a:pPr>
            <a:r>
              <a:t>95%</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a:t>
            </a:r>
            <a:br/>
            <a:r>
              <a:t>Active và Online rate duy trì tăng trưởng tốt, Checkin rate giảm nhẹ 1.19%, giảm mạnh ở Avg shift hour với 5.51%</a:t>
            </a:r>
            <a:br/>
            <a:r>
              <a:t>Performance zone 2 (có ĐT) tốt hơn trung bình các zone còn lại của city</a:t>
            </a:r>
            <a:br/>
            <a:br/>
            <a:r>
              <a:t>NEXT ACTION:</a:t>
            </a:r>
            <a:br/>
            <a:r>
              <a:t>Lọc DS tài xế low performance</a:t>
            </a:r>
            <a:br/>
            <a:r>
              <a:t>Maintain online rate, checkin rate, kéo checkin rate, avg shift hour</a:t>
            </a:r>
            <a:br/>
            <a:br/>
            <a:r>
              <a:t>DRIVER VOICE:</a:t>
            </a:r>
            <a:br/>
            <a:r>
              <a:t>Tiêu chí số giờ online trong bộ tiêu chuẩn hoạt động khá gắt (&gt;80%)</a:t>
            </a:r>
            <a:br/>
            <a:r>
              <a:t>Hiệu suất hoạt động chưa được improve</a:t>
            </a:r>
          </a:p>
          <a:p>
            <a:pPr>
              <a:defRPr sz="1200">
                <a:solidFill>
                  <a:srgbClr val="0F172A"/>
                </a:solidFill>
              </a:defRPr>
            </a:pPr>
            <a:r>
              <a:t>• HIGHLIGHT:</a:t>
            </a:r>
            <a:br/>
            <a:r>
              <a:t>Các chỉ số Chất lượng duy trì &gt; 95% Target. TX vẫn duy trì hành vi đăng ký ca vượt trội</a:t>
            </a:r>
            <a:br/>
            <a:r>
              <a:t>Z2&amp;Z4 giảm bộ chỉ số do giảm active + chất lượng Zone BD, Z136 lọc nhóm TX yếu </a:t>
            </a:r>
            <a:br/>
            <a:br/>
            <a:r>
              <a:t>NEXT ACTION:</a:t>
            </a:r>
            <a:br/>
            <a:r>
              <a:t>Chăm sóc lứa TX mới tuyển Z136, Plan vận hành Zone 24</a:t>
            </a:r>
            <a:br/>
            <a:r>
              <a:t>Đánh giá mô hình và Propose next phase</a:t>
            </a:r>
            <a:br/>
            <a:br/>
            <a:r>
              <a:t>DRIVER VOICE:</a:t>
            </a:r>
            <a:br/>
            <a:r>
              <a:t>TX phải linh hoạt di chuyển ra ngoài Zone cho tiện đường </a:t>
            </a:r>
            <a:br/>
            <a:r>
              <a:t>-&gt; không ghi nhận Onl -&gt;  Giảm tiền thưởng của TX</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HIGHLIGHT:</a:t>
            </a:r>
            <a:br/>
            <a:r>
              <a:t>Active và Online rate duy trì tăng trưởng tốt, Checkin rate giảm nhẹ 1.19%, giảm mạnh ở Avg shift hour với 5.51%</a:t>
            </a:r>
            <a:br/>
            <a:r>
              <a:t>Performance zone 2 (có ĐT) tốt hơn trung bình các zone còn lại của city</a:t>
            </a:r>
            <a:br/>
            <a:br/>
            <a:r>
              <a:t>NEXT ACTION:</a:t>
            </a:r>
            <a:br/>
            <a:r>
              <a:t>Lọc DS tài xế low performance</a:t>
            </a:r>
            <a:br/>
            <a:r>
              <a:t>Maintain online rate, checkin rate, kéo checkin rate, avg shift hour</a:t>
            </a:r>
            <a:br/>
            <a:br/>
            <a:r>
              <a:t>DRIVER VOICE:</a:t>
            </a:r>
            <a:br/>
            <a:r>
              <a:t>Tiêu chí số giờ online trong bộ tiêu chuẩn hoạt động khá gắt (&gt;80%)</a:t>
            </a:r>
            <a:br/>
            <a:r>
              <a:t>Hiệu suất hoạt động chưa được improve</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22</a:t>
            </a:r>
          </a:p>
          <a:p>
            <a:pPr>
              <a:defRPr sz="2200" b="1">
                <a:solidFill>
                  <a:srgbClr val="0E4174"/>
                </a:solidFill>
              </a:defRPr>
            </a:pPr>
            <a:r>
              <a:t>Cityzone</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4%</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100%</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30.1%</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13.5%</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55% tài xế đã đăng ký chưa từng check-in lần nào (128/232).</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55% tài xế đã đăng ký chưa từng check-in lần nào (128/232).</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23</a:t>
            </a:r>
          </a:p>
          <a:p>
            <a:pPr>
              <a:defRPr sz="2200" b="1">
                <a:solidFill>
                  <a:srgbClr val="0E4174"/>
                </a:solidFill>
              </a:defRPr>
            </a:pPr>
            <a:r>
              <a:t>Cityzone</a:t>
            </a:r>
          </a:p>
        </p:txBody>
      </p:sp>
      <p:sp>
        <p:nvSpPr>
          <p:cNvPr id="3" name="Rounded Rectangle 2"/>
          <p:cNvSpPr/>
          <p:nvPr/>
        </p:nvSpPr>
        <p:spPr>
          <a:xfrm>
            <a:off x="548640"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18</a:t>
            </a:r>
          </a:p>
          <a:p>
            <a:pPr>
              <a:defRPr sz="2800" b="1">
                <a:solidFill>
                  <a:srgbClr val="0E4174"/>
                </a:solidFill>
              </a:defRPr>
            </a:pPr>
            <a:r>
              <a:t>19%</a:t>
            </a:r>
          </a:p>
        </p:txBody>
      </p:sp>
      <p:sp>
        <p:nvSpPr>
          <p:cNvPr id="4" name="Rounded Rectangle 3"/>
          <p:cNvSpPr/>
          <p:nvPr/>
        </p:nvSpPr>
        <p:spPr>
          <a:xfrm>
            <a:off x="4246778"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18</a:t>
            </a:r>
          </a:p>
          <a:p>
            <a:pPr>
              <a:defRPr sz="2800" b="1">
                <a:solidFill>
                  <a:srgbClr val="0E4174"/>
                </a:solidFill>
              </a:defRPr>
            </a:pPr>
            <a:r>
              <a:t>35%</a:t>
            </a:r>
          </a:p>
        </p:txBody>
      </p:sp>
      <p:sp>
        <p:nvSpPr>
          <p:cNvPr id="5" name="Rounded Rectangle 4"/>
          <p:cNvSpPr/>
          <p:nvPr/>
        </p:nvSpPr>
        <p:spPr>
          <a:xfrm>
            <a:off x="7944916" y="1645920"/>
            <a:ext cx="3515258"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18</a:t>
            </a:r>
          </a:p>
          <a:p>
            <a:pPr>
              <a:defRPr sz="2800" b="1">
                <a:solidFill>
                  <a:srgbClr val="0E4174"/>
                </a:solidFill>
              </a:defRPr>
            </a:pPr>
            <a:r>
              <a:t>63.2%</a:t>
            </a:r>
          </a:p>
        </p:txBody>
      </p:sp>
      <p:sp>
        <p:nvSpPr>
          <p:cNvPr id="6" name="Rounded Rectangle 5"/>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18:00–20:00 thu hút 19% đăng ký nhưng chỉ 35% check-in, 2.26 đơn/ca</a:t>
            </a:r>
            <a:br/>
            <a:br/>
            <a:r>
              <a:t>08:00–12:00 tốt nhất: 63.2% check-in, 6.25 đơn/ca (gấp 2.8 lần ca tối).</a:t>
            </a:r>
          </a:p>
        </p:txBody>
      </p:sp>
      <p:sp>
        <p:nvSpPr>
          <p:cNvPr id="7" name="Rounded Rectangle 6"/>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Perf theo ca làm ( 252 ca checkin )</a:t>
            </a:r>
          </a:p>
        </p:txBody>
      </p:sp>
      <p:sp>
        <p:nvSpPr>
          <p:cNvPr id="8" name="TextBox 7"/>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24</a:t>
            </a:r>
          </a:p>
          <a:p>
            <a:pPr>
              <a:defRPr sz="2200" b="1">
                <a:solidFill>
                  <a:srgbClr val="0E4174"/>
                </a:solidFill>
              </a:defRPr>
            </a:pPr>
            <a:r>
              <a:t>Cityzone</a:t>
            </a:r>
          </a:p>
        </p:txBody>
      </p:sp>
      <p:sp>
        <p:nvSpPr>
          <p:cNvPr id="3" name="Rounded Rectangle 2"/>
          <p:cNvSpPr/>
          <p:nvPr/>
        </p:nvSpPr>
        <p:spPr>
          <a:xfrm>
            <a:off x="548640" y="1645920"/>
            <a:ext cx="5364327"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25.6%</a:t>
            </a:r>
          </a:p>
        </p:txBody>
      </p:sp>
      <p:sp>
        <p:nvSpPr>
          <p:cNvPr id="4" name="Rounded Rectangle 3"/>
          <p:cNvSpPr/>
          <p:nvPr/>
        </p:nvSpPr>
        <p:spPr>
          <a:xfrm>
            <a:off x="6095847" y="1645920"/>
            <a:ext cx="5364327"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METRIC</a:t>
            </a:r>
          </a:p>
          <a:p>
            <a:pPr>
              <a:defRPr sz="2800" b="1">
                <a:solidFill>
                  <a:srgbClr val="0E4174"/>
                </a:solidFill>
              </a:defRPr>
            </a:pPr>
            <a:r>
              <a:t>56%</a:t>
            </a:r>
          </a:p>
        </p:txBody>
      </p:sp>
      <p:sp>
        <p:nvSpPr>
          <p:cNvPr id="5" name="Rounded Rectangle 4"/>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56% bỏ sau ca đầu. Là do cảm giác không hiệu quả hay chưa hình thành thói quen?</a:t>
            </a:r>
          </a:p>
        </p:txBody>
      </p:sp>
      <p:sp>
        <p:nvSpPr>
          <p:cNvPr id="6" name="Rounded Rectangle 5"/>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Chi Tiết Diễn Giải &amp; Chi Tiết Hoạt Động</a:t>
            </a:r>
          </a:p>
          <a:p>
            <a:pPr>
              <a:defRPr sz="1200">
                <a:solidFill>
                  <a:srgbClr val="0F172A"/>
                </a:solidFill>
              </a:defRPr>
            </a:pPr>
            <a:r>
              <a:t>• Perf của tài xế</a:t>
            </a:r>
          </a:p>
          <a:p>
            <a:pPr>
              <a:defRPr sz="1200">
                <a:solidFill>
                  <a:srgbClr val="0F172A"/>
                </a:solidFill>
              </a:defRPr>
            </a:pPr>
            <a:r>
              <a:t>• RETENTION tập chạy HUB</a:t>
            </a:r>
          </a:p>
          <a:p>
            <a:pPr>
              <a:defRPr sz="1200">
                <a:solidFill>
                  <a:srgbClr val="0F172A"/>
                </a:solidFill>
              </a:defRPr>
            </a:pPr>
            <a:r>
              <a:t>• QUY MÔ TĂNG NHƯNG CHẤT LƯỢNG ĐI NGANG</a:t>
            </a:r>
          </a:p>
          <a:p>
            <a:pPr>
              <a:defRPr sz="1200">
                <a:solidFill>
                  <a:srgbClr val="0F172A"/>
                </a:solidFill>
              </a:defRPr>
            </a:pPr>
            <a:r>
              <a:t>• 1</a:t>
            </a:r>
          </a:p>
          <a:p>
            <a:pPr>
              <a:defRPr sz="1200">
                <a:solidFill>
                  <a:srgbClr val="0F172A"/>
                </a:solidFill>
              </a:defRPr>
            </a:pPr>
            <a:r>
              <a:t>• Fix check-in</a:t>
            </a:r>
          </a:p>
          <a:p>
            <a:pPr>
              <a:defRPr sz="1200">
                <a:solidFill>
                  <a:srgbClr val="0F172A"/>
                </a:solidFill>
              </a:defRPr>
            </a:pPr>
            <a:r>
              <a:t>• 25.6% đơn chạy ngoài ca là do không bấm check-in. Thêm push notification trước giờ ca 15 phút + auto-check-in khi tài xế online trong khung giờ ca.</a:t>
            </a:r>
          </a:p>
          <a:p>
            <a:pPr>
              <a:defRPr sz="1200">
                <a:solidFill>
                  <a:srgbClr val="0F172A"/>
                </a:solidFill>
              </a:defRPr>
            </a:pPr>
            <a:r>
              <a:t>• 2</a:t>
            </a:r>
          </a:p>
          <a:p>
            <a:pPr>
              <a:defRPr sz="1200">
                <a:solidFill>
                  <a:srgbClr val="0F172A"/>
                </a:solidFill>
              </a:defRPr>
            </a:pPr>
            <a:r>
              <a:t>• Cắt/giảm ca 18:00–20:00, đẩy ca sáng 08:00–12:00 và ca 4h</a:t>
            </a:r>
          </a:p>
          <a:p>
            <a:pPr>
              <a:defRPr sz="1200">
                <a:solidFill>
                  <a:srgbClr val="0F172A"/>
                </a:solidFill>
              </a:defRPr>
            </a:pPr>
            <a:r>
              <a:t>• Chuyển quota sang khung sáng (đơn/ca cao gấp 2.8 lần slot tối).</a:t>
            </a:r>
          </a:p>
          <a:p>
            <a:pPr>
              <a:defRPr sz="1200">
                <a:solidFill>
                  <a:srgbClr val="0F172A"/>
                </a:solidFill>
              </a:defRPr>
            </a:pPr>
            <a:r>
              <a:t>• 3</a:t>
            </a:r>
          </a:p>
          <a:p>
            <a:pPr>
              <a:defRPr sz="1200">
                <a:solidFill>
                  <a:srgbClr val="0F172A"/>
                </a:solidFill>
              </a:defRPr>
            </a:pPr>
            <a:r>
              <a:t>• Có điểm chạm tập chạy hub lần đầu</a:t>
            </a:r>
          </a:p>
        </p:txBody>
      </p:sp>
      <p:sp>
        <p:nvSpPr>
          <p:cNvPr id="7" name="TextBox 6"/>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25</a:t>
            </a:r>
          </a:p>
          <a:p>
            <a:pPr>
              <a:defRPr sz="2200" b="1">
                <a:solidFill>
                  <a:srgbClr val="0E4174"/>
                </a:solidFill>
              </a:defRPr>
            </a:pPr>
            <a:r>
              <a:t>EV</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Tổng hợp nhu cầu đối tác</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Số lượng tài xế quan tâm đến EV từ tháng 8 bắt đầu có dấu hiệu tăng trở lại, nhưng chủ yếu là từ khu vực HCM</a:t>
            </a:r>
            <a:br/>
            <a:r>
              <a:t>Tài xế HCM có sự quan tâm mạnh đến Datbike/số lượng quan tâm gói thuê Aizen đang chiếm phần đông tại 2 city</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26</a:t>
            </a:r>
          </a:p>
          <a:p>
            <a:pPr>
              <a:defRPr sz="2200" b="1">
                <a:solidFill>
                  <a:srgbClr val="0E4174"/>
                </a:solidFill>
              </a:defRPr>
            </a:pPr>
            <a:r>
              <a:t>CTR · GDR</a:t>
            </a:r>
          </a:p>
        </p:txBody>
      </p:sp>
      <p:sp>
        <p:nvSpPr>
          <p:cNvPr id="3" name="Rounded Rectangle 2"/>
          <p:cNvSpPr/>
          <p:nvPr/>
        </p:nvSpPr>
        <p:spPr>
          <a:xfrm>
            <a:off x="548640"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 CTR</a:t>
            </a:r>
          </a:p>
          <a:p>
            <a:pPr>
              <a:defRPr sz="2800" b="1">
                <a:solidFill>
                  <a:srgbClr val="0E4174"/>
                </a:solidFill>
              </a:defRPr>
            </a:pPr>
            <a:r>
              <a:t>72.72%</a:t>
            </a:r>
          </a:p>
        </p:txBody>
      </p:sp>
      <p:sp>
        <p:nvSpPr>
          <p:cNvPr id="4" name="Rounded Rectangle 3"/>
          <p:cNvSpPr/>
          <p:nvPr/>
        </p:nvSpPr>
        <p:spPr>
          <a:xfrm>
            <a:off x="3322243"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 CTR</a:t>
            </a:r>
          </a:p>
          <a:p>
            <a:pPr>
              <a:defRPr sz="2800" b="1">
                <a:solidFill>
                  <a:srgbClr val="0E4174"/>
                </a:solidFill>
              </a:defRPr>
            </a:pPr>
            <a:r>
              <a:t>130%</a:t>
            </a:r>
          </a:p>
        </p:txBody>
      </p:sp>
      <p:sp>
        <p:nvSpPr>
          <p:cNvPr id="5" name="Rounded Rectangle 4"/>
          <p:cNvSpPr/>
          <p:nvPr/>
        </p:nvSpPr>
        <p:spPr>
          <a:xfrm>
            <a:off x="6095847"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 CTR</a:t>
            </a:r>
          </a:p>
          <a:p>
            <a:pPr>
              <a:defRPr sz="2800" b="1">
                <a:solidFill>
                  <a:srgbClr val="0E4174"/>
                </a:solidFill>
              </a:defRPr>
            </a:pPr>
            <a:r>
              <a:t>1.86%</a:t>
            </a:r>
          </a:p>
        </p:txBody>
      </p:sp>
      <p:sp>
        <p:nvSpPr>
          <p:cNvPr id="6" name="Rounded Rectangle 5"/>
          <p:cNvSpPr/>
          <p:nvPr/>
        </p:nvSpPr>
        <p:spPr>
          <a:xfrm>
            <a:off x="8869451" y="1645920"/>
            <a:ext cx="2590723" cy="1097280"/>
          </a:xfrm>
          <a:prstGeom prst="roundRect">
            <a:avLst/>
          </a:prstGeom>
          <a:solidFill>
            <a:srgbClr val="FFFFFF"/>
          </a:solidFill>
          <a:ln>
            <a:solidFill>
              <a:srgbClr val="0E417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475569"/>
                </a:solidFill>
              </a:defRPr>
            </a:pPr>
            <a:r>
              <a:t>HAN GDR</a:t>
            </a:r>
          </a:p>
          <a:p>
            <a:pPr>
              <a:defRPr sz="2800" b="1">
                <a:solidFill>
                  <a:srgbClr val="0E4174"/>
                </a:solidFill>
              </a:defRPr>
            </a:pPr>
            <a:r>
              <a:t>94.21%</a:t>
            </a:r>
          </a:p>
        </p:txBody>
      </p:sp>
      <p:sp>
        <p:nvSpPr>
          <p:cNvPr id="7" name="Rounded Rectangle 6"/>
          <p:cNvSpPr/>
          <p:nvPr/>
        </p:nvSpPr>
        <p:spPr>
          <a:xfrm>
            <a:off x="548640"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Tóm Tắt Diễn Giải Nội Dung</a:t>
            </a:r>
          </a:p>
          <a:p>
            <a:pPr>
              <a:defRPr sz="1200">
                <a:solidFill>
                  <a:srgbClr val="0F172A"/>
                </a:solidFill>
              </a:defRPr>
            </a:pPr>
            <a:r>
              <a:t>• Compliance True Rate · Good Driver Rate</a:t>
            </a:r>
          </a:p>
          <a:p>
            <a:pPr>
              <a:defRPr sz="1200">
                <a:solidFill>
                  <a:srgbClr val="0F172A"/>
                </a:solidFill>
              </a:defRPr>
            </a:pPr>
            <a:r>
              <a:t>• CTR (Compliance True Rate)</a:t>
            </a:r>
          </a:p>
          <a:p>
            <a:pPr>
              <a:defRPr sz="1200">
                <a:solidFill>
                  <a:srgbClr val="0F172A"/>
                </a:solidFill>
              </a:defRPr>
            </a:pPr>
            <a:r>
              <a:t>• GDR (Good Driver Rate)</a:t>
            </a:r>
          </a:p>
          <a:p>
            <a:pPr>
              <a:defRPr sz="1200">
                <a:solidFill>
                  <a:srgbClr val="0F172A"/>
                </a:solidFill>
              </a:defRPr>
            </a:pPr>
            <a:r>
              <a:t>• HAN CTR: 72.72% |  Target: 130%</a:t>
            </a:r>
            <a:br/>
            <a:r>
              <a:t>WoW: -1.86%  |  Trend: ↓</a:t>
            </a:r>
          </a:p>
          <a:p>
            <a:pPr>
              <a:defRPr sz="1200">
                <a:solidFill>
                  <a:srgbClr val="0F172A"/>
                </a:solidFill>
              </a:defRPr>
            </a:pPr>
            <a:r>
              <a:t>• HAN GDR: 94.21%   |  Target: 120%</a:t>
            </a:r>
            <a:br/>
            <a:r>
              <a:t>WoW: -1.36%  |  Trend: ↓</a:t>
            </a:r>
          </a:p>
        </p:txBody>
      </p:sp>
      <p:sp>
        <p:nvSpPr>
          <p:cNvPr id="8" name="Rounded Rectangle 7"/>
          <p:cNvSpPr/>
          <p:nvPr/>
        </p:nvSpPr>
        <p:spPr>
          <a:xfrm>
            <a:off x="6248095" y="2926080"/>
            <a:ext cx="5394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Phân Tích Bổ Sung &amp; Kế Hoạch</a:t>
            </a:r>
          </a:p>
          <a:p>
            <a:pPr>
              <a:defRPr sz="1200">
                <a:solidFill>
                  <a:srgbClr val="0F172A"/>
                </a:solidFill>
              </a:defRPr>
            </a:pPr>
            <a:r>
              <a:t>• CTR (Compliance True Rate)</a:t>
            </a:r>
          </a:p>
          <a:p>
            <a:pPr>
              <a:defRPr sz="1200">
                <a:solidFill>
                  <a:srgbClr val="0F172A"/>
                </a:solidFill>
              </a:defRPr>
            </a:pPr>
            <a:r>
              <a:t>• SGN CTR: 79.91%  |  Target: 130%</a:t>
            </a:r>
            <a:br/>
            <a:r>
              <a:t>WoW: -1.29%  |  Trend: ↓</a:t>
            </a:r>
          </a:p>
          <a:p>
            <a:pPr>
              <a:defRPr sz="1200">
                <a:solidFill>
                  <a:srgbClr val="0F172A"/>
                </a:solidFill>
              </a:defRPr>
            </a:pPr>
            <a:r>
              <a:t>• GDR (Good Driver Rate)</a:t>
            </a:r>
          </a:p>
          <a:p>
            <a:pPr>
              <a:defRPr sz="1200">
                <a:solidFill>
                  <a:srgbClr val="0F172A"/>
                </a:solidFill>
              </a:defRPr>
            </a:pPr>
            <a:r>
              <a:t>• SGN GDR: 96.61%   |  Target: 120%</a:t>
            </a:r>
            <a:br/>
            <a:r>
              <a:t>WoW: -0.69%  |  Trend: ↓</a:t>
            </a:r>
          </a:p>
          <a:p>
            <a:pPr>
              <a:defRPr sz="1200">
                <a:solidFill>
                  <a:srgbClr val="0F172A"/>
                </a:solidFill>
              </a:defRPr>
            </a:pPr>
            <a:r>
              <a:t>• [NW] CTR: 77.38% | Target: 130%</a:t>
            </a:r>
            <a:br/>
            <a:r>
              <a:t>WoW: -1.11%  |  Trend: ↓</a:t>
            </a:r>
          </a:p>
          <a:p>
            <a:pPr>
              <a:defRPr sz="1200">
                <a:solidFill>
                  <a:srgbClr val="0F172A"/>
                </a:solidFill>
              </a:defRPr>
            </a:pPr>
            <a:r>
              <a:t>• [NW] GDR: 95.52% | Target: 120%</a:t>
            </a:r>
            <a:br/>
            <a:r>
              <a:t>WoW: -0.04% |  Trend: ↓</a:t>
            </a:r>
          </a:p>
        </p:txBody>
      </p:sp>
      <p:sp>
        <p:nvSpPr>
          <p:cNvPr id="9" name="TextBox 8"/>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27</a:t>
            </a:r>
          </a:p>
          <a:p>
            <a:pPr>
              <a:defRPr sz="2200" b="1">
                <a:solidFill>
                  <a:srgbClr val="0E4174"/>
                </a:solidFill>
              </a:defRPr>
            </a:pPr>
            <a:r>
              <a:t>Communications: Highlights &amp; Lowlights</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HIGHLIGHTS</a:t>
            </a:r>
          </a:p>
          <a:p>
            <a:pPr>
              <a:defRPr sz="1200">
                <a:solidFill>
                  <a:srgbClr val="0F172A"/>
                </a:solidFill>
              </a:defRPr>
            </a:pPr>
            <a:r>
              <a:t>• - Thưởng baga: Đã đủ lead đăng ký</a:t>
            </a:r>
            <a:br/>
            <a:r>
              <a:t>- Tuyển core Fuji, Ajinomoto, BigC: hầu hết đã đủ lead đăng ký</a:t>
            </a:r>
            <a:br/>
            <a:r>
              <a:t>- Truyền thông mở lại dịch vụ tại HAN: đã noti, SMS tần suất cao</a:t>
            </a:r>
            <a:br/>
            <a:r>
              <a:t>- Comms chuỗi bài push active CP 15.8</a:t>
            </a:r>
            <a:br/>
            <a:r>
              <a:t>+ Setup popup, bản tin lượng đơn + chuỗi content thưởng/điểm nóng trong CP 15.8, push active tần suất 2-3 tin/ngày</a:t>
            </a:r>
            <a:br/>
            <a:r>
              <a:t>- EV: Publish Landing page policy mới và các chtrình EV (AHA Creator + Đua top)</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LOWLIGHTS</a:t>
            </a:r>
          </a:p>
          <a:p>
            <a:pPr>
              <a:defRPr sz="1200">
                <a:solidFill>
                  <a:srgbClr val="0F172A"/>
                </a:solidFill>
              </a:defRPr>
            </a:pPr>
            <a:r>
              <a:t>• - Tuyển core BigC lead đk đang chưa đạt kỳ vòng</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28</a:t>
            </a:r>
          </a:p>
          <a:p>
            <a:pPr>
              <a:defRPr sz="2200" b="1">
                <a:solidFill>
                  <a:srgbClr val="0E4174"/>
                </a:solidFill>
              </a:defRPr>
            </a:pPr>
            <a:r>
              <a:t>Event &amp; Partnership: Highlights &amp; Lowlights</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HIGHLIGHTS</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LOWLIGHTS</a:t>
            </a:r>
          </a:p>
          <a:p>
            <a:pPr>
              <a:defRPr sz="1200">
                <a:solidFill>
                  <a:srgbClr val="0F172A"/>
                </a:solidFill>
              </a:defRPr>
            </a:pPr>
            <a:r>
              <a:t>• - Tiến độ deal quyền lợi Bảo hiểm cho txe chậm</a:t>
            </a:r>
            <a:br/>
            <a:r>
              <a:t>- Các data update chuyển đổi từ partner còn rời rạc</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4415" cy="1097280"/>
          </a:xfrm>
          <a:prstGeom prst="rect">
            <a:avLst/>
          </a:prstGeom>
          <a:noFill/>
        </p:spPr>
        <p:txBody>
          <a:bodyPr wrap="square">
            <a:spAutoFit/>
          </a:bodyPr>
          <a:lstStyle/>
          <a:p>
            <a:pPr>
              <a:defRPr sz="1100" b="1">
                <a:solidFill>
                  <a:srgbClr val="FF7F32"/>
                </a:solidFill>
              </a:defRPr>
            </a:pPr>
            <a:r>
              <a:t>AHAMOVE DRIVER MANAGEMENT • SLIDE 29</a:t>
            </a:r>
          </a:p>
          <a:p>
            <a:pPr>
              <a:defRPr sz="2200" b="1">
                <a:solidFill>
                  <a:srgbClr val="0E4174"/>
                </a:solidFill>
              </a:defRPr>
            </a:pPr>
            <a:r>
              <a:t>HIGHLIGHTS DRIVER’s VOICES &amp; EVENT - NW</a:t>
            </a:r>
          </a:p>
        </p:txBody>
      </p:sp>
      <p:sp>
        <p:nvSpPr>
          <p:cNvPr id="3" name="Rounded Rectangle 2"/>
          <p:cNvSpPr/>
          <p:nvPr/>
        </p:nvSpPr>
        <p:spPr>
          <a:xfrm>
            <a:off x="548640"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Highlights &amp; Thành Quả Đạt Được</a:t>
            </a:r>
          </a:p>
          <a:p>
            <a:pPr>
              <a:defRPr sz="1200">
                <a:solidFill>
                  <a:srgbClr val="0F172A"/>
                </a:solidFill>
              </a:defRPr>
            </a:pPr>
            <a:r>
              <a:t>• Driver’s Voices - Community - Event Highlight</a:t>
            </a:r>
          </a:p>
          <a:p>
            <a:pPr>
              <a:defRPr sz="1200">
                <a:solidFill>
                  <a:srgbClr val="0F172A"/>
                </a:solidFill>
              </a:defRPr>
            </a:pPr>
            <a:r>
              <a:t>• Tự động bật dịch vụ 2h-4h cho nhóm tài xế: Tài xế khá gay gắt, liên hệ tổng đài thắc mắc, bức xúc đăng bài trên các hội nhóm</a:t>
            </a:r>
            <a:br/>
            <a:br/>
            <a:r>
              <a:t>Ngày 14/8 xảy ra tình trạng tài xế không login được vào app -&gt; đã fix trong ngày</a:t>
            </a:r>
          </a:p>
        </p:txBody>
      </p:sp>
      <p:sp>
        <p:nvSpPr>
          <p:cNvPr id="4" name="Rounded Rectangle 3"/>
          <p:cNvSpPr/>
          <p:nvPr/>
        </p:nvSpPr>
        <p:spPr>
          <a:xfrm>
            <a:off x="6248095" y="1828800"/>
            <a:ext cx="539496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4174"/>
                </a:solidFill>
              </a:defRPr>
            </a:pPr>
            <a:r>
              <a:t>🔴 Lowlights &amp; Thách Thức Cần Tháo Gỡ</a:t>
            </a:r>
          </a:p>
          <a:p>
            <a:pPr>
              <a:defRPr sz="1200">
                <a:solidFill>
                  <a:srgbClr val="0F172A"/>
                </a:solidFill>
              </a:defRPr>
            </a:pPr>
            <a:r>
              <a:t>• Tự động bật dịch vụ 2h-4h cho nhóm tài xế: Tài xế khá gay gắt, liên hệ tổng đài thắc mắc, bức xúc đăng bài trên các hội nhóm</a:t>
            </a:r>
            <a:br/>
            <a:br/>
            <a:r>
              <a:t>Ngày 14/8 xảy ra tình trạng tài xế không login được vào app -&gt; đã fix trong ngày</a:t>
            </a:r>
          </a:p>
        </p:txBody>
      </p:sp>
      <p:sp>
        <p:nvSpPr>
          <p:cNvPr id="5" name="TextBox 4"/>
          <p:cNvSpPr txBox="1"/>
          <p:nvPr/>
        </p:nvSpPr>
        <p:spPr>
          <a:xfrm>
            <a:off x="548640" y="6400800"/>
            <a:ext cx="11094415" cy="274320"/>
          </a:xfrm>
          <a:prstGeom prst="rect">
            <a:avLst/>
          </a:prstGeom>
          <a:noFill/>
        </p:spPr>
        <p:txBody>
          <a:bodyPr wrap="none">
            <a:spAutoFit/>
          </a:bodyPr>
          <a:lstStyle/>
          <a:p>
            <a:pPr>
              <a:defRPr sz="900">
                <a:solidFill>
                  <a:srgbClr val="475569"/>
                </a:solidFill>
              </a:defRPr>
            </a:pPr>
            <a:r>
              <a:t>Confidential • Ahamove Internal Strategy | Source: Slide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