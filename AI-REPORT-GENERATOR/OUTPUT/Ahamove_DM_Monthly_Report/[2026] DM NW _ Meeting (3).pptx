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8" r:id="rId1"/>
  </p:sldMasterIdLst>
  <p:notesMasterIdLst>
    <p:notesMasterId r:id="rId31"/>
  </p:notesMasterIdLst>
  <p:sldIdLst>
    <p:sldId id="257" r:id="rId2"/>
    <p:sldId id="258" r:id="rId3"/>
    <p:sldId id="259" r:id="rId4"/>
    <p:sldId id="260" r:id="rId5"/>
    <p:sldId id="261" r:id="rId6"/>
    <p:sldId id="265" r:id="rId7"/>
    <p:sldId id="266" r:id="rId8"/>
    <p:sldId id="267" r:id="rId9"/>
    <p:sldId id="269" r:id="rId10"/>
    <p:sldId id="270" r:id="rId11"/>
    <p:sldId id="271" r:id="rId12"/>
    <p:sldId id="272" r:id="rId13"/>
    <p:sldId id="273" r:id="rId14"/>
    <p:sldId id="274" r:id="rId15"/>
    <p:sldId id="278" r:id="rId16"/>
    <p:sldId id="279" r:id="rId17"/>
    <p:sldId id="280" r:id="rId18"/>
    <p:sldId id="283" r:id="rId19"/>
    <p:sldId id="285" r:id="rId20"/>
    <p:sldId id="286" r:id="rId21"/>
    <p:sldId id="290" r:id="rId22"/>
    <p:sldId id="291" r:id="rId23"/>
    <p:sldId id="292" r:id="rId24"/>
    <p:sldId id="293" r:id="rId25"/>
    <p:sldId id="294" r:id="rId26"/>
    <p:sldId id="296" r:id="rId27"/>
    <p:sldId id="297" r:id="rId28"/>
    <p:sldId id="298" r:id="rId29"/>
    <p:sldId id="299" r:id="rId30"/>
  </p:sldIdLst>
  <p:sldSz cx="9144000" cy="5143500" type="screen16x9"/>
  <p:notesSz cx="6858000" cy="9144000"/>
  <p:embeddedFontLst>
    <p:embeddedFont>
      <p:font typeface="Cambria" panose="02040503050406030204" pitchFamily="18" charset="0"/>
      <p:regular r:id="rId32"/>
      <p:bold r:id="rId33"/>
      <p:italic r:id="rId34"/>
      <p:boldItalic r:id="rId35"/>
    </p:embeddedFont>
    <p:embeddedFont>
      <p:font typeface="Helvetica Neue" panose="02000503000000020004" pitchFamily="2" charset="0"/>
      <p:regular r:id="rId36"/>
      <p:bold r:id="rId37"/>
      <p:italic r:id="rId38"/>
      <p:boldItalic r:id="rId39"/>
    </p:embeddedFont>
    <p:embeddedFont>
      <p:font typeface="Lexend" pitchFamily="2" charset="77"/>
      <p:regular r:id="rId40"/>
      <p:bold r:id="rId41"/>
    </p:embeddedFont>
    <p:embeddedFont>
      <p:font typeface="Lexend Light" pitchFamily="2" charset="77"/>
      <p:regular r:id="rId42"/>
      <p:bold r:id="rId43"/>
    </p:embeddedFont>
    <p:embeddedFont>
      <p:font typeface="Lexend Medium" pitchFamily="2" charset="77"/>
      <p:regular r:id="rId44"/>
      <p:bold r:id="rId45"/>
    </p:embeddedFont>
    <p:embeddedFont>
      <p:font typeface="Lexend SemiBold" pitchFamily="2" charset="77"/>
      <p:regular r:id="rId46"/>
      <p:bold r:id="rId47"/>
    </p:embeddedFont>
    <p:embeddedFont>
      <p:font typeface="Montserrat" pitchFamily="2" charset="77"/>
      <p:regular r:id="rId48"/>
      <p:bold r:id="rId49"/>
      <p:italic r:id="rId50"/>
      <p:boldItalic r:id="rId51"/>
    </p:embeddedFont>
    <p:embeddedFont>
      <p:font typeface="Montserrat Black" panose="020F0502020204030204" pitchFamily="34" charset="0"/>
      <p:bold r:id="rId52"/>
      <p:italic r:id="rId53"/>
      <p:boldItalic r:id="rId54"/>
    </p:embeddedFont>
    <p:embeddedFont>
      <p:font typeface="Montserrat Medium" panose="020F0502020204030204" pitchFamily="34" charset="0"/>
      <p:regular r:id="rId55"/>
      <p:bold r:id="rId56"/>
      <p:italic r:id="rId57"/>
      <p:boldItalic r:id="rId58"/>
    </p:embeddedFont>
    <p:embeddedFont>
      <p:font typeface="Nunito" pitchFamily="2" charset="77"/>
      <p:regular r:id="rId59"/>
      <p:bold r:id="rId60"/>
      <p:italic r:id="rId61"/>
      <p:boldItalic r:id="rId62"/>
    </p:embeddedFont>
    <p:embeddedFont>
      <p:font typeface="Nunito Black" panose="020F0502020204030204" pitchFamily="34" charset="0"/>
      <p:bold r:id="rId63"/>
      <p:italic r:id="rId64"/>
      <p:boldItalic r:id="rId65"/>
    </p:embeddedFont>
    <p:embeddedFont>
      <p:font typeface="Nunito ExtraBold" panose="020F0502020204030204" pitchFamily="34" charset="0"/>
      <p:bold r:id="rId66"/>
      <p:italic r:id="rId67"/>
      <p:boldItalic r:id="rId68"/>
    </p:embeddedFont>
    <p:embeddedFont>
      <p:font typeface="Quattrocento Sans" panose="020B0502050000020003" pitchFamily="34" charset="0"/>
      <p:regular r:id="rId69"/>
      <p:bold r:id="rId70"/>
      <p:italic r:id="rId71"/>
      <p:boldItalic r:id="rId7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56">
          <p15:clr>
            <a:srgbClr val="747775"/>
          </p15:clr>
        </p15:guide>
        <p15:guide id="2" orient="horz" pos="296">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Khanh Lê Phương" initials="" lastIdx="1" clrIdx="0"/>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D4DB973-2F49-4540-A1CC-0EE3EA8BBFB3}">
  <a:tblStyle styleId="{BD4DB973-2F49-4540-A1CC-0EE3EA8BBFB3}"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58EF4B7D-01BA-4299-BD77-9BEE6CE2F989}" styleName="Table_1">
    <a:wholeTbl>
      <a:tcTxStyle b="off" i="off">
        <a:font>
          <a:latin typeface="Calibri"/>
          <a:ea typeface="Calibri"/>
          <a:cs typeface="Calibri"/>
        </a:font>
        <a:srgbClr val="000000"/>
      </a:tcTxStyle>
      <a:tcStyle>
        <a:tcBdr>
          <a:left>
            <a:ln w="12700" cap="flat" cmpd="sng">
              <a:solidFill>
                <a:srgbClr val="FFFFFF"/>
              </a:solidFill>
              <a:prstDash val="solid"/>
              <a:round/>
              <a:headEnd type="none" w="sm" len="sm"/>
              <a:tailEnd type="none" w="sm" len="sm"/>
            </a:ln>
          </a:left>
          <a:right>
            <a:ln w="12700" cap="flat" cmpd="sng">
              <a:solidFill>
                <a:srgbClr val="FFFFFF"/>
              </a:solidFill>
              <a:prstDash val="solid"/>
              <a:round/>
              <a:headEnd type="none" w="sm" len="sm"/>
              <a:tailEnd type="none" w="sm" len="sm"/>
            </a:ln>
          </a:right>
          <a:top>
            <a:ln w="12700" cap="flat" cmpd="sng">
              <a:solidFill>
                <a:srgbClr val="FFFFFF"/>
              </a:solidFill>
              <a:prstDash val="solid"/>
              <a:round/>
              <a:headEnd type="none" w="sm" len="sm"/>
              <a:tailEnd type="none" w="sm" len="sm"/>
            </a:ln>
          </a:top>
          <a:bottom>
            <a:ln w="12700" cap="flat" cmpd="sng">
              <a:solidFill>
                <a:srgbClr val="FFFFFF"/>
              </a:solidFill>
              <a:prstDash val="solid"/>
              <a:round/>
              <a:headEnd type="none" w="sm" len="sm"/>
              <a:tailEnd type="none" w="sm" len="sm"/>
            </a:ln>
          </a:bottom>
          <a:insideH>
            <a:ln w="12700" cap="flat" cmpd="sng">
              <a:solidFill>
                <a:srgbClr val="FFFFFF"/>
              </a:solidFill>
              <a:prstDash val="solid"/>
              <a:round/>
              <a:headEnd type="none" w="sm" len="sm"/>
              <a:tailEnd type="none" w="sm" len="sm"/>
            </a:ln>
          </a:insideH>
          <a:insideV>
            <a:ln w="12700" cap="flat" cmpd="sng">
              <a:solidFill>
                <a:srgbClr val="FFFFFF"/>
              </a:solidFill>
              <a:prstDash val="solid"/>
              <a:round/>
              <a:headEnd type="none" w="sm" len="sm"/>
              <a:tailEnd type="none" w="sm" len="sm"/>
            </a:ln>
          </a:insideV>
        </a:tcBdr>
        <a:fill>
          <a:solidFill>
            <a:srgbClr val="E8ECF4"/>
          </a:solidFill>
        </a:fill>
      </a:tcStyle>
    </a:wholeTbl>
    <a:band1H>
      <a:tcTxStyle/>
      <a:tcStyle>
        <a:tcBdr/>
        <a:fill>
          <a:solidFill>
            <a:srgbClr val="CFD7E7"/>
          </a:solidFill>
        </a:fill>
      </a:tcStyle>
    </a:band1H>
    <a:band2H>
      <a:tcTxStyle/>
      <a:tcStyle>
        <a:tcBdr/>
      </a:tcStyle>
    </a:band2H>
    <a:band1V>
      <a:tcTxStyle/>
      <a:tcStyle>
        <a:tcBdr/>
        <a:fill>
          <a:solidFill>
            <a:srgbClr val="CFD7E7"/>
          </a:solidFill>
        </a:fill>
      </a:tcStyle>
    </a:band1V>
    <a:band2V>
      <a:tcTxStyle/>
      <a:tcStyle>
        <a:tcBdr/>
      </a:tcStyle>
    </a:band2V>
    <a:lastCol>
      <a:tcTxStyle b="on" i="off">
        <a:font>
          <a:latin typeface="Calibri"/>
          <a:ea typeface="Calibri"/>
          <a:cs typeface="Calibri"/>
        </a:font>
        <a:srgbClr val="FFFFFF"/>
      </a:tcTxStyle>
      <a:tcStyle>
        <a:tcBdr/>
        <a:fill>
          <a:solidFill>
            <a:srgbClr val="4F81BD"/>
          </a:solidFill>
        </a:fill>
      </a:tcStyle>
    </a:lastCol>
    <a:firstCol>
      <a:tcTxStyle b="on" i="off">
        <a:font>
          <a:latin typeface="Calibri"/>
          <a:ea typeface="Calibri"/>
          <a:cs typeface="Calibri"/>
        </a:font>
        <a:srgbClr val="FFFFFF"/>
      </a:tcTxStyle>
      <a:tcStyle>
        <a:tcBdr/>
        <a:fill>
          <a:solidFill>
            <a:srgbClr val="4F81BD"/>
          </a:solidFill>
        </a:fill>
      </a:tcStyle>
    </a:firstCol>
    <a:lastRow>
      <a:tcTxStyle b="on" i="off">
        <a:font>
          <a:latin typeface="Calibri"/>
          <a:ea typeface="Calibri"/>
          <a:cs typeface="Calibri"/>
        </a:font>
        <a:srgbClr val="FFFFFF"/>
      </a:tcTxStyle>
      <a:tcStyle>
        <a:tcBdr>
          <a:top>
            <a:ln w="38100" cap="flat" cmpd="sng">
              <a:solidFill>
                <a:srgbClr val="FFFFFF"/>
              </a:solidFill>
              <a:prstDash val="solid"/>
              <a:round/>
              <a:headEnd type="none" w="sm" len="sm"/>
              <a:tailEnd type="none" w="sm" len="sm"/>
            </a:ln>
          </a:top>
        </a:tcBdr>
        <a:fill>
          <a:solidFill>
            <a:srgbClr val="4F81BD"/>
          </a:solidFill>
        </a:fill>
      </a:tcStyle>
    </a:lastRow>
    <a:seCell>
      <a:tcTxStyle/>
      <a:tcStyle>
        <a:tcBdr/>
      </a:tcStyle>
    </a:seCell>
    <a:swCell>
      <a:tcTxStyle/>
      <a:tcStyle>
        <a:tcBdr/>
      </a:tcStyle>
    </a:swCell>
    <a:firstRow>
      <a:tcTxStyle b="on" i="off">
        <a:font>
          <a:latin typeface="Calibri"/>
          <a:ea typeface="Calibri"/>
          <a:cs typeface="Calibri"/>
        </a:font>
        <a:srgbClr val="FFFFFF"/>
      </a:tcTxStyle>
      <a:tcStyle>
        <a:tcBdr>
          <a:bottom>
            <a:ln w="38100" cap="flat" cmpd="sng">
              <a:solidFill>
                <a:srgbClr val="FFFFFF"/>
              </a:solidFill>
              <a:prstDash val="solid"/>
              <a:round/>
              <a:headEnd type="none" w="sm" len="sm"/>
              <a:tailEnd type="none" w="sm" len="sm"/>
            </a:ln>
          </a:bottom>
        </a:tcBdr>
        <a:fill>
          <a:solidFill>
            <a:srgbClr val="4F81BD"/>
          </a:solidFill>
        </a:fill>
      </a:tcStyle>
    </a:firstRow>
    <a:neCell>
      <a:tcTxStyle/>
      <a:tcStyle>
        <a:tcBdr/>
      </a:tcStyle>
    </a:neCell>
    <a:nwCell>
      <a:tcTxStyle/>
      <a:tcStyle>
        <a:tcBdr/>
      </a:tcStyle>
    </a:nwCell>
  </a:tblStyle>
  <a:tblStyle styleId="{871F2728-0CA2-48B8-84B0-A59458D7A89F}" styleName="Table_2">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69C7711E-0BBB-438F-B928-6D6486D6D34B}" styleName="Table_3">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94"/>
  </p:normalViewPr>
  <p:slideViewPr>
    <p:cSldViewPr snapToGrid="0">
      <p:cViewPr varScale="1">
        <p:scale>
          <a:sx n="161" d="100"/>
          <a:sy n="161" d="100"/>
        </p:scale>
        <p:origin x="264" y="200"/>
      </p:cViewPr>
      <p:guideLst>
        <p:guide orient="horz" pos="256"/>
        <p:guide orient="horz" pos="296"/>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font" Target="fonts/font11.fntdata"/><Relationship Id="rId47" Type="http://schemas.openxmlformats.org/officeDocument/2006/relationships/font" Target="fonts/font16.fntdata"/><Relationship Id="rId63" Type="http://schemas.openxmlformats.org/officeDocument/2006/relationships/font" Target="fonts/font32.fntdata"/><Relationship Id="rId68" Type="http://schemas.openxmlformats.org/officeDocument/2006/relationships/font" Target="fonts/font37.fntdata"/><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1.fntdata"/><Relationship Id="rId37" Type="http://schemas.openxmlformats.org/officeDocument/2006/relationships/font" Target="fonts/font6.fntdata"/><Relationship Id="rId40" Type="http://schemas.openxmlformats.org/officeDocument/2006/relationships/font" Target="fonts/font9.fntdata"/><Relationship Id="rId45" Type="http://schemas.openxmlformats.org/officeDocument/2006/relationships/font" Target="fonts/font14.fntdata"/><Relationship Id="rId53" Type="http://schemas.openxmlformats.org/officeDocument/2006/relationships/font" Target="fonts/font22.fntdata"/><Relationship Id="rId58" Type="http://schemas.openxmlformats.org/officeDocument/2006/relationships/font" Target="fonts/font27.fntdata"/><Relationship Id="rId66" Type="http://schemas.openxmlformats.org/officeDocument/2006/relationships/font" Target="fonts/font35.fntdata"/><Relationship Id="rId74"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font" Target="fonts/font30.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4.fntdata"/><Relationship Id="rId43" Type="http://schemas.openxmlformats.org/officeDocument/2006/relationships/font" Target="fonts/font12.fntdata"/><Relationship Id="rId48" Type="http://schemas.openxmlformats.org/officeDocument/2006/relationships/font" Target="fonts/font17.fntdata"/><Relationship Id="rId56" Type="http://schemas.openxmlformats.org/officeDocument/2006/relationships/font" Target="fonts/font25.fntdata"/><Relationship Id="rId64" Type="http://schemas.openxmlformats.org/officeDocument/2006/relationships/font" Target="fonts/font33.fntdata"/><Relationship Id="rId69" Type="http://schemas.openxmlformats.org/officeDocument/2006/relationships/font" Target="fonts/font38.fntdata"/><Relationship Id="rId77"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font" Target="fonts/font20.fntdata"/><Relationship Id="rId72" Type="http://schemas.openxmlformats.org/officeDocument/2006/relationships/font" Target="fonts/font41.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2.fntdata"/><Relationship Id="rId38" Type="http://schemas.openxmlformats.org/officeDocument/2006/relationships/font" Target="fonts/font7.fntdata"/><Relationship Id="rId46" Type="http://schemas.openxmlformats.org/officeDocument/2006/relationships/font" Target="fonts/font15.fntdata"/><Relationship Id="rId59" Type="http://schemas.openxmlformats.org/officeDocument/2006/relationships/font" Target="fonts/font28.fntdata"/><Relationship Id="rId67" Type="http://schemas.openxmlformats.org/officeDocument/2006/relationships/font" Target="fonts/font36.fntdata"/><Relationship Id="rId20" Type="http://schemas.openxmlformats.org/officeDocument/2006/relationships/slide" Target="slides/slide19.xml"/><Relationship Id="rId41" Type="http://schemas.openxmlformats.org/officeDocument/2006/relationships/font" Target="fonts/font10.fntdata"/><Relationship Id="rId54" Type="http://schemas.openxmlformats.org/officeDocument/2006/relationships/font" Target="fonts/font23.fntdata"/><Relationship Id="rId62" Type="http://schemas.openxmlformats.org/officeDocument/2006/relationships/font" Target="fonts/font31.fntdata"/><Relationship Id="rId70" Type="http://schemas.openxmlformats.org/officeDocument/2006/relationships/font" Target="fonts/font39.fntdata"/><Relationship Id="rId7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5.fntdata"/><Relationship Id="rId49" Type="http://schemas.openxmlformats.org/officeDocument/2006/relationships/font" Target="fonts/font18.fntdata"/><Relationship Id="rId57" Type="http://schemas.openxmlformats.org/officeDocument/2006/relationships/font" Target="fonts/font26.fntdata"/><Relationship Id="rId10" Type="http://schemas.openxmlformats.org/officeDocument/2006/relationships/slide" Target="slides/slide9.xml"/><Relationship Id="rId31" Type="http://schemas.openxmlformats.org/officeDocument/2006/relationships/notesMaster" Target="notesMasters/notesMaster1.xml"/><Relationship Id="rId44" Type="http://schemas.openxmlformats.org/officeDocument/2006/relationships/font" Target="fonts/font13.fntdata"/><Relationship Id="rId52" Type="http://schemas.openxmlformats.org/officeDocument/2006/relationships/font" Target="fonts/font21.fntdata"/><Relationship Id="rId60" Type="http://schemas.openxmlformats.org/officeDocument/2006/relationships/font" Target="fonts/font29.fntdata"/><Relationship Id="rId65" Type="http://schemas.openxmlformats.org/officeDocument/2006/relationships/font" Target="fonts/font34.fntdata"/><Relationship Id="rId73"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font" Target="fonts/font8.fntdata"/><Relationship Id="rId34" Type="http://schemas.openxmlformats.org/officeDocument/2006/relationships/font" Target="fonts/font3.fntdata"/><Relationship Id="rId50" Type="http://schemas.openxmlformats.org/officeDocument/2006/relationships/font" Target="fonts/font19.fntdata"/><Relationship Id="rId55" Type="http://schemas.openxmlformats.org/officeDocument/2006/relationships/font" Target="fonts/font24.fntdata"/><Relationship Id="rId76"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font" Target="fonts/font40.fntdata"/><Relationship Id="rId2" Type="http://schemas.openxmlformats.org/officeDocument/2006/relationships/slide" Target="slides/slide1.xml"/><Relationship Id="rId29"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bi.ahamove.com/question/73944" TargetMode="External"/><Relationship Id="rId2" Type="http://schemas.openxmlformats.org/officeDocument/2006/relationships/slide" Target="../slides/slide3.xml"/><Relationship Id="rId1" Type="http://schemas.openxmlformats.org/officeDocument/2006/relationships/notesMaster" Target="../notesMasters/notesMaster1.xml"/><Relationship Id="rId4" Type="http://schemas.openxmlformats.org/officeDocument/2006/relationships/hyperlink" Target="https://bi.ahamove.com/question/79585" TargetMode="Externa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bi.ahamove.com/question/77201" TargetMode="External"/><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g3f7370722f2_0_17:notes"/>
          <p:cNvSpPr>
            <a:spLocks noGrp="1" noRot="1" noChangeAspect="1"/>
          </p:cNvSpPr>
          <p:nvPr>
            <p:ph type="sldImg" idx="2"/>
          </p:nvPr>
        </p:nvSpPr>
        <p:spPr>
          <a:xfrm>
            <a:off x="1828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3" name="Google Shape;143;g3f7370722f2_0_17: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4" name="Google Shape;144;g3f7370722f2_0_17: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g3f7370722f2_0_72:notes"/>
          <p:cNvSpPr>
            <a:spLocks noGrp="1" noRot="1" noChangeAspect="1"/>
          </p:cNvSpPr>
          <p:nvPr>
            <p:ph type="sldImg" idx="2"/>
          </p:nvPr>
        </p:nvSpPr>
        <p:spPr>
          <a:xfrm>
            <a:off x="914400" y="1143000"/>
            <a:ext cx="73152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9" name="Google Shape;169;g3f7370722f2_0_72: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0" name="Google Shape;170;g3f7370722f2_0_72: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g3f7370722f2_0_93:notes"/>
          <p:cNvSpPr>
            <a:spLocks noGrp="1" noRot="1" noChangeAspect="1"/>
          </p:cNvSpPr>
          <p:nvPr>
            <p:ph type="sldImg" idx="2"/>
          </p:nvPr>
        </p:nvSpPr>
        <p:spPr>
          <a:xfrm>
            <a:off x="914400" y="1143000"/>
            <a:ext cx="73152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1" name="Google Shape;191;g3f7370722f2_0_93: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 b="1"/>
              <a:t>Active Driver Segment by Month</a:t>
            </a:r>
            <a:r>
              <a:rPr lang="en"/>
              <a:t>: </a:t>
            </a:r>
            <a:r>
              <a:rPr lang="en" u="sng">
                <a:solidFill>
                  <a:schemeClr val="hlink"/>
                </a:solidFill>
                <a:hlinkClick r:id="rId3"/>
              </a:rPr>
              <a:t>https://bi.ahamove.com/question/73944</a:t>
            </a:r>
            <a:endParaRPr/>
          </a:p>
          <a:p>
            <a:pPr marL="0" lvl="0" indent="0" algn="l" rtl="0">
              <a:spcBef>
                <a:spcPts val="0"/>
              </a:spcBef>
              <a:spcAft>
                <a:spcPts val="0"/>
              </a:spcAft>
              <a:buNone/>
            </a:pPr>
            <a:r>
              <a:rPr lang="en"/>
              <a:t>Retention over 22: </a:t>
            </a:r>
            <a:r>
              <a:rPr lang="en" u="sng">
                <a:solidFill>
                  <a:schemeClr val="hlink"/>
                </a:solidFill>
                <a:hlinkClick r:id="rId4"/>
              </a:rPr>
              <a:t>https://bi.ahamove.com/question/79585</a:t>
            </a:r>
            <a:endParaRPr/>
          </a:p>
          <a:p>
            <a:pPr marL="0" lvl="0" indent="0" algn="l" rtl="0">
              <a:spcBef>
                <a:spcPts val="0"/>
              </a:spcBef>
              <a:spcAft>
                <a:spcPts val="0"/>
              </a:spcAft>
              <a:buNone/>
            </a:pPr>
            <a:endParaRPr/>
          </a:p>
        </p:txBody>
      </p:sp>
      <p:sp>
        <p:nvSpPr>
          <p:cNvPr id="192" name="Google Shape;192;g3f7370722f2_0_93: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g3f7370722f2_0_1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2" name="Google Shape;212;g3f7370722f2_0_1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g3f7370722f2_0_139:notes"/>
          <p:cNvSpPr>
            <a:spLocks noGrp="1" noRot="1" noChangeAspect="1"/>
          </p:cNvSpPr>
          <p:nvPr>
            <p:ph type="sldImg" idx="2"/>
          </p:nvPr>
        </p:nvSpPr>
        <p:spPr>
          <a:xfrm>
            <a:off x="914400" y="1143000"/>
            <a:ext cx="73152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6" name="Google Shape;236;g3f7370722f2_0_139: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7" name="Google Shape;237;g3f7370722f2_0_139: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8"/>
        <p:cNvGrpSpPr/>
        <p:nvPr/>
      </p:nvGrpSpPr>
      <p:grpSpPr>
        <a:xfrm>
          <a:off x="0" y="0"/>
          <a:ext cx="0" cy="0"/>
          <a:chOff x="0" y="0"/>
          <a:chExt cx="0" cy="0"/>
        </a:xfrm>
      </p:grpSpPr>
      <p:sp>
        <p:nvSpPr>
          <p:cNvPr id="309" name="Google Shape;309;g3f7370722f2_0_209:notes"/>
          <p:cNvSpPr>
            <a:spLocks noGrp="1" noRot="1" noChangeAspect="1"/>
          </p:cNvSpPr>
          <p:nvPr>
            <p:ph type="sldImg" idx="2"/>
          </p:nvPr>
        </p:nvSpPr>
        <p:spPr>
          <a:xfrm>
            <a:off x="914400" y="1143000"/>
            <a:ext cx="73152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0" name="Google Shape;310;g3f7370722f2_0_209: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
              <a:t>Card: </a:t>
            </a:r>
            <a:r>
              <a:rPr lang="en" u="sng">
                <a:solidFill>
                  <a:schemeClr val="hlink"/>
                </a:solidFill>
                <a:hlinkClick r:id="rId3"/>
              </a:rPr>
              <a:t>https://bi.ahamove.com/question/77201</a:t>
            </a:r>
            <a:endParaRPr/>
          </a:p>
          <a:p>
            <a:pPr marL="0" lvl="0" indent="0" algn="l" rtl="0">
              <a:spcBef>
                <a:spcPts val="0"/>
              </a:spcBef>
              <a:spcAft>
                <a:spcPts val="0"/>
              </a:spcAft>
              <a:buNone/>
            </a:pPr>
            <a:endParaRPr/>
          </a:p>
        </p:txBody>
      </p:sp>
      <p:sp>
        <p:nvSpPr>
          <p:cNvPr id="311" name="Google Shape;311;g3f7370722f2_0_209: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g3f7370722f2_0_22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3" name="Google Shape;323;g3f7370722f2_0_2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g3f737453f0d_5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9" name="Google Shape;339;g3f737453f0d_5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g3f7370722f2_0_237:notes"/>
          <p:cNvSpPr>
            <a:spLocks noGrp="1" noRot="1" noChangeAspect="1"/>
          </p:cNvSpPr>
          <p:nvPr>
            <p:ph type="sldImg" idx="2"/>
          </p:nvPr>
        </p:nvSpPr>
        <p:spPr>
          <a:xfrm>
            <a:off x="685800" y="857250"/>
            <a:ext cx="5486400" cy="23145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61" name="Google Shape;361;g3f7370722f2_0_237:notes"/>
          <p:cNvSpPr txBox="1">
            <a:spLocks noGrp="1"/>
          </p:cNvSpPr>
          <p:nvPr>
            <p:ph type="body" idx="1"/>
          </p:nvPr>
        </p:nvSpPr>
        <p:spPr>
          <a:xfrm>
            <a:off x="685800" y="3300413"/>
            <a:ext cx="5486400" cy="27003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2" name="Google Shape;362;g3f7370722f2_0_237:notes"/>
          <p:cNvSpPr txBox="1">
            <a:spLocks noGrp="1"/>
          </p:cNvSpPr>
          <p:nvPr>
            <p:ph type="sldNum" idx="12"/>
          </p:nvPr>
        </p:nvSpPr>
        <p:spPr>
          <a:xfrm>
            <a:off x="3884613" y="6513910"/>
            <a:ext cx="2971800" cy="3441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2"/>
        <p:cNvGrpSpPr/>
        <p:nvPr/>
      </p:nvGrpSpPr>
      <p:grpSpPr>
        <a:xfrm>
          <a:off x="0" y="0"/>
          <a:ext cx="0" cy="0"/>
          <a:chOff x="0" y="0"/>
          <a:chExt cx="0" cy="0"/>
        </a:xfrm>
      </p:grpSpPr>
      <p:sp>
        <p:nvSpPr>
          <p:cNvPr id="433" name="Google Shape;433;g3f7370722f2_0_28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4" name="Google Shape;434;g3f7370722f2_0_2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solidFill>
                <a:schemeClr val="dk1"/>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2"/>
        <p:cNvGrpSpPr/>
        <p:nvPr/>
      </p:nvGrpSpPr>
      <p:grpSpPr>
        <a:xfrm>
          <a:off x="0" y="0"/>
          <a:ext cx="0" cy="0"/>
          <a:chOff x="0" y="0"/>
          <a:chExt cx="0" cy="0"/>
        </a:xfrm>
      </p:grpSpPr>
      <p:sp>
        <p:nvSpPr>
          <p:cNvPr id="453" name="Google Shape;453;g3f7370722f2_0_30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4" name="Google Shape;454;g3f7370722f2_0_3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solidFill>
                <a:schemeClr val="dk1"/>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2"/>
        <p:cNvGrpSpPr/>
        <p:nvPr/>
      </p:nvGrpSpPr>
      <p:grpSpPr>
        <a:xfrm>
          <a:off x="0" y="0"/>
          <a:ext cx="0" cy="0"/>
          <a:chOff x="0" y="0"/>
          <a:chExt cx="0" cy="0"/>
        </a:xfrm>
      </p:grpSpPr>
      <p:sp>
        <p:nvSpPr>
          <p:cNvPr id="473" name="Google Shape;473;g3f7370722f2_0_32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4" name="Google Shape;474;g3f7370722f2_0_3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171450" algn="l" rtl="0">
              <a:lnSpc>
                <a:spcPct val="115000"/>
              </a:lnSpc>
              <a:spcBef>
                <a:spcPts val="0"/>
              </a:spcBef>
              <a:spcAft>
                <a:spcPts val="0"/>
              </a:spcAft>
              <a:buClr>
                <a:srgbClr val="010101"/>
              </a:buClr>
              <a:buSzPts val="900"/>
              <a:buChar char="-"/>
            </a:pPr>
            <a:r>
              <a:rPr lang="en" sz="900">
                <a:solidFill>
                  <a:srgbClr val="010101"/>
                </a:solidFill>
              </a:rPr>
              <a:t>-&gt; đề xuất bỏ force AA trong 7 ngày từ FAT cho nhóm tx mới (test thử trong 2 tuần) để xem kết quả ở SGN</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0"/>
        <p:cNvGrpSpPr/>
        <p:nvPr/>
      </p:nvGrpSpPr>
      <p:grpSpPr>
        <a:xfrm>
          <a:off x="0" y="0"/>
          <a:ext cx="0" cy="0"/>
          <a:chOff x="0" y="0"/>
          <a:chExt cx="0" cy="0"/>
        </a:xfrm>
      </p:grpSpPr>
      <p:sp>
        <p:nvSpPr>
          <p:cNvPr id="501" name="Google Shape;501;g3f7370722f2_0_35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2" name="Google Shape;502;g3f7370722f2_0_3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https://bi.ahamove.com/question/62640</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p:cNvGrpSpPr/>
        <p:nvPr/>
      </p:nvGrpSpPr>
      <p:grpSpPr>
        <a:xfrm>
          <a:off x="0" y="0"/>
          <a:ext cx="0" cy="0"/>
          <a:chOff x="0" y="0"/>
          <a:chExt cx="0" cy="0"/>
        </a:xfrm>
      </p:grpSpPr>
      <p:sp>
        <p:nvSpPr>
          <p:cNvPr id="529" name="Google Shape;529;g3f737453f0d_3_0:notes"/>
          <p:cNvSpPr>
            <a:spLocks noGrp="1" noRot="1" noChangeAspect="1"/>
          </p:cNvSpPr>
          <p:nvPr>
            <p:ph type="sldImg" idx="2"/>
          </p:nvPr>
        </p:nvSpPr>
        <p:spPr>
          <a:xfrm>
            <a:off x="685800" y="857250"/>
            <a:ext cx="5486400" cy="23145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30" name="Google Shape;530;g3f737453f0d_3_0:notes"/>
          <p:cNvSpPr txBox="1">
            <a:spLocks noGrp="1"/>
          </p:cNvSpPr>
          <p:nvPr>
            <p:ph type="body" idx="1"/>
          </p:nvPr>
        </p:nvSpPr>
        <p:spPr>
          <a:xfrm>
            <a:off x="685800" y="3300413"/>
            <a:ext cx="5486400" cy="27003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31" name="Google Shape;531;g3f737453f0d_3_0:notes"/>
          <p:cNvSpPr txBox="1">
            <a:spLocks noGrp="1"/>
          </p:cNvSpPr>
          <p:nvPr>
            <p:ph type="sldNum" idx="12"/>
          </p:nvPr>
        </p:nvSpPr>
        <p:spPr>
          <a:xfrm>
            <a:off x="3884613" y="6513910"/>
            <a:ext cx="2971800" cy="3441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8"/>
        <p:cNvGrpSpPr/>
        <p:nvPr/>
      </p:nvGrpSpPr>
      <p:grpSpPr>
        <a:xfrm>
          <a:off x="0" y="0"/>
          <a:ext cx="0" cy="0"/>
          <a:chOff x="0" y="0"/>
          <a:chExt cx="0" cy="0"/>
        </a:xfrm>
      </p:grpSpPr>
      <p:sp>
        <p:nvSpPr>
          <p:cNvPr id="619" name="Google Shape;619;g3f7370722f2_0_445:notes"/>
          <p:cNvSpPr>
            <a:spLocks noGrp="1" noRot="1" noChangeAspect="1"/>
          </p:cNvSpPr>
          <p:nvPr>
            <p:ph type="sldImg" idx="2"/>
          </p:nvPr>
        </p:nvSpPr>
        <p:spPr>
          <a:xfrm>
            <a:off x="1828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20" name="Google Shape;620;g3f7370722f2_0_445: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21" name="Google Shape;621;g3f7370722f2_0_445: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8"/>
        <p:cNvGrpSpPr/>
        <p:nvPr/>
      </p:nvGrpSpPr>
      <p:grpSpPr>
        <a:xfrm>
          <a:off x="0" y="0"/>
          <a:ext cx="0" cy="0"/>
          <a:chOff x="0" y="0"/>
          <a:chExt cx="0" cy="0"/>
        </a:xfrm>
      </p:grpSpPr>
      <p:sp>
        <p:nvSpPr>
          <p:cNvPr id="669" name="Google Shape;669;g3f7370722f2_0_494:notes"/>
          <p:cNvSpPr>
            <a:spLocks noGrp="1" noRot="1" noChangeAspect="1"/>
          </p:cNvSpPr>
          <p:nvPr>
            <p:ph type="sldImg" idx="2"/>
          </p:nvPr>
        </p:nvSpPr>
        <p:spPr>
          <a:xfrm>
            <a:off x="914400" y="1143000"/>
            <a:ext cx="73152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70" name="Google Shape;670;g3f7370722f2_0_494: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71" name="Google Shape;671;g3f7370722f2_0_494: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7"/>
        <p:cNvGrpSpPr/>
        <p:nvPr/>
      </p:nvGrpSpPr>
      <p:grpSpPr>
        <a:xfrm>
          <a:off x="0" y="0"/>
          <a:ext cx="0" cy="0"/>
          <a:chOff x="0" y="0"/>
          <a:chExt cx="0" cy="0"/>
        </a:xfrm>
      </p:grpSpPr>
      <p:sp>
        <p:nvSpPr>
          <p:cNvPr id="688" name="Google Shape;688;g3f7370722f2_0_512:notes"/>
          <p:cNvSpPr>
            <a:spLocks noGrp="1" noRot="1" noChangeAspect="1"/>
          </p:cNvSpPr>
          <p:nvPr>
            <p:ph type="sldImg" idx="2"/>
          </p:nvPr>
        </p:nvSpPr>
        <p:spPr>
          <a:xfrm>
            <a:off x="914400" y="1143000"/>
            <a:ext cx="73152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89" name="Google Shape;689;g3f7370722f2_0_512: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90" name="Google Shape;690;g3f7370722f2_0_512: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4"/>
        <p:cNvGrpSpPr/>
        <p:nvPr/>
      </p:nvGrpSpPr>
      <p:grpSpPr>
        <a:xfrm>
          <a:off x="0" y="0"/>
          <a:ext cx="0" cy="0"/>
          <a:chOff x="0" y="0"/>
          <a:chExt cx="0" cy="0"/>
        </a:xfrm>
      </p:grpSpPr>
      <p:sp>
        <p:nvSpPr>
          <p:cNvPr id="755" name="Google Shape;755;g3f7370722f2_0_566:notes"/>
          <p:cNvSpPr>
            <a:spLocks noGrp="1" noRot="1" noChangeAspect="1"/>
          </p:cNvSpPr>
          <p:nvPr>
            <p:ph type="sldImg" idx="2"/>
          </p:nvPr>
        </p:nvSpPr>
        <p:spPr>
          <a:xfrm>
            <a:off x="914400" y="1143000"/>
            <a:ext cx="73152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56" name="Google Shape;756;g3f7370722f2_0_566: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57" name="Google Shape;757;g3f7370722f2_0_566: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4"/>
        <p:cNvGrpSpPr/>
        <p:nvPr/>
      </p:nvGrpSpPr>
      <p:grpSpPr>
        <a:xfrm>
          <a:off x="0" y="0"/>
          <a:ext cx="0" cy="0"/>
          <a:chOff x="0" y="0"/>
          <a:chExt cx="0" cy="0"/>
        </a:xfrm>
      </p:grpSpPr>
      <p:sp>
        <p:nvSpPr>
          <p:cNvPr id="795" name="Google Shape;795;g3f737453f0d_12_23:notes"/>
          <p:cNvSpPr>
            <a:spLocks noGrp="1" noRot="1" noChangeAspect="1"/>
          </p:cNvSpPr>
          <p:nvPr>
            <p:ph type="sldImg" idx="2"/>
          </p:nvPr>
        </p:nvSpPr>
        <p:spPr>
          <a:xfrm>
            <a:off x="914400" y="1143000"/>
            <a:ext cx="73152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6" name="Google Shape;796;g3f737453f0d_12_23: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97" name="Google Shape;797;g3f737453f0d_12_23: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9"/>
        <p:cNvGrpSpPr/>
        <p:nvPr/>
      </p:nvGrpSpPr>
      <p:grpSpPr>
        <a:xfrm>
          <a:off x="0" y="0"/>
          <a:ext cx="0" cy="0"/>
          <a:chOff x="0" y="0"/>
          <a:chExt cx="0" cy="0"/>
        </a:xfrm>
      </p:grpSpPr>
      <p:sp>
        <p:nvSpPr>
          <p:cNvPr id="820" name="Google Shape;820;g3f737453f0d_12_47:notes"/>
          <p:cNvSpPr>
            <a:spLocks noGrp="1" noRot="1" noChangeAspect="1"/>
          </p:cNvSpPr>
          <p:nvPr>
            <p:ph type="sldImg" idx="2"/>
          </p:nvPr>
        </p:nvSpPr>
        <p:spPr>
          <a:xfrm>
            <a:off x="914400" y="1143000"/>
            <a:ext cx="73152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21" name="Google Shape;821;g3f737453f0d_12_47: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22" name="Google Shape;822;g3f737453f0d_12_47: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2"/>
        <p:cNvGrpSpPr/>
        <p:nvPr/>
      </p:nvGrpSpPr>
      <p:grpSpPr>
        <a:xfrm>
          <a:off x="0" y="0"/>
          <a:ext cx="0" cy="0"/>
          <a:chOff x="0" y="0"/>
          <a:chExt cx="0" cy="0"/>
        </a:xfrm>
      </p:grpSpPr>
      <p:sp>
        <p:nvSpPr>
          <p:cNvPr id="913" name="Google Shape;913;g3f7370722f2_0_7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4" name="Google Shape;914;g3f7370722f2_0_7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1000" b="1">
              <a:solidFill>
                <a:schemeClr val="dk1"/>
              </a:solidFil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4"/>
        <p:cNvGrpSpPr/>
        <p:nvPr/>
      </p:nvGrpSpPr>
      <p:grpSpPr>
        <a:xfrm>
          <a:off x="0" y="0"/>
          <a:ext cx="0" cy="0"/>
          <a:chOff x="0" y="0"/>
          <a:chExt cx="0" cy="0"/>
        </a:xfrm>
      </p:grpSpPr>
      <p:sp>
        <p:nvSpPr>
          <p:cNvPr id="935" name="Google Shape;935;g3f7370722f2_0_853:notes"/>
          <p:cNvSpPr>
            <a:spLocks noGrp="1" noRot="1" noChangeAspect="1"/>
          </p:cNvSpPr>
          <p:nvPr>
            <p:ph type="sldImg" idx="2"/>
          </p:nvPr>
        </p:nvSpPr>
        <p:spPr>
          <a:xfrm>
            <a:off x="914400" y="1143000"/>
            <a:ext cx="73152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6" name="Google Shape;936;g3f7370722f2_0_853: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37" name="Google Shape;937;g3f7370722f2_0_853: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7"/>
        <p:cNvGrpSpPr/>
        <p:nvPr/>
      </p:nvGrpSpPr>
      <p:grpSpPr>
        <a:xfrm>
          <a:off x="0" y="0"/>
          <a:ext cx="0" cy="0"/>
          <a:chOff x="0" y="0"/>
          <a:chExt cx="0" cy="0"/>
        </a:xfrm>
      </p:grpSpPr>
      <p:sp>
        <p:nvSpPr>
          <p:cNvPr id="978" name="Google Shape;978;g3f7370722f2_0_779:notes"/>
          <p:cNvSpPr>
            <a:spLocks noGrp="1" noRot="1" noChangeAspect="1"/>
          </p:cNvSpPr>
          <p:nvPr>
            <p:ph type="sldImg" idx="2"/>
          </p:nvPr>
        </p:nvSpPr>
        <p:spPr>
          <a:xfrm>
            <a:off x="914400" y="1143000"/>
            <a:ext cx="73152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9" name="Google Shape;979;g3f7370722f2_0_779: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80" name="Google Shape;980;g3f7370722f2_0_779: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4"/>
        <p:cNvGrpSpPr/>
        <p:nvPr/>
      </p:nvGrpSpPr>
      <p:grpSpPr>
        <a:xfrm>
          <a:off x="0" y="0"/>
          <a:ext cx="0" cy="0"/>
          <a:chOff x="0" y="0"/>
          <a:chExt cx="0" cy="0"/>
        </a:xfrm>
      </p:grpSpPr>
      <p:sp>
        <p:nvSpPr>
          <p:cNvPr id="1015" name="Google Shape;1015;g3f737453f0d_17_10:notes"/>
          <p:cNvSpPr>
            <a:spLocks noGrp="1" noRot="1" noChangeAspect="1"/>
          </p:cNvSpPr>
          <p:nvPr>
            <p:ph type="sldImg" idx="2"/>
          </p:nvPr>
        </p:nvSpPr>
        <p:spPr>
          <a:xfrm>
            <a:off x="914400" y="1143000"/>
            <a:ext cx="73152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6" name="Google Shape;1016;g3f737453f0d_17_10: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17" name="Google Shape;1017;g3f737453f0d_17_10: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4"/>
        <p:cNvGrpSpPr/>
        <p:nvPr/>
      </p:nvGrpSpPr>
      <p:grpSpPr>
        <a:xfrm>
          <a:off x="0" y="0"/>
          <a:ext cx="0" cy="0"/>
          <a:chOff x="0" y="0"/>
          <a:chExt cx="0" cy="0"/>
        </a:xfrm>
      </p:grpSpPr>
      <p:sp>
        <p:nvSpPr>
          <p:cNvPr id="1045" name="Google Shape;1045;g3f7370722f2_0_943:notes"/>
          <p:cNvSpPr>
            <a:spLocks noGrp="1" noRot="1" noChangeAspect="1"/>
          </p:cNvSpPr>
          <p:nvPr>
            <p:ph type="sldImg" idx="2"/>
          </p:nvPr>
        </p:nvSpPr>
        <p:spPr>
          <a:xfrm>
            <a:off x="914400" y="1143000"/>
            <a:ext cx="73152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6" name="Google Shape;1046;g3f7370722f2_0_943: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7" name="Google Shape;1047;g3f7370722f2_0_943: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25</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9"/>
        <p:cNvGrpSpPr/>
        <p:nvPr/>
      </p:nvGrpSpPr>
      <p:grpSpPr>
        <a:xfrm>
          <a:off x="0" y="0"/>
          <a:ext cx="0" cy="0"/>
          <a:chOff x="0" y="0"/>
          <a:chExt cx="0" cy="0"/>
        </a:xfrm>
      </p:grpSpPr>
      <p:sp>
        <p:nvSpPr>
          <p:cNvPr id="1080" name="Google Shape;1080;g3f7370722f2_0_1066:notes"/>
          <p:cNvSpPr>
            <a:spLocks noGrp="1" noRot="1" noChangeAspect="1"/>
          </p:cNvSpPr>
          <p:nvPr>
            <p:ph type="sldImg" idx="2"/>
          </p:nvPr>
        </p:nvSpPr>
        <p:spPr>
          <a:xfrm>
            <a:off x="914400" y="1143000"/>
            <a:ext cx="73152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81" name="Google Shape;1081;g3f7370722f2_0_1066: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82" name="Google Shape;1082;g3f7370722f2_0_1066: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26</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1"/>
        <p:cNvGrpSpPr/>
        <p:nvPr/>
      </p:nvGrpSpPr>
      <p:grpSpPr>
        <a:xfrm>
          <a:off x="0" y="0"/>
          <a:ext cx="0" cy="0"/>
          <a:chOff x="0" y="0"/>
          <a:chExt cx="0" cy="0"/>
        </a:xfrm>
      </p:grpSpPr>
      <p:sp>
        <p:nvSpPr>
          <p:cNvPr id="1112" name="Google Shape;1112;g3f7370722f2_0_1097:notes"/>
          <p:cNvSpPr>
            <a:spLocks noGrp="1" noRot="1" noChangeAspect="1"/>
          </p:cNvSpPr>
          <p:nvPr>
            <p:ph type="sldImg" idx="2"/>
          </p:nvPr>
        </p:nvSpPr>
        <p:spPr>
          <a:xfrm>
            <a:off x="914400" y="1143000"/>
            <a:ext cx="73152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13" name="Google Shape;1113;g3f7370722f2_0_1097: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14" name="Google Shape;1114;g3f7370722f2_0_1097: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27</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1"/>
        <p:cNvGrpSpPr/>
        <p:nvPr/>
      </p:nvGrpSpPr>
      <p:grpSpPr>
        <a:xfrm>
          <a:off x="0" y="0"/>
          <a:ext cx="0" cy="0"/>
          <a:chOff x="0" y="0"/>
          <a:chExt cx="0" cy="0"/>
        </a:xfrm>
      </p:grpSpPr>
      <p:sp>
        <p:nvSpPr>
          <p:cNvPr id="1142" name="Google Shape;1142;g3f7370722f2_0_1126:notes"/>
          <p:cNvSpPr>
            <a:spLocks noGrp="1" noRot="1" noChangeAspect="1"/>
          </p:cNvSpPr>
          <p:nvPr>
            <p:ph type="sldImg" idx="2"/>
          </p:nvPr>
        </p:nvSpPr>
        <p:spPr>
          <a:xfrm>
            <a:off x="914400" y="1143000"/>
            <a:ext cx="73152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43" name="Google Shape;1143;g3f7370722f2_0_1126: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44" name="Google Shape;1144;g3f7370722f2_0_1126: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28</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0"/>
        <p:cNvGrpSpPr/>
        <p:nvPr/>
      </p:nvGrpSpPr>
      <p:grpSpPr>
        <a:xfrm>
          <a:off x="0" y="0"/>
          <a:ext cx="0" cy="0"/>
          <a:chOff x="0" y="0"/>
          <a:chExt cx="0" cy="0"/>
        </a:xfrm>
      </p:grpSpPr>
      <p:sp>
        <p:nvSpPr>
          <p:cNvPr id="1171" name="Google Shape;1171;g3f7370722f2_0_1150:notes"/>
          <p:cNvSpPr>
            <a:spLocks noGrp="1" noRot="1" noChangeAspect="1"/>
          </p:cNvSpPr>
          <p:nvPr>
            <p:ph type="sldImg" idx="2"/>
          </p:nvPr>
        </p:nvSpPr>
        <p:spPr>
          <a:xfrm>
            <a:off x="914400" y="1143000"/>
            <a:ext cx="73152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72" name="Google Shape;1172;g3f7370722f2_0_1150:notes"/>
          <p:cNvSpPr txBox="1">
            <a:spLocks noGrp="1"/>
          </p:cNvSpPr>
          <p:nvPr>
            <p:ph type="body" idx="1"/>
          </p:nvPr>
        </p:nvSpPr>
        <p:spPr>
          <a:xfrm>
            <a:off x="914400" y="4400550"/>
            <a:ext cx="73152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73" name="Google Shape;1173;g3f7370722f2_0_1150:notes"/>
          <p:cNvSpPr txBox="1">
            <a:spLocks noGrp="1"/>
          </p:cNvSpPr>
          <p:nvPr>
            <p:ph type="sldNum" idx="12"/>
          </p:nvPr>
        </p:nvSpPr>
        <p:spPr>
          <a:xfrm>
            <a:off x="5179484" y="8685213"/>
            <a:ext cx="39624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29</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108"/>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09"/>
        <p:cNvGrpSpPr/>
        <p:nvPr/>
      </p:nvGrpSpPr>
      <p:grpSpPr>
        <a:xfrm>
          <a:off x="0" y="0"/>
          <a:ext cx="0" cy="0"/>
          <a:chOff x="0" y="0"/>
          <a:chExt cx="0" cy="0"/>
        </a:xfrm>
      </p:grpSpPr>
      <p:sp>
        <p:nvSpPr>
          <p:cNvPr id="110" name="Google Shape;110;p28"/>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ctr" anchorCtr="0">
            <a:no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a:endParaRPr/>
          </a:p>
        </p:txBody>
      </p:sp>
      <p:sp>
        <p:nvSpPr>
          <p:cNvPr id="111" name="Google Shape;111;p28"/>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ctr" anchorCtr="0">
            <a:noAutofit/>
          </a:bodyPr>
          <a:lstStyle>
            <a:lvl1pPr marL="457200" lvl="0" indent="-317500">
              <a:spcBef>
                <a:spcPts val="0"/>
              </a:spcBef>
              <a:spcAft>
                <a:spcPts val="0"/>
              </a:spcAft>
              <a:buSzPts val="14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12" name="Google Shape;112;p2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3"/>
        <p:cNvGrpSpPr/>
        <p:nvPr/>
      </p:nvGrpSpPr>
      <p:grpSpPr>
        <a:xfrm>
          <a:off x="0" y="0"/>
          <a:ext cx="0" cy="0"/>
          <a:chOff x="0" y="0"/>
          <a:chExt cx="0" cy="0"/>
        </a:xfrm>
      </p:grpSpPr>
      <p:sp>
        <p:nvSpPr>
          <p:cNvPr id="114" name="Google Shape;114;p29"/>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Autofit/>
          </a:bodyPr>
          <a:lstStyle>
            <a:lvl1pPr lvl="0" algn="ctr">
              <a:spcBef>
                <a:spcPts val="0"/>
              </a:spcBef>
              <a:spcAft>
                <a:spcPts val="0"/>
              </a:spcAft>
              <a:buSzPts val="5200"/>
              <a:buChar char="●"/>
              <a:defRPr sz="5200"/>
            </a:lvl1pPr>
            <a:lvl2pPr lvl="1" algn="ctr">
              <a:spcBef>
                <a:spcPts val="0"/>
              </a:spcBef>
              <a:spcAft>
                <a:spcPts val="0"/>
              </a:spcAft>
              <a:buSzPts val="5200"/>
              <a:buChar char="○"/>
              <a:defRPr sz="5200"/>
            </a:lvl2pPr>
            <a:lvl3pPr lvl="2" algn="ctr">
              <a:spcBef>
                <a:spcPts val="0"/>
              </a:spcBef>
              <a:spcAft>
                <a:spcPts val="0"/>
              </a:spcAft>
              <a:buSzPts val="5200"/>
              <a:buChar char="■"/>
              <a:defRPr sz="5200"/>
            </a:lvl3pPr>
            <a:lvl4pPr lvl="3" algn="ctr">
              <a:spcBef>
                <a:spcPts val="0"/>
              </a:spcBef>
              <a:spcAft>
                <a:spcPts val="0"/>
              </a:spcAft>
              <a:buSzPts val="5200"/>
              <a:buChar char="●"/>
              <a:defRPr sz="5200"/>
            </a:lvl4pPr>
            <a:lvl5pPr lvl="4" algn="ctr">
              <a:spcBef>
                <a:spcPts val="0"/>
              </a:spcBef>
              <a:spcAft>
                <a:spcPts val="0"/>
              </a:spcAft>
              <a:buSzPts val="5200"/>
              <a:buChar char="○"/>
              <a:defRPr sz="5200"/>
            </a:lvl5pPr>
            <a:lvl6pPr lvl="5" algn="ctr">
              <a:spcBef>
                <a:spcPts val="0"/>
              </a:spcBef>
              <a:spcAft>
                <a:spcPts val="0"/>
              </a:spcAft>
              <a:buSzPts val="5200"/>
              <a:buChar char="■"/>
              <a:defRPr sz="5200"/>
            </a:lvl6pPr>
            <a:lvl7pPr lvl="6" algn="ctr">
              <a:spcBef>
                <a:spcPts val="0"/>
              </a:spcBef>
              <a:spcAft>
                <a:spcPts val="0"/>
              </a:spcAft>
              <a:buSzPts val="5200"/>
              <a:buChar char="●"/>
              <a:defRPr sz="5200"/>
            </a:lvl7pPr>
            <a:lvl8pPr lvl="7" algn="ctr">
              <a:spcBef>
                <a:spcPts val="0"/>
              </a:spcBef>
              <a:spcAft>
                <a:spcPts val="0"/>
              </a:spcAft>
              <a:buSzPts val="5200"/>
              <a:buChar char="○"/>
              <a:defRPr sz="5200"/>
            </a:lvl8pPr>
            <a:lvl9pPr lvl="8" algn="ctr">
              <a:spcBef>
                <a:spcPts val="0"/>
              </a:spcBef>
              <a:spcAft>
                <a:spcPts val="0"/>
              </a:spcAft>
              <a:buSzPts val="5200"/>
              <a:buChar char="■"/>
              <a:defRPr sz="5200"/>
            </a:lvl9pPr>
          </a:lstStyle>
          <a:p>
            <a:endParaRPr/>
          </a:p>
        </p:txBody>
      </p:sp>
      <p:sp>
        <p:nvSpPr>
          <p:cNvPr id="115" name="Google Shape;115;p29"/>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16" name="Google Shape;116;p2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Shape 107"/>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72" r:id="rId1"/>
    <p:sldLayoutId id="2147483673" r:id="rId2"/>
    <p:sldLayoutId id="2147483674" r:id="rId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hyperlink" Target="https://weatherspark.com/h/m/116009/2026/8/Historical-Weather-in-August-2026-in-Hanoi-Vietnam#Figures-ObservedWeather"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hyperlink" Target="https://docs.google.com/spreadsheets/d/1cqnYbVlrnq1baPi8OGIGkTSuo3f6N0IaNUfK4hGdnz4/edit?gid=1989307193#gid=1989307193"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hyperlink" Target="https://docs.google.com/spreadsheets/d/1sxPNM_PbP0b7AqzIptfND5DXi5zRa7Mmr-SJjtlT0z4/edit?gid=668139887#gid=668139887"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3.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3.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3.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3.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14.xml.rels><?xml version="1.0" encoding="UTF-8" standalone="yes"?>
<Relationships xmlns="http://schemas.openxmlformats.org/package/2006/relationships"><Relationship Id="rId3" Type="http://schemas.openxmlformats.org/officeDocument/2006/relationships/hyperlink" Target="https://docs.google.com/spreadsheets/d/1a5BZpOd8WRZrH7uOigFHv0xiKfy8s9fUSFdwZPJ_Qnk/edit?gid=530645369#gid=530645369" TargetMode="External"/><Relationship Id="rId7" Type="http://schemas.openxmlformats.org/officeDocument/2006/relationships/hyperlink" Target="https://www.youtube.com/shorts/_OS7xixs328" TargetMode="External"/><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hyperlink" Target="https://www.youtube.com/watch?v=YvAbXYPB2Eo" TargetMode="External"/><Relationship Id="rId5" Type="http://schemas.openxmlformats.org/officeDocument/2006/relationships/hyperlink" Target="https://www.youtube.com/watch?v=l76hjSHRk0k" TargetMode="External"/><Relationship Id="rId4" Type="http://schemas.openxmlformats.org/officeDocument/2006/relationships/hyperlink" Target="https://www.youtube.com/watch?v=YYB47UZQG-E" TargetMode="External"/></Relationships>
</file>

<file path=ppt/slides/_rels/slide1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33.png"/><Relationship Id="rId4" Type="http://schemas.openxmlformats.org/officeDocument/2006/relationships/image" Target="../media/image32.png"/></Relationships>
</file>

<file path=ppt/slides/_rels/slide1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image" Target="../media/image35.png"/><Relationship Id="rId4" Type="http://schemas.openxmlformats.org/officeDocument/2006/relationships/image" Target="../media/image34.png"/></Relationships>
</file>

<file path=ppt/slides/_rels/slide1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8.xml"/><Relationship Id="rId1" Type="http://schemas.openxmlformats.org/officeDocument/2006/relationships/slideLayout" Target="../slideLayouts/slideLayout1.xml"/><Relationship Id="rId5" Type="http://schemas.openxmlformats.org/officeDocument/2006/relationships/image" Target="../media/image37.png"/><Relationship Id="rId4" Type="http://schemas.openxmlformats.org/officeDocument/2006/relationships/image" Target="../media/image36.png"/></Relationships>
</file>

<file path=ppt/slides/_rels/slide1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image" Target="../media/image39.png"/><Relationship Id="rId4" Type="http://schemas.openxmlformats.org/officeDocument/2006/relationships/image" Target="../media/image38.png"/></Relationships>
</file>

<file path=ppt/slides/_rels/slide2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40.png"/></Relationships>
</file>

<file path=ppt/slides/_rels/slide2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43.png"/></Relationships>
</file>

<file path=ppt/slides/_rels/slide2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4.png"/><Relationship Id="rId7" Type="http://schemas.openxmlformats.org/officeDocument/2006/relationships/image" Target="../media/image48.png"/><Relationship Id="rId2" Type="http://schemas.openxmlformats.org/officeDocument/2006/relationships/notesSlide" Target="../notesSlides/notesSlide27.xml"/><Relationship Id="rId1" Type="http://schemas.openxmlformats.org/officeDocument/2006/relationships/slideLayout" Target="../slideLayouts/slideLayout1.xml"/><Relationship Id="rId6" Type="http://schemas.openxmlformats.org/officeDocument/2006/relationships/image" Target="../media/image47.png"/><Relationship Id="rId5" Type="http://schemas.openxmlformats.org/officeDocument/2006/relationships/image" Target="../media/image46.png"/><Relationship Id="rId10" Type="http://schemas.openxmlformats.org/officeDocument/2006/relationships/image" Target="../media/image51.png"/><Relationship Id="rId4" Type="http://schemas.openxmlformats.org/officeDocument/2006/relationships/image" Target="../media/image45.png"/><Relationship Id="rId9" Type="http://schemas.openxmlformats.org/officeDocument/2006/relationships/image" Target="../media/image50.png"/></Relationships>
</file>

<file path=ppt/slides/_rels/slide28.xml.rels><?xml version="1.0" encoding="UTF-8" standalone="yes"?>
<Relationships xmlns="http://schemas.openxmlformats.org/package/2006/relationships"><Relationship Id="rId8" Type="http://schemas.openxmlformats.org/officeDocument/2006/relationships/image" Target="../media/image53.png"/><Relationship Id="rId3" Type="http://schemas.openxmlformats.org/officeDocument/2006/relationships/image" Target="../media/image44.png"/><Relationship Id="rId7" Type="http://schemas.openxmlformats.org/officeDocument/2006/relationships/image" Target="../media/image52.png"/><Relationship Id="rId2" Type="http://schemas.openxmlformats.org/officeDocument/2006/relationships/notesSlide" Target="../notesSlides/notesSlide28.xml"/><Relationship Id="rId1" Type="http://schemas.openxmlformats.org/officeDocument/2006/relationships/slideLayout" Target="../slideLayouts/slideLayout1.xml"/><Relationship Id="rId6" Type="http://schemas.openxmlformats.org/officeDocument/2006/relationships/image" Target="../media/image47.png"/><Relationship Id="rId5" Type="http://schemas.openxmlformats.org/officeDocument/2006/relationships/image" Target="../media/image45.png"/><Relationship Id="rId4" Type="http://schemas.openxmlformats.org/officeDocument/2006/relationships/image" Target="../media/image46.png"/><Relationship Id="rId9" Type="http://schemas.openxmlformats.org/officeDocument/2006/relationships/image" Target="../media/image54.png"/></Relationships>
</file>

<file path=ppt/slides/_rels/slide29.xml.rels><?xml version="1.0" encoding="UTF-8" standalone="yes"?>
<Relationships xmlns="http://schemas.openxmlformats.org/package/2006/relationships"><Relationship Id="rId8" Type="http://schemas.openxmlformats.org/officeDocument/2006/relationships/image" Target="../media/image60.png"/><Relationship Id="rId3" Type="http://schemas.openxmlformats.org/officeDocument/2006/relationships/image" Target="../media/image55.png"/><Relationship Id="rId7" Type="http://schemas.openxmlformats.org/officeDocument/2006/relationships/image" Target="../media/image59.png"/><Relationship Id="rId2" Type="http://schemas.openxmlformats.org/officeDocument/2006/relationships/notesSlide" Target="../notesSlides/notesSlide29.xml"/><Relationship Id="rId1" Type="http://schemas.openxmlformats.org/officeDocument/2006/relationships/slideLayout" Target="../slideLayouts/slideLayout1.xml"/><Relationship Id="rId6" Type="http://schemas.openxmlformats.org/officeDocument/2006/relationships/image" Target="../media/image58.png"/><Relationship Id="rId5" Type="http://schemas.openxmlformats.org/officeDocument/2006/relationships/image" Target="../media/image57.png"/><Relationship Id="rId4" Type="http://schemas.openxmlformats.org/officeDocument/2006/relationships/image" Target="../media/image56.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145"/>
        <p:cNvGrpSpPr/>
        <p:nvPr/>
      </p:nvGrpSpPr>
      <p:grpSpPr>
        <a:xfrm>
          <a:off x="0" y="0"/>
          <a:ext cx="0" cy="0"/>
          <a:chOff x="0" y="0"/>
          <a:chExt cx="0" cy="0"/>
        </a:xfrm>
      </p:grpSpPr>
      <p:sp>
        <p:nvSpPr>
          <p:cNvPr id="146" name="Google Shape;146;p34"/>
          <p:cNvSpPr/>
          <p:nvPr/>
        </p:nvSpPr>
        <p:spPr>
          <a:xfrm>
            <a:off x="0" y="0"/>
            <a:ext cx="9144000" cy="73200"/>
          </a:xfrm>
          <a:prstGeom prst="rect">
            <a:avLst/>
          </a:prstGeom>
          <a:solidFill>
            <a:srgbClr val="FF7F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47" name="Google Shape;147;p34" descr="preencoded.png"/>
          <p:cNvPicPr preferRelativeResize="0"/>
          <p:nvPr/>
        </p:nvPicPr>
        <p:blipFill rotWithShape="1">
          <a:blip r:embed="rId3">
            <a:alphaModFix/>
          </a:blip>
          <a:srcRect/>
          <a:stretch/>
        </p:blipFill>
        <p:spPr>
          <a:xfrm>
            <a:off x="365760" y="274320"/>
            <a:ext cx="274320" cy="274320"/>
          </a:xfrm>
          <a:prstGeom prst="rect">
            <a:avLst/>
          </a:prstGeom>
          <a:noFill/>
          <a:ln>
            <a:noFill/>
          </a:ln>
        </p:spPr>
      </p:pic>
      <p:sp>
        <p:nvSpPr>
          <p:cNvPr id="148" name="Google Shape;148;p34"/>
          <p:cNvSpPr/>
          <p:nvPr/>
        </p:nvSpPr>
        <p:spPr>
          <a:xfrm>
            <a:off x="731520" y="201168"/>
            <a:ext cx="7315200" cy="411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E4174"/>
              </a:buClr>
              <a:buSzPts val="2200"/>
              <a:buFont typeface="Calibri"/>
              <a:buNone/>
            </a:pPr>
            <a:r>
              <a:rPr lang="en" sz="2200" b="1" i="0" u="none" strike="noStrike" cap="none">
                <a:solidFill>
                  <a:srgbClr val="0E4174"/>
                </a:solidFill>
                <a:latin typeface="Lexend"/>
                <a:ea typeface="Lexend"/>
                <a:cs typeface="Lexend"/>
                <a:sym typeface="Lexend"/>
              </a:rPr>
              <a:t>Summary: Highlights &amp; Lowlights</a:t>
            </a:r>
            <a:endParaRPr sz="2200" b="1" i="0" u="none" strike="noStrike" cap="none">
              <a:solidFill>
                <a:schemeClr val="dk1"/>
              </a:solidFill>
              <a:latin typeface="Lexend"/>
              <a:ea typeface="Lexend"/>
              <a:cs typeface="Lexend"/>
              <a:sym typeface="Lexend"/>
            </a:endParaRPr>
          </a:p>
        </p:txBody>
      </p:sp>
      <p:sp>
        <p:nvSpPr>
          <p:cNvPr id="149" name="Google Shape;149;p34"/>
          <p:cNvSpPr/>
          <p:nvPr/>
        </p:nvSpPr>
        <p:spPr>
          <a:xfrm>
            <a:off x="731520" y="594360"/>
            <a:ext cx="7315200" cy="274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1000"/>
              <a:buFont typeface="Calibri"/>
              <a:buNone/>
            </a:pPr>
            <a:r>
              <a:rPr lang="en" sz="1000" i="1" u="none" strike="noStrike" cap="none">
                <a:solidFill>
                  <a:srgbClr val="64748B"/>
                </a:solidFill>
                <a:latin typeface="Lexend"/>
                <a:ea typeface="Lexend"/>
                <a:cs typeface="Lexend"/>
                <a:sym typeface="Lexend"/>
              </a:rPr>
              <a:t>Trọng tâm tuần — Kết quả thực thi &amp; Kế hoạch hành động</a:t>
            </a:r>
            <a:endParaRPr sz="1000" i="0" u="none" strike="noStrike" cap="none">
              <a:solidFill>
                <a:schemeClr val="dk1"/>
              </a:solidFill>
              <a:latin typeface="Lexend"/>
              <a:ea typeface="Lexend"/>
              <a:cs typeface="Lexend"/>
              <a:sym typeface="Lexend"/>
            </a:endParaRPr>
          </a:p>
        </p:txBody>
      </p:sp>
      <p:cxnSp>
        <p:nvCxnSpPr>
          <p:cNvPr id="150" name="Google Shape;150;p34"/>
          <p:cNvCxnSpPr/>
          <p:nvPr/>
        </p:nvCxnSpPr>
        <p:spPr>
          <a:xfrm>
            <a:off x="365760" y="868680"/>
            <a:ext cx="8412600" cy="0"/>
          </a:xfrm>
          <a:prstGeom prst="straightConnector1">
            <a:avLst/>
          </a:prstGeom>
          <a:noFill/>
          <a:ln w="9525" cap="flat" cmpd="sng">
            <a:solidFill>
              <a:srgbClr val="E2E8F0"/>
            </a:solidFill>
            <a:prstDash val="solid"/>
            <a:round/>
            <a:headEnd type="none" w="sm" len="sm"/>
            <a:tailEnd type="none" w="sm" len="sm"/>
          </a:ln>
        </p:spPr>
      </p:cxnSp>
      <p:sp>
        <p:nvSpPr>
          <p:cNvPr id="151" name="Google Shape;151;p34"/>
          <p:cNvSpPr/>
          <p:nvPr/>
        </p:nvSpPr>
        <p:spPr>
          <a:xfrm>
            <a:off x="144875" y="1051550"/>
            <a:ext cx="4282800" cy="2345400"/>
          </a:xfrm>
          <a:prstGeom prst="rect">
            <a:avLst/>
          </a:prstGeom>
          <a:solidFill>
            <a:srgbClr val="FFFFFF"/>
          </a:solidFill>
          <a:ln w="9525" cap="flat" cmpd="sng">
            <a:solidFill>
              <a:srgbClr val="E2E8F0"/>
            </a:solidFill>
            <a:prstDash val="solid"/>
            <a:round/>
            <a:headEnd type="none" w="sm" len="sm"/>
            <a:tailEnd type="none" w="sm" len="sm"/>
          </a:ln>
          <a:effectLst>
            <a:outerShdw blurRad="76200" dist="25400" dir="8100000" algn="bl" rotWithShape="0">
              <a:srgbClr val="000000">
                <a:alpha val="102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34"/>
          <p:cNvSpPr/>
          <p:nvPr/>
        </p:nvSpPr>
        <p:spPr>
          <a:xfrm>
            <a:off x="144875" y="1051550"/>
            <a:ext cx="59100" cy="2345400"/>
          </a:xfrm>
          <a:prstGeom prst="rect">
            <a:avLst/>
          </a:prstGeom>
          <a:solidFill>
            <a:srgbClr val="10B9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53" name="Google Shape;153;p34" descr="preencoded.png"/>
          <p:cNvPicPr preferRelativeResize="0"/>
          <p:nvPr/>
        </p:nvPicPr>
        <p:blipFill rotWithShape="1">
          <a:blip r:embed="rId4">
            <a:alphaModFix/>
          </a:blip>
          <a:srcRect/>
          <a:stretch/>
        </p:blipFill>
        <p:spPr>
          <a:xfrm>
            <a:off x="336169" y="1143000"/>
            <a:ext cx="210412" cy="201168"/>
          </a:xfrm>
          <a:prstGeom prst="rect">
            <a:avLst/>
          </a:prstGeom>
          <a:noFill/>
          <a:ln>
            <a:noFill/>
          </a:ln>
        </p:spPr>
      </p:pic>
      <p:sp>
        <p:nvSpPr>
          <p:cNvPr id="154" name="Google Shape;154;p34"/>
          <p:cNvSpPr/>
          <p:nvPr/>
        </p:nvSpPr>
        <p:spPr>
          <a:xfrm>
            <a:off x="603965" y="1097280"/>
            <a:ext cx="2869200" cy="274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0B981"/>
              </a:buClr>
              <a:buSzPts val="1200"/>
              <a:buFont typeface="Calibri"/>
              <a:buNone/>
            </a:pPr>
            <a:r>
              <a:rPr lang="en" sz="1200" i="0" u="none" strike="noStrike" cap="none">
                <a:solidFill>
                  <a:srgbClr val="10B981"/>
                </a:solidFill>
                <a:latin typeface="Lexend"/>
                <a:ea typeface="Lexend"/>
                <a:cs typeface="Lexend"/>
                <a:sym typeface="Lexend"/>
              </a:rPr>
              <a:t>HIGHLIGHTS</a:t>
            </a:r>
            <a:endParaRPr sz="1200" i="0" u="none" strike="noStrike" cap="none">
              <a:solidFill>
                <a:schemeClr val="dk1"/>
              </a:solidFill>
              <a:latin typeface="Lexend"/>
              <a:ea typeface="Lexend"/>
              <a:cs typeface="Lexend"/>
              <a:sym typeface="Lexend"/>
            </a:endParaRPr>
          </a:p>
        </p:txBody>
      </p:sp>
      <p:sp>
        <p:nvSpPr>
          <p:cNvPr id="155" name="Google Shape;155;p34"/>
          <p:cNvSpPr/>
          <p:nvPr/>
        </p:nvSpPr>
        <p:spPr>
          <a:xfrm>
            <a:off x="341775" y="1343575"/>
            <a:ext cx="3889500" cy="20046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chemeClr val="dk1"/>
              </a:buClr>
              <a:buSzPts val="1100"/>
              <a:buFont typeface="Arial"/>
              <a:buNone/>
            </a:pPr>
            <a:r>
              <a:rPr lang="en" sz="1000" b="1">
                <a:solidFill>
                  <a:srgbClr val="F56C1F"/>
                </a:solidFill>
                <a:latin typeface="Lexend"/>
                <a:ea typeface="Lexend"/>
                <a:cs typeface="Lexend"/>
                <a:sym typeface="Lexend"/>
              </a:rPr>
              <a:t>HAN</a:t>
            </a:r>
            <a:r>
              <a:rPr lang="en" sz="1000" b="1">
                <a:solidFill>
                  <a:srgbClr val="1E293B"/>
                </a:solidFill>
                <a:latin typeface="Lexend"/>
                <a:ea typeface="Lexend"/>
                <a:cs typeface="Lexend"/>
                <a:sym typeface="Lexend"/>
              </a:rPr>
              <a:t>:</a:t>
            </a:r>
            <a:br>
              <a:rPr lang="en" sz="1000" b="1">
                <a:solidFill>
                  <a:srgbClr val="1E293B"/>
                </a:solidFill>
                <a:latin typeface="Lexend"/>
                <a:ea typeface="Lexend"/>
                <a:cs typeface="Lexend"/>
                <a:sym typeface="Lexend"/>
              </a:rPr>
            </a:br>
            <a:r>
              <a:rPr lang="en" sz="1000">
                <a:solidFill>
                  <a:srgbClr val="1E293B"/>
                </a:solidFill>
                <a:latin typeface="Lexend"/>
                <a:ea typeface="Lexend"/>
                <a:cs typeface="Lexend"/>
                <a:sym typeface="Lexend"/>
              </a:rPr>
              <a:t>1. Retention rate &gt;= 22 đạt 74.2%, gap nhẹ MoM ~0.7%</a:t>
            </a:r>
            <a:br>
              <a:rPr lang="en" sz="1000">
                <a:solidFill>
                  <a:srgbClr val="1E293B"/>
                </a:solidFill>
                <a:latin typeface="Lexend"/>
                <a:ea typeface="Lexend"/>
                <a:cs typeface="Lexend"/>
                <a:sym typeface="Lexend"/>
              </a:rPr>
            </a:br>
            <a:r>
              <a:rPr lang="en" sz="1000">
                <a:solidFill>
                  <a:srgbClr val="1E293B"/>
                </a:solidFill>
                <a:latin typeface="Lexend"/>
                <a:ea typeface="Lexend"/>
                <a:cs typeface="Lexend"/>
                <a:sym typeface="Lexend"/>
              </a:rPr>
              <a:t>2. CR PoC chung giảm 0.5% WoW</a:t>
            </a:r>
            <a:br>
              <a:rPr lang="en" sz="1000">
                <a:solidFill>
                  <a:srgbClr val="1E293B"/>
                </a:solidFill>
                <a:latin typeface="Lexend"/>
                <a:ea typeface="Lexend"/>
                <a:cs typeface="Lexend"/>
                <a:sym typeface="Lexend"/>
              </a:rPr>
            </a:br>
            <a:br>
              <a:rPr lang="en" sz="1000">
                <a:solidFill>
                  <a:srgbClr val="1E293B"/>
                </a:solidFill>
                <a:latin typeface="Lexend"/>
                <a:ea typeface="Lexend"/>
                <a:cs typeface="Lexend"/>
                <a:sym typeface="Lexend"/>
              </a:rPr>
            </a:br>
            <a:endParaRPr sz="1000">
              <a:solidFill>
                <a:srgbClr val="1E293B"/>
              </a:solidFill>
              <a:latin typeface="Lexend"/>
              <a:ea typeface="Lexend"/>
              <a:cs typeface="Lexend"/>
              <a:sym typeface="Lexend"/>
            </a:endParaRPr>
          </a:p>
          <a:p>
            <a:pPr marL="0" lvl="0" indent="0" algn="l" rtl="0">
              <a:spcBef>
                <a:spcPts val="0"/>
              </a:spcBef>
              <a:spcAft>
                <a:spcPts val="0"/>
              </a:spcAft>
              <a:buClr>
                <a:schemeClr val="dk1"/>
              </a:buClr>
              <a:buSzPts val="1100"/>
              <a:buFont typeface="Arial"/>
              <a:buNone/>
            </a:pPr>
            <a:r>
              <a:rPr lang="en" sz="1000" b="1">
                <a:solidFill>
                  <a:srgbClr val="F56C1F"/>
                </a:solidFill>
                <a:latin typeface="Lexend"/>
                <a:ea typeface="Lexend"/>
                <a:cs typeface="Lexend"/>
                <a:sym typeface="Lexend"/>
              </a:rPr>
              <a:t>NW:</a:t>
            </a:r>
            <a:endParaRPr sz="1000" b="1">
              <a:solidFill>
                <a:srgbClr val="F56C1F"/>
              </a:solidFill>
              <a:latin typeface="Lexend"/>
              <a:ea typeface="Lexend"/>
              <a:cs typeface="Lexend"/>
              <a:sym typeface="Lexend"/>
            </a:endParaRPr>
          </a:p>
          <a:p>
            <a:pPr marL="0" lvl="0" indent="0" algn="l" rtl="0">
              <a:spcBef>
                <a:spcPts val="0"/>
              </a:spcBef>
              <a:spcAft>
                <a:spcPts val="0"/>
              </a:spcAft>
              <a:buNone/>
            </a:pPr>
            <a:r>
              <a:rPr lang="en" sz="1000">
                <a:solidFill>
                  <a:srgbClr val="1E293B"/>
                </a:solidFill>
                <a:latin typeface="Lexend"/>
                <a:ea typeface="Lexend"/>
                <a:cs typeface="Lexend"/>
                <a:sym typeface="Lexend"/>
              </a:rPr>
              <a:t>1. CTR đạt 77.38%, đạt 130% target</a:t>
            </a:r>
            <a:endParaRPr sz="1000">
              <a:solidFill>
                <a:srgbClr val="1E293B"/>
              </a:solidFill>
              <a:latin typeface="Lexend"/>
              <a:ea typeface="Lexend"/>
              <a:cs typeface="Lexend"/>
              <a:sym typeface="Lexend"/>
            </a:endParaRPr>
          </a:p>
          <a:p>
            <a:pPr marL="0" lvl="0" indent="0" algn="l" rtl="0">
              <a:spcBef>
                <a:spcPts val="0"/>
              </a:spcBef>
              <a:spcAft>
                <a:spcPts val="0"/>
              </a:spcAft>
              <a:buNone/>
            </a:pPr>
            <a:r>
              <a:rPr lang="en" sz="1000">
                <a:solidFill>
                  <a:srgbClr val="1E293B"/>
                </a:solidFill>
                <a:latin typeface="Lexend"/>
                <a:ea typeface="Lexend"/>
                <a:cs typeface="Lexend"/>
                <a:sym typeface="Lexend"/>
              </a:rPr>
              <a:t>2. GDR đạt 95.52%, đạt 120% target</a:t>
            </a:r>
            <a:endParaRPr sz="1000">
              <a:solidFill>
                <a:srgbClr val="F56C1F"/>
              </a:solidFill>
              <a:latin typeface="Lexend"/>
              <a:ea typeface="Lexend"/>
              <a:cs typeface="Lexend"/>
              <a:sym typeface="Lexend"/>
            </a:endParaRPr>
          </a:p>
        </p:txBody>
      </p:sp>
      <p:sp>
        <p:nvSpPr>
          <p:cNvPr id="156" name="Google Shape;156;p34"/>
          <p:cNvSpPr/>
          <p:nvPr/>
        </p:nvSpPr>
        <p:spPr>
          <a:xfrm>
            <a:off x="4678325" y="1051550"/>
            <a:ext cx="4282800" cy="2345400"/>
          </a:xfrm>
          <a:prstGeom prst="rect">
            <a:avLst/>
          </a:prstGeom>
          <a:solidFill>
            <a:srgbClr val="FFFFFF"/>
          </a:solidFill>
          <a:ln w="9525" cap="flat" cmpd="sng">
            <a:solidFill>
              <a:srgbClr val="E2E8F0"/>
            </a:solidFill>
            <a:prstDash val="solid"/>
            <a:round/>
            <a:headEnd type="none" w="sm" len="sm"/>
            <a:tailEnd type="none" w="sm" len="sm"/>
          </a:ln>
          <a:effectLst>
            <a:outerShdw blurRad="76200" dist="25400" dir="8100000" algn="bl" rotWithShape="0">
              <a:srgbClr val="000000">
                <a:alpha val="102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34"/>
          <p:cNvSpPr/>
          <p:nvPr/>
        </p:nvSpPr>
        <p:spPr>
          <a:xfrm>
            <a:off x="4678325" y="1051550"/>
            <a:ext cx="59100" cy="2345400"/>
          </a:xfrm>
          <a:prstGeom prst="rect">
            <a:avLst/>
          </a:prstGeom>
          <a:solidFill>
            <a:srgbClr val="EF44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58" name="Google Shape;158;p34" descr="preencoded.png"/>
          <p:cNvPicPr preferRelativeResize="0"/>
          <p:nvPr/>
        </p:nvPicPr>
        <p:blipFill rotWithShape="1">
          <a:blip r:embed="rId5">
            <a:alphaModFix/>
          </a:blip>
          <a:srcRect/>
          <a:stretch/>
        </p:blipFill>
        <p:spPr>
          <a:xfrm>
            <a:off x="4991886" y="1163236"/>
            <a:ext cx="210415" cy="245709"/>
          </a:xfrm>
          <a:prstGeom prst="rect">
            <a:avLst/>
          </a:prstGeom>
          <a:noFill/>
          <a:ln>
            <a:noFill/>
          </a:ln>
        </p:spPr>
      </p:pic>
      <p:sp>
        <p:nvSpPr>
          <p:cNvPr id="159" name="Google Shape;159;p34"/>
          <p:cNvSpPr/>
          <p:nvPr/>
        </p:nvSpPr>
        <p:spPr>
          <a:xfrm>
            <a:off x="5259687" y="1107393"/>
            <a:ext cx="2869200" cy="3351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F4444"/>
              </a:buClr>
              <a:buSzPts val="1200"/>
              <a:buFont typeface="Calibri"/>
              <a:buNone/>
            </a:pPr>
            <a:r>
              <a:rPr lang="en" sz="1200" i="0" u="none" strike="noStrike" cap="none">
                <a:solidFill>
                  <a:srgbClr val="EF4444"/>
                </a:solidFill>
                <a:latin typeface="Lexend"/>
                <a:ea typeface="Lexend"/>
                <a:cs typeface="Lexend"/>
                <a:sym typeface="Lexend"/>
              </a:rPr>
              <a:t>LOWLIGHTS</a:t>
            </a:r>
            <a:endParaRPr sz="1200" i="0" u="none" strike="noStrike" cap="none">
              <a:solidFill>
                <a:schemeClr val="dk1"/>
              </a:solidFill>
              <a:latin typeface="Lexend"/>
              <a:ea typeface="Lexend"/>
              <a:cs typeface="Lexend"/>
              <a:sym typeface="Lexend"/>
            </a:endParaRPr>
          </a:p>
        </p:txBody>
      </p:sp>
      <p:sp>
        <p:nvSpPr>
          <p:cNvPr id="160" name="Google Shape;160;p34"/>
          <p:cNvSpPr/>
          <p:nvPr/>
        </p:nvSpPr>
        <p:spPr>
          <a:xfrm>
            <a:off x="4832475" y="1427875"/>
            <a:ext cx="4089600" cy="1920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1000" b="1">
                <a:solidFill>
                  <a:srgbClr val="F56C1F"/>
                </a:solidFill>
                <a:latin typeface="Lexend"/>
                <a:ea typeface="Lexend"/>
                <a:cs typeface="Lexend"/>
                <a:sym typeface="Lexend"/>
              </a:rPr>
              <a:t>HAN</a:t>
            </a:r>
            <a:r>
              <a:rPr lang="en" sz="1000" b="1">
                <a:solidFill>
                  <a:srgbClr val="1E293B"/>
                </a:solidFill>
                <a:latin typeface="Lexend"/>
                <a:ea typeface="Lexend"/>
                <a:cs typeface="Lexend"/>
                <a:sym typeface="Lexend"/>
              </a:rPr>
              <a:t>:</a:t>
            </a:r>
            <a:br>
              <a:rPr lang="en" sz="1000">
                <a:solidFill>
                  <a:srgbClr val="1E293B"/>
                </a:solidFill>
                <a:latin typeface="Lexend"/>
                <a:ea typeface="Lexend"/>
                <a:cs typeface="Lexend"/>
                <a:sym typeface="Lexend"/>
              </a:rPr>
            </a:br>
            <a:r>
              <a:rPr lang="en" sz="1000">
                <a:solidFill>
                  <a:srgbClr val="1E293B"/>
                </a:solidFill>
                <a:latin typeface="Lexend"/>
                <a:ea typeface="Lexend"/>
                <a:cs typeface="Lexend"/>
                <a:sym typeface="Lexend"/>
              </a:rPr>
              <a:t>1. RPH đạt 2.07, FR gap target ~5%</a:t>
            </a:r>
            <a:endParaRPr sz="1000">
              <a:solidFill>
                <a:srgbClr val="1E293B"/>
              </a:solidFill>
              <a:latin typeface="Lexend"/>
              <a:ea typeface="Lexend"/>
              <a:cs typeface="Lexend"/>
              <a:sym typeface="Lexend"/>
            </a:endParaRPr>
          </a:p>
          <a:p>
            <a:pPr marL="0" marR="0" lvl="0" indent="0" algn="l" rtl="0">
              <a:spcBef>
                <a:spcPts val="0"/>
              </a:spcBef>
              <a:spcAft>
                <a:spcPts val="0"/>
              </a:spcAft>
              <a:buNone/>
            </a:pPr>
            <a:br>
              <a:rPr lang="en" sz="1000">
                <a:solidFill>
                  <a:srgbClr val="1E293B"/>
                </a:solidFill>
                <a:latin typeface="Lexend"/>
                <a:ea typeface="Lexend"/>
                <a:cs typeface="Lexend"/>
                <a:sym typeface="Lexend"/>
              </a:rPr>
            </a:br>
            <a:br>
              <a:rPr lang="en" sz="1000">
                <a:solidFill>
                  <a:srgbClr val="1E293B"/>
                </a:solidFill>
                <a:latin typeface="Lexend"/>
                <a:ea typeface="Lexend"/>
                <a:cs typeface="Lexend"/>
                <a:sym typeface="Lexend"/>
              </a:rPr>
            </a:br>
            <a:br>
              <a:rPr lang="en" sz="1000">
                <a:solidFill>
                  <a:srgbClr val="1E293B"/>
                </a:solidFill>
                <a:latin typeface="Lexend"/>
                <a:ea typeface="Lexend"/>
                <a:cs typeface="Lexend"/>
                <a:sym typeface="Lexend"/>
              </a:rPr>
            </a:br>
            <a:br>
              <a:rPr lang="en" sz="1000">
                <a:solidFill>
                  <a:srgbClr val="1E293B"/>
                </a:solidFill>
                <a:latin typeface="Lexend"/>
                <a:ea typeface="Lexend"/>
                <a:cs typeface="Lexend"/>
                <a:sym typeface="Lexend"/>
              </a:rPr>
            </a:br>
            <a:r>
              <a:rPr lang="en" sz="1000" b="1">
                <a:solidFill>
                  <a:srgbClr val="F56C1F"/>
                </a:solidFill>
                <a:latin typeface="Lexend"/>
                <a:ea typeface="Lexend"/>
                <a:cs typeface="Lexend"/>
                <a:sym typeface="Lexend"/>
              </a:rPr>
              <a:t>SGN</a:t>
            </a:r>
            <a:r>
              <a:rPr lang="en" sz="1000">
                <a:solidFill>
                  <a:srgbClr val="1E293B"/>
                </a:solidFill>
                <a:latin typeface="Lexend"/>
                <a:ea typeface="Lexend"/>
                <a:cs typeface="Lexend"/>
                <a:sym typeface="Lexend"/>
              </a:rPr>
              <a:t>:</a:t>
            </a:r>
            <a:endParaRPr sz="1000">
              <a:solidFill>
                <a:srgbClr val="1E293B"/>
              </a:solidFill>
              <a:latin typeface="Lexend"/>
              <a:ea typeface="Lexend"/>
              <a:cs typeface="Lexend"/>
              <a:sym typeface="Lexend"/>
            </a:endParaRPr>
          </a:p>
          <a:p>
            <a:pPr marL="0" marR="0" lvl="0" indent="0" algn="l" rtl="0">
              <a:spcBef>
                <a:spcPts val="0"/>
              </a:spcBef>
              <a:spcAft>
                <a:spcPts val="0"/>
              </a:spcAft>
              <a:buNone/>
            </a:pPr>
            <a:r>
              <a:rPr lang="en" sz="1000">
                <a:solidFill>
                  <a:srgbClr val="1E293B"/>
                </a:solidFill>
                <a:latin typeface="Lexend"/>
                <a:ea typeface="Lexend"/>
                <a:cs typeface="Lexend"/>
                <a:sym typeface="Lexend"/>
              </a:rPr>
              <a:t>1. RR hụt hơn 1% MoM, YoY</a:t>
            </a:r>
            <a:endParaRPr sz="1000">
              <a:solidFill>
                <a:srgbClr val="1E293B"/>
              </a:solidFill>
              <a:latin typeface="Lexend"/>
              <a:ea typeface="Lexend"/>
              <a:cs typeface="Lexend"/>
              <a:sym typeface="Lexend"/>
            </a:endParaRPr>
          </a:p>
          <a:p>
            <a:pPr marL="0" marR="0" lvl="0" indent="0" algn="l" rtl="0">
              <a:spcBef>
                <a:spcPts val="0"/>
              </a:spcBef>
              <a:spcAft>
                <a:spcPts val="0"/>
              </a:spcAft>
              <a:buNone/>
            </a:pPr>
            <a:r>
              <a:rPr lang="en" sz="1000">
                <a:solidFill>
                  <a:srgbClr val="1E293B"/>
                </a:solidFill>
                <a:latin typeface="Lexend"/>
                <a:ea typeface="Lexend"/>
                <a:cs typeface="Lexend"/>
                <a:sym typeface="Lexend"/>
              </a:rPr>
              <a:t>2. SH hụt 2% so với planning</a:t>
            </a:r>
            <a:endParaRPr sz="1000">
              <a:solidFill>
                <a:srgbClr val="1E293B"/>
              </a:solidFill>
              <a:latin typeface="Lexend"/>
              <a:ea typeface="Lexend"/>
              <a:cs typeface="Lexend"/>
              <a:sym typeface="Lexend"/>
            </a:endParaRPr>
          </a:p>
        </p:txBody>
      </p:sp>
      <p:sp>
        <p:nvSpPr>
          <p:cNvPr id="161" name="Google Shape;161;p34"/>
          <p:cNvSpPr/>
          <p:nvPr/>
        </p:nvSpPr>
        <p:spPr>
          <a:xfrm>
            <a:off x="144875" y="3496450"/>
            <a:ext cx="8816100" cy="1592100"/>
          </a:xfrm>
          <a:prstGeom prst="rect">
            <a:avLst/>
          </a:prstGeom>
          <a:solidFill>
            <a:srgbClr val="FFFFFF"/>
          </a:solidFill>
          <a:ln w="9525" cap="flat" cmpd="sng">
            <a:solidFill>
              <a:srgbClr val="E2E8F0"/>
            </a:solidFill>
            <a:prstDash val="solid"/>
            <a:round/>
            <a:headEnd type="none" w="sm" len="sm"/>
            <a:tailEnd type="none" w="sm" len="sm"/>
          </a:ln>
          <a:effectLst>
            <a:outerShdw blurRad="76200" dist="25400" dir="8100000" algn="bl" rotWithShape="0">
              <a:srgbClr val="000000">
                <a:alpha val="102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34"/>
          <p:cNvSpPr/>
          <p:nvPr/>
        </p:nvSpPr>
        <p:spPr>
          <a:xfrm>
            <a:off x="144875" y="3496450"/>
            <a:ext cx="59400" cy="1541400"/>
          </a:xfrm>
          <a:prstGeom prst="rect">
            <a:avLst/>
          </a:prstGeom>
          <a:solidFill>
            <a:srgbClr val="0E41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63" name="Google Shape;163;p34" descr="preencoded.png"/>
          <p:cNvPicPr preferRelativeResize="0"/>
          <p:nvPr/>
        </p:nvPicPr>
        <p:blipFill rotWithShape="1">
          <a:blip r:embed="rId6">
            <a:alphaModFix/>
          </a:blip>
          <a:srcRect/>
          <a:stretch/>
        </p:blipFill>
        <p:spPr>
          <a:xfrm>
            <a:off x="365790" y="3583810"/>
            <a:ext cx="182880" cy="182880"/>
          </a:xfrm>
          <a:prstGeom prst="rect">
            <a:avLst/>
          </a:prstGeom>
          <a:noFill/>
          <a:ln>
            <a:noFill/>
          </a:ln>
        </p:spPr>
      </p:pic>
      <p:sp>
        <p:nvSpPr>
          <p:cNvPr id="164" name="Google Shape;164;p34"/>
          <p:cNvSpPr/>
          <p:nvPr/>
        </p:nvSpPr>
        <p:spPr>
          <a:xfrm>
            <a:off x="621822" y="3547234"/>
            <a:ext cx="3657600" cy="2559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E4174"/>
              </a:buClr>
              <a:buSzPts val="1100"/>
              <a:buFont typeface="Calibri"/>
              <a:buNone/>
            </a:pPr>
            <a:r>
              <a:rPr lang="en" sz="1100" i="0" u="none" strike="noStrike" cap="none">
                <a:solidFill>
                  <a:srgbClr val="0E4174"/>
                </a:solidFill>
                <a:latin typeface="Lexend"/>
                <a:ea typeface="Lexend"/>
                <a:cs typeface="Lexend"/>
                <a:sym typeface="Lexend"/>
              </a:rPr>
              <a:t>ACTIONS ĐÃ THỰC THI TUẦN QUA</a:t>
            </a:r>
            <a:endParaRPr sz="1100" i="0" u="none" strike="noStrike" cap="none">
              <a:solidFill>
                <a:schemeClr val="dk1"/>
              </a:solidFill>
              <a:latin typeface="Lexend"/>
              <a:ea typeface="Lexend"/>
              <a:cs typeface="Lexend"/>
              <a:sym typeface="Lexend"/>
            </a:endParaRPr>
          </a:p>
        </p:txBody>
      </p:sp>
      <p:graphicFrame>
        <p:nvGraphicFramePr>
          <p:cNvPr id="165" name="Google Shape;165;p34"/>
          <p:cNvGraphicFramePr/>
          <p:nvPr/>
        </p:nvGraphicFramePr>
        <p:xfrm>
          <a:off x="365790" y="3803347"/>
          <a:ext cx="8412500" cy="1165130"/>
        </p:xfrm>
        <a:graphic>
          <a:graphicData uri="http://schemas.openxmlformats.org/drawingml/2006/table">
            <a:tbl>
              <a:tblPr>
                <a:noFill/>
                <a:tableStyleId>{BD4DB973-2F49-4540-A1CC-0EE3EA8BBFB3}</a:tableStyleId>
              </a:tblPr>
              <a:tblGrid>
                <a:gridCol w="2832875">
                  <a:extLst>
                    <a:ext uri="{9D8B030D-6E8A-4147-A177-3AD203B41FA5}">
                      <a16:colId xmlns:a16="http://schemas.microsoft.com/office/drawing/2014/main" val="20000"/>
                    </a:ext>
                  </a:extLst>
                </a:gridCol>
                <a:gridCol w="1911175">
                  <a:extLst>
                    <a:ext uri="{9D8B030D-6E8A-4147-A177-3AD203B41FA5}">
                      <a16:colId xmlns:a16="http://schemas.microsoft.com/office/drawing/2014/main" val="20001"/>
                    </a:ext>
                  </a:extLst>
                </a:gridCol>
                <a:gridCol w="3119825">
                  <a:extLst>
                    <a:ext uri="{9D8B030D-6E8A-4147-A177-3AD203B41FA5}">
                      <a16:colId xmlns:a16="http://schemas.microsoft.com/office/drawing/2014/main" val="20002"/>
                    </a:ext>
                  </a:extLst>
                </a:gridCol>
                <a:gridCol w="548625">
                  <a:extLst>
                    <a:ext uri="{9D8B030D-6E8A-4147-A177-3AD203B41FA5}">
                      <a16:colId xmlns:a16="http://schemas.microsoft.com/office/drawing/2014/main" val="20003"/>
                    </a:ext>
                  </a:extLst>
                </a:gridCol>
              </a:tblGrid>
              <a:tr h="212050">
                <a:tc>
                  <a:txBody>
                    <a:bodyPr/>
                    <a:lstStyle/>
                    <a:p>
                      <a:pPr marL="0" marR="0" lvl="0" indent="0" algn="ctr" rtl="0">
                        <a:spcBef>
                          <a:spcPts val="0"/>
                        </a:spcBef>
                        <a:spcAft>
                          <a:spcPts val="0"/>
                        </a:spcAft>
                        <a:buClr>
                          <a:srgbClr val="FFFFFF"/>
                        </a:buClr>
                        <a:buSzPts val="800"/>
                        <a:buFont typeface="Calibri"/>
                        <a:buNone/>
                      </a:pPr>
                      <a:r>
                        <a:rPr lang="en" sz="800" u="none" strike="noStrike" cap="none">
                          <a:solidFill>
                            <a:srgbClr val="FFFFFF"/>
                          </a:solidFill>
                          <a:latin typeface="Lexend"/>
                          <a:ea typeface="Lexend"/>
                          <a:cs typeface="Lexend"/>
                          <a:sym typeface="Lexend"/>
                        </a:rPr>
                        <a:t>Action</a:t>
                      </a:r>
                      <a:endParaRPr sz="800" u="none" strike="noStrike" cap="none">
                        <a:latin typeface="Lexend"/>
                        <a:ea typeface="Lexend"/>
                        <a:cs typeface="Lexend"/>
                        <a:sym typeface="Lexend"/>
                      </a:endParaRPr>
                    </a:p>
                  </a:txBody>
                  <a:tcPr marL="91450" marR="91450" marT="45725" marB="45725">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0E4174"/>
                    </a:solidFill>
                  </a:tcPr>
                </a:tc>
                <a:tc>
                  <a:txBody>
                    <a:bodyPr/>
                    <a:lstStyle/>
                    <a:p>
                      <a:pPr marL="0" marR="0" lvl="0" indent="0" algn="ctr" rtl="0">
                        <a:spcBef>
                          <a:spcPts val="0"/>
                        </a:spcBef>
                        <a:spcAft>
                          <a:spcPts val="0"/>
                        </a:spcAft>
                        <a:buClr>
                          <a:srgbClr val="FFFFFF"/>
                        </a:buClr>
                        <a:buSzPts val="800"/>
                        <a:buFont typeface="Calibri"/>
                        <a:buNone/>
                      </a:pPr>
                      <a:r>
                        <a:rPr lang="en" sz="800" u="none" strike="noStrike" cap="none">
                          <a:solidFill>
                            <a:srgbClr val="FFFFFF"/>
                          </a:solidFill>
                          <a:latin typeface="Lexend"/>
                          <a:ea typeface="Lexend"/>
                          <a:cs typeface="Lexend"/>
                          <a:sym typeface="Lexend"/>
                        </a:rPr>
                        <a:t>Kết quả</a:t>
                      </a:r>
                      <a:endParaRPr sz="800" u="none" strike="noStrike" cap="none">
                        <a:latin typeface="Lexend"/>
                        <a:ea typeface="Lexend"/>
                        <a:cs typeface="Lexend"/>
                        <a:sym typeface="Lexend"/>
                      </a:endParaRPr>
                    </a:p>
                  </a:txBody>
                  <a:tcPr marL="91450" marR="91450" marT="45725" marB="45725">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0E4174"/>
                    </a:solidFill>
                  </a:tcPr>
                </a:tc>
                <a:tc>
                  <a:txBody>
                    <a:bodyPr/>
                    <a:lstStyle/>
                    <a:p>
                      <a:pPr marL="0" marR="0" lvl="0" indent="0" algn="ctr" rtl="0">
                        <a:spcBef>
                          <a:spcPts val="0"/>
                        </a:spcBef>
                        <a:spcAft>
                          <a:spcPts val="0"/>
                        </a:spcAft>
                        <a:buClr>
                          <a:srgbClr val="FFFFFF"/>
                        </a:buClr>
                        <a:buSzPts val="800"/>
                        <a:buFont typeface="Calibri"/>
                        <a:buNone/>
                      </a:pPr>
                      <a:r>
                        <a:rPr lang="en" sz="800" u="none" strike="noStrike" cap="none">
                          <a:solidFill>
                            <a:srgbClr val="FFFFFF"/>
                          </a:solidFill>
                          <a:latin typeface="Lexend"/>
                          <a:ea typeface="Lexend"/>
                          <a:cs typeface="Lexend"/>
                          <a:sym typeface="Lexend"/>
                        </a:rPr>
                        <a:t>Impact (KPI)</a:t>
                      </a:r>
                      <a:endParaRPr sz="800" u="none" strike="noStrike" cap="none">
                        <a:latin typeface="Lexend"/>
                        <a:ea typeface="Lexend"/>
                        <a:cs typeface="Lexend"/>
                        <a:sym typeface="Lexend"/>
                      </a:endParaRPr>
                    </a:p>
                  </a:txBody>
                  <a:tcPr marL="91450" marR="91450" marT="45725" marB="45725">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0E4174"/>
                    </a:solidFill>
                  </a:tcPr>
                </a:tc>
                <a:tc>
                  <a:txBody>
                    <a:bodyPr/>
                    <a:lstStyle/>
                    <a:p>
                      <a:pPr marL="0" marR="0" lvl="0" indent="0" algn="ctr" rtl="0">
                        <a:spcBef>
                          <a:spcPts val="0"/>
                        </a:spcBef>
                        <a:spcAft>
                          <a:spcPts val="0"/>
                        </a:spcAft>
                        <a:buClr>
                          <a:srgbClr val="FFFFFF"/>
                        </a:buClr>
                        <a:buSzPts val="800"/>
                        <a:buFont typeface="Calibri"/>
                        <a:buNone/>
                      </a:pPr>
                      <a:r>
                        <a:rPr lang="en" sz="800" u="none" strike="noStrike" cap="none">
                          <a:solidFill>
                            <a:srgbClr val="FFFFFF"/>
                          </a:solidFill>
                          <a:latin typeface="Lexend"/>
                          <a:ea typeface="Lexend"/>
                          <a:cs typeface="Lexend"/>
                          <a:sym typeface="Lexend"/>
                        </a:rPr>
                        <a:t>Status</a:t>
                      </a:r>
                      <a:endParaRPr sz="800" u="none" strike="noStrike" cap="none">
                        <a:latin typeface="Lexend"/>
                        <a:ea typeface="Lexend"/>
                        <a:cs typeface="Lexend"/>
                        <a:sym typeface="Lexend"/>
                      </a:endParaRPr>
                    </a:p>
                  </a:txBody>
                  <a:tcPr marL="91450" marR="91450" marT="45725" marB="45725">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0E4174"/>
                    </a:solidFill>
                  </a:tcPr>
                </a:tc>
                <a:extLst>
                  <a:ext uri="{0D108BD9-81ED-4DB2-BD59-A6C34878D82A}">
                    <a16:rowId xmlns:a16="http://schemas.microsoft.com/office/drawing/2014/main" val="10000"/>
                  </a:ext>
                </a:extLst>
              </a:tr>
              <a:tr h="246875">
                <a:tc>
                  <a:txBody>
                    <a:bodyPr/>
                    <a:lstStyle/>
                    <a:p>
                      <a:pPr marL="0" lvl="0" indent="0" algn="l" rtl="0">
                        <a:spcBef>
                          <a:spcPts val="0"/>
                        </a:spcBef>
                        <a:spcAft>
                          <a:spcPts val="0"/>
                        </a:spcAft>
                        <a:buNone/>
                      </a:pPr>
                      <a:r>
                        <a:rPr lang="en" sz="800">
                          <a:latin typeface="Lexend"/>
                          <a:ea typeface="Lexend"/>
                          <a:cs typeface="Lexend"/>
                          <a:sym typeface="Lexend"/>
                        </a:rPr>
                        <a:t>[Baga bulky] Truyền thông form đăng ký tham gia chương trình</a:t>
                      </a:r>
                      <a:endParaRPr sz="800">
                        <a:latin typeface="Lexend"/>
                        <a:ea typeface="Lexend"/>
                        <a:cs typeface="Lexend"/>
                        <a:sym typeface="Lexend"/>
                      </a:endParaRPr>
                    </a:p>
                  </a:txBody>
                  <a:tcPr marL="91450" marR="91450" marT="45725" marB="45725">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r>
                        <a:rPr lang="en" sz="800">
                          <a:latin typeface="Lexend"/>
                          <a:ea typeface="Lexend"/>
                          <a:cs typeface="Lexend"/>
                          <a:sym typeface="Lexend"/>
                        </a:rPr>
                        <a:t>HAN: 178 tx</a:t>
                      </a:r>
                      <a:br>
                        <a:rPr lang="en" sz="800">
                          <a:latin typeface="Lexend"/>
                          <a:ea typeface="Lexend"/>
                          <a:cs typeface="Lexend"/>
                          <a:sym typeface="Lexend"/>
                        </a:rPr>
                      </a:br>
                      <a:r>
                        <a:rPr lang="en" sz="800">
                          <a:latin typeface="Lexend"/>
                          <a:ea typeface="Lexend"/>
                          <a:cs typeface="Lexend"/>
                          <a:sym typeface="Lexend"/>
                        </a:rPr>
                        <a:t>SGN: 336 tx</a:t>
                      </a:r>
                      <a:br>
                        <a:rPr lang="en" sz="800">
                          <a:latin typeface="Lexend"/>
                          <a:ea typeface="Lexend"/>
                          <a:cs typeface="Lexend"/>
                          <a:sym typeface="Lexend"/>
                        </a:rPr>
                      </a:br>
                      <a:r>
                        <a:rPr lang="en" sz="800">
                          <a:latin typeface="Lexend"/>
                          <a:ea typeface="Lexend"/>
                          <a:cs typeface="Lexend"/>
                          <a:sym typeface="Lexend"/>
                        </a:rPr>
                        <a:t>Push mass</a:t>
                      </a:r>
                      <a:endParaRPr sz="800">
                        <a:latin typeface="Lexend"/>
                        <a:ea typeface="Lexend"/>
                        <a:cs typeface="Lexend"/>
                        <a:sym typeface="Lexend"/>
                      </a:endParaRPr>
                    </a:p>
                  </a:txBody>
                  <a:tcPr marL="91450" marR="91450" marT="45725" marB="45725">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sz="800">
                        <a:latin typeface="Lexend"/>
                        <a:ea typeface="Lexend"/>
                        <a:cs typeface="Lexend"/>
                        <a:sym typeface="Lexend"/>
                      </a:endParaRPr>
                    </a:p>
                  </a:txBody>
                  <a:tcPr marL="91450" marR="91450" marT="45725" marB="45725">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Clr>
                          <a:srgbClr val="64748B"/>
                        </a:buClr>
                        <a:buSzPts val="800"/>
                        <a:buFont typeface="Calibri"/>
                        <a:buNone/>
                      </a:pPr>
                      <a:r>
                        <a:rPr lang="en" sz="800">
                          <a:solidFill>
                            <a:srgbClr val="64748B"/>
                          </a:solidFill>
                          <a:latin typeface="Lexend"/>
                          <a:ea typeface="Lexend"/>
                          <a:cs typeface="Lexend"/>
                          <a:sym typeface="Lexend"/>
                        </a:rPr>
                        <a:t>✅/⚠️</a:t>
                      </a:r>
                      <a:endParaRPr sz="800" u="none" strike="noStrike" cap="none">
                        <a:solidFill>
                          <a:srgbClr val="64748B"/>
                        </a:solidFill>
                        <a:latin typeface="Lexend"/>
                        <a:ea typeface="Lexend"/>
                        <a:cs typeface="Lexend"/>
                        <a:sym typeface="Lexend"/>
                      </a:endParaRPr>
                    </a:p>
                  </a:txBody>
                  <a:tcPr marL="91450" marR="91450" marT="45725" marB="45725">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232625">
                <a:tc>
                  <a:txBody>
                    <a:bodyPr/>
                    <a:lstStyle/>
                    <a:p>
                      <a:pPr marL="0" lvl="0" indent="0" algn="l" rtl="0">
                        <a:spcBef>
                          <a:spcPts val="0"/>
                        </a:spcBef>
                        <a:spcAft>
                          <a:spcPts val="0"/>
                        </a:spcAft>
                        <a:buNone/>
                      </a:pPr>
                      <a:r>
                        <a:rPr lang="en" sz="800">
                          <a:latin typeface="Lexend"/>
                          <a:ea typeface="Lexend"/>
                          <a:cs typeface="Lexend"/>
                          <a:sym typeface="Lexend"/>
                        </a:rPr>
                        <a:t>Thưởng thời tiết </a:t>
                      </a:r>
                      <a:endParaRPr sz="800">
                        <a:latin typeface="Lexend"/>
                        <a:ea typeface="Lexend"/>
                        <a:cs typeface="Lexend"/>
                        <a:sym typeface="Lexend"/>
                      </a:endParaRPr>
                    </a:p>
                  </a:txBody>
                  <a:tcPr marL="91450" marR="91450" marT="45725" marB="45725">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r>
                        <a:rPr lang="en" sz="800">
                          <a:latin typeface="Lexend"/>
                          <a:ea typeface="Lexend"/>
                          <a:cs typeface="Lexend"/>
                          <a:sym typeface="Lexend"/>
                        </a:rPr>
                        <a:t>Total claim: 97% Max Cost</a:t>
                      </a:r>
                      <a:endParaRPr sz="800">
                        <a:latin typeface="Lexend"/>
                        <a:ea typeface="Lexend"/>
                        <a:cs typeface="Lexend"/>
                        <a:sym typeface="Lexend"/>
                      </a:endParaRPr>
                    </a:p>
                  </a:txBody>
                  <a:tcPr marL="91450" marR="91450" marT="45725" marB="45725">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sz="800">
                        <a:latin typeface="Lexend"/>
                        <a:ea typeface="Lexend"/>
                        <a:cs typeface="Lexend"/>
                        <a:sym typeface="Lexend"/>
                      </a:endParaRPr>
                    </a:p>
                  </a:txBody>
                  <a:tcPr marL="91450" marR="91450" marT="45725" marB="45725">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800">
                          <a:solidFill>
                            <a:srgbClr val="64748B"/>
                          </a:solidFill>
                          <a:latin typeface="Lexend"/>
                          <a:ea typeface="Lexend"/>
                          <a:cs typeface="Lexend"/>
                          <a:sym typeface="Lexend"/>
                        </a:rPr>
                        <a:t>✅/⚠️</a:t>
                      </a:r>
                      <a:endParaRPr sz="800">
                        <a:solidFill>
                          <a:srgbClr val="64748B"/>
                        </a:solidFill>
                        <a:latin typeface="Lexend"/>
                        <a:ea typeface="Lexend"/>
                        <a:cs typeface="Lexend"/>
                        <a:sym typeface="Lexend"/>
                      </a:endParaRPr>
                    </a:p>
                  </a:txBody>
                  <a:tcPr marL="91450" marR="91450" marT="45725" marB="45725">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261925">
                <a:tc>
                  <a:txBody>
                    <a:bodyPr/>
                    <a:lstStyle/>
                    <a:p>
                      <a:pPr marL="0" lvl="0" indent="0" algn="l" rtl="0">
                        <a:spcBef>
                          <a:spcPts val="0"/>
                        </a:spcBef>
                        <a:spcAft>
                          <a:spcPts val="0"/>
                        </a:spcAft>
                        <a:buNone/>
                      </a:pPr>
                      <a:endParaRPr sz="800">
                        <a:latin typeface="Lexend"/>
                        <a:ea typeface="Lexend"/>
                        <a:cs typeface="Lexend"/>
                        <a:sym typeface="Lexend"/>
                      </a:endParaRPr>
                    </a:p>
                  </a:txBody>
                  <a:tcPr marL="91450" marR="91450" marT="45725" marB="45725">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sz="800">
                        <a:latin typeface="Lexend"/>
                        <a:ea typeface="Lexend"/>
                        <a:cs typeface="Lexend"/>
                        <a:sym typeface="Lexend"/>
                      </a:endParaRPr>
                    </a:p>
                  </a:txBody>
                  <a:tcPr marL="91450" marR="91450" marT="45725" marB="45725">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sz="800">
                        <a:latin typeface="Lexend"/>
                        <a:ea typeface="Lexend"/>
                        <a:cs typeface="Lexend"/>
                        <a:sym typeface="Lexend"/>
                      </a:endParaRPr>
                    </a:p>
                  </a:txBody>
                  <a:tcPr marL="91450" marR="91450" marT="45725" marB="45725">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800">
                        <a:solidFill>
                          <a:srgbClr val="64748B"/>
                        </a:solidFill>
                        <a:latin typeface="Lexend"/>
                        <a:ea typeface="Lexend"/>
                        <a:cs typeface="Lexend"/>
                        <a:sym typeface="Lexend"/>
                      </a:endParaRPr>
                    </a:p>
                  </a:txBody>
                  <a:tcPr marL="91450" marR="91450" marT="45725" marB="45725">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bl>
          </a:graphicData>
        </a:graphic>
      </p:graphicFrame>
      <p:sp>
        <p:nvSpPr>
          <p:cNvPr id="166" name="Google Shape;166;p34"/>
          <p:cNvSpPr/>
          <p:nvPr/>
        </p:nvSpPr>
        <p:spPr>
          <a:xfrm>
            <a:off x="5486395" y="45700"/>
            <a:ext cx="3657600" cy="27420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94A3B8"/>
              </a:buClr>
              <a:buSzPts val="700"/>
              <a:buFont typeface="Calibri"/>
              <a:buNone/>
            </a:pPr>
            <a:r>
              <a:rPr lang="en" sz="700" b="0" i="1" u="none" strike="noStrike" cap="none">
                <a:solidFill>
                  <a:srgbClr val="94A3B8"/>
                </a:solidFill>
                <a:latin typeface="Calibri"/>
                <a:ea typeface="Calibri"/>
                <a:cs typeface="Calibri"/>
                <a:sym typeface="Calibri"/>
              </a:rPr>
              <a:t>Ahamove — Driver Management | Confidential</a:t>
            </a:r>
            <a:endParaRPr sz="700" b="0" i="0" u="none" strike="noStrike" cap="non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171"/>
        <p:cNvGrpSpPr/>
        <p:nvPr/>
      </p:nvGrpSpPr>
      <p:grpSpPr>
        <a:xfrm>
          <a:off x="0" y="0"/>
          <a:ext cx="0" cy="0"/>
          <a:chOff x="0" y="0"/>
          <a:chExt cx="0" cy="0"/>
        </a:xfrm>
      </p:grpSpPr>
      <p:sp>
        <p:nvSpPr>
          <p:cNvPr id="172" name="Google Shape;172;p35"/>
          <p:cNvSpPr/>
          <p:nvPr/>
        </p:nvSpPr>
        <p:spPr>
          <a:xfrm>
            <a:off x="0" y="0"/>
            <a:ext cx="9144000" cy="73200"/>
          </a:xfrm>
          <a:prstGeom prst="rect">
            <a:avLst/>
          </a:prstGeom>
          <a:solidFill>
            <a:srgbClr val="FF7F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73" name="Google Shape;173;p35" descr="preencoded.png"/>
          <p:cNvPicPr preferRelativeResize="0"/>
          <p:nvPr/>
        </p:nvPicPr>
        <p:blipFill rotWithShape="1">
          <a:blip r:embed="rId3">
            <a:alphaModFix/>
          </a:blip>
          <a:srcRect/>
          <a:stretch/>
        </p:blipFill>
        <p:spPr>
          <a:xfrm>
            <a:off x="155235" y="175295"/>
            <a:ext cx="274320" cy="274320"/>
          </a:xfrm>
          <a:prstGeom prst="rect">
            <a:avLst/>
          </a:prstGeom>
          <a:noFill/>
          <a:ln>
            <a:noFill/>
          </a:ln>
        </p:spPr>
      </p:pic>
      <p:sp>
        <p:nvSpPr>
          <p:cNvPr id="174" name="Google Shape;174;p35"/>
          <p:cNvSpPr/>
          <p:nvPr/>
        </p:nvSpPr>
        <p:spPr>
          <a:xfrm>
            <a:off x="520995" y="102143"/>
            <a:ext cx="7315200" cy="411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E4174"/>
              </a:buClr>
              <a:buSzPts val="2200"/>
              <a:buFont typeface="Calibri"/>
              <a:buNone/>
            </a:pPr>
            <a:r>
              <a:rPr lang="en" sz="2200" b="1" i="0" u="none" strike="noStrike" cap="none">
                <a:solidFill>
                  <a:srgbClr val="0E4174"/>
                </a:solidFill>
                <a:latin typeface="Lexend"/>
                <a:ea typeface="Lexend"/>
                <a:cs typeface="Lexend"/>
                <a:sym typeface="Lexend"/>
              </a:rPr>
              <a:t>Retention </a:t>
            </a:r>
            <a:r>
              <a:rPr lang="en" sz="2200" b="1">
                <a:solidFill>
                  <a:srgbClr val="0E4174"/>
                </a:solidFill>
                <a:latin typeface="Lexend"/>
                <a:ea typeface="Lexend"/>
                <a:cs typeface="Lexend"/>
                <a:sym typeface="Lexend"/>
              </a:rPr>
              <a:t>Rate - </a:t>
            </a:r>
            <a:r>
              <a:rPr lang="en" sz="2200" b="1">
                <a:solidFill>
                  <a:srgbClr val="F56C1F"/>
                </a:solidFill>
                <a:latin typeface="Lexend"/>
                <a:ea typeface="Lexend"/>
                <a:cs typeface="Lexend"/>
                <a:sym typeface="Lexend"/>
              </a:rPr>
              <a:t>HAN</a:t>
            </a:r>
            <a:endParaRPr sz="2200" b="1" i="0" u="none" strike="noStrike" cap="none">
              <a:solidFill>
                <a:srgbClr val="F56C1F"/>
              </a:solidFill>
              <a:latin typeface="Lexend"/>
              <a:ea typeface="Lexend"/>
              <a:cs typeface="Lexend"/>
              <a:sym typeface="Lexend"/>
            </a:endParaRPr>
          </a:p>
        </p:txBody>
      </p:sp>
      <p:sp>
        <p:nvSpPr>
          <p:cNvPr id="175" name="Google Shape;175;p35"/>
          <p:cNvSpPr/>
          <p:nvPr/>
        </p:nvSpPr>
        <p:spPr>
          <a:xfrm>
            <a:off x="520995" y="495335"/>
            <a:ext cx="7315200" cy="274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1000"/>
              <a:buFont typeface="Calibri"/>
              <a:buNone/>
            </a:pPr>
            <a:r>
              <a:rPr lang="en" sz="1000" i="1" u="none" strike="noStrike" cap="none">
                <a:solidFill>
                  <a:srgbClr val="64748B"/>
                </a:solidFill>
                <a:latin typeface="Lexend"/>
                <a:ea typeface="Lexend"/>
                <a:cs typeface="Lexend"/>
                <a:sym typeface="Lexend"/>
              </a:rPr>
              <a:t>Tỷ lệ giữ chân tài xế &gt;=22</a:t>
            </a:r>
            <a:r>
              <a:rPr lang="en" sz="1000" i="1">
                <a:solidFill>
                  <a:srgbClr val="64748B"/>
                </a:solidFill>
                <a:latin typeface="Lexend"/>
                <a:ea typeface="Lexend"/>
                <a:cs typeface="Lexend"/>
                <a:sym typeface="Lexend"/>
              </a:rPr>
              <a:t>t</a:t>
            </a:r>
            <a:r>
              <a:rPr lang="en" sz="1000" i="1" u="none" strike="noStrike" cap="none">
                <a:solidFill>
                  <a:srgbClr val="64748B"/>
                </a:solidFill>
                <a:latin typeface="Lexend"/>
                <a:ea typeface="Lexend"/>
                <a:cs typeface="Lexend"/>
                <a:sym typeface="Lexend"/>
              </a:rPr>
              <a:t> — Bóc tách biến động theo thời điểm &amp; segment</a:t>
            </a:r>
            <a:endParaRPr sz="1000" i="0" u="none" strike="noStrike" cap="none">
              <a:solidFill>
                <a:schemeClr val="dk1"/>
              </a:solidFill>
              <a:latin typeface="Lexend"/>
              <a:ea typeface="Lexend"/>
              <a:cs typeface="Lexend"/>
              <a:sym typeface="Lexend"/>
            </a:endParaRPr>
          </a:p>
        </p:txBody>
      </p:sp>
      <p:sp>
        <p:nvSpPr>
          <p:cNvPr id="176" name="Google Shape;176;p35"/>
          <p:cNvSpPr/>
          <p:nvPr/>
        </p:nvSpPr>
        <p:spPr>
          <a:xfrm>
            <a:off x="176535" y="900397"/>
            <a:ext cx="4846200" cy="2286000"/>
          </a:xfrm>
          <a:prstGeom prst="rect">
            <a:avLst/>
          </a:prstGeom>
          <a:solidFill>
            <a:srgbClr val="FFFFFF"/>
          </a:solidFill>
          <a:ln w="9525" cap="flat" cmpd="sng">
            <a:solidFill>
              <a:srgbClr val="E2E8F0"/>
            </a:solidFill>
            <a:prstDash val="solid"/>
            <a:round/>
            <a:headEnd type="none" w="sm" len="sm"/>
            <a:tailEnd type="none" w="sm" len="sm"/>
          </a:ln>
          <a:effectLst>
            <a:outerShdw blurRad="76200" dist="25400" dir="8100000" algn="bl" rotWithShape="0">
              <a:srgbClr val="000000">
                <a:alpha val="102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35"/>
          <p:cNvSpPr/>
          <p:nvPr/>
        </p:nvSpPr>
        <p:spPr>
          <a:xfrm>
            <a:off x="155225" y="3520450"/>
            <a:ext cx="8871300" cy="1554600"/>
          </a:xfrm>
          <a:prstGeom prst="rect">
            <a:avLst/>
          </a:prstGeom>
          <a:solidFill>
            <a:srgbClr val="FFFFFF"/>
          </a:solidFill>
          <a:ln w="9525" cap="flat" cmpd="sng">
            <a:solidFill>
              <a:srgbClr val="E2E8F0"/>
            </a:solidFill>
            <a:prstDash val="solid"/>
            <a:round/>
            <a:headEnd type="none" w="sm" len="sm"/>
            <a:tailEnd type="none" w="sm" len="sm"/>
          </a:ln>
          <a:effectLst>
            <a:outerShdw blurRad="76200" dist="25400" dir="8100000" algn="bl" rotWithShape="0">
              <a:srgbClr val="000000">
                <a:alpha val="102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35"/>
          <p:cNvSpPr/>
          <p:nvPr/>
        </p:nvSpPr>
        <p:spPr>
          <a:xfrm>
            <a:off x="155225" y="3520450"/>
            <a:ext cx="56400" cy="1554600"/>
          </a:xfrm>
          <a:prstGeom prst="rect">
            <a:avLst/>
          </a:prstGeom>
          <a:solidFill>
            <a:srgbClr val="EF44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179;p35"/>
          <p:cNvSpPr/>
          <p:nvPr/>
        </p:nvSpPr>
        <p:spPr>
          <a:xfrm>
            <a:off x="369250" y="4079400"/>
            <a:ext cx="8523000" cy="8712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900">
                <a:solidFill>
                  <a:srgbClr val="1E293B"/>
                </a:solidFill>
                <a:latin typeface="Lexend"/>
                <a:ea typeface="Lexend"/>
                <a:cs typeface="Lexend"/>
                <a:sym typeface="Lexend"/>
              </a:rPr>
              <a:t>- Mức </a:t>
            </a:r>
            <a:r>
              <a:rPr lang="en" sz="900" b="1">
                <a:solidFill>
                  <a:srgbClr val="1E293B"/>
                </a:solidFill>
                <a:latin typeface="Lexend"/>
                <a:ea typeface="Lexend"/>
                <a:cs typeface="Lexend"/>
                <a:sym typeface="Lexend"/>
              </a:rPr>
              <a:t>RR MoM đã có sự cải thiện so với tháng trước, bên cạnh đó RR YoY </a:t>
            </a:r>
            <a:endParaRPr sz="900" b="1">
              <a:solidFill>
                <a:srgbClr val="1E293B"/>
              </a:solidFill>
              <a:latin typeface="Lexend"/>
              <a:ea typeface="Lexend"/>
              <a:cs typeface="Lexend"/>
              <a:sym typeface="Lexend"/>
            </a:endParaRPr>
          </a:p>
          <a:p>
            <a:pPr marL="0" marR="0" lvl="0" indent="0" algn="l" rtl="0">
              <a:spcBef>
                <a:spcPts val="0"/>
              </a:spcBef>
              <a:spcAft>
                <a:spcPts val="0"/>
              </a:spcAft>
              <a:buNone/>
            </a:pPr>
            <a:r>
              <a:rPr lang="en" sz="900">
                <a:solidFill>
                  <a:srgbClr val="1E293B"/>
                </a:solidFill>
                <a:latin typeface="Lexend"/>
                <a:ea typeface="Lexend"/>
                <a:cs typeface="Lexend"/>
                <a:sym typeface="Lexend"/>
              </a:rPr>
              <a:t>- Nhóm FT và NLM 2 nhóm có gap YoY lớn dao động -1.9-6.08% </a:t>
            </a:r>
            <a:br>
              <a:rPr lang="en" sz="900">
                <a:solidFill>
                  <a:srgbClr val="1E293B"/>
                </a:solidFill>
                <a:latin typeface="Lexend"/>
                <a:ea typeface="Lexend"/>
                <a:cs typeface="Lexend"/>
                <a:sym typeface="Lexend"/>
              </a:rPr>
            </a:br>
            <a:endParaRPr sz="900">
              <a:solidFill>
                <a:srgbClr val="1E293B"/>
              </a:solidFill>
              <a:latin typeface="Lexend"/>
              <a:ea typeface="Lexend"/>
              <a:cs typeface="Lexend"/>
              <a:sym typeface="Lexend"/>
            </a:endParaRPr>
          </a:p>
          <a:p>
            <a:pPr marL="0" lvl="0" indent="0" algn="l" rtl="0">
              <a:spcBef>
                <a:spcPts val="0"/>
              </a:spcBef>
              <a:spcAft>
                <a:spcPts val="0"/>
              </a:spcAft>
              <a:buClr>
                <a:schemeClr val="dk1"/>
              </a:buClr>
              <a:buSzPts val="1100"/>
              <a:buFont typeface="Arial"/>
              <a:buNone/>
            </a:pPr>
            <a:endParaRPr sz="900">
              <a:solidFill>
                <a:srgbClr val="1E293B"/>
              </a:solidFill>
              <a:latin typeface="Lexend"/>
              <a:ea typeface="Lexend"/>
              <a:cs typeface="Lexend"/>
              <a:sym typeface="Lexend"/>
            </a:endParaRPr>
          </a:p>
          <a:p>
            <a:pPr marL="0" marR="0" lvl="0" indent="0" algn="l" rtl="0">
              <a:spcBef>
                <a:spcPts val="0"/>
              </a:spcBef>
              <a:spcAft>
                <a:spcPts val="0"/>
              </a:spcAft>
              <a:buNone/>
            </a:pPr>
            <a:endParaRPr sz="900">
              <a:solidFill>
                <a:srgbClr val="1E293B"/>
              </a:solidFill>
              <a:latin typeface="Lexend"/>
              <a:ea typeface="Lexend"/>
              <a:cs typeface="Lexend"/>
              <a:sym typeface="Lexend"/>
            </a:endParaRPr>
          </a:p>
        </p:txBody>
      </p:sp>
      <p:sp>
        <p:nvSpPr>
          <p:cNvPr id="180" name="Google Shape;180;p35"/>
          <p:cNvSpPr/>
          <p:nvPr/>
        </p:nvSpPr>
        <p:spPr>
          <a:xfrm>
            <a:off x="5486395" y="45700"/>
            <a:ext cx="3657600" cy="27420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94A3B8"/>
              </a:buClr>
              <a:buSzPts val="700"/>
              <a:buFont typeface="Calibri"/>
              <a:buNone/>
            </a:pPr>
            <a:r>
              <a:rPr lang="en" sz="700" b="0" i="1" u="none" strike="noStrike" cap="none">
                <a:solidFill>
                  <a:srgbClr val="94A3B8"/>
                </a:solidFill>
                <a:latin typeface="Calibri"/>
                <a:ea typeface="Calibri"/>
                <a:cs typeface="Calibri"/>
                <a:sym typeface="Calibri"/>
              </a:rPr>
              <a:t>Ahamove — Driver Management | Confidential</a:t>
            </a:r>
            <a:endParaRPr sz="700" b="0" i="0" u="none" strike="noStrike" cap="none">
              <a:solidFill>
                <a:schemeClr val="dk1"/>
              </a:solidFill>
              <a:latin typeface="Calibri"/>
              <a:ea typeface="Calibri"/>
              <a:cs typeface="Calibri"/>
              <a:sym typeface="Calibri"/>
            </a:endParaRPr>
          </a:p>
        </p:txBody>
      </p:sp>
      <p:pic>
        <p:nvPicPr>
          <p:cNvPr id="181" name="Google Shape;181;p35" descr="preencoded.png"/>
          <p:cNvPicPr preferRelativeResize="0"/>
          <p:nvPr/>
        </p:nvPicPr>
        <p:blipFill rotWithShape="1">
          <a:blip r:embed="rId4">
            <a:alphaModFix/>
          </a:blip>
          <a:srcRect/>
          <a:stretch/>
        </p:blipFill>
        <p:spPr>
          <a:xfrm>
            <a:off x="277523" y="3612554"/>
            <a:ext cx="274325" cy="373067"/>
          </a:xfrm>
          <a:prstGeom prst="rect">
            <a:avLst/>
          </a:prstGeom>
          <a:noFill/>
          <a:ln>
            <a:noFill/>
          </a:ln>
        </p:spPr>
      </p:pic>
      <p:sp>
        <p:nvSpPr>
          <p:cNvPr id="182" name="Google Shape;182;p35"/>
          <p:cNvSpPr/>
          <p:nvPr/>
        </p:nvSpPr>
        <p:spPr>
          <a:xfrm>
            <a:off x="533563" y="3550361"/>
            <a:ext cx="2743200" cy="3483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F4444"/>
              </a:buClr>
              <a:buSzPts val="1100"/>
              <a:buFont typeface="Calibri"/>
              <a:buNone/>
            </a:pPr>
            <a:r>
              <a:rPr lang="en" sz="1100" i="0" u="none" strike="noStrike" cap="none">
                <a:solidFill>
                  <a:srgbClr val="EF4444"/>
                </a:solidFill>
                <a:latin typeface="Lexend"/>
                <a:ea typeface="Lexend"/>
                <a:cs typeface="Lexend"/>
                <a:sym typeface="Lexend"/>
              </a:rPr>
              <a:t>ROOT CAUSE ANALYSIS</a:t>
            </a:r>
            <a:endParaRPr sz="1100" i="0" u="none" strike="noStrike" cap="none">
              <a:solidFill>
                <a:schemeClr val="dk1"/>
              </a:solidFill>
              <a:latin typeface="Lexend"/>
              <a:ea typeface="Lexend"/>
              <a:cs typeface="Lexend"/>
              <a:sym typeface="Lexend"/>
            </a:endParaRPr>
          </a:p>
        </p:txBody>
      </p:sp>
      <p:pic>
        <p:nvPicPr>
          <p:cNvPr id="183" name="Google Shape;183;p35" title="Chart"/>
          <p:cNvPicPr preferRelativeResize="0"/>
          <p:nvPr/>
        </p:nvPicPr>
        <p:blipFill>
          <a:blip r:embed="rId5">
            <a:alphaModFix/>
          </a:blip>
          <a:stretch>
            <a:fillRect/>
          </a:stretch>
        </p:blipFill>
        <p:spPr>
          <a:xfrm>
            <a:off x="176525" y="900400"/>
            <a:ext cx="4846198" cy="2263295"/>
          </a:xfrm>
          <a:prstGeom prst="rect">
            <a:avLst/>
          </a:prstGeom>
          <a:noFill/>
          <a:ln>
            <a:noFill/>
          </a:ln>
        </p:spPr>
      </p:pic>
      <p:cxnSp>
        <p:nvCxnSpPr>
          <p:cNvPr id="184" name="Google Shape;184;p35"/>
          <p:cNvCxnSpPr/>
          <p:nvPr/>
        </p:nvCxnSpPr>
        <p:spPr>
          <a:xfrm flipH="1">
            <a:off x="2674100" y="1571625"/>
            <a:ext cx="15300" cy="1396200"/>
          </a:xfrm>
          <a:prstGeom prst="straightConnector1">
            <a:avLst/>
          </a:prstGeom>
          <a:noFill/>
          <a:ln w="8150" cap="flat" cmpd="sng">
            <a:solidFill>
              <a:schemeClr val="dk2"/>
            </a:solidFill>
            <a:prstDash val="dot"/>
            <a:round/>
            <a:headEnd type="none" w="med" len="med"/>
            <a:tailEnd type="none" w="med" len="med"/>
          </a:ln>
        </p:spPr>
      </p:cxnSp>
      <p:sp>
        <p:nvSpPr>
          <p:cNvPr id="185" name="Google Shape;185;p35"/>
          <p:cNvSpPr/>
          <p:nvPr/>
        </p:nvSpPr>
        <p:spPr>
          <a:xfrm>
            <a:off x="2689401" y="1787600"/>
            <a:ext cx="665400" cy="459000"/>
          </a:xfrm>
          <a:prstGeom prst="wedgeRoundRectCallout">
            <a:avLst>
              <a:gd name="adj1" fmla="val -50392"/>
              <a:gd name="adj2" fmla="val -88140"/>
              <a:gd name="adj3" fmla="val 0"/>
            </a:avLst>
          </a:prstGeom>
          <a:solidFill>
            <a:srgbClr val="63A7FF">
              <a:alpha val="49380"/>
            </a:srgbClr>
          </a:solidFill>
          <a:ln w="6700" cap="flat" cmpd="sng">
            <a:solidFill>
              <a:srgbClr val="D2E0F9"/>
            </a:solidFill>
            <a:prstDash val="solid"/>
            <a:round/>
            <a:headEnd type="none" w="sm" len="sm"/>
            <a:tailEnd type="none" w="sm" len="sm"/>
          </a:ln>
        </p:spPr>
        <p:txBody>
          <a:bodyPr spcFirstLastPara="1" wrap="square" lIns="64275" tIns="64275" rIns="64275" bIns="64275" anchor="ctr" anchorCtr="0">
            <a:noAutofit/>
          </a:bodyPr>
          <a:lstStyle/>
          <a:p>
            <a:pPr marL="0" lvl="0" indent="0" algn="l" rtl="0">
              <a:lnSpc>
                <a:spcPct val="115000"/>
              </a:lnSpc>
              <a:spcBef>
                <a:spcPts val="0"/>
              </a:spcBef>
              <a:spcAft>
                <a:spcPts val="0"/>
              </a:spcAft>
              <a:buNone/>
            </a:pPr>
            <a:r>
              <a:rPr lang="en" sz="733" b="1">
                <a:solidFill>
                  <a:srgbClr val="008000"/>
                </a:solidFill>
                <a:latin typeface="Lexend"/>
                <a:ea typeface="Lexend"/>
                <a:cs typeface="Lexend"/>
                <a:sym typeface="Lexend"/>
              </a:rPr>
              <a:t>74.17%</a:t>
            </a:r>
            <a:br>
              <a:rPr lang="en" sz="733" b="1">
                <a:solidFill>
                  <a:srgbClr val="008000"/>
                </a:solidFill>
                <a:latin typeface="Lexend"/>
                <a:ea typeface="Lexend"/>
                <a:cs typeface="Lexend"/>
                <a:sym typeface="Lexend"/>
              </a:rPr>
            </a:br>
            <a:r>
              <a:rPr lang="en" sz="633">
                <a:solidFill>
                  <a:srgbClr val="38761D"/>
                </a:solidFill>
                <a:latin typeface="Lexend"/>
                <a:ea typeface="Lexend"/>
                <a:cs typeface="Lexend"/>
                <a:sym typeface="Lexend"/>
              </a:rPr>
              <a:t>+0.7% MoM</a:t>
            </a:r>
            <a:endParaRPr sz="733" b="1">
              <a:solidFill>
                <a:srgbClr val="38761D"/>
              </a:solidFill>
              <a:latin typeface="Lexend"/>
              <a:ea typeface="Lexend"/>
              <a:cs typeface="Lexend"/>
              <a:sym typeface="Lexend"/>
            </a:endParaRPr>
          </a:p>
          <a:p>
            <a:pPr marL="0" lvl="0" indent="0" algn="l" rtl="0">
              <a:lnSpc>
                <a:spcPct val="115000"/>
              </a:lnSpc>
              <a:spcBef>
                <a:spcPts val="0"/>
              </a:spcBef>
              <a:spcAft>
                <a:spcPts val="0"/>
              </a:spcAft>
              <a:buNone/>
            </a:pPr>
            <a:r>
              <a:rPr lang="en" sz="633">
                <a:solidFill>
                  <a:srgbClr val="EF4444"/>
                </a:solidFill>
                <a:latin typeface="Lexend"/>
                <a:ea typeface="Lexend"/>
                <a:cs typeface="Lexend"/>
                <a:sym typeface="Lexend"/>
              </a:rPr>
              <a:t>-0.17% YoY </a:t>
            </a:r>
            <a:endParaRPr sz="633">
              <a:solidFill>
                <a:srgbClr val="EF4444"/>
              </a:solidFill>
              <a:latin typeface="Lexend"/>
              <a:ea typeface="Lexend"/>
              <a:cs typeface="Lexend"/>
              <a:sym typeface="Lexend"/>
            </a:endParaRPr>
          </a:p>
        </p:txBody>
      </p:sp>
      <p:sp>
        <p:nvSpPr>
          <p:cNvPr id="186" name="Google Shape;186;p35"/>
          <p:cNvSpPr txBox="1"/>
          <p:nvPr/>
        </p:nvSpPr>
        <p:spPr>
          <a:xfrm>
            <a:off x="4624563" y="1339418"/>
            <a:ext cx="592500" cy="2799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619" b="1">
                <a:solidFill>
                  <a:srgbClr val="F56C1F"/>
                </a:solidFill>
                <a:latin typeface="Lexend"/>
                <a:ea typeface="Lexend"/>
                <a:cs typeface="Lexend"/>
                <a:sym typeface="Lexend"/>
              </a:rPr>
              <a:t>78.76%</a:t>
            </a:r>
            <a:endParaRPr sz="619" b="1">
              <a:solidFill>
                <a:srgbClr val="F56C1F"/>
              </a:solidFill>
              <a:latin typeface="Lexend"/>
              <a:ea typeface="Lexend"/>
              <a:cs typeface="Lexend"/>
              <a:sym typeface="Lexend"/>
            </a:endParaRPr>
          </a:p>
        </p:txBody>
      </p:sp>
      <p:sp>
        <p:nvSpPr>
          <p:cNvPr id="187" name="Google Shape;187;p35"/>
          <p:cNvSpPr txBox="1"/>
          <p:nvPr/>
        </p:nvSpPr>
        <p:spPr>
          <a:xfrm>
            <a:off x="4624582" y="1106533"/>
            <a:ext cx="592500" cy="2799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619" b="1">
                <a:solidFill>
                  <a:srgbClr val="595959"/>
                </a:solidFill>
                <a:latin typeface="Lexend"/>
                <a:ea typeface="Lexend"/>
                <a:cs typeface="Lexend"/>
                <a:sym typeface="Lexend"/>
              </a:rPr>
              <a:t>80.09%</a:t>
            </a:r>
            <a:endParaRPr sz="619" b="1">
              <a:solidFill>
                <a:srgbClr val="595959"/>
              </a:solidFill>
              <a:latin typeface="Lexend"/>
              <a:ea typeface="Lexend"/>
              <a:cs typeface="Lexend"/>
              <a:sym typeface="Lexend"/>
            </a:endParaRPr>
          </a:p>
        </p:txBody>
      </p:sp>
      <p:graphicFrame>
        <p:nvGraphicFramePr>
          <p:cNvPr id="188" name="Google Shape;188;p35"/>
          <p:cNvGraphicFramePr/>
          <p:nvPr/>
        </p:nvGraphicFramePr>
        <p:xfrm>
          <a:off x="5231875" y="887050"/>
          <a:ext cx="3000000" cy="3000000"/>
        </p:xfrm>
        <a:graphic>
          <a:graphicData uri="http://schemas.openxmlformats.org/drawingml/2006/table">
            <a:tbl>
              <a:tblPr>
                <a:noFill/>
                <a:tableStyleId>{BD4DB973-2F49-4540-A1CC-0EE3EA8BBFB3}</a:tableStyleId>
              </a:tblPr>
              <a:tblGrid>
                <a:gridCol w="592100">
                  <a:extLst>
                    <a:ext uri="{9D8B030D-6E8A-4147-A177-3AD203B41FA5}">
                      <a16:colId xmlns:a16="http://schemas.microsoft.com/office/drawing/2014/main" val="20000"/>
                    </a:ext>
                  </a:extLst>
                </a:gridCol>
                <a:gridCol w="583650">
                  <a:extLst>
                    <a:ext uri="{9D8B030D-6E8A-4147-A177-3AD203B41FA5}">
                      <a16:colId xmlns:a16="http://schemas.microsoft.com/office/drawing/2014/main" val="20001"/>
                    </a:ext>
                  </a:extLst>
                </a:gridCol>
                <a:gridCol w="583650">
                  <a:extLst>
                    <a:ext uri="{9D8B030D-6E8A-4147-A177-3AD203B41FA5}">
                      <a16:colId xmlns:a16="http://schemas.microsoft.com/office/drawing/2014/main" val="20002"/>
                    </a:ext>
                  </a:extLst>
                </a:gridCol>
                <a:gridCol w="583650">
                  <a:extLst>
                    <a:ext uri="{9D8B030D-6E8A-4147-A177-3AD203B41FA5}">
                      <a16:colId xmlns:a16="http://schemas.microsoft.com/office/drawing/2014/main" val="20003"/>
                    </a:ext>
                  </a:extLst>
                </a:gridCol>
                <a:gridCol w="634425">
                  <a:extLst>
                    <a:ext uri="{9D8B030D-6E8A-4147-A177-3AD203B41FA5}">
                      <a16:colId xmlns:a16="http://schemas.microsoft.com/office/drawing/2014/main" val="20004"/>
                    </a:ext>
                  </a:extLst>
                </a:gridCol>
                <a:gridCol w="634425">
                  <a:extLst>
                    <a:ext uri="{9D8B030D-6E8A-4147-A177-3AD203B41FA5}">
                      <a16:colId xmlns:a16="http://schemas.microsoft.com/office/drawing/2014/main" val="20005"/>
                    </a:ext>
                  </a:extLst>
                </a:gridCol>
              </a:tblGrid>
              <a:tr h="314325">
                <a:tc>
                  <a:txBody>
                    <a:bodyPr/>
                    <a:lstStyle/>
                    <a:p>
                      <a:pPr marL="0" lvl="0" indent="0" algn="ctr" rtl="0">
                        <a:lnSpc>
                          <a:spcPct val="115000"/>
                        </a:lnSpc>
                        <a:spcBef>
                          <a:spcPts val="0"/>
                        </a:spcBef>
                        <a:spcAft>
                          <a:spcPts val="0"/>
                        </a:spcAft>
                        <a:buNone/>
                      </a:pPr>
                      <a:r>
                        <a:rPr lang="en" sz="900" b="1">
                          <a:solidFill>
                            <a:srgbClr val="FFFFFF"/>
                          </a:solidFill>
                          <a:latin typeface="Lexend"/>
                          <a:ea typeface="Lexend"/>
                          <a:cs typeface="Lexend"/>
                          <a:sym typeface="Lexend"/>
                        </a:rPr>
                        <a:t>Segment</a:t>
                      </a:r>
                      <a:endParaRPr sz="900" b="1">
                        <a:solidFill>
                          <a:srgbClr val="FFFFFF"/>
                        </a:solidFill>
                        <a:latin typeface="Lexend"/>
                        <a:ea typeface="Lexend"/>
                        <a:cs typeface="Lexend"/>
                        <a:sym typeface="Lexend"/>
                      </a:endParaRPr>
                    </a:p>
                  </a:txBody>
                  <a:tcPr marL="28575" marR="28575" marT="19050" marB="19050" anchor="ctr">
                    <a:lnL w="12700" cap="flat" cmpd="sng">
                      <a:solidFill>
                        <a:srgbClr val="000000"/>
                      </a:solidFill>
                      <a:prstDash val="solid"/>
                      <a:round/>
                      <a:headEnd type="none" w="sm" len="sm"/>
                      <a:tailEnd type="none" w="sm" len="sm"/>
                    </a:lnL>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073763"/>
                    </a:solidFill>
                  </a:tcPr>
                </a:tc>
                <a:tc>
                  <a:txBody>
                    <a:bodyPr/>
                    <a:lstStyle/>
                    <a:p>
                      <a:pPr marL="0" lvl="0" indent="0" algn="ctr" rtl="0">
                        <a:lnSpc>
                          <a:spcPct val="115000"/>
                        </a:lnSpc>
                        <a:spcBef>
                          <a:spcPts val="0"/>
                        </a:spcBef>
                        <a:spcAft>
                          <a:spcPts val="0"/>
                        </a:spcAft>
                        <a:buNone/>
                      </a:pPr>
                      <a:r>
                        <a:rPr lang="en" sz="900" b="1">
                          <a:solidFill>
                            <a:srgbClr val="FFFFFF"/>
                          </a:solidFill>
                          <a:latin typeface="Lexend"/>
                          <a:ea typeface="Lexend"/>
                          <a:cs typeface="Lexend"/>
                          <a:sym typeface="Lexend"/>
                        </a:rPr>
                        <a:t>Segment driver</a:t>
                      </a:r>
                      <a:endParaRPr sz="900" b="1">
                        <a:solidFill>
                          <a:srgbClr val="FFFFFF"/>
                        </a:solidFill>
                        <a:latin typeface="Lexend"/>
                        <a:ea typeface="Lexend"/>
                        <a:cs typeface="Lexend"/>
                        <a:sym typeface="Lexend"/>
                      </a:endParaRPr>
                    </a:p>
                  </a:txBody>
                  <a:tcPr marL="28575" marR="28575" marT="19050" marB="19050" anchor="ct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073763"/>
                    </a:solidFill>
                  </a:tcPr>
                </a:tc>
                <a:tc>
                  <a:txBody>
                    <a:bodyPr/>
                    <a:lstStyle/>
                    <a:p>
                      <a:pPr marL="0" lvl="0" indent="0" algn="ctr" rtl="0">
                        <a:lnSpc>
                          <a:spcPct val="115000"/>
                        </a:lnSpc>
                        <a:spcBef>
                          <a:spcPts val="0"/>
                        </a:spcBef>
                        <a:spcAft>
                          <a:spcPts val="0"/>
                        </a:spcAft>
                        <a:buNone/>
                      </a:pPr>
                      <a:r>
                        <a:rPr lang="en" sz="900" b="1">
                          <a:solidFill>
                            <a:srgbClr val="FFFFFF"/>
                          </a:solidFill>
                          <a:latin typeface="Lexend"/>
                          <a:ea typeface="Lexend"/>
                          <a:cs typeface="Lexend"/>
                          <a:sym typeface="Lexend"/>
                        </a:rPr>
                        <a:t>Active driver</a:t>
                      </a:r>
                      <a:endParaRPr sz="900" b="1">
                        <a:solidFill>
                          <a:srgbClr val="FFFFFF"/>
                        </a:solidFill>
                        <a:latin typeface="Lexend"/>
                        <a:ea typeface="Lexend"/>
                        <a:cs typeface="Lexend"/>
                        <a:sym typeface="Lexend"/>
                      </a:endParaRPr>
                    </a:p>
                  </a:txBody>
                  <a:tcPr marL="28575" marR="28575" marT="19050" marB="19050" anchor="ct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073763"/>
                    </a:solidFill>
                  </a:tcPr>
                </a:tc>
                <a:tc>
                  <a:txBody>
                    <a:bodyPr/>
                    <a:lstStyle/>
                    <a:p>
                      <a:pPr marL="0" lvl="0" indent="0" algn="ctr" rtl="0">
                        <a:lnSpc>
                          <a:spcPct val="115000"/>
                        </a:lnSpc>
                        <a:spcBef>
                          <a:spcPts val="0"/>
                        </a:spcBef>
                        <a:spcAft>
                          <a:spcPts val="0"/>
                        </a:spcAft>
                        <a:buNone/>
                      </a:pPr>
                      <a:r>
                        <a:rPr lang="en" sz="900" b="1">
                          <a:solidFill>
                            <a:srgbClr val="FFFFFF"/>
                          </a:solidFill>
                          <a:latin typeface="Lexend"/>
                          <a:ea typeface="Lexend"/>
                          <a:cs typeface="Lexend"/>
                          <a:sym typeface="Lexend"/>
                        </a:rPr>
                        <a:t>RR_this month</a:t>
                      </a:r>
                      <a:endParaRPr sz="900" b="1">
                        <a:solidFill>
                          <a:srgbClr val="FFFFFF"/>
                        </a:solidFill>
                        <a:latin typeface="Lexend"/>
                        <a:ea typeface="Lexend"/>
                        <a:cs typeface="Lexend"/>
                        <a:sym typeface="Lexend"/>
                      </a:endParaRPr>
                    </a:p>
                  </a:txBody>
                  <a:tcPr marL="28575" marR="28575" marT="19050" marB="19050" anchor="ct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073763"/>
                    </a:solidFill>
                  </a:tcPr>
                </a:tc>
                <a:tc>
                  <a:txBody>
                    <a:bodyPr/>
                    <a:lstStyle/>
                    <a:p>
                      <a:pPr marL="0" lvl="0" indent="0" algn="ctr" rtl="0">
                        <a:lnSpc>
                          <a:spcPct val="115000"/>
                        </a:lnSpc>
                        <a:spcBef>
                          <a:spcPts val="0"/>
                        </a:spcBef>
                        <a:spcAft>
                          <a:spcPts val="0"/>
                        </a:spcAft>
                        <a:buNone/>
                      </a:pPr>
                      <a:r>
                        <a:rPr lang="en" sz="900" b="1">
                          <a:solidFill>
                            <a:srgbClr val="FFFFFF"/>
                          </a:solidFill>
                          <a:latin typeface="Lexend"/>
                          <a:ea typeface="Lexend"/>
                          <a:cs typeface="Lexend"/>
                          <a:sym typeface="Lexend"/>
                        </a:rPr>
                        <a:t>MoM</a:t>
                      </a:r>
                      <a:endParaRPr sz="900" b="1">
                        <a:solidFill>
                          <a:srgbClr val="FFFFFF"/>
                        </a:solidFill>
                        <a:latin typeface="Lexend"/>
                        <a:ea typeface="Lexend"/>
                        <a:cs typeface="Lexend"/>
                        <a:sym typeface="Lexend"/>
                      </a:endParaRPr>
                    </a:p>
                  </a:txBody>
                  <a:tcPr marL="28575" marR="28575" marT="19050" marB="19050" anchor="ct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6D01"/>
                    </a:solidFill>
                  </a:tcPr>
                </a:tc>
                <a:tc>
                  <a:txBody>
                    <a:bodyPr/>
                    <a:lstStyle/>
                    <a:p>
                      <a:pPr marL="0" lvl="0" indent="0" algn="ctr" rtl="0">
                        <a:lnSpc>
                          <a:spcPct val="115000"/>
                        </a:lnSpc>
                        <a:spcBef>
                          <a:spcPts val="0"/>
                        </a:spcBef>
                        <a:spcAft>
                          <a:spcPts val="0"/>
                        </a:spcAft>
                        <a:buNone/>
                      </a:pPr>
                      <a:r>
                        <a:rPr lang="en" sz="900" b="1">
                          <a:solidFill>
                            <a:srgbClr val="FFFFFF"/>
                          </a:solidFill>
                          <a:latin typeface="Lexend"/>
                          <a:ea typeface="Lexend"/>
                          <a:cs typeface="Lexend"/>
                          <a:sym typeface="Lexend"/>
                        </a:rPr>
                        <a:t>YoY</a:t>
                      </a:r>
                      <a:endParaRPr sz="900" b="1">
                        <a:solidFill>
                          <a:srgbClr val="FFFFFF"/>
                        </a:solidFill>
                        <a:latin typeface="Lexend"/>
                        <a:ea typeface="Lexend"/>
                        <a:cs typeface="Lexend"/>
                        <a:sym typeface="Lexend"/>
                      </a:endParaRPr>
                    </a:p>
                  </a:txBody>
                  <a:tcPr marL="28575" marR="28575" marT="19050" marB="19050" anchor="ctr">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FF6D01"/>
                    </a:solidFill>
                  </a:tcPr>
                </a:tc>
                <a:extLst>
                  <a:ext uri="{0D108BD9-81ED-4DB2-BD59-A6C34878D82A}">
                    <a16:rowId xmlns:a16="http://schemas.microsoft.com/office/drawing/2014/main" val="10000"/>
                  </a:ext>
                </a:extLst>
              </a:tr>
              <a:tr h="200025">
                <a:tc>
                  <a:txBody>
                    <a:bodyPr/>
                    <a:lstStyle/>
                    <a:p>
                      <a:pPr marL="0" lvl="0" indent="0" algn="ctr" rtl="0">
                        <a:lnSpc>
                          <a:spcPct val="115000"/>
                        </a:lnSpc>
                        <a:spcBef>
                          <a:spcPts val="0"/>
                        </a:spcBef>
                        <a:spcAft>
                          <a:spcPts val="0"/>
                        </a:spcAft>
                        <a:buNone/>
                      </a:pPr>
                      <a:r>
                        <a:rPr lang="en" sz="900">
                          <a:latin typeface="Lexend"/>
                          <a:ea typeface="Lexend"/>
                          <a:cs typeface="Lexend"/>
                          <a:sym typeface="Lexend"/>
                        </a:rPr>
                        <a:t>FT</a:t>
                      </a:r>
                      <a:endParaRPr sz="900">
                        <a:latin typeface="Lexend"/>
                        <a:ea typeface="Lexend"/>
                        <a:cs typeface="Lexend"/>
                        <a:sym typeface="Lexend"/>
                      </a:endParaRPr>
                    </a:p>
                  </a:txBody>
                  <a:tcPr marL="28575" marR="28575" marT="19050" marB="19050" anchor="ctr">
                    <a:lnL w="12700" cap="flat" cmpd="sng">
                      <a:solidFill>
                        <a:srgbClr val="000000"/>
                      </a:solidFill>
                      <a:prstDash val="solid"/>
                      <a:round/>
                      <a:headEnd type="none" w="sm" len="sm"/>
                      <a:tailEnd type="none" w="sm" len="sm"/>
                    </a:lnL>
                    <a:lnR w="12700" cap="flat" cmpd="sng">
                      <a:solidFill>
                        <a:srgbClr val="000000"/>
                      </a:solidFill>
                      <a:prstDash val="dot"/>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900">
                          <a:latin typeface="Lexend"/>
                          <a:ea typeface="Lexend"/>
                          <a:cs typeface="Lexend"/>
                          <a:sym typeface="Lexend"/>
                        </a:rPr>
                        <a:t>1,260</a:t>
                      </a:r>
                      <a:endParaRPr sz="900">
                        <a:latin typeface="Lexend"/>
                        <a:ea typeface="Lexend"/>
                        <a:cs typeface="Lexend"/>
                        <a:sym typeface="Lexend"/>
                      </a:endParaRPr>
                    </a:p>
                  </a:txBody>
                  <a:tcPr marL="28575" marR="28575" marT="19050" marB="19050" anchor="ctr">
                    <a:lnL w="12700" cap="flat" cmpd="sng">
                      <a:solidFill>
                        <a:srgbClr val="000000"/>
                      </a:solidFill>
                      <a:prstDash val="dot"/>
                      <a:round/>
                      <a:headEnd type="none" w="sm" len="sm"/>
                      <a:tailEnd type="none" w="sm" len="sm"/>
                    </a:lnL>
                    <a:lnR w="12700" cap="flat" cmpd="sng">
                      <a:solidFill>
                        <a:srgbClr val="000000"/>
                      </a:solidFill>
                      <a:prstDash val="dot"/>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900">
                          <a:latin typeface="Lexend"/>
                          <a:ea typeface="Lexend"/>
                          <a:cs typeface="Lexend"/>
                          <a:sym typeface="Lexend"/>
                        </a:rPr>
                        <a:t>1,201</a:t>
                      </a:r>
                      <a:endParaRPr sz="900">
                        <a:latin typeface="Lexend"/>
                        <a:ea typeface="Lexend"/>
                        <a:cs typeface="Lexend"/>
                        <a:sym typeface="Lexend"/>
                      </a:endParaRPr>
                    </a:p>
                  </a:txBody>
                  <a:tcPr marL="28575" marR="28575" marT="19050" marB="19050" anchor="ctr">
                    <a:lnL w="12700" cap="flat" cmpd="sng">
                      <a:solidFill>
                        <a:srgbClr val="000000"/>
                      </a:solidFill>
                      <a:prstDash val="dot"/>
                      <a:round/>
                      <a:headEnd type="none" w="sm" len="sm"/>
                      <a:tailEnd type="none" w="sm" len="sm"/>
                    </a:lnL>
                    <a:lnR w="12700" cap="flat" cmpd="sng">
                      <a:solidFill>
                        <a:srgbClr val="000000"/>
                      </a:solidFill>
                      <a:prstDash val="dot"/>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900">
                          <a:latin typeface="Lexend"/>
                          <a:ea typeface="Lexend"/>
                          <a:cs typeface="Lexend"/>
                          <a:sym typeface="Lexend"/>
                        </a:rPr>
                        <a:t>95.32%</a:t>
                      </a:r>
                      <a:endParaRPr sz="900">
                        <a:latin typeface="Lexend"/>
                        <a:ea typeface="Lexend"/>
                        <a:cs typeface="Lexend"/>
                        <a:sym typeface="Lexend"/>
                      </a:endParaRPr>
                    </a:p>
                  </a:txBody>
                  <a:tcPr marL="28575" marR="28575" marT="19050" marB="19050" anchor="ctr">
                    <a:lnL w="12700" cap="flat" cmpd="sng">
                      <a:solidFill>
                        <a:srgbClr val="000000"/>
                      </a:solidFill>
                      <a:prstDash val="dot"/>
                      <a:round/>
                      <a:headEnd type="none" w="sm" len="sm"/>
                      <a:tailEnd type="none" w="sm" len="sm"/>
                    </a:lnL>
                    <a:lnR w="12700" cap="flat" cmpd="sng">
                      <a:solidFill>
                        <a:srgbClr val="000000"/>
                      </a:solidFill>
                      <a:prstDash val="dot"/>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900" b="1">
                          <a:solidFill>
                            <a:srgbClr val="CC0000"/>
                          </a:solidFill>
                          <a:latin typeface="Lexend"/>
                          <a:ea typeface="Lexend"/>
                          <a:cs typeface="Lexend"/>
                          <a:sym typeface="Lexend"/>
                        </a:rPr>
                        <a:t>-0.05%</a:t>
                      </a:r>
                      <a:endParaRPr sz="900" b="1">
                        <a:solidFill>
                          <a:srgbClr val="CC0000"/>
                        </a:solidFill>
                        <a:latin typeface="Lexend"/>
                        <a:ea typeface="Lexend"/>
                        <a:cs typeface="Lexend"/>
                        <a:sym typeface="Lexend"/>
                      </a:endParaRPr>
                    </a:p>
                  </a:txBody>
                  <a:tcPr marL="28575" marR="28575" marT="19050" marB="19050" anchor="ctr">
                    <a:lnL w="12700" cap="flat" cmpd="sng">
                      <a:solidFill>
                        <a:srgbClr val="000000"/>
                      </a:solidFill>
                      <a:prstDash val="dot"/>
                      <a:round/>
                      <a:headEnd type="none" w="sm" len="sm"/>
                      <a:tailEnd type="none" w="sm" len="sm"/>
                    </a:lnL>
                    <a:lnR w="12700" cap="flat" cmpd="sng">
                      <a:solidFill>
                        <a:srgbClr val="000000"/>
                      </a:solidFill>
                      <a:prstDash val="dot"/>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dot"/>
                      <a:round/>
                      <a:headEnd type="none" w="sm" len="sm"/>
                      <a:tailEnd type="none" w="sm" len="sm"/>
                    </a:lnB>
                    <a:solidFill>
                      <a:srgbClr val="F4CCCC"/>
                    </a:solidFill>
                  </a:tcPr>
                </a:tc>
                <a:tc>
                  <a:txBody>
                    <a:bodyPr/>
                    <a:lstStyle/>
                    <a:p>
                      <a:pPr marL="0" lvl="0" indent="0" algn="ctr" rtl="0">
                        <a:lnSpc>
                          <a:spcPct val="115000"/>
                        </a:lnSpc>
                        <a:spcBef>
                          <a:spcPts val="0"/>
                        </a:spcBef>
                        <a:spcAft>
                          <a:spcPts val="0"/>
                        </a:spcAft>
                        <a:buNone/>
                      </a:pPr>
                      <a:r>
                        <a:rPr lang="en" sz="900" b="1">
                          <a:solidFill>
                            <a:srgbClr val="CC0000"/>
                          </a:solidFill>
                          <a:latin typeface="Lexend"/>
                          <a:ea typeface="Lexend"/>
                          <a:cs typeface="Lexend"/>
                          <a:sym typeface="Lexend"/>
                        </a:rPr>
                        <a:t>-1.95%</a:t>
                      </a:r>
                      <a:endParaRPr sz="900" b="1">
                        <a:solidFill>
                          <a:srgbClr val="CC0000"/>
                        </a:solidFill>
                        <a:latin typeface="Lexend"/>
                        <a:ea typeface="Lexend"/>
                        <a:cs typeface="Lexend"/>
                        <a:sym typeface="Lexend"/>
                      </a:endParaRPr>
                    </a:p>
                  </a:txBody>
                  <a:tcPr marL="28575" marR="28575" marT="19050" marB="19050" anchor="ctr">
                    <a:lnL w="12700" cap="flat" cmpd="sng">
                      <a:solidFill>
                        <a:srgbClr val="000000"/>
                      </a:solidFill>
                      <a:prstDash val="dot"/>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dot"/>
                      <a:round/>
                      <a:headEnd type="none" w="sm" len="sm"/>
                      <a:tailEnd type="none" w="sm" len="sm"/>
                    </a:lnB>
                    <a:solidFill>
                      <a:srgbClr val="F4CCCC"/>
                    </a:solidFill>
                  </a:tcPr>
                </a:tc>
                <a:extLst>
                  <a:ext uri="{0D108BD9-81ED-4DB2-BD59-A6C34878D82A}">
                    <a16:rowId xmlns:a16="http://schemas.microsoft.com/office/drawing/2014/main" val="10001"/>
                  </a:ext>
                </a:extLst>
              </a:tr>
              <a:tr h="200025">
                <a:tc>
                  <a:txBody>
                    <a:bodyPr/>
                    <a:lstStyle/>
                    <a:p>
                      <a:pPr marL="0" lvl="0" indent="0" algn="ctr" rtl="0">
                        <a:lnSpc>
                          <a:spcPct val="115000"/>
                        </a:lnSpc>
                        <a:spcBef>
                          <a:spcPts val="0"/>
                        </a:spcBef>
                        <a:spcAft>
                          <a:spcPts val="0"/>
                        </a:spcAft>
                        <a:buNone/>
                      </a:pPr>
                      <a:r>
                        <a:rPr lang="en" sz="900">
                          <a:latin typeface="Lexend"/>
                          <a:ea typeface="Lexend"/>
                          <a:cs typeface="Lexend"/>
                          <a:sym typeface="Lexend"/>
                        </a:rPr>
                        <a:t>PT</a:t>
                      </a:r>
                      <a:endParaRPr sz="900">
                        <a:latin typeface="Lexend"/>
                        <a:ea typeface="Lexend"/>
                        <a:cs typeface="Lexend"/>
                        <a:sym typeface="Lexend"/>
                      </a:endParaRPr>
                    </a:p>
                  </a:txBody>
                  <a:tcPr marL="28575" marR="28575" marT="19050" marB="19050" anchor="ctr">
                    <a:lnL w="12700" cap="flat" cmpd="sng">
                      <a:solidFill>
                        <a:srgbClr val="000000"/>
                      </a:solidFill>
                      <a:prstDash val="solid"/>
                      <a:round/>
                      <a:headEnd type="none" w="sm" len="sm"/>
                      <a:tailEnd type="none" w="sm" len="sm"/>
                    </a:lnL>
                    <a:lnR w="12700" cap="flat" cmpd="sng">
                      <a:solidFill>
                        <a:srgbClr val="000000"/>
                      </a:solidFill>
                      <a:prstDash val="dot"/>
                      <a:round/>
                      <a:headEnd type="none" w="sm" len="sm"/>
                      <a:tailEnd type="none" w="sm" len="sm"/>
                    </a:lnR>
                    <a:lnT w="12700" cap="flat" cmpd="sng">
                      <a:solidFill>
                        <a:srgbClr val="000000"/>
                      </a:solidFill>
                      <a:prstDash val="dot"/>
                      <a:round/>
                      <a:headEnd type="none" w="sm" len="sm"/>
                      <a:tailEnd type="none" w="sm" len="sm"/>
                    </a:lnT>
                    <a:lnB w="12700" cap="flat" cmpd="sng">
                      <a:solidFill>
                        <a:srgbClr val="000000"/>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900">
                          <a:latin typeface="Lexend"/>
                          <a:ea typeface="Lexend"/>
                          <a:cs typeface="Lexend"/>
                          <a:sym typeface="Lexend"/>
                        </a:rPr>
                        <a:t>7,041</a:t>
                      </a:r>
                      <a:endParaRPr sz="900">
                        <a:latin typeface="Lexend"/>
                        <a:ea typeface="Lexend"/>
                        <a:cs typeface="Lexend"/>
                        <a:sym typeface="Lexend"/>
                      </a:endParaRPr>
                    </a:p>
                  </a:txBody>
                  <a:tcPr marL="28575" marR="28575" marT="19050" marB="19050" anchor="ctr">
                    <a:lnL w="12700" cap="flat" cmpd="sng">
                      <a:solidFill>
                        <a:srgbClr val="000000"/>
                      </a:solidFill>
                      <a:prstDash val="dot"/>
                      <a:round/>
                      <a:headEnd type="none" w="sm" len="sm"/>
                      <a:tailEnd type="none" w="sm" len="sm"/>
                    </a:lnL>
                    <a:lnR w="12700" cap="flat" cmpd="sng">
                      <a:solidFill>
                        <a:srgbClr val="000000"/>
                      </a:solidFill>
                      <a:prstDash val="dot"/>
                      <a:round/>
                      <a:headEnd type="none" w="sm" len="sm"/>
                      <a:tailEnd type="none" w="sm" len="sm"/>
                    </a:lnR>
                    <a:lnT w="12700" cap="flat" cmpd="sng">
                      <a:solidFill>
                        <a:srgbClr val="000000"/>
                      </a:solidFill>
                      <a:prstDash val="dot"/>
                      <a:round/>
                      <a:headEnd type="none" w="sm" len="sm"/>
                      <a:tailEnd type="none" w="sm" len="sm"/>
                    </a:lnT>
                    <a:lnB w="12700" cap="flat" cmpd="sng">
                      <a:solidFill>
                        <a:srgbClr val="000000"/>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900">
                          <a:latin typeface="Lexend"/>
                          <a:ea typeface="Lexend"/>
                          <a:cs typeface="Lexend"/>
                          <a:sym typeface="Lexend"/>
                        </a:rPr>
                        <a:t>4,956</a:t>
                      </a:r>
                      <a:endParaRPr sz="900">
                        <a:latin typeface="Lexend"/>
                        <a:ea typeface="Lexend"/>
                        <a:cs typeface="Lexend"/>
                        <a:sym typeface="Lexend"/>
                      </a:endParaRPr>
                    </a:p>
                  </a:txBody>
                  <a:tcPr marL="28575" marR="28575" marT="19050" marB="19050" anchor="ctr">
                    <a:lnL w="12700" cap="flat" cmpd="sng">
                      <a:solidFill>
                        <a:srgbClr val="000000"/>
                      </a:solidFill>
                      <a:prstDash val="dot"/>
                      <a:round/>
                      <a:headEnd type="none" w="sm" len="sm"/>
                      <a:tailEnd type="none" w="sm" len="sm"/>
                    </a:lnL>
                    <a:lnR w="12700" cap="flat" cmpd="sng">
                      <a:solidFill>
                        <a:srgbClr val="000000"/>
                      </a:solidFill>
                      <a:prstDash val="dot"/>
                      <a:round/>
                      <a:headEnd type="none" w="sm" len="sm"/>
                      <a:tailEnd type="none" w="sm" len="sm"/>
                    </a:lnR>
                    <a:lnT w="12700" cap="flat" cmpd="sng">
                      <a:solidFill>
                        <a:srgbClr val="000000"/>
                      </a:solidFill>
                      <a:prstDash val="dot"/>
                      <a:round/>
                      <a:headEnd type="none" w="sm" len="sm"/>
                      <a:tailEnd type="none" w="sm" len="sm"/>
                    </a:lnT>
                    <a:lnB w="12700" cap="flat" cmpd="sng">
                      <a:solidFill>
                        <a:srgbClr val="000000"/>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900">
                          <a:latin typeface="Lexend"/>
                          <a:ea typeface="Lexend"/>
                          <a:cs typeface="Lexend"/>
                          <a:sym typeface="Lexend"/>
                        </a:rPr>
                        <a:t>70.39%</a:t>
                      </a:r>
                      <a:endParaRPr sz="900">
                        <a:latin typeface="Lexend"/>
                        <a:ea typeface="Lexend"/>
                        <a:cs typeface="Lexend"/>
                        <a:sym typeface="Lexend"/>
                      </a:endParaRPr>
                    </a:p>
                  </a:txBody>
                  <a:tcPr marL="28575" marR="28575" marT="19050" marB="19050" anchor="ctr">
                    <a:lnL w="12700" cap="flat" cmpd="sng">
                      <a:solidFill>
                        <a:srgbClr val="000000"/>
                      </a:solidFill>
                      <a:prstDash val="dot"/>
                      <a:round/>
                      <a:headEnd type="none" w="sm" len="sm"/>
                      <a:tailEnd type="none" w="sm" len="sm"/>
                    </a:lnL>
                    <a:lnR w="12700" cap="flat" cmpd="sng">
                      <a:solidFill>
                        <a:srgbClr val="000000"/>
                      </a:solidFill>
                      <a:prstDash val="dot"/>
                      <a:round/>
                      <a:headEnd type="none" w="sm" len="sm"/>
                      <a:tailEnd type="none" w="sm" len="sm"/>
                    </a:lnR>
                    <a:lnT w="12700" cap="flat" cmpd="sng">
                      <a:solidFill>
                        <a:srgbClr val="000000"/>
                      </a:solidFill>
                      <a:prstDash val="dot"/>
                      <a:round/>
                      <a:headEnd type="none" w="sm" len="sm"/>
                      <a:tailEnd type="none" w="sm" len="sm"/>
                    </a:lnT>
                    <a:lnB w="12700" cap="flat" cmpd="sng">
                      <a:solidFill>
                        <a:srgbClr val="000000"/>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900" b="1">
                          <a:solidFill>
                            <a:srgbClr val="CC0000"/>
                          </a:solidFill>
                          <a:latin typeface="Lexend"/>
                          <a:ea typeface="Lexend"/>
                          <a:cs typeface="Lexend"/>
                          <a:sym typeface="Lexend"/>
                        </a:rPr>
                        <a:t>-0.35%</a:t>
                      </a:r>
                      <a:endParaRPr sz="900" b="1">
                        <a:solidFill>
                          <a:srgbClr val="CC0000"/>
                        </a:solidFill>
                        <a:latin typeface="Lexend"/>
                        <a:ea typeface="Lexend"/>
                        <a:cs typeface="Lexend"/>
                        <a:sym typeface="Lexend"/>
                      </a:endParaRPr>
                    </a:p>
                  </a:txBody>
                  <a:tcPr marL="28575" marR="28575" marT="19050" marB="19050" anchor="ctr">
                    <a:lnL w="12700" cap="flat" cmpd="sng">
                      <a:solidFill>
                        <a:srgbClr val="000000"/>
                      </a:solidFill>
                      <a:prstDash val="dot"/>
                      <a:round/>
                      <a:headEnd type="none" w="sm" len="sm"/>
                      <a:tailEnd type="none" w="sm" len="sm"/>
                    </a:lnL>
                    <a:lnR w="12700" cap="flat" cmpd="sng">
                      <a:solidFill>
                        <a:srgbClr val="000000"/>
                      </a:solidFill>
                      <a:prstDash val="dot"/>
                      <a:round/>
                      <a:headEnd type="none" w="sm" len="sm"/>
                      <a:tailEnd type="none" w="sm" len="sm"/>
                    </a:lnR>
                    <a:lnT w="12700" cap="flat" cmpd="sng">
                      <a:solidFill>
                        <a:srgbClr val="000000"/>
                      </a:solidFill>
                      <a:prstDash val="dot"/>
                      <a:round/>
                      <a:headEnd type="none" w="sm" len="sm"/>
                      <a:tailEnd type="none" w="sm" len="sm"/>
                    </a:lnT>
                    <a:lnB w="12700" cap="flat" cmpd="sng">
                      <a:solidFill>
                        <a:srgbClr val="000000"/>
                      </a:solidFill>
                      <a:prstDash val="dot"/>
                      <a:round/>
                      <a:headEnd type="none" w="sm" len="sm"/>
                      <a:tailEnd type="none" w="sm" len="sm"/>
                    </a:lnB>
                    <a:solidFill>
                      <a:srgbClr val="F4CCCC"/>
                    </a:solidFill>
                  </a:tcPr>
                </a:tc>
                <a:tc>
                  <a:txBody>
                    <a:bodyPr/>
                    <a:lstStyle/>
                    <a:p>
                      <a:pPr marL="0" lvl="0" indent="0" algn="ctr" rtl="0">
                        <a:lnSpc>
                          <a:spcPct val="115000"/>
                        </a:lnSpc>
                        <a:spcBef>
                          <a:spcPts val="0"/>
                        </a:spcBef>
                        <a:spcAft>
                          <a:spcPts val="0"/>
                        </a:spcAft>
                        <a:buNone/>
                      </a:pPr>
                      <a:r>
                        <a:rPr lang="en" sz="900" b="1">
                          <a:solidFill>
                            <a:srgbClr val="38761D"/>
                          </a:solidFill>
                          <a:latin typeface="Lexend"/>
                          <a:ea typeface="Lexend"/>
                          <a:cs typeface="Lexend"/>
                          <a:sym typeface="Lexend"/>
                        </a:rPr>
                        <a:t>0.82%</a:t>
                      </a:r>
                      <a:endParaRPr sz="900" b="1">
                        <a:solidFill>
                          <a:srgbClr val="38761D"/>
                        </a:solidFill>
                        <a:latin typeface="Lexend"/>
                        <a:ea typeface="Lexend"/>
                        <a:cs typeface="Lexend"/>
                        <a:sym typeface="Lexend"/>
                      </a:endParaRPr>
                    </a:p>
                  </a:txBody>
                  <a:tcPr marL="28575" marR="28575" marT="19050" marB="19050" anchor="ctr">
                    <a:lnL w="12700" cap="flat" cmpd="sng">
                      <a:solidFill>
                        <a:srgbClr val="000000"/>
                      </a:solidFill>
                      <a:prstDash val="dot"/>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dot"/>
                      <a:round/>
                      <a:headEnd type="none" w="sm" len="sm"/>
                      <a:tailEnd type="none" w="sm" len="sm"/>
                    </a:lnT>
                    <a:lnB w="12700" cap="flat" cmpd="sng">
                      <a:solidFill>
                        <a:srgbClr val="000000"/>
                      </a:solidFill>
                      <a:prstDash val="dot"/>
                      <a:round/>
                      <a:headEnd type="none" w="sm" len="sm"/>
                      <a:tailEnd type="none" w="sm" len="sm"/>
                    </a:lnB>
                    <a:solidFill>
                      <a:srgbClr val="D9EAD3"/>
                    </a:solidFill>
                  </a:tcPr>
                </a:tc>
                <a:extLst>
                  <a:ext uri="{0D108BD9-81ED-4DB2-BD59-A6C34878D82A}">
                    <a16:rowId xmlns:a16="http://schemas.microsoft.com/office/drawing/2014/main" val="10002"/>
                  </a:ext>
                </a:extLst>
              </a:tr>
              <a:tr h="200025">
                <a:tc>
                  <a:txBody>
                    <a:bodyPr/>
                    <a:lstStyle/>
                    <a:p>
                      <a:pPr marL="0" lvl="0" indent="0" algn="ctr" rtl="0">
                        <a:lnSpc>
                          <a:spcPct val="115000"/>
                        </a:lnSpc>
                        <a:spcBef>
                          <a:spcPts val="0"/>
                        </a:spcBef>
                        <a:spcAft>
                          <a:spcPts val="0"/>
                        </a:spcAft>
                        <a:buNone/>
                      </a:pPr>
                      <a:r>
                        <a:rPr lang="en" sz="900">
                          <a:latin typeface="Lexend"/>
                          <a:ea typeface="Lexend"/>
                          <a:cs typeface="Lexend"/>
                          <a:sym typeface="Lexend"/>
                        </a:rPr>
                        <a:t>NLM</a:t>
                      </a:r>
                      <a:endParaRPr sz="900">
                        <a:latin typeface="Lexend"/>
                        <a:ea typeface="Lexend"/>
                        <a:cs typeface="Lexend"/>
                        <a:sym typeface="Lexend"/>
                      </a:endParaRPr>
                    </a:p>
                  </a:txBody>
                  <a:tcPr marL="28575" marR="28575" marT="19050" marB="19050" anchor="ctr">
                    <a:lnL w="12700" cap="flat" cmpd="sng">
                      <a:solidFill>
                        <a:srgbClr val="000000"/>
                      </a:solidFill>
                      <a:prstDash val="solid"/>
                      <a:round/>
                      <a:headEnd type="none" w="sm" len="sm"/>
                      <a:tailEnd type="none" w="sm" len="sm"/>
                    </a:lnL>
                    <a:lnR w="12700" cap="flat" cmpd="sng">
                      <a:solidFill>
                        <a:srgbClr val="000000"/>
                      </a:solidFill>
                      <a:prstDash val="dot"/>
                      <a:round/>
                      <a:headEnd type="none" w="sm" len="sm"/>
                      <a:tailEnd type="none" w="sm" len="sm"/>
                    </a:lnR>
                    <a:lnT w="12700" cap="flat" cmpd="sng">
                      <a:solidFill>
                        <a:srgbClr val="000000"/>
                      </a:solidFill>
                      <a:prstDash val="dot"/>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900">
                          <a:latin typeface="Lexend"/>
                          <a:ea typeface="Lexend"/>
                          <a:cs typeface="Lexend"/>
                          <a:sym typeface="Lexend"/>
                        </a:rPr>
                        <a:t>854</a:t>
                      </a:r>
                      <a:endParaRPr sz="900">
                        <a:latin typeface="Lexend"/>
                        <a:ea typeface="Lexend"/>
                        <a:cs typeface="Lexend"/>
                        <a:sym typeface="Lexend"/>
                      </a:endParaRPr>
                    </a:p>
                  </a:txBody>
                  <a:tcPr marL="28575" marR="28575" marT="19050" marB="19050" anchor="ctr">
                    <a:lnL w="12700" cap="flat" cmpd="sng">
                      <a:solidFill>
                        <a:srgbClr val="000000"/>
                      </a:solidFill>
                      <a:prstDash val="dot"/>
                      <a:round/>
                      <a:headEnd type="none" w="sm" len="sm"/>
                      <a:tailEnd type="none" w="sm" len="sm"/>
                    </a:lnL>
                    <a:lnR w="12700" cap="flat" cmpd="sng">
                      <a:solidFill>
                        <a:srgbClr val="000000"/>
                      </a:solidFill>
                      <a:prstDash val="dot"/>
                      <a:round/>
                      <a:headEnd type="none" w="sm" len="sm"/>
                      <a:tailEnd type="none" w="sm" len="sm"/>
                    </a:lnR>
                    <a:lnT w="12700" cap="flat" cmpd="sng">
                      <a:solidFill>
                        <a:srgbClr val="000000"/>
                      </a:solidFill>
                      <a:prstDash val="dot"/>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900">
                          <a:latin typeface="Lexend"/>
                          <a:ea typeface="Lexend"/>
                          <a:cs typeface="Lexend"/>
                          <a:sym typeface="Lexend"/>
                        </a:rPr>
                        <a:t>587</a:t>
                      </a:r>
                      <a:endParaRPr sz="900">
                        <a:latin typeface="Lexend"/>
                        <a:ea typeface="Lexend"/>
                        <a:cs typeface="Lexend"/>
                        <a:sym typeface="Lexend"/>
                      </a:endParaRPr>
                    </a:p>
                  </a:txBody>
                  <a:tcPr marL="28575" marR="28575" marT="19050" marB="19050" anchor="ctr">
                    <a:lnL w="12700" cap="flat" cmpd="sng">
                      <a:solidFill>
                        <a:srgbClr val="000000"/>
                      </a:solidFill>
                      <a:prstDash val="dot"/>
                      <a:round/>
                      <a:headEnd type="none" w="sm" len="sm"/>
                      <a:tailEnd type="none" w="sm" len="sm"/>
                    </a:lnL>
                    <a:lnR w="12700" cap="flat" cmpd="sng">
                      <a:solidFill>
                        <a:srgbClr val="000000"/>
                      </a:solidFill>
                      <a:prstDash val="dot"/>
                      <a:round/>
                      <a:headEnd type="none" w="sm" len="sm"/>
                      <a:tailEnd type="none" w="sm" len="sm"/>
                    </a:lnR>
                    <a:lnT w="12700" cap="flat" cmpd="sng">
                      <a:solidFill>
                        <a:srgbClr val="000000"/>
                      </a:solidFill>
                      <a:prstDash val="dot"/>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900">
                          <a:latin typeface="Lexend"/>
                          <a:ea typeface="Lexend"/>
                          <a:cs typeface="Lexend"/>
                          <a:sym typeface="Lexend"/>
                        </a:rPr>
                        <a:t>68.74%</a:t>
                      </a:r>
                      <a:endParaRPr sz="900">
                        <a:latin typeface="Lexend"/>
                        <a:ea typeface="Lexend"/>
                        <a:cs typeface="Lexend"/>
                        <a:sym typeface="Lexend"/>
                      </a:endParaRPr>
                    </a:p>
                  </a:txBody>
                  <a:tcPr marL="28575" marR="28575" marT="19050" marB="19050" anchor="ctr">
                    <a:lnL w="12700" cap="flat" cmpd="sng">
                      <a:solidFill>
                        <a:srgbClr val="000000"/>
                      </a:solidFill>
                      <a:prstDash val="dot"/>
                      <a:round/>
                      <a:headEnd type="none" w="sm" len="sm"/>
                      <a:tailEnd type="none" w="sm" len="sm"/>
                    </a:lnL>
                    <a:lnR w="12700" cap="flat" cmpd="sng">
                      <a:solidFill>
                        <a:srgbClr val="000000"/>
                      </a:solidFill>
                      <a:prstDash val="dot"/>
                      <a:round/>
                      <a:headEnd type="none" w="sm" len="sm"/>
                      <a:tailEnd type="none" w="sm" len="sm"/>
                    </a:lnR>
                    <a:lnT w="12700" cap="flat" cmpd="sng">
                      <a:solidFill>
                        <a:srgbClr val="000000"/>
                      </a:solidFill>
                      <a:prstDash val="dot"/>
                      <a:round/>
                      <a:headEnd type="none" w="sm" len="sm"/>
                      <a:tailEnd type="none" w="sm" len="sm"/>
                    </a:lnT>
                    <a:lnB w="1270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900" b="1">
                          <a:solidFill>
                            <a:srgbClr val="38761D"/>
                          </a:solidFill>
                          <a:latin typeface="Lexend"/>
                          <a:ea typeface="Lexend"/>
                          <a:cs typeface="Lexend"/>
                          <a:sym typeface="Lexend"/>
                        </a:rPr>
                        <a:t>3.68%</a:t>
                      </a:r>
                      <a:endParaRPr sz="900" b="1">
                        <a:solidFill>
                          <a:srgbClr val="38761D"/>
                        </a:solidFill>
                        <a:latin typeface="Lexend"/>
                        <a:ea typeface="Lexend"/>
                        <a:cs typeface="Lexend"/>
                        <a:sym typeface="Lexend"/>
                      </a:endParaRPr>
                    </a:p>
                  </a:txBody>
                  <a:tcPr marL="28575" marR="28575" marT="19050" marB="19050" anchor="ctr">
                    <a:lnL w="12700" cap="flat" cmpd="sng">
                      <a:solidFill>
                        <a:srgbClr val="000000"/>
                      </a:solidFill>
                      <a:prstDash val="dot"/>
                      <a:round/>
                      <a:headEnd type="none" w="sm" len="sm"/>
                      <a:tailEnd type="none" w="sm" len="sm"/>
                    </a:lnL>
                    <a:lnR w="12700" cap="flat" cmpd="sng">
                      <a:solidFill>
                        <a:srgbClr val="000000"/>
                      </a:solidFill>
                      <a:prstDash val="dot"/>
                      <a:round/>
                      <a:headEnd type="none" w="sm" len="sm"/>
                      <a:tailEnd type="none" w="sm" len="sm"/>
                    </a:lnR>
                    <a:lnT w="12700" cap="flat" cmpd="sng">
                      <a:solidFill>
                        <a:srgbClr val="000000"/>
                      </a:solidFill>
                      <a:prstDash val="dot"/>
                      <a:round/>
                      <a:headEnd type="none" w="sm" len="sm"/>
                      <a:tailEnd type="none" w="sm" len="sm"/>
                    </a:lnT>
                    <a:lnB w="12700" cap="flat" cmpd="sng">
                      <a:solidFill>
                        <a:srgbClr val="000000"/>
                      </a:solidFill>
                      <a:prstDash val="solid"/>
                      <a:round/>
                      <a:headEnd type="none" w="sm" len="sm"/>
                      <a:tailEnd type="none" w="sm" len="sm"/>
                    </a:lnB>
                    <a:solidFill>
                      <a:srgbClr val="D9EAD3"/>
                    </a:solidFill>
                  </a:tcPr>
                </a:tc>
                <a:tc>
                  <a:txBody>
                    <a:bodyPr/>
                    <a:lstStyle/>
                    <a:p>
                      <a:pPr marL="0" lvl="0" indent="0" algn="ctr" rtl="0">
                        <a:lnSpc>
                          <a:spcPct val="115000"/>
                        </a:lnSpc>
                        <a:spcBef>
                          <a:spcPts val="0"/>
                        </a:spcBef>
                        <a:spcAft>
                          <a:spcPts val="0"/>
                        </a:spcAft>
                        <a:buNone/>
                      </a:pPr>
                      <a:r>
                        <a:rPr lang="en" sz="900" b="1">
                          <a:solidFill>
                            <a:srgbClr val="CC0000"/>
                          </a:solidFill>
                          <a:latin typeface="Lexend"/>
                          <a:ea typeface="Lexend"/>
                          <a:cs typeface="Lexend"/>
                          <a:sym typeface="Lexend"/>
                        </a:rPr>
                        <a:t>-6.08%</a:t>
                      </a:r>
                      <a:endParaRPr sz="900" b="1">
                        <a:solidFill>
                          <a:srgbClr val="CC0000"/>
                        </a:solidFill>
                        <a:latin typeface="Lexend"/>
                        <a:ea typeface="Lexend"/>
                        <a:cs typeface="Lexend"/>
                        <a:sym typeface="Lexend"/>
                      </a:endParaRPr>
                    </a:p>
                  </a:txBody>
                  <a:tcPr marL="28575" marR="28575" marT="19050" marB="19050" anchor="ctr">
                    <a:lnL w="12700" cap="flat" cmpd="sng">
                      <a:solidFill>
                        <a:srgbClr val="000000"/>
                      </a:solidFill>
                      <a:prstDash val="dot"/>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dot"/>
                      <a:round/>
                      <a:headEnd type="none" w="sm" len="sm"/>
                      <a:tailEnd type="none" w="sm" len="sm"/>
                    </a:lnT>
                    <a:lnB w="12700" cap="flat" cmpd="sng">
                      <a:solidFill>
                        <a:srgbClr val="000000"/>
                      </a:solidFill>
                      <a:prstDash val="solid"/>
                      <a:round/>
                      <a:headEnd type="none" w="sm" len="sm"/>
                      <a:tailEnd type="none" w="sm" len="sm"/>
                    </a:lnB>
                    <a:solidFill>
                      <a:srgbClr val="F4CCCC"/>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193"/>
        <p:cNvGrpSpPr/>
        <p:nvPr/>
      </p:nvGrpSpPr>
      <p:grpSpPr>
        <a:xfrm>
          <a:off x="0" y="0"/>
          <a:ext cx="0" cy="0"/>
          <a:chOff x="0" y="0"/>
          <a:chExt cx="0" cy="0"/>
        </a:xfrm>
      </p:grpSpPr>
      <p:sp>
        <p:nvSpPr>
          <p:cNvPr id="194" name="Google Shape;194;p36"/>
          <p:cNvSpPr/>
          <p:nvPr/>
        </p:nvSpPr>
        <p:spPr>
          <a:xfrm>
            <a:off x="0" y="0"/>
            <a:ext cx="9144000" cy="73200"/>
          </a:xfrm>
          <a:prstGeom prst="rect">
            <a:avLst/>
          </a:prstGeom>
          <a:solidFill>
            <a:srgbClr val="FF7F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95" name="Google Shape;195;p36" descr="preencoded.png"/>
          <p:cNvPicPr preferRelativeResize="0"/>
          <p:nvPr/>
        </p:nvPicPr>
        <p:blipFill rotWithShape="1">
          <a:blip r:embed="rId3">
            <a:alphaModFix/>
          </a:blip>
          <a:srcRect/>
          <a:stretch/>
        </p:blipFill>
        <p:spPr>
          <a:xfrm>
            <a:off x="365760" y="274320"/>
            <a:ext cx="274320" cy="274320"/>
          </a:xfrm>
          <a:prstGeom prst="rect">
            <a:avLst/>
          </a:prstGeom>
          <a:noFill/>
          <a:ln>
            <a:noFill/>
          </a:ln>
        </p:spPr>
      </p:pic>
      <p:sp>
        <p:nvSpPr>
          <p:cNvPr id="196" name="Google Shape;196;p36"/>
          <p:cNvSpPr/>
          <p:nvPr/>
        </p:nvSpPr>
        <p:spPr>
          <a:xfrm>
            <a:off x="731520" y="201168"/>
            <a:ext cx="7315200" cy="411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E4174"/>
              </a:buClr>
              <a:buSzPts val="2200"/>
              <a:buFont typeface="Calibri"/>
              <a:buNone/>
            </a:pPr>
            <a:r>
              <a:rPr lang="en" sz="2200" b="1" i="0" u="none" strike="noStrike" cap="none">
                <a:solidFill>
                  <a:srgbClr val="0E4174"/>
                </a:solidFill>
                <a:latin typeface="Lexend"/>
                <a:ea typeface="Lexend"/>
                <a:cs typeface="Lexend"/>
                <a:sym typeface="Lexend"/>
              </a:rPr>
              <a:t>Retention </a:t>
            </a:r>
            <a:r>
              <a:rPr lang="en" sz="2200" b="1">
                <a:solidFill>
                  <a:srgbClr val="0E4174"/>
                </a:solidFill>
                <a:latin typeface="Lexend"/>
                <a:ea typeface="Lexend"/>
                <a:cs typeface="Lexend"/>
                <a:sym typeface="Lexend"/>
              </a:rPr>
              <a:t>Rate - </a:t>
            </a:r>
            <a:r>
              <a:rPr lang="en" sz="2200" b="1">
                <a:solidFill>
                  <a:srgbClr val="F56C1F"/>
                </a:solidFill>
                <a:latin typeface="Lexend"/>
                <a:ea typeface="Lexend"/>
                <a:cs typeface="Lexend"/>
                <a:sym typeface="Lexend"/>
              </a:rPr>
              <a:t>SGN</a:t>
            </a:r>
            <a:endParaRPr sz="2200" b="1" i="0" u="none" strike="noStrike" cap="none">
              <a:solidFill>
                <a:srgbClr val="F56C1F"/>
              </a:solidFill>
              <a:latin typeface="Lexend"/>
              <a:ea typeface="Lexend"/>
              <a:cs typeface="Lexend"/>
              <a:sym typeface="Lexend"/>
            </a:endParaRPr>
          </a:p>
        </p:txBody>
      </p:sp>
      <p:sp>
        <p:nvSpPr>
          <p:cNvPr id="197" name="Google Shape;197;p36"/>
          <p:cNvSpPr/>
          <p:nvPr/>
        </p:nvSpPr>
        <p:spPr>
          <a:xfrm>
            <a:off x="731520" y="594360"/>
            <a:ext cx="7315200" cy="274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1000"/>
              <a:buFont typeface="Calibri"/>
              <a:buNone/>
            </a:pPr>
            <a:r>
              <a:rPr lang="en" sz="1000" i="1" u="none" strike="noStrike" cap="none">
                <a:solidFill>
                  <a:srgbClr val="64748B"/>
                </a:solidFill>
                <a:latin typeface="Lexend"/>
                <a:ea typeface="Lexend"/>
                <a:cs typeface="Lexend"/>
                <a:sym typeface="Lexend"/>
              </a:rPr>
              <a:t>Tỷ lệ giữ chân tài xế</a:t>
            </a:r>
            <a:r>
              <a:rPr lang="en" sz="1000" i="1">
                <a:solidFill>
                  <a:srgbClr val="64748B"/>
                </a:solidFill>
                <a:latin typeface="Lexend"/>
                <a:ea typeface="Lexend"/>
                <a:cs typeface="Lexend"/>
                <a:sym typeface="Lexend"/>
              </a:rPr>
              <a:t> &gt;=22t </a:t>
            </a:r>
            <a:r>
              <a:rPr lang="en" sz="1000" i="1" u="none" strike="noStrike" cap="none">
                <a:solidFill>
                  <a:srgbClr val="64748B"/>
                </a:solidFill>
                <a:latin typeface="Lexend"/>
                <a:ea typeface="Lexend"/>
                <a:cs typeface="Lexend"/>
                <a:sym typeface="Lexend"/>
              </a:rPr>
              <a:t>— Bóc tách biến động theo thời điểm &amp; segment</a:t>
            </a:r>
            <a:endParaRPr sz="1000" i="0" u="none" strike="noStrike" cap="none">
              <a:solidFill>
                <a:schemeClr val="dk1"/>
              </a:solidFill>
              <a:latin typeface="Lexend"/>
              <a:ea typeface="Lexend"/>
              <a:cs typeface="Lexend"/>
              <a:sym typeface="Lexend"/>
            </a:endParaRPr>
          </a:p>
        </p:txBody>
      </p:sp>
      <p:cxnSp>
        <p:nvCxnSpPr>
          <p:cNvPr id="198" name="Google Shape;198;p36"/>
          <p:cNvCxnSpPr/>
          <p:nvPr/>
        </p:nvCxnSpPr>
        <p:spPr>
          <a:xfrm>
            <a:off x="365760" y="868680"/>
            <a:ext cx="8412600" cy="0"/>
          </a:xfrm>
          <a:prstGeom prst="straightConnector1">
            <a:avLst/>
          </a:prstGeom>
          <a:noFill/>
          <a:ln w="9525" cap="flat" cmpd="sng">
            <a:solidFill>
              <a:srgbClr val="E2E8F0"/>
            </a:solidFill>
            <a:prstDash val="solid"/>
            <a:round/>
            <a:headEnd type="none" w="sm" len="sm"/>
            <a:tailEnd type="none" w="sm" len="sm"/>
          </a:ln>
        </p:spPr>
      </p:cxnSp>
      <p:sp>
        <p:nvSpPr>
          <p:cNvPr id="199" name="Google Shape;199;p36"/>
          <p:cNvSpPr/>
          <p:nvPr/>
        </p:nvSpPr>
        <p:spPr>
          <a:xfrm>
            <a:off x="365760" y="933195"/>
            <a:ext cx="4846200" cy="2286000"/>
          </a:xfrm>
          <a:prstGeom prst="rect">
            <a:avLst/>
          </a:prstGeom>
          <a:solidFill>
            <a:srgbClr val="FFFFFF"/>
          </a:solidFill>
          <a:ln w="9525" cap="flat" cmpd="sng">
            <a:solidFill>
              <a:srgbClr val="E2E8F0"/>
            </a:solidFill>
            <a:prstDash val="solid"/>
            <a:round/>
            <a:headEnd type="none" w="sm" len="sm"/>
            <a:tailEnd type="none" w="sm" len="sm"/>
          </a:ln>
          <a:effectLst>
            <a:outerShdw blurRad="76200" dist="25400" dir="8100000" algn="bl" rotWithShape="0">
              <a:srgbClr val="000000">
                <a:alpha val="102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36"/>
          <p:cNvSpPr/>
          <p:nvPr/>
        </p:nvSpPr>
        <p:spPr>
          <a:xfrm>
            <a:off x="365750" y="3951475"/>
            <a:ext cx="8412600" cy="1123500"/>
          </a:xfrm>
          <a:prstGeom prst="rect">
            <a:avLst/>
          </a:prstGeom>
          <a:solidFill>
            <a:srgbClr val="FFFFFF"/>
          </a:solidFill>
          <a:ln w="9525" cap="flat" cmpd="sng">
            <a:solidFill>
              <a:srgbClr val="E2E8F0"/>
            </a:solidFill>
            <a:prstDash val="solid"/>
            <a:round/>
            <a:headEnd type="none" w="sm" len="sm"/>
            <a:tailEnd type="none" w="sm" len="sm"/>
          </a:ln>
          <a:effectLst>
            <a:outerShdw blurRad="76200" dist="25400" dir="8100000" algn="bl" rotWithShape="0">
              <a:srgbClr val="000000">
                <a:alpha val="102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36"/>
          <p:cNvSpPr/>
          <p:nvPr/>
        </p:nvSpPr>
        <p:spPr>
          <a:xfrm>
            <a:off x="365750" y="4007100"/>
            <a:ext cx="54900" cy="1068000"/>
          </a:xfrm>
          <a:prstGeom prst="rect">
            <a:avLst/>
          </a:prstGeom>
          <a:solidFill>
            <a:srgbClr val="EF44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02" name="Google Shape;202;p36" descr="preencoded.png"/>
          <p:cNvPicPr preferRelativeResize="0"/>
          <p:nvPr/>
        </p:nvPicPr>
        <p:blipFill rotWithShape="1">
          <a:blip r:embed="rId4">
            <a:alphaModFix/>
          </a:blip>
          <a:srcRect/>
          <a:stretch/>
        </p:blipFill>
        <p:spPr>
          <a:xfrm>
            <a:off x="560525" y="4075451"/>
            <a:ext cx="201633" cy="188365"/>
          </a:xfrm>
          <a:prstGeom prst="rect">
            <a:avLst/>
          </a:prstGeom>
          <a:noFill/>
          <a:ln>
            <a:noFill/>
          </a:ln>
        </p:spPr>
      </p:pic>
      <p:sp>
        <p:nvSpPr>
          <p:cNvPr id="203" name="Google Shape;203;p36"/>
          <p:cNvSpPr/>
          <p:nvPr/>
        </p:nvSpPr>
        <p:spPr>
          <a:xfrm>
            <a:off x="804663" y="4032729"/>
            <a:ext cx="2743200" cy="2391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F4444"/>
              </a:buClr>
              <a:buSzPts val="1100"/>
              <a:buFont typeface="Calibri"/>
              <a:buNone/>
            </a:pPr>
            <a:r>
              <a:rPr lang="en" sz="1100" i="0" u="none" strike="noStrike" cap="none">
                <a:solidFill>
                  <a:srgbClr val="EF4444"/>
                </a:solidFill>
                <a:latin typeface="Lexend"/>
                <a:ea typeface="Lexend"/>
                <a:cs typeface="Lexend"/>
                <a:sym typeface="Lexend"/>
              </a:rPr>
              <a:t>ROOT CAUSE ANALYSIS</a:t>
            </a:r>
            <a:endParaRPr sz="1100" i="0" u="none" strike="noStrike" cap="none">
              <a:solidFill>
                <a:schemeClr val="dk1"/>
              </a:solidFill>
              <a:latin typeface="Lexend"/>
              <a:ea typeface="Lexend"/>
              <a:cs typeface="Lexend"/>
              <a:sym typeface="Lexend"/>
            </a:endParaRPr>
          </a:p>
        </p:txBody>
      </p:sp>
      <p:sp>
        <p:nvSpPr>
          <p:cNvPr id="204" name="Google Shape;204;p36"/>
          <p:cNvSpPr/>
          <p:nvPr/>
        </p:nvSpPr>
        <p:spPr>
          <a:xfrm>
            <a:off x="548625" y="4263902"/>
            <a:ext cx="8046600" cy="783600"/>
          </a:xfrm>
          <a:prstGeom prst="rect">
            <a:avLst/>
          </a:prstGeom>
          <a:noFill/>
          <a:ln>
            <a:noFill/>
          </a:ln>
        </p:spPr>
        <p:txBody>
          <a:bodyPr spcFirstLastPara="1" wrap="square" lIns="0" tIns="0" rIns="0" bIns="0" anchor="ctr" anchorCtr="0">
            <a:noAutofit/>
          </a:bodyPr>
          <a:lstStyle/>
          <a:p>
            <a:pPr marL="0" marR="0" lvl="0" indent="0" algn="l" rtl="0">
              <a:spcBef>
                <a:spcPts val="300"/>
              </a:spcBef>
              <a:spcAft>
                <a:spcPts val="0"/>
              </a:spcAft>
              <a:buNone/>
            </a:pPr>
            <a:r>
              <a:rPr lang="en" sz="900">
                <a:solidFill>
                  <a:srgbClr val="1E293B"/>
                </a:solidFill>
                <a:latin typeface="Lexend"/>
                <a:ea typeface="Lexend"/>
                <a:cs typeface="Lexend"/>
                <a:sym typeface="Lexend"/>
              </a:rPr>
              <a:t>- RR hụt MoM, YoY. Hụt mạnh nhất ở nhóm NLM</a:t>
            </a:r>
            <a:endParaRPr sz="900">
              <a:solidFill>
                <a:srgbClr val="1E293B"/>
              </a:solidFill>
              <a:latin typeface="Lexend"/>
              <a:ea typeface="Lexend"/>
              <a:cs typeface="Lexend"/>
              <a:sym typeface="Lexend"/>
            </a:endParaRPr>
          </a:p>
          <a:p>
            <a:pPr marL="0" marR="0" lvl="0" indent="0" algn="l" rtl="0">
              <a:spcBef>
                <a:spcPts val="300"/>
              </a:spcBef>
              <a:spcAft>
                <a:spcPts val="0"/>
              </a:spcAft>
              <a:buNone/>
            </a:pPr>
            <a:r>
              <a:rPr lang="en" sz="900" b="1">
                <a:solidFill>
                  <a:srgbClr val="1E293B"/>
                </a:solidFill>
                <a:latin typeface="Lexend"/>
                <a:ea typeface="Lexend"/>
                <a:cs typeface="Lexend"/>
                <a:sym typeface="Lexend"/>
              </a:rPr>
              <a:t>Next action:</a:t>
            </a:r>
            <a:endParaRPr sz="900" b="1">
              <a:solidFill>
                <a:srgbClr val="1E293B"/>
              </a:solidFill>
              <a:latin typeface="Lexend"/>
              <a:ea typeface="Lexend"/>
              <a:cs typeface="Lexend"/>
              <a:sym typeface="Lexend"/>
            </a:endParaRPr>
          </a:p>
          <a:p>
            <a:pPr marL="0" marR="0" lvl="0" indent="0" algn="l" rtl="0">
              <a:spcBef>
                <a:spcPts val="300"/>
              </a:spcBef>
              <a:spcAft>
                <a:spcPts val="0"/>
              </a:spcAft>
              <a:buNone/>
            </a:pPr>
            <a:r>
              <a:rPr lang="en" sz="900">
                <a:solidFill>
                  <a:srgbClr val="1E293B"/>
                </a:solidFill>
                <a:latin typeface="Lexend"/>
                <a:ea typeface="Lexend"/>
                <a:cs typeface="Lexend"/>
                <a:sym typeface="Lexend"/>
              </a:rPr>
              <a:t>- Work với GR để lên plan khảo sát nhóm tx churn tìm hiểu mục đích đăng ký app, lí do vì sao không tiếp tục hoạt động -&gt; tìm ra phương án hỗ trợ sớm</a:t>
            </a:r>
            <a:endParaRPr sz="900">
              <a:solidFill>
                <a:srgbClr val="1E293B"/>
              </a:solidFill>
              <a:latin typeface="Lexend"/>
              <a:ea typeface="Lexend"/>
              <a:cs typeface="Lexend"/>
              <a:sym typeface="Lexend"/>
            </a:endParaRPr>
          </a:p>
        </p:txBody>
      </p:sp>
      <p:sp>
        <p:nvSpPr>
          <p:cNvPr id="205" name="Google Shape;205;p36"/>
          <p:cNvSpPr/>
          <p:nvPr/>
        </p:nvSpPr>
        <p:spPr>
          <a:xfrm>
            <a:off x="5486395" y="45700"/>
            <a:ext cx="3657600" cy="27420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94A3B8"/>
              </a:buClr>
              <a:buSzPts val="700"/>
              <a:buFont typeface="Calibri"/>
              <a:buNone/>
            </a:pPr>
            <a:r>
              <a:rPr lang="en" sz="700" b="0" i="1" u="none" strike="noStrike" cap="none">
                <a:solidFill>
                  <a:srgbClr val="94A3B8"/>
                </a:solidFill>
                <a:latin typeface="Calibri"/>
                <a:ea typeface="Calibri"/>
                <a:cs typeface="Calibri"/>
                <a:sym typeface="Calibri"/>
              </a:rPr>
              <a:t>Ahamove — Driver Management | Confidential</a:t>
            </a:r>
            <a:endParaRPr sz="700" b="0" i="0" u="none" strike="noStrike" cap="none">
              <a:solidFill>
                <a:schemeClr val="dk1"/>
              </a:solidFill>
              <a:latin typeface="Calibri"/>
              <a:ea typeface="Calibri"/>
              <a:cs typeface="Calibri"/>
              <a:sym typeface="Calibri"/>
            </a:endParaRPr>
          </a:p>
        </p:txBody>
      </p:sp>
      <p:pic>
        <p:nvPicPr>
          <p:cNvPr id="206" name="Google Shape;206;p36" title="Biểu đồ"/>
          <p:cNvPicPr preferRelativeResize="0"/>
          <p:nvPr/>
        </p:nvPicPr>
        <p:blipFill>
          <a:blip r:embed="rId5">
            <a:alphaModFix/>
          </a:blip>
          <a:stretch>
            <a:fillRect/>
          </a:stretch>
        </p:blipFill>
        <p:spPr>
          <a:xfrm>
            <a:off x="367725" y="933185"/>
            <a:ext cx="4846198" cy="2356574"/>
          </a:xfrm>
          <a:prstGeom prst="rect">
            <a:avLst/>
          </a:prstGeom>
          <a:solidFill>
            <a:srgbClr val="FFFFFF"/>
          </a:solidFill>
          <a:ln w="9525" cap="flat" cmpd="sng">
            <a:solidFill>
              <a:srgbClr val="E2E8F0"/>
            </a:solidFill>
            <a:prstDash val="solid"/>
            <a:round/>
            <a:headEnd type="none" w="sm" len="sm"/>
            <a:tailEnd type="none" w="sm" len="sm"/>
          </a:ln>
        </p:spPr>
      </p:pic>
      <p:cxnSp>
        <p:nvCxnSpPr>
          <p:cNvPr id="207" name="Google Shape;207;p36"/>
          <p:cNvCxnSpPr/>
          <p:nvPr/>
        </p:nvCxnSpPr>
        <p:spPr>
          <a:xfrm flipH="1">
            <a:off x="2915425" y="1236001"/>
            <a:ext cx="7500" cy="1865100"/>
          </a:xfrm>
          <a:prstGeom prst="straightConnector1">
            <a:avLst/>
          </a:prstGeom>
          <a:noFill/>
          <a:ln w="9525" cap="flat" cmpd="sng">
            <a:solidFill>
              <a:schemeClr val="dk2"/>
            </a:solidFill>
            <a:prstDash val="dot"/>
            <a:round/>
            <a:headEnd type="none" w="med" len="med"/>
            <a:tailEnd type="none" w="med" len="med"/>
          </a:ln>
        </p:spPr>
      </p:cxnSp>
      <p:sp>
        <p:nvSpPr>
          <p:cNvPr id="208" name="Google Shape;208;p36"/>
          <p:cNvSpPr/>
          <p:nvPr/>
        </p:nvSpPr>
        <p:spPr>
          <a:xfrm>
            <a:off x="3022724" y="1866367"/>
            <a:ext cx="599100" cy="373200"/>
          </a:xfrm>
          <a:prstGeom prst="wedgeRoundRectCallout">
            <a:avLst>
              <a:gd name="adj1" fmla="val -62018"/>
              <a:gd name="adj2" fmla="val -116829"/>
              <a:gd name="adj3" fmla="val 0"/>
            </a:avLst>
          </a:prstGeom>
          <a:solidFill>
            <a:srgbClr val="63A7FF">
              <a:alpha val="49380"/>
            </a:srgbClr>
          </a:solidFill>
          <a:ln w="7000" cap="flat" cmpd="sng">
            <a:solidFill>
              <a:srgbClr val="D2E0F9"/>
            </a:solidFill>
            <a:prstDash val="solid"/>
            <a:round/>
            <a:headEnd type="none" w="sm" len="sm"/>
            <a:tailEnd type="none" w="sm" len="sm"/>
          </a:ln>
        </p:spPr>
        <p:txBody>
          <a:bodyPr spcFirstLastPara="1" wrap="square" lIns="67125" tIns="67125" rIns="67125" bIns="67125" anchor="ctr" anchorCtr="0">
            <a:noAutofit/>
          </a:bodyPr>
          <a:lstStyle/>
          <a:p>
            <a:pPr marL="0" lvl="0" indent="0" algn="ctr" rtl="0">
              <a:lnSpc>
                <a:spcPct val="115000"/>
              </a:lnSpc>
              <a:spcBef>
                <a:spcPts val="0"/>
              </a:spcBef>
              <a:spcAft>
                <a:spcPts val="0"/>
              </a:spcAft>
              <a:buNone/>
            </a:pPr>
            <a:r>
              <a:rPr lang="en" sz="867" b="1">
                <a:solidFill>
                  <a:srgbClr val="0B8043"/>
                </a:solidFill>
                <a:latin typeface="Lexend"/>
                <a:ea typeface="Lexend"/>
                <a:cs typeface="Lexend"/>
                <a:sym typeface="Lexend"/>
              </a:rPr>
              <a:t>76.13%</a:t>
            </a:r>
            <a:endParaRPr sz="867" b="1">
              <a:solidFill>
                <a:srgbClr val="0B8043"/>
              </a:solidFill>
              <a:latin typeface="Lexend"/>
              <a:ea typeface="Lexend"/>
              <a:cs typeface="Lexend"/>
              <a:sym typeface="Lexend"/>
            </a:endParaRPr>
          </a:p>
          <a:p>
            <a:pPr marL="0" lvl="0" indent="0" algn="ctr" rtl="0">
              <a:lnSpc>
                <a:spcPct val="115000"/>
              </a:lnSpc>
              <a:spcBef>
                <a:spcPts val="0"/>
              </a:spcBef>
              <a:spcAft>
                <a:spcPts val="0"/>
              </a:spcAft>
              <a:buNone/>
            </a:pPr>
            <a:r>
              <a:rPr lang="en" sz="567">
                <a:solidFill>
                  <a:srgbClr val="EF4444"/>
                </a:solidFill>
                <a:latin typeface="Lexend"/>
                <a:ea typeface="Lexend"/>
                <a:cs typeface="Lexend"/>
                <a:sym typeface="Lexend"/>
              </a:rPr>
              <a:t>-1.4% MoM</a:t>
            </a:r>
            <a:endParaRPr sz="567">
              <a:solidFill>
                <a:srgbClr val="EF4444"/>
              </a:solidFill>
              <a:latin typeface="Lexend"/>
              <a:ea typeface="Lexend"/>
              <a:cs typeface="Lexend"/>
              <a:sym typeface="Lexend"/>
            </a:endParaRPr>
          </a:p>
          <a:p>
            <a:pPr marL="0" lvl="0" indent="0" algn="ctr" rtl="0">
              <a:lnSpc>
                <a:spcPct val="115000"/>
              </a:lnSpc>
              <a:spcBef>
                <a:spcPts val="0"/>
              </a:spcBef>
              <a:spcAft>
                <a:spcPts val="0"/>
              </a:spcAft>
              <a:buNone/>
            </a:pPr>
            <a:r>
              <a:rPr lang="en" sz="567">
                <a:solidFill>
                  <a:srgbClr val="EF4444"/>
                </a:solidFill>
                <a:latin typeface="Lexend"/>
                <a:ea typeface="Lexend"/>
                <a:cs typeface="Lexend"/>
                <a:sym typeface="Lexend"/>
              </a:rPr>
              <a:t>-1.06% YoY</a:t>
            </a:r>
            <a:endParaRPr sz="567">
              <a:solidFill>
                <a:srgbClr val="EF4444"/>
              </a:solidFill>
              <a:latin typeface="Lexend"/>
              <a:ea typeface="Lexend"/>
              <a:cs typeface="Lexend"/>
              <a:sym typeface="Lexend"/>
            </a:endParaRPr>
          </a:p>
        </p:txBody>
      </p:sp>
      <p:graphicFrame>
        <p:nvGraphicFramePr>
          <p:cNvPr id="209" name="Google Shape;209;p36"/>
          <p:cNvGraphicFramePr/>
          <p:nvPr/>
        </p:nvGraphicFramePr>
        <p:xfrm>
          <a:off x="5332000" y="933185"/>
          <a:ext cx="3000000" cy="3000000"/>
        </p:xfrm>
        <a:graphic>
          <a:graphicData uri="http://schemas.openxmlformats.org/drawingml/2006/table">
            <a:tbl>
              <a:tblPr>
                <a:noFill/>
                <a:tableStyleId>{BD4DB973-2F49-4540-A1CC-0EE3EA8BBFB3}</a:tableStyleId>
              </a:tblPr>
              <a:tblGrid>
                <a:gridCol w="826250">
                  <a:extLst>
                    <a:ext uri="{9D8B030D-6E8A-4147-A177-3AD203B41FA5}">
                      <a16:colId xmlns:a16="http://schemas.microsoft.com/office/drawing/2014/main" val="20000"/>
                    </a:ext>
                  </a:extLst>
                </a:gridCol>
                <a:gridCol w="577800">
                  <a:extLst>
                    <a:ext uri="{9D8B030D-6E8A-4147-A177-3AD203B41FA5}">
                      <a16:colId xmlns:a16="http://schemas.microsoft.com/office/drawing/2014/main" val="20001"/>
                    </a:ext>
                  </a:extLst>
                </a:gridCol>
                <a:gridCol w="577800">
                  <a:extLst>
                    <a:ext uri="{9D8B030D-6E8A-4147-A177-3AD203B41FA5}">
                      <a16:colId xmlns:a16="http://schemas.microsoft.com/office/drawing/2014/main" val="20002"/>
                    </a:ext>
                  </a:extLst>
                </a:gridCol>
                <a:gridCol w="577800">
                  <a:extLst>
                    <a:ext uri="{9D8B030D-6E8A-4147-A177-3AD203B41FA5}">
                      <a16:colId xmlns:a16="http://schemas.microsoft.com/office/drawing/2014/main" val="20003"/>
                    </a:ext>
                  </a:extLst>
                </a:gridCol>
                <a:gridCol w="577800">
                  <a:extLst>
                    <a:ext uri="{9D8B030D-6E8A-4147-A177-3AD203B41FA5}">
                      <a16:colId xmlns:a16="http://schemas.microsoft.com/office/drawing/2014/main" val="20004"/>
                    </a:ext>
                  </a:extLst>
                </a:gridCol>
                <a:gridCol w="577800">
                  <a:extLst>
                    <a:ext uri="{9D8B030D-6E8A-4147-A177-3AD203B41FA5}">
                      <a16:colId xmlns:a16="http://schemas.microsoft.com/office/drawing/2014/main" val="20005"/>
                    </a:ext>
                  </a:extLst>
                </a:gridCol>
              </a:tblGrid>
              <a:tr h="342900">
                <a:tc>
                  <a:txBody>
                    <a:bodyPr/>
                    <a:lstStyle/>
                    <a:p>
                      <a:pPr marL="0" lvl="0" indent="0" algn="ctr" rtl="0">
                        <a:lnSpc>
                          <a:spcPct val="115000"/>
                        </a:lnSpc>
                        <a:spcBef>
                          <a:spcPts val="0"/>
                        </a:spcBef>
                        <a:spcAft>
                          <a:spcPts val="0"/>
                        </a:spcAft>
                        <a:buNone/>
                      </a:pPr>
                      <a:r>
                        <a:rPr lang="en" sz="900" b="1">
                          <a:solidFill>
                            <a:srgbClr val="FFFFFF"/>
                          </a:solidFill>
                          <a:latin typeface="Lexend"/>
                          <a:ea typeface="Lexend"/>
                          <a:cs typeface="Lexend"/>
                          <a:sym typeface="Lexend"/>
                        </a:rPr>
                        <a:t>Segment</a:t>
                      </a:r>
                      <a:endParaRPr sz="900" b="1">
                        <a:solidFill>
                          <a:srgbClr val="FFFFFF"/>
                        </a:solidFill>
                        <a:latin typeface="Lexend"/>
                        <a:ea typeface="Lexend"/>
                        <a:cs typeface="Lexend"/>
                        <a:sym typeface="Lexend"/>
                      </a:endParaRPr>
                    </a:p>
                  </a:txBody>
                  <a:tcPr marL="28575" marR="28575" marT="19050" marB="190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073763"/>
                    </a:solidFill>
                  </a:tcPr>
                </a:tc>
                <a:tc>
                  <a:txBody>
                    <a:bodyPr/>
                    <a:lstStyle/>
                    <a:p>
                      <a:pPr marL="0" lvl="0" indent="0" algn="ctr" rtl="0">
                        <a:lnSpc>
                          <a:spcPct val="115000"/>
                        </a:lnSpc>
                        <a:spcBef>
                          <a:spcPts val="0"/>
                        </a:spcBef>
                        <a:spcAft>
                          <a:spcPts val="0"/>
                        </a:spcAft>
                        <a:buNone/>
                      </a:pPr>
                      <a:r>
                        <a:rPr lang="en" sz="900" b="1">
                          <a:solidFill>
                            <a:srgbClr val="FFFFFF"/>
                          </a:solidFill>
                          <a:latin typeface="Lexend"/>
                          <a:ea typeface="Lexend"/>
                          <a:cs typeface="Lexend"/>
                          <a:sym typeface="Lexend"/>
                        </a:rPr>
                        <a:t>Segment driver</a:t>
                      </a:r>
                      <a:endParaRPr sz="900" b="1">
                        <a:solidFill>
                          <a:srgbClr val="FFFFFF"/>
                        </a:solidFill>
                        <a:latin typeface="Lexend"/>
                        <a:ea typeface="Lexend"/>
                        <a:cs typeface="Lexend"/>
                        <a:sym typeface="Lexend"/>
                      </a:endParaRPr>
                    </a:p>
                  </a:txBody>
                  <a:tcPr marL="28575" marR="28575" marT="19050" marB="190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073763"/>
                    </a:solidFill>
                  </a:tcPr>
                </a:tc>
                <a:tc>
                  <a:txBody>
                    <a:bodyPr/>
                    <a:lstStyle/>
                    <a:p>
                      <a:pPr marL="0" lvl="0" indent="0" algn="ctr" rtl="0">
                        <a:lnSpc>
                          <a:spcPct val="115000"/>
                        </a:lnSpc>
                        <a:spcBef>
                          <a:spcPts val="0"/>
                        </a:spcBef>
                        <a:spcAft>
                          <a:spcPts val="0"/>
                        </a:spcAft>
                        <a:buNone/>
                      </a:pPr>
                      <a:r>
                        <a:rPr lang="en" sz="900" b="1">
                          <a:solidFill>
                            <a:srgbClr val="FFFFFF"/>
                          </a:solidFill>
                          <a:latin typeface="Lexend"/>
                          <a:ea typeface="Lexend"/>
                          <a:cs typeface="Lexend"/>
                          <a:sym typeface="Lexend"/>
                        </a:rPr>
                        <a:t>Active driver</a:t>
                      </a:r>
                      <a:endParaRPr sz="900" b="1">
                        <a:solidFill>
                          <a:srgbClr val="FFFFFF"/>
                        </a:solidFill>
                        <a:latin typeface="Lexend"/>
                        <a:ea typeface="Lexend"/>
                        <a:cs typeface="Lexend"/>
                        <a:sym typeface="Lexend"/>
                      </a:endParaRPr>
                    </a:p>
                  </a:txBody>
                  <a:tcPr marL="28575" marR="28575" marT="19050" marB="190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073763"/>
                    </a:solidFill>
                  </a:tcPr>
                </a:tc>
                <a:tc>
                  <a:txBody>
                    <a:bodyPr/>
                    <a:lstStyle/>
                    <a:p>
                      <a:pPr marL="0" lvl="0" indent="0" algn="ctr" rtl="0">
                        <a:lnSpc>
                          <a:spcPct val="115000"/>
                        </a:lnSpc>
                        <a:spcBef>
                          <a:spcPts val="0"/>
                        </a:spcBef>
                        <a:spcAft>
                          <a:spcPts val="0"/>
                        </a:spcAft>
                        <a:buNone/>
                      </a:pPr>
                      <a:r>
                        <a:rPr lang="en" sz="900" b="1">
                          <a:solidFill>
                            <a:srgbClr val="FFFFFF"/>
                          </a:solidFill>
                          <a:latin typeface="Lexend"/>
                          <a:ea typeface="Lexend"/>
                          <a:cs typeface="Lexend"/>
                          <a:sym typeface="Lexend"/>
                        </a:rPr>
                        <a:t>RR_this month</a:t>
                      </a:r>
                      <a:endParaRPr sz="900" b="1">
                        <a:solidFill>
                          <a:srgbClr val="FFFFFF"/>
                        </a:solidFill>
                        <a:latin typeface="Lexend"/>
                        <a:ea typeface="Lexend"/>
                        <a:cs typeface="Lexend"/>
                        <a:sym typeface="Lexend"/>
                      </a:endParaRPr>
                    </a:p>
                  </a:txBody>
                  <a:tcPr marL="28575" marR="28575" marT="19050" marB="190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073763"/>
                    </a:solidFill>
                  </a:tcPr>
                </a:tc>
                <a:tc>
                  <a:txBody>
                    <a:bodyPr/>
                    <a:lstStyle/>
                    <a:p>
                      <a:pPr marL="0" lvl="0" indent="0" algn="ctr" rtl="0">
                        <a:lnSpc>
                          <a:spcPct val="115000"/>
                        </a:lnSpc>
                        <a:spcBef>
                          <a:spcPts val="0"/>
                        </a:spcBef>
                        <a:spcAft>
                          <a:spcPts val="0"/>
                        </a:spcAft>
                        <a:buNone/>
                      </a:pPr>
                      <a:r>
                        <a:rPr lang="en" sz="900" b="1">
                          <a:solidFill>
                            <a:srgbClr val="FFFFFF"/>
                          </a:solidFill>
                          <a:latin typeface="Lexend"/>
                          <a:ea typeface="Lexend"/>
                          <a:cs typeface="Lexend"/>
                          <a:sym typeface="Lexend"/>
                        </a:rPr>
                        <a:t>MoM</a:t>
                      </a:r>
                      <a:endParaRPr sz="900" b="1">
                        <a:solidFill>
                          <a:srgbClr val="FFFFFF"/>
                        </a:solidFill>
                        <a:latin typeface="Lexend"/>
                        <a:ea typeface="Lexend"/>
                        <a:cs typeface="Lexend"/>
                        <a:sym typeface="Lexend"/>
                      </a:endParaRPr>
                    </a:p>
                  </a:txBody>
                  <a:tcPr marL="28575" marR="28575" marT="19050" marB="190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6D01"/>
                    </a:solidFill>
                  </a:tcPr>
                </a:tc>
                <a:tc>
                  <a:txBody>
                    <a:bodyPr/>
                    <a:lstStyle/>
                    <a:p>
                      <a:pPr marL="0" lvl="0" indent="0" algn="ctr" rtl="0">
                        <a:lnSpc>
                          <a:spcPct val="115000"/>
                        </a:lnSpc>
                        <a:spcBef>
                          <a:spcPts val="0"/>
                        </a:spcBef>
                        <a:spcAft>
                          <a:spcPts val="0"/>
                        </a:spcAft>
                        <a:buNone/>
                      </a:pPr>
                      <a:r>
                        <a:rPr lang="en" sz="900" b="1">
                          <a:solidFill>
                            <a:srgbClr val="FFFFFF"/>
                          </a:solidFill>
                          <a:latin typeface="Lexend"/>
                          <a:ea typeface="Lexend"/>
                          <a:cs typeface="Lexend"/>
                          <a:sym typeface="Lexend"/>
                        </a:rPr>
                        <a:t>YoY</a:t>
                      </a:r>
                      <a:endParaRPr sz="900" b="1">
                        <a:solidFill>
                          <a:srgbClr val="FFFFFF"/>
                        </a:solidFill>
                        <a:latin typeface="Lexend"/>
                        <a:ea typeface="Lexend"/>
                        <a:cs typeface="Lexend"/>
                        <a:sym typeface="Lexend"/>
                      </a:endParaRPr>
                    </a:p>
                  </a:txBody>
                  <a:tcPr marL="28575" marR="28575" marT="19050" marB="1905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6D01"/>
                    </a:solidFill>
                  </a:tcPr>
                </a:tc>
                <a:extLst>
                  <a:ext uri="{0D108BD9-81ED-4DB2-BD59-A6C34878D82A}">
                    <a16:rowId xmlns:a16="http://schemas.microsoft.com/office/drawing/2014/main" val="10000"/>
                  </a:ext>
                </a:extLst>
              </a:tr>
              <a:tr h="200025">
                <a:tc>
                  <a:txBody>
                    <a:bodyPr/>
                    <a:lstStyle/>
                    <a:p>
                      <a:pPr marL="0" lvl="0" indent="0" algn="ctr" rtl="0">
                        <a:lnSpc>
                          <a:spcPct val="115000"/>
                        </a:lnSpc>
                        <a:spcBef>
                          <a:spcPts val="0"/>
                        </a:spcBef>
                        <a:spcAft>
                          <a:spcPts val="0"/>
                        </a:spcAft>
                        <a:buNone/>
                      </a:pPr>
                      <a:r>
                        <a:rPr lang="en" sz="900">
                          <a:latin typeface="Lexend"/>
                          <a:ea typeface="Lexend"/>
                          <a:cs typeface="Lexend"/>
                          <a:sym typeface="Lexend"/>
                        </a:rPr>
                        <a:t>FT</a:t>
                      </a:r>
                      <a:endParaRPr sz="900">
                        <a:latin typeface="Lexend"/>
                        <a:ea typeface="Lexend"/>
                        <a:cs typeface="Lexend"/>
                        <a:sym typeface="Lexend"/>
                      </a:endParaRPr>
                    </a:p>
                  </a:txBody>
                  <a:tcPr marL="28575" marR="28575" marT="19050" marB="19050" anchor="b">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900">
                          <a:latin typeface="Lexend"/>
                          <a:ea typeface="Lexend"/>
                          <a:cs typeface="Lexend"/>
                          <a:sym typeface="Lexend"/>
                        </a:rPr>
                        <a:t>3,273</a:t>
                      </a:r>
                      <a:endParaRPr sz="900">
                        <a:latin typeface="Lexend"/>
                        <a:ea typeface="Lexend"/>
                        <a:cs typeface="Lexend"/>
                        <a:sym typeface="Lexend"/>
                      </a:endParaRPr>
                    </a:p>
                  </a:txBody>
                  <a:tcPr marL="28575" marR="28575" marT="19050" marB="19050" anchor="b">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900">
                          <a:latin typeface="Lexend"/>
                          <a:ea typeface="Lexend"/>
                          <a:cs typeface="Lexend"/>
                          <a:sym typeface="Lexend"/>
                        </a:rPr>
                        <a:t>3,157</a:t>
                      </a:r>
                      <a:endParaRPr sz="900">
                        <a:latin typeface="Lexend"/>
                        <a:ea typeface="Lexend"/>
                        <a:cs typeface="Lexend"/>
                        <a:sym typeface="Lexend"/>
                      </a:endParaRPr>
                    </a:p>
                  </a:txBody>
                  <a:tcPr marL="28575" marR="28575" marT="19050" marB="19050" anchor="b">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900">
                          <a:latin typeface="Lexend"/>
                          <a:ea typeface="Lexend"/>
                          <a:cs typeface="Lexend"/>
                          <a:sym typeface="Lexend"/>
                        </a:rPr>
                        <a:t>96.46%</a:t>
                      </a:r>
                      <a:endParaRPr sz="900">
                        <a:latin typeface="Lexend"/>
                        <a:ea typeface="Lexend"/>
                        <a:cs typeface="Lexend"/>
                        <a:sym typeface="Lexend"/>
                      </a:endParaRPr>
                    </a:p>
                  </a:txBody>
                  <a:tcPr marL="28575" marR="28575" marT="19050" marB="19050" anchor="b">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900">
                          <a:solidFill>
                            <a:srgbClr val="FF0000"/>
                          </a:solidFill>
                          <a:latin typeface="Lexend"/>
                          <a:ea typeface="Lexend"/>
                          <a:cs typeface="Lexend"/>
                          <a:sym typeface="Lexend"/>
                        </a:rPr>
                        <a:t>-0.52%</a:t>
                      </a:r>
                      <a:endParaRPr sz="900">
                        <a:solidFill>
                          <a:srgbClr val="FF0000"/>
                        </a:solidFill>
                        <a:latin typeface="Lexend"/>
                        <a:ea typeface="Lexend"/>
                        <a:cs typeface="Lexend"/>
                        <a:sym typeface="Lexend"/>
                      </a:endParaRPr>
                    </a:p>
                  </a:txBody>
                  <a:tcPr marL="28575" marR="28575" marT="19050" marB="19050" anchor="b">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900">
                          <a:solidFill>
                            <a:srgbClr val="008000"/>
                          </a:solidFill>
                          <a:latin typeface="Lexend"/>
                          <a:ea typeface="Lexend"/>
                          <a:cs typeface="Lexend"/>
                          <a:sym typeface="Lexend"/>
                        </a:rPr>
                        <a:t>0.04%</a:t>
                      </a:r>
                      <a:endParaRPr sz="900">
                        <a:solidFill>
                          <a:srgbClr val="008000"/>
                        </a:solidFill>
                        <a:latin typeface="Lexend"/>
                        <a:ea typeface="Lexend"/>
                        <a:cs typeface="Lexend"/>
                        <a:sym typeface="Lexend"/>
                      </a:endParaRPr>
                    </a:p>
                  </a:txBody>
                  <a:tcPr marL="28575" marR="28575" marT="19050" marB="19050" anchor="b">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200025">
                <a:tc>
                  <a:txBody>
                    <a:bodyPr/>
                    <a:lstStyle/>
                    <a:p>
                      <a:pPr marL="0" lvl="0" indent="0" algn="ctr" rtl="0">
                        <a:lnSpc>
                          <a:spcPct val="115000"/>
                        </a:lnSpc>
                        <a:spcBef>
                          <a:spcPts val="0"/>
                        </a:spcBef>
                        <a:spcAft>
                          <a:spcPts val="0"/>
                        </a:spcAft>
                        <a:buNone/>
                      </a:pPr>
                      <a:r>
                        <a:rPr lang="en" sz="900">
                          <a:latin typeface="Lexend"/>
                          <a:ea typeface="Lexend"/>
                          <a:cs typeface="Lexend"/>
                          <a:sym typeface="Lexend"/>
                        </a:rPr>
                        <a:t>PT</a:t>
                      </a:r>
                      <a:endParaRPr sz="900">
                        <a:latin typeface="Lexend"/>
                        <a:ea typeface="Lexend"/>
                        <a:cs typeface="Lexend"/>
                        <a:sym typeface="Lexend"/>
                      </a:endParaRPr>
                    </a:p>
                  </a:txBody>
                  <a:tcPr marL="28575" marR="28575" marT="19050" marB="19050" anchor="b">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900">
                          <a:latin typeface="Lexend"/>
                          <a:ea typeface="Lexend"/>
                          <a:cs typeface="Lexend"/>
                          <a:sym typeface="Lexend"/>
                        </a:rPr>
                        <a:t>9,937</a:t>
                      </a:r>
                      <a:endParaRPr sz="900">
                        <a:latin typeface="Lexend"/>
                        <a:ea typeface="Lexend"/>
                        <a:cs typeface="Lexend"/>
                        <a:sym typeface="Lexend"/>
                      </a:endParaRPr>
                    </a:p>
                  </a:txBody>
                  <a:tcPr marL="28575" marR="28575" marT="19050" marB="19050" anchor="b">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900">
                          <a:latin typeface="Lexend"/>
                          <a:ea typeface="Lexend"/>
                          <a:cs typeface="Lexend"/>
                          <a:sym typeface="Lexend"/>
                        </a:rPr>
                        <a:t>6,870</a:t>
                      </a:r>
                      <a:endParaRPr sz="900">
                        <a:latin typeface="Lexend"/>
                        <a:ea typeface="Lexend"/>
                        <a:cs typeface="Lexend"/>
                        <a:sym typeface="Lexend"/>
                      </a:endParaRPr>
                    </a:p>
                  </a:txBody>
                  <a:tcPr marL="28575" marR="28575" marT="19050" marB="19050" anchor="b">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900">
                          <a:latin typeface="Lexend"/>
                          <a:ea typeface="Lexend"/>
                          <a:cs typeface="Lexend"/>
                          <a:sym typeface="Lexend"/>
                        </a:rPr>
                        <a:t>69.14%</a:t>
                      </a:r>
                      <a:endParaRPr sz="900">
                        <a:latin typeface="Lexend"/>
                        <a:ea typeface="Lexend"/>
                        <a:cs typeface="Lexend"/>
                        <a:sym typeface="Lexend"/>
                      </a:endParaRPr>
                    </a:p>
                  </a:txBody>
                  <a:tcPr marL="28575" marR="28575" marT="19050" marB="19050" anchor="b">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900">
                          <a:solidFill>
                            <a:srgbClr val="EA4335"/>
                          </a:solidFill>
                          <a:latin typeface="Lexend"/>
                          <a:ea typeface="Lexend"/>
                          <a:cs typeface="Lexend"/>
                          <a:sym typeface="Lexend"/>
                        </a:rPr>
                        <a:t>-2.78%</a:t>
                      </a:r>
                      <a:endParaRPr sz="900">
                        <a:solidFill>
                          <a:srgbClr val="EA4335"/>
                        </a:solidFill>
                        <a:latin typeface="Lexend"/>
                        <a:ea typeface="Lexend"/>
                        <a:cs typeface="Lexend"/>
                        <a:sym typeface="Lexend"/>
                      </a:endParaRPr>
                    </a:p>
                  </a:txBody>
                  <a:tcPr marL="28575" marR="28575" marT="19050" marB="19050" anchor="b">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900">
                          <a:solidFill>
                            <a:srgbClr val="EA4335"/>
                          </a:solidFill>
                          <a:latin typeface="Lexend"/>
                          <a:ea typeface="Lexend"/>
                          <a:cs typeface="Lexend"/>
                          <a:sym typeface="Lexend"/>
                        </a:rPr>
                        <a:t>-1.64%</a:t>
                      </a:r>
                      <a:endParaRPr sz="900">
                        <a:solidFill>
                          <a:srgbClr val="EA4335"/>
                        </a:solidFill>
                        <a:latin typeface="Lexend"/>
                        <a:ea typeface="Lexend"/>
                        <a:cs typeface="Lexend"/>
                        <a:sym typeface="Lexend"/>
                      </a:endParaRPr>
                    </a:p>
                  </a:txBody>
                  <a:tcPr marL="28575" marR="28575" marT="19050" marB="19050" anchor="b">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200025">
                <a:tc>
                  <a:txBody>
                    <a:bodyPr/>
                    <a:lstStyle/>
                    <a:p>
                      <a:pPr marL="0" lvl="0" indent="0" algn="ctr" rtl="0">
                        <a:lnSpc>
                          <a:spcPct val="115000"/>
                        </a:lnSpc>
                        <a:spcBef>
                          <a:spcPts val="0"/>
                        </a:spcBef>
                        <a:spcAft>
                          <a:spcPts val="0"/>
                        </a:spcAft>
                        <a:buNone/>
                      </a:pPr>
                      <a:r>
                        <a:rPr lang="en" sz="900">
                          <a:latin typeface="Lexend"/>
                          <a:ea typeface="Lexend"/>
                          <a:cs typeface="Lexend"/>
                          <a:sym typeface="Lexend"/>
                        </a:rPr>
                        <a:t>NLM</a:t>
                      </a:r>
                      <a:endParaRPr sz="900">
                        <a:latin typeface="Lexend"/>
                        <a:ea typeface="Lexend"/>
                        <a:cs typeface="Lexend"/>
                        <a:sym typeface="Lexend"/>
                      </a:endParaRPr>
                    </a:p>
                  </a:txBody>
                  <a:tcPr marL="28575" marR="28575" marT="19050" marB="19050" anchor="b">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900">
                          <a:latin typeface="Lexend"/>
                          <a:ea typeface="Lexend"/>
                          <a:cs typeface="Lexend"/>
                          <a:sym typeface="Lexend"/>
                        </a:rPr>
                        <a:t>2,060</a:t>
                      </a:r>
                      <a:endParaRPr sz="900">
                        <a:latin typeface="Lexend"/>
                        <a:ea typeface="Lexend"/>
                        <a:cs typeface="Lexend"/>
                        <a:sym typeface="Lexend"/>
                      </a:endParaRPr>
                    </a:p>
                  </a:txBody>
                  <a:tcPr marL="28575" marR="28575" marT="19050" marB="19050" anchor="b">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900">
                          <a:latin typeface="Lexend"/>
                          <a:ea typeface="Lexend"/>
                          <a:cs typeface="Lexend"/>
                          <a:sym typeface="Lexend"/>
                        </a:rPr>
                        <a:t>1,342</a:t>
                      </a:r>
                      <a:endParaRPr sz="900">
                        <a:latin typeface="Lexend"/>
                        <a:ea typeface="Lexend"/>
                        <a:cs typeface="Lexend"/>
                        <a:sym typeface="Lexend"/>
                      </a:endParaRPr>
                    </a:p>
                  </a:txBody>
                  <a:tcPr marL="28575" marR="28575" marT="19050" marB="19050" anchor="b">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900">
                          <a:latin typeface="Lexend"/>
                          <a:ea typeface="Lexend"/>
                          <a:cs typeface="Lexend"/>
                          <a:sym typeface="Lexend"/>
                        </a:rPr>
                        <a:t>65.15%</a:t>
                      </a:r>
                      <a:endParaRPr sz="900">
                        <a:latin typeface="Lexend"/>
                        <a:ea typeface="Lexend"/>
                        <a:cs typeface="Lexend"/>
                        <a:sym typeface="Lexend"/>
                      </a:endParaRPr>
                    </a:p>
                  </a:txBody>
                  <a:tcPr marL="28575" marR="28575" marT="19050" marB="19050" anchor="b">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900">
                          <a:solidFill>
                            <a:srgbClr val="EA4335"/>
                          </a:solidFill>
                          <a:latin typeface="Lexend"/>
                          <a:ea typeface="Lexend"/>
                          <a:cs typeface="Lexend"/>
                          <a:sym typeface="Lexend"/>
                        </a:rPr>
                        <a:t>-5.45%</a:t>
                      </a:r>
                      <a:endParaRPr sz="900">
                        <a:solidFill>
                          <a:srgbClr val="EA4335"/>
                        </a:solidFill>
                        <a:latin typeface="Lexend"/>
                        <a:ea typeface="Lexend"/>
                        <a:cs typeface="Lexend"/>
                        <a:sym typeface="Lexend"/>
                      </a:endParaRPr>
                    </a:p>
                  </a:txBody>
                  <a:tcPr marL="28575" marR="28575" marT="19050" marB="19050" anchor="b">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900">
                          <a:solidFill>
                            <a:srgbClr val="EA4335"/>
                          </a:solidFill>
                          <a:latin typeface="Lexend"/>
                          <a:ea typeface="Lexend"/>
                          <a:cs typeface="Lexend"/>
                          <a:sym typeface="Lexend"/>
                        </a:rPr>
                        <a:t>-8.41%</a:t>
                      </a:r>
                      <a:endParaRPr sz="900">
                        <a:solidFill>
                          <a:srgbClr val="EA4335"/>
                        </a:solidFill>
                        <a:latin typeface="Lexend"/>
                        <a:ea typeface="Lexend"/>
                        <a:cs typeface="Lexend"/>
                        <a:sym typeface="Lexend"/>
                      </a:endParaRPr>
                    </a:p>
                  </a:txBody>
                  <a:tcPr marL="28575" marR="28575" marT="19050" marB="19050" anchor="b">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p37"/>
          <p:cNvSpPr/>
          <p:nvPr/>
        </p:nvSpPr>
        <p:spPr>
          <a:xfrm>
            <a:off x="0" y="0"/>
            <a:ext cx="9144000" cy="73200"/>
          </a:xfrm>
          <a:prstGeom prst="rect">
            <a:avLst/>
          </a:prstGeom>
          <a:solidFill>
            <a:srgbClr val="FF7F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15" name="Google Shape;215;p37" descr="preencoded.png"/>
          <p:cNvPicPr preferRelativeResize="0"/>
          <p:nvPr/>
        </p:nvPicPr>
        <p:blipFill rotWithShape="1">
          <a:blip r:embed="rId3">
            <a:alphaModFix/>
          </a:blip>
          <a:srcRect/>
          <a:stretch/>
        </p:blipFill>
        <p:spPr>
          <a:xfrm>
            <a:off x="365710" y="152533"/>
            <a:ext cx="274320" cy="274320"/>
          </a:xfrm>
          <a:prstGeom prst="rect">
            <a:avLst/>
          </a:prstGeom>
          <a:noFill/>
          <a:ln>
            <a:noFill/>
          </a:ln>
        </p:spPr>
      </p:pic>
      <p:sp>
        <p:nvSpPr>
          <p:cNvPr id="216" name="Google Shape;216;p37"/>
          <p:cNvSpPr/>
          <p:nvPr/>
        </p:nvSpPr>
        <p:spPr>
          <a:xfrm>
            <a:off x="731470" y="79380"/>
            <a:ext cx="7315200" cy="411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E4174"/>
              </a:buClr>
              <a:buSzPts val="2200"/>
              <a:buFont typeface="Calibri"/>
              <a:buNone/>
            </a:pPr>
            <a:r>
              <a:rPr lang="en" sz="2200" b="1">
                <a:solidFill>
                  <a:srgbClr val="0E4174"/>
                </a:solidFill>
                <a:latin typeface="Lexend"/>
                <a:ea typeface="Lexend"/>
                <a:cs typeface="Lexend"/>
                <a:sym typeface="Lexend"/>
              </a:rPr>
              <a:t>Supply Hours</a:t>
            </a:r>
            <a:endParaRPr sz="2200" b="1" i="0" u="none" strike="noStrike" cap="none">
              <a:solidFill>
                <a:srgbClr val="F56C1F"/>
              </a:solidFill>
              <a:latin typeface="Lexend"/>
              <a:ea typeface="Lexend"/>
              <a:cs typeface="Lexend"/>
              <a:sym typeface="Lexend"/>
            </a:endParaRPr>
          </a:p>
        </p:txBody>
      </p:sp>
      <p:sp>
        <p:nvSpPr>
          <p:cNvPr id="217" name="Google Shape;217;p37"/>
          <p:cNvSpPr/>
          <p:nvPr/>
        </p:nvSpPr>
        <p:spPr>
          <a:xfrm>
            <a:off x="731470" y="472573"/>
            <a:ext cx="7315200" cy="274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1000"/>
              <a:buFont typeface="Calibri"/>
              <a:buNone/>
            </a:pPr>
            <a:r>
              <a:rPr lang="en" sz="1000" i="1">
                <a:solidFill>
                  <a:srgbClr val="64748B"/>
                </a:solidFill>
                <a:latin typeface="Lexend"/>
                <a:ea typeface="Lexend"/>
                <a:cs typeface="Lexend"/>
                <a:sym typeface="Lexend"/>
              </a:rPr>
              <a:t>Thời gian hoạt động của tài xế</a:t>
            </a:r>
            <a:endParaRPr sz="1000" i="0" u="none" strike="noStrike" cap="none">
              <a:solidFill>
                <a:schemeClr val="dk1"/>
              </a:solidFill>
              <a:latin typeface="Lexend"/>
              <a:ea typeface="Lexend"/>
              <a:cs typeface="Lexend"/>
              <a:sym typeface="Lexend"/>
            </a:endParaRPr>
          </a:p>
        </p:txBody>
      </p:sp>
      <p:cxnSp>
        <p:nvCxnSpPr>
          <p:cNvPr id="218" name="Google Shape;218;p37"/>
          <p:cNvCxnSpPr/>
          <p:nvPr/>
        </p:nvCxnSpPr>
        <p:spPr>
          <a:xfrm>
            <a:off x="365710" y="746893"/>
            <a:ext cx="8412600" cy="0"/>
          </a:xfrm>
          <a:prstGeom prst="straightConnector1">
            <a:avLst/>
          </a:prstGeom>
          <a:noFill/>
          <a:ln w="9525" cap="flat" cmpd="sng">
            <a:solidFill>
              <a:srgbClr val="E2E8F0"/>
            </a:solidFill>
            <a:prstDash val="solid"/>
            <a:round/>
            <a:headEnd type="none" w="sm" len="sm"/>
            <a:tailEnd type="none" w="sm" len="sm"/>
          </a:ln>
        </p:spPr>
      </p:cxnSp>
      <p:sp>
        <p:nvSpPr>
          <p:cNvPr id="219" name="Google Shape;219;p37"/>
          <p:cNvSpPr/>
          <p:nvPr/>
        </p:nvSpPr>
        <p:spPr>
          <a:xfrm>
            <a:off x="5486395" y="45700"/>
            <a:ext cx="3657600" cy="27420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94A3B8"/>
              </a:buClr>
              <a:buSzPts val="700"/>
              <a:buFont typeface="Calibri"/>
              <a:buNone/>
            </a:pPr>
            <a:r>
              <a:rPr lang="en" sz="700" b="0" i="1" u="none" strike="noStrike" cap="none">
                <a:solidFill>
                  <a:srgbClr val="94A3B8"/>
                </a:solidFill>
                <a:latin typeface="Calibri"/>
                <a:ea typeface="Calibri"/>
                <a:cs typeface="Calibri"/>
                <a:sym typeface="Calibri"/>
              </a:rPr>
              <a:t>Ahamove — Driver Management | Confidential</a:t>
            </a:r>
            <a:endParaRPr sz="700" b="0" i="0" u="none" strike="noStrike" cap="none">
              <a:solidFill>
                <a:schemeClr val="dk1"/>
              </a:solidFill>
              <a:latin typeface="Calibri"/>
              <a:ea typeface="Calibri"/>
              <a:cs typeface="Calibri"/>
              <a:sym typeface="Calibri"/>
            </a:endParaRPr>
          </a:p>
        </p:txBody>
      </p:sp>
      <p:sp>
        <p:nvSpPr>
          <p:cNvPr id="220" name="Google Shape;220;p37"/>
          <p:cNvSpPr/>
          <p:nvPr/>
        </p:nvSpPr>
        <p:spPr>
          <a:xfrm>
            <a:off x="4630650" y="960850"/>
            <a:ext cx="4345800" cy="4127400"/>
          </a:xfrm>
          <a:prstGeom prst="rect">
            <a:avLst/>
          </a:prstGeom>
          <a:solidFill>
            <a:srgbClr val="FFFFFF"/>
          </a:solidFill>
          <a:ln w="8550" cap="flat" cmpd="sng">
            <a:solidFill>
              <a:srgbClr val="E2E8F0"/>
            </a:solidFill>
            <a:prstDash val="solid"/>
            <a:round/>
            <a:headEnd type="none" w="sm" len="sm"/>
            <a:tailEnd type="none" w="sm" len="sm"/>
          </a:ln>
          <a:effectLst>
            <a:outerShdw blurRad="68332" dist="22777" dir="8100000" algn="bl" rotWithShape="0">
              <a:srgbClr val="000000">
                <a:alpha val="10200"/>
              </a:srgbClr>
            </a:outerShdw>
          </a:effectLst>
        </p:spPr>
        <p:txBody>
          <a:bodyPr spcFirstLastPara="1" wrap="square" lIns="81975" tIns="81975" rIns="81975" bIns="81975" anchor="ctr" anchorCtr="0">
            <a:noAutofit/>
          </a:bodyPr>
          <a:lstStyle/>
          <a:p>
            <a:pPr marL="0" lvl="0" indent="0" algn="l" rtl="0">
              <a:spcBef>
                <a:spcPts val="0"/>
              </a:spcBef>
              <a:spcAft>
                <a:spcPts val="0"/>
              </a:spcAft>
              <a:buNone/>
            </a:pPr>
            <a:endParaRPr sz="1255"/>
          </a:p>
        </p:txBody>
      </p:sp>
      <p:sp>
        <p:nvSpPr>
          <p:cNvPr id="221" name="Google Shape;221;p37"/>
          <p:cNvSpPr txBox="1"/>
          <p:nvPr/>
        </p:nvSpPr>
        <p:spPr>
          <a:xfrm>
            <a:off x="100488" y="700400"/>
            <a:ext cx="8046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b="1">
                <a:solidFill>
                  <a:srgbClr val="F56C1F"/>
                </a:solidFill>
                <a:latin typeface="Lexend"/>
                <a:ea typeface="Lexend"/>
                <a:cs typeface="Lexend"/>
                <a:sym typeface="Lexend"/>
              </a:rPr>
              <a:t>HAN</a:t>
            </a:r>
            <a:endParaRPr sz="1200"/>
          </a:p>
        </p:txBody>
      </p:sp>
      <p:sp>
        <p:nvSpPr>
          <p:cNvPr id="222" name="Google Shape;222;p37"/>
          <p:cNvSpPr txBox="1"/>
          <p:nvPr/>
        </p:nvSpPr>
        <p:spPr>
          <a:xfrm>
            <a:off x="4630513" y="700650"/>
            <a:ext cx="8046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b="1">
                <a:solidFill>
                  <a:srgbClr val="F56C1F"/>
                </a:solidFill>
                <a:latin typeface="Lexend"/>
                <a:ea typeface="Lexend"/>
                <a:cs typeface="Lexend"/>
                <a:sym typeface="Lexend"/>
              </a:rPr>
              <a:t>SGN</a:t>
            </a:r>
            <a:endParaRPr sz="1200"/>
          </a:p>
        </p:txBody>
      </p:sp>
      <p:sp>
        <p:nvSpPr>
          <p:cNvPr id="223" name="Google Shape;223;p37"/>
          <p:cNvSpPr txBox="1"/>
          <p:nvPr/>
        </p:nvSpPr>
        <p:spPr>
          <a:xfrm>
            <a:off x="73875" y="920525"/>
            <a:ext cx="3000000" cy="354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00" b="1">
                <a:solidFill>
                  <a:srgbClr val="4C7DA4"/>
                </a:solidFill>
                <a:latin typeface="Lexend"/>
                <a:ea typeface="Lexend"/>
                <a:cs typeface="Lexend"/>
                <a:sym typeface="Lexend"/>
              </a:rPr>
              <a:t>Total SH by segment</a:t>
            </a:r>
            <a:endParaRPr sz="1100">
              <a:solidFill>
                <a:srgbClr val="0E4174"/>
              </a:solidFill>
              <a:latin typeface="Lexend"/>
              <a:ea typeface="Lexend"/>
              <a:cs typeface="Lexend"/>
              <a:sym typeface="Lexend"/>
            </a:endParaRPr>
          </a:p>
        </p:txBody>
      </p:sp>
      <p:sp>
        <p:nvSpPr>
          <p:cNvPr id="224" name="Google Shape;224;p37"/>
          <p:cNvSpPr txBox="1"/>
          <p:nvPr/>
        </p:nvSpPr>
        <p:spPr>
          <a:xfrm>
            <a:off x="100500" y="2774775"/>
            <a:ext cx="18492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b="1">
                <a:solidFill>
                  <a:srgbClr val="4C7DA4"/>
                </a:solidFill>
                <a:latin typeface="Lexend"/>
                <a:ea typeface="Lexend"/>
                <a:cs typeface="Lexend"/>
                <a:sym typeface="Lexend"/>
              </a:rPr>
              <a:t>Demand </a:t>
            </a:r>
            <a:endParaRPr sz="1200">
              <a:solidFill>
                <a:srgbClr val="0E4174"/>
              </a:solidFill>
              <a:latin typeface="Lexend"/>
              <a:ea typeface="Lexend"/>
              <a:cs typeface="Lexend"/>
              <a:sym typeface="Lexend"/>
            </a:endParaRPr>
          </a:p>
        </p:txBody>
      </p:sp>
      <p:sp>
        <p:nvSpPr>
          <p:cNvPr id="225" name="Google Shape;225;p37"/>
          <p:cNvSpPr txBox="1"/>
          <p:nvPr/>
        </p:nvSpPr>
        <p:spPr>
          <a:xfrm>
            <a:off x="100625" y="4448975"/>
            <a:ext cx="42738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800">
              <a:solidFill>
                <a:schemeClr val="dk1"/>
              </a:solidFill>
              <a:latin typeface="Lexend"/>
              <a:ea typeface="Lexend"/>
              <a:cs typeface="Lexend"/>
              <a:sym typeface="Lexend"/>
            </a:endParaRPr>
          </a:p>
          <a:p>
            <a:pPr marL="0" lvl="0" indent="0" algn="l" rtl="0">
              <a:spcBef>
                <a:spcPts val="0"/>
              </a:spcBef>
              <a:spcAft>
                <a:spcPts val="0"/>
              </a:spcAft>
              <a:buNone/>
            </a:pPr>
            <a:endParaRPr sz="800">
              <a:solidFill>
                <a:schemeClr val="dk1"/>
              </a:solidFill>
              <a:latin typeface="Lexend"/>
              <a:ea typeface="Lexend"/>
              <a:cs typeface="Lexend"/>
              <a:sym typeface="Lexend"/>
            </a:endParaRPr>
          </a:p>
        </p:txBody>
      </p:sp>
      <p:sp>
        <p:nvSpPr>
          <p:cNvPr id="226" name="Google Shape;226;p37"/>
          <p:cNvSpPr txBox="1"/>
          <p:nvPr/>
        </p:nvSpPr>
        <p:spPr>
          <a:xfrm>
            <a:off x="4649025" y="935818"/>
            <a:ext cx="1775400" cy="338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b="1">
                <a:solidFill>
                  <a:srgbClr val="4C7DA4"/>
                </a:solidFill>
                <a:latin typeface="Lexend"/>
                <a:ea typeface="Lexend"/>
                <a:cs typeface="Lexend"/>
                <a:sym typeface="Lexend"/>
              </a:rPr>
              <a:t>Total SH by segment</a:t>
            </a:r>
            <a:endParaRPr sz="1000">
              <a:solidFill>
                <a:srgbClr val="0E4174"/>
              </a:solidFill>
              <a:latin typeface="Lexend"/>
              <a:ea typeface="Lexend"/>
              <a:cs typeface="Lexend"/>
              <a:sym typeface="Lexend"/>
            </a:endParaRPr>
          </a:p>
        </p:txBody>
      </p:sp>
      <p:sp>
        <p:nvSpPr>
          <p:cNvPr id="227" name="Google Shape;227;p37"/>
          <p:cNvSpPr txBox="1"/>
          <p:nvPr/>
        </p:nvSpPr>
        <p:spPr>
          <a:xfrm>
            <a:off x="4716125" y="4352100"/>
            <a:ext cx="42738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900" b="1">
                <a:solidFill>
                  <a:schemeClr val="dk1"/>
                </a:solidFill>
                <a:latin typeface="Lexend"/>
                <a:ea typeface="Lexend"/>
                <a:cs typeface="Lexend"/>
                <a:sym typeface="Lexend"/>
              </a:rPr>
              <a:t>INSIGHT:</a:t>
            </a:r>
            <a:endParaRPr sz="900" b="1">
              <a:solidFill>
                <a:schemeClr val="dk1"/>
              </a:solidFill>
              <a:latin typeface="Lexend"/>
              <a:ea typeface="Lexend"/>
              <a:cs typeface="Lexend"/>
              <a:sym typeface="Lexend"/>
            </a:endParaRPr>
          </a:p>
          <a:p>
            <a:pPr marL="0" lvl="0" indent="0" algn="l" rtl="0">
              <a:spcBef>
                <a:spcPts val="0"/>
              </a:spcBef>
              <a:spcAft>
                <a:spcPts val="0"/>
              </a:spcAft>
              <a:buNone/>
            </a:pPr>
            <a:r>
              <a:rPr lang="en" sz="900">
                <a:solidFill>
                  <a:srgbClr val="1E293B"/>
                </a:solidFill>
                <a:latin typeface="Lexend"/>
                <a:ea typeface="Lexend"/>
                <a:cs typeface="Lexend"/>
                <a:sym typeface="Lexend"/>
              </a:rPr>
              <a:t>- SH gap 2.6% so với planning, hụt ở nhóm FT/PT và NIM</a:t>
            </a:r>
            <a:endParaRPr sz="900">
              <a:solidFill>
                <a:srgbClr val="1E293B"/>
              </a:solidFill>
              <a:latin typeface="Lexend"/>
              <a:ea typeface="Lexend"/>
              <a:cs typeface="Lexend"/>
              <a:sym typeface="Lexend"/>
            </a:endParaRPr>
          </a:p>
        </p:txBody>
      </p:sp>
      <p:sp>
        <p:nvSpPr>
          <p:cNvPr id="228" name="Google Shape;228;p37"/>
          <p:cNvSpPr txBox="1"/>
          <p:nvPr/>
        </p:nvSpPr>
        <p:spPr>
          <a:xfrm>
            <a:off x="150225" y="4359075"/>
            <a:ext cx="44064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800" b="1">
                <a:solidFill>
                  <a:schemeClr val="dk1"/>
                </a:solidFill>
                <a:latin typeface="Lexend"/>
                <a:ea typeface="Lexend"/>
                <a:cs typeface="Lexend"/>
                <a:sym typeface="Lexend"/>
              </a:rPr>
              <a:t>INSIGHT: </a:t>
            </a:r>
            <a:endParaRPr sz="800">
              <a:solidFill>
                <a:schemeClr val="dk1"/>
              </a:solidFill>
              <a:latin typeface="Lexend"/>
              <a:ea typeface="Lexend"/>
              <a:cs typeface="Lexend"/>
              <a:sym typeface="Lexend"/>
            </a:endParaRPr>
          </a:p>
          <a:p>
            <a:pPr marL="0" lvl="0" indent="0" algn="l" rtl="0">
              <a:spcBef>
                <a:spcPts val="0"/>
              </a:spcBef>
              <a:spcAft>
                <a:spcPts val="0"/>
              </a:spcAft>
              <a:buNone/>
            </a:pPr>
            <a:r>
              <a:rPr lang="en" sz="800">
                <a:solidFill>
                  <a:schemeClr val="dk1"/>
                </a:solidFill>
                <a:latin typeface="Lexend"/>
                <a:ea typeface="Lexend"/>
                <a:cs typeface="Lexend"/>
                <a:sym typeface="Lexend"/>
              </a:rPr>
              <a:t>- </a:t>
            </a:r>
            <a:r>
              <a:rPr lang="en" sz="800" b="1">
                <a:solidFill>
                  <a:srgbClr val="EA4335"/>
                </a:solidFill>
                <a:latin typeface="Lexend"/>
                <a:ea typeface="Lexend"/>
                <a:cs typeface="Lexend"/>
                <a:sym typeface="Lexend"/>
              </a:rPr>
              <a:t>SH gap 10.5% so với planning</a:t>
            </a:r>
            <a:r>
              <a:rPr lang="en" sz="800">
                <a:solidFill>
                  <a:schemeClr val="dk1"/>
                </a:solidFill>
                <a:latin typeface="Lexend"/>
                <a:ea typeface="Lexend"/>
                <a:cs typeface="Lexend"/>
                <a:sym typeface="Lexend"/>
              </a:rPr>
              <a:t>, hụt chủ yếu ở nhóm FT/PT</a:t>
            </a:r>
            <a:br>
              <a:rPr lang="en" sz="800" b="1">
                <a:solidFill>
                  <a:schemeClr val="dk1"/>
                </a:solidFill>
                <a:latin typeface="Lexend"/>
                <a:ea typeface="Lexend"/>
                <a:cs typeface="Lexend"/>
                <a:sym typeface="Lexend"/>
              </a:rPr>
            </a:br>
            <a:r>
              <a:rPr lang="en" sz="800">
                <a:solidFill>
                  <a:schemeClr val="dk1"/>
                </a:solidFill>
                <a:latin typeface="Lexend"/>
                <a:ea typeface="Lexend"/>
                <a:cs typeface="Lexend"/>
                <a:sym typeface="Lexend"/>
              </a:rPr>
              <a:t>- RPH tăng</a:t>
            </a:r>
            <a:r>
              <a:rPr lang="en" sz="800">
                <a:solidFill>
                  <a:srgbClr val="1255CC"/>
                </a:solidFill>
                <a:latin typeface="Lexend"/>
                <a:ea typeface="Lexend"/>
                <a:cs typeface="Lexend"/>
                <a:sym typeface="Lexend"/>
              </a:rPr>
              <a:t>11.5%</a:t>
            </a:r>
            <a:r>
              <a:rPr lang="en" sz="800">
                <a:solidFill>
                  <a:schemeClr val="dk1"/>
                </a:solidFill>
                <a:latin typeface="Lexend"/>
                <a:ea typeface="Lexend"/>
                <a:cs typeface="Lexend"/>
                <a:sym typeface="Lexend"/>
              </a:rPr>
              <a:t> WoW, AR-FR giảm mạnh ~2.5% do ảnh hưởng do thời tiết xấu (nắng gắt + mưa giông) + tăng mạnh demand nhánh bulky. Details </a:t>
            </a:r>
            <a:r>
              <a:rPr lang="en" sz="800" u="sng">
                <a:solidFill>
                  <a:schemeClr val="hlink"/>
                </a:solidFill>
                <a:latin typeface="Lexend"/>
                <a:ea typeface="Lexend"/>
                <a:cs typeface="Lexend"/>
                <a:sym typeface="Lexend"/>
                <a:hlinkClick r:id="rId4"/>
              </a:rPr>
              <a:t>link thời tiết</a:t>
            </a:r>
            <a:endParaRPr sz="800">
              <a:solidFill>
                <a:schemeClr val="dk1"/>
              </a:solidFill>
              <a:latin typeface="Lexend"/>
              <a:ea typeface="Lexend"/>
              <a:cs typeface="Lexend"/>
              <a:sym typeface="Lexend"/>
            </a:endParaRPr>
          </a:p>
          <a:p>
            <a:pPr marL="0" lvl="0" indent="0" algn="l" rtl="0">
              <a:spcBef>
                <a:spcPts val="0"/>
              </a:spcBef>
              <a:spcAft>
                <a:spcPts val="0"/>
              </a:spcAft>
              <a:buNone/>
            </a:pPr>
            <a:endParaRPr sz="800">
              <a:solidFill>
                <a:schemeClr val="dk1"/>
              </a:solidFill>
              <a:latin typeface="Lexend"/>
              <a:ea typeface="Lexend"/>
              <a:cs typeface="Lexend"/>
              <a:sym typeface="Lexend"/>
            </a:endParaRPr>
          </a:p>
        </p:txBody>
      </p:sp>
      <p:sp>
        <p:nvSpPr>
          <p:cNvPr id="229" name="Google Shape;229;p37"/>
          <p:cNvSpPr txBox="1"/>
          <p:nvPr/>
        </p:nvSpPr>
        <p:spPr>
          <a:xfrm>
            <a:off x="4716125" y="2782425"/>
            <a:ext cx="854700" cy="354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00" b="1">
                <a:solidFill>
                  <a:srgbClr val="4C7DA4"/>
                </a:solidFill>
                <a:latin typeface="Lexend"/>
                <a:ea typeface="Lexend"/>
                <a:cs typeface="Lexend"/>
                <a:sym typeface="Lexend"/>
              </a:rPr>
              <a:t>Demand </a:t>
            </a:r>
            <a:endParaRPr sz="1100">
              <a:solidFill>
                <a:srgbClr val="0E4174"/>
              </a:solidFill>
              <a:latin typeface="Lexend"/>
              <a:ea typeface="Lexend"/>
              <a:cs typeface="Lexend"/>
              <a:sym typeface="Lexend"/>
            </a:endParaRPr>
          </a:p>
        </p:txBody>
      </p:sp>
      <p:graphicFrame>
        <p:nvGraphicFramePr>
          <p:cNvPr id="230" name="Google Shape;230;p37"/>
          <p:cNvGraphicFramePr/>
          <p:nvPr/>
        </p:nvGraphicFramePr>
        <p:xfrm>
          <a:off x="1028325" y="2894775"/>
          <a:ext cx="3000000" cy="3000000"/>
        </p:xfrm>
        <a:graphic>
          <a:graphicData uri="http://schemas.openxmlformats.org/drawingml/2006/table">
            <a:tbl>
              <a:tblPr>
                <a:noFill/>
                <a:tableStyleId>{BD4DB973-2F49-4540-A1CC-0EE3EA8BBFB3}</a:tableStyleId>
              </a:tblPr>
              <a:tblGrid>
                <a:gridCol w="962025">
                  <a:extLst>
                    <a:ext uri="{9D8B030D-6E8A-4147-A177-3AD203B41FA5}">
                      <a16:colId xmlns:a16="http://schemas.microsoft.com/office/drawing/2014/main" val="20000"/>
                    </a:ext>
                  </a:extLst>
                </a:gridCol>
                <a:gridCol w="809625">
                  <a:extLst>
                    <a:ext uri="{9D8B030D-6E8A-4147-A177-3AD203B41FA5}">
                      <a16:colId xmlns:a16="http://schemas.microsoft.com/office/drawing/2014/main" val="20001"/>
                    </a:ext>
                  </a:extLst>
                </a:gridCol>
                <a:gridCol w="838200">
                  <a:extLst>
                    <a:ext uri="{9D8B030D-6E8A-4147-A177-3AD203B41FA5}">
                      <a16:colId xmlns:a16="http://schemas.microsoft.com/office/drawing/2014/main" val="20002"/>
                    </a:ext>
                  </a:extLst>
                </a:gridCol>
              </a:tblGrid>
              <a:tr h="200025">
                <a:tc>
                  <a:txBody>
                    <a:bodyPr/>
                    <a:lstStyle/>
                    <a:p>
                      <a:pPr marL="0" lvl="0" indent="0" algn="ctr" rtl="0">
                        <a:lnSpc>
                          <a:spcPct val="115000"/>
                        </a:lnSpc>
                        <a:spcBef>
                          <a:spcPts val="0"/>
                        </a:spcBef>
                        <a:spcAft>
                          <a:spcPts val="0"/>
                        </a:spcAft>
                        <a:buNone/>
                      </a:pPr>
                      <a:r>
                        <a:rPr lang="en" sz="900" b="1">
                          <a:solidFill>
                            <a:srgbClr val="FFFFFF"/>
                          </a:solidFill>
                          <a:latin typeface="Lexend"/>
                          <a:ea typeface="Lexend"/>
                          <a:cs typeface="Lexend"/>
                          <a:sym typeface="Lexend"/>
                        </a:rPr>
                        <a:t>Metric</a:t>
                      </a:r>
                      <a:endParaRPr sz="900" b="1">
                        <a:solidFill>
                          <a:srgbClr val="FFFFFF"/>
                        </a:solidFill>
                        <a:latin typeface="Lexend"/>
                        <a:ea typeface="Lexend"/>
                        <a:cs typeface="Lexend"/>
                        <a:sym typeface="Lexend"/>
                      </a:endParaRPr>
                    </a:p>
                  </a:txBody>
                  <a:tcPr marL="28575" marR="28575" marT="19050" marB="19050" anchor="ctr">
                    <a:lnL w="6350" cap="flat" cmpd="sng">
                      <a:solidFill>
                        <a:srgbClr val="000000"/>
                      </a:solidFill>
                      <a:prstDash val="solid"/>
                      <a:round/>
                      <a:headEnd type="none" w="sm" len="sm"/>
                      <a:tailEnd type="none" w="sm" len="sm"/>
                    </a:lnL>
                    <a:lnT w="6350" cap="flat" cmpd="sng">
                      <a:solidFill>
                        <a:srgbClr val="000000"/>
                      </a:solidFill>
                      <a:prstDash val="solid"/>
                      <a:round/>
                      <a:headEnd type="none" w="sm" len="sm"/>
                      <a:tailEnd type="none" w="sm" len="sm"/>
                    </a:lnT>
                    <a:solidFill>
                      <a:srgbClr val="073763"/>
                    </a:solidFill>
                  </a:tcPr>
                </a:tc>
                <a:tc>
                  <a:txBody>
                    <a:bodyPr/>
                    <a:lstStyle/>
                    <a:p>
                      <a:pPr marL="0" lvl="0" indent="0" algn="ctr" rtl="0">
                        <a:lnSpc>
                          <a:spcPct val="115000"/>
                        </a:lnSpc>
                        <a:spcBef>
                          <a:spcPts val="0"/>
                        </a:spcBef>
                        <a:spcAft>
                          <a:spcPts val="0"/>
                        </a:spcAft>
                        <a:buNone/>
                      </a:pPr>
                      <a:r>
                        <a:rPr lang="en" sz="900" b="1">
                          <a:solidFill>
                            <a:srgbClr val="FFFFFF"/>
                          </a:solidFill>
                          <a:latin typeface="Lexend"/>
                          <a:ea typeface="Lexend"/>
                          <a:cs typeface="Lexend"/>
                          <a:sym typeface="Lexend"/>
                        </a:rPr>
                        <a:t>This Week</a:t>
                      </a:r>
                      <a:endParaRPr sz="900" b="1">
                        <a:solidFill>
                          <a:srgbClr val="FFFFFF"/>
                        </a:solidFill>
                        <a:latin typeface="Lexend"/>
                        <a:ea typeface="Lexend"/>
                        <a:cs typeface="Lexend"/>
                        <a:sym typeface="Lexend"/>
                      </a:endParaRPr>
                    </a:p>
                  </a:txBody>
                  <a:tcPr marL="28575" marR="28575" marT="19050" marB="19050" anchor="ctr">
                    <a:lnT w="6350" cap="flat" cmpd="sng">
                      <a:solidFill>
                        <a:srgbClr val="000000"/>
                      </a:solidFill>
                      <a:prstDash val="solid"/>
                      <a:round/>
                      <a:headEnd type="none" w="sm" len="sm"/>
                      <a:tailEnd type="none" w="sm" len="sm"/>
                    </a:lnT>
                    <a:solidFill>
                      <a:srgbClr val="073763"/>
                    </a:solidFill>
                  </a:tcPr>
                </a:tc>
                <a:tc>
                  <a:txBody>
                    <a:bodyPr/>
                    <a:lstStyle/>
                    <a:p>
                      <a:pPr marL="0" lvl="0" indent="0" algn="ctr" rtl="0">
                        <a:lnSpc>
                          <a:spcPct val="115000"/>
                        </a:lnSpc>
                        <a:spcBef>
                          <a:spcPts val="0"/>
                        </a:spcBef>
                        <a:spcAft>
                          <a:spcPts val="0"/>
                        </a:spcAft>
                        <a:buNone/>
                      </a:pPr>
                      <a:r>
                        <a:rPr lang="en" sz="900" b="1">
                          <a:solidFill>
                            <a:srgbClr val="FFFFFF"/>
                          </a:solidFill>
                          <a:latin typeface="Lexend"/>
                          <a:ea typeface="Lexend"/>
                          <a:cs typeface="Lexend"/>
                          <a:sym typeface="Lexend"/>
                        </a:rPr>
                        <a:t>WoW</a:t>
                      </a:r>
                      <a:endParaRPr sz="900" b="1">
                        <a:solidFill>
                          <a:srgbClr val="FFFFFF"/>
                        </a:solidFill>
                        <a:latin typeface="Lexend"/>
                        <a:ea typeface="Lexend"/>
                        <a:cs typeface="Lexend"/>
                        <a:sym typeface="Lexend"/>
                      </a:endParaRPr>
                    </a:p>
                  </a:txBody>
                  <a:tcPr marL="28575" marR="28575" marT="19050" marB="19050" anchor="ctr">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solidFill>
                      <a:srgbClr val="FF6D01"/>
                    </a:solidFill>
                  </a:tcPr>
                </a:tc>
                <a:extLst>
                  <a:ext uri="{0D108BD9-81ED-4DB2-BD59-A6C34878D82A}">
                    <a16:rowId xmlns:a16="http://schemas.microsoft.com/office/drawing/2014/main" val="10000"/>
                  </a:ext>
                </a:extLst>
              </a:tr>
              <a:tr h="200025">
                <a:tc>
                  <a:txBody>
                    <a:bodyPr/>
                    <a:lstStyle/>
                    <a:p>
                      <a:pPr marL="0" lvl="0" indent="0" algn="ctr" rtl="0">
                        <a:lnSpc>
                          <a:spcPct val="115000"/>
                        </a:lnSpc>
                        <a:spcBef>
                          <a:spcPts val="0"/>
                        </a:spcBef>
                        <a:spcAft>
                          <a:spcPts val="0"/>
                        </a:spcAft>
                        <a:buNone/>
                      </a:pPr>
                      <a:r>
                        <a:rPr lang="en" sz="900">
                          <a:latin typeface="Lexend"/>
                          <a:ea typeface="Lexend"/>
                          <a:cs typeface="Lexend"/>
                          <a:sym typeface="Lexend"/>
                        </a:rPr>
                        <a:t>RPH</a:t>
                      </a:r>
                      <a:endParaRPr sz="900">
                        <a:latin typeface="Lexend"/>
                        <a:ea typeface="Lexend"/>
                        <a:cs typeface="Lexend"/>
                        <a:sym typeface="Lexend"/>
                      </a:endParaRPr>
                    </a:p>
                  </a:txBody>
                  <a:tcPr marL="28575" marR="28575" marT="19050" marB="19050" anchor="ctr">
                    <a:lnL w="6350" cap="flat" cmpd="sng">
                      <a:solidFill>
                        <a:srgbClr val="000000"/>
                      </a:solidFill>
                      <a:prstDash val="solid"/>
                      <a:round/>
                      <a:headEnd type="none" w="sm" len="sm"/>
                      <a:tailEnd type="none" w="sm" len="sm"/>
                    </a:lnL>
                    <a:lnR w="6350" cap="flat" cmpd="sng">
                      <a:solidFill>
                        <a:srgbClr val="000000"/>
                      </a:solidFill>
                      <a:prstDash val="dot"/>
                      <a:round/>
                      <a:headEnd type="none" w="sm" len="sm"/>
                      <a:tailEnd type="none" w="sm" len="sm"/>
                    </a:lnR>
                    <a:lnB w="6350" cap="flat" cmpd="sng">
                      <a:solidFill>
                        <a:srgbClr val="000000"/>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1000"/>
                        <a:t>2.07</a:t>
                      </a:r>
                      <a:endParaRPr sz="1000"/>
                    </a:p>
                  </a:txBody>
                  <a:tcPr marL="28575" marR="28575" marT="19050" marB="19050" anchor="b">
                    <a:lnL w="6350" cap="flat" cmpd="sng">
                      <a:solidFill>
                        <a:srgbClr val="000000"/>
                      </a:solidFill>
                      <a:prstDash val="dot"/>
                      <a:round/>
                      <a:headEnd type="none" w="sm" len="sm"/>
                      <a:tailEnd type="none" w="sm" len="sm"/>
                    </a:lnL>
                    <a:lnR w="6350" cap="flat" cmpd="sng">
                      <a:solidFill>
                        <a:srgbClr val="000000"/>
                      </a:solidFill>
                      <a:prstDash val="dot"/>
                      <a:round/>
                      <a:headEnd type="none" w="sm" len="sm"/>
                      <a:tailEnd type="none" w="sm" len="sm"/>
                    </a:lnR>
                    <a:lnB w="6350" cap="flat" cmpd="sng">
                      <a:solidFill>
                        <a:srgbClr val="000000"/>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1000" b="1">
                          <a:solidFill>
                            <a:srgbClr val="339966"/>
                          </a:solidFill>
                        </a:rPr>
                        <a:t>▲ 11.9%</a:t>
                      </a:r>
                      <a:endParaRPr sz="1000" b="1">
                        <a:solidFill>
                          <a:srgbClr val="339966"/>
                        </a:solidFill>
                      </a:endParaRPr>
                    </a:p>
                  </a:txBody>
                  <a:tcPr marL="28575" marR="28575" marT="19050" marB="19050" anchor="b">
                    <a:lnL w="6350" cap="flat" cmpd="sng">
                      <a:solidFill>
                        <a:srgbClr val="000000"/>
                      </a:solidFill>
                      <a:prstDash val="dot"/>
                      <a:round/>
                      <a:headEnd type="none" w="sm" len="sm"/>
                      <a:tailEnd type="none" w="sm" len="sm"/>
                    </a:lnL>
                    <a:lnR w="6350" cap="flat" cmpd="sng">
                      <a:solidFill>
                        <a:srgbClr val="000000"/>
                      </a:solidFill>
                      <a:prstDash val="solid"/>
                      <a:round/>
                      <a:headEnd type="none" w="sm" len="sm"/>
                      <a:tailEnd type="none" w="sm" len="sm"/>
                    </a:lnR>
                    <a:lnB w="6350" cap="flat" cmpd="sng">
                      <a:solidFill>
                        <a:srgbClr val="000000"/>
                      </a:solidFill>
                      <a:prstDash val="dot"/>
                      <a:round/>
                      <a:headEnd type="none" w="sm" len="sm"/>
                      <a:tailEnd type="none" w="sm" len="sm"/>
                    </a:lnB>
                  </a:tcPr>
                </a:tc>
                <a:extLst>
                  <a:ext uri="{0D108BD9-81ED-4DB2-BD59-A6C34878D82A}">
                    <a16:rowId xmlns:a16="http://schemas.microsoft.com/office/drawing/2014/main" val="10001"/>
                  </a:ext>
                </a:extLst>
              </a:tr>
              <a:tr h="200025">
                <a:tc>
                  <a:txBody>
                    <a:bodyPr/>
                    <a:lstStyle/>
                    <a:p>
                      <a:pPr marL="0" lvl="0" indent="0" algn="ctr" rtl="0">
                        <a:lnSpc>
                          <a:spcPct val="115000"/>
                        </a:lnSpc>
                        <a:spcBef>
                          <a:spcPts val="0"/>
                        </a:spcBef>
                        <a:spcAft>
                          <a:spcPts val="0"/>
                        </a:spcAft>
                        <a:buNone/>
                      </a:pPr>
                      <a:r>
                        <a:rPr lang="en" sz="900">
                          <a:latin typeface="Lexend"/>
                          <a:ea typeface="Lexend"/>
                          <a:cs typeface="Lexend"/>
                          <a:sym typeface="Lexend"/>
                        </a:rPr>
                        <a:t>Request_stp</a:t>
                      </a:r>
                      <a:endParaRPr sz="900">
                        <a:latin typeface="Lexend"/>
                        <a:ea typeface="Lexend"/>
                        <a:cs typeface="Lexend"/>
                        <a:sym typeface="Lexend"/>
                      </a:endParaRPr>
                    </a:p>
                  </a:txBody>
                  <a:tcPr marL="28575" marR="28575" marT="19050" marB="19050" anchor="ctr">
                    <a:lnL w="6350" cap="flat" cmpd="sng">
                      <a:solidFill>
                        <a:srgbClr val="000000"/>
                      </a:solidFill>
                      <a:prstDash val="solid"/>
                      <a:round/>
                      <a:headEnd type="none" w="sm" len="sm"/>
                      <a:tailEnd type="none" w="sm" len="sm"/>
                    </a:lnL>
                    <a:lnR w="6350" cap="flat" cmpd="sng">
                      <a:solidFill>
                        <a:srgbClr val="000000"/>
                      </a:solidFill>
                      <a:prstDash val="dot"/>
                      <a:round/>
                      <a:headEnd type="none" w="sm" len="sm"/>
                      <a:tailEnd type="none" w="sm" len="sm"/>
                    </a:lnR>
                    <a:lnT w="6350" cap="flat" cmpd="sng">
                      <a:solidFill>
                        <a:srgbClr val="000000"/>
                      </a:solidFill>
                      <a:prstDash val="dot"/>
                      <a:round/>
                      <a:headEnd type="none" w="sm" len="sm"/>
                      <a:tailEnd type="none" w="sm" len="sm"/>
                    </a:lnT>
                    <a:lnB w="6350" cap="flat" cmpd="sng">
                      <a:solidFill>
                        <a:srgbClr val="000000"/>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1000"/>
                        <a:t>392K</a:t>
                      </a:r>
                      <a:endParaRPr sz="1000"/>
                    </a:p>
                  </a:txBody>
                  <a:tcPr marL="28575" marR="28575" marT="19050" marB="19050" anchor="b">
                    <a:lnL w="6350" cap="flat" cmpd="sng">
                      <a:solidFill>
                        <a:srgbClr val="000000"/>
                      </a:solidFill>
                      <a:prstDash val="dot"/>
                      <a:round/>
                      <a:headEnd type="none" w="sm" len="sm"/>
                      <a:tailEnd type="none" w="sm" len="sm"/>
                    </a:lnL>
                    <a:lnR w="6350" cap="flat" cmpd="sng">
                      <a:solidFill>
                        <a:srgbClr val="000000"/>
                      </a:solidFill>
                      <a:prstDash val="dot"/>
                      <a:round/>
                      <a:headEnd type="none" w="sm" len="sm"/>
                      <a:tailEnd type="none" w="sm" len="sm"/>
                    </a:lnR>
                    <a:lnT w="6350" cap="flat" cmpd="sng">
                      <a:solidFill>
                        <a:srgbClr val="000000"/>
                      </a:solidFill>
                      <a:prstDash val="dot"/>
                      <a:round/>
                      <a:headEnd type="none" w="sm" len="sm"/>
                      <a:tailEnd type="none" w="sm" len="sm"/>
                    </a:lnT>
                    <a:lnB w="6350" cap="flat" cmpd="sng">
                      <a:solidFill>
                        <a:srgbClr val="000000"/>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1000" b="1">
                          <a:solidFill>
                            <a:srgbClr val="339966"/>
                          </a:solidFill>
                        </a:rPr>
                        <a:t>▲ 7.7%</a:t>
                      </a:r>
                      <a:endParaRPr sz="1000" b="1">
                        <a:solidFill>
                          <a:srgbClr val="339966"/>
                        </a:solidFill>
                      </a:endParaRPr>
                    </a:p>
                  </a:txBody>
                  <a:tcPr marL="28575" marR="28575" marT="19050" marB="19050" anchor="b">
                    <a:lnL w="6350" cap="flat" cmpd="sng">
                      <a:solidFill>
                        <a:srgbClr val="000000"/>
                      </a:solidFill>
                      <a:prstDash val="dot"/>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dot"/>
                      <a:round/>
                      <a:headEnd type="none" w="sm" len="sm"/>
                      <a:tailEnd type="none" w="sm" len="sm"/>
                    </a:lnT>
                    <a:lnB w="6350" cap="flat" cmpd="sng">
                      <a:solidFill>
                        <a:srgbClr val="000000"/>
                      </a:solidFill>
                      <a:prstDash val="dot"/>
                      <a:round/>
                      <a:headEnd type="none" w="sm" len="sm"/>
                      <a:tailEnd type="none" w="sm" len="sm"/>
                    </a:lnB>
                  </a:tcPr>
                </a:tc>
                <a:extLst>
                  <a:ext uri="{0D108BD9-81ED-4DB2-BD59-A6C34878D82A}">
                    <a16:rowId xmlns:a16="http://schemas.microsoft.com/office/drawing/2014/main" val="10002"/>
                  </a:ext>
                </a:extLst>
              </a:tr>
              <a:tr h="200025">
                <a:tc>
                  <a:txBody>
                    <a:bodyPr/>
                    <a:lstStyle/>
                    <a:p>
                      <a:pPr marL="0" lvl="0" indent="0" algn="ctr" rtl="0">
                        <a:lnSpc>
                          <a:spcPct val="115000"/>
                        </a:lnSpc>
                        <a:spcBef>
                          <a:spcPts val="0"/>
                        </a:spcBef>
                        <a:spcAft>
                          <a:spcPts val="0"/>
                        </a:spcAft>
                        <a:buNone/>
                      </a:pPr>
                      <a:r>
                        <a:rPr lang="en" sz="900">
                          <a:latin typeface="Lexend"/>
                          <a:ea typeface="Lexend"/>
                          <a:cs typeface="Lexend"/>
                          <a:sym typeface="Lexend"/>
                        </a:rPr>
                        <a:t>Accept_stp</a:t>
                      </a:r>
                      <a:endParaRPr sz="900">
                        <a:latin typeface="Lexend"/>
                        <a:ea typeface="Lexend"/>
                        <a:cs typeface="Lexend"/>
                        <a:sym typeface="Lexend"/>
                      </a:endParaRPr>
                    </a:p>
                  </a:txBody>
                  <a:tcPr marL="28575" marR="28575" marT="19050" marB="19050" anchor="ctr">
                    <a:lnL w="6350" cap="flat" cmpd="sng">
                      <a:solidFill>
                        <a:srgbClr val="000000"/>
                      </a:solidFill>
                      <a:prstDash val="solid"/>
                      <a:round/>
                      <a:headEnd type="none" w="sm" len="sm"/>
                      <a:tailEnd type="none" w="sm" len="sm"/>
                    </a:lnL>
                    <a:lnR w="6350" cap="flat" cmpd="sng">
                      <a:solidFill>
                        <a:srgbClr val="000000"/>
                      </a:solidFill>
                      <a:prstDash val="dot"/>
                      <a:round/>
                      <a:headEnd type="none" w="sm" len="sm"/>
                      <a:tailEnd type="none" w="sm" len="sm"/>
                    </a:lnR>
                    <a:lnT w="6350" cap="flat" cmpd="sng">
                      <a:solidFill>
                        <a:srgbClr val="000000"/>
                      </a:solidFill>
                      <a:prstDash val="dot"/>
                      <a:round/>
                      <a:headEnd type="none" w="sm" len="sm"/>
                      <a:tailEnd type="none" w="sm" len="sm"/>
                    </a:lnT>
                    <a:lnB w="6350" cap="flat" cmpd="sng">
                      <a:solidFill>
                        <a:srgbClr val="000000"/>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1000"/>
                        <a:t>335K</a:t>
                      </a:r>
                      <a:endParaRPr sz="1000"/>
                    </a:p>
                  </a:txBody>
                  <a:tcPr marL="28575" marR="28575" marT="19050" marB="19050" anchor="b">
                    <a:lnL w="6350" cap="flat" cmpd="sng">
                      <a:solidFill>
                        <a:srgbClr val="000000"/>
                      </a:solidFill>
                      <a:prstDash val="dot"/>
                      <a:round/>
                      <a:headEnd type="none" w="sm" len="sm"/>
                      <a:tailEnd type="none" w="sm" len="sm"/>
                    </a:lnL>
                    <a:lnR w="6350" cap="flat" cmpd="sng">
                      <a:solidFill>
                        <a:srgbClr val="000000"/>
                      </a:solidFill>
                      <a:prstDash val="dot"/>
                      <a:round/>
                      <a:headEnd type="none" w="sm" len="sm"/>
                      <a:tailEnd type="none" w="sm" len="sm"/>
                    </a:lnR>
                    <a:lnT w="6350" cap="flat" cmpd="sng">
                      <a:solidFill>
                        <a:srgbClr val="000000"/>
                      </a:solidFill>
                      <a:prstDash val="dot"/>
                      <a:round/>
                      <a:headEnd type="none" w="sm" len="sm"/>
                      <a:tailEnd type="none" w="sm" len="sm"/>
                    </a:lnT>
                    <a:lnB w="6350" cap="flat" cmpd="sng">
                      <a:solidFill>
                        <a:srgbClr val="000000"/>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1000" b="1">
                          <a:solidFill>
                            <a:srgbClr val="339966"/>
                          </a:solidFill>
                        </a:rPr>
                        <a:t>▲ 4.7%</a:t>
                      </a:r>
                      <a:endParaRPr sz="1000" b="1">
                        <a:solidFill>
                          <a:srgbClr val="339966"/>
                        </a:solidFill>
                      </a:endParaRPr>
                    </a:p>
                  </a:txBody>
                  <a:tcPr marL="28575" marR="28575" marT="19050" marB="19050" anchor="b">
                    <a:lnL w="6350" cap="flat" cmpd="sng">
                      <a:solidFill>
                        <a:srgbClr val="000000"/>
                      </a:solidFill>
                      <a:prstDash val="dot"/>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dot"/>
                      <a:round/>
                      <a:headEnd type="none" w="sm" len="sm"/>
                      <a:tailEnd type="none" w="sm" len="sm"/>
                    </a:lnT>
                    <a:lnB w="6350" cap="flat" cmpd="sng">
                      <a:solidFill>
                        <a:srgbClr val="000000"/>
                      </a:solidFill>
                      <a:prstDash val="dot"/>
                      <a:round/>
                      <a:headEnd type="none" w="sm" len="sm"/>
                      <a:tailEnd type="none" w="sm" len="sm"/>
                    </a:lnB>
                  </a:tcPr>
                </a:tc>
                <a:extLst>
                  <a:ext uri="{0D108BD9-81ED-4DB2-BD59-A6C34878D82A}">
                    <a16:rowId xmlns:a16="http://schemas.microsoft.com/office/drawing/2014/main" val="10003"/>
                  </a:ext>
                </a:extLst>
              </a:tr>
              <a:tr h="200025">
                <a:tc>
                  <a:txBody>
                    <a:bodyPr/>
                    <a:lstStyle/>
                    <a:p>
                      <a:pPr marL="0" marR="0" lvl="0" indent="0" algn="ctr" rtl="0">
                        <a:lnSpc>
                          <a:spcPct val="115000"/>
                        </a:lnSpc>
                        <a:spcBef>
                          <a:spcPts val="0"/>
                        </a:spcBef>
                        <a:spcAft>
                          <a:spcPts val="0"/>
                        </a:spcAft>
                        <a:buNone/>
                      </a:pPr>
                      <a:r>
                        <a:rPr lang="en" sz="900">
                          <a:latin typeface="Lexend"/>
                          <a:ea typeface="Lexend"/>
                          <a:cs typeface="Lexend"/>
                          <a:sym typeface="Lexend"/>
                        </a:rPr>
                        <a:t>Completed_stp</a:t>
                      </a:r>
                      <a:endParaRPr sz="900">
                        <a:latin typeface="Lexend"/>
                        <a:ea typeface="Lexend"/>
                        <a:cs typeface="Lexend"/>
                        <a:sym typeface="Lexend"/>
                      </a:endParaRPr>
                    </a:p>
                  </a:txBody>
                  <a:tcPr marL="91425" marR="91425" marT="19050" marB="19050" anchor="ctr">
                    <a:lnL w="6350" cap="flat" cmpd="sng">
                      <a:solidFill>
                        <a:srgbClr val="000000"/>
                      </a:solidFill>
                      <a:prstDash val="solid"/>
                      <a:round/>
                      <a:headEnd type="none" w="sm" len="sm"/>
                      <a:tailEnd type="none" w="sm" len="sm"/>
                    </a:lnL>
                    <a:lnR w="6350" cap="flat" cmpd="sng">
                      <a:solidFill>
                        <a:srgbClr val="000000"/>
                      </a:solidFill>
                      <a:prstDash val="dot"/>
                      <a:round/>
                      <a:headEnd type="none" w="sm" len="sm"/>
                      <a:tailEnd type="none" w="sm" len="sm"/>
                    </a:lnR>
                    <a:lnT w="6350" cap="flat" cmpd="sng">
                      <a:solidFill>
                        <a:srgbClr val="000000"/>
                      </a:solidFill>
                      <a:prstDash val="dot"/>
                      <a:round/>
                      <a:headEnd type="none" w="sm" len="sm"/>
                      <a:tailEnd type="none" w="sm" len="sm"/>
                    </a:lnT>
                    <a:lnB w="6350" cap="flat" cmpd="sng">
                      <a:solidFill>
                        <a:srgbClr val="000000"/>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1000"/>
                        <a:t>297K</a:t>
                      </a:r>
                      <a:endParaRPr sz="1000"/>
                    </a:p>
                  </a:txBody>
                  <a:tcPr marL="28575" marR="28575" marT="19050" marB="19050" anchor="b">
                    <a:lnL w="6350" cap="flat" cmpd="sng">
                      <a:solidFill>
                        <a:srgbClr val="000000"/>
                      </a:solidFill>
                      <a:prstDash val="dot"/>
                      <a:round/>
                      <a:headEnd type="none" w="sm" len="sm"/>
                      <a:tailEnd type="none" w="sm" len="sm"/>
                    </a:lnL>
                    <a:lnR w="6350" cap="flat" cmpd="sng">
                      <a:solidFill>
                        <a:srgbClr val="000000"/>
                      </a:solidFill>
                      <a:prstDash val="dot"/>
                      <a:round/>
                      <a:headEnd type="none" w="sm" len="sm"/>
                      <a:tailEnd type="none" w="sm" len="sm"/>
                    </a:lnR>
                    <a:lnT w="6350" cap="flat" cmpd="sng">
                      <a:solidFill>
                        <a:srgbClr val="000000"/>
                      </a:solidFill>
                      <a:prstDash val="dot"/>
                      <a:round/>
                      <a:headEnd type="none" w="sm" len="sm"/>
                      <a:tailEnd type="none" w="sm" len="sm"/>
                    </a:lnT>
                    <a:lnB w="6350" cap="flat" cmpd="sng">
                      <a:solidFill>
                        <a:srgbClr val="000000"/>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1000" b="1">
                          <a:solidFill>
                            <a:srgbClr val="339966"/>
                          </a:solidFill>
                        </a:rPr>
                        <a:t>▲ 4.1%</a:t>
                      </a:r>
                      <a:endParaRPr sz="1000" b="1">
                        <a:solidFill>
                          <a:srgbClr val="339966"/>
                        </a:solidFill>
                      </a:endParaRPr>
                    </a:p>
                  </a:txBody>
                  <a:tcPr marL="28575" marR="28575" marT="19050" marB="19050" anchor="b">
                    <a:lnL w="6350" cap="flat" cmpd="sng">
                      <a:solidFill>
                        <a:srgbClr val="000000"/>
                      </a:solidFill>
                      <a:prstDash val="dot"/>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dot"/>
                      <a:round/>
                      <a:headEnd type="none" w="sm" len="sm"/>
                      <a:tailEnd type="none" w="sm" len="sm"/>
                    </a:lnT>
                    <a:lnB w="6350" cap="flat" cmpd="sng">
                      <a:solidFill>
                        <a:srgbClr val="000000"/>
                      </a:solidFill>
                      <a:prstDash val="dot"/>
                      <a:round/>
                      <a:headEnd type="none" w="sm" len="sm"/>
                      <a:tailEnd type="none" w="sm" len="sm"/>
                    </a:lnB>
                  </a:tcPr>
                </a:tc>
                <a:extLst>
                  <a:ext uri="{0D108BD9-81ED-4DB2-BD59-A6C34878D82A}">
                    <a16:rowId xmlns:a16="http://schemas.microsoft.com/office/drawing/2014/main" val="10004"/>
                  </a:ext>
                </a:extLst>
              </a:tr>
              <a:tr h="200025">
                <a:tc>
                  <a:txBody>
                    <a:bodyPr/>
                    <a:lstStyle/>
                    <a:p>
                      <a:pPr marL="0" lvl="0" indent="0" algn="ctr" rtl="0">
                        <a:lnSpc>
                          <a:spcPct val="115000"/>
                        </a:lnSpc>
                        <a:spcBef>
                          <a:spcPts val="0"/>
                        </a:spcBef>
                        <a:spcAft>
                          <a:spcPts val="0"/>
                        </a:spcAft>
                        <a:buNone/>
                      </a:pPr>
                      <a:r>
                        <a:rPr lang="en" sz="900">
                          <a:latin typeface="Lexend"/>
                          <a:ea typeface="Lexend"/>
                          <a:cs typeface="Lexend"/>
                          <a:sym typeface="Lexend"/>
                        </a:rPr>
                        <a:t>AR</a:t>
                      </a:r>
                      <a:endParaRPr sz="900">
                        <a:latin typeface="Lexend"/>
                        <a:ea typeface="Lexend"/>
                        <a:cs typeface="Lexend"/>
                        <a:sym typeface="Lexend"/>
                      </a:endParaRPr>
                    </a:p>
                  </a:txBody>
                  <a:tcPr marL="28575" marR="28575" marT="19050" marB="19050" anchor="ctr">
                    <a:lnL w="6350" cap="flat" cmpd="sng">
                      <a:solidFill>
                        <a:srgbClr val="000000"/>
                      </a:solidFill>
                      <a:prstDash val="solid"/>
                      <a:round/>
                      <a:headEnd type="none" w="sm" len="sm"/>
                      <a:tailEnd type="none" w="sm" len="sm"/>
                    </a:lnL>
                    <a:lnR w="6350" cap="flat" cmpd="sng">
                      <a:solidFill>
                        <a:srgbClr val="000000"/>
                      </a:solidFill>
                      <a:prstDash val="dot"/>
                      <a:round/>
                      <a:headEnd type="none" w="sm" len="sm"/>
                      <a:tailEnd type="none" w="sm" len="sm"/>
                    </a:lnR>
                    <a:lnT w="6350" cap="flat" cmpd="sng">
                      <a:solidFill>
                        <a:srgbClr val="000000"/>
                      </a:solidFill>
                      <a:prstDash val="dot"/>
                      <a:round/>
                      <a:headEnd type="none" w="sm" len="sm"/>
                      <a:tailEnd type="none" w="sm" len="sm"/>
                    </a:lnT>
                    <a:lnB w="6350" cap="flat" cmpd="sng">
                      <a:solidFill>
                        <a:srgbClr val="000000"/>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1000"/>
                        <a:t>85.5%</a:t>
                      </a:r>
                      <a:endParaRPr sz="1000"/>
                    </a:p>
                  </a:txBody>
                  <a:tcPr marL="28575" marR="28575" marT="19050" marB="19050" anchor="b">
                    <a:lnL w="6350" cap="flat" cmpd="sng">
                      <a:solidFill>
                        <a:srgbClr val="000000"/>
                      </a:solidFill>
                      <a:prstDash val="dot"/>
                      <a:round/>
                      <a:headEnd type="none" w="sm" len="sm"/>
                      <a:tailEnd type="none" w="sm" len="sm"/>
                    </a:lnL>
                    <a:lnR w="6350" cap="flat" cmpd="sng">
                      <a:solidFill>
                        <a:srgbClr val="000000"/>
                      </a:solidFill>
                      <a:prstDash val="dot"/>
                      <a:round/>
                      <a:headEnd type="none" w="sm" len="sm"/>
                      <a:tailEnd type="none" w="sm" len="sm"/>
                    </a:lnR>
                    <a:lnT w="6350" cap="flat" cmpd="sng">
                      <a:solidFill>
                        <a:srgbClr val="000000"/>
                      </a:solidFill>
                      <a:prstDash val="dot"/>
                      <a:round/>
                      <a:headEnd type="none" w="sm" len="sm"/>
                      <a:tailEnd type="none" w="sm" len="sm"/>
                    </a:lnT>
                    <a:lnB w="6350" cap="flat" cmpd="sng">
                      <a:solidFill>
                        <a:srgbClr val="000000"/>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1000" b="1">
                          <a:solidFill>
                            <a:srgbClr val="FF0000"/>
                          </a:solidFill>
                        </a:rPr>
                        <a:t>▼ -2.5%</a:t>
                      </a:r>
                      <a:endParaRPr sz="1000" b="1">
                        <a:solidFill>
                          <a:srgbClr val="FF0000"/>
                        </a:solidFill>
                      </a:endParaRPr>
                    </a:p>
                  </a:txBody>
                  <a:tcPr marL="28575" marR="28575" marT="19050" marB="19050" anchor="b">
                    <a:lnL w="6350" cap="flat" cmpd="sng">
                      <a:solidFill>
                        <a:srgbClr val="000000"/>
                      </a:solidFill>
                      <a:prstDash val="dot"/>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dot"/>
                      <a:round/>
                      <a:headEnd type="none" w="sm" len="sm"/>
                      <a:tailEnd type="none" w="sm" len="sm"/>
                    </a:lnT>
                    <a:lnB w="6350" cap="flat" cmpd="sng">
                      <a:solidFill>
                        <a:srgbClr val="000000"/>
                      </a:solidFill>
                      <a:prstDash val="dot"/>
                      <a:round/>
                      <a:headEnd type="none" w="sm" len="sm"/>
                      <a:tailEnd type="none" w="sm" len="sm"/>
                    </a:lnB>
                  </a:tcPr>
                </a:tc>
                <a:extLst>
                  <a:ext uri="{0D108BD9-81ED-4DB2-BD59-A6C34878D82A}">
                    <a16:rowId xmlns:a16="http://schemas.microsoft.com/office/drawing/2014/main" val="10005"/>
                  </a:ext>
                </a:extLst>
              </a:tr>
              <a:tr h="200025">
                <a:tc>
                  <a:txBody>
                    <a:bodyPr/>
                    <a:lstStyle/>
                    <a:p>
                      <a:pPr marL="0" lvl="0" indent="0" algn="ctr" rtl="0">
                        <a:lnSpc>
                          <a:spcPct val="115000"/>
                        </a:lnSpc>
                        <a:spcBef>
                          <a:spcPts val="0"/>
                        </a:spcBef>
                        <a:spcAft>
                          <a:spcPts val="0"/>
                        </a:spcAft>
                        <a:buNone/>
                      </a:pPr>
                      <a:r>
                        <a:rPr lang="en" sz="900">
                          <a:latin typeface="Lexend"/>
                          <a:ea typeface="Lexend"/>
                          <a:cs typeface="Lexend"/>
                          <a:sym typeface="Lexend"/>
                        </a:rPr>
                        <a:t>FR</a:t>
                      </a:r>
                      <a:endParaRPr sz="900">
                        <a:latin typeface="Lexend"/>
                        <a:ea typeface="Lexend"/>
                        <a:cs typeface="Lexend"/>
                        <a:sym typeface="Lexend"/>
                      </a:endParaRPr>
                    </a:p>
                  </a:txBody>
                  <a:tcPr marL="28575" marR="28575" marT="19050" marB="19050" anchor="ctr">
                    <a:lnL w="6350" cap="flat" cmpd="sng">
                      <a:solidFill>
                        <a:srgbClr val="000000"/>
                      </a:solidFill>
                      <a:prstDash val="solid"/>
                      <a:round/>
                      <a:headEnd type="none" w="sm" len="sm"/>
                      <a:tailEnd type="none" w="sm" len="sm"/>
                    </a:lnL>
                    <a:lnR w="6350" cap="flat" cmpd="sng">
                      <a:solidFill>
                        <a:srgbClr val="000000"/>
                      </a:solidFill>
                      <a:prstDash val="dot"/>
                      <a:round/>
                      <a:headEnd type="none" w="sm" len="sm"/>
                      <a:tailEnd type="none" w="sm" len="sm"/>
                    </a:lnR>
                    <a:lnT w="6350" cap="flat" cmpd="sng">
                      <a:solidFill>
                        <a:srgbClr val="000000"/>
                      </a:solidFill>
                      <a:prstDash val="dot"/>
                      <a:round/>
                      <a:headEnd type="none" w="sm" len="sm"/>
                      <a:tailEnd type="none" w="sm" len="sm"/>
                    </a:lnT>
                    <a:lnB w="635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75.8%</a:t>
                      </a:r>
                      <a:endParaRPr sz="1000"/>
                    </a:p>
                  </a:txBody>
                  <a:tcPr marL="28575" marR="28575" marT="19050" marB="19050" anchor="b">
                    <a:lnL w="6350" cap="flat" cmpd="sng">
                      <a:solidFill>
                        <a:srgbClr val="000000"/>
                      </a:solidFill>
                      <a:prstDash val="dot"/>
                      <a:round/>
                      <a:headEnd type="none" w="sm" len="sm"/>
                      <a:tailEnd type="none" w="sm" len="sm"/>
                    </a:lnL>
                    <a:lnR w="6350" cap="flat" cmpd="sng">
                      <a:solidFill>
                        <a:srgbClr val="000000"/>
                      </a:solidFill>
                      <a:prstDash val="dot"/>
                      <a:round/>
                      <a:headEnd type="none" w="sm" len="sm"/>
                      <a:tailEnd type="none" w="sm" len="sm"/>
                    </a:lnR>
                    <a:lnT w="6350" cap="flat" cmpd="sng">
                      <a:solidFill>
                        <a:srgbClr val="000000"/>
                      </a:solidFill>
                      <a:prstDash val="dot"/>
                      <a:round/>
                      <a:headEnd type="none" w="sm" len="sm"/>
                      <a:tailEnd type="none" w="sm" len="sm"/>
                    </a:lnT>
                    <a:lnB w="635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b="1">
                          <a:solidFill>
                            <a:srgbClr val="FF0000"/>
                          </a:solidFill>
                        </a:rPr>
                        <a:t>▼ -2.7%</a:t>
                      </a:r>
                      <a:endParaRPr sz="1000" b="1">
                        <a:solidFill>
                          <a:srgbClr val="FF0000"/>
                        </a:solidFill>
                      </a:endParaRPr>
                    </a:p>
                  </a:txBody>
                  <a:tcPr marL="28575" marR="28575" marT="19050" marB="19050" anchor="b">
                    <a:lnL w="6350" cap="flat" cmpd="sng">
                      <a:solidFill>
                        <a:srgbClr val="000000"/>
                      </a:solidFill>
                      <a:prstDash val="dot"/>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dot"/>
                      <a:round/>
                      <a:headEnd type="none" w="sm" len="sm"/>
                      <a:tailEnd type="none" w="sm" len="sm"/>
                    </a:lnT>
                    <a:lnB w="6350" cap="flat" cmpd="sng">
                      <a:solidFill>
                        <a:srgbClr val="000000"/>
                      </a:solidFill>
                      <a:prstDash val="solid"/>
                      <a:round/>
                      <a:headEnd type="none" w="sm" len="sm"/>
                      <a:tailEnd type="none" w="sm" len="sm"/>
                    </a:lnB>
                  </a:tcPr>
                </a:tc>
                <a:extLst>
                  <a:ext uri="{0D108BD9-81ED-4DB2-BD59-A6C34878D82A}">
                    <a16:rowId xmlns:a16="http://schemas.microsoft.com/office/drawing/2014/main" val="10006"/>
                  </a:ext>
                </a:extLst>
              </a:tr>
            </a:tbl>
          </a:graphicData>
        </a:graphic>
      </p:graphicFrame>
      <p:graphicFrame>
        <p:nvGraphicFramePr>
          <p:cNvPr id="231" name="Google Shape;231;p37"/>
          <p:cNvGraphicFramePr/>
          <p:nvPr/>
        </p:nvGraphicFramePr>
        <p:xfrm>
          <a:off x="640025" y="1214313"/>
          <a:ext cx="3000000" cy="3000000"/>
        </p:xfrm>
        <a:graphic>
          <a:graphicData uri="http://schemas.openxmlformats.org/drawingml/2006/table">
            <a:tbl>
              <a:tblPr>
                <a:noFill/>
                <a:tableStyleId>{BD4DB973-2F49-4540-A1CC-0EE3EA8BBFB3}</a:tableStyleId>
              </a:tblPr>
              <a:tblGrid>
                <a:gridCol w="704675">
                  <a:extLst>
                    <a:ext uri="{9D8B030D-6E8A-4147-A177-3AD203B41FA5}">
                      <a16:colId xmlns:a16="http://schemas.microsoft.com/office/drawing/2014/main" val="20000"/>
                    </a:ext>
                  </a:extLst>
                </a:gridCol>
                <a:gridCol w="704675">
                  <a:extLst>
                    <a:ext uri="{9D8B030D-6E8A-4147-A177-3AD203B41FA5}">
                      <a16:colId xmlns:a16="http://schemas.microsoft.com/office/drawing/2014/main" val="20001"/>
                    </a:ext>
                  </a:extLst>
                </a:gridCol>
                <a:gridCol w="784075">
                  <a:extLst>
                    <a:ext uri="{9D8B030D-6E8A-4147-A177-3AD203B41FA5}">
                      <a16:colId xmlns:a16="http://schemas.microsoft.com/office/drawing/2014/main" val="20002"/>
                    </a:ext>
                  </a:extLst>
                </a:gridCol>
                <a:gridCol w="704675">
                  <a:extLst>
                    <a:ext uri="{9D8B030D-6E8A-4147-A177-3AD203B41FA5}">
                      <a16:colId xmlns:a16="http://schemas.microsoft.com/office/drawing/2014/main" val="20003"/>
                    </a:ext>
                  </a:extLst>
                </a:gridCol>
                <a:gridCol w="704675">
                  <a:extLst>
                    <a:ext uri="{9D8B030D-6E8A-4147-A177-3AD203B41FA5}">
                      <a16:colId xmlns:a16="http://schemas.microsoft.com/office/drawing/2014/main" val="20004"/>
                    </a:ext>
                  </a:extLst>
                </a:gridCol>
              </a:tblGrid>
              <a:tr h="324400">
                <a:tc>
                  <a:txBody>
                    <a:bodyPr/>
                    <a:lstStyle/>
                    <a:p>
                      <a:pPr marL="0" lvl="0" indent="0" algn="ctr" rtl="0">
                        <a:lnSpc>
                          <a:spcPct val="115000"/>
                        </a:lnSpc>
                        <a:spcBef>
                          <a:spcPts val="0"/>
                        </a:spcBef>
                        <a:spcAft>
                          <a:spcPts val="0"/>
                        </a:spcAft>
                        <a:buNone/>
                      </a:pPr>
                      <a:r>
                        <a:rPr lang="en" sz="900" b="1">
                          <a:solidFill>
                            <a:srgbClr val="FFFFFF"/>
                          </a:solidFill>
                          <a:latin typeface="Lexend"/>
                          <a:ea typeface="Lexend"/>
                          <a:cs typeface="Lexend"/>
                          <a:sym typeface="Lexend"/>
                        </a:rPr>
                        <a:t>Segment</a:t>
                      </a:r>
                      <a:endParaRPr sz="900" b="1">
                        <a:solidFill>
                          <a:srgbClr val="FFFFFF"/>
                        </a:solidFill>
                        <a:latin typeface="Lexend"/>
                        <a:ea typeface="Lexend"/>
                        <a:cs typeface="Lexend"/>
                        <a:sym typeface="Lexend"/>
                      </a:endParaRPr>
                    </a:p>
                  </a:txBody>
                  <a:tcPr marL="28575" marR="28575" marT="19050" marB="19050" anchor="ctr">
                    <a:lnL w="10150" cap="flat" cmpd="sng">
                      <a:solidFill>
                        <a:srgbClr val="000000"/>
                      </a:solidFill>
                      <a:prstDash val="solid"/>
                      <a:round/>
                      <a:headEnd type="none" w="sm" len="sm"/>
                      <a:tailEnd type="none" w="sm" len="sm"/>
                    </a:lnL>
                    <a:lnT w="10150" cap="flat" cmpd="sng">
                      <a:solidFill>
                        <a:srgbClr val="000000"/>
                      </a:solidFill>
                      <a:prstDash val="solid"/>
                      <a:round/>
                      <a:headEnd type="none" w="sm" len="sm"/>
                      <a:tailEnd type="none" w="sm" len="sm"/>
                    </a:lnT>
                    <a:lnB w="10150" cap="flat" cmpd="sng">
                      <a:solidFill>
                        <a:srgbClr val="000000"/>
                      </a:solidFill>
                      <a:prstDash val="solid"/>
                      <a:round/>
                      <a:headEnd type="none" w="sm" len="sm"/>
                      <a:tailEnd type="none" w="sm" len="sm"/>
                    </a:lnB>
                    <a:solidFill>
                      <a:srgbClr val="073763"/>
                    </a:solidFill>
                  </a:tcPr>
                </a:tc>
                <a:tc>
                  <a:txBody>
                    <a:bodyPr/>
                    <a:lstStyle/>
                    <a:p>
                      <a:pPr marL="0" lvl="0" indent="0" algn="ctr" rtl="0">
                        <a:lnSpc>
                          <a:spcPct val="115000"/>
                        </a:lnSpc>
                        <a:spcBef>
                          <a:spcPts val="0"/>
                        </a:spcBef>
                        <a:spcAft>
                          <a:spcPts val="0"/>
                        </a:spcAft>
                        <a:buNone/>
                      </a:pPr>
                      <a:r>
                        <a:rPr lang="en" sz="900" b="1">
                          <a:solidFill>
                            <a:srgbClr val="FFFFFF"/>
                          </a:solidFill>
                          <a:latin typeface="Lexend"/>
                          <a:ea typeface="Lexend"/>
                          <a:cs typeface="Lexend"/>
                          <a:sym typeface="Lexend"/>
                        </a:rPr>
                        <a:t>SH</a:t>
                      </a:r>
                      <a:endParaRPr sz="900" b="1">
                        <a:solidFill>
                          <a:srgbClr val="FFFFFF"/>
                        </a:solidFill>
                        <a:latin typeface="Lexend"/>
                        <a:ea typeface="Lexend"/>
                        <a:cs typeface="Lexend"/>
                        <a:sym typeface="Lexend"/>
                      </a:endParaRPr>
                    </a:p>
                  </a:txBody>
                  <a:tcPr marL="28575" marR="28575" marT="19050" marB="19050" anchor="ctr">
                    <a:lnT w="10150" cap="flat" cmpd="sng">
                      <a:solidFill>
                        <a:srgbClr val="000000"/>
                      </a:solidFill>
                      <a:prstDash val="solid"/>
                      <a:round/>
                      <a:headEnd type="none" w="sm" len="sm"/>
                      <a:tailEnd type="none" w="sm" len="sm"/>
                    </a:lnT>
                    <a:lnB w="10150" cap="flat" cmpd="sng">
                      <a:solidFill>
                        <a:srgbClr val="000000"/>
                      </a:solidFill>
                      <a:prstDash val="solid"/>
                      <a:round/>
                      <a:headEnd type="none" w="sm" len="sm"/>
                      <a:tailEnd type="none" w="sm" len="sm"/>
                    </a:lnB>
                    <a:solidFill>
                      <a:srgbClr val="073763"/>
                    </a:solidFill>
                  </a:tcPr>
                </a:tc>
                <a:tc>
                  <a:txBody>
                    <a:bodyPr/>
                    <a:lstStyle/>
                    <a:p>
                      <a:pPr marL="0" lvl="0" indent="0" algn="ctr" rtl="0">
                        <a:lnSpc>
                          <a:spcPct val="115000"/>
                        </a:lnSpc>
                        <a:spcBef>
                          <a:spcPts val="0"/>
                        </a:spcBef>
                        <a:spcAft>
                          <a:spcPts val="0"/>
                        </a:spcAft>
                        <a:buNone/>
                      </a:pPr>
                      <a:r>
                        <a:rPr lang="en" sz="800" b="1">
                          <a:solidFill>
                            <a:srgbClr val="FFFFFF"/>
                          </a:solidFill>
                          <a:latin typeface="Lexend"/>
                          <a:ea typeface="Lexend"/>
                          <a:cs typeface="Lexend"/>
                          <a:sym typeface="Lexend"/>
                        </a:rPr>
                        <a:t>Gap Planning</a:t>
                      </a:r>
                      <a:endParaRPr sz="800" b="1">
                        <a:solidFill>
                          <a:srgbClr val="FFFFFF"/>
                        </a:solidFill>
                        <a:latin typeface="Lexend"/>
                        <a:ea typeface="Lexend"/>
                        <a:cs typeface="Lexend"/>
                        <a:sym typeface="Lexend"/>
                      </a:endParaRPr>
                    </a:p>
                  </a:txBody>
                  <a:tcPr marL="28575" marR="28575" marT="19050" marB="19050" anchor="ctr">
                    <a:lnT w="10150" cap="flat" cmpd="sng">
                      <a:solidFill>
                        <a:srgbClr val="000000"/>
                      </a:solidFill>
                      <a:prstDash val="solid"/>
                      <a:round/>
                      <a:headEnd type="none" w="sm" len="sm"/>
                      <a:tailEnd type="none" w="sm" len="sm"/>
                    </a:lnT>
                    <a:lnB w="10150" cap="flat" cmpd="sng">
                      <a:solidFill>
                        <a:srgbClr val="000000"/>
                      </a:solidFill>
                      <a:prstDash val="solid"/>
                      <a:round/>
                      <a:headEnd type="none" w="sm" len="sm"/>
                      <a:tailEnd type="none" w="sm" len="sm"/>
                    </a:lnB>
                    <a:solidFill>
                      <a:srgbClr val="FF6D01"/>
                    </a:solidFill>
                  </a:tcPr>
                </a:tc>
                <a:tc>
                  <a:txBody>
                    <a:bodyPr/>
                    <a:lstStyle/>
                    <a:p>
                      <a:pPr marL="0" lvl="0" indent="0" algn="ctr" rtl="0">
                        <a:lnSpc>
                          <a:spcPct val="115000"/>
                        </a:lnSpc>
                        <a:spcBef>
                          <a:spcPts val="0"/>
                        </a:spcBef>
                        <a:spcAft>
                          <a:spcPts val="0"/>
                        </a:spcAft>
                        <a:buNone/>
                      </a:pPr>
                      <a:r>
                        <a:rPr lang="en" sz="900" b="1">
                          <a:solidFill>
                            <a:srgbClr val="FFFFFF"/>
                          </a:solidFill>
                          <a:latin typeface="Lexend"/>
                          <a:ea typeface="Lexend"/>
                          <a:cs typeface="Lexend"/>
                          <a:sym typeface="Lexend"/>
                        </a:rPr>
                        <a:t>SH-WoW</a:t>
                      </a:r>
                      <a:endParaRPr sz="900" b="1">
                        <a:solidFill>
                          <a:srgbClr val="FFFFFF"/>
                        </a:solidFill>
                        <a:latin typeface="Lexend"/>
                        <a:ea typeface="Lexend"/>
                        <a:cs typeface="Lexend"/>
                        <a:sym typeface="Lexend"/>
                      </a:endParaRPr>
                    </a:p>
                  </a:txBody>
                  <a:tcPr marL="28575" marR="28575" marT="19050" marB="19050" anchor="ctr">
                    <a:lnT w="10150" cap="flat" cmpd="sng">
                      <a:solidFill>
                        <a:srgbClr val="000000"/>
                      </a:solidFill>
                      <a:prstDash val="solid"/>
                      <a:round/>
                      <a:headEnd type="none" w="sm" len="sm"/>
                      <a:tailEnd type="none" w="sm" len="sm"/>
                    </a:lnT>
                    <a:lnB w="10150" cap="flat" cmpd="sng">
                      <a:solidFill>
                        <a:srgbClr val="000000"/>
                      </a:solidFill>
                      <a:prstDash val="solid"/>
                      <a:round/>
                      <a:headEnd type="none" w="sm" len="sm"/>
                      <a:tailEnd type="none" w="sm" len="sm"/>
                    </a:lnB>
                    <a:solidFill>
                      <a:srgbClr val="FF6D01"/>
                    </a:solidFill>
                  </a:tcPr>
                </a:tc>
                <a:tc>
                  <a:txBody>
                    <a:bodyPr/>
                    <a:lstStyle/>
                    <a:p>
                      <a:pPr marL="0" lvl="0" indent="0" algn="ctr" rtl="0">
                        <a:lnSpc>
                          <a:spcPct val="115000"/>
                        </a:lnSpc>
                        <a:spcBef>
                          <a:spcPts val="0"/>
                        </a:spcBef>
                        <a:spcAft>
                          <a:spcPts val="0"/>
                        </a:spcAft>
                        <a:buNone/>
                      </a:pPr>
                      <a:r>
                        <a:rPr lang="en" sz="900" b="1">
                          <a:solidFill>
                            <a:srgbClr val="FFFFFF"/>
                          </a:solidFill>
                          <a:latin typeface="Lexend"/>
                          <a:ea typeface="Lexend"/>
                          <a:cs typeface="Lexend"/>
                          <a:sym typeface="Lexend"/>
                        </a:rPr>
                        <a:t>Prod</a:t>
                      </a:r>
                      <a:endParaRPr sz="900" b="1">
                        <a:solidFill>
                          <a:srgbClr val="FFFFFF"/>
                        </a:solidFill>
                        <a:latin typeface="Lexend"/>
                        <a:ea typeface="Lexend"/>
                        <a:cs typeface="Lexend"/>
                        <a:sym typeface="Lexend"/>
                      </a:endParaRPr>
                    </a:p>
                  </a:txBody>
                  <a:tcPr marL="28575" marR="28575" marT="19050" marB="19050" anchor="ctr">
                    <a:lnT w="10150" cap="flat" cmpd="sng">
                      <a:solidFill>
                        <a:srgbClr val="000000"/>
                      </a:solidFill>
                      <a:prstDash val="solid"/>
                      <a:round/>
                      <a:headEnd type="none" w="sm" len="sm"/>
                      <a:tailEnd type="none" w="sm" len="sm"/>
                    </a:lnT>
                    <a:lnB w="10150" cap="flat" cmpd="sng">
                      <a:solidFill>
                        <a:srgbClr val="000000"/>
                      </a:solidFill>
                      <a:prstDash val="solid"/>
                      <a:round/>
                      <a:headEnd type="none" w="sm" len="sm"/>
                      <a:tailEnd type="none" w="sm" len="sm"/>
                    </a:lnB>
                    <a:solidFill>
                      <a:srgbClr val="073763"/>
                    </a:solidFill>
                  </a:tcPr>
                </a:tc>
                <a:extLst>
                  <a:ext uri="{0D108BD9-81ED-4DB2-BD59-A6C34878D82A}">
                    <a16:rowId xmlns:a16="http://schemas.microsoft.com/office/drawing/2014/main" val="10000"/>
                  </a:ext>
                </a:extLst>
              </a:tr>
              <a:tr h="209925">
                <a:tc>
                  <a:txBody>
                    <a:bodyPr/>
                    <a:lstStyle/>
                    <a:p>
                      <a:pPr marL="0" lvl="0" indent="0" algn="ctr" rtl="0">
                        <a:lnSpc>
                          <a:spcPct val="115000"/>
                        </a:lnSpc>
                        <a:spcBef>
                          <a:spcPts val="0"/>
                        </a:spcBef>
                        <a:spcAft>
                          <a:spcPts val="0"/>
                        </a:spcAft>
                        <a:buNone/>
                      </a:pPr>
                      <a:r>
                        <a:rPr lang="en" sz="900">
                          <a:latin typeface="Lexend"/>
                          <a:ea typeface="Lexend"/>
                          <a:cs typeface="Lexend"/>
                          <a:sym typeface="Lexend"/>
                        </a:rPr>
                        <a:t>FT</a:t>
                      </a:r>
                      <a:endParaRPr sz="900">
                        <a:latin typeface="Lexend"/>
                        <a:ea typeface="Lexend"/>
                        <a:cs typeface="Lexend"/>
                        <a:sym typeface="Lexend"/>
                      </a:endParaRPr>
                    </a:p>
                  </a:txBody>
                  <a:tcPr marL="28575" marR="28575" marT="19050" marB="19050" anchor="ctr">
                    <a:lnL w="10150" cap="flat" cmpd="sng">
                      <a:solidFill>
                        <a:srgbClr val="000000"/>
                      </a:solidFill>
                      <a:prstDash val="solid"/>
                      <a:round/>
                      <a:headEnd type="none" w="sm" len="sm"/>
                      <a:tailEnd type="none" w="sm" len="sm"/>
                    </a:lnL>
                    <a:lnR w="10150" cap="flat" cmpd="sng">
                      <a:solidFill>
                        <a:srgbClr val="000000"/>
                      </a:solidFill>
                      <a:prstDash val="dot"/>
                      <a:round/>
                      <a:headEnd type="none" w="sm" len="sm"/>
                      <a:tailEnd type="none" w="sm" len="sm"/>
                    </a:lnR>
                    <a:lnT w="10150" cap="flat" cmpd="sng">
                      <a:solidFill>
                        <a:srgbClr val="000000"/>
                      </a:solidFill>
                      <a:prstDash val="solid"/>
                      <a:round/>
                      <a:headEnd type="none" w="sm" len="sm"/>
                      <a:tailEnd type="none" w="sm" len="sm"/>
                    </a:lnT>
                    <a:lnB w="10150" cap="flat" cmpd="sng">
                      <a:solidFill>
                        <a:srgbClr val="000000"/>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1000"/>
                        <a:t>50K</a:t>
                      </a:r>
                      <a:endParaRPr sz="1000"/>
                    </a:p>
                  </a:txBody>
                  <a:tcPr marL="28575" marR="28575" marT="19050" marB="19050" anchor="b">
                    <a:lnL w="10150" cap="flat" cmpd="sng">
                      <a:solidFill>
                        <a:srgbClr val="000000"/>
                      </a:solidFill>
                      <a:prstDash val="dot"/>
                      <a:round/>
                      <a:headEnd type="none" w="sm" len="sm"/>
                      <a:tailEnd type="none" w="sm" len="sm"/>
                    </a:lnL>
                    <a:lnR w="10150" cap="flat" cmpd="sng">
                      <a:solidFill>
                        <a:srgbClr val="000000"/>
                      </a:solidFill>
                      <a:prstDash val="dot"/>
                      <a:round/>
                      <a:headEnd type="none" w="sm" len="sm"/>
                      <a:tailEnd type="none" w="sm" len="sm"/>
                    </a:lnR>
                    <a:lnT w="10150" cap="flat" cmpd="sng">
                      <a:solidFill>
                        <a:srgbClr val="000000"/>
                      </a:solidFill>
                      <a:prstDash val="solid"/>
                      <a:round/>
                      <a:headEnd type="none" w="sm" len="sm"/>
                      <a:tailEnd type="none" w="sm" len="sm"/>
                    </a:lnT>
                    <a:lnB w="10150" cap="flat" cmpd="sng">
                      <a:solidFill>
                        <a:srgbClr val="000000"/>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1000" b="1">
                          <a:solidFill>
                            <a:srgbClr val="CC0000"/>
                          </a:solidFill>
                        </a:rPr>
                        <a:t>-12.29%</a:t>
                      </a:r>
                      <a:endParaRPr sz="1000" b="1">
                        <a:solidFill>
                          <a:srgbClr val="CC0000"/>
                        </a:solidFill>
                      </a:endParaRPr>
                    </a:p>
                  </a:txBody>
                  <a:tcPr marL="28575" marR="28575" marT="19050" marB="19050" anchor="b">
                    <a:lnL w="10150" cap="flat" cmpd="sng">
                      <a:solidFill>
                        <a:srgbClr val="000000"/>
                      </a:solidFill>
                      <a:prstDash val="dot"/>
                      <a:round/>
                      <a:headEnd type="none" w="sm" len="sm"/>
                      <a:tailEnd type="none" w="sm" len="sm"/>
                    </a:lnL>
                    <a:lnR w="10150" cap="flat" cmpd="sng">
                      <a:solidFill>
                        <a:srgbClr val="000000"/>
                      </a:solidFill>
                      <a:prstDash val="dot"/>
                      <a:round/>
                      <a:headEnd type="none" w="sm" len="sm"/>
                      <a:tailEnd type="none" w="sm" len="sm"/>
                    </a:lnR>
                    <a:lnT w="10150" cap="flat" cmpd="sng">
                      <a:solidFill>
                        <a:srgbClr val="000000"/>
                      </a:solidFill>
                      <a:prstDash val="solid"/>
                      <a:round/>
                      <a:headEnd type="none" w="sm" len="sm"/>
                      <a:tailEnd type="none" w="sm" len="sm"/>
                    </a:lnT>
                    <a:lnB w="10150" cap="flat" cmpd="sng">
                      <a:solidFill>
                        <a:srgbClr val="000000"/>
                      </a:solidFill>
                      <a:prstDash val="dot"/>
                      <a:round/>
                      <a:headEnd type="none" w="sm" len="sm"/>
                      <a:tailEnd type="none" w="sm" len="sm"/>
                    </a:lnB>
                    <a:solidFill>
                      <a:srgbClr val="F4CCCC"/>
                    </a:solidFill>
                  </a:tcPr>
                </a:tc>
                <a:tc>
                  <a:txBody>
                    <a:bodyPr/>
                    <a:lstStyle/>
                    <a:p>
                      <a:pPr marL="0" lvl="0" indent="0" algn="ctr" rtl="0">
                        <a:lnSpc>
                          <a:spcPct val="115000"/>
                        </a:lnSpc>
                        <a:spcBef>
                          <a:spcPts val="0"/>
                        </a:spcBef>
                        <a:spcAft>
                          <a:spcPts val="0"/>
                        </a:spcAft>
                        <a:buNone/>
                      </a:pPr>
                      <a:r>
                        <a:rPr lang="en" sz="1000" b="1">
                          <a:solidFill>
                            <a:srgbClr val="FF0000"/>
                          </a:solidFill>
                        </a:rPr>
                        <a:t>▼ -5.7%</a:t>
                      </a:r>
                      <a:endParaRPr sz="1000" b="1">
                        <a:solidFill>
                          <a:srgbClr val="FF0000"/>
                        </a:solidFill>
                      </a:endParaRPr>
                    </a:p>
                  </a:txBody>
                  <a:tcPr marL="28575" marR="28575" marT="19050" marB="19050" anchor="b">
                    <a:lnL w="10150" cap="flat" cmpd="sng">
                      <a:solidFill>
                        <a:srgbClr val="000000"/>
                      </a:solidFill>
                      <a:prstDash val="dot"/>
                      <a:round/>
                      <a:headEnd type="none" w="sm" len="sm"/>
                      <a:tailEnd type="none" w="sm" len="sm"/>
                    </a:lnL>
                    <a:lnR w="10150" cap="flat" cmpd="sng">
                      <a:solidFill>
                        <a:srgbClr val="000000"/>
                      </a:solidFill>
                      <a:prstDash val="dot"/>
                      <a:round/>
                      <a:headEnd type="none" w="sm" len="sm"/>
                      <a:tailEnd type="none" w="sm" len="sm"/>
                    </a:lnR>
                    <a:lnT w="10150" cap="flat" cmpd="sng">
                      <a:solidFill>
                        <a:srgbClr val="000000"/>
                      </a:solidFill>
                      <a:prstDash val="solid"/>
                      <a:round/>
                      <a:headEnd type="none" w="sm" len="sm"/>
                      <a:tailEnd type="none" w="sm" len="sm"/>
                    </a:lnT>
                    <a:lnB w="10150" cap="flat" cmpd="sng">
                      <a:solidFill>
                        <a:srgbClr val="000000"/>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1000"/>
                        <a:t>73.1</a:t>
                      </a:r>
                      <a:endParaRPr sz="1000"/>
                    </a:p>
                  </a:txBody>
                  <a:tcPr marL="28575" marR="28575" marT="19050" marB="19050" anchor="b">
                    <a:lnL w="10150" cap="flat" cmpd="sng">
                      <a:solidFill>
                        <a:srgbClr val="000000"/>
                      </a:solidFill>
                      <a:prstDash val="dot"/>
                      <a:round/>
                      <a:headEnd type="none" w="sm" len="sm"/>
                      <a:tailEnd type="none" w="sm" len="sm"/>
                    </a:lnL>
                    <a:lnR w="10150" cap="flat" cmpd="sng">
                      <a:solidFill>
                        <a:srgbClr val="000000"/>
                      </a:solidFill>
                      <a:prstDash val="dot"/>
                      <a:round/>
                      <a:headEnd type="none" w="sm" len="sm"/>
                      <a:tailEnd type="none" w="sm" len="sm"/>
                    </a:lnR>
                    <a:lnT w="10150" cap="flat" cmpd="sng">
                      <a:solidFill>
                        <a:srgbClr val="000000"/>
                      </a:solidFill>
                      <a:prstDash val="solid"/>
                      <a:round/>
                      <a:headEnd type="none" w="sm" len="sm"/>
                      <a:tailEnd type="none" w="sm" len="sm"/>
                    </a:lnT>
                    <a:lnB w="10150" cap="flat" cmpd="sng">
                      <a:solidFill>
                        <a:srgbClr val="000000"/>
                      </a:solidFill>
                      <a:prstDash val="dot"/>
                      <a:round/>
                      <a:headEnd type="none" w="sm" len="sm"/>
                      <a:tailEnd type="none" w="sm" len="sm"/>
                    </a:lnB>
                  </a:tcPr>
                </a:tc>
                <a:extLst>
                  <a:ext uri="{0D108BD9-81ED-4DB2-BD59-A6C34878D82A}">
                    <a16:rowId xmlns:a16="http://schemas.microsoft.com/office/drawing/2014/main" val="10001"/>
                  </a:ext>
                </a:extLst>
              </a:tr>
              <a:tr h="209925">
                <a:tc>
                  <a:txBody>
                    <a:bodyPr/>
                    <a:lstStyle/>
                    <a:p>
                      <a:pPr marL="0" lvl="0" indent="0" algn="ctr" rtl="0">
                        <a:lnSpc>
                          <a:spcPct val="115000"/>
                        </a:lnSpc>
                        <a:spcBef>
                          <a:spcPts val="0"/>
                        </a:spcBef>
                        <a:spcAft>
                          <a:spcPts val="0"/>
                        </a:spcAft>
                        <a:buNone/>
                      </a:pPr>
                      <a:r>
                        <a:rPr lang="en" sz="900">
                          <a:latin typeface="Lexend"/>
                          <a:ea typeface="Lexend"/>
                          <a:cs typeface="Lexend"/>
                          <a:sym typeface="Lexend"/>
                        </a:rPr>
                        <a:t>NIM</a:t>
                      </a:r>
                      <a:endParaRPr sz="900">
                        <a:latin typeface="Lexend"/>
                        <a:ea typeface="Lexend"/>
                        <a:cs typeface="Lexend"/>
                        <a:sym typeface="Lexend"/>
                      </a:endParaRPr>
                    </a:p>
                  </a:txBody>
                  <a:tcPr marL="28575" marR="28575" marT="19050" marB="19050" anchor="ctr">
                    <a:lnL w="10150" cap="flat" cmpd="sng">
                      <a:solidFill>
                        <a:srgbClr val="000000"/>
                      </a:solidFill>
                      <a:prstDash val="solid"/>
                      <a:round/>
                      <a:headEnd type="none" w="sm" len="sm"/>
                      <a:tailEnd type="none" w="sm" len="sm"/>
                    </a:lnL>
                    <a:lnR w="10150" cap="flat" cmpd="sng">
                      <a:solidFill>
                        <a:srgbClr val="000000"/>
                      </a:solidFill>
                      <a:prstDash val="dot"/>
                      <a:round/>
                      <a:headEnd type="none" w="sm" len="sm"/>
                      <a:tailEnd type="none" w="sm" len="sm"/>
                    </a:lnR>
                    <a:lnT w="10150" cap="flat" cmpd="sng">
                      <a:solidFill>
                        <a:srgbClr val="000000"/>
                      </a:solidFill>
                      <a:prstDash val="dot"/>
                      <a:round/>
                      <a:headEnd type="none" w="sm" len="sm"/>
                      <a:tailEnd type="none" w="sm" len="sm"/>
                    </a:lnT>
                    <a:lnB w="10150" cap="flat" cmpd="sng">
                      <a:solidFill>
                        <a:srgbClr val="000000"/>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1000"/>
                        <a:t>10K</a:t>
                      </a:r>
                      <a:endParaRPr sz="1000"/>
                    </a:p>
                  </a:txBody>
                  <a:tcPr marL="28575" marR="28575" marT="19050" marB="19050" anchor="b">
                    <a:lnL w="10150" cap="flat" cmpd="sng">
                      <a:solidFill>
                        <a:srgbClr val="000000"/>
                      </a:solidFill>
                      <a:prstDash val="dot"/>
                      <a:round/>
                      <a:headEnd type="none" w="sm" len="sm"/>
                      <a:tailEnd type="none" w="sm" len="sm"/>
                    </a:lnL>
                    <a:lnR w="10150" cap="flat" cmpd="sng">
                      <a:solidFill>
                        <a:srgbClr val="000000"/>
                      </a:solidFill>
                      <a:prstDash val="dot"/>
                      <a:round/>
                      <a:headEnd type="none" w="sm" len="sm"/>
                      <a:tailEnd type="none" w="sm" len="sm"/>
                    </a:lnR>
                    <a:lnT w="10150" cap="flat" cmpd="sng">
                      <a:solidFill>
                        <a:srgbClr val="000000"/>
                      </a:solidFill>
                      <a:prstDash val="dot"/>
                      <a:round/>
                      <a:headEnd type="none" w="sm" len="sm"/>
                      <a:tailEnd type="none" w="sm" len="sm"/>
                    </a:lnT>
                    <a:lnB w="10150" cap="flat" cmpd="sng">
                      <a:solidFill>
                        <a:srgbClr val="000000"/>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1000" b="1">
                          <a:solidFill>
                            <a:srgbClr val="CC0000"/>
                          </a:solidFill>
                        </a:rPr>
                        <a:t>-38.71%</a:t>
                      </a:r>
                      <a:endParaRPr sz="1000" b="1">
                        <a:solidFill>
                          <a:srgbClr val="CC0000"/>
                        </a:solidFill>
                      </a:endParaRPr>
                    </a:p>
                  </a:txBody>
                  <a:tcPr marL="28575" marR="28575" marT="19050" marB="19050" anchor="b">
                    <a:lnL w="10150" cap="flat" cmpd="sng">
                      <a:solidFill>
                        <a:srgbClr val="000000"/>
                      </a:solidFill>
                      <a:prstDash val="dot"/>
                      <a:round/>
                      <a:headEnd type="none" w="sm" len="sm"/>
                      <a:tailEnd type="none" w="sm" len="sm"/>
                    </a:lnL>
                    <a:lnR w="10150" cap="flat" cmpd="sng">
                      <a:solidFill>
                        <a:srgbClr val="000000"/>
                      </a:solidFill>
                      <a:prstDash val="dot"/>
                      <a:round/>
                      <a:headEnd type="none" w="sm" len="sm"/>
                      <a:tailEnd type="none" w="sm" len="sm"/>
                    </a:lnR>
                    <a:lnT w="10150" cap="flat" cmpd="sng">
                      <a:solidFill>
                        <a:srgbClr val="000000"/>
                      </a:solidFill>
                      <a:prstDash val="dot"/>
                      <a:round/>
                      <a:headEnd type="none" w="sm" len="sm"/>
                      <a:tailEnd type="none" w="sm" len="sm"/>
                    </a:lnT>
                    <a:lnB w="10150" cap="flat" cmpd="sng">
                      <a:solidFill>
                        <a:srgbClr val="000000"/>
                      </a:solidFill>
                      <a:prstDash val="dot"/>
                      <a:round/>
                      <a:headEnd type="none" w="sm" len="sm"/>
                      <a:tailEnd type="none" w="sm" len="sm"/>
                    </a:lnB>
                    <a:solidFill>
                      <a:srgbClr val="F4CCCC"/>
                    </a:solidFill>
                  </a:tcPr>
                </a:tc>
                <a:tc>
                  <a:txBody>
                    <a:bodyPr/>
                    <a:lstStyle/>
                    <a:p>
                      <a:pPr marL="0" lvl="0" indent="0" algn="ctr" rtl="0">
                        <a:lnSpc>
                          <a:spcPct val="115000"/>
                        </a:lnSpc>
                        <a:spcBef>
                          <a:spcPts val="0"/>
                        </a:spcBef>
                        <a:spcAft>
                          <a:spcPts val="0"/>
                        </a:spcAft>
                        <a:buNone/>
                      </a:pPr>
                      <a:r>
                        <a:rPr lang="en" sz="1000" b="1">
                          <a:solidFill>
                            <a:srgbClr val="339966"/>
                          </a:solidFill>
                        </a:rPr>
                        <a:t>▲ 84.5%</a:t>
                      </a:r>
                      <a:endParaRPr sz="1000" b="1">
                        <a:solidFill>
                          <a:srgbClr val="339966"/>
                        </a:solidFill>
                      </a:endParaRPr>
                    </a:p>
                  </a:txBody>
                  <a:tcPr marL="28575" marR="28575" marT="19050" marB="19050" anchor="b">
                    <a:lnL w="10150" cap="flat" cmpd="sng">
                      <a:solidFill>
                        <a:srgbClr val="000000"/>
                      </a:solidFill>
                      <a:prstDash val="dot"/>
                      <a:round/>
                      <a:headEnd type="none" w="sm" len="sm"/>
                      <a:tailEnd type="none" w="sm" len="sm"/>
                    </a:lnL>
                    <a:lnR w="10150" cap="flat" cmpd="sng">
                      <a:solidFill>
                        <a:srgbClr val="000000"/>
                      </a:solidFill>
                      <a:prstDash val="dot"/>
                      <a:round/>
                      <a:headEnd type="none" w="sm" len="sm"/>
                      <a:tailEnd type="none" w="sm" len="sm"/>
                    </a:lnR>
                    <a:lnT w="10150" cap="flat" cmpd="sng">
                      <a:solidFill>
                        <a:srgbClr val="000000"/>
                      </a:solidFill>
                      <a:prstDash val="dot"/>
                      <a:round/>
                      <a:headEnd type="none" w="sm" len="sm"/>
                      <a:tailEnd type="none" w="sm" len="sm"/>
                    </a:lnT>
                    <a:lnB w="10150" cap="flat" cmpd="sng">
                      <a:solidFill>
                        <a:srgbClr val="000000"/>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1000"/>
                        <a:t>23.2</a:t>
                      </a:r>
                      <a:endParaRPr sz="1000"/>
                    </a:p>
                  </a:txBody>
                  <a:tcPr marL="28575" marR="28575" marT="19050" marB="19050" anchor="b">
                    <a:lnL w="10150" cap="flat" cmpd="sng">
                      <a:solidFill>
                        <a:srgbClr val="000000"/>
                      </a:solidFill>
                      <a:prstDash val="dot"/>
                      <a:round/>
                      <a:headEnd type="none" w="sm" len="sm"/>
                      <a:tailEnd type="none" w="sm" len="sm"/>
                    </a:lnL>
                    <a:lnR w="10150" cap="flat" cmpd="sng">
                      <a:solidFill>
                        <a:srgbClr val="000000"/>
                      </a:solidFill>
                      <a:prstDash val="dot"/>
                      <a:round/>
                      <a:headEnd type="none" w="sm" len="sm"/>
                      <a:tailEnd type="none" w="sm" len="sm"/>
                    </a:lnR>
                    <a:lnT w="10150" cap="flat" cmpd="sng">
                      <a:solidFill>
                        <a:srgbClr val="000000"/>
                      </a:solidFill>
                      <a:prstDash val="dot"/>
                      <a:round/>
                      <a:headEnd type="none" w="sm" len="sm"/>
                      <a:tailEnd type="none" w="sm" len="sm"/>
                    </a:lnT>
                    <a:lnB w="10150" cap="flat" cmpd="sng">
                      <a:solidFill>
                        <a:srgbClr val="000000"/>
                      </a:solidFill>
                      <a:prstDash val="dot"/>
                      <a:round/>
                      <a:headEnd type="none" w="sm" len="sm"/>
                      <a:tailEnd type="none" w="sm" len="sm"/>
                    </a:lnB>
                  </a:tcPr>
                </a:tc>
                <a:extLst>
                  <a:ext uri="{0D108BD9-81ED-4DB2-BD59-A6C34878D82A}">
                    <a16:rowId xmlns:a16="http://schemas.microsoft.com/office/drawing/2014/main" val="10002"/>
                  </a:ext>
                </a:extLst>
              </a:tr>
              <a:tr h="107875">
                <a:tc>
                  <a:txBody>
                    <a:bodyPr/>
                    <a:lstStyle/>
                    <a:p>
                      <a:pPr marL="0" lvl="0" indent="0" algn="ctr" rtl="0">
                        <a:lnSpc>
                          <a:spcPct val="115000"/>
                        </a:lnSpc>
                        <a:spcBef>
                          <a:spcPts val="0"/>
                        </a:spcBef>
                        <a:spcAft>
                          <a:spcPts val="0"/>
                        </a:spcAft>
                        <a:buNone/>
                      </a:pPr>
                      <a:r>
                        <a:rPr lang="en" sz="900">
                          <a:latin typeface="Lexend"/>
                          <a:ea typeface="Lexend"/>
                          <a:cs typeface="Lexend"/>
                          <a:sym typeface="Lexend"/>
                        </a:rPr>
                        <a:t>NLM</a:t>
                      </a:r>
                      <a:endParaRPr sz="900">
                        <a:latin typeface="Lexend"/>
                        <a:ea typeface="Lexend"/>
                        <a:cs typeface="Lexend"/>
                        <a:sym typeface="Lexend"/>
                      </a:endParaRPr>
                    </a:p>
                  </a:txBody>
                  <a:tcPr marL="28575" marR="28575" marT="19050" marB="19050" anchor="ctr">
                    <a:lnL w="10150" cap="flat" cmpd="sng">
                      <a:solidFill>
                        <a:srgbClr val="000000"/>
                      </a:solidFill>
                      <a:prstDash val="solid"/>
                      <a:round/>
                      <a:headEnd type="none" w="sm" len="sm"/>
                      <a:tailEnd type="none" w="sm" len="sm"/>
                    </a:lnL>
                    <a:lnR w="10150" cap="flat" cmpd="sng">
                      <a:solidFill>
                        <a:srgbClr val="000000"/>
                      </a:solidFill>
                      <a:prstDash val="dot"/>
                      <a:round/>
                      <a:headEnd type="none" w="sm" len="sm"/>
                      <a:tailEnd type="none" w="sm" len="sm"/>
                    </a:lnR>
                    <a:lnT w="10150" cap="flat" cmpd="sng">
                      <a:solidFill>
                        <a:srgbClr val="000000"/>
                      </a:solidFill>
                      <a:prstDash val="dot"/>
                      <a:round/>
                      <a:headEnd type="none" w="sm" len="sm"/>
                      <a:tailEnd type="none" w="sm" len="sm"/>
                    </a:lnT>
                    <a:lnB w="10150" cap="flat" cmpd="sng">
                      <a:solidFill>
                        <a:srgbClr val="000000"/>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1000"/>
                        <a:t>15K</a:t>
                      </a:r>
                      <a:endParaRPr sz="1000"/>
                    </a:p>
                  </a:txBody>
                  <a:tcPr marL="28575" marR="28575" marT="19050" marB="19050" anchor="b">
                    <a:lnL w="10150" cap="flat" cmpd="sng">
                      <a:solidFill>
                        <a:srgbClr val="000000"/>
                      </a:solidFill>
                      <a:prstDash val="dot"/>
                      <a:round/>
                      <a:headEnd type="none" w="sm" len="sm"/>
                      <a:tailEnd type="none" w="sm" len="sm"/>
                    </a:lnL>
                    <a:lnR w="10150" cap="flat" cmpd="sng">
                      <a:solidFill>
                        <a:srgbClr val="000000"/>
                      </a:solidFill>
                      <a:prstDash val="dot"/>
                      <a:round/>
                      <a:headEnd type="none" w="sm" len="sm"/>
                      <a:tailEnd type="none" w="sm" len="sm"/>
                    </a:lnR>
                    <a:lnT w="10150" cap="flat" cmpd="sng">
                      <a:solidFill>
                        <a:srgbClr val="000000"/>
                      </a:solidFill>
                      <a:prstDash val="dot"/>
                      <a:round/>
                      <a:headEnd type="none" w="sm" len="sm"/>
                      <a:tailEnd type="none" w="sm" len="sm"/>
                    </a:lnT>
                    <a:lnB w="10150" cap="flat" cmpd="sng">
                      <a:solidFill>
                        <a:srgbClr val="000000"/>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1000" b="1">
                          <a:solidFill>
                            <a:srgbClr val="CC0000"/>
                          </a:solidFill>
                        </a:rPr>
                        <a:t>-16.49%</a:t>
                      </a:r>
                      <a:endParaRPr sz="1000" b="1">
                        <a:solidFill>
                          <a:srgbClr val="CC0000"/>
                        </a:solidFill>
                      </a:endParaRPr>
                    </a:p>
                  </a:txBody>
                  <a:tcPr marL="28575" marR="28575" marT="19050" marB="19050" anchor="b">
                    <a:lnL w="10150" cap="flat" cmpd="sng">
                      <a:solidFill>
                        <a:srgbClr val="000000"/>
                      </a:solidFill>
                      <a:prstDash val="dot"/>
                      <a:round/>
                      <a:headEnd type="none" w="sm" len="sm"/>
                      <a:tailEnd type="none" w="sm" len="sm"/>
                    </a:lnL>
                    <a:lnR w="10150" cap="flat" cmpd="sng">
                      <a:solidFill>
                        <a:srgbClr val="000000"/>
                      </a:solidFill>
                      <a:prstDash val="dot"/>
                      <a:round/>
                      <a:headEnd type="none" w="sm" len="sm"/>
                      <a:tailEnd type="none" w="sm" len="sm"/>
                    </a:lnR>
                    <a:lnT w="10150" cap="flat" cmpd="sng">
                      <a:solidFill>
                        <a:srgbClr val="000000"/>
                      </a:solidFill>
                      <a:prstDash val="dot"/>
                      <a:round/>
                      <a:headEnd type="none" w="sm" len="sm"/>
                      <a:tailEnd type="none" w="sm" len="sm"/>
                    </a:lnT>
                    <a:lnB w="10150" cap="flat" cmpd="sng">
                      <a:solidFill>
                        <a:srgbClr val="000000"/>
                      </a:solidFill>
                      <a:prstDash val="dot"/>
                      <a:round/>
                      <a:headEnd type="none" w="sm" len="sm"/>
                      <a:tailEnd type="none" w="sm" len="sm"/>
                    </a:lnB>
                    <a:solidFill>
                      <a:srgbClr val="F4CCCC"/>
                    </a:solidFill>
                  </a:tcPr>
                </a:tc>
                <a:tc>
                  <a:txBody>
                    <a:bodyPr/>
                    <a:lstStyle/>
                    <a:p>
                      <a:pPr marL="0" lvl="0" indent="0" algn="ctr" rtl="0">
                        <a:lnSpc>
                          <a:spcPct val="115000"/>
                        </a:lnSpc>
                        <a:spcBef>
                          <a:spcPts val="0"/>
                        </a:spcBef>
                        <a:spcAft>
                          <a:spcPts val="0"/>
                        </a:spcAft>
                        <a:buNone/>
                      </a:pPr>
                      <a:r>
                        <a:rPr lang="en" sz="1000" b="1">
                          <a:solidFill>
                            <a:srgbClr val="FF0000"/>
                          </a:solidFill>
                        </a:rPr>
                        <a:t>▼ -20.3%</a:t>
                      </a:r>
                      <a:endParaRPr sz="1000" b="1">
                        <a:solidFill>
                          <a:srgbClr val="FF0000"/>
                        </a:solidFill>
                      </a:endParaRPr>
                    </a:p>
                  </a:txBody>
                  <a:tcPr marL="28575" marR="28575" marT="19050" marB="19050" anchor="b">
                    <a:lnL w="10150" cap="flat" cmpd="sng">
                      <a:solidFill>
                        <a:srgbClr val="000000"/>
                      </a:solidFill>
                      <a:prstDash val="dot"/>
                      <a:round/>
                      <a:headEnd type="none" w="sm" len="sm"/>
                      <a:tailEnd type="none" w="sm" len="sm"/>
                    </a:lnL>
                    <a:lnR w="10150" cap="flat" cmpd="sng">
                      <a:solidFill>
                        <a:srgbClr val="000000"/>
                      </a:solidFill>
                      <a:prstDash val="dot"/>
                      <a:round/>
                      <a:headEnd type="none" w="sm" len="sm"/>
                      <a:tailEnd type="none" w="sm" len="sm"/>
                    </a:lnR>
                    <a:lnT w="10150" cap="flat" cmpd="sng">
                      <a:solidFill>
                        <a:srgbClr val="000000"/>
                      </a:solidFill>
                      <a:prstDash val="dot"/>
                      <a:round/>
                      <a:headEnd type="none" w="sm" len="sm"/>
                      <a:tailEnd type="none" w="sm" len="sm"/>
                    </a:lnT>
                    <a:lnB w="10150" cap="flat" cmpd="sng">
                      <a:solidFill>
                        <a:srgbClr val="000000"/>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1000"/>
                        <a:t>23.9</a:t>
                      </a:r>
                      <a:endParaRPr sz="1000"/>
                    </a:p>
                  </a:txBody>
                  <a:tcPr marL="28575" marR="28575" marT="19050" marB="19050" anchor="b">
                    <a:lnL w="10150" cap="flat" cmpd="sng">
                      <a:solidFill>
                        <a:srgbClr val="000000"/>
                      </a:solidFill>
                      <a:prstDash val="dot"/>
                      <a:round/>
                      <a:headEnd type="none" w="sm" len="sm"/>
                      <a:tailEnd type="none" w="sm" len="sm"/>
                    </a:lnL>
                    <a:lnR w="10150" cap="flat" cmpd="sng">
                      <a:solidFill>
                        <a:srgbClr val="000000"/>
                      </a:solidFill>
                      <a:prstDash val="dot"/>
                      <a:round/>
                      <a:headEnd type="none" w="sm" len="sm"/>
                      <a:tailEnd type="none" w="sm" len="sm"/>
                    </a:lnR>
                    <a:lnT w="10150" cap="flat" cmpd="sng">
                      <a:solidFill>
                        <a:srgbClr val="000000"/>
                      </a:solidFill>
                      <a:prstDash val="dot"/>
                      <a:round/>
                      <a:headEnd type="none" w="sm" len="sm"/>
                      <a:tailEnd type="none" w="sm" len="sm"/>
                    </a:lnT>
                    <a:lnB w="10150" cap="flat" cmpd="sng">
                      <a:solidFill>
                        <a:srgbClr val="000000"/>
                      </a:solidFill>
                      <a:prstDash val="dot"/>
                      <a:round/>
                      <a:headEnd type="none" w="sm" len="sm"/>
                      <a:tailEnd type="none" w="sm" len="sm"/>
                    </a:lnB>
                  </a:tcPr>
                </a:tc>
                <a:extLst>
                  <a:ext uri="{0D108BD9-81ED-4DB2-BD59-A6C34878D82A}">
                    <a16:rowId xmlns:a16="http://schemas.microsoft.com/office/drawing/2014/main" val="10003"/>
                  </a:ext>
                </a:extLst>
              </a:tr>
              <a:tr h="209925">
                <a:tc>
                  <a:txBody>
                    <a:bodyPr/>
                    <a:lstStyle/>
                    <a:p>
                      <a:pPr marL="0" lvl="0" indent="0" algn="ctr" rtl="0">
                        <a:lnSpc>
                          <a:spcPct val="115000"/>
                        </a:lnSpc>
                        <a:spcBef>
                          <a:spcPts val="0"/>
                        </a:spcBef>
                        <a:spcAft>
                          <a:spcPts val="0"/>
                        </a:spcAft>
                        <a:buNone/>
                      </a:pPr>
                      <a:r>
                        <a:rPr lang="en" sz="900">
                          <a:latin typeface="Lexend"/>
                          <a:ea typeface="Lexend"/>
                          <a:cs typeface="Lexend"/>
                          <a:sym typeface="Lexend"/>
                        </a:rPr>
                        <a:t>PT</a:t>
                      </a:r>
                      <a:endParaRPr sz="900">
                        <a:latin typeface="Lexend"/>
                        <a:ea typeface="Lexend"/>
                        <a:cs typeface="Lexend"/>
                        <a:sym typeface="Lexend"/>
                      </a:endParaRPr>
                    </a:p>
                  </a:txBody>
                  <a:tcPr marL="28575" marR="28575" marT="19050" marB="19050" anchor="ctr">
                    <a:lnL w="10150" cap="flat" cmpd="sng">
                      <a:solidFill>
                        <a:srgbClr val="000000"/>
                      </a:solidFill>
                      <a:prstDash val="solid"/>
                      <a:round/>
                      <a:headEnd type="none" w="sm" len="sm"/>
                      <a:tailEnd type="none" w="sm" len="sm"/>
                    </a:lnL>
                    <a:lnR w="10150" cap="flat" cmpd="sng">
                      <a:solidFill>
                        <a:srgbClr val="000000"/>
                      </a:solidFill>
                      <a:prstDash val="dot"/>
                      <a:round/>
                      <a:headEnd type="none" w="sm" len="sm"/>
                      <a:tailEnd type="none" w="sm" len="sm"/>
                    </a:lnR>
                    <a:lnT w="10150" cap="flat" cmpd="sng">
                      <a:solidFill>
                        <a:srgbClr val="000000"/>
                      </a:solidFill>
                      <a:prstDash val="dot"/>
                      <a:round/>
                      <a:headEnd type="none" w="sm" len="sm"/>
                      <a:tailEnd type="none" w="sm" len="sm"/>
                    </a:lnT>
                    <a:lnB w="10150" cap="flat" cmpd="sng">
                      <a:solidFill>
                        <a:srgbClr val="000000"/>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1000"/>
                        <a:t>95K</a:t>
                      </a:r>
                      <a:endParaRPr sz="1000"/>
                    </a:p>
                  </a:txBody>
                  <a:tcPr marL="28575" marR="28575" marT="19050" marB="19050" anchor="b">
                    <a:lnL w="10150" cap="flat" cmpd="sng">
                      <a:solidFill>
                        <a:srgbClr val="000000"/>
                      </a:solidFill>
                      <a:prstDash val="dot"/>
                      <a:round/>
                      <a:headEnd type="none" w="sm" len="sm"/>
                      <a:tailEnd type="none" w="sm" len="sm"/>
                    </a:lnL>
                    <a:lnR w="10150" cap="flat" cmpd="sng">
                      <a:solidFill>
                        <a:srgbClr val="000000"/>
                      </a:solidFill>
                      <a:prstDash val="dot"/>
                      <a:round/>
                      <a:headEnd type="none" w="sm" len="sm"/>
                      <a:tailEnd type="none" w="sm" len="sm"/>
                    </a:lnR>
                    <a:lnT w="10150" cap="flat" cmpd="sng">
                      <a:solidFill>
                        <a:srgbClr val="000000"/>
                      </a:solidFill>
                      <a:prstDash val="dot"/>
                      <a:round/>
                      <a:headEnd type="none" w="sm" len="sm"/>
                      <a:tailEnd type="none" w="sm" len="sm"/>
                    </a:lnT>
                    <a:lnB w="10150" cap="flat" cmpd="sng">
                      <a:solidFill>
                        <a:srgbClr val="000000"/>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1000" b="1">
                          <a:solidFill>
                            <a:srgbClr val="CC0000"/>
                          </a:solidFill>
                        </a:rPr>
                        <a:t>-6.46%</a:t>
                      </a:r>
                      <a:endParaRPr sz="1000" b="1">
                        <a:solidFill>
                          <a:srgbClr val="CC0000"/>
                        </a:solidFill>
                      </a:endParaRPr>
                    </a:p>
                  </a:txBody>
                  <a:tcPr marL="28575" marR="28575" marT="19050" marB="19050" anchor="b">
                    <a:lnL w="10150" cap="flat" cmpd="sng">
                      <a:solidFill>
                        <a:srgbClr val="000000"/>
                      </a:solidFill>
                      <a:prstDash val="dot"/>
                      <a:round/>
                      <a:headEnd type="none" w="sm" len="sm"/>
                      <a:tailEnd type="none" w="sm" len="sm"/>
                    </a:lnL>
                    <a:lnR w="10150" cap="flat" cmpd="sng">
                      <a:solidFill>
                        <a:srgbClr val="000000"/>
                      </a:solidFill>
                      <a:prstDash val="dot"/>
                      <a:round/>
                      <a:headEnd type="none" w="sm" len="sm"/>
                      <a:tailEnd type="none" w="sm" len="sm"/>
                    </a:lnR>
                    <a:lnT w="10150" cap="flat" cmpd="sng">
                      <a:solidFill>
                        <a:srgbClr val="000000"/>
                      </a:solidFill>
                      <a:prstDash val="dot"/>
                      <a:round/>
                      <a:headEnd type="none" w="sm" len="sm"/>
                      <a:tailEnd type="none" w="sm" len="sm"/>
                    </a:lnT>
                    <a:lnB w="10150" cap="flat" cmpd="sng">
                      <a:solidFill>
                        <a:srgbClr val="000000"/>
                      </a:solidFill>
                      <a:prstDash val="dot"/>
                      <a:round/>
                      <a:headEnd type="none" w="sm" len="sm"/>
                      <a:tailEnd type="none" w="sm" len="sm"/>
                    </a:lnB>
                    <a:solidFill>
                      <a:srgbClr val="F4CCCC"/>
                    </a:solidFill>
                  </a:tcPr>
                </a:tc>
                <a:tc>
                  <a:txBody>
                    <a:bodyPr/>
                    <a:lstStyle/>
                    <a:p>
                      <a:pPr marL="0" lvl="0" indent="0" algn="ctr" rtl="0">
                        <a:lnSpc>
                          <a:spcPct val="115000"/>
                        </a:lnSpc>
                        <a:spcBef>
                          <a:spcPts val="0"/>
                        </a:spcBef>
                        <a:spcAft>
                          <a:spcPts val="0"/>
                        </a:spcAft>
                        <a:buNone/>
                      </a:pPr>
                      <a:r>
                        <a:rPr lang="en" sz="1000" b="1">
                          <a:solidFill>
                            <a:srgbClr val="FF0000"/>
                          </a:solidFill>
                        </a:rPr>
                        <a:t>▼ -4.1%</a:t>
                      </a:r>
                      <a:endParaRPr sz="1000" b="1">
                        <a:solidFill>
                          <a:srgbClr val="FF0000"/>
                        </a:solidFill>
                      </a:endParaRPr>
                    </a:p>
                  </a:txBody>
                  <a:tcPr marL="28575" marR="28575" marT="19050" marB="19050" anchor="b">
                    <a:lnL w="10150" cap="flat" cmpd="sng">
                      <a:solidFill>
                        <a:srgbClr val="000000"/>
                      </a:solidFill>
                      <a:prstDash val="dot"/>
                      <a:round/>
                      <a:headEnd type="none" w="sm" len="sm"/>
                      <a:tailEnd type="none" w="sm" len="sm"/>
                    </a:lnL>
                    <a:lnR w="10150" cap="flat" cmpd="sng">
                      <a:solidFill>
                        <a:srgbClr val="000000"/>
                      </a:solidFill>
                      <a:prstDash val="dot"/>
                      <a:round/>
                      <a:headEnd type="none" w="sm" len="sm"/>
                      <a:tailEnd type="none" w="sm" len="sm"/>
                    </a:lnR>
                    <a:lnT w="10150" cap="flat" cmpd="sng">
                      <a:solidFill>
                        <a:srgbClr val="000000"/>
                      </a:solidFill>
                      <a:prstDash val="dot"/>
                      <a:round/>
                      <a:headEnd type="none" w="sm" len="sm"/>
                      <a:tailEnd type="none" w="sm" len="sm"/>
                    </a:lnT>
                    <a:lnB w="10150" cap="flat" cmpd="sng">
                      <a:solidFill>
                        <a:srgbClr val="000000"/>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1000"/>
                        <a:t>26.0</a:t>
                      </a:r>
                      <a:endParaRPr sz="1000"/>
                    </a:p>
                  </a:txBody>
                  <a:tcPr marL="28575" marR="28575" marT="19050" marB="19050" anchor="b">
                    <a:lnL w="10150" cap="flat" cmpd="sng">
                      <a:solidFill>
                        <a:srgbClr val="000000"/>
                      </a:solidFill>
                      <a:prstDash val="dot"/>
                      <a:round/>
                      <a:headEnd type="none" w="sm" len="sm"/>
                      <a:tailEnd type="none" w="sm" len="sm"/>
                    </a:lnL>
                    <a:lnR w="10150" cap="flat" cmpd="sng">
                      <a:solidFill>
                        <a:srgbClr val="000000"/>
                      </a:solidFill>
                      <a:prstDash val="dot"/>
                      <a:round/>
                      <a:headEnd type="none" w="sm" len="sm"/>
                      <a:tailEnd type="none" w="sm" len="sm"/>
                    </a:lnR>
                    <a:lnT w="10150" cap="flat" cmpd="sng">
                      <a:solidFill>
                        <a:srgbClr val="000000"/>
                      </a:solidFill>
                      <a:prstDash val="dot"/>
                      <a:round/>
                      <a:headEnd type="none" w="sm" len="sm"/>
                      <a:tailEnd type="none" w="sm" len="sm"/>
                    </a:lnT>
                    <a:lnB w="10150" cap="flat" cmpd="sng">
                      <a:solidFill>
                        <a:srgbClr val="000000"/>
                      </a:solidFill>
                      <a:prstDash val="dot"/>
                      <a:round/>
                      <a:headEnd type="none" w="sm" len="sm"/>
                      <a:tailEnd type="none" w="sm" len="sm"/>
                    </a:lnB>
                  </a:tcPr>
                </a:tc>
                <a:extLst>
                  <a:ext uri="{0D108BD9-81ED-4DB2-BD59-A6C34878D82A}">
                    <a16:rowId xmlns:a16="http://schemas.microsoft.com/office/drawing/2014/main" val="10004"/>
                  </a:ext>
                </a:extLst>
              </a:tr>
              <a:tr h="209925">
                <a:tc>
                  <a:txBody>
                    <a:bodyPr/>
                    <a:lstStyle/>
                    <a:p>
                      <a:pPr marL="0" lvl="0" indent="0" algn="ctr" rtl="0">
                        <a:lnSpc>
                          <a:spcPct val="115000"/>
                        </a:lnSpc>
                        <a:spcBef>
                          <a:spcPts val="0"/>
                        </a:spcBef>
                        <a:spcAft>
                          <a:spcPts val="0"/>
                        </a:spcAft>
                        <a:buNone/>
                      </a:pPr>
                      <a:r>
                        <a:rPr lang="en" sz="900">
                          <a:latin typeface="Lexend"/>
                          <a:ea typeface="Lexend"/>
                          <a:cs typeface="Lexend"/>
                          <a:sym typeface="Lexend"/>
                        </a:rPr>
                        <a:t>Return</a:t>
                      </a:r>
                      <a:endParaRPr sz="900">
                        <a:latin typeface="Lexend"/>
                        <a:ea typeface="Lexend"/>
                        <a:cs typeface="Lexend"/>
                        <a:sym typeface="Lexend"/>
                      </a:endParaRPr>
                    </a:p>
                  </a:txBody>
                  <a:tcPr marL="28575" marR="28575" marT="19050" marB="19050" anchor="ctr">
                    <a:lnL w="10150" cap="flat" cmpd="sng">
                      <a:solidFill>
                        <a:srgbClr val="000000"/>
                      </a:solidFill>
                      <a:prstDash val="solid"/>
                      <a:round/>
                      <a:headEnd type="none" w="sm" len="sm"/>
                      <a:tailEnd type="none" w="sm" len="sm"/>
                    </a:lnL>
                    <a:lnR w="10150" cap="flat" cmpd="sng">
                      <a:solidFill>
                        <a:srgbClr val="000000"/>
                      </a:solidFill>
                      <a:prstDash val="dot"/>
                      <a:round/>
                      <a:headEnd type="none" w="sm" len="sm"/>
                      <a:tailEnd type="none" w="sm" len="sm"/>
                    </a:lnR>
                    <a:lnT w="10150" cap="flat" cmpd="sng">
                      <a:solidFill>
                        <a:srgbClr val="000000"/>
                      </a:solidFill>
                      <a:prstDash val="dot"/>
                      <a:round/>
                      <a:headEnd type="none" w="sm" len="sm"/>
                      <a:tailEnd type="none" w="sm" len="sm"/>
                    </a:lnT>
                    <a:lnB w="1015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8K</a:t>
                      </a:r>
                      <a:endParaRPr sz="1000"/>
                    </a:p>
                  </a:txBody>
                  <a:tcPr marL="28575" marR="28575" marT="19050" marB="19050" anchor="b">
                    <a:lnL w="10150" cap="flat" cmpd="sng">
                      <a:solidFill>
                        <a:srgbClr val="000000"/>
                      </a:solidFill>
                      <a:prstDash val="dot"/>
                      <a:round/>
                      <a:headEnd type="none" w="sm" len="sm"/>
                      <a:tailEnd type="none" w="sm" len="sm"/>
                    </a:lnL>
                    <a:lnR w="10150" cap="flat" cmpd="sng">
                      <a:solidFill>
                        <a:srgbClr val="000000"/>
                      </a:solidFill>
                      <a:prstDash val="dot"/>
                      <a:round/>
                      <a:headEnd type="none" w="sm" len="sm"/>
                      <a:tailEnd type="none" w="sm" len="sm"/>
                    </a:lnR>
                    <a:lnT w="10150" cap="flat" cmpd="sng">
                      <a:solidFill>
                        <a:srgbClr val="000000"/>
                      </a:solidFill>
                      <a:prstDash val="dot"/>
                      <a:round/>
                      <a:headEnd type="none" w="sm" len="sm"/>
                      <a:tailEnd type="none" w="sm" len="sm"/>
                    </a:lnT>
                    <a:lnB w="1015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b="1">
                          <a:solidFill>
                            <a:srgbClr val="38761D"/>
                          </a:solidFill>
                        </a:rPr>
                        <a:t>28.67%</a:t>
                      </a:r>
                      <a:endParaRPr sz="1000" b="1">
                        <a:solidFill>
                          <a:srgbClr val="38761D"/>
                        </a:solidFill>
                      </a:endParaRPr>
                    </a:p>
                  </a:txBody>
                  <a:tcPr marL="28575" marR="28575" marT="19050" marB="19050" anchor="b">
                    <a:lnL w="10150" cap="flat" cmpd="sng">
                      <a:solidFill>
                        <a:srgbClr val="000000"/>
                      </a:solidFill>
                      <a:prstDash val="dot"/>
                      <a:round/>
                      <a:headEnd type="none" w="sm" len="sm"/>
                      <a:tailEnd type="none" w="sm" len="sm"/>
                    </a:lnL>
                    <a:lnR w="10150" cap="flat" cmpd="sng">
                      <a:solidFill>
                        <a:srgbClr val="000000"/>
                      </a:solidFill>
                      <a:prstDash val="dot"/>
                      <a:round/>
                      <a:headEnd type="none" w="sm" len="sm"/>
                      <a:tailEnd type="none" w="sm" len="sm"/>
                    </a:lnR>
                    <a:lnT w="10150" cap="flat" cmpd="sng">
                      <a:solidFill>
                        <a:srgbClr val="000000"/>
                      </a:solidFill>
                      <a:prstDash val="dot"/>
                      <a:round/>
                      <a:headEnd type="none" w="sm" len="sm"/>
                      <a:tailEnd type="none" w="sm" len="sm"/>
                    </a:lnT>
                    <a:lnB w="10150" cap="flat" cmpd="sng">
                      <a:solidFill>
                        <a:srgbClr val="000000"/>
                      </a:solidFill>
                      <a:prstDash val="solid"/>
                      <a:round/>
                      <a:headEnd type="none" w="sm" len="sm"/>
                      <a:tailEnd type="none" w="sm" len="sm"/>
                    </a:lnB>
                    <a:solidFill>
                      <a:srgbClr val="D9EAD3"/>
                    </a:solidFill>
                  </a:tcPr>
                </a:tc>
                <a:tc>
                  <a:txBody>
                    <a:bodyPr/>
                    <a:lstStyle/>
                    <a:p>
                      <a:pPr marL="0" lvl="0" indent="0" algn="ctr" rtl="0">
                        <a:lnSpc>
                          <a:spcPct val="115000"/>
                        </a:lnSpc>
                        <a:spcBef>
                          <a:spcPts val="0"/>
                        </a:spcBef>
                        <a:spcAft>
                          <a:spcPts val="0"/>
                        </a:spcAft>
                        <a:buNone/>
                      </a:pPr>
                      <a:r>
                        <a:rPr lang="en" sz="1000" b="1">
                          <a:solidFill>
                            <a:srgbClr val="339966"/>
                          </a:solidFill>
                        </a:rPr>
                        <a:t>▲ 46.0%</a:t>
                      </a:r>
                      <a:endParaRPr sz="1000" b="1">
                        <a:solidFill>
                          <a:srgbClr val="339966"/>
                        </a:solidFill>
                      </a:endParaRPr>
                    </a:p>
                  </a:txBody>
                  <a:tcPr marL="28575" marR="28575" marT="19050" marB="19050" anchor="b">
                    <a:lnL w="10150" cap="flat" cmpd="sng">
                      <a:solidFill>
                        <a:srgbClr val="000000"/>
                      </a:solidFill>
                      <a:prstDash val="dot"/>
                      <a:round/>
                      <a:headEnd type="none" w="sm" len="sm"/>
                      <a:tailEnd type="none" w="sm" len="sm"/>
                    </a:lnL>
                    <a:lnR w="10150" cap="flat" cmpd="sng">
                      <a:solidFill>
                        <a:srgbClr val="000000"/>
                      </a:solidFill>
                      <a:prstDash val="dot"/>
                      <a:round/>
                      <a:headEnd type="none" w="sm" len="sm"/>
                      <a:tailEnd type="none" w="sm" len="sm"/>
                    </a:lnR>
                    <a:lnT w="10150" cap="flat" cmpd="sng">
                      <a:solidFill>
                        <a:srgbClr val="000000"/>
                      </a:solidFill>
                      <a:prstDash val="dot"/>
                      <a:round/>
                      <a:headEnd type="none" w="sm" len="sm"/>
                      <a:tailEnd type="none" w="sm" len="sm"/>
                    </a:lnT>
                    <a:lnB w="1015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18.4</a:t>
                      </a:r>
                      <a:endParaRPr sz="1000"/>
                    </a:p>
                  </a:txBody>
                  <a:tcPr marL="28575" marR="28575" marT="19050" marB="19050" anchor="b">
                    <a:lnL w="10150" cap="flat" cmpd="sng">
                      <a:solidFill>
                        <a:srgbClr val="000000"/>
                      </a:solidFill>
                      <a:prstDash val="dot"/>
                      <a:round/>
                      <a:headEnd type="none" w="sm" len="sm"/>
                      <a:tailEnd type="none" w="sm" len="sm"/>
                    </a:lnL>
                    <a:lnR w="10150" cap="flat" cmpd="sng">
                      <a:solidFill>
                        <a:srgbClr val="000000"/>
                      </a:solidFill>
                      <a:prstDash val="dot"/>
                      <a:round/>
                      <a:headEnd type="none" w="sm" len="sm"/>
                      <a:tailEnd type="none" w="sm" len="sm"/>
                    </a:lnR>
                    <a:lnT w="10150" cap="flat" cmpd="sng">
                      <a:solidFill>
                        <a:srgbClr val="000000"/>
                      </a:solidFill>
                      <a:prstDash val="dot"/>
                      <a:round/>
                      <a:headEnd type="none" w="sm" len="sm"/>
                      <a:tailEnd type="none" w="sm" len="sm"/>
                    </a:lnT>
                    <a:lnB w="10150" cap="flat" cmpd="sng">
                      <a:solidFill>
                        <a:srgbClr val="000000"/>
                      </a:solidFill>
                      <a:prstDash val="solid"/>
                      <a:round/>
                      <a:headEnd type="none" w="sm" len="sm"/>
                      <a:tailEnd type="none" w="sm" len="sm"/>
                    </a:lnB>
                  </a:tcPr>
                </a:tc>
                <a:extLst>
                  <a:ext uri="{0D108BD9-81ED-4DB2-BD59-A6C34878D82A}">
                    <a16:rowId xmlns:a16="http://schemas.microsoft.com/office/drawing/2014/main" val="10005"/>
                  </a:ext>
                </a:extLst>
              </a:tr>
              <a:tr h="209925">
                <a:tc>
                  <a:txBody>
                    <a:bodyPr/>
                    <a:lstStyle/>
                    <a:p>
                      <a:pPr marL="0" lvl="0" indent="0" algn="ctr" rtl="0">
                        <a:lnSpc>
                          <a:spcPct val="115000"/>
                        </a:lnSpc>
                        <a:spcBef>
                          <a:spcPts val="0"/>
                        </a:spcBef>
                        <a:spcAft>
                          <a:spcPts val="0"/>
                        </a:spcAft>
                        <a:buNone/>
                      </a:pPr>
                      <a:r>
                        <a:rPr lang="en" sz="1000" b="1"/>
                        <a:t>Total</a:t>
                      </a:r>
                      <a:endParaRPr sz="1000" b="1"/>
                    </a:p>
                  </a:txBody>
                  <a:tcPr marL="28575" marR="28575" marT="19050" marB="19050" anchor="b">
                    <a:lnL w="10150" cap="flat" cmpd="sng">
                      <a:solidFill>
                        <a:srgbClr val="000000"/>
                      </a:solidFill>
                      <a:prstDash val="dash"/>
                      <a:round/>
                      <a:headEnd type="none" w="sm" len="sm"/>
                      <a:tailEnd type="none" w="sm" len="sm"/>
                    </a:lnL>
                    <a:lnT w="10150" cap="flat" cmpd="sng">
                      <a:solidFill>
                        <a:srgbClr val="000000"/>
                      </a:solidFill>
                      <a:prstDash val="solid"/>
                      <a:round/>
                      <a:headEnd type="none" w="sm" len="sm"/>
                      <a:tailEnd type="none" w="sm" len="sm"/>
                    </a:lnT>
                    <a:lnB w="10150" cap="flat" cmpd="sng">
                      <a:solidFill>
                        <a:srgbClr val="000000"/>
                      </a:solidFill>
                      <a:prstDash val="dash"/>
                      <a:round/>
                      <a:headEnd type="none" w="sm" len="sm"/>
                      <a:tailEnd type="none" w="sm" len="sm"/>
                    </a:lnB>
                  </a:tcPr>
                </a:tc>
                <a:tc>
                  <a:txBody>
                    <a:bodyPr/>
                    <a:lstStyle/>
                    <a:p>
                      <a:pPr marL="0" lvl="0" indent="0" algn="ctr" rtl="0">
                        <a:lnSpc>
                          <a:spcPct val="115000"/>
                        </a:lnSpc>
                        <a:spcBef>
                          <a:spcPts val="0"/>
                        </a:spcBef>
                        <a:spcAft>
                          <a:spcPts val="0"/>
                        </a:spcAft>
                        <a:buNone/>
                      </a:pPr>
                      <a:r>
                        <a:rPr lang="en" sz="1000" b="1"/>
                        <a:t>178K</a:t>
                      </a:r>
                      <a:endParaRPr sz="1000" b="1"/>
                    </a:p>
                  </a:txBody>
                  <a:tcPr marL="28575" marR="28575" marT="19050" marB="19050" anchor="b">
                    <a:lnR w="10150" cap="flat" cmpd="sng">
                      <a:solidFill>
                        <a:srgbClr val="000000"/>
                      </a:solidFill>
                      <a:prstDash val="dot"/>
                      <a:round/>
                      <a:headEnd type="none" w="sm" len="sm"/>
                      <a:tailEnd type="none" w="sm" len="sm"/>
                    </a:lnR>
                    <a:lnT w="10150" cap="flat" cmpd="sng">
                      <a:solidFill>
                        <a:srgbClr val="000000"/>
                      </a:solidFill>
                      <a:prstDash val="solid"/>
                      <a:round/>
                      <a:headEnd type="none" w="sm" len="sm"/>
                      <a:tailEnd type="none" w="sm" len="sm"/>
                    </a:lnT>
                    <a:lnB w="10150" cap="flat" cmpd="sng">
                      <a:solidFill>
                        <a:srgbClr val="000000"/>
                      </a:solidFill>
                      <a:prstDash val="dash"/>
                      <a:round/>
                      <a:headEnd type="none" w="sm" len="sm"/>
                      <a:tailEnd type="none" w="sm" len="sm"/>
                    </a:lnB>
                  </a:tcPr>
                </a:tc>
                <a:tc>
                  <a:txBody>
                    <a:bodyPr/>
                    <a:lstStyle/>
                    <a:p>
                      <a:pPr marL="0" lvl="0" indent="0" algn="ctr" rtl="0">
                        <a:lnSpc>
                          <a:spcPct val="115000"/>
                        </a:lnSpc>
                        <a:spcBef>
                          <a:spcPts val="0"/>
                        </a:spcBef>
                        <a:spcAft>
                          <a:spcPts val="0"/>
                        </a:spcAft>
                        <a:buNone/>
                      </a:pPr>
                      <a:r>
                        <a:rPr lang="en" sz="1000" b="1">
                          <a:solidFill>
                            <a:srgbClr val="CC0000"/>
                          </a:solidFill>
                        </a:rPr>
                        <a:t>-10.51%</a:t>
                      </a:r>
                      <a:endParaRPr sz="1000" b="1">
                        <a:solidFill>
                          <a:srgbClr val="CC0000"/>
                        </a:solidFill>
                      </a:endParaRPr>
                    </a:p>
                  </a:txBody>
                  <a:tcPr marL="28575" marR="28575" marT="19050" marB="19050" anchor="b">
                    <a:lnL w="10150" cap="flat" cmpd="sng">
                      <a:solidFill>
                        <a:srgbClr val="000000"/>
                      </a:solidFill>
                      <a:prstDash val="dot"/>
                      <a:round/>
                      <a:headEnd type="none" w="sm" len="sm"/>
                      <a:tailEnd type="none" w="sm" len="sm"/>
                    </a:lnL>
                    <a:lnR w="10150" cap="flat" cmpd="sng">
                      <a:solidFill>
                        <a:srgbClr val="000000"/>
                      </a:solidFill>
                      <a:prstDash val="dot"/>
                      <a:round/>
                      <a:headEnd type="none" w="sm" len="sm"/>
                      <a:tailEnd type="none" w="sm" len="sm"/>
                    </a:lnR>
                    <a:lnT w="10150" cap="flat" cmpd="sng">
                      <a:solidFill>
                        <a:srgbClr val="000000"/>
                      </a:solidFill>
                      <a:prstDash val="solid"/>
                      <a:round/>
                      <a:headEnd type="none" w="sm" len="sm"/>
                      <a:tailEnd type="none" w="sm" len="sm"/>
                    </a:lnT>
                    <a:lnB w="10150" cap="flat" cmpd="sng">
                      <a:solidFill>
                        <a:srgbClr val="000000"/>
                      </a:solidFill>
                      <a:prstDash val="dash"/>
                      <a:round/>
                      <a:headEnd type="none" w="sm" len="sm"/>
                      <a:tailEnd type="none" w="sm" len="sm"/>
                    </a:lnB>
                    <a:solidFill>
                      <a:srgbClr val="F4CCCC"/>
                    </a:solidFill>
                  </a:tcPr>
                </a:tc>
                <a:tc>
                  <a:txBody>
                    <a:bodyPr/>
                    <a:lstStyle/>
                    <a:p>
                      <a:pPr marL="0" lvl="0" indent="0" algn="ctr" rtl="0">
                        <a:lnSpc>
                          <a:spcPct val="115000"/>
                        </a:lnSpc>
                        <a:spcBef>
                          <a:spcPts val="0"/>
                        </a:spcBef>
                        <a:spcAft>
                          <a:spcPts val="0"/>
                        </a:spcAft>
                        <a:buNone/>
                      </a:pPr>
                      <a:r>
                        <a:rPr lang="en" sz="1000" b="1">
                          <a:solidFill>
                            <a:srgbClr val="FF0000"/>
                          </a:solidFill>
                        </a:rPr>
                        <a:t>▼ -1.9%</a:t>
                      </a:r>
                      <a:endParaRPr sz="1000" b="1">
                        <a:solidFill>
                          <a:srgbClr val="FF0000"/>
                        </a:solidFill>
                      </a:endParaRPr>
                    </a:p>
                  </a:txBody>
                  <a:tcPr marL="28575" marR="28575" marT="19050" marB="19050" anchor="b">
                    <a:lnL w="10150" cap="flat" cmpd="sng">
                      <a:solidFill>
                        <a:srgbClr val="000000"/>
                      </a:solidFill>
                      <a:prstDash val="dot"/>
                      <a:round/>
                      <a:headEnd type="none" w="sm" len="sm"/>
                      <a:tailEnd type="none" w="sm" len="sm"/>
                    </a:lnL>
                    <a:lnR w="10150" cap="flat" cmpd="sng">
                      <a:solidFill>
                        <a:srgbClr val="000000"/>
                      </a:solidFill>
                      <a:prstDash val="dot"/>
                      <a:round/>
                      <a:headEnd type="none" w="sm" len="sm"/>
                      <a:tailEnd type="none" w="sm" len="sm"/>
                    </a:lnR>
                    <a:lnT w="10150" cap="flat" cmpd="sng">
                      <a:solidFill>
                        <a:srgbClr val="000000"/>
                      </a:solidFill>
                      <a:prstDash val="solid"/>
                      <a:round/>
                      <a:headEnd type="none" w="sm" len="sm"/>
                      <a:tailEnd type="none" w="sm" len="sm"/>
                    </a:lnT>
                    <a:lnB w="10150" cap="flat" cmpd="sng">
                      <a:solidFill>
                        <a:srgbClr val="000000"/>
                      </a:solidFill>
                      <a:prstDash val="dash"/>
                      <a:round/>
                      <a:headEnd type="none" w="sm" len="sm"/>
                      <a:tailEnd type="none" w="sm" len="sm"/>
                    </a:lnB>
                  </a:tcPr>
                </a:tc>
                <a:tc>
                  <a:txBody>
                    <a:bodyPr/>
                    <a:lstStyle/>
                    <a:p>
                      <a:pPr marL="0" lvl="0" indent="0" algn="ctr" rtl="0">
                        <a:lnSpc>
                          <a:spcPct val="115000"/>
                        </a:lnSpc>
                        <a:spcBef>
                          <a:spcPts val="0"/>
                        </a:spcBef>
                        <a:spcAft>
                          <a:spcPts val="0"/>
                        </a:spcAft>
                        <a:buNone/>
                      </a:pPr>
                      <a:endParaRPr sz="1000" b="1">
                        <a:solidFill>
                          <a:srgbClr val="FF0000"/>
                        </a:solidFill>
                      </a:endParaRPr>
                    </a:p>
                  </a:txBody>
                  <a:tcPr marL="28575" marR="28575" marT="19050" marB="19050" anchor="b">
                    <a:lnL w="10150" cap="flat" cmpd="sng">
                      <a:solidFill>
                        <a:srgbClr val="000000"/>
                      </a:solidFill>
                      <a:prstDash val="dot"/>
                      <a:round/>
                      <a:headEnd type="none" w="sm" len="sm"/>
                      <a:tailEnd type="none" w="sm" len="sm"/>
                    </a:lnL>
                    <a:lnR w="10150" cap="flat" cmpd="sng">
                      <a:solidFill>
                        <a:srgbClr val="000000"/>
                      </a:solidFill>
                      <a:prstDash val="dot"/>
                      <a:round/>
                      <a:headEnd type="none" w="sm" len="sm"/>
                      <a:tailEnd type="none" w="sm" len="sm"/>
                    </a:lnR>
                    <a:lnT w="10150" cap="flat" cmpd="sng">
                      <a:solidFill>
                        <a:srgbClr val="000000"/>
                      </a:solidFill>
                      <a:prstDash val="solid"/>
                      <a:round/>
                      <a:headEnd type="none" w="sm" len="sm"/>
                      <a:tailEnd type="none" w="sm" len="sm"/>
                    </a:lnT>
                    <a:lnB w="10150" cap="flat" cmpd="sng">
                      <a:solidFill>
                        <a:srgbClr val="000000"/>
                      </a:solidFill>
                      <a:prstDash val="dash"/>
                      <a:round/>
                      <a:headEnd type="none" w="sm" len="sm"/>
                      <a:tailEnd type="none" w="sm" len="sm"/>
                    </a:lnB>
                  </a:tcPr>
                </a:tc>
                <a:extLst>
                  <a:ext uri="{0D108BD9-81ED-4DB2-BD59-A6C34878D82A}">
                    <a16:rowId xmlns:a16="http://schemas.microsoft.com/office/drawing/2014/main" val="10006"/>
                  </a:ext>
                </a:extLst>
              </a:tr>
            </a:tbl>
          </a:graphicData>
        </a:graphic>
      </p:graphicFrame>
      <p:graphicFrame>
        <p:nvGraphicFramePr>
          <p:cNvPr id="232" name="Google Shape;232;p37"/>
          <p:cNvGraphicFramePr/>
          <p:nvPr/>
        </p:nvGraphicFramePr>
        <p:xfrm>
          <a:off x="4898550" y="1215125"/>
          <a:ext cx="3000000" cy="3000000"/>
        </p:xfrm>
        <a:graphic>
          <a:graphicData uri="http://schemas.openxmlformats.org/drawingml/2006/table">
            <a:tbl>
              <a:tblPr>
                <a:noFill/>
                <a:tableStyleId>{BD4DB973-2F49-4540-A1CC-0EE3EA8BBFB3}</a:tableStyleId>
              </a:tblPr>
              <a:tblGrid>
                <a:gridCol w="952500">
                  <a:extLst>
                    <a:ext uri="{9D8B030D-6E8A-4147-A177-3AD203B41FA5}">
                      <a16:colId xmlns:a16="http://schemas.microsoft.com/office/drawing/2014/main" val="20000"/>
                    </a:ext>
                  </a:extLst>
                </a:gridCol>
                <a:gridCol w="952500">
                  <a:extLst>
                    <a:ext uri="{9D8B030D-6E8A-4147-A177-3AD203B41FA5}">
                      <a16:colId xmlns:a16="http://schemas.microsoft.com/office/drawing/2014/main" val="20001"/>
                    </a:ext>
                  </a:extLst>
                </a:gridCol>
                <a:gridCol w="952500">
                  <a:extLst>
                    <a:ext uri="{9D8B030D-6E8A-4147-A177-3AD203B41FA5}">
                      <a16:colId xmlns:a16="http://schemas.microsoft.com/office/drawing/2014/main" val="20002"/>
                    </a:ext>
                  </a:extLst>
                </a:gridCol>
                <a:gridCol w="952500">
                  <a:extLst>
                    <a:ext uri="{9D8B030D-6E8A-4147-A177-3AD203B41FA5}">
                      <a16:colId xmlns:a16="http://schemas.microsoft.com/office/drawing/2014/main" val="20003"/>
                    </a:ext>
                  </a:extLst>
                </a:gridCol>
              </a:tblGrid>
              <a:tr h="200025">
                <a:tc>
                  <a:txBody>
                    <a:bodyPr/>
                    <a:lstStyle/>
                    <a:p>
                      <a:pPr marL="0" lvl="0" indent="0" algn="ctr" rtl="0">
                        <a:lnSpc>
                          <a:spcPct val="115000"/>
                        </a:lnSpc>
                        <a:spcBef>
                          <a:spcPts val="0"/>
                        </a:spcBef>
                        <a:spcAft>
                          <a:spcPts val="0"/>
                        </a:spcAft>
                        <a:buNone/>
                      </a:pPr>
                      <a:r>
                        <a:rPr lang="en" sz="900" b="1">
                          <a:solidFill>
                            <a:srgbClr val="FFFFFF"/>
                          </a:solidFill>
                          <a:latin typeface="Lexend"/>
                          <a:ea typeface="Lexend"/>
                          <a:cs typeface="Lexend"/>
                          <a:sym typeface="Lexend"/>
                        </a:rPr>
                        <a:t>Segment</a:t>
                      </a:r>
                      <a:endParaRPr sz="900" b="1">
                        <a:solidFill>
                          <a:srgbClr val="FFFFFF"/>
                        </a:solidFill>
                        <a:latin typeface="Lexend"/>
                        <a:ea typeface="Lexend"/>
                        <a:cs typeface="Lexend"/>
                        <a:sym typeface="Lexend"/>
                      </a:endParaRPr>
                    </a:p>
                  </a:txBody>
                  <a:tcPr marL="28575" marR="28575" marT="19050" marB="19050" anchor="ctr">
                    <a:lnL w="9525" cap="flat" cmpd="sng">
                      <a:solidFill>
                        <a:srgbClr val="000000"/>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73763"/>
                    </a:solidFill>
                  </a:tcPr>
                </a:tc>
                <a:tc>
                  <a:txBody>
                    <a:bodyPr/>
                    <a:lstStyle/>
                    <a:p>
                      <a:pPr marL="0" lvl="0" indent="0" algn="ctr" rtl="0">
                        <a:lnSpc>
                          <a:spcPct val="115000"/>
                        </a:lnSpc>
                        <a:spcBef>
                          <a:spcPts val="0"/>
                        </a:spcBef>
                        <a:spcAft>
                          <a:spcPts val="0"/>
                        </a:spcAft>
                        <a:buNone/>
                      </a:pPr>
                      <a:r>
                        <a:rPr lang="en" sz="900" b="1">
                          <a:solidFill>
                            <a:srgbClr val="FFFFFF"/>
                          </a:solidFill>
                          <a:latin typeface="Lexend"/>
                          <a:ea typeface="Lexend"/>
                          <a:cs typeface="Lexend"/>
                          <a:sym typeface="Lexend"/>
                        </a:rPr>
                        <a:t>Supply hour</a:t>
                      </a:r>
                      <a:endParaRPr sz="900" b="1">
                        <a:solidFill>
                          <a:srgbClr val="FFFFFF"/>
                        </a:solidFill>
                        <a:latin typeface="Lexend"/>
                        <a:ea typeface="Lexend"/>
                        <a:cs typeface="Lexend"/>
                        <a:sym typeface="Lexend"/>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73763"/>
                    </a:solidFill>
                  </a:tcPr>
                </a:tc>
                <a:tc>
                  <a:txBody>
                    <a:bodyPr/>
                    <a:lstStyle/>
                    <a:p>
                      <a:pPr marL="0" lvl="0" indent="0" algn="ctr" rtl="0">
                        <a:lnSpc>
                          <a:spcPct val="115000"/>
                        </a:lnSpc>
                        <a:spcBef>
                          <a:spcPts val="0"/>
                        </a:spcBef>
                        <a:spcAft>
                          <a:spcPts val="0"/>
                        </a:spcAft>
                        <a:buNone/>
                      </a:pPr>
                      <a:r>
                        <a:rPr lang="en" sz="900" b="1">
                          <a:solidFill>
                            <a:srgbClr val="FFFFFF"/>
                          </a:solidFill>
                          <a:latin typeface="Lexend"/>
                          <a:ea typeface="Lexend"/>
                          <a:cs typeface="Lexend"/>
                          <a:sym typeface="Lexend"/>
                        </a:rPr>
                        <a:t>SH-Planning</a:t>
                      </a:r>
                      <a:endParaRPr sz="900" b="1">
                        <a:solidFill>
                          <a:srgbClr val="FFFFFF"/>
                        </a:solidFill>
                        <a:latin typeface="Lexend"/>
                        <a:ea typeface="Lexend"/>
                        <a:cs typeface="Lexend"/>
                        <a:sym typeface="Lexend"/>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6D01"/>
                    </a:solidFill>
                  </a:tcPr>
                </a:tc>
                <a:tc>
                  <a:txBody>
                    <a:bodyPr/>
                    <a:lstStyle/>
                    <a:p>
                      <a:pPr marL="0" lvl="0" indent="0" algn="ctr" rtl="0">
                        <a:lnSpc>
                          <a:spcPct val="115000"/>
                        </a:lnSpc>
                        <a:spcBef>
                          <a:spcPts val="0"/>
                        </a:spcBef>
                        <a:spcAft>
                          <a:spcPts val="0"/>
                        </a:spcAft>
                        <a:buNone/>
                      </a:pPr>
                      <a:r>
                        <a:rPr lang="en" sz="900" b="1">
                          <a:solidFill>
                            <a:srgbClr val="FFFFFF"/>
                          </a:solidFill>
                          <a:latin typeface="Lexend"/>
                          <a:ea typeface="Lexend"/>
                          <a:cs typeface="Lexend"/>
                          <a:sym typeface="Lexend"/>
                        </a:rPr>
                        <a:t>Prod</a:t>
                      </a:r>
                      <a:endParaRPr sz="900" b="1">
                        <a:solidFill>
                          <a:srgbClr val="FFFFFF"/>
                        </a:solidFill>
                        <a:latin typeface="Lexend"/>
                        <a:ea typeface="Lexend"/>
                        <a:cs typeface="Lexend"/>
                        <a:sym typeface="Lexend"/>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73763"/>
                    </a:solidFill>
                  </a:tcPr>
                </a:tc>
                <a:extLst>
                  <a:ext uri="{0D108BD9-81ED-4DB2-BD59-A6C34878D82A}">
                    <a16:rowId xmlns:a16="http://schemas.microsoft.com/office/drawing/2014/main" val="10000"/>
                  </a:ext>
                </a:extLst>
              </a:tr>
              <a:tr h="200025">
                <a:tc>
                  <a:txBody>
                    <a:bodyPr/>
                    <a:lstStyle/>
                    <a:p>
                      <a:pPr marL="0" lvl="0" indent="0" algn="ctr" rtl="0">
                        <a:lnSpc>
                          <a:spcPct val="115000"/>
                        </a:lnSpc>
                        <a:spcBef>
                          <a:spcPts val="0"/>
                        </a:spcBef>
                        <a:spcAft>
                          <a:spcPts val="0"/>
                        </a:spcAft>
                        <a:buNone/>
                      </a:pPr>
                      <a:r>
                        <a:rPr lang="en" sz="900">
                          <a:latin typeface="Lexend"/>
                          <a:ea typeface="Lexend"/>
                          <a:cs typeface="Lexend"/>
                          <a:sym typeface="Lexend"/>
                        </a:rPr>
                        <a:t>FT</a:t>
                      </a:r>
                      <a:endParaRPr sz="900">
                        <a:latin typeface="Lexend"/>
                        <a:ea typeface="Lexend"/>
                        <a:cs typeface="Lexend"/>
                        <a:sym typeface="Lexend"/>
                      </a:endParaRPr>
                    </a:p>
                  </a:txBody>
                  <a:tcPr marL="28575" marR="28575" marT="19050" marB="19050" anchor="ctr">
                    <a:lnL w="9525" cap="flat" cmpd="sng">
                      <a:solidFill>
                        <a:srgbClr val="000000"/>
                      </a:solidFill>
                      <a:prstDash val="solid"/>
                      <a:round/>
                      <a:headEnd type="none" w="sm" len="sm"/>
                      <a:tailEnd type="none" w="sm" len="sm"/>
                    </a:lnL>
                    <a:lnR w="9525" cap="flat" cmpd="sng">
                      <a:solidFill>
                        <a:srgbClr val="000000"/>
                      </a:solidFill>
                      <a:prstDash val="dot"/>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1000"/>
                        <a:t>128,795</a:t>
                      </a:r>
                      <a:endParaRPr sz="1000"/>
                    </a:p>
                  </a:txBody>
                  <a:tcPr marL="28575" marR="28575" marT="19050" marB="19050" anchor="b">
                    <a:lnL w="9525" cap="flat" cmpd="sng">
                      <a:solidFill>
                        <a:srgbClr val="000000"/>
                      </a:solidFill>
                      <a:prstDash val="dot"/>
                      <a:round/>
                      <a:headEnd type="none" w="sm" len="sm"/>
                      <a:tailEnd type="none" w="sm" len="sm"/>
                    </a:lnL>
                    <a:lnR w="9525" cap="flat" cmpd="sng">
                      <a:solidFill>
                        <a:srgbClr val="000000"/>
                      </a:solidFill>
                      <a:prstDash val="dot"/>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1000" b="1">
                          <a:solidFill>
                            <a:srgbClr val="FF0000"/>
                          </a:solidFill>
                        </a:rPr>
                        <a:t>▼ -2.8%</a:t>
                      </a:r>
                      <a:endParaRPr sz="1000" b="1">
                        <a:solidFill>
                          <a:srgbClr val="FF0000"/>
                        </a:solidFill>
                      </a:endParaRPr>
                    </a:p>
                  </a:txBody>
                  <a:tcPr marL="28575" marR="28575" marT="19050" marB="19050" anchor="b">
                    <a:lnL w="9525" cap="flat" cmpd="sng">
                      <a:solidFill>
                        <a:srgbClr val="000000"/>
                      </a:solidFill>
                      <a:prstDash val="dot"/>
                      <a:round/>
                      <a:headEnd type="none" w="sm" len="sm"/>
                      <a:tailEnd type="none" w="sm" len="sm"/>
                    </a:lnL>
                    <a:lnR w="9525" cap="flat" cmpd="sng">
                      <a:solidFill>
                        <a:srgbClr val="000000"/>
                      </a:solidFill>
                      <a:prstDash val="dot"/>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1000"/>
                        <a:t>61.3</a:t>
                      </a:r>
                      <a:endParaRPr sz="1000"/>
                    </a:p>
                  </a:txBody>
                  <a:tcPr marL="28575" marR="28575" marT="19050" marB="19050" anchor="b">
                    <a:lnL w="9525" cap="flat" cmpd="sng">
                      <a:solidFill>
                        <a:srgbClr val="000000"/>
                      </a:solidFill>
                      <a:prstDash val="dot"/>
                      <a:round/>
                      <a:headEnd type="none" w="sm" len="sm"/>
                      <a:tailEnd type="none" w="sm" len="sm"/>
                    </a:lnL>
                    <a:lnR w="9525" cap="flat" cmpd="sng">
                      <a:solidFill>
                        <a:srgbClr val="000000"/>
                      </a:solidFill>
                      <a:prstDash val="dot"/>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dot"/>
                      <a:round/>
                      <a:headEnd type="none" w="sm" len="sm"/>
                      <a:tailEnd type="none" w="sm" len="sm"/>
                    </a:lnB>
                  </a:tcPr>
                </a:tc>
                <a:extLst>
                  <a:ext uri="{0D108BD9-81ED-4DB2-BD59-A6C34878D82A}">
                    <a16:rowId xmlns:a16="http://schemas.microsoft.com/office/drawing/2014/main" val="10001"/>
                  </a:ext>
                </a:extLst>
              </a:tr>
              <a:tr h="200025">
                <a:tc>
                  <a:txBody>
                    <a:bodyPr/>
                    <a:lstStyle/>
                    <a:p>
                      <a:pPr marL="0" lvl="0" indent="0" algn="ctr" rtl="0">
                        <a:lnSpc>
                          <a:spcPct val="115000"/>
                        </a:lnSpc>
                        <a:spcBef>
                          <a:spcPts val="0"/>
                        </a:spcBef>
                        <a:spcAft>
                          <a:spcPts val="0"/>
                        </a:spcAft>
                        <a:buNone/>
                      </a:pPr>
                      <a:r>
                        <a:rPr lang="en" sz="900">
                          <a:latin typeface="Lexend"/>
                          <a:ea typeface="Lexend"/>
                          <a:cs typeface="Lexend"/>
                          <a:sym typeface="Lexend"/>
                        </a:rPr>
                        <a:t>PT</a:t>
                      </a:r>
                      <a:endParaRPr sz="900">
                        <a:latin typeface="Lexend"/>
                        <a:ea typeface="Lexend"/>
                        <a:cs typeface="Lexend"/>
                        <a:sym typeface="Lexend"/>
                      </a:endParaRPr>
                    </a:p>
                  </a:txBody>
                  <a:tcPr marL="28575" marR="28575" marT="19050" marB="19050" anchor="ctr">
                    <a:lnL w="9525" cap="flat" cmpd="sng">
                      <a:solidFill>
                        <a:srgbClr val="000000"/>
                      </a:solidFill>
                      <a:prstDash val="solid"/>
                      <a:round/>
                      <a:headEnd type="none" w="sm" len="sm"/>
                      <a:tailEnd type="none" w="sm" len="sm"/>
                    </a:lnL>
                    <a:lnR w="9525" cap="flat" cmpd="sng">
                      <a:solidFill>
                        <a:srgbClr val="000000"/>
                      </a:solidFill>
                      <a:prstDash val="dot"/>
                      <a:round/>
                      <a:headEnd type="none" w="sm" len="sm"/>
                      <a:tailEnd type="none" w="sm" len="sm"/>
                    </a:lnR>
                    <a:lnT w="9525" cap="flat" cmpd="sng">
                      <a:solidFill>
                        <a:srgbClr val="000000"/>
                      </a:solidFill>
                      <a:prstDash val="dot"/>
                      <a:round/>
                      <a:headEnd type="none" w="sm" len="sm"/>
                      <a:tailEnd type="none" w="sm" len="sm"/>
                    </a:lnT>
                    <a:lnB w="9525" cap="flat" cmpd="sng">
                      <a:solidFill>
                        <a:srgbClr val="000000"/>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1000"/>
                        <a:t>103,938</a:t>
                      </a:r>
                      <a:endParaRPr sz="1000"/>
                    </a:p>
                  </a:txBody>
                  <a:tcPr marL="28575" marR="28575" marT="19050" marB="19050" anchor="b">
                    <a:lnL w="9525" cap="flat" cmpd="sng">
                      <a:solidFill>
                        <a:srgbClr val="000000"/>
                      </a:solidFill>
                      <a:prstDash val="dot"/>
                      <a:round/>
                      <a:headEnd type="none" w="sm" len="sm"/>
                      <a:tailEnd type="none" w="sm" len="sm"/>
                    </a:lnL>
                    <a:lnR w="9525" cap="flat" cmpd="sng">
                      <a:solidFill>
                        <a:srgbClr val="000000"/>
                      </a:solidFill>
                      <a:prstDash val="dot"/>
                      <a:round/>
                      <a:headEnd type="none" w="sm" len="sm"/>
                      <a:tailEnd type="none" w="sm" len="sm"/>
                    </a:lnR>
                    <a:lnT w="9525" cap="flat" cmpd="sng">
                      <a:solidFill>
                        <a:srgbClr val="000000"/>
                      </a:solidFill>
                      <a:prstDash val="dot"/>
                      <a:round/>
                      <a:headEnd type="none" w="sm" len="sm"/>
                      <a:tailEnd type="none" w="sm" len="sm"/>
                    </a:lnT>
                    <a:lnB w="9525" cap="flat" cmpd="sng">
                      <a:solidFill>
                        <a:srgbClr val="000000"/>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1000" b="1">
                          <a:solidFill>
                            <a:srgbClr val="FF0000"/>
                          </a:solidFill>
                        </a:rPr>
                        <a:t>▼ -4.0%</a:t>
                      </a:r>
                      <a:endParaRPr sz="1000" b="1">
                        <a:solidFill>
                          <a:srgbClr val="FF0000"/>
                        </a:solidFill>
                      </a:endParaRPr>
                    </a:p>
                  </a:txBody>
                  <a:tcPr marL="28575" marR="28575" marT="19050" marB="19050" anchor="b">
                    <a:lnL w="9525" cap="flat" cmpd="sng">
                      <a:solidFill>
                        <a:srgbClr val="000000"/>
                      </a:solidFill>
                      <a:prstDash val="dot"/>
                      <a:round/>
                      <a:headEnd type="none" w="sm" len="sm"/>
                      <a:tailEnd type="none" w="sm" len="sm"/>
                    </a:lnL>
                    <a:lnR w="9525" cap="flat" cmpd="sng">
                      <a:solidFill>
                        <a:srgbClr val="000000"/>
                      </a:solidFill>
                      <a:prstDash val="dot"/>
                      <a:round/>
                      <a:headEnd type="none" w="sm" len="sm"/>
                      <a:tailEnd type="none" w="sm" len="sm"/>
                    </a:lnR>
                    <a:lnT w="9525" cap="flat" cmpd="sng">
                      <a:solidFill>
                        <a:srgbClr val="000000"/>
                      </a:solidFill>
                      <a:prstDash val="dot"/>
                      <a:round/>
                      <a:headEnd type="none" w="sm" len="sm"/>
                      <a:tailEnd type="none" w="sm" len="sm"/>
                    </a:lnT>
                    <a:lnB w="9525" cap="flat" cmpd="sng">
                      <a:solidFill>
                        <a:srgbClr val="000000"/>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1000"/>
                        <a:t>25.1</a:t>
                      </a:r>
                      <a:endParaRPr sz="1000"/>
                    </a:p>
                  </a:txBody>
                  <a:tcPr marL="28575" marR="28575" marT="19050" marB="19050" anchor="b">
                    <a:lnL w="9525" cap="flat" cmpd="sng">
                      <a:solidFill>
                        <a:srgbClr val="000000"/>
                      </a:solidFill>
                      <a:prstDash val="dot"/>
                      <a:round/>
                      <a:headEnd type="none" w="sm" len="sm"/>
                      <a:tailEnd type="none" w="sm" len="sm"/>
                    </a:lnL>
                    <a:lnR w="9525" cap="flat" cmpd="sng">
                      <a:solidFill>
                        <a:srgbClr val="000000"/>
                      </a:solidFill>
                      <a:prstDash val="dot"/>
                      <a:round/>
                      <a:headEnd type="none" w="sm" len="sm"/>
                      <a:tailEnd type="none" w="sm" len="sm"/>
                    </a:lnR>
                    <a:lnT w="9525" cap="flat" cmpd="sng">
                      <a:solidFill>
                        <a:srgbClr val="000000"/>
                      </a:solidFill>
                      <a:prstDash val="dot"/>
                      <a:round/>
                      <a:headEnd type="none" w="sm" len="sm"/>
                      <a:tailEnd type="none" w="sm" len="sm"/>
                    </a:lnT>
                    <a:lnB w="9525" cap="flat" cmpd="sng">
                      <a:solidFill>
                        <a:srgbClr val="000000"/>
                      </a:solidFill>
                      <a:prstDash val="dot"/>
                      <a:round/>
                      <a:headEnd type="none" w="sm" len="sm"/>
                      <a:tailEnd type="none" w="sm" len="sm"/>
                    </a:lnB>
                  </a:tcPr>
                </a:tc>
                <a:extLst>
                  <a:ext uri="{0D108BD9-81ED-4DB2-BD59-A6C34878D82A}">
                    <a16:rowId xmlns:a16="http://schemas.microsoft.com/office/drawing/2014/main" val="10002"/>
                  </a:ext>
                </a:extLst>
              </a:tr>
              <a:tr h="200025">
                <a:tc>
                  <a:txBody>
                    <a:bodyPr/>
                    <a:lstStyle/>
                    <a:p>
                      <a:pPr marL="0" lvl="0" indent="0" algn="ctr" rtl="0">
                        <a:lnSpc>
                          <a:spcPct val="115000"/>
                        </a:lnSpc>
                        <a:spcBef>
                          <a:spcPts val="0"/>
                        </a:spcBef>
                        <a:spcAft>
                          <a:spcPts val="0"/>
                        </a:spcAft>
                        <a:buNone/>
                      </a:pPr>
                      <a:r>
                        <a:rPr lang="en" sz="900">
                          <a:latin typeface="Lexend"/>
                          <a:ea typeface="Lexend"/>
                          <a:cs typeface="Lexend"/>
                          <a:sym typeface="Lexend"/>
                        </a:rPr>
                        <a:t>NLM</a:t>
                      </a:r>
                      <a:endParaRPr sz="900">
                        <a:latin typeface="Lexend"/>
                        <a:ea typeface="Lexend"/>
                        <a:cs typeface="Lexend"/>
                        <a:sym typeface="Lexend"/>
                      </a:endParaRPr>
                    </a:p>
                  </a:txBody>
                  <a:tcPr marL="28575" marR="28575" marT="19050" marB="19050" anchor="ctr">
                    <a:lnL w="9525" cap="flat" cmpd="sng">
                      <a:solidFill>
                        <a:srgbClr val="000000"/>
                      </a:solidFill>
                      <a:prstDash val="solid"/>
                      <a:round/>
                      <a:headEnd type="none" w="sm" len="sm"/>
                      <a:tailEnd type="none" w="sm" len="sm"/>
                    </a:lnL>
                    <a:lnR w="9525" cap="flat" cmpd="sng">
                      <a:solidFill>
                        <a:srgbClr val="000000"/>
                      </a:solidFill>
                      <a:prstDash val="dot"/>
                      <a:round/>
                      <a:headEnd type="none" w="sm" len="sm"/>
                      <a:tailEnd type="none" w="sm" len="sm"/>
                    </a:lnR>
                    <a:lnT w="9525" cap="flat" cmpd="sng">
                      <a:solidFill>
                        <a:srgbClr val="000000"/>
                      </a:solidFill>
                      <a:prstDash val="dot"/>
                      <a:round/>
                      <a:headEnd type="none" w="sm" len="sm"/>
                      <a:tailEnd type="none" w="sm" len="sm"/>
                    </a:lnT>
                    <a:lnB w="9525" cap="flat" cmpd="sng">
                      <a:solidFill>
                        <a:srgbClr val="000000"/>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1000"/>
                        <a:t>21,297</a:t>
                      </a:r>
                      <a:endParaRPr sz="1000"/>
                    </a:p>
                  </a:txBody>
                  <a:tcPr marL="28575" marR="28575" marT="19050" marB="19050" anchor="b">
                    <a:lnL w="9525" cap="flat" cmpd="sng">
                      <a:solidFill>
                        <a:srgbClr val="000000"/>
                      </a:solidFill>
                      <a:prstDash val="dot"/>
                      <a:round/>
                      <a:headEnd type="none" w="sm" len="sm"/>
                      <a:tailEnd type="none" w="sm" len="sm"/>
                    </a:lnL>
                    <a:lnR w="9525" cap="flat" cmpd="sng">
                      <a:solidFill>
                        <a:srgbClr val="000000"/>
                      </a:solidFill>
                      <a:prstDash val="dot"/>
                      <a:round/>
                      <a:headEnd type="none" w="sm" len="sm"/>
                      <a:tailEnd type="none" w="sm" len="sm"/>
                    </a:lnR>
                    <a:lnT w="9525" cap="flat" cmpd="sng">
                      <a:solidFill>
                        <a:srgbClr val="000000"/>
                      </a:solidFill>
                      <a:prstDash val="dot"/>
                      <a:round/>
                      <a:headEnd type="none" w="sm" len="sm"/>
                      <a:tailEnd type="none" w="sm" len="sm"/>
                    </a:lnT>
                    <a:lnB w="9525" cap="flat" cmpd="sng">
                      <a:solidFill>
                        <a:srgbClr val="000000"/>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1000" b="1">
                          <a:solidFill>
                            <a:srgbClr val="339966"/>
                          </a:solidFill>
                        </a:rPr>
                        <a:t>▲ 3.6%</a:t>
                      </a:r>
                      <a:endParaRPr sz="1000" b="1">
                        <a:solidFill>
                          <a:srgbClr val="339966"/>
                        </a:solidFill>
                      </a:endParaRPr>
                    </a:p>
                  </a:txBody>
                  <a:tcPr marL="28575" marR="28575" marT="19050" marB="19050" anchor="b">
                    <a:lnL w="9525" cap="flat" cmpd="sng">
                      <a:solidFill>
                        <a:srgbClr val="000000"/>
                      </a:solidFill>
                      <a:prstDash val="dot"/>
                      <a:round/>
                      <a:headEnd type="none" w="sm" len="sm"/>
                      <a:tailEnd type="none" w="sm" len="sm"/>
                    </a:lnL>
                    <a:lnR w="9525" cap="flat" cmpd="sng">
                      <a:solidFill>
                        <a:srgbClr val="000000"/>
                      </a:solidFill>
                      <a:prstDash val="dot"/>
                      <a:round/>
                      <a:headEnd type="none" w="sm" len="sm"/>
                      <a:tailEnd type="none" w="sm" len="sm"/>
                    </a:lnR>
                    <a:lnT w="9525" cap="flat" cmpd="sng">
                      <a:solidFill>
                        <a:srgbClr val="000000"/>
                      </a:solidFill>
                      <a:prstDash val="dot"/>
                      <a:round/>
                      <a:headEnd type="none" w="sm" len="sm"/>
                      <a:tailEnd type="none" w="sm" len="sm"/>
                    </a:lnT>
                    <a:lnB w="9525" cap="flat" cmpd="sng">
                      <a:solidFill>
                        <a:srgbClr val="000000"/>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1000"/>
                        <a:t>29.7</a:t>
                      </a:r>
                      <a:endParaRPr sz="1000"/>
                    </a:p>
                  </a:txBody>
                  <a:tcPr marL="28575" marR="28575" marT="19050" marB="19050" anchor="b">
                    <a:lnL w="9525" cap="flat" cmpd="sng">
                      <a:solidFill>
                        <a:srgbClr val="000000"/>
                      </a:solidFill>
                      <a:prstDash val="dot"/>
                      <a:round/>
                      <a:headEnd type="none" w="sm" len="sm"/>
                      <a:tailEnd type="none" w="sm" len="sm"/>
                    </a:lnL>
                    <a:lnR w="9525" cap="flat" cmpd="sng">
                      <a:solidFill>
                        <a:srgbClr val="000000"/>
                      </a:solidFill>
                      <a:prstDash val="dot"/>
                      <a:round/>
                      <a:headEnd type="none" w="sm" len="sm"/>
                      <a:tailEnd type="none" w="sm" len="sm"/>
                    </a:lnR>
                    <a:lnT w="9525" cap="flat" cmpd="sng">
                      <a:solidFill>
                        <a:srgbClr val="000000"/>
                      </a:solidFill>
                      <a:prstDash val="dot"/>
                      <a:round/>
                      <a:headEnd type="none" w="sm" len="sm"/>
                      <a:tailEnd type="none" w="sm" len="sm"/>
                    </a:lnT>
                    <a:lnB w="9525" cap="flat" cmpd="sng">
                      <a:solidFill>
                        <a:srgbClr val="000000"/>
                      </a:solidFill>
                      <a:prstDash val="dot"/>
                      <a:round/>
                      <a:headEnd type="none" w="sm" len="sm"/>
                      <a:tailEnd type="none" w="sm" len="sm"/>
                    </a:lnB>
                  </a:tcPr>
                </a:tc>
                <a:extLst>
                  <a:ext uri="{0D108BD9-81ED-4DB2-BD59-A6C34878D82A}">
                    <a16:rowId xmlns:a16="http://schemas.microsoft.com/office/drawing/2014/main" val="10003"/>
                  </a:ext>
                </a:extLst>
              </a:tr>
              <a:tr h="200025">
                <a:tc>
                  <a:txBody>
                    <a:bodyPr/>
                    <a:lstStyle/>
                    <a:p>
                      <a:pPr marL="0" lvl="0" indent="0" algn="ctr" rtl="0">
                        <a:lnSpc>
                          <a:spcPct val="115000"/>
                        </a:lnSpc>
                        <a:spcBef>
                          <a:spcPts val="0"/>
                        </a:spcBef>
                        <a:spcAft>
                          <a:spcPts val="0"/>
                        </a:spcAft>
                        <a:buNone/>
                      </a:pPr>
                      <a:r>
                        <a:rPr lang="en" sz="900">
                          <a:latin typeface="Lexend"/>
                          <a:ea typeface="Lexend"/>
                          <a:cs typeface="Lexend"/>
                          <a:sym typeface="Lexend"/>
                        </a:rPr>
                        <a:t>NIM</a:t>
                      </a:r>
                      <a:endParaRPr sz="900">
                        <a:latin typeface="Lexend"/>
                        <a:ea typeface="Lexend"/>
                        <a:cs typeface="Lexend"/>
                        <a:sym typeface="Lexend"/>
                      </a:endParaRPr>
                    </a:p>
                  </a:txBody>
                  <a:tcPr marL="28575" marR="28575" marT="19050" marB="19050" anchor="ctr">
                    <a:lnL w="9525" cap="flat" cmpd="sng">
                      <a:solidFill>
                        <a:srgbClr val="000000"/>
                      </a:solidFill>
                      <a:prstDash val="solid"/>
                      <a:round/>
                      <a:headEnd type="none" w="sm" len="sm"/>
                      <a:tailEnd type="none" w="sm" len="sm"/>
                    </a:lnL>
                    <a:lnR w="9525" cap="flat" cmpd="sng">
                      <a:solidFill>
                        <a:srgbClr val="000000"/>
                      </a:solidFill>
                      <a:prstDash val="dot"/>
                      <a:round/>
                      <a:headEnd type="none" w="sm" len="sm"/>
                      <a:tailEnd type="none" w="sm" len="sm"/>
                    </a:lnR>
                    <a:lnT w="9525" cap="flat" cmpd="sng">
                      <a:solidFill>
                        <a:srgbClr val="000000"/>
                      </a:solidFill>
                      <a:prstDash val="dot"/>
                      <a:round/>
                      <a:headEnd type="none" w="sm" len="sm"/>
                      <a:tailEnd type="none" w="sm" len="sm"/>
                    </a:lnT>
                    <a:lnB w="9525" cap="flat" cmpd="sng">
                      <a:solidFill>
                        <a:srgbClr val="000000"/>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1000"/>
                        <a:t>15,015</a:t>
                      </a:r>
                      <a:endParaRPr sz="1000"/>
                    </a:p>
                  </a:txBody>
                  <a:tcPr marL="28575" marR="28575" marT="19050" marB="19050" anchor="b">
                    <a:lnL w="9525" cap="flat" cmpd="sng">
                      <a:solidFill>
                        <a:srgbClr val="000000"/>
                      </a:solidFill>
                      <a:prstDash val="dot"/>
                      <a:round/>
                      <a:headEnd type="none" w="sm" len="sm"/>
                      <a:tailEnd type="none" w="sm" len="sm"/>
                    </a:lnL>
                    <a:lnR w="9525" cap="flat" cmpd="sng">
                      <a:solidFill>
                        <a:srgbClr val="000000"/>
                      </a:solidFill>
                      <a:prstDash val="dot"/>
                      <a:round/>
                      <a:headEnd type="none" w="sm" len="sm"/>
                      <a:tailEnd type="none" w="sm" len="sm"/>
                    </a:lnR>
                    <a:lnT w="9525" cap="flat" cmpd="sng">
                      <a:solidFill>
                        <a:srgbClr val="000000"/>
                      </a:solidFill>
                      <a:prstDash val="dot"/>
                      <a:round/>
                      <a:headEnd type="none" w="sm" len="sm"/>
                      <a:tailEnd type="none" w="sm" len="sm"/>
                    </a:lnT>
                    <a:lnB w="9525" cap="flat" cmpd="sng">
                      <a:solidFill>
                        <a:srgbClr val="000000"/>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1000" b="1">
                          <a:solidFill>
                            <a:srgbClr val="FF0000"/>
                          </a:solidFill>
                        </a:rPr>
                        <a:t>▼ -11.1%</a:t>
                      </a:r>
                      <a:endParaRPr sz="1000" b="1">
                        <a:solidFill>
                          <a:srgbClr val="FF0000"/>
                        </a:solidFill>
                      </a:endParaRPr>
                    </a:p>
                  </a:txBody>
                  <a:tcPr marL="28575" marR="28575" marT="19050" marB="19050" anchor="b">
                    <a:lnL w="9525" cap="flat" cmpd="sng">
                      <a:solidFill>
                        <a:srgbClr val="000000"/>
                      </a:solidFill>
                      <a:prstDash val="dot"/>
                      <a:round/>
                      <a:headEnd type="none" w="sm" len="sm"/>
                      <a:tailEnd type="none" w="sm" len="sm"/>
                    </a:lnL>
                    <a:lnR w="9525" cap="flat" cmpd="sng">
                      <a:solidFill>
                        <a:srgbClr val="000000"/>
                      </a:solidFill>
                      <a:prstDash val="dot"/>
                      <a:round/>
                      <a:headEnd type="none" w="sm" len="sm"/>
                      <a:tailEnd type="none" w="sm" len="sm"/>
                    </a:lnR>
                    <a:lnT w="9525" cap="flat" cmpd="sng">
                      <a:solidFill>
                        <a:srgbClr val="000000"/>
                      </a:solidFill>
                      <a:prstDash val="dot"/>
                      <a:round/>
                      <a:headEnd type="none" w="sm" len="sm"/>
                      <a:tailEnd type="none" w="sm" len="sm"/>
                    </a:lnT>
                    <a:lnB w="9525" cap="flat" cmpd="sng">
                      <a:solidFill>
                        <a:srgbClr val="000000"/>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1000"/>
                        <a:t>23.8</a:t>
                      </a:r>
                      <a:endParaRPr sz="1000"/>
                    </a:p>
                  </a:txBody>
                  <a:tcPr marL="28575" marR="28575" marT="19050" marB="19050" anchor="b">
                    <a:lnL w="9525" cap="flat" cmpd="sng">
                      <a:solidFill>
                        <a:srgbClr val="000000"/>
                      </a:solidFill>
                      <a:prstDash val="dot"/>
                      <a:round/>
                      <a:headEnd type="none" w="sm" len="sm"/>
                      <a:tailEnd type="none" w="sm" len="sm"/>
                    </a:lnL>
                    <a:lnR w="9525" cap="flat" cmpd="sng">
                      <a:solidFill>
                        <a:srgbClr val="000000"/>
                      </a:solidFill>
                      <a:prstDash val="dot"/>
                      <a:round/>
                      <a:headEnd type="none" w="sm" len="sm"/>
                      <a:tailEnd type="none" w="sm" len="sm"/>
                    </a:lnR>
                    <a:lnT w="9525" cap="flat" cmpd="sng">
                      <a:solidFill>
                        <a:srgbClr val="000000"/>
                      </a:solidFill>
                      <a:prstDash val="dot"/>
                      <a:round/>
                      <a:headEnd type="none" w="sm" len="sm"/>
                      <a:tailEnd type="none" w="sm" len="sm"/>
                    </a:lnT>
                    <a:lnB w="9525" cap="flat" cmpd="sng">
                      <a:solidFill>
                        <a:srgbClr val="000000"/>
                      </a:solidFill>
                      <a:prstDash val="dot"/>
                      <a:round/>
                      <a:headEnd type="none" w="sm" len="sm"/>
                      <a:tailEnd type="none" w="sm" len="sm"/>
                    </a:lnB>
                  </a:tcPr>
                </a:tc>
                <a:extLst>
                  <a:ext uri="{0D108BD9-81ED-4DB2-BD59-A6C34878D82A}">
                    <a16:rowId xmlns:a16="http://schemas.microsoft.com/office/drawing/2014/main" val="10004"/>
                  </a:ext>
                </a:extLst>
              </a:tr>
              <a:tr h="200025">
                <a:tc>
                  <a:txBody>
                    <a:bodyPr/>
                    <a:lstStyle/>
                    <a:p>
                      <a:pPr marL="0" lvl="0" indent="0" algn="ctr" rtl="0">
                        <a:lnSpc>
                          <a:spcPct val="115000"/>
                        </a:lnSpc>
                        <a:spcBef>
                          <a:spcPts val="0"/>
                        </a:spcBef>
                        <a:spcAft>
                          <a:spcPts val="0"/>
                        </a:spcAft>
                        <a:buNone/>
                      </a:pPr>
                      <a:r>
                        <a:rPr lang="en" sz="900">
                          <a:latin typeface="Lexend"/>
                          <a:ea typeface="Lexend"/>
                          <a:cs typeface="Lexend"/>
                          <a:sym typeface="Lexend"/>
                        </a:rPr>
                        <a:t>Return</a:t>
                      </a:r>
                      <a:endParaRPr sz="900">
                        <a:latin typeface="Lexend"/>
                        <a:ea typeface="Lexend"/>
                        <a:cs typeface="Lexend"/>
                        <a:sym typeface="Lexend"/>
                      </a:endParaRPr>
                    </a:p>
                  </a:txBody>
                  <a:tcPr marL="28575" marR="28575" marT="19050" marB="19050" anchor="ctr">
                    <a:lnL w="9525" cap="flat" cmpd="sng">
                      <a:solidFill>
                        <a:srgbClr val="000000"/>
                      </a:solidFill>
                      <a:prstDash val="solid"/>
                      <a:round/>
                      <a:headEnd type="none" w="sm" len="sm"/>
                      <a:tailEnd type="none" w="sm" len="sm"/>
                    </a:lnL>
                    <a:lnR w="9525" cap="flat" cmpd="sng">
                      <a:solidFill>
                        <a:srgbClr val="000000"/>
                      </a:solidFill>
                      <a:prstDash val="dot"/>
                      <a:round/>
                      <a:headEnd type="none" w="sm" len="sm"/>
                      <a:tailEnd type="none" w="sm" len="sm"/>
                    </a:lnR>
                    <a:lnT w="9525" cap="flat" cmpd="sng">
                      <a:solidFill>
                        <a:srgbClr val="000000"/>
                      </a:solidFill>
                      <a:prstDash val="dot"/>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6,778</a:t>
                      </a:r>
                      <a:endParaRPr sz="1000"/>
                    </a:p>
                  </a:txBody>
                  <a:tcPr marL="28575" marR="28575" marT="19050" marB="19050" anchor="b">
                    <a:lnL w="9525" cap="flat" cmpd="sng">
                      <a:solidFill>
                        <a:srgbClr val="000000"/>
                      </a:solidFill>
                      <a:prstDash val="dot"/>
                      <a:round/>
                      <a:headEnd type="none" w="sm" len="sm"/>
                      <a:tailEnd type="none" w="sm" len="sm"/>
                    </a:lnL>
                    <a:lnR w="9525" cap="flat" cmpd="sng">
                      <a:solidFill>
                        <a:srgbClr val="000000"/>
                      </a:solidFill>
                      <a:prstDash val="dot"/>
                      <a:round/>
                      <a:headEnd type="none" w="sm" len="sm"/>
                      <a:tailEnd type="none" w="sm" len="sm"/>
                    </a:lnR>
                    <a:lnT w="9525" cap="flat" cmpd="sng">
                      <a:solidFill>
                        <a:srgbClr val="000000"/>
                      </a:solidFill>
                      <a:prstDash val="dot"/>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b="1">
                          <a:solidFill>
                            <a:srgbClr val="339966"/>
                          </a:solidFill>
                        </a:rPr>
                        <a:t>▲ 32.1%</a:t>
                      </a:r>
                      <a:endParaRPr sz="1000" b="1">
                        <a:solidFill>
                          <a:srgbClr val="339966"/>
                        </a:solidFill>
                      </a:endParaRPr>
                    </a:p>
                  </a:txBody>
                  <a:tcPr marL="28575" marR="28575" marT="19050" marB="19050" anchor="b">
                    <a:lnL w="9525" cap="flat" cmpd="sng">
                      <a:solidFill>
                        <a:srgbClr val="000000"/>
                      </a:solidFill>
                      <a:prstDash val="dot"/>
                      <a:round/>
                      <a:headEnd type="none" w="sm" len="sm"/>
                      <a:tailEnd type="none" w="sm" len="sm"/>
                    </a:lnL>
                    <a:lnR w="9525" cap="flat" cmpd="sng">
                      <a:solidFill>
                        <a:srgbClr val="000000"/>
                      </a:solidFill>
                      <a:prstDash val="dot"/>
                      <a:round/>
                      <a:headEnd type="none" w="sm" len="sm"/>
                      <a:tailEnd type="none" w="sm" len="sm"/>
                    </a:lnR>
                    <a:lnT w="9525" cap="flat" cmpd="sng">
                      <a:solidFill>
                        <a:srgbClr val="000000"/>
                      </a:solidFill>
                      <a:prstDash val="dot"/>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19.3</a:t>
                      </a:r>
                      <a:endParaRPr sz="1000"/>
                    </a:p>
                  </a:txBody>
                  <a:tcPr marL="28575" marR="28575" marT="19050" marB="19050" anchor="b">
                    <a:lnL w="9525" cap="flat" cmpd="sng">
                      <a:solidFill>
                        <a:srgbClr val="000000"/>
                      </a:solidFill>
                      <a:prstDash val="dot"/>
                      <a:round/>
                      <a:headEnd type="none" w="sm" len="sm"/>
                      <a:tailEnd type="none" w="sm" len="sm"/>
                    </a:lnL>
                    <a:lnR w="9525" cap="flat" cmpd="sng">
                      <a:solidFill>
                        <a:srgbClr val="000000"/>
                      </a:solidFill>
                      <a:prstDash val="dot"/>
                      <a:round/>
                      <a:headEnd type="none" w="sm" len="sm"/>
                      <a:tailEnd type="none" w="sm" len="sm"/>
                    </a:lnR>
                    <a:lnT w="9525" cap="flat" cmpd="sng">
                      <a:solidFill>
                        <a:srgbClr val="000000"/>
                      </a:solidFill>
                      <a:prstDash val="dot"/>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5"/>
                  </a:ext>
                </a:extLst>
              </a:tr>
              <a:tr h="200025">
                <a:tc>
                  <a:txBody>
                    <a:bodyPr/>
                    <a:lstStyle/>
                    <a:p>
                      <a:pPr marL="0" lvl="0" indent="0" algn="ctr" rtl="0">
                        <a:lnSpc>
                          <a:spcPct val="115000"/>
                        </a:lnSpc>
                        <a:spcBef>
                          <a:spcPts val="0"/>
                        </a:spcBef>
                        <a:spcAft>
                          <a:spcPts val="0"/>
                        </a:spcAft>
                        <a:buNone/>
                      </a:pPr>
                      <a:r>
                        <a:rPr lang="en" sz="1000" b="1"/>
                        <a:t>Total</a:t>
                      </a:r>
                      <a:endParaRPr sz="1000" b="1"/>
                    </a:p>
                  </a:txBody>
                  <a:tcPr marL="28575" marR="28575" marT="19050" marB="19050" anchor="b">
                    <a:lnL w="9525" cap="flat" cmpd="sng">
                      <a:solidFill>
                        <a:srgbClr val="000000"/>
                      </a:solidFill>
                      <a:prstDash val="dash"/>
                      <a:round/>
                      <a:headEnd type="none" w="sm" len="sm"/>
                      <a:tailEnd type="none" w="sm" len="sm"/>
                    </a:lnL>
                    <a:lnR w="9525" cap="flat" cmpd="sng">
                      <a:solidFill>
                        <a:srgbClr val="CCCCCC"/>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000000"/>
                      </a:solidFill>
                      <a:prstDash val="dash"/>
                      <a:round/>
                      <a:headEnd type="none" w="sm" len="sm"/>
                      <a:tailEnd type="none" w="sm" len="sm"/>
                    </a:lnB>
                  </a:tcPr>
                </a:tc>
                <a:tc>
                  <a:txBody>
                    <a:bodyPr/>
                    <a:lstStyle/>
                    <a:p>
                      <a:pPr marL="0" lvl="0" indent="0" algn="ctr" rtl="0">
                        <a:lnSpc>
                          <a:spcPct val="115000"/>
                        </a:lnSpc>
                        <a:spcBef>
                          <a:spcPts val="0"/>
                        </a:spcBef>
                        <a:spcAft>
                          <a:spcPts val="0"/>
                        </a:spcAft>
                        <a:buNone/>
                      </a:pPr>
                      <a:r>
                        <a:rPr lang="en" sz="1000" b="1"/>
                        <a:t>275,823</a:t>
                      </a:r>
                      <a:endParaRPr sz="1000" b="1"/>
                    </a:p>
                  </a:txBody>
                  <a:tcPr marL="28575" marR="28575" marT="19050" marB="19050" anchor="b">
                    <a:lnL w="9525" cap="flat" cmpd="sng">
                      <a:solidFill>
                        <a:srgbClr val="CCCCCC"/>
                      </a:solidFill>
                      <a:prstDash val="solid"/>
                      <a:round/>
                      <a:headEnd type="none" w="sm" len="sm"/>
                      <a:tailEnd type="none" w="sm" len="sm"/>
                    </a:lnL>
                    <a:lnR w="9525" cap="flat" cmpd="sng">
                      <a:solidFill>
                        <a:srgbClr val="000000"/>
                      </a:solidFill>
                      <a:prstDash val="dot"/>
                      <a:round/>
                      <a:headEnd type="none" w="sm" len="sm"/>
                      <a:tailEnd type="none" w="sm" len="sm"/>
                    </a:lnR>
                    <a:lnT w="19050" cap="flat" cmpd="sng">
                      <a:solidFill>
                        <a:srgbClr val="000000"/>
                      </a:solidFill>
                      <a:prstDash val="solid"/>
                      <a:round/>
                      <a:headEnd type="none" w="sm" len="sm"/>
                      <a:tailEnd type="none" w="sm" len="sm"/>
                    </a:lnT>
                    <a:lnB w="9525" cap="flat" cmpd="sng">
                      <a:solidFill>
                        <a:srgbClr val="000000"/>
                      </a:solidFill>
                      <a:prstDash val="dash"/>
                      <a:round/>
                      <a:headEnd type="none" w="sm" len="sm"/>
                      <a:tailEnd type="none" w="sm" len="sm"/>
                    </a:lnB>
                  </a:tcPr>
                </a:tc>
                <a:tc>
                  <a:txBody>
                    <a:bodyPr/>
                    <a:lstStyle/>
                    <a:p>
                      <a:pPr marL="0" lvl="0" indent="0" algn="ctr" rtl="0">
                        <a:lnSpc>
                          <a:spcPct val="115000"/>
                        </a:lnSpc>
                        <a:spcBef>
                          <a:spcPts val="0"/>
                        </a:spcBef>
                        <a:spcAft>
                          <a:spcPts val="0"/>
                        </a:spcAft>
                        <a:buNone/>
                      </a:pPr>
                      <a:r>
                        <a:rPr lang="en" sz="1000" b="1">
                          <a:solidFill>
                            <a:srgbClr val="FF0000"/>
                          </a:solidFill>
                        </a:rPr>
                        <a:t>▼ -2.6%</a:t>
                      </a:r>
                      <a:endParaRPr sz="1000" b="1">
                        <a:solidFill>
                          <a:srgbClr val="FF0000"/>
                        </a:solidFill>
                      </a:endParaRPr>
                    </a:p>
                  </a:txBody>
                  <a:tcPr marL="28575" marR="28575" marT="19050" marB="19050" anchor="b">
                    <a:lnL w="9525" cap="flat" cmpd="sng">
                      <a:solidFill>
                        <a:srgbClr val="000000"/>
                      </a:solidFill>
                      <a:prstDash val="dot"/>
                      <a:round/>
                      <a:headEnd type="none" w="sm" len="sm"/>
                      <a:tailEnd type="none" w="sm" len="sm"/>
                    </a:lnL>
                    <a:lnR w="9525" cap="flat" cmpd="sng">
                      <a:solidFill>
                        <a:srgbClr val="000000"/>
                      </a:solidFill>
                      <a:prstDash val="dot"/>
                      <a:round/>
                      <a:headEnd type="none" w="sm" len="sm"/>
                      <a:tailEnd type="none" w="sm" len="sm"/>
                    </a:lnR>
                    <a:lnT w="19050" cap="flat" cmpd="sng">
                      <a:solidFill>
                        <a:srgbClr val="000000"/>
                      </a:solidFill>
                      <a:prstDash val="solid"/>
                      <a:round/>
                      <a:headEnd type="none" w="sm" len="sm"/>
                      <a:tailEnd type="none" w="sm" len="sm"/>
                    </a:lnT>
                    <a:lnB w="9525" cap="flat" cmpd="sng">
                      <a:solidFill>
                        <a:srgbClr val="000000"/>
                      </a:solidFill>
                      <a:prstDash val="dash"/>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9525" cap="flat" cmpd="sng">
                      <a:solidFill>
                        <a:srgbClr val="000000"/>
                      </a:solidFill>
                      <a:prstDash val="dot"/>
                      <a:round/>
                      <a:headEnd type="none" w="sm" len="sm"/>
                      <a:tailEnd type="none" w="sm" len="sm"/>
                    </a:lnL>
                    <a:lnR w="9525" cap="flat" cmpd="sng">
                      <a:solidFill>
                        <a:srgbClr val="CCCCCC"/>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6"/>
                  </a:ext>
                </a:extLst>
              </a:tr>
            </a:tbl>
          </a:graphicData>
        </a:graphic>
      </p:graphicFrame>
      <p:graphicFrame>
        <p:nvGraphicFramePr>
          <p:cNvPr id="233" name="Google Shape;233;p37"/>
          <p:cNvGraphicFramePr/>
          <p:nvPr/>
        </p:nvGraphicFramePr>
        <p:xfrm>
          <a:off x="5570825" y="2949750"/>
          <a:ext cx="3000000" cy="3000000"/>
        </p:xfrm>
        <a:graphic>
          <a:graphicData uri="http://schemas.openxmlformats.org/drawingml/2006/table">
            <a:tbl>
              <a:tblPr>
                <a:noFill/>
                <a:tableStyleId>{BD4DB973-2F49-4540-A1CC-0EE3EA8BBFB3}</a:tableStyleId>
              </a:tblPr>
              <a:tblGrid>
                <a:gridCol w="952500">
                  <a:extLst>
                    <a:ext uri="{9D8B030D-6E8A-4147-A177-3AD203B41FA5}">
                      <a16:colId xmlns:a16="http://schemas.microsoft.com/office/drawing/2014/main" val="20000"/>
                    </a:ext>
                  </a:extLst>
                </a:gridCol>
                <a:gridCol w="952500">
                  <a:extLst>
                    <a:ext uri="{9D8B030D-6E8A-4147-A177-3AD203B41FA5}">
                      <a16:colId xmlns:a16="http://schemas.microsoft.com/office/drawing/2014/main" val="20001"/>
                    </a:ext>
                  </a:extLst>
                </a:gridCol>
                <a:gridCol w="952500">
                  <a:extLst>
                    <a:ext uri="{9D8B030D-6E8A-4147-A177-3AD203B41FA5}">
                      <a16:colId xmlns:a16="http://schemas.microsoft.com/office/drawing/2014/main" val="20002"/>
                    </a:ext>
                  </a:extLst>
                </a:gridCol>
              </a:tblGrid>
              <a:tr h="200025">
                <a:tc>
                  <a:txBody>
                    <a:bodyPr/>
                    <a:lstStyle/>
                    <a:p>
                      <a:pPr marL="0" lvl="0" indent="0" algn="ctr" rtl="0">
                        <a:lnSpc>
                          <a:spcPct val="115000"/>
                        </a:lnSpc>
                        <a:spcBef>
                          <a:spcPts val="0"/>
                        </a:spcBef>
                        <a:spcAft>
                          <a:spcPts val="0"/>
                        </a:spcAft>
                        <a:buNone/>
                      </a:pPr>
                      <a:r>
                        <a:rPr lang="en" sz="900" b="1">
                          <a:solidFill>
                            <a:srgbClr val="FFFFFF"/>
                          </a:solidFill>
                          <a:latin typeface="Lexend"/>
                          <a:ea typeface="Lexend"/>
                          <a:cs typeface="Lexend"/>
                          <a:sym typeface="Lexend"/>
                        </a:rPr>
                        <a:t>Metric</a:t>
                      </a:r>
                      <a:endParaRPr sz="900" b="1">
                        <a:solidFill>
                          <a:srgbClr val="FFFFFF"/>
                        </a:solidFill>
                        <a:latin typeface="Lexend"/>
                        <a:ea typeface="Lexend"/>
                        <a:cs typeface="Lexend"/>
                        <a:sym typeface="Lexend"/>
                      </a:endParaRPr>
                    </a:p>
                  </a:txBody>
                  <a:tcPr marL="28575" marR="28575" marT="19050" marB="19050" anchor="ctr">
                    <a:lnL w="9525" cap="flat" cmpd="sng">
                      <a:solidFill>
                        <a:srgbClr val="000000"/>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73763"/>
                    </a:solidFill>
                  </a:tcPr>
                </a:tc>
                <a:tc>
                  <a:txBody>
                    <a:bodyPr/>
                    <a:lstStyle/>
                    <a:p>
                      <a:pPr marL="0" lvl="0" indent="0" algn="ctr" rtl="0">
                        <a:lnSpc>
                          <a:spcPct val="115000"/>
                        </a:lnSpc>
                        <a:spcBef>
                          <a:spcPts val="0"/>
                        </a:spcBef>
                        <a:spcAft>
                          <a:spcPts val="0"/>
                        </a:spcAft>
                        <a:buNone/>
                      </a:pPr>
                      <a:r>
                        <a:rPr lang="en" sz="900" b="1">
                          <a:solidFill>
                            <a:srgbClr val="FFFFFF"/>
                          </a:solidFill>
                          <a:latin typeface="Lexend"/>
                          <a:ea typeface="Lexend"/>
                          <a:cs typeface="Lexend"/>
                          <a:sym typeface="Lexend"/>
                        </a:rPr>
                        <a:t>Total</a:t>
                      </a:r>
                      <a:endParaRPr sz="900" b="1">
                        <a:solidFill>
                          <a:srgbClr val="FFFFFF"/>
                        </a:solidFill>
                        <a:latin typeface="Lexend"/>
                        <a:ea typeface="Lexend"/>
                        <a:cs typeface="Lexend"/>
                        <a:sym typeface="Lexend"/>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073763"/>
                    </a:solidFill>
                  </a:tcPr>
                </a:tc>
                <a:tc>
                  <a:txBody>
                    <a:bodyPr/>
                    <a:lstStyle/>
                    <a:p>
                      <a:pPr marL="0" lvl="0" indent="0" algn="ctr" rtl="0">
                        <a:lnSpc>
                          <a:spcPct val="115000"/>
                        </a:lnSpc>
                        <a:spcBef>
                          <a:spcPts val="0"/>
                        </a:spcBef>
                        <a:spcAft>
                          <a:spcPts val="0"/>
                        </a:spcAft>
                        <a:buNone/>
                      </a:pPr>
                      <a:r>
                        <a:rPr lang="en" sz="900" b="1">
                          <a:solidFill>
                            <a:srgbClr val="FFFFFF"/>
                          </a:solidFill>
                          <a:latin typeface="Lexend"/>
                          <a:ea typeface="Lexend"/>
                          <a:cs typeface="Lexend"/>
                          <a:sym typeface="Lexend"/>
                        </a:rPr>
                        <a:t>SS WoW</a:t>
                      </a:r>
                      <a:endParaRPr sz="900" b="1">
                        <a:solidFill>
                          <a:srgbClr val="FFFFFF"/>
                        </a:solidFill>
                        <a:latin typeface="Lexend"/>
                        <a:ea typeface="Lexend"/>
                        <a:cs typeface="Lexend"/>
                        <a:sym typeface="Lexend"/>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6D01"/>
                    </a:solidFill>
                  </a:tcPr>
                </a:tc>
                <a:extLst>
                  <a:ext uri="{0D108BD9-81ED-4DB2-BD59-A6C34878D82A}">
                    <a16:rowId xmlns:a16="http://schemas.microsoft.com/office/drawing/2014/main" val="10000"/>
                  </a:ext>
                </a:extLst>
              </a:tr>
              <a:tr h="200025">
                <a:tc>
                  <a:txBody>
                    <a:bodyPr/>
                    <a:lstStyle/>
                    <a:p>
                      <a:pPr marL="0" lvl="0" indent="0" algn="ctr" rtl="0">
                        <a:lnSpc>
                          <a:spcPct val="115000"/>
                        </a:lnSpc>
                        <a:spcBef>
                          <a:spcPts val="0"/>
                        </a:spcBef>
                        <a:spcAft>
                          <a:spcPts val="0"/>
                        </a:spcAft>
                        <a:buNone/>
                      </a:pPr>
                      <a:r>
                        <a:rPr lang="en" sz="900">
                          <a:latin typeface="Lexend"/>
                          <a:ea typeface="Lexend"/>
                          <a:cs typeface="Lexend"/>
                          <a:sym typeface="Lexend"/>
                        </a:rPr>
                        <a:t>RPH</a:t>
                      </a:r>
                      <a:endParaRPr sz="900">
                        <a:latin typeface="Lexend"/>
                        <a:ea typeface="Lexend"/>
                        <a:cs typeface="Lexend"/>
                        <a:sym typeface="Lexend"/>
                      </a:endParaRPr>
                    </a:p>
                  </a:txBody>
                  <a:tcPr marL="28575" marR="28575" marT="19050" marB="19050" anchor="ctr">
                    <a:lnL w="9525" cap="flat" cmpd="sng">
                      <a:solidFill>
                        <a:srgbClr val="000000"/>
                      </a:solidFill>
                      <a:prstDash val="solid"/>
                      <a:round/>
                      <a:headEnd type="none" w="sm" len="sm"/>
                      <a:tailEnd type="none" w="sm" len="sm"/>
                    </a:lnL>
                    <a:lnR w="9525" cap="flat" cmpd="sng">
                      <a:solidFill>
                        <a:srgbClr val="000000"/>
                      </a:solidFill>
                      <a:prstDash val="dot"/>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1000"/>
                        <a:t>1.47</a:t>
                      </a:r>
                      <a:endParaRPr sz="1000"/>
                    </a:p>
                  </a:txBody>
                  <a:tcPr marL="28575" marR="28575" marT="19050" marB="19050" anchor="b">
                    <a:lnL w="9525" cap="flat" cmpd="sng">
                      <a:solidFill>
                        <a:srgbClr val="000000"/>
                      </a:solidFill>
                      <a:prstDash val="dot"/>
                      <a:round/>
                      <a:headEnd type="none" w="sm" len="sm"/>
                      <a:tailEnd type="none" w="sm" len="sm"/>
                    </a:lnL>
                    <a:lnR w="9525" cap="flat" cmpd="sng">
                      <a:solidFill>
                        <a:srgbClr val="000000"/>
                      </a:solidFill>
                      <a:prstDash val="dot"/>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1000" b="1">
                          <a:solidFill>
                            <a:srgbClr val="FF0000"/>
                          </a:solidFill>
                        </a:rPr>
                        <a:t>▼ -3.3%</a:t>
                      </a:r>
                      <a:endParaRPr sz="1000" b="1">
                        <a:solidFill>
                          <a:srgbClr val="FF0000"/>
                        </a:solidFill>
                      </a:endParaRPr>
                    </a:p>
                  </a:txBody>
                  <a:tcPr marL="28575" marR="28575" marT="19050" marB="19050" anchor="b">
                    <a:lnL w="9525" cap="flat" cmpd="sng">
                      <a:solidFill>
                        <a:srgbClr val="000000"/>
                      </a:solidFill>
                      <a:prstDash val="dot"/>
                      <a:round/>
                      <a:headEnd type="none" w="sm" len="sm"/>
                      <a:tailEnd type="none" w="sm" len="sm"/>
                    </a:lnL>
                    <a:lnR w="9525" cap="flat" cmpd="sng">
                      <a:solidFill>
                        <a:srgbClr val="000000"/>
                      </a:solidFill>
                      <a:prstDash val="dot"/>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dot"/>
                      <a:round/>
                      <a:headEnd type="none" w="sm" len="sm"/>
                      <a:tailEnd type="none" w="sm" len="sm"/>
                    </a:lnB>
                  </a:tcPr>
                </a:tc>
                <a:extLst>
                  <a:ext uri="{0D108BD9-81ED-4DB2-BD59-A6C34878D82A}">
                    <a16:rowId xmlns:a16="http://schemas.microsoft.com/office/drawing/2014/main" val="10001"/>
                  </a:ext>
                </a:extLst>
              </a:tr>
              <a:tr h="200025">
                <a:tc>
                  <a:txBody>
                    <a:bodyPr/>
                    <a:lstStyle/>
                    <a:p>
                      <a:pPr marL="0" lvl="0" indent="0" algn="ctr" rtl="0">
                        <a:lnSpc>
                          <a:spcPct val="115000"/>
                        </a:lnSpc>
                        <a:spcBef>
                          <a:spcPts val="0"/>
                        </a:spcBef>
                        <a:spcAft>
                          <a:spcPts val="0"/>
                        </a:spcAft>
                        <a:buNone/>
                      </a:pPr>
                      <a:r>
                        <a:rPr lang="en" sz="900">
                          <a:latin typeface="Lexend"/>
                          <a:ea typeface="Lexend"/>
                          <a:cs typeface="Lexend"/>
                          <a:sym typeface="Lexend"/>
                        </a:rPr>
                        <a:t>Request_stp</a:t>
                      </a:r>
                      <a:endParaRPr sz="900">
                        <a:latin typeface="Lexend"/>
                        <a:ea typeface="Lexend"/>
                        <a:cs typeface="Lexend"/>
                        <a:sym typeface="Lexend"/>
                      </a:endParaRPr>
                    </a:p>
                  </a:txBody>
                  <a:tcPr marL="28575" marR="28575" marT="19050" marB="19050" anchor="ctr">
                    <a:lnL w="9525" cap="flat" cmpd="sng">
                      <a:solidFill>
                        <a:srgbClr val="000000"/>
                      </a:solidFill>
                      <a:prstDash val="solid"/>
                      <a:round/>
                      <a:headEnd type="none" w="sm" len="sm"/>
                      <a:tailEnd type="none" w="sm" len="sm"/>
                    </a:lnL>
                    <a:lnR w="9525" cap="flat" cmpd="sng">
                      <a:solidFill>
                        <a:srgbClr val="000000"/>
                      </a:solidFill>
                      <a:prstDash val="dot"/>
                      <a:round/>
                      <a:headEnd type="none" w="sm" len="sm"/>
                      <a:tailEnd type="none" w="sm" len="sm"/>
                    </a:lnR>
                    <a:lnT w="9525" cap="flat" cmpd="sng">
                      <a:solidFill>
                        <a:srgbClr val="000000"/>
                      </a:solidFill>
                      <a:prstDash val="dot"/>
                      <a:round/>
                      <a:headEnd type="none" w="sm" len="sm"/>
                      <a:tailEnd type="none" w="sm" len="sm"/>
                    </a:lnT>
                    <a:lnB w="9525" cap="flat" cmpd="sng">
                      <a:solidFill>
                        <a:srgbClr val="000000"/>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1000"/>
                        <a:t>438,418</a:t>
                      </a:r>
                      <a:endParaRPr sz="1000"/>
                    </a:p>
                  </a:txBody>
                  <a:tcPr marL="28575" marR="28575" marT="19050" marB="19050" anchor="b">
                    <a:lnL w="9525" cap="flat" cmpd="sng">
                      <a:solidFill>
                        <a:srgbClr val="000000"/>
                      </a:solidFill>
                      <a:prstDash val="dot"/>
                      <a:round/>
                      <a:headEnd type="none" w="sm" len="sm"/>
                      <a:tailEnd type="none" w="sm" len="sm"/>
                    </a:lnL>
                    <a:lnR w="9525" cap="flat" cmpd="sng">
                      <a:solidFill>
                        <a:srgbClr val="000000"/>
                      </a:solidFill>
                      <a:prstDash val="dot"/>
                      <a:round/>
                      <a:headEnd type="none" w="sm" len="sm"/>
                      <a:tailEnd type="none" w="sm" len="sm"/>
                    </a:lnR>
                    <a:lnT w="9525" cap="flat" cmpd="sng">
                      <a:solidFill>
                        <a:srgbClr val="000000"/>
                      </a:solidFill>
                      <a:prstDash val="dot"/>
                      <a:round/>
                      <a:headEnd type="none" w="sm" len="sm"/>
                      <a:tailEnd type="none" w="sm" len="sm"/>
                    </a:lnT>
                    <a:lnB w="9525" cap="flat" cmpd="sng">
                      <a:solidFill>
                        <a:srgbClr val="000000"/>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1000" b="1">
                          <a:solidFill>
                            <a:srgbClr val="FF0000"/>
                          </a:solidFill>
                        </a:rPr>
                        <a:t>▼ -5.1%</a:t>
                      </a:r>
                      <a:endParaRPr sz="1000" b="1">
                        <a:solidFill>
                          <a:srgbClr val="FF0000"/>
                        </a:solidFill>
                      </a:endParaRPr>
                    </a:p>
                  </a:txBody>
                  <a:tcPr marL="28575" marR="28575" marT="19050" marB="19050" anchor="b">
                    <a:lnL w="9525" cap="flat" cmpd="sng">
                      <a:solidFill>
                        <a:srgbClr val="000000"/>
                      </a:solidFill>
                      <a:prstDash val="dot"/>
                      <a:round/>
                      <a:headEnd type="none" w="sm" len="sm"/>
                      <a:tailEnd type="none" w="sm" len="sm"/>
                    </a:lnL>
                    <a:lnR w="9525" cap="flat" cmpd="sng">
                      <a:solidFill>
                        <a:srgbClr val="000000"/>
                      </a:solidFill>
                      <a:prstDash val="dot"/>
                      <a:round/>
                      <a:headEnd type="none" w="sm" len="sm"/>
                      <a:tailEnd type="none" w="sm" len="sm"/>
                    </a:lnR>
                    <a:lnT w="9525" cap="flat" cmpd="sng">
                      <a:solidFill>
                        <a:srgbClr val="000000"/>
                      </a:solidFill>
                      <a:prstDash val="dot"/>
                      <a:round/>
                      <a:headEnd type="none" w="sm" len="sm"/>
                      <a:tailEnd type="none" w="sm" len="sm"/>
                    </a:lnT>
                    <a:lnB w="9525" cap="flat" cmpd="sng">
                      <a:solidFill>
                        <a:srgbClr val="000000"/>
                      </a:solidFill>
                      <a:prstDash val="dot"/>
                      <a:round/>
                      <a:headEnd type="none" w="sm" len="sm"/>
                      <a:tailEnd type="none" w="sm" len="sm"/>
                    </a:lnB>
                  </a:tcPr>
                </a:tc>
                <a:extLst>
                  <a:ext uri="{0D108BD9-81ED-4DB2-BD59-A6C34878D82A}">
                    <a16:rowId xmlns:a16="http://schemas.microsoft.com/office/drawing/2014/main" val="10002"/>
                  </a:ext>
                </a:extLst>
              </a:tr>
              <a:tr h="200025">
                <a:tc>
                  <a:txBody>
                    <a:bodyPr/>
                    <a:lstStyle/>
                    <a:p>
                      <a:pPr marL="0" lvl="0" indent="0" algn="ctr" rtl="0">
                        <a:lnSpc>
                          <a:spcPct val="115000"/>
                        </a:lnSpc>
                        <a:spcBef>
                          <a:spcPts val="0"/>
                        </a:spcBef>
                        <a:spcAft>
                          <a:spcPts val="0"/>
                        </a:spcAft>
                        <a:buNone/>
                      </a:pPr>
                      <a:r>
                        <a:rPr lang="en" sz="900">
                          <a:latin typeface="Lexend"/>
                          <a:ea typeface="Lexend"/>
                          <a:cs typeface="Lexend"/>
                          <a:sym typeface="Lexend"/>
                        </a:rPr>
                        <a:t>Accept_stp</a:t>
                      </a:r>
                      <a:endParaRPr sz="900">
                        <a:latin typeface="Lexend"/>
                        <a:ea typeface="Lexend"/>
                        <a:cs typeface="Lexend"/>
                        <a:sym typeface="Lexend"/>
                      </a:endParaRPr>
                    </a:p>
                  </a:txBody>
                  <a:tcPr marL="28575" marR="28575" marT="19050" marB="19050" anchor="ctr">
                    <a:lnL w="9525" cap="flat" cmpd="sng">
                      <a:solidFill>
                        <a:srgbClr val="000000"/>
                      </a:solidFill>
                      <a:prstDash val="solid"/>
                      <a:round/>
                      <a:headEnd type="none" w="sm" len="sm"/>
                      <a:tailEnd type="none" w="sm" len="sm"/>
                    </a:lnL>
                    <a:lnR w="9525" cap="flat" cmpd="sng">
                      <a:solidFill>
                        <a:srgbClr val="000000"/>
                      </a:solidFill>
                      <a:prstDash val="dot"/>
                      <a:round/>
                      <a:headEnd type="none" w="sm" len="sm"/>
                      <a:tailEnd type="none" w="sm" len="sm"/>
                    </a:lnR>
                    <a:lnT w="9525" cap="flat" cmpd="sng">
                      <a:solidFill>
                        <a:srgbClr val="000000"/>
                      </a:solidFill>
                      <a:prstDash val="dot"/>
                      <a:round/>
                      <a:headEnd type="none" w="sm" len="sm"/>
                      <a:tailEnd type="none" w="sm" len="sm"/>
                    </a:lnT>
                    <a:lnB w="9525" cap="flat" cmpd="sng">
                      <a:solidFill>
                        <a:srgbClr val="000000"/>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1000"/>
                        <a:t>416,454</a:t>
                      </a:r>
                      <a:endParaRPr sz="1000"/>
                    </a:p>
                  </a:txBody>
                  <a:tcPr marL="28575" marR="28575" marT="19050" marB="19050" anchor="b">
                    <a:lnL w="9525" cap="flat" cmpd="sng">
                      <a:solidFill>
                        <a:srgbClr val="000000"/>
                      </a:solidFill>
                      <a:prstDash val="dot"/>
                      <a:round/>
                      <a:headEnd type="none" w="sm" len="sm"/>
                      <a:tailEnd type="none" w="sm" len="sm"/>
                    </a:lnL>
                    <a:lnR w="9525" cap="flat" cmpd="sng">
                      <a:solidFill>
                        <a:srgbClr val="000000"/>
                      </a:solidFill>
                      <a:prstDash val="dot"/>
                      <a:round/>
                      <a:headEnd type="none" w="sm" len="sm"/>
                      <a:tailEnd type="none" w="sm" len="sm"/>
                    </a:lnR>
                    <a:lnT w="9525" cap="flat" cmpd="sng">
                      <a:solidFill>
                        <a:srgbClr val="000000"/>
                      </a:solidFill>
                      <a:prstDash val="dot"/>
                      <a:round/>
                      <a:headEnd type="none" w="sm" len="sm"/>
                      <a:tailEnd type="none" w="sm" len="sm"/>
                    </a:lnT>
                    <a:lnB w="9525" cap="flat" cmpd="sng">
                      <a:solidFill>
                        <a:srgbClr val="000000"/>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1000" b="1">
                          <a:solidFill>
                            <a:srgbClr val="FF0000"/>
                          </a:solidFill>
                        </a:rPr>
                        <a:t>▼ -4.6%</a:t>
                      </a:r>
                      <a:endParaRPr sz="1000" b="1">
                        <a:solidFill>
                          <a:srgbClr val="FF0000"/>
                        </a:solidFill>
                      </a:endParaRPr>
                    </a:p>
                  </a:txBody>
                  <a:tcPr marL="28575" marR="28575" marT="19050" marB="19050" anchor="b">
                    <a:lnL w="9525" cap="flat" cmpd="sng">
                      <a:solidFill>
                        <a:srgbClr val="000000"/>
                      </a:solidFill>
                      <a:prstDash val="dot"/>
                      <a:round/>
                      <a:headEnd type="none" w="sm" len="sm"/>
                      <a:tailEnd type="none" w="sm" len="sm"/>
                    </a:lnL>
                    <a:lnR w="9525" cap="flat" cmpd="sng">
                      <a:solidFill>
                        <a:srgbClr val="000000"/>
                      </a:solidFill>
                      <a:prstDash val="dot"/>
                      <a:round/>
                      <a:headEnd type="none" w="sm" len="sm"/>
                      <a:tailEnd type="none" w="sm" len="sm"/>
                    </a:lnR>
                    <a:lnT w="9525" cap="flat" cmpd="sng">
                      <a:solidFill>
                        <a:srgbClr val="000000"/>
                      </a:solidFill>
                      <a:prstDash val="dot"/>
                      <a:round/>
                      <a:headEnd type="none" w="sm" len="sm"/>
                      <a:tailEnd type="none" w="sm" len="sm"/>
                    </a:lnT>
                    <a:lnB w="9525" cap="flat" cmpd="sng">
                      <a:solidFill>
                        <a:srgbClr val="000000"/>
                      </a:solidFill>
                      <a:prstDash val="dot"/>
                      <a:round/>
                      <a:headEnd type="none" w="sm" len="sm"/>
                      <a:tailEnd type="none" w="sm" len="sm"/>
                    </a:lnB>
                  </a:tcPr>
                </a:tc>
                <a:extLst>
                  <a:ext uri="{0D108BD9-81ED-4DB2-BD59-A6C34878D82A}">
                    <a16:rowId xmlns:a16="http://schemas.microsoft.com/office/drawing/2014/main" val="10003"/>
                  </a:ext>
                </a:extLst>
              </a:tr>
              <a:tr h="200025">
                <a:tc>
                  <a:txBody>
                    <a:bodyPr/>
                    <a:lstStyle/>
                    <a:p>
                      <a:pPr marL="0" lvl="0" indent="0" algn="ctr" rtl="0">
                        <a:lnSpc>
                          <a:spcPct val="115000"/>
                        </a:lnSpc>
                        <a:spcBef>
                          <a:spcPts val="0"/>
                        </a:spcBef>
                        <a:spcAft>
                          <a:spcPts val="0"/>
                        </a:spcAft>
                        <a:buNone/>
                      </a:pPr>
                      <a:r>
                        <a:rPr lang="en" sz="900">
                          <a:latin typeface="Lexend"/>
                          <a:ea typeface="Lexend"/>
                          <a:cs typeface="Lexend"/>
                          <a:sym typeface="Lexend"/>
                        </a:rPr>
                        <a:t>Completed_stp</a:t>
                      </a:r>
                      <a:endParaRPr sz="900">
                        <a:latin typeface="Lexend"/>
                        <a:ea typeface="Lexend"/>
                        <a:cs typeface="Lexend"/>
                        <a:sym typeface="Lexend"/>
                      </a:endParaRPr>
                    </a:p>
                  </a:txBody>
                  <a:tcPr marL="28575" marR="28575" marT="19050" marB="19050" anchor="ctr">
                    <a:lnL w="9525" cap="flat" cmpd="sng">
                      <a:solidFill>
                        <a:srgbClr val="000000"/>
                      </a:solidFill>
                      <a:prstDash val="solid"/>
                      <a:round/>
                      <a:headEnd type="none" w="sm" len="sm"/>
                      <a:tailEnd type="none" w="sm" len="sm"/>
                    </a:lnL>
                    <a:lnR w="9525" cap="flat" cmpd="sng">
                      <a:solidFill>
                        <a:srgbClr val="000000"/>
                      </a:solidFill>
                      <a:prstDash val="dot"/>
                      <a:round/>
                      <a:headEnd type="none" w="sm" len="sm"/>
                      <a:tailEnd type="none" w="sm" len="sm"/>
                    </a:lnR>
                    <a:lnT w="9525" cap="flat" cmpd="sng">
                      <a:solidFill>
                        <a:srgbClr val="000000"/>
                      </a:solidFill>
                      <a:prstDash val="dot"/>
                      <a:round/>
                      <a:headEnd type="none" w="sm" len="sm"/>
                      <a:tailEnd type="none" w="sm" len="sm"/>
                    </a:lnT>
                    <a:lnB w="9525" cap="flat" cmpd="sng">
                      <a:solidFill>
                        <a:srgbClr val="000000"/>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1000"/>
                        <a:t>379,428</a:t>
                      </a:r>
                      <a:endParaRPr sz="1000"/>
                    </a:p>
                  </a:txBody>
                  <a:tcPr marL="28575" marR="28575" marT="19050" marB="19050" anchor="b">
                    <a:lnL w="9525" cap="flat" cmpd="sng">
                      <a:solidFill>
                        <a:srgbClr val="000000"/>
                      </a:solidFill>
                      <a:prstDash val="dot"/>
                      <a:round/>
                      <a:headEnd type="none" w="sm" len="sm"/>
                      <a:tailEnd type="none" w="sm" len="sm"/>
                    </a:lnL>
                    <a:lnR w="9525" cap="flat" cmpd="sng">
                      <a:solidFill>
                        <a:srgbClr val="000000"/>
                      </a:solidFill>
                      <a:prstDash val="dot"/>
                      <a:round/>
                      <a:headEnd type="none" w="sm" len="sm"/>
                      <a:tailEnd type="none" w="sm" len="sm"/>
                    </a:lnR>
                    <a:lnT w="9525" cap="flat" cmpd="sng">
                      <a:solidFill>
                        <a:srgbClr val="000000"/>
                      </a:solidFill>
                      <a:prstDash val="dot"/>
                      <a:round/>
                      <a:headEnd type="none" w="sm" len="sm"/>
                      <a:tailEnd type="none" w="sm" len="sm"/>
                    </a:lnT>
                    <a:lnB w="9525" cap="flat" cmpd="sng">
                      <a:solidFill>
                        <a:srgbClr val="000000"/>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1000" b="1">
                          <a:solidFill>
                            <a:srgbClr val="FF0000"/>
                          </a:solidFill>
                        </a:rPr>
                        <a:t>▼ -4.9%</a:t>
                      </a:r>
                      <a:endParaRPr sz="1000" b="1">
                        <a:solidFill>
                          <a:srgbClr val="FF0000"/>
                        </a:solidFill>
                      </a:endParaRPr>
                    </a:p>
                  </a:txBody>
                  <a:tcPr marL="28575" marR="28575" marT="19050" marB="19050" anchor="b">
                    <a:lnL w="9525" cap="flat" cmpd="sng">
                      <a:solidFill>
                        <a:srgbClr val="000000"/>
                      </a:solidFill>
                      <a:prstDash val="dot"/>
                      <a:round/>
                      <a:headEnd type="none" w="sm" len="sm"/>
                      <a:tailEnd type="none" w="sm" len="sm"/>
                    </a:lnL>
                    <a:lnR w="9525" cap="flat" cmpd="sng">
                      <a:solidFill>
                        <a:srgbClr val="000000"/>
                      </a:solidFill>
                      <a:prstDash val="dot"/>
                      <a:round/>
                      <a:headEnd type="none" w="sm" len="sm"/>
                      <a:tailEnd type="none" w="sm" len="sm"/>
                    </a:lnR>
                    <a:lnT w="9525" cap="flat" cmpd="sng">
                      <a:solidFill>
                        <a:srgbClr val="000000"/>
                      </a:solidFill>
                      <a:prstDash val="dot"/>
                      <a:round/>
                      <a:headEnd type="none" w="sm" len="sm"/>
                      <a:tailEnd type="none" w="sm" len="sm"/>
                    </a:lnT>
                    <a:lnB w="9525" cap="flat" cmpd="sng">
                      <a:solidFill>
                        <a:srgbClr val="000000"/>
                      </a:solidFill>
                      <a:prstDash val="dot"/>
                      <a:round/>
                      <a:headEnd type="none" w="sm" len="sm"/>
                      <a:tailEnd type="none" w="sm" len="sm"/>
                    </a:lnB>
                  </a:tcPr>
                </a:tc>
                <a:extLst>
                  <a:ext uri="{0D108BD9-81ED-4DB2-BD59-A6C34878D82A}">
                    <a16:rowId xmlns:a16="http://schemas.microsoft.com/office/drawing/2014/main" val="10004"/>
                  </a:ext>
                </a:extLst>
              </a:tr>
              <a:tr h="200025">
                <a:tc>
                  <a:txBody>
                    <a:bodyPr/>
                    <a:lstStyle/>
                    <a:p>
                      <a:pPr marL="0" lvl="0" indent="0" algn="ctr" rtl="0">
                        <a:lnSpc>
                          <a:spcPct val="115000"/>
                        </a:lnSpc>
                        <a:spcBef>
                          <a:spcPts val="0"/>
                        </a:spcBef>
                        <a:spcAft>
                          <a:spcPts val="0"/>
                        </a:spcAft>
                        <a:buNone/>
                      </a:pPr>
                      <a:r>
                        <a:rPr lang="en" sz="900">
                          <a:latin typeface="Lexend"/>
                          <a:ea typeface="Lexend"/>
                          <a:cs typeface="Lexend"/>
                          <a:sym typeface="Lexend"/>
                        </a:rPr>
                        <a:t>AR</a:t>
                      </a:r>
                      <a:endParaRPr sz="900">
                        <a:latin typeface="Lexend"/>
                        <a:ea typeface="Lexend"/>
                        <a:cs typeface="Lexend"/>
                        <a:sym typeface="Lexend"/>
                      </a:endParaRPr>
                    </a:p>
                  </a:txBody>
                  <a:tcPr marL="28575" marR="28575" marT="19050" marB="19050" anchor="ctr">
                    <a:lnL w="9525" cap="flat" cmpd="sng">
                      <a:solidFill>
                        <a:srgbClr val="000000"/>
                      </a:solidFill>
                      <a:prstDash val="solid"/>
                      <a:round/>
                      <a:headEnd type="none" w="sm" len="sm"/>
                      <a:tailEnd type="none" w="sm" len="sm"/>
                    </a:lnL>
                    <a:lnR w="9525" cap="flat" cmpd="sng">
                      <a:solidFill>
                        <a:srgbClr val="000000"/>
                      </a:solidFill>
                      <a:prstDash val="dot"/>
                      <a:round/>
                      <a:headEnd type="none" w="sm" len="sm"/>
                      <a:tailEnd type="none" w="sm" len="sm"/>
                    </a:lnR>
                    <a:lnT w="9525" cap="flat" cmpd="sng">
                      <a:solidFill>
                        <a:srgbClr val="000000"/>
                      </a:solidFill>
                      <a:prstDash val="dot"/>
                      <a:round/>
                      <a:headEnd type="none" w="sm" len="sm"/>
                      <a:tailEnd type="none" w="sm" len="sm"/>
                    </a:lnT>
                    <a:lnB w="9525" cap="flat" cmpd="sng">
                      <a:solidFill>
                        <a:srgbClr val="000000"/>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1000"/>
                        <a:t>95.0%</a:t>
                      </a:r>
                      <a:endParaRPr sz="1000"/>
                    </a:p>
                  </a:txBody>
                  <a:tcPr marL="28575" marR="28575" marT="19050" marB="19050" anchor="b">
                    <a:lnL w="9525" cap="flat" cmpd="sng">
                      <a:solidFill>
                        <a:srgbClr val="000000"/>
                      </a:solidFill>
                      <a:prstDash val="dot"/>
                      <a:round/>
                      <a:headEnd type="none" w="sm" len="sm"/>
                      <a:tailEnd type="none" w="sm" len="sm"/>
                    </a:lnL>
                    <a:lnR w="9525" cap="flat" cmpd="sng">
                      <a:solidFill>
                        <a:srgbClr val="000000"/>
                      </a:solidFill>
                      <a:prstDash val="dot"/>
                      <a:round/>
                      <a:headEnd type="none" w="sm" len="sm"/>
                      <a:tailEnd type="none" w="sm" len="sm"/>
                    </a:lnR>
                    <a:lnT w="9525" cap="flat" cmpd="sng">
                      <a:solidFill>
                        <a:srgbClr val="000000"/>
                      </a:solidFill>
                      <a:prstDash val="dot"/>
                      <a:round/>
                      <a:headEnd type="none" w="sm" len="sm"/>
                      <a:tailEnd type="none" w="sm" len="sm"/>
                    </a:lnT>
                    <a:lnB w="9525" cap="flat" cmpd="sng">
                      <a:solidFill>
                        <a:srgbClr val="000000"/>
                      </a:solidFill>
                      <a:prstDash val="dot"/>
                      <a:round/>
                      <a:headEnd type="none" w="sm" len="sm"/>
                      <a:tailEnd type="none" w="sm" len="sm"/>
                    </a:lnB>
                  </a:tcPr>
                </a:tc>
                <a:tc>
                  <a:txBody>
                    <a:bodyPr/>
                    <a:lstStyle/>
                    <a:p>
                      <a:pPr marL="0" lvl="0" indent="0" algn="ctr" rtl="0">
                        <a:lnSpc>
                          <a:spcPct val="115000"/>
                        </a:lnSpc>
                        <a:spcBef>
                          <a:spcPts val="0"/>
                        </a:spcBef>
                        <a:spcAft>
                          <a:spcPts val="0"/>
                        </a:spcAft>
                        <a:buNone/>
                      </a:pPr>
                      <a:r>
                        <a:rPr lang="en" sz="1000" b="1">
                          <a:solidFill>
                            <a:srgbClr val="339966"/>
                          </a:solidFill>
                        </a:rPr>
                        <a:t>▲ 0.43%</a:t>
                      </a:r>
                      <a:endParaRPr sz="1000" b="1">
                        <a:solidFill>
                          <a:srgbClr val="339966"/>
                        </a:solidFill>
                      </a:endParaRPr>
                    </a:p>
                  </a:txBody>
                  <a:tcPr marL="28575" marR="28575" marT="19050" marB="19050" anchor="b">
                    <a:lnL w="9525" cap="flat" cmpd="sng">
                      <a:solidFill>
                        <a:srgbClr val="000000"/>
                      </a:solidFill>
                      <a:prstDash val="dot"/>
                      <a:round/>
                      <a:headEnd type="none" w="sm" len="sm"/>
                      <a:tailEnd type="none" w="sm" len="sm"/>
                    </a:lnL>
                    <a:lnR w="9525" cap="flat" cmpd="sng">
                      <a:solidFill>
                        <a:srgbClr val="000000"/>
                      </a:solidFill>
                      <a:prstDash val="dot"/>
                      <a:round/>
                      <a:headEnd type="none" w="sm" len="sm"/>
                      <a:tailEnd type="none" w="sm" len="sm"/>
                    </a:lnR>
                    <a:lnT w="9525" cap="flat" cmpd="sng">
                      <a:solidFill>
                        <a:srgbClr val="000000"/>
                      </a:solidFill>
                      <a:prstDash val="dot"/>
                      <a:round/>
                      <a:headEnd type="none" w="sm" len="sm"/>
                      <a:tailEnd type="none" w="sm" len="sm"/>
                    </a:lnT>
                    <a:lnB w="9525" cap="flat" cmpd="sng">
                      <a:solidFill>
                        <a:srgbClr val="000000"/>
                      </a:solidFill>
                      <a:prstDash val="dot"/>
                      <a:round/>
                      <a:headEnd type="none" w="sm" len="sm"/>
                      <a:tailEnd type="none" w="sm" len="sm"/>
                    </a:lnB>
                  </a:tcPr>
                </a:tc>
                <a:extLst>
                  <a:ext uri="{0D108BD9-81ED-4DB2-BD59-A6C34878D82A}">
                    <a16:rowId xmlns:a16="http://schemas.microsoft.com/office/drawing/2014/main" val="10005"/>
                  </a:ext>
                </a:extLst>
              </a:tr>
              <a:tr h="200025">
                <a:tc>
                  <a:txBody>
                    <a:bodyPr/>
                    <a:lstStyle/>
                    <a:p>
                      <a:pPr marL="0" lvl="0" indent="0" algn="ctr" rtl="0">
                        <a:lnSpc>
                          <a:spcPct val="115000"/>
                        </a:lnSpc>
                        <a:spcBef>
                          <a:spcPts val="0"/>
                        </a:spcBef>
                        <a:spcAft>
                          <a:spcPts val="0"/>
                        </a:spcAft>
                        <a:buNone/>
                      </a:pPr>
                      <a:r>
                        <a:rPr lang="en" sz="900">
                          <a:latin typeface="Lexend"/>
                          <a:ea typeface="Lexend"/>
                          <a:cs typeface="Lexend"/>
                          <a:sym typeface="Lexend"/>
                        </a:rPr>
                        <a:t>FR</a:t>
                      </a:r>
                      <a:endParaRPr sz="900">
                        <a:latin typeface="Lexend"/>
                        <a:ea typeface="Lexend"/>
                        <a:cs typeface="Lexend"/>
                        <a:sym typeface="Lexend"/>
                      </a:endParaRPr>
                    </a:p>
                  </a:txBody>
                  <a:tcPr marL="28575" marR="28575" marT="19050" marB="19050" anchor="ctr">
                    <a:lnL w="9525" cap="flat" cmpd="sng">
                      <a:solidFill>
                        <a:srgbClr val="000000"/>
                      </a:solidFill>
                      <a:prstDash val="solid"/>
                      <a:round/>
                      <a:headEnd type="none" w="sm" len="sm"/>
                      <a:tailEnd type="none" w="sm" len="sm"/>
                    </a:lnL>
                    <a:lnR w="9525" cap="flat" cmpd="sng">
                      <a:solidFill>
                        <a:srgbClr val="000000"/>
                      </a:solidFill>
                      <a:prstDash val="dot"/>
                      <a:round/>
                      <a:headEnd type="none" w="sm" len="sm"/>
                      <a:tailEnd type="none" w="sm" len="sm"/>
                    </a:lnR>
                    <a:lnT w="9525" cap="flat" cmpd="sng">
                      <a:solidFill>
                        <a:srgbClr val="000000"/>
                      </a:solidFill>
                      <a:prstDash val="dot"/>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86.5%</a:t>
                      </a:r>
                      <a:endParaRPr sz="1000"/>
                    </a:p>
                  </a:txBody>
                  <a:tcPr marL="28575" marR="28575" marT="19050" marB="19050" anchor="b">
                    <a:lnL w="9525" cap="flat" cmpd="sng">
                      <a:solidFill>
                        <a:srgbClr val="000000"/>
                      </a:solidFill>
                      <a:prstDash val="dot"/>
                      <a:round/>
                      <a:headEnd type="none" w="sm" len="sm"/>
                      <a:tailEnd type="none" w="sm" len="sm"/>
                    </a:lnL>
                    <a:lnR w="9525" cap="flat" cmpd="sng">
                      <a:solidFill>
                        <a:srgbClr val="000000"/>
                      </a:solidFill>
                      <a:prstDash val="dot"/>
                      <a:round/>
                      <a:headEnd type="none" w="sm" len="sm"/>
                      <a:tailEnd type="none" w="sm" len="sm"/>
                    </a:lnR>
                    <a:lnT w="9525" cap="flat" cmpd="sng">
                      <a:solidFill>
                        <a:srgbClr val="000000"/>
                      </a:solidFill>
                      <a:prstDash val="dot"/>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b="1">
                          <a:solidFill>
                            <a:srgbClr val="339966"/>
                          </a:solidFill>
                        </a:rPr>
                        <a:t>▲ 0.13%</a:t>
                      </a:r>
                      <a:endParaRPr sz="1000" b="1">
                        <a:solidFill>
                          <a:srgbClr val="339966"/>
                        </a:solidFill>
                      </a:endParaRPr>
                    </a:p>
                  </a:txBody>
                  <a:tcPr marL="28575" marR="28575" marT="19050" marB="19050" anchor="b">
                    <a:lnL w="9525" cap="flat" cmpd="sng">
                      <a:solidFill>
                        <a:srgbClr val="000000"/>
                      </a:solidFill>
                      <a:prstDash val="dot"/>
                      <a:round/>
                      <a:headEnd type="none" w="sm" len="sm"/>
                      <a:tailEnd type="none" w="sm" len="sm"/>
                    </a:lnL>
                    <a:lnR w="9525" cap="flat" cmpd="sng">
                      <a:solidFill>
                        <a:srgbClr val="000000"/>
                      </a:solidFill>
                      <a:prstDash val="dot"/>
                      <a:round/>
                      <a:headEnd type="none" w="sm" len="sm"/>
                      <a:tailEnd type="none" w="sm" len="sm"/>
                    </a:lnR>
                    <a:lnT w="9525" cap="flat" cmpd="sng">
                      <a:solidFill>
                        <a:srgbClr val="000000"/>
                      </a:solidFill>
                      <a:prstDash val="dot"/>
                      <a:round/>
                      <a:headEnd type="none" w="sm" len="sm"/>
                      <a:tailEnd type="none" w="sm" len="sm"/>
                    </a:lnT>
                    <a:lnB w="9525" cap="flat" cmpd="sng">
                      <a:solidFill>
                        <a:srgbClr val="000000"/>
                      </a:solidFill>
                      <a:prstDash val="dot"/>
                      <a:round/>
                      <a:headEnd type="none" w="sm" len="sm"/>
                      <a:tailEnd type="none" w="sm" len="sm"/>
                    </a:lnB>
                  </a:tcPr>
                </a:tc>
                <a:extLst>
                  <a:ext uri="{0D108BD9-81ED-4DB2-BD59-A6C34878D82A}">
                    <a16:rowId xmlns:a16="http://schemas.microsoft.com/office/drawing/2014/main" val="10006"/>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238"/>
        <p:cNvGrpSpPr/>
        <p:nvPr/>
      </p:nvGrpSpPr>
      <p:grpSpPr>
        <a:xfrm>
          <a:off x="0" y="0"/>
          <a:ext cx="0" cy="0"/>
          <a:chOff x="0" y="0"/>
          <a:chExt cx="0" cy="0"/>
        </a:xfrm>
      </p:grpSpPr>
      <p:sp>
        <p:nvSpPr>
          <p:cNvPr id="239" name="Google Shape;239;p38"/>
          <p:cNvSpPr/>
          <p:nvPr/>
        </p:nvSpPr>
        <p:spPr>
          <a:xfrm>
            <a:off x="0" y="0"/>
            <a:ext cx="9144000" cy="73200"/>
          </a:xfrm>
          <a:prstGeom prst="rect">
            <a:avLst/>
          </a:prstGeom>
          <a:solidFill>
            <a:srgbClr val="FF7F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40" name="Google Shape;240;p38" descr="preencoded.png"/>
          <p:cNvPicPr preferRelativeResize="0"/>
          <p:nvPr/>
        </p:nvPicPr>
        <p:blipFill rotWithShape="1">
          <a:blip r:embed="rId3">
            <a:alphaModFix/>
          </a:blip>
          <a:srcRect/>
          <a:stretch/>
        </p:blipFill>
        <p:spPr>
          <a:xfrm>
            <a:off x="365760" y="155520"/>
            <a:ext cx="274320" cy="274320"/>
          </a:xfrm>
          <a:prstGeom prst="rect">
            <a:avLst/>
          </a:prstGeom>
          <a:noFill/>
          <a:ln>
            <a:noFill/>
          </a:ln>
        </p:spPr>
      </p:pic>
      <p:sp>
        <p:nvSpPr>
          <p:cNvPr id="241" name="Google Shape;241;p38"/>
          <p:cNvSpPr/>
          <p:nvPr/>
        </p:nvSpPr>
        <p:spPr>
          <a:xfrm>
            <a:off x="725120" y="73193"/>
            <a:ext cx="7315200" cy="411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E4174"/>
              </a:buClr>
              <a:buSzPts val="2200"/>
              <a:buFont typeface="Calibri"/>
              <a:buNone/>
            </a:pPr>
            <a:r>
              <a:rPr lang="en" sz="2200" b="1" i="0" u="none" strike="noStrike" cap="none">
                <a:solidFill>
                  <a:srgbClr val="0E4174"/>
                </a:solidFill>
                <a:latin typeface="Lexend"/>
                <a:ea typeface="Lexend"/>
                <a:cs typeface="Lexend"/>
                <a:sym typeface="Lexend"/>
              </a:rPr>
              <a:t>Cancel Rate- </a:t>
            </a:r>
            <a:r>
              <a:rPr lang="en" sz="2200" b="1">
                <a:solidFill>
                  <a:srgbClr val="F56C1F"/>
                </a:solidFill>
                <a:latin typeface="Lexend"/>
                <a:ea typeface="Lexend"/>
                <a:cs typeface="Lexend"/>
                <a:sym typeface="Lexend"/>
              </a:rPr>
              <a:t>HAN</a:t>
            </a:r>
            <a:endParaRPr sz="2200" b="1" i="0" u="none" strike="noStrike" cap="none">
              <a:solidFill>
                <a:srgbClr val="F56C1F"/>
              </a:solidFill>
              <a:latin typeface="Lexend"/>
              <a:ea typeface="Lexend"/>
              <a:cs typeface="Lexend"/>
              <a:sym typeface="Lexend"/>
            </a:endParaRPr>
          </a:p>
        </p:txBody>
      </p:sp>
      <p:sp>
        <p:nvSpPr>
          <p:cNvPr id="242" name="Google Shape;242;p38"/>
          <p:cNvSpPr/>
          <p:nvPr/>
        </p:nvSpPr>
        <p:spPr>
          <a:xfrm>
            <a:off x="4668780" y="151050"/>
            <a:ext cx="2441700" cy="2559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E4174"/>
              </a:buClr>
              <a:buSzPts val="1100"/>
              <a:buFont typeface="Calibri"/>
              <a:buNone/>
            </a:pPr>
            <a:endParaRPr sz="1300" b="1" i="0" u="none" strike="noStrike" cap="none">
              <a:solidFill>
                <a:srgbClr val="1155CC"/>
              </a:solidFill>
              <a:latin typeface="Lexend"/>
              <a:ea typeface="Lexend"/>
              <a:cs typeface="Lexend"/>
              <a:sym typeface="Lexend"/>
            </a:endParaRPr>
          </a:p>
        </p:txBody>
      </p:sp>
      <p:sp>
        <p:nvSpPr>
          <p:cNvPr id="243" name="Google Shape;243;p38"/>
          <p:cNvSpPr/>
          <p:nvPr/>
        </p:nvSpPr>
        <p:spPr>
          <a:xfrm>
            <a:off x="161050" y="4028575"/>
            <a:ext cx="8734800" cy="1088400"/>
          </a:xfrm>
          <a:prstGeom prst="rect">
            <a:avLst/>
          </a:prstGeom>
          <a:solidFill>
            <a:srgbClr val="FFFFFF"/>
          </a:solidFill>
          <a:ln w="9525" cap="flat" cmpd="sng">
            <a:solidFill>
              <a:srgbClr val="E2E8F0"/>
            </a:solidFill>
            <a:prstDash val="solid"/>
            <a:round/>
            <a:headEnd type="none" w="sm" len="sm"/>
            <a:tailEnd type="none" w="sm" len="sm"/>
          </a:ln>
          <a:effectLst>
            <a:outerShdw blurRad="76200" dist="25400" dir="8100000" algn="bl" rotWithShape="0">
              <a:srgbClr val="000000">
                <a:alpha val="102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38"/>
          <p:cNvSpPr/>
          <p:nvPr/>
        </p:nvSpPr>
        <p:spPr>
          <a:xfrm>
            <a:off x="161050" y="4052566"/>
            <a:ext cx="54900" cy="1040400"/>
          </a:xfrm>
          <a:prstGeom prst="rect">
            <a:avLst/>
          </a:prstGeom>
          <a:solidFill>
            <a:srgbClr val="EF44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38"/>
          <p:cNvSpPr txBox="1"/>
          <p:nvPr/>
        </p:nvSpPr>
        <p:spPr>
          <a:xfrm>
            <a:off x="276200" y="4052575"/>
            <a:ext cx="8432400" cy="1154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900">
                <a:solidFill>
                  <a:srgbClr val="FF7F32"/>
                </a:solidFill>
                <a:latin typeface="Lexend"/>
                <a:ea typeface="Lexend"/>
                <a:cs typeface="Lexend"/>
                <a:sym typeface="Lexend"/>
              </a:rPr>
              <a:t>INSIGHT: </a:t>
            </a:r>
            <a:endParaRPr sz="900">
              <a:solidFill>
                <a:srgbClr val="FF7F32"/>
              </a:solidFill>
              <a:latin typeface="Lexend"/>
              <a:ea typeface="Lexend"/>
              <a:cs typeface="Lexend"/>
              <a:sym typeface="Lexend"/>
            </a:endParaRPr>
          </a:p>
          <a:p>
            <a:pPr marL="0" lvl="0" indent="0" algn="l" rtl="0">
              <a:spcBef>
                <a:spcPts val="0"/>
              </a:spcBef>
              <a:spcAft>
                <a:spcPts val="0"/>
              </a:spcAft>
              <a:buNone/>
            </a:pPr>
            <a:r>
              <a:rPr lang="en" sz="900">
                <a:solidFill>
                  <a:schemeClr val="dk1"/>
                </a:solidFill>
                <a:latin typeface="Lexend"/>
                <a:ea typeface="Lexend"/>
                <a:cs typeface="Lexend"/>
                <a:sym typeface="Lexend"/>
              </a:rPr>
              <a:t>- CR PoC chung </a:t>
            </a:r>
            <a:r>
              <a:rPr lang="en" sz="900" b="1">
                <a:solidFill>
                  <a:srgbClr val="008000"/>
                </a:solidFill>
                <a:latin typeface="Lexend"/>
                <a:ea typeface="Lexend"/>
                <a:cs typeface="Lexend"/>
                <a:sym typeface="Lexend"/>
              </a:rPr>
              <a:t>giảm 0.6% trong</a:t>
            </a:r>
            <a:r>
              <a:rPr lang="en" sz="900">
                <a:solidFill>
                  <a:schemeClr val="dk1"/>
                </a:solidFill>
                <a:latin typeface="Lexend"/>
                <a:ea typeface="Lexend"/>
                <a:cs typeface="Lexend"/>
                <a:sym typeface="Lexend"/>
              </a:rPr>
              <a:t>, đạt mốc </a:t>
            </a:r>
            <a:r>
              <a:rPr lang="en" sz="900" b="1">
                <a:solidFill>
                  <a:schemeClr val="dk1"/>
                </a:solidFill>
                <a:latin typeface="Lexend"/>
                <a:ea typeface="Lexend"/>
                <a:cs typeface="Lexend"/>
                <a:sym typeface="Lexend"/>
              </a:rPr>
              <a:t>13%</a:t>
            </a:r>
            <a:r>
              <a:rPr lang="en" sz="900">
                <a:solidFill>
                  <a:schemeClr val="dk1"/>
                </a:solidFill>
                <a:latin typeface="Lexend"/>
                <a:ea typeface="Lexend"/>
                <a:cs typeface="Lexend"/>
                <a:sym typeface="Lexend"/>
              </a:rPr>
              <a:t>. </a:t>
            </a:r>
            <a:endParaRPr sz="900">
              <a:solidFill>
                <a:schemeClr val="dk1"/>
              </a:solidFill>
              <a:latin typeface="Lexend"/>
              <a:ea typeface="Lexend"/>
              <a:cs typeface="Lexend"/>
              <a:sym typeface="Lexend"/>
            </a:endParaRPr>
          </a:p>
          <a:p>
            <a:pPr marL="0" lvl="0" indent="0" algn="l" rtl="0">
              <a:spcBef>
                <a:spcPts val="0"/>
              </a:spcBef>
              <a:spcAft>
                <a:spcPts val="0"/>
              </a:spcAft>
              <a:buNone/>
            </a:pPr>
            <a:r>
              <a:rPr lang="en" sz="900">
                <a:solidFill>
                  <a:schemeClr val="dk1"/>
                </a:solidFill>
                <a:latin typeface="Lexend"/>
                <a:ea typeface="Lexend"/>
                <a:cs typeface="Lexend"/>
                <a:sym typeface="Lexend"/>
              </a:rPr>
              <a:t>- CR đều giảm ở các tập, Retention giảm từ 0.2-0.7%</a:t>
            </a:r>
            <a:endParaRPr sz="900" b="1">
              <a:solidFill>
                <a:srgbClr val="EF4444"/>
              </a:solidFill>
              <a:latin typeface="Lexend"/>
              <a:ea typeface="Lexend"/>
              <a:cs typeface="Lexend"/>
              <a:sym typeface="Lexend"/>
            </a:endParaRPr>
          </a:p>
          <a:p>
            <a:pPr marL="0" lvl="0" indent="0" algn="l" rtl="0">
              <a:spcBef>
                <a:spcPts val="0"/>
              </a:spcBef>
              <a:spcAft>
                <a:spcPts val="0"/>
              </a:spcAft>
              <a:buClr>
                <a:schemeClr val="dk1"/>
              </a:buClr>
              <a:buSzPts val="1100"/>
              <a:buFont typeface="Arial"/>
              <a:buNone/>
            </a:pPr>
            <a:endParaRPr sz="900">
              <a:solidFill>
                <a:schemeClr val="dk1"/>
              </a:solidFill>
              <a:latin typeface="Lexend"/>
              <a:ea typeface="Lexend"/>
              <a:cs typeface="Lexend"/>
              <a:sym typeface="Lexend"/>
            </a:endParaRPr>
          </a:p>
          <a:p>
            <a:pPr marL="0" lvl="0" indent="0" algn="l" rtl="0">
              <a:spcBef>
                <a:spcPts val="0"/>
              </a:spcBef>
              <a:spcAft>
                <a:spcPts val="0"/>
              </a:spcAft>
              <a:buClr>
                <a:schemeClr val="dk1"/>
              </a:buClr>
              <a:buSzPts val="1100"/>
              <a:buFont typeface="Arial"/>
              <a:buNone/>
            </a:pPr>
            <a:endParaRPr sz="900">
              <a:solidFill>
                <a:schemeClr val="dk1"/>
              </a:solidFill>
              <a:latin typeface="Lexend"/>
              <a:ea typeface="Lexend"/>
              <a:cs typeface="Lexend"/>
              <a:sym typeface="Lexend"/>
            </a:endParaRPr>
          </a:p>
          <a:p>
            <a:pPr marL="0" lvl="0" indent="0" algn="l" rtl="0">
              <a:spcBef>
                <a:spcPts val="0"/>
              </a:spcBef>
              <a:spcAft>
                <a:spcPts val="0"/>
              </a:spcAft>
              <a:buClr>
                <a:schemeClr val="dk1"/>
              </a:buClr>
              <a:buSzPts val="1100"/>
              <a:buFont typeface="Arial"/>
              <a:buNone/>
            </a:pPr>
            <a:endParaRPr sz="900">
              <a:solidFill>
                <a:schemeClr val="dk1"/>
              </a:solidFill>
              <a:latin typeface="Lexend"/>
              <a:ea typeface="Lexend"/>
              <a:cs typeface="Lexend"/>
              <a:sym typeface="Lexend"/>
            </a:endParaRPr>
          </a:p>
          <a:p>
            <a:pPr marL="0" lvl="0" indent="0" algn="l" rtl="0">
              <a:spcBef>
                <a:spcPts val="0"/>
              </a:spcBef>
              <a:spcAft>
                <a:spcPts val="0"/>
              </a:spcAft>
              <a:buNone/>
            </a:pPr>
            <a:endParaRPr sz="900">
              <a:solidFill>
                <a:schemeClr val="dk1"/>
              </a:solidFill>
              <a:latin typeface="Lexend"/>
              <a:ea typeface="Lexend"/>
              <a:cs typeface="Lexend"/>
              <a:sym typeface="Lexend"/>
            </a:endParaRPr>
          </a:p>
        </p:txBody>
      </p:sp>
      <p:sp>
        <p:nvSpPr>
          <p:cNvPr id="246" name="Google Shape;246;p38"/>
          <p:cNvSpPr/>
          <p:nvPr/>
        </p:nvSpPr>
        <p:spPr>
          <a:xfrm>
            <a:off x="75322" y="622886"/>
            <a:ext cx="4572000" cy="2559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E4174"/>
              </a:buClr>
              <a:buSzPts val="1100"/>
              <a:buFont typeface="Calibri"/>
              <a:buNone/>
            </a:pPr>
            <a:r>
              <a:rPr lang="en" sz="1100" b="1">
                <a:solidFill>
                  <a:srgbClr val="0E4174"/>
                </a:solidFill>
                <a:latin typeface="Lexend"/>
                <a:ea typeface="Lexend"/>
                <a:cs typeface="Lexend"/>
                <a:sym typeface="Lexend"/>
              </a:rPr>
              <a:t>Overview CR by Segment</a:t>
            </a:r>
            <a:endParaRPr sz="1100" b="1" i="0" u="none" strike="noStrike" cap="none">
              <a:solidFill>
                <a:schemeClr val="dk1"/>
              </a:solidFill>
              <a:latin typeface="Lexend"/>
              <a:ea typeface="Lexend"/>
              <a:cs typeface="Lexend"/>
              <a:sym typeface="Lexend"/>
            </a:endParaRPr>
          </a:p>
        </p:txBody>
      </p:sp>
      <p:sp>
        <p:nvSpPr>
          <p:cNvPr id="247" name="Google Shape;247;p38"/>
          <p:cNvSpPr/>
          <p:nvPr/>
        </p:nvSpPr>
        <p:spPr>
          <a:xfrm>
            <a:off x="5419573" y="622886"/>
            <a:ext cx="4572000" cy="2559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E4174"/>
              </a:buClr>
              <a:buSzPts val="1100"/>
              <a:buFont typeface="Calibri"/>
              <a:buNone/>
            </a:pPr>
            <a:r>
              <a:rPr lang="en" sz="1100" b="1">
                <a:solidFill>
                  <a:srgbClr val="0E4174"/>
                </a:solidFill>
                <a:latin typeface="Lexend"/>
                <a:ea typeface="Lexend"/>
                <a:cs typeface="Lexend"/>
                <a:sym typeface="Lexend"/>
              </a:rPr>
              <a:t>CR</a:t>
            </a:r>
            <a:r>
              <a:rPr lang="en" sz="1100" b="1">
                <a:solidFill>
                  <a:srgbClr val="9E9E9E"/>
                </a:solidFill>
                <a:latin typeface="Lexend"/>
                <a:ea typeface="Lexend"/>
                <a:cs typeface="Lexend"/>
                <a:sym typeface="Lexend"/>
              </a:rPr>
              <a:t>(Rule PoC)</a:t>
            </a:r>
            <a:r>
              <a:rPr lang="en" sz="1100" b="1">
                <a:solidFill>
                  <a:srgbClr val="0E4174"/>
                </a:solidFill>
                <a:latin typeface="Lexend"/>
                <a:ea typeface="Lexend"/>
                <a:cs typeface="Lexend"/>
                <a:sym typeface="Lexend"/>
              </a:rPr>
              <a:t> by Segment</a:t>
            </a:r>
            <a:endParaRPr sz="1100" b="1" i="0" u="none" strike="noStrike" cap="none">
              <a:solidFill>
                <a:schemeClr val="dk1"/>
              </a:solidFill>
              <a:latin typeface="Lexend"/>
              <a:ea typeface="Lexend"/>
              <a:cs typeface="Lexend"/>
              <a:sym typeface="Lexend"/>
            </a:endParaRPr>
          </a:p>
        </p:txBody>
      </p:sp>
      <p:graphicFrame>
        <p:nvGraphicFramePr>
          <p:cNvPr id="248" name="Google Shape;248;p38"/>
          <p:cNvGraphicFramePr/>
          <p:nvPr/>
        </p:nvGraphicFramePr>
        <p:xfrm>
          <a:off x="84850" y="898150"/>
          <a:ext cx="3000000" cy="3000000"/>
        </p:xfrm>
        <a:graphic>
          <a:graphicData uri="http://schemas.openxmlformats.org/drawingml/2006/table">
            <a:tbl>
              <a:tblPr>
                <a:noFill/>
                <a:tableStyleId>{BD4DB973-2F49-4540-A1CC-0EE3EA8BBFB3}</a:tableStyleId>
              </a:tblPr>
              <a:tblGrid>
                <a:gridCol w="776300">
                  <a:extLst>
                    <a:ext uri="{9D8B030D-6E8A-4147-A177-3AD203B41FA5}">
                      <a16:colId xmlns:a16="http://schemas.microsoft.com/office/drawing/2014/main" val="20000"/>
                    </a:ext>
                  </a:extLst>
                </a:gridCol>
                <a:gridCol w="505050">
                  <a:extLst>
                    <a:ext uri="{9D8B030D-6E8A-4147-A177-3AD203B41FA5}">
                      <a16:colId xmlns:a16="http://schemas.microsoft.com/office/drawing/2014/main" val="20001"/>
                    </a:ext>
                  </a:extLst>
                </a:gridCol>
                <a:gridCol w="483575">
                  <a:extLst>
                    <a:ext uri="{9D8B030D-6E8A-4147-A177-3AD203B41FA5}">
                      <a16:colId xmlns:a16="http://schemas.microsoft.com/office/drawing/2014/main" val="20002"/>
                    </a:ext>
                  </a:extLst>
                </a:gridCol>
                <a:gridCol w="451725">
                  <a:extLst>
                    <a:ext uri="{9D8B030D-6E8A-4147-A177-3AD203B41FA5}">
                      <a16:colId xmlns:a16="http://schemas.microsoft.com/office/drawing/2014/main" val="20003"/>
                    </a:ext>
                  </a:extLst>
                </a:gridCol>
                <a:gridCol w="467650">
                  <a:extLst>
                    <a:ext uri="{9D8B030D-6E8A-4147-A177-3AD203B41FA5}">
                      <a16:colId xmlns:a16="http://schemas.microsoft.com/office/drawing/2014/main" val="20004"/>
                    </a:ext>
                  </a:extLst>
                </a:gridCol>
                <a:gridCol w="636000">
                  <a:extLst>
                    <a:ext uri="{9D8B030D-6E8A-4147-A177-3AD203B41FA5}">
                      <a16:colId xmlns:a16="http://schemas.microsoft.com/office/drawing/2014/main" val="20005"/>
                    </a:ext>
                  </a:extLst>
                </a:gridCol>
                <a:gridCol w="738875">
                  <a:extLst>
                    <a:ext uri="{9D8B030D-6E8A-4147-A177-3AD203B41FA5}">
                      <a16:colId xmlns:a16="http://schemas.microsoft.com/office/drawing/2014/main" val="20006"/>
                    </a:ext>
                  </a:extLst>
                </a:gridCol>
                <a:gridCol w="851125">
                  <a:extLst>
                    <a:ext uri="{9D8B030D-6E8A-4147-A177-3AD203B41FA5}">
                      <a16:colId xmlns:a16="http://schemas.microsoft.com/office/drawing/2014/main" val="20007"/>
                    </a:ext>
                  </a:extLst>
                </a:gridCol>
              </a:tblGrid>
              <a:tr h="361250">
                <a:tc>
                  <a:txBody>
                    <a:bodyPr/>
                    <a:lstStyle/>
                    <a:p>
                      <a:pPr marL="0" lvl="0" indent="0" algn="ctr" rtl="0">
                        <a:lnSpc>
                          <a:spcPct val="115000"/>
                        </a:lnSpc>
                        <a:spcBef>
                          <a:spcPts val="0"/>
                        </a:spcBef>
                        <a:spcAft>
                          <a:spcPts val="0"/>
                        </a:spcAft>
                        <a:buNone/>
                      </a:pPr>
                      <a:r>
                        <a:rPr lang="en" sz="900" b="1">
                          <a:solidFill>
                            <a:srgbClr val="FFFFFF"/>
                          </a:solidFill>
                        </a:rPr>
                        <a:t>segment</a:t>
                      </a:r>
                      <a:endParaRPr sz="900" b="1">
                        <a:solidFill>
                          <a:srgbClr val="FFFFFF"/>
                        </a:solidFill>
                      </a:endParaRPr>
                    </a:p>
                  </a:txBody>
                  <a:tcPr marL="28575" marR="28575" marT="19050" marB="19050" anchor="ctr">
                    <a:lnL w="7150" cap="flat" cmpd="sng">
                      <a:solidFill>
                        <a:srgbClr val="000000"/>
                      </a:solidFill>
                      <a:prstDash val="solid"/>
                      <a:round/>
                      <a:headEnd type="none" w="sm" len="sm"/>
                      <a:tailEnd type="none" w="sm" len="sm"/>
                    </a:lnL>
                    <a:lnR w="7150" cap="flat" cmpd="sng">
                      <a:solidFill>
                        <a:srgbClr val="000000"/>
                      </a:solidFill>
                      <a:prstDash val="solid"/>
                      <a:round/>
                      <a:headEnd type="none" w="sm" len="sm"/>
                      <a:tailEnd type="none" w="sm" len="sm"/>
                    </a:lnR>
                    <a:lnT w="7150" cap="flat" cmpd="sng">
                      <a:solidFill>
                        <a:srgbClr val="000000"/>
                      </a:solidFill>
                      <a:prstDash val="solid"/>
                      <a:round/>
                      <a:headEnd type="none" w="sm" len="sm"/>
                      <a:tailEnd type="none" w="sm" len="sm"/>
                    </a:lnT>
                    <a:solidFill>
                      <a:srgbClr val="073763"/>
                    </a:solidFill>
                  </a:tcPr>
                </a:tc>
                <a:tc>
                  <a:txBody>
                    <a:bodyPr/>
                    <a:lstStyle/>
                    <a:p>
                      <a:pPr marL="0" lvl="0" indent="0" algn="ctr" rtl="0">
                        <a:lnSpc>
                          <a:spcPct val="115000"/>
                        </a:lnSpc>
                        <a:spcBef>
                          <a:spcPts val="0"/>
                        </a:spcBef>
                        <a:spcAft>
                          <a:spcPts val="0"/>
                        </a:spcAft>
                        <a:buNone/>
                      </a:pPr>
                      <a:r>
                        <a:rPr lang="en" sz="900" b="1">
                          <a:solidFill>
                            <a:srgbClr val="FFFFFF"/>
                          </a:solidFill>
                        </a:rPr>
                        <a:t>accept</a:t>
                      </a:r>
                      <a:endParaRPr sz="900" b="1">
                        <a:solidFill>
                          <a:srgbClr val="FFFFFF"/>
                        </a:solidFill>
                      </a:endParaRPr>
                    </a:p>
                    <a:p>
                      <a:pPr marL="0" lvl="0" indent="0" algn="ctr" rtl="0">
                        <a:lnSpc>
                          <a:spcPct val="115000"/>
                        </a:lnSpc>
                        <a:spcBef>
                          <a:spcPts val="0"/>
                        </a:spcBef>
                        <a:spcAft>
                          <a:spcPts val="0"/>
                        </a:spcAft>
                        <a:buNone/>
                      </a:pPr>
                      <a:r>
                        <a:rPr lang="en" sz="900" b="1">
                          <a:solidFill>
                            <a:srgbClr val="FFFFFF"/>
                          </a:solidFill>
                        </a:rPr>
                        <a:t>_order</a:t>
                      </a:r>
                      <a:endParaRPr sz="900" b="1">
                        <a:solidFill>
                          <a:srgbClr val="FFFFFF"/>
                        </a:solidFill>
                      </a:endParaRPr>
                    </a:p>
                  </a:txBody>
                  <a:tcPr marL="28575" marR="28575" marT="19050" marB="19050" anchor="ctr">
                    <a:lnL w="7150" cap="flat" cmpd="sng">
                      <a:solidFill>
                        <a:srgbClr val="000000"/>
                      </a:solidFill>
                      <a:prstDash val="solid"/>
                      <a:round/>
                      <a:headEnd type="none" w="sm" len="sm"/>
                      <a:tailEnd type="none" w="sm" len="sm"/>
                    </a:lnL>
                    <a:lnT w="7150" cap="flat" cmpd="sng">
                      <a:solidFill>
                        <a:srgbClr val="000000"/>
                      </a:solidFill>
                      <a:prstDash val="solid"/>
                      <a:round/>
                      <a:headEnd type="none" w="sm" len="sm"/>
                      <a:tailEnd type="none" w="sm" len="sm"/>
                    </a:lnT>
                    <a:solidFill>
                      <a:srgbClr val="073763"/>
                    </a:solidFill>
                  </a:tcPr>
                </a:tc>
                <a:tc>
                  <a:txBody>
                    <a:bodyPr/>
                    <a:lstStyle/>
                    <a:p>
                      <a:pPr marL="0" lvl="0" indent="0" algn="ctr" rtl="0">
                        <a:lnSpc>
                          <a:spcPct val="115000"/>
                        </a:lnSpc>
                        <a:spcBef>
                          <a:spcPts val="0"/>
                        </a:spcBef>
                        <a:spcAft>
                          <a:spcPts val="0"/>
                        </a:spcAft>
                        <a:buNone/>
                      </a:pPr>
                      <a:r>
                        <a:rPr lang="en" sz="900" b="1">
                          <a:solidFill>
                            <a:srgbClr val="FFFFFF"/>
                          </a:solidFill>
                        </a:rPr>
                        <a:t>cancel</a:t>
                      </a:r>
                      <a:endParaRPr sz="900" b="1">
                        <a:solidFill>
                          <a:srgbClr val="FFFFFF"/>
                        </a:solidFill>
                      </a:endParaRPr>
                    </a:p>
                    <a:p>
                      <a:pPr marL="0" lvl="0" indent="0" algn="ctr" rtl="0">
                        <a:lnSpc>
                          <a:spcPct val="115000"/>
                        </a:lnSpc>
                        <a:spcBef>
                          <a:spcPts val="0"/>
                        </a:spcBef>
                        <a:spcAft>
                          <a:spcPts val="0"/>
                        </a:spcAft>
                        <a:buNone/>
                      </a:pPr>
                      <a:r>
                        <a:rPr lang="en" sz="900" b="1">
                          <a:solidFill>
                            <a:srgbClr val="FFFFFF"/>
                          </a:solidFill>
                        </a:rPr>
                        <a:t>_order</a:t>
                      </a:r>
                      <a:endParaRPr sz="900" b="1">
                        <a:solidFill>
                          <a:srgbClr val="FFFFFF"/>
                        </a:solidFill>
                      </a:endParaRPr>
                    </a:p>
                  </a:txBody>
                  <a:tcPr marL="28575" marR="28575" marT="19050" marB="19050" anchor="ctr">
                    <a:lnT w="7150" cap="flat" cmpd="sng">
                      <a:solidFill>
                        <a:srgbClr val="000000"/>
                      </a:solidFill>
                      <a:prstDash val="solid"/>
                      <a:round/>
                      <a:headEnd type="none" w="sm" len="sm"/>
                      <a:tailEnd type="none" w="sm" len="sm"/>
                    </a:lnT>
                    <a:solidFill>
                      <a:srgbClr val="073763"/>
                    </a:solidFill>
                  </a:tcPr>
                </a:tc>
                <a:tc>
                  <a:txBody>
                    <a:bodyPr/>
                    <a:lstStyle/>
                    <a:p>
                      <a:pPr marL="0" lvl="0" indent="0" algn="ctr" rtl="0">
                        <a:lnSpc>
                          <a:spcPct val="115000"/>
                        </a:lnSpc>
                        <a:spcBef>
                          <a:spcPts val="0"/>
                        </a:spcBef>
                        <a:spcAft>
                          <a:spcPts val="0"/>
                        </a:spcAft>
                        <a:buNone/>
                      </a:pPr>
                      <a:r>
                        <a:rPr lang="en" sz="900" b="1">
                          <a:solidFill>
                            <a:srgbClr val="FFFFFF"/>
                          </a:solidFill>
                        </a:rPr>
                        <a:t>CR</a:t>
                      </a:r>
                      <a:endParaRPr sz="900" b="1">
                        <a:solidFill>
                          <a:srgbClr val="FFFFFF"/>
                        </a:solidFill>
                      </a:endParaRPr>
                    </a:p>
                  </a:txBody>
                  <a:tcPr marL="28575" marR="28575" marT="19050" marB="19050" anchor="ctr">
                    <a:lnT w="7150" cap="flat" cmpd="sng">
                      <a:solidFill>
                        <a:srgbClr val="000000"/>
                      </a:solidFill>
                      <a:prstDash val="solid"/>
                      <a:round/>
                      <a:headEnd type="none" w="sm" len="sm"/>
                      <a:tailEnd type="none" w="sm" len="sm"/>
                    </a:lnT>
                    <a:solidFill>
                      <a:srgbClr val="073763"/>
                    </a:solidFill>
                  </a:tcPr>
                </a:tc>
                <a:tc>
                  <a:txBody>
                    <a:bodyPr/>
                    <a:lstStyle/>
                    <a:p>
                      <a:pPr marL="0" lvl="0" indent="0" algn="ctr" rtl="0">
                        <a:lnSpc>
                          <a:spcPct val="115000"/>
                        </a:lnSpc>
                        <a:spcBef>
                          <a:spcPts val="0"/>
                        </a:spcBef>
                        <a:spcAft>
                          <a:spcPts val="0"/>
                        </a:spcAft>
                        <a:buNone/>
                      </a:pPr>
                      <a:r>
                        <a:rPr lang="en" sz="900" b="1">
                          <a:solidFill>
                            <a:srgbClr val="FFFFFF"/>
                          </a:solidFill>
                        </a:rPr>
                        <a:t>Active</a:t>
                      </a:r>
                      <a:endParaRPr sz="900" b="1">
                        <a:solidFill>
                          <a:srgbClr val="FFFFFF"/>
                        </a:solidFill>
                      </a:endParaRPr>
                    </a:p>
                  </a:txBody>
                  <a:tcPr marL="28575" marR="28575" marT="19050" marB="19050" anchor="ctr">
                    <a:lnT w="7150" cap="flat" cmpd="sng">
                      <a:solidFill>
                        <a:srgbClr val="000000"/>
                      </a:solidFill>
                      <a:prstDash val="solid"/>
                      <a:round/>
                      <a:headEnd type="none" w="sm" len="sm"/>
                      <a:tailEnd type="none" w="sm" len="sm"/>
                    </a:lnT>
                    <a:solidFill>
                      <a:srgbClr val="073763"/>
                    </a:solidFill>
                  </a:tcPr>
                </a:tc>
                <a:tc>
                  <a:txBody>
                    <a:bodyPr/>
                    <a:lstStyle/>
                    <a:p>
                      <a:pPr marL="0" lvl="0" indent="0" algn="ctr" rtl="0">
                        <a:lnSpc>
                          <a:spcPct val="115000"/>
                        </a:lnSpc>
                        <a:spcBef>
                          <a:spcPts val="0"/>
                        </a:spcBef>
                        <a:spcAft>
                          <a:spcPts val="0"/>
                        </a:spcAft>
                        <a:buNone/>
                      </a:pPr>
                      <a:r>
                        <a:rPr lang="en" sz="900" b="1">
                          <a:solidFill>
                            <a:srgbClr val="FFFFFF"/>
                          </a:solidFill>
                        </a:rPr>
                        <a:t>cancel_</a:t>
                      </a:r>
                      <a:endParaRPr sz="900" b="1">
                        <a:solidFill>
                          <a:srgbClr val="FFFFFF"/>
                        </a:solidFill>
                      </a:endParaRPr>
                    </a:p>
                    <a:p>
                      <a:pPr marL="0" lvl="0" indent="0" algn="ctr" rtl="0">
                        <a:lnSpc>
                          <a:spcPct val="115000"/>
                        </a:lnSpc>
                        <a:spcBef>
                          <a:spcPts val="0"/>
                        </a:spcBef>
                        <a:spcAft>
                          <a:spcPts val="0"/>
                        </a:spcAft>
                        <a:buNone/>
                      </a:pPr>
                      <a:r>
                        <a:rPr lang="en" sz="900" b="1">
                          <a:solidFill>
                            <a:srgbClr val="FFFFFF"/>
                          </a:solidFill>
                        </a:rPr>
                        <a:t>per_active</a:t>
                      </a:r>
                      <a:endParaRPr sz="900" b="1">
                        <a:solidFill>
                          <a:srgbClr val="FFFFFF"/>
                        </a:solidFill>
                      </a:endParaRPr>
                    </a:p>
                  </a:txBody>
                  <a:tcPr marL="28575" marR="28575" marT="19050" marB="19050" anchor="ctr">
                    <a:lnT w="7150" cap="flat" cmpd="sng">
                      <a:solidFill>
                        <a:srgbClr val="000000"/>
                      </a:solidFill>
                      <a:prstDash val="solid"/>
                      <a:round/>
                      <a:headEnd type="none" w="sm" len="sm"/>
                      <a:tailEnd type="none" w="sm" len="sm"/>
                    </a:lnT>
                    <a:solidFill>
                      <a:srgbClr val="073763"/>
                    </a:solidFill>
                  </a:tcPr>
                </a:tc>
                <a:tc>
                  <a:txBody>
                    <a:bodyPr/>
                    <a:lstStyle/>
                    <a:p>
                      <a:pPr marL="0" lvl="0" indent="0" algn="ctr" rtl="0">
                        <a:lnSpc>
                          <a:spcPct val="115000"/>
                        </a:lnSpc>
                        <a:spcBef>
                          <a:spcPts val="0"/>
                        </a:spcBef>
                        <a:spcAft>
                          <a:spcPts val="0"/>
                        </a:spcAft>
                        <a:buNone/>
                      </a:pPr>
                      <a:r>
                        <a:rPr lang="en" sz="900" b="1">
                          <a:solidFill>
                            <a:srgbClr val="FFFFFF"/>
                          </a:solidFill>
                        </a:rPr>
                        <a:t>Gap avg</a:t>
                      </a:r>
                      <a:endParaRPr sz="900" b="1">
                        <a:solidFill>
                          <a:srgbClr val="FFFFFF"/>
                        </a:solidFill>
                      </a:endParaRPr>
                    </a:p>
                    <a:p>
                      <a:pPr marL="0" lvl="0" indent="0" algn="ctr" rtl="0">
                        <a:lnSpc>
                          <a:spcPct val="115000"/>
                        </a:lnSpc>
                        <a:spcBef>
                          <a:spcPts val="0"/>
                        </a:spcBef>
                        <a:spcAft>
                          <a:spcPts val="0"/>
                        </a:spcAft>
                        <a:buNone/>
                      </a:pPr>
                      <a:r>
                        <a:rPr lang="en" sz="900" b="1">
                          <a:solidFill>
                            <a:srgbClr val="FFFFFF"/>
                          </a:solidFill>
                        </a:rPr>
                        <a:t>cancel WoW</a:t>
                      </a:r>
                      <a:endParaRPr sz="900" b="1">
                        <a:solidFill>
                          <a:srgbClr val="FFFFFF"/>
                        </a:solidFill>
                      </a:endParaRPr>
                    </a:p>
                  </a:txBody>
                  <a:tcPr marL="28575" marR="28575" marT="19050" marB="19050" anchor="ctr">
                    <a:lnT w="7150" cap="flat" cmpd="sng">
                      <a:solidFill>
                        <a:srgbClr val="000000"/>
                      </a:solidFill>
                      <a:prstDash val="solid"/>
                      <a:round/>
                      <a:headEnd type="none" w="sm" len="sm"/>
                      <a:tailEnd type="none" w="sm" len="sm"/>
                    </a:lnT>
                    <a:solidFill>
                      <a:srgbClr val="073763"/>
                    </a:solidFill>
                  </a:tcPr>
                </a:tc>
                <a:tc>
                  <a:txBody>
                    <a:bodyPr/>
                    <a:lstStyle/>
                    <a:p>
                      <a:pPr marL="0" lvl="0" indent="0" algn="ctr" rtl="0">
                        <a:lnSpc>
                          <a:spcPct val="115000"/>
                        </a:lnSpc>
                        <a:spcBef>
                          <a:spcPts val="0"/>
                        </a:spcBef>
                        <a:spcAft>
                          <a:spcPts val="0"/>
                        </a:spcAft>
                        <a:buNone/>
                      </a:pPr>
                      <a:r>
                        <a:rPr lang="en" sz="900" b="1">
                          <a:solidFill>
                            <a:srgbClr val="FFFFFF"/>
                          </a:solidFill>
                        </a:rPr>
                        <a:t>Gap % contrib cancel WoW</a:t>
                      </a:r>
                      <a:endParaRPr sz="900" b="1">
                        <a:solidFill>
                          <a:srgbClr val="FFFFFF"/>
                        </a:solidFill>
                      </a:endParaRPr>
                    </a:p>
                  </a:txBody>
                  <a:tcPr marL="28575" marR="28575" marT="19050" marB="19050" anchor="ctr">
                    <a:lnR w="7150" cap="flat" cmpd="sng">
                      <a:solidFill>
                        <a:srgbClr val="000000"/>
                      </a:solidFill>
                      <a:prstDash val="solid"/>
                      <a:round/>
                      <a:headEnd type="none" w="sm" len="sm"/>
                      <a:tailEnd type="none" w="sm" len="sm"/>
                    </a:lnR>
                    <a:lnT w="7150" cap="flat" cmpd="sng">
                      <a:solidFill>
                        <a:srgbClr val="000000"/>
                      </a:solidFill>
                      <a:prstDash val="solid"/>
                      <a:round/>
                      <a:headEnd type="none" w="sm" len="sm"/>
                      <a:tailEnd type="none" w="sm" len="sm"/>
                    </a:lnT>
                    <a:solidFill>
                      <a:srgbClr val="073763"/>
                    </a:solidFill>
                  </a:tcPr>
                </a:tc>
                <a:extLst>
                  <a:ext uri="{0D108BD9-81ED-4DB2-BD59-A6C34878D82A}">
                    <a16:rowId xmlns:a16="http://schemas.microsoft.com/office/drawing/2014/main" val="10000"/>
                  </a:ext>
                </a:extLst>
              </a:tr>
              <a:tr h="199625">
                <a:tc>
                  <a:txBody>
                    <a:bodyPr/>
                    <a:lstStyle/>
                    <a:p>
                      <a:pPr marL="0" lvl="0" indent="0" algn="l" rtl="0">
                        <a:lnSpc>
                          <a:spcPct val="115000"/>
                        </a:lnSpc>
                        <a:spcBef>
                          <a:spcPts val="0"/>
                        </a:spcBef>
                        <a:spcAft>
                          <a:spcPts val="0"/>
                        </a:spcAft>
                        <a:buNone/>
                      </a:pPr>
                      <a:r>
                        <a:rPr lang="en" sz="900"/>
                        <a:t>FT</a:t>
                      </a:r>
                      <a:endParaRPr sz="900"/>
                    </a:p>
                  </a:txBody>
                  <a:tcPr marL="28575" marR="28575" marT="19050" marB="19050" anchor="b">
                    <a:lnL w="7150" cap="flat" cmpd="sng">
                      <a:solidFill>
                        <a:srgbClr val="000000"/>
                      </a:solidFill>
                      <a:prstDash val="solid"/>
                      <a:round/>
                      <a:headEnd type="none" w="sm" len="sm"/>
                      <a:tailEnd type="none" w="sm" len="sm"/>
                    </a:lnL>
                    <a:lnR w="7150" cap="flat" cmpd="sng">
                      <a:solidFill>
                        <a:srgbClr val="000000"/>
                      </a:solidFill>
                      <a:prstDash val="solid"/>
                      <a:round/>
                      <a:headEnd type="none" w="sm" len="sm"/>
                      <a:tailEnd type="none" w="sm" len="sm"/>
                    </a:lnR>
                  </a:tcPr>
                </a:tc>
                <a:tc>
                  <a:txBody>
                    <a:bodyPr/>
                    <a:lstStyle/>
                    <a:p>
                      <a:pPr marL="0" lvl="0" indent="0" algn="ctr" rtl="0">
                        <a:lnSpc>
                          <a:spcPct val="115000"/>
                        </a:lnSpc>
                        <a:spcBef>
                          <a:spcPts val="0"/>
                        </a:spcBef>
                        <a:spcAft>
                          <a:spcPts val="0"/>
                        </a:spcAft>
                        <a:buNone/>
                      </a:pPr>
                      <a:r>
                        <a:rPr lang="en" sz="900"/>
                        <a:t>113.61K</a:t>
                      </a:r>
                      <a:endParaRPr sz="900"/>
                    </a:p>
                  </a:txBody>
                  <a:tcPr marL="28575" marR="28575" marT="19050" marB="19050" anchor="b">
                    <a:lnL w="7150" cap="flat" cmpd="sng">
                      <a:solidFill>
                        <a:srgbClr val="000000"/>
                      </a:solidFill>
                      <a:prstDash val="solid"/>
                      <a:round/>
                      <a:headEnd type="none" w="sm" len="sm"/>
                      <a:tailEnd type="none" w="sm" len="sm"/>
                    </a:lnL>
                  </a:tcPr>
                </a:tc>
                <a:tc>
                  <a:txBody>
                    <a:bodyPr/>
                    <a:lstStyle/>
                    <a:p>
                      <a:pPr marL="0" lvl="0" indent="0" algn="ctr" rtl="0">
                        <a:lnSpc>
                          <a:spcPct val="115000"/>
                        </a:lnSpc>
                        <a:spcBef>
                          <a:spcPts val="0"/>
                        </a:spcBef>
                        <a:spcAft>
                          <a:spcPts val="0"/>
                        </a:spcAft>
                        <a:buNone/>
                      </a:pPr>
                      <a:r>
                        <a:rPr lang="en" sz="900"/>
                        <a:t>16.14K</a:t>
                      </a:r>
                      <a:endParaRPr sz="900"/>
                    </a:p>
                  </a:txBody>
                  <a:tcPr marL="28575" marR="28575" marT="19050" marB="19050" anchor="b"/>
                </a:tc>
                <a:tc>
                  <a:txBody>
                    <a:bodyPr/>
                    <a:lstStyle/>
                    <a:p>
                      <a:pPr marL="0" lvl="0" indent="0" algn="ctr" rtl="0">
                        <a:lnSpc>
                          <a:spcPct val="115000"/>
                        </a:lnSpc>
                        <a:spcBef>
                          <a:spcPts val="0"/>
                        </a:spcBef>
                        <a:spcAft>
                          <a:spcPts val="0"/>
                        </a:spcAft>
                        <a:buNone/>
                      </a:pPr>
                      <a:r>
                        <a:rPr lang="en" sz="900"/>
                        <a:t>9.60%</a:t>
                      </a:r>
                      <a:endParaRPr sz="900"/>
                    </a:p>
                  </a:txBody>
                  <a:tcPr marL="28575" marR="28575" marT="19050" marB="19050" anchor="b"/>
                </a:tc>
                <a:tc>
                  <a:txBody>
                    <a:bodyPr/>
                    <a:lstStyle/>
                    <a:p>
                      <a:pPr marL="0" lvl="0" indent="0" algn="ctr" rtl="0">
                        <a:lnSpc>
                          <a:spcPct val="115000"/>
                        </a:lnSpc>
                        <a:spcBef>
                          <a:spcPts val="0"/>
                        </a:spcBef>
                        <a:spcAft>
                          <a:spcPts val="0"/>
                        </a:spcAft>
                        <a:buNone/>
                      </a:pPr>
                      <a:r>
                        <a:rPr lang="en" sz="900"/>
                        <a:t>1,239</a:t>
                      </a:r>
                      <a:endParaRPr sz="900"/>
                    </a:p>
                  </a:txBody>
                  <a:tcPr marL="28575" marR="28575" marT="19050" marB="19050" anchor="b"/>
                </a:tc>
                <a:tc>
                  <a:txBody>
                    <a:bodyPr/>
                    <a:lstStyle/>
                    <a:p>
                      <a:pPr marL="0" lvl="0" indent="0" algn="ctr" rtl="0">
                        <a:lnSpc>
                          <a:spcPct val="115000"/>
                        </a:lnSpc>
                        <a:spcBef>
                          <a:spcPts val="0"/>
                        </a:spcBef>
                        <a:spcAft>
                          <a:spcPts val="0"/>
                        </a:spcAft>
                        <a:buNone/>
                      </a:pPr>
                      <a:r>
                        <a:rPr lang="en" sz="900"/>
                        <a:t>13.02</a:t>
                      </a:r>
                      <a:endParaRPr sz="900"/>
                    </a:p>
                  </a:txBody>
                  <a:tcPr marL="28575" marR="28575" marT="19050" marB="19050" anchor="b"/>
                </a:tc>
                <a:tc>
                  <a:txBody>
                    <a:bodyPr/>
                    <a:lstStyle/>
                    <a:p>
                      <a:pPr marL="0" lvl="0" indent="0" algn="ctr" rtl="0">
                        <a:lnSpc>
                          <a:spcPct val="115000"/>
                        </a:lnSpc>
                        <a:spcBef>
                          <a:spcPts val="0"/>
                        </a:spcBef>
                        <a:spcAft>
                          <a:spcPts val="0"/>
                        </a:spcAft>
                        <a:buNone/>
                      </a:pPr>
                      <a:r>
                        <a:rPr lang="en" sz="900" b="1">
                          <a:solidFill>
                            <a:srgbClr val="FF0000"/>
                          </a:solidFill>
                        </a:rPr>
                        <a:t>0.09</a:t>
                      </a:r>
                      <a:endParaRPr sz="900" b="1">
                        <a:solidFill>
                          <a:srgbClr val="FF0000"/>
                        </a:solidFill>
                      </a:endParaRPr>
                    </a:p>
                  </a:txBody>
                  <a:tcPr marL="28575" marR="28575" marT="19050" marB="19050" anchor="b">
                    <a:solidFill>
                      <a:srgbClr val="F4CCCC"/>
                    </a:solidFill>
                  </a:tcPr>
                </a:tc>
                <a:tc>
                  <a:txBody>
                    <a:bodyPr/>
                    <a:lstStyle/>
                    <a:p>
                      <a:pPr marL="0" lvl="0" indent="0" algn="ctr" rtl="0">
                        <a:lnSpc>
                          <a:spcPct val="115000"/>
                        </a:lnSpc>
                        <a:spcBef>
                          <a:spcPts val="0"/>
                        </a:spcBef>
                        <a:spcAft>
                          <a:spcPts val="0"/>
                        </a:spcAft>
                        <a:buNone/>
                      </a:pPr>
                      <a:r>
                        <a:rPr lang="en" sz="900" b="1">
                          <a:solidFill>
                            <a:srgbClr val="6AA84F"/>
                          </a:solidFill>
                        </a:rPr>
                        <a:t>-0.09%</a:t>
                      </a:r>
                      <a:endParaRPr sz="900" b="1">
                        <a:solidFill>
                          <a:srgbClr val="6AA84F"/>
                        </a:solidFill>
                      </a:endParaRPr>
                    </a:p>
                  </a:txBody>
                  <a:tcPr marL="28575" marR="28575" marT="19050" marB="19050" anchor="b">
                    <a:lnR w="7150" cap="flat" cmpd="sng">
                      <a:solidFill>
                        <a:srgbClr val="000000"/>
                      </a:solidFill>
                      <a:prstDash val="solid"/>
                      <a:round/>
                      <a:headEnd type="none" w="sm" len="sm"/>
                      <a:tailEnd type="none" w="sm" len="sm"/>
                    </a:lnR>
                    <a:solidFill>
                      <a:srgbClr val="D9EAD3"/>
                    </a:solidFill>
                  </a:tcPr>
                </a:tc>
                <a:extLst>
                  <a:ext uri="{0D108BD9-81ED-4DB2-BD59-A6C34878D82A}">
                    <a16:rowId xmlns:a16="http://schemas.microsoft.com/office/drawing/2014/main" val="10001"/>
                  </a:ext>
                </a:extLst>
              </a:tr>
              <a:tr h="199625">
                <a:tc>
                  <a:txBody>
                    <a:bodyPr/>
                    <a:lstStyle/>
                    <a:p>
                      <a:pPr marL="0" lvl="0" indent="0" algn="l" rtl="0">
                        <a:lnSpc>
                          <a:spcPct val="115000"/>
                        </a:lnSpc>
                        <a:spcBef>
                          <a:spcPts val="0"/>
                        </a:spcBef>
                        <a:spcAft>
                          <a:spcPts val="0"/>
                        </a:spcAft>
                        <a:buNone/>
                      </a:pPr>
                      <a:r>
                        <a:rPr lang="en" sz="900"/>
                        <a:t>NIM</a:t>
                      </a:r>
                      <a:endParaRPr sz="900"/>
                    </a:p>
                  </a:txBody>
                  <a:tcPr marL="28575" marR="28575" marT="19050" marB="19050" anchor="b">
                    <a:lnL w="7150" cap="flat" cmpd="sng">
                      <a:solidFill>
                        <a:srgbClr val="000000"/>
                      </a:solidFill>
                      <a:prstDash val="solid"/>
                      <a:round/>
                      <a:headEnd type="none" w="sm" len="sm"/>
                      <a:tailEnd type="none" w="sm" len="sm"/>
                    </a:lnL>
                    <a:lnR w="7150" cap="flat" cmpd="sng">
                      <a:solidFill>
                        <a:srgbClr val="000000"/>
                      </a:solidFill>
                      <a:prstDash val="solid"/>
                      <a:round/>
                      <a:headEnd type="none" w="sm" len="sm"/>
                      <a:tailEnd type="none" w="sm" len="sm"/>
                    </a:lnR>
                  </a:tcPr>
                </a:tc>
                <a:tc>
                  <a:txBody>
                    <a:bodyPr/>
                    <a:lstStyle/>
                    <a:p>
                      <a:pPr marL="0" lvl="0" indent="0" algn="ctr" rtl="0">
                        <a:lnSpc>
                          <a:spcPct val="115000"/>
                        </a:lnSpc>
                        <a:spcBef>
                          <a:spcPts val="0"/>
                        </a:spcBef>
                        <a:spcAft>
                          <a:spcPts val="0"/>
                        </a:spcAft>
                        <a:buNone/>
                      </a:pPr>
                      <a:r>
                        <a:rPr lang="en" sz="900"/>
                        <a:t>19.82K</a:t>
                      </a:r>
                      <a:endParaRPr sz="900"/>
                    </a:p>
                  </a:txBody>
                  <a:tcPr marL="28575" marR="28575" marT="19050" marB="19050" anchor="b">
                    <a:lnL w="7150" cap="flat" cmpd="sng">
                      <a:solidFill>
                        <a:srgbClr val="000000"/>
                      </a:solidFill>
                      <a:prstDash val="solid"/>
                      <a:round/>
                      <a:headEnd type="none" w="sm" len="sm"/>
                      <a:tailEnd type="none" w="sm" len="sm"/>
                    </a:lnL>
                  </a:tcPr>
                </a:tc>
                <a:tc>
                  <a:txBody>
                    <a:bodyPr/>
                    <a:lstStyle/>
                    <a:p>
                      <a:pPr marL="0" lvl="0" indent="0" algn="ctr" rtl="0">
                        <a:lnSpc>
                          <a:spcPct val="115000"/>
                        </a:lnSpc>
                        <a:spcBef>
                          <a:spcPts val="0"/>
                        </a:spcBef>
                        <a:spcAft>
                          <a:spcPts val="0"/>
                        </a:spcAft>
                        <a:buNone/>
                      </a:pPr>
                      <a:r>
                        <a:rPr lang="en" sz="900"/>
                        <a:t>3.05K</a:t>
                      </a:r>
                      <a:endParaRPr sz="900"/>
                    </a:p>
                  </a:txBody>
                  <a:tcPr marL="28575" marR="28575" marT="19050" marB="19050" anchor="b"/>
                </a:tc>
                <a:tc>
                  <a:txBody>
                    <a:bodyPr/>
                    <a:lstStyle/>
                    <a:p>
                      <a:pPr marL="0" lvl="0" indent="0" algn="ctr" rtl="0">
                        <a:lnSpc>
                          <a:spcPct val="115000"/>
                        </a:lnSpc>
                        <a:spcBef>
                          <a:spcPts val="0"/>
                        </a:spcBef>
                        <a:spcAft>
                          <a:spcPts val="0"/>
                        </a:spcAft>
                        <a:buNone/>
                      </a:pPr>
                      <a:r>
                        <a:rPr lang="en" sz="900"/>
                        <a:t>11.33%</a:t>
                      </a:r>
                      <a:endParaRPr sz="900"/>
                    </a:p>
                  </a:txBody>
                  <a:tcPr marL="28575" marR="28575" marT="19050" marB="19050" anchor="b"/>
                </a:tc>
                <a:tc>
                  <a:txBody>
                    <a:bodyPr/>
                    <a:lstStyle/>
                    <a:p>
                      <a:pPr marL="0" lvl="0" indent="0" algn="ctr" rtl="0">
                        <a:lnSpc>
                          <a:spcPct val="115000"/>
                        </a:lnSpc>
                        <a:spcBef>
                          <a:spcPts val="0"/>
                        </a:spcBef>
                        <a:spcAft>
                          <a:spcPts val="0"/>
                        </a:spcAft>
                        <a:buNone/>
                      </a:pPr>
                      <a:r>
                        <a:rPr lang="en" sz="900"/>
                        <a:t>667</a:t>
                      </a:r>
                      <a:endParaRPr sz="900"/>
                    </a:p>
                  </a:txBody>
                  <a:tcPr marL="28575" marR="28575" marT="19050" marB="19050" anchor="b"/>
                </a:tc>
                <a:tc>
                  <a:txBody>
                    <a:bodyPr/>
                    <a:lstStyle/>
                    <a:p>
                      <a:pPr marL="0" lvl="0" indent="0" algn="ctr" rtl="0">
                        <a:lnSpc>
                          <a:spcPct val="115000"/>
                        </a:lnSpc>
                        <a:spcBef>
                          <a:spcPts val="0"/>
                        </a:spcBef>
                        <a:spcAft>
                          <a:spcPts val="0"/>
                        </a:spcAft>
                        <a:buNone/>
                      </a:pPr>
                      <a:r>
                        <a:rPr lang="en" sz="900"/>
                        <a:t>4.57</a:t>
                      </a:r>
                      <a:endParaRPr sz="900"/>
                    </a:p>
                  </a:txBody>
                  <a:tcPr marL="28575" marR="28575" marT="19050" marB="19050" anchor="b"/>
                </a:tc>
                <a:tc>
                  <a:txBody>
                    <a:bodyPr/>
                    <a:lstStyle/>
                    <a:p>
                      <a:pPr marL="0" lvl="0" indent="0" algn="ctr" rtl="0">
                        <a:lnSpc>
                          <a:spcPct val="115000"/>
                        </a:lnSpc>
                        <a:spcBef>
                          <a:spcPts val="0"/>
                        </a:spcBef>
                        <a:spcAft>
                          <a:spcPts val="0"/>
                        </a:spcAft>
                        <a:buNone/>
                      </a:pPr>
                      <a:r>
                        <a:rPr lang="en" sz="900" b="1">
                          <a:solidFill>
                            <a:srgbClr val="FF0000"/>
                          </a:solidFill>
                        </a:rPr>
                        <a:t>0.32</a:t>
                      </a:r>
                      <a:endParaRPr sz="900" b="1">
                        <a:solidFill>
                          <a:srgbClr val="FF0000"/>
                        </a:solidFill>
                      </a:endParaRPr>
                    </a:p>
                  </a:txBody>
                  <a:tcPr marL="28575" marR="28575" marT="19050" marB="19050" anchor="b">
                    <a:solidFill>
                      <a:srgbClr val="F4CCCC"/>
                    </a:solidFill>
                  </a:tcPr>
                </a:tc>
                <a:tc>
                  <a:txBody>
                    <a:bodyPr/>
                    <a:lstStyle/>
                    <a:p>
                      <a:pPr marL="0" lvl="0" indent="0" algn="ctr" rtl="0">
                        <a:lnSpc>
                          <a:spcPct val="115000"/>
                        </a:lnSpc>
                        <a:spcBef>
                          <a:spcPts val="0"/>
                        </a:spcBef>
                        <a:spcAft>
                          <a:spcPts val="0"/>
                        </a:spcAft>
                        <a:buNone/>
                      </a:pPr>
                      <a:r>
                        <a:rPr lang="en" sz="900" b="1">
                          <a:solidFill>
                            <a:srgbClr val="FF0000"/>
                          </a:solidFill>
                        </a:rPr>
                        <a:t>2.08%</a:t>
                      </a:r>
                      <a:endParaRPr sz="900" b="1">
                        <a:solidFill>
                          <a:srgbClr val="FF0000"/>
                        </a:solidFill>
                      </a:endParaRPr>
                    </a:p>
                  </a:txBody>
                  <a:tcPr marL="28575" marR="28575" marT="19050" marB="19050" anchor="b">
                    <a:lnR w="7150" cap="flat" cmpd="sng">
                      <a:solidFill>
                        <a:srgbClr val="000000"/>
                      </a:solidFill>
                      <a:prstDash val="solid"/>
                      <a:round/>
                      <a:headEnd type="none" w="sm" len="sm"/>
                      <a:tailEnd type="none" w="sm" len="sm"/>
                    </a:lnR>
                    <a:solidFill>
                      <a:srgbClr val="F4CCCC"/>
                    </a:solidFill>
                  </a:tcPr>
                </a:tc>
                <a:extLst>
                  <a:ext uri="{0D108BD9-81ED-4DB2-BD59-A6C34878D82A}">
                    <a16:rowId xmlns:a16="http://schemas.microsoft.com/office/drawing/2014/main" val="10002"/>
                  </a:ext>
                </a:extLst>
              </a:tr>
              <a:tr h="199625">
                <a:tc>
                  <a:txBody>
                    <a:bodyPr/>
                    <a:lstStyle/>
                    <a:p>
                      <a:pPr marL="0" lvl="0" indent="0" algn="l" rtl="0">
                        <a:lnSpc>
                          <a:spcPct val="115000"/>
                        </a:lnSpc>
                        <a:spcBef>
                          <a:spcPts val="0"/>
                        </a:spcBef>
                        <a:spcAft>
                          <a:spcPts val="0"/>
                        </a:spcAft>
                        <a:buNone/>
                      </a:pPr>
                      <a:r>
                        <a:rPr lang="en" sz="900"/>
                        <a:t>NLM</a:t>
                      </a:r>
                      <a:endParaRPr sz="900"/>
                    </a:p>
                  </a:txBody>
                  <a:tcPr marL="28575" marR="28575" marT="19050" marB="19050" anchor="b">
                    <a:lnL w="7150" cap="flat" cmpd="sng">
                      <a:solidFill>
                        <a:srgbClr val="000000"/>
                      </a:solidFill>
                      <a:prstDash val="solid"/>
                      <a:round/>
                      <a:headEnd type="none" w="sm" len="sm"/>
                      <a:tailEnd type="none" w="sm" len="sm"/>
                    </a:lnL>
                    <a:lnR w="7150" cap="flat" cmpd="sng">
                      <a:solidFill>
                        <a:srgbClr val="000000"/>
                      </a:solidFill>
                      <a:prstDash val="solid"/>
                      <a:round/>
                      <a:headEnd type="none" w="sm" len="sm"/>
                      <a:tailEnd type="none" w="sm" len="sm"/>
                    </a:lnR>
                  </a:tcPr>
                </a:tc>
                <a:tc>
                  <a:txBody>
                    <a:bodyPr/>
                    <a:lstStyle/>
                    <a:p>
                      <a:pPr marL="0" lvl="0" indent="0" algn="ctr" rtl="0">
                        <a:lnSpc>
                          <a:spcPct val="115000"/>
                        </a:lnSpc>
                        <a:spcBef>
                          <a:spcPts val="0"/>
                        </a:spcBef>
                        <a:spcAft>
                          <a:spcPts val="0"/>
                        </a:spcAft>
                        <a:buNone/>
                      </a:pPr>
                      <a:r>
                        <a:rPr lang="en" sz="900"/>
                        <a:t>30.08K</a:t>
                      </a:r>
                      <a:endParaRPr sz="900"/>
                    </a:p>
                  </a:txBody>
                  <a:tcPr marL="28575" marR="28575" marT="19050" marB="19050" anchor="b">
                    <a:lnL w="7150" cap="flat" cmpd="sng">
                      <a:solidFill>
                        <a:srgbClr val="000000"/>
                      </a:solidFill>
                      <a:prstDash val="solid"/>
                      <a:round/>
                      <a:headEnd type="none" w="sm" len="sm"/>
                      <a:tailEnd type="none" w="sm" len="sm"/>
                    </a:lnL>
                  </a:tcPr>
                </a:tc>
                <a:tc>
                  <a:txBody>
                    <a:bodyPr/>
                    <a:lstStyle/>
                    <a:p>
                      <a:pPr marL="0" lvl="0" indent="0" algn="ctr" rtl="0">
                        <a:lnSpc>
                          <a:spcPct val="115000"/>
                        </a:lnSpc>
                        <a:spcBef>
                          <a:spcPts val="0"/>
                        </a:spcBef>
                        <a:spcAft>
                          <a:spcPts val="0"/>
                        </a:spcAft>
                        <a:buNone/>
                      </a:pPr>
                      <a:r>
                        <a:rPr lang="en" sz="900"/>
                        <a:t>5.69K</a:t>
                      </a:r>
                      <a:endParaRPr sz="900"/>
                    </a:p>
                  </a:txBody>
                  <a:tcPr marL="28575" marR="28575" marT="19050" marB="19050" anchor="b"/>
                </a:tc>
                <a:tc>
                  <a:txBody>
                    <a:bodyPr/>
                    <a:lstStyle/>
                    <a:p>
                      <a:pPr marL="0" lvl="0" indent="0" algn="ctr" rtl="0">
                        <a:lnSpc>
                          <a:spcPct val="115000"/>
                        </a:lnSpc>
                        <a:spcBef>
                          <a:spcPts val="0"/>
                        </a:spcBef>
                        <a:spcAft>
                          <a:spcPts val="0"/>
                        </a:spcAft>
                        <a:buNone/>
                      </a:pPr>
                      <a:r>
                        <a:rPr lang="en" sz="900"/>
                        <a:t>14.19%</a:t>
                      </a:r>
                      <a:endParaRPr sz="900"/>
                    </a:p>
                  </a:txBody>
                  <a:tcPr marL="28575" marR="28575" marT="19050" marB="19050" anchor="b"/>
                </a:tc>
                <a:tc>
                  <a:txBody>
                    <a:bodyPr/>
                    <a:lstStyle/>
                    <a:p>
                      <a:pPr marL="0" lvl="0" indent="0" algn="ctr" rtl="0">
                        <a:lnSpc>
                          <a:spcPct val="115000"/>
                        </a:lnSpc>
                        <a:spcBef>
                          <a:spcPts val="0"/>
                        </a:spcBef>
                        <a:spcAft>
                          <a:spcPts val="0"/>
                        </a:spcAft>
                        <a:buNone/>
                      </a:pPr>
                      <a:r>
                        <a:rPr lang="en" sz="900"/>
                        <a:t>954</a:t>
                      </a:r>
                      <a:endParaRPr sz="900"/>
                    </a:p>
                  </a:txBody>
                  <a:tcPr marL="28575" marR="28575" marT="19050" marB="19050" anchor="b"/>
                </a:tc>
                <a:tc>
                  <a:txBody>
                    <a:bodyPr/>
                    <a:lstStyle/>
                    <a:p>
                      <a:pPr marL="0" lvl="0" indent="0" algn="ctr" rtl="0">
                        <a:lnSpc>
                          <a:spcPct val="115000"/>
                        </a:lnSpc>
                        <a:spcBef>
                          <a:spcPts val="0"/>
                        </a:spcBef>
                        <a:spcAft>
                          <a:spcPts val="0"/>
                        </a:spcAft>
                        <a:buNone/>
                      </a:pPr>
                      <a:r>
                        <a:rPr lang="en" sz="900"/>
                        <a:t>5.97</a:t>
                      </a:r>
                      <a:endParaRPr sz="900"/>
                    </a:p>
                  </a:txBody>
                  <a:tcPr marL="28575" marR="28575" marT="19050" marB="19050" anchor="b"/>
                </a:tc>
                <a:tc>
                  <a:txBody>
                    <a:bodyPr/>
                    <a:lstStyle/>
                    <a:p>
                      <a:pPr marL="0" lvl="0" indent="0" algn="ctr" rtl="0">
                        <a:lnSpc>
                          <a:spcPct val="115000"/>
                        </a:lnSpc>
                        <a:spcBef>
                          <a:spcPts val="0"/>
                        </a:spcBef>
                        <a:spcAft>
                          <a:spcPts val="0"/>
                        </a:spcAft>
                        <a:buNone/>
                      </a:pPr>
                      <a:r>
                        <a:rPr lang="en" sz="900" b="1">
                          <a:solidFill>
                            <a:srgbClr val="6AA84F"/>
                          </a:solidFill>
                        </a:rPr>
                        <a:t>-0.11</a:t>
                      </a:r>
                      <a:endParaRPr sz="900" b="1">
                        <a:solidFill>
                          <a:srgbClr val="6AA84F"/>
                        </a:solidFill>
                      </a:endParaRPr>
                    </a:p>
                  </a:txBody>
                  <a:tcPr marL="28575" marR="28575" marT="19050" marB="19050" anchor="b">
                    <a:solidFill>
                      <a:srgbClr val="D9EAD3"/>
                    </a:solidFill>
                  </a:tcPr>
                </a:tc>
                <a:tc>
                  <a:txBody>
                    <a:bodyPr/>
                    <a:lstStyle/>
                    <a:p>
                      <a:pPr marL="0" lvl="0" indent="0" algn="ctr" rtl="0">
                        <a:lnSpc>
                          <a:spcPct val="115000"/>
                        </a:lnSpc>
                        <a:spcBef>
                          <a:spcPts val="0"/>
                        </a:spcBef>
                        <a:spcAft>
                          <a:spcPts val="0"/>
                        </a:spcAft>
                        <a:buNone/>
                      </a:pPr>
                      <a:r>
                        <a:rPr lang="en" sz="900" b="1">
                          <a:solidFill>
                            <a:srgbClr val="6AA84F"/>
                          </a:solidFill>
                        </a:rPr>
                        <a:t>-1.74%</a:t>
                      </a:r>
                      <a:endParaRPr sz="900" b="1">
                        <a:solidFill>
                          <a:srgbClr val="6AA84F"/>
                        </a:solidFill>
                      </a:endParaRPr>
                    </a:p>
                  </a:txBody>
                  <a:tcPr marL="28575" marR="28575" marT="19050" marB="19050" anchor="b">
                    <a:lnR w="7150" cap="flat" cmpd="sng">
                      <a:solidFill>
                        <a:srgbClr val="000000"/>
                      </a:solidFill>
                      <a:prstDash val="solid"/>
                      <a:round/>
                      <a:headEnd type="none" w="sm" len="sm"/>
                      <a:tailEnd type="none" w="sm" len="sm"/>
                    </a:lnR>
                    <a:solidFill>
                      <a:srgbClr val="D9EAD3"/>
                    </a:solidFill>
                  </a:tcPr>
                </a:tc>
                <a:extLst>
                  <a:ext uri="{0D108BD9-81ED-4DB2-BD59-A6C34878D82A}">
                    <a16:rowId xmlns:a16="http://schemas.microsoft.com/office/drawing/2014/main" val="10003"/>
                  </a:ext>
                </a:extLst>
              </a:tr>
              <a:tr h="199625">
                <a:tc>
                  <a:txBody>
                    <a:bodyPr/>
                    <a:lstStyle/>
                    <a:p>
                      <a:pPr marL="0" lvl="0" indent="0" algn="l" rtl="0">
                        <a:lnSpc>
                          <a:spcPct val="115000"/>
                        </a:lnSpc>
                        <a:spcBef>
                          <a:spcPts val="0"/>
                        </a:spcBef>
                        <a:spcAft>
                          <a:spcPts val="0"/>
                        </a:spcAft>
                        <a:buNone/>
                      </a:pPr>
                      <a:r>
                        <a:rPr lang="en" sz="900"/>
                        <a:t>PT</a:t>
                      </a:r>
                      <a:endParaRPr sz="900"/>
                    </a:p>
                  </a:txBody>
                  <a:tcPr marL="28575" marR="28575" marT="19050" marB="19050" anchor="b">
                    <a:lnL w="7150" cap="flat" cmpd="sng">
                      <a:solidFill>
                        <a:srgbClr val="000000"/>
                      </a:solidFill>
                      <a:prstDash val="solid"/>
                      <a:round/>
                      <a:headEnd type="none" w="sm" len="sm"/>
                      <a:tailEnd type="none" w="sm" len="sm"/>
                    </a:lnL>
                    <a:lnR w="7150" cap="flat" cmpd="sng">
                      <a:solidFill>
                        <a:srgbClr val="000000"/>
                      </a:solidFill>
                      <a:prstDash val="solid"/>
                      <a:round/>
                      <a:headEnd type="none" w="sm" len="sm"/>
                      <a:tailEnd type="none" w="sm" len="sm"/>
                    </a:lnR>
                  </a:tcPr>
                </a:tc>
                <a:tc>
                  <a:txBody>
                    <a:bodyPr/>
                    <a:lstStyle/>
                    <a:p>
                      <a:pPr marL="0" lvl="0" indent="0" algn="ctr" rtl="0">
                        <a:lnSpc>
                          <a:spcPct val="115000"/>
                        </a:lnSpc>
                        <a:spcBef>
                          <a:spcPts val="0"/>
                        </a:spcBef>
                        <a:spcAft>
                          <a:spcPts val="0"/>
                        </a:spcAft>
                        <a:buNone/>
                      </a:pPr>
                      <a:r>
                        <a:rPr lang="en" sz="900"/>
                        <a:t>206.61K</a:t>
                      </a:r>
                      <a:endParaRPr sz="900"/>
                    </a:p>
                  </a:txBody>
                  <a:tcPr marL="28575" marR="28575" marT="19050" marB="19050" anchor="b">
                    <a:lnL w="7150" cap="flat" cmpd="sng">
                      <a:solidFill>
                        <a:srgbClr val="000000"/>
                      </a:solidFill>
                      <a:prstDash val="solid"/>
                      <a:round/>
                      <a:headEnd type="none" w="sm" len="sm"/>
                      <a:tailEnd type="none" w="sm" len="sm"/>
                    </a:lnL>
                  </a:tcPr>
                </a:tc>
                <a:tc>
                  <a:txBody>
                    <a:bodyPr/>
                    <a:lstStyle/>
                    <a:p>
                      <a:pPr marL="0" lvl="0" indent="0" algn="ctr" rtl="0">
                        <a:lnSpc>
                          <a:spcPct val="115000"/>
                        </a:lnSpc>
                        <a:spcBef>
                          <a:spcPts val="0"/>
                        </a:spcBef>
                        <a:spcAft>
                          <a:spcPts val="0"/>
                        </a:spcAft>
                        <a:buNone/>
                      </a:pPr>
                      <a:r>
                        <a:rPr lang="en" sz="900"/>
                        <a:t>41.09K</a:t>
                      </a:r>
                      <a:endParaRPr sz="900"/>
                    </a:p>
                  </a:txBody>
                  <a:tcPr marL="28575" marR="28575" marT="19050" marB="19050" anchor="b"/>
                </a:tc>
                <a:tc>
                  <a:txBody>
                    <a:bodyPr/>
                    <a:lstStyle/>
                    <a:p>
                      <a:pPr marL="0" lvl="0" indent="0" algn="ctr" rtl="0">
                        <a:lnSpc>
                          <a:spcPct val="115000"/>
                        </a:lnSpc>
                        <a:spcBef>
                          <a:spcPts val="0"/>
                        </a:spcBef>
                        <a:spcAft>
                          <a:spcPts val="0"/>
                        </a:spcAft>
                        <a:buNone/>
                      </a:pPr>
                      <a:r>
                        <a:rPr lang="en" sz="900"/>
                        <a:t>14.55%</a:t>
                      </a:r>
                      <a:endParaRPr sz="900"/>
                    </a:p>
                  </a:txBody>
                  <a:tcPr marL="28575" marR="28575" marT="19050" marB="19050" anchor="b"/>
                </a:tc>
                <a:tc>
                  <a:txBody>
                    <a:bodyPr/>
                    <a:lstStyle/>
                    <a:p>
                      <a:pPr marL="0" lvl="0" indent="0" algn="ctr" rtl="0">
                        <a:lnSpc>
                          <a:spcPct val="115000"/>
                        </a:lnSpc>
                        <a:spcBef>
                          <a:spcPts val="0"/>
                        </a:spcBef>
                        <a:spcAft>
                          <a:spcPts val="0"/>
                        </a:spcAft>
                        <a:buNone/>
                      </a:pPr>
                      <a:r>
                        <a:rPr lang="en" sz="900"/>
                        <a:t>6,030</a:t>
                      </a:r>
                      <a:endParaRPr sz="900"/>
                    </a:p>
                  </a:txBody>
                  <a:tcPr marL="28575" marR="28575" marT="19050" marB="19050" anchor="b"/>
                </a:tc>
                <a:tc>
                  <a:txBody>
                    <a:bodyPr/>
                    <a:lstStyle/>
                    <a:p>
                      <a:pPr marL="0" lvl="0" indent="0" algn="ctr" rtl="0">
                        <a:lnSpc>
                          <a:spcPct val="115000"/>
                        </a:lnSpc>
                        <a:spcBef>
                          <a:spcPts val="0"/>
                        </a:spcBef>
                        <a:spcAft>
                          <a:spcPts val="0"/>
                        </a:spcAft>
                        <a:buNone/>
                      </a:pPr>
                      <a:r>
                        <a:rPr lang="en" sz="900"/>
                        <a:t>6.81</a:t>
                      </a:r>
                      <a:endParaRPr sz="900"/>
                    </a:p>
                  </a:txBody>
                  <a:tcPr marL="28575" marR="28575" marT="19050" marB="19050" anchor="b"/>
                </a:tc>
                <a:tc>
                  <a:txBody>
                    <a:bodyPr/>
                    <a:lstStyle/>
                    <a:p>
                      <a:pPr marL="0" lvl="0" indent="0" algn="ctr" rtl="0">
                        <a:lnSpc>
                          <a:spcPct val="115000"/>
                        </a:lnSpc>
                        <a:spcBef>
                          <a:spcPts val="0"/>
                        </a:spcBef>
                        <a:spcAft>
                          <a:spcPts val="0"/>
                        </a:spcAft>
                        <a:buNone/>
                      </a:pPr>
                      <a:r>
                        <a:rPr lang="en" sz="900" b="1">
                          <a:solidFill>
                            <a:srgbClr val="6AA84F"/>
                          </a:solidFill>
                        </a:rPr>
                        <a:t>-0.10</a:t>
                      </a:r>
                      <a:endParaRPr sz="900" b="1">
                        <a:solidFill>
                          <a:srgbClr val="6AA84F"/>
                        </a:solidFill>
                      </a:endParaRPr>
                    </a:p>
                  </a:txBody>
                  <a:tcPr marL="28575" marR="28575" marT="19050" marB="19050" anchor="b">
                    <a:solidFill>
                      <a:srgbClr val="D9EAD3"/>
                    </a:solidFill>
                  </a:tcPr>
                </a:tc>
                <a:tc>
                  <a:txBody>
                    <a:bodyPr/>
                    <a:lstStyle/>
                    <a:p>
                      <a:pPr marL="0" lvl="0" indent="0" algn="ctr" rtl="0">
                        <a:lnSpc>
                          <a:spcPct val="115000"/>
                        </a:lnSpc>
                        <a:spcBef>
                          <a:spcPts val="0"/>
                        </a:spcBef>
                        <a:spcAft>
                          <a:spcPts val="0"/>
                        </a:spcAft>
                        <a:buNone/>
                      </a:pPr>
                      <a:r>
                        <a:rPr lang="en" sz="900" b="1">
                          <a:solidFill>
                            <a:srgbClr val="6AA84F"/>
                          </a:solidFill>
                        </a:rPr>
                        <a:t>-2.03%</a:t>
                      </a:r>
                      <a:endParaRPr sz="900" b="1">
                        <a:solidFill>
                          <a:srgbClr val="6AA84F"/>
                        </a:solidFill>
                      </a:endParaRPr>
                    </a:p>
                  </a:txBody>
                  <a:tcPr marL="28575" marR="28575" marT="19050" marB="19050" anchor="b">
                    <a:lnR w="7150" cap="flat" cmpd="sng">
                      <a:solidFill>
                        <a:srgbClr val="000000"/>
                      </a:solidFill>
                      <a:prstDash val="solid"/>
                      <a:round/>
                      <a:headEnd type="none" w="sm" len="sm"/>
                      <a:tailEnd type="none" w="sm" len="sm"/>
                    </a:lnR>
                    <a:solidFill>
                      <a:srgbClr val="D9EAD3"/>
                    </a:solidFill>
                  </a:tcPr>
                </a:tc>
                <a:extLst>
                  <a:ext uri="{0D108BD9-81ED-4DB2-BD59-A6C34878D82A}">
                    <a16:rowId xmlns:a16="http://schemas.microsoft.com/office/drawing/2014/main" val="10004"/>
                  </a:ext>
                </a:extLst>
              </a:tr>
              <a:tr h="199625">
                <a:tc>
                  <a:txBody>
                    <a:bodyPr/>
                    <a:lstStyle/>
                    <a:p>
                      <a:pPr marL="0" lvl="0" indent="0" algn="l" rtl="0">
                        <a:lnSpc>
                          <a:spcPct val="115000"/>
                        </a:lnSpc>
                        <a:spcBef>
                          <a:spcPts val="0"/>
                        </a:spcBef>
                        <a:spcAft>
                          <a:spcPts val="0"/>
                        </a:spcAft>
                        <a:buNone/>
                      </a:pPr>
                      <a:r>
                        <a:rPr lang="en" sz="900"/>
                        <a:t>Return</a:t>
                      </a:r>
                      <a:endParaRPr sz="900"/>
                    </a:p>
                  </a:txBody>
                  <a:tcPr marL="28575" marR="28575" marT="19050" marB="19050" anchor="b">
                    <a:lnL w="7150" cap="flat" cmpd="sng">
                      <a:solidFill>
                        <a:srgbClr val="000000"/>
                      </a:solidFill>
                      <a:prstDash val="solid"/>
                      <a:round/>
                      <a:headEnd type="none" w="sm" len="sm"/>
                      <a:tailEnd type="none" w="sm" len="sm"/>
                    </a:lnL>
                    <a:lnR w="7150" cap="flat" cmpd="sng">
                      <a:solidFill>
                        <a:srgbClr val="000000"/>
                      </a:solidFill>
                      <a:prstDash val="solid"/>
                      <a:round/>
                      <a:headEnd type="none" w="sm" len="sm"/>
                      <a:tailEnd type="none" w="sm" len="sm"/>
                    </a:lnR>
                    <a:lnB w="715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900"/>
                        <a:t>18.58K</a:t>
                      </a:r>
                      <a:endParaRPr sz="900"/>
                    </a:p>
                  </a:txBody>
                  <a:tcPr marL="28575" marR="28575" marT="19050" marB="19050" anchor="b">
                    <a:lnL w="7150" cap="flat" cmpd="sng">
                      <a:solidFill>
                        <a:srgbClr val="000000"/>
                      </a:solidFill>
                      <a:prstDash val="solid"/>
                      <a:round/>
                      <a:headEnd type="none" w="sm" len="sm"/>
                      <a:tailEnd type="none" w="sm" len="sm"/>
                    </a:lnL>
                    <a:lnB w="715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900"/>
                        <a:t>4.12K</a:t>
                      </a:r>
                      <a:endParaRPr sz="900"/>
                    </a:p>
                  </a:txBody>
                  <a:tcPr marL="28575" marR="28575" marT="19050" marB="19050" anchor="b">
                    <a:lnB w="715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900"/>
                        <a:t>17.13%</a:t>
                      </a:r>
                      <a:endParaRPr sz="900"/>
                    </a:p>
                  </a:txBody>
                  <a:tcPr marL="28575" marR="28575" marT="19050" marB="19050" anchor="b">
                    <a:lnB w="715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900"/>
                        <a:t>738</a:t>
                      </a:r>
                      <a:endParaRPr sz="900"/>
                    </a:p>
                  </a:txBody>
                  <a:tcPr marL="28575" marR="28575" marT="19050" marB="19050" anchor="b">
                    <a:lnB w="715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900"/>
                        <a:t>5.58</a:t>
                      </a:r>
                      <a:endParaRPr sz="900"/>
                    </a:p>
                  </a:txBody>
                  <a:tcPr marL="28575" marR="28575" marT="19050" marB="19050" anchor="b">
                    <a:lnB w="715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900" b="1">
                          <a:solidFill>
                            <a:srgbClr val="FF0000"/>
                          </a:solidFill>
                        </a:rPr>
                        <a:t>0.23</a:t>
                      </a:r>
                      <a:endParaRPr sz="900" b="1">
                        <a:solidFill>
                          <a:srgbClr val="FF0000"/>
                        </a:solidFill>
                      </a:endParaRPr>
                    </a:p>
                  </a:txBody>
                  <a:tcPr marL="28575" marR="28575" marT="19050" marB="19050" anchor="b">
                    <a:lnB w="7150" cap="flat" cmpd="sng">
                      <a:solidFill>
                        <a:srgbClr val="000000"/>
                      </a:solidFill>
                      <a:prstDash val="solid"/>
                      <a:round/>
                      <a:headEnd type="none" w="sm" len="sm"/>
                      <a:tailEnd type="none" w="sm" len="sm"/>
                    </a:lnB>
                    <a:solidFill>
                      <a:srgbClr val="F4CCCC"/>
                    </a:solidFill>
                  </a:tcPr>
                </a:tc>
                <a:tc>
                  <a:txBody>
                    <a:bodyPr/>
                    <a:lstStyle/>
                    <a:p>
                      <a:pPr marL="0" lvl="0" indent="0" algn="ctr" rtl="0">
                        <a:lnSpc>
                          <a:spcPct val="115000"/>
                        </a:lnSpc>
                        <a:spcBef>
                          <a:spcPts val="0"/>
                        </a:spcBef>
                        <a:spcAft>
                          <a:spcPts val="0"/>
                        </a:spcAft>
                        <a:buNone/>
                      </a:pPr>
                      <a:r>
                        <a:rPr lang="en" sz="900" b="1">
                          <a:solidFill>
                            <a:srgbClr val="FF0000"/>
                          </a:solidFill>
                        </a:rPr>
                        <a:t>1.78%</a:t>
                      </a:r>
                      <a:endParaRPr sz="900" b="1">
                        <a:solidFill>
                          <a:srgbClr val="FF0000"/>
                        </a:solidFill>
                      </a:endParaRPr>
                    </a:p>
                  </a:txBody>
                  <a:tcPr marL="28575" marR="28575" marT="19050" marB="19050" anchor="b">
                    <a:lnR w="7150" cap="flat" cmpd="sng">
                      <a:solidFill>
                        <a:srgbClr val="000000"/>
                      </a:solidFill>
                      <a:prstDash val="solid"/>
                      <a:round/>
                      <a:headEnd type="none" w="sm" len="sm"/>
                      <a:tailEnd type="none" w="sm" len="sm"/>
                    </a:lnR>
                    <a:lnB w="7150" cap="flat" cmpd="sng">
                      <a:solidFill>
                        <a:srgbClr val="000000"/>
                      </a:solidFill>
                      <a:prstDash val="solid"/>
                      <a:round/>
                      <a:headEnd type="none" w="sm" len="sm"/>
                      <a:tailEnd type="none" w="sm" len="sm"/>
                    </a:lnB>
                    <a:solidFill>
                      <a:srgbClr val="F4CCCC"/>
                    </a:solidFill>
                  </a:tcPr>
                </a:tc>
                <a:extLst>
                  <a:ext uri="{0D108BD9-81ED-4DB2-BD59-A6C34878D82A}">
                    <a16:rowId xmlns:a16="http://schemas.microsoft.com/office/drawing/2014/main" val="10005"/>
                  </a:ext>
                </a:extLst>
              </a:tr>
              <a:tr h="250950">
                <a:tc>
                  <a:txBody>
                    <a:bodyPr/>
                    <a:lstStyle/>
                    <a:p>
                      <a:pPr marL="0" lvl="0" indent="0" algn="l" rtl="0">
                        <a:lnSpc>
                          <a:spcPct val="115000"/>
                        </a:lnSpc>
                        <a:spcBef>
                          <a:spcPts val="0"/>
                        </a:spcBef>
                        <a:spcAft>
                          <a:spcPts val="0"/>
                        </a:spcAft>
                        <a:buNone/>
                      </a:pPr>
                      <a:r>
                        <a:rPr lang="en" sz="900" b="1"/>
                        <a:t>Total</a:t>
                      </a:r>
                      <a:endParaRPr sz="900" b="1"/>
                    </a:p>
                  </a:txBody>
                  <a:tcPr marL="28575" marR="28575" marT="19050" marB="19050" anchor="b">
                    <a:lnT w="7150" cap="flat" cmpd="sng">
                      <a:solidFill>
                        <a:srgbClr val="000000"/>
                      </a:solidFill>
                      <a:prstDash val="solid"/>
                      <a:round/>
                      <a:headEnd type="none" w="sm" len="sm"/>
                      <a:tailEnd type="none" w="sm" len="sm"/>
                    </a:lnT>
                  </a:tcPr>
                </a:tc>
                <a:tc>
                  <a:txBody>
                    <a:bodyPr/>
                    <a:lstStyle/>
                    <a:p>
                      <a:pPr marL="0" lvl="0" indent="0" algn="ctr" rtl="0">
                        <a:lnSpc>
                          <a:spcPct val="115000"/>
                        </a:lnSpc>
                        <a:spcBef>
                          <a:spcPts val="0"/>
                        </a:spcBef>
                        <a:spcAft>
                          <a:spcPts val="0"/>
                        </a:spcAft>
                        <a:buNone/>
                      </a:pPr>
                      <a:r>
                        <a:rPr lang="en" sz="900" b="1"/>
                        <a:t>0.39M</a:t>
                      </a:r>
                      <a:endParaRPr sz="900" b="1"/>
                    </a:p>
                  </a:txBody>
                  <a:tcPr marL="28575" marR="28575" marT="19050" marB="19050" anchor="b">
                    <a:lnT w="7150" cap="flat" cmpd="sng">
                      <a:solidFill>
                        <a:srgbClr val="000000"/>
                      </a:solidFill>
                      <a:prstDash val="solid"/>
                      <a:round/>
                      <a:headEnd type="none" w="sm" len="sm"/>
                      <a:tailEnd type="none" w="sm" len="sm"/>
                    </a:lnT>
                  </a:tcPr>
                </a:tc>
                <a:tc>
                  <a:txBody>
                    <a:bodyPr/>
                    <a:lstStyle/>
                    <a:p>
                      <a:pPr marL="0" lvl="0" indent="0" algn="ctr" rtl="0">
                        <a:lnSpc>
                          <a:spcPct val="115000"/>
                        </a:lnSpc>
                        <a:spcBef>
                          <a:spcPts val="0"/>
                        </a:spcBef>
                        <a:spcAft>
                          <a:spcPts val="0"/>
                        </a:spcAft>
                        <a:buNone/>
                      </a:pPr>
                      <a:r>
                        <a:rPr lang="en" sz="900" b="1"/>
                        <a:t>70.08K</a:t>
                      </a:r>
                      <a:endParaRPr sz="900" b="1"/>
                    </a:p>
                  </a:txBody>
                  <a:tcPr marL="28575" marR="28575" marT="19050" marB="19050" anchor="b">
                    <a:lnT w="7150" cap="flat" cmpd="sng">
                      <a:solidFill>
                        <a:srgbClr val="000000"/>
                      </a:solidFill>
                      <a:prstDash val="solid"/>
                      <a:round/>
                      <a:headEnd type="none" w="sm" len="sm"/>
                      <a:tailEnd type="none" w="sm" len="sm"/>
                    </a:lnT>
                  </a:tcPr>
                </a:tc>
                <a:tc>
                  <a:txBody>
                    <a:bodyPr/>
                    <a:lstStyle/>
                    <a:p>
                      <a:pPr marL="0" lvl="0" indent="0" algn="ctr" rtl="0">
                        <a:lnSpc>
                          <a:spcPct val="115000"/>
                        </a:lnSpc>
                        <a:spcBef>
                          <a:spcPts val="0"/>
                        </a:spcBef>
                        <a:spcAft>
                          <a:spcPts val="0"/>
                        </a:spcAft>
                        <a:buNone/>
                      </a:pPr>
                      <a:r>
                        <a:rPr lang="en" sz="900" b="1"/>
                        <a:t>13.04%</a:t>
                      </a:r>
                      <a:endParaRPr sz="900" b="1"/>
                    </a:p>
                  </a:txBody>
                  <a:tcPr marL="28575" marR="28575" marT="19050" marB="19050" anchor="b">
                    <a:lnT w="7150" cap="flat" cmpd="sng">
                      <a:solidFill>
                        <a:srgbClr val="000000"/>
                      </a:solidFill>
                      <a:prstDash val="solid"/>
                      <a:round/>
                      <a:headEnd type="none" w="sm" len="sm"/>
                      <a:tailEnd type="none" w="sm" len="sm"/>
                    </a:lnT>
                  </a:tcPr>
                </a:tc>
                <a:tc>
                  <a:txBody>
                    <a:bodyPr/>
                    <a:lstStyle/>
                    <a:p>
                      <a:pPr marL="0" lvl="0" indent="0" algn="l" rtl="0">
                        <a:spcBef>
                          <a:spcPts val="0"/>
                        </a:spcBef>
                        <a:spcAft>
                          <a:spcPts val="0"/>
                        </a:spcAft>
                        <a:buNone/>
                      </a:pPr>
                      <a:endParaRPr/>
                    </a:p>
                  </a:txBody>
                  <a:tcPr marL="28575" marR="28575" marT="19050" marB="19050" anchor="b">
                    <a:lnT w="7150" cap="flat" cmpd="sng">
                      <a:solidFill>
                        <a:srgbClr val="000000"/>
                      </a:solidFill>
                      <a:prstDash val="solid"/>
                      <a:round/>
                      <a:headEnd type="none" w="sm" len="sm"/>
                      <a:tailEnd type="none" w="sm" len="sm"/>
                    </a:lnT>
                  </a:tcPr>
                </a:tc>
                <a:tc>
                  <a:txBody>
                    <a:bodyPr/>
                    <a:lstStyle/>
                    <a:p>
                      <a:pPr marL="0" lvl="0" indent="0" algn="l" rtl="0">
                        <a:spcBef>
                          <a:spcPts val="0"/>
                        </a:spcBef>
                        <a:spcAft>
                          <a:spcPts val="0"/>
                        </a:spcAft>
                        <a:buNone/>
                      </a:pPr>
                      <a:endParaRPr/>
                    </a:p>
                  </a:txBody>
                  <a:tcPr marL="28575" marR="28575" marT="19050" marB="19050" anchor="b">
                    <a:lnT w="7150" cap="flat" cmpd="sng">
                      <a:solidFill>
                        <a:srgbClr val="000000"/>
                      </a:solidFill>
                      <a:prstDash val="solid"/>
                      <a:round/>
                      <a:headEnd type="none" w="sm" len="sm"/>
                      <a:tailEnd type="none" w="sm" len="sm"/>
                    </a:lnT>
                  </a:tcPr>
                </a:tc>
                <a:tc>
                  <a:txBody>
                    <a:bodyPr/>
                    <a:lstStyle/>
                    <a:p>
                      <a:pPr marL="0" lvl="0" indent="0" algn="l" rtl="0">
                        <a:spcBef>
                          <a:spcPts val="0"/>
                        </a:spcBef>
                        <a:spcAft>
                          <a:spcPts val="0"/>
                        </a:spcAft>
                        <a:buNone/>
                      </a:pPr>
                      <a:endParaRPr/>
                    </a:p>
                  </a:txBody>
                  <a:tcPr marL="28575" marR="28575" marT="19050" marB="19050" anchor="b">
                    <a:lnT w="7150" cap="flat" cmpd="sng">
                      <a:solidFill>
                        <a:srgbClr val="000000"/>
                      </a:solidFill>
                      <a:prstDash val="solid"/>
                      <a:round/>
                      <a:headEnd type="none" w="sm" len="sm"/>
                      <a:tailEnd type="none" w="sm" len="sm"/>
                    </a:lnT>
                  </a:tcPr>
                </a:tc>
                <a:tc>
                  <a:txBody>
                    <a:bodyPr/>
                    <a:lstStyle/>
                    <a:p>
                      <a:pPr marL="0" lvl="0" indent="0" algn="l" rtl="0">
                        <a:spcBef>
                          <a:spcPts val="0"/>
                        </a:spcBef>
                        <a:spcAft>
                          <a:spcPts val="0"/>
                        </a:spcAft>
                        <a:buNone/>
                      </a:pPr>
                      <a:endParaRPr/>
                    </a:p>
                  </a:txBody>
                  <a:tcPr marL="28575" marR="28575" marT="19050" marB="19050" anchor="b">
                    <a:lnT w="7150" cap="flat" cmpd="sng">
                      <a:solidFill>
                        <a:srgbClr val="000000"/>
                      </a:solidFill>
                      <a:prstDash val="solid"/>
                      <a:round/>
                      <a:headEnd type="none" w="sm" len="sm"/>
                      <a:tailEnd type="none" w="sm" len="sm"/>
                    </a:lnT>
                  </a:tcPr>
                </a:tc>
                <a:extLst>
                  <a:ext uri="{0D108BD9-81ED-4DB2-BD59-A6C34878D82A}">
                    <a16:rowId xmlns:a16="http://schemas.microsoft.com/office/drawing/2014/main" val="10006"/>
                  </a:ext>
                </a:extLst>
              </a:tr>
              <a:tr h="250950">
                <a:tc>
                  <a:txBody>
                    <a:bodyPr/>
                    <a:lstStyle/>
                    <a:p>
                      <a:pPr marL="0" lvl="0" indent="0" algn="l" rtl="0">
                        <a:lnSpc>
                          <a:spcPct val="115000"/>
                        </a:lnSpc>
                        <a:spcBef>
                          <a:spcPts val="0"/>
                        </a:spcBef>
                        <a:spcAft>
                          <a:spcPts val="0"/>
                        </a:spcAft>
                        <a:buNone/>
                      </a:pPr>
                      <a:r>
                        <a:rPr lang="en" sz="900"/>
                        <a:t>WoW (%)</a:t>
                      </a:r>
                      <a:endParaRPr sz="900"/>
                    </a:p>
                  </a:txBody>
                  <a:tcPr marL="28575" marR="28575" marT="19050" marB="19050" anchor="b"/>
                </a:tc>
                <a:tc>
                  <a:txBody>
                    <a:bodyPr/>
                    <a:lstStyle/>
                    <a:p>
                      <a:pPr marL="0" lvl="0" indent="0" algn="ctr" rtl="0">
                        <a:lnSpc>
                          <a:spcPct val="115000"/>
                        </a:lnSpc>
                        <a:spcBef>
                          <a:spcPts val="0"/>
                        </a:spcBef>
                        <a:spcAft>
                          <a:spcPts val="0"/>
                        </a:spcAft>
                        <a:buNone/>
                      </a:pPr>
                      <a:r>
                        <a:rPr lang="en" sz="900" b="1">
                          <a:solidFill>
                            <a:srgbClr val="38761D"/>
                          </a:solidFill>
                        </a:rPr>
                        <a:t>3.32%</a:t>
                      </a:r>
                      <a:endParaRPr sz="900" b="1">
                        <a:solidFill>
                          <a:srgbClr val="38761D"/>
                        </a:solidFill>
                      </a:endParaRPr>
                    </a:p>
                  </a:txBody>
                  <a:tcPr marL="28575" marR="28575" marT="19050" marB="19050" anchor="b">
                    <a:solidFill>
                      <a:srgbClr val="FFFFFF"/>
                    </a:solidFill>
                  </a:tcPr>
                </a:tc>
                <a:tc>
                  <a:txBody>
                    <a:bodyPr/>
                    <a:lstStyle/>
                    <a:p>
                      <a:pPr marL="0" lvl="0" indent="0" algn="ctr" rtl="0">
                        <a:lnSpc>
                          <a:spcPct val="115000"/>
                        </a:lnSpc>
                        <a:spcBef>
                          <a:spcPts val="0"/>
                        </a:spcBef>
                        <a:spcAft>
                          <a:spcPts val="0"/>
                        </a:spcAft>
                        <a:buNone/>
                      </a:pPr>
                      <a:r>
                        <a:rPr lang="en" sz="900" b="1">
                          <a:solidFill>
                            <a:srgbClr val="38761D"/>
                          </a:solidFill>
                        </a:rPr>
                        <a:t>-1.24%</a:t>
                      </a:r>
                      <a:endParaRPr sz="900" b="1">
                        <a:solidFill>
                          <a:srgbClr val="38761D"/>
                        </a:solidFill>
                      </a:endParaRPr>
                    </a:p>
                  </a:txBody>
                  <a:tcPr marL="28575" marR="28575" marT="19050" marB="19050" anchor="b">
                    <a:solidFill>
                      <a:srgbClr val="FFFFFF"/>
                    </a:solidFill>
                  </a:tcPr>
                </a:tc>
                <a:tc>
                  <a:txBody>
                    <a:bodyPr/>
                    <a:lstStyle/>
                    <a:p>
                      <a:pPr marL="0" lvl="0" indent="0" algn="ctr" rtl="0">
                        <a:lnSpc>
                          <a:spcPct val="115000"/>
                        </a:lnSpc>
                        <a:spcBef>
                          <a:spcPts val="0"/>
                        </a:spcBef>
                        <a:spcAft>
                          <a:spcPts val="0"/>
                        </a:spcAft>
                        <a:buNone/>
                      </a:pPr>
                      <a:r>
                        <a:rPr lang="en" sz="900" b="1">
                          <a:solidFill>
                            <a:srgbClr val="38761D"/>
                          </a:solidFill>
                        </a:rPr>
                        <a:t>-0.56%</a:t>
                      </a:r>
                      <a:endParaRPr sz="900" b="1">
                        <a:solidFill>
                          <a:srgbClr val="38761D"/>
                        </a:solidFill>
                      </a:endParaRPr>
                    </a:p>
                  </a:txBody>
                  <a:tcPr marL="28575" marR="28575" marT="19050" marB="19050" anchor="b">
                    <a:solidFill>
                      <a:srgbClr val="FFFFFF"/>
                    </a:solidFill>
                  </a:tcPr>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l" rtl="0">
                        <a:spcBef>
                          <a:spcPts val="0"/>
                        </a:spcBef>
                        <a:spcAft>
                          <a:spcPts val="0"/>
                        </a:spcAft>
                        <a:buNone/>
                      </a:pPr>
                      <a:endParaRPr/>
                    </a:p>
                  </a:txBody>
                  <a:tcPr marL="28575" marR="28575" marT="19050" marB="19050" anchor="b"/>
                </a:tc>
                <a:extLst>
                  <a:ext uri="{0D108BD9-81ED-4DB2-BD59-A6C34878D82A}">
                    <a16:rowId xmlns:a16="http://schemas.microsoft.com/office/drawing/2014/main" val="10007"/>
                  </a:ext>
                </a:extLst>
              </a:tr>
              <a:tr h="250950">
                <a:tc>
                  <a:txBody>
                    <a:bodyPr/>
                    <a:lstStyle/>
                    <a:p>
                      <a:pPr marL="0" lvl="0" indent="0" algn="l" rtl="0">
                        <a:lnSpc>
                          <a:spcPct val="115000"/>
                        </a:lnSpc>
                        <a:spcBef>
                          <a:spcPts val="0"/>
                        </a:spcBef>
                        <a:spcAft>
                          <a:spcPts val="0"/>
                        </a:spcAft>
                        <a:buNone/>
                      </a:pPr>
                      <a:r>
                        <a:rPr lang="en" sz="900"/>
                        <a:t>WoW (Actual)</a:t>
                      </a:r>
                      <a:endParaRPr sz="900"/>
                    </a:p>
                  </a:txBody>
                  <a:tcPr marL="28575" marR="28575" marT="19050" marB="19050" anchor="b"/>
                </a:tc>
                <a:tc>
                  <a:txBody>
                    <a:bodyPr/>
                    <a:lstStyle/>
                    <a:p>
                      <a:pPr marL="0" lvl="0" indent="0" algn="ctr" rtl="0">
                        <a:lnSpc>
                          <a:spcPct val="115000"/>
                        </a:lnSpc>
                        <a:spcBef>
                          <a:spcPts val="0"/>
                        </a:spcBef>
                        <a:spcAft>
                          <a:spcPts val="0"/>
                        </a:spcAft>
                        <a:buNone/>
                      </a:pPr>
                      <a:r>
                        <a:rPr lang="en" sz="900" b="1">
                          <a:solidFill>
                            <a:srgbClr val="38761D"/>
                          </a:solidFill>
                        </a:rPr>
                        <a:t>12.50K</a:t>
                      </a:r>
                      <a:endParaRPr sz="900" b="1">
                        <a:solidFill>
                          <a:srgbClr val="38761D"/>
                        </a:solidFill>
                      </a:endParaRPr>
                    </a:p>
                  </a:txBody>
                  <a:tcPr marL="28575" marR="28575" marT="19050" marB="19050" anchor="b">
                    <a:solidFill>
                      <a:srgbClr val="FFFFFF"/>
                    </a:solidFill>
                  </a:tcPr>
                </a:tc>
                <a:tc>
                  <a:txBody>
                    <a:bodyPr/>
                    <a:lstStyle/>
                    <a:p>
                      <a:pPr marL="0" lvl="0" indent="0" algn="ctr" rtl="0">
                        <a:lnSpc>
                          <a:spcPct val="115000"/>
                        </a:lnSpc>
                        <a:spcBef>
                          <a:spcPts val="0"/>
                        </a:spcBef>
                        <a:spcAft>
                          <a:spcPts val="0"/>
                        </a:spcAft>
                        <a:buNone/>
                      </a:pPr>
                      <a:r>
                        <a:rPr lang="en" sz="900" b="1">
                          <a:solidFill>
                            <a:srgbClr val="38761D"/>
                          </a:solidFill>
                        </a:rPr>
                        <a:t>-0.88K</a:t>
                      </a:r>
                      <a:endParaRPr sz="900" b="1">
                        <a:solidFill>
                          <a:srgbClr val="38761D"/>
                        </a:solidFill>
                      </a:endParaRPr>
                    </a:p>
                  </a:txBody>
                  <a:tcPr marL="28575" marR="28575" marT="19050" marB="19050" anchor="b">
                    <a:solidFill>
                      <a:srgbClr val="FFFFFF"/>
                    </a:solidFill>
                  </a:tcPr>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l" rtl="0">
                        <a:spcBef>
                          <a:spcPts val="0"/>
                        </a:spcBef>
                        <a:spcAft>
                          <a:spcPts val="0"/>
                        </a:spcAft>
                        <a:buNone/>
                      </a:pPr>
                      <a:endParaRPr/>
                    </a:p>
                  </a:txBody>
                  <a:tcPr marL="28575" marR="28575" marT="19050" marB="19050" anchor="b"/>
                </a:tc>
                <a:extLst>
                  <a:ext uri="{0D108BD9-81ED-4DB2-BD59-A6C34878D82A}">
                    <a16:rowId xmlns:a16="http://schemas.microsoft.com/office/drawing/2014/main" val="10008"/>
                  </a:ext>
                </a:extLst>
              </a:tr>
            </a:tbl>
          </a:graphicData>
        </a:graphic>
      </p:graphicFrame>
      <p:pic>
        <p:nvPicPr>
          <p:cNvPr id="249" name="Google Shape;249;p38" title="Chart"/>
          <p:cNvPicPr preferRelativeResize="0"/>
          <p:nvPr/>
        </p:nvPicPr>
        <p:blipFill rotWithShape="1">
          <a:blip r:embed="rId4">
            <a:alphaModFix/>
          </a:blip>
          <a:srcRect l="14669" r="7715"/>
          <a:stretch/>
        </p:blipFill>
        <p:spPr>
          <a:xfrm>
            <a:off x="5447800" y="859200"/>
            <a:ext cx="3476274" cy="276943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312"/>
        <p:cNvGrpSpPr/>
        <p:nvPr/>
      </p:nvGrpSpPr>
      <p:grpSpPr>
        <a:xfrm>
          <a:off x="0" y="0"/>
          <a:ext cx="0" cy="0"/>
          <a:chOff x="0" y="0"/>
          <a:chExt cx="0" cy="0"/>
        </a:xfrm>
      </p:grpSpPr>
      <p:sp>
        <p:nvSpPr>
          <p:cNvPr id="313" name="Google Shape;313;p42"/>
          <p:cNvSpPr/>
          <p:nvPr/>
        </p:nvSpPr>
        <p:spPr>
          <a:xfrm>
            <a:off x="0" y="0"/>
            <a:ext cx="9144000" cy="73200"/>
          </a:xfrm>
          <a:prstGeom prst="rect">
            <a:avLst/>
          </a:prstGeom>
          <a:solidFill>
            <a:srgbClr val="FF7F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42"/>
          <p:cNvSpPr/>
          <p:nvPr/>
        </p:nvSpPr>
        <p:spPr>
          <a:xfrm>
            <a:off x="442245" y="102393"/>
            <a:ext cx="7315200" cy="411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E4174"/>
              </a:buClr>
              <a:buSzPts val="2200"/>
              <a:buFont typeface="Calibri"/>
              <a:buNone/>
            </a:pPr>
            <a:r>
              <a:rPr lang="en" sz="2200" b="1">
                <a:solidFill>
                  <a:srgbClr val="0E4174"/>
                </a:solidFill>
                <a:latin typeface="Lexend"/>
                <a:ea typeface="Lexend"/>
                <a:cs typeface="Lexend"/>
                <a:sym typeface="Lexend"/>
              </a:rPr>
              <a:t>Bulky performance</a:t>
            </a:r>
            <a:endParaRPr sz="2200" b="1" i="0" u="none" strike="noStrike" cap="none">
              <a:solidFill>
                <a:srgbClr val="F56C1F"/>
              </a:solidFill>
              <a:highlight>
                <a:schemeClr val="lt1"/>
              </a:highlight>
              <a:latin typeface="Lexend"/>
              <a:ea typeface="Lexend"/>
              <a:cs typeface="Lexend"/>
              <a:sym typeface="Lexend"/>
            </a:endParaRPr>
          </a:p>
        </p:txBody>
      </p:sp>
      <p:cxnSp>
        <p:nvCxnSpPr>
          <p:cNvPr id="315" name="Google Shape;315;p42"/>
          <p:cNvCxnSpPr/>
          <p:nvPr/>
        </p:nvCxnSpPr>
        <p:spPr>
          <a:xfrm>
            <a:off x="346810" y="469280"/>
            <a:ext cx="8412600" cy="0"/>
          </a:xfrm>
          <a:prstGeom prst="straightConnector1">
            <a:avLst/>
          </a:prstGeom>
          <a:noFill/>
          <a:ln w="9525" cap="flat" cmpd="sng">
            <a:solidFill>
              <a:srgbClr val="E2E8F0"/>
            </a:solidFill>
            <a:prstDash val="solid"/>
            <a:round/>
            <a:headEnd type="none" w="sm" len="sm"/>
            <a:tailEnd type="none" w="sm" len="sm"/>
          </a:ln>
        </p:spPr>
      </p:cxnSp>
      <p:sp>
        <p:nvSpPr>
          <p:cNvPr id="316" name="Google Shape;316;p42"/>
          <p:cNvSpPr/>
          <p:nvPr/>
        </p:nvSpPr>
        <p:spPr>
          <a:xfrm>
            <a:off x="5486395" y="45700"/>
            <a:ext cx="3657600" cy="27420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94A3B8"/>
              </a:buClr>
              <a:buSzPts val="700"/>
              <a:buFont typeface="Calibri"/>
              <a:buNone/>
            </a:pPr>
            <a:r>
              <a:rPr lang="en" sz="700" b="0" i="1" u="none" strike="noStrike" cap="none">
                <a:solidFill>
                  <a:srgbClr val="94A3B8"/>
                </a:solidFill>
                <a:latin typeface="Calibri"/>
                <a:ea typeface="Calibri"/>
                <a:cs typeface="Calibri"/>
                <a:sym typeface="Calibri"/>
              </a:rPr>
              <a:t>Ahamove — Driver Management | Confidential</a:t>
            </a:r>
            <a:endParaRPr sz="700" b="0" i="0" u="none" strike="noStrike" cap="none">
              <a:solidFill>
                <a:schemeClr val="dk1"/>
              </a:solidFill>
              <a:latin typeface="Calibri"/>
              <a:ea typeface="Calibri"/>
              <a:cs typeface="Calibri"/>
              <a:sym typeface="Calibri"/>
            </a:endParaRPr>
          </a:p>
        </p:txBody>
      </p:sp>
      <p:pic>
        <p:nvPicPr>
          <p:cNvPr id="317" name="Google Shape;317;p42" descr="preencoded.png"/>
          <p:cNvPicPr preferRelativeResize="0"/>
          <p:nvPr/>
        </p:nvPicPr>
        <p:blipFill rotWithShape="1">
          <a:blip r:embed="rId3">
            <a:alphaModFix/>
          </a:blip>
          <a:srcRect/>
          <a:stretch/>
        </p:blipFill>
        <p:spPr>
          <a:xfrm>
            <a:off x="76485" y="171045"/>
            <a:ext cx="274320" cy="274320"/>
          </a:xfrm>
          <a:prstGeom prst="rect">
            <a:avLst/>
          </a:prstGeom>
          <a:noFill/>
          <a:ln>
            <a:noFill/>
          </a:ln>
        </p:spPr>
      </p:pic>
      <p:sp>
        <p:nvSpPr>
          <p:cNvPr id="318" name="Google Shape;318;p42"/>
          <p:cNvSpPr/>
          <p:nvPr/>
        </p:nvSpPr>
        <p:spPr>
          <a:xfrm>
            <a:off x="442246" y="616525"/>
            <a:ext cx="3987900" cy="2559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rgbClr val="0E4174"/>
              </a:buClr>
              <a:buSzPts val="1100"/>
              <a:buFont typeface="Calibri"/>
              <a:buNone/>
            </a:pPr>
            <a:r>
              <a:rPr lang="en" sz="900" b="1">
                <a:solidFill>
                  <a:srgbClr val="0E4174"/>
                </a:solidFill>
                <a:latin typeface="Lexend"/>
                <a:ea typeface="Lexend"/>
                <a:cs typeface="Lexend"/>
                <a:sym typeface="Lexend"/>
              </a:rPr>
              <a:t>Demand Bulky &amp; Active by Total COD đơn cha</a:t>
            </a:r>
            <a:endParaRPr sz="700" b="1">
              <a:solidFill>
                <a:srgbClr val="0E4174"/>
              </a:solidFill>
              <a:latin typeface="Lexend"/>
              <a:ea typeface="Lexend"/>
              <a:cs typeface="Lexend"/>
              <a:sym typeface="Lexend"/>
            </a:endParaRPr>
          </a:p>
        </p:txBody>
      </p:sp>
      <p:sp>
        <p:nvSpPr>
          <p:cNvPr id="319" name="Google Shape;319;p42"/>
          <p:cNvSpPr txBox="1"/>
          <p:nvPr/>
        </p:nvSpPr>
        <p:spPr>
          <a:xfrm>
            <a:off x="543775" y="3679125"/>
            <a:ext cx="8412600" cy="1293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800" b="1">
                <a:solidFill>
                  <a:schemeClr val="dk1"/>
                </a:solidFill>
                <a:latin typeface="Lexend"/>
                <a:ea typeface="Lexend"/>
                <a:cs typeface="Lexend"/>
                <a:sym typeface="Lexend"/>
              </a:rPr>
              <a:t>INSIGHT: </a:t>
            </a:r>
            <a:endParaRPr sz="800">
              <a:solidFill>
                <a:schemeClr val="dk1"/>
              </a:solidFill>
              <a:latin typeface="Lexend"/>
              <a:ea typeface="Lexend"/>
              <a:cs typeface="Lexend"/>
              <a:sym typeface="Lexend"/>
            </a:endParaRPr>
          </a:p>
          <a:p>
            <a:pPr marL="0" lvl="0" indent="0" algn="l" rtl="0">
              <a:spcBef>
                <a:spcPts val="0"/>
              </a:spcBef>
              <a:spcAft>
                <a:spcPts val="0"/>
              </a:spcAft>
              <a:buNone/>
            </a:pPr>
            <a:r>
              <a:rPr lang="en" sz="800">
                <a:solidFill>
                  <a:schemeClr val="dk1"/>
                </a:solidFill>
                <a:latin typeface="Lexend"/>
                <a:ea typeface="Lexend"/>
                <a:cs typeface="Lexend"/>
                <a:sym typeface="Lexend"/>
              </a:rPr>
              <a:t>-</a:t>
            </a:r>
            <a:r>
              <a:rPr lang="en" sz="800" b="1">
                <a:solidFill>
                  <a:schemeClr val="dk1"/>
                </a:solidFill>
                <a:latin typeface="Lexend"/>
                <a:ea typeface="Lexend"/>
                <a:cs typeface="Lexend"/>
                <a:sym typeface="Lexend"/>
              </a:rPr>
              <a:t> </a:t>
            </a:r>
            <a:r>
              <a:rPr lang="en" sz="800">
                <a:solidFill>
                  <a:schemeClr val="dk1"/>
                </a:solidFill>
                <a:latin typeface="Lexend"/>
                <a:ea typeface="Lexend"/>
                <a:cs typeface="Lexend"/>
                <a:sym typeface="Lexend"/>
              </a:rPr>
              <a:t>Tỷ trọng</a:t>
            </a:r>
            <a:r>
              <a:rPr lang="en" sz="800" b="1">
                <a:solidFill>
                  <a:schemeClr val="dk1"/>
                </a:solidFill>
                <a:latin typeface="Lexend"/>
                <a:ea typeface="Lexend"/>
                <a:cs typeface="Lexend"/>
                <a:sym typeface="Lexend"/>
              </a:rPr>
              <a:t> đơn Bulky high COD (total_cod &gt;=1M)</a:t>
            </a:r>
            <a:r>
              <a:rPr lang="en" sz="800">
                <a:solidFill>
                  <a:schemeClr val="dk1"/>
                </a:solidFill>
                <a:latin typeface="Lexend"/>
                <a:ea typeface="Lexend"/>
                <a:cs typeface="Lexend"/>
                <a:sym typeface="Lexend"/>
              </a:rPr>
              <a:t> tăng mạnh trong 2 tuần gần nhất, </a:t>
            </a:r>
            <a:r>
              <a:rPr lang="en" sz="800" b="1">
                <a:solidFill>
                  <a:schemeClr val="dk1"/>
                </a:solidFill>
                <a:latin typeface="Lexend"/>
                <a:ea typeface="Lexend"/>
                <a:cs typeface="Lexend"/>
                <a:sym typeface="Lexend"/>
              </a:rPr>
              <a:t>chiếm 50-60%</a:t>
            </a:r>
            <a:br>
              <a:rPr lang="en" sz="800">
                <a:solidFill>
                  <a:schemeClr val="dk1"/>
                </a:solidFill>
                <a:latin typeface="Lexend"/>
                <a:ea typeface="Lexend"/>
                <a:cs typeface="Lexend"/>
                <a:sym typeface="Lexend"/>
              </a:rPr>
            </a:br>
            <a:r>
              <a:rPr lang="en" sz="800">
                <a:solidFill>
                  <a:schemeClr val="dk1"/>
                </a:solidFill>
                <a:latin typeface="Lexend"/>
                <a:ea typeface="Lexend"/>
                <a:cs typeface="Lexend"/>
                <a:sym typeface="Lexend"/>
              </a:rPr>
              <a:t>- Active bulky chung cũng tăng theo trend. SL TX có hoàn thành tối thiểu 1 trip Bulky high COD tăng gấp 1.3-3 lần</a:t>
            </a:r>
            <a:endParaRPr sz="800">
              <a:solidFill>
                <a:schemeClr val="dk1"/>
              </a:solidFill>
              <a:latin typeface="Lexend"/>
              <a:ea typeface="Lexend"/>
              <a:cs typeface="Lexend"/>
              <a:sym typeface="Lexend"/>
            </a:endParaRPr>
          </a:p>
          <a:p>
            <a:pPr marL="0" lvl="0" indent="0" algn="l" rtl="0">
              <a:spcBef>
                <a:spcPts val="0"/>
              </a:spcBef>
              <a:spcAft>
                <a:spcPts val="0"/>
              </a:spcAft>
              <a:buNone/>
            </a:pPr>
            <a:endParaRPr sz="800">
              <a:solidFill>
                <a:schemeClr val="dk1"/>
              </a:solidFill>
              <a:latin typeface="Lexend"/>
              <a:ea typeface="Lexend"/>
              <a:cs typeface="Lexend"/>
              <a:sym typeface="Lexend"/>
            </a:endParaRPr>
          </a:p>
          <a:p>
            <a:pPr marL="0" lvl="0" indent="0" algn="l" rtl="0">
              <a:spcBef>
                <a:spcPts val="0"/>
              </a:spcBef>
              <a:spcAft>
                <a:spcPts val="0"/>
              </a:spcAft>
              <a:buClr>
                <a:schemeClr val="dk1"/>
              </a:buClr>
              <a:buSzPts val="1100"/>
              <a:buFont typeface="Arial"/>
              <a:buNone/>
            </a:pPr>
            <a:r>
              <a:rPr lang="en" sz="800" b="1">
                <a:solidFill>
                  <a:schemeClr val="dk1"/>
                </a:solidFill>
                <a:latin typeface="Lexend"/>
                <a:ea typeface="Lexend"/>
                <a:cs typeface="Lexend"/>
                <a:sym typeface="Lexend"/>
              </a:rPr>
              <a:t>NEXT ACTION:</a:t>
            </a:r>
            <a:br>
              <a:rPr lang="en" sz="800" b="1">
                <a:solidFill>
                  <a:schemeClr val="dk1"/>
                </a:solidFill>
                <a:latin typeface="Lexend"/>
                <a:ea typeface="Lexend"/>
                <a:cs typeface="Lexend"/>
                <a:sym typeface="Lexend"/>
              </a:rPr>
            </a:br>
            <a:r>
              <a:rPr lang="en" sz="800">
                <a:solidFill>
                  <a:schemeClr val="dk1"/>
                </a:solidFill>
                <a:latin typeface="Lexend"/>
                <a:ea typeface="Lexend"/>
                <a:cs typeface="Lexend"/>
                <a:sym typeface="Lexend"/>
              </a:rPr>
              <a:t>- Review perform nhóm được tăng COD balance 10M-&gt;15M</a:t>
            </a:r>
            <a:br>
              <a:rPr lang="en" sz="800">
                <a:solidFill>
                  <a:schemeClr val="dk1"/>
                </a:solidFill>
                <a:latin typeface="Lexend"/>
                <a:ea typeface="Lexend"/>
                <a:cs typeface="Lexend"/>
                <a:sym typeface="Lexend"/>
              </a:rPr>
            </a:br>
            <a:r>
              <a:rPr lang="en" sz="800">
                <a:solidFill>
                  <a:schemeClr val="dk1"/>
                </a:solidFill>
                <a:latin typeface="Lexend"/>
                <a:ea typeface="Lexend"/>
                <a:cs typeface="Lexend"/>
                <a:sym typeface="Lexend"/>
              </a:rPr>
              <a:t>- Đẩy tuyển dụng TX COD balance cao vào đội chuyển</a:t>
            </a:r>
            <a:r>
              <a:rPr lang="en" sz="800" b="1">
                <a:solidFill>
                  <a:schemeClr val="dk1"/>
                </a:solidFill>
                <a:latin typeface="Lexend"/>
                <a:ea typeface="Lexend"/>
                <a:cs typeface="Lexend"/>
                <a:sym typeface="Lexend"/>
              </a:rPr>
              <a:t> </a:t>
            </a:r>
            <a:br>
              <a:rPr lang="en" sz="800" b="1">
                <a:solidFill>
                  <a:schemeClr val="dk1"/>
                </a:solidFill>
                <a:latin typeface="Lexend"/>
                <a:ea typeface="Lexend"/>
                <a:cs typeface="Lexend"/>
                <a:sym typeface="Lexend"/>
              </a:rPr>
            </a:br>
            <a:endParaRPr sz="800">
              <a:solidFill>
                <a:schemeClr val="dk1"/>
              </a:solidFill>
              <a:latin typeface="Lexend"/>
              <a:ea typeface="Lexend"/>
              <a:cs typeface="Lexend"/>
              <a:sym typeface="Lexend"/>
            </a:endParaRPr>
          </a:p>
          <a:p>
            <a:pPr marL="0" lvl="0" indent="0" algn="l" rtl="0">
              <a:spcBef>
                <a:spcPts val="0"/>
              </a:spcBef>
              <a:spcAft>
                <a:spcPts val="0"/>
              </a:spcAft>
              <a:buNone/>
            </a:pPr>
            <a:endParaRPr sz="800">
              <a:solidFill>
                <a:schemeClr val="dk1"/>
              </a:solidFill>
              <a:latin typeface="Lexend"/>
              <a:ea typeface="Lexend"/>
              <a:cs typeface="Lexend"/>
              <a:sym typeface="Lexend"/>
            </a:endParaRPr>
          </a:p>
        </p:txBody>
      </p:sp>
      <p:pic>
        <p:nvPicPr>
          <p:cNvPr id="320" name="Google Shape;320;p42"/>
          <p:cNvPicPr preferRelativeResize="0"/>
          <p:nvPr/>
        </p:nvPicPr>
        <p:blipFill>
          <a:blip r:embed="rId4">
            <a:alphaModFix/>
          </a:blip>
          <a:stretch>
            <a:fillRect/>
          </a:stretch>
        </p:blipFill>
        <p:spPr>
          <a:xfrm>
            <a:off x="1740151" y="926486"/>
            <a:ext cx="4970963" cy="25650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24"/>
        <p:cNvGrpSpPr/>
        <p:nvPr/>
      </p:nvGrpSpPr>
      <p:grpSpPr>
        <a:xfrm>
          <a:off x="0" y="0"/>
          <a:ext cx="0" cy="0"/>
          <a:chOff x="0" y="0"/>
          <a:chExt cx="0" cy="0"/>
        </a:xfrm>
      </p:grpSpPr>
      <p:sp>
        <p:nvSpPr>
          <p:cNvPr id="325" name="Google Shape;325;p43"/>
          <p:cNvSpPr/>
          <p:nvPr/>
        </p:nvSpPr>
        <p:spPr>
          <a:xfrm>
            <a:off x="0" y="0"/>
            <a:ext cx="9144000" cy="73200"/>
          </a:xfrm>
          <a:prstGeom prst="rect">
            <a:avLst/>
          </a:prstGeom>
          <a:solidFill>
            <a:srgbClr val="FF7F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26" name="Google Shape;326;p43" descr="preencoded.png"/>
          <p:cNvPicPr preferRelativeResize="0"/>
          <p:nvPr/>
        </p:nvPicPr>
        <p:blipFill rotWithShape="1">
          <a:blip r:embed="rId3">
            <a:alphaModFix/>
          </a:blip>
          <a:srcRect/>
          <a:stretch/>
        </p:blipFill>
        <p:spPr>
          <a:xfrm>
            <a:off x="365760" y="274320"/>
            <a:ext cx="274320" cy="274320"/>
          </a:xfrm>
          <a:prstGeom prst="rect">
            <a:avLst/>
          </a:prstGeom>
          <a:noFill/>
          <a:ln>
            <a:noFill/>
          </a:ln>
        </p:spPr>
      </p:pic>
      <p:sp>
        <p:nvSpPr>
          <p:cNvPr id="327" name="Google Shape;327;p43"/>
          <p:cNvSpPr/>
          <p:nvPr/>
        </p:nvSpPr>
        <p:spPr>
          <a:xfrm>
            <a:off x="731520" y="201168"/>
            <a:ext cx="7315200" cy="4116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rgbClr val="0E4174"/>
              </a:buClr>
              <a:buSzPts val="2200"/>
              <a:buFont typeface="Calibri"/>
              <a:buNone/>
            </a:pPr>
            <a:r>
              <a:rPr lang="en" sz="2200" b="1">
                <a:solidFill>
                  <a:srgbClr val="0E4174"/>
                </a:solidFill>
                <a:latin typeface="Lexend"/>
                <a:ea typeface="Lexend"/>
                <a:cs typeface="Lexend"/>
                <a:sym typeface="Lexend"/>
              </a:rPr>
              <a:t>CORE 2H/BULKY</a:t>
            </a:r>
            <a:endParaRPr sz="2200" b="1">
              <a:solidFill>
                <a:srgbClr val="0E4174"/>
              </a:solidFill>
              <a:latin typeface="Lexend"/>
              <a:ea typeface="Lexend"/>
              <a:cs typeface="Lexend"/>
              <a:sym typeface="Lexend"/>
            </a:endParaRPr>
          </a:p>
        </p:txBody>
      </p:sp>
      <p:sp>
        <p:nvSpPr>
          <p:cNvPr id="328" name="Google Shape;328;p43"/>
          <p:cNvSpPr/>
          <p:nvPr/>
        </p:nvSpPr>
        <p:spPr>
          <a:xfrm>
            <a:off x="731520" y="594360"/>
            <a:ext cx="7315200" cy="274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1000"/>
              <a:buFont typeface="Calibri"/>
              <a:buNone/>
            </a:pPr>
            <a:r>
              <a:rPr lang="en" sz="1000" i="1">
                <a:solidFill>
                  <a:srgbClr val="64748B"/>
                </a:solidFill>
                <a:latin typeface="Lexend"/>
                <a:ea typeface="Lexend"/>
                <a:cs typeface="Lexend"/>
                <a:sym typeface="Lexend"/>
              </a:rPr>
              <a:t>Đội core chuyên chạy đơn 2H, 2H - Cỡ Lớn - </a:t>
            </a:r>
            <a:r>
              <a:rPr lang="en" sz="1000" i="1" u="sng">
                <a:solidFill>
                  <a:schemeClr val="hlink"/>
                </a:solidFill>
                <a:latin typeface="Lexend"/>
                <a:ea typeface="Lexend"/>
                <a:cs typeface="Lexend"/>
                <a:sym typeface="Lexend"/>
                <a:hlinkClick r:id="rId4"/>
              </a:rPr>
              <a:t>Plan Core 2H</a:t>
            </a:r>
            <a:endParaRPr sz="1000" i="1">
              <a:solidFill>
                <a:srgbClr val="64748B"/>
              </a:solidFill>
              <a:latin typeface="Lexend"/>
              <a:ea typeface="Lexend"/>
              <a:cs typeface="Lexend"/>
              <a:sym typeface="Lexend"/>
            </a:endParaRPr>
          </a:p>
        </p:txBody>
      </p:sp>
      <p:cxnSp>
        <p:nvCxnSpPr>
          <p:cNvPr id="329" name="Google Shape;329;p43"/>
          <p:cNvCxnSpPr/>
          <p:nvPr/>
        </p:nvCxnSpPr>
        <p:spPr>
          <a:xfrm>
            <a:off x="365760" y="868680"/>
            <a:ext cx="8412600" cy="0"/>
          </a:xfrm>
          <a:prstGeom prst="straightConnector1">
            <a:avLst/>
          </a:prstGeom>
          <a:noFill/>
          <a:ln w="9525" cap="flat" cmpd="sng">
            <a:solidFill>
              <a:srgbClr val="E2E8F0"/>
            </a:solidFill>
            <a:prstDash val="solid"/>
            <a:round/>
            <a:headEnd type="none" w="sm" len="sm"/>
            <a:tailEnd type="none" w="sm" len="sm"/>
          </a:ln>
        </p:spPr>
      </p:cxnSp>
      <p:sp>
        <p:nvSpPr>
          <p:cNvPr id="330" name="Google Shape;330;p43"/>
          <p:cNvSpPr/>
          <p:nvPr/>
        </p:nvSpPr>
        <p:spPr>
          <a:xfrm>
            <a:off x="50" y="3775225"/>
            <a:ext cx="4566300" cy="1352700"/>
          </a:xfrm>
          <a:prstGeom prst="rect">
            <a:avLst/>
          </a:prstGeom>
          <a:solidFill>
            <a:srgbClr val="D9D9D9"/>
          </a:solidFill>
          <a:ln w="9525" cap="flat" cmpd="sng">
            <a:solidFill>
              <a:srgbClr val="CCCCCC"/>
            </a:solidFill>
            <a:prstDash val="solid"/>
            <a:round/>
            <a:headEnd type="none" w="sm" len="sm"/>
            <a:tailEnd type="none" w="sm" len="sm"/>
          </a:ln>
        </p:spPr>
        <p:txBody>
          <a:bodyPr spcFirstLastPara="1" wrap="square" lIns="91425" tIns="91425" rIns="91425" bIns="91425" anchor="t" anchorCtr="0">
            <a:noAutofit/>
          </a:bodyPr>
          <a:lstStyle/>
          <a:p>
            <a:pPr marL="0" lvl="0" indent="0" algn="just" rtl="0">
              <a:lnSpc>
                <a:spcPct val="90000"/>
              </a:lnSpc>
              <a:spcBef>
                <a:spcPts val="0"/>
              </a:spcBef>
              <a:spcAft>
                <a:spcPts val="0"/>
              </a:spcAft>
              <a:buNone/>
            </a:pPr>
            <a:r>
              <a:rPr lang="en" sz="1000" b="1">
                <a:solidFill>
                  <a:srgbClr val="D12B2B"/>
                </a:solidFill>
              </a:rPr>
              <a:t>Action</a:t>
            </a:r>
            <a:endParaRPr sz="1000" b="1">
              <a:solidFill>
                <a:srgbClr val="D12B2B"/>
              </a:solidFill>
            </a:endParaRPr>
          </a:p>
          <a:p>
            <a:pPr marL="0" lvl="0" indent="0" algn="just" rtl="0">
              <a:lnSpc>
                <a:spcPct val="90000"/>
              </a:lnSpc>
              <a:spcBef>
                <a:spcPts val="400"/>
              </a:spcBef>
              <a:spcAft>
                <a:spcPts val="0"/>
              </a:spcAft>
              <a:buNone/>
            </a:pPr>
            <a:r>
              <a:rPr lang="en" sz="900">
                <a:solidFill>
                  <a:schemeClr val="dk1"/>
                </a:solidFill>
              </a:rPr>
              <a:t>- Phát hiện các tài khoản không chính chủ trong đội=&gt; Gửi list QM để rà soát và xử lý =&gt;</a:t>
            </a:r>
            <a:r>
              <a:rPr lang="en" sz="1100" b="1">
                <a:solidFill>
                  <a:srgbClr val="EA4335"/>
                </a:solidFill>
              </a:rPr>
              <a:t> 9</a:t>
            </a:r>
            <a:r>
              <a:rPr lang="en" sz="900">
                <a:solidFill>
                  <a:schemeClr val="dk1"/>
                </a:solidFill>
              </a:rPr>
              <a:t> tài xế ngưng hợp tác ( </a:t>
            </a:r>
            <a:r>
              <a:rPr lang="en" sz="900" b="1">
                <a:solidFill>
                  <a:srgbClr val="DC2626"/>
                </a:solidFill>
              </a:rPr>
              <a:t>7 </a:t>
            </a:r>
            <a:r>
              <a:rPr lang="en" sz="900">
                <a:solidFill>
                  <a:schemeClr val="dk1"/>
                </a:solidFill>
              </a:rPr>
              <a:t>case không đảm bảo hiệu suất)</a:t>
            </a:r>
            <a:endParaRPr sz="900">
              <a:solidFill>
                <a:schemeClr val="dk1"/>
              </a:solidFill>
            </a:endParaRPr>
          </a:p>
          <a:p>
            <a:pPr marL="0" lvl="0" indent="0" algn="just" rtl="0">
              <a:lnSpc>
                <a:spcPct val="90000"/>
              </a:lnSpc>
              <a:spcBef>
                <a:spcPts val="400"/>
              </a:spcBef>
              <a:spcAft>
                <a:spcPts val="0"/>
              </a:spcAft>
              <a:buNone/>
            </a:pPr>
            <a:r>
              <a:rPr lang="en" sz="900">
                <a:solidFill>
                  <a:schemeClr val="dk1"/>
                </a:solidFill>
              </a:rPr>
              <a:t>- Tiến hành tuyển mới để bổ sung tài xế xử lý C.P. Bổ sung thêm</a:t>
            </a:r>
            <a:r>
              <a:rPr lang="en" sz="900" b="1">
                <a:solidFill>
                  <a:schemeClr val="accent1"/>
                </a:solidFill>
              </a:rPr>
              <a:t> 5</a:t>
            </a:r>
            <a:r>
              <a:rPr lang="en" sz="900">
                <a:solidFill>
                  <a:schemeClr val="dk1"/>
                </a:solidFill>
              </a:rPr>
              <a:t> tài xế</a:t>
            </a:r>
            <a:endParaRPr sz="900">
              <a:solidFill>
                <a:schemeClr val="dk1"/>
              </a:solidFill>
            </a:endParaRPr>
          </a:p>
          <a:p>
            <a:pPr marL="0" lvl="0" indent="0" algn="just" rtl="0">
              <a:lnSpc>
                <a:spcPct val="90000"/>
              </a:lnSpc>
              <a:spcBef>
                <a:spcPts val="400"/>
              </a:spcBef>
              <a:spcAft>
                <a:spcPts val="0"/>
              </a:spcAft>
              <a:buNone/>
            </a:pPr>
            <a:r>
              <a:rPr lang="en" sz="900">
                <a:solidFill>
                  <a:schemeClr val="dk1"/>
                </a:solidFill>
              </a:rPr>
              <a:t>- Số lượng tài xế Active đã cải thiện tuy nhiên biến động không ổn định, các ngày chỉ duy trì được 50-70 tài xế hoạt động</a:t>
            </a:r>
            <a:endParaRPr sz="900">
              <a:solidFill>
                <a:schemeClr val="dk1"/>
              </a:solidFill>
            </a:endParaRPr>
          </a:p>
          <a:p>
            <a:pPr marL="0" lvl="0" indent="0" algn="just" rtl="0">
              <a:lnSpc>
                <a:spcPct val="90000"/>
              </a:lnSpc>
              <a:spcBef>
                <a:spcPts val="400"/>
              </a:spcBef>
              <a:spcAft>
                <a:spcPts val="0"/>
              </a:spcAft>
              <a:buNone/>
            </a:pPr>
            <a:r>
              <a:rPr lang="en" sz="900">
                <a:solidFill>
                  <a:schemeClr val="dk1"/>
                </a:solidFill>
              </a:rPr>
              <a:t>- Sau khi tiến hành nhắc nhở đội về việc đảm bảo lead-time đơn hàng số, lượng tài xế vi phạm đã giảm 1 nửa. </a:t>
            </a:r>
            <a:endParaRPr sz="1000">
              <a:solidFill>
                <a:schemeClr val="dk1"/>
              </a:solidFill>
            </a:endParaRPr>
          </a:p>
          <a:p>
            <a:pPr marL="0" lvl="0" indent="0" algn="just" rtl="0">
              <a:lnSpc>
                <a:spcPct val="90000"/>
              </a:lnSpc>
              <a:spcBef>
                <a:spcPts val="400"/>
              </a:spcBef>
              <a:spcAft>
                <a:spcPts val="0"/>
              </a:spcAft>
              <a:buNone/>
            </a:pPr>
            <a:endParaRPr sz="1000" b="1">
              <a:solidFill>
                <a:schemeClr val="dk1"/>
              </a:solidFill>
            </a:endParaRPr>
          </a:p>
          <a:p>
            <a:pPr marL="0" lvl="0" indent="0" algn="just" rtl="0">
              <a:lnSpc>
                <a:spcPct val="90000"/>
              </a:lnSpc>
              <a:spcBef>
                <a:spcPts val="400"/>
              </a:spcBef>
              <a:spcAft>
                <a:spcPts val="0"/>
              </a:spcAft>
              <a:buNone/>
            </a:pPr>
            <a:endParaRPr sz="1000" b="1">
              <a:solidFill>
                <a:srgbClr val="D12B2B"/>
              </a:solidFill>
            </a:endParaRPr>
          </a:p>
          <a:p>
            <a:pPr marL="0" lvl="0" indent="0" algn="just" rtl="0">
              <a:lnSpc>
                <a:spcPct val="90000"/>
              </a:lnSpc>
              <a:spcBef>
                <a:spcPts val="400"/>
              </a:spcBef>
              <a:spcAft>
                <a:spcPts val="400"/>
              </a:spcAft>
              <a:buClr>
                <a:schemeClr val="dk1"/>
              </a:buClr>
              <a:buSzPts val="1100"/>
              <a:buFont typeface="Arial"/>
              <a:buNone/>
            </a:pPr>
            <a:endParaRPr sz="1000" b="1">
              <a:solidFill>
                <a:srgbClr val="D12B2B"/>
              </a:solidFill>
            </a:endParaRPr>
          </a:p>
        </p:txBody>
      </p:sp>
      <p:sp>
        <p:nvSpPr>
          <p:cNvPr id="331" name="Google Shape;331;p43"/>
          <p:cNvSpPr/>
          <p:nvPr/>
        </p:nvSpPr>
        <p:spPr>
          <a:xfrm>
            <a:off x="4566350" y="3775525"/>
            <a:ext cx="4622400" cy="1352700"/>
          </a:xfrm>
          <a:prstGeom prst="rect">
            <a:avLst/>
          </a:prstGeom>
          <a:solidFill>
            <a:srgbClr val="D9D9D9"/>
          </a:solidFill>
          <a:ln w="9525" cap="flat" cmpd="sng">
            <a:solidFill>
              <a:srgbClr val="CCCCCC"/>
            </a:solidFill>
            <a:prstDash val="solid"/>
            <a:round/>
            <a:headEnd type="none" w="sm" len="sm"/>
            <a:tailEnd type="none" w="sm" len="sm"/>
          </a:ln>
        </p:spPr>
        <p:txBody>
          <a:bodyPr spcFirstLastPara="1" wrap="square" lIns="91425" tIns="91425" rIns="91425" bIns="91425" anchor="t" anchorCtr="0">
            <a:noAutofit/>
          </a:bodyPr>
          <a:lstStyle/>
          <a:p>
            <a:pPr marL="0" lvl="0" indent="0" algn="just" rtl="0">
              <a:lnSpc>
                <a:spcPct val="115000"/>
              </a:lnSpc>
              <a:spcBef>
                <a:spcPts val="0"/>
              </a:spcBef>
              <a:spcAft>
                <a:spcPts val="0"/>
              </a:spcAft>
              <a:buNone/>
            </a:pPr>
            <a:r>
              <a:rPr lang="en" sz="900" b="1">
                <a:solidFill>
                  <a:srgbClr val="073763"/>
                </a:solidFill>
              </a:rPr>
              <a:t>Issue/Next Action:</a:t>
            </a:r>
            <a:endParaRPr sz="900" b="1">
              <a:solidFill>
                <a:srgbClr val="073763"/>
              </a:solidFill>
            </a:endParaRPr>
          </a:p>
          <a:p>
            <a:pPr marL="0" lvl="0" indent="0" algn="just" rtl="0">
              <a:lnSpc>
                <a:spcPct val="115000"/>
              </a:lnSpc>
              <a:spcBef>
                <a:spcPts val="400"/>
              </a:spcBef>
              <a:spcAft>
                <a:spcPts val="0"/>
              </a:spcAft>
              <a:buNone/>
            </a:pPr>
            <a:r>
              <a:rPr lang="en" sz="800">
                <a:solidFill>
                  <a:schemeClr val="dk1"/>
                </a:solidFill>
              </a:rPr>
              <a:t>-</a:t>
            </a:r>
            <a:r>
              <a:rPr lang="en" sz="900">
                <a:solidFill>
                  <a:schemeClr val="dk1"/>
                </a:solidFill>
              </a:rPr>
              <a:t>Rà soát lại các tài xế lead-time 12h =&gt; Gửi QM tiến hành chế tài và yêu cầu rời khỏi đội.</a:t>
            </a:r>
            <a:br>
              <a:rPr lang="en" sz="900">
                <a:solidFill>
                  <a:schemeClr val="dk1"/>
                </a:solidFill>
              </a:rPr>
            </a:br>
            <a:r>
              <a:rPr lang="en" sz="900">
                <a:solidFill>
                  <a:schemeClr val="dk1"/>
                </a:solidFill>
              </a:rPr>
              <a:t>- Chặn lệnh bot gán đơn sau 18h </a:t>
            </a:r>
            <a:endParaRPr sz="800">
              <a:solidFill>
                <a:schemeClr val="dk1"/>
              </a:solidFill>
            </a:endParaRPr>
          </a:p>
          <a:p>
            <a:pPr marL="0" lvl="0" indent="0" algn="just" rtl="0">
              <a:lnSpc>
                <a:spcPct val="50000"/>
              </a:lnSpc>
              <a:spcBef>
                <a:spcPts val="400"/>
              </a:spcBef>
              <a:spcAft>
                <a:spcPts val="0"/>
              </a:spcAft>
              <a:buNone/>
            </a:pPr>
            <a:r>
              <a:rPr lang="en" sz="900">
                <a:solidFill>
                  <a:schemeClr val="dk1"/>
                </a:solidFill>
              </a:rPr>
              <a:t>- Tiếp tục rà soát và thúc đẩy hiệu suất đội</a:t>
            </a:r>
            <a:endParaRPr sz="900">
              <a:solidFill>
                <a:schemeClr val="dk1"/>
              </a:solidFill>
            </a:endParaRPr>
          </a:p>
          <a:p>
            <a:pPr marL="0" lvl="0" indent="0" algn="just" rtl="0">
              <a:lnSpc>
                <a:spcPct val="50000"/>
              </a:lnSpc>
              <a:spcBef>
                <a:spcPts val="400"/>
              </a:spcBef>
              <a:spcAft>
                <a:spcPts val="0"/>
              </a:spcAft>
              <a:buNone/>
            </a:pPr>
            <a:endParaRPr sz="900" b="1">
              <a:solidFill>
                <a:srgbClr val="D12B2B"/>
              </a:solidFill>
            </a:endParaRPr>
          </a:p>
          <a:p>
            <a:pPr marL="0" lvl="0" indent="0" algn="just" rtl="0">
              <a:lnSpc>
                <a:spcPct val="50000"/>
              </a:lnSpc>
              <a:spcBef>
                <a:spcPts val="400"/>
              </a:spcBef>
              <a:spcAft>
                <a:spcPts val="0"/>
              </a:spcAft>
              <a:buNone/>
            </a:pPr>
            <a:endParaRPr sz="900" b="1">
              <a:solidFill>
                <a:srgbClr val="D12B2B"/>
              </a:solidFill>
            </a:endParaRPr>
          </a:p>
          <a:p>
            <a:pPr marL="0" lvl="0" indent="0" algn="just" rtl="0">
              <a:lnSpc>
                <a:spcPct val="50000"/>
              </a:lnSpc>
              <a:spcBef>
                <a:spcPts val="400"/>
              </a:spcBef>
              <a:spcAft>
                <a:spcPts val="0"/>
              </a:spcAft>
              <a:buNone/>
            </a:pPr>
            <a:endParaRPr sz="900" b="1">
              <a:solidFill>
                <a:srgbClr val="D12B2B"/>
              </a:solidFill>
            </a:endParaRPr>
          </a:p>
          <a:p>
            <a:pPr marL="0" lvl="0" indent="0" algn="just" rtl="0">
              <a:lnSpc>
                <a:spcPct val="50000"/>
              </a:lnSpc>
              <a:spcBef>
                <a:spcPts val="400"/>
              </a:spcBef>
              <a:spcAft>
                <a:spcPts val="400"/>
              </a:spcAft>
              <a:buClr>
                <a:schemeClr val="dk1"/>
              </a:buClr>
              <a:buSzPts val="1100"/>
              <a:buFont typeface="Arial"/>
              <a:buNone/>
            </a:pPr>
            <a:endParaRPr sz="900" b="1">
              <a:solidFill>
                <a:srgbClr val="D12B2B"/>
              </a:solidFill>
            </a:endParaRPr>
          </a:p>
        </p:txBody>
      </p:sp>
      <p:sp>
        <p:nvSpPr>
          <p:cNvPr id="332" name="Google Shape;332;p43"/>
          <p:cNvSpPr/>
          <p:nvPr/>
        </p:nvSpPr>
        <p:spPr>
          <a:xfrm>
            <a:off x="324840" y="835185"/>
            <a:ext cx="2817000" cy="2559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E4174"/>
              </a:buClr>
              <a:buSzPts val="1100"/>
              <a:buFont typeface="Calibri"/>
              <a:buNone/>
            </a:pPr>
            <a:r>
              <a:rPr lang="en" sz="1200" b="1">
                <a:solidFill>
                  <a:srgbClr val="0E4174"/>
                </a:solidFill>
                <a:latin typeface="Lexend"/>
                <a:ea typeface="Lexend"/>
                <a:cs typeface="Lexend"/>
                <a:sym typeface="Lexend"/>
              </a:rPr>
              <a:t>Tình hình nhân sự của đội</a:t>
            </a:r>
            <a:endParaRPr sz="1200" b="1" i="0" u="none" strike="noStrike" cap="none">
              <a:solidFill>
                <a:schemeClr val="dk1"/>
              </a:solidFill>
              <a:latin typeface="Lexend"/>
              <a:ea typeface="Lexend"/>
              <a:cs typeface="Lexend"/>
              <a:sym typeface="Lexend"/>
            </a:endParaRPr>
          </a:p>
        </p:txBody>
      </p:sp>
      <p:sp>
        <p:nvSpPr>
          <p:cNvPr id="333" name="Google Shape;333;p43"/>
          <p:cNvSpPr/>
          <p:nvPr/>
        </p:nvSpPr>
        <p:spPr>
          <a:xfrm>
            <a:off x="4566340" y="868678"/>
            <a:ext cx="2817000" cy="2559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E4174"/>
              </a:buClr>
              <a:buSzPts val="1100"/>
              <a:buFont typeface="Calibri"/>
              <a:buNone/>
            </a:pPr>
            <a:r>
              <a:rPr lang="en" sz="1200" b="1">
                <a:solidFill>
                  <a:srgbClr val="0E4174"/>
                </a:solidFill>
                <a:latin typeface="Lexend"/>
                <a:ea typeface="Lexend"/>
                <a:cs typeface="Lexend"/>
                <a:sym typeface="Lexend"/>
              </a:rPr>
              <a:t>Hiệu suất của đội</a:t>
            </a:r>
            <a:endParaRPr sz="1200" b="1" i="0" u="none" strike="noStrike" cap="none">
              <a:solidFill>
                <a:schemeClr val="dk1"/>
              </a:solidFill>
              <a:latin typeface="Lexend"/>
              <a:ea typeface="Lexend"/>
              <a:cs typeface="Lexend"/>
              <a:sym typeface="Lexend"/>
            </a:endParaRPr>
          </a:p>
        </p:txBody>
      </p:sp>
      <p:pic>
        <p:nvPicPr>
          <p:cNvPr id="334" name="Google Shape;334;p43" title="Chart"/>
          <p:cNvPicPr preferRelativeResize="0"/>
          <p:nvPr/>
        </p:nvPicPr>
        <p:blipFill>
          <a:blip r:embed="rId5">
            <a:alphaModFix/>
          </a:blip>
          <a:stretch>
            <a:fillRect/>
          </a:stretch>
        </p:blipFill>
        <p:spPr>
          <a:xfrm>
            <a:off x="4566350" y="1066050"/>
            <a:ext cx="2426126" cy="2709176"/>
          </a:xfrm>
          <a:prstGeom prst="rect">
            <a:avLst/>
          </a:prstGeom>
          <a:noFill/>
          <a:ln>
            <a:noFill/>
          </a:ln>
        </p:spPr>
      </p:pic>
      <p:pic>
        <p:nvPicPr>
          <p:cNvPr id="335" name="Google Shape;335;p43" title="Chart"/>
          <p:cNvPicPr preferRelativeResize="0"/>
          <p:nvPr/>
        </p:nvPicPr>
        <p:blipFill>
          <a:blip r:embed="rId6">
            <a:alphaModFix/>
          </a:blip>
          <a:stretch>
            <a:fillRect/>
          </a:stretch>
        </p:blipFill>
        <p:spPr>
          <a:xfrm>
            <a:off x="6572250" y="1122150"/>
            <a:ext cx="2479301" cy="2653074"/>
          </a:xfrm>
          <a:prstGeom prst="rect">
            <a:avLst/>
          </a:prstGeom>
          <a:noFill/>
          <a:ln>
            <a:noFill/>
          </a:ln>
        </p:spPr>
      </p:pic>
      <p:graphicFrame>
        <p:nvGraphicFramePr>
          <p:cNvPr id="336" name="Google Shape;336;p43"/>
          <p:cNvGraphicFramePr/>
          <p:nvPr/>
        </p:nvGraphicFramePr>
        <p:xfrm>
          <a:off x="513800" y="1217775"/>
          <a:ext cx="3000000" cy="3000000"/>
        </p:xfrm>
        <a:graphic>
          <a:graphicData uri="http://schemas.openxmlformats.org/drawingml/2006/table">
            <a:tbl>
              <a:tblPr>
                <a:noFill/>
                <a:tableStyleId>{BD4DB973-2F49-4540-A1CC-0EE3EA8BBFB3}</a:tableStyleId>
              </a:tblPr>
              <a:tblGrid>
                <a:gridCol w="447675">
                  <a:extLst>
                    <a:ext uri="{9D8B030D-6E8A-4147-A177-3AD203B41FA5}">
                      <a16:colId xmlns:a16="http://schemas.microsoft.com/office/drawing/2014/main" val="20000"/>
                    </a:ext>
                  </a:extLst>
                </a:gridCol>
                <a:gridCol w="790575">
                  <a:extLst>
                    <a:ext uri="{9D8B030D-6E8A-4147-A177-3AD203B41FA5}">
                      <a16:colId xmlns:a16="http://schemas.microsoft.com/office/drawing/2014/main" val="20001"/>
                    </a:ext>
                  </a:extLst>
                </a:gridCol>
                <a:gridCol w="790575">
                  <a:extLst>
                    <a:ext uri="{9D8B030D-6E8A-4147-A177-3AD203B41FA5}">
                      <a16:colId xmlns:a16="http://schemas.microsoft.com/office/drawing/2014/main" val="20002"/>
                    </a:ext>
                  </a:extLst>
                </a:gridCol>
                <a:gridCol w="790575">
                  <a:extLst>
                    <a:ext uri="{9D8B030D-6E8A-4147-A177-3AD203B41FA5}">
                      <a16:colId xmlns:a16="http://schemas.microsoft.com/office/drawing/2014/main" val="20003"/>
                    </a:ext>
                  </a:extLst>
                </a:gridCol>
                <a:gridCol w="857250">
                  <a:extLst>
                    <a:ext uri="{9D8B030D-6E8A-4147-A177-3AD203B41FA5}">
                      <a16:colId xmlns:a16="http://schemas.microsoft.com/office/drawing/2014/main" val="20004"/>
                    </a:ext>
                  </a:extLst>
                </a:gridCol>
              </a:tblGrid>
              <a:tr h="257175">
                <a:tc gridSpan="4">
                  <a:txBody>
                    <a:bodyPr/>
                    <a:lstStyle/>
                    <a:p>
                      <a:pPr marL="0" lvl="0" indent="0" algn="l" rtl="0">
                        <a:lnSpc>
                          <a:spcPct val="115000"/>
                        </a:lnSpc>
                        <a:spcBef>
                          <a:spcPts val="0"/>
                        </a:spcBef>
                        <a:spcAft>
                          <a:spcPts val="0"/>
                        </a:spcAft>
                        <a:buNone/>
                      </a:pPr>
                      <a:r>
                        <a:rPr lang="en" b="1" i="1">
                          <a:solidFill>
                            <a:srgbClr val="FF0000"/>
                          </a:solidFill>
                        </a:rPr>
                        <a:t>Thành viên trong đội</a:t>
                      </a:r>
                      <a:endParaRPr b="1" i="1">
                        <a:solidFill>
                          <a:srgbClr val="FF0000"/>
                        </a:solidFill>
                      </a:endParaRPr>
                    </a:p>
                  </a:txBody>
                  <a:tcPr marL="28575" marR="28575" marT="19050" marB="19050" anchor="b">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tcPr>
                </a:tc>
                <a:tc hMerge="1">
                  <a:txBody>
                    <a:bodyPr/>
                    <a:lstStyle/>
                    <a:p>
                      <a:endParaRPr lang="en-VN"/>
                    </a:p>
                  </a:txBody>
                  <a:tcPr/>
                </a:tc>
                <a:tc hMerge="1">
                  <a:txBody>
                    <a:bodyPr/>
                    <a:lstStyle/>
                    <a:p>
                      <a:endParaRPr lang="en-VN"/>
                    </a:p>
                  </a:txBody>
                  <a:tcPr/>
                </a:tc>
                <a:tc hMerge="1">
                  <a:txBody>
                    <a:bodyPr/>
                    <a:lstStyle/>
                    <a:p>
                      <a:endParaRPr lang="en-VN"/>
                    </a:p>
                  </a:txBody>
                  <a:tcPr/>
                </a:tc>
                <a:tc>
                  <a:txBody>
                    <a:bodyPr/>
                    <a:lstStyle/>
                    <a:p>
                      <a:pPr marL="0" lvl="0" indent="0" algn="l" rtl="0">
                        <a:spcBef>
                          <a:spcPts val="0"/>
                        </a:spcBef>
                        <a:spcAft>
                          <a:spcPts val="0"/>
                        </a:spcAft>
                        <a:buNone/>
                      </a:pPr>
                      <a:endParaRPr/>
                    </a:p>
                  </a:txBody>
                  <a:tcPr marL="28575" marR="28575" marT="19050" marB="19050" anchor="b">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tcPr>
                </a:tc>
                <a:extLst>
                  <a:ext uri="{0D108BD9-81ED-4DB2-BD59-A6C34878D82A}">
                    <a16:rowId xmlns:a16="http://schemas.microsoft.com/office/drawing/2014/main" val="10000"/>
                  </a:ext>
                </a:extLst>
              </a:tr>
              <a:tr h="333375">
                <a:tc>
                  <a:txBody>
                    <a:bodyPr/>
                    <a:lstStyle/>
                    <a:p>
                      <a:pPr marL="0" lvl="0" indent="0" algn="l" rtl="0">
                        <a:spcBef>
                          <a:spcPts val="0"/>
                        </a:spcBef>
                        <a:spcAft>
                          <a:spcPts val="0"/>
                        </a:spcAft>
                        <a:buNone/>
                      </a:pPr>
                      <a:endParaRPr/>
                    </a:p>
                  </a:txBody>
                  <a:tcPr marL="28575" marR="28575" marT="19050" marB="19050" anchor="b">
                    <a:lnL w="9525" cap="flat" cmpd="sng">
                      <a:solidFill>
                        <a:srgbClr val="FFFFFF"/>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solidFill>
                            <a:srgbClr val="FFFFFF"/>
                          </a:solidFill>
                        </a:rPr>
                        <a:t>Số lượng hiện tại</a:t>
                      </a:r>
                      <a:endParaRPr sz="1000">
                        <a:solidFill>
                          <a:srgbClr val="FFFFFF"/>
                        </a:solidFill>
                      </a:endParaRPr>
                    </a:p>
                  </a:txBody>
                  <a:tcPr marL="28575" marR="28575" marT="19050" marB="1905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000000"/>
                      </a:solidFill>
                      <a:prstDash val="solid"/>
                      <a:round/>
                      <a:headEnd type="none" w="sm" len="sm"/>
                      <a:tailEnd type="none" w="sm" len="sm"/>
                    </a:lnB>
                    <a:solidFill>
                      <a:srgbClr val="0C343D"/>
                    </a:solidFill>
                  </a:tcPr>
                </a:tc>
                <a:tc>
                  <a:txBody>
                    <a:bodyPr/>
                    <a:lstStyle/>
                    <a:p>
                      <a:pPr marL="0" lvl="0" indent="0" algn="ctr" rtl="0">
                        <a:lnSpc>
                          <a:spcPct val="115000"/>
                        </a:lnSpc>
                        <a:spcBef>
                          <a:spcPts val="0"/>
                        </a:spcBef>
                        <a:spcAft>
                          <a:spcPts val="0"/>
                        </a:spcAft>
                        <a:buNone/>
                      </a:pPr>
                      <a:r>
                        <a:rPr lang="en" sz="1000">
                          <a:solidFill>
                            <a:srgbClr val="FFFFFF"/>
                          </a:solidFill>
                        </a:rPr>
                        <a:t>Số lượng bổ sung</a:t>
                      </a:r>
                      <a:endParaRPr sz="1000">
                        <a:solidFill>
                          <a:srgbClr val="FFFFFF"/>
                        </a:solidFill>
                      </a:endParaRPr>
                    </a:p>
                  </a:txBody>
                  <a:tcPr marL="28575" marR="28575" marT="19050" marB="1905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000000"/>
                      </a:solidFill>
                      <a:prstDash val="solid"/>
                      <a:round/>
                      <a:headEnd type="none" w="sm" len="sm"/>
                      <a:tailEnd type="none" w="sm" len="sm"/>
                    </a:lnB>
                    <a:solidFill>
                      <a:srgbClr val="0C343D"/>
                    </a:solidFill>
                  </a:tcPr>
                </a:tc>
                <a:tc>
                  <a:txBody>
                    <a:bodyPr/>
                    <a:lstStyle/>
                    <a:p>
                      <a:pPr marL="0" lvl="0" indent="0" algn="ctr" rtl="0">
                        <a:lnSpc>
                          <a:spcPct val="115000"/>
                        </a:lnSpc>
                        <a:spcBef>
                          <a:spcPts val="0"/>
                        </a:spcBef>
                        <a:spcAft>
                          <a:spcPts val="0"/>
                        </a:spcAft>
                        <a:buNone/>
                      </a:pPr>
                      <a:r>
                        <a:rPr lang="en" sz="1000">
                          <a:solidFill>
                            <a:srgbClr val="FFFFFF"/>
                          </a:solidFill>
                        </a:rPr>
                        <a:t>Số lượng rời đội</a:t>
                      </a:r>
                      <a:endParaRPr sz="1000">
                        <a:solidFill>
                          <a:srgbClr val="FFFFFF"/>
                        </a:solidFill>
                      </a:endParaRPr>
                    </a:p>
                  </a:txBody>
                  <a:tcPr marL="28575" marR="28575" marT="19050" marB="1905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000000"/>
                      </a:solidFill>
                      <a:prstDash val="solid"/>
                      <a:round/>
                      <a:headEnd type="none" w="sm" len="sm"/>
                      <a:tailEnd type="none" w="sm" len="sm"/>
                    </a:lnB>
                    <a:solidFill>
                      <a:srgbClr val="0C343D"/>
                    </a:solidFill>
                  </a:tcPr>
                </a:tc>
                <a:tc>
                  <a:txBody>
                    <a:bodyPr/>
                    <a:lstStyle/>
                    <a:p>
                      <a:pPr marL="0" lvl="0" indent="0" algn="l" rtl="0">
                        <a:spcBef>
                          <a:spcPts val="0"/>
                        </a:spcBef>
                        <a:spcAft>
                          <a:spcPts val="0"/>
                        </a:spcAft>
                        <a:buNone/>
                      </a:pPr>
                      <a:endParaRPr/>
                    </a:p>
                  </a:txBody>
                  <a:tcPr marL="28575" marR="28575" marT="19050" marB="19050" anchor="b">
                    <a:lnL w="9525" cap="flat" cmpd="sng">
                      <a:solidFill>
                        <a:srgbClr val="000000"/>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tcPr>
                </a:tc>
                <a:extLst>
                  <a:ext uri="{0D108BD9-81ED-4DB2-BD59-A6C34878D82A}">
                    <a16:rowId xmlns:a16="http://schemas.microsoft.com/office/drawing/2014/main" val="10001"/>
                  </a:ext>
                </a:extLst>
              </a:tr>
              <a:tr h="200025">
                <a:tc>
                  <a:txBody>
                    <a:bodyPr/>
                    <a:lstStyle/>
                    <a:p>
                      <a:pPr marL="0" lvl="0" indent="0" algn="l" rtl="0">
                        <a:spcBef>
                          <a:spcPts val="0"/>
                        </a:spcBef>
                        <a:spcAft>
                          <a:spcPts val="0"/>
                        </a:spcAft>
                        <a:buNone/>
                      </a:pPr>
                      <a:endParaRPr/>
                    </a:p>
                  </a:txBody>
                  <a:tcPr marL="28575" marR="28575" marT="19050" marB="19050" anchor="b">
                    <a:lnL w="9525" cap="flat" cmpd="sng">
                      <a:solidFill>
                        <a:srgbClr val="FFFFFF"/>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80</a:t>
                      </a:r>
                      <a:endParaRPr sz="1000"/>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5</a:t>
                      </a:r>
                      <a:endParaRPr sz="1000"/>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9</a:t>
                      </a:r>
                      <a:endParaRPr sz="1000"/>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9525" cap="flat" cmpd="sng">
                      <a:solidFill>
                        <a:srgbClr val="000000"/>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tcPr>
                </a:tc>
                <a:extLst>
                  <a:ext uri="{0D108BD9-81ED-4DB2-BD59-A6C34878D82A}">
                    <a16:rowId xmlns:a16="http://schemas.microsoft.com/office/drawing/2014/main" val="10002"/>
                  </a:ext>
                </a:extLst>
              </a:tr>
              <a:tr h="257175">
                <a:tc gridSpan="5">
                  <a:txBody>
                    <a:bodyPr/>
                    <a:lstStyle/>
                    <a:p>
                      <a:pPr marL="0" lvl="0" indent="0" algn="l" rtl="0">
                        <a:lnSpc>
                          <a:spcPct val="115000"/>
                        </a:lnSpc>
                        <a:spcBef>
                          <a:spcPts val="0"/>
                        </a:spcBef>
                        <a:spcAft>
                          <a:spcPts val="0"/>
                        </a:spcAft>
                        <a:buNone/>
                      </a:pPr>
                      <a:r>
                        <a:rPr lang="en" b="1" i="1">
                          <a:solidFill>
                            <a:srgbClr val="FF0000"/>
                          </a:solidFill>
                        </a:rPr>
                        <a:t>Highlight</a:t>
                      </a:r>
                      <a:endParaRPr b="1" i="1">
                        <a:solidFill>
                          <a:srgbClr val="FF0000"/>
                        </a:solidFill>
                      </a:endParaRPr>
                    </a:p>
                  </a:txBody>
                  <a:tcPr marL="28575" marR="28575" marT="19050" marB="19050" anchor="b">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tcPr>
                </a:tc>
                <a:tc hMerge="1">
                  <a:txBody>
                    <a:bodyPr/>
                    <a:lstStyle/>
                    <a:p>
                      <a:endParaRPr lang="en-VN"/>
                    </a:p>
                  </a:txBody>
                  <a:tcPr/>
                </a:tc>
                <a:tc hMerge="1">
                  <a:txBody>
                    <a:bodyPr/>
                    <a:lstStyle/>
                    <a:p>
                      <a:endParaRPr lang="en-VN"/>
                    </a:p>
                  </a:txBody>
                  <a:tcPr/>
                </a:tc>
                <a:tc hMerge="1">
                  <a:txBody>
                    <a:bodyPr/>
                    <a:lstStyle/>
                    <a:p>
                      <a:endParaRPr lang="en-VN"/>
                    </a:p>
                  </a:txBody>
                  <a:tcPr/>
                </a:tc>
                <a:tc hMerge="1">
                  <a:txBody>
                    <a:bodyPr/>
                    <a:lstStyle/>
                    <a:p>
                      <a:endParaRPr lang="en-VN"/>
                    </a:p>
                  </a:txBody>
                  <a:tcPr/>
                </a:tc>
                <a:extLst>
                  <a:ext uri="{0D108BD9-81ED-4DB2-BD59-A6C34878D82A}">
                    <a16:rowId xmlns:a16="http://schemas.microsoft.com/office/drawing/2014/main" val="10003"/>
                  </a:ext>
                </a:extLst>
              </a:tr>
              <a:tr h="619125">
                <a:tc>
                  <a:txBody>
                    <a:bodyPr/>
                    <a:lstStyle/>
                    <a:p>
                      <a:pPr marL="0" lvl="0" indent="0" algn="l" rtl="0">
                        <a:spcBef>
                          <a:spcPts val="0"/>
                        </a:spcBef>
                        <a:spcAft>
                          <a:spcPts val="0"/>
                        </a:spcAft>
                        <a:buNone/>
                      </a:pPr>
                      <a:endParaRPr/>
                    </a:p>
                  </a:txBody>
                  <a:tcPr marL="28575" marR="28575" marT="19050" marB="19050" anchor="b">
                    <a:lnL w="9525" cap="flat" cmpd="sng">
                      <a:solidFill>
                        <a:srgbClr val="FFFFFF"/>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b="1"/>
                        <a:t>Active</a:t>
                      </a:r>
                      <a:endParaRPr sz="1000" b="1"/>
                    </a:p>
                  </a:txBody>
                  <a:tcPr marL="28575" marR="28575" marT="19050" marB="1905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000000"/>
                      </a:solidFill>
                      <a:prstDash val="solid"/>
                      <a:round/>
                      <a:headEnd type="none" w="sm" len="sm"/>
                      <a:tailEnd type="none" w="sm" len="sm"/>
                    </a:lnB>
                    <a:solidFill>
                      <a:srgbClr val="F4CCCC"/>
                    </a:solidFill>
                  </a:tcPr>
                </a:tc>
                <a:tc>
                  <a:txBody>
                    <a:bodyPr/>
                    <a:lstStyle/>
                    <a:p>
                      <a:pPr marL="0" lvl="0" indent="0" algn="ctr" rtl="0">
                        <a:lnSpc>
                          <a:spcPct val="115000"/>
                        </a:lnSpc>
                        <a:spcBef>
                          <a:spcPts val="0"/>
                        </a:spcBef>
                        <a:spcAft>
                          <a:spcPts val="0"/>
                        </a:spcAft>
                        <a:buNone/>
                      </a:pPr>
                      <a:r>
                        <a:rPr lang="en" sz="1000" b="1"/>
                        <a:t>Số tài khoản Lead-time&gt; 4H</a:t>
                      </a:r>
                      <a:endParaRPr sz="1000" b="1"/>
                    </a:p>
                  </a:txBody>
                  <a:tcPr marL="28575" marR="28575" marT="19050" marB="1905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000000"/>
                      </a:solidFill>
                      <a:prstDash val="solid"/>
                      <a:round/>
                      <a:headEnd type="none" w="sm" len="sm"/>
                      <a:tailEnd type="none" w="sm" len="sm"/>
                    </a:lnB>
                    <a:solidFill>
                      <a:srgbClr val="F4CCCC"/>
                    </a:solidFill>
                  </a:tcPr>
                </a:tc>
                <a:tc>
                  <a:txBody>
                    <a:bodyPr/>
                    <a:lstStyle/>
                    <a:p>
                      <a:pPr marL="0" lvl="0" indent="0" algn="ctr" rtl="0">
                        <a:lnSpc>
                          <a:spcPct val="115000"/>
                        </a:lnSpc>
                        <a:spcBef>
                          <a:spcPts val="0"/>
                        </a:spcBef>
                        <a:spcAft>
                          <a:spcPts val="0"/>
                        </a:spcAft>
                        <a:buNone/>
                      </a:pPr>
                      <a:r>
                        <a:rPr lang="en" sz="1000" b="1"/>
                        <a:t>Số tài khoản Lead-time &gt; 12H</a:t>
                      </a:r>
                      <a:endParaRPr sz="1000" b="1"/>
                    </a:p>
                  </a:txBody>
                  <a:tcPr marL="28575" marR="28575" marT="19050" marB="1905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000000"/>
                      </a:solidFill>
                      <a:prstDash val="solid"/>
                      <a:round/>
                      <a:headEnd type="none" w="sm" len="sm"/>
                      <a:tailEnd type="none" w="sm" len="sm"/>
                    </a:lnB>
                    <a:solidFill>
                      <a:srgbClr val="F4CCCC"/>
                    </a:solidFill>
                  </a:tcPr>
                </a:tc>
                <a:tc>
                  <a:txBody>
                    <a:bodyPr/>
                    <a:lstStyle/>
                    <a:p>
                      <a:pPr marL="0" lvl="0" indent="0" algn="ctr" rtl="0">
                        <a:lnSpc>
                          <a:spcPct val="115000"/>
                        </a:lnSpc>
                        <a:spcBef>
                          <a:spcPts val="0"/>
                        </a:spcBef>
                        <a:spcAft>
                          <a:spcPts val="0"/>
                        </a:spcAft>
                        <a:buNone/>
                      </a:pPr>
                      <a:r>
                        <a:rPr lang="en" sz="1000" b="1"/>
                        <a:t>% Số thành viên COD_Bal &lt;3M</a:t>
                      </a:r>
                      <a:endParaRPr sz="1000" b="1"/>
                    </a:p>
                  </a:txBody>
                  <a:tcPr marL="28575" marR="28575" marT="19050" marB="1905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4CCCC"/>
                    </a:solidFill>
                  </a:tcPr>
                </a:tc>
                <a:extLst>
                  <a:ext uri="{0D108BD9-81ED-4DB2-BD59-A6C34878D82A}">
                    <a16:rowId xmlns:a16="http://schemas.microsoft.com/office/drawing/2014/main" val="10004"/>
                  </a:ext>
                </a:extLst>
              </a:tr>
              <a:tr h="200025">
                <a:tc>
                  <a:txBody>
                    <a:bodyPr/>
                    <a:lstStyle/>
                    <a:p>
                      <a:pPr marL="0" lvl="0" indent="0" algn="l" rtl="0">
                        <a:spcBef>
                          <a:spcPts val="0"/>
                        </a:spcBef>
                        <a:spcAft>
                          <a:spcPts val="0"/>
                        </a:spcAft>
                        <a:buNone/>
                      </a:pPr>
                      <a:endParaRPr/>
                    </a:p>
                  </a:txBody>
                  <a:tcPr marL="28575" marR="28575" marT="19050" marB="19050" anchor="b">
                    <a:lnL w="9525" cap="flat" cmpd="sng">
                      <a:solidFill>
                        <a:srgbClr val="FFFFFF"/>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77</a:t>
                      </a:r>
                      <a:endParaRPr sz="1000"/>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13</a:t>
                      </a:r>
                      <a:endParaRPr sz="1000"/>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7</a:t>
                      </a:r>
                      <a:endParaRPr sz="1000"/>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t>26</a:t>
                      </a:r>
                      <a:endParaRPr sz="1000"/>
                    </a:p>
                  </a:txBody>
                  <a:tcPr marL="28575" marR="2857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5"/>
                  </a:ext>
                </a:extLst>
              </a:tr>
              <a:tr h="200025">
                <a:tc>
                  <a:txBody>
                    <a:bodyPr/>
                    <a:lstStyle/>
                    <a:p>
                      <a:pPr marL="0" lvl="0" indent="0" algn="l" rtl="0">
                        <a:spcBef>
                          <a:spcPts val="0"/>
                        </a:spcBef>
                        <a:spcAft>
                          <a:spcPts val="0"/>
                        </a:spcAft>
                        <a:buNone/>
                      </a:pPr>
                      <a:endParaRPr/>
                    </a:p>
                  </a:txBody>
                  <a:tcPr marL="28575" marR="28575" marT="19050" marB="19050" anchor="b">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solidFill>
                            <a:srgbClr val="FF0000"/>
                          </a:solidFill>
                        </a:rPr>
                        <a:t>96%</a:t>
                      </a:r>
                      <a:endParaRPr sz="1000">
                        <a:solidFill>
                          <a:srgbClr val="FF0000"/>
                        </a:solidFill>
                      </a:endParaRPr>
                    </a:p>
                  </a:txBody>
                  <a:tcPr marL="28575" marR="28575" marT="19050" marB="19050" anchor="b">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FFFFFF"/>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solidFill>
                            <a:srgbClr val="FF0000"/>
                          </a:solidFill>
                        </a:rPr>
                        <a:t>16%</a:t>
                      </a:r>
                      <a:endParaRPr sz="1000">
                        <a:solidFill>
                          <a:srgbClr val="FF0000"/>
                        </a:solidFill>
                      </a:endParaRPr>
                    </a:p>
                  </a:txBody>
                  <a:tcPr marL="28575" marR="28575" marT="19050" marB="19050" anchor="b">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FFFFFF"/>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solidFill>
                            <a:srgbClr val="FF0000"/>
                          </a:solidFill>
                        </a:rPr>
                        <a:t>9%</a:t>
                      </a:r>
                      <a:endParaRPr sz="1000">
                        <a:solidFill>
                          <a:srgbClr val="FF0000"/>
                        </a:solidFill>
                      </a:endParaRPr>
                    </a:p>
                  </a:txBody>
                  <a:tcPr marL="28575" marR="28575" marT="19050" marB="19050" anchor="b">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FFFFFF"/>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solidFill>
                            <a:srgbClr val="FF0000"/>
                          </a:solidFill>
                        </a:rPr>
                        <a:t>33%</a:t>
                      </a:r>
                      <a:endParaRPr sz="1000">
                        <a:solidFill>
                          <a:srgbClr val="FF0000"/>
                        </a:solidFill>
                      </a:endParaRPr>
                    </a:p>
                  </a:txBody>
                  <a:tcPr marL="28575" marR="28575" marT="19050" marB="19050" anchor="b">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FFFFFF"/>
                      </a:solidFill>
                      <a:prstDash val="solid"/>
                      <a:round/>
                      <a:headEnd type="none" w="sm" len="sm"/>
                      <a:tailEnd type="none" w="sm" len="sm"/>
                    </a:lnB>
                  </a:tcPr>
                </a:tc>
                <a:extLst>
                  <a:ext uri="{0D108BD9-81ED-4DB2-BD59-A6C34878D82A}">
                    <a16:rowId xmlns:a16="http://schemas.microsoft.com/office/drawing/2014/main" val="10006"/>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sp>
        <p:nvSpPr>
          <p:cNvPr id="341" name="Google Shape;341;p44"/>
          <p:cNvSpPr/>
          <p:nvPr/>
        </p:nvSpPr>
        <p:spPr>
          <a:xfrm>
            <a:off x="0" y="0"/>
            <a:ext cx="9144000" cy="73200"/>
          </a:xfrm>
          <a:prstGeom prst="rect">
            <a:avLst/>
          </a:prstGeom>
          <a:solidFill>
            <a:srgbClr val="FF7F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42" name="Google Shape;342;p44" descr="preencoded.png"/>
          <p:cNvPicPr preferRelativeResize="0"/>
          <p:nvPr/>
        </p:nvPicPr>
        <p:blipFill rotWithShape="1">
          <a:blip r:embed="rId3">
            <a:alphaModFix/>
          </a:blip>
          <a:srcRect/>
          <a:stretch/>
        </p:blipFill>
        <p:spPr>
          <a:xfrm>
            <a:off x="365760" y="274320"/>
            <a:ext cx="274320" cy="274320"/>
          </a:xfrm>
          <a:prstGeom prst="rect">
            <a:avLst/>
          </a:prstGeom>
          <a:noFill/>
          <a:ln>
            <a:noFill/>
          </a:ln>
        </p:spPr>
      </p:pic>
      <p:sp>
        <p:nvSpPr>
          <p:cNvPr id="343" name="Google Shape;343;p44"/>
          <p:cNvSpPr/>
          <p:nvPr/>
        </p:nvSpPr>
        <p:spPr>
          <a:xfrm>
            <a:off x="731520" y="201168"/>
            <a:ext cx="7315200" cy="4116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rgbClr val="0E4174"/>
              </a:buClr>
              <a:buSzPts val="2200"/>
              <a:buFont typeface="Calibri"/>
              <a:buNone/>
            </a:pPr>
            <a:r>
              <a:rPr lang="en" sz="2200" b="1" u="sng">
                <a:solidFill>
                  <a:schemeClr val="hlink"/>
                </a:solidFill>
                <a:latin typeface="Lexend"/>
                <a:ea typeface="Lexend"/>
                <a:cs typeface="Lexend"/>
                <a:sym typeface="Lexend"/>
                <a:hlinkClick r:id="rId4"/>
              </a:rPr>
              <a:t>Plan Active tài xế Ân xá 13.8</a:t>
            </a:r>
            <a:endParaRPr sz="2200" b="1">
              <a:solidFill>
                <a:srgbClr val="0E4174"/>
              </a:solidFill>
              <a:latin typeface="Lexend"/>
              <a:ea typeface="Lexend"/>
              <a:cs typeface="Lexend"/>
              <a:sym typeface="Lexend"/>
            </a:endParaRPr>
          </a:p>
        </p:txBody>
      </p:sp>
      <p:sp>
        <p:nvSpPr>
          <p:cNvPr id="344" name="Google Shape;344;p44"/>
          <p:cNvSpPr/>
          <p:nvPr/>
        </p:nvSpPr>
        <p:spPr>
          <a:xfrm>
            <a:off x="731520" y="594360"/>
            <a:ext cx="7315200" cy="274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1000"/>
              <a:buFont typeface="Calibri"/>
              <a:buNone/>
            </a:pPr>
            <a:endParaRPr sz="1000" i="1">
              <a:solidFill>
                <a:srgbClr val="64748B"/>
              </a:solidFill>
              <a:latin typeface="Lexend"/>
              <a:ea typeface="Lexend"/>
              <a:cs typeface="Lexend"/>
              <a:sym typeface="Lexend"/>
            </a:endParaRPr>
          </a:p>
        </p:txBody>
      </p:sp>
      <p:cxnSp>
        <p:nvCxnSpPr>
          <p:cNvPr id="345" name="Google Shape;345;p44"/>
          <p:cNvCxnSpPr/>
          <p:nvPr/>
        </p:nvCxnSpPr>
        <p:spPr>
          <a:xfrm>
            <a:off x="365760" y="868680"/>
            <a:ext cx="8412600" cy="0"/>
          </a:xfrm>
          <a:prstGeom prst="straightConnector1">
            <a:avLst/>
          </a:prstGeom>
          <a:noFill/>
          <a:ln w="9525" cap="flat" cmpd="sng">
            <a:solidFill>
              <a:srgbClr val="E2E8F0"/>
            </a:solidFill>
            <a:prstDash val="solid"/>
            <a:round/>
            <a:headEnd type="none" w="sm" len="sm"/>
            <a:tailEnd type="none" w="sm" len="sm"/>
          </a:ln>
        </p:spPr>
      </p:cxnSp>
      <p:sp>
        <p:nvSpPr>
          <p:cNvPr id="346" name="Google Shape;346;p44"/>
          <p:cNvSpPr/>
          <p:nvPr/>
        </p:nvSpPr>
        <p:spPr>
          <a:xfrm>
            <a:off x="6437775" y="868675"/>
            <a:ext cx="2706300" cy="4274700"/>
          </a:xfrm>
          <a:prstGeom prst="rect">
            <a:avLst/>
          </a:prstGeom>
          <a:solidFill>
            <a:srgbClr val="D9D9D9"/>
          </a:solidFill>
          <a:ln w="9525" cap="flat" cmpd="sng">
            <a:solidFill>
              <a:srgbClr val="CCCCCC"/>
            </a:solidFill>
            <a:prstDash val="solid"/>
            <a:round/>
            <a:headEnd type="none" w="sm" len="sm"/>
            <a:tailEnd type="none" w="sm" len="sm"/>
          </a:ln>
        </p:spPr>
        <p:txBody>
          <a:bodyPr spcFirstLastPara="1" wrap="square" lIns="91425" tIns="91425" rIns="91425" bIns="91425" anchor="t" anchorCtr="0">
            <a:noAutofit/>
          </a:bodyPr>
          <a:lstStyle/>
          <a:p>
            <a:pPr marL="0" lvl="0" indent="0" algn="just" rtl="0">
              <a:lnSpc>
                <a:spcPct val="90000"/>
              </a:lnSpc>
              <a:spcBef>
                <a:spcPts val="0"/>
              </a:spcBef>
              <a:spcAft>
                <a:spcPts val="0"/>
              </a:spcAft>
              <a:buNone/>
            </a:pPr>
            <a:r>
              <a:rPr lang="en" sz="1300" b="1">
                <a:solidFill>
                  <a:srgbClr val="D12B2B"/>
                </a:solidFill>
              </a:rPr>
              <a:t>Action</a:t>
            </a:r>
            <a:endParaRPr sz="1600" b="1">
              <a:solidFill>
                <a:schemeClr val="dk1"/>
              </a:solidFill>
            </a:endParaRPr>
          </a:p>
          <a:p>
            <a:pPr marL="457200" lvl="0" indent="-292100" algn="l" rtl="0">
              <a:lnSpc>
                <a:spcPct val="115000"/>
              </a:lnSpc>
              <a:spcBef>
                <a:spcPts val="1200"/>
              </a:spcBef>
              <a:spcAft>
                <a:spcPts val="0"/>
              </a:spcAft>
              <a:buClr>
                <a:schemeClr val="dk1"/>
              </a:buClr>
              <a:buSzPts val="1000"/>
              <a:buChar char="●"/>
            </a:pPr>
            <a:r>
              <a:rPr lang="en" sz="1000" b="1">
                <a:solidFill>
                  <a:schemeClr val="dk1"/>
                </a:solidFill>
              </a:rPr>
              <a:t>Ân xá:</a:t>
            </a:r>
            <a:r>
              <a:rPr lang="en" sz="1000">
                <a:solidFill>
                  <a:schemeClr val="dk1"/>
                </a:solidFill>
              </a:rPr>
              <a:t> Hoàn tất danh sách tài xế và gửi </a:t>
            </a:r>
            <a:r>
              <a:rPr lang="en" sz="1000" b="1">
                <a:solidFill>
                  <a:schemeClr val="dk1"/>
                </a:solidFill>
              </a:rPr>
              <a:t>QM </a:t>
            </a:r>
            <a:r>
              <a:rPr lang="en" sz="1000">
                <a:solidFill>
                  <a:schemeClr val="dk1"/>
                </a:solidFill>
              </a:rPr>
              <a:t>gán tag hỗ trợ — </a:t>
            </a:r>
            <a:r>
              <a:rPr lang="en" sz="1000" b="1">
                <a:solidFill>
                  <a:schemeClr val="dk1"/>
                </a:solidFill>
              </a:rPr>
              <a:t>14/8</a:t>
            </a:r>
            <a:r>
              <a:rPr lang="en" sz="1000">
                <a:solidFill>
                  <a:schemeClr val="dk1"/>
                </a:solidFill>
              </a:rPr>
              <a:t>.</a:t>
            </a:r>
            <a:endParaRPr sz="1000">
              <a:solidFill>
                <a:schemeClr val="dk1"/>
              </a:solidFill>
            </a:endParaRPr>
          </a:p>
          <a:p>
            <a:pPr marL="457200" lvl="0" indent="-292100" algn="l" rtl="0">
              <a:lnSpc>
                <a:spcPct val="115000"/>
              </a:lnSpc>
              <a:spcBef>
                <a:spcPts val="0"/>
              </a:spcBef>
              <a:spcAft>
                <a:spcPts val="0"/>
              </a:spcAft>
              <a:buClr>
                <a:schemeClr val="dk1"/>
              </a:buClr>
              <a:buSzPts val="1000"/>
              <a:buChar char="●"/>
            </a:pPr>
            <a:r>
              <a:rPr lang="en" sz="1000" b="1">
                <a:solidFill>
                  <a:schemeClr val="dk1"/>
                </a:solidFill>
              </a:rPr>
              <a:t>Truyền thông kích hoạt:</a:t>
            </a:r>
            <a:r>
              <a:rPr lang="en" sz="1000">
                <a:solidFill>
                  <a:schemeClr val="dk1"/>
                </a:solidFill>
              </a:rPr>
              <a:t> Triển khai từ </a:t>
            </a:r>
            <a:r>
              <a:rPr lang="en" sz="1000" b="1">
                <a:solidFill>
                  <a:schemeClr val="dk1"/>
                </a:solidFill>
              </a:rPr>
              <a:t>14/8</a:t>
            </a:r>
            <a:r>
              <a:rPr lang="en" sz="1000">
                <a:solidFill>
                  <a:schemeClr val="dk1"/>
                </a:solidFill>
              </a:rPr>
              <a:t>, đạt </a:t>
            </a:r>
            <a:r>
              <a:rPr lang="en" sz="1000" b="1">
                <a:solidFill>
                  <a:schemeClr val="dk1"/>
                </a:solidFill>
              </a:rPr>
              <a:t>220/200 tài xế active trở lại</a:t>
            </a:r>
            <a:r>
              <a:rPr lang="en" sz="1000">
                <a:solidFill>
                  <a:schemeClr val="dk1"/>
                </a:solidFill>
              </a:rPr>
              <a:t>.</a:t>
            </a:r>
            <a:endParaRPr sz="1000">
              <a:solidFill>
                <a:schemeClr val="dk1"/>
              </a:solidFill>
            </a:endParaRPr>
          </a:p>
          <a:p>
            <a:pPr marL="457200" lvl="0" indent="-292100" algn="l" rtl="0">
              <a:lnSpc>
                <a:spcPct val="115000"/>
              </a:lnSpc>
              <a:spcBef>
                <a:spcPts val="0"/>
              </a:spcBef>
              <a:spcAft>
                <a:spcPts val="0"/>
              </a:spcAft>
              <a:buClr>
                <a:schemeClr val="dk1"/>
              </a:buClr>
              <a:buSzPts val="1000"/>
              <a:buChar char="●"/>
            </a:pPr>
            <a:r>
              <a:rPr lang="en" sz="1000" b="1">
                <a:solidFill>
                  <a:schemeClr val="dk1"/>
                </a:solidFill>
              </a:rPr>
              <a:t>Gap:</a:t>
            </a:r>
            <a:r>
              <a:rPr lang="en" sz="1000">
                <a:solidFill>
                  <a:schemeClr val="dk1"/>
                </a:solidFill>
              </a:rPr>
              <a:t> 32/ 63 đã ful dịch vụ  </a:t>
            </a:r>
            <a:r>
              <a:rPr lang="en" sz="1000" b="1">
                <a:solidFill>
                  <a:schemeClr val="dk1"/>
                </a:solidFill>
              </a:rPr>
              <a:t>thời tiết cực đoan (nắng nóng, mưa dông cuối tuần)</a:t>
            </a:r>
            <a:r>
              <a:rPr lang="en" sz="1000">
                <a:solidFill>
                  <a:schemeClr val="dk1"/>
                </a:solidFill>
              </a:rPr>
              <a:t>.</a:t>
            </a:r>
            <a:endParaRPr sz="800">
              <a:solidFill>
                <a:schemeClr val="dk1"/>
              </a:solidFill>
            </a:endParaRPr>
          </a:p>
          <a:p>
            <a:pPr marL="0" lvl="0" indent="0" algn="just" rtl="0">
              <a:lnSpc>
                <a:spcPct val="90000"/>
              </a:lnSpc>
              <a:spcBef>
                <a:spcPts val="1200"/>
              </a:spcBef>
              <a:spcAft>
                <a:spcPts val="0"/>
              </a:spcAft>
              <a:buNone/>
            </a:pPr>
            <a:r>
              <a:rPr lang="en" sz="1300" b="1">
                <a:solidFill>
                  <a:srgbClr val="DC2626"/>
                </a:solidFill>
              </a:rPr>
              <a:t>Next Action </a:t>
            </a:r>
            <a:endParaRPr sz="1300" b="1">
              <a:solidFill>
                <a:srgbClr val="DC2626"/>
              </a:solidFill>
            </a:endParaRPr>
          </a:p>
          <a:p>
            <a:pPr marL="457200" lvl="0" indent="-292100" algn="just" rtl="0">
              <a:lnSpc>
                <a:spcPct val="90000"/>
              </a:lnSpc>
              <a:spcBef>
                <a:spcPts val="400"/>
              </a:spcBef>
              <a:spcAft>
                <a:spcPts val="0"/>
              </a:spcAft>
              <a:buClr>
                <a:schemeClr val="dk1"/>
              </a:buClr>
              <a:buSzPts val="1000"/>
              <a:buChar char="●"/>
            </a:pPr>
            <a:r>
              <a:rPr lang="en" sz="1000" b="1">
                <a:solidFill>
                  <a:schemeClr val="dk1"/>
                </a:solidFill>
              </a:rPr>
              <a:t>Tiếp tục push Noti</a:t>
            </a:r>
            <a:r>
              <a:rPr lang="en" sz="1000">
                <a:solidFill>
                  <a:schemeClr val="dk1"/>
                </a:solidFill>
              </a:rPr>
              <a:t>, đồng thời loại trừ nhóm tài xế đã active để tránh spam.</a:t>
            </a:r>
            <a:endParaRPr sz="1000">
              <a:solidFill>
                <a:schemeClr val="dk1"/>
              </a:solidFill>
            </a:endParaRPr>
          </a:p>
          <a:p>
            <a:pPr marL="457200" lvl="0" indent="-292100" algn="just" rtl="0">
              <a:lnSpc>
                <a:spcPct val="90000"/>
              </a:lnSpc>
              <a:spcBef>
                <a:spcPts val="0"/>
              </a:spcBef>
              <a:spcAft>
                <a:spcPts val="0"/>
              </a:spcAft>
              <a:buClr>
                <a:schemeClr val="dk1"/>
              </a:buClr>
              <a:buSzPts val="1000"/>
              <a:buChar char="●"/>
            </a:pPr>
            <a:r>
              <a:rPr lang="en" sz="1000" b="1">
                <a:solidFill>
                  <a:schemeClr val="dk1"/>
                </a:solidFill>
              </a:rPr>
              <a:t>Từ 26/8:</a:t>
            </a:r>
            <a:r>
              <a:rPr lang="en" sz="1000">
                <a:solidFill>
                  <a:schemeClr val="dk1"/>
                </a:solidFill>
              </a:rPr>
              <a:t> Gửi cảnh báo đến nhóm </a:t>
            </a:r>
            <a:r>
              <a:rPr lang="en" sz="1000" b="1">
                <a:solidFill>
                  <a:schemeClr val="dk1"/>
                </a:solidFill>
              </a:rPr>
              <a:t>đã active nhưng chưa ký quỹ đủ</a:t>
            </a:r>
            <a:r>
              <a:rPr lang="en" sz="1000">
                <a:solidFill>
                  <a:schemeClr val="dk1"/>
                </a:solidFill>
              </a:rPr>
              <a:t>, thúc đẩy hoàn tất ký quỹ để duy trì hoạt động.</a:t>
            </a:r>
            <a:endParaRPr sz="1000">
              <a:solidFill>
                <a:schemeClr val="dk1"/>
              </a:solidFill>
            </a:endParaRPr>
          </a:p>
          <a:p>
            <a:pPr marL="457200" lvl="0" indent="-292100" algn="just" rtl="0">
              <a:lnSpc>
                <a:spcPct val="90000"/>
              </a:lnSpc>
              <a:spcBef>
                <a:spcPts val="0"/>
              </a:spcBef>
              <a:spcAft>
                <a:spcPts val="0"/>
              </a:spcAft>
              <a:buClr>
                <a:schemeClr val="dk1"/>
              </a:buClr>
              <a:buSzPts val="1000"/>
              <a:buChar char="●"/>
            </a:pPr>
            <a:r>
              <a:rPr lang="en" sz="1000" b="1">
                <a:solidFill>
                  <a:schemeClr val="dk1"/>
                </a:solidFill>
              </a:rPr>
              <a:t>Call-out trực tiếp:</a:t>
            </a:r>
            <a:r>
              <a:rPr lang="en" sz="1000">
                <a:solidFill>
                  <a:schemeClr val="dk1"/>
                </a:solidFill>
              </a:rPr>
              <a:t> Gọi điện nhắc nhở và thúc đẩy tài xế </a:t>
            </a:r>
            <a:r>
              <a:rPr lang="en" sz="1000" b="1">
                <a:solidFill>
                  <a:schemeClr val="dk1"/>
                </a:solidFill>
              </a:rPr>
              <a:t>ký quỹ đủ điều kiện hoạt động</a:t>
            </a:r>
            <a:r>
              <a:rPr lang="en" sz="1000">
                <a:solidFill>
                  <a:schemeClr val="dk1"/>
                </a:solidFill>
              </a:rPr>
              <a:t> trước khi kết thúc hạn ân xá.</a:t>
            </a:r>
            <a:endParaRPr sz="1000">
              <a:solidFill>
                <a:schemeClr val="dk1"/>
              </a:solidFill>
            </a:endParaRPr>
          </a:p>
          <a:p>
            <a:pPr marL="0" lvl="0" indent="0" algn="just" rtl="0">
              <a:lnSpc>
                <a:spcPct val="90000"/>
              </a:lnSpc>
              <a:spcBef>
                <a:spcPts val="400"/>
              </a:spcBef>
              <a:spcAft>
                <a:spcPts val="0"/>
              </a:spcAft>
              <a:buNone/>
            </a:pPr>
            <a:endParaRPr sz="900">
              <a:solidFill>
                <a:schemeClr val="dk1"/>
              </a:solidFill>
            </a:endParaRPr>
          </a:p>
          <a:p>
            <a:pPr marL="0" lvl="0" indent="0" algn="just" rtl="0">
              <a:lnSpc>
                <a:spcPct val="90000"/>
              </a:lnSpc>
              <a:spcBef>
                <a:spcPts val="400"/>
              </a:spcBef>
              <a:spcAft>
                <a:spcPts val="0"/>
              </a:spcAft>
              <a:buNone/>
            </a:pPr>
            <a:endParaRPr sz="1000" b="1">
              <a:solidFill>
                <a:schemeClr val="dk1"/>
              </a:solidFill>
            </a:endParaRPr>
          </a:p>
          <a:p>
            <a:pPr marL="0" lvl="0" indent="0" algn="just" rtl="0">
              <a:lnSpc>
                <a:spcPct val="90000"/>
              </a:lnSpc>
              <a:spcBef>
                <a:spcPts val="400"/>
              </a:spcBef>
              <a:spcAft>
                <a:spcPts val="0"/>
              </a:spcAft>
              <a:buNone/>
            </a:pPr>
            <a:endParaRPr sz="1000" b="1">
              <a:solidFill>
                <a:srgbClr val="D12B2B"/>
              </a:solidFill>
            </a:endParaRPr>
          </a:p>
          <a:p>
            <a:pPr marL="0" lvl="0" indent="0" algn="just" rtl="0">
              <a:lnSpc>
                <a:spcPct val="90000"/>
              </a:lnSpc>
              <a:spcBef>
                <a:spcPts val="400"/>
              </a:spcBef>
              <a:spcAft>
                <a:spcPts val="400"/>
              </a:spcAft>
              <a:buClr>
                <a:schemeClr val="dk1"/>
              </a:buClr>
              <a:buSzPts val="1100"/>
              <a:buFont typeface="Arial"/>
              <a:buNone/>
            </a:pPr>
            <a:endParaRPr sz="1000" b="1">
              <a:solidFill>
                <a:srgbClr val="D12B2B"/>
              </a:solidFill>
            </a:endParaRPr>
          </a:p>
        </p:txBody>
      </p:sp>
      <p:sp>
        <p:nvSpPr>
          <p:cNvPr id="347" name="Google Shape;347;p44"/>
          <p:cNvSpPr/>
          <p:nvPr/>
        </p:nvSpPr>
        <p:spPr>
          <a:xfrm>
            <a:off x="324840" y="919229"/>
            <a:ext cx="2817000" cy="2559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E4174"/>
              </a:buClr>
              <a:buSzPts val="1100"/>
              <a:buFont typeface="Calibri"/>
              <a:buNone/>
            </a:pPr>
            <a:r>
              <a:rPr lang="en" sz="1200" b="1">
                <a:solidFill>
                  <a:schemeClr val="dk1"/>
                </a:solidFill>
                <a:latin typeface="Lexend"/>
                <a:ea typeface="Lexend"/>
                <a:cs typeface="Lexend"/>
                <a:sym typeface="Lexend"/>
              </a:rPr>
              <a:t>Tỷ lệ chuyển đổi</a:t>
            </a:r>
            <a:endParaRPr sz="1200" b="1" i="0" u="none" strike="noStrike" cap="none">
              <a:solidFill>
                <a:schemeClr val="dk1"/>
              </a:solidFill>
              <a:latin typeface="Lexend"/>
              <a:ea typeface="Lexend"/>
              <a:cs typeface="Lexend"/>
              <a:sym typeface="Lexend"/>
            </a:endParaRPr>
          </a:p>
        </p:txBody>
      </p:sp>
      <p:pic>
        <p:nvPicPr>
          <p:cNvPr id="348" name="Google Shape;348;p44"/>
          <p:cNvPicPr preferRelativeResize="0"/>
          <p:nvPr/>
        </p:nvPicPr>
        <p:blipFill>
          <a:blip r:embed="rId5">
            <a:alphaModFix/>
          </a:blip>
          <a:stretch>
            <a:fillRect/>
          </a:stretch>
        </p:blipFill>
        <p:spPr>
          <a:xfrm>
            <a:off x="152400" y="1327529"/>
            <a:ext cx="5175806" cy="366357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363"/>
        <p:cNvGrpSpPr/>
        <p:nvPr/>
      </p:nvGrpSpPr>
      <p:grpSpPr>
        <a:xfrm>
          <a:off x="0" y="0"/>
          <a:ext cx="0" cy="0"/>
          <a:chOff x="0" y="0"/>
          <a:chExt cx="0" cy="0"/>
        </a:xfrm>
      </p:grpSpPr>
      <p:sp>
        <p:nvSpPr>
          <p:cNvPr id="364" name="Google Shape;364;p46"/>
          <p:cNvSpPr/>
          <p:nvPr/>
        </p:nvSpPr>
        <p:spPr>
          <a:xfrm>
            <a:off x="404580" y="231100"/>
            <a:ext cx="393600" cy="393600"/>
          </a:xfrm>
          <a:prstGeom prst="roundRect">
            <a:avLst>
              <a:gd name="adj" fmla="val 16667"/>
            </a:avLst>
          </a:prstGeom>
          <a:solidFill>
            <a:srgbClr val="C77700"/>
          </a:solidFill>
          <a:ln>
            <a:noFill/>
          </a:ln>
        </p:spPr>
        <p:txBody>
          <a:bodyPr spcFirstLastPara="1" wrap="square" lIns="71600" tIns="35800" rIns="71600" bIns="35800" anchor="t" anchorCtr="0">
            <a:noAutofit/>
          </a:bodyPr>
          <a:lstStyle/>
          <a:p>
            <a:pPr marL="0" marR="0" lvl="0" indent="0" algn="l" rtl="0">
              <a:spcBef>
                <a:spcPts val="0"/>
              </a:spcBef>
              <a:spcAft>
                <a:spcPts val="0"/>
              </a:spcAft>
              <a:buNone/>
            </a:pPr>
            <a:endParaRPr sz="1462" i="0" u="none" strike="noStrike" cap="none">
              <a:solidFill>
                <a:schemeClr val="dk1"/>
              </a:solidFill>
              <a:latin typeface="Montserrat"/>
              <a:ea typeface="Montserrat"/>
              <a:cs typeface="Montserrat"/>
              <a:sym typeface="Montserrat"/>
            </a:endParaRPr>
          </a:p>
        </p:txBody>
      </p:sp>
      <p:sp>
        <p:nvSpPr>
          <p:cNvPr id="365" name="Google Shape;365;p46"/>
          <p:cNvSpPr/>
          <p:nvPr/>
        </p:nvSpPr>
        <p:spPr>
          <a:xfrm>
            <a:off x="404580" y="231100"/>
            <a:ext cx="393600" cy="393600"/>
          </a:xfrm>
          <a:prstGeom prst="roundRect">
            <a:avLst>
              <a:gd name="adj" fmla="val 16667"/>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334155"/>
              </a:buClr>
              <a:buSzPts val="1044"/>
              <a:buFont typeface="Helvetica Neue"/>
              <a:buNone/>
            </a:pPr>
            <a:r>
              <a:rPr lang="en" sz="1044" i="0" u="none" strike="noStrike" cap="none">
                <a:solidFill>
                  <a:srgbClr val="334155"/>
                </a:solidFill>
                <a:latin typeface="Montserrat"/>
                <a:ea typeface="Montserrat"/>
                <a:cs typeface="Montserrat"/>
                <a:sym typeface="Montserrat"/>
              </a:rPr>
              <a:t>BB</a:t>
            </a:r>
            <a:endParaRPr sz="1044" i="0" u="none" strike="noStrike" cap="none">
              <a:solidFill>
                <a:schemeClr val="dk1"/>
              </a:solidFill>
              <a:latin typeface="Montserrat"/>
              <a:ea typeface="Montserrat"/>
              <a:cs typeface="Montserrat"/>
              <a:sym typeface="Montserrat"/>
            </a:endParaRPr>
          </a:p>
        </p:txBody>
      </p:sp>
      <p:sp>
        <p:nvSpPr>
          <p:cNvPr id="366" name="Google Shape;366;p46"/>
          <p:cNvSpPr/>
          <p:nvPr/>
        </p:nvSpPr>
        <p:spPr>
          <a:xfrm>
            <a:off x="905842" y="231100"/>
            <a:ext cx="8070000" cy="393600"/>
          </a:xfrm>
          <a:prstGeom prst="roundRect">
            <a:avLst>
              <a:gd name="adj" fmla="val 16667"/>
            </a:avLst>
          </a:prstGeom>
          <a:noFill/>
          <a:ln w="9525" cap="flat" cmpd="sng">
            <a:solidFill>
              <a:schemeClr val="lt2"/>
            </a:solidFill>
            <a:prstDash val="solid"/>
            <a:round/>
            <a:headEnd type="none" w="sm" len="sm"/>
            <a:tailEnd type="none" w="sm" len="sm"/>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F172A"/>
              </a:buClr>
              <a:buSzPts val="1357"/>
              <a:buFont typeface="Helvetica Neue"/>
              <a:buNone/>
            </a:pPr>
            <a:r>
              <a:rPr lang="en" sz="1357" b="1">
                <a:solidFill>
                  <a:srgbClr val="0F172A"/>
                </a:solidFill>
                <a:latin typeface="Montserrat"/>
                <a:ea typeface="Montserrat"/>
                <a:cs typeface="Montserrat"/>
                <a:sym typeface="Montserrat"/>
              </a:rPr>
              <a:t>Baga Bulky: Giai đoạn triển khai lần đầu (GĐ 1 - 15/8 đến 30/8)</a:t>
            </a:r>
            <a:endParaRPr sz="1357" b="1">
              <a:solidFill>
                <a:srgbClr val="0F172A"/>
              </a:solidFill>
              <a:latin typeface="Montserrat"/>
              <a:ea typeface="Montserrat"/>
              <a:cs typeface="Montserrat"/>
              <a:sym typeface="Montserrat"/>
            </a:endParaRPr>
          </a:p>
        </p:txBody>
      </p:sp>
      <p:sp>
        <p:nvSpPr>
          <p:cNvPr id="367" name="Google Shape;367;p46"/>
          <p:cNvSpPr/>
          <p:nvPr/>
        </p:nvSpPr>
        <p:spPr>
          <a:xfrm>
            <a:off x="404580" y="746673"/>
            <a:ext cx="787800" cy="28500"/>
          </a:xfrm>
          <a:prstGeom prst="roundRect">
            <a:avLst>
              <a:gd name="adj" fmla="val 16667"/>
            </a:avLst>
          </a:prstGeom>
          <a:noFill/>
          <a:ln>
            <a:noFill/>
          </a:ln>
        </p:spPr>
        <p:txBody>
          <a:bodyPr spcFirstLastPara="1" wrap="square" lIns="71600" tIns="35800" rIns="71600" bIns="35800" anchor="t" anchorCtr="0">
            <a:noAutofit/>
          </a:bodyPr>
          <a:lstStyle/>
          <a:p>
            <a:pPr marL="0" marR="0" lvl="0" indent="0" algn="l" rtl="0">
              <a:spcBef>
                <a:spcPts val="0"/>
              </a:spcBef>
              <a:spcAft>
                <a:spcPts val="0"/>
              </a:spcAft>
              <a:buNone/>
            </a:pPr>
            <a:endParaRPr sz="1462" i="0" u="none" strike="noStrike" cap="none">
              <a:solidFill>
                <a:schemeClr val="dk1"/>
              </a:solidFill>
              <a:latin typeface="Montserrat"/>
              <a:ea typeface="Montserrat"/>
              <a:cs typeface="Montserrat"/>
              <a:sym typeface="Montserrat"/>
            </a:endParaRPr>
          </a:p>
        </p:txBody>
      </p:sp>
      <p:sp>
        <p:nvSpPr>
          <p:cNvPr id="368" name="Google Shape;368;p46"/>
          <p:cNvSpPr/>
          <p:nvPr/>
        </p:nvSpPr>
        <p:spPr>
          <a:xfrm>
            <a:off x="404580" y="911370"/>
            <a:ext cx="2363100" cy="42900"/>
          </a:xfrm>
          <a:prstGeom prst="roundRect">
            <a:avLst>
              <a:gd name="adj" fmla="val 16667"/>
            </a:avLst>
          </a:prstGeom>
          <a:noFill/>
          <a:ln>
            <a:noFill/>
          </a:ln>
        </p:spPr>
        <p:txBody>
          <a:bodyPr spcFirstLastPara="1" wrap="square" lIns="71600" tIns="35800" rIns="71600" bIns="35800" anchor="t" anchorCtr="0">
            <a:noAutofit/>
          </a:bodyPr>
          <a:lstStyle/>
          <a:p>
            <a:pPr marL="0" marR="0" lvl="0" indent="0" algn="l" rtl="0">
              <a:spcBef>
                <a:spcPts val="0"/>
              </a:spcBef>
              <a:spcAft>
                <a:spcPts val="0"/>
              </a:spcAft>
              <a:buNone/>
            </a:pPr>
            <a:endParaRPr sz="1462" i="0" u="none" strike="noStrike" cap="none">
              <a:solidFill>
                <a:schemeClr val="dk1"/>
              </a:solidFill>
              <a:latin typeface="Montserrat"/>
              <a:ea typeface="Montserrat"/>
              <a:cs typeface="Montserrat"/>
              <a:sym typeface="Montserrat"/>
            </a:endParaRPr>
          </a:p>
        </p:txBody>
      </p:sp>
      <p:sp>
        <p:nvSpPr>
          <p:cNvPr id="369" name="Google Shape;369;p46"/>
          <p:cNvSpPr/>
          <p:nvPr/>
        </p:nvSpPr>
        <p:spPr>
          <a:xfrm>
            <a:off x="2946642" y="911370"/>
            <a:ext cx="3021900" cy="42900"/>
          </a:xfrm>
          <a:prstGeom prst="roundRect">
            <a:avLst>
              <a:gd name="adj" fmla="val 16667"/>
            </a:avLst>
          </a:prstGeom>
          <a:noFill/>
          <a:ln>
            <a:noFill/>
          </a:ln>
        </p:spPr>
        <p:txBody>
          <a:bodyPr spcFirstLastPara="1" wrap="square" lIns="71600" tIns="35800" rIns="71600" bIns="35800" anchor="t" anchorCtr="0">
            <a:noAutofit/>
          </a:bodyPr>
          <a:lstStyle/>
          <a:p>
            <a:pPr marL="0" marR="0" lvl="0" indent="0" algn="l" rtl="0">
              <a:spcBef>
                <a:spcPts val="0"/>
              </a:spcBef>
              <a:spcAft>
                <a:spcPts val="0"/>
              </a:spcAft>
              <a:buNone/>
            </a:pPr>
            <a:endParaRPr sz="1462" i="0" u="none" strike="noStrike" cap="none">
              <a:solidFill>
                <a:schemeClr val="dk1"/>
              </a:solidFill>
              <a:latin typeface="Montserrat"/>
              <a:ea typeface="Montserrat"/>
              <a:cs typeface="Montserrat"/>
              <a:sym typeface="Montserrat"/>
            </a:endParaRPr>
          </a:p>
        </p:txBody>
      </p:sp>
      <p:sp>
        <p:nvSpPr>
          <p:cNvPr id="370" name="Google Shape;370;p46"/>
          <p:cNvSpPr/>
          <p:nvPr/>
        </p:nvSpPr>
        <p:spPr>
          <a:xfrm>
            <a:off x="6083044" y="911370"/>
            <a:ext cx="3021900" cy="42900"/>
          </a:xfrm>
          <a:prstGeom prst="roundRect">
            <a:avLst>
              <a:gd name="adj" fmla="val 16667"/>
            </a:avLst>
          </a:prstGeom>
          <a:noFill/>
          <a:ln>
            <a:noFill/>
          </a:ln>
        </p:spPr>
        <p:txBody>
          <a:bodyPr spcFirstLastPara="1" wrap="square" lIns="71600" tIns="35800" rIns="71600" bIns="35800" anchor="t" anchorCtr="0">
            <a:noAutofit/>
          </a:bodyPr>
          <a:lstStyle/>
          <a:p>
            <a:pPr marL="0" marR="0" lvl="0" indent="0" algn="l" rtl="0">
              <a:spcBef>
                <a:spcPts val="0"/>
              </a:spcBef>
              <a:spcAft>
                <a:spcPts val="0"/>
              </a:spcAft>
              <a:buNone/>
            </a:pPr>
            <a:endParaRPr sz="1462" i="0" u="none" strike="noStrike" cap="none">
              <a:solidFill>
                <a:schemeClr val="dk1"/>
              </a:solidFill>
              <a:latin typeface="Montserrat"/>
              <a:ea typeface="Montserrat"/>
              <a:cs typeface="Montserrat"/>
              <a:sym typeface="Montserrat"/>
            </a:endParaRPr>
          </a:p>
        </p:txBody>
      </p:sp>
      <p:sp>
        <p:nvSpPr>
          <p:cNvPr id="371" name="Google Shape;371;p46"/>
          <p:cNvSpPr/>
          <p:nvPr/>
        </p:nvSpPr>
        <p:spPr>
          <a:xfrm>
            <a:off x="8366760" y="4924044"/>
            <a:ext cx="363600" cy="192000"/>
          </a:xfrm>
          <a:prstGeom prst="roundRect">
            <a:avLst>
              <a:gd name="adj" fmla="val 16667"/>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334155"/>
              </a:buClr>
              <a:buSzPts val="600"/>
              <a:buFont typeface="Helvetica Neue"/>
              <a:buNone/>
            </a:pPr>
            <a:r>
              <a:rPr lang="en" sz="600" b="0" i="0" u="none" strike="noStrike" cap="none">
                <a:solidFill>
                  <a:srgbClr val="334155"/>
                </a:solidFill>
                <a:latin typeface="Helvetica Neue"/>
                <a:ea typeface="Helvetica Neue"/>
                <a:cs typeface="Helvetica Neue"/>
                <a:sym typeface="Helvetica Neue"/>
              </a:rPr>
              <a:t>5</a:t>
            </a:r>
            <a:endParaRPr sz="600" b="0" i="0" u="none" strike="noStrike" cap="none">
              <a:solidFill>
                <a:schemeClr val="dk1"/>
              </a:solidFill>
              <a:latin typeface="Calibri"/>
              <a:ea typeface="Calibri"/>
              <a:cs typeface="Calibri"/>
              <a:sym typeface="Calibri"/>
            </a:endParaRPr>
          </a:p>
        </p:txBody>
      </p:sp>
      <p:sp>
        <p:nvSpPr>
          <p:cNvPr id="372" name="Google Shape;372;p46"/>
          <p:cNvSpPr/>
          <p:nvPr/>
        </p:nvSpPr>
        <p:spPr>
          <a:xfrm>
            <a:off x="169700" y="993275"/>
            <a:ext cx="1409100" cy="1506300"/>
          </a:xfrm>
          <a:prstGeom prst="roundRect">
            <a:avLst>
              <a:gd name="adj" fmla="val 4364"/>
            </a:avLst>
          </a:prstGeom>
          <a:solidFill>
            <a:srgbClr val="FFF7EF"/>
          </a:solidFill>
          <a:ln>
            <a:noFill/>
          </a:ln>
          <a:effectLst>
            <a:outerShdw blurRad="57150" dist="19050" dir="5400000" algn="bl" rotWithShape="0">
              <a:srgbClr val="000000">
                <a:alpha val="50000"/>
              </a:srgbClr>
            </a:outerShdw>
          </a:effectLst>
        </p:spPr>
        <p:txBody>
          <a:bodyPr spcFirstLastPara="1" wrap="square" lIns="51225" tIns="51225" rIns="51225" bIns="51225" anchor="ctr" anchorCtr="0">
            <a:noAutofit/>
          </a:bodyPr>
          <a:lstStyle/>
          <a:p>
            <a:pPr marL="0" lvl="0" indent="0" algn="l" rtl="0">
              <a:spcBef>
                <a:spcPts val="0"/>
              </a:spcBef>
              <a:spcAft>
                <a:spcPts val="0"/>
              </a:spcAft>
              <a:buNone/>
            </a:pPr>
            <a:endParaRPr/>
          </a:p>
        </p:txBody>
      </p:sp>
      <p:sp>
        <p:nvSpPr>
          <p:cNvPr id="373" name="Google Shape;373;p46"/>
          <p:cNvSpPr/>
          <p:nvPr/>
        </p:nvSpPr>
        <p:spPr>
          <a:xfrm>
            <a:off x="669248" y="1172603"/>
            <a:ext cx="409800" cy="409800"/>
          </a:xfrm>
          <a:prstGeom prst="ellipse">
            <a:avLst/>
          </a:prstGeom>
          <a:solidFill>
            <a:srgbClr val="E85D04"/>
          </a:solidFill>
          <a:ln>
            <a:noFill/>
          </a:ln>
        </p:spPr>
        <p:txBody>
          <a:bodyPr spcFirstLastPara="1" wrap="square" lIns="51225" tIns="51225" rIns="51225" bIns="51225" anchor="ctr" anchorCtr="0">
            <a:noAutofit/>
          </a:bodyPr>
          <a:lstStyle/>
          <a:p>
            <a:pPr marL="0" lvl="0" indent="0" algn="l" rtl="0">
              <a:spcBef>
                <a:spcPts val="0"/>
              </a:spcBef>
              <a:spcAft>
                <a:spcPts val="0"/>
              </a:spcAft>
              <a:buNone/>
            </a:pPr>
            <a:endParaRPr/>
          </a:p>
        </p:txBody>
      </p:sp>
      <p:pic>
        <p:nvPicPr>
          <p:cNvPr id="374" name="Google Shape;374;p46" descr="/home/claude/baga_report/clipboard.png"/>
          <p:cNvPicPr preferRelativeResize="0"/>
          <p:nvPr/>
        </p:nvPicPr>
        <p:blipFill rotWithShape="1">
          <a:blip r:embed="rId3">
            <a:alphaModFix/>
          </a:blip>
          <a:srcRect/>
          <a:stretch/>
        </p:blipFill>
        <p:spPr>
          <a:xfrm>
            <a:off x="778296" y="1254581"/>
            <a:ext cx="245931" cy="245931"/>
          </a:xfrm>
          <a:prstGeom prst="rect">
            <a:avLst/>
          </a:prstGeom>
          <a:noFill/>
          <a:ln>
            <a:noFill/>
          </a:ln>
        </p:spPr>
      </p:pic>
      <p:sp>
        <p:nvSpPr>
          <p:cNvPr id="375" name="Google Shape;375;p46"/>
          <p:cNvSpPr/>
          <p:nvPr/>
        </p:nvSpPr>
        <p:spPr>
          <a:xfrm>
            <a:off x="169699" y="1684965"/>
            <a:ext cx="1409100" cy="1536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B34700"/>
              </a:buClr>
              <a:buSzPts val="560"/>
              <a:buFont typeface="Calibri"/>
              <a:buNone/>
            </a:pPr>
            <a:r>
              <a:rPr lang="en" sz="560" i="0" u="none" strike="noStrike" cap="none">
                <a:solidFill>
                  <a:srgbClr val="B34700"/>
                </a:solidFill>
                <a:latin typeface="Montserrat"/>
                <a:ea typeface="Montserrat"/>
                <a:cs typeface="Montserrat"/>
                <a:sym typeface="Montserrat"/>
              </a:rPr>
              <a:t>BƯỚC 1</a:t>
            </a:r>
            <a:endParaRPr sz="560" i="0" u="none" strike="noStrike" cap="none">
              <a:solidFill>
                <a:srgbClr val="000000"/>
              </a:solidFill>
              <a:latin typeface="Montserrat"/>
              <a:ea typeface="Montserrat"/>
              <a:cs typeface="Montserrat"/>
              <a:sym typeface="Montserrat"/>
            </a:endParaRPr>
          </a:p>
        </p:txBody>
      </p:sp>
      <p:sp>
        <p:nvSpPr>
          <p:cNvPr id="376" name="Google Shape;376;p46"/>
          <p:cNvSpPr/>
          <p:nvPr/>
        </p:nvSpPr>
        <p:spPr>
          <a:xfrm>
            <a:off x="169699" y="1838673"/>
            <a:ext cx="1409100" cy="2307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B2A4A"/>
              </a:buClr>
              <a:buSzPts val="897"/>
              <a:buFont typeface="Cambria"/>
              <a:buNone/>
            </a:pPr>
            <a:r>
              <a:rPr lang="en" sz="897" b="1" i="0" u="none" strike="noStrike" cap="none">
                <a:solidFill>
                  <a:srgbClr val="1B2A4A"/>
                </a:solidFill>
                <a:latin typeface="Montserrat"/>
                <a:ea typeface="Montserrat"/>
                <a:cs typeface="Montserrat"/>
                <a:sym typeface="Montserrat"/>
              </a:rPr>
              <a:t>Đăng ký</a:t>
            </a:r>
            <a:endParaRPr sz="897" b="1" i="0" u="none" strike="noStrike" cap="none">
              <a:solidFill>
                <a:srgbClr val="000000"/>
              </a:solidFill>
              <a:latin typeface="Montserrat"/>
              <a:ea typeface="Montserrat"/>
              <a:cs typeface="Montserrat"/>
              <a:sym typeface="Montserrat"/>
            </a:endParaRPr>
          </a:p>
        </p:txBody>
      </p:sp>
      <p:sp>
        <p:nvSpPr>
          <p:cNvPr id="377" name="Google Shape;377;p46"/>
          <p:cNvSpPr/>
          <p:nvPr/>
        </p:nvSpPr>
        <p:spPr>
          <a:xfrm>
            <a:off x="272175" y="2094849"/>
            <a:ext cx="1203900" cy="332400"/>
          </a:xfrm>
          <a:prstGeom prst="rect">
            <a:avLst/>
          </a:prstGeom>
          <a:noFill/>
          <a:ln>
            <a:noFill/>
          </a:ln>
        </p:spPr>
        <p:txBody>
          <a:bodyPr spcFirstLastPara="1" wrap="square" lIns="0" tIns="0" rIns="0" bIns="0" anchor="t" anchorCtr="0">
            <a:noAutofit/>
          </a:bodyPr>
          <a:lstStyle/>
          <a:p>
            <a:pPr marL="0" marR="0" lvl="0" indent="0" algn="ctr" rtl="0">
              <a:lnSpc>
                <a:spcPct val="120000"/>
              </a:lnSpc>
              <a:spcBef>
                <a:spcPts val="0"/>
              </a:spcBef>
              <a:spcAft>
                <a:spcPts val="0"/>
              </a:spcAft>
              <a:buClr>
                <a:srgbClr val="5B5B5B"/>
              </a:buClr>
              <a:buSzPts val="644"/>
              <a:buFont typeface="Calibri"/>
              <a:buNone/>
            </a:pPr>
            <a:r>
              <a:rPr lang="en" sz="644" i="0" u="none" strike="noStrike" cap="none">
                <a:solidFill>
                  <a:srgbClr val="5B5B5B"/>
                </a:solidFill>
                <a:latin typeface="Montserrat"/>
                <a:ea typeface="Montserrat"/>
                <a:cs typeface="Montserrat"/>
                <a:sym typeface="Montserrat"/>
              </a:rPr>
              <a:t>Tài xế đăng ký tham gia chương trình qua form/app</a:t>
            </a:r>
            <a:endParaRPr sz="644" i="0" u="none" strike="noStrike" cap="none">
              <a:solidFill>
                <a:srgbClr val="000000"/>
              </a:solidFill>
              <a:latin typeface="Montserrat"/>
              <a:ea typeface="Montserrat"/>
              <a:cs typeface="Montserrat"/>
              <a:sym typeface="Montserrat"/>
            </a:endParaRPr>
          </a:p>
        </p:txBody>
      </p:sp>
      <p:sp>
        <p:nvSpPr>
          <p:cNvPr id="378" name="Google Shape;378;p46"/>
          <p:cNvSpPr/>
          <p:nvPr/>
        </p:nvSpPr>
        <p:spPr>
          <a:xfrm>
            <a:off x="1758008" y="993275"/>
            <a:ext cx="1409100" cy="1506300"/>
          </a:xfrm>
          <a:prstGeom prst="roundRect">
            <a:avLst>
              <a:gd name="adj" fmla="val 4364"/>
            </a:avLst>
          </a:prstGeom>
          <a:solidFill>
            <a:srgbClr val="FDEDE0"/>
          </a:solidFill>
          <a:ln>
            <a:noFill/>
          </a:ln>
          <a:effectLst>
            <a:outerShdw blurRad="57150" dist="19050" dir="5400000" algn="bl" rotWithShape="0">
              <a:srgbClr val="000000">
                <a:alpha val="50000"/>
              </a:srgbClr>
            </a:outerShdw>
          </a:effectLst>
        </p:spPr>
        <p:txBody>
          <a:bodyPr spcFirstLastPara="1" wrap="square" lIns="51225" tIns="51225" rIns="51225" bIns="51225" anchor="ctr" anchorCtr="0">
            <a:noAutofit/>
          </a:bodyPr>
          <a:lstStyle/>
          <a:p>
            <a:pPr marL="0" lvl="0" indent="0" algn="l" rtl="0">
              <a:spcBef>
                <a:spcPts val="0"/>
              </a:spcBef>
              <a:spcAft>
                <a:spcPts val="0"/>
              </a:spcAft>
              <a:buNone/>
            </a:pPr>
            <a:endParaRPr/>
          </a:p>
        </p:txBody>
      </p:sp>
      <p:sp>
        <p:nvSpPr>
          <p:cNvPr id="379" name="Google Shape;379;p46"/>
          <p:cNvSpPr/>
          <p:nvPr/>
        </p:nvSpPr>
        <p:spPr>
          <a:xfrm>
            <a:off x="2257556" y="1172603"/>
            <a:ext cx="409800" cy="409800"/>
          </a:xfrm>
          <a:prstGeom prst="ellipse">
            <a:avLst/>
          </a:prstGeom>
          <a:solidFill>
            <a:srgbClr val="E85D04"/>
          </a:solidFill>
          <a:ln>
            <a:noFill/>
          </a:ln>
        </p:spPr>
        <p:txBody>
          <a:bodyPr spcFirstLastPara="1" wrap="square" lIns="51225" tIns="51225" rIns="51225" bIns="51225" anchor="ctr" anchorCtr="0">
            <a:noAutofit/>
          </a:bodyPr>
          <a:lstStyle/>
          <a:p>
            <a:pPr marL="0" lvl="0" indent="0" algn="l" rtl="0">
              <a:spcBef>
                <a:spcPts val="0"/>
              </a:spcBef>
              <a:spcAft>
                <a:spcPts val="0"/>
              </a:spcAft>
              <a:buNone/>
            </a:pPr>
            <a:endParaRPr/>
          </a:p>
        </p:txBody>
      </p:sp>
      <p:pic>
        <p:nvPicPr>
          <p:cNvPr id="380" name="Google Shape;380;p46" descr="/home/claude/baga_report/motorcycle.png"/>
          <p:cNvPicPr preferRelativeResize="0"/>
          <p:nvPr/>
        </p:nvPicPr>
        <p:blipFill rotWithShape="1">
          <a:blip r:embed="rId4">
            <a:alphaModFix/>
          </a:blip>
          <a:srcRect/>
          <a:stretch/>
        </p:blipFill>
        <p:spPr>
          <a:xfrm>
            <a:off x="2330510" y="1254581"/>
            <a:ext cx="245931" cy="245931"/>
          </a:xfrm>
          <a:prstGeom prst="rect">
            <a:avLst/>
          </a:prstGeom>
          <a:noFill/>
          <a:ln>
            <a:noFill/>
          </a:ln>
        </p:spPr>
      </p:pic>
      <p:sp>
        <p:nvSpPr>
          <p:cNvPr id="381" name="Google Shape;381;p46"/>
          <p:cNvSpPr/>
          <p:nvPr/>
        </p:nvSpPr>
        <p:spPr>
          <a:xfrm>
            <a:off x="1758007" y="1684965"/>
            <a:ext cx="1409100" cy="1536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B34700"/>
              </a:buClr>
              <a:buSzPts val="560"/>
              <a:buFont typeface="Calibri"/>
              <a:buNone/>
            </a:pPr>
            <a:r>
              <a:rPr lang="en" sz="560" i="0" u="none" strike="noStrike" cap="none">
                <a:solidFill>
                  <a:srgbClr val="B34700"/>
                </a:solidFill>
                <a:latin typeface="Montserrat"/>
                <a:ea typeface="Montserrat"/>
                <a:cs typeface="Montserrat"/>
                <a:sym typeface="Montserrat"/>
              </a:rPr>
              <a:t>BƯỚC 2</a:t>
            </a:r>
            <a:endParaRPr sz="560" i="0" u="none" strike="noStrike" cap="none">
              <a:solidFill>
                <a:srgbClr val="000000"/>
              </a:solidFill>
              <a:latin typeface="Montserrat"/>
              <a:ea typeface="Montserrat"/>
              <a:cs typeface="Montserrat"/>
              <a:sym typeface="Montserrat"/>
            </a:endParaRPr>
          </a:p>
        </p:txBody>
      </p:sp>
      <p:sp>
        <p:nvSpPr>
          <p:cNvPr id="382" name="Google Shape;382;p46"/>
          <p:cNvSpPr/>
          <p:nvPr/>
        </p:nvSpPr>
        <p:spPr>
          <a:xfrm>
            <a:off x="1758007" y="1838673"/>
            <a:ext cx="1409100" cy="2307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B2A4A"/>
              </a:buClr>
              <a:buSzPts val="897"/>
              <a:buFont typeface="Cambria"/>
              <a:buNone/>
            </a:pPr>
            <a:r>
              <a:rPr lang="en" sz="897" b="1" i="0" u="none" strike="noStrike" cap="none">
                <a:solidFill>
                  <a:srgbClr val="1B2A4A"/>
                </a:solidFill>
                <a:latin typeface="Montserrat"/>
                <a:ea typeface="Montserrat"/>
                <a:cs typeface="Montserrat"/>
                <a:sym typeface="Montserrat"/>
              </a:rPr>
              <a:t>Mua &amp; lắp baga</a:t>
            </a:r>
            <a:endParaRPr sz="897" b="1" i="0" u="none" strike="noStrike" cap="none">
              <a:solidFill>
                <a:srgbClr val="000000"/>
              </a:solidFill>
              <a:latin typeface="Montserrat"/>
              <a:ea typeface="Montserrat"/>
              <a:cs typeface="Montserrat"/>
              <a:sym typeface="Montserrat"/>
            </a:endParaRPr>
          </a:p>
        </p:txBody>
      </p:sp>
      <p:sp>
        <p:nvSpPr>
          <p:cNvPr id="383" name="Google Shape;383;p46"/>
          <p:cNvSpPr/>
          <p:nvPr/>
        </p:nvSpPr>
        <p:spPr>
          <a:xfrm>
            <a:off x="1860480" y="2094852"/>
            <a:ext cx="1203900" cy="332400"/>
          </a:xfrm>
          <a:prstGeom prst="rect">
            <a:avLst/>
          </a:prstGeom>
          <a:noFill/>
          <a:ln>
            <a:noFill/>
          </a:ln>
        </p:spPr>
        <p:txBody>
          <a:bodyPr spcFirstLastPara="1" wrap="square" lIns="0" tIns="0" rIns="0" bIns="0" anchor="t" anchorCtr="0">
            <a:noAutofit/>
          </a:bodyPr>
          <a:lstStyle/>
          <a:p>
            <a:pPr marL="0" marR="0" lvl="0" indent="0" algn="ctr" rtl="0">
              <a:lnSpc>
                <a:spcPct val="120000"/>
              </a:lnSpc>
              <a:spcBef>
                <a:spcPts val="0"/>
              </a:spcBef>
              <a:spcAft>
                <a:spcPts val="0"/>
              </a:spcAft>
              <a:buClr>
                <a:srgbClr val="5B5B5B"/>
              </a:buClr>
              <a:buSzPts val="644"/>
              <a:buFont typeface="Calibri"/>
              <a:buNone/>
            </a:pPr>
            <a:r>
              <a:rPr lang="en" sz="644" i="0" u="none" strike="noStrike" cap="none">
                <a:solidFill>
                  <a:srgbClr val="5B5B5B"/>
                </a:solidFill>
                <a:latin typeface="Montserrat"/>
                <a:ea typeface="Montserrat"/>
                <a:cs typeface="Montserrat"/>
                <a:sym typeface="Montserrat"/>
              </a:rPr>
              <a:t>Tài xế tự mua và lắp đặt baga chở hàng cồng kềnh</a:t>
            </a:r>
            <a:endParaRPr sz="644" i="0" u="none" strike="noStrike" cap="none">
              <a:solidFill>
                <a:srgbClr val="000000"/>
              </a:solidFill>
              <a:latin typeface="Montserrat"/>
              <a:ea typeface="Montserrat"/>
              <a:cs typeface="Montserrat"/>
              <a:sym typeface="Montserrat"/>
            </a:endParaRPr>
          </a:p>
        </p:txBody>
      </p:sp>
      <p:sp>
        <p:nvSpPr>
          <p:cNvPr id="384" name="Google Shape;384;p46"/>
          <p:cNvSpPr/>
          <p:nvPr/>
        </p:nvSpPr>
        <p:spPr>
          <a:xfrm>
            <a:off x="3346317" y="993275"/>
            <a:ext cx="1409100" cy="1506300"/>
          </a:xfrm>
          <a:prstGeom prst="roundRect">
            <a:avLst>
              <a:gd name="adj" fmla="val 4364"/>
            </a:avLst>
          </a:prstGeom>
          <a:solidFill>
            <a:srgbClr val="FFF7EF"/>
          </a:solidFill>
          <a:ln>
            <a:noFill/>
          </a:ln>
          <a:effectLst>
            <a:outerShdw blurRad="57150" dist="19050" dir="5400000" algn="bl" rotWithShape="0">
              <a:srgbClr val="000000">
                <a:alpha val="50000"/>
              </a:srgbClr>
            </a:outerShdw>
          </a:effectLst>
        </p:spPr>
        <p:txBody>
          <a:bodyPr spcFirstLastPara="1" wrap="square" lIns="51225" tIns="51225" rIns="51225" bIns="51225" anchor="ctr" anchorCtr="0">
            <a:noAutofit/>
          </a:bodyPr>
          <a:lstStyle/>
          <a:p>
            <a:pPr marL="0" lvl="0" indent="0" algn="l" rtl="0">
              <a:spcBef>
                <a:spcPts val="0"/>
              </a:spcBef>
              <a:spcAft>
                <a:spcPts val="0"/>
              </a:spcAft>
              <a:buNone/>
            </a:pPr>
            <a:endParaRPr/>
          </a:p>
        </p:txBody>
      </p:sp>
      <p:sp>
        <p:nvSpPr>
          <p:cNvPr id="385" name="Google Shape;385;p46"/>
          <p:cNvSpPr/>
          <p:nvPr/>
        </p:nvSpPr>
        <p:spPr>
          <a:xfrm>
            <a:off x="3845865" y="1172603"/>
            <a:ext cx="409800" cy="409800"/>
          </a:xfrm>
          <a:prstGeom prst="ellipse">
            <a:avLst/>
          </a:prstGeom>
          <a:solidFill>
            <a:srgbClr val="E85D04"/>
          </a:solidFill>
          <a:ln>
            <a:noFill/>
          </a:ln>
        </p:spPr>
        <p:txBody>
          <a:bodyPr spcFirstLastPara="1" wrap="square" lIns="51225" tIns="51225" rIns="51225" bIns="51225" anchor="ctr" anchorCtr="0">
            <a:noAutofit/>
          </a:bodyPr>
          <a:lstStyle/>
          <a:p>
            <a:pPr marL="0" lvl="0" indent="0" algn="l" rtl="0">
              <a:spcBef>
                <a:spcPts val="0"/>
              </a:spcBef>
              <a:spcAft>
                <a:spcPts val="0"/>
              </a:spcAft>
              <a:buNone/>
            </a:pPr>
            <a:endParaRPr/>
          </a:p>
        </p:txBody>
      </p:sp>
      <p:pic>
        <p:nvPicPr>
          <p:cNvPr id="386" name="Google Shape;386;p46" descr="/home/claude/baga_report/camera.png"/>
          <p:cNvPicPr preferRelativeResize="0"/>
          <p:nvPr/>
        </p:nvPicPr>
        <p:blipFill rotWithShape="1">
          <a:blip r:embed="rId5">
            <a:alphaModFix/>
          </a:blip>
          <a:srcRect/>
          <a:stretch/>
        </p:blipFill>
        <p:spPr>
          <a:xfrm>
            <a:off x="3927842" y="1254581"/>
            <a:ext cx="245931" cy="245931"/>
          </a:xfrm>
          <a:prstGeom prst="rect">
            <a:avLst/>
          </a:prstGeom>
          <a:noFill/>
          <a:ln>
            <a:noFill/>
          </a:ln>
        </p:spPr>
      </p:pic>
      <p:sp>
        <p:nvSpPr>
          <p:cNvPr id="387" name="Google Shape;387;p46"/>
          <p:cNvSpPr/>
          <p:nvPr/>
        </p:nvSpPr>
        <p:spPr>
          <a:xfrm>
            <a:off x="3346316" y="1684965"/>
            <a:ext cx="1409100" cy="1536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B34700"/>
              </a:buClr>
              <a:buSzPts val="560"/>
              <a:buFont typeface="Calibri"/>
              <a:buNone/>
            </a:pPr>
            <a:r>
              <a:rPr lang="en" sz="560" i="0" u="none" strike="noStrike" cap="none">
                <a:solidFill>
                  <a:srgbClr val="B34700"/>
                </a:solidFill>
                <a:latin typeface="Montserrat"/>
                <a:ea typeface="Montserrat"/>
                <a:cs typeface="Montserrat"/>
                <a:sym typeface="Montserrat"/>
              </a:rPr>
              <a:t>BƯỚC 3</a:t>
            </a:r>
            <a:endParaRPr sz="560" i="0" u="none" strike="noStrike" cap="none">
              <a:solidFill>
                <a:srgbClr val="000000"/>
              </a:solidFill>
              <a:latin typeface="Montserrat"/>
              <a:ea typeface="Montserrat"/>
              <a:cs typeface="Montserrat"/>
              <a:sym typeface="Montserrat"/>
            </a:endParaRPr>
          </a:p>
        </p:txBody>
      </p:sp>
      <p:sp>
        <p:nvSpPr>
          <p:cNvPr id="388" name="Google Shape;388;p46"/>
          <p:cNvSpPr/>
          <p:nvPr/>
        </p:nvSpPr>
        <p:spPr>
          <a:xfrm>
            <a:off x="3346316" y="1838673"/>
            <a:ext cx="1409100" cy="2307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B2A4A"/>
              </a:buClr>
              <a:buSzPts val="897"/>
              <a:buFont typeface="Cambria"/>
              <a:buNone/>
            </a:pPr>
            <a:r>
              <a:rPr lang="en" sz="897" b="1" i="0" u="none" strike="noStrike" cap="none">
                <a:solidFill>
                  <a:srgbClr val="1B2A4A"/>
                </a:solidFill>
                <a:latin typeface="Montserrat"/>
                <a:ea typeface="Montserrat"/>
                <a:cs typeface="Montserrat"/>
                <a:sym typeface="Montserrat"/>
              </a:rPr>
              <a:t>Xác nhận</a:t>
            </a:r>
            <a:endParaRPr sz="897" b="1" i="0" u="none" strike="noStrike" cap="none">
              <a:solidFill>
                <a:srgbClr val="000000"/>
              </a:solidFill>
              <a:latin typeface="Montserrat"/>
              <a:ea typeface="Montserrat"/>
              <a:cs typeface="Montserrat"/>
              <a:sym typeface="Montserrat"/>
            </a:endParaRPr>
          </a:p>
        </p:txBody>
      </p:sp>
      <p:sp>
        <p:nvSpPr>
          <p:cNvPr id="389" name="Google Shape;389;p46"/>
          <p:cNvSpPr/>
          <p:nvPr/>
        </p:nvSpPr>
        <p:spPr>
          <a:xfrm>
            <a:off x="3448790" y="2094852"/>
            <a:ext cx="1203900" cy="332400"/>
          </a:xfrm>
          <a:prstGeom prst="rect">
            <a:avLst/>
          </a:prstGeom>
          <a:noFill/>
          <a:ln>
            <a:noFill/>
          </a:ln>
        </p:spPr>
        <p:txBody>
          <a:bodyPr spcFirstLastPara="1" wrap="square" lIns="0" tIns="0" rIns="0" bIns="0" anchor="t" anchorCtr="0">
            <a:noAutofit/>
          </a:bodyPr>
          <a:lstStyle/>
          <a:p>
            <a:pPr marL="0" marR="0" lvl="0" indent="0" algn="ctr" rtl="0">
              <a:lnSpc>
                <a:spcPct val="120000"/>
              </a:lnSpc>
              <a:spcBef>
                <a:spcPts val="0"/>
              </a:spcBef>
              <a:spcAft>
                <a:spcPts val="0"/>
              </a:spcAft>
              <a:buClr>
                <a:srgbClr val="5B5B5B"/>
              </a:buClr>
              <a:buSzPts val="644"/>
              <a:buFont typeface="Calibri"/>
              <a:buNone/>
            </a:pPr>
            <a:r>
              <a:rPr lang="en" sz="644">
                <a:solidFill>
                  <a:srgbClr val="5B5B5B"/>
                </a:solidFill>
                <a:latin typeface="Montserrat"/>
                <a:ea typeface="Montserrat"/>
                <a:cs typeface="Montserrat"/>
                <a:sym typeface="Montserrat"/>
              </a:rPr>
              <a:t>Tài xế xác nhận tham gia chương trình thưởng &amp; thực hiện xác thực in app</a:t>
            </a:r>
            <a:endParaRPr sz="644" i="0" u="none" strike="noStrike" cap="none">
              <a:solidFill>
                <a:srgbClr val="000000"/>
              </a:solidFill>
              <a:latin typeface="Montserrat"/>
              <a:ea typeface="Montserrat"/>
              <a:cs typeface="Montserrat"/>
              <a:sym typeface="Montserrat"/>
            </a:endParaRPr>
          </a:p>
        </p:txBody>
      </p:sp>
      <p:sp>
        <p:nvSpPr>
          <p:cNvPr id="390" name="Google Shape;390;p46"/>
          <p:cNvSpPr/>
          <p:nvPr/>
        </p:nvSpPr>
        <p:spPr>
          <a:xfrm>
            <a:off x="4934625" y="993275"/>
            <a:ext cx="1409100" cy="1506300"/>
          </a:xfrm>
          <a:prstGeom prst="roundRect">
            <a:avLst>
              <a:gd name="adj" fmla="val 4364"/>
            </a:avLst>
          </a:prstGeom>
          <a:solidFill>
            <a:srgbClr val="FDEDE0"/>
          </a:solidFill>
          <a:ln>
            <a:noFill/>
          </a:ln>
          <a:effectLst>
            <a:outerShdw blurRad="57150" dist="19050" dir="5400000" algn="bl" rotWithShape="0">
              <a:srgbClr val="000000">
                <a:alpha val="50000"/>
              </a:srgbClr>
            </a:outerShdw>
          </a:effectLst>
        </p:spPr>
        <p:txBody>
          <a:bodyPr spcFirstLastPara="1" wrap="square" lIns="51225" tIns="51225" rIns="51225" bIns="51225" anchor="ctr" anchorCtr="0">
            <a:noAutofit/>
          </a:bodyPr>
          <a:lstStyle/>
          <a:p>
            <a:pPr marL="0" lvl="0" indent="0" algn="l" rtl="0">
              <a:spcBef>
                <a:spcPts val="0"/>
              </a:spcBef>
              <a:spcAft>
                <a:spcPts val="0"/>
              </a:spcAft>
              <a:buNone/>
            </a:pPr>
            <a:endParaRPr/>
          </a:p>
        </p:txBody>
      </p:sp>
      <p:sp>
        <p:nvSpPr>
          <p:cNvPr id="391" name="Google Shape;391;p46"/>
          <p:cNvSpPr/>
          <p:nvPr/>
        </p:nvSpPr>
        <p:spPr>
          <a:xfrm>
            <a:off x="5434173" y="1172603"/>
            <a:ext cx="409800" cy="409800"/>
          </a:xfrm>
          <a:prstGeom prst="ellipse">
            <a:avLst/>
          </a:prstGeom>
          <a:solidFill>
            <a:srgbClr val="E85D04"/>
          </a:solidFill>
          <a:ln>
            <a:noFill/>
          </a:ln>
        </p:spPr>
        <p:txBody>
          <a:bodyPr spcFirstLastPara="1" wrap="square" lIns="51225" tIns="51225" rIns="51225" bIns="51225" anchor="ctr" anchorCtr="0">
            <a:noAutofit/>
          </a:bodyPr>
          <a:lstStyle/>
          <a:p>
            <a:pPr marL="0" lvl="0" indent="0" algn="l" rtl="0">
              <a:spcBef>
                <a:spcPts val="0"/>
              </a:spcBef>
              <a:spcAft>
                <a:spcPts val="0"/>
              </a:spcAft>
              <a:buNone/>
            </a:pPr>
            <a:endParaRPr/>
          </a:p>
        </p:txBody>
      </p:sp>
      <p:pic>
        <p:nvPicPr>
          <p:cNvPr id="392" name="Google Shape;392;p46" descr="/home/claude/baga_report/wallet.png"/>
          <p:cNvPicPr preferRelativeResize="0"/>
          <p:nvPr/>
        </p:nvPicPr>
        <p:blipFill rotWithShape="1">
          <a:blip r:embed="rId6">
            <a:alphaModFix/>
          </a:blip>
          <a:srcRect/>
          <a:stretch/>
        </p:blipFill>
        <p:spPr>
          <a:xfrm>
            <a:off x="5516151" y="1254581"/>
            <a:ext cx="245931" cy="245931"/>
          </a:xfrm>
          <a:prstGeom prst="rect">
            <a:avLst/>
          </a:prstGeom>
          <a:noFill/>
          <a:ln>
            <a:noFill/>
          </a:ln>
        </p:spPr>
      </p:pic>
      <p:sp>
        <p:nvSpPr>
          <p:cNvPr id="393" name="Google Shape;393;p46"/>
          <p:cNvSpPr/>
          <p:nvPr/>
        </p:nvSpPr>
        <p:spPr>
          <a:xfrm>
            <a:off x="4934625" y="1684965"/>
            <a:ext cx="1409100" cy="1536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B34700"/>
              </a:buClr>
              <a:buSzPts val="560"/>
              <a:buFont typeface="Calibri"/>
              <a:buNone/>
            </a:pPr>
            <a:r>
              <a:rPr lang="en" sz="560" i="0" u="none" strike="noStrike" cap="none">
                <a:solidFill>
                  <a:srgbClr val="B34700"/>
                </a:solidFill>
                <a:latin typeface="Montserrat"/>
                <a:ea typeface="Montserrat"/>
                <a:cs typeface="Montserrat"/>
                <a:sym typeface="Montserrat"/>
              </a:rPr>
              <a:t>BƯỚC 4</a:t>
            </a:r>
            <a:endParaRPr sz="560" i="0" u="none" strike="noStrike" cap="none">
              <a:solidFill>
                <a:srgbClr val="000000"/>
              </a:solidFill>
              <a:latin typeface="Montserrat"/>
              <a:ea typeface="Montserrat"/>
              <a:cs typeface="Montserrat"/>
              <a:sym typeface="Montserrat"/>
            </a:endParaRPr>
          </a:p>
        </p:txBody>
      </p:sp>
      <p:sp>
        <p:nvSpPr>
          <p:cNvPr id="394" name="Google Shape;394;p46"/>
          <p:cNvSpPr/>
          <p:nvPr/>
        </p:nvSpPr>
        <p:spPr>
          <a:xfrm>
            <a:off x="4934625" y="1838673"/>
            <a:ext cx="1409100" cy="2307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B2A4A"/>
              </a:buClr>
              <a:buSzPts val="897"/>
              <a:buFont typeface="Cambria"/>
              <a:buNone/>
            </a:pPr>
            <a:r>
              <a:rPr lang="en" sz="897" b="1" i="0" u="none" strike="noStrike" cap="none">
                <a:solidFill>
                  <a:srgbClr val="1B2A4A"/>
                </a:solidFill>
                <a:latin typeface="Montserrat"/>
                <a:ea typeface="Montserrat"/>
                <a:cs typeface="Montserrat"/>
                <a:sym typeface="Montserrat"/>
              </a:rPr>
              <a:t>Hoàn phí</a:t>
            </a:r>
            <a:endParaRPr sz="897" b="1" i="0" u="none" strike="noStrike" cap="none">
              <a:solidFill>
                <a:srgbClr val="000000"/>
              </a:solidFill>
              <a:latin typeface="Montserrat"/>
              <a:ea typeface="Montserrat"/>
              <a:cs typeface="Montserrat"/>
              <a:sym typeface="Montserrat"/>
            </a:endParaRPr>
          </a:p>
        </p:txBody>
      </p:sp>
      <p:sp>
        <p:nvSpPr>
          <p:cNvPr id="395" name="Google Shape;395;p46"/>
          <p:cNvSpPr/>
          <p:nvPr/>
        </p:nvSpPr>
        <p:spPr>
          <a:xfrm>
            <a:off x="5037099" y="2094852"/>
            <a:ext cx="1203900" cy="332400"/>
          </a:xfrm>
          <a:prstGeom prst="rect">
            <a:avLst/>
          </a:prstGeom>
          <a:noFill/>
          <a:ln>
            <a:noFill/>
          </a:ln>
        </p:spPr>
        <p:txBody>
          <a:bodyPr spcFirstLastPara="1" wrap="square" lIns="0" tIns="0" rIns="0" bIns="0" anchor="t" anchorCtr="0">
            <a:noAutofit/>
          </a:bodyPr>
          <a:lstStyle/>
          <a:p>
            <a:pPr marL="0" marR="0" lvl="0" indent="0" algn="ctr" rtl="0">
              <a:lnSpc>
                <a:spcPct val="120000"/>
              </a:lnSpc>
              <a:spcBef>
                <a:spcPts val="0"/>
              </a:spcBef>
              <a:spcAft>
                <a:spcPts val="0"/>
              </a:spcAft>
              <a:buClr>
                <a:srgbClr val="5B5B5B"/>
              </a:buClr>
              <a:buSzPts val="644"/>
              <a:buFont typeface="Calibri"/>
              <a:buNone/>
            </a:pPr>
            <a:r>
              <a:rPr lang="en" sz="644" i="0" u="none" strike="noStrike" cap="none">
                <a:solidFill>
                  <a:srgbClr val="5B5B5B"/>
                </a:solidFill>
                <a:latin typeface="Montserrat"/>
                <a:ea typeface="Montserrat"/>
                <a:cs typeface="Montserrat"/>
                <a:sym typeface="Montserrat"/>
              </a:rPr>
              <a:t>Nhận tiền hoàn phí </a:t>
            </a:r>
            <a:r>
              <a:rPr lang="en" sz="644">
                <a:solidFill>
                  <a:srgbClr val="5B5B5B"/>
                </a:solidFill>
                <a:latin typeface="Montserrat"/>
                <a:ea typeface="Montserrat"/>
                <a:cs typeface="Montserrat"/>
                <a:sym typeface="Montserrat"/>
              </a:rPr>
              <a:t>nếu hoàn thành nhiệm vụ</a:t>
            </a:r>
            <a:endParaRPr sz="644" i="0" u="none" strike="noStrike" cap="none">
              <a:solidFill>
                <a:srgbClr val="000000"/>
              </a:solidFill>
              <a:latin typeface="Montserrat"/>
              <a:ea typeface="Montserrat"/>
              <a:cs typeface="Montserrat"/>
              <a:sym typeface="Montserrat"/>
            </a:endParaRPr>
          </a:p>
        </p:txBody>
      </p:sp>
      <p:sp>
        <p:nvSpPr>
          <p:cNvPr id="396" name="Google Shape;396;p46"/>
          <p:cNvSpPr/>
          <p:nvPr/>
        </p:nvSpPr>
        <p:spPr>
          <a:xfrm>
            <a:off x="1588929" y="1787437"/>
            <a:ext cx="159000" cy="256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E85D04"/>
              </a:buClr>
              <a:buSzPts val="1121"/>
              <a:buFont typeface="Calibri"/>
              <a:buNone/>
            </a:pPr>
            <a:r>
              <a:rPr lang="en" sz="1121" b="1" i="0" u="none" strike="noStrike" cap="none">
                <a:solidFill>
                  <a:srgbClr val="E85D04"/>
                </a:solidFill>
                <a:latin typeface="Calibri"/>
                <a:ea typeface="Calibri"/>
                <a:cs typeface="Calibri"/>
                <a:sym typeface="Calibri"/>
              </a:rPr>
              <a:t>➜</a:t>
            </a:r>
            <a:endParaRPr sz="1121" b="0" i="0" u="none" strike="noStrike" cap="none">
              <a:solidFill>
                <a:srgbClr val="000000"/>
              </a:solidFill>
              <a:latin typeface="Calibri"/>
              <a:ea typeface="Calibri"/>
              <a:cs typeface="Calibri"/>
              <a:sym typeface="Calibri"/>
            </a:endParaRPr>
          </a:p>
        </p:txBody>
      </p:sp>
      <p:sp>
        <p:nvSpPr>
          <p:cNvPr id="397" name="Google Shape;397;p46"/>
          <p:cNvSpPr/>
          <p:nvPr/>
        </p:nvSpPr>
        <p:spPr>
          <a:xfrm>
            <a:off x="3177238" y="1787437"/>
            <a:ext cx="159000" cy="256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E85D04"/>
              </a:buClr>
              <a:buSzPts val="1121"/>
              <a:buFont typeface="Calibri"/>
              <a:buNone/>
            </a:pPr>
            <a:r>
              <a:rPr lang="en" sz="1121" b="1" i="0" u="none" strike="noStrike" cap="none">
                <a:solidFill>
                  <a:srgbClr val="E85D04"/>
                </a:solidFill>
                <a:latin typeface="Calibri"/>
                <a:ea typeface="Calibri"/>
                <a:cs typeface="Calibri"/>
                <a:sym typeface="Calibri"/>
              </a:rPr>
              <a:t>➜</a:t>
            </a:r>
            <a:endParaRPr sz="1121" b="0" i="0" u="none" strike="noStrike" cap="none">
              <a:solidFill>
                <a:srgbClr val="000000"/>
              </a:solidFill>
              <a:latin typeface="Calibri"/>
              <a:ea typeface="Calibri"/>
              <a:cs typeface="Calibri"/>
              <a:sym typeface="Calibri"/>
            </a:endParaRPr>
          </a:p>
        </p:txBody>
      </p:sp>
      <p:sp>
        <p:nvSpPr>
          <p:cNvPr id="398" name="Google Shape;398;p46"/>
          <p:cNvSpPr/>
          <p:nvPr/>
        </p:nvSpPr>
        <p:spPr>
          <a:xfrm>
            <a:off x="4765547" y="1787437"/>
            <a:ext cx="159000" cy="256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E85D04"/>
              </a:buClr>
              <a:buSzPts val="1121"/>
              <a:buFont typeface="Calibri"/>
              <a:buNone/>
            </a:pPr>
            <a:r>
              <a:rPr lang="en" sz="1121" b="1" i="0" u="none" strike="noStrike" cap="none">
                <a:solidFill>
                  <a:srgbClr val="E85D04"/>
                </a:solidFill>
                <a:latin typeface="Calibri"/>
                <a:ea typeface="Calibri"/>
                <a:cs typeface="Calibri"/>
                <a:sym typeface="Calibri"/>
              </a:rPr>
              <a:t>➜</a:t>
            </a:r>
            <a:endParaRPr sz="1121" b="0" i="0" u="none" strike="noStrike" cap="none">
              <a:solidFill>
                <a:srgbClr val="000000"/>
              </a:solidFill>
              <a:latin typeface="Calibri"/>
              <a:ea typeface="Calibri"/>
              <a:cs typeface="Calibri"/>
              <a:sym typeface="Calibri"/>
            </a:endParaRPr>
          </a:p>
        </p:txBody>
      </p:sp>
      <p:sp>
        <p:nvSpPr>
          <p:cNvPr id="399" name="Google Shape;399;p46"/>
          <p:cNvSpPr/>
          <p:nvPr/>
        </p:nvSpPr>
        <p:spPr>
          <a:xfrm>
            <a:off x="177621" y="681050"/>
            <a:ext cx="1518900" cy="2559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E4174"/>
              </a:buClr>
              <a:buSzPts val="1100"/>
              <a:buFont typeface="Calibri"/>
              <a:buNone/>
            </a:pPr>
            <a:r>
              <a:rPr lang="en" sz="1100" b="1">
                <a:solidFill>
                  <a:srgbClr val="0E4174"/>
                </a:solidFill>
                <a:latin typeface="Lexend"/>
                <a:ea typeface="Lexend"/>
                <a:cs typeface="Lexend"/>
                <a:sym typeface="Lexend"/>
              </a:rPr>
              <a:t>Quy trình vận hành</a:t>
            </a:r>
            <a:endParaRPr sz="1100" b="1" i="0" u="none" strike="noStrike" cap="none">
              <a:solidFill>
                <a:srgbClr val="0E4174"/>
              </a:solidFill>
              <a:latin typeface="Lexend"/>
              <a:ea typeface="Lexend"/>
              <a:cs typeface="Lexend"/>
              <a:sym typeface="Lexend"/>
            </a:endParaRPr>
          </a:p>
        </p:txBody>
      </p:sp>
      <p:sp>
        <p:nvSpPr>
          <p:cNvPr id="400" name="Google Shape;400;p46"/>
          <p:cNvSpPr/>
          <p:nvPr/>
        </p:nvSpPr>
        <p:spPr>
          <a:xfrm>
            <a:off x="177621" y="2791600"/>
            <a:ext cx="1518900" cy="2559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E4174"/>
              </a:buClr>
              <a:buSzPts val="1100"/>
              <a:buFont typeface="Calibri"/>
              <a:buNone/>
            </a:pPr>
            <a:r>
              <a:rPr lang="en" sz="1100" b="1">
                <a:solidFill>
                  <a:srgbClr val="0E4174"/>
                </a:solidFill>
                <a:latin typeface="Lexend"/>
                <a:ea typeface="Lexend"/>
                <a:cs typeface="Lexend"/>
                <a:sym typeface="Lexend"/>
              </a:rPr>
              <a:t>Timeline</a:t>
            </a:r>
            <a:endParaRPr sz="1100" b="1" i="0" u="none" strike="noStrike" cap="none">
              <a:solidFill>
                <a:srgbClr val="0E4174"/>
              </a:solidFill>
              <a:latin typeface="Lexend"/>
              <a:ea typeface="Lexend"/>
              <a:cs typeface="Lexend"/>
              <a:sym typeface="Lexend"/>
            </a:endParaRPr>
          </a:p>
        </p:txBody>
      </p:sp>
      <p:cxnSp>
        <p:nvCxnSpPr>
          <p:cNvPr id="401" name="Google Shape;401;p46"/>
          <p:cNvCxnSpPr/>
          <p:nvPr/>
        </p:nvCxnSpPr>
        <p:spPr>
          <a:xfrm>
            <a:off x="771583" y="3834978"/>
            <a:ext cx="7600500" cy="0"/>
          </a:xfrm>
          <a:prstGeom prst="straightConnector1">
            <a:avLst/>
          </a:prstGeom>
          <a:noFill/>
          <a:ln w="28525" cap="flat" cmpd="sng">
            <a:solidFill>
              <a:srgbClr val="D9D9D9"/>
            </a:solidFill>
            <a:prstDash val="solid"/>
            <a:round/>
            <a:headEnd type="none" w="sm" len="sm"/>
            <a:tailEnd type="none" w="sm" len="sm"/>
          </a:ln>
        </p:spPr>
      </p:cxnSp>
      <p:sp>
        <p:nvSpPr>
          <p:cNvPr id="402" name="Google Shape;402;p46"/>
          <p:cNvSpPr/>
          <p:nvPr/>
        </p:nvSpPr>
        <p:spPr>
          <a:xfrm>
            <a:off x="668869" y="3732263"/>
            <a:ext cx="205200" cy="205200"/>
          </a:xfrm>
          <a:prstGeom prst="ellipse">
            <a:avLst/>
          </a:prstGeom>
          <a:solidFill>
            <a:srgbClr val="E85D04"/>
          </a:solidFill>
          <a:ln w="19000" cap="flat" cmpd="sng">
            <a:solidFill>
              <a:srgbClr val="FFFFFF"/>
            </a:solidFill>
            <a:prstDash val="solid"/>
            <a:round/>
            <a:headEnd type="none" w="sm" len="sm"/>
            <a:tailEnd type="none" w="sm" len="sm"/>
          </a:ln>
        </p:spPr>
        <p:txBody>
          <a:bodyPr spcFirstLastPara="1" wrap="square" lIns="68475" tIns="68475" rIns="68475" bIns="68475" anchor="ctr" anchorCtr="0">
            <a:noAutofit/>
          </a:bodyPr>
          <a:lstStyle/>
          <a:p>
            <a:pPr marL="0" lvl="0" indent="0" algn="l" rtl="0">
              <a:spcBef>
                <a:spcPts val="0"/>
              </a:spcBef>
              <a:spcAft>
                <a:spcPts val="0"/>
              </a:spcAft>
              <a:buNone/>
            </a:pPr>
            <a:endParaRPr/>
          </a:p>
        </p:txBody>
      </p:sp>
      <p:sp>
        <p:nvSpPr>
          <p:cNvPr id="403" name="Google Shape;403;p46"/>
          <p:cNvSpPr/>
          <p:nvPr/>
        </p:nvSpPr>
        <p:spPr>
          <a:xfrm>
            <a:off x="404575" y="3235900"/>
            <a:ext cx="741600" cy="393600"/>
          </a:xfrm>
          <a:prstGeom prst="rect">
            <a:avLst/>
          </a:prstGeom>
          <a:noFill/>
          <a:ln>
            <a:noFill/>
          </a:ln>
        </p:spPr>
        <p:txBody>
          <a:bodyPr spcFirstLastPara="1" wrap="square" lIns="0" tIns="0" rIns="0" bIns="0" anchor="b" anchorCtr="0">
            <a:noAutofit/>
          </a:bodyPr>
          <a:lstStyle/>
          <a:p>
            <a:pPr marL="0" marR="0" lvl="0" indent="0" algn="ctr" rtl="0">
              <a:lnSpc>
                <a:spcPct val="110000"/>
              </a:lnSpc>
              <a:spcBef>
                <a:spcPts val="0"/>
              </a:spcBef>
              <a:spcAft>
                <a:spcPts val="0"/>
              </a:spcAft>
              <a:buClr>
                <a:srgbClr val="1B2A4A"/>
              </a:buClr>
              <a:buSzPts val="936"/>
              <a:buFont typeface="Calibri"/>
              <a:buNone/>
            </a:pPr>
            <a:r>
              <a:rPr lang="en" sz="936" b="1">
                <a:solidFill>
                  <a:srgbClr val="1B2A4A"/>
                </a:solidFill>
                <a:latin typeface="Calibri"/>
                <a:ea typeface="Calibri"/>
                <a:cs typeface="Calibri"/>
                <a:sym typeface="Calibri"/>
              </a:rPr>
              <a:t>Giai đoạn</a:t>
            </a:r>
            <a:endParaRPr sz="936" b="0" i="0" u="none" strike="noStrike" cap="none">
              <a:solidFill>
                <a:srgbClr val="000000"/>
              </a:solidFill>
              <a:latin typeface="Calibri"/>
              <a:ea typeface="Calibri"/>
              <a:cs typeface="Calibri"/>
              <a:sym typeface="Calibri"/>
            </a:endParaRPr>
          </a:p>
          <a:p>
            <a:pPr marL="0" marR="0" lvl="0" indent="0" algn="ctr" rtl="0">
              <a:lnSpc>
                <a:spcPct val="110000"/>
              </a:lnSpc>
              <a:spcBef>
                <a:spcPts val="0"/>
              </a:spcBef>
              <a:spcAft>
                <a:spcPts val="0"/>
              </a:spcAft>
              <a:buClr>
                <a:srgbClr val="1B2A4A"/>
              </a:buClr>
              <a:buSzPts val="936"/>
              <a:buFont typeface="Calibri"/>
              <a:buNone/>
            </a:pPr>
            <a:r>
              <a:rPr lang="en" sz="936" b="1" i="0" u="none" strike="noStrike" cap="none">
                <a:solidFill>
                  <a:srgbClr val="1B2A4A"/>
                </a:solidFill>
                <a:latin typeface="Calibri"/>
                <a:ea typeface="Calibri"/>
                <a:cs typeface="Calibri"/>
                <a:sym typeface="Calibri"/>
              </a:rPr>
              <a:t>Chuẩn bị</a:t>
            </a:r>
            <a:endParaRPr sz="936" b="0" i="0" u="none" strike="noStrike" cap="none">
              <a:solidFill>
                <a:srgbClr val="000000"/>
              </a:solidFill>
              <a:latin typeface="Calibri"/>
              <a:ea typeface="Calibri"/>
              <a:cs typeface="Calibri"/>
              <a:sym typeface="Calibri"/>
            </a:endParaRPr>
          </a:p>
        </p:txBody>
      </p:sp>
      <p:sp>
        <p:nvSpPr>
          <p:cNvPr id="404" name="Google Shape;404;p46"/>
          <p:cNvSpPr/>
          <p:nvPr/>
        </p:nvSpPr>
        <p:spPr>
          <a:xfrm>
            <a:off x="86822" y="4006168"/>
            <a:ext cx="1369500" cy="2400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5B5B5B"/>
              </a:buClr>
              <a:buSzPts val="824"/>
              <a:buFont typeface="Calibri"/>
              <a:buNone/>
            </a:pPr>
            <a:r>
              <a:rPr lang="en" sz="924" b="1" i="0" u="none" strike="noStrike" cap="none">
                <a:solidFill>
                  <a:srgbClr val="5B5B5B"/>
                </a:solidFill>
                <a:latin typeface="Lexend"/>
                <a:ea typeface="Lexend"/>
                <a:cs typeface="Lexend"/>
                <a:sym typeface="Lexend"/>
              </a:rPr>
              <a:t>[</a:t>
            </a:r>
            <a:r>
              <a:rPr lang="en" sz="924" b="1">
                <a:solidFill>
                  <a:srgbClr val="5B5B5B"/>
                </a:solidFill>
                <a:latin typeface="Lexend"/>
                <a:ea typeface="Lexend"/>
                <a:cs typeface="Lexend"/>
                <a:sym typeface="Lexend"/>
              </a:rPr>
              <a:t>23/7</a:t>
            </a:r>
            <a:r>
              <a:rPr lang="en" sz="924" b="1" i="0" u="none" strike="noStrike" cap="none">
                <a:solidFill>
                  <a:srgbClr val="5B5B5B"/>
                </a:solidFill>
                <a:latin typeface="Lexend"/>
                <a:ea typeface="Lexend"/>
                <a:cs typeface="Lexend"/>
                <a:sym typeface="Lexend"/>
              </a:rPr>
              <a:t>–</a:t>
            </a:r>
            <a:r>
              <a:rPr lang="en" sz="924" b="1">
                <a:solidFill>
                  <a:srgbClr val="5B5B5B"/>
                </a:solidFill>
                <a:latin typeface="Lexend"/>
                <a:ea typeface="Lexend"/>
                <a:cs typeface="Lexend"/>
                <a:sym typeface="Lexend"/>
              </a:rPr>
              <a:t>1/8</a:t>
            </a:r>
            <a:r>
              <a:rPr lang="en" sz="924" b="1" i="0" u="none" strike="noStrike" cap="none">
                <a:solidFill>
                  <a:srgbClr val="5B5B5B"/>
                </a:solidFill>
                <a:latin typeface="Lexend"/>
                <a:ea typeface="Lexend"/>
                <a:cs typeface="Lexend"/>
                <a:sym typeface="Lexend"/>
              </a:rPr>
              <a:t>]</a:t>
            </a:r>
            <a:endParaRPr sz="924" b="1" i="0" u="none" strike="noStrike" cap="none">
              <a:solidFill>
                <a:srgbClr val="000000"/>
              </a:solidFill>
              <a:latin typeface="Lexend"/>
              <a:ea typeface="Lexend"/>
              <a:cs typeface="Lexend"/>
              <a:sym typeface="Lexend"/>
            </a:endParaRPr>
          </a:p>
        </p:txBody>
      </p:sp>
      <p:sp>
        <p:nvSpPr>
          <p:cNvPr id="405" name="Google Shape;405;p46"/>
          <p:cNvSpPr/>
          <p:nvPr/>
        </p:nvSpPr>
        <p:spPr>
          <a:xfrm>
            <a:off x="257887" y="4838423"/>
            <a:ext cx="1027200" cy="273600"/>
          </a:xfrm>
          <a:prstGeom prst="roundRect">
            <a:avLst>
              <a:gd name="adj" fmla="val 50000"/>
            </a:avLst>
          </a:prstGeom>
          <a:solidFill>
            <a:srgbClr val="E85D04"/>
          </a:solidFill>
          <a:ln>
            <a:noFill/>
          </a:ln>
        </p:spPr>
        <p:txBody>
          <a:bodyPr spcFirstLastPara="1" wrap="square" lIns="68475" tIns="68475" rIns="68475" bIns="68475" anchor="ctr" anchorCtr="0">
            <a:noAutofit/>
          </a:bodyPr>
          <a:lstStyle/>
          <a:p>
            <a:pPr marL="0" lvl="0" indent="0" algn="l" rtl="0">
              <a:spcBef>
                <a:spcPts val="0"/>
              </a:spcBef>
              <a:spcAft>
                <a:spcPts val="0"/>
              </a:spcAft>
              <a:buNone/>
            </a:pPr>
            <a:endParaRPr/>
          </a:p>
        </p:txBody>
      </p:sp>
      <p:sp>
        <p:nvSpPr>
          <p:cNvPr id="406" name="Google Shape;406;p46"/>
          <p:cNvSpPr/>
          <p:nvPr/>
        </p:nvSpPr>
        <p:spPr>
          <a:xfrm>
            <a:off x="257887" y="4838423"/>
            <a:ext cx="1027200" cy="2736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786"/>
              <a:buFont typeface="Calibri"/>
              <a:buNone/>
            </a:pPr>
            <a:r>
              <a:rPr lang="en" sz="786" b="1" i="0" u="none" strike="noStrike" cap="none">
                <a:solidFill>
                  <a:srgbClr val="FFFFFF"/>
                </a:solidFill>
                <a:latin typeface="Calibri"/>
                <a:ea typeface="Calibri"/>
                <a:cs typeface="Calibri"/>
                <a:sym typeface="Calibri"/>
              </a:rPr>
              <a:t>Hoàn thành</a:t>
            </a:r>
            <a:endParaRPr sz="786" b="0" i="0" u="none" strike="noStrike" cap="none">
              <a:solidFill>
                <a:srgbClr val="000000"/>
              </a:solidFill>
              <a:latin typeface="Calibri"/>
              <a:ea typeface="Calibri"/>
              <a:cs typeface="Calibri"/>
              <a:sym typeface="Calibri"/>
            </a:endParaRPr>
          </a:p>
        </p:txBody>
      </p:sp>
      <p:sp>
        <p:nvSpPr>
          <p:cNvPr id="407" name="Google Shape;407;p46"/>
          <p:cNvSpPr/>
          <p:nvPr/>
        </p:nvSpPr>
        <p:spPr>
          <a:xfrm>
            <a:off x="2586286" y="3766613"/>
            <a:ext cx="205200" cy="205200"/>
          </a:xfrm>
          <a:prstGeom prst="ellipse">
            <a:avLst/>
          </a:prstGeom>
          <a:solidFill>
            <a:srgbClr val="E85D04"/>
          </a:solidFill>
          <a:ln w="19000" cap="flat" cmpd="sng">
            <a:solidFill>
              <a:srgbClr val="FFFFFF"/>
            </a:solidFill>
            <a:prstDash val="solid"/>
            <a:round/>
            <a:headEnd type="none" w="sm" len="sm"/>
            <a:tailEnd type="none" w="sm" len="sm"/>
          </a:ln>
        </p:spPr>
        <p:txBody>
          <a:bodyPr spcFirstLastPara="1" wrap="square" lIns="68475" tIns="68475" rIns="68475" bIns="68475" anchor="ctr" anchorCtr="0">
            <a:noAutofit/>
          </a:bodyPr>
          <a:lstStyle/>
          <a:p>
            <a:pPr marL="0" lvl="0" indent="0" algn="l" rtl="0">
              <a:spcBef>
                <a:spcPts val="0"/>
              </a:spcBef>
              <a:spcAft>
                <a:spcPts val="0"/>
              </a:spcAft>
              <a:buNone/>
            </a:pPr>
            <a:endParaRPr/>
          </a:p>
        </p:txBody>
      </p:sp>
      <p:sp>
        <p:nvSpPr>
          <p:cNvPr id="408" name="Google Shape;408;p46"/>
          <p:cNvSpPr/>
          <p:nvPr/>
        </p:nvSpPr>
        <p:spPr>
          <a:xfrm>
            <a:off x="2004114" y="4006168"/>
            <a:ext cx="1369500" cy="2400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5B5B5B"/>
              </a:buClr>
              <a:buSzPts val="824"/>
              <a:buFont typeface="Calibri"/>
              <a:buNone/>
            </a:pPr>
            <a:r>
              <a:rPr lang="en" sz="900" b="1" i="0" u="none" strike="noStrike" cap="none">
                <a:solidFill>
                  <a:srgbClr val="5B5B5B"/>
                </a:solidFill>
                <a:latin typeface="Montserrat"/>
                <a:ea typeface="Montserrat"/>
                <a:cs typeface="Montserrat"/>
                <a:sym typeface="Montserrat"/>
              </a:rPr>
              <a:t>[</a:t>
            </a:r>
            <a:r>
              <a:rPr lang="en" sz="900" b="1">
                <a:solidFill>
                  <a:srgbClr val="5B5B5B"/>
                </a:solidFill>
                <a:latin typeface="Montserrat"/>
                <a:ea typeface="Montserrat"/>
                <a:cs typeface="Montserrat"/>
                <a:sym typeface="Montserrat"/>
              </a:rPr>
              <a:t>3/8</a:t>
            </a:r>
            <a:r>
              <a:rPr lang="en" sz="900" b="1" i="0" u="none" strike="noStrike" cap="none">
                <a:solidFill>
                  <a:srgbClr val="5B5B5B"/>
                </a:solidFill>
                <a:latin typeface="Montserrat"/>
                <a:ea typeface="Montserrat"/>
                <a:cs typeface="Montserrat"/>
                <a:sym typeface="Montserrat"/>
              </a:rPr>
              <a:t>–</a:t>
            </a:r>
            <a:r>
              <a:rPr lang="en" sz="900" b="1">
                <a:solidFill>
                  <a:srgbClr val="5B5B5B"/>
                </a:solidFill>
                <a:latin typeface="Montserrat"/>
                <a:ea typeface="Montserrat"/>
                <a:cs typeface="Montserrat"/>
                <a:sym typeface="Montserrat"/>
              </a:rPr>
              <a:t>14/8</a:t>
            </a:r>
            <a:r>
              <a:rPr lang="en" sz="900" b="1" i="0" u="none" strike="noStrike" cap="none">
                <a:solidFill>
                  <a:srgbClr val="5B5B5B"/>
                </a:solidFill>
                <a:latin typeface="Montserrat"/>
                <a:ea typeface="Montserrat"/>
                <a:cs typeface="Montserrat"/>
                <a:sym typeface="Montserrat"/>
              </a:rPr>
              <a:t>]</a:t>
            </a:r>
            <a:endParaRPr sz="900" b="1" i="0" u="none" strike="noStrike" cap="none">
              <a:solidFill>
                <a:srgbClr val="000000"/>
              </a:solidFill>
              <a:latin typeface="Montserrat"/>
              <a:ea typeface="Montserrat"/>
              <a:cs typeface="Montserrat"/>
              <a:sym typeface="Montserrat"/>
            </a:endParaRPr>
          </a:p>
        </p:txBody>
      </p:sp>
      <p:sp>
        <p:nvSpPr>
          <p:cNvPr id="409" name="Google Shape;409;p46"/>
          <p:cNvSpPr/>
          <p:nvPr/>
        </p:nvSpPr>
        <p:spPr>
          <a:xfrm>
            <a:off x="2175279" y="4838423"/>
            <a:ext cx="1027200" cy="273600"/>
          </a:xfrm>
          <a:prstGeom prst="roundRect">
            <a:avLst>
              <a:gd name="adj" fmla="val 50000"/>
            </a:avLst>
          </a:prstGeom>
          <a:solidFill>
            <a:srgbClr val="E85D04"/>
          </a:solidFill>
          <a:ln>
            <a:noFill/>
          </a:ln>
        </p:spPr>
        <p:txBody>
          <a:bodyPr spcFirstLastPara="1" wrap="square" lIns="68475" tIns="68475" rIns="68475" bIns="68475" anchor="ctr" anchorCtr="0">
            <a:noAutofit/>
          </a:bodyPr>
          <a:lstStyle/>
          <a:p>
            <a:pPr marL="0" lvl="0" indent="0" algn="l" rtl="0">
              <a:spcBef>
                <a:spcPts val="0"/>
              </a:spcBef>
              <a:spcAft>
                <a:spcPts val="0"/>
              </a:spcAft>
              <a:buNone/>
            </a:pPr>
            <a:endParaRPr/>
          </a:p>
        </p:txBody>
      </p:sp>
      <p:sp>
        <p:nvSpPr>
          <p:cNvPr id="410" name="Google Shape;410;p46"/>
          <p:cNvSpPr/>
          <p:nvPr/>
        </p:nvSpPr>
        <p:spPr>
          <a:xfrm>
            <a:off x="2175279" y="4838423"/>
            <a:ext cx="1027200" cy="2736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786"/>
              <a:buFont typeface="Calibri"/>
              <a:buNone/>
            </a:pPr>
            <a:r>
              <a:rPr lang="en" sz="786" b="1" i="0" u="none" strike="noStrike" cap="none">
                <a:solidFill>
                  <a:srgbClr val="FFFFFF"/>
                </a:solidFill>
                <a:latin typeface="Calibri"/>
                <a:ea typeface="Calibri"/>
                <a:cs typeface="Calibri"/>
                <a:sym typeface="Calibri"/>
              </a:rPr>
              <a:t>Hoàn thành</a:t>
            </a:r>
            <a:endParaRPr sz="786" b="0" i="0" u="none" strike="noStrike" cap="none">
              <a:solidFill>
                <a:srgbClr val="000000"/>
              </a:solidFill>
              <a:latin typeface="Calibri"/>
              <a:ea typeface="Calibri"/>
              <a:cs typeface="Calibri"/>
              <a:sym typeface="Calibri"/>
            </a:endParaRPr>
          </a:p>
        </p:txBody>
      </p:sp>
      <p:sp>
        <p:nvSpPr>
          <p:cNvPr id="411" name="Google Shape;411;p46"/>
          <p:cNvSpPr/>
          <p:nvPr/>
        </p:nvSpPr>
        <p:spPr>
          <a:xfrm>
            <a:off x="4469302" y="3766613"/>
            <a:ext cx="205200" cy="205200"/>
          </a:xfrm>
          <a:prstGeom prst="ellipse">
            <a:avLst/>
          </a:prstGeom>
          <a:solidFill>
            <a:srgbClr val="FFBA08"/>
          </a:solidFill>
          <a:ln w="19000" cap="flat" cmpd="sng">
            <a:solidFill>
              <a:srgbClr val="FFFFFF"/>
            </a:solidFill>
            <a:prstDash val="solid"/>
            <a:round/>
            <a:headEnd type="none" w="sm" len="sm"/>
            <a:tailEnd type="none" w="sm" len="sm"/>
          </a:ln>
        </p:spPr>
        <p:txBody>
          <a:bodyPr spcFirstLastPara="1" wrap="square" lIns="68475" tIns="68475" rIns="68475" bIns="68475" anchor="ctr" anchorCtr="0">
            <a:noAutofit/>
          </a:bodyPr>
          <a:lstStyle/>
          <a:p>
            <a:pPr marL="0" lvl="0" indent="0" algn="l" rtl="0">
              <a:spcBef>
                <a:spcPts val="0"/>
              </a:spcBef>
              <a:spcAft>
                <a:spcPts val="0"/>
              </a:spcAft>
              <a:buNone/>
            </a:pPr>
            <a:endParaRPr/>
          </a:p>
        </p:txBody>
      </p:sp>
      <p:sp>
        <p:nvSpPr>
          <p:cNvPr id="412" name="Google Shape;412;p46"/>
          <p:cNvSpPr/>
          <p:nvPr/>
        </p:nvSpPr>
        <p:spPr>
          <a:xfrm>
            <a:off x="3921430" y="4006168"/>
            <a:ext cx="1369500" cy="2400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5B5B5B"/>
              </a:buClr>
              <a:buSzPts val="824"/>
              <a:buFont typeface="Calibri"/>
              <a:buNone/>
            </a:pPr>
            <a:r>
              <a:rPr lang="en" sz="900" b="1" i="0" u="none" strike="noStrike" cap="none">
                <a:solidFill>
                  <a:srgbClr val="5B5B5B"/>
                </a:solidFill>
                <a:latin typeface="Montserrat"/>
                <a:ea typeface="Montserrat"/>
                <a:cs typeface="Montserrat"/>
                <a:sym typeface="Montserrat"/>
              </a:rPr>
              <a:t>[</a:t>
            </a:r>
            <a:r>
              <a:rPr lang="en" sz="900" b="1">
                <a:solidFill>
                  <a:srgbClr val="5B5B5B"/>
                </a:solidFill>
                <a:latin typeface="Montserrat"/>
                <a:ea typeface="Montserrat"/>
                <a:cs typeface="Montserrat"/>
                <a:sym typeface="Montserrat"/>
              </a:rPr>
              <a:t>15/8</a:t>
            </a:r>
            <a:r>
              <a:rPr lang="en" sz="900" b="1" i="0" u="none" strike="noStrike" cap="none">
                <a:solidFill>
                  <a:srgbClr val="5B5B5B"/>
                </a:solidFill>
                <a:latin typeface="Montserrat"/>
                <a:ea typeface="Montserrat"/>
                <a:cs typeface="Montserrat"/>
                <a:sym typeface="Montserrat"/>
              </a:rPr>
              <a:t>–</a:t>
            </a:r>
            <a:r>
              <a:rPr lang="en" sz="900" b="1">
                <a:solidFill>
                  <a:srgbClr val="5B5B5B"/>
                </a:solidFill>
                <a:latin typeface="Montserrat"/>
                <a:ea typeface="Montserrat"/>
                <a:cs typeface="Montserrat"/>
                <a:sym typeface="Montserrat"/>
              </a:rPr>
              <a:t>30/8</a:t>
            </a:r>
            <a:r>
              <a:rPr lang="en" sz="900" b="1" i="0" u="none" strike="noStrike" cap="none">
                <a:solidFill>
                  <a:srgbClr val="5B5B5B"/>
                </a:solidFill>
                <a:latin typeface="Montserrat"/>
                <a:ea typeface="Montserrat"/>
                <a:cs typeface="Montserrat"/>
                <a:sym typeface="Montserrat"/>
              </a:rPr>
              <a:t>]</a:t>
            </a:r>
            <a:endParaRPr sz="900" b="1" i="0" u="none" strike="noStrike" cap="none">
              <a:solidFill>
                <a:srgbClr val="000000"/>
              </a:solidFill>
              <a:latin typeface="Montserrat"/>
              <a:ea typeface="Montserrat"/>
              <a:cs typeface="Montserrat"/>
              <a:sym typeface="Montserrat"/>
            </a:endParaRPr>
          </a:p>
        </p:txBody>
      </p:sp>
      <p:sp>
        <p:nvSpPr>
          <p:cNvPr id="413" name="Google Shape;413;p46"/>
          <p:cNvSpPr/>
          <p:nvPr/>
        </p:nvSpPr>
        <p:spPr>
          <a:xfrm>
            <a:off x="4092671" y="4838423"/>
            <a:ext cx="1027200" cy="273600"/>
          </a:xfrm>
          <a:prstGeom prst="roundRect">
            <a:avLst>
              <a:gd name="adj" fmla="val 50000"/>
            </a:avLst>
          </a:prstGeom>
          <a:solidFill>
            <a:srgbClr val="FFBA08"/>
          </a:solidFill>
          <a:ln>
            <a:noFill/>
          </a:ln>
        </p:spPr>
        <p:txBody>
          <a:bodyPr spcFirstLastPara="1" wrap="square" lIns="68475" tIns="68475" rIns="68475" bIns="68475" anchor="ctr" anchorCtr="0">
            <a:noAutofit/>
          </a:bodyPr>
          <a:lstStyle/>
          <a:p>
            <a:pPr marL="0" lvl="0" indent="0" algn="l" rtl="0">
              <a:spcBef>
                <a:spcPts val="0"/>
              </a:spcBef>
              <a:spcAft>
                <a:spcPts val="0"/>
              </a:spcAft>
              <a:buNone/>
            </a:pPr>
            <a:endParaRPr/>
          </a:p>
        </p:txBody>
      </p:sp>
      <p:sp>
        <p:nvSpPr>
          <p:cNvPr id="414" name="Google Shape;414;p46"/>
          <p:cNvSpPr/>
          <p:nvPr/>
        </p:nvSpPr>
        <p:spPr>
          <a:xfrm>
            <a:off x="4101581" y="4838423"/>
            <a:ext cx="1027200" cy="2736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786"/>
              <a:buFont typeface="Calibri"/>
              <a:buNone/>
            </a:pPr>
            <a:r>
              <a:rPr lang="en" sz="786" b="1" i="0" u="none" strike="noStrike" cap="none">
                <a:solidFill>
                  <a:srgbClr val="FFFFFF"/>
                </a:solidFill>
                <a:latin typeface="Calibri"/>
                <a:ea typeface="Calibri"/>
                <a:cs typeface="Calibri"/>
                <a:sym typeface="Calibri"/>
              </a:rPr>
              <a:t>Đang triển khai</a:t>
            </a:r>
            <a:endParaRPr sz="786" b="0" i="0" u="none" strike="noStrike" cap="none">
              <a:solidFill>
                <a:srgbClr val="000000"/>
              </a:solidFill>
              <a:latin typeface="Calibri"/>
              <a:ea typeface="Calibri"/>
              <a:cs typeface="Calibri"/>
              <a:sym typeface="Calibri"/>
            </a:endParaRPr>
          </a:p>
        </p:txBody>
      </p:sp>
      <p:sp>
        <p:nvSpPr>
          <p:cNvPr id="415" name="Google Shape;415;p46"/>
          <p:cNvSpPr/>
          <p:nvPr/>
        </p:nvSpPr>
        <p:spPr>
          <a:xfrm>
            <a:off x="6398032" y="3732363"/>
            <a:ext cx="205200" cy="205200"/>
          </a:xfrm>
          <a:prstGeom prst="ellipse">
            <a:avLst/>
          </a:prstGeom>
          <a:solidFill>
            <a:srgbClr val="D9D9D9"/>
          </a:solidFill>
          <a:ln w="19000" cap="flat" cmpd="sng">
            <a:solidFill>
              <a:srgbClr val="FFFFFF"/>
            </a:solidFill>
            <a:prstDash val="solid"/>
            <a:round/>
            <a:headEnd type="none" w="sm" len="sm"/>
            <a:tailEnd type="none" w="sm" len="sm"/>
          </a:ln>
        </p:spPr>
        <p:txBody>
          <a:bodyPr spcFirstLastPara="1" wrap="square" lIns="68475" tIns="68475" rIns="68475" bIns="68475" anchor="ctr" anchorCtr="0">
            <a:noAutofit/>
          </a:bodyPr>
          <a:lstStyle/>
          <a:p>
            <a:pPr marL="0" lvl="0" indent="0" algn="l" rtl="0">
              <a:spcBef>
                <a:spcPts val="0"/>
              </a:spcBef>
              <a:spcAft>
                <a:spcPts val="0"/>
              </a:spcAft>
              <a:buNone/>
            </a:pPr>
            <a:endParaRPr/>
          </a:p>
        </p:txBody>
      </p:sp>
      <p:sp>
        <p:nvSpPr>
          <p:cNvPr id="416" name="Google Shape;416;p46"/>
          <p:cNvSpPr/>
          <p:nvPr/>
        </p:nvSpPr>
        <p:spPr>
          <a:xfrm>
            <a:off x="5766897" y="4019243"/>
            <a:ext cx="1369500" cy="2400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5B5B5B"/>
              </a:buClr>
              <a:buSzPts val="824"/>
              <a:buFont typeface="Calibri"/>
              <a:buNone/>
            </a:pPr>
            <a:r>
              <a:rPr lang="en" sz="900" b="1" i="0" u="none" strike="noStrike" cap="none">
                <a:solidFill>
                  <a:srgbClr val="5B5B5B"/>
                </a:solidFill>
                <a:latin typeface="Montserrat"/>
                <a:ea typeface="Montserrat"/>
                <a:cs typeface="Montserrat"/>
                <a:sym typeface="Montserrat"/>
              </a:rPr>
              <a:t>[16/8 – 30/8]</a:t>
            </a:r>
            <a:endParaRPr sz="900" b="1" i="0" u="none" strike="noStrike" cap="none">
              <a:solidFill>
                <a:srgbClr val="000000"/>
              </a:solidFill>
              <a:latin typeface="Montserrat"/>
              <a:ea typeface="Montserrat"/>
              <a:cs typeface="Montserrat"/>
              <a:sym typeface="Montserrat"/>
            </a:endParaRPr>
          </a:p>
        </p:txBody>
      </p:sp>
      <p:sp>
        <p:nvSpPr>
          <p:cNvPr id="417" name="Google Shape;417;p46"/>
          <p:cNvSpPr/>
          <p:nvPr/>
        </p:nvSpPr>
        <p:spPr>
          <a:xfrm>
            <a:off x="6080862" y="4806148"/>
            <a:ext cx="1027200" cy="273600"/>
          </a:xfrm>
          <a:prstGeom prst="roundRect">
            <a:avLst>
              <a:gd name="adj" fmla="val 50000"/>
            </a:avLst>
          </a:prstGeom>
          <a:solidFill>
            <a:srgbClr val="EDEDED"/>
          </a:solidFill>
          <a:ln>
            <a:noFill/>
          </a:ln>
        </p:spPr>
        <p:txBody>
          <a:bodyPr spcFirstLastPara="1" wrap="square" lIns="68475" tIns="68475" rIns="68475" bIns="68475" anchor="ctr" anchorCtr="0">
            <a:noAutofit/>
          </a:bodyPr>
          <a:lstStyle/>
          <a:p>
            <a:pPr marL="0" lvl="0" indent="0" algn="l" rtl="0">
              <a:spcBef>
                <a:spcPts val="0"/>
              </a:spcBef>
              <a:spcAft>
                <a:spcPts val="0"/>
              </a:spcAft>
              <a:buNone/>
            </a:pPr>
            <a:endParaRPr/>
          </a:p>
        </p:txBody>
      </p:sp>
      <p:sp>
        <p:nvSpPr>
          <p:cNvPr id="418" name="Google Shape;418;p46"/>
          <p:cNvSpPr/>
          <p:nvPr/>
        </p:nvSpPr>
        <p:spPr>
          <a:xfrm>
            <a:off x="6080862" y="4838423"/>
            <a:ext cx="1027200" cy="2736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5B5B5B"/>
              </a:buClr>
              <a:buSzPts val="786"/>
              <a:buFont typeface="Calibri"/>
              <a:buNone/>
            </a:pPr>
            <a:r>
              <a:rPr lang="en" sz="786" b="1" i="0" u="none" strike="noStrike" cap="none">
                <a:solidFill>
                  <a:srgbClr val="5B5B5B"/>
                </a:solidFill>
                <a:latin typeface="Calibri"/>
                <a:ea typeface="Calibri"/>
                <a:cs typeface="Calibri"/>
                <a:sym typeface="Calibri"/>
              </a:rPr>
              <a:t>Sắp tới</a:t>
            </a:r>
            <a:endParaRPr sz="786" b="0" i="0" u="none" strike="noStrike" cap="none">
              <a:solidFill>
                <a:srgbClr val="000000"/>
              </a:solidFill>
              <a:latin typeface="Calibri"/>
              <a:ea typeface="Calibri"/>
              <a:cs typeface="Calibri"/>
              <a:sym typeface="Calibri"/>
            </a:endParaRPr>
          </a:p>
        </p:txBody>
      </p:sp>
      <p:sp>
        <p:nvSpPr>
          <p:cNvPr id="419" name="Google Shape;419;p46"/>
          <p:cNvSpPr/>
          <p:nvPr/>
        </p:nvSpPr>
        <p:spPr>
          <a:xfrm>
            <a:off x="93925" y="4272602"/>
            <a:ext cx="1409100" cy="520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2A4A"/>
              </a:buClr>
              <a:buSzPts val="897"/>
              <a:buFont typeface="Cambria"/>
              <a:buNone/>
            </a:pPr>
            <a:r>
              <a:rPr lang="en" sz="700">
                <a:solidFill>
                  <a:srgbClr val="1B2A4A"/>
                </a:solidFill>
                <a:latin typeface="Montserrat"/>
                <a:ea typeface="Montserrat"/>
                <a:cs typeface="Montserrat"/>
                <a:sym typeface="Montserrat"/>
              </a:rPr>
              <a:t>PA: Build &amp; set up chl in app</a:t>
            </a:r>
            <a:endParaRPr sz="700">
              <a:solidFill>
                <a:srgbClr val="1B2A4A"/>
              </a:solidFill>
              <a:latin typeface="Montserrat"/>
              <a:ea typeface="Montserrat"/>
              <a:cs typeface="Montserrat"/>
              <a:sym typeface="Montserrat"/>
            </a:endParaRPr>
          </a:p>
          <a:p>
            <a:pPr marL="0" marR="0" lvl="0" indent="0" algn="l" rtl="0">
              <a:spcBef>
                <a:spcPts val="0"/>
              </a:spcBef>
              <a:spcAft>
                <a:spcPts val="0"/>
              </a:spcAft>
              <a:buClr>
                <a:srgbClr val="1B2A4A"/>
              </a:buClr>
              <a:buSzPts val="897"/>
              <a:buFont typeface="Cambria"/>
              <a:buNone/>
            </a:pPr>
            <a:r>
              <a:rPr lang="en" sz="700">
                <a:solidFill>
                  <a:srgbClr val="1B2A4A"/>
                </a:solidFill>
                <a:latin typeface="Montserrat"/>
                <a:ea typeface="Montserrat"/>
                <a:cs typeface="Montserrat"/>
                <a:sym typeface="Montserrat"/>
              </a:rPr>
              <a:t>QM: Flow xác thực baga</a:t>
            </a:r>
            <a:endParaRPr sz="700">
              <a:solidFill>
                <a:srgbClr val="1B2A4A"/>
              </a:solidFill>
              <a:latin typeface="Montserrat"/>
              <a:ea typeface="Montserrat"/>
              <a:cs typeface="Montserrat"/>
              <a:sym typeface="Montserrat"/>
            </a:endParaRPr>
          </a:p>
          <a:p>
            <a:pPr marL="0" marR="0" lvl="0" indent="0" algn="l" rtl="0">
              <a:spcBef>
                <a:spcPts val="0"/>
              </a:spcBef>
              <a:spcAft>
                <a:spcPts val="0"/>
              </a:spcAft>
              <a:buClr>
                <a:srgbClr val="1B2A4A"/>
              </a:buClr>
              <a:buSzPts val="897"/>
              <a:buFont typeface="Cambria"/>
              <a:buNone/>
            </a:pPr>
            <a:r>
              <a:rPr lang="en" sz="700">
                <a:solidFill>
                  <a:srgbClr val="1B2A4A"/>
                </a:solidFill>
                <a:latin typeface="Montserrat"/>
                <a:ea typeface="Montserrat"/>
                <a:cs typeface="Montserrat"/>
                <a:sym typeface="Montserrat"/>
              </a:rPr>
              <a:t>DS: Plan truyền thông form tham gia chương trình</a:t>
            </a:r>
            <a:endParaRPr sz="700">
              <a:solidFill>
                <a:srgbClr val="1B2A4A"/>
              </a:solidFill>
              <a:latin typeface="Montserrat"/>
              <a:ea typeface="Montserrat"/>
              <a:cs typeface="Montserrat"/>
              <a:sym typeface="Montserrat"/>
            </a:endParaRPr>
          </a:p>
          <a:p>
            <a:pPr marL="0" marR="0" lvl="0" indent="0" algn="l" rtl="0">
              <a:spcBef>
                <a:spcPts val="0"/>
              </a:spcBef>
              <a:spcAft>
                <a:spcPts val="0"/>
              </a:spcAft>
              <a:buClr>
                <a:srgbClr val="1B2A4A"/>
              </a:buClr>
              <a:buSzPts val="897"/>
              <a:buFont typeface="Cambria"/>
              <a:buNone/>
            </a:pPr>
            <a:endParaRPr sz="700">
              <a:solidFill>
                <a:srgbClr val="1B2A4A"/>
              </a:solidFill>
              <a:latin typeface="Montserrat"/>
              <a:ea typeface="Montserrat"/>
              <a:cs typeface="Montserrat"/>
              <a:sym typeface="Montserrat"/>
            </a:endParaRPr>
          </a:p>
        </p:txBody>
      </p:sp>
      <p:sp>
        <p:nvSpPr>
          <p:cNvPr id="420" name="Google Shape;420;p46"/>
          <p:cNvSpPr/>
          <p:nvPr/>
        </p:nvSpPr>
        <p:spPr>
          <a:xfrm>
            <a:off x="2318075" y="3257100"/>
            <a:ext cx="741600" cy="393600"/>
          </a:xfrm>
          <a:prstGeom prst="rect">
            <a:avLst/>
          </a:prstGeom>
          <a:noFill/>
          <a:ln>
            <a:noFill/>
          </a:ln>
        </p:spPr>
        <p:txBody>
          <a:bodyPr spcFirstLastPara="1" wrap="square" lIns="0" tIns="0" rIns="0" bIns="0" anchor="b" anchorCtr="0">
            <a:noAutofit/>
          </a:bodyPr>
          <a:lstStyle/>
          <a:p>
            <a:pPr marL="0" marR="0" lvl="0" indent="0" algn="ctr" rtl="0">
              <a:lnSpc>
                <a:spcPct val="110000"/>
              </a:lnSpc>
              <a:spcBef>
                <a:spcPts val="0"/>
              </a:spcBef>
              <a:spcAft>
                <a:spcPts val="0"/>
              </a:spcAft>
              <a:buClr>
                <a:srgbClr val="1B2A4A"/>
              </a:buClr>
              <a:buSzPts val="936"/>
              <a:buFont typeface="Calibri"/>
              <a:buNone/>
            </a:pPr>
            <a:r>
              <a:rPr lang="en" sz="936" b="1">
                <a:solidFill>
                  <a:srgbClr val="1B2A4A"/>
                </a:solidFill>
                <a:latin typeface="Calibri"/>
                <a:ea typeface="Calibri"/>
                <a:cs typeface="Calibri"/>
                <a:sym typeface="Calibri"/>
              </a:rPr>
              <a:t>Giai đoạn</a:t>
            </a:r>
            <a:endParaRPr sz="936" b="0" i="0" u="none" strike="noStrike" cap="none">
              <a:solidFill>
                <a:srgbClr val="000000"/>
              </a:solidFill>
              <a:latin typeface="Calibri"/>
              <a:ea typeface="Calibri"/>
              <a:cs typeface="Calibri"/>
              <a:sym typeface="Calibri"/>
            </a:endParaRPr>
          </a:p>
          <a:p>
            <a:pPr marL="0" marR="0" lvl="0" indent="0" algn="ctr" rtl="0">
              <a:lnSpc>
                <a:spcPct val="110000"/>
              </a:lnSpc>
              <a:spcBef>
                <a:spcPts val="0"/>
              </a:spcBef>
              <a:spcAft>
                <a:spcPts val="0"/>
              </a:spcAft>
              <a:buClr>
                <a:srgbClr val="1B2A4A"/>
              </a:buClr>
              <a:buSzPts val="936"/>
              <a:buFont typeface="Calibri"/>
              <a:buNone/>
            </a:pPr>
            <a:r>
              <a:rPr lang="en" sz="936" b="1">
                <a:solidFill>
                  <a:srgbClr val="1B2A4A"/>
                </a:solidFill>
                <a:latin typeface="Calibri"/>
                <a:ea typeface="Calibri"/>
                <a:cs typeface="Calibri"/>
                <a:sym typeface="Calibri"/>
              </a:rPr>
              <a:t>Đăng ký</a:t>
            </a:r>
            <a:endParaRPr sz="936" b="0" i="0" u="none" strike="noStrike" cap="none">
              <a:solidFill>
                <a:srgbClr val="000000"/>
              </a:solidFill>
              <a:latin typeface="Calibri"/>
              <a:ea typeface="Calibri"/>
              <a:cs typeface="Calibri"/>
              <a:sym typeface="Calibri"/>
            </a:endParaRPr>
          </a:p>
        </p:txBody>
      </p:sp>
      <p:sp>
        <p:nvSpPr>
          <p:cNvPr id="421" name="Google Shape;421;p46"/>
          <p:cNvSpPr/>
          <p:nvPr/>
        </p:nvSpPr>
        <p:spPr>
          <a:xfrm>
            <a:off x="1984325" y="4282202"/>
            <a:ext cx="1409100" cy="520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2A4A"/>
              </a:buClr>
              <a:buSzPts val="897"/>
              <a:buFont typeface="Cambria"/>
              <a:buNone/>
            </a:pPr>
            <a:r>
              <a:rPr lang="en" sz="700">
                <a:solidFill>
                  <a:srgbClr val="1B2A4A"/>
                </a:solidFill>
                <a:latin typeface="Montserrat"/>
                <a:ea typeface="Montserrat"/>
                <a:cs typeface="Montserrat"/>
                <a:sym typeface="Montserrat"/>
              </a:rPr>
              <a:t>Push notifications form đăng ký tham gia chương trình</a:t>
            </a:r>
            <a:endParaRPr sz="700">
              <a:solidFill>
                <a:srgbClr val="1B2A4A"/>
              </a:solidFill>
              <a:latin typeface="Montserrat"/>
              <a:ea typeface="Montserrat"/>
              <a:cs typeface="Montserrat"/>
              <a:sym typeface="Montserrat"/>
            </a:endParaRPr>
          </a:p>
          <a:p>
            <a:pPr marL="0" marR="0" lvl="0" indent="0" algn="l" rtl="0">
              <a:spcBef>
                <a:spcPts val="0"/>
              </a:spcBef>
              <a:spcAft>
                <a:spcPts val="0"/>
              </a:spcAft>
              <a:buClr>
                <a:srgbClr val="1B2A4A"/>
              </a:buClr>
              <a:buSzPts val="897"/>
              <a:buFont typeface="Cambria"/>
              <a:buNone/>
            </a:pPr>
            <a:r>
              <a:rPr lang="en" sz="700">
                <a:solidFill>
                  <a:srgbClr val="1B2A4A"/>
                </a:solidFill>
                <a:latin typeface="Montserrat"/>
                <a:ea typeface="Montserrat"/>
                <a:cs typeface="Montserrat"/>
                <a:sym typeface="Montserrat"/>
              </a:rPr>
              <a:t>Confirm flow xác thực baga với QM</a:t>
            </a:r>
            <a:endParaRPr sz="700">
              <a:solidFill>
                <a:srgbClr val="1B2A4A"/>
              </a:solidFill>
              <a:latin typeface="Montserrat"/>
              <a:ea typeface="Montserrat"/>
              <a:cs typeface="Montserrat"/>
              <a:sym typeface="Montserrat"/>
            </a:endParaRPr>
          </a:p>
        </p:txBody>
      </p:sp>
      <p:sp>
        <p:nvSpPr>
          <p:cNvPr id="422" name="Google Shape;422;p46"/>
          <p:cNvSpPr/>
          <p:nvPr/>
        </p:nvSpPr>
        <p:spPr>
          <a:xfrm>
            <a:off x="4231575" y="3257100"/>
            <a:ext cx="741600" cy="393600"/>
          </a:xfrm>
          <a:prstGeom prst="rect">
            <a:avLst/>
          </a:prstGeom>
          <a:noFill/>
          <a:ln>
            <a:noFill/>
          </a:ln>
        </p:spPr>
        <p:txBody>
          <a:bodyPr spcFirstLastPara="1" wrap="square" lIns="0" tIns="0" rIns="0" bIns="0" anchor="b" anchorCtr="0">
            <a:noAutofit/>
          </a:bodyPr>
          <a:lstStyle/>
          <a:p>
            <a:pPr marL="0" marR="0" lvl="0" indent="0" algn="ctr" rtl="0">
              <a:lnSpc>
                <a:spcPct val="110000"/>
              </a:lnSpc>
              <a:spcBef>
                <a:spcPts val="0"/>
              </a:spcBef>
              <a:spcAft>
                <a:spcPts val="0"/>
              </a:spcAft>
              <a:buClr>
                <a:srgbClr val="1B2A4A"/>
              </a:buClr>
              <a:buSzPts val="936"/>
              <a:buFont typeface="Calibri"/>
              <a:buNone/>
            </a:pPr>
            <a:r>
              <a:rPr lang="en" sz="936" b="1">
                <a:solidFill>
                  <a:srgbClr val="1B2A4A"/>
                </a:solidFill>
                <a:latin typeface="Calibri"/>
                <a:ea typeface="Calibri"/>
                <a:cs typeface="Calibri"/>
                <a:sym typeface="Calibri"/>
              </a:rPr>
              <a:t>Giai đoạn</a:t>
            </a:r>
            <a:endParaRPr sz="936" b="0" i="0" u="none" strike="noStrike" cap="none">
              <a:solidFill>
                <a:srgbClr val="000000"/>
              </a:solidFill>
              <a:latin typeface="Calibri"/>
              <a:ea typeface="Calibri"/>
              <a:cs typeface="Calibri"/>
              <a:sym typeface="Calibri"/>
            </a:endParaRPr>
          </a:p>
          <a:p>
            <a:pPr marL="0" marR="0" lvl="0" indent="0" algn="ctr" rtl="0">
              <a:lnSpc>
                <a:spcPct val="110000"/>
              </a:lnSpc>
              <a:spcBef>
                <a:spcPts val="0"/>
              </a:spcBef>
              <a:spcAft>
                <a:spcPts val="0"/>
              </a:spcAft>
              <a:buClr>
                <a:srgbClr val="1B2A4A"/>
              </a:buClr>
              <a:buSzPts val="936"/>
              <a:buFont typeface="Calibri"/>
              <a:buNone/>
            </a:pPr>
            <a:r>
              <a:rPr lang="en" sz="936" b="1">
                <a:solidFill>
                  <a:srgbClr val="1B2A4A"/>
                </a:solidFill>
                <a:latin typeface="Calibri"/>
                <a:ea typeface="Calibri"/>
                <a:cs typeface="Calibri"/>
                <a:sym typeface="Calibri"/>
              </a:rPr>
              <a:t>Triển khai</a:t>
            </a:r>
            <a:endParaRPr sz="936" b="0" i="0" u="none" strike="noStrike" cap="none">
              <a:solidFill>
                <a:srgbClr val="000000"/>
              </a:solidFill>
              <a:latin typeface="Calibri"/>
              <a:ea typeface="Calibri"/>
              <a:cs typeface="Calibri"/>
              <a:sym typeface="Calibri"/>
            </a:endParaRPr>
          </a:p>
        </p:txBody>
      </p:sp>
      <p:sp>
        <p:nvSpPr>
          <p:cNvPr id="423" name="Google Shape;423;p46"/>
          <p:cNvSpPr/>
          <p:nvPr/>
        </p:nvSpPr>
        <p:spPr>
          <a:xfrm>
            <a:off x="3845875" y="4282200"/>
            <a:ext cx="1518900" cy="520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2A4A"/>
              </a:buClr>
              <a:buSzPts val="897"/>
              <a:buFont typeface="Cambria"/>
              <a:buNone/>
            </a:pPr>
            <a:r>
              <a:rPr lang="en" sz="700">
                <a:solidFill>
                  <a:srgbClr val="1B2A4A"/>
                </a:solidFill>
                <a:latin typeface="Montserrat"/>
                <a:ea typeface="Montserrat"/>
                <a:cs typeface="Montserrat"/>
                <a:sym typeface="Montserrat"/>
              </a:rPr>
              <a:t>Triển khai flow thưởng GĐ 1 </a:t>
            </a:r>
            <a:br>
              <a:rPr lang="en" sz="700">
                <a:solidFill>
                  <a:srgbClr val="1B2A4A"/>
                </a:solidFill>
                <a:latin typeface="Montserrat"/>
                <a:ea typeface="Montserrat"/>
                <a:cs typeface="Montserrat"/>
                <a:sym typeface="Montserrat"/>
              </a:rPr>
            </a:br>
            <a:r>
              <a:rPr lang="en" sz="700">
                <a:solidFill>
                  <a:srgbClr val="1B2A4A"/>
                </a:solidFill>
                <a:latin typeface="Montserrat"/>
                <a:ea typeface="Montserrat"/>
                <a:cs typeface="Montserrat"/>
                <a:sym typeface="Montserrat"/>
              </a:rPr>
              <a:t>+ HAN: 178 tx, SGN: 336 tx</a:t>
            </a:r>
            <a:endParaRPr sz="700">
              <a:solidFill>
                <a:srgbClr val="1B2A4A"/>
              </a:solidFill>
              <a:latin typeface="Montserrat"/>
              <a:ea typeface="Montserrat"/>
              <a:cs typeface="Montserrat"/>
              <a:sym typeface="Montserrat"/>
            </a:endParaRPr>
          </a:p>
          <a:p>
            <a:pPr marL="0" marR="0" lvl="0" indent="0" algn="l" rtl="0">
              <a:spcBef>
                <a:spcPts val="0"/>
              </a:spcBef>
              <a:spcAft>
                <a:spcPts val="0"/>
              </a:spcAft>
              <a:buClr>
                <a:srgbClr val="1B2A4A"/>
              </a:buClr>
              <a:buSzPts val="897"/>
              <a:buFont typeface="Cambria"/>
              <a:buNone/>
            </a:pPr>
            <a:r>
              <a:rPr lang="en" sz="700">
                <a:solidFill>
                  <a:srgbClr val="1B2A4A"/>
                </a:solidFill>
                <a:latin typeface="Montserrat"/>
                <a:ea typeface="Montserrat"/>
                <a:cs typeface="Montserrat"/>
                <a:sym typeface="Montserrat"/>
              </a:rPr>
              <a:t>Hoàn thành quy trình 1Of cf cost với PA -&gt; chuẩn bị cho GĐ 2, 3</a:t>
            </a:r>
            <a:endParaRPr sz="700">
              <a:solidFill>
                <a:srgbClr val="1B2A4A"/>
              </a:solidFill>
              <a:latin typeface="Montserrat"/>
              <a:ea typeface="Montserrat"/>
              <a:cs typeface="Montserrat"/>
              <a:sym typeface="Montserrat"/>
            </a:endParaRPr>
          </a:p>
        </p:txBody>
      </p:sp>
      <p:sp>
        <p:nvSpPr>
          <p:cNvPr id="424" name="Google Shape;424;p46"/>
          <p:cNvSpPr/>
          <p:nvPr/>
        </p:nvSpPr>
        <p:spPr>
          <a:xfrm>
            <a:off x="6145075" y="3257100"/>
            <a:ext cx="741600" cy="393600"/>
          </a:xfrm>
          <a:prstGeom prst="rect">
            <a:avLst/>
          </a:prstGeom>
          <a:noFill/>
          <a:ln>
            <a:noFill/>
          </a:ln>
        </p:spPr>
        <p:txBody>
          <a:bodyPr spcFirstLastPara="1" wrap="square" lIns="0" tIns="0" rIns="0" bIns="0" anchor="b" anchorCtr="0">
            <a:noAutofit/>
          </a:bodyPr>
          <a:lstStyle/>
          <a:p>
            <a:pPr marL="0" marR="0" lvl="0" indent="0" algn="ctr" rtl="0">
              <a:lnSpc>
                <a:spcPct val="110000"/>
              </a:lnSpc>
              <a:spcBef>
                <a:spcPts val="0"/>
              </a:spcBef>
              <a:spcAft>
                <a:spcPts val="0"/>
              </a:spcAft>
              <a:buClr>
                <a:srgbClr val="1B2A4A"/>
              </a:buClr>
              <a:buSzPts val="936"/>
              <a:buFont typeface="Calibri"/>
              <a:buNone/>
            </a:pPr>
            <a:r>
              <a:rPr lang="en" sz="936" b="1">
                <a:solidFill>
                  <a:srgbClr val="1B2A4A"/>
                </a:solidFill>
                <a:latin typeface="Calibri"/>
                <a:ea typeface="Calibri"/>
                <a:cs typeface="Calibri"/>
                <a:sym typeface="Calibri"/>
              </a:rPr>
              <a:t>Giai đoạn</a:t>
            </a:r>
            <a:endParaRPr sz="936" b="0" i="0" u="none" strike="noStrike" cap="none">
              <a:solidFill>
                <a:srgbClr val="000000"/>
              </a:solidFill>
              <a:latin typeface="Calibri"/>
              <a:ea typeface="Calibri"/>
              <a:cs typeface="Calibri"/>
              <a:sym typeface="Calibri"/>
            </a:endParaRPr>
          </a:p>
          <a:p>
            <a:pPr marL="0" marR="0" lvl="0" indent="0" algn="ctr" rtl="0">
              <a:lnSpc>
                <a:spcPct val="110000"/>
              </a:lnSpc>
              <a:spcBef>
                <a:spcPts val="0"/>
              </a:spcBef>
              <a:spcAft>
                <a:spcPts val="0"/>
              </a:spcAft>
              <a:buClr>
                <a:srgbClr val="1B2A4A"/>
              </a:buClr>
              <a:buSzPts val="936"/>
              <a:buFont typeface="Calibri"/>
              <a:buNone/>
            </a:pPr>
            <a:r>
              <a:rPr lang="en" sz="936" b="1">
                <a:solidFill>
                  <a:srgbClr val="1B2A4A"/>
                </a:solidFill>
                <a:latin typeface="Calibri"/>
                <a:ea typeface="Calibri"/>
                <a:cs typeface="Calibri"/>
                <a:sym typeface="Calibri"/>
              </a:rPr>
              <a:t>Theo dõi</a:t>
            </a:r>
            <a:endParaRPr sz="936" b="0" i="0" u="none" strike="noStrike" cap="none">
              <a:solidFill>
                <a:srgbClr val="000000"/>
              </a:solidFill>
              <a:latin typeface="Calibri"/>
              <a:ea typeface="Calibri"/>
              <a:cs typeface="Calibri"/>
              <a:sym typeface="Calibri"/>
            </a:endParaRPr>
          </a:p>
        </p:txBody>
      </p:sp>
      <p:sp>
        <p:nvSpPr>
          <p:cNvPr id="425" name="Google Shape;425;p46"/>
          <p:cNvSpPr/>
          <p:nvPr/>
        </p:nvSpPr>
        <p:spPr>
          <a:xfrm>
            <a:off x="5835000" y="4272600"/>
            <a:ext cx="1518900" cy="520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2A4A"/>
              </a:buClr>
              <a:buSzPts val="897"/>
              <a:buFont typeface="Cambria"/>
              <a:buNone/>
            </a:pPr>
            <a:r>
              <a:rPr lang="en" sz="700">
                <a:solidFill>
                  <a:srgbClr val="1B2A4A"/>
                </a:solidFill>
                <a:latin typeface="Montserrat"/>
                <a:ea typeface="Montserrat"/>
                <a:cs typeface="Montserrat"/>
                <a:sym typeface="Montserrat"/>
              </a:rPr>
              <a:t>Follow timeline truyền thông, tiếp tục push lead đăng ký GĐ 2, 3</a:t>
            </a:r>
            <a:endParaRPr sz="700">
              <a:solidFill>
                <a:srgbClr val="1B2A4A"/>
              </a:solidFill>
              <a:latin typeface="Montserrat"/>
              <a:ea typeface="Montserrat"/>
              <a:cs typeface="Montserrat"/>
              <a:sym typeface="Montserrat"/>
            </a:endParaRPr>
          </a:p>
          <a:p>
            <a:pPr marL="0" marR="0" lvl="0" indent="0" algn="l" rtl="0">
              <a:spcBef>
                <a:spcPts val="0"/>
              </a:spcBef>
              <a:spcAft>
                <a:spcPts val="0"/>
              </a:spcAft>
              <a:buClr>
                <a:srgbClr val="1B2A4A"/>
              </a:buClr>
              <a:buSzPts val="897"/>
              <a:buFont typeface="Cambria"/>
              <a:buNone/>
            </a:pPr>
            <a:r>
              <a:rPr lang="en" sz="700">
                <a:solidFill>
                  <a:srgbClr val="1B2A4A"/>
                </a:solidFill>
                <a:latin typeface="Montserrat"/>
                <a:ea typeface="Montserrat"/>
                <a:cs typeface="Montserrat"/>
                <a:sym typeface="Montserrat"/>
              </a:rPr>
              <a:t>Follow quá trình tham gia thưởng + xác thực baga -&gt; ghi nhận driver voice</a:t>
            </a:r>
            <a:endParaRPr sz="700">
              <a:solidFill>
                <a:srgbClr val="1B2A4A"/>
              </a:solidFill>
              <a:latin typeface="Montserrat"/>
              <a:ea typeface="Montserrat"/>
              <a:cs typeface="Montserrat"/>
              <a:sym typeface="Montserrat"/>
            </a:endParaRPr>
          </a:p>
        </p:txBody>
      </p:sp>
      <p:sp>
        <p:nvSpPr>
          <p:cNvPr id="426" name="Google Shape;426;p46"/>
          <p:cNvSpPr/>
          <p:nvPr/>
        </p:nvSpPr>
        <p:spPr>
          <a:xfrm>
            <a:off x="8058575" y="3257100"/>
            <a:ext cx="741600" cy="393600"/>
          </a:xfrm>
          <a:prstGeom prst="rect">
            <a:avLst/>
          </a:prstGeom>
          <a:noFill/>
          <a:ln>
            <a:noFill/>
          </a:ln>
        </p:spPr>
        <p:txBody>
          <a:bodyPr spcFirstLastPara="1" wrap="square" lIns="0" tIns="0" rIns="0" bIns="0" anchor="b" anchorCtr="0">
            <a:noAutofit/>
          </a:bodyPr>
          <a:lstStyle/>
          <a:p>
            <a:pPr marL="0" marR="0" lvl="0" indent="0" algn="ctr" rtl="0">
              <a:lnSpc>
                <a:spcPct val="110000"/>
              </a:lnSpc>
              <a:spcBef>
                <a:spcPts val="0"/>
              </a:spcBef>
              <a:spcAft>
                <a:spcPts val="0"/>
              </a:spcAft>
              <a:buClr>
                <a:srgbClr val="1B2A4A"/>
              </a:buClr>
              <a:buSzPts val="936"/>
              <a:buFont typeface="Calibri"/>
              <a:buNone/>
            </a:pPr>
            <a:r>
              <a:rPr lang="en" sz="936" b="1">
                <a:solidFill>
                  <a:srgbClr val="1B2A4A"/>
                </a:solidFill>
                <a:latin typeface="Calibri"/>
                <a:ea typeface="Calibri"/>
                <a:cs typeface="Calibri"/>
                <a:sym typeface="Calibri"/>
              </a:rPr>
              <a:t>Giai đoạn</a:t>
            </a:r>
            <a:endParaRPr sz="936" b="0" i="0" u="none" strike="noStrike" cap="none">
              <a:solidFill>
                <a:srgbClr val="000000"/>
              </a:solidFill>
              <a:latin typeface="Calibri"/>
              <a:ea typeface="Calibri"/>
              <a:cs typeface="Calibri"/>
              <a:sym typeface="Calibri"/>
            </a:endParaRPr>
          </a:p>
          <a:p>
            <a:pPr marL="0" marR="0" lvl="0" indent="0" algn="ctr" rtl="0">
              <a:lnSpc>
                <a:spcPct val="110000"/>
              </a:lnSpc>
              <a:spcBef>
                <a:spcPts val="0"/>
              </a:spcBef>
              <a:spcAft>
                <a:spcPts val="0"/>
              </a:spcAft>
              <a:buClr>
                <a:srgbClr val="1B2A4A"/>
              </a:buClr>
              <a:buSzPts val="936"/>
              <a:buFont typeface="Calibri"/>
              <a:buNone/>
            </a:pPr>
            <a:r>
              <a:rPr lang="en" sz="936" b="1">
                <a:solidFill>
                  <a:srgbClr val="1B2A4A"/>
                </a:solidFill>
                <a:latin typeface="Calibri"/>
                <a:ea typeface="Calibri"/>
                <a:cs typeface="Calibri"/>
                <a:sym typeface="Calibri"/>
              </a:rPr>
              <a:t>Hoàn tất</a:t>
            </a:r>
            <a:endParaRPr sz="936" b="0" i="0" u="none" strike="noStrike" cap="none">
              <a:solidFill>
                <a:srgbClr val="000000"/>
              </a:solidFill>
              <a:latin typeface="Calibri"/>
              <a:ea typeface="Calibri"/>
              <a:cs typeface="Calibri"/>
              <a:sym typeface="Calibri"/>
            </a:endParaRPr>
          </a:p>
        </p:txBody>
      </p:sp>
      <p:sp>
        <p:nvSpPr>
          <p:cNvPr id="427" name="Google Shape;427;p46"/>
          <p:cNvSpPr/>
          <p:nvPr/>
        </p:nvSpPr>
        <p:spPr>
          <a:xfrm>
            <a:off x="8326769" y="3732263"/>
            <a:ext cx="205200" cy="205200"/>
          </a:xfrm>
          <a:prstGeom prst="ellipse">
            <a:avLst/>
          </a:prstGeom>
          <a:solidFill>
            <a:srgbClr val="D9D9D9"/>
          </a:solidFill>
          <a:ln w="19000" cap="flat" cmpd="sng">
            <a:solidFill>
              <a:srgbClr val="FFFFFF"/>
            </a:solidFill>
            <a:prstDash val="solid"/>
            <a:round/>
            <a:headEnd type="none" w="sm" len="sm"/>
            <a:tailEnd type="none" w="sm" len="sm"/>
          </a:ln>
        </p:spPr>
        <p:txBody>
          <a:bodyPr spcFirstLastPara="1" wrap="square" lIns="68475" tIns="68475" rIns="68475" bIns="68475" anchor="ctr" anchorCtr="0">
            <a:noAutofit/>
          </a:bodyPr>
          <a:lstStyle/>
          <a:p>
            <a:pPr marL="0" lvl="0" indent="0" algn="l" rtl="0">
              <a:spcBef>
                <a:spcPts val="0"/>
              </a:spcBef>
              <a:spcAft>
                <a:spcPts val="0"/>
              </a:spcAft>
              <a:buNone/>
            </a:pPr>
            <a:endParaRPr/>
          </a:p>
        </p:txBody>
      </p:sp>
      <p:sp>
        <p:nvSpPr>
          <p:cNvPr id="428" name="Google Shape;428;p46"/>
          <p:cNvSpPr/>
          <p:nvPr/>
        </p:nvSpPr>
        <p:spPr>
          <a:xfrm>
            <a:off x="7927487" y="4792798"/>
            <a:ext cx="1027200" cy="273600"/>
          </a:xfrm>
          <a:prstGeom prst="roundRect">
            <a:avLst>
              <a:gd name="adj" fmla="val 50000"/>
            </a:avLst>
          </a:prstGeom>
          <a:solidFill>
            <a:srgbClr val="EDEDED"/>
          </a:solidFill>
          <a:ln>
            <a:noFill/>
          </a:ln>
        </p:spPr>
        <p:txBody>
          <a:bodyPr spcFirstLastPara="1" wrap="square" lIns="68475" tIns="68475" rIns="68475" bIns="68475" anchor="ctr" anchorCtr="0">
            <a:noAutofit/>
          </a:bodyPr>
          <a:lstStyle/>
          <a:p>
            <a:pPr marL="0" lvl="0" indent="0" algn="l" rtl="0">
              <a:spcBef>
                <a:spcPts val="0"/>
              </a:spcBef>
              <a:spcAft>
                <a:spcPts val="0"/>
              </a:spcAft>
              <a:buNone/>
            </a:pPr>
            <a:endParaRPr/>
          </a:p>
        </p:txBody>
      </p:sp>
      <p:sp>
        <p:nvSpPr>
          <p:cNvPr id="429" name="Google Shape;429;p46"/>
          <p:cNvSpPr/>
          <p:nvPr/>
        </p:nvSpPr>
        <p:spPr>
          <a:xfrm>
            <a:off x="7927487" y="4792798"/>
            <a:ext cx="1027200" cy="2736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5B5B5B"/>
              </a:buClr>
              <a:buSzPts val="786"/>
              <a:buFont typeface="Calibri"/>
              <a:buNone/>
            </a:pPr>
            <a:r>
              <a:rPr lang="en" sz="786" b="1" i="0" u="none" strike="noStrike" cap="none">
                <a:solidFill>
                  <a:srgbClr val="5B5B5B"/>
                </a:solidFill>
                <a:latin typeface="Calibri"/>
                <a:ea typeface="Calibri"/>
                <a:cs typeface="Calibri"/>
                <a:sym typeface="Calibri"/>
              </a:rPr>
              <a:t>Sắp tới</a:t>
            </a:r>
            <a:endParaRPr sz="786" b="0" i="0" u="none" strike="noStrike" cap="none">
              <a:solidFill>
                <a:srgbClr val="000000"/>
              </a:solidFill>
              <a:latin typeface="Calibri"/>
              <a:ea typeface="Calibri"/>
              <a:cs typeface="Calibri"/>
              <a:sym typeface="Calibri"/>
            </a:endParaRPr>
          </a:p>
        </p:txBody>
      </p:sp>
      <p:sp>
        <p:nvSpPr>
          <p:cNvPr id="430" name="Google Shape;430;p46"/>
          <p:cNvSpPr/>
          <p:nvPr/>
        </p:nvSpPr>
        <p:spPr>
          <a:xfrm>
            <a:off x="7756022" y="4019043"/>
            <a:ext cx="1369500" cy="2400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5B5B5B"/>
              </a:buClr>
              <a:buSzPts val="824"/>
              <a:buFont typeface="Calibri"/>
              <a:buNone/>
            </a:pPr>
            <a:r>
              <a:rPr lang="en" sz="900" b="1" i="0" u="none" strike="noStrike" cap="none">
                <a:solidFill>
                  <a:srgbClr val="5B5B5B"/>
                </a:solidFill>
                <a:latin typeface="Montserrat"/>
                <a:ea typeface="Montserrat"/>
                <a:cs typeface="Montserrat"/>
                <a:sym typeface="Montserrat"/>
              </a:rPr>
              <a:t>[1</a:t>
            </a:r>
            <a:r>
              <a:rPr lang="en" sz="900" b="1">
                <a:solidFill>
                  <a:srgbClr val="5B5B5B"/>
                </a:solidFill>
                <a:latin typeface="Montserrat"/>
                <a:ea typeface="Montserrat"/>
                <a:cs typeface="Montserrat"/>
                <a:sym typeface="Montserrat"/>
              </a:rPr>
              <a:t>/9</a:t>
            </a:r>
            <a:r>
              <a:rPr lang="en" sz="900" b="1" i="0" u="none" strike="noStrike" cap="none">
                <a:solidFill>
                  <a:srgbClr val="5B5B5B"/>
                </a:solidFill>
                <a:latin typeface="Montserrat"/>
                <a:ea typeface="Montserrat"/>
                <a:cs typeface="Montserrat"/>
                <a:sym typeface="Montserrat"/>
              </a:rPr>
              <a:t> – 30/</a:t>
            </a:r>
            <a:r>
              <a:rPr lang="en" sz="900" b="1">
                <a:solidFill>
                  <a:srgbClr val="5B5B5B"/>
                </a:solidFill>
                <a:latin typeface="Montserrat"/>
                <a:ea typeface="Montserrat"/>
                <a:cs typeface="Montserrat"/>
                <a:sym typeface="Montserrat"/>
              </a:rPr>
              <a:t>9</a:t>
            </a:r>
            <a:r>
              <a:rPr lang="en" sz="900" b="1" i="0" u="none" strike="noStrike" cap="none">
                <a:solidFill>
                  <a:srgbClr val="5B5B5B"/>
                </a:solidFill>
                <a:latin typeface="Montserrat"/>
                <a:ea typeface="Montserrat"/>
                <a:cs typeface="Montserrat"/>
                <a:sym typeface="Montserrat"/>
              </a:rPr>
              <a:t>]</a:t>
            </a:r>
            <a:endParaRPr sz="900" b="1" i="0" u="none" strike="noStrike" cap="none">
              <a:solidFill>
                <a:srgbClr val="000000"/>
              </a:solidFill>
              <a:latin typeface="Montserrat"/>
              <a:ea typeface="Montserrat"/>
              <a:cs typeface="Montserrat"/>
              <a:sym typeface="Montserrat"/>
            </a:endParaRPr>
          </a:p>
        </p:txBody>
      </p:sp>
      <p:sp>
        <p:nvSpPr>
          <p:cNvPr id="431" name="Google Shape;431;p46"/>
          <p:cNvSpPr/>
          <p:nvPr/>
        </p:nvSpPr>
        <p:spPr>
          <a:xfrm>
            <a:off x="7993400" y="4246175"/>
            <a:ext cx="1111500" cy="520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2A4A"/>
              </a:buClr>
              <a:buSzPts val="897"/>
              <a:buFont typeface="Cambria"/>
              <a:buNone/>
            </a:pPr>
            <a:r>
              <a:rPr lang="en" sz="700">
                <a:solidFill>
                  <a:srgbClr val="1B2A4A"/>
                </a:solidFill>
                <a:latin typeface="Montserrat"/>
                <a:ea typeface="Montserrat"/>
                <a:cs typeface="Montserrat"/>
                <a:sym typeface="Montserrat"/>
              </a:rPr>
              <a:t>Follow &amp; push số lượng tài xế tick baga/bulky</a:t>
            </a:r>
            <a:endParaRPr sz="700">
              <a:solidFill>
                <a:srgbClr val="1B2A4A"/>
              </a:solidFill>
              <a:latin typeface="Montserrat"/>
              <a:ea typeface="Montserrat"/>
              <a:cs typeface="Montserrat"/>
              <a:sym typeface="Montserrat"/>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35"/>
        <p:cNvGrpSpPr/>
        <p:nvPr/>
      </p:nvGrpSpPr>
      <p:grpSpPr>
        <a:xfrm>
          <a:off x="0" y="0"/>
          <a:ext cx="0" cy="0"/>
          <a:chOff x="0" y="0"/>
          <a:chExt cx="0" cy="0"/>
        </a:xfrm>
      </p:grpSpPr>
      <p:cxnSp>
        <p:nvCxnSpPr>
          <p:cNvPr id="436" name="Google Shape;436;p47"/>
          <p:cNvCxnSpPr/>
          <p:nvPr/>
        </p:nvCxnSpPr>
        <p:spPr>
          <a:xfrm>
            <a:off x="240025" y="628875"/>
            <a:ext cx="8621700" cy="11700"/>
          </a:xfrm>
          <a:prstGeom prst="straightConnector1">
            <a:avLst/>
          </a:prstGeom>
          <a:noFill/>
          <a:ln w="9525" cap="flat" cmpd="sng">
            <a:solidFill>
              <a:srgbClr val="C9DAF8"/>
            </a:solidFill>
            <a:prstDash val="solid"/>
            <a:round/>
            <a:headEnd type="none" w="med" len="med"/>
            <a:tailEnd type="none" w="med" len="med"/>
          </a:ln>
        </p:spPr>
      </p:cxnSp>
      <p:sp>
        <p:nvSpPr>
          <p:cNvPr id="437" name="Google Shape;437;p47"/>
          <p:cNvSpPr txBox="1"/>
          <p:nvPr/>
        </p:nvSpPr>
        <p:spPr>
          <a:xfrm>
            <a:off x="5342075" y="153588"/>
            <a:ext cx="3519600" cy="3387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r>
              <a:rPr lang="en" sz="1000">
                <a:solidFill>
                  <a:srgbClr val="1155CC"/>
                </a:solidFill>
                <a:latin typeface="Montserrat"/>
                <a:ea typeface="Montserrat"/>
                <a:cs typeface="Montserrat"/>
                <a:sym typeface="Montserrat"/>
              </a:rPr>
              <a:t>Growth Weekly Report</a:t>
            </a:r>
            <a:endParaRPr sz="1000">
              <a:solidFill>
                <a:srgbClr val="1155CC"/>
              </a:solidFill>
              <a:latin typeface="Montserrat"/>
              <a:ea typeface="Montserrat"/>
              <a:cs typeface="Montserrat"/>
              <a:sym typeface="Montserrat"/>
            </a:endParaRPr>
          </a:p>
        </p:txBody>
      </p:sp>
      <p:sp>
        <p:nvSpPr>
          <p:cNvPr id="438" name="Google Shape;438;p47"/>
          <p:cNvSpPr txBox="1"/>
          <p:nvPr/>
        </p:nvSpPr>
        <p:spPr>
          <a:xfrm>
            <a:off x="585326" y="122825"/>
            <a:ext cx="30603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solidFill>
                  <a:srgbClr val="1155CC"/>
                </a:solidFill>
                <a:latin typeface="Montserrat"/>
                <a:ea typeface="Montserrat"/>
                <a:cs typeface="Montserrat"/>
                <a:sym typeface="Montserrat"/>
              </a:rPr>
              <a:t>[HAN] OPERATION GROWTH</a:t>
            </a:r>
            <a:endParaRPr b="1">
              <a:solidFill>
                <a:srgbClr val="1155CC"/>
              </a:solidFill>
              <a:latin typeface="Montserrat"/>
              <a:ea typeface="Montserrat"/>
              <a:cs typeface="Montserrat"/>
              <a:sym typeface="Montserrat"/>
            </a:endParaRPr>
          </a:p>
        </p:txBody>
      </p:sp>
      <p:pic>
        <p:nvPicPr>
          <p:cNvPr id="439" name="Google Shape;439;p47"/>
          <p:cNvPicPr preferRelativeResize="0"/>
          <p:nvPr/>
        </p:nvPicPr>
        <p:blipFill>
          <a:blip r:embed="rId3">
            <a:alphaModFix/>
          </a:blip>
          <a:stretch>
            <a:fillRect/>
          </a:stretch>
        </p:blipFill>
        <p:spPr>
          <a:xfrm>
            <a:off x="240025" y="150287"/>
            <a:ext cx="345300" cy="345325"/>
          </a:xfrm>
          <a:prstGeom prst="rect">
            <a:avLst/>
          </a:prstGeom>
          <a:noFill/>
          <a:ln>
            <a:noFill/>
          </a:ln>
        </p:spPr>
      </p:pic>
      <p:sp>
        <p:nvSpPr>
          <p:cNvPr id="440" name="Google Shape;440;p47"/>
          <p:cNvSpPr/>
          <p:nvPr/>
        </p:nvSpPr>
        <p:spPr>
          <a:xfrm>
            <a:off x="290699" y="945164"/>
            <a:ext cx="4199400" cy="500100"/>
          </a:xfrm>
          <a:prstGeom prst="roundRect">
            <a:avLst>
              <a:gd name="adj" fmla="val 50000"/>
            </a:avLst>
          </a:prstGeom>
          <a:gradFill>
            <a:gsLst>
              <a:gs pos="0">
                <a:srgbClr val="E9F1FF"/>
              </a:gs>
              <a:gs pos="100000">
                <a:srgbClr val="FFFFFF"/>
              </a:gs>
            </a:gsLst>
            <a:lin ang="18900732"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41" name="Google Shape;441;p47"/>
          <p:cNvSpPr txBox="1"/>
          <p:nvPr/>
        </p:nvSpPr>
        <p:spPr>
          <a:xfrm>
            <a:off x="2619893" y="991074"/>
            <a:ext cx="1705200" cy="400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700">
                <a:solidFill>
                  <a:srgbClr val="F66000"/>
                </a:solidFill>
                <a:latin typeface="Montserrat Black"/>
                <a:ea typeface="Montserrat Black"/>
                <a:cs typeface="Montserrat Black"/>
                <a:sym typeface="Montserrat Black"/>
              </a:rPr>
              <a:t>44.2%</a:t>
            </a:r>
            <a:endParaRPr sz="2700">
              <a:solidFill>
                <a:srgbClr val="F66000"/>
              </a:solidFill>
              <a:latin typeface="Montserrat Black"/>
              <a:ea typeface="Montserrat Black"/>
              <a:cs typeface="Montserrat Black"/>
              <a:sym typeface="Montserrat Black"/>
            </a:endParaRPr>
          </a:p>
        </p:txBody>
      </p:sp>
      <p:sp>
        <p:nvSpPr>
          <p:cNvPr id="442" name="Google Shape;442;p47"/>
          <p:cNvSpPr txBox="1"/>
          <p:nvPr/>
        </p:nvSpPr>
        <p:spPr>
          <a:xfrm>
            <a:off x="386600" y="975775"/>
            <a:ext cx="21687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rgbClr val="3451D6"/>
                </a:solidFill>
                <a:latin typeface="Montserrat Black"/>
                <a:ea typeface="Montserrat Black"/>
                <a:cs typeface="Montserrat Black"/>
                <a:sym typeface="Montserrat Black"/>
              </a:rPr>
              <a:t>Capacity HAN M8</a:t>
            </a:r>
            <a:endParaRPr sz="1600">
              <a:solidFill>
                <a:srgbClr val="3451D6"/>
              </a:solidFill>
              <a:latin typeface="Montserrat Black"/>
              <a:ea typeface="Montserrat Black"/>
              <a:cs typeface="Montserrat Black"/>
              <a:sym typeface="Montserrat Black"/>
            </a:endParaRPr>
          </a:p>
        </p:txBody>
      </p:sp>
      <p:sp>
        <p:nvSpPr>
          <p:cNvPr id="443" name="Google Shape;443;p47"/>
          <p:cNvSpPr/>
          <p:nvPr/>
        </p:nvSpPr>
        <p:spPr>
          <a:xfrm>
            <a:off x="4999450" y="1055332"/>
            <a:ext cx="3862200" cy="1852200"/>
          </a:xfrm>
          <a:prstGeom prst="roundRect">
            <a:avLst>
              <a:gd name="adj" fmla="val 16667"/>
            </a:avLst>
          </a:prstGeom>
          <a:solidFill>
            <a:srgbClr val="F9F8F8"/>
          </a:solidFill>
          <a:ln>
            <a:noFill/>
          </a:ln>
        </p:spPr>
        <p:txBody>
          <a:bodyPr spcFirstLastPara="1" wrap="square" lIns="91425" tIns="126000" rIns="91425" bIns="91425" anchor="t" anchorCtr="0">
            <a:noAutofit/>
          </a:bodyPr>
          <a:lstStyle/>
          <a:p>
            <a:pPr marL="228600" lvl="0" indent="-292100" algn="l" rtl="0">
              <a:lnSpc>
                <a:spcPct val="115000"/>
              </a:lnSpc>
              <a:spcBef>
                <a:spcPts val="0"/>
              </a:spcBef>
              <a:spcAft>
                <a:spcPts val="0"/>
              </a:spcAft>
              <a:buClr>
                <a:srgbClr val="010101"/>
              </a:buClr>
              <a:buSzPts val="1000"/>
              <a:buChar char="-"/>
            </a:pPr>
            <a:r>
              <a:rPr lang="en" sz="1000">
                <a:solidFill>
                  <a:srgbClr val="010101"/>
                </a:solidFill>
              </a:rPr>
              <a:t>Total Capacity đang hụt 7.4% so với tiến độ MTD, chủ yếu do Active NIM tăng chậm, hiện chỉ đạt ~65% so với cùng kỳ tháng trước. Productivity của các tập vẫn duy trì ổn định.</a:t>
            </a:r>
            <a:endParaRPr sz="1000">
              <a:solidFill>
                <a:srgbClr val="010101"/>
              </a:solidFill>
            </a:endParaRPr>
          </a:p>
        </p:txBody>
      </p:sp>
      <p:grpSp>
        <p:nvGrpSpPr>
          <p:cNvPr id="444" name="Google Shape;444;p47"/>
          <p:cNvGrpSpPr/>
          <p:nvPr/>
        </p:nvGrpSpPr>
        <p:grpSpPr>
          <a:xfrm>
            <a:off x="4999440" y="777147"/>
            <a:ext cx="1197341" cy="338420"/>
            <a:chOff x="4589852" y="2167012"/>
            <a:chExt cx="1151400" cy="269400"/>
          </a:xfrm>
        </p:grpSpPr>
        <p:sp>
          <p:nvSpPr>
            <p:cNvPr id="445" name="Google Shape;445;p47"/>
            <p:cNvSpPr/>
            <p:nvPr/>
          </p:nvSpPr>
          <p:spPr>
            <a:xfrm>
              <a:off x="4589852" y="2185472"/>
              <a:ext cx="1151400" cy="220200"/>
            </a:xfrm>
            <a:prstGeom prst="roundRect">
              <a:avLst>
                <a:gd name="adj" fmla="val 50000"/>
              </a:avLst>
            </a:prstGeom>
            <a:solidFill>
              <a:srgbClr val="34A85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46" name="Google Shape;446;p47"/>
            <p:cNvSpPr txBox="1"/>
            <p:nvPr/>
          </p:nvSpPr>
          <p:spPr>
            <a:xfrm>
              <a:off x="4680146" y="2167012"/>
              <a:ext cx="970800" cy="269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Clr>
                  <a:schemeClr val="dk1"/>
                </a:buClr>
                <a:buSzPts val="1100"/>
                <a:buFont typeface="Arial"/>
                <a:buNone/>
              </a:pPr>
              <a:r>
                <a:rPr lang="en" sz="1000" b="1">
                  <a:solidFill>
                    <a:schemeClr val="lt1"/>
                  </a:solidFill>
                  <a:latin typeface="Montserrat"/>
                  <a:ea typeface="Montserrat"/>
                  <a:cs typeface="Montserrat"/>
                  <a:sym typeface="Montserrat"/>
                </a:rPr>
                <a:t>Highlights</a:t>
              </a:r>
              <a:endParaRPr sz="1000" b="1">
                <a:solidFill>
                  <a:srgbClr val="FFFFFF"/>
                </a:solidFill>
                <a:latin typeface="Montserrat"/>
                <a:ea typeface="Montserrat"/>
                <a:cs typeface="Montserrat"/>
                <a:sym typeface="Montserrat"/>
              </a:endParaRPr>
            </a:p>
          </p:txBody>
        </p:sp>
      </p:grpSp>
      <p:graphicFrame>
        <p:nvGraphicFramePr>
          <p:cNvPr id="447" name="Google Shape;447;p47"/>
          <p:cNvGraphicFramePr/>
          <p:nvPr/>
        </p:nvGraphicFramePr>
        <p:xfrm>
          <a:off x="481200" y="1658091"/>
          <a:ext cx="3000000" cy="3000000"/>
        </p:xfrm>
        <a:graphic>
          <a:graphicData uri="http://schemas.openxmlformats.org/drawingml/2006/table">
            <a:tbl>
              <a:tblPr>
                <a:noFill/>
                <a:tableStyleId>{BD4DB973-2F49-4540-A1CC-0EE3EA8BBFB3}</a:tableStyleId>
              </a:tblPr>
              <a:tblGrid>
                <a:gridCol w="1080175">
                  <a:extLst>
                    <a:ext uri="{9D8B030D-6E8A-4147-A177-3AD203B41FA5}">
                      <a16:colId xmlns:a16="http://schemas.microsoft.com/office/drawing/2014/main" val="20000"/>
                    </a:ext>
                  </a:extLst>
                </a:gridCol>
                <a:gridCol w="993750">
                  <a:extLst>
                    <a:ext uri="{9D8B030D-6E8A-4147-A177-3AD203B41FA5}">
                      <a16:colId xmlns:a16="http://schemas.microsoft.com/office/drawing/2014/main" val="20001"/>
                    </a:ext>
                  </a:extLst>
                </a:gridCol>
                <a:gridCol w="934100">
                  <a:extLst>
                    <a:ext uri="{9D8B030D-6E8A-4147-A177-3AD203B41FA5}">
                      <a16:colId xmlns:a16="http://schemas.microsoft.com/office/drawing/2014/main" val="20002"/>
                    </a:ext>
                  </a:extLst>
                </a:gridCol>
                <a:gridCol w="810350">
                  <a:extLst>
                    <a:ext uri="{9D8B030D-6E8A-4147-A177-3AD203B41FA5}">
                      <a16:colId xmlns:a16="http://schemas.microsoft.com/office/drawing/2014/main" val="20003"/>
                    </a:ext>
                  </a:extLst>
                </a:gridCol>
              </a:tblGrid>
              <a:tr h="279875">
                <a:tc>
                  <a:txBody>
                    <a:bodyPr/>
                    <a:lstStyle/>
                    <a:p>
                      <a:pPr marL="0" lvl="0" indent="0" algn="ctr" rtl="0">
                        <a:lnSpc>
                          <a:spcPct val="115000"/>
                        </a:lnSpc>
                        <a:spcBef>
                          <a:spcPts val="0"/>
                        </a:spcBef>
                        <a:spcAft>
                          <a:spcPts val="0"/>
                        </a:spcAft>
                        <a:buNone/>
                      </a:pPr>
                      <a:r>
                        <a:rPr lang="en" sz="1200" b="1">
                          <a:solidFill>
                            <a:schemeClr val="dk1"/>
                          </a:solidFill>
                          <a:latin typeface="Lexend"/>
                          <a:ea typeface="Lexend"/>
                          <a:cs typeface="Lexend"/>
                          <a:sym typeface="Lexend"/>
                        </a:rPr>
                        <a:t>SGN</a:t>
                      </a:r>
                      <a:endParaRPr sz="1200" b="1">
                        <a:solidFill>
                          <a:schemeClr val="dk1"/>
                        </a:solidFill>
                        <a:latin typeface="Lexend"/>
                        <a:ea typeface="Lexend"/>
                        <a:cs typeface="Lexend"/>
                        <a:sym typeface="Lexend"/>
                      </a:endParaRPr>
                    </a:p>
                  </a:txBody>
                  <a:tcPr marL="28575" marR="28575" marT="19050" marB="1905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chemeClr val="dk1"/>
                      </a:solidFill>
                      <a:prstDash val="solid"/>
                      <a:round/>
                      <a:headEnd type="none" w="sm" len="sm"/>
                      <a:tailEnd type="none" w="sm" len="sm"/>
                    </a:lnB>
                    <a:solidFill>
                      <a:srgbClr val="D4E1F9"/>
                    </a:solidFill>
                  </a:tcPr>
                </a:tc>
                <a:tc>
                  <a:txBody>
                    <a:bodyPr/>
                    <a:lstStyle/>
                    <a:p>
                      <a:pPr marL="0" lvl="0" indent="0" algn="ctr" rtl="0">
                        <a:lnSpc>
                          <a:spcPct val="115000"/>
                        </a:lnSpc>
                        <a:spcBef>
                          <a:spcPts val="0"/>
                        </a:spcBef>
                        <a:spcAft>
                          <a:spcPts val="0"/>
                        </a:spcAft>
                        <a:buNone/>
                      </a:pPr>
                      <a:r>
                        <a:rPr lang="en" sz="1000" b="1">
                          <a:latin typeface="Lexend"/>
                          <a:ea typeface="Lexend"/>
                          <a:cs typeface="Lexend"/>
                          <a:sym typeface="Lexend"/>
                        </a:rPr>
                        <a:t>NIM</a:t>
                      </a:r>
                      <a:endParaRPr sz="1000" b="1">
                        <a:latin typeface="Lexend"/>
                        <a:ea typeface="Lexend"/>
                        <a:cs typeface="Lexend"/>
                        <a:sym typeface="Lexend"/>
                      </a:endParaRPr>
                    </a:p>
                  </a:txBody>
                  <a:tcPr marL="28575" marR="28575" marT="19050" marB="1905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0575" cap="flat" cmpd="sng">
                      <a:solidFill>
                        <a:schemeClr val="dk1"/>
                      </a:solidFill>
                      <a:prstDash val="solid"/>
                      <a:round/>
                      <a:headEnd type="none" w="sm" len="sm"/>
                      <a:tailEnd type="none" w="sm" len="sm"/>
                    </a:lnB>
                    <a:solidFill>
                      <a:srgbClr val="D4E1F9"/>
                    </a:solidFill>
                  </a:tcPr>
                </a:tc>
                <a:tc>
                  <a:txBody>
                    <a:bodyPr/>
                    <a:lstStyle/>
                    <a:p>
                      <a:pPr marL="0" lvl="0" indent="0" algn="ctr" rtl="0">
                        <a:lnSpc>
                          <a:spcPct val="115000"/>
                        </a:lnSpc>
                        <a:spcBef>
                          <a:spcPts val="0"/>
                        </a:spcBef>
                        <a:spcAft>
                          <a:spcPts val="0"/>
                        </a:spcAft>
                        <a:buNone/>
                      </a:pPr>
                      <a:r>
                        <a:rPr lang="en" sz="1000" b="1">
                          <a:latin typeface="Lexend"/>
                          <a:ea typeface="Lexend"/>
                          <a:cs typeface="Lexend"/>
                          <a:sym typeface="Lexend"/>
                        </a:rPr>
                        <a:t>NLM</a:t>
                      </a:r>
                      <a:endParaRPr sz="1000" b="1">
                        <a:latin typeface="Lexend"/>
                        <a:ea typeface="Lexend"/>
                        <a:cs typeface="Lexend"/>
                        <a:sym typeface="Lexend"/>
                      </a:endParaRPr>
                    </a:p>
                  </a:txBody>
                  <a:tcPr marL="28575" marR="28575" marT="19050" marB="1905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0575" cap="flat" cmpd="sng">
                      <a:solidFill>
                        <a:schemeClr val="dk1"/>
                      </a:solidFill>
                      <a:prstDash val="solid"/>
                      <a:round/>
                      <a:headEnd type="none" w="sm" len="sm"/>
                      <a:tailEnd type="none" w="sm" len="sm"/>
                    </a:lnB>
                    <a:solidFill>
                      <a:srgbClr val="D4E1F9"/>
                    </a:solidFill>
                  </a:tcPr>
                </a:tc>
                <a:tc>
                  <a:txBody>
                    <a:bodyPr/>
                    <a:lstStyle/>
                    <a:p>
                      <a:pPr marL="0" lvl="0" indent="0" algn="ctr" rtl="0">
                        <a:lnSpc>
                          <a:spcPct val="115000"/>
                        </a:lnSpc>
                        <a:spcBef>
                          <a:spcPts val="0"/>
                        </a:spcBef>
                        <a:spcAft>
                          <a:spcPts val="0"/>
                        </a:spcAft>
                        <a:buNone/>
                      </a:pPr>
                      <a:r>
                        <a:rPr lang="en" sz="1000" b="1">
                          <a:latin typeface="Lexend"/>
                          <a:ea typeface="Lexend"/>
                          <a:cs typeface="Lexend"/>
                          <a:sym typeface="Lexend"/>
                        </a:rPr>
                        <a:t>RIM</a:t>
                      </a:r>
                      <a:endParaRPr sz="1000" b="1">
                        <a:latin typeface="Lexend"/>
                        <a:ea typeface="Lexend"/>
                        <a:cs typeface="Lexend"/>
                        <a:sym typeface="Lexend"/>
                      </a:endParaRPr>
                    </a:p>
                  </a:txBody>
                  <a:tcPr marL="28575" marR="28575" marT="19050" marB="1905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0575" cap="flat" cmpd="sng">
                      <a:solidFill>
                        <a:schemeClr val="dk1"/>
                      </a:solidFill>
                      <a:prstDash val="solid"/>
                      <a:round/>
                      <a:headEnd type="none" w="sm" len="sm"/>
                      <a:tailEnd type="none" w="sm" len="sm"/>
                    </a:lnB>
                    <a:solidFill>
                      <a:srgbClr val="D4E1F9"/>
                    </a:solidFill>
                  </a:tcPr>
                </a:tc>
                <a:extLst>
                  <a:ext uri="{0D108BD9-81ED-4DB2-BD59-A6C34878D82A}">
                    <a16:rowId xmlns:a16="http://schemas.microsoft.com/office/drawing/2014/main" val="10000"/>
                  </a:ext>
                </a:extLst>
              </a:tr>
              <a:tr h="279875">
                <a:tc>
                  <a:txBody>
                    <a:bodyPr/>
                    <a:lstStyle/>
                    <a:p>
                      <a:pPr marL="0" lvl="0" indent="0" algn="ctr" rtl="0">
                        <a:lnSpc>
                          <a:spcPct val="115000"/>
                        </a:lnSpc>
                        <a:spcBef>
                          <a:spcPts val="0"/>
                        </a:spcBef>
                        <a:spcAft>
                          <a:spcPts val="0"/>
                        </a:spcAft>
                        <a:buNone/>
                      </a:pPr>
                      <a:r>
                        <a:rPr lang="en" sz="1000" b="1">
                          <a:latin typeface="Lexend"/>
                          <a:ea typeface="Lexend"/>
                          <a:cs typeface="Lexend"/>
                          <a:sym typeface="Lexend"/>
                        </a:rPr>
                        <a:t>ACTUAL</a:t>
                      </a:r>
                      <a:endParaRPr sz="1000" b="1">
                        <a:latin typeface="Lexend"/>
                        <a:ea typeface="Lexend"/>
                        <a:cs typeface="Lexend"/>
                        <a:sym typeface="Lexend"/>
                      </a:endParaRPr>
                    </a:p>
                  </a:txBody>
                  <a:tcPr marL="28575" marR="28575" marT="19050" marB="19050" anchor="b">
                    <a:lnL w="9525" cap="flat" cmpd="sng">
                      <a:solidFill>
                        <a:schemeClr val="dk1"/>
                      </a:solidFill>
                      <a:prstDash val="solid"/>
                      <a:round/>
                      <a:headEnd type="none" w="sm" len="sm"/>
                      <a:tailEnd type="none" w="sm" len="sm"/>
                    </a:lnL>
                    <a:lnR w="1057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100" b="1">
                          <a:solidFill>
                            <a:schemeClr val="dk1"/>
                          </a:solidFill>
                          <a:latin typeface="Lexend"/>
                          <a:ea typeface="Lexend"/>
                          <a:cs typeface="Lexend"/>
                          <a:sym typeface="Lexend"/>
                        </a:rPr>
                        <a:t>22,826</a:t>
                      </a:r>
                      <a:endParaRPr sz="1300" b="1">
                        <a:latin typeface="Lexend"/>
                        <a:ea typeface="Lexend"/>
                        <a:cs typeface="Lexend"/>
                        <a:sym typeface="Lexend"/>
                      </a:endParaRPr>
                    </a:p>
                  </a:txBody>
                  <a:tcPr marL="28575" marR="28575" marT="19050" marB="19050" anchor="ctr">
                    <a:lnL w="10575" cap="flat" cmpd="sng">
                      <a:solidFill>
                        <a:schemeClr val="dk1"/>
                      </a:solidFill>
                      <a:prstDash val="solid"/>
                      <a:round/>
                      <a:headEnd type="none" w="sm" len="sm"/>
                      <a:tailEnd type="none" w="sm" len="sm"/>
                    </a:lnL>
                    <a:lnR w="10575" cap="flat" cmpd="sng">
                      <a:solidFill>
                        <a:schemeClr val="dk1"/>
                      </a:solidFill>
                      <a:prstDash val="solid"/>
                      <a:round/>
                      <a:headEnd type="none" w="sm" len="sm"/>
                      <a:tailEnd type="none" w="sm" len="sm"/>
                    </a:lnR>
                    <a:lnT w="10575" cap="flat" cmpd="sng">
                      <a:solidFill>
                        <a:schemeClr val="dk1"/>
                      </a:solidFill>
                      <a:prstDash val="solid"/>
                      <a:round/>
                      <a:headEnd type="none" w="sm" len="sm"/>
                      <a:tailEnd type="none" w="sm" len="sm"/>
                    </a:lnT>
                    <a:lnB w="1057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100" b="1">
                          <a:latin typeface="Lexend"/>
                          <a:ea typeface="Lexend"/>
                          <a:cs typeface="Lexend"/>
                          <a:sym typeface="Lexend"/>
                        </a:rPr>
                        <a:t>56,487	</a:t>
                      </a:r>
                      <a:endParaRPr sz="1100" b="1">
                        <a:latin typeface="Lexend"/>
                        <a:ea typeface="Lexend"/>
                        <a:cs typeface="Lexend"/>
                        <a:sym typeface="Lexend"/>
                      </a:endParaRPr>
                    </a:p>
                  </a:txBody>
                  <a:tcPr marL="28575" marR="28575" marT="19050" marB="19050" anchor="ctr">
                    <a:lnL w="10575" cap="flat" cmpd="sng">
                      <a:solidFill>
                        <a:schemeClr val="dk1"/>
                      </a:solidFill>
                      <a:prstDash val="solid"/>
                      <a:round/>
                      <a:headEnd type="none" w="sm" len="sm"/>
                      <a:tailEnd type="none" w="sm" len="sm"/>
                    </a:lnL>
                    <a:lnR w="10575" cap="flat" cmpd="sng">
                      <a:solidFill>
                        <a:schemeClr val="dk1"/>
                      </a:solidFill>
                      <a:prstDash val="solid"/>
                      <a:round/>
                      <a:headEnd type="none" w="sm" len="sm"/>
                      <a:tailEnd type="none" w="sm" len="sm"/>
                    </a:lnR>
                    <a:lnT w="10575" cap="flat" cmpd="sng">
                      <a:solidFill>
                        <a:schemeClr val="dk1"/>
                      </a:solidFill>
                      <a:prstDash val="solid"/>
                      <a:round/>
                      <a:headEnd type="none" w="sm" len="sm"/>
                      <a:tailEnd type="none" w="sm" len="sm"/>
                    </a:lnT>
                    <a:lnB w="1057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100" b="1">
                          <a:solidFill>
                            <a:schemeClr val="dk1"/>
                          </a:solidFill>
                          <a:latin typeface="Lexend"/>
                          <a:ea typeface="Lexend"/>
                          <a:cs typeface="Lexend"/>
                          <a:sym typeface="Lexend"/>
                        </a:rPr>
                        <a:t>24,517</a:t>
                      </a:r>
                      <a:endParaRPr sz="1300" b="1">
                        <a:latin typeface="Lexend"/>
                        <a:ea typeface="Lexend"/>
                        <a:cs typeface="Lexend"/>
                        <a:sym typeface="Lexend"/>
                      </a:endParaRPr>
                    </a:p>
                  </a:txBody>
                  <a:tcPr marL="28575" marR="28575" marT="19050" marB="19050" anchor="ctr">
                    <a:lnL w="10575" cap="flat" cmpd="sng">
                      <a:solidFill>
                        <a:schemeClr val="dk1"/>
                      </a:solidFill>
                      <a:prstDash val="solid"/>
                      <a:round/>
                      <a:headEnd type="none" w="sm" len="sm"/>
                      <a:tailEnd type="none" w="sm" len="sm"/>
                    </a:lnL>
                    <a:lnR w="10575" cap="flat" cmpd="sng">
                      <a:solidFill>
                        <a:schemeClr val="dk1"/>
                      </a:solidFill>
                      <a:prstDash val="solid"/>
                      <a:round/>
                      <a:headEnd type="none" w="sm" len="sm"/>
                      <a:tailEnd type="none" w="sm" len="sm"/>
                    </a:lnR>
                    <a:lnT w="10575" cap="flat" cmpd="sng">
                      <a:solidFill>
                        <a:schemeClr val="dk1"/>
                      </a:solidFill>
                      <a:prstDash val="solid"/>
                      <a:round/>
                      <a:headEnd type="none" w="sm" len="sm"/>
                      <a:tailEnd type="none" w="sm" len="sm"/>
                    </a:lnT>
                    <a:lnB w="10575"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279875">
                <a:tc>
                  <a:txBody>
                    <a:bodyPr/>
                    <a:lstStyle/>
                    <a:p>
                      <a:pPr marL="0" lvl="0" indent="0" algn="ctr" rtl="0">
                        <a:lnSpc>
                          <a:spcPct val="115000"/>
                        </a:lnSpc>
                        <a:spcBef>
                          <a:spcPts val="0"/>
                        </a:spcBef>
                        <a:spcAft>
                          <a:spcPts val="0"/>
                        </a:spcAft>
                        <a:buNone/>
                      </a:pPr>
                      <a:r>
                        <a:rPr lang="en" sz="1000" b="1">
                          <a:latin typeface="Lexend"/>
                          <a:ea typeface="Lexend"/>
                          <a:cs typeface="Lexend"/>
                          <a:sym typeface="Lexend"/>
                        </a:rPr>
                        <a:t>TARGET</a:t>
                      </a:r>
                      <a:endParaRPr sz="1000" b="1">
                        <a:latin typeface="Lexend"/>
                        <a:ea typeface="Lexend"/>
                        <a:cs typeface="Lexend"/>
                        <a:sym typeface="Lexend"/>
                      </a:endParaRPr>
                    </a:p>
                  </a:txBody>
                  <a:tcPr marL="28575" marR="28575" marT="19050" marB="19050" anchor="b">
                    <a:lnL w="9525" cap="flat" cmpd="sng">
                      <a:solidFill>
                        <a:schemeClr val="dk1"/>
                      </a:solidFill>
                      <a:prstDash val="solid"/>
                      <a:round/>
                      <a:headEnd type="none" w="sm" len="sm"/>
                      <a:tailEnd type="none" w="sm" len="sm"/>
                    </a:lnL>
                    <a:lnR w="1057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rtl="0">
                        <a:lnSpc>
                          <a:spcPct val="115000"/>
                        </a:lnSpc>
                        <a:spcBef>
                          <a:spcPts val="0"/>
                        </a:spcBef>
                        <a:spcAft>
                          <a:spcPts val="0"/>
                        </a:spcAft>
                        <a:buNone/>
                      </a:pPr>
                      <a:r>
                        <a:rPr lang="en" sz="1100">
                          <a:solidFill>
                            <a:srgbClr val="888888"/>
                          </a:solidFill>
                          <a:latin typeface="Lexend"/>
                          <a:ea typeface="Lexend"/>
                          <a:cs typeface="Lexend"/>
                          <a:sym typeface="Lexend"/>
                        </a:rPr>
                        <a:t>85,400</a:t>
                      </a:r>
                      <a:endParaRPr sz="1100">
                        <a:solidFill>
                          <a:srgbClr val="888888"/>
                        </a:solidFill>
                        <a:latin typeface="Lexend"/>
                        <a:ea typeface="Lexend"/>
                        <a:cs typeface="Lexend"/>
                        <a:sym typeface="Lexend"/>
                      </a:endParaRPr>
                    </a:p>
                  </a:txBody>
                  <a:tcPr marL="28575" marR="28575" marT="19050" marB="19050" anchor="b">
                    <a:lnL w="10575" cap="flat" cmpd="sng">
                      <a:solidFill>
                        <a:schemeClr val="dk1"/>
                      </a:solidFill>
                      <a:prstDash val="solid"/>
                      <a:round/>
                      <a:headEnd type="none" w="sm" len="sm"/>
                      <a:tailEnd type="none" w="sm" len="sm"/>
                    </a:lnL>
                    <a:lnR w="10575" cap="flat" cmpd="sng">
                      <a:solidFill>
                        <a:schemeClr val="dk1"/>
                      </a:solidFill>
                      <a:prstDash val="solid"/>
                      <a:round/>
                      <a:headEnd type="none" w="sm" len="sm"/>
                      <a:tailEnd type="none" w="sm" len="sm"/>
                    </a:lnR>
                    <a:lnT w="10575" cap="flat" cmpd="sng">
                      <a:solidFill>
                        <a:schemeClr val="dk1"/>
                      </a:solidFill>
                      <a:prstDash val="solid"/>
                      <a:round/>
                      <a:headEnd type="none" w="sm" len="sm"/>
                      <a:tailEnd type="none" w="sm" len="sm"/>
                    </a:lnT>
                    <a:lnB w="10575" cap="flat" cmpd="sng">
                      <a:solidFill>
                        <a:schemeClr val="dk1"/>
                      </a:solidFill>
                      <a:prstDash val="solid"/>
                      <a:round/>
                      <a:headEnd type="none" w="sm" len="sm"/>
                      <a:tailEnd type="none" w="sm" len="sm"/>
                    </a:lnB>
                  </a:tcPr>
                </a:tc>
                <a:tc>
                  <a:txBody>
                    <a:bodyPr/>
                    <a:lstStyle/>
                    <a:p>
                      <a:pPr marL="0" marR="0" lvl="0" indent="0" algn="ctr" rtl="0">
                        <a:lnSpc>
                          <a:spcPct val="115000"/>
                        </a:lnSpc>
                        <a:spcBef>
                          <a:spcPts val="0"/>
                        </a:spcBef>
                        <a:spcAft>
                          <a:spcPts val="0"/>
                        </a:spcAft>
                        <a:buNone/>
                      </a:pPr>
                      <a:r>
                        <a:rPr lang="en" sz="1100">
                          <a:solidFill>
                            <a:srgbClr val="888888"/>
                          </a:solidFill>
                          <a:latin typeface="Lexend"/>
                          <a:ea typeface="Lexend"/>
                          <a:cs typeface="Lexend"/>
                          <a:sym typeface="Lexend"/>
                        </a:rPr>
                        <a:t>104,800</a:t>
                      </a:r>
                      <a:endParaRPr sz="1100">
                        <a:solidFill>
                          <a:srgbClr val="888888"/>
                        </a:solidFill>
                        <a:latin typeface="Lexend"/>
                        <a:ea typeface="Lexend"/>
                        <a:cs typeface="Lexend"/>
                        <a:sym typeface="Lexend"/>
                      </a:endParaRPr>
                    </a:p>
                  </a:txBody>
                  <a:tcPr marL="28575" marR="28575" marT="19050" marB="19050" anchor="b">
                    <a:lnL w="10575" cap="flat" cmpd="sng">
                      <a:solidFill>
                        <a:schemeClr val="dk1"/>
                      </a:solidFill>
                      <a:prstDash val="solid"/>
                      <a:round/>
                      <a:headEnd type="none" w="sm" len="sm"/>
                      <a:tailEnd type="none" w="sm" len="sm"/>
                    </a:lnL>
                    <a:lnR w="10575" cap="flat" cmpd="sng">
                      <a:solidFill>
                        <a:schemeClr val="dk1"/>
                      </a:solidFill>
                      <a:prstDash val="solid"/>
                      <a:round/>
                      <a:headEnd type="none" w="sm" len="sm"/>
                      <a:tailEnd type="none" w="sm" len="sm"/>
                    </a:lnR>
                    <a:lnT w="10575" cap="flat" cmpd="sng">
                      <a:solidFill>
                        <a:schemeClr val="dk1"/>
                      </a:solidFill>
                      <a:prstDash val="solid"/>
                      <a:round/>
                      <a:headEnd type="none" w="sm" len="sm"/>
                      <a:tailEnd type="none" w="sm" len="sm"/>
                    </a:lnT>
                    <a:lnB w="10575" cap="flat" cmpd="sng">
                      <a:solidFill>
                        <a:schemeClr val="dk1"/>
                      </a:solidFill>
                      <a:prstDash val="solid"/>
                      <a:round/>
                      <a:headEnd type="none" w="sm" len="sm"/>
                      <a:tailEnd type="none" w="sm" len="sm"/>
                    </a:lnB>
                  </a:tcPr>
                </a:tc>
                <a:tc>
                  <a:txBody>
                    <a:bodyPr/>
                    <a:lstStyle/>
                    <a:p>
                      <a:pPr marL="0" marR="0" lvl="0" indent="0" algn="ctr" rtl="0">
                        <a:lnSpc>
                          <a:spcPct val="115000"/>
                        </a:lnSpc>
                        <a:spcBef>
                          <a:spcPts val="0"/>
                        </a:spcBef>
                        <a:spcAft>
                          <a:spcPts val="0"/>
                        </a:spcAft>
                        <a:buNone/>
                      </a:pPr>
                      <a:r>
                        <a:rPr lang="en" sz="1100">
                          <a:solidFill>
                            <a:srgbClr val="888888"/>
                          </a:solidFill>
                          <a:latin typeface="Lexend"/>
                          <a:ea typeface="Lexend"/>
                          <a:cs typeface="Lexend"/>
                          <a:sym typeface="Lexend"/>
                        </a:rPr>
                        <a:t>44,600</a:t>
                      </a:r>
                      <a:endParaRPr sz="1100">
                        <a:solidFill>
                          <a:srgbClr val="888888"/>
                        </a:solidFill>
                        <a:latin typeface="Lexend"/>
                        <a:ea typeface="Lexend"/>
                        <a:cs typeface="Lexend"/>
                        <a:sym typeface="Lexend"/>
                      </a:endParaRPr>
                    </a:p>
                  </a:txBody>
                  <a:tcPr marL="28575" marR="28575" marT="19050" marB="19050" anchor="b">
                    <a:lnL w="10575" cap="flat" cmpd="sng">
                      <a:solidFill>
                        <a:schemeClr val="dk1"/>
                      </a:solidFill>
                      <a:prstDash val="solid"/>
                      <a:round/>
                      <a:headEnd type="none" w="sm" len="sm"/>
                      <a:tailEnd type="none" w="sm" len="sm"/>
                    </a:lnL>
                    <a:lnR w="10575" cap="flat" cmpd="sng">
                      <a:solidFill>
                        <a:schemeClr val="dk1"/>
                      </a:solidFill>
                      <a:prstDash val="solid"/>
                      <a:round/>
                      <a:headEnd type="none" w="sm" len="sm"/>
                      <a:tailEnd type="none" w="sm" len="sm"/>
                    </a:lnR>
                    <a:lnT w="10575" cap="flat" cmpd="sng">
                      <a:solidFill>
                        <a:schemeClr val="dk1"/>
                      </a:solidFill>
                      <a:prstDash val="solid"/>
                      <a:round/>
                      <a:headEnd type="none" w="sm" len="sm"/>
                      <a:tailEnd type="none" w="sm" len="sm"/>
                    </a:lnT>
                    <a:lnB w="10575"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279875">
                <a:tc>
                  <a:txBody>
                    <a:bodyPr/>
                    <a:lstStyle/>
                    <a:p>
                      <a:pPr marL="0" lvl="0" indent="0" algn="ctr" rtl="0">
                        <a:lnSpc>
                          <a:spcPct val="115000"/>
                        </a:lnSpc>
                        <a:spcBef>
                          <a:spcPts val="0"/>
                        </a:spcBef>
                        <a:spcAft>
                          <a:spcPts val="0"/>
                        </a:spcAft>
                        <a:buNone/>
                      </a:pPr>
                      <a:r>
                        <a:rPr lang="en" sz="1000" b="1">
                          <a:latin typeface="Lexend"/>
                          <a:ea typeface="Lexend"/>
                          <a:cs typeface="Lexend"/>
                          <a:sym typeface="Lexend"/>
                        </a:rPr>
                        <a:t>% TARGET</a:t>
                      </a:r>
                      <a:endParaRPr sz="1000" b="1">
                        <a:latin typeface="Lexend"/>
                        <a:ea typeface="Lexend"/>
                        <a:cs typeface="Lexend"/>
                        <a:sym typeface="Lexend"/>
                      </a:endParaRPr>
                    </a:p>
                  </a:txBody>
                  <a:tcPr marL="28575" marR="28575" marT="19050" marB="19050" anchor="b">
                    <a:lnL w="9525" cap="flat" cmpd="sng">
                      <a:solidFill>
                        <a:schemeClr val="dk1"/>
                      </a:solidFill>
                      <a:prstDash val="solid"/>
                      <a:round/>
                      <a:headEnd type="none" w="sm" len="sm"/>
                      <a:tailEnd type="none" w="sm" len="sm"/>
                    </a:lnL>
                    <a:lnR w="1057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rtl="0">
                        <a:lnSpc>
                          <a:spcPct val="115000"/>
                        </a:lnSpc>
                        <a:spcBef>
                          <a:spcPts val="0"/>
                        </a:spcBef>
                        <a:spcAft>
                          <a:spcPts val="0"/>
                        </a:spcAft>
                        <a:buNone/>
                      </a:pPr>
                      <a:r>
                        <a:rPr lang="en" sz="1100" b="1">
                          <a:solidFill>
                            <a:srgbClr val="F66000"/>
                          </a:solidFill>
                          <a:latin typeface="Lexend"/>
                          <a:ea typeface="Lexend"/>
                          <a:cs typeface="Lexend"/>
                          <a:sym typeface="Lexend"/>
                        </a:rPr>
                        <a:t>26.73%</a:t>
                      </a:r>
                      <a:endParaRPr sz="1100" b="1">
                        <a:solidFill>
                          <a:srgbClr val="F66000"/>
                        </a:solidFill>
                        <a:latin typeface="Lexend"/>
                        <a:ea typeface="Lexend"/>
                        <a:cs typeface="Lexend"/>
                        <a:sym typeface="Lexend"/>
                      </a:endParaRPr>
                    </a:p>
                  </a:txBody>
                  <a:tcPr marL="28575" marR="28575" marT="19050" marB="19050" anchor="b">
                    <a:lnL w="10575" cap="flat" cmpd="sng">
                      <a:solidFill>
                        <a:schemeClr val="dk1"/>
                      </a:solidFill>
                      <a:prstDash val="solid"/>
                      <a:round/>
                      <a:headEnd type="none" w="sm" len="sm"/>
                      <a:tailEnd type="none" w="sm" len="sm"/>
                    </a:lnL>
                    <a:lnR w="10575" cap="flat" cmpd="sng">
                      <a:solidFill>
                        <a:schemeClr val="dk1"/>
                      </a:solidFill>
                      <a:prstDash val="solid"/>
                      <a:round/>
                      <a:headEnd type="none" w="sm" len="sm"/>
                      <a:tailEnd type="none" w="sm" len="sm"/>
                    </a:lnR>
                    <a:lnT w="10575" cap="flat" cmpd="sng">
                      <a:solidFill>
                        <a:schemeClr val="dk1"/>
                      </a:solidFill>
                      <a:prstDash val="solid"/>
                      <a:round/>
                      <a:headEnd type="none" w="sm" len="sm"/>
                      <a:tailEnd type="none" w="sm" len="sm"/>
                    </a:lnT>
                    <a:lnB w="10575" cap="flat" cmpd="sng">
                      <a:solidFill>
                        <a:schemeClr val="dk1"/>
                      </a:solidFill>
                      <a:prstDash val="solid"/>
                      <a:round/>
                      <a:headEnd type="none" w="sm" len="sm"/>
                      <a:tailEnd type="none" w="sm" len="sm"/>
                    </a:lnB>
                  </a:tcPr>
                </a:tc>
                <a:tc>
                  <a:txBody>
                    <a:bodyPr/>
                    <a:lstStyle/>
                    <a:p>
                      <a:pPr marL="0" marR="0" lvl="0" indent="0" algn="ctr" rtl="0">
                        <a:lnSpc>
                          <a:spcPct val="115000"/>
                        </a:lnSpc>
                        <a:spcBef>
                          <a:spcPts val="0"/>
                        </a:spcBef>
                        <a:spcAft>
                          <a:spcPts val="0"/>
                        </a:spcAft>
                        <a:buNone/>
                      </a:pPr>
                      <a:r>
                        <a:rPr lang="en" sz="1100" b="1">
                          <a:solidFill>
                            <a:srgbClr val="0B8043"/>
                          </a:solidFill>
                          <a:latin typeface="Lexend"/>
                          <a:ea typeface="Lexend"/>
                          <a:cs typeface="Lexend"/>
                          <a:sym typeface="Lexend"/>
                        </a:rPr>
                        <a:t>53.90%</a:t>
                      </a:r>
                      <a:endParaRPr sz="1100" b="1">
                        <a:solidFill>
                          <a:srgbClr val="F96604"/>
                        </a:solidFill>
                        <a:latin typeface="Lexend"/>
                        <a:ea typeface="Lexend"/>
                        <a:cs typeface="Lexend"/>
                        <a:sym typeface="Lexend"/>
                      </a:endParaRPr>
                    </a:p>
                  </a:txBody>
                  <a:tcPr marL="28575" marR="28575" marT="19050" marB="19050" anchor="b">
                    <a:lnL w="10575" cap="flat" cmpd="sng">
                      <a:solidFill>
                        <a:schemeClr val="dk1"/>
                      </a:solidFill>
                      <a:prstDash val="solid"/>
                      <a:round/>
                      <a:headEnd type="none" w="sm" len="sm"/>
                      <a:tailEnd type="none" w="sm" len="sm"/>
                    </a:lnL>
                    <a:lnR w="10575" cap="flat" cmpd="sng">
                      <a:solidFill>
                        <a:schemeClr val="dk1"/>
                      </a:solidFill>
                      <a:prstDash val="solid"/>
                      <a:round/>
                      <a:headEnd type="none" w="sm" len="sm"/>
                      <a:tailEnd type="none" w="sm" len="sm"/>
                    </a:lnR>
                    <a:lnT w="10575" cap="flat" cmpd="sng">
                      <a:solidFill>
                        <a:schemeClr val="dk1"/>
                      </a:solidFill>
                      <a:prstDash val="solid"/>
                      <a:round/>
                      <a:headEnd type="none" w="sm" len="sm"/>
                      <a:tailEnd type="none" w="sm" len="sm"/>
                    </a:lnT>
                    <a:lnB w="10575" cap="flat" cmpd="sng">
                      <a:solidFill>
                        <a:schemeClr val="dk1"/>
                      </a:solidFill>
                      <a:prstDash val="solid"/>
                      <a:round/>
                      <a:headEnd type="none" w="sm" len="sm"/>
                      <a:tailEnd type="none" w="sm" len="sm"/>
                    </a:lnB>
                  </a:tcPr>
                </a:tc>
                <a:tc>
                  <a:txBody>
                    <a:bodyPr/>
                    <a:lstStyle/>
                    <a:p>
                      <a:pPr marL="0" marR="0" lvl="0" indent="0" algn="ctr" rtl="0">
                        <a:lnSpc>
                          <a:spcPct val="115000"/>
                        </a:lnSpc>
                        <a:spcBef>
                          <a:spcPts val="0"/>
                        </a:spcBef>
                        <a:spcAft>
                          <a:spcPts val="0"/>
                        </a:spcAft>
                        <a:buNone/>
                      </a:pPr>
                      <a:r>
                        <a:rPr lang="en" sz="1100" b="1">
                          <a:solidFill>
                            <a:srgbClr val="0B8043"/>
                          </a:solidFill>
                          <a:latin typeface="Lexend"/>
                          <a:ea typeface="Lexend"/>
                          <a:cs typeface="Lexend"/>
                          <a:sym typeface="Lexend"/>
                        </a:rPr>
                        <a:t>54.97%</a:t>
                      </a:r>
                      <a:endParaRPr sz="1100" b="1">
                        <a:solidFill>
                          <a:srgbClr val="0D8000"/>
                        </a:solidFill>
                        <a:latin typeface="Lexend"/>
                        <a:ea typeface="Lexend"/>
                        <a:cs typeface="Lexend"/>
                        <a:sym typeface="Lexend"/>
                      </a:endParaRPr>
                    </a:p>
                  </a:txBody>
                  <a:tcPr marL="28575" marR="28575" marT="19050" marB="19050" anchor="b">
                    <a:lnL w="10575" cap="flat" cmpd="sng">
                      <a:solidFill>
                        <a:schemeClr val="dk1"/>
                      </a:solidFill>
                      <a:prstDash val="solid"/>
                      <a:round/>
                      <a:headEnd type="none" w="sm" len="sm"/>
                      <a:tailEnd type="none" w="sm" len="sm"/>
                    </a:lnL>
                    <a:lnR w="10575" cap="flat" cmpd="sng">
                      <a:solidFill>
                        <a:schemeClr val="dk1"/>
                      </a:solidFill>
                      <a:prstDash val="solid"/>
                      <a:round/>
                      <a:headEnd type="none" w="sm" len="sm"/>
                      <a:tailEnd type="none" w="sm" len="sm"/>
                    </a:lnR>
                    <a:lnT w="10575" cap="flat" cmpd="sng">
                      <a:solidFill>
                        <a:schemeClr val="dk1"/>
                      </a:solidFill>
                      <a:prstDash val="solid"/>
                      <a:round/>
                      <a:headEnd type="none" w="sm" len="sm"/>
                      <a:tailEnd type="none" w="sm" len="sm"/>
                    </a:lnT>
                    <a:lnB w="10575"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pic>
        <p:nvPicPr>
          <p:cNvPr id="448" name="Google Shape;448;p47" title="Chart"/>
          <p:cNvPicPr preferRelativeResize="0"/>
          <p:nvPr/>
        </p:nvPicPr>
        <p:blipFill>
          <a:blip r:embed="rId4">
            <a:alphaModFix/>
          </a:blip>
          <a:stretch>
            <a:fillRect/>
          </a:stretch>
        </p:blipFill>
        <p:spPr>
          <a:xfrm>
            <a:off x="173328" y="3044116"/>
            <a:ext cx="3060301" cy="1895706"/>
          </a:xfrm>
          <a:prstGeom prst="rect">
            <a:avLst/>
          </a:prstGeom>
          <a:noFill/>
          <a:ln>
            <a:noFill/>
          </a:ln>
        </p:spPr>
      </p:pic>
      <p:pic>
        <p:nvPicPr>
          <p:cNvPr id="449" name="Google Shape;449;p47" title="Chart"/>
          <p:cNvPicPr preferRelativeResize="0"/>
          <p:nvPr/>
        </p:nvPicPr>
        <p:blipFill>
          <a:blip r:embed="rId5">
            <a:alphaModFix/>
          </a:blip>
          <a:stretch>
            <a:fillRect/>
          </a:stretch>
        </p:blipFill>
        <p:spPr>
          <a:xfrm>
            <a:off x="3146275" y="2990425"/>
            <a:ext cx="3184776" cy="1895700"/>
          </a:xfrm>
          <a:prstGeom prst="rect">
            <a:avLst/>
          </a:prstGeom>
          <a:noFill/>
          <a:ln>
            <a:noFill/>
          </a:ln>
        </p:spPr>
      </p:pic>
      <p:pic>
        <p:nvPicPr>
          <p:cNvPr id="450" name="Google Shape;450;p47" title="Chart"/>
          <p:cNvPicPr preferRelativeResize="0"/>
          <p:nvPr/>
        </p:nvPicPr>
        <p:blipFill>
          <a:blip r:embed="rId6">
            <a:alphaModFix/>
          </a:blip>
          <a:stretch>
            <a:fillRect/>
          </a:stretch>
        </p:blipFill>
        <p:spPr>
          <a:xfrm>
            <a:off x="5970074" y="3044125"/>
            <a:ext cx="3146862" cy="1895700"/>
          </a:xfrm>
          <a:prstGeom prst="rect">
            <a:avLst/>
          </a:prstGeom>
          <a:noFill/>
          <a:ln>
            <a:noFill/>
          </a:ln>
        </p:spPr>
      </p:pic>
      <p:sp>
        <p:nvSpPr>
          <p:cNvPr id="451" name="Google Shape;451;p47"/>
          <p:cNvSpPr/>
          <p:nvPr/>
        </p:nvSpPr>
        <p:spPr>
          <a:xfrm>
            <a:off x="0" y="0"/>
            <a:ext cx="9144000" cy="73200"/>
          </a:xfrm>
          <a:prstGeom prst="rect">
            <a:avLst/>
          </a:prstGeom>
          <a:solidFill>
            <a:srgbClr val="FF7F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55"/>
        <p:cNvGrpSpPr/>
        <p:nvPr/>
      </p:nvGrpSpPr>
      <p:grpSpPr>
        <a:xfrm>
          <a:off x="0" y="0"/>
          <a:ext cx="0" cy="0"/>
          <a:chOff x="0" y="0"/>
          <a:chExt cx="0" cy="0"/>
        </a:xfrm>
      </p:grpSpPr>
      <p:cxnSp>
        <p:nvCxnSpPr>
          <p:cNvPr id="456" name="Google Shape;456;p48"/>
          <p:cNvCxnSpPr/>
          <p:nvPr/>
        </p:nvCxnSpPr>
        <p:spPr>
          <a:xfrm>
            <a:off x="240025" y="628875"/>
            <a:ext cx="8621700" cy="11700"/>
          </a:xfrm>
          <a:prstGeom prst="straightConnector1">
            <a:avLst/>
          </a:prstGeom>
          <a:noFill/>
          <a:ln w="9525" cap="flat" cmpd="sng">
            <a:solidFill>
              <a:srgbClr val="C9DAF8"/>
            </a:solidFill>
            <a:prstDash val="solid"/>
            <a:round/>
            <a:headEnd type="none" w="med" len="med"/>
            <a:tailEnd type="none" w="med" len="med"/>
          </a:ln>
        </p:spPr>
      </p:cxnSp>
      <p:sp>
        <p:nvSpPr>
          <p:cNvPr id="457" name="Google Shape;457;p48"/>
          <p:cNvSpPr txBox="1"/>
          <p:nvPr/>
        </p:nvSpPr>
        <p:spPr>
          <a:xfrm>
            <a:off x="5342075" y="153588"/>
            <a:ext cx="3519600" cy="3387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r>
              <a:rPr lang="en" sz="1000">
                <a:solidFill>
                  <a:srgbClr val="1155CC"/>
                </a:solidFill>
                <a:latin typeface="Montserrat"/>
                <a:ea typeface="Montserrat"/>
                <a:cs typeface="Montserrat"/>
                <a:sym typeface="Montserrat"/>
              </a:rPr>
              <a:t>Growth Weekly Report</a:t>
            </a:r>
            <a:endParaRPr sz="1000">
              <a:solidFill>
                <a:srgbClr val="1155CC"/>
              </a:solidFill>
              <a:latin typeface="Montserrat"/>
              <a:ea typeface="Montserrat"/>
              <a:cs typeface="Montserrat"/>
              <a:sym typeface="Montserrat"/>
            </a:endParaRPr>
          </a:p>
        </p:txBody>
      </p:sp>
      <p:sp>
        <p:nvSpPr>
          <p:cNvPr id="458" name="Google Shape;458;p48"/>
          <p:cNvSpPr txBox="1"/>
          <p:nvPr/>
        </p:nvSpPr>
        <p:spPr>
          <a:xfrm>
            <a:off x="585326" y="122825"/>
            <a:ext cx="30603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solidFill>
                  <a:srgbClr val="1155CC"/>
                </a:solidFill>
                <a:latin typeface="Montserrat"/>
                <a:ea typeface="Montserrat"/>
                <a:cs typeface="Montserrat"/>
                <a:sym typeface="Montserrat"/>
              </a:rPr>
              <a:t>[SGN] OPERATION GROWTH</a:t>
            </a:r>
            <a:endParaRPr b="1">
              <a:solidFill>
                <a:srgbClr val="1155CC"/>
              </a:solidFill>
              <a:latin typeface="Montserrat"/>
              <a:ea typeface="Montserrat"/>
              <a:cs typeface="Montserrat"/>
              <a:sym typeface="Montserrat"/>
            </a:endParaRPr>
          </a:p>
        </p:txBody>
      </p:sp>
      <p:pic>
        <p:nvPicPr>
          <p:cNvPr id="459" name="Google Shape;459;p48"/>
          <p:cNvPicPr preferRelativeResize="0"/>
          <p:nvPr/>
        </p:nvPicPr>
        <p:blipFill>
          <a:blip r:embed="rId3">
            <a:alphaModFix/>
          </a:blip>
          <a:stretch>
            <a:fillRect/>
          </a:stretch>
        </p:blipFill>
        <p:spPr>
          <a:xfrm>
            <a:off x="240025" y="150287"/>
            <a:ext cx="345300" cy="345325"/>
          </a:xfrm>
          <a:prstGeom prst="rect">
            <a:avLst/>
          </a:prstGeom>
          <a:noFill/>
          <a:ln>
            <a:noFill/>
          </a:ln>
        </p:spPr>
      </p:pic>
      <p:sp>
        <p:nvSpPr>
          <p:cNvPr id="460" name="Google Shape;460;p48"/>
          <p:cNvSpPr/>
          <p:nvPr/>
        </p:nvSpPr>
        <p:spPr>
          <a:xfrm>
            <a:off x="290699" y="945164"/>
            <a:ext cx="4199400" cy="500100"/>
          </a:xfrm>
          <a:prstGeom prst="roundRect">
            <a:avLst>
              <a:gd name="adj" fmla="val 50000"/>
            </a:avLst>
          </a:prstGeom>
          <a:gradFill>
            <a:gsLst>
              <a:gs pos="0">
                <a:srgbClr val="E9F1FF"/>
              </a:gs>
              <a:gs pos="100000">
                <a:srgbClr val="FFFFFF"/>
              </a:gs>
            </a:gsLst>
            <a:lin ang="18900732"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61" name="Google Shape;461;p48"/>
          <p:cNvSpPr txBox="1"/>
          <p:nvPr/>
        </p:nvSpPr>
        <p:spPr>
          <a:xfrm>
            <a:off x="2619893" y="991074"/>
            <a:ext cx="1705200" cy="400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700">
                <a:solidFill>
                  <a:srgbClr val="0B8043"/>
                </a:solidFill>
                <a:latin typeface="Montserrat Black"/>
                <a:ea typeface="Montserrat Black"/>
                <a:cs typeface="Montserrat Black"/>
                <a:sym typeface="Montserrat Black"/>
              </a:rPr>
              <a:t>51.8%</a:t>
            </a:r>
            <a:endParaRPr sz="2700">
              <a:solidFill>
                <a:srgbClr val="0B8043"/>
              </a:solidFill>
              <a:latin typeface="Montserrat Black"/>
              <a:ea typeface="Montserrat Black"/>
              <a:cs typeface="Montserrat Black"/>
              <a:sym typeface="Montserrat Black"/>
            </a:endParaRPr>
          </a:p>
        </p:txBody>
      </p:sp>
      <p:sp>
        <p:nvSpPr>
          <p:cNvPr id="462" name="Google Shape;462;p48"/>
          <p:cNvSpPr txBox="1"/>
          <p:nvPr/>
        </p:nvSpPr>
        <p:spPr>
          <a:xfrm>
            <a:off x="386600" y="975775"/>
            <a:ext cx="21687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rgbClr val="3451D6"/>
                </a:solidFill>
                <a:latin typeface="Montserrat Black"/>
                <a:ea typeface="Montserrat Black"/>
                <a:cs typeface="Montserrat Black"/>
                <a:sym typeface="Montserrat Black"/>
              </a:rPr>
              <a:t>Capacity SGN M8</a:t>
            </a:r>
            <a:endParaRPr sz="1600">
              <a:solidFill>
                <a:srgbClr val="3451D6"/>
              </a:solidFill>
              <a:latin typeface="Montserrat Black"/>
              <a:ea typeface="Montserrat Black"/>
              <a:cs typeface="Montserrat Black"/>
              <a:sym typeface="Montserrat Black"/>
            </a:endParaRPr>
          </a:p>
        </p:txBody>
      </p:sp>
      <p:pic>
        <p:nvPicPr>
          <p:cNvPr id="463" name="Google Shape;463;p48" title="Chart"/>
          <p:cNvPicPr preferRelativeResize="0"/>
          <p:nvPr/>
        </p:nvPicPr>
        <p:blipFill>
          <a:blip r:embed="rId4">
            <a:alphaModFix/>
          </a:blip>
          <a:stretch>
            <a:fillRect/>
          </a:stretch>
        </p:blipFill>
        <p:spPr>
          <a:xfrm>
            <a:off x="41500" y="3043125"/>
            <a:ext cx="3131612" cy="1939875"/>
          </a:xfrm>
          <a:prstGeom prst="rect">
            <a:avLst/>
          </a:prstGeom>
          <a:noFill/>
          <a:ln>
            <a:noFill/>
          </a:ln>
        </p:spPr>
      </p:pic>
      <p:pic>
        <p:nvPicPr>
          <p:cNvPr id="464" name="Google Shape;464;p48" title="Chart"/>
          <p:cNvPicPr preferRelativeResize="0"/>
          <p:nvPr/>
        </p:nvPicPr>
        <p:blipFill>
          <a:blip r:embed="rId5">
            <a:alphaModFix/>
          </a:blip>
          <a:stretch>
            <a:fillRect/>
          </a:stretch>
        </p:blipFill>
        <p:spPr>
          <a:xfrm>
            <a:off x="2942800" y="2990394"/>
            <a:ext cx="3259000" cy="1939881"/>
          </a:xfrm>
          <a:prstGeom prst="rect">
            <a:avLst/>
          </a:prstGeom>
          <a:noFill/>
          <a:ln>
            <a:noFill/>
          </a:ln>
        </p:spPr>
      </p:pic>
      <p:pic>
        <p:nvPicPr>
          <p:cNvPr id="465" name="Google Shape;465;p48" title="Chart"/>
          <p:cNvPicPr preferRelativeResize="0"/>
          <p:nvPr/>
        </p:nvPicPr>
        <p:blipFill>
          <a:blip r:embed="rId6">
            <a:alphaModFix/>
          </a:blip>
          <a:stretch>
            <a:fillRect/>
          </a:stretch>
        </p:blipFill>
        <p:spPr>
          <a:xfrm>
            <a:off x="5860143" y="2990400"/>
            <a:ext cx="3220192" cy="1939875"/>
          </a:xfrm>
          <a:prstGeom prst="rect">
            <a:avLst/>
          </a:prstGeom>
          <a:noFill/>
          <a:ln>
            <a:noFill/>
          </a:ln>
        </p:spPr>
      </p:pic>
      <p:sp>
        <p:nvSpPr>
          <p:cNvPr id="466" name="Google Shape;466;p48"/>
          <p:cNvSpPr/>
          <p:nvPr/>
        </p:nvSpPr>
        <p:spPr>
          <a:xfrm>
            <a:off x="4999450" y="1055332"/>
            <a:ext cx="3862200" cy="1852200"/>
          </a:xfrm>
          <a:prstGeom prst="roundRect">
            <a:avLst>
              <a:gd name="adj" fmla="val 16667"/>
            </a:avLst>
          </a:prstGeom>
          <a:solidFill>
            <a:srgbClr val="F9F8F8"/>
          </a:solidFill>
          <a:ln>
            <a:noFill/>
          </a:ln>
        </p:spPr>
        <p:txBody>
          <a:bodyPr spcFirstLastPara="1" wrap="square" lIns="91425" tIns="126000" rIns="91425" bIns="91425" anchor="t" anchorCtr="0">
            <a:noAutofit/>
          </a:bodyPr>
          <a:lstStyle/>
          <a:p>
            <a:pPr marL="228600" lvl="0" indent="-292100" algn="l" rtl="0">
              <a:lnSpc>
                <a:spcPct val="115000"/>
              </a:lnSpc>
              <a:spcBef>
                <a:spcPts val="0"/>
              </a:spcBef>
              <a:spcAft>
                <a:spcPts val="0"/>
              </a:spcAft>
              <a:buClr>
                <a:srgbClr val="010101"/>
              </a:buClr>
              <a:buSzPts val="1000"/>
              <a:buChar char="-"/>
            </a:pPr>
            <a:r>
              <a:rPr lang="en" sz="1000">
                <a:solidFill>
                  <a:srgbClr val="010101"/>
                </a:solidFill>
              </a:rPr>
              <a:t>Total Capacity đã theo kịp tiến độ MTD. Tương tự HAN, Active NIM vẫn tăng trưởng chậm; bù lại, NLM đang duy trì hoạt động tốt với Active giảm không đáng kể theo trend tự nhiên, đồng thời Productivity được bảo toàn.</a:t>
            </a:r>
            <a:endParaRPr sz="1000">
              <a:solidFill>
                <a:srgbClr val="010101"/>
              </a:solidFill>
            </a:endParaRPr>
          </a:p>
        </p:txBody>
      </p:sp>
      <p:grpSp>
        <p:nvGrpSpPr>
          <p:cNvPr id="467" name="Google Shape;467;p48"/>
          <p:cNvGrpSpPr/>
          <p:nvPr/>
        </p:nvGrpSpPr>
        <p:grpSpPr>
          <a:xfrm>
            <a:off x="4999440" y="777147"/>
            <a:ext cx="1197341" cy="338420"/>
            <a:chOff x="4589852" y="2167012"/>
            <a:chExt cx="1151400" cy="269400"/>
          </a:xfrm>
        </p:grpSpPr>
        <p:sp>
          <p:nvSpPr>
            <p:cNvPr id="468" name="Google Shape;468;p48"/>
            <p:cNvSpPr/>
            <p:nvPr/>
          </p:nvSpPr>
          <p:spPr>
            <a:xfrm>
              <a:off x="4589852" y="2185472"/>
              <a:ext cx="1151400" cy="220200"/>
            </a:xfrm>
            <a:prstGeom prst="roundRect">
              <a:avLst>
                <a:gd name="adj" fmla="val 50000"/>
              </a:avLst>
            </a:prstGeom>
            <a:solidFill>
              <a:srgbClr val="34A85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69" name="Google Shape;469;p48"/>
            <p:cNvSpPr txBox="1"/>
            <p:nvPr/>
          </p:nvSpPr>
          <p:spPr>
            <a:xfrm>
              <a:off x="4680146" y="2167012"/>
              <a:ext cx="970800" cy="269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Clr>
                  <a:schemeClr val="dk1"/>
                </a:buClr>
                <a:buSzPts val="1100"/>
                <a:buFont typeface="Arial"/>
                <a:buNone/>
              </a:pPr>
              <a:r>
                <a:rPr lang="en" sz="1000" b="1">
                  <a:solidFill>
                    <a:schemeClr val="lt1"/>
                  </a:solidFill>
                  <a:latin typeface="Montserrat"/>
                  <a:ea typeface="Montserrat"/>
                  <a:cs typeface="Montserrat"/>
                  <a:sym typeface="Montserrat"/>
                </a:rPr>
                <a:t>Highlights</a:t>
              </a:r>
              <a:endParaRPr sz="1000" b="1">
                <a:solidFill>
                  <a:srgbClr val="FFFFFF"/>
                </a:solidFill>
                <a:latin typeface="Montserrat"/>
                <a:ea typeface="Montserrat"/>
                <a:cs typeface="Montserrat"/>
                <a:sym typeface="Montserrat"/>
              </a:endParaRPr>
            </a:p>
          </p:txBody>
        </p:sp>
      </p:grpSp>
      <p:graphicFrame>
        <p:nvGraphicFramePr>
          <p:cNvPr id="470" name="Google Shape;470;p48"/>
          <p:cNvGraphicFramePr/>
          <p:nvPr/>
        </p:nvGraphicFramePr>
        <p:xfrm>
          <a:off x="481200" y="1658091"/>
          <a:ext cx="3000000" cy="3000000"/>
        </p:xfrm>
        <a:graphic>
          <a:graphicData uri="http://schemas.openxmlformats.org/drawingml/2006/table">
            <a:tbl>
              <a:tblPr>
                <a:noFill/>
                <a:tableStyleId>{BD4DB973-2F49-4540-A1CC-0EE3EA8BBFB3}</a:tableStyleId>
              </a:tblPr>
              <a:tblGrid>
                <a:gridCol w="1080175">
                  <a:extLst>
                    <a:ext uri="{9D8B030D-6E8A-4147-A177-3AD203B41FA5}">
                      <a16:colId xmlns:a16="http://schemas.microsoft.com/office/drawing/2014/main" val="20000"/>
                    </a:ext>
                  </a:extLst>
                </a:gridCol>
                <a:gridCol w="993750">
                  <a:extLst>
                    <a:ext uri="{9D8B030D-6E8A-4147-A177-3AD203B41FA5}">
                      <a16:colId xmlns:a16="http://schemas.microsoft.com/office/drawing/2014/main" val="20001"/>
                    </a:ext>
                  </a:extLst>
                </a:gridCol>
                <a:gridCol w="934100">
                  <a:extLst>
                    <a:ext uri="{9D8B030D-6E8A-4147-A177-3AD203B41FA5}">
                      <a16:colId xmlns:a16="http://schemas.microsoft.com/office/drawing/2014/main" val="20002"/>
                    </a:ext>
                  </a:extLst>
                </a:gridCol>
                <a:gridCol w="810350">
                  <a:extLst>
                    <a:ext uri="{9D8B030D-6E8A-4147-A177-3AD203B41FA5}">
                      <a16:colId xmlns:a16="http://schemas.microsoft.com/office/drawing/2014/main" val="20003"/>
                    </a:ext>
                  </a:extLst>
                </a:gridCol>
              </a:tblGrid>
              <a:tr h="279875">
                <a:tc>
                  <a:txBody>
                    <a:bodyPr/>
                    <a:lstStyle/>
                    <a:p>
                      <a:pPr marL="0" lvl="0" indent="0" algn="ctr" rtl="0">
                        <a:lnSpc>
                          <a:spcPct val="115000"/>
                        </a:lnSpc>
                        <a:spcBef>
                          <a:spcPts val="0"/>
                        </a:spcBef>
                        <a:spcAft>
                          <a:spcPts val="0"/>
                        </a:spcAft>
                        <a:buNone/>
                      </a:pPr>
                      <a:r>
                        <a:rPr lang="en" sz="1200" b="1">
                          <a:solidFill>
                            <a:schemeClr val="dk1"/>
                          </a:solidFill>
                          <a:latin typeface="Lexend"/>
                          <a:ea typeface="Lexend"/>
                          <a:cs typeface="Lexend"/>
                          <a:sym typeface="Lexend"/>
                        </a:rPr>
                        <a:t>SGN</a:t>
                      </a:r>
                      <a:endParaRPr sz="1200" b="1">
                        <a:solidFill>
                          <a:schemeClr val="dk1"/>
                        </a:solidFill>
                        <a:latin typeface="Lexend"/>
                        <a:ea typeface="Lexend"/>
                        <a:cs typeface="Lexend"/>
                        <a:sym typeface="Lexend"/>
                      </a:endParaRPr>
                    </a:p>
                  </a:txBody>
                  <a:tcPr marL="28575" marR="28575" marT="19050" marB="1905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chemeClr val="dk1"/>
                      </a:solidFill>
                      <a:prstDash val="solid"/>
                      <a:round/>
                      <a:headEnd type="none" w="sm" len="sm"/>
                      <a:tailEnd type="none" w="sm" len="sm"/>
                    </a:lnB>
                    <a:solidFill>
                      <a:srgbClr val="D4E1F9"/>
                    </a:solidFill>
                  </a:tcPr>
                </a:tc>
                <a:tc>
                  <a:txBody>
                    <a:bodyPr/>
                    <a:lstStyle/>
                    <a:p>
                      <a:pPr marL="0" lvl="0" indent="0" algn="ctr" rtl="0">
                        <a:lnSpc>
                          <a:spcPct val="115000"/>
                        </a:lnSpc>
                        <a:spcBef>
                          <a:spcPts val="0"/>
                        </a:spcBef>
                        <a:spcAft>
                          <a:spcPts val="0"/>
                        </a:spcAft>
                        <a:buNone/>
                      </a:pPr>
                      <a:r>
                        <a:rPr lang="en" sz="1000" b="1">
                          <a:latin typeface="Lexend"/>
                          <a:ea typeface="Lexend"/>
                          <a:cs typeface="Lexend"/>
                          <a:sym typeface="Lexend"/>
                        </a:rPr>
                        <a:t>NIM</a:t>
                      </a:r>
                      <a:endParaRPr sz="1000" b="1">
                        <a:latin typeface="Lexend"/>
                        <a:ea typeface="Lexend"/>
                        <a:cs typeface="Lexend"/>
                        <a:sym typeface="Lexend"/>
                      </a:endParaRPr>
                    </a:p>
                  </a:txBody>
                  <a:tcPr marL="28575" marR="28575" marT="19050" marB="1905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0575" cap="flat" cmpd="sng">
                      <a:solidFill>
                        <a:schemeClr val="dk1"/>
                      </a:solidFill>
                      <a:prstDash val="solid"/>
                      <a:round/>
                      <a:headEnd type="none" w="sm" len="sm"/>
                      <a:tailEnd type="none" w="sm" len="sm"/>
                    </a:lnB>
                    <a:solidFill>
                      <a:srgbClr val="D4E1F9"/>
                    </a:solidFill>
                  </a:tcPr>
                </a:tc>
                <a:tc>
                  <a:txBody>
                    <a:bodyPr/>
                    <a:lstStyle/>
                    <a:p>
                      <a:pPr marL="0" lvl="0" indent="0" algn="ctr" rtl="0">
                        <a:lnSpc>
                          <a:spcPct val="115000"/>
                        </a:lnSpc>
                        <a:spcBef>
                          <a:spcPts val="0"/>
                        </a:spcBef>
                        <a:spcAft>
                          <a:spcPts val="0"/>
                        </a:spcAft>
                        <a:buNone/>
                      </a:pPr>
                      <a:r>
                        <a:rPr lang="en" sz="1000" b="1">
                          <a:latin typeface="Lexend"/>
                          <a:ea typeface="Lexend"/>
                          <a:cs typeface="Lexend"/>
                          <a:sym typeface="Lexend"/>
                        </a:rPr>
                        <a:t>NLM</a:t>
                      </a:r>
                      <a:endParaRPr sz="1000" b="1">
                        <a:latin typeface="Lexend"/>
                        <a:ea typeface="Lexend"/>
                        <a:cs typeface="Lexend"/>
                        <a:sym typeface="Lexend"/>
                      </a:endParaRPr>
                    </a:p>
                  </a:txBody>
                  <a:tcPr marL="28575" marR="28575" marT="19050" marB="1905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0575" cap="flat" cmpd="sng">
                      <a:solidFill>
                        <a:schemeClr val="dk1"/>
                      </a:solidFill>
                      <a:prstDash val="solid"/>
                      <a:round/>
                      <a:headEnd type="none" w="sm" len="sm"/>
                      <a:tailEnd type="none" w="sm" len="sm"/>
                    </a:lnB>
                    <a:solidFill>
                      <a:srgbClr val="D4E1F9"/>
                    </a:solidFill>
                  </a:tcPr>
                </a:tc>
                <a:tc>
                  <a:txBody>
                    <a:bodyPr/>
                    <a:lstStyle/>
                    <a:p>
                      <a:pPr marL="0" lvl="0" indent="0" algn="ctr" rtl="0">
                        <a:lnSpc>
                          <a:spcPct val="115000"/>
                        </a:lnSpc>
                        <a:spcBef>
                          <a:spcPts val="0"/>
                        </a:spcBef>
                        <a:spcAft>
                          <a:spcPts val="0"/>
                        </a:spcAft>
                        <a:buNone/>
                      </a:pPr>
                      <a:r>
                        <a:rPr lang="en" sz="1000" b="1">
                          <a:latin typeface="Lexend"/>
                          <a:ea typeface="Lexend"/>
                          <a:cs typeface="Lexend"/>
                          <a:sym typeface="Lexend"/>
                        </a:rPr>
                        <a:t>RIM</a:t>
                      </a:r>
                      <a:endParaRPr sz="1000" b="1">
                        <a:latin typeface="Lexend"/>
                        <a:ea typeface="Lexend"/>
                        <a:cs typeface="Lexend"/>
                        <a:sym typeface="Lexend"/>
                      </a:endParaRPr>
                    </a:p>
                  </a:txBody>
                  <a:tcPr marL="28575" marR="28575" marT="19050" marB="1905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0575" cap="flat" cmpd="sng">
                      <a:solidFill>
                        <a:schemeClr val="dk1"/>
                      </a:solidFill>
                      <a:prstDash val="solid"/>
                      <a:round/>
                      <a:headEnd type="none" w="sm" len="sm"/>
                      <a:tailEnd type="none" w="sm" len="sm"/>
                    </a:lnB>
                    <a:solidFill>
                      <a:srgbClr val="D4E1F9"/>
                    </a:solidFill>
                  </a:tcPr>
                </a:tc>
                <a:extLst>
                  <a:ext uri="{0D108BD9-81ED-4DB2-BD59-A6C34878D82A}">
                    <a16:rowId xmlns:a16="http://schemas.microsoft.com/office/drawing/2014/main" val="10000"/>
                  </a:ext>
                </a:extLst>
              </a:tr>
              <a:tr h="279875">
                <a:tc>
                  <a:txBody>
                    <a:bodyPr/>
                    <a:lstStyle/>
                    <a:p>
                      <a:pPr marL="0" lvl="0" indent="0" algn="ctr" rtl="0">
                        <a:lnSpc>
                          <a:spcPct val="115000"/>
                        </a:lnSpc>
                        <a:spcBef>
                          <a:spcPts val="0"/>
                        </a:spcBef>
                        <a:spcAft>
                          <a:spcPts val="0"/>
                        </a:spcAft>
                        <a:buNone/>
                      </a:pPr>
                      <a:r>
                        <a:rPr lang="en" sz="1000" b="1">
                          <a:latin typeface="Lexend"/>
                          <a:ea typeface="Lexend"/>
                          <a:cs typeface="Lexend"/>
                          <a:sym typeface="Lexend"/>
                        </a:rPr>
                        <a:t>ACTUAL</a:t>
                      </a:r>
                      <a:endParaRPr sz="1000" b="1">
                        <a:latin typeface="Lexend"/>
                        <a:ea typeface="Lexend"/>
                        <a:cs typeface="Lexend"/>
                        <a:sym typeface="Lexend"/>
                      </a:endParaRPr>
                    </a:p>
                  </a:txBody>
                  <a:tcPr marL="28575" marR="28575" marT="19050" marB="19050" anchor="b">
                    <a:lnL w="9525" cap="flat" cmpd="sng">
                      <a:solidFill>
                        <a:schemeClr val="dk1"/>
                      </a:solidFill>
                      <a:prstDash val="solid"/>
                      <a:round/>
                      <a:headEnd type="none" w="sm" len="sm"/>
                      <a:tailEnd type="none" w="sm" len="sm"/>
                    </a:lnL>
                    <a:lnR w="1057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100" b="1">
                          <a:solidFill>
                            <a:schemeClr val="dk1"/>
                          </a:solidFill>
                          <a:latin typeface="Lexend"/>
                          <a:ea typeface="Lexend"/>
                          <a:cs typeface="Lexend"/>
                          <a:sym typeface="Lexend"/>
                        </a:rPr>
                        <a:t>31,707	</a:t>
                      </a:r>
                      <a:endParaRPr sz="1300" b="1">
                        <a:latin typeface="Lexend"/>
                        <a:ea typeface="Lexend"/>
                        <a:cs typeface="Lexend"/>
                        <a:sym typeface="Lexend"/>
                      </a:endParaRPr>
                    </a:p>
                  </a:txBody>
                  <a:tcPr marL="28575" marR="28575" marT="19050" marB="19050" anchor="ctr">
                    <a:lnL w="10575" cap="flat" cmpd="sng">
                      <a:solidFill>
                        <a:schemeClr val="dk1"/>
                      </a:solidFill>
                      <a:prstDash val="solid"/>
                      <a:round/>
                      <a:headEnd type="none" w="sm" len="sm"/>
                      <a:tailEnd type="none" w="sm" len="sm"/>
                    </a:lnL>
                    <a:lnR w="10575" cap="flat" cmpd="sng">
                      <a:solidFill>
                        <a:schemeClr val="dk1"/>
                      </a:solidFill>
                      <a:prstDash val="solid"/>
                      <a:round/>
                      <a:headEnd type="none" w="sm" len="sm"/>
                      <a:tailEnd type="none" w="sm" len="sm"/>
                    </a:lnR>
                    <a:lnT w="10575" cap="flat" cmpd="sng">
                      <a:solidFill>
                        <a:schemeClr val="dk1"/>
                      </a:solidFill>
                      <a:prstDash val="solid"/>
                      <a:round/>
                      <a:headEnd type="none" w="sm" len="sm"/>
                      <a:tailEnd type="none" w="sm" len="sm"/>
                    </a:lnT>
                    <a:lnB w="1057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100" b="1">
                          <a:latin typeface="Lexend"/>
                          <a:ea typeface="Lexend"/>
                          <a:cs typeface="Lexend"/>
                          <a:sym typeface="Lexend"/>
                        </a:rPr>
                        <a:t>76,465	</a:t>
                      </a:r>
                      <a:endParaRPr sz="1100" b="1">
                        <a:latin typeface="Lexend"/>
                        <a:ea typeface="Lexend"/>
                        <a:cs typeface="Lexend"/>
                        <a:sym typeface="Lexend"/>
                      </a:endParaRPr>
                    </a:p>
                  </a:txBody>
                  <a:tcPr marL="28575" marR="28575" marT="19050" marB="19050" anchor="ctr">
                    <a:lnL w="10575" cap="flat" cmpd="sng">
                      <a:solidFill>
                        <a:schemeClr val="dk1"/>
                      </a:solidFill>
                      <a:prstDash val="solid"/>
                      <a:round/>
                      <a:headEnd type="none" w="sm" len="sm"/>
                      <a:tailEnd type="none" w="sm" len="sm"/>
                    </a:lnL>
                    <a:lnR w="10575" cap="flat" cmpd="sng">
                      <a:solidFill>
                        <a:schemeClr val="dk1"/>
                      </a:solidFill>
                      <a:prstDash val="solid"/>
                      <a:round/>
                      <a:headEnd type="none" w="sm" len="sm"/>
                      <a:tailEnd type="none" w="sm" len="sm"/>
                    </a:lnR>
                    <a:lnT w="10575" cap="flat" cmpd="sng">
                      <a:solidFill>
                        <a:schemeClr val="dk1"/>
                      </a:solidFill>
                      <a:prstDash val="solid"/>
                      <a:round/>
                      <a:headEnd type="none" w="sm" len="sm"/>
                      <a:tailEnd type="none" w="sm" len="sm"/>
                    </a:lnT>
                    <a:lnB w="1057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 sz="1100" b="1">
                          <a:solidFill>
                            <a:schemeClr val="dk1"/>
                          </a:solidFill>
                          <a:latin typeface="Lexend"/>
                          <a:ea typeface="Lexend"/>
                          <a:cs typeface="Lexend"/>
                          <a:sym typeface="Lexend"/>
                        </a:rPr>
                        <a:t>21,680	</a:t>
                      </a:r>
                      <a:endParaRPr sz="1300" b="1">
                        <a:latin typeface="Lexend"/>
                        <a:ea typeface="Lexend"/>
                        <a:cs typeface="Lexend"/>
                        <a:sym typeface="Lexend"/>
                      </a:endParaRPr>
                    </a:p>
                  </a:txBody>
                  <a:tcPr marL="28575" marR="28575" marT="19050" marB="19050" anchor="ctr">
                    <a:lnL w="10575" cap="flat" cmpd="sng">
                      <a:solidFill>
                        <a:schemeClr val="dk1"/>
                      </a:solidFill>
                      <a:prstDash val="solid"/>
                      <a:round/>
                      <a:headEnd type="none" w="sm" len="sm"/>
                      <a:tailEnd type="none" w="sm" len="sm"/>
                    </a:lnL>
                    <a:lnR w="10575" cap="flat" cmpd="sng">
                      <a:solidFill>
                        <a:schemeClr val="dk1"/>
                      </a:solidFill>
                      <a:prstDash val="solid"/>
                      <a:round/>
                      <a:headEnd type="none" w="sm" len="sm"/>
                      <a:tailEnd type="none" w="sm" len="sm"/>
                    </a:lnR>
                    <a:lnT w="10575" cap="flat" cmpd="sng">
                      <a:solidFill>
                        <a:schemeClr val="dk1"/>
                      </a:solidFill>
                      <a:prstDash val="solid"/>
                      <a:round/>
                      <a:headEnd type="none" w="sm" len="sm"/>
                      <a:tailEnd type="none" w="sm" len="sm"/>
                    </a:lnT>
                    <a:lnB w="10575"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279875">
                <a:tc>
                  <a:txBody>
                    <a:bodyPr/>
                    <a:lstStyle/>
                    <a:p>
                      <a:pPr marL="0" lvl="0" indent="0" algn="ctr" rtl="0">
                        <a:lnSpc>
                          <a:spcPct val="115000"/>
                        </a:lnSpc>
                        <a:spcBef>
                          <a:spcPts val="0"/>
                        </a:spcBef>
                        <a:spcAft>
                          <a:spcPts val="0"/>
                        </a:spcAft>
                        <a:buNone/>
                      </a:pPr>
                      <a:r>
                        <a:rPr lang="en" sz="1000" b="1">
                          <a:latin typeface="Lexend"/>
                          <a:ea typeface="Lexend"/>
                          <a:cs typeface="Lexend"/>
                          <a:sym typeface="Lexend"/>
                        </a:rPr>
                        <a:t>TARGET</a:t>
                      </a:r>
                      <a:endParaRPr sz="1000" b="1">
                        <a:latin typeface="Lexend"/>
                        <a:ea typeface="Lexend"/>
                        <a:cs typeface="Lexend"/>
                        <a:sym typeface="Lexend"/>
                      </a:endParaRPr>
                    </a:p>
                  </a:txBody>
                  <a:tcPr marL="28575" marR="28575" marT="19050" marB="19050" anchor="b">
                    <a:lnL w="9525" cap="flat" cmpd="sng">
                      <a:solidFill>
                        <a:schemeClr val="dk1"/>
                      </a:solidFill>
                      <a:prstDash val="solid"/>
                      <a:round/>
                      <a:headEnd type="none" w="sm" len="sm"/>
                      <a:tailEnd type="none" w="sm" len="sm"/>
                    </a:lnL>
                    <a:lnR w="1057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rtl="0">
                        <a:lnSpc>
                          <a:spcPct val="115000"/>
                        </a:lnSpc>
                        <a:spcBef>
                          <a:spcPts val="0"/>
                        </a:spcBef>
                        <a:spcAft>
                          <a:spcPts val="0"/>
                        </a:spcAft>
                        <a:buNone/>
                      </a:pPr>
                      <a:r>
                        <a:rPr lang="en" sz="1100">
                          <a:solidFill>
                            <a:srgbClr val="888888"/>
                          </a:solidFill>
                          <a:latin typeface="Lexend"/>
                          <a:ea typeface="Lexend"/>
                          <a:cs typeface="Lexend"/>
                          <a:sym typeface="Lexend"/>
                        </a:rPr>
                        <a:t>89,300</a:t>
                      </a:r>
                      <a:endParaRPr sz="1100">
                        <a:solidFill>
                          <a:srgbClr val="888888"/>
                        </a:solidFill>
                        <a:latin typeface="Lexend"/>
                        <a:ea typeface="Lexend"/>
                        <a:cs typeface="Lexend"/>
                        <a:sym typeface="Lexend"/>
                      </a:endParaRPr>
                    </a:p>
                  </a:txBody>
                  <a:tcPr marL="28575" marR="28575" marT="19050" marB="19050" anchor="b">
                    <a:lnL w="10575" cap="flat" cmpd="sng">
                      <a:solidFill>
                        <a:schemeClr val="dk1"/>
                      </a:solidFill>
                      <a:prstDash val="solid"/>
                      <a:round/>
                      <a:headEnd type="none" w="sm" len="sm"/>
                      <a:tailEnd type="none" w="sm" len="sm"/>
                    </a:lnL>
                    <a:lnR w="10575" cap="flat" cmpd="sng">
                      <a:solidFill>
                        <a:schemeClr val="dk1"/>
                      </a:solidFill>
                      <a:prstDash val="solid"/>
                      <a:round/>
                      <a:headEnd type="none" w="sm" len="sm"/>
                      <a:tailEnd type="none" w="sm" len="sm"/>
                    </a:lnR>
                    <a:lnT w="10575" cap="flat" cmpd="sng">
                      <a:solidFill>
                        <a:schemeClr val="dk1"/>
                      </a:solidFill>
                      <a:prstDash val="solid"/>
                      <a:round/>
                      <a:headEnd type="none" w="sm" len="sm"/>
                      <a:tailEnd type="none" w="sm" len="sm"/>
                    </a:lnT>
                    <a:lnB w="10575" cap="flat" cmpd="sng">
                      <a:solidFill>
                        <a:schemeClr val="dk1"/>
                      </a:solidFill>
                      <a:prstDash val="solid"/>
                      <a:round/>
                      <a:headEnd type="none" w="sm" len="sm"/>
                      <a:tailEnd type="none" w="sm" len="sm"/>
                    </a:lnB>
                  </a:tcPr>
                </a:tc>
                <a:tc>
                  <a:txBody>
                    <a:bodyPr/>
                    <a:lstStyle/>
                    <a:p>
                      <a:pPr marL="0" marR="0" lvl="0" indent="0" algn="ctr" rtl="0">
                        <a:lnSpc>
                          <a:spcPct val="115000"/>
                        </a:lnSpc>
                        <a:spcBef>
                          <a:spcPts val="0"/>
                        </a:spcBef>
                        <a:spcAft>
                          <a:spcPts val="0"/>
                        </a:spcAft>
                        <a:buNone/>
                      </a:pPr>
                      <a:r>
                        <a:rPr lang="en" sz="1100">
                          <a:solidFill>
                            <a:srgbClr val="888888"/>
                          </a:solidFill>
                          <a:latin typeface="Lexend"/>
                          <a:ea typeface="Lexend"/>
                          <a:cs typeface="Lexend"/>
                          <a:sym typeface="Lexend"/>
                        </a:rPr>
                        <a:t>119,300</a:t>
                      </a:r>
                      <a:endParaRPr sz="1100">
                        <a:solidFill>
                          <a:srgbClr val="888888"/>
                        </a:solidFill>
                        <a:latin typeface="Lexend"/>
                        <a:ea typeface="Lexend"/>
                        <a:cs typeface="Lexend"/>
                        <a:sym typeface="Lexend"/>
                      </a:endParaRPr>
                    </a:p>
                  </a:txBody>
                  <a:tcPr marL="28575" marR="28575" marT="19050" marB="19050" anchor="b">
                    <a:lnL w="10575" cap="flat" cmpd="sng">
                      <a:solidFill>
                        <a:schemeClr val="dk1"/>
                      </a:solidFill>
                      <a:prstDash val="solid"/>
                      <a:round/>
                      <a:headEnd type="none" w="sm" len="sm"/>
                      <a:tailEnd type="none" w="sm" len="sm"/>
                    </a:lnL>
                    <a:lnR w="10575" cap="flat" cmpd="sng">
                      <a:solidFill>
                        <a:schemeClr val="dk1"/>
                      </a:solidFill>
                      <a:prstDash val="solid"/>
                      <a:round/>
                      <a:headEnd type="none" w="sm" len="sm"/>
                      <a:tailEnd type="none" w="sm" len="sm"/>
                    </a:lnR>
                    <a:lnT w="10575" cap="flat" cmpd="sng">
                      <a:solidFill>
                        <a:schemeClr val="dk1"/>
                      </a:solidFill>
                      <a:prstDash val="solid"/>
                      <a:round/>
                      <a:headEnd type="none" w="sm" len="sm"/>
                      <a:tailEnd type="none" w="sm" len="sm"/>
                    </a:lnT>
                    <a:lnB w="10575" cap="flat" cmpd="sng">
                      <a:solidFill>
                        <a:schemeClr val="dk1"/>
                      </a:solidFill>
                      <a:prstDash val="solid"/>
                      <a:round/>
                      <a:headEnd type="none" w="sm" len="sm"/>
                      <a:tailEnd type="none" w="sm" len="sm"/>
                    </a:lnB>
                  </a:tcPr>
                </a:tc>
                <a:tc>
                  <a:txBody>
                    <a:bodyPr/>
                    <a:lstStyle/>
                    <a:p>
                      <a:pPr marL="0" marR="0" lvl="0" indent="0" algn="ctr" rtl="0">
                        <a:lnSpc>
                          <a:spcPct val="115000"/>
                        </a:lnSpc>
                        <a:spcBef>
                          <a:spcPts val="0"/>
                        </a:spcBef>
                        <a:spcAft>
                          <a:spcPts val="0"/>
                        </a:spcAft>
                        <a:buNone/>
                      </a:pPr>
                      <a:r>
                        <a:rPr lang="en" sz="1100">
                          <a:solidFill>
                            <a:srgbClr val="888888"/>
                          </a:solidFill>
                          <a:latin typeface="Lexend"/>
                          <a:ea typeface="Lexend"/>
                          <a:cs typeface="Lexend"/>
                          <a:sym typeface="Lexend"/>
                        </a:rPr>
                        <a:t>42,100</a:t>
                      </a:r>
                      <a:endParaRPr sz="1100">
                        <a:solidFill>
                          <a:srgbClr val="888888"/>
                        </a:solidFill>
                        <a:latin typeface="Lexend"/>
                        <a:ea typeface="Lexend"/>
                        <a:cs typeface="Lexend"/>
                        <a:sym typeface="Lexend"/>
                      </a:endParaRPr>
                    </a:p>
                  </a:txBody>
                  <a:tcPr marL="28575" marR="28575" marT="19050" marB="19050" anchor="b">
                    <a:lnL w="10575" cap="flat" cmpd="sng">
                      <a:solidFill>
                        <a:schemeClr val="dk1"/>
                      </a:solidFill>
                      <a:prstDash val="solid"/>
                      <a:round/>
                      <a:headEnd type="none" w="sm" len="sm"/>
                      <a:tailEnd type="none" w="sm" len="sm"/>
                    </a:lnL>
                    <a:lnR w="10575" cap="flat" cmpd="sng">
                      <a:solidFill>
                        <a:schemeClr val="dk1"/>
                      </a:solidFill>
                      <a:prstDash val="solid"/>
                      <a:round/>
                      <a:headEnd type="none" w="sm" len="sm"/>
                      <a:tailEnd type="none" w="sm" len="sm"/>
                    </a:lnR>
                    <a:lnT w="10575" cap="flat" cmpd="sng">
                      <a:solidFill>
                        <a:schemeClr val="dk1"/>
                      </a:solidFill>
                      <a:prstDash val="solid"/>
                      <a:round/>
                      <a:headEnd type="none" w="sm" len="sm"/>
                      <a:tailEnd type="none" w="sm" len="sm"/>
                    </a:lnT>
                    <a:lnB w="10575"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279875">
                <a:tc>
                  <a:txBody>
                    <a:bodyPr/>
                    <a:lstStyle/>
                    <a:p>
                      <a:pPr marL="0" lvl="0" indent="0" algn="ctr" rtl="0">
                        <a:lnSpc>
                          <a:spcPct val="115000"/>
                        </a:lnSpc>
                        <a:spcBef>
                          <a:spcPts val="0"/>
                        </a:spcBef>
                        <a:spcAft>
                          <a:spcPts val="0"/>
                        </a:spcAft>
                        <a:buNone/>
                      </a:pPr>
                      <a:r>
                        <a:rPr lang="en" sz="1000" b="1">
                          <a:latin typeface="Lexend"/>
                          <a:ea typeface="Lexend"/>
                          <a:cs typeface="Lexend"/>
                          <a:sym typeface="Lexend"/>
                        </a:rPr>
                        <a:t>% TARGET</a:t>
                      </a:r>
                      <a:endParaRPr sz="1000" b="1">
                        <a:latin typeface="Lexend"/>
                        <a:ea typeface="Lexend"/>
                        <a:cs typeface="Lexend"/>
                        <a:sym typeface="Lexend"/>
                      </a:endParaRPr>
                    </a:p>
                  </a:txBody>
                  <a:tcPr marL="28575" marR="28575" marT="19050" marB="19050" anchor="b">
                    <a:lnL w="9525" cap="flat" cmpd="sng">
                      <a:solidFill>
                        <a:schemeClr val="dk1"/>
                      </a:solidFill>
                      <a:prstDash val="solid"/>
                      <a:round/>
                      <a:headEnd type="none" w="sm" len="sm"/>
                      <a:tailEnd type="none" w="sm" len="sm"/>
                    </a:lnL>
                    <a:lnR w="1057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rtl="0">
                        <a:lnSpc>
                          <a:spcPct val="115000"/>
                        </a:lnSpc>
                        <a:spcBef>
                          <a:spcPts val="0"/>
                        </a:spcBef>
                        <a:spcAft>
                          <a:spcPts val="0"/>
                        </a:spcAft>
                        <a:buNone/>
                      </a:pPr>
                      <a:r>
                        <a:rPr lang="en" sz="1100" b="1">
                          <a:solidFill>
                            <a:srgbClr val="F66000"/>
                          </a:solidFill>
                          <a:latin typeface="Lexend"/>
                          <a:ea typeface="Lexend"/>
                          <a:cs typeface="Lexend"/>
                          <a:sym typeface="Lexend"/>
                        </a:rPr>
                        <a:t>35.51%</a:t>
                      </a:r>
                      <a:endParaRPr sz="1100" b="1">
                        <a:solidFill>
                          <a:srgbClr val="F66000"/>
                        </a:solidFill>
                        <a:latin typeface="Lexend"/>
                        <a:ea typeface="Lexend"/>
                        <a:cs typeface="Lexend"/>
                        <a:sym typeface="Lexend"/>
                      </a:endParaRPr>
                    </a:p>
                  </a:txBody>
                  <a:tcPr marL="28575" marR="28575" marT="19050" marB="19050" anchor="b">
                    <a:lnL w="10575" cap="flat" cmpd="sng">
                      <a:solidFill>
                        <a:schemeClr val="dk1"/>
                      </a:solidFill>
                      <a:prstDash val="solid"/>
                      <a:round/>
                      <a:headEnd type="none" w="sm" len="sm"/>
                      <a:tailEnd type="none" w="sm" len="sm"/>
                    </a:lnL>
                    <a:lnR w="10575" cap="flat" cmpd="sng">
                      <a:solidFill>
                        <a:schemeClr val="dk1"/>
                      </a:solidFill>
                      <a:prstDash val="solid"/>
                      <a:round/>
                      <a:headEnd type="none" w="sm" len="sm"/>
                      <a:tailEnd type="none" w="sm" len="sm"/>
                    </a:lnR>
                    <a:lnT w="10575" cap="flat" cmpd="sng">
                      <a:solidFill>
                        <a:schemeClr val="dk1"/>
                      </a:solidFill>
                      <a:prstDash val="solid"/>
                      <a:round/>
                      <a:headEnd type="none" w="sm" len="sm"/>
                      <a:tailEnd type="none" w="sm" len="sm"/>
                    </a:lnT>
                    <a:lnB w="10575" cap="flat" cmpd="sng">
                      <a:solidFill>
                        <a:schemeClr val="dk1"/>
                      </a:solidFill>
                      <a:prstDash val="solid"/>
                      <a:round/>
                      <a:headEnd type="none" w="sm" len="sm"/>
                      <a:tailEnd type="none" w="sm" len="sm"/>
                    </a:lnB>
                  </a:tcPr>
                </a:tc>
                <a:tc>
                  <a:txBody>
                    <a:bodyPr/>
                    <a:lstStyle/>
                    <a:p>
                      <a:pPr marL="0" marR="0" lvl="0" indent="0" algn="ctr" rtl="0">
                        <a:lnSpc>
                          <a:spcPct val="115000"/>
                        </a:lnSpc>
                        <a:spcBef>
                          <a:spcPts val="0"/>
                        </a:spcBef>
                        <a:spcAft>
                          <a:spcPts val="0"/>
                        </a:spcAft>
                        <a:buNone/>
                      </a:pPr>
                      <a:r>
                        <a:rPr lang="en" sz="1100" b="1">
                          <a:solidFill>
                            <a:srgbClr val="0D8000"/>
                          </a:solidFill>
                          <a:latin typeface="Lexend"/>
                          <a:ea typeface="Lexend"/>
                          <a:cs typeface="Lexend"/>
                          <a:sym typeface="Lexend"/>
                        </a:rPr>
                        <a:t>64.09%</a:t>
                      </a:r>
                      <a:endParaRPr sz="1100" b="1">
                        <a:solidFill>
                          <a:srgbClr val="0D8000"/>
                        </a:solidFill>
                        <a:latin typeface="Lexend"/>
                        <a:ea typeface="Lexend"/>
                        <a:cs typeface="Lexend"/>
                        <a:sym typeface="Lexend"/>
                      </a:endParaRPr>
                    </a:p>
                  </a:txBody>
                  <a:tcPr marL="28575" marR="28575" marT="19050" marB="19050" anchor="b">
                    <a:lnL w="10575" cap="flat" cmpd="sng">
                      <a:solidFill>
                        <a:schemeClr val="dk1"/>
                      </a:solidFill>
                      <a:prstDash val="solid"/>
                      <a:round/>
                      <a:headEnd type="none" w="sm" len="sm"/>
                      <a:tailEnd type="none" w="sm" len="sm"/>
                    </a:lnL>
                    <a:lnR w="10575" cap="flat" cmpd="sng">
                      <a:solidFill>
                        <a:schemeClr val="dk1"/>
                      </a:solidFill>
                      <a:prstDash val="solid"/>
                      <a:round/>
                      <a:headEnd type="none" w="sm" len="sm"/>
                      <a:tailEnd type="none" w="sm" len="sm"/>
                    </a:lnR>
                    <a:lnT w="10575" cap="flat" cmpd="sng">
                      <a:solidFill>
                        <a:schemeClr val="dk1"/>
                      </a:solidFill>
                      <a:prstDash val="solid"/>
                      <a:round/>
                      <a:headEnd type="none" w="sm" len="sm"/>
                      <a:tailEnd type="none" w="sm" len="sm"/>
                    </a:lnT>
                    <a:lnB w="10575" cap="flat" cmpd="sng">
                      <a:solidFill>
                        <a:schemeClr val="dk1"/>
                      </a:solidFill>
                      <a:prstDash val="solid"/>
                      <a:round/>
                      <a:headEnd type="none" w="sm" len="sm"/>
                      <a:tailEnd type="none" w="sm" len="sm"/>
                    </a:lnB>
                  </a:tcPr>
                </a:tc>
                <a:tc>
                  <a:txBody>
                    <a:bodyPr/>
                    <a:lstStyle/>
                    <a:p>
                      <a:pPr marL="0" marR="0" lvl="0" indent="0" algn="ctr" rtl="0">
                        <a:lnSpc>
                          <a:spcPct val="115000"/>
                        </a:lnSpc>
                        <a:spcBef>
                          <a:spcPts val="0"/>
                        </a:spcBef>
                        <a:spcAft>
                          <a:spcPts val="0"/>
                        </a:spcAft>
                        <a:buNone/>
                      </a:pPr>
                      <a:r>
                        <a:rPr lang="en" sz="1100" b="1">
                          <a:solidFill>
                            <a:srgbClr val="0B8043"/>
                          </a:solidFill>
                          <a:latin typeface="Lexend"/>
                          <a:ea typeface="Lexend"/>
                          <a:cs typeface="Lexend"/>
                          <a:sym typeface="Lexend"/>
                        </a:rPr>
                        <a:t>51.50%</a:t>
                      </a:r>
                      <a:endParaRPr sz="1100" b="1">
                        <a:solidFill>
                          <a:srgbClr val="0B8043"/>
                        </a:solidFill>
                        <a:latin typeface="Lexend"/>
                        <a:ea typeface="Lexend"/>
                        <a:cs typeface="Lexend"/>
                        <a:sym typeface="Lexend"/>
                      </a:endParaRPr>
                    </a:p>
                  </a:txBody>
                  <a:tcPr marL="28575" marR="28575" marT="19050" marB="19050" anchor="b">
                    <a:lnL w="10575" cap="flat" cmpd="sng">
                      <a:solidFill>
                        <a:schemeClr val="dk1"/>
                      </a:solidFill>
                      <a:prstDash val="solid"/>
                      <a:round/>
                      <a:headEnd type="none" w="sm" len="sm"/>
                      <a:tailEnd type="none" w="sm" len="sm"/>
                    </a:lnL>
                    <a:lnR w="10575" cap="flat" cmpd="sng">
                      <a:solidFill>
                        <a:schemeClr val="dk1"/>
                      </a:solidFill>
                      <a:prstDash val="solid"/>
                      <a:round/>
                      <a:headEnd type="none" w="sm" len="sm"/>
                      <a:tailEnd type="none" w="sm" len="sm"/>
                    </a:lnR>
                    <a:lnT w="10575" cap="flat" cmpd="sng">
                      <a:solidFill>
                        <a:schemeClr val="dk1"/>
                      </a:solidFill>
                      <a:prstDash val="solid"/>
                      <a:round/>
                      <a:headEnd type="none" w="sm" len="sm"/>
                      <a:tailEnd type="none" w="sm" len="sm"/>
                    </a:lnT>
                    <a:lnB w="10575"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471" name="Google Shape;471;p48"/>
          <p:cNvSpPr/>
          <p:nvPr/>
        </p:nvSpPr>
        <p:spPr>
          <a:xfrm>
            <a:off x="0" y="0"/>
            <a:ext cx="9144000" cy="73200"/>
          </a:xfrm>
          <a:prstGeom prst="rect">
            <a:avLst/>
          </a:prstGeom>
          <a:solidFill>
            <a:srgbClr val="FF7F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75"/>
        <p:cNvGrpSpPr/>
        <p:nvPr/>
      </p:nvGrpSpPr>
      <p:grpSpPr>
        <a:xfrm>
          <a:off x="0" y="0"/>
          <a:ext cx="0" cy="0"/>
          <a:chOff x="0" y="0"/>
          <a:chExt cx="0" cy="0"/>
        </a:xfrm>
      </p:grpSpPr>
      <p:cxnSp>
        <p:nvCxnSpPr>
          <p:cNvPr id="476" name="Google Shape;476;p49"/>
          <p:cNvCxnSpPr/>
          <p:nvPr/>
        </p:nvCxnSpPr>
        <p:spPr>
          <a:xfrm>
            <a:off x="240025" y="628875"/>
            <a:ext cx="8621700" cy="11700"/>
          </a:xfrm>
          <a:prstGeom prst="straightConnector1">
            <a:avLst/>
          </a:prstGeom>
          <a:noFill/>
          <a:ln w="9525" cap="flat" cmpd="sng">
            <a:solidFill>
              <a:srgbClr val="C9DAF8"/>
            </a:solidFill>
            <a:prstDash val="solid"/>
            <a:round/>
            <a:headEnd type="none" w="med" len="med"/>
            <a:tailEnd type="none" w="med" len="med"/>
          </a:ln>
        </p:spPr>
      </p:cxnSp>
      <p:sp>
        <p:nvSpPr>
          <p:cNvPr id="477" name="Google Shape;477;p49"/>
          <p:cNvSpPr txBox="1"/>
          <p:nvPr/>
        </p:nvSpPr>
        <p:spPr>
          <a:xfrm>
            <a:off x="5342075" y="153588"/>
            <a:ext cx="3519600" cy="3387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r>
              <a:rPr lang="en" sz="1000">
                <a:solidFill>
                  <a:srgbClr val="1155CC"/>
                </a:solidFill>
                <a:latin typeface="Montserrat"/>
                <a:ea typeface="Montserrat"/>
                <a:cs typeface="Montserrat"/>
                <a:sym typeface="Montserrat"/>
              </a:rPr>
              <a:t>Growth Weekly Report</a:t>
            </a:r>
            <a:endParaRPr sz="1000">
              <a:solidFill>
                <a:srgbClr val="1155CC"/>
              </a:solidFill>
              <a:latin typeface="Montserrat"/>
              <a:ea typeface="Montserrat"/>
              <a:cs typeface="Montserrat"/>
              <a:sym typeface="Montserrat"/>
            </a:endParaRPr>
          </a:p>
        </p:txBody>
      </p:sp>
      <p:sp>
        <p:nvSpPr>
          <p:cNvPr id="478" name="Google Shape;478;p49"/>
          <p:cNvSpPr txBox="1"/>
          <p:nvPr/>
        </p:nvSpPr>
        <p:spPr>
          <a:xfrm>
            <a:off x="585326" y="122825"/>
            <a:ext cx="40620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solidFill>
                  <a:srgbClr val="1155CC"/>
                </a:solidFill>
                <a:latin typeface="Montserrat"/>
                <a:ea typeface="Montserrat"/>
                <a:cs typeface="Montserrat"/>
                <a:sym typeface="Montserrat"/>
              </a:rPr>
              <a:t>[HAN] OPERATION GROWTH</a:t>
            </a:r>
            <a:endParaRPr b="1">
              <a:solidFill>
                <a:srgbClr val="1155CC"/>
              </a:solidFill>
              <a:latin typeface="Montserrat"/>
              <a:ea typeface="Montserrat"/>
              <a:cs typeface="Montserrat"/>
              <a:sym typeface="Montserrat"/>
            </a:endParaRPr>
          </a:p>
        </p:txBody>
      </p:sp>
      <p:pic>
        <p:nvPicPr>
          <p:cNvPr id="479" name="Google Shape;479;p49"/>
          <p:cNvPicPr preferRelativeResize="0"/>
          <p:nvPr/>
        </p:nvPicPr>
        <p:blipFill>
          <a:blip r:embed="rId3">
            <a:alphaModFix/>
          </a:blip>
          <a:stretch>
            <a:fillRect/>
          </a:stretch>
        </p:blipFill>
        <p:spPr>
          <a:xfrm>
            <a:off x="240025" y="150287"/>
            <a:ext cx="345300" cy="345325"/>
          </a:xfrm>
          <a:prstGeom prst="rect">
            <a:avLst/>
          </a:prstGeom>
          <a:noFill/>
          <a:ln>
            <a:noFill/>
          </a:ln>
        </p:spPr>
      </p:pic>
      <p:sp>
        <p:nvSpPr>
          <p:cNvPr id="480" name="Google Shape;480;p49"/>
          <p:cNvSpPr/>
          <p:nvPr/>
        </p:nvSpPr>
        <p:spPr>
          <a:xfrm>
            <a:off x="229397" y="706088"/>
            <a:ext cx="2773800" cy="434100"/>
          </a:xfrm>
          <a:prstGeom prst="roundRect">
            <a:avLst>
              <a:gd name="adj" fmla="val 50000"/>
            </a:avLst>
          </a:prstGeom>
          <a:gradFill>
            <a:gsLst>
              <a:gs pos="0">
                <a:srgbClr val="E9F1FF"/>
              </a:gs>
              <a:gs pos="100000">
                <a:srgbClr val="FFFFFF"/>
              </a:gs>
            </a:gsLst>
            <a:lin ang="18900732"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solidFill>
                <a:srgbClr val="FF7500"/>
              </a:solidFill>
              <a:latin typeface="Montserrat Black"/>
              <a:ea typeface="Montserrat Black"/>
              <a:cs typeface="Montserrat Black"/>
              <a:sym typeface="Montserrat Black"/>
            </a:endParaRPr>
          </a:p>
        </p:txBody>
      </p:sp>
      <p:sp>
        <p:nvSpPr>
          <p:cNvPr id="481" name="Google Shape;481;p49"/>
          <p:cNvSpPr txBox="1"/>
          <p:nvPr/>
        </p:nvSpPr>
        <p:spPr>
          <a:xfrm>
            <a:off x="401500" y="741925"/>
            <a:ext cx="901500" cy="362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sz="2000">
                <a:solidFill>
                  <a:srgbClr val="0C8000"/>
                </a:solidFill>
                <a:latin typeface="Montserrat Black"/>
                <a:ea typeface="Montserrat Black"/>
                <a:cs typeface="Montserrat Black"/>
                <a:sym typeface="Montserrat Black"/>
              </a:rPr>
              <a:t>100%</a:t>
            </a:r>
            <a:endParaRPr sz="2000">
              <a:solidFill>
                <a:srgbClr val="0C8000"/>
              </a:solidFill>
              <a:latin typeface="Montserrat Black"/>
              <a:ea typeface="Montserrat Black"/>
              <a:cs typeface="Montserrat Black"/>
              <a:sym typeface="Montserrat Black"/>
            </a:endParaRPr>
          </a:p>
        </p:txBody>
      </p:sp>
      <p:sp>
        <p:nvSpPr>
          <p:cNvPr id="482" name="Google Shape;482;p49"/>
          <p:cNvSpPr txBox="1"/>
          <p:nvPr/>
        </p:nvSpPr>
        <p:spPr>
          <a:xfrm>
            <a:off x="1269038" y="761575"/>
            <a:ext cx="773700" cy="323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900" b="1">
                <a:solidFill>
                  <a:srgbClr val="666666"/>
                </a:solidFill>
                <a:latin typeface="Montserrat"/>
                <a:ea typeface="Montserrat"/>
                <a:cs typeface="Montserrat"/>
                <a:sym typeface="Montserrat"/>
              </a:rPr>
              <a:t>Achieved </a:t>
            </a:r>
            <a:endParaRPr sz="900" b="1">
              <a:solidFill>
                <a:srgbClr val="666666"/>
              </a:solidFill>
              <a:latin typeface="Montserrat"/>
              <a:ea typeface="Montserrat"/>
              <a:cs typeface="Montserrat"/>
              <a:sym typeface="Montserrat"/>
            </a:endParaRPr>
          </a:p>
        </p:txBody>
      </p:sp>
      <p:sp>
        <p:nvSpPr>
          <p:cNvPr id="483" name="Google Shape;483;p49"/>
          <p:cNvSpPr txBox="1"/>
          <p:nvPr/>
        </p:nvSpPr>
        <p:spPr>
          <a:xfrm>
            <a:off x="2102850" y="706075"/>
            <a:ext cx="773700" cy="4341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900" b="1">
                <a:solidFill>
                  <a:srgbClr val="666666"/>
                </a:solidFill>
                <a:latin typeface="Montserrat"/>
                <a:ea typeface="Montserrat"/>
                <a:cs typeface="Montserrat"/>
                <a:sym typeface="Montserrat"/>
              </a:rPr>
              <a:t>Actual</a:t>
            </a:r>
            <a:endParaRPr sz="900" b="1">
              <a:solidFill>
                <a:srgbClr val="666666"/>
              </a:solidFill>
              <a:latin typeface="Montserrat"/>
              <a:ea typeface="Montserrat"/>
              <a:cs typeface="Montserrat"/>
              <a:sym typeface="Montserrat"/>
            </a:endParaRPr>
          </a:p>
          <a:p>
            <a:pPr marL="0" lvl="0" indent="0" algn="ctr" rtl="0">
              <a:spcBef>
                <a:spcPts val="0"/>
              </a:spcBef>
              <a:spcAft>
                <a:spcPts val="0"/>
              </a:spcAft>
              <a:buNone/>
            </a:pPr>
            <a:r>
              <a:rPr lang="en" sz="900" b="1">
                <a:solidFill>
                  <a:srgbClr val="666666"/>
                </a:solidFill>
                <a:latin typeface="Montserrat"/>
                <a:ea typeface="Montserrat"/>
                <a:cs typeface="Montserrat"/>
                <a:sym typeface="Montserrat"/>
              </a:rPr>
              <a:t>93.17%</a:t>
            </a:r>
            <a:endParaRPr sz="900" b="1">
              <a:solidFill>
                <a:srgbClr val="666666"/>
              </a:solidFill>
              <a:latin typeface="Montserrat"/>
              <a:ea typeface="Montserrat"/>
              <a:cs typeface="Montserrat"/>
              <a:sym typeface="Montserrat"/>
            </a:endParaRPr>
          </a:p>
        </p:txBody>
      </p:sp>
      <p:sp>
        <p:nvSpPr>
          <p:cNvPr id="484" name="Google Shape;484;p49"/>
          <p:cNvSpPr/>
          <p:nvPr/>
        </p:nvSpPr>
        <p:spPr>
          <a:xfrm>
            <a:off x="3132407" y="706088"/>
            <a:ext cx="2773800" cy="434100"/>
          </a:xfrm>
          <a:prstGeom prst="roundRect">
            <a:avLst>
              <a:gd name="adj" fmla="val 50000"/>
            </a:avLst>
          </a:prstGeom>
          <a:gradFill>
            <a:gsLst>
              <a:gs pos="0">
                <a:srgbClr val="E9F1FF"/>
              </a:gs>
              <a:gs pos="100000">
                <a:srgbClr val="FFFFFF"/>
              </a:gs>
            </a:gsLst>
            <a:lin ang="18900732"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solidFill>
                <a:srgbClr val="FF7500"/>
              </a:solidFill>
              <a:latin typeface="Montserrat Black"/>
              <a:ea typeface="Montserrat Black"/>
              <a:cs typeface="Montserrat Black"/>
              <a:sym typeface="Montserrat Black"/>
            </a:endParaRPr>
          </a:p>
        </p:txBody>
      </p:sp>
      <p:sp>
        <p:nvSpPr>
          <p:cNvPr id="485" name="Google Shape;485;p49"/>
          <p:cNvSpPr txBox="1"/>
          <p:nvPr/>
        </p:nvSpPr>
        <p:spPr>
          <a:xfrm>
            <a:off x="3304511" y="741925"/>
            <a:ext cx="901500" cy="3624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en" sz="2000">
                <a:solidFill>
                  <a:srgbClr val="008000"/>
                </a:solidFill>
                <a:latin typeface="Montserrat Black"/>
                <a:ea typeface="Montserrat Black"/>
                <a:cs typeface="Montserrat Black"/>
                <a:sym typeface="Montserrat Black"/>
              </a:rPr>
              <a:t>100%</a:t>
            </a:r>
            <a:endParaRPr sz="2000">
              <a:solidFill>
                <a:srgbClr val="008000"/>
              </a:solidFill>
              <a:latin typeface="Montserrat Black"/>
              <a:ea typeface="Montserrat Black"/>
              <a:cs typeface="Montserrat Black"/>
              <a:sym typeface="Montserrat Black"/>
            </a:endParaRPr>
          </a:p>
        </p:txBody>
      </p:sp>
      <p:sp>
        <p:nvSpPr>
          <p:cNvPr id="486" name="Google Shape;486;p49"/>
          <p:cNvSpPr txBox="1"/>
          <p:nvPr/>
        </p:nvSpPr>
        <p:spPr>
          <a:xfrm>
            <a:off x="4172048" y="761575"/>
            <a:ext cx="773700" cy="323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900" b="1">
                <a:solidFill>
                  <a:srgbClr val="666666"/>
                </a:solidFill>
                <a:latin typeface="Montserrat"/>
                <a:ea typeface="Montserrat"/>
                <a:cs typeface="Montserrat"/>
                <a:sym typeface="Montserrat"/>
              </a:rPr>
              <a:t>Achieved </a:t>
            </a:r>
            <a:endParaRPr sz="900" b="1">
              <a:solidFill>
                <a:srgbClr val="666666"/>
              </a:solidFill>
              <a:latin typeface="Montserrat"/>
              <a:ea typeface="Montserrat"/>
              <a:cs typeface="Montserrat"/>
              <a:sym typeface="Montserrat"/>
            </a:endParaRPr>
          </a:p>
        </p:txBody>
      </p:sp>
      <p:sp>
        <p:nvSpPr>
          <p:cNvPr id="487" name="Google Shape;487;p49"/>
          <p:cNvSpPr txBox="1"/>
          <p:nvPr/>
        </p:nvSpPr>
        <p:spPr>
          <a:xfrm>
            <a:off x="5005861" y="706075"/>
            <a:ext cx="773700" cy="4341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900" b="1">
                <a:solidFill>
                  <a:srgbClr val="666666"/>
                </a:solidFill>
                <a:latin typeface="Montserrat"/>
                <a:ea typeface="Montserrat"/>
                <a:cs typeface="Montserrat"/>
                <a:sym typeface="Montserrat"/>
              </a:rPr>
              <a:t>Actual</a:t>
            </a:r>
            <a:endParaRPr sz="900" b="1">
              <a:solidFill>
                <a:srgbClr val="666666"/>
              </a:solidFill>
              <a:latin typeface="Montserrat"/>
              <a:ea typeface="Montserrat"/>
              <a:cs typeface="Montserrat"/>
              <a:sym typeface="Montserrat"/>
            </a:endParaRPr>
          </a:p>
          <a:p>
            <a:pPr marL="0" lvl="0" indent="0" algn="ctr" rtl="0">
              <a:spcBef>
                <a:spcPts val="0"/>
              </a:spcBef>
              <a:spcAft>
                <a:spcPts val="0"/>
              </a:spcAft>
              <a:buNone/>
            </a:pPr>
            <a:r>
              <a:rPr lang="en" sz="900" b="1">
                <a:solidFill>
                  <a:srgbClr val="666666"/>
                </a:solidFill>
                <a:latin typeface="Montserrat"/>
                <a:ea typeface="Montserrat"/>
                <a:cs typeface="Montserrat"/>
                <a:sym typeface="Montserrat"/>
              </a:rPr>
              <a:t>12.57%</a:t>
            </a:r>
            <a:endParaRPr sz="900" b="1">
              <a:solidFill>
                <a:srgbClr val="666666"/>
              </a:solidFill>
              <a:latin typeface="Montserrat"/>
              <a:ea typeface="Montserrat"/>
              <a:cs typeface="Montserrat"/>
              <a:sym typeface="Montserrat"/>
            </a:endParaRPr>
          </a:p>
        </p:txBody>
      </p:sp>
      <p:sp>
        <p:nvSpPr>
          <p:cNvPr id="488" name="Google Shape;488;p49"/>
          <p:cNvSpPr/>
          <p:nvPr/>
        </p:nvSpPr>
        <p:spPr>
          <a:xfrm>
            <a:off x="6035397" y="694600"/>
            <a:ext cx="2773800" cy="434100"/>
          </a:xfrm>
          <a:prstGeom prst="roundRect">
            <a:avLst>
              <a:gd name="adj" fmla="val 50000"/>
            </a:avLst>
          </a:prstGeom>
          <a:gradFill>
            <a:gsLst>
              <a:gs pos="0">
                <a:srgbClr val="E9F1FF"/>
              </a:gs>
              <a:gs pos="100000">
                <a:srgbClr val="FFFFFF"/>
              </a:gs>
            </a:gsLst>
            <a:lin ang="18900732"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solidFill>
                <a:srgbClr val="FF7500"/>
              </a:solidFill>
              <a:latin typeface="Montserrat Black"/>
              <a:ea typeface="Montserrat Black"/>
              <a:cs typeface="Montserrat Black"/>
              <a:sym typeface="Montserrat Black"/>
            </a:endParaRPr>
          </a:p>
        </p:txBody>
      </p:sp>
      <p:sp>
        <p:nvSpPr>
          <p:cNvPr id="489" name="Google Shape;489;p49"/>
          <p:cNvSpPr txBox="1"/>
          <p:nvPr/>
        </p:nvSpPr>
        <p:spPr>
          <a:xfrm>
            <a:off x="6284900" y="730450"/>
            <a:ext cx="901500" cy="3384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en" sz="2000">
                <a:solidFill>
                  <a:srgbClr val="FF7500"/>
                </a:solidFill>
                <a:latin typeface="Montserrat Black"/>
                <a:ea typeface="Montserrat Black"/>
                <a:cs typeface="Montserrat Black"/>
                <a:sym typeface="Montserrat Black"/>
              </a:rPr>
              <a:t>85%</a:t>
            </a:r>
            <a:endParaRPr sz="2000">
              <a:solidFill>
                <a:srgbClr val="FF7500"/>
              </a:solidFill>
              <a:latin typeface="Montserrat Black"/>
              <a:ea typeface="Montserrat Black"/>
              <a:cs typeface="Montserrat Black"/>
              <a:sym typeface="Montserrat Black"/>
            </a:endParaRPr>
          </a:p>
        </p:txBody>
      </p:sp>
      <p:sp>
        <p:nvSpPr>
          <p:cNvPr id="490" name="Google Shape;490;p49"/>
          <p:cNvSpPr txBox="1"/>
          <p:nvPr/>
        </p:nvSpPr>
        <p:spPr>
          <a:xfrm>
            <a:off x="7075038" y="750088"/>
            <a:ext cx="773700" cy="323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900" b="1">
                <a:solidFill>
                  <a:srgbClr val="666666"/>
                </a:solidFill>
                <a:latin typeface="Montserrat"/>
                <a:ea typeface="Montserrat"/>
                <a:cs typeface="Montserrat"/>
                <a:sym typeface="Montserrat"/>
              </a:rPr>
              <a:t>Achieved </a:t>
            </a:r>
            <a:endParaRPr sz="900" b="1">
              <a:solidFill>
                <a:srgbClr val="666666"/>
              </a:solidFill>
              <a:latin typeface="Montserrat"/>
              <a:ea typeface="Montserrat"/>
              <a:cs typeface="Montserrat"/>
              <a:sym typeface="Montserrat"/>
            </a:endParaRPr>
          </a:p>
        </p:txBody>
      </p:sp>
      <p:sp>
        <p:nvSpPr>
          <p:cNvPr id="491" name="Google Shape;491;p49"/>
          <p:cNvSpPr txBox="1"/>
          <p:nvPr/>
        </p:nvSpPr>
        <p:spPr>
          <a:xfrm>
            <a:off x="7908850" y="694588"/>
            <a:ext cx="773700" cy="4341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900" b="1">
                <a:solidFill>
                  <a:srgbClr val="666666"/>
                </a:solidFill>
                <a:latin typeface="Montserrat"/>
                <a:ea typeface="Montserrat"/>
                <a:cs typeface="Montserrat"/>
                <a:sym typeface="Montserrat"/>
              </a:rPr>
              <a:t>Actual</a:t>
            </a:r>
            <a:endParaRPr sz="900" b="1">
              <a:solidFill>
                <a:srgbClr val="666666"/>
              </a:solidFill>
              <a:latin typeface="Montserrat"/>
              <a:ea typeface="Montserrat"/>
              <a:cs typeface="Montserrat"/>
              <a:sym typeface="Montserrat"/>
            </a:endParaRPr>
          </a:p>
          <a:p>
            <a:pPr marL="0" lvl="0" indent="0" algn="ctr" rtl="0">
              <a:spcBef>
                <a:spcPts val="0"/>
              </a:spcBef>
              <a:spcAft>
                <a:spcPts val="0"/>
              </a:spcAft>
              <a:buNone/>
            </a:pPr>
            <a:r>
              <a:rPr lang="en" sz="900" b="1">
                <a:solidFill>
                  <a:srgbClr val="666666"/>
                </a:solidFill>
                <a:latin typeface="Montserrat"/>
                <a:ea typeface="Montserrat"/>
                <a:cs typeface="Montserrat"/>
                <a:sym typeface="Montserrat"/>
              </a:rPr>
              <a:t>70.48%</a:t>
            </a:r>
            <a:endParaRPr sz="900" b="1">
              <a:solidFill>
                <a:srgbClr val="666666"/>
              </a:solidFill>
              <a:latin typeface="Montserrat"/>
              <a:ea typeface="Montserrat"/>
              <a:cs typeface="Montserrat"/>
              <a:sym typeface="Montserrat"/>
            </a:endParaRPr>
          </a:p>
        </p:txBody>
      </p:sp>
      <p:sp>
        <p:nvSpPr>
          <p:cNvPr id="492" name="Google Shape;492;p49"/>
          <p:cNvSpPr/>
          <p:nvPr/>
        </p:nvSpPr>
        <p:spPr>
          <a:xfrm>
            <a:off x="610049" y="3227925"/>
            <a:ext cx="7923900" cy="1717200"/>
          </a:xfrm>
          <a:prstGeom prst="roundRect">
            <a:avLst>
              <a:gd name="adj" fmla="val 16667"/>
            </a:avLst>
          </a:prstGeom>
          <a:solidFill>
            <a:srgbClr val="F9F8F8"/>
          </a:solidFill>
          <a:ln>
            <a:noFill/>
          </a:ln>
        </p:spPr>
        <p:txBody>
          <a:bodyPr spcFirstLastPara="1" wrap="square" lIns="91425" tIns="126000" rIns="91425" bIns="91425" anchor="t" anchorCtr="0">
            <a:noAutofit/>
          </a:bodyPr>
          <a:lstStyle/>
          <a:p>
            <a:pPr marL="0" marR="0" lvl="0" indent="-171450" algn="l" rtl="0">
              <a:lnSpc>
                <a:spcPct val="115000"/>
              </a:lnSpc>
              <a:spcBef>
                <a:spcPts val="0"/>
              </a:spcBef>
              <a:spcAft>
                <a:spcPts val="0"/>
              </a:spcAft>
              <a:buClr>
                <a:srgbClr val="010101"/>
              </a:buClr>
              <a:buSzPts val="900"/>
              <a:buChar char="-"/>
            </a:pPr>
            <a:r>
              <a:rPr lang="en" sz="900" b="1">
                <a:solidFill>
                  <a:srgbClr val="010101"/>
                </a:solidFill>
              </a:rPr>
              <a:t>GDR</a:t>
            </a:r>
            <a:r>
              <a:rPr lang="en" sz="900">
                <a:solidFill>
                  <a:srgbClr val="010101"/>
                </a:solidFill>
              </a:rPr>
              <a:t> đạt 100%.</a:t>
            </a:r>
            <a:endParaRPr sz="900">
              <a:solidFill>
                <a:srgbClr val="010101"/>
              </a:solidFill>
            </a:endParaRPr>
          </a:p>
          <a:p>
            <a:pPr marL="0" marR="0" lvl="0" indent="-171450" algn="l" rtl="0">
              <a:lnSpc>
                <a:spcPct val="115000"/>
              </a:lnSpc>
              <a:spcBef>
                <a:spcPts val="0"/>
              </a:spcBef>
              <a:spcAft>
                <a:spcPts val="0"/>
              </a:spcAft>
              <a:buClr>
                <a:srgbClr val="010101"/>
              </a:buClr>
              <a:buSzPts val="900"/>
              <a:buChar char="-"/>
            </a:pPr>
            <a:r>
              <a:rPr lang="en" sz="900" b="1">
                <a:solidFill>
                  <a:srgbClr val="010101"/>
                </a:solidFill>
              </a:rPr>
              <a:t>CR</a:t>
            </a:r>
            <a:r>
              <a:rPr lang="en" sz="900">
                <a:solidFill>
                  <a:srgbClr val="010101"/>
                </a:solidFill>
              </a:rPr>
              <a:t> không biến động quá nhiều WoW. </a:t>
            </a:r>
            <a:endParaRPr sz="900" b="1">
              <a:solidFill>
                <a:srgbClr val="010101"/>
              </a:solidFill>
            </a:endParaRPr>
          </a:p>
          <a:p>
            <a:pPr marL="0" marR="0" lvl="0" indent="-171450" algn="l" rtl="0">
              <a:lnSpc>
                <a:spcPct val="115000"/>
              </a:lnSpc>
              <a:spcBef>
                <a:spcPts val="0"/>
              </a:spcBef>
              <a:spcAft>
                <a:spcPts val="0"/>
              </a:spcAft>
              <a:buClr>
                <a:srgbClr val="010101"/>
              </a:buClr>
              <a:buSzPts val="900"/>
              <a:buChar char="-"/>
            </a:pPr>
            <a:r>
              <a:rPr lang="en" sz="900" b="1">
                <a:solidFill>
                  <a:srgbClr val="010101"/>
                </a:solidFill>
              </a:rPr>
              <a:t>DFD Retention </a:t>
            </a:r>
            <a:r>
              <a:rPr lang="en" sz="900">
                <a:solidFill>
                  <a:srgbClr val="010101"/>
                </a:solidFill>
              </a:rPr>
              <a:t>đã vượt tỷ lệ tháng trước, nhờ nhóm tài xế trẻ bắt đầu quay lại hoạt động sau kỳ hè. Tuy nhiên, thời tiết vẫn ảnh hưởng đến khả năng hoạt động, khiến tỷ lệ tăng hằng ngày còn khá chậm.</a:t>
            </a:r>
            <a:endParaRPr sz="900">
              <a:solidFill>
                <a:srgbClr val="010101"/>
              </a:solidFill>
            </a:endParaRPr>
          </a:p>
        </p:txBody>
      </p:sp>
      <p:grpSp>
        <p:nvGrpSpPr>
          <p:cNvPr id="493" name="Google Shape;493;p49"/>
          <p:cNvGrpSpPr/>
          <p:nvPr/>
        </p:nvGrpSpPr>
        <p:grpSpPr>
          <a:xfrm>
            <a:off x="721876" y="3032441"/>
            <a:ext cx="1365560" cy="338420"/>
            <a:chOff x="4985275" y="3894133"/>
            <a:chExt cx="1151400" cy="269400"/>
          </a:xfrm>
        </p:grpSpPr>
        <p:sp>
          <p:nvSpPr>
            <p:cNvPr id="494" name="Google Shape;494;p49"/>
            <p:cNvSpPr/>
            <p:nvPr/>
          </p:nvSpPr>
          <p:spPr>
            <a:xfrm>
              <a:off x="4985275" y="3932829"/>
              <a:ext cx="1151400" cy="220200"/>
            </a:xfrm>
            <a:prstGeom prst="roundRect">
              <a:avLst>
                <a:gd name="adj" fmla="val 50000"/>
              </a:avLst>
            </a:prstGeom>
            <a:solidFill>
              <a:srgbClr val="34A85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95" name="Google Shape;495;p49"/>
            <p:cNvSpPr txBox="1"/>
            <p:nvPr/>
          </p:nvSpPr>
          <p:spPr>
            <a:xfrm>
              <a:off x="5075569" y="3894133"/>
              <a:ext cx="970800" cy="269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Clr>
                  <a:schemeClr val="dk1"/>
                </a:buClr>
                <a:buSzPts val="1100"/>
                <a:buFont typeface="Arial"/>
                <a:buNone/>
              </a:pPr>
              <a:r>
                <a:rPr lang="en" sz="1000" b="1">
                  <a:solidFill>
                    <a:schemeClr val="lt1"/>
                  </a:solidFill>
                  <a:latin typeface="Montserrat"/>
                  <a:ea typeface="Montserrat"/>
                  <a:cs typeface="Montserrat"/>
                  <a:sym typeface="Montserrat"/>
                </a:rPr>
                <a:t>Highlights</a:t>
              </a:r>
              <a:endParaRPr sz="1000" b="1">
                <a:solidFill>
                  <a:srgbClr val="FFFFFF"/>
                </a:solidFill>
                <a:latin typeface="Montserrat"/>
                <a:ea typeface="Montserrat"/>
                <a:cs typeface="Montserrat"/>
                <a:sym typeface="Montserrat"/>
              </a:endParaRPr>
            </a:p>
          </p:txBody>
        </p:sp>
      </p:grpSp>
      <p:pic>
        <p:nvPicPr>
          <p:cNvPr id="496" name="Google Shape;496;p49" title="Chart"/>
          <p:cNvPicPr preferRelativeResize="0"/>
          <p:nvPr/>
        </p:nvPicPr>
        <p:blipFill>
          <a:blip r:embed="rId4">
            <a:alphaModFix/>
          </a:blip>
          <a:stretch>
            <a:fillRect/>
          </a:stretch>
        </p:blipFill>
        <p:spPr>
          <a:xfrm>
            <a:off x="6054575" y="1091252"/>
            <a:ext cx="2864300" cy="1813422"/>
          </a:xfrm>
          <a:prstGeom prst="rect">
            <a:avLst/>
          </a:prstGeom>
          <a:noFill/>
          <a:ln>
            <a:noFill/>
          </a:ln>
        </p:spPr>
      </p:pic>
      <p:pic>
        <p:nvPicPr>
          <p:cNvPr id="497" name="Google Shape;497;p49" title="Chart"/>
          <p:cNvPicPr preferRelativeResize="0"/>
          <p:nvPr/>
        </p:nvPicPr>
        <p:blipFill>
          <a:blip r:embed="rId5">
            <a:alphaModFix/>
          </a:blip>
          <a:stretch>
            <a:fillRect/>
          </a:stretch>
        </p:blipFill>
        <p:spPr>
          <a:xfrm>
            <a:off x="244171" y="1150761"/>
            <a:ext cx="2773800" cy="1756117"/>
          </a:xfrm>
          <a:prstGeom prst="rect">
            <a:avLst/>
          </a:prstGeom>
          <a:noFill/>
          <a:ln>
            <a:noFill/>
          </a:ln>
        </p:spPr>
      </p:pic>
      <p:pic>
        <p:nvPicPr>
          <p:cNvPr id="498" name="Google Shape;498;p49" title="Chart"/>
          <p:cNvPicPr preferRelativeResize="0"/>
          <p:nvPr/>
        </p:nvPicPr>
        <p:blipFill>
          <a:blip r:embed="rId6">
            <a:alphaModFix/>
          </a:blip>
          <a:stretch>
            <a:fillRect/>
          </a:stretch>
        </p:blipFill>
        <p:spPr>
          <a:xfrm>
            <a:off x="3071474" y="1150742"/>
            <a:ext cx="2773800" cy="1756132"/>
          </a:xfrm>
          <a:prstGeom prst="rect">
            <a:avLst/>
          </a:prstGeom>
          <a:noFill/>
          <a:ln>
            <a:noFill/>
          </a:ln>
        </p:spPr>
      </p:pic>
      <p:sp>
        <p:nvSpPr>
          <p:cNvPr id="499" name="Google Shape;499;p49"/>
          <p:cNvSpPr/>
          <p:nvPr/>
        </p:nvSpPr>
        <p:spPr>
          <a:xfrm>
            <a:off x="0" y="0"/>
            <a:ext cx="9144000" cy="73200"/>
          </a:xfrm>
          <a:prstGeom prst="rect">
            <a:avLst/>
          </a:prstGeom>
          <a:solidFill>
            <a:srgbClr val="FF7F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503"/>
        <p:cNvGrpSpPr/>
        <p:nvPr/>
      </p:nvGrpSpPr>
      <p:grpSpPr>
        <a:xfrm>
          <a:off x="0" y="0"/>
          <a:ext cx="0" cy="0"/>
          <a:chOff x="0" y="0"/>
          <a:chExt cx="0" cy="0"/>
        </a:xfrm>
      </p:grpSpPr>
      <p:cxnSp>
        <p:nvCxnSpPr>
          <p:cNvPr id="504" name="Google Shape;504;p50"/>
          <p:cNvCxnSpPr/>
          <p:nvPr/>
        </p:nvCxnSpPr>
        <p:spPr>
          <a:xfrm>
            <a:off x="240025" y="628875"/>
            <a:ext cx="8621700" cy="11700"/>
          </a:xfrm>
          <a:prstGeom prst="straightConnector1">
            <a:avLst/>
          </a:prstGeom>
          <a:noFill/>
          <a:ln w="9525" cap="flat" cmpd="sng">
            <a:solidFill>
              <a:srgbClr val="C9DAF8"/>
            </a:solidFill>
            <a:prstDash val="solid"/>
            <a:round/>
            <a:headEnd type="none" w="med" len="med"/>
            <a:tailEnd type="none" w="med" len="med"/>
          </a:ln>
        </p:spPr>
      </p:cxnSp>
      <p:sp>
        <p:nvSpPr>
          <p:cNvPr id="505" name="Google Shape;505;p50"/>
          <p:cNvSpPr txBox="1"/>
          <p:nvPr/>
        </p:nvSpPr>
        <p:spPr>
          <a:xfrm>
            <a:off x="5342075" y="153588"/>
            <a:ext cx="3519600" cy="3387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r>
              <a:rPr lang="en" sz="1000">
                <a:solidFill>
                  <a:srgbClr val="1155CC"/>
                </a:solidFill>
                <a:latin typeface="Montserrat"/>
                <a:ea typeface="Montserrat"/>
                <a:cs typeface="Montserrat"/>
                <a:sym typeface="Montserrat"/>
              </a:rPr>
              <a:t>Growth Weekly Report</a:t>
            </a:r>
            <a:endParaRPr sz="1000">
              <a:solidFill>
                <a:srgbClr val="1155CC"/>
              </a:solidFill>
              <a:latin typeface="Montserrat"/>
              <a:ea typeface="Montserrat"/>
              <a:cs typeface="Montserrat"/>
              <a:sym typeface="Montserrat"/>
            </a:endParaRPr>
          </a:p>
        </p:txBody>
      </p:sp>
      <p:sp>
        <p:nvSpPr>
          <p:cNvPr id="506" name="Google Shape;506;p50"/>
          <p:cNvSpPr txBox="1"/>
          <p:nvPr/>
        </p:nvSpPr>
        <p:spPr>
          <a:xfrm>
            <a:off x="585326" y="122825"/>
            <a:ext cx="40620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solidFill>
                  <a:srgbClr val="1155CC"/>
                </a:solidFill>
                <a:latin typeface="Montserrat"/>
                <a:ea typeface="Montserrat"/>
                <a:cs typeface="Montserrat"/>
                <a:sym typeface="Montserrat"/>
              </a:rPr>
              <a:t>[SGN] OPERATION GROWTH</a:t>
            </a:r>
            <a:endParaRPr b="1">
              <a:solidFill>
                <a:srgbClr val="1155CC"/>
              </a:solidFill>
              <a:latin typeface="Montserrat"/>
              <a:ea typeface="Montserrat"/>
              <a:cs typeface="Montserrat"/>
              <a:sym typeface="Montserrat"/>
            </a:endParaRPr>
          </a:p>
        </p:txBody>
      </p:sp>
      <p:pic>
        <p:nvPicPr>
          <p:cNvPr id="507" name="Google Shape;507;p50"/>
          <p:cNvPicPr preferRelativeResize="0"/>
          <p:nvPr/>
        </p:nvPicPr>
        <p:blipFill>
          <a:blip r:embed="rId3">
            <a:alphaModFix/>
          </a:blip>
          <a:stretch>
            <a:fillRect/>
          </a:stretch>
        </p:blipFill>
        <p:spPr>
          <a:xfrm>
            <a:off x="240025" y="150287"/>
            <a:ext cx="345300" cy="345325"/>
          </a:xfrm>
          <a:prstGeom prst="rect">
            <a:avLst/>
          </a:prstGeom>
          <a:noFill/>
          <a:ln>
            <a:noFill/>
          </a:ln>
        </p:spPr>
      </p:pic>
      <p:sp>
        <p:nvSpPr>
          <p:cNvPr id="508" name="Google Shape;508;p50"/>
          <p:cNvSpPr/>
          <p:nvPr/>
        </p:nvSpPr>
        <p:spPr>
          <a:xfrm>
            <a:off x="229397" y="706088"/>
            <a:ext cx="2773800" cy="434100"/>
          </a:xfrm>
          <a:prstGeom prst="roundRect">
            <a:avLst>
              <a:gd name="adj" fmla="val 50000"/>
            </a:avLst>
          </a:prstGeom>
          <a:gradFill>
            <a:gsLst>
              <a:gs pos="0">
                <a:srgbClr val="E9F1FF"/>
              </a:gs>
              <a:gs pos="100000">
                <a:srgbClr val="FFFFFF"/>
              </a:gs>
            </a:gsLst>
            <a:lin ang="18900732"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solidFill>
                <a:srgbClr val="FF7500"/>
              </a:solidFill>
              <a:latin typeface="Montserrat Black"/>
              <a:ea typeface="Montserrat Black"/>
              <a:cs typeface="Montserrat Black"/>
              <a:sym typeface="Montserrat Black"/>
            </a:endParaRPr>
          </a:p>
        </p:txBody>
      </p:sp>
      <p:sp>
        <p:nvSpPr>
          <p:cNvPr id="509" name="Google Shape;509;p50"/>
          <p:cNvSpPr txBox="1"/>
          <p:nvPr/>
        </p:nvSpPr>
        <p:spPr>
          <a:xfrm>
            <a:off x="401500" y="741925"/>
            <a:ext cx="901500" cy="362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sz="2000">
                <a:solidFill>
                  <a:srgbClr val="0C8000"/>
                </a:solidFill>
                <a:latin typeface="Montserrat Black"/>
                <a:ea typeface="Montserrat Black"/>
                <a:cs typeface="Montserrat Black"/>
                <a:sym typeface="Montserrat Black"/>
              </a:rPr>
              <a:t>110%</a:t>
            </a:r>
            <a:endParaRPr sz="2000">
              <a:solidFill>
                <a:srgbClr val="0C8000"/>
              </a:solidFill>
              <a:latin typeface="Montserrat Black"/>
              <a:ea typeface="Montserrat Black"/>
              <a:cs typeface="Montserrat Black"/>
              <a:sym typeface="Montserrat Black"/>
            </a:endParaRPr>
          </a:p>
        </p:txBody>
      </p:sp>
      <p:sp>
        <p:nvSpPr>
          <p:cNvPr id="510" name="Google Shape;510;p50"/>
          <p:cNvSpPr txBox="1"/>
          <p:nvPr/>
        </p:nvSpPr>
        <p:spPr>
          <a:xfrm>
            <a:off x="1269038" y="761575"/>
            <a:ext cx="773700" cy="323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900" b="1">
                <a:solidFill>
                  <a:srgbClr val="666666"/>
                </a:solidFill>
                <a:latin typeface="Montserrat"/>
                <a:ea typeface="Montserrat"/>
                <a:cs typeface="Montserrat"/>
                <a:sym typeface="Montserrat"/>
              </a:rPr>
              <a:t>Achieved </a:t>
            </a:r>
            <a:endParaRPr sz="900" b="1">
              <a:solidFill>
                <a:srgbClr val="666666"/>
              </a:solidFill>
              <a:latin typeface="Montserrat"/>
              <a:ea typeface="Montserrat"/>
              <a:cs typeface="Montserrat"/>
              <a:sym typeface="Montserrat"/>
            </a:endParaRPr>
          </a:p>
        </p:txBody>
      </p:sp>
      <p:sp>
        <p:nvSpPr>
          <p:cNvPr id="511" name="Google Shape;511;p50"/>
          <p:cNvSpPr txBox="1"/>
          <p:nvPr/>
        </p:nvSpPr>
        <p:spPr>
          <a:xfrm>
            <a:off x="2102850" y="706075"/>
            <a:ext cx="773700" cy="4341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900" b="1">
                <a:solidFill>
                  <a:srgbClr val="666666"/>
                </a:solidFill>
                <a:latin typeface="Montserrat"/>
                <a:ea typeface="Montserrat"/>
                <a:cs typeface="Montserrat"/>
                <a:sym typeface="Montserrat"/>
              </a:rPr>
              <a:t>Actual</a:t>
            </a:r>
            <a:endParaRPr sz="900" b="1">
              <a:solidFill>
                <a:srgbClr val="666666"/>
              </a:solidFill>
              <a:latin typeface="Montserrat"/>
              <a:ea typeface="Montserrat"/>
              <a:cs typeface="Montserrat"/>
              <a:sym typeface="Montserrat"/>
            </a:endParaRPr>
          </a:p>
          <a:p>
            <a:pPr marL="0" lvl="0" indent="0" algn="ctr" rtl="0">
              <a:spcBef>
                <a:spcPts val="0"/>
              </a:spcBef>
              <a:spcAft>
                <a:spcPts val="0"/>
              </a:spcAft>
              <a:buNone/>
            </a:pPr>
            <a:r>
              <a:rPr lang="en" sz="900" b="1">
                <a:solidFill>
                  <a:srgbClr val="666666"/>
                </a:solidFill>
                <a:latin typeface="Montserrat"/>
                <a:ea typeface="Montserrat"/>
                <a:cs typeface="Montserrat"/>
                <a:sym typeface="Montserrat"/>
              </a:rPr>
              <a:t>96.34%</a:t>
            </a:r>
            <a:endParaRPr sz="900" b="1">
              <a:solidFill>
                <a:srgbClr val="666666"/>
              </a:solidFill>
              <a:latin typeface="Montserrat"/>
              <a:ea typeface="Montserrat"/>
              <a:cs typeface="Montserrat"/>
              <a:sym typeface="Montserrat"/>
            </a:endParaRPr>
          </a:p>
        </p:txBody>
      </p:sp>
      <p:sp>
        <p:nvSpPr>
          <p:cNvPr id="512" name="Google Shape;512;p50"/>
          <p:cNvSpPr/>
          <p:nvPr/>
        </p:nvSpPr>
        <p:spPr>
          <a:xfrm>
            <a:off x="3132407" y="706088"/>
            <a:ext cx="2773800" cy="434100"/>
          </a:xfrm>
          <a:prstGeom prst="roundRect">
            <a:avLst>
              <a:gd name="adj" fmla="val 50000"/>
            </a:avLst>
          </a:prstGeom>
          <a:gradFill>
            <a:gsLst>
              <a:gs pos="0">
                <a:srgbClr val="E9F1FF"/>
              </a:gs>
              <a:gs pos="100000">
                <a:srgbClr val="FFFFFF"/>
              </a:gs>
            </a:gsLst>
            <a:lin ang="18900732"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solidFill>
                <a:srgbClr val="FF7500"/>
              </a:solidFill>
              <a:latin typeface="Montserrat Black"/>
              <a:ea typeface="Montserrat Black"/>
              <a:cs typeface="Montserrat Black"/>
              <a:sym typeface="Montserrat Black"/>
            </a:endParaRPr>
          </a:p>
        </p:txBody>
      </p:sp>
      <p:sp>
        <p:nvSpPr>
          <p:cNvPr id="513" name="Google Shape;513;p50"/>
          <p:cNvSpPr txBox="1"/>
          <p:nvPr/>
        </p:nvSpPr>
        <p:spPr>
          <a:xfrm>
            <a:off x="3304511" y="741925"/>
            <a:ext cx="901500" cy="3624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en" sz="2000">
                <a:solidFill>
                  <a:srgbClr val="FF7500"/>
                </a:solidFill>
                <a:latin typeface="Montserrat Black"/>
                <a:ea typeface="Montserrat Black"/>
                <a:cs typeface="Montserrat Black"/>
                <a:sym typeface="Montserrat Black"/>
              </a:rPr>
              <a:t>85%</a:t>
            </a:r>
            <a:endParaRPr sz="2000">
              <a:solidFill>
                <a:srgbClr val="FF7500"/>
              </a:solidFill>
              <a:latin typeface="Montserrat Black"/>
              <a:ea typeface="Montserrat Black"/>
              <a:cs typeface="Montserrat Black"/>
              <a:sym typeface="Montserrat Black"/>
            </a:endParaRPr>
          </a:p>
        </p:txBody>
      </p:sp>
      <p:sp>
        <p:nvSpPr>
          <p:cNvPr id="514" name="Google Shape;514;p50"/>
          <p:cNvSpPr txBox="1"/>
          <p:nvPr/>
        </p:nvSpPr>
        <p:spPr>
          <a:xfrm>
            <a:off x="4172048" y="761575"/>
            <a:ext cx="773700" cy="323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900" b="1">
                <a:solidFill>
                  <a:srgbClr val="666666"/>
                </a:solidFill>
                <a:latin typeface="Montserrat"/>
                <a:ea typeface="Montserrat"/>
                <a:cs typeface="Montserrat"/>
                <a:sym typeface="Montserrat"/>
              </a:rPr>
              <a:t>Achieved </a:t>
            </a:r>
            <a:endParaRPr sz="900" b="1">
              <a:solidFill>
                <a:srgbClr val="666666"/>
              </a:solidFill>
              <a:latin typeface="Montserrat"/>
              <a:ea typeface="Montserrat"/>
              <a:cs typeface="Montserrat"/>
              <a:sym typeface="Montserrat"/>
            </a:endParaRPr>
          </a:p>
        </p:txBody>
      </p:sp>
      <p:sp>
        <p:nvSpPr>
          <p:cNvPr id="515" name="Google Shape;515;p50"/>
          <p:cNvSpPr txBox="1"/>
          <p:nvPr/>
        </p:nvSpPr>
        <p:spPr>
          <a:xfrm>
            <a:off x="5005861" y="706075"/>
            <a:ext cx="773700" cy="4341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900" b="1">
                <a:solidFill>
                  <a:srgbClr val="666666"/>
                </a:solidFill>
                <a:latin typeface="Montserrat"/>
                <a:ea typeface="Montserrat"/>
                <a:cs typeface="Montserrat"/>
                <a:sym typeface="Montserrat"/>
              </a:rPr>
              <a:t>Actual</a:t>
            </a:r>
            <a:endParaRPr sz="900" b="1">
              <a:solidFill>
                <a:srgbClr val="666666"/>
              </a:solidFill>
              <a:latin typeface="Montserrat"/>
              <a:ea typeface="Montserrat"/>
              <a:cs typeface="Montserrat"/>
              <a:sym typeface="Montserrat"/>
            </a:endParaRPr>
          </a:p>
          <a:p>
            <a:pPr marL="0" lvl="0" indent="0" algn="ctr" rtl="0">
              <a:spcBef>
                <a:spcPts val="0"/>
              </a:spcBef>
              <a:spcAft>
                <a:spcPts val="0"/>
              </a:spcAft>
              <a:buNone/>
            </a:pPr>
            <a:r>
              <a:rPr lang="en" sz="900" b="1">
                <a:solidFill>
                  <a:srgbClr val="666666"/>
                </a:solidFill>
                <a:latin typeface="Montserrat"/>
                <a:ea typeface="Montserrat"/>
                <a:cs typeface="Montserrat"/>
                <a:sym typeface="Montserrat"/>
              </a:rPr>
              <a:t>11.10%</a:t>
            </a:r>
            <a:endParaRPr sz="900" b="1">
              <a:solidFill>
                <a:srgbClr val="666666"/>
              </a:solidFill>
              <a:latin typeface="Montserrat"/>
              <a:ea typeface="Montserrat"/>
              <a:cs typeface="Montserrat"/>
              <a:sym typeface="Montserrat"/>
            </a:endParaRPr>
          </a:p>
        </p:txBody>
      </p:sp>
      <p:sp>
        <p:nvSpPr>
          <p:cNvPr id="516" name="Google Shape;516;p50"/>
          <p:cNvSpPr/>
          <p:nvPr/>
        </p:nvSpPr>
        <p:spPr>
          <a:xfrm>
            <a:off x="6036622" y="674950"/>
            <a:ext cx="2773800" cy="434100"/>
          </a:xfrm>
          <a:prstGeom prst="roundRect">
            <a:avLst>
              <a:gd name="adj" fmla="val 50000"/>
            </a:avLst>
          </a:prstGeom>
          <a:gradFill>
            <a:gsLst>
              <a:gs pos="0">
                <a:srgbClr val="E9F1FF"/>
              </a:gs>
              <a:gs pos="100000">
                <a:srgbClr val="FFFFFF"/>
              </a:gs>
            </a:gsLst>
            <a:lin ang="18900732"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2400">
              <a:solidFill>
                <a:srgbClr val="FF7500"/>
              </a:solidFill>
              <a:latin typeface="Montserrat Black"/>
              <a:ea typeface="Montserrat Black"/>
              <a:cs typeface="Montserrat Black"/>
              <a:sym typeface="Montserrat Black"/>
            </a:endParaRPr>
          </a:p>
        </p:txBody>
      </p:sp>
      <p:sp>
        <p:nvSpPr>
          <p:cNvPr id="517" name="Google Shape;517;p50"/>
          <p:cNvSpPr txBox="1"/>
          <p:nvPr/>
        </p:nvSpPr>
        <p:spPr>
          <a:xfrm>
            <a:off x="6286125" y="710800"/>
            <a:ext cx="901500" cy="3384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en" sz="2000">
                <a:solidFill>
                  <a:srgbClr val="FF7500"/>
                </a:solidFill>
                <a:latin typeface="Montserrat Black"/>
                <a:ea typeface="Montserrat Black"/>
                <a:cs typeface="Montserrat Black"/>
                <a:sym typeface="Montserrat Black"/>
              </a:rPr>
              <a:t>80%</a:t>
            </a:r>
            <a:endParaRPr sz="2000">
              <a:solidFill>
                <a:srgbClr val="FF7500"/>
              </a:solidFill>
              <a:latin typeface="Montserrat Black"/>
              <a:ea typeface="Montserrat Black"/>
              <a:cs typeface="Montserrat Black"/>
              <a:sym typeface="Montserrat Black"/>
            </a:endParaRPr>
          </a:p>
        </p:txBody>
      </p:sp>
      <p:sp>
        <p:nvSpPr>
          <p:cNvPr id="518" name="Google Shape;518;p50"/>
          <p:cNvSpPr txBox="1"/>
          <p:nvPr/>
        </p:nvSpPr>
        <p:spPr>
          <a:xfrm>
            <a:off x="7076263" y="730438"/>
            <a:ext cx="773700" cy="323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900" b="1">
                <a:solidFill>
                  <a:srgbClr val="666666"/>
                </a:solidFill>
                <a:latin typeface="Montserrat"/>
                <a:ea typeface="Montserrat"/>
                <a:cs typeface="Montserrat"/>
                <a:sym typeface="Montserrat"/>
              </a:rPr>
              <a:t>Achieved </a:t>
            </a:r>
            <a:endParaRPr sz="900" b="1">
              <a:solidFill>
                <a:srgbClr val="666666"/>
              </a:solidFill>
              <a:latin typeface="Montserrat"/>
              <a:ea typeface="Montserrat"/>
              <a:cs typeface="Montserrat"/>
              <a:sym typeface="Montserrat"/>
            </a:endParaRPr>
          </a:p>
        </p:txBody>
      </p:sp>
      <p:sp>
        <p:nvSpPr>
          <p:cNvPr id="519" name="Google Shape;519;p50"/>
          <p:cNvSpPr txBox="1"/>
          <p:nvPr/>
        </p:nvSpPr>
        <p:spPr>
          <a:xfrm>
            <a:off x="7910075" y="674938"/>
            <a:ext cx="773700" cy="4341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900" b="1">
                <a:solidFill>
                  <a:srgbClr val="666666"/>
                </a:solidFill>
                <a:latin typeface="Montserrat"/>
                <a:ea typeface="Montserrat"/>
                <a:cs typeface="Montserrat"/>
                <a:sym typeface="Montserrat"/>
              </a:rPr>
              <a:t>Actual</a:t>
            </a:r>
            <a:endParaRPr sz="900" b="1">
              <a:solidFill>
                <a:srgbClr val="666666"/>
              </a:solidFill>
              <a:latin typeface="Montserrat"/>
              <a:ea typeface="Montserrat"/>
              <a:cs typeface="Montserrat"/>
              <a:sym typeface="Montserrat"/>
            </a:endParaRPr>
          </a:p>
          <a:p>
            <a:pPr marL="0" lvl="0" indent="0" algn="ctr" rtl="0">
              <a:spcBef>
                <a:spcPts val="0"/>
              </a:spcBef>
              <a:spcAft>
                <a:spcPts val="0"/>
              </a:spcAft>
              <a:buNone/>
            </a:pPr>
            <a:r>
              <a:rPr lang="en" sz="900" b="1">
                <a:solidFill>
                  <a:srgbClr val="666666"/>
                </a:solidFill>
                <a:latin typeface="Montserrat"/>
                <a:ea typeface="Montserrat"/>
                <a:cs typeface="Montserrat"/>
                <a:sym typeface="Montserrat"/>
              </a:rPr>
              <a:t>65.34%</a:t>
            </a:r>
            <a:endParaRPr sz="900" b="1">
              <a:solidFill>
                <a:srgbClr val="666666"/>
              </a:solidFill>
              <a:latin typeface="Montserrat"/>
              <a:ea typeface="Montserrat"/>
              <a:cs typeface="Montserrat"/>
              <a:sym typeface="Montserrat"/>
            </a:endParaRPr>
          </a:p>
        </p:txBody>
      </p:sp>
      <p:sp>
        <p:nvSpPr>
          <p:cNvPr id="520" name="Google Shape;520;p50"/>
          <p:cNvSpPr/>
          <p:nvPr/>
        </p:nvSpPr>
        <p:spPr>
          <a:xfrm>
            <a:off x="530650" y="3391925"/>
            <a:ext cx="7977300" cy="1535100"/>
          </a:xfrm>
          <a:prstGeom prst="roundRect">
            <a:avLst>
              <a:gd name="adj" fmla="val 16667"/>
            </a:avLst>
          </a:prstGeom>
          <a:solidFill>
            <a:srgbClr val="F9F8F8"/>
          </a:solidFill>
          <a:ln>
            <a:noFill/>
          </a:ln>
        </p:spPr>
        <p:txBody>
          <a:bodyPr spcFirstLastPara="1" wrap="square" lIns="91425" tIns="126000" rIns="91425" bIns="91425" anchor="t" anchorCtr="0">
            <a:noAutofit/>
          </a:bodyPr>
          <a:lstStyle/>
          <a:p>
            <a:pPr marL="0" marR="0" lvl="0" indent="-171450" algn="l" rtl="0">
              <a:lnSpc>
                <a:spcPct val="115000"/>
              </a:lnSpc>
              <a:spcBef>
                <a:spcPts val="0"/>
              </a:spcBef>
              <a:spcAft>
                <a:spcPts val="0"/>
              </a:spcAft>
              <a:buClr>
                <a:srgbClr val="010101"/>
              </a:buClr>
              <a:buSzPts val="900"/>
              <a:buChar char="-"/>
            </a:pPr>
            <a:r>
              <a:rPr lang="en" sz="900" b="1">
                <a:solidFill>
                  <a:srgbClr val="010101"/>
                </a:solidFill>
              </a:rPr>
              <a:t>GDR</a:t>
            </a:r>
            <a:r>
              <a:rPr lang="en" sz="900">
                <a:solidFill>
                  <a:srgbClr val="010101"/>
                </a:solidFill>
              </a:rPr>
              <a:t> đạt 110%.</a:t>
            </a:r>
            <a:endParaRPr sz="900">
              <a:solidFill>
                <a:srgbClr val="010101"/>
              </a:solidFill>
            </a:endParaRPr>
          </a:p>
          <a:p>
            <a:pPr marL="0" marR="0" lvl="0" indent="-171450" algn="l" rtl="0">
              <a:lnSpc>
                <a:spcPct val="115000"/>
              </a:lnSpc>
              <a:spcBef>
                <a:spcPts val="0"/>
              </a:spcBef>
              <a:spcAft>
                <a:spcPts val="0"/>
              </a:spcAft>
              <a:buClr>
                <a:srgbClr val="010101"/>
              </a:buClr>
              <a:buSzPts val="900"/>
              <a:buChar char="-"/>
            </a:pPr>
            <a:r>
              <a:rPr lang="en" sz="900" b="1">
                <a:solidFill>
                  <a:srgbClr val="010101"/>
                </a:solidFill>
              </a:rPr>
              <a:t>CR</a:t>
            </a:r>
            <a:r>
              <a:rPr lang="en" sz="900">
                <a:solidFill>
                  <a:srgbClr val="010101"/>
                </a:solidFill>
              </a:rPr>
              <a:t> không biến động quá nhiều WoW.</a:t>
            </a:r>
            <a:endParaRPr sz="900">
              <a:solidFill>
                <a:srgbClr val="010101"/>
              </a:solidFill>
            </a:endParaRPr>
          </a:p>
          <a:p>
            <a:pPr marL="0" marR="0" lvl="0" indent="-171450" algn="l" rtl="0">
              <a:lnSpc>
                <a:spcPct val="115000"/>
              </a:lnSpc>
              <a:spcBef>
                <a:spcPts val="0"/>
              </a:spcBef>
              <a:spcAft>
                <a:spcPts val="0"/>
              </a:spcAft>
              <a:buClr>
                <a:srgbClr val="010101"/>
              </a:buClr>
              <a:buSzPts val="900"/>
              <a:buChar char="-"/>
            </a:pPr>
            <a:r>
              <a:rPr lang="en" sz="900" b="1">
                <a:solidFill>
                  <a:srgbClr val="010101"/>
                </a:solidFill>
              </a:rPr>
              <a:t>DFD Retention</a:t>
            </a:r>
            <a:r>
              <a:rPr lang="en" sz="900">
                <a:solidFill>
                  <a:srgbClr val="010101"/>
                </a:solidFill>
              </a:rPr>
              <a:t> tăng ở nhóm TX &gt;25 tuổi. Đã call out 163 TX, đa số không kết nối được; một số trường hợp có dấu hiệu đang chạy đơn nhưng không hoạt động trên Ahamove → khả năng đang ưu tiên nền tảng khác.</a:t>
            </a:r>
            <a:endParaRPr sz="900">
              <a:solidFill>
                <a:srgbClr val="010101"/>
              </a:solidFill>
            </a:endParaRPr>
          </a:p>
        </p:txBody>
      </p:sp>
      <p:grpSp>
        <p:nvGrpSpPr>
          <p:cNvPr id="521" name="Google Shape;521;p50"/>
          <p:cNvGrpSpPr/>
          <p:nvPr/>
        </p:nvGrpSpPr>
        <p:grpSpPr>
          <a:xfrm>
            <a:off x="563940" y="3198929"/>
            <a:ext cx="1197341" cy="338420"/>
            <a:chOff x="4985275" y="3894133"/>
            <a:chExt cx="1151400" cy="269400"/>
          </a:xfrm>
        </p:grpSpPr>
        <p:sp>
          <p:nvSpPr>
            <p:cNvPr id="522" name="Google Shape;522;p50"/>
            <p:cNvSpPr/>
            <p:nvPr/>
          </p:nvSpPr>
          <p:spPr>
            <a:xfrm>
              <a:off x="4985275" y="3932829"/>
              <a:ext cx="1151400" cy="220200"/>
            </a:xfrm>
            <a:prstGeom prst="roundRect">
              <a:avLst>
                <a:gd name="adj" fmla="val 50000"/>
              </a:avLst>
            </a:prstGeom>
            <a:solidFill>
              <a:srgbClr val="34A85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23" name="Google Shape;523;p50"/>
            <p:cNvSpPr txBox="1"/>
            <p:nvPr/>
          </p:nvSpPr>
          <p:spPr>
            <a:xfrm>
              <a:off x="5075569" y="3894133"/>
              <a:ext cx="970800" cy="269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Clr>
                  <a:schemeClr val="dk1"/>
                </a:buClr>
                <a:buSzPts val="1100"/>
                <a:buFont typeface="Arial"/>
                <a:buNone/>
              </a:pPr>
              <a:r>
                <a:rPr lang="en" sz="1000" b="1">
                  <a:solidFill>
                    <a:schemeClr val="lt1"/>
                  </a:solidFill>
                  <a:latin typeface="Montserrat"/>
                  <a:ea typeface="Montserrat"/>
                  <a:cs typeface="Montserrat"/>
                  <a:sym typeface="Montserrat"/>
                </a:rPr>
                <a:t>Highlights</a:t>
              </a:r>
              <a:endParaRPr sz="1000" b="1">
                <a:solidFill>
                  <a:srgbClr val="FFFFFF"/>
                </a:solidFill>
                <a:latin typeface="Montserrat"/>
                <a:ea typeface="Montserrat"/>
                <a:cs typeface="Montserrat"/>
                <a:sym typeface="Montserrat"/>
              </a:endParaRPr>
            </a:p>
          </p:txBody>
        </p:sp>
      </p:grpSp>
      <p:pic>
        <p:nvPicPr>
          <p:cNvPr id="524" name="Google Shape;524;p50" title="Chart"/>
          <p:cNvPicPr preferRelativeResize="0"/>
          <p:nvPr/>
        </p:nvPicPr>
        <p:blipFill>
          <a:blip r:embed="rId4">
            <a:alphaModFix/>
          </a:blip>
          <a:stretch>
            <a:fillRect/>
          </a:stretch>
        </p:blipFill>
        <p:spPr>
          <a:xfrm>
            <a:off x="6035397" y="1161184"/>
            <a:ext cx="2905100" cy="1839245"/>
          </a:xfrm>
          <a:prstGeom prst="rect">
            <a:avLst/>
          </a:prstGeom>
          <a:noFill/>
          <a:ln>
            <a:noFill/>
          </a:ln>
        </p:spPr>
      </p:pic>
      <p:pic>
        <p:nvPicPr>
          <p:cNvPr id="525" name="Google Shape;525;p50" title="Chart"/>
          <p:cNvPicPr preferRelativeResize="0"/>
          <p:nvPr/>
        </p:nvPicPr>
        <p:blipFill>
          <a:blip r:embed="rId5">
            <a:alphaModFix/>
          </a:blip>
          <a:stretch>
            <a:fillRect/>
          </a:stretch>
        </p:blipFill>
        <p:spPr>
          <a:xfrm>
            <a:off x="138922" y="1163034"/>
            <a:ext cx="2905100" cy="1839245"/>
          </a:xfrm>
          <a:prstGeom prst="rect">
            <a:avLst/>
          </a:prstGeom>
          <a:noFill/>
          <a:ln>
            <a:noFill/>
          </a:ln>
        </p:spPr>
      </p:pic>
      <p:pic>
        <p:nvPicPr>
          <p:cNvPr id="526" name="Google Shape;526;p50" title="Chart"/>
          <p:cNvPicPr preferRelativeResize="0"/>
          <p:nvPr/>
        </p:nvPicPr>
        <p:blipFill>
          <a:blip r:embed="rId6">
            <a:alphaModFix/>
          </a:blip>
          <a:stretch>
            <a:fillRect/>
          </a:stretch>
        </p:blipFill>
        <p:spPr>
          <a:xfrm>
            <a:off x="3119447" y="1171334"/>
            <a:ext cx="2905100" cy="1839245"/>
          </a:xfrm>
          <a:prstGeom prst="rect">
            <a:avLst/>
          </a:prstGeom>
          <a:noFill/>
          <a:ln>
            <a:noFill/>
          </a:ln>
        </p:spPr>
      </p:pic>
      <p:sp>
        <p:nvSpPr>
          <p:cNvPr id="527" name="Google Shape;527;p50"/>
          <p:cNvSpPr/>
          <p:nvPr/>
        </p:nvSpPr>
        <p:spPr>
          <a:xfrm>
            <a:off x="0" y="0"/>
            <a:ext cx="9144000" cy="73200"/>
          </a:xfrm>
          <a:prstGeom prst="rect">
            <a:avLst/>
          </a:prstGeom>
          <a:solidFill>
            <a:srgbClr val="FF7F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532"/>
        <p:cNvGrpSpPr/>
        <p:nvPr/>
      </p:nvGrpSpPr>
      <p:grpSpPr>
        <a:xfrm>
          <a:off x="0" y="0"/>
          <a:ext cx="0" cy="0"/>
          <a:chOff x="0" y="0"/>
          <a:chExt cx="0" cy="0"/>
        </a:xfrm>
      </p:grpSpPr>
      <p:sp>
        <p:nvSpPr>
          <p:cNvPr id="533" name="Google Shape;533;p51"/>
          <p:cNvSpPr/>
          <p:nvPr/>
        </p:nvSpPr>
        <p:spPr>
          <a:xfrm>
            <a:off x="411480" y="341465"/>
            <a:ext cx="377100" cy="377100"/>
          </a:xfrm>
          <a:prstGeom prst="roundRect">
            <a:avLst>
              <a:gd name="adj" fmla="val 16667"/>
            </a:avLst>
          </a:prstGeom>
          <a:solidFill>
            <a:srgbClr val="1B8A5A"/>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b="0" i="0" u="none" strike="noStrike" cap="none">
              <a:solidFill>
                <a:schemeClr val="dk1"/>
              </a:solidFill>
              <a:latin typeface="Helvetica Neue"/>
              <a:ea typeface="Helvetica Neue"/>
              <a:cs typeface="Helvetica Neue"/>
              <a:sym typeface="Helvetica Neue"/>
            </a:endParaRPr>
          </a:p>
        </p:txBody>
      </p:sp>
      <p:sp>
        <p:nvSpPr>
          <p:cNvPr id="534" name="Google Shape;534;p51"/>
          <p:cNvSpPr/>
          <p:nvPr/>
        </p:nvSpPr>
        <p:spPr>
          <a:xfrm>
            <a:off x="411480" y="341465"/>
            <a:ext cx="377100" cy="377100"/>
          </a:xfrm>
          <a:prstGeom prst="roundRect">
            <a:avLst>
              <a:gd name="adj" fmla="val 16667"/>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334155"/>
              </a:buClr>
              <a:buSzPts val="1000"/>
              <a:buFont typeface="Helvetica Neue"/>
              <a:buNone/>
            </a:pPr>
            <a:r>
              <a:rPr lang="en" sz="1000" b="1" i="0" u="none" strike="noStrike" cap="none">
                <a:solidFill>
                  <a:srgbClr val="334155"/>
                </a:solidFill>
                <a:latin typeface="Helvetica Neue"/>
                <a:ea typeface="Helvetica Neue"/>
                <a:cs typeface="Helvetica Neue"/>
                <a:sym typeface="Helvetica Neue"/>
              </a:rPr>
              <a:t>DJ</a:t>
            </a:r>
            <a:endParaRPr sz="1000" b="0" i="0" u="none" strike="noStrike" cap="none">
              <a:solidFill>
                <a:schemeClr val="dk1"/>
              </a:solidFill>
              <a:latin typeface="Calibri"/>
              <a:ea typeface="Calibri"/>
              <a:cs typeface="Calibri"/>
              <a:sym typeface="Calibri"/>
            </a:endParaRPr>
          </a:p>
        </p:txBody>
      </p:sp>
      <p:sp>
        <p:nvSpPr>
          <p:cNvPr id="535" name="Google Shape;535;p51"/>
          <p:cNvSpPr/>
          <p:nvPr/>
        </p:nvSpPr>
        <p:spPr>
          <a:xfrm>
            <a:off x="891550" y="341465"/>
            <a:ext cx="6583800" cy="377100"/>
          </a:xfrm>
          <a:prstGeom prst="roundRect">
            <a:avLst>
              <a:gd name="adj" fmla="val 16667"/>
            </a:avLst>
          </a:prstGeom>
          <a:noFill/>
          <a:ln w="9525" cap="flat" cmpd="sng">
            <a:solidFill>
              <a:schemeClr val="lt2"/>
            </a:solidFill>
            <a:prstDash val="solid"/>
            <a:round/>
            <a:headEnd type="none" w="sm" len="sm"/>
            <a:tailEnd type="none" w="sm" len="sm"/>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F172A"/>
              </a:buClr>
              <a:buSzPts val="1300"/>
              <a:buFont typeface="Helvetica Neue"/>
              <a:buNone/>
            </a:pPr>
            <a:r>
              <a:rPr lang="en" sz="1300" b="1" i="0" u="none" strike="noStrike" cap="none">
                <a:solidFill>
                  <a:srgbClr val="0F172A"/>
                </a:solidFill>
                <a:latin typeface="Helvetica Neue"/>
                <a:ea typeface="Helvetica Neue"/>
                <a:cs typeface="Helvetica Neue"/>
                <a:sym typeface="Helvetica Neue"/>
              </a:rPr>
              <a:t>Driver Journey: M</a:t>
            </a:r>
            <a:r>
              <a:rPr lang="en" sz="1300" b="1">
                <a:solidFill>
                  <a:srgbClr val="0F172A"/>
                </a:solidFill>
                <a:latin typeface="Helvetica Neue"/>
                <a:ea typeface="Helvetica Neue"/>
                <a:cs typeface="Helvetica Neue"/>
                <a:sym typeface="Helvetica Neue"/>
              </a:rPr>
              <a:t>ô hình</a:t>
            </a:r>
            <a:r>
              <a:rPr lang="en" sz="1300" b="1" i="0" u="none" strike="noStrike" cap="none">
                <a:solidFill>
                  <a:srgbClr val="0F172A"/>
                </a:solidFill>
                <a:latin typeface="Helvetica Neue"/>
                <a:ea typeface="Helvetica Neue"/>
                <a:cs typeface="Helvetica Neue"/>
                <a:sym typeface="Helvetica Neue"/>
              </a:rPr>
              <a:t> onboarding theo giai đoạn D0 - D60</a:t>
            </a:r>
            <a:endParaRPr sz="1300" b="1">
              <a:solidFill>
                <a:srgbClr val="0F172A"/>
              </a:solidFill>
              <a:latin typeface="Helvetica Neue"/>
              <a:ea typeface="Helvetica Neue"/>
              <a:cs typeface="Helvetica Neue"/>
              <a:sym typeface="Helvetica Neue"/>
            </a:endParaRPr>
          </a:p>
        </p:txBody>
      </p:sp>
      <p:sp>
        <p:nvSpPr>
          <p:cNvPr id="536" name="Google Shape;536;p51"/>
          <p:cNvSpPr/>
          <p:nvPr/>
        </p:nvSpPr>
        <p:spPr>
          <a:xfrm>
            <a:off x="411480" y="836620"/>
            <a:ext cx="754500" cy="34200"/>
          </a:xfrm>
          <a:prstGeom prst="roundRect">
            <a:avLst>
              <a:gd name="adj" fmla="val 16667"/>
            </a:avLst>
          </a:prstGeom>
          <a:no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b="0" i="0" u="none" strike="noStrike" cap="none">
              <a:solidFill>
                <a:schemeClr val="dk1"/>
              </a:solidFill>
              <a:latin typeface="Helvetica Neue"/>
              <a:ea typeface="Helvetica Neue"/>
              <a:cs typeface="Helvetica Neue"/>
              <a:sym typeface="Helvetica Neue"/>
            </a:endParaRPr>
          </a:p>
        </p:txBody>
      </p:sp>
      <p:sp>
        <p:nvSpPr>
          <p:cNvPr id="537" name="Google Shape;537;p51"/>
          <p:cNvSpPr/>
          <p:nvPr/>
        </p:nvSpPr>
        <p:spPr>
          <a:xfrm>
            <a:off x="404580" y="788533"/>
            <a:ext cx="2263200" cy="41100"/>
          </a:xfrm>
          <a:prstGeom prst="roundRect">
            <a:avLst>
              <a:gd name="adj" fmla="val 16667"/>
            </a:avLst>
          </a:prstGeom>
          <a:no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b="0" i="0" u="none" strike="noStrike" cap="none">
              <a:solidFill>
                <a:schemeClr val="dk1"/>
              </a:solidFill>
              <a:latin typeface="Helvetica Neue"/>
              <a:ea typeface="Helvetica Neue"/>
              <a:cs typeface="Helvetica Neue"/>
              <a:sym typeface="Helvetica Neue"/>
            </a:endParaRPr>
          </a:p>
        </p:txBody>
      </p:sp>
      <p:sp>
        <p:nvSpPr>
          <p:cNvPr id="538" name="Google Shape;538;p51"/>
          <p:cNvSpPr/>
          <p:nvPr/>
        </p:nvSpPr>
        <p:spPr>
          <a:xfrm>
            <a:off x="404575" y="829675"/>
            <a:ext cx="2263200" cy="1341900"/>
          </a:xfrm>
          <a:prstGeom prst="roundRect">
            <a:avLst>
              <a:gd name="adj" fmla="val 5617"/>
            </a:avLst>
          </a:prstGeom>
          <a:solidFill>
            <a:srgbClr val="FFFFFF"/>
          </a:solidFill>
          <a:ln w="12700" cap="flat" cmpd="sng">
            <a:solidFill>
              <a:srgbClr val="CBD5E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400" b="0" i="0" u="none" strike="noStrike" cap="none">
              <a:solidFill>
                <a:schemeClr val="dk1"/>
              </a:solidFill>
              <a:latin typeface="Helvetica Neue"/>
              <a:ea typeface="Helvetica Neue"/>
              <a:cs typeface="Helvetica Neue"/>
              <a:sym typeface="Helvetica Neue"/>
            </a:endParaRPr>
          </a:p>
        </p:txBody>
      </p:sp>
      <p:sp>
        <p:nvSpPr>
          <p:cNvPr id="539" name="Google Shape;539;p51"/>
          <p:cNvSpPr/>
          <p:nvPr/>
        </p:nvSpPr>
        <p:spPr>
          <a:xfrm>
            <a:off x="507450" y="889644"/>
            <a:ext cx="1611600" cy="471300"/>
          </a:xfrm>
          <a:prstGeom prst="roundRect">
            <a:avLst>
              <a:gd name="adj" fmla="val 16667"/>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F172A"/>
              </a:buClr>
              <a:buSzPts val="1800"/>
              <a:buFont typeface="Helvetica Neue"/>
              <a:buNone/>
            </a:pPr>
            <a:r>
              <a:rPr lang="en" sz="1800" b="1">
                <a:solidFill>
                  <a:srgbClr val="0F172A"/>
                </a:solidFill>
                <a:latin typeface="Helvetica Neue"/>
                <a:ea typeface="Helvetica Neue"/>
                <a:cs typeface="Helvetica Neue"/>
                <a:sym typeface="Helvetica Neue"/>
              </a:rPr>
              <a:t>5</a:t>
            </a:r>
            <a:r>
              <a:rPr lang="en" sz="1800" b="1" i="0" u="none" strike="noStrike" cap="none">
                <a:solidFill>
                  <a:srgbClr val="0F172A"/>
                </a:solidFill>
                <a:latin typeface="Helvetica Neue"/>
                <a:ea typeface="Helvetica Neue"/>
                <a:cs typeface="Helvetica Neue"/>
                <a:sym typeface="Helvetica Neue"/>
              </a:rPr>
              <a:t> / </a:t>
            </a:r>
            <a:r>
              <a:rPr lang="en" sz="1800" b="1">
                <a:solidFill>
                  <a:srgbClr val="0F172A"/>
                </a:solidFill>
                <a:latin typeface="Helvetica Neue"/>
                <a:ea typeface="Helvetica Neue"/>
                <a:cs typeface="Helvetica Neue"/>
                <a:sym typeface="Helvetica Neue"/>
              </a:rPr>
              <a:t>9</a:t>
            </a:r>
            <a:endParaRPr sz="1800" b="0" i="0" u="none" strike="noStrike" cap="none">
              <a:solidFill>
                <a:schemeClr val="dk1"/>
              </a:solidFill>
              <a:latin typeface="Calibri"/>
              <a:ea typeface="Calibri"/>
              <a:cs typeface="Calibri"/>
              <a:sym typeface="Calibri"/>
            </a:endParaRPr>
          </a:p>
        </p:txBody>
      </p:sp>
      <p:sp>
        <p:nvSpPr>
          <p:cNvPr id="540" name="Google Shape;540;p51"/>
          <p:cNvSpPr/>
          <p:nvPr/>
        </p:nvSpPr>
        <p:spPr>
          <a:xfrm>
            <a:off x="464408" y="1308236"/>
            <a:ext cx="1783200" cy="214500"/>
          </a:xfrm>
          <a:prstGeom prst="roundRect">
            <a:avLst>
              <a:gd name="adj" fmla="val 16667"/>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334155"/>
              </a:buClr>
              <a:buSzPts val="700"/>
              <a:buFont typeface="Helvetica Neue"/>
              <a:buNone/>
            </a:pPr>
            <a:r>
              <a:rPr lang="en" sz="700" b="0" i="0" u="none" strike="noStrike" cap="none">
                <a:solidFill>
                  <a:srgbClr val="334155"/>
                </a:solidFill>
                <a:latin typeface="Helvetica Neue"/>
                <a:ea typeface="Helvetica Neue"/>
                <a:cs typeface="Helvetica Neue"/>
                <a:sym typeface="Helvetica Neue"/>
              </a:rPr>
              <a:t>Giai đoạn (D0-D8) hoàn thành đúng tiến độ</a:t>
            </a:r>
            <a:endParaRPr sz="700" b="0" i="0" u="none" strike="noStrike" cap="none">
              <a:solidFill>
                <a:schemeClr val="dk1"/>
              </a:solidFill>
              <a:latin typeface="Calibri"/>
              <a:ea typeface="Calibri"/>
              <a:cs typeface="Calibri"/>
              <a:sym typeface="Calibri"/>
            </a:endParaRPr>
          </a:p>
        </p:txBody>
      </p:sp>
      <p:sp>
        <p:nvSpPr>
          <p:cNvPr id="541" name="Google Shape;541;p51"/>
          <p:cNvSpPr/>
          <p:nvPr/>
        </p:nvSpPr>
        <p:spPr>
          <a:xfrm>
            <a:off x="2290530" y="949614"/>
            <a:ext cx="281100" cy="428400"/>
          </a:xfrm>
          <a:prstGeom prst="roundRect">
            <a:avLst>
              <a:gd name="adj" fmla="val 4878"/>
            </a:avLst>
          </a:prstGeom>
          <a:solidFill>
            <a:srgbClr val="D9631A"/>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b="0" i="0" u="none" strike="noStrike" cap="none">
              <a:solidFill>
                <a:schemeClr val="dk1"/>
              </a:solidFill>
              <a:latin typeface="Helvetica Neue"/>
              <a:ea typeface="Helvetica Neue"/>
              <a:cs typeface="Helvetica Neue"/>
              <a:sym typeface="Helvetica Neue"/>
            </a:endParaRPr>
          </a:p>
        </p:txBody>
      </p:sp>
      <p:sp>
        <p:nvSpPr>
          <p:cNvPr id="542" name="Google Shape;542;p51"/>
          <p:cNvSpPr/>
          <p:nvPr/>
        </p:nvSpPr>
        <p:spPr>
          <a:xfrm>
            <a:off x="2338536" y="1043852"/>
            <a:ext cx="185100" cy="25800"/>
          </a:xfrm>
          <a:prstGeom prst="roundRect">
            <a:avLst>
              <a:gd name="adj" fmla="val 2500"/>
            </a:avLst>
          </a:prstGeom>
          <a:solidFill>
            <a:srgbClr val="FFFFFF"/>
          </a:solidFill>
          <a:ln w="12700" cap="flat" cmpd="sng">
            <a:solidFill>
              <a:srgbClr val="CBD5E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400" b="0" i="0" u="none" strike="noStrike" cap="none">
              <a:solidFill>
                <a:schemeClr val="dk1"/>
              </a:solidFill>
              <a:latin typeface="Helvetica Neue"/>
              <a:ea typeface="Helvetica Neue"/>
              <a:cs typeface="Helvetica Neue"/>
              <a:sym typeface="Helvetica Neue"/>
            </a:endParaRPr>
          </a:p>
        </p:txBody>
      </p:sp>
      <p:sp>
        <p:nvSpPr>
          <p:cNvPr id="543" name="Google Shape;543;p51"/>
          <p:cNvSpPr/>
          <p:nvPr/>
        </p:nvSpPr>
        <p:spPr>
          <a:xfrm>
            <a:off x="2338536" y="1142373"/>
            <a:ext cx="185100" cy="25800"/>
          </a:xfrm>
          <a:prstGeom prst="roundRect">
            <a:avLst>
              <a:gd name="adj" fmla="val 2500"/>
            </a:avLst>
          </a:prstGeom>
          <a:solidFill>
            <a:srgbClr val="FFFFFF"/>
          </a:solidFill>
          <a:ln w="12700" cap="flat" cmpd="sng">
            <a:solidFill>
              <a:srgbClr val="CBD5E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400" b="0" i="0" u="none" strike="noStrike" cap="none">
              <a:solidFill>
                <a:schemeClr val="dk1"/>
              </a:solidFill>
              <a:latin typeface="Helvetica Neue"/>
              <a:ea typeface="Helvetica Neue"/>
              <a:cs typeface="Helvetica Neue"/>
              <a:sym typeface="Helvetica Neue"/>
            </a:endParaRPr>
          </a:p>
        </p:txBody>
      </p:sp>
      <p:sp>
        <p:nvSpPr>
          <p:cNvPr id="544" name="Google Shape;544;p51"/>
          <p:cNvSpPr/>
          <p:nvPr/>
        </p:nvSpPr>
        <p:spPr>
          <a:xfrm>
            <a:off x="2338536" y="1240894"/>
            <a:ext cx="185100" cy="25800"/>
          </a:xfrm>
          <a:prstGeom prst="roundRect">
            <a:avLst>
              <a:gd name="adj" fmla="val 2500"/>
            </a:avLst>
          </a:prstGeom>
          <a:solidFill>
            <a:srgbClr val="FFFFFF"/>
          </a:solidFill>
          <a:ln w="12700" cap="flat" cmpd="sng">
            <a:solidFill>
              <a:srgbClr val="CBD5E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400" b="0" i="0" u="none" strike="noStrike" cap="none">
              <a:solidFill>
                <a:schemeClr val="dk1"/>
              </a:solidFill>
              <a:latin typeface="Helvetica Neue"/>
              <a:ea typeface="Helvetica Neue"/>
              <a:cs typeface="Helvetica Neue"/>
              <a:sym typeface="Helvetica Neue"/>
            </a:endParaRPr>
          </a:p>
        </p:txBody>
      </p:sp>
      <p:sp>
        <p:nvSpPr>
          <p:cNvPr id="545" name="Google Shape;545;p51"/>
          <p:cNvSpPr/>
          <p:nvPr/>
        </p:nvSpPr>
        <p:spPr>
          <a:xfrm>
            <a:off x="404575" y="1609249"/>
            <a:ext cx="2263200" cy="562200"/>
          </a:xfrm>
          <a:prstGeom prst="roundRect">
            <a:avLst>
              <a:gd name="adj" fmla="val 2500"/>
            </a:avLst>
          </a:prstGeom>
          <a:solidFill>
            <a:srgbClr val="FFFFFF"/>
          </a:solidFill>
          <a:ln w="12700" cap="flat" cmpd="sng">
            <a:solidFill>
              <a:srgbClr val="CBD5E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400" b="0" i="0" u="none" strike="noStrike" cap="none">
              <a:solidFill>
                <a:schemeClr val="dk1"/>
              </a:solidFill>
              <a:latin typeface="Helvetica Neue"/>
              <a:ea typeface="Helvetica Neue"/>
              <a:cs typeface="Helvetica Neue"/>
              <a:sym typeface="Helvetica Neue"/>
            </a:endParaRPr>
          </a:p>
        </p:txBody>
      </p:sp>
      <p:sp>
        <p:nvSpPr>
          <p:cNvPr id="546" name="Google Shape;546;p51"/>
          <p:cNvSpPr/>
          <p:nvPr/>
        </p:nvSpPr>
        <p:spPr>
          <a:xfrm>
            <a:off x="404574" y="1609248"/>
            <a:ext cx="34200" cy="562200"/>
          </a:xfrm>
          <a:prstGeom prst="roundRect">
            <a:avLst>
              <a:gd name="adj" fmla="val 16667"/>
            </a:avLst>
          </a:prstGeom>
          <a:solidFill>
            <a:srgbClr val="1B8A5A"/>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b="0" i="0" u="none" strike="noStrike" cap="none">
              <a:solidFill>
                <a:schemeClr val="dk1"/>
              </a:solidFill>
              <a:latin typeface="Helvetica Neue"/>
              <a:ea typeface="Helvetica Neue"/>
              <a:cs typeface="Helvetica Neue"/>
              <a:sym typeface="Helvetica Neue"/>
            </a:endParaRPr>
          </a:p>
        </p:txBody>
      </p:sp>
      <p:sp>
        <p:nvSpPr>
          <p:cNvPr id="547" name="Google Shape;547;p51"/>
          <p:cNvSpPr/>
          <p:nvPr/>
        </p:nvSpPr>
        <p:spPr>
          <a:xfrm>
            <a:off x="528024" y="1626412"/>
            <a:ext cx="2057400" cy="153900"/>
          </a:xfrm>
          <a:prstGeom prst="roundRect">
            <a:avLst>
              <a:gd name="adj" fmla="val 16667"/>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34155"/>
              </a:buClr>
              <a:buSzPts val="600"/>
              <a:buFont typeface="Helvetica Neue"/>
              <a:buNone/>
            </a:pPr>
            <a:r>
              <a:rPr lang="en" sz="700" b="1" i="0" u="none" strike="noStrike" cap="none">
                <a:solidFill>
                  <a:srgbClr val="334155"/>
                </a:solidFill>
                <a:latin typeface="Helvetica Neue"/>
                <a:ea typeface="Helvetica Neue"/>
                <a:cs typeface="Helvetica Neue"/>
                <a:sym typeface="Helvetica Neue"/>
              </a:rPr>
              <a:t>MỤC TIÊU</a:t>
            </a:r>
            <a:endParaRPr sz="700" b="0" i="0" u="none" strike="noStrike" cap="none">
              <a:solidFill>
                <a:schemeClr val="dk1"/>
              </a:solidFill>
              <a:latin typeface="Calibri"/>
              <a:ea typeface="Calibri"/>
              <a:cs typeface="Calibri"/>
              <a:sym typeface="Calibri"/>
            </a:endParaRPr>
          </a:p>
        </p:txBody>
      </p:sp>
      <p:sp>
        <p:nvSpPr>
          <p:cNvPr id="548" name="Google Shape;548;p51"/>
          <p:cNvSpPr/>
          <p:nvPr/>
        </p:nvSpPr>
        <p:spPr>
          <a:xfrm>
            <a:off x="528025" y="1763474"/>
            <a:ext cx="2057400" cy="291600"/>
          </a:xfrm>
          <a:prstGeom prst="roundRect">
            <a:avLst>
              <a:gd name="adj" fmla="val 16667"/>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B8A5A"/>
              </a:buClr>
              <a:buSzPts val="800"/>
              <a:buFont typeface="Helvetica Neue"/>
              <a:buNone/>
            </a:pPr>
            <a:r>
              <a:rPr lang="en" sz="900" b="1" i="0" u="none" strike="noStrike" cap="none">
                <a:solidFill>
                  <a:srgbClr val="1B8A5A"/>
                </a:solidFill>
                <a:latin typeface="Helvetica Neue"/>
                <a:ea typeface="Helvetica Neue"/>
                <a:cs typeface="Helvetica Neue"/>
                <a:sym typeface="Helvetica Neue"/>
              </a:rPr>
              <a:t>Hoàn thành Video training D2-D</a:t>
            </a:r>
            <a:r>
              <a:rPr lang="en" sz="900" b="1">
                <a:solidFill>
                  <a:srgbClr val="1B8A5A"/>
                </a:solidFill>
                <a:latin typeface="Helvetica Neue"/>
                <a:ea typeface="Helvetica Neue"/>
                <a:cs typeface="Helvetica Neue"/>
                <a:sym typeface="Helvetica Neue"/>
              </a:rPr>
              <a:t>5</a:t>
            </a:r>
            <a:r>
              <a:rPr lang="en" sz="900" b="1" i="0" u="none" strike="noStrike" cap="none">
                <a:solidFill>
                  <a:srgbClr val="1B8A5A"/>
                </a:solidFill>
                <a:latin typeface="Helvetica Neue"/>
                <a:ea typeface="Helvetica Neue"/>
                <a:cs typeface="Helvetica Neue"/>
                <a:sym typeface="Helvetica Neue"/>
              </a:rPr>
              <a:t> trong tháng 8</a:t>
            </a:r>
            <a:endParaRPr sz="900" b="0" i="0" u="none" strike="noStrike" cap="none">
              <a:solidFill>
                <a:schemeClr val="dk1"/>
              </a:solidFill>
              <a:latin typeface="Calibri"/>
              <a:ea typeface="Calibri"/>
              <a:cs typeface="Calibri"/>
              <a:sym typeface="Calibri"/>
            </a:endParaRPr>
          </a:p>
        </p:txBody>
      </p:sp>
      <p:sp>
        <p:nvSpPr>
          <p:cNvPr id="549" name="Google Shape;549;p51"/>
          <p:cNvSpPr/>
          <p:nvPr/>
        </p:nvSpPr>
        <p:spPr>
          <a:xfrm>
            <a:off x="404580" y="2171573"/>
            <a:ext cx="2263200" cy="49200"/>
          </a:xfrm>
          <a:prstGeom prst="roundRect">
            <a:avLst>
              <a:gd name="adj" fmla="val 16667"/>
            </a:avLst>
          </a:prstGeom>
          <a:no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b="0" i="0" u="none" strike="noStrike" cap="none">
              <a:solidFill>
                <a:schemeClr val="dk1"/>
              </a:solidFill>
              <a:latin typeface="Helvetica Neue"/>
              <a:ea typeface="Helvetica Neue"/>
              <a:cs typeface="Helvetica Neue"/>
              <a:sym typeface="Helvetica Neue"/>
            </a:endParaRPr>
          </a:p>
        </p:txBody>
      </p:sp>
      <p:sp>
        <p:nvSpPr>
          <p:cNvPr id="550" name="Google Shape;550;p51"/>
          <p:cNvSpPr/>
          <p:nvPr/>
        </p:nvSpPr>
        <p:spPr>
          <a:xfrm>
            <a:off x="404500" y="2252250"/>
            <a:ext cx="2263200" cy="2496900"/>
          </a:xfrm>
          <a:prstGeom prst="roundRect">
            <a:avLst>
              <a:gd name="adj" fmla="val 2500"/>
            </a:avLst>
          </a:prstGeom>
          <a:solidFill>
            <a:srgbClr val="FFFFFF"/>
          </a:solidFill>
          <a:ln w="12700" cap="flat" cmpd="sng">
            <a:solidFill>
              <a:srgbClr val="CBD5E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F172A"/>
              </a:buClr>
              <a:buSzPts val="800"/>
              <a:buFont typeface="Helvetica Neue"/>
              <a:buNone/>
            </a:pPr>
            <a:endParaRPr sz="900" b="1">
              <a:solidFill>
                <a:srgbClr val="0F172A"/>
              </a:solidFill>
              <a:latin typeface="Helvetica Neue"/>
              <a:ea typeface="Helvetica Neue"/>
              <a:cs typeface="Helvetica Neue"/>
              <a:sym typeface="Helvetica Neue"/>
            </a:endParaRPr>
          </a:p>
        </p:txBody>
      </p:sp>
      <p:sp>
        <p:nvSpPr>
          <p:cNvPr id="551" name="Google Shape;551;p51"/>
          <p:cNvSpPr/>
          <p:nvPr/>
        </p:nvSpPr>
        <p:spPr>
          <a:xfrm>
            <a:off x="541750" y="2326603"/>
            <a:ext cx="1988700" cy="262200"/>
          </a:xfrm>
          <a:prstGeom prst="roundRect">
            <a:avLst>
              <a:gd name="adj" fmla="val 16667"/>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F172A"/>
              </a:buClr>
              <a:buSzPts val="800"/>
              <a:buFont typeface="Helvetica Neue"/>
              <a:buNone/>
            </a:pPr>
            <a:r>
              <a:rPr lang="en" sz="900" b="1">
                <a:solidFill>
                  <a:srgbClr val="0F172A"/>
                </a:solidFill>
                <a:latin typeface="Helvetica Neue"/>
                <a:ea typeface="Helvetica Neue"/>
                <a:cs typeface="Helvetica Neue"/>
                <a:sym typeface="Helvetica Neue"/>
              </a:rPr>
              <a:t>TIẾN ĐỘ</a:t>
            </a:r>
            <a:endParaRPr sz="900" b="1">
              <a:solidFill>
                <a:srgbClr val="0F172A"/>
              </a:solidFill>
              <a:latin typeface="Helvetica Neue"/>
              <a:ea typeface="Helvetica Neue"/>
              <a:cs typeface="Helvetica Neue"/>
              <a:sym typeface="Helvetica Neue"/>
            </a:endParaRPr>
          </a:p>
        </p:txBody>
      </p:sp>
      <p:sp>
        <p:nvSpPr>
          <p:cNvPr id="552" name="Google Shape;552;p51"/>
          <p:cNvSpPr/>
          <p:nvPr/>
        </p:nvSpPr>
        <p:spPr>
          <a:xfrm>
            <a:off x="2839170" y="788533"/>
            <a:ext cx="2894100" cy="41100"/>
          </a:xfrm>
          <a:prstGeom prst="roundRect">
            <a:avLst>
              <a:gd name="adj" fmla="val 16667"/>
            </a:avLst>
          </a:prstGeom>
          <a:no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b="0" i="0" u="none" strike="noStrike" cap="none">
              <a:solidFill>
                <a:schemeClr val="dk1"/>
              </a:solidFill>
              <a:latin typeface="Helvetica Neue"/>
              <a:ea typeface="Helvetica Neue"/>
              <a:cs typeface="Helvetica Neue"/>
              <a:sym typeface="Helvetica Neue"/>
            </a:endParaRPr>
          </a:p>
        </p:txBody>
      </p:sp>
      <p:sp>
        <p:nvSpPr>
          <p:cNvPr id="553" name="Google Shape;553;p51"/>
          <p:cNvSpPr/>
          <p:nvPr/>
        </p:nvSpPr>
        <p:spPr>
          <a:xfrm>
            <a:off x="2839170" y="829675"/>
            <a:ext cx="2894100" cy="1962000"/>
          </a:xfrm>
          <a:prstGeom prst="roundRect">
            <a:avLst>
              <a:gd name="adj" fmla="val 2500"/>
            </a:avLst>
          </a:prstGeom>
          <a:solidFill>
            <a:srgbClr val="FFFFFF"/>
          </a:solidFill>
          <a:ln w="12700" cap="flat" cmpd="sng">
            <a:solidFill>
              <a:srgbClr val="CBD5E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400" b="0" i="0" u="none" strike="noStrike" cap="none">
              <a:solidFill>
                <a:schemeClr val="dk1"/>
              </a:solidFill>
              <a:latin typeface="Helvetica Neue"/>
              <a:ea typeface="Helvetica Neue"/>
              <a:cs typeface="Helvetica Neue"/>
              <a:sym typeface="Helvetica Neue"/>
            </a:endParaRPr>
          </a:p>
        </p:txBody>
      </p:sp>
      <p:sp>
        <p:nvSpPr>
          <p:cNvPr id="554" name="Google Shape;554;p51"/>
          <p:cNvSpPr/>
          <p:nvPr/>
        </p:nvSpPr>
        <p:spPr>
          <a:xfrm>
            <a:off x="2962614" y="966748"/>
            <a:ext cx="233100" cy="291600"/>
          </a:xfrm>
          <a:prstGeom prst="roundRect">
            <a:avLst>
              <a:gd name="adj" fmla="val 16667"/>
            </a:avLst>
          </a:prstGeom>
          <a:solidFill>
            <a:srgbClr val="6B6B6B"/>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b="0" i="0" u="none" strike="noStrike" cap="none">
              <a:solidFill>
                <a:schemeClr val="dk1"/>
              </a:solidFill>
              <a:latin typeface="Helvetica Neue"/>
              <a:ea typeface="Helvetica Neue"/>
              <a:cs typeface="Helvetica Neue"/>
              <a:sym typeface="Helvetica Neue"/>
            </a:endParaRPr>
          </a:p>
        </p:txBody>
      </p:sp>
      <p:sp>
        <p:nvSpPr>
          <p:cNvPr id="555" name="Google Shape;555;p51"/>
          <p:cNvSpPr/>
          <p:nvPr/>
        </p:nvSpPr>
        <p:spPr>
          <a:xfrm>
            <a:off x="2962614" y="966748"/>
            <a:ext cx="233100" cy="291600"/>
          </a:xfrm>
          <a:prstGeom prst="roundRect">
            <a:avLst>
              <a:gd name="adj" fmla="val 16667"/>
            </a:avLst>
          </a:prstGeom>
          <a:solidFill>
            <a:srgbClr val="1255CC"/>
          </a:solidFill>
          <a:ln>
            <a:noFill/>
          </a:ln>
        </p:spPr>
        <p:txBody>
          <a:bodyPr spcFirstLastPara="1" wrap="square" lIns="0" tIns="0" rIns="0" bIns="0" anchor="ctr" anchorCtr="0">
            <a:noAutofit/>
          </a:bodyPr>
          <a:lstStyle/>
          <a:p>
            <a:pPr marL="0" marR="0" lvl="0" indent="0" algn="ctr" rtl="0">
              <a:spcBef>
                <a:spcPts val="0"/>
              </a:spcBef>
              <a:spcAft>
                <a:spcPts val="0"/>
              </a:spcAft>
              <a:buClr>
                <a:srgbClr val="334155"/>
              </a:buClr>
              <a:buSzPts val="800"/>
              <a:buFont typeface="Helvetica Neue"/>
              <a:buNone/>
            </a:pPr>
            <a:r>
              <a:rPr lang="en" sz="800" b="1" i="0" u="none" strike="noStrike" cap="none">
                <a:solidFill>
                  <a:schemeClr val="lt1"/>
                </a:solidFill>
                <a:latin typeface="Helvetica Neue"/>
                <a:ea typeface="Helvetica Neue"/>
                <a:cs typeface="Helvetica Neue"/>
                <a:sym typeface="Helvetica Neue"/>
              </a:rPr>
              <a:t>1</a:t>
            </a:r>
            <a:endParaRPr sz="800" b="0" i="0" u="none" strike="noStrike" cap="none">
              <a:solidFill>
                <a:schemeClr val="lt1"/>
              </a:solidFill>
              <a:latin typeface="Calibri"/>
              <a:ea typeface="Calibri"/>
              <a:cs typeface="Calibri"/>
              <a:sym typeface="Calibri"/>
            </a:endParaRPr>
          </a:p>
        </p:txBody>
      </p:sp>
      <p:sp>
        <p:nvSpPr>
          <p:cNvPr id="556" name="Google Shape;556;p51"/>
          <p:cNvSpPr/>
          <p:nvPr/>
        </p:nvSpPr>
        <p:spPr>
          <a:xfrm>
            <a:off x="3264367" y="983882"/>
            <a:ext cx="2345400" cy="274500"/>
          </a:xfrm>
          <a:prstGeom prst="roundRect">
            <a:avLst>
              <a:gd name="adj" fmla="val 16667"/>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F172A"/>
              </a:buClr>
              <a:buSzPts val="800"/>
              <a:buFont typeface="Helvetica Neue"/>
              <a:buNone/>
            </a:pPr>
            <a:r>
              <a:rPr lang="en" sz="900" b="1">
                <a:solidFill>
                  <a:srgbClr val="0F172A"/>
                </a:solidFill>
                <a:latin typeface="Helvetica Neue"/>
                <a:ea typeface="Helvetica Neue"/>
                <a:cs typeface="Helvetica Neue"/>
                <a:sym typeface="Helvetica Neue"/>
              </a:rPr>
              <a:t>Action</a:t>
            </a:r>
            <a:endParaRPr sz="900" b="0" i="0" u="none" strike="noStrike" cap="none">
              <a:solidFill>
                <a:schemeClr val="dk1"/>
              </a:solidFill>
              <a:latin typeface="Calibri"/>
              <a:ea typeface="Calibri"/>
              <a:cs typeface="Calibri"/>
              <a:sym typeface="Calibri"/>
            </a:endParaRPr>
          </a:p>
        </p:txBody>
      </p:sp>
      <p:sp>
        <p:nvSpPr>
          <p:cNvPr id="557" name="Google Shape;557;p51"/>
          <p:cNvSpPr/>
          <p:nvPr/>
        </p:nvSpPr>
        <p:spPr>
          <a:xfrm>
            <a:off x="2990050" y="1395086"/>
            <a:ext cx="2592300" cy="1356600"/>
          </a:xfrm>
          <a:prstGeom prst="roundRect">
            <a:avLst>
              <a:gd name="adj" fmla="val 16667"/>
            </a:avLst>
          </a:prstGeom>
          <a:noFill/>
          <a:ln>
            <a:noFill/>
          </a:ln>
        </p:spPr>
        <p:txBody>
          <a:bodyPr spcFirstLastPara="1" wrap="square" lIns="0" tIns="0" rIns="0" bIns="0" anchor="t" anchorCtr="0">
            <a:noAutofit/>
          </a:bodyPr>
          <a:lstStyle/>
          <a:p>
            <a:pPr marL="114300" marR="0" lvl="0" indent="-171450" algn="l" rtl="0">
              <a:spcBef>
                <a:spcPts val="0"/>
              </a:spcBef>
              <a:spcAft>
                <a:spcPts val="0"/>
              </a:spcAft>
              <a:buClr>
                <a:srgbClr val="334155"/>
              </a:buClr>
              <a:buSzPts val="900"/>
              <a:buFont typeface="Helvetica Neue"/>
              <a:buChar char="-"/>
            </a:pPr>
            <a:r>
              <a:rPr lang="en" sz="900">
                <a:solidFill>
                  <a:srgbClr val="334155"/>
                </a:solidFill>
                <a:latin typeface="Helvetica Neue"/>
                <a:ea typeface="Helvetica Neue"/>
                <a:cs typeface="Helvetica Neue"/>
                <a:sym typeface="Helvetica Neue"/>
              </a:rPr>
              <a:t>Hoàn thành video training ở D4</a:t>
            </a:r>
            <a:endParaRPr sz="900">
              <a:solidFill>
                <a:srgbClr val="334155"/>
              </a:solidFill>
              <a:latin typeface="Helvetica Neue"/>
              <a:ea typeface="Helvetica Neue"/>
              <a:cs typeface="Helvetica Neue"/>
              <a:sym typeface="Helvetica Neue"/>
            </a:endParaRPr>
          </a:p>
          <a:p>
            <a:pPr marL="0" marR="0" lvl="0" indent="0" algn="l" rtl="0">
              <a:spcBef>
                <a:spcPts val="0"/>
              </a:spcBef>
              <a:spcAft>
                <a:spcPts val="0"/>
              </a:spcAft>
              <a:buNone/>
            </a:pPr>
            <a:endParaRPr sz="900">
              <a:solidFill>
                <a:srgbClr val="334155"/>
              </a:solidFill>
              <a:latin typeface="Helvetica Neue"/>
              <a:ea typeface="Helvetica Neue"/>
              <a:cs typeface="Helvetica Neue"/>
              <a:sym typeface="Helvetica Neue"/>
            </a:endParaRPr>
          </a:p>
          <a:p>
            <a:pPr marL="114300" marR="0" lvl="0" indent="-171450" algn="l" rtl="0">
              <a:spcBef>
                <a:spcPts val="0"/>
              </a:spcBef>
              <a:spcAft>
                <a:spcPts val="0"/>
              </a:spcAft>
              <a:buClr>
                <a:srgbClr val="334155"/>
              </a:buClr>
              <a:buSzPts val="900"/>
              <a:buFont typeface="Helvetica Neue"/>
              <a:buChar char="-"/>
            </a:pPr>
            <a:r>
              <a:rPr lang="en" sz="900">
                <a:solidFill>
                  <a:srgbClr val="334155"/>
                </a:solidFill>
                <a:latin typeface="Helvetica Neue"/>
                <a:ea typeface="Helvetica Neue"/>
                <a:cs typeface="Helvetica Neue"/>
                <a:sym typeface="Helvetica Neue"/>
              </a:rPr>
              <a:t>Thảo luận với CM và DT lên nội dung cho D2.</a:t>
            </a:r>
            <a:br>
              <a:rPr lang="en" sz="900">
                <a:solidFill>
                  <a:srgbClr val="334155"/>
                </a:solidFill>
                <a:latin typeface="Helvetica Neue"/>
                <a:ea typeface="Helvetica Neue"/>
                <a:cs typeface="Helvetica Neue"/>
                <a:sym typeface="Helvetica Neue"/>
              </a:rPr>
            </a:br>
            <a:endParaRPr sz="900">
              <a:solidFill>
                <a:srgbClr val="334155"/>
              </a:solidFill>
              <a:latin typeface="Helvetica Neue"/>
              <a:ea typeface="Helvetica Neue"/>
              <a:cs typeface="Helvetica Neue"/>
              <a:sym typeface="Helvetica Neue"/>
            </a:endParaRPr>
          </a:p>
          <a:p>
            <a:pPr marL="114300" marR="0" lvl="0" indent="-171450" algn="l" rtl="0">
              <a:spcBef>
                <a:spcPts val="0"/>
              </a:spcBef>
              <a:spcAft>
                <a:spcPts val="0"/>
              </a:spcAft>
              <a:buClr>
                <a:srgbClr val="334155"/>
              </a:buClr>
              <a:buSzPts val="900"/>
              <a:buFont typeface="Helvetica Neue"/>
              <a:buChar char="-"/>
            </a:pPr>
            <a:r>
              <a:rPr lang="en" sz="900">
                <a:solidFill>
                  <a:srgbClr val="334155"/>
                </a:solidFill>
                <a:latin typeface="Helvetica Neue"/>
                <a:ea typeface="Helvetica Neue"/>
                <a:cs typeface="Helvetica Neue"/>
                <a:sym typeface="Helvetica Neue"/>
              </a:rPr>
              <a:t>Tiến hành build luồng noti tự động đến đúng nhóm tài xế theo giai đoạn.</a:t>
            </a:r>
            <a:br>
              <a:rPr lang="en" sz="900">
                <a:solidFill>
                  <a:srgbClr val="334155"/>
                </a:solidFill>
                <a:latin typeface="Helvetica Neue"/>
                <a:ea typeface="Helvetica Neue"/>
                <a:cs typeface="Helvetica Neue"/>
                <a:sym typeface="Helvetica Neue"/>
              </a:rPr>
            </a:br>
            <a:endParaRPr sz="900">
              <a:solidFill>
                <a:srgbClr val="334155"/>
              </a:solidFill>
              <a:latin typeface="Helvetica Neue"/>
              <a:ea typeface="Helvetica Neue"/>
              <a:cs typeface="Helvetica Neue"/>
              <a:sym typeface="Helvetica Neue"/>
            </a:endParaRPr>
          </a:p>
          <a:p>
            <a:pPr marL="114300" marR="0" lvl="0" indent="-171450" algn="l" rtl="0">
              <a:spcBef>
                <a:spcPts val="0"/>
              </a:spcBef>
              <a:spcAft>
                <a:spcPts val="0"/>
              </a:spcAft>
              <a:buClr>
                <a:srgbClr val="334155"/>
              </a:buClr>
              <a:buSzPts val="900"/>
              <a:buFont typeface="Helvetica Neue"/>
              <a:buChar char="-"/>
            </a:pPr>
            <a:r>
              <a:rPr lang="en" sz="900">
                <a:solidFill>
                  <a:srgbClr val="334155"/>
                </a:solidFill>
                <a:latin typeface="Helvetica Neue"/>
                <a:ea typeface="Helvetica Neue"/>
                <a:cs typeface="Helvetica Neue"/>
                <a:sym typeface="Helvetica Neue"/>
              </a:rPr>
              <a:t>Hoàn thiện hình ảnh banner kèm nội dung noti D0 - D4. </a:t>
            </a:r>
            <a:endParaRPr sz="900">
              <a:solidFill>
                <a:srgbClr val="334155"/>
              </a:solidFill>
              <a:latin typeface="Helvetica Neue"/>
              <a:ea typeface="Helvetica Neue"/>
              <a:cs typeface="Helvetica Neue"/>
              <a:sym typeface="Helvetica Neue"/>
            </a:endParaRPr>
          </a:p>
        </p:txBody>
      </p:sp>
      <p:sp>
        <p:nvSpPr>
          <p:cNvPr id="558" name="Google Shape;558;p51"/>
          <p:cNvSpPr/>
          <p:nvPr/>
        </p:nvSpPr>
        <p:spPr>
          <a:xfrm>
            <a:off x="5842974" y="788533"/>
            <a:ext cx="2894100" cy="41100"/>
          </a:xfrm>
          <a:prstGeom prst="roundRect">
            <a:avLst>
              <a:gd name="adj" fmla="val 16667"/>
            </a:avLst>
          </a:prstGeom>
          <a:no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b="0" i="0" u="none" strike="noStrike" cap="none">
              <a:solidFill>
                <a:schemeClr val="dk1"/>
              </a:solidFill>
              <a:latin typeface="Helvetica Neue"/>
              <a:ea typeface="Helvetica Neue"/>
              <a:cs typeface="Helvetica Neue"/>
              <a:sym typeface="Helvetica Neue"/>
            </a:endParaRPr>
          </a:p>
        </p:txBody>
      </p:sp>
      <p:sp>
        <p:nvSpPr>
          <p:cNvPr id="559" name="Google Shape;559;p51"/>
          <p:cNvSpPr/>
          <p:nvPr/>
        </p:nvSpPr>
        <p:spPr>
          <a:xfrm>
            <a:off x="5842975" y="829675"/>
            <a:ext cx="2894100" cy="1962000"/>
          </a:xfrm>
          <a:prstGeom prst="roundRect">
            <a:avLst>
              <a:gd name="adj" fmla="val 2500"/>
            </a:avLst>
          </a:prstGeom>
          <a:solidFill>
            <a:srgbClr val="FFFFFF"/>
          </a:solidFill>
          <a:ln w="12700" cap="flat" cmpd="sng">
            <a:solidFill>
              <a:srgbClr val="CBD5E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400" b="0" i="0" u="none" strike="noStrike" cap="none">
              <a:solidFill>
                <a:schemeClr val="dk1"/>
              </a:solidFill>
              <a:latin typeface="Helvetica Neue"/>
              <a:ea typeface="Helvetica Neue"/>
              <a:cs typeface="Helvetica Neue"/>
              <a:sym typeface="Helvetica Neue"/>
            </a:endParaRPr>
          </a:p>
        </p:txBody>
      </p:sp>
      <p:sp>
        <p:nvSpPr>
          <p:cNvPr id="560" name="Google Shape;560;p51"/>
          <p:cNvSpPr/>
          <p:nvPr/>
        </p:nvSpPr>
        <p:spPr>
          <a:xfrm>
            <a:off x="5966419" y="966748"/>
            <a:ext cx="233100" cy="291600"/>
          </a:xfrm>
          <a:prstGeom prst="roundRect">
            <a:avLst>
              <a:gd name="adj" fmla="val 16667"/>
            </a:avLst>
          </a:prstGeom>
          <a:solidFill>
            <a:srgbClr val="1B8A5A"/>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b="0" i="0" u="none" strike="noStrike" cap="none">
              <a:solidFill>
                <a:schemeClr val="dk1"/>
              </a:solidFill>
              <a:latin typeface="Helvetica Neue"/>
              <a:ea typeface="Helvetica Neue"/>
              <a:cs typeface="Helvetica Neue"/>
              <a:sym typeface="Helvetica Neue"/>
            </a:endParaRPr>
          </a:p>
        </p:txBody>
      </p:sp>
      <p:sp>
        <p:nvSpPr>
          <p:cNvPr id="561" name="Google Shape;561;p51"/>
          <p:cNvSpPr/>
          <p:nvPr/>
        </p:nvSpPr>
        <p:spPr>
          <a:xfrm>
            <a:off x="5966419" y="966748"/>
            <a:ext cx="233100" cy="291600"/>
          </a:xfrm>
          <a:prstGeom prst="roundRect">
            <a:avLst>
              <a:gd name="adj" fmla="val 16667"/>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334155"/>
              </a:buClr>
              <a:buSzPts val="800"/>
              <a:buFont typeface="Helvetica Neue"/>
              <a:buNone/>
            </a:pPr>
            <a:r>
              <a:rPr lang="en" sz="800" b="1" i="0" u="none" strike="noStrike" cap="none">
                <a:solidFill>
                  <a:schemeClr val="lt1"/>
                </a:solidFill>
                <a:latin typeface="Helvetica Neue"/>
                <a:ea typeface="Helvetica Neue"/>
                <a:cs typeface="Helvetica Neue"/>
                <a:sym typeface="Helvetica Neue"/>
              </a:rPr>
              <a:t>!</a:t>
            </a:r>
            <a:endParaRPr sz="800" b="0" i="0" u="none" strike="noStrike" cap="none">
              <a:solidFill>
                <a:schemeClr val="lt1"/>
              </a:solidFill>
              <a:latin typeface="Calibri"/>
              <a:ea typeface="Calibri"/>
              <a:cs typeface="Calibri"/>
              <a:sym typeface="Calibri"/>
            </a:endParaRPr>
          </a:p>
        </p:txBody>
      </p:sp>
      <p:sp>
        <p:nvSpPr>
          <p:cNvPr id="562" name="Google Shape;562;p51"/>
          <p:cNvSpPr/>
          <p:nvPr/>
        </p:nvSpPr>
        <p:spPr>
          <a:xfrm>
            <a:off x="6268171" y="983882"/>
            <a:ext cx="2345400" cy="274500"/>
          </a:xfrm>
          <a:prstGeom prst="roundRect">
            <a:avLst>
              <a:gd name="adj" fmla="val 16667"/>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DC2626"/>
              </a:buClr>
              <a:buSzPts val="800"/>
              <a:buFont typeface="Helvetica Neue"/>
              <a:buNone/>
            </a:pPr>
            <a:r>
              <a:rPr lang="en" sz="900" b="1" u="sng">
                <a:solidFill>
                  <a:schemeClr val="hlink"/>
                </a:solidFill>
                <a:latin typeface="Helvetica Neue"/>
                <a:ea typeface="Helvetica Neue"/>
                <a:cs typeface="Helvetica Neue"/>
                <a:sym typeface="Helvetica Neue"/>
                <a:hlinkClick r:id="rId3"/>
              </a:rPr>
              <a:t>Khảo sát nhanh</a:t>
            </a:r>
            <a:endParaRPr sz="900" b="0" i="0" u="none" strike="noStrike" cap="none">
              <a:solidFill>
                <a:schemeClr val="dk1"/>
              </a:solidFill>
              <a:latin typeface="Calibri"/>
              <a:ea typeface="Calibri"/>
              <a:cs typeface="Calibri"/>
              <a:sym typeface="Calibri"/>
            </a:endParaRPr>
          </a:p>
        </p:txBody>
      </p:sp>
      <p:sp>
        <p:nvSpPr>
          <p:cNvPr id="563" name="Google Shape;563;p51"/>
          <p:cNvSpPr/>
          <p:nvPr/>
        </p:nvSpPr>
        <p:spPr>
          <a:xfrm>
            <a:off x="5993850" y="1295800"/>
            <a:ext cx="2736300" cy="1341900"/>
          </a:xfrm>
          <a:prstGeom prst="roundRect">
            <a:avLst>
              <a:gd name="adj" fmla="val 16667"/>
            </a:avLst>
          </a:prstGeom>
          <a:noFill/>
          <a:ln>
            <a:noFill/>
          </a:ln>
        </p:spPr>
        <p:txBody>
          <a:bodyPr spcFirstLastPara="1" wrap="square" lIns="0" tIns="0" rIns="0" bIns="0" anchor="t" anchorCtr="0">
            <a:noAutofit/>
          </a:bodyPr>
          <a:lstStyle/>
          <a:p>
            <a:pPr marL="0" marR="0" lvl="0" indent="-171450" algn="l" rtl="0">
              <a:spcBef>
                <a:spcPts val="0"/>
              </a:spcBef>
              <a:spcAft>
                <a:spcPts val="0"/>
              </a:spcAft>
              <a:buClr>
                <a:srgbClr val="334155"/>
              </a:buClr>
              <a:buSzPts val="900"/>
              <a:buFont typeface="Helvetica Neue"/>
              <a:buChar char="-"/>
            </a:pPr>
            <a:r>
              <a:rPr lang="en" sz="900">
                <a:solidFill>
                  <a:srgbClr val="334155"/>
                </a:solidFill>
                <a:latin typeface="Helvetica Neue"/>
                <a:ea typeface="Helvetica Neue"/>
                <a:cs typeface="Helvetica Neue"/>
                <a:sym typeface="Helvetica Neue"/>
              </a:rPr>
              <a:t>Tiếp cận: Với 100 TX có FCT từ 3-7/8, team đã tiếp cận 84 TX, trong đó kết nối được 50 TX (~60%).</a:t>
            </a:r>
            <a:endParaRPr sz="900">
              <a:solidFill>
                <a:srgbClr val="334155"/>
              </a:solidFill>
              <a:latin typeface="Helvetica Neue"/>
              <a:ea typeface="Helvetica Neue"/>
              <a:cs typeface="Helvetica Neue"/>
              <a:sym typeface="Helvetica Neue"/>
            </a:endParaRPr>
          </a:p>
          <a:p>
            <a:pPr marL="0" marR="0" lvl="0" indent="-171450" algn="l" rtl="0">
              <a:spcBef>
                <a:spcPts val="0"/>
              </a:spcBef>
              <a:spcAft>
                <a:spcPts val="0"/>
              </a:spcAft>
              <a:buClr>
                <a:srgbClr val="334155"/>
              </a:buClr>
              <a:buSzPts val="900"/>
              <a:buFont typeface="Helvetica Neue"/>
              <a:buChar char="-"/>
            </a:pPr>
            <a:r>
              <a:rPr lang="en" sz="900">
                <a:solidFill>
                  <a:srgbClr val="334155"/>
                </a:solidFill>
                <a:latin typeface="Helvetica Neue"/>
                <a:ea typeface="Helvetica Neue"/>
                <a:cs typeface="Helvetica Neue"/>
                <a:sym typeface="Helvetica Neue"/>
              </a:rPr>
              <a:t>Feedback: 26/50 TX đã xem video đánh giá nội dung trực quan, dễ hiểu và có thể áp dụng ngay, những tx chưa xem được kết bạn gửi lại qua zalo.</a:t>
            </a:r>
            <a:endParaRPr sz="900">
              <a:solidFill>
                <a:srgbClr val="334155"/>
              </a:solidFill>
              <a:latin typeface="Helvetica Neue"/>
              <a:ea typeface="Helvetica Neue"/>
              <a:cs typeface="Helvetica Neue"/>
              <a:sym typeface="Helvetica Neue"/>
            </a:endParaRPr>
          </a:p>
          <a:p>
            <a:pPr marL="0" marR="0" lvl="0" indent="-171450" algn="l" rtl="0">
              <a:spcBef>
                <a:spcPts val="0"/>
              </a:spcBef>
              <a:spcAft>
                <a:spcPts val="0"/>
              </a:spcAft>
              <a:buClr>
                <a:srgbClr val="334155"/>
              </a:buClr>
              <a:buSzPts val="900"/>
              <a:buFont typeface="Helvetica Neue"/>
              <a:buChar char="-"/>
            </a:pPr>
            <a:r>
              <a:rPr lang="en" sz="900">
                <a:solidFill>
                  <a:srgbClr val="334155"/>
                </a:solidFill>
                <a:latin typeface="Helvetica Neue"/>
                <a:ea typeface="Helvetica Neue"/>
                <a:cs typeface="Helvetica Neue"/>
                <a:sym typeface="Helvetica Neue"/>
              </a:rPr>
              <a:t>Insight: TX phát sinh thêm các nhu cầu về sai vị trí đơn, hủy đơn khi không liên lạc được người nhận, rút tiền... → phù hợp với các nội dung training trong plan tiếp theo.</a:t>
            </a:r>
            <a:endParaRPr sz="900">
              <a:solidFill>
                <a:srgbClr val="334155"/>
              </a:solidFill>
              <a:latin typeface="Helvetica Neue"/>
              <a:ea typeface="Helvetica Neue"/>
              <a:cs typeface="Helvetica Neue"/>
              <a:sym typeface="Helvetica Neue"/>
            </a:endParaRPr>
          </a:p>
        </p:txBody>
      </p:sp>
      <p:sp>
        <p:nvSpPr>
          <p:cNvPr id="564" name="Google Shape;564;p51"/>
          <p:cNvSpPr/>
          <p:nvPr/>
        </p:nvSpPr>
        <p:spPr>
          <a:xfrm>
            <a:off x="2839170" y="2826157"/>
            <a:ext cx="2894100" cy="49200"/>
          </a:xfrm>
          <a:prstGeom prst="roundRect">
            <a:avLst>
              <a:gd name="adj" fmla="val 16667"/>
            </a:avLst>
          </a:prstGeom>
          <a:no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b="0" i="0" u="none" strike="noStrike" cap="none">
              <a:solidFill>
                <a:schemeClr val="dk1"/>
              </a:solidFill>
              <a:latin typeface="Helvetica Neue"/>
              <a:ea typeface="Helvetica Neue"/>
              <a:cs typeface="Helvetica Neue"/>
              <a:sym typeface="Helvetica Neue"/>
            </a:endParaRPr>
          </a:p>
        </p:txBody>
      </p:sp>
      <p:sp>
        <p:nvSpPr>
          <p:cNvPr id="565" name="Google Shape;565;p51"/>
          <p:cNvSpPr/>
          <p:nvPr/>
        </p:nvSpPr>
        <p:spPr>
          <a:xfrm>
            <a:off x="2839170" y="2875251"/>
            <a:ext cx="2894100" cy="1873800"/>
          </a:xfrm>
          <a:prstGeom prst="roundRect">
            <a:avLst>
              <a:gd name="adj" fmla="val 2500"/>
            </a:avLst>
          </a:prstGeom>
          <a:solidFill>
            <a:srgbClr val="FFFFFF"/>
          </a:solidFill>
          <a:ln w="12700" cap="flat" cmpd="sng">
            <a:solidFill>
              <a:srgbClr val="CBD5E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400" b="0" i="0" u="none" strike="noStrike" cap="none">
              <a:solidFill>
                <a:schemeClr val="dk1"/>
              </a:solidFill>
              <a:latin typeface="Helvetica Neue"/>
              <a:ea typeface="Helvetica Neue"/>
              <a:cs typeface="Helvetica Neue"/>
              <a:sym typeface="Helvetica Neue"/>
            </a:endParaRPr>
          </a:p>
        </p:txBody>
      </p:sp>
      <p:sp>
        <p:nvSpPr>
          <p:cNvPr id="566" name="Google Shape;566;p51"/>
          <p:cNvSpPr/>
          <p:nvPr/>
        </p:nvSpPr>
        <p:spPr>
          <a:xfrm>
            <a:off x="2962614" y="3006168"/>
            <a:ext cx="233100" cy="278400"/>
          </a:xfrm>
          <a:prstGeom prst="roundRect">
            <a:avLst>
              <a:gd name="adj" fmla="val 16667"/>
            </a:avLst>
          </a:prstGeom>
          <a:solidFill>
            <a:srgbClr val="FF7F32"/>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b="0" i="0" u="none" strike="noStrike" cap="none">
              <a:solidFill>
                <a:schemeClr val="dk1"/>
              </a:solidFill>
              <a:latin typeface="Helvetica Neue"/>
              <a:ea typeface="Helvetica Neue"/>
              <a:cs typeface="Helvetica Neue"/>
              <a:sym typeface="Helvetica Neue"/>
            </a:endParaRPr>
          </a:p>
        </p:txBody>
      </p:sp>
      <p:sp>
        <p:nvSpPr>
          <p:cNvPr id="567" name="Google Shape;567;p51"/>
          <p:cNvSpPr/>
          <p:nvPr/>
        </p:nvSpPr>
        <p:spPr>
          <a:xfrm>
            <a:off x="2962614" y="3006168"/>
            <a:ext cx="233100" cy="278400"/>
          </a:xfrm>
          <a:prstGeom prst="roundRect">
            <a:avLst>
              <a:gd name="adj" fmla="val 16667"/>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334155"/>
              </a:buClr>
              <a:buSzPts val="800"/>
              <a:buFont typeface="Helvetica Neue"/>
              <a:buNone/>
            </a:pPr>
            <a:r>
              <a:rPr lang="en" sz="800" b="1" i="0" u="none" strike="noStrike" cap="none">
                <a:solidFill>
                  <a:srgbClr val="334155"/>
                </a:solidFill>
                <a:latin typeface="Helvetica Neue"/>
                <a:ea typeface="Helvetica Neue"/>
                <a:cs typeface="Helvetica Neue"/>
                <a:sym typeface="Helvetica Neue"/>
              </a:rPr>
              <a:t>→</a:t>
            </a:r>
            <a:endParaRPr sz="800" b="0" i="0" u="none" strike="noStrike" cap="none">
              <a:solidFill>
                <a:schemeClr val="dk1"/>
              </a:solidFill>
              <a:latin typeface="Calibri"/>
              <a:ea typeface="Calibri"/>
              <a:cs typeface="Calibri"/>
              <a:sym typeface="Calibri"/>
            </a:endParaRPr>
          </a:p>
        </p:txBody>
      </p:sp>
      <p:sp>
        <p:nvSpPr>
          <p:cNvPr id="568" name="Google Shape;568;p51"/>
          <p:cNvSpPr/>
          <p:nvPr/>
        </p:nvSpPr>
        <p:spPr>
          <a:xfrm>
            <a:off x="3264366" y="3022532"/>
            <a:ext cx="2345400" cy="262200"/>
          </a:xfrm>
          <a:prstGeom prst="roundRect">
            <a:avLst>
              <a:gd name="adj" fmla="val 16667"/>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F172A"/>
              </a:buClr>
              <a:buSzPts val="800"/>
              <a:buFont typeface="Helvetica Neue"/>
              <a:buNone/>
            </a:pPr>
            <a:r>
              <a:rPr lang="en" sz="900" b="1" i="0" u="none" strike="noStrike" cap="none">
                <a:solidFill>
                  <a:srgbClr val="0F172A"/>
                </a:solidFill>
                <a:latin typeface="Helvetica Neue"/>
                <a:ea typeface="Helvetica Neue"/>
                <a:cs typeface="Helvetica Neue"/>
                <a:sym typeface="Helvetica Neue"/>
              </a:rPr>
              <a:t>BƯỚC TIẾP THEO</a:t>
            </a:r>
            <a:endParaRPr sz="900" b="0" i="0" u="none" strike="noStrike" cap="none">
              <a:solidFill>
                <a:schemeClr val="dk1"/>
              </a:solidFill>
              <a:latin typeface="Calibri"/>
              <a:ea typeface="Calibri"/>
              <a:cs typeface="Calibri"/>
              <a:sym typeface="Calibri"/>
            </a:endParaRPr>
          </a:p>
        </p:txBody>
      </p:sp>
      <p:sp>
        <p:nvSpPr>
          <p:cNvPr id="569" name="Google Shape;569;p51"/>
          <p:cNvSpPr/>
          <p:nvPr/>
        </p:nvSpPr>
        <p:spPr>
          <a:xfrm>
            <a:off x="2990046" y="3415283"/>
            <a:ext cx="2592300" cy="1186800"/>
          </a:xfrm>
          <a:prstGeom prst="roundRect">
            <a:avLst>
              <a:gd name="adj" fmla="val 16667"/>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334155"/>
              </a:buClr>
              <a:buSzPts val="800"/>
              <a:buFont typeface="Helvetica Neue"/>
              <a:buNone/>
            </a:pPr>
            <a:r>
              <a:rPr lang="en" sz="900">
                <a:solidFill>
                  <a:srgbClr val="334155"/>
                </a:solidFill>
                <a:latin typeface="Helvetica Neue"/>
                <a:ea typeface="Helvetica Neue"/>
                <a:cs typeface="Helvetica Neue"/>
                <a:sym typeface="Helvetica Neue"/>
              </a:rPr>
              <a:t>Tiếp tục follow hoàn thiện nội dung training, và luồng automation.</a:t>
            </a:r>
            <a:endParaRPr sz="900">
              <a:solidFill>
                <a:srgbClr val="334155"/>
              </a:solidFill>
              <a:latin typeface="Helvetica Neue"/>
              <a:ea typeface="Helvetica Neue"/>
              <a:cs typeface="Helvetica Neue"/>
              <a:sym typeface="Helvetica Neue"/>
            </a:endParaRPr>
          </a:p>
          <a:p>
            <a:pPr marL="0" marR="0" lvl="0" indent="0" algn="l" rtl="0">
              <a:spcBef>
                <a:spcPts val="0"/>
              </a:spcBef>
              <a:spcAft>
                <a:spcPts val="0"/>
              </a:spcAft>
              <a:buClr>
                <a:srgbClr val="334155"/>
              </a:buClr>
              <a:buSzPts val="800"/>
              <a:buFont typeface="Helvetica Neue"/>
              <a:buNone/>
            </a:pPr>
            <a:endParaRPr sz="900">
              <a:solidFill>
                <a:srgbClr val="334155"/>
              </a:solidFill>
              <a:latin typeface="Helvetica Neue"/>
              <a:ea typeface="Helvetica Neue"/>
              <a:cs typeface="Helvetica Neue"/>
              <a:sym typeface="Helvetica Neue"/>
            </a:endParaRPr>
          </a:p>
          <a:p>
            <a:pPr marL="0" marR="0" lvl="0" indent="0" algn="l" rtl="0">
              <a:spcBef>
                <a:spcPts val="0"/>
              </a:spcBef>
              <a:spcAft>
                <a:spcPts val="0"/>
              </a:spcAft>
              <a:buClr>
                <a:srgbClr val="334155"/>
              </a:buClr>
              <a:buSzPts val="800"/>
              <a:buFont typeface="Helvetica Neue"/>
              <a:buNone/>
            </a:pPr>
            <a:r>
              <a:rPr lang="en" sz="900">
                <a:solidFill>
                  <a:srgbClr val="334155"/>
                </a:solidFill>
                <a:latin typeface="Helvetica Neue"/>
                <a:ea typeface="Helvetica Neue"/>
                <a:cs typeface="Helvetica Neue"/>
                <a:sym typeface="Helvetica Neue"/>
              </a:rPr>
              <a:t>D2 – Hướng dẫn phòng tránh &amp; xử lý khiếu nại đúng cách - hoàn thành các feedback.</a:t>
            </a:r>
            <a:endParaRPr sz="900">
              <a:solidFill>
                <a:srgbClr val="334155"/>
              </a:solidFill>
              <a:latin typeface="Helvetica Neue"/>
              <a:ea typeface="Helvetica Neue"/>
              <a:cs typeface="Helvetica Neue"/>
              <a:sym typeface="Helvetica Neue"/>
            </a:endParaRPr>
          </a:p>
          <a:p>
            <a:pPr marL="0" marR="0" lvl="0" indent="0" algn="l" rtl="0">
              <a:spcBef>
                <a:spcPts val="0"/>
              </a:spcBef>
              <a:spcAft>
                <a:spcPts val="0"/>
              </a:spcAft>
              <a:buClr>
                <a:srgbClr val="334155"/>
              </a:buClr>
              <a:buSzPts val="800"/>
              <a:buFont typeface="Helvetica Neue"/>
              <a:buNone/>
            </a:pPr>
            <a:endParaRPr sz="900">
              <a:solidFill>
                <a:srgbClr val="334155"/>
              </a:solidFill>
              <a:latin typeface="Helvetica Neue"/>
              <a:ea typeface="Helvetica Neue"/>
              <a:cs typeface="Helvetica Neue"/>
              <a:sym typeface="Helvetica Neue"/>
            </a:endParaRPr>
          </a:p>
          <a:p>
            <a:pPr marL="0" marR="0" lvl="0" indent="0" algn="l" rtl="0">
              <a:spcBef>
                <a:spcPts val="0"/>
              </a:spcBef>
              <a:spcAft>
                <a:spcPts val="0"/>
              </a:spcAft>
              <a:buClr>
                <a:srgbClr val="334155"/>
              </a:buClr>
              <a:buSzPts val="800"/>
              <a:buFont typeface="Helvetica Neue"/>
              <a:buNone/>
            </a:pPr>
            <a:r>
              <a:rPr lang="en" sz="900">
                <a:solidFill>
                  <a:srgbClr val="334155"/>
                </a:solidFill>
                <a:latin typeface="Helvetica Neue"/>
                <a:ea typeface="Helvetica Neue"/>
                <a:cs typeface="Helvetica Neue"/>
                <a:sym typeface="Helvetica Neue"/>
              </a:rPr>
              <a:t>D5: Đã có thông tin đầu vào, chuẩn bị kịch bản.</a:t>
            </a:r>
            <a:endParaRPr sz="900">
              <a:solidFill>
                <a:srgbClr val="334155"/>
              </a:solidFill>
              <a:latin typeface="Helvetica Neue"/>
              <a:ea typeface="Helvetica Neue"/>
              <a:cs typeface="Helvetica Neue"/>
              <a:sym typeface="Helvetica Neue"/>
            </a:endParaRPr>
          </a:p>
        </p:txBody>
      </p:sp>
      <p:sp>
        <p:nvSpPr>
          <p:cNvPr id="570" name="Google Shape;570;p51"/>
          <p:cNvSpPr/>
          <p:nvPr/>
        </p:nvSpPr>
        <p:spPr>
          <a:xfrm>
            <a:off x="5842975" y="2826157"/>
            <a:ext cx="2894100" cy="49200"/>
          </a:xfrm>
          <a:prstGeom prst="roundRect">
            <a:avLst>
              <a:gd name="adj" fmla="val 16667"/>
            </a:avLst>
          </a:prstGeom>
          <a:no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b="0" i="0" u="none" strike="noStrike" cap="none">
              <a:solidFill>
                <a:schemeClr val="dk1"/>
              </a:solidFill>
              <a:latin typeface="Helvetica Neue"/>
              <a:ea typeface="Helvetica Neue"/>
              <a:cs typeface="Helvetica Neue"/>
              <a:sym typeface="Helvetica Neue"/>
            </a:endParaRPr>
          </a:p>
        </p:txBody>
      </p:sp>
      <p:sp>
        <p:nvSpPr>
          <p:cNvPr id="571" name="Google Shape;571;p51"/>
          <p:cNvSpPr/>
          <p:nvPr/>
        </p:nvSpPr>
        <p:spPr>
          <a:xfrm>
            <a:off x="5842975" y="2875251"/>
            <a:ext cx="2894100" cy="1873800"/>
          </a:xfrm>
          <a:prstGeom prst="roundRect">
            <a:avLst>
              <a:gd name="adj" fmla="val 2500"/>
            </a:avLst>
          </a:prstGeom>
          <a:solidFill>
            <a:srgbClr val="FFFFFF"/>
          </a:solidFill>
          <a:ln w="12700" cap="flat" cmpd="sng">
            <a:solidFill>
              <a:srgbClr val="CBD5E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400" b="0" i="0" u="none" strike="noStrike" cap="none">
              <a:solidFill>
                <a:schemeClr val="dk1"/>
              </a:solidFill>
              <a:latin typeface="Helvetica Neue"/>
              <a:ea typeface="Helvetica Neue"/>
              <a:cs typeface="Helvetica Neue"/>
              <a:sym typeface="Helvetica Neue"/>
            </a:endParaRPr>
          </a:p>
        </p:txBody>
      </p:sp>
      <p:sp>
        <p:nvSpPr>
          <p:cNvPr id="572" name="Google Shape;572;p51"/>
          <p:cNvSpPr/>
          <p:nvPr/>
        </p:nvSpPr>
        <p:spPr>
          <a:xfrm>
            <a:off x="5966419" y="3006168"/>
            <a:ext cx="233100" cy="278400"/>
          </a:xfrm>
          <a:prstGeom prst="roundRect">
            <a:avLst>
              <a:gd name="adj" fmla="val 2500"/>
            </a:avLst>
          </a:prstGeom>
          <a:solidFill>
            <a:srgbClr val="FFFFFF"/>
          </a:solidFill>
          <a:ln w="12700" cap="flat" cmpd="sng">
            <a:solidFill>
              <a:srgbClr val="CBD5E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400" b="0" i="0" u="none" strike="noStrike" cap="none">
              <a:solidFill>
                <a:schemeClr val="dk1"/>
              </a:solidFill>
              <a:latin typeface="Helvetica Neue"/>
              <a:ea typeface="Helvetica Neue"/>
              <a:cs typeface="Helvetica Neue"/>
              <a:sym typeface="Helvetica Neue"/>
            </a:endParaRPr>
          </a:p>
        </p:txBody>
      </p:sp>
      <p:sp>
        <p:nvSpPr>
          <p:cNvPr id="573" name="Google Shape;573;p51"/>
          <p:cNvSpPr/>
          <p:nvPr/>
        </p:nvSpPr>
        <p:spPr>
          <a:xfrm>
            <a:off x="5966419" y="3006168"/>
            <a:ext cx="233100" cy="278400"/>
          </a:xfrm>
          <a:prstGeom prst="roundRect">
            <a:avLst>
              <a:gd name="adj" fmla="val 16667"/>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334155"/>
              </a:buClr>
              <a:buSzPts val="800"/>
              <a:buFont typeface="Helvetica Neue"/>
              <a:buNone/>
            </a:pPr>
            <a:r>
              <a:rPr lang="en" sz="800" b="1" i="0" u="none" strike="noStrike" cap="none">
                <a:solidFill>
                  <a:srgbClr val="334155"/>
                </a:solidFill>
                <a:latin typeface="Helvetica Neue"/>
                <a:ea typeface="Helvetica Neue"/>
                <a:cs typeface="Helvetica Neue"/>
                <a:sym typeface="Helvetica Neue"/>
              </a:rPr>
              <a:t>◆</a:t>
            </a:r>
            <a:endParaRPr sz="800" b="0" i="0" u="none" strike="noStrike" cap="none">
              <a:solidFill>
                <a:schemeClr val="dk1"/>
              </a:solidFill>
              <a:latin typeface="Calibri"/>
              <a:ea typeface="Calibri"/>
              <a:cs typeface="Calibri"/>
              <a:sym typeface="Calibri"/>
            </a:endParaRPr>
          </a:p>
        </p:txBody>
      </p:sp>
      <p:sp>
        <p:nvSpPr>
          <p:cNvPr id="574" name="Google Shape;574;p51"/>
          <p:cNvSpPr/>
          <p:nvPr/>
        </p:nvSpPr>
        <p:spPr>
          <a:xfrm>
            <a:off x="6268171" y="3022532"/>
            <a:ext cx="2345400" cy="262200"/>
          </a:xfrm>
          <a:prstGeom prst="roundRect">
            <a:avLst>
              <a:gd name="adj" fmla="val 16667"/>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F172A"/>
              </a:buClr>
              <a:buSzPts val="800"/>
              <a:buFont typeface="Helvetica Neue"/>
              <a:buNone/>
            </a:pPr>
            <a:r>
              <a:rPr lang="en" sz="900" b="1" i="0" u="none" strike="noStrike" cap="none">
                <a:solidFill>
                  <a:srgbClr val="0F172A"/>
                </a:solidFill>
                <a:latin typeface="Helvetica Neue"/>
                <a:ea typeface="Helvetica Neue"/>
                <a:cs typeface="Helvetica Neue"/>
                <a:sym typeface="Helvetica Neue"/>
              </a:rPr>
              <a:t>CẦN SUPPORT TỪ</a:t>
            </a:r>
            <a:endParaRPr sz="900" b="0" i="0" u="none" strike="noStrike" cap="none">
              <a:solidFill>
                <a:schemeClr val="dk1"/>
              </a:solidFill>
              <a:latin typeface="Calibri"/>
              <a:ea typeface="Calibri"/>
              <a:cs typeface="Calibri"/>
              <a:sym typeface="Calibri"/>
            </a:endParaRPr>
          </a:p>
        </p:txBody>
      </p:sp>
      <p:sp>
        <p:nvSpPr>
          <p:cNvPr id="575" name="Google Shape;575;p51"/>
          <p:cNvSpPr/>
          <p:nvPr/>
        </p:nvSpPr>
        <p:spPr>
          <a:xfrm>
            <a:off x="5993851" y="3415283"/>
            <a:ext cx="2592300" cy="1186800"/>
          </a:xfrm>
          <a:prstGeom prst="roundRect">
            <a:avLst>
              <a:gd name="adj" fmla="val 16667"/>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334155"/>
              </a:buClr>
              <a:buSzPts val="800"/>
              <a:buFont typeface="Helvetica Neue"/>
              <a:buNone/>
            </a:pPr>
            <a:r>
              <a:rPr lang="en" sz="900">
                <a:solidFill>
                  <a:srgbClr val="334155"/>
                </a:solidFill>
                <a:latin typeface="Helvetica Neue"/>
                <a:ea typeface="Helvetica Neue"/>
                <a:cs typeface="Helvetica Neue"/>
                <a:sym typeface="Helvetica Neue"/>
              </a:rPr>
              <a:t>S&amp;P: Theo dõi cohort retention tại các mốc D3 – D7 – D14 – D21.</a:t>
            </a:r>
            <a:endParaRPr sz="900">
              <a:solidFill>
                <a:srgbClr val="334155"/>
              </a:solidFill>
              <a:latin typeface="Helvetica Neue"/>
              <a:ea typeface="Helvetica Neue"/>
              <a:cs typeface="Helvetica Neue"/>
              <a:sym typeface="Helvetica Neue"/>
            </a:endParaRPr>
          </a:p>
        </p:txBody>
      </p:sp>
      <p:cxnSp>
        <p:nvCxnSpPr>
          <p:cNvPr id="576" name="Google Shape;576;p51"/>
          <p:cNvCxnSpPr/>
          <p:nvPr/>
        </p:nvCxnSpPr>
        <p:spPr>
          <a:xfrm>
            <a:off x="411480" y="4882896"/>
            <a:ext cx="8318700" cy="0"/>
          </a:xfrm>
          <a:prstGeom prst="straightConnector1">
            <a:avLst/>
          </a:prstGeom>
          <a:noFill/>
          <a:ln w="15875" cap="flat" cmpd="sng">
            <a:solidFill>
              <a:srgbClr val="FF7F32"/>
            </a:solidFill>
            <a:prstDash val="solid"/>
            <a:round/>
            <a:headEnd type="none" w="sm" len="sm"/>
            <a:tailEnd type="none" w="sm" len="sm"/>
          </a:ln>
        </p:spPr>
      </p:cxnSp>
      <p:sp>
        <p:nvSpPr>
          <p:cNvPr id="577" name="Google Shape;577;p51"/>
          <p:cNvSpPr/>
          <p:nvPr/>
        </p:nvSpPr>
        <p:spPr>
          <a:xfrm>
            <a:off x="5829300" y="55301"/>
            <a:ext cx="2901000" cy="150900"/>
          </a:xfrm>
          <a:prstGeom prst="roundRect">
            <a:avLst>
              <a:gd name="adj" fmla="val 16667"/>
            </a:avLst>
          </a:prstGeom>
          <a:noFill/>
          <a:ln>
            <a:noFill/>
          </a:ln>
        </p:spPr>
        <p:txBody>
          <a:bodyPr spcFirstLastPara="1" wrap="square" lIns="0" tIns="0" rIns="0" bIns="0" anchor="ctr" anchorCtr="0">
            <a:noAutofit/>
          </a:bodyPr>
          <a:lstStyle/>
          <a:p>
            <a:pPr marL="0" lvl="0" indent="0" algn="r" rtl="0">
              <a:spcBef>
                <a:spcPts val="0"/>
              </a:spcBef>
              <a:spcAft>
                <a:spcPts val="0"/>
              </a:spcAft>
              <a:buClr>
                <a:srgbClr val="64748B"/>
              </a:buClr>
              <a:buSzPts val="700"/>
              <a:buFont typeface="Helvetica Neue"/>
              <a:buNone/>
            </a:pPr>
            <a:r>
              <a:rPr lang="en" sz="700" i="1">
                <a:solidFill>
                  <a:srgbClr val="64748B"/>
                </a:solidFill>
                <a:latin typeface="Helvetica Neue"/>
                <a:ea typeface="Helvetica Neue"/>
                <a:cs typeface="Helvetica Neue"/>
                <a:sym typeface="Helvetica Neue"/>
              </a:rPr>
              <a:t>Ahamove  ·  Driver Management  ·  Weekly Report</a:t>
            </a:r>
            <a:endParaRPr sz="600" b="0" i="0" u="none" strike="noStrike" cap="none">
              <a:solidFill>
                <a:schemeClr val="dk1"/>
              </a:solidFill>
              <a:latin typeface="Calibri"/>
              <a:ea typeface="Calibri"/>
              <a:cs typeface="Calibri"/>
              <a:sym typeface="Calibri"/>
            </a:endParaRPr>
          </a:p>
        </p:txBody>
      </p:sp>
      <p:sp>
        <p:nvSpPr>
          <p:cNvPr id="578" name="Google Shape;578;p51"/>
          <p:cNvSpPr/>
          <p:nvPr/>
        </p:nvSpPr>
        <p:spPr>
          <a:xfrm>
            <a:off x="425125" y="2590275"/>
            <a:ext cx="2263200" cy="1873800"/>
          </a:xfrm>
          <a:prstGeom prst="roundRect">
            <a:avLst>
              <a:gd name="adj" fmla="val 16667"/>
            </a:avLst>
          </a:prstGeom>
          <a:noFill/>
          <a:ln>
            <a:noFill/>
          </a:ln>
        </p:spPr>
        <p:txBody>
          <a:bodyPr spcFirstLastPara="1" wrap="square" lIns="0" tIns="0" rIns="0" bIns="0" anchor="t" anchorCtr="0">
            <a:noAutofit/>
          </a:bodyPr>
          <a:lstStyle/>
          <a:p>
            <a:pPr marL="171450" marR="0" lvl="0" indent="-171450" algn="l" rtl="0">
              <a:lnSpc>
                <a:spcPct val="100000"/>
              </a:lnSpc>
              <a:spcBef>
                <a:spcPts val="0"/>
              </a:spcBef>
              <a:spcAft>
                <a:spcPts val="0"/>
              </a:spcAft>
              <a:buSzPts val="900"/>
              <a:buFont typeface="Helvetica Neue"/>
              <a:buChar char="●"/>
            </a:pPr>
            <a:r>
              <a:rPr lang="en" sz="900">
                <a:solidFill>
                  <a:srgbClr val="334155"/>
                </a:solidFill>
                <a:latin typeface="Helvetica Neue"/>
                <a:ea typeface="Helvetica Neue"/>
                <a:cs typeface="Helvetica Neue"/>
                <a:sym typeface="Helvetica Neue"/>
              </a:rPr>
              <a:t>D0: Hướng dẫn xem số tiền cần thu ứng </a:t>
            </a:r>
            <a:r>
              <a:rPr lang="en" sz="900" u="sng">
                <a:solidFill>
                  <a:srgbClr val="1255CC"/>
                </a:solidFill>
                <a:latin typeface="Helvetica Neue"/>
                <a:ea typeface="Helvetica Neue"/>
                <a:cs typeface="Helvetica Neue"/>
                <a:sym typeface="Helvetica Neue"/>
                <a:hlinkClick r:id="rId4">
                  <a:extLst>
                    <a:ext uri="{A12FA001-AC4F-418D-AE19-62706E023703}">
                      <ahyp:hlinkClr xmlns:ahyp="http://schemas.microsoft.com/office/drawing/2018/hyperlinkcolor" val="tx"/>
                    </a:ext>
                  </a:extLst>
                </a:hlinkClick>
              </a:rPr>
              <a:t>Hoàn thành</a:t>
            </a:r>
            <a:br>
              <a:rPr lang="en" sz="900" u="sng">
                <a:solidFill>
                  <a:srgbClr val="1255CC"/>
                </a:solidFill>
                <a:latin typeface="Helvetica Neue"/>
                <a:ea typeface="Helvetica Neue"/>
                <a:cs typeface="Helvetica Neue"/>
                <a:sym typeface="Helvetica Neue"/>
              </a:rPr>
            </a:br>
            <a:endParaRPr sz="900" u="sng">
              <a:solidFill>
                <a:srgbClr val="1255CC"/>
              </a:solidFill>
              <a:latin typeface="Helvetica Neue"/>
              <a:ea typeface="Helvetica Neue"/>
              <a:cs typeface="Helvetica Neue"/>
              <a:sym typeface="Helvetica Neue"/>
            </a:endParaRPr>
          </a:p>
          <a:p>
            <a:pPr marL="171450" marR="0" lvl="0" indent="-171450" algn="l" rtl="0">
              <a:lnSpc>
                <a:spcPct val="100000"/>
              </a:lnSpc>
              <a:spcBef>
                <a:spcPts val="0"/>
              </a:spcBef>
              <a:spcAft>
                <a:spcPts val="0"/>
              </a:spcAft>
              <a:buSzPts val="900"/>
              <a:buFont typeface="Helvetica Neue"/>
              <a:buChar char="●"/>
            </a:pPr>
            <a:r>
              <a:rPr lang="en" sz="900">
                <a:solidFill>
                  <a:srgbClr val="334155"/>
                </a:solidFill>
                <a:latin typeface="Helvetica Neue"/>
                <a:ea typeface="Helvetica Neue"/>
                <a:cs typeface="Helvetica Neue"/>
                <a:sym typeface="Helvetica Neue"/>
              </a:rPr>
              <a:t>D1: Xử lý hủy đơn </a:t>
            </a:r>
            <a:r>
              <a:rPr lang="en" sz="900" u="sng">
                <a:solidFill>
                  <a:srgbClr val="1255CC"/>
                </a:solidFill>
                <a:latin typeface="Helvetica Neue"/>
                <a:ea typeface="Helvetica Neue"/>
                <a:cs typeface="Helvetica Neue"/>
                <a:sym typeface="Helvetica Neue"/>
                <a:hlinkClick r:id="rId5">
                  <a:extLst>
                    <a:ext uri="{A12FA001-AC4F-418D-AE19-62706E023703}">
                      <ahyp:hlinkClr xmlns:ahyp="http://schemas.microsoft.com/office/drawing/2018/hyperlinkcolor" val="tx"/>
                    </a:ext>
                  </a:extLst>
                </a:hlinkClick>
              </a:rPr>
              <a:t>Hoàn thành</a:t>
            </a:r>
            <a:br>
              <a:rPr lang="en" sz="900">
                <a:solidFill>
                  <a:srgbClr val="334155"/>
                </a:solidFill>
                <a:latin typeface="Helvetica Neue"/>
                <a:ea typeface="Helvetica Neue"/>
                <a:cs typeface="Helvetica Neue"/>
                <a:sym typeface="Helvetica Neue"/>
              </a:rPr>
            </a:br>
            <a:endParaRPr sz="900">
              <a:solidFill>
                <a:srgbClr val="334155"/>
              </a:solidFill>
              <a:latin typeface="Helvetica Neue"/>
              <a:ea typeface="Helvetica Neue"/>
              <a:cs typeface="Helvetica Neue"/>
              <a:sym typeface="Helvetica Neue"/>
            </a:endParaRPr>
          </a:p>
          <a:p>
            <a:pPr marL="171450" marR="0" lvl="0" indent="-171450" algn="l" rtl="0">
              <a:lnSpc>
                <a:spcPct val="100000"/>
              </a:lnSpc>
              <a:spcBef>
                <a:spcPts val="0"/>
              </a:spcBef>
              <a:spcAft>
                <a:spcPts val="0"/>
              </a:spcAft>
              <a:buClr>
                <a:srgbClr val="334155"/>
              </a:buClr>
              <a:buSzPts val="900"/>
              <a:buFont typeface="Helvetica Neue"/>
              <a:buChar char="●"/>
            </a:pPr>
            <a:r>
              <a:rPr lang="en" sz="900">
                <a:solidFill>
                  <a:srgbClr val="334155"/>
                </a:solidFill>
                <a:latin typeface="Helvetica Neue"/>
                <a:ea typeface="Helvetica Neue"/>
                <a:cs typeface="Helvetica Neue"/>
                <a:sym typeface="Helvetica Neue"/>
              </a:rPr>
              <a:t>D2: Hướng dẫn phòng tránh &amp; xử lý khiếu nại đúng cách - Lên kịch bản</a:t>
            </a:r>
            <a:br>
              <a:rPr lang="en" sz="900">
                <a:solidFill>
                  <a:srgbClr val="334155"/>
                </a:solidFill>
                <a:latin typeface="Helvetica Neue"/>
                <a:ea typeface="Helvetica Neue"/>
                <a:cs typeface="Helvetica Neue"/>
                <a:sym typeface="Helvetica Neue"/>
              </a:rPr>
            </a:br>
            <a:endParaRPr sz="900">
              <a:solidFill>
                <a:srgbClr val="334155"/>
              </a:solidFill>
              <a:latin typeface="Helvetica Neue"/>
              <a:ea typeface="Helvetica Neue"/>
              <a:cs typeface="Helvetica Neue"/>
              <a:sym typeface="Helvetica Neue"/>
            </a:endParaRPr>
          </a:p>
          <a:p>
            <a:pPr marL="171450" marR="0" lvl="0" indent="-171450" algn="l" rtl="0">
              <a:lnSpc>
                <a:spcPct val="100000"/>
              </a:lnSpc>
              <a:spcBef>
                <a:spcPts val="0"/>
              </a:spcBef>
              <a:spcAft>
                <a:spcPts val="0"/>
              </a:spcAft>
              <a:buSzPts val="900"/>
              <a:buFont typeface="Helvetica Neue"/>
              <a:buChar char="●"/>
            </a:pPr>
            <a:r>
              <a:rPr lang="en" sz="900">
                <a:solidFill>
                  <a:srgbClr val="334155"/>
                </a:solidFill>
                <a:latin typeface="Helvetica Neue"/>
                <a:ea typeface="Helvetica Neue"/>
                <a:cs typeface="Helvetica Neue"/>
                <a:sym typeface="Helvetica Neue"/>
              </a:rPr>
              <a:t>D3: Bật tắt ngưng gán đơn/ cài đặt dịch vụ </a:t>
            </a:r>
            <a:r>
              <a:rPr lang="en" sz="900" u="sng">
                <a:solidFill>
                  <a:srgbClr val="1255CC"/>
                </a:solidFill>
                <a:latin typeface="Helvetica Neue"/>
                <a:ea typeface="Helvetica Neue"/>
                <a:cs typeface="Helvetica Neue"/>
                <a:sym typeface="Helvetica Neue"/>
                <a:hlinkClick r:id="rId6">
                  <a:extLst>
                    <a:ext uri="{A12FA001-AC4F-418D-AE19-62706E023703}">
                      <ahyp:hlinkClr xmlns:ahyp="http://schemas.microsoft.com/office/drawing/2018/hyperlinkcolor" val="tx"/>
                    </a:ext>
                  </a:extLst>
                </a:hlinkClick>
              </a:rPr>
              <a:t>Hoàn thành</a:t>
            </a:r>
            <a:br>
              <a:rPr lang="en" sz="900">
                <a:solidFill>
                  <a:srgbClr val="334155"/>
                </a:solidFill>
                <a:latin typeface="Helvetica Neue"/>
                <a:ea typeface="Helvetica Neue"/>
                <a:cs typeface="Helvetica Neue"/>
                <a:sym typeface="Helvetica Neue"/>
              </a:rPr>
            </a:br>
            <a:endParaRPr sz="900">
              <a:solidFill>
                <a:srgbClr val="334155"/>
              </a:solidFill>
              <a:latin typeface="Helvetica Neue"/>
              <a:ea typeface="Helvetica Neue"/>
              <a:cs typeface="Helvetica Neue"/>
              <a:sym typeface="Helvetica Neue"/>
            </a:endParaRPr>
          </a:p>
          <a:p>
            <a:pPr marL="171450" marR="0" lvl="0" indent="-171450" algn="l" rtl="0">
              <a:lnSpc>
                <a:spcPct val="100000"/>
              </a:lnSpc>
              <a:spcBef>
                <a:spcPts val="0"/>
              </a:spcBef>
              <a:spcAft>
                <a:spcPts val="0"/>
              </a:spcAft>
              <a:buSzPts val="900"/>
              <a:buFont typeface="Helvetica Neue"/>
              <a:buChar char="●"/>
            </a:pPr>
            <a:r>
              <a:rPr lang="en" sz="900">
                <a:solidFill>
                  <a:srgbClr val="334155"/>
                </a:solidFill>
                <a:latin typeface="Helvetica Neue"/>
                <a:ea typeface="Helvetica Neue"/>
                <a:cs typeface="Helvetica Neue"/>
                <a:sym typeface="Helvetica Neue"/>
              </a:rPr>
              <a:t>D4: Sử dụng điều hướng </a:t>
            </a:r>
            <a:r>
              <a:rPr lang="en" sz="900" u="sng">
                <a:solidFill>
                  <a:srgbClr val="1255CC"/>
                </a:solidFill>
                <a:latin typeface="Helvetica Neue"/>
                <a:ea typeface="Helvetica Neue"/>
                <a:cs typeface="Helvetica Neue"/>
                <a:sym typeface="Helvetica Neue"/>
                <a:hlinkClick r:id="rId7">
                  <a:extLst>
                    <a:ext uri="{A12FA001-AC4F-418D-AE19-62706E023703}">
                      <ahyp:hlinkClr xmlns:ahyp="http://schemas.microsoft.com/office/drawing/2018/hyperlinkcolor" val="tx"/>
                    </a:ext>
                  </a:extLst>
                </a:hlinkClick>
              </a:rPr>
              <a:t>Hoàn thành</a:t>
            </a:r>
            <a:endParaRPr sz="900">
              <a:solidFill>
                <a:srgbClr val="334155"/>
              </a:solidFill>
              <a:latin typeface="Helvetica Neue"/>
              <a:ea typeface="Helvetica Neue"/>
              <a:cs typeface="Helvetica Neue"/>
              <a:sym typeface="Helvetica Neue"/>
            </a:endParaRPr>
          </a:p>
          <a:p>
            <a:pPr marL="0" marR="0" lvl="0" indent="0" algn="l" rtl="0">
              <a:lnSpc>
                <a:spcPct val="100000"/>
              </a:lnSpc>
              <a:spcBef>
                <a:spcPts val="0"/>
              </a:spcBef>
              <a:spcAft>
                <a:spcPts val="0"/>
              </a:spcAft>
              <a:buClr>
                <a:srgbClr val="334155"/>
              </a:buClr>
              <a:buSzPts val="800"/>
              <a:buFont typeface="Helvetica Neue"/>
              <a:buNone/>
            </a:pPr>
            <a:endParaRPr sz="900">
              <a:solidFill>
                <a:srgbClr val="334155"/>
              </a:solidFill>
              <a:latin typeface="Helvetica Neue"/>
              <a:ea typeface="Helvetica Neue"/>
              <a:cs typeface="Helvetica Neue"/>
              <a:sym typeface="Helvetica Neue"/>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622"/>
        <p:cNvGrpSpPr/>
        <p:nvPr/>
      </p:nvGrpSpPr>
      <p:grpSpPr>
        <a:xfrm>
          <a:off x="0" y="0"/>
          <a:ext cx="0" cy="0"/>
          <a:chOff x="0" y="0"/>
          <a:chExt cx="0" cy="0"/>
        </a:xfrm>
      </p:grpSpPr>
      <p:sp>
        <p:nvSpPr>
          <p:cNvPr id="623" name="Google Shape;623;p55"/>
          <p:cNvSpPr/>
          <p:nvPr/>
        </p:nvSpPr>
        <p:spPr>
          <a:xfrm>
            <a:off x="947275" y="3091225"/>
            <a:ext cx="7741200" cy="1991400"/>
          </a:xfrm>
          <a:prstGeom prst="rect">
            <a:avLst/>
          </a:prstGeom>
          <a:solidFill>
            <a:srgbClr val="FFFFFF"/>
          </a:solidFill>
          <a:ln w="9525" cap="flat" cmpd="sng">
            <a:solidFill>
              <a:srgbClr val="E2E8F0"/>
            </a:solidFill>
            <a:prstDash val="solid"/>
            <a:round/>
            <a:headEnd type="none" w="sm" len="sm"/>
            <a:tailEnd type="none" w="sm" len="sm"/>
          </a:ln>
          <a:effectLst>
            <a:outerShdw blurRad="76200" dist="25400" dir="8100000" algn="bl" rotWithShape="0">
              <a:srgbClr val="000000">
                <a:alpha val="102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 name="Google Shape;624;p55"/>
          <p:cNvSpPr/>
          <p:nvPr/>
        </p:nvSpPr>
        <p:spPr>
          <a:xfrm>
            <a:off x="0" y="0"/>
            <a:ext cx="9144000" cy="73200"/>
          </a:xfrm>
          <a:prstGeom prst="rect">
            <a:avLst/>
          </a:prstGeom>
          <a:solidFill>
            <a:srgbClr val="FF7F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 name="Google Shape;625;p55"/>
          <p:cNvSpPr/>
          <p:nvPr/>
        </p:nvSpPr>
        <p:spPr>
          <a:xfrm>
            <a:off x="947200" y="984250"/>
            <a:ext cx="7741200" cy="1991400"/>
          </a:xfrm>
          <a:prstGeom prst="rect">
            <a:avLst/>
          </a:prstGeom>
          <a:solidFill>
            <a:srgbClr val="FFFFFF"/>
          </a:solidFill>
          <a:ln w="9525" cap="flat" cmpd="sng">
            <a:solidFill>
              <a:srgbClr val="E2E8F0"/>
            </a:solidFill>
            <a:prstDash val="solid"/>
            <a:round/>
            <a:headEnd type="none" w="sm" len="sm"/>
            <a:tailEnd type="none" w="sm" len="sm"/>
          </a:ln>
          <a:effectLst>
            <a:outerShdw blurRad="76200" dist="25400" dir="8100000" algn="bl" rotWithShape="0">
              <a:srgbClr val="000000">
                <a:alpha val="102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626" name="Google Shape;626;p55"/>
          <p:cNvCxnSpPr/>
          <p:nvPr/>
        </p:nvCxnSpPr>
        <p:spPr>
          <a:xfrm>
            <a:off x="365760" y="868680"/>
            <a:ext cx="8412600" cy="0"/>
          </a:xfrm>
          <a:prstGeom prst="straightConnector1">
            <a:avLst/>
          </a:prstGeom>
          <a:noFill/>
          <a:ln w="9525" cap="flat" cmpd="sng">
            <a:solidFill>
              <a:srgbClr val="E2E8F0"/>
            </a:solidFill>
            <a:prstDash val="solid"/>
            <a:round/>
            <a:headEnd type="none" w="sm" len="sm"/>
            <a:tailEnd type="none" w="sm" len="sm"/>
          </a:ln>
        </p:spPr>
      </p:cxnSp>
      <p:sp>
        <p:nvSpPr>
          <p:cNvPr id="627" name="Google Shape;627;p55"/>
          <p:cNvSpPr/>
          <p:nvPr/>
        </p:nvSpPr>
        <p:spPr>
          <a:xfrm>
            <a:off x="5486395" y="45700"/>
            <a:ext cx="3657600" cy="27420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94A3B8"/>
              </a:buClr>
              <a:buSzPts val="700"/>
              <a:buFont typeface="Calibri"/>
              <a:buNone/>
            </a:pPr>
            <a:r>
              <a:rPr lang="en" sz="700" b="0" i="1" u="none" strike="noStrike" cap="none">
                <a:solidFill>
                  <a:srgbClr val="94A3B8"/>
                </a:solidFill>
                <a:latin typeface="Calibri"/>
                <a:ea typeface="Calibri"/>
                <a:cs typeface="Calibri"/>
                <a:sym typeface="Calibri"/>
              </a:rPr>
              <a:t>Ahamove — Driver Management | Confidential</a:t>
            </a:r>
            <a:endParaRPr sz="700" b="0" i="0" u="none" strike="noStrike" cap="none">
              <a:solidFill>
                <a:schemeClr val="dk1"/>
              </a:solidFill>
              <a:latin typeface="Calibri"/>
              <a:ea typeface="Calibri"/>
              <a:cs typeface="Calibri"/>
              <a:sym typeface="Calibri"/>
            </a:endParaRPr>
          </a:p>
        </p:txBody>
      </p:sp>
      <p:sp>
        <p:nvSpPr>
          <p:cNvPr id="628" name="Google Shape;628;p55"/>
          <p:cNvSpPr/>
          <p:nvPr/>
        </p:nvSpPr>
        <p:spPr>
          <a:xfrm>
            <a:off x="6367437" y="1191928"/>
            <a:ext cx="1374900" cy="413100"/>
          </a:xfrm>
          <a:prstGeom prst="roundRect">
            <a:avLst>
              <a:gd name="adj" fmla="val 16667"/>
            </a:avLst>
          </a:prstGeom>
          <a:solidFill>
            <a:srgbClr val="FFFFFF"/>
          </a:solidFill>
          <a:ln w="11875" cap="flat" cmpd="sng">
            <a:solidFill>
              <a:srgbClr val="FFFFFF"/>
            </a:solidFill>
            <a:prstDash val="solid"/>
            <a:round/>
            <a:headEnd type="none" w="sm" len="sm"/>
            <a:tailEnd type="none" w="sm" len="sm"/>
          </a:ln>
          <a:effectLst>
            <a:outerShdw blurRad="231572" dist="23751" dir="5400000" algn="bl" rotWithShape="0">
              <a:srgbClr val="999999">
                <a:alpha val="50000"/>
              </a:srgbClr>
            </a:outerShdw>
          </a:effectLst>
        </p:spPr>
        <p:txBody>
          <a:bodyPr spcFirstLastPara="1" wrap="square" lIns="113975" tIns="113975" rIns="113975" bIns="113975" anchor="ctr" anchorCtr="0">
            <a:noAutofit/>
          </a:bodyPr>
          <a:lstStyle/>
          <a:p>
            <a:pPr marL="0" lvl="0" indent="0" algn="ctr" rtl="0">
              <a:spcBef>
                <a:spcPts val="0"/>
              </a:spcBef>
              <a:spcAft>
                <a:spcPts val="0"/>
              </a:spcAft>
              <a:buNone/>
            </a:pPr>
            <a:endParaRPr sz="1745">
              <a:latin typeface="Nunito ExtraBold"/>
              <a:ea typeface="Nunito ExtraBold"/>
              <a:cs typeface="Nunito ExtraBold"/>
              <a:sym typeface="Nunito ExtraBold"/>
            </a:endParaRPr>
          </a:p>
        </p:txBody>
      </p:sp>
      <p:sp>
        <p:nvSpPr>
          <p:cNvPr id="629" name="Google Shape;629;p55"/>
          <p:cNvSpPr/>
          <p:nvPr/>
        </p:nvSpPr>
        <p:spPr>
          <a:xfrm>
            <a:off x="6367434" y="1186636"/>
            <a:ext cx="622500" cy="413100"/>
          </a:xfrm>
          <a:prstGeom prst="roundRect">
            <a:avLst>
              <a:gd name="adj" fmla="val 16667"/>
            </a:avLst>
          </a:prstGeom>
          <a:solidFill>
            <a:srgbClr val="F66000"/>
          </a:solidFill>
          <a:ln w="11875" cap="flat" cmpd="sng">
            <a:solidFill>
              <a:srgbClr val="FFFFFF"/>
            </a:solidFill>
            <a:prstDash val="solid"/>
            <a:round/>
            <a:headEnd type="none" w="sm" len="sm"/>
            <a:tailEnd type="none" w="sm" len="sm"/>
          </a:ln>
          <a:effectLst>
            <a:outerShdw blurRad="231572" dist="23751" dir="5400000" algn="bl" rotWithShape="0">
              <a:srgbClr val="999999">
                <a:alpha val="50000"/>
              </a:srgbClr>
            </a:outerShdw>
          </a:effectLst>
        </p:spPr>
        <p:txBody>
          <a:bodyPr spcFirstLastPara="1" wrap="square" lIns="113975" tIns="113975" rIns="113975" bIns="113975" anchor="ctr" anchorCtr="0">
            <a:noAutofit/>
          </a:bodyPr>
          <a:lstStyle/>
          <a:p>
            <a:pPr marL="0" lvl="0" indent="0" algn="ctr" rtl="0">
              <a:spcBef>
                <a:spcPts val="0"/>
              </a:spcBef>
              <a:spcAft>
                <a:spcPts val="0"/>
              </a:spcAft>
              <a:buNone/>
            </a:pPr>
            <a:endParaRPr sz="1745">
              <a:latin typeface="Nunito ExtraBold"/>
              <a:ea typeface="Nunito ExtraBold"/>
              <a:cs typeface="Nunito ExtraBold"/>
              <a:sym typeface="Nunito ExtraBold"/>
            </a:endParaRPr>
          </a:p>
        </p:txBody>
      </p:sp>
      <p:sp>
        <p:nvSpPr>
          <p:cNvPr id="630" name="Google Shape;630;p55"/>
          <p:cNvSpPr txBox="1"/>
          <p:nvPr/>
        </p:nvSpPr>
        <p:spPr>
          <a:xfrm>
            <a:off x="6913644" y="1171719"/>
            <a:ext cx="871200" cy="413100"/>
          </a:xfrm>
          <a:prstGeom prst="rect">
            <a:avLst/>
          </a:prstGeom>
          <a:noFill/>
          <a:ln>
            <a:noFill/>
          </a:ln>
        </p:spPr>
        <p:txBody>
          <a:bodyPr spcFirstLastPara="1" wrap="square" lIns="113975" tIns="113975" rIns="113975" bIns="113975" anchor="ctr" anchorCtr="0">
            <a:noAutofit/>
          </a:bodyPr>
          <a:lstStyle/>
          <a:p>
            <a:pPr marL="0" lvl="0" indent="0" algn="ctr" rtl="0">
              <a:spcBef>
                <a:spcPts val="0"/>
              </a:spcBef>
              <a:spcAft>
                <a:spcPts val="0"/>
              </a:spcAft>
              <a:buNone/>
            </a:pPr>
            <a:r>
              <a:rPr lang="en" sz="1150">
                <a:solidFill>
                  <a:srgbClr val="1255CC"/>
                </a:solidFill>
                <a:latin typeface="Nunito ExtraBold"/>
                <a:ea typeface="Nunito ExtraBold"/>
                <a:cs typeface="Nunito ExtraBold"/>
                <a:sym typeface="Nunito ExtraBold"/>
              </a:rPr>
              <a:t>2,017 ca</a:t>
            </a:r>
            <a:endParaRPr sz="1150">
              <a:solidFill>
                <a:srgbClr val="1255CC"/>
              </a:solidFill>
              <a:latin typeface="Nunito ExtraBold"/>
              <a:ea typeface="Nunito ExtraBold"/>
              <a:cs typeface="Nunito ExtraBold"/>
              <a:sym typeface="Nunito ExtraBold"/>
            </a:endParaRPr>
          </a:p>
        </p:txBody>
      </p:sp>
      <p:sp>
        <p:nvSpPr>
          <p:cNvPr id="631" name="Google Shape;631;p55"/>
          <p:cNvSpPr txBox="1"/>
          <p:nvPr/>
        </p:nvSpPr>
        <p:spPr>
          <a:xfrm>
            <a:off x="6253887" y="1227380"/>
            <a:ext cx="847200" cy="299700"/>
          </a:xfrm>
          <a:prstGeom prst="rect">
            <a:avLst/>
          </a:prstGeom>
          <a:noFill/>
          <a:ln>
            <a:noFill/>
          </a:ln>
        </p:spPr>
        <p:txBody>
          <a:bodyPr spcFirstLastPara="1" wrap="square" lIns="113975" tIns="113975" rIns="113975" bIns="113975" anchor="ctr" anchorCtr="0">
            <a:noAutofit/>
          </a:bodyPr>
          <a:lstStyle/>
          <a:p>
            <a:pPr marL="0" lvl="0" indent="0" algn="ctr" rtl="0">
              <a:spcBef>
                <a:spcPts val="0"/>
              </a:spcBef>
              <a:spcAft>
                <a:spcPts val="0"/>
              </a:spcAft>
              <a:buNone/>
            </a:pPr>
            <a:r>
              <a:rPr lang="en" sz="800">
                <a:solidFill>
                  <a:srgbClr val="FFFFFF"/>
                </a:solidFill>
                <a:latin typeface="Nunito ExtraBold"/>
                <a:ea typeface="Nunito ExtraBold"/>
                <a:cs typeface="Nunito ExtraBold"/>
                <a:sym typeface="Nunito ExtraBold"/>
              </a:rPr>
              <a:t>Checkin</a:t>
            </a:r>
            <a:endParaRPr sz="800">
              <a:solidFill>
                <a:srgbClr val="FFFFFF"/>
              </a:solidFill>
              <a:latin typeface="Nunito ExtraBold"/>
              <a:ea typeface="Nunito ExtraBold"/>
              <a:cs typeface="Nunito ExtraBold"/>
              <a:sym typeface="Nunito ExtraBold"/>
            </a:endParaRPr>
          </a:p>
        </p:txBody>
      </p:sp>
      <p:sp>
        <p:nvSpPr>
          <p:cNvPr id="632" name="Google Shape;632;p55"/>
          <p:cNvSpPr/>
          <p:nvPr/>
        </p:nvSpPr>
        <p:spPr>
          <a:xfrm>
            <a:off x="6363784" y="1800111"/>
            <a:ext cx="1374900" cy="413100"/>
          </a:xfrm>
          <a:prstGeom prst="roundRect">
            <a:avLst>
              <a:gd name="adj" fmla="val 16667"/>
            </a:avLst>
          </a:prstGeom>
          <a:solidFill>
            <a:srgbClr val="FFFFFF"/>
          </a:solidFill>
          <a:ln w="11875" cap="flat" cmpd="sng">
            <a:solidFill>
              <a:srgbClr val="FFFFFF"/>
            </a:solidFill>
            <a:prstDash val="solid"/>
            <a:round/>
            <a:headEnd type="none" w="sm" len="sm"/>
            <a:tailEnd type="none" w="sm" len="sm"/>
          </a:ln>
          <a:effectLst>
            <a:outerShdw blurRad="231572" dist="23751" dir="5400000" algn="bl" rotWithShape="0">
              <a:srgbClr val="999999">
                <a:alpha val="50000"/>
              </a:srgbClr>
            </a:outerShdw>
          </a:effectLst>
        </p:spPr>
        <p:txBody>
          <a:bodyPr spcFirstLastPara="1" wrap="square" lIns="113975" tIns="113975" rIns="113975" bIns="113975" anchor="ctr" anchorCtr="0">
            <a:noAutofit/>
          </a:bodyPr>
          <a:lstStyle/>
          <a:p>
            <a:pPr marL="0" lvl="0" indent="0" algn="ctr" rtl="0">
              <a:spcBef>
                <a:spcPts val="0"/>
              </a:spcBef>
              <a:spcAft>
                <a:spcPts val="0"/>
              </a:spcAft>
              <a:buNone/>
            </a:pPr>
            <a:endParaRPr sz="1745">
              <a:latin typeface="Nunito ExtraBold"/>
              <a:ea typeface="Nunito ExtraBold"/>
              <a:cs typeface="Nunito ExtraBold"/>
              <a:sym typeface="Nunito ExtraBold"/>
            </a:endParaRPr>
          </a:p>
        </p:txBody>
      </p:sp>
      <p:sp>
        <p:nvSpPr>
          <p:cNvPr id="633" name="Google Shape;633;p55"/>
          <p:cNvSpPr/>
          <p:nvPr/>
        </p:nvSpPr>
        <p:spPr>
          <a:xfrm>
            <a:off x="6363782" y="1794820"/>
            <a:ext cx="622500" cy="413100"/>
          </a:xfrm>
          <a:prstGeom prst="roundRect">
            <a:avLst>
              <a:gd name="adj" fmla="val 16667"/>
            </a:avLst>
          </a:prstGeom>
          <a:solidFill>
            <a:srgbClr val="F66000"/>
          </a:solidFill>
          <a:ln w="11875" cap="flat" cmpd="sng">
            <a:solidFill>
              <a:srgbClr val="FFFFFF"/>
            </a:solidFill>
            <a:prstDash val="solid"/>
            <a:round/>
            <a:headEnd type="none" w="sm" len="sm"/>
            <a:tailEnd type="none" w="sm" len="sm"/>
          </a:ln>
          <a:effectLst>
            <a:outerShdw blurRad="231572" dist="23751" dir="5400000" algn="bl" rotWithShape="0">
              <a:srgbClr val="999999">
                <a:alpha val="50000"/>
              </a:srgbClr>
            </a:outerShdw>
          </a:effectLst>
        </p:spPr>
        <p:txBody>
          <a:bodyPr spcFirstLastPara="1" wrap="square" lIns="113975" tIns="113975" rIns="113975" bIns="113975" anchor="ctr" anchorCtr="0">
            <a:noAutofit/>
          </a:bodyPr>
          <a:lstStyle/>
          <a:p>
            <a:pPr marL="0" lvl="0" indent="0" algn="ctr" rtl="0">
              <a:spcBef>
                <a:spcPts val="0"/>
              </a:spcBef>
              <a:spcAft>
                <a:spcPts val="0"/>
              </a:spcAft>
              <a:buNone/>
            </a:pPr>
            <a:endParaRPr sz="1745">
              <a:latin typeface="Nunito ExtraBold"/>
              <a:ea typeface="Nunito ExtraBold"/>
              <a:cs typeface="Nunito ExtraBold"/>
              <a:sym typeface="Nunito ExtraBold"/>
            </a:endParaRPr>
          </a:p>
        </p:txBody>
      </p:sp>
      <p:sp>
        <p:nvSpPr>
          <p:cNvPr id="634" name="Google Shape;634;p55"/>
          <p:cNvSpPr txBox="1"/>
          <p:nvPr/>
        </p:nvSpPr>
        <p:spPr>
          <a:xfrm>
            <a:off x="6909991" y="1769319"/>
            <a:ext cx="871200" cy="413100"/>
          </a:xfrm>
          <a:prstGeom prst="rect">
            <a:avLst/>
          </a:prstGeom>
          <a:noFill/>
          <a:ln>
            <a:noFill/>
          </a:ln>
        </p:spPr>
        <p:txBody>
          <a:bodyPr spcFirstLastPara="1" wrap="square" lIns="113975" tIns="113975" rIns="113975" bIns="113975" anchor="ctr" anchorCtr="0">
            <a:noAutofit/>
          </a:bodyPr>
          <a:lstStyle/>
          <a:p>
            <a:pPr marL="0" lvl="0" indent="0" algn="ctr" rtl="0">
              <a:spcBef>
                <a:spcPts val="0"/>
              </a:spcBef>
              <a:spcAft>
                <a:spcPts val="0"/>
              </a:spcAft>
              <a:buNone/>
            </a:pPr>
            <a:r>
              <a:rPr lang="en" sz="1250">
                <a:solidFill>
                  <a:srgbClr val="1255CC"/>
                </a:solidFill>
                <a:latin typeface="Nunito ExtraBold"/>
                <a:ea typeface="Nunito ExtraBold"/>
                <a:cs typeface="Nunito ExtraBold"/>
                <a:sym typeface="Nunito ExtraBold"/>
              </a:rPr>
              <a:t>92.54%</a:t>
            </a:r>
            <a:endParaRPr sz="1250">
              <a:solidFill>
                <a:srgbClr val="1255CC"/>
              </a:solidFill>
              <a:latin typeface="Nunito ExtraBold"/>
              <a:ea typeface="Nunito ExtraBold"/>
              <a:cs typeface="Nunito ExtraBold"/>
              <a:sym typeface="Nunito ExtraBold"/>
            </a:endParaRPr>
          </a:p>
        </p:txBody>
      </p:sp>
      <p:sp>
        <p:nvSpPr>
          <p:cNvPr id="635" name="Google Shape;635;p55"/>
          <p:cNvSpPr txBox="1"/>
          <p:nvPr/>
        </p:nvSpPr>
        <p:spPr>
          <a:xfrm>
            <a:off x="6250234" y="1824980"/>
            <a:ext cx="847200" cy="299700"/>
          </a:xfrm>
          <a:prstGeom prst="rect">
            <a:avLst/>
          </a:prstGeom>
          <a:noFill/>
          <a:ln>
            <a:noFill/>
          </a:ln>
        </p:spPr>
        <p:txBody>
          <a:bodyPr spcFirstLastPara="1" wrap="square" lIns="113975" tIns="113975" rIns="113975" bIns="113975" anchor="ctr" anchorCtr="0">
            <a:noAutofit/>
          </a:bodyPr>
          <a:lstStyle/>
          <a:p>
            <a:pPr marL="0" lvl="0" indent="0" algn="ctr" rtl="0">
              <a:spcBef>
                <a:spcPts val="0"/>
              </a:spcBef>
              <a:spcAft>
                <a:spcPts val="0"/>
              </a:spcAft>
              <a:buNone/>
            </a:pPr>
            <a:r>
              <a:rPr lang="en" sz="800">
                <a:solidFill>
                  <a:srgbClr val="FFFFFF"/>
                </a:solidFill>
                <a:latin typeface="Nunito ExtraBold"/>
                <a:ea typeface="Nunito ExtraBold"/>
                <a:cs typeface="Nunito ExtraBold"/>
                <a:sym typeface="Nunito ExtraBold"/>
              </a:rPr>
              <a:t>Utlz</a:t>
            </a:r>
            <a:endParaRPr sz="800">
              <a:solidFill>
                <a:srgbClr val="FFFFFF"/>
              </a:solidFill>
              <a:latin typeface="Nunito ExtraBold"/>
              <a:ea typeface="Nunito ExtraBold"/>
              <a:cs typeface="Nunito ExtraBold"/>
              <a:sym typeface="Nunito ExtraBold"/>
            </a:endParaRPr>
          </a:p>
        </p:txBody>
      </p:sp>
      <p:sp>
        <p:nvSpPr>
          <p:cNvPr id="636" name="Google Shape;636;p55"/>
          <p:cNvSpPr/>
          <p:nvPr/>
        </p:nvSpPr>
        <p:spPr>
          <a:xfrm>
            <a:off x="6363784" y="2388078"/>
            <a:ext cx="1374900" cy="413100"/>
          </a:xfrm>
          <a:prstGeom prst="roundRect">
            <a:avLst>
              <a:gd name="adj" fmla="val 16667"/>
            </a:avLst>
          </a:prstGeom>
          <a:solidFill>
            <a:srgbClr val="FFFFFF"/>
          </a:solidFill>
          <a:ln w="11875" cap="flat" cmpd="sng">
            <a:solidFill>
              <a:srgbClr val="FFFFFF"/>
            </a:solidFill>
            <a:prstDash val="solid"/>
            <a:round/>
            <a:headEnd type="none" w="sm" len="sm"/>
            <a:tailEnd type="none" w="sm" len="sm"/>
          </a:ln>
          <a:effectLst>
            <a:outerShdw blurRad="231572" dist="23751" dir="5400000" algn="bl" rotWithShape="0">
              <a:srgbClr val="999999">
                <a:alpha val="50000"/>
              </a:srgbClr>
            </a:outerShdw>
          </a:effectLst>
        </p:spPr>
        <p:txBody>
          <a:bodyPr spcFirstLastPara="1" wrap="square" lIns="113975" tIns="113975" rIns="113975" bIns="113975" anchor="ctr" anchorCtr="0">
            <a:noAutofit/>
          </a:bodyPr>
          <a:lstStyle/>
          <a:p>
            <a:pPr marL="0" lvl="0" indent="0" algn="ctr" rtl="0">
              <a:spcBef>
                <a:spcPts val="0"/>
              </a:spcBef>
              <a:spcAft>
                <a:spcPts val="0"/>
              </a:spcAft>
              <a:buNone/>
            </a:pPr>
            <a:endParaRPr sz="1745">
              <a:latin typeface="Nunito ExtraBold"/>
              <a:ea typeface="Nunito ExtraBold"/>
              <a:cs typeface="Nunito ExtraBold"/>
              <a:sym typeface="Nunito ExtraBold"/>
            </a:endParaRPr>
          </a:p>
        </p:txBody>
      </p:sp>
      <p:sp>
        <p:nvSpPr>
          <p:cNvPr id="637" name="Google Shape;637;p55"/>
          <p:cNvSpPr/>
          <p:nvPr/>
        </p:nvSpPr>
        <p:spPr>
          <a:xfrm>
            <a:off x="6363782" y="2388078"/>
            <a:ext cx="622500" cy="413100"/>
          </a:xfrm>
          <a:prstGeom prst="roundRect">
            <a:avLst>
              <a:gd name="adj" fmla="val 16667"/>
            </a:avLst>
          </a:prstGeom>
          <a:solidFill>
            <a:srgbClr val="F66000"/>
          </a:solidFill>
          <a:ln w="11875" cap="flat" cmpd="sng">
            <a:solidFill>
              <a:srgbClr val="FFFFFF"/>
            </a:solidFill>
            <a:prstDash val="solid"/>
            <a:round/>
            <a:headEnd type="none" w="sm" len="sm"/>
            <a:tailEnd type="none" w="sm" len="sm"/>
          </a:ln>
          <a:effectLst>
            <a:outerShdw blurRad="231572" dist="23751" dir="5400000" algn="bl" rotWithShape="0">
              <a:srgbClr val="999999">
                <a:alpha val="50000"/>
              </a:srgbClr>
            </a:outerShdw>
          </a:effectLst>
        </p:spPr>
        <p:txBody>
          <a:bodyPr spcFirstLastPara="1" wrap="square" lIns="113975" tIns="113975" rIns="113975" bIns="113975" anchor="ctr" anchorCtr="0">
            <a:noAutofit/>
          </a:bodyPr>
          <a:lstStyle/>
          <a:p>
            <a:pPr marL="0" lvl="0" indent="0" algn="ctr" rtl="0">
              <a:spcBef>
                <a:spcPts val="0"/>
              </a:spcBef>
              <a:spcAft>
                <a:spcPts val="0"/>
              </a:spcAft>
              <a:buNone/>
            </a:pPr>
            <a:endParaRPr sz="1745">
              <a:latin typeface="Nunito ExtraBold"/>
              <a:ea typeface="Nunito ExtraBold"/>
              <a:cs typeface="Nunito ExtraBold"/>
              <a:sym typeface="Nunito ExtraBold"/>
            </a:endParaRPr>
          </a:p>
        </p:txBody>
      </p:sp>
      <p:sp>
        <p:nvSpPr>
          <p:cNvPr id="638" name="Google Shape;638;p55"/>
          <p:cNvSpPr txBox="1"/>
          <p:nvPr/>
        </p:nvSpPr>
        <p:spPr>
          <a:xfrm>
            <a:off x="6909991" y="2367869"/>
            <a:ext cx="871200" cy="413100"/>
          </a:xfrm>
          <a:prstGeom prst="rect">
            <a:avLst/>
          </a:prstGeom>
          <a:noFill/>
          <a:ln>
            <a:noFill/>
          </a:ln>
        </p:spPr>
        <p:txBody>
          <a:bodyPr spcFirstLastPara="1" wrap="square" lIns="113975" tIns="113975" rIns="113975" bIns="113975" anchor="ctr" anchorCtr="0">
            <a:noAutofit/>
          </a:bodyPr>
          <a:lstStyle/>
          <a:p>
            <a:pPr marL="0" lvl="0" indent="0" algn="ctr" rtl="0">
              <a:spcBef>
                <a:spcPts val="0"/>
              </a:spcBef>
              <a:spcAft>
                <a:spcPts val="0"/>
              </a:spcAft>
              <a:buNone/>
            </a:pPr>
            <a:r>
              <a:rPr lang="en" sz="1250">
                <a:solidFill>
                  <a:srgbClr val="1255CC"/>
                </a:solidFill>
                <a:latin typeface="Nunito ExtraBold"/>
                <a:ea typeface="Nunito ExtraBold"/>
                <a:cs typeface="Nunito ExtraBold"/>
                <a:sym typeface="Nunito ExtraBold"/>
              </a:rPr>
              <a:t>89.09%</a:t>
            </a:r>
            <a:endParaRPr sz="1250">
              <a:solidFill>
                <a:srgbClr val="1255CC"/>
              </a:solidFill>
              <a:latin typeface="Nunito ExtraBold"/>
              <a:ea typeface="Nunito ExtraBold"/>
              <a:cs typeface="Nunito ExtraBold"/>
              <a:sym typeface="Nunito ExtraBold"/>
            </a:endParaRPr>
          </a:p>
        </p:txBody>
      </p:sp>
      <p:sp>
        <p:nvSpPr>
          <p:cNvPr id="639" name="Google Shape;639;p55"/>
          <p:cNvSpPr txBox="1"/>
          <p:nvPr/>
        </p:nvSpPr>
        <p:spPr>
          <a:xfrm>
            <a:off x="6255084" y="2413102"/>
            <a:ext cx="847200" cy="299700"/>
          </a:xfrm>
          <a:prstGeom prst="rect">
            <a:avLst/>
          </a:prstGeom>
          <a:noFill/>
          <a:ln>
            <a:noFill/>
          </a:ln>
        </p:spPr>
        <p:txBody>
          <a:bodyPr spcFirstLastPara="1" wrap="square" lIns="113975" tIns="113975" rIns="113975" bIns="113975" anchor="ctr" anchorCtr="0">
            <a:noAutofit/>
          </a:bodyPr>
          <a:lstStyle/>
          <a:p>
            <a:pPr marL="0" lvl="0" indent="0" algn="ctr" rtl="0">
              <a:spcBef>
                <a:spcPts val="0"/>
              </a:spcBef>
              <a:spcAft>
                <a:spcPts val="0"/>
              </a:spcAft>
              <a:buNone/>
            </a:pPr>
            <a:r>
              <a:rPr lang="en" sz="800">
                <a:solidFill>
                  <a:srgbClr val="FFFFFF"/>
                </a:solidFill>
                <a:latin typeface="Nunito ExtraBold"/>
                <a:ea typeface="Nunito ExtraBold"/>
                <a:cs typeface="Nunito ExtraBold"/>
                <a:sym typeface="Nunito ExtraBold"/>
              </a:rPr>
              <a:t>Online</a:t>
            </a:r>
            <a:br>
              <a:rPr lang="en" sz="800">
                <a:solidFill>
                  <a:srgbClr val="FFFFFF"/>
                </a:solidFill>
                <a:latin typeface="Nunito ExtraBold"/>
                <a:ea typeface="Nunito ExtraBold"/>
                <a:cs typeface="Nunito ExtraBold"/>
                <a:sym typeface="Nunito ExtraBold"/>
              </a:rPr>
            </a:br>
            <a:r>
              <a:rPr lang="en" sz="800">
                <a:solidFill>
                  <a:srgbClr val="FFFFFF"/>
                </a:solidFill>
                <a:latin typeface="Nunito ExtraBold"/>
                <a:ea typeface="Nunito ExtraBold"/>
                <a:cs typeface="Nunito ExtraBold"/>
                <a:sym typeface="Nunito ExtraBold"/>
              </a:rPr>
              <a:t>rate</a:t>
            </a:r>
            <a:endParaRPr sz="800">
              <a:solidFill>
                <a:srgbClr val="FFFFFF"/>
              </a:solidFill>
              <a:latin typeface="Nunito ExtraBold"/>
              <a:ea typeface="Nunito ExtraBold"/>
              <a:cs typeface="Nunito ExtraBold"/>
              <a:sym typeface="Nunito ExtraBold"/>
            </a:endParaRPr>
          </a:p>
        </p:txBody>
      </p:sp>
      <p:sp>
        <p:nvSpPr>
          <p:cNvPr id="640" name="Google Shape;640;p55"/>
          <p:cNvSpPr txBox="1"/>
          <p:nvPr/>
        </p:nvSpPr>
        <p:spPr>
          <a:xfrm>
            <a:off x="7701617" y="1215680"/>
            <a:ext cx="1500600" cy="323100"/>
          </a:xfrm>
          <a:prstGeom prst="rect">
            <a:avLst/>
          </a:prstGeom>
          <a:noFill/>
          <a:ln>
            <a:noFill/>
          </a:ln>
        </p:spPr>
        <p:txBody>
          <a:bodyPr spcFirstLastPara="1" wrap="square" lIns="91425" tIns="91425" rIns="91425" bIns="91425" anchor="t" anchorCtr="0">
            <a:spAutoFit/>
          </a:bodyPr>
          <a:lstStyle/>
          <a:p>
            <a:pPr marL="0" lvl="0" indent="0" algn="l" rtl="0">
              <a:spcBef>
                <a:spcPts val="400"/>
              </a:spcBef>
              <a:spcAft>
                <a:spcPts val="0"/>
              </a:spcAft>
              <a:buNone/>
            </a:pPr>
            <a:r>
              <a:rPr lang="en" sz="900">
                <a:solidFill>
                  <a:srgbClr val="1E293B"/>
                </a:solidFill>
                <a:latin typeface="Lexend"/>
                <a:ea typeface="Lexend"/>
                <a:cs typeface="Lexend"/>
                <a:sym typeface="Lexend"/>
              </a:rPr>
              <a:t>MoM: - 7.77%</a:t>
            </a:r>
            <a:endParaRPr/>
          </a:p>
        </p:txBody>
      </p:sp>
      <p:sp>
        <p:nvSpPr>
          <p:cNvPr id="641" name="Google Shape;641;p55"/>
          <p:cNvSpPr txBox="1"/>
          <p:nvPr/>
        </p:nvSpPr>
        <p:spPr>
          <a:xfrm>
            <a:off x="7701617" y="1814305"/>
            <a:ext cx="1500600" cy="323100"/>
          </a:xfrm>
          <a:prstGeom prst="rect">
            <a:avLst/>
          </a:prstGeom>
          <a:noFill/>
          <a:ln>
            <a:noFill/>
          </a:ln>
        </p:spPr>
        <p:txBody>
          <a:bodyPr spcFirstLastPara="1" wrap="square" lIns="91425" tIns="91425" rIns="91425" bIns="91425" anchor="t" anchorCtr="0">
            <a:spAutoFit/>
          </a:bodyPr>
          <a:lstStyle/>
          <a:p>
            <a:pPr marL="0" lvl="0" indent="0" algn="l" rtl="0">
              <a:spcBef>
                <a:spcPts val="400"/>
              </a:spcBef>
              <a:spcAft>
                <a:spcPts val="0"/>
              </a:spcAft>
              <a:buNone/>
            </a:pPr>
            <a:r>
              <a:rPr lang="en" sz="900">
                <a:solidFill>
                  <a:srgbClr val="1E293B"/>
                </a:solidFill>
                <a:latin typeface="Lexend"/>
                <a:ea typeface="Lexend"/>
                <a:cs typeface="Lexend"/>
                <a:sym typeface="Lexend"/>
              </a:rPr>
              <a:t>MoM: + 2.28%</a:t>
            </a:r>
            <a:endParaRPr/>
          </a:p>
        </p:txBody>
      </p:sp>
      <p:sp>
        <p:nvSpPr>
          <p:cNvPr id="642" name="Google Shape;642;p55"/>
          <p:cNvSpPr txBox="1"/>
          <p:nvPr/>
        </p:nvSpPr>
        <p:spPr>
          <a:xfrm>
            <a:off x="7701617" y="2412635"/>
            <a:ext cx="1500600" cy="323100"/>
          </a:xfrm>
          <a:prstGeom prst="rect">
            <a:avLst/>
          </a:prstGeom>
          <a:noFill/>
          <a:ln>
            <a:noFill/>
          </a:ln>
        </p:spPr>
        <p:txBody>
          <a:bodyPr spcFirstLastPara="1" wrap="square" lIns="91425" tIns="91425" rIns="91425" bIns="91425" anchor="t" anchorCtr="0">
            <a:spAutoFit/>
          </a:bodyPr>
          <a:lstStyle/>
          <a:p>
            <a:pPr marL="0" lvl="0" indent="0" algn="l" rtl="0">
              <a:spcBef>
                <a:spcPts val="400"/>
              </a:spcBef>
              <a:spcAft>
                <a:spcPts val="0"/>
              </a:spcAft>
              <a:buNone/>
            </a:pPr>
            <a:r>
              <a:rPr lang="en" sz="900">
                <a:solidFill>
                  <a:srgbClr val="1E293B"/>
                </a:solidFill>
                <a:latin typeface="Lexend"/>
                <a:ea typeface="Lexend"/>
                <a:cs typeface="Lexend"/>
                <a:sym typeface="Lexend"/>
              </a:rPr>
              <a:t>MoM: + 0.27%</a:t>
            </a:r>
            <a:endParaRPr/>
          </a:p>
        </p:txBody>
      </p:sp>
      <p:pic>
        <p:nvPicPr>
          <p:cNvPr id="643" name="Google Shape;643;p55" descr="preencoded.png"/>
          <p:cNvPicPr preferRelativeResize="0"/>
          <p:nvPr/>
        </p:nvPicPr>
        <p:blipFill rotWithShape="1">
          <a:blip r:embed="rId3">
            <a:alphaModFix/>
          </a:blip>
          <a:srcRect/>
          <a:stretch/>
        </p:blipFill>
        <p:spPr>
          <a:xfrm>
            <a:off x="365760" y="337820"/>
            <a:ext cx="274320" cy="274320"/>
          </a:xfrm>
          <a:prstGeom prst="rect">
            <a:avLst/>
          </a:prstGeom>
          <a:noFill/>
          <a:ln>
            <a:noFill/>
          </a:ln>
        </p:spPr>
      </p:pic>
      <p:sp>
        <p:nvSpPr>
          <p:cNvPr id="644" name="Google Shape;644;p55"/>
          <p:cNvSpPr/>
          <p:nvPr/>
        </p:nvSpPr>
        <p:spPr>
          <a:xfrm>
            <a:off x="731520" y="264668"/>
            <a:ext cx="7315200" cy="411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E4174"/>
              </a:buClr>
              <a:buSzPts val="2200"/>
              <a:buFont typeface="Calibri"/>
              <a:buNone/>
            </a:pPr>
            <a:r>
              <a:rPr lang="en" sz="2200" b="1" i="0" u="none" strike="noStrike" cap="none">
                <a:solidFill>
                  <a:srgbClr val="0E4174"/>
                </a:solidFill>
                <a:latin typeface="Lexend"/>
                <a:ea typeface="Lexend"/>
                <a:cs typeface="Lexend"/>
                <a:sym typeface="Lexend"/>
              </a:rPr>
              <a:t>MiniHub</a:t>
            </a:r>
            <a:r>
              <a:rPr lang="en" sz="2200" b="1">
                <a:solidFill>
                  <a:srgbClr val="0E4174"/>
                </a:solidFill>
                <a:latin typeface="Lexend"/>
                <a:ea typeface="Lexend"/>
                <a:cs typeface="Lexend"/>
                <a:sym typeface="Lexend"/>
              </a:rPr>
              <a:t> </a:t>
            </a:r>
            <a:r>
              <a:rPr lang="en" sz="2200" b="1" i="0" u="none" strike="noStrike" cap="none">
                <a:solidFill>
                  <a:srgbClr val="0E4174"/>
                </a:solidFill>
                <a:latin typeface="Lexend"/>
                <a:ea typeface="Lexend"/>
                <a:cs typeface="Lexend"/>
                <a:sym typeface="Lexend"/>
              </a:rPr>
              <a:t>- </a:t>
            </a:r>
            <a:r>
              <a:rPr lang="en" sz="2200" b="1">
                <a:solidFill>
                  <a:srgbClr val="F56C1F"/>
                </a:solidFill>
                <a:latin typeface="Lexend"/>
                <a:ea typeface="Lexend"/>
                <a:cs typeface="Lexend"/>
                <a:sym typeface="Lexend"/>
              </a:rPr>
              <a:t>OPERATIONS</a:t>
            </a:r>
            <a:endParaRPr sz="2200" b="1" i="0" u="none" strike="noStrike" cap="none">
              <a:solidFill>
                <a:srgbClr val="F56C1F"/>
              </a:solidFill>
              <a:latin typeface="Lexend"/>
              <a:ea typeface="Lexend"/>
              <a:cs typeface="Lexend"/>
              <a:sym typeface="Lexend"/>
            </a:endParaRPr>
          </a:p>
        </p:txBody>
      </p:sp>
      <p:graphicFrame>
        <p:nvGraphicFramePr>
          <p:cNvPr id="645" name="Google Shape;645;p55"/>
          <p:cNvGraphicFramePr/>
          <p:nvPr/>
        </p:nvGraphicFramePr>
        <p:xfrm>
          <a:off x="1005017" y="1104425"/>
          <a:ext cx="5281550" cy="1743400"/>
        </p:xfrm>
        <a:graphic>
          <a:graphicData uri="http://schemas.openxmlformats.org/drawingml/2006/table">
            <a:tbl>
              <a:tblPr>
                <a:noFill/>
                <a:tableStyleId>{BD4DB973-2F49-4540-A1CC-0EE3EA8BBFB3}</a:tableStyleId>
              </a:tblPr>
              <a:tblGrid>
                <a:gridCol w="661275">
                  <a:extLst>
                    <a:ext uri="{9D8B030D-6E8A-4147-A177-3AD203B41FA5}">
                      <a16:colId xmlns:a16="http://schemas.microsoft.com/office/drawing/2014/main" val="20000"/>
                    </a:ext>
                  </a:extLst>
                </a:gridCol>
                <a:gridCol w="462025">
                  <a:extLst>
                    <a:ext uri="{9D8B030D-6E8A-4147-A177-3AD203B41FA5}">
                      <a16:colId xmlns:a16="http://schemas.microsoft.com/office/drawing/2014/main" val="20001"/>
                    </a:ext>
                  </a:extLst>
                </a:gridCol>
                <a:gridCol w="462025">
                  <a:extLst>
                    <a:ext uri="{9D8B030D-6E8A-4147-A177-3AD203B41FA5}">
                      <a16:colId xmlns:a16="http://schemas.microsoft.com/office/drawing/2014/main" val="20002"/>
                    </a:ext>
                  </a:extLst>
                </a:gridCol>
                <a:gridCol w="462025">
                  <a:extLst>
                    <a:ext uri="{9D8B030D-6E8A-4147-A177-3AD203B41FA5}">
                      <a16:colId xmlns:a16="http://schemas.microsoft.com/office/drawing/2014/main" val="20003"/>
                    </a:ext>
                  </a:extLst>
                </a:gridCol>
                <a:gridCol w="462025">
                  <a:extLst>
                    <a:ext uri="{9D8B030D-6E8A-4147-A177-3AD203B41FA5}">
                      <a16:colId xmlns:a16="http://schemas.microsoft.com/office/drawing/2014/main" val="20004"/>
                    </a:ext>
                  </a:extLst>
                </a:gridCol>
                <a:gridCol w="462025">
                  <a:extLst>
                    <a:ext uri="{9D8B030D-6E8A-4147-A177-3AD203B41FA5}">
                      <a16:colId xmlns:a16="http://schemas.microsoft.com/office/drawing/2014/main" val="20005"/>
                    </a:ext>
                  </a:extLst>
                </a:gridCol>
                <a:gridCol w="462025">
                  <a:extLst>
                    <a:ext uri="{9D8B030D-6E8A-4147-A177-3AD203B41FA5}">
                      <a16:colId xmlns:a16="http://schemas.microsoft.com/office/drawing/2014/main" val="20006"/>
                    </a:ext>
                  </a:extLst>
                </a:gridCol>
                <a:gridCol w="462025">
                  <a:extLst>
                    <a:ext uri="{9D8B030D-6E8A-4147-A177-3AD203B41FA5}">
                      <a16:colId xmlns:a16="http://schemas.microsoft.com/office/drawing/2014/main" val="20007"/>
                    </a:ext>
                  </a:extLst>
                </a:gridCol>
                <a:gridCol w="533550">
                  <a:extLst>
                    <a:ext uri="{9D8B030D-6E8A-4147-A177-3AD203B41FA5}">
                      <a16:colId xmlns:a16="http://schemas.microsoft.com/office/drawing/2014/main" val="20008"/>
                    </a:ext>
                  </a:extLst>
                </a:gridCol>
                <a:gridCol w="390525">
                  <a:extLst>
                    <a:ext uri="{9D8B030D-6E8A-4147-A177-3AD203B41FA5}">
                      <a16:colId xmlns:a16="http://schemas.microsoft.com/office/drawing/2014/main" val="20009"/>
                    </a:ext>
                  </a:extLst>
                </a:gridCol>
                <a:gridCol w="462025">
                  <a:extLst>
                    <a:ext uri="{9D8B030D-6E8A-4147-A177-3AD203B41FA5}">
                      <a16:colId xmlns:a16="http://schemas.microsoft.com/office/drawing/2014/main" val="20010"/>
                    </a:ext>
                  </a:extLst>
                </a:gridCol>
              </a:tblGrid>
              <a:tr h="308725">
                <a:tc>
                  <a:txBody>
                    <a:bodyPr/>
                    <a:lstStyle/>
                    <a:p>
                      <a:pPr marL="0" lvl="0" indent="0" algn="ctr" rtl="0">
                        <a:lnSpc>
                          <a:spcPct val="115000"/>
                        </a:lnSpc>
                        <a:spcBef>
                          <a:spcPts val="0"/>
                        </a:spcBef>
                        <a:spcAft>
                          <a:spcPts val="0"/>
                        </a:spcAft>
                        <a:buNone/>
                      </a:pPr>
                      <a:r>
                        <a:rPr lang="en" sz="700" b="1">
                          <a:solidFill>
                            <a:schemeClr val="lt1"/>
                          </a:solidFill>
                          <a:latin typeface="Lexend"/>
                          <a:ea typeface="Lexend"/>
                          <a:cs typeface="Lexend"/>
                          <a:sym typeface="Lexend"/>
                        </a:rPr>
                        <a:t>Metrics</a:t>
                      </a:r>
                      <a:endParaRPr sz="700" b="1">
                        <a:solidFill>
                          <a:schemeClr val="lt1"/>
                        </a:solidFill>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7F32"/>
                    </a:solidFill>
                  </a:tcPr>
                </a:tc>
                <a:tc>
                  <a:txBody>
                    <a:bodyPr/>
                    <a:lstStyle/>
                    <a:p>
                      <a:pPr marL="0" lvl="0" indent="0" algn="ctr" rtl="0">
                        <a:lnSpc>
                          <a:spcPct val="115000"/>
                        </a:lnSpc>
                        <a:spcBef>
                          <a:spcPts val="0"/>
                        </a:spcBef>
                        <a:spcAft>
                          <a:spcPts val="0"/>
                        </a:spcAft>
                        <a:buNone/>
                      </a:pPr>
                      <a:r>
                        <a:rPr lang="en" sz="700" b="1">
                          <a:solidFill>
                            <a:schemeClr val="lt1"/>
                          </a:solidFill>
                          <a:latin typeface="Lexend"/>
                          <a:ea typeface="Lexend"/>
                          <a:cs typeface="Lexend"/>
                          <a:sym typeface="Lexend"/>
                        </a:rPr>
                        <a:t>DD</a:t>
                      </a:r>
                      <a:endParaRPr sz="700" b="1">
                        <a:solidFill>
                          <a:schemeClr val="lt1"/>
                        </a:solidFill>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7F32"/>
                    </a:solidFill>
                  </a:tcPr>
                </a:tc>
                <a:tc>
                  <a:txBody>
                    <a:bodyPr/>
                    <a:lstStyle/>
                    <a:p>
                      <a:pPr marL="0" lvl="0" indent="0" algn="ctr" rtl="0">
                        <a:lnSpc>
                          <a:spcPct val="115000"/>
                        </a:lnSpc>
                        <a:spcBef>
                          <a:spcPts val="0"/>
                        </a:spcBef>
                        <a:spcAft>
                          <a:spcPts val="0"/>
                        </a:spcAft>
                        <a:buNone/>
                      </a:pPr>
                      <a:r>
                        <a:rPr lang="en" sz="700" b="1">
                          <a:solidFill>
                            <a:schemeClr val="lt1"/>
                          </a:solidFill>
                          <a:latin typeface="Lexend"/>
                          <a:ea typeface="Lexend"/>
                          <a:cs typeface="Lexend"/>
                          <a:sym typeface="Lexend"/>
                        </a:rPr>
                        <a:t>HK</a:t>
                      </a:r>
                      <a:endParaRPr sz="700" b="1">
                        <a:solidFill>
                          <a:schemeClr val="lt1"/>
                        </a:solidFill>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7F32"/>
                    </a:solidFill>
                  </a:tcPr>
                </a:tc>
                <a:tc>
                  <a:txBody>
                    <a:bodyPr/>
                    <a:lstStyle/>
                    <a:p>
                      <a:pPr marL="0" lvl="0" indent="0" algn="ctr" rtl="0">
                        <a:lnSpc>
                          <a:spcPct val="115000"/>
                        </a:lnSpc>
                        <a:spcBef>
                          <a:spcPts val="0"/>
                        </a:spcBef>
                        <a:spcAft>
                          <a:spcPts val="0"/>
                        </a:spcAft>
                        <a:buNone/>
                      </a:pPr>
                      <a:r>
                        <a:rPr lang="en" sz="700" b="1">
                          <a:solidFill>
                            <a:schemeClr val="lt1"/>
                          </a:solidFill>
                          <a:latin typeface="Lexend"/>
                          <a:ea typeface="Lexend"/>
                          <a:cs typeface="Lexend"/>
                          <a:sym typeface="Lexend"/>
                        </a:rPr>
                        <a:t>HBT</a:t>
                      </a:r>
                      <a:endParaRPr sz="700" b="1">
                        <a:solidFill>
                          <a:schemeClr val="lt1"/>
                        </a:solidFill>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7F32"/>
                    </a:solidFill>
                  </a:tcPr>
                </a:tc>
                <a:tc>
                  <a:txBody>
                    <a:bodyPr/>
                    <a:lstStyle/>
                    <a:p>
                      <a:pPr marL="0" lvl="0" indent="0" algn="ctr" rtl="0">
                        <a:lnSpc>
                          <a:spcPct val="115000"/>
                        </a:lnSpc>
                        <a:spcBef>
                          <a:spcPts val="0"/>
                        </a:spcBef>
                        <a:spcAft>
                          <a:spcPts val="0"/>
                        </a:spcAft>
                        <a:buNone/>
                      </a:pPr>
                      <a:r>
                        <a:rPr lang="en" sz="700" b="1">
                          <a:solidFill>
                            <a:schemeClr val="lt1"/>
                          </a:solidFill>
                          <a:latin typeface="Lexend"/>
                          <a:ea typeface="Lexend"/>
                          <a:cs typeface="Lexend"/>
                          <a:sym typeface="Lexend"/>
                        </a:rPr>
                        <a:t>CG</a:t>
                      </a:r>
                      <a:endParaRPr sz="700" b="1">
                        <a:solidFill>
                          <a:schemeClr val="lt1"/>
                        </a:solidFill>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7F32"/>
                    </a:solidFill>
                  </a:tcPr>
                </a:tc>
                <a:tc>
                  <a:txBody>
                    <a:bodyPr/>
                    <a:lstStyle/>
                    <a:p>
                      <a:pPr marL="0" lvl="0" indent="0" algn="ctr" rtl="0">
                        <a:lnSpc>
                          <a:spcPct val="115000"/>
                        </a:lnSpc>
                        <a:spcBef>
                          <a:spcPts val="0"/>
                        </a:spcBef>
                        <a:spcAft>
                          <a:spcPts val="0"/>
                        </a:spcAft>
                        <a:buNone/>
                      </a:pPr>
                      <a:r>
                        <a:rPr lang="en" sz="700" b="1">
                          <a:solidFill>
                            <a:schemeClr val="lt1"/>
                          </a:solidFill>
                          <a:latin typeface="Lexend"/>
                          <a:ea typeface="Lexend"/>
                          <a:cs typeface="Lexend"/>
                          <a:sym typeface="Lexend"/>
                        </a:rPr>
                        <a:t>BD</a:t>
                      </a:r>
                      <a:endParaRPr sz="700" b="1">
                        <a:solidFill>
                          <a:schemeClr val="lt1"/>
                        </a:solidFill>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7F32"/>
                    </a:solidFill>
                  </a:tcPr>
                </a:tc>
                <a:tc>
                  <a:txBody>
                    <a:bodyPr/>
                    <a:lstStyle/>
                    <a:p>
                      <a:pPr marL="0" lvl="0" indent="0" algn="ctr" rtl="0">
                        <a:lnSpc>
                          <a:spcPct val="115000"/>
                        </a:lnSpc>
                        <a:spcBef>
                          <a:spcPts val="0"/>
                        </a:spcBef>
                        <a:spcAft>
                          <a:spcPts val="0"/>
                        </a:spcAft>
                        <a:buNone/>
                      </a:pPr>
                      <a:r>
                        <a:rPr lang="en" sz="700" b="1">
                          <a:solidFill>
                            <a:schemeClr val="lt1"/>
                          </a:solidFill>
                          <a:latin typeface="Lexend"/>
                          <a:ea typeface="Lexend"/>
                          <a:cs typeface="Lexend"/>
                          <a:sym typeface="Lexend"/>
                        </a:rPr>
                        <a:t>TX</a:t>
                      </a:r>
                      <a:endParaRPr sz="700" b="1">
                        <a:solidFill>
                          <a:schemeClr val="lt1"/>
                        </a:solidFill>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7F32"/>
                    </a:solidFill>
                  </a:tcPr>
                </a:tc>
                <a:tc>
                  <a:txBody>
                    <a:bodyPr/>
                    <a:lstStyle/>
                    <a:p>
                      <a:pPr marL="0" lvl="0" indent="0" algn="ctr" rtl="0">
                        <a:lnSpc>
                          <a:spcPct val="115000"/>
                        </a:lnSpc>
                        <a:spcBef>
                          <a:spcPts val="0"/>
                        </a:spcBef>
                        <a:spcAft>
                          <a:spcPts val="0"/>
                        </a:spcAft>
                        <a:buNone/>
                      </a:pPr>
                      <a:r>
                        <a:rPr lang="en" sz="700" b="1">
                          <a:solidFill>
                            <a:schemeClr val="lt1"/>
                          </a:solidFill>
                          <a:latin typeface="Lexend"/>
                          <a:ea typeface="Lexend"/>
                          <a:cs typeface="Lexend"/>
                          <a:sym typeface="Lexend"/>
                        </a:rPr>
                        <a:t>136</a:t>
                      </a:r>
                      <a:endParaRPr sz="700" b="1">
                        <a:solidFill>
                          <a:schemeClr val="lt1"/>
                        </a:solidFill>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7F32"/>
                    </a:solidFill>
                  </a:tcPr>
                </a:tc>
                <a:tc>
                  <a:txBody>
                    <a:bodyPr/>
                    <a:lstStyle/>
                    <a:p>
                      <a:pPr marL="0" lvl="0" indent="0" algn="ctr" rtl="0">
                        <a:lnSpc>
                          <a:spcPct val="115000"/>
                        </a:lnSpc>
                        <a:spcBef>
                          <a:spcPts val="0"/>
                        </a:spcBef>
                        <a:spcAft>
                          <a:spcPts val="0"/>
                        </a:spcAft>
                        <a:buNone/>
                      </a:pPr>
                      <a:r>
                        <a:rPr lang="en" sz="700" b="1">
                          <a:solidFill>
                            <a:schemeClr val="lt1"/>
                          </a:solidFill>
                          <a:latin typeface="Lexend"/>
                          <a:ea typeface="Lexend"/>
                          <a:cs typeface="Lexend"/>
                          <a:sym typeface="Lexend"/>
                        </a:rPr>
                        <a:t>BIGZONE</a:t>
                      </a:r>
                      <a:endParaRPr sz="700" b="1">
                        <a:solidFill>
                          <a:schemeClr val="lt1"/>
                        </a:solidFill>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7F32"/>
                    </a:solidFill>
                  </a:tcPr>
                </a:tc>
                <a:tc>
                  <a:txBody>
                    <a:bodyPr/>
                    <a:lstStyle/>
                    <a:p>
                      <a:pPr marL="0" lvl="0" indent="0" algn="ctr" rtl="0">
                        <a:lnSpc>
                          <a:spcPct val="115000"/>
                        </a:lnSpc>
                        <a:spcBef>
                          <a:spcPts val="0"/>
                        </a:spcBef>
                        <a:spcAft>
                          <a:spcPts val="0"/>
                        </a:spcAft>
                        <a:buNone/>
                      </a:pPr>
                      <a:r>
                        <a:rPr lang="en" sz="700" b="1">
                          <a:solidFill>
                            <a:schemeClr val="lt1"/>
                          </a:solidFill>
                          <a:latin typeface="Lexend"/>
                          <a:ea typeface="Lexend"/>
                          <a:cs typeface="Lexend"/>
                          <a:sym typeface="Lexend"/>
                        </a:rPr>
                        <a:t>Z24</a:t>
                      </a:r>
                      <a:endParaRPr sz="700" b="1">
                        <a:solidFill>
                          <a:schemeClr val="lt1"/>
                        </a:solidFill>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7F32"/>
                    </a:solidFill>
                  </a:tcPr>
                </a:tc>
                <a:tc>
                  <a:txBody>
                    <a:bodyPr/>
                    <a:lstStyle/>
                    <a:p>
                      <a:pPr marL="0" lvl="0" indent="0" algn="ctr" rtl="0">
                        <a:lnSpc>
                          <a:spcPct val="115000"/>
                        </a:lnSpc>
                        <a:spcBef>
                          <a:spcPts val="0"/>
                        </a:spcBef>
                        <a:spcAft>
                          <a:spcPts val="0"/>
                        </a:spcAft>
                        <a:buNone/>
                      </a:pPr>
                      <a:r>
                        <a:rPr lang="en" sz="700" b="1">
                          <a:solidFill>
                            <a:schemeClr val="lt1"/>
                          </a:solidFill>
                          <a:latin typeface="Lexend"/>
                          <a:ea typeface="Lexend"/>
                          <a:cs typeface="Lexend"/>
                          <a:sym typeface="Lexend"/>
                        </a:rPr>
                        <a:t>Z578</a:t>
                      </a:r>
                      <a:endParaRPr sz="700" b="1">
                        <a:solidFill>
                          <a:schemeClr val="lt1"/>
                        </a:solidFill>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7F32"/>
                    </a:solidFill>
                  </a:tcPr>
                </a:tc>
                <a:extLst>
                  <a:ext uri="{0D108BD9-81ED-4DB2-BD59-A6C34878D82A}">
                    <a16:rowId xmlns:a16="http://schemas.microsoft.com/office/drawing/2014/main" val="10000"/>
                  </a:ext>
                </a:extLst>
              </a:tr>
              <a:tr h="190700">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Active</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CE5CD"/>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13</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9F2"/>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14</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9F2"/>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9</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9F2"/>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21</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9F2"/>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7</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9F2"/>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11</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9F2"/>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44</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9F2"/>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71</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9F2"/>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22</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9F2"/>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10</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9F2"/>
                    </a:solidFill>
                  </a:tcPr>
                </a:tc>
                <a:extLst>
                  <a:ext uri="{0D108BD9-81ED-4DB2-BD59-A6C34878D82A}">
                    <a16:rowId xmlns:a16="http://schemas.microsoft.com/office/drawing/2014/main" val="10001"/>
                  </a:ext>
                </a:extLst>
              </a:tr>
              <a:tr h="308725">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Online rate</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CE5CD"/>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96.26%</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9F2"/>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95.35%</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9F2"/>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94.69%</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9F2"/>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90.59%</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9F2"/>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94.13%</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9F2"/>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86.09%</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9F2"/>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90.14%</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9F2"/>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85.02%</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9F2"/>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82.99%</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9F2"/>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78.25%</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9F2"/>
                    </a:solidFill>
                  </a:tcPr>
                </a:tc>
                <a:extLst>
                  <a:ext uri="{0D108BD9-81ED-4DB2-BD59-A6C34878D82A}">
                    <a16:rowId xmlns:a16="http://schemas.microsoft.com/office/drawing/2014/main" val="10002"/>
                  </a:ext>
                </a:extLst>
              </a:tr>
              <a:tr h="308725">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Utilization</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CE5CD"/>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92.04%</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9F2"/>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86.62%</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9F2"/>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81.63%</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9F2"/>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95.15%</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9F2"/>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94.46%</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9F2"/>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92.81%</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9F2"/>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93.52%</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9F2"/>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93.58%</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9F2"/>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92.67%</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9F2"/>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96.36%</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9F2"/>
                    </a:solidFill>
                  </a:tcPr>
                </a:tc>
                <a:extLst>
                  <a:ext uri="{0D108BD9-81ED-4DB2-BD59-A6C34878D82A}">
                    <a16:rowId xmlns:a16="http://schemas.microsoft.com/office/drawing/2014/main" val="10003"/>
                  </a:ext>
                </a:extLst>
              </a:tr>
              <a:tr h="308725">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Prod per hour</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CE5CD"/>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3.88</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9F2"/>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3.96</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9F2"/>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3.58</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9F2"/>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4.34</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9F2"/>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4.21</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9F2"/>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3.95</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9F2"/>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3.79</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9F2"/>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2.75</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9F2"/>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2.96</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9F2"/>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3.17</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9F2"/>
                    </a:solidFill>
                  </a:tcPr>
                </a:tc>
                <a:extLst>
                  <a:ext uri="{0D108BD9-81ED-4DB2-BD59-A6C34878D82A}">
                    <a16:rowId xmlns:a16="http://schemas.microsoft.com/office/drawing/2014/main" val="10004"/>
                  </a:ext>
                </a:extLst>
              </a:tr>
              <a:tr h="317800">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Earning per hour</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CE5CD"/>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57.1K</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9F2"/>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59.9K</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9F2"/>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55.8K</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9F2"/>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73.3K</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9F2"/>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64.9K</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9F2"/>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72.6K</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9F2"/>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66.5K</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9F2"/>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70.2K</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9F2"/>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58.0K</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9F2"/>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59.6K</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9F2"/>
                    </a:solidFill>
                  </a:tcPr>
                </a:tc>
                <a:extLst>
                  <a:ext uri="{0D108BD9-81ED-4DB2-BD59-A6C34878D82A}">
                    <a16:rowId xmlns:a16="http://schemas.microsoft.com/office/drawing/2014/main" val="10005"/>
                  </a:ext>
                </a:extLst>
              </a:tr>
            </a:tbl>
          </a:graphicData>
        </a:graphic>
      </p:graphicFrame>
      <p:sp>
        <p:nvSpPr>
          <p:cNvPr id="646" name="Google Shape;646;p55"/>
          <p:cNvSpPr txBox="1"/>
          <p:nvPr/>
        </p:nvSpPr>
        <p:spPr>
          <a:xfrm>
            <a:off x="6347337" y="3326956"/>
            <a:ext cx="847200" cy="299700"/>
          </a:xfrm>
          <a:prstGeom prst="rect">
            <a:avLst/>
          </a:prstGeom>
          <a:noFill/>
          <a:ln>
            <a:noFill/>
          </a:ln>
        </p:spPr>
        <p:txBody>
          <a:bodyPr spcFirstLastPara="1" wrap="square" lIns="113975" tIns="113975" rIns="113975" bIns="113975" anchor="ctr" anchorCtr="0">
            <a:noAutofit/>
          </a:bodyPr>
          <a:lstStyle/>
          <a:p>
            <a:pPr marL="0" lvl="0" indent="0" algn="ctr" rtl="0">
              <a:spcBef>
                <a:spcPts val="0"/>
              </a:spcBef>
              <a:spcAft>
                <a:spcPts val="0"/>
              </a:spcAft>
              <a:buNone/>
            </a:pPr>
            <a:r>
              <a:rPr lang="en" sz="800">
                <a:solidFill>
                  <a:srgbClr val="FFFFFF"/>
                </a:solidFill>
                <a:latin typeface="Nunito ExtraBold"/>
                <a:ea typeface="Nunito ExtraBold"/>
                <a:cs typeface="Nunito ExtraBold"/>
                <a:sym typeface="Nunito ExtraBold"/>
              </a:rPr>
              <a:t>Checkin</a:t>
            </a:r>
            <a:endParaRPr sz="800">
              <a:solidFill>
                <a:srgbClr val="FFFFFF"/>
              </a:solidFill>
              <a:latin typeface="Nunito ExtraBold"/>
              <a:ea typeface="Nunito ExtraBold"/>
              <a:cs typeface="Nunito ExtraBold"/>
              <a:sym typeface="Nunito ExtraBold"/>
            </a:endParaRPr>
          </a:p>
        </p:txBody>
      </p:sp>
      <p:sp>
        <p:nvSpPr>
          <p:cNvPr id="647" name="Google Shape;647;p55"/>
          <p:cNvSpPr txBox="1"/>
          <p:nvPr/>
        </p:nvSpPr>
        <p:spPr>
          <a:xfrm>
            <a:off x="6343684" y="3924556"/>
            <a:ext cx="847200" cy="299700"/>
          </a:xfrm>
          <a:prstGeom prst="rect">
            <a:avLst/>
          </a:prstGeom>
          <a:noFill/>
          <a:ln>
            <a:noFill/>
          </a:ln>
        </p:spPr>
        <p:txBody>
          <a:bodyPr spcFirstLastPara="1" wrap="square" lIns="113975" tIns="113975" rIns="113975" bIns="113975" anchor="ctr" anchorCtr="0">
            <a:noAutofit/>
          </a:bodyPr>
          <a:lstStyle/>
          <a:p>
            <a:pPr marL="0" lvl="0" indent="0" algn="ctr" rtl="0">
              <a:spcBef>
                <a:spcPts val="0"/>
              </a:spcBef>
              <a:spcAft>
                <a:spcPts val="0"/>
              </a:spcAft>
              <a:buNone/>
            </a:pPr>
            <a:r>
              <a:rPr lang="en" sz="800">
                <a:solidFill>
                  <a:srgbClr val="FFFFFF"/>
                </a:solidFill>
                <a:latin typeface="Nunito ExtraBold"/>
                <a:ea typeface="Nunito ExtraBold"/>
                <a:cs typeface="Nunito ExtraBold"/>
                <a:sym typeface="Nunito ExtraBold"/>
              </a:rPr>
              <a:t>Checkin </a:t>
            </a:r>
            <a:endParaRPr sz="800">
              <a:solidFill>
                <a:srgbClr val="FFFFFF"/>
              </a:solidFill>
              <a:latin typeface="Nunito ExtraBold"/>
              <a:ea typeface="Nunito ExtraBold"/>
              <a:cs typeface="Nunito ExtraBold"/>
              <a:sym typeface="Nunito ExtraBold"/>
            </a:endParaRPr>
          </a:p>
          <a:p>
            <a:pPr marL="0" lvl="0" indent="0" algn="ctr" rtl="0">
              <a:spcBef>
                <a:spcPts val="0"/>
              </a:spcBef>
              <a:spcAft>
                <a:spcPts val="0"/>
              </a:spcAft>
              <a:buNone/>
            </a:pPr>
            <a:r>
              <a:rPr lang="en" sz="800">
                <a:solidFill>
                  <a:srgbClr val="FFFFFF"/>
                </a:solidFill>
                <a:latin typeface="Nunito ExtraBold"/>
                <a:ea typeface="Nunito ExtraBold"/>
                <a:cs typeface="Nunito ExtraBold"/>
                <a:sym typeface="Nunito ExtraBold"/>
              </a:rPr>
              <a:t>rate</a:t>
            </a:r>
            <a:endParaRPr sz="800">
              <a:solidFill>
                <a:srgbClr val="FFFFFF"/>
              </a:solidFill>
              <a:latin typeface="Nunito ExtraBold"/>
              <a:ea typeface="Nunito ExtraBold"/>
              <a:cs typeface="Nunito ExtraBold"/>
              <a:sym typeface="Nunito ExtraBold"/>
            </a:endParaRPr>
          </a:p>
        </p:txBody>
      </p:sp>
      <p:sp>
        <p:nvSpPr>
          <p:cNvPr id="648" name="Google Shape;648;p55"/>
          <p:cNvSpPr txBox="1"/>
          <p:nvPr/>
        </p:nvSpPr>
        <p:spPr>
          <a:xfrm>
            <a:off x="6343684" y="4523106"/>
            <a:ext cx="847200" cy="299700"/>
          </a:xfrm>
          <a:prstGeom prst="rect">
            <a:avLst/>
          </a:prstGeom>
          <a:noFill/>
          <a:ln>
            <a:noFill/>
          </a:ln>
        </p:spPr>
        <p:txBody>
          <a:bodyPr spcFirstLastPara="1" wrap="square" lIns="113975" tIns="113975" rIns="113975" bIns="113975" anchor="ctr" anchorCtr="0">
            <a:noAutofit/>
          </a:bodyPr>
          <a:lstStyle/>
          <a:p>
            <a:pPr marL="0" lvl="0" indent="0" algn="ctr" rtl="0">
              <a:spcBef>
                <a:spcPts val="0"/>
              </a:spcBef>
              <a:spcAft>
                <a:spcPts val="0"/>
              </a:spcAft>
              <a:buNone/>
            </a:pPr>
            <a:r>
              <a:rPr lang="en" sz="800">
                <a:solidFill>
                  <a:srgbClr val="FFFFFF"/>
                </a:solidFill>
                <a:latin typeface="Nunito ExtraBold"/>
                <a:ea typeface="Nunito ExtraBold"/>
                <a:cs typeface="Nunito ExtraBold"/>
                <a:sym typeface="Nunito ExtraBold"/>
              </a:rPr>
              <a:t>Coverage</a:t>
            </a:r>
            <a:endParaRPr sz="800">
              <a:solidFill>
                <a:srgbClr val="FFFFFF"/>
              </a:solidFill>
              <a:latin typeface="Nunito ExtraBold"/>
              <a:ea typeface="Nunito ExtraBold"/>
              <a:cs typeface="Nunito ExtraBold"/>
              <a:sym typeface="Nunito ExtraBold"/>
            </a:endParaRPr>
          </a:p>
        </p:txBody>
      </p:sp>
      <p:sp>
        <p:nvSpPr>
          <p:cNvPr id="649" name="Google Shape;649;p55"/>
          <p:cNvSpPr/>
          <p:nvPr/>
        </p:nvSpPr>
        <p:spPr>
          <a:xfrm>
            <a:off x="6460891" y="3270325"/>
            <a:ext cx="1297200" cy="413100"/>
          </a:xfrm>
          <a:prstGeom prst="roundRect">
            <a:avLst>
              <a:gd name="adj" fmla="val 16667"/>
            </a:avLst>
          </a:prstGeom>
          <a:solidFill>
            <a:srgbClr val="FFFFFF"/>
          </a:solidFill>
          <a:ln w="11875" cap="flat" cmpd="sng">
            <a:solidFill>
              <a:srgbClr val="FFFFFF"/>
            </a:solidFill>
            <a:prstDash val="solid"/>
            <a:round/>
            <a:headEnd type="none" w="sm" len="sm"/>
            <a:tailEnd type="none" w="sm" len="sm"/>
          </a:ln>
          <a:effectLst>
            <a:outerShdw blurRad="231572" dist="23751" dir="5400000" algn="bl" rotWithShape="0">
              <a:srgbClr val="999999">
                <a:alpha val="50000"/>
              </a:srgbClr>
            </a:outerShdw>
          </a:effectLst>
        </p:spPr>
        <p:txBody>
          <a:bodyPr spcFirstLastPara="1" wrap="square" lIns="113975" tIns="113975" rIns="113975" bIns="113975" anchor="ctr" anchorCtr="0">
            <a:noAutofit/>
          </a:bodyPr>
          <a:lstStyle/>
          <a:p>
            <a:pPr marL="0" lvl="0" indent="0" algn="ctr" rtl="0">
              <a:spcBef>
                <a:spcPts val="0"/>
              </a:spcBef>
              <a:spcAft>
                <a:spcPts val="0"/>
              </a:spcAft>
              <a:buNone/>
            </a:pPr>
            <a:endParaRPr sz="1745">
              <a:latin typeface="Nunito ExtraBold"/>
              <a:ea typeface="Nunito ExtraBold"/>
              <a:cs typeface="Nunito ExtraBold"/>
              <a:sym typeface="Nunito ExtraBold"/>
            </a:endParaRPr>
          </a:p>
        </p:txBody>
      </p:sp>
      <p:sp>
        <p:nvSpPr>
          <p:cNvPr id="650" name="Google Shape;650;p55"/>
          <p:cNvSpPr/>
          <p:nvPr/>
        </p:nvSpPr>
        <p:spPr>
          <a:xfrm>
            <a:off x="6392093" y="3270337"/>
            <a:ext cx="622500" cy="413100"/>
          </a:xfrm>
          <a:prstGeom prst="roundRect">
            <a:avLst>
              <a:gd name="adj" fmla="val 16667"/>
            </a:avLst>
          </a:prstGeom>
          <a:solidFill>
            <a:srgbClr val="F66000"/>
          </a:solidFill>
          <a:ln w="11875" cap="flat" cmpd="sng">
            <a:solidFill>
              <a:srgbClr val="FFFFFF"/>
            </a:solidFill>
            <a:prstDash val="solid"/>
            <a:round/>
            <a:headEnd type="none" w="sm" len="sm"/>
            <a:tailEnd type="none" w="sm" len="sm"/>
          </a:ln>
          <a:effectLst>
            <a:outerShdw blurRad="231572" dist="23751" dir="5400000" algn="bl" rotWithShape="0">
              <a:srgbClr val="999999">
                <a:alpha val="50000"/>
              </a:srgbClr>
            </a:outerShdw>
          </a:effectLst>
        </p:spPr>
        <p:txBody>
          <a:bodyPr spcFirstLastPara="1" wrap="square" lIns="113975" tIns="113975" rIns="113975" bIns="113975" anchor="ctr" anchorCtr="0">
            <a:noAutofit/>
          </a:bodyPr>
          <a:lstStyle/>
          <a:p>
            <a:pPr marL="0" lvl="0" indent="0" algn="ctr" rtl="0">
              <a:spcBef>
                <a:spcPts val="0"/>
              </a:spcBef>
              <a:spcAft>
                <a:spcPts val="0"/>
              </a:spcAft>
              <a:buNone/>
            </a:pPr>
            <a:endParaRPr sz="1745">
              <a:latin typeface="Nunito ExtraBold"/>
              <a:ea typeface="Nunito ExtraBold"/>
              <a:cs typeface="Nunito ExtraBold"/>
              <a:sym typeface="Nunito ExtraBold"/>
            </a:endParaRPr>
          </a:p>
        </p:txBody>
      </p:sp>
      <p:sp>
        <p:nvSpPr>
          <p:cNvPr id="651" name="Google Shape;651;p55"/>
          <p:cNvSpPr/>
          <p:nvPr/>
        </p:nvSpPr>
        <p:spPr>
          <a:xfrm>
            <a:off x="6457241" y="3867925"/>
            <a:ext cx="1297200" cy="413100"/>
          </a:xfrm>
          <a:prstGeom prst="roundRect">
            <a:avLst>
              <a:gd name="adj" fmla="val 16667"/>
            </a:avLst>
          </a:prstGeom>
          <a:solidFill>
            <a:srgbClr val="FFFFFF"/>
          </a:solidFill>
          <a:ln w="11875" cap="flat" cmpd="sng">
            <a:solidFill>
              <a:srgbClr val="FFFFFF"/>
            </a:solidFill>
            <a:prstDash val="solid"/>
            <a:round/>
            <a:headEnd type="none" w="sm" len="sm"/>
            <a:tailEnd type="none" w="sm" len="sm"/>
          </a:ln>
          <a:effectLst>
            <a:outerShdw blurRad="231572" dist="23751" dir="5400000" algn="bl" rotWithShape="0">
              <a:srgbClr val="999999">
                <a:alpha val="50000"/>
              </a:srgbClr>
            </a:outerShdw>
          </a:effectLst>
        </p:spPr>
        <p:txBody>
          <a:bodyPr spcFirstLastPara="1" wrap="square" lIns="113975" tIns="113975" rIns="113975" bIns="113975" anchor="ctr" anchorCtr="0">
            <a:noAutofit/>
          </a:bodyPr>
          <a:lstStyle/>
          <a:p>
            <a:pPr marL="0" lvl="0" indent="0" algn="ctr" rtl="0">
              <a:spcBef>
                <a:spcPts val="0"/>
              </a:spcBef>
              <a:spcAft>
                <a:spcPts val="0"/>
              </a:spcAft>
              <a:buNone/>
            </a:pPr>
            <a:endParaRPr sz="1745">
              <a:latin typeface="Nunito ExtraBold"/>
              <a:ea typeface="Nunito ExtraBold"/>
              <a:cs typeface="Nunito ExtraBold"/>
              <a:sym typeface="Nunito ExtraBold"/>
            </a:endParaRPr>
          </a:p>
        </p:txBody>
      </p:sp>
      <p:sp>
        <p:nvSpPr>
          <p:cNvPr id="652" name="Google Shape;652;p55"/>
          <p:cNvSpPr/>
          <p:nvPr/>
        </p:nvSpPr>
        <p:spPr>
          <a:xfrm>
            <a:off x="6388440" y="3867937"/>
            <a:ext cx="622500" cy="413100"/>
          </a:xfrm>
          <a:prstGeom prst="roundRect">
            <a:avLst>
              <a:gd name="adj" fmla="val 16667"/>
            </a:avLst>
          </a:prstGeom>
          <a:solidFill>
            <a:srgbClr val="F66000"/>
          </a:solidFill>
          <a:ln w="11875" cap="flat" cmpd="sng">
            <a:solidFill>
              <a:srgbClr val="FFFFFF"/>
            </a:solidFill>
            <a:prstDash val="solid"/>
            <a:round/>
            <a:headEnd type="none" w="sm" len="sm"/>
            <a:tailEnd type="none" w="sm" len="sm"/>
          </a:ln>
          <a:effectLst>
            <a:outerShdw blurRad="231572" dist="23751" dir="5400000" algn="bl" rotWithShape="0">
              <a:srgbClr val="999999">
                <a:alpha val="50000"/>
              </a:srgbClr>
            </a:outerShdw>
          </a:effectLst>
        </p:spPr>
        <p:txBody>
          <a:bodyPr spcFirstLastPara="1" wrap="square" lIns="113975" tIns="113975" rIns="113975" bIns="113975" anchor="ctr" anchorCtr="0">
            <a:noAutofit/>
          </a:bodyPr>
          <a:lstStyle/>
          <a:p>
            <a:pPr marL="0" lvl="0" indent="0" algn="ctr" rtl="0">
              <a:spcBef>
                <a:spcPts val="0"/>
              </a:spcBef>
              <a:spcAft>
                <a:spcPts val="0"/>
              </a:spcAft>
              <a:buNone/>
            </a:pPr>
            <a:endParaRPr sz="1745">
              <a:latin typeface="Nunito ExtraBold"/>
              <a:ea typeface="Nunito ExtraBold"/>
              <a:cs typeface="Nunito ExtraBold"/>
              <a:sym typeface="Nunito ExtraBold"/>
            </a:endParaRPr>
          </a:p>
        </p:txBody>
      </p:sp>
      <p:sp>
        <p:nvSpPr>
          <p:cNvPr id="653" name="Google Shape;653;p55"/>
          <p:cNvSpPr/>
          <p:nvPr/>
        </p:nvSpPr>
        <p:spPr>
          <a:xfrm>
            <a:off x="6457241" y="4466475"/>
            <a:ext cx="1297200" cy="413100"/>
          </a:xfrm>
          <a:prstGeom prst="roundRect">
            <a:avLst>
              <a:gd name="adj" fmla="val 16667"/>
            </a:avLst>
          </a:prstGeom>
          <a:solidFill>
            <a:srgbClr val="FFFFFF"/>
          </a:solidFill>
          <a:ln w="11875" cap="flat" cmpd="sng">
            <a:solidFill>
              <a:srgbClr val="FFFFFF"/>
            </a:solidFill>
            <a:prstDash val="solid"/>
            <a:round/>
            <a:headEnd type="none" w="sm" len="sm"/>
            <a:tailEnd type="none" w="sm" len="sm"/>
          </a:ln>
          <a:effectLst>
            <a:outerShdw blurRad="231572" dist="23751" dir="5400000" algn="bl" rotWithShape="0">
              <a:srgbClr val="999999">
                <a:alpha val="50000"/>
              </a:srgbClr>
            </a:outerShdw>
          </a:effectLst>
        </p:spPr>
        <p:txBody>
          <a:bodyPr spcFirstLastPara="1" wrap="square" lIns="113975" tIns="113975" rIns="113975" bIns="113975" anchor="ctr" anchorCtr="0">
            <a:noAutofit/>
          </a:bodyPr>
          <a:lstStyle/>
          <a:p>
            <a:pPr marL="0" lvl="0" indent="0" algn="ctr" rtl="0">
              <a:spcBef>
                <a:spcPts val="0"/>
              </a:spcBef>
              <a:spcAft>
                <a:spcPts val="0"/>
              </a:spcAft>
              <a:buNone/>
            </a:pPr>
            <a:endParaRPr sz="1745">
              <a:latin typeface="Nunito ExtraBold"/>
              <a:ea typeface="Nunito ExtraBold"/>
              <a:cs typeface="Nunito ExtraBold"/>
              <a:sym typeface="Nunito ExtraBold"/>
            </a:endParaRPr>
          </a:p>
        </p:txBody>
      </p:sp>
      <p:sp>
        <p:nvSpPr>
          <p:cNvPr id="654" name="Google Shape;654;p55"/>
          <p:cNvSpPr/>
          <p:nvPr/>
        </p:nvSpPr>
        <p:spPr>
          <a:xfrm>
            <a:off x="6388440" y="4466487"/>
            <a:ext cx="622500" cy="413100"/>
          </a:xfrm>
          <a:prstGeom prst="roundRect">
            <a:avLst>
              <a:gd name="adj" fmla="val 16667"/>
            </a:avLst>
          </a:prstGeom>
          <a:solidFill>
            <a:srgbClr val="F66000"/>
          </a:solidFill>
          <a:ln w="11875" cap="flat" cmpd="sng">
            <a:solidFill>
              <a:srgbClr val="FFFFFF"/>
            </a:solidFill>
            <a:prstDash val="solid"/>
            <a:round/>
            <a:headEnd type="none" w="sm" len="sm"/>
            <a:tailEnd type="none" w="sm" len="sm"/>
          </a:ln>
          <a:effectLst>
            <a:outerShdw blurRad="231572" dist="23751" dir="5400000" algn="bl" rotWithShape="0">
              <a:srgbClr val="999999">
                <a:alpha val="50000"/>
              </a:srgbClr>
            </a:outerShdw>
          </a:effectLst>
        </p:spPr>
        <p:txBody>
          <a:bodyPr spcFirstLastPara="1" wrap="square" lIns="113975" tIns="113975" rIns="113975" bIns="113975" anchor="ctr" anchorCtr="0">
            <a:noAutofit/>
          </a:bodyPr>
          <a:lstStyle/>
          <a:p>
            <a:pPr marL="0" lvl="0" indent="0" algn="ctr" rtl="0">
              <a:spcBef>
                <a:spcPts val="0"/>
              </a:spcBef>
              <a:spcAft>
                <a:spcPts val="0"/>
              </a:spcAft>
              <a:buNone/>
            </a:pPr>
            <a:endParaRPr sz="1745">
              <a:latin typeface="Nunito ExtraBold"/>
              <a:ea typeface="Nunito ExtraBold"/>
              <a:cs typeface="Nunito ExtraBold"/>
              <a:sym typeface="Nunito ExtraBold"/>
            </a:endParaRPr>
          </a:p>
        </p:txBody>
      </p:sp>
      <p:graphicFrame>
        <p:nvGraphicFramePr>
          <p:cNvPr id="655" name="Google Shape;655;p55"/>
          <p:cNvGraphicFramePr/>
          <p:nvPr/>
        </p:nvGraphicFramePr>
        <p:xfrm>
          <a:off x="1005067" y="3221767"/>
          <a:ext cx="5297325" cy="1743450"/>
        </p:xfrm>
        <a:graphic>
          <a:graphicData uri="http://schemas.openxmlformats.org/drawingml/2006/table">
            <a:tbl>
              <a:tblPr>
                <a:noFill/>
                <a:tableStyleId>{BD4DB973-2F49-4540-A1CC-0EE3EA8BBFB3}</a:tableStyleId>
              </a:tblPr>
              <a:tblGrid>
                <a:gridCol w="899175">
                  <a:extLst>
                    <a:ext uri="{9D8B030D-6E8A-4147-A177-3AD203B41FA5}">
                      <a16:colId xmlns:a16="http://schemas.microsoft.com/office/drawing/2014/main" val="20000"/>
                    </a:ext>
                  </a:extLst>
                </a:gridCol>
                <a:gridCol w="733025">
                  <a:extLst>
                    <a:ext uri="{9D8B030D-6E8A-4147-A177-3AD203B41FA5}">
                      <a16:colId xmlns:a16="http://schemas.microsoft.com/office/drawing/2014/main" val="20001"/>
                    </a:ext>
                  </a:extLst>
                </a:gridCol>
                <a:gridCol w="733025">
                  <a:extLst>
                    <a:ext uri="{9D8B030D-6E8A-4147-A177-3AD203B41FA5}">
                      <a16:colId xmlns:a16="http://schemas.microsoft.com/office/drawing/2014/main" val="20002"/>
                    </a:ext>
                  </a:extLst>
                </a:gridCol>
                <a:gridCol w="733025">
                  <a:extLst>
                    <a:ext uri="{9D8B030D-6E8A-4147-A177-3AD203B41FA5}">
                      <a16:colId xmlns:a16="http://schemas.microsoft.com/office/drawing/2014/main" val="20003"/>
                    </a:ext>
                  </a:extLst>
                </a:gridCol>
                <a:gridCol w="733025">
                  <a:extLst>
                    <a:ext uri="{9D8B030D-6E8A-4147-A177-3AD203B41FA5}">
                      <a16:colId xmlns:a16="http://schemas.microsoft.com/office/drawing/2014/main" val="20004"/>
                    </a:ext>
                  </a:extLst>
                </a:gridCol>
                <a:gridCol w="733025">
                  <a:extLst>
                    <a:ext uri="{9D8B030D-6E8A-4147-A177-3AD203B41FA5}">
                      <a16:colId xmlns:a16="http://schemas.microsoft.com/office/drawing/2014/main" val="20005"/>
                    </a:ext>
                  </a:extLst>
                </a:gridCol>
                <a:gridCol w="733025">
                  <a:extLst>
                    <a:ext uri="{9D8B030D-6E8A-4147-A177-3AD203B41FA5}">
                      <a16:colId xmlns:a16="http://schemas.microsoft.com/office/drawing/2014/main" val="20006"/>
                    </a:ext>
                  </a:extLst>
                </a:gridCol>
              </a:tblGrid>
              <a:tr h="275450">
                <a:tc>
                  <a:txBody>
                    <a:bodyPr/>
                    <a:lstStyle/>
                    <a:p>
                      <a:pPr marL="0" lvl="0" indent="0" algn="ctr" rtl="0">
                        <a:lnSpc>
                          <a:spcPct val="115000"/>
                        </a:lnSpc>
                        <a:spcBef>
                          <a:spcPts val="0"/>
                        </a:spcBef>
                        <a:spcAft>
                          <a:spcPts val="0"/>
                        </a:spcAft>
                        <a:buNone/>
                      </a:pPr>
                      <a:r>
                        <a:rPr lang="en" sz="700" b="1">
                          <a:solidFill>
                            <a:schemeClr val="lt1"/>
                          </a:solidFill>
                          <a:latin typeface="Lexend"/>
                          <a:ea typeface="Lexend"/>
                          <a:cs typeface="Lexend"/>
                          <a:sym typeface="Lexend"/>
                        </a:rPr>
                        <a:t>Metrics</a:t>
                      </a:r>
                      <a:endParaRPr sz="700" b="1">
                        <a:solidFill>
                          <a:schemeClr val="lt1"/>
                        </a:solidFill>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7F32"/>
                    </a:solidFill>
                  </a:tcPr>
                </a:tc>
                <a:tc>
                  <a:txBody>
                    <a:bodyPr/>
                    <a:lstStyle/>
                    <a:p>
                      <a:pPr marL="0" lvl="0" indent="0" algn="ctr" rtl="0">
                        <a:lnSpc>
                          <a:spcPct val="115000"/>
                        </a:lnSpc>
                        <a:spcBef>
                          <a:spcPts val="0"/>
                        </a:spcBef>
                        <a:spcAft>
                          <a:spcPts val="0"/>
                        </a:spcAft>
                        <a:buNone/>
                      </a:pPr>
                      <a:r>
                        <a:rPr lang="en" sz="700" b="1">
                          <a:solidFill>
                            <a:schemeClr val="lt1"/>
                          </a:solidFill>
                          <a:latin typeface="Lexend"/>
                          <a:ea typeface="Lexend"/>
                          <a:cs typeface="Lexend"/>
                          <a:sym typeface="Lexend"/>
                        </a:rPr>
                        <a:t>ZONE 1</a:t>
                      </a:r>
                      <a:endParaRPr sz="700" b="1">
                        <a:solidFill>
                          <a:schemeClr val="lt1"/>
                        </a:solidFill>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7F32"/>
                    </a:solidFill>
                  </a:tcPr>
                </a:tc>
                <a:tc>
                  <a:txBody>
                    <a:bodyPr/>
                    <a:lstStyle/>
                    <a:p>
                      <a:pPr marL="0" lvl="0" indent="0" algn="ctr" rtl="0">
                        <a:lnSpc>
                          <a:spcPct val="115000"/>
                        </a:lnSpc>
                        <a:spcBef>
                          <a:spcPts val="0"/>
                        </a:spcBef>
                        <a:spcAft>
                          <a:spcPts val="0"/>
                        </a:spcAft>
                        <a:buNone/>
                      </a:pPr>
                      <a:r>
                        <a:rPr lang="en" sz="700" b="1">
                          <a:solidFill>
                            <a:schemeClr val="lt1"/>
                          </a:solidFill>
                          <a:latin typeface="Lexend"/>
                          <a:ea typeface="Lexend"/>
                          <a:cs typeface="Lexend"/>
                          <a:sym typeface="Lexend"/>
                        </a:rPr>
                        <a:t>ZONE 2</a:t>
                      </a:r>
                      <a:endParaRPr sz="700" b="1">
                        <a:solidFill>
                          <a:schemeClr val="lt1"/>
                        </a:solidFill>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7F32"/>
                    </a:solidFill>
                  </a:tcPr>
                </a:tc>
                <a:tc>
                  <a:txBody>
                    <a:bodyPr/>
                    <a:lstStyle/>
                    <a:p>
                      <a:pPr marL="0" lvl="0" indent="0" algn="ctr" rtl="0">
                        <a:lnSpc>
                          <a:spcPct val="115000"/>
                        </a:lnSpc>
                        <a:spcBef>
                          <a:spcPts val="0"/>
                        </a:spcBef>
                        <a:spcAft>
                          <a:spcPts val="0"/>
                        </a:spcAft>
                        <a:buNone/>
                      </a:pPr>
                      <a:r>
                        <a:rPr lang="en" sz="700" b="1">
                          <a:solidFill>
                            <a:schemeClr val="lt1"/>
                          </a:solidFill>
                          <a:latin typeface="Lexend"/>
                          <a:ea typeface="Lexend"/>
                          <a:cs typeface="Lexend"/>
                          <a:sym typeface="Lexend"/>
                        </a:rPr>
                        <a:t>ZONE 3</a:t>
                      </a:r>
                      <a:endParaRPr sz="700" b="1">
                        <a:solidFill>
                          <a:schemeClr val="lt1"/>
                        </a:solidFill>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7F32"/>
                    </a:solidFill>
                  </a:tcPr>
                </a:tc>
                <a:tc>
                  <a:txBody>
                    <a:bodyPr/>
                    <a:lstStyle/>
                    <a:p>
                      <a:pPr marL="0" lvl="0" indent="0" algn="ctr" rtl="0">
                        <a:lnSpc>
                          <a:spcPct val="115000"/>
                        </a:lnSpc>
                        <a:spcBef>
                          <a:spcPts val="0"/>
                        </a:spcBef>
                        <a:spcAft>
                          <a:spcPts val="0"/>
                        </a:spcAft>
                        <a:buNone/>
                      </a:pPr>
                      <a:r>
                        <a:rPr lang="en" sz="700" b="1">
                          <a:solidFill>
                            <a:schemeClr val="lt1"/>
                          </a:solidFill>
                          <a:latin typeface="Lexend"/>
                          <a:ea typeface="Lexend"/>
                          <a:cs typeface="Lexend"/>
                          <a:sym typeface="Lexend"/>
                        </a:rPr>
                        <a:t>ZONE 4</a:t>
                      </a:r>
                      <a:endParaRPr sz="700" b="1">
                        <a:solidFill>
                          <a:schemeClr val="lt1"/>
                        </a:solidFill>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7F32"/>
                    </a:solidFill>
                  </a:tcPr>
                </a:tc>
                <a:tc>
                  <a:txBody>
                    <a:bodyPr/>
                    <a:lstStyle/>
                    <a:p>
                      <a:pPr marL="0" lvl="0" indent="0" algn="ctr" rtl="0">
                        <a:lnSpc>
                          <a:spcPct val="115000"/>
                        </a:lnSpc>
                        <a:spcBef>
                          <a:spcPts val="0"/>
                        </a:spcBef>
                        <a:spcAft>
                          <a:spcPts val="0"/>
                        </a:spcAft>
                        <a:buNone/>
                      </a:pPr>
                      <a:r>
                        <a:rPr lang="en" sz="700" b="1">
                          <a:solidFill>
                            <a:schemeClr val="lt1"/>
                          </a:solidFill>
                          <a:latin typeface="Lexend"/>
                          <a:ea typeface="Lexend"/>
                          <a:cs typeface="Lexend"/>
                          <a:sym typeface="Lexend"/>
                        </a:rPr>
                        <a:t>ZONE 5</a:t>
                      </a:r>
                      <a:endParaRPr sz="700" b="1">
                        <a:solidFill>
                          <a:schemeClr val="lt1"/>
                        </a:solidFill>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7F32"/>
                    </a:solidFill>
                  </a:tcPr>
                </a:tc>
                <a:tc>
                  <a:txBody>
                    <a:bodyPr/>
                    <a:lstStyle/>
                    <a:p>
                      <a:pPr marL="0" lvl="0" indent="0" algn="ctr" rtl="0">
                        <a:lnSpc>
                          <a:spcPct val="115000"/>
                        </a:lnSpc>
                        <a:spcBef>
                          <a:spcPts val="0"/>
                        </a:spcBef>
                        <a:spcAft>
                          <a:spcPts val="0"/>
                        </a:spcAft>
                        <a:buNone/>
                      </a:pPr>
                      <a:r>
                        <a:rPr lang="en" sz="700" b="1">
                          <a:solidFill>
                            <a:schemeClr val="lt1"/>
                          </a:solidFill>
                          <a:latin typeface="Lexend"/>
                          <a:ea typeface="Lexend"/>
                          <a:cs typeface="Lexend"/>
                          <a:sym typeface="Lexend"/>
                        </a:rPr>
                        <a:t>ZONE 6</a:t>
                      </a:r>
                      <a:endParaRPr sz="700" b="1">
                        <a:solidFill>
                          <a:schemeClr val="lt1"/>
                        </a:solidFill>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7F32"/>
                    </a:solidFill>
                  </a:tcPr>
                </a:tc>
                <a:extLst>
                  <a:ext uri="{0D108BD9-81ED-4DB2-BD59-A6C34878D82A}">
                    <a16:rowId xmlns:a16="http://schemas.microsoft.com/office/drawing/2014/main" val="10000"/>
                  </a:ext>
                </a:extLst>
              </a:tr>
              <a:tr h="293600">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Active</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CE5CD"/>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71</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9F2"/>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73</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9F2"/>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80</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9F2"/>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31</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9F2"/>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70</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9F2"/>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58</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9F2"/>
                    </a:solidFill>
                  </a:tcPr>
                </a:tc>
                <a:extLst>
                  <a:ext uri="{0D108BD9-81ED-4DB2-BD59-A6C34878D82A}">
                    <a16:rowId xmlns:a16="http://schemas.microsoft.com/office/drawing/2014/main" val="10001"/>
                  </a:ext>
                </a:extLst>
              </a:tr>
              <a:tr h="293600">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Online rate</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CE5CD"/>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89.49%</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9F2"/>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90.56%</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9F2"/>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89.61%</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9F2"/>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92.92%</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9F2"/>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89.25%</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9F2"/>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87.55%</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9F2"/>
                    </a:solidFill>
                  </a:tcPr>
                </a:tc>
                <a:extLst>
                  <a:ext uri="{0D108BD9-81ED-4DB2-BD59-A6C34878D82A}">
                    <a16:rowId xmlns:a16="http://schemas.microsoft.com/office/drawing/2014/main" val="10002"/>
                  </a:ext>
                </a:extLst>
              </a:tr>
              <a:tr h="293600">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Utilization</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CE5CD"/>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85.52%</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9F2"/>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86.13%</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9F2"/>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87.35%</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9F2"/>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87.60%</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9F2"/>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80.00%</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9F2"/>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90.44%</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9F2"/>
                    </a:solidFill>
                  </a:tcPr>
                </a:tc>
                <a:extLst>
                  <a:ext uri="{0D108BD9-81ED-4DB2-BD59-A6C34878D82A}">
                    <a16:rowId xmlns:a16="http://schemas.microsoft.com/office/drawing/2014/main" val="10003"/>
                  </a:ext>
                </a:extLst>
              </a:tr>
              <a:tr h="293600">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Prod per hour</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CE5CD"/>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3.29</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9F2"/>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3.19</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9F2"/>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3.05</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9F2"/>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3.06</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9F2"/>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3.07</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9F2"/>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3.05</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9F2"/>
                    </a:solidFill>
                  </a:tcPr>
                </a:tc>
                <a:extLst>
                  <a:ext uri="{0D108BD9-81ED-4DB2-BD59-A6C34878D82A}">
                    <a16:rowId xmlns:a16="http://schemas.microsoft.com/office/drawing/2014/main" val="10004"/>
                  </a:ext>
                </a:extLst>
              </a:tr>
              <a:tr h="293600">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Earning per hour</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CE5CD"/>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49.5K</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9F2"/>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49.1K</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9F2"/>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45.8K</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9F2"/>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47.5K</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9F2"/>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46.0K</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9F2"/>
                    </a:solidFill>
                  </a:tcPr>
                </a:tc>
                <a:tc>
                  <a:txBody>
                    <a:bodyPr/>
                    <a:lstStyle/>
                    <a:p>
                      <a:pPr marL="0" lvl="0" indent="0" algn="ctr" rtl="0">
                        <a:lnSpc>
                          <a:spcPct val="115000"/>
                        </a:lnSpc>
                        <a:spcBef>
                          <a:spcPts val="0"/>
                        </a:spcBef>
                        <a:spcAft>
                          <a:spcPts val="0"/>
                        </a:spcAft>
                        <a:buNone/>
                      </a:pPr>
                      <a:r>
                        <a:rPr lang="en" sz="700">
                          <a:latin typeface="Lexend"/>
                          <a:ea typeface="Lexend"/>
                          <a:cs typeface="Lexend"/>
                          <a:sym typeface="Lexend"/>
                        </a:rPr>
                        <a:t>50.7K</a:t>
                      </a:r>
                      <a:endParaRPr sz="700">
                        <a:latin typeface="Lexend"/>
                        <a:ea typeface="Lexend"/>
                        <a:cs typeface="Lexend"/>
                        <a:sym typeface="Lexend"/>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9F2"/>
                    </a:solidFill>
                  </a:tcPr>
                </a:tc>
                <a:extLst>
                  <a:ext uri="{0D108BD9-81ED-4DB2-BD59-A6C34878D82A}">
                    <a16:rowId xmlns:a16="http://schemas.microsoft.com/office/drawing/2014/main" val="10005"/>
                  </a:ext>
                </a:extLst>
              </a:tr>
            </a:tbl>
          </a:graphicData>
        </a:graphic>
      </p:graphicFrame>
      <p:sp>
        <p:nvSpPr>
          <p:cNvPr id="656" name="Google Shape;656;p55"/>
          <p:cNvSpPr txBox="1"/>
          <p:nvPr/>
        </p:nvSpPr>
        <p:spPr>
          <a:xfrm>
            <a:off x="6279737" y="3326464"/>
            <a:ext cx="847200" cy="299700"/>
          </a:xfrm>
          <a:prstGeom prst="rect">
            <a:avLst/>
          </a:prstGeom>
          <a:noFill/>
          <a:ln>
            <a:noFill/>
          </a:ln>
        </p:spPr>
        <p:txBody>
          <a:bodyPr spcFirstLastPara="1" wrap="square" lIns="113975" tIns="113975" rIns="113975" bIns="113975" anchor="ctr" anchorCtr="0">
            <a:noAutofit/>
          </a:bodyPr>
          <a:lstStyle/>
          <a:p>
            <a:pPr marL="0" lvl="0" indent="0" algn="ctr" rtl="0">
              <a:spcBef>
                <a:spcPts val="0"/>
              </a:spcBef>
              <a:spcAft>
                <a:spcPts val="0"/>
              </a:spcAft>
              <a:buNone/>
            </a:pPr>
            <a:r>
              <a:rPr lang="en" sz="800">
                <a:solidFill>
                  <a:srgbClr val="FFFFFF"/>
                </a:solidFill>
                <a:latin typeface="Nunito ExtraBold"/>
                <a:ea typeface="Nunito ExtraBold"/>
                <a:cs typeface="Nunito ExtraBold"/>
                <a:sym typeface="Nunito ExtraBold"/>
              </a:rPr>
              <a:t>Checkin</a:t>
            </a:r>
            <a:endParaRPr sz="800">
              <a:solidFill>
                <a:srgbClr val="FFFFFF"/>
              </a:solidFill>
              <a:latin typeface="Nunito ExtraBold"/>
              <a:ea typeface="Nunito ExtraBold"/>
              <a:cs typeface="Nunito ExtraBold"/>
              <a:sym typeface="Nunito ExtraBold"/>
            </a:endParaRPr>
          </a:p>
        </p:txBody>
      </p:sp>
      <p:sp>
        <p:nvSpPr>
          <p:cNvPr id="657" name="Google Shape;657;p55"/>
          <p:cNvSpPr txBox="1"/>
          <p:nvPr/>
        </p:nvSpPr>
        <p:spPr>
          <a:xfrm>
            <a:off x="6276084" y="3925089"/>
            <a:ext cx="847200" cy="299700"/>
          </a:xfrm>
          <a:prstGeom prst="rect">
            <a:avLst/>
          </a:prstGeom>
          <a:noFill/>
          <a:ln>
            <a:noFill/>
          </a:ln>
        </p:spPr>
        <p:txBody>
          <a:bodyPr spcFirstLastPara="1" wrap="square" lIns="113975" tIns="113975" rIns="113975" bIns="113975" anchor="ctr" anchorCtr="0">
            <a:noAutofit/>
          </a:bodyPr>
          <a:lstStyle/>
          <a:p>
            <a:pPr marL="0" lvl="0" indent="0" algn="ctr" rtl="0">
              <a:spcBef>
                <a:spcPts val="0"/>
              </a:spcBef>
              <a:spcAft>
                <a:spcPts val="0"/>
              </a:spcAft>
              <a:buNone/>
            </a:pPr>
            <a:r>
              <a:rPr lang="en" sz="800">
                <a:solidFill>
                  <a:srgbClr val="FFFFFF"/>
                </a:solidFill>
                <a:latin typeface="Nunito ExtraBold"/>
                <a:ea typeface="Nunito ExtraBold"/>
                <a:cs typeface="Nunito ExtraBold"/>
                <a:sym typeface="Nunito ExtraBold"/>
              </a:rPr>
              <a:t>Utlz</a:t>
            </a:r>
            <a:endParaRPr sz="800">
              <a:solidFill>
                <a:srgbClr val="FFFFFF"/>
              </a:solidFill>
              <a:latin typeface="Nunito ExtraBold"/>
              <a:ea typeface="Nunito ExtraBold"/>
              <a:cs typeface="Nunito ExtraBold"/>
              <a:sym typeface="Nunito ExtraBold"/>
            </a:endParaRPr>
          </a:p>
        </p:txBody>
      </p:sp>
      <p:sp>
        <p:nvSpPr>
          <p:cNvPr id="658" name="Google Shape;658;p55"/>
          <p:cNvSpPr txBox="1"/>
          <p:nvPr/>
        </p:nvSpPr>
        <p:spPr>
          <a:xfrm>
            <a:off x="6279734" y="4522310"/>
            <a:ext cx="847200" cy="299700"/>
          </a:xfrm>
          <a:prstGeom prst="rect">
            <a:avLst/>
          </a:prstGeom>
          <a:noFill/>
          <a:ln>
            <a:noFill/>
          </a:ln>
        </p:spPr>
        <p:txBody>
          <a:bodyPr spcFirstLastPara="1" wrap="square" lIns="113975" tIns="113975" rIns="113975" bIns="113975" anchor="ctr" anchorCtr="0">
            <a:noAutofit/>
          </a:bodyPr>
          <a:lstStyle/>
          <a:p>
            <a:pPr marL="0" lvl="0" indent="0" algn="ctr" rtl="0">
              <a:spcBef>
                <a:spcPts val="0"/>
              </a:spcBef>
              <a:spcAft>
                <a:spcPts val="0"/>
              </a:spcAft>
              <a:buNone/>
            </a:pPr>
            <a:r>
              <a:rPr lang="en" sz="800">
                <a:solidFill>
                  <a:srgbClr val="FFFFFF"/>
                </a:solidFill>
                <a:latin typeface="Nunito ExtraBold"/>
                <a:ea typeface="Nunito ExtraBold"/>
                <a:cs typeface="Nunito ExtraBold"/>
                <a:sym typeface="Nunito ExtraBold"/>
              </a:rPr>
              <a:t>Online</a:t>
            </a:r>
            <a:br>
              <a:rPr lang="en" sz="800">
                <a:solidFill>
                  <a:srgbClr val="FFFFFF"/>
                </a:solidFill>
                <a:latin typeface="Nunito ExtraBold"/>
                <a:ea typeface="Nunito ExtraBold"/>
                <a:cs typeface="Nunito ExtraBold"/>
                <a:sym typeface="Nunito ExtraBold"/>
              </a:rPr>
            </a:br>
            <a:r>
              <a:rPr lang="en" sz="800">
                <a:solidFill>
                  <a:srgbClr val="FFFFFF"/>
                </a:solidFill>
                <a:latin typeface="Nunito ExtraBold"/>
                <a:ea typeface="Nunito ExtraBold"/>
                <a:cs typeface="Nunito ExtraBold"/>
                <a:sym typeface="Nunito ExtraBold"/>
              </a:rPr>
              <a:t>rate</a:t>
            </a:r>
            <a:endParaRPr sz="800">
              <a:solidFill>
                <a:srgbClr val="FFFFFF"/>
              </a:solidFill>
              <a:latin typeface="Nunito ExtraBold"/>
              <a:ea typeface="Nunito ExtraBold"/>
              <a:cs typeface="Nunito ExtraBold"/>
              <a:sym typeface="Nunito ExtraBold"/>
            </a:endParaRPr>
          </a:p>
        </p:txBody>
      </p:sp>
      <p:sp>
        <p:nvSpPr>
          <p:cNvPr id="659" name="Google Shape;659;p55"/>
          <p:cNvSpPr txBox="1"/>
          <p:nvPr/>
        </p:nvSpPr>
        <p:spPr>
          <a:xfrm>
            <a:off x="6929517" y="3269375"/>
            <a:ext cx="897000" cy="413100"/>
          </a:xfrm>
          <a:prstGeom prst="rect">
            <a:avLst/>
          </a:prstGeom>
          <a:noFill/>
          <a:ln>
            <a:noFill/>
          </a:ln>
        </p:spPr>
        <p:txBody>
          <a:bodyPr spcFirstLastPara="1" wrap="square" lIns="113975" tIns="113975" rIns="113975" bIns="113975" anchor="ctr" anchorCtr="0">
            <a:noAutofit/>
          </a:bodyPr>
          <a:lstStyle/>
          <a:p>
            <a:pPr marL="0" lvl="0" indent="0" algn="ctr" rtl="0">
              <a:spcBef>
                <a:spcPts val="0"/>
              </a:spcBef>
              <a:spcAft>
                <a:spcPts val="0"/>
              </a:spcAft>
              <a:buNone/>
            </a:pPr>
            <a:r>
              <a:rPr lang="en" sz="1150">
                <a:solidFill>
                  <a:srgbClr val="1255CC"/>
                </a:solidFill>
                <a:latin typeface="Nunito ExtraBold"/>
                <a:ea typeface="Nunito ExtraBold"/>
                <a:cs typeface="Nunito ExtraBold"/>
                <a:sym typeface="Nunito ExtraBold"/>
              </a:rPr>
              <a:t>3,447 ca</a:t>
            </a:r>
            <a:endParaRPr sz="1150">
              <a:solidFill>
                <a:srgbClr val="1255CC"/>
              </a:solidFill>
              <a:latin typeface="Nunito ExtraBold"/>
              <a:ea typeface="Nunito ExtraBold"/>
              <a:cs typeface="Nunito ExtraBold"/>
              <a:sym typeface="Nunito ExtraBold"/>
            </a:endParaRPr>
          </a:p>
        </p:txBody>
      </p:sp>
      <p:sp>
        <p:nvSpPr>
          <p:cNvPr id="660" name="Google Shape;660;p55"/>
          <p:cNvSpPr txBox="1"/>
          <p:nvPr/>
        </p:nvSpPr>
        <p:spPr>
          <a:xfrm>
            <a:off x="6925866" y="3868402"/>
            <a:ext cx="871200" cy="413100"/>
          </a:xfrm>
          <a:prstGeom prst="rect">
            <a:avLst/>
          </a:prstGeom>
          <a:noFill/>
          <a:ln>
            <a:noFill/>
          </a:ln>
        </p:spPr>
        <p:txBody>
          <a:bodyPr spcFirstLastPara="1" wrap="square" lIns="113975" tIns="113975" rIns="113975" bIns="113975" anchor="ctr" anchorCtr="0">
            <a:noAutofit/>
          </a:bodyPr>
          <a:lstStyle/>
          <a:p>
            <a:pPr marL="0" lvl="0" indent="0" algn="ctr" rtl="0">
              <a:spcBef>
                <a:spcPts val="0"/>
              </a:spcBef>
              <a:spcAft>
                <a:spcPts val="0"/>
              </a:spcAft>
              <a:buNone/>
            </a:pPr>
            <a:r>
              <a:rPr lang="en" sz="1250">
                <a:solidFill>
                  <a:srgbClr val="1255CC"/>
                </a:solidFill>
                <a:latin typeface="Nunito ExtraBold"/>
                <a:ea typeface="Nunito ExtraBold"/>
                <a:cs typeface="Nunito ExtraBold"/>
                <a:sym typeface="Nunito ExtraBold"/>
              </a:rPr>
              <a:t>85.91%</a:t>
            </a:r>
            <a:endParaRPr sz="1250">
              <a:solidFill>
                <a:srgbClr val="1255CC"/>
              </a:solidFill>
              <a:latin typeface="Nunito ExtraBold"/>
              <a:ea typeface="Nunito ExtraBold"/>
              <a:cs typeface="Nunito ExtraBold"/>
              <a:sym typeface="Nunito ExtraBold"/>
            </a:endParaRPr>
          </a:p>
        </p:txBody>
      </p:sp>
      <p:sp>
        <p:nvSpPr>
          <p:cNvPr id="661" name="Google Shape;661;p55"/>
          <p:cNvSpPr txBox="1"/>
          <p:nvPr/>
        </p:nvSpPr>
        <p:spPr>
          <a:xfrm>
            <a:off x="6929516" y="4466477"/>
            <a:ext cx="871200" cy="413100"/>
          </a:xfrm>
          <a:prstGeom prst="rect">
            <a:avLst/>
          </a:prstGeom>
          <a:noFill/>
          <a:ln>
            <a:noFill/>
          </a:ln>
        </p:spPr>
        <p:txBody>
          <a:bodyPr spcFirstLastPara="1" wrap="square" lIns="113975" tIns="113975" rIns="113975" bIns="113975" anchor="ctr" anchorCtr="0">
            <a:noAutofit/>
          </a:bodyPr>
          <a:lstStyle/>
          <a:p>
            <a:pPr marL="0" lvl="0" indent="0" algn="ctr" rtl="0">
              <a:spcBef>
                <a:spcPts val="0"/>
              </a:spcBef>
              <a:spcAft>
                <a:spcPts val="0"/>
              </a:spcAft>
              <a:buNone/>
            </a:pPr>
            <a:r>
              <a:rPr lang="en" sz="1250">
                <a:solidFill>
                  <a:srgbClr val="1255CC"/>
                </a:solidFill>
                <a:latin typeface="Nunito ExtraBold"/>
                <a:ea typeface="Nunito ExtraBold"/>
                <a:cs typeface="Nunito ExtraBold"/>
                <a:sym typeface="Nunito ExtraBold"/>
              </a:rPr>
              <a:t>89.61%</a:t>
            </a:r>
            <a:endParaRPr sz="1250">
              <a:solidFill>
                <a:srgbClr val="1255CC"/>
              </a:solidFill>
              <a:latin typeface="Nunito ExtraBold"/>
              <a:ea typeface="Nunito ExtraBold"/>
              <a:cs typeface="Nunito ExtraBold"/>
              <a:sym typeface="Nunito ExtraBold"/>
            </a:endParaRPr>
          </a:p>
        </p:txBody>
      </p:sp>
      <p:sp>
        <p:nvSpPr>
          <p:cNvPr id="662" name="Google Shape;662;p55"/>
          <p:cNvSpPr txBox="1"/>
          <p:nvPr/>
        </p:nvSpPr>
        <p:spPr>
          <a:xfrm>
            <a:off x="7717492" y="3307355"/>
            <a:ext cx="1500600" cy="323100"/>
          </a:xfrm>
          <a:prstGeom prst="rect">
            <a:avLst/>
          </a:prstGeom>
          <a:noFill/>
          <a:ln>
            <a:noFill/>
          </a:ln>
        </p:spPr>
        <p:txBody>
          <a:bodyPr spcFirstLastPara="1" wrap="square" lIns="91425" tIns="91425" rIns="91425" bIns="91425" anchor="t" anchorCtr="0">
            <a:spAutoFit/>
          </a:bodyPr>
          <a:lstStyle/>
          <a:p>
            <a:pPr marL="0" lvl="0" indent="0" algn="l" rtl="0">
              <a:spcBef>
                <a:spcPts val="400"/>
              </a:spcBef>
              <a:spcAft>
                <a:spcPts val="0"/>
              </a:spcAft>
              <a:buNone/>
            </a:pPr>
            <a:r>
              <a:rPr lang="en" sz="900">
                <a:solidFill>
                  <a:srgbClr val="1E293B"/>
                </a:solidFill>
                <a:latin typeface="Lexend"/>
                <a:ea typeface="Lexend"/>
                <a:cs typeface="Lexend"/>
                <a:sym typeface="Lexend"/>
              </a:rPr>
              <a:t>MoM: + 2.10%</a:t>
            </a:r>
            <a:endParaRPr/>
          </a:p>
        </p:txBody>
      </p:sp>
      <p:sp>
        <p:nvSpPr>
          <p:cNvPr id="663" name="Google Shape;663;p55"/>
          <p:cNvSpPr txBox="1"/>
          <p:nvPr/>
        </p:nvSpPr>
        <p:spPr>
          <a:xfrm>
            <a:off x="7717492" y="3905980"/>
            <a:ext cx="1500600" cy="323100"/>
          </a:xfrm>
          <a:prstGeom prst="rect">
            <a:avLst/>
          </a:prstGeom>
          <a:noFill/>
          <a:ln>
            <a:noFill/>
          </a:ln>
        </p:spPr>
        <p:txBody>
          <a:bodyPr spcFirstLastPara="1" wrap="square" lIns="91425" tIns="91425" rIns="91425" bIns="91425" anchor="t" anchorCtr="0">
            <a:spAutoFit/>
          </a:bodyPr>
          <a:lstStyle/>
          <a:p>
            <a:pPr marL="0" lvl="0" indent="0" algn="l" rtl="0">
              <a:spcBef>
                <a:spcPts val="400"/>
              </a:spcBef>
              <a:spcAft>
                <a:spcPts val="0"/>
              </a:spcAft>
              <a:buNone/>
            </a:pPr>
            <a:r>
              <a:rPr lang="en" sz="900">
                <a:solidFill>
                  <a:srgbClr val="1E293B"/>
                </a:solidFill>
                <a:latin typeface="Lexend"/>
                <a:ea typeface="Lexend"/>
                <a:cs typeface="Lexend"/>
                <a:sym typeface="Lexend"/>
              </a:rPr>
              <a:t>MoM: - 0.39%</a:t>
            </a:r>
            <a:endParaRPr/>
          </a:p>
        </p:txBody>
      </p:sp>
      <p:sp>
        <p:nvSpPr>
          <p:cNvPr id="664" name="Google Shape;664;p55"/>
          <p:cNvSpPr txBox="1"/>
          <p:nvPr/>
        </p:nvSpPr>
        <p:spPr>
          <a:xfrm>
            <a:off x="7717492" y="4504310"/>
            <a:ext cx="1500600" cy="323100"/>
          </a:xfrm>
          <a:prstGeom prst="rect">
            <a:avLst/>
          </a:prstGeom>
          <a:noFill/>
          <a:ln>
            <a:noFill/>
          </a:ln>
        </p:spPr>
        <p:txBody>
          <a:bodyPr spcFirstLastPara="1" wrap="square" lIns="91425" tIns="91425" rIns="91425" bIns="91425" anchor="t" anchorCtr="0">
            <a:spAutoFit/>
          </a:bodyPr>
          <a:lstStyle/>
          <a:p>
            <a:pPr marL="0" lvl="0" indent="0" algn="l" rtl="0">
              <a:spcBef>
                <a:spcPts val="400"/>
              </a:spcBef>
              <a:spcAft>
                <a:spcPts val="0"/>
              </a:spcAft>
              <a:buNone/>
            </a:pPr>
            <a:r>
              <a:rPr lang="en" sz="900">
                <a:solidFill>
                  <a:srgbClr val="1E293B"/>
                </a:solidFill>
                <a:latin typeface="Lexend"/>
                <a:ea typeface="Lexend"/>
                <a:cs typeface="Lexend"/>
                <a:sym typeface="Lexend"/>
              </a:rPr>
              <a:t>MoM: + 3.30%</a:t>
            </a:r>
            <a:endParaRPr/>
          </a:p>
        </p:txBody>
      </p:sp>
      <p:cxnSp>
        <p:nvCxnSpPr>
          <p:cNvPr id="665" name="Google Shape;665;p55"/>
          <p:cNvCxnSpPr/>
          <p:nvPr/>
        </p:nvCxnSpPr>
        <p:spPr>
          <a:xfrm rot="10800000" flipH="1">
            <a:off x="380992" y="3037500"/>
            <a:ext cx="8307900" cy="10500"/>
          </a:xfrm>
          <a:prstGeom prst="straightConnector1">
            <a:avLst/>
          </a:prstGeom>
          <a:noFill/>
          <a:ln w="9525" cap="flat" cmpd="sng">
            <a:solidFill>
              <a:srgbClr val="0E4174"/>
            </a:solidFill>
            <a:prstDash val="dash"/>
            <a:round/>
            <a:headEnd type="none" w="med" len="med"/>
            <a:tailEnd type="none" w="med" len="med"/>
          </a:ln>
        </p:spPr>
      </p:cxnSp>
      <p:sp>
        <p:nvSpPr>
          <p:cNvPr id="666" name="Google Shape;666;p55"/>
          <p:cNvSpPr/>
          <p:nvPr/>
        </p:nvSpPr>
        <p:spPr>
          <a:xfrm>
            <a:off x="365583" y="984250"/>
            <a:ext cx="548700" cy="1991400"/>
          </a:xfrm>
          <a:prstGeom prst="rect">
            <a:avLst/>
          </a:prstGeom>
          <a:solidFill>
            <a:srgbClr val="0B467F"/>
          </a:solidFill>
          <a:ln w="9525" cap="flat" cmpd="sng">
            <a:solidFill>
              <a:srgbClr val="E2E8F0"/>
            </a:solidFill>
            <a:prstDash val="solid"/>
            <a:round/>
            <a:headEnd type="none" w="sm" len="sm"/>
            <a:tailEnd type="none" w="sm" len="sm"/>
          </a:ln>
          <a:effectLst>
            <a:outerShdw blurRad="76200" dist="25400" dir="8100000" algn="bl" rotWithShape="0">
              <a:srgbClr val="000000">
                <a:alpha val="102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r>
              <a:rPr lang="en" sz="1200" b="1">
                <a:solidFill>
                  <a:schemeClr val="lt1"/>
                </a:solidFill>
                <a:latin typeface="Lexend"/>
                <a:ea typeface="Lexend"/>
                <a:cs typeface="Lexend"/>
                <a:sym typeface="Lexend"/>
              </a:rPr>
              <a:t>HAN</a:t>
            </a:r>
            <a:endParaRPr sz="1200" b="1">
              <a:solidFill>
                <a:schemeClr val="lt1"/>
              </a:solidFill>
              <a:latin typeface="Lexend"/>
              <a:ea typeface="Lexend"/>
              <a:cs typeface="Lexend"/>
              <a:sym typeface="Lexend"/>
            </a:endParaRPr>
          </a:p>
        </p:txBody>
      </p:sp>
      <p:sp>
        <p:nvSpPr>
          <p:cNvPr id="667" name="Google Shape;667;p55"/>
          <p:cNvSpPr/>
          <p:nvPr/>
        </p:nvSpPr>
        <p:spPr>
          <a:xfrm>
            <a:off x="369508" y="3091225"/>
            <a:ext cx="548700" cy="2004600"/>
          </a:xfrm>
          <a:prstGeom prst="rect">
            <a:avLst/>
          </a:prstGeom>
          <a:solidFill>
            <a:srgbClr val="0B467F"/>
          </a:solidFill>
          <a:ln w="9525" cap="flat" cmpd="sng">
            <a:solidFill>
              <a:srgbClr val="E2E8F0"/>
            </a:solidFill>
            <a:prstDash val="solid"/>
            <a:round/>
            <a:headEnd type="none" w="sm" len="sm"/>
            <a:tailEnd type="none" w="sm" len="sm"/>
          </a:ln>
          <a:effectLst>
            <a:outerShdw blurRad="76200" dist="25400" dir="8100000" algn="bl" rotWithShape="0">
              <a:srgbClr val="000000">
                <a:alpha val="102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r>
              <a:rPr lang="en" sz="1200" b="1">
                <a:solidFill>
                  <a:schemeClr val="lt1"/>
                </a:solidFill>
                <a:latin typeface="Lexend"/>
                <a:ea typeface="Lexend"/>
                <a:cs typeface="Lexend"/>
                <a:sym typeface="Lexend"/>
              </a:rPr>
              <a:t>SGN</a:t>
            </a:r>
            <a:endParaRPr sz="1200" b="1">
              <a:solidFill>
                <a:schemeClr val="lt1"/>
              </a:solidFill>
              <a:latin typeface="Lexend"/>
              <a:ea typeface="Lexend"/>
              <a:cs typeface="Lexend"/>
              <a:sym typeface="Lexend"/>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672"/>
        <p:cNvGrpSpPr/>
        <p:nvPr/>
      </p:nvGrpSpPr>
      <p:grpSpPr>
        <a:xfrm>
          <a:off x="0" y="0"/>
          <a:ext cx="0" cy="0"/>
          <a:chOff x="0" y="0"/>
          <a:chExt cx="0" cy="0"/>
        </a:xfrm>
      </p:grpSpPr>
      <p:sp>
        <p:nvSpPr>
          <p:cNvPr id="673" name="Google Shape;673;p56"/>
          <p:cNvSpPr/>
          <p:nvPr/>
        </p:nvSpPr>
        <p:spPr>
          <a:xfrm>
            <a:off x="957775" y="3091225"/>
            <a:ext cx="7884600" cy="1991400"/>
          </a:xfrm>
          <a:prstGeom prst="rect">
            <a:avLst/>
          </a:prstGeom>
          <a:solidFill>
            <a:srgbClr val="FFFFFF"/>
          </a:solidFill>
          <a:ln w="9525" cap="flat" cmpd="sng">
            <a:solidFill>
              <a:srgbClr val="E2E8F0"/>
            </a:solidFill>
            <a:prstDash val="solid"/>
            <a:round/>
            <a:headEnd type="none" w="sm" len="sm"/>
            <a:tailEnd type="none" w="sm" len="sm"/>
          </a:ln>
          <a:effectLst>
            <a:outerShdw blurRad="76200" dist="25400" dir="8100000" algn="bl" rotWithShape="0">
              <a:srgbClr val="000000">
                <a:alpha val="102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 name="Google Shape;674;p56"/>
          <p:cNvSpPr/>
          <p:nvPr/>
        </p:nvSpPr>
        <p:spPr>
          <a:xfrm>
            <a:off x="957775" y="984250"/>
            <a:ext cx="7884600" cy="1991400"/>
          </a:xfrm>
          <a:prstGeom prst="rect">
            <a:avLst/>
          </a:prstGeom>
          <a:solidFill>
            <a:srgbClr val="FFFFFF"/>
          </a:solidFill>
          <a:ln w="9525" cap="flat" cmpd="sng">
            <a:solidFill>
              <a:srgbClr val="E2E8F0"/>
            </a:solidFill>
            <a:prstDash val="solid"/>
            <a:round/>
            <a:headEnd type="none" w="sm" len="sm"/>
            <a:tailEnd type="none" w="sm" len="sm"/>
          </a:ln>
          <a:effectLst>
            <a:outerShdw blurRad="76200" dist="25400" dir="8100000" algn="bl" rotWithShape="0">
              <a:srgbClr val="000000">
                <a:alpha val="102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 name="Google Shape;675;p56"/>
          <p:cNvSpPr/>
          <p:nvPr/>
        </p:nvSpPr>
        <p:spPr>
          <a:xfrm>
            <a:off x="0" y="0"/>
            <a:ext cx="9144000" cy="73200"/>
          </a:xfrm>
          <a:prstGeom prst="rect">
            <a:avLst/>
          </a:prstGeom>
          <a:solidFill>
            <a:srgbClr val="FF7F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676" name="Google Shape;676;p56"/>
          <p:cNvCxnSpPr/>
          <p:nvPr/>
        </p:nvCxnSpPr>
        <p:spPr>
          <a:xfrm>
            <a:off x="365760" y="868680"/>
            <a:ext cx="8412600" cy="0"/>
          </a:xfrm>
          <a:prstGeom prst="straightConnector1">
            <a:avLst/>
          </a:prstGeom>
          <a:noFill/>
          <a:ln w="9525" cap="flat" cmpd="sng">
            <a:solidFill>
              <a:srgbClr val="E2E8F0"/>
            </a:solidFill>
            <a:prstDash val="solid"/>
            <a:round/>
            <a:headEnd type="none" w="sm" len="sm"/>
            <a:tailEnd type="none" w="sm" len="sm"/>
          </a:ln>
        </p:spPr>
      </p:cxnSp>
      <p:sp>
        <p:nvSpPr>
          <p:cNvPr id="677" name="Google Shape;677;p56"/>
          <p:cNvSpPr/>
          <p:nvPr/>
        </p:nvSpPr>
        <p:spPr>
          <a:xfrm>
            <a:off x="5486395" y="45700"/>
            <a:ext cx="3657600" cy="27420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94A3B8"/>
              </a:buClr>
              <a:buSzPts val="700"/>
              <a:buFont typeface="Calibri"/>
              <a:buNone/>
            </a:pPr>
            <a:r>
              <a:rPr lang="en" sz="700" b="0" i="1" u="none" strike="noStrike" cap="none">
                <a:solidFill>
                  <a:srgbClr val="94A3B8"/>
                </a:solidFill>
                <a:latin typeface="Calibri"/>
                <a:ea typeface="Calibri"/>
                <a:cs typeface="Calibri"/>
                <a:sym typeface="Calibri"/>
              </a:rPr>
              <a:t>Ahamove — Driver Management | Confidential</a:t>
            </a:r>
            <a:endParaRPr sz="700" b="0" i="0" u="none" strike="noStrike" cap="none">
              <a:solidFill>
                <a:schemeClr val="dk1"/>
              </a:solidFill>
              <a:latin typeface="Calibri"/>
              <a:ea typeface="Calibri"/>
              <a:cs typeface="Calibri"/>
              <a:sym typeface="Calibri"/>
            </a:endParaRPr>
          </a:p>
        </p:txBody>
      </p:sp>
      <p:pic>
        <p:nvPicPr>
          <p:cNvPr id="678" name="Google Shape;678;p56" descr="preencoded.png"/>
          <p:cNvPicPr preferRelativeResize="0"/>
          <p:nvPr/>
        </p:nvPicPr>
        <p:blipFill rotWithShape="1">
          <a:blip r:embed="rId3">
            <a:alphaModFix/>
          </a:blip>
          <a:srcRect/>
          <a:stretch/>
        </p:blipFill>
        <p:spPr>
          <a:xfrm>
            <a:off x="365760" y="337820"/>
            <a:ext cx="274320" cy="274320"/>
          </a:xfrm>
          <a:prstGeom prst="rect">
            <a:avLst/>
          </a:prstGeom>
          <a:noFill/>
          <a:ln>
            <a:noFill/>
          </a:ln>
        </p:spPr>
      </p:pic>
      <p:sp>
        <p:nvSpPr>
          <p:cNvPr id="679" name="Google Shape;679;p56"/>
          <p:cNvSpPr/>
          <p:nvPr/>
        </p:nvSpPr>
        <p:spPr>
          <a:xfrm>
            <a:off x="731520" y="264668"/>
            <a:ext cx="7315200" cy="411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E4174"/>
              </a:buClr>
              <a:buSzPts val="2200"/>
              <a:buFont typeface="Calibri"/>
              <a:buNone/>
            </a:pPr>
            <a:r>
              <a:rPr lang="en" sz="2200" b="1" i="0" u="none" strike="noStrike" cap="none">
                <a:solidFill>
                  <a:srgbClr val="0E4174"/>
                </a:solidFill>
                <a:latin typeface="Lexend"/>
                <a:ea typeface="Lexend"/>
                <a:cs typeface="Lexend"/>
                <a:sym typeface="Lexend"/>
              </a:rPr>
              <a:t>MiniHub</a:t>
            </a:r>
            <a:r>
              <a:rPr lang="en" sz="2200" b="1">
                <a:solidFill>
                  <a:srgbClr val="0E4174"/>
                </a:solidFill>
                <a:latin typeface="Lexend"/>
                <a:ea typeface="Lexend"/>
                <a:cs typeface="Lexend"/>
                <a:sym typeface="Lexend"/>
              </a:rPr>
              <a:t> </a:t>
            </a:r>
            <a:r>
              <a:rPr lang="en" sz="2200" b="1" i="0" u="none" strike="noStrike" cap="none">
                <a:solidFill>
                  <a:srgbClr val="0E4174"/>
                </a:solidFill>
                <a:latin typeface="Lexend"/>
                <a:ea typeface="Lexend"/>
                <a:cs typeface="Lexend"/>
                <a:sym typeface="Lexend"/>
              </a:rPr>
              <a:t>- </a:t>
            </a:r>
            <a:r>
              <a:rPr lang="en" sz="2200" b="1">
                <a:solidFill>
                  <a:srgbClr val="F56C1F"/>
                </a:solidFill>
                <a:latin typeface="Lexend"/>
                <a:ea typeface="Lexend"/>
                <a:cs typeface="Lexend"/>
                <a:sym typeface="Lexend"/>
              </a:rPr>
              <a:t>COVERAGE</a:t>
            </a:r>
            <a:endParaRPr sz="2200" b="1" i="0" u="none" strike="noStrike" cap="none">
              <a:solidFill>
                <a:srgbClr val="F56C1F"/>
              </a:solidFill>
              <a:latin typeface="Lexend"/>
              <a:ea typeface="Lexend"/>
              <a:cs typeface="Lexend"/>
              <a:sym typeface="Lexend"/>
            </a:endParaRPr>
          </a:p>
        </p:txBody>
      </p:sp>
      <p:sp>
        <p:nvSpPr>
          <p:cNvPr id="680" name="Google Shape;680;p56"/>
          <p:cNvSpPr/>
          <p:nvPr/>
        </p:nvSpPr>
        <p:spPr>
          <a:xfrm>
            <a:off x="365742" y="973650"/>
            <a:ext cx="548700" cy="1991400"/>
          </a:xfrm>
          <a:prstGeom prst="rect">
            <a:avLst/>
          </a:prstGeom>
          <a:solidFill>
            <a:srgbClr val="0B467F"/>
          </a:solidFill>
          <a:ln w="9525" cap="flat" cmpd="sng">
            <a:solidFill>
              <a:srgbClr val="E2E8F0"/>
            </a:solidFill>
            <a:prstDash val="solid"/>
            <a:round/>
            <a:headEnd type="none" w="sm" len="sm"/>
            <a:tailEnd type="none" w="sm" len="sm"/>
          </a:ln>
          <a:effectLst>
            <a:outerShdw blurRad="76200" dist="25400" dir="8100000" algn="bl" rotWithShape="0">
              <a:srgbClr val="000000">
                <a:alpha val="102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r>
              <a:rPr lang="en" sz="1200" b="1">
                <a:solidFill>
                  <a:schemeClr val="lt1"/>
                </a:solidFill>
                <a:latin typeface="Lexend"/>
                <a:ea typeface="Lexend"/>
                <a:cs typeface="Lexend"/>
                <a:sym typeface="Lexend"/>
              </a:rPr>
              <a:t>HAN</a:t>
            </a:r>
            <a:endParaRPr sz="1200" b="1">
              <a:solidFill>
                <a:schemeClr val="lt1"/>
              </a:solidFill>
              <a:latin typeface="Lexend"/>
              <a:ea typeface="Lexend"/>
              <a:cs typeface="Lexend"/>
              <a:sym typeface="Lexend"/>
            </a:endParaRPr>
          </a:p>
        </p:txBody>
      </p:sp>
      <p:sp>
        <p:nvSpPr>
          <p:cNvPr id="681" name="Google Shape;681;p56"/>
          <p:cNvSpPr/>
          <p:nvPr/>
        </p:nvSpPr>
        <p:spPr>
          <a:xfrm>
            <a:off x="369667" y="3080625"/>
            <a:ext cx="548700" cy="2004600"/>
          </a:xfrm>
          <a:prstGeom prst="rect">
            <a:avLst/>
          </a:prstGeom>
          <a:solidFill>
            <a:srgbClr val="0B467F"/>
          </a:solidFill>
          <a:ln w="9525" cap="flat" cmpd="sng">
            <a:solidFill>
              <a:srgbClr val="E2E8F0"/>
            </a:solidFill>
            <a:prstDash val="solid"/>
            <a:round/>
            <a:headEnd type="none" w="sm" len="sm"/>
            <a:tailEnd type="none" w="sm" len="sm"/>
          </a:ln>
          <a:effectLst>
            <a:outerShdw blurRad="76200" dist="25400" dir="8100000" algn="bl" rotWithShape="0">
              <a:srgbClr val="000000">
                <a:alpha val="102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r>
              <a:rPr lang="en" sz="1200" b="1">
                <a:solidFill>
                  <a:schemeClr val="lt1"/>
                </a:solidFill>
                <a:latin typeface="Lexend"/>
                <a:ea typeface="Lexend"/>
                <a:cs typeface="Lexend"/>
                <a:sym typeface="Lexend"/>
              </a:rPr>
              <a:t>SGN</a:t>
            </a:r>
            <a:endParaRPr sz="1200" b="1">
              <a:solidFill>
                <a:schemeClr val="lt1"/>
              </a:solidFill>
              <a:latin typeface="Lexend"/>
              <a:ea typeface="Lexend"/>
              <a:cs typeface="Lexend"/>
              <a:sym typeface="Lexend"/>
            </a:endParaRPr>
          </a:p>
        </p:txBody>
      </p:sp>
      <p:pic>
        <p:nvPicPr>
          <p:cNvPr id="682" name="Google Shape;682;p56" title="Chart"/>
          <p:cNvPicPr preferRelativeResize="0"/>
          <p:nvPr/>
        </p:nvPicPr>
        <p:blipFill>
          <a:blip r:embed="rId4">
            <a:alphaModFix/>
          </a:blip>
          <a:stretch>
            <a:fillRect/>
          </a:stretch>
        </p:blipFill>
        <p:spPr>
          <a:xfrm>
            <a:off x="1010700" y="1087533"/>
            <a:ext cx="7371300" cy="1607350"/>
          </a:xfrm>
          <a:prstGeom prst="rect">
            <a:avLst/>
          </a:prstGeom>
          <a:noFill/>
          <a:ln>
            <a:noFill/>
          </a:ln>
        </p:spPr>
      </p:pic>
      <p:pic>
        <p:nvPicPr>
          <p:cNvPr id="683" name="Google Shape;683;p56" title="Chart"/>
          <p:cNvPicPr preferRelativeResize="0"/>
          <p:nvPr/>
        </p:nvPicPr>
        <p:blipFill>
          <a:blip r:embed="rId5">
            <a:alphaModFix/>
          </a:blip>
          <a:stretch>
            <a:fillRect/>
          </a:stretch>
        </p:blipFill>
        <p:spPr>
          <a:xfrm>
            <a:off x="989525" y="3279250"/>
            <a:ext cx="7392476" cy="1607350"/>
          </a:xfrm>
          <a:prstGeom prst="rect">
            <a:avLst/>
          </a:prstGeom>
          <a:noFill/>
          <a:ln>
            <a:noFill/>
          </a:ln>
        </p:spPr>
      </p:pic>
      <p:graphicFrame>
        <p:nvGraphicFramePr>
          <p:cNvPr id="684" name="Google Shape;684;p56"/>
          <p:cNvGraphicFramePr/>
          <p:nvPr/>
        </p:nvGraphicFramePr>
        <p:xfrm>
          <a:off x="8332775" y="3279250"/>
          <a:ext cx="3000000" cy="3000000"/>
        </p:xfrm>
        <a:graphic>
          <a:graphicData uri="http://schemas.openxmlformats.org/drawingml/2006/table">
            <a:tbl>
              <a:tblPr>
                <a:noFill/>
                <a:tableStyleId>{BD4DB973-2F49-4540-A1CC-0EE3EA8BBFB3}</a:tableStyleId>
              </a:tblPr>
              <a:tblGrid>
                <a:gridCol w="445575">
                  <a:extLst>
                    <a:ext uri="{9D8B030D-6E8A-4147-A177-3AD203B41FA5}">
                      <a16:colId xmlns:a16="http://schemas.microsoft.com/office/drawing/2014/main" val="20000"/>
                    </a:ext>
                  </a:extLst>
                </a:gridCol>
              </a:tblGrid>
              <a:tr h="183250">
                <a:tc>
                  <a:txBody>
                    <a:bodyPr/>
                    <a:lstStyle/>
                    <a:p>
                      <a:pPr marL="0" lvl="0" indent="0" algn="ctr" rtl="0">
                        <a:lnSpc>
                          <a:spcPct val="115000"/>
                        </a:lnSpc>
                        <a:spcBef>
                          <a:spcPts val="0"/>
                        </a:spcBef>
                        <a:spcAft>
                          <a:spcPts val="0"/>
                        </a:spcAft>
                        <a:buNone/>
                      </a:pPr>
                      <a:r>
                        <a:rPr lang="en" sz="700" b="1">
                          <a:solidFill>
                            <a:srgbClr val="FFFFFF"/>
                          </a:solidFill>
                          <a:latin typeface="Lexend"/>
                          <a:ea typeface="Lexend"/>
                          <a:cs typeface="Lexend"/>
                          <a:sym typeface="Lexend"/>
                        </a:rPr>
                        <a:t>WoW</a:t>
                      </a:r>
                      <a:endParaRPr sz="700" b="1">
                        <a:solidFill>
                          <a:srgbClr val="FFFFFF"/>
                        </a:solidFill>
                        <a:latin typeface="Lexend"/>
                        <a:ea typeface="Lexend"/>
                        <a:cs typeface="Lexend"/>
                        <a:sym typeface="Lexend"/>
                      </a:endParaRPr>
                    </a:p>
                  </a:txBody>
                  <a:tcPr marL="28575" marR="28575" marT="19050" marB="19050" anchor="ctr">
                    <a:lnL w="19050" cap="flat" cmpd="sng">
                      <a:solidFill>
                        <a:srgbClr val="FFFFFF"/>
                      </a:solidFill>
                      <a:prstDash val="solid"/>
                      <a:round/>
                      <a:headEnd type="none" w="sm" len="sm"/>
                      <a:tailEnd type="none" w="sm" len="sm"/>
                    </a:lnL>
                    <a:lnR w="19050" cap="flat" cmpd="sng">
                      <a:solidFill>
                        <a:srgbClr val="FFFFFF"/>
                      </a:solidFill>
                      <a:prstDash val="solid"/>
                      <a:round/>
                      <a:headEnd type="none" w="sm" len="sm"/>
                      <a:tailEnd type="none" w="sm" len="sm"/>
                    </a:lnR>
                    <a:lnT w="19050" cap="flat" cmpd="sng">
                      <a:solidFill>
                        <a:srgbClr val="FFFFFF"/>
                      </a:solidFill>
                      <a:prstDash val="solid"/>
                      <a:round/>
                      <a:headEnd type="none" w="sm" len="sm"/>
                      <a:tailEnd type="none" w="sm" len="sm"/>
                    </a:lnT>
                    <a:lnB w="11900" cap="flat" cmpd="sng">
                      <a:solidFill>
                        <a:schemeClr val="lt1"/>
                      </a:solidFill>
                      <a:prstDash val="solid"/>
                      <a:round/>
                      <a:headEnd type="none" w="sm" len="sm"/>
                      <a:tailEnd type="none" w="sm" len="sm"/>
                    </a:lnB>
                    <a:solidFill>
                      <a:srgbClr val="073763"/>
                    </a:solidFill>
                  </a:tcPr>
                </a:tc>
                <a:extLst>
                  <a:ext uri="{0D108BD9-81ED-4DB2-BD59-A6C34878D82A}">
                    <a16:rowId xmlns:a16="http://schemas.microsoft.com/office/drawing/2014/main" val="10000"/>
                  </a:ext>
                </a:extLst>
              </a:tr>
              <a:tr h="202825">
                <a:tc>
                  <a:txBody>
                    <a:bodyPr/>
                    <a:lstStyle/>
                    <a:p>
                      <a:pPr marL="0" lvl="0" indent="0" algn="ctr" rtl="0">
                        <a:lnSpc>
                          <a:spcPct val="115000"/>
                        </a:lnSpc>
                        <a:spcBef>
                          <a:spcPts val="0"/>
                        </a:spcBef>
                        <a:spcAft>
                          <a:spcPts val="0"/>
                        </a:spcAft>
                        <a:buNone/>
                      </a:pPr>
                      <a:r>
                        <a:rPr lang="en" sz="700">
                          <a:solidFill>
                            <a:srgbClr val="34A853"/>
                          </a:solidFill>
                        </a:rPr>
                        <a:t>3.23%</a:t>
                      </a:r>
                      <a:endParaRPr sz="700">
                        <a:solidFill>
                          <a:srgbClr val="34A853"/>
                        </a:solidFill>
                      </a:endParaRPr>
                    </a:p>
                  </a:txBody>
                  <a:tcPr marL="28575" marR="28575" marT="19050" marB="19050" anchor="ctr">
                    <a:lnL w="11900" cap="flat" cmpd="sng">
                      <a:solidFill>
                        <a:schemeClr val="lt1"/>
                      </a:solidFill>
                      <a:prstDash val="solid"/>
                      <a:round/>
                      <a:headEnd type="none" w="sm" len="sm"/>
                      <a:tailEnd type="none" w="sm" len="sm"/>
                    </a:lnL>
                    <a:lnR w="11900" cap="flat" cmpd="sng">
                      <a:solidFill>
                        <a:schemeClr val="lt1"/>
                      </a:solidFill>
                      <a:prstDash val="solid"/>
                      <a:round/>
                      <a:headEnd type="none" w="sm" len="sm"/>
                      <a:tailEnd type="none" w="sm" len="sm"/>
                    </a:lnR>
                    <a:lnT w="11900" cap="flat" cmpd="sng">
                      <a:solidFill>
                        <a:schemeClr val="lt1"/>
                      </a:solidFill>
                      <a:prstDash val="solid"/>
                      <a:round/>
                      <a:headEnd type="none" w="sm" len="sm"/>
                      <a:tailEnd type="none" w="sm" len="sm"/>
                    </a:lnT>
                    <a:lnB w="11900" cap="flat" cmpd="sng">
                      <a:solidFill>
                        <a:schemeClr val="lt1"/>
                      </a:solidFill>
                      <a:prstDash val="solid"/>
                      <a:round/>
                      <a:headEnd type="none" w="sm" len="sm"/>
                      <a:tailEnd type="none" w="sm" len="sm"/>
                    </a:lnB>
                  </a:tcPr>
                </a:tc>
                <a:extLst>
                  <a:ext uri="{0D108BD9-81ED-4DB2-BD59-A6C34878D82A}">
                    <a16:rowId xmlns:a16="http://schemas.microsoft.com/office/drawing/2014/main" val="10001"/>
                  </a:ext>
                </a:extLst>
              </a:tr>
              <a:tr h="202825">
                <a:tc>
                  <a:txBody>
                    <a:bodyPr/>
                    <a:lstStyle/>
                    <a:p>
                      <a:pPr marL="0" lvl="0" indent="0" algn="ctr" rtl="0">
                        <a:lnSpc>
                          <a:spcPct val="115000"/>
                        </a:lnSpc>
                        <a:spcBef>
                          <a:spcPts val="0"/>
                        </a:spcBef>
                        <a:spcAft>
                          <a:spcPts val="0"/>
                        </a:spcAft>
                        <a:buNone/>
                      </a:pPr>
                      <a:r>
                        <a:rPr lang="en" sz="700">
                          <a:solidFill>
                            <a:srgbClr val="EA4335"/>
                          </a:solidFill>
                        </a:rPr>
                        <a:t>-3.01%</a:t>
                      </a:r>
                      <a:endParaRPr sz="700">
                        <a:solidFill>
                          <a:srgbClr val="EA4335"/>
                        </a:solidFill>
                      </a:endParaRPr>
                    </a:p>
                  </a:txBody>
                  <a:tcPr marL="28575" marR="28575" marT="19050" marB="19050" anchor="ctr">
                    <a:lnL w="11900" cap="flat" cmpd="sng">
                      <a:solidFill>
                        <a:schemeClr val="lt1"/>
                      </a:solidFill>
                      <a:prstDash val="solid"/>
                      <a:round/>
                      <a:headEnd type="none" w="sm" len="sm"/>
                      <a:tailEnd type="none" w="sm" len="sm"/>
                    </a:lnL>
                    <a:lnR w="11900" cap="flat" cmpd="sng">
                      <a:solidFill>
                        <a:schemeClr val="lt1"/>
                      </a:solidFill>
                      <a:prstDash val="solid"/>
                      <a:round/>
                      <a:headEnd type="none" w="sm" len="sm"/>
                      <a:tailEnd type="none" w="sm" len="sm"/>
                    </a:lnR>
                    <a:lnT w="11900" cap="flat" cmpd="sng">
                      <a:solidFill>
                        <a:schemeClr val="lt1"/>
                      </a:solidFill>
                      <a:prstDash val="solid"/>
                      <a:round/>
                      <a:headEnd type="none" w="sm" len="sm"/>
                      <a:tailEnd type="none" w="sm" len="sm"/>
                    </a:lnT>
                    <a:lnB w="11900" cap="flat" cmpd="sng">
                      <a:solidFill>
                        <a:schemeClr val="lt1"/>
                      </a:solidFill>
                      <a:prstDash val="solid"/>
                      <a:round/>
                      <a:headEnd type="none" w="sm" len="sm"/>
                      <a:tailEnd type="none" w="sm" len="sm"/>
                    </a:lnB>
                  </a:tcPr>
                </a:tc>
                <a:extLst>
                  <a:ext uri="{0D108BD9-81ED-4DB2-BD59-A6C34878D82A}">
                    <a16:rowId xmlns:a16="http://schemas.microsoft.com/office/drawing/2014/main" val="10002"/>
                  </a:ext>
                </a:extLst>
              </a:tr>
              <a:tr h="202825">
                <a:tc>
                  <a:txBody>
                    <a:bodyPr/>
                    <a:lstStyle/>
                    <a:p>
                      <a:pPr marL="0" lvl="0" indent="0" algn="ctr" rtl="0">
                        <a:lnSpc>
                          <a:spcPct val="115000"/>
                        </a:lnSpc>
                        <a:spcBef>
                          <a:spcPts val="0"/>
                        </a:spcBef>
                        <a:spcAft>
                          <a:spcPts val="0"/>
                        </a:spcAft>
                        <a:buNone/>
                      </a:pPr>
                      <a:r>
                        <a:rPr lang="en" sz="700">
                          <a:solidFill>
                            <a:srgbClr val="34A853"/>
                          </a:solidFill>
                        </a:rPr>
                        <a:t>3.62%</a:t>
                      </a:r>
                      <a:endParaRPr sz="700">
                        <a:solidFill>
                          <a:srgbClr val="34A853"/>
                        </a:solidFill>
                      </a:endParaRPr>
                    </a:p>
                  </a:txBody>
                  <a:tcPr marL="28575" marR="28575" marT="19050" marB="19050" anchor="ctr">
                    <a:lnL w="11900" cap="flat" cmpd="sng">
                      <a:solidFill>
                        <a:schemeClr val="lt1"/>
                      </a:solidFill>
                      <a:prstDash val="solid"/>
                      <a:round/>
                      <a:headEnd type="none" w="sm" len="sm"/>
                      <a:tailEnd type="none" w="sm" len="sm"/>
                    </a:lnL>
                    <a:lnR w="11900" cap="flat" cmpd="sng">
                      <a:solidFill>
                        <a:schemeClr val="lt1"/>
                      </a:solidFill>
                      <a:prstDash val="solid"/>
                      <a:round/>
                      <a:headEnd type="none" w="sm" len="sm"/>
                      <a:tailEnd type="none" w="sm" len="sm"/>
                    </a:lnR>
                    <a:lnT w="11900" cap="flat" cmpd="sng">
                      <a:solidFill>
                        <a:schemeClr val="lt1"/>
                      </a:solidFill>
                      <a:prstDash val="solid"/>
                      <a:round/>
                      <a:headEnd type="none" w="sm" len="sm"/>
                      <a:tailEnd type="none" w="sm" len="sm"/>
                    </a:lnT>
                    <a:lnB w="11900" cap="flat" cmpd="sng">
                      <a:solidFill>
                        <a:schemeClr val="lt1"/>
                      </a:solidFill>
                      <a:prstDash val="solid"/>
                      <a:round/>
                      <a:headEnd type="none" w="sm" len="sm"/>
                      <a:tailEnd type="none" w="sm" len="sm"/>
                    </a:lnB>
                  </a:tcPr>
                </a:tc>
                <a:extLst>
                  <a:ext uri="{0D108BD9-81ED-4DB2-BD59-A6C34878D82A}">
                    <a16:rowId xmlns:a16="http://schemas.microsoft.com/office/drawing/2014/main" val="10003"/>
                  </a:ext>
                </a:extLst>
              </a:tr>
              <a:tr h="202825">
                <a:tc>
                  <a:txBody>
                    <a:bodyPr/>
                    <a:lstStyle/>
                    <a:p>
                      <a:pPr marL="0" lvl="0" indent="0" algn="ctr" rtl="0">
                        <a:lnSpc>
                          <a:spcPct val="115000"/>
                        </a:lnSpc>
                        <a:spcBef>
                          <a:spcPts val="0"/>
                        </a:spcBef>
                        <a:spcAft>
                          <a:spcPts val="0"/>
                        </a:spcAft>
                        <a:buNone/>
                      </a:pPr>
                      <a:r>
                        <a:rPr lang="en" sz="700">
                          <a:solidFill>
                            <a:srgbClr val="34A853"/>
                          </a:solidFill>
                        </a:rPr>
                        <a:t>1.18%</a:t>
                      </a:r>
                      <a:endParaRPr sz="700">
                        <a:solidFill>
                          <a:srgbClr val="34A853"/>
                        </a:solidFill>
                      </a:endParaRPr>
                    </a:p>
                  </a:txBody>
                  <a:tcPr marL="28575" marR="28575" marT="19050" marB="19050" anchor="ctr">
                    <a:lnL w="11900" cap="flat" cmpd="sng">
                      <a:solidFill>
                        <a:schemeClr val="lt1"/>
                      </a:solidFill>
                      <a:prstDash val="solid"/>
                      <a:round/>
                      <a:headEnd type="none" w="sm" len="sm"/>
                      <a:tailEnd type="none" w="sm" len="sm"/>
                    </a:lnL>
                    <a:lnR w="11900" cap="flat" cmpd="sng">
                      <a:solidFill>
                        <a:schemeClr val="lt1"/>
                      </a:solidFill>
                      <a:prstDash val="solid"/>
                      <a:round/>
                      <a:headEnd type="none" w="sm" len="sm"/>
                      <a:tailEnd type="none" w="sm" len="sm"/>
                    </a:lnR>
                    <a:lnT w="11900" cap="flat" cmpd="sng">
                      <a:solidFill>
                        <a:schemeClr val="lt1"/>
                      </a:solidFill>
                      <a:prstDash val="solid"/>
                      <a:round/>
                      <a:headEnd type="none" w="sm" len="sm"/>
                      <a:tailEnd type="none" w="sm" len="sm"/>
                    </a:lnT>
                    <a:lnB w="11900" cap="flat" cmpd="sng">
                      <a:solidFill>
                        <a:schemeClr val="lt1"/>
                      </a:solidFill>
                      <a:prstDash val="solid"/>
                      <a:round/>
                      <a:headEnd type="none" w="sm" len="sm"/>
                      <a:tailEnd type="none" w="sm" len="sm"/>
                    </a:lnB>
                  </a:tcPr>
                </a:tc>
                <a:extLst>
                  <a:ext uri="{0D108BD9-81ED-4DB2-BD59-A6C34878D82A}">
                    <a16:rowId xmlns:a16="http://schemas.microsoft.com/office/drawing/2014/main" val="10004"/>
                  </a:ext>
                </a:extLst>
              </a:tr>
              <a:tr h="202825">
                <a:tc>
                  <a:txBody>
                    <a:bodyPr/>
                    <a:lstStyle/>
                    <a:p>
                      <a:pPr marL="0" lvl="0" indent="0" algn="ctr" rtl="0">
                        <a:lnSpc>
                          <a:spcPct val="115000"/>
                        </a:lnSpc>
                        <a:spcBef>
                          <a:spcPts val="0"/>
                        </a:spcBef>
                        <a:spcAft>
                          <a:spcPts val="0"/>
                        </a:spcAft>
                        <a:buNone/>
                      </a:pPr>
                      <a:r>
                        <a:rPr lang="en" sz="700">
                          <a:solidFill>
                            <a:srgbClr val="34A853"/>
                          </a:solidFill>
                        </a:rPr>
                        <a:t>1.22%</a:t>
                      </a:r>
                      <a:endParaRPr sz="700">
                        <a:solidFill>
                          <a:srgbClr val="34A853"/>
                        </a:solidFill>
                      </a:endParaRPr>
                    </a:p>
                  </a:txBody>
                  <a:tcPr marL="28575" marR="28575" marT="19050" marB="19050" anchor="ctr">
                    <a:lnL w="11900" cap="flat" cmpd="sng">
                      <a:solidFill>
                        <a:schemeClr val="lt1"/>
                      </a:solidFill>
                      <a:prstDash val="solid"/>
                      <a:round/>
                      <a:headEnd type="none" w="sm" len="sm"/>
                      <a:tailEnd type="none" w="sm" len="sm"/>
                    </a:lnL>
                    <a:lnR w="11900" cap="flat" cmpd="sng">
                      <a:solidFill>
                        <a:schemeClr val="lt1"/>
                      </a:solidFill>
                      <a:prstDash val="solid"/>
                      <a:round/>
                      <a:headEnd type="none" w="sm" len="sm"/>
                      <a:tailEnd type="none" w="sm" len="sm"/>
                    </a:lnR>
                    <a:lnT w="11900" cap="flat" cmpd="sng">
                      <a:solidFill>
                        <a:schemeClr val="lt1"/>
                      </a:solidFill>
                      <a:prstDash val="solid"/>
                      <a:round/>
                      <a:headEnd type="none" w="sm" len="sm"/>
                      <a:tailEnd type="none" w="sm" len="sm"/>
                    </a:lnT>
                    <a:lnB w="11900" cap="flat" cmpd="sng">
                      <a:solidFill>
                        <a:schemeClr val="lt1"/>
                      </a:solidFill>
                      <a:prstDash val="solid"/>
                      <a:round/>
                      <a:headEnd type="none" w="sm" len="sm"/>
                      <a:tailEnd type="none" w="sm" len="sm"/>
                    </a:lnB>
                  </a:tcPr>
                </a:tc>
                <a:extLst>
                  <a:ext uri="{0D108BD9-81ED-4DB2-BD59-A6C34878D82A}">
                    <a16:rowId xmlns:a16="http://schemas.microsoft.com/office/drawing/2014/main" val="10005"/>
                  </a:ext>
                </a:extLst>
              </a:tr>
              <a:tr h="202825">
                <a:tc>
                  <a:txBody>
                    <a:bodyPr/>
                    <a:lstStyle/>
                    <a:p>
                      <a:pPr marL="0" lvl="0" indent="0" algn="ctr" rtl="0">
                        <a:lnSpc>
                          <a:spcPct val="115000"/>
                        </a:lnSpc>
                        <a:spcBef>
                          <a:spcPts val="0"/>
                        </a:spcBef>
                        <a:spcAft>
                          <a:spcPts val="0"/>
                        </a:spcAft>
                        <a:buNone/>
                      </a:pPr>
                      <a:r>
                        <a:rPr lang="en" sz="700">
                          <a:solidFill>
                            <a:srgbClr val="34A853"/>
                          </a:solidFill>
                        </a:rPr>
                        <a:t>1.84%</a:t>
                      </a:r>
                      <a:endParaRPr sz="700">
                        <a:solidFill>
                          <a:srgbClr val="34A853"/>
                        </a:solidFill>
                      </a:endParaRPr>
                    </a:p>
                  </a:txBody>
                  <a:tcPr marL="28575" marR="28575" marT="19050" marB="19050" anchor="ctr">
                    <a:lnL w="11900" cap="flat" cmpd="sng">
                      <a:solidFill>
                        <a:schemeClr val="lt1"/>
                      </a:solidFill>
                      <a:prstDash val="solid"/>
                      <a:round/>
                      <a:headEnd type="none" w="sm" len="sm"/>
                      <a:tailEnd type="none" w="sm" len="sm"/>
                    </a:lnL>
                    <a:lnR w="11900" cap="flat" cmpd="sng">
                      <a:solidFill>
                        <a:schemeClr val="lt1"/>
                      </a:solidFill>
                      <a:prstDash val="solid"/>
                      <a:round/>
                      <a:headEnd type="none" w="sm" len="sm"/>
                      <a:tailEnd type="none" w="sm" len="sm"/>
                    </a:lnR>
                    <a:lnT w="11900" cap="flat" cmpd="sng">
                      <a:solidFill>
                        <a:schemeClr val="lt1"/>
                      </a:solidFill>
                      <a:prstDash val="solid"/>
                      <a:round/>
                      <a:headEnd type="none" w="sm" len="sm"/>
                      <a:tailEnd type="none" w="sm" len="sm"/>
                    </a:lnT>
                    <a:lnB w="11900" cap="flat" cmpd="sng">
                      <a:solidFill>
                        <a:schemeClr val="lt1"/>
                      </a:solidFill>
                      <a:prstDash val="solid"/>
                      <a:round/>
                      <a:headEnd type="none" w="sm" len="sm"/>
                      <a:tailEnd type="none" w="sm" len="sm"/>
                    </a:lnB>
                  </a:tcPr>
                </a:tc>
                <a:extLst>
                  <a:ext uri="{0D108BD9-81ED-4DB2-BD59-A6C34878D82A}">
                    <a16:rowId xmlns:a16="http://schemas.microsoft.com/office/drawing/2014/main" val="10006"/>
                  </a:ext>
                </a:extLst>
              </a:tr>
            </a:tbl>
          </a:graphicData>
        </a:graphic>
      </p:graphicFrame>
      <p:cxnSp>
        <p:nvCxnSpPr>
          <p:cNvPr id="685" name="Google Shape;685;p56"/>
          <p:cNvCxnSpPr/>
          <p:nvPr/>
        </p:nvCxnSpPr>
        <p:spPr>
          <a:xfrm rot="10800000" flipH="1">
            <a:off x="381000" y="3032025"/>
            <a:ext cx="8466600" cy="5400"/>
          </a:xfrm>
          <a:prstGeom prst="straightConnector1">
            <a:avLst/>
          </a:prstGeom>
          <a:noFill/>
          <a:ln w="9525" cap="flat" cmpd="sng">
            <a:solidFill>
              <a:srgbClr val="0E4174"/>
            </a:solidFill>
            <a:prstDash val="dash"/>
            <a:round/>
            <a:headEnd type="none" w="med" len="med"/>
            <a:tailEnd type="none" w="med" len="med"/>
          </a:ln>
        </p:spPr>
      </p:cxnSp>
      <p:graphicFrame>
        <p:nvGraphicFramePr>
          <p:cNvPr id="686" name="Google Shape;686;p56"/>
          <p:cNvGraphicFramePr/>
          <p:nvPr/>
        </p:nvGraphicFramePr>
        <p:xfrm>
          <a:off x="8312418" y="1131440"/>
          <a:ext cx="3000000" cy="3000000"/>
        </p:xfrm>
        <a:graphic>
          <a:graphicData uri="http://schemas.openxmlformats.org/drawingml/2006/table">
            <a:tbl>
              <a:tblPr>
                <a:noFill/>
                <a:tableStyleId>{BD4DB973-2F49-4540-A1CC-0EE3EA8BBFB3}</a:tableStyleId>
              </a:tblPr>
              <a:tblGrid>
                <a:gridCol w="445575">
                  <a:extLst>
                    <a:ext uri="{9D8B030D-6E8A-4147-A177-3AD203B41FA5}">
                      <a16:colId xmlns:a16="http://schemas.microsoft.com/office/drawing/2014/main" val="20000"/>
                    </a:ext>
                  </a:extLst>
                </a:gridCol>
              </a:tblGrid>
              <a:tr h="136925">
                <a:tc>
                  <a:txBody>
                    <a:bodyPr/>
                    <a:lstStyle/>
                    <a:p>
                      <a:pPr marL="0" lvl="0" indent="0" algn="ctr" rtl="0">
                        <a:lnSpc>
                          <a:spcPct val="115000"/>
                        </a:lnSpc>
                        <a:spcBef>
                          <a:spcPts val="0"/>
                        </a:spcBef>
                        <a:spcAft>
                          <a:spcPts val="0"/>
                        </a:spcAft>
                        <a:buNone/>
                      </a:pPr>
                      <a:r>
                        <a:rPr lang="en" sz="600" b="1">
                          <a:solidFill>
                            <a:schemeClr val="lt1"/>
                          </a:solidFill>
                        </a:rPr>
                        <a:t>WoW</a:t>
                      </a:r>
                      <a:endParaRPr sz="600" b="1">
                        <a:solidFill>
                          <a:schemeClr val="lt1"/>
                        </a:solidFill>
                      </a:endParaRPr>
                    </a:p>
                  </a:txBody>
                  <a:tcPr marL="28575" marR="28575" marT="19050" marB="19050" anchor="b">
                    <a:lnL w="10575" cap="flat" cmpd="sng">
                      <a:solidFill>
                        <a:srgbClr val="CCCCCC">
                          <a:alpha val="0"/>
                        </a:srgbClr>
                      </a:solidFill>
                      <a:prstDash val="solid"/>
                      <a:round/>
                      <a:headEnd type="none" w="sm" len="sm"/>
                      <a:tailEnd type="none" w="sm" len="sm"/>
                    </a:lnL>
                    <a:lnR w="10575" cap="flat" cmpd="sng">
                      <a:solidFill>
                        <a:srgbClr val="CCCCCC">
                          <a:alpha val="0"/>
                        </a:srgbClr>
                      </a:solidFill>
                      <a:prstDash val="solid"/>
                      <a:round/>
                      <a:headEnd type="none" w="sm" len="sm"/>
                      <a:tailEnd type="none" w="sm" len="sm"/>
                    </a:lnR>
                    <a:lnT w="10575" cap="flat" cmpd="sng">
                      <a:solidFill>
                        <a:srgbClr val="CCCCCC">
                          <a:alpha val="0"/>
                        </a:srgbClr>
                      </a:solidFill>
                      <a:prstDash val="solid"/>
                      <a:round/>
                      <a:headEnd type="none" w="sm" len="sm"/>
                      <a:tailEnd type="none" w="sm" len="sm"/>
                    </a:lnT>
                    <a:lnB w="11900" cap="flat" cmpd="sng">
                      <a:solidFill>
                        <a:schemeClr val="lt1"/>
                      </a:solidFill>
                      <a:prstDash val="solid"/>
                      <a:round/>
                      <a:headEnd type="none" w="sm" len="sm"/>
                      <a:tailEnd type="none" w="sm" len="sm"/>
                    </a:lnB>
                    <a:solidFill>
                      <a:srgbClr val="073763"/>
                    </a:solidFill>
                  </a:tcPr>
                </a:tc>
                <a:extLst>
                  <a:ext uri="{0D108BD9-81ED-4DB2-BD59-A6C34878D82A}">
                    <a16:rowId xmlns:a16="http://schemas.microsoft.com/office/drawing/2014/main" val="10000"/>
                  </a:ext>
                </a:extLst>
              </a:tr>
              <a:tr h="118675">
                <a:tc>
                  <a:txBody>
                    <a:bodyPr/>
                    <a:lstStyle/>
                    <a:p>
                      <a:pPr marL="0" lvl="0" indent="0" algn="ctr" rtl="0">
                        <a:lnSpc>
                          <a:spcPct val="115000"/>
                        </a:lnSpc>
                        <a:spcBef>
                          <a:spcPts val="0"/>
                        </a:spcBef>
                        <a:spcAft>
                          <a:spcPts val="0"/>
                        </a:spcAft>
                        <a:buNone/>
                      </a:pPr>
                      <a:r>
                        <a:rPr lang="en" sz="500" b="1">
                          <a:solidFill>
                            <a:srgbClr val="EA4335"/>
                          </a:solidFill>
                        </a:rPr>
                        <a:t>-0.42%</a:t>
                      </a:r>
                      <a:endParaRPr sz="500" b="1">
                        <a:solidFill>
                          <a:srgbClr val="EA4335"/>
                        </a:solidFill>
                      </a:endParaRPr>
                    </a:p>
                  </a:txBody>
                  <a:tcPr marL="28575" marR="28575" marT="19050" marB="19050" anchor="ctr">
                    <a:lnL w="11900" cap="flat" cmpd="sng">
                      <a:solidFill>
                        <a:schemeClr val="lt1"/>
                      </a:solidFill>
                      <a:prstDash val="solid"/>
                      <a:round/>
                      <a:headEnd type="none" w="sm" len="sm"/>
                      <a:tailEnd type="none" w="sm" len="sm"/>
                    </a:lnL>
                    <a:lnR w="11900" cap="flat" cmpd="sng">
                      <a:solidFill>
                        <a:schemeClr val="lt1"/>
                      </a:solidFill>
                      <a:prstDash val="solid"/>
                      <a:round/>
                      <a:headEnd type="none" w="sm" len="sm"/>
                      <a:tailEnd type="none" w="sm" len="sm"/>
                    </a:lnR>
                    <a:lnT w="11900" cap="flat" cmpd="sng">
                      <a:solidFill>
                        <a:schemeClr val="lt1"/>
                      </a:solidFill>
                      <a:prstDash val="solid"/>
                      <a:round/>
                      <a:headEnd type="none" w="sm" len="sm"/>
                      <a:tailEnd type="none" w="sm" len="sm"/>
                    </a:lnT>
                    <a:lnB w="11900" cap="flat" cmpd="sng">
                      <a:solidFill>
                        <a:schemeClr val="lt1"/>
                      </a:solidFill>
                      <a:prstDash val="solid"/>
                      <a:round/>
                      <a:headEnd type="none" w="sm" len="sm"/>
                      <a:tailEnd type="none" w="sm" len="sm"/>
                    </a:lnB>
                  </a:tcPr>
                </a:tc>
                <a:extLst>
                  <a:ext uri="{0D108BD9-81ED-4DB2-BD59-A6C34878D82A}">
                    <a16:rowId xmlns:a16="http://schemas.microsoft.com/office/drawing/2014/main" val="10001"/>
                  </a:ext>
                </a:extLst>
              </a:tr>
              <a:tr h="118675">
                <a:tc>
                  <a:txBody>
                    <a:bodyPr/>
                    <a:lstStyle/>
                    <a:p>
                      <a:pPr marL="0" lvl="0" indent="0" algn="ctr" rtl="0">
                        <a:lnSpc>
                          <a:spcPct val="115000"/>
                        </a:lnSpc>
                        <a:spcBef>
                          <a:spcPts val="0"/>
                        </a:spcBef>
                        <a:spcAft>
                          <a:spcPts val="0"/>
                        </a:spcAft>
                        <a:buNone/>
                      </a:pPr>
                      <a:r>
                        <a:rPr lang="en" sz="500" b="1">
                          <a:solidFill>
                            <a:srgbClr val="EA4335"/>
                          </a:solidFill>
                        </a:rPr>
                        <a:t>-0.24%</a:t>
                      </a:r>
                      <a:endParaRPr sz="500" b="1">
                        <a:solidFill>
                          <a:srgbClr val="EA4335"/>
                        </a:solidFill>
                      </a:endParaRPr>
                    </a:p>
                  </a:txBody>
                  <a:tcPr marL="28575" marR="28575" marT="19050" marB="19050" anchor="ctr">
                    <a:lnL w="11900" cap="flat" cmpd="sng">
                      <a:solidFill>
                        <a:schemeClr val="lt1"/>
                      </a:solidFill>
                      <a:prstDash val="solid"/>
                      <a:round/>
                      <a:headEnd type="none" w="sm" len="sm"/>
                      <a:tailEnd type="none" w="sm" len="sm"/>
                    </a:lnL>
                    <a:lnR w="11900" cap="flat" cmpd="sng">
                      <a:solidFill>
                        <a:schemeClr val="lt1"/>
                      </a:solidFill>
                      <a:prstDash val="solid"/>
                      <a:round/>
                      <a:headEnd type="none" w="sm" len="sm"/>
                      <a:tailEnd type="none" w="sm" len="sm"/>
                    </a:lnR>
                    <a:lnT w="11900" cap="flat" cmpd="sng">
                      <a:solidFill>
                        <a:schemeClr val="lt1"/>
                      </a:solidFill>
                      <a:prstDash val="solid"/>
                      <a:round/>
                      <a:headEnd type="none" w="sm" len="sm"/>
                      <a:tailEnd type="none" w="sm" len="sm"/>
                    </a:lnT>
                    <a:lnB w="11900" cap="flat" cmpd="sng">
                      <a:solidFill>
                        <a:schemeClr val="lt1"/>
                      </a:solidFill>
                      <a:prstDash val="solid"/>
                      <a:round/>
                      <a:headEnd type="none" w="sm" len="sm"/>
                      <a:tailEnd type="none" w="sm" len="sm"/>
                    </a:lnB>
                  </a:tcPr>
                </a:tc>
                <a:extLst>
                  <a:ext uri="{0D108BD9-81ED-4DB2-BD59-A6C34878D82A}">
                    <a16:rowId xmlns:a16="http://schemas.microsoft.com/office/drawing/2014/main" val="10002"/>
                  </a:ext>
                </a:extLst>
              </a:tr>
              <a:tr h="118675">
                <a:tc>
                  <a:txBody>
                    <a:bodyPr/>
                    <a:lstStyle/>
                    <a:p>
                      <a:pPr marL="0" lvl="0" indent="0" algn="ctr" rtl="0">
                        <a:lnSpc>
                          <a:spcPct val="115000"/>
                        </a:lnSpc>
                        <a:spcBef>
                          <a:spcPts val="0"/>
                        </a:spcBef>
                        <a:spcAft>
                          <a:spcPts val="0"/>
                        </a:spcAft>
                        <a:buNone/>
                      </a:pPr>
                      <a:r>
                        <a:rPr lang="en" sz="500" b="1">
                          <a:solidFill>
                            <a:srgbClr val="34A853"/>
                          </a:solidFill>
                        </a:rPr>
                        <a:t>2.68%</a:t>
                      </a:r>
                      <a:endParaRPr sz="500" b="1">
                        <a:solidFill>
                          <a:srgbClr val="34A853"/>
                        </a:solidFill>
                      </a:endParaRPr>
                    </a:p>
                  </a:txBody>
                  <a:tcPr marL="28575" marR="28575" marT="19050" marB="19050" anchor="ctr">
                    <a:lnL w="11900" cap="flat" cmpd="sng">
                      <a:solidFill>
                        <a:schemeClr val="lt1"/>
                      </a:solidFill>
                      <a:prstDash val="solid"/>
                      <a:round/>
                      <a:headEnd type="none" w="sm" len="sm"/>
                      <a:tailEnd type="none" w="sm" len="sm"/>
                    </a:lnL>
                    <a:lnR w="11900" cap="flat" cmpd="sng">
                      <a:solidFill>
                        <a:schemeClr val="lt1"/>
                      </a:solidFill>
                      <a:prstDash val="solid"/>
                      <a:round/>
                      <a:headEnd type="none" w="sm" len="sm"/>
                      <a:tailEnd type="none" w="sm" len="sm"/>
                    </a:lnR>
                    <a:lnT w="11900" cap="flat" cmpd="sng">
                      <a:solidFill>
                        <a:schemeClr val="lt1"/>
                      </a:solidFill>
                      <a:prstDash val="solid"/>
                      <a:round/>
                      <a:headEnd type="none" w="sm" len="sm"/>
                      <a:tailEnd type="none" w="sm" len="sm"/>
                    </a:lnT>
                    <a:lnB w="11900" cap="flat" cmpd="sng">
                      <a:solidFill>
                        <a:schemeClr val="lt1"/>
                      </a:solidFill>
                      <a:prstDash val="solid"/>
                      <a:round/>
                      <a:headEnd type="none" w="sm" len="sm"/>
                      <a:tailEnd type="none" w="sm" len="sm"/>
                    </a:lnB>
                  </a:tcPr>
                </a:tc>
                <a:extLst>
                  <a:ext uri="{0D108BD9-81ED-4DB2-BD59-A6C34878D82A}">
                    <a16:rowId xmlns:a16="http://schemas.microsoft.com/office/drawing/2014/main" val="10003"/>
                  </a:ext>
                </a:extLst>
              </a:tr>
              <a:tr h="118675">
                <a:tc>
                  <a:txBody>
                    <a:bodyPr/>
                    <a:lstStyle/>
                    <a:p>
                      <a:pPr marL="0" lvl="0" indent="0" algn="ctr" rtl="0">
                        <a:lnSpc>
                          <a:spcPct val="115000"/>
                        </a:lnSpc>
                        <a:spcBef>
                          <a:spcPts val="0"/>
                        </a:spcBef>
                        <a:spcAft>
                          <a:spcPts val="0"/>
                        </a:spcAft>
                        <a:buNone/>
                      </a:pPr>
                      <a:r>
                        <a:rPr lang="en" sz="500" b="1">
                          <a:solidFill>
                            <a:srgbClr val="34A853"/>
                          </a:solidFill>
                        </a:rPr>
                        <a:t>2.44%</a:t>
                      </a:r>
                      <a:endParaRPr sz="500" b="1">
                        <a:solidFill>
                          <a:srgbClr val="34A853"/>
                        </a:solidFill>
                      </a:endParaRPr>
                    </a:p>
                  </a:txBody>
                  <a:tcPr marL="28575" marR="28575" marT="19050" marB="19050" anchor="ctr">
                    <a:lnL w="11900" cap="flat" cmpd="sng">
                      <a:solidFill>
                        <a:schemeClr val="lt1"/>
                      </a:solidFill>
                      <a:prstDash val="solid"/>
                      <a:round/>
                      <a:headEnd type="none" w="sm" len="sm"/>
                      <a:tailEnd type="none" w="sm" len="sm"/>
                    </a:lnL>
                    <a:lnR w="11900" cap="flat" cmpd="sng">
                      <a:solidFill>
                        <a:schemeClr val="lt1"/>
                      </a:solidFill>
                      <a:prstDash val="solid"/>
                      <a:round/>
                      <a:headEnd type="none" w="sm" len="sm"/>
                      <a:tailEnd type="none" w="sm" len="sm"/>
                    </a:lnR>
                    <a:lnT w="11900" cap="flat" cmpd="sng">
                      <a:solidFill>
                        <a:schemeClr val="lt1"/>
                      </a:solidFill>
                      <a:prstDash val="solid"/>
                      <a:round/>
                      <a:headEnd type="none" w="sm" len="sm"/>
                      <a:tailEnd type="none" w="sm" len="sm"/>
                    </a:lnT>
                    <a:lnB w="11900" cap="flat" cmpd="sng">
                      <a:solidFill>
                        <a:schemeClr val="lt1"/>
                      </a:solidFill>
                      <a:prstDash val="solid"/>
                      <a:round/>
                      <a:headEnd type="none" w="sm" len="sm"/>
                      <a:tailEnd type="none" w="sm" len="sm"/>
                    </a:lnB>
                  </a:tcPr>
                </a:tc>
                <a:extLst>
                  <a:ext uri="{0D108BD9-81ED-4DB2-BD59-A6C34878D82A}">
                    <a16:rowId xmlns:a16="http://schemas.microsoft.com/office/drawing/2014/main" val="10004"/>
                  </a:ext>
                </a:extLst>
              </a:tr>
              <a:tr h="118675">
                <a:tc>
                  <a:txBody>
                    <a:bodyPr/>
                    <a:lstStyle/>
                    <a:p>
                      <a:pPr marL="0" lvl="0" indent="0" algn="ctr" rtl="0">
                        <a:lnSpc>
                          <a:spcPct val="115000"/>
                        </a:lnSpc>
                        <a:spcBef>
                          <a:spcPts val="0"/>
                        </a:spcBef>
                        <a:spcAft>
                          <a:spcPts val="0"/>
                        </a:spcAft>
                        <a:buNone/>
                      </a:pPr>
                      <a:r>
                        <a:rPr lang="en" sz="500" b="1">
                          <a:solidFill>
                            <a:srgbClr val="EA4335"/>
                          </a:solidFill>
                        </a:rPr>
                        <a:t>-0.13%</a:t>
                      </a:r>
                      <a:endParaRPr sz="500" b="1">
                        <a:solidFill>
                          <a:srgbClr val="EA4335"/>
                        </a:solidFill>
                      </a:endParaRPr>
                    </a:p>
                  </a:txBody>
                  <a:tcPr marL="28575" marR="28575" marT="19050" marB="19050" anchor="ctr">
                    <a:lnL w="11900" cap="flat" cmpd="sng">
                      <a:solidFill>
                        <a:schemeClr val="lt1"/>
                      </a:solidFill>
                      <a:prstDash val="solid"/>
                      <a:round/>
                      <a:headEnd type="none" w="sm" len="sm"/>
                      <a:tailEnd type="none" w="sm" len="sm"/>
                    </a:lnL>
                    <a:lnR w="11900" cap="flat" cmpd="sng">
                      <a:solidFill>
                        <a:schemeClr val="lt1"/>
                      </a:solidFill>
                      <a:prstDash val="solid"/>
                      <a:round/>
                      <a:headEnd type="none" w="sm" len="sm"/>
                      <a:tailEnd type="none" w="sm" len="sm"/>
                    </a:lnR>
                    <a:lnT w="11900" cap="flat" cmpd="sng">
                      <a:solidFill>
                        <a:schemeClr val="lt1"/>
                      </a:solidFill>
                      <a:prstDash val="solid"/>
                      <a:round/>
                      <a:headEnd type="none" w="sm" len="sm"/>
                      <a:tailEnd type="none" w="sm" len="sm"/>
                    </a:lnT>
                    <a:lnB w="11900" cap="flat" cmpd="sng">
                      <a:solidFill>
                        <a:schemeClr val="lt1"/>
                      </a:solidFill>
                      <a:prstDash val="solid"/>
                      <a:round/>
                      <a:headEnd type="none" w="sm" len="sm"/>
                      <a:tailEnd type="none" w="sm" len="sm"/>
                    </a:lnB>
                  </a:tcPr>
                </a:tc>
                <a:extLst>
                  <a:ext uri="{0D108BD9-81ED-4DB2-BD59-A6C34878D82A}">
                    <a16:rowId xmlns:a16="http://schemas.microsoft.com/office/drawing/2014/main" val="10005"/>
                  </a:ext>
                </a:extLst>
              </a:tr>
              <a:tr h="118675">
                <a:tc>
                  <a:txBody>
                    <a:bodyPr/>
                    <a:lstStyle/>
                    <a:p>
                      <a:pPr marL="0" lvl="0" indent="0" algn="ctr" rtl="0">
                        <a:lnSpc>
                          <a:spcPct val="115000"/>
                        </a:lnSpc>
                        <a:spcBef>
                          <a:spcPts val="0"/>
                        </a:spcBef>
                        <a:spcAft>
                          <a:spcPts val="0"/>
                        </a:spcAft>
                        <a:buNone/>
                      </a:pPr>
                      <a:r>
                        <a:rPr lang="en" sz="500" b="1">
                          <a:solidFill>
                            <a:srgbClr val="34A853"/>
                          </a:solidFill>
                        </a:rPr>
                        <a:t>5.20%</a:t>
                      </a:r>
                      <a:endParaRPr sz="500" b="1">
                        <a:solidFill>
                          <a:srgbClr val="34A853"/>
                        </a:solidFill>
                      </a:endParaRPr>
                    </a:p>
                  </a:txBody>
                  <a:tcPr marL="28575" marR="28575" marT="19050" marB="19050" anchor="ctr">
                    <a:lnL w="11900" cap="flat" cmpd="sng">
                      <a:solidFill>
                        <a:schemeClr val="lt1"/>
                      </a:solidFill>
                      <a:prstDash val="solid"/>
                      <a:round/>
                      <a:headEnd type="none" w="sm" len="sm"/>
                      <a:tailEnd type="none" w="sm" len="sm"/>
                    </a:lnL>
                    <a:lnR w="11900" cap="flat" cmpd="sng">
                      <a:solidFill>
                        <a:schemeClr val="lt1"/>
                      </a:solidFill>
                      <a:prstDash val="solid"/>
                      <a:round/>
                      <a:headEnd type="none" w="sm" len="sm"/>
                      <a:tailEnd type="none" w="sm" len="sm"/>
                    </a:lnR>
                    <a:lnT w="11900" cap="flat" cmpd="sng">
                      <a:solidFill>
                        <a:schemeClr val="lt1"/>
                      </a:solidFill>
                      <a:prstDash val="solid"/>
                      <a:round/>
                      <a:headEnd type="none" w="sm" len="sm"/>
                      <a:tailEnd type="none" w="sm" len="sm"/>
                    </a:lnT>
                    <a:lnB w="11900" cap="flat" cmpd="sng">
                      <a:solidFill>
                        <a:schemeClr val="lt1"/>
                      </a:solidFill>
                      <a:prstDash val="solid"/>
                      <a:round/>
                      <a:headEnd type="none" w="sm" len="sm"/>
                      <a:tailEnd type="none" w="sm" len="sm"/>
                    </a:lnB>
                  </a:tcPr>
                </a:tc>
                <a:extLst>
                  <a:ext uri="{0D108BD9-81ED-4DB2-BD59-A6C34878D82A}">
                    <a16:rowId xmlns:a16="http://schemas.microsoft.com/office/drawing/2014/main" val="10006"/>
                  </a:ext>
                </a:extLst>
              </a:tr>
              <a:tr h="118675">
                <a:tc>
                  <a:txBody>
                    <a:bodyPr/>
                    <a:lstStyle/>
                    <a:p>
                      <a:pPr marL="0" lvl="0" indent="0" algn="ctr" rtl="0">
                        <a:lnSpc>
                          <a:spcPct val="115000"/>
                        </a:lnSpc>
                        <a:spcBef>
                          <a:spcPts val="0"/>
                        </a:spcBef>
                        <a:spcAft>
                          <a:spcPts val="0"/>
                        </a:spcAft>
                        <a:buNone/>
                      </a:pPr>
                      <a:r>
                        <a:rPr lang="en" sz="500" b="1">
                          <a:solidFill>
                            <a:srgbClr val="34A853"/>
                          </a:solidFill>
                        </a:rPr>
                        <a:t>2.96%</a:t>
                      </a:r>
                      <a:endParaRPr sz="500" b="1">
                        <a:solidFill>
                          <a:srgbClr val="34A853"/>
                        </a:solidFill>
                      </a:endParaRPr>
                    </a:p>
                  </a:txBody>
                  <a:tcPr marL="28575" marR="28575" marT="19050" marB="19050" anchor="ctr">
                    <a:lnL w="11900" cap="flat" cmpd="sng">
                      <a:solidFill>
                        <a:schemeClr val="lt1"/>
                      </a:solidFill>
                      <a:prstDash val="solid"/>
                      <a:round/>
                      <a:headEnd type="none" w="sm" len="sm"/>
                      <a:tailEnd type="none" w="sm" len="sm"/>
                    </a:lnL>
                    <a:lnR w="11900" cap="flat" cmpd="sng">
                      <a:solidFill>
                        <a:schemeClr val="lt1"/>
                      </a:solidFill>
                      <a:prstDash val="solid"/>
                      <a:round/>
                      <a:headEnd type="none" w="sm" len="sm"/>
                      <a:tailEnd type="none" w="sm" len="sm"/>
                    </a:lnR>
                    <a:lnT w="11900" cap="flat" cmpd="sng">
                      <a:solidFill>
                        <a:schemeClr val="lt1"/>
                      </a:solidFill>
                      <a:prstDash val="solid"/>
                      <a:round/>
                      <a:headEnd type="none" w="sm" len="sm"/>
                      <a:tailEnd type="none" w="sm" len="sm"/>
                    </a:lnT>
                    <a:lnB w="11900" cap="flat" cmpd="sng">
                      <a:solidFill>
                        <a:schemeClr val="lt1"/>
                      </a:solidFill>
                      <a:prstDash val="solid"/>
                      <a:round/>
                      <a:headEnd type="none" w="sm" len="sm"/>
                      <a:tailEnd type="none" w="sm" len="sm"/>
                    </a:lnB>
                  </a:tcPr>
                </a:tc>
                <a:extLst>
                  <a:ext uri="{0D108BD9-81ED-4DB2-BD59-A6C34878D82A}">
                    <a16:rowId xmlns:a16="http://schemas.microsoft.com/office/drawing/2014/main" val="10007"/>
                  </a:ext>
                </a:extLst>
              </a:tr>
              <a:tr h="118675">
                <a:tc>
                  <a:txBody>
                    <a:bodyPr/>
                    <a:lstStyle/>
                    <a:p>
                      <a:pPr marL="0" lvl="0" indent="0" algn="ctr" rtl="0">
                        <a:lnSpc>
                          <a:spcPct val="115000"/>
                        </a:lnSpc>
                        <a:spcBef>
                          <a:spcPts val="0"/>
                        </a:spcBef>
                        <a:spcAft>
                          <a:spcPts val="0"/>
                        </a:spcAft>
                        <a:buNone/>
                      </a:pPr>
                      <a:r>
                        <a:rPr lang="en" sz="500" b="1">
                          <a:solidFill>
                            <a:srgbClr val="34A853"/>
                          </a:solidFill>
                        </a:rPr>
                        <a:t>0.40%</a:t>
                      </a:r>
                      <a:endParaRPr sz="500" b="1">
                        <a:solidFill>
                          <a:srgbClr val="34A853"/>
                        </a:solidFill>
                      </a:endParaRPr>
                    </a:p>
                  </a:txBody>
                  <a:tcPr marL="28575" marR="28575" marT="19050" marB="19050" anchor="ctr">
                    <a:lnL w="11900" cap="flat" cmpd="sng">
                      <a:solidFill>
                        <a:schemeClr val="lt1"/>
                      </a:solidFill>
                      <a:prstDash val="solid"/>
                      <a:round/>
                      <a:headEnd type="none" w="sm" len="sm"/>
                      <a:tailEnd type="none" w="sm" len="sm"/>
                    </a:lnL>
                    <a:lnR w="11900" cap="flat" cmpd="sng">
                      <a:solidFill>
                        <a:schemeClr val="lt1"/>
                      </a:solidFill>
                      <a:prstDash val="solid"/>
                      <a:round/>
                      <a:headEnd type="none" w="sm" len="sm"/>
                      <a:tailEnd type="none" w="sm" len="sm"/>
                    </a:lnR>
                    <a:lnT w="11900" cap="flat" cmpd="sng">
                      <a:solidFill>
                        <a:schemeClr val="lt1"/>
                      </a:solidFill>
                      <a:prstDash val="solid"/>
                      <a:round/>
                      <a:headEnd type="none" w="sm" len="sm"/>
                      <a:tailEnd type="none" w="sm" len="sm"/>
                    </a:lnT>
                    <a:lnB w="11900" cap="flat" cmpd="sng">
                      <a:solidFill>
                        <a:schemeClr val="lt1"/>
                      </a:solidFill>
                      <a:prstDash val="solid"/>
                      <a:round/>
                      <a:headEnd type="none" w="sm" len="sm"/>
                      <a:tailEnd type="none" w="sm" len="sm"/>
                    </a:lnB>
                  </a:tcPr>
                </a:tc>
                <a:extLst>
                  <a:ext uri="{0D108BD9-81ED-4DB2-BD59-A6C34878D82A}">
                    <a16:rowId xmlns:a16="http://schemas.microsoft.com/office/drawing/2014/main" val="10008"/>
                  </a:ext>
                </a:extLst>
              </a:tr>
              <a:tr h="118675">
                <a:tc>
                  <a:txBody>
                    <a:bodyPr/>
                    <a:lstStyle/>
                    <a:p>
                      <a:pPr marL="0" lvl="0" indent="0" algn="ctr" rtl="0">
                        <a:lnSpc>
                          <a:spcPct val="115000"/>
                        </a:lnSpc>
                        <a:spcBef>
                          <a:spcPts val="0"/>
                        </a:spcBef>
                        <a:spcAft>
                          <a:spcPts val="0"/>
                        </a:spcAft>
                        <a:buNone/>
                      </a:pPr>
                      <a:r>
                        <a:rPr lang="en" sz="500" b="1">
                          <a:solidFill>
                            <a:srgbClr val="34A853"/>
                          </a:solidFill>
                        </a:rPr>
                        <a:t>0.34%</a:t>
                      </a:r>
                      <a:endParaRPr sz="500" b="1">
                        <a:solidFill>
                          <a:srgbClr val="34A853"/>
                        </a:solidFill>
                      </a:endParaRPr>
                    </a:p>
                  </a:txBody>
                  <a:tcPr marL="28575" marR="28575" marT="19050" marB="19050" anchor="ctr">
                    <a:lnL w="11900" cap="flat" cmpd="sng">
                      <a:solidFill>
                        <a:schemeClr val="lt1"/>
                      </a:solidFill>
                      <a:prstDash val="solid"/>
                      <a:round/>
                      <a:headEnd type="none" w="sm" len="sm"/>
                      <a:tailEnd type="none" w="sm" len="sm"/>
                    </a:lnL>
                    <a:lnR w="11900" cap="flat" cmpd="sng">
                      <a:solidFill>
                        <a:schemeClr val="lt1"/>
                      </a:solidFill>
                      <a:prstDash val="solid"/>
                      <a:round/>
                      <a:headEnd type="none" w="sm" len="sm"/>
                      <a:tailEnd type="none" w="sm" len="sm"/>
                    </a:lnR>
                    <a:lnT w="11900" cap="flat" cmpd="sng">
                      <a:solidFill>
                        <a:schemeClr val="lt1"/>
                      </a:solidFill>
                      <a:prstDash val="solid"/>
                      <a:round/>
                      <a:headEnd type="none" w="sm" len="sm"/>
                      <a:tailEnd type="none" w="sm" len="sm"/>
                    </a:lnT>
                    <a:lnB w="11900" cap="flat" cmpd="sng">
                      <a:solidFill>
                        <a:schemeClr val="lt1"/>
                      </a:solidFill>
                      <a:prstDash val="solid"/>
                      <a:round/>
                      <a:headEnd type="none" w="sm" len="sm"/>
                      <a:tailEnd type="none" w="sm" len="sm"/>
                    </a:lnB>
                  </a:tcPr>
                </a:tc>
                <a:extLst>
                  <a:ext uri="{0D108BD9-81ED-4DB2-BD59-A6C34878D82A}">
                    <a16:rowId xmlns:a16="http://schemas.microsoft.com/office/drawing/2014/main" val="10009"/>
                  </a:ext>
                </a:extLst>
              </a:tr>
              <a:tr h="118675">
                <a:tc>
                  <a:txBody>
                    <a:bodyPr/>
                    <a:lstStyle/>
                    <a:p>
                      <a:pPr marL="0" lvl="0" indent="0" algn="ctr" rtl="0">
                        <a:lnSpc>
                          <a:spcPct val="115000"/>
                        </a:lnSpc>
                        <a:spcBef>
                          <a:spcPts val="0"/>
                        </a:spcBef>
                        <a:spcAft>
                          <a:spcPts val="0"/>
                        </a:spcAft>
                        <a:buNone/>
                      </a:pPr>
                      <a:r>
                        <a:rPr lang="en" sz="500" b="1">
                          <a:solidFill>
                            <a:srgbClr val="34A853"/>
                          </a:solidFill>
                        </a:rPr>
                        <a:t>0.89%</a:t>
                      </a:r>
                      <a:endParaRPr sz="500" b="1">
                        <a:solidFill>
                          <a:srgbClr val="34A853"/>
                        </a:solidFill>
                      </a:endParaRPr>
                    </a:p>
                  </a:txBody>
                  <a:tcPr marL="28575" marR="28575" marT="19050" marB="19050" anchor="ctr">
                    <a:lnL w="11900" cap="flat" cmpd="sng">
                      <a:solidFill>
                        <a:schemeClr val="lt1"/>
                      </a:solidFill>
                      <a:prstDash val="solid"/>
                      <a:round/>
                      <a:headEnd type="none" w="sm" len="sm"/>
                      <a:tailEnd type="none" w="sm" len="sm"/>
                    </a:lnL>
                    <a:lnR w="11900" cap="flat" cmpd="sng">
                      <a:solidFill>
                        <a:schemeClr val="lt1"/>
                      </a:solidFill>
                      <a:prstDash val="solid"/>
                      <a:round/>
                      <a:headEnd type="none" w="sm" len="sm"/>
                      <a:tailEnd type="none" w="sm" len="sm"/>
                    </a:lnR>
                    <a:lnT w="11900" cap="flat" cmpd="sng">
                      <a:solidFill>
                        <a:schemeClr val="lt1"/>
                      </a:solidFill>
                      <a:prstDash val="solid"/>
                      <a:round/>
                      <a:headEnd type="none" w="sm" len="sm"/>
                      <a:tailEnd type="none" w="sm" len="sm"/>
                    </a:lnT>
                    <a:lnB w="11900" cap="flat" cmpd="sng">
                      <a:solidFill>
                        <a:schemeClr val="lt1"/>
                      </a:solidFill>
                      <a:prstDash val="solid"/>
                      <a:round/>
                      <a:headEnd type="none" w="sm" len="sm"/>
                      <a:tailEnd type="none" w="sm" len="sm"/>
                    </a:lnB>
                  </a:tcPr>
                </a:tc>
                <a:extLst>
                  <a:ext uri="{0D108BD9-81ED-4DB2-BD59-A6C34878D82A}">
                    <a16:rowId xmlns:a16="http://schemas.microsoft.com/office/drawing/2014/main" val="10010"/>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691"/>
        <p:cNvGrpSpPr/>
        <p:nvPr/>
      </p:nvGrpSpPr>
      <p:grpSpPr>
        <a:xfrm>
          <a:off x="0" y="0"/>
          <a:ext cx="0" cy="0"/>
          <a:chOff x="0" y="0"/>
          <a:chExt cx="0" cy="0"/>
        </a:xfrm>
      </p:grpSpPr>
      <p:sp>
        <p:nvSpPr>
          <p:cNvPr id="692" name="Google Shape;692;p57"/>
          <p:cNvSpPr/>
          <p:nvPr/>
        </p:nvSpPr>
        <p:spPr>
          <a:xfrm>
            <a:off x="957775" y="3091225"/>
            <a:ext cx="3936900" cy="1991400"/>
          </a:xfrm>
          <a:prstGeom prst="rect">
            <a:avLst/>
          </a:prstGeom>
          <a:solidFill>
            <a:srgbClr val="FFFFFF"/>
          </a:solidFill>
          <a:ln w="9525" cap="flat" cmpd="sng">
            <a:solidFill>
              <a:srgbClr val="E2E8F0"/>
            </a:solidFill>
            <a:prstDash val="solid"/>
            <a:round/>
            <a:headEnd type="none" w="sm" len="sm"/>
            <a:tailEnd type="none" w="sm" len="sm"/>
          </a:ln>
          <a:effectLst>
            <a:outerShdw blurRad="76200" dist="25400" dir="8100000" algn="bl" rotWithShape="0">
              <a:srgbClr val="000000">
                <a:alpha val="102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 name="Google Shape;693;p57"/>
          <p:cNvSpPr/>
          <p:nvPr/>
        </p:nvSpPr>
        <p:spPr>
          <a:xfrm>
            <a:off x="957775" y="984250"/>
            <a:ext cx="3936900" cy="1991400"/>
          </a:xfrm>
          <a:prstGeom prst="rect">
            <a:avLst/>
          </a:prstGeom>
          <a:solidFill>
            <a:srgbClr val="FFFFFF"/>
          </a:solidFill>
          <a:ln w="9525" cap="flat" cmpd="sng">
            <a:solidFill>
              <a:srgbClr val="E2E8F0"/>
            </a:solidFill>
            <a:prstDash val="solid"/>
            <a:round/>
            <a:headEnd type="none" w="sm" len="sm"/>
            <a:tailEnd type="none" w="sm" len="sm"/>
          </a:ln>
          <a:effectLst>
            <a:outerShdw blurRad="76200" dist="25400" dir="8100000" algn="bl" rotWithShape="0">
              <a:srgbClr val="000000">
                <a:alpha val="102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 name="Google Shape;694;p57"/>
          <p:cNvSpPr/>
          <p:nvPr/>
        </p:nvSpPr>
        <p:spPr>
          <a:xfrm>
            <a:off x="0" y="0"/>
            <a:ext cx="9144000" cy="73200"/>
          </a:xfrm>
          <a:prstGeom prst="rect">
            <a:avLst/>
          </a:prstGeom>
          <a:solidFill>
            <a:srgbClr val="FF7F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695" name="Google Shape;695;p57"/>
          <p:cNvCxnSpPr/>
          <p:nvPr/>
        </p:nvCxnSpPr>
        <p:spPr>
          <a:xfrm>
            <a:off x="365760" y="868680"/>
            <a:ext cx="8412600" cy="0"/>
          </a:xfrm>
          <a:prstGeom prst="straightConnector1">
            <a:avLst/>
          </a:prstGeom>
          <a:noFill/>
          <a:ln w="9525" cap="flat" cmpd="sng">
            <a:solidFill>
              <a:srgbClr val="E2E8F0"/>
            </a:solidFill>
            <a:prstDash val="solid"/>
            <a:round/>
            <a:headEnd type="none" w="sm" len="sm"/>
            <a:tailEnd type="none" w="sm" len="sm"/>
          </a:ln>
        </p:spPr>
      </p:cxnSp>
      <p:sp>
        <p:nvSpPr>
          <p:cNvPr id="696" name="Google Shape;696;p57"/>
          <p:cNvSpPr/>
          <p:nvPr/>
        </p:nvSpPr>
        <p:spPr>
          <a:xfrm>
            <a:off x="5486395" y="45700"/>
            <a:ext cx="3657600" cy="27420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94A3B8"/>
              </a:buClr>
              <a:buSzPts val="700"/>
              <a:buFont typeface="Calibri"/>
              <a:buNone/>
            </a:pPr>
            <a:r>
              <a:rPr lang="en" sz="700" b="0" i="1" u="none" strike="noStrike" cap="none">
                <a:solidFill>
                  <a:srgbClr val="94A3B8"/>
                </a:solidFill>
                <a:latin typeface="Calibri"/>
                <a:ea typeface="Calibri"/>
                <a:cs typeface="Calibri"/>
                <a:sym typeface="Calibri"/>
              </a:rPr>
              <a:t>Ahamove — Driver Management | Confidential</a:t>
            </a:r>
            <a:endParaRPr sz="700" b="0" i="0" u="none" strike="noStrike" cap="none">
              <a:solidFill>
                <a:schemeClr val="dk1"/>
              </a:solidFill>
              <a:latin typeface="Calibri"/>
              <a:ea typeface="Calibri"/>
              <a:cs typeface="Calibri"/>
              <a:sym typeface="Calibri"/>
            </a:endParaRPr>
          </a:p>
        </p:txBody>
      </p:sp>
      <p:pic>
        <p:nvPicPr>
          <p:cNvPr id="697" name="Google Shape;697;p57" descr="preencoded.png"/>
          <p:cNvPicPr preferRelativeResize="0"/>
          <p:nvPr/>
        </p:nvPicPr>
        <p:blipFill rotWithShape="1">
          <a:blip r:embed="rId3">
            <a:alphaModFix/>
          </a:blip>
          <a:srcRect/>
          <a:stretch/>
        </p:blipFill>
        <p:spPr>
          <a:xfrm>
            <a:off x="365760" y="337820"/>
            <a:ext cx="274320" cy="274320"/>
          </a:xfrm>
          <a:prstGeom prst="rect">
            <a:avLst/>
          </a:prstGeom>
          <a:noFill/>
          <a:ln>
            <a:noFill/>
          </a:ln>
        </p:spPr>
      </p:pic>
      <p:sp>
        <p:nvSpPr>
          <p:cNvPr id="698" name="Google Shape;698;p57"/>
          <p:cNvSpPr/>
          <p:nvPr/>
        </p:nvSpPr>
        <p:spPr>
          <a:xfrm>
            <a:off x="731520" y="264668"/>
            <a:ext cx="7315200" cy="411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E4174"/>
              </a:buClr>
              <a:buSzPts val="2200"/>
              <a:buFont typeface="Calibri"/>
              <a:buNone/>
            </a:pPr>
            <a:r>
              <a:rPr lang="en" sz="2200" b="1" i="0" u="none" strike="noStrike" cap="none">
                <a:solidFill>
                  <a:srgbClr val="0E4174"/>
                </a:solidFill>
                <a:latin typeface="Lexend"/>
                <a:ea typeface="Lexend"/>
                <a:cs typeface="Lexend"/>
                <a:sym typeface="Lexend"/>
              </a:rPr>
              <a:t>MiniHub</a:t>
            </a:r>
            <a:r>
              <a:rPr lang="en" sz="2200" b="1">
                <a:solidFill>
                  <a:srgbClr val="0E4174"/>
                </a:solidFill>
                <a:latin typeface="Lexend"/>
                <a:ea typeface="Lexend"/>
                <a:cs typeface="Lexend"/>
                <a:sym typeface="Lexend"/>
              </a:rPr>
              <a:t> </a:t>
            </a:r>
            <a:r>
              <a:rPr lang="en" sz="2200" b="1" i="0" u="none" strike="noStrike" cap="none">
                <a:solidFill>
                  <a:srgbClr val="0E4174"/>
                </a:solidFill>
                <a:latin typeface="Lexend"/>
                <a:ea typeface="Lexend"/>
                <a:cs typeface="Lexend"/>
                <a:sym typeface="Lexend"/>
              </a:rPr>
              <a:t>- </a:t>
            </a:r>
            <a:r>
              <a:rPr lang="en" sz="2200" b="1">
                <a:solidFill>
                  <a:srgbClr val="F56C1F"/>
                </a:solidFill>
                <a:latin typeface="Lexend"/>
                <a:ea typeface="Lexend"/>
                <a:cs typeface="Lexend"/>
                <a:sym typeface="Lexend"/>
              </a:rPr>
              <a:t>DRIVER FUNNEL</a:t>
            </a:r>
            <a:endParaRPr sz="2200" b="1" i="0" u="none" strike="noStrike" cap="none">
              <a:solidFill>
                <a:srgbClr val="F56C1F"/>
              </a:solidFill>
              <a:latin typeface="Lexend"/>
              <a:ea typeface="Lexend"/>
              <a:cs typeface="Lexend"/>
              <a:sym typeface="Lexend"/>
            </a:endParaRPr>
          </a:p>
        </p:txBody>
      </p:sp>
      <p:sp>
        <p:nvSpPr>
          <p:cNvPr id="699" name="Google Shape;699;p57"/>
          <p:cNvSpPr/>
          <p:nvPr/>
        </p:nvSpPr>
        <p:spPr>
          <a:xfrm>
            <a:off x="365742" y="973650"/>
            <a:ext cx="548700" cy="1991400"/>
          </a:xfrm>
          <a:prstGeom prst="rect">
            <a:avLst/>
          </a:prstGeom>
          <a:solidFill>
            <a:srgbClr val="0B467F"/>
          </a:solidFill>
          <a:ln w="9525" cap="flat" cmpd="sng">
            <a:solidFill>
              <a:srgbClr val="E2E8F0"/>
            </a:solidFill>
            <a:prstDash val="solid"/>
            <a:round/>
            <a:headEnd type="none" w="sm" len="sm"/>
            <a:tailEnd type="none" w="sm" len="sm"/>
          </a:ln>
          <a:effectLst>
            <a:outerShdw blurRad="76200" dist="25400" dir="8100000" algn="bl" rotWithShape="0">
              <a:srgbClr val="000000">
                <a:alpha val="102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r>
              <a:rPr lang="en" sz="1200" b="1">
                <a:solidFill>
                  <a:schemeClr val="lt1"/>
                </a:solidFill>
                <a:latin typeface="Lexend"/>
                <a:ea typeface="Lexend"/>
                <a:cs typeface="Lexend"/>
                <a:sym typeface="Lexend"/>
              </a:rPr>
              <a:t>HAN</a:t>
            </a:r>
            <a:endParaRPr sz="1200" b="1">
              <a:solidFill>
                <a:schemeClr val="lt1"/>
              </a:solidFill>
              <a:latin typeface="Lexend"/>
              <a:ea typeface="Lexend"/>
              <a:cs typeface="Lexend"/>
              <a:sym typeface="Lexend"/>
            </a:endParaRPr>
          </a:p>
        </p:txBody>
      </p:sp>
      <p:sp>
        <p:nvSpPr>
          <p:cNvPr id="700" name="Google Shape;700;p57"/>
          <p:cNvSpPr/>
          <p:nvPr/>
        </p:nvSpPr>
        <p:spPr>
          <a:xfrm>
            <a:off x="369667" y="3080625"/>
            <a:ext cx="548700" cy="2004600"/>
          </a:xfrm>
          <a:prstGeom prst="rect">
            <a:avLst/>
          </a:prstGeom>
          <a:solidFill>
            <a:srgbClr val="0B467F"/>
          </a:solidFill>
          <a:ln w="9525" cap="flat" cmpd="sng">
            <a:solidFill>
              <a:srgbClr val="E2E8F0"/>
            </a:solidFill>
            <a:prstDash val="solid"/>
            <a:round/>
            <a:headEnd type="none" w="sm" len="sm"/>
            <a:tailEnd type="none" w="sm" len="sm"/>
          </a:ln>
          <a:effectLst>
            <a:outerShdw blurRad="76200" dist="25400" dir="8100000" algn="bl" rotWithShape="0">
              <a:srgbClr val="000000">
                <a:alpha val="102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r>
              <a:rPr lang="en" sz="1200" b="1">
                <a:solidFill>
                  <a:schemeClr val="lt1"/>
                </a:solidFill>
                <a:latin typeface="Lexend"/>
                <a:ea typeface="Lexend"/>
                <a:cs typeface="Lexend"/>
                <a:sym typeface="Lexend"/>
              </a:rPr>
              <a:t>SGN</a:t>
            </a:r>
            <a:endParaRPr sz="1200" b="1">
              <a:solidFill>
                <a:schemeClr val="lt1"/>
              </a:solidFill>
              <a:latin typeface="Lexend"/>
              <a:ea typeface="Lexend"/>
              <a:cs typeface="Lexend"/>
              <a:sym typeface="Lexend"/>
            </a:endParaRPr>
          </a:p>
        </p:txBody>
      </p:sp>
      <p:cxnSp>
        <p:nvCxnSpPr>
          <p:cNvPr id="701" name="Google Shape;701;p57"/>
          <p:cNvCxnSpPr/>
          <p:nvPr/>
        </p:nvCxnSpPr>
        <p:spPr>
          <a:xfrm rot="10800000" flipH="1">
            <a:off x="381000" y="3032025"/>
            <a:ext cx="4513800" cy="5400"/>
          </a:xfrm>
          <a:prstGeom prst="straightConnector1">
            <a:avLst/>
          </a:prstGeom>
          <a:noFill/>
          <a:ln w="9525" cap="flat" cmpd="sng">
            <a:solidFill>
              <a:srgbClr val="0E4174"/>
            </a:solidFill>
            <a:prstDash val="dash"/>
            <a:round/>
            <a:headEnd type="none" w="med" len="med"/>
            <a:tailEnd type="none" w="med" len="med"/>
          </a:ln>
        </p:spPr>
      </p:cxnSp>
      <p:pic>
        <p:nvPicPr>
          <p:cNvPr id="702" name="Google Shape;702;p57" title="Chart"/>
          <p:cNvPicPr preferRelativeResize="0"/>
          <p:nvPr/>
        </p:nvPicPr>
        <p:blipFill>
          <a:blip r:embed="rId4">
            <a:alphaModFix/>
          </a:blip>
          <a:stretch>
            <a:fillRect/>
          </a:stretch>
        </p:blipFill>
        <p:spPr>
          <a:xfrm>
            <a:off x="927504" y="945331"/>
            <a:ext cx="3944527" cy="2010030"/>
          </a:xfrm>
          <a:prstGeom prst="rect">
            <a:avLst/>
          </a:prstGeom>
          <a:noFill/>
          <a:ln>
            <a:noFill/>
          </a:ln>
        </p:spPr>
      </p:pic>
      <p:pic>
        <p:nvPicPr>
          <p:cNvPr id="703" name="Google Shape;703;p57" title="Chart"/>
          <p:cNvPicPr preferRelativeResize="0"/>
          <p:nvPr/>
        </p:nvPicPr>
        <p:blipFill>
          <a:blip r:embed="rId5">
            <a:alphaModFix/>
          </a:blip>
          <a:stretch>
            <a:fillRect/>
          </a:stretch>
        </p:blipFill>
        <p:spPr>
          <a:xfrm>
            <a:off x="953950" y="3093793"/>
            <a:ext cx="3944527" cy="2010030"/>
          </a:xfrm>
          <a:prstGeom prst="rect">
            <a:avLst/>
          </a:prstGeom>
          <a:noFill/>
          <a:ln>
            <a:noFill/>
          </a:ln>
        </p:spPr>
      </p:pic>
      <p:sp>
        <p:nvSpPr>
          <p:cNvPr id="704" name="Google Shape;704;p57"/>
          <p:cNvSpPr/>
          <p:nvPr/>
        </p:nvSpPr>
        <p:spPr>
          <a:xfrm>
            <a:off x="5198122" y="1010700"/>
            <a:ext cx="3592500" cy="4026900"/>
          </a:xfrm>
          <a:prstGeom prst="rect">
            <a:avLst/>
          </a:prstGeom>
          <a:solidFill>
            <a:srgbClr val="F4F6F9"/>
          </a:solidFill>
          <a:ln>
            <a:noFill/>
          </a:ln>
        </p:spPr>
        <p:txBody>
          <a:bodyPr spcFirstLastPara="1" wrap="square" lIns="57925" tIns="57925" rIns="57925" bIns="57925" anchor="t" anchorCtr="0">
            <a:noAutofit/>
          </a:bodyPr>
          <a:lstStyle/>
          <a:p>
            <a:pPr marL="0" lvl="0" indent="0" algn="l" rtl="0">
              <a:lnSpc>
                <a:spcPct val="115000"/>
              </a:lnSpc>
              <a:spcBef>
                <a:spcPts val="0"/>
              </a:spcBef>
              <a:spcAft>
                <a:spcPts val="0"/>
              </a:spcAft>
              <a:buNone/>
            </a:pPr>
            <a:r>
              <a:rPr lang="en" sz="800">
                <a:solidFill>
                  <a:srgbClr val="F66600"/>
                </a:solidFill>
                <a:latin typeface="Lexend"/>
                <a:ea typeface="Lexend"/>
                <a:cs typeface="Lexend"/>
                <a:sym typeface="Lexend"/>
              </a:rPr>
              <a:t>HIGHLIGHT</a:t>
            </a:r>
            <a:endParaRPr sz="800">
              <a:solidFill>
                <a:srgbClr val="F66600"/>
              </a:solidFill>
              <a:latin typeface="Lexend"/>
              <a:ea typeface="Lexend"/>
              <a:cs typeface="Lexend"/>
              <a:sym typeface="Lexend"/>
            </a:endParaRPr>
          </a:p>
          <a:p>
            <a:pPr marL="0" lvl="0" indent="0" algn="l" rtl="0">
              <a:lnSpc>
                <a:spcPct val="115000"/>
              </a:lnSpc>
              <a:spcBef>
                <a:spcPts val="0"/>
              </a:spcBef>
              <a:spcAft>
                <a:spcPts val="0"/>
              </a:spcAft>
              <a:buNone/>
            </a:pPr>
            <a:endParaRPr sz="800">
              <a:latin typeface="Lexend"/>
              <a:ea typeface="Lexend"/>
              <a:cs typeface="Lexend"/>
              <a:sym typeface="Lexend"/>
            </a:endParaRPr>
          </a:p>
          <a:p>
            <a:pPr marL="0" lvl="0" indent="0" algn="l" rtl="0">
              <a:lnSpc>
                <a:spcPct val="115000"/>
              </a:lnSpc>
              <a:spcBef>
                <a:spcPts val="0"/>
              </a:spcBef>
              <a:spcAft>
                <a:spcPts val="0"/>
              </a:spcAft>
              <a:buNone/>
            </a:pPr>
            <a:r>
              <a:rPr lang="en" sz="800" b="1">
                <a:latin typeface="Lexend"/>
                <a:ea typeface="Lexend"/>
                <a:cs typeface="Lexend"/>
                <a:sym typeface="Lexend"/>
              </a:rPr>
              <a:t>HAN:</a:t>
            </a:r>
            <a:endParaRPr sz="800" b="1">
              <a:latin typeface="Lexend"/>
              <a:ea typeface="Lexend"/>
              <a:cs typeface="Lexend"/>
              <a:sym typeface="Lexend"/>
            </a:endParaRPr>
          </a:p>
          <a:p>
            <a:pPr marL="457200" lvl="0" indent="-279400" algn="l" rtl="0">
              <a:lnSpc>
                <a:spcPct val="115000"/>
              </a:lnSpc>
              <a:spcBef>
                <a:spcPts val="0"/>
              </a:spcBef>
              <a:spcAft>
                <a:spcPts val="0"/>
              </a:spcAft>
              <a:buSzPts val="800"/>
              <a:buFont typeface="Lexend"/>
              <a:buChar char="-"/>
            </a:pPr>
            <a:r>
              <a:rPr lang="en" sz="800">
                <a:latin typeface="Lexend"/>
                <a:ea typeface="Lexend"/>
                <a:cs typeface="Lexend"/>
                <a:sym typeface="Lexend"/>
              </a:rPr>
              <a:t>Tỷ lệ Active/Registered đạt 90.61% (222/245), cho thấy khả năng chuyển đổi từ tài xế đăng ký sang active đang ở mức tốt, vẫn còn khả năng chuyển đổi thêm.</a:t>
            </a:r>
            <a:endParaRPr sz="800">
              <a:latin typeface="Lexend"/>
              <a:ea typeface="Lexend"/>
              <a:cs typeface="Lexend"/>
              <a:sym typeface="Lexend"/>
            </a:endParaRPr>
          </a:p>
          <a:p>
            <a:pPr marL="457200" lvl="0" indent="-279400" algn="l" rtl="0">
              <a:lnSpc>
                <a:spcPct val="115000"/>
              </a:lnSpc>
              <a:spcBef>
                <a:spcPts val="0"/>
              </a:spcBef>
              <a:spcAft>
                <a:spcPts val="0"/>
              </a:spcAft>
              <a:buSzPts val="800"/>
              <a:buFont typeface="Lexend"/>
              <a:buChar char="-"/>
            </a:pPr>
            <a:r>
              <a:rPr lang="en" sz="800">
                <a:latin typeface="Lexend"/>
                <a:ea typeface="Lexend"/>
                <a:cs typeface="Lexend"/>
                <a:sym typeface="Lexend"/>
              </a:rPr>
              <a:t>DD, HK và HBT đạt 100%, trong khi BIGZONE (94.67%) duy trì tỷ lệ chuyển đổi tốt trên quy mô lớn; CG (91.30%), TX và Zone 136 (91.67%) cũng ghi nhận hiệu quả tích cực.</a:t>
            </a:r>
            <a:endParaRPr sz="800">
              <a:latin typeface="Lexend"/>
              <a:ea typeface="Lexend"/>
              <a:cs typeface="Lexend"/>
              <a:sym typeface="Lexend"/>
            </a:endParaRPr>
          </a:p>
          <a:p>
            <a:pPr marL="457200" lvl="0" indent="-279400" algn="l" rtl="0">
              <a:lnSpc>
                <a:spcPct val="115000"/>
              </a:lnSpc>
              <a:spcBef>
                <a:spcPts val="0"/>
              </a:spcBef>
              <a:spcAft>
                <a:spcPts val="0"/>
              </a:spcAft>
              <a:buSzPts val="800"/>
              <a:buFont typeface="Lexend"/>
              <a:buChar char="-"/>
            </a:pPr>
            <a:r>
              <a:rPr lang="en" sz="800">
                <a:latin typeface="Lexend"/>
                <a:ea typeface="Lexend"/>
                <a:cs typeface="Lexend"/>
                <a:sym typeface="Lexend"/>
              </a:rPr>
              <a:t>Z24 (78.57%) và Z578 (66.67%) là các khu vực cần ưu tiên theo dõi, đặc biệt Z578 có tỷ lệ chuyển đổi thấp nhất, trong khi Z24 ghi nhận số lượng hụt lớn nhất với 6 tài xế (28 Registered → 22 Active), ảnh hưởng đến hiệu quả chung của HAN.</a:t>
            </a:r>
            <a:endParaRPr sz="800">
              <a:latin typeface="Lexend"/>
              <a:ea typeface="Lexend"/>
              <a:cs typeface="Lexend"/>
              <a:sym typeface="Lexend"/>
            </a:endParaRPr>
          </a:p>
          <a:p>
            <a:pPr marL="0" lvl="0" indent="0" algn="l" rtl="0">
              <a:lnSpc>
                <a:spcPct val="115000"/>
              </a:lnSpc>
              <a:spcBef>
                <a:spcPts val="0"/>
              </a:spcBef>
              <a:spcAft>
                <a:spcPts val="0"/>
              </a:spcAft>
              <a:buNone/>
            </a:pPr>
            <a:endParaRPr sz="800">
              <a:latin typeface="Lexend"/>
              <a:ea typeface="Lexend"/>
              <a:cs typeface="Lexend"/>
              <a:sym typeface="Lexend"/>
            </a:endParaRPr>
          </a:p>
          <a:p>
            <a:pPr marL="0" lvl="0" indent="0" algn="l" rtl="0">
              <a:lnSpc>
                <a:spcPct val="115000"/>
              </a:lnSpc>
              <a:spcBef>
                <a:spcPts val="0"/>
              </a:spcBef>
              <a:spcAft>
                <a:spcPts val="0"/>
              </a:spcAft>
              <a:buNone/>
            </a:pPr>
            <a:endParaRPr sz="800">
              <a:latin typeface="Lexend"/>
              <a:ea typeface="Lexend"/>
              <a:cs typeface="Lexend"/>
              <a:sym typeface="Lexend"/>
            </a:endParaRPr>
          </a:p>
          <a:p>
            <a:pPr marL="0" lvl="0" indent="0" algn="l" rtl="0">
              <a:lnSpc>
                <a:spcPct val="115000"/>
              </a:lnSpc>
              <a:spcBef>
                <a:spcPts val="0"/>
              </a:spcBef>
              <a:spcAft>
                <a:spcPts val="0"/>
              </a:spcAft>
              <a:buNone/>
            </a:pPr>
            <a:r>
              <a:rPr lang="en" sz="800" b="1">
                <a:latin typeface="Lexend"/>
                <a:ea typeface="Lexend"/>
                <a:cs typeface="Lexend"/>
                <a:sym typeface="Lexend"/>
              </a:rPr>
              <a:t>SGN:</a:t>
            </a:r>
            <a:endParaRPr sz="800" b="1">
              <a:latin typeface="Lexend"/>
              <a:ea typeface="Lexend"/>
              <a:cs typeface="Lexend"/>
              <a:sym typeface="Lexend"/>
            </a:endParaRPr>
          </a:p>
          <a:p>
            <a:pPr marL="457200" lvl="0" indent="-279400" algn="l" rtl="0">
              <a:lnSpc>
                <a:spcPct val="115000"/>
              </a:lnSpc>
              <a:spcBef>
                <a:spcPts val="0"/>
              </a:spcBef>
              <a:spcAft>
                <a:spcPts val="0"/>
              </a:spcAft>
              <a:buSzPts val="800"/>
              <a:buFont typeface="Lexend"/>
              <a:buChar char="-"/>
            </a:pPr>
            <a:r>
              <a:rPr lang="en" sz="800">
                <a:latin typeface="Lexend"/>
                <a:ea typeface="Lexend"/>
                <a:cs typeface="Lexend"/>
                <a:sym typeface="Lexend"/>
              </a:rPr>
              <a:t>Tỷ lệ Active/Registered đạt 96.72% (383/396), cho thấy khả năng chuyển đổi từ tài xế đăng ký sang active đang ở mức rất tốt, với mức hụt chỉ 13 tài xế.</a:t>
            </a:r>
            <a:endParaRPr sz="800">
              <a:latin typeface="Lexend"/>
              <a:ea typeface="Lexend"/>
              <a:cs typeface="Lexend"/>
              <a:sym typeface="Lexend"/>
            </a:endParaRPr>
          </a:p>
          <a:p>
            <a:pPr marL="457200" lvl="0" indent="-279400" algn="l" rtl="0">
              <a:lnSpc>
                <a:spcPct val="115000"/>
              </a:lnSpc>
              <a:spcBef>
                <a:spcPts val="0"/>
              </a:spcBef>
              <a:spcAft>
                <a:spcPts val="0"/>
              </a:spcAft>
              <a:buSzPts val="800"/>
              <a:buFont typeface="Lexend"/>
              <a:buChar char="-"/>
            </a:pPr>
            <a:r>
              <a:rPr lang="en" sz="800">
                <a:latin typeface="Lexend"/>
                <a:ea typeface="Lexend"/>
                <a:cs typeface="Lexend"/>
                <a:sym typeface="Lexend"/>
              </a:rPr>
              <a:t>Zone 4 (100%), Zone 3 (98.77%) và Zone 5 (97.22%) duy trì tỷ lệ chuyển đổi tốt; trong đó Zone 3 có quy mô lớn nhất (81 Registered → 80 Active) nhưng vẫn đảm bảo hiệu quả chuyển đổi cao.</a:t>
            </a:r>
            <a:endParaRPr sz="800">
              <a:latin typeface="Lexend"/>
              <a:ea typeface="Lexend"/>
              <a:cs typeface="Lexend"/>
              <a:sym typeface="Lexend"/>
            </a:endParaRPr>
          </a:p>
          <a:p>
            <a:pPr marL="457200" lvl="0" indent="-279400" algn="l" rtl="0">
              <a:lnSpc>
                <a:spcPct val="115000"/>
              </a:lnSpc>
              <a:spcBef>
                <a:spcPts val="0"/>
              </a:spcBef>
              <a:spcAft>
                <a:spcPts val="0"/>
              </a:spcAft>
              <a:buSzPts val="800"/>
              <a:buFont typeface="Lexend"/>
              <a:buChar char="-"/>
            </a:pPr>
            <a:r>
              <a:rPr lang="en" sz="800">
                <a:latin typeface="Lexend"/>
                <a:ea typeface="Lexend"/>
                <a:cs typeface="Lexend"/>
                <a:sym typeface="Lexend"/>
              </a:rPr>
              <a:t>Zone 6 (93.55%) và Zone 1 (95.95%) là các khu vực cần ưu tiên theo dõi, đặc biệt Zone 6 có tỷ lệ chuyển đổi thấp nhất, với 4 tài xế chưa chuyển đổi từ Registered sang Active.</a:t>
            </a:r>
            <a:endParaRPr sz="800">
              <a:latin typeface="Lexend"/>
              <a:ea typeface="Lexend"/>
              <a:cs typeface="Lexend"/>
              <a:sym typeface="Lexend"/>
            </a:endParaRPr>
          </a:p>
        </p:txBody>
      </p:sp>
      <p:sp>
        <p:nvSpPr>
          <p:cNvPr id="705" name="Google Shape;705;p57"/>
          <p:cNvSpPr/>
          <p:nvPr/>
        </p:nvSpPr>
        <p:spPr>
          <a:xfrm>
            <a:off x="5132925" y="1010700"/>
            <a:ext cx="65100" cy="4026900"/>
          </a:xfrm>
          <a:prstGeom prst="rect">
            <a:avLst/>
          </a:prstGeom>
          <a:solidFill>
            <a:srgbClr val="FF7F32"/>
          </a:solidFill>
          <a:ln>
            <a:noFill/>
          </a:ln>
        </p:spPr>
        <p:txBody>
          <a:bodyPr spcFirstLastPara="1" wrap="square" lIns="57925" tIns="57925" rIns="57925" bIns="57925" anchor="ctr" anchorCtr="0">
            <a:noAutofit/>
          </a:bodyPr>
          <a:lstStyle/>
          <a:p>
            <a:pPr marL="0" lvl="0" indent="0" algn="l" rtl="0">
              <a:spcBef>
                <a:spcPts val="0"/>
              </a:spcBef>
              <a:spcAft>
                <a:spcPts val="0"/>
              </a:spcAft>
              <a:buNone/>
            </a:pPr>
            <a:endParaRPr/>
          </a:p>
        </p:txBody>
      </p:sp>
      <p:sp>
        <p:nvSpPr>
          <p:cNvPr id="706" name="Google Shape;706;p57"/>
          <p:cNvSpPr txBox="1"/>
          <p:nvPr/>
        </p:nvSpPr>
        <p:spPr>
          <a:xfrm>
            <a:off x="1164175" y="2304392"/>
            <a:ext cx="417900" cy="105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500">
                <a:latin typeface="Lexend"/>
                <a:ea typeface="Lexend"/>
                <a:cs typeface="Lexend"/>
                <a:sym typeface="Lexend"/>
              </a:rPr>
              <a:t>100%</a:t>
            </a:r>
            <a:endParaRPr sz="500">
              <a:latin typeface="Lexend"/>
              <a:ea typeface="Lexend"/>
              <a:cs typeface="Lexend"/>
              <a:sym typeface="Lexend"/>
            </a:endParaRPr>
          </a:p>
        </p:txBody>
      </p:sp>
      <p:sp>
        <p:nvSpPr>
          <p:cNvPr id="707" name="Google Shape;707;p57"/>
          <p:cNvSpPr txBox="1"/>
          <p:nvPr/>
        </p:nvSpPr>
        <p:spPr>
          <a:xfrm>
            <a:off x="1501775" y="2278257"/>
            <a:ext cx="417900" cy="105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500">
                <a:latin typeface="Lexend"/>
                <a:ea typeface="Lexend"/>
                <a:cs typeface="Lexend"/>
                <a:sym typeface="Lexend"/>
              </a:rPr>
              <a:t>100%</a:t>
            </a:r>
            <a:endParaRPr sz="500">
              <a:latin typeface="Lexend"/>
              <a:ea typeface="Lexend"/>
              <a:cs typeface="Lexend"/>
              <a:sym typeface="Lexend"/>
            </a:endParaRPr>
          </a:p>
        </p:txBody>
      </p:sp>
      <p:sp>
        <p:nvSpPr>
          <p:cNvPr id="708" name="Google Shape;708;p57"/>
          <p:cNvSpPr txBox="1"/>
          <p:nvPr/>
        </p:nvSpPr>
        <p:spPr>
          <a:xfrm>
            <a:off x="1873800" y="2348303"/>
            <a:ext cx="417900" cy="105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500">
                <a:latin typeface="Lexend"/>
                <a:ea typeface="Lexend"/>
                <a:cs typeface="Lexend"/>
                <a:sym typeface="Lexend"/>
              </a:rPr>
              <a:t>100%</a:t>
            </a:r>
            <a:endParaRPr sz="500">
              <a:latin typeface="Lexend"/>
              <a:ea typeface="Lexend"/>
              <a:cs typeface="Lexend"/>
              <a:sym typeface="Lexend"/>
            </a:endParaRPr>
          </a:p>
        </p:txBody>
      </p:sp>
      <p:sp>
        <p:nvSpPr>
          <p:cNvPr id="709" name="Google Shape;709;p57"/>
          <p:cNvSpPr txBox="1"/>
          <p:nvPr/>
        </p:nvSpPr>
        <p:spPr>
          <a:xfrm>
            <a:off x="2214050" y="2131377"/>
            <a:ext cx="417900" cy="105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500">
                <a:latin typeface="Lexend"/>
                <a:ea typeface="Lexend"/>
                <a:cs typeface="Lexend"/>
                <a:sym typeface="Lexend"/>
              </a:rPr>
              <a:t>91.30%</a:t>
            </a:r>
            <a:endParaRPr sz="500">
              <a:latin typeface="Lexend"/>
              <a:ea typeface="Lexend"/>
              <a:cs typeface="Lexend"/>
              <a:sym typeface="Lexend"/>
            </a:endParaRPr>
          </a:p>
        </p:txBody>
      </p:sp>
      <p:sp>
        <p:nvSpPr>
          <p:cNvPr id="710" name="Google Shape;710;p57"/>
          <p:cNvSpPr txBox="1"/>
          <p:nvPr/>
        </p:nvSpPr>
        <p:spPr>
          <a:xfrm>
            <a:off x="2583425" y="2389125"/>
            <a:ext cx="417900" cy="105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500">
                <a:latin typeface="Lexend"/>
                <a:ea typeface="Lexend"/>
                <a:cs typeface="Lexend"/>
                <a:sym typeface="Lexend"/>
              </a:rPr>
              <a:t>87.50%</a:t>
            </a:r>
            <a:endParaRPr sz="500">
              <a:latin typeface="Lexend"/>
              <a:ea typeface="Lexend"/>
              <a:cs typeface="Lexend"/>
              <a:sym typeface="Lexend"/>
            </a:endParaRPr>
          </a:p>
        </p:txBody>
      </p:sp>
      <p:sp>
        <p:nvSpPr>
          <p:cNvPr id="711" name="Google Shape;711;p57"/>
          <p:cNvSpPr txBox="1"/>
          <p:nvPr/>
        </p:nvSpPr>
        <p:spPr>
          <a:xfrm>
            <a:off x="2909625" y="2304400"/>
            <a:ext cx="417900" cy="105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500">
                <a:latin typeface="Lexend"/>
                <a:ea typeface="Lexend"/>
                <a:cs typeface="Lexend"/>
                <a:sym typeface="Lexend"/>
              </a:rPr>
              <a:t>91.67%</a:t>
            </a:r>
            <a:endParaRPr sz="500">
              <a:latin typeface="Lexend"/>
              <a:ea typeface="Lexend"/>
              <a:cs typeface="Lexend"/>
              <a:sym typeface="Lexend"/>
            </a:endParaRPr>
          </a:p>
        </p:txBody>
      </p:sp>
      <p:sp>
        <p:nvSpPr>
          <p:cNvPr id="712" name="Google Shape;712;p57"/>
          <p:cNvSpPr txBox="1"/>
          <p:nvPr/>
        </p:nvSpPr>
        <p:spPr>
          <a:xfrm>
            <a:off x="3258108" y="1664150"/>
            <a:ext cx="417900" cy="105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500">
                <a:latin typeface="Lexend"/>
                <a:ea typeface="Lexend"/>
                <a:cs typeface="Lexend"/>
                <a:sym typeface="Lexend"/>
              </a:rPr>
              <a:t>91.67%</a:t>
            </a:r>
            <a:endParaRPr sz="500">
              <a:latin typeface="Lexend"/>
              <a:ea typeface="Lexend"/>
              <a:cs typeface="Lexend"/>
              <a:sym typeface="Lexend"/>
            </a:endParaRPr>
          </a:p>
        </p:txBody>
      </p:sp>
      <p:sp>
        <p:nvSpPr>
          <p:cNvPr id="713" name="Google Shape;713;p57"/>
          <p:cNvSpPr txBox="1"/>
          <p:nvPr/>
        </p:nvSpPr>
        <p:spPr>
          <a:xfrm>
            <a:off x="3631633" y="1174200"/>
            <a:ext cx="417900" cy="105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500">
                <a:latin typeface="Lexend"/>
                <a:ea typeface="Lexend"/>
                <a:cs typeface="Lexend"/>
                <a:sym typeface="Lexend"/>
              </a:rPr>
              <a:t>94.67%</a:t>
            </a:r>
            <a:endParaRPr sz="500">
              <a:latin typeface="Lexend"/>
              <a:ea typeface="Lexend"/>
              <a:cs typeface="Lexend"/>
              <a:sym typeface="Lexend"/>
            </a:endParaRPr>
          </a:p>
        </p:txBody>
      </p:sp>
      <p:sp>
        <p:nvSpPr>
          <p:cNvPr id="714" name="Google Shape;714;p57"/>
          <p:cNvSpPr txBox="1"/>
          <p:nvPr/>
        </p:nvSpPr>
        <p:spPr>
          <a:xfrm>
            <a:off x="3971983" y="2025463"/>
            <a:ext cx="417900" cy="105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500">
                <a:latin typeface="Lexend"/>
                <a:ea typeface="Lexend"/>
                <a:cs typeface="Lexend"/>
                <a:sym typeface="Lexend"/>
              </a:rPr>
              <a:t>78.57%</a:t>
            </a:r>
            <a:endParaRPr sz="500">
              <a:latin typeface="Lexend"/>
              <a:ea typeface="Lexend"/>
              <a:cs typeface="Lexend"/>
              <a:sym typeface="Lexend"/>
            </a:endParaRPr>
          </a:p>
        </p:txBody>
      </p:sp>
      <p:sp>
        <p:nvSpPr>
          <p:cNvPr id="715" name="Google Shape;715;p57"/>
          <p:cNvSpPr txBox="1"/>
          <p:nvPr/>
        </p:nvSpPr>
        <p:spPr>
          <a:xfrm>
            <a:off x="4317467" y="2205225"/>
            <a:ext cx="417900" cy="105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500">
                <a:latin typeface="Lexend"/>
                <a:ea typeface="Lexend"/>
                <a:cs typeface="Lexend"/>
                <a:sym typeface="Lexend"/>
              </a:rPr>
              <a:t>66.67%</a:t>
            </a:r>
            <a:endParaRPr sz="500">
              <a:latin typeface="Lexend"/>
              <a:ea typeface="Lexend"/>
              <a:cs typeface="Lexend"/>
              <a:sym typeface="Lexend"/>
            </a:endParaRPr>
          </a:p>
        </p:txBody>
      </p:sp>
      <p:sp>
        <p:nvSpPr>
          <p:cNvPr id="716" name="Google Shape;716;p57"/>
          <p:cNvSpPr txBox="1"/>
          <p:nvPr/>
        </p:nvSpPr>
        <p:spPr>
          <a:xfrm>
            <a:off x="1343025" y="3565774"/>
            <a:ext cx="417900" cy="105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500">
                <a:latin typeface="Lexend"/>
                <a:ea typeface="Lexend"/>
                <a:cs typeface="Lexend"/>
                <a:sym typeface="Lexend"/>
              </a:rPr>
              <a:t>95.95%</a:t>
            </a:r>
            <a:endParaRPr sz="500">
              <a:latin typeface="Lexend"/>
              <a:ea typeface="Lexend"/>
              <a:cs typeface="Lexend"/>
              <a:sym typeface="Lexend"/>
            </a:endParaRPr>
          </a:p>
        </p:txBody>
      </p:sp>
      <p:sp>
        <p:nvSpPr>
          <p:cNvPr id="717" name="Google Shape;717;p57"/>
          <p:cNvSpPr txBox="1"/>
          <p:nvPr/>
        </p:nvSpPr>
        <p:spPr>
          <a:xfrm>
            <a:off x="1919675" y="3565767"/>
            <a:ext cx="417900" cy="105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500">
                <a:latin typeface="Lexend"/>
                <a:ea typeface="Lexend"/>
                <a:cs typeface="Lexend"/>
                <a:sym typeface="Lexend"/>
              </a:rPr>
              <a:t>96.05%</a:t>
            </a:r>
            <a:endParaRPr sz="500">
              <a:latin typeface="Lexend"/>
              <a:ea typeface="Lexend"/>
              <a:cs typeface="Lexend"/>
              <a:sym typeface="Lexend"/>
            </a:endParaRPr>
          </a:p>
        </p:txBody>
      </p:sp>
      <p:sp>
        <p:nvSpPr>
          <p:cNvPr id="718" name="Google Shape;718;p57"/>
          <p:cNvSpPr txBox="1"/>
          <p:nvPr/>
        </p:nvSpPr>
        <p:spPr>
          <a:xfrm>
            <a:off x="2491725" y="3448177"/>
            <a:ext cx="417900" cy="105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500">
                <a:latin typeface="Lexend"/>
                <a:ea typeface="Lexend"/>
                <a:cs typeface="Lexend"/>
                <a:sym typeface="Lexend"/>
              </a:rPr>
              <a:t>98.77%</a:t>
            </a:r>
            <a:endParaRPr sz="500">
              <a:latin typeface="Lexend"/>
              <a:ea typeface="Lexend"/>
              <a:cs typeface="Lexend"/>
              <a:sym typeface="Lexend"/>
            </a:endParaRPr>
          </a:p>
        </p:txBody>
      </p:sp>
      <p:sp>
        <p:nvSpPr>
          <p:cNvPr id="719" name="Google Shape;719;p57"/>
          <p:cNvSpPr txBox="1"/>
          <p:nvPr/>
        </p:nvSpPr>
        <p:spPr>
          <a:xfrm>
            <a:off x="3063000" y="4189996"/>
            <a:ext cx="417900" cy="105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500">
                <a:latin typeface="Lexend"/>
                <a:ea typeface="Lexend"/>
                <a:cs typeface="Lexend"/>
                <a:sym typeface="Lexend"/>
              </a:rPr>
              <a:t>100%</a:t>
            </a:r>
            <a:endParaRPr sz="500">
              <a:latin typeface="Lexend"/>
              <a:ea typeface="Lexend"/>
              <a:cs typeface="Lexend"/>
              <a:sym typeface="Lexend"/>
            </a:endParaRPr>
          </a:p>
        </p:txBody>
      </p:sp>
      <p:sp>
        <p:nvSpPr>
          <p:cNvPr id="720" name="Google Shape;720;p57"/>
          <p:cNvSpPr txBox="1"/>
          <p:nvPr/>
        </p:nvSpPr>
        <p:spPr>
          <a:xfrm>
            <a:off x="3631613" y="3627850"/>
            <a:ext cx="417900" cy="105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500">
                <a:latin typeface="Lexend"/>
                <a:ea typeface="Lexend"/>
                <a:cs typeface="Lexend"/>
                <a:sym typeface="Lexend"/>
              </a:rPr>
              <a:t>97.22%</a:t>
            </a:r>
            <a:endParaRPr sz="500">
              <a:latin typeface="Lexend"/>
              <a:ea typeface="Lexend"/>
              <a:cs typeface="Lexend"/>
              <a:sym typeface="Lexend"/>
            </a:endParaRPr>
          </a:p>
        </p:txBody>
      </p:sp>
      <p:sp>
        <p:nvSpPr>
          <p:cNvPr id="721" name="Google Shape;721;p57"/>
          <p:cNvSpPr txBox="1"/>
          <p:nvPr/>
        </p:nvSpPr>
        <p:spPr>
          <a:xfrm>
            <a:off x="4224313" y="3758321"/>
            <a:ext cx="417900" cy="105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500">
                <a:latin typeface="Lexend"/>
                <a:ea typeface="Lexend"/>
                <a:cs typeface="Lexend"/>
                <a:sym typeface="Lexend"/>
              </a:rPr>
              <a:t>93.55%</a:t>
            </a:r>
            <a:endParaRPr sz="500">
              <a:latin typeface="Lexend"/>
              <a:ea typeface="Lexend"/>
              <a:cs typeface="Lexend"/>
              <a:sym typeface="Lexend"/>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758"/>
        <p:cNvGrpSpPr/>
        <p:nvPr/>
      </p:nvGrpSpPr>
      <p:grpSpPr>
        <a:xfrm>
          <a:off x="0" y="0"/>
          <a:ext cx="0" cy="0"/>
          <a:chOff x="0" y="0"/>
          <a:chExt cx="0" cy="0"/>
        </a:xfrm>
      </p:grpSpPr>
      <p:sp>
        <p:nvSpPr>
          <p:cNvPr id="759" name="Google Shape;759;p60"/>
          <p:cNvSpPr/>
          <p:nvPr/>
        </p:nvSpPr>
        <p:spPr>
          <a:xfrm>
            <a:off x="0" y="0"/>
            <a:ext cx="9144000" cy="73200"/>
          </a:xfrm>
          <a:prstGeom prst="rect">
            <a:avLst/>
          </a:prstGeom>
          <a:solidFill>
            <a:srgbClr val="FF7F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760" name="Google Shape;760;p60"/>
          <p:cNvCxnSpPr/>
          <p:nvPr/>
        </p:nvCxnSpPr>
        <p:spPr>
          <a:xfrm>
            <a:off x="365760" y="868680"/>
            <a:ext cx="8412600" cy="0"/>
          </a:xfrm>
          <a:prstGeom prst="straightConnector1">
            <a:avLst/>
          </a:prstGeom>
          <a:noFill/>
          <a:ln w="9525" cap="flat" cmpd="sng">
            <a:solidFill>
              <a:srgbClr val="E2E8F0"/>
            </a:solidFill>
            <a:prstDash val="solid"/>
            <a:round/>
            <a:headEnd type="none" w="sm" len="sm"/>
            <a:tailEnd type="none" w="sm" len="sm"/>
          </a:ln>
        </p:spPr>
      </p:cxnSp>
      <p:sp>
        <p:nvSpPr>
          <p:cNvPr id="761" name="Google Shape;761;p60"/>
          <p:cNvSpPr/>
          <p:nvPr/>
        </p:nvSpPr>
        <p:spPr>
          <a:xfrm>
            <a:off x="5486395" y="45700"/>
            <a:ext cx="3657600" cy="27420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94A3B8"/>
              </a:buClr>
              <a:buSzPts val="700"/>
              <a:buFont typeface="Calibri"/>
              <a:buNone/>
            </a:pPr>
            <a:r>
              <a:rPr lang="en" sz="700" b="0" i="1" u="none" strike="noStrike" cap="none">
                <a:solidFill>
                  <a:srgbClr val="94A3B8"/>
                </a:solidFill>
                <a:latin typeface="Calibri"/>
                <a:ea typeface="Calibri"/>
                <a:cs typeface="Calibri"/>
                <a:sym typeface="Calibri"/>
              </a:rPr>
              <a:t>Ahamove — Driver Management | Confidential</a:t>
            </a:r>
            <a:endParaRPr sz="700" b="0" i="0" u="none" strike="noStrike" cap="none">
              <a:solidFill>
                <a:schemeClr val="dk1"/>
              </a:solidFill>
              <a:latin typeface="Calibri"/>
              <a:ea typeface="Calibri"/>
              <a:cs typeface="Calibri"/>
              <a:sym typeface="Calibri"/>
            </a:endParaRPr>
          </a:p>
        </p:txBody>
      </p:sp>
      <p:pic>
        <p:nvPicPr>
          <p:cNvPr id="762" name="Google Shape;762;p60" descr="preencoded.png"/>
          <p:cNvPicPr preferRelativeResize="0"/>
          <p:nvPr/>
        </p:nvPicPr>
        <p:blipFill rotWithShape="1">
          <a:blip r:embed="rId3">
            <a:alphaModFix/>
          </a:blip>
          <a:srcRect/>
          <a:stretch/>
        </p:blipFill>
        <p:spPr>
          <a:xfrm>
            <a:off x="365760" y="337820"/>
            <a:ext cx="274320" cy="274320"/>
          </a:xfrm>
          <a:prstGeom prst="rect">
            <a:avLst/>
          </a:prstGeom>
          <a:noFill/>
          <a:ln>
            <a:noFill/>
          </a:ln>
        </p:spPr>
      </p:pic>
      <p:sp>
        <p:nvSpPr>
          <p:cNvPr id="763" name="Google Shape;763;p60"/>
          <p:cNvSpPr/>
          <p:nvPr/>
        </p:nvSpPr>
        <p:spPr>
          <a:xfrm>
            <a:off x="731520" y="264668"/>
            <a:ext cx="7315200" cy="411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E4174"/>
              </a:buClr>
              <a:buSzPts val="2200"/>
              <a:buFont typeface="Calibri"/>
              <a:buNone/>
            </a:pPr>
            <a:r>
              <a:rPr lang="en" sz="2200" b="1" i="0" u="none" strike="noStrike" cap="none">
                <a:solidFill>
                  <a:srgbClr val="0E4174"/>
                </a:solidFill>
                <a:latin typeface="Lexend"/>
                <a:ea typeface="Lexend"/>
                <a:cs typeface="Lexend"/>
                <a:sym typeface="Lexend"/>
              </a:rPr>
              <a:t>MiniHub</a:t>
            </a:r>
            <a:r>
              <a:rPr lang="en" sz="2200" b="1">
                <a:solidFill>
                  <a:srgbClr val="0E4174"/>
                </a:solidFill>
                <a:latin typeface="Lexend"/>
                <a:ea typeface="Lexend"/>
                <a:cs typeface="Lexend"/>
                <a:sym typeface="Lexend"/>
              </a:rPr>
              <a:t> </a:t>
            </a:r>
            <a:r>
              <a:rPr lang="en" sz="2200" b="1" i="0" u="none" strike="noStrike" cap="none">
                <a:solidFill>
                  <a:srgbClr val="0E4174"/>
                </a:solidFill>
                <a:latin typeface="Lexend"/>
                <a:ea typeface="Lexend"/>
                <a:cs typeface="Lexend"/>
                <a:sym typeface="Lexend"/>
              </a:rPr>
              <a:t>- </a:t>
            </a:r>
            <a:r>
              <a:rPr lang="en" sz="2200" b="1">
                <a:solidFill>
                  <a:srgbClr val="F56C1F"/>
                </a:solidFill>
                <a:latin typeface="Lexend"/>
                <a:ea typeface="Lexend"/>
                <a:cs typeface="Lexend"/>
                <a:sym typeface="Lexend"/>
              </a:rPr>
              <a:t>EARNING PER HOUR</a:t>
            </a:r>
            <a:endParaRPr sz="2200" b="1" i="0" u="none" strike="noStrike" cap="none">
              <a:solidFill>
                <a:srgbClr val="F56C1F"/>
              </a:solidFill>
              <a:latin typeface="Lexend"/>
              <a:ea typeface="Lexend"/>
              <a:cs typeface="Lexend"/>
              <a:sym typeface="Lexend"/>
            </a:endParaRPr>
          </a:p>
        </p:txBody>
      </p:sp>
      <p:sp>
        <p:nvSpPr>
          <p:cNvPr id="764" name="Google Shape;764;p60"/>
          <p:cNvSpPr/>
          <p:nvPr/>
        </p:nvSpPr>
        <p:spPr>
          <a:xfrm>
            <a:off x="957775" y="3091225"/>
            <a:ext cx="4495200" cy="1991400"/>
          </a:xfrm>
          <a:prstGeom prst="rect">
            <a:avLst/>
          </a:prstGeom>
          <a:solidFill>
            <a:srgbClr val="FFFFFF"/>
          </a:solidFill>
          <a:ln w="9525" cap="flat" cmpd="sng">
            <a:solidFill>
              <a:srgbClr val="E2E8F0"/>
            </a:solidFill>
            <a:prstDash val="solid"/>
            <a:round/>
            <a:headEnd type="none" w="sm" len="sm"/>
            <a:tailEnd type="none" w="sm" len="sm"/>
          </a:ln>
          <a:effectLst>
            <a:outerShdw blurRad="76200" dist="25400" dir="8100000" algn="bl" rotWithShape="0">
              <a:srgbClr val="000000">
                <a:alpha val="102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 name="Google Shape;765;p60"/>
          <p:cNvSpPr/>
          <p:nvPr/>
        </p:nvSpPr>
        <p:spPr>
          <a:xfrm>
            <a:off x="957775" y="984250"/>
            <a:ext cx="4495200" cy="1991400"/>
          </a:xfrm>
          <a:prstGeom prst="rect">
            <a:avLst/>
          </a:prstGeom>
          <a:solidFill>
            <a:srgbClr val="FFFFFF"/>
          </a:solidFill>
          <a:ln w="9525" cap="flat" cmpd="sng">
            <a:solidFill>
              <a:srgbClr val="E2E8F0"/>
            </a:solidFill>
            <a:prstDash val="solid"/>
            <a:round/>
            <a:headEnd type="none" w="sm" len="sm"/>
            <a:tailEnd type="none" w="sm" len="sm"/>
          </a:ln>
          <a:effectLst>
            <a:outerShdw blurRad="76200" dist="25400" dir="8100000" algn="bl" rotWithShape="0">
              <a:srgbClr val="000000">
                <a:alpha val="102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 name="Google Shape;766;p60"/>
          <p:cNvSpPr/>
          <p:nvPr/>
        </p:nvSpPr>
        <p:spPr>
          <a:xfrm>
            <a:off x="365742" y="973650"/>
            <a:ext cx="548700" cy="1991400"/>
          </a:xfrm>
          <a:prstGeom prst="rect">
            <a:avLst/>
          </a:prstGeom>
          <a:solidFill>
            <a:srgbClr val="0B467F"/>
          </a:solidFill>
          <a:ln w="9525" cap="flat" cmpd="sng">
            <a:solidFill>
              <a:srgbClr val="E2E8F0"/>
            </a:solidFill>
            <a:prstDash val="solid"/>
            <a:round/>
            <a:headEnd type="none" w="sm" len="sm"/>
            <a:tailEnd type="none" w="sm" len="sm"/>
          </a:ln>
          <a:effectLst>
            <a:outerShdw blurRad="76200" dist="25400" dir="8100000" algn="bl" rotWithShape="0">
              <a:srgbClr val="000000">
                <a:alpha val="102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r>
              <a:rPr lang="en" sz="1200" b="1">
                <a:solidFill>
                  <a:schemeClr val="lt1"/>
                </a:solidFill>
                <a:latin typeface="Lexend"/>
                <a:ea typeface="Lexend"/>
                <a:cs typeface="Lexend"/>
                <a:sym typeface="Lexend"/>
              </a:rPr>
              <a:t>HAN</a:t>
            </a:r>
            <a:endParaRPr sz="1200" b="1">
              <a:solidFill>
                <a:schemeClr val="lt1"/>
              </a:solidFill>
              <a:latin typeface="Lexend"/>
              <a:ea typeface="Lexend"/>
              <a:cs typeface="Lexend"/>
              <a:sym typeface="Lexend"/>
            </a:endParaRPr>
          </a:p>
        </p:txBody>
      </p:sp>
      <p:sp>
        <p:nvSpPr>
          <p:cNvPr id="767" name="Google Shape;767;p60"/>
          <p:cNvSpPr/>
          <p:nvPr/>
        </p:nvSpPr>
        <p:spPr>
          <a:xfrm>
            <a:off x="369667" y="3080625"/>
            <a:ext cx="548700" cy="2004600"/>
          </a:xfrm>
          <a:prstGeom prst="rect">
            <a:avLst/>
          </a:prstGeom>
          <a:solidFill>
            <a:srgbClr val="0B467F"/>
          </a:solidFill>
          <a:ln w="9525" cap="flat" cmpd="sng">
            <a:solidFill>
              <a:srgbClr val="E2E8F0"/>
            </a:solidFill>
            <a:prstDash val="solid"/>
            <a:round/>
            <a:headEnd type="none" w="sm" len="sm"/>
            <a:tailEnd type="none" w="sm" len="sm"/>
          </a:ln>
          <a:effectLst>
            <a:outerShdw blurRad="76200" dist="25400" dir="8100000" algn="bl" rotWithShape="0">
              <a:srgbClr val="000000">
                <a:alpha val="102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r>
              <a:rPr lang="en" sz="1200" b="1">
                <a:solidFill>
                  <a:schemeClr val="lt1"/>
                </a:solidFill>
                <a:latin typeface="Lexend"/>
                <a:ea typeface="Lexend"/>
                <a:cs typeface="Lexend"/>
                <a:sym typeface="Lexend"/>
              </a:rPr>
              <a:t>SGN</a:t>
            </a:r>
            <a:endParaRPr sz="1200" b="1">
              <a:solidFill>
                <a:schemeClr val="lt1"/>
              </a:solidFill>
              <a:latin typeface="Lexend"/>
              <a:ea typeface="Lexend"/>
              <a:cs typeface="Lexend"/>
              <a:sym typeface="Lexend"/>
            </a:endParaRPr>
          </a:p>
        </p:txBody>
      </p:sp>
      <p:cxnSp>
        <p:nvCxnSpPr>
          <p:cNvPr id="768" name="Google Shape;768;p60"/>
          <p:cNvCxnSpPr/>
          <p:nvPr/>
        </p:nvCxnSpPr>
        <p:spPr>
          <a:xfrm rot="10800000" flipH="1">
            <a:off x="381000" y="3032025"/>
            <a:ext cx="4513800" cy="5400"/>
          </a:xfrm>
          <a:prstGeom prst="straightConnector1">
            <a:avLst/>
          </a:prstGeom>
          <a:noFill/>
          <a:ln w="9525" cap="flat" cmpd="sng">
            <a:solidFill>
              <a:srgbClr val="0E4174"/>
            </a:solidFill>
            <a:prstDash val="dash"/>
            <a:round/>
            <a:headEnd type="none" w="med" len="med"/>
            <a:tailEnd type="none" w="med" len="med"/>
          </a:ln>
        </p:spPr>
      </p:cxnSp>
      <p:sp>
        <p:nvSpPr>
          <p:cNvPr id="769" name="Google Shape;769;p60"/>
          <p:cNvSpPr/>
          <p:nvPr/>
        </p:nvSpPr>
        <p:spPr>
          <a:xfrm>
            <a:off x="5614664" y="1010700"/>
            <a:ext cx="3175800" cy="4026900"/>
          </a:xfrm>
          <a:prstGeom prst="rect">
            <a:avLst/>
          </a:prstGeom>
          <a:solidFill>
            <a:srgbClr val="F4F6F9"/>
          </a:solidFill>
          <a:ln>
            <a:noFill/>
          </a:ln>
        </p:spPr>
        <p:txBody>
          <a:bodyPr spcFirstLastPara="1" wrap="square" lIns="57925" tIns="57925" rIns="57925" bIns="57925" anchor="t" anchorCtr="0">
            <a:noAutofit/>
          </a:bodyPr>
          <a:lstStyle/>
          <a:p>
            <a:pPr marL="0" lvl="0" indent="0" algn="l" rtl="0">
              <a:lnSpc>
                <a:spcPct val="115000"/>
              </a:lnSpc>
              <a:spcBef>
                <a:spcPts val="0"/>
              </a:spcBef>
              <a:spcAft>
                <a:spcPts val="0"/>
              </a:spcAft>
              <a:buNone/>
            </a:pPr>
            <a:r>
              <a:rPr lang="en" sz="800">
                <a:solidFill>
                  <a:srgbClr val="F66600"/>
                </a:solidFill>
                <a:latin typeface="Lexend"/>
                <a:ea typeface="Lexend"/>
                <a:cs typeface="Lexend"/>
                <a:sym typeface="Lexend"/>
              </a:rPr>
              <a:t>HIGHLIGHT</a:t>
            </a:r>
            <a:endParaRPr sz="800">
              <a:solidFill>
                <a:srgbClr val="F66600"/>
              </a:solidFill>
              <a:latin typeface="Lexend"/>
              <a:ea typeface="Lexend"/>
              <a:cs typeface="Lexend"/>
              <a:sym typeface="Lexend"/>
            </a:endParaRPr>
          </a:p>
          <a:p>
            <a:pPr marL="0" lvl="0" indent="0" algn="l" rtl="0">
              <a:lnSpc>
                <a:spcPct val="115000"/>
              </a:lnSpc>
              <a:spcBef>
                <a:spcPts val="0"/>
              </a:spcBef>
              <a:spcAft>
                <a:spcPts val="0"/>
              </a:spcAft>
              <a:buNone/>
            </a:pPr>
            <a:endParaRPr sz="800">
              <a:latin typeface="Lexend"/>
              <a:ea typeface="Lexend"/>
              <a:cs typeface="Lexend"/>
              <a:sym typeface="Lexend"/>
            </a:endParaRPr>
          </a:p>
          <a:p>
            <a:pPr marL="0" lvl="0" indent="0" algn="l" rtl="0">
              <a:lnSpc>
                <a:spcPct val="115000"/>
              </a:lnSpc>
              <a:spcBef>
                <a:spcPts val="0"/>
              </a:spcBef>
              <a:spcAft>
                <a:spcPts val="0"/>
              </a:spcAft>
              <a:buNone/>
            </a:pPr>
            <a:r>
              <a:rPr lang="en" sz="800" b="1">
                <a:latin typeface="Lexend"/>
                <a:ea typeface="Lexend"/>
                <a:cs typeface="Lexend"/>
                <a:sym typeface="Lexend"/>
              </a:rPr>
              <a:t>HAN:</a:t>
            </a:r>
            <a:endParaRPr sz="800" b="1">
              <a:latin typeface="Lexend"/>
              <a:ea typeface="Lexend"/>
              <a:cs typeface="Lexend"/>
              <a:sym typeface="Lexend"/>
            </a:endParaRPr>
          </a:p>
          <a:p>
            <a:pPr marL="457200" lvl="0" indent="-279400" algn="l" rtl="0">
              <a:lnSpc>
                <a:spcPct val="115000"/>
              </a:lnSpc>
              <a:spcBef>
                <a:spcPts val="0"/>
              </a:spcBef>
              <a:spcAft>
                <a:spcPts val="0"/>
              </a:spcAft>
              <a:buSzPts val="800"/>
              <a:buFont typeface="Lexend"/>
              <a:buChar char="-"/>
            </a:pPr>
            <a:r>
              <a:rPr lang="en" sz="800">
                <a:latin typeface="Lexend"/>
                <a:ea typeface="Lexend"/>
                <a:cs typeface="Lexend"/>
                <a:sym typeface="Lexend"/>
              </a:rPr>
              <a:t>EPH tuần 10/08 tăng mạnh, hầu hết các Zone đều cải thiện so với tuần 03/08.</a:t>
            </a:r>
            <a:endParaRPr sz="800">
              <a:latin typeface="Lexend"/>
              <a:ea typeface="Lexend"/>
              <a:cs typeface="Lexend"/>
              <a:sym typeface="Lexend"/>
            </a:endParaRPr>
          </a:p>
          <a:p>
            <a:pPr marL="457200" lvl="0" indent="-279400" algn="l" rtl="0">
              <a:lnSpc>
                <a:spcPct val="115000"/>
              </a:lnSpc>
              <a:spcBef>
                <a:spcPts val="0"/>
              </a:spcBef>
              <a:spcAft>
                <a:spcPts val="0"/>
              </a:spcAft>
              <a:buSzPts val="800"/>
              <a:buFont typeface="Lexend"/>
              <a:buChar char="-"/>
            </a:pPr>
            <a:r>
              <a:rPr lang="en" sz="800">
                <a:latin typeface="Lexend"/>
                <a:ea typeface="Lexend"/>
                <a:cs typeface="Lexend"/>
                <a:sym typeface="Lexend"/>
              </a:rPr>
              <a:t>TX (72.6K), CG (72.3K) và BIGZONE (70.2K) đạt EPH cao nhất; TX và CG có mức tăng nổi bật.</a:t>
            </a:r>
            <a:endParaRPr sz="800">
              <a:latin typeface="Lexend"/>
              <a:ea typeface="Lexend"/>
              <a:cs typeface="Lexend"/>
              <a:sym typeface="Lexend"/>
            </a:endParaRPr>
          </a:p>
          <a:p>
            <a:pPr marL="457200" lvl="0" indent="-279400" algn="l" rtl="0">
              <a:lnSpc>
                <a:spcPct val="115000"/>
              </a:lnSpc>
              <a:spcBef>
                <a:spcPts val="0"/>
              </a:spcBef>
              <a:spcAft>
                <a:spcPts val="0"/>
              </a:spcAft>
              <a:buSzPts val="800"/>
              <a:buFont typeface="Lexend"/>
              <a:buChar char="-"/>
            </a:pPr>
            <a:r>
              <a:rPr lang="en" sz="800">
                <a:latin typeface="Lexend"/>
                <a:ea typeface="Lexend"/>
                <a:cs typeface="Lexend"/>
                <a:sym typeface="Lexend"/>
              </a:rPr>
              <a:t>Z24 (58.4K) và HBT (55.8K) vẫn là 2 khu vực có EPH thấp nhất, cần tiếp tục theo dõi và cải thiện.</a:t>
            </a:r>
            <a:endParaRPr sz="800">
              <a:latin typeface="Lexend"/>
              <a:ea typeface="Lexend"/>
              <a:cs typeface="Lexend"/>
              <a:sym typeface="Lexend"/>
            </a:endParaRPr>
          </a:p>
          <a:p>
            <a:pPr marL="0" lvl="0" indent="0" algn="l" rtl="0">
              <a:lnSpc>
                <a:spcPct val="115000"/>
              </a:lnSpc>
              <a:spcBef>
                <a:spcPts val="0"/>
              </a:spcBef>
              <a:spcAft>
                <a:spcPts val="0"/>
              </a:spcAft>
              <a:buNone/>
            </a:pPr>
            <a:endParaRPr sz="800">
              <a:latin typeface="Lexend"/>
              <a:ea typeface="Lexend"/>
              <a:cs typeface="Lexend"/>
              <a:sym typeface="Lexend"/>
            </a:endParaRPr>
          </a:p>
          <a:p>
            <a:pPr marL="0" lvl="0" indent="0" algn="l" rtl="0">
              <a:lnSpc>
                <a:spcPct val="115000"/>
              </a:lnSpc>
              <a:spcBef>
                <a:spcPts val="0"/>
              </a:spcBef>
              <a:spcAft>
                <a:spcPts val="0"/>
              </a:spcAft>
              <a:buNone/>
            </a:pPr>
            <a:endParaRPr sz="800">
              <a:latin typeface="Lexend"/>
              <a:ea typeface="Lexend"/>
              <a:cs typeface="Lexend"/>
              <a:sym typeface="Lexend"/>
            </a:endParaRPr>
          </a:p>
          <a:p>
            <a:pPr marL="0" lvl="0" indent="0" algn="l" rtl="0">
              <a:lnSpc>
                <a:spcPct val="115000"/>
              </a:lnSpc>
              <a:spcBef>
                <a:spcPts val="0"/>
              </a:spcBef>
              <a:spcAft>
                <a:spcPts val="0"/>
              </a:spcAft>
              <a:buNone/>
            </a:pPr>
            <a:r>
              <a:rPr lang="en" sz="800" b="1">
                <a:latin typeface="Lexend"/>
                <a:ea typeface="Lexend"/>
                <a:cs typeface="Lexend"/>
                <a:sym typeface="Lexend"/>
              </a:rPr>
              <a:t>SGN:</a:t>
            </a:r>
            <a:endParaRPr sz="800" b="1">
              <a:latin typeface="Lexend"/>
              <a:ea typeface="Lexend"/>
              <a:cs typeface="Lexend"/>
              <a:sym typeface="Lexend"/>
            </a:endParaRPr>
          </a:p>
          <a:p>
            <a:pPr marL="457200" lvl="0" indent="-279400" algn="l" rtl="0">
              <a:lnSpc>
                <a:spcPct val="115000"/>
              </a:lnSpc>
              <a:spcBef>
                <a:spcPts val="0"/>
              </a:spcBef>
              <a:spcAft>
                <a:spcPts val="0"/>
              </a:spcAft>
              <a:buSzPts val="800"/>
              <a:buFont typeface="Lexend"/>
              <a:buChar char="-"/>
            </a:pPr>
            <a:r>
              <a:rPr lang="en" sz="800">
                <a:latin typeface="Lexend"/>
                <a:ea typeface="Lexend"/>
                <a:cs typeface="Lexend"/>
                <a:sym typeface="Lexend"/>
              </a:rPr>
              <a:t>EPH tuần 10/08 phân hóa giữa các Zone: Zone 6 đạt cao nhất 50.7K, tăng nhẹ so với tuần trước.</a:t>
            </a:r>
            <a:endParaRPr sz="800">
              <a:latin typeface="Lexend"/>
              <a:ea typeface="Lexend"/>
              <a:cs typeface="Lexend"/>
              <a:sym typeface="Lexend"/>
            </a:endParaRPr>
          </a:p>
          <a:p>
            <a:pPr marL="457200" lvl="0" indent="-279400" algn="l" rtl="0">
              <a:lnSpc>
                <a:spcPct val="115000"/>
              </a:lnSpc>
              <a:spcBef>
                <a:spcPts val="0"/>
              </a:spcBef>
              <a:spcAft>
                <a:spcPts val="0"/>
              </a:spcAft>
              <a:buSzPts val="800"/>
              <a:buFont typeface="Lexend"/>
              <a:buChar char="-"/>
            </a:pPr>
            <a:r>
              <a:rPr lang="en" sz="800">
                <a:latin typeface="Lexend"/>
                <a:ea typeface="Lexend"/>
                <a:cs typeface="Lexend"/>
                <a:sym typeface="Lexend"/>
              </a:rPr>
              <a:t>Zone 1 (49.5K) và Zone 2 (49.1K) tiếp tục duy trì EPH tốt; Zone 4 ổn định ở 47.5K.</a:t>
            </a:r>
            <a:endParaRPr sz="800">
              <a:latin typeface="Lexend"/>
              <a:ea typeface="Lexend"/>
              <a:cs typeface="Lexend"/>
              <a:sym typeface="Lexend"/>
            </a:endParaRPr>
          </a:p>
          <a:p>
            <a:pPr marL="457200" lvl="0" indent="-279400" algn="l" rtl="0">
              <a:lnSpc>
                <a:spcPct val="115000"/>
              </a:lnSpc>
              <a:spcBef>
                <a:spcPts val="0"/>
              </a:spcBef>
              <a:spcAft>
                <a:spcPts val="0"/>
              </a:spcAft>
              <a:buSzPts val="800"/>
              <a:buFont typeface="Lexend"/>
              <a:buChar char="-"/>
            </a:pPr>
            <a:r>
              <a:rPr lang="en" sz="800">
                <a:latin typeface="Lexend"/>
                <a:ea typeface="Lexend"/>
                <a:cs typeface="Lexend"/>
                <a:sym typeface="Lexend"/>
              </a:rPr>
              <a:t>Zone 3 (45.8K) giảm mạnh 4.4% WoW, là khu vực có EPH thấp nhất và cần ưu tiên theo dõi.</a:t>
            </a:r>
            <a:endParaRPr sz="800">
              <a:latin typeface="Lexend"/>
              <a:ea typeface="Lexend"/>
              <a:cs typeface="Lexend"/>
              <a:sym typeface="Lexend"/>
            </a:endParaRPr>
          </a:p>
        </p:txBody>
      </p:sp>
      <p:sp>
        <p:nvSpPr>
          <p:cNvPr id="770" name="Google Shape;770;p60"/>
          <p:cNvSpPr/>
          <p:nvPr/>
        </p:nvSpPr>
        <p:spPr>
          <a:xfrm>
            <a:off x="5557026" y="1010700"/>
            <a:ext cx="57300" cy="4026900"/>
          </a:xfrm>
          <a:prstGeom prst="rect">
            <a:avLst/>
          </a:prstGeom>
          <a:solidFill>
            <a:srgbClr val="FF7F32"/>
          </a:solidFill>
          <a:ln>
            <a:noFill/>
          </a:ln>
        </p:spPr>
        <p:txBody>
          <a:bodyPr spcFirstLastPara="1" wrap="square" lIns="57925" tIns="57925" rIns="57925" bIns="57925" anchor="ctr" anchorCtr="0">
            <a:noAutofit/>
          </a:bodyPr>
          <a:lstStyle/>
          <a:p>
            <a:pPr marL="0" lvl="0" indent="0" algn="l" rtl="0">
              <a:spcBef>
                <a:spcPts val="0"/>
              </a:spcBef>
              <a:spcAft>
                <a:spcPts val="0"/>
              </a:spcAft>
              <a:buNone/>
            </a:pPr>
            <a:endParaRPr/>
          </a:p>
        </p:txBody>
      </p:sp>
      <p:pic>
        <p:nvPicPr>
          <p:cNvPr id="771" name="Google Shape;771;p60" title="Chart"/>
          <p:cNvPicPr preferRelativeResize="0"/>
          <p:nvPr/>
        </p:nvPicPr>
        <p:blipFill>
          <a:blip r:embed="rId4">
            <a:alphaModFix/>
          </a:blip>
          <a:stretch>
            <a:fillRect/>
          </a:stretch>
        </p:blipFill>
        <p:spPr>
          <a:xfrm>
            <a:off x="957850" y="1004325"/>
            <a:ext cx="4495040" cy="1951275"/>
          </a:xfrm>
          <a:prstGeom prst="rect">
            <a:avLst/>
          </a:prstGeom>
          <a:noFill/>
          <a:ln>
            <a:noFill/>
          </a:ln>
        </p:spPr>
      </p:pic>
      <p:pic>
        <p:nvPicPr>
          <p:cNvPr id="772" name="Google Shape;772;p60" title="Chart"/>
          <p:cNvPicPr preferRelativeResize="0"/>
          <p:nvPr/>
        </p:nvPicPr>
        <p:blipFill>
          <a:blip r:embed="rId5">
            <a:alphaModFix/>
          </a:blip>
          <a:stretch>
            <a:fillRect/>
          </a:stretch>
        </p:blipFill>
        <p:spPr>
          <a:xfrm>
            <a:off x="957775" y="3123210"/>
            <a:ext cx="4513802" cy="195941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798"/>
        <p:cNvGrpSpPr/>
        <p:nvPr/>
      </p:nvGrpSpPr>
      <p:grpSpPr>
        <a:xfrm>
          <a:off x="0" y="0"/>
          <a:ext cx="0" cy="0"/>
          <a:chOff x="0" y="0"/>
          <a:chExt cx="0" cy="0"/>
        </a:xfrm>
      </p:grpSpPr>
      <p:sp>
        <p:nvSpPr>
          <p:cNvPr id="799" name="Google Shape;799;p62"/>
          <p:cNvSpPr/>
          <p:nvPr/>
        </p:nvSpPr>
        <p:spPr>
          <a:xfrm>
            <a:off x="386575" y="903099"/>
            <a:ext cx="3884700" cy="3149100"/>
          </a:xfrm>
          <a:prstGeom prst="rect">
            <a:avLst/>
          </a:prstGeom>
          <a:solidFill>
            <a:srgbClr val="FFFFFF"/>
          </a:solidFill>
          <a:ln w="8525" cap="flat" cmpd="sng">
            <a:solidFill>
              <a:srgbClr val="E2E8F0"/>
            </a:solidFill>
            <a:prstDash val="solid"/>
            <a:round/>
            <a:headEnd type="none" w="sm" len="sm"/>
            <a:tailEnd type="none" w="sm" len="sm"/>
          </a:ln>
          <a:effectLst>
            <a:outerShdw blurRad="68196" dist="22732" dir="8100000" algn="bl" rotWithShape="0">
              <a:srgbClr val="000000">
                <a:alpha val="10200"/>
              </a:srgbClr>
            </a:outerShdw>
          </a:effectLst>
        </p:spPr>
        <p:txBody>
          <a:bodyPr spcFirstLastPara="1" wrap="square" lIns="81825" tIns="81825" rIns="81825" bIns="81825" anchor="ctr" anchorCtr="0">
            <a:noAutofit/>
          </a:bodyPr>
          <a:lstStyle/>
          <a:p>
            <a:pPr marL="0" lvl="0" indent="0" algn="l" rtl="0">
              <a:spcBef>
                <a:spcPts val="0"/>
              </a:spcBef>
              <a:spcAft>
                <a:spcPts val="0"/>
              </a:spcAft>
              <a:buNone/>
            </a:pPr>
            <a:endParaRPr sz="1253"/>
          </a:p>
        </p:txBody>
      </p:sp>
      <p:sp>
        <p:nvSpPr>
          <p:cNvPr id="800" name="Google Shape;800;p62"/>
          <p:cNvSpPr/>
          <p:nvPr/>
        </p:nvSpPr>
        <p:spPr>
          <a:xfrm>
            <a:off x="0" y="0"/>
            <a:ext cx="9144000" cy="73200"/>
          </a:xfrm>
          <a:prstGeom prst="rect">
            <a:avLst/>
          </a:prstGeom>
          <a:solidFill>
            <a:srgbClr val="FF7F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801" name="Google Shape;801;p62"/>
          <p:cNvCxnSpPr/>
          <p:nvPr/>
        </p:nvCxnSpPr>
        <p:spPr>
          <a:xfrm>
            <a:off x="365760" y="868680"/>
            <a:ext cx="8412600" cy="0"/>
          </a:xfrm>
          <a:prstGeom prst="straightConnector1">
            <a:avLst/>
          </a:prstGeom>
          <a:noFill/>
          <a:ln w="9525" cap="flat" cmpd="sng">
            <a:solidFill>
              <a:srgbClr val="E2E8F0"/>
            </a:solidFill>
            <a:prstDash val="solid"/>
            <a:round/>
            <a:headEnd type="none" w="sm" len="sm"/>
            <a:tailEnd type="none" w="sm" len="sm"/>
          </a:ln>
        </p:spPr>
      </p:cxnSp>
      <p:sp>
        <p:nvSpPr>
          <p:cNvPr id="802" name="Google Shape;802;p62"/>
          <p:cNvSpPr/>
          <p:nvPr/>
        </p:nvSpPr>
        <p:spPr>
          <a:xfrm>
            <a:off x="5486395" y="45700"/>
            <a:ext cx="3657600" cy="27420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94A3B8"/>
              </a:buClr>
              <a:buSzPts val="700"/>
              <a:buFont typeface="Calibri"/>
              <a:buNone/>
            </a:pPr>
            <a:r>
              <a:rPr lang="en" sz="700" b="0" i="1" u="none" strike="noStrike" cap="none">
                <a:solidFill>
                  <a:srgbClr val="94A3B8"/>
                </a:solidFill>
                <a:latin typeface="Calibri"/>
                <a:ea typeface="Calibri"/>
                <a:cs typeface="Calibri"/>
                <a:sym typeface="Calibri"/>
              </a:rPr>
              <a:t>Ahamove — Driver Management | Confidential</a:t>
            </a:r>
            <a:endParaRPr sz="700" b="0" i="0" u="none" strike="noStrike" cap="none">
              <a:solidFill>
                <a:schemeClr val="dk1"/>
              </a:solidFill>
              <a:latin typeface="Calibri"/>
              <a:ea typeface="Calibri"/>
              <a:cs typeface="Calibri"/>
              <a:sym typeface="Calibri"/>
            </a:endParaRPr>
          </a:p>
        </p:txBody>
      </p:sp>
      <p:pic>
        <p:nvPicPr>
          <p:cNvPr id="803" name="Google Shape;803;p62" descr="preencoded.png"/>
          <p:cNvPicPr preferRelativeResize="0"/>
          <p:nvPr/>
        </p:nvPicPr>
        <p:blipFill rotWithShape="1">
          <a:blip r:embed="rId3">
            <a:alphaModFix/>
          </a:blip>
          <a:srcRect/>
          <a:stretch/>
        </p:blipFill>
        <p:spPr>
          <a:xfrm>
            <a:off x="365760" y="337820"/>
            <a:ext cx="274320" cy="274320"/>
          </a:xfrm>
          <a:prstGeom prst="rect">
            <a:avLst/>
          </a:prstGeom>
          <a:noFill/>
          <a:ln>
            <a:noFill/>
          </a:ln>
        </p:spPr>
      </p:pic>
      <p:sp>
        <p:nvSpPr>
          <p:cNvPr id="804" name="Google Shape;804;p62"/>
          <p:cNvSpPr/>
          <p:nvPr/>
        </p:nvSpPr>
        <p:spPr>
          <a:xfrm>
            <a:off x="731520" y="264668"/>
            <a:ext cx="7315200" cy="411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E4174"/>
              </a:buClr>
              <a:buSzPts val="2200"/>
              <a:buFont typeface="Calibri"/>
              <a:buNone/>
            </a:pPr>
            <a:r>
              <a:rPr lang="en" sz="2200" b="1" i="0" u="none" strike="noStrike" cap="none">
                <a:solidFill>
                  <a:srgbClr val="0E4174"/>
                </a:solidFill>
                <a:latin typeface="Lexend"/>
                <a:ea typeface="Lexend"/>
                <a:cs typeface="Lexend"/>
                <a:sym typeface="Lexend"/>
              </a:rPr>
              <a:t>MiniHub</a:t>
            </a:r>
            <a:r>
              <a:rPr lang="en" sz="2200" b="1">
                <a:solidFill>
                  <a:srgbClr val="0E4174"/>
                </a:solidFill>
                <a:latin typeface="Lexend"/>
                <a:ea typeface="Lexend"/>
                <a:cs typeface="Lexend"/>
                <a:sym typeface="Lexend"/>
              </a:rPr>
              <a:t> </a:t>
            </a:r>
            <a:r>
              <a:rPr lang="en" sz="2200" b="1" i="0" u="none" strike="noStrike" cap="none">
                <a:solidFill>
                  <a:srgbClr val="0E4174"/>
                </a:solidFill>
                <a:latin typeface="Lexend"/>
                <a:ea typeface="Lexend"/>
                <a:cs typeface="Lexend"/>
                <a:sym typeface="Lexend"/>
              </a:rPr>
              <a:t>- </a:t>
            </a:r>
            <a:r>
              <a:rPr lang="en" sz="2200" b="1">
                <a:solidFill>
                  <a:srgbClr val="F56C1F"/>
                </a:solidFill>
                <a:latin typeface="Lexend"/>
                <a:ea typeface="Lexend"/>
                <a:cs typeface="Lexend"/>
                <a:sym typeface="Lexend"/>
              </a:rPr>
              <a:t>SANCTION</a:t>
            </a:r>
            <a:endParaRPr sz="2200" b="1" i="0" u="none" strike="noStrike" cap="none">
              <a:solidFill>
                <a:srgbClr val="F56C1F"/>
              </a:solidFill>
              <a:latin typeface="Lexend"/>
              <a:ea typeface="Lexend"/>
              <a:cs typeface="Lexend"/>
              <a:sym typeface="Lexend"/>
            </a:endParaRPr>
          </a:p>
        </p:txBody>
      </p:sp>
      <p:cxnSp>
        <p:nvCxnSpPr>
          <p:cNvPr id="805" name="Google Shape;805;p62"/>
          <p:cNvCxnSpPr/>
          <p:nvPr/>
        </p:nvCxnSpPr>
        <p:spPr>
          <a:xfrm flipH="1">
            <a:off x="4645375" y="906329"/>
            <a:ext cx="5700" cy="4128000"/>
          </a:xfrm>
          <a:prstGeom prst="straightConnector1">
            <a:avLst/>
          </a:prstGeom>
          <a:noFill/>
          <a:ln w="9525" cap="flat" cmpd="sng">
            <a:solidFill>
              <a:srgbClr val="0E4174"/>
            </a:solidFill>
            <a:prstDash val="dash"/>
            <a:round/>
            <a:headEnd type="none" w="med" len="med"/>
            <a:tailEnd type="none" w="med" len="med"/>
          </a:ln>
        </p:spPr>
      </p:cxnSp>
      <p:sp>
        <p:nvSpPr>
          <p:cNvPr id="806" name="Google Shape;806;p62"/>
          <p:cNvSpPr/>
          <p:nvPr/>
        </p:nvSpPr>
        <p:spPr>
          <a:xfrm>
            <a:off x="5019300" y="903099"/>
            <a:ext cx="3884700" cy="3149100"/>
          </a:xfrm>
          <a:prstGeom prst="rect">
            <a:avLst/>
          </a:prstGeom>
          <a:solidFill>
            <a:srgbClr val="FFFFFF"/>
          </a:solidFill>
          <a:ln w="8525" cap="flat" cmpd="sng">
            <a:solidFill>
              <a:srgbClr val="E2E8F0"/>
            </a:solidFill>
            <a:prstDash val="solid"/>
            <a:round/>
            <a:headEnd type="none" w="sm" len="sm"/>
            <a:tailEnd type="none" w="sm" len="sm"/>
          </a:ln>
          <a:effectLst>
            <a:outerShdw blurRad="68196" dist="22732" dir="8100000" algn="bl" rotWithShape="0">
              <a:srgbClr val="000000">
                <a:alpha val="10200"/>
              </a:srgbClr>
            </a:outerShdw>
          </a:effectLst>
        </p:spPr>
        <p:txBody>
          <a:bodyPr spcFirstLastPara="1" wrap="square" lIns="81825" tIns="81825" rIns="81825" bIns="81825" anchor="ctr" anchorCtr="0">
            <a:noAutofit/>
          </a:bodyPr>
          <a:lstStyle/>
          <a:p>
            <a:pPr marL="0" lvl="0" indent="0" algn="l" rtl="0">
              <a:spcBef>
                <a:spcPts val="0"/>
              </a:spcBef>
              <a:spcAft>
                <a:spcPts val="0"/>
              </a:spcAft>
              <a:buNone/>
            </a:pPr>
            <a:endParaRPr sz="1253"/>
          </a:p>
        </p:txBody>
      </p:sp>
      <p:sp>
        <p:nvSpPr>
          <p:cNvPr id="807" name="Google Shape;807;p62"/>
          <p:cNvSpPr txBox="1"/>
          <p:nvPr/>
        </p:nvSpPr>
        <p:spPr>
          <a:xfrm>
            <a:off x="390140" y="912169"/>
            <a:ext cx="683700" cy="274200"/>
          </a:xfrm>
          <a:prstGeom prst="rect">
            <a:avLst/>
          </a:prstGeom>
          <a:solidFill>
            <a:srgbClr val="0B467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b="1">
                <a:solidFill>
                  <a:schemeClr val="lt1"/>
                </a:solidFill>
                <a:latin typeface="Lexend"/>
                <a:ea typeface="Lexend"/>
                <a:cs typeface="Lexend"/>
                <a:sym typeface="Lexend"/>
              </a:rPr>
              <a:t>HAN</a:t>
            </a:r>
            <a:endParaRPr sz="1200" b="1">
              <a:solidFill>
                <a:schemeClr val="lt1"/>
              </a:solidFill>
              <a:latin typeface="Lexend"/>
              <a:ea typeface="Lexend"/>
              <a:cs typeface="Lexend"/>
              <a:sym typeface="Lexend"/>
            </a:endParaRPr>
          </a:p>
        </p:txBody>
      </p:sp>
      <p:sp>
        <p:nvSpPr>
          <p:cNvPr id="808" name="Google Shape;808;p62"/>
          <p:cNvSpPr txBox="1"/>
          <p:nvPr/>
        </p:nvSpPr>
        <p:spPr>
          <a:xfrm>
            <a:off x="5024580" y="912169"/>
            <a:ext cx="683700" cy="274200"/>
          </a:xfrm>
          <a:prstGeom prst="rect">
            <a:avLst/>
          </a:prstGeom>
          <a:solidFill>
            <a:srgbClr val="0B467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b="1">
                <a:solidFill>
                  <a:schemeClr val="lt1"/>
                </a:solidFill>
                <a:latin typeface="Lexend"/>
                <a:ea typeface="Lexend"/>
                <a:cs typeface="Lexend"/>
                <a:sym typeface="Lexend"/>
              </a:rPr>
              <a:t>SGN</a:t>
            </a:r>
            <a:endParaRPr sz="1200" b="1">
              <a:solidFill>
                <a:schemeClr val="lt1"/>
              </a:solidFill>
              <a:latin typeface="Lexend"/>
              <a:ea typeface="Lexend"/>
              <a:cs typeface="Lexend"/>
              <a:sym typeface="Lexend"/>
            </a:endParaRPr>
          </a:p>
        </p:txBody>
      </p:sp>
      <p:sp>
        <p:nvSpPr>
          <p:cNvPr id="809" name="Google Shape;809;p62"/>
          <p:cNvSpPr/>
          <p:nvPr/>
        </p:nvSpPr>
        <p:spPr>
          <a:xfrm>
            <a:off x="5093817" y="4150225"/>
            <a:ext cx="3815400" cy="931200"/>
          </a:xfrm>
          <a:prstGeom prst="rect">
            <a:avLst/>
          </a:prstGeom>
          <a:solidFill>
            <a:srgbClr val="F4F6F9"/>
          </a:solidFill>
          <a:ln>
            <a:noFill/>
          </a:ln>
        </p:spPr>
        <p:txBody>
          <a:bodyPr spcFirstLastPara="1" wrap="square" lIns="57925" tIns="57925" rIns="57925" bIns="57925" anchor="t" anchorCtr="0">
            <a:noAutofit/>
          </a:bodyPr>
          <a:lstStyle/>
          <a:p>
            <a:pPr marL="0" lvl="0" indent="0" algn="l" rtl="0">
              <a:lnSpc>
                <a:spcPct val="115000"/>
              </a:lnSpc>
              <a:spcBef>
                <a:spcPts val="0"/>
              </a:spcBef>
              <a:spcAft>
                <a:spcPts val="0"/>
              </a:spcAft>
              <a:buNone/>
            </a:pPr>
            <a:r>
              <a:rPr lang="en" sz="700">
                <a:solidFill>
                  <a:srgbClr val="F66600"/>
                </a:solidFill>
                <a:latin typeface="Lexend"/>
                <a:ea typeface="Lexend"/>
                <a:cs typeface="Lexend"/>
                <a:sym typeface="Lexend"/>
              </a:rPr>
              <a:t>HIGHLIGHT</a:t>
            </a:r>
            <a:endParaRPr sz="700">
              <a:solidFill>
                <a:srgbClr val="F66600"/>
              </a:solidFill>
              <a:latin typeface="Lexend"/>
              <a:ea typeface="Lexend"/>
              <a:cs typeface="Lexend"/>
              <a:sym typeface="Lexend"/>
            </a:endParaRPr>
          </a:p>
          <a:p>
            <a:pPr marL="457200" lvl="0" indent="-273050" algn="l" rtl="0">
              <a:lnSpc>
                <a:spcPct val="115000"/>
              </a:lnSpc>
              <a:spcBef>
                <a:spcPts val="0"/>
              </a:spcBef>
              <a:spcAft>
                <a:spcPts val="0"/>
              </a:spcAft>
              <a:buSzPts val="700"/>
              <a:buFont typeface="Lexend"/>
              <a:buChar char="+"/>
            </a:pPr>
            <a:r>
              <a:rPr lang="en" sz="700">
                <a:latin typeface="Lexend"/>
                <a:ea typeface="Lexend"/>
                <a:cs typeface="Lexend"/>
                <a:sym typeface="Lexend"/>
              </a:rPr>
              <a:t>34.23% driver thuộc nhóm Valid (251/555), là nhóm chiếm tỷ trọng cao nhất; 34.23% thuộc nhóm 2nd violation (190 driver).</a:t>
            </a:r>
            <a:endParaRPr sz="700">
              <a:latin typeface="Lexend"/>
              <a:ea typeface="Lexend"/>
              <a:cs typeface="Lexend"/>
              <a:sym typeface="Lexend"/>
            </a:endParaRPr>
          </a:p>
          <a:p>
            <a:pPr marL="457200" lvl="0" indent="-273050" algn="l" rtl="0">
              <a:lnSpc>
                <a:spcPct val="115000"/>
              </a:lnSpc>
              <a:spcBef>
                <a:spcPts val="0"/>
              </a:spcBef>
              <a:spcAft>
                <a:spcPts val="0"/>
              </a:spcAft>
              <a:buSzPts val="700"/>
              <a:buFont typeface="Lexend"/>
              <a:buChar char="+"/>
            </a:pPr>
            <a:r>
              <a:rPr lang="en" sz="700">
                <a:latin typeface="Lexend"/>
                <a:ea typeface="Lexend"/>
                <a:cs typeface="Lexend"/>
                <a:sym typeface="Lexend"/>
              </a:rPr>
              <a:t>13.69% driver thuộc nhóm 1st violation (76 driver), trong khi 6.85% đang ở tuần đầu tham gia MiniHub (38 driver).</a:t>
            </a:r>
            <a:endParaRPr sz="700">
              <a:latin typeface="Lexend"/>
              <a:ea typeface="Lexend"/>
              <a:cs typeface="Lexend"/>
              <a:sym typeface="Lexend"/>
            </a:endParaRPr>
          </a:p>
          <a:p>
            <a:pPr marL="457200" lvl="0" indent="-273050" algn="l" rtl="0">
              <a:lnSpc>
                <a:spcPct val="115000"/>
              </a:lnSpc>
              <a:spcBef>
                <a:spcPts val="0"/>
              </a:spcBef>
              <a:spcAft>
                <a:spcPts val="0"/>
              </a:spcAft>
              <a:buSzPts val="700"/>
              <a:buFont typeface="Lexend"/>
              <a:buChar char="+"/>
            </a:pPr>
            <a:r>
              <a:rPr lang="en" sz="700">
                <a:latin typeface="Lexend"/>
                <a:ea typeface="Lexend"/>
                <a:cs typeface="Lexend"/>
                <a:sym typeface="Lexend"/>
              </a:rPr>
              <a:t>Tỷ lệ driver vi phạm vẫn ở mức đáng lưu ý → cần tiếp tục rà soát và cải thiện chất lượng hoạt động, đặc biệt nhóm 1st &amp; 2nd violation.</a:t>
            </a:r>
            <a:endParaRPr sz="700">
              <a:latin typeface="Lexend"/>
              <a:ea typeface="Lexend"/>
              <a:cs typeface="Lexend"/>
              <a:sym typeface="Lexend"/>
            </a:endParaRPr>
          </a:p>
        </p:txBody>
      </p:sp>
      <p:sp>
        <p:nvSpPr>
          <p:cNvPr id="810" name="Google Shape;810;p62"/>
          <p:cNvSpPr/>
          <p:nvPr/>
        </p:nvSpPr>
        <p:spPr>
          <a:xfrm>
            <a:off x="5024575" y="4150225"/>
            <a:ext cx="69000" cy="931200"/>
          </a:xfrm>
          <a:prstGeom prst="rect">
            <a:avLst/>
          </a:prstGeom>
          <a:solidFill>
            <a:srgbClr val="FF7F32"/>
          </a:solidFill>
          <a:ln>
            <a:noFill/>
          </a:ln>
        </p:spPr>
        <p:txBody>
          <a:bodyPr spcFirstLastPara="1" wrap="square" lIns="57925" tIns="57925" rIns="57925" bIns="57925" anchor="ctr" anchorCtr="0">
            <a:noAutofit/>
          </a:bodyPr>
          <a:lstStyle/>
          <a:p>
            <a:pPr marL="0" lvl="0" indent="0" algn="l" rtl="0">
              <a:spcBef>
                <a:spcPts val="0"/>
              </a:spcBef>
              <a:spcAft>
                <a:spcPts val="0"/>
              </a:spcAft>
              <a:buNone/>
            </a:pPr>
            <a:endParaRPr/>
          </a:p>
        </p:txBody>
      </p:sp>
      <p:sp>
        <p:nvSpPr>
          <p:cNvPr id="811" name="Google Shape;811;p62"/>
          <p:cNvSpPr/>
          <p:nvPr/>
        </p:nvSpPr>
        <p:spPr>
          <a:xfrm>
            <a:off x="456467" y="4177600"/>
            <a:ext cx="3815400" cy="931200"/>
          </a:xfrm>
          <a:prstGeom prst="rect">
            <a:avLst/>
          </a:prstGeom>
          <a:solidFill>
            <a:srgbClr val="F4F6F9"/>
          </a:solidFill>
          <a:ln>
            <a:noFill/>
          </a:ln>
        </p:spPr>
        <p:txBody>
          <a:bodyPr spcFirstLastPara="1" wrap="square" lIns="57925" tIns="57925" rIns="57925" bIns="57925" anchor="t" anchorCtr="0">
            <a:noAutofit/>
          </a:bodyPr>
          <a:lstStyle/>
          <a:p>
            <a:pPr marL="0" lvl="0" indent="0" algn="l" rtl="0">
              <a:lnSpc>
                <a:spcPct val="115000"/>
              </a:lnSpc>
              <a:spcBef>
                <a:spcPts val="0"/>
              </a:spcBef>
              <a:spcAft>
                <a:spcPts val="0"/>
              </a:spcAft>
              <a:buNone/>
            </a:pPr>
            <a:r>
              <a:rPr lang="en" sz="700">
                <a:solidFill>
                  <a:srgbClr val="F66600"/>
                </a:solidFill>
                <a:latin typeface="Lexend"/>
                <a:ea typeface="Lexend"/>
                <a:cs typeface="Lexend"/>
                <a:sym typeface="Lexend"/>
              </a:rPr>
              <a:t>HIGHLIGHT</a:t>
            </a:r>
            <a:endParaRPr sz="700">
              <a:latin typeface="Lexend"/>
              <a:ea typeface="Lexend"/>
              <a:cs typeface="Lexend"/>
              <a:sym typeface="Lexend"/>
            </a:endParaRPr>
          </a:p>
          <a:p>
            <a:pPr marL="457200" lvl="0" indent="-273050" algn="l" rtl="0">
              <a:lnSpc>
                <a:spcPct val="115000"/>
              </a:lnSpc>
              <a:spcBef>
                <a:spcPts val="0"/>
              </a:spcBef>
              <a:spcAft>
                <a:spcPts val="0"/>
              </a:spcAft>
              <a:buSzPts val="700"/>
              <a:buFont typeface="Lexend"/>
              <a:buChar char="+"/>
            </a:pPr>
            <a:r>
              <a:rPr lang="en" sz="700">
                <a:latin typeface="Lexend"/>
                <a:ea typeface="Lexend"/>
                <a:cs typeface="Lexend"/>
                <a:sym typeface="Lexend"/>
              </a:rPr>
              <a:t>79.84% driver thuộc nhóm 2nd violation (820/1,027), tỷ lệ vi phạm cao và là nhóm chiếm tỷ trọng lớn nhất.</a:t>
            </a:r>
            <a:endParaRPr sz="700">
              <a:latin typeface="Lexend"/>
              <a:ea typeface="Lexend"/>
              <a:cs typeface="Lexend"/>
              <a:sym typeface="Lexend"/>
            </a:endParaRPr>
          </a:p>
          <a:p>
            <a:pPr marL="457200" lvl="0" indent="-273050" algn="l" rtl="0">
              <a:lnSpc>
                <a:spcPct val="115000"/>
              </a:lnSpc>
              <a:spcBef>
                <a:spcPts val="0"/>
              </a:spcBef>
              <a:spcAft>
                <a:spcPts val="0"/>
              </a:spcAft>
              <a:buSzPts val="700"/>
              <a:buFont typeface="Lexend"/>
              <a:buChar char="+"/>
            </a:pPr>
            <a:r>
              <a:rPr lang="en" sz="700">
                <a:latin typeface="Lexend"/>
                <a:ea typeface="Lexend"/>
                <a:cs typeface="Lexend"/>
                <a:sym typeface="Lexend"/>
              </a:rPr>
              <a:t>11.98% driver đạt Valid, trong khi 4.09% đang ở tuần đầu tham gia Hub và 4.09% thuộc nhóm 1st violation.</a:t>
            </a:r>
            <a:endParaRPr sz="700">
              <a:latin typeface="Lexend"/>
              <a:ea typeface="Lexend"/>
              <a:cs typeface="Lexend"/>
              <a:sym typeface="Lexend"/>
            </a:endParaRPr>
          </a:p>
          <a:p>
            <a:pPr marL="457200" lvl="0" indent="-273050" algn="l" rtl="0">
              <a:lnSpc>
                <a:spcPct val="115000"/>
              </a:lnSpc>
              <a:spcBef>
                <a:spcPts val="0"/>
              </a:spcBef>
              <a:spcAft>
                <a:spcPts val="0"/>
              </a:spcAft>
              <a:buSzPts val="700"/>
              <a:buFont typeface="Lexend"/>
              <a:buChar char="+"/>
            </a:pPr>
            <a:r>
              <a:rPr lang="en" sz="700">
                <a:latin typeface="Lexend"/>
                <a:ea typeface="Lexend"/>
                <a:cs typeface="Lexend"/>
                <a:sym typeface="Lexend"/>
              </a:rPr>
              <a:t>Tỷ trọng driver vi phạm vẫn ở mức cao → cần tập trung rà soát và cải thiện chất lượng hoạt động, đặc biệt nhóm 2nd violation.</a:t>
            </a:r>
            <a:endParaRPr sz="700">
              <a:latin typeface="Lexend"/>
              <a:ea typeface="Lexend"/>
              <a:cs typeface="Lexend"/>
              <a:sym typeface="Lexend"/>
            </a:endParaRPr>
          </a:p>
          <a:p>
            <a:pPr marL="0" lvl="0" indent="0" algn="l" rtl="0">
              <a:lnSpc>
                <a:spcPct val="115000"/>
              </a:lnSpc>
              <a:spcBef>
                <a:spcPts val="0"/>
              </a:spcBef>
              <a:spcAft>
                <a:spcPts val="0"/>
              </a:spcAft>
              <a:buNone/>
            </a:pPr>
            <a:endParaRPr sz="700">
              <a:latin typeface="Lexend"/>
              <a:ea typeface="Lexend"/>
              <a:cs typeface="Lexend"/>
              <a:sym typeface="Lexend"/>
            </a:endParaRPr>
          </a:p>
        </p:txBody>
      </p:sp>
      <p:sp>
        <p:nvSpPr>
          <p:cNvPr id="812" name="Google Shape;812;p62"/>
          <p:cNvSpPr/>
          <p:nvPr/>
        </p:nvSpPr>
        <p:spPr>
          <a:xfrm>
            <a:off x="387225" y="4177600"/>
            <a:ext cx="69000" cy="931200"/>
          </a:xfrm>
          <a:prstGeom prst="rect">
            <a:avLst/>
          </a:prstGeom>
          <a:solidFill>
            <a:srgbClr val="FF7F32"/>
          </a:solidFill>
          <a:ln>
            <a:noFill/>
          </a:ln>
        </p:spPr>
        <p:txBody>
          <a:bodyPr spcFirstLastPara="1" wrap="square" lIns="57925" tIns="57925" rIns="57925" bIns="57925" anchor="ctr" anchorCtr="0">
            <a:noAutofit/>
          </a:bodyPr>
          <a:lstStyle/>
          <a:p>
            <a:pPr marL="0" lvl="0" indent="0" algn="l" rtl="0">
              <a:spcBef>
                <a:spcPts val="0"/>
              </a:spcBef>
              <a:spcAft>
                <a:spcPts val="0"/>
              </a:spcAft>
              <a:buNone/>
            </a:pPr>
            <a:endParaRPr/>
          </a:p>
        </p:txBody>
      </p:sp>
      <p:sp>
        <p:nvSpPr>
          <p:cNvPr id="813" name="Google Shape;813;p62"/>
          <p:cNvSpPr txBox="1"/>
          <p:nvPr/>
        </p:nvSpPr>
        <p:spPr>
          <a:xfrm>
            <a:off x="2896925" y="1001500"/>
            <a:ext cx="1207200" cy="180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a:latin typeface="Lexend"/>
                <a:ea typeface="Lexend"/>
                <a:cs typeface="Lexend"/>
                <a:sym typeface="Lexend"/>
              </a:rPr>
              <a:t>Total_drivers: 1,027</a:t>
            </a:r>
            <a:endParaRPr sz="800">
              <a:latin typeface="Lexend"/>
              <a:ea typeface="Lexend"/>
              <a:cs typeface="Lexend"/>
              <a:sym typeface="Lexend"/>
            </a:endParaRPr>
          </a:p>
        </p:txBody>
      </p:sp>
      <p:sp>
        <p:nvSpPr>
          <p:cNvPr id="814" name="Google Shape;814;p62"/>
          <p:cNvSpPr txBox="1"/>
          <p:nvPr/>
        </p:nvSpPr>
        <p:spPr>
          <a:xfrm>
            <a:off x="7428875" y="1001488"/>
            <a:ext cx="1131300" cy="180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a:latin typeface="Lexend"/>
                <a:ea typeface="Lexend"/>
                <a:cs typeface="Lexend"/>
                <a:sym typeface="Lexend"/>
              </a:rPr>
              <a:t>Total_drivers: 555</a:t>
            </a:r>
            <a:endParaRPr sz="800">
              <a:latin typeface="Lexend"/>
              <a:ea typeface="Lexend"/>
              <a:cs typeface="Lexend"/>
              <a:sym typeface="Lexend"/>
            </a:endParaRPr>
          </a:p>
        </p:txBody>
      </p:sp>
      <p:sp>
        <p:nvSpPr>
          <p:cNvPr id="815" name="Google Shape;815;p62"/>
          <p:cNvSpPr txBox="1"/>
          <p:nvPr/>
        </p:nvSpPr>
        <p:spPr>
          <a:xfrm>
            <a:off x="1299025" y="1971500"/>
            <a:ext cx="559800" cy="307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a:solidFill>
                  <a:schemeClr val="lt1"/>
                </a:solidFill>
                <a:latin typeface="Lexend"/>
                <a:ea typeface="Lexend"/>
                <a:cs typeface="Lexend"/>
                <a:sym typeface="Lexend"/>
              </a:rPr>
              <a:t>88.41%</a:t>
            </a:r>
            <a:endParaRPr sz="800">
              <a:solidFill>
                <a:schemeClr val="lt1"/>
              </a:solidFill>
              <a:latin typeface="Lexend"/>
              <a:ea typeface="Lexend"/>
              <a:cs typeface="Lexend"/>
              <a:sym typeface="Lexend"/>
            </a:endParaRPr>
          </a:p>
        </p:txBody>
      </p:sp>
      <p:sp>
        <p:nvSpPr>
          <p:cNvPr id="816" name="Google Shape;816;p62"/>
          <p:cNvSpPr txBox="1"/>
          <p:nvPr/>
        </p:nvSpPr>
        <p:spPr>
          <a:xfrm>
            <a:off x="5912625" y="1971500"/>
            <a:ext cx="559800" cy="307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a:solidFill>
                  <a:schemeClr val="lt1"/>
                </a:solidFill>
                <a:latin typeface="Lexend"/>
                <a:ea typeface="Lexend"/>
                <a:cs typeface="Lexend"/>
                <a:sym typeface="Lexend"/>
              </a:rPr>
              <a:t>52.95%</a:t>
            </a:r>
            <a:endParaRPr sz="800">
              <a:solidFill>
                <a:schemeClr val="lt1"/>
              </a:solidFill>
              <a:latin typeface="Lexend"/>
              <a:ea typeface="Lexend"/>
              <a:cs typeface="Lexend"/>
              <a:sym typeface="Lexend"/>
            </a:endParaRPr>
          </a:p>
        </p:txBody>
      </p:sp>
      <p:pic>
        <p:nvPicPr>
          <p:cNvPr id="817" name="Google Shape;817;p62" title="Chart"/>
          <p:cNvPicPr preferRelativeResize="0"/>
          <p:nvPr/>
        </p:nvPicPr>
        <p:blipFill>
          <a:blip r:embed="rId4">
            <a:alphaModFix/>
          </a:blip>
          <a:stretch>
            <a:fillRect/>
          </a:stretch>
        </p:blipFill>
        <p:spPr>
          <a:xfrm>
            <a:off x="386575" y="1381726"/>
            <a:ext cx="3929850" cy="2426675"/>
          </a:xfrm>
          <a:prstGeom prst="rect">
            <a:avLst/>
          </a:prstGeom>
          <a:noFill/>
          <a:ln>
            <a:noFill/>
          </a:ln>
        </p:spPr>
      </p:pic>
      <p:pic>
        <p:nvPicPr>
          <p:cNvPr id="818" name="Google Shape;818;p62" title="Chart"/>
          <p:cNvPicPr preferRelativeResize="0"/>
          <p:nvPr/>
        </p:nvPicPr>
        <p:blipFill>
          <a:blip r:embed="rId5">
            <a:alphaModFix/>
          </a:blip>
          <a:stretch>
            <a:fillRect/>
          </a:stretch>
        </p:blipFill>
        <p:spPr>
          <a:xfrm>
            <a:off x="5025175" y="1278250"/>
            <a:ext cx="3884700" cy="23988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823"/>
        <p:cNvGrpSpPr/>
        <p:nvPr/>
      </p:nvGrpSpPr>
      <p:grpSpPr>
        <a:xfrm>
          <a:off x="0" y="0"/>
          <a:ext cx="0" cy="0"/>
          <a:chOff x="0" y="0"/>
          <a:chExt cx="0" cy="0"/>
        </a:xfrm>
      </p:grpSpPr>
      <p:sp>
        <p:nvSpPr>
          <p:cNvPr id="824" name="Google Shape;824;p63"/>
          <p:cNvSpPr/>
          <p:nvPr/>
        </p:nvSpPr>
        <p:spPr>
          <a:xfrm>
            <a:off x="365750" y="1005900"/>
            <a:ext cx="5577900" cy="4036500"/>
          </a:xfrm>
          <a:prstGeom prst="rect">
            <a:avLst/>
          </a:prstGeom>
          <a:solidFill>
            <a:srgbClr val="FFFFFF"/>
          </a:solidFill>
          <a:ln w="8525" cap="flat" cmpd="sng">
            <a:solidFill>
              <a:srgbClr val="E2E8F0"/>
            </a:solidFill>
            <a:prstDash val="solid"/>
            <a:round/>
            <a:headEnd type="none" w="sm" len="sm"/>
            <a:tailEnd type="none" w="sm" len="sm"/>
          </a:ln>
          <a:effectLst>
            <a:outerShdw blurRad="68196" dist="22732" dir="8100000" algn="bl" rotWithShape="0">
              <a:srgbClr val="000000">
                <a:alpha val="10200"/>
              </a:srgbClr>
            </a:outerShdw>
          </a:effectLst>
        </p:spPr>
        <p:txBody>
          <a:bodyPr spcFirstLastPara="1" wrap="square" lIns="81825" tIns="81825" rIns="81825" bIns="81825" anchor="ctr" anchorCtr="0">
            <a:noAutofit/>
          </a:bodyPr>
          <a:lstStyle/>
          <a:p>
            <a:pPr marL="0" lvl="0" indent="0" algn="l" rtl="0">
              <a:spcBef>
                <a:spcPts val="0"/>
              </a:spcBef>
              <a:spcAft>
                <a:spcPts val="0"/>
              </a:spcAft>
              <a:buNone/>
            </a:pPr>
            <a:endParaRPr sz="1253"/>
          </a:p>
        </p:txBody>
      </p:sp>
      <p:sp>
        <p:nvSpPr>
          <p:cNvPr id="825" name="Google Shape;825;p63"/>
          <p:cNvSpPr/>
          <p:nvPr/>
        </p:nvSpPr>
        <p:spPr>
          <a:xfrm>
            <a:off x="0" y="0"/>
            <a:ext cx="9144000" cy="73200"/>
          </a:xfrm>
          <a:prstGeom prst="rect">
            <a:avLst/>
          </a:prstGeom>
          <a:solidFill>
            <a:srgbClr val="FF7F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826" name="Google Shape;826;p63"/>
          <p:cNvCxnSpPr/>
          <p:nvPr/>
        </p:nvCxnSpPr>
        <p:spPr>
          <a:xfrm>
            <a:off x="365760" y="868680"/>
            <a:ext cx="8412600" cy="0"/>
          </a:xfrm>
          <a:prstGeom prst="straightConnector1">
            <a:avLst/>
          </a:prstGeom>
          <a:noFill/>
          <a:ln w="9525" cap="flat" cmpd="sng">
            <a:solidFill>
              <a:srgbClr val="E2E8F0"/>
            </a:solidFill>
            <a:prstDash val="solid"/>
            <a:round/>
            <a:headEnd type="none" w="sm" len="sm"/>
            <a:tailEnd type="none" w="sm" len="sm"/>
          </a:ln>
        </p:spPr>
      </p:cxnSp>
      <p:sp>
        <p:nvSpPr>
          <p:cNvPr id="827" name="Google Shape;827;p63"/>
          <p:cNvSpPr/>
          <p:nvPr/>
        </p:nvSpPr>
        <p:spPr>
          <a:xfrm>
            <a:off x="5486395" y="45700"/>
            <a:ext cx="3657600" cy="27420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94A3B8"/>
              </a:buClr>
              <a:buSzPts val="700"/>
              <a:buFont typeface="Calibri"/>
              <a:buNone/>
            </a:pPr>
            <a:r>
              <a:rPr lang="en" sz="700" b="0" i="1" u="none" strike="noStrike" cap="none">
                <a:solidFill>
                  <a:srgbClr val="94A3B8"/>
                </a:solidFill>
                <a:latin typeface="Calibri"/>
                <a:ea typeface="Calibri"/>
                <a:cs typeface="Calibri"/>
                <a:sym typeface="Calibri"/>
              </a:rPr>
              <a:t>Ahamove — Driver Management | Confidential</a:t>
            </a:r>
            <a:endParaRPr sz="700" b="0" i="0" u="none" strike="noStrike" cap="none">
              <a:solidFill>
                <a:schemeClr val="dk1"/>
              </a:solidFill>
              <a:latin typeface="Calibri"/>
              <a:ea typeface="Calibri"/>
              <a:cs typeface="Calibri"/>
              <a:sym typeface="Calibri"/>
            </a:endParaRPr>
          </a:p>
        </p:txBody>
      </p:sp>
      <p:pic>
        <p:nvPicPr>
          <p:cNvPr id="828" name="Google Shape;828;p63" descr="preencoded.png"/>
          <p:cNvPicPr preferRelativeResize="0"/>
          <p:nvPr/>
        </p:nvPicPr>
        <p:blipFill rotWithShape="1">
          <a:blip r:embed="rId3">
            <a:alphaModFix/>
          </a:blip>
          <a:srcRect/>
          <a:stretch/>
        </p:blipFill>
        <p:spPr>
          <a:xfrm>
            <a:off x="365760" y="337820"/>
            <a:ext cx="274320" cy="274320"/>
          </a:xfrm>
          <a:prstGeom prst="rect">
            <a:avLst/>
          </a:prstGeom>
          <a:noFill/>
          <a:ln>
            <a:noFill/>
          </a:ln>
        </p:spPr>
      </p:pic>
      <p:sp>
        <p:nvSpPr>
          <p:cNvPr id="829" name="Google Shape;829;p63"/>
          <p:cNvSpPr/>
          <p:nvPr/>
        </p:nvSpPr>
        <p:spPr>
          <a:xfrm>
            <a:off x="731520" y="264668"/>
            <a:ext cx="7315200" cy="411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E4174"/>
              </a:buClr>
              <a:buSzPts val="2200"/>
              <a:buFont typeface="Calibri"/>
              <a:buNone/>
            </a:pPr>
            <a:r>
              <a:rPr lang="en" sz="2200" b="1" i="0" u="none" strike="noStrike" cap="none">
                <a:solidFill>
                  <a:srgbClr val="0E4174"/>
                </a:solidFill>
                <a:latin typeface="Lexend"/>
                <a:ea typeface="Lexend"/>
                <a:cs typeface="Lexend"/>
                <a:sym typeface="Lexend"/>
              </a:rPr>
              <a:t>MiniHub</a:t>
            </a:r>
            <a:r>
              <a:rPr lang="en" sz="2200" b="1">
                <a:solidFill>
                  <a:srgbClr val="0E4174"/>
                </a:solidFill>
                <a:latin typeface="Lexend"/>
                <a:ea typeface="Lexend"/>
                <a:cs typeface="Lexend"/>
                <a:sym typeface="Lexend"/>
              </a:rPr>
              <a:t> </a:t>
            </a:r>
            <a:r>
              <a:rPr lang="en" sz="2200" b="1" i="0" u="none" strike="noStrike" cap="none">
                <a:solidFill>
                  <a:srgbClr val="0E4174"/>
                </a:solidFill>
                <a:latin typeface="Lexend"/>
                <a:ea typeface="Lexend"/>
                <a:cs typeface="Lexend"/>
                <a:sym typeface="Lexend"/>
              </a:rPr>
              <a:t>- </a:t>
            </a:r>
            <a:r>
              <a:rPr lang="en" sz="2200" b="1">
                <a:solidFill>
                  <a:srgbClr val="F56C1F"/>
                </a:solidFill>
                <a:latin typeface="Lexend"/>
                <a:ea typeface="Lexend"/>
                <a:cs typeface="Lexend"/>
                <a:sym typeface="Lexend"/>
              </a:rPr>
              <a:t>SANCTION</a:t>
            </a:r>
            <a:endParaRPr sz="2200" b="1" i="0" u="none" strike="noStrike" cap="none">
              <a:solidFill>
                <a:srgbClr val="F56C1F"/>
              </a:solidFill>
              <a:latin typeface="Lexend"/>
              <a:ea typeface="Lexend"/>
              <a:cs typeface="Lexend"/>
              <a:sym typeface="Lexend"/>
            </a:endParaRPr>
          </a:p>
        </p:txBody>
      </p:sp>
      <p:sp>
        <p:nvSpPr>
          <p:cNvPr id="830" name="Google Shape;830;p63"/>
          <p:cNvSpPr txBox="1"/>
          <p:nvPr/>
        </p:nvSpPr>
        <p:spPr>
          <a:xfrm>
            <a:off x="1299025" y="1971500"/>
            <a:ext cx="559800" cy="307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a:solidFill>
                  <a:schemeClr val="lt1"/>
                </a:solidFill>
                <a:latin typeface="Lexend"/>
                <a:ea typeface="Lexend"/>
                <a:cs typeface="Lexend"/>
                <a:sym typeface="Lexend"/>
              </a:rPr>
              <a:t>86.62%</a:t>
            </a:r>
            <a:endParaRPr sz="800">
              <a:solidFill>
                <a:schemeClr val="lt1"/>
              </a:solidFill>
              <a:latin typeface="Lexend"/>
              <a:ea typeface="Lexend"/>
              <a:cs typeface="Lexend"/>
              <a:sym typeface="Lexend"/>
            </a:endParaRPr>
          </a:p>
        </p:txBody>
      </p:sp>
      <p:sp>
        <p:nvSpPr>
          <p:cNvPr id="831" name="Google Shape;831;p63"/>
          <p:cNvSpPr txBox="1"/>
          <p:nvPr/>
        </p:nvSpPr>
        <p:spPr>
          <a:xfrm>
            <a:off x="5912625" y="1971500"/>
            <a:ext cx="559800" cy="307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a:solidFill>
                  <a:schemeClr val="lt1"/>
                </a:solidFill>
                <a:latin typeface="Lexend"/>
                <a:ea typeface="Lexend"/>
                <a:cs typeface="Lexend"/>
                <a:sym typeface="Lexend"/>
              </a:rPr>
              <a:t>63.78%</a:t>
            </a:r>
            <a:endParaRPr sz="800">
              <a:solidFill>
                <a:schemeClr val="lt1"/>
              </a:solidFill>
              <a:latin typeface="Lexend"/>
              <a:ea typeface="Lexend"/>
              <a:cs typeface="Lexend"/>
              <a:sym typeface="Lexend"/>
            </a:endParaRPr>
          </a:p>
        </p:txBody>
      </p:sp>
      <p:sp>
        <p:nvSpPr>
          <p:cNvPr id="832" name="Google Shape;832;p63"/>
          <p:cNvSpPr/>
          <p:nvPr/>
        </p:nvSpPr>
        <p:spPr>
          <a:xfrm>
            <a:off x="6157927" y="1010700"/>
            <a:ext cx="2632500" cy="4026900"/>
          </a:xfrm>
          <a:prstGeom prst="rect">
            <a:avLst/>
          </a:prstGeom>
          <a:solidFill>
            <a:srgbClr val="F4F6F9"/>
          </a:solidFill>
          <a:ln>
            <a:noFill/>
          </a:ln>
        </p:spPr>
        <p:txBody>
          <a:bodyPr spcFirstLastPara="1" wrap="square" lIns="57925" tIns="57925" rIns="57925" bIns="57925" anchor="t" anchorCtr="0">
            <a:noAutofit/>
          </a:bodyPr>
          <a:lstStyle/>
          <a:p>
            <a:pPr marL="0" lvl="0" indent="0" algn="l" rtl="0">
              <a:lnSpc>
                <a:spcPct val="115000"/>
              </a:lnSpc>
              <a:spcBef>
                <a:spcPts val="0"/>
              </a:spcBef>
              <a:spcAft>
                <a:spcPts val="0"/>
              </a:spcAft>
              <a:buNone/>
            </a:pPr>
            <a:r>
              <a:rPr lang="en" sz="800" b="1">
                <a:solidFill>
                  <a:srgbClr val="F66600"/>
                </a:solidFill>
                <a:latin typeface="Lexend"/>
                <a:ea typeface="Lexend"/>
                <a:cs typeface="Lexend"/>
                <a:sym typeface="Lexend"/>
              </a:rPr>
              <a:t>HIGHLIGHT</a:t>
            </a:r>
            <a:endParaRPr sz="800" b="1">
              <a:solidFill>
                <a:srgbClr val="F66600"/>
              </a:solidFill>
              <a:latin typeface="Lexend"/>
              <a:ea typeface="Lexend"/>
              <a:cs typeface="Lexend"/>
              <a:sym typeface="Lexend"/>
            </a:endParaRPr>
          </a:p>
          <a:p>
            <a:pPr marL="0" lvl="0" indent="0" algn="l" rtl="0">
              <a:lnSpc>
                <a:spcPct val="115000"/>
              </a:lnSpc>
              <a:spcBef>
                <a:spcPts val="0"/>
              </a:spcBef>
              <a:spcAft>
                <a:spcPts val="0"/>
              </a:spcAft>
              <a:buNone/>
            </a:pPr>
            <a:endParaRPr sz="800">
              <a:solidFill>
                <a:srgbClr val="F66600"/>
              </a:solidFill>
              <a:latin typeface="Lexend"/>
              <a:ea typeface="Lexend"/>
              <a:cs typeface="Lexend"/>
              <a:sym typeface="Lexend"/>
            </a:endParaRPr>
          </a:p>
          <a:p>
            <a:pPr marL="457200" lvl="0" indent="-279400" algn="l" rtl="0">
              <a:lnSpc>
                <a:spcPct val="115000"/>
              </a:lnSpc>
              <a:spcBef>
                <a:spcPts val="0"/>
              </a:spcBef>
              <a:spcAft>
                <a:spcPts val="0"/>
              </a:spcAft>
              <a:buClr>
                <a:schemeClr val="dk1"/>
              </a:buClr>
              <a:buSzPts val="800"/>
              <a:buFont typeface="Lexend"/>
              <a:buChar char="-"/>
            </a:pPr>
            <a:r>
              <a:rPr lang="en" sz="800">
                <a:solidFill>
                  <a:schemeClr val="dk1"/>
                </a:solidFill>
                <a:latin typeface="Lexend"/>
                <a:ea typeface="Lexend"/>
                <a:cs typeface="Lexend"/>
                <a:sym typeface="Lexend"/>
              </a:rPr>
              <a:t>HAN: 86.89% tài xế vi phạm do không phát sinh hoạt động (749/862), chiếm áp đảo trong tổng số vi phạm.</a:t>
            </a:r>
            <a:endParaRPr sz="800">
              <a:solidFill>
                <a:schemeClr val="dk1"/>
              </a:solidFill>
              <a:latin typeface="Lexend"/>
              <a:ea typeface="Lexend"/>
              <a:cs typeface="Lexend"/>
              <a:sym typeface="Lexend"/>
            </a:endParaRPr>
          </a:p>
          <a:p>
            <a:pPr marL="457200" lvl="0" indent="-279400" algn="l" rtl="0">
              <a:lnSpc>
                <a:spcPct val="115000"/>
              </a:lnSpc>
              <a:spcBef>
                <a:spcPts val="0"/>
              </a:spcBef>
              <a:spcAft>
                <a:spcPts val="0"/>
              </a:spcAft>
              <a:buClr>
                <a:schemeClr val="dk1"/>
              </a:buClr>
              <a:buSzPts val="800"/>
              <a:buFont typeface="Lexend"/>
              <a:buChar char="-"/>
            </a:pPr>
            <a:r>
              <a:rPr lang="en" sz="800">
                <a:solidFill>
                  <a:schemeClr val="dk1"/>
                </a:solidFill>
                <a:latin typeface="Lexend"/>
                <a:ea typeface="Lexend"/>
                <a:cs typeface="Lexend"/>
                <a:sym typeface="Lexend"/>
              </a:rPr>
              <a:t>SGN: 46.62% tài xế không phát sinh hoạt động (124/266); nhóm Fail Online chiếm 23.68% (63 driver) là lỗi nổi bật nhất.</a:t>
            </a:r>
            <a:endParaRPr sz="800">
              <a:solidFill>
                <a:schemeClr val="dk1"/>
              </a:solidFill>
              <a:latin typeface="Lexend"/>
              <a:ea typeface="Lexend"/>
              <a:cs typeface="Lexend"/>
              <a:sym typeface="Lexend"/>
            </a:endParaRPr>
          </a:p>
          <a:p>
            <a:pPr marL="457200" lvl="0" indent="-279400" algn="l" rtl="0">
              <a:lnSpc>
                <a:spcPct val="115000"/>
              </a:lnSpc>
              <a:spcBef>
                <a:spcPts val="0"/>
              </a:spcBef>
              <a:spcAft>
                <a:spcPts val="0"/>
              </a:spcAft>
              <a:buClr>
                <a:schemeClr val="dk1"/>
              </a:buClr>
              <a:buSzPts val="800"/>
              <a:buFont typeface="Lexend"/>
              <a:buChar char="-"/>
            </a:pPr>
            <a:r>
              <a:rPr lang="en" sz="800">
                <a:solidFill>
                  <a:schemeClr val="dk1"/>
                </a:solidFill>
                <a:latin typeface="Lexend"/>
                <a:ea typeface="Lexend"/>
                <a:cs typeface="Lexend"/>
                <a:sym typeface="Lexend"/>
              </a:rPr>
              <a:t>Tổng số tài xế vi phạm tại HAN (862) cao hơn đáng kể so với SGN (266), cần ưu tiên xử lý nhóm không hoạt động tại HAN.</a:t>
            </a:r>
            <a:endParaRPr sz="800">
              <a:solidFill>
                <a:schemeClr val="dk1"/>
              </a:solidFill>
              <a:latin typeface="Lexend"/>
              <a:ea typeface="Lexend"/>
              <a:cs typeface="Lexend"/>
              <a:sym typeface="Lexend"/>
            </a:endParaRPr>
          </a:p>
          <a:p>
            <a:pPr marL="0" lvl="0" indent="0" algn="l" rtl="0">
              <a:lnSpc>
                <a:spcPct val="115000"/>
              </a:lnSpc>
              <a:spcBef>
                <a:spcPts val="0"/>
              </a:spcBef>
              <a:spcAft>
                <a:spcPts val="0"/>
              </a:spcAft>
              <a:buNone/>
            </a:pPr>
            <a:endParaRPr sz="800">
              <a:solidFill>
                <a:schemeClr val="dk1"/>
              </a:solidFill>
              <a:latin typeface="Lexend"/>
              <a:ea typeface="Lexend"/>
              <a:cs typeface="Lexend"/>
              <a:sym typeface="Lexend"/>
            </a:endParaRPr>
          </a:p>
          <a:p>
            <a:pPr marL="0" lvl="0" indent="0" algn="l" rtl="0">
              <a:lnSpc>
                <a:spcPct val="115000"/>
              </a:lnSpc>
              <a:spcBef>
                <a:spcPts val="0"/>
              </a:spcBef>
              <a:spcAft>
                <a:spcPts val="0"/>
              </a:spcAft>
              <a:buNone/>
            </a:pPr>
            <a:r>
              <a:rPr lang="en" sz="800">
                <a:solidFill>
                  <a:schemeClr val="dk1"/>
                </a:solidFill>
                <a:latin typeface="Lexend"/>
                <a:ea typeface="Lexend"/>
                <a:cs typeface="Lexend"/>
                <a:sym typeface="Lexend"/>
              </a:rPr>
              <a:t>👉</a:t>
            </a:r>
            <a:r>
              <a:rPr lang="en" sz="800" b="1">
                <a:solidFill>
                  <a:schemeClr val="dk1"/>
                </a:solidFill>
                <a:latin typeface="Lexend"/>
                <a:ea typeface="Lexend"/>
                <a:cs typeface="Lexend"/>
                <a:sym typeface="Lexend"/>
              </a:rPr>
              <a:t> </a:t>
            </a:r>
            <a:r>
              <a:rPr lang="en" sz="800" b="1">
                <a:solidFill>
                  <a:srgbClr val="FF6D01"/>
                </a:solidFill>
                <a:latin typeface="Lexend"/>
                <a:ea typeface="Lexend"/>
                <a:cs typeface="Lexend"/>
                <a:sym typeface="Lexend"/>
              </a:rPr>
              <a:t>Key takeaway</a:t>
            </a:r>
            <a:r>
              <a:rPr lang="en" sz="800">
                <a:solidFill>
                  <a:srgbClr val="FF6D01"/>
                </a:solidFill>
                <a:latin typeface="Lexend"/>
                <a:ea typeface="Lexend"/>
                <a:cs typeface="Lexend"/>
                <a:sym typeface="Lexend"/>
              </a:rPr>
              <a:t>:</a:t>
            </a:r>
            <a:r>
              <a:rPr lang="en" sz="800">
                <a:solidFill>
                  <a:schemeClr val="dk1"/>
                </a:solidFill>
                <a:latin typeface="Lexend"/>
                <a:ea typeface="Lexend"/>
                <a:cs typeface="Lexend"/>
                <a:sym typeface="Lexend"/>
              </a:rPr>
              <a:t> No Activity là nguyên nhân vi phạm chính tại HAN, trong khi SGN nổi bật ở nhóm Fail Online → cần có hướng xử lý khác nhau theo từng khu vực.</a:t>
            </a:r>
            <a:endParaRPr sz="800">
              <a:solidFill>
                <a:schemeClr val="dk1"/>
              </a:solidFill>
              <a:latin typeface="Lexend"/>
              <a:ea typeface="Lexend"/>
              <a:cs typeface="Lexend"/>
              <a:sym typeface="Lexend"/>
            </a:endParaRPr>
          </a:p>
          <a:p>
            <a:pPr marL="0" lvl="0" indent="0" algn="l" rtl="0">
              <a:lnSpc>
                <a:spcPct val="115000"/>
              </a:lnSpc>
              <a:spcBef>
                <a:spcPts val="0"/>
              </a:spcBef>
              <a:spcAft>
                <a:spcPts val="0"/>
              </a:spcAft>
              <a:buNone/>
            </a:pPr>
            <a:endParaRPr sz="800">
              <a:solidFill>
                <a:schemeClr val="dk1"/>
              </a:solidFill>
              <a:latin typeface="Lexend"/>
              <a:ea typeface="Lexend"/>
              <a:cs typeface="Lexend"/>
              <a:sym typeface="Lexend"/>
            </a:endParaRPr>
          </a:p>
          <a:p>
            <a:pPr marL="0" lvl="0" indent="0" algn="l" rtl="0">
              <a:lnSpc>
                <a:spcPct val="115000"/>
              </a:lnSpc>
              <a:spcBef>
                <a:spcPts val="0"/>
              </a:spcBef>
              <a:spcAft>
                <a:spcPts val="0"/>
              </a:spcAft>
              <a:buNone/>
            </a:pPr>
            <a:r>
              <a:rPr lang="en" sz="800" b="1">
                <a:solidFill>
                  <a:srgbClr val="FF6D01"/>
                </a:solidFill>
                <a:latin typeface="Lexend"/>
                <a:ea typeface="Lexend"/>
                <a:cs typeface="Lexend"/>
                <a:sym typeface="Lexend"/>
              </a:rPr>
              <a:t>NEXT ACTION</a:t>
            </a:r>
            <a:endParaRPr sz="800" b="1">
              <a:solidFill>
                <a:srgbClr val="FF6D01"/>
              </a:solidFill>
              <a:latin typeface="Lexend"/>
              <a:ea typeface="Lexend"/>
              <a:cs typeface="Lexend"/>
              <a:sym typeface="Lexend"/>
            </a:endParaRPr>
          </a:p>
          <a:p>
            <a:pPr marL="457200" lvl="0" indent="-279400" algn="l" rtl="0">
              <a:lnSpc>
                <a:spcPct val="115000"/>
              </a:lnSpc>
              <a:spcBef>
                <a:spcPts val="0"/>
              </a:spcBef>
              <a:spcAft>
                <a:spcPts val="0"/>
              </a:spcAft>
              <a:buClr>
                <a:schemeClr val="dk1"/>
              </a:buClr>
              <a:buSzPts val="800"/>
              <a:buFont typeface="Lexend"/>
              <a:buChar char="-"/>
            </a:pPr>
            <a:r>
              <a:rPr lang="en" sz="800">
                <a:solidFill>
                  <a:schemeClr val="dk1"/>
                </a:solidFill>
                <a:latin typeface="Lexend"/>
                <a:ea typeface="Lexend"/>
                <a:cs typeface="Lexend"/>
                <a:sym typeface="Lexend"/>
              </a:rPr>
              <a:t>HAN: Gửi list No Activity cho Đội trưởng → remind và rà soát nguyên nhân không hoạt động.</a:t>
            </a:r>
            <a:endParaRPr sz="800">
              <a:solidFill>
                <a:schemeClr val="dk1"/>
              </a:solidFill>
              <a:latin typeface="Lexend"/>
              <a:ea typeface="Lexend"/>
              <a:cs typeface="Lexend"/>
              <a:sym typeface="Lexend"/>
            </a:endParaRPr>
          </a:p>
          <a:p>
            <a:pPr marL="457200" lvl="0" indent="-279400" algn="l" rtl="0">
              <a:lnSpc>
                <a:spcPct val="115000"/>
              </a:lnSpc>
              <a:spcBef>
                <a:spcPts val="0"/>
              </a:spcBef>
              <a:spcAft>
                <a:spcPts val="0"/>
              </a:spcAft>
              <a:buClr>
                <a:schemeClr val="dk1"/>
              </a:buClr>
              <a:buSzPts val="800"/>
              <a:buFont typeface="Lexend"/>
              <a:buChar char="-"/>
            </a:pPr>
            <a:r>
              <a:rPr lang="en" sz="800">
                <a:solidFill>
                  <a:schemeClr val="dk1"/>
                </a:solidFill>
                <a:latin typeface="Lexend"/>
                <a:ea typeface="Lexend"/>
                <a:cs typeface="Lexend"/>
                <a:sym typeface="Lexend"/>
              </a:rPr>
              <a:t>SGN: Gửi cảnh báo nhóm Fail Online và các nhóm vi phạm Online/CR/STP → remind tiêu chuẩn hoạt động.</a:t>
            </a:r>
            <a:endParaRPr sz="800">
              <a:solidFill>
                <a:schemeClr val="dk1"/>
              </a:solidFill>
              <a:latin typeface="Lexend"/>
              <a:ea typeface="Lexend"/>
              <a:cs typeface="Lexend"/>
              <a:sym typeface="Lexend"/>
            </a:endParaRPr>
          </a:p>
          <a:p>
            <a:pPr marL="457200" lvl="0" indent="-279400" algn="l" rtl="0">
              <a:lnSpc>
                <a:spcPct val="115000"/>
              </a:lnSpc>
              <a:spcBef>
                <a:spcPts val="0"/>
              </a:spcBef>
              <a:spcAft>
                <a:spcPts val="0"/>
              </a:spcAft>
              <a:buClr>
                <a:schemeClr val="dk1"/>
              </a:buClr>
              <a:buSzPts val="800"/>
              <a:buFont typeface="Lexend"/>
              <a:buChar char="-"/>
            </a:pPr>
            <a:r>
              <a:rPr lang="en" sz="800">
                <a:solidFill>
                  <a:schemeClr val="dk1"/>
                </a:solidFill>
                <a:latin typeface="Lexend"/>
                <a:ea typeface="Lexend"/>
                <a:cs typeface="Lexend"/>
                <a:sym typeface="Lexend"/>
              </a:rPr>
              <a:t>Follow-up: Theo dõi tỷ lệ vi phạm sau remind và ưu tiên nhóm tái vi phạm.</a:t>
            </a:r>
            <a:endParaRPr sz="800">
              <a:solidFill>
                <a:schemeClr val="dk1"/>
              </a:solidFill>
              <a:latin typeface="Lexend"/>
              <a:ea typeface="Lexend"/>
              <a:cs typeface="Lexend"/>
              <a:sym typeface="Lexend"/>
            </a:endParaRPr>
          </a:p>
        </p:txBody>
      </p:sp>
      <p:sp>
        <p:nvSpPr>
          <p:cNvPr id="833" name="Google Shape;833;p63"/>
          <p:cNvSpPr/>
          <p:nvPr/>
        </p:nvSpPr>
        <p:spPr>
          <a:xfrm>
            <a:off x="6110148" y="1010700"/>
            <a:ext cx="47400" cy="4026900"/>
          </a:xfrm>
          <a:prstGeom prst="rect">
            <a:avLst/>
          </a:prstGeom>
          <a:solidFill>
            <a:srgbClr val="FF7F32"/>
          </a:solidFill>
          <a:ln>
            <a:noFill/>
          </a:ln>
        </p:spPr>
        <p:txBody>
          <a:bodyPr spcFirstLastPara="1" wrap="square" lIns="57925" tIns="57925" rIns="57925" bIns="57925" anchor="ctr" anchorCtr="0">
            <a:noAutofit/>
          </a:bodyPr>
          <a:lstStyle/>
          <a:p>
            <a:pPr marL="0" lvl="0" indent="0" algn="l" rtl="0">
              <a:spcBef>
                <a:spcPts val="0"/>
              </a:spcBef>
              <a:spcAft>
                <a:spcPts val="0"/>
              </a:spcAft>
              <a:buNone/>
            </a:pPr>
            <a:endParaRPr/>
          </a:p>
        </p:txBody>
      </p:sp>
      <p:pic>
        <p:nvPicPr>
          <p:cNvPr id="834" name="Google Shape;834;p63" title="Chart"/>
          <p:cNvPicPr preferRelativeResize="0"/>
          <p:nvPr/>
        </p:nvPicPr>
        <p:blipFill>
          <a:blip r:embed="rId4">
            <a:alphaModFix/>
          </a:blip>
          <a:stretch>
            <a:fillRect/>
          </a:stretch>
        </p:blipFill>
        <p:spPr>
          <a:xfrm>
            <a:off x="447375" y="1101897"/>
            <a:ext cx="6111823" cy="3777049"/>
          </a:xfrm>
          <a:prstGeom prst="rect">
            <a:avLst/>
          </a:prstGeom>
          <a:noFill/>
          <a:ln>
            <a:noFill/>
          </a:ln>
        </p:spPr>
      </p:pic>
      <p:sp>
        <p:nvSpPr>
          <p:cNvPr id="835" name="Google Shape;835;p63"/>
          <p:cNvSpPr txBox="1"/>
          <p:nvPr/>
        </p:nvSpPr>
        <p:spPr>
          <a:xfrm>
            <a:off x="1503175" y="4688975"/>
            <a:ext cx="1306200" cy="279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700" b="1">
                <a:latin typeface="Lexend"/>
                <a:ea typeface="Lexend"/>
                <a:cs typeface="Lexend"/>
                <a:sym typeface="Lexend"/>
              </a:rPr>
              <a:t>Total: 862 tài xế vi phạm</a:t>
            </a:r>
            <a:endParaRPr sz="700" b="1">
              <a:latin typeface="Lexend"/>
              <a:ea typeface="Lexend"/>
              <a:cs typeface="Lexend"/>
              <a:sym typeface="Lexend"/>
            </a:endParaRPr>
          </a:p>
        </p:txBody>
      </p:sp>
      <p:sp>
        <p:nvSpPr>
          <p:cNvPr id="836" name="Google Shape;836;p63"/>
          <p:cNvSpPr txBox="1"/>
          <p:nvPr/>
        </p:nvSpPr>
        <p:spPr>
          <a:xfrm>
            <a:off x="3399225" y="4688975"/>
            <a:ext cx="1306200" cy="2799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700" b="1">
                <a:latin typeface="Lexend"/>
                <a:ea typeface="Lexend"/>
                <a:cs typeface="Lexend"/>
                <a:sym typeface="Lexend"/>
              </a:rPr>
              <a:t>Total: 266 tài xế vi phạm</a:t>
            </a:r>
            <a:endParaRPr sz="700" b="1">
              <a:latin typeface="Lexend"/>
              <a:ea typeface="Lexend"/>
              <a:cs typeface="Lexend"/>
              <a:sym typeface="Lexend"/>
            </a:endParaRPr>
          </a:p>
        </p:txBody>
      </p:sp>
      <p:cxnSp>
        <p:nvCxnSpPr>
          <p:cNvPr id="837" name="Google Shape;837;p63"/>
          <p:cNvCxnSpPr/>
          <p:nvPr/>
        </p:nvCxnSpPr>
        <p:spPr>
          <a:xfrm>
            <a:off x="1742275" y="4035825"/>
            <a:ext cx="933000" cy="0"/>
          </a:xfrm>
          <a:prstGeom prst="straightConnector1">
            <a:avLst/>
          </a:prstGeom>
          <a:noFill/>
          <a:ln w="9525" cap="flat" cmpd="sng">
            <a:solidFill>
              <a:schemeClr val="dk2"/>
            </a:solidFill>
            <a:prstDash val="solid"/>
            <a:round/>
            <a:headEnd type="none" w="med" len="med"/>
            <a:tailEnd type="none" w="med" len="med"/>
          </a:ln>
        </p:spPr>
      </p:cxnSp>
      <p:cxnSp>
        <p:nvCxnSpPr>
          <p:cNvPr id="838" name="Google Shape;838;p63"/>
          <p:cNvCxnSpPr/>
          <p:nvPr/>
        </p:nvCxnSpPr>
        <p:spPr>
          <a:xfrm>
            <a:off x="1742275" y="4035825"/>
            <a:ext cx="0" cy="81600"/>
          </a:xfrm>
          <a:prstGeom prst="straightConnector1">
            <a:avLst/>
          </a:prstGeom>
          <a:noFill/>
          <a:ln w="9525" cap="flat" cmpd="sng">
            <a:solidFill>
              <a:schemeClr val="dk2"/>
            </a:solidFill>
            <a:prstDash val="solid"/>
            <a:round/>
            <a:headEnd type="none" w="med" len="med"/>
            <a:tailEnd type="none" w="med" len="med"/>
          </a:ln>
        </p:spPr>
      </p:cxnSp>
      <p:cxnSp>
        <p:nvCxnSpPr>
          <p:cNvPr id="839" name="Google Shape;839;p63"/>
          <p:cNvCxnSpPr/>
          <p:nvPr/>
        </p:nvCxnSpPr>
        <p:spPr>
          <a:xfrm>
            <a:off x="2670282" y="4042434"/>
            <a:ext cx="0" cy="81600"/>
          </a:xfrm>
          <a:prstGeom prst="straightConnector1">
            <a:avLst/>
          </a:prstGeom>
          <a:noFill/>
          <a:ln w="9525" cap="flat" cmpd="sng">
            <a:solidFill>
              <a:schemeClr val="dk2"/>
            </a:solidFill>
            <a:prstDash val="solid"/>
            <a:round/>
            <a:headEnd type="none" w="med" len="med"/>
            <a:tailEnd type="none" w="med" len="med"/>
          </a:ln>
        </p:spPr>
      </p:cxnSp>
      <p:cxnSp>
        <p:nvCxnSpPr>
          <p:cNvPr id="840" name="Google Shape;840;p63"/>
          <p:cNvCxnSpPr/>
          <p:nvPr/>
        </p:nvCxnSpPr>
        <p:spPr>
          <a:xfrm rot="10800000" flipH="1">
            <a:off x="3777500" y="4083225"/>
            <a:ext cx="798900" cy="5100"/>
          </a:xfrm>
          <a:prstGeom prst="straightConnector1">
            <a:avLst/>
          </a:prstGeom>
          <a:noFill/>
          <a:ln w="9525" cap="flat" cmpd="sng">
            <a:solidFill>
              <a:schemeClr val="dk2"/>
            </a:solidFill>
            <a:prstDash val="solid"/>
            <a:round/>
            <a:headEnd type="none" w="med" len="med"/>
            <a:tailEnd type="none" w="med" len="med"/>
          </a:ln>
        </p:spPr>
      </p:cxnSp>
      <p:cxnSp>
        <p:nvCxnSpPr>
          <p:cNvPr id="841" name="Google Shape;841;p63"/>
          <p:cNvCxnSpPr/>
          <p:nvPr/>
        </p:nvCxnSpPr>
        <p:spPr>
          <a:xfrm>
            <a:off x="3777378" y="4083225"/>
            <a:ext cx="0" cy="81600"/>
          </a:xfrm>
          <a:prstGeom prst="straightConnector1">
            <a:avLst/>
          </a:prstGeom>
          <a:noFill/>
          <a:ln w="9525" cap="flat" cmpd="sng">
            <a:solidFill>
              <a:schemeClr val="dk2"/>
            </a:solidFill>
            <a:prstDash val="solid"/>
            <a:round/>
            <a:headEnd type="none" w="med" len="med"/>
            <a:tailEnd type="none" w="med" len="med"/>
          </a:ln>
        </p:spPr>
      </p:cxnSp>
      <p:cxnSp>
        <p:nvCxnSpPr>
          <p:cNvPr id="842" name="Google Shape;842;p63"/>
          <p:cNvCxnSpPr/>
          <p:nvPr/>
        </p:nvCxnSpPr>
        <p:spPr>
          <a:xfrm>
            <a:off x="4572050" y="4089078"/>
            <a:ext cx="0" cy="81600"/>
          </a:xfrm>
          <a:prstGeom prst="straightConnector1">
            <a:avLst/>
          </a:prstGeom>
          <a:noFill/>
          <a:ln w="9525" cap="flat" cmpd="sng">
            <a:solidFill>
              <a:schemeClr val="dk2"/>
            </a:solidFill>
            <a:prstDash val="solid"/>
            <a:round/>
            <a:headEnd type="none" w="med" len="med"/>
            <a:tailEnd type="none" w="med" len="med"/>
          </a:ln>
        </p:spPr>
      </p:cxnSp>
      <p:sp>
        <p:nvSpPr>
          <p:cNvPr id="843" name="Google Shape;843;p63"/>
          <p:cNvSpPr txBox="1"/>
          <p:nvPr/>
        </p:nvSpPr>
        <p:spPr>
          <a:xfrm>
            <a:off x="1320925" y="1275060"/>
            <a:ext cx="516000" cy="134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700">
                <a:solidFill>
                  <a:srgbClr val="EF4444"/>
                </a:solidFill>
                <a:latin typeface="Lexend"/>
                <a:ea typeface="Lexend"/>
                <a:cs typeface="Lexend"/>
                <a:sym typeface="Lexend"/>
              </a:rPr>
              <a:t>86.89%</a:t>
            </a:r>
            <a:endParaRPr sz="700">
              <a:solidFill>
                <a:srgbClr val="EF4444"/>
              </a:solidFill>
              <a:latin typeface="Lexend"/>
              <a:ea typeface="Lexend"/>
              <a:cs typeface="Lexend"/>
              <a:sym typeface="Lexend"/>
            </a:endParaRPr>
          </a:p>
        </p:txBody>
      </p:sp>
      <p:sp>
        <p:nvSpPr>
          <p:cNvPr id="844" name="Google Shape;844;p63"/>
          <p:cNvSpPr txBox="1"/>
          <p:nvPr/>
        </p:nvSpPr>
        <p:spPr>
          <a:xfrm>
            <a:off x="1950775" y="3844025"/>
            <a:ext cx="516000" cy="134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700">
                <a:solidFill>
                  <a:srgbClr val="EF4444"/>
                </a:solidFill>
                <a:latin typeface="Lexend"/>
                <a:ea typeface="Lexend"/>
                <a:cs typeface="Lexend"/>
                <a:sym typeface="Lexend"/>
              </a:rPr>
              <a:t>13.11%</a:t>
            </a:r>
            <a:endParaRPr sz="700">
              <a:solidFill>
                <a:srgbClr val="EF4444"/>
              </a:solidFill>
              <a:latin typeface="Lexend"/>
              <a:ea typeface="Lexend"/>
              <a:cs typeface="Lexend"/>
              <a:sym typeface="Lexend"/>
            </a:endParaRPr>
          </a:p>
        </p:txBody>
      </p:sp>
      <p:sp>
        <p:nvSpPr>
          <p:cNvPr id="845" name="Google Shape;845;p63"/>
          <p:cNvSpPr txBox="1"/>
          <p:nvPr/>
        </p:nvSpPr>
        <p:spPr>
          <a:xfrm>
            <a:off x="3191520" y="3884049"/>
            <a:ext cx="516000" cy="134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600">
                <a:solidFill>
                  <a:srgbClr val="EF4444"/>
                </a:solidFill>
                <a:latin typeface="Lexend"/>
                <a:ea typeface="Lexend"/>
                <a:cs typeface="Lexend"/>
                <a:sym typeface="Lexend"/>
              </a:rPr>
              <a:t>46.62%</a:t>
            </a:r>
            <a:endParaRPr sz="600">
              <a:solidFill>
                <a:srgbClr val="EF4444"/>
              </a:solidFill>
              <a:latin typeface="Lexend"/>
              <a:ea typeface="Lexend"/>
              <a:cs typeface="Lexend"/>
              <a:sym typeface="Lexend"/>
            </a:endParaRPr>
          </a:p>
        </p:txBody>
      </p:sp>
      <p:sp>
        <p:nvSpPr>
          <p:cNvPr id="846" name="Google Shape;846;p63"/>
          <p:cNvSpPr txBox="1"/>
          <p:nvPr/>
        </p:nvSpPr>
        <p:spPr>
          <a:xfrm>
            <a:off x="3918950" y="3901425"/>
            <a:ext cx="516000" cy="134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700">
                <a:solidFill>
                  <a:srgbClr val="EF4444"/>
                </a:solidFill>
                <a:latin typeface="Lexend"/>
                <a:ea typeface="Lexend"/>
                <a:cs typeface="Lexend"/>
                <a:sym typeface="Lexend"/>
              </a:rPr>
              <a:t>26.7%</a:t>
            </a:r>
            <a:endParaRPr sz="700">
              <a:solidFill>
                <a:srgbClr val="EF4444"/>
              </a:solidFill>
              <a:latin typeface="Lexend"/>
              <a:ea typeface="Lexend"/>
              <a:cs typeface="Lexend"/>
              <a:sym typeface="Lexend"/>
            </a:endParaRPr>
          </a:p>
        </p:txBody>
      </p:sp>
      <p:sp>
        <p:nvSpPr>
          <p:cNvPr id="847" name="Google Shape;847;p63"/>
          <p:cNvSpPr txBox="1"/>
          <p:nvPr/>
        </p:nvSpPr>
        <p:spPr>
          <a:xfrm>
            <a:off x="3396405" y="4147250"/>
            <a:ext cx="516000" cy="134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600">
                <a:solidFill>
                  <a:srgbClr val="EF4444"/>
                </a:solidFill>
                <a:latin typeface="Lexend"/>
                <a:ea typeface="Lexend"/>
                <a:cs typeface="Lexend"/>
                <a:sym typeface="Lexend"/>
              </a:rPr>
              <a:t>23.68%</a:t>
            </a:r>
            <a:endParaRPr sz="600">
              <a:solidFill>
                <a:srgbClr val="EF4444"/>
              </a:solidFill>
              <a:latin typeface="Lexend"/>
              <a:ea typeface="Lexend"/>
              <a:cs typeface="Lexend"/>
              <a:sym typeface="Lexend"/>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15"/>
        <p:cNvGrpSpPr/>
        <p:nvPr/>
      </p:nvGrpSpPr>
      <p:grpSpPr>
        <a:xfrm>
          <a:off x="0" y="0"/>
          <a:ext cx="0" cy="0"/>
          <a:chOff x="0" y="0"/>
          <a:chExt cx="0" cy="0"/>
        </a:xfrm>
      </p:grpSpPr>
      <p:pic>
        <p:nvPicPr>
          <p:cNvPr id="916" name="Google Shape;916;p67" descr="preencoded.png"/>
          <p:cNvPicPr preferRelativeResize="0"/>
          <p:nvPr/>
        </p:nvPicPr>
        <p:blipFill rotWithShape="1">
          <a:blip r:embed="rId3">
            <a:alphaModFix/>
          </a:blip>
          <a:srcRect/>
          <a:stretch/>
        </p:blipFill>
        <p:spPr>
          <a:xfrm>
            <a:off x="353635" y="118845"/>
            <a:ext cx="274320" cy="274320"/>
          </a:xfrm>
          <a:prstGeom prst="rect">
            <a:avLst/>
          </a:prstGeom>
          <a:noFill/>
          <a:ln>
            <a:noFill/>
          </a:ln>
        </p:spPr>
      </p:pic>
      <p:sp>
        <p:nvSpPr>
          <p:cNvPr id="917" name="Google Shape;917;p67"/>
          <p:cNvSpPr/>
          <p:nvPr/>
        </p:nvSpPr>
        <p:spPr>
          <a:xfrm>
            <a:off x="719395" y="45693"/>
            <a:ext cx="7315200" cy="411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E4174"/>
              </a:buClr>
              <a:buSzPts val="2200"/>
              <a:buFont typeface="Calibri"/>
              <a:buNone/>
            </a:pPr>
            <a:r>
              <a:rPr lang="en" sz="2200" b="1" i="0" u="none" strike="noStrike" cap="none">
                <a:solidFill>
                  <a:srgbClr val="0E4174"/>
                </a:solidFill>
                <a:latin typeface="Lexend"/>
                <a:ea typeface="Lexend"/>
                <a:cs typeface="Lexend"/>
                <a:sym typeface="Lexend"/>
              </a:rPr>
              <a:t>MiniHub</a:t>
            </a:r>
            <a:r>
              <a:rPr lang="en" sz="2200" b="1">
                <a:solidFill>
                  <a:srgbClr val="0E4174"/>
                </a:solidFill>
                <a:latin typeface="Lexend"/>
                <a:ea typeface="Lexend"/>
                <a:cs typeface="Lexend"/>
                <a:sym typeface="Lexend"/>
              </a:rPr>
              <a:t> Leader</a:t>
            </a:r>
            <a:endParaRPr sz="2200" b="1" i="0" u="none" strike="noStrike" cap="none">
              <a:solidFill>
                <a:srgbClr val="F56C1F"/>
              </a:solidFill>
              <a:latin typeface="Lexend"/>
              <a:ea typeface="Lexend"/>
              <a:cs typeface="Lexend"/>
              <a:sym typeface="Lexend"/>
            </a:endParaRPr>
          </a:p>
        </p:txBody>
      </p:sp>
      <p:sp>
        <p:nvSpPr>
          <p:cNvPr id="918" name="Google Shape;918;p67"/>
          <p:cNvSpPr/>
          <p:nvPr/>
        </p:nvSpPr>
        <p:spPr>
          <a:xfrm>
            <a:off x="0" y="0"/>
            <a:ext cx="9144000" cy="73200"/>
          </a:xfrm>
          <a:prstGeom prst="rect">
            <a:avLst/>
          </a:prstGeom>
          <a:solidFill>
            <a:srgbClr val="FF7F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9" name="Google Shape;919;p67"/>
          <p:cNvSpPr/>
          <p:nvPr/>
        </p:nvSpPr>
        <p:spPr>
          <a:xfrm>
            <a:off x="5486395" y="45700"/>
            <a:ext cx="3657600" cy="27420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94A3B8"/>
              </a:buClr>
              <a:buSzPts val="700"/>
              <a:buFont typeface="Calibri"/>
              <a:buNone/>
            </a:pPr>
            <a:r>
              <a:rPr lang="en" sz="700" b="0" i="1" u="none" strike="noStrike" cap="none">
                <a:solidFill>
                  <a:srgbClr val="94A3B8"/>
                </a:solidFill>
                <a:latin typeface="Calibri"/>
                <a:ea typeface="Calibri"/>
                <a:cs typeface="Calibri"/>
                <a:sym typeface="Calibri"/>
              </a:rPr>
              <a:t>Ahamove — Driver Management | Confidential</a:t>
            </a:r>
            <a:endParaRPr sz="700" b="0" i="0" u="none" strike="noStrike" cap="none">
              <a:solidFill>
                <a:schemeClr val="dk1"/>
              </a:solidFill>
              <a:latin typeface="Calibri"/>
              <a:ea typeface="Calibri"/>
              <a:cs typeface="Calibri"/>
              <a:sym typeface="Calibri"/>
            </a:endParaRPr>
          </a:p>
        </p:txBody>
      </p:sp>
      <p:sp>
        <p:nvSpPr>
          <p:cNvPr id="920" name="Google Shape;920;p67"/>
          <p:cNvSpPr/>
          <p:nvPr/>
        </p:nvSpPr>
        <p:spPr>
          <a:xfrm>
            <a:off x="25325" y="680500"/>
            <a:ext cx="4555500" cy="4411200"/>
          </a:xfrm>
          <a:prstGeom prst="rect">
            <a:avLst/>
          </a:prstGeom>
          <a:solidFill>
            <a:srgbClr val="FFFFFF"/>
          </a:solidFill>
          <a:ln w="8550" cap="flat" cmpd="sng">
            <a:solidFill>
              <a:srgbClr val="E2E8F0"/>
            </a:solidFill>
            <a:prstDash val="solid"/>
            <a:round/>
            <a:headEnd type="none" w="sm" len="sm"/>
            <a:tailEnd type="none" w="sm" len="sm"/>
          </a:ln>
          <a:effectLst>
            <a:outerShdw blurRad="68332" dist="22777" dir="8100000" algn="bl" rotWithShape="0">
              <a:srgbClr val="000000">
                <a:alpha val="10200"/>
              </a:srgbClr>
            </a:outerShdw>
          </a:effectLst>
        </p:spPr>
        <p:txBody>
          <a:bodyPr spcFirstLastPara="1" wrap="square" lIns="81975" tIns="81975" rIns="81975" bIns="81975" anchor="ctr" anchorCtr="0">
            <a:noAutofit/>
          </a:bodyPr>
          <a:lstStyle/>
          <a:p>
            <a:pPr marL="0" lvl="0" indent="0" algn="l" rtl="0">
              <a:spcBef>
                <a:spcPts val="0"/>
              </a:spcBef>
              <a:spcAft>
                <a:spcPts val="0"/>
              </a:spcAft>
              <a:buNone/>
            </a:pPr>
            <a:endParaRPr sz="1255"/>
          </a:p>
        </p:txBody>
      </p:sp>
      <p:sp>
        <p:nvSpPr>
          <p:cNvPr id="921" name="Google Shape;921;p67"/>
          <p:cNvSpPr/>
          <p:nvPr/>
        </p:nvSpPr>
        <p:spPr>
          <a:xfrm>
            <a:off x="4692200" y="673100"/>
            <a:ext cx="4345800" cy="4418400"/>
          </a:xfrm>
          <a:prstGeom prst="rect">
            <a:avLst/>
          </a:prstGeom>
          <a:solidFill>
            <a:srgbClr val="FFFFFF"/>
          </a:solidFill>
          <a:ln w="8550" cap="flat" cmpd="sng">
            <a:solidFill>
              <a:srgbClr val="E2E8F0"/>
            </a:solidFill>
            <a:prstDash val="solid"/>
            <a:round/>
            <a:headEnd type="none" w="sm" len="sm"/>
            <a:tailEnd type="none" w="sm" len="sm"/>
          </a:ln>
          <a:effectLst>
            <a:outerShdw blurRad="68332" dist="22777" dir="8100000" algn="bl" rotWithShape="0">
              <a:srgbClr val="000000">
                <a:alpha val="10200"/>
              </a:srgbClr>
            </a:outerShdw>
          </a:effectLst>
        </p:spPr>
        <p:txBody>
          <a:bodyPr spcFirstLastPara="1" wrap="square" lIns="81975" tIns="81975" rIns="81975" bIns="81975" anchor="ctr" anchorCtr="0">
            <a:noAutofit/>
          </a:bodyPr>
          <a:lstStyle/>
          <a:p>
            <a:pPr marL="0" lvl="0" indent="0" algn="l" rtl="0">
              <a:spcBef>
                <a:spcPts val="0"/>
              </a:spcBef>
              <a:spcAft>
                <a:spcPts val="0"/>
              </a:spcAft>
              <a:buNone/>
            </a:pPr>
            <a:endParaRPr sz="1255"/>
          </a:p>
        </p:txBody>
      </p:sp>
      <p:sp>
        <p:nvSpPr>
          <p:cNvPr id="922" name="Google Shape;922;p67"/>
          <p:cNvSpPr txBox="1"/>
          <p:nvPr/>
        </p:nvSpPr>
        <p:spPr>
          <a:xfrm>
            <a:off x="70313" y="375675"/>
            <a:ext cx="8046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b="1">
                <a:solidFill>
                  <a:srgbClr val="F56C1F"/>
                </a:solidFill>
                <a:latin typeface="Lexend"/>
                <a:ea typeface="Lexend"/>
                <a:cs typeface="Lexend"/>
                <a:sym typeface="Lexend"/>
              </a:rPr>
              <a:t>HAN</a:t>
            </a:r>
            <a:endParaRPr sz="1200"/>
          </a:p>
        </p:txBody>
      </p:sp>
      <p:sp>
        <p:nvSpPr>
          <p:cNvPr id="923" name="Google Shape;923;p67"/>
          <p:cNvSpPr txBox="1"/>
          <p:nvPr/>
        </p:nvSpPr>
        <p:spPr>
          <a:xfrm>
            <a:off x="4692063" y="375675"/>
            <a:ext cx="8046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b="1">
                <a:solidFill>
                  <a:srgbClr val="F56C1F"/>
                </a:solidFill>
                <a:latin typeface="Lexend"/>
                <a:ea typeface="Lexend"/>
                <a:cs typeface="Lexend"/>
                <a:sym typeface="Lexend"/>
              </a:rPr>
              <a:t>SGN</a:t>
            </a:r>
            <a:endParaRPr sz="1200"/>
          </a:p>
        </p:txBody>
      </p:sp>
      <p:sp>
        <p:nvSpPr>
          <p:cNvPr id="924" name="Google Shape;924;p67"/>
          <p:cNvSpPr txBox="1"/>
          <p:nvPr/>
        </p:nvSpPr>
        <p:spPr>
          <a:xfrm>
            <a:off x="43700" y="633025"/>
            <a:ext cx="3000000" cy="354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00" b="1">
                <a:solidFill>
                  <a:srgbClr val="4C7DA4"/>
                </a:solidFill>
                <a:latin typeface="Lexend"/>
                <a:ea typeface="Lexend"/>
                <a:cs typeface="Lexend"/>
                <a:sym typeface="Lexend"/>
              </a:rPr>
              <a:t>Overview KPIs</a:t>
            </a:r>
            <a:endParaRPr sz="1100">
              <a:solidFill>
                <a:srgbClr val="0E4174"/>
              </a:solidFill>
              <a:latin typeface="Lexend"/>
              <a:ea typeface="Lexend"/>
              <a:cs typeface="Lexend"/>
              <a:sym typeface="Lexend"/>
            </a:endParaRPr>
          </a:p>
        </p:txBody>
      </p:sp>
      <p:sp>
        <p:nvSpPr>
          <p:cNvPr id="925" name="Google Shape;925;p67"/>
          <p:cNvSpPr txBox="1"/>
          <p:nvPr/>
        </p:nvSpPr>
        <p:spPr>
          <a:xfrm>
            <a:off x="4692200" y="619241"/>
            <a:ext cx="3000000" cy="354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00" b="1">
                <a:solidFill>
                  <a:srgbClr val="4C7DA4"/>
                </a:solidFill>
                <a:latin typeface="Lexend"/>
                <a:ea typeface="Lexend"/>
                <a:cs typeface="Lexend"/>
                <a:sym typeface="Lexend"/>
              </a:rPr>
              <a:t>Overview KPIs</a:t>
            </a:r>
            <a:endParaRPr sz="1100">
              <a:solidFill>
                <a:srgbClr val="0E4174"/>
              </a:solidFill>
              <a:latin typeface="Lexend"/>
              <a:ea typeface="Lexend"/>
              <a:cs typeface="Lexend"/>
              <a:sym typeface="Lexend"/>
            </a:endParaRPr>
          </a:p>
        </p:txBody>
      </p:sp>
      <p:sp>
        <p:nvSpPr>
          <p:cNvPr id="926" name="Google Shape;926;p67"/>
          <p:cNvSpPr txBox="1"/>
          <p:nvPr/>
        </p:nvSpPr>
        <p:spPr>
          <a:xfrm>
            <a:off x="4739825" y="3185825"/>
            <a:ext cx="4210200" cy="1957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800" b="1">
                <a:solidFill>
                  <a:srgbClr val="FF6D01"/>
                </a:solidFill>
                <a:latin typeface="Lexend"/>
                <a:ea typeface="Lexend"/>
                <a:cs typeface="Lexend"/>
                <a:sym typeface="Lexend"/>
              </a:rPr>
              <a:t>HIGHLIGHT:</a:t>
            </a:r>
            <a:endParaRPr sz="800" b="1">
              <a:solidFill>
                <a:srgbClr val="FF6D01"/>
              </a:solidFill>
              <a:latin typeface="Lexend"/>
              <a:ea typeface="Lexend"/>
              <a:cs typeface="Lexend"/>
              <a:sym typeface="Lexend"/>
            </a:endParaRPr>
          </a:p>
          <a:p>
            <a:pPr marL="457200" lvl="0" indent="-279400" algn="l" rtl="0">
              <a:lnSpc>
                <a:spcPct val="115000"/>
              </a:lnSpc>
              <a:spcBef>
                <a:spcPts val="0"/>
              </a:spcBef>
              <a:spcAft>
                <a:spcPts val="0"/>
              </a:spcAft>
              <a:buSzPts val="800"/>
              <a:buFont typeface="Lexend"/>
              <a:buChar char="-"/>
            </a:pPr>
            <a:r>
              <a:rPr lang="en" sz="800">
                <a:latin typeface="Lexend"/>
                <a:ea typeface="Lexend"/>
                <a:cs typeface="Lexend"/>
                <a:sym typeface="Lexend"/>
              </a:rPr>
              <a:t>Active và Online rate duy trì tăng trưởng tốt, Checkin rate giảm nhẹ 1.19%, giảm mạnh ở Avg shift hour với 5.51%</a:t>
            </a:r>
            <a:endParaRPr sz="800">
              <a:latin typeface="Lexend"/>
              <a:ea typeface="Lexend"/>
              <a:cs typeface="Lexend"/>
              <a:sym typeface="Lexend"/>
            </a:endParaRPr>
          </a:p>
          <a:p>
            <a:pPr marL="457200" lvl="0" indent="-279400" algn="l" rtl="0">
              <a:lnSpc>
                <a:spcPct val="115000"/>
              </a:lnSpc>
              <a:spcBef>
                <a:spcPts val="0"/>
              </a:spcBef>
              <a:spcAft>
                <a:spcPts val="0"/>
              </a:spcAft>
              <a:buSzPts val="800"/>
              <a:buFont typeface="Lexend"/>
              <a:buChar char="-"/>
            </a:pPr>
            <a:r>
              <a:rPr lang="en" sz="800">
                <a:latin typeface="Lexend"/>
                <a:ea typeface="Lexend"/>
                <a:cs typeface="Lexend"/>
                <a:sym typeface="Lexend"/>
              </a:rPr>
              <a:t>Performance zone 2 (có ĐT) tốt hơn trung bình các zone còn lại của city</a:t>
            </a:r>
            <a:endParaRPr sz="800">
              <a:latin typeface="Lexend"/>
              <a:ea typeface="Lexend"/>
              <a:cs typeface="Lexend"/>
              <a:sym typeface="Lexend"/>
            </a:endParaRPr>
          </a:p>
          <a:p>
            <a:pPr marL="0" lvl="0" indent="0" algn="l" rtl="0">
              <a:lnSpc>
                <a:spcPct val="115000"/>
              </a:lnSpc>
              <a:spcBef>
                <a:spcPts val="0"/>
              </a:spcBef>
              <a:spcAft>
                <a:spcPts val="0"/>
              </a:spcAft>
              <a:buNone/>
            </a:pPr>
            <a:endParaRPr sz="800">
              <a:latin typeface="Lexend"/>
              <a:ea typeface="Lexend"/>
              <a:cs typeface="Lexend"/>
              <a:sym typeface="Lexend"/>
            </a:endParaRPr>
          </a:p>
          <a:p>
            <a:pPr marL="0" lvl="0" indent="0" algn="l" rtl="0">
              <a:lnSpc>
                <a:spcPct val="115000"/>
              </a:lnSpc>
              <a:spcBef>
                <a:spcPts val="0"/>
              </a:spcBef>
              <a:spcAft>
                <a:spcPts val="0"/>
              </a:spcAft>
              <a:buNone/>
            </a:pPr>
            <a:r>
              <a:rPr lang="en" sz="800" b="1">
                <a:solidFill>
                  <a:srgbClr val="FF6F00"/>
                </a:solidFill>
                <a:latin typeface="Lexend"/>
                <a:ea typeface="Lexend"/>
                <a:cs typeface="Lexend"/>
                <a:sym typeface="Lexend"/>
              </a:rPr>
              <a:t>NEXT ACTION:</a:t>
            </a:r>
            <a:endParaRPr sz="800" b="1">
              <a:solidFill>
                <a:srgbClr val="FF6F00"/>
              </a:solidFill>
              <a:latin typeface="Lexend"/>
              <a:ea typeface="Lexend"/>
              <a:cs typeface="Lexend"/>
              <a:sym typeface="Lexend"/>
            </a:endParaRPr>
          </a:p>
          <a:p>
            <a:pPr marL="457200" lvl="0" indent="-279400" algn="l" rtl="0">
              <a:lnSpc>
                <a:spcPct val="115000"/>
              </a:lnSpc>
              <a:spcBef>
                <a:spcPts val="0"/>
              </a:spcBef>
              <a:spcAft>
                <a:spcPts val="0"/>
              </a:spcAft>
              <a:buSzPts val="800"/>
              <a:buFont typeface="Lexend"/>
              <a:buChar char="-"/>
            </a:pPr>
            <a:r>
              <a:rPr lang="en" sz="800">
                <a:latin typeface="Lexend"/>
                <a:ea typeface="Lexend"/>
                <a:cs typeface="Lexend"/>
                <a:sym typeface="Lexend"/>
              </a:rPr>
              <a:t>Lọc DS tài xế low performance</a:t>
            </a:r>
            <a:endParaRPr sz="800">
              <a:latin typeface="Lexend"/>
              <a:ea typeface="Lexend"/>
              <a:cs typeface="Lexend"/>
              <a:sym typeface="Lexend"/>
            </a:endParaRPr>
          </a:p>
          <a:p>
            <a:pPr marL="457200" lvl="0" indent="-279400" algn="l" rtl="0">
              <a:lnSpc>
                <a:spcPct val="115000"/>
              </a:lnSpc>
              <a:spcBef>
                <a:spcPts val="0"/>
              </a:spcBef>
              <a:spcAft>
                <a:spcPts val="0"/>
              </a:spcAft>
              <a:buSzPts val="800"/>
              <a:buFont typeface="Lexend"/>
              <a:buChar char="-"/>
            </a:pPr>
            <a:r>
              <a:rPr lang="en" sz="800">
                <a:latin typeface="Lexend"/>
                <a:ea typeface="Lexend"/>
                <a:cs typeface="Lexend"/>
                <a:sym typeface="Lexend"/>
              </a:rPr>
              <a:t>Maintain online rate, checkin rate, kéo checkin rate, avg shift hour</a:t>
            </a:r>
            <a:endParaRPr sz="800">
              <a:latin typeface="Lexend"/>
              <a:ea typeface="Lexend"/>
              <a:cs typeface="Lexend"/>
              <a:sym typeface="Lexend"/>
            </a:endParaRPr>
          </a:p>
          <a:p>
            <a:pPr marL="0" lvl="0" indent="0" algn="l" rtl="0">
              <a:lnSpc>
                <a:spcPct val="115000"/>
              </a:lnSpc>
              <a:spcBef>
                <a:spcPts val="0"/>
              </a:spcBef>
              <a:spcAft>
                <a:spcPts val="0"/>
              </a:spcAft>
              <a:buNone/>
            </a:pPr>
            <a:endParaRPr sz="800">
              <a:latin typeface="Lexend"/>
              <a:ea typeface="Lexend"/>
              <a:cs typeface="Lexend"/>
              <a:sym typeface="Lexend"/>
            </a:endParaRPr>
          </a:p>
          <a:p>
            <a:pPr marL="0" lvl="0" indent="0" algn="l" rtl="0">
              <a:lnSpc>
                <a:spcPct val="115000"/>
              </a:lnSpc>
              <a:spcBef>
                <a:spcPts val="0"/>
              </a:spcBef>
              <a:spcAft>
                <a:spcPts val="0"/>
              </a:spcAft>
              <a:buNone/>
            </a:pPr>
            <a:r>
              <a:rPr lang="en" sz="800" b="1">
                <a:solidFill>
                  <a:srgbClr val="FF6F00"/>
                </a:solidFill>
                <a:latin typeface="Lexend"/>
                <a:ea typeface="Lexend"/>
                <a:cs typeface="Lexend"/>
                <a:sym typeface="Lexend"/>
              </a:rPr>
              <a:t>DRIVER VOICE:</a:t>
            </a:r>
            <a:endParaRPr sz="800" b="1">
              <a:solidFill>
                <a:srgbClr val="FF6F00"/>
              </a:solidFill>
              <a:latin typeface="Lexend"/>
              <a:ea typeface="Lexend"/>
              <a:cs typeface="Lexend"/>
              <a:sym typeface="Lexend"/>
            </a:endParaRPr>
          </a:p>
          <a:p>
            <a:pPr marL="457200" lvl="0" indent="-279400" algn="l" rtl="0">
              <a:lnSpc>
                <a:spcPct val="115000"/>
              </a:lnSpc>
              <a:spcBef>
                <a:spcPts val="0"/>
              </a:spcBef>
              <a:spcAft>
                <a:spcPts val="0"/>
              </a:spcAft>
              <a:buSzPts val="800"/>
              <a:buFont typeface="Lexend"/>
              <a:buChar char="-"/>
            </a:pPr>
            <a:r>
              <a:rPr lang="en" sz="800">
                <a:latin typeface="Lexend"/>
                <a:ea typeface="Lexend"/>
                <a:cs typeface="Lexend"/>
                <a:sym typeface="Lexend"/>
              </a:rPr>
              <a:t>Tiêu chí số giờ online trong bộ tiêu chuẩn hoạt động khá gắt (&gt;80%)</a:t>
            </a:r>
            <a:endParaRPr sz="800">
              <a:latin typeface="Lexend"/>
              <a:ea typeface="Lexend"/>
              <a:cs typeface="Lexend"/>
              <a:sym typeface="Lexend"/>
            </a:endParaRPr>
          </a:p>
          <a:p>
            <a:pPr marL="457200" lvl="0" indent="-279400" algn="l" rtl="0">
              <a:lnSpc>
                <a:spcPct val="115000"/>
              </a:lnSpc>
              <a:spcBef>
                <a:spcPts val="0"/>
              </a:spcBef>
              <a:spcAft>
                <a:spcPts val="0"/>
              </a:spcAft>
              <a:buSzPts val="800"/>
              <a:buFont typeface="Lexend"/>
              <a:buChar char="-"/>
            </a:pPr>
            <a:r>
              <a:rPr lang="en" sz="800">
                <a:latin typeface="Lexend"/>
                <a:ea typeface="Lexend"/>
                <a:cs typeface="Lexend"/>
                <a:sym typeface="Lexend"/>
              </a:rPr>
              <a:t>Hiệu suất hoạt động chưa được improve</a:t>
            </a:r>
            <a:endParaRPr sz="800">
              <a:latin typeface="Lexend"/>
              <a:ea typeface="Lexend"/>
              <a:cs typeface="Lexend"/>
              <a:sym typeface="Lexend"/>
            </a:endParaRPr>
          </a:p>
        </p:txBody>
      </p:sp>
      <p:graphicFrame>
        <p:nvGraphicFramePr>
          <p:cNvPr id="927" name="Google Shape;927;p67"/>
          <p:cNvGraphicFramePr/>
          <p:nvPr/>
        </p:nvGraphicFramePr>
        <p:xfrm>
          <a:off x="88513" y="901550"/>
          <a:ext cx="4429125" cy="2122107"/>
        </p:xfrm>
        <a:graphic>
          <a:graphicData uri="http://schemas.openxmlformats.org/drawingml/2006/table">
            <a:tbl>
              <a:tblPr>
                <a:noFill/>
                <a:tableStyleId>{BD4DB973-2F49-4540-A1CC-0EE3EA8BBFB3}</a:tableStyleId>
              </a:tblPr>
              <a:tblGrid>
                <a:gridCol w="733425">
                  <a:extLst>
                    <a:ext uri="{9D8B030D-6E8A-4147-A177-3AD203B41FA5}">
                      <a16:colId xmlns:a16="http://schemas.microsoft.com/office/drawing/2014/main" val="20000"/>
                    </a:ext>
                  </a:extLst>
                </a:gridCol>
                <a:gridCol w="447675">
                  <a:extLst>
                    <a:ext uri="{9D8B030D-6E8A-4147-A177-3AD203B41FA5}">
                      <a16:colId xmlns:a16="http://schemas.microsoft.com/office/drawing/2014/main" val="20001"/>
                    </a:ext>
                  </a:extLst>
                </a:gridCol>
                <a:gridCol w="447675">
                  <a:extLst>
                    <a:ext uri="{9D8B030D-6E8A-4147-A177-3AD203B41FA5}">
                      <a16:colId xmlns:a16="http://schemas.microsoft.com/office/drawing/2014/main" val="20002"/>
                    </a:ext>
                  </a:extLst>
                </a:gridCol>
                <a:gridCol w="504825">
                  <a:extLst>
                    <a:ext uri="{9D8B030D-6E8A-4147-A177-3AD203B41FA5}">
                      <a16:colId xmlns:a16="http://schemas.microsoft.com/office/drawing/2014/main" val="20003"/>
                    </a:ext>
                  </a:extLst>
                </a:gridCol>
                <a:gridCol w="447675">
                  <a:extLst>
                    <a:ext uri="{9D8B030D-6E8A-4147-A177-3AD203B41FA5}">
                      <a16:colId xmlns:a16="http://schemas.microsoft.com/office/drawing/2014/main" val="20004"/>
                    </a:ext>
                  </a:extLst>
                </a:gridCol>
                <a:gridCol w="447675">
                  <a:extLst>
                    <a:ext uri="{9D8B030D-6E8A-4147-A177-3AD203B41FA5}">
                      <a16:colId xmlns:a16="http://schemas.microsoft.com/office/drawing/2014/main" val="20005"/>
                    </a:ext>
                  </a:extLst>
                </a:gridCol>
                <a:gridCol w="447675">
                  <a:extLst>
                    <a:ext uri="{9D8B030D-6E8A-4147-A177-3AD203B41FA5}">
                      <a16:colId xmlns:a16="http://schemas.microsoft.com/office/drawing/2014/main" val="20006"/>
                    </a:ext>
                  </a:extLst>
                </a:gridCol>
                <a:gridCol w="504825">
                  <a:extLst>
                    <a:ext uri="{9D8B030D-6E8A-4147-A177-3AD203B41FA5}">
                      <a16:colId xmlns:a16="http://schemas.microsoft.com/office/drawing/2014/main" val="20007"/>
                    </a:ext>
                  </a:extLst>
                </a:gridCol>
                <a:gridCol w="447675">
                  <a:extLst>
                    <a:ext uri="{9D8B030D-6E8A-4147-A177-3AD203B41FA5}">
                      <a16:colId xmlns:a16="http://schemas.microsoft.com/office/drawing/2014/main" val="20008"/>
                    </a:ext>
                  </a:extLst>
                </a:gridCol>
              </a:tblGrid>
              <a:tr h="137100">
                <a:tc rowSpan="2">
                  <a:txBody>
                    <a:bodyPr/>
                    <a:lstStyle/>
                    <a:p>
                      <a:pPr marL="0" lvl="0" indent="0" algn="ctr" rtl="0">
                        <a:lnSpc>
                          <a:spcPct val="115000"/>
                        </a:lnSpc>
                        <a:spcBef>
                          <a:spcPts val="0"/>
                        </a:spcBef>
                        <a:spcAft>
                          <a:spcPts val="0"/>
                        </a:spcAft>
                        <a:buNone/>
                      </a:pPr>
                      <a:r>
                        <a:rPr lang="en" sz="1300" b="1">
                          <a:solidFill>
                            <a:srgbClr val="FF6D01"/>
                          </a:solidFill>
                          <a:latin typeface="Lexend"/>
                          <a:ea typeface="Lexend"/>
                          <a:cs typeface="Lexend"/>
                          <a:sym typeface="Lexend"/>
                        </a:rPr>
                        <a:t>Week</a:t>
                      </a:r>
                      <a:endParaRPr sz="1300" b="1">
                        <a:solidFill>
                          <a:srgbClr val="FF6D01"/>
                        </a:solidFill>
                        <a:latin typeface="Lexend"/>
                        <a:ea typeface="Lexend"/>
                        <a:cs typeface="Lexend"/>
                        <a:sym typeface="Lexend"/>
                      </a:endParaRPr>
                    </a:p>
                  </a:txBody>
                  <a:tcPr marL="28575" marR="28575" marT="19050" marB="19050" anchor="ctr">
                    <a:lnL w="11900" cap="flat" cmpd="sng">
                      <a:solidFill>
                        <a:srgbClr val="FFFFFF"/>
                      </a:solidFill>
                      <a:prstDash val="solid"/>
                      <a:round/>
                      <a:headEnd type="none" w="sm" len="sm"/>
                      <a:tailEnd type="none" w="sm" len="sm"/>
                    </a:lnL>
                    <a:lnR w="11900" cap="flat" cmpd="sng">
                      <a:solidFill>
                        <a:srgbClr val="FFFFFF"/>
                      </a:solidFill>
                      <a:prstDash val="solid"/>
                      <a:round/>
                      <a:headEnd type="none" w="sm" len="sm"/>
                      <a:tailEnd type="none" w="sm" len="sm"/>
                    </a:lnR>
                    <a:lnT w="11900" cap="flat" cmpd="sng">
                      <a:solidFill>
                        <a:srgbClr val="FFFFFF"/>
                      </a:solidFill>
                      <a:prstDash val="solid"/>
                      <a:round/>
                      <a:headEnd type="none" w="sm" len="sm"/>
                      <a:tailEnd type="none" w="sm" len="sm"/>
                    </a:lnT>
                    <a:lnB w="11900" cap="flat" cmpd="sng">
                      <a:solidFill>
                        <a:srgbClr val="FFFFFF"/>
                      </a:solidFill>
                      <a:prstDash val="solid"/>
                      <a:round/>
                      <a:headEnd type="none" w="sm" len="sm"/>
                      <a:tailEnd type="none" w="sm" len="sm"/>
                    </a:lnB>
                    <a:solidFill>
                      <a:srgbClr val="FCE5CD"/>
                    </a:solidFill>
                  </a:tcPr>
                </a:tc>
                <a:tc gridSpan="4">
                  <a:txBody>
                    <a:bodyPr/>
                    <a:lstStyle/>
                    <a:p>
                      <a:pPr marL="0" lvl="0" indent="0" algn="ctr" rtl="0">
                        <a:lnSpc>
                          <a:spcPct val="115000"/>
                        </a:lnSpc>
                        <a:spcBef>
                          <a:spcPts val="0"/>
                        </a:spcBef>
                        <a:spcAft>
                          <a:spcPts val="0"/>
                        </a:spcAft>
                        <a:buNone/>
                      </a:pPr>
                      <a:r>
                        <a:rPr lang="en" sz="1000" b="1"/>
                        <a:t>Z2&amp;Z4</a:t>
                      </a:r>
                      <a:endParaRPr sz="1000" b="1"/>
                    </a:p>
                  </a:txBody>
                  <a:tcPr marL="28575" marR="28575" marT="19050" marB="19050" anchor="b">
                    <a:lnL w="11900" cap="flat" cmpd="sng">
                      <a:solidFill>
                        <a:srgbClr val="FFFFFF"/>
                      </a:solidFill>
                      <a:prstDash val="solid"/>
                      <a:round/>
                      <a:headEnd type="none" w="sm" len="sm"/>
                      <a:tailEnd type="none" w="sm" len="sm"/>
                    </a:lnL>
                    <a:lnR w="11900" cap="flat" cmpd="sng">
                      <a:solidFill>
                        <a:srgbClr val="FFFFFF"/>
                      </a:solidFill>
                      <a:prstDash val="solid"/>
                      <a:round/>
                      <a:headEnd type="none" w="sm" len="sm"/>
                      <a:tailEnd type="none" w="sm" len="sm"/>
                    </a:lnR>
                    <a:lnT w="11900" cap="flat" cmpd="sng">
                      <a:solidFill>
                        <a:srgbClr val="FFFFFF"/>
                      </a:solidFill>
                      <a:prstDash val="solid"/>
                      <a:round/>
                      <a:headEnd type="none" w="sm" len="sm"/>
                      <a:tailEnd type="none" w="sm" len="sm"/>
                    </a:lnT>
                    <a:lnB w="11900" cap="flat" cmpd="sng">
                      <a:solidFill>
                        <a:srgbClr val="FFFFFF"/>
                      </a:solidFill>
                      <a:prstDash val="solid"/>
                      <a:round/>
                      <a:headEnd type="none" w="sm" len="sm"/>
                      <a:tailEnd type="none" w="sm" len="sm"/>
                    </a:lnB>
                    <a:solidFill>
                      <a:srgbClr val="FCE5CD"/>
                    </a:solidFill>
                  </a:tcPr>
                </a:tc>
                <a:tc hMerge="1">
                  <a:txBody>
                    <a:bodyPr/>
                    <a:lstStyle/>
                    <a:p>
                      <a:endParaRPr lang="en-VN"/>
                    </a:p>
                  </a:txBody>
                  <a:tcPr/>
                </a:tc>
                <a:tc hMerge="1">
                  <a:txBody>
                    <a:bodyPr/>
                    <a:lstStyle/>
                    <a:p>
                      <a:endParaRPr lang="en-VN"/>
                    </a:p>
                  </a:txBody>
                  <a:tcPr/>
                </a:tc>
                <a:tc hMerge="1">
                  <a:txBody>
                    <a:bodyPr/>
                    <a:lstStyle/>
                    <a:p>
                      <a:endParaRPr lang="en-VN"/>
                    </a:p>
                  </a:txBody>
                  <a:tcPr/>
                </a:tc>
                <a:tc gridSpan="4">
                  <a:txBody>
                    <a:bodyPr/>
                    <a:lstStyle/>
                    <a:p>
                      <a:pPr marL="0" lvl="0" indent="0" algn="ctr" rtl="0">
                        <a:lnSpc>
                          <a:spcPct val="115000"/>
                        </a:lnSpc>
                        <a:spcBef>
                          <a:spcPts val="0"/>
                        </a:spcBef>
                        <a:spcAft>
                          <a:spcPts val="0"/>
                        </a:spcAft>
                        <a:buNone/>
                      </a:pPr>
                      <a:r>
                        <a:rPr lang="en" sz="1000" b="1"/>
                        <a:t>Z136</a:t>
                      </a:r>
                      <a:endParaRPr sz="1000" b="1"/>
                    </a:p>
                  </a:txBody>
                  <a:tcPr marL="28575" marR="28575" marT="19050" marB="19050" anchor="b">
                    <a:lnL w="11900" cap="flat" cmpd="sng">
                      <a:solidFill>
                        <a:srgbClr val="FFFFFF"/>
                      </a:solidFill>
                      <a:prstDash val="solid"/>
                      <a:round/>
                      <a:headEnd type="none" w="sm" len="sm"/>
                      <a:tailEnd type="none" w="sm" len="sm"/>
                    </a:lnL>
                    <a:lnR w="11900" cap="flat" cmpd="sng">
                      <a:solidFill>
                        <a:srgbClr val="FFFFFF"/>
                      </a:solidFill>
                      <a:prstDash val="solid"/>
                      <a:round/>
                      <a:headEnd type="none" w="sm" len="sm"/>
                      <a:tailEnd type="none" w="sm" len="sm"/>
                    </a:lnR>
                    <a:lnT w="11900" cap="flat" cmpd="sng">
                      <a:solidFill>
                        <a:srgbClr val="FFFFFF"/>
                      </a:solidFill>
                      <a:prstDash val="solid"/>
                      <a:round/>
                      <a:headEnd type="none" w="sm" len="sm"/>
                      <a:tailEnd type="none" w="sm" len="sm"/>
                    </a:lnT>
                    <a:lnB w="11900" cap="flat" cmpd="sng">
                      <a:solidFill>
                        <a:srgbClr val="FFFFFF"/>
                      </a:solidFill>
                      <a:prstDash val="solid"/>
                      <a:round/>
                      <a:headEnd type="none" w="sm" len="sm"/>
                      <a:tailEnd type="none" w="sm" len="sm"/>
                    </a:lnB>
                    <a:solidFill>
                      <a:srgbClr val="FCE5CD"/>
                    </a:solidFill>
                  </a:tcPr>
                </a:tc>
                <a:tc hMerge="1">
                  <a:txBody>
                    <a:bodyPr/>
                    <a:lstStyle/>
                    <a:p>
                      <a:endParaRPr lang="en-VN"/>
                    </a:p>
                  </a:txBody>
                  <a:tcPr/>
                </a:tc>
                <a:tc hMerge="1">
                  <a:txBody>
                    <a:bodyPr/>
                    <a:lstStyle/>
                    <a:p>
                      <a:endParaRPr lang="en-VN"/>
                    </a:p>
                  </a:txBody>
                  <a:tcPr/>
                </a:tc>
                <a:tc hMerge="1">
                  <a:txBody>
                    <a:bodyPr/>
                    <a:lstStyle/>
                    <a:p>
                      <a:endParaRPr lang="en-VN"/>
                    </a:p>
                  </a:txBody>
                  <a:tcPr/>
                </a:tc>
                <a:extLst>
                  <a:ext uri="{0D108BD9-81ED-4DB2-BD59-A6C34878D82A}">
                    <a16:rowId xmlns:a16="http://schemas.microsoft.com/office/drawing/2014/main" val="10000"/>
                  </a:ext>
                </a:extLst>
              </a:tr>
              <a:tr h="285750">
                <a:tc vMerge="1">
                  <a:txBody>
                    <a:bodyPr/>
                    <a:lstStyle/>
                    <a:p>
                      <a:endParaRPr lang="en-VN"/>
                    </a:p>
                  </a:txBody>
                  <a:tcPr/>
                </a:tc>
                <a:tc>
                  <a:txBody>
                    <a:bodyPr/>
                    <a:lstStyle/>
                    <a:p>
                      <a:pPr marL="0" lvl="0" indent="0" algn="ctr" rtl="0">
                        <a:lnSpc>
                          <a:spcPct val="115000"/>
                        </a:lnSpc>
                        <a:spcBef>
                          <a:spcPts val="0"/>
                        </a:spcBef>
                        <a:spcAft>
                          <a:spcPts val="0"/>
                        </a:spcAft>
                        <a:buNone/>
                      </a:pPr>
                      <a:r>
                        <a:rPr lang="en" sz="800" b="1">
                          <a:solidFill>
                            <a:srgbClr val="FF6D01"/>
                          </a:solidFill>
                          <a:latin typeface="Lexend"/>
                          <a:ea typeface="Lexend"/>
                          <a:cs typeface="Lexend"/>
                          <a:sym typeface="Lexend"/>
                        </a:rPr>
                        <a:t>Active</a:t>
                      </a:r>
                      <a:endParaRPr sz="800" b="1">
                        <a:solidFill>
                          <a:srgbClr val="FF6D01"/>
                        </a:solidFill>
                        <a:latin typeface="Lexend"/>
                        <a:ea typeface="Lexend"/>
                        <a:cs typeface="Lexend"/>
                        <a:sym typeface="Lexend"/>
                      </a:endParaRPr>
                    </a:p>
                  </a:txBody>
                  <a:tcPr marL="28575" marR="28575" marT="19050" marB="19050" anchor="ctr">
                    <a:lnL w="11900" cap="flat" cmpd="sng">
                      <a:solidFill>
                        <a:srgbClr val="FFFFFF"/>
                      </a:solidFill>
                      <a:prstDash val="solid"/>
                      <a:round/>
                      <a:headEnd type="none" w="sm" len="sm"/>
                      <a:tailEnd type="none" w="sm" len="sm"/>
                    </a:lnL>
                    <a:lnR w="11900" cap="flat" cmpd="sng">
                      <a:solidFill>
                        <a:srgbClr val="FFFFFF"/>
                      </a:solidFill>
                      <a:prstDash val="solid"/>
                      <a:round/>
                      <a:headEnd type="none" w="sm" len="sm"/>
                      <a:tailEnd type="none" w="sm" len="sm"/>
                    </a:lnR>
                    <a:lnT w="11900" cap="flat" cmpd="sng">
                      <a:solidFill>
                        <a:srgbClr val="FFFFFF"/>
                      </a:solidFill>
                      <a:prstDash val="solid"/>
                      <a:round/>
                      <a:headEnd type="none" w="sm" len="sm"/>
                      <a:tailEnd type="none" w="sm" len="sm"/>
                    </a:lnT>
                    <a:lnB w="11900" cap="flat" cmpd="sng">
                      <a:solidFill>
                        <a:srgbClr val="FFFFFF"/>
                      </a:solidFill>
                      <a:prstDash val="solid"/>
                      <a:round/>
                      <a:headEnd type="none" w="sm" len="sm"/>
                      <a:tailEnd type="none" w="sm" len="sm"/>
                    </a:lnB>
                    <a:solidFill>
                      <a:srgbClr val="FCE5CD"/>
                    </a:solidFill>
                  </a:tcPr>
                </a:tc>
                <a:tc>
                  <a:txBody>
                    <a:bodyPr/>
                    <a:lstStyle/>
                    <a:p>
                      <a:pPr marL="0" lvl="0" indent="0" algn="ctr" rtl="0">
                        <a:lnSpc>
                          <a:spcPct val="115000"/>
                        </a:lnSpc>
                        <a:spcBef>
                          <a:spcPts val="0"/>
                        </a:spcBef>
                        <a:spcAft>
                          <a:spcPts val="0"/>
                        </a:spcAft>
                        <a:buNone/>
                      </a:pPr>
                      <a:r>
                        <a:rPr lang="en" sz="800" b="1">
                          <a:solidFill>
                            <a:srgbClr val="FF6D01"/>
                          </a:solidFill>
                          <a:latin typeface="Lexend"/>
                          <a:ea typeface="Lexend"/>
                          <a:cs typeface="Lexend"/>
                          <a:sym typeface="Lexend"/>
                        </a:rPr>
                        <a:t>Shift Hour</a:t>
                      </a:r>
                      <a:endParaRPr sz="800" b="1">
                        <a:solidFill>
                          <a:srgbClr val="FF6D01"/>
                        </a:solidFill>
                        <a:latin typeface="Lexend"/>
                        <a:ea typeface="Lexend"/>
                        <a:cs typeface="Lexend"/>
                        <a:sym typeface="Lexend"/>
                      </a:endParaRPr>
                    </a:p>
                  </a:txBody>
                  <a:tcPr marL="28575" marR="28575" marT="19050" marB="19050" anchor="ctr">
                    <a:lnL w="11900" cap="flat" cmpd="sng">
                      <a:solidFill>
                        <a:srgbClr val="FFFFFF"/>
                      </a:solidFill>
                      <a:prstDash val="solid"/>
                      <a:round/>
                      <a:headEnd type="none" w="sm" len="sm"/>
                      <a:tailEnd type="none" w="sm" len="sm"/>
                    </a:lnL>
                    <a:lnR w="11900" cap="flat" cmpd="sng">
                      <a:solidFill>
                        <a:srgbClr val="FFFFFF"/>
                      </a:solidFill>
                      <a:prstDash val="solid"/>
                      <a:round/>
                      <a:headEnd type="none" w="sm" len="sm"/>
                      <a:tailEnd type="none" w="sm" len="sm"/>
                    </a:lnR>
                    <a:lnT w="11900" cap="flat" cmpd="sng">
                      <a:solidFill>
                        <a:srgbClr val="FFFFFF"/>
                      </a:solidFill>
                      <a:prstDash val="solid"/>
                      <a:round/>
                      <a:headEnd type="none" w="sm" len="sm"/>
                      <a:tailEnd type="none" w="sm" len="sm"/>
                    </a:lnT>
                    <a:lnB w="11900" cap="flat" cmpd="sng">
                      <a:solidFill>
                        <a:srgbClr val="FFFFFF"/>
                      </a:solidFill>
                      <a:prstDash val="solid"/>
                      <a:round/>
                      <a:headEnd type="none" w="sm" len="sm"/>
                      <a:tailEnd type="none" w="sm" len="sm"/>
                    </a:lnB>
                    <a:solidFill>
                      <a:srgbClr val="FCE5CD"/>
                    </a:solidFill>
                  </a:tcPr>
                </a:tc>
                <a:tc>
                  <a:txBody>
                    <a:bodyPr/>
                    <a:lstStyle/>
                    <a:p>
                      <a:pPr marL="0" lvl="0" indent="0" algn="ctr" rtl="0">
                        <a:lnSpc>
                          <a:spcPct val="115000"/>
                        </a:lnSpc>
                        <a:spcBef>
                          <a:spcPts val="0"/>
                        </a:spcBef>
                        <a:spcAft>
                          <a:spcPts val="0"/>
                        </a:spcAft>
                        <a:buNone/>
                      </a:pPr>
                      <a:r>
                        <a:rPr lang="en" sz="800" b="1">
                          <a:solidFill>
                            <a:srgbClr val="FF6D01"/>
                          </a:solidFill>
                          <a:latin typeface="Lexend"/>
                          <a:ea typeface="Lexend"/>
                          <a:cs typeface="Lexend"/>
                          <a:sym typeface="Lexend"/>
                        </a:rPr>
                        <a:t>Checkin rate</a:t>
                      </a:r>
                      <a:endParaRPr sz="800" b="1">
                        <a:solidFill>
                          <a:srgbClr val="FF6D01"/>
                        </a:solidFill>
                        <a:latin typeface="Lexend"/>
                        <a:ea typeface="Lexend"/>
                        <a:cs typeface="Lexend"/>
                        <a:sym typeface="Lexend"/>
                      </a:endParaRPr>
                    </a:p>
                  </a:txBody>
                  <a:tcPr marL="28575" marR="28575" marT="19050" marB="19050" anchor="ctr">
                    <a:lnL w="11900" cap="flat" cmpd="sng">
                      <a:solidFill>
                        <a:srgbClr val="FFFFFF"/>
                      </a:solidFill>
                      <a:prstDash val="solid"/>
                      <a:round/>
                      <a:headEnd type="none" w="sm" len="sm"/>
                      <a:tailEnd type="none" w="sm" len="sm"/>
                    </a:lnL>
                    <a:lnR w="11900" cap="flat" cmpd="sng">
                      <a:solidFill>
                        <a:srgbClr val="FFFFFF"/>
                      </a:solidFill>
                      <a:prstDash val="solid"/>
                      <a:round/>
                      <a:headEnd type="none" w="sm" len="sm"/>
                      <a:tailEnd type="none" w="sm" len="sm"/>
                    </a:lnR>
                    <a:lnT w="11900" cap="flat" cmpd="sng">
                      <a:solidFill>
                        <a:srgbClr val="FFFFFF"/>
                      </a:solidFill>
                      <a:prstDash val="solid"/>
                      <a:round/>
                      <a:headEnd type="none" w="sm" len="sm"/>
                      <a:tailEnd type="none" w="sm" len="sm"/>
                    </a:lnT>
                    <a:lnB w="11900" cap="flat" cmpd="sng">
                      <a:solidFill>
                        <a:srgbClr val="FFFFFF"/>
                      </a:solidFill>
                      <a:prstDash val="solid"/>
                      <a:round/>
                      <a:headEnd type="none" w="sm" len="sm"/>
                      <a:tailEnd type="none" w="sm" len="sm"/>
                    </a:lnB>
                    <a:solidFill>
                      <a:srgbClr val="FCE5CD"/>
                    </a:solidFill>
                  </a:tcPr>
                </a:tc>
                <a:tc>
                  <a:txBody>
                    <a:bodyPr/>
                    <a:lstStyle/>
                    <a:p>
                      <a:pPr marL="0" lvl="0" indent="0" algn="ctr" rtl="0">
                        <a:lnSpc>
                          <a:spcPct val="115000"/>
                        </a:lnSpc>
                        <a:spcBef>
                          <a:spcPts val="0"/>
                        </a:spcBef>
                        <a:spcAft>
                          <a:spcPts val="0"/>
                        </a:spcAft>
                        <a:buNone/>
                      </a:pPr>
                      <a:r>
                        <a:rPr lang="en" sz="800" b="1">
                          <a:solidFill>
                            <a:srgbClr val="FF6D01"/>
                          </a:solidFill>
                          <a:latin typeface="Lexend"/>
                          <a:ea typeface="Lexend"/>
                          <a:cs typeface="Lexend"/>
                          <a:sym typeface="Lexend"/>
                        </a:rPr>
                        <a:t>Online rate</a:t>
                      </a:r>
                      <a:endParaRPr sz="800" b="1">
                        <a:solidFill>
                          <a:srgbClr val="FF6D01"/>
                        </a:solidFill>
                        <a:latin typeface="Lexend"/>
                        <a:ea typeface="Lexend"/>
                        <a:cs typeface="Lexend"/>
                        <a:sym typeface="Lexend"/>
                      </a:endParaRPr>
                    </a:p>
                  </a:txBody>
                  <a:tcPr marL="28575" marR="28575" marT="19050" marB="19050" anchor="ctr">
                    <a:lnL w="11900" cap="flat" cmpd="sng">
                      <a:solidFill>
                        <a:srgbClr val="FFFFFF"/>
                      </a:solidFill>
                      <a:prstDash val="solid"/>
                      <a:round/>
                      <a:headEnd type="none" w="sm" len="sm"/>
                      <a:tailEnd type="none" w="sm" len="sm"/>
                    </a:lnL>
                    <a:lnR w="11900" cap="flat" cmpd="sng">
                      <a:solidFill>
                        <a:srgbClr val="FFFFFF"/>
                      </a:solidFill>
                      <a:prstDash val="solid"/>
                      <a:round/>
                      <a:headEnd type="none" w="sm" len="sm"/>
                      <a:tailEnd type="none" w="sm" len="sm"/>
                    </a:lnR>
                    <a:lnT w="11900" cap="flat" cmpd="sng">
                      <a:solidFill>
                        <a:srgbClr val="FFFFFF"/>
                      </a:solidFill>
                      <a:prstDash val="solid"/>
                      <a:round/>
                      <a:headEnd type="none" w="sm" len="sm"/>
                      <a:tailEnd type="none" w="sm" len="sm"/>
                    </a:lnT>
                    <a:lnB w="11900" cap="flat" cmpd="sng">
                      <a:solidFill>
                        <a:srgbClr val="FFFFFF"/>
                      </a:solidFill>
                      <a:prstDash val="solid"/>
                      <a:round/>
                      <a:headEnd type="none" w="sm" len="sm"/>
                      <a:tailEnd type="none" w="sm" len="sm"/>
                    </a:lnB>
                    <a:solidFill>
                      <a:srgbClr val="FCE5CD"/>
                    </a:solidFill>
                  </a:tcPr>
                </a:tc>
                <a:tc>
                  <a:txBody>
                    <a:bodyPr/>
                    <a:lstStyle/>
                    <a:p>
                      <a:pPr marL="0" lvl="0" indent="0" algn="ctr" rtl="0">
                        <a:lnSpc>
                          <a:spcPct val="115000"/>
                        </a:lnSpc>
                        <a:spcBef>
                          <a:spcPts val="0"/>
                        </a:spcBef>
                        <a:spcAft>
                          <a:spcPts val="0"/>
                        </a:spcAft>
                        <a:buNone/>
                      </a:pPr>
                      <a:r>
                        <a:rPr lang="en" sz="800" b="1">
                          <a:solidFill>
                            <a:srgbClr val="FF6D01"/>
                          </a:solidFill>
                          <a:latin typeface="Lexend"/>
                          <a:ea typeface="Lexend"/>
                          <a:cs typeface="Lexend"/>
                          <a:sym typeface="Lexend"/>
                        </a:rPr>
                        <a:t>Active</a:t>
                      </a:r>
                      <a:endParaRPr sz="800" b="1">
                        <a:solidFill>
                          <a:srgbClr val="FF6D01"/>
                        </a:solidFill>
                        <a:latin typeface="Lexend"/>
                        <a:ea typeface="Lexend"/>
                        <a:cs typeface="Lexend"/>
                        <a:sym typeface="Lexend"/>
                      </a:endParaRPr>
                    </a:p>
                  </a:txBody>
                  <a:tcPr marL="28575" marR="28575" marT="19050" marB="19050" anchor="ctr">
                    <a:lnL w="11900" cap="flat" cmpd="sng">
                      <a:solidFill>
                        <a:srgbClr val="FFFFFF"/>
                      </a:solidFill>
                      <a:prstDash val="solid"/>
                      <a:round/>
                      <a:headEnd type="none" w="sm" len="sm"/>
                      <a:tailEnd type="none" w="sm" len="sm"/>
                    </a:lnL>
                    <a:lnR w="11900" cap="flat" cmpd="sng">
                      <a:solidFill>
                        <a:srgbClr val="FFFFFF"/>
                      </a:solidFill>
                      <a:prstDash val="solid"/>
                      <a:round/>
                      <a:headEnd type="none" w="sm" len="sm"/>
                      <a:tailEnd type="none" w="sm" len="sm"/>
                    </a:lnR>
                    <a:lnT w="11900" cap="flat" cmpd="sng">
                      <a:solidFill>
                        <a:srgbClr val="FFFFFF"/>
                      </a:solidFill>
                      <a:prstDash val="solid"/>
                      <a:round/>
                      <a:headEnd type="none" w="sm" len="sm"/>
                      <a:tailEnd type="none" w="sm" len="sm"/>
                    </a:lnT>
                    <a:lnB w="11900" cap="flat" cmpd="sng">
                      <a:solidFill>
                        <a:srgbClr val="FFFFFF"/>
                      </a:solidFill>
                      <a:prstDash val="solid"/>
                      <a:round/>
                      <a:headEnd type="none" w="sm" len="sm"/>
                      <a:tailEnd type="none" w="sm" len="sm"/>
                    </a:lnB>
                    <a:solidFill>
                      <a:srgbClr val="FCE5CD"/>
                    </a:solidFill>
                  </a:tcPr>
                </a:tc>
                <a:tc>
                  <a:txBody>
                    <a:bodyPr/>
                    <a:lstStyle/>
                    <a:p>
                      <a:pPr marL="0" lvl="0" indent="0" algn="ctr" rtl="0">
                        <a:lnSpc>
                          <a:spcPct val="115000"/>
                        </a:lnSpc>
                        <a:spcBef>
                          <a:spcPts val="0"/>
                        </a:spcBef>
                        <a:spcAft>
                          <a:spcPts val="0"/>
                        </a:spcAft>
                        <a:buNone/>
                      </a:pPr>
                      <a:r>
                        <a:rPr lang="en" sz="800" b="1">
                          <a:solidFill>
                            <a:srgbClr val="FF6D01"/>
                          </a:solidFill>
                          <a:latin typeface="Lexend"/>
                          <a:ea typeface="Lexend"/>
                          <a:cs typeface="Lexend"/>
                          <a:sym typeface="Lexend"/>
                        </a:rPr>
                        <a:t>Shift Hour</a:t>
                      </a:r>
                      <a:endParaRPr sz="800" b="1">
                        <a:solidFill>
                          <a:srgbClr val="FF6D01"/>
                        </a:solidFill>
                        <a:latin typeface="Lexend"/>
                        <a:ea typeface="Lexend"/>
                        <a:cs typeface="Lexend"/>
                        <a:sym typeface="Lexend"/>
                      </a:endParaRPr>
                    </a:p>
                  </a:txBody>
                  <a:tcPr marL="28575" marR="28575" marT="19050" marB="19050" anchor="ctr">
                    <a:lnL w="11900" cap="flat" cmpd="sng">
                      <a:solidFill>
                        <a:srgbClr val="FFFFFF"/>
                      </a:solidFill>
                      <a:prstDash val="solid"/>
                      <a:round/>
                      <a:headEnd type="none" w="sm" len="sm"/>
                      <a:tailEnd type="none" w="sm" len="sm"/>
                    </a:lnL>
                    <a:lnR w="11900" cap="flat" cmpd="sng">
                      <a:solidFill>
                        <a:srgbClr val="FFFFFF"/>
                      </a:solidFill>
                      <a:prstDash val="solid"/>
                      <a:round/>
                      <a:headEnd type="none" w="sm" len="sm"/>
                      <a:tailEnd type="none" w="sm" len="sm"/>
                    </a:lnR>
                    <a:lnT w="11900" cap="flat" cmpd="sng">
                      <a:solidFill>
                        <a:srgbClr val="FFFFFF"/>
                      </a:solidFill>
                      <a:prstDash val="solid"/>
                      <a:round/>
                      <a:headEnd type="none" w="sm" len="sm"/>
                      <a:tailEnd type="none" w="sm" len="sm"/>
                    </a:lnT>
                    <a:lnB w="11900" cap="flat" cmpd="sng">
                      <a:solidFill>
                        <a:srgbClr val="FFFFFF"/>
                      </a:solidFill>
                      <a:prstDash val="solid"/>
                      <a:round/>
                      <a:headEnd type="none" w="sm" len="sm"/>
                      <a:tailEnd type="none" w="sm" len="sm"/>
                    </a:lnB>
                    <a:solidFill>
                      <a:srgbClr val="FCE5CD"/>
                    </a:solidFill>
                  </a:tcPr>
                </a:tc>
                <a:tc>
                  <a:txBody>
                    <a:bodyPr/>
                    <a:lstStyle/>
                    <a:p>
                      <a:pPr marL="0" lvl="0" indent="0" algn="ctr" rtl="0">
                        <a:lnSpc>
                          <a:spcPct val="115000"/>
                        </a:lnSpc>
                        <a:spcBef>
                          <a:spcPts val="0"/>
                        </a:spcBef>
                        <a:spcAft>
                          <a:spcPts val="0"/>
                        </a:spcAft>
                        <a:buNone/>
                      </a:pPr>
                      <a:r>
                        <a:rPr lang="en" sz="800" b="1">
                          <a:solidFill>
                            <a:srgbClr val="FF6D01"/>
                          </a:solidFill>
                          <a:latin typeface="Lexend"/>
                          <a:ea typeface="Lexend"/>
                          <a:cs typeface="Lexend"/>
                          <a:sym typeface="Lexend"/>
                        </a:rPr>
                        <a:t>Checkin rate</a:t>
                      </a:r>
                      <a:endParaRPr sz="800" b="1">
                        <a:solidFill>
                          <a:srgbClr val="FF6D01"/>
                        </a:solidFill>
                        <a:latin typeface="Lexend"/>
                        <a:ea typeface="Lexend"/>
                        <a:cs typeface="Lexend"/>
                        <a:sym typeface="Lexend"/>
                      </a:endParaRPr>
                    </a:p>
                  </a:txBody>
                  <a:tcPr marL="28575" marR="28575" marT="19050" marB="19050" anchor="ctr">
                    <a:lnL w="11900" cap="flat" cmpd="sng">
                      <a:solidFill>
                        <a:srgbClr val="FFFFFF"/>
                      </a:solidFill>
                      <a:prstDash val="solid"/>
                      <a:round/>
                      <a:headEnd type="none" w="sm" len="sm"/>
                      <a:tailEnd type="none" w="sm" len="sm"/>
                    </a:lnL>
                    <a:lnR w="11900" cap="flat" cmpd="sng">
                      <a:solidFill>
                        <a:srgbClr val="FFFFFF"/>
                      </a:solidFill>
                      <a:prstDash val="solid"/>
                      <a:round/>
                      <a:headEnd type="none" w="sm" len="sm"/>
                      <a:tailEnd type="none" w="sm" len="sm"/>
                    </a:lnR>
                    <a:lnT w="11900" cap="flat" cmpd="sng">
                      <a:solidFill>
                        <a:srgbClr val="FFFFFF"/>
                      </a:solidFill>
                      <a:prstDash val="solid"/>
                      <a:round/>
                      <a:headEnd type="none" w="sm" len="sm"/>
                      <a:tailEnd type="none" w="sm" len="sm"/>
                    </a:lnT>
                    <a:lnB w="11900" cap="flat" cmpd="sng">
                      <a:solidFill>
                        <a:srgbClr val="FFFFFF"/>
                      </a:solidFill>
                      <a:prstDash val="solid"/>
                      <a:round/>
                      <a:headEnd type="none" w="sm" len="sm"/>
                      <a:tailEnd type="none" w="sm" len="sm"/>
                    </a:lnB>
                    <a:solidFill>
                      <a:srgbClr val="FCE5CD"/>
                    </a:solidFill>
                  </a:tcPr>
                </a:tc>
                <a:tc>
                  <a:txBody>
                    <a:bodyPr/>
                    <a:lstStyle/>
                    <a:p>
                      <a:pPr marL="0" lvl="0" indent="0" algn="ctr" rtl="0">
                        <a:lnSpc>
                          <a:spcPct val="115000"/>
                        </a:lnSpc>
                        <a:spcBef>
                          <a:spcPts val="0"/>
                        </a:spcBef>
                        <a:spcAft>
                          <a:spcPts val="0"/>
                        </a:spcAft>
                        <a:buNone/>
                      </a:pPr>
                      <a:r>
                        <a:rPr lang="en" sz="800" b="1">
                          <a:solidFill>
                            <a:srgbClr val="FF6D01"/>
                          </a:solidFill>
                          <a:latin typeface="Lexend"/>
                          <a:ea typeface="Lexend"/>
                          <a:cs typeface="Lexend"/>
                          <a:sym typeface="Lexend"/>
                        </a:rPr>
                        <a:t>Online rate</a:t>
                      </a:r>
                      <a:endParaRPr sz="800" b="1">
                        <a:solidFill>
                          <a:srgbClr val="FF6D01"/>
                        </a:solidFill>
                        <a:latin typeface="Lexend"/>
                        <a:ea typeface="Lexend"/>
                        <a:cs typeface="Lexend"/>
                        <a:sym typeface="Lexend"/>
                      </a:endParaRPr>
                    </a:p>
                  </a:txBody>
                  <a:tcPr marL="28575" marR="28575" marT="19050" marB="19050" anchor="ctr">
                    <a:lnL w="11900" cap="flat" cmpd="sng">
                      <a:solidFill>
                        <a:srgbClr val="FFFFFF"/>
                      </a:solidFill>
                      <a:prstDash val="solid"/>
                      <a:round/>
                      <a:headEnd type="none" w="sm" len="sm"/>
                      <a:tailEnd type="none" w="sm" len="sm"/>
                    </a:lnL>
                    <a:lnR w="11900" cap="flat" cmpd="sng">
                      <a:solidFill>
                        <a:srgbClr val="FFFFFF"/>
                      </a:solidFill>
                      <a:prstDash val="solid"/>
                      <a:round/>
                      <a:headEnd type="none" w="sm" len="sm"/>
                      <a:tailEnd type="none" w="sm" len="sm"/>
                    </a:lnR>
                    <a:lnT w="11900" cap="flat" cmpd="sng">
                      <a:solidFill>
                        <a:srgbClr val="FFFFFF"/>
                      </a:solidFill>
                      <a:prstDash val="solid"/>
                      <a:round/>
                      <a:headEnd type="none" w="sm" len="sm"/>
                      <a:tailEnd type="none" w="sm" len="sm"/>
                    </a:lnT>
                    <a:lnB w="11900" cap="flat" cmpd="sng">
                      <a:solidFill>
                        <a:srgbClr val="FFFFFF"/>
                      </a:solidFill>
                      <a:prstDash val="solid"/>
                      <a:round/>
                      <a:headEnd type="none" w="sm" len="sm"/>
                      <a:tailEnd type="none" w="sm" len="sm"/>
                    </a:lnB>
                    <a:solidFill>
                      <a:srgbClr val="FCE5CD"/>
                    </a:solidFill>
                  </a:tcPr>
                </a:tc>
                <a:extLst>
                  <a:ext uri="{0D108BD9-81ED-4DB2-BD59-A6C34878D82A}">
                    <a16:rowId xmlns:a16="http://schemas.microsoft.com/office/drawing/2014/main" val="10001"/>
                  </a:ext>
                </a:extLst>
              </a:tr>
              <a:tr h="200025">
                <a:tc>
                  <a:txBody>
                    <a:bodyPr/>
                    <a:lstStyle/>
                    <a:p>
                      <a:pPr marL="0" lvl="0" indent="0" algn="ctr" rtl="0">
                        <a:lnSpc>
                          <a:spcPct val="115000"/>
                        </a:lnSpc>
                        <a:spcBef>
                          <a:spcPts val="0"/>
                        </a:spcBef>
                        <a:spcAft>
                          <a:spcPts val="0"/>
                        </a:spcAft>
                        <a:buNone/>
                      </a:pPr>
                      <a:r>
                        <a:rPr lang="en" sz="800">
                          <a:latin typeface="Lexend"/>
                          <a:ea typeface="Lexend"/>
                          <a:cs typeface="Lexend"/>
                          <a:sym typeface="Lexend"/>
                        </a:rPr>
                        <a:t>03/08/2026</a:t>
                      </a:r>
                      <a:endParaRPr sz="800">
                        <a:latin typeface="Lexend"/>
                        <a:ea typeface="Lexend"/>
                        <a:cs typeface="Lexend"/>
                        <a:sym typeface="Lexend"/>
                      </a:endParaRPr>
                    </a:p>
                  </a:txBody>
                  <a:tcPr marL="28575" marR="28575" marT="19050" marB="19050" anchor="b">
                    <a:lnL w="11900" cap="flat" cmpd="sng">
                      <a:solidFill>
                        <a:srgbClr val="FFFFFF"/>
                      </a:solidFill>
                      <a:prstDash val="solid"/>
                      <a:round/>
                      <a:headEnd type="none" w="sm" len="sm"/>
                      <a:tailEnd type="none" w="sm" len="sm"/>
                    </a:lnL>
                    <a:lnR w="11900" cap="flat" cmpd="sng">
                      <a:solidFill>
                        <a:srgbClr val="FFFFFF"/>
                      </a:solidFill>
                      <a:prstDash val="solid"/>
                      <a:round/>
                      <a:headEnd type="none" w="sm" len="sm"/>
                      <a:tailEnd type="none" w="sm" len="sm"/>
                    </a:lnR>
                    <a:lnT w="11900" cap="flat" cmpd="sng">
                      <a:solidFill>
                        <a:srgbClr val="FFFFFF"/>
                      </a:solidFill>
                      <a:prstDash val="solid"/>
                      <a:round/>
                      <a:headEnd type="none" w="sm" len="sm"/>
                      <a:tailEnd type="none" w="sm" len="sm"/>
                    </a:lnT>
                    <a:lnB w="11900" cap="flat" cmpd="sng">
                      <a:solidFill>
                        <a:srgbClr val="FFFFFF"/>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800">
                          <a:latin typeface="Lexend"/>
                          <a:ea typeface="Lexend"/>
                          <a:cs typeface="Lexend"/>
                          <a:sym typeface="Lexend"/>
                        </a:rPr>
                        <a:t>30</a:t>
                      </a:r>
                      <a:endParaRPr sz="800">
                        <a:latin typeface="Lexend"/>
                        <a:ea typeface="Lexend"/>
                        <a:cs typeface="Lexend"/>
                        <a:sym typeface="Lexend"/>
                      </a:endParaRPr>
                    </a:p>
                  </a:txBody>
                  <a:tcPr marL="28575" marR="28575" marT="19050" marB="19050" anchor="b">
                    <a:lnL w="11900" cap="flat" cmpd="sng">
                      <a:solidFill>
                        <a:srgbClr val="FFFFFF"/>
                      </a:solidFill>
                      <a:prstDash val="solid"/>
                      <a:round/>
                      <a:headEnd type="none" w="sm" len="sm"/>
                      <a:tailEnd type="none" w="sm" len="sm"/>
                    </a:lnL>
                    <a:lnR w="11900" cap="flat" cmpd="sng">
                      <a:solidFill>
                        <a:srgbClr val="FFFFFF"/>
                      </a:solidFill>
                      <a:prstDash val="solid"/>
                      <a:round/>
                      <a:headEnd type="none" w="sm" len="sm"/>
                      <a:tailEnd type="none" w="sm" len="sm"/>
                    </a:lnR>
                    <a:lnT w="11900" cap="flat" cmpd="sng">
                      <a:solidFill>
                        <a:srgbClr val="FFFFFF"/>
                      </a:solidFill>
                      <a:prstDash val="solid"/>
                      <a:round/>
                      <a:headEnd type="none" w="sm" len="sm"/>
                      <a:tailEnd type="none" w="sm" len="sm"/>
                    </a:lnT>
                    <a:lnB w="11900" cap="flat" cmpd="sng">
                      <a:solidFill>
                        <a:srgbClr val="FFFFFF"/>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800">
                          <a:latin typeface="Lexend"/>
                          <a:ea typeface="Lexend"/>
                          <a:cs typeface="Lexend"/>
                          <a:sym typeface="Lexend"/>
                        </a:rPr>
                        <a:t>38.48</a:t>
                      </a:r>
                      <a:endParaRPr sz="800">
                        <a:latin typeface="Lexend"/>
                        <a:ea typeface="Lexend"/>
                        <a:cs typeface="Lexend"/>
                        <a:sym typeface="Lexend"/>
                      </a:endParaRPr>
                    </a:p>
                  </a:txBody>
                  <a:tcPr marL="28575" marR="28575" marT="19050" marB="19050" anchor="b">
                    <a:lnL w="11900" cap="flat" cmpd="sng">
                      <a:solidFill>
                        <a:srgbClr val="FFFFFF"/>
                      </a:solidFill>
                      <a:prstDash val="solid"/>
                      <a:round/>
                      <a:headEnd type="none" w="sm" len="sm"/>
                      <a:tailEnd type="none" w="sm" len="sm"/>
                    </a:lnL>
                    <a:lnR w="11900" cap="flat" cmpd="sng">
                      <a:solidFill>
                        <a:srgbClr val="FFFFFF"/>
                      </a:solidFill>
                      <a:prstDash val="solid"/>
                      <a:round/>
                      <a:headEnd type="none" w="sm" len="sm"/>
                      <a:tailEnd type="none" w="sm" len="sm"/>
                    </a:lnR>
                    <a:lnT w="11900" cap="flat" cmpd="sng">
                      <a:solidFill>
                        <a:srgbClr val="FFFFFF"/>
                      </a:solidFill>
                      <a:prstDash val="solid"/>
                      <a:round/>
                      <a:headEnd type="none" w="sm" len="sm"/>
                      <a:tailEnd type="none" w="sm" len="sm"/>
                    </a:lnT>
                    <a:lnB w="11900" cap="flat" cmpd="sng">
                      <a:solidFill>
                        <a:srgbClr val="FFFFFF"/>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800">
                          <a:latin typeface="Lexend"/>
                          <a:ea typeface="Lexend"/>
                          <a:cs typeface="Lexend"/>
                          <a:sym typeface="Lexend"/>
                        </a:rPr>
                        <a:t>91.1%</a:t>
                      </a:r>
                      <a:endParaRPr sz="800">
                        <a:latin typeface="Lexend"/>
                        <a:ea typeface="Lexend"/>
                        <a:cs typeface="Lexend"/>
                        <a:sym typeface="Lexend"/>
                      </a:endParaRPr>
                    </a:p>
                  </a:txBody>
                  <a:tcPr marL="28575" marR="28575" marT="19050" marB="19050" anchor="b">
                    <a:lnL w="11900" cap="flat" cmpd="sng">
                      <a:solidFill>
                        <a:srgbClr val="FFFFFF"/>
                      </a:solidFill>
                      <a:prstDash val="solid"/>
                      <a:round/>
                      <a:headEnd type="none" w="sm" len="sm"/>
                      <a:tailEnd type="none" w="sm" len="sm"/>
                    </a:lnL>
                    <a:lnR w="11900" cap="flat" cmpd="sng">
                      <a:solidFill>
                        <a:srgbClr val="FFFFFF"/>
                      </a:solidFill>
                      <a:prstDash val="solid"/>
                      <a:round/>
                      <a:headEnd type="none" w="sm" len="sm"/>
                      <a:tailEnd type="none" w="sm" len="sm"/>
                    </a:lnR>
                    <a:lnT w="11900" cap="flat" cmpd="sng">
                      <a:solidFill>
                        <a:srgbClr val="FFFFFF"/>
                      </a:solidFill>
                      <a:prstDash val="solid"/>
                      <a:round/>
                      <a:headEnd type="none" w="sm" len="sm"/>
                      <a:tailEnd type="none" w="sm" len="sm"/>
                    </a:lnT>
                    <a:lnB w="11900" cap="flat" cmpd="sng">
                      <a:solidFill>
                        <a:srgbClr val="FFFFFF"/>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800">
                          <a:latin typeface="Lexend"/>
                          <a:ea typeface="Lexend"/>
                          <a:cs typeface="Lexend"/>
                          <a:sym typeface="Lexend"/>
                        </a:rPr>
                        <a:t>92.1%</a:t>
                      </a:r>
                      <a:endParaRPr sz="800">
                        <a:latin typeface="Lexend"/>
                        <a:ea typeface="Lexend"/>
                        <a:cs typeface="Lexend"/>
                        <a:sym typeface="Lexend"/>
                      </a:endParaRPr>
                    </a:p>
                  </a:txBody>
                  <a:tcPr marL="28575" marR="28575" marT="19050" marB="19050" anchor="b">
                    <a:lnL w="11900" cap="flat" cmpd="sng">
                      <a:solidFill>
                        <a:srgbClr val="FFFFFF"/>
                      </a:solidFill>
                      <a:prstDash val="solid"/>
                      <a:round/>
                      <a:headEnd type="none" w="sm" len="sm"/>
                      <a:tailEnd type="none" w="sm" len="sm"/>
                    </a:lnL>
                    <a:lnR w="11900" cap="flat" cmpd="sng">
                      <a:solidFill>
                        <a:srgbClr val="FFFFFF"/>
                      </a:solidFill>
                      <a:prstDash val="solid"/>
                      <a:round/>
                      <a:headEnd type="none" w="sm" len="sm"/>
                      <a:tailEnd type="none" w="sm" len="sm"/>
                    </a:lnR>
                    <a:lnT w="11900" cap="flat" cmpd="sng">
                      <a:solidFill>
                        <a:srgbClr val="FFFFFF"/>
                      </a:solidFill>
                      <a:prstDash val="solid"/>
                      <a:round/>
                      <a:headEnd type="none" w="sm" len="sm"/>
                      <a:tailEnd type="none" w="sm" len="sm"/>
                    </a:lnT>
                    <a:lnB w="11900" cap="flat" cmpd="sng">
                      <a:solidFill>
                        <a:srgbClr val="FFFFFF"/>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800">
                          <a:latin typeface="Lexend"/>
                          <a:ea typeface="Lexend"/>
                          <a:cs typeface="Lexend"/>
                          <a:sym typeface="Lexend"/>
                        </a:rPr>
                        <a:t>50</a:t>
                      </a:r>
                      <a:endParaRPr sz="800">
                        <a:latin typeface="Lexend"/>
                        <a:ea typeface="Lexend"/>
                        <a:cs typeface="Lexend"/>
                        <a:sym typeface="Lexend"/>
                      </a:endParaRPr>
                    </a:p>
                  </a:txBody>
                  <a:tcPr marL="28575" marR="28575" marT="19050" marB="19050" anchor="b">
                    <a:lnL w="11900" cap="flat" cmpd="sng">
                      <a:solidFill>
                        <a:srgbClr val="FFFFFF"/>
                      </a:solidFill>
                      <a:prstDash val="solid"/>
                      <a:round/>
                      <a:headEnd type="none" w="sm" len="sm"/>
                      <a:tailEnd type="none" w="sm" len="sm"/>
                    </a:lnL>
                    <a:lnR w="11900" cap="flat" cmpd="sng">
                      <a:solidFill>
                        <a:srgbClr val="FFFFFF"/>
                      </a:solidFill>
                      <a:prstDash val="solid"/>
                      <a:round/>
                      <a:headEnd type="none" w="sm" len="sm"/>
                      <a:tailEnd type="none" w="sm" len="sm"/>
                    </a:lnR>
                    <a:lnT w="11900" cap="flat" cmpd="sng">
                      <a:solidFill>
                        <a:srgbClr val="FFFFFF"/>
                      </a:solidFill>
                      <a:prstDash val="solid"/>
                      <a:round/>
                      <a:headEnd type="none" w="sm" len="sm"/>
                      <a:tailEnd type="none" w="sm" len="sm"/>
                    </a:lnT>
                    <a:lnB w="11900" cap="flat" cmpd="sng">
                      <a:solidFill>
                        <a:srgbClr val="FFFFFF"/>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800">
                          <a:latin typeface="Lexend"/>
                          <a:ea typeface="Lexend"/>
                          <a:cs typeface="Lexend"/>
                          <a:sym typeface="Lexend"/>
                        </a:rPr>
                        <a:t>33.04</a:t>
                      </a:r>
                      <a:endParaRPr sz="800">
                        <a:latin typeface="Lexend"/>
                        <a:ea typeface="Lexend"/>
                        <a:cs typeface="Lexend"/>
                        <a:sym typeface="Lexend"/>
                      </a:endParaRPr>
                    </a:p>
                  </a:txBody>
                  <a:tcPr marL="28575" marR="28575" marT="19050" marB="19050" anchor="b">
                    <a:lnL w="11900" cap="flat" cmpd="sng">
                      <a:solidFill>
                        <a:srgbClr val="FFFFFF"/>
                      </a:solidFill>
                      <a:prstDash val="solid"/>
                      <a:round/>
                      <a:headEnd type="none" w="sm" len="sm"/>
                      <a:tailEnd type="none" w="sm" len="sm"/>
                    </a:lnL>
                    <a:lnR w="11900" cap="flat" cmpd="sng">
                      <a:solidFill>
                        <a:srgbClr val="FFFFFF"/>
                      </a:solidFill>
                      <a:prstDash val="solid"/>
                      <a:round/>
                      <a:headEnd type="none" w="sm" len="sm"/>
                      <a:tailEnd type="none" w="sm" len="sm"/>
                    </a:lnR>
                    <a:lnT w="11900" cap="flat" cmpd="sng">
                      <a:solidFill>
                        <a:srgbClr val="FFFFFF"/>
                      </a:solidFill>
                      <a:prstDash val="solid"/>
                      <a:round/>
                      <a:headEnd type="none" w="sm" len="sm"/>
                      <a:tailEnd type="none" w="sm" len="sm"/>
                    </a:lnT>
                    <a:lnB w="11900" cap="flat" cmpd="sng">
                      <a:solidFill>
                        <a:srgbClr val="FFFFFF"/>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800">
                          <a:latin typeface="Lexend"/>
                          <a:ea typeface="Lexend"/>
                          <a:cs typeface="Lexend"/>
                          <a:sym typeface="Lexend"/>
                        </a:rPr>
                        <a:t>92.1%</a:t>
                      </a:r>
                      <a:endParaRPr sz="800">
                        <a:latin typeface="Lexend"/>
                        <a:ea typeface="Lexend"/>
                        <a:cs typeface="Lexend"/>
                        <a:sym typeface="Lexend"/>
                      </a:endParaRPr>
                    </a:p>
                  </a:txBody>
                  <a:tcPr marL="28575" marR="28575" marT="19050" marB="19050" anchor="b">
                    <a:lnL w="11900" cap="flat" cmpd="sng">
                      <a:solidFill>
                        <a:srgbClr val="FFFFFF"/>
                      </a:solidFill>
                      <a:prstDash val="solid"/>
                      <a:round/>
                      <a:headEnd type="none" w="sm" len="sm"/>
                      <a:tailEnd type="none" w="sm" len="sm"/>
                    </a:lnL>
                    <a:lnR w="11900" cap="flat" cmpd="sng">
                      <a:solidFill>
                        <a:srgbClr val="FFFFFF"/>
                      </a:solidFill>
                      <a:prstDash val="solid"/>
                      <a:round/>
                      <a:headEnd type="none" w="sm" len="sm"/>
                      <a:tailEnd type="none" w="sm" len="sm"/>
                    </a:lnR>
                    <a:lnT w="11900" cap="flat" cmpd="sng">
                      <a:solidFill>
                        <a:srgbClr val="FFFFFF"/>
                      </a:solidFill>
                      <a:prstDash val="solid"/>
                      <a:round/>
                      <a:headEnd type="none" w="sm" len="sm"/>
                      <a:tailEnd type="none" w="sm" len="sm"/>
                    </a:lnT>
                    <a:lnB w="11900" cap="flat" cmpd="sng">
                      <a:solidFill>
                        <a:srgbClr val="FFFFFF"/>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800">
                          <a:latin typeface="Lexend"/>
                          <a:ea typeface="Lexend"/>
                          <a:cs typeface="Lexend"/>
                          <a:sym typeface="Lexend"/>
                        </a:rPr>
                        <a:t>91.6%</a:t>
                      </a:r>
                      <a:endParaRPr sz="800">
                        <a:latin typeface="Lexend"/>
                        <a:ea typeface="Lexend"/>
                        <a:cs typeface="Lexend"/>
                        <a:sym typeface="Lexend"/>
                      </a:endParaRPr>
                    </a:p>
                  </a:txBody>
                  <a:tcPr marL="28575" marR="28575" marT="19050" marB="19050" anchor="b">
                    <a:lnL w="11900" cap="flat" cmpd="sng">
                      <a:solidFill>
                        <a:srgbClr val="FFFFFF"/>
                      </a:solidFill>
                      <a:prstDash val="solid"/>
                      <a:round/>
                      <a:headEnd type="none" w="sm" len="sm"/>
                      <a:tailEnd type="none" w="sm" len="sm"/>
                    </a:lnL>
                    <a:lnR w="11900" cap="flat" cmpd="sng">
                      <a:solidFill>
                        <a:srgbClr val="FFFFFF"/>
                      </a:solidFill>
                      <a:prstDash val="solid"/>
                      <a:round/>
                      <a:headEnd type="none" w="sm" len="sm"/>
                      <a:tailEnd type="none" w="sm" len="sm"/>
                    </a:lnR>
                    <a:lnT w="11900" cap="flat" cmpd="sng">
                      <a:solidFill>
                        <a:srgbClr val="FFFFFF"/>
                      </a:solidFill>
                      <a:prstDash val="solid"/>
                      <a:round/>
                      <a:headEnd type="none" w="sm" len="sm"/>
                      <a:tailEnd type="none" w="sm" len="sm"/>
                    </a:lnT>
                    <a:lnB w="11900" cap="flat" cmpd="sng">
                      <a:solidFill>
                        <a:srgbClr val="FFFFFF"/>
                      </a:solidFill>
                      <a:prstDash val="solid"/>
                      <a:round/>
                      <a:headEnd type="none" w="sm" len="sm"/>
                      <a:tailEnd type="none" w="sm" len="sm"/>
                    </a:lnB>
                  </a:tcPr>
                </a:tc>
                <a:extLst>
                  <a:ext uri="{0D108BD9-81ED-4DB2-BD59-A6C34878D82A}">
                    <a16:rowId xmlns:a16="http://schemas.microsoft.com/office/drawing/2014/main" val="10002"/>
                  </a:ext>
                </a:extLst>
              </a:tr>
              <a:tr h="200025">
                <a:tc>
                  <a:txBody>
                    <a:bodyPr/>
                    <a:lstStyle/>
                    <a:p>
                      <a:pPr marL="0" lvl="0" indent="0" algn="ctr" rtl="0">
                        <a:lnSpc>
                          <a:spcPct val="115000"/>
                        </a:lnSpc>
                        <a:spcBef>
                          <a:spcPts val="0"/>
                        </a:spcBef>
                        <a:spcAft>
                          <a:spcPts val="0"/>
                        </a:spcAft>
                        <a:buNone/>
                      </a:pPr>
                      <a:r>
                        <a:rPr lang="en" sz="800">
                          <a:latin typeface="Lexend"/>
                          <a:ea typeface="Lexend"/>
                          <a:cs typeface="Lexend"/>
                          <a:sym typeface="Lexend"/>
                        </a:rPr>
                        <a:t>10/08/2026</a:t>
                      </a:r>
                      <a:endParaRPr sz="800">
                        <a:latin typeface="Lexend"/>
                        <a:ea typeface="Lexend"/>
                        <a:cs typeface="Lexend"/>
                        <a:sym typeface="Lexend"/>
                      </a:endParaRPr>
                    </a:p>
                  </a:txBody>
                  <a:tcPr marL="28575" marR="28575" marT="19050" marB="19050" anchor="b">
                    <a:lnL w="11900" cap="flat" cmpd="sng">
                      <a:solidFill>
                        <a:srgbClr val="FFFFFF"/>
                      </a:solidFill>
                      <a:prstDash val="solid"/>
                      <a:round/>
                      <a:headEnd type="none" w="sm" len="sm"/>
                      <a:tailEnd type="none" w="sm" len="sm"/>
                    </a:lnL>
                    <a:lnR w="11900" cap="flat" cmpd="sng">
                      <a:solidFill>
                        <a:srgbClr val="FFFFFF"/>
                      </a:solidFill>
                      <a:prstDash val="solid"/>
                      <a:round/>
                      <a:headEnd type="none" w="sm" len="sm"/>
                      <a:tailEnd type="none" w="sm" len="sm"/>
                    </a:lnR>
                    <a:lnT w="11900" cap="flat" cmpd="sng">
                      <a:solidFill>
                        <a:srgbClr val="FFFFFF"/>
                      </a:solidFill>
                      <a:prstDash val="solid"/>
                      <a:round/>
                      <a:headEnd type="none" w="sm" len="sm"/>
                      <a:tailEnd type="none" w="sm" len="sm"/>
                    </a:lnT>
                    <a:lnB w="11900" cap="flat" cmpd="sng">
                      <a:solidFill>
                        <a:srgbClr val="FFFFFF"/>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800">
                          <a:latin typeface="Lexend"/>
                          <a:ea typeface="Lexend"/>
                          <a:cs typeface="Lexend"/>
                          <a:sym typeface="Lexend"/>
                        </a:rPr>
                        <a:t>28</a:t>
                      </a:r>
                      <a:endParaRPr sz="800">
                        <a:latin typeface="Lexend"/>
                        <a:ea typeface="Lexend"/>
                        <a:cs typeface="Lexend"/>
                        <a:sym typeface="Lexend"/>
                      </a:endParaRPr>
                    </a:p>
                  </a:txBody>
                  <a:tcPr marL="28575" marR="28575" marT="19050" marB="19050" anchor="b">
                    <a:lnL w="11900" cap="flat" cmpd="sng">
                      <a:solidFill>
                        <a:srgbClr val="FFFFFF"/>
                      </a:solidFill>
                      <a:prstDash val="solid"/>
                      <a:round/>
                      <a:headEnd type="none" w="sm" len="sm"/>
                      <a:tailEnd type="none" w="sm" len="sm"/>
                    </a:lnL>
                    <a:lnR w="11900" cap="flat" cmpd="sng">
                      <a:solidFill>
                        <a:srgbClr val="FFFFFF"/>
                      </a:solidFill>
                      <a:prstDash val="solid"/>
                      <a:round/>
                      <a:headEnd type="none" w="sm" len="sm"/>
                      <a:tailEnd type="none" w="sm" len="sm"/>
                    </a:lnR>
                    <a:lnT w="11900" cap="flat" cmpd="sng">
                      <a:solidFill>
                        <a:srgbClr val="FFFFFF"/>
                      </a:solidFill>
                      <a:prstDash val="solid"/>
                      <a:round/>
                      <a:headEnd type="none" w="sm" len="sm"/>
                      <a:tailEnd type="none" w="sm" len="sm"/>
                    </a:lnT>
                    <a:lnB w="11900" cap="flat" cmpd="sng">
                      <a:solidFill>
                        <a:srgbClr val="FFFFFF"/>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800">
                          <a:latin typeface="Lexend"/>
                          <a:ea typeface="Lexend"/>
                          <a:cs typeface="Lexend"/>
                          <a:sym typeface="Lexend"/>
                        </a:rPr>
                        <a:t>36.20</a:t>
                      </a:r>
                      <a:endParaRPr sz="800">
                        <a:latin typeface="Lexend"/>
                        <a:ea typeface="Lexend"/>
                        <a:cs typeface="Lexend"/>
                        <a:sym typeface="Lexend"/>
                      </a:endParaRPr>
                    </a:p>
                  </a:txBody>
                  <a:tcPr marL="28575" marR="28575" marT="19050" marB="19050" anchor="b">
                    <a:lnL w="11900" cap="flat" cmpd="sng">
                      <a:solidFill>
                        <a:srgbClr val="FFFFFF"/>
                      </a:solidFill>
                      <a:prstDash val="solid"/>
                      <a:round/>
                      <a:headEnd type="none" w="sm" len="sm"/>
                      <a:tailEnd type="none" w="sm" len="sm"/>
                    </a:lnL>
                    <a:lnR w="11900" cap="flat" cmpd="sng">
                      <a:solidFill>
                        <a:srgbClr val="FFFFFF"/>
                      </a:solidFill>
                      <a:prstDash val="solid"/>
                      <a:round/>
                      <a:headEnd type="none" w="sm" len="sm"/>
                      <a:tailEnd type="none" w="sm" len="sm"/>
                    </a:lnR>
                    <a:lnT w="11900" cap="flat" cmpd="sng">
                      <a:solidFill>
                        <a:srgbClr val="FFFFFF"/>
                      </a:solidFill>
                      <a:prstDash val="solid"/>
                      <a:round/>
                      <a:headEnd type="none" w="sm" len="sm"/>
                      <a:tailEnd type="none" w="sm" len="sm"/>
                    </a:lnT>
                    <a:lnB w="11900" cap="flat" cmpd="sng">
                      <a:solidFill>
                        <a:srgbClr val="FFFFFF"/>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800">
                          <a:latin typeface="Lexend"/>
                          <a:ea typeface="Lexend"/>
                          <a:cs typeface="Lexend"/>
                          <a:sym typeface="Lexend"/>
                        </a:rPr>
                        <a:t>88.4%</a:t>
                      </a:r>
                      <a:endParaRPr sz="800">
                        <a:latin typeface="Lexend"/>
                        <a:ea typeface="Lexend"/>
                        <a:cs typeface="Lexend"/>
                        <a:sym typeface="Lexend"/>
                      </a:endParaRPr>
                    </a:p>
                  </a:txBody>
                  <a:tcPr marL="28575" marR="28575" marT="19050" marB="19050" anchor="b">
                    <a:lnL w="11900" cap="flat" cmpd="sng">
                      <a:solidFill>
                        <a:srgbClr val="FFFFFF"/>
                      </a:solidFill>
                      <a:prstDash val="solid"/>
                      <a:round/>
                      <a:headEnd type="none" w="sm" len="sm"/>
                      <a:tailEnd type="none" w="sm" len="sm"/>
                    </a:lnL>
                    <a:lnR w="11900" cap="flat" cmpd="sng">
                      <a:solidFill>
                        <a:srgbClr val="FFFFFF"/>
                      </a:solidFill>
                      <a:prstDash val="solid"/>
                      <a:round/>
                      <a:headEnd type="none" w="sm" len="sm"/>
                      <a:tailEnd type="none" w="sm" len="sm"/>
                    </a:lnR>
                    <a:lnT w="11900" cap="flat" cmpd="sng">
                      <a:solidFill>
                        <a:srgbClr val="FFFFFF"/>
                      </a:solidFill>
                      <a:prstDash val="solid"/>
                      <a:round/>
                      <a:headEnd type="none" w="sm" len="sm"/>
                      <a:tailEnd type="none" w="sm" len="sm"/>
                    </a:lnT>
                    <a:lnB w="11900" cap="flat" cmpd="sng">
                      <a:solidFill>
                        <a:srgbClr val="FFFFFF"/>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800">
                          <a:latin typeface="Lexend"/>
                          <a:ea typeface="Lexend"/>
                          <a:cs typeface="Lexend"/>
                          <a:sym typeface="Lexend"/>
                        </a:rPr>
                        <a:t>91.6%</a:t>
                      </a:r>
                      <a:endParaRPr sz="800">
                        <a:latin typeface="Lexend"/>
                        <a:ea typeface="Lexend"/>
                        <a:cs typeface="Lexend"/>
                        <a:sym typeface="Lexend"/>
                      </a:endParaRPr>
                    </a:p>
                  </a:txBody>
                  <a:tcPr marL="28575" marR="28575" marT="19050" marB="19050" anchor="b">
                    <a:lnL w="11900" cap="flat" cmpd="sng">
                      <a:solidFill>
                        <a:srgbClr val="FFFFFF"/>
                      </a:solidFill>
                      <a:prstDash val="solid"/>
                      <a:round/>
                      <a:headEnd type="none" w="sm" len="sm"/>
                      <a:tailEnd type="none" w="sm" len="sm"/>
                    </a:lnL>
                    <a:lnR w="11900" cap="flat" cmpd="sng">
                      <a:solidFill>
                        <a:srgbClr val="FFFFFF"/>
                      </a:solidFill>
                      <a:prstDash val="solid"/>
                      <a:round/>
                      <a:headEnd type="none" w="sm" len="sm"/>
                      <a:tailEnd type="none" w="sm" len="sm"/>
                    </a:lnR>
                    <a:lnT w="11900" cap="flat" cmpd="sng">
                      <a:solidFill>
                        <a:srgbClr val="FFFFFF"/>
                      </a:solidFill>
                      <a:prstDash val="solid"/>
                      <a:round/>
                      <a:headEnd type="none" w="sm" len="sm"/>
                      <a:tailEnd type="none" w="sm" len="sm"/>
                    </a:lnT>
                    <a:lnB w="11900" cap="flat" cmpd="sng">
                      <a:solidFill>
                        <a:srgbClr val="FFFFFF"/>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800">
                          <a:latin typeface="Lexend"/>
                          <a:ea typeface="Lexend"/>
                          <a:cs typeface="Lexend"/>
                          <a:sym typeface="Lexend"/>
                        </a:rPr>
                        <a:t>44</a:t>
                      </a:r>
                      <a:endParaRPr sz="800">
                        <a:latin typeface="Lexend"/>
                        <a:ea typeface="Lexend"/>
                        <a:cs typeface="Lexend"/>
                        <a:sym typeface="Lexend"/>
                      </a:endParaRPr>
                    </a:p>
                  </a:txBody>
                  <a:tcPr marL="28575" marR="28575" marT="19050" marB="19050" anchor="b">
                    <a:lnL w="11900" cap="flat" cmpd="sng">
                      <a:solidFill>
                        <a:srgbClr val="FFFFFF"/>
                      </a:solidFill>
                      <a:prstDash val="solid"/>
                      <a:round/>
                      <a:headEnd type="none" w="sm" len="sm"/>
                      <a:tailEnd type="none" w="sm" len="sm"/>
                    </a:lnL>
                    <a:lnR w="11900" cap="flat" cmpd="sng">
                      <a:solidFill>
                        <a:srgbClr val="FFFFFF"/>
                      </a:solidFill>
                      <a:prstDash val="solid"/>
                      <a:round/>
                      <a:headEnd type="none" w="sm" len="sm"/>
                      <a:tailEnd type="none" w="sm" len="sm"/>
                    </a:lnR>
                    <a:lnT w="11900" cap="flat" cmpd="sng">
                      <a:solidFill>
                        <a:srgbClr val="FFFFFF"/>
                      </a:solidFill>
                      <a:prstDash val="solid"/>
                      <a:round/>
                      <a:headEnd type="none" w="sm" len="sm"/>
                      <a:tailEnd type="none" w="sm" len="sm"/>
                    </a:lnT>
                    <a:lnB w="11900" cap="flat" cmpd="sng">
                      <a:solidFill>
                        <a:srgbClr val="FFFFFF"/>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800">
                          <a:latin typeface="Lexend"/>
                          <a:ea typeface="Lexend"/>
                          <a:cs typeface="Lexend"/>
                          <a:sym typeface="Lexend"/>
                        </a:rPr>
                        <a:t>36.64</a:t>
                      </a:r>
                      <a:endParaRPr sz="800">
                        <a:latin typeface="Lexend"/>
                        <a:ea typeface="Lexend"/>
                        <a:cs typeface="Lexend"/>
                        <a:sym typeface="Lexend"/>
                      </a:endParaRPr>
                    </a:p>
                  </a:txBody>
                  <a:tcPr marL="28575" marR="28575" marT="19050" marB="19050" anchor="b">
                    <a:lnL w="11900" cap="flat" cmpd="sng">
                      <a:solidFill>
                        <a:srgbClr val="FFFFFF"/>
                      </a:solidFill>
                      <a:prstDash val="solid"/>
                      <a:round/>
                      <a:headEnd type="none" w="sm" len="sm"/>
                      <a:tailEnd type="none" w="sm" len="sm"/>
                    </a:lnL>
                    <a:lnR w="11900" cap="flat" cmpd="sng">
                      <a:solidFill>
                        <a:srgbClr val="FFFFFF"/>
                      </a:solidFill>
                      <a:prstDash val="solid"/>
                      <a:round/>
                      <a:headEnd type="none" w="sm" len="sm"/>
                      <a:tailEnd type="none" w="sm" len="sm"/>
                    </a:lnR>
                    <a:lnT w="11900" cap="flat" cmpd="sng">
                      <a:solidFill>
                        <a:srgbClr val="FFFFFF"/>
                      </a:solidFill>
                      <a:prstDash val="solid"/>
                      <a:round/>
                      <a:headEnd type="none" w="sm" len="sm"/>
                      <a:tailEnd type="none" w="sm" len="sm"/>
                    </a:lnT>
                    <a:lnB w="11900" cap="flat" cmpd="sng">
                      <a:solidFill>
                        <a:srgbClr val="FFFFFF"/>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800">
                          <a:latin typeface="Lexend"/>
                          <a:ea typeface="Lexend"/>
                          <a:cs typeface="Lexend"/>
                          <a:sym typeface="Lexend"/>
                        </a:rPr>
                        <a:t>89.8%</a:t>
                      </a:r>
                      <a:endParaRPr sz="800">
                        <a:latin typeface="Lexend"/>
                        <a:ea typeface="Lexend"/>
                        <a:cs typeface="Lexend"/>
                        <a:sym typeface="Lexend"/>
                      </a:endParaRPr>
                    </a:p>
                  </a:txBody>
                  <a:tcPr marL="28575" marR="28575" marT="19050" marB="19050" anchor="b">
                    <a:lnL w="11900" cap="flat" cmpd="sng">
                      <a:solidFill>
                        <a:srgbClr val="FFFFFF"/>
                      </a:solidFill>
                      <a:prstDash val="solid"/>
                      <a:round/>
                      <a:headEnd type="none" w="sm" len="sm"/>
                      <a:tailEnd type="none" w="sm" len="sm"/>
                    </a:lnL>
                    <a:lnR w="11900" cap="flat" cmpd="sng">
                      <a:solidFill>
                        <a:srgbClr val="FFFFFF"/>
                      </a:solidFill>
                      <a:prstDash val="solid"/>
                      <a:round/>
                      <a:headEnd type="none" w="sm" len="sm"/>
                      <a:tailEnd type="none" w="sm" len="sm"/>
                    </a:lnR>
                    <a:lnT w="11900" cap="flat" cmpd="sng">
                      <a:solidFill>
                        <a:srgbClr val="FFFFFF"/>
                      </a:solidFill>
                      <a:prstDash val="solid"/>
                      <a:round/>
                      <a:headEnd type="none" w="sm" len="sm"/>
                      <a:tailEnd type="none" w="sm" len="sm"/>
                    </a:lnT>
                    <a:lnB w="11900" cap="flat" cmpd="sng">
                      <a:solidFill>
                        <a:srgbClr val="FFFFFF"/>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800">
                          <a:latin typeface="Lexend"/>
                          <a:ea typeface="Lexend"/>
                          <a:cs typeface="Lexend"/>
                          <a:sym typeface="Lexend"/>
                        </a:rPr>
                        <a:t>90.1%</a:t>
                      </a:r>
                      <a:endParaRPr sz="800">
                        <a:latin typeface="Lexend"/>
                        <a:ea typeface="Lexend"/>
                        <a:cs typeface="Lexend"/>
                        <a:sym typeface="Lexend"/>
                      </a:endParaRPr>
                    </a:p>
                  </a:txBody>
                  <a:tcPr marL="28575" marR="28575" marT="19050" marB="19050" anchor="b">
                    <a:lnL w="11900" cap="flat" cmpd="sng">
                      <a:solidFill>
                        <a:srgbClr val="FFFFFF"/>
                      </a:solidFill>
                      <a:prstDash val="solid"/>
                      <a:round/>
                      <a:headEnd type="none" w="sm" len="sm"/>
                      <a:tailEnd type="none" w="sm" len="sm"/>
                    </a:lnL>
                    <a:lnR w="11900" cap="flat" cmpd="sng">
                      <a:solidFill>
                        <a:srgbClr val="FFFFFF"/>
                      </a:solidFill>
                      <a:prstDash val="solid"/>
                      <a:round/>
                      <a:headEnd type="none" w="sm" len="sm"/>
                      <a:tailEnd type="none" w="sm" len="sm"/>
                    </a:lnR>
                    <a:lnT w="11900" cap="flat" cmpd="sng">
                      <a:solidFill>
                        <a:srgbClr val="FFFFFF"/>
                      </a:solidFill>
                      <a:prstDash val="solid"/>
                      <a:round/>
                      <a:headEnd type="none" w="sm" len="sm"/>
                      <a:tailEnd type="none" w="sm" len="sm"/>
                    </a:lnT>
                    <a:lnB w="11900" cap="flat" cmpd="sng">
                      <a:solidFill>
                        <a:srgbClr val="FFFFFF"/>
                      </a:solidFill>
                      <a:prstDash val="solid"/>
                      <a:round/>
                      <a:headEnd type="none" w="sm" len="sm"/>
                      <a:tailEnd type="none" w="sm" len="sm"/>
                    </a:lnB>
                  </a:tcPr>
                </a:tc>
                <a:extLst>
                  <a:ext uri="{0D108BD9-81ED-4DB2-BD59-A6C34878D82A}">
                    <a16:rowId xmlns:a16="http://schemas.microsoft.com/office/drawing/2014/main" val="10003"/>
                  </a:ext>
                </a:extLst>
              </a:tr>
              <a:tr h="200025">
                <a:tc>
                  <a:txBody>
                    <a:bodyPr/>
                    <a:lstStyle/>
                    <a:p>
                      <a:pPr marL="0" lvl="0" indent="0" algn="ctr" rtl="0">
                        <a:lnSpc>
                          <a:spcPct val="115000"/>
                        </a:lnSpc>
                        <a:spcBef>
                          <a:spcPts val="0"/>
                        </a:spcBef>
                        <a:spcAft>
                          <a:spcPts val="0"/>
                        </a:spcAft>
                        <a:buNone/>
                      </a:pPr>
                      <a:r>
                        <a:rPr lang="en" sz="800">
                          <a:latin typeface="Lexend"/>
                          <a:ea typeface="Lexend"/>
                          <a:cs typeface="Lexend"/>
                          <a:sym typeface="Lexend"/>
                        </a:rPr>
                        <a:t>WoW</a:t>
                      </a:r>
                      <a:endParaRPr sz="800">
                        <a:latin typeface="Lexend"/>
                        <a:ea typeface="Lexend"/>
                        <a:cs typeface="Lexend"/>
                        <a:sym typeface="Lexend"/>
                      </a:endParaRPr>
                    </a:p>
                  </a:txBody>
                  <a:tcPr marL="28575" marR="28575" marT="19050" marB="19050" anchor="b">
                    <a:lnL w="11900" cap="flat" cmpd="sng">
                      <a:solidFill>
                        <a:srgbClr val="FFFFFF"/>
                      </a:solidFill>
                      <a:prstDash val="solid"/>
                      <a:round/>
                      <a:headEnd type="none" w="sm" len="sm"/>
                      <a:tailEnd type="none" w="sm" len="sm"/>
                    </a:lnL>
                    <a:lnR w="11900" cap="flat" cmpd="sng">
                      <a:solidFill>
                        <a:srgbClr val="FFFFFF"/>
                      </a:solidFill>
                      <a:prstDash val="solid"/>
                      <a:round/>
                      <a:headEnd type="none" w="sm" len="sm"/>
                      <a:tailEnd type="none" w="sm" len="sm"/>
                    </a:lnR>
                    <a:lnT w="11900" cap="flat" cmpd="sng">
                      <a:solidFill>
                        <a:srgbClr val="FFFFFF"/>
                      </a:solidFill>
                      <a:prstDash val="solid"/>
                      <a:round/>
                      <a:headEnd type="none" w="sm" len="sm"/>
                      <a:tailEnd type="none" w="sm" len="sm"/>
                    </a:lnT>
                    <a:lnB w="11900" cap="flat" cmpd="sng">
                      <a:solidFill>
                        <a:srgbClr val="FFFFFF"/>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800" b="1">
                          <a:solidFill>
                            <a:srgbClr val="EA4335"/>
                          </a:solidFill>
                          <a:latin typeface="Lexend"/>
                          <a:ea typeface="Lexend"/>
                          <a:cs typeface="Lexend"/>
                          <a:sym typeface="Lexend"/>
                        </a:rPr>
                        <a:t>-2</a:t>
                      </a:r>
                      <a:endParaRPr sz="800" b="1">
                        <a:solidFill>
                          <a:srgbClr val="EA4335"/>
                        </a:solidFill>
                        <a:latin typeface="Lexend"/>
                        <a:ea typeface="Lexend"/>
                        <a:cs typeface="Lexend"/>
                        <a:sym typeface="Lexend"/>
                      </a:endParaRPr>
                    </a:p>
                  </a:txBody>
                  <a:tcPr marL="28575" marR="28575" marT="19050" marB="19050" anchor="b">
                    <a:lnL w="11900" cap="flat" cmpd="sng">
                      <a:solidFill>
                        <a:srgbClr val="FFFFFF"/>
                      </a:solidFill>
                      <a:prstDash val="solid"/>
                      <a:round/>
                      <a:headEnd type="none" w="sm" len="sm"/>
                      <a:tailEnd type="none" w="sm" len="sm"/>
                    </a:lnL>
                    <a:lnR w="11900" cap="flat" cmpd="sng">
                      <a:solidFill>
                        <a:srgbClr val="FFFFFF"/>
                      </a:solidFill>
                      <a:prstDash val="solid"/>
                      <a:round/>
                      <a:headEnd type="none" w="sm" len="sm"/>
                      <a:tailEnd type="none" w="sm" len="sm"/>
                    </a:lnR>
                    <a:lnT w="11900" cap="flat" cmpd="sng">
                      <a:solidFill>
                        <a:srgbClr val="FFFFFF"/>
                      </a:solidFill>
                      <a:prstDash val="solid"/>
                      <a:round/>
                      <a:headEnd type="none" w="sm" len="sm"/>
                      <a:tailEnd type="none" w="sm" len="sm"/>
                    </a:lnT>
                    <a:lnB w="11900" cap="flat" cmpd="sng">
                      <a:solidFill>
                        <a:srgbClr val="FFFFFF"/>
                      </a:solidFill>
                      <a:prstDash val="solid"/>
                      <a:round/>
                      <a:headEnd type="none" w="sm" len="sm"/>
                      <a:tailEnd type="none" w="sm" len="sm"/>
                    </a:lnB>
                    <a:solidFill>
                      <a:srgbClr val="F4CCCC"/>
                    </a:solidFill>
                  </a:tcPr>
                </a:tc>
                <a:tc>
                  <a:txBody>
                    <a:bodyPr/>
                    <a:lstStyle/>
                    <a:p>
                      <a:pPr marL="0" lvl="0" indent="0" algn="ctr" rtl="0">
                        <a:lnSpc>
                          <a:spcPct val="115000"/>
                        </a:lnSpc>
                        <a:spcBef>
                          <a:spcPts val="0"/>
                        </a:spcBef>
                        <a:spcAft>
                          <a:spcPts val="0"/>
                        </a:spcAft>
                        <a:buNone/>
                      </a:pPr>
                      <a:r>
                        <a:rPr lang="en" sz="800" b="1">
                          <a:solidFill>
                            <a:srgbClr val="EA4335"/>
                          </a:solidFill>
                          <a:latin typeface="Lexend"/>
                          <a:ea typeface="Lexend"/>
                          <a:cs typeface="Lexend"/>
                          <a:sym typeface="Lexend"/>
                        </a:rPr>
                        <a:t>-2.28</a:t>
                      </a:r>
                      <a:endParaRPr sz="800" b="1">
                        <a:solidFill>
                          <a:srgbClr val="EA4335"/>
                        </a:solidFill>
                        <a:latin typeface="Lexend"/>
                        <a:ea typeface="Lexend"/>
                        <a:cs typeface="Lexend"/>
                        <a:sym typeface="Lexend"/>
                      </a:endParaRPr>
                    </a:p>
                  </a:txBody>
                  <a:tcPr marL="28575" marR="28575" marT="19050" marB="19050" anchor="b">
                    <a:lnL w="11900" cap="flat" cmpd="sng">
                      <a:solidFill>
                        <a:srgbClr val="FFFFFF"/>
                      </a:solidFill>
                      <a:prstDash val="solid"/>
                      <a:round/>
                      <a:headEnd type="none" w="sm" len="sm"/>
                      <a:tailEnd type="none" w="sm" len="sm"/>
                    </a:lnL>
                    <a:lnR w="11900" cap="flat" cmpd="sng">
                      <a:solidFill>
                        <a:srgbClr val="FFFFFF"/>
                      </a:solidFill>
                      <a:prstDash val="solid"/>
                      <a:round/>
                      <a:headEnd type="none" w="sm" len="sm"/>
                      <a:tailEnd type="none" w="sm" len="sm"/>
                    </a:lnR>
                    <a:lnT w="11900" cap="flat" cmpd="sng">
                      <a:solidFill>
                        <a:srgbClr val="FFFFFF"/>
                      </a:solidFill>
                      <a:prstDash val="solid"/>
                      <a:round/>
                      <a:headEnd type="none" w="sm" len="sm"/>
                      <a:tailEnd type="none" w="sm" len="sm"/>
                    </a:lnT>
                    <a:lnB w="11900" cap="flat" cmpd="sng">
                      <a:solidFill>
                        <a:srgbClr val="FFFFFF"/>
                      </a:solidFill>
                      <a:prstDash val="solid"/>
                      <a:round/>
                      <a:headEnd type="none" w="sm" len="sm"/>
                      <a:tailEnd type="none" w="sm" len="sm"/>
                    </a:lnB>
                    <a:solidFill>
                      <a:srgbClr val="F4CCCC"/>
                    </a:solidFill>
                  </a:tcPr>
                </a:tc>
                <a:tc>
                  <a:txBody>
                    <a:bodyPr/>
                    <a:lstStyle/>
                    <a:p>
                      <a:pPr marL="0" lvl="0" indent="0" algn="ctr" rtl="0">
                        <a:lnSpc>
                          <a:spcPct val="115000"/>
                        </a:lnSpc>
                        <a:spcBef>
                          <a:spcPts val="0"/>
                        </a:spcBef>
                        <a:spcAft>
                          <a:spcPts val="0"/>
                        </a:spcAft>
                        <a:buNone/>
                      </a:pPr>
                      <a:r>
                        <a:rPr lang="en" sz="800" b="1">
                          <a:solidFill>
                            <a:srgbClr val="EA4335"/>
                          </a:solidFill>
                          <a:latin typeface="Lexend"/>
                          <a:ea typeface="Lexend"/>
                          <a:cs typeface="Lexend"/>
                          <a:sym typeface="Lexend"/>
                        </a:rPr>
                        <a:t>-2.7%</a:t>
                      </a:r>
                      <a:endParaRPr sz="800" b="1">
                        <a:solidFill>
                          <a:srgbClr val="EA4335"/>
                        </a:solidFill>
                        <a:latin typeface="Lexend"/>
                        <a:ea typeface="Lexend"/>
                        <a:cs typeface="Lexend"/>
                        <a:sym typeface="Lexend"/>
                      </a:endParaRPr>
                    </a:p>
                  </a:txBody>
                  <a:tcPr marL="28575" marR="28575" marT="19050" marB="19050" anchor="b">
                    <a:lnL w="11900" cap="flat" cmpd="sng">
                      <a:solidFill>
                        <a:srgbClr val="FFFFFF"/>
                      </a:solidFill>
                      <a:prstDash val="solid"/>
                      <a:round/>
                      <a:headEnd type="none" w="sm" len="sm"/>
                      <a:tailEnd type="none" w="sm" len="sm"/>
                    </a:lnL>
                    <a:lnR w="11900" cap="flat" cmpd="sng">
                      <a:solidFill>
                        <a:srgbClr val="FFFFFF"/>
                      </a:solidFill>
                      <a:prstDash val="solid"/>
                      <a:round/>
                      <a:headEnd type="none" w="sm" len="sm"/>
                      <a:tailEnd type="none" w="sm" len="sm"/>
                    </a:lnR>
                    <a:lnT w="11900" cap="flat" cmpd="sng">
                      <a:solidFill>
                        <a:srgbClr val="FFFFFF"/>
                      </a:solidFill>
                      <a:prstDash val="solid"/>
                      <a:round/>
                      <a:headEnd type="none" w="sm" len="sm"/>
                      <a:tailEnd type="none" w="sm" len="sm"/>
                    </a:lnT>
                    <a:lnB w="11900" cap="flat" cmpd="sng">
                      <a:solidFill>
                        <a:srgbClr val="FFFFFF"/>
                      </a:solidFill>
                      <a:prstDash val="solid"/>
                      <a:round/>
                      <a:headEnd type="none" w="sm" len="sm"/>
                      <a:tailEnd type="none" w="sm" len="sm"/>
                    </a:lnB>
                    <a:solidFill>
                      <a:srgbClr val="F4CCCC"/>
                    </a:solidFill>
                  </a:tcPr>
                </a:tc>
                <a:tc>
                  <a:txBody>
                    <a:bodyPr/>
                    <a:lstStyle/>
                    <a:p>
                      <a:pPr marL="0" lvl="0" indent="0" algn="ctr" rtl="0">
                        <a:lnSpc>
                          <a:spcPct val="115000"/>
                        </a:lnSpc>
                        <a:spcBef>
                          <a:spcPts val="0"/>
                        </a:spcBef>
                        <a:spcAft>
                          <a:spcPts val="0"/>
                        </a:spcAft>
                        <a:buNone/>
                      </a:pPr>
                      <a:r>
                        <a:rPr lang="en" sz="800" b="1">
                          <a:solidFill>
                            <a:srgbClr val="EA4335"/>
                          </a:solidFill>
                          <a:latin typeface="Lexend"/>
                          <a:ea typeface="Lexend"/>
                          <a:cs typeface="Lexend"/>
                          <a:sym typeface="Lexend"/>
                        </a:rPr>
                        <a:t>-0.5%</a:t>
                      </a:r>
                      <a:endParaRPr sz="800" b="1">
                        <a:solidFill>
                          <a:srgbClr val="EA4335"/>
                        </a:solidFill>
                        <a:latin typeface="Lexend"/>
                        <a:ea typeface="Lexend"/>
                        <a:cs typeface="Lexend"/>
                        <a:sym typeface="Lexend"/>
                      </a:endParaRPr>
                    </a:p>
                  </a:txBody>
                  <a:tcPr marL="28575" marR="28575" marT="19050" marB="19050" anchor="b">
                    <a:lnL w="11900" cap="flat" cmpd="sng">
                      <a:solidFill>
                        <a:srgbClr val="FFFFFF"/>
                      </a:solidFill>
                      <a:prstDash val="solid"/>
                      <a:round/>
                      <a:headEnd type="none" w="sm" len="sm"/>
                      <a:tailEnd type="none" w="sm" len="sm"/>
                    </a:lnL>
                    <a:lnR w="11900" cap="flat" cmpd="sng">
                      <a:solidFill>
                        <a:srgbClr val="FFFFFF"/>
                      </a:solidFill>
                      <a:prstDash val="solid"/>
                      <a:round/>
                      <a:headEnd type="none" w="sm" len="sm"/>
                      <a:tailEnd type="none" w="sm" len="sm"/>
                    </a:lnR>
                    <a:lnT w="11900" cap="flat" cmpd="sng">
                      <a:solidFill>
                        <a:srgbClr val="FFFFFF"/>
                      </a:solidFill>
                      <a:prstDash val="solid"/>
                      <a:round/>
                      <a:headEnd type="none" w="sm" len="sm"/>
                      <a:tailEnd type="none" w="sm" len="sm"/>
                    </a:lnT>
                    <a:lnB w="11900" cap="flat" cmpd="sng">
                      <a:solidFill>
                        <a:srgbClr val="FFFFFF"/>
                      </a:solidFill>
                      <a:prstDash val="solid"/>
                      <a:round/>
                      <a:headEnd type="none" w="sm" len="sm"/>
                      <a:tailEnd type="none" w="sm" len="sm"/>
                    </a:lnB>
                    <a:solidFill>
                      <a:srgbClr val="F4CCCC"/>
                    </a:solidFill>
                  </a:tcPr>
                </a:tc>
                <a:tc>
                  <a:txBody>
                    <a:bodyPr/>
                    <a:lstStyle/>
                    <a:p>
                      <a:pPr marL="0" lvl="0" indent="0" algn="ctr" rtl="0">
                        <a:lnSpc>
                          <a:spcPct val="115000"/>
                        </a:lnSpc>
                        <a:spcBef>
                          <a:spcPts val="0"/>
                        </a:spcBef>
                        <a:spcAft>
                          <a:spcPts val="0"/>
                        </a:spcAft>
                        <a:buNone/>
                      </a:pPr>
                      <a:r>
                        <a:rPr lang="en" sz="800" b="1">
                          <a:solidFill>
                            <a:srgbClr val="EA4335"/>
                          </a:solidFill>
                          <a:latin typeface="Lexend"/>
                          <a:ea typeface="Lexend"/>
                          <a:cs typeface="Lexend"/>
                          <a:sym typeface="Lexend"/>
                        </a:rPr>
                        <a:t>-6</a:t>
                      </a:r>
                      <a:endParaRPr sz="800" b="1">
                        <a:solidFill>
                          <a:srgbClr val="EA4335"/>
                        </a:solidFill>
                        <a:latin typeface="Lexend"/>
                        <a:ea typeface="Lexend"/>
                        <a:cs typeface="Lexend"/>
                        <a:sym typeface="Lexend"/>
                      </a:endParaRPr>
                    </a:p>
                  </a:txBody>
                  <a:tcPr marL="28575" marR="28575" marT="19050" marB="19050" anchor="b">
                    <a:lnL w="11900" cap="flat" cmpd="sng">
                      <a:solidFill>
                        <a:srgbClr val="FFFFFF"/>
                      </a:solidFill>
                      <a:prstDash val="solid"/>
                      <a:round/>
                      <a:headEnd type="none" w="sm" len="sm"/>
                      <a:tailEnd type="none" w="sm" len="sm"/>
                    </a:lnL>
                    <a:lnR w="11900" cap="flat" cmpd="sng">
                      <a:solidFill>
                        <a:srgbClr val="FFFFFF"/>
                      </a:solidFill>
                      <a:prstDash val="solid"/>
                      <a:round/>
                      <a:headEnd type="none" w="sm" len="sm"/>
                      <a:tailEnd type="none" w="sm" len="sm"/>
                    </a:lnR>
                    <a:lnT w="11900" cap="flat" cmpd="sng">
                      <a:solidFill>
                        <a:srgbClr val="FFFFFF"/>
                      </a:solidFill>
                      <a:prstDash val="solid"/>
                      <a:round/>
                      <a:headEnd type="none" w="sm" len="sm"/>
                      <a:tailEnd type="none" w="sm" len="sm"/>
                    </a:lnT>
                    <a:lnB w="11900" cap="flat" cmpd="sng">
                      <a:solidFill>
                        <a:srgbClr val="FFFFFF"/>
                      </a:solidFill>
                      <a:prstDash val="solid"/>
                      <a:round/>
                      <a:headEnd type="none" w="sm" len="sm"/>
                      <a:tailEnd type="none" w="sm" len="sm"/>
                    </a:lnB>
                    <a:solidFill>
                      <a:srgbClr val="F4CCCC"/>
                    </a:solidFill>
                  </a:tcPr>
                </a:tc>
                <a:tc>
                  <a:txBody>
                    <a:bodyPr/>
                    <a:lstStyle/>
                    <a:p>
                      <a:pPr marL="0" lvl="0" indent="0" algn="ctr" rtl="0">
                        <a:lnSpc>
                          <a:spcPct val="115000"/>
                        </a:lnSpc>
                        <a:spcBef>
                          <a:spcPts val="0"/>
                        </a:spcBef>
                        <a:spcAft>
                          <a:spcPts val="0"/>
                        </a:spcAft>
                        <a:buNone/>
                      </a:pPr>
                      <a:r>
                        <a:rPr lang="en" sz="800" b="1">
                          <a:solidFill>
                            <a:srgbClr val="38761D"/>
                          </a:solidFill>
                          <a:latin typeface="Lexend"/>
                          <a:ea typeface="Lexend"/>
                          <a:cs typeface="Lexend"/>
                          <a:sym typeface="Lexend"/>
                        </a:rPr>
                        <a:t>3.60</a:t>
                      </a:r>
                      <a:endParaRPr sz="800" b="1">
                        <a:solidFill>
                          <a:srgbClr val="38761D"/>
                        </a:solidFill>
                        <a:latin typeface="Lexend"/>
                        <a:ea typeface="Lexend"/>
                        <a:cs typeface="Lexend"/>
                        <a:sym typeface="Lexend"/>
                      </a:endParaRPr>
                    </a:p>
                  </a:txBody>
                  <a:tcPr marL="28575" marR="28575" marT="19050" marB="19050" anchor="b">
                    <a:lnL w="11900" cap="flat" cmpd="sng">
                      <a:solidFill>
                        <a:srgbClr val="FFFFFF"/>
                      </a:solidFill>
                      <a:prstDash val="solid"/>
                      <a:round/>
                      <a:headEnd type="none" w="sm" len="sm"/>
                      <a:tailEnd type="none" w="sm" len="sm"/>
                    </a:lnL>
                    <a:lnR w="11900" cap="flat" cmpd="sng">
                      <a:solidFill>
                        <a:srgbClr val="FFFFFF"/>
                      </a:solidFill>
                      <a:prstDash val="solid"/>
                      <a:round/>
                      <a:headEnd type="none" w="sm" len="sm"/>
                      <a:tailEnd type="none" w="sm" len="sm"/>
                    </a:lnR>
                    <a:lnT w="11900" cap="flat" cmpd="sng">
                      <a:solidFill>
                        <a:srgbClr val="FFFFFF"/>
                      </a:solidFill>
                      <a:prstDash val="solid"/>
                      <a:round/>
                      <a:headEnd type="none" w="sm" len="sm"/>
                      <a:tailEnd type="none" w="sm" len="sm"/>
                    </a:lnT>
                    <a:lnB w="11900" cap="flat" cmpd="sng">
                      <a:solidFill>
                        <a:srgbClr val="FFFFFF"/>
                      </a:solidFill>
                      <a:prstDash val="solid"/>
                      <a:round/>
                      <a:headEnd type="none" w="sm" len="sm"/>
                      <a:tailEnd type="none" w="sm" len="sm"/>
                    </a:lnB>
                    <a:solidFill>
                      <a:srgbClr val="B7E1CD"/>
                    </a:solidFill>
                  </a:tcPr>
                </a:tc>
                <a:tc>
                  <a:txBody>
                    <a:bodyPr/>
                    <a:lstStyle/>
                    <a:p>
                      <a:pPr marL="0" lvl="0" indent="0" algn="ctr" rtl="0">
                        <a:lnSpc>
                          <a:spcPct val="115000"/>
                        </a:lnSpc>
                        <a:spcBef>
                          <a:spcPts val="0"/>
                        </a:spcBef>
                        <a:spcAft>
                          <a:spcPts val="0"/>
                        </a:spcAft>
                        <a:buNone/>
                      </a:pPr>
                      <a:r>
                        <a:rPr lang="en" sz="800" b="1">
                          <a:solidFill>
                            <a:srgbClr val="EA4335"/>
                          </a:solidFill>
                          <a:latin typeface="Lexend"/>
                          <a:ea typeface="Lexend"/>
                          <a:cs typeface="Lexend"/>
                          <a:sym typeface="Lexend"/>
                        </a:rPr>
                        <a:t>-2.4%</a:t>
                      </a:r>
                      <a:endParaRPr sz="800" b="1">
                        <a:solidFill>
                          <a:srgbClr val="EA4335"/>
                        </a:solidFill>
                        <a:latin typeface="Lexend"/>
                        <a:ea typeface="Lexend"/>
                        <a:cs typeface="Lexend"/>
                        <a:sym typeface="Lexend"/>
                      </a:endParaRPr>
                    </a:p>
                  </a:txBody>
                  <a:tcPr marL="28575" marR="28575" marT="19050" marB="19050" anchor="b">
                    <a:lnL w="11900" cap="flat" cmpd="sng">
                      <a:solidFill>
                        <a:srgbClr val="FFFFFF"/>
                      </a:solidFill>
                      <a:prstDash val="solid"/>
                      <a:round/>
                      <a:headEnd type="none" w="sm" len="sm"/>
                      <a:tailEnd type="none" w="sm" len="sm"/>
                    </a:lnL>
                    <a:lnR w="11900" cap="flat" cmpd="sng">
                      <a:solidFill>
                        <a:srgbClr val="FFFFFF"/>
                      </a:solidFill>
                      <a:prstDash val="solid"/>
                      <a:round/>
                      <a:headEnd type="none" w="sm" len="sm"/>
                      <a:tailEnd type="none" w="sm" len="sm"/>
                    </a:lnR>
                    <a:lnT w="11900" cap="flat" cmpd="sng">
                      <a:solidFill>
                        <a:srgbClr val="FFFFFF"/>
                      </a:solidFill>
                      <a:prstDash val="solid"/>
                      <a:round/>
                      <a:headEnd type="none" w="sm" len="sm"/>
                      <a:tailEnd type="none" w="sm" len="sm"/>
                    </a:lnT>
                    <a:lnB w="11900" cap="flat" cmpd="sng">
                      <a:solidFill>
                        <a:srgbClr val="FFFFFF"/>
                      </a:solidFill>
                      <a:prstDash val="solid"/>
                      <a:round/>
                      <a:headEnd type="none" w="sm" len="sm"/>
                      <a:tailEnd type="none" w="sm" len="sm"/>
                    </a:lnB>
                    <a:solidFill>
                      <a:srgbClr val="F4CCCC"/>
                    </a:solidFill>
                  </a:tcPr>
                </a:tc>
                <a:tc>
                  <a:txBody>
                    <a:bodyPr/>
                    <a:lstStyle/>
                    <a:p>
                      <a:pPr marL="0" lvl="0" indent="0" algn="ctr" rtl="0">
                        <a:lnSpc>
                          <a:spcPct val="115000"/>
                        </a:lnSpc>
                        <a:spcBef>
                          <a:spcPts val="0"/>
                        </a:spcBef>
                        <a:spcAft>
                          <a:spcPts val="0"/>
                        </a:spcAft>
                        <a:buNone/>
                      </a:pPr>
                      <a:r>
                        <a:rPr lang="en" sz="800" b="1">
                          <a:solidFill>
                            <a:srgbClr val="EA4335"/>
                          </a:solidFill>
                          <a:latin typeface="Lexend"/>
                          <a:ea typeface="Lexend"/>
                          <a:cs typeface="Lexend"/>
                          <a:sym typeface="Lexend"/>
                        </a:rPr>
                        <a:t>-1.5%</a:t>
                      </a:r>
                      <a:endParaRPr sz="800" b="1">
                        <a:solidFill>
                          <a:srgbClr val="EA4335"/>
                        </a:solidFill>
                        <a:latin typeface="Lexend"/>
                        <a:ea typeface="Lexend"/>
                        <a:cs typeface="Lexend"/>
                        <a:sym typeface="Lexend"/>
                      </a:endParaRPr>
                    </a:p>
                  </a:txBody>
                  <a:tcPr marL="28575" marR="28575" marT="19050" marB="19050" anchor="b">
                    <a:lnL w="11900" cap="flat" cmpd="sng">
                      <a:solidFill>
                        <a:srgbClr val="FFFFFF"/>
                      </a:solidFill>
                      <a:prstDash val="solid"/>
                      <a:round/>
                      <a:headEnd type="none" w="sm" len="sm"/>
                      <a:tailEnd type="none" w="sm" len="sm"/>
                    </a:lnL>
                    <a:lnR w="11900" cap="flat" cmpd="sng">
                      <a:solidFill>
                        <a:srgbClr val="FFFFFF"/>
                      </a:solidFill>
                      <a:prstDash val="solid"/>
                      <a:round/>
                      <a:headEnd type="none" w="sm" len="sm"/>
                      <a:tailEnd type="none" w="sm" len="sm"/>
                    </a:lnR>
                    <a:lnT w="11900" cap="flat" cmpd="sng">
                      <a:solidFill>
                        <a:srgbClr val="FFFFFF"/>
                      </a:solidFill>
                      <a:prstDash val="solid"/>
                      <a:round/>
                      <a:headEnd type="none" w="sm" len="sm"/>
                      <a:tailEnd type="none" w="sm" len="sm"/>
                    </a:lnT>
                    <a:lnB w="11900" cap="flat" cmpd="sng">
                      <a:solidFill>
                        <a:srgbClr val="FFFFFF"/>
                      </a:solidFill>
                      <a:prstDash val="solid"/>
                      <a:round/>
                      <a:headEnd type="none" w="sm" len="sm"/>
                      <a:tailEnd type="none" w="sm" len="sm"/>
                    </a:lnB>
                    <a:solidFill>
                      <a:srgbClr val="F4CCCC"/>
                    </a:solidFill>
                  </a:tcPr>
                </a:tc>
                <a:extLst>
                  <a:ext uri="{0D108BD9-81ED-4DB2-BD59-A6C34878D82A}">
                    <a16:rowId xmlns:a16="http://schemas.microsoft.com/office/drawing/2014/main" val="10004"/>
                  </a:ext>
                </a:extLst>
              </a:tr>
              <a:tr h="200025">
                <a:tc>
                  <a:txBody>
                    <a:bodyPr/>
                    <a:lstStyle/>
                    <a:p>
                      <a:pPr marL="0" marR="0" lvl="0" indent="0" algn="ctr" rtl="0">
                        <a:lnSpc>
                          <a:spcPct val="115000"/>
                        </a:lnSpc>
                        <a:spcBef>
                          <a:spcPts val="0"/>
                        </a:spcBef>
                        <a:spcAft>
                          <a:spcPts val="0"/>
                        </a:spcAft>
                        <a:buNone/>
                      </a:pPr>
                      <a:r>
                        <a:rPr lang="en" sz="800">
                          <a:latin typeface="Lexend"/>
                          <a:ea typeface="Lexend"/>
                          <a:cs typeface="Lexend"/>
                          <a:sym typeface="Lexend"/>
                        </a:rPr>
                        <a:t>Compared others</a:t>
                      </a:r>
                      <a:endParaRPr sz="800">
                        <a:latin typeface="Lexend"/>
                        <a:ea typeface="Lexend"/>
                        <a:cs typeface="Lexend"/>
                        <a:sym typeface="Lexend"/>
                      </a:endParaRPr>
                    </a:p>
                  </a:txBody>
                  <a:tcPr marL="91425" marR="91425" marT="19050" marB="19050" anchor="b">
                    <a:lnL w="11900" cap="flat" cmpd="sng">
                      <a:solidFill>
                        <a:srgbClr val="FFFFFF"/>
                      </a:solidFill>
                      <a:prstDash val="solid"/>
                      <a:round/>
                      <a:headEnd type="none" w="sm" len="sm"/>
                      <a:tailEnd type="none" w="sm" len="sm"/>
                    </a:lnL>
                    <a:lnR w="11900" cap="flat" cmpd="sng">
                      <a:solidFill>
                        <a:srgbClr val="000000"/>
                      </a:solidFill>
                      <a:prstDash val="solid"/>
                      <a:round/>
                      <a:headEnd type="none" w="sm" len="sm"/>
                      <a:tailEnd type="none" w="sm" len="sm"/>
                    </a:lnR>
                    <a:lnT w="11900" cap="flat" cmpd="sng">
                      <a:solidFill>
                        <a:srgbClr val="FFFFFF"/>
                      </a:solidFill>
                      <a:prstDash val="solid"/>
                      <a:round/>
                      <a:headEnd type="none" w="sm" len="sm"/>
                      <a:tailEnd type="none" w="sm" len="sm"/>
                    </a:lnT>
                    <a:lnB w="11900" cap="flat" cmpd="sng">
                      <a:solidFill>
                        <a:srgbClr val="FFFFFF"/>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ctr">
                    <a:lnL w="11900" cap="flat" cmpd="sng">
                      <a:solidFill>
                        <a:srgbClr val="000000"/>
                      </a:solidFill>
                      <a:prstDash val="solid"/>
                      <a:round/>
                      <a:headEnd type="none" w="sm" len="sm"/>
                      <a:tailEnd type="none" w="sm" len="sm"/>
                    </a:lnL>
                    <a:lnR w="11900" cap="flat" cmpd="sng">
                      <a:solidFill>
                        <a:srgbClr val="FFFFFF"/>
                      </a:solidFill>
                      <a:prstDash val="solid"/>
                      <a:round/>
                      <a:headEnd type="none" w="sm" len="sm"/>
                      <a:tailEnd type="none" w="sm" len="sm"/>
                    </a:lnR>
                    <a:lnT w="11900" cap="flat" cmpd="sng">
                      <a:solidFill>
                        <a:srgbClr val="FFFFFF"/>
                      </a:solidFill>
                      <a:prstDash val="solid"/>
                      <a:round/>
                      <a:headEnd type="none" w="sm" len="sm"/>
                      <a:tailEnd type="none" w="sm" len="sm"/>
                    </a:lnT>
                    <a:lnB w="11900" cap="flat" cmpd="sng">
                      <a:solidFill>
                        <a:srgbClr val="FFFFFF"/>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800" b="1">
                          <a:solidFill>
                            <a:srgbClr val="FFFFFF"/>
                          </a:solidFill>
                          <a:latin typeface="Lexend"/>
                          <a:ea typeface="Lexend"/>
                          <a:cs typeface="Lexend"/>
                          <a:sym typeface="Lexend"/>
                        </a:rPr>
                        <a:t>8.9%</a:t>
                      </a:r>
                      <a:endParaRPr sz="800" b="1">
                        <a:solidFill>
                          <a:srgbClr val="FFFFFF"/>
                        </a:solidFill>
                        <a:latin typeface="Lexend"/>
                        <a:ea typeface="Lexend"/>
                        <a:cs typeface="Lexend"/>
                        <a:sym typeface="Lexend"/>
                      </a:endParaRPr>
                    </a:p>
                  </a:txBody>
                  <a:tcPr marL="28575" marR="28575" marT="19050" marB="19050" anchor="ctr">
                    <a:lnL w="11900" cap="flat" cmpd="sng">
                      <a:solidFill>
                        <a:srgbClr val="FFFFFF"/>
                      </a:solidFill>
                      <a:prstDash val="solid"/>
                      <a:round/>
                      <a:headEnd type="none" w="sm" len="sm"/>
                      <a:tailEnd type="none" w="sm" len="sm"/>
                    </a:lnL>
                    <a:lnR w="11900" cap="flat" cmpd="sng">
                      <a:solidFill>
                        <a:srgbClr val="FFFFFF"/>
                      </a:solidFill>
                      <a:prstDash val="solid"/>
                      <a:round/>
                      <a:headEnd type="none" w="sm" len="sm"/>
                      <a:tailEnd type="none" w="sm" len="sm"/>
                    </a:lnR>
                    <a:lnT w="11900" cap="flat" cmpd="sng">
                      <a:solidFill>
                        <a:srgbClr val="FFFFFF"/>
                      </a:solidFill>
                      <a:prstDash val="solid"/>
                      <a:round/>
                      <a:headEnd type="none" w="sm" len="sm"/>
                      <a:tailEnd type="none" w="sm" len="sm"/>
                    </a:lnT>
                    <a:lnB w="11900" cap="flat" cmpd="sng">
                      <a:solidFill>
                        <a:srgbClr val="FFFFFF"/>
                      </a:solidFill>
                      <a:prstDash val="solid"/>
                      <a:round/>
                      <a:headEnd type="none" w="sm" len="sm"/>
                      <a:tailEnd type="none" w="sm" len="sm"/>
                    </a:lnB>
                    <a:solidFill>
                      <a:srgbClr val="6AA84F"/>
                    </a:solidFill>
                  </a:tcPr>
                </a:tc>
                <a:tc>
                  <a:txBody>
                    <a:bodyPr/>
                    <a:lstStyle/>
                    <a:p>
                      <a:pPr marL="0" lvl="0" indent="0" algn="ctr" rtl="0">
                        <a:lnSpc>
                          <a:spcPct val="115000"/>
                        </a:lnSpc>
                        <a:spcBef>
                          <a:spcPts val="0"/>
                        </a:spcBef>
                        <a:spcAft>
                          <a:spcPts val="0"/>
                        </a:spcAft>
                        <a:buNone/>
                      </a:pPr>
                      <a:r>
                        <a:rPr lang="en" sz="800" b="1">
                          <a:solidFill>
                            <a:srgbClr val="FFFFFF"/>
                          </a:solidFill>
                          <a:latin typeface="Lexend"/>
                          <a:ea typeface="Lexend"/>
                          <a:cs typeface="Lexend"/>
                          <a:sym typeface="Lexend"/>
                        </a:rPr>
                        <a:t>-3.4%</a:t>
                      </a:r>
                      <a:endParaRPr sz="800" b="1">
                        <a:solidFill>
                          <a:srgbClr val="FFFFFF"/>
                        </a:solidFill>
                        <a:latin typeface="Lexend"/>
                        <a:ea typeface="Lexend"/>
                        <a:cs typeface="Lexend"/>
                        <a:sym typeface="Lexend"/>
                      </a:endParaRPr>
                    </a:p>
                  </a:txBody>
                  <a:tcPr marL="28575" marR="28575" marT="19050" marB="19050" anchor="ctr">
                    <a:lnL w="11900" cap="flat" cmpd="sng">
                      <a:solidFill>
                        <a:srgbClr val="FFFFFF"/>
                      </a:solidFill>
                      <a:prstDash val="solid"/>
                      <a:round/>
                      <a:headEnd type="none" w="sm" len="sm"/>
                      <a:tailEnd type="none" w="sm" len="sm"/>
                    </a:lnL>
                    <a:lnR w="11900" cap="flat" cmpd="sng">
                      <a:solidFill>
                        <a:srgbClr val="FFFFFF"/>
                      </a:solidFill>
                      <a:prstDash val="solid"/>
                      <a:round/>
                      <a:headEnd type="none" w="sm" len="sm"/>
                      <a:tailEnd type="none" w="sm" len="sm"/>
                    </a:lnR>
                    <a:lnT w="11900" cap="flat" cmpd="sng">
                      <a:solidFill>
                        <a:srgbClr val="FFFFFF"/>
                      </a:solidFill>
                      <a:prstDash val="solid"/>
                      <a:round/>
                      <a:headEnd type="none" w="sm" len="sm"/>
                      <a:tailEnd type="none" w="sm" len="sm"/>
                    </a:lnT>
                    <a:lnB w="11900" cap="flat" cmpd="sng">
                      <a:solidFill>
                        <a:srgbClr val="FFFFFF"/>
                      </a:solidFill>
                      <a:prstDash val="solid"/>
                      <a:round/>
                      <a:headEnd type="none" w="sm" len="sm"/>
                      <a:tailEnd type="none" w="sm" len="sm"/>
                    </a:lnB>
                    <a:solidFill>
                      <a:srgbClr val="E06666"/>
                    </a:solidFill>
                  </a:tcPr>
                </a:tc>
                <a:tc>
                  <a:txBody>
                    <a:bodyPr/>
                    <a:lstStyle/>
                    <a:p>
                      <a:pPr marL="0" lvl="0" indent="0" algn="ctr" rtl="0">
                        <a:lnSpc>
                          <a:spcPct val="115000"/>
                        </a:lnSpc>
                        <a:spcBef>
                          <a:spcPts val="0"/>
                        </a:spcBef>
                        <a:spcAft>
                          <a:spcPts val="0"/>
                        </a:spcAft>
                        <a:buNone/>
                      </a:pPr>
                      <a:r>
                        <a:rPr lang="en" sz="800" b="1">
                          <a:solidFill>
                            <a:srgbClr val="FFFFFF"/>
                          </a:solidFill>
                          <a:latin typeface="Lexend"/>
                          <a:ea typeface="Lexend"/>
                          <a:cs typeface="Lexend"/>
                          <a:sym typeface="Lexend"/>
                        </a:rPr>
                        <a:t>-1.6%</a:t>
                      </a:r>
                      <a:endParaRPr sz="800" b="1">
                        <a:solidFill>
                          <a:srgbClr val="FFFFFF"/>
                        </a:solidFill>
                        <a:latin typeface="Lexend"/>
                        <a:ea typeface="Lexend"/>
                        <a:cs typeface="Lexend"/>
                        <a:sym typeface="Lexend"/>
                      </a:endParaRPr>
                    </a:p>
                  </a:txBody>
                  <a:tcPr marL="28575" marR="28575" marT="19050" marB="19050" anchor="ctr">
                    <a:lnL w="11900" cap="flat" cmpd="sng">
                      <a:solidFill>
                        <a:srgbClr val="FFFFFF"/>
                      </a:solidFill>
                      <a:prstDash val="solid"/>
                      <a:round/>
                      <a:headEnd type="none" w="sm" len="sm"/>
                      <a:tailEnd type="none" w="sm" len="sm"/>
                    </a:lnL>
                    <a:lnR w="11900" cap="flat" cmpd="sng">
                      <a:solidFill>
                        <a:srgbClr val="FFFFFF"/>
                      </a:solidFill>
                      <a:prstDash val="solid"/>
                      <a:round/>
                      <a:headEnd type="none" w="sm" len="sm"/>
                      <a:tailEnd type="none" w="sm" len="sm"/>
                    </a:lnR>
                    <a:lnT w="11900" cap="flat" cmpd="sng">
                      <a:solidFill>
                        <a:srgbClr val="FFFFFF"/>
                      </a:solidFill>
                      <a:prstDash val="solid"/>
                      <a:round/>
                      <a:headEnd type="none" w="sm" len="sm"/>
                      <a:tailEnd type="none" w="sm" len="sm"/>
                    </a:lnT>
                    <a:lnB w="11900" cap="flat" cmpd="sng">
                      <a:solidFill>
                        <a:srgbClr val="FFFFFF"/>
                      </a:solidFill>
                      <a:prstDash val="solid"/>
                      <a:round/>
                      <a:headEnd type="none" w="sm" len="sm"/>
                      <a:tailEnd type="none" w="sm" len="sm"/>
                    </a:lnB>
                    <a:solidFill>
                      <a:srgbClr val="E06666"/>
                    </a:solidFill>
                  </a:tcPr>
                </a:tc>
                <a:tc>
                  <a:txBody>
                    <a:bodyPr/>
                    <a:lstStyle/>
                    <a:p>
                      <a:pPr marL="0" lvl="0" indent="0" algn="l" rtl="0">
                        <a:spcBef>
                          <a:spcPts val="0"/>
                        </a:spcBef>
                        <a:spcAft>
                          <a:spcPts val="0"/>
                        </a:spcAft>
                        <a:buNone/>
                      </a:pPr>
                      <a:endParaRPr/>
                    </a:p>
                  </a:txBody>
                  <a:tcPr marL="28575" marR="28575" marT="19050" marB="19050" anchor="ctr">
                    <a:lnL w="11900" cap="flat" cmpd="sng">
                      <a:solidFill>
                        <a:srgbClr val="FFFFFF"/>
                      </a:solidFill>
                      <a:prstDash val="solid"/>
                      <a:round/>
                      <a:headEnd type="none" w="sm" len="sm"/>
                      <a:tailEnd type="none" w="sm" len="sm"/>
                    </a:lnL>
                    <a:lnR w="11900" cap="flat" cmpd="sng">
                      <a:solidFill>
                        <a:srgbClr val="FFFFFF"/>
                      </a:solidFill>
                      <a:prstDash val="solid"/>
                      <a:round/>
                      <a:headEnd type="none" w="sm" len="sm"/>
                      <a:tailEnd type="none" w="sm" len="sm"/>
                    </a:lnR>
                    <a:lnT w="11900" cap="flat" cmpd="sng">
                      <a:solidFill>
                        <a:srgbClr val="FFFFFF"/>
                      </a:solidFill>
                      <a:prstDash val="solid"/>
                      <a:round/>
                      <a:headEnd type="none" w="sm" len="sm"/>
                      <a:tailEnd type="none" w="sm" len="sm"/>
                    </a:lnT>
                    <a:lnB w="11900" cap="flat" cmpd="sng">
                      <a:solidFill>
                        <a:srgbClr val="FFFFFF"/>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800" b="1">
                          <a:solidFill>
                            <a:srgbClr val="FFFFFF"/>
                          </a:solidFill>
                          <a:latin typeface="Lexend"/>
                          <a:ea typeface="Lexend"/>
                          <a:cs typeface="Lexend"/>
                          <a:sym typeface="Lexend"/>
                        </a:rPr>
                        <a:t>126.7%</a:t>
                      </a:r>
                      <a:endParaRPr sz="800" b="1">
                        <a:solidFill>
                          <a:srgbClr val="FFFFFF"/>
                        </a:solidFill>
                        <a:latin typeface="Lexend"/>
                        <a:ea typeface="Lexend"/>
                        <a:cs typeface="Lexend"/>
                        <a:sym typeface="Lexend"/>
                      </a:endParaRPr>
                    </a:p>
                  </a:txBody>
                  <a:tcPr marL="28575" marR="28575" marT="19050" marB="19050" anchor="ctr">
                    <a:lnL w="11900" cap="flat" cmpd="sng">
                      <a:solidFill>
                        <a:srgbClr val="FFFFFF"/>
                      </a:solidFill>
                      <a:prstDash val="solid"/>
                      <a:round/>
                      <a:headEnd type="none" w="sm" len="sm"/>
                      <a:tailEnd type="none" w="sm" len="sm"/>
                    </a:lnL>
                    <a:lnR w="11900" cap="flat" cmpd="sng">
                      <a:solidFill>
                        <a:srgbClr val="FFFFFF"/>
                      </a:solidFill>
                      <a:prstDash val="solid"/>
                      <a:round/>
                      <a:headEnd type="none" w="sm" len="sm"/>
                      <a:tailEnd type="none" w="sm" len="sm"/>
                    </a:lnR>
                    <a:lnT w="11900" cap="flat" cmpd="sng">
                      <a:solidFill>
                        <a:srgbClr val="FFFFFF"/>
                      </a:solidFill>
                      <a:prstDash val="solid"/>
                      <a:round/>
                      <a:headEnd type="none" w="sm" len="sm"/>
                      <a:tailEnd type="none" w="sm" len="sm"/>
                    </a:lnT>
                    <a:lnB w="11900" cap="flat" cmpd="sng">
                      <a:solidFill>
                        <a:srgbClr val="FFFFFF"/>
                      </a:solidFill>
                      <a:prstDash val="solid"/>
                      <a:round/>
                      <a:headEnd type="none" w="sm" len="sm"/>
                      <a:tailEnd type="none" w="sm" len="sm"/>
                    </a:lnB>
                    <a:solidFill>
                      <a:srgbClr val="6AA84F"/>
                    </a:solidFill>
                  </a:tcPr>
                </a:tc>
                <a:tc>
                  <a:txBody>
                    <a:bodyPr/>
                    <a:lstStyle/>
                    <a:p>
                      <a:pPr marL="0" lvl="0" indent="0" algn="ctr" rtl="0">
                        <a:lnSpc>
                          <a:spcPct val="115000"/>
                        </a:lnSpc>
                        <a:spcBef>
                          <a:spcPts val="0"/>
                        </a:spcBef>
                        <a:spcAft>
                          <a:spcPts val="0"/>
                        </a:spcAft>
                        <a:buNone/>
                      </a:pPr>
                      <a:r>
                        <a:rPr lang="en" sz="800" b="1">
                          <a:solidFill>
                            <a:srgbClr val="FFFFFF"/>
                          </a:solidFill>
                          <a:latin typeface="Lexend"/>
                          <a:ea typeface="Lexend"/>
                          <a:cs typeface="Lexend"/>
                          <a:sym typeface="Lexend"/>
                        </a:rPr>
                        <a:t>4.4%</a:t>
                      </a:r>
                      <a:endParaRPr sz="800" b="1">
                        <a:solidFill>
                          <a:srgbClr val="FFFFFF"/>
                        </a:solidFill>
                        <a:latin typeface="Lexend"/>
                        <a:ea typeface="Lexend"/>
                        <a:cs typeface="Lexend"/>
                        <a:sym typeface="Lexend"/>
                      </a:endParaRPr>
                    </a:p>
                  </a:txBody>
                  <a:tcPr marL="28575" marR="28575" marT="19050" marB="19050" anchor="ctr">
                    <a:lnL w="11900" cap="flat" cmpd="sng">
                      <a:solidFill>
                        <a:srgbClr val="FFFFFF"/>
                      </a:solidFill>
                      <a:prstDash val="solid"/>
                      <a:round/>
                      <a:headEnd type="none" w="sm" len="sm"/>
                      <a:tailEnd type="none" w="sm" len="sm"/>
                    </a:lnL>
                    <a:lnR w="11900" cap="flat" cmpd="sng">
                      <a:solidFill>
                        <a:srgbClr val="FFFFFF"/>
                      </a:solidFill>
                      <a:prstDash val="solid"/>
                      <a:round/>
                      <a:headEnd type="none" w="sm" len="sm"/>
                      <a:tailEnd type="none" w="sm" len="sm"/>
                    </a:lnR>
                    <a:lnT w="11900" cap="flat" cmpd="sng">
                      <a:solidFill>
                        <a:srgbClr val="FFFFFF"/>
                      </a:solidFill>
                      <a:prstDash val="solid"/>
                      <a:round/>
                      <a:headEnd type="none" w="sm" len="sm"/>
                      <a:tailEnd type="none" w="sm" len="sm"/>
                    </a:lnT>
                    <a:lnB w="11900" cap="flat" cmpd="sng">
                      <a:solidFill>
                        <a:srgbClr val="FFFFFF"/>
                      </a:solidFill>
                      <a:prstDash val="solid"/>
                      <a:round/>
                      <a:headEnd type="none" w="sm" len="sm"/>
                      <a:tailEnd type="none" w="sm" len="sm"/>
                    </a:lnB>
                    <a:solidFill>
                      <a:srgbClr val="6AA84F"/>
                    </a:solidFill>
                  </a:tcPr>
                </a:tc>
                <a:tc>
                  <a:txBody>
                    <a:bodyPr/>
                    <a:lstStyle/>
                    <a:p>
                      <a:pPr marL="0" lvl="0" indent="0" algn="ctr" rtl="0">
                        <a:lnSpc>
                          <a:spcPct val="115000"/>
                        </a:lnSpc>
                        <a:spcBef>
                          <a:spcPts val="0"/>
                        </a:spcBef>
                        <a:spcAft>
                          <a:spcPts val="0"/>
                        </a:spcAft>
                        <a:buNone/>
                      </a:pPr>
                      <a:r>
                        <a:rPr lang="en" sz="800" b="1">
                          <a:solidFill>
                            <a:srgbClr val="FFFFFF"/>
                          </a:solidFill>
                          <a:latin typeface="Lexend"/>
                          <a:ea typeface="Lexend"/>
                          <a:cs typeface="Lexend"/>
                          <a:sym typeface="Lexend"/>
                        </a:rPr>
                        <a:t>7.2%</a:t>
                      </a:r>
                      <a:endParaRPr sz="800" b="1">
                        <a:solidFill>
                          <a:srgbClr val="FFFFFF"/>
                        </a:solidFill>
                        <a:latin typeface="Lexend"/>
                        <a:ea typeface="Lexend"/>
                        <a:cs typeface="Lexend"/>
                        <a:sym typeface="Lexend"/>
                      </a:endParaRPr>
                    </a:p>
                  </a:txBody>
                  <a:tcPr marL="28575" marR="28575" marT="19050" marB="19050" anchor="ctr">
                    <a:lnL w="11900" cap="flat" cmpd="sng">
                      <a:solidFill>
                        <a:srgbClr val="FFFFFF"/>
                      </a:solidFill>
                      <a:prstDash val="solid"/>
                      <a:round/>
                      <a:headEnd type="none" w="sm" len="sm"/>
                      <a:tailEnd type="none" w="sm" len="sm"/>
                    </a:lnL>
                    <a:lnR w="11900" cap="flat" cmpd="sng">
                      <a:solidFill>
                        <a:srgbClr val="FFFFFF"/>
                      </a:solidFill>
                      <a:prstDash val="solid"/>
                      <a:round/>
                      <a:headEnd type="none" w="sm" len="sm"/>
                      <a:tailEnd type="none" w="sm" len="sm"/>
                    </a:lnR>
                    <a:lnT w="11900" cap="flat" cmpd="sng">
                      <a:solidFill>
                        <a:srgbClr val="FFFFFF"/>
                      </a:solidFill>
                      <a:prstDash val="solid"/>
                      <a:round/>
                      <a:headEnd type="none" w="sm" len="sm"/>
                      <a:tailEnd type="none" w="sm" len="sm"/>
                    </a:lnT>
                    <a:lnB w="11900" cap="flat" cmpd="sng">
                      <a:solidFill>
                        <a:srgbClr val="FFFFFF"/>
                      </a:solidFill>
                      <a:prstDash val="solid"/>
                      <a:round/>
                      <a:headEnd type="none" w="sm" len="sm"/>
                      <a:tailEnd type="none" w="sm" len="sm"/>
                    </a:lnB>
                    <a:solidFill>
                      <a:srgbClr val="6AA84F"/>
                    </a:solidFill>
                  </a:tcPr>
                </a:tc>
                <a:extLst>
                  <a:ext uri="{0D108BD9-81ED-4DB2-BD59-A6C34878D82A}">
                    <a16:rowId xmlns:a16="http://schemas.microsoft.com/office/drawing/2014/main" val="10005"/>
                  </a:ext>
                </a:extLst>
              </a:tr>
              <a:tr h="200025">
                <a:tc>
                  <a:txBody>
                    <a:bodyPr/>
                    <a:lstStyle/>
                    <a:p>
                      <a:pPr marL="0" lvl="0" indent="0" algn="ctr" rtl="0">
                        <a:lnSpc>
                          <a:spcPct val="115000"/>
                        </a:lnSpc>
                        <a:spcBef>
                          <a:spcPts val="0"/>
                        </a:spcBef>
                        <a:spcAft>
                          <a:spcPts val="0"/>
                        </a:spcAft>
                        <a:buNone/>
                      </a:pPr>
                      <a:r>
                        <a:rPr lang="en" sz="800" b="1">
                          <a:latin typeface="Lexend"/>
                          <a:ea typeface="Lexend"/>
                          <a:cs typeface="Lexend"/>
                          <a:sym typeface="Lexend"/>
                        </a:rPr>
                        <a:t>KPIs Target</a:t>
                      </a:r>
                      <a:endParaRPr sz="800" b="1">
                        <a:latin typeface="Lexend"/>
                        <a:ea typeface="Lexend"/>
                        <a:cs typeface="Lexend"/>
                        <a:sym typeface="Lexend"/>
                      </a:endParaRPr>
                    </a:p>
                  </a:txBody>
                  <a:tcPr marL="28575" marR="28575" marT="19050" marB="19050" anchor="b">
                    <a:lnL w="11900" cap="flat" cmpd="sng">
                      <a:solidFill>
                        <a:srgbClr val="FFFFFF"/>
                      </a:solidFill>
                      <a:prstDash val="solid"/>
                      <a:round/>
                      <a:headEnd type="none" w="sm" len="sm"/>
                      <a:tailEnd type="none" w="sm" len="sm"/>
                    </a:lnL>
                    <a:lnR w="11900" cap="flat" cmpd="sng">
                      <a:solidFill>
                        <a:srgbClr val="FFFFFF"/>
                      </a:solidFill>
                      <a:prstDash val="solid"/>
                      <a:round/>
                      <a:headEnd type="none" w="sm" len="sm"/>
                      <a:tailEnd type="none" w="sm" len="sm"/>
                    </a:lnR>
                    <a:lnT w="11900" cap="flat" cmpd="sng">
                      <a:solidFill>
                        <a:srgbClr val="FFFFFF"/>
                      </a:solidFill>
                      <a:prstDash val="solid"/>
                      <a:round/>
                      <a:headEnd type="none" w="sm" len="sm"/>
                      <a:tailEnd type="none" w="sm" len="sm"/>
                    </a:lnT>
                    <a:lnB w="11900" cap="flat" cmpd="sng">
                      <a:solidFill>
                        <a:srgbClr val="FFFFFF"/>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800">
                          <a:latin typeface="Lexend"/>
                          <a:ea typeface="Lexend"/>
                          <a:cs typeface="Lexend"/>
                          <a:sym typeface="Lexend"/>
                        </a:rPr>
                        <a:t>70</a:t>
                      </a:r>
                      <a:endParaRPr sz="800">
                        <a:latin typeface="Lexend"/>
                        <a:ea typeface="Lexend"/>
                        <a:cs typeface="Lexend"/>
                        <a:sym typeface="Lexend"/>
                      </a:endParaRPr>
                    </a:p>
                  </a:txBody>
                  <a:tcPr marL="28575" marR="28575" marT="19050" marB="19050" anchor="b">
                    <a:lnL w="11900" cap="flat" cmpd="sng">
                      <a:solidFill>
                        <a:srgbClr val="FFFFFF"/>
                      </a:solidFill>
                      <a:prstDash val="solid"/>
                      <a:round/>
                      <a:headEnd type="none" w="sm" len="sm"/>
                      <a:tailEnd type="none" w="sm" len="sm"/>
                    </a:lnL>
                    <a:lnR w="11900" cap="flat" cmpd="sng">
                      <a:solidFill>
                        <a:srgbClr val="FFFFFF"/>
                      </a:solidFill>
                      <a:prstDash val="solid"/>
                      <a:round/>
                      <a:headEnd type="none" w="sm" len="sm"/>
                      <a:tailEnd type="none" w="sm" len="sm"/>
                    </a:lnR>
                    <a:lnT w="11900" cap="flat" cmpd="sng">
                      <a:solidFill>
                        <a:srgbClr val="FFFFFF"/>
                      </a:solidFill>
                      <a:prstDash val="solid"/>
                      <a:round/>
                      <a:headEnd type="none" w="sm" len="sm"/>
                      <a:tailEnd type="none" w="sm" len="sm"/>
                    </a:lnT>
                    <a:lnB w="11900" cap="flat" cmpd="sng">
                      <a:solidFill>
                        <a:srgbClr val="FFFFFF"/>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800">
                          <a:latin typeface="Lexend"/>
                          <a:ea typeface="Lexend"/>
                          <a:cs typeface="Lexend"/>
                          <a:sym typeface="Lexend"/>
                        </a:rPr>
                        <a:t>130</a:t>
                      </a:r>
                      <a:endParaRPr sz="800">
                        <a:latin typeface="Lexend"/>
                        <a:ea typeface="Lexend"/>
                        <a:cs typeface="Lexend"/>
                        <a:sym typeface="Lexend"/>
                      </a:endParaRPr>
                    </a:p>
                  </a:txBody>
                  <a:tcPr marL="28575" marR="28575" marT="19050" marB="19050" anchor="b">
                    <a:lnL w="11900" cap="flat" cmpd="sng">
                      <a:solidFill>
                        <a:srgbClr val="FFFFFF"/>
                      </a:solidFill>
                      <a:prstDash val="solid"/>
                      <a:round/>
                      <a:headEnd type="none" w="sm" len="sm"/>
                      <a:tailEnd type="none" w="sm" len="sm"/>
                    </a:lnL>
                    <a:lnR w="11900" cap="flat" cmpd="sng">
                      <a:solidFill>
                        <a:srgbClr val="FFFFFF"/>
                      </a:solidFill>
                      <a:prstDash val="solid"/>
                      <a:round/>
                      <a:headEnd type="none" w="sm" len="sm"/>
                      <a:tailEnd type="none" w="sm" len="sm"/>
                    </a:lnR>
                    <a:lnT w="11900" cap="flat" cmpd="sng">
                      <a:solidFill>
                        <a:srgbClr val="FFFFFF"/>
                      </a:solidFill>
                      <a:prstDash val="solid"/>
                      <a:round/>
                      <a:headEnd type="none" w="sm" len="sm"/>
                      <a:tailEnd type="none" w="sm" len="sm"/>
                    </a:lnT>
                    <a:lnB w="11900" cap="flat" cmpd="sng">
                      <a:solidFill>
                        <a:srgbClr val="FFFFFF"/>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800">
                          <a:latin typeface="Lexend"/>
                          <a:ea typeface="Lexend"/>
                          <a:cs typeface="Lexend"/>
                          <a:sym typeface="Lexend"/>
                        </a:rPr>
                        <a:t>92%</a:t>
                      </a:r>
                      <a:endParaRPr sz="800">
                        <a:latin typeface="Lexend"/>
                        <a:ea typeface="Lexend"/>
                        <a:cs typeface="Lexend"/>
                        <a:sym typeface="Lexend"/>
                      </a:endParaRPr>
                    </a:p>
                  </a:txBody>
                  <a:tcPr marL="28575" marR="28575" marT="19050" marB="19050" anchor="b">
                    <a:lnL w="11900" cap="flat" cmpd="sng">
                      <a:solidFill>
                        <a:srgbClr val="FFFFFF"/>
                      </a:solidFill>
                      <a:prstDash val="solid"/>
                      <a:round/>
                      <a:headEnd type="none" w="sm" len="sm"/>
                      <a:tailEnd type="none" w="sm" len="sm"/>
                    </a:lnL>
                    <a:lnR w="11900" cap="flat" cmpd="sng">
                      <a:solidFill>
                        <a:srgbClr val="FFFFFF"/>
                      </a:solidFill>
                      <a:prstDash val="solid"/>
                      <a:round/>
                      <a:headEnd type="none" w="sm" len="sm"/>
                      <a:tailEnd type="none" w="sm" len="sm"/>
                    </a:lnR>
                    <a:lnT w="11900" cap="flat" cmpd="sng">
                      <a:solidFill>
                        <a:srgbClr val="FFFFFF"/>
                      </a:solidFill>
                      <a:prstDash val="solid"/>
                      <a:round/>
                      <a:headEnd type="none" w="sm" len="sm"/>
                      <a:tailEnd type="none" w="sm" len="sm"/>
                    </a:lnT>
                    <a:lnB w="11900" cap="flat" cmpd="sng">
                      <a:solidFill>
                        <a:srgbClr val="FFFFFF"/>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800">
                          <a:latin typeface="Lexend"/>
                          <a:ea typeface="Lexend"/>
                          <a:cs typeface="Lexend"/>
                          <a:sym typeface="Lexend"/>
                        </a:rPr>
                        <a:t>92%</a:t>
                      </a:r>
                      <a:endParaRPr sz="800">
                        <a:latin typeface="Lexend"/>
                        <a:ea typeface="Lexend"/>
                        <a:cs typeface="Lexend"/>
                        <a:sym typeface="Lexend"/>
                      </a:endParaRPr>
                    </a:p>
                  </a:txBody>
                  <a:tcPr marL="28575" marR="28575" marT="19050" marB="19050" anchor="b">
                    <a:lnL w="11900" cap="flat" cmpd="sng">
                      <a:solidFill>
                        <a:srgbClr val="FFFFFF"/>
                      </a:solidFill>
                      <a:prstDash val="solid"/>
                      <a:round/>
                      <a:headEnd type="none" w="sm" len="sm"/>
                      <a:tailEnd type="none" w="sm" len="sm"/>
                    </a:lnL>
                    <a:lnR w="11900" cap="flat" cmpd="sng">
                      <a:solidFill>
                        <a:srgbClr val="FFFFFF"/>
                      </a:solidFill>
                      <a:prstDash val="solid"/>
                      <a:round/>
                      <a:headEnd type="none" w="sm" len="sm"/>
                      <a:tailEnd type="none" w="sm" len="sm"/>
                    </a:lnR>
                    <a:lnT w="11900" cap="flat" cmpd="sng">
                      <a:solidFill>
                        <a:srgbClr val="FFFFFF"/>
                      </a:solidFill>
                      <a:prstDash val="solid"/>
                      <a:round/>
                      <a:headEnd type="none" w="sm" len="sm"/>
                      <a:tailEnd type="none" w="sm" len="sm"/>
                    </a:lnT>
                    <a:lnB w="11900" cap="flat" cmpd="sng">
                      <a:solidFill>
                        <a:srgbClr val="FFFFFF"/>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800">
                          <a:latin typeface="Lexend"/>
                          <a:ea typeface="Lexend"/>
                          <a:cs typeface="Lexend"/>
                          <a:sym typeface="Lexend"/>
                        </a:rPr>
                        <a:t>80</a:t>
                      </a:r>
                      <a:endParaRPr sz="800">
                        <a:latin typeface="Lexend"/>
                        <a:ea typeface="Lexend"/>
                        <a:cs typeface="Lexend"/>
                        <a:sym typeface="Lexend"/>
                      </a:endParaRPr>
                    </a:p>
                  </a:txBody>
                  <a:tcPr marL="28575" marR="28575" marT="19050" marB="19050" anchor="b">
                    <a:lnL w="11900" cap="flat" cmpd="sng">
                      <a:solidFill>
                        <a:srgbClr val="FFFFFF"/>
                      </a:solidFill>
                      <a:prstDash val="solid"/>
                      <a:round/>
                      <a:headEnd type="none" w="sm" len="sm"/>
                      <a:tailEnd type="none" w="sm" len="sm"/>
                    </a:lnL>
                    <a:lnR w="11900" cap="flat" cmpd="sng">
                      <a:solidFill>
                        <a:srgbClr val="FFFFFF"/>
                      </a:solidFill>
                      <a:prstDash val="solid"/>
                      <a:round/>
                      <a:headEnd type="none" w="sm" len="sm"/>
                      <a:tailEnd type="none" w="sm" len="sm"/>
                    </a:lnR>
                    <a:lnT w="11900" cap="flat" cmpd="sng">
                      <a:solidFill>
                        <a:srgbClr val="FFFFFF"/>
                      </a:solidFill>
                      <a:prstDash val="solid"/>
                      <a:round/>
                      <a:headEnd type="none" w="sm" len="sm"/>
                      <a:tailEnd type="none" w="sm" len="sm"/>
                    </a:lnT>
                    <a:lnB w="11900" cap="flat" cmpd="sng">
                      <a:solidFill>
                        <a:srgbClr val="FFFFFF"/>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800">
                          <a:latin typeface="Lexend"/>
                          <a:ea typeface="Lexend"/>
                          <a:cs typeface="Lexend"/>
                          <a:sym typeface="Lexend"/>
                        </a:rPr>
                        <a:t>130</a:t>
                      </a:r>
                      <a:endParaRPr sz="800">
                        <a:latin typeface="Lexend"/>
                        <a:ea typeface="Lexend"/>
                        <a:cs typeface="Lexend"/>
                        <a:sym typeface="Lexend"/>
                      </a:endParaRPr>
                    </a:p>
                  </a:txBody>
                  <a:tcPr marL="28575" marR="28575" marT="19050" marB="19050" anchor="b">
                    <a:lnL w="11900" cap="flat" cmpd="sng">
                      <a:solidFill>
                        <a:srgbClr val="FFFFFF"/>
                      </a:solidFill>
                      <a:prstDash val="solid"/>
                      <a:round/>
                      <a:headEnd type="none" w="sm" len="sm"/>
                      <a:tailEnd type="none" w="sm" len="sm"/>
                    </a:lnL>
                    <a:lnR w="11900" cap="flat" cmpd="sng">
                      <a:solidFill>
                        <a:srgbClr val="FFFFFF"/>
                      </a:solidFill>
                      <a:prstDash val="solid"/>
                      <a:round/>
                      <a:headEnd type="none" w="sm" len="sm"/>
                      <a:tailEnd type="none" w="sm" len="sm"/>
                    </a:lnR>
                    <a:lnT w="11900" cap="flat" cmpd="sng">
                      <a:solidFill>
                        <a:srgbClr val="FFFFFF"/>
                      </a:solidFill>
                      <a:prstDash val="solid"/>
                      <a:round/>
                      <a:headEnd type="none" w="sm" len="sm"/>
                      <a:tailEnd type="none" w="sm" len="sm"/>
                    </a:lnT>
                    <a:lnB w="11900" cap="flat" cmpd="sng">
                      <a:solidFill>
                        <a:srgbClr val="FFFFFF"/>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800">
                          <a:latin typeface="Lexend"/>
                          <a:ea typeface="Lexend"/>
                          <a:cs typeface="Lexend"/>
                          <a:sym typeface="Lexend"/>
                        </a:rPr>
                        <a:t>90%</a:t>
                      </a:r>
                      <a:endParaRPr sz="800">
                        <a:latin typeface="Lexend"/>
                        <a:ea typeface="Lexend"/>
                        <a:cs typeface="Lexend"/>
                        <a:sym typeface="Lexend"/>
                      </a:endParaRPr>
                    </a:p>
                  </a:txBody>
                  <a:tcPr marL="28575" marR="28575" marT="19050" marB="19050" anchor="b">
                    <a:lnL w="11900" cap="flat" cmpd="sng">
                      <a:solidFill>
                        <a:srgbClr val="FFFFFF"/>
                      </a:solidFill>
                      <a:prstDash val="solid"/>
                      <a:round/>
                      <a:headEnd type="none" w="sm" len="sm"/>
                      <a:tailEnd type="none" w="sm" len="sm"/>
                    </a:lnL>
                    <a:lnR w="11900" cap="flat" cmpd="sng">
                      <a:solidFill>
                        <a:srgbClr val="FFFFFF"/>
                      </a:solidFill>
                      <a:prstDash val="solid"/>
                      <a:round/>
                      <a:headEnd type="none" w="sm" len="sm"/>
                      <a:tailEnd type="none" w="sm" len="sm"/>
                    </a:lnR>
                    <a:lnT w="11900" cap="flat" cmpd="sng">
                      <a:solidFill>
                        <a:srgbClr val="FFFFFF"/>
                      </a:solidFill>
                      <a:prstDash val="solid"/>
                      <a:round/>
                      <a:headEnd type="none" w="sm" len="sm"/>
                      <a:tailEnd type="none" w="sm" len="sm"/>
                    </a:lnT>
                    <a:lnB w="11900" cap="flat" cmpd="sng">
                      <a:solidFill>
                        <a:srgbClr val="FFFFFF"/>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800">
                          <a:latin typeface="Lexend"/>
                          <a:ea typeface="Lexend"/>
                          <a:cs typeface="Lexend"/>
                          <a:sym typeface="Lexend"/>
                        </a:rPr>
                        <a:t>92%</a:t>
                      </a:r>
                      <a:endParaRPr sz="800">
                        <a:latin typeface="Lexend"/>
                        <a:ea typeface="Lexend"/>
                        <a:cs typeface="Lexend"/>
                        <a:sym typeface="Lexend"/>
                      </a:endParaRPr>
                    </a:p>
                  </a:txBody>
                  <a:tcPr marL="28575" marR="28575" marT="19050" marB="19050" anchor="b">
                    <a:lnL w="11900" cap="flat" cmpd="sng">
                      <a:solidFill>
                        <a:srgbClr val="FFFFFF"/>
                      </a:solidFill>
                      <a:prstDash val="solid"/>
                      <a:round/>
                      <a:headEnd type="none" w="sm" len="sm"/>
                      <a:tailEnd type="none" w="sm" len="sm"/>
                    </a:lnL>
                    <a:lnR w="11900" cap="flat" cmpd="sng">
                      <a:solidFill>
                        <a:srgbClr val="FFFFFF"/>
                      </a:solidFill>
                      <a:prstDash val="solid"/>
                      <a:round/>
                      <a:headEnd type="none" w="sm" len="sm"/>
                      <a:tailEnd type="none" w="sm" len="sm"/>
                    </a:lnR>
                    <a:lnT w="11900" cap="flat" cmpd="sng">
                      <a:solidFill>
                        <a:srgbClr val="FFFFFF"/>
                      </a:solidFill>
                      <a:prstDash val="solid"/>
                      <a:round/>
                      <a:headEnd type="none" w="sm" len="sm"/>
                      <a:tailEnd type="none" w="sm" len="sm"/>
                    </a:lnT>
                    <a:lnB w="11900" cap="flat" cmpd="sng">
                      <a:solidFill>
                        <a:srgbClr val="FFFFFF"/>
                      </a:solidFill>
                      <a:prstDash val="solid"/>
                      <a:round/>
                      <a:headEnd type="none" w="sm" len="sm"/>
                      <a:tailEnd type="none" w="sm" len="sm"/>
                    </a:lnB>
                  </a:tcPr>
                </a:tc>
                <a:extLst>
                  <a:ext uri="{0D108BD9-81ED-4DB2-BD59-A6C34878D82A}">
                    <a16:rowId xmlns:a16="http://schemas.microsoft.com/office/drawing/2014/main" val="10006"/>
                  </a:ext>
                </a:extLst>
              </a:tr>
              <a:tr h="285750">
                <a:tc>
                  <a:txBody>
                    <a:bodyPr/>
                    <a:lstStyle/>
                    <a:p>
                      <a:pPr marL="0" lvl="0" indent="0" algn="ctr" rtl="0">
                        <a:lnSpc>
                          <a:spcPct val="115000"/>
                        </a:lnSpc>
                        <a:spcBef>
                          <a:spcPts val="0"/>
                        </a:spcBef>
                        <a:spcAft>
                          <a:spcPts val="0"/>
                        </a:spcAft>
                        <a:buNone/>
                      </a:pPr>
                      <a:r>
                        <a:rPr lang="en" sz="800" b="1">
                          <a:latin typeface="Lexend"/>
                          <a:ea typeface="Lexend"/>
                          <a:cs typeface="Lexend"/>
                          <a:sym typeface="Lexend"/>
                        </a:rPr>
                        <a:t>Achieved KPIs MTD</a:t>
                      </a:r>
                      <a:endParaRPr sz="800" b="1">
                        <a:latin typeface="Lexend"/>
                        <a:ea typeface="Lexend"/>
                        <a:cs typeface="Lexend"/>
                        <a:sym typeface="Lexend"/>
                      </a:endParaRPr>
                    </a:p>
                  </a:txBody>
                  <a:tcPr marL="28575" marR="28575" marT="19050" marB="19050" anchor="b">
                    <a:lnL w="11900" cap="flat" cmpd="sng">
                      <a:solidFill>
                        <a:srgbClr val="FFFFFF"/>
                      </a:solidFill>
                      <a:prstDash val="solid"/>
                      <a:round/>
                      <a:headEnd type="none" w="sm" len="sm"/>
                      <a:tailEnd type="none" w="sm" len="sm"/>
                    </a:lnL>
                    <a:lnR w="11900" cap="flat" cmpd="sng">
                      <a:solidFill>
                        <a:srgbClr val="FFFFFF"/>
                      </a:solidFill>
                      <a:prstDash val="solid"/>
                      <a:round/>
                      <a:headEnd type="none" w="sm" len="sm"/>
                      <a:tailEnd type="none" w="sm" len="sm"/>
                    </a:lnR>
                    <a:lnT w="11900" cap="flat" cmpd="sng">
                      <a:solidFill>
                        <a:srgbClr val="FFFFFF"/>
                      </a:solidFill>
                      <a:prstDash val="solid"/>
                      <a:round/>
                      <a:headEnd type="none" w="sm" len="sm"/>
                      <a:tailEnd type="none" w="sm" len="sm"/>
                    </a:lnT>
                    <a:lnB w="11900" cap="flat" cmpd="sng">
                      <a:solidFill>
                        <a:srgbClr val="FFFFFF"/>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800" b="1">
                          <a:latin typeface="Lexend"/>
                          <a:ea typeface="Lexend"/>
                          <a:cs typeface="Lexend"/>
                          <a:sym typeface="Lexend"/>
                        </a:rPr>
                        <a:t>52.9%</a:t>
                      </a:r>
                      <a:endParaRPr sz="800" b="1">
                        <a:latin typeface="Lexend"/>
                        <a:ea typeface="Lexend"/>
                        <a:cs typeface="Lexend"/>
                        <a:sym typeface="Lexend"/>
                      </a:endParaRPr>
                    </a:p>
                  </a:txBody>
                  <a:tcPr marL="28575" marR="28575" marT="19050" marB="19050" anchor="ctr">
                    <a:lnL w="11900" cap="flat" cmpd="sng">
                      <a:solidFill>
                        <a:srgbClr val="FFFFFF"/>
                      </a:solidFill>
                      <a:prstDash val="solid"/>
                      <a:round/>
                      <a:headEnd type="none" w="sm" len="sm"/>
                      <a:tailEnd type="none" w="sm" len="sm"/>
                    </a:lnL>
                    <a:lnR w="11900" cap="flat" cmpd="sng">
                      <a:solidFill>
                        <a:srgbClr val="FFFFFF"/>
                      </a:solidFill>
                      <a:prstDash val="solid"/>
                      <a:round/>
                      <a:headEnd type="none" w="sm" len="sm"/>
                      <a:tailEnd type="none" w="sm" len="sm"/>
                    </a:lnR>
                    <a:lnT w="11900" cap="flat" cmpd="sng">
                      <a:solidFill>
                        <a:srgbClr val="FFFFFF"/>
                      </a:solidFill>
                      <a:prstDash val="solid"/>
                      <a:round/>
                      <a:headEnd type="none" w="sm" len="sm"/>
                      <a:tailEnd type="none" w="sm" len="sm"/>
                    </a:lnT>
                    <a:lnB w="11900" cap="flat" cmpd="sng">
                      <a:solidFill>
                        <a:srgbClr val="FFFFFF"/>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800" b="1">
                          <a:latin typeface="Lexend"/>
                          <a:ea typeface="Lexend"/>
                          <a:cs typeface="Lexend"/>
                          <a:sym typeface="Lexend"/>
                        </a:rPr>
                        <a:t>72.7%</a:t>
                      </a:r>
                      <a:endParaRPr sz="800" b="1">
                        <a:latin typeface="Lexend"/>
                        <a:ea typeface="Lexend"/>
                        <a:cs typeface="Lexend"/>
                        <a:sym typeface="Lexend"/>
                      </a:endParaRPr>
                    </a:p>
                  </a:txBody>
                  <a:tcPr marL="28575" marR="28575" marT="19050" marB="19050" anchor="ctr">
                    <a:lnL w="11900" cap="flat" cmpd="sng">
                      <a:solidFill>
                        <a:srgbClr val="FFFFFF"/>
                      </a:solidFill>
                      <a:prstDash val="solid"/>
                      <a:round/>
                      <a:headEnd type="none" w="sm" len="sm"/>
                      <a:tailEnd type="none" w="sm" len="sm"/>
                    </a:lnL>
                    <a:lnR w="11900" cap="flat" cmpd="sng">
                      <a:solidFill>
                        <a:srgbClr val="FFFFFF"/>
                      </a:solidFill>
                      <a:prstDash val="solid"/>
                      <a:round/>
                      <a:headEnd type="none" w="sm" len="sm"/>
                      <a:tailEnd type="none" w="sm" len="sm"/>
                    </a:lnR>
                    <a:lnT w="11900" cap="flat" cmpd="sng">
                      <a:solidFill>
                        <a:srgbClr val="FFFFFF"/>
                      </a:solidFill>
                      <a:prstDash val="solid"/>
                      <a:round/>
                      <a:headEnd type="none" w="sm" len="sm"/>
                      <a:tailEnd type="none" w="sm" len="sm"/>
                    </a:lnT>
                    <a:lnB w="11900" cap="flat" cmpd="sng">
                      <a:solidFill>
                        <a:srgbClr val="FFFFFF"/>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800" b="1">
                          <a:solidFill>
                            <a:srgbClr val="38761D"/>
                          </a:solidFill>
                          <a:latin typeface="Lexend"/>
                          <a:ea typeface="Lexend"/>
                          <a:cs typeface="Lexend"/>
                          <a:sym typeface="Lexend"/>
                        </a:rPr>
                        <a:t>98.2%</a:t>
                      </a:r>
                      <a:endParaRPr sz="800" b="1">
                        <a:solidFill>
                          <a:srgbClr val="38761D"/>
                        </a:solidFill>
                        <a:latin typeface="Lexend"/>
                        <a:ea typeface="Lexend"/>
                        <a:cs typeface="Lexend"/>
                        <a:sym typeface="Lexend"/>
                      </a:endParaRPr>
                    </a:p>
                  </a:txBody>
                  <a:tcPr marL="28575" marR="28575" marT="19050" marB="19050" anchor="ctr">
                    <a:lnL w="11900" cap="flat" cmpd="sng">
                      <a:solidFill>
                        <a:srgbClr val="FFFFFF"/>
                      </a:solidFill>
                      <a:prstDash val="solid"/>
                      <a:round/>
                      <a:headEnd type="none" w="sm" len="sm"/>
                      <a:tailEnd type="none" w="sm" len="sm"/>
                    </a:lnL>
                    <a:lnR w="11900" cap="flat" cmpd="sng">
                      <a:solidFill>
                        <a:srgbClr val="FFFFFF"/>
                      </a:solidFill>
                      <a:prstDash val="solid"/>
                      <a:round/>
                      <a:headEnd type="none" w="sm" len="sm"/>
                      <a:tailEnd type="none" w="sm" len="sm"/>
                    </a:lnR>
                    <a:lnT w="11900" cap="flat" cmpd="sng">
                      <a:solidFill>
                        <a:srgbClr val="FFFFFF"/>
                      </a:solidFill>
                      <a:prstDash val="solid"/>
                      <a:round/>
                      <a:headEnd type="none" w="sm" len="sm"/>
                      <a:tailEnd type="none" w="sm" len="sm"/>
                    </a:lnT>
                    <a:lnB w="11900" cap="flat" cmpd="sng">
                      <a:solidFill>
                        <a:srgbClr val="FFFFFF"/>
                      </a:solidFill>
                      <a:prstDash val="solid"/>
                      <a:round/>
                      <a:headEnd type="none" w="sm" len="sm"/>
                      <a:tailEnd type="none" w="sm" len="sm"/>
                    </a:lnB>
                    <a:solidFill>
                      <a:srgbClr val="D9EAD3"/>
                    </a:solidFill>
                  </a:tcPr>
                </a:tc>
                <a:tc>
                  <a:txBody>
                    <a:bodyPr/>
                    <a:lstStyle/>
                    <a:p>
                      <a:pPr marL="0" lvl="0" indent="0" algn="ctr" rtl="0">
                        <a:lnSpc>
                          <a:spcPct val="115000"/>
                        </a:lnSpc>
                        <a:spcBef>
                          <a:spcPts val="0"/>
                        </a:spcBef>
                        <a:spcAft>
                          <a:spcPts val="0"/>
                        </a:spcAft>
                        <a:buNone/>
                      </a:pPr>
                      <a:r>
                        <a:rPr lang="en" sz="800" b="1">
                          <a:solidFill>
                            <a:srgbClr val="38761D"/>
                          </a:solidFill>
                          <a:latin typeface="Lexend"/>
                          <a:ea typeface="Lexend"/>
                          <a:cs typeface="Lexend"/>
                          <a:sym typeface="Lexend"/>
                        </a:rPr>
                        <a:t>100.5%</a:t>
                      </a:r>
                      <a:endParaRPr sz="800" b="1">
                        <a:solidFill>
                          <a:srgbClr val="38761D"/>
                        </a:solidFill>
                        <a:latin typeface="Lexend"/>
                        <a:ea typeface="Lexend"/>
                        <a:cs typeface="Lexend"/>
                        <a:sym typeface="Lexend"/>
                      </a:endParaRPr>
                    </a:p>
                  </a:txBody>
                  <a:tcPr marL="28575" marR="28575" marT="19050" marB="19050" anchor="ctr">
                    <a:lnL w="11900" cap="flat" cmpd="sng">
                      <a:solidFill>
                        <a:srgbClr val="FFFFFF"/>
                      </a:solidFill>
                      <a:prstDash val="solid"/>
                      <a:round/>
                      <a:headEnd type="none" w="sm" len="sm"/>
                      <a:tailEnd type="none" w="sm" len="sm"/>
                    </a:lnL>
                    <a:lnR w="11900" cap="flat" cmpd="sng">
                      <a:solidFill>
                        <a:srgbClr val="FFFFFF"/>
                      </a:solidFill>
                      <a:prstDash val="solid"/>
                      <a:round/>
                      <a:headEnd type="none" w="sm" len="sm"/>
                      <a:tailEnd type="none" w="sm" len="sm"/>
                    </a:lnR>
                    <a:lnT w="11900" cap="flat" cmpd="sng">
                      <a:solidFill>
                        <a:srgbClr val="FFFFFF"/>
                      </a:solidFill>
                      <a:prstDash val="solid"/>
                      <a:round/>
                      <a:headEnd type="none" w="sm" len="sm"/>
                      <a:tailEnd type="none" w="sm" len="sm"/>
                    </a:lnT>
                    <a:lnB w="11900" cap="flat" cmpd="sng">
                      <a:solidFill>
                        <a:srgbClr val="FFFFFF"/>
                      </a:solidFill>
                      <a:prstDash val="solid"/>
                      <a:round/>
                      <a:headEnd type="none" w="sm" len="sm"/>
                      <a:tailEnd type="none" w="sm" len="sm"/>
                    </a:lnB>
                    <a:solidFill>
                      <a:srgbClr val="D9EAD3"/>
                    </a:solidFill>
                  </a:tcPr>
                </a:tc>
                <a:tc>
                  <a:txBody>
                    <a:bodyPr/>
                    <a:lstStyle/>
                    <a:p>
                      <a:pPr marL="0" lvl="0" indent="0" algn="ctr" rtl="0">
                        <a:lnSpc>
                          <a:spcPct val="115000"/>
                        </a:lnSpc>
                        <a:spcBef>
                          <a:spcPts val="0"/>
                        </a:spcBef>
                        <a:spcAft>
                          <a:spcPts val="0"/>
                        </a:spcAft>
                        <a:buNone/>
                      </a:pPr>
                      <a:r>
                        <a:rPr lang="en" sz="800" b="1">
                          <a:latin typeface="Lexend"/>
                          <a:ea typeface="Lexend"/>
                          <a:cs typeface="Lexend"/>
                          <a:sym typeface="Lexend"/>
                        </a:rPr>
                        <a:t>71.3%</a:t>
                      </a:r>
                      <a:endParaRPr sz="800" b="1">
                        <a:latin typeface="Lexend"/>
                        <a:ea typeface="Lexend"/>
                        <a:cs typeface="Lexend"/>
                        <a:sym typeface="Lexend"/>
                      </a:endParaRPr>
                    </a:p>
                  </a:txBody>
                  <a:tcPr marL="28575" marR="28575" marT="19050" marB="19050" anchor="ctr">
                    <a:lnL w="11900" cap="flat" cmpd="sng">
                      <a:solidFill>
                        <a:srgbClr val="FFFFFF"/>
                      </a:solidFill>
                      <a:prstDash val="solid"/>
                      <a:round/>
                      <a:headEnd type="none" w="sm" len="sm"/>
                      <a:tailEnd type="none" w="sm" len="sm"/>
                    </a:lnL>
                    <a:lnR w="11900" cap="flat" cmpd="sng">
                      <a:solidFill>
                        <a:srgbClr val="FFFFFF"/>
                      </a:solidFill>
                      <a:prstDash val="solid"/>
                      <a:round/>
                      <a:headEnd type="none" w="sm" len="sm"/>
                      <a:tailEnd type="none" w="sm" len="sm"/>
                    </a:lnR>
                    <a:lnT w="11900" cap="flat" cmpd="sng">
                      <a:solidFill>
                        <a:srgbClr val="FFFFFF"/>
                      </a:solidFill>
                      <a:prstDash val="solid"/>
                      <a:round/>
                      <a:headEnd type="none" w="sm" len="sm"/>
                      <a:tailEnd type="none" w="sm" len="sm"/>
                    </a:lnT>
                    <a:lnB w="11900" cap="flat" cmpd="sng">
                      <a:solidFill>
                        <a:srgbClr val="FFFFFF"/>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800" b="1">
                          <a:latin typeface="Lexend"/>
                          <a:ea typeface="Lexend"/>
                          <a:cs typeface="Lexend"/>
                          <a:sym typeface="Lexend"/>
                        </a:rPr>
                        <a:t>70.4%</a:t>
                      </a:r>
                      <a:endParaRPr sz="800" b="1">
                        <a:latin typeface="Lexend"/>
                        <a:ea typeface="Lexend"/>
                        <a:cs typeface="Lexend"/>
                        <a:sym typeface="Lexend"/>
                      </a:endParaRPr>
                    </a:p>
                  </a:txBody>
                  <a:tcPr marL="28575" marR="28575" marT="19050" marB="19050" anchor="ctr">
                    <a:lnL w="11900" cap="flat" cmpd="sng">
                      <a:solidFill>
                        <a:srgbClr val="FFFFFF"/>
                      </a:solidFill>
                      <a:prstDash val="solid"/>
                      <a:round/>
                      <a:headEnd type="none" w="sm" len="sm"/>
                      <a:tailEnd type="none" w="sm" len="sm"/>
                    </a:lnL>
                    <a:lnR w="11900" cap="flat" cmpd="sng">
                      <a:solidFill>
                        <a:srgbClr val="FFFFFF"/>
                      </a:solidFill>
                      <a:prstDash val="solid"/>
                      <a:round/>
                      <a:headEnd type="none" w="sm" len="sm"/>
                      <a:tailEnd type="none" w="sm" len="sm"/>
                    </a:lnR>
                    <a:lnT w="11900" cap="flat" cmpd="sng">
                      <a:solidFill>
                        <a:srgbClr val="FFFFFF"/>
                      </a:solidFill>
                      <a:prstDash val="solid"/>
                      <a:round/>
                      <a:headEnd type="none" w="sm" len="sm"/>
                      <a:tailEnd type="none" w="sm" len="sm"/>
                    </a:lnT>
                    <a:lnB w="11900" cap="flat" cmpd="sng">
                      <a:solidFill>
                        <a:srgbClr val="FFFFFF"/>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800" b="1">
                          <a:solidFill>
                            <a:srgbClr val="38761D"/>
                          </a:solidFill>
                          <a:latin typeface="Lexend"/>
                          <a:ea typeface="Lexend"/>
                          <a:cs typeface="Lexend"/>
                          <a:sym typeface="Lexend"/>
                        </a:rPr>
                        <a:t>98.2%</a:t>
                      </a:r>
                      <a:endParaRPr sz="800" b="1">
                        <a:solidFill>
                          <a:srgbClr val="38761D"/>
                        </a:solidFill>
                        <a:latin typeface="Lexend"/>
                        <a:ea typeface="Lexend"/>
                        <a:cs typeface="Lexend"/>
                        <a:sym typeface="Lexend"/>
                      </a:endParaRPr>
                    </a:p>
                  </a:txBody>
                  <a:tcPr marL="28575" marR="28575" marT="19050" marB="19050" anchor="ctr">
                    <a:lnL w="11900" cap="flat" cmpd="sng">
                      <a:solidFill>
                        <a:srgbClr val="FFFFFF"/>
                      </a:solidFill>
                      <a:prstDash val="solid"/>
                      <a:round/>
                      <a:headEnd type="none" w="sm" len="sm"/>
                      <a:tailEnd type="none" w="sm" len="sm"/>
                    </a:lnL>
                    <a:lnR w="11900" cap="flat" cmpd="sng">
                      <a:solidFill>
                        <a:srgbClr val="FFFFFF"/>
                      </a:solidFill>
                      <a:prstDash val="solid"/>
                      <a:round/>
                      <a:headEnd type="none" w="sm" len="sm"/>
                      <a:tailEnd type="none" w="sm" len="sm"/>
                    </a:lnR>
                    <a:lnT w="11900" cap="flat" cmpd="sng">
                      <a:solidFill>
                        <a:srgbClr val="FFFFFF"/>
                      </a:solidFill>
                      <a:prstDash val="solid"/>
                      <a:round/>
                      <a:headEnd type="none" w="sm" len="sm"/>
                      <a:tailEnd type="none" w="sm" len="sm"/>
                    </a:lnT>
                    <a:lnB w="11900" cap="flat" cmpd="sng">
                      <a:solidFill>
                        <a:srgbClr val="FFFFFF"/>
                      </a:solidFill>
                      <a:prstDash val="solid"/>
                      <a:round/>
                      <a:headEnd type="none" w="sm" len="sm"/>
                      <a:tailEnd type="none" w="sm" len="sm"/>
                    </a:lnB>
                    <a:solidFill>
                      <a:srgbClr val="D9EAD3"/>
                    </a:solidFill>
                  </a:tcPr>
                </a:tc>
                <a:tc>
                  <a:txBody>
                    <a:bodyPr/>
                    <a:lstStyle/>
                    <a:p>
                      <a:pPr marL="0" lvl="0" indent="0" algn="ctr" rtl="0">
                        <a:lnSpc>
                          <a:spcPct val="115000"/>
                        </a:lnSpc>
                        <a:spcBef>
                          <a:spcPts val="0"/>
                        </a:spcBef>
                        <a:spcAft>
                          <a:spcPts val="0"/>
                        </a:spcAft>
                        <a:buNone/>
                      </a:pPr>
                      <a:r>
                        <a:rPr lang="en" sz="800" b="1">
                          <a:solidFill>
                            <a:srgbClr val="38761D"/>
                          </a:solidFill>
                          <a:latin typeface="Lexend"/>
                          <a:ea typeface="Lexend"/>
                          <a:cs typeface="Lexend"/>
                          <a:sym typeface="Lexend"/>
                        </a:rPr>
                        <a:t>97.3%</a:t>
                      </a:r>
                      <a:endParaRPr sz="800" b="1">
                        <a:solidFill>
                          <a:srgbClr val="38761D"/>
                        </a:solidFill>
                        <a:latin typeface="Lexend"/>
                        <a:ea typeface="Lexend"/>
                        <a:cs typeface="Lexend"/>
                        <a:sym typeface="Lexend"/>
                      </a:endParaRPr>
                    </a:p>
                  </a:txBody>
                  <a:tcPr marL="28575" marR="28575" marT="19050" marB="19050" anchor="ctr">
                    <a:lnL w="11900" cap="flat" cmpd="sng">
                      <a:solidFill>
                        <a:srgbClr val="FFFFFF"/>
                      </a:solidFill>
                      <a:prstDash val="solid"/>
                      <a:round/>
                      <a:headEnd type="none" w="sm" len="sm"/>
                      <a:tailEnd type="none" w="sm" len="sm"/>
                    </a:lnL>
                    <a:lnR w="11900" cap="flat" cmpd="sng">
                      <a:solidFill>
                        <a:srgbClr val="FFFFFF"/>
                      </a:solidFill>
                      <a:prstDash val="solid"/>
                      <a:round/>
                      <a:headEnd type="none" w="sm" len="sm"/>
                      <a:tailEnd type="none" w="sm" len="sm"/>
                    </a:lnR>
                    <a:lnT w="11900" cap="flat" cmpd="sng">
                      <a:solidFill>
                        <a:srgbClr val="FFFFFF"/>
                      </a:solidFill>
                      <a:prstDash val="solid"/>
                      <a:round/>
                      <a:headEnd type="none" w="sm" len="sm"/>
                      <a:tailEnd type="none" w="sm" len="sm"/>
                    </a:lnT>
                    <a:lnB w="11900" cap="flat" cmpd="sng">
                      <a:solidFill>
                        <a:srgbClr val="FFFFFF"/>
                      </a:solidFill>
                      <a:prstDash val="solid"/>
                      <a:round/>
                      <a:headEnd type="none" w="sm" len="sm"/>
                      <a:tailEnd type="none" w="sm" len="sm"/>
                    </a:lnB>
                    <a:solidFill>
                      <a:srgbClr val="D9EAD3"/>
                    </a:solidFill>
                  </a:tcPr>
                </a:tc>
                <a:extLst>
                  <a:ext uri="{0D108BD9-81ED-4DB2-BD59-A6C34878D82A}">
                    <a16:rowId xmlns:a16="http://schemas.microsoft.com/office/drawing/2014/main" val="10007"/>
                  </a:ext>
                </a:extLst>
              </a:tr>
              <a:tr h="200025">
                <a:tc>
                  <a:txBody>
                    <a:bodyPr/>
                    <a:lstStyle/>
                    <a:p>
                      <a:pPr marL="0" lvl="0" indent="0" algn="ctr" rtl="0">
                        <a:lnSpc>
                          <a:spcPct val="115000"/>
                        </a:lnSpc>
                        <a:spcBef>
                          <a:spcPts val="0"/>
                        </a:spcBef>
                        <a:spcAft>
                          <a:spcPts val="0"/>
                        </a:spcAft>
                        <a:buNone/>
                      </a:pPr>
                      <a:r>
                        <a:rPr lang="en" sz="800" b="1">
                          <a:latin typeface="Lexend"/>
                          <a:ea typeface="Lexend"/>
                          <a:cs typeface="Lexend"/>
                          <a:sym typeface="Lexend"/>
                        </a:rPr>
                        <a:t>Total KPIs</a:t>
                      </a:r>
                      <a:endParaRPr sz="800" b="1">
                        <a:latin typeface="Lexend"/>
                        <a:ea typeface="Lexend"/>
                        <a:cs typeface="Lexend"/>
                        <a:sym typeface="Lexend"/>
                      </a:endParaRPr>
                    </a:p>
                  </a:txBody>
                  <a:tcPr marL="28575" marR="28575" marT="19050" marB="19050" anchor="b">
                    <a:lnL w="11900" cap="flat" cmpd="sng">
                      <a:solidFill>
                        <a:srgbClr val="FFFFFF"/>
                      </a:solidFill>
                      <a:prstDash val="solid"/>
                      <a:round/>
                      <a:headEnd type="none" w="sm" len="sm"/>
                      <a:tailEnd type="none" w="sm" len="sm"/>
                    </a:lnL>
                    <a:lnR w="11900" cap="flat" cmpd="sng">
                      <a:solidFill>
                        <a:srgbClr val="FFFFFF"/>
                      </a:solidFill>
                      <a:prstDash val="solid"/>
                      <a:round/>
                      <a:headEnd type="none" w="sm" len="sm"/>
                      <a:tailEnd type="none" w="sm" len="sm"/>
                    </a:lnR>
                    <a:lnT w="11900" cap="flat" cmpd="sng">
                      <a:solidFill>
                        <a:srgbClr val="FFFFFF"/>
                      </a:solidFill>
                      <a:prstDash val="solid"/>
                      <a:round/>
                      <a:headEnd type="none" w="sm" len="sm"/>
                      <a:tailEnd type="none" w="sm" len="sm"/>
                    </a:lnT>
                    <a:lnB w="11900" cap="flat" cmpd="sng">
                      <a:solidFill>
                        <a:srgbClr val="FFFFFF"/>
                      </a:solidFill>
                      <a:prstDash val="solid"/>
                      <a:round/>
                      <a:headEnd type="none" w="sm" len="sm"/>
                      <a:tailEnd type="none" w="sm" len="sm"/>
                    </a:lnB>
                  </a:tcPr>
                </a:tc>
                <a:tc gridSpan="4">
                  <a:txBody>
                    <a:bodyPr/>
                    <a:lstStyle/>
                    <a:p>
                      <a:pPr marL="0" lvl="0" indent="0" algn="ctr" rtl="0">
                        <a:lnSpc>
                          <a:spcPct val="115000"/>
                        </a:lnSpc>
                        <a:spcBef>
                          <a:spcPts val="0"/>
                        </a:spcBef>
                        <a:spcAft>
                          <a:spcPts val="0"/>
                        </a:spcAft>
                        <a:buNone/>
                      </a:pPr>
                      <a:r>
                        <a:rPr lang="en" sz="1000" b="1">
                          <a:solidFill>
                            <a:srgbClr val="CC0000"/>
                          </a:solidFill>
                        </a:rPr>
                        <a:t>80.1%</a:t>
                      </a:r>
                      <a:endParaRPr sz="1000" b="1">
                        <a:solidFill>
                          <a:srgbClr val="CC0000"/>
                        </a:solidFill>
                      </a:endParaRPr>
                    </a:p>
                  </a:txBody>
                  <a:tcPr marL="28575" marR="28575" marT="19050" marB="19050" anchor="b">
                    <a:lnL w="11900" cap="flat" cmpd="sng">
                      <a:solidFill>
                        <a:srgbClr val="FFFFFF"/>
                      </a:solidFill>
                      <a:prstDash val="solid"/>
                      <a:round/>
                      <a:headEnd type="none" w="sm" len="sm"/>
                      <a:tailEnd type="none" w="sm" len="sm"/>
                    </a:lnL>
                    <a:lnT w="11900" cap="flat" cmpd="sng">
                      <a:solidFill>
                        <a:srgbClr val="FFFFFF"/>
                      </a:solidFill>
                      <a:prstDash val="solid"/>
                      <a:round/>
                      <a:headEnd type="none" w="sm" len="sm"/>
                      <a:tailEnd type="none" w="sm" len="sm"/>
                    </a:lnT>
                    <a:solidFill>
                      <a:srgbClr val="FFFFFF"/>
                    </a:solidFill>
                  </a:tcPr>
                </a:tc>
                <a:tc hMerge="1">
                  <a:txBody>
                    <a:bodyPr/>
                    <a:lstStyle/>
                    <a:p>
                      <a:endParaRPr lang="en-VN"/>
                    </a:p>
                  </a:txBody>
                  <a:tcPr/>
                </a:tc>
                <a:tc hMerge="1">
                  <a:txBody>
                    <a:bodyPr/>
                    <a:lstStyle/>
                    <a:p>
                      <a:endParaRPr lang="en-VN"/>
                    </a:p>
                  </a:txBody>
                  <a:tcPr/>
                </a:tc>
                <a:tc hMerge="1">
                  <a:txBody>
                    <a:bodyPr/>
                    <a:lstStyle/>
                    <a:p>
                      <a:endParaRPr lang="en-VN"/>
                    </a:p>
                  </a:txBody>
                  <a:tcPr/>
                </a:tc>
                <a:tc gridSpan="4">
                  <a:txBody>
                    <a:bodyPr/>
                    <a:lstStyle/>
                    <a:p>
                      <a:pPr marL="0" lvl="0" indent="0" algn="ctr" rtl="0">
                        <a:lnSpc>
                          <a:spcPct val="115000"/>
                        </a:lnSpc>
                        <a:spcBef>
                          <a:spcPts val="0"/>
                        </a:spcBef>
                        <a:spcAft>
                          <a:spcPts val="0"/>
                        </a:spcAft>
                        <a:buNone/>
                      </a:pPr>
                      <a:r>
                        <a:rPr lang="en" sz="1000" b="1">
                          <a:solidFill>
                            <a:srgbClr val="CC0000"/>
                          </a:solidFill>
                        </a:rPr>
                        <a:t>82.2%</a:t>
                      </a:r>
                      <a:endParaRPr sz="1000" b="1">
                        <a:solidFill>
                          <a:srgbClr val="CC0000"/>
                        </a:solidFill>
                      </a:endParaRPr>
                    </a:p>
                  </a:txBody>
                  <a:tcPr marL="28575" marR="28575" marT="19050" marB="19050" anchor="b">
                    <a:lnT w="11900" cap="flat" cmpd="sng">
                      <a:solidFill>
                        <a:srgbClr val="FFFFFF"/>
                      </a:solidFill>
                      <a:prstDash val="solid"/>
                      <a:round/>
                      <a:headEnd type="none" w="sm" len="sm"/>
                      <a:tailEnd type="none" w="sm" len="sm"/>
                    </a:lnT>
                    <a:solidFill>
                      <a:srgbClr val="FFFFFF"/>
                    </a:solidFill>
                  </a:tcPr>
                </a:tc>
                <a:tc hMerge="1">
                  <a:txBody>
                    <a:bodyPr/>
                    <a:lstStyle/>
                    <a:p>
                      <a:endParaRPr lang="en-VN"/>
                    </a:p>
                  </a:txBody>
                  <a:tcPr/>
                </a:tc>
                <a:tc hMerge="1">
                  <a:txBody>
                    <a:bodyPr/>
                    <a:lstStyle/>
                    <a:p>
                      <a:endParaRPr lang="en-VN"/>
                    </a:p>
                  </a:txBody>
                  <a:tcPr/>
                </a:tc>
                <a:tc hMerge="1">
                  <a:txBody>
                    <a:bodyPr/>
                    <a:lstStyle/>
                    <a:p>
                      <a:endParaRPr lang="en-VN"/>
                    </a:p>
                  </a:txBody>
                  <a:tcPr/>
                </a:tc>
                <a:extLst>
                  <a:ext uri="{0D108BD9-81ED-4DB2-BD59-A6C34878D82A}">
                    <a16:rowId xmlns:a16="http://schemas.microsoft.com/office/drawing/2014/main" val="10008"/>
                  </a:ext>
                </a:extLst>
              </a:tr>
            </a:tbl>
          </a:graphicData>
        </a:graphic>
      </p:graphicFrame>
      <p:sp>
        <p:nvSpPr>
          <p:cNvPr id="928" name="Google Shape;928;p67"/>
          <p:cNvSpPr txBox="1"/>
          <p:nvPr/>
        </p:nvSpPr>
        <p:spPr>
          <a:xfrm>
            <a:off x="4783950" y="3025264"/>
            <a:ext cx="2908200" cy="210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700" i="1">
                <a:solidFill>
                  <a:srgbClr val="595959"/>
                </a:solidFill>
                <a:latin typeface="Lexend"/>
                <a:ea typeface="Lexend"/>
                <a:cs typeface="Lexend"/>
                <a:sym typeface="Lexend"/>
              </a:rPr>
              <a:t>***Data KPIs tính từ 25/7/2026</a:t>
            </a:r>
            <a:endParaRPr sz="700" i="1">
              <a:solidFill>
                <a:srgbClr val="595959"/>
              </a:solidFill>
              <a:latin typeface="Lexend"/>
              <a:ea typeface="Lexend"/>
              <a:cs typeface="Lexend"/>
              <a:sym typeface="Lexend"/>
            </a:endParaRPr>
          </a:p>
        </p:txBody>
      </p:sp>
      <p:sp>
        <p:nvSpPr>
          <p:cNvPr id="929" name="Google Shape;929;p67"/>
          <p:cNvSpPr txBox="1"/>
          <p:nvPr/>
        </p:nvSpPr>
        <p:spPr>
          <a:xfrm>
            <a:off x="198000" y="3176475"/>
            <a:ext cx="4210200" cy="19152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800" b="1">
                <a:solidFill>
                  <a:srgbClr val="FF6D01"/>
                </a:solidFill>
                <a:latin typeface="Lexend"/>
                <a:ea typeface="Lexend"/>
                <a:cs typeface="Lexend"/>
                <a:sym typeface="Lexend"/>
              </a:rPr>
              <a:t>HIGHLIGHT:</a:t>
            </a:r>
            <a:endParaRPr sz="800" b="1">
              <a:solidFill>
                <a:srgbClr val="FF6D01"/>
              </a:solidFill>
              <a:latin typeface="Lexend"/>
              <a:ea typeface="Lexend"/>
              <a:cs typeface="Lexend"/>
              <a:sym typeface="Lexend"/>
            </a:endParaRPr>
          </a:p>
          <a:p>
            <a:pPr marL="457200" lvl="0" indent="-279400" algn="l" rtl="0">
              <a:lnSpc>
                <a:spcPct val="115000"/>
              </a:lnSpc>
              <a:spcBef>
                <a:spcPts val="0"/>
              </a:spcBef>
              <a:spcAft>
                <a:spcPts val="0"/>
              </a:spcAft>
              <a:buSzPts val="800"/>
              <a:buFont typeface="Lexend"/>
              <a:buChar char="-"/>
            </a:pPr>
            <a:r>
              <a:rPr lang="en" sz="800">
                <a:latin typeface="Lexend"/>
                <a:ea typeface="Lexend"/>
                <a:cs typeface="Lexend"/>
                <a:sym typeface="Lexend"/>
              </a:rPr>
              <a:t>Các chỉ số </a:t>
            </a:r>
            <a:r>
              <a:rPr lang="en" sz="800" b="1">
                <a:latin typeface="Lexend"/>
                <a:ea typeface="Lexend"/>
                <a:cs typeface="Lexend"/>
                <a:sym typeface="Lexend"/>
              </a:rPr>
              <a:t>Chất lượng duy trì &gt; 95% Target</a:t>
            </a:r>
            <a:r>
              <a:rPr lang="en" sz="800">
                <a:latin typeface="Lexend"/>
                <a:ea typeface="Lexend"/>
                <a:cs typeface="Lexend"/>
                <a:sym typeface="Lexend"/>
              </a:rPr>
              <a:t>. TX vẫn duy trì hành vi đăng ký ca vượt trội</a:t>
            </a:r>
            <a:endParaRPr sz="800">
              <a:latin typeface="Lexend"/>
              <a:ea typeface="Lexend"/>
              <a:cs typeface="Lexend"/>
              <a:sym typeface="Lexend"/>
            </a:endParaRPr>
          </a:p>
          <a:p>
            <a:pPr marL="457200" lvl="0" indent="-279400" algn="l" rtl="0">
              <a:lnSpc>
                <a:spcPct val="115000"/>
              </a:lnSpc>
              <a:spcBef>
                <a:spcPts val="0"/>
              </a:spcBef>
              <a:spcAft>
                <a:spcPts val="0"/>
              </a:spcAft>
              <a:buSzPts val="800"/>
              <a:buFont typeface="Lexend"/>
              <a:buChar char="-"/>
            </a:pPr>
            <a:r>
              <a:rPr lang="en" sz="800">
                <a:latin typeface="Lexend"/>
                <a:ea typeface="Lexend"/>
                <a:cs typeface="Lexend"/>
                <a:sym typeface="Lexend"/>
              </a:rPr>
              <a:t>Z2&amp;Z4 giảm bộ chỉ số do giảm active + chất lượng Zone BD, Z136 lọc nhóm TX yếu </a:t>
            </a:r>
            <a:endParaRPr sz="800">
              <a:latin typeface="Lexend"/>
              <a:ea typeface="Lexend"/>
              <a:cs typeface="Lexend"/>
              <a:sym typeface="Lexend"/>
            </a:endParaRPr>
          </a:p>
          <a:p>
            <a:pPr marL="0" lvl="0" indent="0" algn="l" rtl="0">
              <a:lnSpc>
                <a:spcPct val="115000"/>
              </a:lnSpc>
              <a:spcBef>
                <a:spcPts val="0"/>
              </a:spcBef>
              <a:spcAft>
                <a:spcPts val="0"/>
              </a:spcAft>
              <a:buNone/>
            </a:pPr>
            <a:br>
              <a:rPr lang="en" sz="800">
                <a:latin typeface="Lexend"/>
                <a:ea typeface="Lexend"/>
                <a:cs typeface="Lexend"/>
                <a:sym typeface="Lexend"/>
              </a:rPr>
            </a:br>
            <a:r>
              <a:rPr lang="en" sz="800" b="1">
                <a:solidFill>
                  <a:srgbClr val="FF6F00"/>
                </a:solidFill>
                <a:latin typeface="Lexend"/>
                <a:ea typeface="Lexend"/>
                <a:cs typeface="Lexend"/>
                <a:sym typeface="Lexend"/>
              </a:rPr>
              <a:t>NEXT ACTION:</a:t>
            </a:r>
            <a:endParaRPr sz="800" b="1">
              <a:solidFill>
                <a:srgbClr val="FF6F00"/>
              </a:solidFill>
              <a:latin typeface="Lexend"/>
              <a:ea typeface="Lexend"/>
              <a:cs typeface="Lexend"/>
              <a:sym typeface="Lexend"/>
            </a:endParaRPr>
          </a:p>
          <a:p>
            <a:pPr marL="457200" lvl="0" indent="-279400" algn="l" rtl="0">
              <a:lnSpc>
                <a:spcPct val="115000"/>
              </a:lnSpc>
              <a:spcBef>
                <a:spcPts val="0"/>
              </a:spcBef>
              <a:spcAft>
                <a:spcPts val="0"/>
              </a:spcAft>
              <a:buSzPts val="800"/>
              <a:buFont typeface="Lexend"/>
              <a:buChar char="-"/>
            </a:pPr>
            <a:r>
              <a:rPr lang="en" sz="800">
                <a:latin typeface="Lexend"/>
                <a:ea typeface="Lexend"/>
                <a:cs typeface="Lexend"/>
                <a:sym typeface="Lexend"/>
              </a:rPr>
              <a:t>Chăm sóc lứa TX mới tuyển Z136, Plan vận hành Zone 24</a:t>
            </a:r>
            <a:endParaRPr sz="800">
              <a:latin typeface="Lexend"/>
              <a:ea typeface="Lexend"/>
              <a:cs typeface="Lexend"/>
              <a:sym typeface="Lexend"/>
            </a:endParaRPr>
          </a:p>
          <a:p>
            <a:pPr marL="457200" lvl="0" indent="-279400" algn="l" rtl="0">
              <a:lnSpc>
                <a:spcPct val="115000"/>
              </a:lnSpc>
              <a:spcBef>
                <a:spcPts val="0"/>
              </a:spcBef>
              <a:spcAft>
                <a:spcPts val="0"/>
              </a:spcAft>
              <a:buSzPts val="800"/>
              <a:buFont typeface="Lexend"/>
              <a:buChar char="-"/>
            </a:pPr>
            <a:r>
              <a:rPr lang="en" sz="800">
                <a:latin typeface="Lexend"/>
                <a:ea typeface="Lexend"/>
                <a:cs typeface="Lexend"/>
                <a:sym typeface="Lexend"/>
              </a:rPr>
              <a:t>Đánh giá mô hình và Propose next phase</a:t>
            </a:r>
            <a:br>
              <a:rPr lang="en" sz="800">
                <a:latin typeface="Lexend"/>
                <a:ea typeface="Lexend"/>
                <a:cs typeface="Lexend"/>
                <a:sym typeface="Lexend"/>
              </a:rPr>
            </a:br>
            <a:endParaRPr sz="800">
              <a:latin typeface="Lexend"/>
              <a:ea typeface="Lexend"/>
              <a:cs typeface="Lexend"/>
              <a:sym typeface="Lexend"/>
            </a:endParaRPr>
          </a:p>
          <a:p>
            <a:pPr marL="0" lvl="0" indent="0" algn="l" rtl="0">
              <a:lnSpc>
                <a:spcPct val="115000"/>
              </a:lnSpc>
              <a:spcBef>
                <a:spcPts val="0"/>
              </a:spcBef>
              <a:spcAft>
                <a:spcPts val="0"/>
              </a:spcAft>
              <a:buNone/>
            </a:pPr>
            <a:r>
              <a:rPr lang="en" sz="800" b="1">
                <a:solidFill>
                  <a:srgbClr val="FF6F00"/>
                </a:solidFill>
                <a:latin typeface="Lexend"/>
                <a:ea typeface="Lexend"/>
                <a:cs typeface="Lexend"/>
                <a:sym typeface="Lexend"/>
              </a:rPr>
              <a:t>DRIVER VOICE:</a:t>
            </a:r>
            <a:endParaRPr sz="800" b="1">
              <a:solidFill>
                <a:srgbClr val="FF6F00"/>
              </a:solidFill>
              <a:latin typeface="Lexend"/>
              <a:ea typeface="Lexend"/>
              <a:cs typeface="Lexend"/>
              <a:sym typeface="Lexend"/>
            </a:endParaRPr>
          </a:p>
          <a:p>
            <a:pPr marL="457200" lvl="0" indent="-279400" algn="l" rtl="0">
              <a:lnSpc>
                <a:spcPct val="115000"/>
              </a:lnSpc>
              <a:spcBef>
                <a:spcPts val="0"/>
              </a:spcBef>
              <a:spcAft>
                <a:spcPts val="0"/>
              </a:spcAft>
              <a:buSzPts val="800"/>
              <a:buFont typeface="Lexend"/>
              <a:buChar char="-"/>
            </a:pPr>
            <a:r>
              <a:rPr lang="en" sz="800">
                <a:latin typeface="Lexend"/>
                <a:ea typeface="Lexend"/>
                <a:cs typeface="Lexend"/>
                <a:sym typeface="Lexend"/>
              </a:rPr>
              <a:t>TX phải linh hoạt di chuyển ra ngoài Zone cho tiện đường </a:t>
            </a:r>
            <a:endParaRPr sz="800">
              <a:latin typeface="Lexend"/>
              <a:ea typeface="Lexend"/>
              <a:cs typeface="Lexend"/>
              <a:sym typeface="Lexend"/>
            </a:endParaRPr>
          </a:p>
          <a:p>
            <a:pPr marL="0" lvl="0" indent="457200" algn="l" rtl="0">
              <a:lnSpc>
                <a:spcPct val="115000"/>
              </a:lnSpc>
              <a:spcBef>
                <a:spcPts val="0"/>
              </a:spcBef>
              <a:spcAft>
                <a:spcPts val="0"/>
              </a:spcAft>
              <a:buNone/>
            </a:pPr>
            <a:r>
              <a:rPr lang="en" sz="800">
                <a:latin typeface="Lexend"/>
                <a:ea typeface="Lexend"/>
                <a:cs typeface="Lexend"/>
                <a:sym typeface="Lexend"/>
              </a:rPr>
              <a:t>-&gt; không ghi nhận Onl -&gt;  Giảm tiền thưởng của TX</a:t>
            </a:r>
            <a:endParaRPr sz="800">
              <a:latin typeface="Lexend"/>
              <a:ea typeface="Lexend"/>
              <a:cs typeface="Lexend"/>
              <a:sym typeface="Lexend"/>
            </a:endParaRPr>
          </a:p>
        </p:txBody>
      </p:sp>
      <p:sp>
        <p:nvSpPr>
          <p:cNvPr id="930" name="Google Shape;930;p67"/>
          <p:cNvSpPr txBox="1"/>
          <p:nvPr/>
        </p:nvSpPr>
        <p:spPr>
          <a:xfrm>
            <a:off x="135500" y="3025264"/>
            <a:ext cx="2908200" cy="210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700" i="1">
                <a:solidFill>
                  <a:srgbClr val="595959"/>
                </a:solidFill>
                <a:latin typeface="Lexend"/>
                <a:ea typeface="Lexend"/>
                <a:cs typeface="Lexend"/>
                <a:sym typeface="Lexend"/>
              </a:rPr>
              <a:t>***Data KPIs tính từ 25/07/2026. </a:t>
            </a:r>
            <a:endParaRPr sz="700" i="1">
              <a:solidFill>
                <a:srgbClr val="595959"/>
              </a:solidFill>
              <a:latin typeface="Lexend"/>
              <a:ea typeface="Lexend"/>
              <a:cs typeface="Lexend"/>
              <a:sym typeface="Lexend"/>
            </a:endParaRPr>
          </a:p>
        </p:txBody>
      </p:sp>
      <p:graphicFrame>
        <p:nvGraphicFramePr>
          <p:cNvPr id="931" name="Google Shape;931;p67"/>
          <p:cNvGraphicFramePr/>
          <p:nvPr/>
        </p:nvGraphicFramePr>
        <p:xfrm>
          <a:off x="4739825" y="901550"/>
          <a:ext cx="4259175" cy="1000125"/>
        </p:xfrm>
        <a:graphic>
          <a:graphicData uri="http://schemas.openxmlformats.org/drawingml/2006/table">
            <a:tbl>
              <a:tblPr>
                <a:noFill/>
                <a:tableStyleId>{BD4DB973-2F49-4540-A1CC-0EE3EA8BBFB3}</a:tableStyleId>
              </a:tblPr>
              <a:tblGrid>
                <a:gridCol w="935675">
                  <a:extLst>
                    <a:ext uri="{9D8B030D-6E8A-4147-A177-3AD203B41FA5}">
                      <a16:colId xmlns:a16="http://schemas.microsoft.com/office/drawing/2014/main" val="20000"/>
                    </a:ext>
                  </a:extLst>
                </a:gridCol>
                <a:gridCol w="830875">
                  <a:extLst>
                    <a:ext uri="{9D8B030D-6E8A-4147-A177-3AD203B41FA5}">
                      <a16:colId xmlns:a16="http://schemas.microsoft.com/office/drawing/2014/main" val="20001"/>
                    </a:ext>
                  </a:extLst>
                </a:gridCol>
                <a:gridCol w="830875">
                  <a:extLst>
                    <a:ext uri="{9D8B030D-6E8A-4147-A177-3AD203B41FA5}">
                      <a16:colId xmlns:a16="http://schemas.microsoft.com/office/drawing/2014/main" val="20002"/>
                    </a:ext>
                  </a:extLst>
                </a:gridCol>
                <a:gridCol w="830875">
                  <a:extLst>
                    <a:ext uri="{9D8B030D-6E8A-4147-A177-3AD203B41FA5}">
                      <a16:colId xmlns:a16="http://schemas.microsoft.com/office/drawing/2014/main" val="20003"/>
                    </a:ext>
                  </a:extLst>
                </a:gridCol>
                <a:gridCol w="830875">
                  <a:extLst>
                    <a:ext uri="{9D8B030D-6E8A-4147-A177-3AD203B41FA5}">
                      <a16:colId xmlns:a16="http://schemas.microsoft.com/office/drawing/2014/main" val="20004"/>
                    </a:ext>
                  </a:extLst>
                </a:gridCol>
              </a:tblGrid>
              <a:tr h="200025">
                <a:tc>
                  <a:txBody>
                    <a:bodyPr/>
                    <a:lstStyle/>
                    <a:p>
                      <a:pPr marL="0" lvl="0" indent="0" algn="ctr" rtl="0">
                        <a:lnSpc>
                          <a:spcPct val="115000"/>
                        </a:lnSpc>
                        <a:spcBef>
                          <a:spcPts val="0"/>
                        </a:spcBef>
                        <a:spcAft>
                          <a:spcPts val="0"/>
                        </a:spcAft>
                        <a:buNone/>
                      </a:pPr>
                      <a:r>
                        <a:rPr lang="en" sz="800" b="1">
                          <a:solidFill>
                            <a:srgbClr val="FF6D01"/>
                          </a:solidFill>
                          <a:latin typeface="Lexend"/>
                          <a:ea typeface="Lexend"/>
                          <a:cs typeface="Lexend"/>
                          <a:sym typeface="Lexend"/>
                        </a:rPr>
                        <a:t>Week</a:t>
                      </a:r>
                      <a:endParaRPr sz="800" b="1">
                        <a:solidFill>
                          <a:srgbClr val="FF6D01"/>
                        </a:solidFill>
                        <a:latin typeface="Lexend"/>
                        <a:ea typeface="Lexend"/>
                        <a:cs typeface="Lexend"/>
                        <a:sym typeface="Lexend"/>
                      </a:endParaRPr>
                    </a:p>
                  </a:txBody>
                  <a:tcPr marL="28575" marR="28575" marT="19050" marB="19050" anchor="b">
                    <a:lnL w="11900" cap="flat" cmpd="sng">
                      <a:solidFill>
                        <a:schemeClr val="lt1"/>
                      </a:solidFill>
                      <a:prstDash val="solid"/>
                      <a:round/>
                      <a:headEnd type="none" w="sm" len="sm"/>
                      <a:tailEnd type="none" w="sm" len="sm"/>
                    </a:lnL>
                    <a:lnR w="11900" cap="flat" cmpd="sng">
                      <a:solidFill>
                        <a:schemeClr val="lt1"/>
                      </a:solidFill>
                      <a:prstDash val="solid"/>
                      <a:round/>
                      <a:headEnd type="none" w="sm" len="sm"/>
                      <a:tailEnd type="none" w="sm" len="sm"/>
                    </a:lnR>
                    <a:lnT w="11900" cap="flat" cmpd="sng">
                      <a:solidFill>
                        <a:schemeClr val="lt1"/>
                      </a:solidFill>
                      <a:prstDash val="solid"/>
                      <a:round/>
                      <a:headEnd type="none" w="sm" len="sm"/>
                      <a:tailEnd type="none" w="sm" len="sm"/>
                    </a:lnT>
                    <a:lnB w="11900" cap="flat" cmpd="sng">
                      <a:solidFill>
                        <a:schemeClr val="lt1"/>
                      </a:solidFill>
                      <a:prstDash val="solid"/>
                      <a:round/>
                      <a:headEnd type="none" w="sm" len="sm"/>
                      <a:tailEnd type="none" w="sm" len="sm"/>
                    </a:lnB>
                    <a:solidFill>
                      <a:srgbClr val="FCE5CD"/>
                    </a:solidFill>
                  </a:tcPr>
                </a:tc>
                <a:tc>
                  <a:txBody>
                    <a:bodyPr/>
                    <a:lstStyle/>
                    <a:p>
                      <a:pPr marL="0" lvl="0" indent="0" algn="ctr" rtl="0">
                        <a:lnSpc>
                          <a:spcPct val="115000"/>
                        </a:lnSpc>
                        <a:spcBef>
                          <a:spcPts val="0"/>
                        </a:spcBef>
                        <a:spcAft>
                          <a:spcPts val="0"/>
                        </a:spcAft>
                        <a:buNone/>
                      </a:pPr>
                      <a:r>
                        <a:rPr lang="en" sz="800" b="1">
                          <a:solidFill>
                            <a:srgbClr val="FF6D01"/>
                          </a:solidFill>
                          <a:latin typeface="Lexend"/>
                          <a:ea typeface="Lexend"/>
                          <a:cs typeface="Lexend"/>
                          <a:sym typeface="Lexend"/>
                        </a:rPr>
                        <a:t>Avg Shift Hour</a:t>
                      </a:r>
                      <a:endParaRPr sz="800" b="1">
                        <a:solidFill>
                          <a:srgbClr val="FF6D01"/>
                        </a:solidFill>
                        <a:latin typeface="Lexend"/>
                        <a:ea typeface="Lexend"/>
                        <a:cs typeface="Lexend"/>
                        <a:sym typeface="Lexend"/>
                      </a:endParaRPr>
                    </a:p>
                  </a:txBody>
                  <a:tcPr marL="28575" marR="28575" marT="19050" marB="19050" anchor="b">
                    <a:lnL w="11900" cap="flat" cmpd="sng">
                      <a:solidFill>
                        <a:schemeClr val="lt1"/>
                      </a:solidFill>
                      <a:prstDash val="solid"/>
                      <a:round/>
                      <a:headEnd type="none" w="sm" len="sm"/>
                      <a:tailEnd type="none" w="sm" len="sm"/>
                    </a:lnL>
                    <a:lnR w="11900" cap="flat" cmpd="sng">
                      <a:solidFill>
                        <a:schemeClr val="lt1"/>
                      </a:solidFill>
                      <a:prstDash val="solid"/>
                      <a:round/>
                      <a:headEnd type="none" w="sm" len="sm"/>
                      <a:tailEnd type="none" w="sm" len="sm"/>
                    </a:lnR>
                    <a:lnT w="11900" cap="flat" cmpd="sng">
                      <a:solidFill>
                        <a:schemeClr val="lt1"/>
                      </a:solidFill>
                      <a:prstDash val="solid"/>
                      <a:round/>
                      <a:headEnd type="none" w="sm" len="sm"/>
                      <a:tailEnd type="none" w="sm" len="sm"/>
                    </a:lnT>
                    <a:lnB w="11900" cap="flat" cmpd="sng">
                      <a:solidFill>
                        <a:schemeClr val="lt1"/>
                      </a:solidFill>
                      <a:prstDash val="solid"/>
                      <a:round/>
                      <a:headEnd type="none" w="sm" len="sm"/>
                      <a:tailEnd type="none" w="sm" len="sm"/>
                    </a:lnB>
                    <a:solidFill>
                      <a:srgbClr val="FCE5CD"/>
                    </a:solidFill>
                  </a:tcPr>
                </a:tc>
                <a:tc>
                  <a:txBody>
                    <a:bodyPr/>
                    <a:lstStyle/>
                    <a:p>
                      <a:pPr marL="0" lvl="0" indent="0" algn="ctr" rtl="0">
                        <a:lnSpc>
                          <a:spcPct val="115000"/>
                        </a:lnSpc>
                        <a:spcBef>
                          <a:spcPts val="0"/>
                        </a:spcBef>
                        <a:spcAft>
                          <a:spcPts val="0"/>
                        </a:spcAft>
                        <a:buNone/>
                      </a:pPr>
                      <a:r>
                        <a:rPr lang="en" sz="800" b="1">
                          <a:solidFill>
                            <a:srgbClr val="FF6D01"/>
                          </a:solidFill>
                          <a:latin typeface="Lexend"/>
                          <a:ea typeface="Lexend"/>
                          <a:cs typeface="Lexend"/>
                          <a:sym typeface="Lexend"/>
                        </a:rPr>
                        <a:t>Checkin Rate</a:t>
                      </a:r>
                      <a:endParaRPr sz="800" b="1">
                        <a:solidFill>
                          <a:srgbClr val="FF6D01"/>
                        </a:solidFill>
                        <a:latin typeface="Lexend"/>
                        <a:ea typeface="Lexend"/>
                        <a:cs typeface="Lexend"/>
                        <a:sym typeface="Lexend"/>
                      </a:endParaRPr>
                    </a:p>
                  </a:txBody>
                  <a:tcPr marL="28575" marR="28575" marT="19050" marB="19050" anchor="b">
                    <a:lnL w="11900" cap="flat" cmpd="sng">
                      <a:solidFill>
                        <a:schemeClr val="lt1"/>
                      </a:solidFill>
                      <a:prstDash val="solid"/>
                      <a:round/>
                      <a:headEnd type="none" w="sm" len="sm"/>
                      <a:tailEnd type="none" w="sm" len="sm"/>
                    </a:lnL>
                    <a:lnR w="11900" cap="flat" cmpd="sng">
                      <a:solidFill>
                        <a:schemeClr val="lt1"/>
                      </a:solidFill>
                      <a:prstDash val="solid"/>
                      <a:round/>
                      <a:headEnd type="none" w="sm" len="sm"/>
                      <a:tailEnd type="none" w="sm" len="sm"/>
                    </a:lnR>
                    <a:lnT w="11900" cap="flat" cmpd="sng">
                      <a:solidFill>
                        <a:schemeClr val="lt1"/>
                      </a:solidFill>
                      <a:prstDash val="solid"/>
                      <a:round/>
                      <a:headEnd type="none" w="sm" len="sm"/>
                      <a:tailEnd type="none" w="sm" len="sm"/>
                    </a:lnT>
                    <a:lnB w="11900" cap="flat" cmpd="sng">
                      <a:solidFill>
                        <a:schemeClr val="lt1"/>
                      </a:solidFill>
                      <a:prstDash val="solid"/>
                      <a:round/>
                      <a:headEnd type="none" w="sm" len="sm"/>
                      <a:tailEnd type="none" w="sm" len="sm"/>
                    </a:lnB>
                    <a:solidFill>
                      <a:srgbClr val="FCE5CD"/>
                    </a:solidFill>
                  </a:tcPr>
                </a:tc>
                <a:tc>
                  <a:txBody>
                    <a:bodyPr/>
                    <a:lstStyle/>
                    <a:p>
                      <a:pPr marL="0" lvl="0" indent="0" algn="ctr" rtl="0">
                        <a:lnSpc>
                          <a:spcPct val="115000"/>
                        </a:lnSpc>
                        <a:spcBef>
                          <a:spcPts val="0"/>
                        </a:spcBef>
                        <a:spcAft>
                          <a:spcPts val="0"/>
                        </a:spcAft>
                        <a:buNone/>
                      </a:pPr>
                      <a:r>
                        <a:rPr lang="en" sz="800" b="1">
                          <a:solidFill>
                            <a:srgbClr val="FF6D01"/>
                          </a:solidFill>
                          <a:latin typeface="Lexend"/>
                          <a:ea typeface="Lexend"/>
                          <a:cs typeface="Lexend"/>
                          <a:sym typeface="Lexend"/>
                        </a:rPr>
                        <a:t>Active</a:t>
                      </a:r>
                      <a:endParaRPr sz="800" b="1">
                        <a:solidFill>
                          <a:srgbClr val="FF6D01"/>
                        </a:solidFill>
                        <a:latin typeface="Lexend"/>
                        <a:ea typeface="Lexend"/>
                        <a:cs typeface="Lexend"/>
                        <a:sym typeface="Lexend"/>
                      </a:endParaRPr>
                    </a:p>
                  </a:txBody>
                  <a:tcPr marL="28575" marR="28575" marT="19050" marB="19050" anchor="b">
                    <a:lnL w="11900" cap="flat" cmpd="sng">
                      <a:solidFill>
                        <a:schemeClr val="lt1"/>
                      </a:solidFill>
                      <a:prstDash val="solid"/>
                      <a:round/>
                      <a:headEnd type="none" w="sm" len="sm"/>
                      <a:tailEnd type="none" w="sm" len="sm"/>
                    </a:lnL>
                    <a:lnR w="11900" cap="flat" cmpd="sng">
                      <a:solidFill>
                        <a:schemeClr val="lt1"/>
                      </a:solidFill>
                      <a:prstDash val="solid"/>
                      <a:round/>
                      <a:headEnd type="none" w="sm" len="sm"/>
                      <a:tailEnd type="none" w="sm" len="sm"/>
                    </a:lnR>
                    <a:lnT w="11900" cap="flat" cmpd="sng">
                      <a:solidFill>
                        <a:schemeClr val="lt1"/>
                      </a:solidFill>
                      <a:prstDash val="solid"/>
                      <a:round/>
                      <a:headEnd type="none" w="sm" len="sm"/>
                      <a:tailEnd type="none" w="sm" len="sm"/>
                    </a:lnT>
                    <a:lnB w="11900" cap="flat" cmpd="sng">
                      <a:solidFill>
                        <a:schemeClr val="lt1"/>
                      </a:solidFill>
                      <a:prstDash val="solid"/>
                      <a:round/>
                      <a:headEnd type="none" w="sm" len="sm"/>
                      <a:tailEnd type="none" w="sm" len="sm"/>
                    </a:lnB>
                    <a:solidFill>
                      <a:srgbClr val="FCE5CD"/>
                    </a:solidFill>
                  </a:tcPr>
                </a:tc>
                <a:tc>
                  <a:txBody>
                    <a:bodyPr/>
                    <a:lstStyle/>
                    <a:p>
                      <a:pPr marL="0" lvl="0" indent="0" algn="ctr" rtl="0">
                        <a:lnSpc>
                          <a:spcPct val="115000"/>
                        </a:lnSpc>
                        <a:spcBef>
                          <a:spcPts val="0"/>
                        </a:spcBef>
                        <a:spcAft>
                          <a:spcPts val="0"/>
                        </a:spcAft>
                        <a:buNone/>
                      </a:pPr>
                      <a:r>
                        <a:rPr lang="en" sz="800" b="1">
                          <a:solidFill>
                            <a:srgbClr val="FF6D01"/>
                          </a:solidFill>
                          <a:latin typeface="Lexend"/>
                          <a:ea typeface="Lexend"/>
                          <a:cs typeface="Lexend"/>
                          <a:sym typeface="Lexend"/>
                        </a:rPr>
                        <a:t>Online Rate</a:t>
                      </a:r>
                      <a:endParaRPr sz="800" b="1">
                        <a:solidFill>
                          <a:srgbClr val="FF6D01"/>
                        </a:solidFill>
                        <a:latin typeface="Lexend"/>
                        <a:ea typeface="Lexend"/>
                        <a:cs typeface="Lexend"/>
                        <a:sym typeface="Lexend"/>
                      </a:endParaRPr>
                    </a:p>
                  </a:txBody>
                  <a:tcPr marL="28575" marR="28575" marT="19050" marB="19050" anchor="b">
                    <a:lnL w="11900" cap="flat" cmpd="sng">
                      <a:solidFill>
                        <a:schemeClr val="lt1"/>
                      </a:solidFill>
                      <a:prstDash val="solid"/>
                      <a:round/>
                      <a:headEnd type="none" w="sm" len="sm"/>
                      <a:tailEnd type="none" w="sm" len="sm"/>
                    </a:lnL>
                    <a:lnR w="11900" cap="flat" cmpd="sng">
                      <a:solidFill>
                        <a:schemeClr val="lt1"/>
                      </a:solidFill>
                      <a:prstDash val="solid"/>
                      <a:round/>
                      <a:headEnd type="none" w="sm" len="sm"/>
                      <a:tailEnd type="none" w="sm" len="sm"/>
                    </a:lnR>
                    <a:lnT w="11900" cap="flat" cmpd="sng">
                      <a:solidFill>
                        <a:schemeClr val="lt1"/>
                      </a:solidFill>
                      <a:prstDash val="solid"/>
                      <a:round/>
                      <a:headEnd type="none" w="sm" len="sm"/>
                      <a:tailEnd type="none" w="sm" len="sm"/>
                    </a:lnT>
                    <a:lnB w="11900" cap="flat" cmpd="sng">
                      <a:solidFill>
                        <a:schemeClr val="lt1"/>
                      </a:solidFill>
                      <a:prstDash val="solid"/>
                      <a:round/>
                      <a:headEnd type="none" w="sm" len="sm"/>
                      <a:tailEnd type="none" w="sm" len="sm"/>
                    </a:lnB>
                    <a:solidFill>
                      <a:srgbClr val="FCE5CD"/>
                    </a:solidFill>
                  </a:tcPr>
                </a:tc>
                <a:extLst>
                  <a:ext uri="{0D108BD9-81ED-4DB2-BD59-A6C34878D82A}">
                    <a16:rowId xmlns:a16="http://schemas.microsoft.com/office/drawing/2014/main" val="10000"/>
                  </a:ext>
                </a:extLst>
              </a:tr>
              <a:tr h="200025">
                <a:tc>
                  <a:txBody>
                    <a:bodyPr/>
                    <a:lstStyle/>
                    <a:p>
                      <a:pPr marL="0" lvl="0" indent="0" algn="ctr" rtl="0">
                        <a:lnSpc>
                          <a:spcPct val="115000"/>
                        </a:lnSpc>
                        <a:spcBef>
                          <a:spcPts val="0"/>
                        </a:spcBef>
                        <a:spcAft>
                          <a:spcPts val="0"/>
                        </a:spcAft>
                        <a:buNone/>
                      </a:pPr>
                      <a:r>
                        <a:rPr lang="en" sz="800">
                          <a:latin typeface="Lexend"/>
                          <a:ea typeface="Lexend"/>
                          <a:cs typeface="Lexend"/>
                          <a:sym typeface="Lexend"/>
                        </a:rPr>
                        <a:t>03/08/2026</a:t>
                      </a:r>
                      <a:endParaRPr sz="800">
                        <a:latin typeface="Lexend"/>
                        <a:ea typeface="Lexend"/>
                        <a:cs typeface="Lexend"/>
                        <a:sym typeface="Lexend"/>
                      </a:endParaRPr>
                    </a:p>
                  </a:txBody>
                  <a:tcPr marL="28575" marR="28575" marT="19050" marB="19050" anchor="b">
                    <a:lnL w="11900" cap="flat" cmpd="sng">
                      <a:solidFill>
                        <a:schemeClr val="lt1"/>
                      </a:solidFill>
                      <a:prstDash val="solid"/>
                      <a:round/>
                      <a:headEnd type="none" w="sm" len="sm"/>
                      <a:tailEnd type="none" w="sm" len="sm"/>
                    </a:lnL>
                    <a:lnR w="11900" cap="flat" cmpd="sng">
                      <a:solidFill>
                        <a:schemeClr val="lt1"/>
                      </a:solidFill>
                      <a:prstDash val="solid"/>
                      <a:round/>
                      <a:headEnd type="none" w="sm" len="sm"/>
                      <a:tailEnd type="none" w="sm" len="sm"/>
                    </a:lnR>
                    <a:lnT w="11900" cap="flat" cmpd="sng">
                      <a:solidFill>
                        <a:schemeClr val="lt1"/>
                      </a:solidFill>
                      <a:prstDash val="solid"/>
                      <a:round/>
                      <a:headEnd type="none" w="sm" len="sm"/>
                      <a:tailEnd type="none" w="sm" len="sm"/>
                    </a:lnT>
                    <a:lnB w="11900" cap="flat" cmpd="sng">
                      <a:solidFill>
                        <a:schemeClr val="lt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800">
                          <a:latin typeface="Lexend"/>
                          <a:ea typeface="Lexend"/>
                          <a:cs typeface="Lexend"/>
                          <a:sym typeface="Lexend"/>
                        </a:rPr>
                        <a:t>34</a:t>
                      </a:r>
                      <a:endParaRPr sz="800">
                        <a:latin typeface="Lexend"/>
                        <a:ea typeface="Lexend"/>
                        <a:cs typeface="Lexend"/>
                        <a:sym typeface="Lexend"/>
                      </a:endParaRPr>
                    </a:p>
                  </a:txBody>
                  <a:tcPr marL="28575" marR="28575" marT="19050" marB="19050" anchor="b">
                    <a:lnL w="11900" cap="flat" cmpd="sng">
                      <a:solidFill>
                        <a:schemeClr val="lt1"/>
                      </a:solidFill>
                      <a:prstDash val="solid"/>
                      <a:round/>
                      <a:headEnd type="none" w="sm" len="sm"/>
                      <a:tailEnd type="none" w="sm" len="sm"/>
                    </a:lnL>
                    <a:lnR w="11900" cap="flat" cmpd="sng">
                      <a:solidFill>
                        <a:schemeClr val="lt1"/>
                      </a:solidFill>
                      <a:prstDash val="solid"/>
                      <a:round/>
                      <a:headEnd type="none" w="sm" len="sm"/>
                      <a:tailEnd type="none" w="sm" len="sm"/>
                    </a:lnR>
                    <a:lnT w="11900" cap="flat" cmpd="sng">
                      <a:solidFill>
                        <a:schemeClr val="lt1"/>
                      </a:solidFill>
                      <a:prstDash val="solid"/>
                      <a:round/>
                      <a:headEnd type="none" w="sm" len="sm"/>
                      <a:tailEnd type="none" w="sm" len="sm"/>
                    </a:lnT>
                    <a:lnB w="11900" cap="flat" cmpd="sng">
                      <a:solidFill>
                        <a:schemeClr val="lt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800">
                          <a:latin typeface="Lexend"/>
                          <a:ea typeface="Lexend"/>
                          <a:cs typeface="Lexend"/>
                          <a:sym typeface="Lexend"/>
                        </a:rPr>
                        <a:t>98.01%</a:t>
                      </a:r>
                      <a:endParaRPr sz="800">
                        <a:latin typeface="Lexend"/>
                        <a:ea typeface="Lexend"/>
                        <a:cs typeface="Lexend"/>
                        <a:sym typeface="Lexend"/>
                      </a:endParaRPr>
                    </a:p>
                  </a:txBody>
                  <a:tcPr marL="28575" marR="28575" marT="19050" marB="19050" anchor="b">
                    <a:lnL w="11900" cap="flat" cmpd="sng">
                      <a:solidFill>
                        <a:schemeClr val="lt1"/>
                      </a:solidFill>
                      <a:prstDash val="solid"/>
                      <a:round/>
                      <a:headEnd type="none" w="sm" len="sm"/>
                      <a:tailEnd type="none" w="sm" len="sm"/>
                    </a:lnL>
                    <a:lnR w="11900" cap="flat" cmpd="sng">
                      <a:solidFill>
                        <a:schemeClr val="lt1"/>
                      </a:solidFill>
                      <a:prstDash val="solid"/>
                      <a:round/>
                      <a:headEnd type="none" w="sm" len="sm"/>
                      <a:tailEnd type="none" w="sm" len="sm"/>
                    </a:lnR>
                    <a:lnT w="11900" cap="flat" cmpd="sng">
                      <a:solidFill>
                        <a:schemeClr val="lt1"/>
                      </a:solidFill>
                      <a:prstDash val="solid"/>
                      <a:round/>
                      <a:headEnd type="none" w="sm" len="sm"/>
                      <a:tailEnd type="none" w="sm" len="sm"/>
                    </a:lnT>
                    <a:lnB w="11900" cap="flat" cmpd="sng">
                      <a:solidFill>
                        <a:schemeClr val="lt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800">
                          <a:latin typeface="Lexend"/>
                          <a:ea typeface="Lexend"/>
                          <a:cs typeface="Lexend"/>
                          <a:sym typeface="Lexend"/>
                        </a:rPr>
                        <a:t>62</a:t>
                      </a:r>
                      <a:endParaRPr sz="800">
                        <a:latin typeface="Lexend"/>
                        <a:ea typeface="Lexend"/>
                        <a:cs typeface="Lexend"/>
                        <a:sym typeface="Lexend"/>
                      </a:endParaRPr>
                    </a:p>
                  </a:txBody>
                  <a:tcPr marL="28575" marR="28575" marT="19050" marB="19050" anchor="b">
                    <a:lnL w="11900" cap="flat" cmpd="sng">
                      <a:solidFill>
                        <a:schemeClr val="lt1"/>
                      </a:solidFill>
                      <a:prstDash val="solid"/>
                      <a:round/>
                      <a:headEnd type="none" w="sm" len="sm"/>
                      <a:tailEnd type="none" w="sm" len="sm"/>
                    </a:lnL>
                    <a:lnR w="11900" cap="flat" cmpd="sng">
                      <a:solidFill>
                        <a:schemeClr val="lt1"/>
                      </a:solidFill>
                      <a:prstDash val="solid"/>
                      <a:round/>
                      <a:headEnd type="none" w="sm" len="sm"/>
                      <a:tailEnd type="none" w="sm" len="sm"/>
                    </a:lnR>
                    <a:lnT w="11900" cap="flat" cmpd="sng">
                      <a:solidFill>
                        <a:schemeClr val="lt1"/>
                      </a:solidFill>
                      <a:prstDash val="solid"/>
                      <a:round/>
                      <a:headEnd type="none" w="sm" len="sm"/>
                      <a:tailEnd type="none" w="sm" len="sm"/>
                    </a:lnT>
                    <a:lnB w="11900" cap="flat" cmpd="sng">
                      <a:solidFill>
                        <a:schemeClr val="lt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800">
                          <a:latin typeface="Lexend"/>
                          <a:ea typeface="Lexend"/>
                          <a:cs typeface="Lexend"/>
                          <a:sym typeface="Lexend"/>
                        </a:rPr>
                        <a:t>90.14%</a:t>
                      </a:r>
                      <a:endParaRPr sz="800">
                        <a:latin typeface="Lexend"/>
                        <a:ea typeface="Lexend"/>
                        <a:cs typeface="Lexend"/>
                        <a:sym typeface="Lexend"/>
                      </a:endParaRPr>
                    </a:p>
                  </a:txBody>
                  <a:tcPr marL="28575" marR="28575" marT="19050" marB="19050" anchor="b">
                    <a:lnL w="11900" cap="flat" cmpd="sng">
                      <a:solidFill>
                        <a:schemeClr val="lt1"/>
                      </a:solidFill>
                      <a:prstDash val="solid"/>
                      <a:round/>
                      <a:headEnd type="none" w="sm" len="sm"/>
                      <a:tailEnd type="none" w="sm" len="sm"/>
                    </a:lnL>
                    <a:lnR w="11900" cap="flat" cmpd="sng">
                      <a:solidFill>
                        <a:schemeClr val="lt1"/>
                      </a:solidFill>
                      <a:prstDash val="solid"/>
                      <a:round/>
                      <a:headEnd type="none" w="sm" len="sm"/>
                      <a:tailEnd type="none" w="sm" len="sm"/>
                    </a:lnR>
                    <a:lnT w="11900" cap="flat" cmpd="sng">
                      <a:solidFill>
                        <a:schemeClr val="lt1"/>
                      </a:solidFill>
                      <a:prstDash val="solid"/>
                      <a:round/>
                      <a:headEnd type="none" w="sm" len="sm"/>
                      <a:tailEnd type="none" w="sm" len="sm"/>
                    </a:lnT>
                    <a:lnB w="11900" cap="flat" cmpd="sng">
                      <a:solidFill>
                        <a:schemeClr val="lt1"/>
                      </a:solidFill>
                      <a:prstDash val="solid"/>
                      <a:round/>
                      <a:headEnd type="none" w="sm" len="sm"/>
                      <a:tailEnd type="none" w="sm" len="sm"/>
                    </a:lnB>
                  </a:tcPr>
                </a:tc>
                <a:extLst>
                  <a:ext uri="{0D108BD9-81ED-4DB2-BD59-A6C34878D82A}">
                    <a16:rowId xmlns:a16="http://schemas.microsoft.com/office/drawing/2014/main" val="10001"/>
                  </a:ext>
                </a:extLst>
              </a:tr>
              <a:tr h="200025">
                <a:tc>
                  <a:txBody>
                    <a:bodyPr/>
                    <a:lstStyle/>
                    <a:p>
                      <a:pPr marL="0" lvl="0" indent="0" algn="ctr" rtl="0">
                        <a:lnSpc>
                          <a:spcPct val="115000"/>
                        </a:lnSpc>
                        <a:spcBef>
                          <a:spcPts val="0"/>
                        </a:spcBef>
                        <a:spcAft>
                          <a:spcPts val="0"/>
                        </a:spcAft>
                        <a:buNone/>
                      </a:pPr>
                      <a:r>
                        <a:rPr lang="en" sz="800" b="1">
                          <a:latin typeface="Lexend"/>
                          <a:ea typeface="Lexend"/>
                          <a:cs typeface="Lexend"/>
                          <a:sym typeface="Lexend"/>
                        </a:rPr>
                        <a:t>10/08/2026</a:t>
                      </a:r>
                      <a:endParaRPr sz="800" b="1">
                        <a:latin typeface="Lexend"/>
                        <a:ea typeface="Lexend"/>
                        <a:cs typeface="Lexend"/>
                        <a:sym typeface="Lexend"/>
                      </a:endParaRPr>
                    </a:p>
                  </a:txBody>
                  <a:tcPr marL="28575" marR="28575" marT="19050" marB="19050" anchor="b">
                    <a:lnL w="11900" cap="flat" cmpd="sng">
                      <a:solidFill>
                        <a:schemeClr val="lt1"/>
                      </a:solidFill>
                      <a:prstDash val="solid"/>
                      <a:round/>
                      <a:headEnd type="none" w="sm" len="sm"/>
                      <a:tailEnd type="none" w="sm" len="sm"/>
                    </a:lnL>
                    <a:lnR w="11900" cap="flat" cmpd="sng">
                      <a:solidFill>
                        <a:schemeClr val="lt1"/>
                      </a:solidFill>
                      <a:prstDash val="solid"/>
                      <a:round/>
                      <a:headEnd type="none" w="sm" len="sm"/>
                      <a:tailEnd type="none" w="sm" len="sm"/>
                    </a:lnR>
                    <a:lnT w="11900" cap="flat" cmpd="sng">
                      <a:solidFill>
                        <a:schemeClr val="lt1"/>
                      </a:solidFill>
                      <a:prstDash val="solid"/>
                      <a:round/>
                      <a:headEnd type="none" w="sm" len="sm"/>
                      <a:tailEnd type="none" w="sm" len="sm"/>
                    </a:lnT>
                    <a:lnB w="11900" cap="flat" cmpd="sng">
                      <a:solidFill>
                        <a:schemeClr val="lt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800" b="1">
                          <a:latin typeface="Lexend"/>
                          <a:ea typeface="Lexend"/>
                          <a:cs typeface="Lexend"/>
                          <a:sym typeface="Lexend"/>
                        </a:rPr>
                        <a:t>32</a:t>
                      </a:r>
                      <a:endParaRPr sz="800" b="1">
                        <a:solidFill>
                          <a:srgbClr val="38761D"/>
                        </a:solidFill>
                        <a:latin typeface="Lexend"/>
                        <a:ea typeface="Lexend"/>
                        <a:cs typeface="Lexend"/>
                        <a:sym typeface="Lexend"/>
                      </a:endParaRPr>
                    </a:p>
                  </a:txBody>
                  <a:tcPr marL="28575" marR="28575" marT="19050" marB="19050" anchor="b">
                    <a:lnL w="11900" cap="flat" cmpd="sng">
                      <a:solidFill>
                        <a:schemeClr val="lt1"/>
                      </a:solidFill>
                      <a:prstDash val="solid"/>
                      <a:round/>
                      <a:headEnd type="none" w="sm" len="sm"/>
                      <a:tailEnd type="none" w="sm" len="sm"/>
                    </a:lnL>
                    <a:lnR w="11900" cap="flat" cmpd="sng">
                      <a:solidFill>
                        <a:schemeClr val="lt1"/>
                      </a:solidFill>
                      <a:prstDash val="solid"/>
                      <a:round/>
                      <a:headEnd type="none" w="sm" len="sm"/>
                      <a:tailEnd type="none" w="sm" len="sm"/>
                    </a:lnR>
                    <a:lnT w="11900" cap="flat" cmpd="sng">
                      <a:solidFill>
                        <a:schemeClr val="lt1"/>
                      </a:solidFill>
                      <a:prstDash val="solid"/>
                      <a:round/>
                      <a:headEnd type="none" w="sm" len="sm"/>
                      <a:tailEnd type="none" w="sm" len="sm"/>
                    </a:lnT>
                    <a:lnB w="11900" cap="flat" cmpd="sng">
                      <a:solidFill>
                        <a:schemeClr val="lt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800" b="1">
                          <a:latin typeface="Lexend"/>
                          <a:ea typeface="Lexend"/>
                          <a:cs typeface="Lexend"/>
                          <a:sym typeface="Lexend"/>
                        </a:rPr>
                        <a:t>96.83%</a:t>
                      </a:r>
                      <a:endParaRPr sz="800" b="1">
                        <a:solidFill>
                          <a:srgbClr val="38761D"/>
                        </a:solidFill>
                        <a:latin typeface="Lexend"/>
                        <a:ea typeface="Lexend"/>
                        <a:cs typeface="Lexend"/>
                        <a:sym typeface="Lexend"/>
                      </a:endParaRPr>
                    </a:p>
                  </a:txBody>
                  <a:tcPr marL="28575" marR="28575" marT="19050" marB="19050" anchor="b">
                    <a:lnL w="11900" cap="flat" cmpd="sng">
                      <a:solidFill>
                        <a:schemeClr val="lt1"/>
                      </a:solidFill>
                      <a:prstDash val="solid"/>
                      <a:round/>
                      <a:headEnd type="none" w="sm" len="sm"/>
                      <a:tailEnd type="none" w="sm" len="sm"/>
                    </a:lnL>
                    <a:lnR w="11900" cap="flat" cmpd="sng">
                      <a:solidFill>
                        <a:schemeClr val="lt1"/>
                      </a:solidFill>
                      <a:prstDash val="solid"/>
                      <a:round/>
                      <a:headEnd type="none" w="sm" len="sm"/>
                      <a:tailEnd type="none" w="sm" len="sm"/>
                    </a:lnR>
                    <a:lnT w="11900" cap="flat" cmpd="sng">
                      <a:solidFill>
                        <a:schemeClr val="lt1"/>
                      </a:solidFill>
                      <a:prstDash val="solid"/>
                      <a:round/>
                      <a:headEnd type="none" w="sm" len="sm"/>
                      <a:tailEnd type="none" w="sm" len="sm"/>
                    </a:lnT>
                    <a:lnB w="11900" cap="flat" cmpd="sng">
                      <a:solidFill>
                        <a:schemeClr val="lt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800" b="1">
                          <a:latin typeface="Lexend"/>
                          <a:ea typeface="Lexend"/>
                          <a:cs typeface="Lexend"/>
                          <a:sym typeface="Lexend"/>
                        </a:rPr>
                        <a:t>73</a:t>
                      </a:r>
                      <a:endParaRPr sz="800" b="1">
                        <a:solidFill>
                          <a:srgbClr val="38761D"/>
                        </a:solidFill>
                        <a:latin typeface="Lexend"/>
                        <a:ea typeface="Lexend"/>
                        <a:cs typeface="Lexend"/>
                        <a:sym typeface="Lexend"/>
                      </a:endParaRPr>
                    </a:p>
                  </a:txBody>
                  <a:tcPr marL="28575" marR="28575" marT="19050" marB="19050" anchor="b">
                    <a:lnL w="11900" cap="flat" cmpd="sng">
                      <a:solidFill>
                        <a:schemeClr val="lt1"/>
                      </a:solidFill>
                      <a:prstDash val="solid"/>
                      <a:round/>
                      <a:headEnd type="none" w="sm" len="sm"/>
                      <a:tailEnd type="none" w="sm" len="sm"/>
                    </a:lnL>
                    <a:lnR w="11900" cap="flat" cmpd="sng">
                      <a:solidFill>
                        <a:schemeClr val="lt1"/>
                      </a:solidFill>
                      <a:prstDash val="solid"/>
                      <a:round/>
                      <a:headEnd type="none" w="sm" len="sm"/>
                      <a:tailEnd type="none" w="sm" len="sm"/>
                    </a:lnR>
                    <a:lnT w="11900" cap="flat" cmpd="sng">
                      <a:solidFill>
                        <a:schemeClr val="lt1"/>
                      </a:solidFill>
                      <a:prstDash val="solid"/>
                      <a:round/>
                      <a:headEnd type="none" w="sm" len="sm"/>
                      <a:tailEnd type="none" w="sm" len="sm"/>
                    </a:lnT>
                    <a:lnB w="11900" cap="flat" cmpd="sng">
                      <a:solidFill>
                        <a:schemeClr val="lt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800" b="1">
                          <a:latin typeface="Lexend"/>
                          <a:ea typeface="Lexend"/>
                          <a:cs typeface="Lexend"/>
                          <a:sym typeface="Lexend"/>
                        </a:rPr>
                        <a:t>90.56%</a:t>
                      </a:r>
                      <a:endParaRPr sz="800" b="1">
                        <a:solidFill>
                          <a:srgbClr val="38761D"/>
                        </a:solidFill>
                        <a:latin typeface="Lexend"/>
                        <a:ea typeface="Lexend"/>
                        <a:cs typeface="Lexend"/>
                        <a:sym typeface="Lexend"/>
                      </a:endParaRPr>
                    </a:p>
                  </a:txBody>
                  <a:tcPr marL="28575" marR="28575" marT="19050" marB="19050" anchor="b">
                    <a:lnL w="11900" cap="flat" cmpd="sng">
                      <a:solidFill>
                        <a:schemeClr val="lt1"/>
                      </a:solidFill>
                      <a:prstDash val="solid"/>
                      <a:round/>
                      <a:headEnd type="none" w="sm" len="sm"/>
                      <a:tailEnd type="none" w="sm" len="sm"/>
                    </a:lnL>
                    <a:lnR w="11900" cap="flat" cmpd="sng">
                      <a:solidFill>
                        <a:schemeClr val="lt1"/>
                      </a:solidFill>
                      <a:prstDash val="solid"/>
                      <a:round/>
                      <a:headEnd type="none" w="sm" len="sm"/>
                      <a:tailEnd type="none" w="sm" len="sm"/>
                    </a:lnR>
                    <a:lnT w="11900" cap="flat" cmpd="sng">
                      <a:solidFill>
                        <a:schemeClr val="lt1"/>
                      </a:solidFill>
                      <a:prstDash val="solid"/>
                      <a:round/>
                      <a:headEnd type="none" w="sm" len="sm"/>
                      <a:tailEnd type="none" w="sm" len="sm"/>
                    </a:lnT>
                    <a:lnB w="11900" cap="flat" cmpd="sng">
                      <a:solidFill>
                        <a:schemeClr val="lt1"/>
                      </a:solidFill>
                      <a:prstDash val="solid"/>
                      <a:round/>
                      <a:headEnd type="none" w="sm" len="sm"/>
                      <a:tailEnd type="none" w="sm" len="sm"/>
                    </a:lnB>
                  </a:tcPr>
                </a:tc>
                <a:extLst>
                  <a:ext uri="{0D108BD9-81ED-4DB2-BD59-A6C34878D82A}">
                    <a16:rowId xmlns:a16="http://schemas.microsoft.com/office/drawing/2014/main" val="10002"/>
                  </a:ext>
                </a:extLst>
              </a:tr>
              <a:tr h="200025">
                <a:tc>
                  <a:txBody>
                    <a:bodyPr/>
                    <a:lstStyle/>
                    <a:p>
                      <a:pPr marL="0" lvl="0" indent="0" algn="ctr" rtl="0">
                        <a:lnSpc>
                          <a:spcPct val="115000"/>
                        </a:lnSpc>
                        <a:spcBef>
                          <a:spcPts val="0"/>
                        </a:spcBef>
                        <a:spcAft>
                          <a:spcPts val="0"/>
                        </a:spcAft>
                        <a:buNone/>
                      </a:pPr>
                      <a:r>
                        <a:rPr lang="en" sz="800">
                          <a:latin typeface="Lexend"/>
                          <a:ea typeface="Lexend"/>
                          <a:cs typeface="Lexend"/>
                          <a:sym typeface="Lexend"/>
                        </a:rPr>
                        <a:t>WoW</a:t>
                      </a:r>
                      <a:endParaRPr sz="800">
                        <a:latin typeface="Lexend"/>
                        <a:ea typeface="Lexend"/>
                        <a:cs typeface="Lexend"/>
                        <a:sym typeface="Lexend"/>
                      </a:endParaRPr>
                    </a:p>
                  </a:txBody>
                  <a:tcPr marL="28575" marR="28575" marT="19050" marB="19050" anchor="b">
                    <a:lnL w="11900" cap="flat" cmpd="sng">
                      <a:solidFill>
                        <a:schemeClr val="lt1"/>
                      </a:solidFill>
                      <a:prstDash val="solid"/>
                      <a:round/>
                      <a:headEnd type="none" w="sm" len="sm"/>
                      <a:tailEnd type="none" w="sm" len="sm"/>
                    </a:lnL>
                    <a:lnR w="11900" cap="flat" cmpd="sng">
                      <a:solidFill>
                        <a:schemeClr val="lt1"/>
                      </a:solidFill>
                      <a:prstDash val="solid"/>
                      <a:round/>
                      <a:headEnd type="none" w="sm" len="sm"/>
                      <a:tailEnd type="none" w="sm" len="sm"/>
                    </a:lnR>
                    <a:lnT w="11900" cap="flat" cmpd="sng">
                      <a:solidFill>
                        <a:schemeClr val="lt1"/>
                      </a:solidFill>
                      <a:prstDash val="solid"/>
                      <a:round/>
                      <a:headEnd type="none" w="sm" len="sm"/>
                      <a:tailEnd type="none" w="sm" len="sm"/>
                    </a:lnT>
                    <a:lnB w="11900" cap="flat" cmpd="sng">
                      <a:solidFill>
                        <a:schemeClr val="lt1"/>
                      </a:solidFill>
                      <a:prstDash val="solid"/>
                      <a:round/>
                      <a:headEnd type="none" w="sm" len="sm"/>
                      <a:tailEnd type="none" w="sm" len="sm"/>
                    </a:lnB>
                    <a:solidFill>
                      <a:srgbClr val="F2F2F2"/>
                    </a:solidFill>
                  </a:tcPr>
                </a:tc>
                <a:tc>
                  <a:txBody>
                    <a:bodyPr/>
                    <a:lstStyle/>
                    <a:p>
                      <a:pPr marL="0" lvl="0" indent="0" algn="ctr" rtl="0">
                        <a:lnSpc>
                          <a:spcPct val="115000"/>
                        </a:lnSpc>
                        <a:spcBef>
                          <a:spcPts val="0"/>
                        </a:spcBef>
                        <a:spcAft>
                          <a:spcPts val="0"/>
                        </a:spcAft>
                        <a:buNone/>
                      </a:pPr>
                      <a:r>
                        <a:rPr lang="en" sz="800" b="1">
                          <a:solidFill>
                            <a:srgbClr val="EA4335"/>
                          </a:solidFill>
                          <a:latin typeface="Lexend"/>
                          <a:ea typeface="Lexend"/>
                          <a:cs typeface="Lexend"/>
                          <a:sym typeface="Lexend"/>
                        </a:rPr>
                        <a:t>-5.51%</a:t>
                      </a:r>
                      <a:endParaRPr sz="800" b="1">
                        <a:solidFill>
                          <a:srgbClr val="EA4335"/>
                        </a:solidFill>
                        <a:latin typeface="Lexend"/>
                        <a:ea typeface="Lexend"/>
                        <a:cs typeface="Lexend"/>
                        <a:sym typeface="Lexend"/>
                      </a:endParaRPr>
                    </a:p>
                  </a:txBody>
                  <a:tcPr marL="28575" marR="28575" marT="19050" marB="19050" anchor="b">
                    <a:lnL w="11900" cap="flat" cmpd="sng">
                      <a:solidFill>
                        <a:schemeClr val="lt1"/>
                      </a:solidFill>
                      <a:prstDash val="solid"/>
                      <a:round/>
                      <a:headEnd type="none" w="sm" len="sm"/>
                      <a:tailEnd type="none" w="sm" len="sm"/>
                    </a:lnL>
                    <a:lnR w="11900" cap="flat" cmpd="sng">
                      <a:solidFill>
                        <a:schemeClr val="lt1"/>
                      </a:solidFill>
                      <a:prstDash val="solid"/>
                      <a:round/>
                      <a:headEnd type="none" w="sm" len="sm"/>
                      <a:tailEnd type="none" w="sm" len="sm"/>
                    </a:lnR>
                    <a:lnT w="11900" cap="flat" cmpd="sng">
                      <a:solidFill>
                        <a:schemeClr val="lt1"/>
                      </a:solidFill>
                      <a:prstDash val="solid"/>
                      <a:round/>
                      <a:headEnd type="none" w="sm" len="sm"/>
                      <a:tailEnd type="none" w="sm" len="sm"/>
                    </a:lnT>
                    <a:lnB w="11900" cap="flat" cmpd="sng">
                      <a:solidFill>
                        <a:schemeClr val="lt1"/>
                      </a:solidFill>
                      <a:prstDash val="solid"/>
                      <a:round/>
                      <a:headEnd type="none" w="sm" len="sm"/>
                      <a:tailEnd type="none" w="sm" len="sm"/>
                    </a:lnB>
                    <a:solidFill>
                      <a:srgbClr val="F4CCCC"/>
                    </a:solidFill>
                  </a:tcPr>
                </a:tc>
                <a:tc>
                  <a:txBody>
                    <a:bodyPr/>
                    <a:lstStyle/>
                    <a:p>
                      <a:pPr marL="0" lvl="0" indent="0" algn="ctr" rtl="0">
                        <a:lnSpc>
                          <a:spcPct val="115000"/>
                        </a:lnSpc>
                        <a:spcBef>
                          <a:spcPts val="0"/>
                        </a:spcBef>
                        <a:spcAft>
                          <a:spcPts val="0"/>
                        </a:spcAft>
                        <a:buNone/>
                      </a:pPr>
                      <a:r>
                        <a:rPr lang="en" sz="800" b="1">
                          <a:solidFill>
                            <a:srgbClr val="EA4335"/>
                          </a:solidFill>
                          <a:latin typeface="Lexend"/>
                          <a:ea typeface="Lexend"/>
                          <a:cs typeface="Lexend"/>
                          <a:sym typeface="Lexend"/>
                        </a:rPr>
                        <a:t>-1.19%</a:t>
                      </a:r>
                      <a:endParaRPr sz="800" b="1">
                        <a:solidFill>
                          <a:srgbClr val="EA4335"/>
                        </a:solidFill>
                        <a:latin typeface="Lexend"/>
                        <a:ea typeface="Lexend"/>
                        <a:cs typeface="Lexend"/>
                        <a:sym typeface="Lexend"/>
                      </a:endParaRPr>
                    </a:p>
                  </a:txBody>
                  <a:tcPr marL="28575" marR="28575" marT="19050" marB="19050" anchor="b">
                    <a:lnL w="11900" cap="flat" cmpd="sng">
                      <a:solidFill>
                        <a:schemeClr val="lt1"/>
                      </a:solidFill>
                      <a:prstDash val="solid"/>
                      <a:round/>
                      <a:headEnd type="none" w="sm" len="sm"/>
                      <a:tailEnd type="none" w="sm" len="sm"/>
                    </a:lnL>
                    <a:lnR w="11900" cap="flat" cmpd="sng">
                      <a:solidFill>
                        <a:schemeClr val="lt1"/>
                      </a:solidFill>
                      <a:prstDash val="solid"/>
                      <a:round/>
                      <a:headEnd type="none" w="sm" len="sm"/>
                      <a:tailEnd type="none" w="sm" len="sm"/>
                    </a:lnR>
                    <a:lnT w="11900" cap="flat" cmpd="sng">
                      <a:solidFill>
                        <a:schemeClr val="lt1"/>
                      </a:solidFill>
                      <a:prstDash val="solid"/>
                      <a:round/>
                      <a:headEnd type="none" w="sm" len="sm"/>
                      <a:tailEnd type="none" w="sm" len="sm"/>
                    </a:lnT>
                    <a:lnB w="11900" cap="flat" cmpd="sng">
                      <a:solidFill>
                        <a:schemeClr val="lt1"/>
                      </a:solidFill>
                      <a:prstDash val="solid"/>
                      <a:round/>
                      <a:headEnd type="none" w="sm" len="sm"/>
                      <a:tailEnd type="none" w="sm" len="sm"/>
                    </a:lnB>
                    <a:solidFill>
                      <a:srgbClr val="F4CCCC"/>
                    </a:solidFill>
                  </a:tcPr>
                </a:tc>
                <a:tc>
                  <a:txBody>
                    <a:bodyPr/>
                    <a:lstStyle/>
                    <a:p>
                      <a:pPr marL="0" lvl="0" indent="0" algn="ctr" rtl="0">
                        <a:lnSpc>
                          <a:spcPct val="115000"/>
                        </a:lnSpc>
                        <a:spcBef>
                          <a:spcPts val="0"/>
                        </a:spcBef>
                        <a:spcAft>
                          <a:spcPts val="0"/>
                        </a:spcAft>
                        <a:buNone/>
                      </a:pPr>
                      <a:r>
                        <a:rPr lang="en" sz="800" b="1">
                          <a:solidFill>
                            <a:srgbClr val="38761D"/>
                          </a:solidFill>
                          <a:latin typeface="Lexend"/>
                          <a:ea typeface="Lexend"/>
                          <a:cs typeface="Lexend"/>
                          <a:sym typeface="Lexend"/>
                        </a:rPr>
                        <a:t>17.74%</a:t>
                      </a:r>
                      <a:endParaRPr sz="800" b="1">
                        <a:solidFill>
                          <a:srgbClr val="38761D"/>
                        </a:solidFill>
                        <a:latin typeface="Lexend"/>
                        <a:ea typeface="Lexend"/>
                        <a:cs typeface="Lexend"/>
                        <a:sym typeface="Lexend"/>
                      </a:endParaRPr>
                    </a:p>
                  </a:txBody>
                  <a:tcPr marL="28575" marR="28575" marT="19050" marB="19050" anchor="b">
                    <a:lnL w="11900" cap="flat" cmpd="sng">
                      <a:solidFill>
                        <a:schemeClr val="lt1"/>
                      </a:solidFill>
                      <a:prstDash val="solid"/>
                      <a:round/>
                      <a:headEnd type="none" w="sm" len="sm"/>
                      <a:tailEnd type="none" w="sm" len="sm"/>
                    </a:lnL>
                    <a:lnR w="11900" cap="flat" cmpd="sng">
                      <a:solidFill>
                        <a:schemeClr val="lt1"/>
                      </a:solidFill>
                      <a:prstDash val="solid"/>
                      <a:round/>
                      <a:headEnd type="none" w="sm" len="sm"/>
                      <a:tailEnd type="none" w="sm" len="sm"/>
                    </a:lnR>
                    <a:lnT w="11900" cap="flat" cmpd="sng">
                      <a:solidFill>
                        <a:schemeClr val="lt1"/>
                      </a:solidFill>
                      <a:prstDash val="solid"/>
                      <a:round/>
                      <a:headEnd type="none" w="sm" len="sm"/>
                      <a:tailEnd type="none" w="sm" len="sm"/>
                    </a:lnT>
                    <a:lnB w="11900" cap="flat" cmpd="sng">
                      <a:solidFill>
                        <a:schemeClr val="lt1"/>
                      </a:solidFill>
                      <a:prstDash val="solid"/>
                      <a:round/>
                      <a:headEnd type="none" w="sm" len="sm"/>
                      <a:tailEnd type="none" w="sm" len="sm"/>
                    </a:lnB>
                    <a:solidFill>
                      <a:srgbClr val="B7E1CD"/>
                    </a:solidFill>
                  </a:tcPr>
                </a:tc>
                <a:tc>
                  <a:txBody>
                    <a:bodyPr/>
                    <a:lstStyle/>
                    <a:p>
                      <a:pPr marL="0" lvl="0" indent="0" algn="ctr" rtl="0">
                        <a:lnSpc>
                          <a:spcPct val="115000"/>
                        </a:lnSpc>
                        <a:spcBef>
                          <a:spcPts val="0"/>
                        </a:spcBef>
                        <a:spcAft>
                          <a:spcPts val="0"/>
                        </a:spcAft>
                        <a:buNone/>
                      </a:pPr>
                      <a:r>
                        <a:rPr lang="en" sz="800" b="1">
                          <a:solidFill>
                            <a:srgbClr val="38761D"/>
                          </a:solidFill>
                          <a:latin typeface="Lexend"/>
                          <a:ea typeface="Lexend"/>
                          <a:cs typeface="Lexend"/>
                          <a:sym typeface="Lexend"/>
                        </a:rPr>
                        <a:t>0.42%</a:t>
                      </a:r>
                      <a:endParaRPr sz="800" b="1">
                        <a:solidFill>
                          <a:srgbClr val="38761D"/>
                        </a:solidFill>
                        <a:latin typeface="Lexend"/>
                        <a:ea typeface="Lexend"/>
                        <a:cs typeface="Lexend"/>
                        <a:sym typeface="Lexend"/>
                      </a:endParaRPr>
                    </a:p>
                  </a:txBody>
                  <a:tcPr marL="28575" marR="28575" marT="19050" marB="19050" anchor="b">
                    <a:lnL w="11900" cap="flat" cmpd="sng">
                      <a:solidFill>
                        <a:schemeClr val="lt1"/>
                      </a:solidFill>
                      <a:prstDash val="solid"/>
                      <a:round/>
                      <a:headEnd type="none" w="sm" len="sm"/>
                      <a:tailEnd type="none" w="sm" len="sm"/>
                    </a:lnL>
                    <a:lnR w="11900" cap="flat" cmpd="sng">
                      <a:solidFill>
                        <a:schemeClr val="lt1"/>
                      </a:solidFill>
                      <a:prstDash val="solid"/>
                      <a:round/>
                      <a:headEnd type="none" w="sm" len="sm"/>
                      <a:tailEnd type="none" w="sm" len="sm"/>
                    </a:lnR>
                    <a:lnT w="11900" cap="flat" cmpd="sng">
                      <a:solidFill>
                        <a:schemeClr val="lt1"/>
                      </a:solidFill>
                      <a:prstDash val="solid"/>
                      <a:round/>
                      <a:headEnd type="none" w="sm" len="sm"/>
                      <a:tailEnd type="none" w="sm" len="sm"/>
                    </a:lnT>
                    <a:lnB w="11900" cap="flat" cmpd="sng">
                      <a:solidFill>
                        <a:schemeClr val="lt1"/>
                      </a:solidFill>
                      <a:prstDash val="solid"/>
                      <a:round/>
                      <a:headEnd type="none" w="sm" len="sm"/>
                      <a:tailEnd type="none" w="sm" len="sm"/>
                    </a:lnB>
                    <a:solidFill>
                      <a:srgbClr val="B7E1CD"/>
                    </a:solidFill>
                  </a:tcPr>
                </a:tc>
                <a:extLst>
                  <a:ext uri="{0D108BD9-81ED-4DB2-BD59-A6C34878D82A}">
                    <a16:rowId xmlns:a16="http://schemas.microsoft.com/office/drawing/2014/main" val="10003"/>
                  </a:ext>
                </a:extLst>
              </a:tr>
              <a:tr h="200025">
                <a:tc>
                  <a:txBody>
                    <a:bodyPr/>
                    <a:lstStyle/>
                    <a:p>
                      <a:pPr marL="0" lvl="0" indent="0" algn="ctr" rtl="0">
                        <a:lnSpc>
                          <a:spcPct val="115000"/>
                        </a:lnSpc>
                        <a:spcBef>
                          <a:spcPts val="0"/>
                        </a:spcBef>
                        <a:spcAft>
                          <a:spcPts val="0"/>
                        </a:spcAft>
                        <a:buNone/>
                      </a:pPr>
                      <a:r>
                        <a:rPr lang="en" sz="800">
                          <a:latin typeface="Lexend"/>
                          <a:ea typeface="Lexend"/>
                          <a:cs typeface="Lexend"/>
                          <a:sym typeface="Lexend"/>
                        </a:rPr>
                        <a:t>Compared Others</a:t>
                      </a:r>
                      <a:endParaRPr sz="800">
                        <a:latin typeface="Lexend"/>
                        <a:ea typeface="Lexend"/>
                        <a:cs typeface="Lexend"/>
                        <a:sym typeface="Lexend"/>
                      </a:endParaRPr>
                    </a:p>
                  </a:txBody>
                  <a:tcPr marL="28575" marR="28575" marT="19050" marB="19050" anchor="b">
                    <a:lnL w="11900" cap="flat" cmpd="sng">
                      <a:solidFill>
                        <a:schemeClr val="lt1"/>
                      </a:solidFill>
                      <a:prstDash val="solid"/>
                      <a:round/>
                      <a:headEnd type="none" w="sm" len="sm"/>
                      <a:tailEnd type="none" w="sm" len="sm"/>
                    </a:lnL>
                    <a:lnR w="11900" cap="flat" cmpd="sng">
                      <a:solidFill>
                        <a:schemeClr val="lt1"/>
                      </a:solidFill>
                      <a:prstDash val="solid"/>
                      <a:round/>
                      <a:headEnd type="none" w="sm" len="sm"/>
                      <a:tailEnd type="none" w="sm" len="sm"/>
                    </a:lnR>
                    <a:lnT w="11900" cap="flat" cmpd="sng">
                      <a:solidFill>
                        <a:schemeClr val="lt1"/>
                      </a:solidFill>
                      <a:prstDash val="solid"/>
                      <a:round/>
                      <a:headEnd type="none" w="sm" len="sm"/>
                      <a:tailEnd type="none" w="sm" len="sm"/>
                    </a:lnT>
                    <a:lnB w="11900" cap="flat" cmpd="sng">
                      <a:solidFill>
                        <a:schemeClr val="lt1"/>
                      </a:solidFill>
                      <a:prstDash val="solid"/>
                      <a:round/>
                      <a:headEnd type="none" w="sm" len="sm"/>
                      <a:tailEnd type="none" w="sm" len="sm"/>
                    </a:lnB>
                    <a:solidFill>
                      <a:srgbClr val="F2F2F2"/>
                    </a:solidFill>
                  </a:tcPr>
                </a:tc>
                <a:tc>
                  <a:txBody>
                    <a:bodyPr/>
                    <a:lstStyle/>
                    <a:p>
                      <a:pPr marL="0" lvl="0" indent="0" algn="ctr" rtl="0">
                        <a:lnSpc>
                          <a:spcPct val="115000"/>
                        </a:lnSpc>
                        <a:spcBef>
                          <a:spcPts val="0"/>
                        </a:spcBef>
                        <a:spcAft>
                          <a:spcPts val="0"/>
                        </a:spcAft>
                        <a:buNone/>
                      </a:pPr>
                      <a:r>
                        <a:rPr lang="en" sz="800" b="1">
                          <a:latin typeface="Lexend"/>
                          <a:ea typeface="Lexend"/>
                          <a:cs typeface="Lexend"/>
                          <a:sym typeface="Lexend"/>
                        </a:rPr>
                        <a:t>-2.80%</a:t>
                      </a:r>
                      <a:endParaRPr sz="800" b="1">
                        <a:latin typeface="Lexend"/>
                        <a:ea typeface="Lexend"/>
                        <a:cs typeface="Lexend"/>
                        <a:sym typeface="Lexend"/>
                      </a:endParaRPr>
                    </a:p>
                  </a:txBody>
                  <a:tcPr marL="28575" marR="28575" marT="19050" marB="19050" anchor="b">
                    <a:lnL w="11900" cap="flat" cmpd="sng">
                      <a:solidFill>
                        <a:schemeClr val="lt1"/>
                      </a:solidFill>
                      <a:prstDash val="solid"/>
                      <a:round/>
                      <a:headEnd type="none" w="sm" len="sm"/>
                      <a:tailEnd type="none" w="sm" len="sm"/>
                    </a:lnL>
                    <a:lnR w="11900" cap="flat" cmpd="sng">
                      <a:solidFill>
                        <a:schemeClr val="lt1"/>
                      </a:solidFill>
                      <a:prstDash val="solid"/>
                      <a:round/>
                      <a:headEnd type="none" w="sm" len="sm"/>
                      <a:tailEnd type="none" w="sm" len="sm"/>
                    </a:lnR>
                    <a:lnT w="11900" cap="flat" cmpd="sng">
                      <a:solidFill>
                        <a:schemeClr val="lt1"/>
                      </a:solidFill>
                      <a:prstDash val="solid"/>
                      <a:round/>
                      <a:headEnd type="none" w="sm" len="sm"/>
                      <a:tailEnd type="none" w="sm" len="sm"/>
                    </a:lnT>
                    <a:lnB w="11900" cap="flat" cmpd="sng">
                      <a:solidFill>
                        <a:schemeClr val="lt1"/>
                      </a:solidFill>
                      <a:prstDash val="solid"/>
                      <a:round/>
                      <a:headEnd type="none" w="sm" len="sm"/>
                      <a:tailEnd type="none" w="sm" len="sm"/>
                    </a:lnB>
                    <a:solidFill>
                      <a:srgbClr val="F2F2F2"/>
                    </a:solidFill>
                  </a:tcPr>
                </a:tc>
                <a:tc>
                  <a:txBody>
                    <a:bodyPr/>
                    <a:lstStyle/>
                    <a:p>
                      <a:pPr marL="0" lvl="0" indent="0" algn="ctr" rtl="0">
                        <a:lnSpc>
                          <a:spcPct val="115000"/>
                        </a:lnSpc>
                        <a:spcBef>
                          <a:spcPts val="0"/>
                        </a:spcBef>
                        <a:spcAft>
                          <a:spcPts val="0"/>
                        </a:spcAft>
                        <a:buNone/>
                      </a:pPr>
                      <a:r>
                        <a:rPr lang="en" sz="800" b="1">
                          <a:solidFill>
                            <a:srgbClr val="FFFFFF"/>
                          </a:solidFill>
                          <a:latin typeface="Lexend"/>
                          <a:ea typeface="Lexend"/>
                          <a:cs typeface="Lexend"/>
                          <a:sym typeface="Lexend"/>
                        </a:rPr>
                        <a:t>3.64%</a:t>
                      </a:r>
                      <a:endParaRPr sz="800" b="1">
                        <a:solidFill>
                          <a:srgbClr val="FFFFFF"/>
                        </a:solidFill>
                        <a:latin typeface="Lexend"/>
                        <a:ea typeface="Lexend"/>
                        <a:cs typeface="Lexend"/>
                        <a:sym typeface="Lexend"/>
                      </a:endParaRPr>
                    </a:p>
                  </a:txBody>
                  <a:tcPr marL="28575" marR="28575" marT="19050" marB="19050" anchor="b">
                    <a:lnL w="11900" cap="flat" cmpd="sng">
                      <a:solidFill>
                        <a:schemeClr val="lt1"/>
                      </a:solidFill>
                      <a:prstDash val="solid"/>
                      <a:round/>
                      <a:headEnd type="none" w="sm" len="sm"/>
                      <a:tailEnd type="none" w="sm" len="sm"/>
                    </a:lnL>
                    <a:lnR w="11900" cap="flat" cmpd="sng">
                      <a:solidFill>
                        <a:schemeClr val="lt1"/>
                      </a:solidFill>
                      <a:prstDash val="solid"/>
                      <a:round/>
                      <a:headEnd type="none" w="sm" len="sm"/>
                      <a:tailEnd type="none" w="sm" len="sm"/>
                    </a:lnR>
                    <a:lnT w="11900" cap="flat" cmpd="sng">
                      <a:solidFill>
                        <a:schemeClr val="lt1"/>
                      </a:solidFill>
                      <a:prstDash val="solid"/>
                      <a:round/>
                      <a:headEnd type="none" w="sm" len="sm"/>
                      <a:tailEnd type="none" w="sm" len="sm"/>
                    </a:lnT>
                    <a:lnB w="11900" cap="flat" cmpd="sng">
                      <a:solidFill>
                        <a:schemeClr val="lt1"/>
                      </a:solidFill>
                      <a:prstDash val="solid"/>
                      <a:round/>
                      <a:headEnd type="none" w="sm" len="sm"/>
                      <a:tailEnd type="none" w="sm" len="sm"/>
                    </a:lnB>
                    <a:solidFill>
                      <a:srgbClr val="6AA84F"/>
                    </a:solidFill>
                  </a:tcPr>
                </a:tc>
                <a:tc>
                  <a:txBody>
                    <a:bodyPr/>
                    <a:lstStyle/>
                    <a:p>
                      <a:pPr marL="0" lvl="0" indent="0" algn="ctr" rtl="0">
                        <a:lnSpc>
                          <a:spcPct val="115000"/>
                        </a:lnSpc>
                        <a:spcBef>
                          <a:spcPts val="0"/>
                        </a:spcBef>
                        <a:spcAft>
                          <a:spcPts val="0"/>
                        </a:spcAft>
                        <a:buNone/>
                      </a:pPr>
                      <a:r>
                        <a:rPr lang="en" sz="800" b="1">
                          <a:solidFill>
                            <a:srgbClr val="FFFFFF"/>
                          </a:solidFill>
                          <a:latin typeface="Lexend"/>
                          <a:ea typeface="Lexend"/>
                          <a:cs typeface="Lexend"/>
                          <a:sym typeface="Lexend"/>
                        </a:rPr>
                        <a:t>17.74%</a:t>
                      </a:r>
                      <a:endParaRPr sz="800" b="1">
                        <a:solidFill>
                          <a:srgbClr val="FFFFFF"/>
                        </a:solidFill>
                        <a:latin typeface="Lexend"/>
                        <a:ea typeface="Lexend"/>
                        <a:cs typeface="Lexend"/>
                        <a:sym typeface="Lexend"/>
                      </a:endParaRPr>
                    </a:p>
                  </a:txBody>
                  <a:tcPr marL="28575" marR="28575" marT="19050" marB="19050" anchor="b">
                    <a:lnL w="11900" cap="flat" cmpd="sng">
                      <a:solidFill>
                        <a:schemeClr val="lt1"/>
                      </a:solidFill>
                      <a:prstDash val="solid"/>
                      <a:round/>
                      <a:headEnd type="none" w="sm" len="sm"/>
                      <a:tailEnd type="none" w="sm" len="sm"/>
                    </a:lnL>
                    <a:lnR w="11900" cap="flat" cmpd="sng">
                      <a:solidFill>
                        <a:schemeClr val="lt1"/>
                      </a:solidFill>
                      <a:prstDash val="solid"/>
                      <a:round/>
                      <a:headEnd type="none" w="sm" len="sm"/>
                      <a:tailEnd type="none" w="sm" len="sm"/>
                    </a:lnR>
                    <a:lnT w="11900" cap="flat" cmpd="sng">
                      <a:solidFill>
                        <a:schemeClr val="lt1"/>
                      </a:solidFill>
                      <a:prstDash val="solid"/>
                      <a:round/>
                      <a:headEnd type="none" w="sm" len="sm"/>
                      <a:tailEnd type="none" w="sm" len="sm"/>
                    </a:lnT>
                    <a:lnB w="11900" cap="flat" cmpd="sng">
                      <a:solidFill>
                        <a:schemeClr val="lt1"/>
                      </a:solidFill>
                      <a:prstDash val="solid"/>
                      <a:round/>
                      <a:headEnd type="none" w="sm" len="sm"/>
                      <a:tailEnd type="none" w="sm" len="sm"/>
                    </a:lnB>
                    <a:solidFill>
                      <a:srgbClr val="6AA84F"/>
                    </a:solidFill>
                  </a:tcPr>
                </a:tc>
                <a:tc>
                  <a:txBody>
                    <a:bodyPr/>
                    <a:lstStyle/>
                    <a:p>
                      <a:pPr marL="0" lvl="0" indent="0" algn="ctr" rtl="0">
                        <a:lnSpc>
                          <a:spcPct val="115000"/>
                        </a:lnSpc>
                        <a:spcBef>
                          <a:spcPts val="0"/>
                        </a:spcBef>
                        <a:spcAft>
                          <a:spcPts val="0"/>
                        </a:spcAft>
                        <a:buNone/>
                      </a:pPr>
                      <a:r>
                        <a:rPr lang="en" sz="800" b="1">
                          <a:solidFill>
                            <a:srgbClr val="FFFFFF"/>
                          </a:solidFill>
                          <a:latin typeface="Lexend"/>
                          <a:ea typeface="Lexend"/>
                          <a:cs typeface="Lexend"/>
                          <a:sym typeface="Lexend"/>
                        </a:rPr>
                        <a:t>1.17%</a:t>
                      </a:r>
                      <a:endParaRPr sz="800" b="1">
                        <a:solidFill>
                          <a:srgbClr val="FFFFFF"/>
                        </a:solidFill>
                        <a:latin typeface="Lexend"/>
                        <a:ea typeface="Lexend"/>
                        <a:cs typeface="Lexend"/>
                        <a:sym typeface="Lexend"/>
                      </a:endParaRPr>
                    </a:p>
                  </a:txBody>
                  <a:tcPr marL="28575" marR="28575" marT="19050" marB="19050" anchor="b">
                    <a:lnL w="11900" cap="flat" cmpd="sng">
                      <a:solidFill>
                        <a:schemeClr val="lt1"/>
                      </a:solidFill>
                      <a:prstDash val="solid"/>
                      <a:round/>
                      <a:headEnd type="none" w="sm" len="sm"/>
                      <a:tailEnd type="none" w="sm" len="sm"/>
                    </a:lnL>
                    <a:lnR w="11900" cap="flat" cmpd="sng">
                      <a:solidFill>
                        <a:schemeClr val="lt1"/>
                      </a:solidFill>
                      <a:prstDash val="solid"/>
                      <a:round/>
                      <a:headEnd type="none" w="sm" len="sm"/>
                      <a:tailEnd type="none" w="sm" len="sm"/>
                    </a:lnR>
                    <a:lnT w="11900" cap="flat" cmpd="sng">
                      <a:solidFill>
                        <a:schemeClr val="lt1"/>
                      </a:solidFill>
                      <a:prstDash val="solid"/>
                      <a:round/>
                      <a:headEnd type="none" w="sm" len="sm"/>
                      <a:tailEnd type="none" w="sm" len="sm"/>
                    </a:lnT>
                    <a:lnB w="11900" cap="flat" cmpd="sng">
                      <a:solidFill>
                        <a:schemeClr val="lt1"/>
                      </a:solidFill>
                      <a:prstDash val="solid"/>
                      <a:round/>
                      <a:headEnd type="none" w="sm" len="sm"/>
                      <a:tailEnd type="none" w="sm" len="sm"/>
                    </a:lnB>
                    <a:solidFill>
                      <a:srgbClr val="6AA84F"/>
                    </a:solidFill>
                  </a:tcPr>
                </a:tc>
                <a:extLst>
                  <a:ext uri="{0D108BD9-81ED-4DB2-BD59-A6C34878D82A}">
                    <a16:rowId xmlns:a16="http://schemas.microsoft.com/office/drawing/2014/main" val="10004"/>
                  </a:ext>
                </a:extLst>
              </a:tr>
            </a:tbl>
          </a:graphicData>
        </a:graphic>
      </p:graphicFrame>
      <p:cxnSp>
        <p:nvCxnSpPr>
          <p:cNvPr id="932" name="Google Shape;932;p67"/>
          <p:cNvCxnSpPr/>
          <p:nvPr/>
        </p:nvCxnSpPr>
        <p:spPr>
          <a:xfrm>
            <a:off x="4745550" y="2047243"/>
            <a:ext cx="4257000" cy="0"/>
          </a:xfrm>
          <a:prstGeom prst="straightConnector1">
            <a:avLst/>
          </a:prstGeom>
          <a:noFill/>
          <a:ln w="19050" cap="flat" cmpd="sng">
            <a:solidFill>
              <a:schemeClr val="dk1"/>
            </a:solidFill>
            <a:prstDash val="dashDot"/>
            <a:round/>
            <a:headEnd type="none" w="med" len="med"/>
            <a:tailEnd type="none" w="med" len="med"/>
          </a:ln>
        </p:spPr>
      </p:cxnSp>
      <p:graphicFrame>
        <p:nvGraphicFramePr>
          <p:cNvPr id="933" name="Google Shape;933;p67"/>
          <p:cNvGraphicFramePr/>
          <p:nvPr/>
        </p:nvGraphicFramePr>
        <p:xfrm>
          <a:off x="4739850" y="2148448"/>
          <a:ext cx="4259175" cy="810768"/>
        </p:xfrm>
        <a:graphic>
          <a:graphicData uri="http://schemas.openxmlformats.org/drawingml/2006/table">
            <a:tbl>
              <a:tblPr>
                <a:noFill/>
                <a:tableStyleId>{BD4DB973-2F49-4540-A1CC-0EE3EA8BBFB3}</a:tableStyleId>
              </a:tblPr>
              <a:tblGrid>
                <a:gridCol w="972425">
                  <a:extLst>
                    <a:ext uri="{9D8B030D-6E8A-4147-A177-3AD203B41FA5}">
                      <a16:colId xmlns:a16="http://schemas.microsoft.com/office/drawing/2014/main" val="20000"/>
                    </a:ext>
                  </a:extLst>
                </a:gridCol>
                <a:gridCol w="794125">
                  <a:extLst>
                    <a:ext uri="{9D8B030D-6E8A-4147-A177-3AD203B41FA5}">
                      <a16:colId xmlns:a16="http://schemas.microsoft.com/office/drawing/2014/main" val="20001"/>
                    </a:ext>
                  </a:extLst>
                </a:gridCol>
                <a:gridCol w="830875">
                  <a:extLst>
                    <a:ext uri="{9D8B030D-6E8A-4147-A177-3AD203B41FA5}">
                      <a16:colId xmlns:a16="http://schemas.microsoft.com/office/drawing/2014/main" val="20002"/>
                    </a:ext>
                  </a:extLst>
                </a:gridCol>
                <a:gridCol w="830875">
                  <a:extLst>
                    <a:ext uri="{9D8B030D-6E8A-4147-A177-3AD203B41FA5}">
                      <a16:colId xmlns:a16="http://schemas.microsoft.com/office/drawing/2014/main" val="20003"/>
                    </a:ext>
                  </a:extLst>
                </a:gridCol>
                <a:gridCol w="830875">
                  <a:extLst>
                    <a:ext uri="{9D8B030D-6E8A-4147-A177-3AD203B41FA5}">
                      <a16:colId xmlns:a16="http://schemas.microsoft.com/office/drawing/2014/main" val="20004"/>
                    </a:ext>
                  </a:extLst>
                </a:gridCol>
              </a:tblGrid>
              <a:tr h="138350">
                <a:tc>
                  <a:txBody>
                    <a:bodyPr/>
                    <a:lstStyle/>
                    <a:p>
                      <a:pPr marL="0" lvl="0" indent="0" algn="ctr" rtl="0">
                        <a:lnSpc>
                          <a:spcPct val="115000"/>
                        </a:lnSpc>
                        <a:spcBef>
                          <a:spcPts val="0"/>
                        </a:spcBef>
                        <a:spcAft>
                          <a:spcPts val="0"/>
                        </a:spcAft>
                        <a:buNone/>
                      </a:pPr>
                      <a:r>
                        <a:rPr lang="en" sz="800" b="1">
                          <a:solidFill>
                            <a:srgbClr val="FF6600"/>
                          </a:solidFill>
                          <a:latin typeface="Lexend"/>
                          <a:ea typeface="Lexend"/>
                          <a:cs typeface="Lexend"/>
                          <a:sym typeface="Lexend"/>
                        </a:rPr>
                        <a:t>KPIs Target</a:t>
                      </a:r>
                      <a:endParaRPr sz="800" b="1">
                        <a:solidFill>
                          <a:srgbClr val="FF6600"/>
                        </a:solidFill>
                        <a:latin typeface="Lexend"/>
                        <a:ea typeface="Lexend"/>
                        <a:cs typeface="Lexend"/>
                        <a:sym typeface="Lexend"/>
                      </a:endParaRPr>
                    </a:p>
                  </a:txBody>
                  <a:tcPr marL="28575" marR="28575" marT="19050" marB="19050" anchor="ctr">
                    <a:lnL w="11900" cap="flat" cmpd="sng">
                      <a:solidFill>
                        <a:schemeClr val="lt1"/>
                      </a:solidFill>
                      <a:prstDash val="solid"/>
                      <a:round/>
                      <a:headEnd type="none" w="sm" len="sm"/>
                      <a:tailEnd type="none" w="sm" len="sm"/>
                    </a:lnL>
                    <a:lnR w="11900" cap="flat" cmpd="sng">
                      <a:solidFill>
                        <a:schemeClr val="lt1"/>
                      </a:solidFill>
                      <a:prstDash val="solid"/>
                      <a:round/>
                      <a:headEnd type="none" w="sm" len="sm"/>
                      <a:tailEnd type="none" w="sm" len="sm"/>
                    </a:lnR>
                    <a:lnT w="11900" cap="flat" cmpd="sng">
                      <a:solidFill>
                        <a:schemeClr val="lt1"/>
                      </a:solidFill>
                      <a:prstDash val="solid"/>
                      <a:round/>
                      <a:headEnd type="none" w="sm" len="sm"/>
                      <a:tailEnd type="none" w="sm" len="sm"/>
                    </a:lnT>
                    <a:lnB w="11900" cap="flat" cmpd="sng">
                      <a:solidFill>
                        <a:schemeClr val="lt1"/>
                      </a:solidFill>
                      <a:prstDash val="solid"/>
                      <a:round/>
                      <a:headEnd type="none" w="sm" len="sm"/>
                      <a:tailEnd type="none" w="sm" len="sm"/>
                    </a:lnB>
                    <a:solidFill>
                      <a:srgbClr val="FCE5CD"/>
                    </a:solidFill>
                  </a:tcPr>
                </a:tc>
                <a:tc>
                  <a:txBody>
                    <a:bodyPr/>
                    <a:lstStyle/>
                    <a:p>
                      <a:pPr marL="0" lvl="0" indent="0" algn="ctr" rtl="0">
                        <a:lnSpc>
                          <a:spcPct val="115000"/>
                        </a:lnSpc>
                        <a:spcBef>
                          <a:spcPts val="0"/>
                        </a:spcBef>
                        <a:spcAft>
                          <a:spcPts val="0"/>
                        </a:spcAft>
                        <a:buNone/>
                      </a:pPr>
                      <a:r>
                        <a:rPr lang="en" sz="800" b="1">
                          <a:solidFill>
                            <a:srgbClr val="FF6600"/>
                          </a:solidFill>
                          <a:latin typeface="Lexend"/>
                          <a:ea typeface="Lexend"/>
                          <a:cs typeface="Lexend"/>
                          <a:sym typeface="Lexend"/>
                        </a:rPr>
                        <a:t>130</a:t>
                      </a:r>
                      <a:endParaRPr sz="800" b="1">
                        <a:solidFill>
                          <a:srgbClr val="FF6600"/>
                        </a:solidFill>
                        <a:latin typeface="Lexend"/>
                        <a:ea typeface="Lexend"/>
                        <a:cs typeface="Lexend"/>
                        <a:sym typeface="Lexend"/>
                      </a:endParaRPr>
                    </a:p>
                  </a:txBody>
                  <a:tcPr marL="28575" marR="28575" marT="19050" marB="19050" anchor="ctr">
                    <a:lnL w="11900" cap="flat" cmpd="sng">
                      <a:solidFill>
                        <a:schemeClr val="lt1"/>
                      </a:solidFill>
                      <a:prstDash val="solid"/>
                      <a:round/>
                      <a:headEnd type="none" w="sm" len="sm"/>
                      <a:tailEnd type="none" w="sm" len="sm"/>
                    </a:lnL>
                    <a:lnR w="11900" cap="flat" cmpd="sng">
                      <a:solidFill>
                        <a:schemeClr val="lt1"/>
                      </a:solidFill>
                      <a:prstDash val="solid"/>
                      <a:round/>
                      <a:headEnd type="none" w="sm" len="sm"/>
                      <a:tailEnd type="none" w="sm" len="sm"/>
                    </a:lnR>
                    <a:lnT w="11900" cap="flat" cmpd="sng">
                      <a:solidFill>
                        <a:schemeClr val="lt1"/>
                      </a:solidFill>
                      <a:prstDash val="solid"/>
                      <a:round/>
                      <a:headEnd type="none" w="sm" len="sm"/>
                      <a:tailEnd type="none" w="sm" len="sm"/>
                    </a:lnT>
                    <a:lnB w="11900" cap="flat" cmpd="sng">
                      <a:solidFill>
                        <a:schemeClr val="lt1"/>
                      </a:solidFill>
                      <a:prstDash val="solid"/>
                      <a:round/>
                      <a:headEnd type="none" w="sm" len="sm"/>
                      <a:tailEnd type="none" w="sm" len="sm"/>
                    </a:lnB>
                    <a:solidFill>
                      <a:srgbClr val="FCE5CD"/>
                    </a:solidFill>
                  </a:tcPr>
                </a:tc>
                <a:tc>
                  <a:txBody>
                    <a:bodyPr/>
                    <a:lstStyle/>
                    <a:p>
                      <a:pPr marL="0" lvl="0" indent="0" algn="ctr" rtl="0">
                        <a:lnSpc>
                          <a:spcPct val="115000"/>
                        </a:lnSpc>
                        <a:spcBef>
                          <a:spcPts val="0"/>
                        </a:spcBef>
                        <a:spcAft>
                          <a:spcPts val="0"/>
                        </a:spcAft>
                        <a:buNone/>
                      </a:pPr>
                      <a:r>
                        <a:rPr lang="en" sz="800" b="1">
                          <a:solidFill>
                            <a:srgbClr val="FF6600"/>
                          </a:solidFill>
                          <a:latin typeface="Lexend"/>
                          <a:ea typeface="Lexend"/>
                          <a:cs typeface="Lexend"/>
                          <a:sym typeface="Lexend"/>
                        </a:rPr>
                        <a:t>90%</a:t>
                      </a:r>
                      <a:endParaRPr sz="800" b="1">
                        <a:solidFill>
                          <a:srgbClr val="FF6600"/>
                        </a:solidFill>
                        <a:latin typeface="Lexend"/>
                        <a:ea typeface="Lexend"/>
                        <a:cs typeface="Lexend"/>
                        <a:sym typeface="Lexend"/>
                      </a:endParaRPr>
                    </a:p>
                  </a:txBody>
                  <a:tcPr marL="28575" marR="28575" marT="19050" marB="19050" anchor="ctr">
                    <a:lnL w="11900" cap="flat" cmpd="sng">
                      <a:solidFill>
                        <a:schemeClr val="lt1"/>
                      </a:solidFill>
                      <a:prstDash val="solid"/>
                      <a:round/>
                      <a:headEnd type="none" w="sm" len="sm"/>
                      <a:tailEnd type="none" w="sm" len="sm"/>
                    </a:lnL>
                    <a:lnR w="11900" cap="flat" cmpd="sng">
                      <a:solidFill>
                        <a:schemeClr val="lt1"/>
                      </a:solidFill>
                      <a:prstDash val="solid"/>
                      <a:round/>
                      <a:headEnd type="none" w="sm" len="sm"/>
                      <a:tailEnd type="none" w="sm" len="sm"/>
                    </a:lnR>
                    <a:lnT w="11900" cap="flat" cmpd="sng">
                      <a:solidFill>
                        <a:schemeClr val="lt1"/>
                      </a:solidFill>
                      <a:prstDash val="solid"/>
                      <a:round/>
                      <a:headEnd type="none" w="sm" len="sm"/>
                      <a:tailEnd type="none" w="sm" len="sm"/>
                    </a:lnT>
                    <a:lnB w="11900" cap="flat" cmpd="sng">
                      <a:solidFill>
                        <a:schemeClr val="lt1"/>
                      </a:solidFill>
                      <a:prstDash val="solid"/>
                      <a:round/>
                      <a:headEnd type="none" w="sm" len="sm"/>
                      <a:tailEnd type="none" w="sm" len="sm"/>
                    </a:lnB>
                    <a:solidFill>
                      <a:srgbClr val="FCE5CD"/>
                    </a:solidFill>
                  </a:tcPr>
                </a:tc>
                <a:tc>
                  <a:txBody>
                    <a:bodyPr/>
                    <a:lstStyle/>
                    <a:p>
                      <a:pPr marL="0" lvl="0" indent="0" algn="ctr" rtl="0">
                        <a:lnSpc>
                          <a:spcPct val="115000"/>
                        </a:lnSpc>
                        <a:spcBef>
                          <a:spcPts val="0"/>
                        </a:spcBef>
                        <a:spcAft>
                          <a:spcPts val="0"/>
                        </a:spcAft>
                        <a:buNone/>
                      </a:pPr>
                      <a:r>
                        <a:rPr lang="en" sz="800" b="1">
                          <a:solidFill>
                            <a:srgbClr val="FF6600"/>
                          </a:solidFill>
                          <a:latin typeface="Lexend"/>
                          <a:ea typeface="Lexend"/>
                          <a:cs typeface="Lexend"/>
                          <a:sym typeface="Lexend"/>
                        </a:rPr>
                        <a:t>160</a:t>
                      </a:r>
                      <a:endParaRPr sz="800" b="1">
                        <a:solidFill>
                          <a:srgbClr val="FF6600"/>
                        </a:solidFill>
                        <a:latin typeface="Lexend"/>
                        <a:ea typeface="Lexend"/>
                        <a:cs typeface="Lexend"/>
                        <a:sym typeface="Lexend"/>
                      </a:endParaRPr>
                    </a:p>
                  </a:txBody>
                  <a:tcPr marL="28575" marR="28575" marT="19050" marB="19050" anchor="ctr">
                    <a:lnL w="11900" cap="flat" cmpd="sng">
                      <a:solidFill>
                        <a:schemeClr val="lt1"/>
                      </a:solidFill>
                      <a:prstDash val="solid"/>
                      <a:round/>
                      <a:headEnd type="none" w="sm" len="sm"/>
                      <a:tailEnd type="none" w="sm" len="sm"/>
                    </a:lnL>
                    <a:lnR w="11900" cap="flat" cmpd="sng">
                      <a:solidFill>
                        <a:schemeClr val="lt1"/>
                      </a:solidFill>
                      <a:prstDash val="solid"/>
                      <a:round/>
                      <a:headEnd type="none" w="sm" len="sm"/>
                      <a:tailEnd type="none" w="sm" len="sm"/>
                    </a:lnR>
                    <a:lnT w="11900" cap="flat" cmpd="sng">
                      <a:solidFill>
                        <a:schemeClr val="lt1"/>
                      </a:solidFill>
                      <a:prstDash val="solid"/>
                      <a:round/>
                      <a:headEnd type="none" w="sm" len="sm"/>
                      <a:tailEnd type="none" w="sm" len="sm"/>
                    </a:lnT>
                    <a:lnB w="11900" cap="flat" cmpd="sng">
                      <a:solidFill>
                        <a:schemeClr val="lt1"/>
                      </a:solidFill>
                      <a:prstDash val="solid"/>
                      <a:round/>
                      <a:headEnd type="none" w="sm" len="sm"/>
                      <a:tailEnd type="none" w="sm" len="sm"/>
                    </a:lnB>
                    <a:solidFill>
                      <a:srgbClr val="FCE5CD"/>
                    </a:solidFill>
                  </a:tcPr>
                </a:tc>
                <a:tc>
                  <a:txBody>
                    <a:bodyPr/>
                    <a:lstStyle/>
                    <a:p>
                      <a:pPr marL="0" lvl="0" indent="0" algn="ctr" rtl="0">
                        <a:lnSpc>
                          <a:spcPct val="115000"/>
                        </a:lnSpc>
                        <a:spcBef>
                          <a:spcPts val="0"/>
                        </a:spcBef>
                        <a:spcAft>
                          <a:spcPts val="0"/>
                        </a:spcAft>
                        <a:buNone/>
                      </a:pPr>
                      <a:r>
                        <a:rPr lang="en" sz="800" b="1">
                          <a:solidFill>
                            <a:srgbClr val="FF6600"/>
                          </a:solidFill>
                          <a:latin typeface="Lexend"/>
                          <a:ea typeface="Lexend"/>
                          <a:cs typeface="Lexend"/>
                          <a:sym typeface="Lexend"/>
                        </a:rPr>
                        <a:t>80%</a:t>
                      </a:r>
                      <a:endParaRPr sz="800" b="1">
                        <a:solidFill>
                          <a:srgbClr val="FF6600"/>
                        </a:solidFill>
                        <a:latin typeface="Lexend"/>
                        <a:ea typeface="Lexend"/>
                        <a:cs typeface="Lexend"/>
                        <a:sym typeface="Lexend"/>
                      </a:endParaRPr>
                    </a:p>
                  </a:txBody>
                  <a:tcPr marL="28575" marR="28575" marT="19050" marB="19050" anchor="ctr">
                    <a:lnL w="11900" cap="flat" cmpd="sng">
                      <a:solidFill>
                        <a:schemeClr val="lt1"/>
                      </a:solidFill>
                      <a:prstDash val="solid"/>
                      <a:round/>
                      <a:headEnd type="none" w="sm" len="sm"/>
                      <a:tailEnd type="none" w="sm" len="sm"/>
                    </a:lnL>
                    <a:lnR w="11900" cap="flat" cmpd="sng">
                      <a:solidFill>
                        <a:schemeClr val="lt1"/>
                      </a:solidFill>
                      <a:prstDash val="solid"/>
                      <a:round/>
                      <a:headEnd type="none" w="sm" len="sm"/>
                      <a:tailEnd type="none" w="sm" len="sm"/>
                    </a:lnR>
                    <a:lnT w="11900" cap="flat" cmpd="sng">
                      <a:solidFill>
                        <a:schemeClr val="lt1"/>
                      </a:solidFill>
                      <a:prstDash val="solid"/>
                      <a:round/>
                      <a:headEnd type="none" w="sm" len="sm"/>
                      <a:tailEnd type="none" w="sm" len="sm"/>
                    </a:lnT>
                    <a:lnB w="11900" cap="flat" cmpd="sng">
                      <a:solidFill>
                        <a:schemeClr val="lt1"/>
                      </a:solidFill>
                      <a:prstDash val="solid"/>
                      <a:round/>
                      <a:headEnd type="none" w="sm" len="sm"/>
                      <a:tailEnd type="none" w="sm" len="sm"/>
                    </a:lnB>
                    <a:solidFill>
                      <a:srgbClr val="FCE5CD"/>
                    </a:solidFill>
                  </a:tcPr>
                </a:tc>
                <a:extLst>
                  <a:ext uri="{0D108BD9-81ED-4DB2-BD59-A6C34878D82A}">
                    <a16:rowId xmlns:a16="http://schemas.microsoft.com/office/drawing/2014/main" val="10000"/>
                  </a:ext>
                </a:extLst>
              </a:tr>
              <a:tr h="138350">
                <a:tc>
                  <a:txBody>
                    <a:bodyPr/>
                    <a:lstStyle/>
                    <a:p>
                      <a:pPr marL="0" lvl="0" indent="0" algn="ctr" rtl="0">
                        <a:lnSpc>
                          <a:spcPct val="115000"/>
                        </a:lnSpc>
                        <a:spcBef>
                          <a:spcPts val="0"/>
                        </a:spcBef>
                        <a:spcAft>
                          <a:spcPts val="0"/>
                        </a:spcAft>
                        <a:buNone/>
                      </a:pPr>
                      <a:r>
                        <a:rPr lang="en" sz="800">
                          <a:latin typeface="Lexend"/>
                          <a:ea typeface="Lexend"/>
                          <a:cs typeface="Lexend"/>
                          <a:sym typeface="Lexend"/>
                        </a:rPr>
                        <a:t>Actual KPI</a:t>
                      </a:r>
                      <a:endParaRPr sz="800">
                        <a:latin typeface="Lexend"/>
                        <a:ea typeface="Lexend"/>
                        <a:cs typeface="Lexend"/>
                        <a:sym typeface="Lexend"/>
                      </a:endParaRPr>
                    </a:p>
                  </a:txBody>
                  <a:tcPr marL="28575" marR="28575" marT="19050" marB="19050" anchor="ctr">
                    <a:lnL w="11900" cap="flat" cmpd="sng">
                      <a:solidFill>
                        <a:schemeClr val="lt1"/>
                      </a:solidFill>
                      <a:prstDash val="solid"/>
                      <a:round/>
                      <a:headEnd type="none" w="sm" len="sm"/>
                      <a:tailEnd type="none" w="sm" len="sm"/>
                    </a:lnL>
                    <a:lnR w="11900" cap="flat" cmpd="sng">
                      <a:solidFill>
                        <a:schemeClr val="lt1"/>
                      </a:solidFill>
                      <a:prstDash val="solid"/>
                      <a:round/>
                      <a:headEnd type="none" w="sm" len="sm"/>
                      <a:tailEnd type="none" w="sm" len="sm"/>
                    </a:lnR>
                    <a:lnT w="11900" cap="flat" cmpd="sng">
                      <a:solidFill>
                        <a:schemeClr val="lt1"/>
                      </a:solidFill>
                      <a:prstDash val="solid"/>
                      <a:round/>
                      <a:headEnd type="none" w="sm" len="sm"/>
                      <a:tailEnd type="none" w="sm" len="sm"/>
                    </a:lnT>
                    <a:lnB w="11900" cap="flat" cmpd="sng">
                      <a:solidFill>
                        <a:schemeClr val="lt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800">
                          <a:latin typeface="Lexend"/>
                          <a:ea typeface="Lexend"/>
                          <a:cs typeface="Lexend"/>
                          <a:sym typeface="Lexend"/>
                        </a:rPr>
                        <a:t>74</a:t>
                      </a:r>
                      <a:endParaRPr sz="800">
                        <a:latin typeface="Lexend"/>
                        <a:ea typeface="Lexend"/>
                        <a:cs typeface="Lexend"/>
                        <a:sym typeface="Lexend"/>
                      </a:endParaRPr>
                    </a:p>
                  </a:txBody>
                  <a:tcPr marL="28575" marR="28575" marT="19050" marB="19050" anchor="ctr">
                    <a:lnL w="11900" cap="flat" cmpd="sng">
                      <a:solidFill>
                        <a:schemeClr val="lt1"/>
                      </a:solidFill>
                      <a:prstDash val="solid"/>
                      <a:round/>
                      <a:headEnd type="none" w="sm" len="sm"/>
                      <a:tailEnd type="none" w="sm" len="sm"/>
                    </a:lnL>
                    <a:lnR w="11900" cap="flat" cmpd="sng">
                      <a:solidFill>
                        <a:schemeClr val="lt1"/>
                      </a:solidFill>
                      <a:prstDash val="solid"/>
                      <a:round/>
                      <a:headEnd type="none" w="sm" len="sm"/>
                      <a:tailEnd type="none" w="sm" len="sm"/>
                    </a:lnR>
                    <a:lnT w="11900" cap="flat" cmpd="sng">
                      <a:solidFill>
                        <a:schemeClr val="lt1"/>
                      </a:solidFill>
                      <a:prstDash val="solid"/>
                      <a:round/>
                      <a:headEnd type="none" w="sm" len="sm"/>
                      <a:tailEnd type="none" w="sm" len="sm"/>
                    </a:lnT>
                    <a:lnB w="11900" cap="flat" cmpd="sng">
                      <a:solidFill>
                        <a:schemeClr val="lt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800">
                          <a:latin typeface="Lexend"/>
                          <a:ea typeface="Lexend"/>
                          <a:cs typeface="Lexend"/>
                          <a:sym typeface="Lexend"/>
                        </a:rPr>
                        <a:t>95.12%</a:t>
                      </a:r>
                      <a:endParaRPr sz="800">
                        <a:latin typeface="Lexend"/>
                        <a:ea typeface="Lexend"/>
                        <a:cs typeface="Lexend"/>
                        <a:sym typeface="Lexend"/>
                      </a:endParaRPr>
                    </a:p>
                  </a:txBody>
                  <a:tcPr marL="28575" marR="28575" marT="19050" marB="19050" anchor="ctr">
                    <a:lnL w="11900" cap="flat" cmpd="sng">
                      <a:solidFill>
                        <a:schemeClr val="lt1"/>
                      </a:solidFill>
                      <a:prstDash val="solid"/>
                      <a:round/>
                      <a:headEnd type="none" w="sm" len="sm"/>
                      <a:tailEnd type="none" w="sm" len="sm"/>
                    </a:lnL>
                    <a:lnR w="11900" cap="flat" cmpd="sng">
                      <a:solidFill>
                        <a:schemeClr val="lt1"/>
                      </a:solidFill>
                      <a:prstDash val="solid"/>
                      <a:round/>
                      <a:headEnd type="none" w="sm" len="sm"/>
                      <a:tailEnd type="none" w="sm" len="sm"/>
                    </a:lnR>
                    <a:lnT w="11900" cap="flat" cmpd="sng">
                      <a:solidFill>
                        <a:schemeClr val="lt1"/>
                      </a:solidFill>
                      <a:prstDash val="solid"/>
                      <a:round/>
                      <a:headEnd type="none" w="sm" len="sm"/>
                      <a:tailEnd type="none" w="sm" len="sm"/>
                    </a:lnT>
                    <a:lnB w="11900" cap="flat" cmpd="sng">
                      <a:solidFill>
                        <a:schemeClr val="lt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800">
                          <a:latin typeface="Lexend"/>
                          <a:ea typeface="Lexend"/>
                          <a:cs typeface="Lexend"/>
                          <a:sym typeface="Lexend"/>
                        </a:rPr>
                        <a:t>87</a:t>
                      </a:r>
                      <a:endParaRPr sz="800">
                        <a:latin typeface="Lexend"/>
                        <a:ea typeface="Lexend"/>
                        <a:cs typeface="Lexend"/>
                        <a:sym typeface="Lexend"/>
                      </a:endParaRPr>
                    </a:p>
                  </a:txBody>
                  <a:tcPr marL="28575" marR="28575" marT="19050" marB="19050" anchor="ctr">
                    <a:lnL w="11900" cap="flat" cmpd="sng">
                      <a:solidFill>
                        <a:schemeClr val="lt1"/>
                      </a:solidFill>
                      <a:prstDash val="solid"/>
                      <a:round/>
                      <a:headEnd type="none" w="sm" len="sm"/>
                      <a:tailEnd type="none" w="sm" len="sm"/>
                    </a:lnL>
                    <a:lnR w="11900" cap="flat" cmpd="sng">
                      <a:solidFill>
                        <a:schemeClr val="lt1"/>
                      </a:solidFill>
                      <a:prstDash val="solid"/>
                      <a:round/>
                      <a:headEnd type="none" w="sm" len="sm"/>
                      <a:tailEnd type="none" w="sm" len="sm"/>
                    </a:lnR>
                    <a:lnT w="11900" cap="flat" cmpd="sng">
                      <a:solidFill>
                        <a:schemeClr val="lt1"/>
                      </a:solidFill>
                      <a:prstDash val="solid"/>
                      <a:round/>
                      <a:headEnd type="none" w="sm" len="sm"/>
                      <a:tailEnd type="none" w="sm" len="sm"/>
                    </a:lnT>
                    <a:lnB w="11900" cap="flat" cmpd="sng">
                      <a:solidFill>
                        <a:schemeClr val="lt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800">
                          <a:latin typeface="Lexend"/>
                          <a:ea typeface="Lexend"/>
                          <a:cs typeface="Lexend"/>
                          <a:sym typeface="Lexend"/>
                        </a:rPr>
                        <a:t>89.40%</a:t>
                      </a:r>
                      <a:endParaRPr sz="800">
                        <a:latin typeface="Lexend"/>
                        <a:ea typeface="Lexend"/>
                        <a:cs typeface="Lexend"/>
                        <a:sym typeface="Lexend"/>
                      </a:endParaRPr>
                    </a:p>
                  </a:txBody>
                  <a:tcPr marL="28575" marR="28575" marT="19050" marB="19050" anchor="ctr">
                    <a:lnL w="11900" cap="flat" cmpd="sng">
                      <a:solidFill>
                        <a:schemeClr val="lt1"/>
                      </a:solidFill>
                      <a:prstDash val="solid"/>
                      <a:round/>
                      <a:headEnd type="none" w="sm" len="sm"/>
                      <a:tailEnd type="none" w="sm" len="sm"/>
                    </a:lnL>
                    <a:lnR w="11900" cap="flat" cmpd="sng">
                      <a:solidFill>
                        <a:schemeClr val="lt1"/>
                      </a:solidFill>
                      <a:prstDash val="solid"/>
                      <a:round/>
                      <a:headEnd type="none" w="sm" len="sm"/>
                      <a:tailEnd type="none" w="sm" len="sm"/>
                    </a:lnR>
                    <a:lnT w="11900" cap="flat" cmpd="sng">
                      <a:solidFill>
                        <a:schemeClr val="lt1"/>
                      </a:solidFill>
                      <a:prstDash val="solid"/>
                      <a:round/>
                      <a:headEnd type="none" w="sm" len="sm"/>
                      <a:tailEnd type="none" w="sm" len="sm"/>
                    </a:lnT>
                    <a:lnB w="11900" cap="flat" cmpd="sng">
                      <a:solidFill>
                        <a:schemeClr val="lt1"/>
                      </a:solidFill>
                      <a:prstDash val="solid"/>
                      <a:round/>
                      <a:headEnd type="none" w="sm" len="sm"/>
                      <a:tailEnd type="none" w="sm" len="sm"/>
                    </a:lnB>
                  </a:tcPr>
                </a:tc>
                <a:extLst>
                  <a:ext uri="{0D108BD9-81ED-4DB2-BD59-A6C34878D82A}">
                    <a16:rowId xmlns:a16="http://schemas.microsoft.com/office/drawing/2014/main" val="10001"/>
                  </a:ext>
                </a:extLst>
              </a:tr>
              <a:tr h="214300">
                <a:tc>
                  <a:txBody>
                    <a:bodyPr/>
                    <a:lstStyle/>
                    <a:p>
                      <a:pPr marL="0" lvl="0" indent="0" algn="ctr" rtl="0">
                        <a:lnSpc>
                          <a:spcPct val="115000"/>
                        </a:lnSpc>
                        <a:spcBef>
                          <a:spcPts val="0"/>
                        </a:spcBef>
                        <a:spcAft>
                          <a:spcPts val="0"/>
                        </a:spcAft>
                        <a:buNone/>
                      </a:pPr>
                      <a:r>
                        <a:rPr lang="en" sz="800">
                          <a:latin typeface="Lexend"/>
                          <a:ea typeface="Lexend"/>
                          <a:cs typeface="Lexend"/>
                          <a:sym typeface="Lexend"/>
                        </a:rPr>
                        <a:t>KPIs MTD Achieved</a:t>
                      </a:r>
                      <a:endParaRPr sz="800">
                        <a:latin typeface="Lexend"/>
                        <a:ea typeface="Lexend"/>
                        <a:cs typeface="Lexend"/>
                        <a:sym typeface="Lexend"/>
                      </a:endParaRPr>
                    </a:p>
                  </a:txBody>
                  <a:tcPr marL="28575" marR="28575" marT="19050" marB="19050" anchor="ctr">
                    <a:lnL w="11900" cap="flat" cmpd="sng">
                      <a:solidFill>
                        <a:schemeClr val="lt1"/>
                      </a:solidFill>
                      <a:prstDash val="solid"/>
                      <a:round/>
                      <a:headEnd type="none" w="sm" len="sm"/>
                      <a:tailEnd type="none" w="sm" len="sm"/>
                    </a:lnL>
                    <a:lnR w="11900" cap="flat" cmpd="sng">
                      <a:solidFill>
                        <a:schemeClr val="lt1"/>
                      </a:solidFill>
                      <a:prstDash val="solid"/>
                      <a:round/>
                      <a:headEnd type="none" w="sm" len="sm"/>
                      <a:tailEnd type="none" w="sm" len="sm"/>
                    </a:lnR>
                    <a:lnT w="11900" cap="flat" cmpd="sng">
                      <a:solidFill>
                        <a:schemeClr val="lt1"/>
                      </a:solidFill>
                      <a:prstDash val="solid"/>
                      <a:round/>
                      <a:headEnd type="none" w="sm" len="sm"/>
                      <a:tailEnd type="none" w="sm" len="sm"/>
                    </a:lnT>
                    <a:lnB w="11900" cap="flat" cmpd="sng">
                      <a:solidFill>
                        <a:schemeClr val="lt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800" b="1">
                          <a:latin typeface="Lexend"/>
                          <a:ea typeface="Lexend"/>
                          <a:cs typeface="Lexend"/>
                          <a:sym typeface="Lexend"/>
                        </a:rPr>
                        <a:t>57%</a:t>
                      </a:r>
                      <a:endParaRPr sz="800" b="1">
                        <a:latin typeface="Lexend"/>
                        <a:ea typeface="Lexend"/>
                        <a:cs typeface="Lexend"/>
                        <a:sym typeface="Lexend"/>
                      </a:endParaRPr>
                    </a:p>
                  </a:txBody>
                  <a:tcPr marL="28575" marR="28575" marT="19050" marB="19050" anchor="ctr">
                    <a:lnL w="11900" cap="flat" cmpd="sng">
                      <a:solidFill>
                        <a:schemeClr val="lt1"/>
                      </a:solidFill>
                      <a:prstDash val="solid"/>
                      <a:round/>
                      <a:headEnd type="none" w="sm" len="sm"/>
                      <a:tailEnd type="none" w="sm" len="sm"/>
                    </a:lnL>
                    <a:lnR w="11900" cap="flat" cmpd="sng">
                      <a:solidFill>
                        <a:schemeClr val="lt1"/>
                      </a:solidFill>
                      <a:prstDash val="solid"/>
                      <a:round/>
                      <a:headEnd type="none" w="sm" len="sm"/>
                      <a:tailEnd type="none" w="sm" len="sm"/>
                    </a:lnR>
                    <a:lnT w="11900" cap="flat" cmpd="sng">
                      <a:solidFill>
                        <a:schemeClr val="lt1"/>
                      </a:solidFill>
                      <a:prstDash val="solid"/>
                      <a:round/>
                      <a:headEnd type="none" w="sm" len="sm"/>
                      <a:tailEnd type="none" w="sm" len="sm"/>
                    </a:lnT>
                    <a:lnB w="11900" cap="flat" cmpd="sng">
                      <a:solidFill>
                        <a:schemeClr val="lt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800" b="1">
                          <a:solidFill>
                            <a:srgbClr val="38761D"/>
                          </a:solidFill>
                          <a:latin typeface="Lexend"/>
                          <a:ea typeface="Lexend"/>
                          <a:cs typeface="Lexend"/>
                          <a:sym typeface="Lexend"/>
                        </a:rPr>
                        <a:t>106%</a:t>
                      </a:r>
                      <a:endParaRPr sz="800" b="1">
                        <a:solidFill>
                          <a:srgbClr val="38761D"/>
                        </a:solidFill>
                        <a:latin typeface="Lexend"/>
                        <a:ea typeface="Lexend"/>
                        <a:cs typeface="Lexend"/>
                        <a:sym typeface="Lexend"/>
                      </a:endParaRPr>
                    </a:p>
                  </a:txBody>
                  <a:tcPr marL="28575" marR="28575" marT="19050" marB="19050" anchor="ctr">
                    <a:lnL w="11900" cap="flat" cmpd="sng">
                      <a:solidFill>
                        <a:schemeClr val="lt1"/>
                      </a:solidFill>
                      <a:prstDash val="solid"/>
                      <a:round/>
                      <a:headEnd type="none" w="sm" len="sm"/>
                      <a:tailEnd type="none" w="sm" len="sm"/>
                    </a:lnL>
                    <a:lnR w="11900" cap="flat" cmpd="sng">
                      <a:solidFill>
                        <a:schemeClr val="lt1"/>
                      </a:solidFill>
                      <a:prstDash val="solid"/>
                      <a:round/>
                      <a:headEnd type="none" w="sm" len="sm"/>
                      <a:tailEnd type="none" w="sm" len="sm"/>
                    </a:lnR>
                    <a:lnT w="11900" cap="flat" cmpd="sng">
                      <a:solidFill>
                        <a:schemeClr val="lt1"/>
                      </a:solidFill>
                      <a:prstDash val="solid"/>
                      <a:round/>
                      <a:headEnd type="none" w="sm" len="sm"/>
                      <a:tailEnd type="none" w="sm" len="sm"/>
                    </a:lnT>
                    <a:lnB w="11900" cap="flat" cmpd="sng">
                      <a:solidFill>
                        <a:schemeClr val="lt1"/>
                      </a:solidFill>
                      <a:prstDash val="solid"/>
                      <a:round/>
                      <a:headEnd type="none" w="sm" len="sm"/>
                      <a:tailEnd type="none" w="sm" len="sm"/>
                    </a:lnB>
                    <a:solidFill>
                      <a:srgbClr val="D9EAD3"/>
                    </a:solidFill>
                  </a:tcPr>
                </a:tc>
                <a:tc>
                  <a:txBody>
                    <a:bodyPr/>
                    <a:lstStyle/>
                    <a:p>
                      <a:pPr marL="0" lvl="0" indent="0" algn="ctr" rtl="0">
                        <a:lnSpc>
                          <a:spcPct val="115000"/>
                        </a:lnSpc>
                        <a:spcBef>
                          <a:spcPts val="0"/>
                        </a:spcBef>
                        <a:spcAft>
                          <a:spcPts val="0"/>
                        </a:spcAft>
                        <a:buNone/>
                      </a:pPr>
                      <a:r>
                        <a:rPr lang="en" sz="800" b="1">
                          <a:latin typeface="Lexend"/>
                          <a:ea typeface="Lexend"/>
                          <a:cs typeface="Lexend"/>
                          <a:sym typeface="Lexend"/>
                        </a:rPr>
                        <a:t>54%</a:t>
                      </a:r>
                      <a:endParaRPr sz="800" b="1">
                        <a:latin typeface="Lexend"/>
                        <a:ea typeface="Lexend"/>
                        <a:cs typeface="Lexend"/>
                        <a:sym typeface="Lexend"/>
                      </a:endParaRPr>
                    </a:p>
                  </a:txBody>
                  <a:tcPr marL="28575" marR="28575" marT="19050" marB="19050" anchor="ctr">
                    <a:lnL w="11900" cap="flat" cmpd="sng">
                      <a:solidFill>
                        <a:schemeClr val="lt1"/>
                      </a:solidFill>
                      <a:prstDash val="solid"/>
                      <a:round/>
                      <a:headEnd type="none" w="sm" len="sm"/>
                      <a:tailEnd type="none" w="sm" len="sm"/>
                    </a:lnL>
                    <a:lnR w="11900" cap="flat" cmpd="sng">
                      <a:solidFill>
                        <a:schemeClr val="lt1"/>
                      </a:solidFill>
                      <a:prstDash val="solid"/>
                      <a:round/>
                      <a:headEnd type="none" w="sm" len="sm"/>
                      <a:tailEnd type="none" w="sm" len="sm"/>
                    </a:lnR>
                    <a:lnT w="11900" cap="flat" cmpd="sng">
                      <a:solidFill>
                        <a:schemeClr val="lt1"/>
                      </a:solidFill>
                      <a:prstDash val="solid"/>
                      <a:round/>
                      <a:headEnd type="none" w="sm" len="sm"/>
                      <a:tailEnd type="none" w="sm" len="sm"/>
                    </a:lnT>
                    <a:lnB w="11900" cap="flat" cmpd="sng">
                      <a:solidFill>
                        <a:schemeClr val="lt1"/>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800" b="1">
                          <a:solidFill>
                            <a:srgbClr val="38761D"/>
                          </a:solidFill>
                          <a:latin typeface="Lexend"/>
                          <a:ea typeface="Lexend"/>
                          <a:cs typeface="Lexend"/>
                          <a:sym typeface="Lexend"/>
                        </a:rPr>
                        <a:t>112%</a:t>
                      </a:r>
                      <a:endParaRPr sz="800" b="1">
                        <a:solidFill>
                          <a:srgbClr val="38761D"/>
                        </a:solidFill>
                        <a:latin typeface="Lexend"/>
                        <a:ea typeface="Lexend"/>
                        <a:cs typeface="Lexend"/>
                        <a:sym typeface="Lexend"/>
                      </a:endParaRPr>
                    </a:p>
                  </a:txBody>
                  <a:tcPr marL="28575" marR="28575" marT="19050" marB="19050" anchor="ctr">
                    <a:lnL w="11900" cap="flat" cmpd="sng">
                      <a:solidFill>
                        <a:schemeClr val="lt1"/>
                      </a:solidFill>
                      <a:prstDash val="solid"/>
                      <a:round/>
                      <a:headEnd type="none" w="sm" len="sm"/>
                      <a:tailEnd type="none" w="sm" len="sm"/>
                    </a:lnL>
                    <a:lnR w="11900" cap="flat" cmpd="sng">
                      <a:solidFill>
                        <a:schemeClr val="lt1"/>
                      </a:solidFill>
                      <a:prstDash val="solid"/>
                      <a:round/>
                      <a:headEnd type="none" w="sm" len="sm"/>
                      <a:tailEnd type="none" w="sm" len="sm"/>
                    </a:lnR>
                    <a:lnT w="11900" cap="flat" cmpd="sng">
                      <a:solidFill>
                        <a:schemeClr val="lt1"/>
                      </a:solidFill>
                      <a:prstDash val="solid"/>
                      <a:round/>
                      <a:headEnd type="none" w="sm" len="sm"/>
                      <a:tailEnd type="none" w="sm" len="sm"/>
                    </a:lnT>
                    <a:lnB w="11900" cap="flat" cmpd="sng">
                      <a:solidFill>
                        <a:schemeClr val="lt1"/>
                      </a:solidFill>
                      <a:prstDash val="solid"/>
                      <a:round/>
                      <a:headEnd type="none" w="sm" len="sm"/>
                      <a:tailEnd type="none" w="sm" len="sm"/>
                    </a:lnB>
                    <a:solidFill>
                      <a:srgbClr val="D9EAD3"/>
                    </a:solidFill>
                  </a:tcPr>
                </a:tc>
                <a:extLst>
                  <a:ext uri="{0D108BD9-81ED-4DB2-BD59-A6C34878D82A}">
                    <a16:rowId xmlns:a16="http://schemas.microsoft.com/office/drawing/2014/main" val="10002"/>
                  </a:ext>
                </a:extLst>
              </a:tr>
              <a:tr h="138350">
                <a:tc>
                  <a:txBody>
                    <a:bodyPr/>
                    <a:lstStyle/>
                    <a:p>
                      <a:pPr marL="0" lvl="0" indent="0" algn="ctr" rtl="0">
                        <a:lnSpc>
                          <a:spcPct val="115000"/>
                        </a:lnSpc>
                        <a:spcBef>
                          <a:spcPts val="0"/>
                        </a:spcBef>
                        <a:spcAft>
                          <a:spcPts val="0"/>
                        </a:spcAft>
                        <a:buNone/>
                      </a:pPr>
                      <a:r>
                        <a:rPr lang="en" sz="800" b="1">
                          <a:latin typeface="Lexend"/>
                          <a:ea typeface="Lexend"/>
                          <a:cs typeface="Lexend"/>
                          <a:sym typeface="Lexend"/>
                        </a:rPr>
                        <a:t>Total KPIs</a:t>
                      </a:r>
                      <a:endParaRPr sz="800" b="1">
                        <a:latin typeface="Lexend"/>
                        <a:ea typeface="Lexend"/>
                        <a:cs typeface="Lexend"/>
                        <a:sym typeface="Lexend"/>
                      </a:endParaRPr>
                    </a:p>
                  </a:txBody>
                  <a:tcPr marL="28575" marR="28575" marT="19050" marB="19050" anchor="ctr">
                    <a:lnL w="11900" cap="flat" cmpd="sng">
                      <a:solidFill>
                        <a:schemeClr val="lt1"/>
                      </a:solidFill>
                      <a:prstDash val="solid"/>
                      <a:round/>
                      <a:headEnd type="none" w="sm" len="sm"/>
                      <a:tailEnd type="none" w="sm" len="sm"/>
                    </a:lnL>
                    <a:lnR w="11900" cap="flat" cmpd="sng">
                      <a:solidFill>
                        <a:schemeClr val="lt1"/>
                      </a:solidFill>
                      <a:prstDash val="solid"/>
                      <a:round/>
                      <a:headEnd type="none" w="sm" len="sm"/>
                      <a:tailEnd type="none" w="sm" len="sm"/>
                    </a:lnR>
                    <a:lnT w="11900" cap="flat" cmpd="sng">
                      <a:solidFill>
                        <a:schemeClr val="lt1"/>
                      </a:solidFill>
                      <a:prstDash val="solid"/>
                      <a:round/>
                      <a:headEnd type="none" w="sm" len="sm"/>
                      <a:tailEnd type="none" w="sm" len="sm"/>
                    </a:lnT>
                    <a:lnB w="11900" cap="flat" cmpd="sng">
                      <a:solidFill>
                        <a:schemeClr val="lt1"/>
                      </a:solidFill>
                      <a:prstDash val="solid"/>
                      <a:round/>
                      <a:headEnd type="none" w="sm" len="sm"/>
                      <a:tailEnd type="none" w="sm" len="sm"/>
                    </a:lnB>
                    <a:solidFill>
                      <a:srgbClr val="CCCCCC"/>
                    </a:solidFill>
                  </a:tcPr>
                </a:tc>
                <a:tc gridSpan="4">
                  <a:txBody>
                    <a:bodyPr/>
                    <a:lstStyle/>
                    <a:p>
                      <a:pPr marL="0" lvl="0" indent="0" algn="ctr" rtl="0">
                        <a:lnSpc>
                          <a:spcPct val="115000"/>
                        </a:lnSpc>
                        <a:spcBef>
                          <a:spcPts val="0"/>
                        </a:spcBef>
                        <a:spcAft>
                          <a:spcPts val="0"/>
                        </a:spcAft>
                        <a:buNone/>
                      </a:pPr>
                      <a:r>
                        <a:rPr lang="en" sz="800" b="1">
                          <a:latin typeface="Lexend"/>
                          <a:ea typeface="Lexend"/>
                          <a:cs typeface="Lexend"/>
                          <a:sym typeface="Lexend"/>
                        </a:rPr>
                        <a:t>82.19%</a:t>
                      </a:r>
                      <a:endParaRPr sz="800" b="1">
                        <a:latin typeface="Lexend"/>
                        <a:ea typeface="Lexend"/>
                        <a:cs typeface="Lexend"/>
                        <a:sym typeface="Lexend"/>
                      </a:endParaRPr>
                    </a:p>
                  </a:txBody>
                  <a:tcPr marL="28575" marR="28575" marT="19050" marB="19050" anchor="ctr">
                    <a:lnL w="11900" cap="flat" cmpd="sng">
                      <a:solidFill>
                        <a:schemeClr val="lt1"/>
                      </a:solidFill>
                      <a:prstDash val="solid"/>
                      <a:round/>
                      <a:headEnd type="none" w="sm" len="sm"/>
                      <a:tailEnd type="none" w="sm" len="sm"/>
                    </a:lnL>
                    <a:lnR w="11900" cap="flat" cmpd="sng">
                      <a:solidFill>
                        <a:schemeClr val="lt1"/>
                      </a:solidFill>
                      <a:prstDash val="solid"/>
                      <a:round/>
                      <a:headEnd type="none" w="sm" len="sm"/>
                      <a:tailEnd type="none" w="sm" len="sm"/>
                    </a:lnR>
                    <a:lnT w="11900" cap="flat" cmpd="sng">
                      <a:solidFill>
                        <a:schemeClr val="lt1"/>
                      </a:solidFill>
                      <a:prstDash val="solid"/>
                      <a:round/>
                      <a:headEnd type="none" w="sm" len="sm"/>
                      <a:tailEnd type="none" w="sm" len="sm"/>
                    </a:lnT>
                    <a:lnB w="11900" cap="flat" cmpd="sng">
                      <a:solidFill>
                        <a:schemeClr val="lt1"/>
                      </a:solidFill>
                      <a:prstDash val="solid"/>
                      <a:round/>
                      <a:headEnd type="none" w="sm" len="sm"/>
                      <a:tailEnd type="none" w="sm" len="sm"/>
                    </a:lnB>
                    <a:solidFill>
                      <a:srgbClr val="CCCCCC"/>
                    </a:solidFill>
                  </a:tcPr>
                </a:tc>
                <a:tc hMerge="1">
                  <a:txBody>
                    <a:bodyPr/>
                    <a:lstStyle/>
                    <a:p>
                      <a:endParaRPr lang="en-VN"/>
                    </a:p>
                  </a:txBody>
                  <a:tcPr/>
                </a:tc>
                <a:tc hMerge="1">
                  <a:txBody>
                    <a:bodyPr/>
                    <a:lstStyle/>
                    <a:p>
                      <a:endParaRPr lang="en-VN"/>
                    </a:p>
                  </a:txBody>
                  <a:tcPr/>
                </a:tc>
                <a:tc hMerge="1">
                  <a:txBody>
                    <a:bodyPr/>
                    <a:lstStyle/>
                    <a:p>
                      <a:endParaRPr lang="en-VN"/>
                    </a:p>
                  </a:txBody>
                  <a:tcPr/>
                </a:tc>
                <a:extLst>
                  <a:ext uri="{0D108BD9-81ED-4DB2-BD59-A6C34878D82A}">
                    <a16:rowId xmlns:a16="http://schemas.microsoft.com/office/drawing/2014/main" val="10003"/>
                  </a:ext>
                </a:extLst>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938"/>
        <p:cNvGrpSpPr/>
        <p:nvPr/>
      </p:nvGrpSpPr>
      <p:grpSpPr>
        <a:xfrm>
          <a:off x="0" y="0"/>
          <a:ext cx="0" cy="0"/>
          <a:chOff x="0" y="0"/>
          <a:chExt cx="0" cy="0"/>
        </a:xfrm>
      </p:grpSpPr>
      <p:sp>
        <p:nvSpPr>
          <p:cNvPr id="939" name="Google Shape;939;p68"/>
          <p:cNvSpPr/>
          <p:nvPr/>
        </p:nvSpPr>
        <p:spPr>
          <a:xfrm>
            <a:off x="0" y="0"/>
            <a:ext cx="9144000" cy="73200"/>
          </a:xfrm>
          <a:prstGeom prst="rect">
            <a:avLst/>
          </a:prstGeom>
          <a:solidFill>
            <a:srgbClr val="FF7F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0" name="Google Shape;940;p68"/>
          <p:cNvSpPr/>
          <p:nvPr/>
        </p:nvSpPr>
        <p:spPr>
          <a:xfrm>
            <a:off x="731520" y="201168"/>
            <a:ext cx="7315200" cy="411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E4174"/>
              </a:buClr>
              <a:buSzPts val="2200"/>
              <a:buFont typeface="Calibri"/>
              <a:buNone/>
            </a:pPr>
            <a:r>
              <a:rPr lang="en" sz="2200" b="1">
                <a:solidFill>
                  <a:srgbClr val="0E4174"/>
                </a:solidFill>
                <a:latin typeface="Lexend"/>
                <a:ea typeface="Lexend"/>
                <a:cs typeface="Lexend"/>
                <a:sym typeface="Lexend"/>
              </a:rPr>
              <a:t>Cityzone</a:t>
            </a:r>
            <a:endParaRPr sz="2200" b="1" i="0" u="none" strike="noStrike" cap="none">
              <a:solidFill>
                <a:srgbClr val="F56C1F"/>
              </a:solidFill>
              <a:highlight>
                <a:schemeClr val="lt1"/>
              </a:highlight>
              <a:latin typeface="Lexend"/>
              <a:ea typeface="Lexend"/>
              <a:cs typeface="Lexend"/>
              <a:sym typeface="Lexend"/>
            </a:endParaRPr>
          </a:p>
        </p:txBody>
      </p:sp>
      <p:sp>
        <p:nvSpPr>
          <p:cNvPr id="941" name="Google Shape;941;p68"/>
          <p:cNvSpPr/>
          <p:nvPr/>
        </p:nvSpPr>
        <p:spPr>
          <a:xfrm>
            <a:off x="731520" y="594360"/>
            <a:ext cx="7315200" cy="274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1000"/>
              <a:buFont typeface="Calibri"/>
              <a:buNone/>
            </a:pPr>
            <a:r>
              <a:rPr lang="en" sz="1000" i="1">
                <a:solidFill>
                  <a:schemeClr val="accent3"/>
                </a:solidFill>
                <a:latin typeface="Lexend"/>
                <a:ea typeface="Lexend"/>
                <a:cs typeface="Lexend"/>
                <a:sym typeface="Lexend"/>
              </a:rPr>
              <a:t>Review lại tình hình cityzone</a:t>
            </a:r>
            <a:endParaRPr sz="1000" i="1">
              <a:solidFill>
                <a:schemeClr val="accent3"/>
              </a:solidFill>
              <a:latin typeface="Lexend"/>
              <a:ea typeface="Lexend"/>
              <a:cs typeface="Lexend"/>
              <a:sym typeface="Lexend"/>
            </a:endParaRPr>
          </a:p>
        </p:txBody>
      </p:sp>
      <p:cxnSp>
        <p:nvCxnSpPr>
          <p:cNvPr id="942" name="Google Shape;942;p68"/>
          <p:cNvCxnSpPr/>
          <p:nvPr/>
        </p:nvCxnSpPr>
        <p:spPr>
          <a:xfrm>
            <a:off x="365760" y="868680"/>
            <a:ext cx="8412600" cy="0"/>
          </a:xfrm>
          <a:prstGeom prst="straightConnector1">
            <a:avLst/>
          </a:prstGeom>
          <a:noFill/>
          <a:ln w="9525" cap="flat" cmpd="sng">
            <a:solidFill>
              <a:srgbClr val="E2E8F0"/>
            </a:solidFill>
            <a:prstDash val="solid"/>
            <a:round/>
            <a:headEnd type="none" w="sm" len="sm"/>
            <a:tailEnd type="none" w="sm" len="sm"/>
          </a:ln>
        </p:spPr>
      </p:cxnSp>
      <p:sp>
        <p:nvSpPr>
          <p:cNvPr id="943" name="Google Shape;943;p68"/>
          <p:cNvSpPr/>
          <p:nvPr/>
        </p:nvSpPr>
        <p:spPr>
          <a:xfrm>
            <a:off x="5486395" y="45700"/>
            <a:ext cx="3657600" cy="27420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94A3B8"/>
              </a:buClr>
              <a:buSzPts val="700"/>
              <a:buFont typeface="Calibri"/>
              <a:buNone/>
            </a:pPr>
            <a:r>
              <a:rPr lang="en" sz="700" b="0" i="1" u="none" strike="noStrike" cap="none">
                <a:solidFill>
                  <a:srgbClr val="94A3B8"/>
                </a:solidFill>
                <a:latin typeface="Calibri"/>
                <a:ea typeface="Calibri"/>
                <a:cs typeface="Calibri"/>
                <a:sym typeface="Calibri"/>
              </a:rPr>
              <a:t>Ahamove — Driver Management | Confidential</a:t>
            </a:r>
            <a:endParaRPr sz="700" b="0" i="0" u="none" strike="noStrike" cap="none">
              <a:solidFill>
                <a:schemeClr val="dk1"/>
              </a:solidFill>
              <a:latin typeface="Calibri"/>
              <a:ea typeface="Calibri"/>
              <a:cs typeface="Calibri"/>
              <a:sym typeface="Calibri"/>
            </a:endParaRPr>
          </a:p>
        </p:txBody>
      </p:sp>
      <p:sp>
        <p:nvSpPr>
          <p:cNvPr id="944" name="Google Shape;944;p68"/>
          <p:cNvSpPr/>
          <p:nvPr/>
        </p:nvSpPr>
        <p:spPr>
          <a:xfrm>
            <a:off x="430475" y="285363"/>
            <a:ext cx="229284" cy="243216"/>
          </a:xfrm>
          <a:prstGeom prst="lightningBolt">
            <a:avLst/>
          </a:prstGeom>
          <a:solidFill>
            <a:srgbClr val="FF7F3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45" name="Google Shape;945;p68"/>
          <p:cNvSpPr/>
          <p:nvPr/>
        </p:nvSpPr>
        <p:spPr>
          <a:xfrm>
            <a:off x="380713" y="242300"/>
            <a:ext cx="328800" cy="328800"/>
          </a:xfrm>
          <a:prstGeom prst="roundRect">
            <a:avLst>
              <a:gd name="adj" fmla="val 28261"/>
            </a:avLst>
          </a:prstGeom>
          <a:gradFill>
            <a:gsLst>
              <a:gs pos="0">
                <a:srgbClr val="FF9A50"/>
              </a:gs>
              <a:gs pos="100000">
                <a:srgbClr val="FF7F32"/>
              </a:gs>
            </a:gsLst>
            <a:lin ang="2700006" scaled="0"/>
          </a:gra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946" name="Google Shape;946;p68"/>
          <p:cNvSpPr/>
          <p:nvPr/>
        </p:nvSpPr>
        <p:spPr>
          <a:xfrm>
            <a:off x="466438" y="299450"/>
            <a:ext cx="171450" cy="257175"/>
          </a:xfrm>
          <a:custGeom>
            <a:avLst/>
            <a:gdLst/>
            <a:ahLst/>
            <a:cxnLst/>
            <a:rect l="l" t="t" r="r" b="b"/>
            <a:pathLst>
              <a:path w="228600" h="342900" extrusionOk="0">
                <a:moveTo>
                  <a:pt x="152400" y="0"/>
                </a:moveTo>
                <a:lnTo>
                  <a:pt x="0" y="200025"/>
                </a:lnTo>
                <a:lnTo>
                  <a:pt x="104775" y="200025"/>
                </a:lnTo>
                <a:lnTo>
                  <a:pt x="66675" y="342900"/>
                </a:lnTo>
                <a:lnTo>
                  <a:pt x="228600" y="133350"/>
                </a:lnTo>
                <a:lnTo>
                  <a:pt x="114300" y="133350"/>
                </a:lnTo>
                <a:close/>
              </a:path>
            </a:pathLst>
          </a:custGeom>
          <a:solidFill>
            <a:srgbClr val="FFFFFF"/>
          </a:solidFill>
          <a:ln>
            <a:noFill/>
          </a:ln>
        </p:spPr>
      </p:sp>
      <p:sp>
        <p:nvSpPr>
          <p:cNvPr id="947" name="Google Shape;947;p68"/>
          <p:cNvSpPr/>
          <p:nvPr/>
        </p:nvSpPr>
        <p:spPr>
          <a:xfrm>
            <a:off x="365738" y="991125"/>
            <a:ext cx="3764700" cy="3254100"/>
          </a:xfrm>
          <a:prstGeom prst="roundRect">
            <a:avLst>
              <a:gd name="adj" fmla="val 8938"/>
            </a:avLst>
          </a:prstGeom>
          <a:solidFill>
            <a:srgbClr val="FFFFFF"/>
          </a:solidFill>
          <a:ln w="9525" cap="flat" cmpd="sng">
            <a:solidFill>
              <a:srgbClr val="E2E8F0"/>
            </a:solidFill>
            <a:prstDash val="solid"/>
            <a:round/>
            <a:headEnd type="none" w="sm" len="sm"/>
            <a:tailEnd type="none" w="sm" len="sm"/>
          </a:ln>
          <a:effectLst>
            <a:outerShdw blurRad="76200" dist="25400" dir="8100000" algn="bl" rotWithShape="0">
              <a:srgbClr val="000000">
                <a:alpha val="102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900">
              <a:latin typeface="Lexend"/>
              <a:ea typeface="Lexend"/>
              <a:cs typeface="Lexend"/>
              <a:sym typeface="Lexend"/>
            </a:endParaRPr>
          </a:p>
        </p:txBody>
      </p:sp>
      <p:sp>
        <p:nvSpPr>
          <p:cNvPr id="948" name="Google Shape;948;p68"/>
          <p:cNvSpPr/>
          <p:nvPr/>
        </p:nvSpPr>
        <p:spPr>
          <a:xfrm>
            <a:off x="1542402" y="2093276"/>
            <a:ext cx="1573636" cy="533982"/>
          </a:xfrm>
          <a:custGeom>
            <a:avLst/>
            <a:gdLst/>
            <a:ahLst/>
            <a:cxnLst/>
            <a:rect l="l" t="t" r="r" b="b"/>
            <a:pathLst>
              <a:path w="1823" h="841" extrusionOk="0">
                <a:moveTo>
                  <a:pt x="1401" y="841"/>
                </a:moveTo>
                <a:lnTo>
                  <a:pt x="1790" y="68"/>
                </a:lnTo>
                <a:lnTo>
                  <a:pt x="1823" y="0"/>
                </a:lnTo>
                <a:lnTo>
                  <a:pt x="0" y="0"/>
                </a:lnTo>
                <a:lnTo>
                  <a:pt x="0" y="0"/>
                </a:lnTo>
                <a:lnTo>
                  <a:pt x="423" y="841"/>
                </a:lnTo>
                <a:lnTo>
                  <a:pt x="423" y="841"/>
                </a:lnTo>
                <a:lnTo>
                  <a:pt x="1401" y="841"/>
                </a:lnTo>
                <a:close/>
              </a:path>
            </a:pathLst>
          </a:custGeom>
          <a:solidFill>
            <a:srgbClr val="34A853"/>
          </a:solidFill>
          <a:ln>
            <a:noFill/>
          </a:ln>
        </p:spPr>
        <p:txBody>
          <a:bodyPr spcFirstLastPara="1" wrap="square" lIns="29875" tIns="14925" rIns="29875" bIns="14925" anchor="t" anchorCtr="0">
            <a:noAutofit/>
          </a:bodyPr>
          <a:lstStyle/>
          <a:p>
            <a:pPr marL="0" marR="0" lvl="0" indent="0" algn="l" rtl="0">
              <a:spcBef>
                <a:spcPts val="0"/>
              </a:spcBef>
              <a:spcAft>
                <a:spcPts val="0"/>
              </a:spcAft>
              <a:buNone/>
            </a:pPr>
            <a:endParaRPr sz="588">
              <a:solidFill>
                <a:srgbClr val="000000"/>
              </a:solidFill>
              <a:latin typeface="Calibri"/>
              <a:ea typeface="Calibri"/>
              <a:cs typeface="Calibri"/>
              <a:sym typeface="Calibri"/>
            </a:endParaRPr>
          </a:p>
        </p:txBody>
      </p:sp>
      <p:sp>
        <p:nvSpPr>
          <p:cNvPr id="949" name="Google Shape;949;p68"/>
          <p:cNvSpPr txBox="1"/>
          <p:nvPr/>
        </p:nvSpPr>
        <p:spPr>
          <a:xfrm>
            <a:off x="449529" y="1208325"/>
            <a:ext cx="2572800" cy="215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 b="1">
                <a:solidFill>
                  <a:srgbClr val="0E4174"/>
                </a:solidFill>
                <a:latin typeface="Lexend"/>
                <a:ea typeface="Lexend"/>
                <a:cs typeface="Lexend"/>
                <a:sym typeface="Lexend"/>
              </a:rPr>
              <a:t>ACTIVE HUB FUNNEL</a:t>
            </a:r>
            <a:endParaRPr sz="1100"/>
          </a:p>
        </p:txBody>
      </p:sp>
      <p:sp>
        <p:nvSpPr>
          <p:cNvPr id="950" name="Google Shape;950;p68"/>
          <p:cNvSpPr txBox="1"/>
          <p:nvPr/>
        </p:nvSpPr>
        <p:spPr>
          <a:xfrm>
            <a:off x="1562846" y="2139329"/>
            <a:ext cx="1532700" cy="533400"/>
          </a:xfrm>
          <a:prstGeom prst="rect">
            <a:avLst/>
          </a:prstGeom>
          <a:noFill/>
          <a:ln>
            <a:noFill/>
          </a:ln>
        </p:spPr>
        <p:txBody>
          <a:bodyPr spcFirstLastPara="1" wrap="square" lIns="68175" tIns="68175" rIns="68175" bIns="68175" anchor="ctr" anchorCtr="0">
            <a:noAutofit/>
          </a:bodyPr>
          <a:lstStyle/>
          <a:p>
            <a:pPr marL="0" lvl="0" indent="0" algn="ctr" rtl="0">
              <a:lnSpc>
                <a:spcPct val="115000"/>
              </a:lnSpc>
              <a:spcBef>
                <a:spcPts val="0"/>
              </a:spcBef>
              <a:spcAft>
                <a:spcPts val="0"/>
              </a:spcAft>
              <a:buNone/>
            </a:pPr>
            <a:r>
              <a:rPr lang="en" sz="1164">
                <a:solidFill>
                  <a:srgbClr val="FFFFFF"/>
                </a:solidFill>
                <a:latin typeface="Nunito Black"/>
                <a:ea typeface="Nunito Black"/>
                <a:cs typeface="Nunito Black"/>
                <a:sym typeface="Nunito Black"/>
              </a:rPr>
              <a:t>727</a:t>
            </a:r>
            <a:endParaRPr sz="1164">
              <a:solidFill>
                <a:srgbClr val="FFFFFF"/>
              </a:solidFill>
              <a:latin typeface="Nunito Black"/>
              <a:ea typeface="Nunito Black"/>
              <a:cs typeface="Nunito Black"/>
              <a:sym typeface="Nunito Black"/>
            </a:endParaRPr>
          </a:p>
          <a:p>
            <a:pPr marL="0" lvl="0" indent="0" algn="ctr" rtl="0">
              <a:lnSpc>
                <a:spcPct val="115000"/>
              </a:lnSpc>
              <a:spcBef>
                <a:spcPts val="0"/>
              </a:spcBef>
              <a:spcAft>
                <a:spcPts val="0"/>
              </a:spcAft>
              <a:buNone/>
            </a:pPr>
            <a:endParaRPr sz="671">
              <a:solidFill>
                <a:srgbClr val="FFFFFF"/>
              </a:solidFill>
              <a:latin typeface="Nunito Black"/>
              <a:ea typeface="Nunito Black"/>
              <a:cs typeface="Nunito Black"/>
              <a:sym typeface="Nunito Black"/>
            </a:endParaRPr>
          </a:p>
        </p:txBody>
      </p:sp>
      <p:sp>
        <p:nvSpPr>
          <p:cNvPr id="951" name="Google Shape;951;p68"/>
          <p:cNvSpPr/>
          <p:nvPr/>
        </p:nvSpPr>
        <p:spPr>
          <a:xfrm>
            <a:off x="1215651" y="1551370"/>
            <a:ext cx="2226225" cy="533358"/>
          </a:xfrm>
          <a:custGeom>
            <a:avLst/>
            <a:gdLst/>
            <a:ahLst/>
            <a:cxnLst/>
            <a:rect l="l" t="t" r="r" b="b"/>
            <a:pathLst>
              <a:path w="3086" h="1007" extrusionOk="0">
                <a:moveTo>
                  <a:pt x="2635" y="1007"/>
                </a:moveTo>
                <a:cubicBezTo>
                  <a:pt x="2636" y="1007"/>
                  <a:pt x="2636" y="1007"/>
                  <a:pt x="2636" y="1007"/>
                </a:cubicBezTo>
                <a:cubicBezTo>
                  <a:pt x="3038" y="208"/>
                  <a:pt x="3038" y="208"/>
                  <a:pt x="3038" y="208"/>
                </a:cubicBezTo>
                <a:cubicBezTo>
                  <a:pt x="3086" y="113"/>
                  <a:pt x="3019" y="0"/>
                  <a:pt x="2916" y="0"/>
                </a:cubicBezTo>
                <a:cubicBezTo>
                  <a:pt x="170" y="0"/>
                  <a:pt x="170" y="0"/>
                  <a:pt x="170" y="0"/>
                </a:cubicBezTo>
                <a:cubicBezTo>
                  <a:pt x="67" y="0"/>
                  <a:pt x="0" y="113"/>
                  <a:pt x="48" y="208"/>
                </a:cubicBezTo>
                <a:cubicBezTo>
                  <a:pt x="450" y="1007"/>
                  <a:pt x="450" y="1007"/>
                  <a:pt x="450" y="1007"/>
                </a:cubicBezTo>
                <a:cubicBezTo>
                  <a:pt x="450" y="1007"/>
                  <a:pt x="450" y="1007"/>
                  <a:pt x="450" y="1007"/>
                </a:cubicBezTo>
                <a:lnTo>
                  <a:pt x="2635" y="1007"/>
                </a:lnTo>
                <a:close/>
              </a:path>
            </a:pathLst>
          </a:custGeom>
          <a:solidFill>
            <a:srgbClr val="27598E"/>
          </a:solidFill>
          <a:ln>
            <a:noFill/>
          </a:ln>
        </p:spPr>
        <p:txBody>
          <a:bodyPr spcFirstLastPara="1" wrap="square" lIns="29875" tIns="14925" rIns="29875" bIns="14925" anchor="t" anchorCtr="0">
            <a:noAutofit/>
          </a:bodyPr>
          <a:lstStyle/>
          <a:p>
            <a:pPr marL="0" marR="0" lvl="0" indent="0" algn="l" rtl="0">
              <a:spcBef>
                <a:spcPts val="0"/>
              </a:spcBef>
              <a:spcAft>
                <a:spcPts val="0"/>
              </a:spcAft>
              <a:buNone/>
            </a:pPr>
            <a:endParaRPr sz="588">
              <a:solidFill>
                <a:srgbClr val="000000"/>
              </a:solidFill>
              <a:latin typeface="Calibri"/>
              <a:ea typeface="Calibri"/>
              <a:cs typeface="Calibri"/>
              <a:sym typeface="Calibri"/>
            </a:endParaRPr>
          </a:p>
        </p:txBody>
      </p:sp>
      <p:sp>
        <p:nvSpPr>
          <p:cNvPr id="952" name="Google Shape;952;p68"/>
          <p:cNvSpPr txBox="1"/>
          <p:nvPr/>
        </p:nvSpPr>
        <p:spPr>
          <a:xfrm>
            <a:off x="1562386" y="1579895"/>
            <a:ext cx="1532700" cy="580800"/>
          </a:xfrm>
          <a:prstGeom prst="rect">
            <a:avLst/>
          </a:prstGeom>
          <a:noFill/>
          <a:ln>
            <a:noFill/>
          </a:ln>
        </p:spPr>
        <p:txBody>
          <a:bodyPr spcFirstLastPara="1" wrap="square" lIns="68175" tIns="68175" rIns="68175" bIns="68175" anchor="ctr" anchorCtr="0">
            <a:noAutofit/>
          </a:bodyPr>
          <a:lstStyle/>
          <a:p>
            <a:pPr marL="0" lvl="0" indent="0" algn="ctr" rtl="0">
              <a:lnSpc>
                <a:spcPct val="115000"/>
              </a:lnSpc>
              <a:spcBef>
                <a:spcPts val="0"/>
              </a:spcBef>
              <a:spcAft>
                <a:spcPts val="0"/>
              </a:spcAft>
              <a:buNone/>
            </a:pPr>
            <a:r>
              <a:rPr lang="en" sz="1164">
                <a:solidFill>
                  <a:srgbClr val="FFFFFF"/>
                </a:solidFill>
                <a:latin typeface="Nunito Black"/>
                <a:ea typeface="Nunito Black"/>
                <a:cs typeface="Nunito Black"/>
                <a:sym typeface="Nunito Black"/>
              </a:rPr>
              <a:t>770</a:t>
            </a:r>
            <a:endParaRPr sz="1164">
              <a:solidFill>
                <a:srgbClr val="FFFFFF"/>
              </a:solidFill>
              <a:latin typeface="Nunito Black"/>
              <a:ea typeface="Nunito Black"/>
              <a:cs typeface="Nunito Black"/>
              <a:sym typeface="Nunito Black"/>
            </a:endParaRPr>
          </a:p>
          <a:p>
            <a:pPr marL="0" lvl="0" indent="0" algn="ctr" rtl="0">
              <a:lnSpc>
                <a:spcPct val="115000"/>
              </a:lnSpc>
              <a:spcBef>
                <a:spcPts val="0"/>
              </a:spcBef>
              <a:spcAft>
                <a:spcPts val="0"/>
              </a:spcAft>
              <a:buNone/>
            </a:pPr>
            <a:endParaRPr sz="671">
              <a:solidFill>
                <a:srgbClr val="FFFFFF"/>
              </a:solidFill>
              <a:latin typeface="Nunito Black"/>
              <a:ea typeface="Nunito Black"/>
              <a:cs typeface="Nunito Black"/>
              <a:sym typeface="Nunito Black"/>
            </a:endParaRPr>
          </a:p>
        </p:txBody>
      </p:sp>
      <p:sp>
        <p:nvSpPr>
          <p:cNvPr id="953" name="Google Shape;953;p68"/>
          <p:cNvSpPr txBox="1"/>
          <p:nvPr/>
        </p:nvSpPr>
        <p:spPr>
          <a:xfrm>
            <a:off x="746795" y="2162441"/>
            <a:ext cx="691200" cy="404700"/>
          </a:xfrm>
          <a:prstGeom prst="rect">
            <a:avLst/>
          </a:prstGeom>
          <a:noFill/>
          <a:ln>
            <a:noFill/>
          </a:ln>
        </p:spPr>
        <p:txBody>
          <a:bodyPr spcFirstLastPara="1" wrap="square" lIns="68175" tIns="68175" rIns="68175" bIns="68175" anchor="ctr" anchorCtr="0">
            <a:noAutofit/>
          </a:bodyPr>
          <a:lstStyle/>
          <a:p>
            <a:pPr marL="0" lvl="0" indent="0" algn="ctr" rtl="0">
              <a:lnSpc>
                <a:spcPct val="115000"/>
              </a:lnSpc>
              <a:spcBef>
                <a:spcPts val="0"/>
              </a:spcBef>
              <a:spcAft>
                <a:spcPts val="0"/>
              </a:spcAft>
              <a:buNone/>
            </a:pPr>
            <a:r>
              <a:rPr lang="en" sz="803">
                <a:solidFill>
                  <a:srgbClr val="0B8043"/>
                </a:solidFill>
                <a:latin typeface="Montserrat Black"/>
                <a:ea typeface="Montserrat Black"/>
                <a:cs typeface="Montserrat Black"/>
                <a:sym typeface="Montserrat Black"/>
              </a:rPr>
              <a:t>94,4%</a:t>
            </a:r>
            <a:endParaRPr sz="803" b="1">
              <a:solidFill>
                <a:srgbClr val="0B8043"/>
              </a:solidFill>
              <a:latin typeface="Montserrat"/>
              <a:ea typeface="Montserrat"/>
              <a:cs typeface="Montserrat"/>
              <a:sym typeface="Montserrat"/>
            </a:endParaRPr>
          </a:p>
        </p:txBody>
      </p:sp>
      <p:sp>
        <p:nvSpPr>
          <p:cNvPr id="954" name="Google Shape;954;p68"/>
          <p:cNvSpPr txBox="1"/>
          <p:nvPr/>
        </p:nvSpPr>
        <p:spPr>
          <a:xfrm>
            <a:off x="844767" y="1647075"/>
            <a:ext cx="495300" cy="404700"/>
          </a:xfrm>
          <a:prstGeom prst="rect">
            <a:avLst/>
          </a:prstGeom>
          <a:noFill/>
          <a:ln>
            <a:noFill/>
          </a:ln>
        </p:spPr>
        <p:txBody>
          <a:bodyPr spcFirstLastPara="1" wrap="square" lIns="68175" tIns="68175" rIns="68175" bIns="68175" anchor="ctr" anchorCtr="0">
            <a:noAutofit/>
          </a:bodyPr>
          <a:lstStyle/>
          <a:p>
            <a:pPr marL="0" lvl="0" indent="0" algn="ctr" rtl="0">
              <a:lnSpc>
                <a:spcPct val="115000"/>
              </a:lnSpc>
              <a:spcBef>
                <a:spcPts val="0"/>
              </a:spcBef>
              <a:spcAft>
                <a:spcPts val="0"/>
              </a:spcAft>
              <a:buNone/>
            </a:pPr>
            <a:r>
              <a:rPr lang="en" sz="803">
                <a:solidFill>
                  <a:srgbClr val="666666"/>
                </a:solidFill>
                <a:latin typeface="Montserrat"/>
                <a:ea typeface="Montserrat"/>
                <a:cs typeface="Montserrat"/>
                <a:sym typeface="Montserrat"/>
              </a:rPr>
              <a:t>100%</a:t>
            </a:r>
            <a:endParaRPr sz="803">
              <a:solidFill>
                <a:srgbClr val="666666"/>
              </a:solidFill>
              <a:latin typeface="Montserrat"/>
              <a:ea typeface="Montserrat"/>
              <a:cs typeface="Montserrat"/>
              <a:sym typeface="Montserrat"/>
            </a:endParaRPr>
          </a:p>
        </p:txBody>
      </p:sp>
      <p:sp>
        <p:nvSpPr>
          <p:cNvPr id="955" name="Google Shape;955;p68"/>
          <p:cNvSpPr/>
          <p:nvPr/>
        </p:nvSpPr>
        <p:spPr>
          <a:xfrm>
            <a:off x="1909439" y="2631658"/>
            <a:ext cx="843043" cy="445513"/>
          </a:xfrm>
          <a:prstGeom prst="flowChartManualOperation">
            <a:avLst/>
          </a:prstGeom>
          <a:solidFill>
            <a:srgbClr val="E69138"/>
          </a:solidFill>
          <a:ln>
            <a:noFill/>
          </a:ln>
        </p:spPr>
        <p:txBody>
          <a:bodyPr spcFirstLastPara="1" wrap="square" lIns="81575" tIns="81575" rIns="81575" bIns="81575" anchor="ctr" anchorCtr="0">
            <a:noAutofit/>
          </a:bodyPr>
          <a:lstStyle/>
          <a:p>
            <a:pPr marL="0" lvl="0" indent="0" algn="ctr" rtl="0">
              <a:spcBef>
                <a:spcPts val="0"/>
              </a:spcBef>
              <a:spcAft>
                <a:spcPts val="0"/>
              </a:spcAft>
              <a:buNone/>
            </a:pPr>
            <a:endParaRPr sz="1249"/>
          </a:p>
        </p:txBody>
      </p:sp>
      <p:sp>
        <p:nvSpPr>
          <p:cNvPr id="956" name="Google Shape;956;p68"/>
          <p:cNvSpPr/>
          <p:nvPr/>
        </p:nvSpPr>
        <p:spPr>
          <a:xfrm>
            <a:off x="2080376" y="3090382"/>
            <a:ext cx="503243" cy="329517"/>
          </a:xfrm>
          <a:prstGeom prst="flowChartManualOperation">
            <a:avLst/>
          </a:prstGeom>
          <a:solidFill>
            <a:srgbClr val="EF4444"/>
          </a:solidFill>
          <a:ln>
            <a:noFill/>
          </a:ln>
        </p:spPr>
        <p:txBody>
          <a:bodyPr spcFirstLastPara="1" wrap="square" lIns="81575" tIns="81575" rIns="81575" bIns="81575" anchor="ctr" anchorCtr="0">
            <a:noAutofit/>
          </a:bodyPr>
          <a:lstStyle/>
          <a:p>
            <a:pPr marL="0" lvl="0" indent="0" algn="ctr" rtl="0">
              <a:spcBef>
                <a:spcPts val="0"/>
              </a:spcBef>
              <a:spcAft>
                <a:spcPts val="0"/>
              </a:spcAft>
              <a:buNone/>
            </a:pPr>
            <a:endParaRPr sz="535"/>
          </a:p>
        </p:txBody>
      </p:sp>
      <p:sp>
        <p:nvSpPr>
          <p:cNvPr id="957" name="Google Shape;957;p68"/>
          <p:cNvSpPr txBox="1"/>
          <p:nvPr/>
        </p:nvSpPr>
        <p:spPr>
          <a:xfrm>
            <a:off x="1909439" y="2722930"/>
            <a:ext cx="843000" cy="386400"/>
          </a:xfrm>
          <a:prstGeom prst="rect">
            <a:avLst/>
          </a:prstGeom>
          <a:noFill/>
          <a:ln>
            <a:noFill/>
          </a:ln>
        </p:spPr>
        <p:txBody>
          <a:bodyPr spcFirstLastPara="1" wrap="square" lIns="68175" tIns="68175" rIns="68175" bIns="68175" anchor="ctr" anchorCtr="0">
            <a:noAutofit/>
          </a:bodyPr>
          <a:lstStyle/>
          <a:p>
            <a:pPr marL="0" lvl="0" indent="0" algn="ctr" rtl="0">
              <a:lnSpc>
                <a:spcPct val="115000"/>
              </a:lnSpc>
              <a:spcBef>
                <a:spcPts val="0"/>
              </a:spcBef>
              <a:spcAft>
                <a:spcPts val="0"/>
              </a:spcAft>
              <a:buNone/>
            </a:pPr>
            <a:r>
              <a:rPr lang="en" sz="1164">
                <a:solidFill>
                  <a:srgbClr val="FFFFFF"/>
                </a:solidFill>
                <a:latin typeface="Nunito Black"/>
                <a:ea typeface="Nunito Black"/>
                <a:cs typeface="Nunito Black"/>
                <a:sym typeface="Nunito Black"/>
              </a:rPr>
              <a:t>232</a:t>
            </a:r>
            <a:endParaRPr sz="1164">
              <a:solidFill>
                <a:srgbClr val="FFFFFF"/>
              </a:solidFill>
              <a:latin typeface="Nunito Black"/>
              <a:ea typeface="Nunito Black"/>
              <a:cs typeface="Nunito Black"/>
              <a:sym typeface="Nunito Black"/>
            </a:endParaRPr>
          </a:p>
          <a:p>
            <a:pPr marL="0" lvl="0" indent="0" algn="ctr" rtl="0">
              <a:lnSpc>
                <a:spcPct val="115000"/>
              </a:lnSpc>
              <a:spcBef>
                <a:spcPts val="0"/>
              </a:spcBef>
              <a:spcAft>
                <a:spcPts val="0"/>
              </a:spcAft>
              <a:buNone/>
            </a:pPr>
            <a:endParaRPr sz="671">
              <a:solidFill>
                <a:srgbClr val="FFFFFF"/>
              </a:solidFill>
              <a:latin typeface="Nunito Black"/>
              <a:ea typeface="Nunito Black"/>
              <a:cs typeface="Nunito Black"/>
              <a:sym typeface="Nunito Black"/>
            </a:endParaRPr>
          </a:p>
        </p:txBody>
      </p:sp>
      <p:sp>
        <p:nvSpPr>
          <p:cNvPr id="958" name="Google Shape;958;p68"/>
          <p:cNvSpPr txBox="1"/>
          <p:nvPr/>
        </p:nvSpPr>
        <p:spPr>
          <a:xfrm>
            <a:off x="2074613" y="3177920"/>
            <a:ext cx="503100" cy="270900"/>
          </a:xfrm>
          <a:prstGeom prst="rect">
            <a:avLst/>
          </a:prstGeom>
          <a:noFill/>
          <a:ln>
            <a:noFill/>
          </a:ln>
        </p:spPr>
        <p:txBody>
          <a:bodyPr spcFirstLastPara="1" wrap="square" lIns="68175" tIns="68175" rIns="68175" bIns="68175" anchor="ctr" anchorCtr="0">
            <a:noAutofit/>
          </a:bodyPr>
          <a:lstStyle/>
          <a:p>
            <a:pPr marL="0" lvl="0" indent="0" algn="ctr" rtl="0">
              <a:lnSpc>
                <a:spcPct val="115000"/>
              </a:lnSpc>
              <a:spcBef>
                <a:spcPts val="0"/>
              </a:spcBef>
              <a:spcAft>
                <a:spcPts val="0"/>
              </a:spcAft>
              <a:buNone/>
            </a:pPr>
            <a:r>
              <a:rPr lang="en" sz="1014">
                <a:solidFill>
                  <a:srgbClr val="FFFFFF"/>
                </a:solidFill>
                <a:latin typeface="Nunito Black"/>
                <a:ea typeface="Nunito Black"/>
                <a:cs typeface="Nunito Black"/>
                <a:sym typeface="Nunito Black"/>
              </a:rPr>
              <a:t>104</a:t>
            </a:r>
            <a:endParaRPr sz="1014">
              <a:solidFill>
                <a:srgbClr val="FFFFFF"/>
              </a:solidFill>
              <a:latin typeface="Nunito Black"/>
              <a:ea typeface="Nunito Black"/>
              <a:cs typeface="Nunito Black"/>
              <a:sym typeface="Nunito Black"/>
            </a:endParaRPr>
          </a:p>
          <a:p>
            <a:pPr marL="0" lvl="0" indent="0" algn="ctr" rtl="0">
              <a:lnSpc>
                <a:spcPct val="115000"/>
              </a:lnSpc>
              <a:spcBef>
                <a:spcPts val="0"/>
              </a:spcBef>
              <a:spcAft>
                <a:spcPts val="0"/>
              </a:spcAft>
              <a:buNone/>
            </a:pPr>
            <a:endParaRPr sz="614">
              <a:solidFill>
                <a:srgbClr val="FFFFFF"/>
              </a:solidFill>
              <a:latin typeface="Nunito Black"/>
              <a:ea typeface="Nunito Black"/>
              <a:cs typeface="Nunito Black"/>
              <a:sym typeface="Nunito Black"/>
            </a:endParaRPr>
          </a:p>
        </p:txBody>
      </p:sp>
      <p:sp>
        <p:nvSpPr>
          <p:cNvPr id="959" name="Google Shape;959;p68"/>
          <p:cNvSpPr txBox="1"/>
          <p:nvPr/>
        </p:nvSpPr>
        <p:spPr>
          <a:xfrm>
            <a:off x="670907" y="2705165"/>
            <a:ext cx="843000" cy="309600"/>
          </a:xfrm>
          <a:prstGeom prst="rect">
            <a:avLst/>
          </a:prstGeom>
          <a:noFill/>
          <a:ln>
            <a:noFill/>
          </a:ln>
        </p:spPr>
        <p:txBody>
          <a:bodyPr spcFirstLastPara="1" wrap="square" lIns="68175" tIns="68175" rIns="68175" bIns="68175" anchor="ctr" anchorCtr="0">
            <a:noAutofit/>
          </a:bodyPr>
          <a:lstStyle/>
          <a:p>
            <a:pPr marL="0" lvl="0" indent="0" algn="ctr" rtl="0">
              <a:lnSpc>
                <a:spcPct val="115000"/>
              </a:lnSpc>
              <a:spcBef>
                <a:spcPts val="0"/>
              </a:spcBef>
              <a:spcAft>
                <a:spcPts val="0"/>
              </a:spcAft>
              <a:buNone/>
            </a:pPr>
            <a:r>
              <a:rPr lang="en" sz="803">
                <a:solidFill>
                  <a:srgbClr val="F66000"/>
                </a:solidFill>
                <a:latin typeface="Montserrat Black"/>
                <a:ea typeface="Montserrat Black"/>
                <a:cs typeface="Montserrat Black"/>
                <a:sym typeface="Montserrat Black"/>
              </a:rPr>
              <a:t>30.1%</a:t>
            </a:r>
            <a:endParaRPr sz="803">
              <a:solidFill>
                <a:srgbClr val="F66000"/>
              </a:solidFill>
              <a:latin typeface="Montserrat Black"/>
              <a:ea typeface="Montserrat Black"/>
              <a:cs typeface="Montserrat Black"/>
              <a:sym typeface="Montserrat Black"/>
            </a:endParaRPr>
          </a:p>
        </p:txBody>
      </p:sp>
      <p:sp>
        <p:nvSpPr>
          <p:cNvPr id="960" name="Google Shape;960;p68"/>
          <p:cNvSpPr txBox="1"/>
          <p:nvPr/>
        </p:nvSpPr>
        <p:spPr>
          <a:xfrm>
            <a:off x="648824" y="3063481"/>
            <a:ext cx="887100" cy="309600"/>
          </a:xfrm>
          <a:prstGeom prst="rect">
            <a:avLst/>
          </a:prstGeom>
          <a:noFill/>
          <a:ln>
            <a:noFill/>
          </a:ln>
        </p:spPr>
        <p:txBody>
          <a:bodyPr spcFirstLastPara="1" wrap="square" lIns="68175" tIns="68175" rIns="68175" bIns="68175" anchor="ctr" anchorCtr="0">
            <a:noAutofit/>
          </a:bodyPr>
          <a:lstStyle/>
          <a:p>
            <a:pPr marL="0" lvl="0" indent="0" algn="ctr" rtl="0">
              <a:lnSpc>
                <a:spcPct val="115000"/>
              </a:lnSpc>
              <a:spcBef>
                <a:spcPts val="0"/>
              </a:spcBef>
              <a:spcAft>
                <a:spcPts val="0"/>
              </a:spcAft>
              <a:buNone/>
            </a:pPr>
            <a:r>
              <a:rPr lang="en" sz="803">
                <a:solidFill>
                  <a:srgbClr val="DC2626"/>
                </a:solidFill>
                <a:latin typeface="Montserrat Black"/>
                <a:ea typeface="Montserrat Black"/>
                <a:cs typeface="Montserrat Black"/>
                <a:sym typeface="Montserrat Black"/>
              </a:rPr>
              <a:t>13.5%</a:t>
            </a:r>
            <a:endParaRPr sz="803">
              <a:solidFill>
                <a:srgbClr val="DC2626"/>
              </a:solidFill>
              <a:latin typeface="Montserrat Black"/>
              <a:ea typeface="Montserrat Black"/>
              <a:cs typeface="Montserrat Black"/>
              <a:sym typeface="Montserrat Black"/>
            </a:endParaRPr>
          </a:p>
        </p:txBody>
      </p:sp>
      <p:sp>
        <p:nvSpPr>
          <p:cNvPr id="961" name="Google Shape;961;p68"/>
          <p:cNvSpPr/>
          <p:nvPr/>
        </p:nvSpPr>
        <p:spPr>
          <a:xfrm>
            <a:off x="2186081" y="3436125"/>
            <a:ext cx="294325" cy="215400"/>
          </a:xfrm>
          <a:prstGeom prst="flowChartManualOperation">
            <a:avLst/>
          </a:prstGeom>
          <a:solidFill>
            <a:srgbClr val="EF4444"/>
          </a:solidFill>
          <a:ln>
            <a:noFill/>
          </a:ln>
        </p:spPr>
        <p:txBody>
          <a:bodyPr spcFirstLastPara="1" wrap="square" lIns="81575" tIns="81575" rIns="81575" bIns="81575" anchor="ctr" anchorCtr="0">
            <a:noAutofit/>
          </a:bodyPr>
          <a:lstStyle/>
          <a:p>
            <a:pPr marL="0" lvl="0" indent="0" algn="ctr" rtl="0">
              <a:spcBef>
                <a:spcPts val="0"/>
              </a:spcBef>
              <a:spcAft>
                <a:spcPts val="0"/>
              </a:spcAft>
              <a:buNone/>
            </a:pPr>
            <a:endParaRPr sz="335" b="1">
              <a:latin typeface="Nunito"/>
              <a:ea typeface="Nunito"/>
              <a:cs typeface="Nunito"/>
              <a:sym typeface="Nunito"/>
            </a:endParaRPr>
          </a:p>
        </p:txBody>
      </p:sp>
      <p:sp>
        <p:nvSpPr>
          <p:cNvPr id="962" name="Google Shape;962;p68"/>
          <p:cNvSpPr txBox="1"/>
          <p:nvPr/>
        </p:nvSpPr>
        <p:spPr>
          <a:xfrm>
            <a:off x="2172501" y="3378313"/>
            <a:ext cx="495300" cy="323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900">
                <a:solidFill>
                  <a:schemeClr val="lt1"/>
                </a:solidFill>
                <a:latin typeface="Nunito Black"/>
                <a:ea typeface="Nunito Black"/>
                <a:cs typeface="Nunito Black"/>
                <a:sym typeface="Nunito Black"/>
              </a:rPr>
              <a:t>97</a:t>
            </a:r>
            <a:endParaRPr sz="900">
              <a:solidFill>
                <a:schemeClr val="lt1"/>
              </a:solidFill>
            </a:endParaRPr>
          </a:p>
        </p:txBody>
      </p:sp>
      <p:sp>
        <p:nvSpPr>
          <p:cNvPr id="963" name="Google Shape;963;p68"/>
          <p:cNvSpPr/>
          <p:nvPr/>
        </p:nvSpPr>
        <p:spPr>
          <a:xfrm>
            <a:off x="682470" y="3754349"/>
            <a:ext cx="3235800" cy="386400"/>
          </a:xfrm>
          <a:prstGeom prst="roundRect">
            <a:avLst>
              <a:gd name="adj" fmla="val 20690"/>
            </a:avLst>
          </a:prstGeom>
          <a:solidFill>
            <a:srgbClr val="FFF3EB"/>
          </a:solidFill>
          <a:ln>
            <a:noFill/>
          </a:ln>
        </p:spPr>
        <p:txBody>
          <a:bodyPr spcFirstLastPara="1" wrap="square" lIns="63900" tIns="63900" rIns="63900" bIns="63900" anchor="ctr" anchorCtr="0">
            <a:noAutofit/>
          </a:bodyPr>
          <a:lstStyle/>
          <a:p>
            <a:pPr marL="0" lvl="0" indent="0" algn="l" rtl="0">
              <a:spcBef>
                <a:spcPts val="0"/>
              </a:spcBef>
              <a:spcAft>
                <a:spcPts val="0"/>
              </a:spcAft>
              <a:buNone/>
            </a:pPr>
            <a:endParaRPr/>
          </a:p>
        </p:txBody>
      </p:sp>
      <p:sp>
        <p:nvSpPr>
          <p:cNvPr id="964" name="Google Shape;964;p68"/>
          <p:cNvSpPr/>
          <p:nvPr/>
        </p:nvSpPr>
        <p:spPr>
          <a:xfrm>
            <a:off x="743382" y="3902168"/>
            <a:ext cx="66900" cy="66900"/>
          </a:xfrm>
          <a:prstGeom prst="ellipse">
            <a:avLst/>
          </a:prstGeom>
          <a:solidFill>
            <a:srgbClr val="FF7F32"/>
          </a:solidFill>
          <a:ln>
            <a:noFill/>
          </a:ln>
        </p:spPr>
        <p:txBody>
          <a:bodyPr spcFirstLastPara="1" wrap="square" lIns="63900" tIns="63900" rIns="63900" bIns="63900" anchor="ctr" anchorCtr="0">
            <a:noAutofit/>
          </a:bodyPr>
          <a:lstStyle/>
          <a:p>
            <a:pPr marL="0" lvl="0" indent="0" algn="l" rtl="0">
              <a:spcBef>
                <a:spcPts val="0"/>
              </a:spcBef>
              <a:spcAft>
                <a:spcPts val="0"/>
              </a:spcAft>
              <a:buNone/>
            </a:pPr>
            <a:endParaRPr/>
          </a:p>
        </p:txBody>
      </p:sp>
      <p:sp>
        <p:nvSpPr>
          <p:cNvPr id="965" name="Google Shape;965;p68"/>
          <p:cNvSpPr txBox="1"/>
          <p:nvPr/>
        </p:nvSpPr>
        <p:spPr>
          <a:xfrm>
            <a:off x="932147" y="3889863"/>
            <a:ext cx="2853900" cy="200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 sz="652" b="1">
                <a:solidFill>
                  <a:srgbClr val="B4531A"/>
                </a:solidFill>
                <a:latin typeface="Lexend"/>
                <a:ea typeface="Lexend"/>
                <a:cs typeface="Lexend"/>
                <a:sym typeface="Lexend"/>
              </a:rPr>
              <a:t>55% tài xế đã đăng ký chưa từng check-in lần nào (128/232).</a:t>
            </a:r>
            <a:endParaRPr sz="652" b="1">
              <a:solidFill>
                <a:srgbClr val="B4531A"/>
              </a:solidFill>
              <a:latin typeface="Lexend"/>
              <a:ea typeface="Lexend"/>
              <a:cs typeface="Lexend"/>
              <a:sym typeface="Lexend"/>
            </a:endParaRPr>
          </a:p>
          <a:p>
            <a:pPr marL="0" marR="0" lvl="0" indent="0" algn="l" rtl="0">
              <a:spcBef>
                <a:spcPts val="0"/>
              </a:spcBef>
              <a:spcAft>
                <a:spcPts val="0"/>
              </a:spcAft>
              <a:buNone/>
            </a:pPr>
            <a:endParaRPr sz="652" b="1">
              <a:solidFill>
                <a:srgbClr val="B4531A"/>
              </a:solidFill>
              <a:latin typeface="Lexend"/>
              <a:ea typeface="Lexend"/>
              <a:cs typeface="Lexend"/>
              <a:sym typeface="Lexend"/>
            </a:endParaRPr>
          </a:p>
        </p:txBody>
      </p:sp>
      <p:graphicFrame>
        <p:nvGraphicFramePr>
          <p:cNvPr id="966" name="Google Shape;966;p68"/>
          <p:cNvGraphicFramePr/>
          <p:nvPr/>
        </p:nvGraphicFramePr>
        <p:xfrm>
          <a:off x="4451170" y="1106125"/>
          <a:ext cx="3000000" cy="3000000"/>
        </p:xfrm>
        <a:graphic>
          <a:graphicData uri="http://schemas.openxmlformats.org/drawingml/2006/table">
            <a:tbl>
              <a:tblPr firstRow="1" bandRow="1">
                <a:noFill/>
                <a:tableStyleId>{58EF4B7D-01BA-4299-BD77-9BEE6CE2F989}</a:tableStyleId>
              </a:tblPr>
              <a:tblGrid>
                <a:gridCol w="2386875">
                  <a:extLst>
                    <a:ext uri="{9D8B030D-6E8A-4147-A177-3AD203B41FA5}">
                      <a16:colId xmlns:a16="http://schemas.microsoft.com/office/drawing/2014/main" val="20000"/>
                    </a:ext>
                  </a:extLst>
                </a:gridCol>
                <a:gridCol w="844725">
                  <a:extLst>
                    <a:ext uri="{9D8B030D-6E8A-4147-A177-3AD203B41FA5}">
                      <a16:colId xmlns:a16="http://schemas.microsoft.com/office/drawing/2014/main" val="20001"/>
                    </a:ext>
                  </a:extLst>
                </a:gridCol>
                <a:gridCol w="1043325">
                  <a:extLst>
                    <a:ext uri="{9D8B030D-6E8A-4147-A177-3AD203B41FA5}">
                      <a16:colId xmlns:a16="http://schemas.microsoft.com/office/drawing/2014/main" val="20002"/>
                    </a:ext>
                  </a:extLst>
                </a:gridCol>
              </a:tblGrid>
              <a:tr h="365750">
                <a:tc>
                  <a:txBody>
                    <a:bodyPr/>
                    <a:lstStyle/>
                    <a:p>
                      <a:pPr marL="0" marR="0" lvl="0" indent="0" algn="l" rtl="0">
                        <a:spcBef>
                          <a:spcPts val="0"/>
                        </a:spcBef>
                        <a:spcAft>
                          <a:spcPts val="0"/>
                        </a:spcAft>
                        <a:buNone/>
                      </a:pPr>
                      <a:r>
                        <a:rPr lang="en" sz="1000" b="0" u="none" strike="noStrike" cap="none">
                          <a:solidFill>
                            <a:srgbClr val="FFFFFF"/>
                          </a:solidFill>
                          <a:latin typeface="Lexend SemiBold"/>
                          <a:ea typeface="Lexend SemiBold"/>
                          <a:cs typeface="Lexend SemiBold"/>
                          <a:sym typeface="Lexend SemiBold"/>
                        </a:rPr>
                        <a:t>Trạng thái</a:t>
                      </a:r>
                      <a:endParaRPr sz="1000" b="0">
                        <a:latin typeface="Lexend SemiBold"/>
                        <a:ea typeface="Lexend SemiBold"/>
                        <a:cs typeface="Lexend SemiBold"/>
                        <a:sym typeface="Lexend SemiBold"/>
                      </a:endParaRPr>
                    </a:p>
                  </a:txBody>
                  <a:tcPr marL="73150" marR="73150" marT="18300" marB="18300" anchor="ctr">
                    <a:lnL w="9525" cap="flat" cmpd="sng">
                      <a:solidFill>
                        <a:srgbClr val="E9EDF3"/>
                      </a:solidFill>
                      <a:prstDash val="solid"/>
                      <a:round/>
                      <a:headEnd type="none" w="sm" len="sm"/>
                      <a:tailEnd type="none" w="sm" len="sm"/>
                    </a:lnL>
                    <a:lnR w="9525" cap="flat" cmpd="sng">
                      <a:solidFill>
                        <a:srgbClr val="E9EDF3"/>
                      </a:solidFill>
                      <a:prstDash val="solid"/>
                      <a:round/>
                      <a:headEnd type="none" w="sm" len="sm"/>
                      <a:tailEnd type="none" w="sm" len="sm"/>
                    </a:lnR>
                    <a:lnT w="9525" cap="flat" cmpd="sng">
                      <a:solidFill>
                        <a:srgbClr val="E9EDF3"/>
                      </a:solidFill>
                      <a:prstDash val="solid"/>
                      <a:round/>
                      <a:headEnd type="none" w="sm" len="sm"/>
                      <a:tailEnd type="none" w="sm" len="sm"/>
                    </a:lnT>
                    <a:lnB w="9525" cap="flat" cmpd="sng">
                      <a:solidFill>
                        <a:srgbClr val="E9EDF3"/>
                      </a:solidFill>
                      <a:prstDash val="solid"/>
                      <a:round/>
                      <a:headEnd type="none" w="sm" len="sm"/>
                      <a:tailEnd type="none" w="sm" len="sm"/>
                    </a:lnB>
                    <a:solidFill>
                      <a:srgbClr val="0E4174"/>
                    </a:solidFill>
                  </a:tcPr>
                </a:tc>
                <a:tc>
                  <a:txBody>
                    <a:bodyPr/>
                    <a:lstStyle/>
                    <a:p>
                      <a:pPr marL="0" marR="0" lvl="0" indent="0" algn="ctr" rtl="0">
                        <a:spcBef>
                          <a:spcPts val="0"/>
                        </a:spcBef>
                        <a:spcAft>
                          <a:spcPts val="0"/>
                        </a:spcAft>
                        <a:buNone/>
                      </a:pPr>
                      <a:r>
                        <a:rPr lang="en" sz="1000" b="0" u="none" strike="noStrike" cap="none">
                          <a:solidFill>
                            <a:srgbClr val="FFFFFF"/>
                          </a:solidFill>
                          <a:latin typeface="Lexend SemiBold"/>
                          <a:ea typeface="Lexend SemiBold"/>
                          <a:cs typeface="Lexend SemiBold"/>
                          <a:sym typeface="Lexend SemiBold"/>
                        </a:rPr>
                        <a:t>Số ca</a:t>
                      </a:r>
                      <a:endParaRPr sz="1000" b="0">
                        <a:latin typeface="Lexend SemiBold"/>
                        <a:ea typeface="Lexend SemiBold"/>
                        <a:cs typeface="Lexend SemiBold"/>
                        <a:sym typeface="Lexend SemiBold"/>
                      </a:endParaRPr>
                    </a:p>
                  </a:txBody>
                  <a:tcPr marL="73150" marR="73150" marT="18300" marB="18300" anchor="ctr">
                    <a:lnL w="9525" cap="flat" cmpd="sng">
                      <a:solidFill>
                        <a:srgbClr val="E9EDF3"/>
                      </a:solidFill>
                      <a:prstDash val="solid"/>
                      <a:round/>
                      <a:headEnd type="none" w="sm" len="sm"/>
                      <a:tailEnd type="none" w="sm" len="sm"/>
                    </a:lnL>
                    <a:lnR w="9525" cap="flat" cmpd="sng">
                      <a:solidFill>
                        <a:srgbClr val="E9EDF3"/>
                      </a:solidFill>
                      <a:prstDash val="solid"/>
                      <a:round/>
                      <a:headEnd type="none" w="sm" len="sm"/>
                      <a:tailEnd type="none" w="sm" len="sm"/>
                    </a:lnR>
                    <a:lnT w="9525" cap="flat" cmpd="sng">
                      <a:solidFill>
                        <a:srgbClr val="E9EDF3"/>
                      </a:solidFill>
                      <a:prstDash val="solid"/>
                      <a:round/>
                      <a:headEnd type="none" w="sm" len="sm"/>
                      <a:tailEnd type="none" w="sm" len="sm"/>
                    </a:lnT>
                    <a:lnB w="9525" cap="flat" cmpd="sng">
                      <a:solidFill>
                        <a:srgbClr val="E9EDF3"/>
                      </a:solidFill>
                      <a:prstDash val="solid"/>
                      <a:round/>
                      <a:headEnd type="none" w="sm" len="sm"/>
                      <a:tailEnd type="none" w="sm" len="sm"/>
                    </a:lnB>
                    <a:solidFill>
                      <a:srgbClr val="0E4174"/>
                    </a:solidFill>
                  </a:tcPr>
                </a:tc>
                <a:tc>
                  <a:txBody>
                    <a:bodyPr/>
                    <a:lstStyle/>
                    <a:p>
                      <a:pPr marL="0" marR="0" lvl="0" indent="0" algn="ctr" rtl="0">
                        <a:spcBef>
                          <a:spcPts val="0"/>
                        </a:spcBef>
                        <a:spcAft>
                          <a:spcPts val="0"/>
                        </a:spcAft>
                        <a:buNone/>
                      </a:pPr>
                      <a:r>
                        <a:rPr lang="en" sz="1000" b="0" u="none" strike="noStrike" cap="none">
                          <a:solidFill>
                            <a:srgbClr val="FFFFFF"/>
                          </a:solidFill>
                          <a:latin typeface="Lexend SemiBold"/>
                          <a:ea typeface="Lexend SemiBold"/>
                          <a:cs typeface="Lexend SemiBold"/>
                          <a:sym typeface="Lexend SemiBold"/>
                        </a:rPr>
                        <a:t>%</a:t>
                      </a:r>
                      <a:endParaRPr sz="1000" b="0">
                        <a:latin typeface="Lexend SemiBold"/>
                        <a:ea typeface="Lexend SemiBold"/>
                        <a:cs typeface="Lexend SemiBold"/>
                        <a:sym typeface="Lexend SemiBold"/>
                      </a:endParaRPr>
                    </a:p>
                  </a:txBody>
                  <a:tcPr marL="73150" marR="73150" marT="18300" marB="18300" anchor="ctr">
                    <a:lnL w="9525" cap="flat" cmpd="sng">
                      <a:solidFill>
                        <a:srgbClr val="E9EDF3"/>
                      </a:solidFill>
                      <a:prstDash val="solid"/>
                      <a:round/>
                      <a:headEnd type="none" w="sm" len="sm"/>
                      <a:tailEnd type="none" w="sm" len="sm"/>
                    </a:lnL>
                    <a:lnR w="9525" cap="flat" cmpd="sng">
                      <a:solidFill>
                        <a:srgbClr val="E9EDF3"/>
                      </a:solidFill>
                      <a:prstDash val="solid"/>
                      <a:round/>
                      <a:headEnd type="none" w="sm" len="sm"/>
                      <a:tailEnd type="none" w="sm" len="sm"/>
                    </a:lnR>
                    <a:lnT w="9525" cap="flat" cmpd="sng">
                      <a:solidFill>
                        <a:srgbClr val="E9EDF3"/>
                      </a:solidFill>
                      <a:prstDash val="solid"/>
                      <a:round/>
                      <a:headEnd type="none" w="sm" len="sm"/>
                      <a:tailEnd type="none" w="sm" len="sm"/>
                    </a:lnT>
                    <a:lnB w="9525" cap="flat" cmpd="sng">
                      <a:solidFill>
                        <a:srgbClr val="E9EDF3"/>
                      </a:solidFill>
                      <a:prstDash val="solid"/>
                      <a:round/>
                      <a:headEnd type="none" w="sm" len="sm"/>
                      <a:tailEnd type="none" w="sm" len="sm"/>
                    </a:lnB>
                    <a:solidFill>
                      <a:srgbClr val="0E4174"/>
                    </a:solidFill>
                  </a:tcPr>
                </a:tc>
                <a:extLst>
                  <a:ext uri="{0D108BD9-81ED-4DB2-BD59-A6C34878D82A}">
                    <a16:rowId xmlns:a16="http://schemas.microsoft.com/office/drawing/2014/main" val="10000"/>
                  </a:ext>
                </a:extLst>
              </a:tr>
              <a:tr h="310900">
                <a:tc>
                  <a:txBody>
                    <a:bodyPr/>
                    <a:lstStyle/>
                    <a:p>
                      <a:pPr marL="0" marR="0" lvl="0" indent="0" algn="l" rtl="0">
                        <a:spcBef>
                          <a:spcPts val="0"/>
                        </a:spcBef>
                        <a:spcAft>
                          <a:spcPts val="0"/>
                        </a:spcAft>
                        <a:buNone/>
                      </a:pPr>
                      <a:r>
                        <a:rPr lang="en" sz="1000" u="none" strike="noStrike" cap="none">
                          <a:solidFill>
                            <a:srgbClr val="111827"/>
                          </a:solidFill>
                          <a:latin typeface="Lexend"/>
                          <a:ea typeface="Lexend"/>
                          <a:cs typeface="Lexend"/>
                          <a:sym typeface="Lexend"/>
                        </a:rPr>
                        <a:t>Đăng ký</a:t>
                      </a:r>
                      <a:endParaRPr sz="1000">
                        <a:latin typeface="Lexend"/>
                        <a:ea typeface="Lexend"/>
                        <a:cs typeface="Lexend"/>
                        <a:sym typeface="Lexend"/>
                      </a:endParaRPr>
                    </a:p>
                  </a:txBody>
                  <a:tcPr marL="73150" marR="73150" marT="18300" marB="18300" anchor="ctr">
                    <a:lnL w="9525" cap="flat" cmpd="sng">
                      <a:solidFill>
                        <a:srgbClr val="E9EDF3"/>
                      </a:solidFill>
                      <a:prstDash val="solid"/>
                      <a:round/>
                      <a:headEnd type="none" w="sm" len="sm"/>
                      <a:tailEnd type="none" w="sm" len="sm"/>
                    </a:lnL>
                    <a:lnR w="9525" cap="flat" cmpd="sng">
                      <a:solidFill>
                        <a:srgbClr val="E9EDF3"/>
                      </a:solidFill>
                      <a:prstDash val="solid"/>
                      <a:round/>
                      <a:headEnd type="none" w="sm" len="sm"/>
                      <a:tailEnd type="none" w="sm" len="sm"/>
                    </a:lnR>
                    <a:lnT w="9525" cap="flat" cmpd="sng">
                      <a:solidFill>
                        <a:srgbClr val="E9EDF3"/>
                      </a:solidFill>
                      <a:prstDash val="solid"/>
                      <a:round/>
                      <a:headEnd type="none" w="sm" len="sm"/>
                      <a:tailEnd type="none" w="sm" len="sm"/>
                    </a:lnT>
                    <a:lnB w="9525" cap="flat" cmpd="sng">
                      <a:solidFill>
                        <a:srgbClr val="E9EDF3"/>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None/>
                      </a:pPr>
                      <a:r>
                        <a:rPr lang="en" sz="1000" u="none" strike="noStrike" cap="none">
                          <a:solidFill>
                            <a:srgbClr val="111827"/>
                          </a:solidFill>
                          <a:latin typeface="Lexend"/>
                          <a:ea typeface="Lexend"/>
                          <a:cs typeface="Lexend"/>
                          <a:sym typeface="Lexend"/>
                        </a:rPr>
                        <a:t>506</a:t>
                      </a:r>
                      <a:endParaRPr sz="1000">
                        <a:latin typeface="Lexend"/>
                        <a:ea typeface="Lexend"/>
                        <a:cs typeface="Lexend"/>
                        <a:sym typeface="Lexend"/>
                      </a:endParaRPr>
                    </a:p>
                  </a:txBody>
                  <a:tcPr marL="73150" marR="73150" marT="18300" marB="18300" anchor="ctr">
                    <a:lnL w="9525" cap="flat" cmpd="sng">
                      <a:solidFill>
                        <a:srgbClr val="E9EDF3"/>
                      </a:solidFill>
                      <a:prstDash val="solid"/>
                      <a:round/>
                      <a:headEnd type="none" w="sm" len="sm"/>
                      <a:tailEnd type="none" w="sm" len="sm"/>
                    </a:lnL>
                    <a:lnR w="9525" cap="flat" cmpd="sng">
                      <a:solidFill>
                        <a:srgbClr val="E9EDF3"/>
                      </a:solidFill>
                      <a:prstDash val="solid"/>
                      <a:round/>
                      <a:headEnd type="none" w="sm" len="sm"/>
                      <a:tailEnd type="none" w="sm" len="sm"/>
                    </a:lnR>
                    <a:lnT w="9525" cap="flat" cmpd="sng">
                      <a:solidFill>
                        <a:srgbClr val="E9EDF3"/>
                      </a:solidFill>
                      <a:prstDash val="solid"/>
                      <a:round/>
                      <a:headEnd type="none" w="sm" len="sm"/>
                      <a:tailEnd type="none" w="sm" len="sm"/>
                    </a:lnT>
                    <a:lnB w="9525" cap="flat" cmpd="sng">
                      <a:solidFill>
                        <a:srgbClr val="E9EDF3"/>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None/>
                      </a:pPr>
                      <a:r>
                        <a:rPr lang="en" sz="1000" u="none" strike="noStrike" cap="none">
                          <a:solidFill>
                            <a:srgbClr val="111827"/>
                          </a:solidFill>
                          <a:latin typeface="Lexend"/>
                          <a:ea typeface="Lexend"/>
                          <a:cs typeface="Lexend"/>
                          <a:sym typeface="Lexend"/>
                        </a:rPr>
                        <a:t>100%</a:t>
                      </a:r>
                      <a:endParaRPr sz="1000">
                        <a:latin typeface="Lexend"/>
                        <a:ea typeface="Lexend"/>
                        <a:cs typeface="Lexend"/>
                        <a:sym typeface="Lexend"/>
                      </a:endParaRPr>
                    </a:p>
                  </a:txBody>
                  <a:tcPr marL="73150" marR="73150" marT="18300" marB="18300" anchor="ctr">
                    <a:lnL w="9525" cap="flat" cmpd="sng">
                      <a:solidFill>
                        <a:srgbClr val="E9EDF3"/>
                      </a:solidFill>
                      <a:prstDash val="solid"/>
                      <a:round/>
                      <a:headEnd type="none" w="sm" len="sm"/>
                      <a:tailEnd type="none" w="sm" len="sm"/>
                    </a:lnL>
                    <a:lnR w="9525" cap="flat" cmpd="sng">
                      <a:solidFill>
                        <a:srgbClr val="E9EDF3"/>
                      </a:solidFill>
                      <a:prstDash val="solid"/>
                      <a:round/>
                      <a:headEnd type="none" w="sm" len="sm"/>
                      <a:tailEnd type="none" w="sm" len="sm"/>
                    </a:lnR>
                    <a:lnT w="9525" cap="flat" cmpd="sng">
                      <a:solidFill>
                        <a:srgbClr val="E9EDF3"/>
                      </a:solidFill>
                      <a:prstDash val="solid"/>
                      <a:round/>
                      <a:headEnd type="none" w="sm" len="sm"/>
                      <a:tailEnd type="none" w="sm" len="sm"/>
                    </a:lnT>
                    <a:lnB w="9525" cap="flat" cmpd="sng">
                      <a:solidFill>
                        <a:srgbClr val="E9EDF3"/>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310900">
                <a:tc>
                  <a:txBody>
                    <a:bodyPr/>
                    <a:lstStyle/>
                    <a:p>
                      <a:pPr marL="0" marR="0" lvl="0" indent="0" algn="l" rtl="0">
                        <a:spcBef>
                          <a:spcPts val="0"/>
                        </a:spcBef>
                        <a:spcAft>
                          <a:spcPts val="0"/>
                        </a:spcAft>
                        <a:buNone/>
                      </a:pPr>
                      <a:r>
                        <a:rPr lang="en" sz="1000" u="none" strike="noStrike" cap="none">
                          <a:solidFill>
                            <a:srgbClr val="111827"/>
                          </a:solidFill>
                          <a:latin typeface="Lexend"/>
                          <a:ea typeface="Lexend"/>
                          <a:cs typeface="Lexend"/>
                          <a:sym typeface="Lexend"/>
                        </a:rPr>
                        <a:t>Hủy ca</a:t>
                      </a:r>
                      <a:endParaRPr sz="1000">
                        <a:latin typeface="Lexend"/>
                        <a:ea typeface="Lexend"/>
                        <a:cs typeface="Lexend"/>
                        <a:sym typeface="Lexend"/>
                      </a:endParaRPr>
                    </a:p>
                  </a:txBody>
                  <a:tcPr marL="73150" marR="73150" marT="18300" marB="18300" anchor="ctr">
                    <a:lnL w="9525" cap="flat" cmpd="sng">
                      <a:solidFill>
                        <a:srgbClr val="E9EDF3"/>
                      </a:solidFill>
                      <a:prstDash val="solid"/>
                      <a:round/>
                      <a:headEnd type="none" w="sm" len="sm"/>
                      <a:tailEnd type="none" w="sm" len="sm"/>
                    </a:lnL>
                    <a:lnR w="9525" cap="flat" cmpd="sng">
                      <a:solidFill>
                        <a:srgbClr val="E9EDF3"/>
                      </a:solidFill>
                      <a:prstDash val="solid"/>
                      <a:round/>
                      <a:headEnd type="none" w="sm" len="sm"/>
                      <a:tailEnd type="none" w="sm" len="sm"/>
                    </a:lnR>
                    <a:lnT w="9525" cap="flat" cmpd="sng">
                      <a:solidFill>
                        <a:srgbClr val="E9EDF3"/>
                      </a:solidFill>
                      <a:prstDash val="solid"/>
                      <a:round/>
                      <a:headEnd type="none" w="sm" len="sm"/>
                      <a:tailEnd type="none" w="sm" len="sm"/>
                    </a:lnT>
                    <a:lnB w="9525" cap="flat" cmpd="sng">
                      <a:solidFill>
                        <a:srgbClr val="E9EDF3"/>
                      </a:solidFill>
                      <a:prstDash val="solid"/>
                      <a:round/>
                      <a:headEnd type="none" w="sm" len="sm"/>
                      <a:tailEnd type="none" w="sm" len="sm"/>
                    </a:lnB>
                    <a:solidFill>
                      <a:srgbClr val="F7F9FC"/>
                    </a:solidFill>
                  </a:tcPr>
                </a:tc>
                <a:tc>
                  <a:txBody>
                    <a:bodyPr/>
                    <a:lstStyle/>
                    <a:p>
                      <a:pPr marL="0" marR="0" lvl="0" indent="0" algn="ctr" rtl="0">
                        <a:spcBef>
                          <a:spcPts val="0"/>
                        </a:spcBef>
                        <a:spcAft>
                          <a:spcPts val="0"/>
                        </a:spcAft>
                        <a:buNone/>
                      </a:pPr>
                      <a:r>
                        <a:rPr lang="en" sz="1000" u="none" strike="noStrike" cap="none">
                          <a:solidFill>
                            <a:srgbClr val="111827"/>
                          </a:solidFill>
                          <a:latin typeface="Lexend"/>
                          <a:ea typeface="Lexend"/>
                          <a:cs typeface="Lexend"/>
                          <a:sym typeface="Lexend"/>
                        </a:rPr>
                        <a:t>91</a:t>
                      </a:r>
                      <a:endParaRPr sz="1000">
                        <a:latin typeface="Lexend"/>
                        <a:ea typeface="Lexend"/>
                        <a:cs typeface="Lexend"/>
                        <a:sym typeface="Lexend"/>
                      </a:endParaRPr>
                    </a:p>
                  </a:txBody>
                  <a:tcPr marL="73150" marR="73150" marT="18300" marB="18300" anchor="ctr">
                    <a:lnL w="9525" cap="flat" cmpd="sng">
                      <a:solidFill>
                        <a:srgbClr val="E9EDF3"/>
                      </a:solidFill>
                      <a:prstDash val="solid"/>
                      <a:round/>
                      <a:headEnd type="none" w="sm" len="sm"/>
                      <a:tailEnd type="none" w="sm" len="sm"/>
                    </a:lnL>
                    <a:lnR w="9525" cap="flat" cmpd="sng">
                      <a:solidFill>
                        <a:srgbClr val="E9EDF3"/>
                      </a:solidFill>
                      <a:prstDash val="solid"/>
                      <a:round/>
                      <a:headEnd type="none" w="sm" len="sm"/>
                      <a:tailEnd type="none" w="sm" len="sm"/>
                    </a:lnR>
                    <a:lnT w="9525" cap="flat" cmpd="sng">
                      <a:solidFill>
                        <a:srgbClr val="E9EDF3"/>
                      </a:solidFill>
                      <a:prstDash val="solid"/>
                      <a:round/>
                      <a:headEnd type="none" w="sm" len="sm"/>
                      <a:tailEnd type="none" w="sm" len="sm"/>
                    </a:lnT>
                    <a:lnB w="9525" cap="flat" cmpd="sng">
                      <a:solidFill>
                        <a:srgbClr val="E9EDF3"/>
                      </a:solidFill>
                      <a:prstDash val="solid"/>
                      <a:round/>
                      <a:headEnd type="none" w="sm" len="sm"/>
                      <a:tailEnd type="none" w="sm" len="sm"/>
                    </a:lnB>
                    <a:solidFill>
                      <a:srgbClr val="F7F9FC"/>
                    </a:solidFill>
                  </a:tcPr>
                </a:tc>
                <a:tc>
                  <a:txBody>
                    <a:bodyPr/>
                    <a:lstStyle/>
                    <a:p>
                      <a:pPr marL="0" marR="0" lvl="0" indent="0" algn="ctr" rtl="0">
                        <a:spcBef>
                          <a:spcPts val="0"/>
                        </a:spcBef>
                        <a:spcAft>
                          <a:spcPts val="0"/>
                        </a:spcAft>
                        <a:buNone/>
                      </a:pPr>
                      <a:r>
                        <a:rPr lang="en" sz="1000" u="none" strike="noStrike" cap="none">
                          <a:solidFill>
                            <a:srgbClr val="111827"/>
                          </a:solidFill>
                          <a:latin typeface="Lexend"/>
                          <a:ea typeface="Lexend"/>
                          <a:cs typeface="Lexend"/>
                          <a:sym typeface="Lexend"/>
                        </a:rPr>
                        <a:t>18.0%</a:t>
                      </a:r>
                      <a:endParaRPr sz="1000">
                        <a:latin typeface="Lexend"/>
                        <a:ea typeface="Lexend"/>
                        <a:cs typeface="Lexend"/>
                        <a:sym typeface="Lexend"/>
                      </a:endParaRPr>
                    </a:p>
                  </a:txBody>
                  <a:tcPr marL="73150" marR="73150" marT="18300" marB="18300" anchor="ctr">
                    <a:lnL w="9525" cap="flat" cmpd="sng">
                      <a:solidFill>
                        <a:srgbClr val="E9EDF3"/>
                      </a:solidFill>
                      <a:prstDash val="solid"/>
                      <a:round/>
                      <a:headEnd type="none" w="sm" len="sm"/>
                      <a:tailEnd type="none" w="sm" len="sm"/>
                    </a:lnL>
                    <a:lnR w="9525" cap="flat" cmpd="sng">
                      <a:solidFill>
                        <a:srgbClr val="E9EDF3"/>
                      </a:solidFill>
                      <a:prstDash val="solid"/>
                      <a:round/>
                      <a:headEnd type="none" w="sm" len="sm"/>
                      <a:tailEnd type="none" w="sm" len="sm"/>
                    </a:lnR>
                    <a:lnT w="9525" cap="flat" cmpd="sng">
                      <a:solidFill>
                        <a:srgbClr val="E9EDF3"/>
                      </a:solidFill>
                      <a:prstDash val="solid"/>
                      <a:round/>
                      <a:headEnd type="none" w="sm" len="sm"/>
                      <a:tailEnd type="none" w="sm" len="sm"/>
                    </a:lnT>
                    <a:lnB w="9525" cap="flat" cmpd="sng">
                      <a:solidFill>
                        <a:srgbClr val="E9EDF3"/>
                      </a:solidFill>
                      <a:prstDash val="solid"/>
                      <a:round/>
                      <a:headEnd type="none" w="sm" len="sm"/>
                      <a:tailEnd type="none" w="sm" len="sm"/>
                    </a:lnB>
                    <a:solidFill>
                      <a:srgbClr val="F7F9FC"/>
                    </a:solidFill>
                  </a:tcPr>
                </a:tc>
                <a:extLst>
                  <a:ext uri="{0D108BD9-81ED-4DB2-BD59-A6C34878D82A}">
                    <a16:rowId xmlns:a16="http://schemas.microsoft.com/office/drawing/2014/main" val="10002"/>
                  </a:ext>
                </a:extLst>
              </a:tr>
              <a:tr h="310900">
                <a:tc>
                  <a:txBody>
                    <a:bodyPr/>
                    <a:lstStyle/>
                    <a:p>
                      <a:pPr marL="0" marR="0" lvl="0" indent="0" algn="l" rtl="0">
                        <a:spcBef>
                          <a:spcPts val="0"/>
                        </a:spcBef>
                        <a:spcAft>
                          <a:spcPts val="0"/>
                        </a:spcAft>
                        <a:buNone/>
                      </a:pPr>
                      <a:r>
                        <a:rPr lang="en" sz="1000" u="none" strike="noStrike" cap="none">
                          <a:solidFill>
                            <a:srgbClr val="DC2626"/>
                          </a:solidFill>
                          <a:latin typeface="Lexend"/>
                          <a:ea typeface="Lexend"/>
                          <a:cs typeface="Lexend"/>
                          <a:sym typeface="Lexend"/>
                        </a:rPr>
                        <a:t>No-show (đk nhưng không check-in)</a:t>
                      </a:r>
                      <a:endParaRPr sz="1000">
                        <a:latin typeface="Lexend"/>
                        <a:ea typeface="Lexend"/>
                        <a:cs typeface="Lexend"/>
                        <a:sym typeface="Lexend"/>
                      </a:endParaRPr>
                    </a:p>
                  </a:txBody>
                  <a:tcPr marL="73150" marR="73150" marT="18300" marB="18300" anchor="ctr">
                    <a:lnL w="9525" cap="flat" cmpd="sng">
                      <a:solidFill>
                        <a:srgbClr val="E9EDF3"/>
                      </a:solidFill>
                      <a:prstDash val="solid"/>
                      <a:round/>
                      <a:headEnd type="none" w="sm" len="sm"/>
                      <a:tailEnd type="none" w="sm" len="sm"/>
                    </a:lnL>
                    <a:lnR w="9525" cap="flat" cmpd="sng">
                      <a:solidFill>
                        <a:srgbClr val="E9EDF3"/>
                      </a:solidFill>
                      <a:prstDash val="solid"/>
                      <a:round/>
                      <a:headEnd type="none" w="sm" len="sm"/>
                      <a:tailEnd type="none" w="sm" len="sm"/>
                    </a:lnR>
                    <a:lnT w="9525" cap="flat" cmpd="sng">
                      <a:solidFill>
                        <a:srgbClr val="E9EDF3"/>
                      </a:solidFill>
                      <a:prstDash val="solid"/>
                      <a:round/>
                      <a:headEnd type="none" w="sm" len="sm"/>
                      <a:tailEnd type="none" w="sm" len="sm"/>
                    </a:lnT>
                    <a:lnB w="9525" cap="flat" cmpd="sng">
                      <a:solidFill>
                        <a:srgbClr val="E9EDF3"/>
                      </a:solidFill>
                      <a:prstDash val="solid"/>
                      <a:round/>
                      <a:headEnd type="none" w="sm" len="sm"/>
                      <a:tailEnd type="none" w="sm" len="sm"/>
                    </a:lnB>
                    <a:solidFill>
                      <a:srgbClr val="FDECEC"/>
                    </a:solidFill>
                  </a:tcPr>
                </a:tc>
                <a:tc>
                  <a:txBody>
                    <a:bodyPr/>
                    <a:lstStyle/>
                    <a:p>
                      <a:pPr marL="0" marR="0" lvl="0" indent="0" algn="ctr" rtl="0">
                        <a:spcBef>
                          <a:spcPts val="0"/>
                        </a:spcBef>
                        <a:spcAft>
                          <a:spcPts val="0"/>
                        </a:spcAft>
                        <a:buNone/>
                      </a:pPr>
                      <a:r>
                        <a:rPr lang="en" sz="1000" u="none" strike="noStrike" cap="none">
                          <a:solidFill>
                            <a:srgbClr val="DC2626"/>
                          </a:solidFill>
                          <a:latin typeface="Lexend"/>
                          <a:ea typeface="Lexend"/>
                          <a:cs typeface="Lexend"/>
                          <a:sym typeface="Lexend"/>
                        </a:rPr>
                        <a:t>163</a:t>
                      </a:r>
                      <a:endParaRPr sz="1000">
                        <a:latin typeface="Lexend"/>
                        <a:ea typeface="Lexend"/>
                        <a:cs typeface="Lexend"/>
                        <a:sym typeface="Lexend"/>
                      </a:endParaRPr>
                    </a:p>
                  </a:txBody>
                  <a:tcPr marL="73150" marR="73150" marT="18300" marB="18300" anchor="ctr">
                    <a:lnL w="9525" cap="flat" cmpd="sng">
                      <a:solidFill>
                        <a:srgbClr val="E9EDF3"/>
                      </a:solidFill>
                      <a:prstDash val="solid"/>
                      <a:round/>
                      <a:headEnd type="none" w="sm" len="sm"/>
                      <a:tailEnd type="none" w="sm" len="sm"/>
                    </a:lnL>
                    <a:lnR w="9525" cap="flat" cmpd="sng">
                      <a:solidFill>
                        <a:srgbClr val="E9EDF3"/>
                      </a:solidFill>
                      <a:prstDash val="solid"/>
                      <a:round/>
                      <a:headEnd type="none" w="sm" len="sm"/>
                      <a:tailEnd type="none" w="sm" len="sm"/>
                    </a:lnR>
                    <a:lnT w="9525" cap="flat" cmpd="sng">
                      <a:solidFill>
                        <a:srgbClr val="E9EDF3"/>
                      </a:solidFill>
                      <a:prstDash val="solid"/>
                      <a:round/>
                      <a:headEnd type="none" w="sm" len="sm"/>
                      <a:tailEnd type="none" w="sm" len="sm"/>
                    </a:lnT>
                    <a:lnB w="9525" cap="flat" cmpd="sng">
                      <a:solidFill>
                        <a:srgbClr val="E9EDF3"/>
                      </a:solidFill>
                      <a:prstDash val="solid"/>
                      <a:round/>
                      <a:headEnd type="none" w="sm" len="sm"/>
                      <a:tailEnd type="none" w="sm" len="sm"/>
                    </a:lnB>
                    <a:solidFill>
                      <a:srgbClr val="FDECEC"/>
                    </a:solidFill>
                  </a:tcPr>
                </a:tc>
                <a:tc>
                  <a:txBody>
                    <a:bodyPr/>
                    <a:lstStyle/>
                    <a:p>
                      <a:pPr marL="0" marR="0" lvl="0" indent="0" algn="ctr" rtl="0">
                        <a:spcBef>
                          <a:spcPts val="0"/>
                        </a:spcBef>
                        <a:spcAft>
                          <a:spcPts val="0"/>
                        </a:spcAft>
                        <a:buNone/>
                      </a:pPr>
                      <a:r>
                        <a:rPr lang="en" sz="1000" u="none" strike="noStrike" cap="none">
                          <a:solidFill>
                            <a:srgbClr val="DC2626"/>
                          </a:solidFill>
                          <a:latin typeface="Lexend"/>
                          <a:ea typeface="Lexend"/>
                          <a:cs typeface="Lexend"/>
                          <a:sym typeface="Lexend"/>
                        </a:rPr>
                        <a:t>32.2%</a:t>
                      </a:r>
                      <a:endParaRPr sz="1000">
                        <a:latin typeface="Lexend"/>
                        <a:ea typeface="Lexend"/>
                        <a:cs typeface="Lexend"/>
                        <a:sym typeface="Lexend"/>
                      </a:endParaRPr>
                    </a:p>
                  </a:txBody>
                  <a:tcPr marL="73150" marR="73150" marT="18300" marB="18300" anchor="ctr">
                    <a:lnL w="9525" cap="flat" cmpd="sng">
                      <a:solidFill>
                        <a:srgbClr val="E9EDF3"/>
                      </a:solidFill>
                      <a:prstDash val="solid"/>
                      <a:round/>
                      <a:headEnd type="none" w="sm" len="sm"/>
                      <a:tailEnd type="none" w="sm" len="sm"/>
                    </a:lnL>
                    <a:lnR w="9525" cap="flat" cmpd="sng">
                      <a:solidFill>
                        <a:srgbClr val="E9EDF3"/>
                      </a:solidFill>
                      <a:prstDash val="solid"/>
                      <a:round/>
                      <a:headEnd type="none" w="sm" len="sm"/>
                      <a:tailEnd type="none" w="sm" len="sm"/>
                    </a:lnR>
                    <a:lnT w="9525" cap="flat" cmpd="sng">
                      <a:solidFill>
                        <a:srgbClr val="E9EDF3"/>
                      </a:solidFill>
                      <a:prstDash val="solid"/>
                      <a:round/>
                      <a:headEnd type="none" w="sm" len="sm"/>
                      <a:tailEnd type="none" w="sm" len="sm"/>
                    </a:lnT>
                    <a:lnB w="9525" cap="flat" cmpd="sng">
                      <a:solidFill>
                        <a:srgbClr val="E9EDF3"/>
                      </a:solidFill>
                      <a:prstDash val="solid"/>
                      <a:round/>
                      <a:headEnd type="none" w="sm" len="sm"/>
                      <a:tailEnd type="none" w="sm" len="sm"/>
                    </a:lnB>
                    <a:solidFill>
                      <a:srgbClr val="FDECEC"/>
                    </a:solidFill>
                  </a:tcPr>
                </a:tc>
                <a:extLst>
                  <a:ext uri="{0D108BD9-81ED-4DB2-BD59-A6C34878D82A}">
                    <a16:rowId xmlns:a16="http://schemas.microsoft.com/office/drawing/2014/main" val="10003"/>
                  </a:ext>
                </a:extLst>
              </a:tr>
              <a:tr h="310900">
                <a:tc>
                  <a:txBody>
                    <a:bodyPr/>
                    <a:lstStyle/>
                    <a:p>
                      <a:pPr marL="0" marR="0" lvl="0" indent="0" algn="l" rtl="0">
                        <a:spcBef>
                          <a:spcPts val="0"/>
                        </a:spcBef>
                        <a:spcAft>
                          <a:spcPts val="0"/>
                        </a:spcAft>
                        <a:buNone/>
                      </a:pPr>
                      <a:r>
                        <a:rPr lang="en" sz="1000" u="none" strike="noStrike" cap="none">
                          <a:solidFill>
                            <a:srgbClr val="111827"/>
                          </a:solidFill>
                          <a:latin typeface="Lexend"/>
                          <a:ea typeface="Lexend"/>
                          <a:cs typeface="Lexend"/>
                          <a:sym typeface="Lexend"/>
                        </a:rPr>
                        <a:t>Check-in</a:t>
                      </a:r>
                      <a:endParaRPr sz="1000">
                        <a:latin typeface="Lexend"/>
                        <a:ea typeface="Lexend"/>
                        <a:cs typeface="Lexend"/>
                        <a:sym typeface="Lexend"/>
                      </a:endParaRPr>
                    </a:p>
                  </a:txBody>
                  <a:tcPr marL="73150" marR="73150" marT="18300" marB="18300" anchor="ctr">
                    <a:lnL w="9525" cap="flat" cmpd="sng">
                      <a:solidFill>
                        <a:srgbClr val="E9EDF3"/>
                      </a:solidFill>
                      <a:prstDash val="solid"/>
                      <a:round/>
                      <a:headEnd type="none" w="sm" len="sm"/>
                      <a:tailEnd type="none" w="sm" len="sm"/>
                    </a:lnL>
                    <a:lnR w="9525" cap="flat" cmpd="sng">
                      <a:solidFill>
                        <a:srgbClr val="E9EDF3"/>
                      </a:solidFill>
                      <a:prstDash val="solid"/>
                      <a:round/>
                      <a:headEnd type="none" w="sm" len="sm"/>
                      <a:tailEnd type="none" w="sm" len="sm"/>
                    </a:lnR>
                    <a:lnT w="9525" cap="flat" cmpd="sng">
                      <a:solidFill>
                        <a:srgbClr val="E9EDF3"/>
                      </a:solidFill>
                      <a:prstDash val="solid"/>
                      <a:round/>
                      <a:headEnd type="none" w="sm" len="sm"/>
                      <a:tailEnd type="none" w="sm" len="sm"/>
                    </a:lnT>
                    <a:lnB w="9525" cap="flat" cmpd="sng">
                      <a:solidFill>
                        <a:srgbClr val="E9EDF3"/>
                      </a:solidFill>
                      <a:prstDash val="solid"/>
                      <a:round/>
                      <a:headEnd type="none" w="sm" len="sm"/>
                      <a:tailEnd type="none" w="sm" len="sm"/>
                    </a:lnB>
                    <a:solidFill>
                      <a:srgbClr val="F7F9FC"/>
                    </a:solidFill>
                  </a:tcPr>
                </a:tc>
                <a:tc>
                  <a:txBody>
                    <a:bodyPr/>
                    <a:lstStyle/>
                    <a:p>
                      <a:pPr marL="0" marR="0" lvl="0" indent="0" algn="ctr" rtl="0">
                        <a:spcBef>
                          <a:spcPts val="0"/>
                        </a:spcBef>
                        <a:spcAft>
                          <a:spcPts val="0"/>
                        </a:spcAft>
                        <a:buNone/>
                      </a:pPr>
                      <a:r>
                        <a:rPr lang="en" sz="1000" u="none" strike="noStrike" cap="none">
                          <a:solidFill>
                            <a:srgbClr val="111827"/>
                          </a:solidFill>
                          <a:latin typeface="Lexend"/>
                          <a:ea typeface="Lexend"/>
                          <a:cs typeface="Lexend"/>
                          <a:sym typeface="Lexend"/>
                        </a:rPr>
                        <a:t>252</a:t>
                      </a:r>
                      <a:endParaRPr sz="1000">
                        <a:latin typeface="Lexend"/>
                        <a:ea typeface="Lexend"/>
                        <a:cs typeface="Lexend"/>
                        <a:sym typeface="Lexend"/>
                      </a:endParaRPr>
                    </a:p>
                  </a:txBody>
                  <a:tcPr marL="73150" marR="73150" marT="18300" marB="18300" anchor="ctr">
                    <a:lnL w="9525" cap="flat" cmpd="sng">
                      <a:solidFill>
                        <a:srgbClr val="E9EDF3"/>
                      </a:solidFill>
                      <a:prstDash val="solid"/>
                      <a:round/>
                      <a:headEnd type="none" w="sm" len="sm"/>
                      <a:tailEnd type="none" w="sm" len="sm"/>
                    </a:lnL>
                    <a:lnR w="9525" cap="flat" cmpd="sng">
                      <a:solidFill>
                        <a:srgbClr val="E9EDF3"/>
                      </a:solidFill>
                      <a:prstDash val="solid"/>
                      <a:round/>
                      <a:headEnd type="none" w="sm" len="sm"/>
                      <a:tailEnd type="none" w="sm" len="sm"/>
                    </a:lnR>
                    <a:lnT w="9525" cap="flat" cmpd="sng">
                      <a:solidFill>
                        <a:srgbClr val="E9EDF3"/>
                      </a:solidFill>
                      <a:prstDash val="solid"/>
                      <a:round/>
                      <a:headEnd type="none" w="sm" len="sm"/>
                      <a:tailEnd type="none" w="sm" len="sm"/>
                    </a:lnT>
                    <a:lnB w="9525" cap="flat" cmpd="sng">
                      <a:solidFill>
                        <a:srgbClr val="E9EDF3"/>
                      </a:solidFill>
                      <a:prstDash val="solid"/>
                      <a:round/>
                      <a:headEnd type="none" w="sm" len="sm"/>
                      <a:tailEnd type="none" w="sm" len="sm"/>
                    </a:lnB>
                    <a:solidFill>
                      <a:srgbClr val="F7F9FC"/>
                    </a:solidFill>
                  </a:tcPr>
                </a:tc>
                <a:tc>
                  <a:txBody>
                    <a:bodyPr/>
                    <a:lstStyle/>
                    <a:p>
                      <a:pPr marL="0" marR="0" lvl="0" indent="0" algn="ctr" rtl="0">
                        <a:spcBef>
                          <a:spcPts val="0"/>
                        </a:spcBef>
                        <a:spcAft>
                          <a:spcPts val="0"/>
                        </a:spcAft>
                        <a:buNone/>
                      </a:pPr>
                      <a:r>
                        <a:rPr lang="en" sz="1000" u="none" strike="noStrike" cap="none">
                          <a:solidFill>
                            <a:srgbClr val="111827"/>
                          </a:solidFill>
                          <a:latin typeface="Lexend"/>
                          <a:ea typeface="Lexend"/>
                          <a:cs typeface="Lexend"/>
                          <a:sym typeface="Lexend"/>
                        </a:rPr>
                        <a:t>49.8%</a:t>
                      </a:r>
                      <a:endParaRPr sz="1000">
                        <a:latin typeface="Lexend"/>
                        <a:ea typeface="Lexend"/>
                        <a:cs typeface="Lexend"/>
                        <a:sym typeface="Lexend"/>
                      </a:endParaRPr>
                    </a:p>
                  </a:txBody>
                  <a:tcPr marL="73150" marR="73150" marT="18300" marB="18300" anchor="ctr">
                    <a:lnL w="9525" cap="flat" cmpd="sng">
                      <a:solidFill>
                        <a:srgbClr val="E9EDF3"/>
                      </a:solidFill>
                      <a:prstDash val="solid"/>
                      <a:round/>
                      <a:headEnd type="none" w="sm" len="sm"/>
                      <a:tailEnd type="none" w="sm" len="sm"/>
                    </a:lnL>
                    <a:lnR w="9525" cap="flat" cmpd="sng">
                      <a:solidFill>
                        <a:srgbClr val="E9EDF3"/>
                      </a:solidFill>
                      <a:prstDash val="solid"/>
                      <a:round/>
                      <a:headEnd type="none" w="sm" len="sm"/>
                      <a:tailEnd type="none" w="sm" len="sm"/>
                    </a:lnR>
                    <a:lnT w="9525" cap="flat" cmpd="sng">
                      <a:solidFill>
                        <a:srgbClr val="E9EDF3"/>
                      </a:solidFill>
                      <a:prstDash val="solid"/>
                      <a:round/>
                      <a:headEnd type="none" w="sm" len="sm"/>
                      <a:tailEnd type="none" w="sm" len="sm"/>
                    </a:lnT>
                    <a:lnB w="9525" cap="flat" cmpd="sng">
                      <a:solidFill>
                        <a:srgbClr val="E9EDF3"/>
                      </a:solidFill>
                      <a:prstDash val="solid"/>
                      <a:round/>
                      <a:headEnd type="none" w="sm" len="sm"/>
                      <a:tailEnd type="none" w="sm" len="sm"/>
                    </a:lnB>
                    <a:solidFill>
                      <a:srgbClr val="F7F9FC"/>
                    </a:solidFill>
                  </a:tcPr>
                </a:tc>
                <a:extLst>
                  <a:ext uri="{0D108BD9-81ED-4DB2-BD59-A6C34878D82A}">
                    <a16:rowId xmlns:a16="http://schemas.microsoft.com/office/drawing/2014/main" val="10004"/>
                  </a:ext>
                </a:extLst>
              </a:tr>
              <a:tr h="310900">
                <a:tc>
                  <a:txBody>
                    <a:bodyPr/>
                    <a:lstStyle/>
                    <a:p>
                      <a:pPr marL="0" marR="0" lvl="0" indent="0" algn="l" rtl="0">
                        <a:spcBef>
                          <a:spcPts val="0"/>
                        </a:spcBef>
                        <a:spcAft>
                          <a:spcPts val="0"/>
                        </a:spcAft>
                        <a:buNone/>
                      </a:pPr>
                      <a:r>
                        <a:rPr lang="en" sz="1000" u="none" strike="noStrike" cap="none">
                          <a:solidFill>
                            <a:srgbClr val="111827"/>
                          </a:solidFill>
                          <a:latin typeface="Lexend"/>
                          <a:ea typeface="Lexend"/>
                          <a:cs typeface="Lexend"/>
                          <a:sym typeface="Lexend"/>
                        </a:rPr>
                        <a:t>Check-in + có đơn</a:t>
                      </a:r>
                      <a:endParaRPr sz="1000">
                        <a:latin typeface="Lexend"/>
                        <a:ea typeface="Lexend"/>
                        <a:cs typeface="Lexend"/>
                        <a:sym typeface="Lexend"/>
                      </a:endParaRPr>
                    </a:p>
                  </a:txBody>
                  <a:tcPr marL="73150" marR="73150" marT="18300" marB="18300" anchor="ctr">
                    <a:lnL w="9525" cap="flat" cmpd="sng">
                      <a:solidFill>
                        <a:srgbClr val="E9EDF3"/>
                      </a:solidFill>
                      <a:prstDash val="solid"/>
                      <a:round/>
                      <a:headEnd type="none" w="sm" len="sm"/>
                      <a:tailEnd type="none" w="sm" len="sm"/>
                    </a:lnL>
                    <a:lnR w="9525" cap="flat" cmpd="sng">
                      <a:solidFill>
                        <a:srgbClr val="E9EDF3"/>
                      </a:solidFill>
                      <a:prstDash val="solid"/>
                      <a:round/>
                      <a:headEnd type="none" w="sm" len="sm"/>
                      <a:tailEnd type="none" w="sm" len="sm"/>
                    </a:lnR>
                    <a:lnT w="9525" cap="flat" cmpd="sng">
                      <a:solidFill>
                        <a:srgbClr val="E9EDF3"/>
                      </a:solidFill>
                      <a:prstDash val="solid"/>
                      <a:round/>
                      <a:headEnd type="none" w="sm" len="sm"/>
                      <a:tailEnd type="none" w="sm" len="sm"/>
                    </a:lnT>
                    <a:lnB w="9525" cap="flat" cmpd="sng">
                      <a:solidFill>
                        <a:srgbClr val="E9EDF3"/>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None/>
                      </a:pPr>
                      <a:r>
                        <a:rPr lang="en" sz="1000" u="none" strike="noStrike" cap="none">
                          <a:solidFill>
                            <a:srgbClr val="111827"/>
                          </a:solidFill>
                          <a:latin typeface="Lexend"/>
                          <a:ea typeface="Lexend"/>
                          <a:cs typeface="Lexend"/>
                          <a:sym typeface="Lexend"/>
                        </a:rPr>
                        <a:t>231</a:t>
                      </a:r>
                      <a:endParaRPr sz="1000">
                        <a:latin typeface="Lexend"/>
                        <a:ea typeface="Lexend"/>
                        <a:cs typeface="Lexend"/>
                        <a:sym typeface="Lexend"/>
                      </a:endParaRPr>
                    </a:p>
                  </a:txBody>
                  <a:tcPr marL="73150" marR="73150" marT="18300" marB="18300" anchor="ctr">
                    <a:lnL w="9525" cap="flat" cmpd="sng">
                      <a:solidFill>
                        <a:srgbClr val="E9EDF3"/>
                      </a:solidFill>
                      <a:prstDash val="solid"/>
                      <a:round/>
                      <a:headEnd type="none" w="sm" len="sm"/>
                      <a:tailEnd type="none" w="sm" len="sm"/>
                    </a:lnL>
                    <a:lnR w="9525" cap="flat" cmpd="sng">
                      <a:solidFill>
                        <a:srgbClr val="E9EDF3"/>
                      </a:solidFill>
                      <a:prstDash val="solid"/>
                      <a:round/>
                      <a:headEnd type="none" w="sm" len="sm"/>
                      <a:tailEnd type="none" w="sm" len="sm"/>
                    </a:lnR>
                    <a:lnT w="9525" cap="flat" cmpd="sng">
                      <a:solidFill>
                        <a:srgbClr val="E9EDF3"/>
                      </a:solidFill>
                      <a:prstDash val="solid"/>
                      <a:round/>
                      <a:headEnd type="none" w="sm" len="sm"/>
                      <a:tailEnd type="none" w="sm" len="sm"/>
                    </a:lnT>
                    <a:lnB w="9525" cap="flat" cmpd="sng">
                      <a:solidFill>
                        <a:srgbClr val="E9EDF3"/>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None/>
                      </a:pPr>
                      <a:r>
                        <a:rPr lang="en" sz="1000" u="none" strike="noStrike" cap="none">
                          <a:solidFill>
                            <a:srgbClr val="111827"/>
                          </a:solidFill>
                          <a:latin typeface="Lexend"/>
                          <a:ea typeface="Lexend"/>
                          <a:cs typeface="Lexend"/>
                          <a:sym typeface="Lexend"/>
                        </a:rPr>
                        <a:t>45.7%</a:t>
                      </a:r>
                      <a:endParaRPr sz="1000">
                        <a:latin typeface="Lexend"/>
                        <a:ea typeface="Lexend"/>
                        <a:cs typeface="Lexend"/>
                        <a:sym typeface="Lexend"/>
                      </a:endParaRPr>
                    </a:p>
                  </a:txBody>
                  <a:tcPr marL="73150" marR="73150" marT="18300" marB="18300" anchor="ctr">
                    <a:lnL w="9525" cap="flat" cmpd="sng">
                      <a:solidFill>
                        <a:srgbClr val="E9EDF3"/>
                      </a:solidFill>
                      <a:prstDash val="solid"/>
                      <a:round/>
                      <a:headEnd type="none" w="sm" len="sm"/>
                      <a:tailEnd type="none" w="sm" len="sm"/>
                    </a:lnL>
                    <a:lnR w="9525" cap="flat" cmpd="sng">
                      <a:solidFill>
                        <a:srgbClr val="E9EDF3"/>
                      </a:solidFill>
                      <a:prstDash val="solid"/>
                      <a:round/>
                      <a:headEnd type="none" w="sm" len="sm"/>
                      <a:tailEnd type="none" w="sm" len="sm"/>
                    </a:lnR>
                    <a:lnT w="9525" cap="flat" cmpd="sng">
                      <a:solidFill>
                        <a:srgbClr val="E9EDF3"/>
                      </a:solidFill>
                      <a:prstDash val="solid"/>
                      <a:round/>
                      <a:headEnd type="none" w="sm" len="sm"/>
                      <a:tailEnd type="none" w="sm" len="sm"/>
                    </a:lnT>
                    <a:lnB w="9525" cap="flat" cmpd="sng">
                      <a:solidFill>
                        <a:srgbClr val="E9EDF3"/>
                      </a:solidFill>
                      <a:prstDash val="solid"/>
                      <a:round/>
                      <a:headEnd type="none" w="sm" len="sm"/>
                      <a:tailEnd type="none" w="sm" len="sm"/>
                    </a:lnB>
                    <a:solidFill>
                      <a:srgbClr val="FFFFFF"/>
                    </a:solidFill>
                  </a:tcPr>
                </a:tc>
                <a:extLst>
                  <a:ext uri="{0D108BD9-81ED-4DB2-BD59-A6C34878D82A}">
                    <a16:rowId xmlns:a16="http://schemas.microsoft.com/office/drawing/2014/main" val="10005"/>
                  </a:ext>
                </a:extLst>
              </a:tr>
            </a:tbl>
          </a:graphicData>
        </a:graphic>
      </p:graphicFrame>
      <p:sp>
        <p:nvSpPr>
          <p:cNvPr id="967" name="Google Shape;967;p68"/>
          <p:cNvSpPr/>
          <p:nvPr/>
        </p:nvSpPr>
        <p:spPr>
          <a:xfrm>
            <a:off x="4451170" y="3120047"/>
            <a:ext cx="4343400" cy="1666500"/>
          </a:xfrm>
          <a:prstGeom prst="roundRect">
            <a:avLst>
              <a:gd name="adj" fmla="val 5000"/>
            </a:avLst>
          </a:prstGeom>
          <a:solidFill>
            <a:srgbClr val="EEF6F3"/>
          </a:solidFill>
          <a:ln w="15875" cap="flat" cmpd="sng">
            <a:solidFill>
              <a:srgbClr val="1A549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000" i="0" u="none" strike="noStrike" cap="none">
              <a:solidFill>
                <a:srgbClr val="000000"/>
              </a:solidFill>
              <a:latin typeface="Lexend"/>
              <a:ea typeface="Lexend"/>
              <a:cs typeface="Lexend"/>
              <a:sym typeface="Lexend"/>
            </a:endParaRPr>
          </a:p>
        </p:txBody>
      </p:sp>
      <p:sp>
        <p:nvSpPr>
          <p:cNvPr id="968" name="Google Shape;968;p68"/>
          <p:cNvSpPr/>
          <p:nvPr/>
        </p:nvSpPr>
        <p:spPr>
          <a:xfrm>
            <a:off x="4442175" y="3112975"/>
            <a:ext cx="75600" cy="1678800"/>
          </a:xfrm>
          <a:prstGeom prst="rect">
            <a:avLst/>
          </a:prstGeom>
          <a:solidFill>
            <a:srgbClr val="1A549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000000"/>
              </a:solidFill>
              <a:latin typeface="Calibri"/>
              <a:ea typeface="Calibri"/>
              <a:cs typeface="Calibri"/>
              <a:sym typeface="Calibri"/>
            </a:endParaRPr>
          </a:p>
        </p:txBody>
      </p:sp>
      <p:sp>
        <p:nvSpPr>
          <p:cNvPr id="969" name="Google Shape;969;p68"/>
          <p:cNvSpPr txBox="1"/>
          <p:nvPr/>
        </p:nvSpPr>
        <p:spPr>
          <a:xfrm>
            <a:off x="4620120" y="3243145"/>
            <a:ext cx="4417500" cy="1539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 sz="1000" b="1" i="0" u="none" strike="noStrike" cap="none">
                <a:solidFill>
                  <a:srgbClr val="0E4174"/>
                </a:solidFill>
                <a:latin typeface="Lexend"/>
                <a:ea typeface="Lexend"/>
                <a:cs typeface="Lexend"/>
                <a:sym typeface="Lexend"/>
              </a:rPr>
              <a:t>Phát hiện quan trọng — tài xế vẫn chạy nhưng không check-in</a:t>
            </a:r>
            <a:endParaRPr sz="1000">
              <a:latin typeface="Lexend"/>
              <a:ea typeface="Lexend"/>
              <a:cs typeface="Lexend"/>
              <a:sym typeface="Lexend"/>
            </a:endParaRPr>
          </a:p>
        </p:txBody>
      </p:sp>
      <p:sp>
        <p:nvSpPr>
          <p:cNvPr id="970" name="Google Shape;970;p68"/>
          <p:cNvSpPr txBox="1"/>
          <p:nvPr/>
        </p:nvSpPr>
        <p:spPr>
          <a:xfrm>
            <a:off x="4620122" y="3506709"/>
            <a:ext cx="3886200" cy="12159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0"/>
              </a:spcBef>
              <a:spcAft>
                <a:spcPts val="0"/>
              </a:spcAft>
              <a:buNone/>
            </a:pPr>
            <a:r>
              <a:rPr lang="en" sz="1000" i="0" u="none" strike="noStrike" cap="none">
                <a:solidFill>
                  <a:srgbClr val="374151"/>
                </a:solidFill>
                <a:latin typeface="Lexend"/>
                <a:ea typeface="Lexend"/>
                <a:cs typeface="Lexend"/>
                <a:sym typeface="Lexend"/>
              </a:rPr>
              <a:t>39% số ca no-show/hủy (99/254) </a:t>
            </a:r>
            <a:r>
              <a:rPr lang="en" sz="1000" b="1" i="0" u="none" strike="noStrike" cap="none">
                <a:solidFill>
                  <a:srgbClr val="374151"/>
                </a:solidFill>
                <a:latin typeface="Lexend"/>
                <a:ea typeface="Lexend"/>
                <a:cs typeface="Lexend"/>
                <a:sym typeface="Lexend"/>
              </a:rPr>
              <a:t>VẪN có đơn hoàn thành trong đúng khung giờ ca đó</a:t>
            </a:r>
            <a:r>
              <a:rPr lang="en" sz="1000" i="0" u="none" strike="noStrike" cap="none">
                <a:solidFill>
                  <a:srgbClr val="374151"/>
                </a:solidFill>
                <a:latin typeface="Lexend"/>
                <a:ea typeface="Lexend"/>
                <a:cs typeface="Lexend"/>
                <a:sym typeface="Lexend"/>
              </a:rPr>
              <a:t> → tổng 401 đơn, chiếm 25.6% tổng đơn. Năng suất nhóm này (4.05 đơn/ca) gần bằng nhóm check-in (4.63 đơn/ca).</a:t>
            </a:r>
            <a:endParaRPr sz="1000">
              <a:latin typeface="Lexend"/>
              <a:ea typeface="Lexend"/>
              <a:cs typeface="Lexend"/>
              <a:sym typeface="Lexend"/>
            </a:endParaRPr>
          </a:p>
          <a:p>
            <a:pPr marL="0" marR="0" lvl="0" indent="0" algn="l" rtl="0">
              <a:lnSpc>
                <a:spcPct val="115000"/>
              </a:lnSpc>
              <a:spcBef>
                <a:spcPts val="0"/>
              </a:spcBef>
              <a:spcAft>
                <a:spcPts val="0"/>
              </a:spcAft>
              <a:buNone/>
            </a:pPr>
            <a:endParaRPr sz="1000" i="0" u="none" strike="noStrike" cap="none">
              <a:solidFill>
                <a:srgbClr val="374151"/>
              </a:solidFill>
              <a:latin typeface="Lexend"/>
              <a:ea typeface="Lexend"/>
              <a:cs typeface="Lexend"/>
              <a:sym typeface="Lexend"/>
            </a:endParaRPr>
          </a:p>
          <a:p>
            <a:pPr marL="0" marR="0" lvl="0" indent="0" algn="l" rtl="0">
              <a:lnSpc>
                <a:spcPct val="115000"/>
              </a:lnSpc>
              <a:spcBef>
                <a:spcPts val="0"/>
              </a:spcBef>
              <a:spcAft>
                <a:spcPts val="0"/>
              </a:spcAft>
              <a:buNone/>
            </a:pPr>
            <a:r>
              <a:rPr lang="en" sz="1000" i="0" u="none" strike="noStrike" cap="none">
                <a:solidFill>
                  <a:srgbClr val="374151"/>
                </a:solidFill>
                <a:latin typeface="Lexend"/>
                <a:ea typeface="Lexend"/>
                <a:cs typeface="Lexend"/>
                <a:sym typeface="Lexend"/>
              </a:rPr>
              <a:t>→ Đây KHÔNG PHẢI vấn đề tài xế lười, mà là vấn đề UX / nhận biết thao tác check-in. </a:t>
            </a:r>
            <a:endParaRPr sz="1000">
              <a:latin typeface="Lexend"/>
              <a:ea typeface="Lexend"/>
              <a:cs typeface="Lexend"/>
              <a:sym typeface="Lexend"/>
            </a:endParaRPr>
          </a:p>
        </p:txBody>
      </p:sp>
      <p:sp>
        <p:nvSpPr>
          <p:cNvPr id="971" name="Google Shape;971;p68"/>
          <p:cNvSpPr txBox="1"/>
          <p:nvPr/>
        </p:nvSpPr>
        <p:spPr>
          <a:xfrm>
            <a:off x="3317375" y="1697075"/>
            <a:ext cx="416400" cy="307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800" b="1">
                <a:solidFill>
                  <a:srgbClr val="0B467F"/>
                </a:solidFill>
                <a:latin typeface="Montserrat"/>
                <a:ea typeface="Montserrat"/>
                <a:cs typeface="Montserrat"/>
                <a:sym typeface="Montserrat"/>
              </a:rPr>
              <a:t>Fat</a:t>
            </a:r>
            <a:endParaRPr sz="800" b="1">
              <a:solidFill>
                <a:srgbClr val="0B467F"/>
              </a:solidFill>
              <a:latin typeface="Montserrat"/>
              <a:ea typeface="Montserrat"/>
              <a:cs typeface="Montserrat"/>
              <a:sym typeface="Montserrat"/>
            </a:endParaRPr>
          </a:p>
        </p:txBody>
      </p:sp>
      <p:sp>
        <p:nvSpPr>
          <p:cNvPr id="972" name="Google Shape;972;p68"/>
          <p:cNvSpPr txBox="1"/>
          <p:nvPr/>
        </p:nvSpPr>
        <p:spPr>
          <a:xfrm>
            <a:off x="3317375" y="2209875"/>
            <a:ext cx="495300" cy="307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800" b="1">
                <a:solidFill>
                  <a:srgbClr val="0B467F"/>
                </a:solidFill>
                <a:latin typeface="Montserrat"/>
                <a:ea typeface="Montserrat"/>
                <a:cs typeface="Montserrat"/>
                <a:sym typeface="Montserrat"/>
              </a:rPr>
              <a:t>Fct</a:t>
            </a:r>
            <a:endParaRPr sz="800" b="1">
              <a:solidFill>
                <a:srgbClr val="0B467F"/>
              </a:solidFill>
              <a:latin typeface="Montserrat"/>
              <a:ea typeface="Montserrat"/>
              <a:cs typeface="Montserrat"/>
              <a:sym typeface="Montserrat"/>
            </a:endParaRPr>
          </a:p>
        </p:txBody>
      </p:sp>
      <p:sp>
        <p:nvSpPr>
          <p:cNvPr id="973" name="Google Shape;973;p68"/>
          <p:cNvSpPr txBox="1"/>
          <p:nvPr/>
        </p:nvSpPr>
        <p:spPr>
          <a:xfrm>
            <a:off x="3317375" y="2690625"/>
            <a:ext cx="1085100" cy="307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800" b="1">
                <a:solidFill>
                  <a:srgbClr val="0B467F"/>
                </a:solidFill>
                <a:latin typeface="Montserrat"/>
                <a:ea typeface="Montserrat"/>
                <a:cs typeface="Montserrat"/>
                <a:sym typeface="Montserrat"/>
              </a:rPr>
              <a:t>Registered</a:t>
            </a:r>
            <a:endParaRPr sz="800" b="1">
              <a:solidFill>
                <a:srgbClr val="0B467F"/>
              </a:solidFill>
              <a:latin typeface="Montserrat"/>
              <a:ea typeface="Montserrat"/>
              <a:cs typeface="Montserrat"/>
              <a:sym typeface="Montserrat"/>
            </a:endParaRPr>
          </a:p>
        </p:txBody>
      </p:sp>
      <p:sp>
        <p:nvSpPr>
          <p:cNvPr id="974" name="Google Shape;974;p68"/>
          <p:cNvSpPr txBox="1"/>
          <p:nvPr/>
        </p:nvSpPr>
        <p:spPr>
          <a:xfrm>
            <a:off x="3317375" y="3085775"/>
            <a:ext cx="1085100" cy="307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800" b="1">
                <a:solidFill>
                  <a:srgbClr val="0B467F"/>
                </a:solidFill>
                <a:latin typeface="Montserrat"/>
                <a:ea typeface="Montserrat"/>
                <a:cs typeface="Montserrat"/>
                <a:sym typeface="Montserrat"/>
              </a:rPr>
              <a:t>Checkin</a:t>
            </a:r>
            <a:endParaRPr sz="800" b="1">
              <a:solidFill>
                <a:srgbClr val="0B467F"/>
              </a:solidFill>
              <a:latin typeface="Montserrat"/>
              <a:ea typeface="Montserrat"/>
              <a:cs typeface="Montserrat"/>
              <a:sym typeface="Montserrat"/>
            </a:endParaRPr>
          </a:p>
        </p:txBody>
      </p:sp>
      <p:sp>
        <p:nvSpPr>
          <p:cNvPr id="975" name="Google Shape;975;p68"/>
          <p:cNvSpPr txBox="1"/>
          <p:nvPr/>
        </p:nvSpPr>
        <p:spPr>
          <a:xfrm>
            <a:off x="3317375" y="3370525"/>
            <a:ext cx="1085100" cy="307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800" b="1">
                <a:solidFill>
                  <a:srgbClr val="0B467F"/>
                </a:solidFill>
                <a:latin typeface="Montserrat"/>
                <a:ea typeface="Montserrat"/>
                <a:cs typeface="Montserrat"/>
                <a:sym typeface="Montserrat"/>
              </a:rPr>
              <a:t>Active</a:t>
            </a:r>
            <a:endParaRPr sz="800" b="1">
              <a:solidFill>
                <a:srgbClr val="0B467F"/>
              </a:solidFill>
              <a:latin typeface="Montserrat"/>
              <a:ea typeface="Montserrat"/>
              <a:cs typeface="Montserrat"/>
              <a:sym typeface="Montserrat"/>
            </a:endParaRPr>
          </a:p>
        </p:txBody>
      </p:sp>
      <p:sp>
        <p:nvSpPr>
          <p:cNvPr id="976" name="Google Shape;976;p68"/>
          <p:cNvSpPr txBox="1"/>
          <p:nvPr/>
        </p:nvSpPr>
        <p:spPr>
          <a:xfrm>
            <a:off x="647440" y="3385081"/>
            <a:ext cx="887100" cy="309600"/>
          </a:xfrm>
          <a:prstGeom prst="rect">
            <a:avLst/>
          </a:prstGeom>
          <a:noFill/>
          <a:ln>
            <a:noFill/>
          </a:ln>
        </p:spPr>
        <p:txBody>
          <a:bodyPr spcFirstLastPara="1" wrap="square" lIns="68175" tIns="68175" rIns="68175" bIns="68175" anchor="ctr" anchorCtr="0">
            <a:noAutofit/>
          </a:bodyPr>
          <a:lstStyle/>
          <a:p>
            <a:pPr marL="0" lvl="0" indent="0" algn="ctr" rtl="0">
              <a:lnSpc>
                <a:spcPct val="115000"/>
              </a:lnSpc>
              <a:spcBef>
                <a:spcPts val="0"/>
              </a:spcBef>
              <a:spcAft>
                <a:spcPts val="0"/>
              </a:spcAft>
              <a:buNone/>
            </a:pPr>
            <a:r>
              <a:rPr lang="en" sz="803">
                <a:solidFill>
                  <a:srgbClr val="DC2626"/>
                </a:solidFill>
                <a:latin typeface="Montserrat Black"/>
                <a:ea typeface="Montserrat Black"/>
                <a:cs typeface="Montserrat Black"/>
                <a:sym typeface="Montserrat Black"/>
              </a:rPr>
              <a:t>12.6%</a:t>
            </a:r>
            <a:endParaRPr sz="803">
              <a:solidFill>
                <a:srgbClr val="DC2626"/>
              </a:solidFill>
              <a:latin typeface="Montserrat Black"/>
              <a:ea typeface="Montserrat Black"/>
              <a:cs typeface="Montserrat Black"/>
              <a:sym typeface="Montserrat Black"/>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981"/>
        <p:cNvGrpSpPr/>
        <p:nvPr/>
      </p:nvGrpSpPr>
      <p:grpSpPr>
        <a:xfrm>
          <a:off x="0" y="0"/>
          <a:ext cx="0" cy="0"/>
          <a:chOff x="0" y="0"/>
          <a:chExt cx="0" cy="0"/>
        </a:xfrm>
      </p:grpSpPr>
      <p:sp>
        <p:nvSpPr>
          <p:cNvPr id="982" name="Google Shape;982;p69"/>
          <p:cNvSpPr/>
          <p:nvPr/>
        </p:nvSpPr>
        <p:spPr>
          <a:xfrm>
            <a:off x="0" y="0"/>
            <a:ext cx="9144000" cy="73200"/>
          </a:xfrm>
          <a:prstGeom prst="rect">
            <a:avLst/>
          </a:prstGeom>
          <a:solidFill>
            <a:srgbClr val="FF7F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3" name="Google Shape;983;p69"/>
          <p:cNvSpPr/>
          <p:nvPr/>
        </p:nvSpPr>
        <p:spPr>
          <a:xfrm>
            <a:off x="731520" y="201168"/>
            <a:ext cx="7315200" cy="411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E4174"/>
              </a:buClr>
              <a:buSzPts val="2200"/>
              <a:buFont typeface="Calibri"/>
              <a:buNone/>
            </a:pPr>
            <a:r>
              <a:rPr lang="en" sz="2200" b="1">
                <a:solidFill>
                  <a:srgbClr val="0E4174"/>
                </a:solidFill>
                <a:latin typeface="Lexend"/>
                <a:ea typeface="Lexend"/>
                <a:cs typeface="Lexend"/>
                <a:sym typeface="Lexend"/>
              </a:rPr>
              <a:t>Cityzone</a:t>
            </a:r>
            <a:endParaRPr sz="2200" b="1" i="0" u="none" strike="noStrike" cap="none">
              <a:solidFill>
                <a:srgbClr val="F56C1F"/>
              </a:solidFill>
              <a:highlight>
                <a:schemeClr val="lt1"/>
              </a:highlight>
              <a:latin typeface="Lexend"/>
              <a:ea typeface="Lexend"/>
              <a:cs typeface="Lexend"/>
              <a:sym typeface="Lexend"/>
            </a:endParaRPr>
          </a:p>
        </p:txBody>
      </p:sp>
      <p:sp>
        <p:nvSpPr>
          <p:cNvPr id="984" name="Google Shape;984;p69"/>
          <p:cNvSpPr/>
          <p:nvPr/>
        </p:nvSpPr>
        <p:spPr>
          <a:xfrm>
            <a:off x="731520" y="594360"/>
            <a:ext cx="7315200" cy="274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1000"/>
              <a:buFont typeface="Calibri"/>
              <a:buNone/>
            </a:pPr>
            <a:r>
              <a:rPr lang="en" sz="1000" i="1">
                <a:solidFill>
                  <a:schemeClr val="accent3"/>
                </a:solidFill>
                <a:latin typeface="Lexend"/>
                <a:ea typeface="Lexend"/>
                <a:cs typeface="Lexend"/>
                <a:sym typeface="Lexend"/>
              </a:rPr>
              <a:t>Perf theo ca làm ( 252 ca checkin ) </a:t>
            </a:r>
            <a:endParaRPr sz="1000" i="1">
              <a:solidFill>
                <a:schemeClr val="accent3"/>
              </a:solidFill>
              <a:latin typeface="Lexend"/>
              <a:ea typeface="Lexend"/>
              <a:cs typeface="Lexend"/>
              <a:sym typeface="Lexend"/>
            </a:endParaRPr>
          </a:p>
        </p:txBody>
      </p:sp>
      <p:cxnSp>
        <p:nvCxnSpPr>
          <p:cNvPr id="985" name="Google Shape;985;p69"/>
          <p:cNvCxnSpPr/>
          <p:nvPr/>
        </p:nvCxnSpPr>
        <p:spPr>
          <a:xfrm>
            <a:off x="365760" y="868680"/>
            <a:ext cx="8412600" cy="0"/>
          </a:xfrm>
          <a:prstGeom prst="straightConnector1">
            <a:avLst/>
          </a:prstGeom>
          <a:noFill/>
          <a:ln w="9525" cap="flat" cmpd="sng">
            <a:solidFill>
              <a:srgbClr val="E2E8F0"/>
            </a:solidFill>
            <a:prstDash val="solid"/>
            <a:round/>
            <a:headEnd type="none" w="sm" len="sm"/>
            <a:tailEnd type="none" w="sm" len="sm"/>
          </a:ln>
        </p:spPr>
      </p:cxnSp>
      <p:sp>
        <p:nvSpPr>
          <p:cNvPr id="986" name="Google Shape;986;p69"/>
          <p:cNvSpPr/>
          <p:nvPr/>
        </p:nvSpPr>
        <p:spPr>
          <a:xfrm>
            <a:off x="5486395" y="45700"/>
            <a:ext cx="3657600" cy="27420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94A3B8"/>
              </a:buClr>
              <a:buSzPts val="700"/>
              <a:buFont typeface="Calibri"/>
              <a:buNone/>
            </a:pPr>
            <a:r>
              <a:rPr lang="en" sz="700" b="0" i="1" u="none" strike="noStrike" cap="none">
                <a:solidFill>
                  <a:srgbClr val="94A3B8"/>
                </a:solidFill>
                <a:latin typeface="Calibri"/>
                <a:ea typeface="Calibri"/>
                <a:cs typeface="Calibri"/>
                <a:sym typeface="Calibri"/>
              </a:rPr>
              <a:t>Ahamove — Driver Management | Confidential</a:t>
            </a:r>
            <a:endParaRPr sz="700" b="0" i="0" u="none" strike="noStrike" cap="none">
              <a:solidFill>
                <a:schemeClr val="dk1"/>
              </a:solidFill>
              <a:latin typeface="Calibri"/>
              <a:ea typeface="Calibri"/>
              <a:cs typeface="Calibri"/>
              <a:sym typeface="Calibri"/>
            </a:endParaRPr>
          </a:p>
        </p:txBody>
      </p:sp>
      <p:sp>
        <p:nvSpPr>
          <p:cNvPr id="987" name="Google Shape;987;p69"/>
          <p:cNvSpPr/>
          <p:nvPr/>
        </p:nvSpPr>
        <p:spPr>
          <a:xfrm>
            <a:off x="430475" y="285363"/>
            <a:ext cx="229284" cy="243216"/>
          </a:xfrm>
          <a:prstGeom prst="lightningBolt">
            <a:avLst/>
          </a:prstGeom>
          <a:solidFill>
            <a:srgbClr val="FF7F3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88" name="Google Shape;988;p69"/>
          <p:cNvSpPr/>
          <p:nvPr/>
        </p:nvSpPr>
        <p:spPr>
          <a:xfrm>
            <a:off x="380713" y="242300"/>
            <a:ext cx="328800" cy="328800"/>
          </a:xfrm>
          <a:prstGeom prst="roundRect">
            <a:avLst>
              <a:gd name="adj" fmla="val 28261"/>
            </a:avLst>
          </a:prstGeom>
          <a:gradFill>
            <a:gsLst>
              <a:gs pos="0">
                <a:srgbClr val="FF9A50"/>
              </a:gs>
              <a:gs pos="100000">
                <a:srgbClr val="FF7F32"/>
              </a:gs>
            </a:gsLst>
            <a:lin ang="2700006" scaled="0"/>
          </a:gra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989" name="Google Shape;989;p69"/>
          <p:cNvSpPr/>
          <p:nvPr/>
        </p:nvSpPr>
        <p:spPr>
          <a:xfrm>
            <a:off x="466438" y="299450"/>
            <a:ext cx="171450" cy="257175"/>
          </a:xfrm>
          <a:custGeom>
            <a:avLst/>
            <a:gdLst/>
            <a:ahLst/>
            <a:cxnLst/>
            <a:rect l="l" t="t" r="r" b="b"/>
            <a:pathLst>
              <a:path w="228600" h="342900" extrusionOk="0">
                <a:moveTo>
                  <a:pt x="152400" y="0"/>
                </a:moveTo>
                <a:lnTo>
                  <a:pt x="0" y="200025"/>
                </a:lnTo>
                <a:lnTo>
                  <a:pt x="104775" y="200025"/>
                </a:lnTo>
                <a:lnTo>
                  <a:pt x="66675" y="342900"/>
                </a:lnTo>
                <a:lnTo>
                  <a:pt x="228600" y="133350"/>
                </a:lnTo>
                <a:lnTo>
                  <a:pt x="114300" y="133350"/>
                </a:lnTo>
                <a:close/>
              </a:path>
            </a:pathLst>
          </a:custGeom>
          <a:solidFill>
            <a:srgbClr val="FFFFFF"/>
          </a:solidFill>
          <a:ln>
            <a:noFill/>
          </a:ln>
        </p:spPr>
      </p:sp>
      <p:graphicFrame>
        <p:nvGraphicFramePr>
          <p:cNvPr id="990" name="Google Shape;990;p69"/>
          <p:cNvGraphicFramePr/>
          <p:nvPr/>
        </p:nvGraphicFramePr>
        <p:xfrm>
          <a:off x="380733" y="1774472"/>
          <a:ext cx="3000000" cy="3000000"/>
        </p:xfrm>
        <a:graphic>
          <a:graphicData uri="http://schemas.openxmlformats.org/drawingml/2006/table">
            <a:tbl>
              <a:tblPr firstRow="1" bandRow="1">
                <a:noFill/>
                <a:tableStyleId>{58EF4B7D-01BA-4299-BD77-9BEE6CE2F989}</a:tableStyleId>
              </a:tblPr>
              <a:tblGrid>
                <a:gridCol w="792100">
                  <a:extLst>
                    <a:ext uri="{9D8B030D-6E8A-4147-A177-3AD203B41FA5}">
                      <a16:colId xmlns:a16="http://schemas.microsoft.com/office/drawing/2014/main" val="20000"/>
                    </a:ext>
                  </a:extLst>
                </a:gridCol>
                <a:gridCol w="687425">
                  <a:extLst>
                    <a:ext uri="{9D8B030D-6E8A-4147-A177-3AD203B41FA5}">
                      <a16:colId xmlns:a16="http://schemas.microsoft.com/office/drawing/2014/main" val="20001"/>
                    </a:ext>
                  </a:extLst>
                </a:gridCol>
                <a:gridCol w="883175">
                  <a:extLst>
                    <a:ext uri="{9D8B030D-6E8A-4147-A177-3AD203B41FA5}">
                      <a16:colId xmlns:a16="http://schemas.microsoft.com/office/drawing/2014/main" val="20002"/>
                    </a:ext>
                  </a:extLst>
                </a:gridCol>
                <a:gridCol w="883175">
                  <a:extLst>
                    <a:ext uri="{9D8B030D-6E8A-4147-A177-3AD203B41FA5}">
                      <a16:colId xmlns:a16="http://schemas.microsoft.com/office/drawing/2014/main" val="20003"/>
                    </a:ext>
                  </a:extLst>
                </a:gridCol>
                <a:gridCol w="809575">
                  <a:extLst>
                    <a:ext uri="{9D8B030D-6E8A-4147-A177-3AD203B41FA5}">
                      <a16:colId xmlns:a16="http://schemas.microsoft.com/office/drawing/2014/main" val="20004"/>
                    </a:ext>
                  </a:extLst>
                </a:gridCol>
              </a:tblGrid>
              <a:tr h="365750">
                <a:tc>
                  <a:txBody>
                    <a:bodyPr/>
                    <a:lstStyle/>
                    <a:p>
                      <a:pPr marL="0" marR="0" lvl="0" indent="0" algn="l" rtl="0">
                        <a:spcBef>
                          <a:spcPts val="0"/>
                        </a:spcBef>
                        <a:spcAft>
                          <a:spcPts val="0"/>
                        </a:spcAft>
                        <a:buNone/>
                      </a:pPr>
                      <a:r>
                        <a:rPr lang="en" sz="1000" b="0" u="none" strike="noStrike" cap="none">
                          <a:solidFill>
                            <a:srgbClr val="FFFFFF"/>
                          </a:solidFill>
                          <a:latin typeface="Montserrat Medium"/>
                          <a:ea typeface="Montserrat Medium"/>
                          <a:cs typeface="Montserrat Medium"/>
                          <a:sym typeface="Montserrat Medium"/>
                        </a:rPr>
                        <a:t>Độ dài ca</a:t>
                      </a:r>
                      <a:endParaRPr sz="1000" b="0">
                        <a:latin typeface="Montserrat Medium"/>
                        <a:ea typeface="Montserrat Medium"/>
                        <a:cs typeface="Montserrat Medium"/>
                        <a:sym typeface="Montserrat Medium"/>
                      </a:endParaRPr>
                    </a:p>
                  </a:txBody>
                  <a:tcPr marL="73150" marR="73150" marT="18300" marB="18300" anchor="ctr">
                    <a:lnL w="9525" cap="flat" cmpd="sng">
                      <a:solidFill>
                        <a:srgbClr val="E9EDF3"/>
                      </a:solidFill>
                      <a:prstDash val="solid"/>
                      <a:round/>
                      <a:headEnd type="none" w="sm" len="sm"/>
                      <a:tailEnd type="none" w="sm" len="sm"/>
                    </a:lnL>
                    <a:lnR w="9525" cap="flat" cmpd="sng">
                      <a:solidFill>
                        <a:srgbClr val="E9EDF3"/>
                      </a:solidFill>
                      <a:prstDash val="solid"/>
                      <a:round/>
                      <a:headEnd type="none" w="sm" len="sm"/>
                      <a:tailEnd type="none" w="sm" len="sm"/>
                    </a:lnR>
                    <a:lnT w="9525" cap="flat" cmpd="sng">
                      <a:solidFill>
                        <a:srgbClr val="E9EDF3"/>
                      </a:solidFill>
                      <a:prstDash val="solid"/>
                      <a:round/>
                      <a:headEnd type="none" w="sm" len="sm"/>
                      <a:tailEnd type="none" w="sm" len="sm"/>
                    </a:lnT>
                    <a:lnB w="9525" cap="flat" cmpd="sng">
                      <a:solidFill>
                        <a:srgbClr val="E9EDF3"/>
                      </a:solidFill>
                      <a:prstDash val="solid"/>
                      <a:round/>
                      <a:headEnd type="none" w="sm" len="sm"/>
                      <a:tailEnd type="none" w="sm" len="sm"/>
                    </a:lnB>
                    <a:solidFill>
                      <a:srgbClr val="0E4174"/>
                    </a:solidFill>
                  </a:tcPr>
                </a:tc>
                <a:tc>
                  <a:txBody>
                    <a:bodyPr/>
                    <a:lstStyle/>
                    <a:p>
                      <a:pPr marL="0" marR="0" lvl="0" indent="0" algn="ctr" rtl="0">
                        <a:spcBef>
                          <a:spcPts val="0"/>
                        </a:spcBef>
                        <a:spcAft>
                          <a:spcPts val="0"/>
                        </a:spcAft>
                        <a:buNone/>
                      </a:pPr>
                      <a:r>
                        <a:rPr lang="en" sz="1000" b="0" u="none" strike="noStrike" cap="none">
                          <a:solidFill>
                            <a:srgbClr val="FFFFFF"/>
                          </a:solidFill>
                          <a:latin typeface="Montserrat Medium"/>
                          <a:ea typeface="Montserrat Medium"/>
                          <a:cs typeface="Montserrat Medium"/>
                          <a:sym typeface="Montserrat Medium"/>
                        </a:rPr>
                        <a:t>Số ca</a:t>
                      </a:r>
                      <a:endParaRPr sz="1000" b="0">
                        <a:latin typeface="Montserrat Medium"/>
                        <a:ea typeface="Montserrat Medium"/>
                        <a:cs typeface="Montserrat Medium"/>
                        <a:sym typeface="Montserrat Medium"/>
                      </a:endParaRPr>
                    </a:p>
                  </a:txBody>
                  <a:tcPr marL="73150" marR="73150" marT="18300" marB="18300" anchor="ctr">
                    <a:lnL w="9525" cap="flat" cmpd="sng">
                      <a:solidFill>
                        <a:srgbClr val="E9EDF3"/>
                      </a:solidFill>
                      <a:prstDash val="solid"/>
                      <a:round/>
                      <a:headEnd type="none" w="sm" len="sm"/>
                      <a:tailEnd type="none" w="sm" len="sm"/>
                    </a:lnL>
                    <a:lnR w="9525" cap="flat" cmpd="sng">
                      <a:solidFill>
                        <a:srgbClr val="E9EDF3"/>
                      </a:solidFill>
                      <a:prstDash val="solid"/>
                      <a:round/>
                      <a:headEnd type="none" w="sm" len="sm"/>
                      <a:tailEnd type="none" w="sm" len="sm"/>
                    </a:lnR>
                    <a:lnT w="9525" cap="flat" cmpd="sng">
                      <a:solidFill>
                        <a:srgbClr val="E9EDF3"/>
                      </a:solidFill>
                      <a:prstDash val="solid"/>
                      <a:round/>
                      <a:headEnd type="none" w="sm" len="sm"/>
                      <a:tailEnd type="none" w="sm" len="sm"/>
                    </a:lnT>
                    <a:lnB w="9525" cap="flat" cmpd="sng">
                      <a:solidFill>
                        <a:srgbClr val="E9EDF3"/>
                      </a:solidFill>
                      <a:prstDash val="solid"/>
                      <a:round/>
                      <a:headEnd type="none" w="sm" len="sm"/>
                      <a:tailEnd type="none" w="sm" len="sm"/>
                    </a:lnB>
                    <a:solidFill>
                      <a:srgbClr val="0E4174"/>
                    </a:solidFill>
                  </a:tcPr>
                </a:tc>
                <a:tc>
                  <a:txBody>
                    <a:bodyPr/>
                    <a:lstStyle/>
                    <a:p>
                      <a:pPr marL="0" marR="0" lvl="0" indent="0" algn="ctr" rtl="0">
                        <a:spcBef>
                          <a:spcPts val="0"/>
                        </a:spcBef>
                        <a:spcAft>
                          <a:spcPts val="0"/>
                        </a:spcAft>
                        <a:buNone/>
                      </a:pPr>
                      <a:r>
                        <a:rPr lang="en" sz="1000" b="0" u="none" strike="noStrike" cap="none">
                          <a:solidFill>
                            <a:srgbClr val="FFFFFF"/>
                          </a:solidFill>
                          <a:latin typeface="Montserrat Medium"/>
                          <a:ea typeface="Montserrat Medium"/>
                          <a:cs typeface="Montserrat Medium"/>
                          <a:sym typeface="Montserrat Medium"/>
                        </a:rPr>
                        <a:t>Đơn/ca</a:t>
                      </a:r>
                      <a:endParaRPr sz="1000" b="0">
                        <a:latin typeface="Montserrat Medium"/>
                        <a:ea typeface="Montserrat Medium"/>
                        <a:cs typeface="Montserrat Medium"/>
                        <a:sym typeface="Montserrat Medium"/>
                      </a:endParaRPr>
                    </a:p>
                  </a:txBody>
                  <a:tcPr marL="73150" marR="73150" marT="18300" marB="18300" anchor="ctr">
                    <a:lnL w="9525" cap="flat" cmpd="sng">
                      <a:solidFill>
                        <a:srgbClr val="E9EDF3"/>
                      </a:solidFill>
                      <a:prstDash val="solid"/>
                      <a:round/>
                      <a:headEnd type="none" w="sm" len="sm"/>
                      <a:tailEnd type="none" w="sm" len="sm"/>
                    </a:lnL>
                    <a:lnR w="9525" cap="flat" cmpd="sng">
                      <a:solidFill>
                        <a:srgbClr val="E9EDF3"/>
                      </a:solidFill>
                      <a:prstDash val="solid"/>
                      <a:round/>
                      <a:headEnd type="none" w="sm" len="sm"/>
                      <a:tailEnd type="none" w="sm" len="sm"/>
                    </a:lnR>
                    <a:lnT w="9525" cap="flat" cmpd="sng">
                      <a:solidFill>
                        <a:srgbClr val="E9EDF3"/>
                      </a:solidFill>
                      <a:prstDash val="solid"/>
                      <a:round/>
                      <a:headEnd type="none" w="sm" len="sm"/>
                      <a:tailEnd type="none" w="sm" len="sm"/>
                    </a:lnT>
                    <a:lnB w="9525" cap="flat" cmpd="sng">
                      <a:solidFill>
                        <a:srgbClr val="E9EDF3"/>
                      </a:solidFill>
                      <a:prstDash val="solid"/>
                      <a:round/>
                      <a:headEnd type="none" w="sm" len="sm"/>
                      <a:tailEnd type="none" w="sm" len="sm"/>
                    </a:lnB>
                    <a:solidFill>
                      <a:srgbClr val="0E4174"/>
                    </a:solidFill>
                  </a:tcPr>
                </a:tc>
                <a:tc>
                  <a:txBody>
                    <a:bodyPr/>
                    <a:lstStyle/>
                    <a:p>
                      <a:pPr marL="0" marR="0" lvl="0" indent="0" algn="ctr" rtl="0">
                        <a:spcBef>
                          <a:spcPts val="0"/>
                        </a:spcBef>
                        <a:spcAft>
                          <a:spcPts val="0"/>
                        </a:spcAft>
                        <a:buNone/>
                      </a:pPr>
                      <a:r>
                        <a:rPr lang="en" sz="1000" b="0" u="none" strike="noStrike" cap="none">
                          <a:solidFill>
                            <a:srgbClr val="FFFFFF"/>
                          </a:solidFill>
                          <a:latin typeface="Montserrat Medium"/>
                          <a:ea typeface="Montserrat Medium"/>
                          <a:cs typeface="Montserrat Medium"/>
                          <a:sym typeface="Montserrat Medium"/>
                        </a:rPr>
                        <a:t>Đơn/giờ</a:t>
                      </a:r>
                      <a:endParaRPr sz="1000" b="0">
                        <a:latin typeface="Montserrat Medium"/>
                        <a:ea typeface="Montserrat Medium"/>
                        <a:cs typeface="Montserrat Medium"/>
                        <a:sym typeface="Montserrat Medium"/>
                      </a:endParaRPr>
                    </a:p>
                  </a:txBody>
                  <a:tcPr marL="73150" marR="73150" marT="18300" marB="18300" anchor="ctr">
                    <a:lnL w="9525" cap="flat" cmpd="sng">
                      <a:solidFill>
                        <a:srgbClr val="E9EDF3"/>
                      </a:solidFill>
                      <a:prstDash val="solid"/>
                      <a:round/>
                      <a:headEnd type="none" w="sm" len="sm"/>
                      <a:tailEnd type="none" w="sm" len="sm"/>
                    </a:lnL>
                    <a:lnR w="9525" cap="flat" cmpd="sng">
                      <a:solidFill>
                        <a:srgbClr val="E9EDF3"/>
                      </a:solidFill>
                      <a:prstDash val="solid"/>
                      <a:round/>
                      <a:headEnd type="none" w="sm" len="sm"/>
                      <a:tailEnd type="none" w="sm" len="sm"/>
                    </a:lnR>
                    <a:lnT w="9525" cap="flat" cmpd="sng">
                      <a:solidFill>
                        <a:srgbClr val="E9EDF3"/>
                      </a:solidFill>
                      <a:prstDash val="solid"/>
                      <a:round/>
                      <a:headEnd type="none" w="sm" len="sm"/>
                      <a:tailEnd type="none" w="sm" len="sm"/>
                    </a:lnT>
                    <a:lnB w="9525" cap="flat" cmpd="sng">
                      <a:solidFill>
                        <a:srgbClr val="E9EDF3"/>
                      </a:solidFill>
                      <a:prstDash val="solid"/>
                      <a:round/>
                      <a:headEnd type="none" w="sm" len="sm"/>
                      <a:tailEnd type="none" w="sm" len="sm"/>
                    </a:lnB>
                    <a:solidFill>
                      <a:srgbClr val="0E4174"/>
                    </a:solidFill>
                  </a:tcPr>
                </a:tc>
                <a:tc>
                  <a:txBody>
                    <a:bodyPr/>
                    <a:lstStyle/>
                    <a:p>
                      <a:pPr marL="0" marR="0" lvl="0" indent="0" algn="ctr" rtl="0">
                        <a:spcBef>
                          <a:spcPts val="0"/>
                        </a:spcBef>
                        <a:spcAft>
                          <a:spcPts val="0"/>
                        </a:spcAft>
                        <a:buNone/>
                      </a:pPr>
                      <a:r>
                        <a:rPr lang="en" sz="1000" b="0">
                          <a:latin typeface="Montserrat Medium"/>
                          <a:ea typeface="Montserrat Medium"/>
                          <a:cs typeface="Montserrat Medium"/>
                          <a:sym typeface="Montserrat Medium"/>
                        </a:rPr>
                        <a:t>Online </a:t>
                      </a:r>
                      <a:r>
                        <a:rPr lang="en" sz="1000" b="0" u="none" strike="noStrike" cap="none">
                          <a:solidFill>
                            <a:srgbClr val="FFFFFF"/>
                          </a:solidFill>
                          <a:latin typeface="Montserrat Medium"/>
                          <a:ea typeface="Montserrat Medium"/>
                          <a:cs typeface="Montserrat Medium"/>
                          <a:sym typeface="Montserrat Medium"/>
                        </a:rPr>
                        <a:t>rate</a:t>
                      </a:r>
                      <a:endParaRPr sz="1000" b="0">
                        <a:latin typeface="Montserrat Medium"/>
                        <a:ea typeface="Montserrat Medium"/>
                        <a:cs typeface="Montserrat Medium"/>
                        <a:sym typeface="Montserrat Medium"/>
                      </a:endParaRPr>
                    </a:p>
                  </a:txBody>
                  <a:tcPr marL="73150" marR="73150" marT="18300" marB="18300" anchor="ctr">
                    <a:lnL w="9525" cap="flat" cmpd="sng">
                      <a:solidFill>
                        <a:srgbClr val="E9EDF3"/>
                      </a:solidFill>
                      <a:prstDash val="solid"/>
                      <a:round/>
                      <a:headEnd type="none" w="sm" len="sm"/>
                      <a:tailEnd type="none" w="sm" len="sm"/>
                    </a:lnL>
                    <a:lnR w="9525" cap="flat" cmpd="sng">
                      <a:solidFill>
                        <a:srgbClr val="E9EDF3"/>
                      </a:solidFill>
                      <a:prstDash val="solid"/>
                      <a:round/>
                      <a:headEnd type="none" w="sm" len="sm"/>
                      <a:tailEnd type="none" w="sm" len="sm"/>
                    </a:lnR>
                    <a:lnT w="9525" cap="flat" cmpd="sng">
                      <a:solidFill>
                        <a:srgbClr val="E9EDF3"/>
                      </a:solidFill>
                      <a:prstDash val="solid"/>
                      <a:round/>
                      <a:headEnd type="none" w="sm" len="sm"/>
                      <a:tailEnd type="none" w="sm" len="sm"/>
                    </a:lnT>
                    <a:lnB w="9525" cap="flat" cmpd="sng">
                      <a:solidFill>
                        <a:srgbClr val="E9EDF3"/>
                      </a:solidFill>
                      <a:prstDash val="solid"/>
                      <a:round/>
                      <a:headEnd type="none" w="sm" len="sm"/>
                      <a:tailEnd type="none" w="sm" len="sm"/>
                    </a:lnB>
                    <a:solidFill>
                      <a:srgbClr val="0E4174"/>
                    </a:solidFill>
                  </a:tcPr>
                </a:tc>
                <a:extLst>
                  <a:ext uri="{0D108BD9-81ED-4DB2-BD59-A6C34878D82A}">
                    <a16:rowId xmlns:a16="http://schemas.microsoft.com/office/drawing/2014/main" val="10000"/>
                  </a:ext>
                </a:extLst>
              </a:tr>
              <a:tr h="310900">
                <a:tc>
                  <a:txBody>
                    <a:bodyPr/>
                    <a:lstStyle/>
                    <a:p>
                      <a:pPr marL="0" marR="0" lvl="0" indent="0" algn="l" rtl="0">
                        <a:spcBef>
                          <a:spcPts val="0"/>
                        </a:spcBef>
                        <a:spcAft>
                          <a:spcPts val="0"/>
                        </a:spcAft>
                        <a:buNone/>
                      </a:pPr>
                      <a:r>
                        <a:rPr lang="en" sz="1000" u="none" strike="noStrike" cap="none">
                          <a:solidFill>
                            <a:srgbClr val="111827"/>
                          </a:solidFill>
                          <a:latin typeface="Montserrat Medium"/>
                          <a:ea typeface="Montserrat Medium"/>
                          <a:cs typeface="Montserrat Medium"/>
                          <a:sym typeface="Montserrat Medium"/>
                        </a:rPr>
                        <a:t>2h</a:t>
                      </a:r>
                      <a:endParaRPr sz="1000">
                        <a:latin typeface="Montserrat Medium"/>
                        <a:ea typeface="Montserrat Medium"/>
                        <a:cs typeface="Montserrat Medium"/>
                        <a:sym typeface="Montserrat Medium"/>
                      </a:endParaRPr>
                    </a:p>
                  </a:txBody>
                  <a:tcPr marL="73150" marR="73150" marT="18300" marB="18300" anchor="ctr">
                    <a:lnL w="9525" cap="flat" cmpd="sng">
                      <a:solidFill>
                        <a:srgbClr val="E9EDF3"/>
                      </a:solidFill>
                      <a:prstDash val="solid"/>
                      <a:round/>
                      <a:headEnd type="none" w="sm" len="sm"/>
                      <a:tailEnd type="none" w="sm" len="sm"/>
                    </a:lnL>
                    <a:lnR w="9525" cap="flat" cmpd="sng">
                      <a:solidFill>
                        <a:srgbClr val="E9EDF3"/>
                      </a:solidFill>
                      <a:prstDash val="solid"/>
                      <a:round/>
                      <a:headEnd type="none" w="sm" len="sm"/>
                      <a:tailEnd type="none" w="sm" len="sm"/>
                    </a:lnR>
                    <a:lnT w="9525" cap="flat" cmpd="sng">
                      <a:solidFill>
                        <a:srgbClr val="E9EDF3"/>
                      </a:solidFill>
                      <a:prstDash val="solid"/>
                      <a:round/>
                      <a:headEnd type="none" w="sm" len="sm"/>
                      <a:tailEnd type="none" w="sm" len="sm"/>
                    </a:lnT>
                    <a:lnB w="9525" cap="flat" cmpd="sng">
                      <a:solidFill>
                        <a:srgbClr val="E9EDF3"/>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None/>
                      </a:pPr>
                      <a:r>
                        <a:rPr lang="en" sz="1000" u="none" strike="noStrike" cap="none">
                          <a:solidFill>
                            <a:srgbClr val="111827"/>
                          </a:solidFill>
                          <a:latin typeface="Montserrat Medium"/>
                          <a:ea typeface="Montserrat Medium"/>
                          <a:cs typeface="Montserrat Medium"/>
                          <a:sym typeface="Montserrat Medium"/>
                        </a:rPr>
                        <a:t>114</a:t>
                      </a:r>
                      <a:endParaRPr sz="1000">
                        <a:latin typeface="Montserrat Medium"/>
                        <a:ea typeface="Montserrat Medium"/>
                        <a:cs typeface="Montserrat Medium"/>
                        <a:sym typeface="Montserrat Medium"/>
                      </a:endParaRPr>
                    </a:p>
                  </a:txBody>
                  <a:tcPr marL="73150" marR="73150" marT="18300" marB="18300" anchor="ctr">
                    <a:lnL w="9525" cap="flat" cmpd="sng">
                      <a:solidFill>
                        <a:srgbClr val="E9EDF3"/>
                      </a:solidFill>
                      <a:prstDash val="solid"/>
                      <a:round/>
                      <a:headEnd type="none" w="sm" len="sm"/>
                      <a:tailEnd type="none" w="sm" len="sm"/>
                    </a:lnL>
                    <a:lnR w="9525" cap="flat" cmpd="sng">
                      <a:solidFill>
                        <a:srgbClr val="E9EDF3"/>
                      </a:solidFill>
                      <a:prstDash val="solid"/>
                      <a:round/>
                      <a:headEnd type="none" w="sm" len="sm"/>
                      <a:tailEnd type="none" w="sm" len="sm"/>
                    </a:lnR>
                    <a:lnT w="9525" cap="flat" cmpd="sng">
                      <a:solidFill>
                        <a:srgbClr val="E9EDF3"/>
                      </a:solidFill>
                      <a:prstDash val="solid"/>
                      <a:round/>
                      <a:headEnd type="none" w="sm" len="sm"/>
                      <a:tailEnd type="none" w="sm" len="sm"/>
                    </a:lnT>
                    <a:lnB w="9525" cap="flat" cmpd="sng">
                      <a:solidFill>
                        <a:srgbClr val="E9EDF3"/>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None/>
                      </a:pPr>
                      <a:r>
                        <a:rPr lang="en" sz="1000" u="none" strike="noStrike" cap="none">
                          <a:solidFill>
                            <a:srgbClr val="111827"/>
                          </a:solidFill>
                          <a:latin typeface="Montserrat Medium"/>
                          <a:ea typeface="Montserrat Medium"/>
                          <a:cs typeface="Montserrat Medium"/>
                          <a:sym typeface="Montserrat Medium"/>
                        </a:rPr>
                        <a:t>3.62</a:t>
                      </a:r>
                      <a:endParaRPr sz="1000">
                        <a:latin typeface="Montserrat Medium"/>
                        <a:ea typeface="Montserrat Medium"/>
                        <a:cs typeface="Montserrat Medium"/>
                        <a:sym typeface="Montserrat Medium"/>
                      </a:endParaRPr>
                    </a:p>
                  </a:txBody>
                  <a:tcPr marL="73150" marR="73150" marT="18300" marB="18300" anchor="ctr">
                    <a:lnL w="9525" cap="flat" cmpd="sng">
                      <a:solidFill>
                        <a:srgbClr val="E9EDF3"/>
                      </a:solidFill>
                      <a:prstDash val="solid"/>
                      <a:round/>
                      <a:headEnd type="none" w="sm" len="sm"/>
                      <a:tailEnd type="none" w="sm" len="sm"/>
                    </a:lnL>
                    <a:lnR w="9525" cap="flat" cmpd="sng">
                      <a:solidFill>
                        <a:srgbClr val="E9EDF3"/>
                      </a:solidFill>
                      <a:prstDash val="solid"/>
                      <a:round/>
                      <a:headEnd type="none" w="sm" len="sm"/>
                      <a:tailEnd type="none" w="sm" len="sm"/>
                    </a:lnR>
                    <a:lnT w="9525" cap="flat" cmpd="sng">
                      <a:solidFill>
                        <a:srgbClr val="E9EDF3"/>
                      </a:solidFill>
                      <a:prstDash val="solid"/>
                      <a:round/>
                      <a:headEnd type="none" w="sm" len="sm"/>
                      <a:tailEnd type="none" w="sm" len="sm"/>
                    </a:lnT>
                    <a:lnB w="9525" cap="flat" cmpd="sng">
                      <a:solidFill>
                        <a:srgbClr val="E9EDF3"/>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None/>
                      </a:pPr>
                      <a:r>
                        <a:rPr lang="en" sz="1000" u="none" strike="noStrike" cap="none">
                          <a:solidFill>
                            <a:srgbClr val="111827"/>
                          </a:solidFill>
                          <a:latin typeface="Montserrat Medium"/>
                          <a:ea typeface="Montserrat Medium"/>
                          <a:cs typeface="Montserrat Medium"/>
                          <a:sym typeface="Montserrat Medium"/>
                        </a:rPr>
                        <a:t>1.93</a:t>
                      </a:r>
                      <a:endParaRPr sz="1000">
                        <a:latin typeface="Montserrat Medium"/>
                        <a:ea typeface="Montserrat Medium"/>
                        <a:cs typeface="Montserrat Medium"/>
                        <a:sym typeface="Montserrat Medium"/>
                      </a:endParaRPr>
                    </a:p>
                  </a:txBody>
                  <a:tcPr marL="73150" marR="73150" marT="18300" marB="18300" anchor="ctr">
                    <a:lnL w="9525" cap="flat" cmpd="sng">
                      <a:solidFill>
                        <a:srgbClr val="E9EDF3"/>
                      </a:solidFill>
                      <a:prstDash val="solid"/>
                      <a:round/>
                      <a:headEnd type="none" w="sm" len="sm"/>
                      <a:tailEnd type="none" w="sm" len="sm"/>
                    </a:lnL>
                    <a:lnR w="9525" cap="flat" cmpd="sng">
                      <a:solidFill>
                        <a:srgbClr val="E9EDF3"/>
                      </a:solidFill>
                      <a:prstDash val="solid"/>
                      <a:round/>
                      <a:headEnd type="none" w="sm" len="sm"/>
                      <a:tailEnd type="none" w="sm" len="sm"/>
                    </a:lnR>
                    <a:lnT w="9525" cap="flat" cmpd="sng">
                      <a:solidFill>
                        <a:srgbClr val="E9EDF3"/>
                      </a:solidFill>
                      <a:prstDash val="solid"/>
                      <a:round/>
                      <a:headEnd type="none" w="sm" len="sm"/>
                      <a:tailEnd type="none" w="sm" len="sm"/>
                    </a:lnT>
                    <a:lnB w="9525" cap="flat" cmpd="sng">
                      <a:solidFill>
                        <a:srgbClr val="E9EDF3"/>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None/>
                      </a:pPr>
                      <a:r>
                        <a:rPr lang="en" sz="1000">
                          <a:solidFill>
                            <a:srgbClr val="111827"/>
                          </a:solidFill>
                          <a:latin typeface="Montserrat Medium"/>
                          <a:ea typeface="Montserrat Medium"/>
                          <a:cs typeface="Montserrat Medium"/>
                          <a:sym typeface="Montserrat Medium"/>
                        </a:rPr>
                        <a:t>80</a:t>
                      </a:r>
                      <a:r>
                        <a:rPr lang="en" sz="1000" u="none" strike="noStrike" cap="none">
                          <a:solidFill>
                            <a:srgbClr val="111827"/>
                          </a:solidFill>
                          <a:latin typeface="Montserrat Medium"/>
                          <a:ea typeface="Montserrat Medium"/>
                          <a:cs typeface="Montserrat Medium"/>
                          <a:sym typeface="Montserrat Medium"/>
                        </a:rPr>
                        <a:t>.</a:t>
                      </a:r>
                      <a:r>
                        <a:rPr lang="en" sz="1000">
                          <a:solidFill>
                            <a:srgbClr val="111827"/>
                          </a:solidFill>
                          <a:latin typeface="Montserrat Medium"/>
                          <a:ea typeface="Montserrat Medium"/>
                          <a:cs typeface="Montserrat Medium"/>
                          <a:sym typeface="Montserrat Medium"/>
                        </a:rPr>
                        <a:t>9</a:t>
                      </a:r>
                      <a:r>
                        <a:rPr lang="en" sz="1000" u="none" strike="noStrike" cap="none">
                          <a:solidFill>
                            <a:srgbClr val="111827"/>
                          </a:solidFill>
                          <a:latin typeface="Montserrat Medium"/>
                          <a:ea typeface="Montserrat Medium"/>
                          <a:cs typeface="Montserrat Medium"/>
                          <a:sym typeface="Montserrat Medium"/>
                        </a:rPr>
                        <a:t>%</a:t>
                      </a:r>
                      <a:endParaRPr sz="1000">
                        <a:latin typeface="Montserrat Medium"/>
                        <a:ea typeface="Montserrat Medium"/>
                        <a:cs typeface="Montserrat Medium"/>
                        <a:sym typeface="Montserrat Medium"/>
                      </a:endParaRPr>
                    </a:p>
                  </a:txBody>
                  <a:tcPr marL="73150" marR="73150" marT="18300" marB="18300" anchor="ctr">
                    <a:lnL w="9525" cap="flat" cmpd="sng">
                      <a:solidFill>
                        <a:srgbClr val="E9EDF3"/>
                      </a:solidFill>
                      <a:prstDash val="solid"/>
                      <a:round/>
                      <a:headEnd type="none" w="sm" len="sm"/>
                      <a:tailEnd type="none" w="sm" len="sm"/>
                    </a:lnL>
                    <a:lnR w="9525" cap="flat" cmpd="sng">
                      <a:solidFill>
                        <a:srgbClr val="E9EDF3"/>
                      </a:solidFill>
                      <a:prstDash val="solid"/>
                      <a:round/>
                      <a:headEnd type="none" w="sm" len="sm"/>
                      <a:tailEnd type="none" w="sm" len="sm"/>
                    </a:lnR>
                    <a:lnT w="9525" cap="flat" cmpd="sng">
                      <a:solidFill>
                        <a:srgbClr val="E9EDF3"/>
                      </a:solidFill>
                      <a:prstDash val="solid"/>
                      <a:round/>
                      <a:headEnd type="none" w="sm" len="sm"/>
                      <a:tailEnd type="none" w="sm" len="sm"/>
                    </a:lnT>
                    <a:lnB w="9525" cap="flat" cmpd="sng">
                      <a:solidFill>
                        <a:srgbClr val="E9EDF3"/>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310900">
                <a:tc>
                  <a:txBody>
                    <a:bodyPr/>
                    <a:lstStyle/>
                    <a:p>
                      <a:pPr marL="0" marR="0" lvl="0" indent="0" algn="l" rtl="0">
                        <a:spcBef>
                          <a:spcPts val="0"/>
                        </a:spcBef>
                        <a:spcAft>
                          <a:spcPts val="0"/>
                        </a:spcAft>
                        <a:buNone/>
                      </a:pPr>
                      <a:r>
                        <a:rPr lang="en" sz="1000" u="none" strike="noStrike" cap="none">
                          <a:solidFill>
                            <a:srgbClr val="111827"/>
                          </a:solidFill>
                          <a:latin typeface="Montserrat Medium"/>
                          <a:ea typeface="Montserrat Medium"/>
                          <a:cs typeface="Montserrat Medium"/>
                          <a:sym typeface="Montserrat Medium"/>
                        </a:rPr>
                        <a:t>3h</a:t>
                      </a:r>
                      <a:endParaRPr sz="1000">
                        <a:latin typeface="Montserrat Medium"/>
                        <a:ea typeface="Montserrat Medium"/>
                        <a:cs typeface="Montserrat Medium"/>
                        <a:sym typeface="Montserrat Medium"/>
                      </a:endParaRPr>
                    </a:p>
                  </a:txBody>
                  <a:tcPr marL="73150" marR="73150" marT="18300" marB="18300" anchor="ctr">
                    <a:lnL w="9525" cap="flat" cmpd="sng">
                      <a:solidFill>
                        <a:srgbClr val="E9EDF3"/>
                      </a:solidFill>
                      <a:prstDash val="solid"/>
                      <a:round/>
                      <a:headEnd type="none" w="sm" len="sm"/>
                      <a:tailEnd type="none" w="sm" len="sm"/>
                    </a:lnL>
                    <a:lnR w="9525" cap="flat" cmpd="sng">
                      <a:solidFill>
                        <a:srgbClr val="E9EDF3"/>
                      </a:solidFill>
                      <a:prstDash val="solid"/>
                      <a:round/>
                      <a:headEnd type="none" w="sm" len="sm"/>
                      <a:tailEnd type="none" w="sm" len="sm"/>
                    </a:lnR>
                    <a:lnT w="9525" cap="flat" cmpd="sng">
                      <a:solidFill>
                        <a:srgbClr val="E9EDF3"/>
                      </a:solidFill>
                      <a:prstDash val="solid"/>
                      <a:round/>
                      <a:headEnd type="none" w="sm" len="sm"/>
                      <a:tailEnd type="none" w="sm" len="sm"/>
                    </a:lnT>
                    <a:lnB w="9525" cap="flat" cmpd="sng">
                      <a:solidFill>
                        <a:srgbClr val="E9EDF3"/>
                      </a:solidFill>
                      <a:prstDash val="solid"/>
                      <a:round/>
                      <a:headEnd type="none" w="sm" len="sm"/>
                      <a:tailEnd type="none" w="sm" len="sm"/>
                    </a:lnB>
                    <a:solidFill>
                      <a:srgbClr val="F7F9FC"/>
                    </a:solidFill>
                  </a:tcPr>
                </a:tc>
                <a:tc>
                  <a:txBody>
                    <a:bodyPr/>
                    <a:lstStyle/>
                    <a:p>
                      <a:pPr marL="0" marR="0" lvl="0" indent="0" algn="ctr" rtl="0">
                        <a:spcBef>
                          <a:spcPts val="0"/>
                        </a:spcBef>
                        <a:spcAft>
                          <a:spcPts val="0"/>
                        </a:spcAft>
                        <a:buNone/>
                      </a:pPr>
                      <a:r>
                        <a:rPr lang="en" sz="1000" u="none" strike="noStrike" cap="none">
                          <a:solidFill>
                            <a:srgbClr val="111827"/>
                          </a:solidFill>
                          <a:latin typeface="Montserrat Medium"/>
                          <a:ea typeface="Montserrat Medium"/>
                          <a:cs typeface="Montserrat Medium"/>
                          <a:sym typeface="Montserrat Medium"/>
                        </a:rPr>
                        <a:t>78</a:t>
                      </a:r>
                      <a:endParaRPr sz="1000">
                        <a:latin typeface="Montserrat Medium"/>
                        <a:ea typeface="Montserrat Medium"/>
                        <a:cs typeface="Montserrat Medium"/>
                        <a:sym typeface="Montserrat Medium"/>
                      </a:endParaRPr>
                    </a:p>
                  </a:txBody>
                  <a:tcPr marL="73150" marR="73150" marT="18300" marB="18300" anchor="ctr">
                    <a:lnL w="9525" cap="flat" cmpd="sng">
                      <a:solidFill>
                        <a:srgbClr val="E9EDF3"/>
                      </a:solidFill>
                      <a:prstDash val="solid"/>
                      <a:round/>
                      <a:headEnd type="none" w="sm" len="sm"/>
                      <a:tailEnd type="none" w="sm" len="sm"/>
                    </a:lnL>
                    <a:lnR w="9525" cap="flat" cmpd="sng">
                      <a:solidFill>
                        <a:srgbClr val="E9EDF3"/>
                      </a:solidFill>
                      <a:prstDash val="solid"/>
                      <a:round/>
                      <a:headEnd type="none" w="sm" len="sm"/>
                      <a:tailEnd type="none" w="sm" len="sm"/>
                    </a:lnR>
                    <a:lnT w="9525" cap="flat" cmpd="sng">
                      <a:solidFill>
                        <a:srgbClr val="E9EDF3"/>
                      </a:solidFill>
                      <a:prstDash val="solid"/>
                      <a:round/>
                      <a:headEnd type="none" w="sm" len="sm"/>
                      <a:tailEnd type="none" w="sm" len="sm"/>
                    </a:lnT>
                    <a:lnB w="9525" cap="flat" cmpd="sng">
                      <a:solidFill>
                        <a:srgbClr val="E9EDF3"/>
                      </a:solidFill>
                      <a:prstDash val="solid"/>
                      <a:round/>
                      <a:headEnd type="none" w="sm" len="sm"/>
                      <a:tailEnd type="none" w="sm" len="sm"/>
                    </a:lnB>
                    <a:solidFill>
                      <a:srgbClr val="F7F9FC"/>
                    </a:solidFill>
                  </a:tcPr>
                </a:tc>
                <a:tc>
                  <a:txBody>
                    <a:bodyPr/>
                    <a:lstStyle/>
                    <a:p>
                      <a:pPr marL="0" marR="0" lvl="0" indent="0" algn="ctr" rtl="0">
                        <a:spcBef>
                          <a:spcPts val="0"/>
                        </a:spcBef>
                        <a:spcAft>
                          <a:spcPts val="0"/>
                        </a:spcAft>
                        <a:buNone/>
                      </a:pPr>
                      <a:r>
                        <a:rPr lang="en" sz="1000" u="none" strike="noStrike" cap="none">
                          <a:solidFill>
                            <a:srgbClr val="111827"/>
                          </a:solidFill>
                          <a:latin typeface="Montserrat Medium"/>
                          <a:ea typeface="Montserrat Medium"/>
                          <a:cs typeface="Montserrat Medium"/>
                          <a:sym typeface="Montserrat Medium"/>
                        </a:rPr>
                        <a:t>4.85</a:t>
                      </a:r>
                      <a:endParaRPr sz="1000">
                        <a:latin typeface="Montserrat Medium"/>
                        <a:ea typeface="Montserrat Medium"/>
                        <a:cs typeface="Montserrat Medium"/>
                        <a:sym typeface="Montserrat Medium"/>
                      </a:endParaRPr>
                    </a:p>
                  </a:txBody>
                  <a:tcPr marL="73150" marR="73150" marT="18300" marB="18300" anchor="ctr">
                    <a:lnL w="9525" cap="flat" cmpd="sng">
                      <a:solidFill>
                        <a:srgbClr val="E9EDF3"/>
                      </a:solidFill>
                      <a:prstDash val="solid"/>
                      <a:round/>
                      <a:headEnd type="none" w="sm" len="sm"/>
                      <a:tailEnd type="none" w="sm" len="sm"/>
                    </a:lnL>
                    <a:lnR w="9525" cap="flat" cmpd="sng">
                      <a:solidFill>
                        <a:srgbClr val="E9EDF3"/>
                      </a:solidFill>
                      <a:prstDash val="solid"/>
                      <a:round/>
                      <a:headEnd type="none" w="sm" len="sm"/>
                      <a:tailEnd type="none" w="sm" len="sm"/>
                    </a:lnR>
                    <a:lnT w="9525" cap="flat" cmpd="sng">
                      <a:solidFill>
                        <a:srgbClr val="E9EDF3"/>
                      </a:solidFill>
                      <a:prstDash val="solid"/>
                      <a:round/>
                      <a:headEnd type="none" w="sm" len="sm"/>
                      <a:tailEnd type="none" w="sm" len="sm"/>
                    </a:lnT>
                    <a:lnB w="9525" cap="flat" cmpd="sng">
                      <a:solidFill>
                        <a:srgbClr val="E9EDF3"/>
                      </a:solidFill>
                      <a:prstDash val="solid"/>
                      <a:round/>
                      <a:headEnd type="none" w="sm" len="sm"/>
                      <a:tailEnd type="none" w="sm" len="sm"/>
                    </a:lnB>
                    <a:solidFill>
                      <a:srgbClr val="F7F9FC"/>
                    </a:solidFill>
                  </a:tcPr>
                </a:tc>
                <a:tc>
                  <a:txBody>
                    <a:bodyPr/>
                    <a:lstStyle/>
                    <a:p>
                      <a:pPr marL="0" marR="0" lvl="0" indent="0" algn="ctr" rtl="0">
                        <a:spcBef>
                          <a:spcPts val="0"/>
                        </a:spcBef>
                        <a:spcAft>
                          <a:spcPts val="0"/>
                        </a:spcAft>
                        <a:buNone/>
                      </a:pPr>
                      <a:r>
                        <a:rPr lang="en" sz="1000" u="none" strike="noStrike" cap="none">
                          <a:solidFill>
                            <a:srgbClr val="111827"/>
                          </a:solidFill>
                          <a:latin typeface="Montserrat Medium"/>
                          <a:ea typeface="Montserrat Medium"/>
                          <a:cs typeface="Montserrat Medium"/>
                          <a:sym typeface="Montserrat Medium"/>
                        </a:rPr>
                        <a:t>2.02</a:t>
                      </a:r>
                      <a:endParaRPr sz="1000">
                        <a:latin typeface="Montserrat Medium"/>
                        <a:ea typeface="Montserrat Medium"/>
                        <a:cs typeface="Montserrat Medium"/>
                        <a:sym typeface="Montserrat Medium"/>
                      </a:endParaRPr>
                    </a:p>
                  </a:txBody>
                  <a:tcPr marL="73150" marR="73150" marT="18300" marB="18300" anchor="ctr">
                    <a:lnL w="9525" cap="flat" cmpd="sng">
                      <a:solidFill>
                        <a:srgbClr val="E9EDF3"/>
                      </a:solidFill>
                      <a:prstDash val="solid"/>
                      <a:round/>
                      <a:headEnd type="none" w="sm" len="sm"/>
                      <a:tailEnd type="none" w="sm" len="sm"/>
                    </a:lnL>
                    <a:lnR w="9525" cap="flat" cmpd="sng">
                      <a:solidFill>
                        <a:srgbClr val="E9EDF3"/>
                      </a:solidFill>
                      <a:prstDash val="solid"/>
                      <a:round/>
                      <a:headEnd type="none" w="sm" len="sm"/>
                      <a:tailEnd type="none" w="sm" len="sm"/>
                    </a:lnR>
                    <a:lnT w="9525" cap="flat" cmpd="sng">
                      <a:solidFill>
                        <a:srgbClr val="E9EDF3"/>
                      </a:solidFill>
                      <a:prstDash val="solid"/>
                      <a:round/>
                      <a:headEnd type="none" w="sm" len="sm"/>
                      <a:tailEnd type="none" w="sm" len="sm"/>
                    </a:lnT>
                    <a:lnB w="9525" cap="flat" cmpd="sng">
                      <a:solidFill>
                        <a:srgbClr val="E9EDF3"/>
                      </a:solidFill>
                      <a:prstDash val="solid"/>
                      <a:round/>
                      <a:headEnd type="none" w="sm" len="sm"/>
                      <a:tailEnd type="none" w="sm" len="sm"/>
                    </a:lnB>
                    <a:solidFill>
                      <a:srgbClr val="F7F9FC"/>
                    </a:solidFill>
                  </a:tcPr>
                </a:tc>
                <a:tc>
                  <a:txBody>
                    <a:bodyPr/>
                    <a:lstStyle/>
                    <a:p>
                      <a:pPr marL="0" marR="0" lvl="0" indent="0" algn="ctr" rtl="0">
                        <a:spcBef>
                          <a:spcPts val="0"/>
                        </a:spcBef>
                        <a:spcAft>
                          <a:spcPts val="0"/>
                        </a:spcAft>
                        <a:buNone/>
                      </a:pPr>
                      <a:r>
                        <a:rPr lang="en" sz="1000" u="none" strike="noStrike" cap="none">
                          <a:solidFill>
                            <a:srgbClr val="111827"/>
                          </a:solidFill>
                          <a:latin typeface="Montserrat Medium"/>
                          <a:ea typeface="Montserrat Medium"/>
                          <a:cs typeface="Montserrat Medium"/>
                          <a:sym typeface="Montserrat Medium"/>
                        </a:rPr>
                        <a:t>80.1%</a:t>
                      </a:r>
                      <a:endParaRPr sz="1000">
                        <a:latin typeface="Montserrat Medium"/>
                        <a:ea typeface="Montserrat Medium"/>
                        <a:cs typeface="Montserrat Medium"/>
                        <a:sym typeface="Montserrat Medium"/>
                      </a:endParaRPr>
                    </a:p>
                  </a:txBody>
                  <a:tcPr marL="73150" marR="73150" marT="18300" marB="18300" anchor="ctr">
                    <a:lnL w="9525" cap="flat" cmpd="sng">
                      <a:solidFill>
                        <a:srgbClr val="E9EDF3"/>
                      </a:solidFill>
                      <a:prstDash val="solid"/>
                      <a:round/>
                      <a:headEnd type="none" w="sm" len="sm"/>
                      <a:tailEnd type="none" w="sm" len="sm"/>
                    </a:lnL>
                    <a:lnR w="9525" cap="flat" cmpd="sng">
                      <a:solidFill>
                        <a:srgbClr val="E9EDF3"/>
                      </a:solidFill>
                      <a:prstDash val="solid"/>
                      <a:round/>
                      <a:headEnd type="none" w="sm" len="sm"/>
                      <a:tailEnd type="none" w="sm" len="sm"/>
                    </a:lnR>
                    <a:lnT w="9525" cap="flat" cmpd="sng">
                      <a:solidFill>
                        <a:srgbClr val="E9EDF3"/>
                      </a:solidFill>
                      <a:prstDash val="solid"/>
                      <a:round/>
                      <a:headEnd type="none" w="sm" len="sm"/>
                      <a:tailEnd type="none" w="sm" len="sm"/>
                    </a:lnT>
                    <a:lnB w="9525" cap="flat" cmpd="sng">
                      <a:solidFill>
                        <a:srgbClr val="E9EDF3"/>
                      </a:solidFill>
                      <a:prstDash val="solid"/>
                      <a:round/>
                      <a:headEnd type="none" w="sm" len="sm"/>
                      <a:tailEnd type="none" w="sm" len="sm"/>
                    </a:lnB>
                    <a:solidFill>
                      <a:srgbClr val="F7F9FC"/>
                    </a:solidFill>
                  </a:tcPr>
                </a:tc>
                <a:extLst>
                  <a:ext uri="{0D108BD9-81ED-4DB2-BD59-A6C34878D82A}">
                    <a16:rowId xmlns:a16="http://schemas.microsoft.com/office/drawing/2014/main" val="10002"/>
                  </a:ext>
                </a:extLst>
              </a:tr>
              <a:tr h="310900">
                <a:tc>
                  <a:txBody>
                    <a:bodyPr/>
                    <a:lstStyle/>
                    <a:p>
                      <a:pPr marL="0" marR="0" lvl="0" indent="0" algn="l" rtl="0">
                        <a:spcBef>
                          <a:spcPts val="0"/>
                        </a:spcBef>
                        <a:spcAft>
                          <a:spcPts val="0"/>
                        </a:spcAft>
                        <a:buNone/>
                      </a:pPr>
                      <a:r>
                        <a:rPr lang="en" sz="1000" u="none" strike="noStrike" cap="none">
                          <a:solidFill>
                            <a:srgbClr val="10B981"/>
                          </a:solidFill>
                          <a:latin typeface="Montserrat Medium"/>
                          <a:ea typeface="Montserrat Medium"/>
                          <a:cs typeface="Montserrat Medium"/>
                          <a:sym typeface="Montserrat Medium"/>
                        </a:rPr>
                        <a:t>4h</a:t>
                      </a:r>
                      <a:endParaRPr sz="1000">
                        <a:latin typeface="Montserrat Medium"/>
                        <a:ea typeface="Montserrat Medium"/>
                        <a:cs typeface="Montserrat Medium"/>
                        <a:sym typeface="Montserrat Medium"/>
                      </a:endParaRPr>
                    </a:p>
                  </a:txBody>
                  <a:tcPr marL="73150" marR="73150" marT="18300" marB="18300" anchor="ctr">
                    <a:lnL w="9525" cap="flat" cmpd="sng">
                      <a:solidFill>
                        <a:srgbClr val="E9EDF3"/>
                      </a:solidFill>
                      <a:prstDash val="solid"/>
                      <a:round/>
                      <a:headEnd type="none" w="sm" len="sm"/>
                      <a:tailEnd type="none" w="sm" len="sm"/>
                    </a:lnL>
                    <a:lnR w="9525" cap="flat" cmpd="sng">
                      <a:solidFill>
                        <a:srgbClr val="E9EDF3"/>
                      </a:solidFill>
                      <a:prstDash val="solid"/>
                      <a:round/>
                      <a:headEnd type="none" w="sm" len="sm"/>
                      <a:tailEnd type="none" w="sm" len="sm"/>
                    </a:lnR>
                    <a:lnT w="9525" cap="flat" cmpd="sng">
                      <a:solidFill>
                        <a:srgbClr val="E9EDF3"/>
                      </a:solidFill>
                      <a:prstDash val="solid"/>
                      <a:round/>
                      <a:headEnd type="none" w="sm" len="sm"/>
                      <a:tailEnd type="none" w="sm" len="sm"/>
                    </a:lnT>
                    <a:lnB w="9525" cap="flat" cmpd="sng">
                      <a:solidFill>
                        <a:srgbClr val="E9EDF3"/>
                      </a:solidFill>
                      <a:prstDash val="solid"/>
                      <a:round/>
                      <a:headEnd type="none" w="sm" len="sm"/>
                      <a:tailEnd type="none" w="sm" len="sm"/>
                    </a:lnB>
                    <a:solidFill>
                      <a:srgbClr val="E8F9F1"/>
                    </a:solidFill>
                  </a:tcPr>
                </a:tc>
                <a:tc>
                  <a:txBody>
                    <a:bodyPr/>
                    <a:lstStyle/>
                    <a:p>
                      <a:pPr marL="0" marR="0" lvl="0" indent="0" algn="ctr" rtl="0">
                        <a:spcBef>
                          <a:spcPts val="0"/>
                        </a:spcBef>
                        <a:spcAft>
                          <a:spcPts val="0"/>
                        </a:spcAft>
                        <a:buNone/>
                      </a:pPr>
                      <a:r>
                        <a:rPr lang="en" sz="1000" u="none" strike="noStrike" cap="none">
                          <a:solidFill>
                            <a:srgbClr val="10B981"/>
                          </a:solidFill>
                          <a:latin typeface="Montserrat Medium"/>
                          <a:ea typeface="Montserrat Medium"/>
                          <a:cs typeface="Montserrat Medium"/>
                          <a:sym typeface="Montserrat Medium"/>
                        </a:rPr>
                        <a:t>60</a:t>
                      </a:r>
                      <a:endParaRPr sz="1000">
                        <a:latin typeface="Montserrat Medium"/>
                        <a:ea typeface="Montserrat Medium"/>
                        <a:cs typeface="Montserrat Medium"/>
                        <a:sym typeface="Montserrat Medium"/>
                      </a:endParaRPr>
                    </a:p>
                  </a:txBody>
                  <a:tcPr marL="73150" marR="73150" marT="18300" marB="18300" anchor="ctr">
                    <a:lnL w="9525" cap="flat" cmpd="sng">
                      <a:solidFill>
                        <a:srgbClr val="E9EDF3"/>
                      </a:solidFill>
                      <a:prstDash val="solid"/>
                      <a:round/>
                      <a:headEnd type="none" w="sm" len="sm"/>
                      <a:tailEnd type="none" w="sm" len="sm"/>
                    </a:lnL>
                    <a:lnR w="9525" cap="flat" cmpd="sng">
                      <a:solidFill>
                        <a:srgbClr val="E9EDF3"/>
                      </a:solidFill>
                      <a:prstDash val="solid"/>
                      <a:round/>
                      <a:headEnd type="none" w="sm" len="sm"/>
                      <a:tailEnd type="none" w="sm" len="sm"/>
                    </a:lnR>
                    <a:lnT w="9525" cap="flat" cmpd="sng">
                      <a:solidFill>
                        <a:srgbClr val="E9EDF3"/>
                      </a:solidFill>
                      <a:prstDash val="solid"/>
                      <a:round/>
                      <a:headEnd type="none" w="sm" len="sm"/>
                      <a:tailEnd type="none" w="sm" len="sm"/>
                    </a:lnT>
                    <a:lnB w="9525" cap="flat" cmpd="sng">
                      <a:solidFill>
                        <a:srgbClr val="E9EDF3"/>
                      </a:solidFill>
                      <a:prstDash val="solid"/>
                      <a:round/>
                      <a:headEnd type="none" w="sm" len="sm"/>
                      <a:tailEnd type="none" w="sm" len="sm"/>
                    </a:lnB>
                    <a:solidFill>
                      <a:srgbClr val="E8F9F1"/>
                    </a:solidFill>
                  </a:tcPr>
                </a:tc>
                <a:tc>
                  <a:txBody>
                    <a:bodyPr/>
                    <a:lstStyle/>
                    <a:p>
                      <a:pPr marL="0" marR="0" lvl="0" indent="0" algn="ctr" rtl="0">
                        <a:spcBef>
                          <a:spcPts val="0"/>
                        </a:spcBef>
                        <a:spcAft>
                          <a:spcPts val="0"/>
                        </a:spcAft>
                        <a:buNone/>
                      </a:pPr>
                      <a:r>
                        <a:rPr lang="en" sz="1000" u="none" strike="noStrike" cap="none">
                          <a:solidFill>
                            <a:srgbClr val="10B981"/>
                          </a:solidFill>
                          <a:latin typeface="Montserrat Medium"/>
                          <a:ea typeface="Montserrat Medium"/>
                          <a:cs typeface="Montserrat Medium"/>
                          <a:sym typeface="Montserrat Medium"/>
                        </a:rPr>
                        <a:t>6.25</a:t>
                      </a:r>
                      <a:endParaRPr sz="1000">
                        <a:latin typeface="Montserrat Medium"/>
                        <a:ea typeface="Montserrat Medium"/>
                        <a:cs typeface="Montserrat Medium"/>
                        <a:sym typeface="Montserrat Medium"/>
                      </a:endParaRPr>
                    </a:p>
                  </a:txBody>
                  <a:tcPr marL="73150" marR="73150" marT="18300" marB="18300" anchor="ctr">
                    <a:lnL w="9525" cap="flat" cmpd="sng">
                      <a:solidFill>
                        <a:srgbClr val="E9EDF3"/>
                      </a:solidFill>
                      <a:prstDash val="solid"/>
                      <a:round/>
                      <a:headEnd type="none" w="sm" len="sm"/>
                      <a:tailEnd type="none" w="sm" len="sm"/>
                    </a:lnL>
                    <a:lnR w="9525" cap="flat" cmpd="sng">
                      <a:solidFill>
                        <a:srgbClr val="E9EDF3"/>
                      </a:solidFill>
                      <a:prstDash val="solid"/>
                      <a:round/>
                      <a:headEnd type="none" w="sm" len="sm"/>
                      <a:tailEnd type="none" w="sm" len="sm"/>
                    </a:lnR>
                    <a:lnT w="9525" cap="flat" cmpd="sng">
                      <a:solidFill>
                        <a:srgbClr val="E9EDF3"/>
                      </a:solidFill>
                      <a:prstDash val="solid"/>
                      <a:round/>
                      <a:headEnd type="none" w="sm" len="sm"/>
                      <a:tailEnd type="none" w="sm" len="sm"/>
                    </a:lnT>
                    <a:lnB w="9525" cap="flat" cmpd="sng">
                      <a:solidFill>
                        <a:srgbClr val="E9EDF3"/>
                      </a:solidFill>
                      <a:prstDash val="solid"/>
                      <a:round/>
                      <a:headEnd type="none" w="sm" len="sm"/>
                      <a:tailEnd type="none" w="sm" len="sm"/>
                    </a:lnB>
                    <a:solidFill>
                      <a:srgbClr val="E8F9F1"/>
                    </a:solidFill>
                  </a:tcPr>
                </a:tc>
                <a:tc>
                  <a:txBody>
                    <a:bodyPr/>
                    <a:lstStyle/>
                    <a:p>
                      <a:pPr marL="0" marR="0" lvl="0" indent="0" algn="ctr" rtl="0">
                        <a:spcBef>
                          <a:spcPts val="0"/>
                        </a:spcBef>
                        <a:spcAft>
                          <a:spcPts val="0"/>
                        </a:spcAft>
                        <a:buNone/>
                      </a:pPr>
                      <a:r>
                        <a:rPr lang="en" sz="1000" u="none" strike="noStrike" cap="none">
                          <a:solidFill>
                            <a:srgbClr val="10B981"/>
                          </a:solidFill>
                          <a:latin typeface="Montserrat Medium"/>
                          <a:ea typeface="Montserrat Medium"/>
                          <a:cs typeface="Montserrat Medium"/>
                          <a:sym typeface="Montserrat Medium"/>
                        </a:rPr>
                        <a:t>2.06</a:t>
                      </a:r>
                      <a:endParaRPr sz="1000">
                        <a:latin typeface="Montserrat Medium"/>
                        <a:ea typeface="Montserrat Medium"/>
                        <a:cs typeface="Montserrat Medium"/>
                        <a:sym typeface="Montserrat Medium"/>
                      </a:endParaRPr>
                    </a:p>
                  </a:txBody>
                  <a:tcPr marL="73150" marR="73150" marT="18300" marB="18300" anchor="ctr">
                    <a:lnL w="9525" cap="flat" cmpd="sng">
                      <a:solidFill>
                        <a:srgbClr val="E9EDF3"/>
                      </a:solidFill>
                      <a:prstDash val="solid"/>
                      <a:round/>
                      <a:headEnd type="none" w="sm" len="sm"/>
                      <a:tailEnd type="none" w="sm" len="sm"/>
                    </a:lnL>
                    <a:lnR w="9525" cap="flat" cmpd="sng">
                      <a:solidFill>
                        <a:srgbClr val="E9EDF3"/>
                      </a:solidFill>
                      <a:prstDash val="solid"/>
                      <a:round/>
                      <a:headEnd type="none" w="sm" len="sm"/>
                      <a:tailEnd type="none" w="sm" len="sm"/>
                    </a:lnR>
                    <a:lnT w="9525" cap="flat" cmpd="sng">
                      <a:solidFill>
                        <a:srgbClr val="E9EDF3"/>
                      </a:solidFill>
                      <a:prstDash val="solid"/>
                      <a:round/>
                      <a:headEnd type="none" w="sm" len="sm"/>
                      <a:tailEnd type="none" w="sm" len="sm"/>
                    </a:lnT>
                    <a:lnB w="9525" cap="flat" cmpd="sng">
                      <a:solidFill>
                        <a:srgbClr val="E9EDF3"/>
                      </a:solidFill>
                      <a:prstDash val="solid"/>
                      <a:round/>
                      <a:headEnd type="none" w="sm" len="sm"/>
                      <a:tailEnd type="none" w="sm" len="sm"/>
                    </a:lnB>
                    <a:solidFill>
                      <a:srgbClr val="E8F9F1"/>
                    </a:solidFill>
                  </a:tcPr>
                </a:tc>
                <a:tc>
                  <a:txBody>
                    <a:bodyPr/>
                    <a:lstStyle/>
                    <a:p>
                      <a:pPr marL="0" marR="0" lvl="0" indent="0" algn="ctr" rtl="0">
                        <a:spcBef>
                          <a:spcPts val="0"/>
                        </a:spcBef>
                        <a:spcAft>
                          <a:spcPts val="0"/>
                        </a:spcAft>
                        <a:buNone/>
                      </a:pPr>
                      <a:r>
                        <a:rPr lang="en" sz="1000" u="none" strike="noStrike" cap="none">
                          <a:solidFill>
                            <a:srgbClr val="DC2626"/>
                          </a:solidFill>
                          <a:latin typeface="Montserrat Medium"/>
                          <a:ea typeface="Montserrat Medium"/>
                          <a:cs typeface="Montserrat Medium"/>
                          <a:sym typeface="Montserrat Medium"/>
                        </a:rPr>
                        <a:t>75.9%</a:t>
                      </a:r>
                      <a:endParaRPr sz="1000">
                        <a:solidFill>
                          <a:srgbClr val="DC2626"/>
                        </a:solidFill>
                        <a:latin typeface="Montserrat Medium"/>
                        <a:ea typeface="Montserrat Medium"/>
                        <a:cs typeface="Montserrat Medium"/>
                        <a:sym typeface="Montserrat Medium"/>
                      </a:endParaRPr>
                    </a:p>
                  </a:txBody>
                  <a:tcPr marL="73150" marR="73150" marT="18300" marB="18300" anchor="ctr">
                    <a:lnL w="9525" cap="flat" cmpd="sng">
                      <a:solidFill>
                        <a:srgbClr val="E9EDF3"/>
                      </a:solidFill>
                      <a:prstDash val="solid"/>
                      <a:round/>
                      <a:headEnd type="none" w="sm" len="sm"/>
                      <a:tailEnd type="none" w="sm" len="sm"/>
                    </a:lnL>
                    <a:lnR w="9525" cap="flat" cmpd="sng">
                      <a:solidFill>
                        <a:srgbClr val="E9EDF3"/>
                      </a:solidFill>
                      <a:prstDash val="solid"/>
                      <a:round/>
                      <a:headEnd type="none" w="sm" len="sm"/>
                      <a:tailEnd type="none" w="sm" len="sm"/>
                    </a:lnR>
                    <a:lnT w="9525" cap="flat" cmpd="sng">
                      <a:solidFill>
                        <a:srgbClr val="E9EDF3"/>
                      </a:solidFill>
                      <a:prstDash val="solid"/>
                      <a:round/>
                      <a:headEnd type="none" w="sm" len="sm"/>
                      <a:tailEnd type="none" w="sm" len="sm"/>
                    </a:lnT>
                    <a:lnB w="9525" cap="flat" cmpd="sng">
                      <a:solidFill>
                        <a:srgbClr val="E9EDF3"/>
                      </a:solidFill>
                      <a:prstDash val="solid"/>
                      <a:round/>
                      <a:headEnd type="none" w="sm" len="sm"/>
                      <a:tailEnd type="none" w="sm" len="sm"/>
                    </a:lnB>
                    <a:solidFill>
                      <a:srgbClr val="E8F9F1"/>
                    </a:solidFill>
                  </a:tcPr>
                </a:tc>
                <a:extLst>
                  <a:ext uri="{0D108BD9-81ED-4DB2-BD59-A6C34878D82A}">
                    <a16:rowId xmlns:a16="http://schemas.microsoft.com/office/drawing/2014/main" val="10003"/>
                  </a:ext>
                </a:extLst>
              </a:tr>
            </a:tbl>
          </a:graphicData>
        </a:graphic>
      </p:graphicFrame>
      <p:sp>
        <p:nvSpPr>
          <p:cNvPr id="991" name="Google Shape;991;p69"/>
          <p:cNvSpPr/>
          <p:nvPr/>
        </p:nvSpPr>
        <p:spPr>
          <a:xfrm>
            <a:off x="380725" y="3775819"/>
            <a:ext cx="49800" cy="846300"/>
          </a:xfrm>
          <a:prstGeom prst="rect">
            <a:avLst/>
          </a:prstGeom>
          <a:solidFill>
            <a:srgbClr val="1A549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000000"/>
              </a:solidFill>
              <a:latin typeface="Calibri"/>
              <a:ea typeface="Calibri"/>
              <a:cs typeface="Calibri"/>
              <a:sym typeface="Calibri"/>
            </a:endParaRPr>
          </a:p>
        </p:txBody>
      </p:sp>
      <p:grpSp>
        <p:nvGrpSpPr>
          <p:cNvPr id="992" name="Google Shape;992;p69"/>
          <p:cNvGrpSpPr/>
          <p:nvPr/>
        </p:nvGrpSpPr>
        <p:grpSpPr>
          <a:xfrm>
            <a:off x="637888" y="993300"/>
            <a:ext cx="1724700" cy="584700"/>
            <a:chOff x="365750" y="1083800"/>
            <a:chExt cx="1724700" cy="584700"/>
          </a:xfrm>
        </p:grpSpPr>
        <p:sp>
          <p:nvSpPr>
            <p:cNvPr id="993" name="Google Shape;993;p69"/>
            <p:cNvSpPr/>
            <p:nvPr/>
          </p:nvSpPr>
          <p:spPr>
            <a:xfrm>
              <a:off x="365750" y="1083800"/>
              <a:ext cx="1724700" cy="584700"/>
            </a:xfrm>
            <a:prstGeom prst="roundRect">
              <a:avLst>
                <a:gd name="adj" fmla="val 6000"/>
              </a:avLst>
            </a:prstGeom>
            <a:solidFill>
              <a:srgbClr val="FFFFFF"/>
            </a:solidFill>
            <a:ln w="8200" cap="flat" cmpd="sng">
              <a:solidFill>
                <a:srgbClr val="E9EDF3"/>
              </a:solidFill>
              <a:prstDash val="solid"/>
              <a:round/>
              <a:headEnd type="none" w="sm" len="sm"/>
              <a:tailEnd type="none" w="sm" len="sm"/>
            </a:ln>
          </p:spPr>
          <p:txBody>
            <a:bodyPr spcFirstLastPara="1" wrap="square" lIns="59050" tIns="29525" rIns="59050" bIns="29525" anchor="ctr" anchorCtr="0">
              <a:noAutofit/>
            </a:bodyPr>
            <a:lstStyle/>
            <a:p>
              <a:pPr marL="0" marR="0" lvl="0" indent="0" algn="ctr" rtl="0">
                <a:spcBef>
                  <a:spcPts val="0"/>
                </a:spcBef>
                <a:spcAft>
                  <a:spcPts val="0"/>
                </a:spcAft>
                <a:buNone/>
              </a:pPr>
              <a:endParaRPr sz="1163" b="0" i="0" u="none" strike="noStrike" cap="none">
                <a:solidFill>
                  <a:srgbClr val="000000"/>
                </a:solidFill>
                <a:latin typeface="Calibri"/>
                <a:ea typeface="Calibri"/>
                <a:cs typeface="Calibri"/>
                <a:sym typeface="Calibri"/>
              </a:endParaRPr>
            </a:p>
          </p:txBody>
        </p:sp>
        <p:sp>
          <p:nvSpPr>
            <p:cNvPr id="994" name="Google Shape;994;p69"/>
            <p:cNvSpPr/>
            <p:nvPr/>
          </p:nvSpPr>
          <p:spPr>
            <a:xfrm>
              <a:off x="365750" y="1083800"/>
              <a:ext cx="35400" cy="584700"/>
            </a:xfrm>
            <a:prstGeom prst="rect">
              <a:avLst/>
            </a:prstGeom>
            <a:solidFill>
              <a:srgbClr val="FF7F32"/>
            </a:solidFill>
            <a:ln>
              <a:noFill/>
            </a:ln>
          </p:spPr>
          <p:txBody>
            <a:bodyPr spcFirstLastPara="1" wrap="square" lIns="59050" tIns="29525" rIns="59050" bIns="29525" anchor="ctr" anchorCtr="0">
              <a:noAutofit/>
            </a:bodyPr>
            <a:lstStyle/>
            <a:p>
              <a:pPr marL="0" marR="0" lvl="0" indent="0" algn="ctr" rtl="0">
                <a:spcBef>
                  <a:spcPts val="0"/>
                </a:spcBef>
                <a:spcAft>
                  <a:spcPts val="0"/>
                </a:spcAft>
                <a:buNone/>
              </a:pPr>
              <a:endParaRPr sz="1163" b="0" i="0" u="none" strike="noStrike" cap="none">
                <a:solidFill>
                  <a:srgbClr val="000000"/>
                </a:solidFill>
                <a:latin typeface="Calibri"/>
                <a:ea typeface="Calibri"/>
                <a:cs typeface="Calibri"/>
                <a:sym typeface="Calibri"/>
              </a:endParaRPr>
            </a:p>
          </p:txBody>
        </p:sp>
        <p:sp>
          <p:nvSpPr>
            <p:cNvPr id="995" name="Google Shape;995;p69"/>
            <p:cNvSpPr txBox="1"/>
            <p:nvPr/>
          </p:nvSpPr>
          <p:spPr>
            <a:xfrm>
              <a:off x="495688" y="1166491"/>
              <a:ext cx="1488300" cy="2586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 sz="1679" b="1" i="0" u="none" strike="noStrike" cap="none">
                  <a:solidFill>
                    <a:srgbClr val="0E4174"/>
                  </a:solidFill>
                  <a:latin typeface="Quattrocento Sans"/>
                  <a:ea typeface="Quattrocento Sans"/>
                  <a:cs typeface="Quattrocento Sans"/>
                  <a:sym typeface="Quattrocento Sans"/>
                </a:rPr>
                <a:t>2.00</a:t>
              </a:r>
              <a:endParaRPr sz="904"/>
            </a:p>
          </p:txBody>
        </p:sp>
        <p:sp>
          <p:nvSpPr>
            <p:cNvPr id="996" name="Google Shape;996;p69"/>
            <p:cNvSpPr txBox="1"/>
            <p:nvPr/>
          </p:nvSpPr>
          <p:spPr>
            <a:xfrm>
              <a:off x="495688" y="1467733"/>
              <a:ext cx="1488300" cy="1095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 sz="711" b="0" i="0" u="none" strike="noStrike" cap="none">
                  <a:solidFill>
                    <a:srgbClr val="374151"/>
                  </a:solidFill>
                  <a:latin typeface="Quattrocento Sans"/>
                  <a:ea typeface="Quattrocento Sans"/>
                  <a:cs typeface="Quattrocento Sans"/>
                  <a:sym typeface="Quattrocento Sans"/>
                </a:rPr>
                <a:t>Đơn / giờ online</a:t>
              </a:r>
              <a:endParaRPr sz="904"/>
            </a:p>
          </p:txBody>
        </p:sp>
      </p:grpSp>
      <p:grpSp>
        <p:nvGrpSpPr>
          <p:cNvPr id="997" name="Google Shape;997;p69"/>
          <p:cNvGrpSpPr/>
          <p:nvPr/>
        </p:nvGrpSpPr>
        <p:grpSpPr>
          <a:xfrm>
            <a:off x="2707580" y="993300"/>
            <a:ext cx="1724700" cy="584700"/>
            <a:chOff x="2173112" y="1083800"/>
            <a:chExt cx="1724700" cy="584700"/>
          </a:xfrm>
        </p:grpSpPr>
        <p:sp>
          <p:nvSpPr>
            <p:cNvPr id="998" name="Google Shape;998;p69"/>
            <p:cNvSpPr/>
            <p:nvPr/>
          </p:nvSpPr>
          <p:spPr>
            <a:xfrm>
              <a:off x="2173112" y="1083800"/>
              <a:ext cx="1724700" cy="584700"/>
            </a:xfrm>
            <a:prstGeom prst="roundRect">
              <a:avLst>
                <a:gd name="adj" fmla="val 6000"/>
              </a:avLst>
            </a:prstGeom>
            <a:solidFill>
              <a:srgbClr val="FFFFFF"/>
            </a:solidFill>
            <a:ln w="8200" cap="flat" cmpd="sng">
              <a:solidFill>
                <a:srgbClr val="E9EDF3"/>
              </a:solidFill>
              <a:prstDash val="solid"/>
              <a:round/>
              <a:headEnd type="none" w="sm" len="sm"/>
              <a:tailEnd type="none" w="sm" len="sm"/>
            </a:ln>
          </p:spPr>
          <p:txBody>
            <a:bodyPr spcFirstLastPara="1" wrap="square" lIns="59050" tIns="29525" rIns="59050" bIns="29525" anchor="ctr" anchorCtr="0">
              <a:noAutofit/>
            </a:bodyPr>
            <a:lstStyle/>
            <a:p>
              <a:pPr marL="0" marR="0" lvl="0" indent="0" algn="ctr" rtl="0">
                <a:spcBef>
                  <a:spcPts val="0"/>
                </a:spcBef>
                <a:spcAft>
                  <a:spcPts val="0"/>
                </a:spcAft>
                <a:buNone/>
              </a:pPr>
              <a:endParaRPr sz="1163" b="0" i="0" u="none" strike="noStrike" cap="none">
                <a:solidFill>
                  <a:srgbClr val="000000"/>
                </a:solidFill>
                <a:latin typeface="Calibri"/>
                <a:ea typeface="Calibri"/>
                <a:cs typeface="Calibri"/>
                <a:sym typeface="Calibri"/>
              </a:endParaRPr>
            </a:p>
          </p:txBody>
        </p:sp>
        <p:sp>
          <p:nvSpPr>
            <p:cNvPr id="999" name="Google Shape;999;p69"/>
            <p:cNvSpPr/>
            <p:nvPr/>
          </p:nvSpPr>
          <p:spPr>
            <a:xfrm>
              <a:off x="2173112" y="1083800"/>
              <a:ext cx="35400" cy="584700"/>
            </a:xfrm>
            <a:prstGeom prst="rect">
              <a:avLst/>
            </a:prstGeom>
            <a:solidFill>
              <a:srgbClr val="FF7F32"/>
            </a:solidFill>
            <a:ln>
              <a:noFill/>
            </a:ln>
          </p:spPr>
          <p:txBody>
            <a:bodyPr spcFirstLastPara="1" wrap="square" lIns="59050" tIns="29525" rIns="59050" bIns="29525" anchor="ctr" anchorCtr="0">
              <a:noAutofit/>
            </a:bodyPr>
            <a:lstStyle/>
            <a:p>
              <a:pPr marL="0" marR="0" lvl="0" indent="0" algn="ctr" rtl="0">
                <a:spcBef>
                  <a:spcPts val="0"/>
                </a:spcBef>
                <a:spcAft>
                  <a:spcPts val="0"/>
                </a:spcAft>
                <a:buNone/>
              </a:pPr>
              <a:endParaRPr sz="1163" b="0" i="0" u="none" strike="noStrike" cap="none">
                <a:solidFill>
                  <a:srgbClr val="000000"/>
                </a:solidFill>
                <a:latin typeface="Calibri"/>
                <a:ea typeface="Calibri"/>
                <a:cs typeface="Calibri"/>
                <a:sym typeface="Calibri"/>
              </a:endParaRPr>
            </a:p>
          </p:txBody>
        </p:sp>
        <p:sp>
          <p:nvSpPr>
            <p:cNvPr id="1000" name="Google Shape;1000;p69"/>
            <p:cNvSpPr txBox="1"/>
            <p:nvPr/>
          </p:nvSpPr>
          <p:spPr>
            <a:xfrm>
              <a:off x="2303059" y="1166491"/>
              <a:ext cx="1488300" cy="2586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 sz="1679" b="1" i="0" u="none" strike="noStrike" cap="none">
                  <a:solidFill>
                    <a:srgbClr val="0E4174"/>
                  </a:solidFill>
                  <a:latin typeface="Quattrocento Sans"/>
                  <a:ea typeface="Quattrocento Sans"/>
                  <a:cs typeface="Quattrocento Sans"/>
                  <a:sym typeface="Quattrocento Sans"/>
                </a:rPr>
                <a:t>4.63</a:t>
              </a:r>
              <a:endParaRPr sz="904"/>
            </a:p>
          </p:txBody>
        </p:sp>
        <p:sp>
          <p:nvSpPr>
            <p:cNvPr id="1001" name="Google Shape;1001;p69"/>
            <p:cNvSpPr txBox="1"/>
            <p:nvPr/>
          </p:nvSpPr>
          <p:spPr>
            <a:xfrm>
              <a:off x="2303059" y="1467733"/>
              <a:ext cx="1488300" cy="1095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 sz="711" b="0" i="0" u="none" strike="noStrike" cap="none">
                  <a:solidFill>
                    <a:srgbClr val="374151"/>
                  </a:solidFill>
                  <a:latin typeface="Quattrocento Sans"/>
                  <a:ea typeface="Quattrocento Sans"/>
                  <a:cs typeface="Quattrocento Sans"/>
                  <a:sym typeface="Quattrocento Sans"/>
                </a:rPr>
                <a:t>Đơn / ca</a:t>
              </a:r>
              <a:endParaRPr sz="904"/>
            </a:p>
          </p:txBody>
        </p:sp>
      </p:grpSp>
      <p:grpSp>
        <p:nvGrpSpPr>
          <p:cNvPr id="1002" name="Google Shape;1002;p69"/>
          <p:cNvGrpSpPr/>
          <p:nvPr/>
        </p:nvGrpSpPr>
        <p:grpSpPr>
          <a:xfrm>
            <a:off x="4777272" y="993300"/>
            <a:ext cx="1724700" cy="584700"/>
            <a:chOff x="3980490" y="1083800"/>
            <a:chExt cx="1724700" cy="584700"/>
          </a:xfrm>
        </p:grpSpPr>
        <p:sp>
          <p:nvSpPr>
            <p:cNvPr id="1003" name="Google Shape;1003;p69"/>
            <p:cNvSpPr/>
            <p:nvPr/>
          </p:nvSpPr>
          <p:spPr>
            <a:xfrm>
              <a:off x="3980490" y="1083800"/>
              <a:ext cx="1724700" cy="584700"/>
            </a:xfrm>
            <a:prstGeom prst="roundRect">
              <a:avLst>
                <a:gd name="adj" fmla="val 6000"/>
              </a:avLst>
            </a:prstGeom>
            <a:solidFill>
              <a:srgbClr val="FFFFFF"/>
            </a:solidFill>
            <a:ln w="8200" cap="flat" cmpd="sng">
              <a:solidFill>
                <a:srgbClr val="E9EDF3"/>
              </a:solidFill>
              <a:prstDash val="solid"/>
              <a:round/>
              <a:headEnd type="none" w="sm" len="sm"/>
              <a:tailEnd type="none" w="sm" len="sm"/>
            </a:ln>
          </p:spPr>
          <p:txBody>
            <a:bodyPr spcFirstLastPara="1" wrap="square" lIns="59050" tIns="29525" rIns="59050" bIns="29525" anchor="ctr" anchorCtr="0">
              <a:noAutofit/>
            </a:bodyPr>
            <a:lstStyle/>
            <a:p>
              <a:pPr marL="0" marR="0" lvl="0" indent="0" algn="ctr" rtl="0">
                <a:spcBef>
                  <a:spcPts val="0"/>
                </a:spcBef>
                <a:spcAft>
                  <a:spcPts val="0"/>
                </a:spcAft>
                <a:buNone/>
              </a:pPr>
              <a:endParaRPr sz="1163" b="0" i="0" u="none" strike="noStrike" cap="none">
                <a:solidFill>
                  <a:srgbClr val="000000"/>
                </a:solidFill>
                <a:latin typeface="Calibri"/>
                <a:ea typeface="Calibri"/>
                <a:cs typeface="Calibri"/>
                <a:sym typeface="Calibri"/>
              </a:endParaRPr>
            </a:p>
          </p:txBody>
        </p:sp>
        <p:sp>
          <p:nvSpPr>
            <p:cNvPr id="1004" name="Google Shape;1004;p69"/>
            <p:cNvSpPr/>
            <p:nvPr/>
          </p:nvSpPr>
          <p:spPr>
            <a:xfrm>
              <a:off x="3980490" y="1083800"/>
              <a:ext cx="35400" cy="584700"/>
            </a:xfrm>
            <a:prstGeom prst="rect">
              <a:avLst/>
            </a:prstGeom>
            <a:solidFill>
              <a:srgbClr val="FF7F32"/>
            </a:solidFill>
            <a:ln>
              <a:noFill/>
            </a:ln>
          </p:spPr>
          <p:txBody>
            <a:bodyPr spcFirstLastPara="1" wrap="square" lIns="59050" tIns="29525" rIns="59050" bIns="29525" anchor="ctr" anchorCtr="0">
              <a:noAutofit/>
            </a:bodyPr>
            <a:lstStyle/>
            <a:p>
              <a:pPr marL="0" marR="0" lvl="0" indent="0" algn="ctr" rtl="0">
                <a:spcBef>
                  <a:spcPts val="0"/>
                </a:spcBef>
                <a:spcAft>
                  <a:spcPts val="0"/>
                </a:spcAft>
                <a:buNone/>
              </a:pPr>
              <a:endParaRPr sz="1163" b="0" i="0" u="none" strike="noStrike" cap="none">
                <a:solidFill>
                  <a:srgbClr val="000000"/>
                </a:solidFill>
                <a:latin typeface="Calibri"/>
                <a:ea typeface="Calibri"/>
                <a:cs typeface="Calibri"/>
                <a:sym typeface="Calibri"/>
              </a:endParaRPr>
            </a:p>
          </p:txBody>
        </p:sp>
        <p:sp>
          <p:nvSpPr>
            <p:cNvPr id="1005" name="Google Shape;1005;p69"/>
            <p:cNvSpPr txBox="1"/>
            <p:nvPr/>
          </p:nvSpPr>
          <p:spPr>
            <a:xfrm>
              <a:off x="4110430" y="1166491"/>
              <a:ext cx="1488300" cy="2586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 sz="1679" b="1" i="0" u="none" strike="noStrike" cap="none">
                  <a:solidFill>
                    <a:srgbClr val="0E4174"/>
                  </a:solidFill>
                  <a:latin typeface="Quattrocento Sans"/>
                  <a:ea typeface="Quattrocento Sans"/>
                  <a:cs typeface="Quattrocento Sans"/>
                  <a:sym typeface="Quattrocento Sans"/>
                </a:rPr>
                <a:t>78.4%</a:t>
              </a:r>
              <a:endParaRPr sz="904"/>
            </a:p>
          </p:txBody>
        </p:sp>
        <p:sp>
          <p:nvSpPr>
            <p:cNvPr id="1006" name="Google Shape;1006;p69"/>
            <p:cNvSpPr txBox="1"/>
            <p:nvPr/>
          </p:nvSpPr>
          <p:spPr>
            <a:xfrm>
              <a:off x="4110430" y="1467733"/>
              <a:ext cx="1488300" cy="1095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 sz="711">
                  <a:solidFill>
                    <a:srgbClr val="374151"/>
                  </a:solidFill>
                  <a:latin typeface="Quattrocento Sans"/>
                  <a:ea typeface="Quattrocento Sans"/>
                  <a:cs typeface="Quattrocento Sans"/>
                  <a:sym typeface="Quattrocento Sans"/>
                </a:rPr>
                <a:t>Online rate</a:t>
              </a:r>
              <a:endParaRPr sz="904"/>
            </a:p>
          </p:txBody>
        </p:sp>
      </p:grpSp>
      <p:grpSp>
        <p:nvGrpSpPr>
          <p:cNvPr id="1007" name="Google Shape;1007;p69"/>
          <p:cNvGrpSpPr/>
          <p:nvPr/>
        </p:nvGrpSpPr>
        <p:grpSpPr>
          <a:xfrm>
            <a:off x="6846964" y="993300"/>
            <a:ext cx="1724700" cy="584700"/>
            <a:chOff x="5787851" y="1083800"/>
            <a:chExt cx="1724700" cy="584700"/>
          </a:xfrm>
        </p:grpSpPr>
        <p:sp>
          <p:nvSpPr>
            <p:cNvPr id="1008" name="Google Shape;1008;p69"/>
            <p:cNvSpPr/>
            <p:nvPr/>
          </p:nvSpPr>
          <p:spPr>
            <a:xfrm>
              <a:off x="5787851" y="1083800"/>
              <a:ext cx="1724700" cy="584700"/>
            </a:xfrm>
            <a:prstGeom prst="roundRect">
              <a:avLst>
                <a:gd name="adj" fmla="val 6000"/>
              </a:avLst>
            </a:prstGeom>
            <a:solidFill>
              <a:srgbClr val="FFFFFF"/>
            </a:solidFill>
            <a:ln w="8200" cap="flat" cmpd="sng">
              <a:solidFill>
                <a:srgbClr val="E9EDF3"/>
              </a:solidFill>
              <a:prstDash val="solid"/>
              <a:round/>
              <a:headEnd type="none" w="sm" len="sm"/>
              <a:tailEnd type="none" w="sm" len="sm"/>
            </a:ln>
          </p:spPr>
          <p:txBody>
            <a:bodyPr spcFirstLastPara="1" wrap="square" lIns="59050" tIns="29525" rIns="59050" bIns="29525" anchor="ctr" anchorCtr="0">
              <a:noAutofit/>
            </a:bodyPr>
            <a:lstStyle/>
            <a:p>
              <a:pPr marL="0" marR="0" lvl="0" indent="0" algn="ctr" rtl="0">
                <a:spcBef>
                  <a:spcPts val="0"/>
                </a:spcBef>
                <a:spcAft>
                  <a:spcPts val="0"/>
                </a:spcAft>
                <a:buNone/>
              </a:pPr>
              <a:endParaRPr sz="1163" b="0" i="0" u="none" strike="noStrike" cap="none">
                <a:solidFill>
                  <a:srgbClr val="000000"/>
                </a:solidFill>
                <a:latin typeface="Calibri"/>
                <a:ea typeface="Calibri"/>
                <a:cs typeface="Calibri"/>
                <a:sym typeface="Calibri"/>
              </a:endParaRPr>
            </a:p>
          </p:txBody>
        </p:sp>
        <p:sp>
          <p:nvSpPr>
            <p:cNvPr id="1009" name="Google Shape;1009;p69"/>
            <p:cNvSpPr/>
            <p:nvPr/>
          </p:nvSpPr>
          <p:spPr>
            <a:xfrm>
              <a:off x="5787851" y="1083800"/>
              <a:ext cx="35400" cy="584700"/>
            </a:xfrm>
            <a:prstGeom prst="rect">
              <a:avLst/>
            </a:prstGeom>
            <a:solidFill>
              <a:srgbClr val="FF7F32"/>
            </a:solidFill>
            <a:ln>
              <a:noFill/>
            </a:ln>
          </p:spPr>
          <p:txBody>
            <a:bodyPr spcFirstLastPara="1" wrap="square" lIns="59050" tIns="29525" rIns="59050" bIns="29525" anchor="ctr" anchorCtr="0">
              <a:noAutofit/>
            </a:bodyPr>
            <a:lstStyle/>
            <a:p>
              <a:pPr marL="0" marR="0" lvl="0" indent="0" algn="ctr" rtl="0">
                <a:spcBef>
                  <a:spcPts val="0"/>
                </a:spcBef>
                <a:spcAft>
                  <a:spcPts val="0"/>
                </a:spcAft>
                <a:buNone/>
              </a:pPr>
              <a:endParaRPr sz="1163" b="0" i="0" u="none" strike="noStrike" cap="none">
                <a:solidFill>
                  <a:srgbClr val="000000"/>
                </a:solidFill>
                <a:latin typeface="Calibri"/>
                <a:ea typeface="Calibri"/>
                <a:cs typeface="Calibri"/>
                <a:sym typeface="Calibri"/>
              </a:endParaRPr>
            </a:p>
          </p:txBody>
        </p:sp>
        <p:sp>
          <p:nvSpPr>
            <p:cNvPr id="1010" name="Google Shape;1010;p69"/>
            <p:cNvSpPr txBox="1"/>
            <p:nvPr/>
          </p:nvSpPr>
          <p:spPr>
            <a:xfrm>
              <a:off x="5917801" y="1166491"/>
              <a:ext cx="1488300" cy="2586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 sz="1679" b="1" i="0" u="none" strike="noStrike" cap="none">
                  <a:solidFill>
                    <a:srgbClr val="0E4174"/>
                  </a:solidFill>
                  <a:latin typeface="Quattrocento Sans"/>
                  <a:ea typeface="Quattrocento Sans"/>
                  <a:cs typeface="Quattrocento Sans"/>
                  <a:sym typeface="Quattrocento Sans"/>
                </a:rPr>
                <a:t>2.42</a:t>
              </a:r>
              <a:endParaRPr sz="904"/>
            </a:p>
          </p:txBody>
        </p:sp>
        <p:sp>
          <p:nvSpPr>
            <p:cNvPr id="1011" name="Google Shape;1011;p69"/>
            <p:cNvSpPr txBox="1"/>
            <p:nvPr/>
          </p:nvSpPr>
          <p:spPr>
            <a:xfrm>
              <a:off x="5917801" y="1467733"/>
              <a:ext cx="1488300" cy="1095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 sz="711">
                  <a:solidFill>
                    <a:srgbClr val="374151"/>
                  </a:solidFill>
                  <a:latin typeface="Quattrocento Sans"/>
                  <a:ea typeface="Quattrocento Sans"/>
                  <a:cs typeface="Quattrocento Sans"/>
                  <a:sym typeface="Quattrocento Sans"/>
                </a:rPr>
                <a:t>Số ca làm việc trung bình</a:t>
              </a:r>
              <a:endParaRPr sz="904"/>
            </a:p>
          </p:txBody>
        </p:sp>
      </p:grpSp>
      <p:sp>
        <p:nvSpPr>
          <p:cNvPr id="1012" name="Google Shape;1012;p69"/>
          <p:cNvSpPr txBox="1"/>
          <p:nvPr/>
        </p:nvSpPr>
        <p:spPr>
          <a:xfrm>
            <a:off x="430475" y="3714800"/>
            <a:ext cx="4133100" cy="8010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900">
                <a:solidFill>
                  <a:srgbClr val="374151"/>
                </a:solidFill>
                <a:latin typeface="Montserrat Medium"/>
                <a:ea typeface="Montserrat Medium"/>
                <a:cs typeface="Montserrat Medium"/>
                <a:sym typeface="Montserrat Medium"/>
              </a:rPr>
              <a:t>18:00–20:00 thu hút 19% đăng ký nhưng chỉ 35% check-in, 2.26 đơn/ca</a:t>
            </a:r>
            <a:endParaRPr sz="900">
              <a:solidFill>
                <a:schemeClr val="dk1"/>
              </a:solidFill>
              <a:latin typeface="Montserrat Medium"/>
              <a:ea typeface="Montserrat Medium"/>
              <a:cs typeface="Montserrat Medium"/>
              <a:sym typeface="Montserrat Medium"/>
            </a:endParaRPr>
          </a:p>
          <a:p>
            <a:pPr marL="457200" lvl="0" indent="0" algn="l" rtl="0">
              <a:lnSpc>
                <a:spcPct val="115000"/>
              </a:lnSpc>
              <a:spcBef>
                <a:spcPts val="0"/>
              </a:spcBef>
              <a:spcAft>
                <a:spcPts val="0"/>
              </a:spcAft>
              <a:buNone/>
            </a:pPr>
            <a:endParaRPr sz="900">
              <a:solidFill>
                <a:srgbClr val="374151"/>
              </a:solidFill>
              <a:latin typeface="Montserrat Medium"/>
              <a:ea typeface="Montserrat Medium"/>
              <a:cs typeface="Montserrat Medium"/>
              <a:sym typeface="Montserrat Medium"/>
            </a:endParaRPr>
          </a:p>
          <a:p>
            <a:pPr marL="0" lvl="0" indent="0" algn="l" rtl="0">
              <a:lnSpc>
                <a:spcPct val="115000"/>
              </a:lnSpc>
              <a:spcBef>
                <a:spcPts val="0"/>
              </a:spcBef>
              <a:spcAft>
                <a:spcPts val="0"/>
              </a:spcAft>
              <a:buNone/>
            </a:pPr>
            <a:r>
              <a:rPr lang="en" sz="900">
                <a:solidFill>
                  <a:srgbClr val="374151"/>
                </a:solidFill>
                <a:latin typeface="Montserrat Medium"/>
                <a:ea typeface="Montserrat Medium"/>
                <a:cs typeface="Montserrat Medium"/>
                <a:sym typeface="Montserrat Medium"/>
              </a:rPr>
              <a:t>08:00–12:00 tốt nhất: 63.2% check-in, 6.25 đơn/ca (gấp 2.8 lần ca tối).</a:t>
            </a:r>
            <a:endParaRPr sz="900">
              <a:solidFill>
                <a:schemeClr val="dk1"/>
              </a:solidFill>
              <a:latin typeface="Montserrat Medium"/>
              <a:ea typeface="Montserrat Medium"/>
              <a:cs typeface="Montserrat Medium"/>
              <a:sym typeface="Montserrat Medium"/>
            </a:endParaRPr>
          </a:p>
        </p:txBody>
      </p:sp>
      <p:graphicFrame>
        <p:nvGraphicFramePr>
          <p:cNvPr id="1013" name="Google Shape;1013;p69"/>
          <p:cNvGraphicFramePr/>
          <p:nvPr/>
        </p:nvGraphicFramePr>
        <p:xfrm>
          <a:off x="4531575" y="1774500"/>
          <a:ext cx="3000000" cy="3000000"/>
        </p:xfrm>
        <a:graphic>
          <a:graphicData uri="http://schemas.openxmlformats.org/drawingml/2006/table">
            <a:tbl>
              <a:tblPr>
                <a:noFill/>
                <a:tableStyleId>{BD4DB973-2F49-4540-A1CC-0EE3EA8BBFB3}</a:tableStyleId>
              </a:tblPr>
              <a:tblGrid>
                <a:gridCol w="849350">
                  <a:extLst>
                    <a:ext uri="{9D8B030D-6E8A-4147-A177-3AD203B41FA5}">
                      <a16:colId xmlns:a16="http://schemas.microsoft.com/office/drawing/2014/main" val="20000"/>
                    </a:ext>
                  </a:extLst>
                </a:gridCol>
                <a:gridCol w="849350">
                  <a:extLst>
                    <a:ext uri="{9D8B030D-6E8A-4147-A177-3AD203B41FA5}">
                      <a16:colId xmlns:a16="http://schemas.microsoft.com/office/drawing/2014/main" val="20001"/>
                    </a:ext>
                  </a:extLst>
                </a:gridCol>
                <a:gridCol w="849350">
                  <a:extLst>
                    <a:ext uri="{9D8B030D-6E8A-4147-A177-3AD203B41FA5}">
                      <a16:colId xmlns:a16="http://schemas.microsoft.com/office/drawing/2014/main" val="20002"/>
                    </a:ext>
                  </a:extLst>
                </a:gridCol>
                <a:gridCol w="849350">
                  <a:extLst>
                    <a:ext uri="{9D8B030D-6E8A-4147-A177-3AD203B41FA5}">
                      <a16:colId xmlns:a16="http://schemas.microsoft.com/office/drawing/2014/main" val="20003"/>
                    </a:ext>
                  </a:extLst>
                </a:gridCol>
                <a:gridCol w="849350">
                  <a:extLst>
                    <a:ext uri="{9D8B030D-6E8A-4147-A177-3AD203B41FA5}">
                      <a16:colId xmlns:a16="http://schemas.microsoft.com/office/drawing/2014/main" val="20004"/>
                    </a:ext>
                  </a:extLst>
                </a:gridCol>
              </a:tblGrid>
              <a:tr h="365725">
                <a:tc>
                  <a:txBody>
                    <a:bodyPr/>
                    <a:lstStyle/>
                    <a:p>
                      <a:pPr marL="0" lvl="0" indent="0" algn="ctr" rtl="0">
                        <a:lnSpc>
                          <a:spcPct val="115000"/>
                        </a:lnSpc>
                        <a:spcBef>
                          <a:spcPts val="0"/>
                        </a:spcBef>
                        <a:spcAft>
                          <a:spcPts val="0"/>
                        </a:spcAft>
                        <a:buNone/>
                      </a:pPr>
                      <a:r>
                        <a:rPr lang="en" sz="1100">
                          <a:solidFill>
                            <a:srgbClr val="F9F8F8"/>
                          </a:solidFill>
                          <a:latin typeface="Montserrat Medium"/>
                          <a:ea typeface="Montserrat Medium"/>
                          <a:cs typeface="Montserrat Medium"/>
                          <a:sym typeface="Montserrat Medium"/>
                        </a:rPr>
                        <a:t>Ca</a:t>
                      </a:r>
                      <a:endParaRPr sz="1100">
                        <a:solidFill>
                          <a:srgbClr val="F9F8F8"/>
                        </a:solidFill>
                        <a:latin typeface="Montserrat Medium"/>
                        <a:ea typeface="Montserrat Medium"/>
                        <a:cs typeface="Montserrat Medium"/>
                        <a:sym typeface="Montserrat Medium"/>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0E4174"/>
                    </a:solidFill>
                  </a:tcPr>
                </a:tc>
                <a:tc>
                  <a:txBody>
                    <a:bodyPr/>
                    <a:lstStyle/>
                    <a:p>
                      <a:pPr marL="0" lvl="0" indent="0" algn="ctr" rtl="0">
                        <a:lnSpc>
                          <a:spcPct val="115000"/>
                        </a:lnSpc>
                        <a:spcBef>
                          <a:spcPts val="0"/>
                        </a:spcBef>
                        <a:spcAft>
                          <a:spcPts val="0"/>
                        </a:spcAft>
                        <a:buNone/>
                      </a:pPr>
                      <a:r>
                        <a:rPr lang="en" sz="1100">
                          <a:solidFill>
                            <a:srgbClr val="F9F8F8"/>
                          </a:solidFill>
                          <a:latin typeface="Montserrat Medium"/>
                          <a:ea typeface="Montserrat Medium"/>
                          <a:cs typeface="Montserrat Medium"/>
                          <a:sym typeface="Montserrat Medium"/>
                        </a:rPr>
                        <a:t>Đăng ký</a:t>
                      </a:r>
                      <a:endParaRPr sz="1100">
                        <a:solidFill>
                          <a:srgbClr val="F9F8F8"/>
                        </a:solidFill>
                        <a:latin typeface="Montserrat Medium"/>
                        <a:ea typeface="Montserrat Medium"/>
                        <a:cs typeface="Montserrat Medium"/>
                        <a:sym typeface="Montserrat Medium"/>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0E4174"/>
                    </a:solidFill>
                  </a:tcPr>
                </a:tc>
                <a:tc>
                  <a:txBody>
                    <a:bodyPr/>
                    <a:lstStyle/>
                    <a:p>
                      <a:pPr marL="0" lvl="0" indent="0" algn="ctr" rtl="0">
                        <a:lnSpc>
                          <a:spcPct val="115000"/>
                        </a:lnSpc>
                        <a:spcBef>
                          <a:spcPts val="0"/>
                        </a:spcBef>
                        <a:spcAft>
                          <a:spcPts val="0"/>
                        </a:spcAft>
                        <a:buNone/>
                      </a:pPr>
                      <a:r>
                        <a:rPr lang="en" sz="1100">
                          <a:solidFill>
                            <a:srgbClr val="F9F8F8"/>
                          </a:solidFill>
                          <a:latin typeface="Montserrat Medium"/>
                          <a:ea typeface="Montserrat Medium"/>
                          <a:cs typeface="Montserrat Medium"/>
                          <a:sym typeface="Montserrat Medium"/>
                        </a:rPr>
                        <a:t>Check-in</a:t>
                      </a:r>
                      <a:endParaRPr sz="1100">
                        <a:solidFill>
                          <a:srgbClr val="F9F8F8"/>
                        </a:solidFill>
                        <a:latin typeface="Montserrat Medium"/>
                        <a:ea typeface="Montserrat Medium"/>
                        <a:cs typeface="Montserrat Medium"/>
                        <a:sym typeface="Montserrat Medium"/>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0E4174"/>
                    </a:solidFill>
                  </a:tcPr>
                </a:tc>
                <a:tc>
                  <a:txBody>
                    <a:bodyPr/>
                    <a:lstStyle/>
                    <a:p>
                      <a:pPr marL="0" lvl="0" indent="0" algn="ctr" rtl="0">
                        <a:lnSpc>
                          <a:spcPct val="115000"/>
                        </a:lnSpc>
                        <a:spcBef>
                          <a:spcPts val="0"/>
                        </a:spcBef>
                        <a:spcAft>
                          <a:spcPts val="0"/>
                        </a:spcAft>
                        <a:buNone/>
                      </a:pPr>
                      <a:r>
                        <a:rPr lang="en" sz="1100">
                          <a:solidFill>
                            <a:srgbClr val="F9F8F8"/>
                          </a:solidFill>
                          <a:latin typeface="Montserrat Medium"/>
                          <a:ea typeface="Montserrat Medium"/>
                          <a:cs typeface="Montserrat Medium"/>
                          <a:sym typeface="Montserrat Medium"/>
                        </a:rPr>
                        <a:t>Đơn/ca</a:t>
                      </a:r>
                      <a:endParaRPr sz="1100">
                        <a:solidFill>
                          <a:srgbClr val="F9F8F8"/>
                        </a:solidFill>
                        <a:latin typeface="Montserrat Medium"/>
                        <a:ea typeface="Montserrat Medium"/>
                        <a:cs typeface="Montserrat Medium"/>
                        <a:sym typeface="Montserrat Medium"/>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0E4174"/>
                    </a:solidFill>
                  </a:tcPr>
                </a:tc>
                <a:tc>
                  <a:txBody>
                    <a:bodyPr/>
                    <a:lstStyle/>
                    <a:p>
                      <a:pPr marL="0" lvl="0" indent="0" algn="ctr" rtl="0">
                        <a:lnSpc>
                          <a:spcPct val="115000"/>
                        </a:lnSpc>
                        <a:spcBef>
                          <a:spcPts val="0"/>
                        </a:spcBef>
                        <a:spcAft>
                          <a:spcPts val="0"/>
                        </a:spcAft>
                        <a:buNone/>
                      </a:pPr>
                      <a:r>
                        <a:rPr lang="en" sz="1100">
                          <a:solidFill>
                            <a:srgbClr val="F9F8F8"/>
                          </a:solidFill>
                          <a:latin typeface="Montserrat Medium"/>
                          <a:ea typeface="Montserrat Medium"/>
                          <a:cs typeface="Montserrat Medium"/>
                          <a:sym typeface="Montserrat Medium"/>
                        </a:rPr>
                        <a:t>Đơn/giờ</a:t>
                      </a:r>
                      <a:endParaRPr sz="1100">
                        <a:solidFill>
                          <a:srgbClr val="F9F8F8"/>
                        </a:solidFill>
                        <a:latin typeface="Montserrat Medium"/>
                        <a:ea typeface="Montserrat Medium"/>
                        <a:cs typeface="Montserrat Medium"/>
                        <a:sym typeface="Montserrat Medium"/>
                      </a:endParaRPr>
                    </a:p>
                  </a:txBody>
                  <a:tcPr marL="28575" marR="28575" marT="19050" marB="1905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0E4174"/>
                    </a:solidFill>
                  </a:tcPr>
                </a:tc>
                <a:extLst>
                  <a:ext uri="{0D108BD9-81ED-4DB2-BD59-A6C34878D82A}">
                    <a16:rowId xmlns:a16="http://schemas.microsoft.com/office/drawing/2014/main" val="10000"/>
                  </a:ext>
                </a:extLst>
              </a:tr>
              <a:tr h="310900">
                <a:tc>
                  <a:txBody>
                    <a:bodyPr/>
                    <a:lstStyle/>
                    <a:p>
                      <a:pPr marL="0" lvl="0" indent="0" algn="ctr" rtl="0">
                        <a:lnSpc>
                          <a:spcPct val="115000"/>
                        </a:lnSpc>
                        <a:spcBef>
                          <a:spcPts val="0"/>
                        </a:spcBef>
                        <a:spcAft>
                          <a:spcPts val="0"/>
                        </a:spcAft>
                        <a:buNone/>
                      </a:pPr>
                      <a:r>
                        <a:rPr lang="en" sz="900">
                          <a:solidFill>
                            <a:schemeClr val="dk1"/>
                          </a:solidFill>
                          <a:latin typeface="Montserrat Medium"/>
                          <a:ea typeface="Montserrat Medium"/>
                          <a:cs typeface="Montserrat Medium"/>
                          <a:sym typeface="Montserrat Medium"/>
                        </a:rPr>
                        <a:t>14:00–17:00</a:t>
                      </a:r>
                      <a:endParaRPr sz="900">
                        <a:solidFill>
                          <a:schemeClr val="dk1"/>
                        </a:solidFill>
                        <a:latin typeface="Montserrat Medium"/>
                        <a:ea typeface="Montserrat Medium"/>
                        <a:cs typeface="Montserrat Medium"/>
                        <a:sym typeface="Montserrat Medium"/>
                      </a:endParaRPr>
                    </a:p>
                  </a:txBody>
                  <a:tcPr marL="28575" marR="28575" marT="19050" marB="19050" anchor="ctr">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2"/>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900">
                          <a:solidFill>
                            <a:schemeClr val="dk1"/>
                          </a:solidFill>
                          <a:latin typeface="Montserrat Medium"/>
                          <a:ea typeface="Montserrat Medium"/>
                          <a:cs typeface="Montserrat Medium"/>
                          <a:sym typeface="Montserrat Medium"/>
                        </a:rPr>
                        <a:t>113 (22.3%)</a:t>
                      </a:r>
                      <a:endParaRPr sz="900">
                        <a:solidFill>
                          <a:schemeClr val="dk1"/>
                        </a:solidFill>
                        <a:latin typeface="Montserrat Medium"/>
                        <a:ea typeface="Montserrat Medium"/>
                        <a:cs typeface="Montserrat Medium"/>
                        <a:sym typeface="Montserrat Medium"/>
                      </a:endParaRPr>
                    </a:p>
                  </a:txBody>
                  <a:tcPr marL="28575" marR="28575" marT="19050" marB="19050" anchor="ctr">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2"/>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900">
                          <a:solidFill>
                            <a:schemeClr val="dk1"/>
                          </a:solidFill>
                          <a:latin typeface="Montserrat Medium"/>
                          <a:ea typeface="Montserrat Medium"/>
                          <a:cs typeface="Montserrat Medium"/>
                          <a:sym typeface="Montserrat Medium"/>
                        </a:rPr>
                        <a:t>54.90%</a:t>
                      </a:r>
                      <a:endParaRPr sz="900">
                        <a:solidFill>
                          <a:schemeClr val="dk1"/>
                        </a:solidFill>
                        <a:latin typeface="Montserrat Medium"/>
                        <a:ea typeface="Montserrat Medium"/>
                        <a:cs typeface="Montserrat Medium"/>
                        <a:sym typeface="Montserrat Medium"/>
                      </a:endParaRPr>
                    </a:p>
                  </a:txBody>
                  <a:tcPr marL="28575" marR="28575" marT="19050" marB="19050" anchor="ctr">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2"/>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900">
                          <a:solidFill>
                            <a:schemeClr val="dk1"/>
                          </a:solidFill>
                          <a:latin typeface="Montserrat Medium"/>
                          <a:ea typeface="Montserrat Medium"/>
                          <a:cs typeface="Montserrat Medium"/>
                          <a:sym typeface="Montserrat Medium"/>
                        </a:rPr>
                        <a:t>4.84</a:t>
                      </a:r>
                      <a:endParaRPr sz="900">
                        <a:solidFill>
                          <a:schemeClr val="dk1"/>
                        </a:solidFill>
                        <a:latin typeface="Montserrat Medium"/>
                        <a:ea typeface="Montserrat Medium"/>
                        <a:cs typeface="Montserrat Medium"/>
                        <a:sym typeface="Montserrat Medium"/>
                      </a:endParaRPr>
                    </a:p>
                  </a:txBody>
                  <a:tcPr marL="28575" marR="28575" marT="19050" marB="19050" anchor="ctr">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2"/>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900">
                          <a:solidFill>
                            <a:schemeClr val="dk1"/>
                          </a:solidFill>
                          <a:latin typeface="Montserrat Medium"/>
                          <a:ea typeface="Montserrat Medium"/>
                          <a:cs typeface="Montserrat Medium"/>
                          <a:sym typeface="Montserrat Medium"/>
                        </a:rPr>
                        <a:t>2.07</a:t>
                      </a:r>
                      <a:endParaRPr sz="900">
                        <a:solidFill>
                          <a:schemeClr val="dk1"/>
                        </a:solidFill>
                        <a:latin typeface="Montserrat Medium"/>
                        <a:ea typeface="Montserrat Medium"/>
                        <a:cs typeface="Montserrat Medium"/>
                        <a:sym typeface="Montserrat Medium"/>
                      </a:endParaRPr>
                    </a:p>
                  </a:txBody>
                  <a:tcPr marL="28575" marR="28575" marT="19050" marB="19050" anchor="ctr">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2"/>
                      </a:solidFill>
                      <a:prstDash val="solid"/>
                      <a:round/>
                      <a:headEnd type="none" w="sm" len="sm"/>
                      <a:tailEnd type="none" w="sm" len="sm"/>
                    </a:lnB>
                  </a:tcPr>
                </a:tc>
                <a:extLst>
                  <a:ext uri="{0D108BD9-81ED-4DB2-BD59-A6C34878D82A}">
                    <a16:rowId xmlns:a16="http://schemas.microsoft.com/office/drawing/2014/main" val="10001"/>
                  </a:ext>
                </a:extLst>
              </a:tr>
              <a:tr h="310900">
                <a:tc>
                  <a:txBody>
                    <a:bodyPr/>
                    <a:lstStyle/>
                    <a:p>
                      <a:pPr marL="0" lvl="0" indent="0" algn="ctr" rtl="0">
                        <a:lnSpc>
                          <a:spcPct val="115000"/>
                        </a:lnSpc>
                        <a:spcBef>
                          <a:spcPts val="0"/>
                        </a:spcBef>
                        <a:spcAft>
                          <a:spcPts val="0"/>
                        </a:spcAft>
                        <a:buNone/>
                      </a:pPr>
                      <a:r>
                        <a:rPr lang="en" sz="900">
                          <a:solidFill>
                            <a:schemeClr val="dk1"/>
                          </a:solidFill>
                          <a:latin typeface="Montserrat Medium"/>
                          <a:ea typeface="Montserrat Medium"/>
                          <a:cs typeface="Montserrat Medium"/>
                          <a:sym typeface="Montserrat Medium"/>
                        </a:rPr>
                        <a:t>18:00–20:00</a:t>
                      </a:r>
                      <a:endParaRPr sz="900">
                        <a:solidFill>
                          <a:schemeClr val="dk1"/>
                        </a:solidFill>
                        <a:latin typeface="Montserrat Medium"/>
                        <a:ea typeface="Montserrat Medium"/>
                        <a:cs typeface="Montserrat Medium"/>
                        <a:sym typeface="Montserrat Medium"/>
                      </a:endParaRPr>
                    </a:p>
                  </a:txBody>
                  <a:tcPr marL="28575" marR="28575" marT="19050" marB="19050" anchor="ctr">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4CCCC"/>
                    </a:solidFill>
                  </a:tcPr>
                </a:tc>
                <a:tc>
                  <a:txBody>
                    <a:bodyPr/>
                    <a:lstStyle/>
                    <a:p>
                      <a:pPr marL="0" lvl="0" indent="0" algn="ctr" rtl="0">
                        <a:lnSpc>
                          <a:spcPct val="115000"/>
                        </a:lnSpc>
                        <a:spcBef>
                          <a:spcPts val="0"/>
                        </a:spcBef>
                        <a:spcAft>
                          <a:spcPts val="0"/>
                        </a:spcAft>
                        <a:buNone/>
                      </a:pPr>
                      <a:r>
                        <a:rPr lang="en" sz="900">
                          <a:solidFill>
                            <a:schemeClr val="dk1"/>
                          </a:solidFill>
                          <a:latin typeface="Montserrat Medium"/>
                          <a:ea typeface="Montserrat Medium"/>
                          <a:cs typeface="Montserrat Medium"/>
                          <a:sym typeface="Montserrat Medium"/>
                        </a:rPr>
                        <a:t>97 (19.2%)</a:t>
                      </a:r>
                      <a:endParaRPr sz="900">
                        <a:solidFill>
                          <a:schemeClr val="dk1"/>
                        </a:solidFill>
                        <a:latin typeface="Montserrat Medium"/>
                        <a:ea typeface="Montserrat Medium"/>
                        <a:cs typeface="Montserrat Medium"/>
                        <a:sym typeface="Montserrat Medium"/>
                      </a:endParaRPr>
                    </a:p>
                  </a:txBody>
                  <a:tcPr marL="28575" marR="28575" marT="19050" marB="19050" anchor="ctr">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4CCCC"/>
                    </a:solidFill>
                  </a:tcPr>
                </a:tc>
                <a:tc>
                  <a:txBody>
                    <a:bodyPr/>
                    <a:lstStyle/>
                    <a:p>
                      <a:pPr marL="0" lvl="0" indent="0" algn="ctr" rtl="0">
                        <a:lnSpc>
                          <a:spcPct val="115000"/>
                        </a:lnSpc>
                        <a:spcBef>
                          <a:spcPts val="0"/>
                        </a:spcBef>
                        <a:spcAft>
                          <a:spcPts val="0"/>
                        </a:spcAft>
                        <a:buNone/>
                      </a:pPr>
                      <a:r>
                        <a:rPr lang="en" sz="900">
                          <a:solidFill>
                            <a:schemeClr val="dk1"/>
                          </a:solidFill>
                          <a:latin typeface="Montserrat Medium"/>
                          <a:ea typeface="Montserrat Medium"/>
                          <a:cs typeface="Montserrat Medium"/>
                          <a:sym typeface="Montserrat Medium"/>
                        </a:rPr>
                        <a:t>23.70%</a:t>
                      </a:r>
                      <a:endParaRPr sz="900">
                        <a:solidFill>
                          <a:schemeClr val="dk1"/>
                        </a:solidFill>
                        <a:latin typeface="Montserrat Medium"/>
                        <a:ea typeface="Montserrat Medium"/>
                        <a:cs typeface="Montserrat Medium"/>
                        <a:sym typeface="Montserrat Medium"/>
                      </a:endParaRPr>
                    </a:p>
                  </a:txBody>
                  <a:tcPr marL="28575" marR="28575" marT="19050" marB="19050" anchor="ctr">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4CCCC"/>
                    </a:solidFill>
                  </a:tcPr>
                </a:tc>
                <a:tc>
                  <a:txBody>
                    <a:bodyPr/>
                    <a:lstStyle/>
                    <a:p>
                      <a:pPr marL="0" lvl="0" indent="0" algn="ctr" rtl="0">
                        <a:lnSpc>
                          <a:spcPct val="115000"/>
                        </a:lnSpc>
                        <a:spcBef>
                          <a:spcPts val="0"/>
                        </a:spcBef>
                        <a:spcAft>
                          <a:spcPts val="0"/>
                        </a:spcAft>
                        <a:buNone/>
                      </a:pPr>
                      <a:r>
                        <a:rPr lang="en" sz="900">
                          <a:solidFill>
                            <a:schemeClr val="dk1"/>
                          </a:solidFill>
                          <a:latin typeface="Montserrat Medium"/>
                          <a:ea typeface="Montserrat Medium"/>
                          <a:cs typeface="Montserrat Medium"/>
                          <a:sym typeface="Montserrat Medium"/>
                        </a:rPr>
                        <a:t>2.26</a:t>
                      </a:r>
                      <a:endParaRPr sz="900">
                        <a:solidFill>
                          <a:schemeClr val="dk1"/>
                        </a:solidFill>
                        <a:latin typeface="Montserrat Medium"/>
                        <a:ea typeface="Montserrat Medium"/>
                        <a:cs typeface="Montserrat Medium"/>
                        <a:sym typeface="Montserrat Medium"/>
                      </a:endParaRPr>
                    </a:p>
                  </a:txBody>
                  <a:tcPr marL="28575" marR="28575" marT="19050" marB="19050" anchor="ctr">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4CCCC"/>
                    </a:solidFill>
                  </a:tcPr>
                </a:tc>
                <a:tc>
                  <a:txBody>
                    <a:bodyPr/>
                    <a:lstStyle/>
                    <a:p>
                      <a:pPr marL="0" lvl="0" indent="0" algn="ctr" rtl="0">
                        <a:lnSpc>
                          <a:spcPct val="115000"/>
                        </a:lnSpc>
                        <a:spcBef>
                          <a:spcPts val="0"/>
                        </a:spcBef>
                        <a:spcAft>
                          <a:spcPts val="0"/>
                        </a:spcAft>
                        <a:buNone/>
                      </a:pPr>
                      <a:r>
                        <a:rPr lang="en" sz="900">
                          <a:solidFill>
                            <a:schemeClr val="dk1"/>
                          </a:solidFill>
                          <a:latin typeface="Montserrat Medium"/>
                          <a:ea typeface="Montserrat Medium"/>
                          <a:cs typeface="Montserrat Medium"/>
                          <a:sym typeface="Montserrat Medium"/>
                        </a:rPr>
                        <a:t>1.71</a:t>
                      </a:r>
                      <a:endParaRPr sz="900">
                        <a:solidFill>
                          <a:schemeClr val="dk1"/>
                        </a:solidFill>
                        <a:latin typeface="Montserrat Medium"/>
                        <a:ea typeface="Montserrat Medium"/>
                        <a:cs typeface="Montserrat Medium"/>
                        <a:sym typeface="Montserrat Medium"/>
                      </a:endParaRPr>
                    </a:p>
                  </a:txBody>
                  <a:tcPr marL="28575" marR="28575" marT="19050" marB="19050" anchor="ctr">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F4CCCC"/>
                    </a:solidFill>
                  </a:tcPr>
                </a:tc>
                <a:extLst>
                  <a:ext uri="{0D108BD9-81ED-4DB2-BD59-A6C34878D82A}">
                    <a16:rowId xmlns:a16="http://schemas.microsoft.com/office/drawing/2014/main" val="10002"/>
                  </a:ext>
                </a:extLst>
              </a:tr>
              <a:tr h="322475">
                <a:tc>
                  <a:txBody>
                    <a:bodyPr/>
                    <a:lstStyle/>
                    <a:p>
                      <a:pPr marL="0" lvl="0" indent="0" algn="ctr" rtl="0">
                        <a:lnSpc>
                          <a:spcPct val="115000"/>
                        </a:lnSpc>
                        <a:spcBef>
                          <a:spcPts val="0"/>
                        </a:spcBef>
                        <a:spcAft>
                          <a:spcPts val="0"/>
                        </a:spcAft>
                        <a:buNone/>
                      </a:pPr>
                      <a:r>
                        <a:rPr lang="en" sz="900">
                          <a:solidFill>
                            <a:schemeClr val="dk1"/>
                          </a:solidFill>
                          <a:latin typeface="Montserrat Medium"/>
                          <a:ea typeface="Montserrat Medium"/>
                          <a:cs typeface="Montserrat Medium"/>
                          <a:sym typeface="Montserrat Medium"/>
                        </a:rPr>
                        <a:t>08:00–12:00</a:t>
                      </a:r>
                      <a:endParaRPr sz="900">
                        <a:solidFill>
                          <a:schemeClr val="dk1"/>
                        </a:solidFill>
                        <a:latin typeface="Montserrat Medium"/>
                        <a:ea typeface="Montserrat Medium"/>
                        <a:cs typeface="Montserrat Medium"/>
                        <a:sym typeface="Montserrat Medium"/>
                      </a:endParaRPr>
                    </a:p>
                  </a:txBody>
                  <a:tcPr marL="28575" marR="28575" marT="19050" marB="19050" anchor="ctr">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D9EAD3"/>
                    </a:solidFill>
                  </a:tcPr>
                </a:tc>
                <a:tc>
                  <a:txBody>
                    <a:bodyPr/>
                    <a:lstStyle/>
                    <a:p>
                      <a:pPr marL="0" lvl="0" indent="0" algn="ctr" rtl="0">
                        <a:lnSpc>
                          <a:spcPct val="115000"/>
                        </a:lnSpc>
                        <a:spcBef>
                          <a:spcPts val="0"/>
                        </a:spcBef>
                        <a:spcAft>
                          <a:spcPts val="0"/>
                        </a:spcAft>
                        <a:buNone/>
                      </a:pPr>
                      <a:r>
                        <a:rPr lang="en" sz="900">
                          <a:solidFill>
                            <a:schemeClr val="dk1"/>
                          </a:solidFill>
                          <a:latin typeface="Montserrat Medium"/>
                          <a:ea typeface="Montserrat Medium"/>
                          <a:cs typeface="Montserrat Medium"/>
                          <a:sym typeface="Montserrat Medium"/>
                        </a:rPr>
                        <a:t>95 (18.8%)</a:t>
                      </a:r>
                      <a:endParaRPr sz="900">
                        <a:solidFill>
                          <a:schemeClr val="dk1"/>
                        </a:solidFill>
                        <a:latin typeface="Montserrat Medium"/>
                        <a:ea typeface="Montserrat Medium"/>
                        <a:cs typeface="Montserrat Medium"/>
                        <a:sym typeface="Montserrat Medium"/>
                      </a:endParaRPr>
                    </a:p>
                  </a:txBody>
                  <a:tcPr marL="28575" marR="28575" marT="19050" marB="19050" anchor="ctr">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D9EAD3"/>
                    </a:solidFill>
                  </a:tcPr>
                </a:tc>
                <a:tc>
                  <a:txBody>
                    <a:bodyPr/>
                    <a:lstStyle/>
                    <a:p>
                      <a:pPr marL="0" lvl="0" indent="0" algn="ctr" rtl="0">
                        <a:lnSpc>
                          <a:spcPct val="115000"/>
                        </a:lnSpc>
                        <a:spcBef>
                          <a:spcPts val="0"/>
                        </a:spcBef>
                        <a:spcAft>
                          <a:spcPts val="0"/>
                        </a:spcAft>
                        <a:buNone/>
                      </a:pPr>
                      <a:r>
                        <a:rPr lang="en" sz="900">
                          <a:solidFill>
                            <a:schemeClr val="dk1"/>
                          </a:solidFill>
                          <a:latin typeface="Montserrat Medium"/>
                          <a:ea typeface="Montserrat Medium"/>
                          <a:cs typeface="Montserrat Medium"/>
                          <a:sym typeface="Montserrat Medium"/>
                        </a:rPr>
                        <a:t>63.20%</a:t>
                      </a:r>
                      <a:endParaRPr sz="900">
                        <a:solidFill>
                          <a:schemeClr val="dk1"/>
                        </a:solidFill>
                        <a:latin typeface="Montserrat Medium"/>
                        <a:ea typeface="Montserrat Medium"/>
                        <a:cs typeface="Montserrat Medium"/>
                        <a:sym typeface="Montserrat Medium"/>
                      </a:endParaRPr>
                    </a:p>
                  </a:txBody>
                  <a:tcPr marL="28575" marR="28575" marT="19050" marB="19050" anchor="ctr">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D9EAD3"/>
                    </a:solidFill>
                  </a:tcPr>
                </a:tc>
                <a:tc>
                  <a:txBody>
                    <a:bodyPr/>
                    <a:lstStyle/>
                    <a:p>
                      <a:pPr marL="0" lvl="0" indent="0" algn="ctr" rtl="0">
                        <a:lnSpc>
                          <a:spcPct val="115000"/>
                        </a:lnSpc>
                        <a:spcBef>
                          <a:spcPts val="0"/>
                        </a:spcBef>
                        <a:spcAft>
                          <a:spcPts val="0"/>
                        </a:spcAft>
                        <a:buNone/>
                      </a:pPr>
                      <a:r>
                        <a:rPr lang="en" sz="900">
                          <a:solidFill>
                            <a:schemeClr val="dk1"/>
                          </a:solidFill>
                          <a:latin typeface="Montserrat Medium"/>
                          <a:ea typeface="Montserrat Medium"/>
                          <a:cs typeface="Montserrat Medium"/>
                          <a:sym typeface="Montserrat Medium"/>
                        </a:rPr>
                        <a:t>6.25</a:t>
                      </a:r>
                      <a:endParaRPr sz="900">
                        <a:solidFill>
                          <a:schemeClr val="dk1"/>
                        </a:solidFill>
                        <a:latin typeface="Montserrat Medium"/>
                        <a:ea typeface="Montserrat Medium"/>
                        <a:cs typeface="Montserrat Medium"/>
                        <a:sym typeface="Montserrat Medium"/>
                      </a:endParaRPr>
                    </a:p>
                  </a:txBody>
                  <a:tcPr marL="28575" marR="28575" marT="19050" marB="19050" anchor="ctr">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D9EAD3"/>
                    </a:solidFill>
                  </a:tcPr>
                </a:tc>
                <a:tc>
                  <a:txBody>
                    <a:bodyPr/>
                    <a:lstStyle/>
                    <a:p>
                      <a:pPr marL="0" lvl="0" indent="0" algn="ctr" rtl="0">
                        <a:lnSpc>
                          <a:spcPct val="115000"/>
                        </a:lnSpc>
                        <a:spcBef>
                          <a:spcPts val="0"/>
                        </a:spcBef>
                        <a:spcAft>
                          <a:spcPts val="0"/>
                        </a:spcAft>
                        <a:buNone/>
                      </a:pPr>
                      <a:r>
                        <a:rPr lang="en" sz="900">
                          <a:solidFill>
                            <a:schemeClr val="dk1"/>
                          </a:solidFill>
                          <a:latin typeface="Montserrat Medium"/>
                          <a:ea typeface="Montserrat Medium"/>
                          <a:cs typeface="Montserrat Medium"/>
                          <a:sym typeface="Montserrat Medium"/>
                        </a:rPr>
                        <a:t>2.06</a:t>
                      </a:r>
                      <a:endParaRPr sz="900">
                        <a:solidFill>
                          <a:schemeClr val="dk1"/>
                        </a:solidFill>
                        <a:latin typeface="Montserrat Medium"/>
                        <a:ea typeface="Montserrat Medium"/>
                        <a:cs typeface="Montserrat Medium"/>
                        <a:sym typeface="Montserrat Medium"/>
                      </a:endParaRPr>
                    </a:p>
                  </a:txBody>
                  <a:tcPr marL="28575" marR="28575" marT="19050" marB="19050" anchor="ctr">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rgbClr val="D9EAD3"/>
                    </a:solidFill>
                  </a:tcPr>
                </a:tc>
                <a:extLst>
                  <a:ext uri="{0D108BD9-81ED-4DB2-BD59-A6C34878D82A}">
                    <a16:rowId xmlns:a16="http://schemas.microsoft.com/office/drawing/2014/main" val="10003"/>
                  </a:ext>
                </a:extLst>
              </a:tr>
              <a:tr h="322475">
                <a:tc>
                  <a:txBody>
                    <a:bodyPr/>
                    <a:lstStyle/>
                    <a:p>
                      <a:pPr marL="0" lvl="0" indent="0" algn="ctr" rtl="0">
                        <a:lnSpc>
                          <a:spcPct val="115000"/>
                        </a:lnSpc>
                        <a:spcBef>
                          <a:spcPts val="0"/>
                        </a:spcBef>
                        <a:spcAft>
                          <a:spcPts val="0"/>
                        </a:spcAft>
                        <a:buNone/>
                      </a:pPr>
                      <a:r>
                        <a:rPr lang="en" sz="900">
                          <a:solidFill>
                            <a:schemeClr val="dk1"/>
                          </a:solidFill>
                          <a:latin typeface="Montserrat Medium"/>
                          <a:ea typeface="Montserrat Medium"/>
                          <a:cs typeface="Montserrat Medium"/>
                          <a:sym typeface="Montserrat Medium"/>
                        </a:rPr>
                        <a:t>17:01–20:00</a:t>
                      </a:r>
                      <a:endParaRPr sz="900">
                        <a:solidFill>
                          <a:schemeClr val="dk1"/>
                        </a:solidFill>
                        <a:latin typeface="Montserrat Medium"/>
                        <a:ea typeface="Montserrat Medium"/>
                        <a:cs typeface="Montserrat Medium"/>
                        <a:sym typeface="Montserrat Medium"/>
                      </a:endParaRPr>
                    </a:p>
                  </a:txBody>
                  <a:tcPr marL="28575" marR="28575" marT="19050" marB="19050" anchor="ctr">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900">
                          <a:solidFill>
                            <a:schemeClr val="dk1"/>
                          </a:solidFill>
                          <a:latin typeface="Montserrat Medium"/>
                          <a:ea typeface="Montserrat Medium"/>
                          <a:cs typeface="Montserrat Medium"/>
                          <a:sym typeface="Montserrat Medium"/>
                        </a:rPr>
                        <a:t>80 (15.8%)</a:t>
                      </a:r>
                      <a:endParaRPr sz="900">
                        <a:solidFill>
                          <a:schemeClr val="dk1"/>
                        </a:solidFill>
                        <a:latin typeface="Montserrat Medium"/>
                        <a:ea typeface="Montserrat Medium"/>
                        <a:cs typeface="Montserrat Medium"/>
                        <a:sym typeface="Montserrat Medium"/>
                      </a:endParaRPr>
                    </a:p>
                  </a:txBody>
                  <a:tcPr marL="28575" marR="28575" marT="19050" marB="19050" anchor="ctr">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900">
                          <a:solidFill>
                            <a:schemeClr val="dk1"/>
                          </a:solidFill>
                          <a:latin typeface="Montserrat Medium"/>
                          <a:ea typeface="Montserrat Medium"/>
                          <a:cs typeface="Montserrat Medium"/>
                          <a:sym typeface="Montserrat Medium"/>
                        </a:rPr>
                        <a:t>48.80%</a:t>
                      </a:r>
                      <a:endParaRPr sz="900">
                        <a:solidFill>
                          <a:schemeClr val="dk1"/>
                        </a:solidFill>
                        <a:latin typeface="Montserrat Medium"/>
                        <a:ea typeface="Montserrat Medium"/>
                        <a:cs typeface="Montserrat Medium"/>
                        <a:sym typeface="Montserrat Medium"/>
                      </a:endParaRPr>
                    </a:p>
                  </a:txBody>
                  <a:tcPr marL="28575" marR="28575" marT="19050" marB="19050" anchor="ctr">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900">
                          <a:solidFill>
                            <a:schemeClr val="dk1"/>
                          </a:solidFill>
                          <a:latin typeface="Montserrat Medium"/>
                          <a:ea typeface="Montserrat Medium"/>
                          <a:cs typeface="Montserrat Medium"/>
                          <a:sym typeface="Montserrat Medium"/>
                        </a:rPr>
                        <a:t>4.08</a:t>
                      </a:r>
                      <a:endParaRPr sz="900">
                        <a:solidFill>
                          <a:schemeClr val="dk1"/>
                        </a:solidFill>
                        <a:latin typeface="Montserrat Medium"/>
                        <a:ea typeface="Montserrat Medium"/>
                        <a:cs typeface="Montserrat Medium"/>
                        <a:sym typeface="Montserrat Medium"/>
                      </a:endParaRPr>
                    </a:p>
                  </a:txBody>
                  <a:tcPr marL="28575" marR="28575" marT="19050" marB="19050" anchor="ctr">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900">
                          <a:solidFill>
                            <a:schemeClr val="dk1"/>
                          </a:solidFill>
                          <a:latin typeface="Montserrat Medium"/>
                          <a:ea typeface="Montserrat Medium"/>
                          <a:cs typeface="Montserrat Medium"/>
                          <a:sym typeface="Montserrat Medium"/>
                        </a:rPr>
                        <a:t>1.75</a:t>
                      </a:r>
                      <a:endParaRPr sz="900">
                        <a:solidFill>
                          <a:schemeClr val="dk1"/>
                        </a:solidFill>
                        <a:latin typeface="Montserrat Medium"/>
                        <a:ea typeface="Montserrat Medium"/>
                        <a:cs typeface="Montserrat Medium"/>
                        <a:sym typeface="Montserrat Medium"/>
                      </a:endParaRPr>
                    </a:p>
                  </a:txBody>
                  <a:tcPr marL="28575" marR="28575" marT="19050" marB="19050" anchor="ctr">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tcPr>
                </a:tc>
                <a:extLst>
                  <a:ext uri="{0D108BD9-81ED-4DB2-BD59-A6C34878D82A}">
                    <a16:rowId xmlns:a16="http://schemas.microsoft.com/office/drawing/2014/main" val="10004"/>
                  </a:ext>
                </a:extLst>
              </a:tr>
              <a:tr h="322475">
                <a:tc>
                  <a:txBody>
                    <a:bodyPr/>
                    <a:lstStyle/>
                    <a:p>
                      <a:pPr marL="0" lvl="0" indent="0" algn="ctr" rtl="0">
                        <a:lnSpc>
                          <a:spcPct val="115000"/>
                        </a:lnSpc>
                        <a:spcBef>
                          <a:spcPts val="0"/>
                        </a:spcBef>
                        <a:spcAft>
                          <a:spcPts val="0"/>
                        </a:spcAft>
                        <a:buNone/>
                      </a:pPr>
                      <a:r>
                        <a:rPr lang="en" sz="900">
                          <a:solidFill>
                            <a:schemeClr val="dk1"/>
                          </a:solidFill>
                          <a:latin typeface="Montserrat Medium"/>
                          <a:ea typeface="Montserrat Medium"/>
                          <a:cs typeface="Montserrat Medium"/>
                          <a:sym typeface="Montserrat Medium"/>
                        </a:rPr>
                        <a:t>14:30–16:30</a:t>
                      </a:r>
                      <a:endParaRPr sz="900">
                        <a:solidFill>
                          <a:schemeClr val="dk1"/>
                        </a:solidFill>
                        <a:latin typeface="Montserrat Medium"/>
                        <a:ea typeface="Montserrat Medium"/>
                        <a:cs typeface="Montserrat Medium"/>
                        <a:sym typeface="Montserrat Medium"/>
                      </a:endParaRPr>
                    </a:p>
                  </a:txBody>
                  <a:tcPr marL="28575" marR="28575" marT="19050" marB="19050" anchor="ctr">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900">
                          <a:solidFill>
                            <a:schemeClr val="dk1"/>
                          </a:solidFill>
                          <a:latin typeface="Montserrat Medium"/>
                          <a:ea typeface="Montserrat Medium"/>
                          <a:cs typeface="Montserrat Medium"/>
                          <a:sym typeface="Montserrat Medium"/>
                        </a:rPr>
                        <a:t>33 (6.5%)</a:t>
                      </a:r>
                      <a:endParaRPr sz="900">
                        <a:solidFill>
                          <a:schemeClr val="dk1"/>
                        </a:solidFill>
                        <a:latin typeface="Montserrat Medium"/>
                        <a:ea typeface="Montserrat Medium"/>
                        <a:cs typeface="Montserrat Medium"/>
                        <a:sym typeface="Montserrat Medium"/>
                      </a:endParaRPr>
                    </a:p>
                  </a:txBody>
                  <a:tcPr marL="28575" marR="28575" marT="19050" marB="19050" anchor="ctr">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900">
                          <a:solidFill>
                            <a:schemeClr val="dk1"/>
                          </a:solidFill>
                          <a:latin typeface="Montserrat Medium"/>
                          <a:ea typeface="Montserrat Medium"/>
                          <a:cs typeface="Montserrat Medium"/>
                          <a:sym typeface="Montserrat Medium"/>
                        </a:rPr>
                        <a:t>36.40%</a:t>
                      </a:r>
                      <a:endParaRPr sz="900">
                        <a:solidFill>
                          <a:schemeClr val="dk1"/>
                        </a:solidFill>
                        <a:latin typeface="Montserrat Medium"/>
                        <a:ea typeface="Montserrat Medium"/>
                        <a:cs typeface="Montserrat Medium"/>
                        <a:sym typeface="Montserrat Medium"/>
                      </a:endParaRPr>
                    </a:p>
                  </a:txBody>
                  <a:tcPr marL="28575" marR="28575" marT="19050" marB="19050" anchor="ctr">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900">
                          <a:solidFill>
                            <a:schemeClr val="dk1"/>
                          </a:solidFill>
                          <a:latin typeface="Montserrat Medium"/>
                          <a:ea typeface="Montserrat Medium"/>
                          <a:cs typeface="Montserrat Medium"/>
                          <a:sym typeface="Montserrat Medium"/>
                        </a:rPr>
                        <a:t>3.25</a:t>
                      </a:r>
                      <a:endParaRPr sz="900">
                        <a:solidFill>
                          <a:schemeClr val="dk1"/>
                        </a:solidFill>
                        <a:latin typeface="Montserrat Medium"/>
                        <a:ea typeface="Montserrat Medium"/>
                        <a:cs typeface="Montserrat Medium"/>
                        <a:sym typeface="Montserrat Medium"/>
                      </a:endParaRPr>
                    </a:p>
                  </a:txBody>
                  <a:tcPr marL="28575" marR="28575" marT="19050" marB="19050" anchor="ctr">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900">
                          <a:solidFill>
                            <a:schemeClr val="dk1"/>
                          </a:solidFill>
                          <a:latin typeface="Montserrat Medium"/>
                          <a:ea typeface="Montserrat Medium"/>
                          <a:cs typeface="Montserrat Medium"/>
                          <a:sym typeface="Montserrat Medium"/>
                        </a:rPr>
                        <a:t>1.9</a:t>
                      </a:r>
                      <a:endParaRPr sz="900">
                        <a:solidFill>
                          <a:schemeClr val="dk1"/>
                        </a:solidFill>
                        <a:latin typeface="Montserrat Medium"/>
                        <a:ea typeface="Montserrat Medium"/>
                        <a:cs typeface="Montserrat Medium"/>
                        <a:sym typeface="Montserrat Medium"/>
                      </a:endParaRPr>
                    </a:p>
                  </a:txBody>
                  <a:tcPr marL="28575" marR="28575" marT="19050" marB="19050" anchor="ctr">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tcPr>
                </a:tc>
                <a:extLst>
                  <a:ext uri="{0D108BD9-81ED-4DB2-BD59-A6C34878D82A}">
                    <a16:rowId xmlns:a16="http://schemas.microsoft.com/office/drawing/2014/main" val="10005"/>
                  </a:ext>
                </a:extLst>
              </a:tr>
              <a:tr h="322475">
                <a:tc>
                  <a:txBody>
                    <a:bodyPr/>
                    <a:lstStyle/>
                    <a:p>
                      <a:pPr marL="0" lvl="0" indent="0" algn="ctr" rtl="0">
                        <a:lnSpc>
                          <a:spcPct val="115000"/>
                        </a:lnSpc>
                        <a:spcBef>
                          <a:spcPts val="0"/>
                        </a:spcBef>
                        <a:spcAft>
                          <a:spcPts val="0"/>
                        </a:spcAft>
                        <a:buNone/>
                      </a:pPr>
                      <a:r>
                        <a:rPr lang="en" sz="900">
                          <a:solidFill>
                            <a:schemeClr val="dk1"/>
                          </a:solidFill>
                          <a:latin typeface="Montserrat Medium"/>
                          <a:ea typeface="Montserrat Medium"/>
                          <a:cs typeface="Montserrat Medium"/>
                          <a:sym typeface="Montserrat Medium"/>
                        </a:rPr>
                        <a:t>15:00–17:00</a:t>
                      </a:r>
                      <a:endParaRPr sz="900">
                        <a:solidFill>
                          <a:schemeClr val="dk1"/>
                        </a:solidFill>
                        <a:latin typeface="Montserrat Medium"/>
                        <a:ea typeface="Montserrat Medium"/>
                        <a:cs typeface="Montserrat Medium"/>
                        <a:sym typeface="Montserrat Medium"/>
                      </a:endParaRPr>
                    </a:p>
                  </a:txBody>
                  <a:tcPr marL="28575" marR="28575" marT="19050" marB="19050" anchor="ctr">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900">
                          <a:solidFill>
                            <a:schemeClr val="dk1"/>
                          </a:solidFill>
                          <a:latin typeface="Montserrat Medium"/>
                          <a:ea typeface="Montserrat Medium"/>
                          <a:cs typeface="Montserrat Medium"/>
                          <a:sym typeface="Montserrat Medium"/>
                        </a:rPr>
                        <a:t>28 (5.5%)</a:t>
                      </a:r>
                      <a:endParaRPr sz="900">
                        <a:solidFill>
                          <a:schemeClr val="dk1"/>
                        </a:solidFill>
                        <a:latin typeface="Montserrat Medium"/>
                        <a:ea typeface="Montserrat Medium"/>
                        <a:cs typeface="Montserrat Medium"/>
                        <a:sym typeface="Montserrat Medium"/>
                      </a:endParaRPr>
                    </a:p>
                  </a:txBody>
                  <a:tcPr marL="28575" marR="28575" marT="19050" marB="19050" anchor="ctr">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900">
                          <a:solidFill>
                            <a:schemeClr val="dk1"/>
                          </a:solidFill>
                          <a:latin typeface="Montserrat Medium"/>
                          <a:ea typeface="Montserrat Medium"/>
                          <a:cs typeface="Montserrat Medium"/>
                          <a:sym typeface="Montserrat Medium"/>
                        </a:rPr>
                        <a:t>64.30%</a:t>
                      </a:r>
                      <a:endParaRPr sz="900">
                        <a:solidFill>
                          <a:schemeClr val="dk1"/>
                        </a:solidFill>
                        <a:latin typeface="Montserrat Medium"/>
                        <a:ea typeface="Montserrat Medium"/>
                        <a:cs typeface="Montserrat Medium"/>
                        <a:sym typeface="Montserrat Medium"/>
                      </a:endParaRPr>
                    </a:p>
                  </a:txBody>
                  <a:tcPr marL="28575" marR="28575" marT="19050" marB="19050" anchor="ctr">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900">
                          <a:solidFill>
                            <a:schemeClr val="dk1"/>
                          </a:solidFill>
                          <a:latin typeface="Montserrat Medium"/>
                          <a:ea typeface="Montserrat Medium"/>
                          <a:cs typeface="Montserrat Medium"/>
                          <a:sym typeface="Montserrat Medium"/>
                        </a:rPr>
                        <a:t>4.44</a:t>
                      </a:r>
                      <a:endParaRPr sz="900">
                        <a:solidFill>
                          <a:schemeClr val="dk1"/>
                        </a:solidFill>
                        <a:latin typeface="Montserrat Medium"/>
                        <a:ea typeface="Montserrat Medium"/>
                        <a:cs typeface="Montserrat Medium"/>
                        <a:sym typeface="Montserrat Medium"/>
                      </a:endParaRPr>
                    </a:p>
                  </a:txBody>
                  <a:tcPr marL="28575" marR="28575" marT="19050" marB="19050" anchor="ctr">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900">
                          <a:solidFill>
                            <a:schemeClr val="dk1"/>
                          </a:solidFill>
                          <a:latin typeface="Montserrat Medium"/>
                          <a:ea typeface="Montserrat Medium"/>
                          <a:cs typeface="Montserrat Medium"/>
                          <a:sym typeface="Montserrat Medium"/>
                        </a:rPr>
                        <a:t>2.41</a:t>
                      </a:r>
                      <a:endParaRPr sz="900">
                        <a:solidFill>
                          <a:schemeClr val="dk1"/>
                        </a:solidFill>
                        <a:latin typeface="Montserrat Medium"/>
                        <a:ea typeface="Montserrat Medium"/>
                        <a:cs typeface="Montserrat Medium"/>
                        <a:sym typeface="Montserrat Medium"/>
                      </a:endParaRPr>
                    </a:p>
                  </a:txBody>
                  <a:tcPr marL="28575" marR="28575" marT="19050" marB="19050" anchor="ctr">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tcPr>
                </a:tc>
                <a:extLst>
                  <a:ext uri="{0D108BD9-81ED-4DB2-BD59-A6C34878D82A}">
                    <a16:rowId xmlns:a16="http://schemas.microsoft.com/office/drawing/2014/main" val="10006"/>
                  </a:ext>
                </a:extLst>
              </a:tr>
              <a:tr h="322475">
                <a:tc>
                  <a:txBody>
                    <a:bodyPr/>
                    <a:lstStyle/>
                    <a:p>
                      <a:pPr marL="0" lvl="0" indent="0" algn="ctr" rtl="0">
                        <a:lnSpc>
                          <a:spcPct val="115000"/>
                        </a:lnSpc>
                        <a:spcBef>
                          <a:spcPts val="0"/>
                        </a:spcBef>
                        <a:spcAft>
                          <a:spcPts val="0"/>
                        </a:spcAft>
                        <a:buNone/>
                      </a:pPr>
                      <a:r>
                        <a:rPr lang="en" sz="900">
                          <a:solidFill>
                            <a:schemeClr val="dk1"/>
                          </a:solidFill>
                          <a:latin typeface="Montserrat Medium"/>
                          <a:ea typeface="Montserrat Medium"/>
                          <a:cs typeface="Montserrat Medium"/>
                          <a:sym typeface="Montserrat Medium"/>
                        </a:rPr>
                        <a:t>10:00–12:00</a:t>
                      </a:r>
                      <a:endParaRPr sz="900">
                        <a:solidFill>
                          <a:schemeClr val="dk1"/>
                        </a:solidFill>
                        <a:latin typeface="Montserrat Medium"/>
                        <a:ea typeface="Montserrat Medium"/>
                        <a:cs typeface="Montserrat Medium"/>
                        <a:sym typeface="Montserrat Medium"/>
                      </a:endParaRPr>
                    </a:p>
                  </a:txBody>
                  <a:tcPr marL="28575" marR="28575" marT="19050" marB="19050" anchor="ctr">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900">
                          <a:solidFill>
                            <a:schemeClr val="dk1"/>
                          </a:solidFill>
                          <a:latin typeface="Montserrat Medium"/>
                          <a:ea typeface="Montserrat Medium"/>
                          <a:cs typeface="Montserrat Medium"/>
                          <a:sym typeface="Montserrat Medium"/>
                        </a:rPr>
                        <a:t>25 (4.9%)</a:t>
                      </a:r>
                      <a:endParaRPr sz="900">
                        <a:solidFill>
                          <a:schemeClr val="dk1"/>
                        </a:solidFill>
                        <a:latin typeface="Montserrat Medium"/>
                        <a:ea typeface="Montserrat Medium"/>
                        <a:cs typeface="Montserrat Medium"/>
                        <a:sym typeface="Montserrat Medium"/>
                      </a:endParaRPr>
                    </a:p>
                  </a:txBody>
                  <a:tcPr marL="28575" marR="28575" marT="19050" marB="19050" anchor="ctr">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900">
                          <a:solidFill>
                            <a:schemeClr val="dk1"/>
                          </a:solidFill>
                          <a:latin typeface="Montserrat Medium"/>
                          <a:ea typeface="Montserrat Medium"/>
                          <a:cs typeface="Montserrat Medium"/>
                          <a:sym typeface="Montserrat Medium"/>
                        </a:rPr>
                        <a:t>60.00%</a:t>
                      </a:r>
                      <a:endParaRPr sz="900">
                        <a:solidFill>
                          <a:schemeClr val="dk1"/>
                        </a:solidFill>
                        <a:latin typeface="Montserrat Medium"/>
                        <a:ea typeface="Montserrat Medium"/>
                        <a:cs typeface="Montserrat Medium"/>
                        <a:sym typeface="Montserrat Medium"/>
                      </a:endParaRPr>
                    </a:p>
                  </a:txBody>
                  <a:tcPr marL="28575" marR="28575" marT="19050" marB="19050" anchor="ctr">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900">
                          <a:solidFill>
                            <a:schemeClr val="dk1"/>
                          </a:solidFill>
                          <a:latin typeface="Montserrat Medium"/>
                          <a:ea typeface="Montserrat Medium"/>
                          <a:cs typeface="Montserrat Medium"/>
                          <a:sym typeface="Montserrat Medium"/>
                        </a:rPr>
                        <a:t>3.67</a:t>
                      </a:r>
                      <a:endParaRPr sz="900">
                        <a:solidFill>
                          <a:schemeClr val="dk1"/>
                        </a:solidFill>
                        <a:latin typeface="Montserrat Medium"/>
                        <a:ea typeface="Montserrat Medium"/>
                        <a:cs typeface="Montserrat Medium"/>
                        <a:sym typeface="Montserrat Medium"/>
                      </a:endParaRPr>
                    </a:p>
                  </a:txBody>
                  <a:tcPr marL="28575" marR="28575" marT="19050" marB="19050" anchor="ctr">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900">
                          <a:solidFill>
                            <a:schemeClr val="dk1"/>
                          </a:solidFill>
                          <a:latin typeface="Montserrat Medium"/>
                          <a:ea typeface="Montserrat Medium"/>
                          <a:cs typeface="Montserrat Medium"/>
                          <a:sym typeface="Montserrat Medium"/>
                        </a:rPr>
                        <a:t>2.12</a:t>
                      </a:r>
                      <a:endParaRPr sz="900">
                        <a:solidFill>
                          <a:schemeClr val="dk1"/>
                        </a:solidFill>
                        <a:latin typeface="Montserrat Medium"/>
                        <a:ea typeface="Montserrat Medium"/>
                        <a:cs typeface="Montserrat Medium"/>
                        <a:sym typeface="Montserrat Medium"/>
                      </a:endParaRPr>
                    </a:p>
                  </a:txBody>
                  <a:tcPr marL="28575" marR="28575" marT="19050" marB="19050" anchor="ctr">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tcPr>
                </a:tc>
                <a:extLst>
                  <a:ext uri="{0D108BD9-81ED-4DB2-BD59-A6C34878D82A}">
                    <a16:rowId xmlns:a16="http://schemas.microsoft.com/office/drawing/2014/main" val="10007"/>
                  </a:ext>
                </a:extLst>
              </a:tr>
              <a:tr h="322475">
                <a:tc>
                  <a:txBody>
                    <a:bodyPr/>
                    <a:lstStyle/>
                    <a:p>
                      <a:pPr marL="0" lvl="0" indent="0" algn="ctr" rtl="0">
                        <a:lnSpc>
                          <a:spcPct val="115000"/>
                        </a:lnSpc>
                        <a:spcBef>
                          <a:spcPts val="0"/>
                        </a:spcBef>
                        <a:spcAft>
                          <a:spcPts val="0"/>
                        </a:spcAft>
                        <a:buNone/>
                      </a:pPr>
                      <a:r>
                        <a:rPr lang="en" sz="900">
                          <a:solidFill>
                            <a:schemeClr val="dk1"/>
                          </a:solidFill>
                          <a:latin typeface="Montserrat Medium"/>
                          <a:ea typeface="Montserrat Medium"/>
                          <a:cs typeface="Montserrat Medium"/>
                          <a:sym typeface="Montserrat Medium"/>
                        </a:rPr>
                        <a:t>09:00–12:00</a:t>
                      </a:r>
                      <a:endParaRPr sz="900">
                        <a:solidFill>
                          <a:schemeClr val="dk1"/>
                        </a:solidFill>
                        <a:latin typeface="Montserrat Medium"/>
                        <a:ea typeface="Montserrat Medium"/>
                        <a:cs typeface="Montserrat Medium"/>
                        <a:sym typeface="Montserrat Medium"/>
                      </a:endParaRPr>
                    </a:p>
                  </a:txBody>
                  <a:tcPr marL="28575" marR="28575" marT="19050" marB="19050" anchor="ctr">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900">
                          <a:solidFill>
                            <a:schemeClr val="dk1"/>
                          </a:solidFill>
                          <a:latin typeface="Montserrat Medium"/>
                          <a:ea typeface="Montserrat Medium"/>
                          <a:cs typeface="Montserrat Medium"/>
                          <a:sym typeface="Montserrat Medium"/>
                        </a:rPr>
                        <a:t>23 (4.5%)</a:t>
                      </a:r>
                      <a:endParaRPr sz="900">
                        <a:solidFill>
                          <a:schemeClr val="dk1"/>
                        </a:solidFill>
                        <a:latin typeface="Montserrat Medium"/>
                        <a:ea typeface="Montserrat Medium"/>
                        <a:cs typeface="Montserrat Medium"/>
                        <a:sym typeface="Montserrat Medium"/>
                      </a:endParaRPr>
                    </a:p>
                  </a:txBody>
                  <a:tcPr marL="28575" marR="28575" marT="19050" marB="19050" anchor="ctr">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900">
                          <a:solidFill>
                            <a:schemeClr val="dk1"/>
                          </a:solidFill>
                          <a:latin typeface="Montserrat Medium"/>
                          <a:ea typeface="Montserrat Medium"/>
                          <a:cs typeface="Montserrat Medium"/>
                          <a:sym typeface="Montserrat Medium"/>
                        </a:rPr>
                        <a:t>69.60%</a:t>
                      </a:r>
                      <a:endParaRPr sz="900">
                        <a:solidFill>
                          <a:schemeClr val="dk1"/>
                        </a:solidFill>
                        <a:latin typeface="Montserrat Medium"/>
                        <a:ea typeface="Montserrat Medium"/>
                        <a:cs typeface="Montserrat Medium"/>
                        <a:sym typeface="Montserrat Medium"/>
                      </a:endParaRPr>
                    </a:p>
                  </a:txBody>
                  <a:tcPr marL="28575" marR="28575" marT="19050" marB="19050" anchor="ctr">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900">
                          <a:solidFill>
                            <a:schemeClr val="dk1"/>
                          </a:solidFill>
                          <a:latin typeface="Montserrat Medium"/>
                          <a:ea typeface="Montserrat Medium"/>
                          <a:cs typeface="Montserrat Medium"/>
                          <a:sym typeface="Montserrat Medium"/>
                        </a:rPr>
                        <a:t>4.88</a:t>
                      </a:r>
                      <a:endParaRPr sz="900">
                        <a:solidFill>
                          <a:schemeClr val="dk1"/>
                        </a:solidFill>
                        <a:latin typeface="Montserrat Medium"/>
                        <a:ea typeface="Montserrat Medium"/>
                        <a:cs typeface="Montserrat Medium"/>
                        <a:sym typeface="Montserrat Medium"/>
                      </a:endParaRPr>
                    </a:p>
                  </a:txBody>
                  <a:tcPr marL="28575" marR="28575" marT="19050" marB="19050" anchor="ctr">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900">
                          <a:solidFill>
                            <a:schemeClr val="dk1"/>
                          </a:solidFill>
                          <a:latin typeface="Montserrat Medium"/>
                          <a:ea typeface="Montserrat Medium"/>
                          <a:cs typeface="Montserrat Medium"/>
                          <a:sym typeface="Montserrat Medium"/>
                        </a:rPr>
                        <a:t>1.84</a:t>
                      </a:r>
                      <a:endParaRPr sz="900">
                        <a:solidFill>
                          <a:schemeClr val="dk1"/>
                        </a:solidFill>
                        <a:latin typeface="Montserrat Medium"/>
                        <a:ea typeface="Montserrat Medium"/>
                        <a:cs typeface="Montserrat Medium"/>
                        <a:sym typeface="Montserrat Medium"/>
                      </a:endParaRPr>
                    </a:p>
                  </a:txBody>
                  <a:tcPr marL="28575" marR="28575" marT="19050" marB="19050" anchor="ctr">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tcPr>
                </a:tc>
                <a:extLst>
                  <a:ext uri="{0D108BD9-81ED-4DB2-BD59-A6C34878D82A}">
                    <a16:rowId xmlns:a16="http://schemas.microsoft.com/office/drawing/2014/main" val="10008"/>
                  </a:ext>
                </a:extLst>
              </a:tr>
              <a:tr h="322475">
                <a:tc>
                  <a:txBody>
                    <a:bodyPr/>
                    <a:lstStyle/>
                    <a:p>
                      <a:pPr marL="0" lvl="0" indent="0" algn="ctr" rtl="0">
                        <a:lnSpc>
                          <a:spcPct val="115000"/>
                        </a:lnSpc>
                        <a:spcBef>
                          <a:spcPts val="0"/>
                        </a:spcBef>
                        <a:spcAft>
                          <a:spcPts val="0"/>
                        </a:spcAft>
                        <a:buNone/>
                      </a:pPr>
                      <a:r>
                        <a:rPr lang="en" sz="900">
                          <a:solidFill>
                            <a:schemeClr val="dk1"/>
                          </a:solidFill>
                          <a:latin typeface="Montserrat Medium"/>
                          <a:ea typeface="Montserrat Medium"/>
                          <a:cs typeface="Montserrat Medium"/>
                          <a:sym typeface="Montserrat Medium"/>
                        </a:rPr>
                        <a:t>09:00–11:30</a:t>
                      </a:r>
                      <a:endParaRPr sz="900">
                        <a:solidFill>
                          <a:schemeClr val="dk1"/>
                        </a:solidFill>
                        <a:latin typeface="Montserrat Medium"/>
                        <a:ea typeface="Montserrat Medium"/>
                        <a:cs typeface="Montserrat Medium"/>
                        <a:sym typeface="Montserrat Medium"/>
                      </a:endParaRPr>
                    </a:p>
                  </a:txBody>
                  <a:tcPr marL="28575" marR="28575" marT="19050" marB="19050" anchor="ctr">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900">
                          <a:solidFill>
                            <a:schemeClr val="dk1"/>
                          </a:solidFill>
                          <a:latin typeface="Montserrat Medium"/>
                          <a:ea typeface="Montserrat Medium"/>
                          <a:cs typeface="Montserrat Medium"/>
                          <a:sym typeface="Montserrat Medium"/>
                        </a:rPr>
                        <a:t>12 (2.4%)</a:t>
                      </a:r>
                      <a:endParaRPr sz="900">
                        <a:solidFill>
                          <a:schemeClr val="dk1"/>
                        </a:solidFill>
                        <a:latin typeface="Montserrat Medium"/>
                        <a:ea typeface="Montserrat Medium"/>
                        <a:cs typeface="Montserrat Medium"/>
                        <a:sym typeface="Montserrat Medium"/>
                      </a:endParaRPr>
                    </a:p>
                  </a:txBody>
                  <a:tcPr marL="28575" marR="28575" marT="19050" marB="19050" anchor="ctr">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900">
                          <a:solidFill>
                            <a:schemeClr val="dk1"/>
                          </a:solidFill>
                          <a:latin typeface="Montserrat Medium"/>
                          <a:ea typeface="Montserrat Medium"/>
                          <a:cs typeface="Montserrat Medium"/>
                          <a:sym typeface="Montserrat Medium"/>
                        </a:rPr>
                        <a:t>58.30%</a:t>
                      </a:r>
                      <a:endParaRPr sz="900">
                        <a:solidFill>
                          <a:schemeClr val="dk1"/>
                        </a:solidFill>
                        <a:latin typeface="Montserrat Medium"/>
                        <a:ea typeface="Montserrat Medium"/>
                        <a:cs typeface="Montserrat Medium"/>
                        <a:sym typeface="Montserrat Medium"/>
                      </a:endParaRPr>
                    </a:p>
                  </a:txBody>
                  <a:tcPr marL="28575" marR="28575" marT="19050" marB="19050" anchor="ctr">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900">
                          <a:solidFill>
                            <a:schemeClr val="dk1"/>
                          </a:solidFill>
                          <a:latin typeface="Montserrat Medium"/>
                          <a:ea typeface="Montserrat Medium"/>
                          <a:cs typeface="Montserrat Medium"/>
                          <a:sym typeface="Montserrat Medium"/>
                        </a:rPr>
                        <a:t>4</a:t>
                      </a:r>
                      <a:endParaRPr sz="900">
                        <a:solidFill>
                          <a:schemeClr val="dk1"/>
                        </a:solidFill>
                        <a:latin typeface="Montserrat Medium"/>
                        <a:ea typeface="Montserrat Medium"/>
                        <a:cs typeface="Montserrat Medium"/>
                        <a:sym typeface="Montserrat Medium"/>
                      </a:endParaRPr>
                    </a:p>
                  </a:txBody>
                  <a:tcPr marL="28575" marR="28575" marT="19050" marB="19050" anchor="ctr">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900">
                          <a:solidFill>
                            <a:schemeClr val="dk1"/>
                          </a:solidFill>
                          <a:latin typeface="Montserrat Medium"/>
                          <a:ea typeface="Montserrat Medium"/>
                          <a:cs typeface="Montserrat Medium"/>
                          <a:sym typeface="Montserrat Medium"/>
                        </a:rPr>
                        <a:t>2.13</a:t>
                      </a:r>
                      <a:endParaRPr sz="900">
                        <a:solidFill>
                          <a:schemeClr val="dk1"/>
                        </a:solidFill>
                        <a:latin typeface="Montserrat Medium"/>
                        <a:ea typeface="Montserrat Medium"/>
                        <a:cs typeface="Montserrat Medium"/>
                        <a:sym typeface="Montserrat Medium"/>
                      </a:endParaRPr>
                    </a:p>
                  </a:txBody>
                  <a:tcPr marL="28575" marR="28575" marT="19050" marB="19050" anchor="ctr">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tcPr>
                </a:tc>
                <a:extLst>
                  <a:ext uri="{0D108BD9-81ED-4DB2-BD59-A6C34878D82A}">
                    <a16:rowId xmlns:a16="http://schemas.microsoft.com/office/drawing/2014/main" val="10009"/>
                  </a:ext>
                </a:extLst>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1018"/>
        <p:cNvGrpSpPr/>
        <p:nvPr/>
      </p:nvGrpSpPr>
      <p:grpSpPr>
        <a:xfrm>
          <a:off x="0" y="0"/>
          <a:ext cx="0" cy="0"/>
          <a:chOff x="0" y="0"/>
          <a:chExt cx="0" cy="0"/>
        </a:xfrm>
      </p:grpSpPr>
      <p:sp>
        <p:nvSpPr>
          <p:cNvPr id="1019" name="Google Shape;1019;p70"/>
          <p:cNvSpPr/>
          <p:nvPr/>
        </p:nvSpPr>
        <p:spPr>
          <a:xfrm>
            <a:off x="0" y="0"/>
            <a:ext cx="9144000" cy="73200"/>
          </a:xfrm>
          <a:prstGeom prst="rect">
            <a:avLst/>
          </a:prstGeom>
          <a:solidFill>
            <a:srgbClr val="FF7F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0" name="Google Shape;1020;p70"/>
          <p:cNvSpPr/>
          <p:nvPr/>
        </p:nvSpPr>
        <p:spPr>
          <a:xfrm>
            <a:off x="731520" y="201168"/>
            <a:ext cx="7315200" cy="411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E4174"/>
              </a:buClr>
              <a:buSzPts val="2200"/>
              <a:buFont typeface="Calibri"/>
              <a:buNone/>
            </a:pPr>
            <a:r>
              <a:rPr lang="en" sz="2200" b="1">
                <a:solidFill>
                  <a:srgbClr val="0E4174"/>
                </a:solidFill>
                <a:latin typeface="Lexend"/>
                <a:ea typeface="Lexend"/>
                <a:cs typeface="Lexend"/>
                <a:sym typeface="Lexend"/>
              </a:rPr>
              <a:t>Cityzone</a:t>
            </a:r>
            <a:endParaRPr sz="2200" b="1" i="0" u="none" strike="noStrike" cap="none">
              <a:solidFill>
                <a:srgbClr val="F56C1F"/>
              </a:solidFill>
              <a:highlight>
                <a:schemeClr val="lt1"/>
              </a:highlight>
              <a:latin typeface="Lexend"/>
              <a:ea typeface="Lexend"/>
              <a:cs typeface="Lexend"/>
              <a:sym typeface="Lexend"/>
            </a:endParaRPr>
          </a:p>
        </p:txBody>
      </p:sp>
      <p:sp>
        <p:nvSpPr>
          <p:cNvPr id="1021" name="Google Shape;1021;p70"/>
          <p:cNvSpPr/>
          <p:nvPr/>
        </p:nvSpPr>
        <p:spPr>
          <a:xfrm>
            <a:off x="731520" y="594360"/>
            <a:ext cx="7315200" cy="274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1000"/>
              <a:buFont typeface="Calibri"/>
              <a:buNone/>
            </a:pPr>
            <a:r>
              <a:rPr lang="en" sz="1000" i="1">
                <a:solidFill>
                  <a:schemeClr val="accent3"/>
                </a:solidFill>
                <a:latin typeface="Lexend"/>
                <a:ea typeface="Lexend"/>
                <a:cs typeface="Lexend"/>
                <a:sym typeface="Lexend"/>
              </a:rPr>
              <a:t>Perf của tài xế </a:t>
            </a:r>
            <a:endParaRPr sz="1000" i="1">
              <a:solidFill>
                <a:schemeClr val="accent3"/>
              </a:solidFill>
              <a:latin typeface="Lexend"/>
              <a:ea typeface="Lexend"/>
              <a:cs typeface="Lexend"/>
              <a:sym typeface="Lexend"/>
            </a:endParaRPr>
          </a:p>
        </p:txBody>
      </p:sp>
      <p:cxnSp>
        <p:nvCxnSpPr>
          <p:cNvPr id="1022" name="Google Shape;1022;p70"/>
          <p:cNvCxnSpPr/>
          <p:nvPr/>
        </p:nvCxnSpPr>
        <p:spPr>
          <a:xfrm>
            <a:off x="365760" y="868680"/>
            <a:ext cx="8412600" cy="0"/>
          </a:xfrm>
          <a:prstGeom prst="straightConnector1">
            <a:avLst/>
          </a:prstGeom>
          <a:noFill/>
          <a:ln w="9525" cap="flat" cmpd="sng">
            <a:solidFill>
              <a:srgbClr val="E2E8F0"/>
            </a:solidFill>
            <a:prstDash val="solid"/>
            <a:round/>
            <a:headEnd type="none" w="sm" len="sm"/>
            <a:tailEnd type="none" w="sm" len="sm"/>
          </a:ln>
        </p:spPr>
      </p:cxnSp>
      <p:sp>
        <p:nvSpPr>
          <p:cNvPr id="1023" name="Google Shape;1023;p70"/>
          <p:cNvSpPr/>
          <p:nvPr/>
        </p:nvSpPr>
        <p:spPr>
          <a:xfrm>
            <a:off x="5486395" y="45700"/>
            <a:ext cx="3657600" cy="27420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94A3B8"/>
              </a:buClr>
              <a:buSzPts val="700"/>
              <a:buFont typeface="Calibri"/>
              <a:buNone/>
            </a:pPr>
            <a:r>
              <a:rPr lang="en" sz="700" b="0" i="1" u="none" strike="noStrike" cap="none">
                <a:solidFill>
                  <a:srgbClr val="94A3B8"/>
                </a:solidFill>
                <a:latin typeface="Calibri"/>
                <a:ea typeface="Calibri"/>
                <a:cs typeface="Calibri"/>
                <a:sym typeface="Calibri"/>
              </a:rPr>
              <a:t>Ahamove — Driver Management | Confidential</a:t>
            </a:r>
            <a:endParaRPr sz="700" b="0" i="0" u="none" strike="noStrike" cap="none">
              <a:solidFill>
                <a:schemeClr val="dk1"/>
              </a:solidFill>
              <a:latin typeface="Calibri"/>
              <a:ea typeface="Calibri"/>
              <a:cs typeface="Calibri"/>
              <a:sym typeface="Calibri"/>
            </a:endParaRPr>
          </a:p>
        </p:txBody>
      </p:sp>
      <p:sp>
        <p:nvSpPr>
          <p:cNvPr id="1024" name="Google Shape;1024;p70"/>
          <p:cNvSpPr/>
          <p:nvPr/>
        </p:nvSpPr>
        <p:spPr>
          <a:xfrm>
            <a:off x="430475" y="285363"/>
            <a:ext cx="229284" cy="243216"/>
          </a:xfrm>
          <a:prstGeom prst="lightningBolt">
            <a:avLst/>
          </a:prstGeom>
          <a:solidFill>
            <a:srgbClr val="FF7F3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25" name="Google Shape;1025;p70"/>
          <p:cNvSpPr/>
          <p:nvPr/>
        </p:nvSpPr>
        <p:spPr>
          <a:xfrm>
            <a:off x="380713" y="242300"/>
            <a:ext cx="328800" cy="328800"/>
          </a:xfrm>
          <a:prstGeom prst="roundRect">
            <a:avLst>
              <a:gd name="adj" fmla="val 28261"/>
            </a:avLst>
          </a:prstGeom>
          <a:gradFill>
            <a:gsLst>
              <a:gs pos="0">
                <a:srgbClr val="FF9A50"/>
              </a:gs>
              <a:gs pos="100000">
                <a:srgbClr val="FF7F32"/>
              </a:gs>
            </a:gsLst>
            <a:lin ang="2700006" scaled="0"/>
          </a:gra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026" name="Google Shape;1026;p70"/>
          <p:cNvSpPr/>
          <p:nvPr/>
        </p:nvSpPr>
        <p:spPr>
          <a:xfrm>
            <a:off x="466438" y="299450"/>
            <a:ext cx="171450" cy="257175"/>
          </a:xfrm>
          <a:custGeom>
            <a:avLst/>
            <a:gdLst/>
            <a:ahLst/>
            <a:cxnLst/>
            <a:rect l="l" t="t" r="r" b="b"/>
            <a:pathLst>
              <a:path w="228600" h="342900" extrusionOk="0">
                <a:moveTo>
                  <a:pt x="152400" y="0"/>
                </a:moveTo>
                <a:lnTo>
                  <a:pt x="0" y="200025"/>
                </a:lnTo>
                <a:lnTo>
                  <a:pt x="104775" y="200025"/>
                </a:lnTo>
                <a:lnTo>
                  <a:pt x="66675" y="342900"/>
                </a:lnTo>
                <a:lnTo>
                  <a:pt x="228600" y="133350"/>
                </a:lnTo>
                <a:lnTo>
                  <a:pt x="114300" y="133350"/>
                </a:lnTo>
                <a:close/>
              </a:path>
            </a:pathLst>
          </a:custGeom>
          <a:solidFill>
            <a:srgbClr val="FFFFFF"/>
          </a:solidFill>
          <a:ln>
            <a:noFill/>
          </a:ln>
        </p:spPr>
      </p:sp>
      <p:sp>
        <p:nvSpPr>
          <p:cNvPr id="1027" name="Google Shape;1027;p70"/>
          <p:cNvSpPr txBox="1"/>
          <p:nvPr/>
        </p:nvSpPr>
        <p:spPr>
          <a:xfrm>
            <a:off x="365745" y="1060665"/>
            <a:ext cx="4160400" cy="169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 sz="1100" b="1" i="0" u="none" strike="noStrike" cap="none">
                <a:solidFill>
                  <a:srgbClr val="0E4174"/>
                </a:solidFill>
                <a:latin typeface="Lexend"/>
                <a:ea typeface="Lexend"/>
                <a:cs typeface="Lexend"/>
                <a:sym typeface="Lexend"/>
              </a:rPr>
              <a:t>RETENTION </a:t>
            </a:r>
            <a:r>
              <a:rPr lang="en" sz="1100" b="1">
                <a:solidFill>
                  <a:srgbClr val="0E4174"/>
                </a:solidFill>
                <a:latin typeface="Lexend"/>
                <a:ea typeface="Lexend"/>
                <a:cs typeface="Lexend"/>
                <a:sym typeface="Lexend"/>
              </a:rPr>
              <a:t>tập chạy HUB</a:t>
            </a:r>
            <a:endParaRPr sz="1100" b="1">
              <a:latin typeface="Lexend"/>
              <a:ea typeface="Lexend"/>
              <a:cs typeface="Lexend"/>
              <a:sym typeface="Lexend"/>
            </a:endParaRPr>
          </a:p>
        </p:txBody>
      </p:sp>
      <p:graphicFrame>
        <p:nvGraphicFramePr>
          <p:cNvPr id="1028" name="Google Shape;1028;p70"/>
          <p:cNvGraphicFramePr/>
          <p:nvPr/>
        </p:nvGraphicFramePr>
        <p:xfrm>
          <a:off x="365745" y="1297787"/>
          <a:ext cx="3000000" cy="3000000"/>
        </p:xfrm>
        <a:graphic>
          <a:graphicData uri="http://schemas.openxmlformats.org/drawingml/2006/table">
            <a:tbl>
              <a:tblPr firstRow="1" bandRow="1">
                <a:noFill/>
                <a:tableStyleId>{58EF4B7D-01BA-4299-BD77-9BEE6CE2F989}</a:tableStyleId>
              </a:tblPr>
              <a:tblGrid>
                <a:gridCol w="2329575">
                  <a:extLst>
                    <a:ext uri="{9D8B030D-6E8A-4147-A177-3AD203B41FA5}">
                      <a16:colId xmlns:a16="http://schemas.microsoft.com/office/drawing/2014/main" val="20000"/>
                    </a:ext>
                  </a:extLst>
                </a:gridCol>
                <a:gridCol w="883550">
                  <a:extLst>
                    <a:ext uri="{9D8B030D-6E8A-4147-A177-3AD203B41FA5}">
                      <a16:colId xmlns:a16="http://schemas.microsoft.com/office/drawing/2014/main" val="20001"/>
                    </a:ext>
                  </a:extLst>
                </a:gridCol>
                <a:gridCol w="871900">
                  <a:extLst>
                    <a:ext uri="{9D8B030D-6E8A-4147-A177-3AD203B41FA5}">
                      <a16:colId xmlns:a16="http://schemas.microsoft.com/office/drawing/2014/main" val="20002"/>
                    </a:ext>
                  </a:extLst>
                </a:gridCol>
              </a:tblGrid>
              <a:tr h="365750">
                <a:tc>
                  <a:txBody>
                    <a:bodyPr/>
                    <a:lstStyle/>
                    <a:p>
                      <a:pPr marL="0" marR="0" lvl="0" indent="0" algn="l" rtl="0">
                        <a:spcBef>
                          <a:spcPts val="0"/>
                        </a:spcBef>
                        <a:spcAft>
                          <a:spcPts val="0"/>
                        </a:spcAft>
                        <a:buNone/>
                      </a:pPr>
                      <a:endParaRPr sz="1000" b="0" u="none" strike="noStrike" cap="none">
                        <a:solidFill>
                          <a:srgbClr val="000000"/>
                        </a:solidFill>
                        <a:latin typeface="Montserrat Medium"/>
                        <a:ea typeface="Montserrat Medium"/>
                        <a:cs typeface="Montserrat Medium"/>
                        <a:sym typeface="Montserrat Medium"/>
                      </a:endParaRPr>
                    </a:p>
                  </a:txBody>
                  <a:tcPr marL="73150" marR="73150" marT="18300" marB="18300" anchor="ctr">
                    <a:lnL w="9525" cap="flat" cmpd="sng">
                      <a:solidFill>
                        <a:srgbClr val="E9EDF3"/>
                      </a:solidFill>
                      <a:prstDash val="solid"/>
                      <a:round/>
                      <a:headEnd type="none" w="sm" len="sm"/>
                      <a:tailEnd type="none" w="sm" len="sm"/>
                    </a:lnL>
                    <a:lnR w="9525" cap="flat" cmpd="sng">
                      <a:solidFill>
                        <a:srgbClr val="E9EDF3"/>
                      </a:solidFill>
                      <a:prstDash val="solid"/>
                      <a:round/>
                      <a:headEnd type="none" w="sm" len="sm"/>
                      <a:tailEnd type="none" w="sm" len="sm"/>
                    </a:lnR>
                    <a:lnT w="9525" cap="flat" cmpd="sng">
                      <a:solidFill>
                        <a:srgbClr val="E9EDF3"/>
                      </a:solidFill>
                      <a:prstDash val="solid"/>
                      <a:round/>
                      <a:headEnd type="none" w="sm" len="sm"/>
                      <a:tailEnd type="none" w="sm" len="sm"/>
                    </a:lnT>
                    <a:lnB w="9525" cap="flat" cmpd="sng">
                      <a:solidFill>
                        <a:srgbClr val="E9EDF3"/>
                      </a:solidFill>
                      <a:prstDash val="solid"/>
                      <a:round/>
                      <a:headEnd type="none" w="sm" len="sm"/>
                      <a:tailEnd type="none" w="sm" len="sm"/>
                    </a:lnB>
                    <a:solidFill>
                      <a:srgbClr val="0E4174"/>
                    </a:solidFill>
                  </a:tcPr>
                </a:tc>
                <a:tc>
                  <a:txBody>
                    <a:bodyPr/>
                    <a:lstStyle/>
                    <a:p>
                      <a:pPr marL="0" marR="0" lvl="0" indent="0" algn="ctr" rtl="0">
                        <a:spcBef>
                          <a:spcPts val="0"/>
                        </a:spcBef>
                        <a:spcAft>
                          <a:spcPts val="0"/>
                        </a:spcAft>
                        <a:buNone/>
                      </a:pPr>
                      <a:r>
                        <a:rPr lang="en" sz="1000" b="0" u="none" strike="noStrike" cap="none">
                          <a:solidFill>
                            <a:srgbClr val="FFFFFF"/>
                          </a:solidFill>
                          <a:latin typeface="Montserrat Medium"/>
                          <a:ea typeface="Montserrat Medium"/>
                          <a:cs typeface="Montserrat Medium"/>
                          <a:sym typeface="Montserrat Medium"/>
                        </a:rPr>
                        <a:t>Số TX</a:t>
                      </a:r>
                      <a:endParaRPr sz="1000" b="0">
                        <a:latin typeface="Montserrat Medium"/>
                        <a:ea typeface="Montserrat Medium"/>
                        <a:cs typeface="Montserrat Medium"/>
                        <a:sym typeface="Montserrat Medium"/>
                      </a:endParaRPr>
                    </a:p>
                  </a:txBody>
                  <a:tcPr marL="73150" marR="73150" marT="18300" marB="18300" anchor="ctr">
                    <a:lnL w="9525" cap="flat" cmpd="sng">
                      <a:solidFill>
                        <a:srgbClr val="E9EDF3"/>
                      </a:solidFill>
                      <a:prstDash val="solid"/>
                      <a:round/>
                      <a:headEnd type="none" w="sm" len="sm"/>
                      <a:tailEnd type="none" w="sm" len="sm"/>
                    </a:lnL>
                    <a:lnR w="9525" cap="flat" cmpd="sng">
                      <a:solidFill>
                        <a:srgbClr val="E9EDF3"/>
                      </a:solidFill>
                      <a:prstDash val="solid"/>
                      <a:round/>
                      <a:headEnd type="none" w="sm" len="sm"/>
                      <a:tailEnd type="none" w="sm" len="sm"/>
                    </a:lnR>
                    <a:lnT w="9525" cap="flat" cmpd="sng">
                      <a:solidFill>
                        <a:srgbClr val="E9EDF3"/>
                      </a:solidFill>
                      <a:prstDash val="solid"/>
                      <a:round/>
                      <a:headEnd type="none" w="sm" len="sm"/>
                      <a:tailEnd type="none" w="sm" len="sm"/>
                    </a:lnT>
                    <a:lnB w="9525" cap="flat" cmpd="sng">
                      <a:solidFill>
                        <a:srgbClr val="E9EDF3"/>
                      </a:solidFill>
                      <a:prstDash val="solid"/>
                      <a:round/>
                      <a:headEnd type="none" w="sm" len="sm"/>
                      <a:tailEnd type="none" w="sm" len="sm"/>
                    </a:lnB>
                    <a:solidFill>
                      <a:srgbClr val="0E4174"/>
                    </a:solidFill>
                  </a:tcPr>
                </a:tc>
                <a:tc>
                  <a:txBody>
                    <a:bodyPr/>
                    <a:lstStyle/>
                    <a:p>
                      <a:pPr marL="0" marR="0" lvl="0" indent="0" algn="ctr" rtl="0">
                        <a:spcBef>
                          <a:spcPts val="0"/>
                        </a:spcBef>
                        <a:spcAft>
                          <a:spcPts val="0"/>
                        </a:spcAft>
                        <a:buNone/>
                      </a:pPr>
                      <a:r>
                        <a:rPr lang="en" sz="1000" b="0" u="none" strike="noStrike" cap="none">
                          <a:solidFill>
                            <a:srgbClr val="FFFFFF"/>
                          </a:solidFill>
                          <a:latin typeface="Montserrat Medium"/>
                          <a:ea typeface="Montserrat Medium"/>
                          <a:cs typeface="Montserrat Medium"/>
                          <a:sym typeface="Montserrat Medium"/>
                        </a:rPr>
                        <a:t>%</a:t>
                      </a:r>
                      <a:endParaRPr sz="1000" b="0">
                        <a:latin typeface="Montserrat Medium"/>
                        <a:ea typeface="Montserrat Medium"/>
                        <a:cs typeface="Montserrat Medium"/>
                        <a:sym typeface="Montserrat Medium"/>
                      </a:endParaRPr>
                    </a:p>
                  </a:txBody>
                  <a:tcPr marL="73150" marR="73150" marT="18300" marB="18300" anchor="ctr">
                    <a:lnL w="9525" cap="flat" cmpd="sng">
                      <a:solidFill>
                        <a:srgbClr val="E9EDF3"/>
                      </a:solidFill>
                      <a:prstDash val="solid"/>
                      <a:round/>
                      <a:headEnd type="none" w="sm" len="sm"/>
                      <a:tailEnd type="none" w="sm" len="sm"/>
                    </a:lnL>
                    <a:lnR w="9525" cap="flat" cmpd="sng">
                      <a:solidFill>
                        <a:srgbClr val="E9EDF3"/>
                      </a:solidFill>
                      <a:prstDash val="solid"/>
                      <a:round/>
                      <a:headEnd type="none" w="sm" len="sm"/>
                      <a:tailEnd type="none" w="sm" len="sm"/>
                    </a:lnR>
                    <a:lnT w="9525" cap="flat" cmpd="sng">
                      <a:solidFill>
                        <a:srgbClr val="E9EDF3"/>
                      </a:solidFill>
                      <a:prstDash val="solid"/>
                      <a:round/>
                      <a:headEnd type="none" w="sm" len="sm"/>
                      <a:tailEnd type="none" w="sm" len="sm"/>
                    </a:lnT>
                    <a:lnB w="9525" cap="flat" cmpd="sng">
                      <a:solidFill>
                        <a:srgbClr val="E9EDF3"/>
                      </a:solidFill>
                      <a:prstDash val="solid"/>
                      <a:round/>
                      <a:headEnd type="none" w="sm" len="sm"/>
                      <a:tailEnd type="none" w="sm" len="sm"/>
                    </a:lnB>
                    <a:solidFill>
                      <a:srgbClr val="0E4174"/>
                    </a:solidFill>
                  </a:tcPr>
                </a:tc>
                <a:extLst>
                  <a:ext uri="{0D108BD9-81ED-4DB2-BD59-A6C34878D82A}">
                    <a16:rowId xmlns:a16="http://schemas.microsoft.com/office/drawing/2014/main" val="10000"/>
                  </a:ext>
                </a:extLst>
              </a:tr>
              <a:tr h="310900">
                <a:tc>
                  <a:txBody>
                    <a:bodyPr/>
                    <a:lstStyle/>
                    <a:p>
                      <a:pPr marL="0" marR="0" lvl="0" indent="0" algn="l" rtl="0">
                        <a:spcBef>
                          <a:spcPts val="0"/>
                        </a:spcBef>
                        <a:spcAft>
                          <a:spcPts val="0"/>
                        </a:spcAft>
                        <a:buNone/>
                      </a:pPr>
                      <a:r>
                        <a:rPr lang="en" sz="1000" u="none" strike="noStrike" cap="none">
                          <a:solidFill>
                            <a:srgbClr val="DC2626"/>
                          </a:solidFill>
                          <a:latin typeface="Montserrat Medium"/>
                          <a:ea typeface="Montserrat Medium"/>
                          <a:cs typeface="Montserrat Medium"/>
                          <a:sym typeface="Montserrat Medium"/>
                        </a:rPr>
                        <a:t>Chạy 1 ca rồi thôi </a:t>
                      </a:r>
                      <a:endParaRPr sz="1000">
                        <a:latin typeface="Montserrat Medium"/>
                        <a:ea typeface="Montserrat Medium"/>
                        <a:cs typeface="Montserrat Medium"/>
                        <a:sym typeface="Montserrat Medium"/>
                      </a:endParaRPr>
                    </a:p>
                  </a:txBody>
                  <a:tcPr marL="73150" marR="73150" marT="18300" marB="18300" anchor="ctr">
                    <a:lnL w="9525" cap="flat" cmpd="sng">
                      <a:solidFill>
                        <a:srgbClr val="E9EDF3"/>
                      </a:solidFill>
                      <a:prstDash val="solid"/>
                      <a:round/>
                      <a:headEnd type="none" w="sm" len="sm"/>
                      <a:tailEnd type="none" w="sm" len="sm"/>
                    </a:lnL>
                    <a:lnR w="9525" cap="flat" cmpd="sng">
                      <a:solidFill>
                        <a:srgbClr val="E9EDF3"/>
                      </a:solidFill>
                      <a:prstDash val="solid"/>
                      <a:round/>
                      <a:headEnd type="none" w="sm" len="sm"/>
                      <a:tailEnd type="none" w="sm" len="sm"/>
                    </a:lnR>
                    <a:lnT w="9525" cap="flat" cmpd="sng">
                      <a:solidFill>
                        <a:srgbClr val="E9EDF3"/>
                      </a:solidFill>
                      <a:prstDash val="solid"/>
                      <a:round/>
                      <a:headEnd type="none" w="sm" len="sm"/>
                      <a:tailEnd type="none" w="sm" len="sm"/>
                    </a:lnT>
                    <a:lnB w="9525" cap="flat" cmpd="sng">
                      <a:solidFill>
                        <a:srgbClr val="E9EDF3"/>
                      </a:solidFill>
                      <a:prstDash val="solid"/>
                      <a:round/>
                      <a:headEnd type="none" w="sm" len="sm"/>
                      <a:tailEnd type="none" w="sm" len="sm"/>
                    </a:lnB>
                    <a:solidFill>
                      <a:srgbClr val="FDECEC"/>
                    </a:solidFill>
                  </a:tcPr>
                </a:tc>
                <a:tc>
                  <a:txBody>
                    <a:bodyPr/>
                    <a:lstStyle/>
                    <a:p>
                      <a:pPr marL="0" marR="0" lvl="0" indent="0" algn="ctr" rtl="0">
                        <a:spcBef>
                          <a:spcPts val="0"/>
                        </a:spcBef>
                        <a:spcAft>
                          <a:spcPts val="0"/>
                        </a:spcAft>
                        <a:buNone/>
                      </a:pPr>
                      <a:r>
                        <a:rPr lang="en" sz="1000" u="none" strike="noStrike" cap="none">
                          <a:solidFill>
                            <a:srgbClr val="DC2626"/>
                          </a:solidFill>
                          <a:latin typeface="Montserrat Medium"/>
                          <a:ea typeface="Montserrat Medium"/>
                          <a:cs typeface="Montserrat Medium"/>
                          <a:sym typeface="Montserrat Medium"/>
                        </a:rPr>
                        <a:t>58</a:t>
                      </a:r>
                      <a:endParaRPr sz="1000">
                        <a:latin typeface="Montserrat Medium"/>
                        <a:ea typeface="Montserrat Medium"/>
                        <a:cs typeface="Montserrat Medium"/>
                        <a:sym typeface="Montserrat Medium"/>
                      </a:endParaRPr>
                    </a:p>
                  </a:txBody>
                  <a:tcPr marL="73150" marR="73150" marT="18300" marB="18300" anchor="ctr">
                    <a:lnL w="9525" cap="flat" cmpd="sng">
                      <a:solidFill>
                        <a:srgbClr val="E9EDF3"/>
                      </a:solidFill>
                      <a:prstDash val="solid"/>
                      <a:round/>
                      <a:headEnd type="none" w="sm" len="sm"/>
                      <a:tailEnd type="none" w="sm" len="sm"/>
                    </a:lnL>
                    <a:lnR w="9525" cap="flat" cmpd="sng">
                      <a:solidFill>
                        <a:srgbClr val="E9EDF3"/>
                      </a:solidFill>
                      <a:prstDash val="solid"/>
                      <a:round/>
                      <a:headEnd type="none" w="sm" len="sm"/>
                      <a:tailEnd type="none" w="sm" len="sm"/>
                    </a:lnR>
                    <a:lnT w="9525" cap="flat" cmpd="sng">
                      <a:solidFill>
                        <a:srgbClr val="E9EDF3"/>
                      </a:solidFill>
                      <a:prstDash val="solid"/>
                      <a:round/>
                      <a:headEnd type="none" w="sm" len="sm"/>
                      <a:tailEnd type="none" w="sm" len="sm"/>
                    </a:lnT>
                    <a:lnB w="9525" cap="flat" cmpd="sng">
                      <a:solidFill>
                        <a:srgbClr val="E9EDF3"/>
                      </a:solidFill>
                      <a:prstDash val="solid"/>
                      <a:round/>
                      <a:headEnd type="none" w="sm" len="sm"/>
                      <a:tailEnd type="none" w="sm" len="sm"/>
                    </a:lnB>
                    <a:solidFill>
                      <a:srgbClr val="FDECEC"/>
                    </a:solidFill>
                  </a:tcPr>
                </a:tc>
                <a:tc>
                  <a:txBody>
                    <a:bodyPr/>
                    <a:lstStyle/>
                    <a:p>
                      <a:pPr marL="0" marR="0" lvl="0" indent="0" algn="ctr" rtl="0">
                        <a:spcBef>
                          <a:spcPts val="0"/>
                        </a:spcBef>
                        <a:spcAft>
                          <a:spcPts val="0"/>
                        </a:spcAft>
                        <a:buNone/>
                      </a:pPr>
                      <a:r>
                        <a:rPr lang="en" sz="1000" u="none" strike="noStrike" cap="none">
                          <a:solidFill>
                            <a:srgbClr val="DC2626"/>
                          </a:solidFill>
                          <a:latin typeface="Montserrat Medium"/>
                          <a:ea typeface="Montserrat Medium"/>
                          <a:cs typeface="Montserrat Medium"/>
                          <a:sym typeface="Montserrat Medium"/>
                        </a:rPr>
                        <a:t>55.8%</a:t>
                      </a:r>
                      <a:endParaRPr sz="1000">
                        <a:latin typeface="Montserrat Medium"/>
                        <a:ea typeface="Montserrat Medium"/>
                        <a:cs typeface="Montserrat Medium"/>
                        <a:sym typeface="Montserrat Medium"/>
                      </a:endParaRPr>
                    </a:p>
                  </a:txBody>
                  <a:tcPr marL="73150" marR="73150" marT="18300" marB="18300" anchor="ctr">
                    <a:lnL w="9525" cap="flat" cmpd="sng">
                      <a:solidFill>
                        <a:srgbClr val="E9EDF3"/>
                      </a:solidFill>
                      <a:prstDash val="solid"/>
                      <a:round/>
                      <a:headEnd type="none" w="sm" len="sm"/>
                      <a:tailEnd type="none" w="sm" len="sm"/>
                    </a:lnL>
                    <a:lnR w="9525" cap="flat" cmpd="sng">
                      <a:solidFill>
                        <a:srgbClr val="E9EDF3"/>
                      </a:solidFill>
                      <a:prstDash val="solid"/>
                      <a:round/>
                      <a:headEnd type="none" w="sm" len="sm"/>
                      <a:tailEnd type="none" w="sm" len="sm"/>
                    </a:lnR>
                    <a:lnT w="9525" cap="flat" cmpd="sng">
                      <a:solidFill>
                        <a:srgbClr val="E9EDF3"/>
                      </a:solidFill>
                      <a:prstDash val="solid"/>
                      <a:round/>
                      <a:headEnd type="none" w="sm" len="sm"/>
                      <a:tailEnd type="none" w="sm" len="sm"/>
                    </a:lnT>
                    <a:lnB w="9525" cap="flat" cmpd="sng">
                      <a:solidFill>
                        <a:srgbClr val="E9EDF3"/>
                      </a:solidFill>
                      <a:prstDash val="solid"/>
                      <a:round/>
                      <a:headEnd type="none" w="sm" len="sm"/>
                      <a:tailEnd type="none" w="sm" len="sm"/>
                    </a:lnB>
                    <a:solidFill>
                      <a:srgbClr val="FDECEC"/>
                    </a:solidFill>
                  </a:tcPr>
                </a:tc>
                <a:extLst>
                  <a:ext uri="{0D108BD9-81ED-4DB2-BD59-A6C34878D82A}">
                    <a16:rowId xmlns:a16="http://schemas.microsoft.com/office/drawing/2014/main" val="10001"/>
                  </a:ext>
                </a:extLst>
              </a:tr>
              <a:tr h="310900">
                <a:tc>
                  <a:txBody>
                    <a:bodyPr/>
                    <a:lstStyle/>
                    <a:p>
                      <a:pPr marL="0" marR="0" lvl="0" indent="0" algn="l" rtl="0">
                        <a:spcBef>
                          <a:spcPts val="0"/>
                        </a:spcBef>
                        <a:spcAft>
                          <a:spcPts val="0"/>
                        </a:spcAft>
                        <a:buNone/>
                      </a:pPr>
                      <a:r>
                        <a:rPr lang="en" sz="1000" u="none" strike="noStrike" cap="none">
                          <a:solidFill>
                            <a:srgbClr val="111827"/>
                          </a:solidFill>
                          <a:latin typeface="Montserrat Medium"/>
                          <a:ea typeface="Montserrat Medium"/>
                          <a:cs typeface="Montserrat Medium"/>
                          <a:sym typeface="Montserrat Medium"/>
                        </a:rPr>
                        <a:t>Quay lại ≥ 2 ca</a:t>
                      </a:r>
                      <a:endParaRPr sz="1000">
                        <a:latin typeface="Montserrat Medium"/>
                        <a:ea typeface="Montserrat Medium"/>
                        <a:cs typeface="Montserrat Medium"/>
                        <a:sym typeface="Montserrat Medium"/>
                      </a:endParaRPr>
                    </a:p>
                  </a:txBody>
                  <a:tcPr marL="73150" marR="73150" marT="18300" marB="18300" anchor="ctr">
                    <a:lnL w="9525" cap="flat" cmpd="sng">
                      <a:solidFill>
                        <a:srgbClr val="E9EDF3"/>
                      </a:solidFill>
                      <a:prstDash val="solid"/>
                      <a:round/>
                      <a:headEnd type="none" w="sm" len="sm"/>
                      <a:tailEnd type="none" w="sm" len="sm"/>
                    </a:lnL>
                    <a:lnR w="9525" cap="flat" cmpd="sng">
                      <a:solidFill>
                        <a:srgbClr val="E9EDF3"/>
                      </a:solidFill>
                      <a:prstDash val="solid"/>
                      <a:round/>
                      <a:headEnd type="none" w="sm" len="sm"/>
                      <a:tailEnd type="none" w="sm" len="sm"/>
                    </a:lnR>
                    <a:lnT w="9525" cap="flat" cmpd="sng">
                      <a:solidFill>
                        <a:srgbClr val="E9EDF3"/>
                      </a:solidFill>
                      <a:prstDash val="solid"/>
                      <a:round/>
                      <a:headEnd type="none" w="sm" len="sm"/>
                      <a:tailEnd type="none" w="sm" len="sm"/>
                    </a:lnT>
                    <a:lnB w="9525" cap="flat" cmpd="sng">
                      <a:solidFill>
                        <a:srgbClr val="E9EDF3"/>
                      </a:solidFill>
                      <a:prstDash val="solid"/>
                      <a:round/>
                      <a:headEnd type="none" w="sm" len="sm"/>
                      <a:tailEnd type="none" w="sm" len="sm"/>
                    </a:lnB>
                    <a:solidFill>
                      <a:srgbClr val="F7F9FC"/>
                    </a:solidFill>
                  </a:tcPr>
                </a:tc>
                <a:tc>
                  <a:txBody>
                    <a:bodyPr/>
                    <a:lstStyle/>
                    <a:p>
                      <a:pPr marL="0" marR="0" lvl="0" indent="0" algn="ctr" rtl="0">
                        <a:spcBef>
                          <a:spcPts val="0"/>
                        </a:spcBef>
                        <a:spcAft>
                          <a:spcPts val="0"/>
                        </a:spcAft>
                        <a:buNone/>
                      </a:pPr>
                      <a:r>
                        <a:rPr lang="en" sz="1000" u="none" strike="noStrike" cap="none">
                          <a:solidFill>
                            <a:srgbClr val="111827"/>
                          </a:solidFill>
                          <a:latin typeface="Montserrat Medium"/>
                          <a:ea typeface="Montserrat Medium"/>
                          <a:cs typeface="Montserrat Medium"/>
                          <a:sym typeface="Montserrat Medium"/>
                        </a:rPr>
                        <a:t>46</a:t>
                      </a:r>
                      <a:endParaRPr sz="1000">
                        <a:latin typeface="Montserrat Medium"/>
                        <a:ea typeface="Montserrat Medium"/>
                        <a:cs typeface="Montserrat Medium"/>
                        <a:sym typeface="Montserrat Medium"/>
                      </a:endParaRPr>
                    </a:p>
                  </a:txBody>
                  <a:tcPr marL="73150" marR="73150" marT="18300" marB="18300" anchor="ctr">
                    <a:lnL w="9525" cap="flat" cmpd="sng">
                      <a:solidFill>
                        <a:srgbClr val="E9EDF3"/>
                      </a:solidFill>
                      <a:prstDash val="solid"/>
                      <a:round/>
                      <a:headEnd type="none" w="sm" len="sm"/>
                      <a:tailEnd type="none" w="sm" len="sm"/>
                    </a:lnL>
                    <a:lnR w="9525" cap="flat" cmpd="sng">
                      <a:solidFill>
                        <a:srgbClr val="E9EDF3"/>
                      </a:solidFill>
                      <a:prstDash val="solid"/>
                      <a:round/>
                      <a:headEnd type="none" w="sm" len="sm"/>
                      <a:tailEnd type="none" w="sm" len="sm"/>
                    </a:lnR>
                    <a:lnT w="9525" cap="flat" cmpd="sng">
                      <a:solidFill>
                        <a:srgbClr val="E9EDF3"/>
                      </a:solidFill>
                      <a:prstDash val="solid"/>
                      <a:round/>
                      <a:headEnd type="none" w="sm" len="sm"/>
                      <a:tailEnd type="none" w="sm" len="sm"/>
                    </a:lnT>
                    <a:lnB w="9525" cap="flat" cmpd="sng">
                      <a:solidFill>
                        <a:srgbClr val="E9EDF3"/>
                      </a:solidFill>
                      <a:prstDash val="solid"/>
                      <a:round/>
                      <a:headEnd type="none" w="sm" len="sm"/>
                      <a:tailEnd type="none" w="sm" len="sm"/>
                    </a:lnB>
                    <a:solidFill>
                      <a:srgbClr val="F7F9FC"/>
                    </a:solidFill>
                  </a:tcPr>
                </a:tc>
                <a:tc>
                  <a:txBody>
                    <a:bodyPr/>
                    <a:lstStyle/>
                    <a:p>
                      <a:pPr marL="0" marR="0" lvl="0" indent="0" algn="ctr" rtl="0">
                        <a:spcBef>
                          <a:spcPts val="0"/>
                        </a:spcBef>
                        <a:spcAft>
                          <a:spcPts val="0"/>
                        </a:spcAft>
                        <a:buNone/>
                      </a:pPr>
                      <a:r>
                        <a:rPr lang="en" sz="1000" u="none" strike="noStrike" cap="none">
                          <a:solidFill>
                            <a:srgbClr val="111827"/>
                          </a:solidFill>
                          <a:latin typeface="Montserrat Medium"/>
                          <a:ea typeface="Montserrat Medium"/>
                          <a:cs typeface="Montserrat Medium"/>
                          <a:sym typeface="Montserrat Medium"/>
                        </a:rPr>
                        <a:t>44.2%</a:t>
                      </a:r>
                      <a:endParaRPr sz="1000">
                        <a:latin typeface="Montserrat Medium"/>
                        <a:ea typeface="Montserrat Medium"/>
                        <a:cs typeface="Montserrat Medium"/>
                        <a:sym typeface="Montserrat Medium"/>
                      </a:endParaRPr>
                    </a:p>
                  </a:txBody>
                  <a:tcPr marL="73150" marR="73150" marT="18300" marB="18300" anchor="ctr">
                    <a:lnL w="9525" cap="flat" cmpd="sng">
                      <a:solidFill>
                        <a:srgbClr val="E9EDF3"/>
                      </a:solidFill>
                      <a:prstDash val="solid"/>
                      <a:round/>
                      <a:headEnd type="none" w="sm" len="sm"/>
                      <a:tailEnd type="none" w="sm" len="sm"/>
                    </a:lnL>
                    <a:lnR w="9525" cap="flat" cmpd="sng">
                      <a:solidFill>
                        <a:srgbClr val="E9EDF3"/>
                      </a:solidFill>
                      <a:prstDash val="solid"/>
                      <a:round/>
                      <a:headEnd type="none" w="sm" len="sm"/>
                      <a:tailEnd type="none" w="sm" len="sm"/>
                    </a:lnR>
                    <a:lnT w="9525" cap="flat" cmpd="sng">
                      <a:solidFill>
                        <a:srgbClr val="E9EDF3"/>
                      </a:solidFill>
                      <a:prstDash val="solid"/>
                      <a:round/>
                      <a:headEnd type="none" w="sm" len="sm"/>
                      <a:tailEnd type="none" w="sm" len="sm"/>
                    </a:lnT>
                    <a:lnB w="9525" cap="flat" cmpd="sng">
                      <a:solidFill>
                        <a:srgbClr val="E9EDF3"/>
                      </a:solidFill>
                      <a:prstDash val="solid"/>
                      <a:round/>
                      <a:headEnd type="none" w="sm" len="sm"/>
                      <a:tailEnd type="none" w="sm" len="sm"/>
                    </a:lnB>
                    <a:solidFill>
                      <a:srgbClr val="F7F9FC"/>
                    </a:solidFill>
                  </a:tcPr>
                </a:tc>
                <a:extLst>
                  <a:ext uri="{0D108BD9-81ED-4DB2-BD59-A6C34878D82A}">
                    <a16:rowId xmlns:a16="http://schemas.microsoft.com/office/drawing/2014/main" val="10002"/>
                  </a:ext>
                </a:extLst>
              </a:tr>
              <a:tr h="310900">
                <a:tc>
                  <a:txBody>
                    <a:bodyPr/>
                    <a:lstStyle/>
                    <a:p>
                      <a:pPr marL="0" marR="0" lvl="0" indent="0" algn="l" rtl="0">
                        <a:spcBef>
                          <a:spcPts val="0"/>
                        </a:spcBef>
                        <a:spcAft>
                          <a:spcPts val="0"/>
                        </a:spcAft>
                        <a:buNone/>
                      </a:pPr>
                      <a:r>
                        <a:rPr lang="en" sz="1000" u="none" strike="noStrike" cap="none">
                          <a:solidFill>
                            <a:srgbClr val="111827"/>
                          </a:solidFill>
                          <a:latin typeface="Montserrat Medium"/>
                          <a:ea typeface="Montserrat Medium"/>
                          <a:cs typeface="Montserrat Medium"/>
                          <a:sym typeface="Montserrat Medium"/>
                        </a:rPr>
                        <a:t>Quay lại ≥ 2 ngày khác nhau</a:t>
                      </a:r>
                      <a:endParaRPr sz="1000">
                        <a:latin typeface="Montserrat Medium"/>
                        <a:ea typeface="Montserrat Medium"/>
                        <a:cs typeface="Montserrat Medium"/>
                        <a:sym typeface="Montserrat Medium"/>
                      </a:endParaRPr>
                    </a:p>
                  </a:txBody>
                  <a:tcPr marL="73150" marR="73150" marT="18300" marB="18300" anchor="ctr">
                    <a:lnL w="9525" cap="flat" cmpd="sng">
                      <a:solidFill>
                        <a:srgbClr val="E9EDF3"/>
                      </a:solidFill>
                      <a:prstDash val="solid"/>
                      <a:round/>
                      <a:headEnd type="none" w="sm" len="sm"/>
                      <a:tailEnd type="none" w="sm" len="sm"/>
                    </a:lnL>
                    <a:lnR w="9525" cap="flat" cmpd="sng">
                      <a:solidFill>
                        <a:srgbClr val="E9EDF3"/>
                      </a:solidFill>
                      <a:prstDash val="solid"/>
                      <a:round/>
                      <a:headEnd type="none" w="sm" len="sm"/>
                      <a:tailEnd type="none" w="sm" len="sm"/>
                    </a:lnR>
                    <a:lnT w="9525" cap="flat" cmpd="sng">
                      <a:solidFill>
                        <a:srgbClr val="E9EDF3"/>
                      </a:solidFill>
                      <a:prstDash val="solid"/>
                      <a:round/>
                      <a:headEnd type="none" w="sm" len="sm"/>
                      <a:tailEnd type="none" w="sm" len="sm"/>
                    </a:lnT>
                    <a:lnB w="9525" cap="flat" cmpd="sng">
                      <a:solidFill>
                        <a:srgbClr val="E9EDF3"/>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None/>
                      </a:pPr>
                      <a:r>
                        <a:rPr lang="en" sz="1000" u="none" strike="noStrike" cap="none">
                          <a:solidFill>
                            <a:srgbClr val="111827"/>
                          </a:solidFill>
                          <a:latin typeface="Montserrat Medium"/>
                          <a:ea typeface="Montserrat Medium"/>
                          <a:cs typeface="Montserrat Medium"/>
                          <a:sym typeface="Montserrat Medium"/>
                        </a:rPr>
                        <a:t>41</a:t>
                      </a:r>
                      <a:endParaRPr sz="1000">
                        <a:latin typeface="Montserrat Medium"/>
                        <a:ea typeface="Montserrat Medium"/>
                        <a:cs typeface="Montserrat Medium"/>
                        <a:sym typeface="Montserrat Medium"/>
                      </a:endParaRPr>
                    </a:p>
                  </a:txBody>
                  <a:tcPr marL="73150" marR="73150" marT="18300" marB="18300" anchor="ctr">
                    <a:lnL w="9525" cap="flat" cmpd="sng">
                      <a:solidFill>
                        <a:srgbClr val="E9EDF3"/>
                      </a:solidFill>
                      <a:prstDash val="solid"/>
                      <a:round/>
                      <a:headEnd type="none" w="sm" len="sm"/>
                      <a:tailEnd type="none" w="sm" len="sm"/>
                    </a:lnL>
                    <a:lnR w="9525" cap="flat" cmpd="sng">
                      <a:solidFill>
                        <a:srgbClr val="E9EDF3"/>
                      </a:solidFill>
                      <a:prstDash val="solid"/>
                      <a:round/>
                      <a:headEnd type="none" w="sm" len="sm"/>
                      <a:tailEnd type="none" w="sm" len="sm"/>
                    </a:lnR>
                    <a:lnT w="9525" cap="flat" cmpd="sng">
                      <a:solidFill>
                        <a:srgbClr val="E9EDF3"/>
                      </a:solidFill>
                      <a:prstDash val="solid"/>
                      <a:round/>
                      <a:headEnd type="none" w="sm" len="sm"/>
                      <a:tailEnd type="none" w="sm" len="sm"/>
                    </a:lnT>
                    <a:lnB w="9525" cap="flat" cmpd="sng">
                      <a:solidFill>
                        <a:srgbClr val="E9EDF3"/>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None/>
                      </a:pPr>
                      <a:r>
                        <a:rPr lang="en" sz="1000" u="none" strike="noStrike" cap="none">
                          <a:solidFill>
                            <a:srgbClr val="111827"/>
                          </a:solidFill>
                          <a:latin typeface="Montserrat Medium"/>
                          <a:ea typeface="Montserrat Medium"/>
                          <a:cs typeface="Montserrat Medium"/>
                          <a:sym typeface="Montserrat Medium"/>
                        </a:rPr>
                        <a:t>39.4%</a:t>
                      </a:r>
                      <a:endParaRPr sz="1000">
                        <a:latin typeface="Montserrat Medium"/>
                        <a:ea typeface="Montserrat Medium"/>
                        <a:cs typeface="Montserrat Medium"/>
                        <a:sym typeface="Montserrat Medium"/>
                      </a:endParaRPr>
                    </a:p>
                  </a:txBody>
                  <a:tcPr marL="73150" marR="73150" marT="18300" marB="18300" anchor="ctr">
                    <a:lnL w="9525" cap="flat" cmpd="sng">
                      <a:solidFill>
                        <a:srgbClr val="E9EDF3"/>
                      </a:solidFill>
                      <a:prstDash val="solid"/>
                      <a:round/>
                      <a:headEnd type="none" w="sm" len="sm"/>
                      <a:tailEnd type="none" w="sm" len="sm"/>
                    </a:lnL>
                    <a:lnR w="9525" cap="flat" cmpd="sng">
                      <a:solidFill>
                        <a:srgbClr val="E9EDF3"/>
                      </a:solidFill>
                      <a:prstDash val="solid"/>
                      <a:round/>
                      <a:headEnd type="none" w="sm" len="sm"/>
                      <a:tailEnd type="none" w="sm" len="sm"/>
                    </a:lnR>
                    <a:lnT w="9525" cap="flat" cmpd="sng">
                      <a:solidFill>
                        <a:srgbClr val="E9EDF3"/>
                      </a:solidFill>
                      <a:prstDash val="solid"/>
                      <a:round/>
                      <a:headEnd type="none" w="sm" len="sm"/>
                      <a:tailEnd type="none" w="sm" len="sm"/>
                    </a:lnT>
                    <a:lnB w="9525" cap="flat" cmpd="sng">
                      <a:solidFill>
                        <a:srgbClr val="E9EDF3"/>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310900">
                <a:tc>
                  <a:txBody>
                    <a:bodyPr/>
                    <a:lstStyle/>
                    <a:p>
                      <a:pPr marL="0" marR="0" lvl="0" indent="0" algn="l" rtl="0">
                        <a:spcBef>
                          <a:spcPts val="0"/>
                        </a:spcBef>
                        <a:spcAft>
                          <a:spcPts val="0"/>
                        </a:spcAft>
                        <a:buNone/>
                      </a:pPr>
                      <a:r>
                        <a:rPr lang="en" sz="1000" u="none" strike="noStrike" cap="none">
                          <a:solidFill>
                            <a:srgbClr val="111827"/>
                          </a:solidFill>
                          <a:latin typeface="Montserrat Medium"/>
                          <a:ea typeface="Montserrat Medium"/>
                          <a:cs typeface="Montserrat Medium"/>
                          <a:sym typeface="Montserrat Medium"/>
                        </a:rPr>
                        <a:t>Quay lại ≥ 3 ngày khác nhau</a:t>
                      </a:r>
                      <a:endParaRPr sz="1000">
                        <a:latin typeface="Montserrat Medium"/>
                        <a:ea typeface="Montserrat Medium"/>
                        <a:cs typeface="Montserrat Medium"/>
                        <a:sym typeface="Montserrat Medium"/>
                      </a:endParaRPr>
                    </a:p>
                  </a:txBody>
                  <a:tcPr marL="73150" marR="73150" marT="18300" marB="18300" anchor="ctr">
                    <a:lnL w="9525" cap="flat" cmpd="sng">
                      <a:solidFill>
                        <a:srgbClr val="E9EDF3"/>
                      </a:solidFill>
                      <a:prstDash val="solid"/>
                      <a:round/>
                      <a:headEnd type="none" w="sm" len="sm"/>
                      <a:tailEnd type="none" w="sm" len="sm"/>
                    </a:lnL>
                    <a:lnR w="9525" cap="flat" cmpd="sng">
                      <a:solidFill>
                        <a:srgbClr val="E9EDF3"/>
                      </a:solidFill>
                      <a:prstDash val="solid"/>
                      <a:round/>
                      <a:headEnd type="none" w="sm" len="sm"/>
                      <a:tailEnd type="none" w="sm" len="sm"/>
                    </a:lnR>
                    <a:lnT w="9525" cap="flat" cmpd="sng">
                      <a:solidFill>
                        <a:srgbClr val="E9EDF3"/>
                      </a:solidFill>
                      <a:prstDash val="solid"/>
                      <a:round/>
                      <a:headEnd type="none" w="sm" len="sm"/>
                      <a:tailEnd type="none" w="sm" len="sm"/>
                    </a:lnT>
                    <a:lnB w="9525" cap="flat" cmpd="sng">
                      <a:solidFill>
                        <a:srgbClr val="E9EDF3"/>
                      </a:solidFill>
                      <a:prstDash val="solid"/>
                      <a:round/>
                      <a:headEnd type="none" w="sm" len="sm"/>
                      <a:tailEnd type="none" w="sm" len="sm"/>
                    </a:lnB>
                    <a:solidFill>
                      <a:srgbClr val="F7F9FC"/>
                    </a:solidFill>
                  </a:tcPr>
                </a:tc>
                <a:tc>
                  <a:txBody>
                    <a:bodyPr/>
                    <a:lstStyle/>
                    <a:p>
                      <a:pPr marL="0" marR="0" lvl="0" indent="0" algn="ctr" rtl="0">
                        <a:spcBef>
                          <a:spcPts val="0"/>
                        </a:spcBef>
                        <a:spcAft>
                          <a:spcPts val="0"/>
                        </a:spcAft>
                        <a:buNone/>
                      </a:pPr>
                      <a:r>
                        <a:rPr lang="en" sz="1000" u="none" strike="noStrike" cap="none">
                          <a:solidFill>
                            <a:srgbClr val="111827"/>
                          </a:solidFill>
                          <a:latin typeface="Montserrat Medium"/>
                          <a:ea typeface="Montserrat Medium"/>
                          <a:cs typeface="Montserrat Medium"/>
                          <a:sym typeface="Montserrat Medium"/>
                        </a:rPr>
                        <a:t>18</a:t>
                      </a:r>
                      <a:endParaRPr sz="1000">
                        <a:latin typeface="Montserrat Medium"/>
                        <a:ea typeface="Montserrat Medium"/>
                        <a:cs typeface="Montserrat Medium"/>
                        <a:sym typeface="Montserrat Medium"/>
                      </a:endParaRPr>
                    </a:p>
                  </a:txBody>
                  <a:tcPr marL="73150" marR="73150" marT="18300" marB="18300" anchor="ctr">
                    <a:lnL w="9525" cap="flat" cmpd="sng">
                      <a:solidFill>
                        <a:srgbClr val="E9EDF3"/>
                      </a:solidFill>
                      <a:prstDash val="solid"/>
                      <a:round/>
                      <a:headEnd type="none" w="sm" len="sm"/>
                      <a:tailEnd type="none" w="sm" len="sm"/>
                    </a:lnL>
                    <a:lnR w="9525" cap="flat" cmpd="sng">
                      <a:solidFill>
                        <a:srgbClr val="E9EDF3"/>
                      </a:solidFill>
                      <a:prstDash val="solid"/>
                      <a:round/>
                      <a:headEnd type="none" w="sm" len="sm"/>
                      <a:tailEnd type="none" w="sm" len="sm"/>
                    </a:lnR>
                    <a:lnT w="9525" cap="flat" cmpd="sng">
                      <a:solidFill>
                        <a:srgbClr val="E9EDF3"/>
                      </a:solidFill>
                      <a:prstDash val="solid"/>
                      <a:round/>
                      <a:headEnd type="none" w="sm" len="sm"/>
                      <a:tailEnd type="none" w="sm" len="sm"/>
                    </a:lnT>
                    <a:lnB w="9525" cap="flat" cmpd="sng">
                      <a:solidFill>
                        <a:srgbClr val="E9EDF3"/>
                      </a:solidFill>
                      <a:prstDash val="solid"/>
                      <a:round/>
                      <a:headEnd type="none" w="sm" len="sm"/>
                      <a:tailEnd type="none" w="sm" len="sm"/>
                    </a:lnB>
                    <a:solidFill>
                      <a:srgbClr val="F7F9FC"/>
                    </a:solidFill>
                  </a:tcPr>
                </a:tc>
                <a:tc>
                  <a:txBody>
                    <a:bodyPr/>
                    <a:lstStyle/>
                    <a:p>
                      <a:pPr marL="0" marR="0" lvl="0" indent="0" algn="ctr" rtl="0">
                        <a:spcBef>
                          <a:spcPts val="0"/>
                        </a:spcBef>
                        <a:spcAft>
                          <a:spcPts val="0"/>
                        </a:spcAft>
                        <a:buNone/>
                      </a:pPr>
                      <a:r>
                        <a:rPr lang="en" sz="1000" u="none" strike="noStrike" cap="none">
                          <a:solidFill>
                            <a:srgbClr val="111827"/>
                          </a:solidFill>
                          <a:latin typeface="Montserrat Medium"/>
                          <a:ea typeface="Montserrat Medium"/>
                          <a:cs typeface="Montserrat Medium"/>
                          <a:sym typeface="Montserrat Medium"/>
                        </a:rPr>
                        <a:t>17.3%</a:t>
                      </a:r>
                      <a:endParaRPr sz="1000">
                        <a:latin typeface="Montserrat Medium"/>
                        <a:ea typeface="Montserrat Medium"/>
                        <a:cs typeface="Montserrat Medium"/>
                        <a:sym typeface="Montserrat Medium"/>
                      </a:endParaRPr>
                    </a:p>
                  </a:txBody>
                  <a:tcPr marL="73150" marR="73150" marT="18300" marB="18300" anchor="ctr">
                    <a:lnL w="9525" cap="flat" cmpd="sng">
                      <a:solidFill>
                        <a:srgbClr val="E9EDF3"/>
                      </a:solidFill>
                      <a:prstDash val="solid"/>
                      <a:round/>
                      <a:headEnd type="none" w="sm" len="sm"/>
                      <a:tailEnd type="none" w="sm" len="sm"/>
                    </a:lnL>
                    <a:lnR w="9525" cap="flat" cmpd="sng">
                      <a:solidFill>
                        <a:srgbClr val="E9EDF3"/>
                      </a:solidFill>
                      <a:prstDash val="solid"/>
                      <a:round/>
                      <a:headEnd type="none" w="sm" len="sm"/>
                      <a:tailEnd type="none" w="sm" len="sm"/>
                    </a:lnR>
                    <a:lnT w="9525" cap="flat" cmpd="sng">
                      <a:solidFill>
                        <a:srgbClr val="E9EDF3"/>
                      </a:solidFill>
                      <a:prstDash val="solid"/>
                      <a:round/>
                      <a:headEnd type="none" w="sm" len="sm"/>
                      <a:tailEnd type="none" w="sm" len="sm"/>
                    </a:lnT>
                    <a:lnB w="9525" cap="flat" cmpd="sng">
                      <a:solidFill>
                        <a:srgbClr val="E9EDF3"/>
                      </a:solidFill>
                      <a:prstDash val="solid"/>
                      <a:round/>
                      <a:headEnd type="none" w="sm" len="sm"/>
                      <a:tailEnd type="none" w="sm" len="sm"/>
                    </a:lnB>
                    <a:solidFill>
                      <a:srgbClr val="F7F9FC"/>
                    </a:solidFill>
                  </a:tcPr>
                </a:tc>
                <a:extLst>
                  <a:ext uri="{0D108BD9-81ED-4DB2-BD59-A6C34878D82A}">
                    <a16:rowId xmlns:a16="http://schemas.microsoft.com/office/drawing/2014/main" val="10004"/>
                  </a:ext>
                </a:extLst>
              </a:tr>
            </a:tbl>
          </a:graphicData>
        </a:graphic>
      </p:graphicFrame>
      <p:sp>
        <p:nvSpPr>
          <p:cNvPr id="1029" name="Google Shape;1029;p70"/>
          <p:cNvSpPr txBox="1"/>
          <p:nvPr/>
        </p:nvSpPr>
        <p:spPr>
          <a:xfrm>
            <a:off x="4754865" y="1060665"/>
            <a:ext cx="6766500" cy="169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 sz="1100" b="1" i="0" u="none" strike="noStrike" cap="none">
                <a:solidFill>
                  <a:srgbClr val="0E4174"/>
                </a:solidFill>
                <a:latin typeface="Lexend"/>
                <a:ea typeface="Lexend"/>
                <a:cs typeface="Lexend"/>
                <a:sym typeface="Lexend"/>
              </a:rPr>
              <a:t>QUY MÔ TĂNG NHƯNG CHẤT LƯỢNG ĐI NGANG</a:t>
            </a:r>
            <a:endParaRPr sz="1100" b="1">
              <a:latin typeface="Lexend"/>
              <a:ea typeface="Lexend"/>
              <a:cs typeface="Lexend"/>
              <a:sym typeface="Lexend"/>
            </a:endParaRPr>
          </a:p>
        </p:txBody>
      </p:sp>
      <p:graphicFrame>
        <p:nvGraphicFramePr>
          <p:cNvPr id="1030" name="Google Shape;1030;p70"/>
          <p:cNvGraphicFramePr/>
          <p:nvPr/>
        </p:nvGraphicFramePr>
        <p:xfrm>
          <a:off x="4754865" y="1297787"/>
          <a:ext cx="3000000" cy="3000000"/>
        </p:xfrm>
        <a:graphic>
          <a:graphicData uri="http://schemas.openxmlformats.org/drawingml/2006/table">
            <a:tbl>
              <a:tblPr firstRow="1" bandRow="1">
                <a:noFill/>
                <a:tableStyleId>{58EF4B7D-01BA-4299-BD77-9BEE6CE2F989}</a:tableStyleId>
              </a:tblPr>
              <a:tblGrid>
                <a:gridCol w="1246700">
                  <a:extLst>
                    <a:ext uri="{9D8B030D-6E8A-4147-A177-3AD203B41FA5}">
                      <a16:colId xmlns:a16="http://schemas.microsoft.com/office/drawing/2014/main" val="20000"/>
                    </a:ext>
                  </a:extLst>
                </a:gridCol>
                <a:gridCol w="991700">
                  <a:extLst>
                    <a:ext uri="{9D8B030D-6E8A-4147-A177-3AD203B41FA5}">
                      <a16:colId xmlns:a16="http://schemas.microsoft.com/office/drawing/2014/main" val="20001"/>
                    </a:ext>
                  </a:extLst>
                </a:gridCol>
                <a:gridCol w="991700">
                  <a:extLst>
                    <a:ext uri="{9D8B030D-6E8A-4147-A177-3AD203B41FA5}">
                      <a16:colId xmlns:a16="http://schemas.microsoft.com/office/drawing/2014/main" val="20002"/>
                    </a:ext>
                  </a:extLst>
                </a:gridCol>
                <a:gridCol w="793350">
                  <a:extLst>
                    <a:ext uri="{9D8B030D-6E8A-4147-A177-3AD203B41FA5}">
                      <a16:colId xmlns:a16="http://schemas.microsoft.com/office/drawing/2014/main" val="20003"/>
                    </a:ext>
                  </a:extLst>
                </a:gridCol>
              </a:tblGrid>
              <a:tr h="365750">
                <a:tc>
                  <a:txBody>
                    <a:bodyPr/>
                    <a:lstStyle/>
                    <a:p>
                      <a:pPr marL="0" marR="0" lvl="0" indent="0" algn="l" rtl="0">
                        <a:spcBef>
                          <a:spcPts val="0"/>
                        </a:spcBef>
                        <a:spcAft>
                          <a:spcPts val="0"/>
                        </a:spcAft>
                        <a:buNone/>
                      </a:pPr>
                      <a:endParaRPr sz="1000" b="0" u="none" strike="noStrike" cap="none">
                        <a:solidFill>
                          <a:srgbClr val="000000"/>
                        </a:solidFill>
                        <a:latin typeface="Montserrat Medium"/>
                        <a:ea typeface="Montserrat Medium"/>
                        <a:cs typeface="Montserrat Medium"/>
                        <a:sym typeface="Montserrat Medium"/>
                      </a:endParaRPr>
                    </a:p>
                  </a:txBody>
                  <a:tcPr marL="73150" marR="73150" marT="18300" marB="18300" anchor="ctr">
                    <a:lnL w="9525" cap="flat" cmpd="sng">
                      <a:solidFill>
                        <a:srgbClr val="E9EDF3"/>
                      </a:solidFill>
                      <a:prstDash val="solid"/>
                      <a:round/>
                      <a:headEnd type="none" w="sm" len="sm"/>
                      <a:tailEnd type="none" w="sm" len="sm"/>
                    </a:lnL>
                    <a:lnR w="9525" cap="flat" cmpd="sng">
                      <a:solidFill>
                        <a:srgbClr val="E9EDF3"/>
                      </a:solidFill>
                      <a:prstDash val="solid"/>
                      <a:round/>
                      <a:headEnd type="none" w="sm" len="sm"/>
                      <a:tailEnd type="none" w="sm" len="sm"/>
                    </a:lnR>
                    <a:lnT w="9525" cap="flat" cmpd="sng">
                      <a:solidFill>
                        <a:srgbClr val="E9EDF3"/>
                      </a:solidFill>
                      <a:prstDash val="solid"/>
                      <a:round/>
                      <a:headEnd type="none" w="sm" len="sm"/>
                      <a:tailEnd type="none" w="sm" len="sm"/>
                    </a:lnT>
                    <a:lnB w="9525" cap="flat" cmpd="sng">
                      <a:solidFill>
                        <a:srgbClr val="E9EDF3"/>
                      </a:solidFill>
                      <a:prstDash val="solid"/>
                      <a:round/>
                      <a:headEnd type="none" w="sm" len="sm"/>
                      <a:tailEnd type="none" w="sm" len="sm"/>
                    </a:lnB>
                    <a:solidFill>
                      <a:srgbClr val="0E4174"/>
                    </a:solidFill>
                  </a:tcPr>
                </a:tc>
                <a:tc>
                  <a:txBody>
                    <a:bodyPr/>
                    <a:lstStyle/>
                    <a:p>
                      <a:pPr marL="0" marR="0" lvl="0" indent="0" algn="ctr" rtl="0">
                        <a:spcBef>
                          <a:spcPts val="0"/>
                        </a:spcBef>
                        <a:spcAft>
                          <a:spcPts val="0"/>
                        </a:spcAft>
                        <a:buNone/>
                      </a:pPr>
                      <a:r>
                        <a:rPr lang="en" sz="1000" b="0" u="none" strike="noStrike" cap="none">
                          <a:solidFill>
                            <a:srgbClr val="FFFFFF"/>
                          </a:solidFill>
                          <a:latin typeface="Montserrat Medium"/>
                          <a:ea typeface="Montserrat Medium"/>
                          <a:cs typeface="Montserrat Medium"/>
                          <a:sym typeface="Montserrat Medium"/>
                        </a:rPr>
                        <a:t>Tuần 1 (4–9/8)</a:t>
                      </a:r>
                      <a:endParaRPr sz="1000" b="0">
                        <a:latin typeface="Montserrat Medium"/>
                        <a:ea typeface="Montserrat Medium"/>
                        <a:cs typeface="Montserrat Medium"/>
                        <a:sym typeface="Montserrat Medium"/>
                      </a:endParaRPr>
                    </a:p>
                  </a:txBody>
                  <a:tcPr marL="73150" marR="73150" marT="18300" marB="18300" anchor="ctr">
                    <a:lnL w="9525" cap="flat" cmpd="sng">
                      <a:solidFill>
                        <a:srgbClr val="E9EDF3"/>
                      </a:solidFill>
                      <a:prstDash val="solid"/>
                      <a:round/>
                      <a:headEnd type="none" w="sm" len="sm"/>
                      <a:tailEnd type="none" w="sm" len="sm"/>
                    </a:lnL>
                    <a:lnR w="9525" cap="flat" cmpd="sng">
                      <a:solidFill>
                        <a:srgbClr val="E9EDF3"/>
                      </a:solidFill>
                      <a:prstDash val="solid"/>
                      <a:round/>
                      <a:headEnd type="none" w="sm" len="sm"/>
                      <a:tailEnd type="none" w="sm" len="sm"/>
                    </a:lnR>
                    <a:lnT w="9525" cap="flat" cmpd="sng">
                      <a:solidFill>
                        <a:srgbClr val="E9EDF3"/>
                      </a:solidFill>
                      <a:prstDash val="solid"/>
                      <a:round/>
                      <a:headEnd type="none" w="sm" len="sm"/>
                      <a:tailEnd type="none" w="sm" len="sm"/>
                    </a:lnT>
                    <a:lnB w="9525" cap="flat" cmpd="sng">
                      <a:solidFill>
                        <a:srgbClr val="E9EDF3"/>
                      </a:solidFill>
                      <a:prstDash val="solid"/>
                      <a:round/>
                      <a:headEnd type="none" w="sm" len="sm"/>
                      <a:tailEnd type="none" w="sm" len="sm"/>
                    </a:lnB>
                    <a:solidFill>
                      <a:srgbClr val="0E4174"/>
                    </a:solidFill>
                  </a:tcPr>
                </a:tc>
                <a:tc>
                  <a:txBody>
                    <a:bodyPr/>
                    <a:lstStyle/>
                    <a:p>
                      <a:pPr marL="0" marR="0" lvl="0" indent="0" algn="ctr" rtl="0">
                        <a:spcBef>
                          <a:spcPts val="0"/>
                        </a:spcBef>
                        <a:spcAft>
                          <a:spcPts val="0"/>
                        </a:spcAft>
                        <a:buNone/>
                      </a:pPr>
                      <a:r>
                        <a:rPr lang="en" sz="1000" b="0" u="none" strike="noStrike" cap="none">
                          <a:solidFill>
                            <a:srgbClr val="FFFFFF"/>
                          </a:solidFill>
                          <a:latin typeface="Montserrat Medium"/>
                          <a:ea typeface="Montserrat Medium"/>
                          <a:cs typeface="Montserrat Medium"/>
                          <a:sym typeface="Montserrat Medium"/>
                        </a:rPr>
                        <a:t>Tuần 2 (10–16/8)</a:t>
                      </a:r>
                      <a:endParaRPr sz="1000" b="0">
                        <a:latin typeface="Montserrat Medium"/>
                        <a:ea typeface="Montserrat Medium"/>
                        <a:cs typeface="Montserrat Medium"/>
                        <a:sym typeface="Montserrat Medium"/>
                      </a:endParaRPr>
                    </a:p>
                  </a:txBody>
                  <a:tcPr marL="73150" marR="73150" marT="18300" marB="18300" anchor="ctr">
                    <a:lnL w="9525" cap="flat" cmpd="sng">
                      <a:solidFill>
                        <a:srgbClr val="E9EDF3"/>
                      </a:solidFill>
                      <a:prstDash val="solid"/>
                      <a:round/>
                      <a:headEnd type="none" w="sm" len="sm"/>
                      <a:tailEnd type="none" w="sm" len="sm"/>
                    </a:lnL>
                    <a:lnR w="9525" cap="flat" cmpd="sng">
                      <a:solidFill>
                        <a:srgbClr val="E9EDF3"/>
                      </a:solidFill>
                      <a:prstDash val="solid"/>
                      <a:round/>
                      <a:headEnd type="none" w="sm" len="sm"/>
                      <a:tailEnd type="none" w="sm" len="sm"/>
                    </a:lnR>
                    <a:lnT w="9525" cap="flat" cmpd="sng">
                      <a:solidFill>
                        <a:srgbClr val="E9EDF3"/>
                      </a:solidFill>
                      <a:prstDash val="solid"/>
                      <a:round/>
                      <a:headEnd type="none" w="sm" len="sm"/>
                      <a:tailEnd type="none" w="sm" len="sm"/>
                    </a:lnT>
                    <a:lnB w="9525" cap="flat" cmpd="sng">
                      <a:solidFill>
                        <a:srgbClr val="E9EDF3"/>
                      </a:solidFill>
                      <a:prstDash val="solid"/>
                      <a:round/>
                      <a:headEnd type="none" w="sm" len="sm"/>
                      <a:tailEnd type="none" w="sm" len="sm"/>
                    </a:lnB>
                    <a:solidFill>
                      <a:srgbClr val="0B467F"/>
                    </a:solidFill>
                  </a:tcPr>
                </a:tc>
                <a:tc>
                  <a:txBody>
                    <a:bodyPr/>
                    <a:lstStyle/>
                    <a:p>
                      <a:pPr marL="0" marR="0" lvl="0" indent="0" algn="ctr" rtl="0">
                        <a:spcBef>
                          <a:spcPts val="0"/>
                        </a:spcBef>
                        <a:spcAft>
                          <a:spcPts val="0"/>
                        </a:spcAft>
                        <a:buNone/>
                      </a:pPr>
                      <a:r>
                        <a:rPr lang="en" sz="1000" b="0" u="none" strike="noStrike" cap="none">
                          <a:solidFill>
                            <a:srgbClr val="FFFFFF"/>
                          </a:solidFill>
                          <a:latin typeface="Montserrat Medium"/>
                          <a:ea typeface="Montserrat Medium"/>
                          <a:cs typeface="Montserrat Medium"/>
                          <a:sym typeface="Montserrat Medium"/>
                        </a:rPr>
                        <a:t>Thay đổi</a:t>
                      </a:r>
                      <a:endParaRPr sz="1000" b="0">
                        <a:latin typeface="Montserrat Medium"/>
                        <a:ea typeface="Montserrat Medium"/>
                        <a:cs typeface="Montserrat Medium"/>
                        <a:sym typeface="Montserrat Medium"/>
                      </a:endParaRPr>
                    </a:p>
                  </a:txBody>
                  <a:tcPr marL="73150" marR="73150" marT="18300" marB="18300" anchor="ctr">
                    <a:lnL w="9525" cap="flat" cmpd="sng">
                      <a:solidFill>
                        <a:srgbClr val="E9EDF3"/>
                      </a:solidFill>
                      <a:prstDash val="solid"/>
                      <a:round/>
                      <a:headEnd type="none" w="sm" len="sm"/>
                      <a:tailEnd type="none" w="sm" len="sm"/>
                    </a:lnL>
                    <a:lnR w="9525" cap="flat" cmpd="sng">
                      <a:solidFill>
                        <a:srgbClr val="E9EDF3"/>
                      </a:solidFill>
                      <a:prstDash val="solid"/>
                      <a:round/>
                      <a:headEnd type="none" w="sm" len="sm"/>
                      <a:tailEnd type="none" w="sm" len="sm"/>
                    </a:lnR>
                    <a:lnT w="9525" cap="flat" cmpd="sng">
                      <a:solidFill>
                        <a:srgbClr val="E9EDF3"/>
                      </a:solidFill>
                      <a:prstDash val="solid"/>
                      <a:round/>
                      <a:headEnd type="none" w="sm" len="sm"/>
                      <a:tailEnd type="none" w="sm" len="sm"/>
                    </a:lnT>
                    <a:lnB w="9525" cap="flat" cmpd="sng">
                      <a:solidFill>
                        <a:srgbClr val="E9EDF3"/>
                      </a:solidFill>
                      <a:prstDash val="solid"/>
                      <a:round/>
                      <a:headEnd type="none" w="sm" len="sm"/>
                      <a:tailEnd type="none" w="sm" len="sm"/>
                    </a:lnB>
                    <a:solidFill>
                      <a:srgbClr val="0B467F"/>
                    </a:solidFill>
                  </a:tcPr>
                </a:tc>
                <a:extLst>
                  <a:ext uri="{0D108BD9-81ED-4DB2-BD59-A6C34878D82A}">
                    <a16:rowId xmlns:a16="http://schemas.microsoft.com/office/drawing/2014/main" val="10000"/>
                  </a:ext>
                </a:extLst>
              </a:tr>
              <a:tr h="310900">
                <a:tc>
                  <a:txBody>
                    <a:bodyPr/>
                    <a:lstStyle/>
                    <a:p>
                      <a:pPr marL="0" marR="0" lvl="0" indent="0" algn="l" rtl="0">
                        <a:spcBef>
                          <a:spcPts val="0"/>
                        </a:spcBef>
                        <a:spcAft>
                          <a:spcPts val="0"/>
                        </a:spcAft>
                        <a:buNone/>
                      </a:pPr>
                      <a:r>
                        <a:rPr lang="en" sz="1000" u="none" strike="noStrike" cap="none">
                          <a:solidFill>
                            <a:srgbClr val="111827"/>
                          </a:solidFill>
                          <a:latin typeface="Montserrat Medium"/>
                          <a:ea typeface="Montserrat Medium"/>
                          <a:cs typeface="Montserrat Medium"/>
                          <a:sym typeface="Montserrat Medium"/>
                        </a:rPr>
                        <a:t>Ca đăng ký</a:t>
                      </a:r>
                      <a:endParaRPr sz="1000">
                        <a:latin typeface="Montserrat Medium"/>
                        <a:ea typeface="Montserrat Medium"/>
                        <a:cs typeface="Montserrat Medium"/>
                        <a:sym typeface="Montserrat Medium"/>
                      </a:endParaRPr>
                    </a:p>
                  </a:txBody>
                  <a:tcPr marL="73150" marR="73150" marT="18300" marB="18300" anchor="ctr">
                    <a:lnL w="9525" cap="flat" cmpd="sng">
                      <a:solidFill>
                        <a:srgbClr val="E9EDF3"/>
                      </a:solidFill>
                      <a:prstDash val="solid"/>
                      <a:round/>
                      <a:headEnd type="none" w="sm" len="sm"/>
                      <a:tailEnd type="none" w="sm" len="sm"/>
                    </a:lnL>
                    <a:lnR w="9525" cap="flat" cmpd="sng">
                      <a:solidFill>
                        <a:srgbClr val="E9EDF3"/>
                      </a:solidFill>
                      <a:prstDash val="solid"/>
                      <a:round/>
                      <a:headEnd type="none" w="sm" len="sm"/>
                      <a:tailEnd type="none" w="sm" len="sm"/>
                    </a:lnR>
                    <a:lnT w="9525" cap="flat" cmpd="sng">
                      <a:solidFill>
                        <a:srgbClr val="E9EDF3"/>
                      </a:solidFill>
                      <a:prstDash val="solid"/>
                      <a:round/>
                      <a:headEnd type="none" w="sm" len="sm"/>
                      <a:tailEnd type="none" w="sm" len="sm"/>
                    </a:lnT>
                    <a:lnB w="9525" cap="flat" cmpd="sng">
                      <a:solidFill>
                        <a:srgbClr val="E9EDF3"/>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None/>
                      </a:pPr>
                      <a:r>
                        <a:rPr lang="en" sz="1000" u="none" strike="noStrike" cap="none">
                          <a:solidFill>
                            <a:srgbClr val="111827"/>
                          </a:solidFill>
                          <a:latin typeface="Montserrat Medium"/>
                          <a:ea typeface="Montserrat Medium"/>
                          <a:cs typeface="Montserrat Medium"/>
                          <a:sym typeface="Montserrat Medium"/>
                        </a:rPr>
                        <a:t>112</a:t>
                      </a:r>
                      <a:endParaRPr sz="1000">
                        <a:latin typeface="Montserrat Medium"/>
                        <a:ea typeface="Montserrat Medium"/>
                        <a:cs typeface="Montserrat Medium"/>
                        <a:sym typeface="Montserrat Medium"/>
                      </a:endParaRPr>
                    </a:p>
                  </a:txBody>
                  <a:tcPr marL="73150" marR="73150" marT="18300" marB="18300" anchor="ctr">
                    <a:lnL w="9525" cap="flat" cmpd="sng">
                      <a:solidFill>
                        <a:srgbClr val="E9EDF3"/>
                      </a:solidFill>
                      <a:prstDash val="solid"/>
                      <a:round/>
                      <a:headEnd type="none" w="sm" len="sm"/>
                      <a:tailEnd type="none" w="sm" len="sm"/>
                    </a:lnL>
                    <a:lnR w="9525" cap="flat" cmpd="sng">
                      <a:solidFill>
                        <a:srgbClr val="E9EDF3"/>
                      </a:solidFill>
                      <a:prstDash val="solid"/>
                      <a:round/>
                      <a:headEnd type="none" w="sm" len="sm"/>
                      <a:tailEnd type="none" w="sm" len="sm"/>
                    </a:lnR>
                    <a:lnT w="9525" cap="flat" cmpd="sng">
                      <a:solidFill>
                        <a:srgbClr val="E9EDF3"/>
                      </a:solidFill>
                      <a:prstDash val="solid"/>
                      <a:round/>
                      <a:headEnd type="none" w="sm" len="sm"/>
                      <a:tailEnd type="none" w="sm" len="sm"/>
                    </a:lnT>
                    <a:lnB w="9525" cap="flat" cmpd="sng">
                      <a:solidFill>
                        <a:srgbClr val="E9EDF3"/>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None/>
                      </a:pPr>
                      <a:r>
                        <a:rPr lang="en" sz="1000" u="none" strike="noStrike" cap="none">
                          <a:solidFill>
                            <a:srgbClr val="111827"/>
                          </a:solidFill>
                          <a:latin typeface="Montserrat Medium"/>
                          <a:ea typeface="Montserrat Medium"/>
                          <a:cs typeface="Montserrat Medium"/>
                          <a:sym typeface="Montserrat Medium"/>
                        </a:rPr>
                        <a:t>394</a:t>
                      </a:r>
                      <a:endParaRPr sz="1000">
                        <a:latin typeface="Montserrat Medium"/>
                        <a:ea typeface="Montserrat Medium"/>
                        <a:cs typeface="Montserrat Medium"/>
                        <a:sym typeface="Montserrat Medium"/>
                      </a:endParaRPr>
                    </a:p>
                  </a:txBody>
                  <a:tcPr marL="73150" marR="73150" marT="18300" marB="18300" anchor="ctr">
                    <a:lnL w="9525" cap="flat" cmpd="sng">
                      <a:solidFill>
                        <a:srgbClr val="E9EDF3"/>
                      </a:solidFill>
                      <a:prstDash val="solid"/>
                      <a:round/>
                      <a:headEnd type="none" w="sm" len="sm"/>
                      <a:tailEnd type="none" w="sm" len="sm"/>
                    </a:lnL>
                    <a:lnR w="9525" cap="flat" cmpd="sng">
                      <a:solidFill>
                        <a:srgbClr val="E9EDF3"/>
                      </a:solidFill>
                      <a:prstDash val="solid"/>
                      <a:round/>
                      <a:headEnd type="none" w="sm" len="sm"/>
                      <a:tailEnd type="none" w="sm" len="sm"/>
                    </a:lnR>
                    <a:lnT w="9525" cap="flat" cmpd="sng">
                      <a:solidFill>
                        <a:srgbClr val="E9EDF3"/>
                      </a:solidFill>
                      <a:prstDash val="solid"/>
                      <a:round/>
                      <a:headEnd type="none" w="sm" len="sm"/>
                      <a:tailEnd type="none" w="sm" len="sm"/>
                    </a:lnT>
                    <a:lnB w="9525" cap="flat" cmpd="sng">
                      <a:solidFill>
                        <a:srgbClr val="E9EDF3"/>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None/>
                      </a:pPr>
                      <a:r>
                        <a:rPr lang="en" sz="1000" u="none" strike="noStrike" cap="none">
                          <a:solidFill>
                            <a:srgbClr val="111827"/>
                          </a:solidFill>
                          <a:latin typeface="Montserrat Medium"/>
                          <a:ea typeface="Montserrat Medium"/>
                          <a:cs typeface="Montserrat Medium"/>
                          <a:sym typeface="Montserrat Medium"/>
                        </a:rPr>
                        <a:t>×3.5</a:t>
                      </a:r>
                      <a:endParaRPr sz="1000">
                        <a:latin typeface="Montserrat Medium"/>
                        <a:ea typeface="Montserrat Medium"/>
                        <a:cs typeface="Montserrat Medium"/>
                        <a:sym typeface="Montserrat Medium"/>
                      </a:endParaRPr>
                    </a:p>
                  </a:txBody>
                  <a:tcPr marL="73150" marR="73150" marT="18300" marB="18300" anchor="ctr">
                    <a:lnL w="9525" cap="flat" cmpd="sng">
                      <a:solidFill>
                        <a:srgbClr val="E9EDF3"/>
                      </a:solidFill>
                      <a:prstDash val="solid"/>
                      <a:round/>
                      <a:headEnd type="none" w="sm" len="sm"/>
                      <a:tailEnd type="none" w="sm" len="sm"/>
                    </a:lnL>
                    <a:lnR w="9525" cap="flat" cmpd="sng">
                      <a:solidFill>
                        <a:srgbClr val="E9EDF3"/>
                      </a:solidFill>
                      <a:prstDash val="solid"/>
                      <a:round/>
                      <a:headEnd type="none" w="sm" len="sm"/>
                      <a:tailEnd type="none" w="sm" len="sm"/>
                    </a:lnR>
                    <a:lnT w="9525" cap="flat" cmpd="sng">
                      <a:solidFill>
                        <a:srgbClr val="E9EDF3"/>
                      </a:solidFill>
                      <a:prstDash val="solid"/>
                      <a:round/>
                      <a:headEnd type="none" w="sm" len="sm"/>
                      <a:tailEnd type="none" w="sm" len="sm"/>
                    </a:lnT>
                    <a:lnB w="9525" cap="flat" cmpd="sng">
                      <a:solidFill>
                        <a:srgbClr val="E9EDF3"/>
                      </a:solidFill>
                      <a:prstDash val="solid"/>
                      <a:round/>
                      <a:headEnd type="none" w="sm" len="sm"/>
                      <a:tailEnd type="none" w="sm" len="sm"/>
                    </a:lnB>
                    <a:solidFill>
                      <a:srgbClr val="D9EAD3"/>
                    </a:solidFill>
                  </a:tcPr>
                </a:tc>
                <a:extLst>
                  <a:ext uri="{0D108BD9-81ED-4DB2-BD59-A6C34878D82A}">
                    <a16:rowId xmlns:a16="http://schemas.microsoft.com/office/drawing/2014/main" val="10001"/>
                  </a:ext>
                </a:extLst>
              </a:tr>
              <a:tr h="310900">
                <a:tc>
                  <a:txBody>
                    <a:bodyPr/>
                    <a:lstStyle/>
                    <a:p>
                      <a:pPr marL="0" marR="0" lvl="0" indent="0" algn="l" rtl="0">
                        <a:spcBef>
                          <a:spcPts val="0"/>
                        </a:spcBef>
                        <a:spcAft>
                          <a:spcPts val="0"/>
                        </a:spcAft>
                        <a:buNone/>
                      </a:pPr>
                      <a:r>
                        <a:rPr lang="en" sz="1000" u="none" strike="noStrike" cap="none">
                          <a:solidFill>
                            <a:srgbClr val="111827"/>
                          </a:solidFill>
                          <a:latin typeface="Montserrat Medium"/>
                          <a:ea typeface="Montserrat Medium"/>
                          <a:cs typeface="Montserrat Medium"/>
                          <a:sym typeface="Montserrat Medium"/>
                        </a:rPr>
                        <a:t>TX tham gia</a:t>
                      </a:r>
                      <a:endParaRPr sz="1000">
                        <a:latin typeface="Montserrat Medium"/>
                        <a:ea typeface="Montserrat Medium"/>
                        <a:cs typeface="Montserrat Medium"/>
                        <a:sym typeface="Montserrat Medium"/>
                      </a:endParaRPr>
                    </a:p>
                  </a:txBody>
                  <a:tcPr marL="73150" marR="73150" marT="18300" marB="18300" anchor="ctr">
                    <a:lnL w="9525" cap="flat" cmpd="sng">
                      <a:solidFill>
                        <a:srgbClr val="E9EDF3"/>
                      </a:solidFill>
                      <a:prstDash val="solid"/>
                      <a:round/>
                      <a:headEnd type="none" w="sm" len="sm"/>
                      <a:tailEnd type="none" w="sm" len="sm"/>
                    </a:lnL>
                    <a:lnR w="9525" cap="flat" cmpd="sng">
                      <a:solidFill>
                        <a:srgbClr val="E9EDF3"/>
                      </a:solidFill>
                      <a:prstDash val="solid"/>
                      <a:round/>
                      <a:headEnd type="none" w="sm" len="sm"/>
                      <a:tailEnd type="none" w="sm" len="sm"/>
                    </a:lnR>
                    <a:lnT w="9525" cap="flat" cmpd="sng">
                      <a:solidFill>
                        <a:srgbClr val="E9EDF3"/>
                      </a:solidFill>
                      <a:prstDash val="solid"/>
                      <a:round/>
                      <a:headEnd type="none" w="sm" len="sm"/>
                      <a:tailEnd type="none" w="sm" len="sm"/>
                    </a:lnT>
                    <a:lnB w="9525" cap="flat" cmpd="sng">
                      <a:solidFill>
                        <a:srgbClr val="E9EDF3"/>
                      </a:solidFill>
                      <a:prstDash val="solid"/>
                      <a:round/>
                      <a:headEnd type="none" w="sm" len="sm"/>
                      <a:tailEnd type="none" w="sm" len="sm"/>
                    </a:lnB>
                    <a:solidFill>
                      <a:srgbClr val="F7F9FC"/>
                    </a:solidFill>
                  </a:tcPr>
                </a:tc>
                <a:tc>
                  <a:txBody>
                    <a:bodyPr/>
                    <a:lstStyle/>
                    <a:p>
                      <a:pPr marL="0" marR="0" lvl="0" indent="0" algn="ctr" rtl="0">
                        <a:spcBef>
                          <a:spcPts val="0"/>
                        </a:spcBef>
                        <a:spcAft>
                          <a:spcPts val="0"/>
                        </a:spcAft>
                        <a:buNone/>
                      </a:pPr>
                      <a:r>
                        <a:rPr lang="en" sz="1000" u="none" strike="noStrike" cap="none">
                          <a:solidFill>
                            <a:srgbClr val="111827"/>
                          </a:solidFill>
                          <a:latin typeface="Montserrat Medium"/>
                          <a:ea typeface="Montserrat Medium"/>
                          <a:cs typeface="Montserrat Medium"/>
                          <a:sym typeface="Montserrat Medium"/>
                        </a:rPr>
                        <a:t>47</a:t>
                      </a:r>
                      <a:endParaRPr sz="1000">
                        <a:latin typeface="Montserrat Medium"/>
                        <a:ea typeface="Montserrat Medium"/>
                        <a:cs typeface="Montserrat Medium"/>
                        <a:sym typeface="Montserrat Medium"/>
                      </a:endParaRPr>
                    </a:p>
                  </a:txBody>
                  <a:tcPr marL="73150" marR="73150" marT="18300" marB="18300" anchor="ctr">
                    <a:lnL w="9525" cap="flat" cmpd="sng">
                      <a:solidFill>
                        <a:srgbClr val="E9EDF3"/>
                      </a:solidFill>
                      <a:prstDash val="solid"/>
                      <a:round/>
                      <a:headEnd type="none" w="sm" len="sm"/>
                      <a:tailEnd type="none" w="sm" len="sm"/>
                    </a:lnL>
                    <a:lnR w="9525" cap="flat" cmpd="sng">
                      <a:solidFill>
                        <a:srgbClr val="E9EDF3"/>
                      </a:solidFill>
                      <a:prstDash val="solid"/>
                      <a:round/>
                      <a:headEnd type="none" w="sm" len="sm"/>
                      <a:tailEnd type="none" w="sm" len="sm"/>
                    </a:lnR>
                    <a:lnT w="9525" cap="flat" cmpd="sng">
                      <a:solidFill>
                        <a:srgbClr val="E9EDF3"/>
                      </a:solidFill>
                      <a:prstDash val="solid"/>
                      <a:round/>
                      <a:headEnd type="none" w="sm" len="sm"/>
                      <a:tailEnd type="none" w="sm" len="sm"/>
                    </a:lnT>
                    <a:lnB w="9525" cap="flat" cmpd="sng">
                      <a:solidFill>
                        <a:srgbClr val="E9EDF3"/>
                      </a:solidFill>
                      <a:prstDash val="solid"/>
                      <a:round/>
                      <a:headEnd type="none" w="sm" len="sm"/>
                      <a:tailEnd type="none" w="sm" len="sm"/>
                    </a:lnB>
                    <a:solidFill>
                      <a:srgbClr val="F7F9FC"/>
                    </a:solidFill>
                  </a:tcPr>
                </a:tc>
                <a:tc>
                  <a:txBody>
                    <a:bodyPr/>
                    <a:lstStyle/>
                    <a:p>
                      <a:pPr marL="0" marR="0" lvl="0" indent="0" algn="ctr" rtl="0">
                        <a:spcBef>
                          <a:spcPts val="0"/>
                        </a:spcBef>
                        <a:spcAft>
                          <a:spcPts val="0"/>
                        </a:spcAft>
                        <a:buNone/>
                      </a:pPr>
                      <a:r>
                        <a:rPr lang="en" sz="1000" u="none" strike="noStrike" cap="none">
                          <a:solidFill>
                            <a:srgbClr val="111827"/>
                          </a:solidFill>
                          <a:latin typeface="Montserrat Medium"/>
                          <a:ea typeface="Montserrat Medium"/>
                          <a:cs typeface="Montserrat Medium"/>
                          <a:sym typeface="Montserrat Medium"/>
                        </a:rPr>
                        <a:t>197</a:t>
                      </a:r>
                      <a:endParaRPr sz="1000">
                        <a:latin typeface="Montserrat Medium"/>
                        <a:ea typeface="Montserrat Medium"/>
                        <a:cs typeface="Montserrat Medium"/>
                        <a:sym typeface="Montserrat Medium"/>
                      </a:endParaRPr>
                    </a:p>
                  </a:txBody>
                  <a:tcPr marL="73150" marR="73150" marT="18300" marB="18300" anchor="ctr">
                    <a:lnL w="9525" cap="flat" cmpd="sng">
                      <a:solidFill>
                        <a:srgbClr val="E9EDF3"/>
                      </a:solidFill>
                      <a:prstDash val="solid"/>
                      <a:round/>
                      <a:headEnd type="none" w="sm" len="sm"/>
                      <a:tailEnd type="none" w="sm" len="sm"/>
                    </a:lnL>
                    <a:lnR w="9525" cap="flat" cmpd="sng">
                      <a:solidFill>
                        <a:srgbClr val="E9EDF3"/>
                      </a:solidFill>
                      <a:prstDash val="solid"/>
                      <a:round/>
                      <a:headEnd type="none" w="sm" len="sm"/>
                      <a:tailEnd type="none" w="sm" len="sm"/>
                    </a:lnR>
                    <a:lnT w="9525" cap="flat" cmpd="sng">
                      <a:solidFill>
                        <a:srgbClr val="E9EDF3"/>
                      </a:solidFill>
                      <a:prstDash val="solid"/>
                      <a:round/>
                      <a:headEnd type="none" w="sm" len="sm"/>
                      <a:tailEnd type="none" w="sm" len="sm"/>
                    </a:lnT>
                    <a:lnB w="9525" cap="flat" cmpd="sng">
                      <a:solidFill>
                        <a:srgbClr val="E9EDF3"/>
                      </a:solidFill>
                      <a:prstDash val="solid"/>
                      <a:round/>
                      <a:headEnd type="none" w="sm" len="sm"/>
                      <a:tailEnd type="none" w="sm" len="sm"/>
                    </a:lnB>
                    <a:solidFill>
                      <a:srgbClr val="F7F9FC"/>
                    </a:solidFill>
                  </a:tcPr>
                </a:tc>
                <a:tc>
                  <a:txBody>
                    <a:bodyPr/>
                    <a:lstStyle/>
                    <a:p>
                      <a:pPr marL="0" marR="0" lvl="0" indent="0" algn="ctr" rtl="0">
                        <a:spcBef>
                          <a:spcPts val="0"/>
                        </a:spcBef>
                        <a:spcAft>
                          <a:spcPts val="0"/>
                        </a:spcAft>
                        <a:buNone/>
                      </a:pPr>
                      <a:r>
                        <a:rPr lang="en" sz="1000" u="none" strike="noStrike" cap="none">
                          <a:solidFill>
                            <a:srgbClr val="111827"/>
                          </a:solidFill>
                          <a:latin typeface="Montserrat Medium"/>
                          <a:ea typeface="Montserrat Medium"/>
                          <a:cs typeface="Montserrat Medium"/>
                          <a:sym typeface="Montserrat Medium"/>
                        </a:rPr>
                        <a:t>×4.2</a:t>
                      </a:r>
                      <a:endParaRPr sz="1000">
                        <a:latin typeface="Montserrat Medium"/>
                        <a:ea typeface="Montserrat Medium"/>
                        <a:cs typeface="Montserrat Medium"/>
                        <a:sym typeface="Montserrat Medium"/>
                      </a:endParaRPr>
                    </a:p>
                  </a:txBody>
                  <a:tcPr marL="73150" marR="73150" marT="18300" marB="18300" anchor="ctr">
                    <a:lnL w="9525" cap="flat" cmpd="sng">
                      <a:solidFill>
                        <a:srgbClr val="E9EDF3"/>
                      </a:solidFill>
                      <a:prstDash val="solid"/>
                      <a:round/>
                      <a:headEnd type="none" w="sm" len="sm"/>
                      <a:tailEnd type="none" w="sm" len="sm"/>
                    </a:lnL>
                    <a:lnR w="9525" cap="flat" cmpd="sng">
                      <a:solidFill>
                        <a:srgbClr val="E9EDF3"/>
                      </a:solidFill>
                      <a:prstDash val="solid"/>
                      <a:round/>
                      <a:headEnd type="none" w="sm" len="sm"/>
                      <a:tailEnd type="none" w="sm" len="sm"/>
                    </a:lnR>
                    <a:lnT w="9525" cap="flat" cmpd="sng">
                      <a:solidFill>
                        <a:srgbClr val="E9EDF3"/>
                      </a:solidFill>
                      <a:prstDash val="solid"/>
                      <a:round/>
                      <a:headEnd type="none" w="sm" len="sm"/>
                      <a:tailEnd type="none" w="sm" len="sm"/>
                    </a:lnT>
                    <a:lnB w="9525" cap="flat" cmpd="sng">
                      <a:solidFill>
                        <a:srgbClr val="E9EDF3"/>
                      </a:solidFill>
                      <a:prstDash val="solid"/>
                      <a:round/>
                      <a:headEnd type="none" w="sm" len="sm"/>
                      <a:tailEnd type="none" w="sm" len="sm"/>
                    </a:lnB>
                    <a:solidFill>
                      <a:srgbClr val="D9EAD3"/>
                    </a:solidFill>
                  </a:tcPr>
                </a:tc>
                <a:extLst>
                  <a:ext uri="{0D108BD9-81ED-4DB2-BD59-A6C34878D82A}">
                    <a16:rowId xmlns:a16="http://schemas.microsoft.com/office/drawing/2014/main" val="10002"/>
                  </a:ext>
                </a:extLst>
              </a:tr>
              <a:tr h="310900">
                <a:tc>
                  <a:txBody>
                    <a:bodyPr/>
                    <a:lstStyle/>
                    <a:p>
                      <a:pPr marL="0" marR="0" lvl="0" indent="0" algn="l" rtl="0">
                        <a:spcBef>
                          <a:spcPts val="0"/>
                        </a:spcBef>
                        <a:spcAft>
                          <a:spcPts val="0"/>
                        </a:spcAft>
                        <a:buNone/>
                      </a:pPr>
                      <a:r>
                        <a:rPr lang="en" sz="1000" u="none" strike="noStrike" cap="none">
                          <a:solidFill>
                            <a:srgbClr val="111827"/>
                          </a:solidFill>
                          <a:latin typeface="Montserrat Medium"/>
                          <a:ea typeface="Montserrat Medium"/>
                          <a:cs typeface="Montserrat Medium"/>
                          <a:sym typeface="Montserrat Medium"/>
                        </a:rPr>
                        <a:t>Check-in rate</a:t>
                      </a:r>
                      <a:endParaRPr sz="1000">
                        <a:latin typeface="Montserrat Medium"/>
                        <a:ea typeface="Montserrat Medium"/>
                        <a:cs typeface="Montserrat Medium"/>
                        <a:sym typeface="Montserrat Medium"/>
                      </a:endParaRPr>
                    </a:p>
                  </a:txBody>
                  <a:tcPr marL="73150" marR="73150" marT="18300" marB="18300" anchor="ctr">
                    <a:lnL w="9525" cap="flat" cmpd="sng">
                      <a:solidFill>
                        <a:srgbClr val="E9EDF3"/>
                      </a:solidFill>
                      <a:prstDash val="solid"/>
                      <a:round/>
                      <a:headEnd type="none" w="sm" len="sm"/>
                      <a:tailEnd type="none" w="sm" len="sm"/>
                    </a:lnL>
                    <a:lnR w="9525" cap="flat" cmpd="sng">
                      <a:solidFill>
                        <a:srgbClr val="E9EDF3"/>
                      </a:solidFill>
                      <a:prstDash val="solid"/>
                      <a:round/>
                      <a:headEnd type="none" w="sm" len="sm"/>
                      <a:tailEnd type="none" w="sm" len="sm"/>
                    </a:lnR>
                    <a:lnT w="9525" cap="flat" cmpd="sng">
                      <a:solidFill>
                        <a:srgbClr val="E9EDF3"/>
                      </a:solidFill>
                      <a:prstDash val="solid"/>
                      <a:round/>
                      <a:headEnd type="none" w="sm" len="sm"/>
                      <a:tailEnd type="none" w="sm" len="sm"/>
                    </a:lnT>
                    <a:lnB w="9525" cap="flat" cmpd="sng">
                      <a:solidFill>
                        <a:srgbClr val="E9EDF3"/>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None/>
                      </a:pPr>
                      <a:r>
                        <a:rPr lang="en" sz="1000" u="none" strike="noStrike" cap="none">
                          <a:solidFill>
                            <a:srgbClr val="111827"/>
                          </a:solidFill>
                          <a:latin typeface="Montserrat Medium"/>
                          <a:ea typeface="Montserrat Medium"/>
                          <a:cs typeface="Montserrat Medium"/>
                          <a:sym typeface="Montserrat Medium"/>
                        </a:rPr>
                        <a:t>50.9%</a:t>
                      </a:r>
                      <a:endParaRPr sz="1000">
                        <a:latin typeface="Montserrat Medium"/>
                        <a:ea typeface="Montserrat Medium"/>
                        <a:cs typeface="Montserrat Medium"/>
                        <a:sym typeface="Montserrat Medium"/>
                      </a:endParaRPr>
                    </a:p>
                  </a:txBody>
                  <a:tcPr marL="73150" marR="73150" marT="18300" marB="18300" anchor="ctr">
                    <a:lnL w="9525" cap="flat" cmpd="sng">
                      <a:solidFill>
                        <a:srgbClr val="E9EDF3"/>
                      </a:solidFill>
                      <a:prstDash val="solid"/>
                      <a:round/>
                      <a:headEnd type="none" w="sm" len="sm"/>
                      <a:tailEnd type="none" w="sm" len="sm"/>
                    </a:lnL>
                    <a:lnR w="9525" cap="flat" cmpd="sng">
                      <a:solidFill>
                        <a:srgbClr val="E9EDF3"/>
                      </a:solidFill>
                      <a:prstDash val="solid"/>
                      <a:round/>
                      <a:headEnd type="none" w="sm" len="sm"/>
                      <a:tailEnd type="none" w="sm" len="sm"/>
                    </a:lnR>
                    <a:lnT w="9525" cap="flat" cmpd="sng">
                      <a:solidFill>
                        <a:srgbClr val="E9EDF3"/>
                      </a:solidFill>
                      <a:prstDash val="solid"/>
                      <a:round/>
                      <a:headEnd type="none" w="sm" len="sm"/>
                      <a:tailEnd type="none" w="sm" len="sm"/>
                    </a:lnT>
                    <a:lnB w="9525" cap="flat" cmpd="sng">
                      <a:solidFill>
                        <a:srgbClr val="E9EDF3"/>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None/>
                      </a:pPr>
                      <a:r>
                        <a:rPr lang="en" sz="1000" u="none" strike="noStrike" cap="none">
                          <a:solidFill>
                            <a:srgbClr val="111827"/>
                          </a:solidFill>
                          <a:latin typeface="Montserrat Medium"/>
                          <a:ea typeface="Montserrat Medium"/>
                          <a:cs typeface="Montserrat Medium"/>
                          <a:sym typeface="Montserrat Medium"/>
                        </a:rPr>
                        <a:t>49.5%</a:t>
                      </a:r>
                      <a:endParaRPr sz="1000">
                        <a:latin typeface="Montserrat Medium"/>
                        <a:ea typeface="Montserrat Medium"/>
                        <a:cs typeface="Montserrat Medium"/>
                        <a:sym typeface="Montserrat Medium"/>
                      </a:endParaRPr>
                    </a:p>
                  </a:txBody>
                  <a:tcPr marL="73150" marR="73150" marT="18300" marB="18300" anchor="ctr">
                    <a:lnL w="9525" cap="flat" cmpd="sng">
                      <a:solidFill>
                        <a:srgbClr val="E9EDF3"/>
                      </a:solidFill>
                      <a:prstDash val="solid"/>
                      <a:round/>
                      <a:headEnd type="none" w="sm" len="sm"/>
                      <a:tailEnd type="none" w="sm" len="sm"/>
                    </a:lnL>
                    <a:lnR w="9525" cap="flat" cmpd="sng">
                      <a:solidFill>
                        <a:srgbClr val="E9EDF3"/>
                      </a:solidFill>
                      <a:prstDash val="solid"/>
                      <a:round/>
                      <a:headEnd type="none" w="sm" len="sm"/>
                      <a:tailEnd type="none" w="sm" len="sm"/>
                    </a:lnR>
                    <a:lnT w="9525" cap="flat" cmpd="sng">
                      <a:solidFill>
                        <a:srgbClr val="E9EDF3"/>
                      </a:solidFill>
                      <a:prstDash val="solid"/>
                      <a:round/>
                      <a:headEnd type="none" w="sm" len="sm"/>
                      <a:tailEnd type="none" w="sm" len="sm"/>
                    </a:lnT>
                    <a:lnB w="9525" cap="flat" cmpd="sng">
                      <a:solidFill>
                        <a:srgbClr val="E9EDF3"/>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None/>
                      </a:pPr>
                      <a:r>
                        <a:rPr lang="en" sz="1000" u="none" strike="noStrike" cap="none">
                          <a:solidFill>
                            <a:srgbClr val="111827"/>
                          </a:solidFill>
                          <a:latin typeface="Montserrat Medium"/>
                          <a:ea typeface="Montserrat Medium"/>
                          <a:cs typeface="Montserrat Medium"/>
                          <a:sym typeface="Montserrat Medium"/>
                        </a:rPr>
                        <a:t>≈</a:t>
                      </a:r>
                      <a:endParaRPr sz="1000">
                        <a:latin typeface="Montserrat Medium"/>
                        <a:ea typeface="Montserrat Medium"/>
                        <a:cs typeface="Montserrat Medium"/>
                        <a:sym typeface="Montserrat Medium"/>
                      </a:endParaRPr>
                    </a:p>
                  </a:txBody>
                  <a:tcPr marL="73150" marR="73150" marT="18300" marB="18300" anchor="ctr">
                    <a:lnL w="9525" cap="flat" cmpd="sng">
                      <a:solidFill>
                        <a:srgbClr val="E9EDF3"/>
                      </a:solidFill>
                      <a:prstDash val="solid"/>
                      <a:round/>
                      <a:headEnd type="none" w="sm" len="sm"/>
                      <a:tailEnd type="none" w="sm" len="sm"/>
                    </a:lnL>
                    <a:lnR w="9525" cap="flat" cmpd="sng">
                      <a:solidFill>
                        <a:srgbClr val="E9EDF3"/>
                      </a:solidFill>
                      <a:prstDash val="solid"/>
                      <a:round/>
                      <a:headEnd type="none" w="sm" len="sm"/>
                      <a:tailEnd type="none" w="sm" len="sm"/>
                    </a:lnR>
                    <a:lnT w="9525" cap="flat" cmpd="sng">
                      <a:solidFill>
                        <a:srgbClr val="E9EDF3"/>
                      </a:solidFill>
                      <a:prstDash val="solid"/>
                      <a:round/>
                      <a:headEnd type="none" w="sm" len="sm"/>
                      <a:tailEnd type="none" w="sm" len="sm"/>
                    </a:lnT>
                    <a:lnB w="9525" cap="flat" cmpd="sng">
                      <a:solidFill>
                        <a:srgbClr val="E9EDF3"/>
                      </a:solidFill>
                      <a:prstDash val="solid"/>
                      <a:round/>
                      <a:headEnd type="none" w="sm" len="sm"/>
                      <a:tailEnd type="none" w="sm" len="sm"/>
                    </a:lnB>
                    <a:solidFill>
                      <a:srgbClr val="D9EAD3"/>
                    </a:solidFill>
                  </a:tcPr>
                </a:tc>
                <a:extLst>
                  <a:ext uri="{0D108BD9-81ED-4DB2-BD59-A6C34878D82A}">
                    <a16:rowId xmlns:a16="http://schemas.microsoft.com/office/drawing/2014/main" val="10003"/>
                  </a:ext>
                </a:extLst>
              </a:tr>
              <a:tr h="310900">
                <a:tc>
                  <a:txBody>
                    <a:bodyPr/>
                    <a:lstStyle/>
                    <a:p>
                      <a:pPr marL="0" marR="0" lvl="0" indent="0" algn="l" rtl="0">
                        <a:spcBef>
                          <a:spcPts val="0"/>
                        </a:spcBef>
                        <a:spcAft>
                          <a:spcPts val="0"/>
                        </a:spcAft>
                        <a:buNone/>
                      </a:pPr>
                      <a:r>
                        <a:rPr lang="en" sz="1000" u="none" strike="noStrike" cap="none">
                          <a:solidFill>
                            <a:srgbClr val="111827"/>
                          </a:solidFill>
                          <a:latin typeface="Montserrat Medium"/>
                          <a:ea typeface="Montserrat Medium"/>
                          <a:cs typeface="Montserrat Medium"/>
                          <a:sym typeface="Montserrat Medium"/>
                        </a:rPr>
                        <a:t>Năng suất (đơn/giờ)</a:t>
                      </a:r>
                      <a:endParaRPr sz="1000">
                        <a:latin typeface="Montserrat Medium"/>
                        <a:ea typeface="Montserrat Medium"/>
                        <a:cs typeface="Montserrat Medium"/>
                        <a:sym typeface="Montserrat Medium"/>
                      </a:endParaRPr>
                    </a:p>
                  </a:txBody>
                  <a:tcPr marL="73150" marR="73150" marT="18300" marB="18300" anchor="ctr">
                    <a:lnL w="9525" cap="flat" cmpd="sng">
                      <a:solidFill>
                        <a:srgbClr val="E9EDF3"/>
                      </a:solidFill>
                      <a:prstDash val="solid"/>
                      <a:round/>
                      <a:headEnd type="none" w="sm" len="sm"/>
                      <a:tailEnd type="none" w="sm" len="sm"/>
                    </a:lnL>
                    <a:lnR w="9525" cap="flat" cmpd="sng">
                      <a:solidFill>
                        <a:srgbClr val="E9EDF3"/>
                      </a:solidFill>
                      <a:prstDash val="solid"/>
                      <a:round/>
                      <a:headEnd type="none" w="sm" len="sm"/>
                      <a:tailEnd type="none" w="sm" len="sm"/>
                    </a:lnR>
                    <a:lnT w="9525" cap="flat" cmpd="sng">
                      <a:solidFill>
                        <a:srgbClr val="E9EDF3"/>
                      </a:solidFill>
                      <a:prstDash val="solid"/>
                      <a:round/>
                      <a:headEnd type="none" w="sm" len="sm"/>
                      <a:tailEnd type="none" w="sm" len="sm"/>
                    </a:lnT>
                    <a:lnB w="9525" cap="flat" cmpd="sng">
                      <a:solidFill>
                        <a:srgbClr val="E9EDF3"/>
                      </a:solidFill>
                      <a:prstDash val="solid"/>
                      <a:round/>
                      <a:headEnd type="none" w="sm" len="sm"/>
                      <a:tailEnd type="none" w="sm" len="sm"/>
                    </a:lnB>
                    <a:solidFill>
                      <a:srgbClr val="F7F9FC"/>
                    </a:solidFill>
                  </a:tcPr>
                </a:tc>
                <a:tc>
                  <a:txBody>
                    <a:bodyPr/>
                    <a:lstStyle/>
                    <a:p>
                      <a:pPr marL="0" marR="0" lvl="0" indent="0" algn="ctr" rtl="0">
                        <a:spcBef>
                          <a:spcPts val="0"/>
                        </a:spcBef>
                        <a:spcAft>
                          <a:spcPts val="0"/>
                        </a:spcAft>
                        <a:buNone/>
                      </a:pPr>
                      <a:r>
                        <a:rPr lang="en" sz="1000" u="none" strike="noStrike" cap="none">
                          <a:solidFill>
                            <a:srgbClr val="111827"/>
                          </a:solidFill>
                          <a:latin typeface="Montserrat Medium"/>
                          <a:ea typeface="Montserrat Medium"/>
                          <a:cs typeface="Montserrat Medium"/>
                          <a:sym typeface="Montserrat Medium"/>
                        </a:rPr>
                        <a:t>1.96</a:t>
                      </a:r>
                      <a:endParaRPr sz="1000">
                        <a:latin typeface="Montserrat Medium"/>
                        <a:ea typeface="Montserrat Medium"/>
                        <a:cs typeface="Montserrat Medium"/>
                        <a:sym typeface="Montserrat Medium"/>
                      </a:endParaRPr>
                    </a:p>
                  </a:txBody>
                  <a:tcPr marL="73150" marR="73150" marT="18300" marB="18300" anchor="ctr">
                    <a:lnL w="9525" cap="flat" cmpd="sng">
                      <a:solidFill>
                        <a:srgbClr val="E9EDF3"/>
                      </a:solidFill>
                      <a:prstDash val="solid"/>
                      <a:round/>
                      <a:headEnd type="none" w="sm" len="sm"/>
                      <a:tailEnd type="none" w="sm" len="sm"/>
                    </a:lnL>
                    <a:lnR w="9525" cap="flat" cmpd="sng">
                      <a:solidFill>
                        <a:srgbClr val="E9EDF3"/>
                      </a:solidFill>
                      <a:prstDash val="solid"/>
                      <a:round/>
                      <a:headEnd type="none" w="sm" len="sm"/>
                      <a:tailEnd type="none" w="sm" len="sm"/>
                    </a:lnR>
                    <a:lnT w="9525" cap="flat" cmpd="sng">
                      <a:solidFill>
                        <a:srgbClr val="E9EDF3"/>
                      </a:solidFill>
                      <a:prstDash val="solid"/>
                      <a:round/>
                      <a:headEnd type="none" w="sm" len="sm"/>
                      <a:tailEnd type="none" w="sm" len="sm"/>
                    </a:lnT>
                    <a:lnB w="9525" cap="flat" cmpd="sng">
                      <a:solidFill>
                        <a:srgbClr val="E9EDF3"/>
                      </a:solidFill>
                      <a:prstDash val="solid"/>
                      <a:round/>
                      <a:headEnd type="none" w="sm" len="sm"/>
                      <a:tailEnd type="none" w="sm" len="sm"/>
                    </a:lnB>
                    <a:solidFill>
                      <a:srgbClr val="F7F9FC"/>
                    </a:solidFill>
                  </a:tcPr>
                </a:tc>
                <a:tc>
                  <a:txBody>
                    <a:bodyPr/>
                    <a:lstStyle/>
                    <a:p>
                      <a:pPr marL="0" marR="0" lvl="0" indent="0" algn="ctr" rtl="0">
                        <a:spcBef>
                          <a:spcPts val="0"/>
                        </a:spcBef>
                        <a:spcAft>
                          <a:spcPts val="0"/>
                        </a:spcAft>
                        <a:buNone/>
                      </a:pPr>
                      <a:r>
                        <a:rPr lang="en" sz="1000" u="none" strike="noStrike" cap="none">
                          <a:solidFill>
                            <a:srgbClr val="111827"/>
                          </a:solidFill>
                          <a:latin typeface="Montserrat Medium"/>
                          <a:ea typeface="Montserrat Medium"/>
                          <a:cs typeface="Montserrat Medium"/>
                          <a:sym typeface="Montserrat Medium"/>
                        </a:rPr>
                        <a:t>2.01</a:t>
                      </a:r>
                      <a:endParaRPr sz="1000">
                        <a:latin typeface="Montserrat Medium"/>
                        <a:ea typeface="Montserrat Medium"/>
                        <a:cs typeface="Montserrat Medium"/>
                        <a:sym typeface="Montserrat Medium"/>
                      </a:endParaRPr>
                    </a:p>
                  </a:txBody>
                  <a:tcPr marL="73150" marR="73150" marT="18300" marB="18300" anchor="ctr">
                    <a:lnL w="9525" cap="flat" cmpd="sng">
                      <a:solidFill>
                        <a:srgbClr val="E9EDF3"/>
                      </a:solidFill>
                      <a:prstDash val="solid"/>
                      <a:round/>
                      <a:headEnd type="none" w="sm" len="sm"/>
                      <a:tailEnd type="none" w="sm" len="sm"/>
                    </a:lnL>
                    <a:lnR w="9525" cap="flat" cmpd="sng">
                      <a:solidFill>
                        <a:srgbClr val="E9EDF3"/>
                      </a:solidFill>
                      <a:prstDash val="solid"/>
                      <a:round/>
                      <a:headEnd type="none" w="sm" len="sm"/>
                      <a:tailEnd type="none" w="sm" len="sm"/>
                    </a:lnR>
                    <a:lnT w="9525" cap="flat" cmpd="sng">
                      <a:solidFill>
                        <a:srgbClr val="E9EDF3"/>
                      </a:solidFill>
                      <a:prstDash val="solid"/>
                      <a:round/>
                      <a:headEnd type="none" w="sm" len="sm"/>
                      <a:tailEnd type="none" w="sm" len="sm"/>
                    </a:lnT>
                    <a:lnB w="9525" cap="flat" cmpd="sng">
                      <a:solidFill>
                        <a:srgbClr val="E9EDF3"/>
                      </a:solidFill>
                      <a:prstDash val="solid"/>
                      <a:round/>
                      <a:headEnd type="none" w="sm" len="sm"/>
                      <a:tailEnd type="none" w="sm" len="sm"/>
                    </a:lnB>
                    <a:solidFill>
                      <a:srgbClr val="F7F9FC"/>
                    </a:solidFill>
                  </a:tcPr>
                </a:tc>
                <a:tc>
                  <a:txBody>
                    <a:bodyPr/>
                    <a:lstStyle/>
                    <a:p>
                      <a:pPr marL="0" marR="0" lvl="0" indent="0" algn="ctr" rtl="0">
                        <a:spcBef>
                          <a:spcPts val="0"/>
                        </a:spcBef>
                        <a:spcAft>
                          <a:spcPts val="0"/>
                        </a:spcAft>
                        <a:buNone/>
                      </a:pPr>
                      <a:r>
                        <a:rPr lang="en" sz="1000" u="none" strike="noStrike" cap="none">
                          <a:solidFill>
                            <a:srgbClr val="111827"/>
                          </a:solidFill>
                          <a:latin typeface="Montserrat Medium"/>
                          <a:ea typeface="Montserrat Medium"/>
                          <a:cs typeface="Montserrat Medium"/>
                          <a:sym typeface="Montserrat Medium"/>
                        </a:rPr>
                        <a:t>≈</a:t>
                      </a:r>
                      <a:endParaRPr sz="1000">
                        <a:latin typeface="Montserrat Medium"/>
                        <a:ea typeface="Montserrat Medium"/>
                        <a:cs typeface="Montserrat Medium"/>
                        <a:sym typeface="Montserrat Medium"/>
                      </a:endParaRPr>
                    </a:p>
                  </a:txBody>
                  <a:tcPr marL="73150" marR="73150" marT="18300" marB="18300" anchor="ctr">
                    <a:lnL w="9525" cap="flat" cmpd="sng">
                      <a:solidFill>
                        <a:srgbClr val="E9EDF3"/>
                      </a:solidFill>
                      <a:prstDash val="solid"/>
                      <a:round/>
                      <a:headEnd type="none" w="sm" len="sm"/>
                      <a:tailEnd type="none" w="sm" len="sm"/>
                    </a:lnL>
                    <a:lnR w="9525" cap="flat" cmpd="sng">
                      <a:solidFill>
                        <a:srgbClr val="E9EDF3"/>
                      </a:solidFill>
                      <a:prstDash val="solid"/>
                      <a:round/>
                      <a:headEnd type="none" w="sm" len="sm"/>
                      <a:tailEnd type="none" w="sm" len="sm"/>
                    </a:lnR>
                    <a:lnT w="9525" cap="flat" cmpd="sng">
                      <a:solidFill>
                        <a:srgbClr val="E9EDF3"/>
                      </a:solidFill>
                      <a:prstDash val="solid"/>
                      <a:round/>
                      <a:headEnd type="none" w="sm" len="sm"/>
                      <a:tailEnd type="none" w="sm" len="sm"/>
                    </a:lnT>
                    <a:lnB w="9525" cap="flat" cmpd="sng">
                      <a:solidFill>
                        <a:srgbClr val="E9EDF3"/>
                      </a:solidFill>
                      <a:prstDash val="solid"/>
                      <a:round/>
                      <a:headEnd type="none" w="sm" len="sm"/>
                      <a:tailEnd type="none" w="sm" len="sm"/>
                    </a:lnB>
                    <a:solidFill>
                      <a:srgbClr val="D9EAD3"/>
                    </a:solidFill>
                  </a:tcPr>
                </a:tc>
                <a:extLst>
                  <a:ext uri="{0D108BD9-81ED-4DB2-BD59-A6C34878D82A}">
                    <a16:rowId xmlns:a16="http://schemas.microsoft.com/office/drawing/2014/main" val="10004"/>
                  </a:ext>
                </a:extLst>
              </a:tr>
              <a:tr h="310900">
                <a:tc>
                  <a:txBody>
                    <a:bodyPr/>
                    <a:lstStyle/>
                    <a:p>
                      <a:pPr marL="0" marR="0" lvl="0" indent="0" algn="l" rtl="0">
                        <a:spcBef>
                          <a:spcPts val="0"/>
                        </a:spcBef>
                        <a:spcAft>
                          <a:spcPts val="0"/>
                        </a:spcAft>
                        <a:buNone/>
                      </a:pPr>
                      <a:r>
                        <a:rPr lang="en" sz="1000" u="none" strike="noStrike" cap="none">
                          <a:solidFill>
                            <a:srgbClr val="111827"/>
                          </a:solidFill>
                          <a:latin typeface="Montserrat Medium"/>
                          <a:ea typeface="Montserrat Medium"/>
                          <a:cs typeface="Montserrat Medium"/>
                          <a:sym typeface="Montserrat Medium"/>
                        </a:rPr>
                        <a:t>Fill rate</a:t>
                      </a:r>
                      <a:endParaRPr sz="1000">
                        <a:latin typeface="Montserrat Medium"/>
                        <a:ea typeface="Montserrat Medium"/>
                        <a:cs typeface="Montserrat Medium"/>
                        <a:sym typeface="Montserrat Medium"/>
                      </a:endParaRPr>
                    </a:p>
                  </a:txBody>
                  <a:tcPr marL="73150" marR="73150" marT="18300" marB="18300" anchor="ctr">
                    <a:lnL w="9525" cap="flat" cmpd="sng">
                      <a:solidFill>
                        <a:srgbClr val="E9EDF3"/>
                      </a:solidFill>
                      <a:prstDash val="solid"/>
                      <a:round/>
                      <a:headEnd type="none" w="sm" len="sm"/>
                      <a:tailEnd type="none" w="sm" len="sm"/>
                    </a:lnL>
                    <a:lnR w="9525" cap="flat" cmpd="sng">
                      <a:solidFill>
                        <a:srgbClr val="E9EDF3"/>
                      </a:solidFill>
                      <a:prstDash val="solid"/>
                      <a:round/>
                      <a:headEnd type="none" w="sm" len="sm"/>
                      <a:tailEnd type="none" w="sm" len="sm"/>
                    </a:lnR>
                    <a:lnT w="9525" cap="flat" cmpd="sng">
                      <a:solidFill>
                        <a:srgbClr val="E9EDF3"/>
                      </a:solidFill>
                      <a:prstDash val="solid"/>
                      <a:round/>
                      <a:headEnd type="none" w="sm" len="sm"/>
                      <a:tailEnd type="none" w="sm" len="sm"/>
                    </a:lnT>
                    <a:lnB w="9525" cap="flat" cmpd="sng">
                      <a:solidFill>
                        <a:srgbClr val="E9EDF3"/>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None/>
                      </a:pPr>
                      <a:r>
                        <a:rPr lang="en" sz="1000" u="none" strike="noStrike" cap="none">
                          <a:solidFill>
                            <a:srgbClr val="111827"/>
                          </a:solidFill>
                          <a:latin typeface="Montserrat Medium"/>
                          <a:ea typeface="Montserrat Medium"/>
                          <a:cs typeface="Montserrat Medium"/>
                          <a:sym typeface="Montserrat Medium"/>
                        </a:rPr>
                        <a:t>79.7%</a:t>
                      </a:r>
                      <a:endParaRPr sz="1000">
                        <a:latin typeface="Montserrat Medium"/>
                        <a:ea typeface="Montserrat Medium"/>
                        <a:cs typeface="Montserrat Medium"/>
                        <a:sym typeface="Montserrat Medium"/>
                      </a:endParaRPr>
                    </a:p>
                  </a:txBody>
                  <a:tcPr marL="73150" marR="73150" marT="18300" marB="18300" anchor="ctr">
                    <a:lnL w="9525" cap="flat" cmpd="sng">
                      <a:solidFill>
                        <a:srgbClr val="E9EDF3"/>
                      </a:solidFill>
                      <a:prstDash val="solid"/>
                      <a:round/>
                      <a:headEnd type="none" w="sm" len="sm"/>
                      <a:tailEnd type="none" w="sm" len="sm"/>
                    </a:lnL>
                    <a:lnR w="9525" cap="flat" cmpd="sng">
                      <a:solidFill>
                        <a:srgbClr val="E9EDF3"/>
                      </a:solidFill>
                      <a:prstDash val="solid"/>
                      <a:round/>
                      <a:headEnd type="none" w="sm" len="sm"/>
                      <a:tailEnd type="none" w="sm" len="sm"/>
                    </a:lnR>
                    <a:lnT w="9525" cap="flat" cmpd="sng">
                      <a:solidFill>
                        <a:srgbClr val="E9EDF3"/>
                      </a:solidFill>
                      <a:prstDash val="solid"/>
                      <a:round/>
                      <a:headEnd type="none" w="sm" len="sm"/>
                      <a:tailEnd type="none" w="sm" len="sm"/>
                    </a:lnT>
                    <a:lnB w="9525" cap="flat" cmpd="sng">
                      <a:solidFill>
                        <a:srgbClr val="E9EDF3"/>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None/>
                      </a:pPr>
                      <a:r>
                        <a:rPr lang="en" sz="1000" u="none" strike="noStrike" cap="none">
                          <a:solidFill>
                            <a:srgbClr val="111827"/>
                          </a:solidFill>
                          <a:latin typeface="Montserrat Medium"/>
                          <a:ea typeface="Montserrat Medium"/>
                          <a:cs typeface="Montserrat Medium"/>
                          <a:sym typeface="Montserrat Medium"/>
                        </a:rPr>
                        <a:t>84.1%</a:t>
                      </a:r>
                      <a:endParaRPr sz="1000">
                        <a:latin typeface="Montserrat Medium"/>
                        <a:ea typeface="Montserrat Medium"/>
                        <a:cs typeface="Montserrat Medium"/>
                        <a:sym typeface="Montserrat Medium"/>
                      </a:endParaRPr>
                    </a:p>
                  </a:txBody>
                  <a:tcPr marL="73150" marR="73150" marT="18300" marB="18300" anchor="ctr">
                    <a:lnL w="9525" cap="flat" cmpd="sng">
                      <a:solidFill>
                        <a:srgbClr val="E9EDF3"/>
                      </a:solidFill>
                      <a:prstDash val="solid"/>
                      <a:round/>
                      <a:headEnd type="none" w="sm" len="sm"/>
                      <a:tailEnd type="none" w="sm" len="sm"/>
                    </a:lnL>
                    <a:lnR w="9525" cap="flat" cmpd="sng">
                      <a:solidFill>
                        <a:srgbClr val="E9EDF3"/>
                      </a:solidFill>
                      <a:prstDash val="solid"/>
                      <a:round/>
                      <a:headEnd type="none" w="sm" len="sm"/>
                      <a:tailEnd type="none" w="sm" len="sm"/>
                    </a:lnR>
                    <a:lnT w="9525" cap="flat" cmpd="sng">
                      <a:solidFill>
                        <a:srgbClr val="E9EDF3"/>
                      </a:solidFill>
                      <a:prstDash val="solid"/>
                      <a:round/>
                      <a:headEnd type="none" w="sm" len="sm"/>
                      <a:tailEnd type="none" w="sm" len="sm"/>
                    </a:lnT>
                    <a:lnB w="9525" cap="flat" cmpd="sng">
                      <a:solidFill>
                        <a:srgbClr val="E9EDF3"/>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None/>
                      </a:pPr>
                      <a:r>
                        <a:rPr lang="en" sz="1000" u="none" strike="noStrike" cap="none">
                          <a:solidFill>
                            <a:srgbClr val="111827"/>
                          </a:solidFill>
                          <a:latin typeface="Montserrat Medium"/>
                          <a:ea typeface="Montserrat Medium"/>
                          <a:cs typeface="Montserrat Medium"/>
                          <a:sym typeface="Montserrat Medium"/>
                        </a:rPr>
                        <a:t>+4.4</a:t>
                      </a:r>
                      <a:r>
                        <a:rPr lang="en" sz="1000">
                          <a:solidFill>
                            <a:srgbClr val="111827"/>
                          </a:solidFill>
                          <a:latin typeface="Montserrat Medium"/>
                          <a:ea typeface="Montserrat Medium"/>
                          <a:cs typeface="Montserrat Medium"/>
                          <a:sym typeface="Montserrat Medium"/>
                        </a:rPr>
                        <a:t>%</a:t>
                      </a:r>
                      <a:endParaRPr sz="1000">
                        <a:latin typeface="Montserrat Medium"/>
                        <a:ea typeface="Montserrat Medium"/>
                        <a:cs typeface="Montserrat Medium"/>
                        <a:sym typeface="Montserrat Medium"/>
                      </a:endParaRPr>
                    </a:p>
                  </a:txBody>
                  <a:tcPr marL="73150" marR="73150" marT="18300" marB="18300" anchor="ctr">
                    <a:lnL w="9525" cap="flat" cmpd="sng">
                      <a:solidFill>
                        <a:srgbClr val="E9EDF3"/>
                      </a:solidFill>
                      <a:prstDash val="solid"/>
                      <a:round/>
                      <a:headEnd type="none" w="sm" len="sm"/>
                      <a:tailEnd type="none" w="sm" len="sm"/>
                    </a:lnL>
                    <a:lnR w="9525" cap="flat" cmpd="sng">
                      <a:solidFill>
                        <a:srgbClr val="E9EDF3"/>
                      </a:solidFill>
                      <a:prstDash val="solid"/>
                      <a:round/>
                      <a:headEnd type="none" w="sm" len="sm"/>
                      <a:tailEnd type="none" w="sm" len="sm"/>
                    </a:lnR>
                    <a:lnT w="9525" cap="flat" cmpd="sng">
                      <a:solidFill>
                        <a:srgbClr val="E9EDF3"/>
                      </a:solidFill>
                      <a:prstDash val="solid"/>
                      <a:round/>
                      <a:headEnd type="none" w="sm" len="sm"/>
                      <a:tailEnd type="none" w="sm" len="sm"/>
                    </a:lnT>
                    <a:lnB w="9525" cap="flat" cmpd="sng">
                      <a:solidFill>
                        <a:srgbClr val="E9EDF3"/>
                      </a:solidFill>
                      <a:prstDash val="solid"/>
                      <a:round/>
                      <a:headEnd type="none" w="sm" len="sm"/>
                      <a:tailEnd type="none" w="sm" len="sm"/>
                    </a:lnB>
                    <a:solidFill>
                      <a:srgbClr val="D9EAD3"/>
                    </a:solidFill>
                  </a:tcPr>
                </a:tc>
                <a:extLst>
                  <a:ext uri="{0D108BD9-81ED-4DB2-BD59-A6C34878D82A}">
                    <a16:rowId xmlns:a16="http://schemas.microsoft.com/office/drawing/2014/main" val="10005"/>
                  </a:ext>
                </a:extLst>
              </a:tr>
            </a:tbl>
          </a:graphicData>
        </a:graphic>
      </p:graphicFrame>
      <p:sp>
        <p:nvSpPr>
          <p:cNvPr id="1031" name="Google Shape;1031;p70"/>
          <p:cNvSpPr/>
          <p:nvPr/>
        </p:nvSpPr>
        <p:spPr>
          <a:xfrm>
            <a:off x="365748" y="3350363"/>
            <a:ext cx="240300" cy="240300"/>
          </a:xfrm>
          <a:prstGeom prst="roundRect">
            <a:avLst>
              <a:gd name="adj" fmla="val 50000"/>
            </a:avLst>
          </a:prstGeom>
          <a:solidFill>
            <a:srgbClr val="FF7F32"/>
          </a:solidFill>
          <a:ln>
            <a:noFill/>
          </a:ln>
        </p:spPr>
        <p:txBody>
          <a:bodyPr spcFirstLastPara="1" wrap="square" lIns="70675" tIns="35325" rIns="70675" bIns="35325" anchor="ctr" anchorCtr="0">
            <a:noAutofit/>
          </a:bodyPr>
          <a:lstStyle/>
          <a:p>
            <a:pPr marL="0" marR="0" lvl="0" indent="0" algn="ctr" rtl="0">
              <a:spcBef>
                <a:spcPts val="0"/>
              </a:spcBef>
              <a:spcAft>
                <a:spcPts val="0"/>
              </a:spcAft>
              <a:buNone/>
            </a:pPr>
            <a:endParaRPr sz="1391" b="0" i="0" u="none" strike="noStrike" cap="none">
              <a:solidFill>
                <a:srgbClr val="000000"/>
              </a:solidFill>
              <a:latin typeface="Calibri"/>
              <a:ea typeface="Calibri"/>
              <a:cs typeface="Calibri"/>
              <a:sym typeface="Calibri"/>
            </a:endParaRPr>
          </a:p>
        </p:txBody>
      </p:sp>
      <p:sp>
        <p:nvSpPr>
          <p:cNvPr id="1032" name="Google Shape;1032;p70"/>
          <p:cNvSpPr txBox="1"/>
          <p:nvPr/>
        </p:nvSpPr>
        <p:spPr>
          <a:xfrm>
            <a:off x="365748" y="3391018"/>
            <a:ext cx="240300" cy="1548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None/>
            </a:pPr>
            <a:r>
              <a:rPr lang="en" sz="1005" b="1" i="0" u="none" strike="noStrike" cap="none">
                <a:solidFill>
                  <a:srgbClr val="FFFFFF"/>
                </a:solidFill>
                <a:latin typeface="Quattrocento Sans"/>
                <a:ea typeface="Quattrocento Sans"/>
                <a:cs typeface="Quattrocento Sans"/>
                <a:sym typeface="Quattrocento Sans"/>
              </a:rPr>
              <a:t>1</a:t>
            </a:r>
            <a:endParaRPr sz="1082"/>
          </a:p>
        </p:txBody>
      </p:sp>
      <p:sp>
        <p:nvSpPr>
          <p:cNvPr id="1033" name="Google Shape;1033;p70"/>
          <p:cNvSpPr txBox="1"/>
          <p:nvPr/>
        </p:nvSpPr>
        <p:spPr>
          <a:xfrm>
            <a:off x="719150" y="3336225"/>
            <a:ext cx="5499600" cy="1428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 sz="928" i="0" u="none" strike="noStrike" cap="none">
                <a:solidFill>
                  <a:srgbClr val="0E4174"/>
                </a:solidFill>
                <a:latin typeface="Lexend"/>
                <a:ea typeface="Lexend"/>
                <a:cs typeface="Lexend"/>
                <a:sym typeface="Lexend"/>
              </a:rPr>
              <a:t>Fix check-in</a:t>
            </a:r>
            <a:endParaRPr sz="1082">
              <a:latin typeface="Lexend"/>
              <a:ea typeface="Lexend"/>
              <a:cs typeface="Lexend"/>
              <a:sym typeface="Lexend"/>
            </a:endParaRPr>
          </a:p>
        </p:txBody>
      </p:sp>
      <p:sp>
        <p:nvSpPr>
          <p:cNvPr id="1034" name="Google Shape;1034;p70"/>
          <p:cNvSpPr txBox="1"/>
          <p:nvPr/>
        </p:nvSpPr>
        <p:spPr>
          <a:xfrm>
            <a:off x="719150" y="3548250"/>
            <a:ext cx="3731700" cy="247500"/>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 sz="773" i="0" u="none" strike="noStrike" cap="none">
                <a:solidFill>
                  <a:srgbClr val="374151"/>
                </a:solidFill>
                <a:latin typeface="Lexend"/>
                <a:ea typeface="Lexend"/>
                <a:cs typeface="Lexend"/>
                <a:sym typeface="Lexend"/>
              </a:rPr>
              <a:t>25.6% đơn chạy ngoài ca là do không bấm check-in. Thêm push notification trước giờ ca 15 phút + auto-check-in khi tài xế online trong khung giờ ca.</a:t>
            </a:r>
            <a:endParaRPr sz="1082">
              <a:latin typeface="Lexend"/>
              <a:ea typeface="Lexend"/>
              <a:cs typeface="Lexend"/>
              <a:sym typeface="Lexend"/>
            </a:endParaRPr>
          </a:p>
        </p:txBody>
      </p:sp>
      <p:sp>
        <p:nvSpPr>
          <p:cNvPr id="1035" name="Google Shape;1035;p70"/>
          <p:cNvSpPr/>
          <p:nvPr/>
        </p:nvSpPr>
        <p:spPr>
          <a:xfrm>
            <a:off x="365748" y="3951133"/>
            <a:ext cx="240300" cy="240300"/>
          </a:xfrm>
          <a:prstGeom prst="roundRect">
            <a:avLst>
              <a:gd name="adj" fmla="val 50000"/>
            </a:avLst>
          </a:prstGeom>
          <a:solidFill>
            <a:srgbClr val="FF7F32"/>
          </a:solidFill>
          <a:ln>
            <a:noFill/>
          </a:ln>
        </p:spPr>
        <p:txBody>
          <a:bodyPr spcFirstLastPara="1" wrap="square" lIns="70675" tIns="35325" rIns="70675" bIns="35325" anchor="ctr" anchorCtr="0">
            <a:noAutofit/>
          </a:bodyPr>
          <a:lstStyle/>
          <a:p>
            <a:pPr marL="0" marR="0" lvl="0" indent="0" algn="ctr" rtl="0">
              <a:spcBef>
                <a:spcPts val="0"/>
              </a:spcBef>
              <a:spcAft>
                <a:spcPts val="0"/>
              </a:spcAft>
              <a:buNone/>
            </a:pPr>
            <a:endParaRPr sz="1391" b="0" i="0" u="none" strike="noStrike" cap="none">
              <a:solidFill>
                <a:srgbClr val="000000"/>
              </a:solidFill>
              <a:latin typeface="Calibri"/>
              <a:ea typeface="Calibri"/>
              <a:cs typeface="Calibri"/>
              <a:sym typeface="Calibri"/>
            </a:endParaRPr>
          </a:p>
        </p:txBody>
      </p:sp>
      <p:sp>
        <p:nvSpPr>
          <p:cNvPr id="1036" name="Google Shape;1036;p70"/>
          <p:cNvSpPr txBox="1"/>
          <p:nvPr/>
        </p:nvSpPr>
        <p:spPr>
          <a:xfrm>
            <a:off x="365748" y="3991789"/>
            <a:ext cx="240300" cy="1548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None/>
            </a:pPr>
            <a:r>
              <a:rPr lang="en" sz="1005" b="1" i="0" u="none" strike="noStrike" cap="none">
                <a:solidFill>
                  <a:srgbClr val="FFFFFF"/>
                </a:solidFill>
                <a:latin typeface="Quattrocento Sans"/>
                <a:ea typeface="Quattrocento Sans"/>
                <a:cs typeface="Quattrocento Sans"/>
                <a:sym typeface="Quattrocento Sans"/>
              </a:rPr>
              <a:t>2</a:t>
            </a:r>
            <a:endParaRPr sz="1082"/>
          </a:p>
        </p:txBody>
      </p:sp>
      <p:sp>
        <p:nvSpPr>
          <p:cNvPr id="1037" name="Google Shape;1037;p70"/>
          <p:cNvSpPr txBox="1"/>
          <p:nvPr/>
        </p:nvSpPr>
        <p:spPr>
          <a:xfrm>
            <a:off x="719150" y="3936995"/>
            <a:ext cx="5499600" cy="1428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 sz="928" i="0" u="none" strike="noStrike" cap="none">
                <a:solidFill>
                  <a:srgbClr val="0E4174"/>
                </a:solidFill>
                <a:latin typeface="Lexend"/>
                <a:ea typeface="Lexend"/>
                <a:cs typeface="Lexend"/>
                <a:sym typeface="Lexend"/>
              </a:rPr>
              <a:t>Cắt/giảm </a:t>
            </a:r>
            <a:r>
              <a:rPr lang="en" sz="928">
                <a:solidFill>
                  <a:srgbClr val="0E4174"/>
                </a:solidFill>
                <a:latin typeface="Lexend"/>
                <a:ea typeface="Lexend"/>
                <a:cs typeface="Lexend"/>
                <a:sym typeface="Lexend"/>
              </a:rPr>
              <a:t>ca </a:t>
            </a:r>
            <a:r>
              <a:rPr lang="en" sz="928" i="0" u="none" strike="noStrike" cap="none">
                <a:solidFill>
                  <a:srgbClr val="0E4174"/>
                </a:solidFill>
                <a:latin typeface="Lexend"/>
                <a:ea typeface="Lexend"/>
                <a:cs typeface="Lexend"/>
                <a:sym typeface="Lexend"/>
              </a:rPr>
              <a:t>18:00–20:00, đẩy </a:t>
            </a:r>
            <a:r>
              <a:rPr lang="en" sz="928">
                <a:solidFill>
                  <a:srgbClr val="0E4174"/>
                </a:solidFill>
                <a:latin typeface="Lexend"/>
                <a:ea typeface="Lexend"/>
                <a:cs typeface="Lexend"/>
                <a:sym typeface="Lexend"/>
              </a:rPr>
              <a:t>ca </a:t>
            </a:r>
            <a:r>
              <a:rPr lang="en" sz="928" i="0" u="none" strike="noStrike" cap="none">
                <a:solidFill>
                  <a:srgbClr val="0E4174"/>
                </a:solidFill>
                <a:latin typeface="Lexend"/>
                <a:ea typeface="Lexend"/>
                <a:cs typeface="Lexend"/>
                <a:sym typeface="Lexend"/>
              </a:rPr>
              <a:t>sáng 08:00–12:00 và ca 4h</a:t>
            </a:r>
            <a:endParaRPr sz="1082">
              <a:latin typeface="Lexend"/>
              <a:ea typeface="Lexend"/>
              <a:cs typeface="Lexend"/>
              <a:sym typeface="Lexend"/>
            </a:endParaRPr>
          </a:p>
        </p:txBody>
      </p:sp>
      <p:sp>
        <p:nvSpPr>
          <p:cNvPr id="1038" name="Google Shape;1038;p70"/>
          <p:cNvSpPr txBox="1"/>
          <p:nvPr/>
        </p:nvSpPr>
        <p:spPr>
          <a:xfrm>
            <a:off x="719150" y="4149031"/>
            <a:ext cx="5499600" cy="119100"/>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 sz="773" i="0" u="none" strike="noStrike" cap="none">
                <a:solidFill>
                  <a:srgbClr val="374151"/>
                </a:solidFill>
                <a:latin typeface="Lexend"/>
                <a:ea typeface="Lexend"/>
                <a:cs typeface="Lexend"/>
                <a:sym typeface="Lexend"/>
              </a:rPr>
              <a:t>Chuyển quota sang khung sáng (đơn/ca cao gấp 2.8 lần slot tối).</a:t>
            </a:r>
            <a:endParaRPr sz="1082">
              <a:latin typeface="Lexend"/>
              <a:ea typeface="Lexend"/>
              <a:cs typeface="Lexend"/>
              <a:sym typeface="Lexend"/>
            </a:endParaRPr>
          </a:p>
        </p:txBody>
      </p:sp>
      <p:sp>
        <p:nvSpPr>
          <p:cNvPr id="1039" name="Google Shape;1039;p70"/>
          <p:cNvSpPr/>
          <p:nvPr/>
        </p:nvSpPr>
        <p:spPr>
          <a:xfrm>
            <a:off x="365748" y="4551903"/>
            <a:ext cx="240300" cy="240300"/>
          </a:xfrm>
          <a:prstGeom prst="roundRect">
            <a:avLst>
              <a:gd name="adj" fmla="val 50000"/>
            </a:avLst>
          </a:prstGeom>
          <a:solidFill>
            <a:srgbClr val="FF7F32"/>
          </a:solidFill>
          <a:ln>
            <a:noFill/>
          </a:ln>
        </p:spPr>
        <p:txBody>
          <a:bodyPr spcFirstLastPara="1" wrap="square" lIns="70675" tIns="35325" rIns="70675" bIns="35325" anchor="ctr" anchorCtr="0">
            <a:noAutofit/>
          </a:bodyPr>
          <a:lstStyle/>
          <a:p>
            <a:pPr marL="0" marR="0" lvl="0" indent="0" algn="ctr" rtl="0">
              <a:spcBef>
                <a:spcPts val="0"/>
              </a:spcBef>
              <a:spcAft>
                <a:spcPts val="0"/>
              </a:spcAft>
              <a:buNone/>
            </a:pPr>
            <a:endParaRPr sz="1391" b="0" i="0" u="none" strike="noStrike" cap="none">
              <a:solidFill>
                <a:srgbClr val="000000"/>
              </a:solidFill>
              <a:latin typeface="Calibri"/>
              <a:ea typeface="Calibri"/>
              <a:cs typeface="Calibri"/>
              <a:sym typeface="Calibri"/>
            </a:endParaRPr>
          </a:p>
        </p:txBody>
      </p:sp>
      <p:sp>
        <p:nvSpPr>
          <p:cNvPr id="1040" name="Google Shape;1040;p70"/>
          <p:cNvSpPr txBox="1"/>
          <p:nvPr/>
        </p:nvSpPr>
        <p:spPr>
          <a:xfrm>
            <a:off x="365748" y="4592559"/>
            <a:ext cx="240300" cy="154800"/>
          </a:xfrm>
          <a:prstGeom prst="rect">
            <a:avLst/>
          </a:prstGeom>
          <a:no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None/>
            </a:pPr>
            <a:r>
              <a:rPr lang="en" sz="1005" b="1" i="0" u="none" strike="noStrike" cap="none">
                <a:solidFill>
                  <a:srgbClr val="FFFFFF"/>
                </a:solidFill>
                <a:latin typeface="Quattrocento Sans"/>
                <a:ea typeface="Quattrocento Sans"/>
                <a:cs typeface="Quattrocento Sans"/>
                <a:sym typeface="Quattrocento Sans"/>
              </a:rPr>
              <a:t>3</a:t>
            </a:r>
            <a:endParaRPr sz="1082"/>
          </a:p>
        </p:txBody>
      </p:sp>
      <p:sp>
        <p:nvSpPr>
          <p:cNvPr id="1041" name="Google Shape;1041;p70"/>
          <p:cNvSpPr txBox="1"/>
          <p:nvPr/>
        </p:nvSpPr>
        <p:spPr>
          <a:xfrm>
            <a:off x="719150" y="4537764"/>
            <a:ext cx="5499600" cy="1428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 sz="928">
                <a:solidFill>
                  <a:srgbClr val="0E4174"/>
                </a:solidFill>
                <a:latin typeface="Lexend"/>
                <a:ea typeface="Lexend"/>
                <a:cs typeface="Lexend"/>
                <a:sym typeface="Lexend"/>
              </a:rPr>
              <a:t>Có điểm chạm tập chạy hub lần đầu</a:t>
            </a:r>
            <a:endParaRPr sz="1082">
              <a:latin typeface="Lexend"/>
              <a:ea typeface="Lexend"/>
              <a:cs typeface="Lexend"/>
              <a:sym typeface="Lexend"/>
            </a:endParaRPr>
          </a:p>
        </p:txBody>
      </p:sp>
      <p:sp>
        <p:nvSpPr>
          <p:cNvPr id="1042" name="Google Shape;1042;p70"/>
          <p:cNvSpPr txBox="1"/>
          <p:nvPr/>
        </p:nvSpPr>
        <p:spPr>
          <a:xfrm>
            <a:off x="719150" y="4749800"/>
            <a:ext cx="3807000" cy="247500"/>
          </a:xfrm>
          <a:prstGeom prst="rect">
            <a:avLst/>
          </a:prstGeom>
          <a:noFill/>
          <a:ln>
            <a:noFill/>
          </a:ln>
        </p:spPr>
        <p:txBody>
          <a:bodyPr spcFirstLastPara="1" wrap="square" lIns="0" tIns="0" rIns="0" bIns="0" anchor="t" anchorCtr="0">
            <a:spAutoFit/>
          </a:bodyPr>
          <a:lstStyle/>
          <a:p>
            <a:pPr marL="0" marR="0" lvl="0" indent="0" algn="l" rtl="0">
              <a:lnSpc>
                <a:spcPct val="108000"/>
              </a:lnSpc>
              <a:spcBef>
                <a:spcPts val="0"/>
              </a:spcBef>
              <a:spcAft>
                <a:spcPts val="0"/>
              </a:spcAft>
              <a:buNone/>
            </a:pPr>
            <a:r>
              <a:rPr lang="en" sz="773" i="0" u="none" strike="noStrike" cap="none">
                <a:solidFill>
                  <a:srgbClr val="374151"/>
                </a:solidFill>
                <a:latin typeface="Lexend"/>
                <a:ea typeface="Lexend"/>
                <a:cs typeface="Lexend"/>
                <a:sym typeface="Lexend"/>
              </a:rPr>
              <a:t>56% bỏ sau ca đầu. </a:t>
            </a:r>
            <a:r>
              <a:rPr lang="en" sz="773">
                <a:solidFill>
                  <a:srgbClr val="374151"/>
                </a:solidFill>
                <a:latin typeface="Lexend"/>
                <a:ea typeface="Lexend"/>
                <a:cs typeface="Lexend"/>
                <a:sym typeface="Lexend"/>
              </a:rPr>
              <a:t>Là do cảm giác không hiệu quả hay chưa hình thành thói quen?</a:t>
            </a:r>
            <a:endParaRPr sz="1082">
              <a:latin typeface="Lexend"/>
              <a:ea typeface="Lexend"/>
              <a:cs typeface="Lexend"/>
              <a:sym typeface="Lexend"/>
            </a:endParaRPr>
          </a:p>
        </p:txBody>
      </p:sp>
      <p:pic>
        <p:nvPicPr>
          <p:cNvPr id="1043" name="Google Shape;1043;p70"/>
          <p:cNvPicPr preferRelativeResize="0"/>
          <p:nvPr/>
        </p:nvPicPr>
        <p:blipFill rotWithShape="1">
          <a:blip r:embed="rId3">
            <a:alphaModFix/>
          </a:blip>
          <a:srcRect l="1691" t="1466" b="1475"/>
          <a:stretch/>
        </p:blipFill>
        <p:spPr>
          <a:xfrm>
            <a:off x="4754875" y="3350375"/>
            <a:ext cx="4023450" cy="1657361"/>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1048"/>
        <p:cNvGrpSpPr/>
        <p:nvPr/>
      </p:nvGrpSpPr>
      <p:grpSpPr>
        <a:xfrm>
          <a:off x="0" y="0"/>
          <a:ext cx="0" cy="0"/>
          <a:chOff x="0" y="0"/>
          <a:chExt cx="0" cy="0"/>
        </a:xfrm>
      </p:grpSpPr>
      <p:sp>
        <p:nvSpPr>
          <p:cNvPr id="1049" name="Google Shape;1049;p71"/>
          <p:cNvSpPr/>
          <p:nvPr/>
        </p:nvSpPr>
        <p:spPr>
          <a:xfrm>
            <a:off x="359950" y="969832"/>
            <a:ext cx="3378600" cy="3119700"/>
          </a:xfrm>
          <a:prstGeom prst="roundRect">
            <a:avLst>
              <a:gd name="adj" fmla="val 16667"/>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50" name="Google Shape;1050;p71"/>
          <p:cNvSpPr/>
          <p:nvPr/>
        </p:nvSpPr>
        <p:spPr>
          <a:xfrm>
            <a:off x="0" y="0"/>
            <a:ext cx="9144000" cy="73200"/>
          </a:xfrm>
          <a:prstGeom prst="rect">
            <a:avLst/>
          </a:prstGeom>
          <a:solidFill>
            <a:srgbClr val="FF7F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1" name="Google Shape;1051;p71"/>
          <p:cNvSpPr/>
          <p:nvPr/>
        </p:nvSpPr>
        <p:spPr>
          <a:xfrm>
            <a:off x="731520" y="201168"/>
            <a:ext cx="7315200" cy="411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E4174"/>
              </a:buClr>
              <a:buSzPts val="2200"/>
              <a:buFont typeface="Calibri"/>
              <a:buNone/>
            </a:pPr>
            <a:r>
              <a:rPr lang="en" sz="2200" b="1">
                <a:solidFill>
                  <a:srgbClr val="0E4174"/>
                </a:solidFill>
                <a:latin typeface="Lexend"/>
                <a:ea typeface="Lexend"/>
                <a:cs typeface="Lexend"/>
                <a:sym typeface="Lexend"/>
              </a:rPr>
              <a:t>EV </a:t>
            </a:r>
            <a:endParaRPr sz="2200" b="1" i="0" u="none" strike="noStrike" cap="none">
              <a:solidFill>
                <a:srgbClr val="F56C1F"/>
              </a:solidFill>
              <a:highlight>
                <a:schemeClr val="lt1"/>
              </a:highlight>
              <a:latin typeface="Lexend"/>
              <a:ea typeface="Lexend"/>
              <a:cs typeface="Lexend"/>
              <a:sym typeface="Lexend"/>
            </a:endParaRPr>
          </a:p>
        </p:txBody>
      </p:sp>
      <p:sp>
        <p:nvSpPr>
          <p:cNvPr id="1052" name="Google Shape;1052;p71"/>
          <p:cNvSpPr/>
          <p:nvPr/>
        </p:nvSpPr>
        <p:spPr>
          <a:xfrm>
            <a:off x="731520" y="594360"/>
            <a:ext cx="7315200" cy="274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1000"/>
              <a:buFont typeface="Calibri"/>
              <a:buNone/>
            </a:pPr>
            <a:r>
              <a:rPr lang="en" sz="1000" i="1">
                <a:solidFill>
                  <a:schemeClr val="accent3"/>
                </a:solidFill>
                <a:latin typeface="Lexend"/>
                <a:ea typeface="Lexend"/>
                <a:cs typeface="Lexend"/>
                <a:sym typeface="Lexend"/>
              </a:rPr>
              <a:t>Tổng hợp nhu cầu đối tác</a:t>
            </a:r>
            <a:endParaRPr sz="1000" i="1">
              <a:solidFill>
                <a:schemeClr val="accent3"/>
              </a:solidFill>
              <a:latin typeface="Lexend"/>
              <a:ea typeface="Lexend"/>
              <a:cs typeface="Lexend"/>
              <a:sym typeface="Lexend"/>
            </a:endParaRPr>
          </a:p>
        </p:txBody>
      </p:sp>
      <p:cxnSp>
        <p:nvCxnSpPr>
          <p:cNvPr id="1053" name="Google Shape;1053;p71"/>
          <p:cNvCxnSpPr/>
          <p:nvPr/>
        </p:nvCxnSpPr>
        <p:spPr>
          <a:xfrm>
            <a:off x="365760" y="868680"/>
            <a:ext cx="8412600" cy="0"/>
          </a:xfrm>
          <a:prstGeom prst="straightConnector1">
            <a:avLst/>
          </a:prstGeom>
          <a:noFill/>
          <a:ln w="9525" cap="flat" cmpd="sng">
            <a:solidFill>
              <a:srgbClr val="E2E8F0"/>
            </a:solidFill>
            <a:prstDash val="solid"/>
            <a:round/>
            <a:headEnd type="none" w="sm" len="sm"/>
            <a:tailEnd type="none" w="sm" len="sm"/>
          </a:ln>
        </p:spPr>
      </p:cxnSp>
      <p:sp>
        <p:nvSpPr>
          <p:cNvPr id="1054" name="Google Shape;1054;p71"/>
          <p:cNvSpPr/>
          <p:nvPr/>
        </p:nvSpPr>
        <p:spPr>
          <a:xfrm>
            <a:off x="5486395" y="45700"/>
            <a:ext cx="3657600" cy="27420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94A3B8"/>
              </a:buClr>
              <a:buSzPts val="700"/>
              <a:buFont typeface="Calibri"/>
              <a:buNone/>
            </a:pPr>
            <a:r>
              <a:rPr lang="en" sz="700" b="0" i="1" u="none" strike="noStrike" cap="none">
                <a:solidFill>
                  <a:srgbClr val="94A3B8"/>
                </a:solidFill>
                <a:latin typeface="Calibri"/>
                <a:ea typeface="Calibri"/>
                <a:cs typeface="Calibri"/>
                <a:sym typeface="Calibri"/>
              </a:rPr>
              <a:t>Ahamove — Driver Management | Confidential</a:t>
            </a:r>
            <a:endParaRPr sz="700" b="0" i="0" u="none" strike="noStrike" cap="none">
              <a:solidFill>
                <a:schemeClr val="dk1"/>
              </a:solidFill>
              <a:latin typeface="Calibri"/>
              <a:ea typeface="Calibri"/>
              <a:cs typeface="Calibri"/>
              <a:sym typeface="Calibri"/>
            </a:endParaRPr>
          </a:p>
        </p:txBody>
      </p:sp>
      <p:sp>
        <p:nvSpPr>
          <p:cNvPr id="1055" name="Google Shape;1055;p71"/>
          <p:cNvSpPr/>
          <p:nvPr/>
        </p:nvSpPr>
        <p:spPr>
          <a:xfrm>
            <a:off x="430475" y="285363"/>
            <a:ext cx="229284" cy="243216"/>
          </a:xfrm>
          <a:prstGeom prst="lightningBolt">
            <a:avLst/>
          </a:prstGeom>
          <a:solidFill>
            <a:srgbClr val="FF7F3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56" name="Google Shape;1056;p71"/>
          <p:cNvSpPr/>
          <p:nvPr/>
        </p:nvSpPr>
        <p:spPr>
          <a:xfrm>
            <a:off x="380713" y="242300"/>
            <a:ext cx="328800" cy="328800"/>
          </a:xfrm>
          <a:prstGeom prst="roundRect">
            <a:avLst>
              <a:gd name="adj" fmla="val 28261"/>
            </a:avLst>
          </a:prstGeom>
          <a:gradFill>
            <a:gsLst>
              <a:gs pos="0">
                <a:srgbClr val="FF9A50"/>
              </a:gs>
              <a:gs pos="100000">
                <a:srgbClr val="FF7F32"/>
              </a:gs>
            </a:gsLst>
            <a:lin ang="2700006" scaled="0"/>
          </a:gra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057" name="Google Shape;1057;p71"/>
          <p:cNvSpPr/>
          <p:nvPr/>
        </p:nvSpPr>
        <p:spPr>
          <a:xfrm>
            <a:off x="466438" y="299450"/>
            <a:ext cx="171450" cy="257175"/>
          </a:xfrm>
          <a:custGeom>
            <a:avLst/>
            <a:gdLst/>
            <a:ahLst/>
            <a:cxnLst/>
            <a:rect l="l" t="t" r="r" b="b"/>
            <a:pathLst>
              <a:path w="228600" h="342900" extrusionOk="0">
                <a:moveTo>
                  <a:pt x="152400" y="0"/>
                </a:moveTo>
                <a:lnTo>
                  <a:pt x="0" y="200025"/>
                </a:lnTo>
                <a:lnTo>
                  <a:pt x="104775" y="200025"/>
                </a:lnTo>
                <a:lnTo>
                  <a:pt x="66675" y="342900"/>
                </a:lnTo>
                <a:lnTo>
                  <a:pt x="228600" y="133350"/>
                </a:lnTo>
                <a:lnTo>
                  <a:pt x="114300" y="133350"/>
                </a:lnTo>
                <a:close/>
              </a:path>
            </a:pathLst>
          </a:custGeom>
          <a:solidFill>
            <a:srgbClr val="FFFFFF"/>
          </a:solidFill>
          <a:ln>
            <a:noFill/>
          </a:ln>
        </p:spPr>
      </p:sp>
      <p:pic>
        <p:nvPicPr>
          <p:cNvPr id="1058" name="Google Shape;1058;p71" title="Biểu đồ"/>
          <p:cNvPicPr preferRelativeResize="0"/>
          <p:nvPr/>
        </p:nvPicPr>
        <p:blipFill rotWithShape="1">
          <a:blip r:embed="rId3">
            <a:alphaModFix/>
          </a:blip>
          <a:srcRect b="11567"/>
          <a:stretch/>
        </p:blipFill>
        <p:spPr>
          <a:xfrm>
            <a:off x="365750" y="935907"/>
            <a:ext cx="3455525" cy="3045925"/>
          </a:xfrm>
          <a:prstGeom prst="rect">
            <a:avLst/>
          </a:prstGeom>
          <a:noFill/>
          <a:ln>
            <a:noFill/>
          </a:ln>
        </p:spPr>
      </p:pic>
      <p:pic>
        <p:nvPicPr>
          <p:cNvPr id="1059" name="Google Shape;1059;p71" title="Biểu đồ"/>
          <p:cNvPicPr preferRelativeResize="0"/>
          <p:nvPr/>
        </p:nvPicPr>
        <p:blipFill>
          <a:blip r:embed="rId4">
            <a:alphaModFix/>
          </a:blip>
          <a:stretch>
            <a:fillRect/>
          </a:stretch>
        </p:blipFill>
        <p:spPr>
          <a:xfrm>
            <a:off x="4441025" y="1499176"/>
            <a:ext cx="3994032" cy="1849725"/>
          </a:xfrm>
          <a:prstGeom prst="rect">
            <a:avLst/>
          </a:prstGeom>
          <a:noFill/>
          <a:ln>
            <a:noFill/>
          </a:ln>
        </p:spPr>
      </p:pic>
      <p:cxnSp>
        <p:nvCxnSpPr>
          <p:cNvPr id="1060" name="Google Shape;1060;p71"/>
          <p:cNvCxnSpPr/>
          <p:nvPr/>
        </p:nvCxnSpPr>
        <p:spPr>
          <a:xfrm>
            <a:off x="3494825" y="3646075"/>
            <a:ext cx="621000" cy="0"/>
          </a:xfrm>
          <a:prstGeom prst="straightConnector1">
            <a:avLst/>
          </a:prstGeom>
          <a:noFill/>
          <a:ln w="9525" cap="flat" cmpd="sng">
            <a:solidFill>
              <a:schemeClr val="dk2"/>
            </a:solidFill>
            <a:prstDash val="dash"/>
            <a:round/>
            <a:headEnd type="none" w="med" len="med"/>
            <a:tailEnd type="none" w="med" len="med"/>
          </a:ln>
        </p:spPr>
      </p:cxnSp>
      <p:cxnSp>
        <p:nvCxnSpPr>
          <p:cNvPr id="1061" name="Google Shape;1061;p71"/>
          <p:cNvCxnSpPr/>
          <p:nvPr/>
        </p:nvCxnSpPr>
        <p:spPr>
          <a:xfrm rot="10800000">
            <a:off x="4104375" y="2479150"/>
            <a:ext cx="0" cy="1155300"/>
          </a:xfrm>
          <a:prstGeom prst="straightConnector1">
            <a:avLst/>
          </a:prstGeom>
          <a:noFill/>
          <a:ln w="9525" cap="flat" cmpd="sng">
            <a:solidFill>
              <a:schemeClr val="dk2"/>
            </a:solidFill>
            <a:prstDash val="dash"/>
            <a:round/>
            <a:headEnd type="none" w="med" len="med"/>
            <a:tailEnd type="none" w="med" len="med"/>
          </a:ln>
        </p:spPr>
      </p:cxnSp>
      <p:cxnSp>
        <p:nvCxnSpPr>
          <p:cNvPr id="1062" name="Google Shape;1062;p71"/>
          <p:cNvCxnSpPr/>
          <p:nvPr/>
        </p:nvCxnSpPr>
        <p:spPr>
          <a:xfrm>
            <a:off x="4121800" y="2479209"/>
            <a:ext cx="522600" cy="0"/>
          </a:xfrm>
          <a:prstGeom prst="straightConnector1">
            <a:avLst/>
          </a:prstGeom>
          <a:noFill/>
          <a:ln w="9525" cap="flat" cmpd="sng">
            <a:solidFill>
              <a:schemeClr val="dk2"/>
            </a:solidFill>
            <a:prstDash val="dash"/>
            <a:round/>
            <a:headEnd type="none" w="med" len="med"/>
            <a:tailEnd type="none" w="med" len="med"/>
          </a:ln>
        </p:spPr>
      </p:cxnSp>
      <p:sp>
        <p:nvSpPr>
          <p:cNvPr id="1063" name="Google Shape;1063;p71"/>
          <p:cNvSpPr/>
          <p:nvPr/>
        </p:nvSpPr>
        <p:spPr>
          <a:xfrm>
            <a:off x="543075" y="4248025"/>
            <a:ext cx="7060800" cy="465900"/>
          </a:xfrm>
          <a:prstGeom prst="roundRect">
            <a:avLst>
              <a:gd name="adj" fmla="val 20690"/>
            </a:avLst>
          </a:prstGeom>
          <a:solidFill>
            <a:srgbClr val="FFF3EB"/>
          </a:solidFill>
          <a:ln>
            <a:noFill/>
          </a:ln>
        </p:spPr>
        <p:txBody>
          <a:bodyPr spcFirstLastPara="1" wrap="square" lIns="63900" tIns="63900" rIns="63900" bIns="63900" anchor="ctr" anchorCtr="0">
            <a:noAutofit/>
          </a:bodyPr>
          <a:lstStyle/>
          <a:p>
            <a:pPr marL="0" lvl="0" indent="0" algn="l" rtl="0">
              <a:spcBef>
                <a:spcPts val="0"/>
              </a:spcBef>
              <a:spcAft>
                <a:spcPts val="0"/>
              </a:spcAft>
              <a:buNone/>
            </a:pPr>
            <a:endParaRPr/>
          </a:p>
        </p:txBody>
      </p:sp>
      <p:sp>
        <p:nvSpPr>
          <p:cNvPr id="1064" name="Google Shape;1064;p71"/>
          <p:cNvSpPr txBox="1"/>
          <p:nvPr/>
        </p:nvSpPr>
        <p:spPr>
          <a:xfrm>
            <a:off x="637900" y="4346625"/>
            <a:ext cx="8007300" cy="524700"/>
          </a:xfrm>
          <a:prstGeom prst="rect">
            <a:avLst/>
          </a:prstGeom>
          <a:noFill/>
          <a:ln>
            <a:noFill/>
          </a:ln>
        </p:spPr>
        <p:txBody>
          <a:bodyPr spcFirstLastPara="1" wrap="square" lIns="0" tIns="0" rIns="0" bIns="0" anchor="t" anchorCtr="0">
            <a:spAutoFit/>
          </a:bodyPr>
          <a:lstStyle/>
          <a:p>
            <a:pPr marL="457200" marR="0" lvl="0" indent="-282727" algn="l" rtl="0">
              <a:spcBef>
                <a:spcPts val="0"/>
              </a:spcBef>
              <a:spcAft>
                <a:spcPts val="0"/>
              </a:spcAft>
              <a:buClr>
                <a:srgbClr val="B4531A"/>
              </a:buClr>
              <a:buSzPts val="852"/>
              <a:buFont typeface="Lexend"/>
              <a:buChar char="-"/>
            </a:pPr>
            <a:r>
              <a:rPr lang="en" sz="852" b="1">
                <a:solidFill>
                  <a:srgbClr val="B4531A"/>
                </a:solidFill>
                <a:latin typeface="Lexend"/>
                <a:ea typeface="Lexend"/>
                <a:cs typeface="Lexend"/>
                <a:sym typeface="Lexend"/>
              </a:rPr>
              <a:t>Số lượng tài xế quan tâm đến EV từ tháng 8 bắt đầu có dấu hiệu tăng trở lại, </a:t>
            </a:r>
            <a:r>
              <a:rPr lang="en" sz="852" b="1" i="1">
                <a:solidFill>
                  <a:srgbClr val="B4531A"/>
                </a:solidFill>
                <a:latin typeface="Lexend"/>
                <a:ea typeface="Lexend"/>
                <a:cs typeface="Lexend"/>
                <a:sym typeface="Lexend"/>
              </a:rPr>
              <a:t>nhưng chủ yếu là từ khu vực HCM</a:t>
            </a:r>
            <a:endParaRPr sz="852" b="1" i="1">
              <a:solidFill>
                <a:srgbClr val="B4531A"/>
              </a:solidFill>
              <a:latin typeface="Lexend"/>
              <a:ea typeface="Lexend"/>
              <a:cs typeface="Lexend"/>
              <a:sym typeface="Lexend"/>
            </a:endParaRPr>
          </a:p>
          <a:p>
            <a:pPr marL="457200" marR="0" lvl="0" indent="-282727" algn="l" rtl="0">
              <a:spcBef>
                <a:spcPts val="0"/>
              </a:spcBef>
              <a:spcAft>
                <a:spcPts val="0"/>
              </a:spcAft>
              <a:buClr>
                <a:srgbClr val="B4531A"/>
              </a:buClr>
              <a:buSzPts val="852"/>
              <a:buFont typeface="Lexend"/>
              <a:buChar char="-"/>
            </a:pPr>
            <a:r>
              <a:rPr lang="en" sz="852" b="1">
                <a:solidFill>
                  <a:srgbClr val="B4531A"/>
                </a:solidFill>
                <a:latin typeface="Lexend"/>
                <a:ea typeface="Lexend"/>
                <a:cs typeface="Lexend"/>
                <a:sym typeface="Lexend"/>
              </a:rPr>
              <a:t>Tài xế HCM có sự quan tâm mạnh đến Datbike/số lượng quan tâm gói thuê Aizen đang chiếm phần đông tại 2 city </a:t>
            </a:r>
            <a:endParaRPr sz="852" b="1">
              <a:solidFill>
                <a:srgbClr val="B4531A"/>
              </a:solidFill>
              <a:latin typeface="Lexend"/>
              <a:ea typeface="Lexend"/>
              <a:cs typeface="Lexend"/>
              <a:sym typeface="Lexend"/>
            </a:endParaRPr>
          </a:p>
          <a:p>
            <a:pPr marL="0" marR="0" lvl="0" indent="0" algn="l" rtl="0">
              <a:spcBef>
                <a:spcPts val="0"/>
              </a:spcBef>
              <a:spcAft>
                <a:spcPts val="0"/>
              </a:spcAft>
              <a:buNone/>
            </a:pPr>
            <a:endParaRPr sz="852" b="1">
              <a:solidFill>
                <a:srgbClr val="B4531A"/>
              </a:solidFill>
              <a:latin typeface="Lexend"/>
              <a:ea typeface="Lexend"/>
              <a:cs typeface="Lexend"/>
              <a:sym typeface="Lexend"/>
            </a:endParaRPr>
          </a:p>
          <a:p>
            <a:pPr marL="0" marR="0" lvl="0" indent="0" algn="l" rtl="0">
              <a:spcBef>
                <a:spcPts val="0"/>
              </a:spcBef>
              <a:spcAft>
                <a:spcPts val="0"/>
              </a:spcAft>
              <a:buNone/>
            </a:pPr>
            <a:endParaRPr sz="852" b="1" i="1">
              <a:solidFill>
                <a:srgbClr val="B4531A"/>
              </a:solidFill>
              <a:latin typeface="Lexend"/>
              <a:ea typeface="Lexend"/>
              <a:cs typeface="Lexend"/>
              <a:sym typeface="Lexend"/>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1083"/>
        <p:cNvGrpSpPr/>
        <p:nvPr/>
      </p:nvGrpSpPr>
      <p:grpSpPr>
        <a:xfrm>
          <a:off x="0" y="0"/>
          <a:ext cx="0" cy="0"/>
          <a:chOff x="0" y="0"/>
          <a:chExt cx="0" cy="0"/>
        </a:xfrm>
      </p:grpSpPr>
      <p:sp>
        <p:nvSpPr>
          <p:cNvPr id="1084" name="Google Shape;1084;p73"/>
          <p:cNvSpPr/>
          <p:nvPr/>
        </p:nvSpPr>
        <p:spPr>
          <a:xfrm>
            <a:off x="0" y="0"/>
            <a:ext cx="9144000" cy="73200"/>
          </a:xfrm>
          <a:prstGeom prst="rect">
            <a:avLst/>
          </a:prstGeom>
          <a:solidFill>
            <a:srgbClr val="FF7F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085" name="Google Shape;1085;p73" descr="preencoded.png"/>
          <p:cNvPicPr preferRelativeResize="0"/>
          <p:nvPr/>
        </p:nvPicPr>
        <p:blipFill rotWithShape="1">
          <a:blip r:embed="rId3">
            <a:alphaModFix/>
          </a:blip>
          <a:srcRect/>
          <a:stretch/>
        </p:blipFill>
        <p:spPr>
          <a:xfrm>
            <a:off x="365760" y="274320"/>
            <a:ext cx="274320" cy="274320"/>
          </a:xfrm>
          <a:prstGeom prst="rect">
            <a:avLst/>
          </a:prstGeom>
          <a:noFill/>
          <a:ln>
            <a:noFill/>
          </a:ln>
        </p:spPr>
      </p:pic>
      <p:sp>
        <p:nvSpPr>
          <p:cNvPr id="1086" name="Google Shape;1086;p73"/>
          <p:cNvSpPr/>
          <p:nvPr/>
        </p:nvSpPr>
        <p:spPr>
          <a:xfrm>
            <a:off x="731520" y="201168"/>
            <a:ext cx="7315200" cy="411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E4174"/>
              </a:buClr>
              <a:buSzPts val="2200"/>
              <a:buFont typeface="Calibri"/>
              <a:buNone/>
            </a:pPr>
            <a:r>
              <a:rPr lang="en" sz="2200" b="1" i="0" u="none" strike="noStrike" cap="none">
                <a:solidFill>
                  <a:srgbClr val="0E4174"/>
                </a:solidFill>
                <a:latin typeface="Lexend"/>
                <a:ea typeface="Lexend"/>
                <a:cs typeface="Lexend"/>
                <a:sym typeface="Lexend"/>
              </a:rPr>
              <a:t>CTR · GDR</a:t>
            </a:r>
            <a:endParaRPr sz="2200" b="1" i="0" u="none" strike="noStrike" cap="none">
              <a:solidFill>
                <a:srgbClr val="F56C1F"/>
              </a:solidFill>
              <a:highlight>
                <a:schemeClr val="lt1"/>
              </a:highlight>
              <a:latin typeface="Lexend"/>
              <a:ea typeface="Lexend"/>
              <a:cs typeface="Lexend"/>
              <a:sym typeface="Lexend"/>
            </a:endParaRPr>
          </a:p>
        </p:txBody>
      </p:sp>
      <p:sp>
        <p:nvSpPr>
          <p:cNvPr id="1087" name="Google Shape;1087;p73"/>
          <p:cNvSpPr/>
          <p:nvPr/>
        </p:nvSpPr>
        <p:spPr>
          <a:xfrm>
            <a:off x="731520" y="594360"/>
            <a:ext cx="7315200" cy="274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1000"/>
              <a:buFont typeface="Calibri"/>
              <a:buNone/>
            </a:pPr>
            <a:r>
              <a:rPr lang="en" sz="1000" i="1">
                <a:solidFill>
                  <a:srgbClr val="64748B"/>
                </a:solidFill>
                <a:latin typeface="Lexend"/>
                <a:ea typeface="Lexend"/>
                <a:cs typeface="Lexend"/>
                <a:sym typeface="Lexend"/>
              </a:rPr>
              <a:t>Compliance True Rate</a:t>
            </a:r>
            <a:r>
              <a:rPr lang="en" sz="1000" i="1" u="none" strike="noStrike" cap="none">
                <a:solidFill>
                  <a:srgbClr val="64748B"/>
                </a:solidFill>
                <a:latin typeface="Lexend"/>
                <a:ea typeface="Lexend"/>
                <a:cs typeface="Lexend"/>
                <a:sym typeface="Lexend"/>
              </a:rPr>
              <a:t> · Good </a:t>
            </a:r>
            <a:r>
              <a:rPr lang="en" sz="1000" i="1">
                <a:solidFill>
                  <a:srgbClr val="64748B"/>
                </a:solidFill>
                <a:latin typeface="Lexend"/>
                <a:ea typeface="Lexend"/>
                <a:cs typeface="Lexend"/>
                <a:sym typeface="Lexend"/>
              </a:rPr>
              <a:t>Driver</a:t>
            </a:r>
            <a:r>
              <a:rPr lang="en" sz="1000" i="1" u="none" strike="noStrike" cap="none">
                <a:solidFill>
                  <a:srgbClr val="64748B"/>
                </a:solidFill>
                <a:latin typeface="Lexend"/>
                <a:ea typeface="Lexend"/>
                <a:cs typeface="Lexend"/>
                <a:sym typeface="Lexend"/>
              </a:rPr>
              <a:t> Rate </a:t>
            </a:r>
            <a:endParaRPr sz="1000" i="0" u="none" strike="noStrike" cap="none">
              <a:solidFill>
                <a:schemeClr val="dk1"/>
              </a:solidFill>
              <a:latin typeface="Lexend"/>
              <a:ea typeface="Lexend"/>
              <a:cs typeface="Lexend"/>
              <a:sym typeface="Lexend"/>
            </a:endParaRPr>
          </a:p>
        </p:txBody>
      </p:sp>
      <p:cxnSp>
        <p:nvCxnSpPr>
          <p:cNvPr id="1088" name="Google Shape;1088;p73"/>
          <p:cNvCxnSpPr/>
          <p:nvPr/>
        </p:nvCxnSpPr>
        <p:spPr>
          <a:xfrm>
            <a:off x="365760" y="868680"/>
            <a:ext cx="8412600" cy="0"/>
          </a:xfrm>
          <a:prstGeom prst="straightConnector1">
            <a:avLst/>
          </a:prstGeom>
          <a:noFill/>
          <a:ln w="9525" cap="flat" cmpd="sng">
            <a:solidFill>
              <a:srgbClr val="E2E8F0"/>
            </a:solidFill>
            <a:prstDash val="solid"/>
            <a:round/>
            <a:headEnd type="none" w="sm" len="sm"/>
            <a:tailEnd type="none" w="sm" len="sm"/>
          </a:ln>
        </p:spPr>
      </p:cxnSp>
      <p:sp>
        <p:nvSpPr>
          <p:cNvPr id="1089" name="Google Shape;1089;p73"/>
          <p:cNvSpPr/>
          <p:nvPr/>
        </p:nvSpPr>
        <p:spPr>
          <a:xfrm>
            <a:off x="365750" y="1993002"/>
            <a:ext cx="3977700" cy="1533900"/>
          </a:xfrm>
          <a:prstGeom prst="rect">
            <a:avLst/>
          </a:prstGeom>
          <a:solidFill>
            <a:srgbClr val="FFFFFF"/>
          </a:solidFill>
          <a:ln w="9525" cap="flat" cmpd="sng">
            <a:solidFill>
              <a:srgbClr val="E2E8F0"/>
            </a:solidFill>
            <a:prstDash val="solid"/>
            <a:round/>
            <a:headEnd type="none" w="sm" len="sm"/>
            <a:tailEnd type="none" w="sm" len="sm"/>
          </a:ln>
          <a:effectLst>
            <a:outerShdw blurRad="76200" dist="25400" dir="8100000" algn="bl" rotWithShape="0">
              <a:srgbClr val="000000">
                <a:alpha val="102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0" name="Google Shape;1090;p73"/>
          <p:cNvSpPr/>
          <p:nvPr/>
        </p:nvSpPr>
        <p:spPr>
          <a:xfrm>
            <a:off x="502910" y="2112989"/>
            <a:ext cx="3657600" cy="2778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E4174"/>
              </a:buClr>
              <a:buSzPts val="1100"/>
              <a:buFont typeface="Calibri"/>
              <a:buNone/>
            </a:pPr>
            <a:r>
              <a:rPr lang="en" sz="1100" i="0" u="none" strike="noStrike" cap="none">
                <a:solidFill>
                  <a:srgbClr val="0E4174"/>
                </a:solidFill>
                <a:latin typeface="Lexend"/>
                <a:ea typeface="Lexend"/>
                <a:cs typeface="Lexend"/>
                <a:sym typeface="Lexend"/>
              </a:rPr>
              <a:t>CTR (Compl</a:t>
            </a:r>
            <a:r>
              <a:rPr lang="en" sz="1100">
                <a:solidFill>
                  <a:srgbClr val="0E4174"/>
                </a:solidFill>
                <a:latin typeface="Lexend"/>
                <a:ea typeface="Lexend"/>
                <a:cs typeface="Lexend"/>
                <a:sym typeface="Lexend"/>
              </a:rPr>
              <a:t>iance</a:t>
            </a:r>
            <a:r>
              <a:rPr lang="en" sz="1100" i="0" u="none" strike="noStrike" cap="none">
                <a:solidFill>
                  <a:srgbClr val="0E4174"/>
                </a:solidFill>
                <a:latin typeface="Lexend"/>
                <a:ea typeface="Lexend"/>
                <a:cs typeface="Lexend"/>
                <a:sym typeface="Lexend"/>
              </a:rPr>
              <a:t> T</a:t>
            </a:r>
            <a:r>
              <a:rPr lang="en" sz="1100">
                <a:solidFill>
                  <a:srgbClr val="0E4174"/>
                </a:solidFill>
                <a:latin typeface="Lexend"/>
                <a:ea typeface="Lexend"/>
                <a:cs typeface="Lexend"/>
                <a:sym typeface="Lexend"/>
              </a:rPr>
              <a:t>rue</a:t>
            </a:r>
            <a:r>
              <a:rPr lang="en" sz="1100" i="0" u="none" strike="noStrike" cap="none">
                <a:solidFill>
                  <a:srgbClr val="0E4174"/>
                </a:solidFill>
                <a:latin typeface="Lexend"/>
                <a:ea typeface="Lexend"/>
                <a:cs typeface="Lexend"/>
                <a:sym typeface="Lexend"/>
              </a:rPr>
              <a:t> Rate)</a:t>
            </a:r>
            <a:endParaRPr sz="1100" i="0" u="none" strike="noStrike" cap="none">
              <a:solidFill>
                <a:schemeClr val="dk1"/>
              </a:solidFill>
              <a:latin typeface="Lexend"/>
              <a:ea typeface="Lexend"/>
              <a:cs typeface="Lexend"/>
              <a:sym typeface="Lexend"/>
            </a:endParaRPr>
          </a:p>
        </p:txBody>
      </p:sp>
      <p:sp>
        <p:nvSpPr>
          <p:cNvPr id="1091" name="Google Shape;1091;p73"/>
          <p:cNvSpPr/>
          <p:nvPr/>
        </p:nvSpPr>
        <p:spPr>
          <a:xfrm>
            <a:off x="4800600" y="1993002"/>
            <a:ext cx="3977700" cy="1533900"/>
          </a:xfrm>
          <a:prstGeom prst="rect">
            <a:avLst/>
          </a:prstGeom>
          <a:solidFill>
            <a:srgbClr val="FFFFFF"/>
          </a:solidFill>
          <a:ln w="9525" cap="flat" cmpd="sng">
            <a:solidFill>
              <a:srgbClr val="E2E8F0"/>
            </a:solidFill>
            <a:prstDash val="solid"/>
            <a:round/>
            <a:headEnd type="none" w="sm" len="sm"/>
            <a:tailEnd type="none" w="sm" len="sm"/>
          </a:ln>
          <a:effectLst>
            <a:outerShdw blurRad="76200" dist="25400" dir="8100000" algn="bl" rotWithShape="0">
              <a:srgbClr val="000000">
                <a:alpha val="102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2" name="Google Shape;1092;p73"/>
          <p:cNvSpPr/>
          <p:nvPr/>
        </p:nvSpPr>
        <p:spPr>
          <a:xfrm>
            <a:off x="4937761" y="2112989"/>
            <a:ext cx="3657600" cy="2778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E4174"/>
              </a:buClr>
              <a:buSzPts val="1100"/>
              <a:buFont typeface="Calibri"/>
              <a:buNone/>
            </a:pPr>
            <a:r>
              <a:rPr lang="en" sz="1100" i="0" u="none" strike="noStrike" cap="none">
                <a:solidFill>
                  <a:srgbClr val="0E4174"/>
                </a:solidFill>
                <a:latin typeface="Lexend"/>
                <a:ea typeface="Lexend"/>
                <a:cs typeface="Lexend"/>
                <a:sym typeface="Lexend"/>
              </a:rPr>
              <a:t>GDR (Good D</a:t>
            </a:r>
            <a:r>
              <a:rPr lang="en" sz="1100">
                <a:solidFill>
                  <a:srgbClr val="0E4174"/>
                </a:solidFill>
                <a:latin typeface="Lexend"/>
                <a:ea typeface="Lexend"/>
                <a:cs typeface="Lexend"/>
                <a:sym typeface="Lexend"/>
              </a:rPr>
              <a:t>river</a:t>
            </a:r>
            <a:r>
              <a:rPr lang="en" sz="1100" i="0" u="none" strike="noStrike" cap="none">
                <a:solidFill>
                  <a:srgbClr val="0E4174"/>
                </a:solidFill>
                <a:latin typeface="Lexend"/>
                <a:ea typeface="Lexend"/>
                <a:cs typeface="Lexend"/>
                <a:sym typeface="Lexend"/>
              </a:rPr>
              <a:t> Rate)</a:t>
            </a:r>
            <a:endParaRPr sz="1100" i="0" u="none" strike="noStrike" cap="none">
              <a:solidFill>
                <a:schemeClr val="dk1"/>
              </a:solidFill>
              <a:latin typeface="Lexend"/>
              <a:ea typeface="Lexend"/>
              <a:cs typeface="Lexend"/>
              <a:sym typeface="Lexend"/>
            </a:endParaRPr>
          </a:p>
        </p:txBody>
      </p:sp>
      <p:sp>
        <p:nvSpPr>
          <p:cNvPr id="1093" name="Google Shape;1093;p73"/>
          <p:cNvSpPr/>
          <p:nvPr/>
        </p:nvSpPr>
        <p:spPr>
          <a:xfrm>
            <a:off x="5486395" y="45700"/>
            <a:ext cx="3657600" cy="27420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94A3B8"/>
              </a:buClr>
              <a:buSzPts val="700"/>
              <a:buFont typeface="Calibri"/>
              <a:buNone/>
            </a:pPr>
            <a:r>
              <a:rPr lang="en" sz="700" b="0" i="1" u="none" strike="noStrike" cap="none">
                <a:solidFill>
                  <a:srgbClr val="94A3B8"/>
                </a:solidFill>
                <a:latin typeface="Calibri"/>
                <a:ea typeface="Calibri"/>
                <a:cs typeface="Calibri"/>
                <a:sym typeface="Calibri"/>
              </a:rPr>
              <a:t>Ahamove — Driver Management | Confidential</a:t>
            </a:r>
            <a:endParaRPr sz="700" b="0" i="0" u="none" strike="noStrike" cap="none">
              <a:solidFill>
                <a:schemeClr val="dk1"/>
              </a:solidFill>
              <a:latin typeface="Calibri"/>
              <a:ea typeface="Calibri"/>
              <a:cs typeface="Calibri"/>
              <a:sym typeface="Calibri"/>
            </a:endParaRPr>
          </a:p>
        </p:txBody>
      </p:sp>
      <p:sp>
        <p:nvSpPr>
          <p:cNvPr id="1094" name="Google Shape;1094;p73"/>
          <p:cNvSpPr/>
          <p:nvPr/>
        </p:nvSpPr>
        <p:spPr>
          <a:xfrm>
            <a:off x="502900" y="2391625"/>
            <a:ext cx="3657600" cy="10581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900"/>
              <a:buFont typeface="Calibri"/>
              <a:buNone/>
            </a:pPr>
            <a:r>
              <a:rPr lang="en" sz="1100" b="1">
                <a:solidFill>
                  <a:srgbClr val="F56C1F"/>
                </a:solidFill>
                <a:latin typeface="Lexend"/>
                <a:ea typeface="Lexend"/>
                <a:cs typeface="Lexend"/>
                <a:sym typeface="Lexend"/>
              </a:rPr>
              <a:t>HAN CTR</a:t>
            </a:r>
            <a:r>
              <a:rPr lang="en" sz="1100" b="1" i="0" u="none" strike="noStrike" cap="none">
                <a:solidFill>
                  <a:srgbClr val="F56C1F"/>
                </a:solidFill>
                <a:latin typeface="Lexend"/>
                <a:ea typeface="Lexend"/>
                <a:cs typeface="Lexend"/>
                <a:sym typeface="Lexend"/>
              </a:rPr>
              <a:t>: </a:t>
            </a:r>
            <a:r>
              <a:rPr lang="en" sz="1300" b="1">
                <a:solidFill>
                  <a:srgbClr val="1E293B"/>
                </a:solidFill>
                <a:latin typeface="Lexend"/>
                <a:ea typeface="Lexend"/>
                <a:cs typeface="Lexend"/>
                <a:sym typeface="Lexend"/>
              </a:rPr>
              <a:t>72.72%</a:t>
            </a:r>
            <a:r>
              <a:rPr lang="en" sz="1100" i="0" u="none" strike="noStrike" cap="none">
                <a:solidFill>
                  <a:srgbClr val="1E293B"/>
                </a:solidFill>
                <a:latin typeface="Lexend"/>
                <a:ea typeface="Lexend"/>
                <a:cs typeface="Lexend"/>
                <a:sym typeface="Lexend"/>
              </a:rPr>
              <a:t> |  Target: </a:t>
            </a:r>
            <a:r>
              <a:rPr lang="en" b="1" i="0" u="none" strike="noStrike" cap="none">
                <a:solidFill>
                  <a:srgbClr val="1E293B"/>
                </a:solidFill>
                <a:latin typeface="Lexend"/>
                <a:ea typeface="Lexend"/>
                <a:cs typeface="Lexend"/>
                <a:sym typeface="Lexend"/>
              </a:rPr>
              <a:t>1</a:t>
            </a:r>
            <a:r>
              <a:rPr lang="en" b="1">
                <a:solidFill>
                  <a:srgbClr val="1E293B"/>
                </a:solidFill>
                <a:latin typeface="Lexend"/>
                <a:ea typeface="Lexend"/>
                <a:cs typeface="Lexend"/>
                <a:sym typeface="Lexend"/>
              </a:rPr>
              <a:t>3</a:t>
            </a:r>
            <a:r>
              <a:rPr lang="en" b="1" i="0" u="none" strike="noStrike" cap="none">
                <a:solidFill>
                  <a:srgbClr val="1E293B"/>
                </a:solidFill>
                <a:latin typeface="Lexend"/>
                <a:ea typeface="Lexend"/>
                <a:cs typeface="Lexend"/>
                <a:sym typeface="Lexend"/>
              </a:rPr>
              <a:t>0%</a:t>
            </a:r>
            <a:endParaRPr b="1" i="0" u="none" strike="noStrike" cap="none">
              <a:solidFill>
                <a:schemeClr val="dk1"/>
              </a:solidFill>
              <a:latin typeface="Lexend"/>
              <a:ea typeface="Lexend"/>
              <a:cs typeface="Lexend"/>
              <a:sym typeface="Lexend"/>
            </a:endParaRPr>
          </a:p>
          <a:p>
            <a:pPr marL="0" marR="0" lvl="0" indent="0" algn="l" rtl="0">
              <a:spcBef>
                <a:spcPts val="400"/>
              </a:spcBef>
              <a:spcAft>
                <a:spcPts val="0"/>
              </a:spcAft>
              <a:buClr>
                <a:srgbClr val="1E293B"/>
              </a:buClr>
              <a:buSzPts val="900"/>
              <a:buFont typeface="Calibri"/>
              <a:buNone/>
            </a:pPr>
            <a:r>
              <a:rPr lang="en" sz="1100" i="0" u="none" strike="noStrike" cap="none">
                <a:solidFill>
                  <a:srgbClr val="1E293B"/>
                </a:solidFill>
                <a:latin typeface="Lexend"/>
                <a:ea typeface="Lexend"/>
                <a:cs typeface="Lexend"/>
                <a:sym typeface="Lexend"/>
              </a:rPr>
              <a:t>WoW: </a:t>
            </a:r>
            <a:r>
              <a:rPr lang="en" sz="1100">
                <a:solidFill>
                  <a:srgbClr val="EF4444"/>
                </a:solidFill>
                <a:latin typeface="Lexend"/>
                <a:ea typeface="Lexend"/>
                <a:cs typeface="Lexend"/>
                <a:sym typeface="Lexend"/>
              </a:rPr>
              <a:t>-1.86%</a:t>
            </a:r>
            <a:r>
              <a:rPr lang="en" sz="1100" i="0" u="none" strike="noStrike" cap="none">
                <a:solidFill>
                  <a:srgbClr val="1E293B"/>
                </a:solidFill>
                <a:latin typeface="Lexend"/>
                <a:ea typeface="Lexend"/>
                <a:cs typeface="Lexend"/>
                <a:sym typeface="Lexend"/>
              </a:rPr>
              <a:t>  |  Trend: </a:t>
            </a:r>
            <a:r>
              <a:rPr lang="en" sz="1100">
                <a:solidFill>
                  <a:srgbClr val="EF4444"/>
                </a:solidFill>
                <a:latin typeface="Lexend"/>
                <a:ea typeface="Lexend"/>
                <a:cs typeface="Lexend"/>
                <a:sym typeface="Lexend"/>
              </a:rPr>
              <a:t>↓</a:t>
            </a:r>
            <a:endParaRPr sz="1200">
              <a:solidFill>
                <a:schemeClr val="dk1"/>
              </a:solidFill>
              <a:highlight>
                <a:schemeClr val="lt1"/>
              </a:highlight>
            </a:endParaRPr>
          </a:p>
        </p:txBody>
      </p:sp>
      <p:sp>
        <p:nvSpPr>
          <p:cNvPr id="1095" name="Google Shape;1095;p73"/>
          <p:cNvSpPr/>
          <p:nvPr/>
        </p:nvSpPr>
        <p:spPr>
          <a:xfrm>
            <a:off x="4960650" y="2521922"/>
            <a:ext cx="3657600" cy="6075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900"/>
              <a:buFont typeface="Calibri"/>
              <a:buNone/>
            </a:pPr>
            <a:r>
              <a:rPr lang="en" sz="1100" b="1">
                <a:solidFill>
                  <a:srgbClr val="F56C1F"/>
                </a:solidFill>
                <a:latin typeface="Lexend"/>
                <a:ea typeface="Lexend"/>
                <a:cs typeface="Lexend"/>
                <a:sym typeface="Lexend"/>
              </a:rPr>
              <a:t>HAN GDR</a:t>
            </a:r>
            <a:r>
              <a:rPr lang="en" sz="1100" b="1" i="0" u="none" strike="noStrike" cap="none">
                <a:solidFill>
                  <a:srgbClr val="F56C1F"/>
                </a:solidFill>
                <a:latin typeface="Lexend"/>
                <a:ea typeface="Lexend"/>
                <a:cs typeface="Lexend"/>
                <a:sym typeface="Lexend"/>
              </a:rPr>
              <a:t>: </a:t>
            </a:r>
            <a:r>
              <a:rPr lang="en" sz="1300" b="1">
                <a:solidFill>
                  <a:srgbClr val="1E293B"/>
                </a:solidFill>
                <a:latin typeface="Lexend"/>
                <a:ea typeface="Lexend"/>
                <a:cs typeface="Lexend"/>
                <a:sym typeface="Lexend"/>
              </a:rPr>
              <a:t>94.21%  </a:t>
            </a:r>
            <a:r>
              <a:rPr lang="en" sz="1100" i="0" u="none" strike="noStrike" cap="none">
                <a:solidFill>
                  <a:srgbClr val="1E293B"/>
                </a:solidFill>
                <a:latin typeface="Lexend"/>
                <a:ea typeface="Lexend"/>
                <a:cs typeface="Lexend"/>
                <a:sym typeface="Lexend"/>
              </a:rPr>
              <a:t> |  Target: </a:t>
            </a:r>
            <a:r>
              <a:rPr lang="en" b="1" i="0" u="none" strike="noStrike" cap="none">
                <a:solidFill>
                  <a:srgbClr val="1E293B"/>
                </a:solidFill>
                <a:latin typeface="Lexend"/>
                <a:ea typeface="Lexend"/>
                <a:cs typeface="Lexend"/>
                <a:sym typeface="Lexend"/>
              </a:rPr>
              <a:t>1</a:t>
            </a:r>
            <a:r>
              <a:rPr lang="en" b="1">
                <a:solidFill>
                  <a:srgbClr val="1E293B"/>
                </a:solidFill>
                <a:latin typeface="Lexend"/>
                <a:ea typeface="Lexend"/>
                <a:cs typeface="Lexend"/>
                <a:sym typeface="Lexend"/>
              </a:rPr>
              <a:t>2</a:t>
            </a:r>
            <a:r>
              <a:rPr lang="en" b="1" i="0" u="none" strike="noStrike" cap="none">
                <a:solidFill>
                  <a:srgbClr val="1E293B"/>
                </a:solidFill>
                <a:latin typeface="Lexend"/>
                <a:ea typeface="Lexend"/>
                <a:cs typeface="Lexend"/>
                <a:sym typeface="Lexend"/>
              </a:rPr>
              <a:t>0%</a:t>
            </a:r>
            <a:endParaRPr b="1" i="0" u="none" strike="noStrike" cap="none">
              <a:solidFill>
                <a:schemeClr val="dk1"/>
              </a:solidFill>
              <a:latin typeface="Lexend"/>
              <a:ea typeface="Lexend"/>
              <a:cs typeface="Lexend"/>
              <a:sym typeface="Lexend"/>
            </a:endParaRPr>
          </a:p>
          <a:p>
            <a:pPr marL="0" marR="0" lvl="0" indent="0" algn="l" rtl="0">
              <a:spcBef>
                <a:spcPts val="400"/>
              </a:spcBef>
              <a:spcAft>
                <a:spcPts val="0"/>
              </a:spcAft>
              <a:buClr>
                <a:srgbClr val="1E293B"/>
              </a:buClr>
              <a:buSzPts val="900"/>
              <a:buFont typeface="Calibri"/>
              <a:buNone/>
            </a:pPr>
            <a:r>
              <a:rPr lang="en" sz="1100" i="0" u="none" strike="noStrike" cap="none">
                <a:solidFill>
                  <a:srgbClr val="1E293B"/>
                </a:solidFill>
                <a:latin typeface="Lexend"/>
                <a:ea typeface="Lexend"/>
                <a:cs typeface="Lexend"/>
                <a:sym typeface="Lexend"/>
              </a:rPr>
              <a:t>WoW: </a:t>
            </a:r>
            <a:r>
              <a:rPr lang="en" sz="1100">
                <a:solidFill>
                  <a:srgbClr val="EF4444"/>
                </a:solidFill>
                <a:latin typeface="Lexend"/>
                <a:ea typeface="Lexend"/>
                <a:cs typeface="Lexend"/>
                <a:sym typeface="Lexend"/>
              </a:rPr>
              <a:t>-1.36%</a:t>
            </a:r>
            <a:r>
              <a:rPr lang="en" sz="1100" i="0" u="none" strike="noStrike" cap="none">
                <a:solidFill>
                  <a:srgbClr val="1E293B"/>
                </a:solidFill>
                <a:latin typeface="Lexend"/>
                <a:ea typeface="Lexend"/>
                <a:cs typeface="Lexend"/>
                <a:sym typeface="Lexend"/>
              </a:rPr>
              <a:t>  |  Trend: </a:t>
            </a:r>
            <a:r>
              <a:rPr lang="en" sz="1100">
                <a:solidFill>
                  <a:srgbClr val="EF4444"/>
                </a:solidFill>
                <a:latin typeface="Lexend"/>
                <a:ea typeface="Lexend"/>
                <a:cs typeface="Lexend"/>
                <a:sym typeface="Lexend"/>
              </a:rPr>
              <a:t>↓</a:t>
            </a:r>
            <a:endParaRPr sz="1100">
              <a:solidFill>
                <a:srgbClr val="1E293B"/>
              </a:solidFill>
              <a:latin typeface="Lexend"/>
              <a:ea typeface="Lexend"/>
              <a:cs typeface="Lexend"/>
              <a:sym typeface="Lexend"/>
            </a:endParaRPr>
          </a:p>
        </p:txBody>
      </p:sp>
      <p:sp>
        <p:nvSpPr>
          <p:cNvPr id="1096" name="Google Shape;1096;p73"/>
          <p:cNvSpPr/>
          <p:nvPr/>
        </p:nvSpPr>
        <p:spPr>
          <a:xfrm>
            <a:off x="368825" y="3683100"/>
            <a:ext cx="3940200" cy="1290000"/>
          </a:xfrm>
          <a:prstGeom prst="rect">
            <a:avLst/>
          </a:prstGeom>
          <a:solidFill>
            <a:srgbClr val="FFFFFF"/>
          </a:solidFill>
          <a:ln w="9525" cap="flat" cmpd="sng">
            <a:solidFill>
              <a:srgbClr val="E2E8F0"/>
            </a:solidFill>
            <a:prstDash val="solid"/>
            <a:round/>
            <a:headEnd type="none" w="sm" len="sm"/>
            <a:tailEnd type="none" w="sm" len="sm"/>
          </a:ln>
          <a:effectLst>
            <a:outerShdw blurRad="76200" dist="25400" dir="8100000" algn="bl" rotWithShape="0">
              <a:srgbClr val="000000">
                <a:alpha val="102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7" name="Google Shape;1097;p73"/>
          <p:cNvSpPr/>
          <p:nvPr/>
        </p:nvSpPr>
        <p:spPr>
          <a:xfrm>
            <a:off x="463150" y="3834462"/>
            <a:ext cx="2488200" cy="274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E4174"/>
              </a:buClr>
              <a:buSzPts val="1100"/>
              <a:buFont typeface="Calibri"/>
              <a:buNone/>
            </a:pPr>
            <a:r>
              <a:rPr lang="en" sz="1100" i="0" u="none" strike="noStrike" cap="none">
                <a:solidFill>
                  <a:srgbClr val="0E4174"/>
                </a:solidFill>
                <a:latin typeface="Lexend"/>
                <a:ea typeface="Lexend"/>
                <a:cs typeface="Lexend"/>
                <a:sym typeface="Lexend"/>
              </a:rPr>
              <a:t>CTR </a:t>
            </a:r>
            <a:r>
              <a:rPr lang="en" sz="1100">
                <a:solidFill>
                  <a:srgbClr val="0E4174"/>
                </a:solidFill>
                <a:latin typeface="Lexend"/>
                <a:ea typeface="Lexend"/>
                <a:cs typeface="Lexend"/>
                <a:sym typeface="Lexend"/>
              </a:rPr>
              <a:t>(Compliance True Rate)</a:t>
            </a:r>
            <a:endParaRPr sz="1100" i="0" u="none" strike="noStrike" cap="none">
              <a:solidFill>
                <a:schemeClr val="dk1"/>
              </a:solidFill>
              <a:latin typeface="Lexend"/>
              <a:ea typeface="Lexend"/>
              <a:cs typeface="Lexend"/>
              <a:sym typeface="Lexend"/>
            </a:endParaRPr>
          </a:p>
        </p:txBody>
      </p:sp>
      <p:sp>
        <p:nvSpPr>
          <p:cNvPr id="1098" name="Google Shape;1098;p73"/>
          <p:cNvSpPr/>
          <p:nvPr/>
        </p:nvSpPr>
        <p:spPr>
          <a:xfrm>
            <a:off x="463150" y="4050988"/>
            <a:ext cx="2601900" cy="7860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900"/>
              <a:buFont typeface="Calibri"/>
              <a:buNone/>
            </a:pPr>
            <a:r>
              <a:rPr lang="en" sz="1100" b="1" i="0" u="none" strike="noStrike" cap="none">
                <a:solidFill>
                  <a:srgbClr val="F56C1F"/>
                </a:solidFill>
                <a:latin typeface="Lexend"/>
                <a:ea typeface="Lexend"/>
                <a:cs typeface="Lexend"/>
                <a:sym typeface="Lexend"/>
              </a:rPr>
              <a:t>SGN CTR:</a:t>
            </a:r>
            <a:r>
              <a:rPr lang="en" sz="1100" i="0" u="none" strike="noStrike" cap="none">
                <a:solidFill>
                  <a:srgbClr val="1E293B"/>
                </a:solidFill>
                <a:latin typeface="Lexend"/>
                <a:ea typeface="Lexend"/>
                <a:cs typeface="Lexend"/>
                <a:sym typeface="Lexend"/>
              </a:rPr>
              <a:t> </a:t>
            </a:r>
            <a:r>
              <a:rPr lang="en" sz="1300" b="1">
                <a:solidFill>
                  <a:srgbClr val="1E293B"/>
                </a:solidFill>
                <a:latin typeface="Lexend"/>
                <a:ea typeface="Lexend"/>
                <a:cs typeface="Lexend"/>
                <a:sym typeface="Lexend"/>
              </a:rPr>
              <a:t>79.91% </a:t>
            </a:r>
            <a:r>
              <a:rPr lang="en" sz="1100" i="0" u="none" strike="noStrike" cap="none">
                <a:solidFill>
                  <a:srgbClr val="1E293B"/>
                </a:solidFill>
                <a:latin typeface="Lexend"/>
                <a:ea typeface="Lexend"/>
                <a:cs typeface="Lexend"/>
                <a:sym typeface="Lexend"/>
              </a:rPr>
              <a:t> |  Target: </a:t>
            </a:r>
            <a:r>
              <a:rPr lang="en" b="1" i="0" u="none" strike="noStrike" cap="none">
                <a:solidFill>
                  <a:srgbClr val="1E293B"/>
                </a:solidFill>
                <a:latin typeface="Lexend"/>
                <a:ea typeface="Lexend"/>
                <a:cs typeface="Lexend"/>
                <a:sym typeface="Lexend"/>
              </a:rPr>
              <a:t>130%</a:t>
            </a:r>
            <a:endParaRPr b="1" i="0" u="none" strike="noStrike" cap="none">
              <a:solidFill>
                <a:schemeClr val="dk1"/>
              </a:solidFill>
              <a:latin typeface="Lexend"/>
              <a:ea typeface="Lexend"/>
              <a:cs typeface="Lexend"/>
              <a:sym typeface="Lexend"/>
            </a:endParaRPr>
          </a:p>
          <a:p>
            <a:pPr marL="0" marR="0" lvl="0" indent="0" algn="l" rtl="0">
              <a:spcBef>
                <a:spcPts val="400"/>
              </a:spcBef>
              <a:spcAft>
                <a:spcPts val="0"/>
              </a:spcAft>
              <a:buClr>
                <a:srgbClr val="1E293B"/>
              </a:buClr>
              <a:buSzPts val="900"/>
              <a:buFont typeface="Calibri"/>
              <a:buNone/>
            </a:pPr>
            <a:r>
              <a:rPr lang="en" sz="1100" i="0" u="none" strike="noStrike" cap="none">
                <a:solidFill>
                  <a:srgbClr val="1E293B"/>
                </a:solidFill>
                <a:latin typeface="Lexend"/>
                <a:ea typeface="Lexend"/>
                <a:cs typeface="Lexend"/>
                <a:sym typeface="Lexend"/>
              </a:rPr>
              <a:t>WoW: </a:t>
            </a:r>
            <a:r>
              <a:rPr lang="en" sz="1100">
                <a:solidFill>
                  <a:srgbClr val="EF4444"/>
                </a:solidFill>
                <a:latin typeface="Lexend"/>
                <a:ea typeface="Lexend"/>
                <a:cs typeface="Lexend"/>
                <a:sym typeface="Lexend"/>
              </a:rPr>
              <a:t>-1.29%</a:t>
            </a:r>
            <a:r>
              <a:rPr lang="en" sz="1100">
                <a:solidFill>
                  <a:srgbClr val="1E293B"/>
                </a:solidFill>
                <a:latin typeface="Lexend"/>
                <a:ea typeface="Lexend"/>
                <a:cs typeface="Lexend"/>
                <a:sym typeface="Lexend"/>
              </a:rPr>
              <a:t> </a:t>
            </a:r>
            <a:r>
              <a:rPr lang="en" sz="1100" i="0" u="none" strike="noStrike" cap="none">
                <a:solidFill>
                  <a:srgbClr val="1E293B"/>
                </a:solidFill>
                <a:latin typeface="Lexend"/>
                <a:ea typeface="Lexend"/>
                <a:cs typeface="Lexend"/>
                <a:sym typeface="Lexend"/>
              </a:rPr>
              <a:t> |  Trend: </a:t>
            </a:r>
            <a:r>
              <a:rPr lang="en" sz="1100">
                <a:solidFill>
                  <a:srgbClr val="EF4444"/>
                </a:solidFill>
                <a:latin typeface="Lexend"/>
                <a:ea typeface="Lexend"/>
                <a:cs typeface="Lexend"/>
                <a:sym typeface="Lexend"/>
              </a:rPr>
              <a:t>↓</a:t>
            </a:r>
            <a:endParaRPr sz="1100">
              <a:solidFill>
                <a:srgbClr val="1E293B"/>
              </a:solidFill>
              <a:latin typeface="Lexend"/>
              <a:ea typeface="Lexend"/>
              <a:cs typeface="Lexend"/>
              <a:sym typeface="Lexend"/>
            </a:endParaRPr>
          </a:p>
        </p:txBody>
      </p:sp>
      <p:sp>
        <p:nvSpPr>
          <p:cNvPr id="1099" name="Google Shape;1099;p73"/>
          <p:cNvSpPr/>
          <p:nvPr/>
        </p:nvSpPr>
        <p:spPr>
          <a:xfrm>
            <a:off x="4788650" y="3683175"/>
            <a:ext cx="3977700" cy="1290000"/>
          </a:xfrm>
          <a:prstGeom prst="rect">
            <a:avLst/>
          </a:prstGeom>
          <a:solidFill>
            <a:srgbClr val="FFFFFF"/>
          </a:solidFill>
          <a:ln w="9525" cap="flat" cmpd="sng">
            <a:solidFill>
              <a:srgbClr val="E2E8F0"/>
            </a:solidFill>
            <a:prstDash val="solid"/>
            <a:round/>
            <a:headEnd type="none" w="sm" len="sm"/>
            <a:tailEnd type="none" w="sm" len="sm"/>
          </a:ln>
          <a:effectLst>
            <a:outerShdw blurRad="76200" dist="25400" dir="8100000" algn="bl" rotWithShape="0">
              <a:srgbClr val="000000">
                <a:alpha val="102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0" name="Google Shape;1100;p73"/>
          <p:cNvSpPr/>
          <p:nvPr/>
        </p:nvSpPr>
        <p:spPr>
          <a:xfrm>
            <a:off x="4886225" y="3843387"/>
            <a:ext cx="2601900" cy="2655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E4174"/>
              </a:buClr>
              <a:buSzPts val="1100"/>
              <a:buFont typeface="Calibri"/>
              <a:buNone/>
            </a:pPr>
            <a:r>
              <a:rPr lang="en" sz="1100" i="0" u="none" strike="noStrike" cap="none">
                <a:solidFill>
                  <a:srgbClr val="0E4174"/>
                </a:solidFill>
                <a:latin typeface="Lexend"/>
                <a:ea typeface="Lexend"/>
                <a:cs typeface="Lexend"/>
                <a:sym typeface="Lexend"/>
              </a:rPr>
              <a:t>GDR (Good </a:t>
            </a:r>
            <a:r>
              <a:rPr lang="en" sz="1100">
                <a:solidFill>
                  <a:srgbClr val="0E4174"/>
                </a:solidFill>
                <a:latin typeface="Lexend"/>
                <a:ea typeface="Lexend"/>
                <a:cs typeface="Lexend"/>
                <a:sym typeface="Lexend"/>
              </a:rPr>
              <a:t>Driver </a:t>
            </a:r>
            <a:r>
              <a:rPr lang="en" sz="1100" i="0" u="none" strike="noStrike" cap="none">
                <a:solidFill>
                  <a:srgbClr val="0E4174"/>
                </a:solidFill>
                <a:latin typeface="Lexend"/>
                <a:ea typeface="Lexend"/>
                <a:cs typeface="Lexend"/>
                <a:sym typeface="Lexend"/>
              </a:rPr>
              <a:t>Rate)</a:t>
            </a:r>
            <a:endParaRPr sz="1100" i="0" u="none" strike="noStrike" cap="none">
              <a:solidFill>
                <a:schemeClr val="dk1"/>
              </a:solidFill>
              <a:latin typeface="Lexend"/>
              <a:ea typeface="Lexend"/>
              <a:cs typeface="Lexend"/>
              <a:sym typeface="Lexend"/>
            </a:endParaRPr>
          </a:p>
        </p:txBody>
      </p:sp>
      <p:sp>
        <p:nvSpPr>
          <p:cNvPr id="1101" name="Google Shape;1101;p73"/>
          <p:cNvSpPr/>
          <p:nvPr/>
        </p:nvSpPr>
        <p:spPr>
          <a:xfrm>
            <a:off x="4886225" y="4099495"/>
            <a:ext cx="2702400" cy="7191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E293B"/>
              </a:buClr>
              <a:buSzPts val="900"/>
              <a:buFont typeface="Calibri"/>
              <a:buNone/>
            </a:pPr>
            <a:r>
              <a:rPr lang="en" sz="1100" b="1" i="0" u="none" strike="noStrike" cap="none">
                <a:solidFill>
                  <a:srgbClr val="F56C1F"/>
                </a:solidFill>
                <a:latin typeface="Lexend"/>
                <a:ea typeface="Lexend"/>
                <a:cs typeface="Lexend"/>
                <a:sym typeface="Lexend"/>
              </a:rPr>
              <a:t>SGN GDR:</a:t>
            </a:r>
            <a:r>
              <a:rPr lang="en" sz="1100" i="0" u="none" strike="noStrike" cap="none">
                <a:solidFill>
                  <a:srgbClr val="1E293B"/>
                </a:solidFill>
                <a:latin typeface="Lexend"/>
                <a:ea typeface="Lexend"/>
                <a:cs typeface="Lexend"/>
                <a:sym typeface="Lexend"/>
              </a:rPr>
              <a:t> </a:t>
            </a:r>
            <a:r>
              <a:rPr lang="en" b="1">
                <a:solidFill>
                  <a:srgbClr val="1E293B"/>
                </a:solidFill>
                <a:latin typeface="Lexend"/>
                <a:ea typeface="Lexend"/>
                <a:cs typeface="Lexend"/>
                <a:sym typeface="Lexend"/>
              </a:rPr>
              <a:t>96.61%</a:t>
            </a:r>
            <a:r>
              <a:rPr lang="en" sz="1100" i="0" u="none" strike="noStrike" cap="none">
                <a:solidFill>
                  <a:srgbClr val="1E293B"/>
                </a:solidFill>
                <a:latin typeface="Lexend"/>
                <a:ea typeface="Lexend"/>
                <a:cs typeface="Lexend"/>
                <a:sym typeface="Lexend"/>
              </a:rPr>
              <a:t>   |  Target: </a:t>
            </a:r>
            <a:r>
              <a:rPr lang="en" b="1" i="0" u="none" strike="noStrike" cap="none">
                <a:solidFill>
                  <a:srgbClr val="1E293B"/>
                </a:solidFill>
                <a:latin typeface="Lexend"/>
                <a:ea typeface="Lexend"/>
                <a:cs typeface="Lexend"/>
                <a:sym typeface="Lexend"/>
              </a:rPr>
              <a:t>1</a:t>
            </a:r>
            <a:r>
              <a:rPr lang="en" b="1">
                <a:solidFill>
                  <a:srgbClr val="1E293B"/>
                </a:solidFill>
                <a:latin typeface="Lexend"/>
                <a:ea typeface="Lexend"/>
                <a:cs typeface="Lexend"/>
                <a:sym typeface="Lexend"/>
              </a:rPr>
              <a:t>20</a:t>
            </a:r>
            <a:r>
              <a:rPr lang="en" b="1" i="0" u="none" strike="noStrike" cap="none">
                <a:solidFill>
                  <a:srgbClr val="1E293B"/>
                </a:solidFill>
                <a:latin typeface="Lexend"/>
                <a:ea typeface="Lexend"/>
                <a:cs typeface="Lexend"/>
                <a:sym typeface="Lexend"/>
              </a:rPr>
              <a:t>%</a:t>
            </a:r>
            <a:endParaRPr b="1" i="0" u="none" strike="noStrike" cap="none">
              <a:solidFill>
                <a:schemeClr val="dk1"/>
              </a:solidFill>
              <a:latin typeface="Lexend"/>
              <a:ea typeface="Lexend"/>
              <a:cs typeface="Lexend"/>
              <a:sym typeface="Lexend"/>
            </a:endParaRPr>
          </a:p>
          <a:p>
            <a:pPr marL="0" marR="0" lvl="0" indent="0" algn="l" rtl="0">
              <a:spcBef>
                <a:spcPts val="400"/>
              </a:spcBef>
              <a:spcAft>
                <a:spcPts val="0"/>
              </a:spcAft>
              <a:buClr>
                <a:srgbClr val="1E293B"/>
              </a:buClr>
              <a:buSzPts val="900"/>
              <a:buFont typeface="Calibri"/>
              <a:buNone/>
            </a:pPr>
            <a:r>
              <a:rPr lang="en" sz="1100" i="0" u="none" strike="noStrike" cap="none">
                <a:solidFill>
                  <a:srgbClr val="1E293B"/>
                </a:solidFill>
                <a:latin typeface="Lexend"/>
                <a:ea typeface="Lexend"/>
                <a:cs typeface="Lexend"/>
                <a:sym typeface="Lexend"/>
              </a:rPr>
              <a:t>WoW: </a:t>
            </a:r>
            <a:r>
              <a:rPr lang="en" sz="1100">
                <a:solidFill>
                  <a:srgbClr val="1E293B"/>
                </a:solidFill>
                <a:latin typeface="Lexend"/>
                <a:ea typeface="Lexend"/>
                <a:cs typeface="Lexend"/>
                <a:sym typeface="Lexend"/>
              </a:rPr>
              <a:t>-</a:t>
            </a:r>
            <a:r>
              <a:rPr lang="en" sz="1100">
                <a:solidFill>
                  <a:srgbClr val="EF4444"/>
                </a:solidFill>
                <a:latin typeface="Lexend"/>
                <a:ea typeface="Lexend"/>
                <a:cs typeface="Lexend"/>
                <a:sym typeface="Lexend"/>
              </a:rPr>
              <a:t>0.69%</a:t>
            </a:r>
            <a:r>
              <a:rPr lang="en" sz="1100" i="0" u="none" strike="noStrike" cap="none">
                <a:solidFill>
                  <a:srgbClr val="1E293B"/>
                </a:solidFill>
                <a:latin typeface="Lexend"/>
                <a:ea typeface="Lexend"/>
                <a:cs typeface="Lexend"/>
                <a:sym typeface="Lexend"/>
              </a:rPr>
              <a:t>  |  Trend: </a:t>
            </a:r>
            <a:r>
              <a:rPr lang="en" sz="1100">
                <a:solidFill>
                  <a:srgbClr val="EF4444"/>
                </a:solidFill>
                <a:latin typeface="Lexend"/>
                <a:ea typeface="Lexend"/>
                <a:cs typeface="Lexend"/>
                <a:sym typeface="Lexend"/>
              </a:rPr>
              <a:t>↓</a:t>
            </a:r>
            <a:endParaRPr sz="1100" i="0" u="none" strike="noStrike" cap="none">
              <a:solidFill>
                <a:srgbClr val="EF4444"/>
              </a:solidFill>
              <a:latin typeface="Lexend"/>
              <a:ea typeface="Lexend"/>
              <a:cs typeface="Lexend"/>
              <a:sym typeface="Lexend"/>
            </a:endParaRPr>
          </a:p>
        </p:txBody>
      </p:sp>
      <p:sp>
        <p:nvSpPr>
          <p:cNvPr id="1102" name="Google Shape;1102;p73"/>
          <p:cNvSpPr/>
          <p:nvPr/>
        </p:nvSpPr>
        <p:spPr>
          <a:xfrm>
            <a:off x="4754700" y="3687300"/>
            <a:ext cx="37500" cy="1290000"/>
          </a:xfrm>
          <a:prstGeom prst="rect">
            <a:avLst/>
          </a:prstGeom>
          <a:solidFill>
            <a:srgbClr val="1C4587"/>
          </a:solidFill>
          <a:ln>
            <a:noFill/>
          </a:ln>
        </p:spPr>
        <p:txBody>
          <a:bodyPr spcFirstLastPara="1" wrap="square" lIns="75550" tIns="75550" rIns="75550" bIns="75550" anchor="ctr" anchorCtr="0">
            <a:noAutofit/>
          </a:bodyPr>
          <a:lstStyle/>
          <a:p>
            <a:pPr marL="0" lvl="0" indent="0" algn="l" rtl="0">
              <a:spcBef>
                <a:spcPts val="0"/>
              </a:spcBef>
              <a:spcAft>
                <a:spcPts val="0"/>
              </a:spcAft>
              <a:buNone/>
            </a:pPr>
            <a:endParaRPr/>
          </a:p>
        </p:txBody>
      </p:sp>
      <p:sp>
        <p:nvSpPr>
          <p:cNvPr id="1103" name="Google Shape;1103;p73"/>
          <p:cNvSpPr/>
          <p:nvPr/>
        </p:nvSpPr>
        <p:spPr>
          <a:xfrm>
            <a:off x="331321" y="3683100"/>
            <a:ext cx="37500" cy="1294200"/>
          </a:xfrm>
          <a:prstGeom prst="rect">
            <a:avLst/>
          </a:prstGeom>
          <a:solidFill>
            <a:srgbClr val="1C4587"/>
          </a:solidFill>
          <a:ln>
            <a:noFill/>
          </a:ln>
        </p:spPr>
        <p:txBody>
          <a:bodyPr spcFirstLastPara="1" wrap="square" lIns="75550" tIns="75550" rIns="75550" bIns="75550" anchor="ctr" anchorCtr="0">
            <a:noAutofit/>
          </a:bodyPr>
          <a:lstStyle/>
          <a:p>
            <a:pPr marL="0" lvl="0" indent="0" algn="l" rtl="0">
              <a:spcBef>
                <a:spcPts val="0"/>
              </a:spcBef>
              <a:spcAft>
                <a:spcPts val="0"/>
              </a:spcAft>
              <a:buNone/>
            </a:pPr>
            <a:endParaRPr/>
          </a:p>
        </p:txBody>
      </p:sp>
      <p:sp>
        <p:nvSpPr>
          <p:cNvPr id="1104" name="Google Shape;1104;p73"/>
          <p:cNvSpPr/>
          <p:nvPr/>
        </p:nvSpPr>
        <p:spPr>
          <a:xfrm>
            <a:off x="4763101" y="1997200"/>
            <a:ext cx="37500" cy="1518000"/>
          </a:xfrm>
          <a:prstGeom prst="rect">
            <a:avLst/>
          </a:prstGeom>
          <a:solidFill>
            <a:srgbClr val="F56C1F"/>
          </a:solidFill>
          <a:ln>
            <a:noFill/>
          </a:ln>
        </p:spPr>
        <p:txBody>
          <a:bodyPr spcFirstLastPara="1" wrap="square" lIns="75550" tIns="75550" rIns="75550" bIns="75550" anchor="ctr" anchorCtr="0">
            <a:noAutofit/>
          </a:bodyPr>
          <a:lstStyle/>
          <a:p>
            <a:pPr marL="0" lvl="0" indent="0" algn="l" rtl="0">
              <a:spcBef>
                <a:spcPts val="0"/>
              </a:spcBef>
              <a:spcAft>
                <a:spcPts val="0"/>
              </a:spcAft>
              <a:buNone/>
            </a:pPr>
            <a:endParaRPr/>
          </a:p>
        </p:txBody>
      </p:sp>
      <p:sp>
        <p:nvSpPr>
          <p:cNvPr id="1105" name="Google Shape;1105;p73"/>
          <p:cNvSpPr/>
          <p:nvPr/>
        </p:nvSpPr>
        <p:spPr>
          <a:xfrm>
            <a:off x="328250" y="1993000"/>
            <a:ext cx="37500" cy="1518000"/>
          </a:xfrm>
          <a:prstGeom prst="rect">
            <a:avLst/>
          </a:prstGeom>
          <a:solidFill>
            <a:srgbClr val="F56C1F"/>
          </a:solidFill>
          <a:ln>
            <a:noFill/>
          </a:ln>
        </p:spPr>
        <p:txBody>
          <a:bodyPr spcFirstLastPara="1" wrap="square" lIns="75550" tIns="75550" rIns="75550" bIns="75550" anchor="ctr" anchorCtr="0">
            <a:noAutofit/>
          </a:bodyPr>
          <a:lstStyle/>
          <a:p>
            <a:pPr marL="0" lvl="0" indent="0" algn="l" rtl="0">
              <a:spcBef>
                <a:spcPts val="0"/>
              </a:spcBef>
              <a:spcAft>
                <a:spcPts val="0"/>
              </a:spcAft>
              <a:buNone/>
            </a:pPr>
            <a:endParaRPr/>
          </a:p>
        </p:txBody>
      </p:sp>
      <p:sp>
        <p:nvSpPr>
          <p:cNvPr id="1106" name="Google Shape;1106;p73"/>
          <p:cNvSpPr/>
          <p:nvPr/>
        </p:nvSpPr>
        <p:spPr>
          <a:xfrm>
            <a:off x="365750" y="1024357"/>
            <a:ext cx="8412600" cy="828300"/>
          </a:xfrm>
          <a:prstGeom prst="rect">
            <a:avLst/>
          </a:prstGeom>
          <a:solidFill>
            <a:srgbClr val="E8F0FE"/>
          </a:solidFill>
          <a:ln w="9525" cap="flat" cmpd="sng">
            <a:solidFill>
              <a:srgbClr val="E2E8F0"/>
            </a:solidFill>
            <a:prstDash val="solid"/>
            <a:round/>
            <a:headEnd type="none" w="sm" len="sm"/>
            <a:tailEnd type="none" w="sm" len="sm"/>
          </a:ln>
          <a:effectLst>
            <a:outerShdw blurRad="76200" dist="25400" dir="8100000" algn="bl" rotWithShape="0">
              <a:srgbClr val="000000">
                <a:alpha val="102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latin typeface="Lexend Medium"/>
              <a:ea typeface="Lexend Medium"/>
              <a:cs typeface="Lexend Medium"/>
              <a:sym typeface="Lexend Medium"/>
            </a:endParaRPr>
          </a:p>
        </p:txBody>
      </p:sp>
      <p:sp>
        <p:nvSpPr>
          <p:cNvPr id="1107" name="Google Shape;1107;p73"/>
          <p:cNvSpPr txBox="1"/>
          <p:nvPr/>
        </p:nvSpPr>
        <p:spPr>
          <a:xfrm>
            <a:off x="502900" y="1101376"/>
            <a:ext cx="3248100" cy="897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solidFill>
                  <a:schemeClr val="dk1"/>
                </a:solidFill>
                <a:latin typeface="Lexend Medium"/>
                <a:ea typeface="Lexend Medium"/>
                <a:cs typeface="Lexend Medium"/>
                <a:sym typeface="Lexend Medium"/>
              </a:rPr>
              <a:t>[NW] CTR: </a:t>
            </a:r>
            <a:r>
              <a:rPr lang="en" sz="1500" b="1">
                <a:solidFill>
                  <a:srgbClr val="34A853"/>
                </a:solidFill>
                <a:latin typeface="Lexend"/>
                <a:ea typeface="Lexend"/>
                <a:cs typeface="Lexend"/>
                <a:sym typeface="Lexend"/>
              </a:rPr>
              <a:t>77.38%</a:t>
            </a:r>
            <a:r>
              <a:rPr lang="en">
                <a:solidFill>
                  <a:schemeClr val="dk1"/>
                </a:solidFill>
                <a:latin typeface="Lexend Medium"/>
                <a:ea typeface="Lexend Medium"/>
                <a:cs typeface="Lexend Medium"/>
                <a:sym typeface="Lexend Medium"/>
              </a:rPr>
              <a:t> | </a:t>
            </a:r>
            <a:r>
              <a:rPr lang="en">
                <a:solidFill>
                  <a:schemeClr val="dk1"/>
                </a:solidFill>
                <a:latin typeface="Lexend Light"/>
                <a:ea typeface="Lexend Light"/>
                <a:cs typeface="Lexend Light"/>
                <a:sym typeface="Lexend Light"/>
              </a:rPr>
              <a:t>Target</a:t>
            </a:r>
            <a:r>
              <a:rPr lang="en">
                <a:solidFill>
                  <a:schemeClr val="dk1"/>
                </a:solidFill>
                <a:latin typeface="Lexend Medium"/>
                <a:ea typeface="Lexend Medium"/>
                <a:cs typeface="Lexend Medium"/>
                <a:sym typeface="Lexend Medium"/>
              </a:rPr>
              <a:t>: </a:t>
            </a:r>
            <a:r>
              <a:rPr lang="en" sz="1600" b="1">
                <a:solidFill>
                  <a:srgbClr val="34A853"/>
                </a:solidFill>
                <a:latin typeface="Lexend"/>
                <a:ea typeface="Lexend"/>
                <a:cs typeface="Lexend"/>
                <a:sym typeface="Lexend"/>
              </a:rPr>
              <a:t>130%</a:t>
            </a:r>
            <a:endParaRPr sz="1600" b="1">
              <a:solidFill>
                <a:srgbClr val="34A853"/>
              </a:solidFill>
              <a:latin typeface="Lexend"/>
              <a:ea typeface="Lexend"/>
              <a:cs typeface="Lexend"/>
              <a:sym typeface="Lexend"/>
            </a:endParaRPr>
          </a:p>
          <a:p>
            <a:pPr marL="0" lvl="0" indent="0" algn="l" rtl="0">
              <a:spcBef>
                <a:spcPts val="400"/>
              </a:spcBef>
              <a:spcAft>
                <a:spcPts val="0"/>
              </a:spcAft>
              <a:buClr>
                <a:srgbClr val="1E293B"/>
              </a:buClr>
              <a:buSzPts val="900"/>
              <a:buFont typeface="Calibri"/>
              <a:buNone/>
            </a:pPr>
            <a:r>
              <a:rPr lang="en" sz="1100">
                <a:solidFill>
                  <a:srgbClr val="1E293B"/>
                </a:solidFill>
                <a:latin typeface="Lexend"/>
                <a:ea typeface="Lexend"/>
                <a:cs typeface="Lexend"/>
                <a:sym typeface="Lexend"/>
              </a:rPr>
              <a:t>WoW: </a:t>
            </a:r>
            <a:r>
              <a:rPr lang="en" sz="1100">
                <a:solidFill>
                  <a:srgbClr val="EF4444"/>
                </a:solidFill>
                <a:latin typeface="Lexend"/>
                <a:ea typeface="Lexend"/>
                <a:cs typeface="Lexend"/>
                <a:sym typeface="Lexend"/>
              </a:rPr>
              <a:t>-1.11%</a:t>
            </a:r>
            <a:r>
              <a:rPr lang="en" sz="1100">
                <a:solidFill>
                  <a:srgbClr val="1E293B"/>
                </a:solidFill>
                <a:latin typeface="Lexend"/>
                <a:ea typeface="Lexend"/>
                <a:cs typeface="Lexend"/>
                <a:sym typeface="Lexend"/>
              </a:rPr>
              <a:t>  |  Trend: </a:t>
            </a:r>
            <a:r>
              <a:rPr lang="en" sz="1100">
                <a:solidFill>
                  <a:srgbClr val="EF4444"/>
                </a:solidFill>
                <a:latin typeface="Lexend"/>
                <a:ea typeface="Lexend"/>
                <a:cs typeface="Lexend"/>
                <a:sym typeface="Lexend"/>
              </a:rPr>
              <a:t>↓</a:t>
            </a:r>
            <a:endParaRPr sz="1100">
              <a:solidFill>
                <a:srgbClr val="1E293B"/>
              </a:solidFill>
              <a:latin typeface="Lexend"/>
              <a:ea typeface="Lexend"/>
              <a:cs typeface="Lexend"/>
              <a:sym typeface="Lexend"/>
            </a:endParaRPr>
          </a:p>
          <a:p>
            <a:pPr marL="0" lvl="0" indent="0" algn="l" rtl="0">
              <a:spcBef>
                <a:spcPts val="0"/>
              </a:spcBef>
              <a:spcAft>
                <a:spcPts val="0"/>
              </a:spcAft>
              <a:buNone/>
            </a:pPr>
            <a:endParaRPr sz="1600">
              <a:solidFill>
                <a:srgbClr val="34A853"/>
              </a:solidFill>
              <a:latin typeface="Lexend Medium"/>
              <a:ea typeface="Lexend Medium"/>
              <a:cs typeface="Lexend Medium"/>
              <a:sym typeface="Lexend Medium"/>
            </a:endParaRPr>
          </a:p>
        </p:txBody>
      </p:sp>
      <p:sp>
        <p:nvSpPr>
          <p:cNvPr id="1108" name="Google Shape;1108;p73"/>
          <p:cNvSpPr/>
          <p:nvPr/>
        </p:nvSpPr>
        <p:spPr>
          <a:xfrm>
            <a:off x="328250" y="1024350"/>
            <a:ext cx="37500" cy="828300"/>
          </a:xfrm>
          <a:prstGeom prst="rect">
            <a:avLst/>
          </a:prstGeom>
          <a:solidFill>
            <a:srgbClr val="F56C1F"/>
          </a:solidFill>
          <a:ln>
            <a:noFill/>
          </a:ln>
        </p:spPr>
        <p:txBody>
          <a:bodyPr spcFirstLastPara="1" wrap="square" lIns="75550" tIns="75550" rIns="75550" bIns="75550" anchor="ctr" anchorCtr="0">
            <a:noAutofit/>
          </a:bodyPr>
          <a:lstStyle/>
          <a:p>
            <a:pPr marL="0" lvl="0" indent="0" algn="l" rtl="0">
              <a:spcBef>
                <a:spcPts val="0"/>
              </a:spcBef>
              <a:spcAft>
                <a:spcPts val="0"/>
              </a:spcAft>
              <a:buNone/>
            </a:pPr>
            <a:endParaRPr/>
          </a:p>
        </p:txBody>
      </p:sp>
      <p:sp>
        <p:nvSpPr>
          <p:cNvPr id="1109" name="Google Shape;1109;p73"/>
          <p:cNvSpPr/>
          <p:nvPr/>
        </p:nvSpPr>
        <p:spPr>
          <a:xfrm>
            <a:off x="368823" y="1024350"/>
            <a:ext cx="37500" cy="828300"/>
          </a:xfrm>
          <a:prstGeom prst="rect">
            <a:avLst/>
          </a:prstGeom>
          <a:solidFill>
            <a:srgbClr val="1C4587"/>
          </a:solidFill>
          <a:ln>
            <a:noFill/>
          </a:ln>
        </p:spPr>
        <p:txBody>
          <a:bodyPr spcFirstLastPara="1" wrap="square" lIns="75550" tIns="75550" rIns="75550" bIns="75550" anchor="ctr" anchorCtr="0">
            <a:noAutofit/>
          </a:bodyPr>
          <a:lstStyle/>
          <a:p>
            <a:pPr marL="0" lvl="0" indent="0" algn="l" rtl="0">
              <a:spcBef>
                <a:spcPts val="0"/>
              </a:spcBef>
              <a:spcAft>
                <a:spcPts val="0"/>
              </a:spcAft>
              <a:buNone/>
            </a:pPr>
            <a:endParaRPr/>
          </a:p>
        </p:txBody>
      </p:sp>
      <p:sp>
        <p:nvSpPr>
          <p:cNvPr id="1110" name="Google Shape;1110;p73"/>
          <p:cNvSpPr txBox="1"/>
          <p:nvPr/>
        </p:nvSpPr>
        <p:spPr>
          <a:xfrm>
            <a:off x="4833675" y="1082582"/>
            <a:ext cx="3248100" cy="6885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a:solidFill>
                  <a:schemeClr val="dk1"/>
                </a:solidFill>
                <a:latin typeface="Lexend Medium"/>
                <a:ea typeface="Lexend Medium"/>
                <a:cs typeface="Lexend Medium"/>
                <a:sym typeface="Lexend Medium"/>
              </a:rPr>
              <a:t>[NW] GDR: </a:t>
            </a:r>
            <a:r>
              <a:rPr lang="en" sz="1500" b="1">
                <a:solidFill>
                  <a:srgbClr val="34A853"/>
                </a:solidFill>
                <a:latin typeface="Lexend"/>
                <a:ea typeface="Lexend"/>
                <a:cs typeface="Lexend"/>
                <a:sym typeface="Lexend"/>
              </a:rPr>
              <a:t>95.52%</a:t>
            </a:r>
            <a:r>
              <a:rPr lang="en">
                <a:solidFill>
                  <a:schemeClr val="dk1"/>
                </a:solidFill>
                <a:latin typeface="Lexend Medium"/>
                <a:ea typeface="Lexend Medium"/>
                <a:cs typeface="Lexend Medium"/>
                <a:sym typeface="Lexend Medium"/>
              </a:rPr>
              <a:t> | </a:t>
            </a:r>
            <a:r>
              <a:rPr lang="en">
                <a:solidFill>
                  <a:schemeClr val="dk1"/>
                </a:solidFill>
                <a:latin typeface="Lexend Light"/>
                <a:ea typeface="Lexend Light"/>
                <a:cs typeface="Lexend Light"/>
                <a:sym typeface="Lexend Light"/>
              </a:rPr>
              <a:t>Target</a:t>
            </a:r>
            <a:r>
              <a:rPr lang="en">
                <a:solidFill>
                  <a:schemeClr val="dk1"/>
                </a:solidFill>
                <a:latin typeface="Lexend Medium"/>
                <a:ea typeface="Lexend Medium"/>
                <a:cs typeface="Lexend Medium"/>
                <a:sym typeface="Lexend Medium"/>
              </a:rPr>
              <a:t>: </a:t>
            </a:r>
            <a:r>
              <a:rPr lang="en" sz="1600" b="1">
                <a:solidFill>
                  <a:srgbClr val="34A853"/>
                </a:solidFill>
                <a:latin typeface="Lexend"/>
                <a:ea typeface="Lexend"/>
                <a:cs typeface="Lexend"/>
                <a:sym typeface="Lexend"/>
              </a:rPr>
              <a:t>120%</a:t>
            </a:r>
            <a:endParaRPr sz="1600" b="1">
              <a:solidFill>
                <a:srgbClr val="34A853"/>
              </a:solidFill>
              <a:latin typeface="Lexend"/>
              <a:ea typeface="Lexend"/>
              <a:cs typeface="Lexend"/>
              <a:sym typeface="Lexend"/>
            </a:endParaRPr>
          </a:p>
          <a:p>
            <a:pPr marL="0" lvl="0" indent="0" algn="l" rtl="0">
              <a:spcBef>
                <a:spcPts val="400"/>
              </a:spcBef>
              <a:spcAft>
                <a:spcPts val="0"/>
              </a:spcAft>
              <a:buNone/>
            </a:pPr>
            <a:r>
              <a:rPr lang="en" sz="1100">
                <a:solidFill>
                  <a:srgbClr val="1E293B"/>
                </a:solidFill>
                <a:latin typeface="Lexend"/>
                <a:ea typeface="Lexend"/>
                <a:cs typeface="Lexend"/>
                <a:sym typeface="Lexend"/>
              </a:rPr>
              <a:t>WoW: </a:t>
            </a:r>
            <a:r>
              <a:rPr lang="en" sz="1100">
                <a:solidFill>
                  <a:srgbClr val="EF4444"/>
                </a:solidFill>
                <a:latin typeface="Lexend"/>
                <a:ea typeface="Lexend"/>
                <a:cs typeface="Lexend"/>
                <a:sym typeface="Lexend"/>
              </a:rPr>
              <a:t>-0.04%</a:t>
            </a:r>
            <a:r>
              <a:rPr lang="en" sz="1100">
                <a:solidFill>
                  <a:srgbClr val="1E293B"/>
                </a:solidFill>
                <a:latin typeface="Lexend"/>
                <a:ea typeface="Lexend"/>
                <a:cs typeface="Lexend"/>
                <a:sym typeface="Lexend"/>
              </a:rPr>
              <a:t> |  Trend: </a:t>
            </a:r>
            <a:r>
              <a:rPr lang="en" sz="1100">
                <a:solidFill>
                  <a:srgbClr val="EF4444"/>
                </a:solidFill>
                <a:latin typeface="Lexend"/>
                <a:ea typeface="Lexend"/>
                <a:cs typeface="Lexend"/>
                <a:sym typeface="Lexend"/>
              </a:rPr>
              <a:t>↓</a:t>
            </a:r>
            <a:endParaRPr sz="1600">
              <a:solidFill>
                <a:srgbClr val="EF4444"/>
              </a:solidFill>
              <a:latin typeface="Lexend Medium"/>
              <a:ea typeface="Lexend Medium"/>
              <a:cs typeface="Lexend Medium"/>
              <a:sym typeface="Lexend Medium"/>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1115"/>
        <p:cNvGrpSpPr/>
        <p:nvPr/>
      </p:nvGrpSpPr>
      <p:grpSpPr>
        <a:xfrm>
          <a:off x="0" y="0"/>
          <a:ext cx="0" cy="0"/>
          <a:chOff x="0" y="0"/>
          <a:chExt cx="0" cy="0"/>
        </a:xfrm>
      </p:grpSpPr>
      <p:sp>
        <p:nvSpPr>
          <p:cNvPr id="1116" name="Google Shape;1116;p74"/>
          <p:cNvSpPr/>
          <p:nvPr/>
        </p:nvSpPr>
        <p:spPr>
          <a:xfrm>
            <a:off x="0" y="0"/>
            <a:ext cx="9144000" cy="73200"/>
          </a:xfrm>
          <a:prstGeom prst="rect">
            <a:avLst/>
          </a:prstGeom>
          <a:solidFill>
            <a:srgbClr val="FF7F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117" name="Google Shape;1117;p74" descr="preencoded.png"/>
          <p:cNvPicPr preferRelativeResize="0"/>
          <p:nvPr/>
        </p:nvPicPr>
        <p:blipFill rotWithShape="1">
          <a:blip r:embed="rId3">
            <a:alphaModFix/>
          </a:blip>
          <a:srcRect/>
          <a:stretch/>
        </p:blipFill>
        <p:spPr>
          <a:xfrm>
            <a:off x="365760" y="274320"/>
            <a:ext cx="274320" cy="274320"/>
          </a:xfrm>
          <a:prstGeom prst="rect">
            <a:avLst/>
          </a:prstGeom>
          <a:noFill/>
          <a:ln>
            <a:noFill/>
          </a:ln>
        </p:spPr>
      </p:pic>
      <p:sp>
        <p:nvSpPr>
          <p:cNvPr id="1118" name="Google Shape;1118;p74"/>
          <p:cNvSpPr/>
          <p:nvPr/>
        </p:nvSpPr>
        <p:spPr>
          <a:xfrm>
            <a:off x="731520" y="201168"/>
            <a:ext cx="7315200" cy="411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E4174"/>
              </a:buClr>
              <a:buSzPts val="2200"/>
              <a:buFont typeface="Calibri"/>
              <a:buNone/>
            </a:pPr>
            <a:r>
              <a:rPr lang="en" sz="2200" b="1">
                <a:solidFill>
                  <a:srgbClr val="0E4174"/>
                </a:solidFill>
                <a:latin typeface="Lexend"/>
                <a:ea typeface="Lexend"/>
                <a:cs typeface="Lexend"/>
                <a:sym typeface="Lexend"/>
              </a:rPr>
              <a:t>Communications</a:t>
            </a:r>
            <a:r>
              <a:rPr lang="en" sz="2200" b="1" i="0" u="none" strike="noStrike" cap="none">
                <a:solidFill>
                  <a:srgbClr val="0E4174"/>
                </a:solidFill>
                <a:latin typeface="Lexend"/>
                <a:ea typeface="Lexend"/>
                <a:cs typeface="Lexend"/>
                <a:sym typeface="Lexend"/>
              </a:rPr>
              <a:t>: Highlights &amp; Lowlights</a:t>
            </a:r>
            <a:endParaRPr sz="2200" b="1" i="0" u="none" strike="noStrike" cap="none">
              <a:solidFill>
                <a:schemeClr val="dk1"/>
              </a:solidFill>
              <a:latin typeface="Lexend"/>
              <a:ea typeface="Lexend"/>
              <a:cs typeface="Lexend"/>
              <a:sym typeface="Lexend"/>
            </a:endParaRPr>
          </a:p>
        </p:txBody>
      </p:sp>
      <p:sp>
        <p:nvSpPr>
          <p:cNvPr id="1119" name="Google Shape;1119;p74"/>
          <p:cNvSpPr/>
          <p:nvPr/>
        </p:nvSpPr>
        <p:spPr>
          <a:xfrm>
            <a:off x="731520" y="594360"/>
            <a:ext cx="7315200" cy="274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1000"/>
              <a:buFont typeface="Calibri"/>
              <a:buNone/>
            </a:pPr>
            <a:r>
              <a:rPr lang="en" sz="1000" i="1" u="none" strike="noStrike" cap="none">
                <a:solidFill>
                  <a:srgbClr val="64748B"/>
                </a:solidFill>
                <a:latin typeface="Lexend"/>
                <a:ea typeface="Lexend"/>
                <a:cs typeface="Lexend"/>
                <a:sym typeface="Lexend"/>
              </a:rPr>
              <a:t>Trọng tâm tuần — Kết quả thực thi &amp; Kế hoạch hành động</a:t>
            </a:r>
            <a:endParaRPr sz="1000" i="0" u="none" strike="noStrike" cap="none">
              <a:solidFill>
                <a:schemeClr val="dk1"/>
              </a:solidFill>
              <a:latin typeface="Lexend"/>
              <a:ea typeface="Lexend"/>
              <a:cs typeface="Lexend"/>
              <a:sym typeface="Lexend"/>
            </a:endParaRPr>
          </a:p>
        </p:txBody>
      </p:sp>
      <p:cxnSp>
        <p:nvCxnSpPr>
          <p:cNvPr id="1120" name="Google Shape;1120;p74"/>
          <p:cNvCxnSpPr/>
          <p:nvPr/>
        </p:nvCxnSpPr>
        <p:spPr>
          <a:xfrm>
            <a:off x="365760" y="868680"/>
            <a:ext cx="8412600" cy="0"/>
          </a:xfrm>
          <a:prstGeom prst="straightConnector1">
            <a:avLst/>
          </a:prstGeom>
          <a:noFill/>
          <a:ln w="9525" cap="flat" cmpd="sng">
            <a:solidFill>
              <a:srgbClr val="E2E8F0"/>
            </a:solidFill>
            <a:prstDash val="solid"/>
            <a:round/>
            <a:headEnd type="none" w="sm" len="sm"/>
            <a:tailEnd type="none" w="sm" len="sm"/>
          </a:ln>
        </p:spPr>
      </p:cxnSp>
      <p:sp>
        <p:nvSpPr>
          <p:cNvPr id="1121" name="Google Shape;1121;p74"/>
          <p:cNvSpPr/>
          <p:nvPr/>
        </p:nvSpPr>
        <p:spPr>
          <a:xfrm>
            <a:off x="145125" y="957450"/>
            <a:ext cx="4494000" cy="1675800"/>
          </a:xfrm>
          <a:prstGeom prst="rect">
            <a:avLst/>
          </a:prstGeom>
          <a:solidFill>
            <a:srgbClr val="FFFFFF"/>
          </a:solidFill>
          <a:ln w="9525" cap="flat" cmpd="sng">
            <a:solidFill>
              <a:srgbClr val="E2E8F0"/>
            </a:solidFill>
            <a:prstDash val="solid"/>
            <a:round/>
            <a:headEnd type="none" w="sm" len="sm"/>
            <a:tailEnd type="none" w="sm" len="sm"/>
          </a:ln>
          <a:effectLst>
            <a:outerShdw blurRad="76200" dist="25400" dir="8100000" algn="bl" rotWithShape="0">
              <a:srgbClr val="000000">
                <a:alpha val="102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2" name="Google Shape;1122;p74"/>
          <p:cNvSpPr/>
          <p:nvPr/>
        </p:nvSpPr>
        <p:spPr>
          <a:xfrm>
            <a:off x="144875" y="968478"/>
            <a:ext cx="59100" cy="1675800"/>
          </a:xfrm>
          <a:prstGeom prst="rect">
            <a:avLst/>
          </a:prstGeom>
          <a:solidFill>
            <a:srgbClr val="10B9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3" name="Google Shape;1123;p74"/>
          <p:cNvSpPr/>
          <p:nvPr/>
        </p:nvSpPr>
        <p:spPr>
          <a:xfrm>
            <a:off x="603965" y="1044411"/>
            <a:ext cx="2869200" cy="1335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0B981"/>
              </a:buClr>
              <a:buSzPts val="1200"/>
              <a:buFont typeface="Calibri"/>
              <a:buNone/>
            </a:pPr>
            <a:r>
              <a:rPr lang="en" sz="1200" i="0" u="none" strike="noStrike" cap="none">
                <a:solidFill>
                  <a:srgbClr val="10B981"/>
                </a:solidFill>
                <a:latin typeface="Lexend"/>
                <a:ea typeface="Lexend"/>
                <a:cs typeface="Lexend"/>
                <a:sym typeface="Lexend"/>
              </a:rPr>
              <a:t>HIGHLIGHTS</a:t>
            </a:r>
            <a:endParaRPr sz="1200" i="0" u="none" strike="noStrike" cap="none">
              <a:solidFill>
                <a:schemeClr val="dk1"/>
              </a:solidFill>
              <a:latin typeface="Lexend"/>
              <a:ea typeface="Lexend"/>
              <a:cs typeface="Lexend"/>
              <a:sym typeface="Lexend"/>
            </a:endParaRPr>
          </a:p>
        </p:txBody>
      </p:sp>
      <p:sp>
        <p:nvSpPr>
          <p:cNvPr id="1124" name="Google Shape;1124;p74"/>
          <p:cNvSpPr/>
          <p:nvPr/>
        </p:nvSpPr>
        <p:spPr>
          <a:xfrm>
            <a:off x="341775" y="1304608"/>
            <a:ext cx="4183800" cy="11502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900" b="1">
                <a:solidFill>
                  <a:srgbClr val="0E4174"/>
                </a:solidFill>
                <a:latin typeface="Lexend"/>
                <a:ea typeface="Lexend"/>
                <a:cs typeface="Lexend"/>
                <a:sym typeface="Lexend"/>
              </a:rPr>
              <a:t>- Thưởng baga: </a:t>
            </a:r>
            <a:r>
              <a:rPr lang="en" sz="900">
                <a:solidFill>
                  <a:srgbClr val="0E4174"/>
                </a:solidFill>
                <a:latin typeface="Lexend"/>
                <a:ea typeface="Lexend"/>
                <a:cs typeface="Lexend"/>
                <a:sym typeface="Lexend"/>
              </a:rPr>
              <a:t>Đã đủ lead đăng ký</a:t>
            </a:r>
            <a:endParaRPr sz="900">
              <a:solidFill>
                <a:srgbClr val="0E4174"/>
              </a:solidFill>
              <a:latin typeface="Lexend"/>
              <a:ea typeface="Lexend"/>
              <a:cs typeface="Lexend"/>
              <a:sym typeface="Lexend"/>
            </a:endParaRPr>
          </a:p>
          <a:p>
            <a:pPr marL="0" lvl="0" indent="0" algn="l" rtl="0">
              <a:spcBef>
                <a:spcPts val="0"/>
              </a:spcBef>
              <a:spcAft>
                <a:spcPts val="0"/>
              </a:spcAft>
              <a:buNone/>
            </a:pPr>
            <a:r>
              <a:rPr lang="en" sz="900" b="1">
                <a:solidFill>
                  <a:srgbClr val="0E4174"/>
                </a:solidFill>
                <a:latin typeface="Lexend"/>
                <a:ea typeface="Lexend"/>
                <a:cs typeface="Lexend"/>
                <a:sym typeface="Lexend"/>
              </a:rPr>
              <a:t>- Tuyển core Fuji, Ajinomoto, BigC: </a:t>
            </a:r>
            <a:r>
              <a:rPr lang="en" sz="900">
                <a:solidFill>
                  <a:srgbClr val="0E4174"/>
                </a:solidFill>
                <a:latin typeface="Lexend"/>
                <a:ea typeface="Lexend"/>
                <a:cs typeface="Lexend"/>
                <a:sym typeface="Lexend"/>
              </a:rPr>
              <a:t>hầu hết đã đủ lead đăng ký</a:t>
            </a:r>
            <a:endParaRPr sz="900">
              <a:solidFill>
                <a:srgbClr val="0E4174"/>
              </a:solidFill>
              <a:latin typeface="Lexend"/>
              <a:ea typeface="Lexend"/>
              <a:cs typeface="Lexend"/>
              <a:sym typeface="Lexend"/>
            </a:endParaRPr>
          </a:p>
          <a:p>
            <a:pPr marL="0" lvl="0" indent="0" algn="l" rtl="0">
              <a:spcBef>
                <a:spcPts val="0"/>
              </a:spcBef>
              <a:spcAft>
                <a:spcPts val="0"/>
              </a:spcAft>
              <a:buNone/>
            </a:pPr>
            <a:r>
              <a:rPr lang="en" sz="900">
                <a:solidFill>
                  <a:srgbClr val="0E4174"/>
                </a:solidFill>
                <a:latin typeface="Lexend"/>
                <a:ea typeface="Lexend"/>
                <a:cs typeface="Lexend"/>
                <a:sym typeface="Lexend"/>
              </a:rPr>
              <a:t>-</a:t>
            </a:r>
            <a:r>
              <a:rPr lang="en" sz="900" b="1">
                <a:solidFill>
                  <a:srgbClr val="0E4174"/>
                </a:solidFill>
                <a:latin typeface="Lexend"/>
                <a:ea typeface="Lexend"/>
                <a:cs typeface="Lexend"/>
                <a:sym typeface="Lexend"/>
              </a:rPr>
              <a:t> Truyền thông mở lại dịch vụ tại HAN:</a:t>
            </a:r>
            <a:r>
              <a:rPr lang="en" sz="900">
                <a:solidFill>
                  <a:srgbClr val="0E4174"/>
                </a:solidFill>
                <a:latin typeface="Lexend"/>
                <a:ea typeface="Lexend"/>
                <a:cs typeface="Lexend"/>
                <a:sym typeface="Lexend"/>
              </a:rPr>
              <a:t> đã noti, SMS tần suất cao</a:t>
            </a:r>
            <a:endParaRPr sz="900">
              <a:solidFill>
                <a:srgbClr val="0E4174"/>
              </a:solidFill>
              <a:latin typeface="Lexend"/>
              <a:ea typeface="Lexend"/>
              <a:cs typeface="Lexend"/>
              <a:sym typeface="Lexend"/>
            </a:endParaRPr>
          </a:p>
          <a:p>
            <a:pPr marL="0" lvl="0" indent="0" algn="l" rtl="0">
              <a:spcBef>
                <a:spcPts val="0"/>
              </a:spcBef>
              <a:spcAft>
                <a:spcPts val="0"/>
              </a:spcAft>
              <a:buNone/>
            </a:pPr>
            <a:r>
              <a:rPr lang="en" sz="900" b="1">
                <a:solidFill>
                  <a:srgbClr val="0E4174"/>
                </a:solidFill>
                <a:latin typeface="Lexend"/>
                <a:ea typeface="Lexend"/>
                <a:cs typeface="Lexend"/>
                <a:sym typeface="Lexend"/>
              </a:rPr>
              <a:t>- Comms chuỗi bài push active CP 15.8</a:t>
            </a:r>
            <a:endParaRPr sz="900" b="1">
              <a:solidFill>
                <a:srgbClr val="0E4174"/>
              </a:solidFill>
              <a:latin typeface="Lexend"/>
              <a:ea typeface="Lexend"/>
              <a:cs typeface="Lexend"/>
              <a:sym typeface="Lexend"/>
            </a:endParaRPr>
          </a:p>
          <a:p>
            <a:pPr marL="0" lvl="0" indent="0" algn="l" rtl="0">
              <a:spcBef>
                <a:spcPts val="0"/>
              </a:spcBef>
              <a:spcAft>
                <a:spcPts val="0"/>
              </a:spcAft>
              <a:buClr>
                <a:schemeClr val="dk1"/>
              </a:buClr>
              <a:buSzPts val="1100"/>
              <a:buFont typeface="Arial"/>
              <a:buNone/>
            </a:pPr>
            <a:r>
              <a:rPr lang="en" sz="900">
                <a:solidFill>
                  <a:srgbClr val="0E4174"/>
                </a:solidFill>
                <a:latin typeface="Lexend"/>
                <a:ea typeface="Lexend"/>
                <a:cs typeface="Lexend"/>
                <a:sym typeface="Lexend"/>
              </a:rPr>
              <a:t>+ Setup popup, bản tin lượng đơn + chuỗi content thưởng/điểm nóng trong CP 15.8, push active tần suất 2-3 tin/ngày</a:t>
            </a:r>
            <a:endParaRPr sz="900">
              <a:solidFill>
                <a:srgbClr val="0E4174"/>
              </a:solidFill>
              <a:latin typeface="Lexend"/>
              <a:ea typeface="Lexend"/>
              <a:cs typeface="Lexend"/>
              <a:sym typeface="Lexend"/>
            </a:endParaRPr>
          </a:p>
          <a:p>
            <a:pPr marL="0" lvl="0" indent="0" algn="l" rtl="0">
              <a:spcBef>
                <a:spcPts val="0"/>
              </a:spcBef>
              <a:spcAft>
                <a:spcPts val="0"/>
              </a:spcAft>
              <a:buClr>
                <a:schemeClr val="dk1"/>
              </a:buClr>
              <a:buSzPts val="1100"/>
              <a:buFont typeface="Arial"/>
              <a:buNone/>
            </a:pPr>
            <a:r>
              <a:rPr lang="en" sz="900" b="1">
                <a:solidFill>
                  <a:srgbClr val="0E4174"/>
                </a:solidFill>
                <a:latin typeface="Lexend"/>
                <a:ea typeface="Lexend"/>
                <a:cs typeface="Lexend"/>
                <a:sym typeface="Lexend"/>
              </a:rPr>
              <a:t>- EV: </a:t>
            </a:r>
            <a:r>
              <a:rPr lang="en" sz="900">
                <a:solidFill>
                  <a:srgbClr val="0E4174"/>
                </a:solidFill>
                <a:latin typeface="Lexend"/>
                <a:ea typeface="Lexend"/>
                <a:cs typeface="Lexend"/>
                <a:sym typeface="Lexend"/>
              </a:rPr>
              <a:t>Publish Landing page policy mới và các chtrình EV (AHA Creator + Đua top)</a:t>
            </a:r>
            <a:endParaRPr sz="900">
              <a:solidFill>
                <a:srgbClr val="0E4174"/>
              </a:solidFill>
              <a:latin typeface="Lexend"/>
              <a:ea typeface="Lexend"/>
              <a:cs typeface="Lexend"/>
              <a:sym typeface="Lexend"/>
            </a:endParaRPr>
          </a:p>
        </p:txBody>
      </p:sp>
      <p:sp>
        <p:nvSpPr>
          <p:cNvPr id="1125" name="Google Shape;1125;p74"/>
          <p:cNvSpPr/>
          <p:nvPr/>
        </p:nvSpPr>
        <p:spPr>
          <a:xfrm>
            <a:off x="145125" y="2746796"/>
            <a:ext cx="4494000" cy="825600"/>
          </a:xfrm>
          <a:prstGeom prst="rect">
            <a:avLst/>
          </a:prstGeom>
          <a:solidFill>
            <a:srgbClr val="FFFFFF"/>
          </a:solidFill>
          <a:ln w="9525" cap="flat" cmpd="sng">
            <a:solidFill>
              <a:srgbClr val="E2E8F0"/>
            </a:solidFill>
            <a:prstDash val="solid"/>
            <a:round/>
            <a:headEnd type="none" w="sm" len="sm"/>
            <a:tailEnd type="none" w="sm" len="sm"/>
          </a:ln>
          <a:effectLst>
            <a:outerShdw blurRad="76200" dist="25400" dir="8100000" algn="bl" rotWithShape="0">
              <a:srgbClr val="000000">
                <a:alpha val="102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6" name="Google Shape;1126;p74"/>
          <p:cNvSpPr/>
          <p:nvPr/>
        </p:nvSpPr>
        <p:spPr>
          <a:xfrm>
            <a:off x="145125" y="2746846"/>
            <a:ext cx="59100" cy="825600"/>
          </a:xfrm>
          <a:prstGeom prst="rect">
            <a:avLst/>
          </a:prstGeom>
          <a:solidFill>
            <a:srgbClr val="EF44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7" name="Google Shape;1127;p74"/>
          <p:cNvSpPr/>
          <p:nvPr/>
        </p:nvSpPr>
        <p:spPr>
          <a:xfrm>
            <a:off x="625634" y="2846859"/>
            <a:ext cx="2869200" cy="1518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F4444"/>
              </a:buClr>
              <a:buSzPts val="1200"/>
              <a:buFont typeface="Calibri"/>
              <a:buNone/>
            </a:pPr>
            <a:r>
              <a:rPr lang="en" sz="1200" i="0" u="none" strike="noStrike" cap="none">
                <a:solidFill>
                  <a:srgbClr val="EF4444"/>
                </a:solidFill>
                <a:latin typeface="Lexend"/>
                <a:ea typeface="Lexend"/>
                <a:cs typeface="Lexend"/>
                <a:sym typeface="Lexend"/>
              </a:rPr>
              <a:t>LOWLIGHTS</a:t>
            </a:r>
            <a:endParaRPr sz="1200" i="0" u="none" strike="noStrike" cap="none">
              <a:solidFill>
                <a:schemeClr val="dk1"/>
              </a:solidFill>
              <a:latin typeface="Lexend"/>
              <a:ea typeface="Lexend"/>
              <a:cs typeface="Lexend"/>
              <a:sym typeface="Lexend"/>
            </a:endParaRPr>
          </a:p>
        </p:txBody>
      </p:sp>
      <p:sp>
        <p:nvSpPr>
          <p:cNvPr id="1128" name="Google Shape;1128;p74"/>
          <p:cNvSpPr/>
          <p:nvPr/>
        </p:nvSpPr>
        <p:spPr>
          <a:xfrm>
            <a:off x="182861" y="3639099"/>
            <a:ext cx="8778300" cy="1452300"/>
          </a:xfrm>
          <a:prstGeom prst="rect">
            <a:avLst/>
          </a:prstGeom>
          <a:solidFill>
            <a:srgbClr val="FFFFFF"/>
          </a:solidFill>
          <a:ln w="9525" cap="flat" cmpd="sng">
            <a:solidFill>
              <a:srgbClr val="E2E8F0"/>
            </a:solidFill>
            <a:prstDash val="solid"/>
            <a:round/>
            <a:headEnd type="none" w="sm" len="sm"/>
            <a:tailEnd type="none" w="sm" len="sm"/>
          </a:ln>
          <a:effectLst>
            <a:outerShdw blurRad="76200" dist="25400" dir="8100000" algn="bl" rotWithShape="0">
              <a:srgbClr val="000000">
                <a:alpha val="102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9" name="Google Shape;1129;p74"/>
          <p:cNvSpPr/>
          <p:nvPr/>
        </p:nvSpPr>
        <p:spPr>
          <a:xfrm>
            <a:off x="157300" y="3641132"/>
            <a:ext cx="59100" cy="1452300"/>
          </a:xfrm>
          <a:prstGeom prst="rect">
            <a:avLst/>
          </a:prstGeom>
          <a:solidFill>
            <a:srgbClr val="0E41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130" name="Google Shape;1130;p74" descr="preencoded.png"/>
          <p:cNvPicPr preferRelativeResize="0"/>
          <p:nvPr/>
        </p:nvPicPr>
        <p:blipFill rotWithShape="1">
          <a:blip r:embed="rId4">
            <a:alphaModFix/>
          </a:blip>
          <a:srcRect/>
          <a:stretch/>
        </p:blipFill>
        <p:spPr>
          <a:xfrm>
            <a:off x="365790" y="3764836"/>
            <a:ext cx="182880" cy="182880"/>
          </a:xfrm>
          <a:prstGeom prst="rect">
            <a:avLst/>
          </a:prstGeom>
          <a:noFill/>
          <a:ln>
            <a:noFill/>
          </a:ln>
        </p:spPr>
      </p:pic>
      <p:sp>
        <p:nvSpPr>
          <p:cNvPr id="1131" name="Google Shape;1131;p74"/>
          <p:cNvSpPr/>
          <p:nvPr/>
        </p:nvSpPr>
        <p:spPr>
          <a:xfrm>
            <a:off x="621822" y="3728326"/>
            <a:ext cx="3657600" cy="2559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E4174"/>
              </a:buClr>
              <a:buSzPts val="1100"/>
              <a:buFont typeface="Calibri"/>
              <a:buNone/>
            </a:pPr>
            <a:r>
              <a:rPr lang="en" sz="1100" b="1">
                <a:solidFill>
                  <a:srgbClr val="0E4174"/>
                </a:solidFill>
                <a:latin typeface="Lexend"/>
                <a:ea typeface="Lexend"/>
                <a:cs typeface="Lexend"/>
                <a:sym typeface="Lexend"/>
              </a:rPr>
              <a:t>NEXT ACTION:</a:t>
            </a:r>
            <a:r>
              <a:rPr lang="en" sz="1100" i="1">
                <a:solidFill>
                  <a:srgbClr val="0E4174"/>
                </a:solidFill>
                <a:latin typeface="Lexend"/>
                <a:ea typeface="Lexend"/>
                <a:cs typeface="Lexend"/>
                <a:sym typeface="Lexend"/>
              </a:rPr>
              <a:t> (Solutions &amp; upcoming activities)</a:t>
            </a:r>
            <a:endParaRPr sz="1100" i="1" u="none" strike="noStrike" cap="none">
              <a:solidFill>
                <a:schemeClr val="dk1"/>
              </a:solidFill>
              <a:latin typeface="Lexend"/>
              <a:ea typeface="Lexend"/>
              <a:cs typeface="Lexend"/>
              <a:sym typeface="Lexend"/>
            </a:endParaRPr>
          </a:p>
        </p:txBody>
      </p:sp>
      <p:sp>
        <p:nvSpPr>
          <p:cNvPr id="1132" name="Google Shape;1132;p74"/>
          <p:cNvSpPr/>
          <p:nvPr/>
        </p:nvSpPr>
        <p:spPr>
          <a:xfrm>
            <a:off x="5486395" y="45700"/>
            <a:ext cx="3657600" cy="27420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94A3B8"/>
              </a:buClr>
              <a:buSzPts val="700"/>
              <a:buFont typeface="Calibri"/>
              <a:buNone/>
            </a:pPr>
            <a:r>
              <a:rPr lang="en" sz="700" b="0" i="1" u="none" strike="noStrike" cap="none">
                <a:solidFill>
                  <a:srgbClr val="94A3B8"/>
                </a:solidFill>
                <a:latin typeface="Calibri"/>
                <a:ea typeface="Calibri"/>
                <a:cs typeface="Calibri"/>
                <a:sym typeface="Calibri"/>
              </a:rPr>
              <a:t>Ahamove — Driver Management | Confidential</a:t>
            </a:r>
            <a:endParaRPr sz="700" b="0" i="0" u="none" strike="noStrike" cap="none">
              <a:solidFill>
                <a:schemeClr val="dk1"/>
              </a:solidFill>
              <a:latin typeface="Calibri"/>
              <a:ea typeface="Calibri"/>
              <a:cs typeface="Calibri"/>
              <a:sym typeface="Calibri"/>
            </a:endParaRPr>
          </a:p>
        </p:txBody>
      </p:sp>
      <p:pic>
        <p:nvPicPr>
          <p:cNvPr id="1133" name="Google Shape;1133;p74" descr="preencoded.png"/>
          <p:cNvPicPr preferRelativeResize="0"/>
          <p:nvPr/>
        </p:nvPicPr>
        <p:blipFill rotWithShape="1">
          <a:blip r:embed="rId5">
            <a:alphaModFix/>
          </a:blip>
          <a:srcRect/>
          <a:stretch/>
        </p:blipFill>
        <p:spPr>
          <a:xfrm>
            <a:off x="336169" y="1004382"/>
            <a:ext cx="210412" cy="201168"/>
          </a:xfrm>
          <a:prstGeom prst="rect">
            <a:avLst/>
          </a:prstGeom>
          <a:noFill/>
          <a:ln>
            <a:noFill/>
          </a:ln>
        </p:spPr>
      </p:pic>
      <p:pic>
        <p:nvPicPr>
          <p:cNvPr id="1134" name="Google Shape;1134;p74" descr="preencoded.png"/>
          <p:cNvPicPr preferRelativeResize="0"/>
          <p:nvPr/>
        </p:nvPicPr>
        <p:blipFill rotWithShape="1">
          <a:blip r:embed="rId6">
            <a:alphaModFix/>
          </a:blip>
          <a:srcRect/>
          <a:stretch/>
        </p:blipFill>
        <p:spPr>
          <a:xfrm>
            <a:off x="382597" y="2808278"/>
            <a:ext cx="182875" cy="199054"/>
          </a:xfrm>
          <a:prstGeom prst="rect">
            <a:avLst/>
          </a:prstGeom>
          <a:noFill/>
          <a:ln>
            <a:noFill/>
          </a:ln>
        </p:spPr>
      </p:pic>
      <p:graphicFrame>
        <p:nvGraphicFramePr>
          <p:cNvPr id="1135" name="Google Shape;1135;p74"/>
          <p:cNvGraphicFramePr/>
          <p:nvPr/>
        </p:nvGraphicFramePr>
        <p:xfrm>
          <a:off x="369736" y="3988454"/>
          <a:ext cx="3000000" cy="3000000"/>
        </p:xfrm>
        <a:graphic>
          <a:graphicData uri="http://schemas.openxmlformats.org/drawingml/2006/table">
            <a:tbl>
              <a:tblPr>
                <a:noFill/>
                <a:tableStyleId>{BD4DB973-2F49-4540-A1CC-0EE3EA8BBFB3}</a:tableStyleId>
              </a:tblPr>
              <a:tblGrid>
                <a:gridCol w="771175">
                  <a:extLst>
                    <a:ext uri="{9D8B030D-6E8A-4147-A177-3AD203B41FA5}">
                      <a16:colId xmlns:a16="http://schemas.microsoft.com/office/drawing/2014/main" val="20000"/>
                    </a:ext>
                  </a:extLst>
                </a:gridCol>
                <a:gridCol w="2975550">
                  <a:extLst>
                    <a:ext uri="{9D8B030D-6E8A-4147-A177-3AD203B41FA5}">
                      <a16:colId xmlns:a16="http://schemas.microsoft.com/office/drawing/2014/main" val="20001"/>
                    </a:ext>
                  </a:extLst>
                </a:gridCol>
                <a:gridCol w="2824675">
                  <a:extLst>
                    <a:ext uri="{9D8B030D-6E8A-4147-A177-3AD203B41FA5}">
                      <a16:colId xmlns:a16="http://schemas.microsoft.com/office/drawing/2014/main" val="20002"/>
                    </a:ext>
                  </a:extLst>
                </a:gridCol>
                <a:gridCol w="855475">
                  <a:extLst>
                    <a:ext uri="{9D8B030D-6E8A-4147-A177-3AD203B41FA5}">
                      <a16:colId xmlns:a16="http://schemas.microsoft.com/office/drawing/2014/main" val="20003"/>
                    </a:ext>
                  </a:extLst>
                </a:gridCol>
                <a:gridCol w="985725">
                  <a:extLst>
                    <a:ext uri="{9D8B030D-6E8A-4147-A177-3AD203B41FA5}">
                      <a16:colId xmlns:a16="http://schemas.microsoft.com/office/drawing/2014/main" val="20004"/>
                    </a:ext>
                  </a:extLst>
                </a:gridCol>
              </a:tblGrid>
              <a:tr h="199350">
                <a:tc>
                  <a:txBody>
                    <a:bodyPr/>
                    <a:lstStyle/>
                    <a:p>
                      <a:pPr marL="0" marR="0" lvl="0" indent="0" algn="ctr" rtl="0">
                        <a:spcBef>
                          <a:spcPts val="0"/>
                        </a:spcBef>
                        <a:spcAft>
                          <a:spcPts val="0"/>
                        </a:spcAft>
                        <a:buClr>
                          <a:srgbClr val="FFFFFF"/>
                        </a:buClr>
                        <a:buSzPts val="800"/>
                        <a:buFont typeface="Calibri"/>
                        <a:buNone/>
                      </a:pPr>
                      <a:r>
                        <a:rPr lang="en" sz="900">
                          <a:solidFill>
                            <a:srgbClr val="FFFFFF"/>
                          </a:solidFill>
                          <a:latin typeface="Lexend"/>
                          <a:ea typeface="Lexend"/>
                          <a:cs typeface="Lexend"/>
                          <a:sym typeface="Lexend"/>
                        </a:rPr>
                        <a:t>Hạng mục</a:t>
                      </a:r>
                      <a:endParaRPr sz="900" u="none" strike="noStrike" cap="none">
                        <a:latin typeface="Lexend"/>
                        <a:ea typeface="Lexend"/>
                        <a:cs typeface="Lexend"/>
                        <a:sym typeface="Lexend"/>
                      </a:endParaRPr>
                    </a:p>
                  </a:txBody>
                  <a:tcPr marL="91450" marR="91450" marT="45725" marB="45725"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0E4174"/>
                    </a:solidFill>
                  </a:tcPr>
                </a:tc>
                <a:tc>
                  <a:txBody>
                    <a:bodyPr/>
                    <a:lstStyle/>
                    <a:p>
                      <a:pPr marL="0" marR="0" lvl="0" indent="0" algn="ctr" rtl="0">
                        <a:spcBef>
                          <a:spcPts val="0"/>
                        </a:spcBef>
                        <a:spcAft>
                          <a:spcPts val="0"/>
                        </a:spcAft>
                        <a:buNone/>
                      </a:pPr>
                      <a:r>
                        <a:rPr lang="en" sz="900">
                          <a:solidFill>
                            <a:srgbClr val="FFFFFF"/>
                          </a:solidFill>
                          <a:latin typeface="Lexend"/>
                          <a:ea typeface="Lexend"/>
                          <a:cs typeface="Lexend"/>
                          <a:sym typeface="Lexend"/>
                        </a:rPr>
                        <a:t>Nguyên nhân/Bối cảnh</a:t>
                      </a:r>
                      <a:endParaRPr sz="900" u="none" strike="noStrike" cap="none">
                        <a:solidFill>
                          <a:srgbClr val="FFFFFF"/>
                        </a:solidFill>
                        <a:latin typeface="Lexend"/>
                        <a:ea typeface="Lexend"/>
                        <a:cs typeface="Lexend"/>
                        <a:sym typeface="Lexend"/>
                      </a:endParaRPr>
                    </a:p>
                  </a:txBody>
                  <a:tcPr marL="91450" marR="91450" marT="45725" marB="45725"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0E4174"/>
                    </a:solidFill>
                  </a:tcPr>
                </a:tc>
                <a:tc>
                  <a:txBody>
                    <a:bodyPr/>
                    <a:lstStyle/>
                    <a:p>
                      <a:pPr marL="0" marR="0" lvl="0" indent="0" algn="ctr" rtl="0">
                        <a:spcBef>
                          <a:spcPts val="0"/>
                        </a:spcBef>
                        <a:spcAft>
                          <a:spcPts val="0"/>
                        </a:spcAft>
                        <a:buClr>
                          <a:srgbClr val="FFFFFF"/>
                        </a:buClr>
                        <a:buSzPts val="800"/>
                        <a:buFont typeface="Calibri"/>
                        <a:buNone/>
                      </a:pPr>
                      <a:r>
                        <a:rPr lang="en" sz="900" u="none" strike="noStrike" cap="none">
                          <a:solidFill>
                            <a:srgbClr val="FFFFFF"/>
                          </a:solidFill>
                          <a:latin typeface="Lexend"/>
                          <a:ea typeface="Lexend"/>
                          <a:cs typeface="Lexend"/>
                          <a:sym typeface="Lexend"/>
                        </a:rPr>
                        <a:t>Hành động</a:t>
                      </a:r>
                      <a:endParaRPr sz="900" u="none" strike="noStrike" cap="none">
                        <a:latin typeface="Lexend"/>
                        <a:ea typeface="Lexend"/>
                        <a:cs typeface="Lexend"/>
                        <a:sym typeface="Lexend"/>
                      </a:endParaRPr>
                    </a:p>
                  </a:txBody>
                  <a:tcPr marL="91450" marR="91450" marT="45725" marB="45725"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0E4174"/>
                    </a:solidFill>
                  </a:tcPr>
                </a:tc>
                <a:tc>
                  <a:txBody>
                    <a:bodyPr/>
                    <a:lstStyle/>
                    <a:p>
                      <a:pPr marL="0" marR="0" lvl="0" indent="0" algn="ctr" rtl="0">
                        <a:spcBef>
                          <a:spcPts val="0"/>
                        </a:spcBef>
                        <a:spcAft>
                          <a:spcPts val="0"/>
                        </a:spcAft>
                        <a:buClr>
                          <a:srgbClr val="FFFFFF"/>
                        </a:buClr>
                        <a:buSzPts val="800"/>
                        <a:buFont typeface="Calibri"/>
                        <a:buNone/>
                      </a:pPr>
                      <a:r>
                        <a:rPr lang="en" sz="900">
                          <a:solidFill>
                            <a:srgbClr val="FFFFFF"/>
                          </a:solidFill>
                          <a:latin typeface="Lexend"/>
                          <a:ea typeface="Lexend"/>
                          <a:cs typeface="Lexend"/>
                          <a:sym typeface="Lexend"/>
                        </a:rPr>
                        <a:t>Deadline</a:t>
                      </a:r>
                      <a:endParaRPr sz="900" u="none" strike="noStrike" cap="none">
                        <a:latin typeface="Lexend"/>
                        <a:ea typeface="Lexend"/>
                        <a:cs typeface="Lexend"/>
                        <a:sym typeface="Lexend"/>
                      </a:endParaRPr>
                    </a:p>
                  </a:txBody>
                  <a:tcPr marL="91450" marR="91450" marT="45725" marB="45725"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0E4174"/>
                    </a:solidFill>
                  </a:tcPr>
                </a:tc>
                <a:tc>
                  <a:txBody>
                    <a:bodyPr/>
                    <a:lstStyle/>
                    <a:p>
                      <a:pPr marL="0" marR="0" lvl="0" indent="0" algn="ctr" rtl="0">
                        <a:spcBef>
                          <a:spcPts val="0"/>
                        </a:spcBef>
                        <a:spcAft>
                          <a:spcPts val="0"/>
                        </a:spcAft>
                        <a:buClr>
                          <a:srgbClr val="FFFFFF"/>
                        </a:buClr>
                        <a:buSzPts val="800"/>
                        <a:buFont typeface="Calibri"/>
                        <a:buNone/>
                      </a:pPr>
                      <a:r>
                        <a:rPr lang="en" sz="900" u="none" strike="noStrike" cap="none">
                          <a:solidFill>
                            <a:srgbClr val="FFFFFF"/>
                          </a:solidFill>
                          <a:latin typeface="Lexend"/>
                          <a:ea typeface="Lexend"/>
                          <a:cs typeface="Lexend"/>
                          <a:sym typeface="Lexend"/>
                        </a:rPr>
                        <a:t>PIC</a:t>
                      </a:r>
                      <a:endParaRPr sz="900" u="none" strike="noStrike" cap="none">
                        <a:latin typeface="Lexend"/>
                        <a:ea typeface="Lexend"/>
                        <a:cs typeface="Lexend"/>
                        <a:sym typeface="Lexend"/>
                      </a:endParaRPr>
                    </a:p>
                  </a:txBody>
                  <a:tcPr marL="91450" marR="91450" marT="45725" marB="45725"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0E4174"/>
                    </a:solidFill>
                  </a:tcPr>
                </a:tc>
                <a:extLst>
                  <a:ext uri="{0D108BD9-81ED-4DB2-BD59-A6C34878D82A}">
                    <a16:rowId xmlns:a16="http://schemas.microsoft.com/office/drawing/2014/main" val="10000"/>
                  </a:ext>
                </a:extLst>
              </a:tr>
              <a:tr h="193650">
                <a:tc>
                  <a:txBody>
                    <a:bodyPr/>
                    <a:lstStyle/>
                    <a:p>
                      <a:pPr marL="0" lvl="0" indent="0" algn="ctr" rtl="0">
                        <a:spcBef>
                          <a:spcPts val="0"/>
                        </a:spcBef>
                        <a:spcAft>
                          <a:spcPts val="0"/>
                        </a:spcAft>
                        <a:buNone/>
                      </a:pPr>
                      <a:r>
                        <a:rPr lang="en" sz="800">
                          <a:solidFill>
                            <a:schemeClr val="dk1"/>
                          </a:solidFill>
                          <a:latin typeface="Lexend"/>
                          <a:ea typeface="Lexend"/>
                          <a:cs typeface="Lexend"/>
                          <a:sym typeface="Lexend"/>
                        </a:rPr>
                        <a:t>Tuyển core BigC</a:t>
                      </a:r>
                      <a:endParaRPr sz="800">
                        <a:solidFill>
                          <a:schemeClr val="dk1"/>
                        </a:solidFill>
                        <a:latin typeface="Lexend"/>
                        <a:ea typeface="Lexend"/>
                        <a:cs typeface="Lexend"/>
                        <a:sym typeface="Lexend"/>
                      </a:endParaRPr>
                    </a:p>
                  </a:txBody>
                  <a:tcPr marL="91450" marR="91450" marT="45725" marB="45725"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 sz="800">
                          <a:solidFill>
                            <a:schemeClr val="dk1"/>
                          </a:solidFill>
                          <a:latin typeface="Lexend"/>
                          <a:ea typeface="Lexend"/>
                          <a:cs typeface="Lexend"/>
                          <a:sym typeface="Lexend"/>
                        </a:rPr>
                        <a:t>- Lead đăng ký cắm chốt kv Long Biên chưa đạt kỳ vọng</a:t>
                      </a:r>
                      <a:endParaRPr sz="800">
                        <a:solidFill>
                          <a:schemeClr val="dk1"/>
                        </a:solidFill>
                        <a:latin typeface="Lexend"/>
                        <a:ea typeface="Lexend"/>
                        <a:cs typeface="Lexend"/>
                        <a:sym typeface="Lexend"/>
                      </a:endParaRPr>
                    </a:p>
                  </a:txBody>
                  <a:tcPr marL="91450" marR="91450" marT="45725" marB="45725"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 sz="800">
                          <a:solidFill>
                            <a:schemeClr val="dk1"/>
                          </a:solidFill>
                          <a:latin typeface="Lexend"/>
                          <a:ea typeface="Lexend"/>
                          <a:cs typeface="Lexend"/>
                          <a:sym typeface="Lexend"/>
                        </a:rPr>
                        <a:t>- Tăng tần suất + mở rộng danh sách push noti</a:t>
                      </a:r>
                      <a:endParaRPr sz="800">
                        <a:solidFill>
                          <a:schemeClr val="dk1"/>
                        </a:solidFill>
                        <a:latin typeface="Lexend"/>
                        <a:ea typeface="Lexend"/>
                        <a:cs typeface="Lexend"/>
                        <a:sym typeface="Lexend"/>
                      </a:endParaRPr>
                    </a:p>
                  </a:txBody>
                  <a:tcPr marL="91450" marR="91450" marT="45725" marB="45725"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None/>
                      </a:pPr>
                      <a:r>
                        <a:rPr lang="en" sz="800">
                          <a:solidFill>
                            <a:schemeClr val="dk1"/>
                          </a:solidFill>
                          <a:latin typeface="Lexend"/>
                          <a:ea typeface="Lexend"/>
                          <a:cs typeface="Lexend"/>
                          <a:sym typeface="Lexend"/>
                        </a:rPr>
                        <a:t>20/8</a:t>
                      </a:r>
                      <a:endParaRPr sz="800">
                        <a:solidFill>
                          <a:schemeClr val="dk1"/>
                        </a:solidFill>
                        <a:latin typeface="Lexend"/>
                        <a:ea typeface="Lexend"/>
                        <a:cs typeface="Lexend"/>
                        <a:sym typeface="Lexend"/>
                      </a:endParaRPr>
                    </a:p>
                  </a:txBody>
                  <a:tcPr marL="91450" marR="91450" marT="45725" marB="45725"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None/>
                      </a:pPr>
                      <a:r>
                        <a:rPr lang="en" sz="800">
                          <a:solidFill>
                            <a:schemeClr val="dk1"/>
                          </a:solidFill>
                          <a:latin typeface="Lexend"/>
                          <a:ea typeface="Lexend"/>
                          <a:cs typeface="Lexend"/>
                          <a:sym typeface="Lexend"/>
                        </a:rPr>
                        <a:t>Hoa</a:t>
                      </a:r>
                      <a:endParaRPr sz="800">
                        <a:solidFill>
                          <a:schemeClr val="dk1"/>
                        </a:solidFill>
                        <a:latin typeface="Lexend"/>
                        <a:ea typeface="Lexend"/>
                        <a:cs typeface="Lexend"/>
                        <a:sym typeface="Lexend"/>
                      </a:endParaRPr>
                    </a:p>
                  </a:txBody>
                  <a:tcPr marL="91450" marR="91450" marT="45725" marB="45725"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193650">
                <a:tc>
                  <a:txBody>
                    <a:bodyPr/>
                    <a:lstStyle/>
                    <a:p>
                      <a:pPr marL="0" lvl="0" indent="0" algn="ctr" rtl="0">
                        <a:spcBef>
                          <a:spcPts val="0"/>
                        </a:spcBef>
                        <a:spcAft>
                          <a:spcPts val="0"/>
                        </a:spcAft>
                        <a:buNone/>
                      </a:pPr>
                      <a:r>
                        <a:rPr lang="en" sz="800">
                          <a:solidFill>
                            <a:schemeClr val="dk1"/>
                          </a:solidFill>
                          <a:latin typeface="Lexend"/>
                          <a:ea typeface="Lexend"/>
                          <a:cs typeface="Lexend"/>
                          <a:sym typeface="Lexend"/>
                        </a:rPr>
                        <a:t>Minihub</a:t>
                      </a:r>
                      <a:endParaRPr sz="800">
                        <a:solidFill>
                          <a:schemeClr val="dk1"/>
                        </a:solidFill>
                        <a:latin typeface="Lexend"/>
                        <a:ea typeface="Lexend"/>
                        <a:cs typeface="Lexend"/>
                        <a:sym typeface="Lexend"/>
                      </a:endParaRPr>
                    </a:p>
                  </a:txBody>
                  <a:tcPr marL="91450" marR="91450" marT="45725" marB="45725"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 sz="800">
                          <a:solidFill>
                            <a:schemeClr val="dk1"/>
                          </a:solidFill>
                          <a:latin typeface="Lexend"/>
                          <a:ea typeface="Lexend"/>
                          <a:cs typeface="Lexend"/>
                          <a:sym typeface="Lexend"/>
                        </a:rPr>
                        <a:t>Các thông tin truyền thông chưa được hệ thống</a:t>
                      </a:r>
                      <a:endParaRPr sz="800">
                        <a:solidFill>
                          <a:schemeClr val="dk1"/>
                        </a:solidFill>
                        <a:latin typeface="Lexend"/>
                        <a:ea typeface="Lexend"/>
                        <a:cs typeface="Lexend"/>
                        <a:sym typeface="Lexend"/>
                      </a:endParaRPr>
                    </a:p>
                  </a:txBody>
                  <a:tcPr marL="91450" marR="91450" marT="45725" marB="45725"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 sz="800">
                          <a:solidFill>
                            <a:schemeClr val="dk1"/>
                          </a:solidFill>
                          <a:latin typeface="Lexend"/>
                          <a:ea typeface="Lexend"/>
                          <a:cs typeface="Lexend"/>
                          <a:sym typeface="Lexend"/>
                        </a:rPr>
                        <a:t>- Review lại các content có sẵn</a:t>
                      </a:r>
                      <a:endParaRPr sz="800">
                        <a:solidFill>
                          <a:schemeClr val="dk1"/>
                        </a:solidFill>
                        <a:latin typeface="Lexend"/>
                        <a:ea typeface="Lexend"/>
                        <a:cs typeface="Lexend"/>
                        <a:sym typeface="Lexend"/>
                      </a:endParaRPr>
                    </a:p>
                    <a:p>
                      <a:pPr marL="0" marR="0" lvl="0" indent="0" algn="l" rtl="0">
                        <a:spcBef>
                          <a:spcPts val="0"/>
                        </a:spcBef>
                        <a:spcAft>
                          <a:spcPts val="0"/>
                        </a:spcAft>
                        <a:buNone/>
                      </a:pPr>
                      <a:r>
                        <a:rPr lang="en" sz="800">
                          <a:solidFill>
                            <a:schemeClr val="dk1"/>
                          </a:solidFill>
                          <a:latin typeface="Lexend"/>
                          <a:ea typeface="Lexend"/>
                          <a:cs typeface="Lexend"/>
                          <a:sym typeface="Lexend"/>
                        </a:rPr>
                        <a:t>- Tạo content &amp; flow comms theo cycle &amp; các điểm chạm tài xế</a:t>
                      </a:r>
                      <a:endParaRPr sz="800">
                        <a:solidFill>
                          <a:schemeClr val="dk1"/>
                        </a:solidFill>
                        <a:latin typeface="Lexend"/>
                        <a:ea typeface="Lexend"/>
                        <a:cs typeface="Lexend"/>
                        <a:sym typeface="Lexend"/>
                      </a:endParaRPr>
                    </a:p>
                  </a:txBody>
                  <a:tcPr marL="91450" marR="91450" marT="45725" marB="45725"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None/>
                      </a:pPr>
                      <a:r>
                        <a:rPr lang="en" sz="800">
                          <a:solidFill>
                            <a:schemeClr val="dk1"/>
                          </a:solidFill>
                          <a:latin typeface="Lexend"/>
                          <a:ea typeface="Lexend"/>
                          <a:cs typeface="Lexend"/>
                          <a:sym typeface="Lexend"/>
                        </a:rPr>
                        <a:t>20/8</a:t>
                      </a:r>
                      <a:endParaRPr sz="800">
                        <a:solidFill>
                          <a:schemeClr val="dk1"/>
                        </a:solidFill>
                        <a:latin typeface="Lexend"/>
                        <a:ea typeface="Lexend"/>
                        <a:cs typeface="Lexend"/>
                        <a:sym typeface="Lexend"/>
                      </a:endParaRPr>
                    </a:p>
                  </a:txBody>
                  <a:tcPr marL="91450" marR="91450" marT="45725" marB="45725"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None/>
                      </a:pPr>
                      <a:r>
                        <a:rPr lang="en" sz="800">
                          <a:solidFill>
                            <a:schemeClr val="dk1"/>
                          </a:solidFill>
                          <a:latin typeface="Lexend"/>
                          <a:ea typeface="Lexend"/>
                          <a:cs typeface="Lexend"/>
                          <a:sym typeface="Lexend"/>
                        </a:rPr>
                        <a:t>Hoa/Khoa/Vân</a:t>
                      </a:r>
                      <a:endParaRPr sz="800">
                        <a:solidFill>
                          <a:schemeClr val="dk1"/>
                        </a:solidFill>
                        <a:latin typeface="Lexend"/>
                        <a:ea typeface="Lexend"/>
                        <a:cs typeface="Lexend"/>
                        <a:sym typeface="Lexend"/>
                      </a:endParaRPr>
                    </a:p>
                  </a:txBody>
                  <a:tcPr marL="91450" marR="91450" marT="45725" marB="45725"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bl>
          </a:graphicData>
        </a:graphic>
      </p:graphicFrame>
      <p:sp>
        <p:nvSpPr>
          <p:cNvPr id="1136" name="Google Shape;1136;p74"/>
          <p:cNvSpPr/>
          <p:nvPr/>
        </p:nvSpPr>
        <p:spPr>
          <a:xfrm>
            <a:off x="341775" y="2746810"/>
            <a:ext cx="4183800" cy="7449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900">
                <a:solidFill>
                  <a:srgbClr val="0E4174"/>
                </a:solidFill>
                <a:latin typeface="Lexend"/>
                <a:ea typeface="Lexend"/>
                <a:cs typeface="Lexend"/>
                <a:sym typeface="Lexend"/>
              </a:rPr>
              <a:t>- Tuyển core BigC lead đk đang chưa đạt kỳ vòng</a:t>
            </a:r>
            <a:endParaRPr sz="900">
              <a:solidFill>
                <a:srgbClr val="0E4174"/>
              </a:solidFill>
              <a:latin typeface="Lexend"/>
              <a:ea typeface="Lexend"/>
              <a:cs typeface="Lexend"/>
              <a:sym typeface="Lexend"/>
            </a:endParaRPr>
          </a:p>
        </p:txBody>
      </p:sp>
      <p:pic>
        <p:nvPicPr>
          <p:cNvPr id="1137" name="Google Shape;1137;p74"/>
          <p:cNvPicPr preferRelativeResize="0"/>
          <p:nvPr/>
        </p:nvPicPr>
        <p:blipFill>
          <a:blip r:embed="rId7">
            <a:alphaModFix/>
          </a:blip>
          <a:stretch>
            <a:fillRect/>
          </a:stretch>
        </p:blipFill>
        <p:spPr>
          <a:xfrm>
            <a:off x="4746534" y="916750"/>
            <a:ext cx="2164906" cy="1202726"/>
          </a:xfrm>
          <a:prstGeom prst="rect">
            <a:avLst/>
          </a:prstGeom>
          <a:noFill/>
          <a:ln>
            <a:noFill/>
          </a:ln>
        </p:spPr>
      </p:pic>
      <p:pic>
        <p:nvPicPr>
          <p:cNvPr id="1138" name="Google Shape;1138;p74"/>
          <p:cNvPicPr preferRelativeResize="0"/>
          <p:nvPr/>
        </p:nvPicPr>
        <p:blipFill>
          <a:blip r:embed="rId8">
            <a:alphaModFix/>
          </a:blip>
          <a:stretch>
            <a:fillRect/>
          </a:stretch>
        </p:blipFill>
        <p:spPr>
          <a:xfrm>
            <a:off x="4746274" y="2175263"/>
            <a:ext cx="1395793" cy="1395793"/>
          </a:xfrm>
          <a:prstGeom prst="rect">
            <a:avLst/>
          </a:prstGeom>
          <a:noFill/>
          <a:ln>
            <a:noFill/>
          </a:ln>
        </p:spPr>
      </p:pic>
      <p:pic>
        <p:nvPicPr>
          <p:cNvPr id="1139" name="Google Shape;1139;p74"/>
          <p:cNvPicPr preferRelativeResize="0"/>
          <p:nvPr/>
        </p:nvPicPr>
        <p:blipFill>
          <a:blip r:embed="rId9">
            <a:alphaModFix/>
          </a:blip>
          <a:stretch>
            <a:fillRect/>
          </a:stretch>
        </p:blipFill>
        <p:spPr>
          <a:xfrm>
            <a:off x="6965910" y="924515"/>
            <a:ext cx="1633700" cy="1202726"/>
          </a:xfrm>
          <a:prstGeom prst="rect">
            <a:avLst/>
          </a:prstGeom>
          <a:noFill/>
          <a:ln>
            <a:noFill/>
          </a:ln>
        </p:spPr>
      </p:pic>
      <p:pic>
        <p:nvPicPr>
          <p:cNvPr id="1140" name="Google Shape;1140;p74"/>
          <p:cNvPicPr preferRelativeResize="0"/>
          <p:nvPr/>
        </p:nvPicPr>
        <p:blipFill>
          <a:blip r:embed="rId10">
            <a:alphaModFix/>
          </a:blip>
          <a:stretch>
            <a:fillRect/>
          </a:stretch>
        </p:blipFill>
        <p:spPr>
          <a:xfrm>
            <a:off x="6222560" y="2173476"/>
            <a:ext cx="2512423" cy="139892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1145"/>
        <p:cNvGrpSpPr/>
        <p:nvPr/>
      </p:nvGrpSpPr>
      <p:grpSpPr>
        <a:xfrm>
          <a:off x="0" y="0"/>
          <a:ext cx="0" cy="0"/>
          <a:chOff x="0" y="0"/>
          <a:chExt cx="0" cy="0"/>
        </a:xfrm>
      </p:grpSpPr>
      <p:sp>
        <p:nvSpPr>
          <p:cNvPr id="1146" name="Google Shape;1146;p75"/>
          <p:cNvSpPr/>
          <p:nvPr/>
        </p:nvSpPr>
        <p:spPr>
          <a:xfrm>
            <a:off x="0" y="0"/>
            <a:ext cx="9144000" cy="73200"/>
          </a:xfrm>
          <a:prstGeom prst="rect">
            <a:avLst/>
          </a:prstGeom>
          <a:solidFill>
            <a:srgbClr val="FF7F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147" name="Google Shape;1147;p75" descr="preencoded.png"/>
          <p:cNvPicPr preferRelativeResize="0"/>
          <p:nvPr/>
        </p:nvPicPr>
        <p:blipFill rotWithShape="1">
          <a:blip r:embed="rId3">
            <a:alphaModFix/>
          </a:blip>
          <a:srcRect/>
          <a:stretch/>
        </p:blipFill>
        <p:spPr>
          <a:xfrm>
            <a:off x="365760" y="274320"/>
            <a:ext cx="274320" cy="274320"/>
          </a:xfrm>
          <a:prstGeom prst="rect">
            <a:avLst/>
          </a:prstGeom>
          <a:noFill/>
          <a:ln>
            <a:noFill/>
          </a:ln>
        </p:spPr>
      </p:pic>
      <p:sp>
        <p:nvSpPr>
          <p:cNvPr id="1148" name="Google Shape;1148;p75"/>
          <p:cNvSpPr/>
          <p:nvPr/>
        </p:nvSpPr>
        <p:spPr>
          <a:xfrm>
            <a:off x="731520" y="201168"/>
            <a:ext cx="7315200" cy="411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E4174"/>
              </a:buClr>
              <a:buSzPts val="2200"/>
              <a:buFont typeface="Calibri"/>
              <a:buNone/>
            </a:pPr>
            <a:r>
              <a:rPr lang="en" sz="2200" b="1">
                <a:solidFill>
                  <a:srgbClr val="0E4174"/>
                </a:solidFill>
                <a:latin typeface="Lexend"/>
                <a:ea typeface="Lexend"/>
                <a:cs typeface="Lexend"/>
                <a:sym typeface="Lexend"/>
              </a:rPr>
              <a:t>Event &amp; Partnership</a:t>
            </a:r>
            <a:r>
              <a:rPr lang="en" sz="2200" b="1" i="0" u="none" strike="noStrike" cap="none">
                <a:solidFill>
                  <a:srgbClr val="0E4174"/>
                </a:solidFill>
                <a:latin typeface="Lexend"/>
                <a:ea typeface="Lexend"/>
                <a:cs typeface="Lexend"/>
                <a:sym typeface="Lexend"/>
              </a:rPr>
              <a:t>: Highlights &amp; Lowlights</a:t>
            </a:r>
            <a:endParaRPr sz="2200" b="1" i="0" u="none" strike="noStrike" cap="none">
              <a:solidFill>
                <a:schemeClr val="dk1"/>
              </a:solidFill>
              <a:latin typeface="Lexend"/>
              <a:ea typeface="Lexend"/>
              <a:cs typeface="Lexend"/>
              <a:sym typeface="Lexend"/>
            </a:endParaRPr>
          </a:p>
        </p:txBody>
      </p:sp>
      <p:sp>
        <p:nvSpPr>
          <p:cNvPr id="1149" name="Google Shape;1149;p75"/>
          <p:cNvSpPr/>
          <p:nvPr/>
        </p:nvSpPr>
        <p:spPr>
          <a:xfrm>
            <a:off x="731520" y="594360"/>
            <a:ext cx="7315200" cy="274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1000"/>
              <a:buFont typeface="Calibri"/>
              <a:buNone/>
            </a:pPr>
            <a:r>
              <a:rPr lang="en" sz="1000" i="1" u="none" strike="noStrike" cap="none">
                <a:solidFill>
                  <a:srgbClr val="64748B"/>
                </a:solidFill>
                <a:latin typeface="Lexend"/>
                <a:ea typeface="Lexend"/>
                <a:cs typeface="Lexend"/>
                <a:sym typeface="Lexend"/>
              </a:rPr>
              <a:t>Trọng tâm tuần — Kết quả thực thi &amp; Kế hoạch hành động</a:t>
            </a:r>
            <a:endParaRPr sz="1000" i="0" u="none" strike="noStrike" cap="none">
              <a:solidFill>
                <a:schemeClr val="dk1"/>
              </a:solidFill>
              <a:latin typeface="Lexend"/>
              <a:ea typeface="Lexend"/>
              <a:cs typeface="Lexend"/>
              <a:sym typeface="Lexend"/>
            </a:endParaRPr>
          </a:p>
        </p:txBody>
      </p:sp>
      <p:cxnSp>
        <p:nvCxnSpPr>
          <p:cNvPr id="1150" name="Google Shape;1150;p75"/>
          <p:cNvCxnSpPr/>
          <p:nvPr/>
        </p:nvCxnSpPr>
        <p:spPr>
          <a:xfrm>
            <a:off x="365760" y="868680"/>
            <a:ext cx="8412600" cy="0"/>
          </a:xfrm>
          <a:prstGeom prst="straightConnector1">
            <a:avLst/>
          </a:prstGeom>
          <a:noFill/>
          <a:ln w="9525" cap="flat" cmpd="sng">
            <a:solidFill>
              <a:srgbClr val="E2E8F0"/>
            </a:solidFill>
            <a:prstDash val="solid"/>
            <a:round/>
            <a:headEnd type="none" w="sm" len="sm"/>
            <a:tailEnd type="none" w="sm" len="sm"/>
          </a:ln>
        </p:spPr>
      </p:cxnSp>
      <p:sp>
        <p:nvSpPr>
          <p:cNvPr id="1151" name="Google Shape;1151;p75"/>
          <p:cNvSpPr/>
          <p:nvPr/>
        </p:nvSpPr>
        <p:spPr>
          <a:xfrm>
            <a:off x="144875" y="960900"/>
            <a:ext cx="5071200" cy="1713900"/>
          </a:xfrm>
          <a:prstGeom prst="rect">
            <a:avLst/>
          </a:prstGeom>
          <a:solidFill>
            <a:srgbClr val="FFFFFF"/>
          </a:solidFill>
          <a:ln w="9525" cap="flat" cmpd="sng">
            <a:solidFill>
              <a:srgbClr val="E2E8F0"/>
            </a:solidFill>
            <a:prstDash val="solid"/>
            <a:round/>
            <a:headEnd type="none" w="sm" len="sm"/>
            <a:tailEnd type="none" w="sm" len="sm"/>
          </a:ln>
          <a:effectLst>
            <a:outerShdw blurRad="76200" dist="25400" dir="8100000" algn="bl" rotWithShape="0">
              <a:srgbClr val="000000">
                <a:alpha val="102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1152" name="Google Shape;1152;p75"/>
          <p:cNvSpPr/>
          <p:nvPr/>
        </p:nvSpPr>
        <p:spPr>
          <a:xfrm>
            <a:off x="144875" y="960900"/>
            <a:ext cx="59100" cy="1713900"/>
          </a:xfrm>
          <a:prstGeom prst="rect">
            <a:avLst/>
          </a:prstGeom>
          <a:solidFill>
            <a:srgbClr val="10B9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153" name="Google Shape;1153;p75" descr="preencoded.png"/>
          <p:cNvPicPr preferRelativeResize="0"/>
          <p:nvPr/>
        </p:nvPicPr>
        <p:blipFill rotWithShape="1">
          <a:blip r:embed="rId4">
            <a:alphaModFix/>
          </a:blip>
          <a:srcRect/>
          <a:stretch/>
        </p:blipFill>
        <p:spPr>
          <a:xfrm>
            <a:off x="336169" y="1022729"/>
            <a:ext cx="227052" cy="227052"/>
          </a:xfrm>
          <a:prstGeom prst="rect">
            <a:avLst/>
          </a:prstGeom>
          <a:noFill/>
          <a:ln>
            <a:noFill/>
          </a:ln>
        </p:spPr>
      </p:pic>
      <p:sp>
        <p:nvSpPr>
          <p:cNvPr id="1154" name="Google Shape;1154;p75"/>
          <p:cNvSpPr/>
          <p:nvPr/>
        </p:nvSpPr>
        <p:spPr>
          <a:xfrm>
            <a:off x="603965" y="981514"/>
            <a:ext cx="2869200" cy="309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0B981"/>
              </a:buClr>
              <a:buSzPts val="1200"/>
              <a:buFont typeface="Calibri"/>
              <a:buNone/>
            </a:pPr>
            <a:r>
              <a:rPr lang="en" sz="1200" b="1" i="0" u="none" strike="noStrike" cap="none">
                <a:solidFill>
                  <a:srgbClr val="10B981"/>
                </a:solidFill>
                <a:latin typeface="Lexend"/>
                <a:ea typeface="Lexend"/>
                <a:cs typeface="Lexend"/>
                <a:sym typeface="Lexend"/>
              </a:rPr>
              <a:t>HIGHLIGHTS</a:t>
            </a:r>
            <a:endParaRPr sz="1200" b="1" i="0" u="none" strike="noStrike" cap="none">
              <a:solidFill>
                <a:schemeClr val="dk1"/>
              </a:solidFill>
              <a:latin typeface="Lexend"/>
              <a:ea typeface="Lexend"/>
              <a:cs typeface="Lexend"/>
              <a:sym typeface="Lexend"/>
            </a:endParaRPr>
          </a:p>
        </p:txBody>
      </p:sp>
      <p:sp>
        <p:nvSpPr>
          <p:cNvPr id="1155" name="Google Shape;1155;p75"/>
          <p:cNvSpPr/>
          <p:nvPr/>
        </p:nvSpPr>
        <p:spPr>
          <a:xfrm>
            <a:off x="341775" y="1280025"/>
            <a:ext cx="4745700" cy="13734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1100" b="1">
                <a:solidFill>
                  <a:srgbClr val="F56C1F"/>
                </a:solidFill>
                <a:latin typeface="Lexend"/>
                <a:ea typeface="Lexend"/>
                <a:cs typeface="Lexend"/>
                <a:sym typeface="Lexend"/>
              </a:rPr>
              <a:t>1. Event:</a:t>
            </a:r>
            <a:endParaRPr sz="1100" b="1">
              <a:solidFill>
                <a:srgbClr val="F56C1F"/>
              </a:solidFill>
              <a:latin typeface="Lexend"/>
              <a:ea typeface="Lexend"/>
              <a:cs typeface="Lexend"/>
              <a:sym typeface="Lexend"/>
            </a:endParaRPr>
          </a:p>
          <a:p>
            <a:pPr marL="0" lvl="0" indent="0" algn="l" rtl="0">
              <a:spcBef>
                <a:spcPts val="0"/>
              </a:spcBef>
              <a:spcAft>
                <a:spcPts val="0"/>
              </a:spcAft>
              <a:buNone/>
            </a:pPr>
            <a:r>
              <a:rPr lang="en" sz="1100">
                <a:solidFill>
                  <a:schemeClr val="dk1"/>
                </a:solidFill>
                <a:latin typeface="Lexend"/>
                <a:ea typeface="Lexend"/>
                <a:cs typeface="Lexend"/>
                <a:sym typeface="Lexend"/>
              </a:rPr>
              <a:t>- Triển khai hoạt động pre-event Sinh nhật: CHL &amp; minigame online “Chuyển ý tưởng - Ghép tương lai”</a:t>
            </a:r>
            <a:endParaRPr sz="1100">
              <a:solidFill>
                <a:schemeClr val="dk1"/>
              </a:solidFill>
              <a:latin typeface="Lexend"/>
              <a:ea typeface="Lexend"/>
              <a:cs typeface="Lexend"/>
              <a:sym typeface="Lexend"/>
            </a:endParaRPr>
          </a:p>
          <a:p>
            <a:pPr marL="0" lvl="0" indent="0" algn="l" rtl="0">
              <a:spcBef>
                <a:spcPts val="0"/>
              </a:spcBef>
              <a:spcAft>
                <a:spcPts val="0"/>
              </a:spcAft>
              <a:buNone/>
            </a:pPr>
            <a:endParaRPr sz="1100">
              <a:solidFill>
                <a:schemeClr val="dk1"/>
              </a:solidFill>
              <a:latin typeface="Lexend"/>
              <a:ea typeface="Lexend"/>
              <a:cs typeface="Lexend"/>
              <a:sym typeface="Lexend"/>
            </a:endParaRPr>
          </a:p>
          <a:p>
            <a:pPr marL="0" lvl="0" indent="0" algn="l" rtl="0">
              <a:spcBef>
                <a:spcPts val="0"/>
              </a:spcBef>
              <a:spcAft>
                <a:spcPts val="0"/>
              </a:spcAft>
              <a:buNone/>
            </a:pPr>
            <a:r>
              <a:rPr lang="en" sz="1100" b="1">
                <a:solidFill>
                  <a:srgbClr val="F56C1F"/>
                </a:solidFill>
                <a:latin typeface="Lexend"/>
                <a:ea typeface="Lexend"/>
                <a:cs typeface="Lexend"/>
                <a:sym typeface="Lexend"/>
              </a:rPr>
              <a:t>2. Partnership: </a:t>
            </a:r>
            <a:endParaRPr sz="1100">
              <a:solidFill>
                <a:schemeClr val="dk1"/>
              </a:solidFill>
              <a:latin typeface="Lexend"/>
              <a:ea typeface="Lexend"/>
              <a:cs typeface="Lexend"/>
              <a:sym typeface="Lexend"/>
            </a:endParaRPr>
          </a:p>
          <a:p>
            <a:pPr marL="0" lvl="0" indent="0" algn="l" rtl="0">
              <a:spcBef>
                <a:spcPts val="0"/>
              </a:spcBef>
              <a:spcAft>
                <a:spcPts val="0"/>
              </a:spcAft>
              <a:buNone/>
            </a:pPr>
            <a:r>
              <a:rPr lang="en" sz="1100">
                <a:solidFill>
                  <a:schemeClr val="dk1"/>
                </a:solidFill>
                <a:latin typeface="Lexend"/>
                <a:ea typeface="Lexend"/>
                <a:cs typeface="Lexend"/>
                <a:sym typeface="Lexend"/>
              </a:rPr>
              <a:t>- Done review hợp đồng mượn xe Dat Bike</a:t>
            </a:r>
            <a:endParaRPr sz="1100">
              <a:solidFill>
                <a:schemeClr val="dk1"/>
              </a:solidFill>
              <a:latin typeface="Lexend"/>
              <a:ea typeface="Lexend"/>
              <a:cs typeface="Lexend"/>
              <a:sym typeface="Lexend"/>
            </a:endParaRPr>
          </a:p>
          <a:p>
            <a:pPr marL="0" lvl="0" indent="0" algn="l" rtl="0">
              <a:spcBef>
                <a:spcPts val="0"/>
              </a:spcBef>
              <a:spcAft>
                <a:spcPts val="0"/>
              </a:spcAft>
              <a:buNone/>
            </a:pPr>
            <a:r>
              <a:rPr lang="en" sz="1100">
                <a:solidFill>
                  <a:schemeClr val="dk1"/>
                </a:solidFill>
                <a:latin typeface="Lexend"/>
                <a:ea typeface="Lexend"/>
                <a:cs typeface="Lexend"/>
                <a:sym typeface="Lexend"/>
              </a:rPr>
              <a:t>- Bàn giao xe Selex cho KOC mượn và hỗ trợ thông tin cho KOC tư vấn txe đang quan tâm NW</a:t>
            </a:r>
            <a:endParaRPr sz="1100">
              <a:solidFill>
                <a:schemeClr val="dk1"/>
              </a:solidFill>
              <a:latin typeface="Lexend"/>
              <a:ea typeface="Lexend"/>
              <a:cs typeface="Lexend"/>
              <a:sym typeface="Lexend"/>
            </a:endParaRPr>
          </a:p>
        </p:txBody>
      </p:sp>
      <p:sp>
        <p:nvSpPr>
          <p:cNvPr id="1156" name="Google Shape;1156;p75"/>
          <p:cNvSpPr/>
          <p:nvPr/>
        </p:nvSpPr>
        <p:spPr>
          <a:xfrm>
            <a:off x="174325" y="3607564"/>
            <a:ext cx="8778300" cy="1467900"/>
          </a:xfrm>
          <a:prstGeom prst="rect">
            <a:avLst/>
          </a:prstGeom>
          <a:solidFill>
            <a:srgbClr val="FFFFFF"/>
          </a:solidFill>
          <a:ln w="9525" cap="flat" cmpd="sng">
            <a:solidFill>
              <a:srgbClr val="E2E8F0"/>
            </a:solidFill>
            <a:prstDash val="solid"/>
            <a:round/>
            <a:headEnd type="none" w="sm" len="sm"/>
            <a:tailEnd type="none" w="sm" len="sm"/>
          </a:ln>
          <a:effectLst>
            <a:outerShdw blurRad="76200" dist="25400" dir="8100000" algn="bl" rotWithShape="0">
              <a:srgbClr val="000000">
                <a:alpha val="102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7" name="Google Shape;1157;p75"/>
          <p:cNvSpPr/>
          <p:nvPr/>
        </p:nvSpPr>
        <p:spPr>
          <a:xfrm>
            <a:off x="147675" y="3607564"/>
            <a:ext cx="59100" cy="1467900"/>
          </a:xfrm>
          <a:prstGeom prst="rect">
            <a:avLst/>
          </a:prstGeom>
          <a:solidFill>
            <a:srgbClr val="0E41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158" name="Google Shape;1158;p75" descr="preencoded.png"/>
          <p:cNvPicPr preferRelativeResize="0"/>
          <p:nvPr/>
        </p:nvPicPr>
        <p:blipFill rotWithShape="1">
          <a:blip r:embed="rId5">
            <a:alphaModFix/>
          </a:blip>
          <a:srcRect/>
          <a:stretch/>
        </p:blipFill>
        <p:spPr>
          <a:xfrm>
            <a:off x="357286" y="3726647"/>
            <a:ext cx="182880" cy="206415"/>
          </a:xfrm>
          <a:prstGeom prst="rect">
            <a:avLst/>
          </a:prstGeom>
          <a:noFill/>
          <a:ln>
            <a:noFill/>
          </a:ln>
        </p:spPr>
      </p:pic>
      <p:sp>
        <p:nvSpPr>
          <p:cNvPr id="1159" name="Google Shape;1159;p75"/>
          <p:cNvSpPr/>
          <p:nvPr/>
        </p:nvSpPr>
        <p:spPr>
          <a:xfrm>
            <a:off x="613318" y="3685364"/>
            <a:ext cx="3657600" cy="288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E4174"/>
              </a:buClr>
              <a:buSzPts val="1100"/>
              <a:buFont typeface="Calibri"/>
              <a:buNone/>
            </a:pPr>
            <a:r>
              <a:rPr lang="en" sz="1100" b="1">
                <a:solidFill>
                  <a:srgbClr val="0E4174"/>
                </a:solidFill>
                <a:latin typeface="Lexend"/>
                <a:ea typeface="Lexend"/>
                <a:cs typeface="Lexend"/>
                <a:sym typeface="Lexend"/>
              </a:rPr>
              <a:t>NEXT ACTION: </a:t>
            </a:r>
            <a:r>
              <a:rPr lang="en" sz="1100" i="1">
                <a:solidFill>
                  <a:srgbClr val="0E4174"/>
                </a:solidFill>
                <a:latin typeface="Lexend"/>
                <a:ea typeface="Lexend"/>
                <a:cs typeface="Lexend"/>
                <a:sym typeface="Lexend"/>
              </a:rPr>
              <a:t>(upcoming activities)</a:t>
            </a:r>
            <a:endParaRPr sz="1100" i="1" u="none" strike="noStrike" cap="none">
              <a:solidFill>
                <a:schemeClr val="dk1"/>
              </a:solidFill>
              <a:latin typeface="Lexend"/>
              <a:ea typeface="Lexend"/>
              <a:cs typeface="Lexend"/>
              <a:sym typeface="Lexend"/>
            </a:endParaRPr>
          </a:p>
        </p:txBody>
      </p:sp>
      <p:sp>
        <p:nvSpPr>
          <p:cNvPr id="1160" name="Google Shape;1160;p75"/>
          <p:cNvSpPr/>
          <p:nvPr/>
        </p:nvSpPr>
        <p:spPr>
          <a:xfrm>
            <a:off x="5486395" y="45700"/>
            <a:ext cx="3657600" cy="27420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94A3B8"/>
              </a:buClr>
              <a:buSzPts val="700"/>
              <a:buFont typeface="Calibri"/>
              <a:buNone/>
            </a:pPr>
            <a:r>
              <a:rPr lang="en" sz="700" b="0" i="1" u="none" strike="noStrike" cap="none">
                <a:solidFill>
                  <a:srgbClr val="94A3B8"/>
                </a:solidFill>
                <a:latin typeface="Calibri"/>
                <a:ea typeface="Calibri"/>
                <a:cs typeface="Calibri"/>
                <a:sym typeface="Calibri"/>
              </a:rPr>
              <a:t>Ahamove — Driver Management | Confidential</a:t>
            </a:r>
            <a:endParaRPr sz="700" b="0" i="0" u="none" strike="noStrike" cap="none">
              <a:solidFill>
                <a:schemeClr val="dk1"/>
              </a:solidFill>
              <a:latin typeface="Calibri"/>
              <a:ea typeface="Calibri"/>
              <a:cs typeface="Calibri"/>
              <a:sym typeface="Calibri"/>
            </a:endParaRPr>
          </a:p>
        </p:txBody>
      </p:sp>
      <p:graphicFrame>
        <p:nvGraphicFramePr>
          <p:cNvPr id="1161" name="Google Shape;1161;p75"/>
          <p:cNvGraphicFramePr/>
          <p:nvPr/>
        </p:nvGraphicFramePr>
        <p:xfrm>
          <a:off x="369736" y="3976130"/>
          <a:ext cx="3000000" cy="3000000"/>
        </p:xfrm>
        <a:graphic>
          <a:graphicData uri="http://schemas.openxmlformats.org/drawingml/2006/table">
            <a:tbl>
              <a:tblPr>
                <a:noFill/>
                <a:tableStyleId>{BD4DB973-2F49-4540-A1CC-0EE3EA8BBFB3}</a:tableStyleId>
              </a:tblPr>
              <a:tblGrid>
                <a:gridCol w="1269650">
                  <a:extLst>
                    <a:ext uri="{9D8B030D-6E8A-4147-A177-3AD203B41FA5}">
                      <a16:colId xmlns:a16="http://schemas.microsoft.com/office/drawing/2014/main" val="20000"/>
                    </a:ext>
                  </a:extLst>
                </a:gridCol>
                <a:gridCol w="1899700">
                  <a:extLst>
                    <a:ext uri="{9D8B030D-6E8A-4147-A177-3AD203B41FA5}">
                      <a16:colId xmlns:a16="http://schemas.microsoft.com/office/drawing/2014/main" val="20001"/>
                    </a:ext>
                  </a:extLst>
                </a:gridCol>
                <a:gridCol w="2510850">
                  <a:extLst>
                    <a:ext uri="{9D8B030D-6E8A-4147-A177-3AD203B41FA5}">
                      <a16:colId xmlns:a16="http://schemas.microsoft.com/office/drawing/2014/main" val="20002"/>
                    </a:ext>
                  </a:extLst>
                </a:gridCol>
                <a:gridCol w="832750">
                  <a:extLst>
                    <a:ext uri="{9D8B030D-6E8A-4147-A177-3AD203B41FA5}">
                      <a16:colId xmlns:a16="http://schemas.microsoft.com/office/drawing/2014/main" val="20003"/>
                    </a:ext>
                  </a:extLst>
                </a:gridCol>
                <a:gridCol w="1055550">
                  <a:extLst>
                    <a:ext uri="{9D8B030D-6E8A-4147-A177-3AD203B41FA5}">
                      <a16:colId xmlns:a16="http://schemas.microsoft.com/office/drawing/2014/main" val="20004"/>
                    </a:ext>
                  </a:extLst>
                </a:gridCol>
                <a:gridCol w="844100">
                  <a:extLst>
                    <a:ext uri="{9D8B030D-6E8A-4147-A177-3AD203B41FA5}">
                      <a16:colId xmlns:a16="http://schemas.microsoft.com/office/drawing/2014/main" val="20005"/>
                    </a:ext>
                  </a:extLst>
                </a:gridCol>
              </a:tblGrid>
              <a:tr h="317725">
                <a:tc>
                  <a:txBody>
                    <a:bodyPr/>
                    <a:lstStyle/>
                    <a:p>
                      <a:pPr marL="0" marR="0" lvl="0" indent="0" algn="ctr" rtl="0">
                        <a:spcBef>
                          <a:spcPts val="0"/>
                        </a:spcBef>
                        <a:spcAft>
                          <a:spcPts val="0"/>
                        </a:spcAft>
                        <a:buClr>
                          <a:srgbClr val="FFFFFF"/>
                        </a:buClr>
                        <a:buSzPts val="800"/>
                        <a:buFont typeface="Calibri"/>
                        <a:buNone/>
                      </a:pPr>
                      <a:r>
                        <a:rPr lang="en" sz="900">
                          <a:solidFill>
                            <a:srgbClr val="FFFFFF"/>
                          </a:solidFill>
                          <a:latin typeface="Lexend"/>
                          <a:ea typeface="Lexend"/>
                          <a:cs typeface="Lexend"/>
                          <a:sym typeface="Lexend"/>
                        </a:rPr>
                        <a:t>Hạng mục</a:t>
                      </a:r>
                      <a:endParaRPr sz="900" u="none" strike="noStrike" cap="none">
                        <a:latin typeface="Lexend"/>
                        <a:ea typeface="Lexend"/>
                        <a:cs typeface="Lexend"/>
                        <a:sym typeface="Lexend"/>
                      </a:endParaRPr>
                    </a:p>
                  </a:txBody>
                  <a:tcPr marL="91450" marR="91450" marT="45725" marB="45725"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0E4174"/>
                    </a:solidFill>
                  </a:tcPr>
                </a:tc>
                <a:tc>
                  <a:txBody>
                    <a:bodyPr/>
                    <a:lstStyle/>
                    <a:p>
                      <a:pPr marL="0" marR="0" lvl="0" indent="0" algn="ctr" rtl="0">
                        <a:spcBef>
                          <a:spcPts val="0"/>
                        </a:spcBef>
                        <a:spcAft>
                          <a:spcPts val="0"/>
                        </a:spcAft>
                        <a:buNone/>
                      </a:pPr>
                      <a:r>
                        <a:rPr lang="en" sz="900">
                          <a:solidFill>
                            <a:srgbClr val="FFFFFF"/>
                          </a:solidFill>
                          <a:latin typeface="Lexend"/>
                          <a:ea typeface="Lexend"/>
                          <a:cs typeface="Lexend"/>
                          <a:sym typeface="Lexend"/>
                        </a:rPr>
                        <a:t>Nguyên nhân/Bối cảnh</a:t>
                      </a:r>
                      <a:endParaRPr sz="900" u="none" strike="noStrike" cap="none">
                        <a:solidFill>
                          <a:srgbClr val="FFFFFF"/>
                        </a:solidFill>
                        <a:latin typeface="Lexend"/>
                        <a:ea typeface="Lexend"/>
                        <a:cs typeface="Lexend"/>
                        <a:sym typeface="Lexend"/>
                      </a:endParaRPr>
                    </a:p>
                  </a:txBody>
                  <a:tcPr marL="91450" marR="91450" marT="45725" marB="45725"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0E4174"/>
                    </a:solidFill>
                  </a:tcPr>
                </a:tc>
                <a:tc>
                  <a:txBody>
                    <a:bodyPr/>
                    <a:lstStyle/>
                    <a:p>
                      <a:pPr marL="0" marR="0" lvl="0" indent="0" algn="ctr" rtl="0">
                        <a:spcBef>
                          <a:spcPts val="0"/>
                        </a:spcBef>
                        <a:spcAft>
                          <a:spcPts val="0"/>
                        </a:spcAft>
                        <a:buClr>
                          <a:srgbClr val="FFFFFF"/>
                        </a:buClr>
                        <a:buSzPts val="800"/>
                        <a:buFont typeface="Calibri"/>
                        <a:buNone/>
                      </a:pPr>
                      <a:r>
                        <a:rPr lang="en" sz="900" u="none" strike="noStrike" cap="none">
                          <a:solidFill>
                            <a:srgbClr val="FFFFFF"/>
                          </a:solidFill>
                          <a:latin typeface="Lexend"/>
                          <a:ea typeface="Lexend"/>
                          <a:cs typeface="Lexend"/>
                          <a:sym typeface="Lexend"/>
                        </a:rPr>
                        <a:t>Hành động</a:t>
                      </a:r>
                      <a:endParaRPr sz="900" u="none" strike="noStrike" cap="none">
                        <a:latin typeface="Lexend"/>
                        <a:ea typeface="Lexend"/>
                        <a:cs typeface="Lexend"/>
                        <a:sym typeface="Lexend"/>
                      </a:endParaRPr>
                    </a:p>
                  </a:txBody>
                  <a:tcPr marL="91450" marR="91450" marT="45725" marB="45725"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0E4174"/>
                    </a:solidFill>
                  </a:tcPr>
                </a:tc>
                <a:tc>
                  <a:txBody>
                    <a:bodyPr/>
                    <a:lstStyle/>
                    <a:p>
                      <a:pPr marL="0" marR="0" lvl="0" indent="0" algn="ctr" rtl="0">
                        <a:spcBef>
                          <a:spcPts val="0"/>
                        </a:spcBef>
                        <a:spcAft>
                          <a:spcPts val="0"/>
                        </a:spcAft>
                        <a:buClr>
                          <a:srgbClr val="FFFFFF"/>
                        </a:buClr>
                        <a:buSzPts val="800"/>
                        <a:buFont typeface="Calibri"/>
                        <a:buNone/>
                      </a:pPr>
                      <a:r>
                        <a:rPr lang="en" sz="900">
                          <a:solidFill>
                            <a:srgbClr val="FFFFFF"/>
                          </a:solidFill>
                          <a:latin typeface="Lexend"/>
                          <a:ea typeface="Lexend"/>
                          <a:cs typeface="Lexend"/>
                          <a:sym typeface="Lexend"/>
                        </a:rPr>
                        <a:t>Deadline</a:t>
                      </a:r>
                      <a:endParaRPr sz="900" u="none" strike="noStrike" cap="none">
                        <a:latin typeface="Lexend"/>
                        <a:ea typeface="Lexend"/>
                        <a:cs typeface="Lexend"/>
                        <a:sym typeface="Lexend"/>
                      </a:endParaRPr>
                    </a:p>
                  </a:txBody>
                  <a:tcPr marL="91450" marR="91450" marT="45725" marB="45725"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0E4174"/>
                    </a:solidFill>
                  </a:tcPr>
                </a:tc>
                <a:tc>
                  <a:txBody>
                    <a:bodyPr/>
                    <a:lstStyle/>
                    <a:p>
                      <a:pPr marL="0" marR="0" lvl="0" indent="0" algn="ctr" rtl="0">
                        <a:spcBef>
                          <a:spcPts val="0"/>
                        </a:spcBef>
                        <a:spcAft>
                          <a:spcPts val="0"/>
                        </a:spcAft>
                        <a:buClr>
                          <a:srgbClr val="FFFFFF"/>
                        </a:buClr>
                        <a:buSzPts val="800"/>
                        <a:buFont typeface="Calibri"/>
                        <a:buNone/>
                      </a:pPr>
                      <a:r>
                        <a:rPr lang="en" sz="900" u="none" strike="noStrike" cap="none">
                          <a:solidFill>
                            <a:srgbClr val="FFFFFF"/>
                          </a:solidFill>
                          <a:latin typeface="Lexend"/>
                          <a:ea typeface="Lexend"/>
                          <a:cs typeface="Lexend"/>
                          <a:sym typeface="Lexend"/>
                        </a:rPr>
                        <a:t>PIC</a:t>
                      </a:r>
                      <a:endParaRPr sz="900" u="none" strike="noStrike" cap="none">
                        <a:latin typeface="Lexend"/>
                        <a:ea typeface="Lexend"/>
                        <a:cs typeface="Lexend"/>
                        <a:sym typeface="Lexend"/>
                      </a:endParaRPr>
                    </a:p>
                  </a:txBody>
                  <a:tcPr marL="91450" marR="91450" marT="45725" marB="45725"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0E4174"/>
                    </a:solidFill>
                  </a:tcPr>
                </a:tc>
                <a:tc>
                  <a:txBody>
                    <a:bodyPr/>
                    <a:lstStyle/>
                    <a:p>
                      <a:pPr marL="0" marR="0" lvl="0" indent="0" algn="ctr" rtl="0">
                        <a:spcBef>
                          <a:spcPts val="0"/>
                        </a:spcBef>
                        <a:spcAft>
                          <a:spcPts val="0"/>
                        </a:spcAft>
                        <a:buNone/>
                      </a:pPr>
                      <a:r>
                        <a:rPr lang="en" sz="900">
                          <a:solidFill>
                            <a:srgbClr val="FFFFFF"/>
                          </a:solidFill>
                          <a:latin typeface="Lexend"/>
                          <a:ea typeface="Lexend"/>
                          <a:cs typeface="Lexend"/>
                          <a:sym typeface="Lexend"/>
                        </a:rPr>
                        <a:t>Need to support</a:t>
                      </a:r>
                      <a:endParaRPr sz="900" u="none" strike="noStrike" cap="none">
                        <a:solidFill>
                          <a:srgbClr val="FFFFFF"/>
                        </a:solidFill>
                        <a:latin typeface="Lexend"/>
                        <a:ea typeface="Lexend"/>
                        <a:cs typeface="Lexend"/>
                        <a:sym typeface="Lexend"/>
                      </a:endParaRPr>
                    </a:p>
                  </a:txBody>
                  <a:tcPr marL="91450" marR="91450" marT="45725" marB="45725"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0E4174"/>
                    </a:solidFill>
                  </a:tcPr>
                </a:tc>
                <a:extLst>
                  <a:ext uri="{0D108BD9-81ED-4DB2-BD59-A6C34878D82A}">
                    <a16:rowId xmlns:a16="http://schemas.microsoft.com/office/drawing/2014/main" val="10000"/>
                  </a:ext>
                </a:extLst>
              </a:tr>
              <a:tr h="185325">
                <a:tc>
                  <a:txBody>
                    <a:bodyPr/>
                    <a:lstStyle/>
                    <a:p>
                      <a:pPr marL="0" marR="0" lvl="0" indent="0" algn="ctr" rtl="0">
                        <a:spcBef>
                          <a:spcPts val="0"/>
                        </a:spcBef>
                        <a:spcAft>
                          <a:spcPts val="0"/>
                        </a:spcAft>
                        <a:buNone/>
                      </a:pPr>
                      <a:r>
                        <a:rPr lang="en" sz="800">
                          <a:solidFill>
                            <a:schemeClr val="dk1"/>
                          </a:solidFill>
                          <a:latin typeface="Lexend"/>
                          <a:ea typeface="Lexend"/>
                          <a:cs typeface="Lexend"/>
                          <a:sym typeface="Lexend"/>
                        </a:rPr>
                        <a:t>Sinh nhật AHM 11 tuổi</a:t>
                      </a:r>
                      <a:endParaRPr sz="800">
                        <a:solidFill>
                          <a:schemeClr val="dk1"/>
                        </a:solidFill>
                        <a:latin typeface="Lexend"/>
                        <a:ea typeface="Lexend"/>
                        <a:cs typeface="Lexend"/>
                        <a:sym typeface="Lexend"/>
                      </a:endParaRPr>
                    </a:p>
                  </a:txBody>
                  <a:tcPr marL="91450" marR="91450" marT="45725" marB="45725"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None/>
                      </a:pPr>
                      <a:endParaRPr sz="800">
                        <a:solidFill>
                          <a:schemeClr val="dk1"/>
                        </a:solidFill>
                        <a:latin typeface="Lexend"/>
                        <a:ea typeface="Lexend"/>
                        <a:cs typeface="Lexend"/>
                        <a:sym typeface="Lexend"/>
                      </a:endParaRPr>
                    </a:p>
                  </a:txBody>
                  <a:tcPr marL="91450" marR="91450" marT="45725" marB="45725"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 sz="800">
                          <a:solidFill>
                            <a:schemeClr val="dk1"/>
                          </a:solidFill>
                          <a:latin typeface="Lexend"/>
                          <a:ea typeface="Lexend"/>
                          <a:cs typeface="Lexend"/>
                          <a:sym typeface="Lexend"/>
                        </a:rPr>
                        <a:t>Livestream Sinh nhật Ahamove (21/8)</a:t>
                      </a:r>
                      <a:endParaRPr sz="800">
                        <a:solidFill>
                          <a:schemeClr val="dk1"/>
                        </a:solidFill>
                        <a:latin typeface="Lexend"/>
                        <a:ea typeface="Lexend"/>
                        <a:cs typeface="Lexend"/>
                        <a:sym typeface="Lexend"/>
                      </a:endParaRPr>
                    </a:p>
                  </a:txBody>
                  <a:tcPr marL="91450" marR="91450" marT="45725" marB="45725"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None/>
                      </a:pPr>
                      <a:r>
                        <a:rPr lang="en" sz="800">
                          <a:solidFill>
                            <a:schemeClr val="dk1"/>
                          </a:solidFill>
                          <a:latin typeface="Lexend"/>
                          <a:ea typeface="Lexend"/>
                          <a:cs typeface="Lexend"/>
                          <a:sym typeface="Lexend"/>
                        </a:rPr>
                        <a:t>21/8</a:t>
                      </a:r>
                      <a:endParaRPr sz="800" u="none" strike="noStrike" cap="none">
                        <a:solidFill>
                          <a:schemeClr val="dk1"/>
                        </a:solidFill>
                        <a:latin typeface="Lexend"/>
                        <a:ea typeface="Lexend"/>
                        <a:cs typeface="Lexend"/>
                        <a:sym typeface="Lexend"/>
                      </a:endParaRPr>
                    </a:p>
                  </a:txBody>
                  <a:tcPr marL="91450" marR="91450" marT="45725" marB="45725"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800">
                          <a:solidFill>
                            <a:schemeClr val="dk1"/>
                          </a:solidFill>
                          <a:latin typeface="Lexend"/>
                          <a:ea typeface="Lexend"/>
                          <a:cs typeface="Lexend"/>
                          <a:sym typeface="Lexend"/>
                        </a:rPr>
                        <a:t>Khoa/Vân/Thúy</a:t>
                      </a:r>
                      <a:endParaRPr sz="800">
                        <a:solidFill>
                          <a:schemeClr val="dk1"/>
                        </a:solidFill>
                        <a:latin typeface="Lexend"/>
                        <a:ea typeface="Lexend"/>
                        <a:cs typeface="Lexend"/>
                        <a:sym typeface="Lexend"/>
                      </a:endParaRPr>
                    </a:p>
                  </a:txBody>
                  <a:tcPr marL="91450" marR="91450" marT="45725" marB="45725"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800">
                          <a:solidFill>
                            <a:schemeClr val="dk1"/>
                          </a:solidFill>
                          <a:latin typeface="Lexend"/>
                          <a:ea typeface="Lexend"/>
                          <a:cs typeface="Lexend"/>
                          <a:sym typeface="Lexend"/>
                        </a:rPr>
                        <a:t>DM/GR Team</a:t>
                      </a:r>
                      <a:endParaRPr sz="800">
                        <a:solidFill>
                          <a:schemeClr val="dk1"/>
                        </a:solidFill>
                        <a:latin typeface="Lexend"/>
                        <a:ea typeface="Lexend"/>
                        <a:cs typeface="Lexend"/>
                        <a:sym typeface="Lexend"/>
                      </a:endParaRPr>
                    </a:p>
                  </a:txBody>
                  <a:tcPr marL="91450" marR="91450" marT="45725" marB="45725"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397175">
                <a:tc>
                  <a:txBody>
                    <a:bodyPr/>
                    <a:lstStyle/>
                    <a:p>
                      <a:pPr marL="0" marR="0" lvl="0" indent="0" algn="ctr" rtl="0">
                        <a:spcBef>
                          <a:spcPts val="0"/>
                        </a:spcBef>
                        <a:spcAft>
                          <a:spcPts val="0"/>
                        </a:spcAft>
                        <a:buClr>
                          <a:schemeClr val="dk1"/>
                        </a:buClr>
                        <a:buSzPts val="1100"/>
                        <a:buFont typeface="Arial"/>
                        <a:buNone/>
                      </a:pPr>
                      <a:r>
                        <a:rPr lang="en" sz="800">
                          <a:solidFill>
                            <a:schemeClr val="dk1"/>
                          </a:solidFill>
                          <a:latin typeface="Lexend"/>
                          <a:ea typeface="Lexend"/>
                          <a:cs typeface="Lexend"/>
                          <a:sym typeface="Lexend"/>
                        </a:rPr>
                        <a:t>Thuê xe điện AIZEN</a:t>
                      </a:r>
                      <a:endParaRPr sz="800">
                        <a:solidFill>
                          <a:schemeClr val="dk1"/>
                        </a:solidFill>
                        <a:latin typeface="Lexend"/>
                        <a:ea typeface="Lexend"/>
                        <a:cs typeface="Lexend"/>
                        <a:sym typeface="Lexend"/>
                      </a:endParaRPr>
                    </a:p>
                  </a:txBody>
                  <a:tcPr marL="91450" marR="91450" marT="45725" marB="45725"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 sz="800">
                          <a:solidFill>
                            <a:schemeClr val="dk1"/>
                          </a:solidFill>
                          <a:latin typeface="Lexend"/>
                          <a:ea typeface="Lexend"/>
                          <a:cs typeface="Lexend"/>
                          <a:sym typeface="Lexend"/>
                        </a:rPr>
                        <a:t>Chương trình mới adapt cho SGN &amp; cần txe hiểu rõ hơn về ctrinh</a:t>
                      </a:r>
                      <a:endParaRPr sz="800">
                        <a:solidFill>
                          <a:schemeClr val="dk1"/>
                        </a:solidFill>
                        <a:latin typeface="Lexend"/>
                        <a:ea typeface="Lexend"/>
                        <a:cs typeface="Lexend"/>
                        <a:sym typeface="Lexend"/>
                      </a:endParaRPr>
                    </a:p>
                  </a:txBody>
                  <a:tcPr marL="91450" marR="91450" marT="45725" marB="45725"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 sz="800">
                          <a:solidFill>
                            <a:schemeClr val="dk1"/>
                          </a:solidFill>
                          <a:latin typeface="Lexend"/>
                          <a:ea typeface="Lexend"/>
                          <a:cs typeface="Lexend"/>
                          <a:sym typeface="Lexend"/>
                        </a:rPr>
                        <a:t>- Tách blog riêng truyền thông về chương trình</a:t>
                      </a:r>
                      <a:endParaRPr sz="800">
                        <a:solidFill>
                          <a:schemeClr val="dk1"/>
                        </a:solidFill>
                        <a:latin typeface="Lexend"/>
                        <a:ea typeface="Lexend"/>
                        <a:cs typeface="Lexend"/>
                        <a:sym typeface="Lexend"/>
                      </a:endParaRPr>
                    </a:p>
                    <a:p>
                      <a:pPr marL="0" marR="0" lvl="0" indent="0" algn="l" rtl="0">
                        <a:spcBef>
                          <a:spcPts val="0"/>
                        </a:spcBef>
                        <a:spcAft>
                          <a:spcPts val="0"/>
                        </a:spcAft>
                        <a:buNone/>
                      </a:pPr>
                      <a:r>
                        <a:rPr lang="en" sz="800">
                          <a:solidFill>
                            <a:schemeClr val="dk1"/>
                          </a:solidFill>
                          <a:latin typeface="Lexend"/>
                          <a:ea typeface="Lexend"/>
                          <a:cs typeface="Lexend"/>
                          <a:sym typeface="Lexend"/>
                        </a:rPr>
                        <a:t>- Seeding về chtrinh để training &amp; tăng awareness</a:t>
                      </a:r>
                      <a:endParaRPr sz="800">
                        <a:solidFill>
                          <a:schemeClr val="dk1"/>
                        </a:solidFill>
                        <a:latin typeface="Lexend"/>
                        <a:ea typeface="Lexend"/>
                        <a:cs typeface="Lexend"/>
                        <a:sym typeface="Lexend"/>
                      </a:endParaRPr>
                    </a:p>
                  </a:txBody>
                  <a:tcPr marL="91450" marR="91450" marT="45725" marB="45725"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Clr>
                          <a:schemeClr val="dk1"/>
                        </a:buClr>
                        <a:buSzPts val="1100"/>
                        <a:buFont typeface="Arial"/>
                        <a:buNone/>
                      </a:pPr>
                      <a:r>
                        <a:rPr lang="en" sz="800">
                          <a:solidFill>
                            <a:schemeClr val="dk1"/>
                          </a:solidFill>
                          <a:latin typeface="Lexend"/>
                          <a:ea typeface="Lexend"/>
                          <a:cs typeface="Lexend"/>
                          <a:sym typeface="Lexend"/>
                        </a:rPr>
                        <a:t>21/8</a:t>
                      </a:r>
                      <a:endParaRPr sz="800">
                        <a:solidFill>
                          <a:schemeClr val="dk1"/>
                        </a:solidFill>
                        <a:latin typeface="Lexend"/>
                        <a:ea typeface="Lexend"/>
                        <a:cs typeface="Lexend"/>
                        <a:sym typeface="Lexend"/>
                      </a:endParaRPr>
                    </a:p>
                  </a:txBody>
                  <a:tcPr marL="91450" marR="91450" marT="45725" marB="45725"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64748B"/>
                        </a:buClr>
                        <a:buSzPts val="800"/>
                        <a:buFont typeface="Calibri"/>
                        <a:buNone/>
                      </a:pPr>
                      <a:r>
                        <a:rPr lang="en" sz="800">
                          <a:solidFill>
                            <a:schemeClr val="dk1"/>
                          </a:solidFill>
                          <a:latin typeface="Lexend"/>
                          <a:ea typeface="Lexend"/>
                          <a:cs typeface="Lexend"/>
                          <a:sym typeface="Lexend"/>
                        </a:rPr>
                        <a:t>Khoa/Vân</a:t>
                      </a:r>
                      <a:endParaRPr sz="800" u="none" strike="noStrike" cap="none">
                        <a:solidFill>
                          <a:schemeClr val="dk1"/>
                        </a:solidFill>
                        <a:latin typeface="Lexend"/>
                        <a:ea typeface="Lexend"/>
                        <a:cs typeface="Lexend"/>
                        <a:sym typeface="Lexend"/>
                      </a:endParaRPr>
                    </a:p>
                  </a:txBody>
                  <a:tcPr marL="91450" marR="91450" marT="45725" marB="45725"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None/>
                      </a:pPr>
                      <a:endParaRPr sz="800">
                        <a:solidFill>
                          <a:schemeClr val="dk1"/>
                        </a:solidFill>
                        <a:latin typeface="Lexend"/>
                        <a:ea typeface="Lexend"/>
                        <a:cs typeface="Lexend"/>
                        <a:sym typeface="Lexend"/>
                      </a:endParaRPr>
                    </a:p>
                  </a:txBody>
                  <a:tcPr marL="91450" marR="91450" marT="45725" marB="45725" anchor="ctr">
                    <a:lnL w="9525" cap="flat" cmpd="sng">
                      <a:solidFill>
                        <a:srgbClr val="E2E8F0"/>
                      </a:solidFill>
                      <a:prstDash val="solid"/>
                      <a:round/>
                      <a:headEnd type="none" w="sm" len="sm"/>
                      <a:tailEnd type="none" w="sm" len="sm"/>
                    </a:lnL>
                    <a:lnR w="9525" cap="flat" cmpd="sng">
                      <a:solidFill>
                        <a:srgbClr val="E2E8F0"/>
                      </a:solidFill>
                      <a:prstDash val="solid"/>
                      <a:round/>
                      <a:headEnd type="none" w="sm" len="sm"/>
                      <a:tailEnd type="none" w="sm" len="sm"/>
                    </a:lnR>
                    <a:lnT w="9525" cap="flat" cmpd="sng">
                      <a:solidFill>
                        <a:srgbClr val="E2E8F0"/>
                      </a:solidFill>
                      <a:prstDash val="solid"/>
                      <a:round/>
                      <a:headEnd type="none" w="sm" len="sm"/>
                      <a:tailEnd type="none" w="sm" len="sm"/>
                    </a:lnT>
                    <a:lnB w="9525" cap="flat" cmpd="sng">
                      <a:solidFill>
                        <a:srgbClr val="E2E8F0"/>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bl>
          </a:graphicData>
        </a:graphic>
      </p:graphicFrame>
      <p:sp>
        <p:nvSpPr>
          <p:cNvPr id="1162" name="Google Shape;1162;p75"/>
          <p:cNvSpPr/>
          <p:nvPr/>
        </p:nvSpPr>
        <p:spPr>
          <a:xfrm>
            <a:off x="144875" y="2727775"/>
            <a:ext cx="5071200" cy="825600"/>
          </a:xfrm>
          <a:prstGeom prst="rect">
            <a:avLst/>
          </a:prstGeom>
          <a:solidFill>
            <a:srgbClr val="FFFFFF"/>
          </a:solidFill>
          <a:ln w="9525" cap="flat" cmpd="sng">
            <a:solidFill>
              <a:srgbClr val="E2E8F0"/>
            </a:solidFill>
            <a:prstDash val="solid"/>
            <a:round/>
            <a:headEnd type="none" w="sm" len="sm"/>
            <a:tailEnd type="none" w="sm" len="sm"/>
          </a:ln>
          <a:effectLst>
            <a:outerShdw blurRad="76200" dist="25400" dir="8100000" algn="bl" rotWithShape="0">
              <a:srgbClr val="000000">
                <a:alpha val="102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3" name="Google Shape;1163;p75"/>
          <p:cNvSpPr/>
          <p:nvPr/>
        </p:nvSpPr>
        <p:spPr>
          <a:xfrm>
            <a:off x="144875" y="2727831"/>
            <a:ext cx="59100" cy="825600"/>
          </a:xfrm>
          <a:prstGeom prst="rect">
            <a:avLst/>
          </a:prstGeom>
          <a:solidFill>
            <a:srgbClr val="EF44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4" name="Google Shape;1164;p75"/>
          <p:cNvSpPr/>
          <p:nvPr/>
        </p:nvSpPr>
        <p:spPr>
          <a:xfrm>
            <a:off x="625384" y="2827452"/>
            <a:ext cx="2869200" cy="1518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F4444"/>
              </a:buClr>
              <a:buSzPts val="1200"/>
              <a:buFont typeface="Calibri"/>
              <a:buNone/>
            </a:pPr>
            <a:r>
              <a:rPr lang="en" sz="1200" b="1" i="0" u="none" strike="noStrike" cap="none">
                <a:solidFill>
                  <a:srgbClr val="EF4444"/>
                </a:solidFill>
                <a:latin typeface="Lexend"/>
                <a:ea typeface="Lexend"/>
                <a:cs typeface="Lexend"/>
                <a:sym typeface="Lexend"/>
              </a:rPr>
              <a:t>LOWLIGHTS</a:t>
            </a:r>
            <a:endParaRPr sz="1200" b="1" i="0" u="none" strike="noStrike" cap="none">
              <a:solidFill>
                <a:schemeClr val="dk1"/>
              </a:solidFill>
              <a:latin typeface="Lexend"/>
              <a:ea typeface="Lexend"/>
              <a:cs typeface="Lexend"/>
              <a:sym typeface="Lexend"/>
            </a:endParaRPr>
          </a:p>
        </p:txBody>
      </p:sp>
      <p:pic>
        <p:nvPicPr>
          <p:cNvPr id="1165" name="Google Shape;1165;p75" descr="preencoded.png"/>
          <p:cNvPicPr preferRelativeResize="0"/>
          <p:nvPr/>
        </p:nvPicPr>
        <p:blipFill rotWithShape="1">
          <a:blip r:embed="rId6">
            <a:alphaModFix/>
          </a:blip>
          <a:srcRect/>
          <a:stretch/>
        </p:blipFill>
        <p:spPr>
          <a:xfrm>
            <a:off x="382347" y="2803825"/>
            <a:ext cx="182875" cy="199054"/>
          </a:xfrm>
          <a:prstGeom prst="rect">
            <a:avLst/>
          </a:prstGeom>
          <a:noFill/>
          <a:ln>
            <a:noFill/>
          </a:ln>
        </p:spPr>
      </p:pic>
      <p:sp>
        <p:nvSpPr>
          <p:cNvPr id="1166" name="Google Shape;1166;p75"/>
          <p:cNvSpPr/>
          <p:nvPr/>
        </p:nvSpPr>
        <p:spPr>
          <a:xfrm>
            <a:off x="356324" y="3002950"/>
            <a:ext cx="4787700" cy="565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1000">
                <a:solidFill>
                  <a:schemeClr val="dk1"/>
                </a:solidFill>
                <a:latin typeface="Lexend"/>
                <a:ea typeface="Lexend"/>
                <a:cs typeface="Lexend"/>
                <a:sym typeface="Lexend"/>
              </a:rPr>
              <a:t>- </a:t>
            </a:r>
            <a:r>
              <a:rPr lang="en" sz="1100">
                <a:solidFill>
                  <a:schemeClr val="dk1"/>
                </a:solidFill>
                <a:latin typeface="Lexend"/>
                <a:ea typeface="Lexend"/>
                <a:cs typeface="Lexend"/>
                <a:sym typeface="Lexend"/>
              </a:rPr>
              <a:t>Tiến độ deal quyền lợi Bảo hiểm cho txe chậm</a:t>
            </a:r>
            <a:endParaRPr sz="1100">
              <a:solidFill>
                <a:schemeClr val="dk1"/>
              </a:solidFill>
              <a:latin typeface="Lexend"/>
              <a:ea typeface="Lexend"/>
              <a:cs typeface="Lexend"/>
              <a:sym typeface="Lexend"/>
            </a:endParaRPr>
          </a:p>
          <a:p>
            <a:pPr marL="0" lvl="0" indent="0" algn="l" rtl="0">
              <a:spcBef>
                <a:spcPts val="0"/>
              </a:spcBef>
              <a:spcAft>
                <a:spcPts val="0"/>
              </a:spcAft>
              <a:buNone/>
            </a:pPr>
            <a:r>
              <a:rPr lang="en" sz="1100">
                <a:solidFill>
                  <a:schemeClr val="dk1"/>
                </a:solidFill>
                <a:latin typeface="Lexend"/>
                <a:ea typeface="Lexend"/>
                <a:cs typeface="Lexend"/>
                <a:sym typeface="Lexend"/>
              </a:rPr>
              <a:t>- Các data update chuyển đổi từ partner còn rời rạc </a:t>
            </a:r>
            <a:endParaRPr sz="1100">
              <a:solidFill>
                <a:schemeClr val="dk1"/>
              </a:solidFill>
              <a:latin typeface="Lexend"/>
              <a:ea typeface="Lexend"/>
              <a:cs typeface="Lexend"/>
              <a:sym typeface="Lexend"/>
            </a:endParaRPr>
          </a:p>
        </p:txBody>
      </p:sp>
      <p:pic>
        <p:nvPicPr>
          <p:cNvPr id="1167" name="Google Shape;1167;p75"/>
          <p:cNvPicPr preferRelativeResize="0"/>
          <p:nvPr/>
        </p:nvPicPr>
        <p:blipFill>
          <a:blip r:embed="rId7">
            <a:alphaModFix/>
          </a:blip>
          <a:stretch>
            <a:fillRect/>
          </a:stretch>
        </p:blipFill>
        <p:spPr>
          <a:xfrm>
            <a:off x="5307325" y="958875"/>
            <a:ext cx="1274025" cy="1274025"/>
          </a:xfrm>
          <a:prstGeom prst="rect">
            <a:avLst/>
          </a:prstGeom>
          <a:noFill/>
          <a:ln>
            <a:noFill/>
          </a:ln>
        </p:spPr>
      </p:pic>
      <p:pic>
        <p:nvPicPr>
          <p:cNvPr id="1168" name="Google Shape;1168;p75"/>
          <p:cNvPicPr preferRelativeResize="0"/>
          <p:nvPr/>
        </p:nvPicPr>
        <p:blipFill>
          <a:blip r:embed="rId8">
            <a:alphaModFix/>
          </a:blip>
          <a:stretch>
            <a:fillRect/>
          </a:stretch>
        </p:blipFill>
        <p:spPr>
          <a:xfrm>
            <a:off x="6632219" y="958875"/>
            <a:ext cx="2150105" cy="2593875"/>
          </a:xfrm>
          <a:prstGeom prst="rect">
            <a:avLst/>
          </a:prstGeom>
          <a:noFill/>
          <a:ln>
            <a:noFill/>
          </a:ln>
        </p:spPr>
      </p:pic>
      <p:pic>
        <p:nvPicPr>
          <p:cNvPr id="1169" name="Google Shape;1169;p75"/>
          <p:cNvPicPr preferRelativeResize="0"/>
          <p:nvPr/>
        </p:nvPicPr>
        <p:blipFill>
          <a:blip r:embed="rId9">
            <a:alphaModFix/>
          </a:blip>
          <a:stretch>
            <a:fillRect/>
          </a:stretch>
        </p:blipFill>
        <p:spPr>
          <a:xfrm>
            <a:off x="5307325" y="2278737"/>
            <a:ext cx="1274013" cy="1274013"/>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1174"/>
        <p:cNvGrpSpPr/>
        <p:nvPr/>
      </p:nvGrpSpPr>
      <p:grpSpPr>
        <a:xfrm>
          <a:off x="0" y="0"/>
          <a:ext cx="0" cy="0"/>
          <a:chOff x="0" y="0"/>
          <a:chExt cx="0" cy="0"/>
        </a:xfrm>
      </p:grpSpPr>
      <p:sp>
        <p:nvSpPr>
          <p:cNvPr id="1175" name="Google Shape;1175;p76"/>
          <p:cNvSpPr/>
          <p:nvPr/>
        </p:nvSpPr>
        <p:spPr>
          <a:xfrm>
            <a:off x="0" y="0"/>
            <a:ext cx="9144000" cy="73200"/>
          </a:xfrm>
          <a:prstGeom prst="rect">
            <a:avLst/>
          </a:prstGeom>
          <a:solidFill>
            <a:srgbClr val="FF7F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176" name="Google Shape;1176;p76" descr="preencoded.png"/>
          <p:cNvPicPr preferRelativeResize="0"/>
          <p:nvPr/>
        </p:nvPicPr>
        <p:blipFill rotWithShape="1">
          <a:blip r:embed="rId3">
            <a:alphaModFix/>
          </a:blip>
          <a:srcRect/>
          <a:stretch/>
        </p:blipFill>
        <p:spPr>
          <a:xfrm>
            <a:off x="365760" y="274320"/>
            <a:ext cx="274320" cy="274320"/>
          </a:xfrm>
          <a:prstGeom prst="rect">
            <a:avLst/>
          </a:prstGeom>
          <a:noFill/>
          <a:ln>
            <a:noFill/>
          </a:ln>
        </p:spPr>
      </p:pic>
      <p:sp>
        <p:nvSpPr>
          <p:cNvPr id="1177" name="Google Shape;1177;p76"/>
          <p:cNvSpPr/>
          <p:nvPr/>
        </p:nvSpPr>
        <p:spPr>
          <a:xfrm>
            <a:off x="731520" y="201168"/>
            <a:ext cx="7315200" cy="411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E4174"/>
              </a:buClr>
              <a:buSzPts val="2200"/>
              <a:buFont typeface="Calibri"/>
              <a:buNone/>
            </a:pPr>
            <a:r>
              <a:rPr lang="en" sz="2200" b="1">
                <a:solidFill>
                  <a:srgbClr val="0E4174"/>
                </a:solidFill>
                <a:latin typeface="Lexend"/>
                <a:ea typeface="Lexend"/>
                <a:cs typeface="Lexend"/>
                <a:sym typeface="Lexend"/>
              </a:rPr>
              <a:t>HIGHLIGHTS DRIVER’s VOICES</a:t>
            </a:r>
            <a:r>
              <a:rPr lang="en" sz="2200" b="1" i="0" u="none" strike="noStrike" cap="none">
                <a:solidFill>
                  <a:srgbClr val="0E4174"/>
                </a:solidFill>
                <a:latin typeface="Lexend"/>
                <a:ea typeface="Lexend"/>
                <a:cs typeface="Lexend"/>
                <a:sym typeface="Lexend"/>
              </a:rPr>
              <a:t> &amp; E</a:t>
            </a:r>
            <a:r>
              <a:rPr lang="en" sz="2200" b="1">
                <a:solidFill>
                  <a:srgbClr val="0E4174"/>
                </a:solidFill>
                <a:latin typeface="Lexend"/>
                <a:ea typeface="Lexend"/>
                <a:cs typeface="Lexend"/>
                <a:sym typeface="Lexend"/>
              </a:rPr>
              <a:t>VENT </a:t>
            </a:r>
            <a:r>
              <a:rPr lang="en" sz="2200" b="1" i="0" u="none" strike="noStrike" cap="none">
                <a:solidFill>
                  <a:srgbClr val="0E4174"/>
                </a:solidFill>
                <a:latin typeface="Lexend"/>
                <a:ea typeface="Lexend"/>
                <a:cs typeface="Lexend"/>
                <a:sym typeface="Lexend"/>
              </a:rPr>
              <a:t>- </a:t>
            </a:r>
            <a:r>
              <a:rPr lang="en" sz="2200" b="1">
                <a:solidFill>
                  <a:srgbClr val="F56C1F"/>
                </a:solidFill>
                <a:latin typeface="Lexend"/>
                <a:ea typeface="Lexend"/>
                <a:cs typeface="Lexend"/>
                <a:sym typeface="Lexend"/>
              </a:rPr>
              <a:t>NW</a:t>
            </a:r>
            <a:endParaRPr sz="2200" b="1" i="0" u="none" strike="noStrike" cap="none">
              <a:solidFill>
                <a:srgbClr val="F56C1F"/>
              </a:solidFill>
              <a:latin typeface="Lexend"/>
              <a:ea typeface="Lexend"/>
              <a:cs typeface="Lexend"/>
              <a:sym typeface="Lexend"/>
            </a:endParaRPr>
          </a:p>
        </p:txBody>
      </p:sp>
      <p:sp>
        <p:nvSpPr>
          <p:cNvPr id="1178" name="Google Shape;1178;p76"/>
          <p:cNvSpPr/>
          <p:nvPr/>
        </p:nvSpPr>
        <p:spPr>
          <a:xfrm>
            <a:off x="731520" y="594360"/>
            <a:ext cx="7315200" cy="274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1000"/>
              <a:buFont typeface="Calibri"/>
              <a:buNone/>
            </a:pPr>
            <a:r>
              <a:rPr lang="en" sz="1000" i="1">
                <a:solidFill>
                  <a:srgbClr val="64748B"/>
                </a:solidFill>
                <a:latin typeface="Lexend"/>
                <a:ea typeface="Lexend"/>
                <a:cs typeface="Lexend"/>
                <a:sym typeface="Lexend"/>
              </a:rPr>
              <a:t>Driver’s Voices - Community - Event Highlight</a:t>
            </a:r>
            <a:endParaRPr sz="1000" i="0" u="none" strike="noStrike" cap="none">
              <a:solidFill>
                <a:schemeClr val="dk1"/>
              </a:solidFill>
              <a:latin typeface="Lexend"/>
              <a:ea typeface="Lexend"/>
              <a:cs typeface="Lexend"/>
              <a:sym typeface="Lexend"/>
            </a:endParaRPr>
          </a:p>
        </p:txBody>
      </p:sp>
      <p:cxnSp>
        <p:nvCxnSpPr>
          <p:cNvPr id="1179" name="Google Shape;1179;p76"/>
          <p:cNvCxnSpPr/>
          <p:nvPr/>
        </p:nvCxnSpPr>
        <p:spPr>
          <a:xfrm>
            <a:off x="365760" y="868680"/>
            <a:ext cx="8412600" cy="0"/>
          </a:xfrm>
          <a:prstGeom prst="straightConnector1">
            <a:avLst/>
          </a:prstGeom>
          <a:noFill/>
          <a:ln w="9525" cap="flat" cmpd="sng">
            <a:solidFill>
              <a:srgbClr val="E2E8F0"/>
            </a:solidFill>
            <a:prstDash val="solid"/>
            <a:round/>
            <a:headEnd type="none" w="sm" len="sm"/>
            <a:tailEnd type="none" w="sm" len="sm"/>
          </a:ln>
        </p:spPr>
      </p:cxnSp>
      <p:sp>
        <p:nvSpPr>
          <p:cNvPr id="1180" name="Google Shape;1180;p76"/>
          <p:cNvSpPr/>
          <p:nvPr/>
        </p:nvSpPr>
        <p:spPr>
          <a:xfrm>
            <a:off x="5486395" y="45700"/>
            <a:ext cx="3657600" cy="27420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rgbClr val="94A3B8"/>
              </a:buClr>
              <a:buSzPts val="700"/>
              <a:buFont typeface="Calibri"/>
              <a:buNone/>
            </a:pPr>
            <a:r>
              <a:rPr lang="en" sz="700" b="0" i="1" u="none" strike="noStrike" cap="none">
                <a:solidFill>
                  <a:srgbClr val="94A3B8"/>
                </a:solidFill>
                <a:latin typeface="Calibri"/>
                <a:ea typeface="Calibri"/>
                <a:cs typeface="Calibri"/>
                <a:sym typeface="Calibri"/>
              </a:rPr>
              <a:t>Ahamove — Driver Management | Confidential</a:t>
            </a:r>
            <a:endParaRPr sz="700" b="0" i="0" u="none" strike="noStrike" cap="none">
              <a:solidFill>
                <a:schemeClr val="dk1"/>
              </a:solidFill>
              <a:latin typeface="Calibri"/>
              <a:ea typeface="Calibri"/>
              <a:cs typeface="Calibri"/>
              <a:sym typeface="Calibri"/>
            </a:endParaRPr>
          </a:p>
        </p:txBody>
      </p:sp>
      <p:sp>
        <p:nvSpPr>
          <p:cNvPr id="1181" name="Google Shape;1181;p76"/>
          <p:cNvSpPr/>
          <p:nvPr/>
        </p:nvSpPr>
        <p:spPr>
          <a:xfrm>
            <a:off x="324850" y="980750"/>
            <a:ext cx="8453400" cy="1158000"/>
          </a:xfrm>
          <a:prstGeom prst="rect">
            <a:avLst/>
          </a:prstGeom>
          <a:solidFill>
            <a:srgbClr val="D2E0F9"/>
          </a:solidFill>
          <a:ln w="9525" cap="flat" cmpd="sng">
            <a:solidFill>
              <a:srgbClr val="E2E8F0"/>
            </a:solidFill>
            <a:prstDash val="solid"/>
            <a:round/>
            <a:headEnd type="none" w="sm" len="sm"/>
            <a:tailEnd type="none" w="sm" len="sm"/>
          </a:ln>
          <a:effectLst>
            <a:outerShdw blurRad="76200" dist="25400" dir="8100000" algn="bl" rotWithShape="0">
              <a:srgbClr val="000000">
                <a:alpha val="10200"/>
              </a:srgbClr>
            </a:outerShdw>
          </a:effectLst>
        </p:spPr>
        <p:txBody>
          <a:bodyPr spcFirstLastPara="1" wrap="square" lIns="91425" tIns="91425" rIns="91425" bIns="91425" anchor="ctr" anchorCtr="0">
            <a:noAutofit/>
          </a:bodyPr>
          <a:lstStyle/>
          <a:p>
            <a:pPr marL="457200" lvl="0" indent="-298450" algn="l" rtl="0">
              <a:lnSpc>
                <a:spcPct val="115000"/>
              </a:lnSpc>
              <a:spcBef>
                <a:spcPts val="0"/>
              </a:spcBef>
              <a:spcAft>
                <a:spcPts val="0"/>
              </a:spcAft>
              <a:buClr>
                <a:srgbClr val="083F89"/>
              </a:buClr>
              <a:buSzPts val="1100"/>
              <a:buFont typeface="Lexend"/>
              <a:buAutoNum type="arabicPeriod"/>
            </a:pPr>
            <a:r>
              <a:rPr lang="en" sz="1100" b="1">
                <a:solidFill>
                  <a:srgbClr val="083F89"/>
                </a:solidFill>
                <a:latin typeface="Lexend"/>
                <a:ea typeface="Lexend"/>
                <a:cs typeface="Lexend"/>
                <a:sym typeface="Lexend"/>
              </a:rPr>
              <a:t>Tự động bật dịch vụ 2h-4h cho nhóm tài xế: </a:t>
            </a:r>
            <a:r>
              <a:rPr lang="en" sz="1100">
                <a:solidFill>
                  <a:srgbClr val="083F89"/>
                </a:solidFill>
                <a:latin typeface="Lexend"/>
                <a:ea typeface="Lexend"/>
                <a:cs typeface="Lexend"/>
                <a:sym typeface="Lexend"/>
              </a:rPr>
              <a:t>Tài xế khá gay gắt, liên hệ tổng đài thắc mắc, bức xúc đăng bài trên các hội nhóm</a:t>
            </a:r>
            <a:br>
              <a:rPr lang="en" sz="1100">
                <a:solidFill>
                  <a:srgbClr val="083F89"/>
                </a:solidFill>
                <a:latin typeface="Lexend"/>
                <a:ea typeface="Lexend"/>
                <a:cs typeface="Lexend"/>
                <a:sym typeface="Lexend"/>
              </a:rPr>
            </a:br>
            <a:endParaRPr sz="1100">
              <a:solidFill>
                <a:srgbClr val="083F89"/>
              </a:solidFill>
              <a:latin typeface="Lexend"/>
              <a:ea typeface="Lexend"/>
              <a:cs typeface="Lexend"/>
              <a:sym typeface="Lexend"/>
            </a:endParaRPr>
          </a:p>
          <a:p>
            <a:pPr marL="457200" lvl="0" indent="-298450" algn="l" rtl="0">
              <a:lnSpc>
                <a:spcPct val="115000"/>
              </a:lnSpc>
              <a:spcBef>
                <a:spcPts val="0"/>
              </a:spcBef>
              <a:spcAft>
                <a:spcPts val="0"/>
              </a:spcAft>
              <a:buClr>
                <a:srgbClr val="083F89"/>
              </a:buClr>
              <a:buSzPts val="1100"/>
              <a:buFont typeface="Lexend"/>
              <a:buAutoNum type="arabicPeriod"/>
            </a:pPr>
            <a:r>
              <a:rPr lang="en" sz="1100" b="1">
                <a:solidFill>
                  <a:srgbClr val="083F89"/>
                </a:solidFill>
                <a:latin typeface="Lexend"/>
                <a:ea typeface="Lexend"/>
                <a:cs typeface="Lexend"/>
                <a:sym typeface="Lexend"/>
              </a:rPr>
              <a:t>Ngày 14/8 xảy ra tình trạng tài xế không login được vào app</a:t>
            </a:r>
            <a:r>
              <a:rPr lang="en" sz="1100">
                <a:solidFill>
                  <a:srgbClr val="083F89"/>
                </a:solidFill>
                <a:latin typeface="Lexend"/>
                <a:ea typeface="Lexend"/>
                <a:cs typeface="Lexend"/>
                <a:sym typeface="Lexend"/>
              </a:rPr>
              <a:t> -&gt; đã fix trong ngày</a:t>
            </a:r>
            <a:endParaRPr sz="1100">
              <a:solidFill>
                <a:srgbClr val="083F89"/>
              </a:solidFill>
              <a:latin typeface="Lexend"/>
              <a:ea typeface="Lexend"/>
              <a:cs typeface="Lexend"/>
              <a:sym typeface="Lexend"/>
            </a:endParaRPr>
          </a:p>
        </p:txBody>
      </p:sp>
      <p:pic>
        <p:nvPicPr>
          <p:cNvPr id="1182" name="Google Shape;1182;p76"/>
          <p:cNvPicPr preferRelativeResize="0"/>
          <p:nvPr/>
        </p:nvPicPr>
        <p:blipFill>
          <a:blip r:embed="rId4">
            <a:alphaModFix/>
          </a:blip>
          <a:stretch>
            <a:fillRect/>
          </a:stretch>
        </p:blipFill>
        <p:spPr>
          <a:xfrm>
            <a:off x="38825" y="2210025"/>
            <a:ext cx="2048629" cy="2699949"/>
          </a:xfrm>
          <a:prstGeom prst="rect">
            <a:avLst/>
          </a:prstGeom>
          <a:noFill/>
          <a:ln>
            <a:noFill/>
          </a:ln>
        </p:spPr>
      </p:pic>
      <p:pic>
        <p:nvPicPr>
          <p:cNvPr id="1183" name="Google Shape;1183;p76"/>
          <p:cNvPicPr preferRelativeResize="0"/>
          <p:nvPr/>
        </p:nvPicPr>
        <p:blipFill>
          <a:blip r:embed="rId5">
            <a:alphaModFix/>
          </a:blip>
          <a:stretch>
            <a:fillRect/>
          </a:stretch>
        </p:blipFill>
        <p:spPr>
          <a:xfrm>
            <a:off x="2150604" y="2210025"/>
            <a:ext cx="2022106" cy="2699950"/>
          </a:xfrm>
          <a:prstGeom prst="rect">
            <a:avLst/>
          </a:prstGeom>
          <a:noFill/>
          <a:ln>
            <a:noFill/>
          </a:ln>
        </p:spPr>
      </p:pic>
      <p:pic>
        <p:nvPicPr>
          <p:cNvPr id="1184" name="Google Shape;1184;p76"/>
          <p:cNvPicPr preferRelativeResize="0"/>
          <p:nvPr/>
        </p:nvPicPr>
        <p:blipFill>
          <a:blip r:embed="rId6">
            <a:alphaModFix/>
          </a:blip>
          <a:stretch>
            <a:fillRect/>
          </a:stretch>
        </p:blipFill>
        <p:spPr>
          <a:xfrm>
            <a:off x="4235860" y="2210025"/>
            <a:ext cx="1983805" cy="2699950"/>
          </a:xfrm>
          <a:prstGeom prst="rect">
            <a:avLst/>
          </a:prstGeom>
          <a:noFill/>
          <a:ln>
            <a:noFill/>
          </a:ln>
        </p:spPr>
      </p:pic>
      <p:pic>
        <p:nvPicPr>
          <p:cNvPr id="1185" name="Google Shape;1185;p76"/>
          <p:cNvPicPr preferRelativeResize="0"/>
          <p:nvPr/>
        </p:nvPicPr>
        <p:blipFill>
          <a:blip r:embed="rId7">
            <a:alphaModFix/>
          </a:blip>
          <a:stretch>
            <a:fillRect/>
          </a:stretch>
        </p:blipFill>
        <p:spPr>
          <a:xfrm>
            <a:off x="6282825" y="2210025"/>
            <a:ext cx="1212853" cy="2699949"/>
          </a:xfrm>
          <a:prstGeom prst="rect">
            <a:avLst/>
          </a:prstGeom>
          <a:noFill/>
          <a:ln>
            <a:noFill/>
          </a:ln>
        </p:spPr>
      </p:pic>
      <p:pic>
        <p:nvPicPr>
          <p:cNvPr id="1186" name="Google Shape;1186;p76"/>
          <p:cNvPicPr preferRelativeResize="0"/>
          <p:nvPr/>
        </p:nvPicPr>
        <p:blipFill>
          <a:blip r:embed="rId8">
            <a:alphaModFix/>
          </a:blip>
          <a:stretch>
            <a:fillRect/>
          </a:stretch>
        </p:blipFill>
        <p:spPr>
          <a:xfrm>
            <a:off x="7558826" y="2210025"/>
            <a:ext cx="1219524" cy="2710054"/>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5283</Words>
  <Application>Microsoft Macintosh PowerPoint</Application>
  <PresentationFormat>On-screen Show (16:9)</PresentationFormat>
  <Paragraphs>1169</Paragraphs>
  <Slides>29</Slides>
  <Notes>29</Notes>
  <HiddenSlides>0</HiddenSlides>
  <MMClips>0</MMClips>
  <ScaleCrop>false</ScaleCrop>
  <HeadingPairs>
    <vt:vector size="6" baseType="variant">
      <vt:variant>
        <vt:lpstr>Fonts Used</vt:lpstr>
      </vt:variant>
      <vt:variant>
        <vt:i4>15</vt:i4>
      </vt:variant>
      <vt:variant>
        <vt:lpstr>Theme</vt:lpstr>
      </vt:variant>
      <vt:variant>
        <vt:i4>1</vt:i4>
      </vt:variant>
      <vt:variant>
        <vt:lpstr>Slide Titles</vt:lpstr>
      </vt:variant>
      <vt:variant>
        <vt:i4>29</vt:i4>
      </vt:variant>
    </vt:vector>
  </HeadingPairs>
  <TitlesOfParts>
    <vt:vector size="45" baseType="lpstr">
      <vt:lpstr>Helvetica Neue</vt:lpstr>
      <vt:lpstr>Nunito Black</vt:lpstr>
      <vt:lpstr>Lexend SemiBold</vt:lpstr>
      <vt:lpstr>Quattrocento Sans</vt:lpstr>
      <vt:lpstr>Calibri</vt:lpstr>
      <vt:lpstr>Cambria</vt:lpstr>
      <vt:lpstr>Lexend Light</vt:lpstr>
      <vt:lpstr>Montserrat</vt:lpstr>
      <vt:lpstr>Montserrat Medium</vt:lpstr>
      <vt:lpstr>Nunito</vt:lpstr>
      <vt:lpstr>Montserrat Black</vt:lpstr>
      <vt:lpstr>Arial</vt:lpstr>
      <vt:lpstr>Lexend Medium</vt:lpstr>
      <vt:lpstr>Lexend</vt:lpstr>
      <vt:lpstr>Nunito ExtraBold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sNef</cp:lastModifiedBy>
  <cp:revision>2</cp:revision>
  <dcterms:modified xsi:type="dcterms:W3CDTF">2026-08-17T07:48:40Z</dcterms:modified>
</cp:coreProperties>
</file>